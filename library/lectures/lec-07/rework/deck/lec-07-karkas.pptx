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с этого кадра, даже если к концу вечера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вечер,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Инструмент открывается в браузере: в страницу перетаскивают рентгеновский снимок грудной клетки и через три секунды получают профиль вероятностей по восемнадцати патологиям и тепловую карту поверх снимка — область, на которую модель смотрела, когда выдавала этот профиль. Вычисление идёт на том же ноутбуке: снимок не уходит на сервер, страница работает и без сети. Допуска не требуется, учётной записи не требуется, денег не требуется. Опубликован инструмент в 2019 году и лежит в открытом доступе седьмой год.</a:t>
            </a:r>
          </a:p>
          <a:p>
            <a:r>
              <a:t/>
            </a:r>
          </a:p>
          <a:p>
            <a:r>
              <a:t>Внутри — узкая свёрточная сеть, потомок работ по распознаванию патологий на рентгене грудной клетки, обученная на сотнях тысяч размеченных снимков. Она не рассуждает и не пишет текста: она выдаёт восемнадцать чисел. И сама подписана строкой «не для диагностики» — то есть первое, что посмотрело на снимок, заранее сняло с себя ответственность за то, что увидело.</a:t>
            </a:r>
          </a:p>
          <a:p>
            <a:r>
              <a:t/>
            </a:r>
          </a:p>
          <a:p>
            <a:r>
              <a:t>Разбором этот случай не стал, и причину стоит назвать сразу, потому что она держит всю лекцию: чисел с двух сторон у него нет, цена обеих ошибок не названа, классический порядок работы не посчитан. По трём условиям, которым подчиняются все разбираемые дальше случаи, он не проходит. Нужен он для другого — показать, что порядок работы изменился до всякого внедрения: модель оказалась первым, кто посмотрел на медицинское изображение, и это стало технически бесплатным. Барьера входа здесь нет вообще.</a:t>
            </a:r>
          </a:p>
          <a:p>
            <a:r>
              <a:t/>
            </a:r>
          </a:p>
          <a:p>
            <a:r>
              <a:t>Дальше всё — про второго смотрящего. Что он теперь делает, в какой момент подключается, сколько у него секунд, подтверждает ли прочитанное или подписывает непрочитанное, и чем всё это измерено. Вопрос, с которым стоит идти дальше, лучше задать себе на собственном опыте: получали ли вы когда-нибудь результат обследования раньше, чем врач успел его прочитать? Если получали — вы видели ровно этот порядок с другой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 а для тех, кто учился сразу с помощником, длительных измерений не существует.</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 а разброс между двумя центрами оказался огромным — его называют вместе со средним, иначе получается отраслевая норма там, где её нет.</a:t>
            </a:r>
          </a:p>
          <a:p>
            <a:r>
              <a:t/>
            </a:r>
          </a:p>
          <a:p>
            <a:r>
              <a:t>Первая половина этой мысли курсу уже знакома: подешевел шаг — перестроилась работа, платят на другом шаге. Своё здесь — адрес: платят тем шагом, которым работает человек. При этом утверждения «платят дороже, чем сэкономили» тут нет и не будет: такого счёта в одной валюте не делал никто, и выдавать его за измеренный — ровно то, за что лекция разбирает поставщиков. Утверждение скромнее и проверяемо: платят, и вот чем.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октябре 2024 года опубликованы результаты рандомизированного исследования диагностического рассуждения. Пятьдесят практикующих врачей разбирали одни и те же клинические случаи, и случайно распределены были два состояния: врач работает как обычно — со справочниками, поиском и собственной памятью — и врач работает поверх большой языковой модели, то есть видит её разбор случая и строит заключение с ним. Третье состояние случайной ветвью не было: модель прогнали отдельно, без человека, по тем же задачам и оценили той же шкалой. Это наблюдательное дополнение к испытанию, и читать его надо именно так.</a:t>
            </a:r>
          </a:p>
          <a:p>
            <a:r>
              <a:t/>
            </a:r>
          </a:p>
          <a:p>
            <a:r>
              <a:t>Оценивали слепо, по шкале структурированного диагностического рассуждения: насколько полно назван перечень возможных диагнозов, насколько обоснованно из него вычеркнуто лишнее, насколько уместны следующие назначения. Результат из ста возможных: модель одна — 92, человек поверх модели — 76. Разрыв между ними по медианам — шестнадцать пунктов, и проверки значимости именно у этой пары в первоисточнике нет; первоисточник проверяет другой разрыв, и полный счёт идёт там, где разбирают чтение снимка.</a:t>
            </a:r>
          </a:p>
          <a:p>
            <a:r>
              <a:t/>
            </a:r>
          </a:p>
          <a:p>
            <a:r>
              <a:t>База, без которой эти числа говорят больше, чем источник. Пятьдесят врачей — почти все терапевты: сорок четыре из пятидесяти, остальные из неотложной и семейной медицины. Единица измерения — рассуждение на клинических виньетках по реальным случаям; исходов пациентов здесь нет, никто не проверял, выздоровел ли кто-нибудь. Группа с моделью работала быстрее — около пятисот двадцати секунд на случай против пятисот шестидесяти пяти, — и эта разница тоже в пределах случайного.</a:t>
            </a:r>
          </a:p>
          <a:p>
            <a:r>
              <a:t/>
            </a:r>
          </a:p>
          <a:p>
            <a:r>
              <a:t>Чего эта пара не доказывает: что модель лучше лечит, и что она сильнее пары при честном случайном распределении. Что она показывает: инструмент, который сам по себе точнее любой человеческой группы в этом замере, не поднял человека до себя. Организация, купившая такой инструмент, получила нереализованный потенциал — куплено девяносто два, работает семьдесят шесть, и в отчётности убытка нет. Такую цену не находят в отчёте и поэтому не чинят.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«человек в контуре» называет сразу четыре разных устройства работы, и между первым и четвёртым разница больше, чем между любой парой моделей. Разложить их помогает один признак — кто смотрит первым.</a:t>
            </a:r>
          </a:p>
          <a:p>
            <a:r>
              <a:t/>
            </a:r>
          </a:p>
          <a:p>
            <a:r>
              <a:t>Смотрит первым: человек читает данные сам, модель подключается после него или не подключается вовсе. Это классический режим двойного чтения и база для дальнейших разборов — именно с ним модель и сравнивают. Смотрит вторым: первый проход сделан моделью, человек читает её результат и подтверждает либо отклоняет; это та самая фраза в её обычном понимании. Смотрит только спорное: человек подключается на расхождении — там, где модель и второй источник не сошлись, или там, где модель отметила случай сомнительным; остального потока человек не видит. Подписывает не глядя: формально требование регулятора выполнено, человек в контуре стоит и подпись его есть — фактически участия нет.</a:t>
            </a:r>
          </a:p>
          <a:p>
            <a:r>
              <a:t/>
            </a:r>
          </a:p>
          <a:p>
            <a:r>
              <a:t>Чем заземлена четвёртая ступень. Медиана времени над подсказкой до решения её принять — около двух секунд; принятое без предварительной проверки правится потом в половине случаев против одной пятой. Если досчитать проверку, которую человек делает после принятия, медиана поднимается до шести с половиной секунд — больше половины всей проверки происходит после того, как решение принято. Разряд этого свидетельства называется точно: лабораторный замер на программистах с помощником кода, двадцать один участник и около тысячи подсказок. Клинического измерения под этой цифрой нет; она про формальность подтверждения как таковую, и двух секунд ровно столько, сколько нужно, чтобы согласиться, не прочитав.</a:t>
            </a:r>
          </a:p>
          <a:p>
            <a:r>
              <a:t/>
            </a:r>
          </a:p>
          <a:p>
            <a:r>
              <a:t>Рядом свидетельство без замера, и подпись у него соответствующая: нагрузка проверки в разработке переехала с младших на старших — младшие пишут с моделью и пишут больше, старшие не успевают проверять. Ни доли написанного с моделью, ни времени старших на проверку, ни числа отклонённых изменений под этим нет. Форма та же, что во всей лекции: пара сдвинула нагрузку и уронила результат в точке проверяющего. Но названа она свидетельством, измерением её назвать нечем.</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начинается отрицанием точности, и это не фигура речи: измерено, что часто человек не точнее, и обоснование, стоящее на его точности, рассыпалось бы на первом разборе. Значит опоры нужны другие, и их три.</a:t>
            </a:r>
          </a:p>
          <a:p>
            <a:r>
              <a:t/>
            </a:r>
          </a:p>
          <a:p>
            <a:r>
              <a:t>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 вопрос о том, пользовался ли он моделью, в протоколе разбора обычно не стоит вовсе. Отсюда прямое следствие: вопрос о модели оказывается вопросом о процедуре вокруг неё.</a:t>
            </a:r>
          </a:p>
          <a:p>
            <a:r>
              <a:t/>
            </a:r>
          </a:p>
          <a:p>
            <a:r>
              <a:t>Ошибается иначе. Выигрыш пары «человек и модель» даёт несовпадение ошибок, а не превосходство одной из сторон. Если человек и модель ошибаются на одних и тех же случаях, пара не даёт ничего; если на разных — пара выигрывает даже тогда, когда каждая сторона в одиночку слабее. Самой доли несовпадения здесь нет, и это говорится сразу: такие измерения существуют, их числа сверку по первоисточнику не прошли. Измерена структура несовпадения — знак выигрыша пары переворачивается в зависимости от того, какая сторона сильнее на задаче, — и измерена асимметрия отклонений; на этом опора и стоит.</a:t>
            </a:r>
          </a:p>
          <a:p>
            <a:r>
              <a:t/>
            </a:r>
          </a:p>
          <a:p>
            <a:r>
              <a:t>Отменить нельзя. Изделие отозвать можно, и отзывают; решения, принятые по нему до отзыва, не отзываются.</a:t>
            </a:r>
          </a:p>
          <a:p>
            <a:r>
              <a:t/>
            </a:r>
          </a:p>
          <a:p>
            <a:r>
              <a:t>Из формулировки следуют три проверки, и они нужны не только в медицине — их прикладывают к любому рабочему контуру. Первая: есть ли независимый источник истины, кроме объяснения самой модели? Если вывод проверяют по её же самообъяснению, это не проверка: объяснение построено той же системой и согласовано с выводом по устройству. Вторая: измерено ли, что человек возражает? Нужны две доли — доля отклонённых подсказок и доля верных отклонений; без второй первая не подтверждает ничего, отклонять можно всё подряд. Третья: успевает ли он физически — секунды на решение против объёма, который надо прочитать. У этой величины бывает ответ «нет», и две секунды медианной проверки до принятия и есть такой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путь одного решения об одном человеке. Пришёл результат обследования. По нему назначено лечение. По назначению проведена операция. Человек живёт дальше с её последствиями. Ни один из этих шагов не отзывается. Снимок можно перечитать — и перечитывают. Назначение можно отменить до того, как его выполнили. Проведённую операцию и потерянные месяцы отменить нельзя.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видна разница между клиническим решением и инженерным, и она в цене отката. В инженерии цена ошибки зависит от того, сколько прошло между ошибкой и её обнаружением и чем именно обнаружение делается; прибор там физический — измерение, стенд, разборка узла. Накопленное считается в изделиях, и партию отзывают: это дорого, это публично, но это возможно. В медицине накопленное считается в людях, и отзыва нет. Устройство с рынка снять можно; решения, принятые по нему за два года его работы, останутся решениями.</a:t>
            </a:r>
          </a:p>
          <a:p>
            <a:r>
              <a:t/>
            </a:r>
          </a:p>
          <a:p>
            <a:r>
              <a:t>И второе, что меняется вместе с этим.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меняется навык, меняется доверие, меняется готовность возразить. Измерять ошибку модели через прибор, который сама модель и меняет, — это устройство задачи, с которым дальше придётся иметь дело в каждом разборе.</a:t>
            </a:r>
          </a:p>
          <a:p>
            <a:r>
              <a:t/>
            </a:r>
          </a:p>
          <a:p>
            <a:r>
              <a:t>Задержка между ошибкой и её обнаружением в клинической линии измеряется визитами: обнаружить ошибку может только следующий шаг, то есть другой человек в другой день. Отсюда и порядок лекций курса. Требования к доказательству в медицине сложились раньше и строже, чем в отраслях, где изделие можно разобрать: про инженерные системы с обученной моделью внутри прошлая лекция сказала залу прямо, что требований к ним нет, и это пробел. В медицине требования есть, и дальше они предъявляются документами.</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курса — тип задачи по одной оси, модальность данных по другой — дана в начале курса и не переопределяется. По типу задачи: классификация, распознавание, поиск, генерация, прогноз, планирование. По модальности: текст, изображение, звук, видео, структурированные данные, код. Медицина занимает четыре клетки.</a:t>
            </a:r>
          </a:p>
          <a:p>
            <a:r>
              <a:t/>
            </a:r>
          </a:p>
          <a:p>
            <a:r>
              <a:t>Сама по себе такая раскладка — классификация, и мимо неё правильно проходить: на вопросы практика она не отвечает. Поэтому в каждой занятой клетке названо не «что бывает», а чем это делают сегодня: режим работы, несколько реализаций как примеры режима, направление принятия и то, чего режим не умеет.</a:t>
            </a:r>
          </a:p>
          <a:p>
            <a:r>
              <a:t/>
            </a:r>
          </a:p>
          <a:p>
            <a:r>
              <a:t>Чтение снимка занято режимом «модель вторым читателем или сортировка потока по риску». Растёт в скрининге и в сортировке, в автономию почти не идёт. Не умеет заменить арбитраж: кто разбирает расхождение, назначает процедура. Решение «направить или нет» на месте занято автономным чтением без врача: допущено единицами и только там, где вопрос бинарный; за годность снимка режим не отвечает, и добывать её приходится человеку без профильной подготовки. Предупреждение по данным карты встроено в медицинскую информационную систему поставщиком: расходится вместе с системой, независимые проверки отстают от развёртывания, а порог тревоги назначает организация — и цена ложной тревоги ложится на рабочее время. Работа с текстом даёт три режима с разной скоростью принятия: запись приёма под диктовку — быстрее всех, потому что диагноза не ставит; ответ по документам со ссылкой на источник; сортировка обращения словами после разобранного дальше случая стагнирует.</a:t>
            </a:r>
          </a:p>
          <a:p>
            <a:r>
              <a:t/>
            </a:r>
          </a:p>
          <a:p>
            <a:r>
              <a:t>Чисел в раскладке нет ни одного — ни долей рынка, ни числа допущенных изделий, ни «лидеров»: направление принятия названо словами, а названия реализаций устойчивее чисел, но не бессмертны. Прошлая лекция кончилась обещанием: инструменты в медицине будут выглядеть похоже, а отличаться будет цена ошибки и устройство процедур, которые её удерживают. Клетки те же, плюс одна, которой в инженерном проектировании не было, — порождение текста в медицинской записи. Совпадение клеток и есть результат: отрасли различает не класс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Хребет лекции собран как путь одного решения о человеке, а не как каталог применений: каталог отвечает на вопрос «что бывает», путь — на вопрос «где за это платят». Раздел «Отбор» открывает вечер, потому что раньше всякого диагноза кто-то решает, попадёт ли человек в поле зрения. Дальше — «Анализ данных»: что именно измерили и на какой группе это посчитано, потому что число без группы ничего не говорит. «Постановка диагноза» разбирает, что происходит, когда человек читает рядом с моделью, а не вместо неё. «Наблюдение за состоянием» — кто вообще заметит ухудшение, если оно начнётся между визитами. «Ведение записи» — кто прочтёт сделанную запись потом, и в каком виде. «Чем удерживают» — какая подпись, процедура и норматив держат решение на месте. «Разработка лекарства» — где именно удешевили начало цикла и где после этого образовалось узкое место. «Что стало с теми, кто решает» — что происходит с навыком человека, который годами работает рядом с моделью. «Сборка» возвращает счёт по всем разделам сразу, а «Закрытие» — обязательство, заявленное в начале.</a:t>
            </a:r>
          </a:p>
          <a:p>
            <a:r>
              <a:t/>
            </a:r>
          </a:p>
          <a:p>
            <a:r>
              <a:t>Три разграничения — честный адрес, по которому тема закрывается: производство лекарственной формы — предмет другой лекции, про производственную линию; устройство предсказания структуры белка в этом вечере встречается только как готовый инструмент на столе исследователя, а как метод и научное событие его разбирает отдельная лекция про научный цикл; цифровые двойники — обещание отдельной лекции, и оно подтверждается, а не отменяется.</a:t>
            </a:r>
          </a:p>
          <a:p>
            <a:r>
              <a:t/>
            </a:r>
          </a:p>
          <a:p>
            <a:r>
              <a:t>Назначение лечения и оперативная помощь — не пробел и не чужая тема: оба предмета глава закрывает своими разделами, с числами, базами и разобранными провалами — от подбора дозы до предсказания падения давления на операции и сравнения с роботом. Со сцены они не идут потому, что на них нет времени. Материал есть, времени на него нет, и сказать это надо именно так. Прочерк как приём при этом остаётся — для клеток, по которым измеренного материала действительно нет.</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звучит так, а не «умеет ли модель читать снимки», по одной причине: умение модели уже предъявлено и ничего не стоит, а решение о человеке принимает не модель. Поэтому спрашивать надо про второго смотрящего — и про того, кто его работу измерял.</a:t>
            </a:r>
          </a:p>
          <a:p>
            <a:r>
              <a:t/>
            </a:r>
          </a:p>
          <a:p>
            <a:r>
              <a:t>Фраза «человек в контуре» на этот вопрос не отвечает. Она называет сразу четыре разных устройства работы: человек читает данные первым; человек читает после модели и подтверждает; человек подключается только на спорном; человек подписывает, не глядя. Между первым и четвёртым разница больше, чем между любой парой моделей, — а в документах и в рекламе все четыре называются одними словами. Дальше каждый разбор отвечает предметно: какое из четырёх устройств стоит на этом месте и чем это подтверждено.</a:t>
            </a:r>
          </a:p>
          <a:p>
            <a:r>
              <a:t/>
            </a:r>
          </a:p>
          <a:p>
            <a:r>
              <a:t>Вторая половина вопроса — «кто это измерял» — не риторическая, и она задаёт правила чтения всего дальнейшего. У каждого числа названо, чем оно получено: случайное распределение по группам, наблюдение вперёд по заранее написанному протоколу, разбор уже существовавших данных, лабораторный эксперимент, опрос, нерецензированная выкладка, сообщение поставщика о собственном продукте. Это разные разряды, и уравнивать их нельзя. Рядом с разрядом стоит второй вопрос: воспроизводилось ли. Измеренное однажды называется однажды измеренным — даже когда разряд высокий и результат удобен.</a:t>
            </a:r>
          </a:p>
          <a:p>
            <a:r>
              <a:t/>
            </a:r>
          </a:p>
          <a:p>
            <a:r>
              <a:t>И у каждого числа названа база: знаменатель, группа, период. Число без знаменателя дальше не идёт; там, где знаменателя не нашлось, сказано, какого именно числа не хватает, и сказано рядом с числом, а не в конце. Из этого складывается и ответ на вопрос: не «ИИ в медицине работает» и не «не работает», а перечень мест, где посчитано, что стало с работой человека, — и перечень мест, где не посчитано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первым в хребте вечера не по алфавиту, а по месту в работе: 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столкнулись три разных порядка работы, и различать их придётся весь вечер.</a:t>
            </a:r>
          </a:p>
          <a:p>
            <a:r>
              <a:t/>
            </a:r>
          </a:p>
          <a:p>
            <a:r>
              <a:t>Скрининг — обследование людей, у которых нет жалоб, по признаку принадлежности к группе: возраст, пол, профессия, предшествующий диагноз. Его польза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не приносит ничего и остаётся чистой стоимостью — плюс вред от ложных вызовов. Обращение по симптому работает иначе: поиск ведёт сама жалоба, обследуют одного человека под конкретную гипотезу, и цена лишнего обследования разделена между ним и врачом — сотня тысяч приглашённых за неё не платит. Вероятность болезни у пришедшего по жалобе совсем другая, и от неё зависит смысл любого положительного результата. Третий порядок ближе всего инженерной практике: сортировка потока — кто попадёт к врачу сегодня, а кто через две недели. Это то же решение об отборе, только внутри уже обратившегося потока.</a:t>
            </a:r>
          </a:p>
          <a:p>
            <a:r>
              <a:t/>
            </a:r>
          </a:p>
          <a:p>
            <a:r>
              <a:t>У сортировки есть классический инструмент, и разобрать его стоит: модель приходит именно на его место. Вошедшего в приёмное отделение относят к одной из пяти категорий тяжести: категорию присваивает медсестра по протоколу — несколько вопросов, несколько снятых величин, сверка с таблицей, — и каждой категории назначено нормативное время до осмотра врачом. Недооценка означает, что человек с развивающимся инфарктом сидит в очереди; переоценка — что занят ресурс, которого не хватило кому-то другому. Обе ошибки платит одна и та же смена.</a:t>
            </a:r>
          </a:p>
          <a:p>
            <a:r>
              <a:t/>
            </a:r>
          </a:p>
          <a:p>
            <a:r>
              <a:t>И свойство этой шкалы, которое встретится ещё не раз: веса в ней назначены людьми и опубликованы. Таблицу можно открыть, посмотреть, сколько баллов даёт каждый признак, и возразить составителю. Обученная модель на том же месте выдаёт тот же выход — категорию или приоритет — и весов своих не предъявляет. Это не делает её хуже и не делает лучше; это делает сравнение с ней возможным только по результату, а разбор расхождения — работой, которой у протокольной шкалы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методическом указании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этот вечер,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 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 в Швеции второго читателя заменили, в Германии сохранили. Вопрос «выросло ли выявление» ни о чём не говорит, пока не назван порядок работы, внутри которого оно выросло.</a:t>
            </a:r>
          </a:p>
          <a:p>
            <a:r>
              <a:t/>
            </a:r>
          </a:p>
          <a:p>
            <a:r>
              <a:t>А вот где охват действительно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и это решение, а не умолчание: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всего вечера,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этот вечер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 этом шаге модель решает, кого вообще посмотрят, и выигрыш в обоих разборах измерен доступом — тем, сколько людей дошло до обследования и сколько снимков прочёл второй человек. Точности модель здесь не прибавила: в шведском испытании чувствительность выросла вместе с заменой порядка чтения, а в испытании явки точность прибора не измерялась вовсе. Берут этот выигрыш двумя способами: снимают объём человеческого чтения там, где процедура уже плотная, и дотягиваются до тех, кто иначе не придёт. Второй способ сильнее первого по простой причине — тест, до которого человек не дошёл, имеет нулевую чувствительность.</a:t>
            </a:r>
          </a:p>
          <a:p>
            <a:r>
              <a:t/>
            </a:r>
          </a:p>
          <a:p>
            <a:r>
              <a:t>Границы. В открытом потоке обращений ни один разбор выигрыша не дал, а единственная состоявшаяся попытка кончилась банкротством. И утверждение «охват сообщают, а устройство работы — нет» держится ровно для одного источника — отечественной платформы лучевой диагностики; скрининговые программы, разобранные здесь, устройство работы публикуют, и расширять эту претензию на все внедрения нельзя.</a:t>
            </a:r>
          </a:p>
          <a:p>
            <a:r>
              <a:t/>
            </a:r>
          </a:p>
          <a:p>
            <a:r>
              <a:t>Риск. Удешевление входа перестраивает экономику системы раньше, чем кто-нибудь успевает проверить качество, и платить за переехавшую нагрузку оказывается некому. Второй риск тише и опаснее: критерий, по которому отбирают, способен незаметно сместить, кого вообще видят, — и обнаружить это смещение по отчётам самой системы нельзя, потому что отбирала она же.</a:t>
            </a:r>
          </a:p>
          <a:p>
            <a:r>
              <a:t/>
            </a:r>
          </a:p>
          <a:p>
            <a:r>
              <a:t>Нагрузка дальше. Поток, отобранный моделью, приходит на следующий шаг уже смещённым: то, что модель назвала нормой, человек не увидит. Ошибку отбора обнаруживает только следующий виток — другой человек в другой день, — и поэтому дальше речь пойдёт о том, что вообще значит «измерили»: на какой группе посчитана точность и почему смысл любого положительного результата зависит от того, кого в эту группу отобрали.</a:t>
            </a:r>
          </a:p>
          <a:p>
            <a:r>
              <a:t/>
            </a:r>
          </a:p>
          <a:p>
            <a:r>
              <a:t>Два названия того, что переехало: на сервисе первой линии нагрузка переехала на другой шаг — с сортировки на приём; на автономном скрининге глазного дна сменился исполнитель, и производной формой появился шаг, которого не было, — добыть годный снимок.</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клетки сетки курса заняты на этом шаге, и ни одна из них не про лечение: модель решает, кого посмотрят, а не что с человеком делать. Это и есть ответ на вопрос «где мы сейчас» — не в списке болезней, а на входе в поток.</a:t>
            </a:r>
          </a:p>
          <a:p>
            <a:r>
              <a:t/>
            </a:r>
          </a:p>
          <a:p>
            <a:r>
              <a:t>Работа с текстом даёт здесь три режима с разной судьбой, и разницу стоит проговорить: она не про качество моделей. Сортировка обращения словами после разобранного случая стагнирует. Запись приёма под диктовку и ответ по документам со ссылкой на источник, наоборот, принимаются быстро. Разницу делает одно: первый режим принимает решение, а два других оформляют уже принятое. Там, где режим решает, допуск и доверие даются медленно; там, где он оформляет, — быстро.</a:t>
            </a:r>
          </a:p>
          <a:p>
            <a:r>
              <a:t/>
            </a:r>
          </a:p>
          <a:p>
            <a:r>
              <a:t>Решение «направить или нет» на месте занято автономным чтением без врача. Допущено оно единицами и только там, где вопрос бинарный: направлять или не направлять. Это свойство задачи, а не особая осторожность регулятора — у бинарного вопроса есть проверяемый ответ, у открытого диагноза его нет. За годность снимка этот режим не отвечает; добыть годный снимок — отдельная работа, и достаётся она человеку без профильной подготовки.</a:t>
            </a:r>
          </a:p>
          <a:p>
            <a:r>
              <a:t/>
            </a:r>
          </a:p>
          <a:p>
            <a:r>
              <a:t>Чтение снимка занято режимом «модель вторым читателем или сортировка потока по риску», и растёт он шире всех остальных. Причина опять не в точности: этот режим не отменяет ни одной подписи. Кто разбирает расхождение — назначает процедура, и модель здесь ничего не забирает у человека формально, хотя фактически забирает его внимание. Подробный счёт по этому режиму идёт там, где разбирают чтение снимка.</a:t>
            </a:r>
          </a:p>
          <a:p>
            <a:r>
              <a:t/>
            </a:r>
          </a:p>
          <a:p>
            <a:r>
              <a:t>И общее правило чтения такой раскладки. Названо здесь, чем делают, а не чья марка лучше: режим один, реализаций много, и разницу в результате делает устройство процедуры вокруг модели, а не бренд. Чисел в раскладке нет ни одного — ни долей рынка, ни числа допущенных изделий, ни «лидеров»: направление принятия названо словами, потому что слова здесь проверяемы, а цифры рынка — нет.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только что проведённой границей: в разделе 1 система решала, кого посмотреть; здесь система меряет и сама выносит заключение по измеренному. Отличие от раздела 3: там заключение по данным делает человек, здесь — машина. Граница проходит не по модальности данных и не по сложности алгоритма, а по тому, кто подписывает результат измерения.</a:t>
            </a:r>
          </a:p>
          <a:p>
            <a:r>
              <a:t/>
            </a:r>
          </a:p>
          <a:p>
            <a:r>
              <a:t>Раздел держится на одной идее,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этой доли на другую группу она перестаёт означать то же самое. Поэтому раздел начинается с определений: чувствительность и специфичность без привязки к болезни, и что происходит с одними и теми же долями на двух группах — поголовном скрининге и профильном отделении.</a:t>
            </a:r>
          </a:p>
          <a:p>
            <a:r>
              <a:t/>
            </a:r>
          </a:p>
          <a:p>
            <a:r>
              <a:t>Перед тремя разборами раздел даёт картину узнаваемого человека — техника флюорографии, который на месте решает, годится ли снимок; это не разбор, а сцена, к которой возвращается первый из трёх случаев.</a:t>
            </a:r>
          </a:p>
          <a:p>
            <a:r>
              <a:t/>
            </a:r>
          </a:p>
          <a:p>
            <a:r>
              <a:t>Первый разбор — «Таиланд» — показывает ту же задачу годности снимка в развёрнутом виде: автономное чтение снимков глазного дна в одиннадцати клиниках отклоняет по качеству каждый пятый снимок, и это измеренный провал развёртывания, а не прибора. Глазное дно без офтальмолога — случай про доступ, а не про годность входа, — предмет раздела 1.</a:t>
            </a:r>
          </a:p>
          <a:p>
            <a:r>
              <a:t/>
            </a:r>
          </a:p>
          <a:p>
            <a:r>
              <a:t>Второй разбор — «Кожа и состав набора» — показывает ту же проблему группы с другой модальностью измерения: набор, на котором обучена и проверена модель, редко повторяет состав населения, на котором она потом работает.</a:t>
            </a:r>
          </a:p>
          <a:p>
            <a:r>
              <a:t/>
            </a:r>
          </a:p>
          <a:p>
            <a:r>
              <a:t>Третий разбор — «Расходы вместо болезни» — меняет модальность измерения ещё раз: целевой переменной взяты будущие расходы на лечение, а не тяжесть болезни, и это смещает, кого модель считает «достаточно больной», чтобы включить в программу повышенного внимания.</a:t>
            </a:r>
          </a:p>
          <a:p>
            <a:r>
              <a:t/>
            </a:r>
          </a:p>
          <a:p>
            <a:r>
              <a:t>Раздел заканчивается картой стадии и выводом: польза раздела — постоянство измерения там, где человек устаёт; граница — она же заявлена группой, на которой измерение посчитано.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Любую систему, которая отвечает «болен или нет», описывают двумя долями, и считаются они на разных группах людей. Чувствительность берёт только тех, у кого болезнь есть, и спрашивает, какую их долю система назвала больными. Специфичность берёт только здоровых и спрашивает, какую их долю она не стала пугать. В инженерной практике это знакомо под другими именами — полнота по положительному классу и полнота по отрицательному; медицинские имена взяты здесь затем, что в клинических публикациях стоят именно они.</a:t>
            </a:r>
          </a:p>
          <a:p>
            <a:r>
              <a:t/>
            </a:r>
          </a:p>
          <a:p>
            <a:r>
              <a:t>Почему доли называют парой и почему общая точность ни одну из них не заменяет. Пусть болезнь есть у одного человека из тысячи. Система, которая всем без исключения говорит «здоров», даёт общую точность 99,9 процента и не находит ни одного больного. На редком событии общая точность измеряет распространённость, а не работу системы, и в медицине её поэтому не публикуют.</a:t>
            </a:r>
          </a:p>
          <a:p>
            <a:r>
              <a:t/>
            </a:r>
          </a:p>
          <a:p>
            <a:r>
              <a:t>Второе свойство: доли меняются только вместе. Сдвиньте порог, за которым система объявляет «болен», — найденных больных станет больше, а напрасно напуганных здоровых тоже больше. Поэтому доли всегда называются парой и всегда для одной рабочей точки, а выбирает эту точку протокол под цену обеих ошибок — и выбор сделан раньше, чем к задаче подошёл разработчик.</a:t>
            </a:r>
          </a:p>
          <a:p>
            <a:r>
              <a:t/>
            </a:r>
          </a:p>
          <a:p>
            <a:r>
              <a:t>Третье свойство и несущее для всего раздела: обе доли посчитаны на группе, которую собрал исследователь. Кого включили, кого исключили, в какой больнице, в какие годы — вместе с группой меняется и то, что доли означают на выходе.</a:t>
            </a:r>
          </a:p>
          <a:p>
            <a:r>
              <a:t/>
            </a:r>
          </a:p>
          <a:p>
            <a:r>
              <a:t>Систематический обзор работ машинного обучения на снимках при ковидной пневмонии отобрал из 2 212 публикаций 62 для разбора и не нашёл среди этих 62 ни одной, пригодной для клинического применения: изъяны методики и смещения в данных. Доли считали все; группу, на которой они посчитаны, почти никто. Оговорка обязательна и произносится рядом с числом: это вывод о качестве исследовательских работ, про внедрённые системы он не говорит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счёт целиком, в людях и без формул.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эту систему в двух группах, которые отличаются ровно одним — долей больных среди обследованных.</a:t>
            </a:r>
          </a:p>
          <a:p>
            <a:r>
              <a:t/>
            </a:r>
          </a:p>
          <a:p>
            <a:r>
              <a:t>Группа первая: десять тысяч человек подряд, поголовное обследование. Болезнь здесь у одного из ста, то есть у 100 человек из 10 000; здоровых 9 900. Система найдёт 94 больных из ста — это 94 верные тревоги. И напрасно напугает 11 здоровых из ста — это 1 089 ложных тревог. Всего тревог 1 183.</a:t>
            </a:r>
          </a:p>
          <a:p>
            <a:r>
              <a:t/>
            </a:r>
          </a:p>
          <a:p>
            <a:r>
              <a:t>Группа вторая: десять тысяч человек в профильном отделении. Сюда попали те, кого уже кто-то отобрал по жалобе или по направлению, и болезнь здесь у тридцати из ста — у 3 000 человек из 10 000; здоровых 7 000. Верных тревог 2 820, ложных 770, всего 3 590.</a:t>
            </a:r>
          </a:p>
          <a:p>
            <a:r>
              <a:t/>
            </a:r>
          </a:p>
          <a:p>
            <a:r>
              <a:t>Система одна. Её доли одни и те же, ни одна строка внутри неё не изменилась. Менялась только группа — а долю больных в группе назначил не разработчик, а тот, кто решил, кого звать на обследование. Это и есть решение об отборе, принятое за всех ещё до того, как кто-нибудь посмотрел на точность.</a:t>
            </a:r>
          </a:p>
          <a:p>
            <a:r>
              <a:t/>
            </a:r>
          </a:p>
          <a:p>
            <a:r>
              <a:t>Прежде чем идти дальше, стоит сделать два деления самому. Врач, которому тревога пришла на стол, чувствительности не видит вовсе — он видит, какая доля пришедших к нему тревог оказалась болезнью. В первой группе это 94 из 1 183, во второй 2 820 из 3 590. Посчитайте оба и запомните свой ответ: дальше он понадобится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сходится так. В поголовном обследовании десяти тысяч человек система подняла 1 183 тревоги, и верными из них оказались 94 — это 8 из ста тревог. В профильном отделении на тех же десяти тысячах тревог вышло 3 590, верных среди них 2 820 — 79 из ста. Система одна, доли её одни и те же; различается только доля больных в группе — один из ста против тридцати из ста. Разница в результате получается почти десятикратная.</a:t>
            </a:r>
          </a:p>
          <a:p>
            <a:r>
              <a:t/>
            </a:r>
          </a:p>
          <a:p>
            <a:r>
              <a:t>У этой доли есть имя: прогностическая ценность положительного результата — какая часть поднятых тревог оказалась болезнью. Зависит она от распространённости, то есть от доли больных в обследованной группе, а распространённость свойством прибора не служит: её меняет тот, кто решил, кого обследовать.</a:t>
            </a:r>
          </a:p>
          <a:p>
            <a:r>
              <a:t/>
            </a:r>
          </a:p>
          <a:p>
            <a:r>
              <a:t>Что это значит для врача на приёме. Он видит именно эту долю, а не чувствительность. Объяснять пациенту одну ложную тревогу из десяти и девять ложных из десяти — две разные профессии, и разговоры эти устроены по-разному.</a:t>
            </a:r>
          </a:p>
          <a:p>
            <a:r>
              <a:t/>
            </a:r>
          </a:p>
          <a:p>
            <a:r>
              <a:t>Что это значит для инженера. Перенос системы из профильного отделения в поголовное обследование — не смена масштаба, а смена смысла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видно, какими тремя способами долю верных тревог поднимают, причём ни один из них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Левая половина берётся не из вежливости. Постоянство: система читает десятитысячный снимок так же, как первый, и не устаёт, тогда как у человека к концу смены доля пропусков меняется, и это измерено в работах по чтению скрининговых снимков. Поток: чтение «нормы» перестаёт занимать специалиста, и его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из них не повторит собственное чтение буквально.</a:t>
            </a:r>
          </a:p>
          <a:p>
            <a:r>
              <a:t/>
            </a:r>
          </a:p>
          <a:p>
            <a:r>
              <a:t>Правая половина — три вещи, и ни одна не про качество модели. Качество входа: система не умеет переснять. Перенос: доли, посчитанные в одной больнице, не переезжают в другую вместе с прибором — переезжает прибор, а группа остаётся на месте. И третье, самое незаметное: чем измерен вход.</a:t>
            </a:r>
          </a:p>
          <a:p>
            <a:r>
              <a:t/>
            </a:r>
          </a:p>
          <a:p>
            <a:r>
              <a:t>Прибор, определяющий насыщение крови кислородом по поглощению света в тканях, расходится с прямым анализом крови у пациентов с тёмной кожей в 11,7 процента измерений — 88 случаев из 749. У светлокожих та же доля 3,6 процента — 99 из 2 778. Обе доли считаются по измерениям, не по пациентам, и обе взяты из одной названной когорты; многоцентровая выборка той же работы даёт другие числа, и рядом с этими они не произносятся — два набора из одной статьи легко прочитать как одну выборку и склеить.</a:t>
            </a:r>
          </a:p>
          <a:p>
            <a:r>
              <a:t/>
            </a:r>
          </a:p>
          <a:p>
            <a:r>
              <a:t>Смещение одностороннее, и это главное в примере: показание прибора выше, чем даёт анализ, то есть опасное снижение насыщения пропускается чаще. Регулятор выпустил предупреждение в феврале 2021 года, а в январе 2025-го — проект требования испытывать такие приборы на разных тонах кожи.</a:t>
            </a:r>
          </a:p>
          <a:p>
            <a:r>
              <a:t/>
            </a:r>
          </a:p>
          <a:p>
            <a:r>
              <a:t>И последнее: обученной модели в этом приборе нет вовсе. Это оптическое измерение, смещённое до всякой модели. Система, которая берёт этот признак на вход, смещение наследует, не создавая его, — и потому проверять надо не только модель, но и то, чем измерен её вход.</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86 больных из ста при специфичности 77, а дермоскопия у обученного специалиста — 91 при специфичности 74. Свежий обзор по той же задаче даёт для осмотра другие числа, а сводной оценки дермоскопии не даёт вовсе — из-за разнородности работ; две методологии рядом не ставятся.</a:t>
            </a:r>
          </a:p>
          <a:p>
            <a:r>
              <a:t/>
            </a:r>
          </a:p>
          <a:p>
            <a:r>
              <a:t>Модель против этих режимов. На наборе из 656 изображений, каждое с подтверждённой биопсией — 208 светлых тонов кожи, 241 средних, 207 самых тёмных, — три модели дают площадь под кривой на тёмных тонах на 9–15 пунктов ниже, чем на светлых. Знаменатель назван, и он приличный: это не «несколько примеров».</a:t>
            </a:r>
          </a:p>
          <a:p>
            <a:r>
              <a:t/>
            </a:r>
          </a:p>
          <a:p>
            <a:r>
              <a:t>Одну цифру раздел произносить отказывается. Формулировка «на тёмной коже чувствительность падает на 20–30 процентов» в публикации не найдена, источник не опознаётся. Ближайшее измеренное: у одной из трёх моделей найдено 69 больных из ста на светлых тонах против 23 на тёмных.</a:t>
            </a:r>
          </a:p>
          <a:p>
            <a:r>
              <a:t/>
            </a:r>
          </a:p>
          <a:p>
            <a:r>
              <a:t>Исправление измерено, и лечит его не алгоритм: дообучение на представительном наборе разрыв снимает и даже переворачивает, а три алгоритмических метода против смещения его значимо не уменьшили. Чинилось это сбором и разметкой — той работой, которая в руках инженера.</a:t>
            </a:r>
          </a:p>
          <a:p>
            <a:r>
              <a:t/>
            </a:r>
          </a:p>
          <a:p>
            <a:r>
              <a:t>И строка, которая несёт разбор: разрыв по тону кожи измерен у модели, а у классических методов не измерен вовсе — по тону кожи точность не разбивает ни метаанализ, ни обзоры. Сказать «модель хуже человека на этой подгруппе» не с чем. Средняя точность по набору остаётся приличной, а цена ошибки сместилась на подгруппу, которой в обучающем наборе было мало.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стадии показывает одно: какие клетки матрицы «тип задачи × модальность» на этом шаге заняты настоящими работающими системами. Их четыре из тридцати с лишним, и четвёртая занята особым образом.</a:t>
            </a:r>
          </a:p>
          <a:p>
            <a:r>
              <a:t/>
            </a:r>
          </a:p>
          <a:p>
            <a:r>
              <a:t>Классификация на изображении. Автономное чтение глазного дна — LumineticsCore, EyeArt, AEYE-DS — и оценка кожного образования: SkinVision в Европе работает через приложение у самого человека, DermaSensor в США — щуп со спектроскопией, который закупает первичное звено. Оба обходят дерматолога и оба дают только сортировку «показать врачу или нет», а не диагноз.</a:t>
            </a:r>
          </a:p>
          <a:p>
            <a:r>
              <a:t/>
            </a:r>
          </a:p>
          <a:p>
            <a:r>
              <a:t>Распознавание на изображении. Детекция и сортировка потока на снимках грудной клетки и на компьютерной томографии — Annalise, Aidoc, Lunit; в России это сервисы московского эксперимента, причём у одного из них регистрация была приостановлена надзором, поскольку заявленные характеристики при проверке не подтвердились.</a:t>
            </a:r>
          </a:p>
          <a:p>
            <a:r>
              <a:t/>
            </a:r>
          </a:p>
          <a:p>
            <a:r>
              <a:t>Прогноз на структурированных данных. Счёт риска внутри медицинской карты и разделение населения по уровням внимания. Покупает это администрация или плательщик, и решение о том, кого взять под присмотр, принимается там, где считают деньги, а не там, где лечат.</a:t>
            </a:r>
          </a:p>
          <a:p>
            <a:r>
              <a:t/>
            </a:r>
          </a:p>
          <a:p>
            <a:r>
              <a:t>И четвёртая клетка — измерение и сигнал прибора. Она занята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это смещение наследует молча. Пустой клетку назвать нельзя, занятой моделью — тоже; так и помечено.</a:t>
            </a:r>
          </a:p>
          <a:p>
            <a:r>
              <a:t/>
            </a:r>
          </a:p>
          <a:p>
            <a:r>
              <a:t>Три разбора раздела ложатся на эту карту по разным клеткам: автономное чтение глазного дна — в первую, оценка кожного образования — в ту же первую, отбор по прогнозу расходов — в третью. То есть провалились они на разных стадиях одной и той же работы, а не в одном месте.</a:t>
            </a:r>
          </a:p>
          <a:p>
            <a:r>
              <a:t/>
            </a:r>
          </a:p>
          <a:p>
            <a:r>
              <a:t>Названо здесь, чем делают, а не чья марка лучше: режим один, реализаций много, и разницу в результате делает устройство процедуры вокруг прибора, а не имя на корпусе.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настоящая, и специалист её возьмёт. Система читает десятитысячный снимок так же, как первый, а у человека к концу смены доля пропусков меняется; чтение нормы перестаёт занимать специалиста; и у разбора расхождений появляется воспроизводимая сторона: один вход даёт один и тот же выход, чего от двух людей не добиться.</a:t>
            </a:r>
          </a:p>
          <a:p>
            <a:r>
              <a:t/>
            </a:r>
          </a:p>
          <a:p>
            <a:r>
              <a:t>Граница названа группой. Доли посчитаны на группе, которую собрал исследователь, и вместе с группой меняется смысл выхода: один и тот же сигнал «болен» в поголовном обследовании оказался верным в 8 случаях из ста поднятых тревог, а в профильном отделении — в 79 из ста. Разница десятикратная, и ни одна строка внутри системы не менялась.</a:t>
            </a:r>
          </a:p>
          <a:p>
            <a:r>
              <a:t/>
            </a:r>
          </a:p>
          <a:p>
            <a:r>
              <a:t>Риск разложен по трём местам, и ни одно не в модели. Вход измеряет прибор, и прибор может быть смещён до модели. Набор собирает человек, и его состав может не повторять население, на котором система потом работает. Цель задаёт переменная — и ею становится то, что было в данных.</a:t>
            </a:r>
          </a:p>
          <a:p>
            <a:r>
              <a:t/>
            </a:r>
          </a:p>
          <a:p>
            <a:r>
              <a:t>Три разбора раздела ровно такие. В Таиланде провалилось развёртывание: 393 снимка из 1 838 отклонены по качеству за первые полгода в одиннадцати клиниках. В дерматологии провалился состав набора: на 656 биопсийно подтверждённых изображениях, из которых 207 с тёмными тонами кожи, три модели теряют на них 9–15 пунктов площади под кривой. В отборе по прогнозу расходов провалилось определение цели: на 49 618 пациентах при равном балле у одной группы болезней оказалось на 26 процентов больше. Ни в одном из трёх не провалилось само чтение.</a:t>
            </a:r>
          </a:p>
          <a:p>
            <a:r>
              <a:t/>
            </a:r>
          </a:p>
          <a:p>
            <a:r>
              <a:t>Отсюда рабочее правило. Прежде чем спрашивать про точность, спросите: на какой группе посчитаны доли, чем измерен вход, из чего собран обучающий набор и что система считает целью. Четыре вопроса — и каждый в этом разделе провалил по одному внедрению.</a:t>
            </a:r>
          </a:p>
          <a:p>
            <a:r>
              <a:t/>
            </a:r>
          </a:p>
          <a:p>
            <a:r>
              <a:t>И одно обнадёживающее наблюдение: единственное измеренное исправление пришло из состава данных — дообучение на представительном наборе разрыв сняло, а алгоритмические методы против смещения его не сняли.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раздел 2 от раздела 1, только с другой стороны: здесь данные уже измерены и прочитаны системой, но заключение — диагноз — подписывает человек. Подсказка модели встаёт рядом со снимком, и вопрос раздела в том, что именно человек теперь смотрит: сам снимок, подсказку, или уже не то и не другое, а привычку доверять экрану.</a:t>
            </a:r>
          </a:p>
          <a:p>
            <a:r>
              <a:t/>
            </a:r>
          </a:p>
          <a:p>
            <a:r>
              <a:t>Первый разбор, «Замер взгляда радиолога», берёт инструмент, который редко применяют в разборах такого рода, — айтрекер. Он показывает механику того, что обычно описывают словом «автоматизационное искажение»: при ложной подсказке взгляд радиолога на самом поражении задерживается реже, и это измерено в движении глаз, а не в опросе после просмотра.</a:t>
            </a:r>
          </a:p>
          <a:p>
            <a:r>
              <a:t/>
            </a:r>
          </a:p>
          <a:p>
            <a:r>
              <a:t>Второй разбор, «Одна подсказка с двумя знаками», показывает то же устройство эффекта на уровне решения, а не взгляда: одна и та же подсказка модели по срезу в патологии поднимает шансы верного ответа вчетверо, когда модель права, и роняет вчетверо, когда неправа. Знак эффекта зависит не от модели вообще, а от конкретного случая.</a:t>
            </a:r>
          </a:p>
          <a:p>
            <a:r>
              <a:t/>
            </a:r>
          </a:p>
          <a:p>
            <a:r>
              <a:t>Третий разбор, «Измеренная тройка», ставит рядом три числа на одних и тех же случаях: модель в одиночку, врач в одиночку, врач с моделью. Разрыв между третьим и первым — то, ради чего часто покупают систему; разрыв между третьим и вторым — то, что она реально даёт.</a:t>
            </a:r>
          </a:p>
          <a:p>
            <a:r>
              <a:t/>
            </a:r>
          </a:p>
          <a:p>
            <a:r>
              <a:t>Четвёртый разбор, «Контрольная линия», — единственный в разделе случай предрегистрированного скринингового испытания с реальным объёмом: объём человеческого чтения падает почти наполовину, и это измерено, а не оценено.</a:t>
            </a:r>
          </a:p>
          <a:p>
            <a:r>
              <a:t/>
            </a:r>
          </a:p>
          <a:p>
            <a:r>
              <a:t>Раздел держит одну линию: пара «человек плюс модель» не равна ни человеку, ни модели в отдельности, и какая сторона в итоге перевешивает, нельзя сказать заранее, не замерив — обычно замеряют что угодно, кроме этого.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Работа, которую этот случай показывает целиком, называется дифференциальным диагнозом и состоит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Инженеру это знакомо — так же он перебирает гипотезы, разбирая отказ узла. Клиническая версия жёстче в одном: часть проверок сама опасна или дорога, поэтому порядок проверок становится отдельным решением, которое надо обосновывать. Снимок и анализ крови назначены первыми поэтому — они стоят мало и отсекают много.</a:t>
            </a:r>
          </a:p>
          <a:p>
            <a:r>
              <a:t/>
            </a:r>
          </a:p>
          <a:p>
            <a:r>
              <a:t>Бронхит вычеркнут снимком: изменений в верхней доле правого лёгкого при бронхите не бывает. Аутоиммунное поражение вычеркнуто спокойными воспалительными показателями. Остались два диагноза, которые по снимку между собой не различаются, и решает их исследование мокроты. Три недели ожидания посева — часть цены, которую платит пациент, а не задержка оформления.</a:t>
            </a:r>
          </a:p>
          <a:p>
            <a:r>
              <a:t/>
            </a:r>
          </a:p>
          <a:p>
            <a:r>
              <a:t>Отсюда два свойства, которые лекция дальше измеряет. Диагноз — последовательность решений, а не классификация в один проход. И ошибка здесь имеет особую форму. Можно выбрать неверно из составленного списка: это заметят — придёт результат проверки и не совпадёт с ожиданием. А можно не вписать в список то, что должно было там стоять, — и тогда проверки, которая бы это обнаружила, никто не назначит. Второй вид ошибки не оставляет следа в карте: случай уходит с другим диагнозом и возвращается через год.</a:t>
            </a:r>
          </a:p>
          <a:p>
            <a:r>
              <a:t/>
            </a:r>
          </a:p>
          <a:p>
            <a:r>
              <a:t>Подсказка модели входит именно в начало — она участвует в составлении списка, а не в выборе из составленного. Если система отметила инфильтрат, строка про лимфому появится с меньшей вероятностью: внимание уже направлено, а лимфома на обзорном снимке выглядит иначе и требует отдельного усилия, чтобы о ней подумать. Если система не отметила ничего, список с высокой вероятностью остановится на самом частом и безобидном, и посев мокроты не назначается вовсе. Разница между двумя исходами целиком в том, права ли была система, и изнутри случая её не видно: оба раза врач видел снимок, видел заключение и действовал разумно.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не свойство характера, а организационная работа: отдельная очередь чтения, скрытое поле заключения, иногда отдельная смена или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Сперва половина, где выигрыш настоящий. Программа скрининга обрабатывает десятки тысяч исследований в год, и модель читает всё: она не устаёт к концу смены и не теряет чувствительность в пятницу вечером. Это дешёвое и реальное полезное действие, и оно не требует, чтобы модель была лучше среднего читателя, — она просто есть на каждом случае. Напоминание о редком диагнозе работает тем же механизмом, которым подсказка и вредит: модель дополняет состав списка гипотез, и строка, которой у усталого врача не появилось бы, появляется. Редкие диагнозы пропускают именно так — их не вписывают, и потому неверного выбора из списка никто не делает. Сортировка даёт выигрыш во времени до решения, и в неотложной помощи минуты имеют клиническую цену. У неё есть обратная сторона: исследование, ошибочно отнесённое к неподозрительным, попадает во вторую очередь и ждёт тем дольше, чем лучше сортировка работает на остальном потоке.</a:t>
            </a:r>
          </a:p>
          <a:p>
            <a:r>
              <a:t/>
            </a:r>
          </a:p>
          <a:p>
            <a:r>
              <a:t>Вторая половина. Независимость теряется потому, что так устроен интерфейс, а не потому, что врач невнимателен. Избирательности не хватает процедуры: ни в одной разобранной работе специалисты не получали инструмента, позволяющего отличить верную подсказку от неверной, и ни одна группа с этой задачей не справилась.</a:t>
            </a:r>
          </a:p>
          <a:p>
            <a:r>
              <a:t/>
            </a:r>
          </a:p>
          <a:p>
            <a:r>
              <a:t>У объяснимости цена измерена. База — точность выбора препарата без всякой модели, 35,7 из ста у тех же клиницистов на тех же задачах. Верная рекомендация значимого улучшения им не дала. А неверная рекомендация с упрощённым объяснением по признакам уронила точность до 26,2 — ниже той линии, которую тот же врач даёт без модели вообще. Точность подсказки в опыте задана имитацией на уровне 66,7 из ста; настоящей обученной модели здесь не было, и это ограничение называется вместе с числом. Состав выборки раскрыт: 220 врачей, назначающих антидепрессанты, из них психиатрия — 195 человек, первичное звено — 18, прочие профили — 7. Упрощённое объяснение создаёт ясность, не связанную с правильностью: понятому возразить труднее, чем непонятному.</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яркие измеренные истории — это три случая, пусть и измеренных. Чтобы говорить о правиле, нужен агрегат,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агрегат не говорит. Он не про исходы пациентов, разнородность внутри высокая, и медицинских работ там часть. Форма из словаря здесь не определяется: за агрегатом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 это не возражение предыдущим кадрам: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 знак эффекта не усредняется.</a:t>
            </a:r>
          </a:p>
          <a:p>
            <a:r>
              <a:t/>
            </a:r>
          </a:p>
          <a:p>
            <a:r>
              <a:t>От устройства опыта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80 срезов; точность самой модели на независимом тестовом наборе 0,842.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не был защищён. А на группе в целом, без разделения на правоту модели, прибавка значимости не достигает. Отчёт о внедрении с одним числом показал бы отсутствие эффекта там, где эффект велик в обе стороны. Средняя прибавка и знакопеременность — не два наблюдения, а одно, прочитанное с двух сторон, на одной выборке.</a:t>
            </a:r>
          </a:p>
          <a:p>
            <a:r>
              <a:t/>
            </a:r>
          </a:p>
          <a:p>
            <a:r>
              <a:t>Как читать «вчетверо». Шансы — отношение вероятности верного ответа к вероятности неверного. Если без подсказки патолог отвечал верно в восьми случаях из десяти, то выросшие вчетверо шансы дают около девяноста четырёх из ста, а упавшие вчетверо уводят к примерно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Подпись к обзору обязательна: в той совокупности много систем, работающих на правилах, а обученных моделей среди них часть.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Два числа из трёх зал уже видел на входе; новое здесь — 74, база, которой на входе не было.</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появившаяся вместе с новым шагом процесса. Вывод не сглаживать: калибровка ломается в обе стороны, и «люди слишком доверяют машине» — половина измеренного.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а не независимые наблюдения; ограничение называют сами авторы. База падения — верная расшифровка, а не отсутствие подсказки: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а не стаж: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а не потому, что не искали.</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Проходить карту надо по занятым клеткам, и на каждой говорить одно: кто покупает и чего режим не умеет. Имена инструментов метриками не являются, и подряд их перечислять незачем.</a:t>
            </a:r>
          </a:p>
          <a:p>
            <a:r>
              <a:t/>
            </a:r>
          </a:p>
          <a:p>
            <a:r>
              <a:t>Распознавание на изображении — чтение маммограммы моделью как второй читатель в программе скрининга либо сортировка потока в неотложной рентгенологии. Покупает это организатор национальной или региональной программы, а не отдельная больница; в сортировке — больница или сеть. Режим не умеет удержать читателя от сужения поиска: порядок предъявления подсказки решает больше, чем точность модели, и измерено это на той клетке, где лежит разбор раздела.</a:t>
            </a:r>
          </a:p>
          <a:p>
            <a:r>
              <a:t/>
            </a:r>
          </a:p>
          <a:p>
            <a:r>
              <a:t>Классификация на изображении — подсказка по оцифрованному срезу в цифровой патологии и оценка кожного образования. Входит режим не там, где нужнее, а там, где уже есть сканер: оцифровка стекла идёт раньше модели и стоит дороже неё. Не умеет сказать, что сам неправ, а подпись под заключением ставит патолог, и цена ошибки переезжает к нему.</a:t>
            </a:r>
          </a:p>
          <a:p>
            <a:r>
              <a:t/>
            </a:r>
          </a:p>
          <a:p>
            <a:r>
              <a:t>Генерация на тексте — вопрос-ответ со ссылками на литературу и автоматическая запись приёма. Первое входит снизу, самостоятельным употреблением врача, минуя закупку, — и потому никто не настраивал режим под процесс. Вторая клетка на предыдущей стадии отсутствовала, и это существенно: текст в карте появляется машинно, а держат его те же процедуры подписи — врач вычитывает черновик.</a:t>
            </a:r>
          </a:p>
          <a:p>
            <a:r>
              <a:t/>
            </a:r>
          </a:p>
          <a:p>
            <a:r>
              <a:t>Прогноз на структурированных данных — счёт риска внутри карты. Поиск на тексте — поиск по карте пациента.</a:t>
            </a:r>
          </a:p>
          <a:p>
            <a:r>
              <a:t/>
            </a:r>
          </a:p>
          <a:p>
            <a:r>
              <a:t>Сгустки видны сразу: распознавание на изображении, вопрос-ответ на тексте и счёт риска на структурированных данных.</a:t>
            </a:r>
          </a:p>
          <a:p>
            <a:r>
              <a:t/>
            </a:r>
          </a:p>
          <a:p>
            <a:r>
              <a:t>И клетка, которой на рынке нет, — ансамбль моделей с голосованием. Это не пробел подборки: ансамбль существует как направление исследований, а купить и развернуть его в клинике нельзя — регуляторно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именно так: ожидание «соберём несколько моделей, и они проголосуют» звучит разумно и ничем доступным не обеспечено.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читателей программы скрининга подсказка прямо уронила результат и сузила поиск. У патологов та же подсказка качнула результат в обе стороны — вчетверо вверх, когда модель права, вчетверо вниз, когда неправа. У врачей на рассуждении она не дала ничего, хотя сама была точнее обоих человеческих условий. А там, где процедуру перестроили и разногласие стали разбирать третьим, пара выиграла: чувствительность 80,5 против 73,8 из ста при одинаковой специфичности 98,5 и при объёме человеческого чтения ниже на 44,3 процента, измеренном в промежуточном анализе на 80 033 обследованных.</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 Инструмент совпал, разошлось устройство процедуры. Там подсказка выводилась вместе со снимком и читатель шёл по её колее; здесь человек читает сам, модель с ним спорит, а спор разбирает третий.</a:t>
            </a:r>
          </a:p>
          <a:p>
            <a:r>
              <a:t/>
            </a:r>
          </a:p>
          <a:p>
            <a:r>
              <a:t>Выигрыш пары создаётся несовпадением ошибок человека и модели, а не точностью модели. Это прямое продолжение того, зачем существует второе мнение, и утверждение проверяемое: долю несовпадающих ошибок можно посчитать на своих данных прежде, чем собирать пару. Отсюда следствие, которое ломает отчётность о внедрении: средняя точность складывает две противоположные вещи, и отчёт с одним числом показал бы отсутствие эффекта там, где он был четырёхкратным в обе стороны.</a:t>
            </a:r>
          </a:p>
          <a:p>
            <a:r>
              <a:t/>
            </a:r>
          </a:p>
          <a:p>
            <a:r>
              <a:t>И одно расхождение, которое нельзя сглаживать. Агрегат по ста шести опытам говорит, что человека одного пара в среднем обходит — размер эффекта 0,64 при интервале от 0,53 до 0,74. Измеренная тройка на своём материале разницы не нашла: 76 против 74 при интервале от −4 до 8. Это не ошибка ни там, ни здесь, а агрегат против одного опыта: правило задаёт ожидание, отдельное испытание показывает, что ожидание не гарантия.</a:t>
            </a:r>
          </a:p>
          <a:p>
            <a:r>
              <a:t/>
            </a:r>
          </a:p>
          <a:p>
            <a:r>
              <a:t>Что остаётся инженеру: измерить обе стороны по отдельности, посчитать долю несовпадающих ошибок, назначить ступень участия явно и записать её, задать порядок предъявления подсказки и мерить поведение наряду с результатом.</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модель раннего предупреждения о сепсисе,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Два экрана перед разбором ставят классику на место: как сегодня выглядит обход и запись в лист наблюдения, и как устроена шкала, которую десятилетиями читали руками. Без них разбор модели был бы сравнением с нулём, а не с работающим режимом, и именно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Половина третьего ночи, отделение на тридцать коек: на смене две сестры и дежурный врач на несколько отделений. Сестра идёт по палатам и снимает четыре-пять величин — дыхание, пульс, давление, температуру, иногда насыщение крови кислородом. У постели это занимает две-три минуты, и числа ложатся в лист наблюдения: бумажный бланк в ногах кровати или экранную форму в карте. Через несколько часов обход повторяется.</a:t>
            </a:r>
          </a:p>
          <a:p>
            <a:r>
              <a:t/>
            </a:r>
          </a:p>
          <a:p>
            <a:r>
              <a:t>Зачем измерять человека, который спит и выглядит стабильно. Ухудшение читается не по одному числу, а по направлению дорожки измерений. Пульс сто четыре сам по себе не говорит почти ничего: у одного это норма дня, у другого боль, у третьего обезвоживание. А пульс семьдесят восемь, потом девяносто два, потом сто четыре при падающем давлении и учащённом дыхании говорит много — и говорит за несколько часов до того, как человеку станет очевидно плохо. Поэтому измерения ставят по расписанию: дорожка существует только пока её ведут непрерывно, и восстановить её задним числом нельзя.</a:t>
            </a:r>
          </a:p>
          <a:p>
            <a:r>
              <a:t/>
            </a:r>
          </a:p>
          <a:p>
            <a:r>
              <a:t>Кто это физически делает. У сестры ночной смены десятки пациентов, у каждого несколько измерений за смену, плюс назначения и документы. Отсюда два свойства шага. Работа распределена между людьми разной подготовки: измеряет младший персонал, решает врач. И решение принимает тот, кто пациента в этот момент не видит, — дежурный врач за несколько отделений читает лист наблюдения и слышит голос сестры по телефону. Запись здесь не бюрократия, а единственный канал, по которому состояние человека доходит до того, кто вправе назначить лечение.</a:t>
            </a:r>
          </a:p>
          <a:p>
            <a:r>
              <a:t/>
            </a:r>
          </a:p>
          <a:p>
            <a:r>
              <a:t>Решение на этом шаге одно и повторяющееся: звать старшего сейчас или на следующем обходе. Его принимают по многу раз за ночь, и ошибка здесь накапливается. Диагноз ставят однажды и подписывают, а наблюдение переоценивает одно и то же состояние каждые несколько часов — и каждая переоценка отдельная возможность пройти мимо.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таблица, по которой каждая измеренная величина получает баллы за отклонение от нормы. Устройство из четырёх шагов, и каждый шаг можно показать пальцем. Баллы за отклонение: частота дыхания от двенадцати до двадцати — ноль баллов, от двадцати одного до двадцати четырёх — два, двадцать пять и выше — три; так же для пульса, давления, температуры, уровня сознания и насыщения крови кислородом. Сложение: баллы по всем величинам суммируются в одно число. Сравнение с порогом: сумма попадает в одну из полос — низкую, среднюю, высокую. Назначенное действие: низкая полоса — продолжать наблюдение по расписанию, средняя — участить измерения и позвать дежурного врача, высокая — вызвать реанимационную бригаду немедленно.</a:t>
            </a:r>
          </a:p>
          <a:p>
            <a:r>
              <a:t/>
            </a:r>
          </a:p>
          <a:p>
            <a:r>
              <a:t>Ценность этой конструкции в двух свойствах. Первое: баллы передаются между сменами. Суждение «мне кажется, он сдал» передать нельзя — его не записать в лист и не предъявить утром; число передаётся. Второе: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и любой может посмотреть, почему при частоте дыхания двадцать пять получается именно три балла. Ошибка шкалы разбирается как ошибка документа: собирается комиссия, правит таблицу, выпускает новую редакцию.</a:t>
            </a:r>
          </a:p>
          <a:p>
            <a:r>
              <a:t/>
            </a:r>
          </a:p>
          <a:p>
            <a:r>
              <a:t>Это и есть классический режим, с которым дальше сравнивается обученная модель. У него две названные слабости, и в них модель и целилась. Шкала медленна: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 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 — только шесть величин, снятых сейчас.</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эскалаций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эскалации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«не менее 0,76» в информационном листе поставщика;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0,76–0,86.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эскалациями из ста, измеренную там, где сепсис вдвое реже, и модель с её двенадцатью сравнивают по порядку величины, а не по превосходству.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четырьмя утверждениями, и у каждого своя база.</a:t>
            </a:r>
          </a:p>
          <a:p>
            <a:r>
              <a:t/>
            </a:r>
          </a:p>
          <a:p>
            <a:r>
              <a:t>Классический режим не был бесплатным. Балльная шкала раннего предупреждения подтверждается восемью эскалациями из ста на 45 776 пациентов, где сепсис встречается у 3,3 из ста; две другие шкалы того же разбора — двенадцатью и восемнадцатью; пороговые тревоги прибора у постели ложны в 88,8 случая из ста на 12 671 размеченной тревоге. Это и есть база сравнения, и без неё числа модели не прочитать.</a:t>
            </a:r>
          </a:p>
          <a:p>
            <a:r>
              <a:t/>
            </a:r>
          </a:p>
          <a:p>
            <a:r>
              <a:t>Модель осталась в той же полосе цены. Тревога на 18 из ста госпитализаций, восемь тревог на один найденный случай, две трети случаев сепсиса не выявлены, нулевое медианное опережение во второй проверке. Действующая версия различает лучше, а подтверждение держит от 0,13 до 0,26 — от четырёх до восьми тревог на одно подтверждение.</a:t>
            </a:r>
          </a:p>
          <a:p>
            <a:r>
              <a:t/>
            </a:r>
          </a:p>
          <a:p>
            <a:r>
              <a:t>Поток тревог создал статью рабочего времени, которой не было. Рядом стоит измерение на другой системе — лекарственных тревогах в поддержке решений: отклоняется от 87 до 96 из ста. Это другая задача, и складывать её долю с числами модели сепсиса нельзя; но направление у обоих измерений одно — разбор машинных тревог стал самостоятельной работой, у которой есть объём, исполнитель и, в отдельных больницах, штат.</a:t>
            </a:r>
          </a:p>
          <a:p>
            <a:r>
              <a:t/>
            </a:r>
          </a:p>
          <a:p>
            <a:r>
              <a:t>Четвёртое, и это вывод раздела: тревога без названной базы не предупреждает. Оповещение, у которого не посчитана доля подтверждения на вашем населении, не несёт сведений о том, что произошло с пациентом, — оно несёт сведения о том, что сработал порог.</a:t>
            </a:r>
          </a:p>
          <a:p>
            <a:r>
              <a:t/>
            </a:r>
          </a:p>
          <a:p>
            <a:r>
              <a:t>Инженеру отсюда следуют три требования, и все три проверяемые. Посчитать долю подтверждения на своём потоке до внедрения. Назначить, кто разбирает поток, и посчитать это время рабочим. Держать классический режим живым, потому что сравнивать модель придётся именно с ним.</a:t>
            </a:r>
          </a:p>
          <a:p>
            <a:r>
              <a:t/>
            </a:r>
          </a:p>
          <a:p>
            <a:r>
              <a:t>Наблюдение оставляет после себя документ, и решение по нему принимает тот, кто пациента не видел.</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диктовка под шаблон или набор текста руками сразу после приёма,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И ещё одно, прямо с этого кадра. 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Слепое сравнение с врачебными документами: 100 случайно отобранных госпитализаций продолжительностью от трёх до шести дней, 22 лечащих врача-рецензента, дублированная оценка, и рецензенты не знали, где машинный текст, а где человеческий. Общее качество сопоставимо — 3,67 у врачей против 3,77 у модели по пятибалльной шкале. Машинные версии сжатее, 4,01 против 3,70, и связнее, 4,16 против 4,01, но менее полны — 3,72 против 4,13. Уникальных ошибок на документ у модели больше: 2,91 против 1,82. Потенциальный вред отдельной ошибки не различается — 1,35 против 1,34 по шкале от нуля до семи; ошибок с потенциалом необратимого вреда шесть у модели и пять у врачей.</a:t>
            </a:r>
          </a:p>
          <a:p>
            <a:r>
              <a:t/>
            </a:r>
          </a:p>
          <a:p>
            <a:r>
              <a:t>Проспективная проверка в работе даёт другой состав ошибок: на 384 выписки система выдала 1 274 сводки, врачи использовали машинное содержание в 219 случаях — 57 из ста; на сотне сводок пропуски нашлись в 25, неточности в 20, выдумки в 2, а из ста неотредактированных 88 признаны не несущими потенциала вреда, одна — способной причинить умеренный вред, тяжёлого вреда нет.</a:t>
            </a:r>
          </a:p>
          <a:p>
            <a:r>
              <a:t/>
            </a:r>
          </a:p>
          <a:p>
            <a:r>
              <a:t>Что это потребовало — вычитки другого рода, которой никто не учит.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 связное, уместное по стилю и отсутствующее в источнике.</a:t>
            </a:r>
          </a:p>
          <a:p>
            <a:r>
              <a:t/>
            </a:r>
          </a:p>
          <a:p>
            <a:r>
              <a:t>И то, что по этому случаю чаще всего пересказывают: тройка аккуратных чисел со ссылкой на «исследование ста эпикризов». Построчное чтение трёх доступных первоисточников её не даёт —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тремя утверждениями и выводом.</a:t>
            </a:r>
          </a:p>
          <a:p>
            <a:r>
              <a:t/>
            </a:r>
          </a:p>
          <a:p>
            <a:r>
              <a:t>Заявленная экономия и измеренная экономия посчитаны в разных величинах. Заявление — 15 791 час на 63 000 приёмов без раскрытой методики; измерение — 9,5 процента времени в заметке у одного инструмента и ноль у второго при 238 рандомизированных врачах, причём активное время правки не изменилось. Разница между заявлением и измерением здесь не в величине, а в том, что заявление не является проверяемым утверждением.</a:t>
            </a:r>
          </a:p>
          <a:p>
            <a:r>
              <a:t/>
            </a:r>
          </a:p>
          <a:p>
            <a:r>
              <a:t>Время не исчезло — оно переехало. Набор текста сократился, вычитка черновика появилась и измерена отдельно, а служба контроля качества заметок получила штат: свыше 3 600 прочитанных отзывов врачей и 1 252 анкеты в отчёте одной клиники. Обе формы — «нагрузка переехала» и «шаг появился» — предъявлены с объёмом, а не словами.</a:t>
            </a:r>
          </a:p>
          <a:p>
            <a:r>
              <a:t/>
            </a:r>
          </a:p>
          <a:p>
            <a:r>
              <a:t>У машинного документа другое устройство ошибки, и прежний навык вычитки на него не переносится. Ошибок больше — 2,91 против 1,82 на документ; документ менее полон — 3,72 против 4,13 по пятибалльной шкале; потенциал вреда отдельной ошибки тот же. Искать приходится не опечатку, а правдоподобную подробность, которой не было в истории болезни.</a:t>
            </a:r>
          </a:p>
          <a:p>
            <a:r>
              <a:t/>
            </a:r>
          </a:p>
          <a:p>
            <a:r>
              <a:t>И вывод раздела. Автоматическая запись приёма — тот случай, где выигрыш настоящий и берётся сразу, а плата возникает на шаге, которого в процессе не было. Направление развития этого режима делает плату больше: от диктовки под шаблон — к записи приёма целиком, а дальше к черновику назначений и кодов, то есть к документу, который что-то запускает. Чем больше документ запускает, тем дороже в нём правдоподобная подробность, которой не было.</a:t>
            </a:r>
          </a:p>
          <a:p>
            <a:r>
              <a:t/>
            </a:r>
          </a:p>
          <a:p>
            <a:r>
              <a:t>Под каждым из этих документов стоит подпись. Запись приёма подписывает врач, выписной эпикриз подписывает врач, и когда по документу что-то произойдёт, разбирать будут подпись.</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Разбор «Норма есть, проверки нет» показывает, как редко эту способность проверяют на практике до того, как устройство допустят к продаже: систематический обзор поданной регулятору документации по радиологическим устройствам с ИИ нашёл тестирование с реальным участием врача у считаных процентов проверенных устройств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«Модель, которая меняется после допуска» называет три инструмента регулятора: заранее утверждённый план будущих изменений модели, передачу данных о работе устройства регулятору и перенесённые сроки обязательной отчётности в европейском регламенте об ИИ. У этого обзора нет формы разбора в словаре курса, и это не недостаток материала: он описывает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Медицинское заключение существует как документ, под которым стоит имя конкретного человека; в электронном контуре это усиленная квалифицированная электронная подпись, привязанная к одному физическому лицу. Отсюда следует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Разбор случая — третий механизм этой процедуры, после подписи и информированного согласия, и устроен он как работа людей.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Если соответствовали — ответственность не наступает, даже когда исход оказался плохим. Если не соответствовали — комиссия называет расхождение и то, что из него следует.</a:t>
            </a:r>
          </a:p>
          <a:p>
            <a:r>
              <a:t/>
            </a:r>
          </a:p>
          <a:p>
            <a:r>
              <a:t>Вопроса «пользовался ли он моделью» в этом списке нет вовсе. Вывод модели упоминается ровно в той мере, в какой он попал в карту и мог повлиять на действие; решение комиссии не меняется от того, следовал врач подсказке или возразил ей.</a:t>
            </a:r>
          </a:p>
          <a:p>
            <a:r>
              <a:t/>
            </a:r>
          </a:p>
          <a:p>
            <a:r>
              <a:t>Такая постановка делает три вещи сразу. Она держит цену ошибки на человеке с подписью, сколько бы машин ни участвовало в подготовке решения. Она переводит разбор с личности на документ: исправляют порядок оказания помощи, а не характер врача. И она не умеет оценивать модель — инструмент оценки здесь соответствие порядку, а порядок про модель ничего не говорит, пока его не перепишут.</a:t>
            </a:r>
          </a:p>
          <a:p>
            <a:r>
              <a:t/>
            </a:r>
          </a:p>
          <a:p>
            <a:r>
              <a:t>Чисел на этом кадре нет, и это свойство самого кадра: он показывает устройство работы. Числа появятся там, где мы спросим, насколько часто проверяют то, на чём вся конструкция стоит, — способность подписывающего возразить машине.</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Механизм, которым медицина удерживает цену ошибки, собран здесь из двух шагов.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Второй — изменение порядка по итогам разбора: расхождение, которое повторяется, становится основанием поправить документ — порядок оказания помощи или внутренний регламент отделения. Третий шаг, независимое второе мнение и арбитраж при расхождении, разобран раньше; независимость теряется в тот момент, когда оба читателя видят одну и ту же машинную подсказку. Общее у всех трёх одно: каждый существует потому, что один человек ошибается, и процедура знает это заранее — внимательнее людей она не делает.</a:t>
            </a:r>
          </a:p>
          <a:p>
            <a:r>
              <a:t/>
            </a:r>
          </a:p>
          <a:p>
            <a:r>
              <a:t>Планирование смен стоит рядом как разбор подмены. Время на составление графика упало с 32,0 до 6,0 часа в месяц, но обученной модели внутри планировщика нет: нормы отдыха, квалификации, заявки на отпуск и минимальный состав дежурства задают систему условий, которую решает оптимизатор. Выигрыш относится к организации труда — ошибка в графике исправляется до начала смены и никому не стоит здоровья.</a:t>
            </a:r>
          </a:p>
          <a:p>
            <a:r>
              <a:t/>
            </a:r>
          </a:p>
          <a:p>
            <a:r>
              <a:t>Числа по подсказке получены в опыте с перекрёстным планом: сорок клиницистов, по двести снимков каждый, восемь тысяч прочтений. Без модели верных заключений 87,2 из ста, с моделью 96,4. Девять пунктов посчитаны против одного читателя — второго человека в этом опыте не было, и сколько из них осталось бы при сравнении с парой людей, он не говорит. А 45,5 из ста оставшихся ошибок связаны со склонностью доверять автомату: человек соглашается с машинным выводом там, где без него решил бы иначе и правильнее. Стаж от этого не защищает.</a:t>
            </a:r>
          </a:p>
          <a:p>
            <a:r>
              <a:t/>
            </a:r>
          </a:p>
          <a:p>
            <a:r>
              <a:t>Очевидное лекарство — прятать подсказку там, где она скорее введёт в заблуждение. Снижение на 41,7 процента получено расчётом по двум уже собранным раундам; третьего раунда с живыми врачами не было, а в скрываемой зоне остаются и случаи, где модель права, — поэтому знак итогового эффекта неизвестен. Раскрытый конфликт интересов произносится рядом с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разрыв из предыдущего кадра читался как устройство, а не как небрежность, нужна карта участников. 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модели есть свойство, которого нет у скальпеля: она меняется после того, как её допустили. 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Формы разбора у этого кадра нет, и причина названа: цена обеих ошибок у надзорного механизма не измерена, классического режима в той же цене никто не посчитал. Обзор механизмов остаётся обзором.</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надзорной рамки есть измеренное последствие, и оно показывает, где она не успевает. Исследование реестра допущенных изделий со срезом в ноябре 2024 года даёт картину: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a:t>
            </a:r>
          </a:p>
          <a:p>
            <a:r>
              <a:t/>
            </a:r>
          </a:p>
          <a:p>
            <a:r>
              <a:t>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темп регистраций вырос втрое: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a:t>
            </a:r>
          </a:p>
          <a:p>
            <a:r>
              <a:t/>
            </a:r>
          </a:p>
          <a:p>
            <a:r>
              <a:t>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Это установлено двадцатью двумя попытками: восемнадцать поисковых формулировок и четыре обращения к профильным журналам и базе диссертаций.</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закрывается четырьмя утверждениями, и у каждого своя база.</a:t>
            </a:r>
          </a:p>
          <a:p>
            <a:r>
              <a:t/>
            </a:r>
          </a:p>
          <a:p>
            <a:r>
              <a:t>Первое: цену ошибки держит процедура, а работает она на документе. Разбор случая оценивает соответствие действий утверждённым порядкам; изменение порядка — то, чем разбор заканчивается. Вопроса «пользовался ли врач моделью» в этой процедуре нет, и пока порядок про модель не переписан, процедура её не оценивает.</a:t>
            </a:r>
          </a:p>
          <a:p>
            <a:r>
              <a:t/>
            </a:r>
          </a:p>
          <a:p>
            <a:r>
              <a:t>Второе: выигрыш и вред от подсказки идут из одного места. Точность с 87,2 до 96,4 из ста и 45,5 из ста оставшихся ошибок, связанных со склонностью доверять автомату, на всех уровнях стажа — одно исследование, сильный план, повторения нет. Очевидное лекарство оценено расчётом и не измерено: третьего раунда не было, и знак итогового эффекта неизвестен.</a:t>
            </a:r>
          </a:p>
          <a:p>
            <a:r>
              <a:t/>
            </a:r>
          </a:p>
          <a:p>
            <a:r>
              <a:t>Третье: норма требует человека финальным звеном, а проверено ли, что он способен вмешаться, — почти никогда. 56 изделий из 717, срез июнь 2024 года, одна публикация без независимого повтора. Рядом: 924 изделия из 950 допущены по подобию, 60 из 950 отозваны, 43,4 процента отзывов — в первый год.</a:t>
            </a:r>
          </a:p>
          <a:p>
            <a:r>
              <a:t/>
            </a:r>
          </a:p>
          <a:p>
            <a:r>
              <a:t>Четвёртое: процедура живёт вне сетки «задача × модальность», и это её свойство. Подпись, согласие, разбор случая, допуск, надзор после допуска — ни одно из них не занимается распознаванием, прогнозом или генерацией. Клетка сетки говорит, чем инструмент занят, и ничего не говорит о том, чем его держат.</a:t>
            </a:r>
          </a:p>
          <a:p>
            <a:r>
              <a:t/>
            </a:r>
          </a:p>
          <a:p>
            <a:r>
              <a:t>Контраст с прошлой лекцией предъявляется прямо. Там требований к системам с искусственным интеллектом внутри промышленных изделий не было, и это было названо пробелом. В медицине они есть: класс риска, национальные стандарты, порядок передачи данных регулятору, статья о человеческом надзоре, планы изменений модели после допуска — и названы сроки. Разница в том, что здесь документ есть и измеримо, насколько он исполняется.</a:t>
            </a:r>
          </a:p>
          <a:p>
            <a:r>
              <a:t/>
            </a:r>
          </a:p>
          <a:p>
            <a:r>
              <a:t>Удерживает то, что стоит за подписью: время прочитать, способность возразить, процедура, в которой возражение чем-то кончается, и проверка, что всё это есть. Где за подписью не стоит ничего, цена ошибки переезжает на того, кто не подписывал.</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Химик-синтетик получает миллиграммы вещества. Тот же порошок через полгода едет в виварий на токсикологию. Ещё через год координатор исследования часами пишет наблюдения по одному здоровому добровольцу первой фазы. Три человека, три места, одно вещество, и между первым эпизодом и третьим проходит около двух лет. Картина стоит здесь затем, что дальше пойдут проценты и доли, а за каждым стоит такая же работа руками.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вечера проверяют один и тот же вопрос на разном материале. Первый — молекула, спроектированная моделью целиком: доклинический этап у неё занял меньше года против нескольких лет отраслевой нормы, она вошла в клинику человека, а затем была снята на первой фазе — ускорение одного шага не гарантировало следующий. Второй — воронка молекул, в происхождении которых участвовала обученная модель: десятки активов вошли в клинику, часть дошла до второй фазы, а одобрений регулятора за всё время существования категории —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который модель бизнеса считала предрешённым.</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Производство лекарственной формы на линии — отдельная тема курса, в этот раздел она не входит. Одну границу надо удержать до первого разбора: это работа на масштабе отрасли, а не решение о человеке у койки, и переносить выводы одного масштаба на другой запрещено так же, как в остальных разделах.</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здесь — порядок величины, а не замер. Около двух лет между первым эпизодом и третьим и четыре-пять лет на весь путь от мишени до клинического кандидата — отраслевая норма из согласующихся между собой обзоров, не построчно сверенная статистика; разброс между программами при этом большой. Удержать стоит не цифру, а то, что каждый шаг этого пути кто-то делает руками: одна реакция, одно животное, один доброволец. Длина такого шага от вычислений не зависит — её задают физиология, протокол и расписание центра.</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называет не только шаги, но и тех, кто их делает, и исполнитель здесь важнее названия шага. Дальше весь раздел говорит об одном: переехала не работа, а один исполнитель на одном шаге — в самом начале пути.</a:t>
            </a:r>
          </a:p>
          <a:p>
            <a:r>
              <a:t/>
            </a:r>
          </a:p>
          <a:p>
            <a:r>
              <a:t>Мишень выбирают биологи: решают, какой белок или процесс в организме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и меньше задевает соседние цели.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на первой фазе до сотен и тысяч пациентов на третьей. Заявку собирают регуляторные специалисты: это тоже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с визитами, анализами и оплатой работы каждого центра. Поэтому ускорение в начале пути меняет общую длину и общую стоимость разработки незначительно: оно происходит на самом дешёвом и самом коротком участке.</a:t>
            </a:r>
          </a:p>
          <a:p>
            <a:r>
              <a:t/>
            </a:r>
          </a:p>
          <a:p>
            <a:r>
              <a:t>Вычисление приходится на один шаг — подбор молекулы и, реже, выбор мишени. Остальные три шага схемы им не затрагиваются вовсе: переносимость проверяют на людях, пациентов набирают в больницах, документы подаёт человек. Эту границу стоит держать в голове, когда дальше пойдут числа: все они про первый шаг, а узкое место ищут там, где стоит основной объём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 Это и есть база, с которой сравнивают любое улучшение.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 Дата среза и знаменатель стоят на кадре по той же причине: число без них не проверяемо и не оспоримо.</a:t>
            </a:r>
          </a:p>
          <a:p>
            <a:r>
              <a:t/>
            </a:r>
          </a:p>
          <a:p>
            <a:r>
              <a:t>Цена обеих ошибок называется здесь, до всякой точности, и половины её несопоставимы по измеримости. Довести негодную молекулу до первой фазы — это месяцы работы клинического центра, здоровые добровольцы под дозой и деньги, не ушедшие в другую программу. Отбросить годную — терапии не будет ни у кого, и эта цена не измеряется вовсе: узнать, что отброшенная молекула сработала бы, невозможно, потому что эксперимента не было. Вторую цену называют прямо и не заменяют оценкой; подставить сюда правдоподобную цифру значило бы её выдумать.</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Пример той же формы, знакомый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потому что в его знаменателе сидят те, кто до экзамена просто не дошёл: взял отпуск, не закрыл допуск, ещё учится. Ни одно из двух чисел не врёт; врёт их сопоставление друг с другом.</a:t>
            </a:r>
          </a:p>
          <a:p>
            <a:r>
              <a:t/>
            </a:r>
          </a:p>
          <a:p>
            <a:r>
              <a:t>В разработке лекарства устройство такое же. Переход считают среди тех, кто фазу прошёл до конца: знаменатель — завершившие фазу, числитель — пошедшие дальше. Завершение считают среди всех, кто когда-либо вошёл в испытания, и в этом знаменателе сидят активы, которые до следующей фазы ещё не дошли — ни провалившись, ни преуспев. Чем моложе набор активов, тем сильнее второе число занижено просто ходом времени, а не качеством работы.</a:t>
            </a:r>
          </a:p>
          <a:p>
            <a:r>
              <a:t/>
            </a:r>
          </a:p>
          <a:p>
            <a:r>
              <a:t>Это не придирка к словам. Дальше в разделе будет замер, где такие две дроби склеены в публичном пересказе, и знак вывода от склейки переворачивается: «втрое хуже отрасли» получается там, где сопоставимое сравнение даёт «не хуже базы».</a:t>
            </a:r>
          </a:p>
          <a:p>
            <a:r>
              <a:t/>
            </a:r>
          </a:p>
          <a:p>
            <a:r>
              <a:t>Третья причина не ставить такие числа в один ряд — разная единица счёта. Отраслевая база считает переходы по показаниям: одна молекула, которую проверяют на трёх болезнях, даёт три перехода. Замеры по молекулам машинного происхождения считают уникальные молекулы и активы, то есть ту же молекулу один раз. Отсюда короткое правило, которое переносится за пределы этой отрасли: прежде чем сравнивать две доли, проверяют три вещи — что стоит в знаменателе, что считается единицей счёта и на какую дату сделан срез. Если хоть одна из трёх различается, сравнения нет, даже когда числа выглядят однотипно.</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Левый столбец держится на двух случаях, и у каждого названа база сравнения. Перебор гипотез по графу биомедицинских связей занял 48 часов — против недель и месяцев систематического обзора литературы и экспертной гипотезы; для нового патогена, по которому литературы почти нет, классический путь не работает вовсе, и это важная часть выигрыша.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a:t>
            </a:r>
          </a:p>
          <a:p>
            <a:r>
              <a:t/>
            </a:r>
          </a:p>
          <a:p>
            <a:r>
              <a:t>Второй случай — расчётная оценка связывания 13 000 соединений под уже известную мишень. Он ценен тем, что сделан аккуратно: метод назван, сказано, что именно он считает — физику связывания, — и обещания «придумал лекарство из ничего» нет. База сравнения тут — классический цикл «синтезируй и протестируй», где физически через опыт прогоняют от одного до трёх миллионов соединений. Упал объём физических итераций, а не цена результата: готовый актив покупатель забрал за 4 миллиарда долларов авансом плюс до 2 миллиардов выплат по достижениям. Удешевление поиска молекулы не удешевило молекулу.</a:t>
            </a:r>
          </a:p>
          <a:p>
            <a:r>
              <a:t/>
            </a:r>
          </a:p>
          <a:p>
            <a:r>
              <a:t>Правый столбец пуст по числам, и это его вывод, а не пробел подборки. Ни переносимость у людей, ни набор пациентов, ни длительность наблюдения за медленно прогрессирующей болезнью, ни производство клинической партии не содержат задачи, которую делает модель. Отсюда приём, работающий в любой отрасли: у заявленного эффекта спрашивают, от чего он посчитан, и отдельно — какую долю всего пути занимает шаг, на котором он получен.</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Отдельно стоит сказать, чего этот разбор в словарь вечера не добавляет: формы он не даёт ни одной. Приписанный процент работу не переставляет — ни шага не появилось, ни исполнитель не сменился, ни нагрузка никуда не переехала. Разбор недостоверности числа и разбор изменения работы — два разных дела, и смешивать их нельзя.</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 подставить сюда правдоподобную цифру значило бы её выдумать.</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Счёт у двух режимов один и тот же, и это и делает его базой: первая фаза пропускает дальше 52,0 процента программ, вторая — 28,9, до одобрения доходит 7,9. Любое улучшение сравнивают с этими числами, а не с нулём и не с ожиданиями из заголовков. Пока сравнения с ними нет, фраза «модель ускорила разработку» говорит только про тот шаг, на котором её применили, и ничего — про путь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этот случай, требует оговорки, и она не формальная. И «меньше двенадцати месяцев», и «четыре с половиной года» — заявления самой компании: второе —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Пробел в базе при этом сужен, и назвать его стоит точно. Единственная отраслевая величина, которой разбор располагает, — норма «мишень → клинический кандидат» в четыре-пять лет, и относится она к пути целиком, а не к доклинической оптимизации одной молекулы. Заявленные четыре с половиной года она ни подтверждает, ни опровергает.</a:t>
            </a:r>
          </a:p>
          <a:p>
            <a:r>
              <a:t/>
            </a:r>
          </a:p>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a:t>
            </a:r>
          </a:p>
          <a:p>
            <a:r>
              <a:t/>
            </a:r>
          </a:p>
          <a:p>
            <a:r>
              <a:t>Что отсюда забирают. Доклиника сжалась в месяцы, а переносимость у людей осталась той же длины и у того же исполнителя — и она же остановила проект. Исход при этом ровно такой, какой предсказывает база отрасли, где первая фаза пропускает дальше 52,0 процента программ: ничего исключительного не произошло, обычный отсев. Ускорение одного шага не ускоряет и не гарантирует следующий.</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машинного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одно число опирается на тысячи наблюдений, другое на несколько. К этому добавляется вторая оговорка: первоисточник замера напрямую не открылся, числа взяты из трёх независимых согласующихся пересказов, и сверка остаётся вторичной.</a:t>
            </a:r>
          </a:p>
          <a:p>
            <a:r>
              <a:t/>
            </a:r>
          </a:p>
          <a:p>
            <a:r>
              <a:t>Одно уточнение про знаменатель, чтобы рядом не встал чужой. В клинику с 2015 года вошло 75 молекул машинного происхождения — это вся совокупность категории, а не знаменатель второй фазы, и ставить 75 рядом с «около сорока процентов» нельзя. Против 4 933 переходов отраслевой стороны такая пара внушала бы сопоставимый вес свидетельства там, где разница в три порядка.</a:t>
            </a:r>
          </a:p>
          <a:p>
            <a:r>
              <a:t/>
            </a:r>
          </a:p>
          <a:p>
            <a:r>
              <a:t>Направление вывода здесь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 — ровно тот дефект, который этот раздел разбирает у чужих материалов.</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 и так это и стоит произносить.</a:t>
            </a:r>
          </a:p>
          <a:p>
            <a:r>
              <a:t/>
            </a:r>
          </a:p>
          <a:p>
            <a:r>
              <a:t>В публичных обзорах встречается «больше двухсот молекул в клинике». В этом разделе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Форсированная жизненная ёмкость лёгких выросла на 98,4 миллилитра в группе препарата против падения на 20,3 миллилитра в группе плацебо. Второе число и есть база: без лечения функция лёгких у этих пациентов продолжает падать, на месте она не стоит, и прирост считают от падения, а не от нуля. Из исследования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a:t>
            </a:r>
          </a:p>
          <a:p>
            <a:r>
              <a:t/>
            </a:r>
          </a:p>
          <a:p>
            <a:r>
              <a:t>Испытание было устроено по правилам: 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и показать не могли.</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собирается тремя формами, и все три уже предъявлены на разборах. Нагрузка переехала на другой шаг — дважды: на масштабе отрасли весь объём работы стоит в клинических фазах, которые не подешевели, а на масштабе одной молекулы доклиника сжалась в месяцы, и остановила проект переносимость у людей. Объём на том же месте упал — расчётный отбор соединений под уже известную мишень: тот же шаг, тот же исполнитель, меньше физических итераций «синтезируй и протестируй». Изменился порядок работ — но на масштабе модели бизнеса, а не процесса одного препарата, и это заимствование формы на другой масштаб, сказанное прямо.</a:t>
            </a:r>
          </a:p>
          <a:p>
            <a:r>
              <a:t/>
            </a:r>
          </a:p>
          <a:p>
            <a:r>
              <a:t>Узкое место стоит назвать по частям, иначе оно звучит отговоркой: переносимость у людей, набор пациентов, длительность наблюдения, производство клинической партии. Расчётный отбор соединений не касается ни одной из этих четырёх работ.</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У этого вывода есть и срок годности, и его стоит произнести: появится первое одобрение — вывод придётся менять целиком, переформулировкой тут не обойтись. И чего раздел не касается: производства лекарственной формы на линии.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 Ускорение участка, который не был узким местом, меняет длину всего пути ровно на ноль — и видно это не на одном проекте, а на отрасли с десятилетней историей, шестьюдесятью тремя компаниями и ста семнадцатью активами в клинике.</a:t>
            </a:r>
          </a:p>
          <a:p>
            <a:r>
              <a:t/>
            </a:r>
          </a:p>
          <a:p>
            <a:r>
              <a:t>Дальше вечер меняет масштаб: от отрасли, где удешевили начало целиком, — к одному человеку, который принимает решение, и к тому, что происходит с его собственным навыком.</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Весь вечер измеряли отрасль: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Три предмета раздела идут по порядку.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кто теперь исполнитель: какие новые роли и шаги появились в процессе, когда часть решения стала доверяться модели. И наконец — то, чего про доверие не измерено вовсе: раздел не стесняется сказать, где у него нет данных, а есть только предположение.</a:t>
            </a:r>
          </a:p>
          <a:p>
            <a:r>
              <a:t/>
            </a:r>
          </a:p>
          <a:p>
            <a:r>
              <a:t>Это последний материал содержания вечера: дальше в деке — только свод. Поэтому раздел закрывает не тему, а саму ось лекции, и закрывает её тем же приёмом, которым лекция весь вечер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сертификат на руках. В медицине она устроена иначе, и это различение несущее для всего раздела: врачебный навык — расходуемое. 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и снаружи это проверяется одной величиной — сколько раз человек процедуру выполнил.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спрашивает самого человека. Профессия не спрашивает врача, в форме ли он: она считает за него. Для колоноскопии счёт устроен двумя показателями. Доля обнаружения — доля процедур, в которых врач нашёл хотя бы одно предраковое образование, от всех выполненных им. Её нельзя получить старанием, волей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Отсюда и сама картина. 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 и самочувствие специалиста поэтому негодно как прибор для измерения его формы.</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весь вечер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плоскость спрашивает не про человека и не про число, а про устройство работы: кто теперь исполнитель, какие шаги появились, где подпись стала формальной.</a:t>
            </a:r>
          </a:p>
          <a:p>
            <a:r>
              <a:t/>
            </a:r>
          </a:p>
          <a:p>
            <a:r>
              <a:t>Появилась посредническая роль. При внедрении модели раннего предупреждения медицинские сёстры бригады быстрого реагирования стали переводить вывод модели на язык, которому поверит врач. Шаг «кто-то должен решить, доверять ли тревоге» не исчез — под него нашли человека, и человек этот не бесплатен. Там же замечено, что доверие выше у тех, кто работает с моделью руками, чем у врачей приёмного отделения с готовым выводом. Сила свидетельства слабая: качественное исследование, пятнадцать интервью — наблюдение роли, а не измерение эффекта.</a:t>
            </a:r>
          </a:p>
          <a:p>
            <a:r>
              <a:t/>
            </a:r>
          </a:p>
          <a:p>
            <a:r>
              <a:t>Появился целевой арбитраж, а рутинная перепроверка каждого случая ушла. В программе скрининга с моделью вместо второго читателя объём человеческого чтения ниже на 44,3 процента — промежуточный анализ безопасности той же программы, 80 033 женщины, и это его собственная выборка, не та, на которой считали чувствительность. Единого числа по разным внедрениям одной идеи нет: по направлению они согласуются, по величине расходятся, а разброс в опубликованных числах не называется — у прежней пары величин источник сверку не прошёл. Цена сдвига при этом посчитана: разборов расхождения становится на 53 процента больше при разбросе от 22 до 142, и один такой разбор стоит двух минут двенадцати секунд против сорока восьми секунд на чтение. Структура защиты от ошибки меняется целиком: было два независимых взгляда, стала калибровка одного порога плюс человеческий арбитраж расхождения — другой контроль качества, и заводить его надо отдельно.</a:t>
            </a:r>
          </a:p>
          <a:p>
            <a:r>
              <a:t/>
            </a:r>
          </a:p>
          <a:p>
            <a:r>
              <a:t>Третья строка — измеренная зависимость от прежнего контакта с инструментом: у вернувшихся участников замера минус 18 процентов, у новых минус 4. Знак отрицательный в обеих группах, доверительные интервалы накрыли ноль. Точечные оценки есть, значимости нет, и произносить это надо одной фразой. Предмет легко испортить в обе стороны: «вернувшиеся» и «новые» — это опыт участия в самом замере, а стаж в профессии там не измеряли.</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заканчивается своими пробелами — первая проверка на себе того требования, которое весь вечер предъявлялось чужим числам.</a:t>
            </a:r>
          </a:p>
          <a:p>
            <a:r>
              <a:t/>
            </a:r>
          </a:p>
          <a:p>
            <a:r>
              <a:t>Первое. На реальной работе измерено однажды: падение доли обнаружения — одна страна, четыре центра, наблюдательный дизайн, опубликованное исправление, три письма и ответ авторов. Содержание этих четырёх текстов за платным доступом и нам неизвестно, поэтому ссылаться можно на их существование и состав, но не на содержание: ссылка на то, чего не читали, была бы тем, в чём лекция упрекает поставщика.</a:t>
            </a:r>
          </a:p>
          <a:p>
            <a:r>
              <a:t/>
            </a:r>
          </a:p>
          <a:p>
            <a:r>
              <a:t>Второе. Повторения на реальной работе нет, и пробел назван числом: двадцать две отдельные попытки — восемнадцать поисковых формулировок и четыре целевых обращения, включая поиск отечественных измерений. Число это про поиск; о самом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Вместо измерений нашлись организаторские величины — доля согласия врача с подсказкой, медиана времени обработки, объём обработанных исследований — и пресс-релизные цифры, годные как упражнение на недостоверность.</a:t>
            </a:r>
          </a:p>
          <a:p>
            <a:r>
              <a:t/>
            </a:r>
          </a:p>
          <a:p>
            <a:r>
              <a:t>Третье. Продольного измерения навыка у тех, кто учился сразу с помощником,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a:t>
            </a:r>
          </a:p>
          <a:p>
            <a:r>
              <a:t/>
            </a:r>
          </a:p>
          <a:p>
            <a:r>
              <a:t>И пустая клетка. Операция, которая должна была бы появиться вместе с помощником — периодическая работа без него или переподготовка, — не появилась, и её отсутствие входит в находку. Написать туда «переаттестация» нельзя: такой процедуры нет ни в одной юрисдикции. Отсюда практическое следствие: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числа большего, чем оно весит, была бы та же ошибка, что требовать работы от заявленной точности без знаменателя.</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за вечер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этот вечер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Между двумя осями стоят три кадра, каждый — требование к самим себе. Счёт приписок отвечает на вопрос, сколько раз за вечер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Градация замера называет уровень, на котором измерен каждый разбор вечера, включая самые сильные, и честный вывод этого кадра неудобен: исхода пациента нет ни у одного разбора ядра.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a:t>
            </a:r>
          </a:p>
          <a:p>
            <a:r>
              <a:t/>
            </a:r>
          </a:p>
          <a:p>
            <a:r>
              <a:t>Закрывается раздел поимённым ответом на вопрос, с которого начался вечер.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вечер измерил;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врёт там, где работа удвоилась или исчезла.</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 несущая строка формы. У неё есть счёт в единицах труда: плюс 53 процента объёма арбитража, а один разбор расхождения против одного чтения дольше в 4,6 раза по медианам и в 2,75 по средним. Среднее идёт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замер зрительного поиска, две реализации с противоположными знаками: упавший объём поиска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за вечер не встретилось, предъявляется прочерком, и замазывать его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нельзя: это шире любого замера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 Прогон «модель одна» не был равноправной случайной ветвью — он идёт наблюдательным дополнением, не результатом распределения.</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Второй подтверждающий случай — хирурги с подсказкой модели на септическом шоке: 0,712 против 0,820 без подсказки.</a:t>
            </a:r>
          </a:p>
          <a:p>
            <a:r>
              <a:t/>
            </a:r>
          </a:p>
          <a:p>
            <a:r>
              <a:t>Чем восьмая форма отличается от двух соседних. В пятой сменилась рука — здесь рука та же: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вечера: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этом вечере тоже есть. Счёт ведётся по реестру номинаций на день сборки: он читался десять, потом двенадцать, потом снова десять, а теперь опять двенадцать — и вписанное заранее соврало бы трижды.</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продолжение градации прибора, данной прошлой лекцией. Там спрашивали, чем измеряют: независимым прибором, прибором того же семейства, той же моделью или прибора нет вовсе. Здесь спрашивают, на каком уровне измеряют результат, и ступеней четыре: заявление поставщика, точность на корпусе, качество работы, исход пациента.</a:t>
            </a:r>
          </a:p>
          <a:p>
            <a:r>
              <a:t/>
            </a:r>
          </a:p>
          <a:p>
            <a:r>
              <a:t>Градация поднимает требование вечера на уровень выше и обращает его против самого вечера. Весь разговор требовал у каждого числа базу — от чего посчитан эффект. Градация добавляет: точность на корпусе — тоже посредник, она не говорит ни что изменилось в работе человека, ни что стало с больным.</a:t>
            </a:r>
          </a:p>
          <a:p>
            <a:r>
              <a:t/>
            </a:r>
          </a:p>
          <a:p>
            <a:r>
              <a:t>На верхней ступени стоят считанные разборы. Шведский скрининг: болезней, найденных между обследованиями, 1,55 против 1,76 на тысячу — и это не доказанное улучшение, показана не-худшесть. Глазное дно. Разработка лекарства: одобрений ноль. Модель раннего предупреждения — частично. Из этих разборов два дали нулевой результат по исходам, один — ноль одобрений, один — не-худшесть без доказанного улучшения; ни один из них не про состояние человека, работающего с моделью. Ступенью ниже, на качестве работы, лежат расход навыка и арбитраж. А всё ядро вечера — агрегат размеров эффекта, замер взгляда, подсказка по срезу, обратный знак, кардиограммы, ортопедия — стоит на точности корпуса.</a:t>
            </a:r>
          </a:p>
          <a:p>
            <a:r>
              <a:t/>
            </a:r>
          </a:p>
          <a:p>
            <a:r>
              <a:t>Отсюда вывод, и он неудобный: исхода пациента нет ни у одного разбора ядра. Никто не проверил, что случилось с больным из-за того, что врач стал хуже смотреть. 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r>
              <a:t/>
            </a:r>
          </a:p>
          <a:p>
            <a:r>
              <a:t>Это не упрёк исследователям: такой замер стоит лет и требует исходов, которых в лабораторном устройстве опыта нет вовсе. Но назвать свою ступень обязан тот, кто весь вечер спрашивал про чужую. Поставить на верхнюю ступень явку на обследование или опережение клинического решения было бы соблазнительно — первое измеряет доступ, второе качество работы, — и подстановка смягчила бы собственный неудобный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этой сетки — тип задачи и модальность — наследуются от первой лекции курса дословно и здесь не переопределяются. Новое в ней третья колонка: какая процедура удерживает цену ошибки в каждой клетке.</a:t>
            </a:r>
          </a:p>
          <a:p>
            <a:r>
              <a:t/>
            </a:r>
          </a:p>
          <a:p>
            <a:r>
              <a:t>Четыре клетки заняты узнаваемыми инструментами, и ни одна из четырёх процедур удержания не совпадает с другой. Распознавание на изображении держат двойное чтение, арбитраж при расхождении, порог вмешательства и пересчёт прогностической ценности под местную распространённость. Прогноз на структурированных данных — разбор ложных тревог как статья рабочего времени, заранее утверждённый план изменений модели и передача данных о работе изделия регулятору. Поиск и генерацию на тексте — вычитка и подпись врача, разбор случая и границы допуска по заявленному назначению изделия. Генерацию структуры — доклиника, фазы испытаний, воронка переходов и регистрация. Вывод «те же клетки, другие процедуры» и есть эта колонка, прочитанная сверху вниз. Три сгустка инженер узнаёт по прошлой лекции; добавилась одна клетка, которой в клиническом контуре нет вовсе, и держит её воронка испытаний.</a:t>
            </a:r>
          </a:p>
          <a:p>
            <a:r>
              <a:t/>
            </a:r>
          </a:p>
          <a:p>
            <a:r>
              <a:t>Пятая строка остаётся пустой, и это содержание, а не недоделка. Процедуры, которая измеряла бы результат исполнителя без инструмента, не существует ни у кого, и ни одна из четырёх её не закрывает: двойное чтение считает находки при включённом контуре, разбор ложных тревог считает поток подсказок, вычитка проверяет текст модели, воронка испытаний проверяет молекулу. Ни одна не измеряет, что стало с человеком, когда инструмент выключили. Написать в эту клетку «переаттестация» нельзя — такой процедуры нет ни в одной юрисдикции; убрать строку тоже нельзя — таблица из четырёх занятых клеток читается как «на всё есть процедура», и это неправда.</a:t>
            </a:r>
          </a:p>
          <a:p>
            <a:r>
              <a:t/>
            </a:r>
          </a:p>
          <a:p>
            <a:r>
              <a:t>Второе, что читается прямо с сетки: чем позже в процедуре стоит проверка, тем дольше живёт ошибка. А в пятой строке проверки нет вовсе, и ошибка в ней не кончается никогда, потому что её никто не ищет.</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агрегационный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вечер разбирает поставщиков. Сам агрегат при этом есть свод независимых повторений, то есть вопрос о воспроизведении в этой строке закрыт её устройством, а не оставлен без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вечера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по-разному: первая рандомизированным испытанием, последняя счётом секунд, причём счётом вне медицины.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открылся вечер, — что участие человека в медицинском решении обязательно не потому, что человек точнее, — за три кадра до конца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Второй кадр закрытия отрабатывает долг перед прошлой лекцией. Та закончилась мыслью о необратимости, и зал её слышал. Вечер эту мысль подтвердил и внёс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Последний кадр — вопросы. Он существует отдельным кадром не ради оформления: на прошлой лекции слайда под вопросы не было ни одного, и вопросов не было тоже. Выходить было некуда, и закрытие затухло, вместо того чтобы сесть. Здесь есть куда выйти, и на кадре стоит один вопрос — не о материале лекции, а о собственном рабочем контуре слушателя, с тремя проверками рядом, чтобы отвечать было с чего начать.</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вечера;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весь вечер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вечер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Этот вечер тезис отработал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около шестидесяти процентов отзывов к концу исследования оставались неразрешёнными.</a:t>
            </a:r>
          </a:p>
          <a:p>
            <a:r>
              <a:t/>
            </a:r>
          </a:p>
          <a:p>
            <a:r>
              <a:t>Вторая половина подтверждается двумя разборами вечера. В исследовании подбора дозы два смертельных исхода — программу остановили, исходы остались.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принятого не врачом, снят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вечер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вечера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554480"/>
            <a:ext cx="11185855" cy="3840480"/>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
            </a:r>
            <a:r>
              <a:rPr sz="3400" b="0" i="0">
                <a:solidFill>
                  <a:srgbClr val="21295C"/>
                </a:solidFill>
                <a:latin typeface="Arial"/>
              </a:rPr>
              <a:t>Лекция 7</a:t>
            </a:r>
          </a:p>
          <a:p>
            <a:pPr algn="l">
              <a:lnSpc>
                <a:spcPct val="122000"/>
              </a:lnSpc>
              <a:spcBef>
                <a:spcPts val="1200"/>
              </a:spcBef>
            </a:pPr>
            <a:r>
              <a:rPr sz="3400" b="0" i="0">
                <a:solidFill>
                  <a:srgbClr val="21295C"/>
                </a:solidFill>
                <a:latin typeface="Arial"/>
              </a:rPr>
              <a:t/>
            </a: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
            </a: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4" name="Rectangle 3"/>
          <p:cNvSpPr/>
          <p:nvPr/>
        </p:nvSpPr>
        <p:spPr>
          <a:xfrm>
            <a:off x="502920" y="1170432"/>
            <a:ext cx="1463040"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посмотрела на снимок первой</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СКОРОСТЬ ОТВЕТА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секунды</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работы модели; человеческого контрфакта у этой величины нет — врач за три секунды снимок не читает</a:t>
            </a:r>
          </a:p>
        </p:txBody>
      </p:sp>
      <p:sp>
        <p:nvSpPr>
          <p:cNvPr id="8" name="Rounded Rectangle 7"/>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ПРИВАТНОСТЬ</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вычисление в браузере, снимок не уходит на сервер</a:t>
            </a:r>
          </a:p>
        </p:txBody>
      </p:sp>
      <p:sp>
        <p:nvSpPr>
          <p:cNvPr id="11" name="Rounded Rectangle 10"/>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ДОПУСК</a:t>
            </a:r>
          </a:p>
        </p:txBody>
      </p:sp>
      <p:sp>
        <p:nvSpPr>
          <p:cNvPr id="13" name="TextBox 12"/>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требуется</a:t>
            </a:r>
          </a:p>
        </p:txBody>
      </p:sp>
      <p:sp>
        <p:nvSpPr>
          <p:cNvPr id="14" name="Rounded Rectangle 13"/>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Перетащенный рентген грудной клетки. Профиль вероятностей по восемнадцати патологиям. Тепловая карта поверх снимка — область, на которую модель смотрела.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секунды</a:t>
            </a:r>
            <a:r>
              <a:rPr sz="1500" b="0" i="0">
                <a:solidFill>
                  <a:srgbClr val="21295C"/>
                </a:solidFill>
                <a:latin typeface="Arial"/>
              </a:rPr>
              <a:t> · </a:t>
            </a:r>
            <a:r>
              <a:rPr sz="1500" b="1" i="0">
                <a:solidFill>
                  <a:srgbClr val="21295C"/>
                </a:solidFill>
                <a:latin typeface="Arial"/>
              </a:rPr>
              <a:t>в браузере, снимок не уходит на сервер</a:t>
            </a:r>
            <a:r>
              <a:rPr sz="1500" b="0" i="0">
                <a:solidFill>
                  <a:srgbClr val="21295C"/>
                </a:solidFill>
                <a:latin typeface="Arial"/>
              </a:rPr>
              <a:t> · </a:t>
            </a:r>
            <a:r>
              <a:rPr sz="1500" b="1" i="0">
                <a:solidFill>
                  <a:srgbClr val="21295C"/>
                </a:solidFill>
                <a:latin typeface="Arial"/>
              </a:rPr>
              <a:t>допуска не требуется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Сама модель подписана: «не для диагностики».</a:t>
            </a:r>
          </a:p>
          <a:p>
            <a:pPr algn="l">
              <a:lnSpc>
                <a:spcPct val="126000"/>
              </a:lnSpc>
              <a:spcBef>
                <a:spcPts val="700"/>
              </a:spcBef>
            </a:pPr>
            <a:r>
              <a:rPr sz="1500" b="0" i="0">
                <a:solidFill>
                  <a:srgbClr val="21295C"/>
                </a:solidFill>
                <a:latin typeface="Arial"/>
              </a:rPr>
              <a:t/>
            </a:r>
            <a:r>
              <a:rPr sz="1500" b="0" i="1">
                <a:solidFill>
                  <a:srgbClr val="21295C"/>
                </a:solidFill>
                <a:latin typeface="Arial"/>
              </a:rPr>
              <a:t>Кто из вас когда-нибудь получал результат обследования раньше, чем врач успел его прочитать?</a:t>
            </a:r>
            <a:r>
              <a:rPr sz="1500" b="0" i="0">
                <a:solidFill>
                  <a:srgbClr val="21295C"/>
                </a:solidFill>
                <a:latin typeface="Arial"/>
              </a:rPr>
              <a:t> — в чат: да / нет / не помню.</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Cohen, Bertin, Frappier, 2019</a:t>
            </a:r>
            <a:r>
              <a:rPr sz="1100" b="0" i="1">
                <a:solidFill>
                  <a:srgbClr val="1C7293"/>
                </a:solidFill>
                <a:latin typeface="Arial"/>
              </a:rPr>
              <a:t> · </a:t>
            </a:r>
            <a:r>
              <a:rPr sz="1100" b="0" i="1">
                <a:solidFill>
                  <a:srgbClr val="1C7293"/>
                </a:solidFill>
                <a:latin typeface="Arial"/>
              </a:rPr>
              <a:t>mlmed.org/tools/xray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ВНИМАНИЕ</a:t>
            </a:r>
          </a:p>
        </p:txBody>
      </p:sp>
      <p:sp>
        <p:nvSpPr>
          <p:cNvPr id="6" name="TextBox 5"/>
          <p:cNvSpPr txBox="1"/>
          <p:nvPr/>
        </p:nvSpPr>
        <p:spPr>
          <a:xfrm>
            <a:off x="640080"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 а не до неё</a:t>
            </a:r>
          </a:p>
        </p:txBody>
      </p:sp>
      <p:sp>
        <p:nvSpPr>
          <p:cNvPr id="7" name="Rounded Rectangle 6"/>
          <p:cNvSpPr/>
          <p:nvPr/>
        </p:nvSpPr>
        <p:spPr>
          <a:xfrm>
            <a:off x="3340531"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НАВЫК</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перестаёт делать сам</a:t>
            </a:r>
          </a:p>
        </p:txBody>
      </p:sp>
      <p:sp>
        <p:nvSpPr>
          <p:cNvPr id="10" name="Rounded Rectangle 9"/>
          <p:cNvSpPr/>
          <p:nvPr/>
        </p:nvSpPr>
        <p:spPr>
          <a:xfrm>
            <a:off x="6178143"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ПОДПИСЬ</a:t>
            </a:r>
          </a:p>
        </p:txBody>
      </p:sp>
      <p:sp>
        <p:nvSpPr>
          <p:cNvPr id="12" name="TextBox 11"/>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подтверждает не читая</a:t>
            </a:r>
          </a:p>
        </p:txBody>
      </p:sp>
      <p:sp>
        <p:nvSpPr>
          <p:cNvPr id="13" name="Rounded Rectangle 12"/>
          <p:cNvSpPr/>
          <p:nvPr/>
        </p:nvSpPr>
        <p:spPr>
          <a:xfrm>
            <a:off x="9015755" y="1335024"/>
            <a:ext cx="2673019"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АРБИТРАЖ</a:t>
            </a:r>
          </a:p>
        </p:txBody>
      </p:sp>
      <p:sp>
        <p:nvSpPr>
          <p:cNvPr id="15" name="TextBox 14"/>
          <p:cNvSpPr txBox="1"/>
          <p:nvPr/>
        </p:nvSpPr>
        <p:spPr>
          <a:xfrm>
            <a:off x="9152915" y="1690796"/>
            <a:ext cx="2398699" cy="927759"/>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разбор расхождений дороже прежнего чтения</a:t>
            </a:r>
          </a:p>
        </p:txBody>
      </p:sp>
      <p:sp>
        <p:nvSpPr>
          <p:cNvPr id="16" name="Rounded Rectangle 15"/>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Удешевили чтение данных. Платят вниманием, навыком, подписью и арбитражем.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Внимание</a:t>
            </a:r>
            <a:r>
              <a:rPr sz="1500" b="0" i="0">
                <a:solidFill>
                  <a:srgbClr val="21295C"/>
                </a:solidFill>
                <a:latin typeface="Arial"/>
              </a:rPr>
              <a:t> — человек смотрит после модели, а не до неё</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Навык</a:t>
            </a:r>
            <a:r>
              <a:rPr sz="1500" b="0" i="0">
                <a:solidFill>
                  <a:srgbClr val="21295C"/>
                </a:solidFill>
                <a:latin typeface="Arial"/>
              </a:rPr>
              <a:t> — перестаёт делать сам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Подпись</a:t>
            </a:r>
            <a:r>
              <a:rPr sz="1500" b="0" i="0">
                <a:solidFill>
                  <a:srgbClr val="21295C"/>
                </a:solidFill>
                <a:latin typeface="Arial"/>
              </a:rPr>
              <a:t> — подтверждает не читая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Арбитраж</a:t>
            </a:r>
            <a:r>
              <a:rPr sz="1500" b="0" i="0">
                <a:solidFill>
                  <a:srgbClr val="21295C"/>
                </a:solidFill>
                <a:latin typeface="Arial"/>
              </a:rPr>
              <a:t> — разбор расхождений дороже прежнего чтения</a:t>
            </a:r>
          </a:p>
          <a:p>
            <a:pPr algn="l">
              <a:lnSpc>
                <a:spcPct val="126000"/>
              </a:lnSpc>
              <a:spcBef>
                <a:spcPts val="700"/>
              </a:spcBef>
            </a:pPr>
            <a:r>
              <a:rPr sz="1200" b="0" i="0">
                <a:solidFill>
                  <a:srgbClr val="21295C"/>
                </a:solidFill>
                <a:latin typeface="Arial"/>
              </a:rPr>
              <a:t/>
            </a:r>
            <a:r>
              <a:rPr sz="1200" b="0" i="1">
                <a:solidFill>
                  <a:srgbClr val="1C7293"/>
                </a:solidFill>
                <a:latin typeface="Arial"/>
              </a:rPr>
              <a:t>Удешевление одного шага перестраивает работу целиком, платят на другом шаге — линза предыдущих лекций, применённая здесь к человеку.</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одна против человека с моделью</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100</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модели по тем же задачам — наблюдательное дополнение, случайной ветвью он не был</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100</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50 практикующих врачей, из них 44 терапевта; те же случаи, та же шкала</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одна — 92 из 100.</a:t>
            </a:r>
            <a:r>
              <a:rPr sz="1500" b="0" i="0">
                <a:solidFill>
                  <a:srgbClr val="21295C"/>
                </a:solidFill>
                <a:latin typeface="Arial"/>
              </a:rPr>
              <a:t> </a:t>
            </a:r>
            <a:r>
              <a:rPr sz="1500" b="0" i="1">
                <a:solidFill>
                  <a:srgbClr val="21295C"/>
                </a:solidFill>
                <a:latin typeface="Arial"/>
              </a:rPr>
              <a:t>(отдельный прогон, три повтора)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Человек с моделью — 76 из 100.</a:t>
            </a:r>
            <a:r>
              <a:rPr sz="1500" b="0" i="0">
                <a:solidFill>
                  <a:srgbClr val="21295C"/>
                </a:solidFill>
                <a:latin typeface="Arial"/>
              </a:rPr>
              <a:t> </a:t>
            </a:r>
            <a:r>
              <a:rPr sz="1500" b="0" i="1">
                <a:solidFill>
                  <a:srgbClr val="21295C"/>
                </a:solidFill>
                <a:latin typeface="Arial"/>
              </a:rPr>
              <a:t>(50 практикующих врачей, одни и те же случаи)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a:t>
            </a:r>
            <a:r>
              <a:rPr sz="1500" b="1" i="0">
                <a:solidFill>
                  <a:srgbClr val="21295C"/>
                </a:solidFill>
                <a:latin typeface="Arial"/>
              </a:rPr>
              <a:t>16 пунктов по медианам</a:t>
            </a:r>
            <a:r>
              <a:rPr sz="1500" b="0" i="0">
                <a:solidFill>
                  <a:srgbClr val="21295C"/>
                </a:solidFill>
                <a:latin typeface="Arial"/>
              </a:rPr>
              <a:t> — и проверки значимости у этой пары в первоисточнике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Инструмент, который сам по себе точнее, не поднял человека до себя.</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Происхождение: рандомизированное исследование, 50 практикующих врачей, три состояния на одних и тех же случаях.</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Единица: шкала диагностического рассуждения на клинических виньетках по реальным случаям — не исходы пациентов.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Урок: куплен потенциал, измеренного выигрыша нет.</a:t>
            </a:r>
          </a:p>
          <a:p>
            <a:pPr algn="l">
              <a:lnSpc>
                <a:spcPct val="126000"/>
              </a:lnSpc>
              <a:spcBef>
                <a:spcPts val="700"/>
              </a:spcBef>
            </a:pPr>
            <a:r>
              <a:rPr sz="1200" b="0" i="0">
                <a:solidFill>
                  <a:srgbClr val="21295C"/>
                </a:solidFill>
                <a:latin typeface="Arial"/>
              </a:rPr>
              <a:t/>
            </a:r>
            <a:r>
              <a:rPr sz="1200" b="0" i="1">
                <a:solidFill>
                  <a:srgbClr val="1C7293"/>
                </a:solidFill>
                <a:latin typeface="Arial"/>
              </a:rPr>
              <a:t>Третье состояние — человек без модели — и чем этот разрыв посчитан: в разделе про чтение снимка.</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и соавторы, JAMA Network Open, октябрь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И то же самое в вашей работе</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Ступени</a:t>
            </a:r>
          </a:p>
        </p:txBody>
      </p:sp>
      <p:sp>
        <p:nvSpPr>
          <p:cNvPr id="5" name="Rounded Rectangle 4"/>
          <p:cNvSpPr/>
          <p:nvPr/>
        </p:nvSpPr>
        <p:spPr>
          <a:xfrm>
            <a:off x="1920240"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первым</a:t>
            </a:r>
          </a:p>
        </p:txBody>
      </p:sp>
      <p:sp>
        <p:nvSpPr>
          <p:cNvPr id="7" name="Right Arrow 6"/>
          <p:cNvSpPr/>
          <p:nvPr/>
        </p:nvSpPr>
        <p:spPr>
          <a:xfrm>
            <a:off x="420235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вторым</a:t>
            </a:r>
          </a:p>
        </p:txBody>
      </p:sp>
      <p:sp>
        <p:nvSpPr>
          <p:cNvPr id="10" name="Right Arrow 9"/>
          <p:cNvSpPr/>
          <p:nvPr/>
        </p:nvSpPr>
        <p:spPr>
          <a:xfrm>
            <a:off x="671306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только спорное</a:t>
            </a:r>
          </a:p>
        </p:txBody>
      </p:sp>
      <p:sp>
        <p:nvSpPr>
          <p:cNvPr id="13" name="Right Arrow 12"/>
          <p:cNvSpPr/>
          <p:nvPr/>
        </p:nvSpPr>
        <p:spPr>
          <a:xfrm>
            <a:off x="922378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Подписывает не глядя</a:t>
            </a:r>
          </a:p>
        </p:txBody>
      </p:sp>
      <p:sp>
        <p:nvSpPr>
          <p:cNvPr id="16" name="TextBox 15"/>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смотрит первым</a:t>
            </a:r>
          </a:p>
        </p:txBody>
      </p:sp>
      <p:sp>
        <p:nvSpPr>
          <p:cNvPr id="17" name="Rounded Rectangle 16"/>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ступени — кто смотрит первым.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Свидетельство, замера нет.</a:t>
            </a:r>
            <a:r>
              <a:rPr sz="1500" b="0" i="0">
                <a:solidFill>
                  <a:srgbClr val="21295C"/>
                </a:solidFill>
                <a:latin typeface="Arial"/>
              </a:rPr>
              <a:t> Нагрузка в разработке переехала с младших разработчиков на старших — младшие пишут с моделью, старшие не успевают проверять.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та же градация степеней участия, что дана в курсе ранее (человек в каждой точке решения · над контуром · вне контура), прочитанная по одному признаку — кто смотрит первым. Новой шкалы здесь нет.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без человека нельзя: три опоры и три проверки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опоры:</a:t>
            </a:r>
            <a:r>
              <a:rPr sz="1500" b="0" i="0">
                <a:solidFill>
                  <a:srgbClr val="21295C"/>
                </a:solidFill>
                <a:latin typeface="Arial"/>
              </a:rPr>
              <a:t> - Право подписи выдано человеку - Ошибается иначе, чем модель - Отменить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проверки:</a:t>
            </a:r>
            <a:r>
              <a:rPr sz="1500" b="0" i="0">
                <a:solidFill>
                  <a:srgbClr val="21295C"/>
                </a:solidFill>
                <a:latin typeface="Arial"/>
              </a:rPr>
              <a:t> - Есть ли независимый источник истины, кроме объяснения модели? - Измерено ли, что человек возражает — и что возражает верно? -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заявка; каждую опору лекция посчитает, и в конце мы к ней вернёмся.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Партию можно отозвать. Решение о человеке — нельзя</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Пришёл результат обследования</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Назначено лечение</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Проведена операция</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Человек живёт с последствиями</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одного решения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Путь одного решения об одном человеке: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Пришёл результат обследования → назначено лечение → проведена операция → человек живёт с её последствиями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из этих шагов не отзывается: снимок можно перечитать, назначение можно отменить до того, как его выполнили, а проведённую операцию и потерянные месяцы —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Партию можно отозвать. Решение о человеке отозвать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 медицине прибором, которым узнают об ошибке модели, становится человек.</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Где медицина стоит в сетке курса — и 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Распознавание на изображении</a:t>
            </a:r>
            <a:r>
              <a:rPr sz="1440" b="0" i="0">
                <a:solidFill>
                  <a:srgbClr val="21295C"/>
                </a:solidFill>
                <a:latin typeface="Arial"/>
              </a:rPr>
              <a:t> — чтение снимка. Режим: модель вторым читателем или сортировка потока по риску (Transpara · Lunit INSIGHT MMG; в России — платформа лучевой диагностики, «Цельс», «Третье мнение», Care Mentor AI) и режим сортировки потока по приоритету (Aidoc). Растёт в скрининге и в сортировке потока. Не умеет заменить арбитраж: кто разбирает расхождение, назначает процедура.</a:t>
            </a:r>
          </a:p>
          <a:p>
            <a:pPr algn="l">
              <a:lnSpc>
                <a:spcPct val="126000"/>
              </a:lnSpc>
              <a:spcBef>
                <a:spcPts val="700"/>
              </a:spcBef>
            </a:pPr>
            <a:r>
              <a:rPr sz="1440" b="0" i="0">
                <a:solidFill>
                  <a:srgbClr val="21295C"/>
                </a:solidFill>
                <a:latin typeface="Arial"/>
              </a:rPr>
              <a:t/>
            </a:r>
            <a:r>
              <a:rPr sz="1440" b="1" i="0">
                <a:solidFill>
                  <a:srgbClr val="21295C"/>
                </a:solidFill>
                <a:latin typeface="Arial"/>
              </a:rPr>
              <a:t>Классификация на изображении</a:t>
            </a:r>
            <a:r>
              <a:rPr sz="1440" b="0" i="0">
                <a:solidFill>
                  <a:srgbClr val="21295C"/>
                </a:solidFill>
                <a:latin typeface="Arial"/>
              </a:rPr>
              <a:t> — решение «направить или нет» на месте. Режим: автономное решение без врача (LumineticsCore, бывший IDx-DR · EyeArt). Допущено единицами, и только там, где вопрос бинарный. Не умеет отвечать за годность снимка.</a:t>
            </a:r>
          </a:p>
          <a:p>
            <a:pPr algn="l">
              <a:lnSpc>
                <a:spcPct val="126000"/>
              </a:lnSpc>
              <a:spcBef>
                <a:spcPts val="700"/>
              </a:spcBef>
            </a:pPr>
            <a:r>
              <a:rPr sz="1440" b="0" i="0">
                <a:solidFill>
                  <a:srgbClr val="21295C"/>
                </a:solidFill>
                <a:latin typeface="Arial"/>
              </a:rPr>
              <a:t/>
            </a:r>
            <a:r>
              <a:rPr sz="1440" b="1" i="0">
                <a:solidFill>
                  <a:srgbClr val="21295C"/>
                </a:solidFill>
                <a:latin typeface="Arial"/>
              </a:rPr>
              <a:t>Прогноз на структурированных данных</a:t>
            </a:r>
            <a:r>
              <a:rPr sz="1440" b="0" i="0">
                <a:solidFill>
                  <a:srgbClr val="21295C"/>
                </a:solidFill>
                <a:latin typeface="Arial"/>
              </a:rPr>
              <a:t> — раннее предупреждение по данным карты. Режим: предупреждение внутри медицинской информационной системы, встроенное поставщиком (модель сепсиса у Epic; в России — Webiomed). Расходится вместе с системой, а не покупается отдельно. Не умеет назначить себе порог тревоги.</a:t>
            </a:r>
          </a:p>
          <a:p>
            <a:pPr algn="l">
              <a:lnSpc>
                <a:spcPct val="126000"/>
              </a:lnSpc>
              <a:spcBef>
                <a:spcPts val="700"/>
              </a:spcBef>
            </a:pPr>
            <a:r>
              <a:rPr sz="1440" b="0" i="0">
                <a:solidFill>
                  <a:srgbClr val="21295C"/>
                </a:solidFill>
                <a:latin typeface="Arial"/>
              </a:rPr>
              <a:t/>
            </a:r>
            <a:r>
              <a:rPr sz="1440" b="1" i="0">
                <a:solidFill>
                  <a:srgbClr val="21295C"/>
                </a:solidFill>
                <a:latin typeface="Arial"/>
              </a:rPr>
              <a:t>Поиск с генерацией на тексте</a:t>
            </a:r>
            <a:r>
              <a:rPr sz="1440" b="0" i="0">
                <a:solidFill>
                  <a:srgbClr val="21295C"/>
                </a:solidFill>
                <a:latin typeface="Arial"/>
              </a:rPr>
              <a:t> — ответ по документам, сортировка обращения, запись приёма. Три режима: запись приёма под диктовку (Nuance DAX · Abridge · Nabla) принимается быстрее всех, потому что не ставит диагноз; ответ по документам со ссылкой на источник; сортировка обращения словами — после краха сервиса первой линии стагнирует. Не умеет отличать редкое от частого в открытом потоке.</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Клетки те же, что в инженерии; отличается цена ошибки и устройство процедур, которые её удерживают.</a:t>
            </a:r>
          </a:p>
          <a:p>
            <a:pPr algn="l">
              <a:lnSpc>
                <a:spcPct val="126000"/>
              </a:lnSpc>
              <a:spcBef>
                <a:spcPts val="700"/>
              </a:spcBef>
            </a:pPr>
            <a:r>
              <a:rPr sz="1440" b="0" i="0">
                <a:solidFill>
                  <a:srgbClr val="21295C"/>
                </a:solidFill>
                <a:latin typeface="Arial"/>
              </a:rPr>
              <a:t/>
            </a:r>
            <a:r>
              <a:rPr sz="1440" b="0" i="0">
                <a:solidFill>
                  <a:srgbClr val="21295C"/>
                </a:solidFill>
                <a:latin typeface="Arial"/>
              </a:rPr>
              <a:t>Названо, чем делают, а не чья марка лучше: режим один, реализаций много, и разницу в результате делает устройство процедуры, а не бренд.</a:t>
            </a:r>
          </a:p>
        </p:txBody>
      </p:sp>
      <p:sp>
        <p:nvSpPr>
          <p:cNvPr id="6" name="Rectangle 5"/>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 чего состоит этот вечер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0. Вход 1. Отбор — кого вообще смотреть 2. Анализ данных — и группа, на которой он посчитан 3. Постановка диагноза — человек читает рядом с моделью 4. Наблюдение за состоянием — кто заметит ухудшение 5. Ведение записи — кто прочтёт её потом 6. Чем удерживают — подпись, процедура, норматив 7. Разработка лекарства — удешевили начало, где узкое место 8. Что стало с теми, кто решает — навык 9. Сборка 10. Закрытие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Вопросы</a:t>
            </a:r>
          </a:p>
          <a:p>
            <a:pPr algn="l">
              <a:lnSpc>
                <a:spcPct val="126000"/>
              </a:lnSpc>
              <a:spcBef>
                <a:spcPts val="700"/>
              </a:spcBef>
            </a:pPr>
            <a:r>
              <a:rPr sz="1500" b="0" i="0">
                <a:solidFill>
                  <a:srgbClr val="21295C"/>
                </a:solidFill>
                <a:latin typeface="Arial"/>
              </a:rPr>
              <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закрываются другими лекциями.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Назначение и лечение · оперативная помощь — разобраны в главе; со сцены сегодня не идут.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Модель посмотрела первой. Что теперь делает человек — и кто это измерял?</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200" b="0" i="0">
                <a:solidFill>
                  <a:srgbClr val="21295C"/>
                </a:solidFill>
                <a:latin typeface="Arial"/>
              </a:rPr>
              <a:t/>
            </a:r>
            <a:r>
              <a:rPr sz="1200" b="0" i="1">
                <a:solidFill>
                  <a:srgbClr val="1C7293"/>
                </a:solidFill>
                <a:latin typeface="Arial"/>
              </a:rPr>
              <a:t>Ответ собирается в сборке, поимённо.</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Глазное дно без офтальмолога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Женщине пришло письмо, и её снимок прочли двое, которые её не видели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Женщине пятидесяти четырёх лет: она ничего не чувствует — письмо пришло потому, что программа зовёт всех женщин этого возраста с назначенным интервалом. Снимок делает лаборант.</a:t>
            </a:r>
          </a:p>
          <a:p>
            <a:pPr algn="l">
              <a:lnSpc>
                <a:spcPct val="126000"/>
              </a:lnSpc>
              <a:spcBef>
                <a:spcPts val="700"/>
              </a:spcBef>
            </a:pPr>
            <a:r>
              <a:rPr sz="1500" b="0" i="0">
                <a:solidFill>
                  <a:srgbClr val="21295C"/>
                </a:solidFill>
                <a:latin typeface="Arial"/>
              </a:rPr>
              <a:t/>
            </a:r>
            <a:r>
              <a:rPr sz="1500" b="0" i="0">
                <a:solidFill>
                  <a:srgbClr val="21295C"/>
                </a:solidFill>
                <a:latin typeface="Arial"/>
              </a:rPr>
              <a:t>Снимок читают двое рентгенологов, которые её не видели и между собой не говорят. Если один сказал «есть», а другой «нет» — снимок уходит третьему.</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либо письмо «норма», либо звонок «придите на дообследование».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с жалобой идёт обратным путём — он пришёл сам, и его ведёт симптом.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Кто-то решает, кто попадёт к врачу сегодня, а кто — через две недели.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Приглашение по возрасту и интервалу. Шведская программа</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ЛОЖНЫЙ ВЫЗОВ</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Пропуск</a:t>
            </a:r>
            <a:r>
              <a:rPr sz="1500" b="0" i="0">
                <a:solidFill>
                  <a:srgbClr val="21295C"/>
                </a:solidFill>
                <a:latin typeface="Arial"/>
              </a:rPr>
              <a:t> — рак, найденный между двумя приглашениями: программа его не поймала, поймал симптом. Счёт этой цены предъявляется в контрольной линии, где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Ложный вызов</a:t>
            </a:r>
            <a:r>
              <a:rPr sz="1500" b="0" i="0">
                <a:solidFill>
                  <a:srgbClr val="21295C"/>
                </a:solidFill>
                <a:latin typeface="Arial"/>
              </a:rPr>
              <a:t> — </a:t>
            </a:r>
            <a:r>
              <a:rPr sz="1500" b="1" i="0">
                <a:solidFill>
                  <a:srgbClr val="21295C"/>
                </a:solidFill>
                <a:latin typeface="Arial"/>
              </a:rPr>
              <a:t>2,0 из ста обследованных</a:t>
            </a:r>
            <a:r>
              <a:rPr sz="1500" b="0" i="0">
                <a:solidFill>
                  <a:srgbClr val="21295C"/>
                </a:solidFill>
                <a:latin typeface="Arial"/>
              </a:rPr>
              <a:t> вызваны повторно: повторный снимок, иногда биопсия, недели ожидания. База: контрольное плечо шведской программы, 52 872 женщины, наблюдение два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с которого зовут, и интервал назначены раньше, чем кто-либо измерил точность какого-либо прибора.</a:t>
            </a:r>
          </a:p>
          <a:p>
            <a:pPr algn="l">
              <a:lnSpc>
                <a:spcPct val="126000"/>
              </a:lnSpc>
              <a:spcBef>
                <a:spcPts val="700"/>
              </a:spcBef>
            </a:pPr>
            <a:r>
              <a:rPr sz="1200" b="0" i="0">
                <a:solidFill>
                  <a:srgbClr val="21295C"/>
                </a:solidFill>
                <a:latin typeface="Arial"/>
              </a:rPr>
              <a:t/>
            </a:r>
            <a:r>
              <a:rPr sz="1200" b="0" i="1">
                <a:solidFill>
                  <a:srgbClr val="1C7293"/>
                </a:solidFill>
                <a:latin typeface="Arial"/>
              </a:rPr>
              <a:t>А чем кончается «ждать жалобу» — следующий кадр.</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Рандомизированное исследование шведской программы скрининга, контрольная группа — промежуточные данные 2023, итоговые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 чем кончается «ждать жалобу»</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БЕЗ ПРИГЛАШЕНИЯ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91 случай из 159 — стадия II и выше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 ПРИГЛАШЕНИЕМ</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Стадия II и выше среди найденных случаев: </a:t>
            </a:r>
            <a:r>
              <a:rPr sz="1500" b="1" i="0">
                <a:solidFill>
                  <a:srgbClr val="21295C"/>
                </a:solidFill>
                <a:latin typeface="Arial"/>
              </a:rPr>
              <a:t>57 из ста</a:t>
            </a:r>
            <a:r>
              <a:rPr sz="1500" b="0" i="0">
                <a:solidFill>
                  <a:srgbClr val="21295C"/>
                </a:solidFill>
                <a:latin typeface="Arial"/>
              </a:rPr>
              <a:t> в группе без приглашения — против </a:t>
            </a:r>
            <a:r>
              <a:rPr sz="1500" b="1" i="0">
                <a:solidFill>
                  <a:srgbClr val="21295C"/>
                </a:solidFill>
                <a:latin typeface="Arial"/>
              </a:rPr>
              <a:t>39 из ста</a:t>
            </a:r>
            <a:r>
              <a:rPr sz="1500" b="0" i="0">
                <a:solidFill>
                  <a:srgbClr val="21295C"/>
                </a:solidFill>
                <a:latin typeface="Arial"/>
              </a:rPr>
              <a:t> в приглашённой. База: Мальмёское рандомизированное испытание, набор шёл с середины семидесятых по середину восьмидесятых.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Находка приходит позже и стадией крупнее — и это измерено, а не рассуждение.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Что здесь получилось, что не получилось, и что про это публикуют</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ГЕРМАНСКАЯ ПРОГРАММА — ВЫЯВЛЕНИЕ НА 1000 ОБСЛЕДОВАННЫХ</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поддержкой модели · 5,7 без неё</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463 094 обследованные женщины, из них 260 739 с поддержкой модели; наблюдательное внедрение — применять модель каждый радиолог решал сам, поэтому направление подтверждено, а величина модели не приписывается</a:t>
            </a:r>
          </a:p>
        </p:txBody>
      </p:sp>
      <p:sp>
        <p:nvSpPr>
          <p:cNvPr id="8" name="Rounded Rectangle 7"/>
          <p:cNvSpPr/>
          <p:nvPr/>
        </p:nvSpPr>
        <p:spPr>
          <a:xfrm>
            <a:off x="502920" y="2807511"/>
            <a:ext cx="5437479"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9629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Получилось</a:t>
            </a:r>
          </a:p>
        </p:txBody>
      </p:sp>
      <p:sp>
        <p:nvSpPr>
          <p:cNvPr id="10" name="TextBox 9"/>
          <p:cNvSpPr txBox="1"/>
          <p:nvPr/>
        </p:nvSpPr>
        <p:spPr>
          <a:xfrm>
            <a:off x="667512" y="3319138"/>
            <a:ext cx="5108295" cy="75024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Объём человеческого чтения снимается без потери чувствительности</a:t>
            </a:r>
          </a:p>
          <a:p>
            <a:pPr algn="l">
              <a:lnSpc>
                <a:spcPct val="126000"/>
              </a:lnSpc>
            </a:pPr>
            <a:r>
              <a:rPr sz="1200" b="0" i="0">
                <a:solidFill>
                  <a:srgbClr val="21295C"/>
                </a:solidFill>
                <a:latin typeface="Arial"/>
              </a:rPr>
              <a:t>• Решение «направить или нет» на месте, где специалиста нет вовсе — измерено явкой</a:t>
            </a:r>
          </a:p>
        </p:txBody>
      </p:sp>
      <p:sp>
        <p:nvSpPr>
          <p:cNvPr id="11" name="Rounded Rectangle 10"/>
          <p:cNvSpPr/>
          <p:nvPr/>
        </p:nvSpPr>
        <p:spPr>
          <a:xfrm>
            <a:off x="6251295" y="2807511"/>
            <a:ext cx="5437479" cy="1417320"/>
          </a:xfrm>
          <a:prstGeom prst="roundRect">
            <a:avLst>
              <a:gd name="adj" fmla="val 21505"/>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9629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получилось</a:t>
            </a:r>
          </a:p>
        </p:txBody>
      </p:sp>
      <p:sp>
        <p:nvSpPr>
          <p:cNvPr id="13" name="TextBox 12"/>
          <p:cNvSpPr txBox="1"/>
          <p:nvPr/>
        </p:nvSpPr>
        <p:spPr>
          <a:xfrm>
            <a:off x="6415887" y="3319138"/>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Открытый поток обращений: редкие диагнозы, дети, беременные, пожилые</a:t>
            </a:r>
          </a:p>
          <a:p>
            <a:pPr algn="l">
              <a:lnSpc>
                <a:spcPct val="126000"/>
              </a:lnSpc>
            </a:pPr>
            <a:r>
              <a:rPr sz="1250" b="0" i="0">
                <a:solidFill>
                  <a:srgbClr val="21295C"/>
                </a:solidFill>
                <a:latin typeface="Arial"/>
              </a:rPr>
              <a:t>• Экзаменационная метрика как основание для допуска к потоку</a:t>
            </a:r>
          </a:p>
        </p:txBody>
      </p:sp>
      <p:sp>
        <p:nvSpPr>
          <p:cNvPr id="14" name="Rounded Rectangle 13"/>
          <p:cNvSpPr/>
          <p:nvPr/>
        </p:nvSpPr>
        <p:spPr>
          <a:xfrm>
            <a:off x="374904" y="4316271"/>
            <a:ext cx="11441887" cy="1919936"/>
          </a:xfrm>
          <a:prstGeom prst="roundRect">
            <a:avLst>
              <a:gd name="adj" fmla="val 158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4407711"/>
            <a:ext cx="11112703" cy="182849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Сортировка потока по предсказанному риску снимает </a:t>
            </a:r>
            <a:r>
              <a:rPr sz="1200" b="1" i="0">
                <a:solidFill>
                  <a:srgbClr val="21295C"/>
                </a:solidFill>
                <a:latin typeface="Arial"/>
              </a:rPr>
              <a:t>44,3 процента</a:t>
            </a:r>
            <a:r>
              <a:rPr sz="1200" b="0" i="0">
                <a:solidFill>
                  <a:srgbClr val="21295C"/>
                </a:solidFill>
                <a:latin typeface="Arial"/>
              </a:rPr>
              <a:t> человеческого чтения при чувствительности </a:t>
            </a:r>
            <a:r>
              <a:rPr sz="1200" b="1" i="0">
                <a:solidFill>
                  <a:srgbClr val="21295C"/>
                </a:solidFill>
                <a:latin typeface="Arial"/>
              </a:rPr>
              <a:t>80,5 из ста</a:t>
            </a:r>
            <a:r>
              <a:rPr sz="1200" b="0" i="0">
                <a:solidFill>
                  <a:srgbClr val="21295C"/>
                </a:solidFill>
                <a:latin typeface="Arial"/>
              </a:rPr>
              <a:t> против </a:t>
            </a:r>
            <a:r>
              <a:rPr sz="1200" b="1" i="0">
                <a:solidFill>
                  <a:srgbClr val="21295C"/>
                </a:solidFill>
                <a:latin typeface="Arial"/>
              </a:rPr>
              <a:t>73,8 из ста</a:t>
            </a:r>
            <a:r>
              <a:rPr sz="1200" b="0" i="0">
                <a:solidFill>
                  <a:srgbClr val="21295C"/>
                </a:solidFill>
                <a:latin typeface="Arial"/>
              </a:rPr>
              <a:t> у двойного чтения без модели. </a:t>
            </a:r>
            <a:r>
              <a:rPr sz="1200" b="1" i="0">
                <a:solidFill>
                  <a:srgbClr val="21295C"/>
                </a:solidFill>
                <a:latin typeface="Arial"/>
              </a:rPr>
              <a:t>Базы разные: объём чтения — промежуточный анализ на 80 033 женщинах, чувствительность — итоговый на 105 934.</a:t>
            </a:r>
            <a:r>
              <a:rPr sz="120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Охват публикуют, устройство работы —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Германская программа скрининга: как распределилась работа между моделью и вторым читателем, не опубликовано.</a:t>
            </a:r>
          </a:p>
          <a:p>
            <a:pPr algn="l">
              <a:lnSpc>
                <a:spcPct val="126000"/>
              </a:lnSpc>
              <a:spcBef>
                <a:spcPts val="700"/>
              </a:spcBef>
            </a:pPr>
            <a:r>
              <a:rPr sz="1200" b="0" i="0">
                <a:solidFill>
                  <a:srgbClr val="21295C"/>
                </a:solidFill>
                <a:latin typeface="Arial"/>
              </a:rPr>
              <a:t/>
            </a:r>
            <a:r>
              <a:rPr sz="1200" b="0" i="0">
                <a:solidFill>
                  <a:srgbClr val="21295C"/>
                </a:solidFill>
                <a:latin typeface="Arial"/>
              </a:rPr>
              <a:t>• Отечественная платформа лучевой диагностики: свыше </a:t>
            </a:r>
            <a:r>
              <a:rPr sz="1200" b="1" i="0">
                <a:solidFill>
                  <a:srgbClr val="21295C"/>
                </a:solidFill>
                <a:latin typeface="Arial"/>
              </a:rPr>
              <a:t>16 млн</a:t>
            </a:r>
            <a:r>
              <a:rPr sz="1200" b="0" i="0">
                <a:solidFill>
                  <a:srgbClr val="21295C"/>
                </a:solidFill>
                <a:latin typeface="Arial"/>
              </a:rPr>
              <a:t> исследований в </a:t>
            </a:r>
            <a:r>
              <a:rPr sz="1200" b="1" i="0">
                <a:solidFill>
                  <a:srgbClr val="21295C"/>
                </a:solidFill>
                <a:latin typeface="Arial"/>
              </a:rPr>
              <a:t>75 регионах</a:t>
            </a:r>
            <a:r>
              <a:rPr sz="1200" b="0" i="0">
                <a:solidFill>
                  <a:srgbClr val="21295C"/>
                </a:solidFill>
                <a:latin typeface="Arial"/>
              </a:rPr>
              <a:t> на срез конца июля 2026 года. Методика подсчёта не раскрыта; сколько всего лучевых исследований делается в стране за год, не опубликовано — доля охвата поэтому не считается.</a:t>
            </a:r>
          </a:p>
        </p:txBody>
      </p:sp>
      <p:sp>
        <p:nvSpPr>
          <p:cNvPr id="16" name="Rectangle 15"/>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Шведская программа скрининга (упоминание)</a:t>
            </a:r>
            <a:r>
              <a:rPr sz="1100" b="0" i="1">
                <a:solidFill>
                  <a:srgbClr val="1C7293"/>
                </a:solidFill>
                <a:latin typeface="Arial"/>
              </a:rPr>
              <a:t> · </a:t>
            </a:r>
            <a:r>
              <a:rPr sz="1100" b="0" i="1">
                <a:solidFill>
                  <a:srgbClr val="1C7293"/>
                </a:solidFill>
                <a:latin typeface="Arial"/>
              </a:rPr>
              <a:t>Eisemann N. и соавторы, PRAIM, Nature Medicine 2025;31(3):917–924</a:t>
            </a:r>
            <a:r>
              <a:rPr sz="1100" b="0" i="1">
                <a:solidFill>
                  <a:srgbClr val="1C7293"/>
                </a:solidFill>
                <a:latin typeface="Arial"/>
              </a:rPr>
              <a:t> · </a:t>
            </a:r>
            <a:r>
              <a:rPr sz="11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ЭКЗАМЕНАЦИОННЫХ ВОПРОСАХ</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экзаменационные вопросы для начинающих врачей против среднего результата живых врачей на тех же вопросах; коллегия врачей общей практики публично назвала эти заявления сомнительными</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НЕЗАВИСИМЫЙ ТЕСТ ГОДОМ РАНЬШЕ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Цена обеих ошибок в сортировке обращений: пропустить того, кому нужно сейчас, и занять приём тем, кому не нужно — плюс цена самого канала.</a:t>
            </a:r>
          </a:p>
          <a:p>
            <a:pPr algn="l">
              <a:lnSpc>
                <a:spcPct val="126000"/>
              </a:lnSpc>
              <a:spcBef>
                <a:spcPts val="700"/>
              </a:spcBef>
            </a:pPr>
            <a:r>
              <a:rPr sz="1470" b="0" i="0">
                <a:solidFill>
                  <a:srgbClr val="21295C"/>
                </a:solidFill>
                <a:latin typeface="Arial"/>
              </a:rPr>
              <a:t/>
            </a:r>
            <a:r>
              <a:rPr sz="1470" b="0" i="0">
                <a:solidFill>
                  <a:srgbClr val="21295C"/>
                </a:solidFill>
                <a:latin typeface="Arial"/>
              </a:rPr>
              <a:t>Что предъявили вместо модели:</a:t>
            </a:r>
          </a:p>
          <a:p>
            <a:pPr algn="l">
              <a:lnSpc>
                <a:spcPct val="126000"/>
              </a:lnSpc>
              <a:spcBef>
                <a:spcPts val="700"/>
              </a:spcBef>
            </a:pPr>
            <a:r>
              <a:rPr sz="1470" b="0" i="0">
                <a:solidFill>
                  <a:srgbClr val="21295C"/>
                </a:solidFill>
                <a:latin typeface="Arial"/>
              </a:rPr>
              <a:t/>
            </a:r>
            <a:r>
              <a:rPr sz="1470" b="0" i="0">
                <a:solidFill>
                  <a:srgbClr val="21295C"/>
                </a:solidFill>
                <a:latin typeface="Arial"/>
              </a:rPr>
              <a:t>• На экзаменационных вопросах для начинающих врачей, июнь 2018 года: </a:t>
            </a:r>
            <a:r>
              <a:rPr sz="1470" b="1" i="0">
                <a:solidFill>
                  <a:srgbClr val="21295C"/>
                </a:solidFill>
                <a:latin typeface="Arial"/>
              </a:rPr>
              <a:t>81</a:t>
            </a:r>
            <a:r>
              <a:rPr sz="1470" b="0" i="0">
                <a:solidFill>
                  <a:srgbClr val="21295C"/>
                </a:solidFill>
                <a:latin typeface="Arial"/>
              </a:rPr>
              <a:t> у приложения против </a:t>
            </a:r>
            <a:r>
              <a:rPr sz="1470" b="1" i="0">
                <a:solidFill>
                  <a:srgbClr val="21295C"/>
                </a:solidFill>
                <a:latin typeface="Arial"/>
              </a:rPr>
              <a:t>72</a:t>
            </a:r>
            <a:r>
              <a:rPr sz="1470" b="0" i="0">
                <a:solidFill>
                  <a:srgbClr val="21295C"/>
                </a:solidFill>
                <a:latin typeface="Arial"/>
              </a:rPr>
              <a:t> — среднего результата живых врачей на тех же вопросах.</a:t>
            </a:r>
          </a:p>
          <a:p>
            <a:pPr algn="l">
              <a:lnSpc>
                <a:spcPct val="126000"/>
              </a:lnSpc>
              <a:spcBef>
                <a:spcPts val="700"/>
              </a:spcBef>
            </a:pPr>
            <a:r>
              <a:rPr sz="1470" b="0" i="0">
                <a:solidFill>
                  <a:srgbClr val="21295C"/>
                </a:solidFill>
                <a:latin typeface="Arial"/>
              </a:rPr>
              <a:t/>
            </a:r>
            <a:r>
              <a:rPr sz="1470" b="0" i="0">
                <a:solidFill>
                  <a:srgbClr val="21295C"/>
                </a:solidFill>
                <a:latin typeface="Arial"/>
              </a:rPr>
              <a:t>• Независимый тест годом раньше: из трёх приложений это оказалось наименее точным.</a:t>
            </a:r>
          </a:p>
          <a:p>
            <a:pPr algn="l">
              <a:lnSpc>
                <a:spcPct val="126000"/>
              </a:lnSpc>
              <a:spcBef>
                <a:spcPts val="700"/>
              </a:spcBef>
            </a:pPr>
            <a:r>
              <a:rPr sz="1470" b="0" i="0">
                <a:solidFill>
                  <a:srgbClr val="21295C"/>
                </a:solidFill>
                <a:latin typeface="Arial"/>
              </a:rPr>
              <a:t/>
            </a:r>
            <a:r>
              <a:rPr sz="1470" b="1" i="0">
                <a:solidFill>
                  <a:srgbClr val="21295C"/>
                </a:solidFill>
                <a:latin typeface="Arial"/>
              </a:rPr>
              <a:t>Уберите модель — и сервис продолжит работать.</a:t>
            </a:r>
            <a:r>
              <a:rPr sz="1470" b="0" i="0">
                <a:solidFill>
                  <a:srgbClr val="21295C"/>
                </a:solidFill>
                <a:latin typeface="Arial"/>
              </a:rPr>
              <a:t> По заявлению бывшего руководителя регуляторных вопросов компании, внутри было дерево решений если-то, собранное в таблице. </a:t>
            </a:r>
            <a:r>
              <a:rPr sz="1470" b="0" i="1">
                <a:solidFill>
                  <a:srgbClr val="21295C"/>
                </a:solidFill>
                <a:latin typeface="Arial"/>
              </a:rPr>
              <a:t>(по заявлению бывшего сотрудника, не аудит)</a:t>
            </a:r>
          </a:p>
          <a:p>
            <a:pPr algn="l">
              <a:lnSpc>
                <a:spcPct val="126000"/>
              </a:lnSpc>
              <a:spcBef>
                <a:spcPts val="700"/>
              </a:spcBef>
            </a:pPr>
            <a:r>
              <a:rPr sz="1470" b="0" i="0">
                <a:solidFill>
                  <a:srgbClr val="21295C"/>
                </a:solidFill>
                <a:latin typeface="Arial"/>
              </a:rPr>
              <a:t/>
            </a:r>
            <a:r>
              <a:rPr sz="1470" b="0" i="0">
                <a:solidFill>
                  <a:srgbClr val="21295C"/>
                </a:solidFill>
                <a:latin typeface="Arial"/>
              </a:rPr>
              <a:t>Чем это делают сегодня: </a:t>
            </a:r>
            <a:r>
              <a:rPr sz="1470" b="0" i="1">
                <a:solidFill>
                  <a:srgbClr val="21295C"/>
                </a:solidFill>
                <a:latin typeface="Arial"/>
              </a:rPr>
              <a:t>поиск с генерацией на тексте</a:t>
            </a:r>
            <a:r>
              <a:rPr sz="1470" b="0" i="0">
                <a:solidFill>
                  <a:srgbClr val="21295C"/>
                </a:solidFill>
                <a:latin typeface="Arial"/>
              </a:rPr>
              <a:t> — запись приёма под диктовку принимается, сортировка обращения после этого случая — нет. Не умеет отличать редкое от частого в открытом потоке.</a:t>
            </a:r>
          </a:p>
          <a:p>
            <a:pPr algn="l">
              <a:lnSpc>
                <a:spcPct val="126000"/>
              </a:lnSpc>
              <a:spcBef>
                <a:spcPts val="700"/>
              </a:spcBef>
            </a:pPr>
            <a:r>
              <a:rPr sz="1180" b="0" i="0">
                <a:solidFill>
                  <a:srgbClr val="21295C"/>
                </a:solidFill>
                <a:latin typeface="Arial"/>
              </a:rPr>
              <a:t/>
            </a:r>
            <a:r>
              <a:rPr sz="1180" b="0" i="1">
                <a:solidFill>
                  <a:srgbClr val="1C7293"/>
                </a:solidFill>
                <a:latin typeface="Arial"/>
              </a:rPr>
              <a:t>Сколько это стоило — следующий кадр.</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Независимый сравнительный тест, 2017</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Фиксированная сумма, делённая на выросшее число обращений</a:t>
            </a:r>
          </a:p>
        </p:txBody>
      </p:sp>
      <p:sp>
        <p:nvSpPr>
          <p:cNvPr id="4" name="Rounded Rectangle 3"/>
          <p:cNvSpPr/>
          <p:nvPr/>
        </p:nvSpPr>
        <p:spPr>
          <a:xfrm>
            <a:off x="502920"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СКОЛЬКО ПЛАТЯТ ПРАКТИКЕ</a:t>
            </a:r>
          </a:p>
        </p:txBody>
      </p:sp>
      <p:sp>
        <p:nvSpPr>
          <p:cNvPr id="6" name="TextBox 5"/>
          <p:cNvSpPr txBox="1"/>
          <p:nvPr/>
        </p:nvSpPr>
        <p:spPr>
          <a:xfrm>
            <a:off x="640080" y="169079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23344"/>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средняя выплата национальной службы, 2018/19; от числа обращений не зависит</a:t>
            </a:r>
          </a:p>
        </p:txBody>
      </p:sp>
      <p:sp>
        <p:nvSpPr>
          <p:cNvPr id="8" name="Rounded Rectangle 7"/>
          <p:cNvSpPr/>
          <p:nvPr/>
        </p:nvSpPr>
        <p:spPr>
          <a:xfrm>
            <a:off x="3340531"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КЛАССИЧЕСКИ</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08219"/>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3,26 раза в год у 15–24 лет — национальная работа 2016 года; эти возраста и составляли список сервиса почти целиком</a:t>
            </a:r>
          </a:p>
        </p:txBody>
      </p:sp>
      <p:sp>
        <p:nvSpPr>
          <p:cNvPr id="12" name="Rounded Rectangle 11"/>
          <p:cNvSpPr/>
          <p:nvPr/>
        </p:nvSpPr>
        <p:spPr>
          <a:xfrm>
            <a:off x="6178143"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В СЕРВИСЕ</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17795"/>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оценка итогового независимого отчёта по двенадцати месяцам данных, с экстраполяцией — отчёт это и пишет</a:t>
            </a:r>
          </a:p>
        </p:txBody>
      </p:sp>
      <p:sp>
        <p:nvSpPr>
          <p:cNvPr id="16" name="Rounded Rectangle 15"/>
          <p:cNvSpPr/>
          <p:nvPr/>
        </p:nvSpPr>
        <p:spPr>
          <a:xfrm>
            <a:off x="9015755" y="1335024"/>
            <a:ext cx="2673019" cy="2062909"/>
          </a:xfrm>
          <a:prstGeom prst="roundRect">
            <a:avLst>
              <a:gd name="adj" fmla="val 1477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ИТОГ</a:t>
            </a:r>
          </a:p>
        </p:txBody>
      </p:sp>
      <p:sp>
        <p:nvSpPr>
          <p:cNvPr id="18" name="TextBox 17"/>
          <p:cNvSpPr txBox="1"/>
          <p:nvPr/>
        </p:nvSpPr>
        <p:spPr>
          <a:xfrm>
            <a:off x="9152915" y="1690796"/>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51745"/>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разные валюты: оценка на выходе через слияние — в долларах, продажа активов — в фунтах; в части сообщений та же сумма названа как 620 тысяч долларов</a:t>
            </a:r>
          </a:p>
        </p:txBody>
      </p:sp>
      <p:sp>
        <p:nvSpPr>
          <p:cNvPr id="20" name="Rounded Rectangle 19"/>
          <p:cNvSpPr/>
          <p:nvPr/>
        </p:nvSpPr>
        <p:spPr>
          <a:xfrm>
            <a:off x="374904" y="3489373"/>
            <a:ext cx="11441887" cy="2746834"/>
          </a:xfrm>
          <a:prstGeom prst="roundRect">
            <a:avLst>
              <a:gd name="adj" fmla="val 1109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580813"/>
            <a:ext cx="11112703" cy="2655394"/>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Практика получает </a:t>
            </a:r>
            <a:r>
              <a:rPr sz="1440" b="1" i="0">
                <a:solidFill>
                  <a:srgbClr val="21295C"/>
                </a:solidFill>
                <a:latin typeface="Arial"/>
              </a:rPr>
              <a:t>около 155 фунтов</a:t>
            </a:r>
            <a:r>
              <a:rPr sz="144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Классически обращаются </a:t>
            </a:r>
            <a:r>
              <a:rPr sz="1440" b="1" i="0">
                <a:solidFill>
                  <a:srgbClr val="21295C"/>
                </a:solidFill>
                <a:latin typeface="Arial"/>
              </a:rPr>
              <a:t>4,0 раза</a:t>
            </a:r>
            <a:r>
              <a:rPr sz="1440" b="0" i="0">
                <a:solidFill>
                  <a:srgbClr val="21295C"/>
                </a:solidFill>
                <a:latin typeface="Arial"/>
              </a:rPr>
              <a:t> в год у 25–44-летних и </a:t>
            </a:r>
            <a:r>
              <a:rPr sz="1440" b="1" i="0">
                <a:solidFill>
                  <a:srgbClr val="21295C"/>
                </a:solidFill>
                <a:latin typeface="Arial"/>
              </a:rPr>
              <a:t>3,26 раза</a:t>
            </a:r>
            <a:r>
              <a:rPr sz="144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440" b="0" i="0">
                <a:solidFill>
                  <a:srgbClr val="21295C"/>
                </a:solidFill>
                <a:latin typeface="Arial"/>
              </a:rPr>
              <a:t/>
            </a:r>
            <a:r>
              <a:rPr sz="1440" b="0" i="0">
                <a:solidFill>
                  <a:srgbClr val="21295C"/>
                </a:solidFill>
                <a:latin typeface="Arial"/>
              </a:rPr>
              <a:t>В сервисе обращений стало </a:t>
            </a:r>
            <a:r>
              <a:rPr sz="1440" b="1" i="0">
                <a:solidFill>
                  <a:srgbClr val="21295C"/>
                </a:solidFill>
                <a:latin typeface="Arial"/>
              </a:rPr>
              <a:t>4,3</a:t>
            </a:r>
            <a:r>
              <a:rPr sz="1440" b="0" i="0">
                <a:solidFill>
                  <a:srgbClr val="21295C"/>
                </a:solidFill>
                <a:latin typeface="Arial"/>
              </a:rPr>
              <a:t> на человека в год при той же подушевой сумме.</a:t>
            </a:r>
          </a:p>
          <a:p>
            <a:pPr algn="l">
              <a:lnSpc>
                <a:spcPct val="126000"/>
              </a:lnSpc>
              <a:spcBef>
                <a:spcPts val="700"/>
              </a:spcBef>
            </a:pPr>
            <a:r>
              <a:rPr sz="1440" b="0" i="0">
                <a:solidFill>
                  <a:srgbClr val="21295C"/>
                </a:solidFill>
                <a:latin typeface="Arial"/>
              </a:rPr>
              <a:t/>
            </a:r>
            <a:r>
              <a:rPr sz="1440" b="1" i="0">
                <a:solidFill>
                  <a:srgbClr val="21295C"/>
                </a:solidFill>
                <a:latin typeface="Arial"/>
              </a:rPr>
              <a:t>Нагрузка переехала на другой шаг</a:t>
            </a:r>
            <a:r>
              <a:rPr sz="1440" b="0" i="0">
                <a:solidFill>
                  <a:srgbClr val="21295C"/>
                </a:solidFill>
                <a:latin typeface="Arial"/>
              </a:rPr>
              <a:t> — с сортировки на приём, и платить за это стало некому.</a:t>
            </a:r>
          </a:p>
          <a:p>
            <a:pPr algn="l">
              <a:lnSpc>
                <a:spcPct val="126000"/>
              </a:lnSpc>
              <a:spcBef>
                <a:spcPts val="700"/>
              </a:spcBef>
            </a:pPr>
            <a:r>
              <a:rPr sz="1440" b="0" i="0">
                <a:solidFill>
                  <a:srgbClr val="21295C"/>
                </a:solidFill>
                <a:latin typeface="Arial"/>
              </a:rPr>
              <a:t/>
            </a:r>
            <a:r>
              <a:rPr sz="1440" b="1" i="0">
                <a:solidFill>
                  <a:srgbClr val="21295C"/>
                </a:solidFill>
                <a:latin typeface="Arial"/>
              </a:rPr>
              <a:t>дало</a:t>
            </a:r>
            <a:r>
              <a:rPr sz="1440" b="0" i="0">
                <a:solidFill>
                  <a:srgbClr val="21295C"/>
                </a:solidFill>
                <a:latin typeface="Arial"/>
              </a:rPr>
              <a:t> — сортировка круглосуточно и мгновенно, порог обращения ниже · </a:t>
            </a:r>
            <a:r>
              <a:rPr sz="1440" b="1" i="0">
                <a:solidFill>
                  <a:srgbClr val="21295C"/>
                </a:solidFill>
                <a:latin typeface="Arial"/>
              </a:rPr>
              <a:t>потребовало</a:t>
            </a:r>
            <a:r>
              <a:rPr sz="1440" b="0" i="0">
                <a:solidFill>
                  <a:srgbClr val="21295C"/>
                </a:solidFill>
                <a:latin typeface="Arial"/>
              </a:rPr>
              <a:t> — экономика на каждом пациенте в минус, задокументированный случай нераспознанных симптомов · </a:t>
            </a:r>
            <a:r>
              <a:rPr sz="1440" b="1" i="0">
                <a:solidFill>
                  <a:srgbClr val="21295C"/>
                </a:solidFill>
                <a:latin typeface="Arial"/>
              </a:rPr>
              <a:t>в сумме хуже</a:t>
            </a:r>
            <a:r>
              <a:rPr sz="1440" b="0" i="0">
                <a:solidFill>
                  <a:srgbClr val="21295C"/>
                </a:solidFill>
                <a:latin typeface="Arial"/>
              </a:rPr>
              <a:t> — оценка на выходе </a:t>
            </a:r>
            <a:r>
              <a:rPr sz="1440" b="1" i="0">
                <a:solidFill>
                  <a:srgbClr val="21295C"/>
                </a:solidFill>
                <a:latin typeface="Arial"/>
              </a:rPr>
              <a:t>4,2 млрд долларов</a:t>
            </a:r>
            <a:r>
              <a:rPr sz="1440" b="0" i="0">
                <a:solidFill>
                  <a:srgbClr val="21295C"/>
                </a:solidFill>
                <a:latin typeface="Arial"/>
              </a:rPr>
              <a:t>, банкротство в августе 2023 года, активы проданы за </a:t>
            </a:r>
            <a:r>
              <a:rPr sz="1440" b="1" i="0">
                <a:solidFill>
                  <a:srgbClr val="21295C"/>
                </a:solidFill>
                <a:latin typeface="Arial"/>
              </a:rPr>
              <a:t>500 тысяч фунтов</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независимый отчёт об оценке сервиса, 2019</a:t>
            </a:r>
            <a:r>
              <a:rPr sz="1100" b="0" i="1">
                <a:solidFill>
                  <a:srgbClr val="1C7293"/>
                </a:solidFill>
                <a:latin typeface="Arial"/>
              </a:rPr>
              <a:t> · </a:t>
            </a:r>
            <a:r>
              <a:rPr sz="1100" b="0" i="1">
                <a:solidFill>
                  <a:srgbClr val="1C7293"/>
                </a:solidFill>
                <a:latin typeface="Arial"/>
              </a:rPr>
              <a:t>статистика выплат национальной службы, 2018/19</a:t>
            </a:r>
            <a:r>
              <a:rPr sz="1100" b="0" i="1">
                <a:solidFill>
                  <a:srgbClr val="1C7293"/>
                </a:solidFill>
                <a:latin typeface="Arial"/>
              </a:rPr>
              <a:t> · </a:t>
            </a:r>
            <a:r>
              <a:rPr sz="1100" b="0" i="1">
                <a:solidFill>
                  <a:srgbClr val="1C7293"/>
                </a:solidFill>
                <a:latin typeface="Arial"/>
              </a:rPr>
              <a:t>материалы о банкротстве,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СПЕЦИАЛИСТА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подростки 8–21 года с диабетом, 81 человек против 83, один прибор</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ТЕСТА НА МЕСТЕ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выборка того же испытания; выигрыш здесь измерен явкой, а чувствительность прибора в разборе не произносится — распространённости поражения в этих выборках в источниках нет</a:t>
            </a:r>
          </a:p>
        </p:txBody>
      </p:sp>
      <p:sp>
        <p:nvSpPr>
          <p:cNvPr id="12" name="TextBox 11"/>
          <p:cNvSpPr txBox="1"/>
          <p:nvPr/>
        </p:nvSpPr>
        <p:spPr>
          <a:xfrm>
            <a:off x="502920" y="304721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13" name="Rounded Rectangle 12"/>
          <p:cNvSpPr/>
          <p:nvPr/>
        </p:nvSpPr>
        <p:spPr>
          <a:xfrm>
            <a:off x="1920240"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02536"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Направление к офтальмологу</a:t>
            </a:r>
          </a:p>
        </p:txBody>
      </p:sp>
      <p:sp>
        <p:nvSpPr>
          <p:cNvPr id="15" name="Right Arrow 14"/>
          <p:cNvSpPr/>
          <p:nvPr/>
        </p:nvSpPr>
        <p:spPr>
          <a:xfrm>
            <a:off x="5039258" y="315237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67858"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50154"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Ожидание визита</a:t>
            </a:r>
          </a:p>
        </p:txBody>
      </p:sp>
      <p:sp>
        <p:nvSpPr>
          <p:cNvPr id="18" name="Right Arrow 17"/>
          <p:cNvSpPr/>
          <p:nvPr/>
        </p:nvSpPr>
        <p:spPr>
          <a:xfrm>
            <a:off x="8386876" y="315237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15476"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97772"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Чтение специалистом</a:t>
            </a:r>
          </a:p>
        </p:txBody>
      </p:sp>
      <p:sp>
        <p:nvSpPr>
          <p:cNvPr id="21" name="TextBox 20"/>
          <p:cNvSpPr txBox="1"/>
          <p:nvPr/>
        </p:nvSpPr>
        <p:spPr>
          <a:xfrm>
            <a:off x="502920" y="365071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 моделью</a:t>
            </a:r>
          </a:p>
        </p:txBody>
      </p:sp>
      <p:sp>
        <p:nvSpPr>
          <p:cNvPr id="22" name="Rounded Rectangle 21"/>
          <p:cNvSpPr/>
          <p:nvPr/>
        </p:nvSpPr>
        <p:spPr>
          <a:xfrm>
            <a:off x="1920240"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02536"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 у медсестры</a:t>
            </a:r>
          </a:p>
        </p:txBody>
      </p:sp>
      <p:sp>
        <p:nvSpPr>
          <p:cNvPr id="24" name="Right Arrow 23"/>
          <p:cNvSpPr/>
          <p:nvPr/>
        </p:nvSpPr>
        <p:spPr>
          <a:xfrm>
            <a:off x="5039258" y="375587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67858"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50154"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Автономное чтение</a:t>
            </a:r>
          </a:p>
        </p:txBody>
      </p:sp>
      <p:sp>
        <p:nvSpPr>
          <p:cNvPr id="27" name="Right Arrow 26"/>
          <p:cNvSpPr/>
          <p:nvPr/>
        </p:nvSpPr>
        <p:spPr>
          <a:xfrm>
            <a:off x="8386876" y="375587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615476"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97772"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 на месте</a:t>
            </a:r>
          </a:p>
        </p:txBody>
      </p:sp>
      <p:sp>
        <p:nvSpPr>
          <p:cNvPr id="30" name="TextBox 29"/>
          <p:cNvSpPr txBox="1"/>
          <p:nvPr/>
        </p:nvSpPr>
        <p:spPr>
          <a:xfrm>
            <a:off x="502920" y="419935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от снимка до решения</a:t>
            </a:r>
          </a:p>
        </p:txBody>
      </p:sp>
      <p:sp>
        <p:nvSpPr>
          <p:cNvPr id="31" name="Rounded Rectangle 30"/>
          <p:cNvSpPr/>
          <p:nvPr/>
        </p:nvSpPr>
        <p:spPr>
          <a:xfrm>
            <a:off x="374904" y="4512212"/>
            <a:ext cx="11441887" cy="1723995"/>
          </a:xfrm>
          <a:prstGeom prst="roundRect">
            <a:avLst>
              <a:gd name="adj" fmla="val 176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9496" y="4603652"/>
            <a:ext cx="11112703" cy="1632555"/>
          </a:xfrm>
          <a:prstGeom prst="rect">
            <a:avLst/>
          </a:prstGeom>
          <a:noFill/>
        </p:spPr>
        <p:txBody>
          <a:bodyPr wrap="square" lIns="0" rIns="0" tIns="0" bIns="0" anchor="t">
            <a:spAutoFit/>
          </a:bodyPr>
          <a:lstStyle/>
          <a:p>
            <a:pPr algn="l">
              <a:lnSpc>
                <a:spcPct val="126000"/>
              </a:lnSpc>
            </a:pPr>
            <a:r>
              <a:rPr sz="1410" b="0" i="0">
                <a:solidFill>
                  <a:srgbClr val="21295C"/>
                </a:solidFill>
                <a:latin typeface="Arial"/>
              </a:rPr>
              <a:t>Выигрыш здесь измерен явкой, а не точностью.</a:t>
            </a:r>
          </a:p>
          <a:p>
            <a:pPr algn="l">
              <a:lnSpc>
                <a:spcPct val="126000"/>
              </a:lnSpc>
              <a:spcBef>
                <a:spcPts val="700"/>
              </a:spcBef>
            </a:pPr>
            <a:r>
              <a:rPr sz="1410" b="0" i="0">
                <a:solidFill>
                  <a:srgbClr val="21295C"/>
                </a:solidFill>
                <a:latin typeface="Arial"/>
              </a:rPr>
              <a:t/>
            </a:r>
            <a:r>
              <a:rPr sz="1410" b="1" i="0">
                <a:solidFill>
                  <a:srgbClr val="21295C"/>
                </a:solidFill>
                <a:latin typeface="Arial"/>
              </a:rPr>
              <a:t>Классический режим.</a:t>
            </a:r>
            <a:r>
              <a:rPr sz="1410" b="0" i="0">
                <a:solidFill>
                  <a:srgbClr val="21295C"/>
                </a:solidFill>
                <a:latin typeface="Arial"/>
              </a:rPr>
              <a:t> Раз в год человек с диабетом идёт к специалисту-офтальмологу; до теста реально доходят </a:t>
            </a:r>
            <a:r>
              <a:rPr sz="1410" b="1" i="0">
                <a:solidFill>
                  <a:srgbClr val="21295C"/>
                </a:solidFill>
                <a:latin typeface="Arial"/>
              </a:rPr>
              <a:t>22 из ста</a:t>
            </a:r>
            <a:r>
              <a:rPr sz="1410" b="0" i="0">
                <a:solidFill>
                  <a:srgbClr val="21295C"/>
                </a:solidFill>
                <a:latin typeface="Arial"/>
              </a:rPr>
              <a:t>.</a:t>
            </a:r>
          </a:p>
          <a:p>
            <a:pPr algn="l">
              <a:lnSpc>
                <a:spcPct val="126000"/>
              </a:lnSpc>
              <a:spcBef>
                <a:spcPts val="700"/>
              </a:spcBef>
            </a:pPr>
            <a:r>
              <a:rPr sz="1410" b="0" i="0">
                <a:solidFill>
                  <a:srgbClr val="21295C"/>
                </a:solidFill>
                <a:latin typeface="Arial"/>
              </a:rPr>
              <a:t/>
            </a:r>
            <a:r>
              <a:rPr sz="1410" b="1" i="0">
                <a:solidFill>
                  <a:srgbClr val="21295C"/>
                </a:solidFill>
                <a:latin typeface="Arial"/>
              </a:rPr>
              <a:t>Модель.</a:t>
            </a:r>
            <a:r>
              <a:rPr sz="1410" b="0" i="0">
                <a:solidFill>
                  <a:srgbClr val="21295C"/>
                </a:solidFill>
                <a:latin typeface="Arial"/>
              </a:rPr>
              <a:t> Снимок делает медсестра в первичном звене, решение «направить или нет» принимается на месте меньше чем за минуту; до теста доходят </a:t>
            </a:r>
            <a:r>
              <a:rPr sz="1410" b="1" i="0">
                <a:solidFill>
                  <a:srgbClr val="21295C"/>
                </a:solidFill>
                <a:latin typeface="Arial"/>
              </a:rPr>
              <a:t>100 из ста</a:t>
            </a:r>
            <a:r>
              <a:rPr sz="1410" b="0" i="0">
                <a:solidFill>
                  <a:srgbClr val="21295C"/>
                </a:solidFill>
                <a:latin typeface="Arial"/>
              </a:rPr>
              <a:t>. И второй шаг того же пути посчитан внутри того же испытания: из 25 человек, у кого результат оказался отклонением, до офтальмолога дошли 16 — </a:t>
            </a:r>
            <a:r>
              <a:rPr sz="1410" b="1" i="0">
                <a:solidFill>
                  <a:srgbClr val="21295C"/>
                </a:solidFill>
                <a:latin typeface="Arial"/>
              </a:rPr>
              <a:t>64 из ста против 22 в контроле</a:t>
            </a:r>
            <a:r>
              <a:rPr sz="1410" b="0" i="0">
                <a:solidFill>
                  <a:srgbClr val="21295C"/>
                </a:solidFill>
                <a:latin typeface="Arial"/>
              </a:rPr>
              <a:t>.</a:t>
            </a:r>
          </a:p>
        </p:txBody>
      </p:sp>
      <p:sp>
        <p:nvSpPr>
          <p:cNvPr id="33" name="Rectangle 3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 </a:t>
            </a:r>
            <a:r>
              <a:rPr sz="1500" b="1" i="0">
                <a:solidFill>
                  <a:srgbClr val="21295C"/>
                </a:solidFill>
                <a:latin typeface="Arial"/>
              </a:rPr>
              <a:t>75,7 процента</a:t>
            </a:r>
            <a:r>
              <a:rPr sz="1500" b="0" i="0">
                <a:solidFill>
                  <a:srgbClr val="21295C"/>
                </a:solidFill>
                <a:latin typeface="Arial"/>
              </a:rPr>
              <a:t> потока специалист не видит вовсе. С явкой 22 против 100 эти числа в одну бухгалтерию не складываются: другая программа, другой прибор, другая возрастная группа.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Решение регулятора США о допуске первой автономной диагностической системы, 2018</a:t>
            </a:r>
            <a:r>
              <a:rPr sz="1100" b="0" i="1">
                <a:solidFill>
                  <a:srgbClr val="1C7293"/>
                </a:solidFill>
                <a:latin typeface="Arial"/>
              </a:rPr>
              <a:t> · </a:t>
            </a:r>
            <a:r>
              <a:rPr sz="11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здесь переехало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польза:</a:t>
            </a:r>
            <a:r>
              <a:rPr sz="1500" b="0" i="0">
                <a:solidFill>
                  <a:srgbClr val="21295C"/>
                </a:solidFill>
                <a:latin typeface="Arial"/>
              </a:rPr>
              <a:t> на этом шаге модель решает, кого вообще посмотрят — выигрыш, где он измерен, лежит в доступе, а не в точности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границы:</a:t>
            </a:r>
            <a:r>
              <a:rPr sz="1500" b="0" i="0">
                <a:solidFill>
                  <a:srgbClr val="21295C"/>
                </a:solidFill>
                <a:latin typeface="Arial"/>
              </a:rPr>
              <a:t> в открытом потоке обращений и при отборе в программу повышенного внимания ни один полный разбор выигрыша не подтвердил; охват публикуют, устройство работы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риск:</a:t>
            </a:r>
            <a:r>
              <a:rPr sz="1500" b="0" i="0">
                <a:solidFill>
                  <a:srgbClr val="21295C"/>
                </a:solidFill>
                <a:latin typeface="Arial"/>
              </a:rPr>
              <a:t> удешевление входа перестраивает экономику системы раньше, чем кто-нибудь успевает проверить качество, а критерий отбора способен тихо сместить, кого вообще видят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дальше:</a:t>
            </a:r>
            <a:r>
              <a:rPr sz="1500" b="0" i="0">
                <a:solidFill>
                  <a:srgbClr val="21295C"/>
                </a:solidFill>
                <a:latin typeface="Arial"/>
              </a:rPr>
              <a:t> поток, отобранный моделью, приходит в следующий раздел уже смещённым — то, что она назвала нормой, человек не увидит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на другой шаг</a:t>
            </a:r>
            <a:r>
              <a:rPr sz="1500" b="0" i="0">
                <a:solidFill>
                  <a:srgbClr val="21295C"/>
                </a:solidFill>
                <a:latin typeface="Arial"/>
              </a:rPr>
              <a:t> (чат-бот первой линии) · </a:t>
            </a:r>
            <a:r>
              <a:rPr sz="1500" b="1" i="0">
                <a:solidFill>
                  <a:srgbClr val="21295C"/>
                </a:solidFill>
                <a:latin typeface="Arial"/>
              </a:rPr>
              <a:t>сменился исполнитель</a:t>
            </a:r>
            <a:r>
              <a:rPr sz="1500" b="0" i="0">
                <a:solidFill>
                  <a:srgbClr val="21295C"/>
                </a:solidFill>
                <a:latin typeface="Arial"/>
              </a:rPr>
              <a:t>, и производной — </a:t>
            </a:r>
            <a:r>
              <a:rPr sz="1500" b="1" i="0">
                <a:solidFill>
                  <a:srgbClr val="21295C"/>
                </a:solidFill>
                <a:latin typeface="Arial"/>
              </a:rPr>
              <a:t>шаг появился</a:t>
            </a:r>
            <a:r>
              <a:rPr sz="1500" b="0" i="0">
                <a:solidFill>
                  <a:srgbClr val="21295C"/>
                </a:solidFill>
                <a:latin typeface="Arial"/>
              </a:rPr>
              <a:t> (глазное дно без офтальмолога)</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Поиск с генерацией на тексте</a:t>
            </a:r>
            <a:r>
              <a:rPr sz="1500" b="0" i="0">
                <a:solidFill>
                  <a:srgbClr val="21295C"/>
                </a:solidFill>
                <a:latin typeface="Arial"/>
              </a:rPr>
              <a:t> (разбор: чат-бот первой линии) — режим «сортировка обращения словами»: после этого случая стагнирует; рядом — «запись приёма под диктовку» (принимается быстрее всех, потому что не ставит диагноз) и «ответ по документам со ссылкой на источник». Не умеет отличать редкое от частого в открытом потоке.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Классификация на изображении</a:t>
            </a:r>
            <a:r>
              <a:rPr sz="1500" b="0" i="0">
                <a:solidFill>
                  <a:srgbClr val="21295C"/>
                </a:solidFill>
                <a:latin typeface="Arial"/>
              </a:rPr>
              <a:t> (разбор: глазное дно без офтальмолога) — режим «автономное решение без врача» (LumineticsCore, прежде IDx-DR · EyeArt): допущено единицами и только там, где вопрос бинарный, — это свойство задачи. Не умеет отвечать за годность снимка: добыть годный снимок — отдельный шаг, и делает его человек без профильной подготовки.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Распознавание на изображении</a:t>
            </a:r>
            <a:r>
              <a:rPr sz="1500" b="0" i="0">
                <a:solidFill>
                  <a:srgbClr val="21295C"/>
                </a:solidFill>
                <a:latin typeface="Arial"/>
              </a:rPr>
              <a:t> (упоминание — подробно в разделе про чтение снимка) — режим «модель вторым читателем или сортировка потока по риску» (Transpara · Lunit INSIGHT MMG; в России — платформа лучевой диагностики, «Цельс», «Третье мнение», Care Mentor AI). Растёт в скрининге. Не умеет заменить арбитраж: кто разбирает расхождение, назначает процедура.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этом шаге занято три клетки из тридцати с лишним, и ни одна не про лечение — модель решает, кого посмотрят, а не что с ним делать.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Названо, чем делают, а не чья марка лучше — режим один, реализаций много, и разницу в результате делает устройство процедуры, а не бренд.</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2. Анализ данных — и группа, на которой он посчитан</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о человеке принимает система, а не человек — и решение это построено на том, что про человека измерили. У каждого измерения есть группа, на которой оно посчитано: доля, посчитанная на одних людях, на других означает не то же самое.</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 · 3 упоминания</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Таиланд · 2. Кожа и состав набора · 3. Расходы вместо болезни</a:t>
            </a:r>
          </a:p>
        </p:txBody>
      </p:sp>
      <p:sp>
        <p:nvSpPr>
          <p:cNvPr id="9" name="TextBox 8"/>
          <p:cNvSpPr txBox="1"/>
          <p:nvPr/>
        </p:nvSpPr>
        <p:spPr>
          <a:xfrm>
            <a:off x="704088" y="384878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Чувствительность и специфичность: две доли без рабочей точки</a:t>
            </a:r>
          </a:p>
        </p:txBody>
      </p:sp>
      <p:sp>
        <p:nvSpPr>
          <p:cNvPr id="4" name="Rounded Rectangle 3"/>
          <p:cNvSpPr/>
          <p:nvPr/>
        </p:nvSpPr>
        <p:spPr>
          <a:xfrm>
            <a:off x="502920" y="1335024"/>
            <a:ext cx="5510631"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{{нет в главе: число для доли «назвала больными»}}</a:t>
            </a:r>
          </a:p>
        </p:txBody>
      </p:sp>
      <p:sp>
        <p:nvSpPr>
          <p:cNvPr id="7" name="Rounded Rectangle 6"/>
          <p:cNvSpPr/>
          <p:nvPr/>
        </p:nvSpPr>
        <p:spPr>
          <a:xfrm>
            <a:off x="6178143" y="1335024"/>
            <a:ext cx="5510631" cy="1310355"/>
          </a:xfrm>
          <a:prstGeom prst="roundRect">
            <a:avLst>
              <a:gd name="adj" fmla="val 232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СПЕЦИФИЧНОСТЬ</a:t>
            </a:r>
          </a:p>
        </p:txBody>
      </p:sp>
      <p:sp>
        <p:nvSpPr>
          <p:cNvPr id="9" name="TextBox 8"/>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{{нет в главе: число для доли «не стала пугать»}}</a:t>
            </a:r>
          </a:p>
        </p:txBody>
      </p:sp>
      <p:sp>
        <p:nvSpPr>
          <p:cNvPr id="10" name="Rounded Rectangle 9"/>
          <p:cNvSpPr/>
          <p:nvPr/>
        </p:nvSpPr>
        <p:spPr>
          <a:xfrm>
            <a:off x="374904" y="2736819"/>
            <a:ext cx="11441887" cy="3499388"/>
          </a:xfrm>
          <a:prstGeom prst="roundRect">
            <a:avLst>
              <a:gd name="adj" fmla="val 87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всех, у кого болезнь есть, — какую долю система назвала больными. Из всех, у кого болезни нет, — какую долю она не стала пугать.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доли считаются по группе, которую собрал исследователь.</a:t>
            </a:r>
          </a:p>
          <a:p>
            <a:pPr algn="l">
              <a:lnSpc>
                <a:spcPct val="126000"/>
              </a:lnSpc>
              <a:spcBef>
                <a:spcPts val="700"/>
              </a:spcBef>
            </a:pPr>
            <a:r>
              <a:rPr sz="1500" b="0" i="0">
                <a:solidFill>
                  <a:srgbClr val="21295C"/>
                </a:solidFill>
                <a:latin typeface="Arial"/>
              </a:rPr>
              <a:t/>
            </a:r>
            <a:r>
              <a:rPr sz="1500" b="0" i="0">
                <a:solidFill>
                  <a:srgbClr val="21295C"/>
                </a:solidFill>
                <a:latin typeface="Arial"/>
              </a:rPr>
              <a:t>Упоминание: систематический обзор работ по машинному обучению на данных ковидной пневмонии отобрал из </a:t>
            </a:r>
            <a:r>
              <a:rPr sz="1500" b="1" i="0">
                <a:solidFill>
                  <a:srgbClr val="21295C"/>
                </a:solidFill>
                <a:latin typeface="Arial"/>
              </a:rPr>
              <a:t>2 212</a:t>
            </a:r>
            <a:r>
              <a:rPr sz="1500" b="0" i="0">
                <a:solidFill>
                  <a:srgbClr val="21295C"/>
                </a:solidFill>
                <a:latin typeface="Arial"/>
              </a:rPr>
              <a:t> публикаций </a:t>
            </a:r>
            <a:r>
              <a:rPr sz="1500" b="1" i="0">
                <a:solidFill>
                  <a:srgbClr val="21295C"/>
                </a:solidFill>
                <a:latin typeface="Arial"/>
              </a:rPr>
              <a:t>62</a:t>
            </a:r>
            <a:r>
              <a:rPr sz="1500" b="0" i="0">
                <a:solidFill>
                  <a:srgbClr val="21295C"/>
                </a:solidFill>
                <a:latin typeface="Arial"/>
              </a:rPr>
              <a:t> для анализа — и не нашёл среди них </a:t>
            </a:r>
            <a:r>
              <a:rPr sz="1500" b="1" i="0">
                <a:solidFill>
                  <a:srgbClr val="21295C"/>
                </a:solidFill>
                <a:latin typeface="Arial"/>
              </a:rPr>
              <a:t>ни одной</a:t>
            </a:r>
            <a:r>
              <a:rPr sz="1500" b="0" i="0">
                <a:solidFill>
                  <a:srgbClr val="21295C"/>
                </a:solidFill>
                <a:latin typeface="Arial"/>
              </a:rPr>
              <a:t>, пригодной для клинического применения. Это вывод о качестве исследовательских работ; про внедрённые системы он не говорит ничего.</a:t>
            </a:r>
          </a:p>
        </p:txBody>
      </p:sp>
      <p:sp>
        <p:nvSpPr>
          <p:cNvPr id="12" name="Rectangle 11"/>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a:t>
            </a:r>
          </a:p>
        </p:txBody>
      </p:sp>
      <p:sp>
        <p:nvSpPr>
          <p:cNvPr id="4" name="Rounded Rectangle 3"/>
          <p:cNvSpPr/>
          <p:nvPr/>
        </p:nvSpPr>
        <p:spPr>
          <a:xfrm>
            <a:off x="502920" y="1335024"/>
            <a:ext cx="2673019" cy="2234545"/>
          </a:xfrm>
          <a:prstGeom prst="roundRect">
            <a:avLst>
              <a:gd name="adj" fmla="val 1364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ЛОВИТ БОЛЬНЫХ</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94 из ста больных</a:t>
            </a:r>
          </a:p>
        </p:txBody>
      </p:sp>
      <p:sp>
        <p:nvSpPr>
          <p:cNvPr id="7" name="TextBox 6"/>
          <p:cNvSpPr txBox="1"/>
          <p:nvPr/>
        </p:nvSpPr>
        <p:spPr>
          <a:xfrm>
            <a:off x="640080" y="2508219"/>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опубликованная рабочая точка модели чтения рентгена, взятая иллюстрацией методики; характеристикой изделия она не служит</a:t>
            </a:r>
          </a:p>
        </p:txBody>
      </p:sp>
      <p:sp>
        <p:nvSpPr>
          <p:cNvPr id="8" name="Rounded Rectangle 7"/>
          <p:cNvSpPr/>
          <p:nvPr/>
        </p:nvSpPr>
        <p:spPr>
          <a:xfrm>
            <a:off x="3340531"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НАПРАСНО ПУГАЕТ ЗДОРОВЫХ</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508219"/>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рабочая точка той же системы; обе доли меняются только вместе</a:t>
            </a:r>
          </a:p>
        </p:txBody>
      </p:sp>
      <p:sp>
        <p:nvSpPr>
          <p:cNvPr id="12" name="Rounded Rectangle 11"/>
          <p:cNvSpPr/>
          <p:nvPr/>
        </p:nvSpPr>
        <p:spPr>
          <a:xfrm>
            <a:off x="6178143"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1 — ПОГОЛОВНЫЙ ПОТОК</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 больных на 10 000</a:t>
            </a:r>
          </a:p>
        </p:txBody>
      </p:sp>
      <p:sp>
        <p:nvSpPr>
          <p:cNvPr id="15" name="TextBox 14"/>
          <p:cNvSpPr txBox="1"/>
          <p:nvPr/>
        </p:nvSpPr>
        <p:spPr>
          <a:xfrm>
            <a:off x="6315303"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 человек из ста — распространённость назначил тот, кто решил, кого звать</a:t>
            </a:r>
          </a:p>
        </p:txBody>
      </p:sp>
      <p:sp>
        <p:nvSpPr>
          <p:cNvPr id="16" name="Rounded Rectangle 15"/>
          <p:cNvSpPr/>
          <p:nvPr/>
        </p:nvSpPr>
        <p:spPr>
          <a:xfrm>
            <a:off x="9015755"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2 — ПРОФИЛЬНОЕ ОТДЕЛЕНИЕ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3 000 больных на 10 000</a:t>
            </a:r>
          </a:p>
        </p:txBody>
      </p:sp>
      <p:sp>
        <p:nvSpPr>
          <p:cNvPr id="19" name="TextBox 18"/>
          <p:cNvSpPr txBox="1"/>
          <p:nvPr/>
        </p:nvSpPr>
        <p:spPr>
          <a:xfrm>
            <a:off x="9152915"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тридцать из ста — сюда людей уже отобрал кто-то по жалобе или направлению</a:t>
            </a:r>
          </a:p>
        </p:txBody>
      </p:sp>
      <p:sp>
        <p:nvSpPr>
          <p:cNvPr id="20" name="Rounded Rectangle 19"/>
          <p:cNvSpPr/>
          <p:nvPr/>
        </p:nvSpPr>
        <p:spPr>
          <a:xfrm>
            <a:off x="374904" y="3661009"/>
            <a:ext cx="11441887" cy="2575198"/>
          </a:xfrm>
          <a:prstGeom prst="roundRect">
            <a:avLst>
              <a:gd name="adj" fmla="val 11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752449"/>
            <a:ext cx="11112703" cy="24837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Одна и та же система, с одними и теми же долями чувствительности и специфичности, работает на двух группах: десять тысяч здоровых подряд и десять тысяч в профильном отделении, где больных заметно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остаётся без ответа до следующего кадра: что это меняет в том, скольким из тревог стоит верить?</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Рабочая точка 94 и 11 — опубликованный замер модели чтения снимков грудной клетки: Rajpurkar и соавторы, CheXNet, 2017; взята иллюстрацией методики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Верные тревоги в двух группах</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ПОГОЛОВНЫЙ СКРИНИНГ</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94 верные тревоги на 1 183 поднятые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ПРОФИЛЬНОЕ ОТДЕЛЕНИЕ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2 820 верных на 3 590 поднятых; система одна, доли её одни и те же — различается только доля больных в группе</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схема с проявленным результатом: доля тревог, которые оказались верными, различается почти на порядок между поголовным скринингом и профильным отделением — при одних и тех же долях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Правило, которое раздел выдаёт лекции:</a:t>
            </a:r>
            <a:r>
              <a:rPr sz="1500" b="0" i="0">
                <a:solidFill>
                  <a:srgbClr val="21295C"/>
                </a:solidFill>
                <a:latin typeface="Arial"/>
              </a:rPr>
              <a:t> заявленная точность без названной группы и распространённости болезни на слайд не идёт.</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рабочая точка той же работы: Rajpurkar и соавторы, CheXNet, 2017 — доля верных тревог посчитана при распространённости один из ста и тридцать из ста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Снять пациента</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Посмотреть на экран</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Решить: годится или переснять</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Решение техника о годности снимка</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анализ данных</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Постоянство — не устаёт и не отвлекается</a:t>
            </a:r>
          </a:p>
          <a:p>
            <a:pPr algn="l">
              <a:lnSpc>
                <a:spcPct val="126000"/>
              </a:lnSpc>
            </a:pPr>
            <a:r>
              <a:rPr sz="1450" b="0" i="0">
                <a:solidFill>
                  <a:srgbClr val="21295C"/>
                </a:solidFill>
                <a:latin typeface="Arial"/>
              </a:rPr>
              <a:t>• Поток — держит объём, который человек не удержит</a:t>
            </a:r>
          </a:p>
          <a:p>
            <a:pPr algn="l">
              <a:lnSpc>
                <a:spcPct val="126000"/>
              </a:lnSpc>
            </a:pPr>
            <a:r>
              <a:rPr sz="1450" b="0" i="0">
                <a:solidFill>
                  <a:srgbClr val="21295C"/>
                </a:solidFill>
                <a:latin typeface="Arial"/>
              </a:rPr>
              <a:t>• Воспроизводимость — один и тот же вход даёт один и тот же результат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Качество входа — зависит от прибора и условий съёмки</a:t>
            </a:r>
          </a:p>
          <a:p>
            <a:pPr algn="l">
              <a:lnSpc>
                <a:spcPct val="126000"/>
              </a:lnSpc>
            </a:pPr>
            <a:r>
              <a:rPr sz="1450" b="0" i="0">
                <a:solidFill>
                  <a:srgbClr val="21295C"/>
                </a:solidFill>
                <a:latin typeface="Arial"/>
              </a:rPr>
              <a:t>• Перенос долей между больницами — доля верна там, где посчитана</a:t>
            </a:r>
          </a:p>
          <a:p>
            <a:pPr algn="l">
              <a:lnSpc>
                <a:spcPct val="126000"/>
              </a:lnSpc>
            </a:pPr>
            <a:r>
              <a:rPr sz="1450" b="0" i="0">
                <a:solidFill>
                  <a:srgbClr val="21295C"/>
                </a:solidFill>
                <a:latin typeface="Arial"/>
              </a:rPr>
              <a:t>• Смещение самого измерительного прибора — модель наследует его молча</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Пример смещения на входе: прибор насыщения крови кислородом расходится с прямым анализом крови у пациентов с тёмной кожей в </a:t>
            </a:r>
            <a:r>
              <a:rPr sz="1500" b="1" i="0">
                <a:solidFill>
                  <a:srgbClr val="21295C"/>
                </a:solidFill>
                <a:latin typeface="Arial"/>
              </a:rPr>
              <a:t>11,7 процента измерений</a:t>
            </a:r>
            <a:r>
              <a:rPr sz="1500" b="0" i="0">
                <a:solidFill>
                  <a:srgbClr val="21295C"/>
                </a:solidFill>
                <a:latin typeface="Arial"/>
              </a:rPr>
              <a:t> — 88 случаев из 749; у светлокожих та же доля </a:t>
            </a:r>
            <a:r>
              <a:rPr sz="1500" b="1" i="0">
                <a:solidFill>
                  <a:srgbClr val="21295C"/>
                </a:solidFill>
                <a:latin typeface="Arial"/>
              </a:rPr>
              <a:t>3,6 процента</a:t>
            </a:r>
            <a:r>
              <a:rPr sz="1500" b="0" i="0">
                <a:solidFill>
                  <a:srgbClr val="21295C"/>
                </a:solidFill>
                <a:latin typeface="Arial"/>
              </a:rPr>
              <a:t> — 99 из 2 778. Доля считается по измерениям, не по пациентам, и обе взяты из одной названной когорты. Смещение одностороннее: показание прибора выше, то есть опасное снижение насыщения пропускается чаще, — и обученная модель, принимающая показания прибора на вход, этого смещения не видит вовсе.</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прибора насыщения крови с прямым анализом крови по тону кожи: Sjoding и соавторы, New England Journal of Medicine, 2020;383:2477–2478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точность приехала, а снимки не прошли</a:t>
            </a:r>
          </a:p>
        </p:txBody>
      </p:sp>
      <p:sp>
        <p:nvSpPr>
          <p:cNvPr id="4" name="Rounded Rectangle 3"/>
          <p:cNvSpPr/>
          <p:nvPr/>
        </p:nvSpPr>
        <p:spPr>
          <a:xfrm>
            <a:off x="502920" y="1335024"/>
            <a:ext cx="5510631"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РЕЖИМ</a:t>
            </a:r>
          </a:p>
        </p:txBody>
      </p:sp>
      <p:sp>
        <p:nvSpPr>
          <p:cNvPr id="6" name="TextBox 5"/>
          <p:cNvSpPr txBox="1"/>
          <p:nvPr/>
        </p:nvSpPr>
        <p:spPr>
          <a:xfrm>
            <a:off x="640080" y="1690796"/>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{{нет в главе: свой счёт классического режима для этого разбора}}</a:t>
            </a:r>
          </a:p>
        </p:txBody>
      </p:sp>
      <p:sp>
        <p:nvSpPr>
          <p:cNvPr id="7" name="Rounded Rectangle 6"/>
          <p:cNvSpPr/>
          <p:nvPr/>
        </p:nvSpPr>
        <p:spPr>
          <a:xfrm>
            <a:off x="6178143" y="1335024"/>
            <a:ext cx="5510631"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СНИМОК ОТКЛОНЁН ПО КАЧЕСТВУ</a:t>
            </a:r>
          </a:p>
        </p:txBody>
      </p:sp>
      <p:sp>
        <p:nvSpPr>
          <p:cNvPr id="9" name="TextBox 8"/>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10" name="TextBox 9"/>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11" name="Rounded Rectangle 10"/>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а не явка: явку мерил другой разбор и на другой выборке.</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что переехало и чем за это платят</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Результат в кабинете первичного звена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в непроверенных условиях</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старте хуже лабораторного замера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То же полевое наблюдение развёртывания, одиннадцать клиник, первые полгода: Beede и соавторы, CHI 2020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Кожа и состав набора</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ОСМОТР НЕВООРУЖЁННЫМ ГЛАЗОМ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77 из ста здоровых; оба режима взяты из одного метаанализа прямого сравнения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ДЕРМОСКОПИЯ У ОБУЧЕННОГО СПЕЦИАЛИСТА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74; обзор другой методологии даёт для осмотра другие числа и сводной оценки дермоскопии не даёт вовсе — две методологии рядом не ставятся</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самых тёмных тонах против самых светлых, у трёх моделей; это пункты площади под кривой, а не доля найденных больных</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Оба классических режима посчитаны одной методологией — одним метаанализом прямого сравнения осмотра и дермоскопии. Модель: на биопсийно подтверждённых изображениях три модели дают площадь под кривой на самых тёмных тонах кожи ниже, чем на самых светлых, — на </a:t>
            </a:r>
            <a:r>
              <a:rPr sz="1500" b="1" i="0">
                <a:solidFill>
                  <a:srgbClr val="21295C"/>
                </a:solidFill>
                <a:latin typeface="Arial"/>
              </a:rPr>
              <a:t>9–15 пунктов</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База: </a:t>
            </a:r>
            <a:r>
              <a:rPr sz="1500" b="1" i="0">
                <a:solidFill>
                  <a:srgbClr val="21295C"/>
                </a:solidFill>
                <a:latin typeface="Arial"/>
              </a:rPr>
              <a:t>656 изображений</a:t>
            </a:r>
            <a:r>
              <a:rPr sz="1500" b="0" i="0">
                <a:solidFill>
                  <a:srgbClr val="21295C"/>
                </a:solidFill>
                <a:latin typeface="Arial"/>
              </a:rPr>
              <a:t>, все с подтверждённой биопсией, из них </a:t>
            </a:r>
            <a:r>
              <a:rPr sz="1500" b="1" i="0">
                <a:solidFill>
                  <a:srgbClr val="21295C"/>
                </a:solidFill>
                <a:latin typeface="Arial"/>
              </a:rPr>
              <a:t>207 с тёмными тонами кожи</a:t>
            </a:r>
            <a:r>
              <a:rPr sz="1500" b="0" i="0">
                <a:solidFill>
                  <a:srgbClr val="21295C"/>
                </a:solidFill>
                <a:latin typeface="Arial"/>
              </a:rPr>
              <a:t> (светлых 208, средних 241). Знаменатель назван, и это не «несколько примеров».</a:t>
            </a:r>
          </a:p>
          <a:p>
            <a:pPr algn="l">
              <a:lnSpc>
                <a:spcPct val="126000"/>
              </a:lnSpc>
              <a:spcBef>
                <a:spcPts val="700"/>
              </a:spcBef>
            </a:pPr>
            <a:r>
              <a:rPr sz="1500" b="0" i="0">
                <a:solidFill>
                  <a:srgbClr val="21295C"/>
                </a:solidFill>
                <a:latin typeface="Arial"/>
              </a:rPr>
              <a:t/>
            </a:r>
            <a:r>
              <a:rPr sz="1500" b="0" i="0">
                <a:solidFill>
                  <a:srgbClr val="21295C"/>
                </a:solidFill>
                <a:latin typeface="Arial"/>
              </a:rPr>
              <a:t>Исправление измерено, и лечит его не алгоритм: дообучение на представительном наборе разрыв снимает и переворачивает, а три названных алгоритмических метода борьбы со смещением его значимо не уменьшили.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по тону кожи измерен </a:t>
            </a:r>
            <a:r>
              <a:rPr sz="1500" b="1" i="0">
                <a:solidFill>
                  <a:srgbClr val="21295C"/>
                </a:solidFill>
                <a:latin typeface="Arial"/>
              </a:rPr>
              <a:t>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 — сказать «модель хуже человека на этой подгруппе» не с чем.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Набор DDI, 656 биопсийно подтверждённых изображений — Daneshjou и соавторы, Science Advances, 2022;8(31):eabq6147</a:t>
            </a:r>
            <a:r>
              <a:rPr sz="1100" b="0" i="1">
                <a:solidFill>
                  <a:srgbClr val="1C7293"/>
                </a:solidFill>
                <a:latin typeface="Arial"/>
              </a:rPr>
              <a:t> · </a:t>
            </a:r>
            <a:r>
              <a:rPr sz="1100" b="0" i="1">
                <a:solidFill>
                  <a:srgbClr val="1C7293"/>
                </a:solidFill>
                <a:latin typeface="Arial"/>
              </a:rPr>
              <a:t>осмотр и дермоскопия — Vestergaard и соавторы, British Journal of Dermatology, 2008;159(3):669–676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отбор в программу повышенного внимания по прогнозу расходов</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РЕШЕНИЕМ ЛЕЧАЩЕГО ВРАЧА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рассматриваемой группы пациентов среди фактически отобранных</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ОДНИМ БАЛЛОМ ПО ПРОГНОЗУ РАСХОДОВ</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доля при отборе по порогу балла; два близких числа различаются только ярлыком режима</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 РАВНОМ БАЛЛЕ БОЛЕЗНЕЙ БОЛЬШЕ НА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пациентов одной группы при одинаковом балле; целевой переменной взяты будущие расходы на лечение</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Цена обеих ошибок.</a:t>
            </a:r>
            <a:r>
              <a:rPr sz="132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320" b="0" i="0">
                <a:solidFill>
                  <a:srgbClr val="21295C"/>
                </a:solidFill>
                <a:latin typeface="Arial"/>
              </a:rPr>
              <a:t/>
            </a:r>
            <a:r>
              <a:rPr sz="1320" b="1" i="0">
                <a:solidFill>
                  <a:srgbClr val="21295C"/>
                </a:solidFill>
                <a:latin typeface="Arial"/>
              </a:rPr>
              <a:t>Оба классических режима посчитаны на одной выборке:</a:t>
            </a:r>
            <a:r>
              <a:rPr sz="1320" b="0" i="0">
                <a:solidFill>
                  <a:srgbClr val="21295C"/>
                </a:solidFill>
                <a:latin typeface="Arial"/>
              </a:rPr>
              <a:t> отбор решением лечащего врача и отбор одним баллом по прогнозу расходов.</a:t>
            </a:r>
          </a:p>
          <a:p>
            <a:pPr algn="l">
              <a:lnSpc>
                <a:spcPct val="126000"/>
              </a:lnSpc>
              <a:spcBef>
                <a:spcPts val="700"/>
              </a:spcBef>
            </a:pPr>
            <a:r>
              <a:rPr sz="1320" b="0" i="0">
                <a:solidFill>
                  <a:srgbClr val="21295C"/>
                </a:solidFill>
                <a:latin typeface="Arial"/>
              </a:rPr>
              <a:t/>
            </a:r>
            <a:r>
              <a:rPr sz="1320" b="1" i="0">
                <a:solidFill>
                  <a:srgbClr val="21295C"/>
                </a:solidFill>
                <a:latin typeface="Arial"/>
              </a:rPr>
              <a:t>Модель против них.</a:t>
            </a:r>
            <a:r>
              <a:rPr sz="1320" b="0" i="0">
                <a:solidFill>
                  <a:srgbClr val="21295C"/>
                </a:solidFill>
                <a:latin typeface="Arial"/>
              </a:rPr>
              <a:t> Один балл на каждого, отбор по порогу; целевой переменной взяты будущие расходы на лечение. При равном балле у пациентов одной группы болезней оказалось больше.</a:t>
            </a:r>
          </a:p>
          <a:p>
            <a:pPr algn="l">
              <a:lnSpc>
                <a:spcPct val="126000"/>
              </a:lnSpc>
              <a:spcBef>
                <a:spcPts val="700"/>
              </a:spcBef>
            </a:pPr>
            <a:r>
              <a:rPr sz="1320" b="0" i="0">
                <a:solidFill>
                  <a:srgbClr val="21295C"/>
                </a:solidFill>
                <a:latin typeface="Arial"/>
              </a:rPr>
              <a:t/>
            </a:r>
            <a:r>
              <a:rPr sz="1320" b="0" i="0">
                <a:solidFill>
                  <a:srgbClr val="21295C"/>
                </a:solidFill>
                <a:latin typeface="Arial"/>
              </a:rPr>
              <a:t>База: </a:t>
            </a:r>
            <a:r>
              <a:rPr sz="1320" b="1" i="0">
                <a:solidFill>
                  <a:srgbClr val="21295C"/>
                </a:solidFill>
                <a:latin typeface="Arial"/>
              </a:rPr>
              <a:t>49 618 пациентов</a:t>
            </a:r>
            <a:r>
              <a:rPr sz="1320" b="0" i="0">
                <a:solidFill>
                  <a:srgbClr val="21295C"/>
                </a:solidFill>
                <a:latin typeface="Arial"/>
              </a:rPr>
              <a:t> одной академической больницы, 100 009 пациенто-лет, 2013–2015 годы.</a:t>
            </a:r>
          </a:p>
          <a:p>
            <a:pPr algn="l">
              <a:lnSpc>
                <a:spcPct val="126000"/>
              </a:lnSpc>
              <a:spcBef>
                <a:spcPts val="700"/>
              </a:spcBef>
            </a:pPr>
            <a:r>
              <a:rPr sz="1060" b="0" i="0">
                <a:solidFill>
                  <a:srgbClr val="21295C"/>
                </a:solidFill>
                <a:latin typeface="Arial"/>
              </a:rPr>
              <a:t/>
            </a:r>
            <a:r>
              <a:rPr sz="1060" b="0" i="1">
                <a:solidFill>
                  <a:srgbClr val="1C7293"/>
                </a:solidFill>
                <a:latin typeface="Arial"/>
              </a:rPr>
              <a:t>Ограничение второго режима: врач, отбиравший пациентов, уже видел балл — выше порога ему приходила подсказка. Отбора до модели в публикации нет.</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прогноз на структурированных данных</a:t>
            </a:r>
            <a:r>
              <a:rPr sz="1320" b="0" i="0">
                <a:solidFill>
                  <a:srgbClr val="21295C"/>
                </a:solidFill>
                <a:latin typeface="Arial"/>
              </a:rPr>
              <a:t> — счёт риска на данных плательщика и на медицинской карте, стратификация населения. Принимает это закупка плательщика и администрации, не врача. Не умеет отличить «дорого лечится» от «болен», если целевой переменной взяты расходы.</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исправление посчитали и не применили</a:t>
            </a:r>
          </a:p>
        </p:txBody>
      </p:sp>
      <p:sp>
        <p:nvSpPr>
          <p:cNvPr id="4" name="Rounded Rectangle 3"/>
          <p:cNvSpPr/>
          <p:nvPr/>
        </p:nvSpPr>
        <p:spPr>
          <a:xfrm>
            <a:off x="502920" y="1335024"/>
            <a:ext cx="2673019" cy="2938061"/>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ГРУППЫ СРЕДИ ОТОБРАННЫХ: НАБЛЮДАЕМАЯ → ПРИ УБРАННОМ РАЗРЫВЕ В ЗДОРОВЬЕ</a:t>
            </a:r>
          </a:p>
        </p:txBody>
      </p:sp>
      <p:sp>
        <p:nvSpPr>
          <p:cNvPr id="6" name="TextBox 5"/>
          <p:cNvSpPr txBox="1"/>
          <p:nvPr/>
        </p:nvSpPr>
        <p:spPr>
          <a:xfrm>
            <a:off x="640080" y="2209474"/>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026897"/>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вторая половина — расчёт авторов на тех же данных, а не результат внедрения: авторы заменяют на границе более здорового пациента более больным, пока разрыв не исчезнет</a:t>
            </a:r>
          </a:p>
        </p:txBody>
      </p:sp>
      <p:sp>
        <p:nvSpPr>
          <p:cNvPr id="8" name="Rounded Rectangle 7"/>
          <p:cNvSpPr/>
          <p:nvPr/>
        </p:nvSpPr>
        <p:spPr>
          <a:xfrm>
            <a:off x="3340531"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для одной группы хуже прежнего отбора, и исправление до сих пор только посчитано</a:t>
            </a:r>
          </a:p>
        </p:txBody>
      </p:sp>
      <p:sp>
        <p:nvSpPr>
          <p:cNvPr id="17" name="Rounded Rectangle 16"/>
          <p:cNvSpPr/>
          <p:nvPr/>
        </p:nvSpPr>
        <p:spPr>
          <a:xfrm>
            <a:off x="374904" y="4364525"/>
            <a:ext cx="11441887" cy="1871682"/>
          </a:xfrm>
          <a:prstGeom prst="roundRect">
            <a:avLst>
              <a:gd name="adj" fmla="val 162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455965"/>
            <a:ext cx="11112703" cy="178024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Исправление посчитано и не применено.</a:t>
            </a:r>
            <a:r>
              <a:rPr sz="1110" b="0" i="0">
                <a:solidFill>
                  <a:srgbClr val="21295C"/>
                </a:solidFill>
                <a:latin typeface="Arial"/>
              </a:rPr>
              <a:t> Если убрать разрыв в здоровье на границе отбора, доля этой группы среди отобранных поднялась бы — расчёт авторов на тех же данных, не результат внедрения.</a:t>
            </a:r>
          </a:p>
          <a:p>
            <a:pPr algn="l">
              <a:lnSpc>
                <a:spcPct val="126000"/>
              </a:lnSpc>
              <a:spcBef>
                <a:spcPts val="700"/>
              </a:spcBef>
            </a:pPr>
            <a:r>
              <a:rPr sz="1110" b="0" i="0">
                <a:solidFill>
                  <a:srgbClr val="21295C"/>
                </a:solidFill>
                <a:latin typeface="Arial"/>
              </a:rPr>
              <a:t/>
            </a:r>
            <a:r>
              <a:rPr sz="1110" b="1" i="0">
                <a:solidFill>
                  <a:srgbClr val="21295C"/>
                </a:solidFill>
                <a:latin typeface="Arial"/>
              </a:rPr>
              <a:t>Что переехало.</a:t>
            </a:r>
            <a:r>
              <a:rPr sz="1110" b="0" i="0">
                <a:solidFill>
                  <a:srgbClr val="21295C"/>
                </a:solidFill>
                <a:latin typeface="Arial"/>
              </a:rPr>
              <a:t> Сменился исполнитель: отбор делал врач, стал делать балл. И сместилась цена ошибки — на группу, у которой при равном балле больше болезней.</a:t>
            </a:r>
          </a:p>
          <a:p>
            <a:pPr algn="l">
              <a:lnSpc>
                <a:spcPct val="126000"/>
              </a:lnSpc>
              <a:spcBef>
                <a:spcPts val="700"/>
              </a:spcBef>
            </a:pPr>
            <a:r>
              <a:rPr sz="1110" b="0" i="0">
                <a:solidFill>
                  <a:srgbClr val="21295C"/>
                </a:solidFill>
                <a:latin typeface="Arial"/>
              </a:rPr>
              <a:t/>
            </a:r>
            <a:r>
              <a:rPr sz="1110" b="0" i="0">
                <a:solidFill>
                  <a:srgbClr val="21295C"/>
                </a:solidFill>
                <a:latin typeface="Arial"/>
              </a:rPr>
              <a:t>Модели этого класса применяются примерно к </a:t>
            </a:r>
            <a:r>
              <a:rPr sz="1110" b="1" i="0">
                <a:solidFill>
                  <a:srgbClr val="21295C"/>
                </a:solidFill>
                <a:latin typeface="Arial"/>
              </a:rPr>
              <a:t>200 миллионам</a:t>
            </a:r>
            <a:r>
              <a:rPr sz="1110" b="0" i="0">
                <a:solidFill>
                  <a:srgbClr val="21295C"/>
                </a:solidFill>
                <a:latin typeface="Arial"/>
              </a:rPr>
              <a:t> человек в год — </a:t>
            </a:r>
            <a:r>
              <a:rPr sz="1110" b="0" i="1">
                <a:solidFill>
                  <a:srgbClr val="21295C"/>
                </a:solidFill>
                <a:latin typeface="Arial"/>
              </a:rPr>
              <a:t>оценка отраслевого масштаба, не выборка измерения: сам перекос измерен на 49 618 пациентах одной больницы, и складывать одно с другим нельзя</a:t>
            </a:r>
            <a:r>
              <a:rPr sz="1110" b="0" i="0">
                <a:solidFill>
                  <a:srgbClr val="21295C"/>
                </a:solidFill>
                <a:latin typeface="Arial"/>
              </a:rPr>
              <a:t>.</a:t>
            </a:r>
          </a:p>
          <a:p>
            <a:pPr algn="l">
              <a:lnSpc>
                <a:spcPct val="126000"/>
              </a:lnSpc>
              <a:spcBef>
                <a:spcPts val="700"/>
              </a:spcBef>
            </a:pPr>
            <a:r>
              <a:rPr sz="1110" b="0" i="0">
                <a:solidFill>
                  <a:srgbClr val="21295C"/>
                </a:solidFill>
                <a:latin typeface="Arial"/>
              </a:rPr>
              <a:t/>
            </a:r>
            <a:r>
              <a:rPr sz="1110" b="0" i="0">
                <a:solidFill>
                  <a:srgbClr val="21295C"/>
                </a:solidFill>
                <a:latin typeface="Arial"/>
              </a:rPr>
              <a:t>Рядом, другим жанром: модели чтения рентгена при переносе на другой набор теряют чувствительность по отдельным патологиям, сохраняя высокую специфичность — </a:t>
            </a:r>
            <a:r>
              <a:rPr sz="1110" b="0" i="1">
                <a:solidFill>
                  <a:srgbClr val="21295C"/>
                </a:solidFill>
                <a:latin typeface="Arial"/>
              </a:rPr>
              <a:t>препринт</a:t>
            </a:r>
            <a:r>
              <a:rPr sz="1110" b="0" i="0">
                <a:solidFill>
                  <a:srgbClr val="21295C"/>
                </a:solidFill>
                <a:latin typeface="Arial"/>
              </a:rPr>
              <a:t>. Внутренняя проверка этого не видит: провал проявляется там, где его меньше всего проверяют.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Obermeyer и соавторы, Science, 2019;366(6464):447–453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В каждой занятой клетке — режим и одно-два названия: автономное чтение глазного дна, оценка кожного образования, детекция и сортировка потока на рентгене и КТ,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раздела отмечены отдельно. Клетка «измерение · сигнал прибора» помечена как не занятая обученной моделью.</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постоянство чтения и разгрузка потока.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доли посчитаны на группе, и вместе с группой меняется смысл выхода.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ошибиться можно в приборе на входе, в составе набора и в определении цели, не ошибившись в самой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результат измерения попадает к человеку, который примет решение.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несут эти границы: </a:t>
            </a:r>
            <a:r>
              <a:rPr sz="1500" b="1" i="0">
                <a:solidFill>
                  <a:srgbClr val="21295C"/>
                </a:solidFill>
                <a:latin typeface="Arial"/>
              </a:rPr>
              <a:t>Таиланд</a:t>
            </a:r>
            <a:r>
              <a:rPr sz="1500" b="0" i="0">
                <a:solidFill>
                  <a:srgbClr val="21295C"/>
                </a:solidFill>
                <a:latin typeface="Arial"/>
              </a:rPr>
              <a:t> (провал развёртывания) · </a:t>
            </a:r>
            <a:r>
              <a:rPr sz="1500" b="1" i="0">
                <a:solidFill>
                  <a:srgbClr val="21295C"/>
                </a:solidFill>
                <a:latin typeface="Arial"/>
              </a:rPr>
              <a:t>кожа и состав набора</a:t>
            </a:r>
            <a:r>
              <a:rPr sz="1500" b="0" i="0">
                <a:solidFill>
                  <a:srgbClr val="21295C"/>
                </a:solidFill>
                <a:latin typeface="Arial"/>
              </a:rPr>
              <a:t> (провал набора) · </a:t>
            </a:r>
            <a:r>
              <a:rPr sz="1500" b="1" i="0">
                <a:solidFill>
                  <a:srgbClr val="21295C"/>
                </a:solidFill>
                <a:latin typeface="Arial"/>
              </a:rPr>
              <a:t>расходы вместо болезни</a:t>
            </a:r>
            <a:r>
              <a:rPr sz="1500" b="0" i="0">
                <a:solidFill>
                  <a:srgbClr val="21295C"/>
                </a:solidFill>
                <a:latin typeface="Arial"/>
              </a:rPr>
              <a:t> (провал цели).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01388"/>
          </a:xfrm>
          <a:prstGeom prst="rect">
            <a:avLst/>
          </a:prstGeom>
          <a:noFill/>
        </p:spPr>
        <p:txBody>
          <a:bodyPr wrap="square" lIns="0" rIns="0" tIns="0" bIns="0" anchor="t">
            <a:spAutoFit/>
          </a:bodyPr>
          <a:lstStyle/>
          <a:p>
            <a:pPr algn="l">
              <a:lnSpc>
                <a:spcPct val="110000"/>
              </a:lnSpc>
            </a:pPr>
            <a:r>
              <a:rPr sz="2900" b="1" i="0">
                <a:solidFill>
                  <a:srgbClr val="21295C"/>
                </a:solidFill>
                <a:latin typeface="Arial"/>
              </a:rPr>
              <a:t>3. Постановка диагноза — человек читает рядом с моделью</a:t>
            </a:r>
          </a:p>
        </p:txBody>
      </p:sp>
      <p:sp>
        <p:nvSpPr>
          <p:cNvPr id="5" name="Rectangle 4"/>
          <p:cNvSpPr/>
          <p:nvPr/>
        </p:nvSpPr>
        <p:spPr>
          <a:xfrm>
            <a:off x="704088" y="155294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2726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7" name="TextBox 6"/>
          <p:cNvSpPr txBox="1"/>
          <p:nvPr/>
        </p:nvSpPr>
        <p:spPr>
          <a:xfrm>
            <a:off x="704088" y="2293951"/>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4 подробных разбора</a:t>
            </a:r>
          </a:p>
        </p:txBody>
      </p:sp>
      <p:sp>
        <p:nvSpPr>
          <p:cNvPr id="8" name="TextBox 7"/>
          <p:cNvSpPr txBox="1"/>
          <p:nvPr/>
        </p:nvSpPr>
        <p:spPr>
          <a:xfrm>
            <a:off x="704088" y="2760634"/>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Замер взгляда радиолога · 2. Одна подсказка с двумя знаками · 3. Измеренная тройка · 4. Контрольная линия</a:t>
            </a:r>
          </a:p>
        </p:txBody>
      </p:sp>
      <p:sp>
        <p:nvSpPr>
          <p:cNvPr id="9" name="TextBox 8"/>
          <p:cNvSpPr txBox="1"/>
          <p:nvPr/>
        </p:nvSpPr>
        <p:spPr>
          <a:xfrm>
            <a:off x="704088" y="352940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врача у одного экрана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ставят диагноз: один случай и сужение списка</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Ход работы</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собрать данные</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выписать объясняющие болезни</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назначить различающее</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вычеркнуть опровергнутое</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список сужается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Женщина тридцати четырёх лет, три недели кашля, вечерами температура, потеряла четыре килограмма за полтора месяца — без диеты и без смены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 списке</a:t>
            </a:r>
            <a:r>
              <a:rPr sz="1500" b="0" i="0">
                <a:solidFill>
                  <a:srgbClr val="21295C"/>
                </a:solidFill>
                <a:latin typeface="Arial"/>
              </a:rPr>
              <a:t> — затяжной бронхит, туберкулёз, лимфома, аутоиммунное поражение лёгких.</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различают</a:t>
            </a:r>
            <a:r>
              <a:rPr sz="1500" b="0" i="0">
                <a:solidFill>
                  <a:srgbClr val="21295C"/>
                </a:solidFill>
                <a:latin typeface="Arial"/>
              </a:rPr>
              <a:t> — снимок грудной клетки и анализ крови.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вычеркнули</a:t>
            </a:r>
            <a:r>
              <a:rPr sz="1500" b="0" i="0">
                <a:solidFill>
                  <a:srgbClr val="21295C"/>
                </a:solidFill>
                <a:latin typeface="Arial"/>
              </a:rPr>
              <a:t> — бронхит: на снимке изменения в верхней доле. И аутоиммунное: анализ спокоен.</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осталось</a:t>
            </a:r>
            <a:r>
              <a:rPr sz="1500" b="0" i="0">
                <a:solidFill>
                  <a:srgbClr val="21295C"/>
                </a:solidFill>
                <a:latin typeface="Arial"/>
              </a:rPr>
              <a:t> — два, и между ними решает исследование мокроты, которое идёт три недели.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Решение не принимается, пока список не сузился. Ошибка здесь — </a:t>
            </a:r>
            <a:r>
              <a:rPr sz="1500" b="1" i="0">
                <a:solidFill>
                  <a:srgbClr val="21295C"/>
                </a:solidFill>
                <a:latin typeface="Arial"/>
              </a:rPr>
              <a:t>не вписать в список то, что должно было там быть</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Подсказка модели входит в самое начало — туда, где список только составляется.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Типовой случай, собранный по учебному материалу, не история конкретного пациента.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ЭТО</a:t>
            </a:r>
          </a:p>
        </p:txBody>
      </p:sp>
      <p:sp>
        <p:nvSpPr>
          <p:cNvPr id="6" name="TextBox 5"/>
          <p:cNvSpPr txBox="1"/>
          <p:nvPr/>
        </p:nvSpPr>
        <p:spPr>
          <a:xfrm>
            <a:off x="640080" y="1690796"/>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ЗАЧЕМ</a:t>
            </a:r>
          </a:p>
        </p:txBody>
      </p:sp>
      <p:sp>
        <p:nvSpPr>
          <p:cNvPr id="9" name="TextBox 8"/>
          <p:cNvSpPr txBox="1"/>
          <p:nvPr/>
        </p:nvSpPr>
        <p:spPr>
          <a:xfrm>
            <a:off x="3477691"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ПРЕДПОЛАГАЕТ</a:t>
            </a:r>
          </a:p>
        </p:txBody>
      </p:sp>
      <p:sp>
        <p:nvSpPr>
          <p:cNvPr id="12" name="TextBox 11"/>
          <p:cNvSpPr txBox="1"/>
          <p:nvPr/>
        </p:nvSpPr>
        <p:spPr>
          <a:xfrm>
            <a:off x="6315303" y="1690796"/>
            <a:ext cx="2398699" cy="715572"/>
          </a:xfrm>
          <a:prstGeom prst="rect">
            <a:avLst/>
          </a:prstGeom>
          <a:noFill/>
        </p:spPr>
        <p:txBody>
          <a:bodyPr wrap="square" lIns="0" rIns="0" tIns="0" bIns="0" anchor="t">
            <a:spAutoFit/>
          </a:bodyPr>
          <a:lstStyle/>
          <a:p>
            <a:pPr algn="l">
              <a:lnSpc>
                <a:spcPct val="108000"/>
              </a:lnSpc>
            </a:pPr>
            <a:r>
              <a:rPr sz="10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208505"/>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РАЗБИРАЮТ РАЗНОГЛАСИЕ</a:t>
            </a:r>
          </a:p>
        </p:txBody>
      </p:sp>
      <p:sp>
        <p:nvSpPr>
          <p:cNvPr id="15" name="TextBox 14"/>
          <p:cNvSpPr txBox="1"/>
          <p:nvPr/>
        </p:nvSpPr>
        <p:spPr>
          <a:xfrm>
            <a:off x="9152915" y="169079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781273"/>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Два чтения</a:t>
            </a:r>
          </a:p>
        </p:txBody>
      </p:sp>
      <p:sp>
        <p:nvSpPr>
          <p:cNvPr id="17" name="Rounded Rectangle 16"/>
          <p:cNvSpPr/>
          <p:nvPr/>
        </p:nvSpPr>
        <p:spPr>
          <a:xfrm>
            <a:off x="1920240"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первое чтение</a:t>
            </a:r>
          </a:p>
        </p:txBody>
      </p:sp>
      <p:sp>
        <p:nvSpPr>
          <p:cNvPr id="19" name="Right Arrow 18"/>
          <p:cNvSpPr/>
          <p:nvPr/>
        </p:nvSpPr>
        <p:spPr>
          <a:xfrm>
            <a:off x="5039258"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перегородка</a:t>
            </a:r>
          </a:p>
        </p:txBody>
      </p:sp>
      <p:sp>
        <p:nvSpPr>
          <p:cNvPr id="22" name="Right Arrow 21"/>
          <p:cNvSpPr/>
          <p:nvPr/>
        </p:nvSpPr>
        <p:spPr>
          <a:xfrm>
            <a:off x="8386876"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второе чтение</a:t>
            </a:r>
          </a:p>
        </p:txBody>
      </p:sp>
      <p:sp>
        <p:nvSpPr>
          <p:cNvPr id="25" name="TextBox 24"/>
          <p:cNvSpPr txBox="1"/>
          <p:nvPr/>
        </p:nvSpPr>
        <p:spPr>
          <a:xfrm>
            <a:off x="502920" y="3384777"/>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Если не совпали</a:t>
            </a:r>
          </a:p>
        </p:txBody>
      </p:sp>
      <p:sp>
        <p:nvSpPr>
          <p:cNvPr id="26" name="Rounded Rectangle 25"/>
          <p:cNvSpPr/>
          <p:nvPr/>
        </p:nvSpPr>
        <p:spPr>
          <a:xfrm>
            <a:off x="1920240"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расхождение</a:t>
            </a:r>
          </a:p>
        </p:txBody>
      </p:sp>
      <p:sp>
        <p:nvSpPr>
          <p:cNvPr id="28" name="Right Arrow 27"/>
          <p:cNvSpPr/>
          <p:nvPr/>
        </p:nvSpPr>
        <p:spPr>
          <a:xfrm>
            <a:off x="5039258"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третий читатель</a:t>
            </a:r>
          </a:p>
        </p:txBody>
      </p:sp>
      <p:sp>
        <p:nvSpPr>
          <p:cNvPr id="31" name="Right Arrow 30"/>
          <p:cNvSpPr/>
          <p:nvPr/>
        </p:nvSpPr>
        <p:spPr>
          <a:xfrm>
            <a:off x="8386876"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a:t>
            </a:r>
          </a:p>
        </p:txBody>
      </p:sp>
      <p:sp>
        <p:nvSpPr>
          <p:cNvPr id="34" name="TextBox 33"/>
          <p:cNvSpPr txBox="1"/>
          <p:nvPr/>
        </p:nvSpPr>
        <p:spPr>
          <a:xfrm>
            <a:off x="502920" y="393341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второго мнения</a:t>
            </a:r>
          </a:p>
        </p:txBody>
      </p:sp>
      <p:sp>
        <p:nvSpPr>
          <p:cNvPr id="35" name="Rounded Rectangle 34"/>
          <p:cNvSpPr/>
          <p:nvPr/>
        </p:nvSpPr>
        <p:spPr>
          <a:xfrm>
            <a:off x="374904" y="4246271"/>
            <a:ext cx="11441887" cy="1989936"/>
          </a:xfrm>
          <a:prstGeom prst="roundRect">
            <a:avLst>
              <a:gd name="adj" fmla="val 153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337711"/>
            <a:ext cx="11112703" cy="18984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a:p>
            <a:pPr algn="l">
              <a:lnSpc>
                <a:spcPct val="126000"/>
              </a:lnSpc>
              <a:spcBef>
                <a:spcPts val="700"/>
              </a:spcBef>
            </a:pPr>
            <a:r>
              <a:rPr sz="1200" b="0" i="0">
                <a:solidFill>
                  <a:srgbClr val="21295C"/>
                </a:solidFill>
                <a:latin typeface="Arial"/>
              </a:rPr>
              <a:t/>
            </a:r>
            <a:r>
              <a:rPr sz="1200" b="0" i="1">
                <a:solidFill>
                  <a:srgbClr val="1C7293"/>
                </a:solidFill>
                <a:latin typeface="Arial"/>
              </a:rPr>
              <a:t>На это устройство опирается ещё три раздела вечера.</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ПЕРВЫМ</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ВТОРЫМ</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ТОЛЬКО СПОРНОЕ</a:t>
            </a:r>
          </a:p>
        </p:txBody>
      </p:sp>
      <p:sp>
        <p:nvSpPr>
          <p:cNvPr id="12" name="TextBox 11"/>
          <p:cNvSpPr txBox="1"/>
          <p:nvPr/>
        </p:nvSpPr>
        <p:spPr>
          <a:xfrm>
            <a:off x="6315303"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793197"/>
          </a:xfrm>
          <a:prstGeom prst="roundRect">
            <a:avLst>
              <a:gd name="adj" fmla="val 169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ПОДПИСЫВАЕТ НЕ ГЛЯДЯ</a:t>
            </a:r>
          </a:p>
        </p:txBody>
      </p:sp>
      <p:sp>
        <p:nvSpPr>
          <p:cNvPr id="15" name="TextBox 14"/>
          <p:cNvSpPr txBox="1"/>
          <p:nvPr/>
        </p:nvSpPr>
        <p:spPr>
          <a:xfrm>
            <a:off x="9152915" y="1690796"/>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видит только текст: медиана проверки подсказки — 1,99 секунды</a:t>
            </a:r>
          </a:p>
        </p:txBody>
      </p:sp>
      <p:sp>
        <p:nvSpPr>
          <p:cNvPr id="16" name="TextBox 15"/>
          <p:cNvSpPr txBox="1"/>
          <p:nvPr/>
        </p:nvSpPr>
        <p:spPr>
          <a:xfrm>
            <a:off x="9152915" y="206687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над подсказкой ДО решения её принять; вторая медиана той же работы — 6,48 секунды с поправкой на проверку после принятия, и путать их нельзя</a:t>
            </a:r>
          </a:p>
        </p:txBody>
      </p:sp>
      <p:sp>
        <p:nvSpPr>
          <p:cNvPr id="17" name="Rounded Rectangle 16"/>
          <p:cNvSpPr/>
          <p:nvPr/>
        </p:nvSpPr>
        <p:spPr>
          <a:xfrm>
            <a:off x="374904" y="3219661"/>
            <a:ext cx="11441887" cy="3016546"/>
          </a:xfrm>
          <a:prstGeom prst="roundRect">
            <a:avLst>
              <a:gd name="adj" fmla="val 101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311101"/>
            <a:ext cx="11112703" cy="29251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500" b="0" i="0">
                <a:solidFill>
                  <a:srgbClr val="21295C"/>
                </a:solidFill>
                <a:latin typeface="Arial"/>
              </a:rPr>
              <a:t/>
            </a:r>
            <a:r>
              <a:rPr sz="1500" b="0" i="0">
                <a:solidFill>
                  <a:srgbClr val="21295C"/>
                </a:solidFill>
                <a:latin typeface="Arial"/>
              </a:rPr>
              <a:t>Медиана проверки подсказки измерена </a:t>
            </a:r>
            <a:r>
              <a:rPr sz="1500" b="1" i="0">
                <a:solidFill>
                  <a:srgbClr val="21295C"/>
                </a:solidFill>
                <a:latin typeface="Arial"/>
              </a:rPr>
              <a:t>в лабораторном опыте на разработчиках, не в клинике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у врачей, </a:t>
            </a:r>
            <a:r>
              <a:rPr sz="1500" b="1" i="0">
                <a:solidFill>
                  <a:srgbClr val="21295C"/>
                </a:solidFill>
                <a:latin typeface="Arial"/>
              </a:rPr>
              <a:t>которых специально обучали работе с ИИ</a:t>
            </a:r>
            <a:r>
              <a:rPr sz="1500" b="0" i="0">
                <a:solidFill>
                  <a:srgbClr val="21295C"/>
                </a:solidFill>
                <a:latin typeface="Arial"/>
              </a:rPr>
              <a:t>, точность рассуждения при верных рекомендациях — </a:t>
            </a:r>
            <a:r>
              <a:rPr sz="1500" b="1" i="0">
                <a:solidFill>
                  <a:srgbClr val="21295C"/>
                </a:solidFill>
                <a:latin typeface="Arial"/>
              </a:rPr>
              <a:t>84,9 из ста</a:t>
            </a:r>
            <a:r>
              <a:rPr sz="1500" b="0" i="0">
                <a:solidFill>
                  <a:srgbClr val="21295C"/>
                </a:solidFill>
                <a:latin typeface="Arial"/>
              </a:rPr>
              <a:t>, а когда часть рекомендаций намеренно неверна — </a:t>
            </a:r>
            <a:r>
              <a:rPr sz="1500" b="1" i="0">
                <a:solidFill>
                  <a:srgbClr val="21295C"/>
                </a:solidFill>
                <a:latin typeface="Arial"/>
              </a:rPr>
              <a:t>73,3 из ста</a:t>
            </a:r>
            <a:r>
              <a:rPr sz="1500" b="0" i="0">
                <a:solidFill>
                  <a:srgbClr val="21295C"/>
                </a:solidFill>
                <a:latin typeface="Arial"/>
              </a:rPr>
              <a:t>; поправленная разница — 14,0 пункта. Рандомизированное испытание, 44 врача, 264 случая, двадцатичасовой курс работы с ИИ за спиной у каждого.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Обучение работе с инструментом </a:t>
            </a:r>
            <a:r>
              <a:rPr sz="1500" b="1" i="0">
                <a:solidFill>
                  <a:srgbClr val="21295C"/>
                </a:solidFill>
                <a:latin typeface="Arial"/>
              </a:rPr>
              <a:t>не передвигает человека на ступень выше</a:t>
            </a:r>
            <a:r>
              <a:rPr sz="1500" b="0" i="0">
                <a:solidFill>
                  <a:srgbClr val="21295C"/>
                </a:solidFill>
                <a:latin typeface="Arial"/>
              </a:rPr>
              <a:t> — замерено ровно на тех, кого обучали.</a:t>
            </a:r>
          </a:p>
          <a:p>
            <a:pPr algn="l">
              <a:lnSpc>
                <a:spcPct val="126000"/>
              </a:lnSpc>
              <a:spcBef>
                <a:spcPts val="700"/>
              </a:spcBef>
            </a:pPr>
            <a:r>
              <a:rPr sz="1200" b="0" i="0">
                <a:solidFill>
                  <a:srgbClr val="21295C"/>
                </a:solidFill>
                <a:latin typeface="Arial"/>
              </a:rPr>
              <a:t/>
            </a:r>
            <a:r>
              <a:rPr sz="1200" b="0" i="1">
                <a:solidFill>
                  <a:srgbClr val="1C7293"/>
                </a:solidFill>
                <a:latin typeface="Arial"/>
              </a:rPr>
              <a:t>Шкала не ранжирует ступени по качеству: на каждой есть и выигрыш, и своя слепота.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Qazi S. и соавт., NEJM AI, DOI 10.1056/AIoa2501001 — рандомизированное испытание, 44 врача, 264 случая</a:t>
            </a:r>
            <a:r>
              <a:rPr sz="1100" b="0" i="1">
                <a:solidFill>
                  <a:srgbClr val="1C7293"/>
                </a:solidFill>
                <a:latin typeface="Arial"/>
              </a:rPr>
              <a:t> · </a:t>
            </a:r>
            <a:r>
              <a:rPr sz="1100" b="0" i="1">
                <a:solidFill>
                  <a:srgbClr val="1C7293"/>
                </a:solidFill>
                <a:latin typeface="Arial"/>
              </a:rPr>
              <a:t>Mozannar H. и соавт., Reading Between the Lines, CHI 2024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когда подсказку читает человек</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ВЫБОРА ПРЕПАРАТА: БЕЗ МОДЕЛИ → ПРИ НЕВЕРНОЙ РЕКОМЕНДАЦИИ С УПРОЩЁННЫМ ОБЪЯСНЕНИЕМ</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35,7 → 26,2 из ста</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шкала, те же задачи, те же клиницисты; точность самой подсказки здесь задана имитацией — настоящей модели в опыте не было</a:t>
            </a:r>
          </a:p>
        </p:txBody>
      </p:sp>
      <p:sp>
        <p:nvSpPr>
          <p:cNvPr id="8" name="Rounded Rectangle 7"/>
          <p:cNvSpPr/>
          <p:nvPr/>
        </p:nvSpPr>
        <p:spPr>
          <a:xfrm>
            <a:off x="502920" y="2622673"/>
            <a:ext cx="5437479" cy="2220994"/>
          </a:xfrm>
          <a:prstGeom prst="roundRect">
            <a:avLst>
              <a:gd name="adj" fmla="val 137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0" name="TextBox 9"/>
          <p:cNvSpPr txBox="1"/>
          <p:nvPr/>
        </p:nvSpPr>
        <p:spPr>
          <a:xfrm>
            <a:off x="667512"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Второй взгляд на поток, который человеку не прочесть целиком</a:t>
            </a:r>
          </a:p>
          <a:p>
            <a:pPr algn="l">
              <a:lnSpc>
                <a:spcPct val="126000"/>
              </a:lnSpc>
            </a:pPr>
            <a:r>
              <a:rPr sz="1300" b="0" i="0">
                <a:solidFill>
                  <a:srgbClr val="21295C"/>
                </a:solidFill>
                <a:latin typeface="Arial"/>
              </a:rPr>
              <a:t>• Напоминание о редком диагнозе, выпадающем из списка гипотез</a:t>
            </a:r>
          </a:p>
          <a:p>
            <a:pPr algn="l">
              <a:lnSpc>
                <a:spcPct val="126000"/>
              </a:lnSpc>
            </a:pPr>
            <a:r>
              <a:rPr sz="1300" b="0" i="0">
                <a:solidFill>
                  <a:srgbClr val="21295C"/>
                </a:solidFill>
                <a:latin typeface="Arial"/>
              </a:rPr>
              <a:t>• Сортировка, после которой специалист смотрит не всё подряд</a:t>
            </a:r>
          </a:p>
        </p:txBody>
      </p:sp>
      <p:sp>
        <p:nvSpPr>
          <p:cNvPr id="11" name="Rounded Rectangle 10"/>
          <p:cNvSpPr/>
          <p:nvPr/>
        </p:nvSpPr>
        <p:spPr>
          <a:xfrm>
            <a:off x="6251295" y="2622673"/>
            <a:ext cx="5437479" cy="2220994"/>
          </a:xfrm>
          <a:prstGeom prst="roundRect">
            <a:avLst>
              <a:gd name="adj" fmla="val 1372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13" name="TextBox 12"/>
          <p:cNvSpPr txBox="1"/>
          <p:nvPr/>
        </p:nvSpPr>
        <p:spPr>
          <a:xfrm>
            <a:off x="6415887"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Независимость — подсказка видна до собственного вывода</a:t>
            </a:r>
          </a:p>
          <a:p>
            <a:pPr algn="l">
              <a:lnSpc>
                <a:spcPct val="126000"/>
              </a:lnSpc>
            </a:pPr>
            <a:r>
              <a:rPr sz="1300" b="0" i="0">
                <a:solidFill>
                  <a:srgbClr val="21295C"/>
                </a:solidFill>
                <a:latin typeface="Arial"/>
              </a:rPr>
              <a:t>• Избирательность — без отдельной подготовки человек не умеет не поверить именно там, где модель ошиблась</a:t>
            </a:r>
          </a:p>
          <a:p>
            <a:pPr algn="l">
              <a:lnSpc>
                <a:spcPct val="126000"/>
              </a:lnSpc>
            </a:pPr>
            <a:r>
              <a:rPr sz="1300" b="0" i="0">
                <a:solidFill>
                  <a:srgbClr val="21295C"/>
                </a:solidFill>
                <a:latin typeface="Arial"/>
              </a:rPr>
              <a:t>• Объяснимость — упрощённое объяснение неверной рекомендации уронило точность выбора препарата ниже базовой</a:t>
            </a:r>
          </a:p>
        </p:txBody>
      </p:sp>
      <p:sp>
        <p:nvSpPr>
          <p:cNvPr id="14" name="Rounded Rectangle 13"/>
          <p:cNvSpPr/>
          <p:nvPr/>
        </p:nvSpPr>
        <p:spPr>
          <a:xfrm>
            <a:off x="374904" y="4935108"/>
            <a:ext cx="11441887" cy="1301099"/>
          </a:xfrm>
          <a:prstGeom prst="roundRect">
            <a:avLst>
              <a:gd name="adj" fmla="val 234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5026548"/>
            <a:ext cx="11112703" cy="120965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Объяснение покупает согласие, а не качество. Упрощённое объяснение создаёт ясность, не связанную с правильностью, и человеку труднее возразить тому, что он понял.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Объяснимость — требование к интерфейсу с измеренной ценой, а не безусловное улучшение.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Лабораторный опыт в сети, не решения о живых пациентах.</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Jacobs M., Pradier M., McCoy T., Perlis R., Doshi-Velez F., Gajos K., How machine-learning recommendations influence clinician treatment selections: the example of the antidepressant selection, Translational Psychiatry 2021, DOI 10.1038/s41398-021-01224-x — внутригрупповой факторный опыт на виньетках, 220 врачей</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Правило, а не случай: что в среднем даёт пара человека и модели</a:t>
            </a:r>
          </a:p>
        </p:txBody>
      </p:sp>
      <p:sp>
        <p:nvSpPr>
          <p:cNvPr id="4" name="Rounded Rectangle 3"/>
          <p:cNvSpPr/>
          <p:nvPr/>
        </p:nvSpPr>
        <p:spPr>
          <a:xfrm>
            <a:off x="502920"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СИЛЬНЕЕ ЧЕЛОВЕКА: ПАРА ХУЖЕ МОДЕЛИ</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размер эффекта в долях разброса; интервал от −0,71 до −0,37 — целиком ниже нуля</a:t>
            </a:r>
          </a:p>
        </p:txBody>
      </p:sp>
      <p:sp>
        <p:nvSpPr>
          <p:cNvPr id="8" name="Rounded Rectangle 7"/>
          <p:cNvSpPr/>
          <p:nvPr/>
        </p:nvSpPr>
        <p:spPr>
          <a:xfrm>
            <a:off x="4286402" y="1335024"/>
            <a:ext cx="3618890" cy="1796969"/>
          </a:xfrm>
          <a:prstGeom prst="roundRect">
            <a:avLst>
              <a:gd name="adj" fmla="val 1696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интервал от 0,28 до 0,66 — целиком выше нуля; знак задаёт то, какая сторона сильнее на задаче</a:t>
            </a:r>
          </a:p>
        </p:txBody>
      </p:sp>
      <p:sp>
        <p:nvSpPr>
          <p:cNvPr id="12" name="Rounded Rectangle 11"/>
          <p:cNvSpPr/>
          <p:nvPr/>
        </p:nvSpPr>
        <p:spPr>
          <a:xfrm>
            <a:off x="8069884"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a:t>
            </a:r>
          </a:p>
        </p:txBody>
      </p:sp>
      <p:sp>
        <p:nvSpPr>
          <p:cNvPr id="14" name="TextBox 13"/>
          <p:cNvSpPr txBox="1"/>
          <p:nvPr/>
        </p:nvSpPr>
        <p:spPr>
          <a:xfrm>
            <a:off x="8207044" y="169079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403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5 126 просмотренных работ; брали только опыты, где измерены все три величины — человек один, модель одна, пара</a:t>
            </a:r>
          </a:p>
        </p:txBody>
      </p:sp>
      <p:sp>
        <p:nvSpPr>
          <p:cNvPr id="16" name="Rounded Rectangle 15"/>
          <p:cNvSpPr/>
          <p:nvPr/>
        </p:nvSpPr>
        <p:spPr>
          <a:xfrm>
            <a:off x="374904" y="3223433"/>
            <a:ext cx="11441887" cy="3012774"/>
          </a:xfrm>
          <a:prstGeom prst="roundRect">
            <a:avLst>
              <a:gd name="adj" fmla="val 101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14873"/>
            <a:ext cx="11112703" cy="29213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Зал видел разрыв на одном испытании — вот то же самое, собранное по сотне опытов.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«Помогает ли ИИ» — вопрос не к инструменту, а к тому,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Агрегат замеров, а не внедрённый процесс: он не про исходы пациентов и собран по опытам разной природы. Правило не привязано к модальности.</a:t>
            </a:r>
          </a:p>
        </p:txBody>
      </p:sp>
      <p:sp>
        <p:nvSpPr>
          <p:cNvPr id="18" name="Rectangle 17"/>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Vaccaro M., Almaatouq A., Malone T., When combinations of humans and AI are useful: a systematic review and meta-analysis, Nature Human Behaviour 2024;8:2293–2303, DOI 10.1038/s41562-024-02024-1; открытый препринт той же версии — arXiv:2405.06087v2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Замер взгляда радиолога</a:t>
            </a:r>
          </a:p>
        </p:txBody>
      </p:sp>
      <p:sp>
        <p:nvSpPr>
          <p:cNvPr id="4" name="Rounded Rectangle 3"/>
          <p:cNvSpPr/>
          <p:nvPr/>
        </p:nvSpPr>
        <p:spPr>
          <a:xfrm>
            <a:off x="502920" y="1335024"/>
            <a:ext cx="5510631" cy="1647338"/>
          </a:xfrm>
          <a:prstGeom prst="roundRect">
            <a:avLst>
              <a:gd name="adj" fmla="val 185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ТОГО ЖЕ ЧИТАТЕЛЯ: БЕЗ ПОДСКАЗКИ → ПРИ ЛОЖНООТРИЦАТЕЛЬНОЙ ПОДСКАЗКЕ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290688"/>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по десяти читателям; падение 32 пункта, значимое. Та же половина работы с ложноположительной подсказкой дала читателю 18 пунктов специфичности — с 21 до 39 из ста</a:t>
            </a:r>
          </a:p>
        </p:txBody>
      </p:sp>
      <p:sp>
        <p:nvSpPr>
          <p:cNvPr id="8" name="Rounded Rectangle 7"/>
          <p:cNvSpPr/>
          <p:nvPr/>
        </p:nvSpPr>
        <p:spPr>
          <a:xfrm>
            <a:off x="6178143" y="1335024"/>
            <a:ext cx="5510631" cy="1647338"/>
          </a:xfrm>
          <a:prstGeom prst="roundRect">
            <a:avLst>
              <a:gd name="adj" fmla="val 185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СТУПЕНЬ</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3073802"/>
            <a:ext cx="11441887" cy="3162405"/>
          </a:xfrm>
          <a:prstGeom prst="roundRect">
            <a:avLst>
              <a:gd name="adj" fmla="val 96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Правило мы увидели. Теперь — что происходит, когда подсказка неверна, и с какой величиной.</a:t>
            </a:r>
          </a:p>
          <a:p>
            <a:pPr algn="l">
              <a:lnSpc>
                <a:spcPct val="126000"/>
              </a:lnSpc>
              <a:spcBef>
                <a:spcPts val="700"/>
              </a:spcBef>
            </a:pPr>
            <a:r>
              <a:rPr sz="1440" b="0" i="0">
                <a:solidFill>
                  <a:srgbClr val="21295C"/>
                </a:solidFill>
                <a:latin typeface="Arial"/>
              </a:rPr>
              <a:t/>
            </a:r>
            <a:r>
              <a:rPr sz="1440" b="1" i="0">
                <a:solidFill>
                  <a:srgbClr val="21295C"/>
                </a:solidFill>
                <a:latin typeface="Arial"/>
              </a:rPr>
              <a:t>Цена обеих ошибок, до всякой точности.</a:t>
            </a:r>
            <a:r>
              <a:rPr sz="1440" b="0" i="0">
                <a:solidFill>
                  <a:srgbClr val="21295C"/>
                </a:solidFill>
                <a:latin typeface="Arial"/>
              </a:rPr>
              <a:t> Пропущенный рак на маммограмме — лечение позже и хуже. Ложный вызов — повторные исследования, биопсия и месяцы тревоги.</a:t>
            </a:r>
          </a:p>
          <a:p>
            <a:pPr algn="l">
              <a:lnSpc>
                <a:spcPct val="126000"/>
              </a:lnSpc>
              <a:spcBef>
                <a:spcPts val="700"/>
              </a:spcBef>
            </a:pPr>
            <a:r>
              <a:rPr sz="1440" b="0" i="0">
                <a:solidFill>
                  <a:srgbClr val="21295C"/>
                </a:solidFill>
                <a:latin typeface="Arial"/>
              </a:rPr>
              <a:t/>
            </a:r>
            <a:r>
              <a:rPr sz="1440" b="1" i="0">
                <a:solidFill>
                  <a:srgbClr val="21295C"/>
                </a:solidFill>
                <a:latin typeface="Arial"/>
              </a:rPr>
              <a:t>Оба классических режима.</a:t>
            </a:r>
            <a:r>
              <a:rPr sz="1440" b="0" i="0">
                <a:solidFill>
                  <a:srgbClr val="21295C"/>
                </a:solidFill>
                <a:latin typeface="Arial"/>
              </a:rPr>
              <a:t> Чтение той же маммограммы без подсказки — база сравнения. Второе человеческое чтение — режим, которым эта программа и держится.</a:t>
            </a:r>
          </a:p>
          <a:p>
            <a:pPr algn="l">
              <a:lnSpc>
                <a:spcPct val="126000"/>
              </a:lnSpc>
              <a:spcBef>
                <a:spcPts val="700"/>
              </a:spcBef>
            </a:pPr>
            <a:r>
              <a:rPr sz="1440" b="0" i="0">
                <a:solidFill>
                  <a:srgbClr val="21295C"/>
                </a:solidFill>
                <a:latin typeface="Arial"/>
              </a:rPr>
              <a:t/>
            </a:r>
            <a:r>
              <a:rPr sz="1440" b="1" i="0">
                <a:solidFill>
                  <a:srgbClr val="21295C"/>
                </a:solidFill>
                <a:latin typeface="Arial"/>
              </a:rPr>
              <a:t>Модель против них.</a:t>
            </a:r>
            <a:r>
              <a:rPr sz="1440" b="0" i="0">
                <a:solidFill>
                  <a:srgbClr val="21295C"/>
                </a:solidFill>
                <a:latin typeface="Arial"/>
              </a:rPr>
              <a:t> Одни и те же случаи, одни и те же читатели, разница только в наличии подсказки.</a:t>
            </a:r>
          </a:p>
          <a:p>
            <a:pPr algn="l">
              <a:lnSpc>
                <a:spcPct val="126000"/>
              </a:lnSpc>
              <a:spcBef>
                <a:spcPts val="700"/>
              </a:spcBef>
            </a:pPr>
            <a:r>
              <a:rPr sz="1150" b="0" i="0">
                <a:solidFill>
                  <a:srgbClr val="21295C"/>
                </a:solidFill>
                <a:latin typeface="Arial"/>
              </a:rPr>
              <a:t/>
            </a:r>
            <a:r>
              <a:rPr sz="1150" b="0" i="1">
                <a:solidFill>
                  <a:srgbClr val="1C7293"/>
                </a:solidFill>
                <a:latin typeface="Arial"/>
              </a:rPr>
              <a:t>Десять читателей национальной программы скрининга, 60 случаев, каждый прочитан дважды с перерывом в шесть недель; набор нарочно наполнен ошибками системы в обе стороны. Сильное по механизму, среднее по выборке читателей, повторения по величине падения нет.</a:t>
            </a:r>
          </a:p>
          <a:p>
            <a:pPr algn="l">
              <a:lnSpc>
                <a:spcPct val="126000"/>
              </a:lnSpc>
              <a:spcBef>
                <a:spcPts val="700"/>
              </a:spcBef>
            </a:pPr>
            <a:r>
              <a:rPr sz="1440" b="0" i="0">
                <a:solidFill>
                  <a:srgbClr val="21295C"/>
                </a:solidFill>
                <a:latin typeface="Arial"/>
              </a:rPr>
              <a:t/>
            </a:r>
            <a:r>
              <a:rPr sz="1440" b="0" i="0">
                <a:solidFill>
                  <a:srgbClr val="21295C"/>
                </a:solidFill>
                <a:latin typeface="Arial"/>
              </a:rPr>
              <a:t>Чем это делают сегодня: </a:t>
            </a:r>
            <a:r>
              <a:rPr sz="1440" b="0" i="1">
                <a:solidFill>
                  <a:srgbClr val="21295C"/>
                </a:solidFill>
                <a:latin typeface="Arial"/>
              </a:rPr>
              <a:t>распознавание на изображении</a:t>
            </a:r>
            <a:r>
              <a:rPr sz="1440" b="0" i="0">
                <a:solidFill>
                  <a:srgbClr val="21295C"/>
                </a:solidFill>
                <a:latin typeface="Arial"/>
              </a:rPr>
              <a:t> — чтение маммограммы моделью как второй читатель или как сортировка потока. Принимает это организатор национальной или региональной программы скрининга, а не отдельная больница. Не умеет удержать читателя от сужения поиска.</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измеренный механизм и что переехало</a:t>
            </a:r>
          </a:p>
        </p:txBody>
      </p:sp>
      <p:sp>
        <p:nvSpPr>
          <p:cNvPr id="4" name="Rounded Rectangle 3"/>
          <p:cNvSpPr/>
          <p:nvPr/>
        </p:nvSpPr>
        <p:spPr>
          <a:xfrm>
            <a:off x="502920" y="1335024"/>
            <a:ext cx="2673019" cy="2398636"/>
          </a:xfrm>
          <a:prstGeom prst="roundRect">
            <a:avLst>
              <a:gd name="adj" fmla="val 1270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ЗАДЕРЖКА ВЗГЛЯДА НА ПОРАЖЕНИЯХ, ПРОПУЩЕННЫХ МОДЕЛЬЮ: БЕЗ ПОДСКАЗКИ → С ПОДСКАЗКОЙ</a:t>
            </a:r>
          </a:p>
        </p:txBody>
      </p:sp>
      <p:sp>
        <p:nvSpPr>
          <p:cNvPr id="6" name="TextBox 5"/>
          <p:cNvSpPr txBox="1"/>
          <p:nvPr/>
        </p:nvSpPr>
        <p:spPr>
          <a:xfrm>
            <a:off x="640080" y="2209474"/>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285714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два числа различаются в третьем знаке, поэтому называются порознь и по ярлыкам: без подсказки — 0,47, с подсказкой — 0,44</a:t>
            </a:r>
          </a:p>
        </p:txBody>
      </p:sp>
      <p:sp>
        <p:nvSpPr>
          <p:cNvPr id="8" name="Rounded Rectangle 7"/>
          <p:cNvSpPr/>
          <p:nvPr/>
        </p:nvSpPr>
        <p:spPr>
          <a:xfrm>
            <a:off x="3340531"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у профессиональных читателей программы скрининга результат стал хуже, чем без инструмента</a:t>
            </a:r>
          </a:p>
        </p:txBody>
      </p:sp>
      <p:sp>
        <p:nvSpPr>
          <p:cNvPr id="17" name="Rounded Rectangle 16"/>
          <p:cNvSpPr/>
          <p:nvPr/>
        </p:nvSpPr>
        <p:spPr>
          <a:xfrm>
            <a:off x="374904" y="3825100"/>
            <a:ext cx="11441887" cy="2411107"/>
          </a:xfrm>
          <a:prstGeom prst="roundRect">
            <a:avLst>
              <a:gd name="adj" fmla="val 126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16540"/>
            <a:ext cx="11112703" cy="231966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а не предположен: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а не польза: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не мнение, а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Taib A., Partridge G., Phillips P., Chen Y. и соавт., Radiology 2026;320(1):e252590, DOI 10.1148/radiol.252590, PMID 42446361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Тот же замер, обратный знак: подсказка верна, поиск сузился, результат вырос</a:t>
            </a:r>
          </a:p>
        </p:txBody>
      </p:sp>
      <p:sp>
        <p:nvSpPr>
          <p:cNvPr id="4" name="Rounded Rectangle 3"/>
          <p:cNvSpPr/>
          <p:nvPr/>
        </p:nvSpPr>
        <p:spPr>
          <a:xfrm>
            <a:off x="502920" y="1335024"/>
            <a:ext cx="5510631" cy="1462500"/>
          </a:xfrm>
          <a:prstGeom prst="roundRect">
            <a:avLst>
              <a:gd name="adj" fmla="val 2084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площади груди, по которой прошёл взгляд; поиск сузился — и здесь это выигрыш</a:t>
            </a:r>
          </a:p>
        </p:txBody>
      </p:sp>
      <p:sp>
        <p:nvSpPr>
          <p:cNvPr id="8" name="Rounded Rectangle 7"/>
          <p:cNvSpPr/>
          <p:nvPr/>
        </p:nvSpPr>
        <p:spPr>
          <a:xfrm>
            <a:off x="6178143" y="1335024"/>
            <a:ext cx="5510631" cy="1462500"/>
          </a:xfrm>
          <a:prstGeom prst="roundRect">
            <a:avLst>
              <a:gd name="adj" fmla="val 2084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мера различения больного и здорового; чувствительность выросла с 81,7 до 87,2 из ста, но незначимо, а время чтения не изменилось</a:t>
            </a:r>
          </a:p>
        </p:txBody>
      </p:sp>
      <p:sp>
        <p:nvSpPr>
          <p:cNvPr id="12" name="Rounded Rectangle 11"/>
          <p:cNvSpPr/>
          <p:nvPr/>
        </p:nvSpPr>
        <p:spPr>
          <a:xfrm>
            <a:off x="374904" y="2888964"/>
            <a:ext cx="11441887" cy="3347243"/>
          </a:xfrm>
          <a:prstGeom prst="roundRect">
            <a:avLst>
              <a:gd name="adj" fmla="val 91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4" name="Rectangle 1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подсказка с двумя знаками</a:t>
            </a:r>
          </a:p>
        </p:txBody>
      </p:sp>
      <p:sp>
        <p:nvSpPr>
          <p:cNvPr id="4" name="Rounded Rectangle 3"/>
          <p:cNvSpPr/>
          <p:nvPr/>
        </p:nvSpPr>
        <p:spPr>
          <a:xfrm>
            <a:off x="502920"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10355"/>
          </a:xfrm>
          <a:prstGeom prst="roundRect">
            <a:avLst>
              <a:gd name="adj" fmla="val 232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36819"/>
            <a:ext cx="11441887" cy="3499388"/>
          </a:xfrm>
          <a:prstGeom prst="roundRect">
            <a:avLst>
              <a:gd name="adj" fmla="val 87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Подсказка по оцифрованному срезу в патологии. То же — но теперь не на взгляде, а на решении.</a:t>
            </a:r>
          </a:p>
          <a:p>
            <a:pPr algn="l">
              <a:lnSpc>
                <a:spcPct val="126000"/>
              </a:lnSpc>
              <a:spcBef>
                <a:spcPts val="700"/>
              </a:spcBef>
            </a:pPr>
            <a:r>
              <a:rPr sz="1290" b="0" i="0">
                <a:solidFill>
                  <a:srgbClr val="21295C"/>
                </a:solidFill>
                <a:latin typeface="Arial"/>
              </a:rPr>
              <a:t/>
            </a:r>
            <a:r>
              <a:rPr sz="1290" b="1" i="0">
                <a:solidFill>
                  <a:srgbClr val="21295C"/>
                </a:solidFill>
                <a:latin typeface="Arial"/>
              </a:rPr>
              <a:t>Цена обеих ошибок.</a:t>
            </a:r>
            <a:r>
              <a:rPr sz="129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290" b="0" i="0">
                <a:solidFill>
                  <a:srgbClr val="21295C"/>
                </a:solidFill>
                <a:latin typeface="Arial"/>
              </a:rPr>
              <a:t/>
            </a:r>
            <a:r>
              <a:rPr sz="1290" b="1" i="0">
                <a:solidFill>
                  <a:srgbClr val="21295C"/>
                </a:solidFill>
                <a:latin typeface="Arial"/>
              </a:rPr>
              <a:t>Оба классических режима:</a:t>
            </a:r>
            <a:r>
              <a:rPr sz="1290" b="0" i="0">
                <a:solidFill>
                  <a:srgbClr val="21295C"/>
                </a:solidFill>
                <a:latin typeface="Arial"/>
              </a:rPr>
              <a:t> чтение среза одним патологом; второе мнение субспециалиста. Чисел у них на кадре нет — названы, но не посчитаны.</a:t>
            </a:r>
          </a:p>
          <a:p>
            <a:pPr algn="l">
              <a:lnSpc>
                <a:spcPct val="126000"/>
              </a:lnSpc>
              <a:spcBef>
                <a:spcPts val="700"/>
              </a:spcBef>
            </a:pPr>
            <a:r>
              <a:rPr sz="1290" b="0" i="0">
                <a:solidFill>
                  <a:srgbClr val="21295C"/>
                </a:solidFill>
                <a:latin typeface="Arial"/>
              </a:rPr>
              <a:t/>
            </a:r>
            <a:r>
              <a:rPr sz="1290" b="1" i="0">
                <a:solidFill>
                  <a:srgbClr val="21295C"/>
                </a:solidFill>
                <a:latin typeface="Arial"/>
              </a:rPr>
              <a:t>Модель против них.</a:t>
            </a:r>
            <a:r>
              <a:rPr sz="1290" b="0" i="0">
                <a:solidFill>
                  <a:srgbClr val="21295C"/>
                </a:solidFill>
                <a:latin typeface="Arial"/>
              </a:rPr>
              <a:t> Когда модель права, шансы верного ответа растут примерно вчетверо; когда неправа — падают примерно вчетверо. На всех уровнях опыта и на случаях любой сложности одинаково. </a:t>
            </a:r>
            <a:r>
              <a:rPr sz="1290" b="1" i="0">
                <a:solidFill>
                  <a:srgbClr val="21295C"/>
                </a:solidFill>
                <a:latin typeface="Arial"/>
              </a:rPr>
              <a:t>А на группе в целом, без разделения на правоту модели, прибавка незначима</a:t>
            </a:r>
            <a:r>
              <a:rPr sz="1290" b="0" i="0">
                <a:solidFill>
                  <a:srgbClr val="21295C"/>
                </a:solidFill>
                <a:latin typeface="Arial"/>
              </a:rPr>
              <a:t> — отчёт о внедрении с одним числом показал бы «эффекта нет» там, где эффект велик в обе стороны.</a:t>
            </a:r>
          </a:p>
          <a:p>
            <a:pPr algn="l">
              <a:lnSpc>
                <a:spcPct val="126000"/>
              </a:lnSpc>
              <a:spcBef>
                <a:spcPts val="700"/>
              </a:spcBef>
            </a:pPr>
            <a:r>
              <a:rPr sz="1290" b="0" i="0">
                <a:solidFill>
                  <a:srgbClr val="21295C"/>
                </a:solidFill>
                <a:latin typeface="Arial"/>
              </a:rPr>
              <a:t/>
            </a:r>
            <a:r>
              <a:rPr sz="1290" b="1" i="0">
                <a:solidFill>
                  <a:srgbClr val="21295C"/>
                </a:solidFill>
                <a:latin typeface="Arial"/>
              </a:rPr>
              <a:t>Что переехало.</a:t>
            </a:r>
            <a:r>
              <a:rPr sz="1290" b="0" i="0">
                <a:solidFill>
                  <a:srgbClr val="21295C"/>
                </a:solidFill>
                <a:latin typeface="Arial"/>
              </a:rPr>
              <a:t> Сместилась цена ошибки: ошибка модели стала ошибкой врача.</a:t>
            </a:r>
          </a:p>
          <a:p>
            <a:pPr algn="l">
              <a:lnSpc>
                <a:spcPct val="126000"/>
              </a:lnSpc>
              <a:spcBef>
                <a:spcPts val="700"/>
              </a:spcBef>
            </a:pPr>
            <a:r>
              <a:rPr sz="1290" b="0" i="0">
                <a:solidFill>
                  <a:srgbClr val="21295C"/>
                </a:solidFill>
                <a:latin typeface="Arial"/>
              </a:rPr>
              <a:t/>
            </a:r>
            <a:r>
              <a:rPr sz="1290" b="0" i="0">
                <a:solidFill>
                  <a:srgbClr val="21295C"/>
                </a:solidFill>
                <a:latin typeface="Arial"/>
              </a:rPr>
              <a:t>Рядом, другим жанром: по сводке систем поддержки врачебных решений неверная подсказка повышает риск неверного решения на </a:t>
            </a:r>
            <a:r>
              <a:rPr sz="1290" b="1" i="0">
                <a:solidFill>
                  <a:srgbClr val="21295C"/>
                </a:solidFill>
                <a:latin typeface="Arial"/>
              </a:rPr>
              <a:t>26 процентов</a:t>
            </a:r>
            <a:r>
              <a:rPr sz="1290" b="0" i="0">
                <a:solidFill>
                  <a:srgbClr val="21295C"/>
                </a:solidFill>
                <a:latin typeface="Arial"/>
              </a:rPr>
              <a:t>; обзор включил 74 исследования из 13 821 просмотренного. </a:t>
            </a:r>
            <a:r>
              <a:rPr sz="1290" b="0" i="1">
                <a:solidFill>
                  <a:srgbClr val="21295C"/>
                </a:solidFill>
                <a:latin typeface="Arial"/>
              </a:rPr>
              <a:t>В той совокупности много систем на правилах, а не обученных моделей.</a:t>
            </a:r>
          </a:p>
          <a:p>
            <a:pPr algn="l">
              <a:lnSpc>
                <a:spcPct val="126000"/>
              </a:lnSpc>
              <a:spcBef>
                <a:spcPts val="700"/>
              </a:spcBef>
            </a:pPr>
            <a:r>
              <a:rPr sz="1030" b="0" i="0">
                <a:solidFill>
                  <a:srgbClr val="21295C"/>
                </a:solidFill>
                <a:latin typeface="Arial"/>
              </a:rPr>
              <a:t/>
            </a:r>
            <a:r>
              <a:rPr sz="1030" b="0" i="1">
                <a:solidFill>
                  <a:srgbClr val="1C7293"/>
                </a:solidFill>
                <a:latin typeface="Arial"/>
              </a:rPr>
              <a:t>Ступень: смотрит вторым — подсказка выведена одновременно со срезом.</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Kiani A. и соавт., Impact of a deep learning assistant on the histopathologic classification of liver cancer, npj Digital Medicine 2020, PMC7044422 — разбор</a:t>
            </a:r>
            <a:r>
              <a:rPr sz="1100" b="0" i="1">
                <a:solidFill>
                  <a:srgbClr val="1C7293"/>
                </a:solidFill>
                <a:latin typeface="Arial"/>
              </a:rPr>
              <a:t> · </a:t>
            </a:r>
            <a:r>
              <a:rPr sz="1100" b="0" i="1">
                <a:solidFill>
                  <a:srgbClr val="1C7293"/>
                </a:solidFill>
                <a:latin typeface="Arial"/>
              </a:rPr>
              <a:t>Goddard K., Roudsari A., Wyatt J., Automation bias: a systematic review of frequency, effect mediators, and mitigators, JAMIA 2012;19(1):121–127 — обзор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Измеренная тройка</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по тем же задачам — наблюдательное дополнение, равноправной случайной ветвью он не был</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ОДИН, СО СПРАВОЧНИКАМИ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привычные источники: справочники, поиск, собственная память — это база сравнения</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ПОВЕРХ МОДЕЛИ</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разница с предыдущей плашкой — два пункта, и она незначима: интервал от −4 до 8 пунктов</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320" b="0" i="0">
                <a:solidFill>
                  <a:srgbClr val="21295C"/>
                </a:solidFill>
                <a:latin typeface="Arial"/>
              </a:rPr>
              <a:t>Три числа на одних и тех же задачах: модель одна, врач один, врач с моделью. А может, пара всё-таки лучше человека без модели?</a:t>
            </a:r>
          </a:p>
          <a:p>
            <a:pPr algn="l">
              <a:lnSpc>
                <a:spcPct val="126000"/>
              </a:lnSpc>
              <a:spcBef>
                <a:spcPts val="700"/>
              </a:spcBef>
            </a:pPr>
            <a:r>
              <a:rPr sz="1320" b="0" i="0">
                <a:solidFill>
                  <a:srgbClr val="21295C"/>
                </a:solidFill>
                <a:latin typeface="Arial"/>
              </a:rPr>
              <a:t/>
            </a:r>
            <a:r>
              <a:rPr sz="1320" b="1" i="0">
                <a:solidFill>
                  <a:srgbClr val="21295C"/>
                </a:solidFill>
                <a:latin typeface="Arial"/>
              </a:rPr>
              <a:t>Цена обеих ошибок.</a:t>
            </a:r>
            <a:r>
              <a:rPr sz="1320" b="0" i="0">
                <a:solidFill>
                  <a:srgbClr val="21295C"/>
                </a:solidFill>
                <a:latin typeface="Arial"/>
              </a:rPr>
              <a:t> Неверный диагноз — лечение не той болезни и потерянное время. Избыточная проверка — риск самой проверки и отложенное решение.</a:t>
            </a:r>
          </a:p>
          <a:p>
            <a:pPr algn="l">
              <a:lnSpc>
                <a:spcPct val="126000"/>
              </a:lnSpc>
              <a:spcBef>
                <a:spcPts val="700"/>
              </a:spcBef>
            </a:pPr>
            <a:r>
              <a:rPr sz="1320" b="0" i="0">
                <a:solidFill>
                  <a:srgbClr val="21295C"/>
                </a:solidFill>
                <a:latin typeface="Arial"/>
              </a:rPr>
              <a:t/>
            </a:r>
            <a:r>
              <a:rPr sz="1320" b="1" i="0">
                <a:solidFill>
                  <a:srgbClr val="21295C"/>
                </a:solidFill>
                <a:latin typeface="Arial"/>
              </a:rPr>
              <a:t>Классический режим</a:t>
            </a:r>
            <a:r>
              <a:rPr sz="1320" b="0" i="0">
                <a:solidFill>
                  <a:srgbClr val="21295C"/>
                </a:solidFill>
                <a:latin typeface="Arial"/>
              </a:rPr>
              <a:t> — врач с обычными справочниками, и это база сравнения.</a:t>
            </a:r>
          </a:p>
          <a:p>
            <a:pPr algn="l">
              <a:lnSpc>
                <a:spcPct val="126000"/>
              </a:lnSpc>
              <a:spcBef>
                <a:spcPts val="700"/>
              </a:spcBef>
            </a:pPr>
            <a:r>
              <a:rPr sz="1320" b="0" i="0">
                <a:solidFill>
                  <a:srgbClr val="21295C"/>
                </a:solidFill>
                <a:latin typeface="Arial"/>
              </a:rPr>
              <a:t/>
            </a:r>
            <a:r>
              <a:rPr sz="1320" b="0" i="0">
                <a:solidFill>
                  <a:srgbClr val="21295C"/>
                </a:solidFill>
                <a:latin typeface="Arial"/>
              </a:rPr>
              <a:t>Разница между врачом одним и врачом с моделью — два пункта, и она </a:t>
            </a:r>
            <a:r>
              <a:rPr sz="1320" b="1" i="0">
                <a:solidFill>
                  <a:srgbClr val="21295C"/>
                </a:solidFill>
                <a:latin typeface="Arial"/>
              </a:rPr>
              <a:t>незначима</a:t>
            </a:r>
            <a:r>
              <a:rPr sz="1320" b="0" i="0">
                <a:solidFill>
                  <a:srgbClr val="21295C"/>
                </a:solidFill>
                <a:latin typeface="Arial"/>
              </a:rPr>
              <a:t>. Это ноль, измеренный, а не отсутствие данных.</a:t>
            </a:r>
          </a:p>
          <a:p>
            <a:pPr algn="l">
              <a:lnSpc>
                <a:spcPct val="126000"/>
              </a:lnSpc>
              <a:spcBef>
                <a:spcPts val="700"/>
              </a:spcBef>
            </a:pPr>
            <a:r>
              <a:rPr sz="1320" b="0" i="0">
                <a:solidFill>
                  <a:srgbClr val="21295C"/>
                </a:solidFill>
                <a:latin typeface="Arial"/>
              </a:rPr>
              <a:t/>
            </a:r>
            <a:r>
              <a:rPr sz="1320" b="0" i="0">
                <a:solidFill>
                  <a:srgbClr val="21295C"/>
                </a:solidFill>
                <a:latin typeface="Arial"/>
              </a:rPr>
              <a:t>Прогон «модель одна» не был равноправной случайной ветвью — он идёт </a:t>
            </a:r>
            <a:r>
              <a:rPr sz="1320" b="1" i="0">
                <a:solidFill>
                  <a:srgbClr val="21295C"/>
                </a:solidFill>
                <a:latin typeface="Arial"/>
              </a:rPr>
              <a:t>наблюдательным дополнением</a:t>
            </a:r>
            <a:r>
              <a:rPr sz="1320" b="0" i="0">
                <a:solidFill>
                  <a:srgbClr val="21295C"/>
                </a:solidFill>
                <a:latin typeface="Arial"/>
              </a:rPr>
              <a:t>, не результатом распределения.</a:t>
            </a:r>
          </a:p>
          <a:p>
            <a:pPr algn="l">
              <a:lnSpc>
                <a:spcPct val="126000"/>
              </a:lnSpc>
              <a:spcBef>
                <a:spcPts val="700"/>
              </a:spcBef>
            </a:pPr>
            <a:r>
              <a:rPr sz="1060" b="0" i="0">
                <a:solidFill>
                  <a:srgbClr val="21295C"/>
                </a:solidFill>
                <a:latin typeface="Arial"/>
              </a:rPr>
              <a:t/>
            </a:r>
            <a:r>
              <a:rPr sz="1060" b="0" i="1">
                <a:solidFill>
                  <a:srgbClr val="1C7293"/>
                </a:solidFill>
                <a:latin typeface="Arial"/>
              </a:rPr>
              <a:t>Пятьдесят врачей, из них 44 терапевта, неотложная помощь — пять человек, семейная медицина — один; медиана пять случаев на врача. Виньетки по реальным случаям, не исходы пациентов: никто не проверял, выздоровел ли кто-нибудь.</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генерация на тексте</a:t>
            </a:r>
            <a:r>
              <a:rPr sz="1320" b="0" i="0">
                <a:solidFill>
                  <a:srgbClr val="21295C"/>
                </a:solidFill>
                <a:latin typeface="Arial"/>
              </a:rPr>
              <a:t> — клиническое рассуждение и вопрос-ответ со ссылками на литературу. Входит в работу </a:t>
            </a:r>
            <a:r>
              <a:rPr sz="1320" b="1" i="0">
                <a:solidFill>
                  <a:srgbClr val="21295C"/>
                </a:solidFill>
                <a:latin typeface="Arial"/>
              </a:rPr>
              <a:t>снизу</a:t>
            </a:r>
            <a:r>
              <a:rPr sz="1320" b="0" i="0">
                <a:solidFill>
                  <a:srgbClr val="21295C"/>
                </a:solidFill>
                <a:latin typeface="Arial"/>
              </a:rPr>
              <a:t>, самостоятельным употреблением врача, минуя закупку, — и поэтому никто не настраивал этот режим под процесс. Не умеет перенести свою силу на пару.</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время и что переехало</a:t>
            </a:r>
          </a:p>
        </p:txBody>
      </p:sp>
      <p:sp>
        <p:nvSpPr>
          <p:cNvPr id="4" name="Rounded Rectangle 3"/>
          <p:cNvSpPr/>
          <p:nvPr/>
        </p:nvSpPr>
        <p:spPr>
          <a:xfrm>
            <a:off x="502920"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МЕДИАННОЕ ВРЕМЯ НА СЛУЧАЙ: БЕЗ МОДЕЛИ → С МОДЕЛЬЮ</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ярлыки обязательны: 519 — это группа С моделью; без ярлыков меньшее число читается как выигрыш, а разница между группами значимости не достигает</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доступ к инструменту для каждого врача и новый шаг внутри рассуждения</a:t>
            </a:r>
          </a:p>
        </p:txBody>
      </p:sp>
      <p:sp>
        <p:nvSpPr>
          <p:cNvPr id="14" name="Rounded Rectangle 13"/>
          <p:cNvSpPr/>
          <p:nvPr/>
        </p:nvSpPr>
        <p:spPr>
          <a:xfrm>
            <a:off x="9015755"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«Ничего измеримого» — это не отсутствие данных, а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Goh E. и соавт., JAMA Network Open 2024;7(10):e2440969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прибавка значима; специфичность в обоих плечах одинакова — 98,5 из ста здоровых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той же программы: 80 033 распределённые женщины, набор на четыре с половиной месяца короче</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ЧУВСТВИТЕЛЬНОСТИ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предрегистрированные исходы; в анализ вошли 53 043 в плечо с моделью и 52 872 в контроль</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Цена обеих ошибок</a:t>
            </a:r>
            <a:r>
              <a:rPr sz="132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320" b="0" i="0">
                <a:solidFill>
                  <a:srgbClr val="21295C"/>
                </a:solidFill>
                <a:latin typeface="Arial"/>
              </a:rPr>
              <a:t/>
            </a:r>
            <a:r>
              <a:rPr sz="1320" b="1" i="0">
                <a:solidFill>
                  <a:srgbClr val="21295C"/>
                </a:solidFill>
                <a:latin typeface="Arial"/>
              </a:rPr>
              <a:t>Оба классических режима.</a:t>
            </a:r>
            <a:r>
              <a:rPr sz="132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320" b="0" i="0">
                <a:solidFill>
                  <a:srgbClr val="21295C"/>
                </a:solidFill>
                <a:latin typeface="Arial"/>
              </a:rPr>
              <a:t/>
            </a:r>
            <a:r>
              <a:rPr sz="1320" b="1" i="0">
                <a:solidFill>
                  <a:srgbClr val="21295C"/>
                </a:solidFill>
                <a:latin typeface="Arial"/>
              </a:rPr>
              <a:t>Модель против них.</a:t>
            </a:r>
            <a:r>
              <a:rPr sz="1320" b="0" i="0">
                <a:solidFill>
                  <a:srgbClr val="21295C"/>
                </a:solidFill>
                <a:latin typeface="Arial"/>
              </a:rPr>
              <a:t> Один человек плюс модель, арбитраж на разногласиях. Прибавка чувствительности </a:t>
            </a:r>
            <a:r>
              <a:rPr sz="1320" b="1" i="0">
                <a:solidFill>
                  <a:srgbClr val="21295C"/>
                </a:solidFill>
                <a:latin typeface="Arial"/>
              </a:rPr>
              <a:t>значима</a:t>
            </a:r>
            <a:r>
              <a:rPr sz="1320" b="0" i="0">
                <a:solidFill>
                  <a:srgbClr val="21295C"/>
                </a:solidFill>
                <a:latin typeface="Arial"/>
              </a:rPr>
              <a:t>.</a:t>
            </a:r>
          </a:p>
          <a:p>
            <a:pPr algn="l">
              <a:lnSpc>
                <a:spcPct val="126000"/>
              </a:lnSpc>
              <a:spcBef>
                <a:spcPts val="700"/>
              </a:spcBef>
            </a:pPr>
            <a:r>
              <a:rPr sz="1060" b="0" i="0">
                <a:solidFill>
                  <a:srgbClr val="21295C"/>
                </a:solidFill>
                <a:latin typeface="Arial"/>
              </a:rPr>
              <a:t/>
            </a:r>
            <a:r>
              <a:rPr sz="106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a:p>
            <a:pPr algn="l">
              <a:lnSpc>
                <a:spcPct val="126000"/>
              </a:lnSpc>
              <a:spcBef>
                <a:spcPts val="700"/>
              </a:spcBef>
            </a:pPr>
            <a:r>
              <a:rPr sz="1320" b="0" i="0">
                <a:solidFill>
                  <a:srgbClr val="21295C"/>
                </a:solidFill>
                <a:latin typeface="Arial"/>
              </a:rPr>
              <a:t/>
            </a:r>
            <a:r>
              <a:rPr sz="1320" b="0" i="0">
                <a:solidFill>
                  <a:srgbClr val="21295C"/>
                </a:solidFill>
                <a:latin typeface="Arial"/>
              </a:rPr>
              <a:t>Независимость здесь не нарушена, а </a:t>
            </a:r>
            <a:r>
              <a:rPr sz="1320" b="1" i="0">
                <a:solidFill>
                  <a:srgbClr val="21295C"/>
                </a:solidFill>
                <a:latin typeface="Arial"/>
              </a:rPr>
              <a:t>перестроена</a:t>
            </a:r>
            <a:r>
              <a:rPr sz="132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1060" b="0" i="0">
                <a:solidFill>
                  <a:srgbClr val="21295C"/>
                </a:solidFill>
                <a:latin typeface="Arial"/>
              </a:rPr>
              <a:t/>
            </a:r>
            <a:r>
              <a:rPr sz="1060" b="0" i="1">
                <a:solidFill>
                  <a:srgbClr val="1C7293"/>
                </a:solidFill>
                <a:latin typeface="Arial"/>
              </a:rPr>
              <a:t>Ступень: человек смотрел только спорное — и это назначено устройством программы, а не выбором врача.</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распознавание на изображении</a:t>
            </a:r>
            <a:r>
              <a:rPr sz="1320" b="0" i="0">
                <a:solidFill>
                  <a:srgbClr val="21295C"/>
                </a:solidFill>
                <a:latin typeface="Arial"/>
              </a:rPr>
              <a:t>, та же клетка и </a:t>
            </a:r>
            <a:r>
              <a:rPr sz="1320" b="1" i="0">
                <a:solidFill>
                  <a:srgbClr val="21295C"/>
                </a:solidFill>
                <a:latin typeface="Arial"/>
              </a:rPr>
              <a:t>тот же инструмент</a:t>
            </a:r>
            <a:r>
              <a:rPr sz="1320" b="0" i="0">
                <a:solidFill>
                  <a:srgbClr val="21295C"/>
                </a:solidFill>
                <a:latin typeface="Arial"/>
              </a:rPr>
              <a:t>, что в разборе выше. Держат клетку арбитраж третьим читателем только на разногласиях и постоянный контроль порога. Не умеет работать вне протокола скрининга бессимптомных.</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MASAI — Gommers J., … Lång K., The Lancet 2026 (105 934 распределённых)</a:t>
            </a:r>
            <a:r>
              <a:rPr sz="1100" b="0" i="1">
                <a:solidFill>
                  <a:srgbClr val="1C7293"/>
                </a:solidFill>
                <a:latin typeface="Arial"/>
              </a:rPr>
              <a:t> · </a:t>
            </a:r>
            <a:r>
              <a:rPr sz="1100" b="0" i="1">
                <a:solidFill>
                  <a:srgbClr val="1C7293"/>
                </a:solidFill>
                <a:latin typeface="Arial"/>
              </a:rPr>
              <a:t>промежуточный анализ безопасности — Lång K. и соавт., Lancet Oncology 2023 (80 033 распределённых)</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 что переехало и чем за это платят</a:t>
            </a:r>
          </a:p>
        </p:txBody>
      </p:sp>
      <p:sp>
        <p:nvSpPr>
          <p:cNvPr id="4" name="Rounded Rectangle 3"/>
          <p:cNvSpPr/>
          <p:nvPr/>
        </p:nvSpPr>
        <p:spPr>
          <a:xfrm>
            <a:off x="502920" y="1335024"/>
            <a:ext cx="2673019" cy="2681551"/>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ИНТЕРВАЛЬНЫЕ РАКИ НА 1000 ОБСЛЕДОВАННЫХ: ПЛЕЧО ДВОЙНОГО ЧТЕНИЯ → ПЛЕЧО С МОДЕЛЬЮ</a:t>
            </a:r>
          </a:p>
        </p:txBody>
      </p:sp>
      <p:sp>
        <p:nvSpPr>
          <p:cNvPr id="6" name="TextBox 5"/>
          <p:cNvSpPr txBox="1"/>
          <p:nvPr/>
        </p:nvSpPr>
        <p:spPr>
          <a:xfrm>
            <a:off x="640080" y="2209474"/>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585549"/>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отношение частот 0,88 при интервале от 0,65 до 1,18: 82 случая из 53 043 против 93 из 52 872. Доказано другое — чувствительность выше, и состав пропущенного сдвинулся в менее опасную сторону</a:t>
            </a:r>
          </a:p>
        </p:txBody>
      </p:sp>
      <p:sp>
        <p:nvSpPr>
          <p:cNvPr id="8" name="Rounded Rectangle 7"/>
          <p:cNvSpPr/>
          <p:nvPr/>
        </p:nvSpPr>
        <p:spPr>
          <a:xfrm>
            <a:off x="3340531"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4108015"/>
            <a:ext cx="11441887" cy="2128192"/>
          </a:xfrm>
          <a:prstGeom prst="roundRect">
            <a:avLst>
              <a:gd name="adj" fmla="val 143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199455"/>
            <a:ext cx="11112703" cy="2036752"/>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Что переехало.</a:t>
            </a:r>
            <a:r>
              <a:rPr sz="114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 Больше форм здесь не называется.</a:t>
            </a:r>
          </a:p>
          <a:p>
            <a:pPr algn="l">
              <a:lnSpc>
                <a:spcPct val="126000"/>
              </a:lnSpc>
              <a:spcBef>
                <a:spcPts val="700"/>
              </a:spcBef>
            </a:pPr>
            <a:r>
              <a:rPr sz="1140" b="0" i="0">
                <a:solidFill>
                  <a:srgbClr val="21295C"/>
                </a:solidFill>
                <a:latin typeface="Arial"/>
              </a:rPr>
              <a:t/>
            </a:r>
            <a:r>
              <a:rPr sz="114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 настолько, чтобы это было различием.</a:t>
            </a:r>
          </a:p>
          <a:p>
            <a:pPr algn="l">
              <a:lnSpc>
                <a:spcPct val="126000"/>
              </a:lnSpc>
              <a:spcBef>
                <a:spcPts val="700"/>
              </a:spcBef>
            </a:pPr>
            <a:r>
              <a:rPr sz="1140" b="0" i="0">
                <a:solidFill>
                  <a:srgbClr val="21295C"/>
                </a:solidFill>
                <a:latin typeface="Arial"/>
              </a:rPr>
              <a:t/>
            </a:r>
            <a:r>
              <a:rPr sz="1140" b="0" i="0">
                <a:solidFill>
                  <a:srgbClr val="21295C"/>
                </a:solidFill>
                <a:latin typeface="Arial"/>
              </a:rPr>
              <a:t>Рядом, другим жанром, и это разворачивает весь раздел: в другой программе измерили, </a:t>
            </a:r>
            <a:r>
              <a:rPr sz="1140" b="1" i="0">
                <a:solidFill>
                  <a:srgbClr val="21295C"/>
                </a:solidFill>
                <a:latin typeface="Arial"/>
              </a:rPr>
              <a:t>чьим находкам верят</a:t>
            </a:r>
            <a:r>
              <a:rPr sz="1140" b="0" i="0">
                <a:solidFill>
                  <a:srgbClr val="21295C"/>
                </a:solidFill>
                <a:latin typeface="Arial"/>
              </a:rPr>
              <a:t>. Из ста находок, сделанных </a:t>
            </a:r>
            <a:r>
              <a:rPr sz="1140" b="1" i="0">
                <a:solidFill>
                  <a:srgbClr val="21295C"/>
                </a:solidFill>
                <a:latin typeface="Arial"/>
              </a:rPr>
              <a:t>только моделью</a:t>
            </a:r>
            <a:r>
              <a:rPr sz="1140" b="0" i="0">
                <a:solidFill>
                  <a:srgbClr val="21295C"/>
                </a:solidFill>
                <a:latin typeface="Arial"/>
              </a:rPr>
              <a:t>, подтверждается раком </a:t>
            </a:r>
            <a:r>
              <a:rPr sz="1140" b="1" i="0">
                <a:solidFill>
                  <a:srgbClr val="21295C"/>
                </a:solidFill>
                <a:latin typeface="Arial"/>
              </a:rPr>
              <a:t>22</a:t>
            </a:r>
            <a:r>
              <a:rPr sz="1140" b="0" i="0">
                <a:solidFill>
                  <a:srgbClr val="21295C"/>
                </a:solidFill>
                <a:latin typeface="Arial"/>
              </a:rPr>
              <a:t>; из ста находок, сделанных </a:t>
            </a:r>
            <a:r>
              <a:rPr sz="1140" b="1" i="0">
                <a:solidFill>
                  <a:srgbClr val="21295C"/>
                </a:solidFill>
                <a:latin typeface="Arial"/>
              </a:rPr>
              <a:t>только радиологом</a:t>
            </a:r>
            <a:r>
              <a:rPr sz="1140" b="0" i="0">
                <a:solidFill>
                  <a:srgbClr val="21295C"/>
                </a:solidFill>
                <a:latin typeface="Arial"/>
              </a:rPr>
              <a:t> — </a:t>
            </a:r>
            <a:r>
              <a:rPr sz="1140" b="1" i="0">
                <a:solidFill>
                  <a:srgbClr val="21295C"/>
                </a:solidFill>
                <a:latin typeface="Arial"/>
              </a:rPr>
              <a:t>3,4</a:t>
            </a:r>
            <a:r>
              <a:rPr sz="1140" b="0" i="0">
                <a:solidFill>
                  <a:srgbClr val="21295C"/>
                </a:solidFill>
                <a:latin typeface="Arial"/>
              </a:rPr>
              <a:t>. А на дообследование отзывают чаще вторую: находку радиолога — в 14,2 случая из ста, находку модели — в 4,6.</a:t>
            </a:r>
          </a:p>
          <a:p>
            <a:pPr algn="l">
              <a:lnSpc>
                <a:spcPct val="126000"/>
              </a:lnSpc>
              <a:spcBef>
                <a:spcPts val="700"/>
              </a:spcBef>
            </a:pPr>
            <a:r>
              <a:rPr sz="1140" b="0" i="0">
                <a:solidFill>
                  <a:srgbClr val="21295C"/>
                </a:solidFill>
                <a:latin typeface="Arial"/>
              </a:rPr>
              <a:t/>
            </a:r>
            <a:r>
              <a:rPr sz="1140" b="0" i="0">
                <a:solidFill>
                  <a:srgbClr val="21295C"/>
                </a:solidFill>
                <a:latin typeface="Arial"/>
              </a:rPr>
              <a:t>То есть здесь доверия к модели </a:t>
            </a:r>
            <a:r>
              <a:rPr sz="1140" b="1" i="0">
                <a:solidFill>
                  <a:srgbClr val="21295C"/>
                </a:solidFill>
                <a:latin typeface="Arial"/>
              </a:rPr>
              <a:t>слишком мало</a:t>
            </a:r>
            <a:r>
              <a:rPr sz="1140" b="0" i="0">
                <a:solidFill>
                  <a:srgbClr val="21295C"/>
                </a:solidFill>
                <a:latin typeface="Arial"/>
              </a:rPr>
              <a:t>, а не слишком много.</a:t>
            </a:r>
          </a:p>
          <a:p>
            <a:pPr algn="l">
              <a:lnSpc>
                <a:spcPct val="126000"/>
              </a:lnSpc>
              <a:spcBef>
                <a:spcPts val="700"/>
              </a:spcBef>
            </a:pPr>
            <a:r>
              <a:rPr sz="910" b="0" i="0">
                <a:solidFill>
                  <a:srgbClr val="21295C"/>
                </a:solidFill>
                <a:latin typeface="Arial"/>
              </a:rPr>
              <a:t/>
            </a:r>
            <a:r>
              <a:rPr sz="910" b="0" i="1">
                <a:solidFill>
                  <a:srgbClr val="1C7293"/>
                </a:solidFill>
                <a:latin typeface="Arial"/>
              </a:rPr>
              <a:t>Проспективное исследование в другой программе скрининга: 54 991 женщина, каждое исследование читают три независимых источника — два радиолога и система. Знаменатели двух сравниваемых групп почти одинаковы: 1 858 находок от одного радиолога против 1 886 от одной системы.</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той же программы — Gommers J., … Lång K., The Lancet 2026</a:t>
            </a:r>
            <a:r>
              <a:rPr sz="1100" b="0" i="1">
                <a:solidFill>
                  <a:srgbClr val="1C7293"/>
                </a:solidFill>
                <a:latin typeface="Arial"/>
              </a:rPr>
              <a:t> · </a:t>
            </a:r>
            <a:r>
              <a:rPr sz="1100" b="0" i="1">
                <a:solidFill>
                  <a:srgbClr val="1C7293"/>
                </a:solidFill>
                <a:latin typeface="Arial"/>
              </a:rPr>
              <a:t>Dembrower K. E. и соавт., Radiology 2025 — проспективное исследование ScreenTrustCAD, 54 991 женщина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НЕВЕРНАЯ РАСШИФРОВКА РОНЯЕТ ТОЧНОСТЬ</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стажёров кардиологии и у стажёров других специальностей: различает их специальность, не стаж</a:t>
            </a:r>
          </a:p>
        </p:txBody>
      </p:sp>
      <p:sp>
        <p:nvSpPr>
          <p:cNvPr id="8" name="Rounded Rectangle 7"/>
          <p:cNvSpPr/>
          <p:nvPr/>
        </p:nvSpPr>
        <p:spPr>
          <a:xfrm>
            <a:off x="3340531"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СТАЖ, СУБСПЕЦИАЛИЗАЦИЯ, ЗНАКОМСТВО С ИНСТРУМЕНТОМ</a:t>
            </a:r>
          </a:p>
        </p:txBody>
      </p:sp>
      <p:sp>
        <p:nvSpPr>
          <p:cNvPr id="10" name="TextBox 9"/>
          <p:cNvSpPr txBox="1"/>
          <p:nvPr/>
        </p:nvSpPr>
        <p:spPr>
          <a:xfrm>
            <a:off x="3477691" y="1863689"/>
            <a:ext cx="2398699" cy="622210"/>
          </a:xfrm>
          <a:prstGeom prst="rect">
            <a:avLst/>
          </a:prstGeom>
          <a:noFill/>
        </p:spPr>
        <p:txBody>
          <a:bodyPr wrap="square" lIns="0" rIns="0" tIns="0" bIns="0" anchor="t">
            <a:spAutoFit/>
          </a:bodyPr>
          <a:lstStyle/>
          <a:p>
            <a:pPr algn="l">
              <a:lnSpc>
                <a:spcPct val="108000"/>
              </a:lnSpc>
            </a:pPr>
            <a:r>
              <a:rPr sz="1150" b="1" i="0">
                <a:solidFill>
                  <a:srgbClr val="21295C"/>
                </a:solidFill>
                <a:latin typeface="Arial"/>
              </a:rPr>
              <a:t>выигрыш от подсказки не предсказывают — предсказывает правота модели</a:t>
            </a:r>
          </a:p>
        </p:txBody>
      </p:sp>
      <p:sp>
        <p:nvSpPr>
          <p:cNvPr id="11" name="Rounded Rectangle 10"/>
          <p:cNvSpPr/>
          <p:nvPr/>
        </p:nvSpPr>
        <p:spPr>
          <a:xfrm>
            <a:off x="6178143" y="1335024"/>
            <a:ext cx="2673019" cy="2222599"/>
          </a:xfrm>
          <a:prstGeom prst="roundRect">
            <a:avLst>
              <a:gd name="adj" fmla="val 13713"/>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СОГЛАСИЕ С НЕВЕРНОЙ ПОДСКАЗКОЙ: ОБЫЧНОЕ ОБЪЯСНЕНИЕ → ПРИНУДИТЕЛЬНЫЕ ПРИЁМЫ ПОДАЧИ</a:t>
            </a:r>
          </a:p>
        </p:txBody>
      </p:sp>
      <p:sp>
        <p:nvSpPr>
          <p:cNvPr id="13" name="TextBox 12"/>
          <p:cNvSpPr txBox="1"/>
          <p:nvPr/>
        </p:nvSpPr>
        <p:spPr>
          <a:xfrm>
            <a:off x="6315303" y="2209474"/>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64 → 48 из ста</a:t>
            </a:r>
          </a:p>
        </p:txBody>
      </p:sp>
      <p:sp>
        <p:nvSpPr>
          <p:cNvPr id="14" name="TextBox 13"/>
          <p:cNvSpPr txBox="1"/>
          <p:nvPr/>
        </p:nvSpPr>
        <p:spPr>
          <a:xfrm>
            <a:off x="6315303" y="2636474"/>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16 пунктов; посчитано на ОДНОЙ задаче набора, а на общей метрике по всем задачам сдвиг значимости не достиг</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ОСТАЁТСЯ ПРИ САМОЙ СИЛЬНОЙ ИЗ ПРОВЕРЕННЫХ МЕР</a:t>
            </a:r>
          </a:p>
        </p:txBody>
      </p:sp>
      <p:sp>
        <p:nvSpPr>
          <p:cNvPr id="17" name="TextBox 16"/>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согласий из ста</a:t>
            </a:r>
          </a:p>
        </p:txBody>
      </p:sp>
      <p:sp>
        <p:nvSpPr>
          <p:cNvPr id="18" name="TextBox 17"/>
          <p:cNvSpPr txBox="1"/>
          <p:nvPr/>
        </p:nvSpPr>
        <p:spPr>
          <a:xfrm>
            <a:off x="9152915"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эту остаточную долю процедуре и приходится рассчитывать</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Что ломается.</a:t>
            </a:r>
            <a:r>
              <a:rPr sz="1110" b="0" i="0">
                <a:solidFill>
                  <a:srgbClr val="21295C"/>
                </a:solidFill>
                <a:latin typeface="Arial"/>
              </a:rPr>
              <a:t> База падения — </a:t>
            </a:r>
            <a:r>
              <a:rPr sz="1110" b="1" i="0">
                <a:solidFill>
                  <a:srgbClr val="21295C"/>
                </a:solidFill>
                <a:latin typeface="Arial"/>
              </a:rPr>
              <a:t>верная</a:t>
            </a:r>
            <a:r>
              <a:rPr sz="1110" b="0" i="0">
                <a:solidFill>
                  <a:srgbClr val="21295C"/>
                </a:solidFill>
                <a:latin typeface="Arial"/>
              </a:rPr>
              <a:t> расшифровка, а не работа без подсказки: 84,86 против 41,66 и 86,38 против 27,43 из ста. Существеннее величины то, что связь уверенности с правотой ослабевает у обеих групп: человек остаётся так же уверен, будучи неправ.</a:t>
            </a:r>
          </a:p>
          <a:p>
            <a:pPr algn="l">
              <a:lnSpc>
                <a:spcPct val="126000"/>
              </a:lnSpc>
              <a:spcBef>
                <a:spcPts val="700"/>
              </a:spcBef>
            </a:pPr>
            <a:r>
              <a:rPr sz="1110" b="0" i="0">
                <a:solidFill>
                  <a:srgbClr val="21295C"/>
                </a:solidFill>
                <a:latin typeface="Arial"/>
              </a:rPr>
              <a:t/>
            </a:r>
            <a:r>
              <a:rPr sz="1110" b="1" i="0">
                <a:solidFill>
                  <a:srgbClr val="21295C"/>
                </a:solidFill>
                <a:latin typeface="Arial"/>
              </a:rPr>
              <a:t>Где потолок.</a:t>
            </a:r>
            <a:r>
              <a:rPr sz="1110" b="0" i="0">
                <a:solidFill>
                  <a:srgbClr val="21295C"/>
                </a:solidFill>
                <a:latin typeface="Arial"/>
              </a:rPr>
              <a:t> Переустройство подачи подсказки снижает согласие с неверной подсказкой значимо — это настоящее улучшение. И при нём почти половина согласий с неверной подсказкой остаётся. </a:t>
            </a:r>
            <a:r>
              <a:rPr sz="1110" b="0" i="1">
                <a:solidFill>
                  <a:srgbClr val="21295C"/>
                </a:solidFill>
                <a:latin typeface="Arial"/>
              </a:rPr>
              <a:t>Лабораторный эксперимент, 199 участников; задача не клиническая, точность подсказки задана имитацией.</a:t>
            </a:r>
          </a:p>
          <a:p>
            <a:pPr algn="l">
              <a:lnSpc>
                <a:spcPct val="126000"/>
              </a:lnSpc>
              <a:spcBef>
                <a:spcPts val="700"/>
              </a:spcBef>
            </a:pPr>
            <a:r>
              <a:rPr sz="1110" b="0" i="0">
                <a:solidFill>
                  <a:srgbClr val="21295C"/>
                </a:solidFill>
                <a:latin typeface="Arial"/>
              </a:rPr>
              <a:t/>
            </a:r>
            <a:r>
              <a:rPr sz="1110" b="1" i="0">
                <a:solidFill>
                  <a:srgbClr val="21295C"/>
                </a:solidFill>
                <a:latin typeface="Arial"/>
              </a:rPr>
              <a:t>Не измерено, и это названо пробелом.</a:t>
            </a:r>
            <a:r>
              <a:rPr sz="1110" b="0" i="0">
                <a:solidFill>
                  <a:srgbClr val="21295C"/>
                </a:solidFill>
                <a:latin typeface="Arial"/>
              </a:rPr>
              <a:t> «Одна ошибка обрывает доверие» как отдельная величина не опубликована. Измерено другое: увидев ошибку алгоритма, человек реже выбирает его и дальше — продолжая видеть, что алгоритм точнее человека; возможность хоть немного подправить прогноз этот отказ ослабляет.</a:t>
            </a:r>
          </a:p>
          <a:p>
            <a:pPr algn="l">
              <a:lnSpc>
                <a:spcPct val="126000"/>
              </a:lnSpc>
              <a:spcBef>
                <a:spcPts val="700"/>
              </a:spcBef>
            </a:pPr>
            <a:r>
              <a:rPr sz="1110" b="0" i="0">
                <a:solidFill>
                  <a:srgbClr val="21295C"/>
                </a:solidFill>
                <a:latin typeface="Arial"/>
              </a:rPr>
              <a:t/>
            </a:r>
            <a:r>
              <a:rPr sz="1110" b="0" i="0">
                <a:solidFill>
                  <a:srgbClr val="21295C"/>
                </a:solidFill>
                <a:latin typeface="Arial"/>
              </a:rPr>
              <a:t>Доверие откалибровано </a:t>
            </a:r>
            <a:r>
              <a:rPr sz="1110" b="1" i="0">
                <a:solidFill>
                  <a:srgbClr val="21295C"/>
                </a:solidFill>
                <a:latin typeface="Arial"/>
              </a:rPr>
              <a:t>не по тому признаку</a:t>
            </a:r>
            <a:r>
              <a:rPr sz="1110" b="0" i="0">
                <a:solidFill>
                  <a:srgbClr val="21295C"/>
                </a:solidFill>
                <a:latin typeface="Arial"/>
              </a:rPr>
              <a:t>: не по правоте, а по подписи, по уверенности и по единичному видимому промаху.</a:t>
            </a:r>
          </a:p>
          <a:p>
            <a:pPr algn="l">
              <a:lnSpc>
                <a:spcPct val="126000"/>
              </a:lnSpc>
              <a:spcBef>
                <a:spcPts val="700"/>
              </a:spcBef>
            </a:pPr>
            <a:r>
              <a:rPr sz="1110" b="0" i="0">
                <a:solidFill>
                  <a:srgbClr val="21295C"/>
                </a:solidFill>
                <a:latin typeface="Arial"/>
              </a:rPr>
              <a:t/>
            </a:r>
            <a:r>
              <a:rPr sz="1110" b="0" i="0">
                <a:solidFill>
                  <a:srgbClr val="21295C"/>
                </a:solidFill>
                <a:latin typeface="Arial"/>
              </a:rPr>
              <a:t>Чем это делают сегодня: подсказку выводят внутрь рабочего места рентгенолога через платформу-оркестратор, а не ставят отдельной программой. Больница закупает одну платформу и дальше подключает модули по подписке — решение «какой алгоритм смотрит ваш снимок» принимается после закупки. Платформа не добавляет точности: она добавляет подпись «смотрела программа».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Bond R. R. и соавт., Journal of Electrocardiology 2018</a:t>
            </a:r>
            <a:r>
              <a:rPr sz="1100" b="0" i="1">
                <a:solidFill>
                  <a:srgbClr val="1C7293"/>
                </a:solidFill>
                <a:latin typeface="Arial"/>
              </a:rPr>
              <a:t> · </a:t>
            </a:r>
            <a:r>
              <a:rPr sz="1100" b="0" i="1">
                <a:solidFill>
                  <a:srgbClr val="1C7293"/>
                </a:solidFill>
                <a:latin typeface="Arial"/>
              </a:rPr>
              <a:t>Yu F. и соавт., Nature Medicine 2024</a:t>
            </a:r>
            <a:r>
              <a:rPr sz="1100" b="0" i="1">
                <a:solidFill>
                  <a:srgbClr val="1C7293"/>
                </a:solidFill>
                <a:latin typeface="Arial"/>
              </a:rPr>
              <a:t> · </a:t>
            </a:r>
            <a:r>
              <a:rPr sz="1100" b="0" i="1">
                <a:solidFill>
                  <a:srgbClr val="1C7293"/>
                </a:solidFill>
                <a:latin typeface="Arial"/>
              </a:rPr>
              <a:t>Buçinca Z. и соавт., To Trust or to Think, CSCW 2021</a:t>
            </a:r>
            <a:r>
              <a:rPr sz="1100" b="0" i="1">
                <a:solidFill>
                  <a:srgbClr val="1C7293"/>
                </a:solidFill>
                <a:latin typeface="Arial"/>
              </a:rPr>
              <a:t> · </a:t>
            </a:r>
            <a:r>
              <a:rPr sz="1100" b="0" i="1">
                <a:solidFill>
                  <a:srgbClr val="1C7293"/>
                </a:solidFill>
                <a:latin typeface="Arial"/>
              </a:rPr>
              <a:t>Dietvorst B. и соавт., Algorithm Aversion, Journal of Experimental Psychology: General 2015 — названный пробел</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чтение и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оси те же, что в начале курса. В каждой занятой клетке — режим и одно-два названия; разборы раздела выделены.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Распознавание на изображении</a:t>
            </a:r>
            <a:r>
              <a:rPr sz="1500" b="0" i="0">
                <a:solidFill>
                  <a:srgbClr val="21295C"/>
                </a:solidFill>
                <a:latin typeface="Arial"/>
              </a:rPr>
              <a:t> — модель вторым читателем в скрининге и сортировка потока в неотложной рентгенологии.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Классификация на изображении</a:t>
            </a:r>
            <a:r>
              <a:rPr sz="1500" b="0" i="0">
                <a:solidFill>
                  <a:srgbClr val="21295C"/>
                </a:solidFill>
                <a:latin typeface="Arial"/>
              </a:rPr>
              <a:t> — подсказка по оцифрованному срезу и оценка кожного образования.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Генерация на тексте</a:t>
            </a:r>
            <a:r>
              <a:rPr sz="1500" b="0" i="0">
                <a:solidFill>
                  <a:srgbClr val="21295C"/>
                </a:solidFill>
                <a:latin typeface="Arial"/>
              </a:rPr>
              <a:t> — вопрос-ответ со ссылками и автоматическая запись приёма.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Прогноз на структурированных данных</a:t>
            </a:r>
            <a:r>
              <a:rPr sz="1500" b="0" i="0">
                <a:solidFill>
                  <a:srgbClr val="21295C"/>
                </a:solidFill>
                <a:latin typeface="Arial"/>
              </a:rPr>
              <a:t> —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Поиск на тексте</a:t>
            </a:r>
            <a:r>
              <a:rPr sz="1500" b="0" i="0">
                <a:solidFill>
                  <a:srgbClr val="21295C"/>
                </a:solidFill>
                <a:latin typeface="Arial"/>
              </a:rPr>
              <a:t> — поиск по карте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на рынке нет: </a:t>
            </a:r>
            <a:r>
              <a:rPr sz="1500" b="1" i="0">
                <a:solidFill>
                  <a:srgbClr val="21295C"/>
                </a:solidFill>
                <a:latin typeface="Arial"/>
              </a:rPr>
              <a:t>ансамбль моделей с голосованием</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не было на предыдущей стадии, — автоматическая запись приёма: текст в карте теперь появляется машинно, и держат его те же процедуры подписи.</a:t>
            </a:r>
          </a:p>
          <a:p>
            <a:pPr algn="l">
              <a:lnSpc>
                <a:spcPct val="126000"/>
              </a:lnSpc>
              <a:spcBef>
                <a:spcPts val="700"/>
              </a:spcBef>
            </a:pPr>
            <a:r>
              <a:rPr sz="1200" b="0" i="0">
                <a:solidFill>
                  <a:srgbClr val="21295C"/>
                </a:solidFill>
                <a:latin typeface="Arial"/>
              </a:rPr>
              <a:t/>
            </a:r>
            <a:r>
              <a:rPr sz="1200" b="0" i="1">
                <a:solidFill>
                  <a:srgbClr val="1C7293"/>
                </a:solidFill>
                <a:latin typeface="Arial"/>
              </a:rPr>
              <a:t>Имена инструментов — не метрики.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чтение рядом с моделью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второй взгляд на поток и напоминание о редком диагнозе настоящие; в одном устройстве процедуры пара измеренно сильнее обеих сторон.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выигрыш даёт несовпадение ошибок, а не точность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знак эффекта зависит от правоты модели, и средняя точность внедрения складывает две противоположные вещи.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если знак зависит от правоты модели, кто и чем замечает, что она неправа.</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Выигрыш даёт устройство процедуры, а не сила инструмента: в разборе, где результат упал, и в контрольной линии, где он вырос, работал </a:t>
            </a:r>
            <a:r>
              <a:rPr sz="1500" b="1" i="0">
                <a:solidFill>
                  <a:srgbClr val="21295C"/>
                </a:solidFill>
                <a:latin typeface="Arial"/>
              </a:rPr>
              <a:t>один и тот же инструмент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Обход в палате и лист наблюдения</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Обход по расписанию</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измерение величин</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нормой</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запись в лист наблюдения</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собирается запись между обходами</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Палата, обход по расписанию. Дежурная смена снимает руками и прибором несколько величин — дыхание, пульс, давление, температуру — и сравнивает с нормой.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Каждое измерение уходит в лист наблюдения. Он — единственное, что видит следующая смена, врач на обходе и разбор случая при осложнении.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решают на этом шаге: звать старшего сейчас или на следующем обходе.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тот, кто пациента не видел — и видит он только запись.</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Шкала раннего предупреждения</a:t>
            </a:r>
          </a:p>
        </p:txBody>
      </p:sp>
      <p:sp>
        <p:nvSpPr>
          <p:cNvPr id="4" name="Rounded Rectangle 3"/>
          <p:cNvSpPr/>
          <p:nvPr/>
        </p:nvSpPr>
        <p:spPr>
          <a:xfrm>
            <a:off x="502920"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баллы по отклонению от нормы</a:t>
            </a:r>
          </a:p>
        </p:txBody>
      </p:sp>
      <p:sp>
        <p:nvSpPr>
          <p:cNvPr id="6" name="Right Arrow 5"/>
          <p:cNvSpPr/>
          <p:nvPr/>
        </p:nvSpPr>
        <p:spPr>
          <a:xfrm>
            <a:off x="313936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67963"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50259"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сумма баллов</a:t>
            </a:r>
          </a:p>
        </p:txBody>
      </p:sp>
      <p:sp>
        <p:nvSpPr>
          <p:cNvPr id="9" name="Right Arrow 8"/>
          <p:cNvSpPr/>
          <p:nvPr/>
        </p:nvSpPr>
        <p:spPr>
          <a:xfrm>
            <a:off x="600440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3007"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порогом</a:t>
            </a:r>
          </a:p>
        </p:txBody>
      </p:sp>
      <p:sp>
        <p:nvSpPr>
          <p:cNvPr id="12" name="Right Arrow 11"/>
          <p:cNvSpPr/>
          <p:nvPr/>
        </p:nvSpPr>
        <p:spPr>
          <a:xfrm>
            <a:off x="886945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98051"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0347"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назначенное действие</a:t>
            </a:r>
          </a:p>
        </p:txBody>
      </p:sp>
      <p:sp>
        <p:nvSpPr>
          <p:cNvPr id="15" name="TextBox 14"/>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шкалы — без обученной модели</a:t>
            </a:r>
          </a:p>
        </p:txBody>
      </p:sp>
      <p:sp>
        <p:nvSpPr>
          <p:cNvPr id="16" name="Rounded Rectangle 15"/>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Каждая измеренная величина получает баллы по тому, насколько она отклонилась от нормы. Баллы складываются. Сумма сравнивается с порогом. Порог назначает действие: участить наблюдение, вызвать старшего, вызвать бригаду.</a:t>
            </a:r>
          </a:p>
          <a:p>
            <a:pPr algn="l">
              <a:lnSpc>
                <a:spcPct val="126000"/>
              </a:lnSpc>
              <a:spcBef>
                <a:spcPts val="700"/>
              </a:spcBef>
            </a:pPr>
            <a:r>
              <a:rPr sz="1500" b="0" i="0">
                <a:solidFill>
                  <a:srgbClr val="21295C"/>
                </a:solidFill>
                <a:latin typeface="Arial"/>
              </a:rPr>
              <a:t/>
            </a:r>
            <a:r>
              <a:rPr sz="1500" b="0" i="0">
                <a:solidFill>
                  <a:srgbClr val="21295C"/>
                </a:solidFill>
                <a:latin typeface="Arial"/>
              </a:rPr>
              <a:t>Отличие от модели: </a:t>
            </a:r>
            <a:r>
              <a:rPr sz="1500" b="1" i="0">
                <a:solidFill>
                  <a:srgbClr val="21295C"/>
                </a:solidFill>
                <a:latin typeface="Arial"/>
              </a:rPr>
              <a:t>веса здесь назначены людьми и опубликованы.</a:t>
            </a:r>
            <a:r>
              <a:rPr sz="1500" b="0" i="0">
                <a:solidFill>
                  <a:srgbClr val="21295C"/>
                </a:solidFill>
                <a:latin typeface="Arial"/>
              </a:rPr>
              <a:t> Любой может посмотреть, почему балл такой.</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{{источник: официальная публикация действующей редакции шкалы раннего предупреждения, профессиональное общество, год редакции}}</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5437479" cy="2880978"/>
          </a:xfrm>
          <a:prstGeom prst="roundRect">
            <a:avLst>
              <a:gd name="adj" fmla="val 105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7" name="Rounded Rectangle 6"/>
          <p:cNvSpPr/>
          <p:nvPr/>
        </p:nvSpPr>
        <p:spPr>
          <a:xfrm>
            <a:off x="6251295" y="1335024"/>
            <a:ext cx="5437479" cy="2880978"/>
          </a:xfrm>
          <a:prstGeom prst="roundRect">
            <a:avLst>
              <a:gd name="adj" fmla="val 10579"/>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6415887"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0" name="Rounded Rectangle 9"/>
          <p:cNvSpPr/>
          <p:nvPr/>
        </p:nvSpPr>
        <p:spPr>
          <a:xfrm>
            <a:off x="374904" y="4307442"/>
            <a:ext cx="11441887" cy="1928765"/>
          </a:xfrm>
          <a:prstGeom prst="roundRect">
            <a:avLst>
              <a:gd name="adj" fmla="val 158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398882"/>
            <a:ext cx="11112703" cy="18373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Пропустить ухудшение.</a:t>
            </a:r>
            <a:r>
              <a:rPr sz="150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Поднять ложную тревогу.</a:t>
            </a:r>
            <a:r>
              <a:rPr sz="150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ошибки платит одна и та же дежурная смена.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входящих оповещений вы закрываете, не читая?</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Счёт заменяемых режимов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ШКАЛА РАННЕГО ПРЕДУПРЕЖДЕНИЯ — ПОДТВЕРЖДАЕТСЯ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эскалаций из ста</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45 776 пациентов общего профиля, сепсис у 3,3 из ста — 1 496 случаев; чувствительность шкалы 0,758, специфичность 0,711</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ДРУГИЕ ШКАЛЫ ТОГО ЖЕ РАЗБОРА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эскалаций из ста</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тот же разбор, та же выборка — шкалы сравнивались между собой на одном населении</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ТРЕВОГИ ПРИКРОВАТНОГО ПРИБОРА — ЛОЖНЫЕ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12 671 размеченная тревога аритмии в реанимации; обученной модели в приборе нет вовсе — там порог, выставленный рукой</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эскалаций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эскалаций из ста</a:t>
            </a:r>
            <a:r>
              <a:rPr sz="1500" b="0" i="0">
                <a:solidFill>
                  <a:srgbClr val="21295C"/>
                </a:solidFill>
                <a:latin typeface="Arial"/>
              </a:rPr>
              <a:t> — две другие шкалы того же разбора, на той же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а не с нулём.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балльных шкал на поиске сепсиса в общем отделении, JAMIA Open 2021, DOI 10.1093/jamiaopen/ooab062, PMID 34820600</a:t>
            </a:r>
            <a:r>
              <a:rPr sz="1100" b="0" i="1">
                <a:solidFill>
                  <a:srgbClr val="1C7293"/>
                </a:solidFill>
                <a:latin typeface="Arial"/>
              </a:rPr>
              <a:t> · </a:t>
            </a:r>
            <a:r>
              <a:rPr sz="1100" b="0" i="1">
                <a:solidFill>
                  <a:srgbClr val="1C7293"/>
                </a:solidFill>
                <a:latin typeface="Arial"/>
              </a:rPr>
              <a:t>Drew B. J. и соавт., PLoS One 2014;9(10):e110274, DOI 10.1371/journal.pone.0110274, PMID 25338067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раннего предупреждения</a:t>
            </a:r>
          </a:p>
        </p:txBody>
      </p:sp>
      <p:sp>
        <p:nvSpPr>
          <p:cNvPr id="4" name="Rounded Rectangle 3"/>
          <p:cNvSpPr/>
          <p:nvPr/>
        </p:nvSpPr>
        <p:spPr>
          <a:xfrm>
            <a:off x="502920" y="1335024"/>
            <a:ext cx="3618890"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РАЗРАБОТЧИКОМ</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менее 0,76 · 0,83–0,86</a:t>
            </a:r>
          </a:p>
        </p:txBody>
      </p:sp>
      <p:sp>
        <p:nvSpPr>
          <p:cNvPr id="7" name="TextBox 6"/>
          <p:cNvSpPr txBox="1"/>
          <p:nvPr/>
        </p:nvSpPr>
        <p:spPr>
          <a:xfrm>
            <a:off x="640080" y="2508219"/>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первое — информационный лист по первой версии, второе — заявление по второй версии по трём своим площадкам; это не одно число, и оно менялось от версии к версии</a:t>
            </a:r>
          </a:p>
        </p:txBody>
      </p:sp>
      <p:sp>
        <p:nvSpPr>
          <p:cNvPr id="8" name="Rounded Rectangle 7"/>
          <p:cNvSpPr/>
          <p:nvPr/>
        </p:nvSpPr>
        <p:spPr>
          <a:xfrm>
            <a:off x="4286402" y="1335024"/>
            <a:ext cx="3618890" cy="2049707"/>
          </a:xfrm>
          <a:prstGeom prst="roundRect">
            <a:avLst>
              <a:gd name="adj" fmla="val 1487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НЕЗАВИСИМОЙ ПРОВЕРКОЙ</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0,63</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внешняя проверка первой версии: 38 455 госпитализаций 27 697 пациентов одной университетской системы</a:t>
            </a:r>
          </a:p>
        </p:txBody>
      </p:sp>
      <p:sp>
        <p:nvSpPr>
          <p:cNvPr id="12" name="Rounded Rectangle 11"/>
          <p:cNvSpPr/>
          <p:nvPr/>
        </p:nvSpPr>
        <p:spPr>
          <a:xfrm>
            <a:off x="8069884" y="1335024"/>
            <a:ext cx="3618890"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выявлено 1 709 из 2 552; из пациентов, которых пропустил клиницист, модель поймала 7 из ста</a:t>
            </a:r>
          </a:p>
        </p:txBody>
      </p:sp>
      <p:sp>
        <p:nvSpPr>
          <p:cNvPr id="16" name="Rounded Rectangle 15"/>
          <p:cNvSpPr/>
          <p:nvPr/>
        </p:nvSpPr>
        <p:spPr>
          <a:xfrm>
            <a:off x="374904" y="3476171"/>
            <a:ext cx="11441887" cy="2760036"/>
          </a:xfrm>
          <a:prstGeom prst="roundRect">
            <a:avLst>
              <a:gd name="adj" fmla="val 110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Заявлено разработчиком:</a:t>
            </a:r>
            <a:r>
              <a:rPr sz="1500" b="0" i="0">
                <a:solidFill>
                  <a:srgbClr val="21295C"/>
                </a:solidFill>
                <a:latin typeface="Arial"/>
              </a:rPr>
              <a:t> не менее 0,76 по первой версии, 0,83–0,86 по второй. </a:t>
            </a:r>
            <a:r>
              <a:rPr sz="1500" b="1" i="0">
                <a:solidFill>
                  <a:srgbClr val="21295C"/>
                </a:solidFill>
                <a:latin typeface="Arial"/>
              </a:rPr>
              <a:t>Измерено независимой проверкой первой версии:</a:t>
            </a:r>
            <a:r>
              <a:rPr sz="1500" b="0" i="0">
                <a:solidFill>
                  <a:srgbClr val="21295C"/>
                </a:solidFill>
                <a:latin typeface="Arial"/>
              </a:rPr>
              <a:t> 0,63. </a:t>
            </a:r>
            <a:r>
              <a:rPr sz="1500" b="1" i="0">
                <a:solidFill>
                  <a:srgbClr val="21295C"/>
                </a:solidFill>
                <a:latin typeface="Arial"/>
              </a:rPr>
              <a:t>Поймано</a:t>
            </a:r>
            <a:r>
              <a:rPr sz="1500" b="0" i="0">
                <a:solidFill>
                  <a:srgbClr val="21295C"/>
                </a:solidFill>
                <a:latin typeface="Arial"/>
              </a:rPr>
              <a:t> 33 случая сепсиса из ста — не выявлено 1 709 из 2 552.</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а не глубокая сеть.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Режим: предиктивный модуль внутри самой медицинской карты. Чем это делают сегодня: модель сепсиса у Epic (действующая версия — решающие деревья с градиентным бустингом, с донастройкой на историю своей больницы); у второго крупного поставщика карты — та же схема на моделях облачного партнёра; в России — Webiomed. Чего режим не умеет: переносить качество между населениями; замолкать, когда картина населения меняется.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a:t>
            </a:r>
            <a:r>
              <a:rPr sz="1100" b="0" i="1">
                <a:solidFill>
                  <a:srgbClr val="1C7293"/>
                </a:solidFill>
                <a:latin typeface="Arial"/>
              </a:rPr>
              <a:t> · </a:t>
            </a:r>
            <a:r>
              <a:rPr sz="1100" b="0" i="1">
                <a:solidFill>
                  <a:srgbClr val="1C7293"/>
                </a:solidFill>
                <a:latin typeface="Arial"/>
              </a:rPr>
              <a:t>заявления разработчика: информационный лист по первой версии и заявление по второй версии, напечатанное внутри рецензируемой работы 2026 года</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ТРЕВОГА ПРИХОДИТ 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ЧТОБЫ НАЙТИ ОДИН СЛУЧАЙ СЕПСИСА, РАЗОБРАТЬ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862375"/>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Поток тревоги</a:t>
            </a:r>
          </a:p>
        </p:txBody>
      </p:sp>
      <p:sp>
        <p:nvSpPr>
          <p:cNvPr id="13" name="Rounded Rectangle 12"/>
          <p:cNvSpPr/>
          <p:nvPr/>
        </p:nvSpPr>
        <p:spPr>
          <a:xfrm>
            <a:off x="1920240"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02536"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1 000 госпитализаций</a:t>
            </a:r>
          </a:p>
        </p:txBody>
      </p:sp>
      <p:sp>
        <p:nvSpPr>
          <p:cNvPr id="15" name="Right Arrow 14"/>
          <p:cNvSpPr/>
          <p:nvPr/>
        </p:nvSpPr>
        <p:spPr>
          <a:xfrm>
            <a:off x="5039258"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67858"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50154"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около 181 тревоги</a:t>
            </a:r>
          </a:p>
        </p:txBody>
      </p:sp>
      <p:sp>
        <p:nvSpPr>
          <p:cNvPr id="18" name="Right Arrow 17"/>
          <p:cNvSpPr/>
          <p:nvPr/>
        </p:nvSpPr>
        <p:spPr>
          <a:xfrm>
            <a:off x="8386876"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15476"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97772"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22 подтверждённых случая</a:t>
            </a:r>
          </a:p>
        </p:txBody>
      </p:sp>
      <p:sp>
        <p:nvSpPr>
          <p:cNvPr id="21" name="TextBox 20"/>
          <p:cNvSpPr txBox="1"/>
          <p:nvPr/>
        </p:nvSpPr>
        <p:spPr>
          <a:xfrm>
            <a:off x="502920" y="341101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тревоги</a:t>
            </a:r>
          </a:p>
        </p:txBody>
      </p:sp>
      <p:sp>
        <p:nvSpPr>
          <p:cNvPr id="22" name="Rounded Rectangle 21"/>
          <p:cNvSpPr/>
          <p:nvPr/>
        </p:nvSpPr>
        <p:spPr>
          <a:xfrm>
            <a:off x="374904" y="3723870"/>
            <a:ext cx="11441887" cy="2512337"/>
          </a:xfrm>
          <a:prstGeom prst="roundRect">
            <a:avLst>
              <a:gd name="adj" fmla="val 12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9496" y="3815310"/>
            <a:ext cx="11112703" cy="24208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эскалациями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а не превосходство.</a:t>
            </a:r>
          </a:p>
        </p:txBody>
      </p:sp>
      <p:sp>
        <p:nvSpPr>
          <p:cNvPr id="24" name="Rectangle 2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 с эрратой того же журнала</a:t>
            </a:r>
            <a:r>
              <a:rPr sz="1100" b="0" i="1">
                <a:solidFill>
                  <a:srgbClr val="1C7293"/>
                </a:solidFill>
                <a:latin typeface="Arial"/>
              </a:rPr>
              <a:t> · </a:t>
            </a:r>
            <a:r>
              <a:rPr sz="1100" b="0" i="1">
                <a:solidFill>
                  <a:srgbClr val="1C7293"/>
                </a:solidFill>
                <a:latin typeface="Arial"/>
              </a:rPr>
              <a:t>сравнение балльных шкал, JAMIA Open 2021, DOI 10.1093/jamiaopen/ooab062, PMID 34820600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502920"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95,3 из ста; окно предсказания шесть часов, данные 2023 года</a:t>
            </a:r>
          </a:p>
        </p:txBody>
      </p:sp>
      <p:sp>
        <p:nvSpPr>
          <p:cNvPr id="8" name="Rounded Rectangle 7"/>
          <p:cNvSpPr/>
          <p:nvPr/>
        </p:nvSpPr>
        <p:spPr>
          <a:xfrm>
            <a:off x="3340531"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СРАБАТЫВАНИЕ — ДОЛЯ ОБРАЩЕНИЙ</a:t>
            </a:r>
          </a:p>
        </p:txBody>
      </p:sp>
      <p:sp>
        <p:nvSpPr>
          <p:cNvPr id="10" name="TextBox 9"/>
          <p:cNvSpPr txBox="1"/>
          <p:nvPr/>
        </p:nvSpPr>
        <p:spPr>
          <a:xfrm>
            <a:off x="3477691"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из ста обращений</a:t>
            </a:r>
          </a:p>
        </p:txBody>
      </p:sp>
      <p:sp>
        <p:nvSpPr>
          <p:cNvPr id="11" name="TextBox 10"/>
          <p:cNvSpPr txBox="1"/>
          <p:nvPr/>
        </p:nvSpPr>
        <p:spPr>
          <a:xfrm>
            <a:off x="3477691"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7 183 срабатывания на 145 885 обращений; до «пяти из ста» не округляется</a:t>
            </a:r>
          </a:p>
        </p:txBody>
      </p:sp>
      <p:sp>
        <p:nvSpPr>
          <p:cNvPr id="12" name="Rounded Rectangle 11"/>
          <p:cNvSpPr/>
          <p:nvPr/>
        </p:nvSpPr>
        <p:spPr>
          <a:xfrm>
            <a:off x="6178143" y="1335024"/>
            <a:ext cx="2673019" cy="2777114"/>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ОПЕРЕЖЕНИЕ КЛИНИЧЕСКОГО РЕШЕНИЯ</a:t>
            </a:r>
          </a:p>
        </p:txBody>
      </p:sp>
      <p:sp>
        <p:nvSpPr>
          <p:cNvPr id="14" name="TextBox 13"/>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ноль минут</a:t>
            </a:r>
          </a:p>
        </p:txBody>
      </p:sp>
      <p:sp>
        <p:nvSpPr>
          <p:cNvPr id="15" name="TextBox 14"/>
          <p:cNvSpPr txBox="1"/>
          <p:nvPr/>
        </p:nvSpPr>
        <p:spPr>
          <a:xfrm>
            <a:off x="6315303" y="2290688"/>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по восьмидесяти процентам случаев — от шести часов сорока двух минут раньше врача до двенадцати часов позже; примерно в половине случаев врачи вели сепсис уже до тревоги</a:t>
            </a:r>
          </a:p>
        </p:txBody>
      </p:sp>
      <p:sp>
        <p:nvSpPr>
          <p:cNvPr id="16" name="Rounded Rectangle 15"/>
          <p:cNvSpPr/>
          <p:nvPr/>
        </p:nvSpPr>
        <p:spPr>
          <a:xfrm>
            <a:off x="9015755"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ДЕЙСТВУЮЩАЯ ВЕРСИЯ — РАЗЛИЧЕНИЕ И ПОДТВЕРЖДЕНИЕ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0,82 до 0,92 · от 0,13 до 0,26</a:t>
            </a:r>
          </a:p>
        </p:txBody>
      </p:sp>
      <p:sp>
        <p:nvSpPr>
          <p:cNvPr id="19" name="TextBox 18"/>
          <p:cNvSpPr txBox="1"/>
          <p:nvPr/>
        </p:nvSpPr>
        <p:spPr>
          <a:xfrm>
            <a:off x="9152915" y="2681111"/>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площадь под кривой на уровне госпитализации и прогностическая ценность — то есть от четырёх до восьми тревог на одно подтверждение; 227 091 госпитализация в четырёх системах, сепсис у 3,3 из ста</a:t>
            </a:r>
          </a:p>
        </p:txBody>
      </p:sp>
      <p:sp>
        <p:nvSpPr>
          <p:cNvPr id="20" name="Rounded Rectangle 19"/>
          <p:cNvSpPr/>
          <p:nvPr/>
        </p:nvSpPr>
        <p:spPr>
          <a:xfrm>
            <a:off x="374904" y="4203578"/>
            <a:ext cx="11441887" cy="2032629"/>
          </a:xfrm>
          <a:prstGeom prst="roundRect">
            <a:avLst>
              <a:gd name="adj" fmla="val 14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295018"/>
            <a:ext cx="11112703" cy="1941189"/>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Вторая проверка, другие авторы, другие больницы: 145 885 обращений двух приёмных отделений. Поймано </a:t>
            </a:r>
            <a:r>
              <a:rPr sz="1440" b="1" i="0">
                <a:solidFill>
                  <a:srgbClr val="21295C"/>
                </a:solidFill>
                <a:latin typeface="Arial"/>
              </a:rPr>
              <a:t>14,7 случая сепсиса из ста</a:t>
            </a:r>
            <a:r>
              <a:rPr sz="1440" b="0" i="0">
                <a:solidFill>
                  <a:srgbClr val="21295C"/>
                </a:solidFill>
                <a:latin typeface="Arial"/>
              </a:rPr>
              <a:t>. Срабатывание — </a:t>
            </a:r>
            <a:r>
              <a:rPr sz="1440" b="1" i="0">
                <a:solidFill>
                  <a:srgbClr val="21295C"/>
                </a:solidFill>
                <a:latin typeface="Arial"/>
              </a:rPr>
              <a:t>4,9 обращения из ста</a:t>
            </a:r>
            <a:r>
              <a:rPr sz="1440" b="0" i="0">
                <a:solidFill>
                  <a:srgbClr val="21295C"/>
                </a:solidFill>
                <a:latin typeface="Arial"/>
              </a:rPr>
              <a:t>. Медианное опережение клинического решения — </a:t>
            </a:r>
            <a:r>
              <a:rPr sz="1440" b="1" i="0">
                <a:solidFill>
                  <a:srgbClr val="21295C"/>
                </a:solidFill>
                <a:latin typeface="Arial"/>
              </a:rPr>
              <a:t>ноль минут</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440" b="0" i="0">
                <a:solidFill>
                  <a:srgbClr val="21295C"/>
                </a:solidFill>
                <a:latin typeface="Arial"/>
              </a:rPr>
              <a:t/>
            </a:r>
            <a:r>
              <a:rPr sz="1440" b="0" i="0">
                <a:solidFill>
                  <a:srgbClr val="21295C"/>
                </a:solidFill>
                <a:latin typeface="Arial"/>
              </a:rPr>
              <a:t>Действующую версию модели проверили отдельно, многоцентрово и проспективно: различение </a:t>
            </a:r>
            <a:r>
              <a:rPr sz="1440" b="1" i="0">
                <a:solidFill>
                  <a:srgbClr val="21295C"/>
                </a:solidFill>
                <a:latin typeface="Arial"/>
              </a:rPr>
              <a:t>от 0,82 до 0,92</a:t>
            </a:r>
            <a:r>
              <a:rPr sz="1440" b="0" i="0">
                <a:solidFill>
                  <a:srgbClr val="21295C"/>
                </a:solidFill>
                <a:latin typeface="Arial"/>
              </a:rPr>
              <a:t>, прогностическая ценность </a:t>
            </a:r>
            <a:r>
              <a:rPr sz="1440" b="1" i="0">
                <a:solidFill>
                  <a:srgbClr val="21295C"/>
                </a:solidFill>
                <a:latin typeface="Arial"/>
              </a:rPr>
              <a:t>от 0,13 до 0,26</a:t>
            </a:r>
            <a:r>
              <a:rPr sz="1440" b="0" i="0">
                <a:solidFill>
                  <a:srgbClr val="21295C"/>
                </a:solidFill>
                <a:latin typeface="Arial"/>
              </a:rPr>
              <a:t> — от четырёх до восьми тревог на одно подтверждение. Это текущее состояние того же случая, а не снятая версия.</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Ostermayer D. G., Braunheim B., Mehta A. M., Ward J., Andrabi S., Sirajuddin A. M., JAMIA Open 2024;7(4):ooae133, DOI 10.1093/jamiaopen/ooae133, PMID 39545248</a:t>
            </a:r>
            <a:r>
              <a:rPr sz="1100" b="0" i="1">
                <a:solidFill>
                  <a:srgbClr val="1C7293"/>
                </a:solidFill>
                <a:latin typeface="Arial"/>
              </a:rPr>
              <a:t> · </a:t>
            </a:r>
            <a:r>
              <a:rPr sz="1100" b="0" i="1">
                <a:solidFill>
                  <a:srgbClr val="1C7293"/>
                </a:solidFill>
                <a:latin typeface="Arial"/>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Пара на тревогах: дало, потребовало</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 раннее оповещение существует и работает без участия человека. </a:t>
            </a:r>
            <a:r>
              <a:rPr sz="1500" b="1" i="0">
                <a:solidFill>
                  <a:srgbClr val="21295C"/>
                </a:solidFill>
                <a:latin typeface="Arial"/>
              </a:rPr>
              <a:t>Потребовало</a:t>
            </a:r>
            <a:r>
              <a:rPr sz="1500" b="0" i="0">
                <a:solidFill>
                  <a:srgbClr val="21295C"/>
                </a:solidFill>
                <a:latin typeface="Arial"/>
              </a:rPr>
              <a:t> — разбор и отклонение тревоги стало отдельной статьёй рабочего времени, которой до внедрения не существовало; в отдельных больницах у этого шага появился штат. </a:t>
            </a:r>
            <a:r>
              <a:rPr sz="1500" b="1" i="0">
                <a:solidFill>
                  <a:srgbClr val="21295C"/>
                </a:solidFill>
                <a:latin typeface="Arial"/>
              </a:rPr>
              <a:t>В сумме</a:t>
            </a:r>
            <a:r>
              <a:rPr sz="1500" b="0" i="0">
                <a:solidFill>
                  <a:srgbClr val="21295C"/>
                </a:solidFill>
                <a:latin typeface="Arial"/>
              </a:rPr>
              <a:t> — внимание расходуется там же, где и раньше, только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500" b="1" i="0">
                <a:solidFill>
                  <a:srgbClr val="21295C"/>
                </a:solidFill>
                <a:latin typeface="Arial"/>
              </a:rPr>
              <a:t>953 до 1 363 в сутки</a:t>
            </a:r>
            <a:r>
              <a:rPr sz="1500" b="0" i="0">
                <a:solidFill>
                  <a:srgbClr val="21295C"/>
                </a:solidFill>
                <a:latin typeface="Arial"/>
              </a:rPr>
              <a:t>, причём загрузка за тот же период </a:t>
            </a:r>
            <a:r>
              <a:rPr sz="1500" b="1" i="0">
                <a:solidFill>
                  <a:srgbClr val="21295C"/>
                </a:solidFill>
                <a:latin typeface="Arial"/>
              </a:rPr>
              <a:t>упала с 10 159 до 6 634 пациентов</a:t>
            </a:r>
            <a:r>
              <a:rPr sz="1500" b="0" i="0">
                <a:solidFill>
                  <a:srgbClr val="21295C"/>
                </a:solidFill>
                <a:latin typeface="Arial"/>
              </a:rPr>
              <a:t>: доля пациентов с тревогой выросла с 9 до 21 из ста.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A., Cao J., Lyons P. G. и соавт., JAMA Network Open 2021;4(11), DOI 10.1001/jamanetworkopen.2021.35286, PMID 34797372</a:t>
            </a:r>
            <a:r>
              <a:rPr sz="1100" b="0" i="1">
                <a:solidFill>
                  <a:srgbClr val="1C7293"/>
                </a:solidFill>
                <a:latin typeface="Arial"/>
              </a:rPr>
              <a:t> · </a:t>
            </a:r>
            <a:r>
              <a:rPr sz="11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наблюдение за состоянием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модель считает балл риска непрерывно и там, где дежурная смена успевает складывать его раз в несколько часов.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она не вышла за полосу подтверждения заменённой шкалы: больше тревог не значит больше пойманных случаев.</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нагрузка выросла на том же месте, и появился шаг — разбор и отклонение потока, за которым теперь нужен штат.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запись об этом решении читает кто-то, кто пациента не видел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встретится ещё раз в разделе о ведении записи: это повторение формы на разном материале, не новое наблюдение.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Автоматическая запись приёма</a:t>
            </a:r>
            <a:r>
              <a:rPr sz="1550" b="0" i="0">
                <a:solidFill>
                  <a:srgbClr val="21295C"/>
                </a:solidFill>
                <a:latin typeface="Arial"/>
              </a:rPr>
              <a:t> · </a:t>
            </a:r>
            <a:r>
              <a:rPr sz="1550" b="1" i="0">
                <a:solidFill>
                  <a:srgbClr val="21295C"/>
                </a:solidFill>
                <a:latin typeface="Arial"/>
              </a:rPr>
              <a:t>Выписной эпикриз</a:t>
            </a:r>
            <a:r>
              <a:rPr sz="1550" b="0" i="0">
                <a:solidFill>
                  <a:srgbClr val="21295C"/>
                </a:solidFill>
                <a:latin typeface="Arial"/>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Автоматическая запись приёма</a:t>
            </a:r>
          </a:p>
        </p:txBody>
      </p:sp>
      <p:sp>
        <p:nvSpPr>
          <p:cNvPr id="4" name="Rounded Rectangle 3"/>
          <p:cNvSpPr/>
          <p:nvPr/>
        </p:nvSpPr>
        <p:spPr>
          <a:xfrm>
            <a:off x="502920"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 БЕЗ РАСКРЫТОЙ МЕТОДИКИ СЧЁТА</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 десять недель работы инструмента — это около четверти часа на приём, тогда как вся работа над заметкой измерена минутами: сопоставить одно с другим нельзя</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ПЕРВЫЙ ИНСТРУМЕНТ</a:t>
            </a:r>
          </a:p>
        </p:txBody>
      </p:sp>
      <p:sp>
        <p:nvSpPr>
          <p:cNvPr id="10" name="TextBox 9"/>
          <p:cNvSpPr txBox="1"/>
          <p:nvPr/>
        </p:nvSpPr>
        <p:spPr>
          <a:xfrm>
            <a:off x="3477691" y="169079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время в заметке ниже на 9,5 процента</a:t>
            </a:r>
          </a:p>
        </p:txBody>
      </p:sp>
      <p:sp>
        <p:nvSpPr>
          <p:cNvPr id="11" name="TextBox 10"/>
          <p:cNvSpPr txBox="1"/>
          <p:nvPr/>
        </p:nvSpPr>
        <p:spPr>
          <a:xfrm>
            <a:off x="3477691" y="2304520"/>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относительно контрольной группы, которая писала заметки как раньше</a:t>
            </a:r>
          </a:p>
        </p:txBody>
      </p:sp>
      <p:sp>
        <p:nvSpPr>
          <p:cNvPr id="12" name="Rounded Rectangle 11"/>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ИНСТРУМЕНТ 2</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АКТИВНОЕ ВРЕМЯ ПРАВКИ</a:t>
            </a:r>
          </a:p>
        </p:txBody>
      </p:sp>
      <p:sp>
        <p:nvSpPr>
          <p:cNvPr id="17" name="TextBox 16"/>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изменилось</a:t>
            </a:r>
          </a:p>
        </p:txBody>
      </p:sp>
      <p:sp>
        <p:nvSpPr>
          <p:cNvPr id="18" name="Rounded Rectangle 17"/>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Заявлено:</a:t>
            </a:r>
            <a:r>
              <a:rPr sz="1350" b="0" i="0">
                <a:solidFill>
                  <a:srgbClr val="21295C"/>
                </a:solidFill>
                <a:latin typeface="Arial"/>
              </a:rPr>
              <a:t> экономия </a:t>
            </a:r>
            <a:r>
              <a:rPr sz="1350" b="1" i="0">
                <a:solidFill>
                  <a:srgbClr val="21295C"/>
                </a:solidFill>
                <a:latin typeface="Arial"/>
              </a:rPr>
              <a:t>15 791 часа на 63 000 приёмов</a:t>
            </a:r>
            <a:r>
              <a:rPr sz="1350" b="0" i="0">
                <a:solidFill>
                  <a:srgbClr val="21295C"/>
                </a:solidFill>
                <a:latin typeface="Arial"/>
              </a:rPr>
              <a:t> за десять недель — методика счёта не раскрыта. </a:t>
            </a:r>
            <a:r>
              <a:rPr sz="1350" b="1" i="0">
                <a:solidFill>
                  <a:srgbClr val="21295C"/>
                </a:solidFill>
                <a:latin typeface="Arial"/>
              </a:rPr>
              <a:t>Измерено рандомизированным испытанием (238 врачей четырнадцати специальностей):</a:t>
            </a:r>
            <a:r>
              <a:rPr sz="1350" b="0" i="0">
                <a:solidFill>
                  <a:srgbClr val="21295C"/>
                </a:solidFill>
                <a:latin typeface="Arial"/>
              </a:rPr>
              <a:t> у одного из двух инструментов время в заметке упало на </a:t>
            </a:r>
            <a:r>
              <a:rPr sz="1350" b="1" i="0">
                <a:solidFill>
                  <a:srgbClr val="21295C"/>
                </a:solidFill>
                <a:latin typeface="Arial"/>
              </a:rPr>
              <a:t>9,5 процента</a:t>
            </a:r>
            <a:r>
              <a:rPr sz="1350" b="0" i="0">
                <a:solidFill>
                  <a:srgbClr val="21295C"/>
                </a:solidFill>
                <a:latin typeface="Arial"/>
              </a:rPr>
              <a:t> относительно контрольной группы, у второго значимого изменения нет; </a:t>
            </a:r>
            <a:r>
              <a:rPr sz="1350" b="1" i="0">
                <a:solidFill>
                  <a:srgbClr val="21295C"/>
                </a:solidFill>
                <a:latin typeface="Arial"/>
              </a:rPr>
              <a:t>активное время правки заметки не изменилось.</a:t>
            </a:r>
          </a:p>
          <a:p>
            <a:pPr algn="l">
              <a:lnSpc>
                <a:spcPct val="126000"/>
              </a:lnSpc>
              <a:spcBef>
                <a:spcPts val="700"/>
              </a:spcBef>
            </a:pPr>
            <a:r>
              <a:rPr sz="1350" b="0" i="0">
                <a:solidFill>
                  <a:srgbClr val="21295C"/>
                </a:solidFill>
                <a:latin typeface="Arial"/>
              </a:rPr>
              <a:t/>
            </a:r>
            <a:r>
              <a:rPr sz="135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1080" b="0" i="0">
                <a:solidFill>
                  <a:srgbClr val="21295C"/>
                </a:solidFill>
                <a:latin typeface="Arial"/>
              </a:rPr>
              <a:t/>
            </a:r>
            <a:r>
              <a:rPr sz="1080" b="0" i="1">
                <a:solidFill>
                  <a:srgbClr val="1C7293"/>
                </a:solidFill>
                <a:latin typeface="Arial"/>
              </a:rPr>
              <a:t>Режим: амбиентная запись приёма — голосом в текст. Чем это делают сегодня: Abridge и Ambience в крупных системах, Microsoft Dragon Copilot (прежний Nuance DAX), Nabla и Suki в среднем сегменте. Чего режим не умеет: снять обязанность вычитки; сократить активное время правки.</a:t>
            </a:r>
          </a:p>
          <a:p>
            <a:pPr algn="l">
              <a:lnSpc>
                <a:spcPct val="126000"/>
              </a:lnSpc>
              <a:spcBef>
                <a:spcPts val="700"/>
              </a:spcBef>
            </a:pPr>
            <a:r>
              <a:rPr sz="1350" b="0" i="0">
                <a:solidFill>
                  <a:srgbClr val="21295C"/>
                </a:solidFill>
                <a:latin typeface="Arial"/>
              </a:rPr>
              <a:t/>
            </a:r>
            <a:r>
              <a:rPr sz="13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Трёхрукое рандомизированное испытание двух инструментов, препринт medRxiv 2025.07.10.25331333, регистрация NCT06792890 — рецензирования не проходил</a:t>
            </a:r>
            <a:r>
              <a:rPr sz="1100" b="0" i="1">
                <a:solidFill>
                  <a:srgbClr val="1C7293"/>
                </a:solidFill>
                <a:latin typeface="Arial"/>
              </a:rPr>
              <a:t> · </a:t>
            </a:r>
            <a:r>
              <a:rPr sz="11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дорожки: набор текста и вычитка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73546"/>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Было</a:t>
            </a:r>
          </a:p>
        </p:txBody>
      </p:sp>
      <p:sp>
        <p:nvSpPr>
          <p:cNvPr id="14" name="Rounded Rectangle 13"/>
          <p:cNvSpPr/>
          <p:nvPr/>
        </p:nvSpPr>
        <p:spPr>
          <a:xfrm>
            <a:off x="1920240"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02536"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набор текста</a:t>
            </a:r>
          </a:p>
        </p:txBody>
      </p:sp>
      <p:sp>
        <p:nvSpPr>
          <p:cNvPr id="16" name="Right Arrow 15"/>
          <p:cNvSpPr/>
          <p:nvPr/>
        </p:nvSpPr>
        <p:spPr>
          <a:xfrm>
            <a:off x="6713067" y="3378702"/>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41667"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23963"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19" name="TextBox 18"/>
          <p:cNvSpPr txBox="1"/>
          <p:nvPr/>
        </p:nvSpPr>
        <p:spPr>
          <a:xfrm>
            <a:off x="502920" y="387705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Стало</a:t>
            </a:r>
          </a:p>
        </p:txBody>
      </p:sp>
      <p:sp>
        <p:nvSpPr>
          <p:cNvPr id="20" name="Rounded Rectangle 19"/>
          <p:cNvSpPr/>
          <p:nvPr/>
        </p:nvSpPr>
        <p:spPr>
          <a:xfrm>
            <a:off x="1920240"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02536"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разговор</a:t>
            </a:r>
          </a:p>
        </p:txBody>
      </p:sp>
      <p:sp>
        <p:nvSpPr>
          <p:cNvPr id="22" name="Right Arrow 21"/>
          <p:cNvSpPr/>
          <p:nvPr/>
        </p:nvSpPr>
        <p:spPr>
          <a:xfrm>
            <a:off x="4202353"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30953"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13249"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черновик</a:t>
            </a:r>
          </a:p>
        </p:txBody>
      </p:sp>
      <p:sp>
        <p:nvSpPr>
          <p:cNvPr id="25" name="Right Arrow 24"/>
          <p:cNvSpPr/>
          <p:nvPr/>
        </p:nvSpPr>
        <p:spPr>
          <a:xfrm>
            <a:off x="6713067"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941667"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23963"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вычитка</a:t>
            </a:r>
          </a:p>
        </p:txBody>
      </p:sp>
      <p:sp>
        <p:nvSpPr>
          <p:cNvPr id="28" name="Right Arrow 27"/>
          <p:cNvSpPr/>
          <p:nvPr/>
        </p:nvSpPr>
        <p:spPr>
          <a:xfrm>
            <a:off x="9223781"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452381"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677"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31" name="TextBox 30"/>
          <p:cNvSpPr txBox="1"/>
          <p:nvPr/>
        </p:nvSpPr>
        <p:spPr>
          <a:xfrm>
            <a:off x="502920" y="448055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Поверх, другой рукой</a:t>
            </a:r>
          </a:p>
        </p:txBody>
      </p:sp>
      <p:sp>
        <p:nvSpPr>
          <p:cNvPr id="32" name="Rounded Rectangle 31"/>
          <p:cNvSpPr/>
          <p:nvPr/>
        </p:nvSpPr>
        <p:spPr>
          <a:xfrm>
            <a:off x="1920240" y="4425690"/>
            <a:ext cx="9768535"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02536" y="4507986"/>
            <a:ext cx="9603943"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выборочный контроль заметок</a:t>
            </a:r>
          </a:p>
        </p:txBody>
      </p:sp>
      <p:sp>
        <p:nvSpPr>
          <p:cNvPr id="34" name="TextBox 33"/>
          <p:cNvSpPr txBox="1"/>
          <p:nvPr/>
        </p:nvSpPr>
        <p:spPr>
          <a:xfrm>
            <a:off x="502920" y="502919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342048"/>
            <a:ext cx="11441887" cy="894159"/>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5433488"/>
            <a:ext cx="11112703" cy="80271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350" b="0" i="0">
                <a:solidFill>
                  <a:srgbClr val="21295C"/>
                </a:solidFill>
                <a:latin typeface="Arial"/>
              </a:rPr>
              <a:t/>
            </a:r>
            <a:r>
              <a:rPr sz="1350" b="0" i="0">
                <a:solidFill>
                  <a:srgbClr val="21295C"/>
                </a:solidFill>
                <a:latin typeface="Arial"/>
              </a:rPr>
              <a:t>Нагрузка переехала с набора на вычитку, и рядом появился шаг, которого не было.</a:t>
            </a:r>
          </a:p>
          <a:p>
            <a:pPr algn="l">
              <a:lnSpc>
                <a:spcPct val="126000"/>
              </a:lnSpc>
              <a:spcBef>
                <a:spcPts val="700"/>
              </a:spcBef>
            </a:pPr>
            <a:r>
              <a:rPr sz="1350" b="0" i="0">
                <a:solidFill>
                  <a:srgbClr val="21295C"/>
                </a:solidFill>
                <a:latin typeface="Arial"/>
              </a:rPr>
              <a:t/>
            </a:r>
            <a:r>
              <a:rPr sz="1350" b="0" i="0">
                <a:solidFill>
                  <a:srgbClr val="21295C"/>
                </a:solidFill>
                <a:latin typeface="Arial"/>
              </a:rPr>
              <a:t>Ноль изменений у второго инструмента: эффект принадлежит не режиму, а реализации.</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Отчёт службы контроля качества заметок одной клиники</a:t>
            </a:r>
            <a:r>
              <a:rPr sz="1100" b="0" i="1">
                <a:solidFill>
                  <a:srgbClr val="1C7293"/>
                </a:solidFill>
                <a:latin typeface="Arial"/>
              </a:rPr>
              <a:t> · </a:t>
            </a:r>
            <a:r>
              <a:rPr sz="1100" b="0" i="1">
                <a:solidFill>
                  <a:srgbClr val="1C7293"/>
                </a:solidFill>
                <a:latin typeface="Arial"/>
              </a:rPr>
              <a:t>трёхрукое рандомизированное испытание двух инструментов, препринт medRxiv 2025.07.10.25331333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Выписной эпикриз</a:t>
            </a:r>
          </a:p>
        </p:txBody>
      </p:sp>
      <p:sp>
        <p:nvSpPr>
          <p:cNvPr id="4" name="Rounded Rectangle 3"/>
          <p:cNvSpPr/>
          <p:nvPr/>
        </p:nvSpPr>
        <p:spPr>
          <a:xfrm>
            <a:off x="502920"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ПОЛНОТА ДОКУМЕНТА: ЧЕЛОВЕК → МОДЕЛЬ</a:t>
            </a:r>
          </a:p>
        </p:txBody>
      </p:sp>
      <p:sp>
        <p:nvSpPr>
          <p:cNvPr id="6" name="TextBox 5"/>
          <p:cNvSpPr txBox="1"/>
          <p:nvPr/>
        </p:nvSpPr>
        <p:spPr>
          <a:xfrm>
            <a:off x="640080" y="1863689"/>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4,13 → 3,72 по пятибалльной шкале</a:t>
            </a:r>
          </a:p>
        </p:txBody>
      </p:sp>
      <p:sp>
        <p:nvSpPr>
          <p:cNvPr id="7" name="TextBox 6"/>
          <p:cNvSpPr txBox="1"/>
          <p:nvPr/>
        </p:nvSpPr>
        <p:spPr>
          <a:xfrm>
            <a:off x="640080" y="2477412"/>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слепая дублированная оценка 22 рецензентов на 100 госпитализациях</a:t>
            </a:r>
          </a:p>
        </p:txBody>
      </p:sp>
      <p:sp>
        <p:nvSpPr>
          <p:cNvPr id="8" name="Rounded Rectangle 7"/>
          <p:cNvSpPr/>
          <p:nvPr/>
        </p:nvSpPr>
        <p:spPr>
          <a:xfrm>
            <a:off x="3340531"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УНИКАЛЬНЫХ ОШИБОК НА ДОКУМЕНТ: ЧЕЛОВЕК → МОДЕЛЬ</a:t>
            </a:r>
          </a:p>
        </p:txBody>
      </p:sp>
      <p:sp>
        <p:nvSpPr>
          <p:cNvPr id="10" name="TextBox 9"/>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потенциальный вред одной ошибки у человека и у модели не различается</a:t>
            </a:r>
          </a:p>
        </p:txBody>
      </p:sp>
      <p:sp>
        <p:nvSpPr>
          <p:cNvPr id="12" name="Rounded Rectangle 11"/>
          <p:cNvSpPr/>
          <p:nvPr/>
        </p:nvSpPr>
        <p:spPr>
          <a:xfrm>
            <a:off x="6178143" y="1335024"/>
            <a:ext cx="2673019" cy="1669971"/>
          </a:xfrm>
          <a:prstGeom prst="roundRect">
            <a:avLst>
              <a:gd name="adj" fmla="val 1825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ПОТЕНЦИАЛ ВРЕДА ОДНОЙ ОШИБКИ</a:t>
            </a:r>
          </a:p>
        </p:txBody>
      </p:sp>
      <p:sp>
        <p:nvSpPr>
          <p:cNvPr id="14" name="TextBox 13"/>
          <p:cNvSpPr txBox="1"/>
          <p:nvPr/>
        </p:nvSpPr>
        <p:spPr>
          <a:xfrm>
            <a:off x="6315303" y="1863689"/>
            <a:ext cx="2398699" cy="1004146"/>
          </a:xfrm>
          <a:prstGeom prst="rect">
            <a:avLst/>
          </a:prstGeom>
          <a:noFill/>
        </p:spPr>
        <p:txBody>
          <a:bodyPr wrap="square" lIns="0" rIns="0" tIns="0" bIns="0" anchor="t">
            <a:spAutoFit/>
          </a:bodyPr>
          <a:lstStyle/>
          <a:p>
            <a:pPr algn="l">
              <a:lnSpc>
                <a:spcPct val="108000"/>
              </a:lnSpc>
            </a:pPr>
            <a:r>
              <a:rPr sz="1900" b="1" i="0">
                <a:solidFill>
                  <a:srgbClr val="F0AB00"/>
                </a:solidFill>
                <a:latin typeface="Arial"/>
              </a:rPr>
              <a:t>у человека и у модели совпадает, обе оценки низкие</a:t>
            </a:r>
          </a:p>
        </p:txBody>
      </p:sp>
      <p:sp>
        <p:nvSpPr>
          <p:cNvPr id="15" name="Rounded Rectangle 14"/>
          <p:cNvSpPr/>
          <p:nvPr/>
        </p:nvSpPr>
        <p:spPr>
          <a:xfrm>
            <a:off x="9015755"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ТРОЙКА ИЗ ПЕРЕСКАЗОВ</a:t>
            </a:r>
          </a:p>
        </p:txBody>
      </p:sp>
      <p:sp>
        <p:nvSpPr>
          <p:cNvPr id="17" name="TextBox 16"/>
          <p:cNvSpPr txBox="1"/>
          <p:nvPr/>
        </p:nvSpPr>
        <p:spPr>
          <a:xfrm>
            <a:off x="9152915"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построчно не найдена ни в одной из трёх открытых работ</a:t>
            </a:r>
          </a:p>
        </p:txBody>
      </p:sp>
      <p:sp>
        <p:nvSpPr>
          <p:cNvPr id="18" name="Rounded Rectangle 17"/>
          <p:cNvSpPr/>
          <p:nvPr/>
        </p:nvSpPr>
        <p:spPr>
          <a:xfrm>
            <a:off x="374904" y="3096435"/>
            <a:ext cx="11441887" cy="3139772"/>
          </a:xfrm>
          <a:prstGeom prst="roundRect">
            <a:avLst>
              <a:gd name="adj" fmla="val 97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187875"/>
            <a:ext cx="11112703" cy="3048332"/>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Модель собирает выписной документ по истории болезни; врач вычитывает и подписывает; документ читает следующий врач и назначает по нему.</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Дало</a:t>
            </a:r>
            <a:r>
              <a:rPr sz="1200" b="0" i="0">
                <a:solidFill>
                  <a:srgbClr val="21295C"/>
                </a:solidFill>
                <a:latin typeface="Arial"/>
              </a:rPr>
              <a:t> — документ готов раньше, короче и связнее. </a:t>
            </a:r>
            <a:r>
              <a:rPr sz="1200" b="1" i="0">
                <a:solidFill>
                  <a:srgbClr val="21295C"/>
                </a:solidFill>
                <a:latin typeface="Arial"/>
              </a:rPr>
              <a:t>Потребовало</a:t>
            </a:r>
            <a:r>
              <a:rPr sz="1200" b="0" i="0">
                <a:solidFill>
                  <a:srgbClr val="21295C"/>
                </a:solidFill>
                <a:latin typeface="Arial"/>
              </a:rPr>
              <a:t> — полноты и вычитки другого рода. </a:t>
            </a:r>
            <a:r>
              <a:rPr sz="1200" b="1" i="0">
                <a:solidFill>
                  <a:srgbClr val="21295C"/>
                </a:solidFill>
                <a:latin typeface="Arial"/>
              </a:rPr>
              <a:t>В сумме</a:t>
            </a:r>
            <a:r>
              <a:rPr sz="1200" b="0" i="0">
                <a:solidFill>
                  <a:srgbClr val="21295C"/>
                </a:solidFill>
                <a:latin typeface="Arial"/>
              </a:rPr>
              <a:t> — потенциал вреда одной ошибки тот же, ошибок больше, документ менее полон.</a:t>
            </a:r>
          </a:p>
          <a:p>
            <a:pPr algn="l">
              <a:lnSpc>
                <a:spcPct val="126000"/>
              </a:lnSpc>
              <a:spcBef>
                <a:spcPts val="700"/>
              </a:spcBef>
            </a:pPr>
            <a:r>
              <a:rPr sz="1200" b="0" i="0">
                <a:solidFill>
                  <a:srgbClr val="21295C"/>
                </a:solidFill>
                <a:latin typeface="Arial"/>
              </a:rPr>
              <a:t/>
            </a:r>
            <a:r>
              <a:rPr sz="1200" b="1" i="0">
                <a:solidFill>
                  <a:srgbClr val="21295C"/>
                </a:solidFill>
                <a:latin typeface="Arial"/>
              </a:rPr>
              <a:t>А теперь то, что по этому случаю чаще всего и пересказывают.</a:t>
            </a:r>
            <a:r>
              <a:rPr sz="1200" b="0" i="0">
                <a:solidFill>
                  <a:srgbClr val="21295C"/>
                </a:solidFill>
                <a:latin typeface="Arial"/>
              </a:rPr>
              <a:t> В обзорах и в журналистских пересказах ходит тройка: потенциально вредные проблемы в части машинных эпикризов, добавленный несуществующий препарат, расхождение с потенциалом необратимого вреда — три аккуратных числа со ссылкой на «исследование ста эпикризов».</a:t>
            </a:r>
          </a:p>
          <a:p>
            <a:pPr algn="l">
              <a:lnSpc>
                <a:spcPct val="126000"/>
              </a:lnSpc>
              <a:spcBef>
                <a:spcPts val="700"/>
              </a:spcBef>
            </a:pPr>
            <a:r>
              <a:rPr sz="1200" b="0" i="0">
                <a:solidFill>
                  <a:srgbClr val="21295C"/>
                </a:solidFill>
                <a:latin typeface="Arial"/>
              </a:rPr>
              <a:t/>
            </a:r>
            <a:r>
              <a:rPr sz="1200" b="1" i="0">
                <a:solidFill>
                  <a:srgbClr val="21295C"/>
                </a:solidFill>
                <a:latin typeface="Arial"/>
              </a:rPr>
              <a:t>Построчное чтение трёх доступных первоисточников этой тройки не даёт.</a:t>
            </a:r>
            <a:r>
              <a:rPr sz="1200" b="0" i="0">
                <a:solidFill>
                  <a:srgbClr val="21295C"/>
                </a:solidFill>
                <a:latin typeface="Arial"/>
              </a:rPr>
              <a:t> Проспективное исследование ста сводок считает другой состав и в других определениях: пропуски, неточности, выдумки, умеренный вред — и ни одного случая тяжёлого. Слепое сравнение ста госпитализаций даёт счёт отдельных ошибок с потенциалом необратимого вреда у модели против такого же счёта у врачей.</a:t>
            </a:r>
          </a:p>
          <a:p>
            <a:pPr algn="l">
              <a:lnSpc>
                <a:spcPct val="126000"/>
              </a:lnSpc>
              <a:spcBef>
                <a:spcPts val="700"/>
              </a:spcBef>
            </a:pPr>
            <a:r>
              <a:rPr sz="1200" b="0" i="0">
                <a:solidFill>
                  <a:srgbClr val="21295C"/>
                </a:solidFill>
                <a:latin typeface="Arial"/>
              </a:rPr>
              <a:t/>
            </a:r>
            <a:r>
              <a:rPr sz="1200" b="0" i="0">
                <a:solidFill>
                  <a:srgbClr val="21295C"/>
                </a:solidFill>
                <a:latin typeface="Arial"/>
              </a:rPr>
              <a:t>Числа, которые удобно звучат, живут в пересказах дольше, чем в первоисточниках. </a:t>
            </a:r>
            <a:r>
              <a:rPr sz="1200" b="1" i="0">
                <a:solidFill>
                  <a:srgbClr val="21295C"/>
                </a:solidFill>
                <a:latin typeface="Arial"/>
              </a:rPr>
              <a:t>Разряд свидетельства у пересказа ниже, чем у исследования, даже когда числа совпадают</a:t>
            </a:r>
            <a:r>
              <a:rPr sz="1200" b="0" i="0">
                <a:solidFill>
                  <a:srgbClr val="21295C"/>
                </a:solidFill>
                <a:latin typeface="Arial"/>
              </a:rPr>
              <a:t> — а проверка одного первоисточника построчно меняет состав утверждения целиком.</a:t>
            </a:r>
          </a:p>
          <a:p>
            <a:pPr algn="l">
              <a:lnSpc>
                <a:spcPct val="126000"/>
              </a:lnSpc>
              <a:spcBef>
                <a:spcPts val="700"/>
              </a:spcBef>
            </a:pPr>
            <a:r>
              <a:rPr sz="960" b="0" i="0">
                <a:solidFill>
                  <a:srgbClr val="21295C"/>
                </a:solidFill>
                <a:latin typeface="Arial"/>
              </a:rPr>
              <a:t/>
            </a:r>
            <a:r>
              <a:rPr sz="960" b="0" i="1">
                <a:solidFill>
                  <a:srgbClr val="1C7293"/>
                </a:solidFill>
                <a:latin typeface="Arial"/>
              </a:rPr>
              <a:t>Режим: генерация клинических документов внутри карты — сводка событий госпитализации, отдельно сводка со ссылкой на место в карте-источнике. Без такой привязки режим не умеет отличить правдоподобное от записанного.</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Слепое сравнение ста госпитализаций, JAMA Internal Medicine 2025</a:t>
            </a:r>
            <a:r>
              <a:rPr sz="1100" b="0" i="1">
                <a:solidFill>
                  <a:srgbClr val="1C7293"/>
                </a:solidFill>
                <a:latin typeface="Arial"/>
              </a:rPr>
              <a:t> · </a:t>
            </a:r>
            <a:r>
              <a:rPr sz="1100" b="0" i="1">
                <a:solidFill>
                  <a:srgbClr val="1C7293"/>
                </a:solidFill>
                <a:latin typeface="Arial"/>
              </a:rPr>
              <a:t>проспективный пилот, JAMA Network Open 2026</a:t>
            </a:r>
            <a:r>
              <a:rPr sz="1100" b="0" i="1">
                <a:solidFill>
                  <a:srgbClr val="1C7293"/>
                </a:solidFill>
                <a:latin typeface="Arial"/>
              </a:rPr>
              <a:t> · </a:t>
            </a:r>
            <a:r>
              <a:rPr sz="1100" b="0" i="1">
                <a:solidFill>
                  <a:srgbClr val="1C7293"/>
                </a:solidFill>
                <a:latin typeface="Arial"/>
              </a:rPr>
              <a:t>одноцентровое сравнение «до и после» в реабилитационном отделении, Cureus 2026 — журнал с авторским взносом и минимальным рецензированием</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ведение записи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заметка и выписной документ готовы быстрее, короче и связнее прежнего.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вычитка не исчезла, она сменила предмет: искать теперь надо не опечатку, а правдоподобную подробность, которой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набор текста переехал на вычитку, а у вычитки появился собственный штат; документ, по которому назначают, стал менее полным.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эпикриз и есть документ, под которым стоит подпись.</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повторилась здесь на другом материале — так же, как в наблюдении за состоянием.</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разбирал запись — эпикриз, который кто-то вычитывает и подписывает. Этот раздел про саму подпись: что она значит, кто проверяет, что подписавший ещё способен возразить машине, и что происходит, когда программа меняется уже после того, как её допустили к продаже.</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1 обзор надзора после допуска</a:t>
            </a:r>
          </a:p>
        </p:txBody>
      </p:sp>
      <p:sp>
        <p:nvSpPr>
          <p:cNvPr id="9" name="TextBox 8"/>
          <p:cNvSpPr txBox="1"/>
          <p:nvPr/>
        </p:nvSpPr>
        <p:spPr>
          <a:xfrm>
            <a:off x="704088" y="3848787"/>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разбор </a:t>
            </a:r>
            <a:r>
              <a:rPr sz="1550" b="1" i="0">
                <a:solidFill>
                  <a:srgbClr val="21295C"/>
                </a:solidFill>
                <a:latin typeface="Arial"/>
              </a:rPr>
              <a:t>«Норма есть, проверки нет»</a:t>
            </a:r>
            <a:r>
              <a:rPr sz="1550" b="0" i="0">
                <a:solidFill>
                  <a:srgbClr val="21295C"/>
                </a:solidFill>
                <a:latin typeface="Arial"/>
              </a:rPr>
              <a:t> — требование оставить человека финальным звеном проверили на практике у считаных устройств из сотен допущенных. И обзор </a:t>
            </a:r>
            <a:r>
              <a:rPr sz="1550" b="1" i="0">
                <a:solidFill>
                  <a:srgbClr val="21295C"/>
                </a:solidFill>
                <a:latin typeface="Arial"/>
              </a:rPr>
              <a:t>«Модель, которая меняется после допуска»</a:t>
            </a:r>
            <a:r>
              <a:rPr sz="1550" b="0" i="0">
                <a:solidFill>
                  <a:srgbClr val="21295C"/>
                </a:solidFill>
                <a:latin typeface="Arial"/>
              </a:rPr>
              <a:t> — что регулятор требует от программы, которая продолжает обучаться уже на рынке.</a:t>
            </a:r>
          </a:p>
        </p:txBody>
      </p:sp>
      <p:sp>
        <p:nvSpPr>
          <p:cNvPr id="10" name="TextBox 9"/>
          <p:cNvSpPr txBox="1"/>
          <p:nvPr/>
        </p:nvSpPr>
        <p:spPr>
          <a:xfrm>
            <a:off x="704088" y="4919652"/>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Регламент (ЕС) 2024/1689, статья 14; 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и один случай: врачебная комиссия</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За столом</a:t>
            </a:r>
          </a:p>
        </p:txBody>
      </p:sp>
      <p:sp>
        <p:nvSpPr>
          <p:cNvPr id="5" name="Rounded Rectangle 4"/>
          <p:cNvSpPr/>
          <p:nvPr/>
        </p:nvSpPr>
        <p:spPr>
          <a:xfrm>
            <a:off x="1920240"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Заместитель главного врача — председатель</a:t>
            </a:r>
          </a:p>
        </p:txBody>
      </p:sp>
      <p:sp>
        <p:nvSpPr>
          <p:cNvPr id="7" name="Right Arrow 6"/>
          <p:cNvSpPr/>
          <p:nvPr/>
        </p:nvSpPr>
        <p:spPr>
          <a:xfrm>
            <a:off x="4202353"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Заведующий отделением</a:t>
            </a:r>
          </a:p>
        </p:txBody>
      </p:sp>
      <p:sp>
        <p:nvSpPr>
          <p:cNvPr id="10" name="Right Arrow 9"/>
          <p:cNvSpPr/>
          <p:nvPr/>
        </p:nvSpPr>
        <p:spPr>
          <a:xfrm>
            <a:off x="6713067"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Эксперт по качеству помощи · секретарь</a:t>
            </a:r>
          </a:p>
        </p:txBody>
      </p:sp>
      <p:sp>
        <p:nvSpPr>
          <p:cNvPr id="16" name="TextBox 15"/>
          <p:cNvSpPr txBox="1"/>
          <p:nvPr/>
        </p:nvSpPr>
        <p:spPr>
          <a:xfrm>
            <a:off x="502920" y="2381260"/>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На столе</a:t>
            </a:r>
          </a:p>
        </p:txBody>
      </p:sp>
      <p:sp>
        <p:nvSpPr>
          <p:cNvPr id="17" name="Rounded Rectangle 16"/>
          <p:cNvSpPr/>
          <p:nvPr/>
        </p:nvSpPr>
        <p:spPr>
          <a:xfrm>
            <a:off x="1920240"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со всеми заключениями и подписями</a:t>
            </a:r>
          </a:p>
        </p:txBody>
      </p:sp>
      <p:sp>
        <p:nvSpPr>
          <p:cNvPr id="19" name="Right Arrow 18"/>
          <p:cNvSpPr/>
          <p:nvPr/>
        </p:nvSpPr>
        <p:spPr>
          <a:xfrm>
            <a:off x="4202353"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30953"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13249"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Протоколы исследований</a:t>
            </a:r>
          </a:p>
        </p:txBody>
      </p:sp>
      <p:sp>
        <p:nvSpPr>
          <p:cNvPr id="22" name="Right Arrow 21"/>
          <p:cNvSpPr/>
          <p:nvPr/>
        </p:nvSpPr>
        <p:spPr>
          <a:xfrm>
            <a:off x="6713067"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941667"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3963"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Распечатка вывода модели и момент её показа</a:t>
            </a:r>
          </a:p>
        </p:txBody>
      </p:sp>
      <p:sp>
        <p:nvSpPr>
          <p:cNvPr id="25" name="Right Arrow 24"/>
          <p:cNvSpPr/>
          <p:nvPr/>
        </p:nvSpPr>
        <p:spPr>
          <a:xfrm>
            <a:off x="9223781"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452381"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34677"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1153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сидит за столом и что на нём лежит</a:t>
            </a:r>
          </a:p>
        </p:txBody>
      </p:sp>
      <p:sp>
        <p:nvSpPr>
          <p:cNvPr id="29" name="Rounded Rectangle 28"/>
          <p:cNvSpPr/>
          <p:nvPr/>
        </p:nvSpPr>
        <p:spPr>
          <a:xfrm>
            <a:off x="374904" y="3428182"/>
            <a:ext cx="11441887" cy="2808025"/>
          </a:xfrm>
          <a:prstGeom prst="roundRect">
            <a:avLst>
              <a:gd name="adj" fmla="val 1085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9496" y="3519622"/>
            <a:ext cx="11112703" cy="2716585"/>
          </a:xfrm>
          <a:prstGeom prst="rect">
            <a:avLst/>
          </a:prstGeom>
          <a:noFill/>
        </p:spPr>
        <p:txBody>
          <a:bodyPr wrap="square" lIns="0" rIns="0" tIns="0" bIns="0" anchor="t">
            <a:spAutoFit/>
          </a:bodyPr>
          <a:lstStyle/>
          <a:p>
            <a:pPr algn="l">
              <a:lnSpc>
                <a:spcPct val="126000"/>
              </a:lnSpc>
            </a:pPr>
            <a:r>
              <a:rPr sz="1380" b="0" i="0">
                <a:solidFill>
                  <a:srgbClr val="21295C"/>
                </a:solidFill>
                <a:latin typeface="Arial"/>
              </a:rPr>
              <a:t>Четверг, кабинет заместителя главного врача. Комиссия разбирает один случай: пациентка шестидесяти восьми лет, госпитализирована с болью в животе, выписана через четыре дня, вернулась через сутки с осложнением.</a:t>
            </a:r>
          </a:p>
          <a:p>
            <a:pPr algn="l">
              <a:lnSpc>
                <a:spcPct val="126000"/>
              </a:lnSpc>
              <a:spcBef>
                <a:spcPts val="700"/>
              </a:spcBef>
            </a:pPr>
            <a:r>
              <a:rPr sz="1380" b="0" i="0">
                <a:solidFill>
                  <a:srgbClr val="21295C"/>
                </a:solidFill>
                <a:latin typeface="Arial"/>
              </a:rPr>
              <a:t/>
            </a:r>
            <a:r>
              <a:rPr sz="1380" b="1" i="0">
                <a:solidFill>
                  <a:srgbClr val="21295C"/>
                </a:solidFill>
                <a:latin typeface="Arial"/>
              </a:rPr>
              <a:t>Кто сидит за столом.</a:t>
            </a:r>
            <a:r>
              <a:rPr sz="1380" b="0" i="0">
                <a:solidFill>
                  <a:srgbClr val="21295C"/>
                </a:solidFill>
                <a:latin typeface="Arial"/>
              </a:rPr>
              <a:t> Председатель — заместитель главного врача. Заведующий отделением. Двое врачей той же специальности из другого отделения — с лечащим они не работают вместе. Эксперт по качеству медицинской помощи. Секретарь, ведущий протокол.</a:t>
            </a:r>
          </a:p>
          <a:p>
            <a:pPr algn="l">
              <a:lnSpc>
                <a:spcPct val="126000"/>
              </a:lnSpc>
              <a:spcBef>
                <a:spcPts val="700"/>
              </a:spcBef>
            </a:pPr>
            <a:r>
              <a:rPr sz="1380" b="0" i="0">
                <a:solidFill>
                  <a:srgbClr val="21295C"/>
                </a:solidFill>
                <a:latin typeface="Arial"/>
              </a:rPr>
              <a:t/>
            </a:r>
            <a:r>
              <a:rPr sz="1380" b="1" i="0">
                <a:solidFill>
                  <a:srgbClr val="21295C"/>
                </a:solidFill>
                <a:latin typeface="Arial"/>
              </a:rPr>
              <a:t>Что лежит на столе.</a:t>
            </a:r>
            <a:r>
              <a:rPr sz="1380" b="0" i="0">
                <a:solidFill>
                  <a:srgbClr val="21295C"/>
                </a:solidFill>
                <a:latin typeface="Arial"/>
              </a:rPr>
              <a:t> Карта со всеми заключениями и подписями. Протоколы исследований. Распечатка того, что показала модель, и отметка, в какой момент она это показала. Утверждённый порядок оказания помощи и клинические рекомендации.</a:t>
            </a:r>
          </a:p>
          <a:p>
            <a:pPr algn="l">
              <a:lnSpc>
                <a:spcPct val="126000"/>
              </a:lnSpc>
              <a:spcBef>
                <a:spcPts val="700"/>
              </a:spcBef>
            </a:pPr>
            <a:r>
              <a:rPr sz="1380" b="0" i="0">
                <a:solidFill>
                  <a:srgbClr val="21295C"/>
                </a:solidFill>
                <a:latin typeface="Arial"/>
              </a:rPr>
              <a:t/>
            </a:r>
            <a:r>
              <a:rPr sz="1380" b="1" i="0">
                <a:solidFill>
                  <a:srgbClr val="21295C"/>
                </a:solidFill>
                <a:latin typeface="Arial"/>
              </a:rPr>
              <a:t>Какой вопрос решают.</a:t>
            </a:r>
            <a:r>
              <a:rPr sz="1380" b="0" i="0">
                <a:solidFill>
                  <a:srgbClr val="21295C"/>
                </a:solidFill>
                <a:latin typeface="Arial"/>
              </a:rPr>
              <a:t> Один: соответствовали ли действия врача утверждённым порядкам, стандартам и рекомендациям.</a:t>
            </a:r>
          </a:p>
          <a:p>
            <a:pPr algn="l">
              <a:lnSpc>
                <a:spcPct val="126000"/>
              </a:lnSpc>
              <a:spcBef>
                <a:spcPts val="700"/>
              </a:spcBef>
            </a:pPr>
            <a:r>
              <a:rPr sz="1380" b="0" i="0">
                <a:solidFill>
                  <a:srgbClr val="21295C"/>
                </a:solidFill>
                <a:latin typeface="Arial"/>
              </a:rPr>
              <a:t/>
            </a:r>
            <a:r>
              <a:rPr sz="1380" b="0" i="0">
                <a:solidFill>
                  <a:srgbClr val="21295C"/>
                </a:solidFill>
                <a:latin typeface="Arial"/>
              </a:rPr>
              <a:t>Вопроса «пользовался ли он моделью» в этом списке нет.</a:t>
            </a:r>
          </a:p>
        </p:txBody>
      </p:sp>
      <p:sp>
        <p:nvSpPr>
          <p:cNvPr id="31" name="Rectangle 3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{{источник: порядок разбора врачебной ошибки — нормативного акта глава не называет, процедура описана без ссылки}}</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шага процедуры: разбор случая и склонность доверять автомату</a:t>
            </a:r>
          </a:p>
        </p:txBody>
      </p:sp>
      <p:sp>
        <p:nvSpPr>
          <p:cNvPr id="4" name="Rounded Rectangle 3"/>
          <p:cNvSpPr/>
          <p:nvPr/>
        </p:nvSpPr>
        <p:spPr>
          <a:xfrm>
            <a:off x="502920" y="1335024"/>
            <a:ext cx="3618890" cy="1659284"/>
          </a:xfrm>
          <a:prstGeom prst="roundRect">
            <a:avLst>
              <a:gd name="adj" fmla="val 18369"/>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БЕЗ МОДЕЛИ → С МОДЕЛЬЮ</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87,2 → 96,4 из ста</a:t>
            </a:r>
          </a:p>
        </p:txBody>
      </p:sp>
      <p:sp>
        <p:nvSpPr>
          <p:cNvPr id="7" name="TextBox 6"/>
          <p:cNvSpPr txBox="1"/>
          <p:nvPr/>
        </p:nvSpPr>
        <p:spPr>
          <a:xfrm>
            <a:off x="640080"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40 клиницистов, по 200 снимков каждый — восемь тысяч прочтений; девять пунктов посчитаны против ОДНОГО читателя: второе мнение второго человека в опыте названо и не посчитано</a:t>
            </a:r>
          </a:p>
        </p:txBody>
      </p:sp>
      <p:sp>
        <p:nvSpPr>
          <p:cNvPr id="8" name="Rounded Rectangle 7"/>
          <p:cNvSpPr/>
          <p:nvPr/>
        </p:nvSpPr>
        <p:spPr>
          <a:xfrm>
            <a:off x="4286402"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считается от ошибок, оставшихся в раунде с подсказкой, и наблюдалась на всех уровнях квалификации</a:t>
            </a:r>
          </a:p>
        </p:txBody>
      </p:sp>
      <p:sp>
        <p:nvSpPr>
          <p:cNvPr id="12" name="Rounded Rectangle 11"/>
          <p:cNvSpPr/>
          <p:nvPr/>
        </p:nvSpPr>
        <p:spPr>
          <a:xfrm>
            <a:off x="8069884"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РАСЧЁТНОЕ СНИЖЕНИЕ — ОЦЕНЕНО РАСЧЁТОМ, НЕ ИЗМЕРЕНО</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15" name="TextBox 14"/>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ретроспективный расчёт по двум уже собранным раундам; третьего раунда с живыми врачами не было, и знак итогового эффекта неизвестен</a:t>
            </a:r>
          </a:p>
        </p:txBody>
      </p:sp>
      <p:sp>
        <p:nvSpPr>
          <p:cNvPr id="16" name="TextBox 15"/>
          <p:cNvSpPr txBox="1"/>
          <p:nvPr/>
        </p:nvSpPr>
        <p:spPr>
          <a:xfrm>
            <a:off x="502920" y="3232052"/>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Процедура</a:t>
            </a:r>
          </a:p>
        </p:txBody>
      </p:sp>
      <p:sp>
        <p:nvSpPr>
          <p:cNvPr id="17" name="Rounded Rectangle 16"/>
          <p:cNvSpPr/>
          <p:nvPr/>
        </p:nvSpPr>
        <p:spPr>
          <a:xfrm>
            <a:off x="1920240"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случая после исхода</a:t>
            </a:r>
          </a:p>
        </p:txBody>
      </p:sp>
      <p:sp>
        <p:nvSpPr>
          <p:cNvPr id="19" name="Right Arrow 18"/>
          <p:cNvSpPr/>
          <p:nvPr/>
        </p:nvSpPr>
        <p:spPr>
          <a:xfrm>
            <a:off x="6713067" y="333720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941667"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3963"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Изменение порядка по итогам разбора</a:t>
            </a:r>
          </a:p>
        </p:txBody>
      </p:sp>
      <p:sp>
        <p:nvSpPr>
          <p:cNvPr id="22" name="TextBox 21"/>
          <p:cNvSpPr txBox="1"/>
          <p:nvPr/>
        </p:nvSpPr>
        <p:spPr>
          <a:xfrm>
            <a:off x="502920" y="3780692"/>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4093546"/>
            <a:ext cx="11441887" cy="2142661"/>
          </a:xfrm>
          <a:prstGeom prst="roundRect">
            <a:avLst>
              <a:gd name="adj" fmla="val 142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9496" y="4184986"/>
            <a:ext cx="11112703" cy="2051221"/>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Независимое второе мнение и арбитраж — третий шаг этой же процедуры, разобранный ранее.</a:t>
            </a:r>
          </a:p>
          <a:p>
            <a:pPr algn="l">
              <a:lnSpc>
                <a:spcPct val="126000"/>
              </a:lnSpc>
              <a:spcBef>
                <a:spcPts val="700"/>
              </a:spcBef>
            </a:pPr>
            <a:r>
              <a:rPr sz="1200" b="0" i="0">
                <a:solidFill>
                  <a:srgbClr val="21295C"/>
                </a:solidFill>
                <a:latin typeface="Arial"/>
              </a:rPr>
              <a:t/>
            </a:r>
            <a:r>
              <a:rPr sz="1200" b="0" i="1">
                <a:solidFill>
                  <a:srgbClr val="21295C"/>
                </a:solidFill>
                <a:latin typeface="Arial"/>
              </a:rPr>
              <a:t>Упоминание.</a:t>
            </a:r>
            <a:r>
              <a:rPr sz="1200" b="0" i="0">
                <a:solidFill>
                  <a:srgbClr val="21295C"/>
                </a:solidFill>
                <a:latin typeface="Arial"/>
              </a:rPr>
              <a:t> Алгоритмическое планирование смен медсестёр: время на составление графика сократилось на </a:t>
            </a:r>
            <a:r>
              <a:rPr sz="1200" b="1" i="0">
                <a:solidFill>
                  <a:srgbClr val="21295C"/>
                </a:solidFill>
                <a:latin typeface="Arial"/>
              </a:rPr>
              <a:t>81,2 процента</a:t>
            </a:r>
            <a:r>
              <a:rPr sz="1200" b="0" i="0">
                <a:solidFill>
                  <a:srgbClr val="21295C"/>
                </a:solidFill>
                <a:latin typeface="Arial"/>
              </a:rPr>
              <a:t> — с 32,0 до 6,0 часа в месяц. Это не обученная модель, а задача комбинаторной оптимизации с ограничениями, и формы словаря случай поэтому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Склонность доверять автомату.</a:t>
            </a:r>
            <a:r>
              <a:rPr sz="1200" b="0" i="0">
                <a:solidFill>
                  <a:srgbClr val="21295C"/>
                </a:solidFill>
                <a:latin typeface="Arial"/>
              </a:rPr>
              <a:t> С моделью точность выше на девять пунктов — и почти половина оставшихся ошибок связана именно со склонностью доверять автомату, на всех уровнях квалификации. Выигрыш и вред идут из одного места.</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Предложенное лекарство — скрывать подсказку там, где она чаще ошибается — </a:t>
            </a:r>
            <a:r>
              <a:rPr sz="1200" b="1" i="0">
                <a:solidFill>
                  <a:srgbClr val="21295C"/>
                </a:solidFill>
                <a:latin typeface="Arial"/>
              </a:rPr>
              <a:t>оценено расчётом, а не измерено</a:t>
            </a:r>
            <a:r>
              <a:rPr sz="1200" b="0" i="0">
                <a:solidFill>
                  <a:srgbClr val="21295C"/>
                </a:solidFill>
                <a:latin typeface="Arial"/>
              </a:rPr>
              <a:t>. Третьего раунда, где это проверили бы на живых врачах, не было.</a:t>
            </a:r>
          </a:p>
          <a:p>
            <a:pPr algn="l">
              <a:lnSpc>
                <a:spcPct val="126000"/>
              </a:lnSpc>
              <a:spcBef>
                <a:spcPts val="700"/>
              </a:spcBef>
            </a:pPr>
            <a:r>
              <a:rPr sz="1200" b="0" i="0">
                <a:solidFill>
                  <a:srgbClr val="21295C"/>
                </a:solidFill>
                <a:latin typeface="Arial"/>
              </a:rPr>
              <a:t/>
            </a:r>
            <a:r>
              <a:rPr sz="1200" b="0" i="0">
                <a:solidFill>
                  <a:srgbClr val="21295C"/>
                </a:solidFill>
                <a:latin typeface="Arial"/>
              </a:rPr>
              <a:t>Раскрытый конфликт интересов: часть авторов работает в компании-производителе модели или имеет на неё патент.</a:t>
            </a:r>
          </a:p>
        </p:txBody>
      </p:sp>
      <p:sp>
        <p:nvSpPr>
          <p:cNvPr id="25" name="Rectangle 24"/>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Wang D. Y., Ding J., Sun A. L. и соавт., JAMIA 2023;30(10):1684–1692, DOI 10.1093/jamia/ocad118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Цена обеих ошибок у подписи и счёт двойного чтения в минутах труда</a:t>
            </a:r>
          </a:p>
        </p:txBody>
      </p:sp>
      <p:sp>
        <p:nvSpPr>
          <p:cNvPr id="4" name="Rounded Rectangle 3"/>
          <p:cNvSpPr/>
          <p:nvPr/>
        </p:nvSpPr>
        <p:spPr>
          <a:xfrm>
            <a:off x="502920"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ОДНО ЧТЕНИЕ МАММОГРАММЫ</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25 секунд; реальные записи рабочего времени национальной программы</a:t>
            </a:r>
          </a:p>
        </p:txBody>
      </p:sp>
      <p:sp>
        <p:nvSpPr>
          <p:cNvPr id="12" name="Rounded Rectangle 11"/>
          <p:cNvSpPr/>
          <p:nvPr/>
        </p:nvSpPr>
        <p:spPr>
          <a:xfrm>
            <a:off x="8069884" y="1335024"/>
            <a:ext cx="3618890" cy="2018900"/>
          </a:xfrm>
          <a:prstGeom prst="roundRect">
            <a:avLst>
              <a:gd name="adj" fmla="val 150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4" name="TextBox 13"/>
          <p:cNvSpPr txBox="1"/>
          <p:nvPr/>
        </p:nvSpPr>
        <p:spPr>
          <a:xfrm>
            <a:off x="8207044" y="1863689"/>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477412"/>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кратность названа двумя счётами, потому что по медианам и по средним она разная: 1 минута 55 секунд против 25 секунд и 2 минуты 12 секунд против 48</a:t>
            </a:r>
          </a:p>
        </p:txBody>
      </p:sp>
      <p:sp>
        <p:nvSpPr>
          <p:cNvPr id="16" name="Rounded Rectangle 15"/>
          <p:cNvSpPr/>
          <p:nvPr/>
        </p:nvSpPr>
        <p:spPr>
          <a:xfrm>
            <a:off x="374904" y="3445364"/>
            <a:ext cx="11441887" cy="2790843"/>
          </a:xfrm>
          <a:prstGeom prst="roundRect">
            <a:avLst>
              <a:gd name="adj" fmla="val 10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36804"/>
            <a:ext cx="11112703" cy="2699403"/>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Цена обеих ошибок у подписи.</a:t>
            </a:r>
            <a:r>
              <a:rPr sz="1350" b="0" i="0">
                <a:solidFill>
                  <a:srgbClr val="21295C"/>
                </a:solidFill>
                <a:latin typeface="Arial"/>
              </a:rPr>
              <a:t> Пропущенный диагноз — подпись человеческая. Лишнее вмешательство — подпись тоже человеческая. Обе оплачивает пациент исходом.</a:t>
            </a:r>
          </a:p>
          <a:p>
            <a:pPr algn="l">
              <a:lnSpc>
                <a:spcPct val="126000"/>
              </a:lnSpc>
              <a:spcBef>
                <a:spcPts val="700"/>
              </a:spcBef>
            </a:pPr>
            <a:r>
              <a:rPr sz="1350" b="0" i="0">
                <a:solidFill>
                  <a:srgbClr val="21295C"/>
                </a:solidFill>
                <a:latin typeface="Arial"/>
              </a:rPr>
              <a:t/>
            </a:r>
            <a:r>
              <a:rPr sz="1350" b="1" i="0">
                <a:solidFill>
                  <a:srgbClr val="21295C"/>
                </a:solidFill>
                <a:latin typeface="Arial"/>
              </a:rPr>
              <a:t>Счёт классического режима в двух единицах.</a:t>
            </a:r>
            <a:r>
              <a:rPr sz="1350" b="0" i="0">
                <a:solidFill>
                  <a:srgbClr val="21295C"/>
                </a:solidFill>
                <a:latin typeface="Arial"/>
              </a:rPr>
              <a:t> Первая — </a:t>
            </a:r>
            <a:r>
              <a:rPr sz="1350" b="1" i="0">
                <a:solidFill>
                  <a:srgbClr val="21295C"/>
                </a:solidFill>
                <a:latin typeface="Arial"/>
              </a:rPr>
              <a:t>чувствительность</a:t>
            </a:r>
            <a:r>
              <a:rPr sz="1350" b="0" i="0">
                <a:solidFill>
                  <a:srgbClr val="21295C"/>
                </a:solidFill>
                <a:latin typeface="Arial"/>
              </a:rPr>
              <a:t>: у двойного чтения двумя людьми с арбитражем она ниже, чем у одного человека с моделью, и эта пара предъявлена разбором выше.</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Вторая единица — минуты труда</a:t>
            </a:r>
            <a:r>
              <a:rPr sz="1350" b="0" i="0">
                <a:solidFill>
                  <a:srgbClr val="21295C"/>
                </a:solidFill>
                <a:latin typeface="Arial"/>
              </a:rPr>
              <a:t>, и без неё экономия на чтении не считается вовсе. Одно чтение маммограммы занимает 48 секунд в среднем; один разбор расхождения двух читателей — кратно дольше. Реальные записи рабочего времени: 441 276 первичных прочтений, то есть около 219 тысяч обследований, потому что каждое читают двое; 16 центров.</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 сокращении первичных чтений вдвое объём арбитража вырос на </a:t>
            </a:r>
            <a:r>
              <a:rPr sz="1350" b="1" i="0">
                <a:solidFill>
                  <a:srgbClr val="21295C"/>
                </a:solidFill>
                <a:latin typeface="Arial"/>
              </a:rPr>
              <a:t>53 процента</a:t>
            </a:r>
            <a:r>
              <a:rPr sz="135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в двух центрах разные, и устройство нового шага само задаёт нагрузку.</a:t>
            </a:r>
          </a:p>
        </p:txBody>
      </p:sp>
      <p:sp>
        <p:nvSpPr>
          <p:cNvPr id="18" name="Rectangle 17"/>
          <p:cNvSpPr/>
          <p:nvPr/>
        </p:nvSpPr>
        <p:spPr>
          <a:xfrm>
            <a:off x="502920" y="84565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Hovda, Holen, Hofvind, European Radiology 2026, DOI 10.1007/s00330-025-12273-x; Warren L. M. и соавт., Nature Cancer 2026, DOI 10.1038/s43018-026-01128-z</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Норма есть, проверки нет</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радиологические изделия, у которых документация подачи доступна. У 661 изделия при допуске не проверяли ничего о том, как с выводом обращается человек</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ДОПУЩЕНЫ УПРОЩЁННЫМ ПУТЁМ, ПО ПОДОБИЮ РАНЕЕ ОДОБРЕННОМУ</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изделия из 950</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97 из ста; допуск по подобию проспективной клинической проверки не предполагает. Это другой знаменатель и другая дата среза, чем у плашки выше</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Разработчик</a:t>
            </a:r>
          </a:p>
          <a:p>
            <a:pPr algn="ctr">
              <a:lnSpc>
                <a:spcPct val="112000"/>
              </a:lnSpc>
            </a:pPr>
            <a:r>
              <a:rPr sz="115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1825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Врач</a:t>
            </a:r>
          </a:p>
          <a:p>
            <a:pPr algn="ctr">
              <a:lnSpc>
                <a:spcPct val="112000"/>
              </a:lnSpc>
            </a:pPr>
            <a:r>
              <a:rPr sz="115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5129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Больница</a:t>
            </a:r>
          </a:p>
          <a:p>
            <a:pPr algn="ctr">
              <a:lnSpc>
                <a:spcPct val="112000"/>
              </a:lnSpc>
            </a:pPr>
            <a:r>
              <a:rPr sz="115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8433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Регулятор</a:t>
            </a:r>
          </a:p>
          <a:p>
            <a:pPr algn="ctr">
              <a:lnSpc>
                <a:spcPct val="112000"/>
              </a:lnSpc>
            </a:pPr>
            <a:r>
              <a:rPr sz="115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73128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3044134"/>
            <a:ext cx="11441887" cy="3192073"/>
          </a:xfrm>
          <a:prstGeom prst="roundRect">
            <a:avLst>
              <a:gd name="adj" fmla="val 954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135574"/>
            <a:ext cx="11112703" cy="310063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p:txBody>
      </p:sp>
      <p:sp>
        <p:nvSpPr>
          <p:cNvPr id="15" name="Rectangle 14"/>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{{источник: рамка четырёх участников — глава называет только «работы 2019 и 2020 годов», авторов и издание не называет}}</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которая меняется после допуска</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Механизмы</a:t>
            </a:r>
          </a:p>
        </p:txBody>
      </p:sp>
      <p:sp>
        <p:nvSpPr>
          <p:cNvPr id="5" name="Rounded Rectangle 4"/>
          <p:cNvSpPr/>
          <p:nvPr/>
        </p:nvSpPr>
        <p:spPr>
          <a:xfrm>
            <a:off x="1920240"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План изменений модели — утверждается заранее, протокол проверки каждого шага</a:t>
            </a:r>
          </a:p>
        </p:txBody>
      </p:sp>
      <p:sp>
        <p:nvSpPr>
          <p:cNvPr id="7" name="Right Arrow 6"/>
          <p:cNvSpPr/>
          <p:nvPr/>
        </p:nvSpPr>
        <p:spPr>
          <a:xfrm>
            <a:off x="5039258"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10" name="Right Arrow 9"/>
          <p:cNvSpPr/>
          <p:nvPr/>
        </p:nvSpPr>
        <p:spPr>
          <a:xfrm>
            <a:off x="8386876"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Перенесённые сроки — Приложение III: 2 декабря 2027, Приложение I: 2 августа 2028</a:t>
            </a:r>
          </a:p>
        </p:txBody>
      </p:sp>
      <p:sp>
        <p:nvSpPr>
          <p:cNvPr id="13" name="TextBox 12"/>
          <p:cNvSpPr txBox="1"/>
          <p:nvPr/>
        </p:nvSpPr>
        <p:spPr>
          <a:xfrm>
            <a:off x="502920" y="232639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 механизма надзора после допуска</a:t>
            </a:r>
          </a:p>
        </p:txBody>
      </p:sp>
      <p:sp>
        <p:nvSpPr>
          <p:cNvPr id="14" name="Rounded Rectangle 13"/>
          <p:cNvSpPr/>
          <p:nvPr/>
        </p:nvSpPr>
        <p:spPr>
          <a:xfrm>
            <a:off x="374904" y="2639251"/>
            <a:ext cx="11441887" cy="3596956"/>
          </a:xfrm>
          <a:prstGeom prst="roundRect">
            <a:avLst>
              <a:gd name="adj" fmla="val 84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730691"/>
            <a:ext cx="11112703" cy="35055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механизма, каждый — что требуется, с какого момента, чем подтверждается.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Заранее утверждённый план изменений.</a:t>
            </a:r>
            <a:r>
              <a:rPr sz="1500" b="0" i="0">
                <a:solidFill>
                  <a:srgbClr val="21295C"/>
                </a:solidFill>
                <a:latin typeface="Arial"/>
              </a:rPr>
              <a:t> Какие изменения модели допустимы после выхода на рынок — включая дообучение, — и протокол проверки каждого.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Передача данных о работе регулятору.</a:t>
            </a:r>
            <a:r>
              <a:rPr sz="1500" b="0" i="0">
                <a:solidFill>
                  <a:srgbClr val="21295C"/>
                </a:solidFill>
                <a:latin typeface="Arial"/>
              </a:rPr>
              <a:t> Порядок утверждён; дата вступления в силу, срок действия и область действия по тексту акта не установлены.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Перенесённые сроки — по приложениям, не по признаку «самостоятельное или встроенное».</a:t>
            </a:r>
            <a:r>
              <a:rPr sz="1500" b="0" i="0">
                <a:solidFill>
                  <a:srgbClr val="21295C"/>
                </a:solidFill>
                <a:latin typeface="Arial"/>
              </a:rPr>
              <a:t> 2 декабря 2027 года — по Приложению III: перечисленные сферы применения высокого риска. 2 августа 2028 года — по Приложению I: искусственный интеллект в составе изделий, которые регулирует отраслевое законодательство Союза. Медицинские изделия названы там прямо, и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Формы разбора здесь нет: это обзор надзорных механизмов.</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Руководство регулятора США по плану предварительно утверждённых изменений модели, декабрь 2024; приказ Росздравнадзора от 21.07.2025 № 4472; Регламент (ЕС) 2024/1689, пакет поправок 2026 года</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Отзывы и отечественный реестр</a:t>
            </a:r>
          </a:p>
        </p:txBody>
      </p:sp>
      <p:sp>
        <p:nvSpPr>
          <p:cNvPr id="4" name="Rounded Rectangle 3"/>
          <p:cNvSpPr/>
          <p:nvPr/>
        </p:nvSpPr>
        <p:spPr>
          <a:xfrm>
            <a:off x="502920" y="1335024"/>
            <a:ext cx="3618890"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ОТЗЫВАЛИСЬ ИЗ ДОПУЩЕННЫХ ИЗДЕЛИЙ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60 изделий из 950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ноябрь 2024 года; 950 — общий объём, из которого отобраны отзывавшиеся</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ОТЗЫВНЫХ СОБЫТИЙ НА ЭТИ ИЗДЕЛИЯ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изделия без заявленной клинической проверки отзывались чаще: 3,4 отзыва на изделие против 1,9 у проверенных ретроспективно</a:t>
            </a:r>
          </a:p>
        </p:txBody>
      </p:sp>
      <p:sp>
        <p:nvSpPr>
          <p:cNvPr id="12" name="Rounded Rectangle 11"/>
          <p:cNvSpPr/>
          <p:nvPr/>
        </p:nvSpPr>
        <p:spPr>
          <a:xfrm>
            <a:off x="8069884"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ПЕРВЫЕ ДВЕНАДЦАТЬ МЕСЯЦЕВ ПОСЛЕ ДОПУСКА</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43,4 процента отзывов</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событий из 182 — примерно вдвое чаще, чем в среднем по этому пути допуска; к концу исследования 108 отзывов оставались неразрешёнными</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a:t>
            </a:r>
            <a:r>
              <a:rPr sz="1500" b="1" i="0">
                <a:solidFill>
                  <a:srgbClr val="21295C"/>
                </a:solidFill>
                <a:latin typeface="Arial"/>
              </a:rPr>
              <a:t>950</a:t>
            </a:r>
            <a:r>
              <a:rPr sz="1500" b="0" i="0">
                <a:solidFill>
                  <a:srgbClr val="21295C"/>
                </a:solidFill>
                <a:latin typeface="Arial"/>
              </a:rPr>
              <a:t> допущенных изделий с ИИ отзывались </a:t>
            </a:r>
            <a:r>
              <a:rPr sz="1500" b="1" i="0">
                <a:solidFill>
                  <a:srgbClr val="21295C"/>
                </a:solidFill>
                <a:latin typeface="Arial"/>
              </a:rPr>
              <a:t>60</a:t>
            </a:r>
            <a:r>
              <a:rPr sz="1500" b="0" i="0">
                <a:solidFill>
                  <a:srgbClr val="21295C"/>
                </a:solidFill>
                <a:latin typeface="Arial"/>
              </a:rPr>
              <a:t>; на них </a:t>
            </a:r>
            <a:r>
              <a:rPr sz="1500" b="1" i="0">
                <a:solidFill>
                  <a:srgbClr val="21295C"/>
                </a:solidFill>
                <a:latin typeface="Arial"/>
              </a:rPr>
              <a:t>182</a:t>
            </a:r>
            <a:r>
              <a:rPr sz="1500" b="0" i="0">
                <a:solidFill>
                  <a:srgbClr val="21295C"/>
                </a:solidFill>
                <a:latin typeface="Arial"/>
              </a:rPr>
              <a:t> отзывных события; </a:t>
            </a:r>
            <a:r>
              <a:rPr sz="1500" b="1" i="0">
                <a:solidFill>
                  <a:srgbClr val="21295C"/>
                </a:solidFill>
                <a:latin typeface="Arial"/>
              </a:rPr>
              <a:t>43,4 процента</a:t>
            </a:r>
            <a:r>
              <a:rPr sz="1500" b="0" i="0">
                <a:solidFill>
                  <a:srgbClr val="21295C"/>
                </a:solidFill>
                <a:latin typeface="Arial"/>
              </a:rPr>
              <a:t> отзывов — в первые двенадцать месяцев после допуска, срез ноябрь 2024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зарегистрированных медицинских программ с ИИ, три даты среза: </a:t>
            </a:r>
            <a:r>
              <a:rPr sz="1500" b="1" i="0">
                <a:solidFill>
                  <a:srgbClr val="21295C"/>
                </a:solidFill>
                <a:latin typeface="Arial"/>
              </a:rPr>
              <a:t>48</a:t>
            </a:r>
            <a:r>
              <a:rPr sz="1500" b="0" i="0">
                <a:solidFill>
                  <a:srgbClr val="21295C"/>
                </a:solidFill>
                <a:latin typeface="Arial"/>
              </a:rPr>
              <a:t> в ноябре 2025 года → </a:t>
            </a:r>
            <a:r>
              <a:rPr sz="1500" b="1" i="0">
                <a:solidFill>
                  <a:srgbClr val="21295C"/>
                </a:solidFill>
                <a:latin typeface="Arial"/>
              </a:rPr>
              <a:t>57</a:t>
            </a:r>
            <a:r>
              <a:rPr sz="1500" b="0" i="0">
                <a:solidFill>
                  <a:srgbClr val="21295C"/>
                </a:solidFill>
                <a:latin typeface="Arial"/>
              </a:rPr>
              <a:t> в июне 2026 → </a:t>
            </a:r>
            <a:r>
              <a:rPr sz="1500" b="1" i="0">
                <a:solidFill>
                  <a:srgbClr val="21295C"/>
                </a:solidFill>
                <a:latin typeface="Arial"/>
              </a:rPr>
              <a:t>59</a:t>
            </a:r>
            <a:r>
              <a:rPr sz="1500" b="0" i="0">
                <a:solidFill>
                  <a:srgbClr val="21295C"/>
                </a:solidFill>
                <a:latin typeface="Arial"/>
              </a:rPr>
              <a:t> в августе 2026. Знаменатель «всего медицинских изделий в реестре» в источниках расходится, поэтому доля от общего реестра не приводится.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Независимой — то есть не организаторской — оценки в отечественном контуре не найдено: есть только организаторская.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и соавт., JAMA Health Forum 2025;6(8):e253172, DOI 10.1001/jamahealthforum.2025.3172, срез ноябрь 2024; числа регистраций — сообщения со ссылкой на Росздравнадзор, срезы ноябрь 2025, июнь 2026, август 2026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удерживает то, что стоит за подписью</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одна публикация, независимого повторного замера нет</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 прошлой лекции</a:t>
            </a:r>
            <a:r>
              <a:rPr sz="1500" b="0" i="0">
                <a:solidFill>
                  <a:srgbClr val="21295C"/>
                </a:solidFill>
                <a:latin typeface="Arial"/>
              </a:rPr>
              <a:t> требований к системам с ИИ внутри промышленных изделий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медицине они есть.</a:t>
            </a:r>
            <a:r>
              <a:rPr sz="1500" b="0" i="0">
                <a:solidFill>
                  <a:srgbClr val="21295C"/>
                </a:solidFill>
                <a:latin typeface="Arial"/>
              </a:rPr>
              <a:t> Названы документы: класс риска, стандарты, порядок передачи данных регулятору, статья о человеческом надзоре. Названы сроки.</a:t>
            </a:r>
          </a:p>
          <a:p>
            <a:pPr algn="l">
              <a:lnSpc>
                <a:spcPct val="126000"/>
              </a:lnSpc>
              <a:spcBef>
                <a:spcPts val="700"/>
              </a:spcBef>
            </a:pPr>
            <a:r>
              <a:rPr sz="1500" b="0" i="0">
                <a:solidFill>
                  <a:srgbClr val="21295C"/>
                </a:solidFill>
                <a:latin typeface="Arial"/>
              </a:rPr>
              <a:t/>
            </a:r>
            <a:r>
              <a:rPr sz="1500" b="0" i="0">
                <a:solidFill>
                  <a:srgbClr val="21295C"/>
                </a:solidFill>
                <a:latin typeface="Arial"/>
              </a:rPr>
              <a:t>И </a:t>
            </a:r>
            <a:r>
              <a:rPr sz="1500" b="1" i="0">
                <a:solidFill>
                  <a:srgbClr val="21295C"/>
                </a:solidFill>
                <a:latin typeface="Arial"/>
              </a:rPr>
              <a:t>56 изделий из 717</a:t>
            </a:r>
            <a:r>
              <a:rPr sz="1500" b="0" i="0">
                <a:solidFill>
                  <a:srgbClr val="21295C"/>
                </a:solidFill>
                <a:latin typeface="Arial"/>
              </a:rPr>
              <a:t> показывают, где требование описывает работу, которой не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Удерживает то, что стоит за подписью.</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Обзор поданной регуляторам документации по радиологическим изделиям с ИИ, JAMA Network Open 2025;8(11):e2542338, срез июнь 2024; приказ Минздрава России № 686н; ГОСТ Р 71671-2024; Регламент (ЕС) 2024/1689, статья 14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7. Разработка лекарства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Удешевили начало — где узкое место.</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От мишени до заявки на регистрацию путь проходит годами, и вычисление в нём занимает один шаг — в самом начале, у химика. Дальше — доклиника, три фазы испытаний на людях, заявка. Три разбора вечера — про то, что из этого пути подешевело, а что осталось прежней длины.</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a:t>
            </a:r>
          </a:p>
        </p:txBody>
      </p:sp>
      <p:sp>
        <p:nvSpPr>
          <p:cNvPr id="9" name="TextBox 8"/>
          <p:cNvSpPr txBox="1"/>
          <p:nvPr/>
        </p:nvSpPr>
        <p:spPr>
          <a:xfrm>
            <a:off x="704088" y="3848787"/>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Молекула за год, снятая на первой фазе · 2. Воронка молекул машинного происхождения · 3. Компания, отказавшаяся от своего обещания.</a:t>
            </a:r>
          </a:p>
        </p:txBody>
      </p:sp>
      <p:sp>
        <p:nvSpPr>
          <p:cNvPr id="10" name="TextBox 9"/>
          <p:cNvSpPr txBox="1"/>
          <p:nvPr/>
        </p:nvSpPr>
        <p:spPr>
          <a:xfrm>
            <a:off x="704088" y="461756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Производство лекарственной формы на линии в этот раздел не входит — это отдельная лекция курса.</a:t>
            </a:r>
          </a:p>
        </p:txBody>
      </p:sp>
      <p:sp>
        <p:nvSpPr>
          <p:cNvPr id="11" name="TextBox 10"/>
          <p:cNvSpPr txBox="1"/>
          <p:nvPr/>
        </p:nvSpPr>
        <p:spPr>
          <a:xfrm>
            <a:off x="704088" y="5084244"/>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Это та же работа, что и в предыдущих разделах, только на масштабе отрасли: решение не о человеке у койки, а о веществе, которое до койки может не дойти вовсе.</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Jayatunga и соавт., Drug Discovery Today, 2024; Haque W. и соавт., J Clin Oncol 2026, DOI 10.1200/JCO.2026.44.16_suppl.11072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Химик-синтетик ставит реакцию и получает миллиграммы вещества.</a:t>
            </a:r>
          </a:p>
          <a:p>
            <a:pPr algn="l">
              <a:lnSpc>
                <a:spcPct val="126000"/>
              </a:lnSpc>
              <a:spcBef>
                <a:spcPts val="700"/>
              </a:spcBef>
            </a:pPr>
            <a:r>
              <a:rPr sz="1500" b="0" i="0">
                <a:solidFill>
                  <a:srgbClr val="21295C"/>
                </a:solidFill>
                <a:latin typeface="Arial"/>
              </a:rPr>
              <a:t/>
            </a:r>
            <a:r>
              <a:rPr sz="150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Ещё через год координатор исследования сидит с одним здоровым добровольцем и часами пишет наблюдения в карту первой фазы.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человека, три места, одно вещество. Между первым эпизодом и третьим — около двух лет. Классический путь от мишени до клинического кандидата занимает четыре-пять лет по отраслевой норме.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разработки схемой: четыре шага от мишени до заявки</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 разработки</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Мишень и молекула — биологи, химики</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Доклиника — токсикология на культурах и животных</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Фазы I–III — клиницисты, пациенты</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Заявка — регуляторные специалисты</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Шаг вычисления — один, и он в начале</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Мишень и молекула.</a:t>
            </a:r>
            <a:r>
              <a:rPr sz="1500" b="0" i="0">
                <a:solidFill>
                  <a:srgbClr val="21295C"/>
                </a:solidFill>
                <a:latin typeface="Arial"/>
              </a:rPr>
              <a:t> Что в организме затронуть и чем — выбирают биологи, подбирают химики.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Доклиника.</a:t>
            </a:r>
            <a:r>
              <a:rPr sz="1500" b="0" i="0">
                <a:solidFill>
                  <a:srgbClr val="21295C"/>
                </a:solidFill>
                <a:latin typeface="Arial"/>
              </a:rPr>
              <a:t> Культуры клеток и животные: работает ли, не убивает ли, как выводится.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Фазы I–III.</a:t>
            </a:r>
            <a:r>
              <a:rPr sz="1500" b="0" i="0">
                <a:solidFill>
                  <a:srgbClr val="21295C"/>
                </a:solidFill>
                <a:latin typeface="Arial"/>
              </a:rPr>
              <a:t> Переносимость → работает ли и в какой дозе → подтверждение на больших выборках.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Заявка.</a:t>
            </a:r>
            <a:r>
              <a:rPr sz="1500" b="0" i="0">
                <a:solidFill>
                  <a:srgbClr val="21295C"/>
                </a:solidFill>
                <a:latin typeface="Arial"/>
              </a:rPr>
              <a:t> Регистрация у регулятора.</a:t>
            </a:r>
          </a:p>
          <a:p>
            <a:pPr algn="l">
              <a:lnSpc>
                <a:spcPct val="126000"/>
              </a:lnSpc>
              <a:spcBef>
                <a:spcPts val="700"/>
              </a:spcBef>
            </a:pPr>
            <a:r>
              <a:rPr sz="1500" b="0" i="0">
                <a:solidFill>
                  <a:srgbClr val="21295C"/>
                </a:solidFill>
                <a:latin typeface="Arial"/>
              </a:rPr>
              <a:t/>
            </a:r>
            <a:r>
              <a:rPr sz="1500" b="0" i="0">
                <a:solidFill>
                  <a:srgbClr val="21295C"/>
                </a:solidFill>
                <a:latin typeface="Arial"/>
              </a:rPr>
              <a:t>Шаг, на который приходится вычисление, — один, и он в начале, у химика. Весь остальной путь делают руками люди.</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Воронка отрасли: из тринадцати программ лекарством становится одна</a:t>
            </a:r>
          </a:p>
        </p:txBody>
      </p:sp>
      <p:sp>
        <p:nvSpPr>
          <p:cNvPr id="4" name="Rounded Rectangle 3"/>
          <p:cNvSpPr/>
          <p:nvPr/>
        </p:nvSpPr>
        <p:spPr>
          <a:xfrm>
            <a:off x="502920"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 ФАЗА II</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17795"/>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4 414 переходов внутри отчёта</a:t>
            </a:r>
          </a:p>
        </p:txBody>
      </p:sp>
      <p:sp>
        <p:nvSpPr>
          <p:cNvPr id="8" name="Rounded Rectangle 7"/>
          <p:cNvSpPr/>
          <p:nvPr/>
        </p:nvSpPr>
        <p:spPr>
          <a:xfrm>
            <a:off x="3340531" y="1335024"/>
            <a:ext cx="2673019" cy="1763019"/>
          </a:xfrm>
          <a:prstGeom prst="roundRect">
            <a:avLst>
              <a:gd name="adj" fmla="val 1728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 → ФАЗА III</a:t>
            </a:r>
          </a:p>
        </p:txBody>
      </p:sp>
      <p:sp>
        <p:nvSpPr>
          <p:cNvPr id="10" name="TextBox 9"/>
          <p:cNvSpPr txBox="1"/>
          <p:nvPr/>
        </p:nvSpPr>
        <p:spPr>
          <a:xfrm>
            <a:off x="3477691"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a:t>
            </a:r>
          </a:p>
        </p:txBody>
      </p:sp>
      <p:sp>
        <p:nvSpPr>
          <p:cNvPr id="11" name="TextBox 10"/>
          <p:cNvSpPr txBox="1"/>
          <p:nvPr/>
        </p:nvSpPr>
        <p:spPr>
          <a:xfrm>
            <a:off x="3477691"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жёстче любого другого перехода — плотнее всего отсев в середине</a:t>
            </a:r>
          </a:p>
        </p:txBody>
      </p:sp>
      <p:sp>
        <p:nvSpPr>
          <p:cNvPr id="12" name="Rounded Rectangle 11"/>
          <p:cNvSpPr/>
          <p:nvPr/>
        </p:nvSpPr>
        <p:spPr>
          <a:xfrm>
            <a:off x="6178143"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 ФАЗЫ I ДО ОДОБРЕНИЯ</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каждых примерно тринадцати программ, вошедших в первую фазу, лекарством становится одна</a:t>
            </a:r>
          </a:p>
        </p:txBody>
      </p:sp>
      <p:sp>
        <p:nvSpPr>
          <p:cNvPr id="16" name="Rounded Rectangle 15"/>
          <p:cNvSpPr/>
          <p:nvPr/>
        </p:nvSpPr>
        <p:spPr>
          <a:xfrm>
            <a:off x="9015755"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ЗНАМЕНАТЕЛЬ</a:t>
            </a:r>
          </a:p>
        </p:txBody>
      </p:sp>
      <p:sp>
        <p:nvSpPr>
          <p:cNvPr id="18" name="TextBox 17"/>
          <p:cNvSpPr txBox="1"/>
          <p:nvPr/>
        </p:nvSpPr>
        <p:spPr>
          <a:xfrm>
            <a:off x="9152915" y="169079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12 728 переходов из 9 704 программ</a:t>
            </a:r>
          </a:p>
        </p:txBody>
      </p:sp>
      <p:sp>
        <p:nvSpPr>
          <p:cNvPr id="19" name="TextBox 18"/>
          <p:cNvSpPr txBox="1"/>
          <p:nvPr/>
        </p:nvSpPr>
        <p:spPr>
          <a:xfrm>
            <a:off x="9152915" y="240636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1 779 компаний, 2011–2020 годы; это счёт переходов, а не программ, и у каждого перехода свой знаменатель</a:t>
            </a:r>
          </a:p>
        </p:txBody>
      </p:sp>
      <p:sp>
        <p:nvSpPr>
          <p:cNvPr id="20" name="Rounded Rectangle 19"/>
          <p:cNvSpPr/>
          <p:nvPr/>
        </p:nvSpPr>
        <p:spPr>
          <a:xfrm>
            <a:off x="374904" y="3189483"/>
            <a:ext cx="11441887" cy="3046724"/>
          </a:xfrm>
          <a:prstGeom prst="roundRect">
            <a:avLst>
              <a:gd name="adj" fmla="val 100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280923"/>
            <a:ext cx="11112703" cy="29552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Фаза I → фаза II — </a:t>
            </a:r>
            <a:r>
              <a:rPr sz="1500" b="1" i="0">
                <a:solidFill>
                  <a:srgbClr val="21295C"/>
                </a:solidFill>
                <a:latin typeface="Arial"/>
              </a:rPr>
              <a:t>52,0 процента</a:t>
            </a:r>
            <a:r>
              <a:rPr sz="1500" b="0" i="0">
                <a:solidFill>
                  <a:srgbClr val="21295C"/>
                </a:solidFill>
                <a:latin typeface="Arial"/>
              </a:rPr>
              <a:t>. Фаза II → фаза III — </a:t>
            </a:r>
            <a:r>
              <a:rPr sz="1500" b="1" i="0">
                <a:solidFill>
                  <a:srgbClr val="21295C"/>
                </a:solidFill>
                <a:latin typeface="Arial"/>
              </a:rPr>
              <a:t>28,9</a:t>
            </a:r>
            <a:r>
              <a:rPr sz="1500" b="0" i="0">
                <a:solidFill>
                  <a:srgbClr val="21295C"/>
                </a:solidFill>
                <a:latin typeface="Arial"/>
              </a:rPr>
              <a:t>. От первой фазы до одобрения — </a:t>
            </a:r>
            <a:r>
              <a:rPr sz="1500" b="1" i="0">
                <a:solidFill>
                  <a:srgbClr val="21295C"/>
                </a:solidFill>
                <a:latin typeface="Arial"/>
              </a:rPr>
              <a:t>7,9</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Знаменатель: </a:t>
            </a:r>
            <a:r>
              <a:rPr sz="1500" b="1" i="0">
                <a:solidFill>
                  <a:srgbClr val="21295C"/>
                </a:solidFill>
                <a:latin typeface="Arial"/>
              </a:rPr>
              <a:t>12 728 переходов</a:t>
            </a:r>
            <a:r>
              <a:rPr sz="1500" b="0" i="0">
                <a:solidFill>
                  <a:srgbClr val="21295C"/>
                </a:solidFill>
                <a:latin typeface="Arial"/>
              </a:rPr>
              <a:t> из </a:t>
            </a:r>
            <a:r>
              <a:rPr sz="1500" b="1" i="0">
                <a:solidFill>
                  <a:srgbClr val="21295C"/>
                </a:solidFill>
                <a:latin typeface="Arial"/>
              </a:rPr>
              <a:t>9 704 программ</a:t>
            </a:r>
            <a:r>
              <a:rPr sz="1500" b="0" i="0">
                <a:solidFill>
                  <a:srgbClr val="21295C"/>
                </a:solidFill>
                <a:latin typeface="Arial"/>
              </a:rPr>
              <a:t>, 1 779 компаний, 2011–2020 годы.</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Разброс по областям огромен — переход второй фазы в гематологии 48,1 процента, в урологии 15,0, — поэтому средняя по отрасли годится как база и не годится как предсказание для одной программы.</a:t>
            </a:r>
          </a:p>
          <a:p>
            <a:pPr algn="l">
              <a:lnSpc>
                <a:spcPct val="126000"/>
              </a:lnSpc>
              <a:spcBef>
                <a:spcPts val="700"/>
              </a:spcBef>
            </a:pPr>
            <a:r>
              <a:rPr sz="1500" b="0" i="0">
                <a:solidFill>
                  <a:srgbClr val="21295C"/>
                </a:solidFill>
                <a:latin typeface="Arial"/>
              </a:rPr>
              <a:t/>
            </a:r>
            <a:r>
              <a:rPr sz="1500" b="0" i="0">
                <a:solidFill>
                  <a:srgbClr val="21295C"/>
                </a:solidFill>
                <a:latin typeface="Arial"/>
              </a:rPr>
              <a:t>Плотнее всего отсев в середине, не в начале и не в конце.</a:t>
            </a:r>
          </a:p>
        </p:txBody>
      </p:sp>
      <p:sp>
        <p:nvSpPr>
          <p:cNvPr id="22" name="Rectangle 21"/>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февраль 2021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дроби рядом: «перешли» и «завершили»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«Перешли».</a:t>
            </a:r>
            <a:r>
              <a:rPr sz="1500" b="0" i="0">
                <a:solidFill>
                  <a:srgbClr val="21295C"/>
                </a:solidFill>
                <a:latin typeface="Arial"/>
              </a:rPr>
              <a:t> Считают среди тех, кто фазу прошёл до конца — знаменатель: завершившие фазу.</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«Завершили».</a:t>
            </a:r>
            <a:r>
              <a:rPr sz="1500" b="0" i="0">
                <a:solidFill>
                  <a:srgbClr val="21295C"/>
                </a:solidFill>
                <a:latin typeface="Arial"/>
              </a:rPr>
              <a:t> Считают среди всех, кто когда-либо вошёл в испытания — в знаменателе сидят активы, которые ещё идут и до следующей фазы просто не дошли.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Поставить эти две дроби через «против» — получить вывод, которого не делает ни один из двух замеров.</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Знаменатели двух замеров: BIO / QLS / Informa, Clinical Development Success Rates and Contributing Factors 2011–2020 — переходы по показаниям; Haque W. и соавт., J Clin Oncol 2026, DOI 10.1200/JCO.2026.44.16_suppl.11072 — завершения по уникальным активам</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подешевело и что не подешевело</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ПЕРЕБОР ГИПОТЕЗ ПО ГРАФУ ЗНАНИЙ</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подтверждение этой гипотезы дали рандомизированные исследования и клиницисты по всему миру — дорогую часть работы сделала другая рука</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РАСЧЁТНАЯ ОЦЕНКА СВЯЗЫВАНИЯ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13 000 соединений под известную мишень</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расчёта физики связывания, не генеративная модель; цена готового актива при этом не упала — покупатель заплатил 4 млрд долларов авансом</a:t>
            </a:r>
          </a:p>
        </p:txBody>
      </p:sp>
      <p:sp>
        <p:nvSpPr>
          <p:cNvPr id="12" name="Rounded Rectangle 11"/>
          <p:cNvSpPr/>
          <p:nvPr/>
        </p:nvSpPr>
        <p:spPr>
          <a:xfrm>
            <a:off x="502920" y="3197935"/>
            <a:ext cx="5437479" cy="2267334"/>
          </a:xfrm>
          <a:prstGeom prst="roundRect">
            <a:avLst>
              <a:gd name="adj" fmla="val 134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335338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Подешевело</a:t>
            </a:r>
          </a:p>
        </p:txBody>
      </p:sp>
      <p:sp>
        <p:nvSpPr>
          <p:cNvPr id="14" name="TextBox 13"/>
          <p:cNvSpPr txBox="1"/>
          <p:nvPr/>
        </p:nvSpPr>
        <p:spPr>
          <a:xfrm>
            <a:off x="667512"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Перебор гипотез по графу знаний</a:t>
            </a:r>
          </a:p>
          <a:p>
            <a:pPr algn="l">
              <a:lnSpc>
                <a:spcPct val="126000"/>
              </a:lnSpc>
            </a:pPr>
            <a:r>
              <a:rPr sz="1450" b="0" i="0">
                <a:solidFill>
                  <a:srgbClr val="21295C"/>
                </a:solidFill>
                <a:latin typeface="Arial"/>
              </a:rPr>
              <a:t>• Расчётная оценка связывания соединений</a:t>
            </a:r>
          </a:p>
        </p:txBody>
      </p:sp>
      <p:sp>
        <p:nvSpPr>
          <p:cNvPr id="15" name="Rounded Rectangle 14"/>
          <p:cNvSpPr/>
          <p:nvPr/>
        </p:nvSpPr>
        <p:spPr>
          <a:xfrm>
            <a:off x="6251295" y="3197935"/>
            <a:ext cx="5437479" cy="2267334"/>
          </a:xfrm>
          <a:prstGeom prst="roundRect">
            <a:avLst>
              <a:gd name="adj" fmla="val 1344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5887" y="335338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подешевело</a:t>
            </a:r>
          </a:p>
        </p:txBody>
      </p:sp>
      <p:sp>
        <p:nvSpPr>
          <p:cNvPr id="17" name="TextBox 16"/>
          <p:cNvSpPr txBox="1"/>
          <p:nvPr/>
        </p:nvSpPr>
        <p:spPr>
          <a:xfrm>
            <a:off x="6415887"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Переносимость у людей</a:t>
            </a:r>
          </a:p>
          <a:p>
            <a:pPr algn="l">
              <a:lnSpc>
                <a:spcPct val="126000"/>
              </a:lnSpc>
            </a:pPr>
            <a:r>
              <a:rPr sz="1450" b="0" i="0">
                <a:solidFill>
                  <a:srgbClr val="21295C"/>
                </a:solidFill>
                <a:latin typeface="Arial"/>
              </a:rPr>
              <a:t>• Набор пациентов</a:t>
            </a:r>
          </a:p>
          <a:p>
            <a:pPr algn="l">
              <a:lnSpc>
                <a:spcPct val="126000"/>
              </a:lnSpc>
            </a:pPr>
            <a:r>
              <a:rPr sz="1450" b="0" i="0">
                <a:solidFill>
                  <a:srgbClr val="21295C"/>
                </a:solidFill>
                <a:latin typeface="Arial"/>
              </a:rPr>
              <a:t>• Длительность наблюдения</a:t>
            </a:r>
          </a:p>
          <a:p>
            <a:pPr algn="l">
              <a:lnSpc>
                <a:spcPct val="126000"/>
              </a:lnSpc>
            </a:pPr>
            <a:r>
              <a:rPr sz="1450" b="0" i="0">
                <a:solidFill>
                  <a:srgbClr val="21295C"/>
                </a:solidFill>
                <a:latin typeface="Arial"/>
              </a:rPr>
              <a:t>• Производство клинической партии</a:t>
            </a:r>
          </a:p>
        </p:txBody>
      </p:sp>
      <p:sp>
        <p:nvSpPr>
          <p:cNvPr id="18" name="Rounded Rectangle 17"/>
          <p:cNvSpPr/>
          <p:nvPr/>
        </p:nvSpPr>
        <p:spPr>
          <a:xfrm>
            <a:off x="374904" y="5556710"/>
            <a:ext cx="11441887" cy="679497"/>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Левый столбец посчитан числами. У правого нет ни одного числа ни на одной строке — </a:t>
            </a:r>
            <a:r>
              <a:rPr sz="1470" b="1" i="0">
                <a:solidFill>
                  <a:srgbClr val="21295C"/>
                </a:solidFill>
                <a:latin typeface="Arial"/>
              </a:rPr>
              <a:t>и это вывод столбца, а не пробел подборки: формы здесь нет.</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Граф биомедицинских связей: раскрытие разработчика, 2020, и рецензируемый обзор перепрофилирования, PMC9231077, 2022. 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Хитрейт с методом и без</a:t>
            </a:r>
          </a:p>
        </p:txBody>
      </p:sp>
      <p:sp>
        <p:nvSpPr>
          <p:cNvPr id="4" name="Rounded Rectangle 3"/>
          <p:cNvSpPr/>
          <p:nvPr/>
        </p:nvSpPr>
        <p:spPr>
          <a:xfrm>
            <a:off x="502920"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ПЕРЕБОР — ПОПАДАНИЯ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БИБЛИОТЕКА СОЕДИНЕНИЙ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 У этих чисел нет ни имени проекта, ни даты,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Воронка молекул машинного происхождения</a:t>
            </a:r>
          </a:p>
        </p:txBody>
      </p:sp>
      <p:sp>
        <p:nvSpPr>
          <p:cNvPr id="4" name="Rounded Rectangle 3"/>
          <p:cNvSpPr/>
          <p:nvPr/>
        </p:nvSpPr>
        <p:spPr>
          <a:xfrm>
            <a:off x="502920"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ДОВЕСТИ НЕГОДНУЮ МОЛЕКУЛУ ДО ФАЗЫ I</a:t>
            </a:r>
          </a:p>
        </p:txBody>
      </p:sp>
      <p:sp>
        <p:nvSpPr>
          <p:cNvPr id="6" name="TextBox 5"/>
          <p:cNvSpPr txBox="1"/>
          <p:nvPr/>
        </p:nvSpPr>
        <p:spPr>
          <a:xfrm>
            <a:off x="640080" y="1863689"/>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месяцы работы центра, добровольцы под дозой</a:t>
            </a:r>
          </a:p>
        </p:txBody>
      </p:sp>
      <p:sp>
        <p:nvSpPr>
          <p:cNvPr id="7" name="Rounded Rectangle 6"/>
          <p:cNvSpPr/>
          <p:nvPr/>
        </p:nvSpPr>
        <p:spPr>
          <a:xfrm>
            <a:off x="3340531"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ОТБРОСИТЬ ГОДНУЮ МОЛЕКУЛУ</a:t>
            </a:r>
          </a:p>
        </p:txBody>
      </p:sp>
      <p:sp>
        <p:nvSpPr>
          <p:cNvPr id="9" name="TextBox 8"/>
          <p:cNvSpPr txBox="1"/>
          <p:nvPr/>
        </p:nvSpPr>
        <p:spPr>
          <a:xfrm>
            <a:off x="3477691"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терапии не будет ни у кого — цена не измеряется</a:t>
            </a:r>
          </a:p>
        </p:txBody>
      </p:sp>
      <p:sp>
        <p:nvSpPr>
          <p:cNvPr id="10" name="Rounded Rectangle 9"/>
          <p:cNvSpPr/>
          <p:nvPr/>
        </p:nvSpPr>
        <p:spPr>
          <a:xfrm>
            <a:off x="6178143"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ПЕРЕХОД ФАЗЫ I</a:t>
            </a:r>
          </a:p>
        </p:txBody>
      </p:sp>
      <p:sp>
        <p:nvSpPr>
          <p:cNvPr id="12" name="TextBox 11"/>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13" name="TextBox 12"/>
          <p:cNvSpPr txBox="1"/>
          <p:nvPr/>
        </p:nvSpPr>
        <p:spPr>
          <a:xfrm>
            <a:off x="6315303" y="2117795"/>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того режима, с которым сравнивают любое улучшение</a:t>
            </a:r>
          </a:p>
        </p:txBody>
      </p:sp>
      <p:sp>
        <p:nvSpPr>
          <p:cNvPr id="14" name="Rounded Rectangle 13"/>
          <p:cNvSpPr/>
          <p:nvPr/>
        </p:nvSpPr>
        <p:spPr>
          <a:xfrm>
            <a:off x="9015755" y="1335024"/>
            <a:ext cx="2673019"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ОТ ФАЗЫ I ДО ОДОБРЕНИЯ</a:t>
            </a:r>
          </a:p>
        </p:txBody>
      </p:sp>
      <p:sp>
        <p:nvSpPr>
          <p:cNvPr id="16" name="TextBox 15"/>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процента</a:t>
            </a:r>
          </a:p>
        </p:txBody>
      </p:sp>
      <p:sp>
        <p:nvSpPr>
          <p:cNvPr id="17" name="TextBox 16"/>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одна программа из примерно тринадцати; вторую цену — отброшенную годную молекулу — измерить нельзя вовсе</a:t>
            </a:r>
          </a:p>
        </p:txBody>
      </p:sp>
      <p:sp>
        <p:nvSpPr>
          <p:cNvPr id="18" name="Rounded Rectangle 17"/>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Довести негодную молекулу до первой фазы — месяцы работы клинического центра, здоровые добровольцы под дозой. Отбросить годную — терапии не будет ни у кого.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тем же числом.</a:t>
            </a:r>
            <a:r>
              <a:rPr sz="1500" b="0" i="0">
                <a:solidFill>
                  <a:srgbClr val="21295C"/>
                </a:solidFill>
                <a:latin typeface="Arial"/>
              </a:rPr>
              <a:t> Вести в клинику всё синтезированное, и вести только то, что прошло полный экспертный отбор: у обоих переход фазы I — </a:t>
            </a:r>
            <a:r>
              <a:rPr sz="1500" b="1" i="0">
                <a:solidFill>
                  <a:srgbClr val="21295C"/>
                </a:solidFill>
                <a:latin typeface="Arial"/>
              </a:rPr>
              <a:t>52,0 процента</a:t>
            </a:r>
            <a:r>
              <a:rPr sz="1500" b="0" i="0">
                <a:solidFill>
                  <a:srgbClr val="21295C"/>
                </a:solidFill>
                <a:latin typeface="Arial"/>
              </a:rPr>
              <a:t>, переход фазы II — </a:t>
            </a:r>
            <a:r>
              <a:rPr sz="1500" b="1" i="0">
                <a:solidFill>
                  <a:srgbClr val="21295C"/>
                </a:solidFill>
                <a:latin typeface="Arial"/>
              </a:rPr>
              <a:t>28,9</a:t>
            </a:r>
            <a:r>
              <a:rPr sz="1500" b="0" i="0">
                <a:solidFill>
                  <a:srgbClr val="21295C"/>
                </a:solidFill>
                <a:latin typeface="Arial"/>
              </a:rPr>
              <a:t>, до одобрения — </a:t>
            </a:r>
            <a:r>
              <a:rPr sz="1500" b="1" i="0">
                <a:solidFill>
                  <a:srgbClr val="21295C"/>
                </a:solidFill>
                <a:latin typeface="Arial"/>
              </a:rPr>
              <a:t>7,9</a:t>
            </a:r>
            <a:r>
              <a:rPr sz="1500" b="0" i="0">
                <a:solidFill>
                  <a:srgbClr val="21295C"/>
                </a:solidFill>
                <a:latin typeface="Arial"/>
              </a:rPr>
              <a:t>.</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Молекула за год, снятая на первой фазе</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ДОКЛИНИКА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ОТРАСЛЕВАЯ НОРМА ДЛЯ ЭТОГО КЛАССА МИШЕНЕЙ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Доклинический этап — </a:t>
            </a:r>
            <a:r>
              <a:rPr sz="1500" b="1" i="0">
                <a:solidFill>
                  <a:srgbClr val="21295C"/>
                </a:solidFill>
                <a:latin typeface="Arial"/>
              </a:rPr>
              <a:t>меньше двенадцати месяцев</a:t>
            </a:r>
            <a:r>
              <a:rPr sz="1500" b="0" i="0">
                <a:solidFill>
                  <a:srgbClr val="21295C"/>
                </a:solidFill>
                <a:latin typeface="Arial"/>
              </a:rPr>
              <a:t> против заявленных </a:t>
            </a:r>
            <a:r>
              <a:rPr sz="1500" b="1" i="0">
                <a:solidFill>
                  <a:srgbClr val="21295C"/>
                </a:solidFill>
                <a:latin typeface="Arial"/>
              </a:rPr>
              <a:t>четырёх с половиной лет</a:t>
            </a:r>
            <a:r>
              <a:rPr sz="1500" b="0" i="0">
                <a:solidFill>
                  <a:srgbClr val="21295C"/>
                </a:solidFill>
                <a:latin typeface="Arial"/>
              </a:rPr>
              <a:t> отраслевой нормы для этого класса мишеней.</a:t>
            </a:r>
          </a:p>
          <a:p>
            <a:pPr algn="l">
              <a:lnSpc>
                <a:spcPct val="126000"/>
              </a:lnSpc>
              <a:spcBef>
                <a:spcPts val="700"/>
              </a:spcBef>
            </a:pPr>
            <a:r>
              <a:rPr sz="1500" b="0" i="0">
                <a:solidFill>
                  <a:srgbClr val="21295C"/>
                </a:solidFill>
                <a:latin typeface="Arial"/>
              </a:rPr>
              <a:t/>
            </a:r>
            <a:r>
              <a:rPr sz="1500" b="0" i="0">
                <a:solidFill>
                  <a:srgbClr val="21295C"/>
                </a:solidFill>
                <a:latin typeface="Arial"/>
              </a:rPr>
              <a:t>Молекула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В январе 2022 года молекула снята: не удовлетворила критериям исследования на первой фазе. Ровно столько, сколько предсказывает база отрасли, где первая фаза пропускает дальше 52,0 процента.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Оба числа — доклиника и норма — заявления самой компании.</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Переход второй фазы: не хуже базы</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МОЛЕКУЛЫ МАШИННОГО ПРОИСХОЖДЕНИЯ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около 40 процентов</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посчитано на единицах, завершивших вторую фазу к сроку среза, и ограниченность этой выборки называет сам первоисточник; авторы называют результат сопоставимым с отраслевой нормой, лучшим — нет</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 ОТРАСЛИ</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второй фазы внутри отчёта; вес двух сторон различается на порядки</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Переход второй фазы у молекул машинного происхождения — </a:t>
            </a:r>
            <a:r>
              <a:rPr sz="1500" b="1" i="0">
                <a:solidFill>
                  <a:srgbClr val="21295C"/>
                </a:solidFill>
                <a:latin typeface="Arial"/>
              </a:rPr>
              <a:t>около 40 процентов</a:t>
            </a:r>
            <a:r>
              <a:rPr sz="1500" b="0" i="0">
                <a:solidFill>
                  <a:srgbClr val="21295C"/>
                </a:solidFill>
                <a:latin typeface="Arial"/>
              </a:rPr>
              <a:t> — против </a:t>
            </a:r>
            <a:r>
              <a:rPr sz="1500" b="1" i="0">
                <a:solidFill>
                  <a:srgbClr val="21295C"/>
                </a:solidFill>
                <a:latin typeface="Arial"/>
              </a:rPr>
              <a:t>28,9</a:t>
            </a:r>
            <a:r>
              <a:rPr sz="1500" b="0" i="0">
                <a:solidFill>
                  <a:srgbClr val="21295C"/>
                </a:solidFill>
                <a:latin typeface="Arial"/>
              </a:rPr>
              <a:t> по отрасли. На первой фазе те же молекулы идут заметно выше базы: 80–90 процентов против 52,0.</a:t>
            </a:r>
          </a:p>
          <a:p>
            <a:pPr algn="l">
              <a:lnSpc>
                <a:spcPct val="126000"/>
              </a:lnSpc>
              <a:spcBef>
                <a:spcPts val="700"/>
              </a:spcBef>
            </a:pPr>
            <a:r>
              <a:rPr sz="1500" b="0" i="0">
                <a:solidFill>
                  <a:srgbClr val="21295C"/>
                </a:solidFill>
                <a:latin typeface="Arial"/>
              </a:rPr>
              <a:t/>
            </a:r>
            <a:r>
              <a:rPr sz="1500" b="0" i="0">
                <a:solidFill>
                  <a:srgbClr val="21295C"/>
                </a:solidFill>
                <a:latin typeface="Arial"/>
              </a:rPr>
              <a:t>Не хуже базы.</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Jayatunga и соавт., Drug Discovery Today, 2024; BIO / QLS / Informa, Clinical Development Success Rates 2011–2020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Одобрений — ноль</a:t>
            </a:r>
          </a:p>
        </p:txBody>
      </p:sp>
      <p:sp>
        <p:nvSpPr>
          <p:cNvPr id="4" name="Rounded Rectangle 3"/>
          <p:cNvSpPr/>
          <p:nvPr/>
        </p:nvSpPr>
        <p:spPr>
          <a:xfrm>
            <a:off x="502920" y="1335024"/>
            <a:ext cx="2673019" cy="2222599"/>
          </a:xfrm>
          <a:prstGeom prst="roundRect">
            <a:avLst>
              <a:gd name="adj" fmla="val 13713"/>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 РЕГУЛЯТОРА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340531"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ПЕРВЫЙ ЗАМЕР</a:t>
            </a:r>
          </a:p>
        </p:txBody>
      </p:sp>
      <p:sp>
        <p:nvSpPr>
          <p:cNvPr id="9" name="TextBox 8"/>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вошли в клинику с 2015 года; 67 из них в процессе на момент анализа</a:t>
            </a:r>
          </a:p>
        </p:txBody>
      </p:sp>
      <p:sp>
        <p:nvSpPr>
          <p:cNvPr id="11" name="Rounded Rectangle 10"/>
          <p:cNvSpPr/>
          <p:nvPr/>
        </p:nvSpPr>
        <p:spPr>
          <a:xfrm>
            <a:off x="6178143"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ВТОРОЙ ЗАМЕР</a:t>
            </a:r>
          </a:p>
        </p:txBody>
      </p:sp>
      <p:sp>
        <p:nvSpPr>
          <p:cNvPr id="13" name="TextBox 12"/>
          <p:cNvSpPr txBox="1"/>
          <p:nvPr/>
        </p:nvSpPr>
        <p:spPr>
          <a:xfrm>
            <a:off x="6315303"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сам источник называет эти 117 верхней границей: заявления компаний о вкладе модели проверить нечем</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ЗАВЕРШИЛИ ФАЗУ II — ДОЛЯ ЗАВЕРШИВШИХ, НЕ ПЕРЕХОД</a:t>
            </a:r>
          </a:p>
        </p:txBody>
      </p:sp>
      <p:sp>
        <p:nvSpPr>
          <p:cNvPr id="17" name="TextBox 16"/>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активов из 117</a:t>
            </a:r>
          </a:p>
        </p:txBody>
      </p:sp>
      <p:sp>
        <p:nvSpPr>
          <p:cNvPr id="18" name="TextBox 17"/>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6,8 процента; складывать эту долю с 28,9 процента перехода нельзя — у «перешли» и «завершили» разные знаменатели</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Одобрений регулятора — </a:t>
            </a:r>
            <a:r>
              <a:rPr sz="1500" b="1" i="0">
                <a:solidFill>
                  <a:srgbClr val="21295C"/>
                </a:solidFill>
                <a:latin typeface="Arial"/>
              </a:rPr>
              <a:t>ноль</a:t>
            </a:r>
            <a:r>
              <a:rPr sz="1500" b="0" i="0">
                <a:solidFill>
                  <a:srgbClr val="21295C"/>
                </a:solidFill>
                <a:latin typeface="Arial"/>
              </a:rPr>
              <a:t>. При </a:t>
            </a:r>
            <a:r>
              <a:rPr sz="1500" b="1" i="0">
                <a:solidFill>
                  <a:srgbClr val="21295C"/>
                </a:solidFill>
                <a:latin typeface="Arial"/>
              </a:rPr>
              <a:t>75</a:t>
            </a:r>
            <a:r>
              <a:rPr sz="1500" b="0" i="0">
                <a:solidFill>
                  <a:srgbClr val="21295C"/>
                </a:solidFill>
                <a:latin typeface="Arial"/>
              </a:rPr>
              <a:t> активах по одному замеру и </a:t>
            </a:r>
            <a:r>
              <a:rPr sz="1500" b="1" i="0">
                <a:solidFill>
                  <a:srgbClr val="21295C"/>
                </a:solidFill>
                <a:latin typeface="Arial"/>
              </a:rPr>
              <a:t>117</a:t>
            </a:r>
            <a:r>
              <a:rPr sz="1500" b="0" i="0">
                <a:solidFill>
                  <a:srgbClr val="21295C"/>
                </a:solidFill>
                <a:latin typeface="Arial"/>
              </a:rPr>
              <a:t> по другому, за десять лет существования категории.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Подписанное как несопоставимое: из активов второго замера вторую фазу завершили </a:t>
            </a:r>
            <a:r>
              <a:rPr sz="1500" b="1" i="0">
                <a:solidFill>
                  <a:srgbClr val="21295C"/>
                </a:solidFill>
                <a:latin typeface="Arial"/>
              </a:rPr>
              <a:t>8 из 117</a:t>
            </a:r>
            <a:r>
              <a:rPr sz="1500" b="0" i="0">
                <a:solidFill>
                  <a:srgbClr val="21295C"/>
                </a:solidFill>
                <a:latin typeface="Arial"/>
              </a:rPr>
              <a:t> — 6,8 процента, срез 1 декабря 2025 года. Это доля завершивших, и с переходом она не складывается.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Одной строкой: одна молекула — третья фаза начата.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Компания, отказавшаяся от своего обещания</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ЦЕНА ОБЕИХ ОШИБОК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фаза IIa целиком против терапии, которой не будет</a:t>
            </a:r>
          </a:p>
        </p:txBody>
      </p:sp>
      <p:sp>
        <p:nvSpPr>
          <p:cNvPr id="7" name="Rounded Rectangle 6"/>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РЕЖИМ — НАПОМИНАНИЕ</a:t>
            </a:r>
          </a:p>
        </p:txBody>
      </p:sp>
      <p:sp>
        <p:nvSpPr>
          <p:cNvPr id="9" name="TextBox 8"/>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 перехода второй фазы</a:t>
            </a:r>
          </a:p>
        </p:txBody>
      </p:sp>
      <p:sp>
        <p:nvSpPr>
          <p:cNvPr id="10" name="TextBox 9"/>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обещание доводить препараты самостоятельно рассчитано на успех там, где отрасль даёт меньше трети: провал на этом шаге — норма воронки</a:t>
            </a:r>
          </a:p>
        </p:txBody>
      </p:sp>
      <p:sp>
        <p:nvSpPr>
          <p:cNvPr id="11" name="TextBox 10"/>
          <p:cNvSpPr txBox="1"/>
          <p:nvPr/>
        </p:nvSpPr>
        <p:spPr>
          <a:xfrm>
            <a:off x="502920" y="3252799"/>
            <a:ext cx="1289304" cy="104751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12" name="Rounded Rectangle 11"/>
          <p:cNvSpPr/>
          <p:nvPr/>
        </p:nvSpPr>
        <p:spPr>
          <a:xfrm>
            <a:off x="1920240"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02536"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Обещание доводить препараты самостоятельно</a:t>
            </a:r>
          </a:p>
        </p:txBody>
      </p:sp>
      <p:sp>
        <p:nvSpPr>
          <p:cNvPr id="14" name="Right Arrow 13"/>
          <p:cNvSpPr/>
          <p:nvPr/>
        </p:nvSpPr>
        <p:spPr>
          <a:xfrm>
            <a:off x="4202353"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30953"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13249"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Фаза IIa — 91 пациент, 28 дней нанесения, точки эффективности не достигнуты</a:t>
            </a:r>
          </a:p>
        </p:txBody>
      </p:sp>
      <p:sp>
        <p:nvSpPr>
          <p:cNvPr id="17" name="Right Arrow 16"/>
          <p:cNvSpPr/>
          <p:nvPr/>
        </p:nvSpPr>
        <p:spPr>
          <a:xfrm>
            <a:off x="6713067"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41667"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3963"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Минус 180 рабочих мест</a:t>
            </a:r>
          </a:p>
        </p:txBody>
      </p:sp>
      <p:sp>
        <p:nvSpPr>
          <p:cNvPr id="20" name="Right Arrow 19"/>
          <p:cNvSpPr/>
          <p:nvPr/>
        </p:nvSpPr>
        <p:spPr>
          <a:xfrm>
            <a:off x="9223781"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452381"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34677"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от модели бизнеса</a:t>
            </a:r>
          </a:p>
        </p:txBody>
      </p:sp>
      <p:sp>
        <p:nvSpPr>
          <p:cNvPr id="23" name="TextBox 22"/>
          <p:cNvSpPr txBox="1"/>
          <p:nvPr/>
        </p:nvSpPr>
        <p:spPr>
          <a:xfrm>
            <a:off x="502920" y="439174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компании</a:t>
            </a:r>
          </a:p>
        </p:txBody>
      </p:sp>
      <p:sp>
        <p:nvSpPr>
          <p:cNvPr id="24" name="Rounded Rectangle 23"/>
          <p:cNvSpPr/>
          <p:nvPr/>
        </p:nvSpPr>
        <p:spPr>
          <a:xfrm>
            <a:off x="374904" y="4704603"/>
            <a:ext cx="11441887" cy="1531604"/>
          </a:xfrm>
          <a:prstGeom prst="roundRect">
            <a:avLst>
              <a:gd name="adj" fmla="val 199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796043"/>
            <a:ext cx="11112703" cy="1440164"/>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Цена обеих ошибок.</a:t>
            </a:r>
            <a:r>
              <a:rPr sz="1440" b="0" i="0">
                <a:solidFill>
                  <a:srgbClr val="21295C"/>
                </a:solidFill>
                <a:latin typeface="Arial"/>
              </a:rPr>
              <a:t> Обещание рассчитано на успех там, где отраслевая база даёт </a:t>
            </a:r>
            <a:r>
              <a:rPr sz="1440" b="1" i="0">
                <a:solidFill>
                  <a:srgbClr val="21295C"/>
                </a:solidFill>
                <a:latin typeface="Arial"/>
              </a:rPr>
              <a:t>28,9 процента</a:t>
            </a:r>
            <a:r>
              <a:rPr sz="1440" b="0" i="0">
                <a:solidFill>
                  <a:srgbClr val="21295C"/>
                </a:solidFill>
                <a:latin typeface="Arial"/>
              </a:rPr>
              <a:t> перехода — провал на этом шаге норма воронки.</a:t>
            </a:r>
          </a:p>
          <a:p>
            <a:pPr algn="l">
              <a:lnSpc>
                <a:spcPct val="126000"/>
              </a:lnSpc>
              <a:spcBef>
                <a:spcPts val="700"/>
              </a:spcBef>
            </a:pPr>
            <a:r>
              <a:rPr sz="1440" b="0" i="0">
                <a:solidFill>
                  <a:srgbClr val="21295C"/>
                </a:solidFill>
                <a:latin typeface="Arial"/>
              </a:rPr>
              <a:t/>
            </a:r>
            <a:r>
              <a:rPr sz="1440" b="1" i="0">
                <a:solidFill>
                  <a:srgbClr val="21295C"/>
                </a:solidFill>
                <a:latin typeface="Arial"/>
              </a:rPr>
              <a:t>Путь компании.</a:t>
            </a:r>
            <a:r>
              <a:rPr sz="1440" b="0" i="0">
                <a:solidFill>
                  <a:srgbClr val="21295C"/>
                </a:solidFill>
                <a:latin typeface="Arial"/>
              </a:rPr>
              <a:t> Обещание доводить препараты до регистрации самостоятельно → фаза IIa: </a:t>
            </a:r>
            <a:r>
              <a:rPr sz="1440" b="1" i="0">
                <a:solidFill>
                  <a:srgbClr val="21295C"/>
                </a:solidFill>
                <a:latin typeface="Arial"/>
              </a:rPr>
              <a:t>91 пациент</a:t>
            </a:r>
            <a:r>
              <a:rPr sz="1440" b="0" i="0">
                <a:solidFill>
                  <a:srgbClr val="21295C"/>
                </a:solidFill>
                <a:latin typeface="Arial"/>
              </a:rPr>
              <a:t> 18–65 лет, </a:t>
            </a:r>
            <a:r>
              <a:rPr sz="1440" b="1" i="0">
                <a:solidFill>
                  <a:srgbClr val="21295C"/>
                </a:solidFill>
                <a:latin typeface="Arial"/>
              </a:rPr>
              <a:t>28 дней</a:t>
            </a:r>
            <a:r>
              <a:rPr sz="1440" b="0" i="0">
                <a:solidFill>
                  <a:srgbClr val="21295C"/>
                </a:solidFill>
                <a:latin typeface="Arial"/>
              </a:rPr>
              <a:t> нанесения, первичная точка по безопасности достигнута, точки эффективности — нет → </a:t>
            </a:r>
            <a:r>
              <a:rPr sz="1440" b="1" i="0">
                <a:solidFill>
                  <a:srgbClr val="21295C"/>
                </a:solidFill>
                <a:latin typeface="Arial"/>
              </a:rPr>
              <a:t>минус 180 рабочих мест</a:t>
            </a:r>
            <a:r>
              <a:rPr sz="1440" b="0" i="0">
                <a:solidFill>
                  <a:srgbClr val="21295C"/>
                </a:solidFill>
                <a:latin typeface="Arial"/>
              </a:rPr>
              <a:t>, и ещё минус 30 процентов штата годом позже → отказ от собственной модели бизнеса.</a:t>
            </a:r>
          </a:p>
        </p:txBody>
      </p:sp>
      <p:sp>
        <p:nvSpPr>
          <p:cNvPr id="26" name="Rectangle 2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Сообщение компании о результатах фазы IIa, апрель 2023; 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Две линии по данным депозитария, 2020 → 2024.</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Рентгеновская кристаллография — плато около девяти-десяти тысяч депозитов в год, причём </a:t>
            </a:r>
            <a:r>
              <a:rPr sz="1500" b="1" i="0">
                <a:solidFill>
                  <a:srgbClr val="21295C"/>
                </a:solidFill>
                <a:latin typeface="Arial"/>
              </a:rPr>
              <a:t>с 2015 года</a:t>
            </a:r>
            <a:r>
              <a:rPr sz="1500" b="0" i="0">
                <a:solidFill>
                  <a:srgbClr val="21295C"/>
                </a:solidFill>
                <a:latin typeface="Arial"/>
              </a:rPr>
              <a:t>, то есть задолго до появления предсказания структуры.</a:t>
            </a:r>
          </a:p>
          <a:p>
            <a:pPr algn="l">
              <a:lnSpc>
                <a:spcPct val="126000"/>
              </a:lnSpc>
              <a:spcBef>
                <a:spcPts val="700"/>
              </a:spcBef>
            </a:pPr>
            <a:r>
              <a:rPr sz="1500" b="0" i="0">
                <a:solidFill>
                  <a:srgbClr val="21295C"/>
                </a:solidFill>
                <a:latin typeface="Arial"/>
              </a:rPr>
              <a:t/>
            </a:r>
            <a:r>
              <a:rPr sz="1500" b="0" i="0">
                <a:solidFill>
                  <a:srgbClr val="21295C"/>
                </a:solidFill>
                <a:latin typeface="Arial"/>
              </a:rPr>
              <a:t>Криоэлектронная микроскопия — рост с 2 385 депозитов до 5 787, продолжающий траекторию, начатую раньше. Объём экспериментальных депозиций не упал.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Ожидаемая форма «шаг исчез» числами не подтверждается.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Статистика открытого депозитария структур, депозиты по методам 2020–2024 (rcsb.org/stats) — ряды получены через вторичный пересказ, сверка по таблице архива обязательна; рецензируемый обзор 2025, DOI 10.1080/14789450.2025.2456046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узкое место не подешевело</a:t>
            </a:r>
          </a:p>
        </p:txBody>
      </p:sp>
      <p:sp>
        <p:nvSpPr>
          <p:cNvPr id="4" name="Rounded Rectangle 3"/>
          <p:cNvSpPr/>
          <p:nvPr/>
        </p:nvSpPr>
        <p:spPr>
          <a:xfrm>
            <a:off x="502920" y="1335024"/>
            <a:ext cx="11185855" cy="919931"/>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74904" y="2346395"/>
            <a:ext cx="11441887" cy="3889812"/>
          </a:xfrm>
          <a:prstGeom prst="roundRect">
            <a:avLst>
              <a:gd name="adj" fmla="val 7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2437835"/>
            <a:ext cx="11112703" cy="37983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1.</a:t>
            </a:r>
            <a:r>
              <a:rPr sz="1500" b="0" i="0">
                <a:solidFill>
                  <a:srgbClr val="21295C"/>
                </a:solidFill>
                <a:latin typeface="Arial"/>
              </a:rPr>
              <a:t> Нагрузка переехала на другой шаг — на масштабе отрасли и на масштабе одной молекулы.</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4а.</a:t>
            </a:r>
            <a:r>
              <a:rPr sz="1500" b="0" i="0">
                <a:solidFill>
                  <a:srgbClr val="21295C"/>
                </a:solidFill>
                <a:latin typeface="Arial"/>
              </a:rPr>
              <a:t> Объём на том же месте упал — расчётный отбор соединений под известную мишень.</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6.</a:t>
            </a:r>
            <a:r>
              <a:rPr sz="1500" b="0" i="0">
                <a:solidFill>
                  <a:srgbClr val="21295C"/>
                </a:solidFill>
                <a:latin typeface="Arial"/>
              </a:rPr>
              <a:t> Изменился порядок работ — на масштабе модели бизнеса, не процесса одного препарата.</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Ранний шаг подешевел многократно. Одобрений — </a:t>
            </a:r>
            <a:r>
              <a:rPr sz="1500" b="1" i="0">
                <a:solidFill>
                  <a:srgbClr val="21295C"/>
                </a:solidFill>
                <a:latin typeface="Arial"/>
              </a:rPr>
              <a:t>0</a:t>
            </a:r>
            <a:r>
              <a:rPr sz="1500" b="0" i="0">
                <a:solidFill>
                  <a:srgbClr val="21295C"/>
                </a:solidFill>
                <a:latin typeface="Arial"/>
              </a:rPr>
              <a:t>. Узкое место лежит дальше и не подешевело.</a:t>
            </a:r>
          </a:p>
          <a:p>
            <a:pPr algn="l">
              <a:lnSpc>
                <a:spcPct val="126000"/>
              </a:lnSpc>
              <a:spcBef>
                <a:spcPts val="700"/>
              </a:spcBef>
            </a:pPr>
            <a:r>
              <a:rPr sz="1500" b="0" i="0">
                <a:solidFill>
                  <a:srgbClr val="21295C"/>
                </a:solidFill>
                <a:latin typeface="Arial"/>
              </a:rPr>
              <a:t/>
            </a:r>
            <a:r>
              <a:rPr sz="1500" b="0" i="0">
                <a:solidFill>
                  <a:srgbClr val="21295C"/>
                </a:solidFill>
                <a:latin typeface="Arial"/>
              </a:rPr>
              <a:t>Инженеру: мерить пропускную способность шага, который вы не трогали.</a:t>
            </a:r>
          </a:p>
        </p:txBody>
      </p:sp>
      <p:sp>
        <p:nvSpPr>
          <p:cNvPr id="9" name="Rectangle 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 BIO / QLS / Informa, Clinical Development Success Rates and Contributing Factors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мерила работу: поток тревог, документ, воронку разработки лекарства. Ни один из этих замеров не отвечает на вопрос, что стало с человеком внутри этой работы — а он в ней остался и остался решающим.</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Доля обнаружения после отключения помощника · 2. Кто теперь исполнитель · 3. Чего про доверие не измерено</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Эндоскопист после года без процедур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Врач вернулся после года без процедур — декрет, административная должность, долгая болезнь, неважно.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Первая процедура: прибор идёт медленнее, рука ищет угол дольше, складку, за которую надо заглянуть, он проходит — и сам этого не знает, потому что обратной связи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Поэтому профессия не спрашивает врача, в форме ли он, а </a:t>
            </a:r>
            <a:r>
              <a:rPr sz="1500" b="1" i="0">
                <a:solidFill>
                  <a:srgbClr val="21295C"/>
                </a:solidFill>
                <a:latin typeface="Arial"/>
              </a:rPr>
              <a:t>считает за него</a:t>
            </a:r>
            <a:r>
              <a:rPr sz="1500" b="0" i="0">
                <a:solidFill>
                  <a:srgbClr val="21295C"/>
                </a:solidFill>
                <a:latin typeface="Arial"/>
              </a:rPr>
              <a:t> — долю обследований с находкой, по каждому врачу отдельно.</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образование</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остаётся в человеке до следующего обследования</a:t>
            </a:r>
          </a:p>
          <a:p>
            <a:pPr algn="l">
              <a:lnSpc>
                <a:spcPct val="126000"/>
              </a:lnSpc>
            </a:pPr>
            <a:r>
              <a:rPr sz="1450" b="0" i="0">
                <a:solidFill>
                  <a:srgbClr val="21295C"/>
                </a:solidFill>
                <a:latin typeface="Arial"/>
              </a:rPr>
              <a:t>• так возникает болезнь, найденная между обследованиями</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Увидеть лишнее</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снятие</a:t>
            </a:r>
          </a:p>
          <a:p>
            <a:pPr algn="l">
              <a:lnSpc>
                <a:spcPct val="126000"/>
              </a:lnSpc>
            </a:pPr>
            <a:r>
              <a:rPr sz="1450" b="0" i="0">
                <a:solidFill>
                  <a:srgbClr val="21295C"/>
                </a:solidFill>
                <a:latin typeface="Arial"/>
              </a:rPr>
              <a:t>• кровотечение</a:t>
            </a:r>
          </a:p>
          <a:p>
            <a:pPr algn="l">
              <a:lnSpc>
                <a:spcPct val="126000"/>
              </a:lnSpc>
            </a:pPr>
            <a:r>
              <a:rPr sz="1450" b="0" i="0">
                <a:solidFill>
                  <a:srgbClr val="21295C"/>
                </a:solidFill>
                <a:latin typeface="Arial"/>
              </a:rPr>
              <a:t>• гистология</a:t>
            </a:r>
          </a:p>
          <a:p>
            <a:pPr algn="l">
              <a:lnSpc>
                <a:spcPct val="126000"/>
              </a:lnSpc>
            </a:pPr>
            <a:r>
              <a:rPr sz="1450" b="0" i="0">
                <a:solidFill>
                  <a:srgbClr val="21295C"/>
                </a:solidFill>
                <a:latin typeface="Arial"/>
              </a:rPr>
              <a:t>• повторный визит</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классических режима, посчитанные в одной единице</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ДИСЦИПЛИНА ОСМОТРА: БЫЛО → СТАЛО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ВТОРОЙ НАБЛЮДАТЕЛЬ: БЫЛО → СТАЛО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извлечение прибора удлинили.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режима не бесплатны — и оба дают прирост того же порядка, что помощник, или больше.</a:t>
            </a:r>
            <a:r>
              <a:rPr sz="1500" b="0" i="0">
                <a:solidFill>
                  <a:srgbClr val="21295C"/>
                </a:solidFill>
                <a:latin typeface="Arial"/>
              </a:rPr>
              <a:t> Первый стоит трёх минут времени врача на процедуру, второй — присутствия второго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Базы у двух приростов разные: 27,1 и 39,3 — разные исходные доли обнаружения в разных центрах и популяциях. Два прироста между собой не сравниваются; каждый сравнивается с приростом от помощника в своей работе.</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Zhao S., Yang X., … Bai Y., Clinical Gastroenterology and Hepatology 2022;20(2):e168–e181, DOI 10.1016/j.cgh.2020.11.019</a:t>
            </a:r>
            <a:r>
              <a:rPr sz="1100" b="0" i="1">
                <a:solidFill>
                  <a:srgbClr val="1C7293"/>
                </a:solidFill>
                <a:latin typeface="Arial"/>
              </a:rPr>
              <a:t> · </a:t>
            </a:r>
            <a:r>
              <a:rPr sz="1100" b="0" i="1">
                <a:solidFill>
                  <a:srgbClr val="1C7293"/>
                </a:solidFill>
                <a:latin typeface="Arial"/>
              </a:rPr>
              <a:t>Xu L. и соавт., Gastroenterology Research and Practice 2016;2016:7631981, DOI 10.1155/2016/7631981; Lei X. и соавт., International Journal of Colorectal Disease 2024;39(1):19, DOI 10.1007/s00384-023-04585-5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Доля обнаружения упала там, где помощника не было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ОБНАРУЖЕНИЯ В ПРОЦЕДУРАХ БЕЗ ПОМОЩНИКА: ДО ВНЕДРЕНИЯ → ПОСЛЕ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226 находок на 795 процедур против 145 на 648; четыре центра, два окна по три месяца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ПРИВЕЛО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6,0 процентного пункта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девятнадцати врачей со средним стажем 28 лет при разбросе от 8 до 39 и более чем двумя тысячами колоноскопий за спиной у каждого. «Падение на пятую часть» и «шесть пунктов» — одна величина в двух выражениях</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 на экране, а не в заметках.</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r>
              <a:rPr sz="1500" b="0" i="0">
                <a:solidFill>
                  <a:srgbClr val="21295C"/>
                </a:solidFill>
                <a:latin typeface="Arial"/>
              </a:rPr>
              <a:t> Опубликованное исправление, три письма и ответ авторов: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r>
              <a:rPr sz="1500" b="0" i="0">
                <a:solidFill>
                  <a:srgbClr val="21295C"/>
                </a:solidFill>
                <a:latin typeface="Arial"/>
              </a:rPr>
              <a:t>, а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 У числа 795 при этом меняется знаменатель: в раннем окне помощника ещё не было, поэтому 795 значит одновременно «без помощника» и «всего», тогда как в позднем окне эти величины расходятся — 648 без помощника и 1 382 всего.</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Romańczyk M., Kitala D. и соавт., The Lancet Gastroenterology &amp; Hepatology 2025;10(10):896–903, DOI 10.1016/S2468-1253(25)00133-5; опубликованное исправление 2025;10(11):e12, три письма и ответ авторов 2025;10(12):1060–1062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это дало, чего потребовало — форма «Исполнитель тот же, но стал хуже»</a:t>
            </a:r>
          </a:p>
        </p:txBody>
      </p:sp>
      <p:sp>
        <p:nvSpPr>
          <p:cNvPr id="4" name="Rounded Rectangle 3"/>
          <p:cNvSpPr/>
          <p:nvPr/>
        </p:nvSpPr>
        <p:spPr>
          <a:xfrm>
            <a:off x="502920"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РАСХОД ВИДЕН ЗА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окно наблюдения после внедрения помощника; у врачей со средним стажем 28 лет</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ПЕРЕНОС, ДРУГАЯ ОТРАСЛЬ: ПРАКТИКА С МОДЕЛЬЮ</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школьники на задачах математики, не клиницисты: полевое рандомизированное исследование с тремя группами</a:t>
            </a:r>
          </a:p>
        </p:txBody>
      </p:sp>
      <p:sp>
        <p:nvSpPr>
          <p:cNvPr id="12" name="Rounded Rectangle 11"/>
          <p:cNvSpPr/>
          <p:nvPr/>
        </p:nvSpPr>
        <p:spPr>
          <a:xfrm>
            <a:off x="8069884" y="1335024"/>
            <a:ext cx="3618890" cy="2037761"/>
          </a:xfrm>
          <a:prstGeom prst="roundRect">
            <a:avLst>
              <a:gd name="adj" fmla="val 1495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ТОТ ЖЕ ПЕРЕНОС: ЭКЗАМЕН БЕЗ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группы со свободным доступом; у группы с учительскими ограничителями — примерно на уровне контроля, то есть средство тоже измерено</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Дало</a:t>
            </a:r>
            <a:r>
              <a:rPr sz="1140" b="0" i="0">
                <a:solidFill>
                  <a:srgbClr val="21295C"/>
                </a:solidFill>
                <a:latin typeface="Arial"/>
              </a:rPr>
              <a:t> — с помощником находят больше.</a:t>
            </a:r>
          </a:p>
          <a:p>
            <a:pPr algn="l">
              <a:lnSpc>
                <a:spcPct val="126000"/>
              </a:lnSpc>
              <a:spcBef>
                <a:spcPts val="700"/>
              </a:spcBef>
            </a:pPr>
            <a:r>
              <a:rPr sz="1140" b="0" i="0">
                <a:solidFill>
                  <a:srgbClr val="21295C"/>
                </a:solidFill>
                <a:latin typeface="Arial"/>
              </a:rPr>
              <a:t/>
            </a:r>
            <a:r>
              <a:rPr sz="1140" b="1" i="0">
                <a:solidFill>
                  <a:srgbClr val="21295C"/>
                </a:solidFill>
                <a:latin typeface="Arial"/>
              </a:rPr>
              <a:t>Потребовало</a:t>
            </a:r>
            <a:r>
              <a:rPr sz="1140" b="0" i="0">
                <a:solidFill>
                  <a:srgbClr val="21295C"/>
                </a:solidFill>
                <a:latin typeface="Arial"/>
              </a:rPr>
              <a:t> — умения искать самому.</a:t>
            </a:r>
          </a:p>
          <a:p>
            <a:pPr algn="l">
              <a:lnSpc>
                <a:spcPct val="126000"/>
              </a:lnSpc>
              <a:spcBef>
                <a:spcPts val="700"/>
              </a:spcBef>
            </a:pPr>
            <a:r>
              <a:rPr sz="1140" b="0" i="0">
                <a:solidFill>
                  <a:srgbClr val="21295C"/>
                </a:solidFill>
                <a:latin typeface="Arial"/>
              </a:rPr>
              <a:t/>
            </a:r>
            <a:r>
              <a:rPr sz="1140" b="1" i="0">
                <a:solidFill>
                  <a:srgbClr val="21295C"/>
                </a:solidFill>
                <a:latin typeface="Arial"/>
              </a:rPr>
              <a:t>В сумме</a:t>
            </a:r>
            <a:r>
              <a:rPr sz="114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140" b="0" i="0">
                <a:solidFill>
                  <a:srgbClr val="21295C"/>
                </a:solidFill>
                <a:latin typeface="Arial"/>
              </a:rPr>
              <a:t/>
            </a:r>
            <a:r>
              <a:rPr sz="1140" b="1" i="0">
                <a:solidFill>
                  <a:srgbClr val="21295C"/>
                </a:solidFill>
                <a:latin typeface="Arial"/>
              </a:rPr>
              <a:t>Форма 8 словаря: Исполнитель тот же, но стал хуже.</a:t>
            </a:r>
            <a:r>
              <a:rPr sz="1140" b="0" i="0">
                <a:solidFill>
                  <a:srgbClr val="21295C"/>
                </a:solidFill>
                <a:latin typeface="Arial"/>
              </a:rPr>
              <a:t> Место, объём, порядок шагов и рука прежние — изменилось состояние самой руки. Не форма 5: там сменилась рука, здесь рука та же, и именно на этом стоит измерение. Не форма 4а: там упал объём операции, здесь объём тот же, упала доля находок.</a:t>
            </a:r>
          </a:p>
          <a:p>
            <a:pPr algn="l">
              <a:lnSpc>
                <a:spcPct val="126000"/>
              </a:lnSpc>
              <a:spcBef>
                <a:spcPts val="700"/>
              </a:spcBef>
            </a:pPr>
            <a:r>
              <a:rPr sz="910" b="0" i="0">
                <a:solidFill>
                  <a:srgbClr val="21295C"/>
                </a:solidFill>
                <a:latin typeface="Arial"/>
              </a:rPr>
              <a:t/>
            </a:r>
            <a:r>
              <a:rPr sz="910" b="0" i="1">
                <a:solidFill>
                  <a:srgbClr val="1C7293"/>
                </a:solidFill>
                <a:latin typeface="Arial"/>
              </a:rPr>
              <a:t>режим: распознавание на видео, в реальном времени · чем делают сегодня: обнаружение образований в реальном времени, реализаций много, разница между ними мала · куда движется: от обнаружения к характеристике найденного и к счёту показателей самого врача · чего не умеет: поддерживать навык — здесь измерено обратное</a:t>
            </a:r>
          </a:p>
          <a:p>
            <a:pPr algn="l">
              <a:lnSpc>
                <a:spcPct val="126000"/>
              </a:lnSpc>
              <a:spcBef>
                <a:spcPts val="700"/>
              </a:spcBef>
            </a:pPr>
            <a:r>
              <a:rPr sz="1140" b="0" i="0">
                <a:solidFill>
                  <a:srgbClr val="21295C"/>
                </a:solidFill>
                <a:latin typeface="Arial"/>
              </a:rPr>
              <a:t/>
            </a:r>
            <a:r>
              <a:rPr sz="1140" b="0" i="0">
                <a:solidFill>
                  <a:srgbClr val="21295C"/>
                </a:solidFill>
                <a:latin typeface="Arial"/>
              </a:rPr>
              <a:t>То же явление измерено рандомизированно — но в учёбе, на примерно тысяче старшеклассников и на задачах математики: практика с моделью дала плюс 48 процентов к контролю, а экзамен без модели — на 17 процентов хуже контроля. </a:t>
            </a:r>
            <a:r>
              <a:rPr sz="1140" b="1" i="0">
                <a:solidFill>
                  <a:srgbClr val="21295C"/>
                </a:solidFill>
                <a:latin typeface="Arial"/>
              </a:rPr>
              <a:t>Повторением клинической находки это не является:</a:t>
            </a:r>
            <a:r>
              <a:rPr sz="1140" b="0" i="0">
                <a:solidFill>
                  <a:srgbClr val="21295C"/>
                </a:solidFill>
                <a:latin typeface="Arial"/>
              </a:rPr>
              <a:t> другая работа, другие люди, другая задача; строка «на реальной работе не воспроизводилось» остаётся в силе.</a:t>
            </a:r>
          </a:p>
          <a:p>
            <a:pPr algn="l">
              <a:lnSpc>
                <a:spcPct val="126000"/>
              </a:lnSpc>
              <a:spcBef>
                <a:spcPts val="700"/>
              </a:spcBef>
            </a:pPr>
            <a:r>
              <a:rPr sz="1140" b="0" i="0">
                <a:solidFill>
                  <a:srgbClr val="21295C"/>
                </a:solidFill>
                <a:latin typeface="Arial"/>
              </a:rPr>
              <a:t/>
            </a:r>
            <a:r>
              <a:rPr sz="1140" b="1" i="0">
                <a:solidFill>
                  <a:srgbClr val="21295C"/>
                </a:solidFill>
                <a:latin typeface="Arial"/>
              </a:rPr>
              <a:t>У кого за последние три месяца был рабочий день без ассистента — как он прошёл?</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и соавт., The Lancet Gastroenterology &amp; Hepatology 2025;10(10):896–903, DOI 10.1016/S2468-1253(25)00133-5</a:t>
            </a:r>
            <a:r>
              <a:rPr sz="1100" b="0" i="1">
                <a:solidFill>
                  <a:srgbClr val="1C7293"/>
                </a:solidFill>
                <a:latin typeface="Arial"/>
              </a:rPr>
              <a:t> · </a:t>
            </a:r>
            <a:r>
              <a:rPr sz="1100" b="0" i="1">
                <a:solidFill>
                  <a:srgbClr val="1C7293"/>
                </a:solidFill>
                <a:latin typeface="Arial"/>
              </a:rPr>
              <a:t>Bastani H., Bastani O., Sungu A. и соавт., PNAS 2025, DOI 10.1073/pnas.2422633122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пробела и одно измерение доверия</a:t>
            </a:r>
          </a:p>
        </p:txBody>
      </p:sp>
      <p:sp>
        <p:nvSpPr>
          <p:cNvPr id="4" name="Rounded Rectangle 3"/>
          <p:cNvSpPr/>
          <p:nvPr/>
        </p:nvSpPr>
        <p:spPr>
          <a:xfrm>
            <a:off x="502920"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ОДНА ОШИБКА ОБРЫВАЕТ ДОВЕРИЕ</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ДОВЕРИЕ ЗА МЕСЯЦЫ РЕАЛЬНОЙ РАБОТЫ</a:t>
            </a:r>
          </a:p>
        </p:txBody>
      </p:sp>
      <p:sp>
        <p:nvSpPr>
          <p:cNvPr id="9" name="TextBox 8"/>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964832"/>
          </a:xfrm>
          <a:prstGeom prst="roundRect">
            <a:avLst>
              <a:gd name="adj" fmla="val 1551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ОТКАЗ РАБОТАТЬ БЕЗ ПОМОЩНИКА</a:t>
            </a:r>
          </a:p>
        </p:txBody>
      </p:sp>
      <p:sp>
        <p:nvSpPr>
          <p:cNvPr id="12" name="TextBox 11"/>
          <p:cNvSpPr txBox="1"/>
          <p:nvPr/>
        </p:nvSpPr>
        <p:spPr>
          <a:xfrm>
            <a:off x="8207044" y="1690796"/>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23344"/>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величина ОПРОСНАЯ — сказали исследователям сами участники, а не телеметрия; предмет немедицинский, это разработка программ, поэтому свидетельство числится переносом</a:t>
            </a:r>
          </a:p>
        </p:txBody>
      </p:sp>
      <p:sp>
        <p:nvSpPr>
          <p:cNvPr id="14" name="Rounded Rectangle 13"/>
          <p:cNvSpPr/>
          <p:nvPr/>
        </p:nvSpPr>
        <p:spPr>
          <a:xfrm>
            <a:off x="374904" y="3391296"/>
            <a:ext cx="11441887" cy="2844911"/>
          </a:xfrm>
          <a:prstGeom prst="roundRect">
            <a:avLst>
              <a:gd name="adj" fmla="val 107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482736"/>
            <a:ext cx="11112703" cy="275347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теперь исполнитель и какие шаги появились</a:t>
            </a:r>
          </a:p>
        </p:txBody>
      </p:sp>
      <p:sp>
        <p:nvSpPr>
          <p:cNvPr id="4" name="Rounded Rectangle 3"/>
          <p:cNvSpPr/>
          <p:nvPr/>
        </p:nvSpPr>
        <p:spPr>
          <a:xfrm>
            <a:off x="502920"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женщины — это его собственная выборка; единого числа по разным внедрениям одной идеи нет, и разброса в опубликованных числах тоже: у прежней пары величин источник сверку не прошёл</a:t>
            </a:r>
          </a:p>
        </p:txBody>
      </p:sp>
      <p:sp>
        <p:nvSpPr>
          <p:cNvPr id="8" name="Rounded Rectangle 7"/>
          <p:cNvSpPr/>
          <p:nvPr/>
        </p:nvSpPr>
        <p:spPr>
          <a:xfrm>
            <a:off x="4286402"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ВЕРНУВШИЕСЯ</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 процентов</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точечная оценка; доверительный интервал накрыл ноль</a:t>
            </a:r>
          </a:p>
        </p:txBody>
      </p:sp>
      <p:sp>
        <p:nvSpPr>
          <p:cNvPr id="12" name="Rounded Rectangle 11"/>
          <p:cNvSpPr/>
          <p:nvPr/>
        </p:nvSpPr>
        <p:spPr>
          <a:xfrm>
            <a:off x="8069884" y="1335024"/>
            <a:ext cx="3618890" cy="1844122"/>
          </a:xfrm>
          <a:prstGeom prst="roundRect">
            <a:avLst>
              <a:gd name="adj" fmla="val 1652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НОВЫЕ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4 процента</a:t>
            </a:r>
          </a:p>
        </p:txBody>
      </p:sp>
      <p:sp>
        <p:nvSpPr>
          <p:cNvPr id="15" name="TextBox 14"/>
          <p:cNvSpPr txBox="1"/>
          <p:nvPr/>
        </p:nvSpPr>
        <p:spPr>
          <a:xfrm>
            <a:off x="8207044"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знак отрицательный в обеих группах, значимости нет ни в одной; «вернувшиеся» и «новые» — это опыт участия в самом замере, а не стаж в профессии</a:t>
            </a:r>
          </a:p>
        </p:txBody>
      </p:sp>
      <p:sp>
        <p:nvSpPr>
          <p:cNvPr id="16" name="TextBox 15"/>
          <p:cNvSpPr txBox="1"/>
          <p:nvPr/>
        </p:nvSpPr>
        <p:spPr>
          <a:xfrm>
            <a:off x="502920" y="341689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До</a:t>
            </a:r>
          </a:p>
        </p:txBody>
      </p:sp>
      <p:sp>
        <p:nvSpPr>
          <p:cNvPr id="17" name="Rounded Rectangle 16"/>
          <p:cNvSpPr/>
          <p:nvPr/>
        </p:nvSpPr>
        <p:spPr>
          <a:xfrm>
            <a:off x="1920240"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19" name="Right Arrow 18"/>
          <p:cNvSpPr/>
          <p:nvPr/>
        </p:nvSpPr>
        <p:spPr>
          <a:xfrm>
            <a:off x="5039258"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первый читатель</a:t>
            </a:r>
          </a:p>
        </p:txBody>
      </p:sp>
      <p:sp>
        <p:nvSpPr>
          <p:cNvPr id="22" name="Right Arrow 21"/>
          <p:cNvSpPr/>
          <p:nvPr/>
        </p:nvSpPr>
        <p:spPr>
          <a:xfrm>
            <a:off x="8386876"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второй читатель</a:t>
            </a:r>
          </a:p>
        </p:txBody>
      </p:sp>
      <p:sp>
        <p:nvSpPr>
          <p:cNvPr id="25" name="TextBox 24"/>
          <p:cNvSpPr txBox="1"/>
          <p:nvPr/>
        </p:nvSpPr>
        <p:spPr>
          <a:xfrm>
            <a:off x="502920" y="402039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После</a:t>
            </a:r>
          </a:p>
        </p:txBody>
      </p:sp>
      <p:sp>
        <p:nvSpPr>
          <p:cNvPr id="26" name="Rounded Rectangle 25"/>
          <p:cNvSpPr/>
          <p:nvPr/>
        </p:nvSpPr>
        <p:spPr>
          <a:xfrm>
            <a:off x="1920240"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28" name="Right Arrow 27"/>
          <p:cNvSpPr/>
          <p:nvPr/>
        </p:nvSpPr>
        <p:spPr>
          <a:xfrm>
            <a:off x="5039258"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модель</a:t>
            </a:r>
          </a:p>
        </p:txBody>
      </p:sp>
      <p:sp>
        <p:nvSpPr>
          <p:cNvPr id="31" name="Right Arrow 30"/>
          <p:cNvSpPr/>
          <p:nvPr/>
        </p:nvSpPr>
        <p:spPr>
          <a:xfrm>
            <a:off x="8386876"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арбитр при расхождении</a:t>
            </a:r>
          </a:p>
        </p:txBody>
      </p:sp>
      <p:sp>
        <p:nvSpPr>
          <p:cNvPr id="34" name="TextBox 33"/>
          <p:cNvSpPr txBox="1"/>
          <p:nvPr/>
        </p:nvSpPr>
        <p:spPr>
          <a:xfrm>
            <a:off x="502920" y="456903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поток решения до и после</a:t>
            </a:r>
          </a:p>
        </p:txBody>
      </p:sp>
      <p:sp>
        <p:nvSpPr>
          <p:cNvPr id="35" name="Rounded Rectangle 34"/>
          <p:cNvSpPr/>
          <p:nvPr/>
        </p:nvSpPr>
        <p:spPr>
          <a:xfrm>
            <a:off x="374904" y="4881888"/>
            <a:ext cx="11441887" cy="1354319"/>
          </a:xfrm>
          <a:prstGeom prst="roundRect">
            <a:avLst>
              <a:gd name="adj" fmla="val 22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973328"/>
            <a:ext cx="11112703" cy="12628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Появилась роль посредника</a:t>
            </a:r>
            <a:r>
              <a:rPr sz="1500" b="0" i="0">
                <a:solidFill>
                  <a:srgbClr val="21295C"/>
                </a:solidFill>
                <a:latin typeface="Arial"/>
              </a:rPr>
              <a:t> — модель даёт вывод, человек переводит его на язык, которому поверит врач; доверие выше у тех, кто работает с моделью руками.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целевой арбитраж</a:t>
            </a:r>
            <a:r>
              <a:rPr sz="1500" b="0" i="0">
                <a:solidFill>
                  <a:srgbClr val="21295C"/>
                </a:solidFill>
                <a:latin typeface="Arial"/>
              </a:rPr>
              <a:t>, а рутинная перепроверка каждого случая ушла.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Третья строка — измеренная зависимость: точечные оценки есть, </a:t>
            </a:r>
            <a:r>
              <a:rPr sz="1500" b="1" i="0">
                <a:solidFill>
                  <a:srgbClr val="21295C"/>
                </a:solidFill>
                <a:latin typeface="Arial"/>
              </a:rPr>
              <a:t>значимости нет</a:t>
            </a:r>
            <a:r>
              <a:rPr sz="1500" b="0" i="0">
                <a:solidFill>
                  <a:srgbClr val="21295C"/>
                </a:solidFill>
                <a:latin typeface="Arial"/>
              </a:rPr>
              <a:t>.</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Качественное исследование внедрения модели раннего предупреждения, JMIR, 2020, пятнадцать интервью</a:t>
            </a:r>
            <a:r>
              <a:rPr sz="1100" b="0" i="1">
                <a:solidFill>
                  <a:srgbClr val="1C7293"/>
                </a:solidFill>
                <a:latin typeface="Arial"/>
              </a:rPr>
              <a:t> · </a:t>
            </a:r>
            <a:r>
              <a:rPr sz="1100" b="0" i="1">
                <a:solidFill>
                  <a:srgbClr val="1C7293"/>
                </a:solidFill>
                <a:latin typeface="Arial"/>
              </a:rPr>
              <a:t>Рандомизированное исследование шведской программы скрининга, промежуточный анализ безопасности</a:t>
            </a:r>
            <a:r>
              <a:rPr sz="1100" b="0" i="1">
                <a:solidFill>
                  <a:srgbClr val="1C7293"/>
                </a:solidFill>
                <a:latin typeface="Arial"/>
              </a:rPr>
              <a:t> · </a:t>
            </a: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Навык — расходуемое, и расход измерен один раз</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ЦЕЛЕВЫХ ПОПЫТОК ПОИСКА ПОВТОРЕНИЯ</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22 попытки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восемнадцать поисковых формулировок плюс четыре целевых обращения к журналам и базе диссертаций; это число про поиск, о самом предмете оно не говорит ничего</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реальной работе измерено однажды</a:t>
            </a:r>
            <a:r>
              <a:rPr sz="1500" b="0" i="0">
                <a:solidFill>
                  <a:srgbClr val="21295C"/>
                </a:solidFill>
                <a:latin typeface="Arial"/>
              </a:rPr>
              <a:t> — падение доли обнаружения, с опубликованным исправлением и тремя письмами.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Повторения на реальной работе нет</a:t>
            </a:r>
            <a:r>
              <a:rPr sz="1500" b="0" i="0">
                <a:solidFill>
                  <a:srgbClr val="21295C"/>
                </a:solidFill>
                <a:latin typeface="Arial"/>
              </a:rPr>
              <a:t>, и пробел назван числом.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Продольного измерения для тех, кто учился сразу с ассистентом, не существует вовсе</a:t>
            </a:r>
            <a:r>
              <a:rPr sz="1500" b="0" i="0">
                <a:solidFill>
                  <a:srgbClr val="21295C"/>
                </a:solidFill>
                <a:latin typeface="Arial"/>
              </a:rPr>
              <a:t> — про людей в этой аудитории данных нет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Матрица ниже — третий слой «чем держат» — имеет одну пустую клетку: </a:t>
            </a:r>
            <a:r>
              <a:rPr sz="1500" b="1" i="0">
                <a:solidFill>
                  <a:srgbClr val="21295C"/>
                </a:solidFill>
                <a:latin typeface="Arial"/>
              </a:rPr>
              <a:t>процедуры, измеряющей результат врача без помощника,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мы складываем вечер — девять форм, счёт красной линии и ответ на вопрос лекции.</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Свод раздела: Budzyń K. и соавт., The Lancet Gastroenterology &amp; Hepatology 2025;10(10):896–903, DOI 10.1016/S2468-1253(25)00133-5, с опубликованным исправлением и тремя письмами; 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за вечер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работа и сколько её: пять форм из девяти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ШАГ ПОЯВИЛСЯ: ОБЪЁМ РАЗБОРА РАСХОЖДЕНИЙ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между двумя центрами — от 22 до 142 процентов на одной и той же идее: протоколы арбитража разные</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дольше в 4,6 раза по медианам · в 2,75 по средним</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48 секунд среднего чтения против 2 минут 12 секунд среднего разбора; по медианам — 25 секунд против 1 минуты 55 секунд</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Во входе сказано, чем платят: вниманием, навыком, подписью и арбитражем. Здесь это посчитано формами.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1. Нагрузка переехала на другой шаг</a:t>
            </a:r>
            <a:r>
              <a:rPr sz="1350" b="0" i="0">
                <a:solidFill>
                  <a:srgbClr val="21295C"/>
                </a:solidFill>
                <a:latin typeface="Arial"/>
              </a:rPr>
              <a:t> — воронка молекул ИИ-происхождения против базы отрасли: одобрений регулятора </a:t>
            </a:r>
            <a:r>
              <a:rPr sz="1350" b="1" i="0">
                <a:solidFill>
                  <a:srgbClr val="21295C"/>
                </a:solidFill>
                <a:latin typeface="Arial"/>
              </a:rPr>
              <a:t>ноль</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2. Шаг исчез совсем</a:t>
            </a:r>
            <a:r>
              <a:rPr sz="1350" b="0" i="0">
                <a:solidFill>
                  <a:srgbClr val="21295C"/>
                </a:solidFill>
                <a:latin typeface="Arial"/>
              </a:rPr>
              <a:t> — </a:t>
            </a:r>
            <a:r>
              <a:rPr sz="1350" b="0" i="1">
                <a:solidFill>
                  <a:srgbClr val="21295C"/>
                </a:solidFill>
                <a:latin typeface="Arial"/>
              </a:rPr>
              <a:t>ни одного подтверждённого случая за вечер.</a:t>
            </a:r>
            <a:r>
              <a:rPr sz="135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3. Шаг появился</a:t>
            </a:r>
            <a:r>
              <a:rPr sz="135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 заранее утверждённый план изменений модели.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 Нагрузка выросла на том же месте</a:t>
            </a:r>
            <a:r>
              <a:rPr sz="135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4а. Нагрузка на том же месте упала</a:t>
            </a:r>
            <a:r>
              <a:rPr sz="1350" b="0" i="0">
                <a:solidFill>
                  <a:srgbClr val="21295C"/>
                </a:solidFill>
                <a:latin typeface="Arial"/>
              </a:rPr>
              <a:t> — замер зрительного поиска: две реализации, знаки противоположные.</a:t>
            </a:r>
          </a:p>
          <a:p>
            <a:pPr algn="l">
              <a:lnSpc>
                <a:spcPct val="126000"/>
              </a:lnSpc>
              <a:spcBef>
                <a:spcPts val="700"/>
              </a:spcBef>
            </a:pPr>
            <a:r>
              <a:rPr sz="1080" b="0" i="0">
                <a:solidFill>
                  <a:srgbClr val="21295C"/>
                </a:solidFill>
                <a:latin typeface="Arial"/>
              </a:rPr>
              <a:t/>
            </a:r>
            <a:r>
              <a:rPr sz="1080" b="0" i="1">
                <a:solidFill>
                  <a:srgbClr val="1C7293"/>
                </a:solidFill>
                <a:latin typeface="Arial"/>
              </a:rPr>
              <a:t>Среднее по приросту разбора расхождений без разброса не произносится: в одном центре прирост был заметно больше, чем в другом, потому что протоколы арбитража разные. Устройство нового шага само задаёт нагрузку, и «модель вторым читателем» — семейство конфигураций, а не одно число.</a:t>
            </a:r>
          </a:p>
          <a:p>
            <a:pPr algn="l">
              <a:lnSpc>
                <a:spcPct val="126000"/>
              </a:lnSpc>
              <a:spcBef>
                <a:spcPts val="700"/>
              </a:spcBef>
            </a:pPr>
            <a:r>
              <a:rPr sz="1080" b="0" i="0">
                <a:solidFill>
                  <a:srgbClr val="21295C"/>
                </a:solidFill>
                <a:latin typeface="Arial"/>
              </a:rPr>
              <a:t/>
            </a:r>
            <a:r>
              <a:rPr sz="1080" b="0" i="1">
                <a:solidFill>
                  <a:srgbClr val="1C7293"/>
                </a:solidFill>
                <a:latin typeface="Arial"/>
              </a:rPr>
              <a:t>Кратность названа двумя счётами, потому что по медианам и по средним она разная.</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2037761"/>
          </a:xfrm>
          <a:prstGeom prst="roundRect">
            <a:avLst>
              <a:gd name="adj" fmla="val 1495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863689"/>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 процедурах БЕЗ помощника, у тех же девятнадцати врачей; минус 6,0 процентного пункта</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СМЕНИЛСЯ</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 большем числе найденных раков; промежуточный анализ безопасности, 80 033 женщины — его собственная выборка</a:t>
            </a:r>
          </a:p>
        </p:txBody>
      </p:sp>
      <p:sp>
        <p:nvSpPr>
          <p:cNvPr id="12" name="Rounded Rectangle 11"/>
          <p:cNvSpPr/>
          <p:nvPr/>
        </p:nvSpPr>
        <p:spPr>
          <a:xfrm>
            <a:off x="8069884"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СМЕСТИЛАСЬ ЦЕНА ОШИБКИ</a:t>
            </a:r>
          </a:p>
        </p:txBody>
      </p:sp>
      <p:sp>
        <p:nvSpPr>
          <p:cNvPr id="14" name="TextBox 13"/>
          <p:cNvSpPr txBox="1"/>
          <p:nvPr/>
        </p:nvSpPr>
        <p:spPr>
          <a:xfrm>
            <a:off x="8207044"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15" name="TextBox 14"/>
          <p:cNvSpPr txBox="1"/>
          <p:nvPr/>
        </p:nvSpPr>
        <p:spPr>
          <a:xfrm>
            <a:off x="8207044" y="228754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июнь 2024 года, радиологические изделия с доступной документацией подачи</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260" b="0" i="0">
                <a:solidFill>
                  <a:srgbClr val="21295C"/>
                </a:solidFill>
                <a:latin typeface="Arial"/>
              </a:rPr>
              <a:t>• </a:t>
            </a:r>
            <a:r>
              <a:rPr sz="1260" b="1" i="0">
                <a:solidFill>
                  <a:srgbClr val="21295C"/>
                </a:solidFill>
                <a:latin typeface="Arial"/>
              </a:rPr>
              <a:t>5. Исполнитель сменился</a:t>
            </a:r>
            <a:r>
              <a:rPr sz="126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6. Изменился порядок работ</a:t>
            </a:r>
            <a:r>
              <a:rPr sz="1260" b="0" i="0">
                <a:solidFill>
                  <a:srgbClr val="21295C"/>
                </a:solidFill>
                <a:latin typeface="Arial"/>
              </a:rPr>
              <a:t> — сортировка до приёма. </a:t>
            </a:r>
            <a:r>
              <a:rPr sz="1260" b="0" i="1">
                <a:solidFill>
                  <a:srgbClr val="21295C"/>
                </a:solidFill>
                <a:latin typeface="Arial"/>
              </a:rPr>
              <a:t>Числа у этой формы на своде нет: порядок работ переставлен, но посчитан там не был.</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7. Сместилась цена ошибки</a:t>
            </a:r>
            <a:r>
              <a:rPr sz="1260" b="0" i="0">
                <a:solidFill>
                  <a:srgbClr val="21295C"/>
                </a:solidFill>
                <a:latin typeface="Arial"/>
              </a:rPr>
              <a:t> — разрыв между нормой и проверкой.</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8. Исполнитель тот же, но стал хуже</a:t>
            </a:r>
            <a:r>
              <a:rPr sz="1260" b="0" i="0">
                <a:solidFill>
                  <a:srgbClr val="21295C"/>
                </a:solidFill>
                <a:latin typeface="Arial"/>
              </a:rPr>
              <a:t> — падение доли обнаружения в процедурах без помощника у тех же врачей.</a:t>
            </a:r>
          </a:p>
          <a:p>
            <a:pPr algn="l">
              <a:lnSpc>
                <a:spcPct val="126000"/>
              </a:lnSpc>
              <a:spcBef>
                <a:spcPts val="700"/>
              </a:spcBef>
            </a:pPr>
            <a:r>
              <a:rPr sz="1260" b="0" i="0">
                <a:solidFill>
                  <a:srgbClr val="21295C"/>
                </a:solidFill>
                <a:latin typeface="Arial"/>
              </a:rPr>
              <a:t/>
            </a:r>
            <a:r>
              <a:rPr sz="1260" b="0" i="0">
                <a:solidFill>
                  <a:srgbClr val="21295C"/>
                </a:solidFill>
                <a:latin typeface="Arial"/>
              </a:rPr>
              <a:t>Чем восьмая форма отличается от двух соседних: в пятой сменилась </a:t>
            </a:r>
            <a:r>
              <a:rPr sz="1260" b="1" i="0">
                <a:solidFill>
                  <a:srgbClr val="21295C"/>
                </a:solidFill>
                <a:latin typeface="Arial"/>
              </a:rPr>
              <a:t>рука</a:t>
            </a:r>
            <a:r>
              <a:rPr sz="1260" b="0" i="0">
                <a:solidFill>
                  <a:srgbClr val="21295C"/>
                </a:solidFill>
                <a:latin typeface="Arial"/>
              </a:rPr>
              <a:t> — здесь рука та же, и на этом стоит измерение. В форме 4а упал </a:t>
            </a:r>
            <a:r>
              <a:rPr sz="1260" b="1" i="0">
                <a:solidFill>
                  <a:srgbClr val="21295C"/>
                </a:solidFill>
                <a:latin typeface="Arial"/>
              </a:rPr>
              <a:t>объём</a:t>
            </a:r>
            <a:r>
              <a:rPr sz="1260" b="0" i="0">
                <a:solidFill>
                  <a:srgbClr val="21295C"/>
                </a:solidFill>
                <a:latin typeface="Arial"/>
              </a:rPr>
              <a:t> — здесь объём тот же, упала </a:t>
            </a:r>
            <a:r>
              <a:rPr sz="1260" b="1" i="0">
                <a:solidFill>
                  <a:srgbClr val="21295C"/>
                </a:solidFill>
                <a:latin typeface="Arial"/>
              </a:rPr>
              <a:t>доля находок</a:t>
            </a:r>
            <a:r>
              <a:rPr sz="1260" b="0" i="0">
                <a:solidFill>
                  <a:srgbClr val="21295C"/>
                </a:solidFill>
                <a:latin typeface="Arial"/>
              </a:rPr>
              <a:t>.</a:t>
            </a:r>
          </a:p>
          <a:p>
            <a:pPr algn="l">
              <a:lnSpc>
                <a:spcPct val="126000"/>
              </a:lnSpc>
              <a:spcBef>
                <a:spcPts val="700"/>
              </a:spcBef>
            </a:pPr>
            <a:r>
              <a:rPr sz="1010" b="0" i="0">
                <a:solidFill>
                  <a:srgbClr val="21295C"/>
                </a:solidFill>
                <a:latin typeface="Arial"/>
              </a:rPr>
              <a:t/>
            </a:r>
            <a:r>
              <a:rPr sz="1010" b="0" i="1">
                <a:solidFill>
                  <a:srgbClr val="1C7293"/>
                </a:solidFill>
                <a:latin typeface="Arial"/>
              </a:rPr>
              <a:t>Измерен только этот знак. Обратный случай — тот же исполнитель, ставший лучше, — получит свой номер, а не расширит это определение задним числом. Измерение под новой формой одно и не воспроизведённое.</a:t>
            </a:r>
          </a:p>
          <a:p>
            <a:pPr algn="l">
              <a:lnSpc>
                <a:spcPct val="126000"/>
              </a:lnSpc>
              <a:spcBef>
                <a:spcPts val="700"/>
              </a:spcBef>
            </a:pPr>
            <a:r>
              <a:rPr sz="1260" b="0" i="0">
                <a:solidFill>
                  <a:srgbClr val="21295C"/>
                </a:solidFill>
                <a:latin typeface="Arial"/>
              </a:rPr>
              <a:t/>
            </a:r>
            <a:r>
              <a:rPr sz="1260" b="1" i="0">
                <a:solidFill>
                  <a:srgbClr val="21295C"/>
                </a:solidFill>
                <a:latin typeface="Arial"/>
              </a:rPr>
              <a:t>Какая из этих форм встречалась у вас на работе? Напишите в чат номер — один.</a:t>
            </a:r>
          </a:p>
        </p:txBody>
      </p:sp>
      <p:sp>
        <p:nvSpPr>
          <p:cNvPr id="18" name="Rectangle 17"/>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Столько раз за вечер выигрыш был приписан не тому</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ПОДТВЕРЖДЁННЫХ СЛУЧАЕВ ЗА ВЕЧЕР</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двенадцать строк реестра из пятнадцати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строки сняты вместе с темой, изъятой из лекции, и номера их не переиспользуются; три числятся условными — адрес разбора у них лежит за другим разделом. Число берётся из реестра на день сборки: вписанное заранее соврало бы</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Копаешь — а там вообще нет модели.</a:t>
            </a:r>
            <a:r>
              <a:rPr sz="135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выигрыш не там, где показывают.</a:t>
            </a:r>
            <a:r>
              <a:rPr sz="1350" b="0" i="0">
                <a:solidFill>
                  <a:srgbClr val="21295C"/>
                </a:solidFill>
                <a:latin typeface="Arial"/>
              </a:rPr>
              <a:t> Снижение смертности принадлежит новой роли в процессе, а не качеству прогноза. «ИИ изобрёл лекарство» — расчёту физики связывания под уже известную мишень, метод не генеративный. «Миллионы обработанных исследований» — объёму, а не качеству: знаменателя нет.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числа выросли при пересказе.</a:t>
            </a:r>
            <a:r>
              <a:rPr sz="135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Приёмы, по одному на графу: </a:t>
            </a:r>
            <a:r>
              <a:rPr sz="1350" b="1" i="0">
                <a:solidFill>
                  <a:srgbClr val="21295C"/>
                </a:solidFill>
                <a:latin typeface="Arial"/>
              </a:rPr>
              <a:t>убери модель</a:t>
            </a:r>
            <a:r>
              <a:rPr sz="1350" b="0" i="0">
                <a:solidFill>
                  <a:srgbClr val="21295C"/>
                </a:solidFill>
                <a:latin typeface="Arial"/>
              </a:rPr>
              <a:t> · </a:t>
            </a:r>
            <a:r>
              <a:rPr sz="1350" b="1" i="0">
                <a:solidFill>
                  <a:srgbClr val="21295C"/>
                </a:solidFill>
                <a:latin typeface="Arial"/>
              </a:rPr>
              <a:t>спроси, от чего посчитан эффект</a:t>
            </a:r>
            <a:r>
              <a:rPr sz="1350" b="0" i="0">
                <a:solidFill>
                  <a:srgbClr val="21295C"/>
                </a:solidFill>
                <a:latin typeface="Arial"/>
              </a:rPr>
              <a:t> · </a:t>
            </a:r>
            <a:r>
              <a:rPr sz="1350" b="1" i="0">
                <a:solidFill>
                  <a:srgbClr val="21295C"/>
                </a:solidFill>
                <a:latin typeface="Arial"/>
              </a:rPr>
              <a:t>открой первоисточник и сверь выборку, дизайн и журнал</a:t>
            </a:r>
            <a:r>
              <a:rPr sz="1350" b="0" i="0">
                <a:solidFill>
                  <a:srgbClr val="21295C"/>
                </a:solidFill>
                <a:latin typeface="Arial"/>
              </a:rPr>
              <a:t>.</a:t>
            </a:r>
          </a:p>
          <a:p>
            <a:pPr algn="l">
              <a:lnSpc>
                <a:spcPct val="126000"/>
              </a:lnSpc>
              <a:spcBef>
                <a:spcPts val="700"/>
              </a:spcBef>
            </a:pPr>
            <a:r>
              <a:rPr sz="1080" b="0" i="0">
                <a:solidFill>
                  <a:srgbClr val="21295C"/>
                </a:solidFill>
                <a:latin typeface="Arial"/>
              </a:rPr>
              <a:t/>
            </a:r>
            <a:r>
              <a:rPr sz="1080" b="0" i="1">
                <a:solidFill>
                  <a:srgbClr val="1C7293"/>
                </a:solidFill>
                <a:latin typeface="Arial"/>
              </a:rPr>
              <a:t>В этот же вечер были разборы, где выигрыш принадлежит именно модели,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мы вообще измеряли: четыре ступени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Исход пациента</a:t>
            </a:r>
            <a:r>
              <a:rPr sz="1500" b="0" i="0">
                <a:solidFill>
                  <a:srgbClr val="21295C"/>
                </a:solidFill>
                <a:latin typeface="Arial"/>
              </a:rPr>
              <a:t> — шведский скрининг · глазное дно · разработка лекарства · модель сепсиса частично.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Качество работы</a:t>
            </a:r>
            <a:r>
              <a:rPr sz="1500" b="0" i="0">
                <a:solidFill>
                  <a:srgbClr val="21295C"/>
                </a:solidFill>
                <a:latin typeface="Arial"/>
              </a:rPr>
              <a:t> — деквалификация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Точность на корпусе</a:t>
            </a:r>
            <a:r>
              <a:rPr sz="1500" b="0" i="0">
                <a:solidFill>
                  <a:srgbClr val="21295C"/>
                </a:solidFill>
                <a:latin typeface="Arial"/>
              </a:rPr>
              <a:t> — всё ядро вечера: агрегат размеров эффекта, замер взгляда, подсказка по срезу, обратный знак, кардиограммы, ортопедия.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Заявление поставщика</a:t>
            </a:r>
            <a:r>
              <a:rPr sz="1500" b="0" i="0">
                <a:solidFill>
                  <a:srgbClr val="21295C"/>
                </a:solidFill>
                <a:latin typeface="Arial"/>
              </a:rPr>
              <a:t> — «три секунды на описание» · «экономия двойного чтения».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 ядра.</a:t>
            </a:r>
            <a:r>
              <a:rPr sz="1500" b="0" i="0">
                <a:solidFill>
                  <a:srgbClr val="21295C"/>
                </a:solidFill>
                <a:latin typeface="Arial"/>
              </a:rPr>
              <a:t> Никто не проверил, что случилось с больным из-за того, что врач стал хуже смотреть.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не упрёк исследователям: такой замер стоит лет и требует исходов, которых в лабораторном устройстве опыта нет вовсе. Градация требует называть ступень замера вслух — и свою тоже.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Клетки узнаваемые, процедуры другие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Распознавание на изображении</a:t>
            </a:r>
            <a:r>
              <a:rPr sz="1500" b="0" i="0">
                <a:solidFill>
                  <a:srgbClr val="21295C"/>
                </a:solidFill>
                <a:latin typeface="Arial"/>
              </a:rPr>
              <a:t> — скрининг и чтение исследований. </a:t>
            </a:r>
            <a:r>
              <a:rPr sz="1500" b="0" i="1">
                <a:solidFill>
                  <a:srgbClr val="21295C"/>
                </a:solidFill>
                <a:latin typeface="Arial"/>
              </a:rPr>
              <a:t>Держат:</a:t>
            </a:r>
            <a:r>
              <a:rPr sz="1500" b="0" i="0">
                <a:solidFill>
                  <a:srgbClr val="21295C"/>
                </a:solidFill>
                <a:latin typeface="Arial"/>
              </a:rPr>
              <a:t> двойное чтение, арбитраж при расхождении, порог вмешательства, пересчёт прогностической ценности под местную распространённость.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Прогноз на структурированных данных</a:t>
            </a:r>
            <a:r>
              <a:rPr sz="1500" b="0" i="0">
                <a:solidFill>
                  <a:srgbClr val="21295C"/>
                </a:solidFill>
                <a:latin typeface="Arial"/>
              </a:rPr>
              <a:t> — раннее предупреждение, воронка активов. </a:t>
            </a:r>
            <a:r>
              <a:rPr sz="1500" b="0" i="1">
                <a:solidFill>
                  <a:srgbClr val="21295C"/>
                </a:solidFill>
                <a:latin typeface="Arial"/>
              </a:rPr>
              <a:t>Держат:</a:t>
            </a:r>
            <a:r>
              <a:rPr sz="1500" b="0" i="0">
                <a:solidFill>
                  <a:srgbClr val="21295C"/>
                </a:solidFill>
                <a:latin typeface="Arial"/>
              </a:rPr>
              <a:t> разбор ложных тревог как статья рабочего времени, заранее утверждённый план изменений модели, передача данных о работе изделия регулятору.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Поиск и генерация на тексте</a:t>
            </a:r>
            <a:r>
              <a:rPr sz="1500" b="0" i="0">
                <a:solidFill>
                  <a:srgbClr val="21295C"/>
                </a:solidFill>
                <a:latin typeface="Arial"/>
              </a:rPr>
              <a:t> — запись приёма, выписка, дифференциальный диагноз. </a:t>
            </a:r>
            <a:r>
              <a:rPr sz="1500" b="0" i="1">
                <a:solidFill>
                  <a:srgbClr val="21295C"/>
                </a:solidFill>
                <a:latin typeface="Arial"/>
              </a:rPr>
              <a:t>Держат:</a:t>
            </a:r>
            <a:r>
              <a:rPr sz="1500" b="0" i="0">
                <a:solidFill>
                  <a:srgbClr val="21295C"/>
                </a:solidFill>
                <a:latin typeface="Arial"/>
              </a:rPr>
              <a:t> вычитка и подпись врача, разбор случая, границы допуска по заявленному назначению изделия.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Генерация структуры</a:t>
            </a:r>
            <a:r>
              <a:rPr sz="1500" b="0" i="0">
                <a:solidFill>
                  <a:srgbClr val="21295C"/>
                </a:solidFill>
                <a:latin typeface="Arial"/>
              </a:rPr>
              <a:t> — молекула под заданную мишень, дизайн белка. </a:t>
            </a:r>
            <a:r>
              <a:rPr sz="1500" b="0" i="1">
                <a:solidFill>
                  <a:srgbClr val="21295C"/>
                </a:solidFill>
                <a:latin typeface="Arial"/>
              </a:rPr>
              <a:t>Держат:</a:t>
            </a:r>
            <a:r>
              <a:rPr sz="1500" b="0" i="0">
                <a:solidFill>
                  <a:srgbClr val="21295C"/>
                </a:solidFill>
                <a:latin typeface="Arial"/>
              </a:rPr>
              <a:t> доклиника, фазы испытаний, воронка переходов и регистрация.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Результат исполнителя без инструмента</a:t>
            </a:r>
            <a:r>
              <a:rPr sz="1500" b="0" i="0">
                <a:solidFill>
                  <a:srgbClr val="21295C"/>
                </a:solidFill>
                <a:latin typeface="Arial"/>
              </a:rPr>
              <a:t> — тот же врач, та же процедура, без помощника: находок меньше. </a:t>
            </a:r>
            <a:r>
              <a:rPr sz="1500" b="0" i="1">
                <a:solidFill>
                  <a:srgbClr val="21295C"/>
                </a:solidFill>
                <a:latin typeface="Arial"/>
              </a:rPr>
              <a:t>Держат:</a:t>
            </a:r>
            <a:r>
              <a:rPr sz="1500" b="0" i="0">
                <a:solidFill>
                  <a:srgbClr val="21295C"/>
                </a:solidFill>
                <a:latin typeface="Arial"/>
              </a:rPr>
              <a:t> </a:t>
            </a:r>
            <a:r>
              <a:rPr sz="1500" b="1" i="0">
                <a:solidFill>
                  <a:srgbClr val="21295C"/>
                </a:solidFill>
                <a:latin typeface="Arial"/>
              </a:rPr>
              <a:t>ничем. Режима нет, и процедуры, которая это измеряет,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сгустка те же, добавилась одна клетка, держат их четыре разные процедуры — </a:t>
            </a:r>
            <a:r>
              <a:rPr sz="1500" b="1" i="0">
                <a:solidFill>
                  <a:srgbClr val="21295C"/>
                </a:solidFill>
                <a:latin typeface="Arial"/>
              </a:rPr>
              <a:t>а пятую не держит ничто</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позже в процедуре стоит проверка, тем дольше живёт ошибка: для изображения — внутри смены, для текста — при подписи, для прогноза — при следующем срезе данных, переданных регулятору, для структуры — во второй фазе испытаний, через годы.</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меняется в человеке, в процессе и в подписи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Поведение.</a:t>
            </a:r>
            <a:r>
              <a:rPr sz="1500" b="0" i="0">
                <a:solidFill>
                  <a:srgbClr val="21295C"/>
                </a:solidFill>
                <a:latin typeface="Arial"/>
              </a:rPr>
              <a:t> Зрительный поиск сужается при неверной подсказке — </a:t>
            </a:r>
            <a:r>
              <a:rPr sz="1500" b="0" i="1">
                <a:solidFill>
                  <a:srgbClr val="21295C"/>
                </a:solidFill>
                <a:latin typeface="Arial"/>
              </a:rPr>
              <a:t>чтение с замером взгляда</a:t>
            </a:r>
            <a:r>
              <a:rPr sz="1500" b="0" i="0">
                <a:solidFill>
                  <a:srgbClr val="21295C"/>
                </a:solidFill>
                <a:latin typeface="Arial"/>
              </a:rPr>
              <a:t>. Верное решение меняется на неверное под влиянием совета — </a:t>
            </a:r>
            <a:r>
              <a:rPr sz="1500" b="0" i="1">
                <a:solidFill>
                  <a:srgbClr val="21295C"/>
                </a:solidFill>
                <a:latin typeface="Arial"/>
              </a:rPr>
              <a:t>систематический обзор</a:t>
            </a:r>
            <a:r>
              <a:rPr sz="1500" b="0" i="0">
                <a:solidFill>
                  <a:srgbClr val="21295C"/>
                </a:solidFill>
                <a:latin typeface="Arial"/>
              </a:rPr>
              <a:t>. Техника падает в работе без помощника после привыкания — </a:t>
            </a:r>
            <a:r>
              <a:rPr sz="1500" b="0" i="1">
                <a:solidFill>
                  <a:srgbClr val="21295C"/>
                </a:solidFill>
                <a:latin typeface="Arial"/>
              </a:rPr>
              <a:t>наблюдательное исследование, повторения нет</a:t>
            </a:r>
            <a:r>
              <a:rPr sz="1500" b="0" i="0">
                <a:solidFill>
                  <a:srgbClr val="21295C"/>
                </a:solidFill>
                <a:latin typeface="Arial"/>
              </a:rPr>
              <a:t>. Доля отклоняемых тревог предельно высока — </a:t>
            </a:r>
            <a:r>
              <a:rPr sz="1500" b="0" i="1">
                <a:solidFill>
                  <a:srgbClr val="21295C"/>
                </a:solidFill>
                <a:latin typeface="Arial"/>
              </a:rPr>
              <a:t>обзор отклонений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Психология.</a:t>
            </a:r>
            <a:r>
              <a:rPr sz="1500" b="0" i="0">
                <a:solidFill>
                  <a:srgbClr val="21295C"/>
                </a:solidFill>
                <a:latin typeface="Arial"/>
              </a:rPr>
              <a:t> Объяснение повышает согласие, но не качество решения — </a:t>
            </a:r>
            <a:r>
              <a:rPr sz="1500" b="0" i="1">
                <a:solidFill>
                  <a:srgbClr val="21295C"/>
                </a:solidFill>
                <a:latin typeface="Arial"/>
              </a:rPr>
              <a:t>полевой опыт</a:t>
            </a:r>
            <a:r>
              <a:rPr sz="1500" b="0" i="0">
                <a:solidFill>
                  <a:srgbClr val="21295C"/>
                </a:solidFill>
                <a:latin typeface="Arial"/>
              </a:rPr>
              <a:t>. Время пишется быстрее, проверка остаётся — </a:t>
            </a:r>
            <a:r>
              <a:rPr sz="1500" b="0" i="1">
                <a:solidFill>
                  <a:srgbClr val="21295C"/>
                </a:solidFill>
                <a:latin typeface="Arial"/>
              </a:rPr>
              <a:t>рандомизированное исследование плюс замер рабочего времени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Процесс.</a:t>
            </a:r>
            <a:r>
              <a:rPr sz="1500" b="0" i="0">
                <a:solidFill>
                  <a:srgbClr val="21295C"/>
                </a:solidFill>
                <a:latin typeface="Arial"/>
              </a:rPr>
              <a:t> Роль второго проверяющего переходит от человека к модели — </a:t>
            </a:r>
            <a:r>
              <a:rPr sz="1500" b="0" i="1">
                <a:solidFill>
                  <a:srgbClr val="21295C"/>
                </a:solidFill>
                <a:latin typeface="Arial"/>
              </a:rPr>
              <a:t>рандомизированное исследование программы скрининга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Подпись.</a:t>
            </a:r>
            <a:r>
              <a:rPr sz="1500" b="0" i="0">
                <a:solidFill>
                  <a:srgbClr val="21295C"/>
                </a:solidFill>
                <a:latin typeface="Arial"/>
              </a:rPr>
              <a:t> Норма требует человека финальным звеном, и это редко проверено — </a:t>
            </a:r>
            <a:r>
              <a:rPr sz="1500" b="0" i="1">
                <a:solidFill>
                  <a:srgbClr val="21295C"/>
                </a:solidFill>
                <a:latin typeface="Arial"/>
              </a:rPr>
              <a:t>обзор поданной документации</a:t>
            </a:r>
            <a:r>
              <a:rPr sz="1500" b="0" i="0">
                <a:solidFill>
                  <a:srgbClr val="21295C"/>
                </a:solidFill>
                <a:latin typeface="Arial"/>
              </a:rPr>
              <a:t>. Стандарт надзора сформулирован как способность вмешаться, а не как подпись — </a:t>
            </a:r>
            <a:r>
              <a:rPr sz="1500" b="0" i="1">
                <a:solidFill>
                  <a:srgbClr val="21295C"/>
                </a:solidFill>
                <a:latin typeface="Arial"/>
              </a:rPr>
              <a:t>нормативный текст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Контрольная строка.</a:t>
            </a:r>
            <a:r>
              <a:rPr sz="1500" b="0" i="0">
                <a:solidFill>
                  <a:srgbClr val="21295C"/>
                </a:solidFill>
                <a:latin typeface="Arial"/>
              </a:rPr>
              <a:t> Разная структура ошибок человека и модели даёт выигрыш пары — </a:t>
            </a:r>
            <a:r>
              <a:rPr sz="1500" b="0" i="1">
                <a:solidFill>
                  <a:srgbClr val="21295C"/>
                </a:solidFill>
                <a:latin typeface="Arial"/>
              </a:rPr>
              <a:t>крупное агрегационное исследование, повторения нет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не ответ, а вопрос.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вечера,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вечера. Здесь оно возвращается — заработанным, со счётом по каждой опоре.</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Кадры по порядку: 1. Что было обещано в начале. И чем вечер это отработал · 2. Устройство отозвали за год. Решения этого года остались · 3. Вопросы</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обещано в начале. И чем вечер это отработал</a:t>
            </a:r>
          </a:p>
        </p:txBody>
      </p:sp>
      <p:sp>
        <p:nvSpPr>
          <p:cNvPr id="4" name="Rounded Rectangle 3"/>
          <p:cNvSpPr/>
          <p:nvPr/>
        </p:nvSpPr>
        <p:spPr>
          <a:xfrm>
            <a:off x="502920"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ПРАВО ПОДПИСИ ВЫДАНО ЧЕЛОВЕКУ</a:t>
            </a:r>
          </a:p>
        </p:txBody>
      </p:sp>
      <p:sp>
        <p:nvSpPr>
          <p:cNvPr id="6" name="TextBox 5"/>
          <p:cNvSpPr txBox="1"/>
          <p:nvPr/>
        </p:nvSpPr>
        <p:spPr>
          <a:xfrm>
            <a:off x="640080"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28754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радиологические изделия, срез июнь 2024 года; при разборе случая комиссия оценивает действия человека, и вопроса о модели в этой процедуре нет</a:t>
            </a:r>
          </a:p>
        </p:txBody>
      </p:sp>
      <p:sp>
        <p:nvSpPr>
          <p:cNvPr id="8" name="Rounded Rectangle 7"/>
          <p:cNvSpPr/>
          <p:nvPr/>
        </p:nvSpPr>
        <p:spPr>
          <a:xfrm>
            <a:off x="4286402"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ОШИБАЕТСЯ ИНАЧЕ</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898642"/>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оплачено механизмом без величин: пара хуже самой модели там, где сильнее модель, и лучше обеих сторон там, где сильнее человек. Такие измерения существуют, но их числа сверку по первоисточнику не прошли</a:t>
            </a:r>
          </a:p>
        </p:txBody>
      </p:sp>
      <p:sp>
        <p:nvSpPr>
          <p:cNvPr id="12" name="Rounded Rectangle 11"/>
          <p:cNvSpPr/>
          <p:nvPr/>
        </p:nvSpPr>
        <p:spPr>
          <a:xfrm>
            <a:off x="8069884" y="1335024"/>
            <a:ext cx="3618890" cy="2624968"/>
          </a:xfrm>
          <a:prstGeom prst="roundRect">
            <a:avLst>
              <a:gd name="adj" fmla="val 1161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ОТМЕНИТЬ НЕЛЬЗЯ</a:t>
            </a:r>
          </a:p>
        </p:txBody>
      </p:sp>
      <p:sp>
        <p:nvSpPr>
          <p:cNvPr id="14" name="TextBox 13"/>
          <p:cNvSpPr txBox="1"/>
          <p:nvPr/>
        </p:nvSpPr>
        <p:spPr>
          <a:xfrm>
            <a:off x="8207044" y="1690796"/>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02670"/>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другой знаменатель и другой срез, чем у первой плашки: все изделия с ИИ, ноябрь 2024 года. Решения, принятые по изделию за этот год, не отзываются вместе с ним</a:t>
            </a:r>
          </a:p>
        </p:txBody>
      </p:sp>
      <p:sp>
        <p:nvSpPr>
          <p:cNvPr id="16" name="Rounded Rectangle 15"/>
          <p:cNvSpPr/>
          <p:nvPr/>
        </p:nvSpPr>
        <p:spPr>
          <a:xfrm>
            <a:off x="374904" y="4051432"/>
            <a:ext cx="11441887" cy="2184775"/>
          </a:xfrm>
          <a:prstGeom prst="roundRect">
            <a:avLst>
              <a:gd name="adj" fmla="val 139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42872"/>
            <a:ext cx="11112703" cy="2093335"/>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110" b="0" i="0">
                <a:solidFill>
                  <a:srgbClr val="21295C"/>
                </a:solidFill>
                <a:latin typeface="Arial"/>
              </a:rPr>
              <a:t/>
            </a:r>
            <a:r>
              <a:rPr sz="1110" b="0" i="0">
                <a:solidFill>
                  <a:srgbClr val="21295C"/>
                </a:solidFill>
                <a:latin typeface="Arial"/>
              </a:rPr>
              <a:t>У опоры «ошибается иначе» величины нет, и сказано это той же строкой, которой вечер требовал базу у чужих чисел: </a:t>
            </a:r>
            <a:r>
              <a:rPr sz="1110" b="1" i="0">
                <a:solidFill>
                  <a:srgbClr val="21295C"/>
                </a:solidFill>
                <a:latin typeface="Arial"/>
              </a:rPr>
              <a:t>доли взаимного перекрытия ошибок не измерены</a:t>
            </a:r>
            <a:r>
              <a:rPr sz="1110" b="0" i="0">
                <a:solidFill>
                  <a:srgbClr val="21295C"/>
                </a:solidFill>
                <a:latin typeface="Arial"/>
              </a:rPr>
              <a:t> — измерения есть, их числа сверку по первоисточнику не прошли. Держится опора механизмом: какая сторона сильнее, такой у пары и знак.</a:t>
            </a:r>
          </a:p>
          <a:p>
            <a:pPr algn="l">
              <a:lnSpc>
                <a:spcPct val="126000"/>
              </a:lnSpc>
              <a:spcBef>
                <a:spcPts val="700"/>
              </a:spcBef>
            </a:pPr>
            <a:r>
              <a:rPr sz="1110" b="0" i="0">
                <a:solidFill>
                  <a:srgbClr val="21295C"/>
                </a:solidFill>
                <a:latin typeface="Arial"/>
              </a:rPr>
              <a:t/>
            </a:r>
            <a:r>
              <a:rPr sz="1110" b="0" i="0">
                <a:solidFill>
                  <a:srgbClr val="21295C"/>
                </a:solidFill>
                <a:latin typeface="Arial"/>
              </a:rPr>
              <a:t>Три проверки, которые инженер может приложить к своему контуру:</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Есть ли у человека независимый источник истины, кроме объяснения модели?</a:t>
            </a:r>
            <a:r>
              <a:rPr sz="1110" b="0" i="0">
                <a:solidFill>
                  <a:srgbClr val="21295C"/>
                </a:solidFill>
                <a:latin typeface="Arial"/>
              </a:rPr>
              <a:t> Если он проверяет вывод по самообъяснению модели — это не проверка.</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Измерено ли, что он возражает?</a:t>
            </a:r>
            <a:r>
              <a:rPr sz="1110" b="0" i="0">
                <a:solidFill>
                  <a:srgbClr val="21295C"/>
                </a:solidFill>
                <a:latin typeface="Arial"/>
              </a:rPr>
              <a:t> Доля отклонений и доля </a:t>
            </a:r>
            <a:r>
              <a:rPr sz="1110" b="1" i="0">
                <a:solidFill>
                  <a:srgbClr val="21295C"/>
                </a:solidFill>
                <a:latin typeface="Arial"/>
              </a:rPr>
              <a:t>правильных</a:t>
            </a:r>
            <a:r>
              <a:rPr sz="1110" b="0" i="0">
                <a:solidFill>
                  <a:srgbClr val="21295C"/>
                </a:solidFill>
                <a:latin typeface="Arial"/>
              </a:rPr>
              <a:t> отклонений. Нет отклонений или их не разбирали — участие не подтверждено.</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Успевает ли он физически?</a:t>
            </a:r>
            <a:r>
              <a:rPr sz="111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890" b="0" i="0">
                <a:solidFill>
                  <a:srgbClr val="21295C"/>
                </a:solidFill>
                <a:latin typeface="Arial"/>
              </a:rPr>
              <a:t/>
            </a:r>
            <a:r>
              <a:rPr sz="890" b="0" i="1">
                <a:solidFill>
                  <a:srgbClr val="1C7293"/>
                </a:solidFill>
                <a:latin typeface="Arial"/>
              </a:rPr>
              <a:t>Норма сформулирована как способность вмешаться, а не как присутствие: формулировка не требует, чтобы человек смотрел каждое решение.</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Устройство отозвали за год. Решения этого года остались</a:t>
            </a:r>
          </a:p>
        </p:txBody>
      </p:sp>
      <p:sp>
        <p:nvSpPr>
          <p:cNvPr id="6" name="Rounded Rectangle 5"/>
          <p:cNvSpPr/>
          <p:nvPr/>
        </p:nvSpPr>
        <p:spPr>
          <a:xfrm>
            <a:off x="502920" y="1335024"/>
            <a:ext cx="3852367"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72184"/>
            <a:ext cx="3578047"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ОТЗЫВОВ В ПЕРВЫЕ ДВЕНАДЦАТЬ МЕСЯЦЕВ</a:t>
            </a:r>
          </a:p>
        </p:txBody>
      </p:sp>
      <p:sp>
        <p:nvSpPr>
          <p:cNvPr id="8" name="TextBox 7"/>
          <p:cNvSpPr txBox="1"/>
          <p:nvPr/>
        </p:nvSpPr>
        <p:spPr>
          <a:xfrm>
            <a:off x="640080" y="169079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117795"/>
            <a:ext cx="3578047"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отзывных событий из 182 на 60 отозванных изделий из 950 допущенных, срез ноябрь 2024 года — примерно вдвое чаще обычного для этого пути допуска</a:t>
            </a:r>
          </a:p>
        </p:txBody>
      </p:sp>
      <p:sp>
        <p:nvSpPr>
          <p:cNvPr id="10" name="Rounded Rectangle 9"/>
          <p:cNvSpPr/>
          <p:nvPr/>
        </p:nvSpPr>
        <p:spPr>
          <a:xfrm>
            <a:off x="502920" y="2992350"/>
            <a:ext cx="1770735" cy="2032143"/>
          </a:xfrm>
          <a:prstGeom prst="roundRect">
            <a:avLst>
              <a:gd name="adj" fmla="val 172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147798"/>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750427"/>
            <a:ext cx="1441551" cy="1118618"/>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Допуск</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2992350"/>
            <a:ext cx="1770735" cy="2032143"/>
          </a:xfrm>
          <a:prstGeom prst="roundRect">
            <a:avLst>
              <a:gd name="adj" fmla="val 1721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9143" y="3147798"/>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750427"/>
            <a:ext cx="1441551" cy="1118618"/>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Исход исследования подбора дозы</a:t>
            </a:r>
          </a:p>
          <a:p>
            <a:pPr algn="l">
              <a:lnSpc>
                <a:spcPct val="126000"/>
              </a:lnSpc>
            </a:pPr>
            <a:r>
              <a:rPr sz="110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5079357"/>
            <a:ext cx="11112703" cy="979050"/>
          </a:xfrm>
          <a:prstGeom prst="rect">
            <a:avLst/>
          </a:prstGeom>
          <a:noFill/>
        </p:spPr>
        <p:txBody>
          <a:bodyPr wrap="square" lIns="0" rIns="0" tIns="0" bIns="0" anchor="t">
            <a:spAutoFit/>
          </a:bodyPr>
          <a:lstStyle/>
          <a:p>
            <a:pPr algn="l">
              <a:lnSpc>
                <a:spcPct val="126000"/>
              </a:lnSpc>
            </a:pPr>
            <a:r>
              <a:rPr sz="123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230" b="0" i="0">
                <a:solidFill>
                  <a:srgbClr val="21295C"/>
                </a:solidFill>
                <a:latin typeface="Arial"/>
              </a:rPr>
              <a:t/>
            </a:r>
            <a:r>
              <a:rPr sz="123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30" b="0" i="0">
                <a:solidFill>
                  <a:srgbClr val="21295C"/>
                </a:solidFill>
                <a:latin typeface="Arial"/>
              </a:rPr>
              <a:t/>
            </a:r>
            <a:r>
              <a:rPr sz="1230" b="0" i="0">
                <a:solidFill>
                  <a:srgbClr val="21295C"/>
                </a:solidFill>
                <a:latin typeface="Arial"/>
              </a:rPr>
              <a:t>Дальше — отрасль, где ошибку почти всегда можно отменить, и спор идёт не о цене ошибки, а о том, кому принадлежит результат.</a:t>
            </a:r>
          </a:p>
        </p:txBody>
      </p:sp>
      <p:sp>
        <p:nvSpPr>
          <p:cNvPr id="18" name="Rectangle 17"/>
          <p:cNvSpPr/>
          <p:nvPr/>
        </p:nvSpPr>
        <p:spPr>
          <a:xfrm>
            <a:off x="502920" y="1125739"/>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Sandri S.,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