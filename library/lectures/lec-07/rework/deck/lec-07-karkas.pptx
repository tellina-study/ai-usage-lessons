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hyperlink" Target="https://rg.ru/documents/2014/04/23/minzdrav-dok.html" TargetMode="External"/><Relationship Id="rId4" Type="http://schemas.openxmlformats.org/officeDocument/2006/relationships/hyperlink" Target="https://polimertest.ru/gallery/gallery-Prikaz_ot_30_08_21_N_885n_.pdf" TargetMode="External"/><Relationship Id="rId5" Type="http://schemas.openxmlformats.org/officeDocument/2006/relationships/hyperlink" Target="https://pravo.ppt.ru/kodeks/nk/st-333.32.2" TargetMode="External"/><Relationship Id="rId6" Type="http://schemas.openxmlformats.org/officeDocument/2006/relationships/hyperlink" Target="https://www.zakonrf.info/postanovlenie-pravitelstvo-rf-1684-30112024/" TargetMode="External"/><Relationship Id="rId7" Type="http://schemas.openxmlformats.org/officeDocument/2006/relationships/hyperlink" Target="https://www.fda.gov/media/158308/download" TargetMode="External"/><Relationship Id="rId8" Type="http://schemas.openxmlformats.org/officeDocument/2006/relationships/hyperlink" Target="https://www.vniiimt.ru/uslugi/ekspertiza/ekspertiza-dlya-gosudarstvennoy-registratsii-meditsinskikh-izdeliy/"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www.etnews.com/20260410000195" TargetMode="External"/><Relationship Id="rId5" Type="http://schemas.openxmlformats.org/officeDocument/2006/relationships/hyperlink" Target="https://www.dataeconomy.co.kr/news/articleView.html?idxno=42899" TargetMode="External"/><Relationship Id="rId6" Type="http://schemas.openxmlformats.org/officeDocument/2006/relationships/hyperlink" Target="https://medinform.jmir.org/2026/1/e85538" TargetMode="External"/><Relationship Id="rId7" Type="http://schemas.openxmlformats.org/officeDocument/2006/relationships/hyperlink" Target="https://www.jfmda.gr.jp/wp/wp-content/uploads/2026/01/Final-Study-Report-for-Review-of-SaMD-utilizing-AI_English.pdf" TargetMode="External"/><Relationship Id="rId8"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github.com/tellina-study/AI-usage-lessons/blob/main/library/lectures/lec-07/rework/research/16-doverie-patsienta-k-modeli.md"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github.com/tellina-study/AI-usage-lessons/blob/main/library/lectures/lec-07/rework/research/15-skrining-po-stranam.md" TargetMode="External"/><Relationship Id="rId4" Type="http://schemas.openxmlformats.org/officeDocument/2006/relationships/hyperlink" Target="https://github.com/tellina-study/AI-usage-lessons/blob/main/library/lectures/lec-07/rework/chapter-part1b.md" TargetMode="External"/><Relationship Id="rId5" Type="http://schemas.openxmlformats.org/officeDocument/2006/relationships/hyperlink" Target="https://www.garant.ru/products/ipo/prime/doc/401314440/" TargetMode="External"/><Relationship Id="rId6" Type="http://schemas.openxmlformats.org/officeDocument/2006/relationships/hyperlink" Target="https://gxpnews.net/2024/02/v-minzdrave-ozvuchili-itogi-dispanserizaczii-za-2023-god/" TargetMode="External"/><Relationship Id="rId7" Type="http://schemas.openxmlformats.org/officeDocument/2006/relationships/hyperlink" Target="https://www.interfax.ru/russia/1009619" TargetMode="External"/><Relationship Id="rId8" Type="http://schemas.openxmlformats.org/officeDocument/2006/relationships/hyperlink" Target="https://medvestnik.ru/content/news/Uspeshnyi-nizkodoznyi-skrining-raka-legkogo-ne-budet-rasprostranen-na-Rossiu.html" TargetMode="External"/><Relationship Id="rId9" Type="http://schemas.openxmlformats.org/officeDocument/2006/relationships/hyperlink" Target="https://mosgorzdrav.ru/ru-RU/health/default/card/80.html" TargetMode="External"/><Relationship Id="rId10" Type="http://schemas.openxmlformats.org/officeDocument/2006/relationships/hyperlink" Target="https://www.vedomosti.ru/society/articles/2026/05/07/1195684-rossiyan-mogut-nachat-proveryat-na-rak-legkogo" TargetMode="External"/><Relationship Id="rId11" Type="http://schemas.openxmlformats.org/officeDocument/2006/relationships/hyperlink" Target="https://vademec.ru/news/2020/08/19/botkin-ai-integrirovalsya-co-stolichnym-eris-dlya-poiska-raka-legkogo-na-kt-snimkakh/" TargetMode="External"/><Relationship Id="rId12" Type="http://schemas.openxmlformats.org/officeDocument/2006/relationships/hyperlink" Target="https://www.ruproctology.com/jour/article/download/2057/2196" TargetMode="External"/><Relationship Id="rId13" Type="http://schemas.openxmlformats.org/officeDocument/2006/relationships/hyperlink" Target="https://voprosyonkologii.ru/index.php/journal/article/view/2-23-Artificial-Intelligence" TargetMode="External"/><Relationship Id="rId14" Type="http://schemas.openxmlformats.org/officeDocument/2006/relationships/hyperlink" Target="https://urologyjournal.ru/articles/Skrining-raka-sheiki-matki-k-voprosu-ob-organizacii.html" TargetMode="External"/><Relationship Id="rId15" Type="http://schemas.openxmlformats.org/officeDocument/2006/relationships/hyperlink" Target="https://urologyjournal.ru/articles/Primer-uspeshnogo-proekta-po-borbe-s-rakom-sheiki-matki-v-Respublike-Saha-Yakutiya.html"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niercheck.nl/wp-content/uploads/2019/06/Wilson-Jungner-1968.pdf" TargetMode="External"/><Relationship Id="rId4" Type="http://schemas.openxmlformats.org/officeDocument/2006/relationships/hyperlink" Target="https://www.milbank.org/wp-content/uploads/mq/volume-56/issue-04/56-4-The-Emergence-of-the-Concept-of-Screening-for-Disease.pdf" TargetMode="External"/><Relationship Id="rId5" Type="http://schemas.openxmlformats.org/officeDocument/2006/relationships/hyperlink" Target="https://journals.plos.org/plosmedicine/article?id=10.1371%2Fjournal.pmed.1004448" TargetMode="External"/><Relationship Id="rId6" Type="http://schemas.openxmlformats.org/officeDocument/2006/relationships/hyperlink" Target="https://www.medrxiv.org/content/10.1101/2024.07.25.24310967v1.full" TargetMode="External"/><Relationship Id="rId7" Type="http://schemas.openxmlformats.org/officeDocument/2006/relationships/hyperlink" Target="https://bcmj.org/blog/origins-pap-tes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arxiv.org/pdf/1606.02041"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www.accessdata.fda.gov/cdrh_docs/pdf18/DEN180001.pdf"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2256-021-00307-0"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126/science.aax2342"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01/jamainternmed.2017.154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www.medrxiv.org/content/10.1101/2025.07.10.25331333"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internmed.2025.0821"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16/j.gie.2014.07.058"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16/j.gie.2014.07.058"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16/S2468-1253%2825%2900133-5"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healthforum.2025.3172"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 Поэтому порядок допуска входит в инженерное задание наравне с выбором модели.</a:t>
            </a:r>
          </a:p>
          <a:p>
            <a:r>
              <a:t/>
            </a:r>
          </a:p>
          <a:p>
            <a:r>
              <a:t>Начнём с американской стороны, потому что через неё прошло больше изделий с машинным обучением, чем через любую другую. Все медизделия в США разделены на три класса по риску для человека: класс I — бинты и ручной инструмент, класс II — инфузионные насосы и большинство диагностических систем, класс III — то, что поддерживает или замещает жизненно важную функцию: кардиостимуляторы, искусственные клапаны. Класс присвоен типу изделия, и таких типов у регулятора тысячи. Класс определяет, какой порядок допуска обязателен, и в этом смысле решение о пути принято задолго до того, как разработчик написал первую строку.</a:t>
            </a:r>
          </a:p>
          <a:p>
            <a:r>
              <a:t/>
            </a:r>
          </a:p>
          <a:p>
            <a:r>
              <a:t>Обычный порядок для класса II называется 510(k) — по номеру статьи закона. Производитель не доказывает безопасность и эффективность с нуля. Он доказывает, что его изделие существенно похоже на уже легально продающееся — на предшественника. Сравнивают назначение и технические характеристики, иногда стендовые данные, изредка минимальные клинические. Проспективных клинических испытаний этот путь почти никогда не требует, и долгосрочного исхода у человека тоже. Целевой срок рассмотрения — около 124 дней, и это общее время, которое регулятор делит с заявителем, а не время работы экспертов. Полный цикл — PMA — требует собственных клинических данных, полного досье производства, у значимых заявок ещё и публичного заседания внешней панели; целевой срок около 285 дней. Между этими двумя путями есть третий, De Novo: он придуман для изделия умеренного риска, у которого предшественника нет, и после него изделие само становится предшественником для чужих будущих заявок.</a:t>
            </a:r>
          </a:p>
          <a:p>
            <a:r>
              <a:t/>
            </a:r>
          </a:p>
          <a:p>
            <a:r>
              <a:t>Отдельно стоит назвать то, что в схеме не поместилось: часть изделий не проходит никакого предпродажного рассмотрения. Среди типов изделий класса I освобождены около 89,7%, среди типов класса II — около 13,3%. Освобождение снимает рассмотрение, но не снимает регистрацию производства, требования к системе качества, маркировку и отчётность о нежелательных явлениях.</a:t>
            </a:r>
          </a:p>
          <a:p>
            <a:r>
              <a:t/>
            </a:r>
          </a:p>
          <a:p>
            <a:r>
              <a:t>Российский порядок устроен иначе на обоих концах. Классов четыре — 1, 2а, 2б и 3, — и назначаются они по длительности применения и инвазивности, а не по назначению изделия: два изделия одного назначения могут получить разные классы. Форм оценки соответствия три. Технические испытания проводит аккредитованная лаборатория, регламентный срок — 30 рабочих дней. Токсикологические исследования обязательны при всех классах, включая первый. Клинические испытания требуют отдельного разрешения Росздравнадзора и бывают в двух формах, и это место стоит прочесть по тексту приказа. Пункт 37 перечисляет, когда нужны испытания с участием человека: новый вид изделия; применение новых сложных, уникальных или специальных методов; случай, когда анализ и оценка клинических данных эффективность и безопасность не подтвердили.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слова «аналог» в этом пункте нет ни в одном из трёх поднятых текстов — официальной публикации приказа № 2н 2014 года, его зеркале и документе Минюста по приказу № 885н 2021 года.</a:t>
            </a:r>
          </a:p>
          <a:p>
            <a:r>
              <a:t/>
            </a:r>
          </a:p>
          <a:p>
            <a:r>
              <a:t>И последняя ступень, которой у американского короткого пути нет совсем: государственная экспертиза качества, эффективности и безопасности. Её проводит ВНИИИМТ, и только по заданию Росздравнадзора, а не по заявлению производителя. Основание регистрации сформулировано через союз «и»: результаты испытаний и экспертиза. Это два параллельно обязательных основания, и класс риска определяет объём экспертизы, а не её необходимость. Регламентные сроки по сводным источникам — до 20 рабочих дней на экспертизу качества, эффективности и безопасности и до 10 на экспертизу клинических данных; на практике, когда в деле есть клинические испытания, проходит до полугода, потому что длительность самих испытаний не регламентирована.</a:t>
            </a:r>
          </a:p>
          <a:p>
            <a:r>
              <a:t/>
            </a:r>
          </a:p>
          <a:p>
            <a:r>
              <a:t>Цена вопроса в деньгах: за рассмотрение по короткому пути в США обычный заявитель платит 26 067 долларов, за полный цикл — 579 272; малому бизнесу в обеих графах вчетверо меньше. Российская пошлина за экспертизу привязана к классу: 72, 104, 136 и 184 тысячи рублей, плюс 11 тысяч за выдачу удостоверения. Те же суммы кодекс устанавливает и для союзной регистрации — разница между национальным и союзным треком не в тарифе.</a:t>
            </a:r>
          </a:p>
          <a:p>
            <a:r>
              <a:t/>
            </a:r>
          </a:p>
          <a:p>
            <a:r>
              <a:t>Сумма на кадре, 0,6–3 млн рублей по классам от первого до третьего, — не пошлина, а полная стоимость регистрации «под ключ». Это коммерческая оценка регистраторов-посредников, а не тариф регулятора: сама пошлина входит в неё лишь частью, остальное — услуги лаборатории, токсикологов и подготовки досье. Официального норматива на полную стоимость нет, потому что ВНИИИМТ не публикует сводный прейскурант в рублях по всем классам в одном месте.</a:t>
            </a:r>
          </a:p>
          <a:p>
            <a:r>
              <a:t/>
            </a:r>
          </a:p>
          <a:p>
            <a:r>
              <a:t>Две оговорки на день чтения. Приказ № 885н сменяется с 1 сентября 2026 года приказом № 421н; по сводкам основания для испытаний с участием человека там сформулированы тем же способом, но полный текст стоит взять напрямую. Американские пошлины взяты из отраслевых сводок тарифной сетки, а не из акта регулятора, и за год они выросли на 7,1% — у обеих категорий.</a:t>
            </a:r>
          </a:p>
          <a:p>
            <a:r>
              <a:t/>
            </a:r>
          </a:p>
          <a:p>
            <a:r>
              <a:t>**Источники.** </a:t>
            </a:r>
            <a:r>
              <a:rPr u="sng">
                <a:solidFill>
                  <a:srgbClr val="065A82"/>
                </a:solidFill>
                <a:hlinkClick r:id="rId3"/>
              </a:rPr>
              <a:t>Приказ Минздрава № 2н от 09.01.2014, официальная публикация «Российской газеты»</a:t>
            </a:r>
            <a:r>
              <a:t> · </a:t>
            </a:r>
            <a:r>
              <a:rPr u="sng">
                <a:solidFill>
                  <a:srgbClr val="065A82"/>
                </a:solidFill>
                <a:hlinkClick r:id="rId4"/>
              </a:rPr>
              <a:t>приказ № 885н от 30.08.2021, документ Минюста</a:t>
            </a:r>
            <a:r>
              <a:t> · </a:t>
            </a:r>
            <a:r>
              <a:rPr u="sng">
                <a:solidFill>
                  <a:srgbClr val="065A82"/>
                </a:solidFill>
                <a:hlinkClick r:id="rId5"/>
              </a:rPr>
              <a:t>НК РФ ст. 333.32.2, редакция от 01.10.2026</a:t>
            </a:r>
            <a:r>
              <a:t> · </a:t>
            </a:r>
            <a:r>
              <a:rPr u="sng">
                <a:solidFill>
                  <a:srgbClr val="065A82"/>
                </a:solidFill>
                <a:hlinkClick r:id="rId6"/>
              </a:rPr>
              <a:t>постановление Правительства № 1684 от 30.11.2024</a:t>
            </a:r>
            <a:r>
              <a:t> · </a:t>
            </a:r>
            <a:r>
              <a:rPr u="sng">
                <a:solidFill>
                  <a:srgbClr val="065A82"/>
                </a:solidFill>
                <a:hlinkClick r:id="rId7"/>
              </a:rPr>
              <a:t>FDA, MDUFA Performance Goals FY2023–2027</a:t>
            </a:r>
            <a:r>
              <a:t> · </a:t>
            </a:r>
            <a:r>
              <a:rPr u="sng">
                <a:solidFill>
                  <a:srgbClr val="065A82"/>
                </a:solidFill>
                <a:hlinkClick r:id="rId8"/>
              </a:rPr>
              <a:t>ВНИИИМТ об экспертизе для государственной регистрации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сняты с таблицы регулятора напрямую, прямым чтением страницы, а не взяты из отраслевой сводки — это важно, потому что сводки по этому предмету расходятся между собой на сотни изделий. В списке FDA на 17 октября 2026 года — 1 614 изделий с ИИ или машинным обучением. Знаменатель дальше везде этот, и его стоит произнести один раз громко: все доли ниже считаны от 1 614.</a:t>
            </a:r>
          </a:p>
          <a:p>
            <a:r>
              <a:t/>
            </a:r>
          </a:p>
          <a:p>
            <a:r>
              <a:t>Путей три, и доли между ними распределены крайне неравномерно. По короткому пути, через похожесть на предшественник, прошли 1 553 изделия — 96,2%. Новый класс через De Novo получили 40 — 2,5%. Полный цикл с собственными клиническими испытаниями прошли 21 изделие — 1,3%. Для сравнения: по всем медизделиям за историю системы доля полного цикла около 1,87%, то есть у изделий с ИИ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a:t>
            </a:r>
          </a:p>
          <a:p>
            <a:r>
              <a:t/>
            </a:r>
          </a:p>
          <a:p>
            <a:r>
              <a:t>Структура по специальностям объясняет, что такое «ИИ в медицине» на самом деле. Радиология — 1 230 изделий, 76,2%. Кардиология — 154, это 9,5%. Неврология — 73, 4,5%. Дальше идут анестезиология, гастроэнтерология, гематология, патология, офтальмология, хирургия и клиническая химия — у каждой от 9 до 30 изделий. Психиатрии в списке нет ни одного изделия за всю историю. То есть ИИ в медицине на 2026 год — это преимущественно работа с изображениями, и остальные специальности вместе не дают и четверти.</a:t>
            </a:r>
          </a:p>
          <a:p>
            <a:r>
              <a:t/>
            </a:r>
          </a:p>
          <a:p>
            <a:r>
              <a:t>Теперь про динамику, и здесь надо разделить два счёта, которые легко перепутать. Весь массив изделий с ИИ растёт быстро: 6 изделий в 2014 году, 335 в 2025-м, то есть каждое десятое новое медизделие в США в 2025 году — с ИИ, против двух на тысячу в 2015-м. Но если убрать короткий путь и оставить только изделия, допущенные без ссылки на предшественник, картина другая: накопленным счётом их было 7 к 2010 году и 56 к концу 2025-го. Плюс 49 за шестнадцать лет, в среднем по 3,1 изделия в год. Эта линия почти горизонтальна: 7 в 2021 году, 2 в 2022-м, 7 в 2023-м, 10 в 2024-м, 6 в 2025-м — ни одного признака ускорения.</a:t>
            </a:r>
          </a:p>
          <a:p>
            <a:r>
              <a:t/>
            </a:r>
          </a:p>
          <a:p>
            <a:r>
              <a:t>Рядом —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около 3 063 решений в 2015 году и около 3 265 в 2025-м. Изделия с ИИ не замещали собой что-то другое, они прибавлялись сверху.</a:t>
            </a:r>
          </a:p>
          <a:p>
            <a:r>
              <a:t/>
            </a:r>
          </a:p>
          <a:p>
            <a:r>
              <a:t>Страновой перечень требует отдельной оговорки, и она важнее самих цифр. Каждая строка считана по собственному признаку новизны, потому что единого международного определения «реально нового изделия» не существует. Корея: 88 изделий из 549 кумулятивно на первый квартал 2026 года, признак — добровольный инновационный статус, который регулятор присваивает сам; на 51,7 миллиона населения выходит 1,70. Если взять другой корейский признак — прошло ли изделие возмещение по страховке, — остаётся 49 из 549, и показатель падает до 0,95. Два честных числа по одной стране, разные критерии. Китай: 118 изделий из 154 прошли собственное клиническое испытание как путь допуска, по классу высокого риска отдельно — 116 из 123; на 1 409 миллионов населения это 0,08. Япония: около 14 из 51, и это экстраполяция общей доли по всем программным медизделиям на подмножество с ИИ, а не прямой подсчёт. США: 61 из 1 614 на 342 миллиона населения — 0,18.</a:t>
            </a:r>
          </a:p>
          <a:p>
            <a:r>
              <a:t/>
            </a:r>
          </a:p>
          <a:p>
            <a:r>
              <a:t>Российская строка стоит на другом признаке, и это надо сказать залу прямо. Росздравнадзор не публикует разбивку «сколько изделий прошли испытания с участием человека, а сколько оценку по документам», поэтому в числителе стоят все 57 зарегистрированных изделий, а на 146 миллионов населения это даёт 0,39. Признак новизны к ним не применён — его нечем применить. Достоверно известно про первые два российских изделия 2020 года, Webiomed и Botkin.AI: аналогов в реестре у них не было, и оба прошли полноценные клинические испытания с участием пациентов. К 2026 году в реестре накопилось больше десяти продуктов анализа медицинских изображений, и для новых заявок той же товарной категории доказательная база по документам уже существует. Значит, строка 0,39 сравнима с остальными по способу счёта только условно, и приравнивать 57 российских изделий к 57 «реально новым» в американском смысле неверно. На рейтинге рядом стоит столбец, собранный из двух разных счётов: четыре строки — по признаку новизны, одна — по всему реестру.</a:t>
            </a:r>
          </a:p>
          <a:p>
            <a:r>
              <a:t/>
            </a:r>
          </a:p>
          <a:p>
            <a:r>
              <a:t>**Источники.** </a:t>
            </a:r>
            <a:r>
              <a:rPr u="sng">
                <a:solidFill>
                  <a:srgbClr val="065A82"/>
                </a:solidFill>
                <a:hlinkClick r:id="rId3"/>
              </a:rPr>
              <a:t>FDA, AI/ML-Enabled Medical Devices</a:t>
            </a:r>
            <a:r>
              <a:t> · </a:t>
            </a:r>
            <a:r>
              <a:rPr u="sng">
                <a:solidFill>
                  <a:srgbClr val="065A82"/>
                </a:solidFill>
                <a:hlinkClick r:id="rId4"/>
              </a:rPr>
              <a:t>Корея, кумулятивный счёт 549, отраслевой дайджест</a:t>
            </a:r>
            <a:r>
              <a:t> · </a:t>
            </a:r>
            <a:r>
              <a:rPr u="sng">
                <a:solidFill>
                  <a:srgbClr val="065A82"/>
                </a:solidFill>
                <a:hlinkClick r:id="rId5"/>
              </a:rPr>
              <a:t>Корея, возмещение 49 из 549</a:t>
            </a:r>
            <a:r>
              <a:t> · </a:t>
            </a:r>
            <a:r>
              <a:rPr u="sng">
                <a:solidFill>
                  <a:srgbClr val="065A82"/>
                </a:solidFill>
                <a:hlinkClick r:id="rId6"/>
              </a:rPr>
              <a:t>Китай, пути клинической оценки, JMIR Medical Informatics 2026</a:t>
            </a:r>
            <a:r>
              <a:t> · </a:t>
            </a:r>
            <a:r>
              <a:rPr u="sng">
                <a:solidFill>
                  <a:srgbClr val="065A82"/>
                </a:solidFill>
                <a:hlinkClick r:id="rId7"/>
              </a:rPr>
              <a:t>Япония, итоговый отчёт по программным медизделиям с ИИ</a:t>
            </a:r>
            <a:r>
              <a:t> · </a:t>
            </a:r>
            <a:r>
              <a:rPr u="sng">
                <a:solidFill>
                  <a:srgbClr val="065A82"/>
                </a:solidFill>
                <a:hlinkClick r:id="rId8"/>
              </a:rPr>
              <a:t>Webiomed, первое российское изделие с ИИ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Складываем только непересекающиеся именованные развёртывания: Aidoc — 60 миллионов случаев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около 16 миллионов исследований по отчёту 2026 года, цифровой помощник врача от СберМедИИ — 30 миллионов сводок о состоянии, решения об оплате в Medicare Advantage — 53 миллиона. Сумма — 169–178 миллионов в год. Viz.ai в эту сумму не включён намеренно: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 .</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Если взять только диагностические категории из суммы выше, около 86 миллионов, выходит 2–2,4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нужен ровно затем, чтобы следующие два не слиплись в один. Про влияние ИИ на человека обычно говорят одним словом «человек», и получается каша: в одну кучу идут врач, который принимает решение, и пациент, который это решение принимает или не принимает. Это разные люди, разные механизмы и, что важнее для нас, разные замеры — их мерили разными способами, на разных выборках, и складывать их результаты между собой нельзя.</a:t>
            </a:r>
          </a:p>
          <a:p>
            <a:r>
              <a:t/>
            </a:r>
          </a:p>
          <a:p>
            <a:r>
              <a:t>Схема говорит одну вещь. До модели в приёме две стороны: врач принимает решение, пациент его получает. С моделью сторон по-прежнему две, но между ними появляется третий участник, и он влияет на обе. Это не «инструмент у врача в руках» — пациент тоже знает или не знает, что модель участвовала, и от этого меняется его поведение. Поэтому модель стоит в схеме не сбоку, а в самой цепочке.</a:t>
            </a:r>
          </a:p>
          <a:p>
            <a:r>
              <a:t/>
            </a:r>
          </a:p>
          <a:p>
            <a:r>
              <a:t>Со стороны врача меняется, как он принимает решение. Три вещи: на что он смотрит, чему верит и что умеет без помощника. На что смотрит — это буквально про движение глаза, и это измерено. Чему верит — про то, принимает ли он подсказку, когда она неверна, и это тоже измерено, причём на больших группах. Что умеет без помощника — про то, что остаётся, когда инструмент выключили, и это единственная из трёх вещей, измеренная не в лаборатории, а в живой работе.</a:t>
            </a:r>
          </a:p>
          <a:p>
            <a:r>
              <a:t/>
            </a:r>
          </a:p>
          <a:p>
            <a:r>
              <a:t>Со стороны пациента меняется другое: согласен ли он. Кому доверяет — врачу, который пользуется моделью, или врачу, который от неё отказался. Что просит перепроверить — и в какую сторону просит, потому что просьба несимметрична. От чего отказывается — и здесь выясняется, что отказ направлен не на модель вообще, а на модель, оставленную без человека.</a:t>
            </a:r>
          </a:p>
          <a:p>
            <a:r>
              <a:t/>
            </a:r>
          </a:p>
          <a:p>
            <a:r>
              <a:t>Почему разбирать порознь. Соблазн свести всё в одну картину велик, и он обманывает. У врача мерили поведение на задаче: читает снимок, ставит заключение, находит или пропускает. У пациента мерили согласие: выберет ли он такой приём, попросит ли перепроверку, доверяет ли врачу после того, как ему сказали про модель. Это разные предметы. Фраза «ИИ влияет на человека» их объединяет и тем самым врёт: влияние на того, кто решает, и влияние на того, кто с решением соглашается, — это два разных влияния, и они даже направлены в разные стороны. Врач модели доверяет слишком сильно; пациент — слишком слабо. Если произнести это одной фразой, получится бессмыслица, а порознь — два измеренных факта.</a:t>
            </a:r>
          </a:p>
          <a:p>
            <a:r>
              <a:t/>
            </a:r>
          </a:p>
          <a:p>
            <a:r>
              <a:t>И последнее, что стоит сказать здесь, а не на следующих кадрах. Ни один из замеров, которые будут дальше, не доходит до исхода пациента. Мерили работу врача и мерили согласие пациента; что стало со здоровьем человека на столе — не мерил никто из тех, на кого мы ссылаемся. Это честная граница всего блока, и назвать её лучше на входе, чем оправдываться на выходе.</a:t>
            </a:r>
          </a:p>
          <a:p>
            <a:r>
              <a:t/>
            </a:r>
          </a:p>
          <a:p>
            <a:r>
              <a:t>Ещё одно различие, которое стоит назвать здесь, потому что дальше оно будет мешать. Влияние на врача измеряли почти всегда в лаборатории: собирали набор случаев, нарочно портили часть подсказок, смотрели, что человек сделает. Влияние на пациента измеряли опросом и описанием случая: спрашивали, что он выберет, если. Ни то ни другое не есть наблюдение живой практики, и у обоих способов своя слабость. У лабораторного замера доля испорченных подсказок куда выше, чем в жизни, — значит и провал там резче. У опроса человек отвечает про воображаемую ситуацию, а не про ту, в которой ему страшно. Когда дальше прозвучат резкие числа, эту оговорку надо держать в уме: они верно показывают направление и завышают величину.</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этого кадра — не наша. Три механизма предложены работой об искажениях при взаимодействии человек — модель, и медицинские замеры всей этой лекции ложатся на два из трёх как частный случай. Произносить это надо прямо: механизмы проверены в трёх областях на двух с лишним тысячах человек совокупно, значит медицина не особая. Возражение «у врачей так, потому что медицина» на одном медицинском замере не снимается, а на трёх областях снимается.</a:t>
            </a:r>
          </a:p>
          <a:p>
            <a:r>
              <a:t/>
            </a:r>
          </a:p>
          <a:p>
            <a:r>
              <a:t>Первая строка — единственная с контрольной ветвью, и поэтому она головная. Люди классифицировали выражение лиц в наборах по двенадцать; их ответы отдали свёрточной сети, та усилила исходное смещение, и рядом с ней работала новая группа людей. Доля смещённых ответов у этой группы выросла с сорока девяти и девяти десятых до пятидесяти шести и трёх десятых из ста. Контрольная ветвь устроена так же, только вместо модели — другие люди: там доля не изменилась, пятьдесят и шесть десятых против пятидесяти одного с половиной, различия нет. Вот это и есть содержание механизма: усиливает не согласие с чужим мнением вообще, усиливает именно модель. И усиление растёт: в первом блоке взаимодействия смещённых ответов было пятьдесят и семь десятых из ста, в последнем — шестьдесят один и четыре. Снежный ком, и он измерен, а не назван.</a:t>
            </a:r>
          </a:p>
          <a:p>
            <a:r>
              <a:t/>
            </a:r>
          </a:p>
          <a:p>
            <a:r>
              <a:t>Вторую строку надо произнести вместе с тем единственным приёмом, который якорение снимает, иначе кадр учит бессилию. Семьсот семьдесят пять менеджеров в двух опытах оценивали работу сотрудников после подсказки, и оценки стягивались к подсказке. Величину работа в реферате не печатает, и ставить сюда похожее число из другого опыта нельзя. Зато та же работа называет своим вторым вкладом приём, который якорение снимает: потребовать от человека рассмотреть противоположное. Это не то же, что предупредить. Предупреждение — сообщение, которое человек принимает к сведению и продолжает делать как делал; рассмотрение противоположного — действие, которое он обязан выполнить. Разница между сообщением и действием и есть практический вывод. И тонкость: источник подсказки взаимодействовал с величиной якоря — при высоком якоре человек и модель давали разные оценки, при низком разницы не было. Значит «модель влияет сильнее человека» верно не всегда, и это говорит сама работа.</a:t>
            </a:r>
          </a:p>
          <a:p>
            <a:r>
              <a:t/>
            </a:r>
          </a:p>
          <a:p>
            <a:r>
              <a:t>Третья строка — наследование, и у неё самый аккуратный замер из трёх: шестьсот шестьдесят шесть участников проходили тест критического мышления БЕЗ доступа к модели, и связь частоты пользования с результатом оказалась отрицательной и значимой. Коэффициента не называю: полный текст закрыт по всем маршрутам, включая ссылку, которую обещает указатель открытого доступа. Рядом там же две вещи, о которых спрашивают: чем моложе участник, тем сильнее опора на модель и ниже результат; а образование связано с результатом независимо от пользования. Два других замера этого же механизма: пятьдесят четыре человека писали эссе с моделью и без под замером токов мозга, и снижение сохранялось в сессиях без модели; шестьдесят семь человек оценивали правдивость новостей, и разговор с моделью веру в дезинформацию снижал, а устойчивого навыка различения не оставлял.</a:t>
            </a:r>
          </a:p>
          <a:p>
            <a:r>
              <a:t/>
            </a:r>
          </a:p>
          <a:p>
            <a:r>
              <a:t>Четвёртая и пятая строки — те же второй и третий механизмы, снятые в медицине. Двести двадцать читателей снимков грудной клетки: при верной подсказке доля верных заключений девяносто два и восемь десятых, при заведомо неверной — двадцать три и шесть. Это якорение в чистом виде, и падение здесь больше, чем прибавка от верной подсказки. Доля процедур с найденным предраковым образованием: в процедурах БЕЗ помощника она упала с двадцати восьми и четырёх десятых до двадцати двух и четырёх — двести двадцать шесть находок из семисот девяноста пяти процедур до внедрения, сто сорок пять из шестисот сорока восьми после. Разряд у этой строки слабее остальных: ретроспективное наблюдательное, окна по три месяца, повторения нет, и причинности авторы не утверждают. Врачей было девятнадцать — шестнадцать гастроэнтерологов и три хирурга; числа этого нет в реферате самой работы, оно из разбора рецензируемого журнального клуба, то есть источник второго разряда. Оттуда же возражение, которое надо произнести вместе с падением: среднее число находок на процедуру изменилось незначимо — ноль пятьдесят четыре против ноль сорока трёх, — и по продвинутым находкам разницы нет вовсе. То есть упала доля процедур с находкой, а не количество найденного.</a:t>
            </a:r>
          </a:p>
          <a:p>
            <a:r>
              <a:t/>
            </a:r>
          </a:p>
          <a:p>
            <a:r>
              <a:t>Последняя подпись отвечает на вопрос, который зал задаёт сам: почему этого не видно изнутри. В той же первой работе участников спросили, насколько на них повлиял каждый алгоритм, и они назвали смещающий менее влиятельным, чем точный, — то есть ровно наоборот. А без всякой модели человек своё смещение правит сам: доля падала с пятидесяти шести и семи десятых до пятидесяти одного и девяти по ходу опыта.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**Источники.** Полная запись — </a:t>
            </a:r>
            <a:r>
              <a:rPr u="sng">
                <a:solidFill>
                  <a:srgbClr val="065A82"/>
                </a:solidFill>
                <a:hlinkClick r:id="rId3"/>
              </a:rPr>
              <a:t>разбор работы владельца об искажениях</a:t>
            </a:r>
            <a:r>
              <a:t> (рамка трёх механизмов и все 18 источников) и </a:t>
            </a:r>
            <a:r>
              <a:rPr u="sng">
                <a:solidFill>
                  <a:srgbClr val="065A82"/>
                </a:solidFill>
                <a:hlinkClick r:id="rId4"/>
              </a:rPr>
              <a:t>свод медицинских замеров</a:t>
            </a:r>
            <a:r>
              <a:t>. Числа первой строки и последней подписи сняты из полного текста Glickman и Sharot, Nature Human Behaviour 2025, PMID 39695250; четвёртой — Prinster и соавт., Radiology 2024;313(2), опыт с имитированной подсказкой; пятой — Budzyń и соавт., PMID 40816301.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врача мерили поведение на задаче. У пациента мерят согласие — чем он отвечает на сам факт, что в его случае участвовала модель. И первое для зала: согласие это не одно число. Пациент принимает модель помощником и отвергает исполнителем, причём обе величины сняты на одних и тех же людях.</a:t>
            </a:r>
          </a:p>
          <a:p>
            <a:r>
              <a:t/>
            </a:r>
          </a:p>
          <a:p>
            <a:r>
              <a:t>Замер, который прямее остальных. Тысяча семьсот шестьдесят два взрослых, представительных для населения Соединённых Штатов, случайно разделены на четыре группы по признаку пользования ИИ. Профиль врача у всех один. Шкала пятиступенчатая, приведённая к отрезку от нуля до единицы; лестница вышла ровная: шестьдесят три сотых, пятьдесят, тридцать четыре, тридцать. Раскрытие стоит пациенту двадцати пунктов доверия от середины шкалы. И менее ожидаемое: прямой отказ от ИИ приносит врачу тринадцать пунктов сверх того, что он имеет, когда об ИИ не сказано вовсе. Молчание — не нейтральная позиция, а уже проигрышная относительно заявленного отказа.</a:t>
            </a:r>
          </a:p>
          <a:p>
            <a:r>
              <a:t/>
            </a:r>
          </a:p>
          <a:p>
            <a:r>
              <a:t>Вторая и третья строки сняты на одной выборке и читаются вместе. Пятьсот восемнадцать женщин, пришедших на снимок молочной железы. Модель единственным читателем согласились принять двадцать три человека; вторым читателем — триста шестьдесят восемь из тех же пятисот восемнадцати. Разница в шестнадцать раз: пациент против не модели, а её одиночества. Третья строка показывает, что согласие несимметрично. Трёмстам пятидесяти девяти участницам задали оба вопроса: тревогу подняла модель — пусть посмотрит врач? триста девятнадцать да. Вызвал врач — пусть посмотрит модель? сто восемьдесят четыре. Перепроверка просится вверх и почти не просится вниз.</a:t>
            </a:r>
          </a:p>
          <a:p>
            <a:r>
              <a:t/>
            </a:r>
          </a:p>
          <a:p>
            <a:r>
              <a:t>Четвёртая строка про то, чем согласие двигается на самом деле. Двести сорок восемь взрослых с диабетом первого типа: пора на ежегодный осмотр глаз, доступна самостоятельная модель вместо направления к специалисту. Снятие доплаты в пятьдесят долларов подняло выбор модели с сорока трёх до восьмидесяти одного из ста, почти вдвое, а кто за неё платит — страховщик или разработчик, — на выбор не повлияло. Рядом то, что деньгами не сдвинулось: выбравшие модель хотели перепроверки у специалиста заметно сильнее обратного, и хотели её даже при нормальном результате. Произносить это надо парой: цена согласие покупает, доверия не покупает.</a:t>
            </a:r>
          </a:p>
          <a:p>
            <a:r>
              <a:t/>
            </a:r>
          </a:p>
          <a:p>
            <a:r>
              <a:t>Пятая строка — противоположный знак, и его надо назвать честно. Сорок пять человек с онкологическим диагнозом оценивали ответы на вопросы о болезни: четыре ответа на вопрос, три машинных и один врачебный, перемешанные и без подписи. Сочувствие в машинном ответе они оценили в четыре целых одиннадцать сотых из пяти, во врачебном — в две целых одну сотую. Строка говорит не то, что машина сочувствует: человек, не знающий авторства, выбирает машинный текст, а знающий — снижает доверие к врачу за один факт пользования. В одну фразу эти две строки не складываются: выборки и вопросы разные, и у пятой сорок пять участников, почти все старше шестидесяти пяти.</a:t>
            </a:r>
          </a:p>
          <a:p>
            <a:r>
              <a:t/>
            </a:r>
          </a:p>
          <a:p>
            <a:r>
              <a:t>Про новизну. Сто два взрослых курильщика пять недель разговаривали с чат-ботом поддержки отказа от курения, удовлетворённость замерялась каждую неделю. Кривая ровно та, которую новизна и даёт: три целых четыре десятых на входе, три целых семь на первой неделе — вершина, — и три целых ноль к пятой. Причину авторы называют предположительно, и на исход вмешательства падение не повлияло. И прямо скажу, чего нет: замера затухания доверия пациента к медицинской модели во времени не нашлось ни одного. Всё, что есть рядом, — срез по частоте собственного пользования ИИ в работе о раскрытии: у тех, кто пользуется часто, разрыв доверия меньше. Это срез, а не наблюдение во времени.</a:t>
            </a:r>
          </a:p>
          <a:p>
            <a:r>
              <a:t/>
            </a:r>
          </a:p>
          <a:p>
            <a:r>
              <a:t>Про возраст и образование, потому что спрашивают именно об этом. В работе о раскрытии падение доверия оказалось одинаковым по возрасту, полу, образованию и политическим взглядам: отказ широкий, а не свойство группы, — и это снимает удобное «не привыкли старшие». Одобрение модели в принципе у образованных выше, отношение шансов около двух, но это другой вопрос и другие люди.</a:t>
            </a:r>
          </a:p>
          <a:p>
            <a:r>
              <a:t/>
            </a:r>
          </a:p>
          <a:p>
            <a:r>
              <a:t>И последнее, прикладное. Три тысячи взрослых выбирали между описаниями приёма; цена двух признаков названа числом: присутствие врача поднимает вероятность выбора на восемнадцать пунктов, уровень модели выше специалиста — на тридцать два. Вот и ответ, чем лечить недоверие: качеством модели и человеком, оставленным в контуре. Объяснения и кампании в этом замере не участвовали.</a:t>
            </a:r>
          </a:p>
          <a:p>
            <a:r>
              <a:t/>
            </a:r>
          </a:p>
          <a:p>
            <a:r>
              <a:t>**Источники.** Полная запись всех шести замеров с выборками, интервалами и разрядом — </a:t>
            </a:r>
            <a:r>
              <a:rPr u="sng">
                <a:solidFill>
                  <a:srgbClr val="065A82"/>
                </a:solidFill>
                <a:hlinkClick r:id="rId3"/>
              </a:rPr>
              <a:t>свод доверия пациента к модели</a:t>
            </a:r>
            <a:r>
              <a:t>. Там же §8 — две пары, которые намеренно не собраны, и §9 — чего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три разбора одной работы с трёх разных сторон, и один из них — провал: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Три разбора показывают одну работу с трёх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 свой ответ на вопрос, кого вообще позовут, и свой ответ на вопрос, участвует ли в отборе обученная модель. Доли на диаграмме считаются от разных оснований — приглашённых, явившихся или всей целевой группы по регистру, — и знаменатель или диапазон источника стоит подписью у конца столбца, рядом с числом, а не в общей сноске: иначе получится та же ложная пара, на которой этот курс уже спотыкался внутри одного испытания.</a:t>
            </a:r>
          </a:p>
          <a:p>
            <a:r>
              <a:t/>
            </a:r>
          </a:p>
          <a:p>
            <a:r>
              <a:t>Скрининг лёгкого — ежегодный низкодозный КТ людям из группы риска по курению. В США соответствуют критериям 12,8 миллиона человек (2024), а реально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этого скрининга; доказанная эффективность метода и организационное внедрение программы — две разные вещи, и разрыв между ними превышает десятилетие. Зато в Польше и Хорватии модель встроена прямо в архитектуру национальной программы с самого начала, а не надстроена поверх неё вендором: Хорватия с 2020 года — первая страна ЕС с полностью интегрированным скринингом лёгкого. Знаменателя эглигибл-популяции источники для обеих стран не называют — это честно называется пробелом, а не достраивается похожей оценкой, и именно поэтому обе страны не попали столбцом на диаграмму: у них есть факт внедрения модели, но нет числа охвата, которое можно было бы с чем-то сравнить.</a:t>
            </a:r>
          </a:p>
          <a:p>
            <a:r>
              <a:t/>
            </a:r>
          </a:p>
          <a:p>
            <a:r>
              <a:t>В России — другая версия того же разрыва между методом и программой. Национальной программы низкодозного КТ нет, но с февраля 2017 года в Москве идёт региональный пилот — скрининг рака лёгкого курильщикам по ОМС в десяти поликлиниках, около пяти–шести тысяч участников в год; знаменателя эглигибл-популяции по всей стране источники не дают, поэтому у пилота, как и у Польши с Хорватией, на диаграмме нет столбца — есть факт пилота без числа охвата, и он так и назван на кадре. Минздрав и профильные эксперты (С. Тюляндин, НМИЦ онкологии) весной 2026 года прямо говорили, что общенациональное расширение пока не рассматривается — не хватает томографов в регионах; это решение, а не недосмотр. Модель при этом в тот же контур уже встроена: с августа 2020 года платформа Botkin.AI интегрирована с московским ЕРИС для поиска рака лёгкого на КТ-снимках той же сети из десяти поликлиник. Есть и отдельная демонстрационная цифра — 181 человек прошли скрининг через ИИ-платформу МосМедИИ, у 14 нашли отклонения, — но это не тот же счёт, что более широкие «10 миллионов с лишним снимков по лучевой диагностике»: тот контур не специфичен для скрининга лёгкого и в это число не засчитывается.</a:t>
            </a:r>
          </a:p>
          <a:p>
            <a:r>
              <a:t/>
            </a:r>
          </a:p>
          <a:p>
            <a:r>
              <a:t>Шейка матки даёт зеркальную картину. Охват здесь отлажен десятилетиями и везде выше: Швеция 83–85 процентов, Нидерланды 54,4 процента (2024), Великобритания 68,8 процента из 16,5 миллиона эглигибл, Австралия 74,2 процента и снижается.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 Контраст с лёгким прямой: там, где классический скрининг лёгкого ещё не самый зрелый организационно, государство уже встроило в него модель вплоть до архитектуры программы; там, где классика отлажена десятилетиями, модель остаётся на уровне отдельной лаборатории.</a:t>
            </a:r>
          </a:p>
          <a:p>
            <a:r>
              <a:t/>
            </a:r>
          </a:p>
          <a:p>
            <a:r>
              <a:t>В России организованной программы с call-recall по регистру для шейки матки нет вовсе — только ежегодные профосмотры с цитологией без приглашений; единственное исключение — региональный проект в Якутии («Раннее выявление РШМ на основе ВПЧ-диагностики») с целевым показателем 80 процентов охвата женщин 30–65 лет, но источники подтверждают только сам целевой показатель проекта, не факт его достижения — это тоже честно называется пробелом, а не округляется до «цель значит факт». Модель для шейки матки в России не нашлась ни на национальном, ни на региональном уровне.</a:t>
            </a:r>
          </a:p>
          <a:p>
            <a:r>
              <a:t/>
            </a:r>
          </a:p>
          <a:p>
            <a:r>
              <a:t>Колоректальный рак — сильнейший кейс участия модели в этом блоке. Нидерланды держат один из самых высоких охватов в мире — 67,1 процента, 1,5 миллиона человек на фекальном иммунохимическом тесте (2024), заметно выше охвата той же страны на шейке матки в тот же год: явка зависит от типа теста — домашний тест на стул против визита, — а не только от общей культуры скрининга страны. США держат 63,5–67,4 процента (два измерения 2023 года). Япония даёт гендерный разрыв — 49,1 процента у мужчин против 42,8 процента у женщин (2022); на диаграмме это одна строка со средним значением для длины столбца, а подпись у его конца называет обе исходные цифры, не среднее. А с февраля 2024 года Япония платит отдельную страховую реимбурсацию именно за программный ИИ-компонент колоноскопии — EndoBRAIN-EYE, первый в мире такой случай, когда оплачивают не прибор вообще, а именно его модельную часть; условие сужает круг — реимбурсация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Японии — источники дают только доли, без абсолютного числа таких больниц в каждой из категорий, и это тоже честно называется пробелом, а не достраивается оценкой.</a:t>
            </a:r>
          </a:p>
          <a:p>
            <a:r>
              <a:t/>
            </a:r>
          </a:p>
          <a:p>
            <a:r>
              <a:t>Россия формально держит организованную программу и для колоректального рака — приказ Минздрава №404н с апреля 2021 года разворачивает иммунохимический тест кала на скрытую кровь по регистру поликлиники, раз в два года с 40 до 64 лет и ежегодно с 65 до 75; но доля участников именно этого теста в открытых источниках не публикуется — есть только общая цифра диспансеризации по всем компонентам сразу (около 75 процентов населения, 2023–2024), а это другое основание, и подставлять его вместо ответа на вопрос «сколько прошли именно тест на кровь» было бы той же ошибкой смешения знаменателей, на которой этот курс уже спотыкался. Модель в сам тест не входит — иммунохимический анализ кала не продукт ИИ, — но стоит на следующем шаге пути: ArtInCol (НМИЦ колопроктологии им. А.Н. Рыжих и «Алнисофт») в многоцентровом РКИ поднимает частоту обнаружения аденом на диагностической колоноскопии после позитивного теста на 5,9 процентного пункта — это участие не в скрининге, а в диагностике после него, в отличие от японского EndoBRAIN-EYE, встроенного в саму скрининговую колоноскопию с реимбурсацией.</a:t>
            </a:r>
          </a:p>
          <a:p>
            <a:r>
              <a:t/>
            </a:r>
          </a:p>
          <a:p>
            <a:r>
              <a:t>Простата — случай, где вопрос про модель не стоит первым. Действующая рекомендация профильной рабочей группы США (с 2018 года) — решение о ПСА-тесте для мужчин 55–69 лет индивидуальное, после разговора с врачом; для мужчин вне этого коридора, включая 70 лет и старше, популяционный скрининг не рекомендован вовсе. Организованной программы с приглашениями по регистру почти не нашлось — кроме России: тот же приказ №404н с июля 2021 года назначает мужчинам ПСА-тест строго в 45, 50, 55, 60 и 64 года по регистру поликлиники, то есть формально организованная программа с фиксированным возрастным приглашением здесь есть. Но и в этом случае доля прошедших тест не публикуется — тот же честный пробел измерения, что у колоректального рака той же страны, а не повод засчитать программу как измеренную. В остальных случаях этого блока отсутствие программы — не пробел измерения, это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эректильной дисфункцией — для таких случаев перевешивает пользу находки. Вместо популяционного ПСА-скрининга несколько стран пилотируют риск-стратифицированные модели на основе МРТ — Швеция и пилот Национальной службы здравоохранения Великобритании в больницах Лидса, около ста мужчин на старте; масштаб принципиально меньше трёх других программ этого блока — счёт на сотни человек, не на десятки тысяч или миллионы. Модель ни в одном из МРТ-пилотов, ни в российском ПСА-протоколе не нашлась. Поэтому простата не попала на диаграмму охвата вовсе: у восьми стран блока, включая Россию, нет числа охвата для сравнения — семь сознательно отказались от популяционной программы, Россия программу объявила, но долю не раскрыла.</a:t>
            </a:r>
          </a:p>
          <a:p>
            <a:r>
              <a:t/>
            </a:r>
          </a:p>
          <a:p>
            <a:r>
              <a:t>Сложить эти четыре случая в одну таблицу было бы ошибкой. Государство встраивает модель вплоть до реимбурсации именно там, где классический скрининг ещё не самый отлаженный — лёгкое в Польше и Хорватии, колоректальный рак в Японии, — и почти не встраивает там, где классика отлажена десятилетиями, как шейка матки везде. А для простаты вопрос вообще не про модель: вопрос в том, нужен ли популяционный скрининг сам по себе, и ответ на него в большинстве систем здравоохранения — нет. И отдельно стоит сказать прямо: эффект самого ИИ-компонента на исход — находку болезни раньше, смертность — источники не измеряют ни в одном из четырёх случаев этого блока; измерено участие, охват целевой группы или факт оплаты, а не то, что это участие меняет для пациента. Отсюда и прямой вопрос поставщику: если он говорит «внедрено», спрашивайте, во что именно — в архитектуру программы или поверх неё вендорским слоем, — платит ли кто-нибудь за это отдельно, и есть ли вообще измерение эффекта, или дело ограничилось регуляторным допуском. Россия на этой диаграмме — готовый пример именно этого вопроса: по приказу №404н программы для колоректального рака и простаты объявлены и формально организованы, а доля прошедших тест не публикуется ни по одной из двух, скрининга лёгкого как нацпрограммы нет вообще (только пилот), скрининга шейки матки нет совсем — и ровно поэтому у России на диаграмме нет ни одного столбца при трёх заявленных строках: не потому что считать нечего, а потому что то, что сосчитано, не раскрыто.</a:t>
            </a:r>
          </a:p>
          <a:p>
            <a:r>
              <a:t/>
            </a:r>
          </a:p>
          <a:p>
            <a:r>
              <a:t>**Источники.** </a:t>
            </a:r>
            <a:r>
              <a:rPr u="sng">
                <a:solidFill>
                  <a:srgbClr val="065A82"/>
                </a:solidFill>
                <a:hlinkClick r:id="rId3"/>
              </a:rPr>
              <a:t>Обзор по странам, research #270</a:t>
            </a:r>
            <a:r>
              <a:t> · </a:t>
            </a:r>
            <a:r>
              <a:rPr u="sng">
                <a:solidFill>
                  <a:srgbClr val="065A82"/>
                </a:solidFill>
                <a:hlinkClick r:id="rId4"/>
              </a:rPr>
              <a:t>Глава, подраздел «Скрининговые программы по странам и участие ИИ»</a:t>
            </a:r>
            <a:r>
              <a:t> · по России — </a:t>
            </a:r>
            <a:r>
              <a:rPr u="sng">
                <a:solidFill>
                  <a:srgbClr val="065A82"/>
                </a:solidFill>
                <a:hlinkClick r:id="rId5"/>
              </a:rPr>
              <a:t>приказ Минздрава №404н</a:t>
            </a:r>
            <a:r>
              <a:t> · </a:t>
            </a:r>
            <a:r>
              <a:rPr u="sng">
                <a:solidFill>
                  <a:srgbClr val="065A82"/>
                </a:solidFill>
                <a:hlinkClick r:id="rId6"/>
              </a:rPr>
              <a:t>итоги диспансеризации 2023</a:t>
            </a:r>
            <a:r>
              <a:t> · </a:t>
            </a:r>
            <a:r>
              <a:rPr u="sng">
                <a:solidFill>
                  <a:srgbClr val="065A82"/>
                </a:solidFill>
                <a:hlinkClick r:id="rId7"/>
              </a:rPr>
              <a:t>диспансеризация 2024</a:t>
            </a:r>
            <a:r>
              <a:t> · </a:t>
            </a:r>
            <a:r>
              <a:rPr u="sng">
                <a:solidFill>
                  <a:srgbClr val="065A82"/>
                </a:solidFill>
                <a:hlinkClick r:id="rId8"/>
              </a:rPr>
              <a:t>пилот Москвы: итоги</a:t>
            </a:r>
            <a:r>
              <a:t> · </a:t>
            </a:r>
            <a:r>
              <a:rPr u="sng">
                <a:solidFill>
                  <a:srgbClr val="065A82"/>
                </a:solidFill>
                <a:hlinkClick r:id="rId9"/>
              </a:rPr>
              <a:t>пилот Москвы: описание</a:t>
            </a:r>
            <a:r>
              <a:t> · </a:t>
            </a:r>
            <a:r>
              <a:rPr u="sng">
                <a:solidFill>
                  <a:srgbClr val="065A82"/>
                </a:solidFill>
                <a:hlinkClick r:id="rId10"/>
              </a:rPr>
              <a:t>расширение на НДКТ рассматривается, 2026</a:t>
            </a:r>
            <a:r>
              <a:t> · </a:t>
            </a:r>
            <a:r>
              <a:rPr u="sng">
                <a:solidFill>
                  <a:srgbClr val="065A82"/>
                </a:solidFill>
                <a:hlinkClick r:id="rId11"/>
              </a:rPr>
              <a:t>Botkin.AI и ЕРИС</a:t>
            </a:r>
            <a:r>
              <a:t> · </a:t>
            </a:r>
            <a:r>
              <a:rPr u="sng">
                <a:solidFill>
                  <a:srgbClr val="065A82"/>
                </a:solidFill>
                <a:hlinkClick r:id="rId12"/>
              </a:rPr>
              <a:t>ArtInCol, РЖК</a:t>
            </a:r>
            <a:r>
              <a:t> · </a:t>
            </a:r>
            <a:r>
              <a:rPr u="sng">
                <a:solidFill>
                  <a:srgbClr val="065A82"/>
                </a:solidFill>
                <a:hlinkClick r:id="rId13"/>
              </a:rPr>
              <a:t>ArtInCol, Вопросы онкологии</a:t>
            </a:r>
            <a:r>
              <a:t> · </a:t>
            </a:r>
            <a:r>
              <a:rPr u="sng">
                <a:solidFill>
                  <a:srgbClr val="065A82"/>
                </a:solidFill>
                <a:hlinkClick r:id="rId14"/>
              </a:rPr>
              <a:t>организация скрининга шейки матки</a:t>
            </a:r>
            <a:r>
              <a:t> · </a:t>
            </a:r>
            <a:r>
              <a:rPr u="sng">
                <a:solidFill>
                  <a:srgbClr val="065A82"/>
                </a:solidFill>
                <a:hlinkClick r:id="rId15"/>
              </a:rPr>
              <a:t>пилот Якутии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разговора о модели — откуда вообще взялась сама идея осматривать здорового человека, у которого нет жалоб. Ответ лежит не в медицине изображений и не в статистике, а в истории организации самой медицины, и он старше любого компьютера.</a:t>
            </a:r>
          </a:p>
          <a:p>
            <a:r>
              <a:t/>
            </a:r>
          </a:p>
          <a:p>
            <a:r>
              <a:t>В 1920-е годы в США на одного врача приходилось около 800 человек населения. Историк медицины Стэнли Райзер в разборе происхождения скрининга приводит прямой расчёт современников: чтобы осмотреть всё население страны поголовно, каждому врачу пришлось бы тратить на это около двух с половиной часов в день — сверх всей остальной практики. Осмотреть каждого было физически невозможно, и вопрос «кого смотреть, если жалоб нет» долгое время не вставал вовсе: медицина лечила обратившегося, а не искала больного среди здоровых.</a:t>
            </a:r>
          </a:p>
          <a:p>
            <a:r>
              <a:t/>
            </a:r>
          </a:p>
          <a:p>
            <a:r>
              <a:t>Первый массовый случай, который показал, что скрытая болезнь есть у огромной доли людей, выглядящих здоровыми, — призывная медкомиссия Первой мировой войны. Из примерно 2,7 миллиона американцев, призванных на военную службу, у 47 процентов нашли физические дефекты — от плоскостопия до болезней сердца, ни разу не диагностированные раньше, потому что их никто специально не искал. Это был первый опыт национального масштаба: осмотр по формальному признаку (возраст, годность к службе) нашёл болезнь там, где никто её не предполагал.</a:t>
            </a:r>
          </a:p>
          <a:p>
            <a:r>
              <a:t/>
            </a:r>
          </a:p>
          <a:p>
            <a:r>
              <a:t>Из этого в 1920-е годы родилось общественное движение за регулярный осмотр здорового человека. В 1914 году открылся Институт продления жизни (Life Extension Institute) — за первое десятилетие он провёл больше 250 тысяч осмотров. В 1917 году больше 10 процентов из трёхсот крупнейших корпораций США уже спонсировали регулярные медосмотры своих сотрудников. В 1922 году Американская медицинская ассоциация (AMA) формально одобрила ежегодный осмотр как практику, а в 1923 году Национальный совет здравоохранения запустил кампанию «пройди осмотр в день своего рождения» с целью провести 10 миллионов осмотров. Вторая мировая война повторила тот же урок на ещё большем масштабе: с 1940 по 1946 год призывная медкомиссия осмотрела около 20 миллионов американцев, и около трети получили отвод по медицинским показаниям.</a:t>
            </a:r>
          </a:p>
          <a:p>
            <a:r>
              <a:t/>
            </a:r>
          </a:p>
          <a:p>
            <a:r>
              <a:t>Параллельно шёл второй процесс — не осмотр отдельного человека, а организованный скрининг целой популяции одним методом. Самый измеренный пример — кампания против туберкулёза в Глазго весной 1957 года. За пять недель, с 11 марта по 12 апреля, тридцать семь передвижных рентгеновских установок, прикомандированных со всей Великобритании, обследовали 714 915 человек — это 76 процентов всего взрослого населения города. Нашли 2369 случаев туберкулёза — около 60 процентов всех случаев, зарегистрированных в городе в тот год. Темп снижения заболеваемости туберкулёзом в городе после кампании ускорился больше чем вдвое — с 2,3 процента в год до неё до 5,4 процента в год после. Рентген грудной клетки как инструмент существовал и раньше; новым было то, что его направили не на обратившегося больного, а на всё население города сразу, по формальному признаку «живёт в Глазго».</a:t>
            </a:r>
          </a:p>
          <a:p>
            <a:r>
              <a:t/>
            </a:r>
          </a:p>
          <a:p>
            <a:r>
              <a:t>Третий классический пример — мазок на цитологию, предложенный Георгиосом Папаниколау ещё в 1928 году и клинически описанный в начале 1940-х годов вместе с Гербертом Траутом. Путь от лабораторного метода до организованной программы занял больше двадцати лет: Британская Колумбия в Канаде одной из первых превратила отдельный тест в постоянную систему приглашений, и это тоже скрининг целой популяции по формальному признаку — на этот раз по полу и возрасту, а не по месту жительства. [VFY-day-of: точные годы и цифры охвата канадской программы и эффект на смертность по провинции расходятся у разных вторичных источников — перед устным использованием сверить по первоисточнику Popadiuk/bcmj.org отдельно.]</a:t>
            </a:r>
          </a:p>
          <a:p>
            <a:r>
              <a:t/>
            </a:r>
          </a:p>
          <a:p>
            <a:r>
              <a:t>К 1968 году накопленного опыта хватило, чтобы Всемирная организация здравоохранения формализовала сам вопрос: когда скрининг вообще оправдан как практика. Джеймс Уилсон и Гуннар Юнгнер сформулировали десять критериев, действующих до сих пор без единой модели внутри: у болезни должна быть распознаваемая скрытая или ранняя стадия, должно существовать признанное лечение и мощности его провести, тест должен быть приемлем для населения, а сам скрининг — не разовой кампанией, а постоянным процессом. Ни один из этих десяти критериев не говорит о точности алгоритма — все десять были написаны за много десятилетий до первой обученной модели, и это сам по себе урок: вопрос «оправдан ли скрининг» не сводится к вопросу «насколько точна модель внутри него», и первый вопрос был поставлен и формализован задолго до второго.</a:t>
            </a:r>
          </a:p>
          <a:p>
            <a:r>
              <a:t/>
            </a:r>
          </a:p>
          <a:p>
            <a:r>
              <a:t>Так закрывается общая картина происхождения скрининга как класса практики. Дальше раздел возвращается к одной конкретной его стадии — отбору на обследование — и к тому же самому вопросу в более узкой форме: кого именно и по какому формальному признаку позовут смотреть.</a:t>
            </a:r>
          </a:p>
          <a:p>
            <a:r>
              <a:t/>
            </a:r>
          </a:p>
          <a:p>
            <a:r>
              <a:t>**Источники.** </a:t>
            </a:r>
            <a:r>
              <a:rPr u="sng">
                <a:solidFill>
                  <a:srgbClr val="065A82"/>
                </a:solidFill>
                <a:hlinkClick r:id="rId3"/>
              </a:rPr>
              <a:t>Wilson, Jungner — Principles and practice of screening for disease, WHO 1968</a:t>
            </a:r>
            <a:r>
              <a:t> · </a:t>
            </a:r>
            <a:r>
              <a:rPr u="sng">
                <a:solidFill>
                  <a:srgbClr val="065A82"/>
                </a:solidFill>
                <a:hlinkClick r:id="rId4"/>
              </a:rPr>
              <a:t>Reiser — The Emergence of the Concept of Screening for Disease, Milbank Memorial Fund Quarterly 1978</a:t>
            </a:r>
            <a:r>
              <a:t> · </a:t>
            </a:r>
            <a:r>
              <a:rPr u="sng">
                <a:solidFill>
                  <a:srgbClr val="065A82"/>
                </a:solidFill>
                <a:hlinkClick r:id="rId5"/>
              </a:rPr>
              <a:t>Глазго 1957, массовая кампания против туберкулёза, PLOS Medicine 2024</a:t>
            </a:r>
            <a:r>
              <a:t> · </a:t>
            </a:r>
            <a:r>
              <a:rPr u="sng">
                <a:solidFill>
                  <a:srgbClr val="065A82"/>
                </a:solidFill>
                <a:hlinkClick r:id="rId6"/>
              </a:rPr>
              <a:t>препринт того же исследования, medRxiv</a:t>
            </a:r>
            <a:r>
              <a:t> · </a:t>
            </a:r>
            <a:r>
              <a:rPr u="sng">
                <a:solidFill>
                  <a:srgbClr val="065A82"/>
                </a:solidFill>
                <a:hlinkClick r:id="rId7"/>
              </a:rPr>
              <a:t>история мазка Папаниколау в Британской Колумбии, bcmj.org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Шведское испытание на предыдущем кадре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чувствительность модели 80,5 против 73,8 процента, названная на кадре перед этим,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Слова участника — не последнее, что нашлось об устройстве бота: у самой компании есть собственная техническая публикация, и её разряд доказательной силы другой — об этом отдельным кадром следом, чтобы два разряда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 участника на предыдущем кадре — не последнее, что известно об устройстве бота. У самой компании есть собственная техническая публикация 2016 года, и сила этого свидетельства другая: не независимый аудит, но и не пересказ одного бывшего сотрудника, а то, что компания сама опубликовала о своей архитектуре. Путать эти два разряда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Сила свидетельства у этого разбора в целом распределена по звеньям неравномерно, и это стоит сказать явно, раз разбор идёт на двух кадрах с разными источниками. Подушевая сумма и частота обращений, которыми на предыдущем кадре посчитана цена, — официальная статистика и независимый отчёт об оценке, разряд высокий.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самый низкий разряд из перечисленных. Архитектура графа и правил, которая стоит на этом кадре, — собственная техническая публикация компании: разряд выше, чем слова одного участника, но ниже независимого аудита —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Названное здесь — пара дало-потребовало и переезд исполнителя — не всё, что есть в этом разборе: чему обучена сама система, как её обновляют и что отдельное измерение на новой популяции показало про чувствительность и навык оператора — кадром следом.</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 по тому самому правилу из инструкции кабинета, которого в приборе нет.</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hyperlink" Target="https://github.com/tellina-study/AI-usage-lessons/blob/main/library/lectures/lec-07/rework/research/12-korotkiy-put-v-rf-razbor.md"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0-II-FDA-PERVICHNYY-SCHET.md" TargetMode="External"/><Relationship Id="rId4" Type="http://schemas.openxmlformats.org/officeDocument/2006/relationships/hyperlink" Target="https://github.com/tellina-study/AI-usage-lessons/blob/main/library/lectures/lec-07/rework/research/11-dinamika-po-stranam-realno-novye.md" TargetMode="External"/><Relationship Id="rId5" Type="http://schemas.openxmlformats.org/officeDocument/2006/relationships/hyperlink" Target="https://github.com/tellina-study/AI-usage-lessons/blob/main/library/lectures/lec-07/rework/research/13-koreya-kitay-proverka.md"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5-rabota-vladeltsa-iskazheniya.md" TargetMode="External"/><Relationship Id="rId3" Type="http://schemas.openxmlformats.org/officeDocument/2006/relationships/hyperlink" Target="https://github.com/tellina-study/AI-usage-lessons/blob/main/library/lectures/lec-07/rework/research/10b-ii-ispolzovanie-i-effekt.md"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6-doverie-patsienta-k-modeli.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github.com/tellina-study/AI-usage-lessons/blob/main/library/lectures/lec-07/rework/research/15-skrining-po-stranam.md" TargetMode="External"/><Relationship Id="rId4" Type="http://schemas.openxmlformats.org/officeDocument/2006/relationships/hyperlink" Target="https://github.com/tellina-study/AI-usage-lessons/blob/main/library/lectures/lec-07/rework/chapter-part1b.md"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iercheck.nl/wp-content/uploads/2019/06/Wilson-Jungner-1968.pdf" TargetMode="External"/><Relationship Id="rId3" Type="http://schemas.openxmlformats.org/officeDocument/2006/relationships/hyperlink" Target="https://www.milbank.org/wp-content/uploads/mq/volume-56/issue-04/56-4-The-Emergence-of-the-Concept-of-Screening-for-Disease.pdf" TargetMode="External"/><Relationship Id="rId4" Type="http://schemas.openxmlformats.org/officeDocument/2006/relationships/hyperlink" Target="https://journals.plos.org/plosmedicine/article?id=10.1371%2Fjournal.pmed.1004448" TargetMode="External"/><Relationship Id="rId5" Type="http://schemas.openxmlformats.org/officeDocument/2006/relationships/hyperlink" Target="https://github.com/tellina-study/AI-usage-lessons/blob/main/library/lectures/lec-07/rework/research/16-istoriya-dostupnosti-skriningov.md" TargetMode="Externa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hyperlink" Target="https://www.accessdata.fda.gov/cdrh_docs/pdf21/K213037.pdf"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38/s42256-021-00307-0"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doi.org/10.1145/3313831.3376718"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doi.org/10.1136/bmjqs-2013-002627"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16/j.gie.2014.07.058" TargetMode="Externa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6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Механизмы допуска медицинского изделия: США и Россия</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ПОШЛИНА ЗА РАССМОТРЕНИЕ, США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26 067 · 579 272 доллара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короткий путь · полный цикл</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2" name="Rounded Rectangle 21"/>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4" name="Right Arrow 23"/>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27" name="Right Arrow 26"/>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0" name="Right Arrow 29"/>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3" name="TextBox 32"/>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4" name="Rounded Rectangle 33"/>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6" name="Right Arrow 35"/>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39" name="Right Arrow 38"/>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2" name="Right Arrow 41"/>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5" name="TextBox 44"/>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46" name="Rounded Rectangle 45"/>
          <p:cNvSpPr/>
          <p:nvPr/>
        </p:nvSpPr>
        <p:spPr>
          <a:xfrm>
            <a:off x="374904" y="4741704"/>
            <a:ext cx="11441887" cy="1494503"/>
          </a:xfrm>
          <a:prstGeom prst="roundRect">
            <a:avLst>
              <a:gd name="adj" fmla="val 20394"/>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4833144"/>
            <a:ext cx="11112703" cy="1403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r>
              <a:rPr sz="1500" b="0" i="0">
                <a:solidFill>
                  <a:srgbClr val="21295C"/>
                </a:solidFill>
                <a:latin typeface="Arial"/>
              </a:rPr>
              <a:t> Допуск — ворота и в клинику, и в закупку.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Короткий путь — заявление о похожести на уже допущенное изделие:</a:t>
            </a:r>
            <a:r>
              <a:rPr sz="1500" b="0" i="0">
                <a:solidFill>
                  <a:srgbClr val="21295C"/>
                </a:solidFill>
                <a:latin typeface="Arial"/>
              </a:rPr>
              <a:t> им идут 97,5 новых решений из ста, полным циклом — 1,04.</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r>
              <a:rPr sz="1200" b="0" i="1">
                <a:solidFill>
                  <a:srgbClr val="1C7293"/>
                </a:solidFill>
                <a:latin typeface="Arial"/>
              </a:rPr>
              <a:t> · </a:t>
            </a:r>
            <a:r>
              <a:rPr sz="1200" b="0" i="1" u="sng">
                <a:solidFill>
                  <a:srgbClr val="065A82"/>
                </a:solidFill>
                <a:latin typeface="Arial"/>
                <a:hlinkClick r:id="rId4"/>
              </a:rPr>
              <a:t>короткий путь в России, разбор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Изделия с ИИ: счёт и пути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b-strany-i-dinamika.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предшественник</a:t>
            </a:r>
          </a:p>
        </p:txBody>
      </p:sp>
      <p:sp>
        <p:nvSpPr>
          <p:cNvPr id="10" name="Rounded Rectangle 9"/>
          <p:cNvSpPr/>
          <p:nvPr/>
        </p:nvSpPr>
        <p:spPr>
          <a:xfrm>
            <a:off x="4286402"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4" name="Rounded Rectangle 13"/>
          <p:cNvSpPr/>
          <p:nvPr/>
        </p:nvSpPr>
        <p:spPr>
          <a:xfrm>
            <a:off x="8069884"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РАДИОЛОГИЯ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1 230 из 1 614</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психиатрии ноль за всю историю</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Рост держится на одном уровне — 3,1 по-настоящему новых изделия в год, без ускорения.</a:t>
            </a:r>
            <a:r>
              <a:rPr sz="1400" b="0" i="0">
                <a:solidFill>
                  <a:srgbClr val="21295C"/>
                </a:solidFill>
                <a:latin typeface="Arial"/>
              </a:rPr>
              <a:t> Весь остальной прирост массива идёт через похожесть на предшественник.</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счёт по таблице FDA</a:t>
            </a:r>
            <a:r>
              <a:rPr sz="1200" b="0" i="1">
                <a:solidFill>
                  <a:srgbClr val="1C7293"/>
                </a:solidFill>
                <a:latin typeface="Arial"/>
              </a:rPr>
              <a:t> · </a:t>
            </a:r>
            <a:r>
              <a:rPr sz="1200" b="0" i="1" u="sng">
                <a:solidFill>
                  <a:srgbClr val="065A82"/>
                </a:solidFill>
                <a:latin typeface="Arial"/>
                <a:hlinkClick r:id="rId4"/>
              </a:rPr>
              <a:t>страновой разрез</a:t>
            </a:r>
            <a:r>
              <a:rPr sz="1200" b="0" i="1">
                <a:solidFill>
                  <a:srgbClr val="1C7293"/>
                </a:solidFill>
                <a:latin typeface="Arial"/>
              </a:rPr>
              <a:t> · </a:t>
            </a:r>
            <a:r>
              <a:rPr sz="1200" b="0" i="1" u="sng">
                <a:solidFill>
                  <a:srgbClr val="065A82"/>
                </a:solidFill>
                <a:latin typeface="Arial"/>
                <a:hlinkClick r:id="rId5"/>
              </a:rPr>
              <a:t>проверка Кореи и Китая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ИИ: врачи и поток</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стороны приёма: врач и пациент</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TextBox 9"/>
          <p:cNvSpPr txBox="1"/>
          <p:nvPr/>
        </p:nvSpPr>
        <p:spPr>
          <a:xfrm>
            <a:off x="502920" y="42062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1" name="Rounded Rectangle 10"/>
          <p:cNvSpPr/>
          <p:nvPr/>
        </p:nvSpPr>
        <p:spPr>
          <a:xfrm>
            <a:off x="1920240"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13" name="Right Arrow 12"/>
          <p:cNvSpPr/>
          <p:nvPr/>
        </p:nvSpPr>
        <p:spPr>
          <a:xfrm>
            <a:off x="5039258" y="433878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Right Arrow 15"/>
          <p:cNvSpPr/>
          <p:nvPr/>
        </p:nvSpPr>
        <p:spPr>
          <a:xfrm>
            <a:off x="8386876" y="433878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19" name="TextBox 18"/>
          <p:cNvSpPr txBox="1"/>
          <p:nvPr/>
        </p:nvSpPr>
        <p:spPr>
          <a:xfrm>
            <a:off x="502920" y="48279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0" name="Rounded Rectangle 19"/>
          <p:cNvSpPr/>
          <p:nvPr/>
        </p:nvSpPr>
        <p:spPr>
          <a:xfrm>
            <a:off x="1920240"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22" name="Right Arrow 21"/>
          <p:cNvSpPr/>
          <p:nvPr/>
        </p:nvSpPr>
        <p:spPr>
          <a:xfrm>
            <a:off x="4202353" y="496047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a:t>
            </a:r>
          </a:p>
        </p:txBody>
      </p:sp>
      <p:sp>
        <p:nvSpPr>
          <p:cNvPr id="25" name="Right Arrow 24"/>
          <p:cNvSpPr/>
          <p:nvPr/>
        </p:nvSpPr>
        <p:spPr>
          <a:xfrm>
            <a:off x="6713067" y="496047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8" name="Right Arrow 27"/>
          <p:cNvSpPr/>
          <p:nvPr/>
        </p:nvSpPr>
        <p:spPr>
          <a:xfrm>
            <a:off x="9223781" y="496047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31" name="TextBox 30"/>
          <p:cNvSpPr txBox="1"/>
          <p:nvPr/>
        </p:nvSpPr>
        <p:spPr>
          <a:xfrm>
            <a:off x="502920" y="530332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встаёт не рядом с приёмом, а внутри него</a:t>
            </a:r>
          </a:p>
        </p:txBody>
      </p:sp>
      <p:sp>
        <p:nvSpPr>
          <p:cNvPr id="32" name="Rounded Rectangle 31"/>
          <p:cNvSpPr/>
          <p:nvPr/>
        </p:nvSpPr>
        <p:spPr>
          <a:xfrm>
            <a:off x="374904" y="5606013"/>
            <a:ext cx="11441887" cy="6301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697453"/>
            <a:ext cx="11112703" cy="538754"/>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У приёма две стороны: у врача мерили поведение на задаче, у пациента — согласие с решением, и это разные предметы измерения.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врача</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Заключение врача сдвигается к подсказке модели, даже заведомо неверной: 23,6 против 92,8 из ста, 220 врачей.</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Там, где модель молчит, взгляд врача реже задерживается — пропущено 61 против 29 из ста, 10 врачей.</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Привыкнув к модели, врач без неё находит меньше: 22,4 против 28,4 из ста, 1 443 процедуры.</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Модель шлёт тревоги потоком, и врач отклоняет почти все подряд — 90 из ста, из высшей тяжести лишь 0,5.</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Расхождение с моделью разбирают отдельным шагом: 3 449 арбитражей без модели против 5 283 с ней, на 50 000 женщин.</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Здесь наоборот: врач переписывает заключение модели, если находит ошибку — 31 из ста, 159 630 кардиограмм.</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Предупредить не помогает — помогают только действия человека во время работы с моделью или после неё.</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r>
              <a:rPr sz="1200" b="0" i="1">
                <a:solidFill>
                  <a:srgbClr val="1C7293"/>
                </a:solidFill>
                <a:latin typeface="Arial"/>
              </a:rPr>
              <a:t> · </a:t>
            </a:r>
            <a:r>
              <a:rPr sz="1200" b="0" i="1" u="sng">
                <a:solidFill>
                  <a:srgbClr val="065A82"/>
                </a:solidFill>
                <a:latin typeface="Arial"/>
                <a:hlinkClick r:id="rId3"/>
              </a:rPr>
              <a:t>медицинские замеры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пациента</a:t>
            </a:r>
          </a:p>
        </p:txBody>
      </p:sp>
      <p:sp>
        <p:nvSpPr>
          <p:cNvPr id="4" name="Rounded Rectangle 3"/>
          <p:cNvSpPr/>
          <p:nvPr/>
        </p:nvSpPr>
        <p:spPr>
          <a:xfrm>
            <a:off x="502920" y="133502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Раскрытие</a:t>
            </a:r>
          </a:p>
        </p:txBody>
      </p:sp>
      <p:sp>
        <p:nvSpPr>
          <p:cNvPr id="6" name="TextBox 5"/>
          <p:cNvSpPr txBox="1"/>
          <p:nvPr/>
        </p:nvSpPr>
        <p:spPr>
          <a:xfrm>
            <a:off x="594360" y="1695788"/>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пациенту говорят, что врач пользуется моделью, доверие к врачу падает: 0,30 против 0,63 у 1 762 взрослых.</a:t>
            </a:r>
          </a:p>
        </p:txBody>
      </p:sp>
      <p:sp>
        <p:nvSpPr>
          <p:cNvPr id="7" name="Rounded Rectangle 6"/>
          <p:cNvSpPr/>
          <p:nvPr/>
        </p:nvSpPr>
        <p:spPr>
          <a:xfrm>
            <a:off x="502920" y="2118360"/>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20980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Одиночество</a:t>
            </a:r>
          </a:p>
        </p:txBody>
      </p:sp>
      <p:sp>
        <p:nvSpPr>
          <p:cNvPr id="9" name="TextBox 8"/>
          <p:cNvSpPr txBox="1"/>
          <p:nvPr/>
        </p:nvSpPr>
        <p:spPr>
          <a:xfrm>
            <a:off x="594360" y="247912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Модель как единственного читателя снимка почти не принимают, а как второе мнение — охотно: 23 против 368 из 518.</a:t>
            </a:r>
          </a:p>
        </p:txBody>
      </p:sp>
      <p:sp>
        <p:nvSpPr>
          <p:cNvPr id="10" name="Rounded Rectangle 9"/>
          <p:cNvSpPr/>
          <p:nvPr/>
        </p:nvSpPr>
        <p:spPr>
          <a:xfrm>
            <a:off x="502920" y="2901697"/>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93137"/>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Асимметрия</a:t>
            </a:r>
          </a:p>
        </p:txBody>
      </p:sp>
      <p:sp>
        <p:nvSpPr>
          <p:cNvPr id="12" name="TextBox 11"/>
          <p:cNvSpPr txBox="1"/>
          <p:nvPr/>
        </p:nvSpPr>
        <p:spPr>
          <a:xfrm>
            <a:off x="594360" y="3262462"/>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Если тревогу поднимает модель — 319 из 359 просят проверки врача; если тревогу поднимает врач — лишь 184 из 359 просят проверки модели.</a:t>
            </a:r>
          </a:p>
        </p:txBody>
      </p:sp>
      <p:sp>
        <p:nvSpPr>
          <p:cNvPr id="13" name="Rounded Rectangle 12"/>
          <p:cNvSpPr/>
          <p:nvPr/>
        </p:nvSpPr>
        <p:spPr>
          <a:xfrm>
            <a:off x="502920" y="368503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77647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Цена</a:t>
            </a:r>
          </a:p>
        </p:txBody>
      </p:sp>
      <p:sp>
        <p:nvSpPr>
          <p:cNvPr id="15" name="TextBox 14"/>
          <p:cNvSpPr txBox="1"/>
          <p:nvPr/>
        </p:nvSpPr>
        <p:spPr>
          <a:xfrm>
            <a:off x="594360" y="4045799"/>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осмотр моделью бесплатен, её выбирают заметно чаще — 81 против 43 из ста, 248 взрослых.</a:t>
            </a:r>
          </a:p>
        </p:txBody>
      </p:sp>
      <p:sp>
        <p:nvSpPr>
          <p:cNvPr id="16" name="Rounded Rectangle 15"/>
          <p:cNvSpPr/>
          <p:nvPr/>
        </p:nvSpPr>
        <p:spPr>
          <a:xfrm>
            <a:off x="502920" y="4468371"/>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559811"/>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Безымянность</a:t>
            </a:r>
          </a:p>
        </p:txBody>
      </p:sp>
      <p:sp>
        <p:nvSpPr>
          <p:cNvPr id="18" name="TextBox 17"/>
          <p:cNvSpPr txBox="1"/>
          <p:nvPr/>
        </p:nvSpPr>
        <p:spPr>
          <a:xfrm>
            <a:off x="594360" y="482913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Без подписи автора ответ модели кажется более сочувственным, чем ответ врача: 4,11 против 2,01 из пяти, 45 человек.</a:t>
            </a:r>
          </a:p>
        </p:txBody>
      </p:sp>
      <p:sp>
        <p:nvSpPr>
          <p:cNvPr id="19" name="Rounded Rectangle 18"/>
          <p:cNvSpPr/>
          <p:nvPr/>
        </p:nvSpPr>
        <p:spPr>
          <a:xfrm>
            <a:off x="374904" y="5251708"/>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343148"/>
            <a:ext cx="11112703" cy="89305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Пациент принимает модель помощником и отвергает исполнителем.</a:t>
            </a:r>
          </a:p>
          <a:p>
            <a:pPr algn="l">
              <a:lnSpc>
                <a:spcPct val="118000"/>
              </a:lnSpc>
              <a:spcBef>
                <a:spcPts val="600"/>
              </a:spcBef>
            </a:pPr>
            <a:r>
              <a:rPr sz="1400" b="0" i="0">
                <a:solidFill>
                  <a:srgbClr val="21295C"/>
                </a:solidFill>
                <a:latin typeface="Arial"/>
              </a:rPr>
              <a:t/>
            </a:r>
            <a:r>
              <a:rPr sz="1400" b="1" i="0">
                <a:solidFill>
                  <a:srgbClr val="21295C"/>
                </a:solidFill>
                <a:latin typeface="Arial"/>
              </a:rPr>
              <a:t>Возраст и образование этого не объясняют. Затухания доверия во времени не измерено нигде.</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Шведский скрининг с моделью: кому достаётся второе чтение</a:t>
            </a:r>
            <a:r>
              <a:rPr sz="1550" b="0" i="0">
                <a:solidFill>
                  <a:srgbClr val="21295C"/>
                </a:solidFill>
                <a:latin typeface="Arial"/>
              </a:rPr>
              <a:t> ·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ИИ</a:t>
            </a:r>
          </a:p>
        </p:txBody>
      </p:sp>
      <p:sp>
        <p:nvSpPr>
          <p:cNvPr id="4" name="Rounded Rectangle 3"/>
          <p:cNvSpPr/>
          <p:nvPr/>
        </p:nvSpPr>
        <p:spPr>
          <a:xfrm>
            <a:off x="506251" y="1335024"/>
            <a:ext cx="11179193" cy="3557016"/>
          </a:xfrm>
          <a:prstGeom prst="roundRect">
            <a:avLst>
              <a:gd name="adj" fmla="val 8568"/>
            </a:avLst>
          </a:prstGeom>
          <a:solidFill>
            <a:srgbClr val="F4F7FA"/>
          </a:solidFill>
          <a:ln w="19050">
            <a:solidFill>
              <a:srgbClr val="1C7293"/>
            </a:solidFill>
          </a:ln>
          <a:effectLst/>
        </p:spPr>
        <p:txBody>
          <a:bodyPr rtlCol="0" anchor="ctr"/>
          <a:lstStyle/>
          <a:p>
            <a:pPr algn="ctr"/>
          </a:p>
        </p:txBody>
      </p:sp>
      <p:pic>
        <p:nvPicPr>
          <p:cNvPr id="5" name="Picture 4" descr="s13a-ohvat-po-stranam.png"/>
          <p:cNvPicPr>
            <a:picLocks noChangeAspect="1"/>
          </p:cNvPicPr>
          <p:nvPr/>
        </p:nvPicPr>
        <p:blipFill>
          <a:blip r:embed="rId2"/>
          <a:stretch>
            <a:fillRect/>
          </a:stretch>
        </p:blipFill>
        <p:spPr>
          <a:xfrm>
            <a:off x="937325" y="1472184"/>
            <a:ext cx="10317044" cy="3282696"/>
          </a:xfrm>
          <a:prstGeom prst="rect">
            <a:avLst/>
          </a:prstGeom>
        </p:spPr>
      </p:pic>
      <p:sp>
        <p:nvSpPr>
          <p:cNvPr id="6" name="Rounded Rectangle 5"/>
          <p:cNvSpPr/>
          <p:nvPr/>
        </p:nvSpPr>
        <p:spPr>
          <a:xfrm>
            <a:off x="374904" y="4983480"/>
            <a:ext cx="11441887" cy="113352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5074920"/>
            <a:ext cx="11112703" cy="1161288"/>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Модель встроена в архитектуру программы там, где классический охват ещё не отлажен — лёгкое (тёмный) и колоректальный (бирюзовый), а не шейка матки (синий).</a:t>
            </a:r>
            <a:r>
              <a:rPr sz="1400" b="0" i="0">
                <a:solidFill>
                  <a:srgbClr val="21295C"/>
                </a:solidFill>
                <a:latin typeface="Arial"/>
              </a:rPr>
              <a:t> Простата вне диаграммы: организованная программа есть только в России (по регистру), но доля не раскрыта.</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Обзор по странам</a:t>
            </a:r>
            <a:r>
              <a:rPr sz="1200" b="0" i="1">
                <a:solidFill>
                  <a:srgbClr val="1C7293"/>
                </a:solidFill>
                <a:latin typeface="Arial"/>
              </a:rPr>
              <a:t> · </a:t>
            </a:r>
            <a:r>
              <a:rPr sz="1200" b="0" i="1" u="sng">
                <a:solidFill>
                  <a:srgbClr val="065A82"/>
                </a:solidFill>
                <a:latin typeface="Arial"/>
                <a:hlinkClick r:id="rId4"/>
              </a:rPr>
              <a:t>глава, подраздел «Скрининговые программы по странам и участие ИИ»</a:t>
            </a:r>
            <a:r>
              <a:rPr sz="1200" b="0" i="1">
                <a:solidFill>
                  <a:srgbClr val="1C7293"/>
                </a:solidFill>
                <a:latin typeface="Arial"/>
              </a:rPr>
              <a:t> · </a:t>
            </a:r>
            <a:r>
              <a:rPr sz="1200" b="0" i="1">
                <a:solidFill>
                  <a:srgbClr val="1C7293"/>
                </a:solidFill>
                <a:latin typeface="Arial"/>
              </a:rPr>
              <a:t>источники по России — в заметках лектора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 как практика: откуда он взялся</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1920-Е ГОДЫ</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врач на ≈800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поголовный осмотр населения физически невозможен</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ПРИЗЫВ, ПЕРВАЯ МИРОВАЯ</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из 2,7 млн</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скрытые болезни у годных на вид к службе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ГЛАЗГО, 1957</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715 тыс. за 5 недель</a:t>
            </a:r>
          </a:p>
        </p:txBody>
      </p:sp>
      <p:sp>
        <p:nvSpPr>
          <p:cNvPr id="15" name="TextBox 14"/>
          <p:cNvSpPr txBox="1"/>
          <p:nvPr/>
        </p:nvSpPr>
        <p:spPr>
          <a:xfrm>
            <a:off x="6315303"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76% взрослых города, 37 передвижных рентген-установок</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ВОЗ, 1968</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10 критериев Уилсона–Юнгнера</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когда скрининг вообще оправдан как практика</a:t>
            </a:r>
          </a:p>
        </p:txBody>
      </p:sp>
      <p:sp>
        <p:nvSpPr>
          <p:cNvPr id="20" name="Rounded Rectangle 19"/>
          <p:cNvSpPr/>
          <p:nvPr/>
        </p:nvSpPr>
        <p:spPr>
          <a:xfrm>
            <a:off x="374904" y="3405128"/>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Рост числа врачей, лабораторий и статистического учёта населения в XX веке впервые сделал осмотр </a:t>
            </a:r>
            <a:r>
              <a:rPr sz="1500" b="1" i="0">
                <a:solidFill>
                  <a:srgbClr val="21295C"/>
                </a:solidFill>
                <a:latin typeface="Arial"/>
              </a:rPr>
              <a:t>всех</a:t>
            </a:r>
            <a:r>
              <a:rPr sz="1500" b="0" i="0">
                <a:solidFill>
                  <a:srgbClr val="21295C"/>
                </a:solidFill>
                <a:latin typeface="Arial"/>
              </a:rPr>
              <a:t>, а не только обратившихся, технически возможным</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Призыв и труд первыми показали национальным масштабом: у здорового на вид человека массово находят скрытую болезнь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К 1968 году ВОЗ формализовала, когда такой осмотр вообще оправдан как практика — критерии действуют до сих пор, без какой-либо модели внутри</a:t>
            </a:r>
          </a:p>
        </p:txBody>
      </p:sp>
      <p:sp>
        <p:nvSpPr>
          <p:cNvPr id="23" name="Rectangle 22"/>
          <p:cNvSpPr/>
          <p:nvPr/>
        </p:nvSpPr>
        <p:spPr>
          <a:xfrm>
            <a:off x="6091275" y="3496568"/>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Wilson–Jungner, WHO 1968</a:t>
            </a:r>
            <a:r>
              <a:rPr sz="1200" b="0" i="1">
                <a:solidFill>
                  <a:srgbClr val="1C7293"/>
                </a:solidFill>
                <a:latin typeface="Arial"/>
              </a:rPr>
              <a:t> · </a:t>
            </a:r>
            <a:r>
              <a:rPr sz="1200" b="0" i="1" u="sng">
                <a:solidFill>
                  <a:srgbClr val="065A82"/>
                </a:solidFill>
                <a:latin typeface="Arial"/>
                <a:hlinkClick r:id="rId3"/>
              </a:rPr>
              <a:t>Reiser, Milbank Quarterly 1978</a:t>
            </a:r>
            <a:r>
              <a:rPr sz="1200" b="0" i="1">
                <a:solidFill>
                  <a:srgbClr val="1C7293"/>
                </a:solidFill>
                <a:latin typeface="Arial"/>
              </a:rPr>
              <a:t> · </a:t>
            </a:r>
            <a:r>
              <a:rPr sz="1200" b="0" i="1" u="sng">
                <a:solidFill>
                  <a:srgbClr val="065A82"/>
                </a:solidFill>
                <a:latin typeface="Arial"/>
                <a:hlinkClick r:id="rId4"/>
              </a:rPr>
              <a:t>Глазго 1957, PLOS Medicine</a:t>
            </a:r>
            <a:r>
              <a:rPr sz="1200" b="0" i="1">
                <a:solidFill>
                  <a:srgbClr val="1C7293"/>
                </a:solidFill>
                <a:latin typeface="Arial"/>
              </a:rPr>
              <a:t> · </a:t>
            </a:r>
            <a:r>
              <a:rPr sz="1200" b="0" i="1" u="sng">
                <a:solidFill>
                  <a:srgbClr val="065A82"/>
                </a:solidFill>
                <a:latin typeface="Arial"/>
                <a:hlinkClick r:id="rId5"/>
              </a:rPr>
              <a:t>research #278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устойчиво</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TextBox 19"/>
          <p:cNvSpPr txBox="1"/>
          <p:nvPr/>
        </p:nvSpPr>
        <p:spPr>
          <a:xfrm>
            <a:off x="502920" y="356143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52485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57057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читает первым</a:t>
            </a:r>
          </a:p>
        </p:txBody>
      </p:sp>
      <p:sp>
        <p:nvSpPr>
          <p:cNvPr id="23" name="Right Arrow 22"/>
          <p:cNvSpPr/>
          <p:nvPr/>
        </p:nvSpPr>
        <p:spPr>
          <a:xfrm>
            <a:off x="5039258" y="369397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52485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57057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читает всегда</a:t>
            </a:r>
          </a:p>
        </p:txBody>
      </p:sp>
      <p:sp>
        <p:nvSpPr>
          <p:cNvPr id="26" name="Right Arrow 25"/>
          <p:cNvSpPr/>
          <p:nvPr/>
        </p:nvSpPr>
        <p:spPr>
          <a:xfrm>
            <a:off x="8386876" y="369397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52485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57057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арбитраж</a:t>
            </a:r>
          </a:p>
        </p:txBody>
      </p:sp>
      <p:sp>
        <p:nvSpPr>
          <p:cNvPr id="29" name="TextBox 28"/>
          <p:cNvSpPr txBox="1"/>
          <p:nvPr/>
        </p:nvSpPr>
        <p:spPr>
          <a:xfrm>
            <a:off x="502920" y="418313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0" name="Rounded Rectangle 29"/>
          <p:cNvSpPr/>
          <p:nvPr/>
        </p:nvSpPr>
        <p:spPr>
          <a:xfrm>
            <a:off x="1920240" y="414655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19227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читает первым</a:t>
            </a:r>
          </a:p>
        </p:txBody>
      </p:sp>
      <p:sp>
        <p:nvSpPr>
          <p:cNvPr id="32" name="Right Arrow 31"/>
          <p:cNvSpPr/>
          <p:nvPr/>
        </p:nvSpPr>
        <p:spPr>
          <a:xfrm>
            <a:off x="5039258" y="4315672"/>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146556"/>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192276"/>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оценка риска 1–10</a:t>
            </a:r>
          </a:p>
        </p:txBody>
      </p:sp>
      <p:sp>
        <p:nvSpPr>
          <p:cNvPr id="35" name="Right Arrow 34"/>
          <p:cNvSpPr/>
          <p:nvPr/>
        </p:nvSpPr>
        <p:spPr>
          <a:xfrm>
            <a:off x="8386876" y="431567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14655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19227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 10 → второе чтение</a:t>
            </a:r>
          </a:p>
        </p:txBody>
      </p:sp>
      <p:sp>
        <p:nvSpPr>
          <p:cNvPr id="38" name="Rounded Rectangle 37"/>
          <p:cNvSpPr/>
          <p:nvPr/>
        </p:nvSpPr>
        <p:spPr>
          <a:xfrm>
            <a:off x="374904" y="4713389"/>
            <a:ext cx="11441887" cy="1452444"/>
          </a:xfrm>
          <a:prstGeom prst="roundRect">
            <a:avLst>
              <a:gd name="adj" fmla="val 20985"/>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4804829"/>
            <a:ext cx="5373471" cy="143137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Та же программа, что на кадре перед этим — устройство второго чтения на схеме ниже. Женщин распределяли жребием. </a:t>
            </a:r>
            <a:r>
              <a:rPr sz="1100" b="1" i="0">
                <a:solidFill>
                  <a:srgbClr val="21295C"/>
                </a:solidFill>
                <a:latin typeface="Arial"/>
              </a:rPr>
              <a:t>Это механика отбора:</a:t>
            </a:r>
            <a:r>
              <a:rPr sz="1100" b="0" i="0">
                <a:solidFill>
                  <a:srgbClr val="21295C"/>
                </a:solidFill>
                <a:latin typeface="Arial"/>
              </a:rPr>
              <a:t> заключение выдаёт человек, модель отбирает, кого прочтут дважды.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риск и очередь. </a:t>
            </a:r>
            <a:r>
              <a:rPr sz="1100" b="1" i="0">
                <a:solidFill>
                  <a:srgbClr val="21295C"/>
                </a:solidFill>
                <a:latin typeface="Arial"/>
              </a:rPr>
              <a:t>Имени нет</a:t>
            </a:r>
            <a:r>
              <a:rPr sz="1100" b="0" i="0">
                <a:solidFill>
                  <a:srgbClr val="21295C"/>
                </a:solidFill>
                <a:latin typeface="Arial"/>
              </a:rPr>
              <a:t>; режим — Transpara, Lunit INSIGHT MMG, iCAD ProFound. </a:t>
            </a:r>
            <a:r>
              <a:rPr sz="1100" b="0" i="1">
                <a:solidFill>
                  <a:srgbClr val="21295C"/>
                </a:solidFill>
                <a:latin typeface="Arial"/>
              </a:rPr>
              <a:t>Распознавание на изображении.</a:t>
            </a:r>
          </a:p>
        </p:txBody>
      </p:sp>
      <p:sp>
        <p:nvSpPr>
          <p:cNvPr id="40" name="TextBox 39"/>
          <p:cNvSpPr txBox="1"/>
          <p:nvPr/>
        </p:nvSpPr>
        <p:spPr>
          <a:xfrm>
            <a:off x="6278727" y="4804829"/>
            <a:ext cx="5373471" cy="143137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Второго независимого человека большинство не получает</a:t>
            </a:r>
            <a:r>
              <a:rPr sz="1100" b="0" i="0">
                <a:solidFill>
                  <a:srgbClr val="21295C"/>
                </a:solidFill>
                <a:latin typeface="Arial"/>
              </a:rPr>
              <a:t> — цена в устройстве процедуры, не в точности прибора.</a:t>
            </a:r>
          </a:p>
          <a:p>
            <a:pPr algn="l">
              <a:lnSpc>
                <a:spcPct val="126000"/>
              </a:lnSpc>
              <a:spcBef>
                <a:spcPts val="700"/>
              </a:spcBef>
            </a:pPr>
            <a:r>
              <a:rPr sz="1100" b="0" i="0">
                <a:solidFill>
                  <a:srgbClr val="21295C"/>
                </a:solidFill>
                <a:latin typeface="Arial"/>
              </a:rPr>
              <a:t/>
            </a:r>
            <a:r>
              <a:rPr sz="1100" b="1" i="0">
                <a:solidFill>
                  <a:srgbClr val="21295C"/>
                </a:solidFill>
                <a:latin typeface="Arial"/>
              </a:rPr>
              <a:t>Германия</a:t>
            </a:r>
            <a:r>
              <a:rPr sz="1100" b="0" i="0">
                <a:solidFill>
                  <a:srgbClr val="21295C"/>
                </a:solidFill>
                <a:latin typeface="Arial"/>
              </a:rPr>
              <a:t> сохранила двойное чтение, добавила модель — 6,7 против 5,7 на 1000 у 463 094 женщин, без жребия. «Внедрили модель» — разные процедуры. </a:t>
            </a:r>
            <a:r>
              <a:rPr sz="1100" b="1" i="0">
                <a:solidFill>
                  <a:srgbClr val="21295C"/>
                </a:solidFill>
                <a:latin typeface="Arial"/>
              </a:rPr>
              <a:t>Арбитраж и доверие находке — кадром следом.</a:t>
            </a:r>
          </a:p>
        </p:txBody>
      </p:sp>
      <p:sp>
        <p:nvSpPr>
          <p:cNvPr id="41" name="Rectangle 40"/>
          <p:cNvSpPr/>
          <p:nvPr/>
        </p:nvSpPr>
        <p:spPr>
          <a:xfrm>
            <a:off x="6091275" y="4804829"/>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Маммографический скрининг, продолжение: арбитраж и доверие находке модели</a:t>
            </a:r>
          </a:p>
        </p:txBody>
      </p:sp>
      <p:sp>
        <p:nvSpPr>
          <p:cNvPr id="4" name="Rounded Rectangle 3"/>
          <p:cNvSpPr/>
          <p:nvPr/>
        </p:nvSpPr>
        <p:spPr>
          <a:xfrm>
            <a:off x="502920" y="1335024"/>
            <a:ext cx="2673019"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ЧТЕНИЙ НА АРБИТРАЖ</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+142% / +22%</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центр 1: 3,9→9,4%; центр 2: 11,3→13,8%; 50 000 женщин, 2 центра NHS</a:t>
            </a:r>
          </a:p>
        </p:txBody>
      </p:sp>
      <p:sp>
        <p:nvSpPr>
          <p:cNvPr id="8" name="Rounded Rectangle 7"/>
          <p:cNvSpPr/>
          <p:nvPr/>
        </p:nvSpPr>
        <p:spPr>
          <a:xfrm>
            <a:off x="3340531" y="1335024"/>
            <a:ext cx="2673019"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чтений</a:t>
            </a:r>
          </a:p>
        </p:txBody>
      </p:sp>
      <p:sp>
        <p:nvSpPr>
          <p:cNvPr id="11" name="TextBox 10"/>
          <p:cNvSpPr txBox="1"/>
          <p:nvPr/>
        </p:nvSpPr>
        <p:spPr>
          <a:xfrm>
            <a:off x="3477691"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 чтение против 2 мин 12 с арбитраж; 441 276 случаев, Норвегия</a:t>
            </a:r>
          </a:p>
        </p:txBody>
      </p:sp>
      <p:sp>
        <p:nvSpPr>
          <p:cNvPr id="12" name="Rounded Rectangle 11"/>
          <p:cNvSpPr/>
          <p:nvPr/>
        </p:nvSpPr>
        <p:spPr>
          <a:xfrm>
            <a:off x="6178143" y="1335024"/>
            <a:ext cx="2673019"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PPV: ОДИН РАДИОЛОГ → ОДНА МОДЕЛЬ</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3,4% → 22%</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разбор уходит 14,2% находок радиолога против 4,6% находок модели</a:t>
            </a:r>
          </a:p>
        </p:txBody>
      </p:sp>
      <p:sp>
        <p:nvSpPr>
          <p:cNvPr id="16" name="Rounded Rectangle 15"/>
          <p:cNvSpPr/>
          <p:nvPr/>
        </p:nvSpPr>
        <p:spPr>
          <a:xfrm>
            <a:off x="9015755" y="1335024"/>
            <a:ext cx="2673019"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ЗАМЕНА ЧТЕНИЙ МОДЕЛЬЮ (ГЕРМАНИЯ)</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гипотетических 56,7% без замены; профинансировал производитель (Vara)</a:t>
            </a:r>
          </a:p>
        </p:txBody>
      </p:sp>
      <p:sp>
        <p:nvSpPr>
          <p:cNvPr id="20" name="TextBox 19"/>
          <p:cNvSpPr txBox="1"/>
          <p:nvPr/>
        </p:nvSpPr>
        <p:spPr>
          <a:xfrm>
            <a:off x="502920" y="335019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31361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35933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23" name="Right Arrow 22"/>
          <p:cNvSpPr/>
          <p:nvPr/>
        </p:nvSpPr>
        <p:spPr>
          <a:xfrm>
            <a:off x="5039258" y="348273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31361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35933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6" name="Right Arrow 25"/>
          <p:cNvSpPr/>
          <p:nvPr/>
        </p:nvSpPr>
        <p:spPr>
          <a:xfrm>
            <a:off x="8386876" y="3482732"/>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31361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35933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9" name="TextBox 28"/>
          <p:cNvSpPr txBox="1"/>
          <p:nvPr/>
        </p:nvSpPr>
        <p:spPr>
          <a:xfrm>
            <a:off x="502920" y="397188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0" name="Rounded Rectangle 29"/>
          <p:cNvSpPr/>
          <p:nvPr/>
        </p:nvSpPr>
        <p:spPr>
          <a:xfrm>
            <a:off x="1920240" y="3935313"/>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2002536" y="3981033"/>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32" name="Right Arrow 31"/>
          <p:cNvSpPr/>
          <p:nvPr/>
        </p:nvSpPr>
        <p:spPr>
          <a:xfrm>
            <a:off x="5039258" y="4104429"/>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393531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398103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5" name="Right Arrow 34"/>
          <p:cNvSpPr/>
          <p:nvPr/>
        </p:nvSpPr>
        <p:spPr>
          <a:xfrm>
            <a:off x="8386876" y="4104429"/>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393531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398103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8" name="Rounded Rectangle 37"/>
          <p:cNvSpPr/>
          <p:nvPr/>
        </p:nvSpPr>
        <p:spPr>
          <a:xfrm>
            <a:off x="374904" y="4502145"/>
            <a:ext cx="11441887" cy="1734062"/>
          </a:xfrm>
          <a:prstGeom prst="roundRect">
            <a:avLst>
              <a:gd name="adj" fmla="val 17577"/>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4593585"/>
            <a:ext cx="5373471" cy="1642622"/>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Британское испытание (2 центра NHS Англии) посчитало цену нового шага — устройство арбитража на схеме ниже.</a:t>
            </a:r>
            <a:r>
              <a:rPr sz="1250" b="0" i="0">
                <a:solidFill>
                  <a:srgbClr val="21295C"/>
                </a:solidFill>
                <a:latin typeface="Arial"/>
              </a:rPr>
              <a:t> Один разбор расхождения по времени стоит заметно больше, чем первичное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Доверие находке разведено не в ту сторону.</a:t>
            </a:r>
            <a:r>
              <a:rPr sz="1250" b="0" i="0">
                <a:solidFill>
                  <a:srgbClr val="21295C"/>
                </a:solidFill>
                <a:latin typeface="Arial"/>
              </a:rPr>
              <a:t> Находка радиолога уходит в разбор чаще находки модели — хотя модель точнее в разы. Другое измерение, не чувствительность с кадра перед этим.</a:t>
            </a:r>
          </a:p>
        </p:txBody>
      </p:sp>
      <p:sp>
        <p:nvSpPr>
          <p:cNvPr id="40" name="TextBox 39"/>
          <p:cNvSpPr txBox="1"/>
          <p:nvPr/>
        </p:nvSpPr>
        <p:spPr>
          <a:xfrm>
            <a:off x="6278727" y="4593585"/>
            <a:ext cx="5373471" cy="1642622"/>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Германия второго читателя не заменила вовсе</a:t>
            </a:r>
            <a:r>
              <a:rPr sz="1250" b="0" i="0">
                <a:solidFill>
                  <a:srgbClr val="21295C"/>
                </a:solidFill>
                <a:latin typeface="Arial"/>
              </a:rPr>
              <a:t> — модель работала внутри прежнего двойного чтения; пересчёт без замены дало исследование, которое профинансировал производитель.</a:t>
            </a:r>
          </a:p>
          <a:p>
            <a:pPr algn="l">
              <a:lnSpc>
                <a:spcPct val="126000"/>
              </a:lnSpc>
              <a:spcBef>
                <a:spcPts val="700"/>
              </a:spcBef>
            </a:pPr>
            <a:r>
              <a:rPr sz="1250" b="0" i="0">
                <a:solidFill>
                  <a:srgbClr val="21295C"/>
                </a:solidFill>
                <a:latin typeface="Arial"/>
              </a:rPr>
              <a:t/>
            </a:r>
            <a:r>
              <a:rPr sz="1250" b="1" i="0">
                <a:solidFill>
                  <a:srgbClr val="21295C"/>
                </a:solidFill>
                <a:latin typeface="Arial"/>
              </a:rPr>
              <a:t>Обучение, обновление и дрейф — источники не раскрывают ни для одной из двух моделей.</a:t>
            </a:r>
          </a:p>
        </p:txBody>
      </p:sp>
      <p:sp>
        <p:nvSpPr>
          <p:cNvPr id="41" name="Rectangle 40"/>
          <p:cNvSpPr/>
          <p:nvPr/>
        </p:nvSpPr>
        <p:spPr>
          <a:xfrm>
            <a:off x="6091275" y="4593585"/>
            <a:ext cx="9144" cy="1574205"/>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Warren и соавт., Nature Cancer 2026 (арбитраж NHS)</a:t>
            </a:r>
            <a:r>
              <a:rPr sz="1200" b="0" i="1">
                <a:solidFill>
                  <a:srgbClr val="1C7293"/>
                </a:solidFill>
                <a:latin typeface="Arial"/>
              </a:rPr>
              <a:t> · </a:t>
            </a:r>
            <a:r>
              <a:rPr sz="1200" b="0" i="1" u="sng">
                <a:solidFill>
                  <a:srgbClr val="065A82"/>
                </a:solidFill>
                <a:latin typeface="Arial"/>
                <a:hlinkClick r:id="rId3"/>
              </a:rPr>
              <a:t>Dembrower и соавт., ScreenTrustCAD, Radiology 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 ФУНТОВ</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TextBox 19"/>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73233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7805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 — звонок в практику</a:t>
            </a:r>
          </a:p>
        </p:txBody>
      </p:sp>
      <p:sp>
        <p:nvSpPr>
          <p:cNvPr id="23" name="Right Arrow 22"/>
          <p:cNvSpPr/>
          <p:nvPr/>
        </p:nvSpPr>
        <p:spPr>
          <a:xfrm>
            <a:off x="5039258" y="390144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73233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77805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 внутри практики</a:t>
            </a:r>
          </a:p>
        </p:txBody>
      </p:sp>
      <p:sp>
        <p:nvSpPr>
          <p:cNvPr id="26" name="Right Arrow 25"/>
          <p:cNvSpPr/>
          <p:nvPr/>
        </p:nvSpPr>
        <p:spPr>
          <a:xfrm>
            <a:off x="8386876" y="3901447"/>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73233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77805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сегодня или позже</a:t>
            </a:r>
          </a:p>
        </p:txBody>
      </p:sp>
      <p:sp>
        <p:nvSpPr>
          <p:cNvPr id="29" name="TextBox 28"/>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0" name="Rounded Rectangle 29"/>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 в приложении</a:t>
            </a:r>
          </a:p>
        </p:txBody>
      </p:sp>
      <p:sp>
        <p:nvSpPr>
          <p:cNvPr id="32" name="Right Arrow 31"/>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решает маршрут</a:t>
            </a:r>
          </a:p>
        </p:txBody>
      </p:sp>
      <p:sp>
        <p:nvSpPr>
          <p:cNvPr id="35" name="Right Arrow 34"/>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«Куда вам сейчас»</a:t>
            </a:r>
          </a:p>
        </p:txBody>
      </p:sp>
      <p:sp>
        <p:nvSpPr>
          <p:cNvPr id="38" name="Rounded Rectangle 37"/>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за случай.</a:t>
            </a:r>
            <a:r>
              <a:rPr sz="1050" b="0" i="0">
                <a:solidFill>
                  <a:srgbClr val="21295C"/>
                </a:solidFill>
                <a:latin typeface="Arial"/>
              </a:rPr>
              <a:t> Сервис первой линии в Англии — устройство на схеме ниже. Второй порядок — линия сортировки: </a:t>
            </a:r>
            <a:r>
              <a:rPr sz="1050" b="1" i="0">
                <a:solidFill>
                  <a:srgbClr val="21295C"/>
                </a:solidFill>
                <a:latin typeface="Arial"/>
              </a:rPr>
              <a:t>названа, без счёта</a:t>
            </a:r>
            <a:r>
              <a:rPr sz="1050" b="0" i="0">
                <a:solidFill>
                  <a:srgbClr val="21295C"/>
                </a:solidFill>
                <a:latin typeface="Arial"/>
              </a:rPr>
              <a:t>.</a:t>
            </a:r>
          </a:p>
          <a:p>
            <a:pPr algn="l">
              <a:lnSpc>
                <a:spcPct val="126000"/>
              </a:lnSpc>
              <a:spcBef>
                <a:spcPts val="700"/>
              </a:spcBef>
            </a:pPr>
            <a:r>
              <a:rPr sz="1050" b="0" i="0">
                <a:solidFill>
                  <a:srgbClr val="21295C"/>
                </a:solidFill>
                <a:latin typeface="Arial"/>
              </a:rPr>
              <a:t/>
            </a:r>
            <a:r>
              <a:rPr sz="1050" b="1" i="0">
                <a:solidFill>
                  <a:srgbClr val="21295C"/>
                </a:solidFill>
                <a:latin typeface="Arial"/>
              </a:rPr>
              <a:t>Цена обеих ошибок:</a:t>
            </a:r>
            <a:r>
              <a:rPr sz="1050" b="0" i="0">
                <a:solidFill>
                  <a:srgbClr val="21295C"/>
                </a:solidFill>
                <a:latin typeface="Arial"/>
              </a:rPr>
              <a:t> пропустить срочное · занять приём зря · и цена канала.</a:t>
            </a:r>
          </a:p>
          <a:p>
            <a:pPr algn="l">
              <a:lnSpc>
                <a:spcPct val="126000"/>
              </a:lnSpc>
              <a:spcBef>
                <a:spcPts val="700"/>
              </a:spcBef>
            </a:pPr>
            <a:r>
              <a:rPr sz="1050" b="0" i="0">
                <a:solidFill>
                  <a:srgbClr val="21295C"/>
                </a:solidFill>
                <a:latin typeface="Arial"/>
              </a:rPr>
              <a:t/>
            </a:r>
            <a:r>
              <a:rPr sz="1050" b="1" i="0">
                <a:solidFill>
                  <a:srgbClr val="21295C"/>
                </a:solidFill>
                <a:latin typeface="Arial"/>
              </a:rPr>
              <a:t>Экзамен: 81 у приложения, 72 у врачей</a:t>
            </a:r>
            <a:r>
              <a:rPr sz="1050" b="0" i="0">
                <a:solidFill>
                  <a:srgbClr val="21295C"/>
                </a:solidFill>
                <a:latin typeface="Arial"/>
              </a:rPr>
              <a:t> — обосновали выход в поток; качество сортировки не измерил никто.</a:t>
            </a:r>
          </a:p>
        </p:txBody>
      </p:sp>
      <p:sp>
        <p:nvSpPr>
          <p:cNvPr id="40" name="TextBox 39"/>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a:t>
            </a:r>
            <a:r>
              <a:rPr sz="1050" b="1" i="0">
                <a:solidFill>
                  <a:srgbClr val="21295C"/>
                </a:solidFill>
                <a:latin typeface="Arial"/>
              </a:rPr>
              <a:t>Babylon</a:t>
            </a:r>
            <a:r>
              <a:rPr sz="1050" b="0" i="0">
                <a:solidFill>
                  <a:srgbClr val="21295C"/>
                </a:solidFill>
                <a:latin typeface="Arial"/>
              </a:rPr>
              <a:t>, </a:t>
            </a:r>
            <a:r>
              <a:rPr sz="1050" b="1" i="0">
                <a:solidFill>
                  <a:srgbClr val="21295C"/>
                </a:solidFill>
                <a:latin typeface="Arial"/>
              </a:rPr>
              <a:t>«GP at Hand»</a:t>
            </a:r>
            <a:r>
              <a:rPr sz="1050" b="0" i="0">
                <a:solidFill>
                  <a:srgbClr val="21295C"/>
                </a:solidFill>
                <a:latin typeface="Arial"/>
              </a:rPr>
              <a:t>: </a:t>
            </a:r>
            <a:r>
              <a:rPr sz="1050" b="1" i="0">
                <a:solidFill>
                  <a:srgbClr val="21295C"/>
                </a:solidFill>
                <a:latin typeface="Arial"/>
              </a:rPr>
              <a:t>обучать нечему — дерево «если — то»</a:t>
            </a:r>
            <a:r>
              <a:rPr sz="1050" b="0" i="0">
                <a:solidFill>
                  <a:srgbClr val="21295C"/>
                </a:solidFill>
                <a:latin typeface="Arial"/>
              </a:rPr>
              <a:t>, слова участника, не аудит. </a:t>
            </a:r>
            <a:r>
              <a:rPr sz="1050" b="1" i="0">
                <a:solidFill>
                  <a:srgbClr val="21295C"/>
                </a:solidFill>
                <a:latin typeface="Arial"/>
              </a:rPr>
              <a:t>Публикация — кадром следом.</a:t>
            </a:r>
            <a:r>
              <a:rPr sz="1050" b="0" i="0">
                <a:solidFill>
                  <a:srgbClr val="21295C"/>
                </a:solidFill>
                <a:latin typeface="Arial"/>
              </a:rPr>
              <a:t> </a:t>
            </a:r>
            <a:r>
              <a:rPr sz="1050" b="0" i="1">
                <a:solidFill>
                  <a:srgbClr val="21295C"/>
                </a:solidFill>
                <a:latin typeface="Arial"/>
              </a:rPr>
              <a:t>Поиск с генерацией на тексте.</a:t>
            </a:r>
          </a:p>
          <a:p>
            <a:pPr algn="l">
              <a:lnSpc>
                <a:spcPct val="126000"/>
              </a:lnSpc>
              <a:spcBef>
                <a:spcPts val="700"/>
              </a:spcBef>
            </a:pPr>
            <a:r>
              <a:rPr sz="1050" b="0" i="0">
                <a:solidFill>
                  <a:srgbClr val="21295C"/>
                </a:solidFill>
                <a:latin typeface="Arial"/>
              </a:rPr>
              <a:t/>
            </a:r>
            <a:r>
              <a:rPr sz="1050" b="1" i="0">
                <a:solidFill>
                  <a:srgbClr val="21295C"/>
                </a:solidFill>
                <a:latin typeface="Arial"/>
              </a:rPr>
              <a:t>дало</a:t>
            </a:r>
            <a:r>
              <a:rPr sz="1050" b="0" i="0">
                <a:solidFill>
                  <a:srgbClr val="21295C"/>
                </a:solidFill>
                <a:latin typeface="Arial"/>
              </a:rPr>
              <a:t> сортировку круглосуточно · </a:t>
            </a:r>
            <a:r>
              <a:rPr sz="1050" b="1" i="0">
                <a:solidFill>
                  <a:srgbClr val="21295C"/>
                </a:solidFill>
                <a:latin typeface="Arial"/>
              </a:rPr>
              <a:t>потребовало</a:t>
            </a:r>
            <a:r>
              <a:rPr sz="1050" b="0" i="0">
                <a:solidFill>
                  <a:srgbClr val="21295C"/>
                </a:solidFill>
                <a:latin typeface="Arial"/>
              </a:rPr>
              <a:t> минус на пациенте · </a:t>
            </a:r>
            <a:r>
              <a:rPr sz="1050" b="1" i="0">
                <a:solidFill>
                  <a:srgbClr val="21295C"/>
                </a:solidFill>
                <a:latin typeface="Arial"/>
              </a:rPr>
              <a:t>хуже</a:t>
            </a:r>
            <a:r>
              <a:rPr sz="1050" b="0" i="0">
                <a:solidFill>
                  <a:srgbClr val="21295C"/>
                </a:solidFill>
                <a:latin typeface="Arial"/>
              </a:rPr>
              <a:t>: банкротство 2023. </a:t>
            </a:r>
            <a:r>
              <a:rPr sz="1050" b="1" i="0">
                <a:solidFill>
                  <a:srgbClr val="21295C"/>
                </a:solidFill>
                <a:latin typeface="Arial"/>
              </a:rPr>
              <a:t>Итог:</a:t>
            </a:r>
            <a:r>
              <a:rPr sz="1050" b="0" i="0">
                <a:solidFill>
                  <a:srgbClr val="21295C"/>
                </a:solidFill>
                <a:latin typeface="Arial"/>
              </a:rPr>
              <a:t> сортировка словами с тех пор на месте</a:t>
            </a:r>
          </a:p>
        </p:txBody>
      </p:sp>
      <p:sp>
        <p:nvSpPr>
          <p:cNvPr id="41" name="Rectangle 40"/>
          <p:cNvSpPr/>
          <p:nvPr/>
        </p:nvSpPr>
        <p:spPr>
          <a:xfrm>
            <a:off x="6091275" y="5012300"/>
            <a:ext cx="9144" cy="121751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1, Babylon «GP at Hand»: граф вероятностей и правила для красных флагов</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скорая · неотложная помощь · срочный визит к врачу · визит без срочности · аптека · самопомощь</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 нейросеть внутри графа только считает быстрее</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5373471"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Чат-бот триажа первой линии Babylon («GP at Hand»): что опубликовала сама компания.</a:t>
            </a:r>
            <a:r>
              <a:rPr sz="1450" b="0" i="0">
                <a:solidFill>
                  <a:srgbClr val="21295C"/>
                </a:solidFill>
                <a:latin typeface="Arial"/>
              </a:rPr>
              <a:t> Публикация 2016 года — разряд выше слов участника, но не аудит: граф строят врачи-эксперты, поверх — правила для красных флагов (устройство на схеме ниже).</a:t>
            </a:r>
          </a:p>
        </p:txBody>
      </p:sp>
      <p:sp>
        <p:nvSpPr>
          <p:cNvPr id="29" name="TextBox 28"/>
          <p:cNvSpPr txBox="1"/>
          <p:nvPr/>
        </p:nvSpPr>
        <p:spPr>
          <a:xfrm>
            <a:off x="6278727" y="4686745"/>
            <a:ext cx="5373471"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Системного дизайна обученной модели, принимающей решение, не было вовсе</a:t>
            </a:r>
            <a:r>
              <a:rPr sz="1450" b="0" i="0">
                <a:solidFill>
                  <a:srgbClr val="21295C"/>
                </a:solidFill>
                <a:latin typeface="Arial"/>
              </a:rPr>
              <a:t> — нейросеть лишь считает быстрее по графу.</a:t>
            </a:r>
          </a:p>
          <a:p>
            <a:pPr algn="l">
              <a:lnSpc>
                <a:spcPct val="126000"/>
              </a:lnSpc>
              <a:spcBef>
                <a:spcPts val="700"/>
              </a:spcBef>
            </a:pPr>
            <a:r>
              <a:rPr sz="1450" b="0" i="0">
                <a:solidFill>
                  <a:srgbClr val="21295C"/>
                </a:solidFill>
                <a:latin typeface="Arial"/>
              </a:rPr>
              <a:t/>
            </a:r>
            <a:r>
              <a:rPr sz="1450" b="1" i="0">
                <a:solidFill>
                  <a:srgbClr val="21295C"/>
                </a:solidFill>
                <a:latin typeface="Arial"/>
              </a:rPr>
              <a:t>Контур обратной связи назван пробелом.</a:t>
            </a:r>
            <a:r>
              <a:rPr sz="1450" b="0" i="0">
                <a:solidFill>
                  <a:srgbClr val="21295C"/>
                </a:solidFill>
                <a:latin typeface="Arial"/>
              </a:rPr>
              <a:t> Кто и как часто переписывает правила после ошибки, источники не называют.</a:t>
            </a:r>
          </a:p>
        </p:txBody>
      </p:sp>
      <p:sp>
        <p:nvSpPr>
          <p:cNvPr id="30" name="Rectangle 29"/>
          <p:cNvSpPr/>
          <p:nvPr/>
        </p:nvSpPr>
        <p:spPr>
          <a:xfrm>
            <a:off x="6091275" y="4686745"/>
            <a:ext cx="9144" cy="1524695"/>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Butt, Hammerla, Hamblin, Mehta, Parsa — arXiv:1606.02041, 2016 (техническая публикация компании)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2: целевой скрининг осложнения у диабетиков,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за случай.</a:t>
            </a:r>
            <a:r>
              <a:rPr sz="1200" b="0" i="0">
                <a:solidFill>
                  <a:srgbClr val="21295C"/>
                </a:solidFill>
                <a:latin typeface="Arial"/>
              </a:rPr>
              <a:t> Подростки 8–21 года с уже поставленным диабетом: раз в год — целевой скрининг осложнения (ретинопатии), не скрининг диабета у здоровых; сами авторы называют протокол screening. </a:t>
            </a:r>
            <a:r>
              <a:rPr sz="120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200" b="0" i="0">
                <a:solidFill>
                  <a:srgbClr val="21295C"/>
                </a:solidFill>
                <a:latin typeface="Arial"/>
              </a:rPr>
              <a:t/>
            </a:r>
            <a:r>
              <a:rPr sz="1200" b="1" i="0">
                <a:solidFill>
                  <a:srgbClr val="21295C"/>
                </a:solidFill>
                <a:latin typeface="Arial"/>
              </a:rPr>
              <a:t>Цена обеих ошибок:</a:t>
            </a:r>
            <a:r>
              <a:rPr sz="12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вход — два снимка глазного дна, выход — один из трёх исходов: направить к офтальмологу; отрицательный результат с повтором через 12 месяцев; снимок недостаточного качества — отдельный отказ судить, не находка и не её отсутствие. </a:t>
            </a:r>
            <a:r>
              <a:rPr sz="1200" b="1" i="0">
                <a:solidFill>
                  <a:srgbClr val="21295C"/>
                </a:solidFill>
                <a:latin typeface="Arial"/>
              </a:rPr>
              <a:t>Прибор испытания не назван</a:t>
            </a:r>
            <a:r>
              <a:rPr sz="1200" b="0" i="0">
                <a:solidFill>
                  <a:srgbClr val="21295C"/>
                </a:solidFill>
                <a:latin typeface="Arial"/>
              </a:rPr>
              <a:t>; режим допущен первым в 2018-м — IDx-DR, ныне LumineticsCore. </a:t>
            </a:r>
            <a:r>
              <a:rPr sz="12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стоило — на кадре следом.</a:t>
            </a:r>
          </a:p>
        </p:txBody>
      </p:sp>
      <p:sp>
        <p:nvSpPr>
          <p:cNvPr id="34" name="Rectangle 33"/>
          <p:cNvSpPr/>
          <p:nvPr/>
        </p:nvSpPr>
        <p:spPr>
          <a:xfrm>
            <a:off x="6091275" y="4418918"/>
            <a:ext cx="9144" cy="1752442"/>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422731"/>
          </a:xfrm>
          <a:prstGeom prst="roundRect">
            <a:avLst>
              <a:gd name="adj" fmla="val 890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по этой паре</a:t>
            </a:r>
            <a:r>
              <a:rPr sz="1500" b="0" i="0">
                <a:solidFill>
                  <a:srgbClr val="21295C"/>
                </a:solidFill>
                <a:latin typeface="Arial"/>
              </a:rPr>
              <a:t>: доступ ценой отказного потока. </a:t>
            </a:r>
            <a:r>
              <a:rPr sz="1500" b="1" i="0">
                <a:solidFill>
                  <a:srgbClr val="21295C"/>
                </a:solidFill>
                <a:latin typeface="Arial"/>
              </a:rPr>
              <a:t>Чему обучена сама система и что показало отдельное измерение на новой выборке — кадром следом.</a:t>
            </a:r>
          </a:p>
        </p:txBody>
      </p:sp>
      <p:sp>
        <p:nvSpPr>
          <p:cNvPr id="15" name="Rectangle 14"/>
          <p:cNvSpPr/>
          <p:nvPr/>
        </p:nvSpPr>
        <p:spPr>
          <a:xfrm>
            <a:off x="6091275" y="2894901"/>
            <a:ext cx="9144" cy="31484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2, глазное дно (IDx-DR): обучение, обновление и другая популяция</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(ГЕРМАНСКИЙ СТАЦИОНАР)</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26,1 из ста</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2026, тот же прибор — другая популяция, не целевое первичное звено США</a:t>
            </a:r>
          </a:p>
        </p:txBody>
      </p:sp>
      <p:sp>
        <p:nvSpPr>
          <p:cNvPr id="8" name="Rounded Rectangle 7"/>
          <p:cNvSpPr/>
          <p:nvPr/>
        </p:nvSpPr>
        <p:spPr>
          <a:xfrm>
            <a:off x="4286402"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94,4% → 60,9%</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прибор, что дал пивотальные 87,2/90,7%; падает с тяжестью болезни, не с возрастом прибора</a:t>
            </a:r>
          </a:p>
        </p:txBody>
      </p:sp>
      <p:sp>
        <p:nvSpPr>
          <p:cNvPr id="12" name="Rounded Rectangle 11"/>
          <p:cNvSpPr/>
          <p:nvPr/>
        </p:nvSpPr>
        <p:spPr>
          <a:xfrm>
            <a:off x="8069884"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ДЕНЬ 1 → ДЕНЬ 4 ПРАКТИКИ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46,9% → 0%</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 та же германская выборка — эффект обучения, не изменение алгоритма</a:t>
            </a:r>
          </a:p>
        </p:txBody>
      </p:sp>
      <p:sp>
        <p:nvSpPr>
          <p:cNvPr id="16" name="TextBox 15"/>
          <p:cNvSpPr txBox="1"/>
          <p:nvPr/>
        </p:nvSpPr>
        <p:spPr>
          <a:xfrm>
            <a:off x="502920" y="335019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331361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5933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Выборка — кадром раньше</a:t>
            </a:r>
          </a:p>
        </p:txBody>
      </p:sp>
      <p:sp>
        <p:nvSpPr>
          <p:cNvPr id="19" name="Right Arrow 18"/>
          <p:cNvSpPr/>
          <p:nvPr/>
        </p:nvSpPr>
        <p:spPr>
          <a:xfrm>
            <a:off x="5039258" y="360155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31361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5933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60155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31361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5933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FDA, 2018</a:t>
            </a:r>
          </a:p>
        </p:txBody>
      </p:sp>
      <p:sp>
        <p:nvSpPr>
          <p:cNvPr id="25" name="TextBox 24"/>
          <p:cNvSpPr txBox="1"/>
          <p:nvPr/>
        </p:nvSpPr>
        <p:spPr>
          <a:xfrm>
            <a:off x="502920" y="420953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417296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21868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 и оператор</a:t>
            </a:r>
          </a:p>
        </p:txBody>
      </p:sp>
      <p:sp>
        <p:nvSpPr>
          <p:cNvPr id="28" name="Right Arrow 27"/>
          <p:cNvSpPr/>
          <p:nvPr/>
        </p:nvSpPr>
        <p:spPr>
          <a:xfrm>
            <a:off x="5039258" y="44609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7296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21868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Чувствительность и брак меняются</a:t>
            </a:r>
          </a:p>
        </p:txBody>
      </p:sp>
      <p:sp>
        <p:nvSpPr>
          <p:cNvPr id="31" name="Right Arrow 30"/>
          <p:cNvSpPr/>
          <p:nvPr/>
        </p:nvSpPr>
        <p:spPr>
          <a:xfrm>
            <a:off x="8386876" y="4460902"/>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7296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21868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977443"/>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68883"/>
            <a:ext cx="11112703" cy="11673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Диабетическая ретинопатия, IDx-DR — продолжение разбора глазного дна.</a:t>
            </a:r>
            <a:r>
              <a:rPr sz="1500" b="0" i="0">
                <a:solidFill>
                  <a:srgbClr val="21295C"/>
                </a:solidFill>
                <a:latin typeface="Arial"/>
              </a:rPr>
              <a:t> Германская выборка — другая популяция, не дрейф во времени; путь к допуску и после — на схеме.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Чувствительность и брак снимков — два разных эффекта</a:t>
            </a:r>
            <a:r>
              <a:rPr sz="1500" b="0" i="0">
                <a:solidFill>
                  <a:srgbClr val="21295C"/>
                </a:solidFill>
                <a:latin typeface="Arial"/>
              </a:rPr>
              <a:t>, не один: тяжесть болезни против навыка держать камеру.</a:t>
            </a:r>
          </a:p>
        </p:txBody>
      </p:sp>
      <p:sp>
        <p:nvSpPr>
          <p:cNvPr id="36" name="Rectangle 3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Scientific Reports / PMC12864748, германское исследование IDx-DR, 2026</a:t>
            </a:r>
            <a:r>
              <a:rPr sz="1200" b="0" i="1">
                <a:solidFill>
                  <a:srgbClr val="1C7293"/>
                </a:solidFill>
                <a:latin typeface="Arial"/>
              </a:rPr>
              <a:t> · </a:t>
            </a:r>
            <a:r>
              <a:rPr sz="1200" b="0" i="1" u="sng">
                <a:solidFill>
                  <a:srgbClr val="065A82"/>
                </a:solidFill>
                <a:latin typeface="Arial"/>
                <a:hlinkClick r:id="rId3"/>
              </a:rPr>
              <a:t>FDA 510(k) K213037, accessdata.fda.gov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три места, где провалилось не чтение</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вход сдвинулся</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 и один случай сверх них.</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 устройство процедуры: инструмент тот же, а исходы противоположные. На непрерывном наблюдении сдвинулось распределение входов, а порог остался прежним.</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