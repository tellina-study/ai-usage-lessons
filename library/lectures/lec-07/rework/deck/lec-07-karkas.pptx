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www.england.nhs.uk/rightcare/wp-content/uploads/sites/2/2024/11/DID-Annual-Statistical-Release-2023-24.pdf" TargetMode="External"/><Relationship Id="rId4" Type="http://schemas.openxmlformats.org/officeDocument/2006/relationships/hyperlink" Target="https://www.gov.uk/government/news/ai-to-speed-up-cancer-diagnosis-for-millions-of-nhs-patients" TargetMode="External"/><Relationship Id="rId5" Type="http://schemas.openxmlformats.org/officeDocument/2006/relationships/hyperlink" Target="https://doi.org/10.17816/DD641703"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rg.ru/documents/2014/04/23/minzdrav-dok.html" TargetMode="External"/><Relationship Id="rId5" Type="http://schemas.openxmlformats.org/officeDocument/2006/relationships/hyperlink" Target="https://polimertest.ru/gallery/gallery-Prikaz_ot_30_08_21_N_885n_.pdf" TargetMode="External"/><Relationship Id="rId6" Type="http://schemas.openxmlformats.org/officeDocument/2006/relationships/hyperlink" Target="https://pravo.ppt.ru/kodeks/nk/st-333.32.2" TargetMode="External"/><Relationship Id="rId7" Type="http://schemas.openxmlformats.org/officeDocument/2006/relationships/hyperlink" Target="https://www.fda.gov/media/158308/download" TargetMode="External"/><Relationship Id="rId8" Type="http://schemas.openxmlformats.org/officeDocument/2006/relationships/hyperlink" Target="https://www.etnews.com/20260410000195" TargetMode="External"/><Relationship Id="rId9" Type="http://schemas.openxmlformats.org/officeDocument/2006/relationships/hyperlink" Target="https://www.dataeconomy.co.kr/news/articleView.html?idxno=42899" TargetMode="External"/><Relationship Id="rId10" Type="http://schemas.openxmlformats.org/officeDocument/2006/relationships/hyperlink" Target="https://medinform.jmir.org/2026/1/e85538" TargetMode="External"/><Relationship Id="rId11"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www.etnews.com/20260410000195" TargetMode="External"/><Relationship Id="rId5" Type="http://schemas.openxmlformats.org/officeDocument/2006/relationships/hyperlink" Target="https://www.dataeconomy.co.kr/news/articleView.html?idxno=42899" TargetMode="External"/><Relationship Id="rId6" Type="http://schemas.openxmlformats.org/officeDocument/2006/relationships/hyperlink" Target="https://medinform.jmir.org/2026/1/e85538" TargetMode="External"/><Relationship Id="rId7" Type="http://schemas.openxmlformats.org/officeDocument/2006/relationships/hyperlink" Target="https://www.jfmda.gr.jp/wp/wp-content/uploads/2026/01/Final-Study-Report-for-Review-of-SaMD-utilizing-AI_English.pdf" TargetMode="External"/><Relationship Id="rId8" Type="http://schemas.openxmlformats.org/officeDocument/2006/relationships/hyperlink" Target="https://webiomed.ru/novosti/sistema-webiomed-stala-pervoi-rossiiskoi-razrabotkoi-v-oblasti-iskusstvennogo-intellekta/"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hyperlink" Target="https://github.com/tellina-study/AI-usage-lessons/blob/main/library/lectures/lec-07/rework/research/16-doverie-patsienta-k-modeli.md"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arxiv.org/pdf/1606.02041"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www.accessdata.fda.gov/cdrh_docs/pdf18/DEN180001.pdf"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3390/diagnostics15070822"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3390/diagnostics15070822"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38/s42256-021-00307-0"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arxiv.org/abs/1711.05225"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7816/DD641703"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7816/DD641703"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7816/DD641703"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3390/jcm1416570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26/sciadv.abq614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26/science.aax2342"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56/NEJMc2029240"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j.jelectrocard.2018.08.007"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www.ijcai.org/proceedings/2025/1098.pdf"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www.ijcai.org/proceedings/2025/1098.pdf"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internmed.2017.1548"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doi.org/10.4338/ACI-2016-09-R-0150" TargetMode="External"/><Relationship Id="rId4" Type="http://schemas.openxmlformats.org/officeDocument/2006/relationships/hyperlink" Target="https://doi.org/10.1001/jamanetworkopen.2022.33348"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 Id="rId5" Type="http://schemas.openxmlformats.org/officeDocument/2006/relationships/hyperlink" Target="https://doi.org/10.7326/M18-0139" TargetMode="External"/><Relationship Id="rId6" Type="http://schemas.openxmlformats.org/officeDocument/2006/relationships/hyperlink" Target="https://www.epicresearch.org/articles/two-years-after-coding-changes-sought-to-decrease-documentation-notes-remain-bloated/" TargetMode="External"/><Relationship Id="rId7" Type="http://schemas.openxmlformats.org/officeDocument/2006/relationships/hyperlink" Target="https://www.consultant.ru/document/cons_doc_LAW_429359/"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16/j.gie.2014.07.05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16/j.gie.2014.07.05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33878/2073-7556-2025-24-3-12-21"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38/s43018-026-01128-z" TargetMode="External"/><Relationship Id="rId5" Type="http://schemas.openxmlformats.org/officeDocument/2006/relationships/hyperlink" Target="https://doi.org/10.1007/s00330-025-12273-x" TargetMode="External"/><Relationship Id="rId6" Type="http://schemas.openxmlformats.org/officeDocument/2006/relationships/hyperlink" Target="https://doi.org/10.1001/jamainternmed.2021.2626" TargetMode="External"/><Relationship Id="rId7" Type="http://schemas.openxmlformats.org/officeDocument/2006/relationships/hyperlink" Target="https://doi.org/10.1148/radiol.252590" TargetMode="External"/><Relationship Id="rId8" Type="http://schemas.openxmlformats.org/officeDocument/2006/relationships/hyperlink" Target="https://doi.org/10.1148/radiol.243688" TargetMode="External"/><Relationship Id="rId9" Type="http://schemas.openxmlformats.org/officeDocument/2006/relationships/hyperlink" Target="https://doi.org/10.1038/s41467-023-44676-z" TargetMode="External"/><Relationship Id="rId10" Type="http://schemas.openxmlformats.org/officeDocument/2006/relationships/hyperlink" Target="https://doi.org/10.1016/S1470-2045%2823%2900298-X" TargetMode="External"/><Relationship Id="rId11" Type="http://schemas.openxmlformats.org/officeDocument/2006/relationships/hyperlink" Target="https://doi.org/10.1126/sciadv.abq6147" TargetMode="External"/><Relationship Id="rId12" Type="http://schemas.openxmlformats.org/officeDocument/2006/relationships/hyperlink" Target="https://doi.org/10.1126/science.aax2342" TargetMode="External"/><Relationship Id="rId13" Type="http://schemas.openxmlformats.org/officeDocument/2006/relationships/hyperlink" Target="https://doi.org/10.1016/S2468-1253%2825%2900133-5" TargetMode="External"/><Relationship Id="rId14" Type="http://schemas.openxmlformats.org/officeDocument/2006/relationships/hyperlink" Target="https://pubmed.ncbi.nlm.nih.gov/37314698/" TargetMode="External"/><Relationship Id="rId15" Type="http://schemas.openxmlformats.org/officeDocument/2006/relationships/hyperlink" Target="https://doi.org/10.33878/2073-7556-2025-24-3-12-21"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doi.org/10.1016/S0140-6736%2825%2902464-X"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2967/jnumed.126.272292"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hyperlink" Target="https://doi.org/10.1001/jamanetworkopen.2025.42338"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doi.org/10.1001/jamahealthforum.2025.3172"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число вечера, и стоит оно здесь не чтобы впечатлить, а чтобы снять вопрос «а это вообще уже происходит». Происходит. В Англии за год, закончившийся в марте 2024 года, выполнено 8 194 405 рентгенограмм грудной клетки — по всем направлениям, не только по онкологическим подозрениям. Обученная модель прочитала из этого потока около 2,8 миллиона снимков. Иначе говоря, примерно каждый третий снимок грудной клетки в стране открывает сначала не человек.</a:t>
            </a:r>
          </a:p>
          <a:p>
            <a:r>
              <a:t/>
            </a:r>
          </a:p>
          <a:p>
            <a:r>
              <a:t>Числитель и знаменатель приходят из разных рук, и это стоит знать прежде, чем произносить долю. 8,19 миллиона — официальная статистика службы здравоохранения, годовой отчёт по диагностической визуализации, таблица с опубликованной методикой счёта. 2,8 миллиона называет разработчик инструмента. Государство своего числителя не даёт вовсе: оно говорит о другом — инструмент работает примерно в половине трастов Англии, и четыре миллиона человек получили быстрее либо диагноз, либо снятие подозрения.</a:t>
            </a:r>
          </a:p>
          <a:p>
            <a:r>
              <a:t/>
            </a:r>
          </a:p>
          <a:p>
            <a:r>
              <a:t>И у самого знаменателя есть вторая официальная версия. Правительственное сообщение о том же самом развёртывании называет «свыше семи миллионов рентгенограмм грудной клетки в год». Расхождение между двумя государственными числами — больше миллиона снимков, и доля от этого ходит между тридцатью четырьмя и сорока из ста. На кадре стоит та пара, у которой знаменатель опубликован таблицей; вторую я называю вслух, потому что зал имеет право знать, что официальных знаменателей два. Подробнее эти две базы разобраны в разговоре об инструментальной диагностике — там же про то, почему доля трастов и доля снимков совпадать не обязаны: траст может быть подключён и присылать малую часть своего потока.</a:t>
            </a:r>
          </a:p>
          <a:p>
            <a:r>
              <a:t/>
            </a:r>
          </a:p>
          <a:p>
            <a:r>
              <a:t>Дальше весь вечер идёт об одном: что в этой картине делает человек. Снимок прочитан, и прочитан не им. Вопрос не в том, точна ли модель — на него в каждом разборе будет своё число со своей базой. Вопрос в том, что происходит с процедурой, которая до сих пор удерживала цену ошибки: с двойным чтением снимка двумя независимыми, со вторым мнением коллеги, с арбитражем на расхождении, с подписью под заключением, с разбором случая после исхода. Ни одно из этих устройств не придумано ради машинного чтения и не придумано против него; все они существуют потому, что один человек ошибается, и процедура знает это заранее.</a:t>
            </a:r>
          </a:p>
          <a:p>
            <a:r>
              <a:t/>
            </a:r>
          </a:p>
          <a:p>
            <a:r>
              <a:t>Одно предупреждение, которое лучше произнести здесь, чем оправдываться к концу. Большое число само по себе не говорит ни о пользе, ни о вреде. Два с лишним миллиона прочитанных снимков — это не «модель спасла два миллиона человек» и не «два миллиона человек остались без врача». Это объём, и только объём. Что именно изменилось у врача, у пациента и у отделения, объём не сообщает — он сообщает, что отвечать на этот вопрос пора.</a:t>
            </a:r>
          </a:p>
          <a:p>
            <a:r>
              <a:t/>
            </a:r>
          </a:p>
          <a:p>
            <a:r>
              <a:t>Россия в той же картине, и её числа стоит назвать рядом. Московские сервисы лучевой диагностики накопленным итогом разобрали больше восемнадцати миллионов исследований, около 1,4 миллиона в месяц, и примерно восемьдесят процентов из них приходят из регионов. Доли от всероссийского потока здесь нет ни у кого: числа снимков в год по стране не публикует никто, а оценка «около четверти» ходит по сообщениям должностных лиц без знаменателя. Оценка от несуществующего знаменателя не оценка, поэтому первой на кадре стоит Англия: у неё в наличии обе половины дроби.</a:t>
            </a:r>
          </a:p>
          <a:p>
            <a:r>
              <a:t/>
            </a:r>
          </a:p>
          <a:p>
            <a:r>
              <a:t>Если зал спросит про Соединённые Штаты — числа этого вида там не публикуют совсем. Публикуют две другие величины: сколько изделий с обученной моделью допущено за всю историю и какая доля врачей говорит, что моделью пользуется. Обе к доле прочитанного потока отношения не имеют, и складывать их с английской долей нельзя.</a:t>
            </a:r>
          </a:p>
          <a:p>
            <a:r>
              <a:t/>
            </a:r>
          </a:p>
          <a:p>
            <a:r>
              <a:t>Что унести с этого кадра: отрасль уже живёт так. Вопрос вечера — не «придёт ли модель», а что теперь делает человек и кто это измерял.</a:t>
            </a:r>
          </a:p>
          <a:p>
            <a:r>
              <a:t/>
            </a:r>
          </a:p>
          <a:p>
            <a:r>
              <a:t>**Источники.** </a:t>
            </a:r>
            <a:r>
              <a:rPr u="sng">
                <a:solidFill>
                  <a:srgbClr val="065A82"/>
                </a:solidFill>
                <a:hlinkClick r:id="rId3"/>
              </a:rPr>
              <a:t>NHS England, Diagnostic Imaging Dataset Annual Statistical Release 2023/24, таблица 6</a:t>
            </a:r>
            <a:r>
              <a:t> · </a:t>
            </a:r>
            <a:r>
              <a:rPr u="sng">
                <a:solidFill>
                  <a:srgbClr val="065A82"/>
                </a:solidFill>
                <a:hlinkClick r:id="rId4"/>
              </a:rPr>
              <a:t>сообщение правительства Великобритании, 10.06.2026</a:t>
            </a:r>
            <a:r>
              <a:t> · </a:t>
            </a:r>
            <a:r>
              <a:rPr u="sng">
                <a:solidFill>
                  <a:srgbClr val="065A82"/>
                </a:solidFill>
                <a:hlinkClick r:id="rId5"/>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a:t>
            </a:r>
          </a:p>
          <a:p>
            <a:r>
              <a:t/>
            </a:r>
          </a:p>
          <a:p>
            <a:r>
              <a:t>Начнём с американской стороны, потому что через неё прошло больше изделий с машинным обучением, чем через любую другую. Изделия разделены там на три класса по риску для человека; класс присвоен типу изделия и он же определяет обязательный порядок допуска — путь выбран задолго до того, как разработчик написал первую строку. Короткой дорогой производитель не доказывает безопасность и эффективность с нуля: он доказывает, что его изделие существенно похоже на уже легально продающееся. Сравнивают назначение и технические характеристики, иногда стендовые данные, изредка минимальные клинические; проспективных испытаний этот путь почти никогда не требует, и долгосрочного исхода у человека тоже. Полный цикл требует собственных клинических данных и полного досье производства, у значимых заявок — ещё и публичного заседания внешней панели.</a:t>
            </a:r>
          </a:p>
          <a:p>
            <a:r>
              <a:t/>
            </a:r>
          </a:p>
          <a:p>
            <a:r>
              <a:t>Российский порядок устроен иначе на обоих концах. Классов четыре, и назначаются они по длительности применения и инвазивности, а не по назначению: два изделия одного назначения могут получить разные классы. Токсикологические исследования обязательны при всех классах, включая первый. Клинические испытания бывают в двух формах, и это место стоит прочесть по тексту приказа: испытания с участием человека нужны, когда изделие нового вида, когда применены новые сложные или уникальные методы и когда анализ клинических данных эффективность и безопасность не подтвердил.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И последняя ступень, которой у короткого американского пути нет совсем: государственная экспертиза качества, эффективности и безопасности, по заданию надзорной службы, а не по заявлению производителя. Основание регистрации сформулировано через союз «и»: результаты испытаний и экспертиза.</a:t>
            </a:r>
          </a:p>
          <a:p>
            <a:r>
              <a:t/>
            </a:r>
          </a:p>
          <a:p>
            <a:r>
              <a:t>Цена вопроса в деньгах. За рассмотрение по короткому пути в США заявитель платит 26 067 долларов, за полный цикл — 579 272. Российская пошлина за экспертизу привязана к классу: от 72 до 184 тысяч рублей плюс 11 тысяч за выдачу удостоверения. Сумма на кадре, от 0,6 до 3 миллионов, — не пошлина, а полная стоимость регистрации «под ключ»: оценка регистраторов-посредников, в которую пошлина входит лишь частью, остальное — лаборатория, токсикологи и подготовка досье.</a:t>
            </a:r>
          </a:p>
          <a:p>
            <a:r>
              <a:t/>
            </a:r>
          </a:p>
          <a:p>
            <a:r>
              <a:t>Теперь счёт изделий, и числа сняты с таблицы регулятора прямым чтением страницы, а не из отраслевой сводки: сводки по этому предмету расходятся между собой на сотни изделий. В списке на 17 октября 2026 года — 1 614 изделий с обученной моделью, и все доли дальше считаны от этого числа. Короткой дорогой прошли 1 553 — 96,2%. Новый класс без предшественника получили 40. Полный цикл с собственными клиническими испытаниями прошли 21 изделие — 1,3%, при том что по всем медизделиям за историю системы доля полного цикла около 1,87%: у изделий с моделью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 Структура по специальностям объясняет, что такое «ИИ в медицине» на самом деле: радиология — 1 230 изделий, 76,2%; кардиология — 154; неврология — 73; у остальных от 9 до 30 каждая. Психиатрии в списке нет ни одного изделия за всю историю.</a:t>
            </a:r>
          </a:p>
          <a:p>
            <a:r>
              <a:t/>
            </a:r>
          </a:p>
          <a:p>
            <a:r>
              <a:t>И про динамику, где легко перепутать два счёта. Весь массив растёт быстро: 6 изделий в 2014 году, 335 в 2025-м, то есть каждое десятое новое медизделие в США в 2025 году — с обученной моделью, против двух на тысячу в 2015-м. Но если убрать короткий путь и оставить только изделия, допущенные без ссылки на предшественник, линия другая: 7 накопленным счётом к 2010 году и 56 к концу 2025-го. Плюс 49 за шестнадцать лет, в среднем 3,1 в год, и по годам эта линия не растёт: 7 · 2 · 7 · 10 · 6. Рядом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 около 3 063 решений в 2015 году и 3 265 в 2025-м. Изделия с моделью не замещали собой что-то другое, они прибавлялись сверху.</a:t>
            </a:r>
          </a:p>
          <a:p>
            <a:r>
              <a:t/>
            </a:r>
          </a:p>
          <a:p>
            <a:r>
              <a:t>Сравнение стран здесь не произносится: оно стоит следующим кадром целиком, шестью строками, и у каждой строки там назван свой признак отбора. Отсюда туда ведёт одна фраза — пути сосчитаны, дальше сам массив. Единственное, что стоит сказать заранее, если спросят прямо сейчас: единого международного определения «по-настоящему нового изделия» не существует, поэтому страны и считаны по разным признакам, и на кадре это видно без оговорки.</a:t>
            </a:r>
          </a:p>
          <a:p>
            <a:r>
              <a:t/>
            </a:r>
          </a:p>
          <a:p>
            <a:r>
              <a:t>**Источники.** </a:t>
            </a:r>
            <a:r>
              <a:rPr u="sng">
                <a:solidFill>
                  <a:srgbClr val="065A82"/>
                </a:solidFill>
                <a:hlinkClick r:id="rId3"/>
              </a:rPr>
              <a:t>FDA, AI/ML-Enabled Medical Devices</a:t>
            </a:r>
            <a:r>
              <a:t> · </a:t>
            </a:r>
            <a:r>
              <a:rPr u="sng">
                <a:solidFill>
                  <a:srgbClr val="065A82"/>
                </a:solidFill>
                <a:hlinkClick r:id="rId4"/>
              </a:rPr>
              <a:t>приказ Минздрава № 2н, публикация «Российской газеты»</a:t>
            </a:r>
            <a:r>
              <a:t> · </a:t>
            </a:r>
            <a:r>
              <a:rPr u="sng">
                <a:solidFill>
                  <a:srgbClr val="065A82"/>
                </a:solidFill>
                <a:hlinkClick r:id="rId5"/>
              </a:rPr>
              <a:t>приказ № 885н, документ Минюста</a:t>
            </a:r>
            <a:r>
              <a:t> · </a:t>
            </a:r>
            <a:r>
              <a:rPr u="sng">
                <a:solidFill>
                  <a:srgbClr val="065A82"/>
                </a:solidFill>
                <a:hlinkClick r:id="rId6"/>
              </a:rPr>
              <a:t>НК РФ ст. 333.32.2</a:t>
            </a:r>
            <a:r>
              <a:t> · </a:t>
            </a:r>
            <a:r>
              <a:rPr u="sng">
                <a:solidFill>
                  <a:srgbClr val="065A82"/>
                </a:solidFill>
                <a:hlinkClick r:id="rId7"/>
              </a:rPr>
              <a:t>FDA, MDUFA Performance Goals</a:t>
            </a:r>
            <a:r>
              <a:t> · </a:t>
            </a:r>
            <a:r>
              <a:rPr u="sng">
                <a:solidFill>
                  <a:srgbClr val="065A82"/>
                </a:solidFill>
                <a:hlinkClick r:id="rId8"/>
              </a:rPr>
              <a:t>Корея, счёт 549</a:t>
            </a:r>
            <a:r>
              <a:t> · </a:t>
            </a:r>
            <a:r>
              <a:rPr u="sng">
                <a:solidFill>
                  <a:srgbClr val="065A82"/>
                </a:solidFill>
                <a:hlinkClick r:id="rId9"/>
              </a:rPr>
              <a:t>Корея, возмещение 49 из 549</a:t>
            </a:r>
            <a:r>
              <a:t> · </a:t>
            </a:r>
            <a:r>
              <a:rPr u="sng">
                <a:solidFill>
                  <a:srgbClr val="065A82"/>
                </a:solidFill>
                <a:hlinkClick r:id="rId10"/>
              </a:rPr>
              <a:t>Китай, пути клинической оценки</a:t>
            </a:r>
            <a:r>
              <a:t> · </a:t>
            </a:r>
            <a:r>
              <a:rPr u="sng">
                <a:solidFill>
                  <a:srgbClr val="065A82"/>
                </a:solidFill>
                <a:hlinkClick r:id="rId11"/>
              </a:rPr>
              <a:t>Webiomed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сняты с таблицы регулятора напрямую, прямым чтением страницы, а не взяты из отраслевой сводки — это важно, потому что сводки по этому предмету расходятся между собой на сотни изделий. В списке FDA на 17 октября 2026 года — 1 614 изделий с ИИ или машинным обучением. Знаменатель на предыдущем кадре был тот же, и все доли здесь считаны от него же.</a:t>
            </a:r>
          </a:p>
          <a:p>
            <a:r>
              <a:t/>
            </a:r>
          </a:p>
          <a:p>
            <a:r>
              <a:t>Структура по специальностям объясняет, что такое «ИИ в медицине» на самом деле. Радиология — 1 230 изделий, 76,2%. Кардиология — 154, это 9,5%. Неврология — 73, 4,5%. Дальше идут анестезиология, гастроэнтерология, гематология, патология, офтальмология, хирургия и клиническая химия — у каждой от 9 до 30 изделий. Психиатрии в списке нет ни одного изделия за всю историю. То есть ИИ в медицине на 2026 год — это преимущественно работа с изображениями, и остальные специальности вместе не дают и четверти.</a:t>
            </a:r>
          </a:p>
          <a:p>
            <a:r>
              <a:t/>
            </a:r>
          </a:p>
          <a:p>
            <a:r>
              <a:t>Теперь про долю в потоке, и здесь надо разделить два счёта, которые легко перепутать. Весь массив изделий с ИИ растёт быстро: 6 изделий в 2014 году, 335 в 2025-м, то есть каждое десятое новое медизделие в США в 2025 году — с ИИ, против двух на тысячу в 2015-м. Рядом противофакт, без которого этот рост читается неверно: весь поток новых решений о допуске медизделий в США за десять лет вырос в 1,07 раза, то есть остался на месте — около 3 063 решений в 2015 году и около 3 265 в 2025-м. Изделия с ИИ не замещали собой что-то другое, они прибавлялись сверху. Второй счёт, про изделия без ссылки на предшественник, прозвучал на предыдущем кадре строкой «3,1 в год»; повторять его здесь не нужно.</a:t>
            </a:r>
          </a:p>
          <a:p>
            <a:r>
              <a:t/>
            </a:r>
          </a:p>
          <a:p>
            <a:r>
              <a:t>Теперь страновой ряд, и его надо читать по строкам, а не по длине полос. Единого международного определения «реально нового изделия» не существует, поэтому каждая страна считана по собственному признаку, и признак стоит прямо в имени строки — это не оговорка, это часть данных.</a:t>
            </a:r>
          </a:p>
          <a:p>
            <a:r>
              <a:t/>
            </a:r>
          </a:p>
          <a:p>
            <a:r>
              <a:t>Корея: 88 изделий из 549 кумулятивно на первый квартал 2026 года, признак — добровольный инновационный статус, который регулятор присваивает сам; на 51,7 миллиона населения выходит 1,70. Вторая корейская строка — тот же реестр, другой признак: прошло ли изделие возмещение по страховке. Таких 49 из 549, и показатель падает до 0,95. Два честных числа по одной стране, и разница между ними больше, чем расстояние между США и Китаем в этом же ряду. Если зал запомнит с кадра одно — пусть это будет оно: порядок стран здесь задаёт не медицина, а выбранный признак.</a:t>
            </a:r>
          </a:p>
          <a:p>
            <a:r>
              <a:t/>
            </a:r>
          </a:p>
          <a:p>
            <a:r>
              <a:t>Китай: 118 изделий из 154 прошли собственное клиническое испытание как путь допуска, по классу высокого риска отдельно — 116 из 123; на 1 409 миллионов населения это 0,08. Япония: около 14 из 51, и это экстраполяция общей доли по всем программным медизделиям на часть опытов с ИИ, а не прямой подсчёт, — поэтому в строке и стоит «пересчёт доли». США: 61 из 1 614 на 342 миллиона населения — 0,18.</a:t>
            </a:r>
          </a:p>
          <a:p>
            <a:r>
              <a:t/>
            </a:r>
          </a:p>
          <a:p>
            <a:r>
              <a:t>Российская строка стоит на другом признаке, и это сказано прямо на кадре. Росздравнадзор не публикует разбивку «сколько изделий прошли испытания с участием человека, а сколько оценку по документам», поэтому в числителе стоят все 57 зарегистрированных изделий, а на 146 миллионов населения это даёт 0,39. Признак новизны к ним не применён — его нечем применить. Что известно достоверно: первые два российских изделия 2020 года, Webiomed и Botkin.AI, аналогов в реестре не имели, и оба прошли полноценные клинические испытания с участием пациентов. К 2026 году в реестре накопилось больше десяти продуктов анализа медицинских изображений, и для новых заявок той же товарной категории доказательная база по документам уже существует. Значит, приравнивать 57 российских изделий к 57 «реально новым» в американском смысле неверно — и ровно поэтому строка называет свой признак вслух, а не прячет его в сноску.</a:t>
            </a:r>
          </a:p>
          <a:p>
            <a:r>
              <a:t/>
            </a:r>
          </a:p>
          <a:p>
            <a:r>
              <a:t>И то, ради чего ряд вообще стоит на кадре. Россия на нём выше США, Японии и Китая — это верно при любом из признаков, которые здесь посчитаны, и это не мелочь: изделий в абсолюте у неё 57 против 1 614 американских. Но верно и второе: её строка единственная, к которой признак новизны не применён вовсе. Оба утверждения живут на одном кадре, и ни одно не отменяет другого.</a:t>
            </a:r>
          </a:p>
          <a:p>
            <a:r>
              <a:t/>
            </a:r>
          </a:p>
          <a:p>
            <a:r>
              <a:t>**Источники.** </a:t>
            </a:r>
            <a:r>
              <a:rPr u="sng">
                <a:solidFill>
                  <a:srgbClr val="065A82"/>
                </a:solidFill>
                <a:hlinkClick r:id="rId3"/>
              </a:rPr>
              <a:t>FDA, AI/ML-Enabled Medical Devices</a:t>
            </a:r>
            <a:r>
              <a:t> · </a:t>
            </a:r>
            <a:r>
              <a:rPr u="sng">
                <a:solidFill>
                  <a:srgbClr val="065A82"/>
                </a:solidFill>
                <a:hlinkClick r:id="rId4"/>
              </a:rPr>
              <a:t>Корея, кумулятивный счёт 549, отраслевой дайджест</a:t>
            </a:r>
            <a:r>
              <a:t> · </a:t>
            </a:r>
            <a:r>
              <a:rPr u="sng">
                <a:solidFill>
                  <a:srgbClr val="065A82"/>
                </a:solidFill>
                <a:hlinkClick r:id="rId5"/>
              </a:rPr>
              <a:t>Корея, возмещение 49 из 549</a:t>
            </a:r>
            <a:r>
              <a:t> · </a:t>
            </a:r>
            <a:r>
              <a:rPr u="sng">
                <a:solidFill>
                  <a:srgbClr val="065A82"/>
                </a:solidFill>
                <a:hlinkClick r:id="rId6"/>
              </a:rPr>
              <a:t>Китай, пути клинической оценки, JMIR Medical Informatics 2026</a:t>
            </a:r>
            <a:r>
              <a:t> · </a:t>
            </a:r>
            <a:r>
              <a:rPr u="sng">
                <a:solidFill>
                  <a:srgbClr val="065A82"/>
                </a:solidFill>
                <a:hlinkClick r:id="rId7"/>
              </a:rPr>
              <a:t>Япония, итоговый отчёт по программным медизделиям с ИИ</a:t>
            </a:r>
            <a:r>
              <a:t> · </a:t>
            </a:r>
            <a:r>
              <a:rPr u="sng">
                <a:solidFill>
                  <a:srgbClr val="065A82"/>
                </a:solidFill>
                <a:hlinkClick r:id="rId8"/>
              </a:rPr>
              <a:t>Webiomed, первое российское изделие с ИИ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стоит сказать, глядя на два снимка: модель встаёт не рядом с приёмом, а внутри него — между врачом и решением, — и пациент об этом знает или не знает, и от этого его поведение тоже меняется. Поэтому сторон две, и мерили их разными способами: у врача — поведение на задаче, у пациента — согласие с решением. Складывать эти два замера между собой нельзя.</a:t>
            </a:r>
          </a:p>
          <a:p>
            <a:r>
              <a:t/>
            </a:r>
          </a:p>
          <a:p>
            <a:r>
              <a:t>Этот кадр выдаёт словарь, которым дальше размечен весь вечер. Имён шесть, чисел под ними сейчас нет намеренно: каждое число будет предъявлено там, где механизм встречается впервые, со своей выборкой и своей базой, а в сводах разделов отсчитано — какие из шести раздел встретил. Назвать имена заранее нужно затем, чтобы к моменту встречи механизм был узнан, а не объяснён с нуля посреди разбора.</a:t>
            </a:r>
          </a:p>
          <a:p>
            <a:r>
              <a:t/>
            </a:r>
          </a:p>
          <a:p>
            <a:r>
              <a:t>Рамка этих механизмов не наша. Три из них предложены работой об искажениях при взаимодействии человека и модели, проверены в трёх разных областях на двух с лишним тысячах человек совокупно, и медицинские замеры всей лекции ложатся на два из трёх как частный случай. Произносить это стоит прямо: медицина здесь не особая, и возражение «у врачей так, потому что медицина» снимается не одним медицинским замером, а тем, что те же механизмы измерены вне медицины.</a:t>
            </a:r>
          </a:p>
          <a:p>
            <a:r>
              <a:t/>
            </a:r>
          </a:p>
          <a:p>
            <a:r>
              <a:t>Головная из трёх — усиление предубеждения, и она единственная с контрольной ветвью. Люди размечали выражения лиц, их ответы отдали свёрточной сети, та усилила исходное смещение, и рядом с ней работала новая группа людей: доля смещённых ответов у неё выросла с 49,9 до 56,3 из ста. В контрольной ветви вместо модели были другие люди — там доля не изменилась: 50,6 против 51,5, различия нет. Усиливает не согласие с чужим мнением вообще, усиливает именно модель. И усиление растёт по ходу работы: в первом блоке 50,7 из ста, в последнем 61,4. Вторая — якорение: 775 менеджеров оценивали работу сотрудников после подсказки, и оценки стягивались к ней. Величину та работа не печатает, и подставлять похожее число из другого опыта нельзя. Зато она называет приём, который якорение снимает: потребовать рассмотреть противоположное. Это не то же, что предупредить: предупреждение — сообщение, которое принимают к сведению и продолжают делать как делали, а рассмотрение противоположного — действие, которое обязаны выполнить. Третья — наследование: 666 участников проходили тест критического мышления без доступа к модели, и связь частоты пользования с результатом оказалась отрицательной и значимой.</a:t>
            </a:r>
          </a:p>
          <a:p>
            <a:r>
              <a:t/>
            </a:r>
          </a:p>
          <a:p>
            <a:r>
              <a:t>Почему этого не видно изнутри — вопрос, который зал задаёт сам. В той же первой работе участников спросили, насколько на них повлиял каждый алгоритм, и смещающий они назвали менее влиятельным, чем точный, то есть ровно наоборот. А без всякой модели человек своё смещение правит сам: по ходу опыта доля смещённых ответов падала с 56,7 до 51,9.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Теперь вторая сторона, пациент, и эти замеры я назову голосом, потому что отдельного разбора у них в этот вечер не будет. У врача меряли поведение на задаче: читает, заключает, находит или пропускает. У пациента меряют согласие — чем он отвечает на сам факт, что в его случае участвовала модель. И первое: согласие это не одно число. Раскрытие — 1 762 взрослых, представительных для населения Соединённых Штатов: когда пациенту говорят, что врач пользуется моделью, доверие к врачу падает с 0,63 до 0,30 по приведённой шкале, и прямой отказ врача от модели приносит ему 13 пунктов сверх того, что он имеет, когда об этом не сказано вовсе. Одиночество — 518 женщин, пришедших на снимок молочной железы: модель единственным читателем согласились принять 23 человека, вторым читателем — 368 из тех же 518, разница в шестнадцать раз. Пациент против не модели, а её одиночества. Асимметрия — 359 участниц, оба вопроса: тревогу подняла модель, пусть посмотрит врач — 319 да; вызвал врач, пусть посмотрит модель — 184. Перепроверка просится вверх и почти не просится вниз. Цена — 248 взрослых с диабетом первого типа: снятие доплаты в пятьдесят долларов подняло выбор осмотра моделью с 43 до 81 из ста, и при этом перепроверку у специалиста выбравшие хотели сильнее прежнего. Цена согласие покупает, доверия не покупает. Безымянность — 45 человек с онкологическим диагнозом оценивали перемешанные и неподписанные ответы: сочувствие в машинном они оценили в 4,11 из пяти, во врачебном — в 2,01. Складывать эти пять между собой нельзя: выборки и вопросы разные.</a:t>
            </a:r>
          </a:p>
          <a:p>
            <a:r>
              <a:t/>
            </a:r>
          </a:p>
          <a:p>
            <a:r>
              <a:t>И общая граница всего блока, которую лучше назвать на входе, чем оправдываться на выходе: ни один из этих замеров не доходит до исхода пациента. Меряли работу врача и меряли согласие пациента; что стало со здоровьем человека, не мерил никто из тех, на кого мы ссылаемся. Отдельно: влияние на врача измеряли почти всегда в лаборатории, где доля нарочно испорченных подсказок выше, чем в жизни, а влияние на пациента — опросом про воображаемую ситуацию. Направление оба способа показывают верно, величину завышают.</a:t>
            </a:r>
          </a:p>
          <a:p>
            <a:r>
              <a:t/>
            </a:r>
          </a:p>
          <a:p>
            <a:r>
              <a:t>**Шесть имён перед вами. Какое из шести, по-вашему, окажется самым дорогим для врача — и какое для пациента?**</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 (рамка трёх механизмов и все 18 источников) · </a:t>
            </a:r>
            <a:r>
              <a:rPr u="sng">
                <a:solidFill>
                  <a:srgbClr val="065A82"/>
                </a:solidFill>
                <a:hlinkClick r:id="rId4"/>
              </a:rPr>
              <a:t>свод медицинских замеров</a:t>
            </a:r>
            <a:r>
              <a:t> · </a:t>
            </a:r>
            <a:r>
              <a:rPr u="sng">
                <a:solidFill>
                  <a:srgbClr val="065A82"/>
                </a:solidFill>
                <a:hlinkClick r:id="rId5"/>
              </a:rPr>
              <a:t>свод доверия пациента к модели</a:t>
            </a:r>
            <a:r>
              <a:t> — там же названы две пары, которые намеренно не собраны, и перечислено то, чего не нашлось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Коротко о том, откуда вообще берутся данные о человеке, потому что способов шесть и дают они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человека снимают в одном месте, а изображение читает специалист в другом; на этом держится лучевая диагностика там, где своего рентгенолога нет. Разбор уже имеющихся документов карты нового измерения не добавляет вовсе — он извлекает из записанного и сам становится источником решений. И шестой способ, за двадцать лет ставший массовым: измерения, которые пациент снимает сам, — монитор глюкозы, домашний тонометр, дневник симптомов. Этими же шестью способами данные получают и там, где рядом работает модель: способ получить она не меняет, меняется то, кто и как по полученному решает.</a:t>
            </a:r>
          </a:p>
          <a:p>
            <a:r>
              <a:t/>
            </a:r>
          </a:p>
          <a:p>
            <a:r>
              <a:t>Теперь классические режимы, и называть их надо по именам: сравнивать модель придётся именно с ними, а модель, сравнённая с пустым местом, выигрывает всегда, и выигрыш этот ничего не значит.</a:t>
            </a:r>
          </a:p>
          <a:p>
            <a:r>
              <a:t/>
            </a:r>
          </a:p>
          <a:p>
            <a:r>
              <a:t>На отборе работает двойное чтение. Снимок читают двое, и слово «независимо» здесь несущее: второй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разрешает арбитраж — третий читатель, подключаемый только на расхождении и не писавший ни одного из двух заключений. На диагностике работает пара долей: из всех, у кого болезнь есть, какую долю система назвала больными, и из всех, у кого её нет, какую долю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их приводят для одного порога, и порог выбирает протокол под цену исхода. На постановке диагноза работает дифференциальный диагноз: выписать болезни, способные объяснить наблюдаемое, и назначить проверку, которая их между собой различит; порядок проверок — отдельное решение, потому что часть из них сама опасна или дорога. Рядом стоят второе мнение, консилиум и клинические рекомендации. На наблюдении работает шкала раннего предупреждения: каждая измеренная величина получает баллы за отклонение от нормы, баллы складываются, сумма сравнивается с порогом, порог назначает действие. Два её свойства стоит назвать вслух: баллы передаются между сменами, а суждение «мне кажется, он сдал» не передаётся; и веса в таблице назначены людьми и опубликованы. На документации работает структура записи — жалобы, анамнез, осмотр, диагноз, план, — вычитка и подпись. И поверх всего стоит надзор: разбор случая после исхода и изменение порядка работы по его итогам.</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Лестница на кадре — признак, по которому разложены все разборы вечера: кто смотрит первым. Смотрит первым — человек читает данные сам, модель подключается после него или не подключается вовсе; это и есть классический режим, с которым модель сравнивают. Смотрит вторым — первый проход сделан моделью, человек читает её результат и подтверждает либо отклоняет. Смотрит только спорное — человек подключается там, где модель и второй источник не сошлись; остального потока он не видит. Подписывает не глядя — формально требование выполнено, подпись стоит, фактически участия нет. Шкала не ранжирует ступени по качеству: на каждой есть и выигрыш, и своя слепота. Но разница между первой ступенью и четвёртой больше, чем между двумя моделями: спор о том, чья модель точнее, идёт внутри одной ячейки, а переход со «смотрит первым» на «подписывает не глядя» меняет саму процедуру.</a:t>
            </a:r>
          </a:p>
          <a:p>
            <a:r>
              <a:t/>
            </a:r>
          </a:p>
          <a:p>
            <a:r>
              <a:t>Почему подписывает человек, а не модель — три причины, и точности среди них нет: измерено, что часто он не точнее, и опора, стоящая на его точности, рассыпалась бы на первом же разборе. Право подписи выдано ему: ни в одной из рассмотренных стран модель права подписи не имеет, а при разборе случая оценивают действия человека. Ошибается он иначе: выигрыш паре даёт несовпадение ошибок, а не превосходство одной из сторон. Отменить принятое решение нельзя: изделие отзывают, и отзывают по-настоящему, а решения, принятые по нему до отзыва, остаются.</a:t>
            </a:r>
          </a:p>
          <a:p>
            <a:r>
              <a:t/>
            </a:r>
          </a:p>
          <a:p>
            <a:r>
              <a:t>И три проверки, которые годятся не только в медицине; к ним вечер вернётся в конце. Первая: если вывод проверяют по самообъяснению модели — это не проверка, объяснение построено той же системой и согласовано с выводом по устройству. Вторая: нужны две доли сразу — доля отклонённых подсказок и доля верных отклонений; без второй первая не подтверждает ничего, отклонять можно всё подряд. Третья: успевает ли человек физически — секунды на решение против объёма потока; у этого вопроса бывает ответ «нет», и дальше он будет назван числом. Контур, не прошедший эти три, и есть четвёртая ступень: подпись стоит, участия за ней нет.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число я называю здесь и буду называть ещё трижды за вечер, потому что оно меряет четвёртый платёж — тот, который выглядит самым безобидным. Арбитраж дороже прежнего чтения, это разберём на скрининге; а вот сколько стоит сама проверка подсказки, измерено — одна целая девяносто девять сотых секунды по медиане. Базу назову сразу, потому что без неё число звучит сильнее, чем оно есть: замер лабораторный и снят он вне медицины — двадцать один программист, тысяча девяносто шесть показанных подсказок ассистента кода, поведенческая телеметрия. Это время, которое человек держит подсказку на экране ДО решения её принять. Рядом в той же работе есть вторая медиана, шесть целых сорок восемь сотых секунды, и путать их нельзя: она досчитывает проверку уже ПОСЛЕ принятия. На вопрос «успевает ли человек прочитать прежде, чем подписал» отвечает первая. Переносится это на врача по аналогии, и аналогию я называю аналогией.</a:t>
            </a:r>
          </a:p>
          <a:p>
            <a:r>
              <a:t/>
            </a:r>
          </a:p>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a:p>
            <a:r>
              <a:t/>
            </a:r>
          </a:p>
          <a:p>
            <a:r>
              <a:t>И ещё одно, что произносится здесь, а на кадре больше не стоит (#293, Этап D — оговорка снята ради кегля тела): у переезда работы девять форм, и весь перечень будет предъявлен на первом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Мост с предыдущего кадра произносится первой фразой, и он короткий. Мы только что видели, что у одной страны программа есть, а у другой её нет, и что отсутствие — это решение, а не пробел в данных. Тем же решением назначен и порог внутри программы: кого зовут, с какого возраста и как часто. То есть и сама программа, и её порог приходят из одного места — из документа, а не из прибора.</a:t>
            </a:r>
          </a:p>
          <a:p>
            <a:r>
              <a:t/>
            </a:r>
          </a:p>
          <a:p>
            <a:r>
              <a:t>И одно историческое основание под это, которого на кадре нет. Вопрос «когда скрининг вообще оправдан» формализован Всемирной организацией здравоохранения в 1968 году: Джеймс Уилсон и Гуннар Юнгнер сформулировали десять критериев, которые действуют до сих пор. У болезни должна быть распознаваемая ранняя стадия; должно существовать признанное лечение и мощности его провести; тест должен быть приемлем для населения; сам скрининг должен быть постоянным процессом, а не разовой кампанией. Ни один из этих десяти критериев не говорит о точности алгоритма — все десять написаны за десятилетия до первой обученной модели. Это и есть урок, который держит весь вечер: вопрос «оправдан ли скрининг» не сводится к вопросу «насколько точна модель внутри него», и первый был поставлен и решён задолго до второго. Откуда сама идея осматривать человека без жалоб: в двадцатые годы в США на одного врача приходилось около восьмисот человек, и осмотреть каждого было физически нечем; что скрытая болезнь есть у огромной доли людей, выглядящих здоровыми, показали призывные комиссии двух мировых войн — у сорока семи из ста двух с лишним миллионов призванных в Первую мировую нашли ни разу не поставленный до того диагноз; а первая организованная программа на целый город — массовая флюорография Глазго весной 1957 года, семьсот пятнадцать тысяч человек за пять недель, семьдесят шесть из ста взрослых города.</a:t>
            </a:r>
          </a:p>
          <a:p>
            <a:r>
              <a:t/>
            </a:r>
          </a:p>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только что назвал две свои формы — нагрузка переехала на другой шаг и сменился исполнитель. Вот перечень, из которого они взяты. 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**Где каждую форму встретили — колонка «кейс и блок», снятая с кадра (#293, Этап D, П6-б.4: «укрупнение с переносом колонки „кейс и блок“ в заметки»). Произносится по ходу таблицы:**</a:t>
            </a:r>
          </a:p>
          <a:p>
            <a:r>
              <a:t/>
            </a:r>
          </a:p>
          <a:p>
            <a:r>
              <a:t>- **нагрузка переехала на другой шаг** — чат-бот первой линии · **Отбор**</a:t>
            </a:r>
          </a:p>
          <a:p>
            <a:r>
              <a:t>- **шаг исчез совсем** — прочерк · **Сборка**</a:t>
            </a:r>
          </a:p>
          <a:p>
            <a:r>
              <a:t>- **шаг появился** — шведский скрининг · **Отбор**</a:t>
            </a:r>
          </a:p>
          <a:p>
            <a:r>
              <a:t>- **нагрузка выросла на том же месте** — раннее предупреждение · **Наблюдение**</a:t>
            </a:r>
          </a:p>
          <a:p>
            <a:r>
              <a:t>- **нагрузка на том же месте упала** — шведский скрининг · **Отбор**</a:t>
            </a:r>
          </a:p>
          <a:p>
            <a:r>
              <a:t>- **сменился исполнитель** — глазное дно · **Отбор**</a:t>
            </a:r>
          </a:p>
          <a:p>
            <a:r>
              <a:t>- **изменился порядок работ** — отказ от обещания · **Лекарства**</a:t>
            </a:r>
          </a:p>
          <a:p>
            <a:r>
              <a:t>- **сместилась цена ошибки** — норма без проверки · **Надзор**</a:t>
            </a:r>
          </a:p>
          <a:p>
            <a:r>
              <a:t>- **исполнитель тот же, но стал хуже** — доля упала · **Квалификация**</a:t>
            </a:r>
          </a:p>
          <a:p>
            <a:r>
              <a:t>- ***исполнитель тот же, но стал лучше*** — *номер держим пустым*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одним порогом срабатывания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названном пороге срабатывания: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 он же игра на один ход. Вам называют «точность девяносто четыре процента». Я беру одну и ту же систему с одним и тем же порогом срабатывания и применяю её к двум группам по десять тысяч человек, отличающимся ТОЛЬКО долей больных среди них. Внутри системы не меняется ни одна строка. Вопрос: насколько разойдётся доля верных тревог между этими двумя группами? Во сколько раз — в полтора, вдвое, вдесятеро? Прошу назвать число вслух или одним словом в чат. Следующий кадр это считает, и разница там почти десятикратная; зал обычно называет полтора-два. Вопрос задаётся именно здесь, до разбора: названное число зал запоминает и потом сверяет сам, а услышанное готовым — нет.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одним порогом срабатывания: она ловит 94 больных из ста и напрасно пугает 11 здоровых из ста. Эти два числа — иллюстрация методики, взятая из опубликованного порога срабатывания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 предсказание на развилке этого кадра. С моделью решение о годности снимка раздваивается: негодный она отклоняет сама, и тогда человеку достаётся повторный визит; не отклонит — читает то, что ей дали. Спрашиваю: какая из двух ошибок этой развилки обойдётся системе дороже — отклонить годный снимок или прочитать негодный? И прошу обосновать одной фразой. Правильного ответа «вообще» нет: он зависит от того, кто платит за повторный визит и кто отвечает за пропущенную болезнь, — и в этом весь смысл вопроса. Разные ответы в зале и есть материал для следующего шага: цена ошибки назначается до всякой точности, и назначает её не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названным порогом срабатывания. Разбор самого случая идёт следующим кадром, и число оттуда же.</a:t>
            </a:r>
          </a:p>
          <a:p>
            <a:r>
              <a:t/>
            </a:r>
          </a:p>
          <a:p>
            <a:r>
              <a:t>Англия, рентген грудной клетки: тридцать четыре из ста. Числитель здесь — 2,8 миллиона снимков в год, то же число, что открывало вечер; тогда оно стояло одно во весь экран, и я говорил, что это объём и только объём. Сейчас мы его делим, и вот тут стоит остановиться, потому что доля зависит от знаменателя сильнее, чем кажется на слух. Сами эти 2,8 миллиона —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кадр кончился тем, что доли прочитанного потока у Англии две, а у Соединённых Штатов её нет вовсе. У Москвы она есть, посчитана на опубликованной выборке, и вот она.</a:t>
            </a:r>
          </a:p>
          <a:p>
            <a:r>
              <a:t/>
            </a:r>
          </a:p>
          <a:p>
            <a:r>
              <a:t>Пятьдесят пять снимков из ста. Точнее — пятьдесят четыре и восемь десятых процента: с мая по сентябрь двадцать четвёртого года модель получила пятьсот семьдесят пять тысяч пятьсот сорок девять профилактических снимков грудной клетки, флюорограмм и рентгенограмм, и триста пятнадцать тысяч четыреста девяносто один из них отнесла к норме. Заключение по ним ушло прямо в электронную карту. Ни один врач этих снимков не открывал.</a:t>
            </a:r>
          </a:p>
          <a:p>
            <a:r>
              <a:t/>
            </a:r>
          </a:p>
          <a:p>
            <a:r>
              <a:t>Произнесу знаменатель отдельно, потому что без него число читается не так. Пятьсот семьдесят пять тысяч — это не весь лучевой поток города и не все снимки грудной клетки. Это профилактический поток: снимки, которые делают здоровым людям по плану, а не по жалобе. Отправлено в систему было шестьсот сорок две тысячи шестьсот восемьдесят одно исследование, в анализ вошли пятьсот семьдесят пять с половиной тысяч. На потоке по жалобе доля была бы другой, и сравнивать их нельзя.</a:t>
            </a:r>
          </a:p>
          <a:p>
            <a:r>
              <a:t/>
            </a:r>
          </a:p>
          <a:p>
            <a:r>
              <a:t>И сразу разграничение, без которого удар превращается в лозунг. Пятьдесят пять из ста — это объём, и только объём. Он не говорит ни что это хорошо, ни что это плохо. Он говорит, что решение «этот снимок человек не увидит» принимается в городе триста пятнадцать тысяч раз за пять месяцев, то есть примерно две тысячи раз в день, и принимает его не человек. Что за это заплачено — следующий кадр, и платёж там посчитан: двести девяносто клинически значимых пропусков и минус сорок три и семь десятых процента расходов по тарифам.</a:t>
            </a:r>
          </a:p>
          <a:p>
            <a:r>
              <a:t/>
            </a:r>
          </a:p>
          <a:p>
            <a:r>
              <a:t>Почему это ударом, а не строкой в разборе. Весь вечер держится на одном вопросе: что делает человек после модели. На третьей ступени участия — «смотрит только спорное» — ответ оказывается буквальным: на половине потока он не делает ничего, потому что до него эта половина не доходит. Число стоит отдельным кадром затем, чтобы зал услышал его прежде, чем начнёт разбираться в пороге срабатывания и в тарифах: сначала масштаб решения, потом его устройство.</a:t>
            </a:r>
          </a:p>
          <a:p>
            <a:r>
              <a:t/>
            </a:r>
          </a:p>
          <a:p>
            <a:r>
              <a:t>Одно замечание про сам приём, если кто-нибудь спросит, почему так настроили. Чувствительность выставлена на единицу сознательно: тревога поднимается на всём, что хоть немного похоже на отклонение, а специфичность объявлена незначимой. Это и есть то, из-за чего сорок пять снимков из ста уходят человеку, а пятьдесят пять — нет. Разбор этого решения — на следующем кадре; здесь важно только, что порог срабатывания здесь не настройка по умолчанию, а принятое и записанное решение.</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порог срабатывания.</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Порог срабатывания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a:p>
            <a:r>
              <a:t/>
            </a:r>
          </a:p>
          <a:p>
            <a:r>
              <a:t>Что означает выставленная чувствительность, если спросят (#293, Этап D — строка снята с кадра ради кегля тела): тревога поднимается на всём, что отчасти похоже на отклонение.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порог срабатывания выставлен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a:p>
            <a:r>
              <a:t/>
            </a:r>
          </a:p>
          <a:p>
            <a:r>
              <a:t>Что именно решали (#293, Этап D — строка сокращена на кадре ради кегля тела): кого позвать на усиленное наблюдение.</a:t>
            </a:r>
          </a:p>
          <a:p>
            <a:r>
              <a:t/>
            </a:r>
          </a:p>
          <a:p>
            <a:r>
              <a:t>И про сам инструмент (#293, Этап D — строка снята с кадра ради кегля тела): имени алгоритму публикация не даёт.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Порог срабатывания, назначенный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a:p>
            <a:r>
              <a:t/>
            </a:r>
          </a:p>
          <a:p>
            <a:r>
              <a:t>Связка к плашкам, которая теперь произносится, а не стоит на кадре (#293, Этап D — строка снята ради кегля тела; оба числа стоят плашками прямо над ней): так провалились три из пяти, а в четвёртом месте, самом чтении, провалился пятый.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Прибор, определяющий насыщение крови кислородом по поглощению света в тканях, стоит здесь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Знаменатели называю, потому что без них число не читается: восемьдесят восемь расхождений из семисот сорока девяти измерений против девяноста девяти из двух тысяч семисот семидесяти восьми.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Направление смещения здесь важнее величины, и произносить его надо вслух. Прибор показывает ВЫШЕ, чем даёт анализ крови, — значит опасное снижение насыщения он пропускает чаще, то есть ошибка идёт в сторону «всё в порядке». И это не предположение исследователей, а признанная проблема измерения, закреплённая двумя документами: предупреждение регулятора США от 19 февраля 2021 года и проект руководства от 6 января 2025 года с требованием испытывать такие приборы на разных тонах кожи. Обученной модели в приборе нет вовсе —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встретились в следующем разделе, — смещение наследует: не создаёт, не усиливает по своей вине, а получает уже смещённое число и работает с ним как с измерением. Сила свидетельства: проспективное сравнение с прямым анализом крови, направление подтверждено независимо и закреплено документом регулятора, — высокая.</a:t>
            </a:r>
          </a:p>
          <a:p>
            <a:r>
              <a:t/>
            </a:r>
          </a:p>
          <a:p>
            <a:r>
              <a:t>Отсюда вывод, который легко упустить, споря о справедливости алгоритмов: проверять надо не только модель, но и то, чем измерен её вход.</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**Источники.** </a:t>
            </a:r>
            <a:r>
              <a:rPr u="sng">
                <a:solidFill>
                  <a:srgbClr val="065A82"/>
                </a:solidFill>
                <a:hlinkClick r:id="rId3"/>
              </a:rPr>
              <a:t>Sjoding и соавт., New England Journal of Medicine 2020</a:t>
            </a:r>
            <a:r>
              <a:t> — расхождение прибора насыщения крови с прямым анализом. Адреса остальных четырёх вопросов — на кадрах их разборов.</a:t>
            </a:r>
          </a:p>
          <a:p>
            <a:r>
              <a:t/>
            </a:r>
          </a:p>
          <a:p>
            <a:r>
              <a:t>И вопрос в зал на этом кадре такой, предсказанием. Пять вопросов перед вами, и за каждым стоит разобранный сегодня случай. Прошу назвать, какой из пяти, по-вашему, срывает внедрение чаще остальных, — и сказать одной фразой почему. Ответ, к которому придём: три первых сорвали по внедрению, четвёртый сломал само измерение, пятый решает, можно ли убрать человека вовсе, — то есть дороже всех обходится не точность, а порог срабатывания и то, кто разбирает ложные тревоги. Зал обычно называет состав обучающего набора; он третий по счёту и не первый по цене.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и это предсказание по самому замеру. Взгляд читателя замерили дважды: сам и с подсказкой. Площадь осмотренного снимка с подсказкой упала с одиннадцати и одной десятой до девяти с половиной из ста, а в отмеченном месте взгляд задержался дольше — с четырёх и четырёх десятых до пяти и четырёх десятых секунды. Спрашиваю: что при этом случилось с теми случаями, где подсказка МОЛЧАЛА, — пропусков стало столько же, меньше или больше? И во сколько раз? Прошу назвать до того, как я покажу. Число стоит строкой ниже на этом же кадре, и закрыть его ладонью на секунду стоит: предсказание «столько же» звучит в зале чаще всего, а пропущенных раков там становится вдвое больше.</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я не рассказываю, а разыгрываю, и на него уходит минута вместо обычных тридцати секунд. Сначала постановка, потом вопрос, потом пауза — и только на следующем кадре числа.</a:t>
            </a:r>
          </a:p>
          <a:p>
            <a:r>
              <a:t/>
            </a:r>
          </a:p>
          <a:p>
            <a:r>
              <a:t>Постановка.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которых неверна, и с несколькими вариантами диагноза. Девять тысяч — это повторные измерения на тридцати читателях; независимыми наблюдениями они не являются, и ограничение это называют сами авторы. Групп две по пятнадцать человек: стажёры кардиологии и стажёры других специальностей. Порядок чтения важен и стоит на схеме: расшифровка приходит ДО собственного решения читателя, а не после.</a:t>
            </a:r>
          </a:p>
          <a:p>
            <a:r>
              <a:t/>
            </a:r>
          </a:p>
          <a:p>
            <a:r>
              <a:t>База. При верной машинной расшифровке обе группы читают почти одинаково — восемьдесят четыре и восемьдесят шесть сотых из ста у кардиологов, восемьдесят шесть и тридцать восемь сотых у остальных. Полтора пункта разницы. Это и есть та точка, от которой считается всё дальнейшее, и произнести её надо отчётливо: база падения — ВЕРНАЯ расшифровка, а не чтение вовсе без подсказки. Столбца «без всякой расшифровки» по группам работа не печатает, достраивать его нечем, и сравнения с чистым чтением у нас нет.</a:t>
            </a:r>
          </a:p>
          <a:p>
            <a:r>
              <a:t/>
            </a:r>
          </a:p>
          <a:p>
            <a:r>
              <a:t>Теперь вопрос, и задаю я его дважды, потому что в нём две половины. Первая: насколько упадут эти числа, когда расшифровка неверна? Назовите порядок — на пять пунктов, на пятнадцать, вдвое? Вторая, и она интереснее: у кого падение будет глубже — у стажёров кардиологии или у стажёров других специальностей? Отвечать можно вслух или одним словом в чат: «кардиологи» или «остальные».</a:t>
            </a:r>
          </a:p>
          <a:p>
            <a:r>
              <a:t/>
            </a:r>
          </a:p>
          <a:p>
            <a:r>
              <a:t>Чего я жду и почему вопрос стоит задавать. Ходовое допущение здесь — что выигрывают и проигрывают от подсказки примерно поровну, а если кто-то и проваливается глубже, то человек с меньшей подготовкой; вторая половина этого допущения как раз верна, и зал обычно её угадывает. А вот первую половину — глубину — зал почти всегда недооценивает: называют пять-десять пунктов. Настоящее число на следующем кадре, и разрыв между названным и настоящим и есть то, ради чего остановка стоит минуты.</a:t>
            </a:r>
          </a:p>
          <a:p>
            <a:r>
              <a:t/>
            </a:r>
          </a:p>
          <a:p>
            <a:r>
              <a:t>Если зал молчит, я называю обе половины сам как варианты и прошу поднять руку: «падение меньше пятнадцати пунктов» против «падение вдвое». Молчание на закрытом вопросе с двумя вариантами собирается почти всегда, а на открытом — почти никогда.</a:t>
            </a:r>
          </a:p>
          <a:p>
            <a:r>
              <a:t/>
            </a:r>
          </a:p>
          <a:p>
            <a:r>
              <a:t>И одна оговорка, которую стоит произнести до вскрытия, чтобы потом она не выглядела оправданием. Стаж у групп НЕ одинаковый — тридцать шесть плюс-минус одиннадцать месяцев против двадцати восьми плюс-минус тринадцати. Различает их действительно специальность, и авторы строят вывод именно на ней, но сказать «стаж у них одинаковый» значило бы сказать неправду, и прежняя редакция этого кадра говорила именно так.</a:t>
            </a:r>
          </a:p>
          <a:p>
            <a:r>
              <a:t/>
            </a:r>
          </a:p>
          <a:p>
            <a:r>
              <a:t>**Источники.** </a:t>
            </a:r>
            <a:r>
              <a:rPr u="sng">
                <a:solidFill>
                  <a:srgbClr val="065A82"/>
                </a:solidFill>
                <a:hlinkClick r:id="rId3"/>
              </a:rPr>
              <a:t>Bond и соавт., Journal of Electrocardiology 2018</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ответ на обе половины вопроса, в том порядке, в котором их задавали. Глубина: падение не на пять и не на пятнадцать пунктов, а вдвое. У стажёров кардиологии точность падает с восьмидесяти четырёх и восьмидесяти шести сотых до сорока одного и шестидесяти шести сотых из ста — на сорок три и двадцать сотых пункта. У стажёров других специальностей с восьмидесяти шести и тридцати восьми сотых до двадцати семи и сорока трёх сотых — на пятьдесят восемь и девяносто пять сотых. Оба падения значимы, p меньше одной тысячной. Кто глубже: менее экспертная группа, и зал это обычно угадывает.</a:t>
            </a:r>
          </a:p>
          <a:p>
            <a:r>
              <a:t/>
            </a:r>
          </a:p>
          <a:p>
            <a:r>
              <a:t>Несущий вывод этой работы авторы высказывают сами, и высказывают дважды: менее экспертные читатели затронуты СИЛЬНЕЕ. Разница потерь — пятнадцать и семьдесят пять сотых пункта в пользу экспертной группы, и соглашается она с неверной расшифровкой реже: тридцать и семьдесят семь сотых против сорока двух и тридцати одной сотой из ста по медианам. То есть специальность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 заключение сдвигается к подсказке, даже заведомо неверной. Входной кадр показывал его на снимках грудной клетки: двадцать три и шесть десятых против девяноста двух и восьми десятых из ста у двухсот двадцати читателей; здесь тот же механизм снят на кардиограмме.</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кадра,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бы получить вывод, обратный тому, что печатают авторы кардиограмм.</a:t>
            </a:r>
          </a:p>
          <a:p>
            <a:r>
              <a:t/>
            </a:r>
          </a:p>
          <a:p>
            <a:r>
              <a:t>Где потолок, если спросят «а можно ли это починить подачей». Сто девяносто девять участников краудплатформы, задача про состав питания — не клиническая и без ставок; точность подсказки имитирована на уровне семидесяти пяти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шестидесяти четырёх до сорока восьми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 Разбивки по экспертности в этой работе нет вовсе, поэтому под матрицу выше её числа не встают, и ставить их туда нельзя.</a:t>
            </a:r>
          </a:p>
          <a:p>
            <a:r>
              <a:t/>
            </a:r>
          </a:p>
          <a:p>
            <a:r>
              <a:t>И общий смысл этой пары кадров, ради которого она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Экспертность в счёт входит,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Две оговорки, которые произносятся здесь, а на кадре больше не стоят (#293, Этап D — сняты ради кегля тела; первая из них к тому же дословно повторяла подпись схемы этого же кадра): больного не осматривал никто — хирурги работали по письменным описаниям случаев; повторения замера нет.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 Насколько почти все — измерено, и не на этой системе, а на целом их классе: систематический обзор 2024 года по тревогам о лекарственных взаимодействиях даёт среднюю долю отклонения 90 из ста при доверительном интервале от 85 до 95, с разбросом по отдельным работам от 55 до 98; в одном десятицентровом исследовании из 16 011 тревог отклонено 95,7 из ста. И самое неприятное число этого ряда: среди отклонений тревог максимальной тяжести уместными постфактум признаны 0,5 из ста. Читать это надо осторожно и в обе стороны: система откалибрована так, что большинство тревог избыточны, и высокая доля отклонения — отчасти разумное приспособление, а не только усталость; оба объяснения живут в литературе рядом.</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 то есть не «половина заметок скопирована», а «половина написанного уже было написано».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показан случаем, и показан он прежде доли намеренно: доля говорит про частоту и ничего про устройство. У пациента на химиотерапии с ранее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 запись была единственным, по чему это проверяли. Вскоре после выписки у пациента развилась тромбоэмболия лёгочной артерии с повторной госпитализацией.</a:t>
            </a:r>
          </a:p>
          <a:p>
            <a:r>
              <a:t/>
            </a:r>
          </a:p>
          <a:p>
            <a:r>
              <a:t>Разряд этого свидетельства назову сразу, чтобы случай не читался как замер: это отдельное сообщение об одном случае, самое слабое свидетельство из возможных. Оно показывает устройство ошибки и ничего не говорит о её частоте — частоту держат два числа под ним, половина слов карты и два и шесть десятых процента найденных диагностических ошибок. Порядок именно такой: сначала видно, как ошибка устроена, потом — как часто она встречается. Обратный порядок даёт доли, за которыми зал не видит ни одного человека.</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Tsou и соавт., Applied Clinical Informatics 2017</a:t>
            </a:r>
            <a:r>
              <a:t> — обзор, по которому идут и случай с гепарином, и числа 7,4 · 35,7 · 2,6 · </a:t>
            </a:r>
            <a:r>
              <a:rPr u="sng">
                <a:solidFill>
                  <a:srgbClr val="065A82"/>
                </a:solidFill>
                <a:hlinkClick r:id="rId4"/>
              </a:rPr>
              <a:t>Steinkamp и соавт., JAMA Network Open 2022</a:t>
            </a:r>
            <a:r>
              <a:t> — доля дословно перенесённых слов карты</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И сразу замер, который показывает, насколько сильно читатель задаёт эту работу. Трое врачей, внедрявших одну и ту же систему электронной карты в больницах США и за их пределами, взяли данные самого поставщика и посчитали длину амбулаторной заметки. Американская оказалась вчетверо длиннее: больше шести тысяч знаков против примерно тысячи двухсот у специалистов вне США — при одном и том же поставщике карты, тех же полях и тех же инструментах вставки. Различие не может быть различием продукта, продукт один; авторы называют причину прямо — документация вне США короче, потому что в неё кладут только клинически существенное, а американская заметка раздута тем, что служит ещё и платёжным и контрольным документом. Разряд называю честно: это редакционная статья, а не исследование с методом, числа предоставлены поставщиком, выборка и способ счёта не раскрыты — направление она показывает, величину заявляет. Второе число оттуда же и отдельной выборкой: в двадцать первом году в США поправили правила оплаты приёма ровно затем, чтобы снять с врача документирование, нужное только для счёта; через три года по миллиарду семистам миллионам заметок средняя длина не упала, а выросла на восемь целых одну десятую процента, тогда как время на одну заметку упало на одиннадцать целых одну десятую. Пишут быстрее, а не короче; длину снизили только те учреждения, которые снизили употребление подстановки и копирования. Два этих ряда в одну бухгалтерию не складываются — разные выборки и разные годы. 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а проверяет запись экспертиза качества медицинской помощи — она смотрит на соответствие порядкам, а не выставляет счёт по объёму текста. Это другой механизм давления на длину, чем американский. Сопоставимого замера длины заметки по России нет: ни публикации со счётом знаков, ни ведомственной статистики, — и говорю это прямо, чтобы следующий, кто откроет вопрос, не подставил сюда похожее американское число.</a:t>
            </a:r>
          </a:p>
          <a:p>
            <a:r>
              <a:t/>
            </a:r>
          </a:p>
          <a:p>
            <a:r>
              <a:t>**Вопрос залу** — про их собственную работу: у кого есть документ, который вы пишете не для коллеги, а для проверяющего, и насколько он длиннее того, что нужно по делу?</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r>
              <a:t> · </a:t>
            </a:r>
            <a:r>
              <a:rPr u="sng">
                <a:solidFill>
                  <a:srgbClr val="065A82"/>
                </a:solidFill>
                <a:hlinkClick r:id="rId5"/>
              </a:rPr>
              <a:t>Downing, Bates, Longhurst, Annals of Internal Medicine 2018 — длина заметки в США и вне США</a:t>
            </a:r>
            <a:r>
              <a:t> · </a:t>
            </a:r>
            <a:r>
              <a:rPr u="sng">
                <a:solidFill>
                  <a:srgbClr val="065A82"/>
                </a:solidFill>
                <a:hlinkClick r:id="rId6"/>
              </a:rPr>
              <a:t>Epic Research, 1,7 млрд заметок, 2023 — длина после правки правил оплаты</a:t>
            </a:r>
            <a:r>
              <a:t> · </a:t>
            </a:r>
            <a:r>
              <a:rPr u="sng">
                <a:solidFill>
                  <a:srgbClr val="065A82"/>
                </a:solidFill>
                <a:hlinkClick r:id="rId7"/>
              </a:rPr>
              <a:t>приказ Минздрава России от 05.08.2022 № 530н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Протоколы оценивали эксперты, без слепого сравнения и контрольной группы. В какую сторону такая оценка сдвинет результат — и почему?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 Величина у поправки есть, и снята она в другой области, на кардиограммах: из 159 630 реальных записей одной американской клиники за 2011–2023 годы врач правил машинное заключение в 31,3 случаях из ста. То есть почти в каждом третьем — и это самый прямой из имеющихся ответов на вопрос, работает ли человек в контуре по-настоящему. Рядом, у той же группы работ, стоит обратная сторона: подсказку, принятую без проверки, потом правят в 53 случаях из ста против 18, если её проверили сразу. Поправка существует; она просто происходит позже, чем нужно.</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другую больницу.</a:t>
            </a:r>
          </a:p>
          <a:p>
            <a:r>
              <a:t/>
            </a:r>
          </a:p>
          <a:p>
            <a:r>
              <a:t>Вопрос залу здесь устроен игрой, и ответ на него — пробел, а не число. Я называю заявленное: минус двадцать семь процентов времени протокола во втором внедрении, два эндоскопических центра, сто восемьдесят — двести исследований в день на центр. И прошу назвать вслух, от скольких минут это считается: от десяти? от двух? Пусть прозвучит хоть одна догадка. После этого вскрываю: исходного времени не опубликовано вовсе. Названа только доля. Двадцать семь процентов от десяти минут и двадцать семь процентов от двух — это разные вещи для расписания приёма, и выбрать между ними по публикации нельзя. Зал в этот момент обычно уже назвал своё число — и это ровно то, что делает с таким сообщением всякий читатель: достраивает базу сам, не замечая, что достроил.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Первый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Первым идёт рандомизированный опыт на разработчиках: он меряет ровно вторую половину пары — результат без помощника — и меряет её жребием, то есть тем способом, которого нет ни у одного клинического разбора раздела. Стоит он первым по двум причинам: даёт мерку разряда свидетельства прежде, чем ею мерить, и снят на той работе, которой занят сам зал. Клинической эта работа при этом не является, и путать два разряда нельзя. Вторым — доля обнаружения, измеренная у тех же врачей до появления помощника и после периода работы с ним: единственное прямое свидетельство износа на реальной клинической работе. Третьим — российское испытание ArtInCol: ту же величину на той же процедуре оно меряет сильнее по разряду свидетельства, но периода наблюдения после снятия помощника у него нет.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картиной, и стоит она первой намеренно: опоры, о которых дальше, устроены именно так из-за неё.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опоры — как это решение принимают без всякой модели. Их три, работают они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Значит у российского эндоскописта в обязательном порядке нет ровно того прибора, которого не хватило врачу из картины, с которой кадр начался: узнать о падении ему неоткуда.</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и он предсказание, а не опрос: из четырёх способов замера, названных прошлым кадром, один меряет результат работы, а три — поведение и объём. Прошу назвать, какой именно меряет результат, и сказать, почему его проще всего подменить временем выведения прибора. Ответ: доля обнаружения; подменяют её потому, что время держать проще, а долю старанием не поднять.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первым, и место у него выбрано, а не досталось. Два следующих сняты в клинике, и каждый из них оставляет свою дыру: польская работа измерит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будет мерить нужное слабым способом, другая — сильным способом не то. Здесь вторая половина пары измерена жребием, и это единственное место раздела, где так. Мерку, которой зал будет читать оба клинических разбора, он получает прежде, чем ею мерить, — за этим кадр и вынесен вперёд.</a:t>
            </a:r>
          </a:p>
          <a:p>
            <a:r>
              <a:t/>
            </a:r>
          </a:p>
          <a:p>
            <a:r>
              <a:t>Вторая причина ставить его первым, и она важнее. Он снят на той работе, которой занят сам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 Раздел про то, что стало с человеком, который решает, и начинается он с человека, который сидит в зале.</a:t>
            </a:r>
          </a:p>
          <a:p>
            <a:r>
              <a:t/>
            </a:r>
          </a:p>
          <a:p>
            <a:r>
              <a:t>И сразу различение, которое нельзя проглотить. Польская работа, которая будет следующей, мерила ИЗНОС: те же девятнадцать врачей были в форме и стали хуже. Здесь мерится ФОРМИРОВАНИЕ: библиотеки не знал никто, и вопрос стоял так — сложился ли навык вообще. Восьмую форму словаря, «исполнитель тот же, но стал хуже»,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то, ради чего этот случай ценнее двух следующих: он называет не только расход, но и способ его не платить.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польской работы,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задаёт рамку всему разделу, если произнести её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который только начался.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 С этим вопросом и пойдём к врачам.</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которая идёт следующей,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жребием вторая половина измерена только на работе разработчиков, с которой раздел начался, — и клиническим тот замер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инженерную работу вообще,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ровно одно новое число — счёт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Порядок четырёх сводов здесь несущий, и его стоит объявить вслух. Четыре подряд — уже много, поэтому они идут разными формами: таблица форм словаря, полоса плашек, карта задач и видов данных, ведомость платежа. Причина не в красоте: прошлый круг этого раздела шёл подряд пятью однотипными сводами, и зал переставал смотреть с третьего. Скажу честно и то, что эту развёрстку портит: три формы из четырёх — табличные, и разводит их только устройство граф, а не сам жанр. Это цена сокращения хвоста вечера, и я предпочла её десяти минутам ведомостей перед финалом.</a:t>
            </a:r>
          </a:p>
          <a:p>
            <a:r>
              <a:t/>
            </a:r>
          </a:p>
          <a:p>
            <a:r>
              <a:t>Первый отвечает, что сделалось с работой: девять форм словаря, именами они стояли в начале вечера, здесь под каждой стоит счёт. Семь форм из девяти несут число, две стоят прочерком, и оба прочерка я называю прочерками.</a:t>
            </a:r>
          </a:p>
          <a:p>
            <a:r>
              <a:t/>
            </a:r>
          </a:p>
          <a:p>
            <a:r>
              <a:t>Второй отвечает, чей это результат, и он единственный несёт новое число. Из двадцати одного подробного разбора в тринадцати заявленный выигрыш или заявленная вина принадлежат не обученной модели: в двух её в механизме нет вовсе, в семи результат принадлежит порогу, составу данных, заданной цели, реализации или объёму, в четырёх число сменило предмет по дороге от первоисточника к пересказу. Там же отдельной строкой — семь российских разборов из тех же двадцати одного.</a:t>
            </a:r>
          </a:p>
          <a:p>
            <a:r>
              <a:t/>
            </a:r>
          </a:p>
          <a:p>
            <a:r>
              <a:t>Третий кладёт всё разобранное на сетку курса и тут же режет её поперёк: не по стадиям, а по типам задач, потому что один тип проходит через несколько стадий, а в одном разделе типов несколько. Главное там — не занятые клетки, а восемь пустых из двенадцати, три места за краем окна и один раздел, который в окне не занимает ничего.</a:t>
            </a:r>
          </a:p>
          <a:p>
            <a:r>
              <a:t/>
            </a:r>
          </a:p>
          <a:p>
            <a:r>
              <a:t>Четвёртый отвечает, чем заплачено, и это единственное место вечера, где четыре адреса оси названы вместе, с измерением под каждым. Им же закрывается нить, открытая на входе шестью именами искажений: встретились все шесть, а механизмом из введения назван за весь вечер ровно один.</a:t>
            </a:r>
          </a:p>
          <a:p>
            <a:r>
              <a:t/>
            </a:r>
          </a:p>
          <a:p>
            <a:r>
              <a:t>И шов вперёд, который надо произнести, а не проглотить: ответа на вопрос, с которого вечер начался, в этом разделе нет — он стоит первым кадром закрытия, сразу за этими четырьмя, и там же закрывается линия женщины с письмом.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запись приёма: время в заметке упало на девять с половиной процентов против контрольной группы, а активное время правки не изменилось ни у одного из двух инструментов. То есть набор стал короче, а вычитка осталась ровно та же — работа переехала с набора на чтение чужого текста, и это самый ясный случай первой формы в вечере.</a:t>
            </a:r>
          </a:p>
          <a:p>
            <a:r>
              <a:t/>
            </a:r>
          </a:p>
          <a:p>
            <a:r>
              <a:t>Шаг появился — разбор расхождения при замене второго читателя моделью, и это сильнейшая строка словаря.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десятых. Почти втрое в первом и на четверть во втором, и разброс этот — не шум, а разница протокола. Рядом норвежское измерение на четырёхстах сорока одной тысяче случаев: одно первичное чтение сорок восемь секунд, разбор расхождения две минуты двенадцать, то есть один арбитраж по времени равен примерно пяти чтениям.</a:t>
            </a:r>
          </a:p>
          <a:p>
            <a:r>
              <a:t/>
            </a:r>
          </a:p>
          <a:p>
            <a:r>
              <a:t>Исполнитель сменился — тут две опоры. Первая: съёмка глазного дна на приёме вместо визита к офтальмологу, явка выросла с двадцати двух из ста до ста. Вторая, отечественная: российский помощник на колоноскопии берёт на себя часть поиска,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там, где их было ноль, — нагрузка выросла у того же врача на том же месте. Первая опора четвёртой формы — модель сепсиса: тревога приходит на восемнадцать госпитализаций из ста, подтверждается двенадцать из ста поднятых тревог, и считано это от разного.</a:t>
            </a:r>
          </a:p>
          <a:p>
            <a:r>
              <a:t/>
            </a:r>
          </a:p>
          <a:p>
            <a:r>
              <a:t>Нагрузка на том же месте упала — объём человеческого чтения в шведской программе ниже на сорок четыре с лишним процента при большем числе найденных раков, восемьдесят тысяч женщин. Обратная сторона той же формы — сужение зрительного поиска при ложной подсказке: объём работы упал, и это оказалось ценой, а не выигрышем.</a:t>
            </a:r>
          </a:p>
          <a:p>
            <a:r>
              <a:t/>
            </a:r>
          </a:p>
          <a:p>
            <a:r>
              <a:t>Сместилась цена ошибки — две опоры, и обе про подгруппу. На тёмной коже три модели различают больного и здорового хуже на девять-пятнадцать пунктов из ста, и лечит это состав набора, а не алгоритм. При равном балле отбора у чернокожих пациентов хронических болезней больше на двадцать шесть из ста — балл назвал одинаково здоровыми людей, здоровье которых различается. Средняя по выборке в обоих случаях осталась приличной; платит подгруппа.</a:t>
            </a:r>
          </a:p>
          <a:p>
            <a:r>
              <a:t/>
            </a:r>
          </a:p>
          <a:p>
            <a:r>
              <a:t>Исполнитель тот же, но стал хуже — две опоры, и обе прозвучали. Хирурги с подсказкой модели на септическом шоке: ноль целых семьсот двенадцать против ноль целых восемьсот двадцать без подсказки. И единственный замер износа на реальной клинической работе: у тех же девятнадцати врачей процедур с находкой стало двести двадцать четыре из тысячи против двухсот восьмидесяти четырёх, минус шестьдесят находок на тысячу.</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Рутинная перепроверка каждого случая ушла, а на её место пришёл разбор расхождения, посчитанный в минутах. Набор текста сократился, а вычитка чужого черновика появилась.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 например, кто читает первым, человек или модель, — но посчитан как порядок он не был ни в одном случае.</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время заметки: </a:t>
            </a:r>
            <a:r>
              <a:rPr u="sng">
                <a:solidFill>
                  <a:srgbClr val="065A82"/>
                </a:solidFill>
                <a:hlinkClick r:id="rId3"/>
              </a:rPr>
              <a:t>трёхрукое рандомизированное испытание, препринт medRxiv 2025</a:t>
            </a:r>
            <a:r>
              <a:t>. Форма 3, доля чтений на арбитраж и разбор расхождения в минутах труда: </a:t>
            </a:r>
            <a:r>
              <a:rPr u="sng">
                <a:solidFill>
                  <a:srgbClr val="065A82"/>
                </a:solidFill>
                <a:hlinkClick r:id="rId4"/>
              </a:rPr>
              <a:t>Уоррен и соавт., Nature Cancer 2026</a:t>
            </a:r>
            <a:r>
              <a:t> и </a:t>
            </a:r>
            <a:r>
              <a:rPr u="sng">
                <a:solidFill>
                  <a:srgbClr val="065A82"/>
                </a:solidFill>
                <a:hlinkClick r:id="rId5"/>
              </a:rPr>
              <a:t>Hovda, Holen, Hofvind, European Radiology 2026</a:t>
            </a:r>
            <a:r>
              <a:t>. Форма 4, тревога часто и подтверждается редко: </a:t>
            </a:r>
            <a:r>
              <a:rPr u="sng">
                <a:solidFill>
                  <a:srgbClr val="065A82"/>
                </a:solidFill>
                <a:hlinkClick r:id="rId6"/>
              </a:rPr>
              <a:t>Wong, Otles и соавт., JAMA Internal Medicine 2021, с эрратой того же журнала</a:t>
            </a:r>
            <a:r>
              <a:t>. Форма 4а, две реализации с обратными знаками: </a:t>
            </a:r>
            <a:r>
              <a:rPr u="sng">
                <a:solidFill>
                  <a:srgbClr val="065A82"/>
                </a:solidFill>
                <a:hlinkClick r:id="rId7"/>
              </a:rPr>
              <a:t>Taib и соавт., Radiology 2026</a:t>
            </a:r>
            <a:r>
              <a:t> и </a:t>
            </a:r>
            <a:r>
              <a:rPr u="sng">
                <a:solidFill>
                  <a:srgbClr val="065A82"/>
                </a:solidFill>
                <a:hlinkClick r:id="rId8"/>
              </a:rPr>
              <a:t>Gommers и соавт., Radiology 2025</a:t>
            </a:r>
            <a:r>
              <a:t>. Форма 5, явка и объём чтения: </a:t>
            </a:r>
            <a:r>
              <a:rPr u="sng">
                <a:solidFill>
                  <a:srgbClr val="065A82"/>
                </a:solidFill>
                <a:hlinkClick r:id="rId9"/>
              </a:rPr>
              <a:t>Wolf и соавт., Nature Communications 2024</a:t>
            </a:r>
            <a:r>
              <a:t> и </a:t>
            </a:r>
            <a:r>
              <a:rPr u="sng">
                <a:solidFill>
                  <a:srgbClr val="065A82"/>
                </a:solidFill>
                <a:hlinkClick r:id="rId10"/>
              </a:rPr>
              <a:t>анализ безопасности MASAI, Lancet Oncology 2023</a:t>
            </a:r>
            <a:r>
              <a:t>. Форма 7, обе опоры: </a:t>
            </a:r>
            <a:r>
              <a:rPr u="sng">
                <a:solidFill>
                  <a:srgbClr val="065A82"/>
                </a:solidFill>
                <a:hlinkClick r:id="rId11"/>
              </a:rPr>
              <a:t>Daneshjou и соавт., Science Advances 2022</a:t>
            </a:r>
            <a:r>
              <a:t> и </a:t>
            </a:r>
            <a:r>
              <a:rPr u="sng">
                <a:solidFill>
                  <a:srgbClr val="065A82"/>
                </a:solidFill>
                <a:hlinkClick r:id="rId12"/>
              </a:rPr>
              <a:t>Obermeyer и соавт., Science 2019</a:t>
            </a:r>
            <a:r>
              <a:t>. Форма 8, обе опоры: </a:t>
            </a:r>
            <a:r>
              <a:rPr u="sng">
                <a:solidFill>
                  <a:srgbClr val="065A82"/>
                </a:solidFill>
                <a:hlinkClick r:id="rId13"/>
              </a:rPr>
              <a:t>Budzyń и соавт., Lancet Gastroenterology &amp; Hepatology 2025</a:t>
            </a:r>
            <a:r>
              <a:t> и </a:t>
            </a:r>
            <a:r>
              <a:rPr u="sng">
                <a:solidFill>
                  <a:srgbClr val="065A82"/>
                </a:solidFill>
                <a:hlinkClick r:id="rId14"/>
              </a:rPr>
              <a:t>модель против чутья хирурга, Journal of Trauma 2023</a:t>
            </a:r>
            <a:r>
              <a:t>. Формы 4 и 5, вторая опора у обеих: </a:t>
            </a:r>
            <a:r>
              <a:rPr u="sng">
                <a:solidFill>
                  <a:srgbClr val="065A82"/>
                </a:solidFill>
                <a:hlinkClick r:id="rId15"/>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a:p>
            <a:r>
              <a:t/>
            </a:r>
          </a:p>
          <a:p>
            <a:r>
              <a:t>**Что каждая форма мерит — колонка «мерит», снятая с кадра (#293, Этап D, П6-б.4: таблица на одиннадцать строк укрупнена переносом второстепенной колонки в заметки). Произносится по ходу таблицы:**</a:t>
            </a:r>
          </a:p>
          <a:p>
            <a:r>
              <a:t/>
            </a:r>
          </a:p>
          <a:p>
            <a:r>
              <a:t>- **Нагрузка переехала на другой шаг** — место</a:t>
            </a:r>
          </a:p>
          <a:p>
            <a:r>
              <a:t>- **Шаг исчез совсем** — место</a:t>
            </a:r>
          </a:p>
          <a:p>
            <a:r>
              <a:t>- **Шаг появился** — место</a:t>
            </a:r>
          </a:p>
          <a:p>
            <a:r>
              <a:t>- **Нагрузка выросла на том же месте** — объём</a:t>
            </a:r>
          </a:p>
          <a:p>
            <a:r>
              <a:t>- **Нагрузка на том же месте упала** — объём</a:t>
            </a:r>
          </a:p>
          <a:p>
            <a:r>
              <a:t>- **Сменился исполнитель** — рука</a:t>
            </a:r>
          </a:p>
          <a:p>
            <a:r>
              <a:t>- ***Изменился порядок работ*** — *порядок*</a:t>
            </a:r>
          </a:p>
          <a:p>
            <a:r>
              <a:t>- **Сместилась цена ошибки** — цена ошибки</a:t>
            </a:r>
          </a:p>
          <a:p>
            <a:r>
              <a:t>- **Исполнитель тот же, но стал хуже** — рука</a:t>
            </a:r>
          </a:p>
          <a:p>
            <a:r>
              <a:t>- ***Исполнитель тот же, но стал лучше*** — *рука*</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новое число вечера, и оно про нас самих, а не про чужую работу. Все остальные числа лекции уже предъявлены, каждое со своей базой; здесь складывается то, чего не видно ни в одном отдельном случае: как часто, разбирая внедрение модели, мы доходили до механизма и обнаруживали, что выигрыш или вина принадлежат чему-то другому.</a:t>
            </a:r>
          </a:p>
          <a:p>
            <a:r>
              <a:t/>
            </a:r>
          </a:p>
          <a:p>
            <a:r>
              <a:t>Знаменатель назову прямо, потому что его можно проверить. Двадцать один — это подробные разборы, те, что дивайдер каждого раздела называет по именам: четыре в скрининге, пять в инструментальной диагностике, шесть в постановке диагноза, три в документации, три в квалификации. Кадр «Пример такой-то, цена» или «Пример такой-то, устройство» — часть своего разбора, а не отдельный случай, иначе знаменатель задвоился бы. Тринадцать — это те разборы, где на экране стояло, чему именно принадлежит результат. Проверяется это открытием кадра: находите строку про механизм и сверяете её с тем, что я сейчас говорю.</a:t>
            </a:r>
          </a:p>
          <a:p>
            <a:r>
              <a:t/>
            </a:r>
          </a:p>
          <a:p>
            <a:r>
              <a:t>Первая графа самая простая и самая неприятная. Модели в механизме нет вовсе, а разговор о ней идёт. Сортировка обращений первой линии: экзамен восемьдесят один против семидесяти двух у врачей, инвестиций больше миллиарда, оценка четыре с лишним миллиарда — а внутри, по словам человека, который отвечал там за регуляторные вопросы, дерево решений «если — то» в таблице. Проверка здесь одна и работает всегда: уберите обученную модель. Если механизм продолжает работать, значит он и работал без неё. Второй случай той же графы тоньше и ближе к залу: износ навыка. Мы привыкли считать, что навык расходует модель, — а в цитологии Великобритании поток на чтение упал на восемьдесят-восемьдесят пять из ста после перехода на другой лабораторный тест, и центров осталось восемь из сорока пяти. Навык расходует переданный объём работы. Модель — лишь один из способов его передать, и далеко не самый мощный.</a:t>
            </a:r>
          </a:p>
          <a:p>
            <a:r>
              <a:t/>
            </a:r>
          </a:p>
          <a:p>
            <a:r>
              <a:t>Вторая графа самая населённая, семь разборов из двадцати одного, и в ней модель есть. Результат при этом принадлежит не ей. Экономия в московской сортировке профилактических снимков пришла не из того, что чтение подешевело: один снимок у человека стал дороже, а экономия целиком из тех пятидесяти пяти снимков из ста, которых не читает никто. Разрыв в точности на тёмной коже принадлежит составу обучающего набора. Несправедливость отбора в программу повышенного внимания принадлежит заданной цели: модель обучали предсказывать расходы, а решение принимали о болезни. Знак эффекта подсказки радиологу принадлежит порядку её предъявления — та же величина, другой порядок, обратный знак. Эффект автоматической записи приёма принадлежит реализации, а не классу инструментов: из двух инструментов в одном испытании у второго изменений не было вовсе. И класс модели сепсиса — штрафованная логистическая регрессия, а не глубокая сеть, которую в ней предполагают.</a:t>
            </a:r>
          </a:p>
          <a:p>
            <a:r>
              <a:t/>
            </a:r>
          </a:p>
          <a:p>
            <a:r>
              <a:t>Третья графа — про тех, кто пересказывает, и для инженера она самая практичная. Здесь первоисточник часто аккуратен, а ошибка рождается по дороге. Пятьдесят шесть целых семь десятых процента сэкономленной нагрузки двойного чтения — это пересчёт по сценарию, который сами авторы назвали вымышленным, а в реально внедрённой практике модель не заменила ни одного человеческого чтения, то есть ноль. Шестьдесят два целых восемь десятых процента в отечественном голосовом вводе — доля врачей, которые так считают, а не измеренное время. «Эффекта нет» у патологов — результат отчёта с одним числом, когда на группе прибавка незначима, а в обе стороны эффект вчетверо. Масштаб внедрения, крупнейший в мире по заявленным числам, подан как доказательство качества, тогда как замера последствий нет.</a:t>
            </a:r>
          </a:p>
          <a:p>
            <a:r>
              <a:t/>
            </a:r>
          </a:p>
          <a:p>
            <a:r>
              <a:t>Про семь отечественных разборов скажу отдельно, потому что это та практика, в которую часть зала может завтра попасть руками. Москва дважды: полмиллиона профилактических снимков с автономной сортировкой и три с половиной тысячи томограмм головы, где автономию как раз не дали. Протокол приёма, который заполняет голосовой помощник, и голосовой ввод протокола лучевого исследования. И колоноскопический помощник, испытанный жребием на тысяче с лишним пациентов в Москве и Уфе. Два добавились последними: модель на месте второго читателя маммограмм в скрининге и модель, предлагающая заключительный диагноз по медкарте. По разделам они лежат неровно, и это я тоже называю: в двух разделах отечественных разборов по два, в трёх по одному, и без отечественного разбора не осталось ни одного раздела.</a:t>
            </a:r>
          </a:p>
          <a:p>
            <a:r>
              <a:t/>
            </a:r>
          </a:p>
          <a:p>
            <a:r>
              <a:t>И про три строки, которые до экрана не доехали. Называю их не из аккуратности, а потому что это и есть мера того, сколько линии потеряно при сокращении лекции. Сильнейшая — рецензируемый обзор по теме деквалификации, который перепутал шесть из семи своих собственных первоисточников: восемь ординаторов стали тридцатью двумя, тысяча четыреста сорок три колоноскопии стали «более двадцати трёх тысяч», наблюдательное исследование названо рандомизированным. Цена этой строки в разряде источника: это рецензируемый обзор, и он врёт о своих же источниках, то есть ошибка живёт выше блога — там, где читатель обычно уже не проверяет. Вторая — «время описания исследования сократилось с двадцати минут до трёх секунд»: три секунды на подготовку заключения врачом физически невозможны, это, по всей видимости, время работы модели, поданное как время работы врача. Третья — «модель раннего предупреждения снизила смертность», где эффект принадлежит новой роли в процессе, отдельной медсестре быстрого реагирования, а не качеству модели.</a:t>
            </a:r>
          </a:p>
          <a:p>
            <a:r>
              <a:t/>
            </a:r>
          </a:p>
          <a:p>
            <a:r>
              <a:t>Приём, который зал уносит, стоит произнести дважды — здесь и на последнем кадре. У любого заявленного эффекта спрашивайте, от чего он посчитан. У любого пересказанного — открывайте первоисточник. Это две разные проверки, и вторая дешевле, чем кажется: в трёх случаях из четырёх в третьей графе хватило открыть сам источник и сверить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выводов стадий вы уже слышали, каждый на своём месте. Этот кадр режет тот же материал поперёк: не по стадиям, а по типам задач, и смысл реза в том, что один тип задачи проходит через несколько стадий, а один раздел несёт несколько типов. Распознавание на изображении встречалось нам и в скрининге, и в инструментальной диагностике, и в постановке диагноза; прогноз на структурированных данных — в диагностике и при постановке диагноза. Если смотреть по стадиям, кажется, что у каждой стадии своя история. Если смотреть по типам, видно другое: граница между «работает» и «не работает» у одного типа задачи везде одна и та же, независимо от стадии.</a:t>
            </a:r>
          </a:p>
          <a:p>
            <a:r>
              <a:t/>
            </a:r>
          </a:p>
          <a:p>
            <a:r>
              <a:t>Про саму таблицу и её счёт. Двенадцать клеток — это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 Проверить мой счёт можно прямо с экрана: в каждой строке назван ровно один вид данных, строк четыре, значит занятых клеток четыре, а пустых восемь.</a:t>
            </a:r>
          </a:p>
          <a:p>
            <a:r>
              <a:t/>
            </a:r>
          </a:p>
          <a:p>
            <a:r>
              <a:t>Восемь пустых клеток — такое же содержание, как четыре занятых, и это надо сказать вслух. Классификации и распознавания на тексте в лекции нет вовсе; поиска и генерации на изображении и на структурированных данных нет; прогноза на тексте и на изображении нет. Там либо инструмента такого класса в клинике нет, либо он есть, но цену ошибки в нём никто не удерживает процедурой — а раз процедуры нет, то и разбирать нечего. Честная пустая клетка лучше выдуманной занятой.</a:t>
            </a:r>
          </a:p>
          <a:p>
            <a:r>
              <a:t/>
            </a:r>
          </a:p>
          <a:p>
            <a:r>
              <a:t>Имена разборов внутри занятых клеток — ответ на вопрос, зачем курс держит сетку. Инструменты пяти разделов уложились в четыре клетки. Классификация на изображении занята дважды: скринингом, где снимают глазное дно, и инструментальной диагностикой, где оценивают кожное образование. Распознавание на изображении трижды: скрининг с маммограммой, диагностика с сортировкой потока на рентгене и томографии, постановка диагноза с замером взгляда над той же маммограммой. Поиск и генерация на тексте трижды: сортировка обращения до приёма, чтение описаний случаев языковой моделью и запись приёма с выписным эпикризом. Прогноз на структурированных данных дважды: отбор в программу повышенного внимания и модель раннего предупреждения о сепсисе. Класс модели разделы не различает; различают их цена промаха и процедура вокруг человека.</a:t>
            </a:r>
          </a:p>
          <a:p>
            <a:r>
              <a:t/>
            </a:r>
          </a:p>
          <a:p>
            <a:r>
              <a:t>Теперь по строкам таблицы, с числами. Распознавание на изображении работает фильтром потока: решить, что отметить и кого прочесть дважды, оно умеет — шведская программа измерила это жребием на сотне с лишним тысяч женщин, московская сортировка на полумиллионе снимков. Чего оно не даёт — основания снять чтение, и это читается в московском случае с арифметикой на экране: один снимок у человека стал дороже, а тридцать три миллиона экономии пришли целиком из тех пятидесяти пяти снимков из ста, которых не читает никто. Экономия приходит из непрочитанного, а не из точности.</a:t>
            </a:r>
          </a:p>
          <a:p>
            <a:r>
              <a:t/>
            </a:r>
          </a:p>
          <a:p>
            <a:r>
              <a:t>Классификация на изображении работает там, где снимок стандартизован и вопрос годности решён до модели. Съёмка глазного дна на приёме это показала: явка выросла с двадцати двух из ста до ста. Но ровно там же стоит и граница — в поле годность снимка решает человек без правила, и отказной поток никто не смотрит. А второй случай того же типа, кожные образования, показывает вторую границу: средняя по проверочному набору осталась приличной, а платит подгруппа, которой в обучающем наборе было мало.</a:t>
            </a:r>
          </a:p>
          <a:p>
            <a:r>
              <a:t/>
            </a:r>
          </a:p>
          <a:p>
            <a:r>
              <a:t>Поиск и генерация на тексте работает черновиком к концу приёма, и один шаг она действительно убрала — структуру документа больше не надо держать в голове при живом человеке. Полнее человека она не пишет: в слепом сравнении ста госпитализаций машинный эпикриз вышел короче и связнее, но менее полным. И цена здесь смещается: пишет тот же, а платит читатель — тот, кто откроет документ через месяц, не видев пациента.</a:t>
            </a:r>
          </a:p>
          <a:p>
            <a:r>
              <a:t/>
            </a:r>
          </a:p>
          <a:p>
            <a:r>
              <a:t>Прогноз на структурированных данных работает сигналом рядом со шкалой, а не вместо неё. Это надо произносить именно так, потому что сравнение с нулём здесь даёт неверную картину: шкала подтверждалась восемью тревогами из ста, модель двенадцатью, и из этой полосы она не вышла. Решением прогноз не работает, и причина инженерная: цель задаёт переменная, на которой учили, а порог задаёт документ. Отбор в программу повышенного внимания — самый ясный случай: модель обучали предсказывать расходы, а решение принимали о болезни. И отдельно про то, почему именно эта клетка населена: структурированные данные там уже собраны кем-то до модели — выписанные назначения, показатели у койки, счета за лечение. Модель приходит туда, где цифры уже лежат, и это наблюдение переносится за пределы медицины почти без правок.</a:t>
            </a:r>
          </a:p>
          <a:p>
            <a:r>
              <a:t/>
            </a:r>
          </a:p>
          <a:p>
            <a:r>
              <a:t>Три места вне окна назову словами, потому что иначе они читаются как недосмотр отбора. Распознавание речи — два отечественных разбора раздела документации: протокол приёма, который заполняет голосовой помощник, и голосовой ввод протокола лучевого исследования. Работает оно набором текста вместо клавиатуры, и сорок лет до этого та же технология клавиатуре проигрывала: в восемьдесят первом году голосовой ввод шёл вчетверо дольше и давал двенадцать ошибок против нуля. Не работает — на окончаниях слов и на чужой речи в кабинете, когда в записи оказывается не только врач; и времени здесь никто не измерил — шестьдесят два с лишним процента это доля врачей, которые считают, что стало быстрее, а не измеренное время. Распознавание на видео — подсветка в реальном времени у тех, кто решает: польское испытание и отечественный ArtInCol.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Отдельно про раздел квалификации, потому что в окне его нет, и это надо сказать самому, не дожидаясь вопроса. Помощник, обводящий находку рамкой во время процедуры, работает на видео в реальном времени — а видео в двенадцать показанных клеток не входит. Из этого не следует, что раздел выпадает из сетки курса: в полной сетке из сорока двух клеток его место есть, оно просто за краем окна. Следует другое, и оно содержательно: единственный раздел вечера, который мерил не работу, а человека внутри неё, работает с тем видом данных, которого в нашем окне нет. Совпадение это или нет, я не знаю и утверждать не буду.</a:t>
            </a:r>
          </a:p>
          <a:p>
            <a:r>
              <a:t/>
            </a:r>
          </a:p>
          <a:p>
            <a:r>
              <a:t>Третий слой этой таблицы — чем в каждой клетке удерживают цену ошибки, и его я проговорю, потому что на кадре ему места нет. Процедуры у четырёх клеток разные, и ни одна не совпадает с другой. На распознавании изображения держат двойное чтение, арбитраж на расхождении и пересчёт доли верных тревог под местную распространённость. На классификации изображения держат годность входа, решённую до модели: система, которая сама отклоняет негодный снимок, и повторный визит через год для тех, у кого всё чисто.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А износ руки не поймают нигде: обзор допуска по трём странам показал, что процедуры, которая измеряла бы врача без помощника, нет ни в Великобритании, где результат работы входит в допуск числом, ни в США, где тот же показатель есть и допуском объявлен не быть, ни в России, где считают часы учёбы. Писать сюда «переаттестация» нельзя — такой процедуры нет ни в одной юрисдикции.</a:t>
            </a:r>
          </a:p>
          <a:p>
            <a:r>
              <a:t/>
            </a:r>
          </a:p>
          <a:p>
            <a:r>
              <a:t>И вывод, который стоит сказать вслух, потому что он переносится за пределы медицины почти без правок. Посмотрите на правую графу целиком: ни одна её строка не про качество модели. Годность входа, состав обучающих данных, заданная цель, назначенный порог, кто читает документ потом — это всё инженерная работа вокруг модели, и именно она решает, сработает внедрение или нет. Качество модели в этом списке не упоминается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тремя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 Порядок строк тот же, в котором адреса объявлены на входе, и это не случайность: обещание и отчёт по нему читаются в одном порядке.</a:t>
            </a:r>
          </a:p>
          <a:p>
            <a:r>
              <a:t/>
            </a:r>
          </a:p>
          <a:p>
            <a:r>
              <a:t>Внимание. Зрительный поиск сужается при неверной подсказке: охват площади снимка фиксациями взгляда падает с одиннадцати с лишним до девяти с половиной процентов, а в людях это читается так — там, где подсказка молчала, пропущенных раков стало шестьдесят один из ста имевшихся против двадцати девяти. Знаменатель называю вместе с числом: подгруппа в четырнадцать случаев, и значимость есть. Разряд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Рядом вторая величина того же адреса: верное решение меняется на неверное под влиянием совета — систематический обзор. Обе про то, куда смотрит человек, а не про то, что он думает.</a:t>
            </a:r>
          </a:p>
          <a:p>
            <a:r>
              <a:t/>
            </a:r>
          </a:p>
          <a:p>
            <a:r>
              <a:t>Навык. Техника падает в работе без помощника после привыкания: с двухсот восьмидесяти четырёх процедур с находкой на тысячу до двухсот двадцати четырёх — минус шестьдесят находок на тысячу,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 Это самая слабая строка ведомости и при этом единственный замер износа на реальной клинической работе — обе половины произносятся вместе.</a:t>
            </a:r>
          </a:p>
          <a:p>
            <a:r>
              <a:t/>
            </a:r>
          </a:p>
          <a:p>
            <a:r>
              <a:t>Подпись. Девять машинных выписных эпикризов из одиннадцати несли хотя бы одну ошибку, и из девятнадцати выдумок крупных десять; измерено слепым сравнением ста госпитализаций, каждый документ читали двое. Что в этой строке дорого — не трудность поставить подпись, а цена отказа от неё: врача, принявшего подсказку в пользу стандартного лечения, при разборе случая оценивают как более разумного, чем отвергнувшего её,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a:t>
            </a:r>
          </a:p>
          <a:p>
            <a:r>
              <a:t/>
            </a:r>
          </a:p>
          <a:p>
            <a:r>
              <a:t>Арбитраж, и здесь надо сказать, что изменилось с прошлого круга, потому что я сама объявляла по этому адресу прочерк. Тогда разбор арбитража жил в разделе надзора, раздел был изъят, и чужое число я подставлять отказалась: у шведского испытания арбитражная величина есть, но она меряет долю дошедших до арбитража случаев, а не цену арбитража, и подстановка была бы ровно тем, что эта лекция учит ловить. Теперь подставлять ничего не надо — своё измерение появилось в разделе скрининга.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вторым читателем — девять целых четыре десятых и тринадцать целых восемь десятых. То есть рост почти втрое в первом центре и на четверть во втором, и разброс этот не шум измерения, а разница протокола: первый центр разбирает только расхождения по отзыву, второй — все отзывы вообще. И отдельное норвежское измерение на четырёхстах сорока одной тысяче случаев посчитало это в секундах: одно первичное чтение занимает в среднем сорок восемь секунд, разбор одного расхождения — две минуты двенадцать. Один арбитраж по времени равен примерно пяти обычным чтениям. Это и есть прямой ответ на вопрос вечера: человек после модели не просматривает подсказку мимоходом, а выполняет операцию, которая стоит как пять его прежних.</a:t>
            </a:r>
          </a:p>
          <a:p>
            <a:r>
              <a:t/>
            </a:r>
          </a:p>
          <a:p>
            <a:r>
              <a:t>Про неровность оплаты. Читать ведомость надо по третьей графе, а не по второй: величина без разряда вводит в заблуждение сильнее, чем отсутствие величины. У арбитража два независимых испытания и самые крупные выборки вечера. У внимания — лабораторный замер на подгруппе в четырнадцать случаев. У навыка — одно наблюдательное исследование, которое никто не повторил. У подписи — доля документов с ошибкой, и что из этих ошибок случилось с больными, не проверил никто. Четыре строки одной таблицы, и доверие к ним разное в разы.</a:t>
            </a:r>
          </a:p>
          <a:p>
            <a:r>
              <a:t/>
            </a:r>
          </a:p>
          <a:p>
            <a:r>
              <a:t>Кто платит, и здесь вывод перевернулся против прошлого круга. Раньше в ведомости стояло, что скрининг не платит ничем: человек прочёл там каждое исследование. Теперь скрининг платит, и платит самым обеспеченным числом вечера — арбитражем. А не платит ничем из четырёх инструментальная диагностика, и это не пробел ведомости: её цена измерена и велика — двести девяносто пропущенных клинически значимых находок на полумиллионе снимков, — но лежит она в плоскости исхода, а не в плоскости человека, который решает. Четыре адреса оси мерят, что стало с решающим; пропущенная находка мерит, что стало с больным. Складывать их в одну графу нельзя.</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ста шести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a:t>
            </a:r>
          </a:p>
          <a:p>
            <a:r>
              <a:t/>
            </a:r>
          </a:p>
          <a:p>
            <a:r>
              <a:t>Значимости по ведомости произносятся здесь, на экране их нет: просмотренная площадь снимка сузилась при p равном 0,004, а падение в людях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 последней строкой ведомость закрывает нить, которую вечер открыл шестью именами. Рамка та была не наша: она из работы об искажениях при взаимодействии человека с языковой моделью, и медицинские замеры всей лекции ложатся на неё как частный случай. Теперь я возвращаюсь к тем же шести и говорю, что с каждым стало. Встретились все шесть — и это первое, что надо сказать, потому что рамка могла оказаться и пустой; не оказалась, под каждым именем в лекции стоит измеренный случай. Якорение мы видели трижды: патологи со подсказкой на срезах, стажёры с машинной расшифровкой кардиограммы — сорок два у кардиологов и двадцать семь у остальных специальностей при неверной расшифровке против восьмидесяти пяти при верной, — и хирурги, оценивающие риск после знакомства с моделью. Сужение — один лабораторный замер взгляда, он в первой строке ведомости. Износ навыка — третья строка. Поток тревог встречался чаще всех, трижды и в трёх разделах: сорок пять снимков из ста в «не норму» в московской сортировке, восемнадцать тревог на сто госпитализаций у модели сепсиса, одна целая двадцать три сотых ложного срабатывания на исследование у отечественного помощника на колоноскопии. Несогласие — четвёртая строка. Поправка — третья, и это единственное имя шестёрки с обратным знаком: врач правит заключение модели, когда находит ошибку, но вычитка не исчезла, а сменила предмет — искать теперь надо связное утверждение, которого в истории болезни не было.</a:t>
            </a:r>
          </a:p>
          <a:p>
            <a:r>
              <a:t/>
            </a:r>
          </a:p>
          <a:p>
            <a:r>
              <a:t>Второе про ту же строку, менее приятное и более важное. Механизмом из введения за весь вечер назван ровно один — износ навыка, и назван он на одном кадре в разделе квалификации. Остальные пять прошли вечер безымянными: материал был, термин не ехал с ним рядом. Это, строго говоря, не потерянная линия — линия, которая шла неназванной, и для зала разница огромная: безымянный механизм не складывается в рамку, он остаётся отдельным неприятным случаем. И ещё одно, чего на кадре нет: поток тревог своей графы платежа не получил не по недосмотру ведомости, а потому что платит он не вниманием, навыком, подписью или арбитражем, а рабочим временем живого человека, которого до инструмента в расписании не было. Это пятая плоскость, и четвёрка адресов её не держит.</a:t>
            </a:r>
          </a:p>
          <a:p>
            <a:r>
              <a:t/>
            </a:r>
          </a:p>
          <a:p>
            <a:r>
              <a:t>Про сторону пациента скажу прямо, потому что молчание здесь читалось бы как «там всё в порядке». Стадии согласия пациента в этой лекции нет вовсе: вечер шёл по стадиям, на которых решают о человеке, и ни одна из них не мерила того, о ком решают. Что известно по этой стороне и в лекцию не вошло: доверие падает, когда пациенту говорят, что врач пользуется моделью; модель как единственного читателя он почти не принимает, а как второе мнение — охотно; тревогу модели он просит проверить у врача чаще, чем наоборот; бесплатный осмотр моделью выбирает заметно чаще; без подписи автора ответ модели кажется ему сочувственнее ответа врача. Из всего этого через пять разделов повторилась одна асимметрия доверия, и то в зеркальном виде и на радиологах, а не на пациентах: находку радиолога перепроверяют втрое чаще, чем находку модели, хотя подтверждается она вшестеро реже. Пробел называю пробелом: лекция мерила решение о человеке и почти не мерила того, о ком решают.</a:t>
            </a:r>
          </a:p>
          <a:p>
            <a:r>
              <a:t/>
            </a:r>
          </a:p>
          <a:p>
            <a:r>
              <a:t>И закрываю нить той же фразой, которой кадр во входе её открыл, потому что за вечер она не изменилась, а только набрала оснований. Предупредить не помогает: предупреждение — сообщение, которое человек принимает к сведению и продолжает делать как делал. Помогают действия — рассмотреть противоположное прежде, чем согласиться; арбитраж, у которого есть время в расписании; процедура, которая мерит исполнителя без инструмента. Из этих трёх в лекции измерено первое, второе посчитано в минутах, а третьего не существует ни в одной юрисдикции.</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я останавливаюсь на несколько секунд, и остановка эта содержательная, а не для дыхания. Четыре свода, которые только что прошли, считали вечер: девять форм переезда работы, тринадцать приписок из двадцати одного разбора, карта задач и видов данных, ведомость четырёх платежей. Все четыре отвечают на вопрос «что произошло с работой». Прежде чем отвечать на вопрос, с которого вечер начался, надо назвать вслух, какого ответа у нас нет.</a:t>
            </a:r>
          </a:p>
          <a:p>
            <a:r>
              <a:t/>
            </a:r>
          </a:p>
          <a:p>
            <a:r>
              <a:t>Вот он. Почти всё, что сегодня измерялось, измеряло поведение человека: куда смотрит взгляд и сколько времени он держится в нужной области, какую долю площади снимка радиолог обошёл, сколько находок врач сделал без помощника, что он подписал и за сколько секунд, насколько сошлось его заключение с машинным. Это настоящие измерения, снятые настоящими методами, и половина из них рандомизированные. Но предмет у них один — работа, а не человек, ради которого работа делается.</a:t>
            </a:r>
          </a:p>
          <a:p>
            <a:r>
              <a:t/>
            </a:r>
          </a:p>
          <a:p>
            <a:r>
              <a:t>Теперь оговорка, и она на кадре, а не в голосе, потому что без неё фраза выше была бы ровно тем завышением, которое мы весь вечер ловим у поставщиков. До ступени «что это сделало с больным» за вечер дошли два разбора, и первым — шведское испытание скрининга: сто пять тысяч девятьсот тридцать четыре женщины, исходы предрегистрированы. Результат этого дохождения надо произнести целиком, а не наполовину. Интервальных раков — тех, что находятся между двумя обследованиями, то есть тех, которые программа пропустила, — один и пятьдесят пять сотых на тысячу против одной и семидесяти шести сотых. Отношение частот ноль целых восемьдесят восемь сотых, доверительный интервал от шестидесяти пяти сотых до одной целой восемнадцати сотых. Интервал накрывает единицу. Значит показано не улучшение, а не-худшесть: режим с моделью не хуже прежнего, и большего это испытание не говорит.</a:t>
            </a:r>
          </a:p>
          <a:p>
            <a:r>
              <a:t/>
            </a:r>
          </a:p>
          <a:p>
            <a:r>
              <a:t>Второй — разбор хирургов, и он тоже заявлял первичный исход — сто пятьдесят больных, тридцать дней проспективного наблюдения. Его итог стоял на своём кадре: на трёх исходах из четырёх пара точнее хирурга, на септическом шоке проиграла там, где человек был сильнее. То есть ступень исхода он взял, а вывод на ней получил неоднозначный.</a:t>
            </a:r>
          </a:p>
          <a:p>
            <a:r>
              <a:t/>
            </a:r>
          </a:p>
          <a:p>
            <a:r>
              <a:t>Почему эта пауза стоит именно здесь, перед ответом. Ответ, который сейчас прозвучит, устроен как четыре ступени участия и три основания подписи. Все семь кусков этого ответа говорят про человека: что он успевает увидеть и чем держится требование, чтобы он вообще стоял в контуре. Ни один не говорит, что от этого изменилось для больного. Зал имеет право знать границу ответа прежде ответа, а не после него.</a:t>
            </a:r>
          </a:p>
          <a:p>
            <a:r>
              <a:t/>
            </a:r>
          </a:p>
          <a:p>
            <a:r>
              <a:t>И последнее, чего эта пауза не означает. Она не означает, что измерения вечера ничего не стоят: промежуточная величина — нормальная ступень замера, и градация, которой мы пользовались весь вечер, ставит её третьей из четырёх, а не нулевой. Она означает другое: всякий раз, когда поставщик говорит «модель улучшает исходы», вопрос к нему тот же, что мы задали себе на этом кадре — на какой ступени это измерено и накрывает ли интервал единицу.</a:t>
            </a:r>
          </a:p>
          <a:p>
            <a:r>
              <a:t/>
            </a:r>
          </a:p>
          <a:p>
            <a:r>
              <a:t>**Источники.** </a:t>
            </a:r>
            <a:r>
              <a:rPr u="sng">
                <a:solidFill>
                  <a:srgbClr val="065A82"/>
                </a:solidFill>
                <a:hlinkClick r:id="rId3"/>
              </a:rPr>
              <a:t>Итоговый анализ MASAI,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 участие человека прозвучала на входе обязательством лекции; здесь она возвращается заработанной, и доказывать её заново не нужно — нужно предъявить ведомость: сначала по ступеням, потом по основаниям.</a:t>
            </a:r>
          </a:p>
          <a:p>
            <a:r>
              <a:t/>
            </a:r>
          </a:p>
          <a:p>
            <a:r>
              <a:t>Про женщину с письмом, которой закрывается лестница ступеней. Она появилась на входе в первый раздел — позвали её по одному признаку, году рождения, ни одного её собственного, — и дальше шла с нами весь вечер: арифметика точности на двух группах по десять тысяч человек считалась про неё, перегородка между двумя независимыми читателями держала именно её программу, заключение по её снимку и строка исхода, которая уйдёт ей письмом, — это документы четвёртого раздела. Здесь её линия закрывается тем, что собирает весь вечер в одну мысль: четыре ступени участия — это не четыре разных контура в четырёх разных больницах. Это четыре позиции, через которые проходит одно решение об одном человеке, пока оно идёт по стадиям. На скрининге над её случаем стоял человек, читающий первым. На постановке диагноза — человек, читающий после подсказки. На профилактическом снимке лёгких — человек, который увидел бы только отмеченное моделью, а пятьдесят пять снимков из ста не читает никто. На выписке — подпись под машинным черновиком. Ступень при этом не назначал никто: она получилась такой, какой получилась, из устройства каждой процедуры.</a:t>
            </a:r>
          </a:p>
          <a:p>
            <a:r>
              <a:t/>
            </a:r>
          </a:p>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В московской сортировке профилактических снимков это посчитано прямо: двести девяносто клинически значимых находок нашлись только потому, что в рамках исследования все «нормы» перечитали люди, а в штатной работе такого слоя не будет. Проверить свою третью ступень можно одним вопросом к контуру: что происходит с тем, чего фильтр не показал, и кто это считает.</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Принятое без предварительной проверки правится потом в пятидесяти трёх процентах случаев против восемнадцати. Первая ступень, для сравнения, стоит на рандомизированном испытании программы скрининга со ста пятью тысячами женщин. Разряд падает ровно по мере того, как участие формальнее.</a:t>
            </a:r>
          </a:p>
          <a:p>
            <a:r>
              <a:t/>
            </a:r>
          </a:p>
          <a:p>
            <a:r>
              <a:t>Отдельно — про то, чего в деке больше нет, и это надо сказать, а не обойти. Почему четвёртая ступень самая частая, объясняло третье свидетельство: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Этот разбор стоял в разделе надзора, раздел изъят из лекции, и ни на одном кадре деки его теперь нет. Произнести его стоит голосом, назвав прямо: это не измерение этой лекции, а материал, который из неё вышел.</a:t>
            </a:r>
          </a:p>
          <a:p>
            <a:r>
              <a:t/>
            </a:r>
          </a:p>
          <a:p>
            <a:r>
              <a:t>И одно следствие, которое стоит произнести прежде перехода к основаниям.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Теперь три основания, и каждое предъявляется своей ведомостью.</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 проверена именно способность вмешаться, а не наличие человека рядом. Спрашивают при этом именно с него, и это не то же самое, что «он важнее».</a:t>
            </a:r>
          </a:p>
          <a:p>
            <a:r>
              <a:t/>
            </a:r>
          </a:p>
          <a:p>
            <a:r>
              <a:t>Ошибается иначе. У этого основания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основание механизмом и структурой: на 106 опытах пара работает хуже самой модели там, где сильнее модель, и лучше обеих сторон там, где сильнее человек, и оба интервала лежат целиком по одну сторону нуля.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Основанию этого достаточно: оно утверждает, что ошибки расходятся, а на скольких случаях — не измерено.</a:t>
            </a:r>
          </a:p>
          <a:p>
            <a:r>
              <a:t/>
            </a:r>
          </a:p>
          <a:p>
            <a:r>
              <a:t>Отменить нельзя. Операцию не отменить задним числом, год наблюдения не переиграть, процедуры, проведённые упавшей рукой, уже проведены. Изделие при этом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 об этом следующий кадр.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одного основания и ни одной проверки: оснований три и проверок три, они заявлены на входе, и четвёртое основание в закрытии означало бы, что обещание было неполным.</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a:p>
            <a:r>
              <a:t/>
            </a:r>
          </a:p>
          <a:p>
            <a:r>
              <a:t>Про последнюю строку кадра — ту, что про ступени, а не про всю лекцию, и разница здесь существенная. Про вечер целиком говорить «исхода пациента нет ни у одного разбора» нельзя: шведское испытание скрининга до этой ступени дошло, и разбор хирургов тоже, — об этом стоял кадр-пауза перед нынешним. А вот ни одна из четырёх СТУПЕНЕЙ участия до неё не доведена.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 И ровно поэтому женщина с письмом уходит из вечера без исхода: мы знаем, кто стоял над её случаем на каждой стадии, и не знаем, чем для неё всё кончилось.</a:t>
            </a:r>
          </a:p>
          <a:p>
            <a:r>
              <a:t/>
            </a:r>
          </a:p>
          <a:p>
            <a:r>
              <a:t>**Источники.** </a:t>
            </a:r>
            <a:r>
              <a:rPr u="sng">
                <a:solidFill>
                  <a:srgbClr val="065A82"/>
                </a:solidFill>
                <a:hlinkClick r:id="rId3"/>
              </a:rPr>
              <a:t>Tacconelli и соавт., J Nucl Med 2026</a:t>
            </a:r>
            <a:r>
              <a:t> · </a:t>
            </a:r>
            <a:r>
              <a:rPr u="sng">
                <a:solidFill>
                  <a:srgbClr val="065A82"/>
                </a:solidFill>
                <a:hlinkClick r:id="rId4"/>
              </a:rPr>
              <a:t>Регламент (ЕС) 2024/1689, статья 14</a:t>
            </a:r>
            <a:r>
              <a:t> · </a:t>
            </a:r>
            <a:r>
              <a:rPr u="sng">
                <a:solidFill>
                  <a:srgbClr val="065A82"/>
                </a:solidFill>
                <a:hlinkClick r:id="rId5"/>
              </a:rPr>
              <a:t>Lee и соавт., JAMA Health Forum 2025, отзывы изделий</a:t>
            </a:r>
            <a:r>
              <a:t> · </a:t>
            </a:r>
            <a:r>
              <a:rPr u="sng">
                <a:solidFill>
                  <a:srgbClr val="065A82"/>
                </a:solidFill>
                <a:hlinkClick r:id="rId6"/>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a:p>
            <a:r>
              <a:t/>
            </a:r>
          </a:p>
          <a:p>
            <a:r>
              <a:t>И оговорка, которая теперь произносится, а на кадре не стоит (#293, Этап D — снята ради кегля тела): как часто это случается, считал разбор, снятый вместе с разделом надзора.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0-II-FDA-PERVICHNYY-SCHET.md" TargetMode="External"/><Relationship Id="rId4" Type="http://schemas.openxmlformats.org/officeDocument/2006/relationships/hyperlink" Target="https://github.com/tellina-study/AI-usage-lessons/blob/main/library/lectures/lec-07/rework/research/11-dinamika-po-stranam-realno-novye.md" TargetMode="External"/><Relationship Id="rId5" Type="http://schemas.openxmlformats.org/officeDocument/2006/relationships/hyperlink" Target="https://github.com/tellina-study/AI-usage-lessons/blob/main/library/lectures/lec-07/rework/research/13-koreya-kitay-proverka.md" TargetMode="Externa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38/s42256-021-00307-0"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doi.org/10.1136/bmjqs-2013-002627"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4338/ACI-2016-09-R-0150" TargetMode="External"/><Relationship Id="rId3" Type="http://schemas.openxmlformats.org/officeDocument/2006/relationships/hyperlink" Target="https://doi.org/10.1001/jamanetworkopen.2022.33348"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16/j.gie.2014.07.058"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01-hero-chtenie-mammogrammy.jpg"/>
          <p:cNvPicPr>
            <a:picLocks noChangeAspect="1"/>
          </p:cNvPicPr>
          <p:nvPr/>
        </p:nvPicPr>
        <p:blipFill>
          <a:blip r:embed="rId2"/>
          <a:srcRect l="23631" r="23631"/>
          <a:stretch>
            <a:fillRect/>
          </a:stretch>
        </p:blipFill>
        <p:spPr>
          <a:xfrm>
            <a:off x="6766560" y="0"/>
            <a:ext cx="5425135" cy="6858000"/>
          </a:xfrm>
          <a:prstGeom prst="rect">
            <a:avLst/>
          </a:prstGeom>
        </p:spPr>
      </p:pic>
      <p:sp>
        <p:nvSpPr>
          <p:cNvPr id="4" name="TextBox 3"/>
          <p:cNvSpPr txBox="1"/>
          <p:nvPr/>
        </p:nvSpPr>
        <p:spPr>
          <a:xfrm>
            <a:off x="502920" y="1005840"/>
            <a:ext cx="5952744" cy="1937767"/>
          </a:xfrm>
          <a:prstGeom prst="rect">
            <a:avLst/>
          </a:prstGeom>
          <a:noFill/>
        </p:spPr>
        <p:txBody>
          <a:bodyPr wrap="square" lIns="0" rIns="0" tIns="0" bIns="0" anchor="t">
            <a:spAutoFit/>
          </a:bodyPr>
          <a:lstStyle/>
          <a:p>
            <a:pPr algn="l">
              <a:lnSpc>
                <a:spcPct val="112000"/>
              </a:lnSpc>
            </a:pPr>
            <a:r>
              <a:rPr sz="3600" b="0" i="0">
                <a:solidFill>
                  <a:srgbClr val="21295C"/>
                </a:solidFill>
                <a:latin typeface="Arial"/>
              </a:rPr>
              <a:t>Решение о человеке: кто смотрит, кто подписывает, кто платит</a:t>
            </a:r>
          </a:p>
        </p:txBody>
      </p:sp>
      <p:sp>
        <p:nvSpPr>
          <p:cNvPr id="5" name="TextBox 4"/>
          <p:cNvSpPr txBox="1"/>
          <p:nvPr/>
        </p:nvSpPr>
        <p:spPr>
          <a:xfrm>
            <a:off x="502920" y="3089911"/>
            <a:ext cx="5952744" cy="670306"/>
          </a:xfrm>
          <a:prstGeom prst="rect">
            <a:avLst/>
          </a:prstGeom>
          <a:noFill/>
        </p:spPr>
        <p:txBody>
          <a:bodyPr wrap="square" lIns="0" rIns="0" tIns="0" bIns="0" anchor="t">
            <a:spAutoFit/>
          </a:bodyPr>
          <a:lstStyle/>
          <a:p>
            <a:pPr algn="l">
              <a:lnSpc>
                <a:spcPct val="112000"/>
              </a:lnSpc>
            </a:pPr>
            <a:r>
              <a:rPr sz="3600" b="0" i="0">
                <a:solidFill>
                  <a:srgbClr val="21295C"/>
                </a:solidFill>
                <a:latin typeface="Arial"/>
              </a:rPr>
              <a:t>Лекция 7</a:t>
            </a:r>
          </a:p>
        </p:txBody>
      </p:sp>
      <p:sp>
        <p:nvSpPr>
          <p:cNvPr id="6" name="TextBox 5"/>
          <p:cNvSpPr txBox="1"/>
          <p:nvPr/>
        </p:nvSpPr>
        <p:spPr>
          <a:xfrm>
            <a:off x="502920" y="3906521"/>
            <a:ext cx="5952744" cy="715572"/>
          </a:xfrm>
          <a:prstGeom prst="rect">
            <a:avLst/>
          </a:prstGeom>
          <a:noFill/>
        </p:spPr>
        <p:txBody>
          <a:bodyPr wrap="square" lIns="0" rIns="0" tIns="0" bIns="0" anchor="t">
            <a:spAutoFit/>
          </a:bodyPr>
          <a:lstStyle/>
          <a:p>
            <a:pPr algn="l">
              <a:lnSpc>
                <a:spcPct val="120000"/>
              </a:lnSpc>
            </a:pPr>
            <a:r>
              <a:rPr sz="1800" b="0" i="0">
                <a:solidFill>
                  <a:srgbClr val="065A82"/>
                </a:solidFill>
                <a:latin typeface="Arial"/>
              </a:rPr>
              <a:t>Сегодня чей-то снимок прочтут раньше, чем на него посмотрит человек.</a:t>
            </a:r>
          </a:p>
        </p:txBody>
      </p:sp>
      <p:sp>
        <p:nvSpPr>
          <p:cNvPr id="7" name="Rectangle 6"/>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Чтение рентгенограмм грудной клетки в Англии</a:t>
            </a:r>
          </a:p>
        </p:txBody>
      </p:sp>
      <p:sp>
        <p:nvSpPr>
          <p:cNvPr id="4" name="Rounded Rectangle 3"/>
          <p:cNvSpPr/>
          <p:nvPr/>
        </p:nvSpPr>
        <p:spPr>
          <a:xfrm>
            <a:off x="502920" y="1754362"/>
            <a:ext cx="11185855" cy="3888237"/>
          </a:xfrm>
          <a:prstGeom prst="roundRect">
            <a:avLst>
              <a:gd name="adj" fmla="val 7839"/>
            </a:avLst>
          </a:prstGeom>
          <a:solidFill>
            <a:srgbClr val="21295C"/>
          </a:solidFill>
          <a:ln w="19050">
            <a:solidFill>
              <a:srgbClr val="21295C"/>
            </a:solidFill>
          </a:ln>
          <a:effectLst/>
        </p:spPr>
        <p:txBody>
          <a:bodyPr rtlCol="0" anchor="ctr"/>
          <a:lstStyle/>
          <a:p>
            <a:pPr algn="ctr"/>
          </a:p>
        </p:txBody>
      </p:sp>
      <p:sp>
        <p:nvSpPr>
          <p:cNvPr id="5" name="TextBox 4"/>
          <p:cNvSpPr txBox="1"/>
          <p:nvPr/>
        </p:nvSpPr>
        <p:spPr>
          <a:xfrm>
            <a:off x="905256" y="2156698"/>
            <a:ext cx="10381183" cy="1923824"/>
          </a:xfrm>
          <a:prstGeom prst="rect">
            <a:avLst/>
          </a:prstGeom>
          <a:noFill/>
        </p:spPr>
        <p:txBody>
          <a:bodyPr wrap="square" lIns="0" rIns="0" tIns="0" bIns="0" anchor="t">
            <a:spAutoFit/>
          </a:bodyPr>
          <a:lstStyle/>
          <a:p>
            <a:pPr algn="ctr">
              <a:lnSpc>
                <a:spcPct val="102000"/>
              </a:lnSpc>
            </a:pPr>
            <a:r>
              <a:rPr sz="12000" b="1" i="0">
                <a:solidFill>
                  <a:srgbClr val="F0AB00"/>
                </a:solidFill>
                <a:latin typeface="Arial"/>
              </a:rPr>
              <a:t>2,8 млн</a:t>
            </a:r>
          </a:p>
        </p:txBody>
      </p:sp>
      <p:sp>
        <p:nvSpPr>
          <p:cNvPr id="6" name="Rectangle 5"/>
          <p:cNvSpPr/>
          <p:nvPr/>
        </p:nvSpPr>
        <p:spPr>
          <a:xfrm>
            <a:off x="5090007" y="4299979"/>
            <a:ext cx="2011680" cy="77724"/>
          </a:xfrm>
          <a:prstGeom prst="rect">
            <a:avLst/>
          </a:prstGeom>
          <a:solidFill>
            <a:srgbClr val="FFFFFF"/>
          </a:solidFill>
          <a:ln>
            <a:noFill/>
          </a:ln>
          <a:effectLst/>
        </p:spPr>
        <p:txBody>
          <a:bodyPr rtlCol="0" anchor="ctr"/>
          <a:lstStyle/>
          <a:p>
            <a:pPr algn="ctr"/>
          </a:p>
        </p:txBody>
      </p:sp>
      <p:sp>
        <p:nvSpPr>
          <p:cNvPr id="7" name="TextBox 6"/>
          <p:cNvSpPr txBox="1"/>
          <p:nvPr/>
        </p:nvSpPr>
        <p:spPr>
          <a:xfrm>
            <a:off x="905256" y="4487431"/>
            <a:ext cx="10381183" cy="364646"/>
          </a:xfrm>
          <a:prstGeom prst="rect">
            <a:avLst/>
          </a:prstGeom>
          <a:noFill/>
        </p:spPr>
        <p:txBody>
          <a:bodyPr wrap="square" lIns="0" rIns="0" tIns="0" bIns="0" anchor="t">
            <a:spAutoFit/>
          </a:bodyPr>
          <a:lstStyle/>
          <a:p>
            <a:pPr algn="ctr">
              <a:lnSpc>
                <a:spcPct val="116000"/>
              </a:lnSpc>
            </a:pPr>
            <a:r>
              <a:rPr sz="2000" b="1" i="0">
                <a:solidFill>
                  <a:srgbClr val="FFFFFF"/>
                </a:solidFill>
                <a:latin typeface="Arial"/>
              </a:rPr>
              <a:t>рентгенограмм грудной клетки за год прочитала модель</a:t>
            </a:r>
          </a:p>
        </p:txBody>
      </p:sp>
      <p:sp>
        <p:nvSpPr>
          <p:cNvPr id="8" name="TextBox 7"/>
          <p:cNvSpPr txBox="1"/>
          <p:nvPr/>
        </p:nvSpPr>
        <p:spPr>
          <a:xfrm>
            <a:off x="905256" y="4943517"/>
            <a:ext cx="10381183" cy="296746"/>
          </a:xfrm>
          <a:prstGeom prst="rect">
            <a:avLst/>
          </a:prstGeom>
          <a:noFill/>
        </p:spPr>
        <p:txBody>
          <a:bodyPr wrap="square" lIns="0" rIns="0" tIns="0" bIns="0" anchor="t">
            <a:spAutoFit/>
          </a:bodyPr>
          <a:lstStyle/>
          <a:p>
            <a:pPr algn="ctr">
              <a:lnSpc>
                <a:spcPct val="118000"/>
              </a:lnSpc>
            </a:pPr>
            <a:r>
              <a:rPr sz="1600" b="0" i="0">
                <a:solidFill>
                  <a:srgbClr val="FFFFFF"/>
                </a:solidFill>
                <a:latin typeface="Arial"/>
              </a:rPr>
              <a:t>из 8,19 млн, выполненных в Англии за год к марту 2024 года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NHS England, Diagnostic Imaging Dataset Annual Statistical Release 2023/24, таблица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2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2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36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47403"/>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изделия с обученной моделью: пути и счёт</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уже допущенное изделие</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6" name="TextBox 15"/>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7" name="Rounded Rectangle 16"/>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9" name="Right Arrow 18"/>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22" name="Right Arrow 21"/>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5" name="TextBox 24"/>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6" name="Rounded Rectangle 25"/>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8" name="Right Arrow 27"/>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1" name="Right Arrow 30"/>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4" name="Right Arrow 33"/>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7" name="TextBox 36"/>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8" name="Rounded Rectangle 37"/>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40" name="Right Arrow 39"/>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43" name="Right Arrow 42"/>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6" name="Right Arrow 45"/>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7" name="Rounded Rectangle 46"/>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8" name="TextBox 47"/>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9" name="TextBox 48"/>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50" name="Rounded Rectangle 49"/>
          <p:cNvSpPr/>
          <p:nvPr/>
        </p:nvSpPr>
        <p:spPr>
          <a:xfrm>
            <a:off x="374904" y="4741704"/>
            <a:ext cx="11441887" cy="121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1" name="TextBox 50"/>
          <p:cNvSpPr txBox="1"/>
          <p:nvPr/>
        </p:nvSpPr>
        <p:spPr>
          <a:xfrm>
            <a:off x="539496" y="4833144"/>
            <a:ext cx="11112703" cy="1403063"/>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p>
          <a:p>
            <a:pPr algn="l">
              <a:lnSpc>
                <a:spcPct val="118000"/>
              </a:lnSpc>
              <a:spcBef>
                <a:spcPts val="600"/>
              </a:spcBef>
            </a:pPr>
            <a:r>
              <a:rPr sz="1400" b="0" i="0">
                <a:solidFill>
                  <a:srgbClr val="21295C"/>
                </a:solidFill>
                <a:latin typeface="Arial"/>
              </a:rPr>
              <a:t/>
            </a:r>
            <a:r>
              <a:rPr sz="1400" b="1" i="0">
                <a:solidFill>
                  <a:srgbClr val="21295C"/>
                </a:solidFill>
                <a:latin typeface="Arial"/>
              </a:rPr>
              <a:t>По-настоящему новых изделий прибавляется 3,1 в год:</a:t>
            </a:r>
            <a:r>
              <a:rPr sz="1400" b="0" i="0">
                <a:solidFill>
                  <a:srgbClr val="21295C"/>
                </a:solidFill>
                <a:latin typeface="Arial"/>
              </a:rPr>
              <a:t> 56 к концу 2025 года против 7 к 2010-му. Остальной прирост идёт через похожесть на предшественник.</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3" name="TextBox 5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Изделия с моделью: состав массива и страны</a:t>
            </a:r>
          </a:p>
        </p:txBody>
      </p:sp>
      <p:pic>
        <p:nvPicPr>
          <p:cNvPr id="4" name="Picture 3" descr="s01ab-strany-i-priznaki.png"/>
          <p:cNvPicPr>
            <a:picLocks noChangeAspect="1"/>
          </p:cNvPicPr>
          <p:nvPr/>
        </p:nvPicPr>
        <p:blipFill>
          <a:blip r:embed="rId2"/>
          <a:stretch>
            <a:fillRect/>
          </a:stretch>
        </p:blipFill>
        <p:spPr>
          <a:xfrm>
            <a:off x="507847" y="1335024"/>
            <a:ext cx="11176000" cy="2743200"/>
          </a:xfrm>
          <a:prstGeom prst="rect">
            <a:avLst/>
          </a:prstGeom>
        </p:spPr>
      </p:pic>
      <p:sp>
        <p:nvSpPr>
          <p:cNvPr id="5" name="Rounded Rectangle 4"/>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TextBox 5"/>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РАДИОЛОГИЯ</a:t>
            </a:r>
          </a:p>
        </p:txBody>
      </p:sp>
      <p:sp>
        <p:nvSpPr>
          <p:cNvPr id="7" name="TextBox 6"/>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1 230 из 1 614</a:t>
            </a:r>
          </a:p>
        </p:txBody>
      </p:sp>
      <p:sp>
        <p:nvSpPr>
          <p:cNvPr id="8" name="TextBox 7"/>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психиатрии ноль за всю историю</a:t>
            </a:r>
          </a:p>
        </p:txBody>
      </p:sp>
      <p:sp>
        <p:nvSpPr>
          <p:cNvPr id="9" name="Rounded Rectangle 8"/>
          <p:cNvSpPr/>
          <p:nvPr/>
        </p:nvSpPr>
        <p:spPr>
          <a:xfrm>
            <a:off x="4286402"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НОВЫХ МЕДИЗДЕЛИЙ США, 2025</a:t>
            </a:r>
          </a:p>
        </p:txBody>
      </p:sp>
      <p:sp>
        <p:nvSpPr>
          <p:cNvPr id="11" name="TextBox 10"/>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каждое десятое</a:t>
            </a:r>
          </a:p>
        </p:txBody>
      </p:sp>
      <p:sp>
        <p:nvSpPr>
          <p:cNvPr id="12" name="TextBox 11"/>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2015 — двое на тысячу</a:t>
            </a:r>
          </a:p>
        </p:txBody>
      </p:sp>
      <p:sp>
        <p:nvSpPr>
          <p:cNvPr id="13" name="Rounded Rectangle 12"/>
          <p:cNvSpPr/>
          <p:nvPr/>
        </p:nvSpPr>
        <p:spPr>
          <a:xfrm>
            <a:off x="8069884"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ПЕРВЫЕ РОССИЙСКИЕ ИЗДЕЛИЯ, 2020</a:t>
            </a:r>
          </a:p>
        </p:txBody>
      </p:sp>
      <p:sp>
        <p:nvSpPr>
          <p:cNvPr id="15" name="TextBox 14"/>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57</a:t>
            </a:r>
          </a:p>
        </p:txBody>
      </p:sp>
      <p:sp>
        <p:nvSpPr>
          <p:cNvPr id="16" name="TextBox 15"/>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аналогов не было, оба с испытаниями</a:t>
            </a:r>
          </a:p>
        </p:txBody>
      </p:sp>
      <p:sp>
        <p:nvSpPr>
          <p:cNvPr id="17" name="Rounded Rectangle 16"/>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Пути сосчитаны — теперь сам массив.</a:t>
            </a:r>
            <a:r>
              <a:rPr sz="1400" b="0" i="0">
                <a:solidFill>
                  <a:srgbClr val="21295C"/>
                </a:solidFill>
                <a:latin typeface="Arial"/>
              </a:rPr>
              <a:t> У Кореи признаков отбора два: 1,70 по инновационному статусу и 0,95 по возмещению. Россия — 0,39 по всему реестру, выше США, Японии и Китая.</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счёт по таблице FDA</a:t>
            </a:r>
            <a:r>
              <a:rPr sz="1200" b="0" i="1">
                <a:solidFill>
                  <a:srgbClr val="1C7293"/>
                </a:solidFill>
                <a:latin typeface="Arial"/>
              </a:rPr>
              <a:t> · </a:t>
            </a:r>
            <a:r>
              <a:rPr sz="1200" b="0" i="1" u="sng">
                <a:solidFill>
                  <a:srgbClr val="065A82"/>
                </a:solidFill>
                <a:latin typeface="Arial"/>
                <a:hlinkClick r:id="rId4"/>
              </a:rPr>
              <a:t>страновой разрез</a:t>
            </a:r>
            <a:r>
              <a:rPr sz="1200" b="0" i="1">
                <a:solidFill>
                  <a:srgbClr val="1C7293"/>
                </a:solidFill>
                <a:latin typeface="Arial"/>
              </a:rPr>
              <a:t> · </a:t>
            </a:r>
            <a:r>
              <a:rPr sz="1200" b="0" i="1" u="sng">
                <a:solidFill>
                  <a:srgbClr val="065A82"/>
                </a:solidFill>
                <a:latin typeface="Arial"/>
                <a:hlinkClick r:id="rId5"/>
              </a:rPr>
              <a:t>проверка Кореи и Китая</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модели: врачи и поток исследований</a:t>
            </a:r>
          </a:p>
        </p:txBody>
      </p:sp>
      <p:pic>
        <p:nvPicPr>
          <p:cNvPr id="4" name="Picture 3" descr="s0Xc-potok-za-god.png"/>
          <p:cNvPicPr>
            <a:picLocks noChangeAspect="1"/>
          </p:cNvPicPr>
          <p:nvPr/>
        </p:nvPicPr>
        <p:blipFill>
          <a:blip r:embed="rId2"/>
          <a:stretch>
            <a:fillRect/>
          </a:stretch>
        </p:blipFill>
        <p:spPr>
          <a:xfrm>
            <a:off x="507847" y="1335024"/>
            <a:ext cx="11176000" cy="2743200"/>
          </a:xfrm>
          <a:prstGeom prst="rect">
            <a:avLst/>
          </a:prstGeom>
        </p:spPr>
      </p:pic>
      <p:sp>
        <p:nvSpPr>
          <p:cNvPr id="5" name="Rounded Rectangle 4"/>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6" name="TextBox 5"/>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7" name="TextBox 6"/>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8" name="TextBox 7"/>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9" name="Rounded Rectangle 8"/>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1" name="TextBox 10"/>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2" name="TextBox 11"/>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3" name="Rounded Rectangle 12"/>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5" name="TextBox 14"/>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6" name="TextBox 15"/>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7" name="Rounded Rectangle 16"/>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искажений входа: имена</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Rounded Rectangle 9"/>
          <p:cNvSpPr/>
          <p:nvPr/>
        </p:nvSpPr>
        <p:spPr>
          <a:xfrm>
            <a:off x="374904" y="4078224"/>
            <a:ext cx="11441887" cy="2157984"/>
          </a:xfrm>
          <a:prstGeom prst="roundRect">
            <a:avLst>
              <a:gd name="adj" fmla="val 1412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69664"/>
            <a:ext cx="11112703" cy="2066543"/>
          </a:xfrm>
          <a:prstGeom prst="rect">
            <a:avLst/>
          </a:prstGeom>
          <a:noFill/>
        </p:spPr>
        <p:txBody>
          <a:bodyPr wrap="square" lIns="0" rIns="0" tIns="0" bIns="0" anchor="t">
            <a:spAutoFit/>
          </a:bodyPr>
          <a:lstStyle/>
          <a:p>
            <a:pPr algn="l">
              <a:lnSpc>
                <a:spcPct val="118000"/>
              </a:lnSpc>
            </a:pPr>
            <a:r>
              <a:rPr sz="1400" b="0" i="0">
                <a:solidFill>
                  <a:srgbClr val="21295C"/>
                </a:solidFill>
                <a:latin typeface="Arial"/>
              </a:rPr>
              <a:t>• </a:t>
            </a:r>
            <a:r>
              <a:rPr sz="1400" b="1" i="0">
                <a:solidFill>
                  <a:srgbClr val="21295C"/>
                </a:solidFill>
                <a:latin typeface="Arial"/>
              </a:rPr>
              <a:t>Якорение.</a:t>
            </a:r>
            <a:r>
              <a:rPr sz="1400" b="0" i="0">
                <a:solidFill>
                  <a:srgbClr val="21295C"/>
                </a:solidFill>
                <a:latin typeface="Arial"/>
              </a:rPr>
              <a:t> Заключение сдвигается к подсказке модели, даже заведомо неверной.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Сужение.</a:t>
            </a:r>
            <a:r>
              <a:rPr sz="1400" b="0" i="0">
                <a:solidFill>
                  <a:srgbClr val="21295C"/>
                </a:solidFill>
                <a:latin typeface="Arial"/>
              </a:rPr>
              <a:t> Где модель молчит, взгляд не задерживается.</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Износ навыка.</a:t>
            </a:r>
            <a:r>
              <a:rPr sz="1400" b="0" i="0">
                <a:solidFill>
                  <a:srgbClr val="21295C"/>
                </a:solidFill>
                <a:latin typeface="Arial"/>
              </a:rPr>
              <a:t> Привыкнув к модели, без неё находят меньше.</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Поток тревог.</a:t>
            </a:r>
            <a:r>
              <a:rPr sz="1400" b="0" i="0">
                <a:solidFill>
                  <a:srgbClr val="21295C"/>
                </a:solidFill>
                <a:latin typeface="Arial"/>
              </a:rPr>
              <a:t> Тревоги идут подряд, и отклонять их начинают подряд.</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Несогласие.</a:t>
            </a:r>
            <a:r>
              <a:rPr sz="1400" b="0" i="0">
                <a:solidFill>
                  <a:srgbClr val="21295C"/>
                </a:solidFill>
                <a:latin typeface="Arial"/>
              </a:rPr>
              <a:t> Расхождение с моделью разбирают отдельным шагом, и шаг этот новый.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Поправка.</a:t>
            </a:r>
            <a:r>
              <a:rPr sz="1400" b="0" i="0">
                <a:solidFill>
                  <a:srgbClr val="21295C"/>
                </a:solidFill>
                <a:latin typeface="Arial"/>
              </a:rPr>
              <a:t> Единственный в нашу пользу: врач правит заключение модели, найдя ошибку.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решают без модели и четыре ступени участия человека</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Требование регулятора: человек — последнее звено.</a:t>
            </a:r>
            <a:r>
              <a:rPr sz="1350" b="0" i="0">
                <a:solidFill>
                  <a:srgbClr val="21295C"/>
                </a:solidFill>
                <a:latin typeface="Arial"/>
              </a:rPr>
              <a:t> Европейская норма говорит точнее: он обязан сохранять способность не согласиться и отменить. Присутствия при каждом решении она не требует.</a:t>
            </a:r>
          </a:p>
          <a:p>
            <a:pPr algn="l">
              <a:lnSpc>
                <a:spcPct val="126000"/>
              </a:lnSpc>
              <a:spcBef>
                <a:spcPts val="720"/>
              </a:spcBef>
            </a:pPr>
            <a:r>
              <a:rPr sz="1350" b="0" i="0">
                <a:solidFill>
                  <a:srgbClr val="21295C"/>
                </a:solidFill>
                <a:latin typeface="Arial"/>
              </a:rPr>
              <a:t/>
            </a:r>
            <a:r>
              <a:rPr sz="1350" b="1" i="0">
                <a:solidFill>
                  <a:srgbClr val="21295C"/>
                </a:solidFill>
                <a:latin typeface="Arial"/>
              </a:rPr>
              <a:t>Как решают без модели — классические режимы по именам:</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Отбор</a:t>
            </a:r>
            <a:r>
              <a:rPr sz="1350" b="0" i="0">
                <a:solidFill>
                  <a:srgbClr val="21295C"/>
                </a:solidFill>
                <a:latin typeface="Arial"/>
              </a:rPr>
              <a:t> — двойное чтение двумя независимыми, арбитраж третьим на расхождении.</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Диагностика</a:t>
            </a:r>
            <a:r>
              <a:rPr sz="1350" b="0" i="0">
                <a:solidFill>
                  <a:srgbClr val="21295C"/>
                </a:solidFill>
                <a:latin typeface="Arial"/>
              </a:rPr>
              <a:t> — две доли сразу: сколько нашли из больных и скольких не напугали из здоровых, обе при пороге протокола.</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Диагноз</a:t>
            </a:r>
            <a:r>
              <a:rPr sz="1350" b="0" i="0">
                <a:solidFill>
                  <a:srgbClr val="21295C"/>
                </a:solidFill>
                <a:latin typeface="Arial"/>
              </a:rPr>
              <a:t> — выписать объясняющее, назначить различающую проверку; второе мнение, консилиум.</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Наблюдение</a:t>
            </a:r>
            <a:r>
              <a:rPr sz="1350" b="0" i="0">
                <a:solidFill>
                  <a:srgbClr val="21295C"/>
                </a:solidFill>
                <a:latin typeface="Arial"/>
              </a:rPr>
              <a:t> — шкала раннего предупреждения: баллы, сумма, порог эскалации.</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Документация</a:t>
            </a:r>
            <a:r>
              <a:rPr sz="1350" b="0" i="0">
                <a:solidFill>
                  <a:srgbClr val="21295C"/>
                </a:solidFill>
                <a:latin typeface="Arial"/>
              </a:rPr>
              <a:t> — структура записи, вычитка, подпись, выписной эпикриз.</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Надзор</a:t>
            </a:r>
            <a:r>
              <a:rPr sz="1350" b="0" i="0">
                <a:solidFill>
                  <a:srgbClr val="21295C"/>
                </a:solidFill>
                <a:latin typeface="Arial"/>
              </a:rPr>
              <a:t> — разбор случая после исхода и изменение порядка работы.</a:t>
            </a:r>
          </a:p>
        </p:txBody>
      </p:sp>
      <p:sp>
        <p:nvSpPr>
          <p:cNvPr id="17" name="Rectangle 16"/>
          <p:cNvSpPr/>
          <p:nvPr/>
        </p:nvSpPr>
        <p:spPr>
          <a:xfrm>
            <a:off x="6091275" y="3397127"/>
            <a:ext cx="9144" cy="268051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2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2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2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 А сама проверка подсказки замерена: </a:t>
            </a:r>
            <a:r>
              <a:rPr sz="1450" b="1" i="0">
                <a:solidFill>
                  <a:srgbClr val="21295C"/>
                </a:solidFill>
                <a:latin typeface="Arial"/>
              </a:rPr>
              <a:t>1,99 секунды</a:t>
            </a:r>
            <a:r>
              <a:rPr sz="1450" b="0" i="0">
                <a:solidFill>
                  <a:srgbClr val="21295C"/>
                </a:solidFill>
                <a:latin typeface="Arial"/>
              </a:rPr>
              <a:t> по медиане.</a:t>
            </a:r>
          </a:p>
          <a:p>
            <a:pPr algn="l">
              <a:lnSpc>
                <a:spcPct val="126000"/>
              </a:lnSpc>
              <a:spcBef>
                <a:spcPts val="72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26-tekhnik-stavit-cheloveka-k-priboru.jpg"/>
          <p:cNvPicPr>
            <a:picLocks noChangeAspect="1"/>
          </p:cNvPicPr>
          <p:nvPr/>
        </p:nvPicPr>
        <p:blipFill>
          <a:blip r:embed="rId2"/>
          <a:srcRect l="26206" r="26206"/>
          <a:stretch>
            <a:fillRect/>
          </a:stretch>
        </p:blipFill>
        <p:spPr>
          <a:xfrm>
            <a:off x="7498079" y="0"/>
            <a:ext cx="4693615" cy="6858000"/>
          </a:xfrm>
          <a:prstGeom prst="rect">
            <a:avLst/>
          </a:prstGeom>
        </p:spPr>
      </p:pic>
      <p:sp>
        <p:nvSpPr>
          <p:cNvPr id="4" name="Rectangle 3"/>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5" name="TextBox 4"/>
          <p:cNvSpPr txBox="1"/>
          <p:nvPr/>
        </p:nvSpPr>
        <p:spPr>
          <a:xfrm>
            <a:off x="704088" y="960120"/>
            <a:ext cx="6483096"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6" name="Rectangle 5"/>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7" name="TextBox 6"/>
          <p:cNvSpPr txBox="1"/>
          <p:nvPr/>
        </p:nvSpPr>
        <p:spPr>
          <a:xfrm>
            <a:off x="704088" y="2276789"/>
            <a:ext cx="6483096" cy="96113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8" name="TextBox 7"/>
          <p:cNvSpPr txBox="1"/>
          <p:nvPr/>
        </p:nvSpPr>
        <p:spPr>
          <a:xfrm>
            <a:off x="704088" y="3365942"/>
            <a:ext cx="6483096"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a:t>
            </a:r>
          </a:p>
        </p:txBody>
      </p:sp>
      <p:sp>
        <p:nvSpPr>
          <p:cNvPr id="9" name="TextBox 8"/>
          <p:cNvSpPr txBox="1"/>
          <p:nvPr/>
        </p:nvSpPr>
        <p:spPr>
          <a:xfrm>
            <a:off x="704088" y="3850912"/>
            <a:ext cx="6483096" cy="356954"/>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без модели: шведская программа зовёт по возрасту</a:t>
            </a:r>
          </a:p>
        </p:txBody>
      </p:sp>
      <p:sp>
        <p:nvSpPr>
          <p:cNvPr id="10" name="TextBox 9"/>
          <p:cNvSpPr txBox="1"/>
          <p:nvPr/>
        </p:nvSpPr>
        <p:spPr>
          <a:xfrm>
            <a:off x="704088" y="4335883"/>
            <a:ext cx="6483096" cy="356954"/>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2: чат-бот первой линии вместо звонка в практику</a:t>
            </a:r>
          </a:p>
        </p:txBody>
      </p:sp>
      <p:sp>
        <p:nvSpPr>
          <p:cNvPr id="11" name="TextBox 10"/>
          <p:cNvSpPr txBox="1"/>
          <p:nvPr/>
        </p:nvSpPr>
        <p:spPr>
          <a:xfrm>
            <a:off x="704088" y="4820854"/>
            <a:ext cx="6483096" cy="356954"/>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3: глазное дно снимают на приёме</a:t>
            </a:r>
          </a:p>
        </p:txBody>
      </p:sp>
      <p:sp>
        <p:nvSpPr>
          <p:cNvPr id="12" name="TextBox 11"/>
          <p:cNvSpPr txBox="1"/>
          <p:nvPr/>
        </p:nvSpPr>
        <p:spPr>
          <a:xfrm>
            <a:off x="704088" y="5305825"/>
            <a:ext cx="6483096" cy="659045"/>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919764"/>
          </a:xfrm>
          <a:prstGeom prst="roundRect">
            <a:avLst>
              <a:gd name="adj" fmla="val 1587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36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36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6454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2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2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pic>
        <p:nvPicPr>
          <p:cNvPr id="4" name="Picture 3" descr="s12a-ohvat-po-stranam.png"/>
          <p:cNvPicPr>
            <a:picLocks noChangeAspect="1"/>
          </p:cNvPicPr>
          <p:nvPr/>
        </p:nvPicPr>
        <p:blipFill>
          <a:blip r:embed="rId2"/>
          <a:stretch>
            <a:fillRect/>
          </a:stretch>
        </p:blipFill>
        <p:spPr>
          <a:xfrm>
            <a:off x="507847" y="1335024"/>
            <a:ext cx="11176000" cy="2743200"/>
          </a:xfrm>
          <a:prstGeom prst="rect">
            <a:avLst/>
          </a:prstGeom>
        </p:spPr>
      </p:pic>
      <p:sp>
        <p:nvSpPr>
          <p:cNvPr id="5" name="Rounded Rectangle 4"/>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TextBox 5"/>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7" name="TextBox 6"/>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8" name="TextBox 7"/>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9" name="Rounded Rectangle 8"/>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0" name="TextBox 9"/>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1" name="TextBox 10"/>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2" name="TextBox 11"/>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3" name="Rounded Rectangle 12"/>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TextBox 13"/>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5" name="TextBox 14"/>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6" name="TextBox 15"/>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7" name="Rounded Rectangle 16"/>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92795"/>
            <a:ext cx="11441887" cy="2513886"/>
          </a:xfrm>
          <a:prstGeom prst="roundRect">
            <a:avLst>
              <a:gd name="adj" fmla="val 1212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84235"/>
            <a:ext cx="5373471" cy="26519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36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584235"/>
            <a:ext cx="5373471" cy="26519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 — и назначены тем же решением, которым назначено, быть ли программе вообще.</a:t>
            </a:r>
          </a:p>
          <a:p>
            <a:pPr algn="l">
              <a:lnSpc>
                <a:spcPct val="126000"/>
              </a:lnSpc>
              <a:spcBef>
                <a:spcPts val="36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584235"/>
            <a:ext cx="9144" cy="22395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3165449"/>
            <a:ext cx="11441887" cy="2513886"/>
          </a:xfrm>
          <a:prstGeom prst="roundRect">
            <a:avLst>
              <a:gd name="adj" fmla="val 1212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6889"/>
            <a:ext cx="5373471" cy="297931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36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3256889"/>
            <a:ext cx="5373471" cy="297931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36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3256889"/>
            <a:ext cx="9144" cy="22395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2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36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615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2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2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380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2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2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8126"/>
          </a:xfrm>
          <a:prstGeom prst="roundRect">
            <a:avLst>
              <a:gd name="adj" fmla="val 14189"/>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2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380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36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2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2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6230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919764"/>
          </a:xfrm>
          <a:prstGeom prst="roundRect">
            <a:avLst>
              <a:gd name="adj" fmla="val 15876"/>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36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64544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2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2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144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700784"/>
            <a:ext cx="11441887" cy="3862270"/>
          </a:xfrm>
          <a:prstGeom prst="roundRect">
            <a:avLst>
              <a:gd name="adj" fmla="val 789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792224"/>
            <a:ext cx="5373471" cy="44439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36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792224"/>
            <a:ext cx="5373471" cy="44439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36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36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792224"/>
            <a:ext cx="9144" cy="35879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 чем каждая выглядит в примере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74868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5607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288176" y="1335024"/>
            <a:ext cx="4572986"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434480" y="1335024"/>
            <a:ext cx="4280378"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5861162" y="1335024"/>
            <a:ext cx="5791036"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6007466" y="1335024"/>
            <a:ext cx="5498428"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выглядит в примере</a:t>
            </a:r>
          </a:p>
        </p:txBody>
      </p:sp>
      <p:sp>
        <p:nvSpPr>
          <p:cNvPr id="11" name="Rectangle 10"/>
          <p:cNvSpPr/>
          <p:nvPr/>
        </p:nvSpPr>
        <p:spPr>
          <a:xfrm>
            <a:off x="539496" y="1773100"/>
            <a:ext cx="74868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288176" y="1773100"/>
            <a:ext cx="4572986"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434480" y="1773100"/>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5861162" y="1773100"/>
            <a:ext cx="5791036"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007466" y="1773100"/>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сортировка ушла на приём — платить некому</a:t>
            </a:r>
          </a:p>
        </p:txBody>
      </p:sp>
      <p:sp>
        <p:nvSpPr>
          <p:cNvPr id="17" name="Rectangle 16"/>
          <p:cNvSpPr/>
          <p:nvPr/>
        </p:nvSpPr>
        <p:spPr>
          <a:xfrm>
            <a:off x="539496" y="2211177"/>
            <a:ext cx="74868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288176" y="2211177"/>
            <a:ext cx="4572986"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434480" y="2211177"/>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5861162" y="2211177"/>
            <a:ext cx="5791036"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007466" y="2211177"/>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кандидат проверен и отпал</a:t>
            </a:r>
          </a:p>
        </p:txBody>
      </p:sp>
      <p:sp>
        <p:nvSpPr>
          <p:cNvPr id="23" name="Rectangle 22"/>
          <p:cNvSpPr/>
          <p:nvPr/>
        </p:nvSpPr>
        <p:spPr>
          <a:xfrm>
            <a:off x="539496" y="2649254"/>
            <a:ext cx="74868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288176" y="2649254"/>
            <a:ext cx="4572986"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434480" y="2649254"/>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5861162" y="2649254"/>
            <a:ext cx="5791036"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007466" y="2649254"/>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решение, кому нужно второе чтение</a:t>
            </a:r>
          </a:p>
        </p:txBody>
      </p:sp>
      <p:sp>
        <p:nvSpPr>
          <p:cNvPr id="29" name="Rectangle 28"/>
          <p:cNvSpPr/>
          <p:nvPr/>
        </p:nvSpPr>
        <p:spPr>
          <a:xfrm>
            <a:off x="539496" y="3087331"/>
            <a:ext cx="74868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288176" y="3087331"/>
            <a:ext cx="4572986"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434480" y="3087331"/>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5861162" y="3087331"/>
            <a:ext cx="5791036"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6007466" y="3087331"/>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тревога часто, подтверждается редко</a:t>
            </a:r>
          </a:p>
        </p:txBody>
      </p:sp>
      <p:sp>
        <p:nvSpPr>
          <p:cNvPr id="35" name="Rectangle 34"/>
          <p:cNvSpPr/>
          <p:nvPr/>
        </p:nvSpPr>
        <p:spPr>
          <a:xfrm>
            <a:off x="539496" y="3525408"/>
            <a:ext cx="74868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288176" y="3525408"/>
            <a:ext cx="4572986"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434480" y="3525408"/>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5861162" y="3525408"/>
            <a:ext cx="5791036"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007466" y="3525408"/>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тот же поток, работы меньше</a:t>
            </a:r>
          </a:p>
        </p:txBody>
      </p:sp>
      <p:sp>
        <p:nvSpPr>
          <p:cNvPr id="41" name="Rectangle 40"/>
          <p:cNvSpPr/>
          <p:nvPr/>
        </p:nvSpPr>
        <p:spPr>
          <a:xfrm>
            <a:off x="539496" y="3963485"/>
            <a:ext cx="74868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288176" y="3963485"/>
            <a:ext cx="4572986"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434480" y="3963485"/>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5861162" y="3963485"/>
            <a:ext cx="5791036"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007466" y="3963485"/>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«направить или нет» выдаёт устройство</a:t>
            </a:r>
          </a:p>
        </p:txBody>
      </p:sp>
      <p:sp>
        <p:nvSpPr>
          <p:cNvPr id="47" name="Rectangle 46"/>
          <p:cNvSpPr/>
          <p:nvPr/>
        </p:nvSpPr>
        <p:spPr>
          <a:xfrm>
            <a:off x="539496" y="4401561"/>
            <a:ext cx="74868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288176" y="4401561"/>
            <a:ext cx="4572986"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434480" y="4401561"/>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5861162" y="4401561"/>
            <a:ext cx="5791036"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007466" y="4401561"/>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переставлен, но не посчитан</a:t>
            </a:r>
          </a:p>
        </p:txBody>
      </p:sp>
      <p:sp>
        <p:nvSpPr>
          <p:cNvPr id="53" name="Rectangle 52"/>
          <p:cNvSpPr/>
          <p:nvPr/>
        </p:nvSpPr>
        <p:spPr>
          <a:xfrm>
            <a:off x="539496" y="4839638"/>
            <a:ext cx="74868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288176" y="4839638"/>
            <a:ext cx="4572986"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434480" y="4839638"/>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5861162" y="4839638"/>
            <a:ext cx="5791036"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6007466" y="4839638"/>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ошибка модели — ошибка подписавшего</a:t>
            </a:r>
          </a:p>
        </p:txBody>
      </p:sp>
      <p:sp>
        <p:nvSpPr>
          <p:cNvPr id="59" name="Rectangle 58"/>
          <p:cNvSpPr/>
          <p:nvPr/>
        </p:nvSpPr>
        <p:spPr>
          <a:xfrm>
            <a:off x="539496" y="5277715"/>
            <a:ext cx="74868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45607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288176" y="5277715"/>
            <a:ext cx="4572986"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434480" y="5277715"/>
            <a:ext cx="428037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5861162" y="5277715"/>
            <a:ext cx="5791036"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6007466" y="5277715"/>
            <a:ext cx="5498428"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без помощника находят меньше</a:t>
            </a:r>
          </a:p>
        </p:txBody>
      </p:sp>
      <p:sp>
        <p:nvSpPr>
          <p:cNvPr id="65" name="Rectangle 64"/>
          <p:cNvSpPr/>
          <p:nvPr/>
        </p:nvSpPr>
        <p:spPr>
          <a:xfrm>
            <a:off x="539496" y="5715792"/>
            <a:ext cx="74868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45607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288176" y="5715792"/>
            <a:ext cx="4572986"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434480" y="5715792"/>
            <a:ext cx="4280378"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5861162" y="5715792"/>
            <a:ext cx="5791036"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007466" y="5715792"/>
            <a:ext cx="5498428"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22-rentgenkabinet-pacient-u-pribora.jpg"/>
          <p:cNvPicPr>
            <a:picLocks noChangeAspect="1"/>
          </p:cNvPicPr>
          <p:nvPr/>
        </p:nvPicPr>
        <p:blipFill>
          <a:blip r:embed="rId2"/>
          <a:srcRect l="14051" r="14051"/>
          <a:stretch>
            <a:fillRect/>
          </a:stretch>
        </p:blipFill>
        <p:spPr>
          <a:xfrm>
            <a:off x="7498079" y="0"/>
            <a:ext cx="4693615" cy="6858000"/>
          </a:xfrm>
          <a:prstGeom prst="rect">
            <a:avLst/>
          </a:prstGeom>
        </p:spPr>
      </p:pic>
      <p:sp>
        <p:nvSpPr>
          <p:cNvPr id="4" name="Rectangle 3"/>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5" name="TextBox 4"/>
          <p:cNvSpPr txBox="1"/>
          <p:nvPr/>
        </p:nvSpPr>
        <p:spPr>
          <a:xfrm>
            <a:off x="704088" y="960120"/>
            <a:ext cx="6483096"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6" name="Rectangle 5"/>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7" name="TextBox 6"/>
          <p:cNvSpPr txBox="1"/>
          <p:nvPr/>
        </p:nvSpPr>
        <p:spPr>
          <a:xfrm>
            <a:off x="704088" y="2276789"/>
            <a:ext cx="6483096" cy="814963"/>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8" name="TextBox 7"/>
          <p:cNvSpPr txBox="1"/>
          <p:nvPr/>
        </p:nvSpPr>
        <p:spPr>
          <a:xfrm>
            <a:off x="704088" y="3219769"/>
            <a:ext cx="6483096" cy="308230"/>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По порядку:</a:t>
            </a:r>
          </a:p>
        </p:txBody>
      </p:sp>
      <p:sp>
        <p:nvSpPr>
          <p:cNvPr id="9" name="TextBox 8"/>
          <p:cNvSpPr txBox="1"/>
          <p:nvPr/>
        </p:nvSpPr>
        <p:spPr>
          <a:xfrm>
            <a:off x="704088" y="3656015"/>
            <a:ext cx="6483096" cy="308230"/>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Пример 1: Москва — профилактические снимки, которые не читает человек</a:t>
            </a:r>
          </a:p>
        </p:txBody>
      </p:sp>
      <p:sp>
        <p:nvSpPr>
          <p:cNvPr id="10" name="TextBox 9"/>
          <p:cNvSpPr txBox="1"/>
          <p:nvPr/>
        </p:nvSpPr>
        <p:spPr>
          <a:xfrm>
            <a:off x="704088" y="4092262"/>
            <a:ext cx="6483096" cy="308230"/>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Пример 2: Москва — кровоизлияние в череп, где автономию не дали</a:t>
            </a:r>
          </a:p>
        </p:txBody>
      </p:sp>
      <p:sp>
        <p:nvSpPr>
          <p:cNvPr id="11" name="TextBox 10"/>
          <p:cNvSpPr txBox="1"/>
          <p:nvPr/>
        </p:nvSpPr>
        <p:spPr>
          <a:xfrm>
            <a:off x="704088" y="4528508"/>
            <a:ext cx="6483096" cy="308230"/>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Пример 3: Таиланд — чтение глазного дна в кабинете первичного звена</a:t>
            </a:r>
          </a:p>
        </p:txBody>
      </p:sp>
      <p:sp>
        <p:nvSpPr>
          <p:cNvPr id="12" name="TextBox 11"/>
          <p:cNvSpPr txBox="1"/>
          <p:nvPr/>
        </p:nvSpPr>
        <p:spPr>
          <a:xfrm>
            <a:off x="704088" y="4964754"/>
            <a:ext cx="6483096" cy="308230"/>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Пример 4: кожа и состав набора</a:t>
            </a:r>
          </a:p>
        </p:txBody>
      </p:sp>
      <p:sp>
        <p:nvSpPr>
          <p:cNvPr id="13" name="TextBox 12"/>
          <p:cNvSpPr txBox="1"/>
          <p:nvPr/>
        </p:nvSpPr>
        <p:spPr>
          <a:xfrm>
            <a:off x="704088" y="5401001"/>
            <a:ext cx="6483096" cy="56159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2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2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2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2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2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2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Как считают точность: один порог срабатывания на двух группах по десять тысяч</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порог срабатывания один;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Один </a:t>
            </a:r>
            <a:r>
              <a:rPr sz="1300" b="1" i="0">
                <a:solidFill>
                  <a:srgbClr val="21295C"/>
                </a:solidFill>
                <a:latin typeface="Arial"/>
              </a:rPr>
              <a:t>порог срабатывания</a:t>
            </a:r>
            <a:r>
              <a:rPr sz="1300" b="0" i="0">
                <a:solidFill>
                  <a:srgbClr val="21295C"/>
                </a:solidFill>
                <a:latin typeface="Arial"/>
              </a:rPr>
              <a:t> — то значение, за которым система объявляет «болен», — применили к двум группам по десять тысяч человек, отличающимся только долей больных.</a:t>
            </a:r>
          </a:p>
          <a:p>
            <a:pPr algn="l">
              <a:lnSpc>
                <a:spcPct val="126000"/>
              </a:lnSpc>
              <a:spcBef>
                <a:spcPts val="72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2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338111"/>
            <a:ext cx="11441887" cy="2628067"/>
          </a:xfrm>
          <a:prstGeom prst="roundRect">
            <a:avLst>
              <a:gd name="adj" fmla="val 11597"/>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429551"/>
            <a:ext cx="11112703" cy="280665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2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2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2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pic>
        <p:nvPicPr>
          <p:cNvPr id="4" name="Picture 3" descr="s27-dolya-potoka-cherez-model.png"/>
          <p:cNvPicPr>
            <a:picLocks noChangeAspect="1"/>
          </p:cNvPicPr>
          <p:nvPr/>
        </p:nvPicPr>
        <p:blipFill>
          <a:blip r:embed="rId2"/>
          <a:stretch>
            <a:fillRect/>
          </a:stretch>
        </p:blipFill>
        <p:spPr>
          <a:xfrm>
            <a:off x="502920" y="1335024"/>
            <a:ext cx="11185855" cy="2621684"/>
          </a:xfrm>
          <a:prstGeom prst="rect">
            <a:avLst/>
          </a:prstGeom>
        </p:spPr>
      </p:pic>
      <p:sp>
        <p:nvSpPr>
          <p:cNvPr id="5" name="Rounded Rectangle 4"/>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Годность каждого снимка решил человек у прибора — теперь о самом потоке.</a:t>
            </a:r>
            <a:r>
              <a:rPr sz="1400" b="0" i="0">
                <a:solidFill>
                  <a:srgbClr val="21295C"/>
                </a:solidFill>
                <a:latin typeface="Arial"/>
              </a:rPr>
              <a:t> Вопрос один: из ста снимков грудной клетки, которые в стране делают, сколько прочитала модель.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7" name="Rectangle 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8" name="TextBox 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2023/24</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968199"/>
          </a:xfrm>
          <a:prstGeom prst="rect">
            <a:avLst/>
          </a:prstGeom>
          <a:noFill/>
        </p:spPr>
        <p:txBody>
          <a:bodyPr wrap="square" lIns="0" rIns="0" tIns="0" bIns="0" anchor="t">
            <a:spAutoFit/>
          </a:bodyPr>
          <a:lstStyle/>
          <a:p>
            <a:pPr algn="l">
              <a:lnSpc>
                <a:spcPct val="110000"/>
              </a:lnSpc>
            </a:pPr>
            <a:r>
              <a:rPr sz="2800" b="1" i="0">
                <a:solidFill>
                  <a:srgbClr val="21295C"/>
                </a:solidFill>
                <a:latin typeface="Arial"/>
              </a:rPr>
              <a:t>Москва, профилактический поток: сколько снимков не открывает человек</a:t>
            </a:r>
          </a:p>
        </p:txBody>
      </p:sp>
      <p:sp>
        <p:nvSpPr>
          <p:cNvPr id="4" name="Rounded Rectangle 3"/>
          <p:cNvSpPr/>
          <p:nvPr/>
        </p:nvSpPr>
        <p:spPr>
          <a:xfrm>
            <a:off x="502920" y="1843184"/>
            <a:ext cx="11185855" cy="4194693"/>
          </a:xfrm>
          <a:prstGeom prst="roundRect">
            <a:avLst>
              <a:gd name="adj" fmla="val 72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905256" y="2245520"/>
            <a:ext cx="10381183" cy="1923824"/>
          </a:xfrm>
          <a:prstGeom prst="rect">
            <a:avLst/>
          </a:prstGeom>
          <a:noFill/>
        </p:spPr>
        <p:txBody>
          <a:bodyPr wrap="square" lIns="0" rIns="0" tIns="0" bIns="0" anchor="t">
            <a:spAutoFit/>
          </a:bodyPr>
          <a:lstStyle/>
          <a:p>
            <a:pPr algn="ctr">
              <a:lnSpc>
                <a:spcPct val="102000"/>
              </a:lnSpc>
            </a:pPr>
            <a:r>
              <a:rPr sz="12000" b="1" i="0">
                <a:solidFill>
                  <a:srgbClr val="21295C"/>
                </a:solidFill>
                <a:latin typeface="Arial"/>
              </a:rPr>
              <a:t>55 из ста</a:t>
            </a:r>
          </a:p>
        </p:txBody>
      </p:sp>
      <p:sp>
        <p:nvSpPr>
          <p:cNvPr id="6" name="Rectangle 5"/>
          <p:cNvSpPr/>
          <p:nvPr/>
        </p:nvSpPr>
        <p:spPr>
          <a:xfrm>
            <a:off x="5090007" y="4388801"/>
            <a:ext cx="2011680" cy="77724"/>
          </a:xfrm>
          <a:prstGeom prst="rect">
            <a:avLst/>
          </a:prstGeom>
          <a:solidFill>
            <a:srgbClr val="F0AB00"/>
          </a:solidFill>
          <a:ln>
            <a:noFill/>
          </a:ln>
          <a:effectLst/>
        </p:spPr>
        <p:txBody>
          <a:bodyPr rtlCol="0" anchor="ctr"/>
          <a:lstStyle/>
          <a:p>
            <a:pPr algn="ctr"/>
          </a:p>
        </p:txBody>
      </p:sp>
      <p:sp>
        <p:nvSpPr>
          <p:cNvPr id="7" name="TextBox 6"/>
          <p:cNvSpPr txBox="1"/>
          <p:nvPr/>
        </p:nvSpPr>
        <p:spPr>
          <a:xfrm>
            <a:off x="905256" y="4576253"/>
            <a:ext cx="10381183" cy="364646"/>
          </a:xfrm>
          <a:prstGeom prst="rect">
            <a:avLst/>
          </a:prstGeom>
          <a:noFill/>
        </p:spPr>
        <p:txBody>
          <a:bodyPr wrap="square" lIns="0" rIns="0" tIns="0" bIns="0" anchor="t">
            <a:spAutoFit/>
          </a:bodyPr>
          <a:lstStyle/>
          <a:p>
            <a:pPr algn="ctr">
              <a:lnSpc>
                <a:spcPct val="116000"/>
              </a:lnSpc>
            </a:pPr>
            <a:r>
              <a:rPr sz="2000" b="1" i="0">
                <a:solidFill>
                  <a:srgbClr val="065A82"/>
                </a:solidFill>
                <a:latin typeface="Arial"/>
              </a:rPr>
              <a:t>профилактических снимков грудной клетки не открывает ни один врач</a:t>
            </a:r>
          </a:p>
        </p:txBody>
      </p:sp>
      <p:sp>
        <p:nvSpPr>
          <p:cNvPr id="8" name="TextBox 7"/>
          <p:cNvSpPr txBox="1"/>
          <p:nvPr/>
        </p:nvSpPr>
        <p:spPr>
          <a:xfrm>
            <a:off x="905256" y="5032339"/>
            <a:ext cx="10381183" cy="296746"/>
          </a:xfrm>
          <a:prstGeom prst="rect">
            <a:avLst/>
          </a:prstGeom>
          <a:noFill/>
        </p:spPr>
        <p:txBody>
          <a:bodyPr wrap="square" lIns="0" rIns="0" tIns="0" bIns="0" anchor="t">
            <a:spAutoFit/>
          </a:bodyPr>
          <a:lstStyle/>
          <a:p>
            <a:pPr algn="ctr">
              <a:lnSpc>
                <a:spcPct val="118000"/>
              </a:lnSpc>
            </a:pPr>
            <a:r>
              <a:rPr sz="1600" b="0" i="0">
                <a:solidFill>
                  <a:srgbClr val="21295C"/>
                </a:solidFill>
                <a:latin typeface="Arial"/>
              </a:rPr>
              <a:t>315 491 из 575 549 за пять месяцев 2024 года, Москва</a:t>
            </a:r>
          </a:p>
        </p:txBody>
      </p:sp>
      <p:sp>
        <p:nvSpPr>
          <p:cNvPr id="9" name="TextBox 8"/>
          <p:cNvSpPr txBox="1"/>
          <p:nvPr/>
        </p:nvSpPr>
        <p:spPr>
          <a:xfrm>
            <a:off x="905256" y="5420526"/>
            <a:ext cx="10381183" cy="215015"/>
          </a:xfrm>
          <a:prstGeom prst="rect">
            <a:avLst/>
          </a:prstGeom>
          <a:noFill/>
        </p:spPr>
        <p:txBody>
          <a:bodyPr wrap="square" lIns="0" rIns="0" tIns="0" bIns="0" anchor="t">
            <a:spAutoFit/>
          </a:bodyPr>
          <a:lstStyle/>
          <a:p>
            <a:pPr algn="ctr">
              <a:lnSpc>
                <a:spcPct val="114000"/>
              </a:lnSpc>
            </a:pPr>
            <a:r>
              <a:rPr sz="1200" b="0" i="1">
                <a:solidFill>
                  <a:srgbClr val="1C7293"/>
                </a:solidFill>
                <a:latin typeface="Arial"/>
              </a:rPr>
              <a:t>заключение модели уходит прямо в электронную карту</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 порог срабатывания</a:t>
            </a:r>
          </a:p>
        </p:txBody>
      </p:sp>
      <p:sp>
        <p:nvSpPr>
          <p:cNvPr id="8" name="Rounded Rectangle 7"/>
          <p:cNvSpPr/>
          <p:nvPr/>
        </p:nvSpPr>
        <p:spPr>
          <a:xfrm>
            <a:off x="6178143"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на 10 тысяч снимков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2" name="TextBox 11"/>
          <p:cNvSpPr txBox="1"/>
          <p:nvPr/>
        </p:nvSpPr>
        <p:spPr>
          <a:xfrm>
            <a:off x="502920" y="350108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5" name="Right Arrow 14"/>
          <p:cNvSpPr/>
          <p:nvPr/>
        </p:nvSpPr>
        <p:spPr>
          <a:xfrm>
            <a:off x="5039258" y="37524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18" name="Right Arrow 17"/>
          <p:cNvSpPr/>
          <p:nvPr/>
        </p:nvSpPr>
        <p:spPr>
          <a:xfrm>
            <a:off x="8386876" y="37524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1" name="TextBox 20"/>
          <p:cNvSpPr txBox="1"/>
          <p:nvPr/>
        </p:nvSpPr>
        <p:spPr>
          <a:xfrm>
            <a:off x="502920" y="436042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2385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6957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5039258" y="461179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2385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6957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27" name="Right Arrow 26"/>
          <p:cNvSpPr/>
          <p:nvPr/>
        </p:nvSpPr>
        <p:spPr>
          <a:xfrm>
            <a:off x="8386876" y="461179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2385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6957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0" name="Rounded Rectangle 29"/>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Как получились эти 55 из ста.</a:t>
            </a:r>
            <a:r>
              <a:rPr sz="1150" b="0" i="0">
                <a:solidFill>
                  <a:srgbClr val="21295C"/>
                </a:solidFill>
                <a:latin typeface="Arial"/>
              </a:rPr>
              <a:t> Снимки грудной клетки, Москва, май — сентябрь 2024: 575 549 флюорограмм и рентгенограмм, три сервиса.</a:t>
            </a:r>
          </a:p>
        </p:txBody>
      </p:sp>
      <p:sp>
        <p:nvSpPr>
          <p:cNvPr id="32" name="TextBox 31"/>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Устроено так.</a:t>
            </a:r>
            <a:r>
              <a:rPr sz="1150" b="0" i="0">
                <a:solidFill>
                  <a:srgbClr val="21295C"/>
                </a:solidFill>
                <a:latin typeface="Arial"/>
              </a:rPr>
              <a:t> Чувствительность выставили </a:t>
            </a:r>
            <a:r>
              <a:rPr sz="1150" b="1" i="0">
                <a:solidFill>
                  <a:srgbClr val="21295C"/>
                </a:solidFill>
                <a:latin typeface="Arial"/>
              </a:rPr>
              <a:t>1,0</a:t>
            </a:r>
            <a:r>
              <a:rPr sz="1150" b="0" i="0">
                <a:solidFill>
                  <a:srgbClr val="21295C"/>
                </a:solidFill>
                <a:latin typeface="Arial"/>
              </a:rPr>
              <a:t>, специфичность объявили </a:t>
            </a:r>
            <a:r>
              <a:rPr sz="1150" b="1" i="0">
                <a:solidFill>
                  <a:srgbClr val="21295C"/>
                </a:solidFill>
                <a:latin typeface="Arial"/>
              </a:rPr>
              <a:t>незначимой</a:t>
            </a:r>
            <a:r>
              <a:rPr sz="1150" b="0" i="0">
                <a:solidFill>
                  <a:srgbClr val="21295C"/>
                </a:solidFill>
                <a:latin typeface="Arial"/>
              </a:rPr>
              <a:t>. В «не норму» уходит 45 снимков из ста — их читает рентгенолог. Остальные уходят в карту без него.</a:t>
            </a:r>
          </a:p>
          <a:p>
            <a:pPr algn="l">
              <a:lnSpc>
                <a:spcPct val="126000"/>
              </a:lnSpc>
              <a:spcBef>
                <a:spcPts val="720"/>
              </a:spcBef>
            </a:pPr>
            <a:r>
              <a:rPr sz="1150" b="0" i="0">
                <a:solidFill>
                  <a:srgbClr val="21295C"/>
                </a:solidFill>
                <a:latin typeface="Arial"/>
              </a:rPr>
              <a:t/>
            </a:r>
            <a:r>
              <a:rPr sz="1150" b="1" i="0">
                <a:solidFill>
                  <a:srgbClr val="21295C"/>
                </a:solidFill>
                <a:latin typeface="Arial"/>
              </a:rPr>
              <a:t>Что пропущено:</a:t>
            </a:r>
            <a:r>
              <a:rPr sz="1150" b="0" i="0">
                <a:solidFill>
                  <a:srgbClr val="21295C"/>
                </a:solidFill>
                <a:latin typeface="Arial"/>
              </a:rPr>
              <a:t> инфильтрат или затемнение — 266 из 290 случаев.</a:t>
            </a:r>
          </a:p>
        </p:txBody>
      </p:sp>
      <p:sp>
        <p:nvSpPr>
          <p:cNvPr id="33" name="Rectangle 32"/>
          <p:cNvSpPr/>
          <p:nvPr/>
        </p:nvSpPr>
        <p:spPr>
          <a:xfrm>
            <a:off x="6091275" y="5219771"/>
            <a:ext cx="9144" cy="1002427"/>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2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8066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2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2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2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968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2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5095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Коррекция алгоритмом</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коррекция</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2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Отбор в программу повышенного внимания.</a:t>
            </a:r>
            <a:r>
              <a:rPr sz="1250" b="0" i="0">
                <a:solidFill>
                  <a:srgbClr val="21295C"/>
                </a:solidFill>
                <a:latin typeface="Arial"/>
              </a:rPr>
              <a:t> Решал врач — стало решать одно число. </a:t>
            </a:r>
            <a:r>
              <a:rPr sz="1250" b="1" i="0">
                <a:solidFill>
                  <a:srgbClr val="21295C"/>
                </a:solidFill>
                <a:latin typeface="Arial"/>
              </a:rPr>
              <a:t>Обучено оно предсказывать будущие расходы на лечение</a:t>
            </a:r>
            <a:r>
              <a:rPr sz="12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a:t>
            </a:r>
            <a:r>
              <a:rPr sz="1250" b="0" i="1">
                <a:solidFill>
                  <a:srgbClr val="21295C"/>
                </a:solidFill>
                <a:latin typeface="Arial"/>
              </a:rPr>
              <a:t>Прогноз на структурированных данных.</a:t>
            </a:r>
          </a:p>
          <a:p>
            <a:pPr algn="l">
              <a:lnSpc>
                <a:spcPct val="126000"/>
              </a:lnSpc>
              <a:spcBef>
                <a:spcPts val="720"/>
              </a:spcBef>
            </a:pPr>
            <a:r>
              <a:rPr sz="1250" b="0" i="0">
                <a:solidFill>
                  <a:srgbClr val="21295C"/>
                </a:solidFill>
                <a:latin typeface="Arial"/>
              </a:rPr>
              <a:t/>
            </a:r>
            <a:r>
              <a:rPr sz="1250" b="1" i="0">
                <a:solidFill>
                  <a:srgbClr val="21295C"/>
                </a:solidFill>
                <a:latin typeface="Arial"/>
              </a:rPr>
              <a:t>Переехала цена ошибки</a:t>
            </a:r>
            <a:r>
              <a:rPr sz="1250" b="0" i="0">
                <a:solidFill>
                  <a:srgbClr val="21295C"/>
                </a:solidFill>
                <a:latin typeface="Arial"/>
              </a:rPr>
              <a:t> — на группу, где при равном балле болезней больше. </a:t>
            </a:r>
            <a:r>
              <a:rPr sz="12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9020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порог срабатывания: за ним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Ошибиться можно в трёх местах, не ошибившись в модели:</a:t>
            </a:r>
            <a:r>
              <a:rPr sz="1200" b="0" i="0">
                <a:solidFill>
                  <a:srgbClr val="21295C"/>
                </a:solidFill>
                <a:latin typeface="Arial"/>
              </a:rPr>
              <a:t> вход измеряет прибор, набор собирает человек, цель задаёт переменная.</a:t>
            </a:r>
          </a:p>
          <a:p>
            <a:pPr algn="l">
              <a:lnSpc>
                <a:spcPct val="126000"/>
              </a:lnSpc>
              <a:spcBef>
                <a:spcPts val="720"/>
              </a:spcBef>
            </a:pPr>
            <a:r>
              <a:rPr sz="1200" b="0" i="0">
                <a:solidFill>
                  <a:srgbClr val="21295C"/>
                </a:solidFill>
                <a:latin typeface="Arial"/>
              </a:rPr>
              <a:t/>
            </a:r>
            <a:r>
              <a:rPr sz="1200" b="1" i="0">
                <a:solidFill>
                  <a:srgbClr val="21295C"/>
                </a:solidFill>
                <a:latin typeface="Arial"/>
              </a:rPr>
              <a:t>Автономию решает цена ложной тревоги, не качество модели.</a:t>
            </a:r>
          </a:p>
          <a:p>
            <a:pPr algn="l">
              <a:lnSpc>
                <a:spcPct val="126000"/>
              </a:lnSpc>
              <a:spcBef>
                <a:spcPts val="720"/>
              </a:spcBef>
            </a:pPr>
            <a:r>
              <a:rPr sz="1200" b="0" i="0">
                <a:solidFill>
                  <a:srgbClr val="21295C"/>
                </a:solidFill>
                <a:latin typeface="Arial"/>
              </a:rPr>
              <a:t/>
            </a:r>
            <a:r>
              <a:rPr sz="1200" b="1" i="0">
                <a:solidFill>
                  <a:srgbClr val="21295C"/>
                </a:solidFill>
                <a:latin typeface="Arial"/>
              </a:rPr>
              <a:t>Где модель стоит.</a:t>
            </a:r>
            <a:r>
              <a:rPr sz="1200" b="0" i="0">
                <a:solidFill>
                  <a:srgbClr val="21295C"/>
                </a:solidFill>
                <a:latin typeface="Arial"/>
              </a:rPr>
              <a:t> </a:t>
            </a:r>
            <a:r>
              <a:rPr sz="1200" b="0" i="1">
                <a:solidFill>
                  <a:srgbClr val="21295C"/>
                </a:solidFill>
                <a:latin typeface="Arial"/>
              </a:rPr>
              <a:t>Классификация на изображении</a:t>
            </a:r>
            <a:r>
              <a:rPr sz="1200" b="0" i="0">
                <a:solidFill>
                  <a:srgbClr val="21295C"/>
                </a:solidFill>
                <a:latin typeface="Arial"/>
              </a:rPr>
              <a:t> — глазное дно, кожное образование. </a:t>
            </a:r>
            <a:r>
              <a:rPr sz="1200" b="0" i="1">
                <a:solidFill>
                  <a:srgbClr val="21295C"/>
                </a:solidFill>
                <a:latin typeface="Arial"/>
              </a:rPr>
              <a:t>Распознавание на изображении</a:t>
            </a:r>
            <a:r>
              <a:rPr sz="1200" b="0" i="0">
                <a:solidFill>
                  <a:srgbClr val="21295C"/>
                </a:solidFill>
                <a:latin typeface="Arial"/>
              </a:rPr>
              <a:t> — сортировка потока на рентгене и томографии. </a:t>
            </a:r>
            <a:r>
              <a:rPr sz="1200" b="0" i="1">
                <a:solidFill>
                  <a:srgbClr val="21295C"/>
                </a:solidFill>
                <a:latin typeface="Arial"/>
              </a:rPr>
              <a:t>Прогноз на структурированных данных</a:t>
            </a:r>
            <a:r>
              <a:rPr sz="1200" b="0" i="0">
                <a:solidFill>
                  <a:srgbClr val="21295C"/>
                </a:solidFill>
                <a:latin typeface="Arial"/>
              </a:rPr>
              <a:t> — счёт риска в карте. </a:t>
            </a:r>
            <a:r>
              <a:rPr sz="1200" b="0" i="1">
                <a:solidFill>
                  <a:srgbClr val="21295C"/>
                </a:solidFill>
                <a:latin typeface="Arial"/>
              </a:rPr>
              <a:t>Измерение · сигнал прибора</a:t>
            </a:r>
            <a:r>
              <a:rPr sz="1200" b="0" i="0">
                <a:solidFill>
                  <a:srgbClr val="21295C"/>
                </a:solidFill>
                <a:latin typeface="Arial"/>
              </a:rPr>
              <a:t> — </a:t>
            </a:r>
            <a:r>
              <a:rPr sz="1200" b="1" i="0">
                <a:solidFill>
                  <a:srgbClr val="21295C"/>
                </a:solidFill>
                <a:latin typeface="Arial"/>
              </a:rPr>
              <a:t>модели нет, а смещение есть.</a:t>
            </a:r>
          </a:p>
          <a:p>
            <a:pPr algn="l">
              <a:lnSpc>
                <a:spcPct val="126000"/>
              </a:lnSpc>
              <a:spcBef>
                <a:spcPts val="720"/>
              </a:spcBef>
            </a:pPr>
            <a:r>
              <a:rPr sz="1200" b="0" i="0">
                <a:solidFill>
                  <a:srgbClr val="21295C"/>
                </a:solidFill>
                <a:latin typeface="Arial"/>
              </a:rPr>
              <a:t/>
            </a:r>
            <a:r>
              <a:rPr sz="120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2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2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1522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35-vrach-chitaet-s-ekrana.jpg"/>
          <p:cNvPicPr>
            <a:picLocks noChangeAspect="1"/>
          </p:cNvPicPr>
          <p:nvPr/>
        </p:nvPicPr>
        <p:blipFill>
          <a:blip r:embed="rId2"/>
          <a:srcRect l="25811" r="25811"/>
          <a:stretch>
            <a:fillRect/>
          </a:stretch>
        </p:blipFill>
        <p:spPr>
          <a:xfrm>
            <a:off x="7498079" y="0"/>
            <a:ext cx="4693615" cy="6858000"/>
          </a:xfrm>
          <a:prstGeom prst="rect">
            <a:avLst/>
          </a:prstGeom>
        </p:spPr>
      </p:pic>
      <p:sp>
        <p:nvSpPr>
          <p:cNvPr id="4" name="Rectangle 3"/>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5" name="TextBox 4"/>
          <p:cNvSpPr txBox="1"/>
          <p:nvPr/>
        </p:nvSpPr>
        <p:spPr>
          <a:xfrm>
            <a:off x="704088" y="960120"/>
            <a:ext cx="6483096"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6" name="Rectangle 5"/>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7" name="TextBox 6"/>
          <p:cNvSpPr txBox="1"/>
          <p:nvPr/>
        </p:nvSpPr>
        <p:spPr>
          <a:xfrm>
            <a:off x="704088" y="1844558"/>
            <a:ext cx="6483096" cy="756494"/>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Там стадия производила величины — здесь по ним выносят заключение, и подпись ставит человек.</a:t>
            </a:r>
            <a:r>
              <a:rPr sz="120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8" name="TextBox 7"/>
          <p:cNvSpPr txBox="1"/>
          <p:nvPr/>
        </p:nvSpPr>
        <p:spPr>
          <a:xfrm>
            <a:off x="704088" y="2729068"/>
            <a:ext cx="6483096" cy="288740"/>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По порядку:</a:t>
            </a:r>
          </a:p>
        </p:txBody>
      </p:sp>
      <p:sp>
        <p:nvSpPr>
          <p:cNvPr id="9" name="TextBox 8"/>
          <p:cNvSpPr txBox="1"/>
          <p:nvPr/>
        </p:nvSpPr>
        <p:spPr>
          <a:xfrm>
            <a:off x="704088" y="3145824"/>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1: замер взгляда — при ложной и при верной подсказке</a:t>
            </a:r>
          </a:p>
        </p:txBody>
      </p:sp>
      <p:sp>
        <p:nvSpPr>
          <p:cNvPr id="10" name="TextBox 9"/>
          <p:cNvSpPr txBox="1"/>
          <p:nvPr/>
        </p:nvSpPr>
        <p:spPr>
          <a:xfrm>
            <a:off x="704088" y="3562581"/>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2: патологи читают срезы — с подсказкой и без</a:t>
            </a:r>
          </a:p>
        </p:txBody>
      </p:sp>
      <p:sp>
        <p:nvSpPr>
          <p:cNvPr id="11" name="TextBox 10"/>
          <p:cNvSpPr txBox="1"/>
          <p:nvPr/>
        </p:nvSpPr>
        <p:spPr>
          <a:xfrm>
            <a:off x="704088" y="3979338"/>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3: шведское испытание — второе человеческое чтение заменено моделью</a:t>
            </a:r>
          </a:p>
        </p:txBody>
      </p:sp>
      <p:sp>
        <p:nvSpPr>
          <p:cNvPr id="12" name="TextBox 11"/>
          <p:cNvSpPr txBox="1"/>
          <p:nvPr/>
        </p:nvSpPr>
        <p:spPr>
          <a:xfrm>
            <a:off x="704088" y="4396095"/>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4: хирурги оценивают риск — сами и после знакомства с моделью</a:t>
            </a:r>
          </a:p>
        </p:txBody>
      </p:sp>
      <p:sp>
        <p:nvSpPr>
          <p:cNvPr id="13" name="TextBox 12"/>
          <p:cNvSpPr txBox="1"/>
          <p:nvPr/>
        </p:nvSpPr>
        <p:spPr>
          <a:xfrm>
            <a:off x="704088" y="4812851"/>
            <a:ext cx="6483096" cy="522617"/>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 уже из непрерывного наблюдения, </a:t>
            </a:r>
            <a:r>
              <a:rPr sz="1200" b="1" i="0">
                <a:solidFill>
                  <a:srgbClr val="21295C"/>
                </a:solidFill>
                <a:latin typeface="Arial"/>
              </a:rPr>
              <a:t>Пример 5: модель раннего предупреждения о сепсисе</a:t>
            </a:r>
          </a:p>
        </p:txBody>
      </p:sp>
      <p:sp>
        <p:nvSpPr>
          <p:cNvPr id="14" name="TextBox 13"/>
          <p:cNvSpPr txBox="1"/>
          <p:nvPr/>
        </p:nvSpPr>
        <p:spPr>
          <a:xfrm>
            <a:off x="704088" y="5463485"/>
            <a:ext cx="6483096" cy="522617"/>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2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3137133"/>
            <a:ext cx="11441887" cy="2513886"/>
          </a:xfrm>
          <a:prstGeom prst="roundRect">
            <a:avLst>
              <a:gd name="adj" fmla="val 12124"/>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28573"/>
            <a:ext cx="5373471" cy="30076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36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3228573"/>
            <a:ext cx="5373471" cy="30076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36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3228573"/>
            <a:ext cx="9144" cy="22395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42249"/>
          </a:xfrm>
          <a:prstGeom prst="roundRect">
            <a:avLst>
              <a:gd name="adj" fmla="val 11114"/>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доля верных рассуждений на 264 прочтениях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2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a:t>
            </a:r>
            <a:r>
              <a:rPr sz="1500" b="1" i="0">
                <a:solidFill>
                  <a:srgbClr val="21295C"/>
                </a:solidFill>
                <a:latin typeface="Arial"/>
              </a:rPr>
              <a:t>1,99 секунды</a:t>
            </a:r>
            <a:r>
              <a:rPr sz="1500" b="0" i="0">
                <a:solidFill>
                  <a:srgbClr val="21295C"/>
                </a:solidFill>
                <a:latin typeface="Arial"/>
              </a:rPr>
              <a:t> по медиане: за это время подсказку прочесть нельзя.</a:t>
            </a:r>
          </a:p>
        </p:txBody>
      </p:sp>
      <p:sp>
        <p:nvSpPr>
          <p:cNvPr id="16" name="Rectangle 15"/>
          <p:cNvSpPr/>
          <p:nvPr/>
        </p:nvSpPr>
        <p:spPr>
          <a:xfrm>
            <a:off x="6091275" y="3382994"/>
            <a:ext cx="9144" cy="246792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2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2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2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2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281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2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100242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Кардиограмма с машинной расшифровкой: что будет, когда расшифровка неверна</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14" name="Rounded Rectangle 13"/>
          <p:cNvSpPr/>
          <p:nvPr/>
        </p:nvSpPr>
        <p:spPr>
          <a:xfrm>
            <a:off x="374904" y="2881196"/>
            <a:ext cx="11441887" cy="2216825"/>
          </a:xfrm>
          <a:prstGeom prst="roundRect">
            <a:avLst>
              <a:gd name="adj" fmla="val 13749"/>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972636"/>
            <a:ext cx="5373471" cy="32635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стажёров читали по сто кардиограмм, каждую трижды:</a:t>
            </a:r>
            <a:r>
              <a:rPr sz="1500" b="0" i="0">
                <a:solidFill>
                  <a:srgbClr val="21295C"/>
                </a:solidFill>
                <a:latin typeface="Arial"/>
              </a:rPr>
              <a:t> без расшифровки · с одной машинной расшифровкой, половина которых неверна · с несколькими вариантами диагноза. По 15 в каждой группе — стажёры кардиологии и стажёры других специальностей.</a:t>
            </a:r>
          </a:p>
        </p:txBody>
      </p:sp>
      <p:sp>
        <p:nvSpPr>
          <p:cNvPr id="16" name="TextBox 15"/>
          <p:cNvSpPr txBox="1"/>
          <p:nvPr/>
        </p:nvSpPr>
        <p:spPr>
          <a:xfrm>
            <a:off x="6278727" y="2972636"/>
            <a:ext cx="5373471" cy="32635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 ВЕРНОЙ расшифровке обе группы читают почти одинаково:</a:t>
            </a:r>
            <a:r>
              <a:rPr sz="1500" b="0" i="0">
                <a:solidFill>
                  <a:srgbClr val="21295C"/>
                </a:solidFill>
                <a:latin typeface="Arial"/>
              </a:rPr>
              <a:t> 84,86 из ста у кардиологов, 86,38 у остальных.</a:t>
            </a:r>
          </a:p>
          <a:p>
            <a:pPr algn="l">
              <a:lnSpc>
                <a:spcPct val="126000"/>
              </a:lnSpc>
              <a:spcBef>
                <a:spcPts val="3600"/>
              </a:spcBef>
            </a:pPr>
            <a:r>
              <a:rPr sz="1500" b="0" i="0">
                <a:solidFill>
                  <a:srgbClr val="21295C"/>
                </a:solidFill>
                <a:latin typeface="Arial"/>
              </a:rPr>
              <a:t/>
            </a:r>
            <a:r>
              <a:rPr sz="1500" b="1" i="0">
                <a:solidFill>
                  <a:srgbClr val="21295C"/>
                </a:solidFill>
                <a:latin typeface="Arial"/>
              </a:rPr>
              <a:t>Вопрос: что станет с этими двумя числами, когда расшифровка неверна — и у кого падение будет глубже?</a:t>
            </a:r>
          </a:p>
        </p:txBody>
      </p:sp>
      <p:sp>
        <p:nvSpPr>
          <p:cNvPr id="17" name="Rectangle 16"/>
          <p:cNvSpPr/>
          <p:nvPr/>
        </p:nvSpPr>
        <p:spPr>
          <a:xfrm>
            <a:off x="6091275" y="2972636"/>
            <a:ext cx="9144" cy="19425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Вскрытие: обе группы падают вдвое, менее экспертная — глубже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374904" y="3010932"/>
            <a:ext cx="11441887" cy="2986414"/>
          </a:xfrm>
          <a:prstGeom prst="roundRect">
            <a:avLst>
              <a:gd name="adj" fmla="val 102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Глубже упали стажёры других специальностей — те, у кого подготовки по этому чтению меньше.</a:t>
            </a:r>
          </a:p>
        </p:txBody>
      </p:sp>
      <p:sp>
        <p:nvSpPr>
          <p:cNvPr id="14" name="Rectangle 13"/>
          <p:cNvSpPr/>
          <p:nvPr/>
        </p:nvSpPr>
        <p:spPr>
          <a:xfrm>
            <a:off x="539496" y="3589746"/>
            <a:ext cx="6377221" cy="465425"/>
          </a:xfrm>
          <a:prstGeom prst="rect">
            <a:avLst/>
          </a:prstGeom>
          <a:solidFill>
            <a:srgbClr val="065A82"/>
          </a:solidFill>
          <a:ln>
            <a:noFill/>
          </a:ln>
          <a:effectLst/>
        </p:spPr>
        <p:txBody>
          <a:bodyPr rtlCol="0" anchor="ctr"/>
          <a:lstStyle/>
          <a:p>
            <a:pPr algn="ctr"/>
          </a:p>
        </p:txBody>
      </p:sp>
      <p:sp>
        <p:nvSpPr>
          <p:cNvPr id="15" name="TextBox 14"/>
          <p:cNvSpPr txBox="1"/>
          <p:nvPr/>
        </p:nvSpPr>
        <p:spPr>
          <a:xfrm>
            <a:off x="685800" y="3589746"/>
            <a:ext cx="608461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точность заключения, из ста</a:t>
            </a:r>
          </a:p>
        </p:txBody>
      </p:sp>
      <p:sp>
        <p:nvSpPr>
          <p:cNvPr id="16" name="Rectangle 15"/>
          <p:cNvSpPr/>
          <p:nvPr/>
        </p:nvSpPr>
        <p:spPr>
          <a:xfrm>
            <a:off x="6916717" y="3589746"/>
            <a:ext cx="2139298" cy="465425"/>
          </a:xfrm>
          <a:prstGeom prst="rect">
            <a:avLst/>
          </a:prstGeom>
          <a:solidFill>
            <a:srgbClr val="065A82"/>
          </a:solidFill>
          <a:ln>
            <a:noFill/>
          </a:ln>
          <a:effectLst/>
        </p:spPr>
        <p:txBody>
          <a:bodyPr rtlCol="0" anchor="ctr"/>
          <a:lstStyle/>
          <a:p>
            <a:pPr algn="ctr"/>
          </a:p>
        </p:txBody>
      </p:sp>
      <p:sp>
        <p:nvSpPr>
          <p:cNvPr id="17" name="TextBox 16"/>
          <p:cNvSpPr txBox="1"/>
          <p:nvPr/>
        </p:nvSpPr>
        <p:spPr>
          <a:xfrm>
            <a:off x="7063021" y="3589746"/>
            <a:ext cx="184669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верная</a:t>
            </a:r>
          </a:p>
        </p:txBody>
      </p:sp>
      <p:sp>
        <p:nvSpPr>
          <p:cNvPr id="18" name="Rectangle 17"/>
          <p:cNvSpPr/>
          <p:nvPr/>
        </p:nvSpPr>
        <p:spPr>
          <a:xfrm>
            <a:off x="9056015" y="3589746"/>
            <a:ext cx="2596183" cy="465425"/>
          </a:xfrm>
          <a:prstGeom prst="rect">
            <a:avLst/>
          </a:prstGeom>
          <a:solidFill>
            <a:srgbClr val="065A82"/>
          </a:solidFill>
          <a:ln>
            <a:noFill/>
          </a:ln>
          <a:effectLst/>
        </p:spPr>
        <p:txBody>
          <a:bodyPr rtlCol="0" anchor="ctr"/>
          <a:lstStyle/>
          <a:p>
            <a:pPr algn="ctr"/>
          </a:p>
        </p:txBody>
      </p:sp>
      <p:sp>
        <p:nvSpPr>
          <p:cNvPr id="19" name="TextBox 18"/>
          <p:cNvSpPr txBox="1"/>
          <p:nvPr/>
        </p:nvSpPr>
        <p:spPr>
          <a:xfrm>
            <a:off x="9202319" y="3589746"/>
            <a:ext cx="2303575"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неверная</a:t>
            </a:r>
          </a:p>
        </p:txBody>
      </p:sp>
      <p:sp>
        <p:nvSpPr>
          <p:cNvPr id="20" name="Rectangle 19"/>
          <p:cNvSpPr/>
          <p:nvPr/>
        </p:nvSpPr>
        <p:spPr>
          <a:xfrm>
            <a:off x="539496" y="4055172"/>
            <a:ext cx="6377221" cy="465425"/>
          </a:xfrm>
          <a:prstGeom prst="rect">
            <a:avLst/>
          </a:prstGeom>
          <a:solidFill>
            <a:srgbClr val="FFFFFF"/>
          </a:solidFill>
          <a:ln w="12700">
            <a:solidFill>
              <a:srgbClr val="D9E2EC"/>
            </a:solidFill>
          </a:ln>
          <a:effectLst/>
        </p:spPr>
        <p:txBody>
          <a:bodyPr rtlCol="0" anchor="ctr"/>
          <a:lstStyle/>
          <a:p>
            <a:pPr algn="ctr"/>
          </a:p>
        </p:txBody>
      </p:sp>
      <p:sp>
        <p:nvSpPr>
          <p:cNvPr id="21" name="TextBox 20"/>
          <p:cNvSpPr txBox="1"/>
          <p:nvPr/>
        </p:nvSpPr>
        <p:spPr>
          <a:xfrm>
            <a:off x="685800" y="4055172"/>
            <a:ext cx="608461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стажёры кардиологии</a:t>
            </a:r>
          </a:p>
        </p:txBody>
      </p:sp>
      <p:sp>
        <p:nvSpPr>
          <p:cNvPr id="22" name="Rectangle 21"/>
          <p:cNvSpPr/>
          <p:nvPr/>
        </p:nvSpPr>
        <p:spPr>
          <a:xfrm>
            <a:off x="6916717" y="4055172"/>
            <a:ext cx="2139298" cy="465425"/>
          </a:xfrm>
          <a:prstGeom prst="rect">
            <a:avLst/>
          </a:prstGeom>
          <a:solidFill>
            <a:srgbClr val="FFFFFF"/>
          </a:solidFill>
          <a:ln w="12700">
            <a:solidFill>
              <a:srgbClr val="D9E2EC"/>
            </a:solidFill>
          </a:ln>
          <a:effectLst/>
        </p:spPr>
        <p:txBody>
          <a:bodyPr rtlCol="0" anchor="ctr"/>
          <a:lstStyle/>
          <a:p>
            <a:pPr algn="ctr"/>
          </a:p>
        </p:txBody>
      </p:sp>
      <p:sp>
        <p:nvSpPr>
          <p:cNvPr id="23" name="TextBox 22"/>
          <p:cNvSpPr txBox="1"/>
          <p:nvPr/>
        </p:nvSpPr>
        <p:spPr>
          <a:xfrm>
            <a:off x="7063021" y="4055172"/>
            <a:ext cx="1846690"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84,86</a:t>
            </a:r>
          </a:p>
        </p:txBody>
      </p:sp>
      <p:sp>
        <p:nvSpPr>
          <p:cNvPr id="24" name="Rectangle 23"/>
          <p:cNvSpPr/>
          <p:nvPr/>
        </p:nvSpPr>
        <p:spPr>
          <a:xfrm>
            <a:off x="9056015" y="4055172"/>
            <a:ext cx="2596183" cy="46542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9202319" y="4055172"/>
            <a:ext cx="2303575"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41,66</a:t>
            </a:r>
          </a:p>
        </p:txBody>
      </p:sp>
      <p:sp>
        <p:nvSpPr>
          <p:cNvPr id="26" name="Rectangle 25"/>
          <p:cNvSpPr/>
          <p:nvPr/>
        </p:nvSpPr>
        <p:spPr>
          <a:xfrm>
            <a:off x="539496" y="4520597"/>
            <a:ext cx="6377221" cy="465425"/>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85800" y="4520597"/>
            <a:ext cx="608461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другие специальности</a:t>
            </a:r>
          </a:p>
        </p:txBody>
      </p:sp>
      <p:sp>
        <p:nvSpPr>
          <p:cNvPr id="28" name="Rectangle 27"/>
          <p:cNvSpPr/>
          <p:nvPr/>
        </p:nvSpPr>
        <p:spPr>
          <a:xfrm>
            <a:off x="6916717" y="4520597"/>
            <a:ext cx="2139298" cy="465425"/>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7063021" y="4520597"/>
            <a:ext cx="1846690"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86,38</a:t>
            </a:r>
          </a:p>
        </p:txBody>
      </p:sp>
      <p:sp>
        <p:nvSpPr>
          <p:cNvPr id="30" name="Rectangle 29"/>
          <p:cNvSpPr/>
          <p:nvPr/>
        </p:nvSpPr>
        <p:spPr>
          <a:xfrm>
            <a:off x="9056015" y="4520597"/>
            <a:ext cx="2596183" cy="46542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9202319" y="4520597"/>
            <a:ext cx="2303575"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27,43</a:t>
            </a:r>
          </a:p>
        </p:txBody>
      </p:sp>
      <p:sp>
        <p:nvSpPr>
          <p:cNvPr id="32" name="TextBox 31"/>
          <p:cNvSpPr txBox="1"/>
          <p:nvPr/>
        </p:nvSpPr>
        <p:spPr>
          <a:xfrm>
            <a:off x="539496" y="5132326"/>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Якорение, первое из шести искажений входа.</a:t>
            </a:r>
            <a:r>
              <a:rPr sz="1700" b="0" i="0">
                <a:solidFill>
                  <a:srgbClr val="21295C"/>
                </a:solidFill>
                <a:latin typeface="Arial"/>
              </a:rPr>
              <a:t> Специальность защищает, но не спасает: падают обе, вдвое.</a:t>
            </a:r>
          </a:p>
        </p:txBody>
      </p:sp>
      <p:sp>
        <p:nvSpPr>
          <p:cNvPr id="33" name="Rectangle 3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6363"/>
          </a:xfrm>
          <a:prstGeom prst="roundRect">
            <a:avLst>
              <a:gd name="adj" fmla="val 1310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2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2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5204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11112703" cy="12250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30 хирургов оценивали риск по 150 письменным описаниям случаев;</a:t>
            </a:r>
            <a:r>
              <a:rPr sz="1250" b="0" i="0">
                <a:solidFill>
                  <a:srgbClr val="21295C"/>
                </a:solidFill>
                <a:latin typeface="Arial"/>
              </a:rPr>
              <a:t> исходы прослежены вперёд 30 дней.</a:t>
            </a:r>
          </a:p>
          <a:p>
            <a:pPr algn="l">
              <a:lnSpc>
                <a:spcPct val="126000"/>
              </a:lnSpc>
              <a:spcBef>
                <a:spcPts val="720"/>
              </a:spcBef>
            </a:pPr>
            <a:r>
              <a:rPr sz="1250" b="0" i="0">
                <a:solidFill>
                  <a:srgbClr val="21295C"/>
                </a:solidFill>
                <a:latin typeface="Arial"/>
              </a:rPr>
              <a:t/>
            </a:r>
            <a:r>
              <a:rPr sz="1250" b="1" i="0">
                <a:solidFill>
                  <a:srgbClr val="21295C"/>
                </a:solidFill>
                <a:latin typeface="Arial"/>
              </a:rPr>
              <a:t>На септическом шоке пара ниже и хирурга, и модели:</a:t>
            </a:r>
            <a:r>
              <a:rPr sz="1250" b="0" i="0">
                <a:solidFill>
                  <a:srgbClr val="21295C"/>
                </a:solidFill>
                <a:latin typeface="Arial"/>
              </a:rPr>
              <a:t> та одна дала 0,816. </a:t>
            </a:r>
            <a:r>
              <a:rPr sz="1250" b="1" i="0">
                <a:solidFill>
                  <a:srgbClr val="21295C"/>
                </a:solidFill>
                <a:latin typeface="Arial"/>
              </a:rPr>
              <a:t>Второй классический режим — шкалы риска,</a:t>
            </a:r>
            <a:r>
              <a:rPr sz="1250" b="0" i="0">
                <a:solidFill>
                  <a:srgbClr val="21295C"/>
                </a:solidFill>
                <a:latin typeface="Arial"/>
              </a:rPr>
              <a:t> другая выборка: 0,874–0,898 против модели 0,916.</a:t>
            </a:r>
          </a:p>
          <a:p>
            <a:pPr algn="l">
              <a:lnSpc>
                <a:spcPct val="126000"/>
              </a:lnSpc>
              <a:spcBef>
                <a:spcPts val="720"/>
              </a:spcBef>
            </a:pPr>
            <a:r>
              <a:rPr sz="1250" b="0" i="0">
                <a:solidFill>
                  <a:srgbClr val="21295C"/>
                </a:solidFill>
                <a:latin typeface="Arial"/>
              </a:rPr>
              <a:t/>
            </a:r>
            <a:r>
              <a:rPr sz="1250" b="1" i="0">
                <a:solidFill>
                  <a:srgbClr val="21295C"/>
                </a:solidFill>
                <a:latin typeface="Arial"/>
              </a:rPr>
              <a:t>Исполнитель тот же, но стал хуже. Ступень — смотрит вторым.</a:t>
            </a:r>
            <a:r>
              <a:rPr sz="1250" b="0" i="0">
                <a:solidFill>
                  <a:srgbClr val="21295C"/>
                </a:solidFill>
                <a:latin typeface="Arial"/>
              </a:rPr>
              <a:t> Где перевес модели наибольший, пара не прибавила вовсе: </a:t>
            </a:r>
            <a:r>
              <a:rPr sz="1250" b="1" i="0">
                <a:solidFill>
                  <a:srgbClr val="21295C"/>
                </a:solidFill>
                <a:latin typeface="Arial"/>
              </a:rPr>
              <a:t>0,834 против 0,833.</a:t>
            </a:r>
          </a:p>
        </p:txBody>
      </p:sp>
      <p:sp>
        <p:nvSpPr>
          <p:cNvPr id="40" name="Rectangle 3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2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2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2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870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2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2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Шесть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2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2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2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60b-kartoteka-zapisey-patsientov.jpg"/>
          <p:cNvPicPr>
            <a:picLocks noChangeAspect="1"/>
          </p:cNvPicPr>
          <p:nvPr/>
        </p:nvPicPr>
        <p:blipFill>
          <a:blip r:embed="rId2"/>
          <a:srcRect l="27180" r="27180"/>
          <a:stretch>
            <a:fillRect/>
          </a:stretch>
        </p:blipFill>
        <p:spPr>
          <a:xfrm>
            <a:off x="7498079" y="0"/>
            <a:ext cx="4693615" cy="6858000"/>
          </a:xfrm>
          <a:prstGeom prst="rect">
            <a:avLst/>
          </a:prstGeom>
        </p:spPr>
      </p:pic>
      <p:sp>
        <p:nvSpPr>
          <p:cNvPr id="4" name="Rectangle 3"/>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5" name="TextBox 4"/>
          <p:cNvSpPr txBox="1"/>
          <p:nvPr/>
        </p:nvSpPr>
        <p:spPr>
          <a:xfrm>
            <a:off x="704088" y="960120"/>
            <a:ext cx="6483096"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6" name="Rectangle 5"/>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7" name="TextBox 6"/>
          <p:cNvSpPr txBox="1"/>
          <p:nvPr/>
        </p:nvSpPr>
        <p:spPr>
          <a:xfrm>
            <a:off x="704088" y="2276789"/>
            <a:ext cx="6483096" cy="756494"/>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Наблюдение искало ухудшение в цифрах. Здесь решение уезжает в текст,</a:t>
            </a:r>
            <a:r>
              <a:rPr sz="1200" b="0" i="0">
                <a:solidFill>
                  <a:srgbClr val="21295C"/>
                </a:solidFill>
                <a:latin typeface="Arial"/>
              </a:rPr>
              <a:t> и прочтёт его тот, кто пациента не видел. </a:t>
            </a:r>
            <a:r>
              <a:rPr sz="1200" b="1" i="0">
                <a:solidFill>
                  <a:srgbClr val="21295C"/>
                </a:solidFill>
                <a:latin typeface="Arial"/>
              </a:rPr>
              <a:t>Пропуск в записи и отсутствие события для него одинаковы.</a:t>
            </a:r>
          </a:p>
        </p:txBody>
      </p:sp>
      <p:sp>
        <p:nvSpPr>
          <p:cNvPr id="8" name="TextBox 7"/>
          <p:cNvSpPr txBox="1"/>
          <p:nvPr/>
        </p:nvSpPr>
        <p:spPr>
          <a:xfrm>
            <a:off x="704088" y="3161300"/>
            <a:ext cx="6483096" cy="288740"/>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 </a:t>
            </a:r>
            <a:r>
              <a:rPr sz="1200" b="1" i="0">
                <a:solidFill>
                  <a:srgbClr val="21295C"/>
                </a:solidFill>
                <a:latin typeface="Arial"/>
              </a:rPr>
              <a:t>запись приёма</a:t>
            </a:r>
            <a:r>
              <a:rPr sz="1200" b="0" i="0">
                <a:solidFill>
                  <a:srgbClr val="21295C"/>
                </a:solidFill>
                <a:latin typeface="Arial"/>
              </a:rPr>
              <a:t> — её читают сам пациент и следующий врач</a:t>
            </a:r>
          </a:p>
        </p:txBody>
      </p:sp>
      <p:sp>
        <p:nvSpPr>
          <p:cNvPr id="9" name="TextBox 8"/>
          <p:cNvSpPr txBox="1"/>
          <p:nvPr/>
        </p:nvSpPr>
        <p:spPr>
          <a:xfrm>
            <a:off x="704088" y="3578056"/>
            <a:ext cx="6483096" cy="288740"/>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 </a:t>
            </a:r>
            <a:r>
              <a:rPr sz="1200" b="1" i="0">
                <a:solidFill>
                  <a:srgbClr val="21295C"/>
                </a:solidFill>
                <a:latin typeface="Arial"/>
              </a:rPr>
              <a:t>выписной эпикриз</a:t>
            </a:r>
            <a:r>
              <a:rPr sz="1200" b="0" i="0">
                <a:solidFill>
                  <a:srgbClr val="21295C"/>
                </a:solidFill>
                <a:latin typeface="Arial"/>
              </a:rPr>
              <a:t> — его читают участковый врач, следующий стационар, страховщик</a:t>
            </a:r>
          </a:p>
        </p:txBody>
      </p:sp>
      <p:sp>
        <p:nvSpPr>
          <p:cNvPr id="10" name="TextBox 9"/>
          <p:cNvSpPr txBox="1"/>
          <p:nvPr/>
        </p:nvSpPr>
        <p:spPr>
          <a:xfrm>
            <a:off x="704088" y="3994813"/>
            <a:ext cx="6483096" cy="288740"/>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По порядку, и первым — случай:</a:t>
            </a:r>
          </a:p>
        </p:txBody>
      </p:sp>
      <p:sp>
        <p:nvSpPr>
          <p:cNvPr id="11" name="TextBox 10"/>
          <p:cNvSpPr txBox="1"/>
          <p:nvPr/>
        </p:nvSpPr>
        <p:spPr>
          <a:xfrm>
            <a:off x="704088" y="4411570"/>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Перенос прежней записи: случай с гепарином и четыре режима письма</a:t>
            </a:r>
          </a:p>
        </p:txBody>
      </p:sp>
      <p:sp>
        <p:nvSpPr>
          <p:cNvPr id="12" name="TextBox 11"/>
          <p:cNvSpPr txBox="1"/>
          <p:nvPr/>
        </p:nvSpPr>
        <p:spPr>
          <a:xfrm>
            <a:off x="704088" y="4828326"/>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1: автоматическая запись приёма</a:t>
            </a:r>
          </a:p>
        </p:txBody>
      </p:sp>
      <p:sp>
        <p:nvSpPr>
          <p:cNvPr id="13" name="TextBox 12"/>
          <p:cNvSpPr txBox="1"/>
          <p:nvPr/>
        </p:nvSpPr>
        <p:spPr>
          <a:xfrm>
            <a:off x="704088" y="5245083"/>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2: выписной эпикриз</a:t>
            </a:r>
          </a:p>
        </p:txBody>
      </p:sp>
      <p:sp>
        <p:nvSpPr>
          <p:cNvPr id="14" name="TextBox 13"/>
          <p:cNvSpPr txBox="1"/>
          <p:nvPr/>
        </p:nvSpPr>
        <p:spPr>
          <a:xfrm>
            <a:off x="704088" y="5661840"/>
            <a:ext cx="6483096" cy="288740"/>
          </a:xfrm>
          <a:prstGeom prst="rect">
            <a:avLst/>
          </a:prstGeom>
          <a:noFill/>
        </p:spPr>
        <p:txBody>
          <a:bodyPr wrap="square" lIns="0" rIns="0" tIns="0" bIns="0" anchor="t">
            <a:spAutoFit/>
          </a:bodyPr>
          <a:lstStyle/>
          <a:p>
            <a:pPr algn="l">
              <a:lnSpc>
                <a:spcPct val="124000"/>
              </a:lnSpc>
            </a:pPr>
            <a:r>
              <a:rPr sz="1200" b="1" i="0">
                <a:solidFill>
                  <a:srgbClr val="21295C"/>
                </a:solidFill>
                <a:latin typeface="Arial"/>
              </a:rPr>
              <a:t>Пример 3: голосовой ввод протокола лучевого исследования</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3232297"/>
            <a:ext cx="11441887" cy="2216825"/>
          </a:xfrm>
          <a:prstGeom prst="roundRect">
            <a:avLst>
              <a:gd name="adj" fmla="val 1374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23737"/>
            <a:ext cx="5373471" cy="2912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36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3323737"/>
            <a:ext cx="5373471" cy="2912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3323737"/>
            <a:ext cx="9144" cy="19425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703871"/>
            <a:ext cx="11441887" cy="1919764"/>
          </a:xfrm>
          <a:prstGeom prst="roundRect">
            <a:avLst>
              <a:gd name="adj" fmla="val 1587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795311"/>
            <a:ext cx="11112703" cy="24408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36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2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Перенос прежней записи: случай с гепарином и четыре режима письма</a:t>
            </a:r>
          </a:p>
        </p:txBody>
      </p:sp>
      <p:sp>
        <p:nvSpPr>
          <p:cNvPr id="4" name="Rounded Rectangle 3"/>
          <p:cNvSpPr/>
          <p:nvPr/>
        </p:nvSpPr>
        <p:spPr>
          <a:xfrm>
            <a:off x="502920" y="1335024"/>
            <a:ext cx="11185855" cy="1887366"/>
          </a:xfrm>
          <a:prstGeom prst="roundRect">
            <a:avLst>
              <a:gd name="adj" fmla="val 1614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49224" y="1481328"/>
            <a:ext cx="10893247" cy="230104"/>
          </a:xfrm>
          <a:prstGeom prst="rect">
            <a:avLst/>
          </a:prstGeom>
          <a:noFill/>
        </p:spPr>
        <p:txBody>
          <a:bodyPr wrap="square" lIns="0" rIns="0" tIns="0" bIns="0" anchor="t">
            <a:spAutoFit/>
          </a:bodyPr>
          <a:lstStyle/>
          <a:p>
            <a:pPr algn="l">
              <a:lnSpc>
                <a:spcPct val="122000"/>
              </a:lnSpc>
            </a:pPr>
            <a:r>
              <a:rPr sz="1200" b="1" i="0">
                <a:solidFill>
                  <a:srgbClr val="065A82"/>
                </a:solidFill>
                <a:latin typeface="Arial"/>
              </a:rPr>
              <a:t>Пациент на химиотерапии: запись о профилактике гепарином</a:t>
            </a:r>
          </a:p>
        </p:txBody>
      </p:sp>
      <p:sp>
        <p:nvSpPr>
          <p:cNvPr id="6" name="Rectangle 5"/>
          <p:cNvSpPr/>
          <p:nvPr/>
        </p:nvSpPr>
        <p:spPr>
          <a:xfrm>
            <a:off x="2088489" y="1834876"/>
            <a:ext cx="20116" cy="1032634"/>
          </a:xfrm>
          <a:prstGeom prst="rect">
            <a:avLst/>
          </a:prstGeom>
          <a:solidFill>
            <a:srgbClr val="D9E2EC"/>
          </a:solidFill>
          <a:ln>
            <a:noFill/>
          </a:ln>
          <a:effectLst/>
        </p:spPr>
        <p:txBody>
          <a:bodyPr rtlCol="0" anchor="ctr"/>
          <a:lstStyle/>
          <a:p>
            <a:pPr algn="ctr"/>
          </a:p>
        </p:txBody>
      </p:sp>
      <p:sp>
        <p:nvSpPr>
          <p:cNvPr id="7" name="TextBox 6"/>
          <p:cNvSpPr txBox="1"/>
          <p:nvPr/>
        </p:nvSpPr>
        <p:spPr>
          <a:xfrm>
            <a:off x="649224" y="1784584"/>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День 1</a:t>
            </a:r>
          </a:p>
        </p:txBody>
      </p:sp>
      <p:sp>
        <p:nvSpPr>
          <p:cNvPr id="8" name="Rectangle 7"/>
          <p:cNvSpPr/>
          <p:nvPr/>
        </p:nvSpPr>
        <p:spPr>
          <a:xfrm>
            <a:off x="2048256" y="1784584"/>
            <a:ext cx="100584" cy="100584"/>
          </a:xfrm>
          <a:prstGeom prst="rect">
            <a:avLst/>
          </a:prstGeom>
          <a:solidFill>
            <a:srgbClr val="1C7293"/>
          </a:solidFill>
          <a:ln>
            <a:noFill/>
          </a:ln>
          <a:effectLst/>
        </p:spPr>
        <p:txBody>
          <a:bodyPr rtlCol="0" anchor="ctr"/>
          <a:lstStyle/>
          <a:p>
            <a:pPr algn="ctr"/>
          </a:p>
        </p:txBody>
      </p:sp>
      <p:sp>
        <p:nvSpPr>
          <p:cNvPr id="9" name="TextBox 8"/>
          <p:cNvSpPr txBox="1"/>
          <p:nvPr/>
        </p:nvSpPr>
        <p:spPr>
          <a:xfrm>
            <a:off x="2313432" y="1784584"/>
            <a:ext cx="9247327" cy="295443"/>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Запись о профилактике гепарином попадает в поступательную заметку. </a:t>
            </a:r>
            <a:r>
              <a:rPr sz="1350" b="1" i="0">
                <a:solidFill>
                  <a:srgbClr val="21295C"/>
                </a:solidFill>
                <a:latin typeface="Arial"/>
              </a:rPr>
              <a:t>Сам гепарин не назначен.</a:t>
            </a:r>
          </a:p>
        </p:txBody>
      </p:sp>
      <p:sp>
        <p:nvSpPr>
          <p:cNvPr id="10" name="TextBox 9"/>
          <p:cNvSpPr txBox="1"/>
          <p:nvPr/>
        </p:nvSpPr>
        <p:spPr>
          <a:xfrm>
            <a:off x="649224" y="2171468"/>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Дни 2–5</a:t>
            </a:r>
          </a:p>
        </p:txBody>
      </p:sp>
      <p:sp>
        <p:nvSpPr>
          <p:cNvPr id="11" name="Rectangle 10"/>
          <p:cNvSpPr/>
          <p:nvPr/>
        </p:nvSpPr>
        <p:spPr>
          <a:xfrm>
            <a:off x="2048256" y="2171468"/>
            <a:ext cx="100584" cy="100584"/>
          </a:xfrm>
          <a:prstGeom prst="rect">
            <a:avLst/>
          </a:prstGeom>
          <a:solidFill>
            <a:srgbClr val="1C7293"/>
          </a:solidFill>
          <a:ln>
            <a:noFill/>
          </a:ln>
          <a:effectLst/>
        </p:spPr>
        <p:txBody>
          <a:bodyPr rtlCol="0" anchor="ctr"/>
          <a:lstStyle/>
          <a:p>
            <a:pPr algn="ctr"/>
          </a:p>
        </p:txBody>
      </p:sp>
      <p:sp>
        <p:nvSpPr>
          <p:cNvPr id="12" name="TextBox 11"/>
          <p:cNvSpPr txBox="1"/>
          <p:nvPr/>
        </p:nvSpPr>
        <p:spPr>
          <a:xfrm>
            <a:off x="2313432" y="2171468"/>
            <a:ext cx="9247327" cy="554311"/>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При переводе в другое отделение запись переносится из заметки в заметку. Каждый читавший считает профилактику выполняемой.</a:t>
            </a:r>
          </a:p>
        </p:txBody>
      </p:sp>
      <p:sp>
        <p:nvSpPr>
          <p:cNvPr id="13" name="TextBox 12"/>
          <p:cNvSpPr txBox="1"/>
          <p:nvPr/>
        </p:nvSpPr>
        <p:spPr>
          <a:xfrm>
            <a:off x="649224" y="2817219"/>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После выписки</a:t>
            </a:r>
          </a:p>
        </p:txBody>
      </p:sp>
      <p:sp>
        <p:nvSpPr>
          <p:cNvPr id="14" name="Rectangle 13"/>
          <p:cNvSpPr/>
          <p:nvPr/>
        </p:nvSpPr>
        <p:spPr>
          <a:xfrm>
            <a:off x="2048256" y="2817219"/>
            <a:ext cx="100584" cy="100584"/>
          </a:xfrm>
          <a:prstGeom prst="rect">
            <a:avLst/>
          </a:prstGeom>
          <a:solidFill>
            <a:srgbClr val="F0AB00"/>
          </a:solidFill>
          <a:ln>
            <a:noFill/>
          </a:ln>
          <a:effectLst/>
        </p:spPr>
        <p:txBody>
          <a:bodyPr rtlCol="0" anchor="ctr"/>
          <a:lstStyle/>
          <a:p>
            <a:pPr algn="ctr"/>
          </a:p>
        </p:txBody>
      </p:sp>
      <p:sp>
        <p:nvSpPr>
          <p:cNvPr id="15" name="TextBox 14"/>
          <p:cNvSpPr txBox="1"/>
          <p:nvPr/>
        </p:nvSpPr>
        <p:spPr>
          <a:xfrm>
            <a:off x="2313432" y="2817219"/>
            <a:ext cx="9247327" cy="295443"/>
          </a:xfrm>
          <a:prstGeom prst="rect">
            <a:avLst/>
          </a:prstGeom>
          <a:noFill/>
        </p:spPr>
        <p:txBody>
          <a:bodyPr wrap="square" lIns="0" rIns="0" tIns="0" bIns="0" anchor="t">
            <a:spAutoFit/>
          </a:bodyPr>
          <a:lstStyle/>
          <a:p>
            <a:pPr algn="l">
              <a:lnSpc>
                <a:spcPct val="122000"/>
              </a:lnSpc>
            </a:pPr>
            <a:r>
              <a:rPr sz="1350" b="1" i="0">
                <a:solidFill>
                  <a:srgbClr val="21295C"/>
                </a:solidFill>
                <a:latin typeface="Arial"/>
              </a:rPr>
              <a:t>Тромбоэмболия лёгочной артерии, повторная госпитализация.</a:t>
            </a:r>
          </a:p>
        </p:txBody>
      </p:sp>
      <p:sp>
        <p:nvSpPr>
          <p:cNvPr id="16" name="Rounded Rectangle 15"/>
          <p:cNvSpPr/>
          <p:nvPr/>
        </p:nvSpPr>
        <p:spPr>
          <a:xfrm>
            <a:off x="502920" y="3405270"/>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54243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18" name="TextBox 17"/>
          <p:cNvSpPr txBox="1"/>
          <p:nvPr/>
        </p:nvSpPr>
        <p:spPr>
          <a:xfrm>
            <a:off x="640080" y="37956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19" name="TextBox 18"/>
          <p:cNvSpPr txBox="1"/>
          <p:nvPr/>
        </p:nvSpPr>
        <p:spPr>
          <a:xfrm>
            <a:off x="640080" y="4222621"/>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20" name="Rounded Rectangle 19"/>
          <p:cNvSpPr/>
          <p:nvPr/>
        </p:nvSpPr>
        <p:spPr>
          <a:xfrm>
            <a:off x="6178143" y="3405270"/>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315303" y="354243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22" name="TextBox 21"/>
          <p:cNvSpPr txBox="1"/>
          <p:nvPr/>
        </p:nvSpPr>
        <p:spPr>
          <a:xfrm>
            <a:off x="6315303" y="37956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23" name="TextBox 22"/>
          <p:cNvSpPr txBox="1"/>
          <p:nvPr/>
        </p:nvSpPr>
        <p:spPr>
          <a:xfrm>
            <a:off x="6315303" y="4222621"/>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24" name="TextBox 23"/>
          <p:cNvSpPr txBox="1"/>
          <p:nvPr/>
        </p:nvSpPr>
        <p:spPr>
          <a:xfrm>
            <a:off x="502920" y="479048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25" name="Rounded Rectangle 24"/>
          <p:cNvSpPr/>
          <p:nvPr/>
        </p:nvSpPr>
        <p:spPr>
          <a:xfrm>
            <a:off x="1920240" y="4753904"/>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99624"/>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 — минуты на заметку</a:t>
            </a:r>
          </a:p>
        </p:txBody>
      </p:sp>
      <p:sp>
        <p:nvSpPr>
          <p:cNvPr id="27" name="Rounded Rectangle 26"/>
          <p:cNvSpPr/>
          <p:nvPr/>
        </p:nvSpPr>
        <p:spPr>
          <a:xfrm>
            <a:off x="6877659" y="4753904"/>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6959955" y="4799624"/>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 — доля слов карты</a:t>
            </a:r>
          </a:p>
        </p:txBody>
      </p:sp>
      <p:sp>
        <p:nvSpPr>
          <p:cNvPr id="29" name="TextBox 28"/>
          <p:cNvSpPr txBox="1"/>
          <p:nvPr/>
        </p:nvSpPr>
        <p:spPr>
          <a:xfrm>
            <a:off x="502920" y="54121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30" name="Rounded Rectangle 29"/>
          <p:cNvSpPr/>
          <p:nvPr/>
        </p:nvSpPr>
        <p:spPr>
          <a:xfrm>
            <a:off x="1920240" y="5375601"/>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421321"/>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32" name="Rounded Rectangle 31"/>
          <p:cNvSpPr/>
          <p:nvPr/>
        </p:nvSpPr>
        <p:spPr>
          <a:xfrm>
            <a:off x="6877659" y="5375601"/>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6959955" y="5421321"/>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34" name="TextBox 33"/>
          <p:cNvSpPr txBox="1"/>
          <p:nvPr/>
        </p:nvSpPr>
        <p:spPr>
          <a:xfrm>
            <a:off x="502920" y="588757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35" name="Rectangle 3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Tsou и соавт., Applied Clinical Informatics 2017</a:t>
            </a:r>
            <a:r>
              <a:rPr sz="1200" b="0" i="1">
                <a:solidFill>
                  <a:srgbClr val="1C7293"/>
                </a:solidFill>
                <a:latin typeface="Arial"/>
              </a:rPr>
              <a:t> · </a:t>
            </a:r>
            <a:r>
              <a:rPr sz="1200" b="0" i="1" u="sng">
                <a:solidFill>
                  <a:srgbClr val="065A82"/>
                </a:solidFill>
                <a:latin typeface="Arial"/>
                <a:hlinkClick r:id="rId3"/>
              </a:rPr>
              <a:t>Steinkamp и соавт., JAMA Network Open 2022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866537"/>
            <a:ext cx="11441887" cy="2971086"/>
          </a:xfrm>
          <a:prstGeom prst="roundRect">
            <a:avLst>
              <a:gd name="adj" fmla="val 102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957977"/>
            <a:ext cx="5373471" cy="32782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36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957977"/>
            <a:ext cx="5373471" cy="32782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36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36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957977"/>
            <a:ext cx="9144" cy="26967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787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Первым на эту стадию пришёл инструмент, набирающий саму запись.</a:t>
            </a:r>
            <a:r>
              <a:rPr sz="1200" b="0" i="0">
                <a:solidFill>
                  <a:srgbClr val="21295C"/>
                </a:solidFill>
                <a:latin typeface="Arial"/>
              </a:rPr>
              <a:t> </a:t>
            </a:r>
            <a:r>
              <a:rPr sz="1200" b="0" i="1">
                <a:solidFill>
                  <a:srgbClr val="21295C"/>
                </a:solidFill>
                <a:latin typeface="Arial"/>
              </a:rPr>
              <a:t>Генерация на тексте: на входе звук приёма, на выходе черновик заметки.</a:t>
            </a:r>
          </a:p>
          <a:p>
            <a:pPr algn="l">
              <a:lnSpc>
                <a:spcPct val="126000"/>
              </a:lnSpc>
              <a:spcBef>
                <a:spcPts val="720"/>
              </a:spcBef>
            </a:pPr>
            <a:r>
              <a:rPr sz="1200" b="0" i="0">
                <a:solidFill>
                  <a:srgbClr val="21295C"/>
                </a:solidFill>
                <a:latin typeface="Arial"/>
              </a:rPr>
              <a:t/>
            </a:r>
            <a:r>
              <a:rPr sz="1200" b="1" i="0">
                <a:solidFill>
                  <a:srgbClr val="21295C"/>
                </a:solidFill>
                <a:latin typeface="Arial"/>
              </a:rPr>
              <a:t>Как измерено.</a:t>
            </a:r>
            <a:r>
              <a:rPr sz="1200" b="0" i="0">
                <a:solidFill>
                  <a:srgbClr val="21295C"/>
                </a:solidFill>
                <a:latin typeface="Arial"/>
              </a:rPr>
              <a:t> 238 врачей, три равные группы: два инструмента и обычная практика. </a:t>
            </a:r>
            <a:r>
              <a:rPr sz="1200" b="1" i="0">
                <a:solidFill>
                  <a:srgbClr val="21295C"/>
                </a:solidFill>
                <a:latin typeface="Arial"/>
              </a:rPr>
              <a:t>У второго изменений нет</a:t>
            </a:r>
            <a:r>
              <a:rPr sz="12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2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262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2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4004"/>
          </a:xfrm>
          <a:prstGeom prst="roundRect">
            <a:avLst>
              <a:gd name="adj" fmla="val 19613"/>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2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2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968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2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2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792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622703"/>
          </a:xfrm>
          <a:prstGeom prst="roundRect">
            <a:avLst>
              <a:gd name="adj" fmla="val 18783"/>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36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Второе внедрение заявляет −27 % времени протокола. От скольких минут? Назовите вслух — и сверим с тем, что опубликовано.</a:t>
            </a:r>
          </a:p>
        </p:txBody>
      </p:sp>
      <p:sp>
        <p:nvSpPr>
          <p:cNvPr id="28" name="Rectangle 27"/>
          <p:cNvSpPr/>
          <p:nvPr/>
        </p:nvSpPr>
        <p:spPr>
          <a:xfrm>
            <a:off x="6091275" y="4499805"/>
            <a:ext cx="9144" cy="13483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559572"/>
            <a:ext cx="11441887" cy="1919764"/>
          </a:xfrm>
          <a:prstGeom prst="roundRect">
            <a:avLst>
              <a:gd name="adj" fmla="val 1587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51012"/>
            <a:ext cx="5373471" cy="258519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651012"/>
            <a:ext cx="5373471" cy="258519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36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651012"/>
            <a:ext cx="9144" cy="16454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704039"/>
            <a:ext cx="11441887" cy="2216825"/>
          </a:xfrm>
          <a:prstGeom prst="roundRect">
            <a:avLst>
              <a:gd name="adj" fmla="val 13749"/>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95479"/>
            <a:ext cx="5373471" cy="24407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36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95479"/>
            <a:ext cx="5373471" cy="24407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2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2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95479"/>
            <a:ext cx="9144" cy="19425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pic>
        <p:nvPicPr>
          <p:cNvPr id="3" name="Picture 2" descr="s88-endoskopicheskiy-kabinet.jpg"/>
          <p:cNvPicPr>
            <a:picLocks noChangeAspect="1"/>
          </p:cNvPicPr>
          <p:nvPr/>
        </p:nvPicPr>
        <p:blipFill>
          <a:blip r:embed="rId2"/>
          <a:srcRect l="24335" r="24335"/>
          <a:stretch>
            <a:fillRect/>
          </a:stretch>
        </p:blipFill>
        <p:spPr>
          <a:xfrm>
            <a:off x="7498079" y="0"/>
            <a:ext cx="4693615" cy="6858000"/>
          </a:xfrm>
          <a:prstGeom prst="rect">
            <a:avLst/>
          </a:prstGeom>
        </p:spPr>
      </p:pic>
      <p:sp>
        <p:nvSpPr>
          <p:cNvPr id="4" name="Rectangle 3"/>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5" name="TextBox 4"/>
          <p:cNvSpPr txBox="1"/>
          <p:nvPr/>
        </p:nvSpPr>
        <p:spPr>
          <a:xfrm>
            <a:off x="704088" y="960120"/>
            <a:ext cx="6483096" cy="933620"/>
          </a:xfrm>
          <a:prstGeom prst="rect">
            <a:avLst/>
          </a:prstGeom>
          <a:noFill/>
        </p:spPr>
        <p:txBody>
          <a:bodyPr wrap="square" lIns="0" rIns="0" tIns="0" bIns="0" anchor="t">
            <a:spAutoFit/>
          </a:bodyPr>
          <a:lstStyle/>
          <a:p>
            <a:pPr algn="l">
              <a:lnSpc>
                <a:spcPct val="110000"/>
              </a:lnSpc>
            </a:pPr>
            <a:r>
              <a:rPr sz="2700" b="1" i="0">
                <a:solidFill>
                  <a:srgbClr val="21295C"/>
                </a:solidFill>
                <a:latin typeface="Arial"/>
              </a:rPr>
              <a:t>5. Профессиональная квалификация: поддержание и износ</a:t>
            </a:r>
          </a:p>
        </p:txBody>
      </p:sp>
      <p:sp>
        <p:nvSpPr>
          <p:cNvPr id="6" name="Rectangle 5"/>
          <p:cNvSpPr/>
          <p:nvPr/>
        </p:nvSpPr>
        <p:spPr>
          <a:xfrm>
            <a:off x="704088" y="1985180"/>
            <a:ext cx="1188720" cy="59436"/>
          </a:xfrm>
          <a:prstGeom prst="rect">
            <a:avLst/>
          </a:prstGeom>
          <a:solidFill>
            <a:srgbClr val="F0AB00"/>
          </a:solidFill>
          <a:ln>
            <a:noFill/>
          </a:ln>
          <a:effectLst/>
        </p:spPr>
        <p:txBody>
          <a:bodyPr rtlCol="0" anchor="ctr"/>
          <a:lstStyle/>
          <a:p>
            <a:pPr algn="ctr"/>
          </a:p>
        </p:txBody>
      </p:sp>
      <p:sp>
        <p:nvSpPr>
          <p:cNvPr id="7" name="TextBox 6"/>
          <p:cNvSpPr txBox="1"/>
          <p:nvPr/>
        </p:nvSpPr>
        <p:spPr>
          <a:xfrm>
            <a:off x="704088" y="2259500"/>
            <a:ext cx="6483096" cy="63955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Что стало с теми, кто решает.</a:t>
            </a:r>
            <a:r>
              <a:rPr sz="150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8" name="TextBox 7"/>
          <p:cNvSpPr txBox="1"/>
          <p:nvPr/>
        </p:nvSpPr>
        <p:spPr>
          <a:xfrm>
            <a:off x="704088" y="3027072"/>
            <a:ext cx="6483096" cy="63955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3 разбора · 2 классических режима с числами · обзор допуска по трём странам</a:t>
            </a:r>
          </a:p>
        </p:txBody>
      </p:sp>
      <p:sp>
        <p:nvSpPr>
          <p:cNvPr id="9" name="TextBox 8"/>
          <p:cNvSpPr txBox="1"/>
          <p:nvPr/>
        </p:nvSpPr>
        <p:spPr>
          <a:xfrm>
            <a:off x="704088" y="3794644"/>
            <a:ext cx="6483096" cy="63955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Пример 1: разработчики на незнакомой библиотеке</a:t>
            </a:r>
            <a:r>
              <a:rPr sz="1500" b="0" i="0">
                <a:solidFill>
                  <a:srgbClr val="21295C"/>
                </a:solidFill>
                <a:latin typeface="Arial"/>
              </a:rPr>
              <a:t> — вторая половина пары, измеренная жребием, и снята она не в клинике.</a:t>
            </a:r>
          </a:p>
        </p:txBody>
      </p:sp>
      <p:sp>
        <p:nvSpPr>
          <p:cNvPr id="10" name="TextBox 9"/>
          <p:cNvSpPr txBox="1"/>
          <p:nvPr/>
        </p:nvSpPr>
        <p:spPr>
          <a:xfrm>
            <a:off x="704088" y="4562215"/>
            <a:ext cx="6483096" cy="63955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Пример 2: доля упала без помощника</a:t>
            </a:r>
            <a:r>
              <a:rPr sz="1500" b="0" i="0">
                <a:solidFill>
                  <a:srgbClr val="21295C"/>
                </a:solidFill>
                <a:latin typeface="Arial"/>
              </a:rPr>
              <a:t> — единственный замер износа на реальной клинической работе.</a:t>
            </a:r>
          </a:p>
        </p:txBody>
      </p:sp>
      <p:sp>
        <p:nvSpPr>
          <p:cNvPr id="11" name="TextBox 10"/>
          <p:cNvSpPr txBox="1"/>
          <p:nvPr/>
        </p:nvSpPr>
        <p:spPr>
          <a:xfrm>
            <a:off x="704088" y="5329787"/>
            <a:ext cx="6483096" cy="63955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Пример 3: ArtInCol, Россия — помощник на той же процедуре</a:t>
            </a:r>
            <a:r>
              <a:rPr sz="1500" b="0" i="0">
                <a:solidFill>
                  <a:srgbClr val="21295C"/>
                </a:solidFill>
                <a:latin typeface="Arial"/>
              </a:rPr>
              <a:t> — та же величина, испытание сильнее, расход не мерен.</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Здесь измеряют самого исполнителя: в форме ли он.</a:t>
            </a:r>
            <a:r>
              <a:rPr sz="1350" b="0" i="0">
                <a:solidFill>
                  <a:srgbClr val="21295C"/>
                </a:solidFill>
                <a:latin typeface="Arial"/>
              </a:rPr>
              <a:t> Навык расходуется молча.</a:t>
            </a:r>
          </a:p>
          <a:p>
            <a:pPr algn="l">
              <a:lnSpc>
                <a:spcPct val="126000"/>
              </a:lnSpc>
              <a:spcBef>
                <a:spcPts val="720"/>
              </a:spcBef>
            </a:pPr>
            <a:r>
              <a:rPr sz="1350" b="0" i="0">
                <a:solidFill>
                  <a:srgbClr val="21295C"/>
                </a:solidFill>
                <a:latin typeface="Arial"/>
              </a:rPr>
              <a:t/>
            </a:r>
            <a:r>
              <a:rPr sz="135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20"/>
              </a:spcBef>
            </a:pPr>
            <a:r>
              <a:rPr sz="1350" b="0" i="0">
                <a:solidFill>
                  <a:srgbClr val="21295C"/>
                </a:solidFill>
                <a:latin typeface="Arial"/>
              </a:rPr>
              <a:t/>
            </a:r>
            <a:r>
              <a:rPr sz="1350" b="1" i="0">
                <a:solidFill>
                  <a:srgbClr val="21295C"/>
                </a:solidFill>
                <a:latin typeface="Arial"/>
              </a:rPr>
              <a:t>Данные берут четырьмя способами, и все работают на обычном потоке:</a:t>
            </a:r>
            <a:r>
              <a:rPr sz="135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350" b="1" i="0">
                <a:solidFill>
                  <a:srgbClr val="21295C"/>
                </a:solidFill>
                <a:latin typeface="Arial"/>
              </a:rPr>
              <a:t>Разбор случая приходит после исхода и в счёт не входит.</a:t>
            </a:r>
          </a:p>
          <a:p>
            <a:pPr algn="l">
              <a:lnSpc>
                <a:spcPct val="126000"/>
              </a:lnSpc>
              <a:spcBef>
                <a:spcPts val="720"/>
              </a:spcBef>
            </a:pPr>
            <a:r>
              <a:rPr sz="1350" b="0" i="0">
                <a:solidFill>
                  <a:srgbClr val="21295C"/>
                </a:solidFill>
                <a:latin typeface="Arial"/>
              </a:rPr>
              <a:t/>
            </a:r>
            <a:r>
              <a:rPr sz="1350" b="1" i="0">
                <a:solidFill>
                  <a:srgbClr val="21295C"/>
                </a:solidFill>
                <a:latin typeface="Arial"/>
              </a:rPr>
              <a:t>Долю находок не поднять старанием:</a:t>
            </a:r>
            <a:r>
              <a:rPr sz="135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Решение:</a:t>
            </a:r>
            <a:r>
              <a:rPr sz="1350" b="0" i="0">
                <a:solidFill>
                  <a:srgbClr val="21295C"/>
                </a:solidFill>
                <a:latin typeface="Arial"/>
              </a:rPr>
              <a:t> допускать, сузить допуск, приостановить, не продлить.</a:t>
            </a:r>
          </a:p>
          <a:p>
            <a:pPr algn="l">
              <a:lnSpc>
                <a:spcPct val="126000"/>
              </a:lnSpc>
              <a:spcBef>
                <a:spcPts val="720"/>
              </a:spcBef>
            </a:pPr>
            <a:r>
              <a:rPr sz="1350" b="0" i="0">
                <a:solidFill>
                  <a:srgbClr val="21295C"/>
                </a:solidFill>
                <a:latin typeface="Arial"/>
              </a:rPr>
              <a:t/>
            </a:r>
            <a:r>
              <a:rPr sz="1350" b="1" i="0">
                <a:solidFill>
                  <a:srgbClr val="21295C"/>
                </a:solidFill>
                <a:latin typeface="Arial"/>
              </a:rPr>
              <a:t>Почему стадия стоит здесь:</a:t>
            </a:r>
            <a:r>
              <a:rPr sz="135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20"/>
              </a:spcBef>
            </a:pPr>
            <a:r>
              <a:rPr sz="1350" b="0" i="0">
                <a:solidFill>
                  <a:srgbClr val="21295C"/>
                </a:solidFill>
                <a:latin typeface="Arial"/>
              </a:rPr>
              <a:t/>
            </a:r>
            <a:r>
              <a:rPr sz="1350" b="1" i="0">
                <a:solidFill>
                  <a:srgbClr val="21295C"/>
                </a:solidFill>
                <a:latin typeface="Arial"/>
              </a:rPr>
              <a:t>Из четырёх способов один меряет результат, остальные — поведение и объём. Какой именно — и почему подменять его двумя другими проще всего?</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Врач вернулся после года: чем держат форму и куда встала модель</a:t>
            </a:r>
          </a:p>
        </p:txBody>
      </p:sp>
      <p:sp>
        <p:nvSpPr>
          <p:cNvPr id="4" name="Rounded Rectangle 3"/>
          <p:cNvSpPr/>
          <p:nvPr/>
        </p:nvSpPr>
        <p:spPr>
          <a:xfrm>
            <a:off x="374904" y="1609343"/>
            <a:ext cx="11441887" cy="4159331"/>
          </a:xfrm>
          <a:prstGeom prst="roundRect">
            <a:avLst>
              <a:gd name="adj" fmla="val 732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700784"/>
            <a:ext cx="5373471" cy="45354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болезнь, отпуск по уходу. Диплом тот же, допуск не отзывали: отзывать было не за что.</a:t>
            </a:r>
          </a:p>
          <a:p>
            <a:pPr algn="l">
              <a:lnSpc>
                <a:spcPct val="126000"/>
              </a:lnSpc>
              <a:spcBef>
                <a:spcPts val="3600"/>
              </a:spcBef>
            </a:pPr>
            <a:r>
              <a:rPr sz="1500" b="0" i="0">
                <a:solidFill>
                  <a:srgbClr val="21295C"/>
                </a:solidFill>
                <a:latin typeface="Arial"/>
              </a:rPr>
              <a:t/>
            </a:r>
            <a:r>
              <a:rPr sz="1500" b="1" i="0">
                <a:solidFill>
                  <a:srgbClr val="21295C"/>
                </a:solidFill>
                <a:latin typeface="Arial"/>
              </a:rPr>
              <a:t>Первая процедура идёт иначе:</a:t>
            </a:r>
            <a:r>
              <a:rPr sz="1500" b="0" i="0">
                <a:solidFill>
                  <a:srgbClr val="21295C"/>
                </a:solidFill>
                <a:latin typeface="Arial"/>
              </a:rPr>
              <a:t>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r>
              <a:rPr sz="1500" b="0" i="0">
                <a:solidFill>
                  <a:srgbClr val="21295C"/>
                </a:solidFill>
                <a:latin typeface="Arial"/>
              </a:rPr>
              <a:t> Плохой осмотр выглядит ровно как хороший осмотр, в котором ничего не нашли.</a:t>
            </a:r>
          </a:p>
        </p:txBody>
      </p:sp>
      <p:sp>
        <p:nvSpPr>
          <p:cNvPr id="6" name="TextBox 5"/>
          <p:cNvSpPr txBox="1"/>
          <p:nvPr/>
        </p:nvSpPr>
        <p:spPr>
          <a:xfrm>
            <a:off x="6278727" y="1700784"/>
            <a:ext cx="5373471" cy="45354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Поэтому форму держат три опоры,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36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a:p>
            <a:pPr algn="l">
              <a:lnSpc>
                <a:spcPct val="126000"/>
              </a:lnSpc>
              <a:spcBef>
                <a:spcPts val="36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700784"/>
            <a:ext cx="9144" cy="388501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Навык расходуется молча — и у того, у кого он ещё не сложился, тоже.</a:t>
            </a:r>
            <a:r>
              <a:rPr sz="1150" b="0" i="0">
                <a:solidFill>
                  <a:srgbClr val="21295C"/>
                </a:solidFill>
                <a:latin typeface="Arial"/>
              </a:rPr>
              <a:t> Что делали: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20"/>
              </a:spcBef>
            </a:pPr>
            <a:r>
              <a:rPr sz="1150" b="0" i="0">
                <a:solidFill>
                  <a:srgbClr val="21295C"/>
                </a:solidFill>
                <a:latin typeface="Arial"/>
              </a:rPr>
              <a:t/>
            </a:r>
            <a:r>
              <a:rPr sz="1150" b="1" i="0">
                <a:solidFill>
                  <a:srgbClr val="21295C"/>
                </a:solidFill>
                <a:latin typeface="Arial"/>
              </a:rPr>
              <a:t>Предмет замера здесь — программирование, а не медицина.</a:t>
            </a:r>
            <a:r>
              <a:rPr sz="1150" b="0" i="0">
                <a:solidFill>
                  <a:srgbClr val="21295C"/>
                </a:solidFill>
                <a:latin typeface="Arial"/>
              </a:rPr>
              <a:t> Вторая половина пары — результат без помощника — измерена жребием: у двух врачебных разборов дальше так её не измерит ни один.</a:t>
            </a:r>
          </a:p>
        </p:txBody>
      </p:sp>
      <p:sp>
        <p:nvSpPr>
          <p:cNvPr id="37" name="TextBox 36"/>
          <p:cNvSpPr txBox="1"/>
          <p:nvPr/>
        </p:nvSpPr>
        <p:spPr>
          <a:xfrm>
            <a:off x="6278727"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Здесь измерен несложившийся навык:</a:t>
            </a:r>
            <a:r>
              <a:rPr sz="115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20"/>
              </a:spcBef>
            </a:pPr>
            <a:r>
              <a:rPr sz="1150" b="0" i="0">
                <a:solidFill>
                  <a:srgbClr val="21295C"/>
                </a:solidFill>
                <a:latin typeface="Arial"/>
              </a:rPr>
              <a:t/>
            </a:r>
            <a:r>
              <a:rPr sz="1150" b="1" i="0">
                <a:solidFill>
                  <a:srgbClr val="21295C"/>
                </a:solidFill>
                <a:latin typeface="Arial"/>
              </a:rPr>
              <a:t>Тот же расход бывает и без модели.</a:t>
            </a:r>
            <a:r>
              <a:rPr sz="1150" b="0" i="0">
                <a:solidFill>
                  <a:srgbClr val="21295C"/>
                </a:solidFill>
                <a:latin typeface="Arial"/>
              </a:rPr>
              <a:t> В цитологии Великобритании поток на чтение упал на 80–85 из ста после перехода на тест на вирус папилломы, центров осталось 8 из 45. </a:t>
            </a:r>
            <a:r>
              <a:rPr sz="1150" b="1" i="0">
                <a:solidFill>
                  <a:srgbClr val="21295C"/>
                </a:solidFill>
                <a:latin typeface="Arial"/>
              </a:rPr>
              <a:t>Навык расходует переданный объём работы, а не модель.</a:t>
            </a:r>
          </a:p>
        </p:txBody>
      </p:sp>
      <p:sp>
        <p:nvSpPr>
          <p:cNvPr id="38" name="Rectangle 37"/>
          <p:cNvSpPr/>
          <p:nvPr/>
        </p:nvSpPr>
        <p:spPr>
          <a:xfrm>
            <a:off x="6091275" y="4422690"/>
            <a:ext cx="9144" cy="1685668"/>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У врачей та же проверка начинается с цены промаха. Плохой осмотр выглядит как хороший, в котором ничего не нашли</a:t>
            </a:r>
            <a:r>
              <a:rPr sz="1150" b="0" i="0">
                <a:solidFill>
                  <a:srgbClr val="21295C"/>
                </a:solidFill>
                <a:latin typeface="Arial"/>
              </a:rPr>
              <a:t> — своего сигнала у врача нет.</a:t>
            </a:r>
          </a:p>
        </p:txBody>
      </p:sp>
      <p:sp>
        <p:nvSpPr>
          <p:cNvPr id="36" name="TextBox 35"/>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Оба прироста — того же порядка, что у помощника, или больше, и не бесплатны:</a:t>
            </a:r>
            <a:r>
              <a:rPr sz="1150" b="0" i="0">
                <a:solidFill>
                  <a:srgbClr val="21295C"/>
                </a:solidFill>
                <a:latin typeface="Arial"/>
              </a:rPr>
              <a:t> три минуты врача на процедуру и второй человек в кабинете.</a:t>
            </a:r>
          </a:p>
          <a:p>
            <a:pPr algn="l">
              <a:lnSpc>
                <a:spcPct val="126000"/>
              </a:lnSpc>
              <a:spcBef>
                <a:spcPts val="720"/>
              </a:spcBef>
            </a:pPr>
            <a:r>
              <a:rPr sz="1150" b="0" i="0">
                <a:solidFill>
                  <a:srgbClr val="21295C"/>
                </a:solidFill>
                <a:latin typeface="Arial"/>
              </a:rPr>
              <a:t/>
            </a:r>
            <a:r>
              <a:rPr sz="1150" b="1" i="0">
                <a:solidFill>
                  <a:srgbClr val="21295C"/>
                </a:solidFill>
                <a:latin typeface="Arial"/>
              </a:rPr>
              <a:t>Базы разные:</a:t>
            </a:r>
            <a:r>
              <a:rPr sz="11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7" name="Rectangle 36"/>
          <p:cNvSpPr/>
          <p:nvPr/>
        </p:nvSpPr>
        <p:spPr>
          <a:xfrm>
            <a:off x="6091275" y="5228056"/>
            <a:ext cx="9144" cy="100242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92795"/>
            <a:ext cx="11441887" cy="2536627"/>
          </a:xfrm>
          <a:prstGeom prst="roundRect">
            <a:avLst>
              <a:gd name="adj" fmla="val 1201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84235"/>
            <a:ext cx="11112703" cy="26519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2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2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250" b="1" i="0">
                <a:solidFill>
                  <a:srgbClr val="21295C"/>
                </a:solidFill>
                <a:latin typeface="Arial"/>
              </a:rPr>
              <a:t>без</a:t>
            </a:r>
            <a:r>
              <a:rPr sz="1250" b="0" i="0">
                <a:solidFill>
                  <a:srgbClr val="21295C"/>
                </a:solidFill>
                <a:latin typeface="Arial"/>
              </a:rPr>
              <a:t> него.</a:t>
            </a:r>
          </a:p>
          <a:p>
            <a:pPr algn="l">
              <a:lnSpc>
                <a:spcPct val="126000"/>
              </a:lnSpc>
              <a:spcBef>
                <a:spcPts val="720"/>
              </a:spcBef>
            </a:pPr>
            <a:r>
              <a:rPr sz="1250" b="0" i="0">
                <a:solidFill>
                  <a:srgbClr val="21295C"/>
                </a:solidFill>
                <a:latin typeface="Arial"/>
              </a:rPr>
              <a:t/>
            </a:r>
            <a:r>
              <a:rPr sz="1250" b="1" i="0">
                <a:solidFill>
                  <a:srgbClr val="21295C"/>
                </a:solidFill>
                <a:latin typeface="Arial"/>
              </a:rPr>
              <a:t>Это когнитивное искажение — износ навыка, третье из шести, предъявленных на входе вечера.</a:t>
            </a:r>
            <a:r>
              <a:rPr sz="125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Дало:</a:t>
            </a:r>
            <a:r>
              <a:rPr sz="1250" b="0" i="0">
                <a:solidFill>
                  <a:srgbClr val="21295C"/>
                </a:solidFill>
                <a:latin typeface="Arial"/>
              </a:rPr>
              <a:t> находят больше, пока включён. </a:t>
            </a:r>
            <a:r>
              <a:rPr sz="1250" b="1" i="0">
                <a:solidFill>
                  <a:srgbClr val="21295C"/>
                </a:solidFill>
                <a:latin typeface="Arial"/>
              </a:rPr>
              <a:t>Потребовало:</a:t>
            </a:r>
            <a:r>
              <a:rPr sz="1250" b="0" i="0">
                <a:solidFill>
                  <a:srgbClr val="21295C"/>
                </a:solidFill>
                <a:latin typeface="Arial"/>
              </a:rPr>
              <a:t> умения искать самому. </a:t>
            </a:r>
            <a:r>
              <a:rPr sz="1250" b="1" i="0">
                <a:solidFill>
                  <a:srgbClr val="21295C"/>
                </a:solidFill>
                <a:latin typeface="Arial"/>
              </a:rPr>
              <a:t>В сумме:</a:t>
            </a:r>
            <a:r>
              <a:rPr sz="1250" b="0" i="0">
                <a:solidFill>
                  <a:srgbClr val="21295C"/>
                </a:solidFill>
                <a:latin typeface="Arial"/>
              </a:rPr>
              <a:t> исполнитель тот же — место, объём и рука прежние, — но стал хуже.</a:t>
            </a:r>
          </a:p>
          <a:p>
            <a:pPr algn="l">
              <a:lnSpc>
                <a:spcPct val="126000"/>
              </a:lnSpc>
              <a:spcBef>
                <a:spcPts val="3600"/>
              </a:spcBef>
            </a:pPr>
            <a:r>
              <a:rPr sz="1250" b="0" i="0">
                <a:solidFill>
                  <a:srgbClr val="21295C"/>
                </a:solidFill>
                <a:latin typeface="Arial"/>
              </a:rPr>
              <a:t/>
            </a:r>
            <a:r>
              <a:rPr sz="125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576745"/>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94954"/>
          </a:xfrm>
          <a:prstGeom prst="roundRect">
            <a:avLst>
              <a:gd name="adj" fmla="val 17982"/>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2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2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2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2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3085267"/>
          </a:xfrm>
          <a:prstGeom prst="roundRect">
            <a:avLst>
              <a:gd name="adj" fmla="val 987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288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288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288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288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81094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0984687"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29528"/>
            <a:ext cx="10984687"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 что сделалось с работой</a:t>
            </a:r>
          </a:p>
        </p:txBody>
      </p:sp>
      <p:sp>
        <p:nvSpPr>
          <p:cNvPr id="8" name="TextBox 7"/>
          <p:cNvSpPr txBox="1"/>
          <p:nvPr/>
        </p:nvSpPr>
        <p:spPr>
          <a:xfrm>
            <a:off x="704088" y="2814499"/>
            <a:ext cx="10984687"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2. </a:t>
            </a:r>
            <a:r>
              <a:rPr sz="1550" b="1" i="0">
                <a:solidFill>
                  <a:srgbClr val="21295C"/>
                </a:solidFill>
                <a:latin typeface="Arial"/>
              </a:rPr>
              <a:t>Счёт приписок: в тринадцати случаях из двадцати одного выигрыш не у модели</a:t>
            </a:r>
          </a:p>
        </p:txBody>
      </p:sp>
      <p:sp>
        <p:nvSpPr>
          <p:cNvPr id="9" name="TextBox 8"/>
          <p:cNvSpPr txBox="1"/>
          <p:nvPr/>
        </p:nvSpPr>
        <p:spPr>
          <a:xfrm>
            <a:off x="704088" y="3299470"/>
            <a:ext cx="10984687"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3. </a:t>
            </a:r>
            <a:r>
              <a:rPr sz="1550" b="1" i="0">
                <a:solidFill>
                  <a:srgbClr val="21295C"/>
                </a:solidFill>
                <a:latin typeface="Arial"/>
              </a:rPr>
              <a:t>Карта задач и видов данных: четыре клетки из двенадцати, и что в них работает</a:t>
            </a:r>
          </a:p>
        </p:txBody>
      </p:sp>
      <p:sp>
        <p:nvSpPr>
          <p:cNvPr id="10" name="TextBox 9"/>
          <p:cNvSpPr txBox="1"/>
          <p:nvPr/>
        </p:nvSpPr>
        <p:spPr>
          <a:xfrm>
            <a:off x="704088" y="3784441"/>
            <a:ext cx="10984687" cy="356954"/>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4. </a:t>
            </a:r>
            <a:r>
              <a:rPr sz="1550" b="1" i="0">
                <a:solidFill>
                  <a:srgbClr val="21295C"/>
                </a:solidFill>
                <a:latin typeface="Arial"/>
              </a:rPr>
              <a:t>Чем заплатили: внимание, навык, подпись, арбитраж</a:t>
            </a:r>
          </a:p>
        </p:txBody>
      </p:sp>
      <p:sp>
        <p:nvSpPr>
          <p:cNvPr id="11" name="TextBox 10"/>
          <p:cNvSpPr txBox="1"/>
          <p:nvPr/>
        </p:nvSpPr>
        <p:spPr>
          <a:xfrm>
            <a:off x="704088" y="4269411"/>
            <a:ext cx="10984687" cy="96113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Новое число здесь одно — счёт приписок.</a:t>
            </a:r>
            <a:r>
              <a:rPr sz="1550" b="0" i="0">
                <a:solidFill>
                  <a:srgbClr val="21295C"/>
                </a:solidFill>
                <a:latin typeface="Arial"/>
              </a:rPr>
              <a:t> Ни одного нового случая раздел не добавляет: остальное уже предъявлено, каждое со своей базой, и складывается здесь так, чтобы из суммы читалось то, чего не видно в отдельном случае.</a:t>
            </a:r>
          </a:p>
        </p:txBody>
      </p:sp>
      <p:sp>
        <p:nvSpPr>
          <p:cNvPr id="12" name="TextBox 11"/>
          <p:cNvSpPr txBox="1"/>
          <p:nvPr/>
        </p:nvSpPr>
        <p:spPr>
          <a:xfrm>
            <a:off x="704088" y="5358564"/>
            <a:ext cx="10984687" cy="659045"/>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Ответа на вопрос, с которого вечер начался, здесь нет: закрытие открывается одной строкой о том, чего вечер не измерил, и отвечает следующим кадром.</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93924"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0131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233420" y="1335024"/>
            <a:ext cx="3758996"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379724" y="1335024"/>
            <a:ext cx="34663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992416" y="1335024"/>
            <a:ext cx="6659782"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38720" y="1335024"/>
            <a:ext cx="636717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a:t>
            </a:r>
          </a:p>
        </p:txBody>
      </p:sp>
      <p:sp>
        <p:nvSpPr>
          <p:cNvPr id="11" name="Rectangle 10"/>
          <p:cNvSpPr/>
          <p:nvPr/>
        </p:nvSpPr>
        <p:spPr>
          <a:xfrm>
            <a:off x="539496" y="1718403"/>
            <a:ext cx="693924" cy="38337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1840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3" name="Rectangle 12"/>
          <p:cNvSpPr/>
          <p:nvPr/>
        </p:nvSpPr>
        <p:spPr>
          <a:xfrm>
            <a:off x="1233420" y="1718403"/>
            <a:ext cx="3758996"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379724" y="171840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5" name="Rectangle 14"/>
          <p:cNvSpPr/>
          <p:nvPr/>
        </p:nvSpPr>
        <p:spPr>
          <a:xfrm>
            <a:off x="4992416" y="1718403"/>
            <a:ext cx="6659782"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5138720" y="1718403"/>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время заметки </a:t>
            </a:r>
            <a:r>
              <a:rPr sz="1200" b="1" i="0">
                <a:solidFill>
                  <a:srgbClr val="21295C"/>
                </a:solidFill>
                <a:latin typeface="Arial"/>
              </a:rPr>
              <a:t>−9,5 %</a:t>
            </a:r>
            <a:r>
              <a:rPr sz="1200" b="0" i="0">
                <a:solidFill>
                  <a:srgbClr val="21295C"/>
                </a:solidFill>
                <a:latin typeface="Arial"/>
              </a:rPr>
              <a:t> к контролю, правка не изменилась</a:t>
            </a:r>
          </a:p>
        </p:txBody>
      </p:sp>
      <p:sp>
        <p:nvSpPr>
          <p:cNvPr id="17" name="Rectangle 16"/>
          <p:cNvSpPr/>
          <p:nvPr/>
        </p:nvSpPr>
        <p:spPr>
          <a:xfrm>
            <a:off x="539496" y="2101783"/>
            <a:ext cx="693924" cy="38337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0178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19" name="Rectangle 18"/>
          <p:cNvSpPr/>
          <p:nvPr/>
        </p:nvSpPr>
        <p:spPr>
          <a:xfrm>
            <a:off x="1233420" y="2101783"/>
            <a:ext cx="3758996" cy="38337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379724" y="210178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1" name="Rectangle 20"/>
          <p:cNvSpPr/>
          <p:nvPr/>
        </p:nvSpPr>
        <p:spPr>
          <a:xfrm>
            <a:off x="4992416" y="2101783"/>
            <a:ext cx="6659782"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5138720" y="2101783"/>
            <a:ext cx="636717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3" name="Rectangle 22"/>
          <p:cNvSpPr/>
          <p:nvPr/>
        </p:nvSpPr>
        <p:spPr>
          <a:xfrm>
            <a:off x="539496" y="2485163"/>
            <a:ext cx="693924" cy="38337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48516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25" name="Rectangle 24"/>
          <p:cNvSpPr/>
          <p:nvPr/>
        </p:nvSpPr>
        <p:spPr>
          <a:xfrm>
            <a:off x="1233420" y="2485163"/>
            <a:ext cx="3758996" cy="38337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379724" y="248516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27" name="Rectangle 26"/>
          <p:cNvSpPr/>
          <p:nvPr/>
        </p:nvSpPr>
        <p:spPr>
          <a:xfrm>
            <a:off x="4992416" y="2485163"/>
            <a:ext cx="6659782" cy="38337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38720" y="2485163"/>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 арбитраж </a:t>
            </a:r>
            <a:r>
              <a:rPr sz="1200" b="1" i="0">
                <a:solidFill>
                  <a:srgbClr val="21295C"/>
                </a:solidFill>
                <a:latin typeface="Arial"/>
              </a:rPr>
              <a:t>3,9 → 9,4</a:t>
            </a:r>
            <a:r>
              <a:rPr sz="1200" b="0" i="0">
                <a:solidFill>
                  <a:srgbClr val="21295C"/>
                </a:solidFill>
                <a:latin typeface="Arial"/>
              </a:rPr>
              <a:t> и </a:t>
            </a:r>
            <a:r>
              <a:rPr sz="1200" b="1" i="0">
                <a:solidFill>
                  <a:srgbClr val="21295C"/>
                </a:solidFill>
                <a:latin typeface="Arial"/>
              </a:rPr>
              <a:t>11,3 → 13,8</a:t>
            </a:r>
            <a:r>
              <a:rPr sz="1200" b="0" i="0">
                <a:solidFill>
                  <a:srgbClr val="21295C"/>
                </a:solidFill>
                <a:latin typeface="Arial"/>
              </a:rPr>
              <a:t> из ста чтений</a:t>
            </a:r>
          </a:p>
        </p:txBody>
      </p:sp>
      <p:sp>
        <p:nvSpPr>
          <p:cNvPr id="29" name="Rectangle 28"/>
          <p:cNvSpPr/>
          <p:nvPr/>
        </p:nvSpPr>
        <p:spPr>
          <a:xfrm>
            <a:off x="539496" y="2868543"/>
            <a:ext cx="693924" cy="38337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86854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1" name="Rectangle 30"/>
          <p:cNvSpPr/>
          <p:nvPr/>
        </p:nvSpPr>
        <p:spPr>
          <a:xfrm>
            <a:off x="1233420" y="2868543"/>
            <a:ext cx="3758996" cy="38337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379724" y="286854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33" name="Rectangle 32"/>
          <p:cNvSpPr/>
          <p:nvPr/>
        </p:nvSpPr>
        <p:spPr>
          <a:xfrm>
            <a:off x="4992416" y="2868543"/>
            <a:ext cx="6659782" cy="38337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5138720" y="2868543"/>
            <a:ext cx="636717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18</a:t>
            </a:r>
            <a:r>
              <a:rPr sz="1200" b="0" i="0">
                <a:solidFill>
                  <a:srgbClr val="21295C"/>
                </a:solidFill>
                <a:latin typeface="Arial"/>
              </a:rPr>
              <a:t> тревог на сто госпитализаций · </a:t>
            </a:r>
            <a:r>
              <a:rPr sz="1200" b="1" i="0">
                <a:solidFill>
                  <a:srgbClr val="21295C"/>
                </a:solidFill>
                <a:latin typeface="Arial"/>
              </a:rPr>
              <a:t>1,23</a:t>
            </a:r>
            <a:r>
              <a:rPr sz="1200" b="0" i="0">
                <a:solidFill>
                  <a:srgbClr val="21295C"/>
                </a:solidFill>
                <a:latin typeface="Arial"/>
              </a:rPr>
              <a:t> впустую на исследование</a:t>
            </a:r>
          </a:p>
        </p:txBody>
      </p:sp>
      <p:sp>
        <p:nvSpPr>
          <p:cNvPr id="35" name="Rectangle 34"/>
          <p:cNvSpPr/>
          <p:nvPr/>
        </p:nvSpPr>
        <p:spPr>
          <a:xfrm>
            <a:off x="539496" y="3251923"/>
            <a:ext cx="69392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25192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37" name="Rectangle 36"/>
          <p:cNvSpPr/>
          <p:nvPr/>
        </p:nvSpPr>
        <p:spPr>
          <a:xfrm>
            <a:off x="1233420" y="3251923"/>
            <a:ext cx="3758996" cy="38337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379724" y="325192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39" name="Rectangle 38"/>
          <p:cNvSpPr/>
          <p:nvPr/>
        </p:nvSpPr>
        <p:spPr>
          <a:xfrm>
            <a:off x="4992416" y="3251923"/>
            <a:ext cx="6659782" cy="38337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5138720" y="3251923"/>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41" name="Rectangle 40"/>
          <p:cNvSpPr/>
          <p:nvPr/>
        </p:nvSpPr>
        <p:spPr>
          <a:xfrm>
            <a:off x="539496" y="3635303"/>
            <a:ext cx="693924"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63530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43" name="Rectangle 42"/>
          <p:cNvSpPr/>
          <p:nvPr/>
        </p:nvSpPr>
        <p:spPr>
          <a:xfrm>
            <a:off x="1233420" y="3635303"/>
            <a:ext cx="3758996"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379724" y="363530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45" name="Rectangle 44"/>
          <p:cNvSpPr/>
          <p:nvPr/>
        </p:nvSpPr>
        <p:spPr>
          <a:xfrm>
            <a:off x="4992416" y="3635303"/>
            <a:ext cx="6659782" cy="383379"/>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5138720" y="3635303"/>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 · находки </a:t>
            </a:r>
            <a:r>
              <a:rPr sz="1200" b="1" i="0">
                <a:solidFill>
                  <a:srgbClr val="21295C"/>
                </a:solidFill>
                <a:latin typeface="Arial"/>
              </a:rPr>
              <a:t>413 → 472</a:t>
            </a:r>
            <a:r>
              <a:rPr sz="1200" b="0" i="0">
                <a:solidFill>
                  <a:srgbClr val="21295C"/>
                </a:solidFill>
                <a:latin typeface="Arial"/>
              </a:rPr>
              <a:t> из тысячи</a:t>
            </a:r>
          </a:p>
        </p:txBody>
      </p:sp>
      <p:sp>
        <p:nvSpPr>
          <p:cNvPr id="47" name="Rectangle 46"/>
          <p:cNvSpPr/>
          <p:nvPr/>
        </p:nvSpPr>
        <p:spPr>
          <a:xfrm>
            <a:off x="539496" y="4018683"/>
            <a:ext cx="693924"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01868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49" name="Rectangle 48"/>
          <p:cNvSpPr/>
          <p:nvPr/>
        </p:nvSpPr>
        <p:spPr>
          <a:xfrm>
            <a:off x="1233420" y="4018683"/>
            <a:ext cx="3758996"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379724" y="4018683"/>
            <a:ext cx="3466388"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Изменился порядок работ</a:t>
            </a:r>
          </a:p>
        </p:txBody>
      </p:sp>
      <p:sp>
        <p:nvSpPr>
          <p:cNvPr id="51" name="Rectangle 50"/>
          <p:cNvSpPr/>
          <p:nvPr/>
        </p:nvSpPr>
        <p:spPr>
          <a:xfrm>
            <a:off x="4992416" y="4018683"/>
            <a:ext cx="6659782"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138720" y="4018683"/>
            <a:ext cx="636717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53" name="Rectangle 52"/>
          <p:cNvSpPr/>
          <p:nvPr/>
        </p:nvSpPr>
        <p:spPr>
          <a:xfrm>
            <a:off x="539496" y="4402063"/>
            <a:ext cx="693924"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402063"/>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55" name="Rectangle 54"/>
          <p:cNvSpPr/>
          <p:nvPr/>
        </p:nvSpPr>
        <p:spPr>
          <a:xfrm>
            <a:off x="1233420" y="4402063"/>
            <a:ext cx="3758996"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79724" y="4402063"/>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57" name="Rectangle 56"/>
          <p:cNvSpPr/>
          <p:nvPr/>
        </p:nvSpPr>
        <p:spPr>
          <a:xfrm>
            <a:off x="4992416" y="4402063"/>
            <a:ext cx="6659782"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38720" y="4402063"/>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 тёмной коже хуже </a:t>
            </a:r>
            <a:r>
              <a:rPr sz="1200" b="1" i="0">
                <a:solidFill>
                  <a:srgbClr val="21295C"/>
                </a:solidFill>
                <a:latin typeface="Arial"/>
              </a:rPr>
              <a:t>на 9–15</a:t>
            </a:r>
            <a:r>
              <a:rPr sz="1200" b="0" i="0">
                <a:solidFill>
                  <a:srgbClr val="21295C"/>
                </a:solidFill>
                <a:latin typeface="Arial"/>
              </a:rPr>
              <a:t> из 100 · болезней больше </a:t>
            </a:r>
            <a:r>
              <a:rPr sz="1200" b="1" i="0">
                <a:solidFill>
                  <a:srgbClr val="21295C"/>
                </a:solidFill>
                <a:latin typeface="Arial"/>
              </a:rPr>
              <a:t>на 26</a:t>
            </a:r>
            <a:r>
              <a:rPr sz="1200" b="0" i="0">
                <a:solidFill>
                  <a:srgbClr val="21295C"/>
                </a:solidFill>
                <a:latin typeface="Arial"/>
              </a:rPr>
              <a:t> из ста</a:t>
            </a:r>
          </a:p>
        </p:txBody>
      </p:sp>
      <p:sp>
        <p:nvSpPr>
          <p:cNvPr id="59" name="Rectangle 58"/>
          <p:cNvSpPr/>
          <p:nvPr/>
        </p:nvSpPr>
        <p:spPr>
          <a:xfrm>
            <a:off x="539496" y="4785442"/>
            <a:ext cx="693924" cy="383379"/>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785442"/>
            <a:ext cx="40131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61" name="Rectangle 60"/>
          <p:cNvSpPr/>
          <p:nvPr/>
        </p:nvSpPr>
        <p:spPr>
          <a:xfrm>
            <a:off x="1233420" y="4785442"/>
            <a:ext cx="3758996"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379724" y="4785442"/>
            <a:ext cx="34663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63" name="Rectangle 62"/>
          <p:cNvSpPr/>
          <p:nvPr/>
        </p:nvSpPr>
        <p:spPr>
          <a:xfrm>
            <a:off x="4992416" y="4785442"/>
            <a:ext cx="6659782"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5138720" y="4785442"/>
            <a:ext cx="636717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находок </a:t>
            </a:r>
            <a:r>
              <a:rPr sz="1200" b="1" i="0">
                <a:solidFill>
                  <a:srgbClr val="21295C"/>
                </a:solidFill>
                <a:latin typeface="Arial"/>
              </a:rPr>
              <a:t>284 → 224</a:t>
            </a:r>
            <a:r>
              <a:rPr sz="1200" b="0" i="0">
                <a:solidFill>
                  <a:srgbClr val="21295C"/>
                </a:solidFill>
                <a:latin typeface="Arial"/>
              </a:rPr>
              <a:t> из тысячи</a:t>
            </a:r>
          </a:p>
        </p:txBody>
      </p:sp>
      <p:sp>
        <p:nvSpPr>
          <p:cNvPr id="65" name="Rectangle 64"/>
          <p:cNvSpPr/>
          <p:nvPr/>
        </p:nvSpPr>
        <p:spPr>
          <a:xfrm>
            <a:off x="539496" y="5168822"/>
            <a:ext cx="693924" cy="383379"/>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168822"/>
            <a:ext cx="40131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67" name="Rectangle 66"/>
          <p:cNvSpPr/>
          <p:nvPr/>
        </p:nvSpPr>
        <p:spPr>
          <a:xfrm>
            <a:off x="1233420" y="5168822"/>
            <a:ext cx="3758996" cy="383379"/>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379724" y="5168822"/>
            <a:ext cx="3466388"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69" name="Rectangle 68"/>
          <p:cNvSpPr/>
          <p:nvPr/>
        </p:nvSpPr>
        <p:spPr>
          <a:xfrm>
            <a:off x="4992416" y="5168822"/>
            <a:ext cx="6659782"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5138720" y="5168822"/>
            <a:ext cx="6367174"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71" name="TextBox 70"/>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несут счёт; два прочерка названы прочерками.</a:t>
            </a:r>
            <a:r>
              <a:rPr sz="1250" b="0" i="0">
                <a:solidFill>
                  <a:srgbClr val="21295C"/>
                </a:solidFill>
                <a:latin typeface="Arial"/>
              </a:rPr>
              <a:t> Какая из девяти, по-вашему, встретилась за вечер чаще остальных — и какая не встретилась ни разу?</a:t>
            </a:r>
          </a:p>
        </p:txBody>
      </p:sp>
      <p:sp>
        <p:nvSpPr>
          <p:cNvPr id="72" name="Rectangle 7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3" name="TextBox 7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Счёт приписок: в тринадцати случаях из двадцати одного выигрыш не у модели</a:t>
            </a:r>
          </a:p>
        </p:txBody>
      </p:sp>
      <p:sp>
        <p:nvSpPr>
          <p:cNvPr id="4" name="Rounded Rectangle 3"/>
          <p:cNvSpPr/>
          <p:nvPr/>
        </p:nvSpPr>
        <p:spPr>
          <a:xfrm>
            <a:off x="502920"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МОДЕЛИ НЕТ ВОВСЕ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21</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уберёшь модель — механизм работает: дерево «если — то» в сортировке; навык расходует переданный объём</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НЕ У МОДЕЛИ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из 21</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принадлежит порогу, составу обучающего набора, заданной цели, порядку предъявления или реализации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ЧИСЛО ВЫРОСЛО ПРИ ПЕРЕСКАЗЕ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из 21</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56,7 % вместо нуля · «эффекта нет» одним числом · доля мнений вместо времени · масштаб вместо замера</a:t>
            </a:r>
          </a:p>
        </p:txBody>
      </p:sp>
      <p:sp>
        <p:nvSpPr>
          <p:cNvPr id="16" name="Rounded Rectangle 15"/>
          <p:cNvSpPr/>
          <p:nvPr/>
        </p:nvSpPr>
        <p:spPr>
          <a:xfrm>
            <a:off x="374904" y="3106144"/>
            <a:ext cx="11441887" cy="2810947"/>
          </a:xfrm>
          <a:prstGeom prst="roundRect">
            <a:avLst>
              <a:gd name="adj" fmla="val 1084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584"/>
            <a:ext cx="5373471" cy="30386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Двадцать один разбор за вечер. В тринадцати выигрыш или вина принадлежат не обученной модели.</a:t>
            </a:r>
          </a:p>
          <a:p>
            <a:pPr algn="l">
              <a:lnSpc>
                <a:spcPct val="126000"/>
              </a:lnSpc>
              <a:spcBef>
                <a:spcPts val="3600"/>
              </a:spcBef>
            </a:pPr>
            <a:r>
              <a:rPr sz="1500" b="0" i="0">
                <a:solidFill>
                  <a:srgbClr val="21295C"/>
                </a:solidFill>
                <a:latin typeface="Arial"/>
              </a:rPr>
              <a:t/>
            </a:r>
            <a:r>
              <a:rPr sz="1500" b="1" i="0">
                <a:solidFill>
                  <a:srgbClr val="21295C"/>
                </a:solidFill>
                <a:latin typeface="Arial"/>
              </a:rPr>
              <a:t>Семь разборов из двадцати одного — отечественная практика:</a:t>
            </a:r>
            <a:r>
              <a:rPr sz="1500" b="0" i="0">
                <a:solidFill>
                  <a:srgbClr val="21295C"/>
                </a:solidFill>
                <a:latin typeface="Arial"/>
              </a:rPr>
              <a:t> маммограммы в скрининге, Москва дважды в диагностике, медкарта в диагнозе, протокол приёма и голосовой ввод в документации, ArtInCol в квалификации.</a:t>
            </a:r>
          </a:p>
        </p:txBody>
      </p:sp>
      <p:sp>
        <p:nvSpPr>
          <p:cNvPr id="18" name="TextBox 17"/>
          <p:cNvSpPr txBox="1"/>
          <p:nvPr/>
        </p:nvSpPr>
        <p:spPr>
          <a:xfrm>
            <a:off x="6278727" y="3197584"/>
            <a:ext cx="5373471" cy="30386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сильные строки линии до экрана не доехали:</a:t>
            </a:r>
            <a:r>
              <a:rPr sz="1500" b="0" i="0">
                <a:solidFill>
                  <a:srgbClr val="21295C"/>
                </a:solidFill>
                <a:latin typeface="Arial"/>
              </a:rPr>
              <a:t> их разделы изъяты из лекции. Сильнейшая — рецензируемый обзор, перепутавший шесть из семи своих первоисточников.</a:t>
            </a:r>
          </a:p>
          <a:p>
            <a:pPr algn="l">
              <a:lnSpc>
                <a:spcPct val="126000"/>
              </a:lnSpc>
              <a:spcBef>
                <a:spcPts val="3600"/>
              </a:spcBef>
            </a:pPr>
            <a:r>
              <a:rPr sz="1500" b="0" i="0">
                <a:solidFill>
                  <a:srgbClr val="21295C"/>
                </a:solidFill>
                <a:latin typeface="Arial"/>
              </a:rPr>
              <a:t/>
            </a:r>
            <a:r>
              <a:rPr sz="1500" b="1" i="0">
                <a:solidFill>
                  <a:srgbClr val="21295C"/>
                </a:solidFill>
                <a:latin typeface="Arial"/>
              </a:rPr>
              <a:t>Приём отсюда:</a:t>
            </a:r>
            <a:r>
              <a:rPr sz="1500" b="0" i="0">
                <a:solidFill>
                  <a:srgbClr val="21295C"/>
                </a:solidFill>
                <a:latin typeface="Arial"/>
              </a:rPr>
              <a:t> у заявленного эффекта спрашивать, </a:t>
            </a:r>
            <a:r>
              <a:rPr sz="1500" b="1" i="0">
                <a:solidFill>
                  <a:srgbClr val="21295C"/>
                </a:solidFill>
                <a:latin typeface="Arial"/>
              </a:rPr>
              <a:t>от чего он посчитан</a:t>
            </a:r>
            <a:r>
              <a:rPr sz="1500" b="0" i="0">
                <a:solidFill>
                  <a:srgbClr val="21295C"/>
                </a:solidFill>
                <a:latin typeface="Arial"/>
              </a:rPr>
              <a:t>, у пересказанного — </a:t>
            </a:r>
            <a:r>
              <a:rPr sz="1500" b="1" i="0">
                <a:solidFill>
                  <a:srgbClr val="21295C"/>
                </a:solidFill>
                <a:latin typeface="Arial"/>
              </a:rPr>
              <a:t>открывать первоисточник</a:t>
            </a:r>
            <a:r>
              <a:rPr sz="1500" b="0" i="0">
                <a:solidFill>
                  <a:srgbClr val="21295C"/>
                </a:solidFill>
                <a:latin typeface="Arial"/>
              </a:rPr>
              <a:t>.</a:t>
            </a:r>
          </a:p>
        </p:txBody>
      </p:sp>
      <p:sp>
        <p:nvSpPr>
          <p:cNvPr id="19" name="Rectangle 18"/>
          <p:cNvSpPr/>
          <p:nvPr/>
        </p:nvSpPr>
        <p:spPr>
          <a:xfrm>
            <a:off x="6091275" y="3197584"/>
            <a:ext cx="9144" cy="25366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REESTR-PRIPISOK-DEKI.md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Карта задач и видов данных: четыре клетки из двенадцати, и что в них работает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строки задач на три вида данных — двенадцать клеток. Названы четыре; в остальные восемь за пять разделов не зашёл никто.</a:t>
            </a:r>
          </a:p>
        </p:txBody>
      </p:sp>
      <p:sp>
        <p:nvSpPr>
          <p:cNvPr id="6" name="Rectangle 5"/>
          <p:cNvSpPr/>
          <p:nvPr/>
        </p:nvSpPr>
        <p:spPr>
          <a:xfrm>
            <a:off x="539496" y="2007550"/>
            <a:ext cx="3992747"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2007550"/>
            <a:ext cx="370013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задача и где она встретилась</a:t>
            </a:r>
          </a:p>
        </p:txBody>
      </p:sp>
      <p:sp>
        <p:nvSpPr>
          <p:cNvPr id="8" name="Rectangle 7"/>
          <p:cNvSpPr/>
          <p:nvPr/>
        </p:nvSpPr>
        <p:spPr>
          <a:xfrm>
            <a:off x="4532243" y="2007550"/>
            <a:ext cx="3611816"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4678547" y="2007550"/>
            <a:ext cx="331920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работает</a:t>
            </a:r>
          </a:p>
        </p:txBody>
      </p:sp>
      <p:sp>
        <p:nvSpPr>
          <p:cNvPr id="10" name="Rectangle 9"/>
          <p:cNvSpPr/>
          <p:nvPr/>
        </p:nvSpPr>
        <p:spPr>
          <a:xfrm>
            <a:off x="8144060" y="2007550"/>
            <a:ext cx="3508138"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90364" y="2007550"/>
            <a:ext cx="32155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не работает</a:t>
            </a:r>
          </a:p>
        </p:txBody>
      </p:sp>
      <p:sp>
        <p:nvSpPr>
          <p:cNvPr id="12" name="Rectangle 11"/>
          <p:cNvSpPr/>
          <p:nvPr/>
        </p:nvSpPr>
        <p:spPr>
          <a:xfrm>
            <a:off x="539496" y="2400046"/>
            <a:ext cx="3992747"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4000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классификация</a:t>
            </a:r>
            <a:r>
              <a:rPr sz="1250" b="0" i="0">
                <a:solidFill>
                  <a:srgbClr val="21295C"/>
                </a:solidFill>
                <a:latin typeface="Arial"/>
              </a:rPr>
              <a:t> — изображение: скрининг, диагностика</a:t>
            </a:r>
          </a:p>
        </p:txBody>
      </p:sp>
      <p:sp>
        <p:nvSpPr>
          <p:cNvPr id="14" name="Rectangle 13"/>
          <p:cNvSpPr/>
          <p:nvPr/>
        </p:nvSpPr>
        <p:spPr>
          <a:xfrm>
            <a:off x="4532243" y="2400046"/>
            <a:ext cx="3611816"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4678547" y="24000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стандартизованный снимок, годность решена до модели</a:t>
            </a:r>
          </a:p>
        </p:txBody>
      </p:sp>
      <p:sp>
        <p:nvSpPr>
          <p:cNvPr id="16" name="Rectangle 15"/>
          <p:cNvSpPr/>
          <p:nvPr/>
        </p:nvSpPr>
        <p:spPr>
          <a:xfrm>
            <a:off x="8144060" y="2400046"/>
            <a:ext cx="3508138"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90364" y="24000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подгруппа, которой в наборе было мало: платит она</a:t>
            </a:r>
          </a:p>
        </p:txBody>
      </p:sp>
      <p:sp>
        <p:nvSpPr>
          <p:cNvPr id="18" name="Rectangle 17"/>
          <p:cNvSpPr/>
          <p:nvPr/>
        </p:nvSpPr>
        <p:spPr>
          <a:xfrm>
            <a:off x="539496" y="3020446"/>
            <a:ext cx="3992747" cy="620400"/>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30204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распознавание</a:t>
            </a:r>
            <a:r>
              <a:rPr sz="1250" b="0" i="0">
                <a:solidFill>
                  <a:srgbClr val="21295C"/>
                </a:solidFill>
                <a:latin typeface="Arial"/>
              </a:rPr>
              <a:t> — изображение: скрининг, диагностика, диагноз</a:t>
            </a:r>
          </a:p>
        </p:txBody>
      </p:sp>
      <p:sp>
        <p:nvSpPr>
          <p:cNvPr id="20" name="Rectangle 19"/>
          <p:cNvSpPr/>
          <p:nvPr/>
        </p:nvSpPr>
        <p:spPr>
          <a:xfrm>
            <a:off x="4532243" y="3020446"/>
            <a:ext cx="3611816" cy="620400"/>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4678547" y="30204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фильтр потока: кого прочесть дважды</a:t>
            </a:r>
          </a:p>
        </p:txBody>
      </p:sp>
      <p:sp>
        <p:nvSpPr>
          <p:cNvPr id="22" name="Rectangle 21"/>
          <p:cNvSpPr/>
          <p:nvPr/>
        </p:nvSpPr>
        <p:spPr>
          <a:xfrm>
            <a:off x="8144060" y="3020446"/>
            <a:ext cx="3508138" cy="620400"/>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90364" y="30204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основание снять чтение: экономия из непрочитанного</a:t>
            </a:r>
          </a:p>
        </p:txBody>
      </p:sp>
      <p:sp>
        <p:nvSpPr>
          <p:cNvPr id="24" name="Rectangle 23"/>
          <p:cNvSpPr/>
          <p:nvPr/>
        </p:nvSpPr>
        <p:spPr>
          <a:xfrm>
            <a:off x="539496" y="3640846"/>
            <a:ext cx="3992747"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408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поиск и генерация</a:t>
            </a:r>
            <a:r>
              <a:rPr sz="1250" b="0" i="0">
                <a:solidFill>
                  <a:srgbClr val="21295C"/>
                </a:solidFill>
                <a:latin typeface="Arial"/>
              </a:rPr>
              <a:t> — текст: скрининг, диагноз, документы</a:t>
            </a:r>
          </a:p>
        </p:txBody>
      </p:sp>
      <p:sp>
        <p:nvSpPr>
          <p:cNvPr id="26" name="Rectangle 25"/>
          <p:cNvSpPr/>
          <p:nvPr/>
        </p:nvSpPr>
        <p:spPr>
          <a:xfrm>
            <a:off x="4532243" y="3640846"/>
            <a:ext cx="3611816"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4678547" y="36408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черновик к концу приёма</a:t>
            </a:r>
          </a:p>
        </p:txBody>
      </p:sp>
      <p:sp>
        <p:nvSpPr>
          <p:cNvPr id="28" name="Rectangle 27"/>
          <p:cNvSpPr/>
          <p:nvPr/>
        </p:nvSpPr>
        <p:spPr>
          <a:xfrm>
            <a:off x="8144060" y="3640846"/>
            <a:ext cx="3508138"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90364" y="36408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полнее человека: пишет тот же, а платит читатель</a:t>
            </a:r>
          </a:p>
        </p:txBody>
      </p:sp>
      <p:sp>
        <p:nvSpPr>
          <p:cNvPr id="30" name="Rectangle 29"/>
          <p:cNvSpPr/>
          <p:nvPr/>
        </p:nvSpPr>
        <p:spPr>
          <a:xfrm>
            <a:off x="539496" y="4261246"/>
            <a:ext cx="3992747"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12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прогноз</a:t>
            </a:r>
            <a:r>
              <a:rPr sz="1250" b="0" i="0">
                <a:solidFill>
                  <a:srgbClr val="21295C"/>
                </a:solidFill>
                <a:latin typeface="Arial"/>
              </a:rPr>
              <a:t> — структурированные данные: диагностика, диагноз</a:t>
            </a:r>
          </a:p>
        </p:txBody>
      </p:sp>
      <p:sp>
        <p:nvSpPr>
          <p:cNvPr id="32" name="Rectangle 31"/>
          <p:cNvSpPr/>
          <p:nvPr/>
        </p:nvSpPr>
        <p:spPr>
          <a:xfrm>
            <a:off x="4532243" y="4261246"/>
            <a:ext cx="3611816"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4678547" y="42612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сигнал рядом со шкалой</a:t>
            </a:r>
          </a:p>
        </p:txBody>
      </p:sp>
      <p:sp>
        <p:nvSpPr>
          <p:cNvPr id="34" name="Rectangle 33"/>
          <p:cNvSpPr/>
          <p:nvPr/>
        </p:nvSpPr>
        <p:spPr>
          <a:xfrm>
            <a:off x="8144060" y="4261246"/>
            <a:ext cx="3508138"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90364" y="42612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решение: цель задаёт переменная, а порог — документ</a:t>
            </a:r>
          </a:p>
        </p:txBody>
      </p:sp>
      <p:sp>
        <p:nvSpPr>
          <p:cNvPr id="36" name="TextBox 3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Вне окна ещё три места.</a:t>
            </a:r>
            <a:r>
              <a:rPr sz="1300" b="0" i="0">
                <a:solidFill>
                  <a:srgbClr val="21295C"/>
                </a:solidFill>
                <a:latin typeface="Arial"/>
              </a:rPr>
              <a:t> Речь на приёме: набор текста голосом работает, окончания слов и чужая речь — нет. Видео: подсветка во время процедуры, место остаётся за человеком. Сигнал прибора: обученной модели нет вовсе, а смещение есть.</a:t>
            </a:r>
          </a:p>
        </p:txBody>
      </p:sp>
      <p:sp>
        <p:nvSpPr>
          <p:cNvPr id="37" name="TextBox 3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Правая графа ни в одной строке не про качество модели</a:t>
            </a:r>
            <a:r>
              <a:rPr sz="1300" b="0" i="0">
                <a:solidFill>
                  <a:srgbClr val="21295C"/>
                </a:solidFill>
                <a:latin typeface="Arial"/>
              </a:rPr>
              <a:t> — про годность входа, состав данных, заданную цель и назначенный порог. </a:t>
            </a:r>
            <a:r>
              <a:rPr sz="1350" b="1" i="0">
                <a:solidFill>
                  <a:srgbClr val="21295C"/>
                </a:solidFill>
                <a:latin typeface="Arial"/>
              </a:rPr>
              <a:t>Квалификация в окне не занимает ничего:</a:t>
            </a:r>
            <a:r>
              <a:rPr sz="1300" b="0" i="0">
                <a:solidFill>
                  <a:srgbClr val="21295C"/>
                </a:solidFill>
                <a:latin typeface="Arial"/>
              </a:rPr>
              <a:t> её помощник работает на видео.</a:t>
            </a: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87576"/>
          </a:xfrm>
          <a:prstGeom prst="roundRect">
            <a:avLst>
              <a:gd name="adj" fmla="val 611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платежа из начала — поимённо, под каждым измерение.</a:t>
            </a:r>
          </a:p>
        </p:txBody>
      </p:sp>
      <p:sp>
        <p:nvSpPr>
          <p:cNvPr id="6" name="Rectangle 5"/>
          <p:cNvSpPr/>
          <p:nvPr/>
        </p:nvSpPr>
        <p:spPr>
          <a:xfrm>
            <a:off x="539496" y="1734694"/>
            <a:ext cx="1164121" cy="383379"/>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34694"/>
            <a:ext cx="87151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платёж</a:t>
            </a:r>
          </a:p>
        </p:txBody>
      </p:sp>
      <p:sp>
        <p:nvSpPr>
          <p:cNvPr id="8" name="Rectangle 7"/>
          <p:cNvSpPr/>
          <p:nvPr/>
        </p:nvSpPr>
        <p:spPr>
          <a:xfrm>
            <a:off x="1703617" y="1734694"/>
            <a:ext cx="6643146" cy="383379"/>
          </a:xfrm>
          <a:prstGeom prst="rect">
            <a:avLst/>
          </a:prstGeom>
          <a:solidFill>
            <a:srgbClr val="065A82"/>
          </a:solidFill>
          <a:ln>
            <a:noFill/>
          </a:ln>
          <a:effectLst/>
        </p:spPr>
        <p:txBody>
          <a:bodyPr rtlCol="0" anchor="ctr"/>
          <a:lstStyle/>
          <a:p>
            <a:pPr algn="ctr"/>
          </a:p>
        </p:txBody>
      </p:sp>
      <p:sp>
        <p:nvSpPr>
          <p:cNvPr id="9" name="TextBox 8"/>
          <p:cNvSpPr txBox="1"/>
          <p:nvPr/>
        </p:nvSpPr>
        <p:spPr>
          <a:xfrm>
            <a:off x="1849921" y="1734694"/>
            <a:ext cx="635053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заплачено</a:t>
            </a:r>
          </a:p>
        </p:txBody>
      </p:sp>
      <p:sp>
        <p:nvSpPr>
          <p:cNvPr id="10" name="Rectangle 9"/>
          <p:cNvSpPr/>
          <p:nvPr/>
        </p:nvSpPr>
        <p:spPr>
          <a:xfrm>
            <a:off x="8346764" y="1734694"/>
            <a:ext cx="3305434" cy="383379"/>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493068" y="1734694"/>
            <a:ext cx="301282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измерено</a:t>
            </a:r>
          </a:p>
        </p:txBody>
      </p:sp>
      <p:sp>
        <p:nvSpPr>
          <p:cNvPr id="12" name="Rectangle 11"/>
          <p:cNvSpPr/>
          <p:nvPr/>
        </p:nvSpPr>
        <p:spPr>
          <a:xfrm>
            <a:off x="539496" y="2118074"/>
            <a:ext cx="1164121" cy="38337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1807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Внимание</a:t>
            </a:r>
          </a:p>
        </p:txBody>
      </p:sp>
      <p:sp>
        <p:nvSpPr>
          <p:cNvPr id="14" name="Rectangle 13"/>
          <p:cNvSpPr/>
          <p:nvPr/>
        </p:nvSpPr>
        <p:spPr>
          <a:xfrm>
            <a:off x="1703617" y="2118074"/>
            <a:ext cx="6643146" cy="38337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49921" y="211807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смотрели </a:t>
            </a:r>
            <a:r>
              <a:rPr sz="1200" b="1" i="0">
                <a:solidFill>
                  <a:srgbClr val="21295C"/>
                </a:solidFill>
                <a:latin typeface="Arial"/>
              </a:rPr>
              <a:t>11,1 → 9,5 %</a:t>
            </a:r>
            <a:r>
              <a:rPr sz="1200" b="0" i="0">
                <a:solidFill>
                  <a:srgbClr val="21295C"/>
                </a:solidFill>
                <a:latin typeface="Arial"/>
              </a:rPr>
              <a:t> площади снимка; пропущенных раков </a:t>
            </a:r>
            <a:r>
              <a:rPr sz="1200" b="1" i="0">
                <a:solidFill>
                  <a:srgbClr val="21295C"/>
                </a:solidFill>
                <a:latin typeface="Arial"/>
              </a:rPr>
              <a:t>29 → 61</a:t>
            </a:r>
            <a:r>
              <a:rPr sz="1200" b="0" i="0">
                <a:solidFill>
                  <a:srgbClr val="21295C"/>
                </a:solidFill>
                <a:latin typeface="Arial"/>
              </a:rPr>
              <a:t> из ста</a:t>
            </a:r>
          </a:p>
        </p:txBody>
      </p:sp>
      <p:sp>
        <p:nvSpPr>
          <p:cNvPr id="16" name="Rectangle 15"/>
          <p:cNvSpPr/>
          <p:nvPr/>
        </p:nvSpPr>
        <p:spPr>
          <a:xfrm>
            <a:off x="8346764" y="2118074"/>
            <a:ext cx="3305434" cy="38337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493068" y="211807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замер взгляда; подгруппа 14 случаев</a:t>
            </a:r>
          </a:p>
        </p:txBody>
      </p:sp>
      <p:sp>
        <p:nvSpPr>
          <p:cNvPr id="18" name="Rectangle 17"/>
          <p:cNvSpPr/>
          <p:nvPr/>
        </p:nvSpPr>
        <p:spPr>
          <a:xfrm>
            <a:off x="539496" y="2501454"/>
            <a:ext cx="1164121" cy="38337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50145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Навык</a:t>
            </a:r>
          </a:p>
        </p:txBody>
      </p:sp>
      <p:sp>
        <p:nvSpPr>
          <p:cNvPr id="20" name="Rectangle 19"/>
          <p:cNvSpPr/>
          <p:nvPr/>
        </p:nvSpPr>
        <p:spPr>
          <a:xfrm>
            <a:off x="1703617" y="2501454"/>
            <a:ext cx="6643146" cy="38337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49921" y="250145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находок </a:t>
            </a:r>
            <a:r>
              <a:rPr sz="1200" b="1" i="0">
                <a:solidFill>
                  <a:srgbClr val="21295C"/>
                </a:solidFill>
                <a:latin typeface="Arial"/>
              </a:rPr>
              <a:t>284 → 224</a:t>
            </a:r>
            <a:r>
              <a:rPr sz="1200" b="0" i="0">
                <a:solidFill>
                  <a:srgbClr val="21295C"/>
                </a:solidFill>
                <a:latin typeface="Arial"/>
              </a:rPr>
              <a:t> из тысячи процедур у тех же девятнадцати врачей</a:t>
            </a:r>
          </a:p>
        </p:txBody>
      </p:sp>
      <p:sp>
        <p:nvSpPr>
          <p:cNvPr id="22" name="Rectangle 21"/>
          <p:cNvSpPr/>
          <p:nvPr/>
        </p:nvSpPr>
        <p:spPr>
          <a:xfrm>
            <a:off x="8346764" y="2501454"/>
            <a:ext cx="3305434" cy="38337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493068" y="250145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наблюдательное, однажды и спорно</a:t>
            </a:r>
          </a:p>
        </p:txBody>
      </p:sp>
      <p:sp>
        <p:nvSpPr>
          <p:cNvPr id="24" name="Rectangle 23"/>
          <p:cNvSpPr/>
          <p:nvPr/>
        </p:nvSpPr>
        <p:spPr>
          <a:xfrm>
            <a:off x="539496" y="2884834"/>
            <a:ext cx="1164121" cy="602167"/>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2884834"/>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Подпись</a:t>
            </a:r>
          </a:p>
        </p:txBody>
      </p:sp>
      <p:sp>
        <p:nvSpPr>
          <p:cNvPr id="26" name="Rectangle 25"/>
          <p:cNvSpPr/>
          <p:nvPr/>
        </p:nvSpPr>
        <p:spPr>
          <a:xfrm>
            <a:off x="1703617" y="2884834"/>
            <a:ext cx="6643146" cy="602167"/>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49921" y="2884834"/>
            <a:ext cx="635053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9 из 11</a:t>
            </a:r>
            <a:r>
              <a:rPr sz="1200" b="0" i="0">
                <a:solidFill>
                  <a:srgbClr val="21295C"/>
                </a:solidFill>
                <a:latin typeface="Arial"/>
              </a:rPr>
              <a:t> машинных эпикризов с ошибкой</a:t>
            </a:r>
          </a:p>
        </p:txBody>
      </p:sp>
      <p:sp>
        <p:nvSpPr>
          <p:cNvPr id="28" name="Rectangle 27"/>
          <p:cNvSpPr/>
          <p:nvPr/>
        </p:nvSpPr>
        <p:spPr>
          <a:xfrm>
            <a:off x="8346764" y="2884834"/>
            <a:ext cx="3305434" cy="602167"/>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493068" y="2884834"/>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сто госпитализаций, двое читали вслепую</a:t>
            </a:r>
          </a:p>
        </p:txBody>
      </p:sp>
      <p:sp>
        <p:nvSpPr>
          <p:cNvPr id="30" name="Rectangle 29"/>
          <p:cNvSpPr/>
          <p:nvPr/>
        </p:nvSpPr>
        <p:spPr>
          <a:xfrm>
            <a:off x="539496" y="3487001"/>
            <a:ext cx="1164121" cy="602167"/>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487001"/>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Арбитраж</a:t>
            </a:r>
          </a:p>
        </p:txBody>
      </p:sp>
      <p:sp>
        <p:nvSpPr>
          <p:cNvPr id="32" name="Rectangle 31"/>
          <p:cNvSpPr/>
          <p:nvPr/>
        </p:nvSpPr>
        <p:spPr>
          <a:xfrm>
            <a:off x="1703617" y="3487001"/>
            <a:ext cx="6643146" cy="602167"/>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49921" y="3487001"/>
            <a:ext cx="635053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чтений на арбитраж </a:t>
            </a:r>
            <a:r>
              <a:rPr sz="1200" b="1" i="0">
                <a:solidFill>
                  <a:srgbClr val="21295C"/>
                </a:solidFill>
                <a:latin typeface="Arial"/>
              </a:rPr>
              <a:t>втрое и на четверть</a:t>
            </a:r>
            <a:r>
              <a:rPr sz="1200" b="0" i="0">
                <a:solidFill>
                  <a:srgbClr val="21295C"/>
                </a:solidFill>
                <a:latin typeface="Arial"/>
              </a:rPr>
              <a:t> больше; один разбор по времени — </a:t>
            </a:r>
            <a:r>
              <a:rPr sz="1200" b="1" i="0">
                <a:solidFill>
                  <a:srgbClr val="21295C"/>
                </a:solidFill>
                <a:latin typeface="Arial"/>
              </a:rPr>
              <a:t>как пять чтений</a:t>
            </a:r>
          </a:p>
        </p:txBody>
      </p:sp>
      <p:sp>
        <p:nvSpPr>
          <p:cNvPr id="34" name="Rectangle 33"/>
          <p:cNvSpPr/>
          <p:nvPr/>
        </p:nvSpPr>
        <p:spPr>
          <a:xfrm>
            <a:off x="8346764" y="3487001"/>
            <a:ext cx="3305434" cy="602167"/>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493068" y="3487001"/>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два центра, 50 000 женщин; 441 276 случаев</a:t>
            </a:r>
          </a:p>
        </p:txBody>
      </p:sp>
      <p:sp>
        <p:nvSpPr>
          <p:cNvPr id="36" name="TextBox 35"/>
          <p:cNvSpPr txBox="1"/>
          <p:nvPr/>
        </p:nvSpPr>
        <p:spPr>
          <a:xfrm>
            <a:off x="539496" y="4235473"/>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Оплачены неровно, и разряд важнее величины:</a:t>
            </a:r>
            <a:r>
              <a:rPr sz="1250" b="0" i="0">
                <a:solidFill>
                  <a:srgbClr val="21295C"/>
                </a:solidFill>
                <a:latin typeface="Arial"/>
              </a:rPr>
              <a:t> у арбитража два испытания и крупнейшие выборки вечера, у внимания — подгруппа в 14 случаев, у навыка — одно наблюдение без повторения, у подписи — доля документов, а не исход.</a:t>
            </a:r>
          </a:p>
        </p:txBody>
      </p:sp>
      <p:sp>
        <p:nvSpPr>
          <p:cNvPr id="37" name="TextBox 36"/>
          <p:cNvSpPr txBox="1"/>
          <p:nvPr/>
        </p:nvSpPr>
        <p:spPr>
          <a:xfrm>
            <a:off x="539496" y="488851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Кто платит:</a:t>
            </a:r>
            <a:r>
              <a:rPr sz="1250" b="0" i="0">
                <a:solidFill>
                  <a:srgbClr val="21295C"/>
                </a:solidFill>
                <a:latin typeface="Arial"/>
              </a:rPr>
              <a:t> скрининг — арбитражем · диагноз — вниманием · документы — подписью · квалификация — навыком. </a:t>
            </a:r>
            <a:r>
              <a:rPr sz="1300" b="1" i="0">
                <a:solidFill>
                  <a:srgbClr val="21295C"/>
                </a:solidFill>
                <a:latin typeface="Arial"/>
              </a:rPr>
              <a:t>Инструментальная диагностика не платит ничем из четырёх:</a:t>
            </a:r>
            <a:r>
              <a:rPr sz="1250" b="0" i="0">
                <a:solidFill>
                  <a:srgbClr val="21295C"/>
                </a:solidFill>
                <a:latin typeface="Arial"/>
              </a:rPr>
              <a:t> её цена — 290 пропущенных находок, другая плоскость.</a:t>
            </a:r>
          </a:p>
        </p:txBody>
      </p:sp>
      <p:sp>
        <p:nvSpPr>
          <p:cNvPr id="38" name="TextBox 37"/>
          <p:cNvSpPr txBox="1"/>
          <p:nvPr/>
        </p:nvSpPr>
        <p:spPr>
          <a:xfrm>
            <a:off x="539496" y="554154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Шесть искажений входа встретились все шесть:</a:t>
            </a:r>
            <a:r>
              <a:rPr sz="1250" b="0" i="0">
                <a:solidFill>
                  <a:srgbClr val="21295C"/>
                </a:solidFill>
                <a:latin typeface="Arial"/>
              </a:rPr>
              <a:t> якорение и сужение — вниманием, износ — навыком, поправка — подписью, несогласие — арбитражем; поток тревог своей графы не получил. </a:t>
            </a:r>
            <a:r>
              <a:rPr sz="1300" b="1" i="0">
                <a:solidFill>
                  <a:srgbClr val="21295C"/>
                </a:solidFill>
                <a:latin typeface="Arial"/>
              </a:rPr>
              <a:t>Своим именем за вечер назван один.</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Чем лекция мерила работу человека</a:t>
            </a:r>
          </a:p>
        </p:txBody>
      </p:sp>
      <p:sp>
        <p:nvSpPr>
          <p:cNvPr id="4" name="TextBox 3"/>
          <p:cNvSpPr txBox="1"/>
          <p:nvPr/>
        </p:nvSpPr>
        <p:spPr>
          <a:xfrm>
            <a:off x="905256" y="2250828"/>
            <a:ext cx="10381183" cy="1969090"/>
          </a:xfrm>
          <a:prstGeom prst="rect">
            <a:avLst/>
          </a:prstGeom>
          <a:noFill/>
        </p:spPr>
        <p:txBody>
          <a:bodyPr wrap="square" lIns="0" rIns="0" tIns="0" bIns="0" anchor="t">
            <a:spAutoFit/>
          </a:bodyPr>
          <a:lstStyle/>
          <a:p>
            <a:pPr algn="ctr">
              <a:lnSpc>
                <a:spcPct val="116000"/>
              </a:lnSpc>
            </a:pPr>
            <a:r>
              <a:rPr sz="5400" b="1" i="0">
                <a:solidFill>
                  <a:srgbClr val="F0AB00"/>
                </a:solidFill>
                <a:latin typeface="Arial"/>
              </a:rPr>
              <a:t>Мерили работу человека, а не то, что стало с больным</a:t>
            </a:r>
          </a:p>
        </p:txBody>
      </p:sp>
      <p:sp>
        <p:nvSpPr>
          <p:cNvPr id="5" name="Rectangle 4"/>
          <p:cNvSpPr/>
          <p:nvPr/>
        </p:nvSpPr>
        <p:spPr>
          <a:xfrm>
            <a:off x="5090007" y="4402799"/>
            <a:ext cx="2011680" cy="77724"/>
          </a:xfrm>
          <a:prstGeom prst="rect">
            <a:avLst/>
          </a:prstGeom>
          <a:solidFill>
            <a:srgbClr val="F0AB00"/>
          </a:solidFill>
          <a:ln>
            <a:noFill/>
          </a:ln>
          <a:effectLst/>
        </p:spPr>
        <p:txBody>
          <a:bodyPr rtlCol="0" anchor="ctr"/>
          <a:lstStyle/>
          <a:p>
            <a:pPr algn="ctr"/>
          </a:p>
        </p:txBody>
      </p:sp>
      <p:sp>
        <p:nvSpPr>
          <p:cNvPr id="6" name="TextBox 5"/>
          <p:cNvSpPr txBox="1"/>
          <p:nvPr/>
        </p:nvSpPr>
        <p:spPr>
          <a:xfrm>
            <a:off x="905256" y="4626827"/>
            <a:ext cx="10381183" cy="519306"/>
          </a:xfrm>
          <a:prstGeom prst="rect">
            <a:avLst/>
          </a:prstGeom>
          <a:noFill/>
        </p:spPr>
        <p:txBody>
          <a:bodyPr wrap="square" lIns="0" rIns="0" tIns="0" bIns="0" anchor="t">
            <a:spAutoFit/>
          </a:bodyPr>
          <a:lstStyle/>
          <a:p>
            <a:pPr algn="ctr">
              <a:lnSpc>
                <a:spcPct val="118000"/>
              </a:lnSpc>
            </a:pPr>
            <a:r>
              <a:rPr sz="1400" b="0" i="1">
                <a:solidFill>
                  <a:srgbClr val="FFFFFF"/>
                </a:solidFill>
                <a:latin typeface="Arial"/>
              </a:rPr>
              <a:t>до исхода больного дошёл скрининг: интервальных раков 1,55 против 1,76 на тысячу — показана не-худшесть, не улучшение</a:t>
            </a: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Итоговый анализ MASAI, The Lancet 2026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человека и три основания его подписи</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в арбитраж · рандомизированное, 105 934 женщины</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55 снимков из ста не читает никто</a:t>
            </a:r>
          </a:p>
        </p:txBody>
      </p:sp>
      <p:sp>
        <p:nvSpPr>
          <p:cNvPr id="16" name="Rounded Rectangle 15"/>
          <p:cNvSpPr/>
          <p:nvPr/>
        </p:nvSpPr>
        <p:spPr>
          <a:xfrm>
            <a:off x="9015755"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1,99 секунды</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a:t>
            </a:r>
          </a:p>
        </p:txBody>
      </p:sp>
      <p:sp>
        <p:nvSpPr>
          <p:cNvPr id="20" name="Rounded Rectangle 19"/>
          <p:cNvSpPr/>
          <p:nvPr/>
        </p:nvSpPr>
        <p:spPr>
          <a:xfrm>
            <a:off x="374904" y="3795551"/>
            <a:ext cx="11441887" cy="2440656"/>
          </a:xfrm>
          <a:prstGeom prst="roundRect">
            <a:avLst>
              <a:gd name="adj" fmla="val 12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обязательно, и не потому, что он точнее</a:t>
            </a:r>
            <a:r>
              <a:rPr sz="1250" b="0" i="0">
                <a:solidFill>
                  <a:srgbClr val="21295C"/>
                </a:solidFill>
                <a:latin typeface="Arial"/>
              </a:rPr>
              <a:t> — измерено, что часто он не точнее. Вопрос в том, что он делает после модели и кто это измерял.</a:t>
            </a:r>
          </a:p>
          <a:p>
            <a:pPr algn="l">
              <a:lnSpc>
                <a:spcPct val="126000"/>
              </a:lnSpc>
              <a:spcBef>
                <a:spcPts val="720"/>
              </a:spcBef>
            </a:pPr>
            <a:r>
              <a:rPr sz="1250" b="0" i="0">
                <a:solidFill>
                  <a:srgbClr val="21295C"/>
                </a:solidFill>
                <a:latin typeface="Arial"/>
              </a:rPr>
              <a:t/>
            </a:r>
            <a:r>
              <a:rPr sz="1250" b="1" i="0">
                <a:solidFill>
                  <a:srgbClr val="21295C"/>
                </a:solidFill>
                <a:latin typeface="Arial"/>
              </a:rPr>
              <a:t>Чем ниже по ступеням, тем слабее свидетельство.</a:t>
            </a:r>
            <a:r>
              <a:rPr sz="1250" b="0" i="0">
                <a:solidFill>
                  <a:srgbClr val="21295C"/>
                </a:solidFill>
                <a:latin typeface="Arial"/>
              </a:rPr>
              <a:t> Про четвёртую, она же самая частая, известно меньше всего: подпись есть, чтения нет.</a:t>
            </a:r>
          </a:p>
          <a:p>
            <a:pPr algn="l">
              <a:lnSpc>
                <a:spcPct val="126000"/>
              </a:lnSpc>
              <a:spcBef>
                <a:spcPts val="720"/>
              </a:spcBef>
            </a:pPr>
            <a:r>
              <a:rPr sz="1250" b="0" i="0">
                <a:solidFill>
                  <a:srgbClr val="21295C"/>
                </a:solidFill>
                <a:latin typeface="Arial"/>
              </a:rPr>
              <a:t/>
            </a:r>
            <a:r>
              <a:rPr sz="1250" b="1" i="0">
                <a:solidFill>
                  <a:srgbClr val="21295C"/>
                </a:solidFill>
                <a:latin typeface="Arial"/>
              </a:rPr>
              <a:t>Все четыре встретились над одним случаем</a:t>
            </a:r>
            <a:r>
              <a:rPr sz="1250" b="0" i="0">
                <a:solidFill>
                  <a:srgbClr val="21295C"/>
                </a:solidFill>
                <a:latin typeface="Arial"/>
              </a:rPr>
              <a:t> — женщины, которую позвали письмом по году рождения: </a:t>
            </a:r>
            <a:r>
              <a:rPr sz="1250" b="1" i="0">
                <a:solidFill>
                  <a:srgbClr val="21295C"/>
                </a:solidFill>
                <a:latin typeface="Arial"/>
              </a:rPr>
              <a:t>①</a:t>
            </a:r>
            <a:r>
              <a:rPr sz="1250" b="0" i="0">
                <a:solidFill>
                  <a:srgbClr val="21295C"/>
                </a:solidFill>
                <a:latin typeface="Arial"/>
              </a:rPr>
              <a:t> на скрининге, </a:t>
            </a:r>
            <a:r>
              <a:rPr sz="1250" b="1" i="0">
                <a:solidFill>
                  <a:srgbClr val="21295C"/>
                </a:solidFill>
                <a:latin typeface="Arial"/>
              </a:rPr>
              <a:t>②</a:t>
            </a:r>
            <a:r>
              <a:rPr sz="1250" b="0" i="0">
                <a:solidFill>
                  <a:srgbClr val="21295C"/>
                </a:solidFill>
                <a:latin typeface="Arial"/>
              </a:rPr>
              <a:t> на её снимке, </a:t>
            </a:r>
            <a:r>
              <a:rPr sz="1250" b="1" i="0">
                <a:solidFill>
                  <a:srgbClr val="21295C"/>
                </a:solidFill>
                <a:latin typeface="Arial"/>
              </a:rPr>
              <a:t>③</a:t>
            </a:r>
            <a:r>
              <a:rPr sz="1250" b="0" i="0">
                <a:solidFill>
                  <a:srgbClr val="21295C"/>
                </a:solidFill>
                <a:latin typeface="Arial"/>
              </a:rPr>
              <a:t> на профилактическом снимке лёгких, </a:t>
            </a:r>
            <a:r>
              <a:rPr sz="1250" b="1" i="0">
                <a:solidFill>
                  <a:srgbClr val="21295C"/>
                </a:solidFill>
                <a:latin typeface="Arial"/>
              </a:rPr>
              <a:t>④</a:t>
            </a:r>
            <a:r>
              <a:rPr sz="1250" b="0" i="0">
                <a:solidFill>
                  <a:srgbClr val="21295C"/>
                </a:solidFill>
                <a:latin typeface="Arial"/>
              </a:rPr>
              <a:t> на её выписке.</a:t>
            </a:r>
          </a:p>
        </p:txBody>
      </p:sp>
      <p:sp>
        <p:nvSpPr>
          <p:cNvPr id="22" name="TextBox 21"/>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Три основания, и держатся они по-разному.</a:t>
            </a:r>
            <a:r>
              <a:rPr sz="1250" b="0" i="0">
                <a:solidFill>
                  <a:srgbClr val="21295C"/>
                </a:solidFill>
                <a:latin typeface="Arial"/>
              </a:rPr>
              <a:t> </a:t>
            </a:r>
            <a:r>
              <a:rPr sz="1250" b="0" i="1">
                <a:solidFill>
                  <a:srgbClr val="21295C"/>
                </a:solidFill>
                <a:latin typeface="Arial"/>
              </a:rPr>
              <a:t>Право подписи:</a:t>
            </a:r>
            <a:r>
              <a:rPr sz="1250" b="0" i="0">
                <a:solidFill>
                  <a:srgbClr val="21295C"/>
                </a:solidFill>
                <a:latin typeface="Arial"/>
              </a:rPr>
              <a:t> при разборе случая оценивают действия человека, вопроса о модели в этой процедуре нет. </a:t>
            </a:r>
            <a:r>
              <a:rPr sz="1250" b="0" i="1">
                <a:solidFill>
                  <a:srgbClr val="21295C"/>
                </a:solidFill>
                <a:latin typeface="Arial"/>
              </a:rPr>
              <a:t>Ошибается иначе:</a:t>
            </a:r>
            <a:r>
              <a:rPr sz="1250" b="0" i="0">
                <a:solidFill>
                  <a:srgbClr val="21295C"/>
                </a:solidFill>
                <a:latin typeface="Arial"/>
              </a:rPr>
              <a:t> на 106 опытах знак выигрыша пары зависит от того, какая сторона сильнее, — величины у основания нет. </a:t>
            </a:r>
            <a:r>
              <a:rPr sz="1250" b="0" i="1">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a:t>
            </a:r>
          </a:p>
          <a:p>
            <a:pPr algn="l">
              <a:lnSpc>
                <a:spcPct val="126000"/>
              </a:lnSpc>
              <a:spcBef>
                <a:spcPts val="72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 — присутствие её не исполняет.</a:t>
            </a:r>
            <a:r>
              <a:rPr sz="1250" b="0" i="0">
                <a:solidFill>
                  <a:srgbClr val="21295C"/>
                </a:solidFill>
                <a:latin typeface="Arial"/>
              </a:rPr>
              <a:t> И ни одна из четырёх ступеней не измерена до того, что решение сделало с больным.</a:t>
            </a:r>
          </a:p>
        </p:txBody>
      </p:sp>
      <p:sp>
        <p:nvSpPr>
          <p:cNvPr id="23" name="Rectangle 22"/>
          <p:cNvSpPr/>
          <p:nvPr/>
        </p:nvSpPr>
        <p:spPr>
          <a:xfrm>
            <a:off x="6091275" y="3886991"/>
            <a:ext cx="9144" cy="2319398"/>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 Nucl Med 2026</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Изделие отзовут, решения останутся</a:t>
            </a:r>
          </a:p>
        </p:txBody>
      </p:sp>
      <p:sp>
        <p:nvSpPr>
          <p:cNvPr id="6" name="Rounded Rectangle 5"/>
          <p:cNvSpPr/>
          <p:nvPr/>
        </p:nvSpPr>
        <p:spPr>
          <a:xfrm>
            <a:off x="502920" y="133502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2537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5237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3502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47218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2537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33220"/>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5024493"/>
            <a:ext cx="11441887" cy="1211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115933"/>
            <a:ext cx="11112703" cy="1120274"/>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«В медицине всё необратимо» — утверждение шире замера. </a:t>
            </a:r>
            <a:r>
              <a:rPr sz="1150" b="1" i="0">
                <a:solidFill>
                  <a:srgbClr val="21295C"/>
                </a:solidFill>
                <a:latin typeface="Arial"/>
              </a:rPr>
              <a:t>Изделия отзывают: рядом запись регулятора.</a:t>
            </a:r>
            <a:r>
              <a:rPr sz="1150" b="0" i="0">
                <a:solidFill>
                  <a:srgbClr val="21295C"/>
                </a:solidFill>
                <a:latin typeface="Arial"/>
              </a:rPr>
              <a:t> Решения, принятые по устройству за год его работы, вместе с ним не отзываются.</a:t>
            </a:r>
          </a:p>
          <a:p>
            <a:pPr algn="l">
              <a:lnSpc>
                <a:spcPct val="126000"/>
              </a:lnSpc>
              <a:spcBef>
                <a:spcPts val="720"/>
              </a:spcBef>
            </a:pPr>
            <a:r>
              <a:rPr sz="1150" b="0" i="0">
                <a:solidFill>
                  <a:srgbClr val="21295C"/>
                </a:solidFill>
                <a:latin typeface="Arial"/>
              </a:rPr>
              <a:t/>
            </a:r>
            <a:r>
              <a:rPr sz="1150" b="1" i="0">
                <a:solidFill>
                  <a:srgbClr val="21295C"/>
                </a:solidFill>
                <a:latin typeface="Arial"/>
              </a:rPr>
              <a:t>Чем кончилось для женщины с письмом, не измерил никто.</a:t>
            </a:r>
            <a:r>
              <a:rPr sz="1150" b="0" i="0">
                <a:solidFill>
                  <a:srgbClr val="21295C"/>
                </a:solidFill>
                <a:latin typeface="Arial"/>
              </a:rPr>
              <a:t> Тот же вопрос к своему контуру: что в нём отзывается, а что остаётся.</a:t>
            </a:r>
          </a:p>
          <a:p>
            <a:pPr algn="l">
              <a:lnSpc>
                <a:spcPct val="126000"/>
              </a:lnSpc>
              <a:spcBef>
                <a:spcPts val="720"/>
              </a:spcBef>
            </a:pPr>
            <a:r>
              <a:rPr sz="1150" b="0" i="0">
                <a:solidFill>
                  <a:srgbClr val="21295C"/>
                </a:solidFill>
                <a:latin typeface="Arial"/>
              </a:rPr>
              <a:t/>
            </a:r>
            <a:r>
              <a:rPr sz="1150" b="1" i="0">
                <a:solidFill>
                  <a:srgbClr val="21295C"/>
                </a:solidFill>
                <a:latin typeface="Arial"/>
              </a:rPr>
              <a:t>Дальше — отрасль, где ошибку почти всегда можно отменить:</a:t>
            </a:r>
            <a:r>
              <a:rPr sz="115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2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те же </a:t>
            </a:r>
            <a:r>
              <a:rPr sz="1500" b="1" i="0">
                <a:solidFill>
                  <a:srgbClr val="21295C"/>
                </a:solidFill>
                <a:latin typeface="Arial"/>
              </a:rPr>
              <a:t>1,99 секунды</a:t>
            </a:r>
            <a:r>
              <a:rPr sz="1500" b="0" i="0">
                <a:solidFill>
                  <a:srgbClr val="21295C"/>
                </a:solidFill>
                <a:latin typeface="Arial"/>
              </a:rPr>
              <a:t>, что звучали на оси вечера;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2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