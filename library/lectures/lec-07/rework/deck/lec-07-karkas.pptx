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Чем эта лекция отличается от прошлой по предмету: там накопленное считалось в изделиях, здесь — в людях. Партию бракованных деталей отзывают; принятое клиническое решение отозвать нельзя, даже когда ошибку нашли сразу после. Это меняет саму постановку вопроса о цене ошибки, и курс идёт в медицину вторым не случайно — чтобы цена отказа стала видна по контрасту.</a:t>
            </a:r>
          </a:p>
          <a:p>
            <a:r>
              <a:t/>
            </a:r>
          </a:p>
          <a:p>
            <a:r>
              <a:t>Что значит «процедура удерживает цену ошибки»: двойное чтение снимка, второе мнение коллеги, консилиум при спорном случае, информированное согласие перед вмешательством — ни одно из этих устройств не придумано ради искусственного интеллекта. Все они существовали задолго до него и решали одну задачу: чтобы ошибка одного человека не стала окончательным решением без проверки. Модель входит в уже сложившуюся процедуру, а не строит свою заново, и именно поэтому интересный вопрос — не «умеет ли модель», а что происходит с самой процедурой и с человеком внутри неё, когда рядом появляется ещё один участник, который не устаёт, не сомневается и не просит паузы.</a:t>
            </a:r>
          </a:p>
          <a:p>
            <a:r>
              <a:t/>
            </a:r>
          </a:p>
          <a:p>
            <a:r>
              <a:t>Почему именно медицина идёт после машиностроения: предмет тот же — та же пара вопросов «что стоит пропуск» и «что стоит ложная тревога», то же устройство разбора через цену обеих ошибок. Граница допустимого риска при этом проведена в другом месте, и увидеть это можно только по контрасту с уже разобранной отраслью, а не абстрактным рассуждением.</a:t>
            </a:r>
          </a:p>
          <a:p>
            <a:r>
              <a:t/>
            </a:r>
          </a:p>
          <a:p>
            <a:r>
              <a:t>Что стоит унести с этого кадра, даже если к концу вечера забудутся все числа: вопрос звучит не «человек в контуре или нет», а предметно — что именно в каждом конкретном случае делает человек после того, как модель уже посмотрела. Ответ на этот вопрос и собирает вечер, случай за случаем, предъявляя не оценку инструмента, а то, что он сделал с работой вокруг себя.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Хребет лекции собран как путь одного решения о человеке, а не как каталог применений: каталог отвечает на вопрос «что бывает», путь — на вопрос «где за это платят». Раздел «Отбор» открывает вечер, потому что раньше всякого диагноза кто-то решает, попадёт ли человек в поле зрения вообще. Дальше — «Анализ данных»: что именно измерили и на какой группе это посчитано, потому что число без группы ничего не говорит. «Постановка диагноза» разбирает, что происходит, когда человек читает рядом с моделью, а не вместо неё. «Наблюдение за состоянием» — кто вообще заметит ухудшение, если оно начнётся между визитами. «Ведение записи» — кто прочтёт сделанную запись потом, и в каком виде. «Чем удерживают» — какая подпись, какая процедура и какой норматив держат решение на месте, если что-то пойдёт не так. «Разработка лекарства» — где именно удешевили начало цикла и где после этого образовалось узкое место. «Что стало с теми, кто решает» — что происходит с навыком человека, который годами работает рядом с моделью. «Сборка» возвращает счёт по всем разделам сразу, а «Закрытие» — обязательство, заявленное в начале вечера.</a:t>
            </a:r>
          </a:p>
          <a:p>
            <a:r>
              <a:t/>
            </a:r>
          </a:p>
          <a:p>
            <a:r>
              <a:t>Последняя позиция списка, наравне с разделами, — вопросы: так показано, что время на них отведено, без единой минуты на экране.</a:t>
            </a:r>
          </a:p>
          <a:p>
            <a:r>
              <a:t/>
            </a:r>
          </a:p>
          <a:p>
            <a:r>
              <a:t>Три разграничения в подвале — честный адрес, по которому тема закрывается, и дешевле сказать его сейчас, чем отбиваться от вопроса в середине вечера: производство лекарственной формы — предмет другой лекции, про производственную линию; устройство предсказания структуры белка в этом вечере встречается только как готовый инструмент на столе исследователя, а разбирает его как метод и как научное событие отдельная лекция про научный цикл; цифровые двойники — обещание отдельной лекции, и оно подтверждается, а не отменяется.</a:t>
            </a:r>
          </a:p>
          <a:p>
            <a:r>
              <a:t/>
            </a:r>
          </a:p>
          <a:p>
            <a:r>
              <a:t>Два прочерка рядом с тремя разграничениями: назначение и лечение — предмет уже разобран в Лекции 5, и вечер к нему не возвращается; оперативная помощь — такая работа существует, но измеренного материала по ней у этой лекции нет, и прочерк здесь честнее, чем слайд из воздуха.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стоит первым в хребте вечера не по алфавиту, а по месту в работе: дальше лекция разбирает решения о человеке, который уже попал в поле зрения, а здесь решается, попадёт ли он вообще — и это решение принимается до всякого диагноза, часто без врача и всегда без участия самого пациента в момент, когда оно принимается.</a:t>
            </a:r>
          </a:p>
          <a:p>
            <a:r>
              <a:t/>
            </a:r>
          </a:p>
          <a:p>
            <a:r>
              <a:t>Два разбора раздела показывают эту работу с двух разных сторон одной и той же задачи — сортировки потока, кого вообще стоит посмотреть внимательнее. «Пример 1: чат-бот первой линии» — случай, где модель (или то, что ею называли) встала на входе в поток обращений и решала, кого направить, а кого нет; разбор идёт через то, что предъявили публично, и через то, что это стоило каналу обращений, когда удешевлённый вход изменил само число людей, которые решили обратиться. «Пример 2: отбор в программу повышенного внимания по предсказанным расходам» — случай, где критерием отбора в программу для самых тяжёлых пациентов стала не тяжесть болезни напрямую, а предсказанные будущие расходы на лечение, и этот выбор целевой переменной незаметно меняет, кого именно модель считает «достаточно больным», чтобы включить в программу.</a:t>
            </a:r>
          </a:p>
          <a:p>
            <a:r>
              <a:t/>
            </a:r>
          </a:p>
          <a:p>
            <a:r>
              <a:t>Общее между разборами — не тема и не отрасль, а то, что оба показывают: отбор решает не только «кого лечить», но прежде — «кого вообще стоит заметить», и ошибка на этом шаге не видна там, где её обычно ищут, потому что она случается раньше любого диагноза и любого измерения точности.</a:t>
            </a:r>
          </a:p>
          <a:p>
            <a:r>
              <a:t/>
            </a:r>
          </a:p>
          <a:p>
            <a:r>
              <a:t>Снимок рядом — настоящий кабинет чтения снимков с двумя рабочими местами и маммографическими мониторами: работа отбора выглядит именно так — не драматично, а буднично, и именно в этой будничности она чаще всего и остаётся незамеченной.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открывается границей, которую мы только что провели: в разделе 1 система решала, кого вообще посмотреть; здесь система не просто смотрит — она меряет и сама выносит заключение по измеренному. Отличие от раздела 3 принципиальное: там заключение по данным делает человек, здесь — машина. Граница проходит не по модальности данных и не по сложности алгоритма, а по тому, кто подписывает результат измерения.</a:t>
            </a:r>
          </a:p>
          <a:p>
            <a:r>
              <a:t/>
            </a:r>
          </a:p>
          <a:p>
            <a:r>
              <a:t>Раздел держится на одной идее, которую трудно удержать в голове при чтении рекламных материалов: любая доля — чувствительность, специфичность, точность — посчитана на конкретной группе людей, и при переносе этой доли на другую группу она перестаёт означать то же самое. Поэтому первые кадры раздела — не кейсы, а определения: что такое чувствительность и специфичность без привязки к конкретной болезни, и что происходит с одними и теми же долями системы на двух разных группах — поголовном скрининге и профильном отделении.</a:t>
            </a:r>
          </a:p>
          <a:p>
            <a:r>
              <a:t/>
            </a:r>
          </a:p>
          <a:p>
            <a:r>
              <a:t>Первый разбор — «Техник флюорографии и годность снимка» — начинается с человека, которого легко узнать: техник в районной поликлинике, который решает, годится снимок для чтения или нет. Тот же вопрос — кто решает годность измерения — встаёт в развёрнутом виде в автономном чтении снимков глазного дна: когда решение о годности снимка и решение о диагнозе принимает одно и то же устройство, у этого устройства должна быть мера того, что оно не готово решать.</a:t>
            </a:r>
          </a:p>
          <a:p>
            <a:r>
              <a:t/>
            </a:r>
          </a:p>
          <a:p>
            <a:r>
              <a:t>Второй разбор — «Глазное дно без офтальмолога» — про то же устройство, но с другой стороны: не про годность снимка, а про то, что прежде чем мерить и решать, снимок вообще должен появиться, и это меняет, кто до теста доходит.</a:t>
            </a:r>
          </a:p>
          <a:p>
            <a:r>
              <a:t/>
            </a:r>
          </a:p>
          <a:p>
            <a:r>
              <a:t>Третий разбор — «Кожа и состав набора» — показывает ту же проблему группы с другой модальностью измерения: набор, на котором обучена и проверена модель, редко повторяет состав населения, на котором она потом работает.</a:t>
            </a:r>
          </a:p>
          <a:p>
            <a:r>
              <a:t/>
            </a:r>
          </a:p>
          <a:p>
            <a:r>
              <a:t>Раздел заканчивается картой стадии и выводом: польза раздела — постоянство измерения там, где человек устаёт; граница — она же заявлена группой, на которой измерение посчитано.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переходит через ту же границу, что отделила раздел 2 от раздела 1, только с другой стороны: здесь данные уже измерены и прочитаны системой, но заключение — диагноз — подписывает человек. Подсказка модели встаёт рядом со снимком, и вопрос раздела в том, что именно человек теперь смотрит: сам снимок, подсказку, или уже не то и не другое, а привычку доверять экрану.</a:t>
            </a:r>
          </a:p>
          <a:p>
            <a:r>
              <a:t/>
            </a:r>
          </a:p>
          <a:p>
            <a:r>
              <a:t>Первый разбор, «Замер взгляда радиолога», берёт инструмент, который редко применяют в разборах такого рода, — айтрекер. Он показывает механику того, что обычно описывают словом «автоматизационное искажение»: при ложной подсказке взгляд радиолога на самом поражении задерживается реже, и это измерено в движении глаз, а не в опросе после просмотра.</a:t>
            </a:r>
          </a:p>
          <a:p>
            <a:r>
              <a:t/>
            </a:r>
          </a:p>
          <a:p>
            <a:r>
              <a:t>Второй разбор, «Одна подсказка с двумя знаками», показывает то же устройство эффекта на уровне решения, а не взгляда: одна и та же подсказка модели по срезу в патологии поднимает шансы верного ответа вчетверо, когда модель права, и роняет вчетверо, когда неправа. Знак эффекта зависит не от модели вообще, а от конкретного случая.</a:t>
            </a:r>
          </a:p>
          <a:p>
            <a:r>
              <a:t/>
            </a:r>
          </a:p>
          <a:p>
            <a:r>
              <a:t>Третий разбор, «Измеренная тройка», ставит рядом три числа на одних и тех же случаях: модель в одиночку, врач в одиночку, врач с моделью. Разрыв между третьим и первым — то, ради чего часто покупают систему; разрыв между третьим и вторым — то, что она реально даёт.</a:t>
            </a:r>
          </a:p>
          <a:p>
            <a:r>
              <a:t/>
            </a:r>
          </a:p>
          <a:p>
            <a:r>
              <a:t>Четвёртый разбор, «Контрольная линия», — единственный в разделе случай предрегистрированного скринингового испытания с реальным объёмом: объём человеческого чтения падает почти наполовину, и это измерено, а не оценено.</a:t>
            </a:r>
          </a:p>
          <a:p>
            <a:r>
              <a:t/>
            </a:r>
          </a:p>
          <a:p>
            <a:r>
              <a:t>Раздел держит одну методическую линию: пара «человек плюс модель» не равна ни человеку, ни модели в отдельности, и какая сторона в итоге перевешивает, нельзя сказать заранее, не замерив — обычно замеряют что угодно, кроме этого.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сих пор лекция разбирала разовое решение: прочитать снимок, поставить диагноз, назначить лечение. Наблюдение — работа другого устройства. Предмет тот же человек, но решение не принимается один раз, а повторяется каждые несколько часов, и ошибка здесь не однократная, а накапливающаяся: пропущенное ухудшение не остаётся пропущенным навсегда, оно просто замечено не вовремя.</a:t>
            </a:r>
          </a:p>
          <a:p>
            <a:r>
              <a:t/>
            </a:r>
          </a:p>
          <a:p>
            <a:r>
              <a:t>Классический вид этой работы держится тремя вещами: расписанием измерений, балльной шкалой, которая переводит несколько показателей в одно число, и порогом, на котором дежурная смена обязана вызвать старшего. Все три — документ, а не прибор: баллы назначила согласительная комиссия, порог опубликован, и любой может посмотреть, почему решение такое.</a:t>
            </a:r>
          </a:p>
          <a:p>
            <a:r>
              <a:t/>
            </a:r>
          </a:p>
          <a:p>
            <a:r>
              <a:t>Именно сюда и заходит модель: данные уже лежат в карте в машинном виде, снимать их отдельно не нужно. Вместо дежурной смены, которая раз в несколько часов складывает показатели в одно число, карта сама считает балл риска непрерывно и сама решает, когда прерывать работу тревогой.</a:t>
            </a:r>
          </a:p>
          <a:p>
            <a:r>
              <a:t/>
            </a:r>
          </a:p>
          <a:p>
            <a:r>
              <a:t>Раздел разбирает один случай — модель раннего предупреждения о сепсисе, встроенную в медицинскую карту, — и держит его на четырёх экранах: что заявлено и что измерила независимая проверка; чего стоит поток тревог и как это против шкалы, которую модель заменила; подтвердила ли это вторая, независимая проверка; и что это дало, чего потребовало и что было дальше. Один случай, разобранный подробно, — не три случая, разобранных бегло.</a:t>
            </a:r>
          </a:p>
          <a:p>
            <a:r>
              <a:t/>
            </a:r>
          </a:p>
          <a:p>
            <a:r>
              <a:t>Два экрана перед разбором ставят классику на место: как сегодня выглядит обход и запись в лист наблюдения, и как устроена шкала, которую десятилетиями читали руками. Без них разбор модели был бы сравнением с нулём, а не с работающим режимом, и именно эту ошибку курс ловит у других.</a:t>
            </a:r>
          </a:p>
          <a:p>
            <a:r>
              <a:t/>
            </a:r>
          </a:p>
          <a:p>
            <a:r>
              <a:t>Снимок рядом — сестринский пост с монитором показателей: место, где решение «звать врача сейчас или на следующем обходе» принималось и принимается до сих пор, с моделью или без неё.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Наблюдение искало ухудшение в цифрах; эта работа устроена иначе. Решение по ней принимает не прибор и не дежурная смена, а человек, который читает документ позже, иногда через месяцы, и не видел пациента лично. Качество записи для него — не стиль, а единственный канал, через который к нему попадает чужое решение.</a:t>
            </a:r>
          </a:p>
          <a:p>
            <a:r>
              <a:t/>
            </a:r>
          </a:p>
          <a:p>
            <a:r>
              <a:t>Классический вид этой работы — диктовка под шаблон или набор текста руками сразу после приёма, с подписью в конце. Модель входит в неё с двух сторон. Первая — запись самого приёма: инструмент слушает разговор и отдаёт черновик заметки, врач вычитывает и подписывает. Вторая — запись исхода госпитализации целиком: модель собирает выписной документ по истории болезни, врач снова вычитывает и подписывает, и дальше по этому документу назначают лечение в другом месте.</a:t>
            </a:r>
          </a:p>
          <a:p>
            <a:r>
              <a:t/>
            </a:r>
          </a:p>
          <a:p>
            <a:r>
              <a:t>Оба разбора держатся одной и той же формой. Классический режим посчитан отдельно от заявленного эффекта модели; измеренный эффект — рандомизированным испытанием или слепым сравнением, а не самоотчётом тех, кто сам выбрал инструмент; и у каждого названа пара — что стало возможно и чего это потребовало.</a:t>
            </a:r>
          </a:p>
          <a:p>
            <a:r>
              <a:t/>
            </a:r>
          </a:p>
          <a:p>
            <a:r>
              <a:t>Разбор записи приёма показывает, как заявленная экономия времени и измеренный результат — две разные величины, посчитанные в разных единицах. Разбор выписного эпикриза идёт дальше: счёт ошибок у модели и у человека сопоставим, но устройство ошибки другое — не опечатка, а правдоподобно звучащая подробность, которой не было в истории. Прежний навык вычитки «как после коллеги» на этот документ не переносится.</a:t>
            </a:r>
          </a:p>
          <a:p>
            <a:r>
              <a:t/>
            </a:r>
          </a:p>
          <a:p>
            <a:r>
              <a:t>Раздел заканчивается документом, а документ в медицине почти всегда стоит под чьей-то подписью. Это и есть мост к следующему разделу: чем вообще удерживают цену ошибки, если решение уже принято и записано.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Раздел, который открывает этот дивайдер, продолжает прямую линию от записи к подписи. Эпикриз из прошлого раздела — документ, у которого есть автор и подпись лечащего врача; то же самое верно для заключения по снимку, для плана лечения, для любого решения, в котором участвовала модель. Вопрос этого раздела простой и неудобный: что стоит за этой подписью, кроме самого акта подписания.</a:t>
            </a:r>
          </a:p>
          <a:p>
            <a:r>
              <a:t/>
            </a:r>
          </a:p>
          <a:p>
            <a:r>
              <a:t>Первый механизм — врачебная комиссия. Она не разбирает, пользовался ли врач алгоритмом; она разбирает, соответствовали ли его действия утверждённому порядку оказания помощи. Если соответствовали — ответственность не наступает, даже если исход оказался плохим. Модель в этой процедуре присутствует ровно в той мере, в какой её вывод попал в карту пациента и мог повлиять на решение.</a:t>
            </a:r>
          </a:p>
          <a:p>
            <a:r>
              <a:t/>
            </a:r>
          </a:p>
          <a:p>
            <a:r>
              <a:t>Второй механизм — норма, которая требует, чтобы человек оставался последним звеном: способным понять ограничения системы, не согласиться с её выводом и остановить её. Разбор «Норма есть, проверки нет» показывает, как редко эту способность проверяют на практике до того, как устройство допустят к продаже: систематический обзор поданной регулятору документации по радиологическим устройствам с ИИ нашёл тестирование с реальным участием врача у считаных процентов проверенных устройств — подавляющее большинство допущено без такой проверки вовсе.</a:t>
            </a:r>
          </a:p>
          <a:p>
            <a:r>
              <a:t/>
            </a:r>
          </a:p>
          <a:p>
            <a:r>
              <a:t>Третий механизм — то, что происходит, когда модель продолжает обучаться уже после допуска. Обзор «Модель, которая меняется после допуска» называет три инструмента регулятора: заранее утверждённый план будущих изменений модели, передачу данных о работе устройства регулятору и перенесённые сроки обязательной отчётности в европейском регламенте об ИИ. У этого обзора нет формы разбора в словаре курса, и это не недостаток материала: он описывает надзорный механизм, а не измеренное изменение работы, и сказать об этом прямо — часть самого раздела.</a:t>
            </a:r>
          </a:p>
          <a:p>
            <a:r>
              <a:t/>
            </a:r>
          </a:p>
          <a:p>
            <a:r>
              <a:t>Раздел заканчивается тем же, с чего начинается: удерживает не сама по себе подпись, а то, что стоит за ней — время прочитать вывод, способность с ним не согласиться и процедура, в которой это несогласие что-то меняет.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Химик-синтетик получает миллиграммы вещества. Тот же порошок через полгода едет в виварий на токсикологию. Ещё через год координатор исследования часами пишет наблюдения по одному здоровому добровольцу первой фазы. Три человека, три места, одно вещество, и между первым эпизодом и третьим проходит около двух лет. Этот раздел начинается с этой картины не случайно: дальше пойдут проценты и доли, и за каждым из них стоит такая же работа руками.</a:t>
            </a:r>
          </a:p>
          <a:p>
            <a:r>
              <a:t/>
            </a:r>
          </a:p>
          <a:p>
            <a:r>
              <a:t>Отраслевая база нужна раньше любого числа про модель: из программ, вошедших в первую фазу, лекарством становится меньше одной десятой, и отсев плотнее всего в середине пути — не в начале и не в конце, — при переходе из второй фазы в третью. Это и есть счёт классического режима, с которым сравнивается всё остальное.</a:t>
            </a:r>
          </a:p>
          <a:p>
            <a:r>
              <a:t/>
            </a:r>
          </a:p>
          <a:p>
            <a:r>
              <a:t>Три разбора вечера проверяют один и тот же вопрос на разном материале. Первый — молекула, спроектированная моделью целиком: доклинический этап у неё занял меньше года против нескольких лет отраслевой нормы, она вошла в клинику человека, а затем была снята на первой фазе — ускорение одного шага не ускорило и не гарантировало следующий. Второй — воронка молекул, в происхождении которых участвовала обученная модель: десятки активов вошли в клинику, часть дошла до второй фазы, а одобрений регулятора за всё время существования категории — ноль. Третий — компания, которая публично обещала доводить препараты до регистрации самостоятельно, нашла молекулу через граф биомедицинских связей и потеряла сотни рабочих мест, когда клиническое испытание не показало эффекта, который модель бизнеса обещала считать предрешённым.</a:t>
            </a:r>
          </a:p>
          <a:p>
            <a:r>
              <a:t/>
            </a:r>
          </a:p>
          <a:p>
            <a:r>
              <a:t>Отдельно в разделе стоит эпизод про предсказание структуры белка: ожидание, что экспериментальная структурная биология сожмётся после его появления, не подтвердилось числами депозитария — это оговорка против рекламы, и она держится не на мнении, а на статистике.</a:t>
            </a:r>
          </a:p>
          <a:p>
            <a:r>
              <a:t/>
            </a:r>
          </a:p>
          <a:p>
            <a:r>
              <a:t>Производство лекарственной формы на линии — отдельная тема курса, и в этот раздел она не входит. Важно удержать одну границу до первого разбора: это работа на масштабе отрасли, а не решение о конкретном человеке у койки, и переносить выводы одного масштаба на другой здесь запрещено так же, как и в остальных разделах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стоит после лекарства и перед сборкой не по случайности порядка, а потому что отвечает на вопрос, который все предыдущие разделы оставили открытым. Раздел про лекарство закончился выводом: узкое место лежит не на шаге, который ускорили, а на шаге, которого никто не трогал. Эта же мысль здесь поворачивается на человека: есть ещё один шаг, которого никто не трогал, — сам человек, который решает. Весь вечер измеряли отрасль: поток тревог, документ, воронку. Ни один из этих замеров не говорит, что происходит с тем, кто внутри этой работы остаётся решающим звеном.</a:t>
            </a:r>
          </a:p>
          <a:p>
            <a:r>
              <a:t/>
            </a:r>
          </a:p>
          <a:p>
            <a:r>
              <a:t>Раздел отличается от общего разговора о влиянии техники на людей тем, что в нём есть числа, снятые на реальной работе, а не домыслы о будущем или общие тревоги. Чисел мало, и именно поэтому они дорогие: единственное прямое измерение деквалификации на реальной, а не лабораторной работе случилось один раз, и повторения у него нет. Раздел называет это прямо, не прячет и не смягчает.</a:t>
            </a:r>
          </a:p>
          <a:p>
            <a:r>
              <a:t/>
            </a:r>
          </a:p>
          <a:p>
            <a:r>
              <a:t>Три предмета раздела идут по порядку. Сначала — доля обнаружения, измеренная у тех же врачей до появления помощника и после периода работы с ним: единственное прямое свидетельство того, что навык расходуется, если инструмент исключить из работы. Затем — кто теперь исполнитель: какие новые роли и шаги появились в процессе, когда часть решения стала доверяться модели. И наконец — то, чего про доверие не измерено вовсе: раздел не стесняется сказать, где у него нет данных, а есть только предположение.</a:t>
            </a:r>
          </a:p>
          <a:p>
            <a:r>
              <a:t/>
            </a:r>
          </a:p>
          <a:p>
            <a:r>
              <a:t>Это последний материал содержания вечера: дальше в деке — только свод. Поэтому раздел закрывает не тему, а саму ось лекции, и закрывает её тем же приёмом, которым лекция весь вечер читает чужие числа: называет, что измерено, а что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раздел не добавляет к вечеру ни одного нового случая и ни одного нового числа — кроме одного: счёта того, сколько раз за вечер выигрыш оказался приписан не обученной модели. Всё остальное здесь уже предъявлено, каждое со своей базой, и задача раздела — сложить предъявленное так, чтобы из суммы читалось то, чего не видно в отдельном случае.</a:t>
            </a:r>
          </a:p>
          <a:p>
            <a:r>
              <a:t/>
            </a:r>
          </a:p>
          <a:p>
            <a:r>
              <a:t>Складывается это по двум осям. Первая — словарь форм: девять способов, которыми работа меняет место, объём, руку, время, последствие и состояние руки. Словарь нужен затем, чтобы вместо образа «уехало вправо» на каждом случае стояла названная форма с числом; один образ описывает одну форму и врёт там, где работа не переехала, а удвоилась или исчезла. Две строки словаря стоят без числа, и это произносится вслух: за этот вечер ни одного подтверждённого случая, где шаг исчез бы совсем, не встретилось, а у формы, мерящей порядок работ, единственное её число ушло вместе со снятым материалом.</a:t>
            </a:r>
          </a:p>
          <a:p>
            <a:r>
              <a:t/>
            </a:r>
          </a:p>
          <a:p>
            <a:r>
              <a:t>Вторая ось — что стало с человеком, который эту работу делает: поведение, психология, процесс и подпись. Она отвечает на другой вопрос, чем первая: первая говорит, куда переехала работа, вторая — что произошло с тем, кто её делает.</a:t>
            </a:r>
          </a:p>
          <a:p>
            <a:r>
              <a:t/>
            </a:r>
          </a:p>
          <a:p>
            <a:r>
              <a:t>Между двумя осями стоят три кадра, каждый из которых предъявляет требование к самим себе. Счёт приписок отвечает на вопрос, сколько раз за вечер результат принадлежал не модели, а порогу, протоколу, новой роли или объёму — и отдельной графой на то, сколько раз число выросло по дороге от первоисточника к пересказу. Градация замера называет уровень, на котором измерен каждый разбор вечера, включая самые сильные, и честный вывод этого кадра неудобен: исхода пациента нет ни у одного разбора ядра. Сводная сетка показывает, что клетки «задача × модальность» узнаваемы по прошлой лекции, а процедуры, которыми в них удерживают цену ошибки, у каждой клетки свои — и одна строка в этой сетке остаётся пустой.</a:t>
            </a:r>
          </a:p>
          <a:p>
            <a:r>
              <a:t/>
            </a:r>
          </a:p>
          <a:p>
            <a:r>
              <a:t>Закрывается раздел поимённым ответом на вопрос, с которого вечер начался. Ответ не общий: четыре ступени, на каждой своё дело человека и своё измерение.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Закрытие устроено как сверка, а не как объявление. Фраза, которой открылся вечер, — что участие человека в медицинском решении обязательно не потому, что человек точнее, — за три кадра до конца перестаёт быть заявлением и становится ведомостью: у каждой из трёх её опор есть разбор, который её оплатил, и число, которым он это сделал. Это и есть разница между тезисом и утверждением: тезис произносят, утверждение предъявляют со счётом.</a:t>
            </a:r>
          </a:p>
          <a:p>
            <a:r>
              <a:t/>
            </a:r>
          </a:p>
          <a:p>
            <a:r>
              <a:t>Второй кадр закрытия отрабатывает долг перед прошлой лекцией. Та закончилась мыслью о необратимости, и зал её слышал. Вечер эту мысль подтвердил и внёс в неё поправку, которую стоит знать: отзыв существует, он посчитан, и значительная часть отзывов приходится на первый год работы изделия. А вот решения, принятые по этому изделию за тот год, не отзываются вместе с ним. Необратимы не изделия — необратимы решения, принятые по ним до отзыва. Формулировка «в медицине всё необратимо» шире замера; разрыв между обратимостью изделия и необратимостью решения измерен, и это сильнее исходной фразы.</a:t>
            </a:r>
          </a:p>
          <a:p>
            <a:r>
              <a:t/>
            </a:r>
          </a:p>
          <a:p>
            <a:r>
              <a:t>Там же отвечается вопрос, зачем медицина шла в курсе после машиностроения: та же работа с той же парой вопросов — что стоит ошибиться в обе стороны и кто за это отвечает, — только граница допустимого проведена в другом месте, и проведена она процедурой, а не чувством.</a:t>
            </a:r>
          </a:p>
          <a:p>
            <a:r>
              <a:t/>
            </a:r>
          </a:p>
          <a:p>
            <a:r>
              <a:t>Последний кадр — вопросы. Он существует отдельным кадром не ради оформления: на прошлой лекции слайда под вопросы не было ни одного, и вопросов не было тоже. Выходить было некуда, и закрытие затухло, вместо того чтобы сесть. Здесь есть куда выйти, и на кадре стоит один вопрос — не о материале лекции, а о собственном рабочем контуре слушателя, с тремя проверками рядом, чтобы отвечать было с чего начать.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строки под вопросом — это и есть то, что вечер оставляет в руках. Каждая из них проверяема на конкретной системе, и каждая уже была применена на разборе, а не придумана в конце.</a:t>
            </a:r>
          </a:p>
          <a:p>
            <a:r>
              <a:t/>
            </a:r>
          </a:p>
          <a:p>
            <a:r>
              <a:t>Первая проверка отделяет проверку от её видимости. Если единственное, по чему человек сверяет вывод модели, — это объяснение самой модели, то проверки нет: объяснение покупает согласие, а не качество, и это измерено. Упрощённое объяснение неверной рекомендации уронило точность выбора ниже той, которую тот же человек даёт без всякой модели. Независимый источник истины — это другой прибор, другой анализ, другой человек или сам предмет; самообъяснение в этот список не входит.</a:t>
            </a:r>
          </a:p>
          <a:p>
            <a:r>
              <a:t/>
            </a:r>
          </a:p>
          <a:p>
            <a:r>
              <a:t>Вторая проверка превращает слово «контроль» в величину. У любого контура, где человек подтверждает решение модели, есть две считаемые доли: как часто он возражает и как часто возражает правильно. Если ни одна из них не измерена — утверждение «человек проверяет» ничем не отличается от утверждения «человек подписывает». В разборах вечера это различие было видно дважды: там, где подсказка приходила раньше собственного вывода, человек возражал реже и хуже; там, где процедуру перестроили и человек смотрел только расхождения, возражение стало отдельной работой — и её объём оказалось возможно посчитать.</a:t>
            </a:r>
          </a:p>
          <a:p>
            <a:r>
              <a:t/>
            </a:r>
          </a:p>
          <a:p>
            <a:r>
              <a:t>Третья проверка — про физику, а не про старательность. У проверки есть длительность, и она сравнивается с объёмом, который надо прочитать, чтобы проверка состоялась. Измеренная медиана проверки подсказки — секунды; за это время подсказку нельзя прочесть, и то, что принято без проверки, правится потом заметно чаще. Отсюда вывод, который переносится на любую отрасль: требование «человек подтверждает» выполнимо только тогда, когда у подтверждения есть время в расписании. Если его нет, подпись стоит, а чтения нет, и переделывается это процедурой, а не внимательностью.</a:t>
            </a:r>
          </a:p>
          <a:p>
            <a:r>
              <a:t/>
            </a:r>
          </a:p>
          <a:p>
            <a:r>
              <a:t>Вопрос задан про собственный рабочий контур, а не про медицину: медицинского опыта он не требует, а автоматический элемент, решающий что-то за человека, есть сегодня почти в каждом рабочем контуре.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554480"/>
            <a:ext cx="11185855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0" i="0">
                <a:solidFill>
                  <a:srgbClr val="21295C"/>
                </a:solidFill>
                <a:latin typeface="Arial"/>
              </a:rPr>
              <a:t>AI в медицине и фармацевтике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</a:pPr>
            <a:r>
              <a:rPr sz="3400" b="0" i="0">
                <a:solidFill>
                  <a:srgbClr val="21295C"/>
                </a:solidFill>
                <a:latin typeface="Arial"/>
              </a:rPr>
              <a:t/>
            </a:r>
            <a:r>
              <a:rPr sz="3400" b="0" i="0">
                <a:solidFill>
                  <a:srgbClr val="21295C"/>
                </a:solidFill>
                <a:latin typeface="Arial"/>
              </a:rPr>
              <a:t>Лекция 7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</a:pPr>
            <a:r>
              <a:rPr sz="3400" b="0" i="0">
                <a:solidFill>
                  <a:srgbClr val="21295C"/>
                </a:solidFill>
                <a:latin typeface="Arial"/>
              </a:rPr>
              <a:t/>
            </a:r>
            <a:r>
              <a:rPr sz="1700" b="0" i="0">
                <a:solidFill>
                  <a:srgbClr val="21295C"/>
                </a:solidFill>
                <a:latin typeface="Arial"/>
              </a:rPr>
              <a:t>Цену ошибки в медицине удерживает процедура вокруг человека: двойное чтение, второе мнение, консилиум, информированное согласие.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</a:pPr>
            <a:r>
              <a:rPr sz="1700" b="0" i="0">
                <a:solidFill>
                  <a:srgbClr val="21295C"/>
                </a:solidFill>
                <a:latin typeface="Arial"/>
              </a:rPr>
              <a:t/>
            </a:r>
            <a:r>
              <a:rPr sz="1700" b="0" i="0">
                <a:solidFill>
                  <a:srgbClr val="21295C"/>
                </a:solidFill>
                <a:latin typeface="Arial"/>
              </a:rPr>
              <a:t>Эта лекция разбирает, что модель делает с этой процедурой — и с человеком внутри неё.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463040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Модель посмотрела на снимок первой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СКОРОСТЬ ОТВЕТА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три секунды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3344570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время работы модели; человеческого контрфакта у этой величины нет — врач за три секунды снимок не читает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ПРИВАТНОСТЬ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вычисление в браузере, снимок не уходит на сервер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ДОПУСК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044" y="169079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не требуется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Перетащенный рентген грудной клетки. Профиль вероятностей по восемнадцати патологиям. Тепловая карта поверх снимка — область, на которую модель смотрела.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три секунды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·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в браузере, снимок не уходит на сервер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·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допуска не требуется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Сама модель подписана: «не для диагностики».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1">
                <a:solidFill>
                  <a:srgbClr val="21295C"/>
                </a:solidFill>
                <a:latin typeface="Arial"/>
              </a:rPr>
              <a:t>Кто из вас когда-нибудь получал результат обследования раньше, чем врач успел его прочитать?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в чат: да / нет / не помню.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Cohen, Bertin, Frappier, 2019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mlmed.org/tools/xray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Удешевили чтение данных. Платят вниманием, навыком, подписью и арбитражем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ВНИМАНИЕ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2398699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смотрит после модели, а не до неё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0531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НАВЫК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7691" y="1690796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перестаёт делать сам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ПОДПИСЬ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303" y="1690796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подтверждает не читая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15755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АРБИТРАЖ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915" y="1690796"/>
            <a:ext cx="2398699" cy="927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 i="0">
                <a:solidFill>
                  <a:srgbClr val="F0AB00"/>
                </a:solidFill>
                <a:latin typeface="Arial"/>
              </a:rPr>
              <a:t>разбор расхождений дороже прежнего чтения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Удешевили чтение данных. Платят вниманием, навыком, подписью и арбитражем.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Внимание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человек смотрит после модели, а не до неё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Навык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перестаёт делать сам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Подпись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подтверждает не читая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Арбитраж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разбор расхождений дороже прежнего чтения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Удешевление одного шага перестраивает работу целиком, платят на другом шаге — линза предыдущих лекций, применённая здесь к человеку.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1179576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Модель одна против человека с моделью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289607"/>
          </a:xfrm>
          <a:prstGeom prst="roundRect">
            <a:avLst>
              <a:gd name="adj" fmla="val 2363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МОДЕЛЬ ОДНА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92 из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5236311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отдельный прогон модели по тем же задачам — наблюдательное дополнение, случайной ветвью он не был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289607"/>
          </a:xfrm>
          <a:prstGeom prst="roundRect">
            <a:avLst>
              <a:gd name="adj" fmla="val 23635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ЧЕЛОВЕК С МОДЕЛЬЮ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76 из 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303" y="2117795"/>
            <a:ext cx="5236311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50 практикующих врачей, из них 44 терапевта; те же случаи, та же шкала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4" y="2716071"/>
            <a:ext cx="11441887" cy="3520136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" y="2807511"/>
            <a:ext cx="11112703" cy="3428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Модель одна — 92 из 100.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(отдельный прогон, три повтора)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Человек с моделью — 76 из 100.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(50 практикующих врачей, одни и те же случаи)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Разрыв: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16 пунктов по медианам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и проверки значимости у этой пары в первоисточнике нет.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Инструмент, который сам по себе точнее, не поднял человека до себя.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Происхождение: рандомизированное исследование, 50 практикующих врачей, три состояния на одних и тех же случаях.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Единица: шкала диагностического рассуждения на клинических виньетках по реальным случаям — не исходы пациентов.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Урок: куплен потенциал, измеренного выигрыша нет.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Третье состояние — человек без модели — и чем этот разрыв посчитан: в разделе про чтение снимка.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Goh и соавторы, JAMA Network Open, октябрь 2024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Четыре ступени участия. И то же самое в вашей работе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Ступени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40" y="1335024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02536" y="1417320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Смотрит первым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202353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30953" y="1335024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3249" y="1417320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Смотрит вторым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713067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41667" y="1335024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23963" y="1417320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Смотрит только спорное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223781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452381" y="1335024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34677" y="1417320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Подписывает не глядя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1938528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Кто смотрит первым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2251382"/>
            <a:ext cx="11441887" cy="3984825"/>
          </a:xfrm>
          <a:prstGeom prst="roundRect">
            <a:avLst>
              <a:gd name="adj" fmla="val 764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2342822"/>
            <a:ext cx="11112703" cy="3893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Четыре ступени — кто смотрит первым.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Четвёртая ступень формально та же, что требует регулятор, и фактически его отсутствие.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Свидетельство, замера нет.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Нагрузка в разработке переехала с младших разработчиков на старших — младшие пишут с моделью, старшие не успевают проверять.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Это та же градация степеней участия, что дана в курсе ранее (человек в каждой точке решения · над контуром · вне контура), прочитанная по одному признаку — кто смотрит первым. Новой шкалы здесь нет.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Почему без человека нельзя: три опоры и три проверки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Участие человека в медицинском решении обязательно не потому, что человек точнее. Измерено, что часто он не точнее. Обязательно — потому что право подписи выдано ему, ошибается он иначе, чем модель, и отменить принятое решение нельзя.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Три опоры: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- Право подписи выдано человеку - Ошибается иначе, чем модель - Отменить нельзя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Три проверки: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- Есть ли независимый источник истины, кроме объяснения модели? - Измерено ли, что человек возражает — и что возражает верно? - Успевает ли он физически: секунды на решение против объёма, который надо прочитать?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Это заявка; каждую опору лекция посчитает, и в конце мы к ней вернёмся.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Партию можно отозвать. Решение о человеке — нельзя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1289304" cy="642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Путь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40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02536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Пришёл результат обследования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202353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30953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3249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Назначено лечение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713067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41667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23963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Проведена операция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223781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452381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34677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Человек живёт с последствиями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123955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Путь одного решения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2436809"/>
            <a:ext cx="11441887" cy="3799398"/>
          </a:xfrm>
          <a:prstGeom prst="roundRect">
            <a:avLst>
              <a:gd name="adj" fmla="val 802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2528249"/>
            <a:ext cx="11112703" cy="3707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Путь одного решения об одном человеке: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Пришёл результат обследования → назначено лечение → проведена операция → человек живёт с её последствиями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Ни один из этих шагов не отзывается: снимок можно перечитать, назначение можно отменить до того, как его выполнили, а проведённую операцию и потерянные месяцы — нельзя.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Партию можно отозвать. Решение о человеке отозвать нельзя.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В медицине прибором, которым узнают об ошибке модели, становится человек.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Где медицина стоит в сетке курса — и чем эти клетки заняты сегодня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40" b="1" i="0">
                <a:solidFill>
                  <a:srgbClr val="21295C"/>
                </a:solidFill>
                <a:latin typeface="Arial"/>
              </a:rPr>
              <a:t>Распознавание на изображении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чтение снимка. Режим: модель вторым читателем или триаж потока по риску (Transpara · Lunit INSIGHT MMG; в России — платформа лучевой диагностики, «Цельс», «Третье мнение», Care Mentor AI) и режим сортировки потока по приоритету (Aidoc). Растёт в скрининге и в сортировке потока. Не умеет заменить арбитраж: кто разбирает расхождение, назначает процедура.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Классификация на изображении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решение «направить или нет» на месте. Режим: автономное решение без врача (LumineticsCore, бывший IDx-DR · EyeArt). Допущено единицами, и только там, где вопрос бинарный. Не умеет отвечать за годность снимка.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Прогноз на структурированных данных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раннее предупреждение по данным карты. Режим: предупреждение внутри медицинской информационной системы, встроенное поставщиком (модель сепсиса у Epic; в России — Webiomed). Расходится вместе с системой, а не покупается отдельно. Не умеет назначить себе порог тревоги.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Поиск с генерацией на тексте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ответ по документам, сортировка обращения, запись приёма. Три режима: запись приёма под диктовку (Nuance DAX · Abridge · Nabla) принимается быстрее всех, потому что не ставит диагноз; ответ по документам со ссылкой на источник; сортировка обращения словами — после краха сервиса первой линии стагнирует. Не умеет отличать редкое от частого в открытом потоке.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0" i="0">
                <a:solidFill>
                  <a:srgbClr val="21295C"/>
                </a:solidFill>
                <a:latin typeface="Arial"/>
              </a:rPr>
              <a:t>Клетки те же, что в инженерии; отличается цена ошибки и устройство процедур, которые её удерживают.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0" i="0">
                <a:solidFill>
                  <a:srgbClr val="21295C"/>
                </a:solidFill>
                <a:latin typeface="Arial"/>
              </a:rPr>
              <a:t>Названо, чем делают, а не чья марка лучше: режим один, реализаций много, и разницу в результате делает устройство процедуры, а не бренд.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54141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Из чего состоит этот вечер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0. Вход 1. Отбор — кого вообще смотреть 2. Анализ данных — и группа, на которой он посчитан 3. Постановка диагноза — человек читает рядом с моделью 4. Наблюдение за состоянием — кто заметит ухудшение 5. Ведение записи — кто прочтёт её потом 6. Чем удерживают — подпись, процедура, норматив 7. Разработка лекарства — удешевили начало, где узкое место 8. Что стало с теми, кто решает — навык 9. Сборка 10. Закрытие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Вопросы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---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Производство лекарственной формы, устройство предсказания структуры белка и цифровые двойники закрываются другими лекциями.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Назначение и лечение — как разобрано в Лекции 5.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Оперативная помощь — такая работа есть, измеренного материала по ней у лекции нет.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Модель посмотрела первой. Что теперь делает человек — и кто это измерял?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Модель посмотрела первой. Что теперь делает человек — и кто это измерял?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Ответ собирается в сборке, поимённо.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79576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1. Отбор — кого вообще смотреть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Прежде чем кого-то лечить, кто-то решает, кого вообще посмотреть.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311240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Разборы по порядку: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Пример 1: чат-бот первой линии</a:t>
            </a:r>
            <a:r>
              <a:rPr sz="1550" b="0" i="0">
                <a:solidFill>
                  <a:srgbClr val="21295C"/>
                </a:solidFill>
                <a:latin typeface="Arial"/>
              </a:rPr>
              <a:t> ·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Глазное дно без офтальмолога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Женщине пришло письмо, и её снимок прочли двое, которые её не видели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Женщине пятидесяти четырёх лет: она ничего не чувствует — письмо пришло потому, что программа зовёт всех женщин этого возраста с назначенным интервалом. Снимок делает лаборант.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Снимок читают двое рентгенологов, которые её не видели и между собой не говорят. Если один сказал «есть», а другой «нет» — снимок уходит третьему.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Дальше либо письмо «норма», либо звонок «придите на дообследование».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Человек с жалобой идёт обратным путём — он пришёл сам, и его ведёт симптом.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Кто-то решает, кто попадёт к врачу сегодня, а кто — через две недели.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У кого в рабочем контуре стоит автоматический фильтр, который решает, что до вас вообще дойдёт, — и кто разбирает то, что он отфильтровал?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79576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публичная страница национальной программы скрининга с правилами приглашения}}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Пример 1: приглашение по возрасту и интервалу. Шведская программа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680031"/>
          </a:xfrm>
          <a:prstGeom prst="roundRect">
            <a:avLst>
              <a:gd name="adj" fmla="val 1814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ПРОПУСК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рак, найденный между приглашениями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08219"/>
            <a:ext cx="5236311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счёт этой цены стоит в контрольной линии раздела о чтении снимка и здесь не произносится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680031"/>
          </a:xfrm>
          <a:prstGeom prst="roundRect">
            <a:avLst>
              <a:gd name="adj" fmla="val 18142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ЛОЖНЫЙ ВЫЗОВ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2,0 из ста обследованных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303" y="2117795"/>
            <a:ext cx="5236311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контрольное плечо шведской программы: 52 872 женщины, двойное чтение без модели, наблюдение два года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4" y="3106495"/>
            <a:ext cx="11441887" cy="3129712"/>
          </a:xfrm>
          <a:prstGeom prst="roundRect">
            <a:avLst>
              <a:gd name="adj" fmla="val 97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" y="3197935"/>
            <a:ext cx="11112703" cy="3038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Режим: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звать всех по возрасту и интервалу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(шведская программа, контрольная группа).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Пропуск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рак, найденный между двумя приглашениями: программа его не поймала, поймал симптом. Счёт этой цены предъявляется в контрольной линии, где у него есть и вторая половина, и оговорка о значимости.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Ложный вызов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2,0 из ста обследованных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вызваны повторно: повторный снимок, иногда биопсия, недели ожидания. База: контрольное плечо шведской программы, 52 872 женщины, наблюдение два года.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Порог — это документ: возраст, с которого зовут, и интервал назначены раньше, чем кто-либо измерил точность какого-либо прибора.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А чем кончается «ждать жалобу» — следующий кадр.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845653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Рандомизированное исследование шведской программы скрининга, контрольная группа — промежуточные данные 2023, итоговые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А чем кончается «ждать жалобу»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289607"/>
          </a:xfrm>
          <a:prstGeom prst="roundRect">
            <a:avLst>
              <a:gd name="adj" fmla="val 2363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БЕЗ ПРИГЛАШЕНИЯ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57 из ста найденных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5236311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91 случай из 159 — стадия II и выше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289607"/>
          </a:xfrm>
          <a:prstGeom prst="roundRect">
            <a:avLst>
              <a:gd name="adj" fmla="val 23635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 ПРИГЛАШЕНИЕМ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39 из ста найденных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303" y="2117795"/>
            <a:ext cx="5236311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62 случая из 160; доля поздних стадий среди найденных не зависит от того, сколько нашли, — только от того, когда нашли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4" y="2716071"/>
            <a:ext cx="11441887" cy="3520136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" y="2807511"/>
            <a:ext cx="11112703" cy="3428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Режим: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ждать жалобу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человек приходит сам, когда почувствовал.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Стадия II и выше среди найденных случаев: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57 из ста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в группе без приглашения — против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39 из ста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в приглашённой. База: Мальмёское рандомизированное испытание, набор шёл с середины семидесятых по середину восьмидесятых.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Находка приходит позже и стадией крупнее — и это измерено, а не рассуждение.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Измерение того режима в единственный момент, когда его измеряли случайным распределением — пока скрининг вводили; сегодня его так не измерить.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Мальмёское рандомизированное испытание маммографического скрининга (набор 1976–1986)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Что здесь получилось, что не получилось, и что про это публикуют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11185855" cy="1289607"/>
          </a:xfrm>
          <a:prstGeom prst="roundRect">
            <a:avLst>
              <a:gd name="adj" fmla="val 23635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10911535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ГЕРМАНСКАЯ ПРОГРАММА — ВЫЯВЛЕНИЕ НА 1000 ОБСЛЕДОВАННЫХ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10911535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6,7 с поддержкой модели · 5,7 без неё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10911535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463 094 обследованные женщины, из них 260 739 с поддержкой модели; наблюдательное внедрение — применять модель каждый радиолог решал сам, поэтому направление подтверждено, а величина модели не приписывается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807511"/>
            <a:ext cx="5437479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2962959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Получилось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319138"/>
            <a:ext cx="5108295" cy="7502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• Объём человеческого чтения снимается без потери чувствительности</a:t>
            </a:r>
          </a:p>
          <a:p>
            <a:pPr algn="l">
              <a:lnSpc>
                <a:spcPct val="12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• Решение «направить или нет» на месте, где специалиста нет вовсе — измерено явкой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1295" y="2807511"/>
            <a:ext cx="5437479" cy="1417320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5887" y="2962959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Не получилось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5887" y="3319138"/>
            <a:ext cx="5108295" cy="7502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Открытый поток обращений: редкие диагнозы, дети, беременные, пожилые</a:t>
            </a:r>
          </a:p>
          <a:p>
            <a:pPr algn="l">
              <a:lnSpc>
                <a:spcPct val="12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Экзаменационная метрика как основание для допуска к потоку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4316271"/>
            <a:ext cx="11441887" cy="1919936"/>
          </a:xfrm>
          <a:prstGeom prst="roundRect">
            <a:avLst>
              <a:gd name="adj" fmla="val 158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4407711"/>
            <a:ext cx="11112703" cy="1828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Триаж по предсказанному риску снимает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44,3 процента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человеческого чтения при чувствительности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80,5 из ста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против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73,8 из ста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у двойного чтения без модели.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Базы разные: объём чтения — промежуточный анализ на 80 033 женщинах, чувствительность — итоговый на 105 934.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Второго независимого человека большинство обследованных больше не получает.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1" i="0">
                <a:solidFill>
                  <a:srgbClr val="21295C"/>
                </a:solidFill>
                <a:latin typeface="Arial"/>
              </a:rPr>
              <a:t>Охват публикуют, устройство работы — нет.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0">
                <a:solidFill>
                  <a:srgbClr val="21295C"/>
                </a:solidFill>
                <a:latin typeface="Arial"/>
              </a:rPr>
              <a:t>• Германская программа скрининга: как распределилась работа между моделью и вторым читателем, не опубликовано.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0">
                <a:solidFill>
                  <a:srgbClr val="21295C"/>
                </a:solidFill>
                <a:latin typeface="Arial"/>
              </a:rPr>
              <a:t>• Отечественная платформа лучевой диагностики: свыше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16 млн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исследований в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75 регионах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на срез конца июля 2026 года. Методика подсчёта не раскрыта; сколько всего лучевых исследований делается в стране за год, не опубликовано — доля охвата поэтому не считается.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871115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Шведская программа скрининга (упоминание)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германское исследование скрининга, 2025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материалы отечественной платформы лучевой диагностики (дата среза)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Пример 1: чат-бот первой линии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474446"/>
          </a:xfrm>
          <a:prstGeom prst="roundRect">
            <a:avLst>
              <a:gd name="adj" fmla="val 20672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НА ЭКЗАМЕНАЦИОННЫХ ВОПРОСАХ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81 у приложения · 72 у врачей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5236311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экзаменационные вопросы для начинающих врачей против среднего результата живых врачей на тех же вопросах; коллегия врачей общей практики публично назвала эти заявления сомнительными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474446"/>
          </a:xfrm>
          <a:prstGeom prst="roundRect">
            <a:avLst>
              <a:gd name="adj" fmla="val 2067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НЕЗАВИСИМЫЙ ТЕСТ ГОДОМ РАНЬШЕ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из трёх приложений — наименее точное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2900910"/>
            <a:ext cx="11441887" cy="3335297"/>
          </a:xfrm>
          <a:prstGeom prst="roundRect">
            <a:avLst>
              <a:gd name="adj" fmla="val 91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2992350"/>
            <a:ext cx="11112703" cy="32438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70" b="0" i="0">
                <a:solidFill>
                  <a:srgbClr val="21295C"/>
                </a:solidFill>
                <a:latin typeface="Arial"/>
              </a:rPr>
              <a:t>Цена обеих ошибок в сортировке обращений: пропустить того, кому нужно сейчас, и занять приём тем, кому не нужно — плюс цена самого канала.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70" b="0" i="0">
                <a:solidFill>
                  <a:srgbClr val="21295C"/>
                </a:solidFill>
                <a:latin typeface="Arial"/>
              </a:rPr>
              <a:t/>
            </a:r>
            <a:r>
              <a:rPr sz="1470" b="0" i="0">
                <a:solidFill>
                  <a:srgbClr val="21295C"/>
                </a:solidFill>
                <a:latin typeface="Arial"/>
              </a:rPr>
              <a:t>Что предъявили вместо модели: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70" b="0" i="0">
                <a:solidFill>
                  <a:srgbClr val="21295C"/>
                </a:solidFill>
                <a:latin typeface="Arial"/>
              </a:rPr>
              <a:t/>
            </a:r>
            <a:r>
              <a:rPr sz="1470" b="0" i="0">
                <a:solidFill>
                  <a:srgbClr val="21295C"/>
                </a:solidFill>
                <a:latin typeface="Arial"/>
              </a:rPr>
              <a:t>• На экзаменационных вопросах для начинающих врачей, июнь 2018 года: </a:t>
            </a:r>
            <a:r>
              <a:rPr sz="1470" b="1" i="0">
                <a:solidFill>
                  <a:srgbClr val="21295C"/>
                </a:solidFill>
                <a:latin typeface="Arial"/>
              </a:rPr>
              <a:t>81</a:t>
            </a:r>
            <a:r>
              <a:rPr sz="1470" b="0" i="0">
                <a:solidFill>
                  <a:srgbClr val="21295C"/>
                </a:solidFill>
                <a:latin typeface="Arial"/>
              </a:rPr>
              <a:t> у приложения против </a:t>
            </a:r>
            <a:r>
              <a:rPr sz="1470" b="1" i="0">
                <a:solidFill>
                  <a:srgbClr val="21295C"/>
                </a:solidFill>
                <a:latin typeface="Arial"/>
              </a:rPr>
              <a:t>72</a:t>
            </a:r>
            <a:r>
              <a:rPr sz="1470" b="0" i="0">
                <a:solidFill>
                  <a:srgbClr val="21295C"/>
                </a:solidFill>
                <a:latin typeface="Arial"/>
              </a:rPr>
              <a:t> — среднего результата живых врачей на тех же вопросах.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70" b="0" i="0">
                <a:solidFill>
                  <a:srgbClr val="21295C"/>
                </a:solidFill>
                <a:latin typeface="Arial"/>
              </a:rPr>
              <a:t/>
            </a:r>
            <a:r>
              <a:rPr sz="1470" b="0" i="0">
                <a:solidFill>
                  <a:srgbClr val="21295C"/>
                </a:solidFill>
                <a:latin typeface="Arial"/>
              </a:rPr>
              <a:t>• Независимый тест годом раньше: из трёх приложений это оказалось наименее точным.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70" b="0" i="0">
                <a:solidFill>
                  <a:srgbClr val="21295C"/>
                </a:solidFill>
                <a:latin typeface="Arial"/>
              </a:rPr>
              <a:t/>
            </a:r>
            <a:r>
              <a:rPr sz="1470" b="1" i="0">
                <a:solidFill>
                  <a:srgbClr val="21295C"/>
                </a:solidFill>
                <a:latin typeface="Arial"/>
              </a:rPr>
              <a:t>Уберите модель — и сервис продолжит работать.</a:t>
            </a:r>
            <a:r>
              <a:rPr sz="1470" b="0" i="0">
                <a:solidFill>
                  <a:srgbClr val="21295C"/>
                </a:solidFill>
                <a:latin typeface="Arial"/>
              </a:rPr>
              <a:t> По заявлению бывшего руководителя регуляторных вопросов компании, внутри было дерево решений если-то, собранное в таблице. </a:t>
            </a:r>
            <a:r>
              <a:rPr sz="1470" b="0" i="1">
                <a:solidFill>
                  <a:srgbClr val="21295C"/>
                </a:solidFill>
                <a:latin typeface="Arial"/>
              </a:rPr>
              <a:t>(по заявлению бывшего сотрудника, не аудит)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70" b="0" i="0">
                <a:solidFill>
                  <a:srgbClr val="21295C"/>
                </a:solidFill>
                <a:latin typeface="Arial"/>
              </a:rPr>
              <a:t/>
            </a:r>
            <a:r>
              <a:rPr sz="1470" b="0" i="0">
                <a:solidFill>
                  <a:srgbClr val="21295C"/>
                </a:solidFill>
                <a:latin typeface="Arial"/>
              </a:rPr>
              <a:t>Чем это делают сегодня: </a:t>
            </a:r>
            <a:r>
              <a:rPr sz="1470" b="0" i="1">
                <a:solidFill>
                  <a:srgbClr val="21295C"/>
                </a:solidFill>
                <a:latin typeface="Arial"/>
              </a:rPr>
              <a:t>поиск с генерацией на тексте</a:t>
            </a:r>
            <a:r>
              <a:rPr sz="1470" b="0" i="0">
                <a:solidFill>
                  <a:srgbClr val="21295C"/>
                </a:solidFill>
                <a:latin typeface="Arial"/>
              </a:rPr>
              <a:t> — запись приёма под диктовку принимается, сортировка обращения после этого случая — нет. Не умеет отличать редкое от частого в открытом потоке.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80" b="0" i="0">
                <a:solidFill>
                  <a:srgbClr val="21295C"/>
                </a:solidFill>
                <a:latin typeface="Arial"/>
              </a:rPr>
              <a:t/>
            </a:r>
            <a:r>
              <a:rPr sz="1180" b="0" i="1">
                <a:solidFill>
                  <a:srgbClr val="1C7293"/>
                </a:solidFill>
                <a:latin typeface="Arial"/>
              </a:rPr>
              <a:t>Сколько это стоило — следующий кадр.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Независимый сравнительный тест, 2017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публичное заявление коллегии врачей общей практики, 2018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Фиксированная сумма, делённая на выросшее число обращений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2049707"/>
          </a:xfrm>
          <a:prstGeom prst="roundRect">
            <a:avLst>
              <a:gd name="adj" fmla="val 1487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СКОЛЬКО ПЛАТЯТ ПРАКТИКЕ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2398699" cy="7325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50" b="1" i="0">
                <a:solidFill>
                  <a:srgbClr val="21295C"/>
                </a:solidFill>
                <a:latin typeface="Arial"/>
              </a:rPr>
              <a:t>около 155 фунтов за человека в год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344"/>
            <a:ext cx="2398699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средняя выплата национальной службы, 2018/19; от числа обращений не зависит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2049707"/>
          </a:xfrm>
          <a:prstGeom prst="roundRect">
            <a:avLst>
              <a:gd name="adj" fmla="val 1487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ОБРАЩАЮТСЯ КЛАССИЧЕСКИ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690796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4,0 раза в год у 25–44 лет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7691" y="2508219"/>
            <a:ext cx="2398699" cy="739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и 3,26 раза в год у 15–24 лет — национальная работа 2016 года; эти возраста и составляли список сервиса почти целиком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1335024"/>
            <a:ext cx="2673019" cy="2049707"/>
          </a:xfrm>
          <a:prstGeom prst="roundRect">
            <a:avLst>
              <a:gd name="adj" fmla="val 1487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ОБРАЩАЮТСЯ В СЕРВИСЕ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5303" y="1690796"/>
            <a:ext cx="2398699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4,3 раза в год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5303" y="2117795"/>
            <a:ext cx="2398699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оценка итогового независимого отчёта по двенадцати месяцам данных, с экстраполяцией — отчёт это и пишет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15755" y="1335024"/>
            <a:ext cx="2673019" cy="2049707"/>
          </a:xfrm>
          <a:prstGeom prst="roundRect">
            <a:avLst>
              <a:gd name="adj" fmla="val 1487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ИТОГ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2915" y="1690796"/>
            <a:ext cx="2398699" cy="4609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0AB00"/>
                </a:solidFill>
                <a:latin typeface="Arial"/>
              </a:rPr>
              <a:t>оценка 4,2 млрд долларов → активы за 500 тысяч фунтов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2915" y="2151745"/>
            <a:ext cx="2398699" cy="92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две разные валюты: оценка на выходе через слияние — в долларах, продажа активов — в фунтах; в части сообщений та же сумма названа как 620 тысяч долларов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4904" y="3476171"/>
            <a:ext cx="11441887" cy="2760036"/>
          </a:xfrm>
          <a:prstGeom prst="roundRect">
            <a:avLst>
              <a:gd name="adj" fmla="val 1104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" y="3567611"/>
            <a:ext cx="11112703" cy="26685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40" b="0" i="0">
                <a:solidFill>
                  <a:srgbClr val="21295C"/>
                </a:solidFill>
                <a:latin typeface="Arial"/>
              </a:rPr>
              <a:t>Практика получает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около 155 фунтов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на зарегистрированного человека в год — сумма не зависит от числа обращений.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0" i="0">
                <a:solidFill>
                  <a:srgbClr val="21295C"/>
                </a:solidFill>
                <a:latin typeface="Arial"/>
              </a:rPr>
              <a:t>Классически обращаются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4,0 раза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в год у 25–44-летних и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3,26 раза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у 15–24-летних — тех возрастов, из которых сервис почти целиком состоял.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0" i="0">
                <a:solidFill>
                  <a:srgbClr val="21295C"/>
                </a:solidFill>
                <a:latin typeface="Arial"/>
              </a:rPr>
              <a:t>В сервисе обращений стало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4,3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на человека в год при той же подушевой сумме.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Нагрузка переехала на другой шаг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с сортировки на приём, и платить за это стало некому.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дало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сортировка круглосуточно и мгновенно, порог обращения ниже ·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потребовало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экономика на каждом пациенте в минус, задокументированный случай нераспознанных симптомов ·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в сумме хуже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оценка на выходе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4,2 млрд долларов</a:t>
            </a:r>
            <a:r>
              <a:rPr sz="1440" b="0" i="0">
                <a:solidFill>
                  <a:srgbClr val="21295C"/>
                </a:solidFill>
                <a:latin typeface="Arial"/>
              </a:rPr>
              <a:t>, банкротство в августе 2023 года, активы проданы за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500 тысяч фунтов</a:t>
            </a:r>
            <a:r>
              <a:rPr sz="144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0" i="0">
                <a:solidFill>
                  <a:srgbClr val="21295C"/>
                </a:solidFill>
                <a:latin typeface="Arial"/>
              </a:rPr>
              <a:t>Удешевление входа перестраивает экономику системы раньше, чем кто-нибудь успевает проверить качество.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Итоговый независимый отчёт об оценке сервиса, 2019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статистика выплат национальной службы, 2018/19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материалы о банкротстве, 2023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Глазное дно без офтальмолога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474446"/>
          </a:xfrm>
          <a:prstGeom prst="roundRect">
            <a:avLst>
              <a:gd name="adj" fmla="val 2067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ЯВКА: ДОХОДЯТ ДО СПЕЦИАЛИСТА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22 из ста направленных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5236311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рандомизированное испытание, подростки 8–21 года с диабетом, 81 человек против 83, один прибор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474446"/>
          </a:xfrm>
          <a:prstGeom prst="roundRect">
            <a:avLst>
              <a:gd name="adj" fmla="val 20672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ЯВКА: ДОХОДЯТ ДО ТЕСТА НА МЕСТЕ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100 из ста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303" y="2117795"/>
            <a:ext cx="5236311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та же выборка того же испытания; выигрыш здесь измерен явкой, а чувствительность прибора в разборе не произносится — распространённости поражения в этих выборках в источниках нет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47214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Без модели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20240" y="2992350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02536" y="3074646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Направление к офтальмологу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039258" y="3152370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67858" y="2992350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50154" y="3074646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Ожидание визита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86876" y="3152370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15476" y="2992350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7772" y="3074646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Чтение специалистом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650718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С моделью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359585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02536" y="367815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Снимок у медсестры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039258" y="375587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267858" y="359585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50154" y="367815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Автономное чтение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386876" y="375587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615476" y="359585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97772" y="367815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Решение на месте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199358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Путь от снимка до решения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4904" y="4512212"/>
            <a:ext cx="11441887" cy="1723995"/>
          </a:xfrm>
          <a:prstGeom prst="roundRect">
            <a:avLst>
              <a:gd name="adj" fmla="val 176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9496" y="4603652"/>
            <a:ext cx="11112703" cy="16325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10" b="0" i="0">
                <a:solidFill>
                  <a:srgbClr val="21295C"/>
                </a:solidFill>
                <a:latin typeface="Arial"/>
              </a:rPr>
              <a:t>Выигрыш здесь измерен явкой, а не точностью.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1" i="0">
                <a:solidFill>
                  <a:srgbClr val="21295C"/>
                </a:solidFill>
                <a:latin typeface="Arial"/>
              </a:rPr>
              <a:t>Классический режим.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Раз в год человек с диабетом идёт к специалисту-офтальмологу; до теста реально доходят </a:t>
            </a:r>
            <a:r>
              <a:rPr sz="1410" b="1" i="0">
                <a:solidFill>
                  <a:srgbClr val="21295C"/>
                </a:solidFill>
                <a:latin typeface="Arial"/>
              </a:rPr>
              <a:t>22 из ста</a:t>
            </a:r>
            <a:r>
              <a:rPr sz="141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1" i="0">
                <a:solidFill>
                  <a:srgbClr val="21295C"/>
                </a:solidFill>
                <a:latin typeface="Arial"/>
              </a:rPr>
              <a:t>Модель.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Снимок делает медсестра в первичном звене, решение «направить или нет» принимается на месте меньше чем за минуту; до теста доходят </a:t>
            </a:r>
            <a:r>
              <a:rPr sz="1410" b="1" i="0">
                <a:solidFill>
                  <a:srgbClr val="21295C"/>
                </a:solidFill>
                <a:latin typeface="Arial"/>
              </a:rPr>
              <a:t>100 из ста</a:t>
            </a:r>
            <a:r>
              <a:rPr sz="1410" b="0" i="0">
                <a:solidFill>
                  <a:srgbClr val="21295C"/>
                </a:solidFill>
                <a:latin typeface="Arial"/>
              </a:rPr>
              <a:t>. И второй шаг того же пути посчитан внутри того же испытания: из 25 человек, у кого результат оказался отклонением, до офтальмолога дошли 16 — </a:t>
            </a:r>
            <a:r>
              <a:rPr sz="1410" b="1" i="0">
                <a:solidFill>
                  <a:srgbClr val="21295C"/>
                </a:solidFill>
                <a:latin typeface="Arial"/>
              </a:rPr>
              <a:t>64 из ста против 22 в контроле</a:t>
            </a:r>
            <a:r>
              <a:rPr sz="141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программа автономного скрининга диабетической ретинопатии — уточняется при сведении главы}}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Глазное дно без офтальмолога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ДАЛО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Доступ на месте, без визита к специалисту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ПОТРЕБОВАЛО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3562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Годный снимок — новый шаг, которого не было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СУММЕ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044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Выигрыш в доступе ценой нового отказного потока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Сменился исполнитель: решение целиком перешло к допущенному регулятором устройству. Появился шаг — обеспечить годность снимка.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Отдельно, другой прибор и взрослые пациенты: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негодны по качеству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5 снимков из ста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на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101 710 визитов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в 404 клиниках;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75,7 процента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потока специалист не видит вовсе. С явкой 22 против 100 эти числа в одну бухгалтерию не складываются: другая программа, другой прибор, другая возрастная группа.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вторая публикация о полевом развёртывании автономного чтения глазного дна, взрослые пациенты — уточняется при сведении главы}}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Что здесь переехало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польза: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этом шаге модель решает, кого вообще посмотрят — выигрыш, где он измерен, лежит в доступе, а не в точности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границы: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в открытом потоке обращений и при отборе в программу повышенного внимания ни один полный разбор выигрыша не подтвердил; охват публикуют, устройство работы — нет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риск: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удешевление входа перестраивает экономику системы раньше, чем кто-нибудь успевает проверить качество, а критерий отбора способен тихо сместить, кого вообще видят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нагрузка дальше: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поток, отобранный моделью, приходит в следующий раздел уже смещённым — то, что она назвала нормой, человек не увидит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Нагрузка переехала на другой шаг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(чат-бот первой линии) ·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сменился исполнитель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и производной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шаг появился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(глазное дно без офтальмолога)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Чем эти клетки заняты сегодня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Поиск с генерацией на тексте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(разбор: чат-бот первой линии) — режим «сортировка обращения словами»: после этого случая стагнирует; рядом — «запись приёма под диктовку» (принимается быстрее всех, потому что не ставит диагноз) и «ответ по документам со ссылкой на источник». Не умеет отличать редкое от частого в открытом потоке.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Прогноз на структурированных данных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(разбор: отбор по предсказанным расходам) — режим «критерий отбора в программу повышенного внимания по прогнозу будущих расходов». Не умеет отличить «дорого лечится» от «болен», если целевой переменной взяты расходы.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Распознавание на изображении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(упоминание — подробно в разделе про чтение снимка) — режим «модель вторым читателем или триаж потока по риску» (Transpara · Lunit INSIGHT MMG; в России — платформа лучевой диагностики, «Цельс», «Третье мнение», Care Mentor AI). Растёт в скрининге. Не умеет заменить арбитраж: кто разбирает расхождение, назначает процедура.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На этом шаге занято три клетки из тридцати с лишним, и ни одна не про лечение — модель решает, кого посмотрят, а не что с ним делать.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Названо, чем делают, а не чья марка лучше — режим один, реализаций много, и разницу в результате делает устройство процедуры, а не бренд.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2. Анализ данных — и группа, на которой он посчитан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942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Решение о человеке принимает система, а не человек — и решение это построено на том, что про человека измерили. У каждого измерения есть группа, на которой оно посчитано: доля, посчитанная на одних людях, на других означает не то же самое.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915422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3 подробных разбора · 2 упоминания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382105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Разборы по порядку: 1. Техник флюорографии и годность снимка · 2. Глазное дно без офтальмолога · 3. Кожа и состав набора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4150878"/>
            <a:ext cx="11185855" cy="215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Рабочее место, где снимают данные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50" b="1" i="0">
                <a:solidFill>
                  <a:srgbClr val="21295C"/>
                </a:solidFill>
                <a:latin typeface="Arial"/>
              </a:rPr>
              <a:t>Чувствительность и специфичность: две доли без рабочей точки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ЧУВСТВИТЕЛЬНОСТЬ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{{нет в главе: число для доли «назвала больными»}}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СПЕЦИФИЧНОСТЬ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{{нет в главе: число для доли «не стала пугать»}}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Из всех, у кого болезнь есть, — какую долю система назвала больными. Из всех, у кого болезни нет, — какую долю она не стала пугать.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Обе доли считаются по группе, которую собрал исследователь.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Упоминание: систематический обзор работ по машинному обучению на данных ковидной пневмонии отобрал из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2 212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публикаций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62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для анализа — и не нашёл среди них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ни одной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пригодной для клинического применения. Это вывод о качестве исследовательских работ; про внедрённые системы он не говорит ничего.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79603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систематический обзор диагностических моделей — уточняется при сведении главы}}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Одна система, две группы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2234545"/>
          </a:xfrm>
          <a:prstGeom prst="roundRect">
            <a:avLst>
              <a:gd name="adj" fmla="val 1364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ЛОВИТ БОЛЬНЫХ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94 из ста больных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08219"/>
            <a:ext cx="2398699" cy="92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опубликованная рабочая точка модели чтения рентгена, взятая иллюстрацией методики; характеристикой изделия она не служит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2234545"/>
          </a:xfrm>
          <a:prstGeom prst="roundRect">
            <a:avLst>
              <a:gd name="adj" fmla="val 1364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НАПРАСНО ПУГАЕТ ЗДОРОВЫХ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690796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11 из ста здоровых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7691" y="2508219"/>
            <a:ext cx="2398699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та же рабочая точка той же системы; обе доли меняются только вместе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1335024"/>
            <a:ext cx="2673019" cy="2234545"/>
          </a:xfrm>
          <a:prstGeom prst="roundRect">
            <a:avLst>
              <a:gd name="adj" fmla="val 1364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ГРУППА 1 — ПОГОЛОВНЫЙ ПОТОК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5303" y="1690796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100 больных на 10 000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5303" y="2508219"/>
            <a:ext cx="2398699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один человек из ста — распространённость назначил тот, кто решил, кого звать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15755" y="1335024"/>
            <a:ext cx="2673019" cy="2234545"/>
          </a:xfrm>
          <a:prstGeom prst="roundRect">
            <a:avLst>
              <a:gd name="adj" fmla="val 1364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52915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ГРУППА 2 — ПРОФИЛЬНОЕ ОТДЕЛЕНИЕ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2915" y="1863689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3 000 больных на 10 000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2915" y="2681111"/>
            <a:ext cx="2398699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тридцать из ста — сюда людей уже отобрал кто-то по жалобе или направлению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4904" y="3661009"/>
            <a:ext cx="11441887" cy="2575198"/>
          </a:xfrm>
          <a:prstGeom prst="roundRect">
            <a:avLst>
              <a:gd name="adj" fmla="val 118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" y="3752449"/>
            <a:ext cx="11112703" cy="24837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Одна и та же система, с одними и теми же долями чувствительности и специфичности, работает на двух группах: десять тысяч здоровых подряд и десять тысяч в профильном отделении, где больных заметно больше.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Вопрос, который остаётся без ответа до следующего кадра: что это меняет в том, скольким из тревог стоит верить?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несущая выкладка «одна система, две группы» — уточняется при сведении главы}}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Верные тревоги в двух группах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289607"/>
          </a:xfrm>
          <a:prstGeom prst="roundRect">
            <a:avLst>
              <a:gd name="adj" fmla="val 2363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ВЕРНАЯ ТРЕВОГА — ПОГОЛОВНЫЙ СКРИНИНГ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8 из ста тревог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5236311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94 верные тревоги на 1 183 поднятые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289607"/>
          </a:xfrm>
          <a:prstGeom prst="roundRect">
            <a:avLst>
              <a:gd name="adj" fmla="val 23635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ВЕРНАЯ ТРЕВОГА — ПРОФИЛЬНОЕ ОТДЕЛЕНИЕ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79 из ста тревог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303" y="2117795"/>
            <a:ext cx="5236311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2 820 верных на 3 590 поднятых; система одна, доли её одни и те же — различается только доля больных в группе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4" y="2716071"/>
            <a:ext cx="11441887" cy="3520136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" y="2807511"/>
            <a:ext cx="11112703" cy="3428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Та же схема с проявленным результатом: доля тревог, которые оказались верными, различается почти на порядок между поголовным скринингом и профильным отделением — при одних и тех же долях системы.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Правило, которое раздел выдаёт лекции: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заявленная точность без названной группы и распространённости болезни на слайд не идёт.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та же несущая выкладка, проявленный результат — уточняется при сведении главы}}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Техник флюорографии и годность снимка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Без модели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40" y="133502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02536" y="141732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Снять пациента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039258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267858" y="133502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50154" y="141732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Посмотреть на экран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386876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15476" y="133502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7772" y="141732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Решить: годится или переснять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938528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Решение техника о годности снимка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2251382"/>
            <a:ext cx="11441887" cy="3984825"/>
          </a:xfrm>
          <a:prstGeom prst="roundRect">
            <a:avLst>
              <a:gd name="adj" fmla="val 764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2342822"/>
            <a:ext cx="11112703" cy="3893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Техник флюорографии районной поликлиники ставит пациента, снимает, смотрит на экран и решает — годится снимок или нужно переснять.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По какому правилу он решает.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Опыт и видимое качество кадра, не формальный норматив.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Что бывает, если негодный снимок уйдёт на чтение.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Диагноз ставят по тому, что видно, не по тому, что было на самом деле.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Кто это заметит, если не он.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Чаще всего — никто, пока не понадобится пересмотр.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Пригодность измерения решает не прибор.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описание рабочего места техника флюорографии — уточняется при сведении главы}}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Что работает и что не работает: анализ данных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получается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Постоянство — не устаёт и не отвлекается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Поток — держит объём, который человек не удержит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Воспроизводимость — один и тот же вход даёт один и тот же результат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51295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5887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не получается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Качество входа — зависит от прибора и условий съёмки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Перенос долей между больницами — доля верна там, где посчитана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Смещение самого измерительного прибора — модель наследует его молча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4535424"/>
            <a:ext cx="11441887" cy="1700784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4626864"/>
            <a:ext cx="11112703" cy="160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Пример смещения на входе: прибор насыщения крови кислородом расходится с прямым анализом крови у пациентов с тёмной кожей в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11,7 процента измерений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88 случаев из 749; у светлокожих та же доля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3,6 процента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99 из 2 778. Доля считается по измерениям, не по пациентам, и обе взяты из одной названной когорты. Смещение одностороннее: показание прибора выше, то есть опасное снижение насыщения пропускается чаще, — и обученная модель, принимающая показания прибора на вход, этого смещения не видит вовсе.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сравнение пульсоксиметрии и анализа крови по тону кожи — уточняется при сведении главы}}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Техник флюорографии и годность снимка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КЛАССИЧЕСКИЙ РЕЖИМ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{{нет в главе: свой счёт классического режима для этого разбора}}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8143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СНИМОК ОТКЛОНЁН ПО КАЧЕСТВУ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5303" y="1690796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21 из ста снимков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2117795"/>
            <a:ext cx="5236311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393 снимка из 1 838 в одиннадцати клиниках за первые полгода развёртывания; причины — освещение в кабинете и медленная связь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Три шага формы: цена обеих ошибок считается в исходах и в визитах.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Классический режим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словами, без числа: раз в год человек с диабетом идёт на приём к офтальмологу.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Модель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автономное чтение двух снимков глазного дна на месте, и в поле по качеству отклонён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21 снимок из ста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: 393 из 1 838 за первые полгода в одиннадцати клиниках. Это доля негодных снимков, а не явка: явку мерил другой разбор и на другой выборке.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полевое развёртывание автономного чтения глазного дна, 11 клиник, первые полгода — уточняется при сведении главы}}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Техник флюорографии и годность снимка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ДАЛО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Результат в кабинете первичного звена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ПОТРЕБОВАЛО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3562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Годный снимок в непроверенных условиях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СУММЕ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044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На старте хуже лабораторного замера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Нагрузка выросла на том же месте: у техника появилась работа добиться годного снимка. Появился шаг — повторный визит тем, чей снимок не прошёл.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дало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результат в кабинете первичного звена ·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потребовало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годного снимка в непроверенных условиях ·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в сумме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старте хуже лабораторного замера.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то же полевое развёртывание, продолжение — уточняется при сведении главы}}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Кожа и состав набора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864869"/>
          </a:xfrm>
          <a:prstGeom prst="roundRect">
            <a:avLst>
              <a:gd name="adj" fmla="val 16344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ОСМОТР НЕВООРУЖЁННЫМ ГЛАЗОМ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86 из ста больных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3344570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специфичность 77 из ста здоровых; оба режима взяты из одного метаанализа прямого сравнения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864869"/>
          </a:xfrm>
          <a:prstGeom prst="roundRect">
            <a:avLst>
              <a:gd name="adj" fmla="val 16344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ДЕРМОСКОПИЯ У ОБУЧЕННОГО СПЕЦИАЛИСТА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91 из ста больных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3562" y="2117795"/>
            <a:ext cx="3344570" cy="739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специфичность 74; обзор другой методологии даёт для осмотра другие числа и сводной оценки дермоскопии не даёт вовсе — две методологии рядом не ставятся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9884" y="1335024"/>
            <a:ext cx="3618890" cy="1864869"/>
          </a:xfrm>
          <a:prstGeom prst="roundRect">
            <a:avLst>
              <a:gd name="adj" fmla="val 16344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РАЗРЫВ ПО ТОНУ КОЖИ У МОДЕЛИ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044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9–15 пунктов площади под кривой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044" y="2508219"/>
            <a:ext cx="3344570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на самых тёмных тонах против самых светлых, у трёх моделей; это пункты площади под кривой, а не доля найденных больных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3291333"/>
            <a:ext cx="11441887" cy="2944874"/>
          </a:xfrm>
          <a:prstGeom prst="roundRect">
            <a:avLst>
              <a:gd name="adj" fmla="val 1035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3382773"/>
            <a:ext cx="11112703" cy="28534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Оба классических режима посчитаны одной методологией — одним метаанализом прямого сравнения осмотра и дермоскопии. Модель: на биопсийно подтверждённых изображениях три модели дают площадь под кривой на самых тёмных тонах кожи ниже, чем на самых светлых, — на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9–15 пунктов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База: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656 изображений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все с подтверждённой биопсией, из них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207 с тёмными тонами кожи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(светлых 208, средних 241). Знаменатель назван, и это не «несколько примеров».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Исправление измерено, и лечит его не алгоритм: дообучение на представительном наборе разрыв снимает и переворачивает, а три названных алгоритмических метода борьбы со смещением его значимо не уменьшили.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Разрыв по тону кожи измерен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у модели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и у классических методов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не измерен вовсе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сказать «модель хуже человека на этой подгруппе» не с чем.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сравнение площади под кривой на биопсийно подтверждённых изображениях по тону кожи — уточняется при сведении главы}}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Пример: отбор в программу повышенного внимания по прогнозу расходов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680031"/>
          </a:xfrm>
          <a:prstGeom prst="roundRect">
            <a:avLst>
              <a:gd name="adj" fmla="val 1814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ОТБОР РЕШЕНИЕМ ЛЕЧАЩЕГО ВРАЧА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19,2 из ста отобранных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08219"/>
            <a:ext cx="3344570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доля рассматриваемой группы пациентов среди фактически отобранных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680031"/>
          </a:xfrm>
          <a:prstGeom prst="roundRect">
            <a:avLst>
              <a:gd name="adj" fmla="val 1814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ОТБОР ОДНИМ БАЛЛОМ ПО ПРОГНОЗУ РАСХОДОВ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17,2 из ста отобранных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3562" y="2508219"/>
            <a:ext cx="3344570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та же доля при отборе по порогу балла; два близких числа различаются только ярлыком режима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9884" y="1335024"/>
            <a:ext cx="3618890" cy="1680031"/>
          </a:xfrm>
          <a:prstGeom prst="roundRect">
            <a:avLst>
              <a:gd name="adj" fmla="val 18142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ПРИ РАВНОМ БАЛЛЕ БОЛЕЗНЕЙ БОЛЬШЕ 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044" y="169079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26 процентов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044" y="2117795"/>
            <a:ext cx="3344570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у пациентов одной группы при одинаковом балле; целевой переменной взяты будущие расходы на лечение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3106495"/>
            <a:ext cx="11441887" cy="3129712"/>
          </a:xfrm>
          <a:prstGeom prst="roundRect">
            <a:avLst>
              <a:gd name="adj" fmla="val 97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3197935"/>
            <a:ext cx="11112703" cy="3038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10" b="1" i="0">
                <a:solidFill>
                  <a:srgbClr val="21295C"/>
                </a:solidFill>
                <a:latin typeface="Arial"/>
              </a:rPr>
              <a:t>Цена обеих ошибок.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Не попал в программу тот, кому она нужна, — болезнь развивается без присмотра. Попал тот, кому не нужна, — потрачено время и занято место в программе.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1" i="0">
                <a:solidFill>
                  <a:srgbClr val="21295C"/>
                </a:solidFill>
                <a:latin typeface="Arial"/>
              </a:rPr>
              <a:t>Оба классических режима посчитаны на одной выборке: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отбор решением лечащего врача и отбор одним баллом по прогнозу расходов.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1" i="0">
                <a:solidFill>
                  <a:srgbClr val="21295C"/>
                </a:solidFill>
                <a:latin typeface="Arial"/>
              </a:rPr>
              <a:t>Модель против них.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Один балл на каждого, отбор по порогу; целевой переменной взяты будущие расходы на лечение. При равном балле у пациентов одной группы болезней оказалось больше.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0" i="0">
                <a:solidFill>
                  <a:srgbClr val="21295C"/>
                </a:solidFill>
                <a:latin typeface="Arial"/>
              </a:rPr>
              <a:t>База: </a:t>
            </a:r>
            <a:r>
              <a:rPr sz="1410" b="1" i="0">
                <a:solidFill>
                  <a:srgbClr val="21295C"/>
                </a:solidFill>
                <a:latin typeface="Arial"/>
              </a:rPr>
              <a:t>49 618 пациентов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одной академической больницы, 100 009 пациенто-лет, 2013–2015 годы.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30" b="0" i="0">
                <a:solidFill>
                  <a:srgbClr val="21295C"/>
                </a:solidFill>
                <a:latin typeface="Arial"/>
              </a:rPr>
              <a:t/>
            </a:r>
            <a:r>
              <a:rPr sz="1130" b="0" i="1">
                <a:solidFill>
                  <a:srgbClr val="1C7293"/>
                </a:solidFill>
                <a:latin typeface="Arial"/>
              </a:rPr>
              <a:t>Ограничение второго режима: врач, отбиравший пациентов, уже видел балл — выше порога ему приходила подсказка. Отбора до модели в публикации нет.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0" i="0">
                <a:solidFill>
                  <a:srgbClr val="21295C"/>
                </a:solidFill>
                <a:latin typeface="Arial"/>
              </a:rPr>
              <a:t>Чем это делают сегодня: </a:t>
            </a:r>
            <a:r>
              <a:rPr sz="1410" b="0" i="1">
                <a:solidFill>
                  <a:srgbClr val="21295C"/>
                </a:solidFill>
                <a:latin typeface="Arial"/>
              </a:rPr>
              <a:t>прогноз на структурированных данных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— счёт риска на данных плательщика и на медицинской карте, стратификация населения. Принимает это закупка плательщика и администрации, не врача. Не умеет отличить «дорого лечится» от «болен», если целевой переменной взяты расходы.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1179576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Obermeyer и соавторы, Science, 2019 — отбор в программу повышенного внимания}}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То же: исправление посчитали и не применили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2938061"/>
          </a:xfrm>
          <a:prstGeom prst="roundRect">
            <a:avLst>
              <a:gd name="adj" fmla="val 11402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737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ДОЛЯ ГРУППЫ СРЕДИ ОТОБРАННЫХ: НАБЛЮДАЕМАЯ → ПРИ УБРАННОМ РАЗРЫВЕ В ЗДОРОВЬЕ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09474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17,7 → 46,5 из ста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26897"/>
            <a:ext cx="2398699" cy="1109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вторая половина — расчёт авторов на тех же данных, а не результат внедрения: авторы заменяют на границе более здорового пациента более больным, пока разрыв не исчезнет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2938061"/>
          </a:xfrm>
          <a:prstGeom prst="roundRect">
            <a:avLst>
              <a:gd name="adj" fmla="val 1140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ДАЛО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690796"/>
            <a:ext cx="2398699" cy="8768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последовательный отбор там, где ручной непоследователен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2938061"/>
          </a:xfrm>
          <a:prstGeom prst="roundRect">
            <a:avLst>
              <a:gd name="adj" fmla="val 1140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ПОТРЕБОВАЛО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690796"/>
            <a:ext cx="2398699" cy="8768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совпадения расходов с болезнью, которого нет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2938061"/>
          </a:xfrm>
          <a:prstGeom prst="roundRect">
            <a:avLst>
              <a:gd name="adj" fmla="val 1140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СУММЕ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1690796"/>
            <a:ext cx="2398699" cy="596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для одной группы хуже прежнего отбора, и исправление до сих пор только посчитано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4364525"/>
            <a:ext cx="11441887" cy="1871682"/>
          </a:xfrm>
          <a:prstGeom prst="roundRect">
            <a:avLst>
              <a:gd name="adj" fmla="val 1628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4455965"/>
            <a:ext cx="11112703" cy="17802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110" b="1" i="0">
                <a:solidFill>
                  <a:srgbClr val="21295C"/>
                </a:solidFill>
                <a:latin typeface="Arial"/>
              </a:rPr>
              <a:t>Исправление посчитано и не применено.</a:t>
            </a:r>
            <a:r>
              <a:rPr sz="1110" b="0" i="0">
                <a:solidFill>
                  <a:srgbClr val="21295C"/>
                </a:solidFill>
                <a:latin typeface="Arial"/>
              </a:rPr>
              <a:t> Если убрать разрыв в здоровье на границе отбора, доля этой группы среди отобранных поднялась бы — расчёт авторов на тех же данных, не результат внедрения.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10" b="0" i="0">
                <a:solidFill>
                  <a:srgbClr val="21295C"/>
                </a:solidFill>
                <a:latin typeface="Arial"/>
              </a:rPr>
              <a:t/>
            </a:r>
            <a:r>
              <a:rPr sz="1110" b="1" i="0">
                <a:solidFill>
                  <a:srgbClr val="21295C"/>
                </a:solidFill>
                <a:latin typeface="Arial"/>
              </a:rPr>
              <a:t>Что переехало.</a:t>
            </a:r>
            <a:r>
              <a:rPr sz="1110" b="0" i="0">
                <a:solidFill>
                  <a:srgbClr val="21295C"/>
                </a:solidFill>
                <a:latin typeface="Arial"/>
              </a:rPr>
              <a:t> Сменился исполнитель: отбор делал врач, стал делать балл. И сместилась цена ошибки — на группу, у которой при равном балле больше болезней.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10" b="0" i="0">
                <a:solidFill>
                  <a:srgbClr val="21295C"/>
                </a:solidFill>
                <a:latin typeface="Arial"/>
              </a:rPr>
              <a:t/>
            </a:r>
            <a:r>
              <a:rPr sz="1110" b="0" i="0">
                <a:solidFill>
                  <a:srgbClr val="21295C"/>
                </a:solidFill>
                <a:latin typeface="Arial"/>
              </a:rPr>
              <a:t>Модели этого класса применяются примерно к </a:t>
            </a:r>
            <a:r>
              <a:rPr sz="1110" b="1" i="0">
                <a:solidFill>
                  <a:srgbClr val="21295C"/>
                </a:solidFill>
                <a:latin typeface="Arial"/>
              </a:rPr>
              <a:t>200 миллионам</a:t>
            </a:r>
            <a:r>
              <a:rPr sz="1110" b="0" i="0">
                <a:solidFill>
                  <a:srgbClr val="21295C"/>
                </a:solidFill>
                <a:latin typeface="Arial"/>
              </a:rPr>
              <a:t> человек в год — </a:t>
            </a:r>
            <a:r>
              <a:rPr sz="1110" b="0" i="1">
                <a:solidFill>
                  <a:srgbClr val="21295C"/>
                </a:solidFill>
                <a:latin typeface="Arial"/>
              </a:rPr>
              <a:t>оценка отраслевого масштаба, не выборка измерения: сам перекос измерен на 49 618 пациентах одной больницы, и складывать одно с другим нельзя</a:t>
            </a:r>
            <a:r>
              <a:rPr sz="111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10" b="0" i="0">
                <a:solidFill>
                  <a:srgbClr val="21295C"/>
                </a:solidFill>
                <a:latin typeface="Arial"/>
              </a:rPr>
              <a:t/>
            </a:r>
            <a:r>
              <a:rPr sz="1110" b="0" i="0">
                <a:solidFill>
                  <a:srgbClr val="21295C"/>
                </a:solidFill>
                <a:latin typeface="Arial"/>
              </a:rPr>
              <a:t>Рядом, другим жанром: модели чтения рентгена при переносе на другой набор теряют чувствительность по отдельным патологиям, сохраняя высокую специфичность — </a:t>
            </a:r>
            <a:r>
              <a:rPr sz="1110" b="0" i="1">
                <a:solidFill>
                  <a:srgbClr val="21295C"/>
                </a:solidFill>
                <a:latin typeface="Arial"/>
              </a:rPr>
              <a:t>препринт</a:t>
            </a:r>
            <a:r>
              <a:rPr sz="1110" b="0" i="0">
                <a:solidFill>
                  <a:srgbClr val="21295C"/>
                </a:solidFill>
                <a:latin typeface="Arial"/>
              </a:rPr>
              <a:t>. Внутренняя проверка этого не видит: провал проявляется там, где его меньше всего проверяют.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та же публикация — Obermeyer и соавторы, Science, 2019}}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Карта стадии: анализ данных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Матрица «тип задачи × модальность». В каждой занятой клетке — режим и одно-два названия: автономное чтение глазного дна, детекция и триаж на рентгене и КТ, счёт риска внутри карты, автоматическая запись приёма.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Три разбора раздела отмечены отдельно. Клетка «измерение · сигнал прибора» помечена как не занятая обученной моделью.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Вывод: анализ данных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Польза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постоянство чтения и разгрузка потока.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Граница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доли посчитаны на группе, и вместе с группой меняется смысл выхода.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Риск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ошибиться можно в приборе на входе, в составе набора и в определении цели, не ошибившись в самой модели.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Дальше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результат измерения попадает к человеку, который примет решение.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0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21295C"/>
                </a:solidFill>
                <a:latin typeface="Arial"/>
              </a:rPr>
              <a:t>3. Постановка диагноза — человек читает рядом с моделью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5294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27268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Заключение по данным выносит человек. Читает он теперь не только снимок, но и подсказку модели рядом с ним.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293951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4 подробных разбора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760634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Разборы по порядку: 1. Замер взгляда радиолога · 2. Одна подсказка с двумя знаками · 3. Измеренная тройка · 4. Контрольная линия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529407"/>
            <a:ext cx="11185855" cy="215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Два врача у одного экрана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Как ставят диагноз: один случай и сужение списка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1289304" cy="642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Ход работы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40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02536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собрать данные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202353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30953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3249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выписать объясняющие болезни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713067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41667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23963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назначить различающее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223781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452381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34677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вычеркнуть опровергнутое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123955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Как список сужается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2436809"/>
            <a:ext cx="11441887" cy="3799398"/>
          </a:xfrm>
          <a:prstGeom prst="roundRect">
            <a:avLst>
              <a:gd name="adj" fmla="val 802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2528249"/>
            <a:ext cx="11112703" cy="3707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Женщина тридцати четырёх лет, три недели кашля, вечерами температура, потеряла четыре килограмма за полтора месяца — без диеты и без смены работы.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Что в списке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затяжной бронхит, туберкулёз, лимфома, аутоиммунное поражение лёгких.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Чем различают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снимок грудной клетки и анализ крови.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Что вычеркнули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бронхит: на снимке изменения в верхней доле. И аутоиммунное: анализ спокоен.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Что осталось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два, и между ними решает исследование мокроты, которое идёт три недели.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Решение не принимается, пока список не сузился. Ошибка здесь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не вписать в список то, что должно было там быть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Подсказка модели входит в самое начало — туда, где список только составляется.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Типовой случай, собранный по учебному материалу, не история конкретного пациента.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Второе мнение: независимость и арбитраж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1208505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ЧТО ЭТО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2398699" cy="698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второе заключение по тому же случаю, сделанное тем, кто не видел первого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0531" y="1335024"/>
            <a:ext cx="2673019" cy="1208505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ЗАЧЕМ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7691" y="1690796"/>
            <a:ext cx="2398699" cy="673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одиночное чтение пропускает, и пропуски двух читателей не совпадают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335024"/>
            <a:ext cx="2673019" cy="1208505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ЧТО ПРЕДПОЛАГАЕТ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303" y="1690796"/>
            <a:ext cx="2398699" cy="715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независимость: доступа к первому заключению второго читателя лишают, и за этим следит организация работы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15755" y="1335024"/>
            <a:ext cx="2673019" cy="120850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КАК РАЗБИРАЮТ РАЗНОГЛАСИЕ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915" y="1690796"/>
            <a:ext cx="2398699" cy="698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арбитраж третьим читателем — только там, где два первых не совпали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781273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Два чтения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20240" y="2726409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02536" y="2808705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первое чтение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039258" y="2886429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267858" y="2726409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50154" y="2808705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перегородка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386876" y="2886429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15476" y="2726409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7772" y="2808705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второе чтение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384777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Если не совпали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20240" y="3329913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02536" y="3412209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расхождение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039258" y="3489933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267858" y="3329913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50154" y="3412209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третий читатель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386876" y="3489933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615476" y="3329913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97772" y="3412209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решение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3933417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Устройство второго мнения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4904" y="4246271"/>
            <a:ext cx="11441887" cy="1989936"/>
          </a:xfrm>
          <a:prstGeom prst="roundRect">
            <a:avLst>
              <a:gd name="adj" fmla="val 1531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" y="4337711"/>
            <a:ext cx="11112703" cy="1898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Когда второе мнение даёт модель — а первое чтение она же и подсказала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два мнения перестают быть независимыми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и сложение работает иначе.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Рядом тем же устройством держится консилиум.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Кто из вас просил у модели второе мнение по решению, которое уже принял сам? И что вы сделали, когда она не согласилась?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На это устройство опирается ещё три раздела вечера.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Четыре ступени: что именно делает человек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1793197"/>
          </a:xfrm>
          <a:prstGeom prst="roundRect">
            <a:avLst>
              <a:gd name="adj" fmla="val 1699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СМОТРИТ ПЕРВЫМ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2398699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видит случай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0531" y="1335024"/>
            <a:ext cx="2673019" cy="1793197"/>
          </a:xfrm>
          <a:prstGeom prst="roundRect">
            <a:avLst>
              <a:gd name="adj" fmla="val 1699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СМОТРИТ ВТОРЫМ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7691" y="1690796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видит случай и готовый вывод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335024"/>
            <a:ext cx="2673019" cy="1793197"/>
          </a:xfrm>
          <a:prstGeom prst="roundRect">
            <a:avLst>
              <a:gd name="adj" fmla="val 1699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СМОТРИТ ТОЛЬКО СПОРНОЕ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303" y="1690796"/>
            <a:ext cx="2398699" cy="1105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видит выборку, которую отобрала модель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15755" y="1335024"/>
            <a:ext cx="2673019" cy="1793197"/>
          </a:xfrm>
          <a:prstGeom prst="roundRect">
            <a:avLst>
              <a:gd name="adj" fmla="val 16997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ПОДПИСЫВАЕТ НЕ ГЛЯДЯ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915" y="1690796"/>
            <a:ext cx="2398699" cy="3760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видит только текст: медиана проверки подсказки — 1,99 секунды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2066871"/>
            <a:ext cx="2398699" cy="92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время над подсказкой ДО решения её принять; вторая медиана той же работы — 6,48 секунды с поправкой на проверку после принятия, и путать их нельзя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3219661"/>
            <a:ext cx="11441887" cy="3016546"/>
          </a:xfrm>
          <a:prstGeom prst="roundRect">
            <a:avLst>
              <a:gd name="adj" fmla="val 1010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3311101"/>
            <a:ext cx="11112703" cy="2925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Четвёртая ступень — формально то же требование, фактически его отсутствие. Принятое без предварительной проверки правят потом в 53 случаях из ста против 18.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Медиана проверки подсказки измерена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в лабораторном опыте на разработчиках, не в клинике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Рядом, другим жанром: у врачей,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которых специально обучали работе с ИИ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точность рассуждения при верных рекомендациях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84,9 из ста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а когда часть рекомендаций намеренно неверна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73,3 из ста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; поправленная разница — 14,0 пункта. Рандомизированное испытание, 44 врача, 264 случая, двадцатичасовой курс работы с ИИ за спиной у каждого.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Обучение работе с инструментом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не передвигает человека на ступень выше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замерено ровно на тех, кого обучали.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Шкала не ранжирует ступени по качеству: на каждой есть и выигрыш, и своя слепота.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Qazi и соавторы, NEJM AI — испытание склонности довериться автомату у врачей, обученных работе с ИИ}}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лабораторный замер проверки подсказки ассистента кода, 21 участник, 1 096 подсказок}}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Что работает и что не работает, когда подсказку читает человек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11185855" cy="1104769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10911535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ТОЧНОСТЬ ВЫБОРА ПРЕПАРАТА: БЕЗ МОДЕЛИ → ПРИ НЕВЕРНОЙ РЕКОМЕНДАЦИИ С УПРОЩЁННЫМ ОБЪЯСНЕНИЕМ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10911535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35,7 → 26,2 из ста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1091153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та же шкала, те же задачи, те же клиницисты; точность самой подсказки здесь задана имитацией — настоящей модели в опыте не было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22673"/>
            <a:ext cx="5437479" cy="2220994"/>
          </a:xfrm>
          <a:prstGeom prst="roundRect">
            <a:avLst>
              <a:gd name="adj" fmla="val 1372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2778121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получается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134300"/>
            <a:ext cx="5108295" cy="1553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• Второй взгляд на поток, который человеку не прочесть целиком</a:t>
            </a:r>
          </a:p>
          <a:p>
            <a:pPr algn="l">
              <a:lnSpc>
                <a:spcPct val="12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• Напоминание о редком диагнозе, выпадающем из списка гипотез</a:t>
            </a:r>
          </a:p>
          <a:p>
            <a:pPr algn="l">
              <a:lnSpc>
                <a:spcPct val="12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• Сортировка, после которой специалист смотрит не всё подряд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1295" y="2622673"/>
            <a:ext cx="5437479" cy="2220994"/>
          </a:xfrm>
          <a:prstGeom prst="roundRect">
            <a:avLst>
              <a:gd name="adj" fmla="val 13723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5887" y="2778121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не получается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5887" y="3134300"/>
            <a:ext cx="5108295" cy="1553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• Независимость — подсказка видна до собственного вывода</a:t>
            </a:r>
          </a:p>
          <a:p>
            <a:pPr algn="l">
              <a:lnSpc>
                <a:spcPct val="12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• Избирательность — без отдельной подготовки человек не умеет не поверить именно там, где модель ошиблась</a:t>
            </a:r>
          </a:p>
          <a:p>
            <a:pPr algn="l">
              <a:lnSpc>
                <a:spcPct val="12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• Объяснимость — упрощённое объяснение неверной рекомендации уронило точность выбора препарата ниже базовой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4935108"/>
            <a:ext cx="11441887" cy="1301099"/>
          </a:xfrm>
          <a:prstGeom prst="roundRect">
            <a:avLst>
              <a:gd name="adj" fmla="val 234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5026548"/>
            <a:ext cx="11112703" cy="12096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Объяснение покупает согласие, а не качество. Упрощённое объяснение создаёт ясность, не связанную с правильностью, и человеку труднее возразить тому, что он понял.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Объяснимость — требование к интерфейсу с измеренной ценой, а не безусловное улучшение.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Лабораторный опыт в сети, не решения о живых пациентах; число участников по подгруппам не раскрыто.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Jacobs, Pradier, McCoy, Perlis, Doshi-Velez, Gajos, Translational Psychiatry, 2021 — лабораторный опыт}}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Правило, а не случай: что в среднем даёт пара человека и модели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796969"/>
          </a:xfrm>
          <a:prstGeom prst="roundRect">
            <a:avLst>
              <a:gd name="adj" fmla="val 1696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МОДЕЛЬ СИЛЬНЕЕ ЧЕЛОВЕКА: ПАРА ХУЖЕ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3689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−0,54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90688"/>
            <a:ext cx="3344570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размер эффекта в долях разброса; интервал от −0,71 до −0,37 — целиком ниже нуля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796969"/>
          </a:xfrm>
          <a:prstGeom prst="roundRect">
            <a:avLst>
              <a:gd name="adj" fmla="val 1696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ЧЕЛОВЕК СИЛЬНЕЕ МОДЕЛИ: ПАРА ЛУЧШЕ ОБЕИХ СТОРОН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863689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+0,46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3562" y="2290688"/>
            <a:ext cx="3344570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интервал от 0,28 до 0,66 — целиком выше нуля; знак задаёт то, какая сторона сильнее на задаче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9884" y="1335024"/>
            <a:ext cx="3618890" cy="1796969"/>
          </a:xfrm>
          <a:prstGeom prst="roundRect">
            <a:avLst>
              <a:gd name="adj" fmla="val 1696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БАЗА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044" y="1690796"/>
            <a:ext cx="3344570" cy="74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74 работы · 106 опытов · 370 размеров эффекта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044" y="2440319"/>
            <a:ext cx="3344570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из 5 126 просмотренных работ; брали только опыты, где измерены все три величины — человек один, модель одна, пара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3223433"/>
            <a:ext cx="11441887" cy="3012774"/>
          </a:xfrm>
          <a:prstGeom prst="roundRect">
            <a:avLst>
              <a:gd name="adj" fmla="val 1011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3314873"/>
            <a:ext cx="11112703" cy="2921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Зал видел разрыв на одном испытании — вот то же самое, собранное по сотне опытов. Предрегистрированный мета-анализ.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Оговорка, без которой число врёт: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общий результат считается против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лучшей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из двух сторон.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Человека одного пара всё-таки обходит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размер эффекта 0,64 при интервале от 0,53 до 0,74.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«Помогает ли ИИ» — вопрос не к инструменту, а к тому, кто в этой паре сильнее на этой задаче.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Агрегат замеров, а не внедрённый процесс: он не про исходы пациентов и собран по опытам разной природы. Правило не привязано к модальности.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871115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Vaccaro, Vaccaro, Chen, Hidalgo, Nature Human Behaviour, 2024 — предрегистрированный мета-анализ}}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Замер взгляда радиолога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647338"/>
          </a:xfrm>
          <a:prstGeom prst="roundRect">
            <a:avLst>
              <a:gd name="adj" fmla="val 18502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ЧУВСТВИТЕЛЬНОСТЬ ТОГО ЖЕ ЧИТАТЕЛЯ: БЕЗ ПОДСКАЗКИ → ПРИ ЛОЖНООТРИЦАТЕЛЬНОЙ ПОДСКАЗКЕ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3689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71 → 39 из ста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90688"/>
            <a:ext cx="5236311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медиана по десяти читателям; падение 32 пункта, значимое. Та же половина работы с ложноположительной подсказкой дала читателю 18 пунктов специфичности — с 21 до 39 из ста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647338"/>
          </a:xfrm>
          <a:prstGeom prst="roundRect">
            <a:avLst>
              <a:gd name="adj" fmla="val 1850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СТУПЕНЬ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смотрит вторым — подсказка выведена вместе со случаем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3073802"/>
            <a:ext cx="11441887" cy="3162405"/>
          </a:xfrm>
          <a:prstGeom prst="roundRect">
            <a:avLst>
              <a:gd name="adj" fmla="val 96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3165242"/>
            <a:ext cx="11112703" cy="30709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40" b="0" i="0">
                <a:solidFill>
                  <a:srgbClr val="21295C"/>
                </a:solidFill>
                <a:latin typeface="Arial"/>
              </a:rPr>
              <a:t>Правило мы увидели. Теперь — что происходит, когда подсказка неверна, и с какой величиной.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Цена обеих ошибок, до всякой точности.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Пропущенный рак на маммограмме — лечение позже и хуже. Ложный вызов — повторные исследования, биопсия и месяцы тревоги.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Оба классических режима.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Чтение той же маммограммы без подсказки — база сравнения. Второе человеческое чтение — режим, которым эта программа и держится.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Модель против них.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Одни и те же случаи, одни и те же читатели, разница только в наличии подсказки.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50" b="0" i="0">
                <a:solidFill>
                  <a:srgbClr val="21295C"/>
                </a:solidFill>
                <a:latin typeface="Arial"/>
              </a:rPr>
              <a:t/>
            </a:r>
            <a:r>
              <a:rPr sz="1150" b="0" i="1">
                <a:solidFill>
                  <a:srgbClr val="1C7293"/>
                </a:solidFill>
                <a:latin typeface="Arial"/>
              </a:rPr>
              <a:t>Десять читателей национальной программы скрининга, 60 случаев, каждый прочитан дважды с перерывом в шесть недель; набор нарочно наполнен ошибками системы в обе стороны. Сильное по механизму, среднее по выборке читателей, повторения по величине падения нет.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0" i="0">
                <a:solidFill>
                  <a:srgbClr val="21295C"/>
                </a:solidFill>
                <a:latin typeface="Arial"/>
              </a:rPr>
              <a:t>Чем это делают сегодня: </a:t>
            </a:r>
            <a:r>
              <a:rPr sz="1440" b="0" i="1">
                <a:solidFill>
                  <a:srgbClr val="21295C"/>
                </a:solidFill>
                <a:latin typeface="Arial"/>
              </a:rPr>
              <a:t>распознавание на изображении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чтение маммограммы моделью как второй читатель или как триаж потока. Принимает это организатор национальной или региональной программы скрининга, а не отдельная больница. Не умеет удержать читателя от сужения поиска.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Taib, Partridge, Phillips, Chen и соавторы, Radiology, 2026 — парное мультиридерное чтение с замером взгляда}}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То же: измеренный механизм и что переехало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2398636"/>
          </a:xfrm>
          <a:prstGeom prst="roundRect">
            <a:avLst>
              <a:gd name="adj" fmla="val 12707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737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ЗАДЕРЖКА ВЗГЛЯДА НА ПОРАЖЕНИЯХ, ПРОПУЩЕННЫХ МОДЕЛЬЮ: БЕЗ ПОДСКАЗКИ → С ПОДСКАЗКОЙ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09474"/>
            <a:ext cx="2398699" cy="6476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0,47 → 0,44 фиксации в секунду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7148"/>
            <a:ext cx="2398699" cy="739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два числа различаются в третьем знаке, поэтому называются порознь и по ярлыкам: без подсказки — 0,47, с подсказкой — 0,44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2398636"/>
          </a:xfrm>
          <a:prstGeom prst="roundRect">
            <a:avLst>
              <a:gd name="adj" fmla="val 1270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ДАЛО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690796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указание, куда смотреть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2398636"/>
          </a:xfrm>
          <a:prstGeom prst="roundRect">
            <a:avLst>
              <a:gd name="adj" fmla="val 1270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ПОТРЕБОВАЛО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690796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чтобы указание было верным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2398636"/>
          </a:xfrm>
          <a:prstGeom prst="roundRect">
            <a:avLst>
              <a:gd name="adj" fmla="val 1270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СУММЕ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1690796"/>
            <a:ext cx="2398699" cy="596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у профессиональных читателей программы скрининга результат стал хуже, чем без инструмента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3825100"/>
            <a:ext cx="11441887" cy="2411107"/>
          </a:xfrm>
          <a:prstGeom prst="roundRect">
            <a:avLst>
              <a:gd name="adj" fmla="val 1264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3916540"/>
            <a:ext cx="11112703" cy="2319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Механизм измерен, а не предположен: на поражениях, пропущенных моделью, взгляд читателя задерживался реже.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Что переехало.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Нагрузка на том же месте упала — и здесь это цена, а не польза: тот же читатель на том же месте стал осматривать снимок меньше. Второй формой — сместилась цена ошибки: пропуск модели стал пропуском читателя.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«Быть внимательнее» здесь не мера: подсказка меняет не мнение, а то, что человек физически успевает увидеть.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Исполнитель остался тот же и стал хуже — ни одна из прежних форм словаря этого не описывает.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та же публикация — Taib, Partridge, Phillips, Chen и соавторы, Radiology, 2026}}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Тот же замер, обратный знак: подсказка верна, поиск сузился, результат вырос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462500"/>
          </a:xfrm>
          <a:prstGeom prst="roundRect">
            <a:avLst>
              <a:gd name="adj" fmla="val 2084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КАК СМОТРЕЛИ: ОХВАТ ПЛОЩАДИ СНИМКА ФИКСАЦИЯМИ, БЕЗ МОДЕЛИ → С МОДЕЛЬЮ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3689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11,1 → 9,5 из ста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90688"/>
            <a:ext cx="5236311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доля площади груди, по которой прошёл взгляд; поиск сузился — и здесь это выигрыш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462500"/>
          </a:xfrm>
          <a:prstGeom prst="roundRect">
            <a:avLst>
              <a:gd name="adj" fmla="val 2084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ЧТО ПОЛУЧИЛОСЬ: ПЛОЩАДЬ ПОД КРИВОЙ, БЕЗ МОДЕЛИ → С МОДЕЛЬЮ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0,93 → 0,97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303" y="2117795"/>
            <a:ext cx="5236311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мера различения больного и здорового; чувствительность выросла с 81,7 до 87,2 из ста, но незначимо, а время чтения не изменилось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4" y="2888964"/>
            <a:ext cx="11441887" cy="3347243"/>
          </a:xfrm>
          <a:prstGeom prst="roundRect">
            <a:avLst>
              <a:gd name="adj" fmla="val 910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" y="2980404"/>
            <a:ext cx="11112703" cy="32558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То же измерение, другая работа — и обратный знак. Там подсказка была намеренно ложной; здесь это обычная работа одобренной системы.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Сужение поиска само по себе ни польза, ни вред.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Знак задаёт правота подсказки, и по самому сигналу различить нельзя.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Выросла именно площадь под кривой. Чувствительность выросла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незначимо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«модель сделала врачей лучше» данными не держится.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Двенадцать радиологов скрининга из десяти учреждений, 150 исследований, 3 600 прочтений — 900 на каждую долю внутри одного режима. Лабораторное чтение, не живой скрининг: набор обогащён раками до половины. У работы названы институциональные интересы с производителями систем.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179576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Gommers, Verboom, Duvivier, Sechopoulos и соавторы, Radiology, 2025 — ретроспективное мультиридерное чтение с айтрекером}}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Одна подсказка с двумя знаками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ДАЛО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прибавку при верной подсказке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335024"/>
            <a:ext cx="3618890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ПОТРЕБОВАЛО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3562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равной потери при неверной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9884" y="1335024"/>
            <a:ext cx="3618890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СУММЕ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044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средняя та же, разброс вырос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290" b="0" i="0">
                <a:solidFill>
                  <a:srgbClr val="21295C"/>
                </a:solidFill>
                <a:latin typeface="Arial"/>
              </a:rPr>
              <a:t>Подсказка по оцифрованному срезу в патологии. То же — но теперь не на взгляде, а на решении.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90" b="0" i="0">
                <a:solidFill>
                  <a:srgbClr val="21295C"/>
                </a:solidFill>
                <a:latin typeface="Arial"/>
              </a:rPr>
              <a:t/>
            </a:r>
            <a:r>
              <a:rPr sz="1290" b="1" i="0">
                <a:solidFill>
                  <a:srgbClr val="21295C"/>
                </a:solidFill>
                <a:latin typeface="Arial"/>
              </a:rPr>
              <a:t>Цена обеих ошибок.</a:t>
            </a:r>
            <a:r>
              <a:rPr sz="1290" b="0" i="0">
                <a:solidFill>
                  <a:srgbClr val="21295C"/>
                </a:solidFill>
                <a:latin typeface="Arial"/>
              </a:rPr>
              <a:t> Спутать два вида опухоли печени — другое лечение и другой прогноз. Лишняя перепроверка — время специалиста и отложенное решение.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90" b="0" i="0">
                <a:solidFill>
                  <a:srgbClr val="21295C"/>
                </a:solidFill>
                <a:latin typeface="Arial"/>
              </a:rPr>
              <a:t/>
            </a:r>
            <a:r>
              <a:rPr sz="1290" b="1" i="0">
                <a:solidFill>
                  <a:srgbClr val="21295C"/>
                </a:solidFill>
                <a:latin typeface="Arial"/>
              </a:rPr>
              <a:t>Оба классических режима:</a:t>
            </a:r>
            <a:r>
              <a:rPr sz="1290" b="0" i="0">
                <a:solidFill>
                  <a:srgbClr val="21295C"/>
                </a:solidFill>
                <a:latin typeface="Arial"/>
              </a:rPr>
              <a:t> чтение среза одним патологом; второе мнение субспециалиста. Чисел у них на кадре нет — названы, но не посчитаны.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90" b="0" i="0">
                <a:solidFill>
                  <a:srgbClr val="21295C"/>
                </a:solidFill>
                <a:latin typeface="Arial"/>
              </a:rPr>
              <a:t/>
            </a:r>
            <a:r>
              <a:rPr sz="1290" b="1" i="0">
                <a:solidFill>
                  <a:srgbClr val="21295C"/>
                </a:solidFill>
                <a:latin typeface="Arial"/>
              </a:rPr>
              <a:t>Модель против них.</a:t>
            </a:r>
            <a:r>
              <a:rPr sz="1290" b="0" i="0">
                <a:solidFill>
                  <a:srgbClr val="21295C"/>
                </a:solidFill>
                <a:latin typeface="Arial"/>
              </a:rPr>
              <a:t> Когда модель права, шансы верного ответа растут примерно вчетверо; когда неправа — падают примерно вчетверо. На всех уровнях опыта и на случаях любой сложности одинаково. </a:t>
            </a:r>
            <a:r>
              <a:rPr sz="1290" b="1" i="0">
                <a:solidFill>
                  <a:srgbClr val="21295C"/>
                </a:solidFill>
                <a:latin typeface="Arial"/>
              </a:rPr>
              <a:t>А на группе в целом, без разделения на правоту модели, прибавка незначима</a:t>
            </a:r>
            <a:r>
              <a:rPr sz="1290" b="0" i="0">
                <a:solidFill>
                  <a:srgbClr val="21295C"/>
                </a:solidFill>
                <a:latin typeface="Arial"/>
              </a:rPr>
              <a:t> — отчёт о внедрении с одним числом показал бы «эффекта нет» там, где эффект велик в обе стороны.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90" b="0" i="0">
                <a:solidFill>
                  <a:srgbClr val="21295C"/>
                </a:solidFill>
                <a:latin typeface="Arial"/>
              </a:rPr>
              <a:t/>
            </a:r>
            <a:r>
              <a:rPr sz="1290" b="1" i="0">
                <a:solidFill>
                  <a:srgbClr val="21295C"/>
                </a:solidFill>
                <a:latin typeface="Arial"/>
              </a:rPr>
              <a:t>Что переехало.</a:t>
            </a:r>
            <a:r>
              <a:rPr sz="1290" b="0" i="0">
                <a:solidFill>
                  <a:srgbClr val="21295C"/>
                </a:solidFill>
                <a:latin typeface="Arial"/>
              </a:rPr>
              <a:t> Сместилась цена ошибки: ошибка модели стала ошибкой врача.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90" b="0" i="0">
                <a:solidFill>
                  <a:srgbClr val="21295C"/>
                </a:solidFill>
                <a:latin typeface="Arial"/>
              </a:rPr>
              <a:t/>
            </a:r>
            <a:r>
              <a:rPr sz="1290" b="0" i="0">
                <a:solidFill>
                  <a:srgbClr val="21295C"/>
                </a:solidFill>
                <a:latin typeface="Arial"/>
              </a:rPr>
              <a:t>Рядом, другим жанром: по сводке систем поддержки врачебных решений неверная подсказка повышает риск неверного решения на </a:t>
            </a:r>
            <a:r>
              <a:rPr sz="1290" b="1" i="0">
                <a:solidFill>
                  <a:srgbClr val="21295C"/>
                </a:solidFill>
                <a:latin typeface="Arial"/>
              </a:rPr>
              <a:t>26 процентов</a:t>
            </a:r>
            <a:r>
              <a:rPr sz="1290" b="0" i="0">
                <a:solidFill>
                  <a:srgbClr val="21295C"/>
                </a:solidFill>
                <a:latin typeface="Arial"/>
              </a:rPr>
              <a:t>; обзор включил 74 исследования из 13 821 просмотренного. </a:t>
            </a:r>
            <a:r>
              <a:rPr sz="1290" b="0" i="1">
                <a:solidFill>
                  <a:srgbClr val="21295C"/>
                </a:solidFill>
                <a:latin typeface="Arial"/>
              </a:rPr>
              <a:t>В той совокупности много систем на правилах, а не обученных моделей.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30" b="0" i="0">
                <a:solidFill>
                  <a:srgbClr val="21295C"/>
                </a:solidFill>
                <a:latin typeface="Arial"/>
              </a:rPr>
              <a:t/>
            </a:r>
            <a:r>
              <a:rPr sz="1030" b="0" i="1">
                <a:solidFill>
                  <a:srgbClr val="1C7293"/>
                </a:solidFill>
                <a:latin typeface="Arial"/>
              </a:rPr>
              <a:t>Ступень: смотрит вторым — подсказка выведена одновременно со срезом.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Kiani и соавторы, npj Digital Medicine, 2020}}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Goddard, Roudsari, Wyatt, JAMIA, 2012 — обзор}}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Измеренная тройка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474446"/>
          </a:xfrm>
          <a:prstGeom prst="roundRect">
            <a:avLst>
              <a:gd name="adj" fmla="val 2067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МОДЕЛЬ ОДНА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92 из ста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3344570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отдельный прогон по тем же задачам — наблюдательное дополнение, равноправной случайной ветвью он не был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474446"/>
          </a:xfrm>
          <a:prstGeom prst="roundRect">
            <a:avLst>
              <a:gd name="adj" fmla="val 2067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ВРАЧ ОДИН, СО СПРАВОЧНИКАМИ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74 из ста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3562" y="2117795"/>
            <a:ext cx="3344570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привычные источники: справочники, поиск, собственная память — это база сравнения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9884" y="1335024"/>
            <a:ext cx="3618890" cy="1474446"/>
          </a:xfrm>
          <a:prstGeom prst="roundRect">
            <a:avLst>
              <a:gd name="adj" fmla="val 20672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ВРАЧ ПОВЕРХ МОДЕЛИ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044" y="169079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76 из ста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044" y="2117795"/>
            <a:ext cx="3344570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разница с предыдущей плашкой — два пункта, и она незначима: интервал от −4 до 8 пунктов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2900910"/>
            <a:ext cx="11441887" cy="3335297"/>
          </a:xfrm>
          <a:prstGeom prst="roundRect">
            <a:avLst>
              <a:gd name="adj" fmla="val 91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2992350"/>
            <a:ext cx="11112703" cy="32438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20" b="0" i="0">
                <a:solidFill>
                  <a:srgbClr val="21295C"/>
                </a:solidFill>
                <a:latin typeface="Arial"/>
              </a:rPr>
              <a:t>Три числа на одних и тех же задачах: модель одна, врач один, врач с моделью. А может, пара всё-таки лучше человека без модели?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20" b="0" i="0">
                <a:solidFill>
                  <a:srgbClr val="21295C"/>
                </a:solidFill>
                <a:latin typeface="Arial"/>
              </a:rPr>
              <a:t/>
            </a:r>
            <a:r>
              <a:rPr sz="1320" b="1" i="0">
                <a:solidFill>
                  <a:srgbClr val="21295C"/>
                </a:solidFill>
                <a:latin typeface="Arial"/>
              </a:rPr>
              <a:t>Цена обеих ошибок.</a:t>
            </a:r>
            <a:r>
              <a:rPr sz="1320" b="0" i="0">
                <a:solidFill>
                  <a:srgbClr val="21295C"/>
                </a:solidFill>
                <a:latin typeface="Arial"/>
              </a:rPr>
              <a:t> Неверный диагноз — лечение не той болезни и потерянное время. Избыточная проверка — риск самой проверки и отложенное решение.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20" b="0" i="0">
                <a:solidFill>
                  <a:srgbClr val="21295C"/>
                </a:solidFill>
                <a:latin typeface="Arial"/>
              </a:rPr>
              <a:t/>
            </a:r>
            <a:r>
              <a:rPr sz="1320" b="1" i="0">
                <a:solidFill>
                  <a:srgbClr val="21295C"/>
                </a:solidFill>
                <a:latin typeface="Arial"/>
              </a:rPr>
              <a:t>Классический режим</a:t>
            </a:r>
            <a:r>
              <a:rPr sz="1320" b="0" i="0">
                <a:solidFill>
                  <a:srgbClr val="21295C"/>
                </a:solidFill>
                <a:latin typeface="Arial"/>
              </a:rPr>
              <a:t> — врач с обычными справочниками, и это база сравнения.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20" b="0" i="0">
                <a:solidFill>
                  <a:srgbClr val="21295C"/>
                </a:solidFill>
                <a:latin typeface="Arial"/>
              </a:rPr>
              <a:t/>
            </a:r>
            <a:r>
              <a:rPr sz="1320" b="0" i="0">
                <a:solidFill>
                  <a:srgbClr val="21295C"/>
                </a:solidFill>
                <a:latin typeface="Arial"/>
              </a:rPr>
              <a:t>Разница между врачом одним и врачом с моделью — два пункта, и она </a:t>
            </a:r>
            <a:r>
              <a:rPr sz="1320" b="1" i="0">
                <a:solidFill>
                  <a:srgbClr val="21295C"/>
                </a:solidFill>
                <a:latin typeface="Arial"/>
              </a:rPr>
              <a:t>незначима</a:t>
            </a:r>
            <a:r>
              <a:rPr sz="1320" b="0" i="0">
                <a:solidFill>
                  <a:srgbClr val="21295C"/>
                </a:solidFill>
                <a:latin typeface="Arial"/>
              </a:rPr>
              <a:t>. Это ноль, измеренный, а не отсутствие данных.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20" b="0" i="0">
                <a:solidFill>
                  <a:srgbClr val="21295C"/>
                </a:solidFill>
                <a:latin typeface="Arial"/>
              </a:rPr>
              <a:t/>
            </a:r>
            <a:r>
              <a:rPr sz="1320" b="0" i="0">
                <a:solidFill>
                  <a:srgbClr val="21295C"/>
                </a:solidFill>
                <a:latin typeface="Arial"/>
              </a:rPr>
              <a:t>Прогон «модель одна» не был равноправной случайной ветвью — он идёт </a:t>
            </a:r>
            <a:r>
              <a:rPr sz="1320" b="1" i="0">
                <a:solidFill>
                  <a:srgbClr val="21295C"/>
                </a:solidFill>
                <a:latin typeface="Arial"/>
              </a:rPr>
              <a:t>наблюдательным дополнением</a:t>
            </a:r>
            <a:r>
              <a:rPr sz="1320" b="0" i="0">
                <a:solidFill>
                  <a:srgbClr val="21295C"/>
                </a:solidFill>
                <a:latin typeface="Arial"/>
              </a:rPr>
              <a:t>, не результатом распределения.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60" b="0" i="0">
                <a:solidFill>
                  <a:srgbClr val="21295C"/>
                </a:solidFill>
                <a:latin typeface="Arial"/>
              </a:rPr>
              <a:t/>
            </a:r>
            <a:r>
              <a:rPr sz="1060" b="0" i="1">
                <a:solidFill>
                  <a:srgbClr val="1C7293"/>
                </a:solidFill>
                <a:latin typeface="Arial"/>
              </a:rPr>
              <a:t>Пятьдесят врачей, из них 44 терапевта, неотложная помощь — пять человек, семейная медицина — один; медиана пять случаев на врача. Виньетки по реальным случаям, не исходы пациентов: никто не проверял, выздоровел ли кто-нибудь.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20" b="0" i="0">
                <a:solidFill>
                  <a:srgbClr val="21295C"/>
                </a:solidFill>
                <a:latin typeface="Arial"/>
              </a:rPr>
              <a:t/>
            </a:r>
            <a:r>
              <a:rPr sz="1320" b="0" i="0">
                <a:solidFill>
                  <a:srgbClr val="21295C"/>
                </a:solidFill>
                <a:latin typeface="Arial"/>
              </a:rPr>
              <a:t>Чем это делают сегодня: </a:t>
            </a:r>
            <a:r>
              <a:rPr sz="1320" b="0" i="1">
                <a:solidFill>
                  <a:srgbClr val="21295C"/>
                </a:solidFill>
                <a:latin typeface="Arial"/>
              </a:rPr>
              <a:t>генерация на тексте</a:t>
            </a:r>
            <a:r>
              <a:rPr sz="1320" b="0" i="0">
                <a:solidFill>
                  <a:srgbClr val="21295C"/>
                </a:solidFill>
                <a:latin typeface="Arial"/>
              </a:rPr>
              <a:t> — клиническое рассуждение и вопрос-ответ со ссылками на литературу. Входит в работу </a:t>
            </a:r>
            <a:r>
              <a:rPr sz="1320" b="1" i="0">
                <a:solidFill>
                  <a:srgbClr val="21295C"/>
                </a:solidFill>
                <a:latin typeface="Arial"/>
              </a:rPr>
              <a:t>снизу</a:t>
            </a:r>
            <a:r>
              <a:rPr sz="1320" b="0" i="0">
                <a:solidFill>
                  <a:srgbClr val="21295C"/>
                </a:solidFill>
                <a:latin typeface="Arial"/>
              </a:rPr>
              <a:t>, самостоятельным употреблением врача, минуя закупку, — и поэтому никто не настраивал этот режим под процесс. Не умеет перенести свою силу на пару.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Goh и соавторы, JAMA Network Open, 2024}}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То же: время и что переехало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2407438"/>
          </a:xfrm>
          <a:prstGeom prst="roundRect">
            <a:avLst>
              <a:gd name="adj" fmla="val 126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МЕДИАННОЕ ВРЕМЯ НА СЛУЧАЙ: БЕЗ МОДЕЛИ → С МОДЕЛЬЮ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3689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565 → 519 секунд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81111"/>
            <a:ext cx="2398699" cy="92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ярлыки обязательны: 519 — это группа С моделью; без ярлыков меньшее число читается как выигрыш, а разница между группами значимости не достигает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2407438"/>
          </a:xfrm>
          <a:prstGeom prst="roundRect">
            <a:avLst>
              <a:gd name="adj" fmla="val 126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ДАЛО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690796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ничего измеримого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2407438"/>
          </a:xfrm>
          <a:prstGeom prst="roundRect">
            <a:avLst>
              <a:gd name="adj" fmla="val 126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ПОТРЕБОВАЛО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690796"/>
            <a:ext cx="2398699" cy="74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доступ к инструменту для каждого врача и новый шаг внутри рассуждения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2407438"/>
          </a:xfrm>
          <a:prstGeom prst="roundRect">
            <a:avLst>
              <a:gd name="adj" fmla="val 126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СУММЕ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1690796"/>
            <a:ext cx="2398699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так же, как было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3833902"/>
            <a:ext cx="11441887" cy="2402305"/>
          </a:xfrm>
          <a:prstGeom prst="roundRect">
            <a:avLst>
              <a:gd name="adj" fmla="val 1268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3925342"/>
            <a:ext cx="11112703" cy="2310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Разница во времени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незначима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Что переехало.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Сменился исполнитель: то же место, тот же измеренный объём, другая рука. Улучшения здесь не фиксирует ни одна форма словаря.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«Ничего измеримого» — это не отсутствие данных, а измеренный нулевой результат при рабочей выборке.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Вопрос «помогает ли модель» на этом материале ответа не имеет. Имеет ответ вопрос «как именно подсказка входит в решение».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Оценивалось рассуждение на задачах, не исходы пациентов.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та же публикация — Goh и соавторы, JAMA Network Open, 2024}}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Контрольная линия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680031"/>
          </a:xfrm>
          <a:prstGeom prst="roundRect">
            <a:avLst>
              <a:gd name="adj" fmla="val 18142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ЧУВСТВИТЕЛЬНОСТЬ: ДВОЙНОЕ ЧТЕНИЕ ДВУМЯ ЛЮДЬМИ → ОДИН ЧЕЛОВЕК С МОДЕЛЬЮ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3689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73,8 → 80,5 из ста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90688"/>
            <a:ext cx="3344570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прибавка значима; специфичность в обоих плечах одинакова — 98,5 из ста здоровых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680031"/>
          </a:xfrm>
          <a:prstGeom prst="roundRect">
            <a:avLst>
              <a:gd name="adj" fmla="val 1814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ОБЪЁМ ЧЕЛОВЕЧЕСКОГО ЧТЕНИЯ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ниже на 44,3 процента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3562" y="2117795"/>
            <a:ext cx="3344570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промежуточный анализ безопасности той же программы: 80 033 распределённые женщины, набор на четыре с половиной месяца короче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9884" y="1335024"/>
            <a:ext cx="3618890" cy="1680031"/>
          </a:xfrm>
          <a:prstGeom prst="roundRect">
            <a:avLst>
              <a:gd name="adj" fmla="val 1814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БАЗА ЧУВСТВИТЕЛЬНОСТИ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044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итоговый анализ, 105 934 женщины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044" y="2508219"/>
            <a:ext cx="3344570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предрегистрированные исходы; в анализ вошли 53 043 в плечо с моделью и 52 872 в контроль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3106495"/>
            <a:ext cx="11441887" cy="3129712"/>
          </a:xfrm>
          <a:prstGeom prst="roundRect">
            <a:avLst>
              <a:gd name="adj" fmla="val 97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3197935"/>
            <a:ext cx="11112703" cy="3038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20" b="1" i="0">
                <a:solidFill>
                  <a:srgbClr val="21295C"/>
                </a:solidFill>
                <a:latin typeface="Arial"/>
              </a:rPr>
              <a:t>Цена обеих ошибок</a:t>
            </a:r>
            <a:r>
              <a:rPr sz="1320" b="0" i="0">
                <a:solidFill>
                  <a:srgbClr val="21295C"/>
                </a:solidFill>
                <a:latin typeface="Arial"/>
              </a:rPr>
              <a:t> назначена в разделе про отбор, на этой же программе: пропуск — рак, найденный позже; ложный вызов — повторные исследования и месяцы тревоги.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20" b="0" i="0">
                <a:solidFill>
                  <a:srgbClr val="21295C"/>
                </a:solidFill>
                <a:latin typeface="Arial"/>
              </a:rPr>
              <a:t/>
            </a:r>
            <a:r>
              <a:rPr sz="1320" b="1" i="0">
                <a:solidFill>
                  <a:srgbClr val="21295C"/>
                </a:solidFill>
                <a:latin typeface="Arial"/>
              </a:rPr>
              <a:t>Оба классических режима.</a:t>
            </a:r>
            <a:r>
              <a:rPr sz="1320" b="0" i="0">
                <a:solidFill>
                  <a:srgbClr val="21295C"/>
                </a:solidFill>
                <a:latin typeface="Arial"/>
              </a:rPr>
              <a:t> Двойное чтение двумя людьми с арбитражем третьего на разногласиях — база сравнения.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20" b="0" i="0">
                <a:solidFill>
                  <a:srgbClr val="21295C"/>
                </a:solidFill>
                <a:latin typeface="Arial"/>
              </a:rPr>
              <a:t/>
            </a:r>
            <a:r>
              <a:rPr sz="1320" b="1" i="0">
                <a:solidFill>
                  <a:srgbClr val="21295C"/>
                </a:solidFill>
                <a:latin typeface="Arial"/>
              </a:rPr>
              <a:t>Модель против них.</a:t>
            </a:r>
            <a:r>
              <a:rPr sz="1320" b="0" i="0">
                <a:solidFill>
                  <a:srgbClr val="21295C"/>
                </a:solidFill>
                <a:latin typeface="Arial"/>
              </a:rPr>
              <a:t> Один человек плюс модель, арбитраж на разногласиях. Прибавка чувствительности </a:t>
            </a:r>
            <a:r>
              <a:rPr sz="1320" b="1" i="0">
                <a:solidFill>
                  <a:srgbClr val="21295C"/>
                </a:solidFill>
                <a:latin typeface="Arial"/>
              </a:rPr>
              <a:t>значима</a:t>
            </a:r>
            <a:r>
              <a:rPr sz="132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60" b="0" i="0">
                <a:solidFill>
                  <a:srgbClr val="21295C"/>
                </a:solidFill>
                <a:latin typeface="Arial"/>
              </a:rPr>
              <a:t/>
            </a:r>
            <a:r>
              <a:rPr sz="1060" b="0" i="1">
                <a:solidFill>
                  <a:srgbClr val="1C7293"/>
                </a:solidFill>
                <a:latin typeface="Arial"/>
              </a:rPr>
              <a:t>Две половины счёта пришли из двух анализов одного испытания, и складывать их в одну базу нельзя: снижение объёма чтения — из промежуточного анализа, чувствительность — из итогового.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20" b="0" i="0">
                <a:solidFill>
                  <a:srgbClr val="21295C"/>
                </a:solidFill>
                <a:latin typeface="Arial"/>
              </a:rPr>
              <a:t/>
            </a:r>
            <a:r>
              <a:rPr sz="1320" b="0" i="0">
                <a:solidFill>
                  <a:srgbClr val="21295C"/>
                </a:solidFill>
                <a:latin typeface="Arial"/>
              </a:rPr>
              <a:t>Независимость здесь не нарушена, а </a:t>
            </a:r>
            <a:r>
              <a:rPr sz="1320" b="1" i="0">
                <a:solidFill>
                  <a:srgbClr val="21295C"/>
                </a:solidFill>
                <a:latin typeface="Arial"/>
              </a:rPr>
              <a:t>перестроена</a:t>
            </a:r>
            <a:r>
              <a:rPr sz="1320" b="0" i="0">
                <a:solidFill>
                  <a:srgbClr val="21295C"/>
                </a:solidFill>
                <a:latin typeface="Arial"/>
              </a:rPr>
              <a:t>: модель читает первой, человек читает сам, разногласие разбирает третий. Выиграло устройство процедуры.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60" b="0" i="0">
                <a:solidFill>
                  <a:srgbClr val="21295C"/>
                </a:solidFill>
                <a:latin typeface="Arial"/>
              </a:rPr>
              <a:t/>
            </a:r>
            <a:r>
              <a:rPr sz="1060" b="0" i="1">
                <a:solidFill>
                  <a:srgbClr val="1C7293"/>
                </a:solidFill>
                <a:latin typeface="Arial"/>
              </a:rPr>
              <a:t>Ступень: человек смотрел только спорное — и это назначено устройством программы, а не выбором врача.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20" b="0" i="0">
                <a:solidFill>
                  <a:srgbClr val="21295C"/>
                </a:solidFill>
                <a:latin typeface="Arial"/>
              </a:rPr>
              <a:t/>
            </a:r>
            <a:r>
              <a:rPr sz="1320" b="0" i="0">
                <a:solidFill>
                  <a:srgbClr val="21295C"/>
                </a:solidFill>
                <a:latin typeface="Arial"/>
              </a:rPr>
              <a:t>Чем это делают сегодня: </a:t>
            </a:r>
            <a:r>
              <a:rPr sz="1320" b="0" i="1">
                <a:solidFill>
                  <a:srgbClr val="21295C"/>
                </a:solidFill>
                <a:latin typeface="Arial"/>
              </a:rPr>
              <a:t>распознавание на изображении</a:t>
            </a:r>
            <a:r>
              <a:rPr sz="1320" b="0" i="0">
                <a:solidFill>
                  <a:srgbClr val="21295C"/>
                </a:solidFill>
                <a:latin typeface="Arial"/>
              </a:rPr>
              <a:t>, та же клетка и </a:t>
            </a:r>
            <a:r>
              <a:rPr sz="1320" b="1" i="0">
                <a:solidFill>
                  <a:srgbClr val="21295C"/>
                </a:solidFill>
                <a:latin typeface="Arial"/>
              </a:rPr>
              <a:t>тот же инструмент</a:t>
            </a:r>
            <a:r>
              <a:rPr sz="1320" b="0" i="0">
                <a:solidFill>
                  <a:srgbClr val="21295C"/>
                </a:solidFill>
                <a:latin typeface="Arial"/>
              </a:rPr>
              <a:t>, что в разборе выше. Держат клетку арбитраж третьим читателем только на разногласиях и постоянный контроль порога. Не умеет работать вне протокола скрининга бессимптомных.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Lång и соавторы — рандомизированное исследование шведской программы: промежуточные результаты 2023, итоговые — The Lancet, 2026}}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Контрольная линия: что переехало и чем за это платят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2496713"/>
          </a:xfrm>
          <a:prstGeom prst="roundRect">
            <a:avLst>
              <a:gd name="adj" fmla="val 12208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737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ИНТЕРВАЛЬНЫЕ РАКИ НА 1000 ОБСЛЕДОВАННЫХ: ПЛЕЧО ДВОЙНОГО ЧТЕНИЯ → ПЛЕЧО С МОДЕЛЬЮ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09474"/>
            <a:ext cx="2398699" cy="3760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1,76 → 1,55 — показана не-худшесть, улучшение не доказано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85549"/>
            <a:ext cx="2398699" cy="1109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отношение частот 0,88 при интервале от 0,65 до 1,18: 82 случая из 53 043 против 93 из 52 872. Доказано другое — чувствительность выше, и состав пропущенного сдвинулся в менее опасную сторону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2496713"/>
          </a:xfrm>
          <a:prstGeom prst="roundRect">
            <a:avLst>
              <a:gd name="adj" fmla="val 12208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ДАЛО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690796"/>
            <a:ext cx="2398699" cy="74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больше найденных раков и меньше пропущенных между обследованиями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2496713"/>
          </a:xfrm>
          <a:prstGeom prst="roundRect">
            <a:avLst>
              <a:gd name="adj" fmla="val 12208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ПОТРЕБОВАЛО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690796"/>
            <a:ext cx="2398699" cy="673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арбитраж как измеримую новую работу и постоянный контроль порога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2496713"/>
          </a:xfrm>
          <a:prstGeom prst="roundRect">
            <a:avLst>
              <a:gd name="adj" fmla="val 12208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СУММЕ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1690796"/>
            <a:ext cx="2398699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лучше и по качеству, и по нагрузке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3923177"/>
            <a:ext cx="11441887" cy="2313030"/>
          </a:xfrm>
          <a:prstGeom prst="roundRect">
            <a:avLst>
              <a:gd name="adj" fmla="val 1317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4014617"/>
            <a:ext cx="11112703" cy="2221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140" b="1" i="0">
                <a:solidFill>
                  <a:srgbClr val="21295C"/>
                </a:solidFill>
                <a:latin typeface="Arial"/>
              </a:rPr>
              <a:t>Что переехало.</a:t>
            </a:r>
            <a:r>
              <a:rPr sz="1140" b="0" i="0">
                <a:solidFill>
                  <a:srgbClr val="21295C"/>
                </a:solidFill>
                <a:latin typeface="Arial"/>
              </a:rPr>
              <a:t> Сменился исполнитель: вторым читателем стала модель, и объём человеческого чтения упал как следствие этой смены. Больше форм здесь не называется.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40" b="0" i="0">
                <a:solidFill>
                  <a:srgbClr val="21295C"/>
                </a:solidFill>
                <a:latin typeface="Arial"/>
              </a:rPr>
              <a:t/>
            </a:r>
            <a:r>
              <a:rPr sz="1140" b="0" i="0">
                <a:solidFill>
                  <a:srgbClr val="21295C"/>
                </a:solidFill>
                <a:latin typeface="Arial"/>
              </a:rPr>
              <a:t>Доля ложноположительных и специфичность в двух плечах одинаковы: повторных вызовов не стало ни больше, ни меньше настолько, чтобы это было различием.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40" b="0" i="0">
                <a:solidFill>
                  <a:srgbClr val="21295C"/>
                </a:solidFill>
                <a:latin typeface="Arial"/>
              </a:rPr>
              <a:t/>
            </a:r>
            <a:r>
              <a:rPr sz="1140" b="0" i="0">
                <a:solidFill>
                  <a:srgbClr val="21295C"/>
                </a:solidFill>
                <a:latin typeface="Arial"/>
              </a:rPr>
              <a:t>Рядом, другим жанром, и это разворачивает весь раздел: в другой программе измерили, </a:t>
            </a:r>
            <a:r>
              <a:rPr sz="1140" b="1" i="0">
                <a:solidFill>
                  <a:srgbClr val="21295C"/>
                </a:solidFill>
                <a:latin typeface="Arial"/>
              </a:rPr>
              <a:t>чьим находкам верят</a:t>
            </a:r>
            <a:r>
              <a:rPr sz="1140" b="0" i="0">
                <a:solidFill>
                  <a:srgbClr val="21295C"/>
                </a:solidFill>
                <a:latin typeface="Arial"/>
              </a:rPr>
              <a:t>. Из ста находок, сделанных </a:t>
            </a:r>
            <a:r>
              <a:rPr sz="1140" b="1" i="0">
                <a:solidFill>
                  <a:srgbClr val="21295C"/>
                </a:solidFill>
                <a:latin typeface="Arial"/>
              </a:rPr>
              <a:t>только моделью</a:t>
            </a:r>
            <a:r>
              <a:rPr sz="1140" b="0" i="0">
                <a:solidFill>
                  <a:srgbClr val="21295C"/>
                </a:solidFill>
                <a:latin typeface="Arial"/>
              </a:rPr>
              <a:t>, подтверждается раком </a:t>
            </a:r>
            <a:r>
              <a:rPr sz="1140" b="1" i="0">
                <a:solidFill>
                  <a:srgbClr val="21295C"/>
                </a:solidFill>
                <a:latin typeface="Arial"/>
              </a:rPr>
              <a:t>22</a:t>
            </a:r>
            <a:r>
              <a:rPr sz="1140" b="0" i="0">
                <a:solidFill>
                  <a:srgbClr val="21295C"/>
                </a:solidFill>
                <a:latin typeface="Arial"/>
              </a:rPr>
              <a:t>; из ста находок, сделанных </a:t>
            </a:r>
            <a:r>
              <a:rPr sz="1140" b="1" i="0">
                <a:solidFill>
                  <a:srgbClr val="21295C"/>
                </a:solidFill>
                <a:latin typeface="Arial"/>
              </a:rPr>
              <a:t>только радиологом</a:t>
            </a:r>
            <a:r>
              <a:rPr sz="1140" b="0" i="0">
                <a:solidFill>
                  <a:srgbClr val="21295C"/>
                </a:solidFill>
                <a:latin typeface="Arial"/>
              </a:rPr>
              <a:t> — </a:t>
            </a:r>
            <a:r>
              <a:rPr sz="1140" b="1" i="0">
                <a:solidFill>
                  <a:srgbClr val="21295C"/>
                </a:solidFill>
                <a:latin typeface="Arial"/>
              </a:rPr>
              <a:t>3,4</a:t>
            </a:r>
            <a:r>
              <a:rPr sz="1140" b="0" i="0">
                <a:solidFill>
                  <a:srgbClr val="21295C"/>
                </a:solidFill>
                <a:latin typeface="Arial"/>
              </a:rPr>
              <a:t>. А на дообследование отзывают чаще вторую: находку радиолога — в 14,2 случая из ста, находку модели — в 4,6.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40" b="0" i="0">
                <a:solidFill>
                  <a:srgbClr val="21295C"/>
                </a:solidFill>
                <a:latin typeface="Arial"/>
              </a:rPr>
              <a:t/>
            </a:r>
            <a:r>
              <a:rPr sz="1140" b="0" i="0">
                <a:solidFill>
                  <a:srgbClr val="21295C"/>
                </a:solidFill>
                <a:latin typeface="Arial"/>
              </a:rPr>
              <a:t>То есть здесь доверия к модели </a:t>
            </a:r>
            <a:r>
              <a:rPr sz="1140" b="1" i="0">
                <a:solidFill>
                  <a:srgbClr val="21295C"/>
                </a:solidFill>
                <a:latin typeface="Arial"/>
              </a:rPr>
              <a:t>слишком мало</a:t>
            </a:r>
            <a:r>
              <a:rPr sz="1140" b="0" i="0">
                <a:solidFill>
                  <a:srgbClr val="21295C"/>
                </a:solidFill>
                <a:latin typeface="Arial"/>
              </a:rPr>
              <a:t>, а не слишком много.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910" b="0" i="0">
                <a:solidFill>
                  <a:srgbClr val="21295C"/>
                </a:solidFill>
                <a:latin typeface="Arial"/>
              </a:rPr>
              <a:t/>
            </a:r>
            <a:r>
              <a:rPr sz="910" b="0" i="1">
                <a:solidFill>
                  <a:srgbClr val="1C7293"/>
                </a:solidFill>
                <a:latin typeface="Arial"/>
              </a:rPr>
              <a:t>Проспективное исследование в другой программе скрининга: 54 991 женщина, каждое исследование читают три независимых источника — два радиолога и система. Знаменатели двух сравниваемых групп почти одинаковы: 1 858 находок от одного радиолога против 1 886 от одной системы.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та же публикация — Lång и соавторы, итоговые результаты}}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проспективное измерение доверия к находкам в другой программе скрининга}}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Доверие и стаж: что ломается, что не спасает и где потолок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2177962"/>
          </a:xfrm>
          <a:prstGeom prst="roundRect">
            <a:avLst>
              <a:gd name="adj" fmla="val 13994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НЕВЕРНАЯ РАСШИФРОВКА РОНЯЕТ ТОЧНОСТЬ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3689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на 43 пункта · на 59 пунктов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81111"/>
            <a:ext cx="2398699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у стажёров кардиологии и у стажёров других специальностей: различает их специальность, не стаж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2177962"/>
          </a:xfrm>
          <a:prstGeom prst="roundRect">
            <a:avLst>
              <a:gd name="adj" fmla="val 13994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СТАЖ, СУБСПЕЦИАЛИЗАЦИЯ, ЗНАКОМСТВО С ИНСТРУМЕНТОМ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863689"/>
            <a:ext cx="2398699" cy="622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выигрыш от подсказки не предсказывают — предсказывает правота модели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2177962"/>
          </a:xfrm>
          <a:prstGeom prst="roundRect">
            <a:avLst>
              <a:gd name="adj" fmla="val 13994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737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СОГЛАСИЕ С НЕВЕРНОЙ ПОДСКАЗКОЙ: ОБЫЧНОЕ ОБЪЯСНЕНИЕ → ПРИНУДИТЕЛЬНЫЕ ПРИЁМЫ ПОДАЧИ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2209474"/>
            <a:ext cx="2398699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64 → 48 из ста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5303" y="2636474"/>
            <a:ext cx="2398699" cy="739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минус 16 пунктов; посчитано на ОДНОЙ задаче набора, а на общей метрике по всем задачам сдвиг значимости не достиг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15755" y="1335024"/>
            <a:ext cx="2673019" cy="2177962"/>
          </a:xfrm>
          <a:prstGeom prst="roundRect">
            <a:avLst>
              <a:gd name="adj" fmla="val 13994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52915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ОСТАЁТСЯ ПРИ САМОЙ СИЛЬНОЙ ИЗ ПРОВЕРЕННЫХ МЕР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2915" y="1863689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48 согласий из ста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2915" y="2681111"/>
            <a:ext cx="2398699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на эту остаточную долю процедуре и приходится рассчитывать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" y="3604426"/>
            <a:ext cx="11441887" cy="2631781"/>
          </a:xfrm>
          <a:prstGeom prst="roundRect">
            <a:avLst>
              <a:gd name="adj" fmla="val 1158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9496" y="3695866"/>
            <a:ext cx="11112703" cy="2540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110" b="1" i="0">
                <a:solidFill>
                  <a:srgbClr val="21295C"/>
                </a:solidFill>
                <a:latin typeface="Arial"/>
              </a:rPr>
              <a:t>Что ломается.</a:t>
            </a:r>
            <a:r>
              <a:rPr sz="1110" b="0" i="0">
                <a:solidFill>
                  <a:srgbClr val="21295C"/>
                </a:solidFill>
                <a:latin typeface="Arial"/>
              </a:rPr>
              <a:t> База падения — </a:t>
            </a:r>
            <a:r>
              <a:rPr sz="1110" b="1" i="0">
                <a:solidFill>
                  <a:srgbClr val="21295C"/>
                </a:solidFill>
                <a:latin typeface="Arial"/>
              </a:rPr>
              <a:t>верная</a:t>
            </a:r>
            <a:r>
              <a:rPr sz="1110" b="0" i="0">
                <a:solidFill>
                  <a:srgbClr val="21295C"/>
                </a:solidFill>
                <a:latin typeface="Arial"/>
              </a:rPr>
              <a:t> расшифровка, а не работа без подсказки: 84,86 против 41,66 и 86,38 против 27,43 из ста. Существеннее величины то, что связь уверенности с правотой ослабевает у обеих групп: человек остаётся так же уверен, будучи неправ.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10" b="0" i="0">
                <a:solidFill>
                  <a:srgbClr val="21295C"/>
                </a:solidFill>
                <a:latin typeface="Arial"/>
              </a:rPr>
              <a:t/>
            </a:r>
            <a:r>
              <a:rPr sz="1110" b="1" i="0">
                <a:solidFill>
                  <a:srgbClr val="21295C"/>
                </a:solidFill>
                <a:latin typeface="Arial"/>
              </a:rPr>
              <a:t>Где потолок.</a:t>
            </a:r>
            <a:r>
              <a:rPr sz="1110" b="0" i="0">
                <a:solidFill>
                  <a:srgbClr val="21295C"/>
                </a:solidFill>
                <a:latin typeface="Arial"/>
              </a:rPr>
              <a:t> Переустройство подачи подсказки снижает согласие с неверной подсказкой значимо — это настоящее улучшение. И при нём почти половина согласий с неверной подсказкой остаётся. </a:t>
            </a:r>
            <a:r>
              <a:rPr sz="1110" b="0" i="1">
                <a:solidFill>
                  <a:srgbClr val="21295C"/>
                </a:solidFill>
                <a:latin typeface="Arial"/>
              </a:rPr>
              <a:t>Лабораторный эксперимент, 199 участников; задача не клиническая, точность подсказки задана имитацией.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10" b="0" i="0">
                <a:solidFill>
                  <a:srgbClr val="21295C"/>
                </a:solidFill>
                <a:latin typeface="Arial"/>
              </a:rPr>
              <a:t/>
            </a:r>
            <a:r>
              <a:rPr sz="1110" b="1" i="0">
                <a:solidFill>
                  <a:srgbClr val="21295C"/>
                </a:solidFill>
                <a:latin typeface="Arial"/>
              </a:rPr>
              <a:t>Не измерено, и это названо пробелом.</a:t>
            </a:r>
            <a:r>
              <a:rPr sz="1110" b="0" i="0">
                <a:solidFill>
                  <a:srgbClr val="21295C"/>
                </a:solidFill>
                <a:latin typeface="Arial"/>
              </a:rPr>
              <a:t> «Одна ошибка обрывает доверие» как отдельная величина не опубликована. Измерено другое: увидев ошибку алгоритма, человек реже выбирает его и дальше — продолжая видеть, что алгоритм точнее человека; возможность хоть немного подправить прогноз этот отказ ослабляет.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10" b="0" i="0">
                <a:solidFill>
                  <a:srgbClr val="21295C"/>
                </a:solidFill>
                <a:latin typeface="Arial"/>
              </a:rPr>
              <a:t/>
            </a:r>
            <a:r>
              <a:rPr sz="1110" b="0" i="0">
                <a:solidFill>
                  <a:srgbClr val="21295C"/>
                </a:solidFill>
                <a:latin typeface="Arial"/>
              </a:rPr>
              <a:t>Доверие откалибровано </a:t>
            </a:r>
            <a:r>
              <a:rPr sz="1110" b="1" i="0">
                <a:solidFill>
                  <a:srgbClr val="21295C"/>
                </a:solidFill>
                <a:latin typeface="Arial"/>
              </a:rPr>
              <a:t>не по тому признаку</a:t>
            </a:r>
            <a:r>
              <a:rPr sz="1110" b="0" i="0">
                <a:solidFill>
                  <a:srgbClr val="21295C"/>
                </a:solidFill>
                <a:latin typeface="Arial"/>
              </a:rPr>
              <a:t>: не по правоте, а по подписи, по уверенности и по единичному видимому промаху.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10" b="0" i="0">
                <a:solidFill>
                  <a:srgbClr val="21295C"/>
                </a:solidFill>
                <a:latin typeface="Arial"/>
              </a:rPr>
              <a:t/>
            </a:r>
            <a:r>
              <a:rPr sz="1110" b="0" i="0">
                <a:solidFill>
                  <a:srgbClr val="21295C"/>
                </a:solidFill>
                <a:latin typeface="Arial"/>
              </a:rPr>
              <a:t>Чем это делают сегодня: подсказку выводят внутрь рабочего места рентгенолога через платформу-оркестратор, а не ставят отдельной программой. Больница закупает одну платформу и дальше подключает модули по подписке — решение «какой алгоритм смотрит ваш снимок» принимается после закупки. Платформа не добавляет точности: она добавляет подпись «смотрела программа».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Bond и соавторы, 2018 — прочтения кардиограмм}}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Yu и соавторы, Nature Medicine, 2024 — 140 радиологов}}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лабораторный эксперимент о переустройстве подачи подсказки, 199 участников}}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Карта стадии: чтение и решение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Матрица «тип задачи × модальность», оси те же, что в начале курса. В каждой занятой клетке — режим и одно-два названия; разборы раздела выделены.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Распознавание на изображении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модель вторым читателем в скрининге и триаж потока в неотложной рентгенологии.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Классификация на изображении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подсказка по оцифрованному срезу и оценка кожного образования.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Генерация на тексте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вопрос-ответ со ссылками и автоматическая запись приёма.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Прогноз на структурированных данных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счёт риска внутри карты.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Поиск на тексте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поиск по карте пациента.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Клетка, которой на рынке нет: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ансамбль моделей с голосованием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Клетка, которой не было на предыдущей стадии, — автоматическая запись приёма: текст в карте теперь появляется машинно, и держат его те же процедуры подписи.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Имена инструментов — не метрики.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Вывод: чтение рядом с моделью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Польза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второй взгляд на поток и напоминание о редком диагнозе настоящие; в одном устройстве процедуры пара измеренно сильнее обеих сторон.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Граница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выигрыш даёт несовпадение ошибок, а не точность модели.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Риск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знак эффекта зависит от правоты модели, и средняя точность внедрения складывает две противоположные вещи.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Дальше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если знак зависит от правоты модели, кто и чем замечает, что она неправа.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Выигрыш даёт устройство процедуры, а не сила инструмента: в разборе, где результат упал, и в контрольной линии, где он вырос, работал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один и тот же инструмент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4. Наблюдение за состоянием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Решение принято, лечение назначено. Дальше человек не стоит на месте: состояние меняется — иногда медленно, иногда за несколько часов. Кто-то должен заметить перемену раньше, чем она станет очевидной.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613331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Разбор раздела один —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Модель раннего предупреждения</a:t>
            </a:r>
            <a:r>
              <a:rPr sz="1550" b="0" i="0">
                <a:solidFill>
                  <a:srgbClr val="21295C"/>
                </a:solidFill>
                <a:latin typeface="Arial"/>
              </a:rPr>
              <a:t>. Она непрерывно считает балл риска по тем же показателям, что снимает дежурная смена, и прерывает работу тревогой, когда балл переходит порог.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Обход в палате и лист наблюдения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Обход по расписанию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40" y="133502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02536" y="141732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измерение величин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039258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267858" y="133502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50154" y="141732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сравнение с нормой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386876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15476" y="133502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7772" y="141732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запись в лист наблюдения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938528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Как собирается запись между обходами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2251382"/>
            <a:ext cx="11441887" cy="3984825"/>
          </a:xfrm>
          <a:prstGeom prst="roundRect">
            <a:avLst>
              <a:gd name="adj" fmla="val 764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2342822"/>
            <a:ext cx="11112703" cy="3893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Палата, обход по расписанию. Дежурная смена снимает руками и прибором несколько величин — дыхание, пульс, давление, температуру — и сравнивает с нормой.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Каждое измерение уходит в лист наблюдения. Он — единственное, что видит следующая смена, врач на обходе и разбор случая при осложнении.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Вопрос, который решают на этом шаге: звать старшего сейчас или на следующем обходе.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Решает тот, кто пациента не видел — и видит он только запись.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Шкала раннего предупреждения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59072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1417320"/>
            <a:ext cx="242613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баллы по отклонению от нормы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39363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67963" y="1335024"/>
            <a:ext cx="259072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50259" y="1417320"/>
            <a:ext cx="242613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сумма баллов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04407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3007" y="1335024"/>
            <a:ext cx="259072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5303" y="1417320"/>
            <a:ext cx="242613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сравнение с порогом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869451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98051" y="1335024"/>
            <a:ext cx="259072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0347" y="1417320"/>
            <a:ext cx="242613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назначенное действие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938528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Устройство шкалы — без обученной модели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2251382"/>
            <a:ext cx="11441887" cy="3984825"/>
          </a:xfrm>
          <a:prstGeom prst="roundRect">
            <a:avLst>
              <a:gd name="adj" fmla="val 764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2342822"/>
            <a:ext cx="11112703" cy="3893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Каждая измеренная величина получает баллы по тому, насколько она отклонилась от нормы. Баллы складываются. Сумма сравнивается с порогом. Порог назначает действие: участить наблюдение, вызвать старшего, вызвать бригаду.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Отличие от модели: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веса здесь назначены людьми и опубликованы.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Любой может посмотреть, почему балл такой.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официальная публикация действующей редакции шкалы раннего предупреждения, профессиональное общество, год редакции}}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Цена двух ошибок дежурной смены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Пропустить ухудшение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часы задержки лечения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{{нет в главе: место задержки лечения в ряду причин внутрибольничной смертности}}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51295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5887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Поднять ложную тревогу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дополнительные анализы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антибиотик «на всякий случай»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время сестры, снятое с другого пациента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4535424"/>
            <a:ext cx="11441887" cy="1700784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4626864"/>
            <a:ext cx="11112703" cy="160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Пропустить ухудшение.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Часы задержки лечения — {{нет в главе: место задержки лечения в ряду причин внутрибольничной смертности}}.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1" i="0">
                <a:solidFill>
                  <a:srgbClr val="21295C"/>
                </a:solidFill>
                <a:latin typeface="Arial"/>
              </a:rPr>
              <a:t>Поднять ложную тревогу.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Дополнительные анализы, антибиотик «на всякий случай», устойчивость возбудителя, время сестры, снятое с другого пациента.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0" i="0">
                <a:solidFill>
                  <a:srgbClr val="21295C"/>
                </a:solidFill>
                <a:latin typeface="Arial"/>
              </a:rPr>
              <a:t>Обе ошибки платит одна и та же дежурная смена.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1" i="0">
                <a:solidFill>
                  <a:srgbClr val="21295C"/>
                </a:solidFill>
                <a:latin typeface="Arial"/>
              </a:rPr>
              <a:t>Какую долю входящих оповещений вы закрываете, не читая?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Счёт заменяемых режимов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680031"/>
          </a:xfrm>
          <a:prstGeom prst="roundRect">
            <a:avLst>
              <a:gd name="adj" fmla="val 1814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ШКАЛА РАННЕГО ПРЕДУПРЕЖДЕНИЯ — ПОДТВЕРЖДАЕТСЯ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3689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8 эскалаций из ста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90688"/>
            <a:ext cx="3344570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45 776 пациентов общего профиля, сепсис у 3,3 из ста — 1 496 случаев; чувствительность шкалы 0,758, специфичность 0,711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680031"/>
          </a:xfrm>
          <a:prstGeom prst="roundRect">
            <a:avLst>
              <a:gd name="adj" fmla="val 1814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ДВЕ ДРУГИЕ ШКАЛЫ ТОГО ЖЕ РАЗБОРА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12 и 18 эскалаций из ста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3562" y="2508219"/>
            <a:ext cx="3344570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тот же разбор, та же выборка — шкалы сравнивались между собой на одном населении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9884" y="1335024"/>
            <a:ext cx="3618890" cy="1680031"/>
          </a:xfrm>
          <a:prstGeom prst="roundRect">
            <a:avLst>
              <a:gd name="adj" fmla="val 18142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ТРЕВОГИ ПРИКРОВАТНОГО ПРИБОРА — ЛОЖНЫЕ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044" y="169079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88,8 из ста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044" y="2117795"/>
            <a:ext cx="3344570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12 671 размеченная тревога аритмии в реанимации; обученной модели в приборе нет вовсе — там порог, выставленный рукой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3106495"/>
            <a:ext cx="11441887" cy="3129712"/>
          </a:xfrm>
          <a:prstGeom prst="roundRect">
            <a:avLst>
              <a:gd name="adj" fmla="val 97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3197935"/>
            <a:ext cx="11112703" cy="3038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8 эскалаций из ста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подтверждаются у шкалы раннего предупреждения на поиске сепсиса в общем отделении — то есть 92 из ста сделаны впустую, и эта цена была частью контура до всякого машинного обучения.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12 и 18 эскалаций из ста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две другие шкалы того же разбора, на той же выборке.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88,8 из ста тревог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прикроватного прибора ложные — из 12 671 размеченной тревоги аритмии. Обученной модели там нет вовсе: порог выставлен рукой. Прибор и шкала решают разные задачи, и доли их не складываются.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Ни один классический режим не был бесплатным. Сравнивать модель надо с этими числами, а не с нулём.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сравнение балльных шкал на поиске сепсиса в общем отделении, JAMIA Open, 2021}}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наблюдательное исследование тревог реанимации, PMC4206416}}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Модель раннего предупреждения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2049707"/>
          </a:xfrm>
          <a:prstGeom prst="roundRect">
            <a:avLst>
              <a:gd name="adj" fmla="val 1487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ЗАЯВЛЕНО РАЗРАБОТЧИКОМ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не менее 0,76 · 0,83–0,86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08219"/>
            <a:ext cx="3344570" cy="739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первое — информационный лист по первой версии, второе — заявление по второй версии по трём своим площадкам; это не одно число, и оно менялось от версии к версии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2049707"/>
          </a:xfrm>
          <a:prstGeom prst="roundRect">
            <a:avLst>
              <a:gd name="adj" fmla="val 1487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ИЗМЕРЕНО НЕЗАВИСИМОЙ ПРОВЕРКОЙ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0,63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3562" y="2117795"/>
            <a:ext cx="3344570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внешняя проверка первой версии: 38 455 госпитализаций 27 697 пациентов одной университетской системы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9884" y="1335024"/>
            <a:ext cx="3618890" cy="2049707"/>
          </a:xfrm>
          <a:prstGeom prst="roundRect">
            <a:avLst>
              <a:gd name="adj" fmla="val 1487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ПОЙМАНО СЛУЧАЕВ СЕПСИСА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044" y="169079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33 из ста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044" y="2117795"/>
            <a:ext cx="3344570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не выявлено 1 709 из 2 552; из пациентов, которых пропустил клиницист, модель поймала 7 из ста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3476171"/>
            <a:ext cx="11441887" cy="2760036"/>
          </a:xfrm>
          <a:prstGeom prst="roundRect">
            <a:avLst>
              <a:gd name="adj" fmla="val 1104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3567611"/>
            <a:ext cx="11112703" cy="26685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Модель непрерывно считает балл риска по карте и прерывает работу тревогой с готовым набором назначений в один щелчок.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Заявлено разработчиком: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не менее 0,76 по первой версии, 0,83–0,86 по второй.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Измерено независимой проверкой первой версии: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0,63.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Поймано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33 случая сепсиса из ста — не выявлено 1 709 из 2 552.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Класс модели — штрафованная логистическая регрессия: обученная статистика, а не глубокая сеть.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Режим: предиктивный модуль внутри самой медицинской карты. Чем это делают сегодня: модель сепсиса у Epic (действующая версия — решающие деревья с градиентным бустингом, с донастройкой на историю своей больницы); у второго крупного поставщика карты — та же схема на моделях облачного партнёра; в России — Webiomed. Чего режим не умеет: переносить качество между населениями; замолкать, когда картина населения меняется.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Wong, Otles и др., JAMA Internal Medicine, 2021}}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Сто госпитализаций, восемнадцать тревог, один подтверждённый случай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289607"/>
          </a:xfrm>
          <a:prstGeom prst="roundRect">
            <a:avLst>
              <a:gd name="adj" fmla="val 2363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ТРЕВОГА ПРИХОДИТ 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18 из ста госпитализаций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5236311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6 971 тревога на 38 455 госпитализаций; пересказ «каждая шестая госпитализация» занижает измеренное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289607"/>
          </a:xfrm>
          <a:prstGeom prst="roundRect">
            <a:avLst>
              <a:gd name="adj" fmla="val 23635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ЧТОБЫ НАЙТИ ОДИН СЛУЧАЙ СЕПСИСА, РАЗОБРАТЬ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восемь тревог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303" y="2117795"/>
            <a:ext cx="5236311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прежнее значение той же работы — пятнадцать — отозвано эрратой того же журнала; пресса печатает отозванное до сих пор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62375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Поток тревоги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20240" y="2807511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02536" y="2889807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1 000 госпитализаций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039258" y="2967531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67858" y="2807511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50154" y="2889807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около 181 тревоги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86876" y="2967531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15476" y="2807511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7772" y="2889807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22 подтверждённых случая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411015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Путь одной тревоги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" y="3723870"/>
            <a:ext cx="11441887" cy="2512337"/>
          </a:xfrm>
          <a:prstGeom prst="roundRect">
            <a:avLst>
              <a:gd name="adj" fmla="val 1213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496" y="3815310"/>
            <a:ext cx="11112703" cy="24208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Тревога приходит на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18 из ста госпитализаций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Чтобы найти одного пациента, у которого разовьётся сепсис, разобрать приходится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восемь тревог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Знаменатели здесь разные, и путать их нельзя: 18 — доля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госпитализаций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на которые пришла тревога; 12 — доля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поднятых тревог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которые подтвердились. Шкала, которую модель заменяла, подтверждалась 8 эскалациями из ста, другая шкала того же разбора — 18. Модель из этой полосы не вышла.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Населения разные, и событие в них случается с разной частотой: сравнивается порядок величины, а не превосходство.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1179576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Wong, Otles и др., JAMA Internal Medicine, 2021}}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сравнение балльных шкал, JAMIA Open, 2021}}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Вторая проверка: другие авторы, другие больницы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2777114"/>
          </a:xfrm>
          <a:prstGeom prst="roundRect">
            <a:avLst>
              <a:gd name="adj" fmla="val 1140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ПОЙМАНО СЛУЧАЕВ СЕПСИСА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2398699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14,7 из ста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2398699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специфичность 95,3 из ста; подтверждается 7,6 тревоги из ста поднятых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2777114"/>
          </a:xfrm>
          <a:prstGeom prst="roundRect">
            <a:avLst>
              <a:gd name="adj" fmla="val 1140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СРАБАТЫВАНИЕ — ДОЛЯ ОБРАЩЕНИЙ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863689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4,9 из ста обращений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7691" y="2681111"/>
            <a:ext cx="2398699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7 183 срабатывания на 145 885 обращений; до «пяти из ста» не округляется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1335024"/>
            <a:ext cx="2673019" cy="2777114"/>
          </a:xfrm>
          <a:prstGeom prst="roundRect">
            <a:avLst>
              <a:gd name="adj" fmla="val 11402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5303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ОПЕРЕЖЕНИЕ КЛИНИЧЕСКОГО РЕШЕНИЯ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5303" y="1863689"/>
            <a:ext cx="2398699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ноль минут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5303" y="2290688"/>
            <a:ext cx="2398699" cy="1109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разброс по восьмидесяти процентам случаев — от шести часов сорока двух минут раньше врача до двенадцати часов позже; примерно в половине случаев врачи вели сепсис уже до тревоги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15755" y="1335024"/>
            <a:ext cx="2673019" cy="2777114"/>
          </a:xfrm>
          <a:prstGeom prst="roundRect">
            <a:avLst>
              <a:gd name="adj" fmla="val 1140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52915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ДЕЙСТВУЮЩАЯ ВЕРСИЯ — РАЗЛИЧЕНИЕ И ПОДТВЕРЖДЕНИЕ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2915" y="1863689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от 0,82 до 0,92 · от 0,13 до 0,26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2915" y="2681111"/>
            <a:ext cx="2398699" cy="12938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площадь под кривой на уровне госпитализации и прогностическая ценность — то есть от четырёх до восьми тревог на одно подтверждение; 227 091 госпитализация в четырёх системах, сепсис у 3,3 из ста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4904" y="4203578"/>
            <a:ext cx="11441887" cy="2032629"/>
          </a:xfrm>
          <a:prstGeom prst="roundRect">
            <a:avLst>
              <a:gd name="adj" fmla="val 149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" y="4295018"/>
            <a:ext cx="11112703" cy="19411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40" b="0" i="0">
                <a:solidFill>
                  <a:srgbClr val="21295C"/>
                </a:solidFill>
                <a:latin typeface="Arial"/>
              </a:rPr>
              <a:t>Вторая проверка, другие авторы, другие больницы: 145 885 обращений двух приёмных отделений. Поймано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14,7 случая сепсиса из ста</a:t>
            </a:r>
            <a:r>
              <a:rPr sz="1440" b="0" i="0">
                <a:solidFill>
                  <a:srgbClr val="21295C"/>
                </a:solidFill>
                <a:latin typeface="Arial"/>
              </a:rPr>
              <a:t>. Срабатывание —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4,9 обращения из ста</a:t>
            </a:r>
            <a:r>
              <a:rPr sz="1440" b="0" i="0">
                <a:solidFill>
                  <a:srgbClr val="21295C"/>
                </a:solidFill>
                <a:latin typeface="Arial"/>
              </a:rPr>
              <a:t>. Медианное опережение клинического решения —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ноль минут</a:t>
            </a:r>
            <a:r>
              <a:rPr sz="144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0" i="0">
                <a:solidFill>
                  <a:srgbClr val="21295C"/>
                </a:solidFill>
                <a:latin typeface="Arial"/>
              </a:rPr>
              <a:t>Вывод авторов дословно: «добавляет мало к тому, что врачи и так делают».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0" i="0">
                <a:solidFill>
                  <a:srgbClr val="21295C"/>
                </a:solidFill>
                <a:latin typeface="Arial"/>
              </a:rPr>
              <a:t>Действующую версию модели проверили отдельно, многоцентрово и проспективно: различение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от 0,82 до 0,92</a:t>
            </a:r>
            <a:r>
              <a:rPr sz="1440" b="0" i="0">
                <a:solidFill>
                  <a:srgbClr val="21295C"/>
                </a:solidFill>
                <a:latin typeface="Arial"/>
              </a:rPr>
              <a:t>, прогностическая ценность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от 0,13 до 0,26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от четырёх до восьми тревог на одно подтверждение. Это текущее состояние того же случая, а не снятая версия.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внешняя проверка в двух приёмных отделениях, JAMIA Open, 2024}}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проспективная многоцентровая проверка действующей версии модели, уточнить публикацию}}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Пара на тревогах: дало, потребовало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ДАЛО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раннее оповещение работает без участия человека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ПОТРЕБОВАЛО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3562" y="1690796"/>
            <a:ext cx="3344570" cy="9022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разбор и отклонение тревоги — отдельная статья рабочего времени, со штатом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СУММЕ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044" y="1690796"/>
            <a:ext cx="3344570" cy="1156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внимание расходуется там же, где раньше, только больше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Дало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раннее оповещение существует и работает без участия человека.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Потребовало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разбор и отклонение тревоги стало отдельной статьёй рабочего времени, которой до внедрения не существовало; в отдельных больницах у этого шага появился штат.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В сумме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внимание расходуется там же, где и раньше, только больше.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Форма «нагрузка выросла на том же месте»: та же дежурная смена у той же постели, объём чтения и отклонения вырос. Форма «шаг появился»: разбор потока тревог как статья рабочего времени.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Та же постановка перенесена на детей, и разбор опубликован — {{нет в главе: число по детской популяции}}. Поток тревог в 24 больницах за время вирусной эпидемии вырос с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953 до 1 363 в сутки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причём загрузка за тот же период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упала с 10 159 до 6 634 пациентов</a:t>
            </a:r>
            <a:r>
              <a:rPr sz="1500" b="0" i="0">
                <a:solidFill>
                  <a:srgbClr val="21295C"/>
                </a:solidFill>
                <a:latin typeface="Arial"/>
              </a:rPr>
              <a:t>: доля пациентов с тревогой выросла с 9 до 21 из ста.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та же постановка на детях, публикация 2026}}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наблюдение потока тревог в 24 больницах за время эпидемии}}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Вывод: наблюдение за состоянием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Польза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модель считает балл риска непрерывно и там, где дежурная смена успевает складывать его раз в несколько часов.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Граница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она не вышла за полосу подтверждения заменённой шкалы: больше тревог не значит больше пойманных случаев.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Риск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нагрузка выросла на том же месте, и появился шаг — разбор и отклонение потока, за которым теперь нужен штат.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Дальше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запись об этом решении читает кто-то, кто пациента не видел вовсе.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Форма «появился шаг» встретится ещё раз в разделе о ведении записи: это повторение формы на разном материале, не новое наблюдение.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5. Ведение записи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942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Приём и госпитализация заканчиваются документом. Запись приёма читает сам пациент и следующий врач; выписной эпикриз читает участковый врач, следующий стационар, страховщик — человек, который пациента не видел и видит только текст.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915422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Два разбора по порядку: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Автоматическая запись приёма</a:t>
            </a:r>
            <a:r>
              <a:rPr sz="1550" b="0" i="0">
                <a:solidFill>
                  <a:srgbClr val="21295C"/>
                </a:solidFill>
                <a:latin typeface="Arial"/>
              </a:rPr>
              <a:t> ·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Выписной эпикриз</a:t>
            </a:r>
            <a:r>
              <a:rPr sz="155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Автоматическая запись приёма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2407438"/>
          </a:xfrm>
          <a:prstGeom prst="roundRect">
            <a:avLst>
              <a:gd name="adj" fmla="val 126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ЗАЯВЛЕНО — БЕЗ РАСКРЫТОЙ МЕТОДИКИ СЧЁТА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3689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15 791 час на 63 000 приёмов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81111"/>
            <a:ext cx="2398699" cy="92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за десять недель работы инструмента — это около четверти часа на приём, тогда как вся работа над заметкой измерена минутами: сопоставить одно с другим нельзя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2407438"/>
          </a:xfrm>
          <a:prstGeom prst="roundRect">
            <a:avLst>
              <a:gd name="adj" fmla="val 126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ИЗМЕРЕНО — ПЕРВЫЙ ИНСТРУМЕНТ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690796"/>
            <a:ext cx="2398699" cy="6137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время в заметке ниже на 9,5 процента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7691" y="2304520"/>
            <a:ext cx="2398699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относительно контрольной группы, которая писала заметки как раньше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1335024"/>
            <a:ext cx="2673019" cy="2407438"/>
          </a:xfrm>
          <a:prstGeom prst="roundRect">
            <a:avLst>
              <a:gd name="adj" fmla="val 126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ИЗМЕРЕНО — ИНСТРУМЕНТ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5303" y="1690796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значимого изменения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15755" y="1335024"/>
            <a:ext cx="2673019" cy="2407438"/>
          </a:xfrm>
          <a:prstGeom prst="roundRect">
            <a:avLst>
              <a:gd name="adj" fmla="val 126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АКТИВНОЕ ВРЕМЯ ПРАВКИ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2915" y="1690796"/>
            <a:ext cx="2398699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не изменилось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4" y="3833902"/>
            <a:ext cx="11441887" cy="2402305"/>
          </a:xfrm>
          <a:prstGeom prst="roundRect">
            <a:avLst>
              <a:gd name="adj" fmla="val 1268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" y="3925342"/>
            <a:ext cx="11112703" cy="2310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Инструмент слушает приём и отдаёт черновик заметки; врач вычитывает и подписывает.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1" i="0">
                <a:solidFill>
                  <a:srgbClr val="21295C"/>
                </a:solidFill>
                <a:latin typeface="Arial"/>
              </a:rPr>
              <a:t>Заявлено: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экономия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15 791 часа на 63 000 приёмов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за десять недель — методика счёта не раскрыта.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Измерено рандомизированным испытанием (238 врачей четырнадцати специальностей):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у одного из двух инструментов время в заметке упало на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9,5 процента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относительно контрольной группы, у второго значимого изменения нет;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активное время правки заметки не изменилось.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0" i="0">
                <a:solidFill>
                  <a:srgbClr val="21295C"/>
                </a:solidFill>
                <a:latin typeface="Arial"/>
              </a:rPr>
              <a:t>Две величины разные — время в карте и время правки, — и заявление посчитано не в той, в которой измерен результат.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80" b="0" i="0">
                <a:solidFill>
                  <a:srgbClr val="21295C"/>
                </a:solidFill>
                <a:latin typeface="Arial"/>
              </a:rPr>
              <a:t/>
            </a:r>
            <a:r>
              <a:rPr sz="1080" b="0" i="1">
                <a:solidFill>
                  <a:srgbClr val="1C7293"/>
                </a:solidFill>
                <a:latin typeface="Arial"/>
              </a:rPr>
              <a:t>Режим: амбиентная запись приёма — голосом в текст. Чем это делают сегодня: Abridge и Ambience в крупных системах, Microsoft Dragon Copilot (прежний Nuance DAX), Nabla и Suki в среднем сегменте. Чего режим не умеет: снять обязанность вычитки; сократить активное время правки.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1" i="0">
                <a:solidFill>
                  <a:srgbClr val="21295C"/>
                </a:solidFill>
                <a:latin typeface="Arial"/>
              </a:rPr>
              <a:t>Кто из вас прочитывает автоматический протокол встречи построчно перед тем, как разослать?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трёхрукое рандомизированное испытание двух инструментов, препринт medRxiv 2025.07.10.25331333}}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многоцентровое наблюдение приёмных отделений}}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Две дорожки: набор текста и вычитка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ДАЛО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заметка готова раньше, усталость от работы ниже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ПОТРЕБОВАЛО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3562" y="1690796"/>
            <a:ext cx="3344570" cy="9022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обязательная вычитка каждого черновика и служба контроля качества со штатом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СУММЕ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044" y="1690796"/>
            <a:ext cx="3344570" cy="8259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 i="0">
                <a:solidFill>
                  <a:srgbClr val="F0AB00"/>
                </a:solidFill>
                <a:latin typeface="Arial"/>
              </a:rPr>
              <a:t>набор текста сократился, вычитка появилась, активное время правки осталось прежним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273546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Было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20240" y="3218682"/>
            <a:ext cx="4747107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02536" y="3300978"/>
            <a:ext cx="458251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набор текста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13067" y="3378702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941667" y="3218682"/>
            <a:ext cx="4747107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3963" y="3300978"/>
            <a:ext cx="458251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подпись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877050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Стало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20240" y="3822186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02536" y="3904482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разговор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202353" y="398220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30953" y="3822186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13249" y="3904482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черновик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713067" y="398220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41667" y="3822186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23963" y="3904482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вычитка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223781" y="398220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452381" y="3822186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34677" y="3904482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подпись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480554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Поверх, другой рукой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920240" y="4425690"/>
            <a:ext cx="9768535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02536" y="4507986"/>
            <a:ext cx="960394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выборочный контроль заметок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029194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Две дорожки врача — и третья строка: операция, которую делает не он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4904" y="5342048"/>
            <a:ext cx="11441887" cy="894159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" y="5433488"/>
            <a:ext cx="11112703" cy="80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Пятую операцию делает не врач: выборочный контроль заметок — работа появившейся службы со своим штатом.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0" i="0">
                <a:solidFill>
                  <a:srgbClr val="21295C"/>
                </a:solidFill>
                <a:latin typeface="Arial"/>
              </a:rPr>
              <a:t>Нагрузка переехала с набора на вычитку, и рядом появился шаг, которого не было.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0" i="0">
                <a:solidFill>
                  <a:srgbClr val="21295C"/>
                </a:solidFill>
                <a:latin typeface="Arial"/>
              </a:rPr>
              <a:t>Ноль изменений у второго инструмента: эффект принадлежит не режиму, а реализации.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отчёт службы контроля качества клиники}}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Выписной эпикриз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1669971"/>
          </a:xfrm>
          <a:prstGeom prst="roundRect">
            <a:avLst>
              <a:gd name="adj" fmla="val 1825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ПОЛНОТА ДОКУМЕНТА: ЧЕЛОВЕК → МОДЕЛЬ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3689"/>
            <a:ext cx="2398699" cy="6137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4,13 → 3,72 по пятибалльной шкале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77412"/>
            <a:ext cx="2398699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слепая дублированная оценка 22 рецензентов на 100 госпитализациях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1669971"/>
          </a:xfrm>
          <a:prstGeom prst="roundRect">
            <a:avLst>
              <a:gd name="adj" fmla="val 1825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УНИКАЛЬНЫХ ОШИБОК НА ДОКУМЕНТ: ЧЕЛОВЕК → МОДЕЛЬ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863689"/>
            <a:ext cx="2398699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1,82 → 2,91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7691" y="2290688"/>
            <a:ext cx="2398699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потенциальный вред одной ошибки у человека и у модели не различается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1335024"/>
            <a:ext cx="2673019" cy="1669971"/>
          </a:xfrm>
          <a:prstGeom prst="roundRect">
            <a:avLst>
              <a:gd name="adj" fmla="val 1825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5303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ПОТЕНЦИАЛ ВРЕДА ОДНОЙ ОШИБКИ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5303" y="1863689"/>
            <a:ext cx="2398699" cy="10041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1" i="0">
                <a:solidFill>
                  <a:srgbClr val="F0AB00"/>
                </a:solidFill>
                <a:latin typeface="Arial"/>
              </a:rPr>
              <a:t>у человека и у модели совпадает, обе оценки низкие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15755" y="1335024"/>
            <a:ext cx="2673019" cy="1669971"/>
          </a:xfrm>
          <a:prstGeom prst="roundRect">
            <a:avLst>
              <a:gd name="adj" fmla="val 1825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ТРОЙКА ИЗ ПЕРЕСКАЗОВ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2915" y="1690796"/>
            <a:ext cx="2398699" cy="8768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построчно не найдена ни в одной из трёх открытых работ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4" y="3096435"/>
            <a:ext cx="11441887" cy="3139772"/>
          </a:xfrm>
          <a:prstGeom prst="roundRect">
            <a:avLst>
              <a:gd name="adj" fmla="val 97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" y="3187875"/>
            <a:ext cx="11112703" cy="30483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Модель собирает выписной документ по истории болезни; врач вычитывает и подписывает; документ читает следующий врач и назначает по нему.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1" i="0">
                <a:solidFill>
                  <a:srgbClr val="21295C"/>
                </a:solidFill>
                <a:latin typeface="Arial"/>
              </a:rPr>
              <a:t>Дало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документ готов раньше, короче и связнее.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Потребовало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полноты и вычитки другого рода.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В сумме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потенциал вреда одной ошибки тот же, ошибок больше, документ менее полон.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1" i="0">
                <a:solidFill>
                  <a:srgbClr val="21295C"/>
                </a:solidFill>
                <a:latin typeface="Arial"/>
              </a:rPr>
              <a:t>А теперь то, что по этому случаю чаще всего и пересказывают.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В обзорах и в журналистских пересказах ходит тройка: потенциально вредные проблемы в части машинных эпикризов, добавленный несуществующий препарат, расхождение с потенциалом необратимого вреда — три аккуратных числа со ссылкой на «исследование ста эпикризов».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1" i="0">
                <a:solidFill>
                  <a:srgbClr val="21295C"/>
                </a:solidFill>
                <a:latin typeface="Arial"/>
              </a:rPr>
              <a:t>Построчное чтение трёх доступных первоисточников этой тройки не даёт.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Проспективное исследование ста сводок считает другой состав и в других определениях: пропуски, неточности, выдумки, умеренный вред — и ни одного случая тяжёлого. Слепое сравнение ста госпитализаций даёт счёт отдельных ошибок с потенциалом необратимого вреда у модели против такого же счёта у врачей.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0">
                <a:solidFill>
                  <a:srgbClr val="21295C"/>
                </a:solidFill>
                <a:latin typeface="Arial"/>
              </a:rPr>
              <a:t>Числа, которые удобно звучат, живут в пересказах дольше, чем в первоисточниках.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Разряд свидетельства у пересказа ниже, чем у исследования, даже когда числа совпадают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а проверка одного первоисточника построчно меняет состав утверждения целиком.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960" b="0" i="0">
                <a:solidFill>
                  <a:srgbClr val="21295C"/>
                </a:solidFill>
                <a:latin typeface="Arial"/>
              </a:rPr>
              <a:t/>
            </a:r>
            <a:r>
              <a:rPr sz="960" b="0" i="1">
                <a:solidFill>
                  <a:srgbClr val="1C7293"/>
                </a:solidFill>
                <a:latin typeface="Arial"/>
              </a:rPr>
              <a:t>Режим: генерация клинических документов внутри карты — сводка событий госпитализации, отдельно сводка со ссылкой на место в карте-источнике. Без такой привязки режим не умеет отличить правдоподобное от записанного.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слепое сравнение ста госпитализаций, JAMA Internal Medicine, 2025}}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проспективный пилот, JAMA Network Open, 2026}}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внедрение в клинике Японии, Cureus, 2026}}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Вывод: ведение записи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Польза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заметка и выписной документ готовы быстрее, короче и связнее прежнего.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Граница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вычитка не исчезла, она сменила предмет: искать теперь надо не опечатку, а правдоподобную подробность, которой не было.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Риск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набор текста переехал на вычитку, а у вычитки появился собственный штат; документ, по которому назначают, стал менее полным.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Дальше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эпикриз и есть документ, под которым стоит подпись.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Форма «появился шаг» повторилась здесь на другом материале — так же, как в наблюдении за состоянием.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6. Чем удерживают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Подпись, процедура, норматив.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311240"/>
            <a:ext cx="10984687" cy="942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Предыдущий раздел разбирал запись — эпикриз, который кто-то вычитывает и подписывает. Этот раздел про саму подпись: что она значит, кто проверяет, что подписавший ещё способен возразить машине, и что происходит, когда программа меняется уже после того, как её допустили к продаже.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382105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1 разбор · 1 обзор надзора после допуска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848787"/>
            <a:ext cx="10984687" cy="942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По порядку: разбор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«Норма есть, проверки нет»</a:t>
            </a:r>
            <a:r>
              <a:rPr sz="1550" b="0" i="0">
                <a:solidFill>
                  <a:srgbClr val="21295C"/>
                </a:solidFill>
                <a:latin typeface="Arial"/>
              </a:rPr>
              <a:t> — требование оставить человека финальным звеном проверили на практике у считаных устройств из сотен допущенных. И обзор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«Модель, которая меняется после допуска»</a:t>
            </a:r>
            <a:r>
              <a:rPr sz="1550" b="0" i="0">
                <a:solidFill>
                  <a:srgbClr val="21295C"/>
                </a:solidFill>
                <a:latin typeface="Arial"/>
              </a:rPr>
              <a:t> — что регулятор требует от программы, которая продолжает обучаться уже на рынке.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4919652"/>
            <a:ext cx="11185855" cy="430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Семь человек за столом врачебной комиссии решают один вопрос: соответствовали ли действия врача утверждённому порядку. Пользовался ли он моделью — вопрос, которого в этом списке нет.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Регламент (ЕС) 2024/1689, статья 14; систематический обзор поданной регуляторам документации по радиологическим устройствам с ИИ, JAMA Network Open 2025;8(11):e2542338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Одна комната и один случай: врачебная комиссия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1289304" cy="845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За столом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40" y="1335024"/>
            <a:ext cx="2236393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02536" y="1417320"/>
            <a:ext cx="2071801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Заместитель главного врача — председатель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202353" y="1688978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30953" y="1335024"/>
            <a:ext cx="2236393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3249" y="1417320"/>
            <a:ext cx="2071801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Заведующий отделением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713067" y="1688978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41667" y="1335024"/>
            <a:ext cx="2236393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23963" y="1417320"/>
            <a:ext cx="2071801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Двое врачей той же специальности из другого отделения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223781" y="1688978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452381" y="1335024"/>
            <a:ext cx="2236393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34677" y="1417320"/>
            <a:ext cx="2071801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Эксперт по качеству помощи · секретарь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381260"/>
            <a:ext cx="1289304" cy="642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На столе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20240" y="2326396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02536" y="2408692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Карта со всеми заключениями и подписями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202353" y="2579130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30953" y="2326396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3249" y="2408692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Протоколы исследований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713067" y="2579130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41667" y="2326396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23963" y="2408692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Распечатка вывода модели и момент её показа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223781" y="2579130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452381" y="2326396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34677" y="2408692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Утверждённый порядок и клинические рекомендации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3115328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Кто сидит за столом и что на нём лежит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4904" y="3428182"/>
            <a:ext cx="11441887" cy="2808025"/>
          </a:xfrm>
          <a:prstGeom prst="roundRect">
            <a:avLst>
              <a:gd name="adj" fmla="val 1085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9496" y="3519622"/>
            <a:ext cx="11112703" cy="27165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80" b="0" i="0">
                <a:solidFill>
                  <a:srgbClr val="21295C"/>
                </a:solidFill>
                <a:latin typeface="Arial"/>
              </a:rPr>
              <a:t>Четверг, кабинет заместителя главного врача. Комиссия разбирает один случай: пациентка шестидесяти восьми лет, госпитализирована с болью в животе, выписана через четыре дня, вернулась через сутки с осложнением.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80" b="0" i="0">
                <a:solidFill>
                  <a:srgbClr val="21295C"/>
                </a:solidFill>
                <a:latin typeface="Arial"/>
              </a:rPr>
              <a:t/>
            </a:r>
            <a:r>
              <a:rPr sz="1380" b="1" i="0">
                <a:solidFill>
                  <a:srgbClr val="21295C"/>
                </a:solidFill>
                <a:latin typeface="Arial"/>
              </a:rPr>
              <a:t>Кто сидит за столом.</a:t>
            </a:r>
            <a:r>
              <a:rPr sz="1380" b="0" i="0">
                <a:solidFill>
                  <a:srgbClr val="21295C"/>
                </a:solidFill>
                <a:latin typeface="Arial"/>
              </a:rPr>
              <a:t> Председатель — заместитель главного врача. Заведующий отделением. Двое врачей той же специальности из другого отделения — с лечащим они не работают вместе. Эксперт по качеству медицинской помощи. Секретарь, ведущий протокол.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80" b="0" i="0">
                <a:solidFill>
                  <a:srgbClr val="21295C"/>
                </a:solidFill>
                <a:latin typeface="Arial"/>
              </a:rPr>
              <a:t/>
            </a:r>
            <a:r>
              <a:rPr sz="1380" b="1" i="0">
                <a:solidFill>
                  <a:srgbClr val="21295C"/>
                </a:solidFill>
                <a:latin typeface="Arial"/>
              </a:rPr>
              <a:t>Что лежит на столе.</a:t>
            </a:r>
            <a:r>
              <a:rPr sz="1380" b="0" i="0">
                <a:solidFill>
                  <a:srgbClr val="21295C"/>
                </a:solidFill>
                <a:latin typeface="Arial"/>
              </a:rPr>
              <a:t> Карта со всеми заключениями и подписями. Протоколы исследований. Распечатка того, что показала модель, и отметка, в какой момент она это показала. Утверждённый порядок оказания помощи и клинические рекомендации.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80" b="0" i="0">
                <a:solidFill>
                  <a:srgbClr val="21295C"/>
                </a:solidFill>
                <a:latin typeface="Arial"/>
              </a:rPr>
              <a:t/>
            </a:r>
            <a:r>
              <a:rPr sz="1380" b="1" i="0">
                <a:solidFill>
                  <a:srgbClr val="21295C"/>
                </a:solidFill>
                <a:latin typeface="Arial"/>
              </a:rPr>
              <a:t>Какой вопрос решают.</a:t>
            </a:r>
            <a:r>
              <a:rPr sz="1380" b="0" i="0">
                <a:solidFill>
                  <a:srgbClr val="21295C"/>
                </a:solidFill>
                <a:latin typeface="Arial"/>
              </a:rPr>
              <a:t> Один: соответствовали ли действия врача утверждённым порядкам, стандартам и рекомендациям.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80" b="0" i="0">
                <a:solidFill>
                  <a:srgbClr val="21295C"/>
                </a:solidFill>
                <a:latin typeface="Arial"/>
              </a:rPr>
              <a:t/>
            </a:r>
            <a:r>
              <a:rPr sz="1380" b="0" i="0">
                <a:solidFill>
                  <a:srgbClr val="21295C"/>
                </a:solidFill>
                <a:latin typeface="Arial"/>
              </a:rPr>
              <a:t>Вопроса «пользовался ли он моделью» в этом списке нет.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описание процедуры разбора врачебной ошибки — нормативный акт, раздел, дата}}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Два шага процедуры: разбор случая и склонность доверять автомату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659284"/>
          </a:xfrm>
          <a:prstGeom prst="roundRect">
            <a:avLst>
              <a:gd name="adj" fmla="val 18369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ТОЧНОСТЬ БЕЗ МОДЕЛИ → С МОДЕЛЬЮ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87,2 → 96,4 из ста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3344570" cy="739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40 клиницистов, по 200 снимков каждый — восемь тысяч прочтений; девять пунктов посчитаны против ОДНОГО читателя: второе мнение второго человека в опыте названо и не посчитано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659284"/>
          </a:xfrm>
          <a:prstGeom prst="roundRect">
            <a:avLst>
              <a:gd name="adj" fmla="val 18369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ОСТАТОЧНЫЕ ОШИБКИ ОТ СКЛОННОСТИ ДОВЕРЯТЬ АВТОМАТУ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863689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45,5 из ста ошибок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3562" y="2290688"/>
            <a:ext cx="3344570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доля считается от ошибок, оставшихся в раунде с подсказкой, и наблюдалась на всех уровнях квалификации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9884" y="1335024"/>
            <a:ext cx="3618890" cy="1659284"/>
          </a:xfrm>
          <a:prstGeom prst="roundRect">
            <a:avLst>
              <a:gd name="adj" fmla="val 18369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7044" y="1472184"/>
            <a:ext cx="3344570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РАСЧЁТНОЕ СНИЖЕНИЕ — ОЦЕНЕНО РАСЧЁТОМ, НЕ ИЗМЕРЕНО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044" y="1863689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41,7 процента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044" y="2290688"/>
            <a:ext cx="3344570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ретроспективный расчёт по двум уже собранным раундам; третьего раунда с живыми врачами не было, и знак итогового эффекта неизвестен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232052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Процедура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20240" y="3177188"/>
            <a:ext cx="4747107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02536" y="3259484"/>
            <a:ext cx="458251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Разбор случая после исхода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713067" y="3337208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41667" y="3177188"/>
            <a:ext cx="4747107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23963" y="3259484"/>
            <a:ext cx="458251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Изменение порядка по итогам разбора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780692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Процедура из двух шагов, которой медицина держит цену ошибки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4904" y="4093546"/>
            <a:ext cx="11441887" cy="2142661"/>
          </a:xfrm>
          <a:prstGeom prst="roundRect">
            <a:avLst>
              <a:gd name="adj" fmla="val 1422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4184986"/>
            <a:ext cx="11112703" cy="20512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Независимое второе мнение и арбитраж — третий шаг этой же процедуры, разобранный ранее.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21295C"/>
                </a:solidFill>
                <a:latin typeface="Arial"/>
              </a:rPr>
              <a:t>Упоминание.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Алгоритмическое планирование смен медсестёр: время на составление графика сократилось на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81,2 процента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с 32,0 до 6,0 часа в месяц. Это не обученная модель, а задача комбинаторной оптимизации с ограничениями, и формы словаря случай поэтому не получает.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1" i="0">
                <a:solidFill>
                  <a:srgbClr val="21295C"/>
                </a:solidFill>
                <a:latin typeface="Arial"/>
              </a:rPr>
              <a:t>Склонность доверять автомату.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С моделью точность выше на девять пунктов — и почти половина оставшихся ошибок связана именно со склонностью доверять автомату, на всех уровнях квалификации. Выигрыш и вред идут из одного места.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0">
                <a:solidFill>
                  <a:srgbClr val="21295C"/>
                </a:solidFill>
                <a:latin typeface="Arial"/>
              </a:rPr>
              <a:t>Предложенное лекарство — скрывать подсказку там, где она чаще ошибается —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оценено расчётом, а не измерено</a:t>
            </a:r>
            <a:r>
              <a:rPr sz="1200" b="0" i="0">
                <a:solidFill>
                  <a:srgbClr val="21295C"/>
                </a:solidFill>
                <a:latin typeface="Arial"/>
              </a:rPr>
              <a:t>. Третьего раунда, где это проверили бы на живых врачах, не было.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0">
                <a:solidFill>
                  <a:srgbClr val="21295C"/>
                </a:solidFill>
                <a:latin typeface="Arial"/>
              </a:rPr>
              <a:t>Раскрытый конфликт интересов: часть авторов работает в компании-производителе модели или имеет на неё патент.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854141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Wang D. Y., Ding J., Sun A. L. и соавт., JAMIA 2023;30(10):1684–1692, DOI 10.1093/jamia/ocad118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Цена обеих ошибок у подписи и счёт двойного чтения в минутах труда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2018900"/>
          </a:xfrm>
          <a:prstGeom prst="roundRect">
            <a:avLst>
              <a:gd name="adj" fmla="val 1509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ЧУВСТВИТЕЛЬНОСТЬ: ДВОЙНОЕ ЧТЕНИЕ ДВУМЯ ЛЮДЬМИ → ОДИН ЧЕЛОВЕК С МОДЕЛЬЮ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3689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73,8 → 80,5 из ста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90688"/>
            <a:ext cx="3344570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предъявлено разбором выше, на той же программе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2018900"/>
          </a:xfrm>
          <a:prstGeom prst="roundRect">
            <a:avLst>
              <a:gd name="adj" fmla="val 1509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ОДНО ЧТЕНИЕ МАММОГРАММЫ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48 секунд в среднем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3562" y="2117795"/>
            <a:ext cx="3344570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медиана 25 секунд; реальные записи рабочего времени национальной программы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9884" y="1335024"/>
            <a:ext cx="3618890" cy="2018900"/>
          </a:xfrm>
          <a:prstGeom prst="roundRect">
            <a:avLst>
              <a:gd name="adj" fmla="val 15097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7044" y="1472184"/>
            <a:ext cx="3344570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ОДИН РАЗБОР РАСХОЖДЕНИЯ ПРОТИВ ОДНОГО ЧТЕНИЯ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044" y="1863689"/>
            <a:ext cx="3344570" cy="6137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F0AB00"/>
                </a:solidFill>
                <a:latin typeface="Arial"/>
              </a:rPr>
              <a:t>дольше в 4,6 раза по медианам · в 2,75 по средним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044" y="2477412"/>
            <a:ext cx="3344570" cy="739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кратность названа двумя счётами, потому что по медианам и по средним она разная: 1 минута 55 секунд против 25 секунд и 2 минуты 12 секунд против 48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3445364"/>
            <a:ext cx="11441887" cy="2790843"/>
          </a:xfrm>
          <a:prstGeom prst="roundRect">
            <a:avLst>
              <a:gd name="adj" fmla="val 109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3536804"/>
            <a:ext cx="11112703" cy="26994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Цена обеих ошибок у подписи.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Пропущенный диагноз — подпись человеческая. Лишнее вмешательство — подпись тоже человеческая. Обе оплачивает пациент исходом.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1" i="0">
                <a:solidFill>
                  <a:srgbClr val="21295C"/>
                </a:solidFill>
                <a:latin typeface="Arial"/>
              </a:rPr>
              <a:t>Счёт классического режима в двух единицах.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Первая —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чувствительность</a:t>
            </a:r>
            <a:r>
              <a:rPr sz="1350" b="0" i="0">
                <a:solidFill>
                  <a:srgbClr val="21295C"/>
                </a:solidFill>
                <a:latin typeface="Arial"/>
              </a:rPr>
              <a:t>: у двойного чтения двумя людьми с арбитражем она ниже, чем у одного человека с моделью, и эта пара предъявлена разбором выше.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1" i="0">
                <a:solidFill>
                  <a:srgbClr val="21295C"/>
                </a:solidFill>
                <a:latin typeface="Arial"/>
              </a:rPr>
              <a:t>Вторая единица — минуты труда</a:t>
            </a:r>
            <a:r>
              <a:rPr sz="1350" b="0" i="0">
                <a:solidFill>
                  <a:srgbClr val="21295C"/>
                </a:solidFill>
                <a:latin typeface="Arial"/>
              </a:rPr>
              <a:t>, и без неё экономия на чтении не считается вовсе. Одно чтение маммограммы занимает 48 секунд в среднем; один разбор расхождения двух читателей — кратно дольше. Реальные записи рабочего времени: 441 276 первичных прочтений, то есть около 219 тысяч обследований, потому что каждое читают двое; 16 центров.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0" i="0">
                <a:solidFill>
                  <a:srgbClr val="21295C"/>
                </a:solidFill>
                <a:latin typeface="Arial"/>
              </a:rPr>
              <a:t>При сокращении первичных чтений вдвое объём арбитража вырос на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53 процента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при разбросе от 22 до 142 процентов между двумя центрами: разборов расхождений стало больше, и каждый дороже чтения. Разброс произносится вместе со средним: протоколы арбитража в двух центрах разные, и устройство нового шага само задаёт нагрузку.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845653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Hovda, Holen, Hofvind, European Radiology 2026, DOI 10.1007/s00330-025-12273-x; Warren L. M. и соавт., Nature Cancer 2026, DOI 10.1038/s43018-026-01128-z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Норма есть, проверки нет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474446"/>
          </a:xfrm>
          <a:prstGeom prst="roundRect">
            <a:avLst>
              <a:gd name="adj" fmla="val 20672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ТЕСТИРОВАНИЕ С ЧЕЛОВЕКОМ В КОНТУРЕ НАЙДЕНО 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56 изделий из 717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5236311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восемь из ста; срез июнь 2024 года, радиологические изделия, у которых документация подачи доступна. У 661 изделия при допуске не проверяли ничего о том, как с выводом обращается человек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474446"/>
          </a:xfrm>
          <a:prstGeom prst="roundRect">
            <a:avLst>
              <a:gd name="adj" fmla="val 2067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ДОПУЩЕНЫ УПРОЩЁННЫМ ПУТЁМ, ПО ПОДОБИЮ РАНЕЕ ОДОБРЕННОМУ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924 изделия из 950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303" y="2117795"/>
            <a:ext cx="5236311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97 из ста; допуск по подобию проспективной клинической проверки не предполагает. Это другой знаменатель и другая дата среза, чем у плашки выше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4" y="2900910"/>
            <a:ext cx="11441887" cy="3335297"/>
          </a:xfrm>
          <a:prstGeom prst="roundRect">
            <a:avLst>
              <a:gd name="adj" fmla="val 91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" y="2992350"/>
            <a:ext cx="11112703" cy="32438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Регулятор требует, чтобы человек оставался финальным звеном.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Тестирование с человеком в контуре нашли у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56 изделий из 717 — восемь из ста.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Допущены упрощённым путём, по подобию ранее одобренному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924 изделия из 950. Два знаменателя здесь разные, и у каждого своя дата среза.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Статья 14 (ЕС 2024/1689): понять ограничения, заметить аномалию, не согласиться, остановить.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Где в вашем рабочем контуре требуется подпись под тем, что решил автомат, — и проверял ли кто-нибудь, что вы успеваете это решение прочитать?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Систематический обзор поданной регуляторам документации по радиологическим устройствам с ИИ, JAMA Network Open 2025;8(11):e2542338, срез июнь 2024; Регламент (ЕС) 2024/1689, статья 14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50" b="1" i="0">
                <a:solidFill>
                  <a:srgbClr val="21295C"/>
                </a:solidFill>
                <a:latin typeface="Arial"/>
              </a:rPr>
              <a:t>Четыре участника: контроль у одного, ответственность у другого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86735" cy="1249952"/>
          </a:xfrm>
          <a:prstGeom prst="roundRect">
            <a:avLst>
              <a:gd name="adj" fmla="val 24384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1417320"/>
            <a:ext cx="2522143" cy="1085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Разработчик</a:t>
            </a:r>
          </a:p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контролирует данные, устройство и обновления модели · отвечает за соответствие заявленному назначению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5959" y="1335024"/>
            <a:ext cx="2686735" cy="1249952"/>
          </a:xfrm>
          <a:prstGeom prst="roundRect">
            <a:avLst>
              <a:gd name="adj" fmla="val 24384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18255" y="1417320"/>
            <a:ext cx="2522143" cy="1085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Врач</a:t>
            </a:r>
          </a:p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контролирует решение по одному человеку · отвечает за это решение целиком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68999" y="1335024"/>
            <a:ext cx="2686735" cy="1249952"/>
          </a:xfrm>
          <a:prstGeom prst="roundRect">
            <a:avLst>
              <a:gd name="adj" fmla="val 24384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51295" y="1417320"/>
            <a:ext cx="2522143" cy="1085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Больница</a:t>
            </a:r>
          </a:p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контролирует закупку, обучение и порядок применения · отвечает за организацию работы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02039" y="1335024"/>
            <a:ext cx="2686735" cy="1249952"/>
          </a:xfrm>
          <a:prstGeom prst="roundRect">
            <a:avLst>
              <a:gd name="adj" fmla="val 24384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84335" y="1417320"/>
            <a:ext cx="2522143" cy="1085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Регулятор</a:t>
            </a:r>
          </a:p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контролирует допуск и надзор после допуска · отвечает за рамку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731280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Контроль и ответственность у разных участников, и шов между ними проходит по подписи врача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3044134"/>
            <a:ext cx="11441887" cy="3192073"/>
          </a:xfrm>
          <a:prstGeom prst="roundRect">
            <a:avLst>
              <a:gd name="adj" fmla="val 954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3135574"/>
            <a:ext cx="11112703" cy="31006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Четыре участника. Под каждым — что он контролирует и за что отвечает.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Разработчик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контролирует данные, архитектуру, обновления модели; отвечает за соответствие заявленному назначению.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Врач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контролирует решение по одному человеку; отвечает за это решение целиком.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Больница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контролирует закупку, обучение персонала, порядок применения; отвечает за организацию процесса.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Регулятор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контролирует допуск и надзор после допуска; отвечает за рамку.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Контроль и ответственность лежат у разных участников. Шов между ними проходит по подписи врача.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79603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рамка четырёх участников клинического контура — работы 2019–2020 годов, авторы и издание}}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Модель, которая меняется после допуска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1289304" cy="845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Механизмы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40" y="1335024"/>
            <a:ext cx="3073298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02536" y="1417320"/>
            <a:ext cx="2908706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План изменений модели — утверждается заранее, протокол проверки каждого шага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039258" y="1688978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267858" y="1335024"/>
            <a:ext cx="3073298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50154" y="1417320"/>
            <a:ext cx="2908706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Передача данных о работе регулятору — порядок утверждён, сроки вступления не установлены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386876" y="1688978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15476" y="1335024"/>
            <a:ext cx="3073298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7772" y="1417320"/>
            <a:ext cx="2908706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Перенесённые сроки — 2 декабря 2027 и 2 августа 2028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326396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Три механизма надзора после допуска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2639251"/>
            <a:ext cx="11441887" cy="3596956"/>
          </a:xfrm>
          <a:prstGeom prst="roundRect">
            <a:avLst>
              <a:gd name="adj" fmla="val 847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2730691"/>
            <a:ext cx="11112703" cy="35055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Три механизма, каждый — что требуется, с какого момента, чем подтверждается.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Заранее утверждённый план изменений.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Какие изменения модели допустимы после выхода на рынок — включая дообучение, — и протокол проверки каждого.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Передача данных о работе регулятору.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Порядок утверждён; дата вступления в силу, срок действия и область действия по тексту акта не установлены.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Перенесённые сроки.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2 декабря 2027 года — для самостоятельного программного обеспечения. 2 августа 2028 года — для встроенного в изделие.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Формы разбора здесь нет: это обзор надзорных механизмов.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Руководство FDA по плану предварительно утверждённых изменений (PCCP), декабрь 2024; приказ Росздравнадзора от 21.07.2025 № 4472; Регламент (ЕС) 2024/1689, пакет поправок 2026 года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Отзывы и отечественный реестр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832176"/>
          </a:xfrm>
          <a:prstGeom prst="roundRect">
            <a:avLst>
              <a:gd name="adj" fmla="val 16635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ОТЗЫВАЛИСЬ ИЗ ДОПУЩЕННЫХ ИЗДЕЛИЙ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60 изделий из 950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3344570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срез ноябрь 2024 года; 950 — общий объём, из которого отобраны отзывавшиеся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832176"/>
          </a:xfrm>
          <a:prstGeom prst="roundRect">
            <a:avLst>
              <a:gd name="adj" fmla="val 1663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ОТЗЫВНЫХ СОБЫТИЙ НА ЭТИ ИЗДЕЛИЯ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182 события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3562" y="2117795"/>
            <a:ext cx="3344570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изделия без заявленной клинической проверки отзывались чаще: 3,4 отзыва на изделие против 1,9 у проверенных ретроспективно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9884" y="1335024"/>
            <a:ext cx="3618890" cy="1832176"/>
          </a:xfrm>
          <a:prstGeom prst="roundRect">
            <a:avLst>
              <a:gd name="adj" fmla="val 1663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7044" y="1472184"/>
            <a:ext cx="3344570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ПЕРВЫЕ ДВЕНАДЦАТЬ МЕСЯЦЕВ ПОСЛЕ ДОПУСКА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044" y="1863689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43,4 процента отзывов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044" y="2290688"/>
            <a:ext cx="3344570" cy="739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79 событий из 182 — примерно вдвое чаще, чем в среднем по этому пути допуска; к концу исследования 108 отзывов оставались неразрешёнными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3258640"/>
            <a:ext cx="11441887" cy="2977567"/>
          </a:xfrm>
          <a:prstGeom prst="roundRect">
            <a:avLst>
              <a:gd name="adj" fmla="val 102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3350080"/>
            <a:ext cx="11112703" cy="28861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Из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950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допущенных изделий с ИИ отзывались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60</a:t>
            </a:r>
            <a:r>
              <a:rPr sz="1500" b="0" i="0">
                <a:solidFill>
                  <a:srgbClr val="21295C"/>
                </a:solidFill>
                <a:latin typeface="Arial"/>
              </a:rPr>
              <a:t>; на них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182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отзывных события;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43,4 процента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отзывов — в первые двенадцать месяцев после допуска, срез ноябрь 2024 года.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Отечественный реестр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зарегистрированных медицинских программ с ИИ, три даты среза: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48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в ноябре 2025 года →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57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в июне 2026 →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59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в августе 2026. Знаменатель «всего медицинских изделий в реестре» в источниках расходится, поэтому доля от общего реестра не приводится.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Независимой — то есть не организаторской — оценки в отечественном контуре не найдено: есть только организаторская.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Dai и соавт., Early Recalls and Clinical Validation Gaps in AI-Enabled Medical Devices, JAMA Health Forum 2025, DOI 10.1001/jamahealthforum.2025.3172; реестр медицинских изделий с ИИ, {{источник: даты срезов и ведомство}}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Вывод: удерживает то, что стоит за подписью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11185855" cy="1104769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10911535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ТЕСТИРОВАНИЕ С ЧЕЛОВЕКОМ В КОНТУРЕ НАЙДЕНО 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10911535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56 изделий из 717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1091153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восемь из ста, срез июнь 2024 года; одна публикация, независимого повторного замера нет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4" y="2531233"/>
            <a:ext cx="11441887" cy="3704974"/>
          </a:xfrm>
          <a:prstGeom prst="roundRect">
            <a:avLst>
              <a:gd name="adj" fmla="val 82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" y="2622673"/>
            <a:ext cx="11112703" cy="3613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 прошлой лекции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требований к системам с ИИ внутри промышленных изделий не было.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 медицине они есть.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Названы документы: класс риска, стандарты, порядок передачи данных регулятору, статья о человеческом надзоре. Названы сроки.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И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56 изделий из 717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показывают, где требование описывает работу, которой не делают.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Удерживает то, что стоит за подписью.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свод раздела — разборы «норма есть, проверки нет» и контраст с инженерной лекцией в главе}}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7. Разработка лекарства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Удешевили начало — где узкое место.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311240"/>
            <a:ext cx="10984687" cy="942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От мишени до заявки на регистрацию путь проходит годами, и вычисление в нём занимает один шаг — в самом начале, у химика. Дальше — доклиника, три фазы испытаний на людях, заявка. Три разбора вечера — про то, что из этого пути подешевело, а что осталось прежней длины.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382105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3 подробных разбора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848787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По порядку: 1. Молекула за год, снятая на первой фазе · 2. Воронка молекул машинного происхождения · 3. Компания, отказавшаяся от своего обещания.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4617561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Производство лекарственной формы на линии в этот раздел не входит — это отдельная лекция курса.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5084244"/>
            <a:ext cx="11185855" cy="430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Это та же работа, что и в предыдущих разделах, только на масштабе отрасли: решение не о человеке у койки, а о веществе, которое до койки может не дойти вовсе.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BIO / QLS / Informa, Clinical Development Success Rates and Contributing Factors 2011–2020; Jayatunga и соавт., Drug Discovery Today, 2024; Haque W. и соавт., J Clin Oncol 2026, DOI 10.1200/JCO.2026.44.16_suppl.11072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Три человека, три места, одно вещество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Химик-синтетик ставит реакцию и получает миллиграммы вещества.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Тот же порошок через полгода едет в виварий на токсикологию: доза, переносимость, патология органов у животных.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Ещё через год координатор исследования сидит с одним здоровым добровольцем и часами пишет наблюдения в карту первой фазы.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Три человека, три места, одно вещество. Между первым эпизодом и третьим — около двух лет. Классический путь от мишени до клинического кандидата занимает четыре-пять лет по отраслевой норме.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отраслевое описание пути разработки — отчёт, раздел}}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Путь разработки схемой: четыре шага от мишени до заявки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1289304" cy="642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Путь разработки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40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02536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Мишень и молекула — биологи, химики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202353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30953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3249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Доклиника — токсикология на культурах и животных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713067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41667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23963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Фазы I–III — клиницисты, пациенты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223781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452381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34677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Заявка — регуляторные специалисты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123955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Шаг вычисления — один, и он в начале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2436809"/>
            <a:ext cx="11441887" cy="3799398"/>
          </a:xfrm>
          <a:prstGeom prst="roundRect">
            <a:avLst>
              <a:gd name="adj" fmla="val 802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2528249"/>
            <a:ext cx="11112703" cy="3707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Мишень и молекула.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Что в организме затронуть и чем — выбирают биологи, подбирают химики.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Доклиника.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Культуры клеток и животные: работает ли, не убивает ли, как выводится.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Фазы I–III.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Переносимость → работает ли и в какой дозе → подтверждение на больших выборках.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Заявка.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Регистрация у регулятора.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Шаг, на который приходится вычисление, — один, и он в начале, у химика. Весь остальной путь делают руками люди.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описание фаз разработки лекарства — отраслевой обзор}}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Воронка отрасли: из тринадцати программ лекарством становится одна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1763019"/>
          </a:xfrm>
          <a:prstGeom prst="roundRect">
            <a:avLst>
              <a:gd name="adj" fmla="val 17288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ФАЗА I → ФАЗА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2398699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52,0 процента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2398699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4 414 переходов внутри отчёта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1763019"/>
          </a:xfrm>
          <a:prstGeom prst="roundRect">
            <a:avLst>
              <a:gd name="adj" fmla="val 17288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ФАЗА II → ФАЗА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690796"/>
            <a:ext cx="2398699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28,9 процента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7691" y="2117795"/>
            <a:ext cx="2398699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4 933 перехода; жёстче любого другого перехода — плотнее всего отсев в середине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1335024"/>
            <a:ext cx="2673019" cy="1763019"/>
          </a:xfrm>
          <a:prstGeom prst="roundRect">
            <a:avLst>
              <a:gd name="adj" fmla="val 17288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 ФАЗЫ I ДО ОДОБРЕНИЯ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5303" y="1690796"/>
            <a:ext cx="2398699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7,9 процента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5303" y="2117795"/>
            <a:ext cx="2398699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из каждых примерно тринадцати программ, вошедших в первую фазу, лекарством становится одна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15755" y="1335024"/>
            <a:ext cx="2673019" cy="1763019"/>
          </a:xfrm>
          <a:prstGeom prst="roundRect">
            <a:avLst>
              <a:gd name="adj" fmla="val 17288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ЗНАМЕНАТЕЛЬ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2915" y="1690796"/>
            <a:ext cx="2398699" cy="715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12 728 переходов из 9 704 программ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2915" y="2406369"/>
            <a:ext cx="2398699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1 779 компаний, 2011–2020 годы; это счёт переходов, а не программ, и у каждого перехода свой знаменатель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4904" y="3189483"/>
            <a:ext cx="11441887" cy="3046724"/>
          </a:xfrm>
          <a:prstGeom prst="roundRect">
            <a:avLst>
              <a:gd name="adj" fmla="val 1000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" y="3280923"/>
            <a:ext cx="11112703" cy="29552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Фаза I → фаза II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52,0 процента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Фаза II → фаза III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28,9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От первой фазы до одобрения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7,9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Знаменатель: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12 728 переходов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из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9 704 программ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1 779 компаний, 2011–2020 годы.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Разброс по областям огромен — переход второй фазы в гематологии 48,1 процента, в урологии 15,0, — поэтому средняя по отрасли годится как база и не годится как предсказание для одной программы.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Плотнее всего отсев в середине, не в начале и не в конце.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179576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BIO / QLS / Informa, Clinical Development Success Rates and Contributing Factors 2011–2020, февраль 2021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Две дроби рядом: «перешли» и «завершили»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«Перешли».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Считают среди тех, кто фазу прошёл до конца — знаменатель: завершившие фазу.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«Завершили».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Считают среди всех, кто когда-либо вошёл в испытания — в знаменателе сидят активы, которые ещё идут и до следующей фазы просто не дошли.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Поставить эти две дроби через «против» — получить вывод, которого не делает ни один из двух замеров.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разбор знаменателей «перешли/завершили» — глава о разработке лекарства}}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Что подешевело и что не подешевело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680031"/>
          </a:xfrm>
          <a:prstGeom prst="roundRect">
            <a:avLst>
              <a:gd name="adj" fmla="val 1814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ПЕРЕБОР ГИПОТЕЗ ПО ГРАФУ ЗНАНИЙ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48 часов на гипотезу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5236311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и подтверждение этой гипотезы дали рандомизированные исследования и клиницисты по всему миру — дорогую часть работы сделала другая рука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680031"/>
          </a:xfrm>
          <a:prstGeom prst="roundRect">
            <a:avLst>
              <a:gd name="adj" fmla="val 18142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РАСЧЁТНАЯ ОЦЕНКА СВЯЗЫВАНИЯ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13 000 соединений под известную мишень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303" y="2508219"/>
            <a:ext cx="5236311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метод расчёта физики связывания, не генеративная модель; цена готового актива при этом не упала — покупатель заплатил 4 млрд долларов авансом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97935"/>
            <a:ext cx="5437479" cy="2267334"/>
          </a:xfrm>
          <a:prstGeom prst="roundRect">
            <a:avLst>
              <a:gd name="adj" fmla="val 1344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53383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Подешевело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3709561"/>
            <a:ext cx="5108295" cy="1600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Перебор гипотез по графу знаний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Расчётная оценка связывания соединений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1295" y="3197935"/>
            <a:ext cx="5437479" cy="2267334"/>
          </a:xfrm>
          <a:prstGeom prst="roundRect">
            <a:avLst>
              <a:gd name="adj" fmla="val 13443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5887" y="3353383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Не подешевело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7" y="3709561"/>
            <a:ext cx="5108295" cy="1600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Переносимость у людей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Набор пациентов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Длительность наблюдения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Производство клинической партии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4" y="5556710"/>
            <a:ext cx="11441887" cy="67949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" y="5648150"/>
            <a:ext cx="11112703" cy="5880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70" b="0" i="0">
                <a:solidFill>
                  <a:srgbClr val="21295C"/>
                </a:solidFill>
                <a:latin typeface="Arial"/>
              </a:rPr>
              <a:t>Левый столбец посчитан числами. У правого нет ни одного числа ни на одной строке — </a:t>
            </a:r>
            <a:r>
              <a:rPr sz="1470" b="1" i="0">
                <a:solidFill>
                  <a:srgbClr val="21295C"/>
                </a:solidFill>
                <a:latin typeface="Arial"/>
              </a:rPr>
              <a:t>и это вывод столбца, а не пробел подборки: формы здесь нет.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разбор графа знаний и расчётного связывания — проект и публикация}}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Хитрейт с методом и без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289607"/>
          </a:xfrm>
          <a:prstGeom prst="roundRect">
            <a:avLst>
              <a:gd name="adj" fmla="val 23635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КЛАССИЧЕСКИЙ ПЕРЕБОР — ПОПАДАНИЯ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1–2 процента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5236311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метод назван, знаменатель назван — это и отличает его от соседних заявленных долей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289607"/>
          </a:xfrm>
          <a:prstGeom prst="roundRect">
            <a:avLst>
              <a:gd name="adj" fmla="val 2363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БИБЛИОТЕКА СОЕДИНЕНИЙ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от одного до трёх миллионов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303" y="2117795"/>
            <a:ext cx="5236311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физический перебор: столько соединений реально прогоняют через опыт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4" y="2716071"/>
            <a:ext cx="11441887" cy="3520136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" y="2807511"/>
            <a:ext cx="11112703" cy="3428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Классический физический перебор: библиотека от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одного до трёх миллионов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соединений, попадания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1–2 процента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Метод назван, знаменатель назван.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Рядом в обзорах и на страницах агрегаторов — заявленные доля попаданий и экономия перехода от попадания к лиду. У этих чисел нет ни имени проекта, ни даты, ни публикации.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У какого числа в вашей работе есть метод и знаменатель, а у какого — только цифра без них?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отраслевой обзор классического физического перебора — публикация}}; страница агрегатора — {{источник: адрес и дата снятия скриншота}}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Воронка молекул машинного происхождения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1832176"/>
          </a:xfrm>
          <a:prstGeom prst="roundRect">
            <a:avLst>
              <a:gd name="adj" fmla="val 1663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ДОВЕСТИ НЕГОДНУЮ МОЛЕКУЛУ ДО ФАЗЫ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3689"/>
            <a:ext cx="2398699" cy="8768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месяцы работы центра, добровольцы под дозой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0531" y="1335024"/>
            <a:ext cx="2673019" cy="1832176"/>
          </a:xfrm>
          <a:prstGeom prst="roundRect">
            <a:avLst>
              <a:gd name="adj" fmla="val 1663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ОТБРОСИТЬ ГОДНУЮ МОЛЕКУЛУ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7691" y="1690796"/>
            <a:ext cx="2398699" cy="1105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терапии не будет ни у кого — цена не измеряется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335024"/>
            <a:ext cx="2673019" cy="1832176"/>
          </a:xfrm>
          <a:prstGeom prst="roundRect">
            <a:avLst>
              <a:gd name="adj" fmla="val 1663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ОБА РЕЖИМА — ПЕРЕХОД ФАЗЫ 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303" y="1690796"/>
            <a:ext cx="2398699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52,0 процента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2117795"/>
            <a:ext cx="2398699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счёт того режима, с которым сравнивают любое улучшение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1832176"/>
          </a:xfrm>
          <a:prstGeom prst="roundRect">
            <a:avLst>
              <a:gd name="adj" fmla="val 16635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ОБА РЕЖИМА — ОТ ФАЗЫ I ДО ОДОБРЕНИЯ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1863689"/>
            <a:ext cx="2398699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7,9 процента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2915" y="2290688"/>
            <a:ext cx="2398699" cy="739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одна программа из примерно тринадцати; вторую цену — отброшенную годную молекулу — измерить нельзя вовсе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4" y="3258640"/>
            <a:ext cx="11441887" cy="2977567"/>
          </a:xfrm>
          <a:prstGeom prst="roundRect">
            <a:avLst>
              <a:gd name="adj" fmla="val 102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" y="3350080"/>
            <a:ext cx="11112703" cy="28861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Цена обеих ошибок.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Довести негодную молекулу до первой фазы — месяцы работы клинического центра, здоровые добровольцы под дозой. Отбросить годную — терапии не будет ни у кого.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Оба классических режима посчитаны тем же числом.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Вести в клинику всё синтезированное, и вести только то, что прошло полный экспертный отбор: у обоих переход фазы I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52,0 процента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переход фазы II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28,9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до одобрения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7,9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BIO / QLS / Informa, Clinical Development Success Rates and Contributing Factors 2011–2020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Молекула за год, снятая на первой фазе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289607"/>
          </a:xfrm>
          <a:prstGeom prst="roundRect">
            <a:avLst>
              <a:gd name="adj" fmla="val 2363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ДОКЛИНИКА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меньше двенадцати месяцев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5236311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заявление самой компании; что считалось началом и концом интервала, публично не раскрыто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289607"/>
          </a:xfrm>
          <a:prstGeom prst="roundRect">
            <a:avLst>
              <a:gd name="adj" fmla="val 23635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ОТРАСЛЕВАЯ НОРМА ДЛЯ ЭТОГО КЛАССА МИШЕНЕЙ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четыре с половиной года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303" y="2117795"/>
            <a:ext cx="5236311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тоже оценка самой компании: обе половины сравнения исходят от одной заинтересованной стороны, независимой статистики нет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4" y="2716071"/>
            <a:ext cx="11441887" cy="3520136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" y="2807511"/>
            <a:ext cx="11112703" cy="3428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Доклинический этап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меньше двенадцати месяцев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против заявленных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четырёх с половиной лет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отраслевой нормы для этого класса мишеней.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Молекула вошла в клинику человека в январе 2020 года.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В январе 2022 года молекула снята: не удовлетворила критериям исследования на первой фазе. Ровно столько, сколько предсказывает база отрасли, где первая фаза пропускает дальше 52,0 процента.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Оба числа — доклиника и норма — заявления самой компании.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отраслевой дайджест + независимые пересказы снятия молекулы на фазе I}}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Переход второй фазы: не хуже базы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474446"/>
          </a:xfrm>
          <a:prstGeom prst="roundRect">
            <a:avLst>
              <a:gd name="adj" fmla="val 20672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МОЛЕКУЛЫ МАШИННОГО ПРОИСХОЖДЕНИЯ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около 40 процентов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5236311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посчитано на единицах, завершивших вторую фазу к сроку среза, и ограниченность этой выборки называет сам первоисточник; авторы называют результат сопоставимым с отраслевой нормой, лучшим — нет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474446"/>
          </a:xfrm>
          <a:prstGeom prst="roundRect">
            <a:avLst>
              <a:gd name="adj" fmla="val 2067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 ОТРАСЛИ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28,9 процента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303" y="2117795"/>
            <a:ext cx="5236311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4 933 перехода второй фазы внутри отчёта; вес двух сторон различается на порядки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4" y="2900910"/>
            <a:ext cx="11441887" cy="3335297"/>
          </a:xfrm>
          <a:prstGeom prst="roundRect">
            <a:avLst>
              <a:gd name="adj" fmla="val 91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" y="2992350"/>
            <a:ext cx="11112703" cy="32438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Это переход против перехода: одна и та же дробь с обеих сторон.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Переход второй фазы у молекул машинного происхождения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около 40 процентов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против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28,9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по отрасли. На первой фазе те же молекулы идут заметно выше базы: 80–90 процентов против 52,0.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Не хуже базы.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Jayatunga и соавт., Drug Discovery Today, 2024; BIO / QLS / Informa, Clinical Development Success Rates 2011–2020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Одобрений — ноль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673019" cy="2222599"/>
          </a:xfrm>
          <a:prstGeom prst="roundRect">
            <a:avLst>
              <a:gd name="adj" fmla="val 13713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ОДОБРЕНИЙ РЕГУЛЯТОРА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2398699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0531" y="1335024"/>
            <a:ext cx="2673019" cy="2222599"/>
          </a:xfrm>
          <a:prstGeom prst="roundRect">
            <a:avLst>
              <a:gd name="adj" fmla="val 13713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7691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АКТИВОВ В КЛИНИКЕ — ПЕРВЫЙ ЗАМЕР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7691" y="1863689"/>
            <a:ext cx="2398699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75 молекул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2290688"/>
            <a:ext cx="2398699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вошли в клинику с 2015 года; 67 из них в процессе на момент анализа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2222599"/>
          </a:xfrm>
          <a:prstGeom prst="roundRect">
            <a:avLst>
              <a:gd name="adj" fmla="val 13713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АКТИВОВ В КЛИНИКЕ — ВТОРОЙ ЗАМЕР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863689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117 активов от 63 компаний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5303" y="2681111"/>
            <a:ext cx="2398699" cy="739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сам источник называет эти 117 верхней границей: заявления компаний о вкладе модели проверить нечем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15755" y="1335024"/>
            <a:ext cx="2673019" cy="2222599"/>
          </a:xfrm>
          <a:prstGeom prst="roundRect">
            <a:avLst>
              <a:gd name="adj" fmla="val 13713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52915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ЗАВЕРШИЛИ ФАЗУ II — ДОЛЯ ЗАВЕРШИВШИХ, НЕ ПЕРЕХОД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2915" y="1863689"/>
            <a:ext cx="2398699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8 активов из 117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2915" y="2290688"/>
            <a:ext cx="2398699" cy="739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6,8 процента; складывать эту долю с 28,9 процента перехода нельзя — у «перешли» и «завершили» разные знаменатели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" y="3649063"/>
            <a:ext cx="11441887" cy="2587144"/>
          </a:xfrm>
          <a:prstGeom prst="roundRect">
            <a:avLst>
              <a:gd name="adj" fmla="val 1178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9496" y="3740503"/>
            <a:ext cx="11112703" cy="2495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Одобрений регулятора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ноль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При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75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активах по одному замеру и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117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по другому, за десять лет существования категории.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Подписанное как несопоставимое: из активов второго замера вторую фазу завершили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8 из 117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6,8 процента, срез 1 декабря 2025 года. Это доля завершивших, и с переходом она не складывается.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Одной строкой: одна молекула — третья фаза начата.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Haque W. и соавт., J Clin Oncol 2026, DOI 10.1200/JCO.2026.44.16_suppl.11072; Jayatunga и соавт., Drug Discovery Today, 2024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Компания, отказавшаяся от своего обещания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680031"/>
          </a:xfrm>
          <a:prstGeom prst="roundRect">
            <a:avLst>
              <a:gd name="adj" fmla="val 1814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ЦЕНА ОБЕИХ ОШИБОК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фаза IIa целиком против терапии, которой не будет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8143" y="1335024"/>
            <a:ext cx="5510631" cy="1680031"/>
          </a:xfrm>
          <a:prstGeom prst="roundRect">
            <a:avLst>
              <a:gd name="adj" fmla="val 18142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КЛАССИЧЕСКИЙ РЕЖИМ — НАПОМИНАНИЕ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28,9 процента перехода второй фазы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2508219"/>
            <a:ext cx="5236311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обещание доводить препараты самостоятельно рассчитано на успех там, где отрасль даёт меньше трети: провал на этом шаге — норма воронки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52799"/>
            <a:ext cx="1289304" cy="1047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Путь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3197935"/>
            <a:ext cx="2236393" cy="104751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02536" y="3280231"/>
            <a:ext cx="2071801" cy="8829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Обещание доводить препараты самостоятельно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02353" y="3653110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30953" y="3197935"/>
            <a:ext cx="2236393" cy="104751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3249" y="3280231"/>
            <a:ext cx="2071801" cy="8829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Фаза IIa — 91 пациент, 28 дней нанесения, точки эффективности не достигнуты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713067" y="3653110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1667" y="3197935"/>
            <a:ext cx="2236393" cy="104751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23963" y="3280231"/>
            <a:ext cx="2071801" cy="8829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Минус 180 рабочих мест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223781" y="3653110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452381" y="3197935"/>
            <a:ext cx="2236393" cy="104751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34677" y="3280231"/>
            <a:ext cx="2071801" cy="8829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Отказ от модели бизнеса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391749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Путь одной компании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4904" y="4704603"/>
            <a:ext cx="11441887" cy="1531604"/>
          </a:xfrm>
          <a:prstGeom prst="roundRect">
            <a:avLst>
              <a:gd name="adj" fmla="val 199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" y="4796043"/>
            <a:ext cx="11112703" cy="14401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40" b="1" i="0">
                <a:solidFill>
                  <a:srgbClr val="21295C"/>
                </a:solidFill>
                <a:latin typeface="Arial"/>
              </a:rPr>
              <a:t>Цена обеих ошибок.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Обещание рассчитано на успех там, где отраслевая база даёт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28,9 процента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перехода — провал на этом шаге норма воронки.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Путь компании.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Обещание доводить препараты до регистрации самостоятельно → фаза IIa: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91 пациент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18–65 лет,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28 дней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нанесения, первичная точка по безопасности достигнута, точки эффективности — нет →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минус 180 рабочих мест</a:t>
            </a:r>
            <a:r>
              <a:rPr sz="1440" b="0" i="0">
                <a:solidFill>
                  <a:srgbClr val="21295C"/>
                </a:solidFill>
                <a:latin typeface="Arial"/>
              </a:rPr>
              <a:t>, и ещё минус 30 процентов штата годом позже → отказ от собственной модели бизнеса.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отраслевая журналистика + сообщения компании — издания и даты}}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График депозитария: шаг не исчез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Две линии по данным депозитария, 2020 → 2024.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Рентгеновская кристаллография — плато около девяти-десяти тысяч депозитов в год, причём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с 2015 года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то есть задолго до появления предсказания структуры.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Криоэлектронная микроскопия — рост с 2 385 депозитов до 5 787, продолжающий траекторию, начатую раньше. Объём экспериментальных депозиций не упал.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Ожидаемая форма «шаг исчез» числами не подтверждается.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статистика депозитария структур — архив, диапазон лет}}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Вывод: узкое место не подешевело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11185855" cy="91993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10911535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ОДОБРЕНИЙ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10911535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4" y="2346395"/>
            <a:ext cx="11441887" cy="3889812"/>
          </a:xfrm>
          <a:prstGeom prst="roundRect">
            <a:avLst>
              <a:gd name="adj" fmla="val 78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2437835"/>
            <a:ext cx="11112703" cy="37983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Форма 1.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Нагрузка переехала на другой шаг — на масштабе отрасли и на масштабе одной молекулы.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Форма 4а.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Объём на том же месте упал — расчётный отбор соединений под известную мишень.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Форма 6.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Изменился порядок работ — на масштабе модели бизнеса, не процесса одного препарата.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Ранний шаг подешевел многократно. Одобрений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0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Узкое место лежит дальше и не подешевело.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Инженеру: мерить пропускную способность шага, который вы не трогали.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свод раздела — ссылки на §9.11–9.12 главы}}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8. Что стало с теми, кто решает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Весь вечер лекция мерила работу: поток тревог, документ, воронку разработки лекарства. Ни один из этих замеров не отвечает на вопрос, что стало с человеком внутри этой работы — а он в ней остался и остался решающим.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613331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Разборы по порядку: 1. Доля обнаружения после отключения помощника · 2. Кто теперь исполнитель · 3. Чего про доверие не измерено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Эндоскопист после года без процедур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Врач вернулся после года без процедур — декрет, административная должность, долгая болезнь, неважно. Диплом тот же, сертификат действующий,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допуск не отзывали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Первая процедура: прибор идёт медленнее, рука ищет угол дольше, складку, за которую надо заглянуть, он проходит — и сам этого не знает, потому что обратной связи нет.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Навык здесь — расходуемое, и расходуется он молча.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Поэтому профессия не спрашивает врача, в форме ли он, а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считает за него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долю обследований с находкой, по каждому врачу отдельно.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рекомендации профессионального общества по показателю качества колоноскопии}}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Цена обеих ошибок, названная до всякой точности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Пропустить образование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остаётся в человеке до следующего обследования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так возникает болезнь, найденная между обследованиями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51295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5887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Увидеть лишнее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снятие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кровотечение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гистология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повторный визит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4535424"/>
            <a:ext cx="11441887" cy="1700784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4626864"/>
            <a:ext cx="11112703" cy="160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Обратная связь приходит через годы — поэтому плохой осмотр не чувствуется плохим.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Два классических режима, посчитанные в одной единице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289607"/>
          </a:xfrm>
          <a:prstGeom prst="roundRect">
            <a:avLst>
              <a:gd name="adj" fmla="val 2363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ДИСЦИПЛИНА ОСМОТРА: БЫЛО → СТАЛО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27,1 → 36,6 из ста процедур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5236311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рандомизированное испытание, 1 027 пациентов, время выведения прибора удлинили с шести минут до девяти, засекали по таймеру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289607"/>
          </a:xfrm>
          <a:prstGeom prst="roundRect">
            <a:avLst>
              <a:gd name="adj" fmla="val 23635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ВТОРОЙ НАБЛЮДАТЕЛЬ: БЫЛО → СТАЛО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39,3 → 45,7 из ста процедур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303" y="2117795"/>
            <a:ext cx="5236311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сводный разбор трёх рандомизированных испытаний, 1 676 пациентов; авторы обзора называют высокий риск систематической ошибки у всех включённых работ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4" y="2716071"/>
            <a:ext cx="11441887" cy="3520136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" y="2807511"/>
            <a:ext cx="11112703" cy="3428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Дисциплина осмотра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извлечение прибора удлинили.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Второй наблюдатель в кабинете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на тот же экран смотрит ещё один человек.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Оба режима не бесплатны — и оба дают прирост того же порядка, что помощник, или больше.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Первый стоит трёх минут времени врача на процедуру, второй — присутствия второго человека.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Базы у двух приростов разные: 27,1 и 39,3 — разные исходные доли обнаружения в разных центрах и популяциях. Два прироста между собой не сравниваются; каждый сравнивается с приростом от помощника в своей работе.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рандомизированное испытание девятиминутного извлечения, Clinical Gastroenterology and Hepatology}}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сводный разбор рандомизированных испытаний участия сестры}}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Доля обнаружения упала там, где помощника не было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474446"/>
          </a:xfrm>
          <a:prstGeom prst="roundRect">
            <a:avLst>
              <a:gd name="adj" fmla="val 20672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ДОЛЯ ОБНАРУЖЕНИЯ В ПРОЦЕДУРАХ БЕЗ ПОМОЩНИКА: ДО ВНЕДРЕНИЯ → ПОСЛЕ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3689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28,4 → 22,4 из ста процедур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90688"/>
            <a:ext cx="5236311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226 находок на 795 процедур против 145 на 648; четыре центра, два окна по три месяца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474446"/>
          </a:xfrm>
          <a:prstGeom prst="roundRect">
            <a:avLst>
              <a:gd name="adj" fmla="val 2067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ПРИВЕЛО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минус 6,0 процентного пункта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303" y="2117795"/>
            <a:ext cx="5236311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у девятнадцати врачей со средним стажем 28 лет при разбросе от 8 до 39 и более чем двумя тысячами колоноскопий за спиной у каждого. «Падение на пятую часть» и «шесть пунктов» — одна величина в двух выражениях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4" y="2900910"/>
            <a:ext cx="11441887" cy="3335297"/>
          </a:xfrm>
          <a:prstGeom prst="roundRect">
            <a:avLst>
              <a:gd name="adj" fmla="val 91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" y="2992350"/>
            <a:ext cx="11112703" cy="32438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В четырёх центрах внедрили помощника, подсвечивающего образование на видео в реальном времени. Затем посмотрели, что стало с процедурами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без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помощника, выполненными теми же врачами.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Сила свидетельства — на экране, а не в заметках.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Ретроспективное наблюдательное,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не воспроизводилось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причинности не доказывает.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Состав спора — тоже на экране.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Опубликованное исправление, три письма и ответ авторов: вторичные исходы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не просели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время выведения прибора в работе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не измерено вовсе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а нагрузка на тех же врачей выросла с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795 до 1 382 процедур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за окно. У числа 795 при этом меняется знаменатель: в раннем окне помощника ещё не было, поэтому 795 значит одновременно «без помощника» и «всего», тогда как в позднем окне эти величины расходятся — 648 без помощника и 1 382 всего.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Budzyń и др., The Lancet Gastroenterology &amp; Hepatology, 2025, с исправлением и тремя письмами}}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Что это дало, чего потребовало — форма «Исполнитель тот же, но стал хуже»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2037761"/>
          </a:xfrm>
          <a:prstGeom prst="roundRect">
            <a:avLst>
              <a:gd name="adj" fmla="val 1495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РАСХОД ВИДЕН 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три месяца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3344570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окно наблюдения после внедрения помощника; у врачей со средним стажем 28 лет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2037761"/>
          </a:xfrm>
          <a:prstGeom prst="roundRect">
            <a:avLst>
              <a:gd name="adj" fmla="val 1495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ПЕРЕНОС, ДРУГАЯ ОТРАСЛЬ: ПРАКТИКА С МОДЕЛЬЮ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863689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плюс 48 процентов к контролю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3562" y="2681111"/>
            <a:ext cx="3344570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школьники на задачах математики, не клиницисты: полевое рандомизированное исследование с тремя группами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9884" y="1335024"/>
            <a:ext cx="3618890" cy="2037761"/>
          </a:xfrm>
          <a:prstGeom prst="roundRect">
            <a:avLst>
              <a:gd name="adj" fmla="val 14957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ТОТ ЖЕ ПЕРЕНОС: ЭКЗАМЕН БЕЗ МОДЕЛИ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044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на 17 процентов хуже контроля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044" y="2508219"/>
            <a:ext cx="3344570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у группы со свободным доступом; у группы с учительскими ограничителями — примерно на уровне контроля, то есть средство тоже измерено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3464225"/>
            <a:ext cx="11441887" cy="2771982"/>
          </a:xfrm>
          <a:prstGeom prst="roundRect">
            <a:avLst>
              <a:gd name="adj" fmla="val 109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3555665"/>
            <a:ext cx="11112703" cy="26805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140" b="1" i="0">
                <a:solidFill>
                  <a:srgbClr val="21295C"/>
                </a:solidFill>
                <a:latin typeface="Arial"/>
              </a:rPr>
              <a:t>Дало</a:t>
            </a:r>
            <a:r>
              <a:rPr sz="1140" b="0" i="0">
                <a:solidFill>
                  <a:srgbClr val="21295C"/>
                </a:solidFill>
                <a:latin typeface="Arial"/>
              </a:rPr>
              <a:t> — с помощником находят больше.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40" b="0" i="0">
                <a:solidFill>
                  <a:srgbClr val="21295C"/>
                </a:solidFill>
                <a:latin typeface="Arial"/>
              </a:rPr>
              <a:t/>
            </a:r>
            <a:r>
              <a:rPr sz="1140" b="1" i="0">
                <a:solidFill>
                  <a:srgbClr val="21295C"/>
                </a:solidFill>
                <a:latin typeface="Arial"/>
              </a:rPr>
              <a:t>Потребовало</a:t>
            </a:r>
            <a:r>
              <a:rPr sz="1140" b="0" i="0">
                <a:solidFill>
                  <a:srgbClr val="21295C"/>
                </a:solidFill>
                <a:latin typeface="Arial"/>
              </a:rPr>
              <a:t> — умения искать самому.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40" b="0" i="0">
                <a:solidFill>
                  <a:srgbClr val="21295C"/>
                </a:solidFill>
                <a:latin typeface="Arial"/>
              </a:rPr>
              <a:t/>
            </a:r>
            <a:r>
              <a:rPr sz="1140" b="1" i="0">
                <a:solidFill>
                  <a:srgbClr val="21295C"/>
                </a:solidFill>
                <a:latin typeface="Arial"/>
              </a:rPr>
              <a:t>В сумме</a:t>
            </a:r>
            <a:r>
              <a:rPr sz="1140" b="0" i="0">
                <a:solidFill>
                  <a:srgbClr val="21295C"/>
                </a:solidFill>
                <a:latin typeface="Arial"/>
              </a:rPr>
              <a:t> — помощник повышает результат, пока включён, и это состояние не бесплатно.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40" b="0" i="0">
                <a:solidFill>
                  <a:srgbClr val="21295C"/>
                </a:solidFill>
                <a:latin typeface="Arial"/>
              </a:rPr>
              <a:t/>
            </a:r>
            <a:r>
              <a:rPr sz="1140" b="1" i="0">
                <a:solidFill>
                  <a:srgbClr val="21295C"/>
                </a:solidFill>
                <a:latin typeface="Arial"/>
              </a:rPr>
              <a:t>Форма 8 словаря: Исполнитель тот же, но стал хуже.</a:t>
            </a:r>
            <a:r>
              <a:rPr sz="1140" b="0" i="0">
                <a:solidFill>
                  <a:srgbClr val="21295C"/>
                </a:solidFill>
                <a:latin typeface="Arial"/>
              </a:rPr>
              <a:t> Место, объём, порядок шагов и рука прежние — изменилось состояние самой руки. Не форма 5: там сменилась рука, здесь рука та же, и именно на этом стоит измерение. Не форма 4а: там упал объём операции, здесь объём тот же, упала доля находок.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910" b="0" i="0">
                <a:solidFill>
                  <a:srgbClr val="21295C"/>
                </a:solidFill>
                <a:latin typeface="Arial"/>
              </a:rPr>
              <a:t/>
            </a:r>
            <a:r>
              <a:rPr sz="910" b="0" i="1">
                <a:solidFill>
                  <a:srgbClr val="1C7293"/>
                </a:solidFill>
                <a:latin typeface="Arial"/>
              </a:rPr>
              <a:t>режим: распознавание на видео, в реальном времени · чем делают сегодня: обнаружение образований в реальном времени, реализаций много, разница между ними мала · куда движется: от обнаружения к характеристике найденного и к счёту показателей самого врача · чего не умеет: поддерживать навык — здесь измерено обратное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40" b="0" i="0">
                <a:solidFill>
                  <a:srgbClr val="21295C"/>
                </a:solidFill>
                <a:latin typeface="Arial"/>
              </a:rPr>
              <a:t/>
            </a:r>
            <a:r>
              <a:rPr sz="1140" b="0" i="0">
                <a:solidFill>
                  <a:srgbClr val="21295C"/>
                </a:solidFill>
                <a:latin typeface="Arial"/>
              </a:rPr>
              <a:t>То же явление измерено рандомизированно — но в учёбе, на примерно тысяче старшеклассников и на задачах математики: практика с моделью дала плюс 48 процентов к контролю, а экзамен без модели — на 17 процентов хуже контроля. </a:t>
            </a:r>
            <a:r>
              <a:rPr sz="1140" b="1" i="0">
                <a:solidFill>
                  <a:srgbClr val="21295C"/>
                </a:solidFill>
                <a:latin typeface="Arial"/>
              </a:rPr>
              <a:t>Повторением клинической находки это не является:</a:t>
            </a:r>
            <a:r>
              <a:rPr sz="1140" b="0" i="0">
                <a:solidFill>
                  <a:srgbClr val="21295C"/>
                </a:solidFill>
                <a:latin typeface="Arial"/>
              </a:rPr>
              <a:t> другая работа, другие люди, другая задача; строка «на реальной работе не воспроизводилось» остаётся в силе.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40" b="0" i="0">
                <a:solidFill>
                  <a:srgbClr val="21295C"/>
                </a:solidFill>
                <a:latin typeface="Arial"/>
              </a:rPr>
              <a:t/>
            </a:r>
            <a:r>
              <a:rPr sz="1140" b="1" i="0">
                <a:solidFill>
                  <a:srgbClr val="21295C"/>
                </a:solidFill>
                <a:latin typeface="Arial"/>
              </a:rPr>
              <a:t>У кого за последние три месяца был рабочий день без ассистента — как он прошёл?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1179576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Bastani и др., PNAS, 2025 — рандомизированный полевой эксперимент}}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Два пробела и одно измерение доверия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964832"/>
          </a:xfrm>
          <a:prstGeom prst="roundRect">
            <a:avLst>
              <a:gd name="adj" fmla="val 1551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ОДНА ОШИБКА ОБРЫВАЕТ ДОВЕРИЕ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не опубликовано как отдельная измеренная величина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335024"/>
            <a:ext cx="3618890" cy="1964832"/>
          </a:xfrm>
          <a:prstGeom prst="roundRect">
            <a:avLst>
              <a:gd name="adj" fmla="val 1551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ДОВЕРИЕ ЗА МЕСЯЦЫ РЕАЛЬНОЙ РАБОТЫ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3562" y="169079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не измерено ни у кого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9884" y="1335024"/>
            <a:ext cx="3618890" cy="1964832"/>
          </a:xfrm>
          <a:prstGeom prst="roundRect">
            <a:avLst>
              <a:gd name="adj" fmla="val 15512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ОТКАЗ РАБОТАТЬ БЕЗ ПОМОЩНИКА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044" y="1690796"/>
            <a:ext cx="3344570" cy="7325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50" b="1" i="0">
                <a:solidFill>
                  <a:srgbClr val="F0AB00"/>
                </a:solidFill>
                <a:latin typeface="Arial"/>
              </a:rPr>
              <a:t>от 30 до 50 из ста опытных разработчиков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044" y="2423344"/>
            <a:ext cx="3344570" cy="739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величина ОПРОСНАЯ — сказали исследователям сами участники, а не телеметрия; предмет немедицинский, это разработка программ, поэтому свидетельство числится переносом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3391296"/>
            <a:ext cx="11441887" cy="2844911"/>
          </a:xfrm>
          <a:prstGeom prst="roundRect">
            <a:avLst>
              <a:gd name="adj" fmla="val 1071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3482736"/>
            <a:ext cx="11112703" cy="27534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От чего человек отказывается — видно; что он думает о доверии — нет.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Единственное управляемое средство: если человеку дают хоть немного поправить прогноз модели, он не бросает её после ошибки.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обновление замера производительности разработчиков, февраль 2026}}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Кто теперь исполнитель и какие шаги появились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844122"/>
          </a:xfrm>
          <a:prstGeom prst="roundRect">
            <a:avLst>
              <a:gd name="adj" fmla="val 16528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ОБЪЁМ ЧЕЛОВЕЧЕСКОГО ЧТЕНИЯ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ниже на 44,3 процента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3344570" cy="92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промежуточный анализ безопасности, 80 033 женщины — это его собственная выборка; единого числа по разным внедрениям одной идеи нет: {{нет в главе: разброс снижения объёма чтения по внедрениям}}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844122"/>
          </a:xfrm>
          <a:prstGeom prst="roundRect">
            <a:avLst>
              <a:gd name="adj" fmla="val 16528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ЗАВИСИМОСТЬ ОТ ПРЕЖНЕГО КОНТАКТА: ВЕРНУВШИЕСЯ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863689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минус 18 процентов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3562" y="2290688"/>
            <a:ext cx="3344570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точечная оценка; доверительный интервал накрыл ноль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9884" y="1335024"/>
            <a:ext cx="3618890" cy="1844122"/>
          </a:xfrm>
          <a:prstGeom prst="roundRect">
            <a:avLst>
              <a:gd name="adj" fmla="val 16528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ЗАВИСИМОСТЬ ОТ ПРЕЖНЕГО КОНТАКТА: НОВЫЕ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044" y="169079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минус 4 процента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044" y="2117795"/>
            <a:ext cx="3344570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знак отрицательный в обеих группах, значимости нет ни в одной; «вернувшиеся» и «новые» — это опыт участия в самом замере, а не стаж в профессии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416890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До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20240" y="3362026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02536" y="3444322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снимок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039258" y="352204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267858" y="3362026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50154" y="3444322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первый читатель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386876" y="352204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15476" y="3362026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7772" y="3444322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второй читатель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020394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После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20240" y="3965530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02536" y="4047826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снимок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039258" y="4125550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267858" y="3965530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50154" y="4047826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модель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386876" y="4125550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615476" y="3965530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97772" y="4047826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арбитр при расхождении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569034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поток решения до и после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4904" y="4881888"/>
            <a:ext cx="11441887" cy="1354319"/>
          </a:xfrm>
          <a:prstGeom prst="roundRect">
            <a:avLst>
              <a:gd name="adj" fmla="val 22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" y="4973328"/>
            <a:ext cx="11112703" cy="1262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Появилась роль посредника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модель даёт вывод, человек переводит его на язык, которому поверит врач; доверие выше у тех, кто работает с моделью руками.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Появился целевой арбитраж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а рутинная перепроверка каждого случая ушла.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Третья строка — измеренная зависимость: точечные оценки есть,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значимости нет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качественное исследование внедрения модели предупреждения, JMIR, 2020}}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обновление замера производительности разработчиков, 24 февраля 2026}}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Навык — расходуемое, и расход измерен один раз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11185855" cy="1104769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10911535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ЦЕЛЕВЫХ ПОПЫТОК ПОИСКА ПОВТОРЕНИЯ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10911535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22 попытки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1091153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восемнадцать поисковых формулировок плюс четыре целевых обращения к журналам и базе диссертаций; это число про поиск, о самом предмете оно не говорит ничего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4" y="2531233"/>
            <a:ext cx="11441887" cy="3704974"/>
          </a:xfrm>
          <a:prstGeom prst="roundRect">
            <a:avLst>
              <a:gd name="adj" fmla="val 82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" y="2622673"/>
            <a:ext cx="11112703" cy="3613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На реальной работе измерено однажды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падение доли обнаружения, с опубликованным исправлением и тремя письмами.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Повторения на реальной работе нет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и пробел назван числом.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Продольного измерения для тех, кто учился сразу с ассистентом, не существует вовсе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про людей в этой аудитории данных нет ни у кого.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Матрица ниже — третий слой «чем держат» — имеет одну пустую клетку: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процедуры, измеряющей результат врача без помощника, не существует ни у кого.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Дальше мы складываем вечер — девять форм, счёт красной линии и ответ на вопрос лекции.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пилотное исследование по рентгенологии (препринт)}}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9. Сборка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Весь вечер лекция разбирала случаи по одному. Здесь они складываются в счёт: чем платили, сколько раз выигрыш приписали не тому, на каком уровне вообще измеряли результат.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613331"/>
            <a:ext cx="10984687" cy="12449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Своды по порядку: 1. Где работа и сколько её: пять форм из девяти · 2. Кто её делает, когда и чем платит: четыре формы, включая новую · 3. Столько раз за вечер выигрыш был приписан не тому · 4. Что мы вообще измеряли: четыре ступени · 5. Клетки узнаваемые, процедуры другие · 6. Что меняется в человеке, в процессе и в подписи · 7. Четыре разных ответа на один вопрос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Где работа и сколько её: пять форм из девяти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680031"/>
          </a:xfrm>
          <a:prstGeom prst="roundRect">
            <a:avLst>
              <a:gd name="adj" fmla="val 18142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ШАГ ПОЯВИЛСЯ: ОБЪЁМ РАЗБОРА РАСХОЖДЕНИЙ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вырос на 53 процента при падении первичных чтений вдвое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08219"/>
            <a:ext cx="5236311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разброс между двумя центрами — от 22 до 142 процентов на одной и той же идее: протоколы арбитража разные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680031"/>
          </a:xfrm>
          <a:prstGeom prst="roundRect">
            <a:avLst>
              <a:gd name="adj" fmla="val 18142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ОДИН РАЗБОР РАСХОЖДЕНИЯ ПРОТИВ ОДНОГО ЧТЕНИЯ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дольше в 4,6 раза по медианам · в 2,75 по средним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303" y="2508219"/>
            <a:ext cx="5236311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48 секунд среднего чтения против 2 минут 12 секунд среднего разбора; по медианам — 25 секунд против 1 минуты 55 секунд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4" y="3106495"/>
            <a:ext cx="11441887" cy="3129712"/>
          </a:xfrm>
          <a:prstGeom prst="roundRect">
            <a:avLst>
              <a:gd name="adj" fmla="val 97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" y="3197935"/>
            <a:ext cx="11112703" cy="3038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Во входе сказано, чем платят: вниманием, навыком, подписью и арбитражем. Здесь это посчитано формами.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1. Нагрузка переехала на другой шаг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воронка молекул ИИ-происхождения против базы отрасли: одобрений регулятора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ноль</a:t>
            </a:r>
            <a:r>
              <a:rPr sz="135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2. Шаг исчез совсем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</a:t>
            </a:r>
            <a:r>
              <a:rPr sz="1350" b="0" i="1">
                <a:solidFill>
                  <a:srgbClr val="21295C"/>
                </a:solidFill>
                <a:latin typeface="Arial"/>
              </a:rPr>
              <a:t>ни одного подтверждённого случая за вечер.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Три кандидата проверены, у каждого взамен появился новый шаг.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3. Шаг появился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разбор расхождения при замене второго читателя моделью; разбор и отклонение тревоги как статья рабочего времени; служба контроля качества заметок со своим штатом; заранее утверждённый план изменений модели.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4. Нагрузка выросла на том же месте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модель раннего предупреждения: тревога приходит часто, подтверждается редко.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4а. Нагрузка на том же месте упала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составление расписания медсестёр.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80" b="0" i="0">
                <a:solidFill>
                  <a:srgbClr val="21295C"/>
                </a:solidFill>
                <a:latin typeface="Arial"/>
              </a:rPr>
              <a:t/>
            </a:r>
            <a:r>
              <a:rPr sz="1080" b="0" i="1">
                <a:solidFill>
                  <a:srgbClr val="1C7293"/>
                </a:solidFill>
                <a:latin typeface="Arial"/>
              </a:rPr>
              <a:t>Среднее по приросту разбора расхождений без разброса не произносится: в одном центре прирост был заметно больше, чем в другом, потому что протоколы арбитража разные. Устройство нового шага само задаёт нагрузку, и «модель вторым читателем» — семейство конфигураций, а не одно число.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80" b="0" i="0">
                <a:solidFill>
                  <a:srgbClr val="21295C"/>
                </a:solidFill>
                <a:latin typeface="Arial"/>
              </a:rPr>
              <a:t/>
            </a:r>
            <a:r>
              <a:rPr sz="1080" b="0" i="1">
                <a:solidFill>
                  <a:srgbClr val="1C7293"/>
                </a:solidFill>
                <a:latin typeface="Arial"/>
              </a:rPr>
              <a:t>Кратность названа двумя счётами, потому что по медианам и по средним она разная.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50" b="1" i="0">
                <a:solidFill>
                  <a:srgbClr val="21295C"/>
                </a:solidFill>
                <a:latin typeface="Arial"/>
              </a:rPr>
              <a:t>Кто её делает, когда и чем платит: четыре формы, включая новую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1864869"/>
          </a:xfrm>
          <a:prstGeom prst="roundRect">
            <a:avLst>
              <a:gd name="adj" fmla="val 16344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ИСПОЛНИТЕЛЬ ТОТ ЖЕ, НО СТАЛ ХУЖЕ: ДОЛЯ ОБНАРУЖЕНИЯ ДО → ПОСЛЕ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3689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28,4 → 22,4 из ста процедур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81111"/>
            <a:ext cx="3344570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 процедурах БЕЗ помощника, у тех же девятнадцати врачей; минус 6,0 процентного пункта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864869"/>
          </a:xfrm>
          <a:prstGeom prst="roundRect">
            <a:avLst>
              <a:gd name="adj" fmla="val 16344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ИСПОЛНИТЕЛЬ СМЕНИЛСЯ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нагрузка чтения ниже на 44,3 процента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3562" y="2508219"/>
            <a:ext cx="3344570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при большем числе найденных раков; промежуточный анализ безопасности, 80 033 женщины — его собственная выборка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9884" y="1335024"/>
            <a:ext cx="3618890" cy="1864869"/>
          </a:xfrm>
          <a:prstGeom prst="roundRect">
            <a:avLst>
              <a:gd name="adj" fmla="val 16344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СМЕСТИЛАСЬ ЦЕНА ОШИБКИ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044" y="1690796"/>
            <a:ext cx="3344570" cy="596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способность вмешаться проверена у 56 изделий из 717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044" y="2287545"/>
            <a:ext cx="3344570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срез июнь 2024 года, радиологические изделия с доступной документацией подачи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3291333"/>
            <a:ext cx="11441887" cy="2944874"/>
          </a:xfrm>
          <a:prstGeom prst="roundRect">
            <a:avLst>
              <a:gd name="adj" fmla="val 1035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3382773"/>
            <a:ext cx="11112703" cy="28534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5. Исполнитель сменился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замена одного из двух читателей моделью; и обратной стороной — пара «врач плюс модель» хуже самой модели.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6. Изменился порядок работ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сортировка до приёма. </a:t>
            </a:r>
            <a:r>
              <a:rPr sz="1350" b="0" i="1">
                <a:solidFill>
                  <a:srgbClr val="21295C"/>
                </a:solidFill>
                <a:latin typeface="Arial"/>
              </a:rPr>
              <a:t>Числа у этой формы на своде нет: порядок работ переставлен, но посчитан там не был.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7. Сместилась цена ошибки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разрыв между нормой и проверкой.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8. Исполнитель тот же, но стал хуже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падение доли обнаружения в процедурах без помощника у тех же врачей.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0" i="0">
                <a:solidFill>
                  <a:srgbClr val="21295C"/>
                </a:solidFill>
                <a:latin typeface="Arial"/>
              </a:rPr>
              <a:t>Чем восьмая форма отличается от двух соседних: в пятой сменилась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рука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здесь рука та же, и на этом стоит измерение. В форме 4а упал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объём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здесь объём тот же, упала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доля находок</a:t>
            </a:r>
            <a:r>
              <a:rPr sz="135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80" b="0" i="0">
                <a:solidFill>
                  <a:srgbClr val="21295C"/>
                </a:solidFill>
                <a:latin typeface="Arial"/>
              </a:rPr>
              <a:t/>
            </a:r>
            <a:r>
              <a:rPr sz="1080" b="0" i="1">
                <a:solidFill>
                  <a:srgbClr val="1C7293"/>
                </a:solidFill>
                <a:latin typeface="Arial"/>
              </a:rPr>
              <a:t>Измерен только этот знак. Обратный случай — тот же исполнитель, ставший лучше, — получит свой номер, а не расширит это определение задним числом. Измерение под новой формой одно и не воспроизведённое.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1" i="0">
                <a:solidFill>
                  <a:srgbClr val="21295C"/>
                </a:solidFill>
                <a:latin typeface="Arial"/>
              </a:rPr>
              <a:t>Какая из этих форм встречалась у вас на работе? Напишите в чат номер — один.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879603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Столько раз за вечер выигрыш был приписан не тому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11185855" cy="1289607"/>
          </a:xfrm>
          <a:prstGeom prst="roundRect">
            <a:avLst>
              <a:gd name="adj" fmla="val 23635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10911535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ПОДТВЕРЖДЁННЫХ СЛУЧАЕВ ЗА ВЕЧЕР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10911535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десять строк реестра из тринадцати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10911535" cy="36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две строки сняты вместе с темой, изъятой из лекции, и номера их не переиспользуются; три числятся условными — адрес разбора у них лежит за другим разделом. Число берётся из реестра на день сборки: вписанное заранее соврало бы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4" y="2716071"/>
            <a:ext cx="11441887" cy="3520136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" y="2807511"/>
            <a:ext cx="11112703" cy="3428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Копаешь — а там вообще нет модели.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Сортировка обращений оказалась деревом «если-то» в таблице. Прибор, измеряющий насыщение крови кислородом, смещён до всякой модели — система наследует смещение, не создавая его. Тревога кардиомонитора — порог на приборе.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1" i="0">
                <a:solidFill>
                  <a:srgbClr val="21295C"/>
                </a:solidFill>
                <a:latin typeface="Arial"/>
              </a:rPr>
              <a:t>Копаешь — а выигрыш не там, где показывают.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Снижение смертности принадлежит новой роли в процессе, а не качеству прогноза. «ИИ изобрёл лекарство» — расчёту физики связывания под уже известную мишень, метод не генеративный. «Миллионы обработанных исследований» — объёму, а не качеству: знаменателя нет.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1" i="0">
                <a:solidFill>
                  <a:srgbClr val="21295C"/>
                </a:solidFill>
                <a:latin typeface="Arial"/>
              </a:rPr>
              <a:t>Копаешь — а числа выросли при пересказе.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Рецензируемый обзор при сверке с семью своими первоисточниками перепутал шесть. «Время описания исследования — три секунды» оказалось временем работы модели, поданным как время работы врача. «Экономия двойного чтения» взята из сценария, названного вымышленным самими авторами, при нулевой реальной замене чтений.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0" i="0">
                <a:solidFill>
                  <a:srgbClr val="21295C"/>
                </a:solidFill>
                <a:latin typeface="Arial"/>
              </a:rPr>
              <a:t>Приёмы, по одному на графу: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убери модель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·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спроси, от чего посчитан эффект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·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открой первоисточник и сверь выборку, дизайн и журнал</a:t>
            </a:r>
            <a:r>
              <a:rPr sz="135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80" b="0" i="0">
                <a:solidFill>
                  <a:srgbClr val="21295C"/>
                </a:solidFill>
                <a:latin typeface="Arial"/>
              </a:rPr>
              <a:t/>
            </a:r>
            <a:r>
              <a:rPr sz="1080" b="0" i="1">
                <a:solidFill>
                  <a:srgbClr val="1C7293"/>
                </a:solidFill>
                <a:latin typeface="Arial"/>
              </a:rPr>
              <a:t>В этот же вечер были разборы, где выигрыш принадлежит именно модели, и они названы по именам.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Что мы вообще измеряли: четыре ступени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Исход пациента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шведский скрининг · глазное дно · разработка лекарства · модель сепсиса частично.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Качество работы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деквалификация · арбитраж.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Точность на корпусе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всё ядро вечера: агрегат размеров эффекта, замер взгляда, подсказка по срезу, обратный знак, кардиограммы, ортопедия.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Заявление вендора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«три секунды на описание» · «экономия двойного чтения».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Исхода пациента нет ни у одного разбора ядра.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Никто не проверил, что случилось с больным из-за того, что врач стал хуже смотреть.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На точности корпуса нельзя утверждать вред пациенту. На качестве работы нельзя утверждать исход. На заявлении вендора нельзя утверждать ничего.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Это не упрёк исследователям: такой замер стоит лет и требует исходов, которых в лабораторном устройстве опыта нет вовсе. Градация требует называть ступень замера вслух — и свою тоже.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Клетки узнаваемые, процедуры другие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Распознавание на изображении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скрининг и чтение исследований.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Держат: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двойное чтение, арбитраж при расхождении, порог вмешательства, пересчёт прогностической ценности под местную распространённость.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Прогноз на структурированных данных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раннее предупреждение, воронка активов.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Держат: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разбор ложных тревог как статья рабочего времени, заранее утверждённый план изменений модели, передача данных о работе изделия регулятору.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Поиск и генерация на тексте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запись приёма, выписка, дифференциальный диагноз.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Держат: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вычитка и подпись врача, разбор случая, границы допуска по заявленному назначению изделия.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Генерация структуры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молекула под заданную мишень, дизайн белка.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Держат: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доклиника, фазы испытаний, воронка переходов и регистрация.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Результат исполнителя без инструмента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тот же врач, та же процедура, без помощника: находок меньше.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Держат: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ничем. Режима нет, и процедуры, которая это измеряет, не существует ни у кого.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Три сгустка те же, добавилась одна клетка, держат их четыре разные процедуры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а пятую не держит ничто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Чем позже в процедуре стоит проверка, тем дольше живёт ошибка: для изображения — внутри смены, для текста — при подписи, для прогноза — при следующем срезе данных, переданных регулятору, для структуры — во второй фазе испытаний, через годы.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Что меняется в человеке, в процессе и в подписи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Поведение.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Зрительный поиск сужается при неверной подсказке —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чтение с замером взгляда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Верное решение меняется на неверное под влиянием совета —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систематический обзор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Техника падает в работе без помощника после привыкания —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наблюдательное исследование, повторения нет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Доля отклоняемых тревог предельно высока —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обзор отклонений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Психология.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Объяснение повышает согласие, но не качество решения —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полевой опыт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Время пишется быстрее, проверка остаётся —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рандомизированное исследование плюс замер рабочего времени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Процесс.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Роль второго проверяющего переходит от человека к модели —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рандомизированное исследование программы скрининга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Подпись.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Норма требует человека финальным звеном, и это редко проверено —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обзор поданной документации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Стандарт надзора сформулирован как способность вмешаться, а не как подпись —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нормативный текст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Контрольная строка.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Разная структура ошибок человека и модели даёт выигрыш пары —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крупное агрегационное исследование, повторения нет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Четыре разных ответа на один вопрос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Модель посмотрела первой. Что теперь делает человек — и кто это измерял?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Смотрит первым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читает сам, модель даёт второе мнение; при расхождении идёт арбитраж.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Измерено рандомизированным исследованием программы скрининга.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Смотрит вторым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читает после модели: внимание сужается, верное решение иногда меняется на неверное.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Измерено чтением с замером взгляда и систематическим обзором.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Смотрит только спорное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разбирает то, что модель отметила; остальное проходит мимо.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Измерено обзором отклонений тревог и моделью раннего предупреждения.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Подписывает не глядя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подпись есть, чтения нет.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Измерено счётом секунд на проверку подсказки — в лабораторном опыте, не в клинике, — и долей изделий, у которых способность вмешаться вообще проверяли.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«Человек в контуре» — не ответ, а вопрос. Четыре ступени — четыре разных процедуры, и измерены они по-разному: первая рандомизированным исследованием, последняя счётом секунд.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Четвёртая ступень — не чья-то вина: она следствие устройства процедуры и переделывается процедурой.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Обещание, данное в начале вечера, к этой минуте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оплачено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четырьмя ступенями и всеми измерениями, которые под ними стоят.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10. Закрытие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Обязательство было заявлено в начале вечера. Здесь оно возвращается — заработанным, со счётом по каждой опоре.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613331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Кадры по порядку: 1. Что было обещано в начале. И чем вечер это отработал · 2. Устройство отозвали за год. Решения этого года остались · 3. Вопросы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Что было обещано в начале. И чем вечер это отработал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618890" cy="2255292"/>
          </a:xfrm>
          <a:prstGeom prst="roundRect">
            <a:avLst>
              <a:gd name="adj" fmla="val 13514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ПРАВО ПОДПИСИ ВЫДАНО ЧЕЛОВЕКУ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3344570" cy="596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способность вмешаться проверена у 56 изделий из 717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7545"/>
            <a:ext cx="3344570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радиологические изделия, срез июнь 2024 года; при разборе случая комиссия оценивает действия человека, и вопроса о модели в этой процедуре нет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2255292"/>
          </a:xfrm>
          <a:prstGeom prst="roundRect">
            <a:avLst>
              <a:gd name="adj" fmla="val 13514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ОШИБАЕТСЯ ИНАЧЕ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{{нет в главе: доли взаимного перекрытия ошибок}}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3562" y="2898642"/>
            <a:ext cx="3344570" cy="554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оплачено механизмом без величин: пара хуже самой модели там, где сильнее модель, и лучше обеих сторон там, где сильнее человек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9884" y="1335024"/>
            <a:ext cx="3618890" cy="2255292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ОТМЕНИТЬ НЕЛЬЗЯ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044" y="1690796"/>
            <a:ext cx="3344570" cy="511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отзывались 60 изделий из 950; 43,4 процента отзывов — в первый год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044" y="2202670"/>
            <a:ext cx="3344570" cy="739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другой знаменатель и другой срез, чем у первой плашки: все изделия с ИИ, ноябрь 2024 года. Решения, принятые по изделию за этот год, не отзываются вместе с ним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" y="3681756"/>
            <a:ext cx="11441887" cy="2554451"/>
          </a:xfrm>
          <a:prstGeom prst="roundRect">
            <a:avLst>
              <a:gd name="adj" fmla="val 1193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3773196"/>
            <a:ext cx="11112703" cy="2463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110" b="1" i="0">
                <a:solidFill>
                  <a:srgbClr val="21295C"/>
                </a:solidFill>
                <a:latin typeface="Arial"/>
              </a:rPr>
              <a:t>Участие человека в медицинском решении обязательно не потому, что человек точнее. Измерено, что часто он не точнее. Обязательно — потому что право подписи выдано ему, ошибается он иначе, чем модель, и отменить принятое решение нельзя.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10" b="0" i="0">
                <a:solidFill>
                  <a:srgbClr val="21295C"/>
                </a:solidFill>
                <a:latin typeface="Arial"/>
              </a:rPr>
              <a:t/>
            </a:r>
            <a:r>
              <a:rPr sz="1110" b="0" i="0">
                <a:solidFill>
                  <a:srgbClr val="21295C"/>
                </a:solidFill>
                <a:latin typeface="Arial"/>
              </a:rPr>
              <a:t>У опоры «ошибается иначе» величины нет, и это говорится той же строкой, которой вечер требовал базу у чужих чисел: </a:t>
            </a:r>
            <a:r>
              <a:rPr sz="1110" b="1" i="0">
                <a:solidFill>
                  <a:srgbClr val="21295C"/>
                </a:solidFill>
                <a:latin typeface="Arial"/>
              </a:rPr>
              <a:t>доли взаимного перекрытия ошибок не измерены</a:t>
            </a:r>
            <a:r>
              <a:rPr sz="1110" b="0" i="0">
                <a:solidFill>
                  <a:srgbClr val="21295C"/>
                </a:solidFill>
                <a:latin typeface="Arial"/>
              </a:rPr>
              <a:t> — такие измерения есть, но сверку по первоисточнику их числа не прошли. Держится опора механизмом: знак результата пары задаёт то, какая сторона сильнее на задаче.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10" b="0" i="0">
                <a:solidFill>
                  <a:srgbClr val="21295C"/>
                </a:solidFill>
                <a:latin typeface="Arial"/>
              </a:rPr>
              <a:t/>
            </a:r>
            <a:r>
              <a:rPr sz="1110" b="0" i="0">
                <a:solidFill>
                  <a:srgbClr val="21295C"/>
                </a:solidFill>
                <a:latin typeface="Arial"/>
              </a:rPr>
              <a:t>Три проверки, которые инженер может приложить к своему контуру: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10" b="0" i="0">
                <a:solidFill>
                  <a:srgbClr val="21295C"/>
                </a:solidFill>
                <a:latin typeface="Arial"/>
              </a:rPr>
              <a:t/>
            </a:r>
            <a:r>
              <a:rPr sz="111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110" b="1" i="0">
                <a:solidFill>
                  <a:srgbClr val="21295C"/>
                </a:solidFill>
                <a:latin typeface="Arial"/>
              </a:rPr>
              <a:t>Есть ли у человека независимый источник истины, кроме объяснения модели?</a:t>
            </a:r>
            <a:r>
              <a:rPr sz="1110" b="0" i="0">
                <a:solidFill>
                  <a:srgbClr val="21295C"/>
                </a:solidFill>
                <a:latin typeface="Arial"/>
              </a:rPr>
              <a:t> Если он проверяет вывод по самообъяснению модели — это не проверка.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10" b="0" i="0">
                <a:solidFill>
                  <a:srgbClr val="21295C"/>
                </a:solidFill>
                <a:latin typeface="Arial"/>
              </a:rPr>
              <a:t/>
            </a:r>
            <a:r>
              <a:rPr sz="111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110" b="1" i="0">
                <a:solidFill>
                  <a:srgbClr val="21295C"/>
                </a:solidFill>
                <a:latin typeface="Arial"/>
              </a:rPr>
              <a:t>Измерено ли, что он возражает?</a:t>
            </a:r>
            <a:r>
              <a:rPr sz="1110" b="0" i="0">
                <a:solidFill>
                  <a:srgbClr val="21295C"/>
                </a:solidFill>
                <a:latin typeface="Arial"/>
              </a:rPr>
              <a:t> Доля отклонений и доля </a:t>
            </a:r>
            <a:r>
              <a:rPr sz="1110" b="1" i="0">
                <a:solidFill>
                  <a:srgbClr val="21295C"/>
                </a:solidFill>
                <a:latin typeface="Arial"/>
              </a:rPr>
              <a:t>правильных</a:t>
            </a:r>
            <a:r>
              <a:rPr sz="1110" b="0" i="0">
                <a:solidFill>
                  <a:srgbClr val="21295C"/>
                </a:solidFill>
                <a:latin typeface="Arial"/>
              </a:rPr>
              <a:t> отклонений. Если отклонений нет вовсе или их не разбирали — участие не подтверждено.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10" b="0" i="0">
                <a:solidFill>
                  <a:srgbClr val="21295C"/>
                </a:solidFill>
                <a:latin typeface="Arial"/>
              </a:rPr>
              <a:t/>
            </a:r>
            <a:r>
              <a:rPr sz="111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110" b="1" i="0">
                <a:solidFill>
                  <a:srgbClr val="21295C"/>
                </a:solidFill>
                <a:latin typeface="Arial"/>
              </a:rPr>
              <a:t>Успевает ли он физически?</a:t>
            </a:r>
            <a:r>
              <a:rPr sz="1110" b="0" i="0">
                <a:solidFill>
                  <a:srgbClr val="21295C"/>
                </a:solidFill>
                <a:latin typeface="Arial"/>
              </a:rPr>
              <a:t> Секунды на решение против объёма, который надо прочитать. Медиана проверки подсказки даёт ответ «нет».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890" b="0" i="0">
                <a:solidFill>
                  <a:srgbClr val="21295C"/>
                </a:solidFill>
                <a:latin typeface="Arial"/>
              </a:rPr>
              <a:t/>
            </a:r>
            <a:r>
              <a:rPr sz="890" b="0" i="1">
                <a:solidFill>
                  <a:srgbClr val="1C7293"/>
                </a:solidFill>
                <a:latin typeface="Arial"/>
              </a:rPr>
              <a:t>Норма сформулирована как способность вмешаться, а не как присутствие: формулировка не требует, чтобы человек смотрел каждое решение.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исследование отзывов допущенных изделий с ИИ, JAMA Health Forum, 2025}}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обзор поданной документации на допуск — проверка способности вмешаться}}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Устройство отозвали за год. Решения этого года остались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11185855" cy="1104769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10911535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ДОЛЯ ОТЗЫВОВ В ПЕРВЫЕ ДВЕНАДЦАТЬ МЕСЯЦЕВ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0796"/>
            <a:ext cx="10911535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43,4 процента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17795"/>
            <a:ext cx="1091153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79 отзывных событий из 182 на 60 отозванных изделий из 950 допущенных, срез ноябрь 2024 года — примерно вдвое чаще обычного для этого пути допуска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22673"/>
            <a:ext cx="5437479" cy="2181386"/>
          </a:xfrm>
          <a:prstGeom prst="roundRect">
            <a:avLst>
              <a:gd name="adj" fmla="val 1397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2778121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отозвать можно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134300"/>
            <a:ext cx="5108295" cy="1514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Изделие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Допуск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Партию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1295" y="2622673"/>
            <a:ext cx="5437479" cy="2181386"/>
          </a:xfrm>
          <a:prstGeom prst="roundRect">
            <a:avLst>
              <a:gd name="adj" fmla="val 13972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5887" y="2778121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отменить нельзя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5887" y="3134300"/>
            <a:ext cx="5108295" cy="1514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Исход исследования подбора дозы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Уже проведённую процедуру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4895500"/>
            <a:ext cx="11441887" cy="1340707"/>
          </a:xfrm>
          <a:prstGeom prst="roundRect">
            <a:avLst>
              <a:gd name="adj" fmla="val 2273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4986940"/>
            <a:ext cx="11112703" cy="12492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10" b="1" i="0">
                <a:solidFill>
                  <a:srgbClr val="21295C"/>
                </a:solidFill>
                <a:latin typeface="Arial"/>
              </a:rPr>
              <a:t>Необратимы не изделия — необратимы решения, принятые по ним до отзыва.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0" i="0">
                <a:solidFill>
                  <a:srgbClr val="21295C"/>
                </a:solidFill>
                <a:latin typeface="Arial"/>
              </a:rPr>
              <a:t>«В медицине всё необратимо» — утверждение шире замера. Отзыв существует и посчитан; решения, принятые по устройству за год его работы, не отзываются вместе с ним.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0" i="0">
                <a:solidFill>
                  <a:srgbClr val="21295C"/>
                </a:solidFill>
                <a:latin typeface="Arial"/>
              </a:rPr>
              <a:t>Дальше — отрасль, где ошибку почти всегда можно отменить, и спор идёт не о цене ошибки, а о том, кому принадлежит результат.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исследование отзывов допущенных изделий с ИИ, JAMA Health Forum, 2025}}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Вопросы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Если бы вы завтра ставили модель в свой рабочий контур — какую одну проверку вы бы сделали обязательной до включения?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Есть ли у человека независимый источник истины, кроме объяснения модели?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Измерено ли, что он возражает — и что возражает верно?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Успевает ли он физически: секунды на решение против объёма, который надо прочитать?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