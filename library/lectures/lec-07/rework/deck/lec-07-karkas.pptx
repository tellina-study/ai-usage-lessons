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arxiv.org/abs/1711.05225"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45/3313831.3376718"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1145/3313831.3376718"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26/sciadv.abq6147"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26/science.aax2342"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ence.aax2342"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148/radiol.252590"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148/radiol.25259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8/radiol.243688"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38/s41746-020-0232-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01/jamanetworkopen.2024.40969"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01/jamanetworkopen.2024.4096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networkopen.2021.35286"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www.medrxiv.org/content/10.1101/2025.07.10.25331333"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5.0821"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doi.org/10.1093/jamia/ocad118"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doi.org/10.1093/jamia/ocad118"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go.bio.org/rs/490-EHZ-999/images/ClinicalDevelopmentSuccessRates2011_2020.pdf"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go.bio.org/rs/490-EHZ-999/images/ClinicalDevelopmentSuccessRates2011_2020.pdf"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pmc.ncbi.nlm.nih.gov/articles/PMC9231077/"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go.bio.org/rs/490-EHZ-999/images/ClinicalDevelopmentSuccessRates2011_2020.pdf"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j.gie.2014.07.058"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metr.org/blog/2026-02-24-uplift-update/"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016/S2468-1253%2825%2900133-5"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01/jamahealthforum.2025.3172"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собрана по порядку оказания помощи одному человеку, и это не каталог применений. Необратимость первого шага стоит произнести по шагам: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 Каталог отвечает на вопрос «что бывает», порядок помощи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Названия эти курсу знакомы, и повторять их определения со сцены незачем — на слайде они стоят осями, а не словарём. Второе имя — с какими данными система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Собирается карта один раз, и обещать стоит ровно это. По строкам встанут типы задач, которые за лекцию встретились, по столбцам — виды данных, в клетках — короткие имена разобранных случаев. Заполняться она по ходу не будет, и ждать этого не надо: занятых клеток за всю лекцию наберётся четыре, то есть восемь из двенадцати показанных останутся пустыми до последней минуты. Эти восемь и есть содержание карты. Пустая клетка говорит ровно столько же, сколько занятая: на этих стадиях инструмент такого класса искать незачем, и время, которое ушло бы на поиск, карта экономит заранее.</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Одна строка про карту задачи и данных, и собирать её целиком мы будем один раз, в конце. Раздел занял три клетки из двенадцати показанных: классификация на изображении — автономное чтение глазного дна, распознавание на изображении — сортировка потока по риску, поиск с генерацией на тексте — первая линия на словах. Прогноза и планирования в разборах раздела нет: кого звать и с каким интервалом, назначено документом. И ни одна из трёх занятых клеток не про лечение — модель решает, кого посмотрят, а не что с ним делать.</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a:p>
            <a:r>
              <a:t/>
            </a:r>
          </a:p>
          <a:p>
            <a:r>
              <a:t>Строка про карту задачи и данных. Раздел добавил к ней ровно одну клетку — прогноз на структурированных данных, отбор по предсказанным расходам. Два других разбора встали туда, где уже стоял отбор: классификация на изображении занята дважды, и провалились в ней разные вещи — место развёртывания в Таиланде и состав обучающего набора в дерматологии. Отчёт, который сложил бы оба под именем клетки, не сказал бы ни о том, ни о другом. И одно занятое место лежит вне сетки целиком: измерение и сигнал прибора, где обученной модели нет вовсе —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сработала хуже обеих сторон, в другом сильнее обеих. Различает их устройство процедуры: сохранена ли независимость двух мнений и кому назначен арбитраж при расхождении. Ступень у них одна.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Отдельное испытание, как бы ярко в нём ни было измерено, остаётся отдельным случаем.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строка про карту задачи и данных: этот раздел не добавил к ней ни одной клетки. Все четыре разбора легли в распознавание и классификацию на изображении и в поиск с генерацией на тексте — туда, где инструменты уже стояли с первых двух разделов. Для карты это и есть результат: курс третий раз подряд возвращается в те же клетки, а различают разделы цена промаха и процедура вокруг человека, но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Строка про карту задачи и данных: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a:p>
            <a:r>
              <a:t/>
            </a:r>
          </a:p>
          <a:p>
            <a:r>
              <a:t>Строка про карту задачи и данных: новой клетки раздел не добавил. Поиск с генерацией на тексте занят с первого раздела — там это была первая линия обращений, здесь запись приёма и выписной документ. И судьба двух режимов в одной клетке разная: сортировка обращения словами после разобранного случая стагнирует, а запись приёма под диктовку принимается быстро. Разницу делает одно — первый режим принимает решение, второй оформляет уже принятое.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a:p>
            <a:r>
              <a:t/>
            </a:r>
          </a:p>
          <a:p>
            <a:r>
              <a:t>Строка про карту задачи и данных, и она здесь особая: клетки у этого раздела нет вовсе. Подпись, процедура и норматив инструментом не являются, и в сетке «задача × вид данных» места им не предусмотрено. Пустота эта не пробел подборки: раздел мерил не инструмент, а то, чем удерживают цену его ошибки, и сеткой инструментов такой предмет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a:p>
            <a:r>
              <a:t/>
            </a:r>
          </a:p>
          <a:p>
            <a:r>
              <a:t>Исполнители у восьми шагов разные, и перечислить их стоит: мишень выбирают биологи, молекулу подбирают химики, на культурах и животных работают токсикологи, на людях — клиницисты и координаторы центров, заявку собирают регуляторные специалисты, и это отдельная профессия.</a:t>
            </a:r>
          </a:p>
          <a:p>
            <a:r>
              <a:t/>
            </a:r>
          </a:p>
          <a:p>
            <a:r>
              <a:t>И то же поле с моделью, названное до разборов. Из восьми действий обученная модель заняла два, причём второе заметно реже первого: подбор молекулы — её проектируют расчётом вместо физического перебора библиотек — и выбор мишени, где гипотезы перебирают по графу биомедицинских связей. Один шаг она добавляет — сверить предсказание с опытом, и работа эта экспериментальная, то есть никуда от лаборатории не уходит. А четыре работы задачи для модели не содержат вовсе: переносимость у людей, набор пациентов, длительность наблюдения и производство клинической партии с подтверждённой чистотой. Это вывод, а не пробел подборки: в каждой из четырёх предмет работы — живой человек или физическое вещество, и ускорить их расчётом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Строка про карту задачи и данных: клетка этого раздела в показанное окно не попадает вовсе. Генерация структуры — молекула под заданную мишень, дизайн белка — лежит вне четырёх строк и трёх столбцов, которые лекция держит на экране, и назвать её приходится словами. Для карты это существенно: раздел занимает шестнадцать процентов лекции и в сетку инструментов клиники не укладывается ни одной клеткой, потому что предмет у него другой: вещество, а не решение о человеке.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замера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Разделение, объявленное на оси в начале, здесь и работает. Форма отвечает, что сделалось с работой; адрес — на каком человеческом шаге это сделалось. Два кадра свода делят формы по вопросу: этот отвечает, где работа и сколько её, следующий — чья рука её делает, когда и чем платит. К четырём адресам платежа всё это сводится через кадр, в котором собрано, что стало с человеком.</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 минус 6,0 процентного пункта.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пятнадцать живых строк, двенадцать из них подтверждены, три стоят условно — их адрес лежит за другим разделом. На экран идут девять, по три строки из каждой графы: пятнадцать строк на сводном кадре были бы библиографией, и остальные живут в реестре раздела.</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общая и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восемнадцати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a:p>
            <a:r>
              <a:t/>
            </a:r>
          </a:p>
          <a:p>
            <a:r>
              <a:t>Два кадра этого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опорой, и рядом с ней стоят три проверки, которые инженер приложит к собственному рабочему контуру независимо от отрасли. Второй — единственный кадр лекции, где измеренное число набрано крупнее заголовка: доля отзывов, пришедшихся на первый год работы изделия. Он закрывает лекцию разрывом между двумя вещами, которые привычно считают одной: изделие с рынка снимают, решения по нему остаются.</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Порядок оказания помощи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Порядок помощи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Пришёл результат обследования</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Назначено лечение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Проведена операция</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Человек живёт с последствиями</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Форма разбора</a:t>
            </a:r>
          </a:p>
        </p:txBody>
      </p:sp>
      <p:sp>
        <p:nvSpPr>
          <p:cNvPr id="17" name="Rounded Rectangle 16"/>
          <p:cNvSpPr/>
          <p:nvPr/>
        </p:nvSpPr>
        <p:spPr>
          <a:xfrm>
            <a:off x="1920240"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обеих ошибок</a:t>
            </a:r>
          </a:p>
        </p:txBody>
      </p:sp>
      <p:sp>
        <p:nvSpPr>
          <p:cNvPr id="19" name="Right Arrow 18"/>
          <p:cNvSpPr/>
          <p:nvPr/>
        </p:nvSpPr>
        <p:spPr>
          <a:xfrm>
            <a:off x="4202353"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классических режима</a:t>
            </a:r>
          </a:p>
        </p:txBody>
      </p:sp>
      <p:sp>
        <p:nvSpPr>
          <p:cNvPr id="22" name="Right Arrow 21"/>
          <p:cNvSpPr/>
          <p:nvPr/>
        </p:nvSpPr>
        <p:spPr>
          <a:xfrm>
            <a:off x="6713067"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94369"/>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240089"/>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против них</a:t>
            </a:r>
          </a:p>
        </p:txBody>
      </p:sp>
      <p:sp>
        <p:nvSpPr>
          <p:cNvPr id="25" name="Right Arrow 24"/>
          <p:cNvSpPr/>
          <p:nvPr/>
        </p:nvSpPr>
        <p:spPr>
          <a:xfrm>
            <a:off x="9223781" y="248231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Что переехало</a:t>
            </a:r>
          </a:p>
        </p:txBody>
      </p:sp>
      <p:sp>
        <p:nvSpPr>
          <p:cNvPr id="28" name="TextBox 27"/>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Сверху — порядок оказания помощи. Снизу — форма, по которой идёт каждый разбор</a:t>
            </a:r>
          </a:p>
        </p:txBody>
      </p:sp>
      <p:sp>
        <p:nvSpPr>
          <p:cNvPr id="29" name="Rounded Rectangle 28"/>
          <p:cNvSpPr/>
          <p:nvPr/>
        </p:nvSpPr>
        <p:spPr>
          <a:xfrm>
            <a:off x="374904" y="324667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Снимок перечитывают, назначение отменяют. Проведённую операцию и потерянные месяцы — нет.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p:txBody>
      </p:sp>
      <p:sp>
        <p:nvSpPr>
          <p:cNvPr id="31" name="TextBox 30"/>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вы видели с другой стороны.</a:t>
            </a:r>
          </a:p>
        </p:txBody>
      </p:sp>
      <p:sp>
        <p:nvSpPr>
          <p:cNvPr id="32" name="Rectangle 31"/>
          <p:cNvSpPr/>
          <p:nvPr/>
        </p:nvSpPr>
        <p:spPr>
          <a:xfrm>
            <a:off x="6091275" y="3338111"/>
            <a:ext cx="9144" cy="2168327"/>
          </a:xfrm>
          <a:prstGeom prst="rect">
            <a:avLst/>
          </a:prstGeom>
          <a:solidFill>
            <a:srgbClr val="D9E2EC"/>
          </a:solidFill>
          <a:ln>
            <a:noFill/>
          </a:ln>
          <a:effectLst/>
        </p:spPr>
        <p:txBody>
          <a:bodyPr rtlCol="0" anchor="ctr"/>
          <a:lstStyle/>
          <a:p>
            <a:pPr algn="ct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Rounded Rectangle 15"/>
          <p:cNvSpPr/>
          <p:nvPr/>
        </p:nvSpPr>
        <p:spPr>
          <a:xfrm>
            <a:off x="374904" y="2139505"/>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230945"/>
            <a:ext cx="5373471" cy="40052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p:txBody>
      </p:sp>
      <p:sp>
        <p:nvSpPr>
          <p:cNvPr id="18" name="TextBox 17"/>
          <p:cNvSpPr txBox="1"/>
          <p:nvPr/>
        </p:nvSpPr>
        <p:spPr>
          <a:xfrm>
            <a:off x="6278727" y="2230945"/>
            <a:ext cx="5373471" cy="4005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9" name="Rectangle 18"/>
          <p:cNvSpPr/>
          <p:nvPr/>
        </p:nvSpPr>
        <p:spPr>
          <a:xfrm>
            <a:off x="6091275" y="2230945"/>
            <a:ext cx="9144" cy="27624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374904" y="1243584"/>
            <a:ext cx="11441887" cy="4859190"/>
          </a:xfrm>
          <a:prstGeom prst="roundRect">
            <a:avLst>
              <a:gd name="adj" fmla="val 627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643160"/>
          </a:xfrm>
          <a:prstGeom prst="rect">
            <a:avLst/>
          </a:prstGeom>
          <a:noFill/>
        </p:spPr>
        <p:txBody>
          <a:bodyPr wrap="square" lIns="0" rIns="0" tIns="0" bIns="0" anchor="t">
            <a:spAutoFit/>
          </a:bodyPr>
          <a:lstStyle/>
          <a:p>
            <a:pPr algn="l">
              <a:lnSpc>
                <a:spcPct val="124000"/>
              </a:lnSpc>
            </a:pPr>
            <a:r>
              <a:rPr sz="1650" b="1" i="0">
                <a:solidFill>
                  <a:srgbClr val="21295C"/>
                </a:solidFill>
                <a:latin typeface="Arial"/>
              </a:rPr>
              <a:t>Про каждый инструмент спрашиваем две вещи: какую задачу он решает и с какими данными работает.</a:t>
            </a:r>
            <a:r>
              <a:rPr sz="1600" b="0" i="0">
                <a:solidFill>
                  <a:srgbClr val="21295C"/>
                </a:solidFill>
                <a:latin typeface="Arial"/>
              </a:rPr>
              <a:t> Шесть типов задачи на семь видов данных — сорок две клетки; на экране окно из двенадцати.</a:t>
            </a:r>
          </a:p>
        </p:txBody>
      </p:sp>
      <p:sp>
        <p:nvSpPr>
          <p:cNvPr id="6" name="TextBox 5"/>
          <p:cNvSpPr txBox="1"/>
          <p:nvPr/>
        </p:nvSpPr>
        <p:spPr>
          <a:xfrm>
            <a:off x="539496" y="2124488"/>
            <a:ext cx="11112703" cy="643160"/>
          </a:xfrm>
          <a:prstGeom prst="rect">
            <a:avLst/>
          </a:prstGeom>
          <a:noFill/>
        </p:spPr>
        <p:txBody>
          <a:bodyPr wrap="square" lIns="0" rIns="0" tIns="0" bIns="0" anchor="t">
            <a:spAutoFit/>
          </a:bodyPr>
          <a:lstStyle/>
          <a:p>
            <a:pPr algn="l">
              <a:lnSpc>
                <a:spcPct val="124000"/>
              </a:lnSpc>
            </a:pPr>
            <a:r>
              <a:rPr sz="1650" b="1" i="0">
                <a:solidFill>
                  <a:srgbClr val="21295C"/>
                </a:solidFill>
                <a:latin typeface="Arial"/>
              </a:rPr>
              <a:t>Карта соберётся один раз, в конце.</a:t>
            </a:r>
            <a:r>
              <a:rPr sz="1600" b="0" i="0">
                <a:solidFill>
                  <a:srgbClr val="21295C"/>
                </a:solidFill>
                <a:latin typeface="Arial"/>
              </a:rPr>
              <a:t> Читать на ней будем </a:t>
            </a:r>
            <a:r>
              <a:rPr sz="1650" b="1" i="0">
                <a:solidFill>
                  <a:srgbClr val="21295C"/>
                </a:solidFill>
                <a:latin typeface="Arial"/>
              </a:rPr>
              <a:t>пустые клетки: куда за восемь разделов не зашёл никто.</a:t>
            </a:r>
          </a:p>
        </p:txBody>
      </p:sp>
      <p:sp>
        <p:nvSpPr>
          <p:cNvPr id="7" name="Rectangle 6"/>
          <p:cNvSpPr/>
          <p:nvPr/>
        </p:nvSpPr>
        <p:spPr>
          <a:xfrm>
            <a:off x="539496" y="2913953"/>
            <a:ext cx="3180279"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685800" y="2913953"/>
            <a:ext cx="2887671"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9" name="Rectangle 8"/>
          <p:cNvSpPr/>
          <p:nvPr/>
        </p:nvSpPr>
        <p:spPr>
          <a:xfrm>
            <a:off x="3719775" y="2913953"/>
            <a:ext cx="1252102"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3866079" y="2913953"/>
            <a:ext cx="95949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текст</a:t>
            </a:r>
          </a:p>
        </p:txBody>
      </p:sp>
      <p:sp>
        <p:nvSpPr>
          <p:cNvPr id="11" name="Rectangle 10"/>
          <p:cNvSpPr/>
          <p:nvPr/>
        </p:nvSpPr>
        <p:spPr>
          <a:xfrm>
            <a:off x="4971877" y="2913953"/>
            <a:ext cx="2316571" cy="44719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118181" y="2913953"/>
            <a:ext cx="2023963"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изображение</a:t>
            </a:r>
          </a:p>
        </p:txBody>
      </p:sp>
      <p:sp>
        <p:nvSpPr>
          <p:cNvPr id="13" name="Rectangle 12"/>
          <p:cNvSpPr/>
          <p:nvPr/>
        </p:nvSpPr>
        <p:spPr>
          <a:xfrm>
            <a:off x="7288449" y="2913953"/>
            <a:ext cx="4363750" cy="447193"/>
          </a:xfrm>
          <a:prstGeom prst="rect">
            <a:avLst/>
          </a:prstGeom>
          <a:solidFill>
            <a:srgbClr val="065A82"/>
          </a:solidFill>
          <a:ln>
            <a:noFill/>
          </a:ln>
          <a:effectLst/>
        </p:spPr>
        <p:txBody>
          <a:bodyPr rtlCol="0" anchor="ctr"/>
          <a:lstStyle/>
          <a:p>
            <a:pPr algn="ctr"/>
          </a:p>
        </p:txBody>
      </p:sp>
      <p:sp>
        <p:nvSpPr>
          <p:cNvPr id="14" name="TextBox 13"/>
          <p:cNvSpPr txBox="1"/>
          <p:nvPr/>
        </p:nvSpPr>
        <p:spPr>
          <a:xfrm>
            <a:off x="7434753" y="2913953"/>
            <a:ext cx="4071142"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структурированные данные</a:t>
            </a:r>
          </a:p>
        </p:txBody>
      </p:sp>
      <p:sp>
        <p:nvSpPr>
          <p:cNvPr id="15" name="Rectangle 14"/>
          <p:cNvSpPr/>
          <p:nvPr/>
        </p:nvSpPr>
        <p:spPr>
          <a:xfrm>
            <a:off x="539496" y="3361146"/>
            <a:ext cx="3180279" cy="44719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85800" y="3361146"/>
            <a:ext cx="2887671"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классификация</a:t>
            </a:r>
          </a:p>
        </p:txBody>
      </p:sp>
      <p:sp>
        <p:nvSpPr>
          <p:cNvPr id="17" name="Rectangle 16"/>
          <p:cNvSpPr/>
          <p:nvPr/>
        </p:nvSpPr>
        <p:spPr>
          <a:xfrm>
            <a:off x="3719775" y="3361146"/>
            <a:ext cx="1252102" cy="44719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3866079" y="3361146"/>
            <a:ext cx="959494"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19" name="Rectangle 18"/>
          <p:cNvSpPr/>
          <p:nvPr/>
        </p:nvSpPr>
        <p:spPr>
          <a:xfrm>
            <a:off x="4971877" y="3361146"/>
            <a:ext cx="2316571" cy="44719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118181" y="3361146"/>
            <a:ext cx="2023963"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21" name="Rectangle 20"/>
          <p:cNvSpPr/>
          <p:nvPr/>
        </p:nvSpPr>
        <p:spPr>
          <a:xfrm>
            <a:off x="7288449" y="3361146"/>
            <a:ext cx="4363750" cy="447193"/>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7434753" y="3361146"/>
            <a:ext cx="4071142"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23" name="Rectangle 22"/>
          <p:cNvSpPr/>
          <p:nvPr/>
        </p:nvSpPr>
        <p:spPr>
          <a:xfrm>
            <a:off x="539496" y="3808339"/>
            <a:ext cx="3180279" cy="44719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685800" y="3808339"/>
            <a:ext cx="2887671"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распознавание</a:t>
            </a:r>
          </a:p>
        </p:txBody>
      </p:sp>
      <p:sp>
        <p:nvSpPr>
          <p:cNvPr id="25" name="Rectangle 24"/>
          <p:cNvSpPr/>
          <p:nvPr/>
        </p:nvSpPr>
        <p:spPr>
          <a:xfrm>
            <a:off x="3719775" y="3808339"/>
            <a:ext cx="1252102" cy="44719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3866079" y="3808339"/>
            <a:ext cx="959494"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27" name="Rectangle 26"/>
          <p:cNvSpPr/>
          <p:nvPr/>
        </p:nvSpPr>
        <p:spPr>
          <a:xfrm>
            <a:off x="4971877" y="3808339"/>
            <a:ext cx="2316571" cy="44719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118181" y="3808339"/>
            <a:ext cx="2023963"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29" name="Rectangle 28"/>
          <p:cNvSpPr/>
          <p:nvPr/>
        </p:nvSpPr>
        <p:spPr>
          <a:xfrm>
            <a:off x="7288449" y="3808339"/>
            <a:ext cx="4363750" cy="447193"/>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434753" y="3808339"/>
            <a:ext cx="4071142"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31" name="Rectangle 30"/>
          <p:cNvSpPr/>
          <p:nvPr/>
        </p:nvSpPr>
        <p:spPr>
          <a:xfrm>
            <a:off x="539496" y="4255532"/>
            <a:ext cx="3180279" cy="44719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4255532"/>
            <a:ext cx="2887671"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поиск с генерацией</a:t>
            </a:r>
          </a:p>
        </p:txBody>
      </p:sp>
      <p:sp>
        <p:nvSpPr>
          <p:cNvPr id="33" name="Rectangle 32"/>
          <p:cNvSpPr/>
          <p:nvPr/>
        </p:nvSpPr>
        <p:spPr>
          <a:xfrm>
            <a:off x="3719775" y="4255532"/>
            <a:ext cx="1252102" cy="44719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3866079" y="4255532"/>
            <a:ext cx="959494"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35" name="Rectangle 34"/>
          <p:cNvSpPr/>
          <p:nvPr/>
        </p:nvSpPr>
        <p:spPr>
          <a:xfrm>
            <a:off x="4971877" y="4255532"/>
            <a:ext cx="2316571" cy="44719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118181" y="4255532"/>
            <a:ext cx="2023963"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37" name="Rectangle 36"/>
          <p:cNvSpPr/>
          <p:nvPr/>
        </p:nvSpPr>
        <p:spPr>
          <a:xfrm>
            <a:off x="7288449" y="4255532"/>
            <a:ext cx="4363750" cy="447193"/>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7434753" y="4255532"/>
            <a:ext cx="4071142"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39" name="Rectangle 38"/>
          <p:cNvSpPr/>
          <p:nvPr/>
        </p:nvSpPr>
        <p:spPr>
          <a:xfrm>
            <a:off x="539496" y="4702725"/>
            <a:ext cx="3180279" cy="44719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685800" y="4702725"/>
            <a:ext cx="2887671"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прогноз</a:t>
            </a:r>
          </a:p>
        </p:txBody>
      </p:sp>
      <p:sp>
        <p:nvSpPr>
          <p:cNvPr id="41" name="Rectangle 40"/>
          <p:cNvSpPr/>
          <p:nvPr/>
        </p:nvSpPr>
        <p:spPr>
          <a:xfrm>
            <a:off x="3719775" y="4702725"/>
            <a:ext cx="1252102" cy="44719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3866079" y="4702725"/>
            <a:ext cx="959494"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43" name="Rectangle 42"/>
          <p:cNvSpPr/>
          <p:nvPr/>
        </p:nvSpPr>
        <p:spPr>
          <a:xfrm>
            <a:off x="4971877" y="4702725"/>
            <a:ext cx="2316571" cy="44719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118181" y="4702725"/>
            <a:ext cx="2023963"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45" name="Rectangle 44"/>
          <p:cNvSpPr/>
          <p:nvPr/>
        </p:nvSpPr>
        <p:spPr>
          <a:xfrm>
            <a:off x="7288449" y="4702725"/>
            <a:ext cx="4363750" cy="447193"/>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434753" y="4702725"/>
            <a:ext cx="4071142" cy="447193"/>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
            </a:r>
          </a:p>
        </p:txBody>
      </p:sp>
      <p:sp>
        <p:nvSpPr>
          <p:cNvPr id="47" name="TextBox 46"/>
          <p:cNvSpPr txBox="1"/>
          <p:nvPr/>
        </p:nvSpPr>
        <p:spPr>
          <a:xfrm>
            <a:off x="539496" y="5296222"/>
            <a:ext cx="11112703" cy="623671"/>
          </a:xfrm>
          <a:prstGeom prst="rect">
            <a:avLst/>
          </a:prstGeom>
          <a:noFill/>
        </p:spPr>
        <p:txBody>
          <a:bodyPr wrap="square" lIns="0" rIns="0" tIns="0" bIns="0" anchor="t">
            <a:spAutoFit/>
          </a:bodyPr>
          <a:lstStyle/>
          <a:p>
            <a:pPr algn="l">
              <a:lnSpc>
                <a:spcPct val="124000"/>
              </a:lnSpc>
            </a:pPr>
            <a:r>
              <a:rPr sz="16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a:t>
            </a:r>
          </a:p>
        </p:txBody>
      </p:sp>
      <p:sp>
        <p:nvSpPr>
          <p:cNvPr id="6" name="TextBox 5"/>
          <p:cNvSpPr txBox="1"/>
          <p:nvPr/>
        </p:nvSpPr>
        <p:spPr>
          <a:xfrm>
            <a:off x="640080" y="1725375"/>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НАВЫК</a:t>
            </a:r>
          </a:p>
        </p:txBody>
      </p:sp>
      <p:sp>
        <p:nvSpPr>
          <p:cNvPr id="9" name="TextBox 8"/>
          <p:cNvSpPr txBox="1"/>
          <p:nvPr/>
        </p:nvSpPr>
        <p:spPr>
          <a:xfrm>
            <a:off x="2416987" y="1725375"/>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a:t>
            </a:r>
          </a:p>
        </p:txBody>
      </p:sp>
      <p:sp>
        <p:nvSpPr>
          <p:cNvPr id="12" name="TextBox 11"/>
          <p:cNvSpPr txBox="1"/>
          <p:nvPr/>
        </p:nvSpPr>
        <p:spPr>
          <a:xfrm>
            <a:off x="4193895" y="1725375"/>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35356"/>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АРБИТРАЖ</a:t>
            </a:r>
          </a:p>
        </p:txBody>
      </p:sp>
      <p:sp>
        <p:nvSpPr>
          <p:cNvPr id="15" name="TextBox 14"/>
          <p:cNvSpPr txBox="1"/>
          <p:nvPr/>
        </p:nvSpPr>
        <p:spPr>
          <a:xfrm>
            <a:off x="5970803" y="1725375"/>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61820"/>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3260"/>
            <a:ext cx="11112703"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Подешевел шаг — платят на другом. Своё здесь — </a:t>
            </a:r>
            <a:r>
              <a:rPr sz="1500" b="1" i="0">
                <a:solidFill>
                  <a:srgbClr val="21295C"/>
                </a:solidFill>
                <a:latin typeface="Arial"/>
              </a:rPr>
              <a:t>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7884594"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Женщине пятьдесят четыре года. Она ничего не чувствует и ни на что не жаловалась: письмо пришло потому, что ей пятьдесят четыре, а программа зовёт всех женщин этого возраста. Снимок делает лаборант. Читают его двое рентгенологов, которые её не видели и между собой о ней не говорят; разошлись — снимок уходит третьему. Через несколько недель приходит либо письмо «норма», либо звонок с приглашением на дообследование.</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три шага из семи:</a:t>
            </a:r>
            <a:r>
              <a:rPr sz="1300" b="0" i="0">
                <a:solidFill>
                  <a:srgbClr val="21295C"/>
                </a:solidFill>
                <a:latin typeface="Arial"/>
              </a:rPr>
              <a:t> прочесть (4) · сообщить исход (6) · отсортировать поток (7). Порог, приглашение, съёмка и арбитраж остались людям. </a:t>
            </a:r>
            <a:r>
              <a:rPr sz="1300" b="1" i="0">
                <a:solidFill>
                  <a:srgbClr val="21295C"/>
                </a:solidFill>
                <a:latin typeface="Arial"/>
              </a:rPr>
              <a:t>Новый шаг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Три порядка работы: </a:t>
            </a:r>
            <a:r>
              <a:rPr sz="1300" b="1" i="0">
                <a:solidFill>
                  <a:srgbClr val="21295C"/>
                </a:solidFill>
                <a:latin typeface="Arial"/>
              </a:rPr>
              <a:t>скрининг</a:t>
            </a:r>
            <a:r>
              <a:rPr sz="1300" b="0" i="0">
                <a:solidFill>
                  <a:srgbClr val="21295C"/>
                </a:solidFill>
                <a:latin typeface="Arial"/>
              </a:rPr>
              <a:t> — зовут тех, у кого жалоб нет, по признаку группы · </a:t>
            </a:r>
            <a:r>
              <a:rPr sz="1300" b="1" i="0">
                <a:solidFill>
                  <a:srgbClr val="21295C"/>
                </a:solidFill>
                <a:latin typeface="Arial"/>
              </a:rPr>
              <a:t>обращение по симптому</a:t>
            </a:r>
            <a:r>
              <a:rPr sz="1300" b="0" i="0">
                <a:solidFill>
                  <a:srgbClr val="21295C"/>
                </a:solidFill>
                <a:latin typeface="Arial"/>
              </a:rPr>
              <a:t> — человек пришёл сам, и ведёт его жалоба · </a:t>
            </a:r>
            <a:r>
              <a:rPr sz="1300" b="1" i="0">
                <a:solidFill>
                  <a:srgbClr val="21295C"/>
                </a:solidFill>
                <a:latin typeface="Arial"/>
              </a:rPr>
              <a:t>сортировка потока</a:t>
            </a:r>
            <a:r>
              <a:rPr sz="1300" b="0" i="0">
                <a:solidFill>
                  <a:srgbClr val="21295C"/>
                </a:solidFill>
                <a:latin typeface="Arial"/>
              </a:rPr>
              <a:t> — кого из обратившихся смотреть первым</a:t>
            </a:r>
          </a:p>
          <a:p>
            <a:pPr algn="l">
              <a:lnSpc>
                <a:spcPct val="126000"/>
              </a:lnSpc>
              <a:spcBef>
                <a:spcPts val="700"/>
              </a:spcBef>
            </a:pPr>
            <a:r>
              <a:rPr sz="1300" b="0" i="0">
                <a:solidFill>
                  <a:srgbClr val="21295C"/>
                </a:solidFill>
                <a:latin typeface="Arial"/>
              </a:rPr>
              <a:t/>
            </a:r>
            <a:r>
              <a:rPr sz="13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ounded Rectangle 5"/>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7" name="Picture 6"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5" name="Rectangle 14"/>
          <p:cNvSpPr/>
          <p:nvPr/>
        </p:nvSpPr>
        <p:spPr>
          <a:xfrm>
            <a:off x="6091275" y="3285324"/>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80346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Находка приходит позже и стадией крупнее — и это измерено.</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5" name="Rectangle 14"/>
          <p:cNvSpPr/>
          <p:nvPr/>
        </p:nvSpPr>
        <p:spPr>
          <a:xfrm>
            <a:off x="6091275" y="2894901"/>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посчитаны на разных выборках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22731"/>
          </a:xfrm>
          <a:prstGeom prst="roundRect">
            <a:avLst>
              <a:gd name="adj" fmla="val 8905"/>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484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Практика получает </a:t>
            </a:r>
            <a:r>
              <a:rPr sz="1500" b="1" i="0">
                <a:solidFill>
                  <a:srgbClr val="21295C"/>
                </a:solidFill>
                <a:latin typeface="Arial"/>
              </a:rPr>
              <a:t>около 155 фунтов</a:t>
            </a:r>
            <a:r>
              <a:rPr sz="150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Классически обращаются </a:t>
            </a:r>
            <a:r>
              <a:rPr sz="1500" b="1" i="0">
                <a:solidFill>
                  <a:srgbClr val="21295C"/>
                </a:solidFill>
                <a:latin typeface="Arial"/>
              </a:rPr>
              <a:t>4,0 раза</a:t>
            </a:r>
            <a:r>
              <a:rPr sz="1500" b="0" i="0">
                <a:solidFill>
                  <a:srgbClr val="21295C"/>
                </a:solidFill>
                <a:latin typeface="Arial"/>
              </a:rPr>
              <a:t> в год у 25–44-летних и </a:t>
            </a:r>
            <a:r>
              <a:rPr sz="1500" b="1" i="0">
                <a:solidFill>
                  <a:srgbClr val="21295C"/>
                </a:solidFill>
                <a:latin typeface="Arial"/>
              </a:rPr>
              <a:t>3,26 раза</a:t>
            </a:r>
            <a:r>
              <a:rPr sz="150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В сервисе обращений стало </a:t>
            </a:r>
            <a:r>
              <a:rPr sz="1500" b="1" i="0">
                <a:solidFill>
                  <a:srgbClr val="21295C"/>
                </a:solidFill>
                <a:latin typeface="Arial"/>
              </a:rPr>
              <a:t>4,3</a:t>
            </a:r>
            <a:r>
              <a:rPr sz="1500" b="0" i="0">
                <a:solidFill>
                  <a:srgbClr val="21295C"/>
                </a:solidFill>
                <a:latin typeface="Arial"/>
              </a:rPr>
              <a:t> на человека в год при той же подушевой сумме.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580614"/>
          </a:xfrm>
          <a:prstGeom prst="roundRect">
            <a:avLst>
              <a:gd name="adj" fmla="val 665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Объём человеческого чтения снимается там, где процедура уже плотная. Решение выносится на месте, и обследование получают те, кто иначе не придёт. Выигрыш измерен доступом: точности модель здесь не прибавила.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кого звать и с какого возраста — за этим стоит подпись. Работать в открытом потоке обращений: выигрыша не дал ни один разбор. Отвечать за годность снимка: добывает её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неё стало некому. </a:t>
            </a:r>
            <a:r>
              <a:rPr sz="1500" b="1" i="0">
                <a:solidFill>
                  <a:srgbClr val="21295C"/>
                </a:solidFill>
                <a:latin typeface="Arial"/>
              </a:rPr>
              <a:t>Сменился исполнитель</a:t>
            </a:r>
            <a:r>
              <a:rPr sz="1500" b="0" i="0">
                <a:solidFill>
                  <a:srgbClr val="21295C"/>
                </a:solidFill>
                <a:latin typeface="Arial"/>
              </a:rPr>
              <a:t>, и производной формой </a:t>
            </a:r>
            <a:r>
              <a:rPr sz="1500" b="1" i="0">
                <a:solidFill>
                  <a:srgbClr val="21295C"/>
                </a:solidFill>
                <a:latin typeface="Arial"/>
              </a:rPr>
              <a:t>появился шаг</a:t>
            </a:r>
            <a:r>
              <a:rPr sz="1500" b="0" i="0">
                <a:solidFill>
                  <a:srgbClr val="21295C"/>
                </a:solidFill>
                <a:latin typeface="Arial"/>
              </a:rPr>
              <a:t> — добыть годный снимок. Второго независимого человека большинство обследованных больше не получает.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Порог вмешательства, записанный документом задолго до всякой точности. Двойное чтение и арбитраж — там, где второго читателя не заменили. </a:t>
            </a:r>
            <a:r>
              <a:rPr sz="1500" b="1" i="0">
                <a:solidFill>
                  <a:srgbClr val="21295C"/>
                </a:solidFill>
                <a:latin typeface="Arial"/>
              </a:rPr>
              <a:t>Прочерк: процедуры, которая проверяла бы отсеянное фильтром,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Карта: заняты классификация и распознавание на изображении, поиск с генерацией на тексте — три клетки из двенадцати. Прогноза в разделе нет ни одного, и ни одна занятая клетка не про лечение.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поток приходит смещённым: что модель назвала нормой, человек не увидит.</a:t>
            </a:r>
          </a:p>
        </p:txBody>
      </p:sp>
      <p:sp>
        <p:nvSpPr>
          <p:cNvPr id="6" name="Rectangle 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 отдельная квалификация и своя очередь. Снятое число ложится в карту, и дальше по нему кто-то скажет «болен» или «здоров». Порог, за которым говорят «болен», стоит в протоколе кабинета и выбран до прибора. Врач на приёме не видит ни порога, ни чувствительности: ему на стол приходят тревоги, и видит он одно — сколько из десяти окажется болезнью.</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r>
              <a:rPr sz="1300" b="0" i="0">
                <a:solidFill>
                  <a:srgbClr val="21295C"/>
                </a:solidFill>
                <a:latin typeface="Arial"/>
              </a:rPr>
              <a:t> 1. Назначить рабочую точку · 2. Снять измерение · 3. Решить, годно ли оно · 4. Прочесть и назвать две доли · 5. Пересчитать их под свою распространённость · 6. Сообщить результат тому, кто решает.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(4) · сообщить результат (6), где вместо величины выдаётся один балл. Рабочая точка, съёмка, годность и пересчёт под свою группу остались людям. </a:t>
            </a:r>
            <a:r>
              <a:rPr sz="1300" b="1" i="0">
                <a:solidFill>
                  <a:srgbClr val="21295C"/>
                </a:solidFill>
                <a:latin typeface="Arial"/>
              </a:rPr>
              <a:t>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Медицинские имена для знакомых величин: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называются всегда парой и всегда для одной рабочей точки. Третья — </a:t>
            </a:r>
            <a:r>
              <a:rPr sz="1300" b="1" i="0">
                <a:solidFill>
                  <a:srgbClr val="21295C"/>
                </a:solidFill>
                <a:latin typeface="Arial"/>
              </a:rPr>
              <a:t>доля верных тревог</a:t>
            </a:r>
            <a:r>
              <a:rPr sz="1300" b="0" i="0">
                <a:solidFill>
                  <a:srgbClr val="21295C"/>
                </a:solidFill>
                <a:latin typeface="Arial"/>
              </a:rPr>
              <a:t>, и считает её тот, кто применяет.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Разница почти десятикратная, и долю больных назначил тот, кто решил, кого звать.</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Поднять долю верных тревог можно тремя способами, и </a:t>
            </a:r>
            <a:r>
              <a:rPr sz="1500" b="1" i="0">
                <a:solidFill>
                  <a:srgbClr val="21295C"/>
                </a:solidFill>
                <a:latin typeface="Arial"/>
              </a:rPr>
              <a:t>ни один не состоит в улучшении модели</a:t>
            </a:r>
            <a:r>
              <a:rPr sz="1500" b="0" i="0">
                <a:solidFill>
                  <a:srgbClr val="21295C"/>
                </a:solidFill>
                <a:latin typeface="Arial"/>
              </a:rPr>
              <a:t>: сдвинуть порог — ложных меньше, пропущенных больше · сменить группу — обследовать тех, у кого болезнь чаще · поставить вторым подтверждающий тест.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1683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196016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Явку мерил другой разбор и на другой выборке.</a:t>
            </a:r>
          </a:p>
        </p:txBody>
      </p:sp>
      <p:sp>
        <p:nvSpPr>
          <p:cNvPr id="11" name="Rectangle 10"/>
          <p:cNvSpPr/>
          <p:nvPr/>
        </p:nvSpPr>
        <p:spPr>
          <a:xfrm>
            <a:off x="6091275" y="2683657"/>
            <a:ext cx="9144" cy="1485305"/>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 посчитаны одной методологией</a:t>
            </a:r>
            <a:r>
              <a:rPr sz="140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База: </a:t>
            </a:r>
            <a:r>
              <a:rPr sz="1400" b="1" i="0">
                <a:solidFill>
                  <a:srgbClr val="21295C"/>
                </a:solidFill>
                <a:latin typeface="Arial"/>
              </a:rPr>
              <a:t>656 изображений</a:t>
            </a:r>
            <a:r>
              <a:rPr sz="1400" b="0" i="0">
                <a:solidFill>
                  <a:srgbClr val="21295C"/>
                </a:solidFill>
                <a:latin typeface="Arial"/>
              </a:rPr>
              <a:t>, все с подтверждённой биопсией.</a:t>
            </a:r>
          </a:p>
          <a:p>
            <a:pPr algn="l">
              <a:lnSpc>
                <a:spcPct val="126000"/>
              </a:lnSpc>
              <a:spcBef>
                <a:spcPts val="700"/>
              </a:spcBef>
            </a:pPr>
            <a:r>
              <a:rPr sz="1400" b="0" i="0">
                <a:solidFill>
                  <a:srgbClr val="21295C"/>
                </a:solidFill>
                <a:latin typeface="Arial"/>
              </a:rPr>
              <a:t/>
            </a:r>
            <a:r>
              <a:rPr sz="1400" b="0" i="0">
                <a:solidFill>
                  <a:srgbClr val="21295C"/>
                </a:solidFill>
                <a:latin typeface="Arial"/>
              </a:rPr>
              <a:t>• тёмных тонов — </a:t>
            </a:r>
            <a:r>
              <a:rPr sz="1400" b="1" i="0">
                <a:solidFill>
                  <a:srgbClr val="21295C"/>
                </a:solidFill>
                <a:latin typeface="Arial"/>
              </a:rPr>
              <a:t>207</a:t>
            </a:r>
            <a:r>
              <a:rPr sz="1400" b="0" i="0">
                <a:solidFill>
                  <a:srgbClr val="21295C"/>
                </a:solidFill>
                <a:latin typeface="Arial"/>
              </a:rPr>
              <a:t>, светлых 208, средних 241</a:t>
            </a:r>
          </a:p>
          <a:p>
            <a:pPr algn="l">
              <a:lnSpc>
                <a:spcPct val="126000"/>
              </a:lnSpc>
              <a:spcBef>
                <a:spcPts val="700"/>
              </a:spcBef>
            </a:pPr>
            <a:r>
              <a:rPr sz="1400" b="0" i="0">
                <a:solidFill>
                  <a:srgbClr val="21295C"/>
                </a:solidFill>
                <a:latin typeface="Arial"/>
              </a:rPr>
              <a:t/>
            </a:r>
            <a:r>
              <a:rPr sz="1400" b="0" i="0">
                <a:solidFill>
                  <a:srgbClr val="21295C"/>
                </a:solidFill>
                <a:latin typeface="Arial"/>
              </a:rPr>
              <a:t>• знаменатель назван, и это не «несколько примеров»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1150" b="0" i="0">
                <a:solidFill>
                  <a:srgbClr val="21295C"/>
                </a:solidFill>
                <a:latin typeface="Arial"/>
              </a:rPr>
              <a:t/>
            </a:r>
            <a:r>
              <a:rPr sz="115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9" name="Rectangle 18"/>
          <p:cNvSpPr/>
          <p:nvPr/>
        </p:nvSpPr>
        <p:spPr>
          <a:xfrm>
            <a:off x="6091275" y="3285324"/>
            <a:ext cx="9144" cy="295037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Цена обеих ошибок.</a:t>
            </a:r>
            <a:r>
              <a:rPr sz="145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посчитаны на одной выборке.</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против них.</a:t>
            </a:r>
            <a:r>
              <a:rPr sz="145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450" b="0" i="0">
                <a:solidFill>
                  <a:srgbClr val="21295C"/>
                </a:solidFill>
                <a:latin typeface="Arial"/>
              </a:rPr>
              <a:t/>
            </a:r>
            <a:r>
              <a:rPr sz="1450" b="0" i="0">
                <a:solidFill>
                  <a:srgbClr val="21295C"/>
                </a:solidFill>
                <a:latin typeface="Arial"/>
              </a:rPr>
              <a:t>База: </a:t>
            </a:r>
            <a:r>
              <a:rPr sz="1450" b="1" i="0">
                <a:solidFill>
                  <a:srgbClr val="21295C"/>
                </a:solidFill>
                <a:latin typeface="Arial"/>
              </a:rPr>
              <a:t>49 618 пациентов</a:t>
            </a:r>
            <a:r>
              <a:rPr sz="1450" b="0" i="0">
                <a:solidFill>
                  <a:srgbClr val="21295C"/>
                </a:solidFill>
                <a:latin typeface="Arial"/>
              </a:rPr>
              <a:t> одной больницы, 100 009 пациенто-лет, 2013–2015 годы.</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450" b="0" i="0">
                <a:solidFill>
                  <a:srgbClr val="21295C"/>
                </a:solidFill>
                <a:latin typeface="Arial"/>
              </a:rPr>
              <a:t/>
            </a:r>
            <a:r>
              <a:rPr sz="1450" b="0" i="0">
                <a:solidFill>
                  <a:srgbClr val="21295C"/>
                </a:solidFill>
                <a:latin typeface="Arial"/>
              </a:rPr>
              <a:t>Чем это делают сегодня — </a:t>
            </a:r>
            <a:r>
              <a:rPr sz="1450" b="0" i="1">
                <a:solidFill>
                  <a:srgbClr val="21295C"/>
                </a:solidFill>
                <a:latin typeface="Arial"/>
              </a:rPr>
              <a:t>прогноз на структурированных данных</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450" b="0" i="0">
                <a:solidFill>
                  <a:srgbClr val="21295C"/>
                </a:solidFill>
                <a:latin typeface="Arial"/>
              </a:rPr>
              <a:t/>
            </a:r>
            <a:r>
              <a:rPr sz="1450" b="0" i="0">
                <a:solidFill>
                  <a:srgbClr val="21295C"/>
                </a:solidFill>
                <a:latin typeface="Arial"/>
              </a:rPr>
              <a:t>• не умеет отличить «дорого лечится» от «болен», если целью взяты расходы</a:t>
            </a:r>
          </a:p>
        </p:txBody>
      </p:sp>
      <p:sp>
        <p:nvSpPr>
          <p:cNvPr id="19" name="Rectangle 18"/>
          <p:cNvSpPr/>
          <p:nvPr/>
        </p:nvSpPr>
        <p:spPr>
          <a:xfrm>
            <a:off x="6091275" y="3285324"/>
            <a:ext cx="9144" cy="285113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2208666"/>
          </a:xfrm>
          <a:prstGeom prst="roundRect">
            <a:avLst>
              <a:gd name="adj" fmla="val 138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Масштаб и знаменатель — порознь:</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960166"/>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08036"/>
          </a:xfrm>
          <a:prstGeom prst="roundRect">
            <a:avLst>
              <a:gd name="adj" fmla="val 62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Постоянство: десятитысячный снимок читается так же, как первый. Поток: чтение нормы перестаёт занимать специалиста. Воспроизводимость: один вход даёт один выход, и расхождение можно разобрать.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рабочую точку: за порогом стоит цена обеих ошибок. Переснять: качество входа остаётся человеку без профильной подготовки. Увидеть, чем измерен вход: смещение прибора модель наследует молча — </a:t>
            </a:r>
            <a:r>
              <a:rPr sz="1500" b="1" i="0">
                <a:solidFill>
                  <a:srgbClr val="21295C"/>
                </a:solidFill>
                <a:latin typeface="Arial"/>
              </a:rPr>
              <a:t>11,7 против 3,6 процента измерений</a:t>
            </a:r>
            <a:r>
              <a:rPr sz="1500" b="0" i="0">
                <a:solidFill>
                  <a:srgbClr val="21295C"/>
                </a:solidFill>
                <a:latin typeface="Arial"/>
              </a:rPr>
              <a:t> у пациентов с тёмной и светлой кожей.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у техника появилась работа добиться годного снимка. </a:t>
            </a:r>
            <a:r>
              <a:rPr sz="1500" b="1" i="0">
                <a:solidFill>
                  <a:srgbClr val="21295C"/>
                </a:solidFill>
                <a:latin typeface="Arial"/>
              </a:rPr>
              <a:t>Появился шаг</a:t>
            </a:r>
            <a:r>
              <a:rPr sz="1500" b="0" i="0">
                <a:solidFill>
                  <a:srgbClr val="21295C"/>
                </a:solidFill>
                <a:latin typeface="Arial"/>
              </a:rPr>
              <a:t> — повторный визит тем, чьё измерение не прошло. </a:t>
            </a:r>
            <a:r>
              <a:rPr sz="1500" b="1" i="0">
                <a:solidFill>
                  <a:srgbClr val="21295C"/>
                </a:solidFill>
                <a:latin typeface="Arial"/>
              </a:rPr>
              <a:t>Сменился исполнитель</a:t>
            </a:r>
            <a:r>
              <a:rPr sz="1500" b="0" i="0">
                <a:solidFill>
                  <a:srgbClr val="21295C"/>
                </a:solidFill>
                <a:latin typeface="Arial"/>
              </a:rPr>
              <a:t>: отбор делал врач, стал делать один балл — и </a:t>
            </a:r>
            <a:r>
              <a:rPr sz="1500" b="1" i="0">
                <a:solidFill>
                  <a:srgbClr val="21295C"/>
                </a:solidFill>
                <a:latin typeface="Arial"/>
              </a:rPr>
              <a:t>сместилась цена ошибки</a:t>
            </a:r>
            <a:r>
              <a:rPr sz="1500" b="0" i="0">
                <a:solidFill>
                  <a:srgbClr val="21295C"/>
                </a:solidFill>
                <a:latin typeface="Arial"/>
              </a:rPr>
              <a:t> на подгруппу.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Рабочая точка под цену обеих ошибок и пересчёт доли верных тревог под свою группу. Контроль годности измерения: правило кабинета, и прибор его не заменяет. </a:t>
            </a:r>
            <a:r>
              <a:rPr sz="1500" b="1" i="0">
                <a:solidFill>
                  <a:srgbClr val="21295C"/>
                </a:solidFill>
                <a:latin typeface="Arial"/>
              </a:rPr>
              <a:t>Прочерк: процедуры, которая проверяла бы, что система считает целью,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 Карта: новая клетка одна — прогноз на структурированных данных.</a:t>
            </a:r>
          </a:p>
        </p:txBody>
      </p:sp>
      <p:sp>
        <p:nvSpPr>
          <p:cNvPr id="7" name="Rectangle 6"/>
          <p:cNvSpPr/>
          <p:nvPr/>
        </p:nvSpPr>
        <p:spPr>
          <a:xfrm>
            <a:off x="6091275" y="1335024"/>
            <a:ext cx="9144" cy="46337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10" name="TextBox 9"/>
          <p:cNvSpPr txBox="1"/>
          <p:nvPr/>
        </p:nvSpPr>
        <p:spPr>
          <a:xfrm>
            <a:off x="704088" y="411642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Женщина тридцати четырёх лет пришла с кашлем, который держится три недели. По вечерам поднимается температура, за полтора месяца она потеряла четыре килограмма без диеты. Врач выписывает всё, что это объясняет: затяжной бронхит, туберкулёз, лимфому, аутоиммунное поражение. Назначает дешёвое и отсекающее первым — снимок и анализ крови. Через два дня бронхит снят снимком, аутоиммунное — спокойным анализом, и осталось два диагноза,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С моделью — три шага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новый шаг —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в последний раз не записали — и как узнали, что её не хватало?</a:t>
            </a:r>
          </a:p>
        </p:txBody>
      </p:sp>
      <p:sp>
        <p:nvSpPr>
          <p:cNvPr id="20" name="Rectangle 19"/>
          <p:cNvSpPr/>
          <p:nvPr/>
        </p:nvSpPr>
        <p:spPr>
          <a:xfrm>
            <a:off x="6091275" y="2478765"/>
            <a:ext cx="9144" cy="3693241"/>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25451"/>
          </a:xfrm>
          <a:prstGeom prst="roundRect">
            <a:avLst>
              <a:gd name="adj" fmla="val 975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450" b="0" i="0">
                <a:solidFill>
                  <a:srgbClr val="21295C"/>
                </a:solidFill>
                <a:latin typeface="Arial"/>
              </a:rPr>
              <a:t/>
            </a:r>
            <a:r>
              <a:rPr sz="1450" b="0" i="0">
                <a:solidFill>
                  <a:srgbClr val="21295C"/>
                </a:solidFill>
                <a:latin typeface="Arial"/>
              </a:rPr>
              <a:t>Медиана проверки подсказки измерена </a:t>
            </a:r>
            <a:r>
              <a:rPr sz="1450" b="1" i="0">
                <a:solidFill>
                  <a:srgbClr val="21295C"/>
                </a:solidFill>
                <a:latin typeface="Arial"/>
              </a:rPr>
              <a:t>в лабораторном опыте на разработчиках, не в клинике</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Рядом, другим жанром, — у врачей, </a:t>
            </a:r>
            <a:r>
              <a:rPr sz="1450" b="1" i="0">
                <a:solidFill>
                  <a:srgbClr val="21295C"/>
                </a:solidFill>
                <a:latin typeface="Arial"/>
              </a:rPr>
              <a:t>которых специально обучали работе с ИИ</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при верных рекомендациях точность рассуждения — </a:t>
            </a:r>
            <a:r>
              <a:rPr sz="145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когда часть рекомендаций намеренно неверна — </a:t>
            </a:r>
            <a:r>
              <a:rPr sz="1450" b="1" i="0">
                <a:solidFill>
                  <a:srgbClr val="21295C"/>
                </a:solidFill>
                <a:latin typeface="Arial"/>
              </a:rPr>
              <a:t>73,3 из ста</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поправленная разница — 14,0 пункта</a:t>
            </a:r>
          </a:p>
          <a:p>
            <a:pPr algn="l">
              <a:lnSpc>
                <a:spcPct val="126000"/>
              </a:lnSpc>
              <a:spcBef>
                <a:spcPts val="700"/>
              </a:spcBef>
            </a:pPr>
            <a:r>
              <a:rPr sz="1150" b="0" i="0">
                <a:solidFill>
                  <a:srgbClr val="21295C"/>
                </a:solidFill>
                <a:latin typeface="Arial"/>
              </a:rPr>
              <a:t/>
            </a:r>
            <a:r>
              <a:rPr sz="115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450" b="0" i="0">
                <a:solidFill>
                  <a:srgbClr val="21295C"/>
                </a:solidFill>
                <a:latin typeface="Arial"/>
              </a:rPr>
              <a:t/>
            </a:r>
            <a:r>
              <a:rPr sz="1450" b="0" i="0">
                <a:solidFill>
                  <a:srgbClr val="21295C"/>
                </a:solidFill>
                <a:latin typeface="Arial"/>
              </a:rPr>
              <a:t>Обучение работе с инструментом </a:t>
            </a:r>
            <a:r>
              <a:rPr sz="1450" b="1" i="0">
                <a:solidFill>
                  <a:srgbClr val="21295C"/>
                </a:solidFill>
                <a:latin typeface="Arial"/>
              </a:rPr>
              <a:t>не передвигает человека на ступень выше</a:t>
            </a:r>
            <a:r>
              <a:rPr sz="1450" b="0" i="0">
                <a:solidFill>
                  <a:srgbClr val="21295C"/>
                </a:solidFill>
                <a:latin typeface="Arial"/>
              </a:rPr>
              <a:t> — замерено ровно на тех, кого обучали.</a:t>
            </a:r>
          </a:p>
          <a:p>
            <a:pPr algn="l">
              <a:lnSpc>
                <a:spcPct val="126000"/>
              </a:lnSpc>
              <a:spcBef>
                <a:spcPts val="700"/>
              </a:spcBef>
            </a:pPr>
            <a:r>
              <a:rPr sz="1150" b="0" i="0">
                <a:solidFill>
                  <a:srgbClr val="21295C"/>
                </a:solidFill>
                <a:latin typeface="Arial"/>
              </a:rPr>
              <a:t/>
            </a:r>
            <a:r>
              <a:rPr sz="1150" b="0" i="1">
                <a:solidFill>
                  <a:srgbClr val="1C7293"/>
                </a:solidFill>
                <a:latin typeface="Arial"/>
              </a:rPr>
              <a:t>Шкала не ранжирует ступени по качеству: на каждой есть и выигрыш, и своя слепота.</a:t>
            </a:r>
          </a:p>
        </p:txBody>
      </p:sp>
      <p:sp>
        <p:nvSpPr>
          <p:cNvPr id="20" name="Rectangle 19"/>
          <p:cNvSpPr/>
          <p:nvPr/>
        </p:nvSpPr>
        <p:spPr>
          <a:xfrm>
            <a:off x="6091275" y="3151411"/>
            <a:ext cx="9144" cy="2851131"/>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пара даёт в среднем по 106 опытам</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Сто шесть опытов, сведённых в одно правило: по одному испытанию правило не строится.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«Помогает ли ИИ» —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выросла с 81,7 до 87,2 из ста, но незначимо</a:t>
            </a:r>
          </a:p>
        </p:txBody>
      </p:sp>
      <p:sp>
        <p:nvSpPr>
          <p:cNvPr id="12" name="Rounded Rectangle 11"/>
          <p:cNvSpPr/>
          <p:nvPr/>
        </p:nvSpPr>
        <p:spPr>
          <a:xfrm>
            <a:off x="374904" y="279968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5" name="Rectangle 14"/>
          <p:cNvSpPr/>
          <p:nvPr/>
        </p:nvSpPr>
        <p:spPr>
          <a:xfrm>
            <a:off x="6091275" y="2891129"/>
            <a:ext cx="9144" cy="21683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оцифрованных срезов, два чтения</a:t>
            </a:r>
          </a:p>
        </p:txBody>
      </p:sp>
      <p:sp>
        <p:nvSpPr>
          <p:cNvPr id="16" name="Rounded Rectangle 15"/>
          <p:cNvSpPr/>
          <p:nvPr/>
        </p:nvSpPr>
        <p:spPr>
          <a:xfrm>
            <a:off x="374904" y="3401355"/>
            <a:ext cx="11441887" cy="2778880"/>
          </a:xfrm>
          <a:prstGeom prst="roundRect">
            <a:avLst>
              <a:gd name="adj" fmla="val 1096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Подсказка по оцифрованному срезу в патологии. То же — но теперь на решении.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a:t>
            </a:r>
            <a:r>
              <a:rPr sz="1450" b="0" i="0">
                <a:solidFill>
                  <a:srgbClr val="21295C"/>
                </a:solidFill>
                <a:latin typeface="Arial"/>
              </a:rPr>
              <a:t> чтение среза одним патологом; второе мнение субспециалиста.</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против них.</a:t>
            </a:r>
            <a:r>
              <a:rPr sz="1450" b="0" i="0">
                <a:solidFill>
                  <a:srgbClr val="21295C"/>
                </a:solidFill>
                <a:latin typeface="Arial"/>
              </a:rPr>
              <a:t> Знак эффекта задаёт правота модели на этом конкретном случае.</a:t>
            </a:r>
          </a:p>
          <a:p>
            <a:pPr algn="l">
              <a:lnSpc>
                <a:spcPct val="126000"/>
              </a:lnSpc>
              <a:spcBef>
                <a:spcPts val="700"/>
              </a:spcBef>
            </a:pPr>
            <a:r>
              <a:rPr sz="1450" b="0" i="0">
                <a:solidFill>
                  <a:srgbClr val="21295C"/>
                </a:solidFill>
                <a:latin typeface="Arial"/>
              </a:rPr>
              <a:t/>
            </a:r>
            <a:r>
              <a:rPr sz="1450" b="0" i="0">
                <a:solidFill>
                  <a:srgbClr val="21295C"/>
                </a:solidFill>
                <a:latin typeface="Arial"/>
              </a:rPr>
              <a:t>• как читать «вчетверо»: при восьми верных ответах из десяти выросшие вчетверо шансы дают около </a:t>
            </a:r>
            <a:r>
              <a:rPr sz="1450" b="1" i="0">
                <a:solidFill>
                  <a:srgbClr val="21295C"/>
                </a:solidFill>
                <a:latin typeface="Arial"/>
              </a:rPr>
              <a:t>94 из ста</a:t>
            </a:r>
            <a:r>
              <a:rPr sz="1450" b="0" i="0">
                <a:solidFill>
                  <a:srgbClr val="21295C"/>
                </a:solidFill>
                <a:latin typeface="Arial"/>
              </a:rPr>
              <a:t>, упавшие — около </a:t>
            </a:r>
            <a:r>
              <a:rPr sz="1450" b="1" i="0">
                <a:solidFill>
                  <a:srgbClr val="21295C"/>
                </a:solidFill>
                <a:latin typeface="Arial"/>
              </a:rPr>
              <a:t>50</a:t>
            </a:r>
          </a:p>
          <a:p>
            <a:pPr algn="l">
              <a:lnSpc>
                <a:spcPct val="126000"/>
              </a:lnSpc>
              <a:spcBef>
                <a:spcPts val="700"/>
              </a:spcBef>
            </a:pPr>
            <a:r>
              <a:rPr sz="1450" b="0" i="0">
                <a:solidFill>
                  <a:srgbClr val="21295C"/>
                </a:solidFill>
                <a:latin typeface="Arial"/>
              </a:rPr>
              <a:t/>
            </a:r>
            <a:r>
              <a:rPr sz="145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смотрит вторым — подсказка выведена одновременно со срезом.</a:t>
            </a:r>
          </a:p>
        </p:txBody>
      </p:sp>
      <p:sp>
        <p:nvSpPr>
          <p:cNvPr id="19" name="Rectangle 18"/>
          <p:cNvSpPr/>
          <p:nvPr/>
        </p:nvSpPr>
        <p:spPr>
          <a:xfrm>
            <a:off x="6091275" y="3492795"/>
            <a:ext cx="9144" cy="250456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Три числа на одних задачах: модель одна, врач один, врач с моделью. А может, пара всё-таки лучше человека без модели?</a:t>
            </a:r>
          </a:p>
          <a:p>
            <a:pPr algn="l">
              <a:lnSpc>
                <a:spcPct val="126000"/>
              </a:lnSpc>
              <a:spcBef>
                <a:spcPts val="700"/>
              </a:spcBef>
            </a:pPr>
            <a:r>
              <a:rPr sz="1350" b="0" i="0">
                <a:solidFill>
                  <a:srgbClr val="21295C"/>
                </a:solidFill>
                <a:latin typeface="Arial"/>
              </a:rPr>
              <a:t/>
            </a:r>
            <a:r>
              <a:rPr sz="1350" b="1" i="0">
                <a:solidFill>
                  <a:srgbClr val="21295C"/>
                </a:solidFill>
                <a:latin typeface="Arial"/>
              </a:rPr>
              <a:t>Цена обеих ошибок.</a:t>
            </a:r>
            <a:r>
              <a:rPr sz="1350" b="0" i="0">
                <a:solidFill>
                  <a:srgbClr val="21295C"/>
                </a:solidFill>
                <a:latin typeface="Arial"/>
              </a:rPr>
              <a:t> Неверный диагноз — лечение не той болезни и потерянное время. Избыточная проверка — её собственный риск и отложенное решение.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врач с обычными справочниками: это база сравнения.</a:t>
            </a:r>
          </a:p>
          <a:p>
            <a:pPr algn="l">
              <a:lnSpc>
                <a:spcPct val="126000"/>
              </a:lnSpc>
              <a:spcBef>
                <a:spcPts val="700"/>
              </a:spcBef>
            </a:pPr>
            <a:r>
              <a:rPr sz="1350" b="0" i="0">
                <a:solidFill>
                  <a:srgbClr val="21295C"/>
                </a:solidFill>
                <a:latin typeface="Arial"/>
              </a:rPr>
              <a:t/>
            </a:r>
            <a:r>
              <a:rPr sz="1350" b="0" i="0">
                <a:solidFill>
                  <a:srgbClr val="21295C"/>
                </a:solidFill>
                <a:latin typeface="Arial"/>
              </a:rPr>
              <a:t>Разница между врачом одним и врачом с моделью — два пункта, и она </a:t>
            </a:r>
            <a:r>
              <a:rPr sz="1350" b="1" i="0">
                <a:solidFill>
                  <a:srgbClr val="21295C"/>
                </a:solidFill>
                <a:latin typeface="Arial"/>
              </a:rPr>
              <a:t>незначима</a:t>
            </a:r>
            <a:r>
              <a:rPr sz="1350" b="0" i="0">
                <a:solidFill>
                  <a:srgbClr val="21295C"/>
                </a:solidFill>
                <a:latin typeface="Arial"/>
              </a:rPr>
              <a:t>: данные есть, разницы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Прогон «модель одна» равноправной случайной ветвью не был — он идёт </a:t>
            </a:r>
            <a:r>
              <a:rPr sz="1350" b="1" i="0">
                <a:solidFill>
                  <a:srgbClr val="21295C"/>
                </a:solidFill>
                <a:latin typeface="Arial"/>
              </a:rPr>
              <a:t>наблюдательным дополнением</a:t>
            </a:r>
            <a:r>
              <a:rPr sz="1350" b="0" i="0">
                <a:solidFill>
                  <a:srgbClr val="21295C"/>
                </a:solidFill>
                <a:latin typeface="Arial"/>
              </a:rPr>
              <a:t>.</a:t>
            </a:r>
          </a:p>
        </p:txBody>
      </p:sp>
      <p:sp>
        <p:nvSpPr>
          <p:cNvPr id="18" name="TextBox 17"/>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100" b="0" i="1">
                <a:solidFill>
                  <a:srgbClr val="1C7293"/>
                </a:solidFill>
                <a:latin typeface="Arial"/>
              </a:rPr>
              <a:t>Пятьдесят врачей: 44 терапевта, пять из неотложной помощи, один семейный;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это делают сегодня — </a:t>
            </a:r>
            <a:r>
              <a:rPr sz="1350" b="0" i="1">
                <a:solidFill>
                  <a:srgbClr val="21295C"/>
                </a:solidFill>
                <a:latin typeface="Arial"/>
              </a:rPr>
              <a:t>генерация на тексте</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входит </a:t>
            </a:r>
            <a:r>
              <a:rPr sz="1350" b="1" i="0">
                <a:solidFill>
                  <a:srgbClr val="21295C"/>
                </a:solidFill>
                <a:latin typeface="Arial"/>
              </a:rPr>
              <a:t>снизу</a:t>
            </a:r>
            <a:r>
              <a:rPr sz="1350" b="0" i="0">
                <a:solidFill>
                  <a:srgbClr val="21295C"/>
                </a:solidFill>
                <a:latin typeface="Arial"/>
              </a:rPr>
              <a:t>, самостоятельным употреблением врача, минуя закупку</a:t>
            </a:r>
          </a:p>
          <a:p>
            <a:pPr algn="l">
              <a:lnSpc>
                <a:spcPct val="126000"/>
              </a:lnSpc>
              <a:spcBef>
                <a:spcPts val="700"/>
              </a:spcBef>
            </a:pPr>
            <a:r>
              <a:rPr sz="1350" b="0" i="0">
                <a:solidFill>
                  <a:srgbClr val="21295C"/>
                </a:solidFill>
                <a:latin typeface="Arial"/>
              </a:rPr>
              <a:t/>
            </a:r>
            <a:r>
              <a:rPr sz="1350" b="0" i="0">
                <a:solidFill>
                  <a:srgbClr val="21295C"/>
                </a:solidFill>
                <a:latin typeface="Arial"/>
              </a:rPr>
              <a:t>• режим под процесс не настраивал никто, и силу свою на пару он не переносит</a:t>
            </a:r>
          </a:p>
        </p:txBody>
      </p:sp>
      <p:sp>
        <p:nvSpPr>
          <p:cNvPr id="19" name="Rectangle 18"/>
          <p:cNvSpPr/>
          <p:nvPr/>
        </p:nvSpPr>
        <p:spPr>
          <a:xfrm>
            <a:off x="6091275" y="2894901"/>
            <a:ext cx="9144" cy="32965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ОДИН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той же программы, 80 033 женщины</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итоговый анализ, 105 934 женщины</a:t>
            </a:r>
          </a:p>
        </p:txBody>
      </p:sp>
      <p:sp>
        <p:nvSpPr>
          <p:cNvPr id="15" name="Rounded Rectangle 14"/>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00" b="0" i="0">
                <a:solidFill>
                  <a:srgbClr val="21295C"/>
                </a:solidFill>
                <a:latin typeface="Arial"/>
              </a:rPr>
              <a:t/>
            </a:r>
            <a:r>
              <a:rPr sz="1300" b="1" i="0">
                <a:solidFill>
                  <a:srgbClr val="21295C"/>
                </a:solidFill>
                <a:latin typeface="Arial"/>
              </a:rPr>
              <a:t>Оба классических режима.</a:t>
            </a:r>
            <a:r>
              <a:rPr sz="130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против них.</a:t>
            </a:r>
            <a:r>
              <a:rPr sz="1300" b="0" i="0">
                <a:solidFill>
                  <a:srgbClr val="21295C"/>
                </a:solidFill>
                <a:latin typeface="Arial"/>
              </a:rPr>
              <a:t> Один человек плюс модель, арбитраж на разногласиях. Прибавка чувствительности </a:t>
            </a:r>
            <a:r>
              <a:rPr sz="1300" b="1" i="0">
                <a:solidFill>
                  <a:srgbClr val="21295C"/>
                </a:solidFill>
                <a:latin typeface="Arial"/>
              </a:rPr>
              <a:t>значима</a:t>
            </a:r>
            <a:r>
              <a:rPr sz="1300" b="0" i="0">
                <a:solidFill>
                  <a:srgbClr val="21295C"/>
                </a:solidFill>
                <a:latin typeface="Arial"/>
              </a:rPr>
              <a:t>.</a:t>
            </a:r>
          </a:p>
          <a:p>
            <a:pPr algn="l">
              <a:lnSpc>
                <a:spcPct val="126000"/>
              </a:lnSpc>
              <a:spcBef>
                <a:spcPts val="700"/>
              </a:spcBef>
            </a:pPr>
            <a:r>
              <a:rPr sz="1000" b="0" i="0">
                <a:solidFill>
                  <a:srgbClr val="21295C"/>
                </a:solidFill>
                <a:latin typeface="Arial"/>
              </a:rPr>
              <a:t/>
            </a:r>
            <a:r>
              <a:rPr sz="100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p:txBody>
      </p:sp>
      <p:sp>
        <p:nvSpPr>
          <p:cNvPr id="17" name="TextBox 16"/>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Независимость здесь </a:t>
            </a:r>
            <a:r>
              <a:rPr sz="1300" b="1" i="0">
                <a:solidFill>
                  <a:srgbClr val="21295C"/>
                </a:solidFill>
                <a:latin typeface="Arial"/>
              </a:rPr>
              <a:t>перестроена</a:t>
            </a:r>
            <a:r>
              <a:rPr sz="130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00" b="0" i="0">
                <a:solidFill>
                  <a:srgbClr val="21295C"/>
                </a:solidFill>
                <a:latin typeface="Arial"/>
              </a:rPr>
              <a:t/>
            </a:r>
            <a:r>
              <a:rPr sz="1000" b="0" i="1">
                <a:solidFill>
                  <a:srgbClr val="1C7293"/>
                </a:solidFill>
                <a:latin typeface="Arial"/>
              </a:rPr>
              <a:t>Ступень читающего врача — «смотрит первым»: он видит каждое исследование и выдаёт своё заключение, а не подтверждает чужое. Только спорное смотрит арбитр, и назначило это устройство программы — выбор врача тут не участвует.</a:t>
            </a:r>
          </a:p>
          <a:p>
            <a:pPr algn="l">
              <a:lnSpc>
                <a:spcPct val="126000"/>
              </a:lnSpc>
              <a:spcBef>
                <a:spcPts val="700"/>
              </a:spcBef>
            </a:pPr>
            <a:r>
              <a:rPr sz="1300" b="0" i="0">
                <a:solidFill>
                  <a:srgbClr val="21295C"/>
                </a:solidFill>
                <a:latin typeface="Arial"/>
              </a:rPr>
              <a:t/>
            </a:r>
            <a:r>
              <a:rPr sz="1300" b="0" i="0">
                <a:solidFill>
                  <a:srgbClr val="21295C"/>
                </a:solidFill>
                <a:latin typeface="Arial"/>
              </a:rPr>
              <a:t>Чем это делают сегодня — </a:t>
            </a:r>
            <a:r>
              <a:rPr sz="1300" b="0" i="1">
                <a:solidFill>
                  <a:srgbClr val="21295C"/>
                </a:solidFill>
                <a:latin typeface="Arial"/>
              </a:rPr>
              <a:t>распознавание на изображении</a:t>
            </a:r>
            <a:r>
              <a:rPr sz="1300" b="0" i="0">
                <a:solidFill>
                  <a:srgbClr val="21295C"/>
                </a:solidFill>
                <a:latin typeface="Arial"/>
              </a:rPr>
              <a:t>, та же клетка и </a:t>
            </a:r>
            <a:r>
              <a:rPr sz="1300" b="1" i="0">
                <a:solidFill>
                  <a:srgbClr val="21295C"/>
                </a:solidFill>
                <a:latin typeface="Arial"/>
              </a:rPr>
              <a:t>тот же инструмент</a:t>
            </a:r>
            <a:r>
              <a:rPr sz="1300" b="0" i="0">
                <a:solidFill>
                  <a:srgbClr val="21295C"/>
                </a:solidFill>
                <a:latin typeface="Arial"/>
              </a:rPr>
              <a:t>, что в разборе выше:</a:t>
            </a:r>
          </a:p>
          <a:p>
            <a:pPr algn="l">
              <a:lnSpc>
                <a:spcPct val="126000"/>
              </a:lnSpc>
              <a:spcBef>
                <a:spcPts val="700"/>
              </a:spcBef>
            </a:pPr>
            <a:r>
              <a:rPr sz="1300" b="0" i="0">
                <a:solidFill>
                  <a:srgbClr val="21295C"/>
                </a:solidFill>
                <a:latin typeface="Arial"/>
              </a:rPr>
              <a:t/>
            </a:r>
            <a:r>
              <a:rPr sz="130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300" b="0" i="0">
                <a:solidFill>
                  <a:srgbClr val="21295C"/>
                </a:solidFill>
                <a:latin typeface="Arial"/>
              </a:rPr>
              <a:t/>
            </a:r>
            <a:r>
              <a:rPr sz="130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6091275" y="3102372"/>
            <a:ext cx="9144" cy="3009346"/>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связь уверенности с правотой ослабевает у обеих групп.</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и по единичному промаху —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это делают сегодня — подсказку выводят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6728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877675"/>
          </a:xfrm>
          <a:prstGeom prst="roundRect">
            <a:avLst>
              <a:gd name="adj" fmla="val 624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Карта: ни одной новой клетки — все четыре разбора легли туда, где инструменты уже стояли.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3967561"/>
          </a:xfrm>
          <a:prstGeom prst="roundRect">
            <a:avLst>
              <a:gd name="adj" fmla="val 768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Половина третьего ночи, отделение на тридцать коек: на смене две сестры и дежурный врач на несколько отделений. Сестра идёт по палатам с тележкой — дыхание, пульс, давление, температура. Четыре-пять величин у постели занимают пару минут и ложатся в бумажный бланк в ногах кровати; через несколько часов обход повторяется. К утру по каждому пациенту накопилась дорожка измерений, и читает её тот, кто пациента ночью не видел.</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Снять величины по расписанию · 2. Записать каждое измерение в лист · 3. Перевести отклонения в баллы · 4. Сравнить сумму с порогом · 5. Выполнить назначенное порогом действие · 6. Передать дорожку следующей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по таблице</a:t>
            </a:r>
            <a:r>
              <a:rPr sz="14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400" b="0" i="0">
                <a:solidFill>
                  <a:srgbClr val="21295C"/>
                </a:solidFill>
                <a:latin typeface="Arial"/>
              </a:rPr>
              <a:t/>
            </a:r>
            <a:r>
              <a:rPr sz="1400" b="1" i="0">
                <a:solidFill>
                  <a:srgbClr val="21295C"/>
                </a:solidFill>
                <a:latin typeface="Arial"/>
              </a:rPr>
              <a:t>С обученной моделью — три действия из шести:</a:t>
            </a:r>
            <a:r>
              <a:rPr sz="1400" b="0" i="0">
                <a:solidFill>
                  <a:srgbClr val="21295C"/>
                </a:solidFill>
                <a:latin typeface="Arial"/>
              </a:rPr>
              <a:t> счёт балла (3) · сравнение с порогом (4) · назначенное действие (5). Измерение, запись в лист и передача дорожки смене остались людям. </a:t>
            </a:r>
            <a:r>
              <a:rPr sz="1400" b="1" i="0">
                <a:solidFill>
                  <a:srgbClr val="21295C"/>
                </a:solidFill>
                <a:latin typeface="Arial"/>
              </a:rPr>
              <a:t>Новый шаг — разобрать тревогу и отклонить её.</a:t>
            </a:r>
          </a:p>
          <a:p>
            <a:pPr algn="l">
              <a:lnSpc>
                <a:spcPct val="126000"/>
              </a:lnSpc>
              <a:spcBef>
                <a:spcPts val="700"/>
              </a:spcBef>
            </a:pPr>
            <a:r>
              <a:rPr sz="1400" b="0" i="0">
                <a:solidFill>
                  <a:srgbClr val="21295C"/>
                </a:solidFill>
                <a:latin typeface="Arial"/>
              </a:rPr>
              <a:t/>
            </a:r>
            <a:r>
              <a:rPr sz="1400" b="0" i="0">
                <a:solidFill>
                  <a:srgbClr val="21295C"/>
                </a:solidFill>
                <a:latin typeface="Arial"/>
              </a:rPr>
              <a:t>Ухудшение читается по направлению дорожки: 78 → 92 → 104 при падающем давлении говорит больше любого из трёх по отдельности.</a:t>
            </a:r>
          </a:p>
          <a:p>
            <a:pPr algn="l">
              <a:lnSpc>
                <a:spcPct val="126000"/>
              </a:lnSpc>
              <a:spcBef>
                <a:spcPts val="700"/>
              </a:spcBef>
            </a:pPr>
            <a:r>
              <a:rPr sz="1400" b="0" i="0">
                <a:solidFill>
                  <a:srgbClr val="21295C"/>
                </a:solidFill>
                <a:latin typeface="Arial"/>
              </a:rPr>
              <a:t/>
            </a:r>
            <a:r>
              <a:rPr sz="1400" b="0" i="0">
                <a:solidFill>
                  <a:srgbClr val="21295C"/>
                </a:solidFill>
                <a:latin typeface="Arial"/>
              </a:rPr>
              <a:t>Решение одно и повторяющееся: звать старшего сейчас или на следующем обходе. </a:t>
            </a:r>
            <a:r>
              <a:rPr sz="1400" b="1" i="0">
                <a:solidFill>
                  <a:srgbClr val="21295C"/>
                </a:solidFill>
                <a:latin typeface="Arial"/>
              </a:rPr>
              <a:t>Решает тот, кто видит только запись.</a:t>
            </a:r>
          </a:p>
        </p:txBody>
      </p:sp>
      <p:sp>
        <p:nvSpPr>
          <p:cNvPr id="17" name="Rectangle 16"/>
          <p:cNvSpPr/>
          <p:nvPr/>
        </p:nvSpPr>
        <p:spPr>
          <a:xfrm>
            <a:off x="6091275" y="2241116"/>
            <a:ext cx="9144" cy="3693241"/>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374904" y="2387325"/>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p:txBody>
      </p:sp>
      <p:sp>
        <p:nvSpPr>
          <p:cNvPr id="18" name="TextBox 17"/>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9" name="Rectangle 18"/>
          <p:cNvSpPr/>
          <p:nvPr/>
        </p:nvSpPr>
        <p:spPr>
          <a:xfrm>
            <a:off x="6091275" y="2478765"/>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2332528"/>
          </a:xfrm>
          <a:prstGeom prst="roundRect">
            <a:avLst>
              <a:gd name="adj" fmla="val 1306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4129887" y="1335024"/>
            <a:ext cx="3316071" cy="2332528"/>
          </a:xfrm>
          <a:prstGeom prst="roundRect">
            <a:avLst>
              <a:gd name="adj" fmla="val 1306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3758992"/>
            <a:ext cx="7199071" cy="2477215"/>
          </a:xfrm>
          <a:prstGeom prst="roundRect">
            <a:avLst>
              <a:gd name="adj" fmla="val 1230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50432"/>
            <a:ext cx="6869887" cy="238577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Пропустить ухудшение.</a:t>
            </a:r>
            <a:r>
              <a:rPr sz="13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Поднять ложную тревогу.</a:t>
            </a:r>
            <a:r>
              <a:rPr sz="13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00" b="0" i="0">
                <a:solidFill>
                  <a:srgbClr val="21295C"/>
                </a:solidFill>
                <a:latin typeface="Arial"/>
              </a:rPr>
              <a:t/>
            </a:r>
            <a:r>
              <a:rPr sz="1300" b="0" i="0">
                <a:solidFill>
                  <a:srgbClr val="21295C"/>
                </a:solidFill>
                <a:latin typeface="Arial"/>
              </a:rPr>
              <a:t>Обе ошибки платит одна и та же дежурная смена.</a:t>
            </a:r>
          </a:p>
          <a:p>
            <a:pPr algn="l">
              <a:lnSpc>
                <a:spcPct val="126000"/>
              </a:lnSpc>
              <a:spcBef>
                <a:spcPts val="700"/>
              </a:spcBef>
            </a:pPr>
            <a:r>
              <a:rPr sz="1050" b="0" i="0">
                <a:solidFill>
                  <a:srgbClr val="21295C"/>
                </a:solidFill>
                <a:latin typeface="Arial"/>
              </a:rPr>
              <a:t/>
            </a:r>
            <a:r>
              <a:rPr sz="105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классических режимов модель может заменить</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тревог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тревог из ста</a:t>
            </a:r>
            <a:r>
              <a:rPr sz="1500" b="0" i="0">
                <a:solidFill>
                  <a:srgbClr val="21295C"/>
                </a:solidFill>
                <a:latin typeface="Arial"/>
              </a:rPr>
              <a:t> — две другие шкалы того же разбора, на той же выборке.</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Нуля в этом сравнении нет.</a:t>
            </a:r>
          </a:p>
        </p:txBody>
      </p:sp>
      <p:sp>
        <p:nvSpPr>
          <p:cNvPr id="19" name="Rectangle 18"/>
          <p:cNvSpPr/>
          <p:nvPr/>
        </p:nvSpPr>
        <p:spPr>
          <a:xfrm>
            <a:off x="6091275" y="3102372"/>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одной университетской системы</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2803461"/>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4901"/>
            <a:ext cx="5373471" cy="316477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p:txBody>
      </p:sp>
      <p:sp>
        <p:nvSpPr>
          <p:cNvPr id="18" name="TextBox 17"/>
          <p:cNvSpPr txBox="1"/>
          <p:nvPr/>
        </p:nvSpPr>
        <p:spPr>
          <a:xfrm>
            <a:off x="6278727" y="2894901"/>
            <a:ext cx="5373471" cy="316477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2894901"/>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3" name="Rounded Rectangle 12"/>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5" name="Right Arrow 14"/>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18" name="Right Arrow 17"/>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1" name="TextBox 20"/>
          <p:cNvSpPr txBox="1"/>
          <p:nvPr/>
        </p:nvSpPr>
        <p:spPr>
          <a:xfrm>
            <a:off x="502920" y="340687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2" name="Rounded Rectangle 21"/>
          <p:cNvSpPr/>
          <p:nvPr/>
        </p:nvSpPr>
        <p:spPr>
          <a:xfrm>
            <a:off x="374904" y="3709553"/>
            <a:ext cx="11441887" cy="2526654"/>
          </a:xfrm>
          <a:prstGeom prst="roundRect">
            <a:avLst>
              <a:gd name="adj" fmla="val 12063"/>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800993"/>
            <a:ext cx="11112703" cy="243521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тревогами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 2023 год</a:t>
            </a:r>
          </a:p>
        </p:txBody>
      </p:sp>
      <p:sp>
        <p:nvSpPr>
          <p:cNvPr id="8" name="Rounded Rectangle 7"/>
          <p:cNvSpPr/>
          <p:nvPr/>
        </p:nvSpPr>
        <p:spPr>
          <a:xfrm>
            <a:off x="2394127"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393606"/>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в четырёх системах</a:t>
            </a:r>
          </a:p>
        </p:txBody>
      </p:sp>
      <p:sp>
        <p:nvSpPr>
          <p:cNvPr id="20" name="Rounded Rectangle 19"/>
          <p:cNvSpPr/>
          <p:nvPr/>
        </p:nvSpPr>
        <p:spPr>
          <a:xfrm>
            <a:off x="374904" y="3960255"/>
            <a:ext cx="11441887" cy="2275952"/>
          </a:xfrm>
          <a:prstGeom prst="roundRect">
            <a:avLst>
              <a:gd name="adj" fmla="val 1339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51695"/>
            <a:ext cx="11112703" cy="21845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Вторая проверка, другие авторы, другие больницы: 145 885 обращений двух приёмных отделений. Поймано </a:t>
            </a:r>
            <a:r>
              <a:rPr sz="1500" b="1" i="0">
                <a:solidFill>
                  <a:srgbClr val="21295C"/>
                </a:solidFill>
                <a:latin typeface="Arial"/>
              </a:rPr>
              <a:t>14,7 случая сепсиса из ста</a:t>
            </a:r>
            <a:r>
              <a:rPr sz="1500" b="0" i="0">
                <a:solidFill>
                  <a:srgbClr val="21295C"/>
                </a:solidFill>
                <a:latin typeface="Arial"/>
              </a:rPr>
              <a:t>. Срабатывание — </a:t>
            </a:r>
            <a:r>
              <a:rPr sz="1500" b="1" i="0">
                <a:solidFill>
                  <a:srgbClr val="21295C"/>
                </a:solidFill>
                <a:latin typeface="Arial"/>
              </a:rPr>
              <a:t>4,9 обращения из ста</a:t>
            </a:r>
            <a:r>
              <a:rPr sz="1500" b="0" i="0">
                <a:solidFill>
                  <a:srgbClr val="21295C"/>
                </a:solidFill>
                <a:latin typeface="Arial"/>
              </a:rPr>
              <a:t>. Медианное опережение клинического решения — </a:t>
            </a:r>
            <a:r>
              <a:rPr sz="1500" b="1" i="0">
                <a:solidFill>
                  <a:srgbClr val="21295C"/>
                </a:solidFill>
                <a:latin typeface="Arial"/>
              </a:rPr>
              <a:t>ноль минут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модели проверили отдельно, многоцентрово и проспективно: различение </a:t>
            </a:r>
            <a:r>
              <a:rPr sz="1500" b="1" i="0">
                <a:solidFill>
                  <a:srgbClr val="21295C"/>
                </a:solidFill>
                <a:latin typeface="Arial"/>
              </a:rPr>
              <a:t>от 0,82 до 0,92</a:t>
            </a:r>
            <a:r>
              <a:rPr sz="1500" b="0" i="0">
                <a:solidFill>
                  <a:srgbClr val="21295C"/>
                </a:solidFill>
                <a:latin typeface="Arial"/>
              </a:rPr>
              <a:t>, прогностическая ценность </a:t>
            </a:r>
            <a:r>
              <a:rPr sz="1500" b="1" i="0">
                <a:solidFill>
                  <a:srgbClr val="21295C"/>
                </a:solidFill>
                <a:latin typeface="Arial"/>
              </a:rPr>
              <a:t>от 0,13 до 0,26</a:t>
            </a:r>
            <a:r>
              <a:rPr sz="1500" b="0" i="0">
                <a:solidFill>
                  <a:srgbClr val="21295C"/>
                </a:solidFill>
                <a:latin typeface="Arial"/>
              </a:rPr>
              <a:t> — от четырёх до восьми тревог на одно подтверждение. Это текущее состояние того же случая, и речь здесь о действующей версии.</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11112703" cy="145515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350" b="0" i="0">
                <a:solidFill>
                  <a:srgbClr val="21295C"/>
                </a:solidFill>
                <a:latin typeface="Arial"/>
              </a:rPr>
              <a:t/>
            </a:r>
            <a:r>
              <a:rPr sz="135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350" b="1" i="0">
                <a:solidFill>
                  <a:srgbClr val="21295C"/>
                </a:solidFill>
                <a:latin typeface="Arial"/>
              </a:rPr>
              <a:t>953 до 1 363 в сутки</a:t>
            </a:r>
            <a:r>
              <a:rPr sz="1350" b="0" i="0">
                <a:solidFill>
                  <a:srgbClr val="21295C"/>
                </a:solidFill>
                <a:latin typeface="Arial"/>
              </a:rPr>
              <a:t>, причём загрузка за тот же период </a:t>
            </a:r>
            <a:r>
              <a:rPr sz="1350" b="1" i="0">
                <a:solidFill>
                  <a:srgbClr val="21295C"/>
                </a:solidFill>
                <a:latin typeface="Arial"/>
              </a:rPr>
              <a:t>упала с 10 159 до 6 634 пациентов</a:t>
            </a:r>
            <a:r>
              <a:rPr sz="1350" b="0" i="0">
                <a:solidFill>
                  <a:srgbClr val="21295C"/>
                </a:solidFill>
                <a:latin typeface="Arial"/>
              </a:rPr>
              <a:t>: доля пациентов с тревогой выросла с 9 до 21 из ста.</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Карта: ни одной новой клетки — прогноз на структурированных данных занят с прошлого раздела.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7226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Пациент рассказывает, врач спрашивает, смотрит, назначает — и параллельно держит в голове структуру будущей записи: жалобы, анамнез, осмотр, диагноз, план. Набирается она после приёма, а что не успели между пациентами, остаётся домашней работой с картой. Читать её будут те, кто этого приёма не видел: участковый врач через месяц, следующий стационар, комиссия, пациент.</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в карту · 3. Вычитать и подписать · 4. Собрать выписной документ · 5. Передать его читателю · 6. Предъявить запись при разборе случая.</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Первое действие с человека снято — структуру во время разговора держит инструмент. </a:t>
            </a:r>
            <a:r>
              <a:rPr sz="1200" b="1" i="0">
                <a:solidFill>
                  <a:srgbClr val="21295C"/>
                </a:solidFill>
                <a:latin typeface="Arial"/>
              </a:rPr>
              <a:t>Новый шаг — вычитать чужой текст и найти то, чего не было.</a:t>
            </a:r>
          </a:p>
          <a:p>
            <a:pPr algn="l">
              <a:lnSpc>
                <a:spcPct val="126000"/>
              </a:lnSpc>
              <a:spcBef>
                <a:spcPts val="700"/>
              </a:spcBef>
            </a:pPr>
            <a:r>
              <a:rPr sz="1200" b="0" i="0">
                <a:solidFill>
                  <a:srgbClr val="21295C"/>
                </a:solidFill>
                <a:latin typeface="Arial"/>
              </a:rPr>
              <a:t/>
            </a:r>
            <a:r>
              <a:rPr sz="1200" b="1" i="0">
                <a:solidFill>
                  <a:srgbClr val="21295C"/>
                </a:solidFill>
                <a:latin typeface="Arial"/>
              </a:rPr>
              <a:t>Цена обеих ошибок, до всякой точности.</a:t>
            </a:r>
            <a:r>
              <a:rPr sz="1200" b="0" i="0">
                <a:solidFill>
                  <a:srgbClr val="21295C"/>
                </a:solidFill>
                <a:latin typeface="Arial"/>
              </a:rPr>
              <a:t> Записать меньше, чем было, — следующий читатель назначит заново уже проверенное. Записать то, чего не было, — назначит по ложному основанию. Пропуск в записи и отсутствие события выглядят для него одинаково.</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 ход времени и практика: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11112703" cy="253594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a:t>
            </a:r>
            <a:r>
              <a:rPr sz="1500" b="0" i="0">
                <a:solidFill>
                  <a:srgbClr val="21295C"/>
                </a:solidFill>
                <a:latin typeface="Arial"/>
              </a:rPr>
              <a:t> экономия </a:t>
            </a:r>
            <a:r>
              <a:rPr sz="1500" b="1" i="0">
                <a:solidFill>
                  <a:srgbClr val="21295C"/>
                </a:solidFill>
                <a:latin typeface="Arial"/>
              </a:rPr>
              <a:t>15 791 часа на 63 000 приёмов</a:t>
            </a:r>
            <a:r>
              <a:rPr sz="1500" b="0" i="0">
                <a:solidFill>
                  <a:srgbClr val="21295C"/>
                </a:solidFill>
                <a:latin typeface="Arial"/>
              </a:rPr>
              <a:t> за десять недель — методика счёта не раскрыта. </a:t>
            </a:r>
            <a:r>
              <a:rPr sz="1500" b="1" i="0">
                <a:solidFill>
                  <a:srgbClr val="21295C"/>
                </a:solidFill>
                <a:latin typeface="Arial"/>
              </a:rPr>
              <a:t>Измерено рандомизированным испытанием (238 врачей четырнадцати специальностей):</a:t>
            </a:r>
            <a:r>
              <a:rPr sz="1500" b="0" i="0">
                <a:solidFill>
                  <a:srgbClr val="21295C"/>
                </a:solidFill>
                <a:latin typeface="Arial"/>
              </a:rPr>
              <a:t> у одного из двух инструментов время в заметке упало на </a:t>
            </a:r>
            <a:r>
              <a:rPr sz="1500" b="1" i="0">
                <a:solidFill>
                  <a:srgbClr val="21295C"/>
                </a:solidFill>
                <a:latin typeface="Arial"/>
              </a:rPr>
              <a:t>9,5 процента</a:t>
            </a:r>
            <a:r>
              <a:rPr sz="1500" b="0" i="0">
                <a:solidFill>
                  <a:srgbClr val="21295C"/>
                </a:solidFill>
                <a:latin typeface="Arial"/>
              </a:rPr>
              <a:t> относительно контрольной группы, у второго значимого изменения нет; </a:t>
            </a:r>
            <a:r>
              <a:rPr sz="1500" b="1" i="0">
                <a:solidFill>
                  <a:srgbClr val="21295C"/>
                </a:solidFill>
                <a:latin typeface="Arial"/>
              </a:rPr>
              <a:t>активное время правки заметки не изменилось.</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4" name="Rounded Rectangle 13"/>
          <p:cNvSpPr/>
          <p:nvPr/>
        </p:nvSpPr>
        <p:spPr>
          <a:xfrm>
            <a:off x="1920240" y="325326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16" name="Right Arrow 15"/>
          <p:cNvSpPr/>
          <p:nvPr/>
        </p:nvSpPr>
        <p:spPr>
          <a:xfrm>
            <a:off x="6713067"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5326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9898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19" name="TextBox 18"/>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0" name="Rounded Rectangle 19"/>
          <p:cNvSpPr/>
          <p:nvPr/>
        </p:nvSpPr>
        <p:spPr>
          <a:xfrm>
            <a:off x="1920240"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2" name="Right Arrow 21"/>
          <p:cNvSpPr/>
          <p:nvPr/>
        </p:nvSpPr>
        <p:spPr>
          <a:xfrm>
            <a:off x="4202353" y="40440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25" name="Right Arrow 24"/>
          <p:cNvSpPr/>
          <p:nvPr/>
        </p:nvSpPr>
        <p:spPr>
          <a:xfrm>
            <a:off x="6713067"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28" name="Right Arrow 27"/>
          <p:cNvSpPr/>
          <p:nvPr/>
        </p:nvSpPr>
        <p:spPr>
          <a:xfrm>
            <a:off x="9223781"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1" name="TextBox 30"/>
          <p:cNvSpPr txBox="1"/>
          <p:nvPr/>
        </p:nvSpPr>
        <p:spPr>
          <a:xfrm>
            <a:off x="502920" y="45332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2" name="Rounded Rectangle 31"/>
          <p:cNvSpPr/>
          <p:nvPr/>
        </p:nvSpPr>
        <p:spPr>
          <a:xfrm>
            <a:off x="1920240" y="4496654"/>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542374"/>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4" name="TextBox 33"/>
          <p:cNvSpPr txBox="1"/>
          <p:nvPr/>
        </p:nvSpPr>
        <p:spPr>
          <a:xfrm>
            <a:off x="502920" y="50086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11307"/>
            <a:ext cx="11441887" cy="9249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402747"/>
            <a:ext cx="11112703" cy="83346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реализации, при одном и том же режиме.</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Чего это потребовало — вычитки другого рода, которой никто не учит.</a:t>
            </a:r>
            <a:r>
              <a:rPr sz="125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50" b="0" i="0">
                <a:solidFill>
                  <a:srgbClr val="21295C"/>
                </a:solidFill>
                <a:latin typeface="Arial"/>
              </a:rPr>
              <a:t/>
            </a:r>
            <a:r>
              <a:rPr sz="1250" b="1" i="0">
                <a:solidFill>
                  <a:srgbClr val="21295C"/>
                </a:solidFill>
                <a:latin typeface="Arial"/>
              </a:rPr>
              <a:t>А теперь то, что по этому случаю чаще всего и пересказывают.</a:t>
            </a:r>
            <a:r>
              <a:rPr sz="125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Построчное чтение трёх доступных первоисточников этой тройки не даёт.</a:t>
            </a:r>
            <a:r>
              <a:rPr sz="125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Ведение записи: набор сократился, вычитка появилась</a:t>
            </a:r>
          </a:p>
        </p:txBody>
      </p:sp>
      <p:sp>
        <p:nvSpPr>
          <p:cNvPr id="4" name="Rounded Rectangle 3"/>
          <p:cNvSpPr/>
          <p:nvPr/>
        </p:nvSpPr>
        <p:spPr>
          <a:xfrm>
            <a:off x="374904" y="1243584"/>
            <a:ext cx="11441887" cy="4699875"/>
          </a:xfrm>
          <a:prstGeom prst="roundRect">
            <a:avLst>
              <a:gd name="adj" fmla="val 648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Заметка готова к концу приёма, а прежде её дописывали к концу дня. Документ выходит короче и связнее человеческого. Снята необходимость держать структуру документа в голове при живом человеке. Писать быстрее — измерено у одного из двух инструментов: 9,5 процента времени в заметке.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Подтвердить заявленную экономию: 15 791 час на 63 000 приёмов посчитаны без раскрытой методики. Сократить активное время правки: оно не изменилось ни у одного из двух инструментов. Написать полнее человека: 3,72 против 4,13, и уникальных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набора текста на вычитку чужого. </a:t>
            </a:r>
            <a:r>
              <a:rPr sz="1500" b="1" i="0">
                <a:solidFill>
                  <a:srgbClr val="21295C"/>
                </a:solidFill>
                <a:latin typeface="Arial"/>
              </a:rPr>
              <a:t>Появился шаг</a:t>
            </a:r>
            <a:r>
              <a:rPr sz="1500" b="0" i="0">
                <a:solidFill>
                  <a:srgbClr val="21295C"/>
                </a:solidFill>
                <a:latin typeface="Arial"/>
              </a:rPr>
              <a:t> — выборочный контроль заметок, и у него постоянный штат.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Вычитка и подпись врача: подпись остаётся человеческой. Выборочный контроль: 3 600 отзывов врачей и 1 252 анкеты в отчёте одной клиники. </a:t>
            </a:r>
            <a:r>
              <a:rPr sz="1500" b="1" i="0">
                <a:solidFill>
                  <a:srgbClr val="21295C"/>
                </a:solidFill>
                <a:latin typeface="Arial"/>
              </a:rPr>
              <a:t>Прочерк: вычитке другого рода никто не учит — такой подготовки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Карта: ни одной новой клетки — поиск с генерацией на тексте занят с первого раздела.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44255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обзор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7" name="Rounded Rectangle 16"/>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9" name="Right Arrow 18"/>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22" name="Right Arrow 21"/>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5" name="Right Arrow 24"/>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9" name="Rounded Rectangle 28"/>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пациентку шестидесяти восьми лет выписали через четыре дня, и через сутки она вернулась с осложнением. Двое из сидящих за этим столом с лечащим врачом вместе не работают. Читают карту, сверяют с утверждённым порядком и отвечают на один вопрос. Под каждым заключением в карте стоит фамилия.</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31" name="TextBox 30"/>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ни одного действия из семи:</a:t>
            </a:r>
            <a:r>
              <a:rPr sz="1200" b="0" i="0">
                <a:solidFill>
                  <a:srgbClr val="21295C"/>
                </a:solidFill>
                <a:latin typeface="Arial"/>
              </a:rPr>
              <a:t> подписать ей нечем, а оценить её порядок не умеет, пока его не перепишут. </a:t>
            </a:r>
            <a:r>
              <a:rPr sz="1200" b="1" i="0">
                <a:solidFill>
                  <a:srgbClr val="21295C"/>
                </a:solidFill>
                <a:latin typeface="Arial"/>
              </a:rPr>
              <a:t>Норма добавила восьмое требование — человек обязан мочь возразить и остановить.</a:t>
            </a:r>
          </a:p>
          <a:p>
            <a:pPr algn="l">
              <a:lnSpc>
                <a:spcPct val="126000"/>
              </a:lnSpc>
              <a:spcBef>
                <a:spcPts val="700"/>
              </a:spcBef>
            </a:pPr>
            <a:r>
              <a:rPr sz="1200" b="0" i="0">
                <a:solidFill>
                  <a:srgbClr val="21295C"/>
                </a:solidFill>
                <a:latin typeface="Arial"/>
              </a:rPr>
              <a:t/>
            </a:r>
            <a:r>
              <a:rPr sz="1200" b="1" i="0">
                <a:solidFill>
                  <a:srgbClr val="21295C"/>
                </a:solidFill>
                <a:latin typeface="Arial"/>
              </a:rPr>
              <a:t>Один вопрос:</a:t>
            </a:r>
            <a:r>
              <a:rPr sz="1200" b="0" i="0">
                <a:solidFill>
                  <a:srgbClr val="21295C"/>
                </a:solidFill>
                <a:latin typeface="Arial"/>
              </a:rPr>
              <a:t>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p:txBody>
      </p:sp>
      <p:sp>
        <p:nvSpPr>
          <p:cNvPr id="32" name="Rectangle 31"/>
          <p:cNvSpPr/>
          <p:nvPr/>
        </p:nvSpPr>
        <p:spPr>
          <a:xfrm>
            <a:off x="6091275" y="3813408"/>
            <a:ext cx="9144" cy="2316640"/>
          </a:xfrm>
          <a:prstGeom prst="rect">
            <a:avLst/>
          </a:prstGeom>
          <a:solidFill>
            <a:srgbClr val="D9E2EC"/>
          </a:solidFill>
          <a:ln>
            <a:noFill/>
          </a:ln>
          <a:effectLst/>
        </p:spPr>
        <p:txBody>
          <a:bodyPr rtlCol="0" anchor="ctr"/>
          <a:lstStyle/>
          <a:p>
            <a:pPr algn="ct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521969"/>
          </a:xfrm>
          <a:prstGeom prst="roundRect">
            <a:avLst>
              <a:gd name="adj" fmla="val 865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Очевидное лекарство — скрывать подсказку там, где она чаще ошибается.</a:t>
            </a:r>
            <a:r>
              <a:rPr sz="145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В скрываемой зоне остаются и случаи, где модель права, — поэтому знак итогового эффекта неизвестен.</a:t>
            </a:r>
          </a:p>
          <a:p>
            <a:pPr algn="l">
              <a:lnSpc>
                <a:spcPct val="126000"/>
              </a:lnSpc>
              <a:spcBef>
                <a:spcPts val="700"/>
              </a:spcBef>
            </a:pPr>
            <a:r>
              <a:rPr sz="1150" b="0" i="0">
                <a:solidFill>
                  <a:srgbClr val="21295C"/>
                </a:solidFill>
                <a:latin typeface="Arial"/>
              </a:rPr>
              <a:t/>
            </a:r>
            <a:r>
              <a:rPr sz="1150" b="0" i="1">
                <a:solidFill>
                  <a:srgbClr val="1C7293"/>
                </a:solidFill>
                <a:latin typeface="Arial"/>
              </a:rPr>
              <a:t>Формы словаря у этого приёма нет, и назвать её нечем: к живой работе приём не применяли, и переезжать было нечему.</a:t>
            </a:r>
          </a:p>
          <a:p>
            <a:pPr algn="l">
              <a:lnSpc>
                <a:spcPct val="126000"/>
              </a:lnSpc>
              <a:spcBef>
                <a:spcPts val="700"/>
              </a:spcBef>
            </a:pPr>
            <a:r>
              <a:rPr sz="1450" b="0" i="0">
                <a:solidFill>
                  <a:srgbClr val="21295C"/>
                </a:solidFill>
                <a:latin typeface="Arial"/>
              </a:rPr>
              <a:t/>
            </a:r>
            <a:r>
              <a:rPr sz="1450" b="1" i="0">
                <a:solidFill>
                  <a:srgbClr val="21295C"/>
                </a:solidFill>
                <a:latin typeface="Arial"/>
              </a:rPr>
              <a:t>Раскрытый конфликт интересов:</a:t>
            </a:r>
            <a:r>
              <a:rPr sz="1450" b="0" i="0">
                <a:solidFill>
                  <a:srgbClr val="21295C"/>
                </a:solidFill>
                <a:latin typeface="Arial"/>
              </a:rPr>
              <a:t> часть авторов работает в компании-производителе модели или имеет на неё патент.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450" b="0" i="1">
                <a:solidFill>
                  <a:srgbClr val="21295C"/>
                </a:solidFill>
                <a:latin typeface="Arial"/>
              </a:rPr>
              <a:t>Упоминание, рядом и для контраста.</a:t>
            </a:r>
            <a:r>
              <a:rPr sz="145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 Формы словаря и здесь нет, и причина другая: форма размечает изменение, вызванное обученной моделью.</a:t>
            </a:r>
          </a:p>
          <a:p>
            <a:pPr algn="l">
              <a:lnSpc>
                <a:spcPct val="126000"/>
              </a:lnSpc>
              <a:spcBef>
                <a:spcPts val="700"/>
              </a:spcBef>
            </a:pPr>
            <a:r>
              <a:rPr sz="1450" b="0" i="0">
                <a:solidFill>
                  <a:srgbClr val="21295C"/>
                </a:solidFill>
                <a:latin typeface="Arial"/>
              </a:rPr>
              <a:t/>
            </a:r>
            <a:r>
              <a:rPr sz="145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5" name="Rectangle 14"/>
          <p:cNvSpPr/>
          <p:nvPr/>
        </p:nvSpPr>
        <p:spPr>
          <a:xfrm>
            <a:off x="6091275" y="2683657"/>
            <a:ext cx="9144" cy="324764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771192"/>
          </a:xfrm>
          <a:prstGeom prst="roundRect">
            <a:avLst>
              <a:gd name="adj" fmla="val 1720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1771192"/>
          </a:xfrm>
          <a:prstGeom prst="roundRect">
            <a:avLst>
              <a:gd name="adj" fmla="val 1720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 записи рабочего времени программы</a:t>
            </a:r>
          </a:p>
        </p:txBody>
      </p:sp>
      <p:sp>
        <p:nvSpPr>
          <p:cNvPr id="12" name="Rounded Rectangle 11"/>
          <p:cNvSpPr/>
          <p:nvPr/>
        </p:nvSpPr>
        <p:spPr>
          <a:xfrm>
            <a:off x="8069884" y="1335024"/>
            <a:ext cx="3618890" cy="1771192"/>
          </a:xfrm>
          <a:prstGeom prst="roundRect">
            <a:avLst>
              <a:gd name="adj" fmla="val 1720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8207044" y="1932846"/>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5465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счёта приведены: и по медианам, и по средним</a:t>
            </a:r>
          </a:p>
        </p:txBody>
      </p:sp>
      <p:sp>
        <p:nvSpPr>
          <p:cNvPr id="16" name="Rounded Rectangle 15"/>
          <p:cNvSpPr/>
          <p:nvPr/>
        </p:nvSpPr>
        <p:spPr>
          <a:xfrm>
            <a:off x="374904" y="3197656"/>
            <a:ext cx="11441887" cy="2947215"/>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9096"/>
            <a:ext cx="11112703" cy="294711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И пропущенный диагноз, и лишнее вмешательство — подпись человеческая, а платит исходом пациент.</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Одно чтение маммограммы — 48 секунд в среднем; один разбор расхождения кратно дольше. Записи рабочего времени: 441 276 первичных прочтений — около 219 тысяч обследований,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 НАЙДЕНО 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56 изделий из 717</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срез июнь 2024, радиологические изделия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 РАНЕЕ ОДОБРЕННОМУ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924 изделия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другой знаменатель и другая дата среза</a:t>
            </a:r>
          </a:p>
        </p:txBody>
      </p:sp>
      <p:sp>
        <p:nvSpPr>
          <p:cNvPr id="12" name="Rounded Rectangle 11"/>
          <p:cNvSpPr/>
          <p:nvPr/>
        </p:nvSpPr>
        <p:spPr>
          <a:xfrm>
            <a:off x="374904" y="2592217"/>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5" name="Rectangle 14"/>
          <p:cNvSpPr/>
          <p:nvPr/>
        </p:nvSpPr>
        <p:spPr>
          <a:xfrm>
            <a:off x="6091275" y="2683657"/>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5373471"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p:txBody>
      </p:sp>
      <p:sp>
        <p:nvSpPr>
          <p:cNvPr id="15" name="TextBox 14"/>
          <p:cNvSpPr txBox="1"/>
          <p:nvPr/>
        </p:nvSpPr>
        <p:spPr>
          <a:xfrm>
            <a:off x="6278727" y="3059684"/>
            <a:ext cx="5373471" cy="31765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6" name="Rectangle 15"/>
          <p:cNvSpPr/>
          <p:nvPr/>
        </p:nvSpPr>
        <p:spPr>
          <a:xfrm>
            <a:off x="6091275" y="3059684"/>
            <a:ext cx="9144" cy="228671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 ИЗДЕЛИЙ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изделий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 года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ИЗДЕЛИЯ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отзыва на изделие против 1,9</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ПЕРВЫЕ ДВЕНАДЦАТЬ МЕСЯЦЕВ ПОСЛЕ ДОПУСКА</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108 отзывов остались неразрешёнными</a:t>
            </a:r>
          </a:p>
        </p:txBody>
      </p:sp>
      <p:sp>
        <p:nvSpPr>
          <p:cNvPr id="16" name="TextBox 15"/>
          <p:cNvSpPr txBox="1"/>
          <p:nvPr/>
        </p:nvSpPr>
        <p:spPr>
          <a:xfrm>
            <a:off x="502920" y="3138948"/>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3102372"/>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 утверждается заранее, протокол проверки каждого шага</a:t>
            </a:r>
          </a:p>
        </p:txBody>
      </p:sp>
      <p:sp>
        <p:nvSpPr>
          <p:cNvPr id="19" name="Right Arrow 18"/>
          <p:cNvSpPr/>
          <p:nvPr/>
        </p:nvSpPr>
        <p:spPr>
          <a:xfrm>
            <a:off x="5039258" y="362796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22" name="Right Arrow 21"/>
          <p:cNvSpPr/>
          <p:nvPr/>
        </p:nvSpPr>
        <p:spPr>
          <a:xfrm>
            <a:off x="8386876" y="362796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 Приложение III: 2 декабря 2027, Приложение I: 2 августа 2028</a:t>
            </a:r>
          </a:p>
        </p:txBody>
      </p:sp>
      <p:sp>
        <p:nvSpPr>
          <p:cNvPr id="25" name="TextBox 24"/>
          <p:cNvSpPr txBox="1"/>
          <p:nvPr/>
        </p:nvSpPr>
        <p:spPr>
          <a:xfrm>
            <a:off x="502920" y="43272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4629971"/>
            <a:ext cx="11441887" cy="1606236"/>
          </a:xfrm>
          <a:prstGeom prst="roundRect">
            <a:avLst>
              <a:gd name="adj" fmla="val 18976"/>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21411"/>
            <a:ext cx="5373471" cy="15147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У модели есть свойство, которого нет у скальпеля: она меняется после того, как её допустили. Сроки разведены </a:t>
            </a:r>
            <a:r>
              <a:rPr sz="1200" b="1" i="0">
                <a:solidFill>
                  <a:srgbClr val="21295C"/>
                </a:solidFill>
                <a:latin typeface="Arial"/>
              </a:rPr>
              <a:t>по приложениям, а не по признаку «самостоятельное или встроенное»</a:t>
            </a:r>
            <a:r>
              <a:rPr sz="12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Измеренное последствие рамки — ранний отзыв:</a:t>
            </a:r>
            <a:r>
              <a:rPr sz="1200" b="0" i="0">
                <a:solidFill>
                  <a:srgbClr val="21295C"/>
                </a:solidFill>
                <a:latin typeface="Arial"/>
              </a:rPr>
              <a:t> проверка, которая не состоялась до допуска, состоялась после.</a:t>
            </a:r>
          </a:p>
        </p:txBody>
      </p:sp>
      <p:sp>
        <p:nvSpPr>
          <p:cNvPr id="28" name="TextBox 27"/>
          <p:cNvSpPr txBox="1"/>
          <p:nvPr/>
        </p:nvSpPr>
        <p:spPr>
          <a:xfrm>
            <a:off x="6278727" y="4721411"/>
            <a:ext cx="5373471" cy="151479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Отечественный реестр</a:t>
            </a:r>
            <a:r>
              <a:rPr sz="1200" b="0" i="0">
                <a:solidFill>
                  <a:srgbClr val="21295C"/>
                </a:solidFill>
                <a:latin typeface="Arial"/>
              </a:rPr>
              <a:t> программ с ИИ: </a:t>
            </a:r>
            <a:r>
              <a:rPr sz="1200" b="1" i="0">
                <a:solidFill>
                  <a:srgbClr val="21295C"/>
                </a:solidFill>
                <a:latin typeface="Arial"/>
              </a:rPr>
              <a:t>48</a:t>
            </a:r>
            <a:r>
              <a:rPr sz="1200" b="0" i="0">
                <a:solidFill>
                  <a:srgbClr val="21295C"/>
                </a:solidFill>
                <a:latin typeface="Arial"/>
              </a:rPr>
              <a:t> в ноябре 2025 → </a:t>
            </a:r>
            <a:r>
              <a:rPr sz="1200" b="1" i="0">
                <a:solidFill>
                  <a:srgbClr val="21295C"/>
                </a:solidFill>
                <a:latin typeface="Arial"/>
              </a:rPr>
              <a:t>57</a:t>
            </a:r>
            <a:r>
              <a:rPr sz="1200" b="0" i="0">
                <a:solidFill>
                  <a:srgbClr val="21295C"/>
                </a:solidFill>
                <a:latin typeface="Arial"/>
              </a:rPr>
              <a:t> в июне 2026 → </a:t>
            </a:r>
            <a:r>
              <a:rPr sz="1200" b="1" i="0">
                <a:solidFill>
                  <a:srgbClr val="21295C"/>
                </a:solidFill>
                <a:latin typeface="Arial"/>
              </a:rPr>
              <a:t>59</a:t>
            </a:r>
            <a:r>
              <a:rPr sz="1200" b="0" i="0">
                <a:solidFill>
                  <a:srgbClr val="21295C"/>
                </a:solidFill>
                <a:latin typeface="Arial"/>
              </a:rPr>
              <a:t> в августе 2026. Доля от общего реестра не приводится: знаменатель в источниках расходится. Независимой — не организаторской — оценки в отечественном контуре не найдено.</a:t>
            </a:r>
          </a:p>
          <a:p>
            <a:pPr algn="l">
              <a:lnSpc>
                <a:spcPct val="126000"/>
              </a:lnSpc>
              <a:spcBef>
                <a:spcPts val="700"/>
              </a:spcBef>
            </a:pPr>
            <a:r>
              <a:rPr sz="1200" b="0" i="0">
                <a:solidFill>
                  <a:srgbClr val="21295C"/>
                </a:solidFill>
                <a:latin typeface="Arial"/>
              </a:rPr>
              <a:t/>
            </a:r>
            <a:r>
              <a:rPr sz="1200" b="0" i="0">
                <a:solidFill>
                  <a:srgbClr val="21295C"/>
                </a:solidFill>
                <a:latin typeface="Arial"/>
              </a:rPr>
              <a:t>Формы разбора здесь нет: это обзор надзорных механизмов.</a:t>
            </a:r>
          </a:p>
        </p:txBody>
      </p:sp>
      <p:sp>
        <p:nvSpPr>
          <p:cNvPr id="29" name="Rectangle 28"/>
          <p:cNvSpPr/>
          <p:nvPr/>
        </p:nvSpPr>
        <p:spPr>
          <a:xfrm>
            <a:off x="6091275" y="4721411"/>
            <a:ext cx="9144" cy="1514793"/>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59506"/>
          </a:xfrm>
          <a:prstGeom prst="roundRect">
            <a:avLst>
              <a:gd name="adj" fmla="val 640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получается.</a:t>
            </a:r>
            <a:r>
              <a:rPr sz="1450" b="0" i="0">
                <a:solidFill>
                  <a:srgbClr val="21295C"/>
                </a:solidFill>
                <a:latin typeface="Arial"/>
              </a:rPr>
              <a:t> Поднять долю верных заключений: 87,2 → 96,4 из ста с подсказкой, против одного читателя. Сократить первичные чтения вдвое: 48 секунд на чтение против 2 минут 12 секунд на арбитраж. Назвать требование словами: понять ограничения, не согласиться, остановить.</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не получается.</a:t>
            </a:r>
            <a:r>
              <a:rPr sz="1450" b="0" i="0">
                <a:solidFill>
                  <a:srgbClr val="21295C"/>
                </a:solidFill>
                <a:latin typeface="Arial"/>
              </a:rPr>
              <a:t> Удержать независимость второго чтения, когда оба читателя видят одну подсказку. Избавиться от арбитража: его объём вырос на 53 процента, в двух центрах от 22 до 142. Проверить, что подписавший способен возразить: 56 изделий из 717.</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стало с работой.</a:t>
            </a:r>
            <a:r>
              <a:rPr sz="1450" b="0" i="0">
                <a:solidFill>
                  <a:srgbClr val="21295C"/>
                </a:solidFill>
                <a:latin typeface="Arial"/>
              </a:rPr>
              <a:t> </a:t>
            </a:r>
            <a:r>
              <a:rPr sz="1450" b="1" i="0">
                <a:solidFill>
                  <a:srgbClr val="21295C"/>
                </a:solidFill>
                <a:latin typeface="Arial"/>
              </a:rPr>
              <a:t>Сместилась цена ошибки</a:t>
            </a:r>
            <a:r>
              <a:rPr sz="1450" b="0" i="0">
                <a:solidFill>
                  <a:srgbClr val="21295C"/>
                </a:solidFill>
                <a:latin typeface="Arial"/>
              </a:rPr>
              <a:t> — подпись человеческая, основание решения пришло извне. </a:t>
            </a:r>
            <a:r>
              <a:rPr sz="1450" b="1" i="0">
                <a:solidFill>
                  <a:srgbClr val="21295C"/>
                </a:solidFill>
                <a:latin typeface="Arial"/>
              </a:rPr>
              <a:t>Нагрузка выросла на том же месте</a:t>
            </a:r>
            <a:r>
              <a:rPr sz="1450" b="0" i="0">
                <a:solidFill>
                  <a:srgbClr val="21295C"/>
                </a:solidFill>
                <a:latin typeface="Arial"/>
              </a:rPr>
              <a:t> — арбитраж, и каждый разбор дороже чтения. </a:t>
            </a:r>
            <a:r>
              <a:rPr sz="1450" b="1" i="0">
                <a:solidFill>
                  <a:srgbClr val="21295C"/>
                </a:solidFill>
                <a:latin typeface="Arial"/>
              </a:rPr>
              <a:t>45,5 из ста оставшихся ошибок идут от склонности доверять автомату, на всех уровнях стажа</a:t>
            </a:r>
            <a:r>
              <a:rPr sz="1450" b="0" i="0">
                <a:solidFill>
                  <a:srgbClr val="21295C"/>
                </a:solidFill>
                <a:latin typeface="Arial"/>
              </a:rPr>
              <a:t>.</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это держит.</a:t>
            </a:r>
            <a:r>
              <a:rPr sz="1450" b="0" i="0">
                <a:solidFill>
                  <a:srgbClr val="21295C"/>
                </a:solidFill>
                <a:latin typeface="Arial"/>
              </a:rPr>
              <a:t> Подпись: юридический акт физического лица, и права подписи у модели нет. Двойное чтение и арбитраж там, где второго читателя не заменили. Разбор случая после исхода и правка порядка по его итогам.</a:t>
            </a:r>
          </a:p>
          <a:p>
            <a:pPr algn="l">
              <a:lnSpc>
                <a:spcPct val="126000"/>
              </a:lnSpc>
              <a:spcBef>
                <a:spcPts val="700"/>
              </a:spcBef>
            </a:pPr>
            <a:r>
              <a:rPr sz="1450" b="0" i="0">
                <a:solidFill>
                  <a:srgbClr val="21295C"/>
                </a:solidFill>
                <a:latin typeface="Arial"/>
              </a:rPr>
              <a:t/>
            </a:r>
            <a:r>
              <a:rPr sz="1450" b="1" i="0">
                <a:solidFill>
                  <a:srgbClr val="21295C"/>
                </a:solidFill>
                <a:latin typeface="Arial"/>
              </a:rPr>
              <a:t>В прошлой лекции требований к ИИ внутри промышленных изделий не было. В медицине они есть — с документами, сроками и измеримым исполнением.</a:t>
            </a:r>
          </a:p>
          <a:p>
            <a:pPr algn="l">
              <a:lnSpc>
                <a:spcPct val="126000"/>
              </a:lnSpc>
              <a:spcBef>
                <a:spcPts val="700"/>
              </a:spcBef>
            </a:pPr>
            <a:r>
              <a:rPr sz="1450" b="0" i="0">
                <a:solidFill>
                  <a:srgbClr val="21295C"/>
                </a:solidFill>
                <a:latin typeface="Arial"/>
              </a:rPr>
              <a:t/>
            </a:r>
            <a:r>
              <a:rPr sz="1450" b="1" i="0">
                <a:solidFill>
                  <a:srgbClr val="21295C"/>
                </a:solidFill>
                <a:latin typeface="Arial"/>
              </a:rPr>
              <a:t>Карта: ни одной новой клетки — процедура не инструмент, и места в сетке «задача × данные» у неё нет.</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48518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1164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ЦИКЛ «СПРОЕКТИРУЙ — СИНТЕЗИРУЙ — ПРОВЕРЬ»</a:t>
            </a:r>
          </a:p>
        </p:txBody>
      </p:sp>
      <p:sp>
        <p:nvSpPr>
          <p:cNvPr id="6" name="TextBox 5"/>
          <p:cNvSpPr txBox="1"/>
          <p:nvPr/>
        </p:nvSpPr>
        <p:spPr>
          <a:xfrm>
            <a:off x="640080" y="193284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недель до месяцев</a:t>
            </a:r>
          </a:p>
        </p:txBody>
      </p:sp>
      <p:sp>
        <p:nvSpPr>
          <p:cNvPr id="7" name="TextBox 6"/>
          <p:cNvSpPr txBox="1"/>
          <p:nvPr/>
        </p:nvSpPr>
        <p:spPr>
          <a:xfrm>
            <a:off x="640080" y="2750268"/>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порядка, замера нет; разброс между программами большой</a:t>
            </a:r>
          </a:p>
        </p:txBody>
      </p:sp>
      <p:sp>
        <p:nvSpPr>
          <p:cNvPr id="8" name="Rounded Rectangle 7"/>
          <p:cNvSpPr/>
          <p:nvPr/>
        </p:nvSpPr>
        <p:spPr>
          <a:xfrm>
            <a:off x="4056735" y="1335024"/>
            <a:ext cx="3389223"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ЦИКЛОВ ДО ГОДНОЙ МОЛЕКУЛЫ</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десятки и сотни</a:t>
            </a:r>
          </a:p>
        </p:txBody>
      </p:sp>
      <p:sp>
        <p:nvSpPr>
          <p:cNvPr id="11" name="TextBox 10"/>
          <p:cNvSpPr txBox="1"/>
          <p:nvPr/>
        </p:nvSpPr>
        <p:spPr>
          <a:xfrm>
            <a:off x="4193895" y="2152374"/>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из согласующихся обзоров</a:t>
            </a:r>
          </a:p>
        </p:txBody>
      </p:sp>
      <p:sp>
        <p:nvSpPr>
          <p:cNvPr id="12" name="Rounded Rectangle 11"/>
          <p:cNvSpPr/>
          <p:nvPr/>
        </p:nvSpPr>
        <p:spPr>
          <a:xfrm>
            <a:off x="374904" y="3401355"/>
            <a:ext cx="7199071"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2795"/>
            <a:ext cx="6869887" cy="274341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200" b="0" i="0">
                <a:solidFill>
                  <a:srgbClr val="21295C"/>
                </a:solidFill>
                <a:latin typeface="Arial"/>
              </a:rPr>
              <a:t/>
            </a:r>
            <a:r>
              <a:rPr sz="12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200" b="0" i="0">
                <a:solidFill>
                  <a:srgbClr val="21295C"/>
                </a:solidFill>
                <a:latin typeface="Arial"/>
              </a:rPr>
              <a:t/>
            </a:r>
            <a:r>
              <a:rPr sz="1200" b="0" i="0">
                <a:solidFill>
                  <a:srgbClr val="21295C"/>
                </a:solidFill>
                <a:latin typeface="Arial"/>
              </a:rPr>
              <a:t>Ещё через год координатор сидит с одним здоровым добровольцем и часами пишет наблюдения в карту первой фазы.</a:t>
            </a:r>
          </a:p>
          <a:p>
            <a:pPr algn="l">
              <a:lnSpc>
                <a:spcPct val="126000"/>
              </a:lnSpc>
              <a:spcBef>
                <a:spcPts val="700"/>
              </a:spcBef>
            </a:pPr>
            <a:r>
              <a:rPr sz="1200" b="0" i="0">
                <a:solidFill>
                  <a:srgbClr val="21295C"/>
                </a:solidFill>
                <a:latin typeface="Arial"/>
              </a:rPr>
              <a:t/>
            </a:r>
            <a:r>
              <a:rPr sz="1200" b="1" i="0">
                <a:solidFill>
                  <a:srgbClr val="21295C"/>
                </a:solidFill>
                <a:latin typeface="Arial"/>
              </a:rPr>
              <a:t>Три человека, три места, одно вещество.</a:t>
            </a:r>
          </a:p>
          <a:p>
            <a:pPr algn="l">
              <a:lnSpc>
                <a:spcPct val="126000"/>
              </a:lnSpc>
              <a:spcBef>
                <a:spcPts val="700"/>
              </a:spcBef>
            </a:pPr>
            <a:r>
              <a:rPr sz="1200" b="0" i="0">
                <a:solidFill>
                  <a:srgbClr val="21295C"/>
                </a:solidFill>
                <a:latin typeface="Arial"/>
              </a:rPr>
              <a:t/>
            </a:r>
            <a:r>
              <a:rPr sz="12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200" b="0" i="0">
                <a:solidFill>
                  <a:srgbClr val="21295C"/>
                </a:solidFill>
                <a:latin typeface="Arial"/>
              </a:rPr>
              <a:t/>
            </a:r>
            <a:r>
              <a:rPr sz="1200" b="0" i="0">
                <a:solidFill>
                  <a:srgbClr val="21295C"/>
                </a:solidFill>
                <a:latin typeface="Arial"/>
              </a:rPr>
              <a:t>• длина шага от вычислений не зависит: её задают физиология, протокол и расписание центра</a:t>
            </a:r>
          </a:p>
          <a:p>
            <a:pPr algn="l">
              <a:lnSpc>
                <a:spcPct val="126000"/>
              </a:lnSpc>
              <a:spcBef>
                <a:spcPts val="700"/>
              </a:spcBef>
            </a:pPr>
            <a:r>
              <a:rPr sz="950" b="0" i="0">
                <a:solidFill>
                  <a:srgbClr val="21295C"/>
                </a:solidFill>
                <a:latin typeface="Arial"/>
              </a:rPr>
              <a:t/>
            </a:r>
            <a:r>
              <a:rPr sz="950" b="0" i="1">
                <a:solidFill>
                  <a:srgbClr val="1C7293"/>
                </a:solidFill>
                <a:latin typeface="Arial"/>
              </a:rPr>
              <a:t>Вторая сцена: проверка клетки вивария</a:t>
            </a:r>
          </a:p>
        </p:txBody>
      </p:sp>
      <p:sp>
        <p:nvSpPr>
          <p:cNvPr id="14" name="Rounded Rectangle 1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5" name="Picture 1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разработки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Мишень и молекула — биологи, химики</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Доклиника — культуры и животные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Фазы I–III — клиницисты, пациенты</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 — регуляторные специалисты</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Восемь действий стадии.</a:t>
            </a:r>
            <a:r>
              <a:rPr sz="125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250" b="0" i="0">
                <a:solidFill>
                  <a:srgbClr val="21295C"/>
                </a:solidFill>
                <a:latin typeface="Arial"/>
              </a:rPr>
              <a:t/>
            </a:r>
            <a:r>
              <a:rPr sz="1250" b="1" i="0">
                <a:solidFill>
                  <a:srgbClr val="21295C"/>
                </a:solidFill>
                <a:latin typeface="Arial"/>
              </a:rPr>
              <a:t>С обученной моделью — два шага из восьми:</a:t>
            </a:r>
            <a:r>
              <a:rPr sz="1250" b="0" i="0">
                <a:solidFill>
                  <a:srgbClr val="21295C"/>
                </a:solidFill>
                <a:latin typeface="Arial"/>
              </a:rPr>
              <a:t> подбор молекулы (2) и реже выбор мишени (1). </a:t>
            </a:r>
            <a:r>
              <a:rPr sz="1250" b="1" i="0">
                <a:solidFill>
                  <a:srgbClr val="21295C"/>
                </a:solidFill>
                <a:latin typeface="Arial"/>
              </a:rPr>
              <a:t>Новый шаг — сверить предсказание с опытом.</a:t>
            </a:r>
            <a:r>
              <a:rPr sz="1250" b="0" i="0">
                <a:solidFill>
                  <a:srgbClr val="21295C"/>
                </a:solidFill>
                <a:latin typeface="Arial"/>
              </a:rPr>
              <a:t> Четыре работы задачи для модели не содержат вовсе: переносимость у людей · набор пациентов · длительность наблюдения · производство клинической партии.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дроби, и различать их придётся весь раздел:</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«перешли»</a:t>
            </a:r>
            <a:r>
              <a:rPr sz="1250" b="0" i="0">
                <a:solidFill>
                  <a:srgbClr val="21295C"/>
                </a:solidFill>
                <a:latin typeface="Arial"/>
              </a:rPr>
              <a:t> — считают среди тех, кто фазу прошёл до конца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«завершили»</a:t>
            </a:r>
            <a:r>
              <a:rPr sz="125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20" name="Rectangle 19"/>
          <p:cNvSpPr/>
          <p:nvPr/>
        </p:nvSpPr>
        <p:spPr>
          <a:xfrm>
            <a:off x="6091275" y="2478765"/>
            <a:ext cx="9144" cy="364351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16631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терапии не будет</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СЧЁТ У ОБОИХ РЕЖИМОВ ОДИН</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 28,9 · 7,9</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двух режимов числом не предъявлено</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9" name="Rectangle 18"/>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попаданий: с методом и без</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ПЕРЕБОР — ПОПАДАНИЯ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БИБЛИОТЕКА СОЕДИНЕНИЙ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803461"/>
            <a:ext cx="11441887" cy="2026325"/>
          </a:xfrm>
          <a:prstGeom prst="roundRect">
            <a:avLst>
              <a:gd name="adj" fmla="val 150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5" name="Rectangle 14"/>
          <p:cNvSpPr/>
          <p:nvPr/>
        </p:nvSpPr>
        <p:spPr>
          <a:xfrm>
            <a:off x="6091275" y="2894901"/>
            <a:ext cx="9144" cy="17520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ПЕРЕБОР ГИПОТЕЗ ПО ГРАФУ СВЯЗЕЙ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недель и месяцев обзора литературы; подтверждение дала другая рука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РАСЧЁТНАЯ ОЦЕНКА СВЯЗЫВАНИЯ</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13 000 соединений под известную мишень</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цикл прогоняет от одного до трёх миллионов</a:t>
            </a:r>
          </a:p>
        </p:txBody>
      </p:sp>
      <p:sp>
        <p:nvSpPr>
          <p:cNvPr id="12" name="Rounded Rectangle 11"/>
          <p:cNvSpPr/>
          <p:nvPr/>
        </p:nvSpPr>
        <p:spPr>
          <a:xfrm>
            <a:off x="8069884"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ГОТОВОГО АКТИВА ПРИ ЭТОМ НЕ УПАЛА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млрд долларов авансом</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до 2 млрд выплат по достижениям</a:t>
            </a:r>
          </a:p>
        </p:txBody>
      </p:sp>
      <p:sp>
        <p:nvSpPr>
          <p:cNvPr id="16" name="Rounded Rectangle 15"/>
          <p:cNvSpPr/>
          <p:nvPr/>
        </p:nvSpPr>
        <p:spPr>
          <a:xfrm>
            <a:off x="374904" y="3190112"/>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Цена результата осталась.</a:t>
            </a:r>
          </a:p>
        </p:txBody>
      </p:sp>
      <p:sp>
        <p:nvSpPr>
          <p:cNvPr id="19" name="Rectangle 18"/>
          <p:cNvSpPr/>
          <p:nvPr/>
        </p:nvSpPr>
        <p:spPr>
          <a:xfrm>
            <a:off x="6091275" y="3281552"/>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200" b="0" i="1">
                <a:solidFill>
                  <a:srgbClr val="1C7293"/>
                </a:solidFill>
                <a:latin typeface="Arial"/>
              </a:rPr>
              <a:t> · </a:t>
            </a:r>
            <a:r>
              <a:rPr sz="12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ДОКЛИНИКА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ОТРАСЛЕВАЯ НОРМА ДЛЯ ЭТОГО КЛАССА МИШЕНЕЙ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80346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5" name="Rectangle 14"/>
          <p:cNvSpPr/>
          <p:nvPr/>
        </p:nvSpPr>
        <p:spPr>
          <a:xfrm>
            <a:off x="6091275" y="2894901"/>
            <a:ext cx="9144" cy="1960166"/>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молекулу сняли на первой фазе</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ВОШЛА В КЛИНИКУ</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СНЯТА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ПЕРЕХОД ФАЗЫ I</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301470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доклинический этап меньше года вместо нескольких лет · </a:t>
            </a:r>
            <a:r>
              <a:rPr sz="1500" b="1" i="0">
                <a:solidFill>
                  <a:srgbClr val="21295C"/>
                </a:solidFill>
                <a:latin typeface="Arial"/>
              </a:rPr>
              <a:t>потребовало</a:t>
            </a:r>
            <a:r>
              <a:rPr sz="1500" b="0" i="0">
                <a:solidFill>
                  <a:srgbClr val="21295C"/>
                </a:solidFill>
                <a:latin typeface="Arial"/>
              </a:rPr>
              <a:t> той же первой фазы, той же длины, у тех же людей · </a:t>
            </a:r>
            <a:r>
              <a:rPr sz="1500" b="1" i="0">
                <a:solidFill>
                  <a:srgbClr val="21295C"/>
                </a:solidFill>
                <a:latin typeface="Arial"/>
              </a:rPr>
              <a:t>в сумме</a:t>
            </a:r>
            <a:r>
              <a:rPr sz="1500" b="0" i="0">
                <a:solidFill>
                  <a:srgbClr val="21295C"/>
                </a:solidFill>
                <a:latin typeface="Arial"/>
              </a:rPr>
              <a:t>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9" name="Rectangle 18"/>
          <p:cNvSpPr/>
          <p:nvPr/>
        </p:nvSpPr>
        <p:spPr>
          <a:xfrm>
            <a:off x="6091275" y="3106144"/>
            <a:ext cx="9144" cy="175244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пересказы снятия молекулы на первой фазе, 2022</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процентов</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посчитано на единицах, завершивших фазу к сроку среза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ОТРАСЛИ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вес двух сторон различается на три порядка</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У ТЕХ ЖЕ МОЛЕКУЛ</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80–90 против 52,0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замера говорят о заметном превосходстве над средними отрасли</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Jayatunga и соавт., Drug Discovery Today, 2024</a:t>
            </a:r>
            <a:r>
              <a:rPr sz="1200" b="0" i="1">
                <a:solidFill>
                  <a:srgbClr val="1C7293"/>
                </a:solidFill>
                <a:latin typeface="Arial"/>
              </a:rPr>
              <a:t> · </a:t>
            </a:r>
            <a:r>
              <a:rPr sz="1200" b="0" i="1" u="sng">
                <a:solidFill>
                  <a:srgbClr val="065A82"/>
                </a:solidFill>
                <a:latin typeface="Arial"/>
                <a:hlinkClick r:id="rId3"/>
              </a:rPr>
              <a:t>BIO / QLS / Informa, Clinical Development Success Rates 2011–2020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ОДОБРЕНИЙ РЕГУЛЯТОРА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ПЕРВЫЙ ЗАМЕР</a:t>
            </a:r>
          </a:p>
        </p:txBody>
      </p:sp>
      <p:sp>
        <p:nvSpPr>
          <p:cNvPr id="9" name="TextBox 8"/>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вошли в клинику с 2015 года, 67 в процессе</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ВТОРОЙ ЗАМЕР</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 источник называет 117 верхней границей</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ЗАВЕРШИЛИ ФАЗУ II — ДОЛЯ ЗАВЕРШИВШИХ, НЕ ПЕРЕХОД</a:t>
            </a:r>
          </a:p>
        </p:txBody>
      </p:sp>
      <p:sp>
        <p:nvSpPr>
          <p:cNvPr id="17" name="TextBox 16"/>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 активов из 117</a:t>
            </a:r>
          </a:p>
        </p:txBody>
      </p:sp>
      <p:sp>
        <p:nvSpPr>
          <p:cNvPr id="18" name="TextBox 17"/>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6,8 процента, срез 1 декабря 2025; с 28,9 процента перехода не складывается</a:t>
            </a:r>
          </a:p>
        </p:txBody>
      </p:sp>
      <p:sp>
        <p:nvSpPr>
          <p:cNvPr id="19" name="Rounded Rectangle 18"/>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 — на масштабе всей отрасли.</a:t>
            </a:r>
            <a:r>
              <a:rPr sz="1500" b="0" i="0">
                <a:solidFill>
                  <a:srgbClr val="21295C"/>
                </a:solidFill>
                <a:latin typeface="Arial"/>
              </a:rPr>
              <a:t> Ранний шаг подешевел, и весь объём работы оказался в клинических фазах, которые не подешевели.</a:t>
            </a:r>
          </a:p>
        </p:txBody>
      </p:sp>
      <p:sp>
        <p:nvSpPr>
          <p:cNvPr id="21" name="TextBox 20"/>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«больше двухсот молекул в клинике» в этом разделе не произносится: оба реальных замера дают </a:t>
            </a:r>
            <a:r>
              <a:rPr sz="1500" b="1" i="0">
                <a:solidFill>
                  <a:srgbClr val="21295C"/>
                </a:solidFill>
                <a:latin typeface="Arial"/>
              </a:rPr>
              <a:t>75</a:t>
            </a:r>
            <a:r>
              <a:rPr sz="1500" b="0" i="0">
                <a:solidFill>
                  <a:srgbClr val="21295C"/>
                </a:solidFill>
                <a:latin typeface="Arial"/>
              </a:rPr>
              <a:t> и </a:t>
            </a:r>
            <a:r>
              <a:rPr sz="1500" b="1" i="0">
                <a:solidFill>
                  <a:srgbClr val="21295C"/>
                </a:solidFill>
                <a:latin typeface="Arial"/>
              </a:rPr>
              <a:t>117</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одной строкой: одна молекула — третья фаза начата; медиана от основания компании до первого человека — </a:t>
            </a:r>
            <a:r>
              <a:rPr sz="1500" b="1" i="0">
                <a:solidFill>
                  <a:srgbClr val="21295C"/>
                </a:solidFill>
                <a:latin typeface="Arial"/>
              </a:rPr>
              <a:t>шесть с половиной лет</a:t>
            </a:r>
          </a:p>
        </p:txBody>
      </p:sp>
      <p:sp>
        <p:nvSpPr>
          <p:cNvPr id="22" name="Rectangle 21"/>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7" name="TextBox 16"/>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a:t>
            </a:r>
          </a:p>
        </p:txBody>
      </p:sp>
      <p:sp>
        <p:nvSpPr>
          <p:cNvPr id="19" name="Rounded Rectangle 18"/>
          <p:cNvSpPr/>
          <p:nvPr/>
        </p:nvSpPr>
        <p:spPr>
          <a:xfrm>
            <a:off x="374904" y="342964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p:txBody>
      </p:sp>
      <p:sp>
        <p:nvSpPr>
          <p:cNvPr id="21" name="TextBox 20"/>
          <p:cNvSpPr txBox="1"/>
          <p:nvPr/>
        </p:nvSpPr>
        <p:spPr>
          <a:xfrm>
            <a:off x="6278727"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2" name="Rectangle 21"/>
          <p:cNvSpPr/>
          <p:nvPr/>
        </p:nvSpPr>
        <p:spPr>
          <a:xfrm>
            <a:off x="6091275" y="3521087"/>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ВОЛНЫ СОКРАЩЕНИЙ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БИЗНЕСА</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15" name="Right Arrow 14"/>
          <p:cNvSpPr/>
          <p:nvPr/>
        </p:nvSpPr>
        <p:spPr>
          <a:xfrm>
            <a:off x="4202353"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18" name="Right Arrow 17"/>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1" name="Right Arrow 20"/>
          <p:cNvSpPr/>
          <p:nvPr/>
        </p:nvSpPr>
        <p:spPr>
          <a:xfrm>
            <a:off x="9223781" y="390333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24" name="TextBox 23"/>
          <p:cNvSpPr txBox="1"/>
          <p:nvPr/>
        </p:nvSpPr>
        <p:spPr>
          <a:xfrm>
            <a:off x="502920" y="44838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25" name="Rounded Rectangle 24"/>
          <p:cNvSpPr/>
          <p:nvPr/>
        </p:nvSpPr>
        <p:spPr>
          <a:xfrm>
            <a:off x="374904" y="4786518"/>
            <a:ext cx="11441887" cy="1449689"/>
          </a:xfrm>
          <a:prstGeom prst="roundRect">
            <a:avLst>
              <a:gd name="adj" fmla="val 2102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77958"/>
            <a:ext cx="11112703" cy="13582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РЕНТГЕНОВСКАЯ КРИСТАЛЛОГРАФИЯ</a:t>
            </a:r>
          </a:p>
        </p:txBody>
      </p:sp>
      <p:sp>
        <p:nvSpPr>
          <p:cNvPr id="6" name="TextBox 5"/>
          <p:cNvSpPr txBox="1"/>
          <p:nvPr/>
        </p:nvSpPr>
        <p:spPr>
          <a:xfrm>
            <a:off x="640080" y="1725375"/>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42797"/>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КРИОЭЛЕКТРОННАЯ МИКРОСКОПИЯ</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42797"/>
            <a:ext cx="31149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616371"/>
            <a:ext cx="11441887" cy="2560380"/>
          </a:xfrm>
          <a:prstGeom prst="roundRect">
            <a:avLst>
              <a:gd name="adj" fmla="val 1190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707811"/>
            <a:ext cx="11112703" cy="2528396"/>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Две линии по данным депозитария, 2020 → 2024. </a:t>
            </a:r>
            <a:r>
              <a:rPr sz="1300" b="1" i="0">
                <a:solidFill>
                  <a:srgbClr val="21295C"/>
                </a:solidFill>
                <a:latin typeface="Arial"/>
              </a:rPr>
              <a:t>Объём экспериментальных депозиций не упал.</a:t>
            </a:r>
          </a:p>
          <a:p>
            <a:pPr algn="l">
              <a:lnSpc>
                <a:spcPct val="126000"/>
              </a:lnSpc>
              <a:spcBef>
                <a:spcPts val="700"/>
              </a:spcBef>
            </a:pPr>
            <a:r>
              <a:rPr sz="1300" b="0" i="0">
                <a:solidFill>
                  <a:srgbClr val="21295C"/>
                </a:solidFill>
                <a:latin typeface="Arial"/>
              </a:rPr>
              <a:t/>
            </a:r>
            <a:r>
              <a:rPr sz="1300" b="1" i="0">
                <a:solidFill>
                  <a:srgbClr val="21295C"/>
                </a:solidFill>
                <a:latin typeface="Arial"/>
              </a:rPr>
              <a:t>Ожидаемая форма «шаг исчез» числами не подтверждается.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050" b="0" i="0">
                <a:solidFill>
                  <a:srgbClr val="21295C"/>
                </a:solidFill>
                <a:latin typeface="Arial"/>
              </a:rPr>
              <a:t/>
            </a:r>
            <a:r>
              <a:rPr sz="1050" b="0" i="1">
                <a:solidFill>
                  <a:srgbClr val="1C7293"/>
                </a:solidFill>
                <a:latin typeface="Arial"/>
              </a:rPr>
              <a:t>«Шаг исчез» — так сказать нельзя. Честная формулировка: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200" b="0" i="1">
                <a:solidFill>
                  <a:srgbClr val="1C7293"/>
                </a:solidFill>
                <a:latin typeface="Arial"/>
              </a:rPr>
              <a:t> · </a:t>
            </a:r>
            <a:r>
              <a:rPr sz="12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Срезать объём физического перебора: расчётный отбор вместо миллионов опытных итераций. Сжать доклинику: заявлено меньше двенадцати месяцев вместо нескольких лет. Пройти первую фазу чаще базы: 80–90 из ста против 52,0.</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Пройти вторую фазу лучше базы: около 40 против 28,9 — сопоставимо, и лучшим его не называют сами авторы. Получить одобрение: за десять лет категории — ноль при 75 и 117 активах. Сократить четыре работы на людях: задачи для модели там нет ни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на масштабе одной молекулы и на масштабе отрасли. </a:t>
            </a:r>
            <a:r>
              <a:rPr sz="1500" b="1" i="0">
                <a:solidFill>
                  <a:srgbClr val="21295C"/>
                </a:solidFill>
                <a:latin typeface="Arial"/>
              </a:rPr>
              <a:t>Объём на том же месте упал</a:t>
            </a:r>
            <a:r>
              <a:rPr sz="1500" b="0" i="0">
                <a:solidFill>
                  <a:srgbClr val="21295C"/>
                </a:solidFill>
                <a:latin typeface="Arial"/>
              </a:rPr>
              <a:t> — тот же шаг, тот же исполнитель, меньше итераций. </a:t>
            </a:r>
            <a:r>
              <a:rPr sz="1500" b="1" i="0">
                <a:solidFill>
                  <a:srgbClr val="21295C"/>
                </a:solidFill>
                <a:latin typeface="Arial"/>
              </a:rPr>
              <a:t>Изменился порядок работ</a:t>
            </a:r>
            <a:r>
              <a:rPr sz="1500" b="0" i="0">
                <a:solidFill>
                  <a:srgbClr val="21295C"/>
                </a:solidFill>
                <a:latin typeface="Arial"/>
              </a:rPr>
              <a:t> — на масштабе модели бизнеса; процесса одного препарата это не касается.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Доклиника и три фазы на людях: их длину задают физиология и протокол. Воронка переходов 52,0 · 28,9 · 7,9 — база, с которой сравнивают улучшение. </a:t>
            </a:r>
            <a:r>
              <a:rPr sz="1500" b="1" i="0">
                <a:solidFill>
                  <a:srgbClr val="21295C"/>
                </a:solidFill>
                <a:latin typeface="Arial"/>
              </a:rPr>
              <a:t>Прочерк: ожидаемая форма «шаг исчез» числами депозитария не подтверждается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Инженеру: мерить пропускную способность шага, который вы не трогали. Карта: клетка раздела лежит вне окна — генерация структуры.</a:t>
            </a:r>
          </a:p>
        </p:txBody>
      </p:sp>
      <p:sp>
        <p:nvSpPr>
          <p:cNvPr id="6" name="Rectangle 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административная должность, долгая болезнь, отпуск по уходу за ребёнком.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 Первая процедура идёт иначе. Прибор продвигается медленнее, рука дольше ищет угол изгиба, складку, за которую надо заглянуть, врач проходит мимо. Процедура прошла без осложнений,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материал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 ·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TextBox 13"/>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медицине — не измерено</a:t>
            </a:r>
          </a:p>
        </p:txBody>
      </p:sp>
      <p:sp>
        <p:nvSpPr>
          <p:cNvPr id="15" name="Rounded Rectangle 14"/>
          <p:cNvSpPr/>
          <p:nvPr/>
        </p:nvSpPr>
        <p:spPr>
          <a:xfrm>
            <a:off x="1920240" y="325326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9898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обрыв доверия после одной ошибки</a:t>
            </a:r>
          </a:p>
        </p:txBody>
      </p:sp>
      <p:sp>
        <p:nvSpPr>
          <p:cNvPr id="17" name="Rounded Rectangle 16"/>
          <p:cNvSpPr/>
          <p:nvPr/>
        </p:nvSpPr>
        <p:spPr>
          <a:xfrm>
            <a:off x="6877659" y="325326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6959955" y="329898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доверие врача за месяцы работы</a:t>
            </a:r>
          </a:p>
        </p:txBody>
      </p:sp>
      <p:sp>
        <p:nvSpPr>
          <p:cNvPr id="19" name="TextBox 18"/>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Вне медицины — измерено</a:t>
            </a:r>
          </a:p>
        </p:txBody>
      </p:sp>
      <p:sp>
        <p:nvSpPr>
          <p:cNvPr id="20" name="Rounded Rectangle 19"/>
          <p:cNvSpPr/>
          <p:nvPr/>
        </p:nvSpPr>
        <p:spPr>
          <a:xfrm>
            <a:off x="1920240" y="3874957"/>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920677"/>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работать без помощника: от 30 до 50 из ста, опрос</a:t>
            </a:r>
          </a:p>
        </p:txBody>
      </p:sp>
      <p:sp>
        <p:nvSpPr>
          <p:cNvPr id="22" name="TextBox 21"/>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чего человек отказывается — видно; что он думает о доверии — нет</a:t>
            </a:r>
          </a:p>
        </p:txBody>
      </p:sp>
      <p:sp>
        <p:nvSpPr>
          <p:cNvPr id="23" name="Rounded Rectangle 22"/>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450" b="0" i="0">
                <a:solidFill>
                  <a:srgbClr val="21295C"/>
                </a:solidFill>
                <a:latin typeface="Arial"/>
              </a:rPr>
              <a:t/>
            </a:r>
            <a:r>
              <a:rPr sz="1450" b="0" i="0">
                <a:solidFill>
                  <a:srgbClr val="21295C"/>
                </a:solidFill>
                <a:latin typeface="Arial"/>
              </a:rPr>
              <a:t>• всё, что есть про доверие врача, снято в один сеанс</a:t>
            </a:r>
          </a:p>
        </p:txBody>
      </p:sp>
      <p:sp>
        <p:nvSpPr>
          <p:cNvPr id="25" name="TextBox 24"/>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150" b="0" i="0">
                <a:solidFill>
                  <a:srgbClr val="21295C"/>
                </a:solidFill>
                <a:latin typeface="Arial"/>
              </a:rPr>
              <a:t/>
            </a:r>
            <a:r>
              <a:rPr sz="115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26" name="Rectangle 25"/>
          <p:cNvSpPr/>
          <p:nvPr/>
        </p:nvSpPr>
        <p:spPr>
          <a:xfrm>
            <a:off x="6091275" y="4781050"/>
            <a:ext cx="9144" cy="1405871"/>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получается.</a:t>
            </a:r>
            <a:r>
              <a:rPr sz="1400" b="0" i="0">
                <a:solidFill>
                  <a:srgbClr val="21295C"/>
                </a:solidFill>
                <a:latin typeface="Arial"/>
              </a:rPr>
              <a:t> С включённым помощником находят больше: прирост измерен и повторён многократно. Считать показатели самого врача: долю обнаружения и время выведения. Снять объём рутинной перепроверки: человеческого чтения ниже на 44,3 процента.</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не получается.</a:t>
            </a:r>
            <a:r>
              <a:rPr sz="1400" b="0" i="0">
                <a:solidFill>
                  <a:srgbClr val="21295C"/>
                </a:solidFill>
                <a:latin typeface="Arial"/>
              </a:rPr>
              <a:t> Поддерживать навык: измерено обратное — 28,4 против 22,4 из ста без помощника. Дать врачу обратную связь о пропуске: внутри процедуры её нет. Измерить доверие за месяцы работы: таких измерений нет ни у кого.</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стало с работой.</a:t>
            </a:r>
            <a:r>
              <a:rPr sz="1400" b="0" i="0">
                <a:solidFill>
                  <a:srgbClr val="21295C"/>
                </a:solidFill>
                <a:latin typeface="Arial"/>
              </a:rPr>
              <a:t> </a:t>
            </a:r>
            <a:r>
              <a:rPr sz="1400" b="1" i="0">
                <a:solidFill>
                  <a:srgbClr val="21295C"/>
                </a:solidFill>
                <a:latin typeface="Arial"/>
              </a:rPr>
              <a:t>Исполнитель тот же, но стал хуже</a:t>
            </a:r>
            <a:r>
              <a:rPr sz="1400" b="0" i="0">
                <a:solidFill>
                  <a:srgbClr val="21295C"/>
                </a:solidFill>
                <a:latin typeface="Arial"/>
              </a:rPr>
              <a:t> — место, объём и рука прежние, изменилось состояние руки. </a:t>
            </a:r>
            <a:r>
              <a:rPr sz="1400" b="1" i="0">
                <a:solidFill>
                  <a:srgbClr val="21295C"/>
                </a:solidFill>
                <a:latin typeface="Arial"/>
              </a:rPr>
              <a:t>Появился шаг</a:t>
            </a:r>
            <a:r>
              <a:rPr sz="1400" b="0" i="0">
                <a:solidFill>
                  <a:srgbClr val="21295C"/>
                </a:solidFill>
                <a:latin typeface="Arial"/>
              </a:rPr>
              <a:t> — посредник, переводящий вывод модели на язык, которому поверит врач, и целевой арбитраж расхождения. Рутинная перепроверка каждого случая ушла, и структура защиты от ошибки сменилась целиком. Доверие выше у тех, кто работает с моделью руками: точечные оценки есть, </a:t>
            </a:r>
            <a:r>
              <a:rPr sz="1400" b="1" i="0">
                <a:solidFill>
                  <a:srgbClr val="21295C"/>
                </a:solidFill>
                <a:latin typeface="Arial"/>
              </a:rPr>
              <a:t>значимости нет</a:t>
            </a:r>
            <a:r>
              <a:rPr sz="1400" b="0" i="0">
                <a:solidFill>
                  <a:srgbClr val="21295C"/>
                </a:solidFill>
                <a:latin typeface="Arial"/>
              </a:rPr>
              <a:t>.</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это держит.</a:t>
            </a:r>
            <a:r>
              <a:rPr sz="1400" b="0" i="0">
                <a:solidFill>
                  <a:srgbClr val="21295C"/>
                </a:solidFill>
                <a:latin typeface="Arial"/>
              </a:rPr>
              <a:t> Доля обнаружения по каждому врачу отдельно, из обычной работы. Время выведения прибора с назначенной нижней границей, по таймеру. </a:t>
            </a:r>
            <a:r>
              <a:rPr sz="1400" b="1" i="0">
                <a:solidFill>
                  <a:srgbClr val="21295C"/>
                </a:solidFill>
                <a:latin typeface="Arial"/>
              </a:rPr>
              <a:t>Прочерк: врача без помощника не измеряет ни одна процедура ни в одной юрисдикции</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1" i="0">
                <a:solidFill>
                  <a:srgbClr val="21295C"/>
                </a:solidFill>
                <a:latin typeface="Arial"/>
              </a:rPr>
              <a:t>Повторения на реальной работе нет, и пробел назван числом: 22 отдельные попытки поиска.</a:t>
            </a:r>
            <a:r>
              <a:rPr sz="14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400" b="0" i="0">
                <a:solidFill>
                  <a:srgbClr val="21295C"/>
                </a:solidFill>
                <a:latin typeface="Arial"/>
              </a:rPr>
              <a:t/>
            </a:r>
            <a:r>
              <a:rPr sz="1400" b="1" i="0">
                <a:solidFill>
                  <a:srgbClr val="21295C"/>
                </a:solidFill>
                <a:latin typeface="Arial"/>
              </a:rPr>
              <a:t>Карта: клетка раздела лежит вне окна — распознавание на видео. Психология участия клетки не получает вовсе: режима там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89116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работа и сколько её: пять форм из девяти, и у одной из пяти ни одного случая</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ПОЯВИЛСЯ: ОБЪЁМ РАЗБОРА РАСХОЖДЕНИЙ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разброс между центрами — от 22 до 142 процентов</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ЧТЕНИЯ</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4,6 раза по медианам · в 2,75 по средним</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 против 2 мин 12 с; по медианам 25 с против 1 мин 55 с</a:t>
            </a:r>
          </a:p>
        </p:txBody>
      </p:sp>
      <p:sp>
        <p:nvSpPr>
          <p:cNvPr id="12" name="Rounded Rectangle 11"/>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 Нагрузка переехала на другой шаг</a:t>
            </a:r>
            <a:r>
              <a:rPr sz="1500" b="0" i="0">
                <a:solidFill>
                  <a:srgbClr val="21295C"/>
                </a:solidFill>
                <a:latin typeface="Arial"/>
              </a:rPr>
              <a:t> — воронка молекул ИИ-происхождения против базы отрасли: одобрений регулятора </a:t>
            </a:r>
            <a:r>
              <a:rPr sz="1500" b="1" i="0">
                <a:solidFill>
                  <a:srgbClr val="21295C"/>
                </a:solidFill>
                <a:latin typeface="Arial"/>
              </a:rPr>
              <a:t>ноль</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2. Шаг исчез совсем</a:t>
            </a:r>
            <a:r>
              <a:rPr sz="1500" b="0" i="0">
                <a:solidFill>
                  <a:srgbClr val="21295C"/>
                </a:solidFill>
                <a:latin typeface="Arial"/>
              </a:rPr>
              <a:t> — </a:t>
            </a:r>
            <a:r>
              <a:rPr sz="1500" b="0" i="1">
                <a:solidFill>
                  <a:srgbClr val="21295C"/>
                </a:solidFill>
                <a:latin typeface="Arial"/>
              </a:rPr>
              <a:t>ни одного подтверждённого случая за лекцию.</a:t>
            </a:r>
            <a:r>
              <a:rPr sz="150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3. Шаг появился</a:t>
            </a:r>
            <a:r>
              <a:rPr sz="150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p:txBody>
      </p:sp>
      <p:sp>
        <p:nvSpPr>
          <p:cNvPr id="14" name="TextBox 13"/>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4. Нагрузка выросла на том же месте</a:t>
            </a:r>
            <a:r>
              <a:rPr sz="150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4а. Нагрузка на том же месте упала</a:t>
            </a:r>
            <a:r>
              <a:rPr sz="150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Среднее по приросту арбитража идёт с разбросом: устройство нового шага само задаёт нагрузку. Кратность названа двумя счётами — по медианам и по средним она разная.</a:t>
            </a:r>
          </a:p>
        </p:txBody>
      </p:sp>
      <p:sp>
        <p:nvSpPr>
          <p:cNvPr id="15" name="Rectangle 14"/>
          <p:cNvSpPr/>
          <p:nvPr/>
        </p:nvSpPr>
        <p:spPr>
          <a:xfrm>
            <a:off x="6091275" y="3074081"/>
            <a:ext cx="9144" cy="31484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процедурах БЕЗ помощника, у тех же врачей</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ИСПОЛНИТЕЛЬ СМЕНИЛСЯ</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большем числе найденных раков; 80 033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СМЕСТИЛАСЬ ЦЕНА ОШИБКИ</a:t>
            </a:r>
          </a:p>
        </p:txBody>
      </p:sp>
      <p:sp>
        <p:nvSpPr>
          <p:cNvPr id="14" name="TextBox 13"/>
          <p:cNvSpPr txBox="1"/>
          <p:nvPr/>
        </p:nvSpPr>
        <p:spPr>
          <a:xfrm>
            <a:off x="8207044" y="1725375"/>
            <a:ext cx="3344570" cy="596748"/>
          </a:xfrm>
          <a:prstGeom prst="rect">
            <a:avLst/>
          </a:prstGeom>
          <a:noFill/>
        </p:spPr>
        <p:txBody>
          <a:bodyPr wrap="square" lIns="0" rIns="0" tIns="0" bIns="0" anchor="t">
            <a:spAutoFit/>
          </a:bodyPr>
          <a:lstStyle/>
          <a:p>
            <a:pPr algn="l">
              <a:lnSpc>
                <a:spcPct val="108000"/>
              </a:lnSpc>
            </a:pPr>
            <a:r>
              <a:rPr sz="1650" b="1" i="0">
                <a:solidFill>
                  <a:srgbClr val="F0AB00"/>
                </a:solidFill>
                <a:latin typeface="Arial"/>
              </a:rPr>
              <a:t>способность вмешаться проверена у 56 изделий из 717</a:t>
            </a:r>
          </a:p>
        </p:txBody>
      </p:sp>
      <p:sp>
        <p:nvSpPr>
          <p:cNvPr id="15" name="TextBox 14"/>
          <p:cNvSpPr txBox="1"/>
          <p:nvPr/>
        </p:nvSpPr>
        <p:spPr>
          <a:xfrm>
            <a:off x="8207044" y="232212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июнь 2024 года</a:t>
            </a:r>
          </a:p>
        </p:txBody>
      </p:sp>
      <p:sp>
        <p:nvSpPr>
          <p:cNvPr id="16" name="Rounded Rectangle 15"/>
          <p:cNvSpPr/>
          <p:nvPr/>
        </p:nvSpPr>
        <p:spPr>
          <a:xfrm>
            <a:off x="374904" y="3401355"/>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5. Исполнитель сменился</a:t>
            </a:r>
            <a:r>
              <a:rPr sz="130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6. Изменился порядок работ.</a:t>
            </a:r>
            <a:r>
              <a:rPr sz="1300" b="0" i="0">
                <a:solidFill>
                  <a:srgbClr val="21295C"/>
                </a:solidFill>
                <a:latin typeface="Arial"/>
              </a:rPr>
              <a:t> </a:t>
            </a:r>
            <a:r>
              <a:rPr sz="130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7. Сместилась цена ошибки</a:t>
            </a:r>
            <a:r>
              <a:rPr sz="1300" b="0" i="0">
                <a:solidFill>
                  <a:srgbClr val="21295C"/>
                </a:solidFill>
                <a:latin typeface="Arial"/>
              </a:rPr>
              <a:t> — разрыв между нормой и проверкой.</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8. Исполнитель тот же, но стал хуже</a:t>
            </a:r>
            <a:r>
              <a:rPr sz="130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300" b="0" i="0">
                <a:solidFill>
                  <a:srgbClr val="21295C"/>
                </a:solidFill>
                <a:latin typeface="Arial"/>
              </a:rPr>
              <a:t/>
            </a:r>
            <a:r>
              <a:rPr sz="1300" b="0" i="0">
                <a:solidFill>
                  <a:srgbClr val="21295C"/>
                </a:solidFill>
                <a:latin typeface="Arial"/>
              </a:rPr>
              <a:t>Чем восьмая форма отличается от двух соседних: в пятой сменилась </a:t>
            </a:r>
            <a:r>
              <a:rPr sz="1300" b="1" i="0">
                <a:solidFill>
                  <a:srgbClr val="21295C"/>
                </a:solidFill>
                <a:latin typeface="Arial"/>
              </a:rPr>
              <a:t>рука</a:t>
            </a:r>
            <a:r>
              <a:rPr sz="1300" b="0" i="0">
                <a:solidFill>
                  <a:srgbClr val="21295C"/>
                </a:solidFill>
                <a:latin typeface="Arial"/>
              </a:rPr>
              <a:t> — здесь рука та же, и на этом стоит измерение. В форме 4а упал </a:t>
            </a:r>
            <a:r>
              <a:rPr sz="1300" b="1" i="0">
                <a:solidFill>
                  <a:srgbClr val="21295C"/>
                </a:solidFill>
                <a:latin typeface="Arial"/>
              </a:rPr>
              <a:t>объём</a:t>
            </a:r>
            <a:r>
              <a:rPr sz="1300" b="0" i="0">
                <a:solidFill>
                  <a:srgbClr val="21295C"/>
                </a:solidFill>
                <a:latin typeface="Arial"/>
              </a:rPr>
              <a:t> — здесь объём тот же, упала </a:t>
            </a:r>
            <a:r>
              <a:rPr sz="1300" b="1" i="0">
                <a:solidFill>
                  <a:srgbClr val="21295C"/>
                </a:solidFill>
                <a:latin typeface="Arial"/>
              </a:rPr>
              <a:t>доля находок</a:t>
            </a:r>
            <a:r>
              <a:rPr sz="1300" b="0" i="0">
                <a:solidFill>
                  <a:srgbClr val="21295C"/>
                </a:solidFill>
                <a:latin typeface="Arial"/>
              </a:rPr>
              <a:t>.</a:t>
            </a:r>
          </a:p>
          <a:p>
            <a:pPr algn="l">
              <a:lnSpc>
                <a:spcPct val="126000"/>
              </a:lnSpc>
              <a:spcBef>
                <a:spcPts val="700"/>
              </a:spcBef>
            </a:pPr>
            <a:r>
              <a:rPr sz="1050" b="0" i="0">
                <a:solidFill>
                  <a:srgbClr val="21295C"/>
                </a:solidFill>
                <a:latin typeface="Arial"/>
              </a:rPr>
              <a:t/>
            </a:r>
            <a:r>
              <a:rPr sz="1050" b="0" i="1">
                <a:solidFill>
                  <a:srgbClr val="1C7293"/>
                </a:solidFill>
                <a:latin typeface="Arial"/>
              </a:rPr>
              <a:t>Измерен только этот знак, и измерение под новой формой одно, не воспроизведённое.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Какая из этих форм встречалась у вас на работе? Напишите в чат номер — один.</a:t>
            </a:r>
          </a:p>
        </p:txBody>
      </p:sp>
      <p:sp>
        <p:nvSpPr>
          <p:cNvPr id="19" name="Rectangle 18"/>
          <p:cNvSpPr/>
          <p:nvPr/>
        </p:nvSpPr>
        <p:spPr>
          <a:xfrm>
            <a:off x="6091275" y="3492795"/>
            <a:ext cx="9144" cy="248475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ПОДТВЕРЖДЁННЫХ СЛУЧАЕВ ЗА ЛЕКЦИЮ</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строки условны — их адрес лежит за другим разделом</a:t>
            </a:r>
          </a:p>
        </p:txBody>
      </p:sp>
      <p:sp>
        <p:nvSpPr>
          <p:cNvPr id="8" name="Rounded Rectangle 7"/>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Копаешь — а там вообще нет модели.</a:t>
            </a:r>
            <a:r>
              <a:rPr sz="12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50" b="0" i="0">
                <a:solidFill>
                  <a:srgbClr val="21295C"/>
                </a:solidFill>
                <a:latin typeface="Arial"/>
              </a:rPr>
              <a:t/>
            </a:r>
            <a:r>
              <a:rPr sz="1250" b="1" i="0">
                <a:solidFill>
                  <a:srgbClr val="21295C"/>
                </a:solidFill>
                <a:latin typeface="Arial"/>
              </a:rPr>
              <a:t>Копаешь — а выигрыш не там, где показывают.</a:t>
            </a:r>
            <a:r>
              <a:rPr sz="12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известную мишень. «Миллионы обработанных исследований» — объёму: знаменателя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Копаешь — а числа выросли при пересказе.</a:t>
            </a:r>
            <a:r>
              <a:rPr sz="12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50" b="0" i="0">
                <a:solidFill>
                  <a:srgbClr val="21295C"/>
                </a:solidFill>
                <a:latin typeface="Arial"/>
              </a:rPr>
              <a:t/>
            </a:r>
            <a:r>
              <a:rPr sz="1250" b="1" i="0">
                <a:solidFill>
                  <a:srgbClr val="21295C"/>
                </a:solidFill>
                <a:latin typeface="Arial"/>
              </a:rPr>
              <a:t>На экране по три строки из каждой графы — девять из пятнадцати; подтверждённых двенадцать.</a:t>
            </a:r>
          </a:p>
          <a:p>
            <a:pPr algn="l">
              <a:lnSpc>
                <a:spcPct val="126000"/>
              </a:lnSpc>
              <a:spcBef>
                <a:spcPts val="700"/>
              </a:spcBef>
            </a:pPr>
            <a:r>
              <a:rPr sz="1250" b="0" i="0">
                <a:solidFill>
                  <a:srgbClr val="21295C"/>
                </a:solidFill>
                <a:latin typeface="Arial"/>
              </a:rPr>
              <a:t/>
            </a:r>
            <a:r>
              <a:rPr sz="1250" b="0" i="0">
                <a:solidFill>
                  <a:srgbClr val="21295C"/>
                </a:solidFill>
                <a:latin typeface="Arial"/>
              </a:rPr>
              <a:t>Приёмы, по одному на графу: </a:t>
            </a:r>
            <a:r>
              <a:rPr sz="1250" b="1" i="0">
                <a:solidFill>
                  <a:srgbClr val="21295C"/>
                </a:solidFill>
                <a:latin typeface="Arial"/>
              </a:rPr>
              <a:t>убери модель</a:t>
            </a:r>
            <a:r>
              <a:rPr sz="1250" b="0" i="0">
                <a:solidFill>
                  <a:srgbClr val="21295C"/>
                </a:solidFill>
                <a:latin typeface="Arial"/>
              </a:rPr>
              <a:t> · </a:t>
            </a:r>
            <a:r>
              <a:rPr sz="1250" b="1" i="0">
                <a:solidFill>
                  <a:srgbClr val="21295C"/>
                </a:solidFill>
                <a:latin typeface="Arial"/>
              </a:rPr>
              <a:t>спроси, от чего посчитан эффект</a:t>
            </a:r>
            <a:r>
              <a:rPr sz="1250" b="0" i="0">
                <a:solidFill>
                  <a:srgbClr val="21295C"/>
                </a:solidFill>
                <a:latin typeface="Arial"/>
              </a:rPr>
              <a:t> · </a:t>
            </a:r>
            <a:r>
              <a:rPr sz="1250" b="1" i="0">
                <a:solidFill>
                  <a:srgbClr val="21295C"/>
                </a:solidFill>
                <a:latin typeface="Arial"/>
              </a:rPr>
              <a:t>открой первоисточник и сверь выборку, дизайн и журнал</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0" i="0">
                <a:solidFill>
                  <a:srgbClr val="21295C"/>
                </a:solidFill>
                <a:latin typeface="Arial"/>
              </a:rPr>
              <a:t>И четвёртая проверка, общая: </a:t>
            </a:r>
            <a:r>
              <a:rPr sz="1250" b="1" i="0">
                <a:solidFill>
                  <a:srgbClr val="21295C"/>
                </a:solidFill>
                <a:latin typeface="Arial"/>
              </a:rPr>
              <a:t>на точности, посчитанной на корпусе, нельзя утверждать вред пациенту; на заявлении поставщика нельзя утверждать ничего.</a:t>
            </a:r>
          </a:p>
          <a:p>
            <a:pPr algn="l">
              <a:lnSpc>
                <a:spcPct val="126000"/>
              </a:lnSpc>
              <a:spcBef>
                <a:spcPts val="700"/>
              </a:spcBef>
            </a:pPr>
            <a:r>
              <a:rPr sz="1000" b="0" i="0">
                <a:solidFill>
                  <a:srgbClr val="21295C"/>
                </a:solidFill>
                <a:latin typeface="Arial"/>
              </a:rPr>
              <a:t/>
            </a:r>
            <a:r>
              <a:rPr sz="1000" b="0" i="1">
                <a:solidFill>
                  <a:srgbClr val="1C7293"/>
                </a:solidFill>
                <a:latin typeface="Arial"/>
              </a:rPr>
              <a:t>Разборы, где выигрыш принадлежит именно модели, в этой лекции тоже есть,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06732"/>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Чем позже в процедуре проверка, тем дольше живёт ошибка: изображение — внутри смены, структура — во второй фазе испытаний, через годы.</a:t>
            </a:r>
          </a:p>
        </p:txBody>
      </p:sp>
      <p:sp>
        <p:nvSpPr>
          <p:cNvPr id="48" name="TextBox 47"/>
          <p:cNvSpPr txBox="1"/>
          <p:nvPr/>
        </p:nvSpPr>
        <p:spPr>
          <a:xfrm>
            <a:off x="539496" y="5705009"/>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Процедуры, которая это измеряет, не существует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Четыре адреса платежа, названные в начале, возвращаются здесь: внимание и навык — поведением, арбитраж — процессом, подпись — своей строкой. Под каждым стоит измерение с названной силой.</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Поведение — внимание и навык.</a:t>
            </a:r>
            <a:r>
              <a:rPr sz="1450" b="0" i="0">
                <a:solidFill>
                  <a:srgbClr val="21295C"/>
                </a:solidFill>
                <a:latin typeface="Arial"/>
              </a:rPr>
              <a:t> Зрительный поиск сужается при неверной подсказке — </a:t>
            </a:r>
            <a:r>
              <a:rPr sz="1450" b="0" i="1">
                <a:solidFill>
                  <a:srgbClr val="21295C"/>
                </a:solidFill>
                <a:latin typeface="Arial"/>
              </a:rPr>
              <a:t>чтение с замером взгляда</a:t>
            </a:r>
            <a:r>
              <a:rPr sz="1450" b="0" i="0">
                <a:solidFill>
                  <a:srgbClr val="21295C"/>
                </a:solidFill>
                <a:latin typeface="Arial"/>
              </a:rPr>
              <a:t>. Верное решение меняется на неверное под влиянием совета — </a:t>
            </a:r>
            <a:r>
              <a:rPr sz="1450" b="0" i="1">
                <a:solidFill>
                  <a:srgbClr val="21295C"/>
                </a:solidFill>
                <a:latin typeface="Arial"/>
              </a:rPr>
              <a:t>систематический обзор</a:t>
            </a:r>
            <a:r>
              <a:rPr sz="1450" b="0" i="0">
                <a:solidFill>
                  <a:srgbClr val="21295C"/>
                </a:solidFill>
                <a:latin typeface="Arial"/>
              </a:rPr>
              <a:t>. Техника падает в работе без помощника после привыкания — </a:t>
            </a:r>
            <a:r>
              <a:rPr sz="1450" b="0" i="1">
                <a:solidFill>
                  <a:srgbClr val="21295C"/>
                </a:solidFill>
                <a:latin typeface="Arial"/>
              </a:rPr>
              <a:t>наблюдательное исследование, повторения нет</a:t>
            </a:r>
            <a:r>
              <a:rPr sz="1450" b="0" i="0">
                <a:solidFill>
                  <a:srgbClr val="21295C"/>
                </a:solidFill>
                <a:latin typeface="Arial"/>
              </a:rPr>
              <a:t>. Доля отклоняемых тревог предельно высока — </a:t>
            </a:r>
            <a:r>
              <a:rPr sz="1450" b="0" i="1">
                <a:solidFill>
                  <a:srgbClr val="21295C"/>
                </a:solidFill>
                <a:latin typeface="Arial"/>
              </a:rPr>
              <a:t>обзор отклонений</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Психология — чем держится согласие.</a:t>
            </a:r>
            <a:r>
              <a:rPr sz="1450" b="0" i="0">
                <a:solidFill>
                  <a:srgbClr val="21295C"/>
                </a:solidFill>
                <a:latin typeface="Arial"/>
              </a:rPr>
              <a:t> Объяснение повышает согласие, но не качество решения — </a:t>
            </a:r>
            <a:r>
              <a:rPr sz="1450" b="0" i="1">
                <a:solidFill>
                  <a:srgbClr val="21295C"/>
                </a:solidFill>
                <a:latin typeface="Arial"/>
              </a:rPr>
              <a:t>полевой опыт</a:t>
            </a:r>
            <a:r>
              <a:rPr sz="1450" b="0" i="0">
                <a:solidFill>
                  <a:srgbClr val="21295C"/>
                </a:solidFill>
                <a:latin typeface="Arial"/>
              </a:rPr>
              <a:t>. Время пишется быстрее, проверка остаётся — </a:t>
            </a:r>
            <a:r>
              <a:rPr sz="1450" b="0" i="1">
                <a:solidFill>
                  <a:srgbClr val="21295C"/>
                </a:solidFill>
                <a:latin typeface="Arial"/>
              </a:rPr>
              <a:t>рандомизированное исследование плюс замер рабочего времени</a:t>
            </a:r>
            <a:r>
              <a:rPr sz="1450" b="0" i="0">
                <a:solidFill>
                  <a:srgbClr val="21295C"/>
                </a:solidFill>
                <a:latin typeface="Arial"/>
              </a:rPr>
              <a:t>.</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Процесс — откуда берётся арбитраж.</a:t>
            </a:r>
            <a:r>
              <a:rPr sz="1450" b="0" i="0">
                <a:solidFill>
                  <a:srgbClr val="21295C"/>
                </a:solidFill>
                <a:latin typeface="Arial"/>
              </a:rPr>
              <a:t> Роль второго проверяющего переходит от человека к модели — </a:t>
            </a:r>
            <a:r>
              <a:rPr sz="1450" b="0" i="1">
                <a:solidFill>
                  <a:srgbClr val="21295C"/>
                </a:solidFill>
                <a:latin typeface="Arial"/>
              </a:rPr>
              <a:t>рандомизированное исследование программы скрининга</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Подпись.</a:t>
            </a:r>
            <a:r>
              <a:rPr sz="1450" b="0" i="0">
                <a:solidFill>
                  <a:srgbClr val="21295C"/>
                </a:solidFill>
                <a:latin typeface="Arial"/>
              </a:rPr>
              <a:t> Норма требует человека финальным звеном, и это редко проверено — </a:t>
            </a:r>
            <a:r>
              <a:rPr sz="1450" b="0" i="1">
                <a:solidFill>
                  <a:srgbClr val="21295C"/>
                </a:solidFill>
                <a:latin typeface="Arial"/>
              </a:rPr>
              <a:t>обзор поданной документации</a:t>
            </a:r>
            <a:r>
              <a:rPr sz="1450" b="0" i="0">
                <a:solidFill>
                  <a:srgbClr val="21295C"/>
                </a:solidFill>
                <a:latin typeface="Arial"/>
              </a:rPr>
              <a:t>. Стандарт надзора сформулирован как способность вмешаться. О подписи в нём не сказано — </a:t>
            </a:r>
            <a:r>
              <a:rPr sz="1450" b="0" i="1">
                <a:solidFill>
                  <a:srgbClr val="21295C"/>
                </a:solidFill>
                <a:latin typeface="Arial"/>
              </a:rPr>
              <a:t>нормативный текст</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Контрольная строка.</a:t>
            </a:r>
            <a:r>
              <a:rPr sz="1450" b="0" i="0">
                <a:solidFill>
                  <a:srgbClr val="21295C"/>
                </a:solidFill>
                <a:latin typeface="Arial"/>
              </a:rPr>
              <a:t> Разная структура ошибок человека и модели даёт выигрыш пары — </a:t>
            </a:r>
            <a:r>
              <a:rPr sz="1450" b="0" i="1">
                <a:solidFill>
                  <a:srgbClr val="21295C"/>
                </a:solidFill>
                <a:latin typeface="Arial"/>
              </a:rPr>
              <a:t>крупное агрегационное исследование, повторения нет</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И то, чего нет ни в одной строке: исхода пациента нет ни у одного разбора ядра.</a:t>
            </a:r>
            <a:r>
              <a:rPr sz="1450" b="0" i="0">
                <a:solidFill>
                  <a:srgbClr val="21295C"/>
                </a:solidFill>
                <a:latin typeface="Arial"/>
              </a:rPr>
              <a:t> Никто не проверил, что случилось с больным из-за того, что врач стал хуже смотреть.</a:t>
            </a:r>
          </a:p>
        </p:txBody>
      </p:sp>
      <p:sp>
        <p:nvSpPr>
          <p:cNvPr id="7" name="Rectangle 6"/>
          <p:cNvSpPr/>
          <p:nvPr/>
        </p:nvSpPr>
        <p:spPr>
          <a:xfrm>
            <a:off x="6091275" y="1335024"/>
            <a:ext cx="9144" cy="477234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402814"/>
          </a:xfrm>
          <a:prstGeom prst="roundRect">
            <a:avLst>
              <a:gd name="adj" fmla="val 692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формулировка вопроса.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7" name="Rectangle 6"/>
          <p:cNvSpPr/>
          <p:nvPr/>
        </p:nvSpPr>
        <p:spPr>
          <a:xfrm>
            <a:off x="6091275" y="1335024"/>
            <a:ext cx="9144" cy="41284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3724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изделия с ИИ, ноябрь 2024 — знаменатель другой</a:t>
            </a:r>
          </a:p>
        </p:txBody>
      </p:sp>
      <p:sp>
        <p:nvSpPr>
          <p:cNvPr id="16" name="Rounded Rectangle 15"/>
          <p:cNvSpPr/>
          <p:nvPr/>
        </p:nvSpPr>
        <p:spPr>
          <a:xfrm>
            <a:off x="374904" y="3373064"/>
            <a:ext cx="11441887" cy="2680078"/>
          </a:xfrm>
          <a:prstGeom prst="roundRect">
            <a:avLst>
              <a:gd name="adj" fmla="val 1137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64504"/>
            <a:ext cx="5373471" cy="259517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У опоры «ошибается иначе» величины нет: </a:t>
            </a:r>
            <a:r>
              <a:rPr sz="1250" b="1" i="0">
                <a:solidFill>
                  <a:srgbClr val="21295C"/>
                </a:solidFill>
                <a:latin typeface="Arial"/>
              </a:rPr>
              <a:t>доли взаимного перекрытия ошибок не измерены</a:t>
            </a:r>
            <a:r>
              <a:rPr sz="125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Есть ли у человека независимый источник истины, кроме объяснения модели?</a:t>
            </a:r>
            <a:r>
              <a:rPr sz="1250" b="0" i="0">
                <a:solidFill>
                  <a:srgbClr val="21295C"/>
                </a:solidFill>
                <a:latin typeface="Arial"/>
              </a:rPr>
              <a:t> Проверка по самообъяснению — не проверка.</a:t>
            </a:r>
          </a:p>
        </p:txBody>
      </p:sp>
      <p:sp>
        <p:nvSpPr>
          <p:cNvPr id="18" name="TextBox 17"/>
          <p:cNvSpPr txBox="1"/>
          <p:nvPr/>
        </p:nvSpPr>
        <p:spPr>
          <a:xfrm>
            <a:off x="6278727" y="3464504"/>
            <a:ext cx="5373471" cy="259517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Измерено ли, что он возражает?</a:t>
            </a:r>
            <a:r>
              <a:rPr sz="1250" b="0" i="0">
                <a:solidFill>
                  <a:srgbClr val="21295C"/>
                </a:solidFill>
                <a:latin typeface="Arial"/>
              </a:rPr>
              <a:t> Доля отклонений и доля </a:t>
            </a:r>
            <a:r>
              <a:rPr sz="1250" b="1" i="0">
                <a:solidFill>
                  <a:srgbClr val="21295C"/>
                </a:solidFill>
                <a:latin typeface="Arial"/>
              </a:rPr>
              <a:t>правильных</a:t>
            </a:r>
            <a:r>
              <a:rPr sz="125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Успевает ли он физически?</a:t>
            </a:r>
            <a:r>
              <a:rPr sz="125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1000" b="0" i="0">
                <a:solidFill>
                  <a:srgbClr val="21295C"/>
                </a:solidFill>
                <a:latin typeface="Arial"/>
              </a:rPr>
              <a:t/>
            </a:r>
            <a:r>
              <a:rPr sz="1000" b="0" i="1">
                <a:solidFill>
                  <a:srgbClr val="1C7293"/>
                </a:solidFill>
                <a:latin typeface="Arial"/>
              </a:rPr>
              <a:t>Норма сформулирована как способность вмешаться. Присутствие само по себе её не исполняет, и смотреть каждое решение она не требует.</a:t>
            </a:r>
          </a:p>
        </p:txBody>
      </p:sp>
      <p:sp>
        <p:nvSpPr>
          <p:cNvPr id="19" name="Rectangle 18"/>
          <p:cNvSpPr/>
          <p:nvPr/>
        </p:nvSpPr>
        <p:spPr>
          <a:xfrm>
            <a:off x="6091275" y="3464504"/>
            <a:ext cx="9144" cy="2405758"/>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3284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59845"/>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02372"/>
            <a:ext cx="1770735" cy="192212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57820"/>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60450"/>
            <a:ext cx="1441551" cy="100859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02372"/>
            <a:ext cx="1770735" cy="192212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57820"/>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60450"/>
            <a:ext cx="1441551" cy="100859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Решение до отзыва</a:t>
            </a:r>
          </a:p>
          <a:p>
            <a:pPr algn="l">
              <a:lnSpc>
                <a:spcPct val="126000"/>
              </a:lnSpc>
            </a:pPr>
            <a:r>
              <a:rPr sz="12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0748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