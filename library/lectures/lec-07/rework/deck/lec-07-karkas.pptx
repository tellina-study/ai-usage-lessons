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93/jamia/ocad11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web.archive.org/web/2026/https://www.ama-assn.org/system/files/ama-ai-principles.pdf"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16/j.gie.2014.07.058"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16/j.gie.2014.07.058"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metr.org/blog/2026-02-24-uplift-update/"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16/S2468-1253%2825%2900133-5"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go.bio.org/rs/490-EHZ-999/images/ClinicalDevelopmentSuccessRates2011_2020.pdf"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go.bio.org/rs/490-EHZ-999/images/ClinicalDevelopmentSuccessRates2011_2020.pdf"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01/jamahealthforum.2025.3172"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Шесть разборов берут разные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шесть разборов — сперва три про стадию исследования, потом три про точность и качество диагноза.</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ячейки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ячейка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ячеек окна — это четыре строки задач на три вида данных. За пять разделов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честно названное пустое место: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пять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шесть разделов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шести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дважды.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в которой стоят два раздела — исследование с диагнозом и лекарство. Это самая населённая ячейка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шесть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doi.org/10.1016/j.gie.2014.07.058"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7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измерен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исследования, по порядку:</a:t>
            </a:r>
            <a:r>
              <a:rPr sz="1550" b="0" i="0">
                <a:solidFill>
                  <a:srgbClr val="21295C"/>
                </a:solidFill>
                <a:latin typeface="Arial"/>
              </a:rPr>
              <a:t>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расходы вместо болезни</a:t>
            </a:r>
          </a:p>
        </p:txBody>
      </p:sp>
      <p:sp>
        <p:nvSpPr>
          <p:cNvPr id="10" name="TextBox 9"/>
          <p:cNvSpPr txBox="1"/>
          <p:nvPr/>
        </p:nvSpPr>
        <p:spPr>
          <a:xfrm>
            <a:off x="704088" y="441851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диагноза:</a:t>
            </a:r>
            <a:r>
              <a:rPr sz="1550" b="0" i="0">
                <a:solidFill>
                  <a:srgbClr val="21295C"/>
                </a:solidFill>
                <a:latin typeface="Arial"/>
              </a:rPr>
              <a:t> </a:t>
            </a:r>
            <a:r>
              <a:rPr sz="1550" b="1" i="0">
                <a:solidFill>
                  <a:srgbClr val="21295C"/>
                </a:solidFill>
                <a:latin typeface="Arial"/>
              </a:rPr>
              <a:t>Пример 3: замер взгляда радиолога</a:t>
            </a:r>
            <a:r>
              <a:rPr sz="1550" b="0" i="0">
                <a:solidFill>
                  <a:srgbClr val="21295C"/>
                </a:solidFill>
                <a:latin typeface="Arial"/>
              </a:rPr>
              <a:t> · </a:t>
            </a:r>
            <a:r>
              <a:rPr sz="1550" b="1" i="0">
                <a:solidFill>
                  <a:srgbClr val="21295C"/>
                </a:solidFill>
                <a:latin typeface="Arial"/>
              </a:rPr>
              <a:t>Пример 4: одна подсказка с двумя знаками</a:t>
            </a:r>
            <a:r>
              <a:rPr sz="1550" b="0" i="0">
                <a:solidFill>
                  <a:srgbClr val="21295C"/>
                </a:solidFill>
                <a:latin typeface="Arial"/>
              </a:rPr>
              <a:t> · </a:t>
            </a:r>
            <a:r>
              <a:rPr sz="1550" b="1" i="0">
                <a:solidFill>
                  <a:srgbClr val="21295C"/>
                </a:solidFill>
                <a:latin typeface="Arial"/>
              </a:rPr>
              <a:t>Пример 5: контрольная линия</a:t>
            </a:r>
            <a:r>
              <a:rPr sz="1550" b="0" i="0">
                <a:solidFill>
                  <a:srgbClr val="21295C"/>
                </a:solidFill>
                <a:latin typeface="Arial"/>
              </a:rPr>
              <a:t> · </a:t>
            </a:r>
            <a:r>
              <a:rPr sz="1550" b="1" i="0">
                <a:solidFill>
                  <a:srgbClr val="21295C"/>
                </a:solidFill>
                <a:latin typeface="Arial"/>
              </a:rPr>
              <a:t>Пример 6: хирурги на септическом шоке</a:t>
            </a:r>
          </a:p>
        </p:txBody>
      </p:sp>
      <p:sp>
        <p:nvSpPr>
          <p:cNvPr id="11" name="TextBox 10"/>
          <p:cNvSpPr txBox="1"/>
          <p:nvPr/>
        </p:nvSpPr>
        <p:spPr>
          <a:xfrm>
            <a:off x="704088" y="5489382"/>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Вывод раздела: две стадии, и расходится у них устройство процедуры</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провалилось устройство процедуры — инструмент тот же, а исходы противоположные.</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примера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в двух частях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входит в каждую другую:</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верного заключения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верных заключений из всех прочтений; 40 клиницистов, 8000 прочтений; против одного читателя</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Сорок клиницистов читали МР-снимки колена на разрыв передней крестообразной связки — каждый снимок дважды: сам и с подсказкой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на этом месте:</a:t>
            </a:r>
            <a:r>
              <a:rPr sz="1500" b="0" i="0">
                <a:solidFill>
                  <a:srgbClr val="21295C"/>
                </a:solidFill>
                <a:latin typeface="Arial"/>
              </a:rPr>
              <a:t> то же заключение, выданное до решения врача.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своя база и срез</a:t>
            </a:r>
          </a:p>
        </p:txBody>
      </p:sp>
      <p:sp>
        <p:nvSpPr>
          <p:cNvPr id="12" name="Rounded Rectangle 11"/>
          <p:cNvSpPr/>
          <p:nvPr/>
        </p:nvSpPr>
        <p:spPr>
          <a:xfrm>
            <a:off x="374904" y="2803461"/>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Производитель подаёт регулятору документацию, тот по ней допускает изделие в работу. Обзор прочёл её по 717 радиологическим изделиям: было ли испытание с человеком в контуре.</a:t>
            </a:r>
          </a:p>
          <a:p>
            <a:pPr algn="l">
              <a:lnSpc>
                <a:spcPct val="126000"/>
              </a:lnSpc>
              <a:spcBef>
                <a:spcPts val="700"/>
              </a:spcBef>
            </a:pPr>
            <a:r>
              <a:rPr sz="1500" b="0" i="0">
                <a:solidFill>
                  <a:srgbClr val="21295C"/>
                </a:solidFill>
                <a:latin typeface="Arial"/>
              </a:rPr>
              <a:t/>
            </a:r>
            <a:r>
              <a:rPr sz="1500" b="1" i="0">
                <a:solidFill>
                  <a:srgbClr val="21295C"/>
                </a:solidFill>
                <a:latin typeface="Arial"/>
              </a:rPr>
              <a:t>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Присутствие этого не даёт.</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у 661 изделия из 717 такой проверки при допуске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счёта — процедуры допуска: имён перепись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 раков</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 доля найденного среди больных, не среди обследованных; та же программа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Каждую маммограмму читали двое независимо, расхождение разбирал третий. Потом место второго читателя заняла модель.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двойное чтение не находит 26,2 рака из ста, с моделью — 19,5.</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353747"/>
          </a:xfrm>
          <a:prstGeom prst="roundRect">
            <a:avLst>
              <a:gd name="adj" fmla="val 1294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Один и тот же случай раздавали случайным распределением, меняя одно — принял врач подсказку или отверг; участники оценивали по шкале, насколько он поступил разумно. Принявшего оценивают выше: так судят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20794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 у 60 изделий, отозванных из 950 допущенных; 108 не разрешены;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 ранний отзыв: проверка, не состоявшаяся до допуска, состоялась после.</a:t>
            </a:r>
            <a:r>
              <a:rPr sz="1500" b="0" i="0">
                <a:solidFill>
                  <a:srgbClr val="21295C"/>
                </a:solidFill>
                <a:latin typeface="Arial"/>
              </a:rPr>
              <a:t> Отзыв — изъятие изделия или его редакции из работы.</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считано:</a:t>
            </a:r>
            <a:r>
              <a:rPr sz="1500" b="0" i="0">
                <a:solidFill>
                  <a:srgbClr val="21295C"/>
                </a:solidFill>
                <a:latin typeface="Arial"/>
              </a:rPr>
              <a:t> обзор прочёл реестр и подсчитал долю отзывов первого года.</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здесь нет: это обзор надзорных механизмов.</a:t>
            </a:r>
          </a:p>
        </p:txBody>
      </p:sp>
      <p:sp>
        <p:nvSpPr>
          <p:cNvPr id="19" name="Rectangle 18"/>
          <p:cNvSpPr/>
          <p:nvPr/>
        </p:nvSpPr>
        <p:spPr>
          <a:xfrm>
            <a:off x="6091275" y="3827399"/>
            <a:ext cx="9144" cy="15742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за подписью может не быть ничего</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 · 1 плоскость без примера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примера: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рандомизированный замер, 47 новых участников; отдельно опрашивали опытных разработчиков — 30–50 из ста сказали, что не сдают задачи без помощника, и </a:t>
            </a:r>
            <a:r>
              <a:rPr sz="1500" b="1" i="0">
                <a:solidFill>
                  <a:srgbClr val="21295C"/>
                </a:solidFill>
                <a:latin typeface="Arial"/>
              </a:rPr>
              <a:t>сколько человек ответило, источник не называет.</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Отчёт государственного органа образования: оси подписаны, величин нет</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2592217"/>
            <a:ext cx="7628611"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7299427"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считано:</a:t>
            </a:r>
            <a:r>
              <a:rPr sz="1500" b="0" i="0">
                <a:solidFill>
                  <a:srgbClr val="21295C"/>
                </a:solidFill>
                <a:latin typeface="Arial"/>
              </a:rPr>
              <a:t> подсчитаны вхождения термина в учебных программах — 6 196 слов, доля вхождений ноль; в 60 часах программы по ИИ теме отдано 5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ЯЧЕЕК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ПЯТЬ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третий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Ячейка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окно собрано под клинику, где читают снимок, текст и карту.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ячейки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6.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подробно · 2 коротко, с числом и базой.</a:t>
            </a:r>
            <a:r>
              <a:rPr sz="1550" b="0" i="0">
                <a:solidFill>
                  <a:srgbClr val="21295C"/>
                </a:solidFill>
                <a:latin typeface="Arial"/>
              </a:rPr>
              <a:t> Подробно —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два коротких — в итоге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СЧЁТА</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подсчитаны доли переходов: 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раньше всех остальных: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мерили по шкале тяжести экземы и зуда; плацебо не превзойдено</a:t>
            </a:r>
          </a:p>
        </p:txBody>
      </p:sp>
      <p:sp>
        <p:nvSpPr>
          <p:cNvPr id="12" name="Rounded Rectangle 11"/>
          <p:cNvSpPr/>
          <p:nvPr/>
        </p:nvSpPr>
        <p:spPr>
          <a:xfrm>
            <a:off x="4468215"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2295529"/>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721993"/>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813433"/>
            <a:ext cx="11112703" cy="242277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Искали молекулу под мишень по графу связей «мишень — болезнь — препарат» и довели её до испытания на людях: мазали кожу пациентам с экземой, вслепую и против плацебо.</a:t>
            </a:r>
          </a:p>
          <a:p>
            <a:pPr algn="l">
              <a:lnSpc>
                <a:spcPct val="126000"/>
              </a:lnSpc>
              <a:spcBef>
                <a:spcPts val="700"/>
              </a:spcBef>
            </a:pPr>
            <a:r>
              <a:rPr sz="1500" b="0" i="0">
                <a:solidFill>
                  <a:srgbClr val="21295C"/>
                </a:solidFill>
                <a:latin typeface="Arial"/>
              </a:rPr>
              <a:t/>
            </a:r>
            <a:r>
              <a:rPr sz="1500" b="0" i="1">
                <a:solidFill>
                  <a:srgbClr val="21295C"/>
                </a:solidFill>
                <a:latin typeface="Arial"/>
              </a:rPr>
              <a:t>Прогноз на структурированных данных.</a:t>
            </a:r>
            <a:r>
              <a:rPr sz="1500" b="0" i="0">
                <a:solidFill>
                  <a:srgbClr val="21295C"/>
                </a:solidFill>
                <a:latin typeface="Arial"/>
              </a:rPr>
              <a:t>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это результат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ПРИМЕРОМ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 показан залу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не показаны,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а от чего посчитано, не сказано.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63909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3464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178593" y="1335024"/>
            <a:ext cx="350425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324897" y="1335024"/>
            <a:ext cx="32116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682851" y="1335024"/>
            <a:ext cx="3236004"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29155" y="1335024"/>
            <a:ext cx="294339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18856" y="1335024"/>
            <a:ext cx="2733342"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5160" y="1335024"/>
            <a:ext cx="244073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63909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3464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178593" y="1727520"/>
            <a:ext cx="350425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324897" y="1727520"/>
            <a:ext cx="32116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682851" y="1727520"/>
            <a:ext cx="3236004"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29155" y="1727520"/>
            <a:ext cx="294339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8918856" y="1727520"/>
            <a:ext cx="2733342"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5160" y="1727520"/>
            <a:ext cx="244073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639097"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34648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178593" y="2120016"/>
            <a:ext cx="3504257"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324897" y="2120016"/>
            <a:ext cx="32116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682851" y="2120016"/>
            <a:ext cx="3236004"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29155" y="2120016"/>
            <a:ext cx="294339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надзор</a:t>
            </a:r>
          </a:p>
        </p:txBody>
      </p:sp>
      <p:sp>
        <p:nvSpPr>
          <p:cNvPr id="27" name="Rectangle 26"/>
          <p:cNvSpPr/>
          <p:nvPr/>
        </p:nvSpPr>
        <p:spPr>
          <a:xfrm>
            <a:off x="8918856" y="2120016"/>
            <a:ext cx="2733342"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5160" y="2120016"/>
            <a:ext cx="244073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639097"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34648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178593" y="2740416"/>
            <a:ext cx="3504257"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324897" y="2740416"/>
            <a:ext cx="32116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5682851" y="2740416"/>
            <a:ext cx="3236004"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29155" y="2740416"/>
            <a:ext cx="294339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18856" y="2740416"/>
            <a:ext cx="2733342"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5160" y="2740416"/>
            <a:ext cx="244073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639097"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34648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178593" y="3360816"/>
            <a:ext cx="3504257"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324897" y="3360816"/>
            <a:ext cx="32116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682851" y="3360816"/>
            <a:ext cx="3236004"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29155" y="3360816"/>
            <a:ext cx="294339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18856" y="3360816"/>
            <a:ext cx="2733342"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5160" y="3360816"/>
            <a:ext cx="244073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шесть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78774"/>
          </a:xfrm>
          <a:prstGeom prst="roundRect">
            <a:avLst>
              <a:gd name="adj" fmla="val 612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Четыре платежа из начала — поимённо, с измерением под каждым.</a:t>
            </a:r>
          </a:p>
        </p:txBody>
      </p:sp>
      <p:sp>
        <p:nvSpPr>
          <p:cNvPr id="6" name="Rectangle 5"/>
          <p:cNvSpPr/>
          <p:nvPr/>
        </p:nvSpPr>
        <p:spPr>
          <a:xfrm>
            <a:off x="539496" y="1754184"/>
            <a:ext cx="1227603" cy="401612"/>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54184"/>
            <a:ext cx="93499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платёж</a:t>
            </a:r>
          </a:p>
        </p:txBody>
      </p:sp>
      <p:sp>
        <p:nvSpPr>
          <p:cNvPr id="8" name="Rectangle 7"/>
          <p:cNvSpPr/>
          <p:nvPr/>
        </p:nvSpPr>
        <p:spPr>
          <a:xfrm>
            <a:off x="1767099" y="1754184"/>
            <a:ext cx="6389189" cy="401612"/>
          </a:xfrm>
          <a:prstGeom prst="rect">
            <a:avLst/>
          </a:prstGeom>
          <a:solidFill>
            <a:srgbClr val="065A82"/>
          </a:solidFill>
          <a:ln>
            <a:noFill/>
          </a:ln>
          <a:effectLst/>
        </p:spPr>
        <p:txBody>
          <a:bodyPr rtlCol="0" anchor="ctr"/>
          <a:lstStyle/>
          <a:p>
            <a:pPr algn="ctr"/>
          </a:p>
        </p:txBody>
      </p:sp>
      <p:sp>
        <p:nvSpPr>
          <p:cNvPr id="9" name="TextBox 8"/>
          <p:cNvSpPr txBox="1"/>
          <p:nvPr/>
        </p:nvSpPr>
        <p:spPr>
          <a:xfrm>
            <a:off x="1913403" y="1754184"/>
            <a:ext cx="609658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заплачено</a:t>
            </a:r>
          </a:p>
        </p:txBody>
      </p:sp>
      <p:sp>
        <p:nvSpPr>
          <p:cNvPr id="10" name="Rectangle 9"/>
          <p:cNvSpPr/>
          <p:nvPr/>
        </p:nvSpPr>
        <p:spPr>
          <a:xfrm>
            <a:off x="8156288" y="1754184"/>
            <a:ext cx="3495910" cy="40161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302592" y="1754184"/>
            <a:ext cx="32033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измерено</a:t>
            </a:r>
          </a:p>
        </p:txBody>
      </p:sp>
      <p:sp>
        <p:nvSpPr>
          <p:cNvPr id="12" name="Rectangle 11"/>
          <p:cNvSpPr/>
          <p:nvPr/>
        </p:nvSpPr>
        <p:spPr>
          <a:xfrm>
            <a:off x="539496" y="2155796"/>
            <a:ext cx="1227603" cy="638632"/>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55796"/>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Внимание</a:t>
            </a:r>
          </a:p>
        </p:txBody>
      </p:sp>
      <p:sp>
        <p:nvSpPr>
          <p:cNvPr id="14" name="Rectangle 13"/>
          <p:cNvSpPr/>
          <p:nvPr/>
        </p:nvSpPr>
        <p:spPr>
          <a:xfrm>
            <a:off x="1767099" y="2155796"/>
            <a:ext cx="6389189" cy="638632"/>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13403" y="2155796"/>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8156288" y="2155796"/>
            <a:ext cx="3495910" cy="638632"/>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302592" y="2155796"/>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лабораторный замер взгляда</a:t>
            </a:r>
          </a:p>
        </p:txBody>
      </p:sp>
      <p:sp>
        <p:nvSpPr>
          <p:cNvPr id="18" name="Rectangle 17"/>
          <p:cNvSpPr/>
          <p:nvPr/>
        </p:nvSpPr>
        <p:spPr>
          <a:xfrm>
            <a:off x="539496" y="2794428"/>
            <a:ext cx="1227603" cy="401612"/>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94428"/>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Навык</a:t>
            </a:r>
          </a:p>
        </p:txBody>
      </p:sp>
      <p:sp>
        <p:nvSpPr>
          <p:cNvPr id="20" name="Rectangle 19"/>
          <p:cNvSpPr/>
          <p:nvPr/>
        </p:nvSpPr>
        <p:spPr>
          <a:xfrm>
            <a:off x="1767099" y="2794428"/>
            <a:ext cx="6389189" cy="401612"/>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13403" y="2794428"/>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28,4 → 22,4 из ста у тех же девятнадцати врачей</a:t>
            </a:r>
          </a:p>
        </p:txBody>
      </p:sp>
      <p:sp>
        <p:nvSpPr>
          <p:cNvPr id="22" name="Rectangle 21"/>
          <p:cNvSpPr/>
          <p:nvPr/>
        </p:nvSpPr>
        <p:spPr>
          <a:xfrm>
            <a:off x="8156288" y="2794428"/>
            <a:ext cx="3495910" cy="401612"/>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302592" y="2794428"/>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наблюдательное, однажды и спорно</a:t>
            </a:r>
          </a:p>
        </p:txBody>
      </p:sp>
      <p:sp>
        <p:nvSpPr>
          <p:cNvPr id="24" name="Rectangle 23"/>
          <p:cNvSpPr/>
          <p:nvPr/>
        </p:nvSpPr>
        <p:spPr>
          <a:xfrm>
            <a:off x="539496" y="3196040"/>
            <a:ext cx="1227603" cy="401612"/>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96040"/>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Подпись</a:t>
            </a:r>
          </a:p>
        </p:txBody>
      </p:sp>
      <p:sp>
        <p:nvSpPr>
          <p:cNvPr id="26" name="Rectangle 25"/>
          <p:cNvSpPr/>
          <p:nvPr/>
        </p:nvSpPr>
        <p:spPr>
          <a:xfrm>
            <a:off x="1767099" y="3196040"/>
            <a:ext cx="6389189" cy="401612"/>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13403" y="3196040"/>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156288" y="3196040"/>
            <a:ext cx="3495910" cy="401612"/>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302592" y="3196040"/>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перепись изделий; качество заметок</a:t>
            </a:r>
          </a:p>
        </p:txBody>
      </p:sp>
      <p:sp>
        <p:nvSpPr>
          <p:cNvPr id="30" name="Rectangle 29"/>
          <p:cNvSpPr/>
          <p:nvPr/>
        </p:nvSpPr>
        <p:spPr>
          <a:xfrm>
            <a:off x="539496" y="3597653"/>
            <a:ext cx="1227603" cy="63863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597653"/>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Арбитраж</a:t>
            </a:r>
          </a:p>
        </p:txBody>
      </p:sp>
      <p:sp>
        <p:nvSpPr>
          <p:cNvPr id="32" name="Rectangle 31"/>
          <p:cNvSpPr/>
          <p:nvPr/>
        </p:nvSpPr>
        <p:spPr>
          <a:xfrm>
            <a:off x="1767099" y="3597653"/>
            <a:ext cx="6389189" cy="638632"/>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13403" y="3597653"/>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 мин 12 с против 48 с; объём +53 % (разброс 22–142)</a:t>
            </a:r>
          </a:p>
        </p:txBody>
      </p:sp>
      <p:sp>
        <p:nvSpPr>
          <p:cNvPr id="34" name="Rectangle 33"/>
          <p:cNvSpPr/>
          <p:nvPr/>
        </p:nvSpPr>
        <p:spPr>
          <a:xfrm>
            <a:off x="8156288" y="3597653"/>
            <a:ext cx="3495910" cy="638632"/>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302592" y="3597653"/>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записи рабочего времени программы</a:t>
            </a:r>
          </a:p>
        </p:txBody>
      </p:sp>
      <p:sp>
        <p:nvSpPr>
          <p:cNvPr id="36" name="TextBox 35"/>
          <p:cNvSpPr txBox="1"/>
          <p:nvPr/>
        </p:nvSpPr>
        <p:spPr>
          <a:xfrm>
            <a:off x="539496" y="4382589"/>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Оплачены неровно:</a:t>
            </a:r>
            <a:r>
              <a:rPr sz="1350" b="0" i="0">
                <a:solidFill>
                  <a:srgbClr val="21295C"/>
                </a:solidFill>
                <a:latin typeface="Arial"/>
              </a:rPr>
              <a:t> внимание и арбитраж — крупные выборки; подпись — доля процедур, не исход.</a:t>
            </a:r>
          </a:p>
        </p:txBody>
      </p:sp>
      <p:sp>
        <p:nvSpPr>
          <p:cNvPr id="37" name="TextBox 36"/>
          <p:cNvSpPr txBox="1"/>
          <p:nvPr/>
        </p:nvSpPr>
        <p:spPr>
          <a:xfrm>
            <a:off x="539496" y="4801749"/>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Кто платит:</a:t>
            </a:r>
            <a:r>
              <a:rPr sz="1350" b="0" i="0">
                <a:solidFill>
                  <a:srgbClr val="21295C"/>
                </a:solidFill>
                <a:latin typeface="Arial"/>
              </a:rPr>
              <a:t> исследование и диагноз — вниманием и арбитражем · надзор — подписью и арбитражем · документы — подписью · квалификация — навыком.</a:t>
            </a:r>
          </a:p>
        </p:txBody>
      </p:sp>
      <p:sp>
        <p:nvSpPr>
          <p:cNvPr id="38" name="TextBox 37"/>
          <p:cNvSpPr txBox="1"/>
          <p:nvPr/>
        </p:nvSpPr>
        <p:spPr>
          <a:xfrm>
            <a:off x="539496" y="5493766"/>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Скрининг и разработка лекарства из шести не платят ничем:</a:t>
            </a:r>
            <a:r>
              <a:rPr sz="1350" b="0" i="0">
                <a:solidFill>
                  <a:srgbClr val="21295C"/>
                </a:solidFill>
                <a:latin typeface="Arial"/>
              </a:rPr>
              <a:t> в скрининге человек прочёл каждое исследование, в разработке рядом с моделью никто не работает.</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примера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отзывается, а что остаётся</a:t>
            </a:r>
          </a:p>
        </p:txBody>
      </p:sp>
      <p:sp>
        <p:nvSpPr>
          <p:cNvPr id="6" name="Rounded Rectangle 5"/>
          <p:cNvSpPr/>
          <p:nvPr/>
        </p:nvSpPr>
        <p:spPr>
          <a:xfrm>
            <a:off x="502920" y="133502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0934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2738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0568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3980563"/>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