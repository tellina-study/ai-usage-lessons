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вслух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 вовсе.</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чтение одного снимка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причём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эта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он же база для всех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как сомнительный;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уже после принятия, медиана поднимается до шести с половиной секунд — то есть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стоит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же разборе. Значит опоры нужны другие, и их три.</a:t>
            </a:r>
          </a:p>
          <a:p>
            <a:r>
              <a:t/>
            </a:r>
          </a:p>
          <a:p>
            <a:r>
              <a:t>Право подписи выдано человеку. Ни в одной из рассмотренных здесь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здесь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она не отвечает ни на один вопрос практика.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отдельный режим — сортировка потока по приоритету.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годный снимок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отдельной закупки не требует,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принимается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этой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действительно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вообще.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какая процедура и какой норматив держат решение на месте, если что-то пойдёт не так.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 вечера.</a:t>
            </a:r>
          </a:p>
          <a:p>
            <a:r>
              <a:t/>
            </a:r>
          </a:p>
          <a:p>
            <a:r>
              <a:t>Последняя позиция списка, наравне с разделами, — вопросы: так показано, что время на них отведено, без единой минуты на экране.</a:t>
            </a:r>
          </a:p>
          <a:p>
            <a:r>
              <a:t/>
            </a:r>
          </a:p>
          <a:p>
            <a:r>
              <a:t>Три разграничения в подвале — честный адрес, по которому тема закрывается, и дешевле сказать его сейчас, чем отбиваться от вопроса в середине вечера: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разбирает его как метод и как научное событие отдельная лекция про научный цикл; цифровые двойники — обещание отдельной лекции, и оно подтверждается, а не отменяется.</a:t>
            </a:r>
          </a:p>
          <a:p>
            <a:r>
              <a:t/>
            </a:r>
          </a:p>
          <a:p>
            <a:r>
              <a:t>Последняя строка подвала устроена иначе. 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 одной причине: на них нет времени. Материал есть, времени на него нет — и сказать это надо именно так, потому что «материала по этой работе у лекции нет» было бы неверным утверждением о собственной лекции, а вечер целиком про то, как проверяют чужие утверждения.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на входе совсем другая, и от этой величины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потому что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означает, что занят ресурс, которого в этот момент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а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 черновики этой лекции такую склейку несли.</a:t>
            </a:r>
          </a:p>
          <a:p>
            <a:r>
              <a:t/>
            </a:r>
          </a:p>
          <a:p>
            <a:r>
              <a:t>Главный 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на расхождениях — и цена лежит именно здесь, в устройстве процедуры, а не в точности прибора.</a:t>
            </a:r>
          </a:p>
          <a:p>
            <a:r>
              <a:t/>
            </a:r>
          </a:p>
          <a:p>
            <a:r>
              <a:t>Германская программа рядом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там опубликовано — сравнивали двойное чтение с поддержкой модели против обычного двойного чтения, то есть второго читателя в Германии не заменяли. Отсюда вывод, который одно внедрение дать не может: одинаковая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ни в одном сообщении;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тоже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в этой задаче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на публичном мероприятии было заявлено,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на тех же вопросах.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уже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одних и тех же задачах поставило это приложение на последнее место из трёх, хуже всех распознавало типовые болезни.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этот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этом материале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именно эта, а не среднее по стране: больше восьмидесяти процентов списка сервиса были младше сорока, и среднее по стране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 вовсе.</a:t>
            </a:r>
          </a:p>
          <a:p>
            <a:r>
              <a:t/>
            </a:r>
          </a:p>
          <a:p>
            <a:r>
              <a:t>Что получили и чего это потребовало. Получили круглосуточную мгновенную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прежде потребностью или спросом, созданным самим предложением. Отчёт честно говорит, что не знает, и удобного чтения здесь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это поражение бессимптомно, человек ничего не чувствует и потому не приходит. Лишнее направление стоит визита к специалисту, которого в районе может не быть вовсе. И третья величина, решающая здесь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сам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этот режим теряет людей по дороге. Второй режим называть неприятно, и распространён он шире первого: не обследовать вовсе. Явка у него ноль, и величина эта получена определением, измерением её не получить. Именно так устроено наблюдение там, где офтальмолога в районе нет.</a:t>
            </a:r>
          </a:p>
          <a:p>
            <a:r>
              <a:t/>
            </a:r>
          </a:p>
          <a:p>
            <a:r>
              <a:t>Модель против этих режимов. Снимок делает медсестра или техник в кабинете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самого прибора здесь не произносится, и это решение, а не умолчание: распространённости поражения в этих выборках в источниках нет, а точность без группы и без распространённости не читается.</a:t>
            </a:r>
          </a:p>
          <a:p>
            <a:r>
              <a:t/>
            </a:r>
          </a:p>
          <a:p>
            <a:r>
              <a:t>И 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Отсюда критерий, который разбор оставляет: автономия переносит ответственность, но не отменяет работу — она перекладывает её на другой шаг и на другого человека. Если этот шаг не посчитали, внедрение считается дешевле, чем оно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очень разной судьбой, и разницу между ними стоит проговорить, потому что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границей, которую мы только что провели: в разделе 1 система решала, кого вообще посмотреть; здесь система не просто смотрит — она меряет и сама выносит заключение по измеренному. Отличие от раздела 3 принципиальное: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в голове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первые кадры раздела — не кейсы, а определения: что такое чувствительность и специфичность без привязки к конкретной болезни, и что происходит с одними и теми же долями системы на двух разных группах — поголовном скрининге и профильном отделении.</a:t>
            </a:r>
          </a:p>
          <a:p>
            <a:r>
              <a:t/>
            </a:r>
          </a:p>
          <a:p>
            <a:r>
              <a:t>Перед тремя разборами раздел даёт одну картину узнаваемого человека — техника флюорографии, который на месте решает, годится ли снимок для чтения; это не отдельный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отдельный случай про доступ, а не про годность входа, — предмет раздела 1, здесь он снимается строкой.</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называется стадией. Пропущенное злокачественное образование кожи — лечение на поздней стадии, а не на ранней; единого числа выживаемости по группам пациентов,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посчитаны одной методологией: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и сводной оценки дермоскопии не даёт вовсе — из-за разнородности включённых работ; две оценки из двух методологий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самых тёмных тонах на 9–15 пунктов ниже, чем на самых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ходила по материалам курса два круга; в публикации её нет,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борьбы со смещением его значимо не уменьшили. Чинилось это сбором и разметкой — той частью работы, которая в руках инженера.</a:t>
            </a:r>
          </a:p>
          <a:p>
            <a:r>
              <a:t/>
            </a:r>
          </a:p>
          <a:p>
            <a:r>
              <a:t>И строка, которая несёт разбор: разрыв по тону кожи измерен у модели и у классических методов не измерен вовсе — точность по тону кожи не разбивает ни метаанализ осмотра и дермоскопии, ни обзоры по той же задаче. Сказать «модель хуже человека на этой подгруппе» не с чем. Средняя точность модели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куда берут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в программе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пациентов среди фактически отобранных — 19,2 из ста отобранных.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уже под рукой; отбора, вовсе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пациентов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потому что выбор целевой переменной был инженерно разумным и поучителен именно поэтому. Расходы есть в данных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своей целью, и целью стало то, что было в данных.</a:t>
            </a:r>
          </a:p>
          <a:p>
            <a:r>
              <a:t/>
            </a:r>
          </a:p>
          <a:p>
            <a:r>
              <a:t>Чем это делают сегодня: счёт риска на данных плательщика и на медицинской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работы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арифметическое упражнение выдаётся за внедрённое исправление. Устроен расчёт так: авторы заменяют на границе более здорового пациента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собственный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становится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она переехала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пациентов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сам перекос измерен на 49 618 пациентах одной больницы, и все выводы о его величине относятся к этому знаменателю.</a:t>
            </a:r>
          </a:p>
          <a:p>
            <a:r>
              <a:t/>
            </a:r>
          </a:p>
          <a:p>
            <a:r>
              <a:t>Рядом, другим жанром и слабее по силе, стоит одно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и числа из него в видимый слой не выносятся до пересверки. Ценно в нём другое: внутренняя проверка этого не видит, провал проявляется там, где его меньше всего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измеримая, и специалист её возьмёт. Система читает десятитысячный снимок так же, как первый, тогда как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 один и тот же вход даёт один и тот же выход, чего от двух людей не добиться.</a:t>
            </a:r>
          </a:p>
          <a:p>
            <a:r>
              <a:t/>
            </a:r>
          </a:p>
          <a:p>
            <a:r>
              <a:t>Граница названа группой. Доли посчитаны на той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для этого не менялась.</a:t>
            </a:r>
          </a:p>
          <a:p>
            <a:r>
              <a:t/>
            </a:r>
          </a:p>
          <a:p>
            <a:r>
              <a:t>Риск разложен по трём местам, и ни одно не в самой модели. Вход измеряет прибор, и прибор может быть смещён до всякой модели. Набор собирает человек, и состав набора может не повторять состав населения, на котором система потом работает. Цель задаёт переменная — и целью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самыми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пациентов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своей целью. Четыре вопроса — и каждый из них в этом разделе провалил по одному внедрению. Дальше результат измерения попадает к человеку, который примет решение.</a:t>
            </a:r>
          </a:p>
          <a:p>
            <a:r>
              <a:t/>
            </a:r>
          </a:p>
          <a:p>
            <a:r>
              <a:t>И одно обнадёживающее наблюдение: единственное исправление, измеренное в разделе,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приходится обосновывать. Снимок и анализ крови назначены первыми именно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потому что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при этом не свойство характера, а организационная работа: отдельная очередь чтения, скрытое поле заключения, иногда отдельная смена или отдельное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поэтому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только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весь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которую отобрала модель,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вовсе,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и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и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такой же односторонний, как восторг. И это не возражение предыдущим двум кадрам: измерение то же, сигнал тот же, разница в одном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стаж от 4 до 32 лет при медиане 12, из десяти учреждений. Сто пятьдесят исследований: 75 с подтверждённым раком, 75 без. Каждое читается без системы и с системой — 3 600 прочтений, по 1 800 на режим; знаменатель каждой доли внутри режима — 900, то есть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 для их условий они правы.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то есть с 735 случаев из 900, до 87,2, то есть до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из этого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щедрые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потому что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 и показывает, что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один и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и получены они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срезов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один незакрытый вопрос: допустим, пара хуже сильной модели — но человека-то одного она ведь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при размахе от 82 до 97, врач один — 74 при размахе от 63 до 84, врач с моделью — 76 при размахе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 вовсе.</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нет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и она здесь сильнейшая в разделе: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и в него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движение взгляда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устройство независимости и арбитража сохранено и переустроено под нового участника.</a:t>
            </a:r>
          </a:p>
          <a:p>
            <a:r>
              <a:t/>
            </a:r>
          </a:p>
          <a:p>
            <a:r>
              <a:t>Две половины счёта нельзя сводить в одну базу, хотя программа одна. Снижение объёма человеческого чтения на 44,3 процента принадлежит промежуточному анализу безопасности: там выборка 80 033, на четверть меньше, и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выставляет своё заключение, при расхождении случай уходит арбитру, который видит оба. Нагрузка арбитра задана долей расхождений, а доля расхождений задана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существовал, но его назначала практика каждого из двух читателей,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сравнение шло против сильного режима.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две соседние сняты проверкой. «Шаг исчез совсем» неверно: второе чтение каждого случая не исчезло, его делает модель. «Шаг появился» неверно тоньше: арбитраж выглядит новым, но разбор расхождения существовал и в классическом двойном чтении — изменился его объём и то, с чьим заключением расходится человеческое.</a:t>
            </a:r>
          </a:p>
          <a:p>
            <a:r>
              <a:t/>
            </a:r>
          </a:p>
          <a:p>
            <a:r>
              <a:t>Про интервальные раки — болезнь, найденную между двумя обследованиями, — надо сказать точно. В плече двойного чтения 1,76 на 1000 обследованных, в плече с моделью 1,55: это 93 случая из 52 872 против 82 из 53 043. Отношение частот 0,88 при интервале от 0,65 до 1,18 — интервал пересекает единицу, значимости нет, и заявленным дизайном испытания была именно не-худшесть. Читать 1,55 против 1,76 как доказанное улучшение нельзя. Доказано другое, и оно сильное: чувствительность выше значимо, исход при этом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и у профессионалов. Там каждое исследование читают три независимых источника — два радиолога и система; положительная находка любого из трёх уходит на обсуждение консенсуса, куда попало 5 489 случаев из 54 991, и отозвано оттуда 1 348. Одиночную находку системы отзывали в 4,6 случая из ста (86 из 1 886), одиночную находку радиолога — в 14,2 (263 из 1 858), то есть втрое чаще. При этом находка системы подтверждалась раком в 22 процентах (19 из 86), находка радиолога — в 3,4 (9 из 263), то есть была точнее в шесть с лишним раз. Почти равные знаменатели здесь важны: сравниваются сопоставимые по объёму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и появилась она вместе с новым шагом процесса. Вывод не сглаживать: калибровка ломается в обе стороны, и «люди слишком доверяют машине» покрывает половину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три величины и один названный пробел, и жанры у них разные.</a:t>
            </a:r>
          </a:p>
          <a:p>
            <a:r>
              <a:t/>
            </a:r>
          </a:p>
          <a:p>
            <a:r>
              <a:t>Что ломается — измерено прямо. Тридцать читателей, девять тысяч прочтений электрокардиограмм: сто кардиограмм, и каждую каждый читатель проходил трижды — без автоматической расшифровки, с одной расшифровкой, половина из которых была неверной, и с несколькими вариантами диагноза. Девять тысяч — это повторные измерения на тридцати читателях, а не девять тысяч независимых наблюдений, и ограничение называют сами авторы. База падения — верная расшифровка, а не отсутствие подсказки: сравниваются те же читатели на тех же ста кардиограммах при подсказке, которая права, и при подсказке, которая ошибается. У стажёров кардиологии точность падает с 84,86 до 41,66 из ста, на 43,20 пункта; у стажёров других специальностей — с 86,38 до 27,43, на 58,95 пункта. Две группы различает специальность, а не стаж: обе состоят из стажёров. И существеннее величины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надёжно не предсказывают, кому помощь модели поможет и кому повредит; ходовое допущение, что выигрывают слабые читатели, проверено и опровергнуто. Предсказывает наличие ошибок модели. Числа у этой величины нет сознательно: её содержание и есть отсутствие связи.</a:t>
            </a:r>
          </a:p>
          <a:p>
            <a:r>
              <a:t/>
            </a:r>
          </a:p>
          <a:p>
            <a:r>
              <a:t>Где потолок. Сто девяносто девять платных участников краудплатформы, задача про состав питания — не клиническая и без ставок; точность подсказки задана имитацией на уровне 75 процентов, никакой модели не обучали. Принудительные приёмы подачи — не показывать подсказку, пока её не запросят; сначала своё решение, потом подсказка; задержка перед показом — снизили согласие с неверной подсказкой с 64 до 48 из ста. Посчитана эта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от одной перестройки подачи, и при нём почти половина согласий остаётся. Цена измерена тем же опытом: участники хуже оценивали именно те интерфейсы, которые сильнее снижали опору.</a:t>
            </a:r>
          </a:p>
          <a:p>
            <a:r>
              <a:t/>
            </a:r>
          </a:p>
          <a:p>
            <a:r>
              <a:t>Пробел назван потому, что числа нет в литературе, а не потому, что его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это покупает и чего этот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триаж потока в неотложной рентгенологии. Покупает это организатор национальной или региональной программы, а не отдельная больница; в триаже — больница или сеть. Режим не умеет удержать читателя от сужения поиска: порядок предъявления подсказки решает здесь больше, чем точность модели, и измерено это ровно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и поэтому никто не настраивал этот режим под процесс. Вторая клетка на предыдущей стадии отсутствовала, и это существенно: текст в карте теперь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из нескольких моделей существует как направление исследований, а купить и развернуть его в клинике сегодня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потому что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Собрать раздел в один вывод стоит в том порядке, в котором он шёл. 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обязательно, потому что на ней держится вывод вечера: в разборе, где результат упал, и в контрольной линии, где он вырос, работала одна и та же система от одного и того же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вообще существует второе мнение, и утверждение проверяемое: долю несовпадающих ошибок можно посчитать на своих данных прежде, чем собирать пару. Отсюда и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противоречие и не ошибка ни там, ни здесь, это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на своей задаче,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0,76–0,86.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Этот раздел начинается с этой картины не случайно: дальше пойдут проценты и доли, и за каждым из них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и есть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ускорило и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публично обещала доводить препараты до регистрации самостоятельно, нашла молекулу через граф биомедицинских связей и потеряла сотни рабочих мест, когда клиническое испытание не показало эффекта, который модель бизнеса обещала считать предрешённым.</a:t>
            </a:r>
          </a:p>
          <a:p>
            <a:r>
              <a:t/>
            </a:r>
          </a:p>
          <a:p>
            <a:r>
              <a:t>Отдельно в разделе стоит эпизод про предсказание структуры белка: ожидание, что экспериментальная структурная биология сожмётся после его появления, не подтвердилось числами депозитария — это оговорка против рекламы, и она держится не на мнении, а на статистике.</a:t>
            </a:r>
          </a:p>
          <a:p>
            <a:r>
              <a:t/>
            </a:r>
          </a:p>
          <a:p>
            <a:r>
              <a:t>Производство лекарственной формы на линии — отдельная тема курса, и в этот раздел она не входит. Важно удержать одну границу до первого разбора: это работа на масштабе отрасли, а не решение о конкретном человеке у койки, и переносить выводы одного масштаба на другой здесь запрещено так же, как и в остальных разделах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этому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режима может быть эффектом наблюдения за наблюдающим, и отделить одно от другого эти испытания не могли.</a:t>
            </a:r>
          </a:p>
          <a:p>
            <a:r>
              <a:t/>
            </a:r>
          </a:p>
          <a:p>
            <a:r>
              <a:t>Базы у двух приростов разные, поэтому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 то единственное противопоставление, которое держится намеренно, потому что оно и есть содержание разбора.</a:t>
            </a:r>
          </a:p>
          <a:p>
            <a:r>
              <a:t/>
            </a:r>
          </a:p>
          <a:p>
            <a:r>
              <a:t>Дало: с включённым помощником врачи находят больше. Прирост доли обнаружения в рандомизированных испытаниях систем обнаружения образований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на этом стоит всё измерение, и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в основном пробелом, и пробел добыт поиском — то есть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и свидетельство числится переносом; свидетельством медицинской плоскости оно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у каждой свой разряд, и смешивать разряд поведения с разрядом самоотчёта нельзя даже тогда, когда оба говорят об одном и том же человеке.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и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этой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получающих готовый вывод. Сила свидетельства слабая: качественное исследование, пятнадцать интервью, то есть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стало калибровка одного порога плюс человеческий арбитраж расхождения, а это требует другого контроля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здесь легко испортить в обе стороны: «вернувшиеся» и «новые» — это опыт участия в самом замере, а стаж в профессии там не измеряли вовсе.</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и это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ровно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как раз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этого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к вечеру ни одного нового случая и ни одного нового числа — кроме одного: счёта того, сколько раз за вечер выигрыш оказался приписан не обученной модели. Всё остальное здесь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описывает одну форму и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Она отвечает на другой вопрос, чем первая: первая говорит, куда переехала работа, вторая — что произошло с тем, кто её делает.</a:t>
            </a:r>
          </a:p>
          <a:p>
            <a:r>
              <a:t/>
            </a:r>
          </a:p>
          <a:p>
            <a:r>
              <a:t>Между двумя осями стоят три кадра, каждый из которых предъявляет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вечер начался. Ответ не общий: четыре ступени, на каждой своё дело человека и своё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описывает одну форму и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разбор и отклонение тревоги как статья рабочего времени, служба вычитки машинных заметок со своим штатом, заранее утверждённый план изменений модели. У этой формы теперь есть счёт самого шага, и он в единицах труда: плюс 53 процента объёма арбитража, а один разбор расхождения против одного чтения дольше в 4,6 раза по медианам и в 2,75 по средним. Среднее произносится вместе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форма, которая знака не несёт: упавший объём работы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прочерк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действительно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при этом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минус 6,0 процентного пункта. Второй подтверждающий случай вечера — хирурги с подсказкой модели на септическом шоке: 0,712 против 0,820 у хирургов без подсказки.</a:t>
            </a:r>
          </a:p>
          <a:p>
            <a:r>
              <a:t/>
            </a:r>
          </a:p>
          <a:p>
            <a:r>
              <a:t>Чем восьмая форма отличается от двух соседних. В пятой сменилась рука — здесь рука та же, и на этом стоит измерение: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 Измерен пока один знак; обратный случай получит свой номер, а не расширит это определение задним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звучит так: копаешь — а это не модель. Порог на приборе, таблица правил, оптика, протокол или новая роль в процессе. Линия эта про принадлежность выигрыша и вины, а не про их наличие: в том же вечере есть разборы, где выигрыш принадлежит именно модели, и они названы по именам. Счёт ведётся по реестру номинаций и берётся из реестра на день сборки: он читался десять, потом двенадцать, потом снова десять,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всякой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уже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по простой причине: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 Градация же требует обратного: называть ступень вслух, в том числе свою.</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Для изображения она укладывается в смену, для текста — в момент подписи, для прогноза — в следующий срез данных для регулятора, для структуры — во вторую фазу испытаний, через годы.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что человек способен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 причём на той минуте, когда объявляется закрытым собственный долг. Держится опора механизмом и структурой: на 106 опытах пара работает хуже самой модели там, где сильнее модель, и лучше обеих сторон там, где сильнее человек, — то есть знак результата пары задаёт распределение ошибок по случаям.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года.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около шестидесяти процентов отзывов к концу исследования оставались неразрешёнными.</a:t>
            </a:r>
          </a:p>
          <a:p>
            <a:r>
              <a:t/>
            </a:r>
          </a:p>
          <a:p>
            <a:r>
              <a:t>Вторая половина подтверждается двумя разборами вечера. В исследовании подбора дозы два смертельных исхода — программу остановили, исходы остались.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принятого не врачом, снят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три состояния на одних и тех же случаях.</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состояние — человек без модели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триаж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Триаж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германское исследование скрининга, 2025</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(дата среза)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триаж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число для доли «назвала больными»}}</a:t>
            </a:r>
          </a:p>
        </p:txBody>
      </p:sp>
      <p:sp>
        <p:nvSpPr>
          <p:cNvPr id="7" name="Rounded Rectangle 6"/>
          <p:cNvSpPr/>
          <p:nvPr/>
        </p:nvSpPr>
        <p:spPr>
          <a:xfrm>
            <a:off x="6178143" y="1335024"/>
            <a:ext cx="5510631"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{{нет в главе: число для доли «не стала пугать»}}</a:t>
            </a:r>
          </a:p>
        </p:txBody>
      </p:sp>
      <p:sp>
        <p:nvSpPr>
          <p:cNvPr id="10" name="Rounded Rectangle 9"/>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2" name="Rectangle 11"/>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5510631"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a:t>
            </a:r>
          </a:p>
        </p:txBody>
      </p:sp>
      <p:sp>
        <p:nvSpPr>
          <p:cNvPr id="6" name="TextBox 5"/>
          <p:cNvSpPr txBox="1"/>
          <p:nvPr/>
        </p:nvSpPr>
        <p:spPr>
          <a:xfrm>
            <a:off x="640080" y="1690796"/>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свой счёт классического режима для этого разбора}}</a:t>
            </a:r>
          </a:p>
        </p:txBody>
      </p:sp>
      <p:sp>
        <p:nvSpPr>
          <p:cNvPr id="7" name="Rounded Rectangle 6"/>
          <p:cNvSpPr/>
          <p:nvPr/>
        </p:nvSpPr>
        <p:spPr>
          <a:xfrm>
            <a:off x="6178143" y="1335024"/>
            <a:ext cx="5510631"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11" name="Rounded Rectangle 10"/>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Цена обеих ошибок.</a:t>
            </a:r>
            <a:r>
              <a:rPr sz="141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410" b="0" i="0">
                <a:solidFill>
                  <a:srgbClr val="21295C"/>
                </a:solidFill>
                <a:latin typeface="Arial"/>
              </a:rPr>
              <a:t/>
            </a:r>
            <a:r>
              <a:rPr sz="1410" b="1" i="0">
                <a:solidFill>
                  <a:srgbClr val="21295C"/>
                </a:solidFill>
                <a:latin typeface="Arial"/>
              </a:rPr>
              <a:t>Оба классических режима посчитаны на одной выборке:</a:t>
            </a:r>
            <a:r>
              <a:rPr sz="141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 против них.</a:t>
            </a:r>
            <a:r>
              <a:rPr sz="141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410" b="0" i="0">
                <a:solidFill>
                  <a:srgbClr val="21295C"/>
                </a:solidFill>
                <a:latin typeface="Arial"/>
              </a:rPr>
              <a:t/>
            </a:r>
            <a:r>
              <a:rPr sz="1410" b="0" i="0">
                <a:solidFill>
                  <a:srgbClr val="21295C"/>
                </a:solidFill>
                <a:latin typeface="Arial"/>
              </a:rPr>
              <a:t>База: </a:t>
            </a:r>
            <a:r>
              <a:rPr sz="1410" b="1" i="0">
                <a:solidFill>
                  <a:srgbClr val="21295C"/>
                </a:solidFill>
                <a:latin typeface="Arial"/>
              </a:rPr>
              <a:t>49 618 пациентов</a:t>
            </a:r>
            <a:r>
              <a:rPr sz="141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130" b="0" i="0">
                <a:solidFill>
                  <a:srgbClr val="21295C"/>
                </a:solidFill>
                <a:latin typeface="Arial"/>
              </a:rPr>
              <a:t/>
            </a:r>
            <a:r>
              <a:rPr sz="113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410" b="0" i="0">
                <a:solidFill>
                  <a:srgbClr val="21295C"/>
                </a:solidFill>
                <a:latin typeface="Arial"/>
              </a:rPr>
              <a:t/>
            </a:r>
            <a:r>
              <a:rPr sz="1410" b="0" i="0">
                <a:solidFill>
                  <a:srgbClr val="21295C"/>
                </a:solidFill>
                <a:latin typeface="Arial"/>
              </a:rPr>
              <a:t>Чем это делают сегодня: </a:t>
            </a:r>
            <a:r>
              <a:rPr sz="1410" b="0" i="1">
                <a:solidFill>
                  <a:srgbClr val="21295C"/>
                </a:solidFill>
                <a:latin typeface="Arial"/>
              </a:rPr>
              <a:t>прогноз на структурированных данных</a:t>
            </a:r>
            <a:r>
              <a:rPr sz="141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триаж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триаж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496713"/>
          </a:xfrm>
          <a:prstGeom prst="roundRect">
            <a:avLst>
              <a:gd name="adj" fmla="val 1220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923177"/>
            <a:ext cx="11441887" cy="2313030"/>
          </a:xfrm>
          <a:prstGeom prst="roundRect">
            <a:avLst>
              <a:gd name="adj" fmla="val 1317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014617"/>
            <a:ext cx="11112703" cy="2221590"/>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177962"/>
          </a:xfrm>
          <a:prstGeom prst="roundRect">
            <a:avLst>
              <a:gd name="adj" fmla="val 1399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04426"/>
            <a:ext cx="11441887" cy="2631781"/>
          </a:xfrm>
          <a:prstGeom prst="roundRect">
            <a:avLst>
              <a:gd name="adj" fmla="val 115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695866"/>
            <a:ext cx="11112703" cy="2540341"/>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триаж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официальная публикация действующей редакции шкалы раннего предупреждения, профессиональное общество, год редакции}}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порядок разбора врачебной ошибки — нормативного акта глава не называет, процедура описана без ссылки}}</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рамка четырёх участников — глава называет только «работы 2019 и 2020 годов», авторов и издание не называет}}</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составление расписания медсестёр.</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5. Исполнитель сменился</a:t>
            </a:r>
            <a:r>
              <a:rPr sz="135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6. Изменился порядок работ</a:t>
            </a:r>
            <a:r>
              <a:rPr sz="1350" b="0" i="0">
                <a:solidFill>
                  <a:srgbClr val="21295C"/>
                </a:solidFill>
                <a:latin typeface="Arial"/>
              </a:rPr>
              <a:t> — сортировка до приёма. </a:t>
            </a:r>
            <a:r>
              <a:rPr sz="135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7. Сместилась цена ошибки</a:t>
            </a:r>
            <a:r>
              <a:rPr sz="1350" b="0" i="0">
                <a:solidFill>
                  <a:srgbClr val="21295C"/>
                </a:solidFill>
                <a:latin typeface="Arial"/>
              </a:rPr>
              <a:t> — разрыв между нормой и проверкой.</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8. Исполнитель тот же, но стал хуже</a:t>
            </a:r>
            <a:r>
              <a:rPr sz="135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восьмая форма отличается от двух соседних: в пятой сменилась </a:t>
            </a:r>
            <a:r>
              <a:rPr sz="1350" b="1" i="0">
                <a:solidFill>
                  <a:srgbClr val="21295C"/>
                </a:solidFill>
                <a:latin typeface="Arial"/>
              </a:rPr>
              <a:t>рука</a:t>
            </a:r>
            <a:r>
              <a:rPr sz="1350" b="0" i="0">
                <a:solidFill>
                  <a:srgbClr val="21295C"/>
                </a:solidFill>
                <a:latin typeface="Arial"/>
              </a:rPr>
              <a:t> — здесь рука та же, и на этом стоит измерение. В форме 4а упал </a:t>
            </a:r>
            <a:r>
              <a:rPr sz="1350" b="1" i="0">
                <a:solidFill>
                  <a:srgbClr val="21295C"/>
                </a:solidFill>
                <a:latin typeface="Arial"/>
              </a:rPr>
              <a:t>объём</a:t>
            </a:r>
            <a:r>
              <a:rPr sz="1350" b="0" i="0">
                <a:solidFill>
                  <a:srgbClr val="21295C"/>
                </a:solidFill>
                <a:latin typeface="Arial"/>
              </a:rPr>
              <a:t> — здесь объём тот же, упала </a:t>
            </a:r>
            <a:r>
              <a:rPr sz="1350" b="1" i="0">
                <a:solidFill>
                  <a:srgbClr val="21295C"/>
                </a:solidFill>
                <a:latin typeface="Arial"/>
              </a:rPr>
              <a:t>доля находок</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десять строк реестра из тринадцати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вендора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вендора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Устройство отозвали за год. Решения этого года остались</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8" name="Rounded Rectangle 7"/>
          <p:cNvSpPr/>
          <p:nvPr/>
        </p:nvSpPr>
        <p:spPr>
          <a:xfrm>
            <a:off x="502920" y="2622673"/>
            <a:ext cx="5437479" cy="2181386"/>
          </a:xfrm>
          <a:prstGeom prst="roundRect">
            <a:avLst>
              <a:gd name="adj" fmla="val 139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0" name="TextBox 9"/>
          <p:cNvSpPr txBox="1"/>
          <p:nvPr/>
        </p:nvSpPr>
        <p:spPr>
          <a:xfrm>
            <a:off x="667512" y="3134300"/>
            <a:ext cx="5108295" cy="151431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Допуск</a:t>
            </a:r>
          </a:p>
          <a:p>
            <a:pPr algn="l">
              <a:lnSpc>
                <a:spcPct val="126000"/>
              </a:lnSpc>
            </a:pPr>
            <a:r>
              <a:rPr sz="1450" b="0" i="0">
                <a:solidFill>
                  <a:srgbClr val="21295C"/>
                </a:solidFill>
                <a:latin typeface="Arial"/>
              </a:rPr>
              <a:t>• Партию</a:t>
            </a:r>
          </a:p>
        </p:txBody>
      </p:sp>
      <p:sp>
        <p:nvSpPr>
          <p:cNvPr id="11" name="Rounded Rectangle 10"/>
          <p:cNvSpPr/>
          <p:nvPr/>
        </p:nvSpPr>
        <p:spPr>
          <a:xfrm>
            <a:off x="6251295" y="2622673"/>
            <a:ext cx="5437479" cy="2181386"/>
          </a:xfrm>
          <a:prstGeom prst="roundRect">
            <a:avLst>
              <a:gd name="adj" fmla="val 13972"/>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3" name="TextBox 12"/>
          <p:cNvSpPr txBox="1"/>
          <p:nvPr/>
        </p:nvSpPr>
        <p:spPr>
          <a:xfrm>
            <a:off x="6415887" y="3134300"/>
            <a:ext cx="5108295" cy="151431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Исход исследования подбора дозы</a:t>
            </a:r>
          </a:p>
          <a:p>
            <a:pPr algn="l">
              <a:lnSpc>
                <a:spcPct val="126000"/>
              </a:lnSpc>
            </a:pPr>
            <a:r>
              <a:rPr sz="1450" b="0" i="0">
                <a:solidFill>
                  <a:srgbClr val="21295C"/>
                </a:solidFill>
                <a:latin typeface="Arial"/>
              </a:rPr>
              <a:t>• Уже проведённую процедуру</a:t>
            </a:r>
          </a:p>
        </p:txBody>
      </p:sp>
      <p:sp>
        <p:nvSpPr>
          <p:cNvPr id="14" name="Rounded Rectangle 13"/>
          <p:cNvSpPr/>
          <p:nvPr/>
        </p:nvSpPr>
        <p:spPr>
          <a:xfrm>
            <a:off x="374904" y="4895500"/>
            <a:ext cx="11441887" cy="1340707"/>
          </a:xfrm>
          <a:prstGeom prst="roundRect">
            <a:avLst>
              <a:gd name="adj" fmla="val 22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410" b="0" i="0">
                <a:solidFill>
                  <a:srgbClr val="21295C"/>
                </a:solidFill>
                <a:latin typeface="Arial"/>
              </a:rPr>
              <a:t/>
            </a:r>
            <a:r>
              <a:rPr sz="141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410" b="0" i="0">
                <a:solidFill>
                  <a:srgbClr val="21295C"/>
                </a:solidFill>
                <a:latin typeface="Arial"/>
              </a:rPr>
              <a:t/>
            </a:r>
            <a:r>
              <a:rPr sz="141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