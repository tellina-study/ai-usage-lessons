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2256-021-00307-0"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126/science.aax2342"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8/radiol.252590" TargetMode="External"/><Relationship Id="rId4" Type="http://schemas.openxmlformats.org/officeDocument/2006/relationships/hyperlink" Target="https://doi.org/10.1148/radiol.24368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 Id="rId5" Type="http://schemas.openxmlformats.org/officeDocument/2006/relationships/hyperlink" Target="https://doi.org/10.1148/radiol.242566"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01/jamainternmed.2017.154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www.medrxiv.org/content/10.1101/2025.07.10.25331333"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01/jamainternmed.2025.0821"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j.gie.2014.07.058"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j.gie.2014.07.058"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1016/S2468-1253%2825%2900133-5"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healthforum.2025.317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Уровни значимости с кадра сняты, и назвать их надо здесь, иначе они потеряются вовсе. Пара 74 и 81 из ста: чувствительность 80,5 процента при интервале от 76,4 до 84,2 против 73,8 при интервале от 68,9 до 78,3, уровень значимости 0,031 — различие устойчиво. Пара 5,1 и 6,1 на тысячу: отношение частот 1,2 при интервале от 1,0 до 1,5, уровень 0,052 — значимости не достигла, и нижняя граница интервала упирается в единицу. Разница между этими двумя парами и есть то, ради чего они стоят рядом.</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порог, кто решает, годно ли измерение, и кто пересчитывает долю под свою распространённость. Внедрения идут после.</a:t>
            </a:r>
          </a:p>
          <a:p>
            <a:r>
              <a:t/>
            </a:r>
          </a:p>
          <a:p>
            <a:r>
              <a:t>Семь разборов берут разные места, где можно провалиться, не ошибившись в чтении, и назвать стоит каждый — зал услышит эти имена ещё по разу у каждого кадра.</a:t>
            </a:r>
          </a:p>
          <a:p>
            <a:r>
              <a:t/>
            </a:r>
          </a:p>
          <a:p>
            <a:r>
              <a:t>Два на стадии исследования.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«Отбор в программу повышенного внимания» — провал определения цели: целевой переменной взяты будущие расходы на лечение, а решение принималось о болезни, и из ста мест в программе почти двадцать девять уходило не тем, кому нужнее.</a:t>
            </a:r>
          </a:p>
          <a:p>
            <a:r>
              <a:t/>
            </a:r>
          </a:p>
          <a:p>
            <a:r>
              <a:t>Четыре на стадии диагноза, и они идут по возрастанию того, что измерено. «Замер взгляда» отвечает не «сколько», а «через что»: один и тот же читатель на одних и тех же маммограммах пропускает вдвое больше раков там, где подсказка молчала, и видно это в движении глаза — ложная подсказка сузила зрительный поиск. Рядом, на том же кадре, та же величина с обратным знаком: в другой программе, где разметку читатель запрашивает сам, пропущенных раков стало меньше, — и модель одна там обошла пару. «Патологи читают срезы» показывает оба знака сразу внутри одного опыта: при верной подсказке шансы верного ответа растут вчетверо, при неверной вчетверо падают, и на группе в целом прибавка незначима — отчёт с одним числом показал бы «эффекта нет». «Шведское испытание» — единственный разбор раздела, где пара выиграла: одно человеческое чтение поверх модели с арбитражем на расхождениях пропускает двадцать раков из ста против двадцати шести у двойного человеческого чтения, и человеческого чтения при этом вдвое меньше. «Хирурги оценивают риск» закрывает обещание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«Шведское испытание» и «хирурги оценивают риск»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Седьмой разбор — «модель раннего предупреждения о сепсисе» — пришёл из снятой стадии наблюдения, и держится он на двух базах, которые нельзя путать: тревога приходит на 18 госпитализаций из ста, а подтверждается 12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8 из ста против 12 у модели — из этой полосы модель не вышла. Независимая проверка сказала дословно: «добавляет мало к тому, что врачи и так делают». Разбор стоит последним потому, что он единственный в разделе, где решение принимается непрерывно, а не по одному случаю.</a:t>
            </a:r>
          </a:p>
          <a:p>
            <a:r>
              <a:t/>
            </a:r>
          </a:p>
          <a:p>
            <a:r>
              <a:t>Названия произносятся здесь затем, чтобы потом узнавать слайд по уже сказанному имени: каждый из шести выйдет на экран ровно под этим заголовком. Номер «Пример N» носят только эти шесть: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семь разборов — сперва два про стадию исследования, потом четыре про точность и качество диагноза, и седьмой про непрерывное наблюдение.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порог.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одного порога. Выбирает порог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одном пороге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a:p>
            <a:r>
              <a:t/>
            </a:r>
          </a:p>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порог. Черта, за которой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 по тому самому правилу из инструкции кабинета, которого в приборе нет.</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одного порога.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национальных программ скрининга, их собственная ежедневная работа, измерение прямо в движении глаза. Собраны все четыре будут в конце раздела. Кадр держит два опыта сразу, и держит их намеренно: величина у них одна, а знак противоположный, и разницу задаёт ровно один управляемый параметр.</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имени изделия работа не называет.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случаях, где подсказка была ложноотрицательной, та же величина составила 39 — шестьдесят один пропущенный из ста, — и падение в 32 пункта значимо. Знаменатель здесь назвать обязательно: это подгруппа в четырнадцать случаев, а не весь набор из шестидесяти. Медиана по десяти читателям устойчивее средней к одному выпадающему читателю. На кадре величина стоит в пропущенных раках, а не в чувствительности: доля верных заключений сама по себе залу ничего не говорит, а «шестьдесят один пропущенный из ста» говорит.</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то есть ложных вызовов стало 61 вместо 79, p равно 0,004. Пару надо читать вместе: ложноотрицательная подсказка стоит читателю 32 пункта на пропусках, ложноположительная приносит ему 18 пунктов на ложных вызовах.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«Быть внимательнее» здесь не мера, и это стоит сказать прямо, потому что именно так на такое падение и отвечают.</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 Изделие работа называет: Transpara 2.1.0 производства ScreenPoint Medical, допущено FDA и CE. Чувствительность выросла с 81,7 из ста (735 из 900) до 87,2 (785 из 900) — то есть пропущенных стало 115 вместо 165, — но прибавка 5,6 пункта идёт с интервалом от минус 0,3 до плюс 11,4, и значимости она не достигла: p равно 0,06. Эти минус три десятых и есть весь ответ на вопрос, почему значение «почти значимо»: интервал разницы накрывает ноль на три десятых пункта.</a:t>
            </a:r>
          </a:p>
          <a:p>
            <a:r>
              <a:t/>
            </a:r>
          </a:p>
          <a:p>
            <a:r>
              <a:t>Площадь под кривой выросла с 0,93 до 0,97, и здесь разница с нулём не граничит: плюс 0,03 при интервале от 0,02 до 0,05, p меньше 0,001, и выросла она у всех двенадцати читателей. Два уровня значимости надо произносить парой — первый меньше одной тысячной, второй выше порога. Ловушка вычитания: 0,97 минус 0,93 даёт 0,04, а работа печатает плюс 0,03, потому что считала по точным значениям до округления; если зал вычтет сам, он получит не то число, и поэтому разницу надо называть вслух, а не оставлять арифметике.</a:t>
            </a:r>
          </a:p>
          <a:p>
            <a:r>
              <a:t/>
            </a:r>
          </a:p>
          <a:p>
            <a:r>
              <a:t>Главное из второго опыта, и оно стоит на оси. Модель одна дала 0,99 при интервале 0,97–1,00 — выше пары читателя с системой. Авторы говорят это прямо: AI alone outperformed the combined efforts of readers and AI. То есть второй опыт не исключение из правила раздела, а его четвёртое подтверждение: пара выше человека и ниже сильнейшей из сторон. Поэтому формулировка «модель сделала врачей лучше» этими данными держится — площадь выросла у всех двенадцати; не держится другое, «врачи с моделью сработали как модель»: 0,97 против 0,99.</a:t>
            </a:r>
          </a:p>
          <a:p>
            <a:r>
              <a:t/>
            </a:r>
          </a:p>
          <a:p>
            <a:r>
              <a:t>Фокусировка. Охват площади груди фиксациями взгляда упал с 11,1 до 9,5 из ста — то же сужение поиска, что и в первом опыте.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Время чтения не изменилось — 29,4 против 30,8 секунды. Специфичность тоже не изменилась: 89,0 против 91,1. Вывод из этой тройки: качество осмотра выделенной области выросло, а осмотр остального поля сжался — и сами авторы пишут, что сжатый охват может повышать риск пропустить раки, которых модель не нашла.</a:t>
            </a:r>
          </a:p>
          <a:p>
            <a:r>
              <a:t/>
            </a:r>
          </a:p>
          <a:p>
            <a:r>
              <a:t>Почему знаки разошлись —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показывается только категория риска, а разметку читатель запрашивает сам; авторы прямо называют это стратегией, сохраняющей собственный поиск радиолога. Порядок предъявления — управляемый параметр с измеренной ценой: интерфейс, показывающий отметку вместе со снимком, покупает скорость за 32 пункта на пропусках там, где подсказка молчала. Той же команде другой замер даёт за порядок предъявления 8,9 пункта.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при ложной подсказке оно оказалось ценой. Значит, форма знака не несёт: знак задаёт правота подсказки и порядок её предъявления.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Сила свидетельства названа вместе с числом. Первая работа — читатель против себя, по механизму сильная, по выборке читателей средняя: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 Вторая работа — тоже читатель против себя, но ветвь «без модели» в ней переиспользована из прежнего читательского исследования, и порядок сессий не рандомизирован: авторы называют это прагматическим ограничением, промежуток не меньше семи недель, память исключить нельзя. Один производитель снимков, одна система. Первичного исхода работа не объявляет вовсе — слова «primary» в ней нет, регистрации нет, цель двойная: и качество чтения, и поведение взгляда. Иерархию исходов задаём мы, и назвать это надо как наш выбор: площадь под кривой взята головной величиной потому, что она единственная имеет интервал разницы, не накрывающий ноль.</a:t>
            </a:r>
          </a:p>
          <a:p>
            <a:r>
              <a:t/>
            </a:r>
          </a:p>
          <a:p>
            <a:r>
              <a:t>Оговорки — вслух. Оба набора обогащены раками до половины, тогда как в живой программе рак встречается у единиц на тысячу. ScreenPoint Medical предоставил испытанную систему, у двух авторов второй работы институциональные соглашения и гранты с ним же, финансирование государственно-частное. Результат это не отменяет — дизайн рецензирован, интервалы явные, знаменатели у каждой доли, — но назвать интересы нужно, и рядом с ними обязательна вторая половина: ни одни данные этого опыта в обучении системы не использовались. Называть одну половину без другой нельзя, иначе оговорка превращается в намёк.</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 Во втором опыте ступень формально та же, а процедура другая, и этого хватило, чтобы знак перевернулся.</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a:p>
            <a:r>
              <a:t/>
            </a:r>
          </a:p>
          <a:p>
            <a:r>
              <a:t>**Источники.** </a:t>
            </a:r>
            <a:r>
              <a:rPr u="sng">
                <a:solidFill>
                  <a:srgbClr val="065A82"/>
                </a:solidFill>
                <a:hlinkClick r:id="rId4"/>
              </a:rPr>
              <a:t>Gommers J. J. J., Sechopoulos I., Broeders M. J. M. и соавт., Radiologists' Performance and Visual Search Patterns When Reading Screening Mammograms with Artificial Intelligence, Radiology 2025, DOI 10.1148/radiol.243688, PMID 40626877</a:t>
            </a:r>
            <a:r>
              <a:t>. Transpara 2.1.0, ScreenPoint Medical; допущено FDA и CE. Двенадцать читателей, 150 исследований, 3 600 прочтений, 900 на долю внутри режима. Площадь под кривой: читатель один 0,93 (0,91–0,96), читатель с системой 0,97 (0,95–0,98), модель одна 0,99 (0,97–1,00); разница пары с читателем +0,03 (0,02–0,05). Ветвь «без модели» переиспользована из прежнего исследования, порядок сессий не рандомизирован. Институциональные соглашения с производителем раскрыты; данные опыта в обучении системы не использовались.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Уровни значимости произносятся с кадра снятыми, но произносятся. По группе в целом прибавка пары к патологу значимости не достигла: отношение шансов 1,281 при p равном 0,184 — именно это и даёт «эффекта нет» в отчёте с одним числом. А оба четырёхкратных сдвига значимы надёжно: отношение шансов 4,289 при верной подсказке (интервал от 2,360 до 7,794) и 0,253 при неверной, p меньше одной тысячной в обе стороны. Пара читается вместе: на группе эффекта нет, а в каждую сторону он вчетверо.</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у плеча с моделью 80,5 при интервале от 76,4 до 84,2, и различие устойчиво, p равно 0,031. Уровень значимости с кадра снят, а произнести его стоит: это единственное из трёх чисел испытания, где различие доказано, — у интервальных раков показана не-худшесть, а объём чтения посчитан на другой выборке.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a:p>
            <a:r>
              <a:t/>
            </a:r>
          </a:p>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5"/>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опыт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Несущая ось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достроить этот столбец нечем,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Два счёта, снятые с кадра. Первый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И второй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подмножество, а не как итог — и прежняя редакция кадра головного числа не несла вовсе, из-за чего подмножество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своду: 0,64 при интервале от 0,53 до 0,74, статистика с девяноста восемью степенями свободы. Вторая — на том же подмножестве,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подмножестве и на сравнимых степенях свободы. Поставить рядом с минус 0,54 число 0,64, как делала прежняя редакция, значит свести два разных вопроса на двух разных подмножествах в один вывод, и зал прочтёт их как две половины одного замера.</a:t>
            </a:r>
          </a:p>
          <a:p>
            <a:r>
              <a:t/>
            </a:r>
          </a:p>
          <a:p>
            <a:r>
              <a:t>Обратное подмножество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подмножестве 0,74 при интервале от 0,63 до 0,85, по всему своду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и устроен этот опыт так. Тридцать хирургов экстренной помощи развели жребием на две группы по пятнадцать: одни оценивают риск по письменному описанию случая, не видя машинной оценки, другие — после того, как познакомились с подсказкой модели. Случаев сто пятьдесят, исходы у всех ста пятидесяти прослежены вперёд тридцать дней. Сравнение редкое по устройству: обе человеческие группы и модель измерены на одних и тех же случаях, и разряд свидетельства высокий сразу по двум признакам — жребий между группами и проспективно зафиксированный исход. Называть устройство надо целиком: сказать «пятнадцать хирургов оценивали риск» буквально не ложно, но третье плечо — хирург с подсказкой — становится от этого невидимым, и владелец курса именно так его на кадре и не нашёл.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Исходы тридцатого дня прослежены вперёд, и это надо произнести точно: они служат эталоном, по которому считается точность оценок, а не последствием подсказки. Описания случаев составлены по уже случившимся поступлениям, оценки хирургов в лечение этих больных не входили, и ни одно решение участника опыта до больного не дошло.</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подмножестве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подмножество.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своду (на подмножестве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Свод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четыре глагола, которыми этот свод пересказывают вслух, обязаны лечь на четыре строки своей же таблицы, а не на четыре произвольных: у хирургов мерили оценку риска по площади под кривой, у врачей с языковой моделью — балл рассуждения по рубрике, свод мерил размеры эффекта, замер взгляда — пропущенные раки и ложные вызовы, а движение глаза было у него вторым, объясняющим измерением. Прежний пересказ подставлял «движение глаза» на место строки, где стоит доля находок, а у строки свода глагола не давал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переехал сюда из отдельного раздела о динамическом наблюдении, который снят целиком. Стадия наблюдения как самостоятельная из лекции ушла, а случай остался: он про то же, про что весь этот раздел, — про решение, принятое по данным, и про то, чем за него платят.</a:t>
            </a:r>
          </a:p>
          <a:p>
            <a:r>
              <a:t/>
            </a:r>
          </a:p>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столбцами. Пропустить ухудшение: между моментом, когда состояние начало портиться, и моментом, когда это заметили, проходят часы, и при сепсисе за эти часы меняется исход — от капельницы с антибиотиком до реанимации и органной недостаточности. Поднять ложную тревогу: анализы «чтобы исключить», антибиотик широкого спектра «на всякий случай» и его вклад в устойчивость возбудителя, время сестры и врача, снятое с другого пациента, и — через сотню повторений — привычка закрывать такие оповещения не читая. Последнее слагаемое самое дорогое и самое незаметное: оно накапливается и расплачивается в тот единственный раз, когда оповещение было настоящим. Обе ошибки платит один и тот же человек — дежурная смена, и этим стадия отличается от постановки диагноза, где лишнее обследование оплачивает пациент, а пропущенную находку — исходом.</a:t>
            </a:r>
          </a:p>
          <a:p>
            <a:r>
              <a:t/>
            </a:r>
          </a:p>
          <a:p>
            <a:r>
              <a:t>Вопрос залу, и задать его стоит вслух: какую долю автоматических оповещений вы в своём рабочем контуре закрываете не читая. Ответ на него и есть база, с которой дальше читаются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«Почти все» звучит чаще, чем хотелось бы, и звучит от людей, которые этот контур сами и настраивали.</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заявлено различение от нуля целых семидесяти шести сотых до нуля целых восьмидесяти трёх; по второй — от нуля целых восьмидесяти трёх до нуля целых восьмидесяти шести, и это заявление поставщика, напечатанное внутри рецензируемой работы. Совпадение верхней границы первого заявления и нижней границы второго численное и ничего не значит: одной полосы из них не складывается. Независимая внешняя проверка на тридцати восьми тысячах четырёхстах пятидесяти пяти госпитализациях дала ноль целых шестьдесят три сотых. Шкалу различения произношу вслух: ноль целых пять десятых — это монетка, единица — без промаха. Разница между нулём целых семьюдесятью шестью и нулём целых шестьюдесятью тремя — это разница в пригодности: на первой можно опереться при настройке порога, на второй либо поток тревог непосилен, либо случаи проходят мимо.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И сравнение, ради которого всё это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превосходства это сравнение не устанавливает, и утверждать его нельзя. Но и обратное неверно: модель не провалилась — она встала примерно туда же, куда уже стояла шкала, стоившая несопоставимо дешевле.</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Последнее, и оно переносится за пределы медицины почти без правок. В двадцати четырёх больницах за время вирусной эпидемии суточный поток тревог вырос с девятисот пятидесяти трёх до тысячи трёхсот шестидесяти трёх, тогда как загрузка упала с десяти тысяч ста пятидесяти девяти до шести тысяч шестисот тридцати четырёх пациентов. Значит доля пациентов с тревогой выросла с девяти до двадцати одного из ста.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В момент, когда поток меняется сильнее всего, инструмент врёт больше всего —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Разряд у этих проверок разный,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a:p>
            <a:r>
              <a:t/>
            </a:r>
          </a:p>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Порог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Порог, назначенный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двух разборов стадии исследования не провалилось само чтение. Провалились развёртывание и определение цели — два разных места, и ни одно из них не лечится лучшей моделью. Это то, что стоит унести целиком: вопрос «насколько точна ваша система» в каждом из двух случаев имел хороший ответ, и ни в одном из двух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порог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упоминания про прибор насыщения крови: своего разбора под ним больше нет — дерматологический снят решением владельца. Изменения работы стоят поимённо: два из тайского случая и одно из разбора по прогнозу расходов.</a:t>
            </a:r>
          </a:p>
          <a:p>
            <a:r>
              <a:t/>
            </a:r>
          </a:p>
          <a:p>
            <a:r>
              <a:t>И про полужирную строку в четвёртой шапке — она здесь не фигура речи. Порог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Вторая половина раздела как раз про то место, где подпись остаётся за человеком, — и там к этому пустому месту добавляется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почему этот кадр стоит здесь и не притворяется частью стадии. Шесть действий стадии записи, которые мы считали двумя кадрами раньше, такую систему не содержат ни одним пунктом. Вход у неё на ведении записи: она слушает живой приём. А выход — на постановке диагноза, то есть в разделе, который лекция уже закрыла. Это шов между двумя стадиями, и называть его надо швом. Инструмент, который не ложится в разбивку по стадиям, — не исключение из правила и не недочёт разбивки: это обычное дело, когда средство идёт поперёк того, как работа была устроена до него,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которое уже разобрано в этом разделе.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 в разделе один, и разбор у него полный: доля обнаружения, измеренная у тех же врачей до появления помощника и после периода работы с ним, — единственное прямое свидетельство того, что навык расходуется, если инструмент исключить из работы.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ячейки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ячейками, и причина в самом разделе: ни одной ячейки он окну не прибавил.</a:t>
            </a:r>
          </a:p>
          <a:p>
            <a:r>
              <a:t/>
            </a:r>
          </a:p>
          <a:p>
            <a:r>
              <a:t>Двенадцать показанных ячеек — это четыре строки задач на три вида данных. За четыре раздела занято четыре ячейки, и те же четыре стояли уже два раздела назад. Восемь ячеек пусты с раздела об анализе данных, и читать надо именно их: пустая ячейка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в которое дописывают столбец под каждый новый случай, перестаёт что-либо отсеивать — под такую сетку подойдёт любой случай.</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ячейкой этого раздела в сетке стоит распознавание на снимке в режиме второго читателя — ячейку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ячеек. Доверие к выводу модели, его калибровка, готовность человека работать без инструмента — всё это ячейки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ячейкой.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ячеек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ячейки можно сравнить между собой.</a:t>
            </a:r>
          </a:p>
          <a:p>
            <a:r>
              <a:t/>
            </a:r>
          </a:p>
          <a:p>
            <a:r>
              <a:t>И одно замечание про направление, которого в ячейках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Ячейка остаётся той же, а предмет решения меняется — и это тот случай, когда карта обязана дополняться словами. Отсюда и правило чтения любой такой сетки: имя ячейки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ячейка раздела лежит именно там. Окно курсовой сетки собрано под клинику, где читают снимок, текст и карту показателей. Дописать в него столбец посреди вечера значит сделать сетку такой, под которую подойдёт любой случай.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ячейки «задача × модальность» узнаваемы по прошлой лекции, а процедуры, которыми в них удерживают цену ошибки, у каждой ячейки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ячейке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четыре раздела в них не зашёл никто** — ни одна стадия медицины, ни один разбор лекции.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четырёх разделов уложились в четыре ячейки. Классификация на изображении занята дважды — первичным скринингом и слитым разделом исследования и диагноза. Распознавание на изображении дважды — теми же двумя. Поиск с генерацией на тексте трижды, с документами. Прогноз на структурированных данных — одним разделом, исследованием и диагнозом, куда переехал разбор модели сепсиса. Класс модели разделы не различает; различают их цена промаха и процедура вокруг человека.</a:t>
            </a:r>
          </a:p>
          <a:p>
            <a:r>
              <a:t/>
            </a:r>
          </a:p>
          <a:p>
            <a:r>
              <a:t>Два места встали вне окна, и назвать их надо словами, потому что в сетке их нет.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четыре раздела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 Это разбор модели сепсиса, переехавший в раздел исследования и диагноза вместе со снятым разделом наблюдения, — то есть один раздел платит здесь дважды.</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просмотренная площадь снимка сузилась с 11,1 до 9,5 процента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Счёт, который это подтверждал, стоял в разделе надзора и снят вместе с ним; здесь остаётся сама проверяемая половина — отзывают именно изделие с обученной моделью внутри, и запись о таком отзыве лежит на кадре.</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Числа этого замера на кадре больше нет: разбор надзора, который его считал и разводил его знаменатели, снят вместе со своим разделом. Если захочется произнести долю вслух — она была долей СОБЫТИЙ отзыва, а не долей изделий, и путать их нельзя; но предъявить её кадром сейчас нечем, и выдавать за показанное не надо.</a:t>
            </a:r>
          </a:p>
          <a:p>
            <a:r>
              <a:t/>
            </a:r>
          </a:p>
          <a:p>
            <a:r>
              <a:t>«В медицине всё необратимо» — утверждение шире любого замера, и проверять его надо так же, как чужие. Отзыв существует как процедура, и запись регулятора о нём стоит прямо на кадре: устройство из обращения вывести можно.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hyperlink" Target="https://www.accessdata.fda.gov/cdrh_docs/pdf18/DEN180001.pdf"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38/s42256-021-00307-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145/3313831.3376718"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36/bmjqs-2013-002627"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16/j.gie.2014.07.058"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2: глазное дно снимают на приёме, а не у офтальмолога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без офтальмолога</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Шведский скрининг без модели: зовут по возрасту — и что из этого выходит</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ЗОВУТ ПО ВОЗРАСТУ: НАШЛИ НА ОБСЛЕДОВАНИИ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случая на 1000</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снимок читают двое людей, модели нет</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контрольное плечо: 52 872 женщины, наблюдение два года</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2,0 из ста обследованных</a:t>
            </a:r>
          </a:p>
        </p:txBody>
      </p:sp>
      <p:sp>
        <p:nvSpPr>
          <p:cNvPr id="15" name="TextBox 14"/>
          <p:cNvSpPr txBox="1"/>
          <p:nvPr/>
        </p:nvSpPr>
        <p:spPr>
          <a:xfrm>
            <a:off x="6315303" y="273329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 и недели с открытым вопросом</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 ЗОВУТ ПО СПИСКУ: ПОЗДНЯЯ СТАДИЯ У НАЙДЕННЫХ</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распределяли жребием; 91 из 159 случаев против 62 из 160</a:t>
            </a:r>
          </a:p>
        </p:txBody>
      </p:sp>
      <p:sp>
        <p:nvSpPr>
          <p:cNvPr id="20" name="Rounded Rectangle 19"/>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11112703"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Шведская программа шлёт приглашение, снимок читают двое людей, расхождение разбирает третий. Никакой модели в этом порядке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тот, кого не позвали, однажды придёт сам — позже и стадией крупнее. Измерили его один раз, когда скрининг только вводили.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приглашения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возраст и интервал, ни одного её собственного признака.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числа взяты с разных программ и разных эпох: это две стороны цены, а не одна шкала</a:t>
            </a:r>
          </a:p>
        </p:txBody>
      </p:sp>
      <p:sp>
        <p:nvSpPr>
          <p:cNvPr id="22" name="Rectangle 2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Шведский скрининг с моделью: кому достаётся второе чтение</a:t>
            </a:r>
          </a:p>
        </p:txBody>
      </p:sp>
      <p:sp>
        <p:nvSpPr>
          <p:cNvPr id="4" name="Rounded Rectangle 3"/>
          <p:cNvSpPr/>
          <p:nvPr/>
        </p:nvSpPr>
        <p:spPr>
          <a:xfrm>
            <a:off x="502920" y="1335024"/>
            <a:ext cx="2673019"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У КОТОРЫХ РАК БЫЛ: НАШЛИ НА ОБСЛЕДОВАНИИ</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 различие устойчиво</a:t>
            </a:r>
          </a:p>
        </p:txBody>
      </p:sp>
      <p:sp>
        <p:nvSpPr>
          <p:cNvPr id="8" name="Rounded Rectangle 7"/>
          <p:cNvSpPr/>
          <p:nvPr/>
        </p:nvSpPr>
        <p:spPr>
          <a:xfrm>
            <a:off x="3340531"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1000 ОБСЛЕДОВАННЫХ</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 6,1</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 другая, меньшая выборка той же программы; значимости не достигла</a:t>
            </a:r>
          </a:p>
        </p:txBody>
      </p:sp>
      <p:sp>
        <p:nvSpPr>
          <p:cNvPr id="12" name="Rounded Rectangle 11"/>
          <p:cNvSpPr/>
          <p:nvPr/>
        </p:nvSpPr>
        <p:spPr>
          <a:xfrm>
            <a:off x="6178143"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9015755"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20" name="Rounded Rectangle 19"/>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24859"/>
            <a:ext cx="5373471" cy="271134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Та же программа и то же приглашение, что на кадре перед этим. Изменилось одно: кому достаётся второе чтение.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делали.</a:t>
            </a:r>
            <a:r>
              <a:rPr sz="1250" b="0" i="0">
                <a:solidFill>
                  <a:srgbClr val="21295C"/>
                </a:solidFill>
                <a:latin typeface="Arial"/>
              </a:rPr>
              <a:t> Женщин распределяли жребием. Одно плечо читают двое людей, арбитраж на расхождении. В другом радиолог читает первым и заключение выдаёт сам, а модель ставит снимку оценку риска от 1 до 10: при оценке 1–9 второго чтения нет вовсе, при 10 остаётся двойное.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Это механика отбора:</a:t>
            </a:r>
            <a:r>
              <a:rPr sz="1250" b="0" i="0">
                <a:solidFill>
                  <a:srgbClr val="21295C"/>
                </a:solidFill>
                <a:latin typeface="Arial"/>
              </a:rPr>
              <a:t> заключение выдаёт человек, модель отбирает, кого прочтут дважды.</a:t>
            </a:r>
          </a:p>
        </p:txBody>
      </p:sp>
      <p:sp>
        <p:nvSpPr>
          <p:cNvPr id="22" name="TextBox 21"/>
          <p:cNvSpPr txBox="1"/>
          <p:nvPr/>
        </p:nvSpPr>
        <p:spPr>
          <a:xfrm>
            <a:off x="6278727" y="3524859"/>
            <a:ext cx="5373471" cy="2711348"/>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Устроено:</a:t>
            </a:r>
            <a:r>
              <a:rPr sz="1250" b="0" i="0">
                <a:solidFill>
                  <a:srgbClr val="21295C"/>
                </a:solidFill>
                <a:latin typeface="Arial"/>
              </a:rPr>
              <a:t> вход — маммограмма, выход — оценка риска и место в очереди. </a:t>
            </a:r>
            <a:r>
              <a:rPr sz="1250" b="1" i="0">
                <a:solidFill>
                  <a:srgbClr val="21295C"/>
                </a:solidFill>
                <a:latin typeface="Arial"/>
              </a:rPr>
              <a:t>Имени система не получила</a:t>
            </a:r>
            <a:r>
              <a:rPr sz="1250" b="0" i="0">
                <a:solidFill>
                  <a:srgbClr val="21295C"/>
                </a:solidFill>
                <a:latin typeface="Arial"/>
              </a:rPr>
              <a:t>; режим занимают Transpara, Lunit INSIGHT MMG, iCAD ProFound. </a:t>
            </a:r>
            <a:r>
              <a:rPr sz="1250" b="0" i="1">
                <a:solidFill>
                  <a:srgbClr val="21295C"/>
                </a:solidFill>
                <a:latin typeface="Arial"/>
              </a:rPr>
              <a:t>Распознавание на изображении.</a:t>
            </a:r>
          </a:p>
          <a:p>
            <a:pPr algn="l">
              <a:lnSpc>
                <a:spcPct val="126000"/>
              </a:lnSpc>
              <a:spcBef>
                <a:spcPts val="700"/>
              </a:spcBef>
            </a:pPr>
            <a:r>
              <a:rPr sz="1250" b="0" i="0">
                <a:solidFill>
                  <a:srgbClr val="21295C"/>
                </a:solidFill>
                <a:latin typeface="Arial"/>
              </a:rPr>
              <a:t/>
            </a:r>
            <a:r>
              <a:rPr sz="1250" b="1" i="0">
                <a:solidFill>
                  <a:srgbClr val="21295C"/>
                </a:solidFill>
                <a:latin typeface="Arial"/>
              </a:rPr>
              <a:t>Второго независимого человека большинство обследованных больше не получает.</a:t>
            </a:r>
            <a:r>
              <a:rPr sz="1250" b="0" i="0">
                <a:solidFill>
                  <a:srgbClr val="21295C"/>
                </a:solidFill>
                <a:latin typeface="Arial"/>
              </a:rPr>
              <a:t> Цена — в устройстве процедуры, не в точности прибора.</a:t>
            </a:r>
          </a:p>
          <a:p>
            <a:pPr algn="l">
              <a:lnSpc>
                <a:spcPct val="126000"/>
              </a:lnSpc>
              <a:spcBef>
                <a:spcPts val="700"/>
              </a:spcBef>
            </a:pPr>
            <a:r>
              <a:rPr sz="1250" b="0" i="0">
                <a:solidFill>
                  <a:srgbClr val="21295C"/>
                </a:solidFill>
                <a:latin typeface="Arial"/>
              </a:rPr>
              <a:t/>
            </a:r>
            <a:r>
              <a:rPr sz="1250" b="1" i="0">
                <a:solidFill>
                  <a:srgbClr val="21295C"/>
                </a:solidFill>
                <a:latin typeface="Arial"/>
              </a:rPr>
              <a:t>Германия:</a:t>
            </a:r>
            <a:r>
              <a:rPr sz="1250" b="0" i="0">
                <a:solidFill>
                  <a:srgbClr val="21295C"/>
                </a:solidFill>
                <a:latin typeface="Arial"/>
              </a:rPr>
              <a:t> двойное чтение сохранили и модель добавили к нему — найдено 6,7 против 5,7 на 1000 у 463 094 женщин, но жребия там не было. Одна фраза «внедрили модель в скрининг» — две разные процедуры.</a:t>
            </a:r>
          </a:p>
        </p:txBody>
      </p:sp>
      <p:sp>
        <p:nvSpPr>
          <p:cNvPr id="23" name="Rectangle 22"/>
          <p:cNvSpPr/>
          <p:nvPr/>
        </p:nvSpPr>
        <p:spPr>
          <a:xfrm>
            <a:off x="6091275" y="3524859"/>
            <a:ext cx="9144" cy="265330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вместо звонка в практику</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ДО СЕРВИСА → В СЕРВИСЕ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 частоту обращений подсчитал независимый отчёт по 12 месяцам данных</a:t>
            </a:r>
          </a:p>
        </p:txBody>
      </p:sp>
      <p:sp>
        <p:nvSpPr>
          <p:cNvPr id="8" name="Rounded Rectangle 7"/>
          <p:cNvSpPr/>
          <p:nvPr/>
        </p:nvSpPr>
        <p:spPr>
          <a:xfrm>
            <a:off x="3340531"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 В ГОД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сумма от числа обращений не зависит</a:t>
            </a:r>
          </a:p>
        </p:txBody>
      </p:sp>
      <p:sp>
        <p:nvSpPr>
          <p:cNvPr id="12" name="Rounded Rectangle 11"/>
          <p:cNvSpPr/>
          <p:nvPr/>
        </p:nvSpPr>
        <p:spPr>
          <a:xfrm>
            <a:off x="6178143"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ОДИН ГОД</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около 49 тысяч человек; весь подушевой платёж за него — около 7,6 млн</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ПРИ СЛИЯНИИ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TextBox 18"/>
          <p:cNvSpPr txBox="1"/>
          <p:nvPr/>
        </p:nvSpPr>
        <p:spPr>
          <a:xfrm>
            <a:off x="9152915"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разные величины в двух валютах, не одна в двух точках</a:t>
            </a:r>
          </a:p>
        </p:txBody>
      </p:sp>
      <p:sp>
        <p:nvSpPr>
          <p:cNvPr id="20" name="Rounded Rectangle 19"/>
          <p:cNvSpPr/>
          <p:nvPr/>
        </p:nvSpPr>
        <p:spPr>
          <a:xfrm>
            <a:off x="374904" y="3640890"/>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за случай.</a:t>
            </a:r>
            <a:r>
              <a:rPr sz="1300" b="0" i="0">
                <a:solidFill>
                  <a:srgbClr val="21295C"/>
                </a:solidFill>
                <a:latin typeface="Arial"/>
              </a:rPr>
              <a:t> Сервис первой линии в Англии: человек описывает жалобу в приложении, а маршрут «куда вам сейчас» выдаёт модель.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было до него.</a:t>
            </a:r>
            <a:r>
              <a:rPr sz="1300" b="0" i="0">
                <a:solidFill>
                  <a:srgbClr val="21295C"/>
                </a:solidFill>
                <a:latin typeface="Arial"/>
              </a:rPr>
              <a:t> С жалобой звонили в практику: кого принять сегодня, кого через две недели, решали там. Второй порядок — телефонная линия сортировки национальной службы, оператор по протоколу: </a:t>
            </a:r>
            <a:r>
              <a:rPr sz="1300" b="1" i="0">
                <a:solidFill>
                  <a:srgbClr val="21295C"/>
                </a:solidFill>
                <a:latin typeface="Arial"/>
              </a:rPr>
              <a:t>назван, счёта нет</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Цена обеих ошибок:</a:t>
            </a:r>
            <a:r>
              <a:rPr sz="1300" b="0" i="0">
                <a:solidFill>
                  <a:srgbClr val="21295C"/>
                </a:solidFill>
                <a:latin typeface="Arial"/>
              </a:rPr>
              <a:t> пропустить того, кому нужно сейчас · занять приём ненужным · и цена самого канала.</a:t>
            </a:r>
          </a:p>
        </p:txBody>
      </p:sp>
      <p:sp>
        <p:nvSpPr>
          <p:cNvPr id="22" name="TextBox 21"/>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Экзамен: 81 у приложения против 72 у врачей.</a:t>
            </a:r>
            <a:r>
              <a:rPr sz="1300" b="0" i="0">
                <a:solidFill>
                  <a:srgbClr val="21295C"/>
                </a:solidFill>
                <a:latin typeface="Arial"/>
              </a:rPr>
              <a:t> Этим обосновали выход в открытый поток. Качество сортировки не измерил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a:t>
            </a:r>
            <a:r>
              <a:rPr sz="1300" b="1" i="0">
                <a:solidFill>
                  <a:srgbClr val="21295C"/>
                </a:solidFill>
                <a:latin typeface="Arial"/>
              </a:rPr>
              <a:t>Babylon</a:t>
            </a:r>
            <a:r>
              <a:rPr sz="1300" b="0" i="0">
                <a:solidFill>
                  <a:srgbClr val="21295C"/>
                </a:solidFill>
                <a:latin typeface="Arial"/>
              </a:rPr>
              <a:t>, сервис </a:t>
            </a:r>
            <a:r>
              <a:rPr sz="1300" b="1" i="0">
                <a:solidFill>
                  <a:srgbClr val="21295C"/>
                </a:solidFill>
                <a:latin typeface="Arial"/>
              </a:rPr>
              <a:t>«GP at Hand»</a:t>
            </a:r>
            <a:r>
              <a:rPr sz="1300" b="0" i="0">
                <a:solidFill>
                  <a:srgbClr val="21295C"/>
                </a:solidFill>
                <a:latin typeface="Arial"/>
              </a:rPr>
              <a:t>: вход — жалоба текстом, выход — маршрут. </a:t>
            </a:r>
            <a:r>
              <a:rPr sz="1300" b="1" i="0">
                <a:solidFill>
                  <a:srgbClr val="21295C"/>
                </a:solidFill>
                <a:latin typeface="Arial"/>
              </a:rPr>
              <a:t>Обучать было нечему: внутри дерево «если — то»</a:t>
            </a:r>
            <a:r>
              <a:rPr sz="1300" b="0" i="0">
                <a:solidFill>
                  <a:srgbClr val="21295C"/>
                </a:solidFill>
                <a:latin typeface="Arial"/>
              </a:rPr>
              <a:t> — слова участника, не аудит. </a:t>
            </a:r>
            <a:r>
              <a:rPr sz="1300" b="0" i="1">
                <a:solidFill>
                  <a:srgbClr val="21295C"/>
                </a:solidFill>
                <a:latin typeface="Arial"/>
              </a:rPr>
              <a:t>Поиск с генерацией на тексте.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дало</a:t>
            </a:r>
            <a:r>
              <a:rPr sz="1300" b="0" i="0">
                <a:solidFill>
                  <a:srgbClr val="21295C"/>
                </a:solidFill>
                <a:latin typeface="Arial"/>
              </a:rPr>
              <a:t> круглосуточную сортировку · </a:t>
            </a:r>
            <a:r>
              <a:rPr sz="1300" b="1" i="0">
                <a:solidFill>
                  <a:srgbClr val="21295C"/>
                </a:solidFill>
                <a:latin typeface="Arial"/>
              </a:rPr>
              <a:t>потребовало</a:t>
            </a:r>
            <a:r>
              <a:rPr sz="1300" b="0" i="0">
                <a:solidFill>
                  <a:srgbClr val="21295C"/>
                </a:solidFill>
                <a:latin typeface="Arial"/>
              </a:rPr>
              <a:t> минуса на каждом пациенте · </a:t>
            </a:r>
            <a:r>
              <a:rPr sz="1300" b="1" i="0">
                <a:solidFill>
                  <a:srgbClr val="21295C"/>
                </a:solidFill>
                <a:latin typeface="Arial"/>
              </a:rPr>
              <a:t>в сумме хуже</a:t>
            </a:r>
            <a:r>
              <a:rPr sz="1300" b="0" i="0">
                <a:solidFill>
                  <a:srgbClr val="21295C"/>
                </a:solidFill>
                <a:latin typeface="Arial"/>
              </a:rPr>
              <a:t>: банкротство 2023. </a:t>
            </a:r>
            <a:r>
              <a:rPr sz="1300" b="1" i="0">
                <a:solidFill>
                  <a:srgbClr val="21295C"/>
                </a:solidFill>
                <a:latin typeface="Arial"/>
              </a:rPr>
              <a:t>Итог для отрасли:</a:t>
            </a:r>
            <a:r>
              <a:rPr sz="1300" b="0" i="0">
                <a:solidFill>
                  <a:srgbClr val="21295C"/>
                </a:solidFill>
                <a:latin typeface="Arial"/>
              </a:rPr>
              <a:t> сортировка обращения словами после этого случая стоит на месте</a:t>
            </a:r>
          </a:p>
        </p:txBody>
      </p:sp>
      <p:sp>
        <p:nvSpPr>
          <p:cNvPr id="23" name="Rectangle 22"/>
          <p:cNvSpPr/>
          <p:nvPr/>
        </p:nvSpPr>
        <p:spPr>
          <a:xfrm>
            <a:off x="6091275" y="3732330"/>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снимают на приёме, а не у офтальмолога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ТЕСТА: НАПРАВЛЕНИЕ К СПЕЦИАЛИСТУ → СЪЁМКА НА ПРИЁМЕ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человек против 83, приглашение распределяли жребием</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ОФТАЛЬМОЛОГА ПОСЛЕ ОТКЛОНЕНИЯ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 64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25 человек с отклонением дошли 16 — второй шаг того же пути</a:t>
            </a:r>
          </a:p>
        </p:txBody>
      </p:sp>
      <p:sp>
        <p:nvSpPr>
          <p:cNvPr id="12" name="TextBox 11"/>
          <p:cNvSpPr txBox="1"/>
          <p:nvPr/>
        </p:nvSpPr>
        <p:spPr>
          <a:xfrm>
            <a:off x="502920" y="292770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3060245"/>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060245"/>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54940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681942"/>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681942"/>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02479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Одним снимала медсестра на приёме, остальных отправляли к офтальмологу</a:t>
            </a:r>
          </a:p>
        </p:txBody>
      </p:sp>
      <p:sp>
        <p:nvSpPr>
          <p:cNvPr id="31" name="Rounded Rectangle 30"/>
          <p:cNvSpPr/>
          <p:nvPr/>
        </p:nvSpPr>
        <p:spPr>
          <a:xfrm>
            <a:off x="374904" y="4327478"/>
            <a:ext cx="11441887" cy="1908729"/>
          </a:xfrm>
          <a:prstGeom prst="roundRect">
            <a:avLst>
              <a:gd name="adj" fmla="val 1596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Что за случай.</a:t>
            </a:r>
            <a:r>
              <a:rPr sz="1450" b="0" i="0">
                <a:solidFill>
                  <a:srgbClr val="21295C"/>
                </a:solidFill>
                <a:latin typeface="Arial"/>
              </a:rPr>
              <a:t> Подростки 8–21 года с диабетом: раз в год надо смотреть глазное дно. </a:t>
            </a:r>
            <a:r>
              <a:rPr sz="1450" b="1" i="0">
                <a:solidFill>
                  <a:srgbClr val="21295C"/>
                </a:solidFill>
                <a:latin typeface="Arial"/>
              </a:rPr>
              <a:t>Выигрыш измерен явкой, а не точностью чтения, — поэтому это отбор.</a:t>
            </a:r>
          </a:p>
          <a:p>
            <a:pPr algn="l">
              <a:lnSpc>
                <a:spcPct val="126000"/>
              </a:lnSpc>
              <a:spcBef>
                <a:spcPts val="700"/>
              </a:spcBef>
            </a:pPr>
            <a:r>
              <a:rPr sz="1450" b="0" i="0">
                <a:solidFill>
                  <a:srgbClr val="21295C"/>
                </a:solidFill>
                <a:latin typeface="Arial"/>
              </a:rPr>
              <a:t/>
            </a:r>
            <a:r>
              <a:rPr sz="1450" b="1" i="0">
                <a:solidFill>
                  <a:srgbClr val="21295C"/>
                </a:solidFill>
                <a:latin typeface="Arial"/>
              </a:rPr>
              <a:t>Цена обеих ошибок:</a:t>
            </a:r>
            <a:r>
              <a:rPr sz="145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p:txBody>
      </p:sp>
      <p:sp>
        <p:nvSpPr>
          <p:cNvPr id="33" name="TextBox 32"/>
          <p:cNvSpPr txBox="1"/>
          <p:nvPr/>
        </p:nvSpPr>
        <p:spPr>
          <a:xfrm>
            <a:off x="6278727"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Устроено:</a:t>
            </a:r>
            <a:r>
              <a:rPr sz="1450" b="0" i="0">
                <a:solidFill>
                  <a:srgbClr val="21295C"/>
                </a:solidFill>
                <a:latin typeface="Arial"/>
              </a:rPr>
              <a:t> вход — два снимка глазного дна,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это стоило — на кадре следом.</a:t>
            </a:r>
          </a:p>
        </p:txBody>
      </p:sp>
      <p:sp>
        <p:nvSpPr>
          <p:cNvPr id="34" name="Rectangle 33"/>
          <p:cNvSpPr/>
          <p:nvPr/>
        </p:nvSpPr>
        <p:spPr>
          <a:xfrm>
            <a:off x="6091275" y="4418918"/>
            <a:ext cx="9144" cy="1811854"/>
          </a:xfrm>
          <a:prstGeom prst="rect">
            <a:avLst/>
          </a:prstGeom>
          <a:solidFill>
            <a:srgbClr val="D9E2EC"/>
          </a:solidFill>
          <a:ln>
            <a:noFill/>
          </a:ln>
          <a:effectLst/>
        </p:spPr>
        <p:txBody>
          <a:bodyPr rtlCol="0" anchor="ctr"/>
          <a:lstStyle/>
          <a:p>
            <a:pPr algn="ct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 — рандомизированное испытание явки</a:t>
            </a:r>
            <a:r>
              <a:rPr sz="1200" b="0" i="1">
                <a:solidFill>
                  <a:srgbClr val="1C7293"/>
                </a:solidFill>
                <a:latin typeface="Arial"/>
              </a:rPr>
              <a:t> · </a:t>
            </a:r>
            <a:r>
              <a:rPr sz="1200" b="0" i="1" u="sng">
                <a:solidFill>
                  <a:srgbClr val="065A82"/>
                </a:solidFill>
                <a:latin typeface="Arial"/>
                <a:hlinkClick r:id="rId3"/>
              </a:rPr>
              <a:t>Решение регулятора США DEN180001, 2018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отказной поток и новый шаг</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снимков из ста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зрелый поток: 101 710 визитов в 404 клиниках, прибор другого производителя, взрослые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зрелый поток; прежде нормальное к нему приходило и он мог его проверить</a:t>
            </a:r>
          </a:p>
        </p:txBody>
      </p:sp>
      <p:sp>
        <p:nvSpPr>
          <p:cNvPr id="12" name="Rounded Rectangle 11"/>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Сменился исполнитель.</a:t>
            </a:r>
            <a:r>
              <a:rPr sz="1500" b="0" i="0">
                <a:solidFill>
                  <a:srgbClr val="21295C"/>
                </a:solidFill>
                <a:latin typeface="Arial"/>
              </a:rPr>
              <a:t> Решение «направить или нет» перешло от офтальмолога к допущенному регулятором устройству целиком, и вместе с решением переехала ответственность за пропуск. Единственный случай лекции, где исполнитель сменился по документу.</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Появился шаг, которого не было:</a:t>
            </a:r>
            <a:r>
              <a:rPr sz="1500" b="0" i="0">
                <a:solidFill>
                  <a:srgbClr val="21295C"/>
                </a:solidFill>
                <a:latin typeface="Arial"/>
              </a:rPr>
              <a:t> добыть годный снимок. У офтальмолога такой операции не существовало — условия съёмки он поправлял сам, на месте.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a:t>
            </a:r>
            <a:r>
              <a:rPr sz="1500" b="0" i="0">
                <a:solidFill>
                  <a:srgbClr val="21295C"/>
                </a:solidFill>
                <a:latin typeface="Arial"/>
              </a:rPr>
              <a:t> на взрослых. С явкой 22 против ста в одну бухгалтерию они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без визита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15" name="Rectangle 14"/>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поток автономного чтения, прибор EyeArt — 101 710 визитов, 404 клиники</a:t>
            </a:r>
            <a:r>
              <a:rPr sz="1200" b="0" i="1">
                <a:solidFill>
                  <a:srgbClr val="1C7293"/>
                </a:solidFill>
                <a:latin typeface="Arial"/>
              </a:rPr>
              <a:t> · </a:t>
            </a: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производной формой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порог-документ и двойное чтение с арбитражем там, где второго читателя не сняли.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Исследование и постановка диагноза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человека измеряют прибором — и по измеренному ставят диагноз и подписывают его.</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Семь разборов по порядку.</a:t>
            </a:r>
            <a:r>
              <a:rPr sz="1550" b="0" i="0">
                <a:solidFill>
                  <a:srgbClr val="21295C"/>
                </a:solidFill>
                <a:latin typeface="Arial"/>
              </a:rPr>
              <a:t> Стадия исследования: </a:t>
            </a:r>
            <a:r>
              <a:rPr sz="1550" b="1" i="0">
                <a:solidFill>
                  <a:srgbClr val="21295C"/>
                </a:solidFill>
                <a:latin typeface="Arial"/>
              </a:rPr>
              <a:t>Таиланд</a:t>
            </a:r>
            <a:r>
              <a:rPr sz="1550" b="0" i="0">
                <a:solidFill>
                  <a:srgbClr val="21295C"/>
                </a:solidFill>
                <a:latin typeface="Arial"/>
              </a:rPr>
              <a:t> · </a:t>
            </a:r>
            <a:r>
              <a:rPr sz="1550" b="1" i="0">
                <a:solidFill>
                  <a:srgbClr val="21295C"/>
                </a:solidFill>
                <a:latin typeface="Arial"/>
              </a:rPr>
              <a:t>отбор в программу повышенного внимания</a:t>
            </a:r>
            <a:r>
              <a:rPr sz="1550" b="0" i="0">
                <a:solidFill>
                  <a:srgbClr val="21295C"/>
                </a:solidFill>
                <a:latin typeface="Arial"/>
              </a:rPr>
              <a:t>. Стадия диагноза: </a:t>
            </a:r>
            <a:r>
              <a:rPr sz="1550" b="1" i="0">
                <a:solidFill>
                  <a:srgbClr val="21295C"/>
                </a:solidFill>
                <a:latin typeface="Arial"/>
              </a:rPr>
              <a:t>замер взгляда</a:t>
            </a:r>
            <a:r>
              <a:rPr sz="1550" b="0" i="0">
                <a:solidFill>
                  <a:srgbClr val="21295C"/>
                </a:solidFill>
                <a:latin typeface="Arial"/>
              </a:rPr>
              <a:t> · </a:t>
            </a:r>
            <a:r>
              <a:rPr sz="1550" b="1" i="0">
                <a:solidFill>
                  <a:srgbClr val="21295C"/>
                </a:solidFill>
                <a:latin typeface="Arial"/>
              </a:rPr>
              <a:t>патологи читают срезы</a:t>
            </a:r>
            <a:r>
              <a:rPr sz="1550" b="0" i="0">
                <a:solidFill>
                  <a:srgbClr val="21295C"/>
                </a:solidFill>
                <a:latin typeface="Arial"/>
              </a:rPr>
              <a:t> · </a:t>
            </a:r>
            <a:r>
              <a:rPr sz="1550" b="1" i="0">
                <a:solidFill>
                  <a:srgbClr val="21295C"/>
                </a:solidFill>
                <a:latin typeface="Arial"/>
              </a:rPr>
              <a:t>шведское испытание</a:t>
            </a:r>
            <a:r>
              <a:rPr sz="1550" b="0" i="0">
                <a:solidFill>
                  <a:srgbClr val="21295C"/>
                </a:solidFill>
                <a:latin typeface="Arial"/>
              </a:rPr>
              <a:t> · </a:t>
            </a:r>
            <a:r>
              <a:rPr sz="1550" b="1" i="0">
                <a:solidFill>
                  <a:srgbClr val="21295C"/>
                </a:solidFill>
                <a:latin typeface="Arial"/>
              </a:rPr>
              <a:t>хирурги оценивают риск</a:t>
            </a:r>
            <a:r>
              <a:rPr sz="1550" b="0" i="0">
                <a:solidFill>
                  <a:srgbClr val="21295C"/>
                </a:solidFill>
                <a:latin typeface="Arial"/>
              </a:rPr>
              <a:t>. Непрерывное наблюдение: </a:t>
            </a:r>
            <a:r>
              <a:rPr sz="1550" b="1" i="0">
                <a:solidFill>
                  <a:srgbClr val="21295C"/>
                </a:solidFill>
                <a:latin typeface="Arial"/>
              </a:rPr>
              <a:t>модель раннего предупреждения о сепсисе</a:t>
            </a:r>
            <a:r>
              <a:rPr sz="1550" b="0" i="0">
                <a:solidFill>
                  <a:srgbClr val="21295C"/>
                </a:solidFill>
                <a:latin typeface="Arial"/>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Про человека снимают величины</a:t>
            </a:r>
            <a:r>
              <a:rPr sz="1250" b="0" i="0">
                <a:solidFill>
                  <a:srgbClr val="21295C"/>
                </a:solidFill>
                <a:latin typeface="Arial"/>
              </a:rPr>
              <a:t> — прибором, в лаборатории, под нагрузкой; у прибора стоит лаборант, техник, медсестра. </a:t>
            </a:r>
            <a:r>
              <a:rPr sz="1250" b="1" i="0">
                <a:solidFill>
                  <a:srgbClr val="21295C"/>
                </a:solidFill>
                <a:latin typeface="Arial"/>
              </a:rPr>
              <a:t>Измеряет прибор, а модель выносит первичное заключение по измеренному</a:t>
            </a:r>
            <a:r>
              <a:rPr sz="1250" b="0" i="0">
                <a:solidFill>
                  <a:srgbClr val="21295C"/>
                </a:solidFill>
                <a:latin typeface="Arial"/>
              </a:rPr>
              <a:t> — от него зависит, что обследуют дальше.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Чего она не делает:</a:t>
            </a:r>
            <a:r>
              <a:rPr sz="1250" b="0" i="0">
                <a:solidFill>
                  <a:srgbClr val="21295C"/>
                </a:solidFill>
                <a:latin typeface="Arial"/>
              </a:rPr>
              <a:t> не назначает порог под цену ошибки, не умеет переснять, годность входа оставляет человеку без профильной подготовки. </a:t>
            </a:r>
            <a:r>
              <a:rPr sz="1250" b="1" i="0">
                <a:solidFill>
                  <a:srgbClr val="21295C"/>
                </a:solidFill>
                <a:latin typeface="Arial"/>
              </a:rPr>
              <a:t>Занятые два — не самые трудные из шести.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Обзор работ по снимкам при ковидной пневмонии:</a:t>
            </a:r>
            <a:r>
              <a:rPr sz="1250" b="0" i="0">
                <a:solidFill>
                  <a:srgbClr val="21295C"/>
                </a:solidFill>
                <a:latin typeface="Arial"/>
              </a:rPr>
              <a:t> из 2 212 отобрали 62 — </a:t>
            </a:r>
            <a:r>
              <a:rPr sz="1250" b="1" i="0">
                <a:solidFill>
                  <a:srgbClr val="21295C"/>
                </a:solidFill>
                <a:latin typeface="Arial"/>
              </a:rPr>
              <a:t>доли считали все, группу почти никто, ни одна не годна для клиники.</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Таиланд — чтение глазного дна в кабинете первичного звена</a:t>
            </a:r>
          </a:p>
        </p:txBody>
      </p:sp>
      <p:sp>
        <p:nvSpPr>
          <p:cNvPr id="4" name="Rounded Rectangle 3"/>
          <p:cNvSpPr/>
          <p:nvPr/>
        </p:nvSpPr>
        <p:spPr>
          <a:xfrm>
            <a:off x="502920" y="1335024"/>
            <a:ext cx="3389223" cy="1870213"/>
          </a:xfrm>
          <a:prstGeom prst="roundRect">
            <a:avLst>
              <a:gd name="adj" fmla="val 162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114903"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856833"/>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4056735" y="1335024"/>
            <a:ext cx="3389223" cy="1870213"/>
          </a:xfrm>
          <a:prstGeom prst="roundRect">
            <a:avLst>
              <a:gd name="adj" fmla="val 1629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4193895" y="1932846"/>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4193895" y="2359845"/>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и технику досталась работа добиться годного снимка, которой у офтальмолога не было</a:t>
            </a:r>
          </a:p>
        </p:txBody>
      </p:sp>
      <p:sp>
        <p:nvSpPr>
          <p:cNvPr id="12" name="Rounded Rectangle 11"/>
          <p:cNvSpPr/>
          <p:nvPr/>
        </p:nvSpPr>
        <p:spPr>
          <a:xfrm>
            <a:off x="374904" y="3296677"/>
            <a:ext cx="11441887" cy="2939530"/>
          </a:xfrm>
          <a:prstGeom prst="roundRect">
            <a:avLst>
              <a:gd name="adj" fmla="val 1036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8117"/>
            <a:ext cx="11112703" cy="28480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Чтение глазного дна в кабинете первичного звена.</a:t>
            </a:r>
            <a:r>
              <a:rPr sz="1400" b="0" i="0">
                <a:solidFill>
                  <a:srgbClr val="21295C"/>
                </a:solidFill>
                <a:latin typeface="Arial"/>
              </a:rPr>
              <a:t> Полгода смотрели работу одиннадцати клиник Таиланда: снимки делали медсёстры и техники, система читала их на месте меньше чем за минуту и негодные отклоняла сама — без офтальмолога.</a:t>
            </a:r>
          </a:p>
          <a:p>
            <a:pPr algn="l">
              <a:lnSpc>
                <a:spcPct val="126000"/>
              </a:lnSpc>
              <a:spcBef>
                <a:spcPts val="700"/>
              </a:spcBef>
            </a:pPr>
            <a:r>
              <a:rPr sz="1400" b="0" i="0">
                <a:solidFill>
                  <a:srgbClr val="21295C"/>
                </a:solidFill>
                <a:latin typeface="Arial"/>
              </a:rPr>
              <a:t/>
            </a:r>
            <a:r>
              <a:rPr sz="1400" b="1" i="0">
                <a:solidFill>
                  <a:srgbClr val="21295C"/>
                </a:solidFill>
                <a:latin typeface="Arial"/>
              </a:rPr>
              <a:t>Было: направить к специалисту</a:t>
            </a:r>
            <a:r>
              <a:rPr sz="1400" b="0" i="0">
                <a:solidFill>
                  <a:srgbClr val="21295C"/>
                </a:solidFill>
                <a:latin typeface="Arial"/>
              </a:rPr>
              <a:t> — до него доходят </a:t>
            </a:r>
            <a:r>
              <a:rPr sz="1400" b="1" i="0">
                <a:solidFill>
                  <a:srgbClr val="21295C"/>
                </a:solidFill>
                <a:latin typeface="Arial"/>
              </a:rPr>
              <a:t>22 из ста направленных</a:t>
            </a:r>
            <a:r>
              <a:rPr sz="1400" b="0" i="0">
                <a:solidFill>
                  <a:srgbClr val="21295C"/>
                </a:solidFill>
                <a:latin typeface="Arial"/>
              </a:rPr>
              <a:t>. </a:t>
            </a:r>
            <a:r>
              <a:rPr sz="1400" b="1" i="0">
                <a:solidFill>
                  <a:srgbClr val="21295C"/>
                </a:solidFill>
                <a:latin typeface="Arial"/>
              </a:rPr>
              <a:t>Стало:</a:t>
            </a:r>
            <a:r>
              <a:rPr sz="1400" b="0" i="0">
                <a:solidFill>
                  <a:srgbClr val="21295C"/>
                </a:solidFill>
                <a:latin typeface="Arial"/>
              </a:rPr>
              <a:t> результат получают все обследованные, но </a:t>
            </a:r>
            <a:r>
              <a:rPr sz="1400" b="1" i="0">
                <a:solidFill>
                  <a:srgbClr val="21295C"/>
                </a:solidFill>
                <a:latin typeface="Arial"/>
              </a:rPr>
              <a:t>21 из ста</a:t>
            </a:r>
            <a:r>
              <a:rPr sz="1400" b="0" i="0">
                <a:solidFill>
                  <a:srgbClr val="21295C"/>
                </a:solidFill>
                <a:latin typeface="Arial"/>
              </a:rPr>
              <a:t> уходит на повторный визит. </a:t>
            </a:r>
            <a:r>
              <a:rPr sz="1400" b="0" i="1">
                <a:solidFill>
                  <a:srgbClr val="21295C"/>
                </a:solidFill>
                <a:latin typeface="Arial"/>
              </a:rPr>
              <a:t>Явка измерена в другой стране: сопоставляются порядки, не выборки.</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два снимка глазного дна, выход — та же метка, что ставит офтальмолог. Обучено на снимках, прошедших отбор по качеству; в поле отбор делает человек без правила. Имени системы работа не называет. </a:t>
            </a:r>
            <a:r>
              <a:rPr sz="1400" b="1" i="0">
                <a:solidFill>
                  <a:srgbClr val="21295C"/>
                </a:solidFill>
                <a:latin typeface="Arial"/>
              </a:rPr>
              <a:t>Причины отказов обе про место съёмки:</a:t>
            </a:r>
            <a:r>
              <a:rPr sz="1400" b="0" i="0">
                <a:solidFill>
                  <a:srgbClr val="21295C"/>
                </a:solidFill>
                <a:latin typeface="Arial"/>
              </a:rPr>
              <a:t> освещение в кабинете и медленная связь.</a:t>
            </a:r>
          </a:p>
          <a:p>
            <a:pPr algn="l">
              <a:lnSpc>
                <a:spcPct val="126000"/>
              </a:lnSpc>
              <a:spcBef>
                <a:spcPts val="700"/>
              </a:spcBef>
            </a:pPr>
            <a:r>
              <a:rPr sz="1400" b="0" i="0">
                <a:solidFill>
                  <a:srgbClr val="21295C"/>
                </a:solidFill>
                <a:latin typeface="Arial"/>
              </a:rPr>
              <a:t/>
            </a:r>
            <a:r>
              <a:rPr sz="1400" b="1" i="0">
                <a:solidFill>
                  <a:srgbClr val="21295C"/>
                </a:solidFill>
                <a:latin typeface="Arial"/>
              </a:rPr>
              <a:t>Провалилось развёртывание, а чтение сработало:</a:t>
            </a:r>
            <a:r>
              <a:rPr sz="1400" b="0" i="0">
                <a:solidFill>
                  <a:srgbClr val="21295C"/>
                </a:solidFill>
                <a:latin typeface="Arial"/>
              </a:rPr>
              <a:t> модель приехала готовой, место под неё — нет. </a:t>
            </a:r>
            <a:r>
              <a:rPr sz="1400" b="0" i="1">
                <a:solidFill>
                  <a:srgbClr val="21295C"/>
                </a:solidFill>
                <a:latin typeface="Arial"/>
              </a:rPr>
              <a:t>Полевое наблюдение, измерено однажды.</a:t>
            </a:r>
          </a:p>
        </p:txBody>
      </p:sp>
      <p:sp>
        <p:nvSpPr>
          <p:cNvPr id="14" name="Rounded Rectangle 13"/>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5" name="Picture 14"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отбор в программу повышенного внимания — балл вместо решения врача</a:t>
            </a:r>
          </a:p>
        </p:txBody>
      </p:sp>
      <p:sp>
        <p:nvSpPr>
          <p:cNvPr id="4" name="Rounded Rectangle 3"/>
          <p:cNvSpPr/>
          <p:nvPr/>
        </p:nvSpPr>
        <p:spPr>
          <a:xfrm>
            <a:off x="502920"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болезнь без присмотра · занятое место и время координатора</a:t>
            </a:r>
          </a:p>
        </p:txBody>
      </p:sp>
      <p:sp>
        <p:nvSpPr>
          <p:cNvPr id="7" name="TextBox 6"/>
          <p:cNvSpPr txBox="1"/>
          <p:nvPr/>
        </p:nvSpPr>
        <p:spPr>
          <a:xfrm>
            <a:off x="640080" y="255128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занято — кто-то третий не попал</a:t>
            </a:r>
          </a:p>
        </p:txBody>
      </p:sp>
      <p:sp>
        <p:nvSpPr>
          <p:cNvPr id="8" name="Rounded Rectangle 7"/>
          <p:cNvSpPr/>
          <p:nvPr/>
        </p:nvSpPr>
        <p:spPr>
          <a:xfrm>
            <a:off x="3340531"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ОДНИМ БАЛЛОМ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 — отбора без балла в работе нет</a:t>
            </a:r>
          </a:p>
        </p:txBody>
      </p:sp>
      <p:sp>
        <p:nvSpPr>
          <p:cNvPr id="12" name="Rounded Rectangle 11"/>
          <p:cNvSpPr/>
          <p:nvPr/>
        </p:nvSpPr>
        <p:spPr>
          <a:xfrm>
            <a:off x="6178143"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6" name="Rounded Rectangle 15"/>
          <p:cNvSpPr/>
          <p:nvPr/>
        </p:nvSpPr>
        <p:spPr>
          <a:xfrm>
            <a:off x="9015755"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МЕСТ В ПРОГРАММЕ УХОДИЛО НЕ ТЕМ, КОМУ НУЖНЕЕ</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28,8</a:t>
            </a:r>
          </a:p>
        </p:txBody>
      </p:sp>
      <p:sp>
        <p:nvSpPr>
          <p:cNvPr id="19" name="TextBox 18"/>
          <p:cNvSpPr txBox="1"/>
          <p:nvPr/>
        </p:nvSpPr>
        <p:spPr>
          <a:xfrm>
            <a:off x="9152915" y="2567316"/>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17,7 из ста наблюдаемых против 46,5 при убранном разрыве в здоровье — расчёт авторов, внедрения за ним нет. Внутренняя проверка этого не видит</a:t>
            </a:r>
          </a:p>
        </p:txBody>
      </p:sp>
      <p:sp>
        <p:nvSpPr>
          <p:cNvPr id="20" name="Rounded Rectangle 19"/>
          <p:cNvSpPr/>
          <p:nvPr/>
        </p:nvSpPr>
        <p:spPr>
          <a:xfrm>
            <a:off x="374904" y="4063377"/>
            <a:ext cx="11441887" cy="2172830"/>
          </a:xfrm>
          <a:prstGeom prst="roundRect">
            <a:avLst>
              <a:gd name="adj" fmla="val 14027"/>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Отбор в программу повышенного внимания.</a:t>
            </a:r>
            <a:r>
              <a:rPr sz="1400" b="0" i="0">
                <a:solidFill>
                  <a:srgbClr val="21295C"/>
                </a:solidFill>
                <a:latin typeface="Arial"/>
              </a:rPr>
              <a:t> Кого позвать на усиленное наблюдение, решал лечащий врач — стало решать одно число. </a:t>
            </a:r>
            <a:r>
              <a:rPr sz="1400" b="1" i="0">
                <a:solidFill>
                  <a:srgbClr val="21295C"/>
                </a:solidFill>
                <a:latin typeface="Arial"/>
              </a:rPr>
              <a:t>Обучено оно предсказывать будущие расходы на лечение</a:t>
            </a:r>
            <a:r>
              <a:rPr sz="1400" b="0" i="0">
                <a:solidFill>
                  <a:srgbClr val="21295C"/>
                </a:solidFill>
                <a:latin typeface="Arial"/>
              </a:rPr>
              <a:t> — а решение принималось о болезни. Расходы есть у всех и с болезнью связаны, но отражают обращаемость, а она при одинаковом здоровье у разных групп разная.</a:t>
            </a:r>
          </a:p>
        </p:txBody>
      </p:sp>
      <p:sp>
        <p:nvSpPr>
          <p:cNvPr id="22" name="TextBox 21"/>
          <p:cNvSpPr txBox="1"/>
          <p:nvPr/>
        </p:nvSpPr>
        <p:spPr>
          <a:xfrm>
            <a:off x="6278727"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Вход — записи карты и данные о расходах, выход — балл и отбор по порогу. Имени промышленному алгоритму публикация не даёт. </a:t>
            </a:r>
            <a:r>
              <a:rPr sz="1400" b="0" i="1">
                <a:solidFill>
                  <a:srgbClr val="21295C"/>
                </a:solidFill>
                <a:latin typeface="Arial"/>
              </a:rPr>
              <a:t>Прогноз на структурированных данных.</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переехало.</a:t>
            </a:r>
            <a:r>
              <a:rPr sz="1400" b="0" i="0">
                <a:solidFill>
                  <a:srgbClr val="21295C"/>
                </a:solidFill>
                <a:latin typeface="Arial"/>
              </a:rPr>
              <a:t> Отбор делал врач, стал делать балл; цена ошибки переехала на группу, где при равном балле болезней больше. </a:t>
            </a:r>
            <a:r>
              <a:rPr sz="1400" b="1" i="0">
                <a:solidFill>
                  <a:srgbClr val="21295C"/>
                </a:solidFill>
                <a:latin typeface="Arial"/>
              </a:rPr>
              <a:t>Эффекта на деньги и на здоровье работа не измеряла:</a:t>
            </a:r>
            <a:r>
              <a:rPr sz="1400" b="0" i="0">
                <a:solidFill>
                  <a:srgbClr val="21295C"/>
                </a:solidFill>
                <a:latin typeface="Arial"/>
              </a:rPr>
              <a:t> посчитан состав отобранных, а не исходы людей.</a:t>
            </a:r>
          </a:p>
        </p:txBody>
      </p:sp>
      <p:sp>
        <p:nvSpPr>
          <p:cNvPr id="23" name="Rectangle 22"/>
          <p:cNvSpPr/>
          <p:nvPr/>
        </p:nvSpPr>
        <p:spPr>
          <a:xfrm>
            <a:off x="6091275" y="4154817"/>
            <a:ext cx="9144" cy="202969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Шведское испытание — там же, где замер взгляда, патологи и хирурги: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Rounded Rectangle 11"/>
          <p:cNvSpPr/>
          <p:nvPr/>
        </p:nvSpPr>
        <p:spPr>
          <a:xfrm>
            <a:off x="374904" y="3010932"/>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замера одной величины.</a:t>
            </a:r>
            <a:r>
              <a:rPr sz="1500" b="0" i="0">
                <a:solidFill>
                  <a:srgbClr val="21295C"/>
                </a:solidFill>
                <a:latin typeface="Arial"/>
              </a:rPr>
              <a:t> 10 радиологов прочли 60 маммограмм дважды — сами и с подсказкой, нарочно ошибавшейся в обе стороны. 12 радиологов другой программы — 150 исследований тоже дважды, с допущенной системой.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Разошлись опыты порядком предъявления:</a:t>
            </a:r>
            <a:r>
              <a:rPr sz="1500" b="0" i="0">
                <a:solidFill>
                  <a:srgbClr val="21295C"/>
                </a:solidFill>
                <a:latin typeface="Arial"/>
              </a:rPr>
              <a:t> там отметка выходит вместе со снимком, здесь разметку читатель запрашивает сам. </a:t>
            </a:r>
            <a:r>
              <a:rPr sz="1500" b="1" i="0">
                <a:solidFill>
                  <a:srgbClr val="21295C"/>
                </a:solidFill>
                <a:latin typeface="Arial"/>
              </a:rPr>
              <a:t>Та же величина, другая подсказка, другой порядок — обратный знак.</a:t>
            </a:r>
          </a:p>
        </p:txBody>
      </p:sp>
      <p:sp>
        <p:nvSpPr>
          <p:cNvPr id="14" name="TextBox 13"/>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маммограмма, выход — оценка подозрительности области. Изделие называет вторая работа: </a:t>
            </a:r>
            <a:r>
              <a:rPr sz="1500" b="1" i="0">
                <a:solidFill>
                  <a:srgbClr val="21295C"/>
                </a:solidFill>
                <a:latin typeface="Arial"/>
              </a:rPr>
              <a:t>Transpara 2.1.0, ScreenPoint Medical.</a:t>
            </a:r>
            <a:r>
              <a:rPr sz="1500" b="0" i="0">
                <a:solidFill>
                  <a:srgbClr val="21295C"/>
                </a:solidFill>
                <a:latin typeface="Arial"/>
              </a:rPr>
              <a:t> </a:t>
            </a:r>
            <a:r>
              <a:rPr sz="1500" b="1" i="0">
                <a:solidFill>
                  <a:srgbClr val="21295C"/>
                </a:solidFill>
                <a:latin typeface="Arial"/>
              </a:rPr>
              <a:t>Фокусировка:</a:t>
            </a:r>
            <a:r>
              <a:rPr sz="1500" b="0" i="0">
                <a:solidFill>
                  <a:srgbClr val="21295C"/>
                </a:solidFill>
                <a:latin typeface="Arial"/>
              </a:rPr>
              <a:t> осмотрено 11,1 → 9,5 из ста площади снимка, а в нужном месте дольше — 4,4 → 5,4 секунды.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при ложной подсказке это цена: пропуск модели стал пропуском читателя.</a:t>
            </a:r>
          </a:p>
        </p:txBody>
      </p:sp>
      <p:sp>
        <p:nvSpPr>
          <p:cNvPr id="15" name="Rectangle 14"/>
          <p:cNvSpPr/>
          <p:nvPr/>
        </p:nvSpPr>
        <p:spPr>
          <a:xfrm>
            <a:off x="6091275" y="3102372"/>
            <a:ext cx="9144" cy="27624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на группе НЕ устойчива — отношение шансов 1,281.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устойчивых в обе стороны,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Rounded Rectangle 14"/>
          <p:cNvSpPr/>
          <p:nvPr/>
        </p:nvSpPr>
        <p:spPr>
          <a:xfrm>
            <a:off x="374904" y="3644663"/>
            <a:ext cx="11441887" cy="2591544"/>
          </a:xfrm>
          <a:prstGeom prst="roundRect">
            <a:avLst>
              <a:gd name="adj" fmla="val 1176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11 патологов разного опыта</a:t>
            </a:r>
            <a:r>
              <a:rPr sz="1500" b="0" i="0">
                <a:solidFill>
                  <a:srgbClr val="21295C"/>
                </a:solidFill>
                <a:latin typeface="Arial"/>
              </a:rPr>
              <a:t> различали два вида рака печени по 80 оцифрованным срезам: половину случаев с подсказкой модели, половину без. </a:t>
            </a:r>
            <a:r>
              <a:rPr sz="1500" b="1" i="0">
                <a:solidFill>
                  <a:srgbClr val="21295C"/>
                </a:solidFill>
                <a:latin typeface="Arial"/>
              </a:rPr>
              <a:t>Цена ошибки обоюдна:</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один патолог на срезе; второе мнение субспециалиста названо, но на этом наборе не измерено. </a:t>
            </a:r>
            <a:r>
              <a:rPr sz="1500" b="1" i="0">
                <a:solidFill>
                  <a:srgbClr val="21295C"/>
                </a:solidFill>
                <a:latin typeface="Arial"/>
              </a:rPr>
              <a:t>Имени изделия работа не печатает.</a:t>
            </a:r>
          </a:p>
        </p:txBody>
      </p:sp>
      <p:sp>
        <p:nvSpPr>
          <p:cNvPr id="17" name="TextBox 16"/>
          <p:cNvSpPr txBox="1"/>
          <p:nvPr/>
        </p:nvSpPr>
        <p:spPr>
          <a:xfrm>
            <a:off x="6278727"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патолог сильнее модели — и пара выше обеих сторон.</a:t>
            </a:r>
            <a:r>
              <a:rPr sz="1500" b="0" i="0">
                <a:solidFill>
                  <a:srgbClr val="21295C"/>
                </a:solidFill>
                <a:latin typeface="Arial"/>
              </a:rPr>
              <a:t> Это ровно то подмножество свода, где так и бывает.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Стоимость.</a:t>
            </a:r>
            <a:r>
              <a:rPr sz="1500" b="0" i="0">
                <a:solidFill>
                  <a:srgbClr val="21295C"/>
                </a:solidFill>
                <a:latin typeface="Arial"/>
              </a:rPr>
              <a:t> Ошибка модели стала ошибкой врача — подпись ставит он. И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 хотя в обе стороны эффект вчетверо.</a:t>
            </a:r>
          </a:p>
        </p:txBody>
      </p:sp>
      <p:sp>
        <p:nvSpPr>
          <p:cNvPr id="18" name="Rectangle 17"/>
          <p:cNvSpPr/>
          <p:nvPr/>
        </p:nvSpPr>
        <p:spPr>
          <a:xfrm>
            <a:off x="6091275" y="3736103"/>
            <a:ext cx="9144" cy="2465389"/>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шведское испытание — одно человеческое чтение поверх модели вместо двух</a:t>
            </a:r>
          </a:p>
        </p:txBody>
      </p:sp>
      <p:sp>
        <p:nvSpPr>
          <p:cNvPr id="4" name="Rounded Rectangle 3"/>
          <p:cNvSpPr/>
          <p:nvPr/>
        </p:nvSpPr>
        <p:spPr>
          <a:xfrm>
            <a:off x="502920"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различие устойчиво</a:t>
            </a:r>
          </a:p>
        </p:txBody>
      </p:sp>
      <p:sp>
        <p:nvSpPr>
          <p:cNvPr id="8" name="Rounded Rectangle 7"/>
          <p:cNvSpPr/>
          <p:nvPr/>
        </p:nvSpPr>
        <p:spPr>
          <a:xfrm>
            <a:off x="3340531"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3477691"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 И среди пропущенного меньше опасного: крупных 38 против 48, агрессивных 43 против 59</a:t>
            </a:r>
          </a:p>
        </p:txBody>
      </p:sp>
      <p:sp>
        <p:nvSpPr>
          <p:cNvPr id="12" name="Rounded Rectangle 11"/>
          <p:cNvSpPr/>
          <p:nvPr/>
        </p:nvSpPr>
        <p:spPr>
          <a:xfrm>
            <a:off x="6178143"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обследованных: второго независимого человека большинство не получает</a:t>
            </a:r>
          </a:p>
        </p:txBody>
      </p:sp>
      <p:sp>
        <p:nvSpPr>
          <p:cNvPr id="16" name="Rounded Rectangle 15"/>
          <p:cNvSpPr/>
          <p:nvPr/>
        </p:nvSpPr>
        <p:spPr>
          <a:xfrm>
            <a:off x="9015755"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ДРУГАЯ ПРОГРАММА, ТРОЕ СМОТРЯТ СРАЗУ: ПОДТВЕРЖДАЕТСЯ РАКОМ НАХОДКА ТОЛЬКО МОДЕЛИ → ТОЛЬКО РАДИОЛОГА</a:t>
            </a:r>
          </a:p>
        </p:txBody>
      </p:sp>
      <p:sp>
        <p:nvSpPr>
          <p:cNvPr id="18" name="TextBox 17"/>
          <p:cNvSpPr txBox="1"/>
          <p:nvPr/>
        </p:nvSpPr>
        <p:spPr>
          <a:xfrm>
            <a:off x="9152915" y="2555260"/>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9" name="TextBox 18"/>
          <p:cNvSpPr txBox="1"/>
          <p:nvPr/>
        </p:nvSpPr>
        <p:spPr>
          <a:xfrm>
            <a:off x="9152915" y="2982259"/>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1 886 находок против 1 858, основания почти равны. А отзывают чаще находку радиолога — 14,2 против 4,6: доверия к более точному источнику меньше</a:t>
            </a:r>
          </a:p>
        </p:txBody>
      </p:sp>
      <p:sp>
        <p:nvSpPr>
          <p:cNvPr id="20" name="Rounded Rectangle 19"/>
          <p:cNvSpPr/>
          <p:nvPr/>
        </p:nvSpPr>
        <p:spPr>
          <a:xfrm>
            <a:off x="374904" y="4478320"/>
            <a:ext cx="11441887" cy="1757887"/>
          </a:xfrm>
          <a:prstGeom prst="roundRect">
            <a:avLst>
              <a:gd name="adj" fmla="val 1733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69760"/>
            <a:ext cx="11112703" cy="166644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Одно человеческое чтение поверх модели вместо двух.</a:t>
            </a:r>
            <a:r>
              <a:rPr sz="1250" b="0" i="0">
                <a:solidFill>
                  <a:srgbClr val="21295C"/>
                </a:solidFill>
                <a:latin typeface="Arial"/>
              </a:rPr>
              <a:t> 105 934 женщины шведской программы распределены жребием: в одном плече снимок читают два радиолога независимо, в другом модель читает первой, радиолог — сам, а расхождение разбирает третий радиолог. </a:t>
            </a:r>
            <a:r>
              <a:rPr sz="1250" b="1" i="0">
                <a:solidFill>
                  <a:srgbClr val="21295C"/>
                </a:solidFill>
                <a:latin typeface="Arial"/>
              </a:rPr>
              <a:t>Арбитр — это он:</a:t>
            </a:r>
            <a:r>
              <a:rPr sz="1250" b="0" i="0">
                <a:solidFill>
                  <a:srgbClr val="21295C"/>
                </a:solidFill>
                <a:latin typeface="Arial"/>
              </a:rPr>
              <a:t> к нему уходит только расхождение, а не весь поток, и поэтому человеческого чтения стало меньше.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Точности порознь.</a:t>
            </a:r>
            <a:r>
              <a:rPr sz="1250" b="0" i="0">
                <a:solidFill>
                  <a:srgbClr val="21295C"/>
                </a:solidFill>
                <a:latin typeface="Arial"/>
              </a:rPr>
              <a:t> Человек один пропускает 26 раков из ста, человек с моделью и арбитром — 20. </a:t>
            </a:r>
            <a:r>
              <a:rPr sz="1250" b="1" i="0">
                <a:solidFill>
                  <a:srgbClr val="21295C"/>
                </a:solidFill>
                <a:latin typeface="Arial"/>
              </a:rPr>
              <a:t>Модель одну это испытание не измеряло,</a:t>
            </a:r>
            <a:r>
              <a:rPr sz="1250" b="0" i="0">
                <a:solidFill>
                  <a:srgbClr val="21295C"/>
                </a:solidFill>
                <a:latin typeface="Arial"/>
              </a:rPr>
              <a:t> и достроить ладонь «модель · человек · пара» нечем. Одиночного чтения без арбитража в нём тоже нет: сравнивали против сильного режима.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Арбитраж стал новой работой; повторных вызовов не стало ни больше, ни меньше.</a:t>
            </a:r>
          </a:p>
        </p:txBody>
      </p:sp>
      <p:sp>
        <p:nvSpPr>
          <p:cNvPr id="22" name="Rectangle 2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различие устойчиво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4286402"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4423562"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Rounded Rectangle 11"/>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ЛАБОРАТОРНАЯ: СОГЛАСИЕ С НЕВЕРНОЙ ПОДСКАЗКОЙ ПРИЁМАМИ ПОДАЧИ</a:t>
            </a:r>
          </a:p>
        </p:txBody>
      </p:sp>
      <p:sp>
        <p:nvSpPr>
          <p:cNvPr id="14" name="TextBox 13"/>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5" name="TextBox 14"/>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199 платных участников оценивали состав питания, подсказку имитировали верной в 75 из ста. По экспертности разбивки нет — под матрицу выше эти числа не встают</a:t>
            </a:r>
          </a:p>
        </p:txBody>
      </p:sp>
      <p:sp>
        <p:nvSpPr>
          <p:cNvPr id="16" name="Rounded Rectangle 15"/>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233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30 стажёров читали кардиограммы с машинной расшифровкой — верной и неверной.</a:t>
            </a:r>
            <a:r>
              <a:rPr sz="1250" b="0" i="0">
                <a:solidFill>
                  <a:srgbClr val="21295C"/>
                </a:solidFill>
                <a:latin typeface="Arial"/>
              </a:rPr>
              <a:t> 15 проходили ординатуру по кардиологии, 15 — по другим специальностям.</a:t>
            </a:r>
          </a:p>
        </p:txBody>
      </p:sp>
      <p:sp>
        <p:nvSpPr>
          <p:cNvPr id="18" name="Rectangle 17"/>
          <p:cNvSpPr/>
          <p:nvPr/>
        </p:nvSpPr>
        <p:spPr>
          <a:xfrm>
            <a:off x="539496" y="4385367"/>
            <a:ext cx="4999381" cy="383379"/>
          </a:xfrm>
          <a:prstGeom prst="rect">
            <a:avLst/>
          </a:prstGeom>
          <a:solidFill>
            <a:srgbClr val="065A82"/>
          </a:solidFill>
          <a:ln>
            <a:noFill/>
          </a:ln>
          <a:effectLst/>
        </p:spPr>
        <p:txBody>
          <a:bodyPr rtlCol="0" anchor="ctr"/>
          <a:lstStyle/>
          <a:p>
            <a:pPr algn="ctr"/>
          </a:p>
        </p:txBody>
      </p:sp>
      <p:sp>
        <p:nvSpPr>
          <p:cNvPr id="19" name="TextBox 18"/>
          <p:cNvSpPr txBox="1"/>
          <p:nvPr/>
        </p:nvSpPr>
        <p:spPr>
          <a:xfrm>
            <a:off x="685800" y="4385367"/>
            <a:ext cx="470677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точность заключения, из ста</a:t>
            </a:r>
          </a:p>
        </p:txBody>
      </p:sp>
      <p:sp>
        <p:nvSpPr>
          <p:cNvPr id="20" name="Rectangle 19"/>
          <p:cNvSpPr/>
          <p:nvPr/>
        </p:nvSpPr>
        <p:spPr>
          <a:xfrm>
            <a:off x="5538877" y="4385367"/>
            <a:ext cx="3951879" cy="383379"/>
          </a:xfrm>
          <a:prstGeom prst="rect">
            <a:avLst/>
          </a:prstGeom>
          <a:solidFill>
            <a:srgbClr val="065A82"/>
          </a:solidFill>
          <a:ln>
            <a:noFill/>
          </a:ln>
          <a:effectLst/>
        </p:spPr>
        <p:txBody>
          <a:bodyPr rtlCol="0" anchor="ctr"/>
          <a:lstStyle/>
          <a:p>
            <a:pPr algn="ctr"/>
          </a:p>
        </p:txBody>
      </p:sp>
      <p:sp>
        <p:nvSpPr>
          <p:cNvPr id="21" name="TextBox 20"/>
          <p:cNvSpPr txBox="1"/>
          <p:nvPr/>
        </p:nvSpPr>
        <p:spPr>
          <a:xfrm>
            <a:off x="5685181" y="4385367"/>
            <a:ext cx="365927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верная расшифровка</a:t>
            </a:r>
          </a:p>
        </p:txBody>
      </p:sp>
      <p:sp>
        <p:nvSpPr>
          <p:cNvPr id="22" name="Rectangle 21"/>
          <p:cNvSpPr/>
          <p:nvPr/>
        </p:nvSpPr>
        <p:spPr>
          <a:xfrm>
            <a:off x="9490756" y="4385367"/>
            <a:ext cx="2161442" cy="383379"/>
          </a:xfrm>
          <a:prstGeom prst="rect">
            <a:avLst/>
          </a:prstGeom>
          <a:solidFill>
            <a:srgbClr val="065A82"/>
          </a:solidFill>
          <a:ln>
            <a:noFill/>
          </a:ln>
          <a:effectLst/>
        </p:spPr>
        <p:txBody>
          <a:bodyPr rtlCol="0" anchor="ctr"/>
          <a:lstStyle/>
          <a:p>
            <a:pPr algn="ctr"/>
          </a:p>
        </p:txBody>
      </p:sp>
      <p:sp>
        <p:nvSpPr>
          <p:cNvPr id="23" name="TextBox 22"/>
          <p:cNvSpPr txBox="1"/>
          <p:nvPr/>
        </p:nvSpPr>
        <p:spPr>
          <a:xfrm>
            <a:off x="9637060" y="4385367"/>
            <a:ext cx="186883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неверная</a:t>
            </a:r>
          </a:p>
        </p:txBody>
      </p:sp>
      <p:sp>
        <p:nvSpPr>
          <p:cNvPr id="24" name="Rectangle 23"/>
          <p:cNvSpPr/>
          <p:nvPr/>
        </p:nvSpPr>
        <p:spPr>
          <a:xfrm>
            <a:off x="539496" y="4768747"/>
            <a:ext cx="4999381" cy="38337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476874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стажёры кардиологии</a:t>
            </a:r>
          </a:p>
        </p:txBody>
      </p:sp>
      <p:sp>
        <p:nvSpPr>
          <p:cNvPr id="26" name="Rectangle 25"/>
          <p:cNvSpPr/>
          <p:nvPr/>
        </p:nvSpPr>
        <p:spPr>
          <a:xfrm>
            <a:off x="5538877" y="4768747"/>
            <a:ext cx="3951879" cy="38337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5685181" y="476874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84,86</a:t>
            </a:r>
          </a:p>
        </p:txBody>
      </p:sp>
      <p:sp>
        <p:nvSpPr>
          <p:cNvPr id="28" name="Rectangle 27"/>
          <p:cNvSpPr/>
          <p:nvPr/>
        </p:nvSpPr>
        <p:spPr>
          <a:xfrm>
            <a:off x="9490756" y="4768747"/>
            <a:ext cx="2161442" cy="38337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9637060" y="476874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41,66</a:t>
            </a:r>
          </a:p>
        </p:txBody>
      </p:sp>
      <p:sp>
        <p:nvSpPr>
          <p:cNvPr id="30" name="Rectangle 29"/>
          <p:cNvSpPr/>
          <p:nvPr/>
        </p:nvSpPr>
        <p:spPr>
          <a:xfrm>
            <a:off x="539496" y="5152127"/>
            <a:ext cx="4999381" cy="38337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515212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другие специальности</a:t>
            </a:r>
          </a:p>
        </p:txBody>
      </p:sp>
      <p:sp>
        <p:nvSpPr>
          <p:cNvPr id="32" name="Rectangle 31"/>
          <p:cNvSpPr/>
          <p:nvPr/>
        </p:nvSpPr>
        <p:spPr>
          <a:xfrm>
            <a:off x="5538877" y="5152127"/>
            <a:ext cx="3951879" cy="38337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5685181" y="515212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86,38</a:t>
            </a:r>
          </a:p>
        </p:txBody>
      </p:sp>
      <p:sp>
        <p:nvSpPr>
          <p:cNvPr id="34" name="Rectangle 33"/>
          <p:cNvSpPr/>
          <p:nvPr/>
        </p:nvSpPr>
        <p:spPr>
          <a:xfrm>
            <a:off x="9490756" y="5152127"/>
            <a:ext cx="2161442" cy="38337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9637060" y="515212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27,43</a:t>
            </a:r>
          </a:p>
        </p:txBody>
      </p:sp>
      <p:sp>
        <p:nvSpPr>
          <p:cNvPr id="36" name="TextBox 35"/>
          <p:cNvSpPr txBox="1"/>
          <p:nvPr/>
        </p:nvSpPr>
        <p:spPr>
          <a:xfrm>
            <a:off x="539496" y="5681811"/>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Опыт защищает, но не спасает:</a:t>
            </a:r>
            <a:r>
              <a:rPr sz="1250" b="0" i="0">
                <a:solidFill>
                  <a:srgbClr val="21295C"/>
                </a:solidFill>
                <a:latin typeface="Arial"/>
              </a:rPr>
              <a:t> падают обе группы, и вдвое. </a:t>
            </a:r>
            <a:r>
              <a:rPr sz="1300" b="1" i="0">
                <a:solidFill>
                  <a:srgbClr val="21295C"/>
                </a:solidFill>
                <a:latin typeface="Arial"/>
              </a:rPr>
              <a:t>Столбца «без всякой расшифровки» по группам работа не печатает.</a:t>
            </a:r>
            <a:r>
              <a:rPr sz="1250" b="0" i="0">
                <a:solidFill>
                  <a:srgbClr val="21295C"/>
                </a:solidFill>
                <a:latin typeface="Arial"/>
              </a:rPr>
              <a:t> Стаж у групп разный: 36 ± 11 месяцев против 28 ± 13.</a:t>
            </a:r>
          </a:p>
        </p:txBody>
      </p:sp>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Свод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оба подмножества читаются как подмножества,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две величины считаны на одном и том же подмножестве:</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другое подмножество, рядом с минус 0,54 оно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6: хирурги оценивают риск — сами и после знакомства с моделью</a:t>
            </a:r>
          </a:p>
        </p:txBody>
      </p:sp>
      <p:sp>
        <p:nvSpPr>
          <p:cNvPr id="4" name="Rounded Rectangle 3"/>
          <p:cNvSpPr/>
          <p:nvPr/>
        </p:nvSpPr>
        <p:spPr>
          <a:xfrm>
            <a:off x="502920" y="1335024"/>
            <a:ext cx="3618890" cy="2176704"/>
          </a:xfrm>
          <a:prstGeom prst="roundRect">
            <a:avLst>
              <a:gd name="adj" fmla="val 140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там же кровотечение 0,735 → 0,811, пневмония 0,753 → 0,803: на трёх исходах из четырёх пара точнее хирурга одного. Шкала: 0,5 — монетка, 1,0 — без промаха</a:t>
            </a:r>
          </a:p>
        </p:txBody>
      </p:sp>
      <p:sp>
        <p:nvSpPr>
          <p:cNvPr id="16" name="Rounded Rectangle 15"/>
          <p:cNvSpPr/>
          <p:nvPr/>
        </p:nvSpPr>
        <p:spPr>
          <a:xfrm>
            <a:off x="374904" y="3603168"/>
            <a:ext cx="11441887" cy="2633039"/>
          </a:xfrm>
          <a:prstGeom prst="roundRect">
            <a:avLst>
              <a:gd name="adj" fmla="val 1157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30 хирургов, жребием на две группы по 15:</a:t>
            </a:r>
            <a:r>
              <a:rPr sz="1500" b="0" i="0">
                <a:solidFill>
                  <a:srgbClr val="21295C"/>
                </a:solidFill>
                <a:latin typeface="Arial"/>
              </a:rPr>
              <a:t> одни оценивали риск по письменному описанию случая сами, другие — после знакомства с POTTER. 150 случаев, исходы прослежены вперёд 30 дней.</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септическом шоке пара ниже и хирурга, и модели:</a:t>
            </a:r>
            <a:r>
              <a:rPr sz="1500" b="0" i="0">
                <a:solidFill>
                  <a:srgbClr val="21295C"/>
                </a:solidFill>
                <a:latin typeface="Arial"/>
              </a:rPr>
              <a:t> та одна дала 0,816. </a:t>
            </a:r>
            <a:r>
              <a:rPr sz="1500" b="1" i="0">
                <a:solidFill>
                  <a:srgbClr val="21295C"/>
                </a:solidFill>
                <a:latin typeface="Arial"/>
              </a:rPr>
              <a:t>Второй классический режим — шкалы риска,</a:t>
            </a:r>
            <a:r>
              <a:rPr sz="1500" b="0" i="0">
                <a:solidFill>
                  <a:srgbClr val="21295C"/>
                </a:solidFill>
                <a:latin typeface="Arial"/>
              </a:rPr>
              <a:t> другая выборка: 0,874–0,898 против модели 0,916.</a:t>
            </a:r>
          </a:p>
        </p:txBody>
      </p:sp>
      <p:sp>
        <p:nvSpPr>
          <p:cNvPr id="18" name="TextBox 17"/>
          <p:cNvSpPr txBox="1"/>
          <p:nvPr/>
        </p:nvSpPr>
        <p:spPr>
          <a:xfrm>
            <a:off x="6278727"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Вход — 4–11 ответов о больном, выход — вероятности пяти исходов за 30 дней. Обучен на 382 960 случаях;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Исполнитель тот же, но стал хуже: изменилось состояние руки. </a:t>
            </a:r>
            <a:r>
              <a:rPr sz="1500" b="1" i="0">
                <a:solidFill>
                  <a:srgbClr val="21295C"/>
                </a:solidFill>
                <a:latin typeface="Arial"/>
              </a:rPr>
              <a:t>Ступень — смотрит вторым.</a:t>
            </a:r>
            <a:r>
              <a:rPr sz="1500" b="0" i="0">
                <a:solidFill>
                  <a:srgbClr val="21295C"/>
                </a:solidFill>
                <a:latin typeface="Arial"/>
              </a:rPr>
              <a:t> А где перевес модели наибольший, пара не прибавила вовсе: </a:t>
            </a:r>
            <a:r>
              <a:rPr sz="1500" b="1" i="0">
                <a:solidFill>
                  <a:srgbClr val="21295C"/>
                </a:solidFill>
                <a:latin typeface="Arial"/>
              </a:rPr>
              <a:t>0,834 против 0,833.</a:t>
            </a:r>
          </a:p>
          <a:p>
            <a:pPr algn="l">
              <a:lnSpc>
                <a:spcPct val="126000"/>
              </a:lnSpc>
              <a:spcBef>
                <a:spcPts val="700"/>
              </a:spcBef>
            </a:pPr>
            <a:r>
              <a:rPr sz="1200" b="0" i="0">
                <a:solidFill>
                  <a:srgbClr val="21295C"/>
                </a:solidFill>
                <a:latin typeface="Arial"/>
              </a:rPr>
              <a:t/>
            </a:r>
            <a:r>
              <a:rPr sz="1200" b="0" i="1">
                <a:solidFill>
                  <a:srgbClr val="1C7293"/>
                </a:solidFill>
                <a:latin typeface="Arial"/>
              </a:rPr>
              <a:t>Больного никто из них не осматривал. Повторения замера нет.</a:t>
            </a:r>
          </a:p>
        </p:txBody>
      </p:sp>
      <p:sp>
        <p:nvSpPr>
          <p:cNvPr id="19" name="Rectangle 18"/>
          <p:cNvSpPr/>
          <p:nvPr/>
        </p:nvSpPr>
        <p:spPr>
          <a:xfrm>
            <a:off x="6091275" y="3694608"/>
            <a:ext cx="9144" cy="24948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71421"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788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случай</a:t>
            </a:r>
          </a:p>
        </p:txBody>
      </p:sp>
      <p:sp>
        <p:nvSpPr>
          <p:cNvPr id="7" name="Rectangle 6"/>
          <p:cNvSpPr/>
          <p:nvPr/>
        </p:nvSpPr>
        <p:spPr>
          <a:xfrm>
            <a:off x="3410917" y="1335024"/>
            <a:ext cx="587792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557221" y="1335024"/>
            <a:ext cx="558531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эффект</a:t>
            </a:r>
          </a:p>
        </p:txBody>
      </p:sp>
      <p:sp>
        <p:nvSpPr>
          <p:cNvPr id="9" name="Rectangle 8"/>
          <p:cNvSpPr/>
          <p:nvPr/>
        </p:nvSpPr>
        <p:spPr>
          <a:xfrm>
            <a:off x="9288844" y="1335024"/>
            <a:ext cx="236335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9435148" y="1335024"/>
            <a:ext cx="20707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вывод</a:t>
            </a:r>
          </a:p>
        </p:txBody>
      </p:sp>
      <p:sp>
        <p:nvSpPr>
          <p:cNvPr id="11" name="Rectangle 10"/>
          <p:cNvSpPr/>
          <p:nvPr/>
        </p:nvSpPr>
        <p:spPr>
          <a:xfrm>
            <a:off x="539496" y="1736636"/>
            <a:ext cx="2871421" cy="87565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Хирурги и POTTER.</a:t>
            </a:r>
            <a:r>
              <a:rPr sz="1300" b="0" i="0">
                <a:solidFill>
                  <a:srgbClr val="21295C"/>
                </a:solidFill>
                <a:latin typeface="Arial"/>
              </a:rPr>
              <a:t> Жребием на две группы, 30 хирургов, 150 случаев</a:t>
            </a:r>
          </a:p>
        </p:txBody>
      </p:sp>
      <p:sp>
        <p:nvSpPr>
          <p:cNvPr id="13" name="Rectangle 12"/>
          <p:cNvSpPr/>
          <p:nvPr/>
        </p:nvSpPr>
        <p:spPr>
          <a:xfrm>
            <a:off x="3410917" y="1736636"/>
            <a:ext cx="5877927" cy="87565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557221" y="1736636"/>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 трёх исходах из четырёх пара точнее хирурга; на септическом шоке </a:t>
            </a:r>
            <a:r>
              <a:rPr sz="1300" b="1" i="0">
                <a:solidFill>
                  <a:srgbClr val="21295C"/>
                </a:solidFill>
                <a:latin typeface="Arial"/>
              </a:rPr>
              <a:t>0,712</a:t>
            </a:r>
            <a:r>
              <a:rPr sz="1300" b="0" i="0">
                <a:solidFill>
                  <a:srgbClr val="21295C"/>
                </a:solidFill>
                <a:latin typeface="Arial"/>
              </a:rPr>
              <a:t> против 0,820 у хирурга и 0,816 у модели</a:t>
            </a:r>
          </a:p>
        </p:txBody>
      </p:sp>
      <p:sp>
        <p:nvSpPr>
          <p:cNvPr id="15" name="Rectangle 14"/>
          <p:cNvSpPr/>
          <p:nvPr/>
        </p:nvSpPr>
        <p:spPr>
          <a:xfrm>
            <a:off x="9288844" y="1736636"/>
            <a:ext cx="2363354" cy="87565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435148" y="1736636"/>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проиграла там, где у человека было своё преимущество</a:t>
            </a:r>
          </a:p>
        </p:txBody>
      </p:sp>
      <p:sp>
        <p:nvSpPr>
          <p:cNvPr id="17" name="Rectangle 16"/>
          <p:cNvSpPr/>
          <p:nvPr/>
        </p:nvSpPr>
        <p:spPr>
          <a:xfrm>
            <a:off x="539496" y="2612288"/>
            <a:ext cx="2871421" cy="87565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612288"/>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Врачи с языковой моделью.</a:t>
            </a:r>
            <a:r>
              <a:rPr sz="1300" b="0" i="0">
                <a:solidFill>
                  <a:srgbClr val="21295C"/>
                </a:solidFill>
                <a:latin typeface="Arial"/>
              </a:rPr>
              <a:t> Жребием, 50 врачей, описания случаев</a:t>
            </a:r>
          </a:p>
        </p:txBody>
      </p:sp>
      <p:sp>
        <p:nvSpPr>
          <p:cNvPr id="19" name="Rectangle 18"/>
          <p:cNvSpPr/>
          <p:nvPr/>
        </p:nvSpPr>
        <p:spPr>
          <a:xfrm>
            <a:off x="3410917" y="2612288"/>
            <a:ext cx="5877927" cy="87565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557221" y="2612288"/>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балл рассуждения </a:t>
            </a:r>
            <a:r>
              <a:rPr sz="1300" b="1" i="0">
                <a:solidFill>
                  <a:srgbClr val="21295C"/>
                </a:solidFill>
                <a:latin typeface="Arial"/>
              </a:rPr>
              <a:t>76 против 74</a:t>
            </a:r>
            <a:r>
              <a:rPr sz="1300" b="0" i="0">
                <a:solidFill>
                  <a:srgbClr val="21295C"/>
                </a:solidFill>
                <a:latin typeface="Arial"/>
              </a:rPr>
              <a:t> со справочниками: разница 2 пункта, интервал −4…8</a:t>
            </a:r>
          </a:p>
        </p:txBody>
      </p:sp>
      <p:sp>
        <p:nvSpPr>
          <p:cNvPr id="21" name="Rectangle 20"/>
          <p:cNvSpPr/>
          <p:nvPr/>
        </p:nvSpPr>
        <p:spPr>
          <a:xfrm>
            <a:off x="9288844" y="2612288"/>
            <a:ext cx="2363354" cy="87565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435148" y="2612288"/>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 справочника не отличима</a:t>
            </a:r>
          </a:p>
        </p:txBody>
      </p:sp>
      <p:sp>
        <p:nvSpPr>
          <p:cNvPr id="23" name="Rectangle 22"/>
          <p:cNvSpPr/>
          <p:nvPr/>
        </p:nvSpPr>
        <p:spPr>
          <a:xfrm>
            <a:off x="539496" y="3487941"/>
            <a:ext cx="2871421"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87941"/>
            <a:ext cx="2578813"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Свод чужих опытов.</a:t>
            </a:r>
            <a:r>
              <a:rPr sz="1300" b="0" i="0">
                <a:solidFill>
                  <a:srgbClr val="21295C"/>
                </a:solidFill>
                <a:latin typeface="Arial"/>
              </a:rPr>
              <a:t> 74 работы, 106 опытов</a:t>
            </a:r>
          </a:p>
        </p:txBody>
      </p:sp>
      <p:sp>
        <p:nvSpPr>
          <p:cNvPr id="25" name="Rectangle 24"/>
          <p:cNvSpPr/>
          <p:nvPr/>
        </p:nvSpPr>
        <p:spPr>
          <a:xfrm>
            <a:off x="3410917" y="3487941"/>
            <a:ext cx="5877927" cy="63863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557221" y="3487941"/>
            <a:ext cx="5585319"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модель сильнее — пара хуже модели на </a:t>
            </a:r>
            <a:r>
              <a:rPr sz="1300" b="1" i="0">
                <a:solidFill>
                  <a:srgbClr val="21295C"/>
                </a:solidFill>
                <a:latin typeface="Arial"/>
              </a:rPr>
              <a:t>0,54</a:t>
            </a:r>
            <a:r>
              <a:rPr sz="1300" b="0" i="0">
                <a:solidFill>
                  <a:srgbClr val="21295C"/>
                </a:solidFill>
                <a:latin typeface="Arial"/>
              </a:rPr>
              <a:t> и лучше человека на 0,74; по всему своду −0,23</a:t>
            </a:r>
          </a:p>
        </p:txBody>
      </p:sp>
      <p:sp>
        <p:nvSpPr>
          <p:cNvPr id="27" name="Rectangle 26"/>
          <p:cNvSpPr/>
          <p:nvPr/>
        </p:nvSpPr>
        <p:spPr>
          <a:xfrm>
            <a:off x="9288844" y="3487941"/>
            <a:ext cx="2363354" cy="63863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435148" y="3487941"/>
            <a:ext cx="20707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счёт идёт против сильнейшей из сторон</a:t>
            </a:r>
          </a:p>
        </p:txBody>
      </p:sp>
      <p:sp>
        <p:nvSpPr>
          <p:cNvPr id="29" name="Rectangle 28"/>
          <p:cNvSpPr/>
          <p:nvPr/>
        </p:nvSpPr>
        <p:spPr>
          <a:xfrm>
            <a:off x="539496" y="4126573"/>
            <a:ext cx="2871421" cy="87565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126573"/>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Замер взгляда.</a:t>
            </a:r>
            <a:r>
              <a:rPr sz="1300" b="0" i="0">
                <a:solidFill>
                  <a:srgbClr val="21295C"/>
                </a:solidFill>
                <a:latin typeface="Arial"/>
              </a:rPr>
              <a:t> Читатель против себя, 10 читателей</a:t>
            </a:r>
          </a:p>
        </p:txBody>
      </p:sp>
      <p:sp>
        <p:nvSpPr>
          <p:cNvPr id="31" name="Rectangle 30"/>
          <p:cNvSpPr/>
          <p:nvPr/>
        </p:nvSpPr>
        <p:spPr>
          <a:xfrm>
            <a:off x="3410917" y="4126573"/>
            <a:ext cx="5877927" cy="87565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557221" y="4126573"/>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подсказка молчала (14 случаев) — пропущенных раков </a:t>
            </a:r>
            <a:r>
              <a:rPr sz="1300" b="1" i="0">
                <a:solidFill>
                  <a:srgbClr val="21295C"/>
                </a:solidFill>
                <a:latin typeface="Arial"/>
              </a:rPr>
              <a:t>29 → 61</a:t>
            </a:r>
            <a:r>
              <a:rPr sz="1300" b="0" i="0">
                <a:solidFill>
                  <a:srgbClr val="21295C"/>
                </a:solidFill>
                <a:latin typeface="Arial"/>
              </a:rPr>
              <a:t> из ста; где ошиблась в другую сторону (14 случаев) — ложных вызовов 79 → 61</a:t>
            </a:r>
          </a:p>
        </p:txBody>
      </p:sp>
      <p:sp>
        <p:nvSpPr>
          <p:cNvPr id="33" name="Rectangle 32"/>
          <p:cNvSpPr/>
          <p:nvPr/>
        </p:nvSpPr>
        <p:spPr>
          <a:xfrm>
            <a:off x="9288844" y="4126573"/>
            <a:ext cx="2363354" cy="87565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435148" y="4126573"/>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знак задаёт правота подсказки</a:t>
            </a:r>
          </a:p>
        </p:txBody>
      </p:sp>
      <p:sp>
        <p:nvSpPr>
          <p:cNvPr id="35" name="TextBox 34"/>
          <p:cNvSpPr txBox="1"/>
          <p:nvPr/>
        </p:nvSpPr>
        <p:spPr>
          <a:xfrm>
            <a:off x="539496" y="5148530"/>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четырёх решение человека не дошло до больного.</a:t>
            </a:r>
            <a:r>
              <a:rPr sz="1350" b="0" i="0">
                <a:solidFill>
                  <a:srgbClr val="21295C"/>
                </a:solidFill>
                <a:latin typeface="Arial"/>
              </a:rPr>
              <a:t> Исходы, где они есть, служат эталоном для счёта точности, а не последствием подсказки.</a:t>
            </a:r>
          </a:p>
        </p:txBody>
      </p:sp>
      <p:sp>
        <p:nvSpPr>
          <p:cNvPr id="36" name="TextBox 35"/>
          <p:cNvSpPr txBox="1"/>
          <p:nvPr/>
        </p:nvSpPr>
        <p:spPr>
          <a:xfrm>
            <a:off x="539496" y="5840546"/>
            <a:ext cx="11112703" cy="263111"/>
          </a:xfrm>
          <a:prstGeom prst="rect">
            <a:avLst/>
          </a:prstGeom>
          <a:noFill/>
        </p:spPr>
        <p:txBody>
          <a:bodyPr wrap="square" lIns="0" rIns="0" tIns="0" bIns="0" anchor="t">
            <a:spAutoFit/>
          </a:bodyPr>
          <a:lstStyle/>
          <a:p>
            <a:pPr algn="l">
              <a:lnSpc>
                <a:spcPct val="124000"/>
              </a:lnSpc>
            </a:pPr>
            <a:r>
              <a:rPr sz="1350" b="0" i="1">
                <a:solidFill>
                  <a:srgbClr val="1C7293"/>
                </a:solidFill>
                <a:latin typeface="Arial"/>
              </a:rPr>
              <a:t>Модель одна дала 92 из ста в третьем случае — но это три прогона, а не ветвь жребия.</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ведущая причина внутрибольничной смерти; 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антибиотик «на всякий случай», время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различение: 0,5 монетка, 1,0 без промаха. Поймано 33 случая из ста — не выявлено 1 709 из 2 552</a:t>
            </a:r>
          </a:p>
        </p:txBody>
      </p:sp>
      <p:sp>
        <p:nvSpPr>
          <p:cNvPr id="20" name="Rounded Rectangle 19"/>
          <p:cNvSpPr/>
          <p:nvPr/>
        </p:nvSpPr>
        <p:spPr>
          <a:xfrm>
            <a:off x="374904" y="3584307"/>
            <a:ext cx="11441887"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читаемые непрерывно; выход — балл риска и тревога с набором назначений в один щелчок. </a:t>
            </a:r>
            <a:r>
              <a:rPr sz="1500" b="0" i="1">
                <a:solidFill>
                  <a:srgbClr val="21295C"/>
                </a:solidFill>
                <a:latin typeface="Arial"/>
              </a:rPr>
              <a:t>Прогноз на структурированных данных: штрафованная логистическая регрессия, глубокой сети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Обе ошибки платит одна дежурная смена,</a:t>
            </a:r>
            <a:r>
              <a:rPr sz="1500" b="0" i="0">
                <a:solidFill>
                  <a:srgbClr val="21295C"/>
                </a:solidFill>
                <a:latin typeface="Arial"/>
              </a:rPr>
              <a:t> и выбор между ними делается по многу раз за ночь.</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считалась руками:</a:t>
            </a:r>
            <a:r>
              <a:rPr sz="1500" b="0" i="0">
                <a:solidFill>
                  <a:srgbClr val="21295C"/>
                </a:solidFill>
                <a:latin typeface="Arial"/>
              </a:rPr>
              <a:t> баллы по таблице, сумма, порог, назначенное действие. Веса расставила согласительная комиссия и напечатала — ошибку шкалы правят новой редакцией.</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этой шкалой, а не с нулём.</a:t>
            </a:r>
          </a:p>
          <a:p>
            <a:pPr algn="l">
              <a:lnSpc>
                <a:spcPct val="126000"/>
              </a:lnSpc>
              <a:spcBef>
                <a:spcPts val="700"/>
              </a:spcBef>
            </a:pPr>
            <a:r>
              <a:rPr sz="1200" b="0" i="0">
                <a:solidFill>
                  <a:srgbClr val="21295C"/>
                </a:solidFill>
                <a:latin typeface="Arial"/>
              </a:rPr>
              <a:t/>
            </a:r>
            <a:r>
              <a:rPr sz="1200" b="0" i="1">
                <a:solidFill>
                  <a:srgbClr val="1C7293"/>
                </a:solidFill>
                <a:latin typeface="Arial"/>
              </a:rPr>
              <a:t>Как проверяли: ретроспективно, 27 697 пациентов одной системы — балл сверяли с записанным исходом.</a:t>
            </a:r>
          </a:p>
        </p:txBody>
      </p:sp>
      <p:sp>
        <p:nvSpPr>
          <p:cNvPr id="23" name="Rectangle 22"/>
          <p:cNvSpPr/>
          <p:nvPr/>
        </p:nvSpPr>
        <p:spPr>
          <a:xfrm>
            <a:off x="6091275" y="3675747"/>
            <a:ext cx="9144" cy="24653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этой полосы она не вышла.</a:t>
            </a:r>
            <a:r>
              <a:rPr sz="1300" b="0" i="0">
                <a:solidFill>
                  <a:srgbClr val="21295C"/>
                </a:solidFill>
                <a:latin typeface="Arial"/>
              </a:rPr>
              <a:t> Населения разные — сравнивается порядок величины, превосходства оно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проверка 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и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она считала сама. </a:t>
            </a:r>
            <a:r>
              <a:rPr sz="1300" b="1" i="0">
                <a:solidFill>
                  <a:srgbClr val="21295C"/>
                </a:solidFill>
                <a:latin typeface="Arial"/>
              </a:rPr>
              <a:t>Распределение входов сдвинулось, порог остался.</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три места, где провалилось не чтение</a:t>
            </a:r>
          </a:p>
        </p:txBody>
      </p:sp>
      <p:sp>
        <p:nvSpPr>
          <p:cNvPr id="4" name="Rounded Rectangle 3"/>
          <p:cNvSpPr/>
          <p:nvPr/>
        </p:nvSpPr>
        <p:spPr>
          <a:xfrm>
            <a:off x="502920" y="1335024"/>
            <a:ext cx="5437479" cy="2366072"/>
          </a:xfrm>
          <a:prstGeom prst="roundRect">
            <a:avLst>
              <a:gd name="adj" fmla="val 1288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постоянство: десятитысячный снимок как первый</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 процедуры</a:t>
            </a:r>
          </a:p>
        </p:txBody>
      </p:sp>
      <p:sp>
        <p:nvSpPr>
          <p:cNvPr id="7" name="Rounded Rectangle 6"/>
          <p:cNvSpPr/>
          <p:nvPr/>
        </p:nvSpPr>
        <p:spPr>
          <a:xfrm>
            <a:off x="6251295" y="1335024"/>
            <a:ext cx="5437479" cy="2366072"/>
          </a:xfrm>
          <a:prstGeom prst="roundRect">
            <a:avLst>
              <a:gd name="adj" fmla="val 12882"/>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решить, годно ли измерение</a:t>
            </a:r>
          </a:p>
          <a:p>
            <a:pPr algn="l">
              <a:lnSpc>
                <a:spcPct val="126000"/>
              </a:lnSpc>
            </a:pPr>
            <a:r>
              <a:rPr sz="1450" b="0" i="0">
                <a:solidFill>
                  <a:srgbClr val="21295C"/>
                </a:solidFill>
                <a:latin typeface="Arial"/>
              </a:rPr>
              <a:t>• назначить порог под цену ошибки</a:t>
            </a:r>
          </a:p>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a:p>
            <a:pPr algn="l">
              <a:lnSpc>
                <a:spcPct val="126000"/>
              </a:lnSpc>
            </a:pPr>
            <a:r>
              <a:rPr sz="1450" b="0" i="0">
                <a:solidFill>
                  <a:srgbClr val="21295C"/>
                </a:solidFill>
                <a:latin typeface="Arial"/>
              </a:rPr>
              <a:t>• заметить, что вход сдвинулся</a:t>
            </a:r>
          </a:p>
        </p:txBody>
      </p:sp>
      <p:sp>
        <p:nvSpPr>
          <p:cNvPr id="10" name="Rounded Rectangle 9"/>
          <p:cNvSpPr/>
          <p:nvPr/>
        </p:nvSpPr>
        <p:spPr>
          <a:xfrm>
            <a:off x="374904" y="3792536"/>
            <a:ext cx="11441887" cy="2443671"/>
          </a:xfrm>
          <a:prstGeom prst="roundRect">
            <a:avLst>
              <a:gd name="adj" fmla="val 1247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83976"/>
            <a:ext cx="11112703" cy="235223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Раздел закрыл две стадии и один случай сверх них.</a:t>
            </a:r>
            <a:r>
              <a:rPr sz="1300" b="0" i="0">
                <a:solidFill>
                  <a:srgbClr val="21295C"/>
                </a:solidFill>
                <a:latin typeface="Arial"/>
              </a:rPr>
              <a:t> На исследовании провалились развёртывание и определение цели: снимки не прошли по качеству, а целевой переменной взяли расходы вместо болезни. На постановке диагноза — устройство процедуры: инструмент тот же, а исходы противоположные. На непрерывном наблюдении сдвинулось распределение входов, а порог остался прежним.</a:t>
            </a:r>
          </a:p>
          <a:p>
            <a:pPr algn="l">
              <a:lnSpc>
                <a:spcPct val="126000"/>
              </a:lnSpc>
              <a:spcBef>
                <a:spcPts val="700"/>
              </a:spcBef>
            </a:pPr>
            <a:r>
              <a:rPr sz="1300" b="0" i="0">
                <a:solidFill>
                  <a:srgbClr val="21295C"/>
                </a:solidFill>
                <a:latin typeface="Arial"/>
              </a:rPr>
              <a:t/>
            </a:r>
            <a:r>
              <a:rPr sz="1300" b="1" i="0">
                <a:solidFill>
                  <a:srgbClr val="21295C"/>
                </a:solidFill>
                <a:latin typeface="Arial"/>
              </a:rPr>
              <a:t>Стало с работой:</a:t>
            </a:r>
            <a:r>
              <a:rPr sz="1300" b="0" i="0">
                <a:solidFill>
                  <a:srgbClr val="21295C"/>
                </a:solidFill>
                <a:latin typeface="Arial"/>
              </a:rPr>
              <a:t> нагрузка на том же месте упала · появился повторный визит · сменился исполнитель, отбор делал врач — стал балл · исполнитель тот же,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назначенный под цену обеих ошибок, арбитраж на расхождениях и порядок предъявления подсказки. </a:t>
            </a:r>
            <a:r>
              <a:rPr sz="1300" b="1" i="0">
                <a:solidFill>
                  <a:srgbClr val="21295C"/>
                </a:solidFill>
                <a:latin typeface="Arial"/>
              </a:rPr>
              <a:t>Цель системы не проверяет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Происхождение каждого знака в подписанной заметке карта подсчитывала сама;</a:t>
            </a:r>
            <a:r>
              <a:rPr sz="1500" b="0" i="0">
                <a:solidFill>
                  <a:srgbClr val="21295C"/>
                </a:solidFill>
                <a:latin typeface="Arial"/>
              </a:rPr>
              <a:t> единица — доля знаков.</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16631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почти 2 млн пациентов; 33,0 % в 2015 → 54,2 % в 2020</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61259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Слышится «половина записей скопирована»; измерено «половина написанного уже было написано».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Карты одной системы за шесть лет:</a:t>
            </a:r>
            <a:r>
              <a:rPr sz="1500" b="0" i="0">
                <a:solidFill>
                  <a:srgbClr val="21295C"/>
                </a:solidFill>
                <a:latin typeface="Arial"/>
              </a:rPr>
              <a:t> дословные повторы подсчитывали скользящим окном в десять слов; единица — доля слов.</a:t>
            </a:r>
          </a:p>
        </p:txBody>
      </p:sp>
      <p:sp>
        <p:nvSpPr>
          <p:cNvPr id="20" name="TextBox 19"/>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704039"/>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держать структуру в голове при разговоре · набрать запись · вычитать и подписать · собрать выписной документ · передать его читателю · предъявить при разборе случая.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амбулаторных врачей четырнадцати специальностей вели приём в трёх равных группах: два инструмента и обычная практика.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Тот же замер:</a:t>
            </a:r>
            <a:r>
              <a:rPr sz="1250" b="0" i="0">
                <a:solidFill>
                  <a:srgbClr val="21295C"/>
                </a:solidFill>
                <a:latin typeface="Arial"/>
              </a:rPr>
              <a:t> 238 врачей вели приём в трёх равных группах, мерили время в заметке.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читали и оценивали двое независимо —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Rounded Rectangle 17"/>
          <p:cNvSpPr/>
          <p:nvPr/>
        </p:nvSpPr>
        <p:spPr>
          <a:xfrm>
            <a:off x="374904" y="3576763"/>
            <a:ext cx="11441887" cy="2659444"/>
          </a:xfrm>
          <a:prstGeom prst="roundRect">
            <a:avLst>
              <a:gd name="adj" fmla="val 1146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Каждую ночь модель собирала черновик сводки</a:t>
            </a:r>
            <a:r>
              <a:rPr sz="1500" b="0" i="0">
                <a:solidFill>
                  <a:srgbClr val="21295C"/>
                </a:solidFill>
                <a:latin typeface="Arial"/>
              </a:rPr>
              <a:t>, врачи читали его по желанию — десять недель одного центра, отделение терапии.</a:t>
            </a:r>
          </a:p>
        </p:txBody>
      </p:sp>
      <p:sp>
        <p:nvSpPr>
          <p:cNvPr id="20" name="TextBox 19"/>
          <p:cNvSpPr txBox="1"/>
          <p:nvPr/>
        </p:nvSpPr>
        <p:spPr>
          <a:xfrm>
            <a:off x="6278727"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668203"/>
            <a:ext cx="9144" cy="249487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Надиктовка, которая предлагает диагноз: граница проведена по подписи</a:t>
            </a:r>
          </a:p>
        </p:txBody>
      </p:sp>
      <p:sp>
        <p:nvSpPr>
          <p:cNvPr id="4" name="Rounded Rectangle 3"/>
          <p:cNvSpPr/>
          <p:nvPr/>
        </p:nvSpPr>
        <p:spPr>
          <a:xfrm>
            <a:off x="502920" y="1335024"/>
            <a:ext cx="3618890"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именно на предложение из речи — ноль, независимых рецензируемых замеров его точности — тоже ноль</a:t>
            </a:r>
          </a:p>
        </p:txBody>
      </p:sp>
      <p:sp>
        <p:nvSpPr>
          <p:cNvPr id="8" name="Rounded Rectangle 7"/>
          <p:cNvSpPr/>
          <p:nvPr/>
        </p:nvSpPr>
        <p:spPr>
          <a:xfrm>
            <a:off x="4286402"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клиническое предложение» среди них нет ни одной</a:t>
            </a:r>
          </a:p>
        </p:txBody>
      </p:sp>
      <p:sp>
        <p:nvSpPr>
          <p:cNvPr id="12" name="Rounded Rectangle 11"/>
          <p:cNvSpPr/>
          <p:nvPr/>
        </p:nvSpPr>
        <p:spPr>
          <a:xfrm>
            <a:off x="8069884"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БЛИЖАЙШАЯ ОТЕЧЕСТВЕННАЯ — МОСКОВСКАЯ ТОП-3</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СОГЛАСИЯ врача с подсказкой: при одном диагнозе и при выборе из трёх. Зарегистрирована медизделием, но жалобы врач набирает руками</a:t>
            </a:r>
          </a:p>
        </p:txBody>
      </p:sp>
      <p:sp>
        <p:nvSpPr>
          <p:cNvPr id="16" name="Rounded Rectangle 15"/>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24859"/>
            <a:ext cx="11112703" cy="27113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не седьмое действие стадии.</a:t>
            </a:r>
            <a:r>
              <a:rPr sz="1500" b="0" i="0">
                <a:solidFill>
                  <a:srgbClr val="21295C"/>
                </a:solidFill>
                <a:latin typeface="Arial"/>
              </a:rPr>
              <a:t> Вход у такой системы здесь, на приёме, а выход — на постановке диагноза: она сшивает два раздела лекции и целиком не помещается ни в один.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 проведена по подписи, и проведена дважды.</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делает сейчас:</a:t>
            </a:r>
            <a:r>
              <a:rPr sz="1500" b="0" i="0">
                <a:solidFill>
                  <a:srgbClr val="21295C"/>
                </a:solidFill>
                <a:latin typeface="Arial"/>
              </a:rPr>
              <a:t> Glass Health достраивает предположительный диагноз по ходу живой речи, Corti подсказывает прямо во время разговора. </a:t>
            </a:r>
            <a:r>
              <a:rPr sz="1500" b="0" i="1">
                <a:solidFill>
                  <a:srgbClr val="21295C"/>
                </a:solidFill>
                <a:latin typeface="Arial"/>
              </a:rPr>
              <a:t>Обе — по страницам изготовителей; замеров точности нет ни у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46 % — это согласие врача с подсказкой, а не её точность.</a:t>
            </a:r>
            <a:r>
              <a:rPr sz="1500" b="0" i="0">
                <a:solidFill>
                  <a:srgbClr val="21295C"/>
                </a:solidFill>
                <a:latin typeface="Arial"/>
              </a:rPr>
              <a:t> Если врач и модель ошибаются одинаково, такая метрика этого не увидит. </a:t>
            </a:r>
            <a:r>
              <a:rPr sz="1500" b="1" i="0">
                <a:solidFill>
                  <a:srgbClr val="21295C"/>
                </a:solidFill>
                <a:latin typeface="Arial"/>
              </a:rPr>
              <a:t>Ни один источник этой оговорки не делает.</a:t>
            </a:r>
          </a:p>
        </p:txBody>
      </p:sp>
      <p:sp>
        <p:nvSpPr>
          <p:cNvPr id="18" name="Rectangle 1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 §5.1-5.2</a:t>
            </a:r>
            <a:r>
              <a:rPr sz="1200" b="0" i="1">
                <a:solidFill>
                  <a:srgbClr val="1C7293"/>
                </a:solidFill>
                <a:latin typeface="Arial"/>
              </a:rPr>
              <a:t> · </a:t>
            </a:r>
            <a:r>
              <a:rPr sz="1200" b="0" i="1" u="sng">
                <a:solidFill>
                  <a:srgbClr val="065A82"/>
                </a:solidFill>
                <a:latin typeface="Arial"/>
                <a:hlinkClick r:id="rId3"/>
              </a:rPr>
              <a:t>ТОП-3: страница изготовителя — числа 46 % и 68 % — сообщение Правительства Москвы от 14.07.2021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a:t>
            </a:r>
          </a:p>
        </p:txBody>
      </p:sp>
      <p:sp>
        <p:nvSpPr>
          <p:cNvPr id="10" name="TextBox 9"/>
          <p:cNvSpPr txBox="1"/>
          <p:nvPr/>
        </p:nvSpPr>
        <p:spPr>
          <a:xfrm>
            <a:off x="704088" y="351224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в одном режиме время выведения удлинили с шести минут до девяти и мерили по таймеру; в другом на тот же экран, кроме врача, наблюдала медсестра. </a:t>
            </a:r>
            <a:r>
              <a:rPr sz="1500" b="1" i="0">
                <a:solidFill>
                  <a:srgbClr val="21295C"/>
                </a:solidFill>
                <a:latin typeface="Arial"/>
              </a:rPr>
              <a:t>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процедуры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на карте курса: своего столбца нет</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ПОКАЗАНО ЯЧЕЕК КАРТЫ</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ЧЕТЫРЕ РАЗДЕЛА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ячеек</a:t>
            </a:r>
          </a:p>
        </p:txBody>
      </p:sp>
      <p:sp>
        <p:nvSpPr>
          <p:cNvPr id="18" name="Rounded Rectangle 1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Этому разделу на карте курса места не нашлось, и сказать почему важнее, чем найти ячейку.</a:t>
            </a:r>
            <a:r>
              <a:rPr sz="1500" b="0" i="0">
                <a:solidFill>
                  <a:srgbClr val="21295C"/>
                </a:solidFill>
                <a:latin typeface="Arial"/>
              </a:rPr>
              <a:t> Карта спрашивает о каждом случае две вещи: что модель делает и с какими данными. Здесь она распознаёт — но не снимок, а </a:t>
            </a:r>
            <a:r>
              <a:rPr sz="1500" b="1" i="0">
                <a:solidFill>
                  <a:srgbClr val="21295C"/>
                </a:solidFill>
                <a:latin typeface="Arial"/>
              </a:rPr>
              <a:t>живой поток кадров во время процедуры</a:t>
            </a:r>
            <a:r>
              <a:rPr sz="1500" b="0" i="0">
                <a:solidFill>
                  <a:srgbClr val="21295C"/>
                </a:solidFill>
                <a:latin typeface="Arial"/>
              </a:rPr>
              <a:t>. Такого столбца среди двенадцати показанных нет: карта собрана под клинику, где читают снимок, запись и показатели.</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 разница, которая важнее места на карте.</a:t>
            </a:r>
            <a:r>
              <a:rPr sz="1500" b="0" i="0">
                <a:solidFill>
                  <a:srgbClr val="21295C"/>
                </a:solidFill>
                <a:latin typeface="Arial"/>
              </a:rPr>
              <a:t> Помощник подсвечивает находку рамкой, пока врач ведёт процедуру: решение остаётся за врачом, он смотрит сам. Там, где модель садится вторым читателем снимка, человека с этого места снимают совсем.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доверие карта не спрашивает вовсе</a:t>
            </a:r>
            <a:r>
              <a:rPr sz="1500" b="0" i="0">
                <a:solidFill>
                  <a:srgbClr val="21295C"/>
                </a:solidFill>
                <a:latin typeface="Arial"/>
              </a:rPr>
              <a:t> — такого вопроса в ней нет, и это её пробел, а не наш.</a:t>
            </a:r>
          </a:p>
        </p:txBody>
      </p:sp>
      <p:sp>
        <p:nvSpPr>
          <p:cNvPr id="21" name="Rectangle 2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3.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4.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891169"/>
          </a:xfrm>
          <a:prstGeom prst="roundRect">
            <a:avLst>
              <a:gd name="adj" fmla="val 623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98248"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564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37744" y="1335024"/>
            <a:ext cx="3240715"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84048" y="1335024"/>
            <a:ext cx="294810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378459" y="1335024"/>
            <a:ext cx="1441425"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524763" y="1335024"/>
            <a:ext cx="114881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мерит</a:t>
            </a:r>
          </a:p>
        </p:txBody>
      </p:sp>
      <p:sp>
        <p:nvSpPr>
          <p:cNvPr id="11" name="Rectangle 10"/>
          <p:cNvSpPr/>
          <p:nvPr/>
        </p:nvSpPr>
        <p:spPr>
          <a:xfrm>
            <a:off x="5819884" y="1335024"/>
            <a:ext cx="5832314"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966188" y="1335024"/>
            <a:ext cx="553970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 за лекцию</a:t>
            </a:r>
          </a:p>
        </p:txBody>
      </p:sp>
      <p:sp>
        <p:nvSpPr>
          <p:cNvPr id="13" name="Rectangle 12"/>
          <p:cNvSpPr/>
          <p:nvPr/>
        </p:nvSpPr>
        <p:spPr>
          <a:xfrm>
            <a:off x="539496" y="1718403"/>
            <a:ext cx="598248"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37744" y="1718403"/>
            <a:ext cx="3240715"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84048" y="17184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378459" y="1718403"/>
            <a:ext cx="1441425"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524763" y="17184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19" name="Rectangle 18"/>
          <p:cNvSpPr/>
          <p:nvPr/>
        </p:nvSpPr>
        <p:spPr>
          <a:xfrm>
            <a:off x="5819884" y="1718403"/>
            <a:ext cx="5832314"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5966188" y="171840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разработки лекарства — раздел снят</a:t>
            </a:r>
          </a:p>
        </p:txBody>
      </p:sp>
      <p:sp>
        <p:nvSpPr>
          <p:cNvPr id="21" name="Rectangle 20"/>
          <p:cNvSpPr/>
          <p:nvPr/>
        </p:nvSpPr>
        <p:spPr>
          <a:xfrm>
            <a:off x="539496" y="2101783"/>
            <a:ext cx="598248"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37744" y="2101783"/>
            <a:ext cx="3240715"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84048" y="21017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378459" y="2101783"/>
            <a:ext cx="1441425"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524763" y="21017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27" name="Rectangle 26"/>
          <p:cNvSpPr/>
          <p:nvPr/>
        </p:nvSpPr>
        <p:spPr>
          <a:xfrm>
            <a:off x="5819884" y="2101783"/>
            <a:ext cx="5832314"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5966188" y="21017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9" name="Rectangle 28"/>
          <p:cNvSpPr/>
          <p:nvPr/>
        </p:nvSpPr>
        <p:spPr>
          <a:xfrm>
            <a:off x="539496" y="2485163"/>
            <a:ext cx="598248"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37744" y="2485163"/>
            <a:ext cx="3240715"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84048" y="24851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378459" y="2485163"/>
            <a:ext cx="1441425"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524763" y="24851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35" name="Rectangle 34"/>
          <p:cNvSpPr/>
          <p:nvPr/>
        </p:nvSpPr>
        <p:spPr>
          <a:xfrm>
            <a:off x="5819884" y="2485163"/>
            <a:ext cx="5832314"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5966188" y="248516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разбор тревоги модели · </a:t>
            </a:r>
            <a:r>
              <a:rPr sz="1200" b="0" i="1">
                <a:solidFill>
                  <a:srgbClr val="21295C"/>
                </a:solidFill>
                <a:latin typeface="Arial"/>
              </a:rPr>
              <a:t>счёт объёма был у надзора — раздел снят</a:t>
            </a:r>
          </a:p>
        </p:txBody>
      </p:sp>
      <p:sp>
        <p:nvSpPr>
          <p:cNvPr id="37" name="Rectangle 36"/>
          <p:cNvSpPr/>
          <p:nvPr/>
        </p:nvSpPr>
        <p:spPr>
          <a:xfrm>
            <a:off x="539496" y="2868543"/>
            <a:ext cx="598248"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37744" y="2868543"/>
            <a:ext cx="3240715"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84048" y="286854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378459" y="2868543"/>
            <a:ext cx="1441425"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524763" y="286854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43" name="Rectangle 42"/>
          <p:cNvSpPr/>
          <p:nvPr/>
        </p:nvSpPr>
        <p:spPr>
          <a:xfrm>
            <a:off x="5819884" y="2868543"/>
            <a:ext cx="5832314"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5966188" y="286854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5" name="Rectangle 44"/>
          <p:cNvSpPr/>
          <p:nvPr/>
        </p:nvSpPr>
        <p:spPr>
          <a:xfrm>
            <a:off x="539496" y="3251923"/>
            <a:ext cx="598248"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37744" y="3251923"/>
            <a:ext cx="3240715"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84048" y="325192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378459" y="3251923"/>
            <a:ext cx="1441425"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524763" y="325192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51" name="Rectangle 50"/>
          <p:cNvSpPr/>
          <p:nvPr/>
        </p:nvSpPr>
        <p:spPr>
          <a:xfrm>
            <a:off x="5819884" y="3251923"/>
            <a:ext cx="5832314"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5966188" y="325192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53" name="Rectangle 52"/>
          <p:cNvSpPr/>
          <p:nvPr/>
        </p:nvSpPr>
        <p:spPr>
          <a:xfrm>
            <a:off x="539496" y="3635303"/>
            <a:ext cx="598248"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37744" y="3635303"/>
            <a:ext cx="3240715"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84048" y="36353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378459" y="3635303"/>
            <a:ext cx="1441425"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524763" y="36353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59" name="Rectangle 58"/>
          <p:cNvSpPr/>
          <p:nvPr/>
        </p:nvSpPr>
        <p:spPr>
          <a:xfrm>
            <a:off x="5819884" y="3635303"/>
            <a:ext cx="5832314"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5966188" y="363530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явка </a:t>
            </a:r>
            <a:r>
              <a:rPr sz="1200" b="1" i="0">
                <a:solidFill>
                  <a:srgbClr val="21295C"/>
                </a:solidFill>
                <a:latin typeface="Arial"/>
              </a:rPr>
              <a:t>22 → 100</a:t>
            </a:r>
            <a:r>
              <a:rPr sz="1200" b="0" i="0">
                <a:solidFill>
                  <a:srgbClr val="21295C"/>
                </a:solidFill>
                <a:latin typeface="Arial"/>
              </a:rPr>
              <a:t> из ста</a:t>
            </a:r>
          </a:p>
        </p:txBody>
      </p:sp>
      <p:sp>
        <p:nvSpPr>
          <p:cNvPr id="61" name="Rectangle 60"/>
          <p:cNvSpPr/>
          <p:nvPr/>
        </p:nvSpPr>
        <p:spPr>
          <a:xfrm>
            <a:off x="539496" y="4018683"/>
            <a:ext cx="598248"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37744" y="4018683"/>
            <a:ext cx="3240715"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84048" y="40186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378459" y="4018683"/>
            <a:ext cx="1441425"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524763" y="40186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порядок</a:t>
            </a:r>
          </a:p>
        </p:txBody>
      </p:sp>
      <p:sp>
        <p:nvSpPr>
          <p:cNvPr id="67" name="Rectangle 66"/>
          <p:cNvSpPr/>
          <p:nvPr/>
        </p:nvSpPr>
        <p:spPr>
          <a:xfrm>
            <a:off x="5819884" y="4018683"/>
            <a:ext cx="5832314"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5966188" y="40186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p>
        </p:txBody>
      </p:sp>
      <p:sp>
        <p:nvSpPr>
          <p:cNvPr id="69" name="Rectangle 68"/>
          <p:cNvSpPr/>
          <p:nvPr/>
        </p:nvSpPr>
        <p:spPr>
          <a:xfrm>
            <a:off x="539496" y="4402063"/>
            <a:ext cx="598248"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37744" y="4402063"/>
            <a:ext cx="3240715"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84048" y="44020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378459" y="4402063"/>
            <a:ext cx="1441425"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524763" y="44020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цена ошибки</a:t>
            </a:r>
          </a:p>
        </p:txBody>
      </p:sp>
      <p:sp>
        <p:nvSpPr>
          <p:cNvPr id="75" name="Rectangle 74"/>
          <p:cNvSpPr/>
          <p:nvPr/>
        </p:nvSpPr>
        <p:spPr>
          <a:xfrm>
            <a:off x="5819884" y="4402063"/>
            <a:ext cx="5832314"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5966188" y="440206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надзора — раздел снят</a:t>
            </a:r>
          </a:p>
        </p:txBody>
      </p:sp>
      <p:sp>
        <p:nvSpPr>
          <p:cNvPr id="77" name="Rectangle 76"/>
          <p:cNvSpPr/>
          <p:nvPr/>
        </p:nvSpPr>
        <p:spPr>
          <a:xfrm>
            <a:off x="539496" y="4785442"/>
            <a:ext cx="598248"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37744" y="4785442"/>
            <a:ext cx="3240715"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84048" y="4785442"/>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378459" y="4785442"/>
            <a:ext cx="1441425"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524763" y="4785442"/>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83" name="Rectangle 82"/>
          <p:cNvSpPr/>
          <p:nvPr/>
        </p:nvSpPr>
        <p:spPr>
          <a:xfrm>
            <a:off x="5819884" y="4785442"/>
            <a:ext cx="5832314"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5966188" y="4785442"/>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28,4 → 22,4</a:t>
            </a:r>
            <a:r>
              <a:rPr sz="1200" b="0" i="0">
                <a:solidFill>
                  <a:srgbClr val="21295C"/>
                </a:solidFill>
                <a:latin typeface="Arial"/>
              </a:rPr>
              <a:t> из ста</a:t>
            </a:r>
          </a:p>
        </p:txBody>
      </p:sp>
      <p:sp>
        <p:nvSpPr>
          <p:cNvPr id="85" name="Rectangle 84"/>
          <p:cNvSpPr/>
          <p:nvPr/>
        </p:nvSpPr>
        <p:spPr>
          <a:xfrm>
            <a:off x="539496" y="5168822"/>
            <a:ext cx="598248"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30564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37744" y="5168822"/>
            <a:ext cx="3240715"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84048" y="5168822"/>
            <a:ext cx="294810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378459" y="5168822"/>
            <a:ext cx="1441425"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524763" y="5168822"/>
            <a:ext cx="114881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рука</a:t>
            </a:r>
          </a:p>
        </p:txBody>
      </p:sp>
      <p:sp>
        <p:nvSpPr>
          <p:cNvPr id="91" name="Rectangle 90"/>
          <p:cNvSpPr/>
          <p:nvPr/>
        </p:nvSpPr>
        <p:spPr>
          <a:xfrm>
            <a:off x="5819884" y="5168822"/>
            <a:ext cx="5832314"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5966188" y="5168822"/>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a:t>
            </a:r>
          </a:p>
        </p:txBody>
      </p:sp>
      <p:sp>
        <p:nvSpPr>
          <p:cNvPr id="93" name="TextBox 92"/>
          <p:cNvSpPr txBox="1"/>
          <p:nvPr/>
        </p:nvSpPr>
        <p:spPr>
          <a:xfrm>
            <a:off x="539496" y="5698506"/>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Четыре формы из девяти со счётом; у трёх счёт был и ушёл со снятыми разделами.</a:t>
            </a:r>
            <a:r>
              <a:rPr sz="1250" b="0" i="0">
                <a:solidFill>
                  <a:srgbClr val="21295C"/>
                </a:solidFill>
                <a:latin typeface="Arial"/>
              </a:rPr>
              <a:t>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ячейки заняты, восемь пусты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00624" cy="62040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08016"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340120" y="1335024"/>
            <a:ext cx="3906736" cy="620400"/>
          </a:xfrm>
          <a:prstGeom prst="rect">
            <a:avLst/>
          </a:prstGeom>
          <a:solidFill>
            <a:srgbClr val="065A82"/>
          </a:solidFill>
          <a:ln>
            <a:noFill/>
          </a:ln>
          <a:effectLst/>
        </p:spPr>
        <p:txBody>
          <a:bodyPr rtlCol="0" anchor="ctr"/>
          <a:lstStyle/>
          <a:p>
            <a:pPr algn="ctr"/>
          </a:p>
        </p:txBody>
      </p:sp>
      <p:sp>
        <p:nvSpPr>
          <p:cNvPr id="8" name="TextBox 7"/>
          <p:cNvSpPr txBox="1"/>
          <p:nvPr/>
        </p:nvSpPr>
        <p:spPr>
          <a:xfrm>
            <a:off x="2486424" y="1335024"/>
            <a:ext cx="3614128"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6246856" y="1335024"/>
            <a:ext cx="2961525" cy="62040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393160" y="1335024"/>
            <a:ext cx="2668917"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9208381" y="1335024"/>
            <a:ext cx="2443817" cy="62040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54685" y="1335024"/>
            <a:ext cx="2151209"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955424"/>
            <a:ext cx="1800624"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9554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340120" y="1955424"/>
            <a:ext cx="3906736"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486424" y="19554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6246856" y="1955424"/>
            <a:ext cx="2961525"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393160" y="19554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19" name="Rectangle 18"/>
          <p:cNvSpPr/>
          <p:nvPr/>
        </p:nvSpPr>
        <p:spPr>
          <a:xfrm>
            <a:off x="9208381" y="1955424"/>
            <a:ext cx="2443817"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54685" y="19554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575824"/>
            <a:ext cx="1800624" cy="62040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5758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340120" y="2575824"/>
            <a:ext cx="3906736" cy="62040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486424" y="25758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6246856" y="2575824"/>
            <a:ext cx="2961525" cy="62040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393160" y="25758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27" name="Rectangle 26"/>
          <p:cNvSpPr/>
          <p:nvPr/>
        </p:nvSpPr>
        <p:spPr>
          <a:xfrm>
            <a:off x="9208381" y="2575824"/>
            <a:ext cx="2443817" cy="62040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54685" y="25758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3196224"/>
            <a:ext cx="1800624"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1962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340120" y="3196224"/>
            <a:ext cx="3906736"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486424" y="31962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документы</a:t>
            </a:r>
          </a:p>
        </p:txBody>
      </p:sp>
      <p:sp>
        <p:nvSpPr>
          <p:cNvPr id="33" name="Rectangle 32"/>
          <p:cNvSpPr/>
          <p:nvPr/>
        </p:nvSpPr>
        <p:spPr>
          <a:xfrm>
            <a:off x="6246856" y="3196224"/>
            <a:ext cx="2961525"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393160" y="31962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9208381" y="3196224"/>
            <a:ext cx="2443817"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54685" y="31962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816624"/>
            <a:ext cx="180062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816624"/>
            <a:ext cx="150801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340120" y="3816624"/>
            <a:ext cx="3906736"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486424" y="3816624"/>
            <a:ext cx="361412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6246856" y="3816624"/>
            <a:ext cx="2961525"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393160" y="3816624"/>
            <a:ext cx="2668917"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9208381" y="3816624"/>
            <a:ext cx="2443817"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354685" y="3816624"/>
            <a:ext cx="21512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исследование и диагноз</a:t>
            </a:r>
          </a:p>
        </p:txBody>
      </p:sp>
      <p:sp>
        <p:nvSpPr>
          <p:cNvPr id="45" name="TextBox 44"/>
          <p:cNvSpPr txBox="1"/>
          <p:nvPr/>
        </p:nvSpPr>
        <p:spPr>
          <a:xfrm>
            <a:off x="539496" y="43554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ячейки из 12; в восемь за четыре раздела не зашёл никто.</a:t>
            </a:r>
            <a:r>
              <a:rPr sz="1300" b="0" i="0">
                <a:solidFill>
                  <a:srgbClr val="21295C"/>
                </a:solidFill>
                <a:latin typeface="Arial"/>
              </a:rPr>
              <a:t> Вне окна ещё два места: распознавание на видео и сигнал прибора, где модели нет вовсе.</a:t>
            </a:r>
          </a:p>
        </p:txBody>
      </p:sp>
      <p:sp>
        <p:nvSpPr>
          <p:cNvPr id="46" name="TextBox 4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Ячейки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a:t>
            </a:r>
          </a:p>
        </p:txBody>
      </p:sp>
      <p:sp>
        <p:nvSpPr>
          <p:cNvPr id="47" name="TextBox 4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на изображении её поймают внутри смены, на тексте — при подписи, на прогнозе — при следующем срезе данных регулятору.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Четыре платежа из начала — поимённо. Под тремя стоит измерение, под четвёртым его в деке больше нет.</a:t>
            </a:r>
          </a:p>
        </p:txBody>
      </p:sp>
      <p:sp>
        <p:nvSpPr>
          <p:cNvPr id="6" name="Rectangle 5"/>
          <p:cNvSpPr/>
          <p:nvPr/>
        </p:nvSpPr>
        <p:spPr>
          <a:xfrm>
            <a:off x="539496" y="1744439"/>
            <a:ext cx="1195862" cy="392496"/>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44439"/>
            <a:ext cx="90325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платёж</a:t>
            </a:r>
          </a:p>
        </p:txBody>
      </p:sp>
      <p:sp>
        <p:nvSpPr>
          <p:cNvPr id="8" name="Rectangle 7"/>
          <p:cNvSpPr/>
          <p:nvPr/>
        </p:nvSpPr>
        <p:spPr>
          <a:xfrm>
            <a:off x="1735358" y="1744439"/>
            <a:ext cx="5184682" cy="392496"/>
          </a:xfrm>
          <a:prstGeom prst="rect">
            <a:avLst/>
          </a:prstGeom>
          <a:solidFill>
            <a:srgbClr val="065A82"/>
          </a:solidFill>
          <a:ln>
            <a:noFill/>
          </a:ln>
          <a:effectLst/>
        </p:spPr>
        <p:txBody>
          <a:bodyPr rtlCol="0" anchor="ctr"/>
          <a:lstStyle/>
          <a:p>
            <a:pPr algn="ctr"/>
          </a:p>
        </p:txBody>
      </p:sp>
      <p:sp>
        <p:nvSpPr>
          <p:cNvPr id="9" name="TextBox 8"/>
          <p:cNvSpPr txBox="1"/>
          <p:nvPr/>
        </p:nvSpPr>
        <p:spPr>
          <a:xfrm>
            <a:off x="1881662" y="1744439"/>
            <a:ext cx="48920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заплачено</a:t>
            </a:r>
          </a:p>
        </p:txBody>
      </p:sp>
      <p:sp>
        <p:nvSpPr>
          <p:cNvPr id="10" name="Rectangle 9"/>
          <p:cNvSpPr/>
          <p:nvPr/>
        </p:nvSpPr>
        <p:spPr>
          <a:xfrm>
            <a:off x="6920041" y="1744439"/>
            <a:ext cx="4732157" cy="392496"/>
          </a:xfrm>
          <a:prstGeom prst="rect">
            <a:avLst/>
          </a:prstGeom>
          <a:solidFill>
            <a:srgbClr val="065A82"/>
          </a:solidFill>
          <a:ln>
            <a:noFill/>
          </a:ln>
          <a:effectLst/>
        </p:spPr>
        <p:txBody>
          <a:bodyPr rtlCol="0" anchor="ctr"/>
          <a:lstStyle/>
          <a:p>
            <a:pPr algn="ctr"/>
          </a:p>
        </p:txBody>
      </p:sp>
      <p:sp>
        <p:nvSpPr>
          <p:cNvPr id="11" name="TextBox 10"/>
          <p:cNvSpPr txBox="1"/>
          <p:nvPr/>
        </p:nvSpPr>
        <p:spPr>
          <a:xfrm>
            <a:off x="7066345" y="1744439"/>
            <a:ext cx="443954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измерено</a:t>
            </a:r>
          </a:p>
        </p:txBody>
      </p:sp>
      <p:sp>
        <p:nvSpPr>
          <p:cNvPr id="12" name="Rectangle 11"/>
          <p:cNvSpPr/>
          <p:nvPr/>
        </p:nvSpPr>
        <p:spPr>
          <a:xfrm>
            <a:off x="539496" y="2136935"/>
            <a:ext cx="1195862" cy="620400"/>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36935"/>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Внимание</a:t>
            </a:r>
          </a:p>
        </p:txBody>
      </p:sp>
      <p:sp>
        <p:nvSpPr>
          <p:cNvPr id="14" name="Rectangle 13"/>
          <p:cNvSpPr/>
          <p:nvPr/>
        </p:nvSpPr>
        <p:spPr>
          <a:xfrm>
            <a:off x="1735358" y="2136935"/>
            <a:ext cx="5184682" cy="620400"/>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881662" y="2136935"/>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смотрели 11,1 → 9,5 % площади снимка; цена сужения 32 пункта, 71 → 39</a:t>
            </a:r>
          </a:p>
        </p:txBody>
      </p:sp>
      <p:sp>
        <p:nvSpPr>
          <p:cNvPr id="16" name="Rectangle 15"/>
          <p:cNvSpPr/>
          <p:nvPr/>
        </p:nvSpPr>
        <p:spPr>
          <a:xfrm>
            <a:off x="6920041" y="2136935"/>
            <a:ext cx="4732157" cy="620400"/>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7066345" y="2136935"/>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лабораторный замер взгляда</a:t>
            </a:r>
          </a:p>
        </p:txBody>
      </p:sp>
      <p:sp>
        <p:nvSpPr>
          <p:cNvPr id="18" name="Rectangle 17"/>
          <p:cNvSpPr/>
          <p:nvPr/>
        </p:nvSpPr>
        <p:spPr>
          <a:xfrm>
            <a:off x="539496" y="2757335"/>
            <a:ext cx="1195862" cy="392496"/>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57335"/>
            <a:ext cx="90325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Навык</a:t>
            </a:r>
          </a:p>
        </p:txBody>
      </p:sp>
      <p:sp>
        <p:nvSpPr>
          <p:cNvPr id="20" name="Rectangle 19"/>
          <p:cNvSpPr/>
          <p:nvPr/>
        </p:nvSpPr>
        <p:spPr>
          <a:xfrm>
            <a:off x="1735358" y="2757335"/>
            <a:ext cx="5184682" cy="392496"/>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881662" y="2757335"/>
            <a:ext cx="48920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28,4 → 22,4 из ста у тех же девятнадцати врачей</a:t>
            </a:r>
          </a:p>
        </p:txBody>
      </p:sp>
      <p:sp>
        <p:nvSpPr>
          <p:cNvPr id="22" name="Rectangle 21"/>
          <p:cNvSpPr/>
          <p:nvPr/>
        </p:nvSpPr>
        <p:spPr>
          <a:xfrm>
            <a:off x="6920041" y="2757335"/>
            <a:ext cx="4732157" cy="392496"/>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7066345" y="2757335"/>
            <a:ext cx="443954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наблюдательное, однажды и спорно</a:t>
            </a:r>
          </a:p>
        </p:txBody>
      </p:sp>
      <p:sp>
        <p:nvSpPr>
          <p:cNvPr id="24" name="Rectangle 23"/>
          <p:cNvSpPr/>
          <p:nvPr/>
        </p:nvSpPr>
        <p:spPr>
          <a:xfrm>
            <a:off x="539496" y="3149831"/>
            <a:ext cx="1195862" cy="620400"/>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1498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Подпись</a:t>
            </a:r>
          </a:p>
        </p:txBody>
      </p:sp>
      <p:sp>
        <p:nvSpPr>
          <p:cNvPr id="26" name="Rectangle 25"/>
          <p:cNvSpPr/>
          <p:nvPr/>
        </p:nvSpPr>
        <p:spPr>
          <a:xfrm>
            <a:off x="1735358" y="3149831"/>
            <a:ext cx="5184682" cy="620400"/>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881662" y="3149831"/>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девять машинных эпикризов из одиннадцати с ошибкой</a:t>
            </a:r>
          </a:p>
        </p:txBody>
      </p:sp>
      <p:sp>
        <p:nvSpPr>
          <p:cNvPr id="28" name="Rectangle 27"/>
          <p:cNvSpPr/>
          <p:nvPr/>
        </p:nvSpPr>
        <p:spPr>
          <a:xfrm>
            <a:off x="6920041" y="3149831"/>
            <a:ext cx="4732157" cy="620400"/>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7066345" y="31498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качество заметок. </a:t>
            </a:r>
            <a:r>
              <a:rPr sz="1250" b="0" i="1">
                <a:solidFill>
                  <a:srgbClr val="21295C"/>
                </a:solidFill>
                <a:latin typeface="Arial"/>
              </a:rPr>
              <a:t>Перепись изделий, 56 из 717, ушла со снятым разделом надзора</a:t>
            </a:r>
          </a:p>
        </p:txBody>
      </p:sp>
      <p:sp>
        <p:nvSpPr>
          <p:cNvPr id="30" name="Rectangle 29"/>
          <p:cNvSpPr/>
          <p:nvPr/>
        </p:nvSpPr>
        <p:spPr>
          <a:xfrm>
            <a:off x="539496" y="3770231"/>
            <a:ext cx="1195862" cy="620400"/>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7702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Арбитраж</a:t>
            </a:r>
          </a:p>
        </p:txBody>
      </p:sp>
      <p:sp>
        <p:nvSpPr>
          <p:cNvPr id="32" name="Rectangle 31"/>
          <p:cNvSpPr/>
          <p:nvPr/>
        </p:nvSpPr>
        <p:spPr>
          <a:xfrm>
            <a:off x="1735358" y="3770231"/>
            <a:ext cx="5184682" cy="620400"/>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881662" y="3770231"/>
            <a:ext cx="4892074" cy="620400"/>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разбор снят вместе с надзором: минуты двойного чтения и рост объёма были его числами</a:t>
            </a:r>
          </a:p>
        </p:txBody>
      </p:sp>
      <p:sp>
        <p:nvSpPr>
          <p:cNvPr id="34" name="Rectangle 33"/>
          <p:cNvSpPr/>
          <p:nvPr/>
        </p:nvSpPr>
        <p:spPr>
          <a:xfrm>
            <a:off x="6920041" y="3770231"/>
            <a:ext cx="4732157" cy="620400"/>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7066345" y="37702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6" name="TextBox 35"/>
          <p:cNvSpPr txBox="1"/>
          <p:nvPr/>
        </p:nvSpPr>
        <p:spPr>
          <a:xfrm>
            <a:off x="539496" y="4536935"/>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Оплачены неровно:</a:t>
            </a:r>
            <a:r>
              <a:rPr sz="1300" b="0" i="0">
                <a:solidFill>
                  <a:srgbClr val="21295C"/>
                </a:solidFill>
                <a:latin typeface="Arial"/>
              </a:rPr>
              <a:t> у внимания крупная выборка, у навыка — одно спорное наблюдение, у подписи — доля документов, а не исход пациента. </a:t>
            </a:r>
            <a:r>
              <a:rPr sz="1350" b="1" i="0">
                <a:solidFill>
                  <a:srgbClr val="21295C"/>
                </a:solidFill>
                <a:latin typeface="Arial"/>
              </a:rPr>
              <a:t>У арбитража в деке не осталось ни одного измерения.</a:t>
            </a:r>
          </a:p>
        </p:txBody>
      </p:sp>
      <p:sp>
        <p:nvSpPr>
          <p:cNvPr id="37" name="TextBox 36"/>
          <p:cNvSpPr txBox="1"/>
          <p:nvPr/>
        </p:nvSpPr>
        <p:spPr>
          <a:xfrm>
            <a:off x="539496" y="520946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Кто платит:</a:t>
            </a:r>
            <a:r>
              <a:rPr sz="1300" b="0" i="0">
                <a:solidFill>
                  <a:srgbClr val="21295C"/>
                </a:solidFill>
                <a:latin typeface="Arial"/>
              </a:rPr>
              <a:t> исследование и диагноз — вниманием · квалификация — навыком · документы — подписью. </a:t>
            </a:r>
            <a:r>
              <a:rPr sz="1350" b="1" i="0">
                <a:solidFill>
                  <a:srgbClr val="21295C"/>
                </a:solidFill>
                <a:latin typeface="Arial"/>
              </a:rPr>
              <a:t>Скрининг из четырёх разделов не платит ничем:</a:t>
            </a:r>
            <a:r>
              <a:rPr sz="1300" b="0" i="0">
                <a:solidFill>
                  <a:srgbClr val="21295C"/>
                </a:solidFill>
                <a:latin typeface="Arial"/>
              </a:rPr>
              <a:t> человек прочёл там каждое исследование.</a:t>
            </a:r>
          </a:p>
        </p:txBody>
      </p:sp>
      <p:sp>
        <p:nvSpPr>
          <p:cNvPr id="38" name="TextBox 37"/>
          <p:cNvSpPr txBox="1"/>
          <p:nvPr/>
        </p:nvSpPr>
        <p:spPr>
          <a:xfrm>
            <a:off x="539496" y="5881988"/>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Арбитраж ось называет, а разбора под ним в деке больше нет</a:t>
            </a:r>
            <a:r>
              <a:rPr sz="1300" b="0" i="0">
                <a:solidFill>
                  <a:srgbClr val="21295C"/>
                </a:solidFill>
                <a:latin typeface="Arial"/>
              </a:rPr>
              <a:t> — и это пробел названный, а не забытый.</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идёт в арбитраж · рандомизированное испытание</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обзор отклонений</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 разбор про цену отказа снят вместе со своим разделом</a:t>
            </a:r>
          </a:p>
        </p:txBody>
      </p:sp>
      <p:sp>
        <p:nvSpPr>
          <p:cNvPr id="20" name="Rounded Rectangle 19"/>
          <p:cNvSpPr/>
          <p:nvPr/>
        </p:nvSpPr>
        <p:spPr>
          <a:xfrm>
            <a:off x="374904" y="358430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1" i="0">
                <a:solidFill>
                  <a:srgbClr val="21295C"/>
                </a:solidFill>
                <a:latin typeface="Arial"/>
              </a:rPr>
              <a:t>Четыре ступени — и чем ниже по ним, тем слабее свидетельство.</a:t>
            </a:r>
            <a:r>
              <a:rPr sz="1500" b="0" i="0">
                <a:solidFill>
                  <a:srgbClr val="21295C"/>
                </a:solidFill>
                <a:latin typeface="Arial"/>
              </a:rPr>
              <a:t> Про четвёртую, она же самая частая, известно меньше всего: подпись есть, чтения нет.</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Исхода пациента нет ни у одного разбора лекции:</a:t>
            </a:r>
            <a:r>
              <a:rPr sz="1500" b="0" i="0">
                <a:solidFill>
                  <a:srgbClr val="21295C"/>
                </a:solidFill>
                <a:latin typeface="Arial"/>
              </a:rPr>
              <a:t> все четыре ступени измерены на том, что человек сделал с данными, а не на том, что стало с больным.</a:t>
            </a:r>
          </a:p>
        </p:txBody>
      </p:sp>
      <p:sp>
        <p:nvSpPr>
          <p:cNvPr id="23" name="Rectangle 22"/>
          <p:cNvSpPr/>
          <p:nvPr/>
        </p:nvSpPr>
        <p:spPr>
          <a:xfrm>
            <a:off x="6091275" y="3675747"/>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норма требует способности вмешаться</a:t>
            </a:r>
          </a:p>
        </p:txBody>
      </p:sp>
      <p:sp>
        <p:nvSpPr>
          <p:cNvPr id="7" name="TextBox 6"/>
          <p:cNvSpPr txBox="1"/>
          <p:nvPr/>
        </p:nvSpPr>
        <p:spPr>
          <a:xfrm>
            <a:off x="640080"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перепись изделий, проверявшая эту способность, ушла со снятым разделом надзора</a:t>
            </a:r>
          </a:p>
        </p:txBody>
      </p:sp>
      <p:sp>
        <p:nvSpPr>
          <p:cNvPr id="8" name="Rounded Rectangle 7"/>
          <p:cNvSpPr/>
          <p:nvPr/>
        </p:nvSpPr>
        <p:spPr>
          <a:xfrm>
            <a:off x="4286402"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379555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оценивают действия человека; вопроса о модели в этой процедуре нет — </a:t>
            </a:r>
            <a:r>
              <a:rPr sz="1500" b="0" i="1">
                <a:solidFill>
                  <a:srgbClr val="21295C"/>
                </a:solidFill>
                <a:latin typeface="Arial"/>
              </a:rPr>
              <a:t>разбор, показывавший это, снят вместе с разделом надзора</a:t>
            </a:r>
          </a:p>
        </p:txBody>
      </p:sp>
      <p:sp>
        <p:nvSpPr>
          <p:cNvPr id="18" name="TextBox 17"/>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88699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1843887" cy="2580330"/>
          </a:xfrm>
          <a:prstGeom prst="roundRect">
            <a:avLst>
              <a:gd name="adj" fmla="val 1653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ОТЗЫВАЕТСЯ</a:t>
            </a:r>
          </a:p>
        </p:txBody>
      </p:sp>
      <p:sp>
        <p:nvSpPr>
          <p:cNvPr id="8" name="TextBox 7"/>
          <p:cNvSpPr txBox="1"/>
          <p:nvPr/>
        </p:nvSpPr>
        <p:spPr>
          <a:xfrm>
            <a:off x="640080" y="1760985"/>
            <a:ext cx="156956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a:t>
            </a:r>
          </a:p>
        </p:txBody>
      </p:sp>
      <p:sp>
        <p:nvSpPr>
          <p:cNvPr id="9" name="TextBox 8"/>
          <p:cNvSpPr txBox="1"/>
          <p:nvPr/>
        </p:nvSpPr>
        <p:spPr>
          <a:xfrm>
            <a:off x="640080" y="2187984"/>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отзыва существует — рядом запись регулятора</a:t>
            </a:r>
          </a:p>
        </p:txBody>
      </p:sp>
      <p:sp>
        <p:nvSpPr>
          <p:cNvPr id="10" name="Rounded Rectangle 9"/>
          <p:cNvSpPr/>
          <p:nvPr/>
        </p:nvSpPr>
        <p:spPr>
          <a:xfrm>
            <a:off x="2511399" y="1370634"/>
            <a:ext cx="1843887" cy="2580330"/>
          </a:xfrm>
          <a:prstGeom prst="roundRect">
            <a:avLst>
              <a:gd name="adj" fmla="val 1653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648559"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a:t>
            </a:r>
          </a:p>
        </p:txBody>
      </p:sp>
      <p:sp>
        <p:nvSpPr>
          <p:cNvPr id="12" name="TextBox 11"/>
          <p:cNvSpPr txBox="1"/>
          <p:nvPr/>
        </p:nvSpPr>
        <p:spPr>
          <a:xfrm>
            <a:off x="2648559" y="1760985"/>
            <a:ext cx="156956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решения за год его работы</a:t>
            </a:r>
          </a:p>
        </p:txBody>
      </p:sp>
      <p:sp>
        <p:nvSpPr>
          <p:cNvPr id="13" name="TextBox 12"/>
          <p:cNvSpPr txBox="1"/>
          <p:nvPr/>
        </p:nvSpPr>
        <p:spPr>
          <a:xfrm>
            <a:off x="2648559" y="2968831"/>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процедуру не переделать, год наблюдения не переиграть</a:t>
            </a:r>
          </a:p>
        </p:txBody>
      </p:sp>
      <p:sp>
        <p:nvSpPr>
          <p:cNvPr id="14" name="Rounded Rectangle 13"/>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a:t>
            </a:r>
            <a:r>
              <a:rPr sz="1200" b="1" i="0">
                <a:solidFill>
                  <a:srgbClr val="21295C"/>
                </a:solidFill>
                <a:latin typeface="Arial"/>
              </a:rPr>
              <a:t>Изделия отзывают: рядом запись регулятора.</a:t>
            </a:r>
            <a:r>
              <a:rPr sz="1200" b="0" i="0">
                <a:solidFill>
                  <a:srgbClr val="21295C"/>
                </a:solidFill>
                <a:latin typeface="Arial"/>
              </a:rPr>
              <a:t> Решения, принятые по устройству за год его работы, вместе с ним не отзываются. </a:t>
            </a:r>
            <a:r>
              <a:rPr sz="1200" b="0" i="1">
                <a:solidFill>
                  <a:srgbClr val="21295C"/>
                </a:solidFill>
                <a:latin typeface="Arial"/>
              </a:rPr>
              <a:t>Как часто это случается, считал разбор, снятый с разделом надзора.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