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doi.org/10.2196/94450" TargetMode="External"/><Relationship Id="rId4" Type="http://schemas.openxmlformats.org/officeDocument/2006/relationships/hyperlink" Target="https://doi.org/10.1056/NEJMoa180471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mlmed.org/tools/xray" TargetMode="External"/><Relationship Id="rId4" Type="http://schemas.openxmlformats.org/officeDocument/2006/relationships/hyperlink" Target="https://doi.org/10.1001/jamanetworkopen.2025.42338"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1467-023-44676-z"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www.accessdata.fda.gov/cdrh_docs/pdf18/DEN180001.pdf"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1038/s42256-021-00307-0"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arxiv.org/abs/1711.05225"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adv.abq6147"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ence.aax2342"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48/radiol.25259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48/radiol.243688"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01/jamanetworkopen.2024.4096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networkopen.2021.35286"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doi.org/10.1001/jamainternmed.2017.1548"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doi.org/10.1001/jamainternmed.2025.0821"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doi.org/10.1093/jamia/ocad11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2967/jnumed.126.272292" TargetMode="External"/><Relationship Id="rId4" Type="http://schemas.openxmlformats.org/officeDocument/2006/relationships/hyperlink" Target="https://doi.org/10.2967/jnumed.120.256032"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web.archive.org/web/2026/https://www.ama-assn.org/system/files/ama-ai-principles.pdf"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16/j.gie.2014.07.058"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16/j.gie.2014.07.058"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metr.org/blog/2026-02-24-uplift-update/"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016/S2468-1253%2825%2900133-5"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go.bio.org/rs/490-EHZ-999/images/ClinicalDevelopmentSuccessRates2011_2020.pdf"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go.bio.org/rs/490-EHZ-999/images/ClinicalDevelopmentSuccessRates2011_2020.pdf"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 Id="rId3" Type="http://schemas.openxmlformats.org/officeDocument/2006/relationships/hyperlink" Target="https://doi.org/10.1001/jamahealthforum.2025.3172" TargetMode="Externa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вверх по течению от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**Контингент.**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**Знаменатель.**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**Рабочая точка.** Порог, за которым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семь и они дают разное.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Приглашение по регистру населения — случай, когда данных о человеке ещё нет и его зовут по формальному признаку: возраст, пол, интервал с прошлого обследования.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одной рабочей точки, и рабочую точку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 здесь две, и вторая такая же содержательная, как первая. Та, где модель стоит, — четыре клетки курсовой сетки, и названы они режимом работы. Торговых имён здесь нет намеренно: режим один, реализаций у него много, и разницу в результате делает устройство процедуры вокруг, не марка.</a:t>
            </a:r>
          </a:p>
          <a:p>
            <a:r>
              <a:t/>
            </a:r>
          </a:p>
          <a:p>
            <a:r>
              <a:t>Первая клетка — распознавание на изображении. Работа: скрининговое чтение снимков и чтение исследований. Режим: модель встаёт вторым читателем вместо человека — первое чтение остаётся человеческим, мимо читателя не проходит ни одно исследование. Удерживают цену ошибки здесь двойное чтение, арбитраж при расхождении, порог вмешательства и пересчёт доли верных тревог под местную распространённость болезни.</a:t>
            </a:r>
          </a:p>
          <a:p>
            <a:r>
              <a:t/>
            </a:r>
          </a:p>
          <a:p>
            <a:r>
              <a:t>Вторая клетка — прогноз на структурированных данных. Работа: раннее предупреждение в стационаре и оценка риска перед вмешательством. Режим — предупреждение, встроенное в медицинскую информационную систему поставщиком; отдельной закупки оно не требует и расходится вместе с системой. Удерживают цену ошибки разбор ложных тревог как статья рабочего времени, заранее утверждённый план изменений модели и передача регулятору данных о работе изделия. Чего режим не умеет: назначить себе порог тревоги. Порог назначает организация, и цена ложной тревоги ложится на рабочее время.</a:t>
            </a:r>
          </a:p>
          <a:p>
            <a:r>
              <a:t/>
            </a:r>
          </a:p>
          <a:p>
            <a:r>
              <a:t>Третья клетка — поиск и генерация на тексте. Работа: запись приёма и выписной эпикриз. Принимается этот режим массово и быстрее всех остальных, и принимается он именно как черновик: текст пишется быстрее, обязательная вычитка остаётся. Удерживают цену ошибки вычитка и подпись врача, разбор случая и границы допуска по заявленному назначению.</a:t>
            </a:r>
          </a:p>
          <a:p>
            <a:r>
              <a:t/>
            </a:r>
          </a:p>
          <a:p>
            <a:r>
              <a:t>Четвёртая клетка — генерация структуры: молекула под выбранную мишень, дизайн белка. Удерживают цену ошибки доклиника и фазы испытаний на людях, то есть процедура, которой в клиническом контуре нет вовсе.</a:t>
            </a:r>
          </a:p>
          <a:p>
            <a:r>
              <a:t/>
            </a:r>
          </a:p>
          <a:p>
            <a:r>
              <a:t>Теперь вторая половина.</a:t>
            </a:r>
          </a:p>
          <a:p>
            <a:r>
              <a:t/>
            </a:r>
          </a:p>
          <a:p>
            <a:r>
              <a:t>Пятая клетка сетки пуста, и пуста она содержательно. Процедуры, которая измеряла бы результат исполнителя с выключенным инструментом, не существует ни в одной юрисдикции. Ни одна из четырёх процедур выше её не закрывает: двойное чтение считает находки при включённом контуре, разбор ложных тревог считает поток подсказок, вычитка проверяет машинный текст, воронка испытаний проверяет молекулу. Ни одна не измеряет, что стало с человеком, когда инструмент выключили. Записать в эту клетку переаттестацию нельзя — такой процедуры нет; убрать строку тоже нельзя: таблица из четырёх занятых клеток читается как «на всё есть процедура», и это неправда. Одной фразой: четыре процедуры удерживают цену ошибки, пока модель включена; что происходит с человеком, когда её выключают, не измеряет никто.</a:t>
            </a:r>
          </a:p>
          <a:p>
            <a:r>
              <a:t/>
            </a:r>
          </a:p>
          <a:p>
            <a:r>
              <a:t>Вторая пустота — в оперативной помощи. Измерены и точность на отобранных кадрах, и качество работы хирурга, и автономный шаг на животных — а пациенту модель в операционной пока не показала ничего: испытания с клиническими исходами только проектируются.</a:t>
            </a:r>
          </a:p>
          <a:p>
            <a:r>
              <a:t/>
            </a:r>
          </a:p>
          <a:p>
            <a:r>
              <a:t>Третья пустота стоит в конце пути одного решения. Пришёл результат обследования, по нему назначено лечение, по назначению проведена операция, человек живёт дальше с её последствиями. Первые три шага разобраны; у четвёртого нет ни одного измерения: долгосрочный исход человека после решения, принятого с участием модели, не измерен ни в одной работе. Такого замера не нашлось ни по одной из четырёх занятых клеток.</a:t>
            </a:r>
          </a:p>
          <a:p>
            <a:r>
              <a:t/>
            </a:r>
          </a:p>
          <a:p>
            <a:r>
              <a:t>Четвёртое место — выигравшая процедура, внутри которой модели нет. Составление графика смен медсестёр делалось руками и съедало дни старшей сестры. Алгоритмическое планирование сократило время на составление графика с тридцати двух часов в месяц до шести. Первый вопрос к этому случаю тот же, что ко всем: обученная модель ли это? Ответ отрицательный, и в этом содержание случая. Составление графика — задача комбинаторной оптимизации с ограничениями: нормы отдыха, квалификации, заявки на отпуск и минимальный состав дежурства задают систему условий, которую решает целочисленное программирование. Проверка «уберите модель» ответа не меняет: убирать нечего. Границу выигрыша надо назвать: он относится к организации труда, решение о человеке здесь не принимается, ошибка в графике исправляется до начала смены и никому не стоит здоровья.</a:t>
            </a:r>
          </a:p>
          <a:p>
            <a:r>
              <a:t/>
            </a:r>
          </a:p>
          <a:p>
            <a:r>
              <a:t>Пятое место. Задачу «кого можно не лечить» при раннем раке молочной железы в опубликованном виде решила статистическая формула по двадцати одному гену: активность генов в образце опухоли подставляется в выражение с фиксированными коэффициентами, на выходе — балл. Нейросети в ней нет. Измерено это проспективным рандомизированным испытанием, на высшей ступени замера — исход пациента. Оговорка обязательна: у женщин пятидесяти лет и младше с баллом в верхней части промежуточного диапазона выигрыш от химиотерапии всё-таки был, и один агрегированный балл не читается одинаково во всех подгруппах.</a:t>
            </a:r>
          </a:p>
          <a:p>
            <a:r>
              <a:t/>
            </a:r>
          </a:p>
          <a:p>
            <a:r>
              <a:t>Итог по типам задач. Первичное грубое распознавание и черновик текста работают. Точная постановка диагноза и ответственное решение о человеке — нет.</a:t>
            </a:r>
          </a:p>
          <a:p>
            <a:r>
              <a:t/>
            </a:r>
          </a:p>
          <a:p>
            <a:r>
              <a:t>Отсюда и порядок вечера. Контингент, знаменатель и рабочая точка назначены на отборе, и до него не читается ни одно следующее число: смотреть можно только того, кто попал в поле зрения. Поэтому первый вопрос вечера — кого позвали. Дальше идёт одна позванная: женщине пятьдесят четыре года, жалоб у неё нет, письмо пришло потому, что программа приглашает всех женщин этого возраста с назначенным интервалом. Её снимок прочли раньше, чем на него посмотрел человек, и этим прочтением открывается вопрос, который дальше задаётся на каждой стадии: что теперь делает человек и кто это измерял.</a:t>
            </a:r>
          </a:p>
          <a:p>
            <a:r>
              <a:t/>
            </a:r>
          </a:p>
          <a:p>
            <a:r>
              <a:t>**Источники.** </a:t>
            </a:r>
            <a:r>
              <a:rPr u="sng">
                <a:solidFill>
                  <a:srgbClr val="065A82"/>
                </a:solidFill>
                <a:hlinkClick r:id="rId3"/>
              </a:rPr>
              <a:t>Shia B. C. и соавт., JMIR Nursing 2026, DOI 10.2196/94450</a:t>
            </a:r>
            <a:r>
              <a:t> · </a:t>
            </a:r>
            <a:r>
              <a:rPr u="sng">
                <a:solidFill>
                  <a:srgbClr val="065A82"/>
                </a:solidFill>
                <a:hlinkClick r:id="rId4"/>
              </a:rPr>
              <a:t>Sparano J. A. и соавт., New England Journal of Medicine 2018;379(2):111–121, DOI 10.1056/NEJMoa1804710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перед разговором одного человека, потому что дальше вечер будет считать решения о людях, и считать их легче, когда видно, о ком они.</a:t>
            </a:r>
          </a:p>
          <a:p>
            <a:r>
              <a:t/>
            </a:r>
          </a:p>
          <a:p>
            <a:r>
              <a:t>Женщине пятьдесят четыре года. У неё нет жалоб, она ничего не чувствует, и к медицине в этом году её привело не самочувствие, а возраст: программа приглашает всех женщин этого возраста с назначенным интервалом. Она приходит, снимок делает лаборант. Дальше её снимок читают люди, которые её не видели и между собой о ней не говорят, а если они разошлись, снимок уходит третьему — на арбитраж. Через несколько недель приходит либо письмо «норма», либо звонок с приглашением на дообследование. Это весь её контакт с решением, которое о ней принимается: письмо на входе и письмо на выходе.</a:t>
            </a:r>
          </a:p>
          <a:p>
            <a:r>
              <a:t/>
            </a:r>
          </a:p>
          <a:p>
            <a:r>
              <a:t>Решение при этом одно, и формулируется оно коротко: есть на снимке находка или нет. Цена у него с обеих сторон, и обе стороны стоит назвать до всякого разговора о точности. Пропустили находку — лечить будут позже и хуже, и у этой ошибки нет проверочного шага: её покажет не повторный снимок, а сама болезнь, через год или через три. Позвали лишнего — повторный снимок, иногда биопсия, и недели, которые человек живёт с открытым вопросом. Ни одна из этих двух цен не исчезает от того, что решение стало приниматься быстрее.</a:t>
            </a:r>
          </a:p>
          <a:p>
            <a:r>
              <a:t/>
            </a:r>
          </a:p>
          <a:p>
            <a:r>
              <a:t>Теперь то, что изменилось, и изменилось оно до всякого внедрения. Чтение медицинских данных стало стоить секунды и ноль рублей. Открывается страница в браузере, в неё перетаскивается снимок, и через три секунды страница выдаёт профиль вероятностей по восемнадцати патологиям и тепловую карту поверх снимка — область, на которую модель смотрела, когда считала профиль. Вычисление идёт на том же ноутбуке: снимок никуда не уходит, страница работает и без сети. Допуска не требуется, аккаунта не требуется, денег не требуется. Инструмент опубликован в 2019 году и лежит в открытом доступе семь лет. Внутри — узкая свёрточная сеть, обученная на размеченных снимках; она не рассуждает и не пишет текста, она выдаёт восемнадцать чисел.</a:t>
            </a:r>
          </a:p>
          <a:p>
            <a:r>
              <a:t/>
            </a:r>
          </a:p>
          <a:p>
            <a:r>
              <a:t>Рядом с этими числами стоит строка «не для диагностики», и читают её обычно как признание незрелости: инструмент показательный, бесплатный, до клиники дело не дошло, у допущенного изделия такой строки не будет. Из такого чтения следует одно — ждать, пока модели дорастут. Строка говорит о другом. О точности профиля она не сообщает ничего: ни одного из восемнадцати чисел она не подтверждает и ни одного не ставит под сомнение. Она переводит машинный вывод в разряд сведений, за использование которых отвечает прочитавший. Первое, что посмотрело на снимок, заранее передало подпись дальше — тому, кто посмотрит вторым.</a:t>
            </a:r>
          </a:p>
          <a:p>
            <a:r>
              <a:t/>
            </a:r>
          </a:p>
          <a:p>
            <a:r>
              <a:t>В этом же разряде существует и весь допущенный класс. Условие, на котором изделие допускают к продаже, говорит о том же: человек истолковывает машинный вывод и принимает решение сам. Европейская норма формулирует точнее — надзирающий обязан сохранять способность не согласиться с выводом и отменить его. Бесплатная страница в браузере и купленное изделие стоят здесь на одном: подпись на человеке.</a:t>
            </a:r>
          </a:p>
          <a:p>
            <a:r>
              <a:t/>
            </a:r>
          </a:p>
          <a:p>
            <a:r>
              <a:t>Отсюда и вопрос, который стоит задавать с этой минуты: чем измерено, что человек, которому передали подпись, её держит. У вопроса есть место, где ищут ответ, — документация, по которой изделие допускали. По этому адресу ответ измерен: тестирование с человеком в контуре нашли у 56 радиологических изделий из 717, у восьми из ста. У остальных 661 при допуске не проверяли ничего о том, как с машинным выводом обращается человек. Складывается шов, по которому пойдёт весь вечер: передача подписи задокументирована у всего класса, приём подписи проверен у восьми процентов.</a:t>
            </a:r>
          </a:p>
          <a:p>
            <a:r>
              <a:t/>
            </a:r>
          </a:p>
          <a:p>
            <a:r>
              <a:t>Разбором этот кадр не идёт, и это стоит сказать прямо: чисел с двух сторон у него нет, цена обеих ошибок названа словами, классический режим не посчитан, и в счёт разборов лекции он не входит. Работает он на другое — показывает, что порядок работы изменился до всякого внедрения и что передача подписи стала технически бесплатной.</a:t>
            </a:r>
          </a:p>
          <a:p>
            <a:r>
              <a:t/>
            </a:r>
          </a:p>
          <a:p>
            <a:r>
              <a:t>Вопрос про результат обследования, пришедший раньше, чем его прочитал врач, видел почти каждый, у кого есть доступ к электронной карте. Кто его получал, стоял по другую сторону ровно этого порядка — и подпись в тот момент была уже передана.</a:t>
            </a:r>
          </a:p>
          <a:p>
            <a:r>
              <a:t/>
            </a:r>
          </a:p>
          <a:p>
            <a:r>
              <a:t>**Источники.** </a:t>
            </a:r>
            <a:r>
              <a:rPr u="sng">
                <a:solidFill>
                  <a:srgbClr val="065A82"/>
                </a:solidFill>
                <a:hlinkClick r:id="rId3"/>
              </a:rPr>
              <a:t>Cohen J. P., Bertin P., Frappier V. Chester: A Web Delivered Locally Computed Chest X-Ray Disease Prediction System, 2019</a:t>
            </a:r>
            <a:r>
              <a:t> · </a:t>
            </a:r>
            <a:r>
              <a:rPr u="sng">
                <a:solidFill>
                  <a:srgbClr val="065A82"/>
                </a:solidFill>
                <a:hlinkClick r:id="rId4"/>
              </a:rPr>
              <a:t>систематический обзор поданной регуляторам документации, JAMA Network Open 2025;8(11):e2542338, срез июнь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работающего варианта перестановки нет.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стоит прочерк.</a:t>
            </a:r>
          </a:p>
          <a:p>
            <a:r>
              <a:t/>
            </a:r>
          </a:p>
          <a:p>
            <a:r>
              <a:t>Три раздела на путь не ложатся, и объединять их с пятью было бы подменой. Допуск, надзор и ответственность — это процедура: двойное чтение, арбитраж, подпись, норматив; она стоит вокруг всех пяти сразу, отдельным шагом её не поставить. Профессиональная квалификация, её поддержание и износ, — замер по самому человеку: что сделалось с его вниманием, навыком и готовностью возразить; шаг работы такого замера не показывает. Разработка лекарственных средств — другой предмет: откуда берётся то, что назначают, и там удешевили начало, а узкое место осталось на испытаниях.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Второе имя — с какими данными система работает: текст, изображение, звук, видео, структурированные данные, код, комбинации нескольких видов. Пара бывает составной: чат, который ищет в документах и пишет по ним ответ, решает две задачи подряд. Шесть типов задачи на семь видов данных дают сорок две клетки; на экране дальше стоит окно из двенадцати — ровно то, что лекция разбирает в клинике.</a:t>
            </a:r>
          </a:p>
          <a:p>
            <a:r>
              <a:t/>
            </a:r>
          </a:p>
          <a:p>
            <a:r>
              <a:t>Зачем это нужно. Два имени задают поставщику два вопроса, на которые тот обязан ответить коротко, и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и видно подмену, которая стоит дорого: успех показывают в одной клетке, а продают инструмент для другой. Собирается сетка один раз — в сборке, где все восемь разделов стоят рядом и короткие имена разобранных случаев вписываются в клетки разом. Раздельных карт по стадиям вечер не показывает: карта, в которой от раздела к разделу меняется одна клетка, восемь раз повторяет то, что обзор уже сказал в одном месте. У двух разделов из восьми своей клетки в окне нет вовсе, и сказано это будет там же. Занятых клеток наберётся четыре; восемь из двенадцати останутся пустыми, 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терапии и подбор дозы разобраны в главе и со сцены сегодня не идут: разбора, у которого обе половины измерены в сопоставимых единицах, на этой стадии не нашлось. Из хирургического вмешательства и интраоперационного мониторинга на сцену вынесен один разбор — оценка риска перед экстренной операцией; остальное тоже остаётся в главе.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клетки,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разбирали одни и те же клинические случаи, оценивали их слепо по шкале диагностического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иллюстрацией оси; разбором он не идёт. Стоит он тут ровно потому, что ось на нём узнаётся без перевода.</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 прочерк.</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знаменателе. У четыре-а знаменателя нет вовсе, там считается абсолютный объём работы. У восьмой знаменатель есть и он не менялся: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этот прочерк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каждого числа в этой лекции названо, из какого опыта оно взято. Это не академическая вежливость: разряд свидетельства решает, что по числу вообще можно сказать, и два одинаковых процента из опытов разного устройства означают разное.</a:t>
            </a:r>
          </a:p>
          <a:p>
            <a:r>
              <a:t/>
            </a:r>
          </a:p>
          <a:p>
            <a:r>
              <a:t>Верхняя ступень — рандомизированное испытание. Людей развели по группам жребием, и этим снят главный способ соврать самому себе: в группу, которая получила новый инструмент, не попали систематически те, у кого и без него дела шли лучше. Разницу между группами после такого распределения можно отнести к самому вмешательству. Оговорка, которую надо держать рядом: жребий защищает от смещения отбора и не делает задание похожим на работу. Испытание на составленных описаниях случаев остаётся рандомизированным и при этом не говорит ничего о том, что случилось с больным.</a:t>
            </a:r>
          </a:p>
          <a:p>
            <a:r>
              <a:t/>
            </a:r>
          </a:p>
          <a:p>
            <a:r>
              <a:t>Вторая ступень — проспективное наблюдение. Групп жребием не делили, но за людьми следили вперёд, от решения к исходу, и исход зафиксировали тогда, когда он наступил, а не вспомнили потом. Такой опыт честно отвечает, что произошло. На вопрос, из-за чего именно, он отвечает с оговоркой: вместе с изучаемым решением менялось и всё остальное.</a:t>
            </a:r>
          </a:p>
          <a:p>
            <a:r>
              <a:t/>
            </a:r>
          </a:p>
          <a:p>
            <a:r>
              <a:t>Третья ступень — ретроспективный срез. Взяли уже собранные записи и посмотрели назад. Так устроена большая часть того, что публикуется о внедрениях, и так же устроена большая часть того, что приносят поставщики. Срез умеет показать связь и не умеет показать её направление: те, у кого результат лучше, могли чаще пользоваться инструментом — или пользоваться им чаще потому, что результат и так был лучше.</a:t>
            </a:r>
          </a:p>
          <a:p>
            <a:r>
              <a:t/>
            </a:r>
          </a:p>
          <a:p>
            <a:r>
              <a:t>Четвёртая ступень — пересказ в обзоре. Число дошло не из опыта, а из чужого текста о нём. Это не нижняя ступень по досадному совпадению, а измеренное свойство: в этой лекции разобран рецензируемый обзор, перепутавший шесть своих первоисточников из семи, и ошибка там живёт выше блога — там, где читатель обычно уже не проверяет. Правило простое: пока первоисточник не открыт, по пересказу не утверждается ничего.</a:t>
            </a:r>
          </a:p>
          <a:p>
            <a:r>
              <a:t/>
            </a:r>
          </a:p>
          <a:p>
            <a:r>
              <a:t>Нижняя ступень — самоотчёт. Человек сам говорит, сколько времени он тратит и насколько ему помогает инструмент. Величины такого рода нужны и их не надо выбрасывать: они говорят, что человек думает о своей работе, и это отдельный, настоящий предмет. Про саму работу они не говорят, и расхождение между самоотчётом и телеметрией измерено не раз.</a:t>
            </a:r>
          </a:p>
          <a:p>
            <a:r>
              <a:t/>
            </a:r>
          </a:p>
          <a:p>
            <a:r>
              <a:t>Лестница эта применяется и к числам самой лекции, иначе правило было бы требованием к чужим. Ядро разговора стоит на опытах с отобранными случаями: там измерено, как человек смотрит, как он меняет верное решение на неверное, как соглашается с подсказкой. Исход пациента из-за того, что человек стал хуже смотреть, не измерен ни в одном из этих опытов — ни одним автором, нигде. Это прочерк, и он называется вслух там же, где называются числа.</a:t>
            </a:r>
          </a:p>
          <a:p>
            <a:r>
              <a:t/>
            </a:r>
          </a:p>
          <a:p>
            <a:r>
              <a:t>Почему лестница стоит здесь, а не в конце. Разряд называется у каждого числа начиная с первого разбора, и названный разряд без выданной лестницы — это жаргон: слова «ретроспективный» и «проспективный» звучат похоже и различаются одним признаком, который надо знать заранее. Собранная в конце, она собрала бы уже знакомое; выданная здесь, она работает весь разговор, и к ней достаточно возвращаться одним словом.</a:t>
            </a:r>
          </a:p>
          <a:p>
            <a:r>
              <a:t/>
            </a:r>
          </a:p>
          <a:p>
            <a:r>
              <a:t>И одно различение, без которого две разметки слипнутся. Разряд свидетельства — про устройство опыта: как добыто число. Ступень участия — про устройство работы: что человек успевает увидеть, прежде чем подписать. Одно и то же число может быть взято из сильного опыта и описывать слабую ступень участия, и наоборот. Когда дальше у каждого разбора называются обе разметки подряд, их легко спутать, поэтому разводятся они здесь, пока ни одного числа ещё не прозвучало.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двумя словарями: удешевили чтение данных, а платят вниманием, навыком, подписью и арбитражем; девять форм переезда и пять разрядов свидетельства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вечер начался,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вечера,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регистру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контингент: смотреть можно только того, кто попал в поле зрения, и человека, которого не позвали, не видит ни одна система, какой бы точной она ни была. Вторая — знаменатель: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рабочая точка: порог, за которым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вечер начался,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встаёт на место второго читателя, тогда как первое чтение остаётся человеческим.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вечер начался,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вечер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встала на место второго читателя.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чувствительность 80,5 против 73,8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клетки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весь вечер,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три разбора. Счёт двух групп стоит до разборов затем, что без него ни одно число в разборах не читается.</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рабочая точка.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одной рабочей точки. Выбирает рабочую точку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одной рабочей точке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На кадре их перечня нет: он читается вслух, а на экране стоят числа, из которых он следует.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Задача: человек находит у себя на коже образование и хочет знать, идти ли с ним к врачу. Решали её тремя способами —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её прочерком закрывается свод раздела.</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то, что стоит унести из раздела целиком: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разборов по составу набора и по прогнозу расходов.</a:t>
            </a:r>
          </a:p>
          <a:p>
            <a:r>
              <a:t/>
            </a:r>
          </a:p>
          <a:p>
            <a:r>
              <a:t>И про прочерк в четвёртой шапке — он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Следующий раздел начнётся с того места, где подпись остаётся за человеком, — и там к этому прочерку добавится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Пять разборов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 Пятый — хирурги на септическом шоке: тот разбор, который был обещан в прошлый раз, и единственный, где пара оказалась ниже и модели в одиночку, и человека в одиночку.</a:t>
            </a:r>
          </a:p>
          <a:p>
            <a:r>
              <a:t/>
            </a:r>
          </a:p>
          <a:p>
            <a:r>
              <a:t>Имена произносятся здесь затем, чтобы потом узнавать слайд по уже сказанному: каждый из пяти выйдет на экран под этим заголовком, и зеркало тоже. После четвёртого разбора идут ещё пять кадров: кадр о том, по какому признаку откалибровано доверие; правило, собранное из ста шести опытов; пятый разбор — он занимает три кадра, потому что в нём и выплата обещания, и свод четырёх замеров; и вывод стадии. Сетка «задача × вид данных» в разделах не рисуется — она собирается один раз, в сборке, по всем разделам сразу.</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a:p>
            <a:r>
              <a:t/>
            </a:r>
          </a:p>
          <a:p>
            <a:r>
              <a:t>Про устройство самих кадров стоит знать заранее, чтобы не искать на экране того, чего там нет. Одним кадром идут два разбора из пяти — Примеры 2 и 3: выигрыш и его цена стоят там рядом, полосой «дало — потребовало — в сумме», и читаются с одного взгляда. У остальных трёх кадров больше, и каждый раз по своей причине. Пример 1 — два: за замером взгляда стоит зеркало того же опыта, и дивайдер называет его вслух. Контрольная линия — два: на втором живёт обратный сюжет, где доверия к модели оказалось слишком мало, и свести его с первым нельзя — он измерен в другой программе и на других людях. Хирурги — три: на первом названы цена обеих ошибок и оба классических режима, на втором стоит само изделие с тремя числами, на третьем собраны четыре замера раздела с их разрядами.</a:t>
            </a:r>
          </a:p>
          <a:p>
            <a:r>
              <a:t/>
            </a:r>
          </a:p>
          <a:p>
            <a:r>
              <a:t>И про зеркало, которое стоит сразу за первым разбором. Номера у него нет намеренно: цены обеих ошибок та работа не назначает, второго классического режима в ней нет, и по форме разбора она не проходит. Работа у неё одна и важная — ответить, не является ли само сужение зрительного поиска вредом. Ответ: нет, знак задаёт правота подсказки. Без этого кадра первый разбор читается односторонне, как провал, а не как измерение механизма.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постановкой диагноза, и граница между ней и предыдущей проходит по подписи: пока измеряет и обрабатывает машина, это диагностика; как только заключение выносит человек, это постановка диагноза. Ни модальность данных, ни сложность алгоритма эту границу не задают.</a:t>
            </a:r>
          </a:p>
          <a:p>
            <a:r>
              <a:t/>
            </a:r>
          </a:p>
          <a:p>
            <a:r>
              <a:t>Данные здесь не новые, а собранные. Жалобы — то, что человек рассказал. Анамнез — то, что с ним было раньше. Осмотр — то, что врач увидел и прощупал руками. И результаты исследований, пришедшие с предыдущей стадии. Несущее слово — «вместе»: ни одна из четырёх частей по отдельности диагноза не даёт, и работа стадии состоит именно в том, чтобы сложить их в одну картину. Вопрос на этих данных один: какая болезнь объясняет наблюдаемое и какую проверку назначить следующей.</a:t>
            </a:r>
          </a:p>
          <a:p>
            <a:r>
              <a:t/>
            </a:r>
          </a:p>
          <a:p>
            <a:r>
              <a:t>Способов получить такие данные четыре. Приём у врача — основной: он даёт жалобы, анамнез и осмотр, то есть то, чего ни один прибор не снимает. Разбор уже имеющихся документов карты извлекает из написанного и нового измерения не добавляет. Консилиум — случай, когда один случай смотрят несколько специалистов сразу, и каждый приносит свою область. Телемедицинская консультация переносит ту же работу туда, где нужного специалиста нет.</a:t>
            </a:r>
          </a:p>
          <a:p>
            <a:r>
              <a:t/>
            </a:r>
          </a:p>
          <a:p>
            <a:r>
              <a:t>Решение, которое принимает стадия, — диагноз, который формулируют и подписывают. За ним следует назначение лечения, и здесь стоит произнести вслух цену отката: назначение отменяют, пока его не выполнили, а проведённую операцию и месяцы, потерянные на неверном лечении, не отменяет ничто.</a:t>
            </a:r>
          </a:p>
          <a:p>
            <a:r>
              <a:t/>
            </a:r>
          </a:p>
          <a:p>
            <a:r>
              <a:t>Теперь почему стадия стоит именно здесь, после измерений и до назначения. Она замыкает круг, начатый раньше: список болезней, способных объяснить наблюдаемое, составляют до исследования, а вычёркивают после него. Работа эта называется дифференциальным диагнозом и состоит из двух движений, повторяющихся по кругу: выписать болезни и назначить проверку, которая их между собой различит. Женщина тридцати четырёх лет приходит с кашлем, который держится три недели, вечерней температурой и потерей четырёх килограммов. Список на первом приёме: затяжной бронхит после инфекции — частая причина, потому стоит первым; туберкулёз — картина классическая, а пропустить его дорого; лимфома — те же два признака, прочитанные иначе; системное поражение лёгких — реже, но ложится сюда же. Назначены обзорный снимок и анализ крови с воспалительными показателями: сначала то, что стоит мало и отсекает много. Через два дня бронхит снят — на снимке изменения в верхней доле, которых при бронхите не бывает; системное снято спокойными показателями. Осталось два диагноза, которые по снимку не различаются, и решает их посев мокроты — три недели ожидания.</a:t>
            </a:r>
          </a:p>
          <a:p>
            <a:r>
              <a:t/>
            </a:r>
          </a:p>
          <a:p>
            <a:r>
              <a:t>В этом примере видно, чем клиническая версия перебора гипотез жёстче инженерной. Часть проверок сама опасна или дорога, поэтому порядок проверок становится отдельным решением, которое приходится обосновывать. И видна ошибка, у которой нет следа: выбрать неверно из списка — ошибка, которую заметят, потому что придёт результат проверки и не совпадёт с ожиданием; не вписать в список то, что должно было там стоять, никто не заметит, потому что проверки, которая бы это нашла, не назначит никто.</a:t>
            </a:r>
          </a:p>
          <a:p>
            <a:r>
              <a:t/>
            </a:r>
          </a:p>
          <a:p>
            <a:r>
              <a:t>И как решение принимают без обученной модели. Первый режим — тот самый дифференциальный диагноз в два движения. Второй — второе мнение: заключение по тому же случаю от того, кто первого заключения не видел, и вся работа этого определения держится на второй половине. Как только второй читатель видит вывод первого, два мнения перестают быть двумя: второй начинает отвечать на вопрос «согласен ли я», а это другая задача и другая доля ошибок. Третий — консилиум. Четвёртый — клинические рекомендации, то есть записанный и опубликованный порядок действий при названной картине. Все четыре придуманы до всякой автоматики и ради одного: чтобы ошибка одного человека не стала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и прочерк на этом месте честнее числа.</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национальной программы скрининга, их собственная ежедневная работа, прямое ухудшение результата. Собраны все четыре будут в конце раздела.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a:p>
            <a:r>
              <a:t/>
            </a:r>
          </a:p>
          <a:p>
            <a:r>
              <a:t>«Быть внимательнее» здесь не мера — это стоит сказать прямо, потому что именно так на такое падение и отвечают: подсказка меняет не мнение читателя, а то, что он физически успевает увидеть. Доводами и обучением это не лечится, лечится порядком предъявления.</a:t>
            </a:r>
          </a:p>
          <a:p>
            <a:r>
              <a:t/>
            </a:r>
          </a:p>
          <a:p>
            <a:r>
              <a:t>Ступень участия здесь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устройство самого изделия, названная форма словаря. Здесь из пяти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идущее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a:p>
            <a:r>
              <a:t/>
            </a:r>
          </a:p>
          <a:p>
            <a:r>
              <a:t>Разница с предыдущим кадром одна: там подсказка была ложной намеренно, здесь это обычная работа одобренной системы с оценкой подозрительности по шкале от 1 до 100. Оговорки — вслух, с кадра они сняты. Двенадцать радиологов программы скрининга из десяти учреждений, стаж от 4 до 32 лет при медиане 12; сто пятьдесят исследований, 3 600 прочтений. Чтение лабораторное: раков в наборе половина, тогда как в живой программе рак встречается у единиц на тысячу. И институциональные соглашения с производителями систем авторы раскрыли сами — результат это не отменяет, но назвать нужно: единственное измерение раздела, идущее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Куда входит этот инструмент — отдельная строка, снятая с кадра. Входит он снизу, самостоятельным употреблением врача, минуя закупку: врач открывает чат сам, и ни тендера, ни допуска на этом пути нет. Тип задачи — генерация на тексте.</a:t>
            </a:r>
          </a:p>
          <a:p>
            <a:r>
              <a:t/>
            </a:r>
          </a:p>
          <a:p>
            <a:r>
              <a:t>Ступень участия здесь — «смотрит первым»: модель лежит под рукой справочником, а рассуждение врач начинает сам. Ту же ступень занимает и контрольная линия, и результаты у них противоположные — ступенью эти два разбора не различаются, различает их устройство процедуры.</a:t>
            </a:r>
          </a:p>
          <a:p>
            <a:r>
              <a:t/>
            </a:r>
          </a:p>
          <a:p>
            <a:r>
              <a:t>**Источники.** </a:t>
            </a:r>
            <a:r>
              <a:rPr u="sng">
                <a:solidFill>
                  <a:srgbClr val="065A82"/>
                </a:solidFill>
                <a:hlinkClick r:id="rId3"/>
              </a:rPr>
              <a:t>Goh E. и соавт., JAMA Network Open 2024;7(10):e2440969, 28 октября 2024, рандомизированное исследование диагностического рассуждения, 50 практикующих врачей</a:t>
            </a:r>
            <a:r>
              <a:t>. Медианы с межквартильными размахами: модель одна — 92 (от 82 до 97), врач один — 74 (от 63 до 84), врач с моделью — 76 (от 66 до 87). Виньетки собраны по реальным историям; осмотра на них нет, вопроса задать нельзя, исходов пациентов никто не проверял.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Три счёта, снятые с кадра. Первый, на кардиограммах: неверная машинная расшифровка роняет точность стажёров на 43 пункта в одной группе и на 59 в другой — база падения тут верная расшифровка, а различает группы специальность. Существеннее самой величины другое: у обеих групп слабеет связь уверенности с правотой, то есть ломается не точность, а калибровка. Второй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Третий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четырёх разборов. Во всех четырёх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и стаж её туда не добавляет.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размер эффекта 0,64 при интервале от 0,53 до 0,74,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Пятнадцать хирургов экстренной помощи оценивали риск по описанию случая, не зная машинной оценки.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 две подробности, снятые с кадра. Обещан этот разбор был у профессиональных медиков — слово «медики» тут несущее: это не студенты и не участники лабораторного опыта, а практикующие хирурги на своей собственной работе. Место в реанимации заказывают заранее, и недооценка риска отнимает именно его. А осложнение в тридцатидневном счёте считают на тридцатый день после операции: отсюда и слепота счёта к переоценке риска — человека, которого решили не оперировать, в этом счёте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Опыт устроен так. Пятнадцать хирургов экстренной помощи оценивают риск по описанию случая, не видя машинной оценки. Вторая группа из пятнадцати делает те же оценки после того, как познакомилась с подсказкой модели. Между группами хирургов развели жребием, случаев сто пятьдесят, и исходы у всех ста пятидесяти прослежены вперёд тридцать дней. Это редкое по устройству сравнение: обе человеческие группы и модель измерены на одних и тех же случаях, и разряд свидетельства здесь высокий сразу по двум признакам — жребий между группами и проспективно зафиксированный исход.</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вечера.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Ни один из четырёх замеров не поднялся на ступень исхода пациента. Измерено, как человек смотрит, как он меняет верное решение на неверное, как соглашается с подсказкой, — и не измерено, что случилось с больным из-за того, что человек стал хуже смотреть. Такого замера не нашлось ни одного, и это прочерк, а не умолчание: он называется здесь, рядом с собственными числами, тем же приёмом, которым лекция требует базу у чужих.</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ни в одном из четырёх не измерен исход пациента: мерили точность чтения, движение глаза, балл рассуждения и оценку риска — но не то, что стало с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и неназначенная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прочерк, который набран полужирным.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Пять кадров до него разбором не считаются: данные, вопрос и решение стадии; работа участников — картина ночного обхода и дорожка величин; классический режим — балльная шкала, которую модель застала на этом месте; цена обеих ошибок дежурной смены; и счёт обоих классических режимов в той же единице. И только после этих пяти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место, где решение «звать врача сейчас или на следующем обходе» принималось и принимается до сих пор, с моделью или без неё. Пост на снимке пуст, и это правда про стадию: между обходами здесь нет никого, а состояние тем временем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кончилась принятым решением: диагноз поставлен, лечение назначено, под заключением стоит фамилия. Эта стадия начинается там же и отвечает на другой вопрос — что стало дальше. Названа она в отрасли динамическим наблюдением, и слово «динамическое» здесь несущее: предмет наблюдения не состояние человека в одной точке, а то, как это состояние меняется во времени.</a:t>
            </a:r>
          </a:p>
          <a:p>
            <a:r>
              <a:t/>
            </a:r>
          </a:p>
          <a:p>
            <a:r>
              <a:t>Начнём с того, какие данные стадия получает, потому что от их устройства зависит всё остальное. Это дорожка повторных измерений шести величин: частота дыхания, пульс, артериальное давление, температура, уровень сознания и насыщение крови кислородом. Шесть величин, снятых не один раз, а по расписанию, и выстроенных в последовательность.</a:t>
            </a:r>
          </a:p>
          <a:p>
            <a:r>
              <a:t/>
            </a:r>
          </a:p>
          <a:p>
            <a:r>
              <a:t>Вопрос, который на этих данных решают, один и повторяющийся: меняется ли состояние и надо ли вмешиваться сейчас. И вот первое свойство стадии, которое стоит произнести прежде всякого инструмента: одна величина сама по себе говорит мало. Пульс сто четыре у одного человека норма дня, у другого боль, у третьего обезвоживание. А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Читается направление дорожки, а не точка на ней. Отсюда следует вещь практическая: дорожка существует только тогда, когда её ведут непрерывно, и восстановить её задним числом нельзя. Пропущенный обход — не пропущенное число, а пропущенный участок направления.</a:t>
            </a:r>
          </a:p>
          <a:p>
            <a:r>
              <a:t/>
            </a:r>
          </a:p>
          <a:p>
            <a:r>
              <a:t>Теперь о том, какими способами эти данные получают, потому что способов четыре и дают они разное. Первый — обход с измерением у постели: сестра идёт по палатам, снимает четыре-пять величин руками и прибором, у постели это две-три минуты. Второй — мониторный контроль: прибор у кровати измеряет непрерывно и сам поднимает тревогу по выставленному рукой порогу. Третий — лист наблюдения, бумажный бланк в ногах кровати или экранная форма в карте; лист — единственное, что видит следующая смена, врач на обходе и комиссия при разборе осложнения. Четвёртый способ за последние двадцать лет стал массовым и к стационару отношения почти не имеет: измерения, которые пациент снимает сам, — домашний тонометр, монитор глюкозы, дневник симптомов.</a:t>
            </a:r>
          </a:p>
          <a:p>
            <a:r>
              <a:t/>
            </a:r>
          </a:p>
          <a:p>
            <a:r>
              <a:t>Какое решение стадия принимает. Решение называется эскалацией, и смысл слова стоит разобрать: это передача случая на уровень выше. Звать дежурного врача сейчас или на следующем обходе; участить измерения; переводить ли в реанимацию. Принимает это решение человек, который пациента в этот момент не видит: дежурный врач за несколько отделений читает лист наблюдения и слышит голос сестры по телефону. Запись здесь не бюрократия — она единственный канал, по которому состояние человека доходит до того, кто вправе назначить лечение.</a:t>
            </a:r>
          </a:p>
          <a:p>
            <a:r>
              <a:t/>
            </a:r>
          </a:p>
          <a:p>
            <a:r>
              <a:t>И почему эта стадия стоит именно здесь, после постановки диагноза. Ответ не «так удобнее изложить». До принятого решения вопроса «что стало дальше» просто не существует: наблюдать нечего, пока ничего не назначено. Но есть и вторая половина ответа, и она важнее. Диагноз ставят однажды и подписывают — это разовое решение, у которого есть момент и автор. Наблюдение переоценивает одно и то же состояние каждые несколько часов, и каждая переоценка — отдельная возможность пройти мимо. Ошибка здесь не случается один раз, она накапливается. Это другое устройство работы, и инструмент, который сюда приходит, попадает именно в него: не в одно решение, а в поток решений, принимаемых по многу раз за ночь усталыми людьми по неполным данным.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кадре — одна картина работы и дорожка величин; шесть действий стадии и порядок обхода назову здесь, каждое по отдельности. Порядок работы без модели прост: измерить величины, сравнить с нормой, записать в лист.</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Решение на этой стадии одно и повторяющееся: звать старшего сейчас или на следующем обходе. Повторяется оно каждые несколько часов у каждой постели, и принимает его тот, кто видит только запись.</a:t>
            </a:r>
          </a:p>
          <a:p>
            <a:r>
              <a:t/>
            </a:r>
          </a:p>
          <a:p>
            <a:r>
              <a:t>Зачем измерять человека, который спит и выглядит стабильно. Ухудшение читается по направлению дорожки — её и показывает плашка.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и которое разберёт следующий кадр: веса в таблице назначены людьми и опубликованы. Модель на том же месте выдаёт тот же выход — балл и тревогу — и весов своих не предъявляет.</a:t>
            </a:r>
          </a:p>
          <a:p>
            <a:r>
              <a:t/>
            </a:r>
          </a:p>
          <a:p>
            <a:r>
              <a:t>Теперь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a:t>
            </a:r>
          </a:p>
          <a:p>
            <a:r>
              <a:t/>
            </a:r>
          </a:p>
          <a:p>
            <a:r>
              <a:t>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 поток изменился, порог остался прежним.</a:t>
            </a:r>
          </a:p>
          <a:p>
            <a:r>
              <a:t/>
            </a:r>
          </a:p>
          <a:p>
            <a:r>
              <a:t>Женщины с письмом в этой палате нет, и сказать об этом стоит прямо. Её путь кончается письмом «норма» или звонком на дообследование: никакого наблюдения за ней программа не ведёт, следующий контакт назначен тем же интервалом, что и первый. Наблюдение в этом разделе — про того, кто уже лежит в отделении, и измеряется оно на его дорожке величин. Это не пробел подборки: за человеком, которого обследовали и отпустили, в медицине вообще наблюдают редко, и ровно поэтому долгосрочного исхода у разборов этой лекции нет ни у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 Четвёртый шаг назову составом, иначе он звучит отвлечённо: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 То есть шкала кончается не числом, а назначенным действием, и в этом вся её работа.</a:t>
            </a:r>
          </a:p>
          <a:p>
            <a:r>
              <a:t/>
            </a:r>
          </a:p>
          <a:p>
            <a:r>
              <a:t>Свойств у такой конструкции два, и первое я назову раньше второго, потому что оно важнее для сегодняшнего разговора. Баллы передаются между сменами. Суждение «мне кажется, он сдал» не передаётся: его нельзя записать в лист, нельзя предъявить утром и нельзя оспорить. Число передаётся — и именно поэтому сестра, не имеющая права поставить диагноз, может поднять тревогу, на которую обязаны ответить.</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Левый столбец стоит прочесть именно так: это не похвала старому инструменту, это перечень того, что мы теряем при замене. Прозрачность веса, воспроизводимость счёта и адресат возражения — три свойства, за которые никто отдельно не платил, потому что они достались конструкции бесплатно. Левый пункт про три балла раскрою вслух: частота дыхания от двенадцати до двадцати даёт ноль, от двадцати одного до двадцати четырёх — два, двадцать пять и выше — три, и эту таблицу можно открыть руками.</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 Правый столбец поэтому и назван «в это модель и целилась»: обещание было адресным, и проверять его дальше надо по этим двум пунктам, а не по общему вопросу «лучше ли модель вообще».</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 и всякий, кто на него отвечает, отвечает не на него.</a:t>
            </a:r>
          </a:p>
          <a:p>
            <a:r>
              <a:t/>
            </a:r>
          </a:p>
          <a:p>
            <a:r>
              <a:t>И оговорка, которую на кадр я выносить не стал, а произнести стоит. Выходные данные действующей редакции карты здесь не названы — ни года, ни публикации профессионального общества. Редакции шкал обновляются, устаревшую опознаёт только тот, кто работает со шкалой каждый день, и ставить непроверенную ссылку на экран хуже, чем не ставить никакой. Для инженера это обычная ситуация: инструмент, с которым сравнивают, существует в нескольких редакциях одновременно, и вопрос «с какой именно редакцией сравнивали» задаётся до вопроса о качестве.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 На кадре два столбца, и они здесь ровно под противопоставление — иначе колонок не ставят.</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я не называю: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 Последнее слагаемое самое дорогое и самое незаметное: оно не тратится сразу, оно накапливается, и расплачиваются им в тот единственный раз, когда оповещение было настоящим.</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 Само решение стоит назвать своим именем: это эскалация — передача случая на уровень выше. Звать дежурного врача сейчас или на следующем обходе, переводить ли в реанимацию. И вот чем этот шаг отличается от постановки диагноза, которой занят прошлый раздел: диагноз ставят однажды и подписывают, а наблюдение переоценивает одно и то же состояние каждые несколько часов. Каждая переоценка — отдельная возможность пройти мимо, и ошибка здесь не случается однажды, а накапливается за смену. Это и делает стадию наблюдения особенной: тот, кто назначает порог, и тот, кто платит за порог, — разные люди, и второй о первом обычно ничего не знает. И ещё одно про того, кто платит: решение о пациенте принимает человек, который его в этот момент не видит. Дежурный врач идёт на несколько отделений и читает лист наблюдения да голос сестры в телефоне. Запись на этом шаге не бюрократия — это единственный канал, по которому состояние человека доходит до того, кто вправе назначить лечение.</a:t>
            </a:r>
          </a:p>
          <a:p>
            <a:r>
              <a:t/>
            </a:r>
          </a:p>
          <a:p>
            <a:r>
              <a:t>Снимок на кадре — экран прикроватного монитора с настоящей активной тревогой по пульсу в шапке. Съёмка велась на учебном манекене, но прибор и тревога настоящие, и подпись это называет: приписывать снимку больше доказательной силы, чем у него есть, в этой лекции нельзя дважды — один раз потому, что неправда, второй потому, что лекция про это.</a:t>
            </a:r>
          </a:p>
          <a:p>
            <a:r>
              <a:t/>
            </a:r>
          </a:p>
          <a:p>
            <a:r>
              <a:t>Вопрос, который стоит задать себе до всяких чисел, и задать его надо вслух, залу: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Ответ «почти все» звучит чаще, чем хотелось бы, и звучит он от людей, которые этот контур сами и настраивали.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плашки на кадре стоят рядом, но сложить их в одно число нельзя, и это первое, что я скажу, если из зала попробуют сложить.</a:t>
            </a:r>
          </a:p>
          <a:p>
            <a:r>
              <a:t/>
            </a:r>
          </a:p>
          <a:p>
            <a:r>
              <a:t>Ценность числа прибора в другом: поток ложных тревог существовал в палате до обученных моделей, и персонал научился его фильтровать задолго до них. То есть привычка закрывать оповещение не читая — не побочный эффект моделей, а то, что модели застали на месте и усилили. Рядом стоит число, которое к работе персонала относится прямо: девяносто один процент сестёр сообщают, что шум тревог мешает работе.</a:t>
            </a:r>
          </a:p>
          <a:p>
            <a:r>
              <a:t/>
            </a:r>
          </a:p>
          <a:p>
            <a:r>
              <a:t>И есть третий режим, который легко принять за второй, — его я называю затем, чтобы вы не приняли чужие числа за наши. Отклонение лекарственных тревог в системах поддержки решений измерено сводным обзором: средняя доля отклонения девяносто из ста при разбросе по отдельным работам от пятидесяти пяти до девяноста восьми; в десятицентровом исследовании отклонены 95,7 процента из 16 011 тревог; а из отклонённых тревог высокой приоритетности только 45,4 процента признаны потом клинически обоснованными. Это тревоги о взаимодействии препаратов, построенные на правилах, и к задаче «заметить, что человеку стало хуже», они не относятся вовсе. Называю их потому, что в пересказах их склеивают с числами модели сепсиса, и склейка даёт утверждение, которого не измерял никто.</a:t>
            </a:r>
          </a:p>
          <a:p>
            <a:r>
              <a:t/>
            </a:r>
          </a:p>
          <a:p>
            <a:r>
              <a:t>И последнее по этому кадру, честно: работы, где шкала и обученная модель измерены на одном населении, при сборе материала найти не удалось. Если такая появится, она заменит собой обе строки сравнения — а пока сравнение держится на порядке величины и ни на чём больше.</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 а не превосходство. К этой оговорке мы вернёмся через два кадра арифметикой — там видно, как одна и та же модель даёт разную долю подтверждения на двух потоках.</a:t>
            </a:r>
          </a:p>
          <a:p>
            <a:r>
              <a:t/>
            </a:r>
          </a:p>
          <a:p>
            <a:r>
              <a:t>**Источники.** </a:t>
            </a:r>
            <a:r>
              <a:rPr u="sng">
                <a:solidFill>
                  <a:srgbClr val="065A82"/>
                </a:solidFill>
                <a:hlinkClick r:id="rId3"/>
              </a:rPr>
              <a:t>сравнение балльных шкал, JAMIA Open 2021, DOI 10.1093/jamiaopen/ooab062, PMID 34820600</a:t>
            </a:r>
            <a:r>
              <a:t> · </a:t>
            </a:r>
            <a:r>
              <a:rPr u="sng">
                <a:solidFill>
                  <a:srgbClr val="065A82"/>
                </a:solidFill>
                <a:hlinkClick r:id="rId4"/>
              </a:rPr>
              <a:t>Drew B. J. и соавт., PLoS One 2014;9(10):e110274, DOI 10.1371/journal.pone.0110274, PMID 25338067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«от 0,76 до 0,86» из них не складывается, и если вы увидите такую полосу в обзоре, вы увидите склейку двух заявлений о двух разных изделиях. Здесь же — то, что мы с этого кадра сняли сами: прежняя редакция называла ещё и 0,73 как раннее заявление разработчика. Документа с этим числом не нашлось ни по одному открытому пути, и число больше не произносится. Говорю об этом вслух, потому что правило лекции — не утверждать выше своего разряда — обязано применяться и к её собственным числам.</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 Это последнее число — самое важное в разборе и самое редко произносимое: инструмент оценивают по тому, что он добавляет к человеку, а не по тому, что он повторяет за ним. Период когорты — с декабря 2018 по октябрь 2019. Разряд свидетельства назову сразу: рецензированная внешняя проверка на большой когорте одной системы, и она воспроизвелась — независимая вторая проверка идёт через кадр.</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 а не свойство модели.</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 Инженеру отсюда следует неприятное: выбор архитектуры — не то место, где решается судьба внедрения. И проверку «уберите модель» этот случай проходит, в отличие от чат-бота из первого раздела: уберите её — останутся балльные шкалы, где веса выписала согласительная комиссия, и потока тревог, о котором идёт весь разбор, не возникнет вовсе. Значит изменение вызвано именно обученной моделью, и разбор засчитывается.</a:t>
            </a:r>
          </a:p>
          <a:p>
            <a:r>
              <a:t/>
            </a:r>
          </a:p>
          <a:p>
            <a:r>
              <a:t>Изделие называется своим именем: модель сепсиса, встроенная в медицинскую информационную систему Epic. Вход — показатели и записи, которые уже лежат в карте, читаемые непрерывно; выход — балл риска и прерывающая тревога с набором назначений в один щелчок. Обучена она на данных пациентов — так пишет разработчик; объём обучающей выборки он построчно не подтверждает, и поэтому числа обучающей выборки на кадре нет.</a:t>
            </a:r>
          </a:p>
          <a:p>
            <a:r>
              <a:t/>
            </a:r>
          </a:p>
          <a:p>
            <a:r>
              <a:t>**Источники.** </a:t>
            </a:r>
            <a:r>
              <a:rPr u="sng">
                <a:solidFill>
                  <a:srgbClr val="065A82"/>
                </a:solidFill>
                <a:hlinkClick r:id="rId3"/>
              </a:rPr>
              <a:t>Wong, Otles и соавт., JAMA Internal Medicine 2021, DOI 10.1001/jamainternmed.2021.2626</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 и считать её я буду вслух, по схеме на кадре.</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Зачем этот счёт нужен инженеру отдельно от публикации. Все четыре числа — чувствительность, специфичность, распространённость и доля подтверждения — связаны арифметикой на четыре действия. Значит, получив от поставщика любые три, четвёртое вы считаете сами, а не спрашиваете. И наоборот: если четыре названных числа не сходятся, сходиться они и не должны — где-то знаменатель другой.</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 Это и есть самая частая ошибка чтения такой таблицы, и делают её не из небрежности: оба числа называются «долей», и оба записываются «из ста». Заодно отвергну пересказ, который встретится вам первым: «каждая шестая госпитализация». Он занижает измеренное — 16,7 против 18,1, — и мы им не пользуемся.</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 — то есть отозванное число живёт дольше исправления, и проверять приходится не величину, а то, читал ли пересказчик эрратy.</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той же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 отдельно — число, которое нельзя называть рядом с восьмёркой без его рамки. Если переоценивать пациента при каждом превышении порога, а не только при первом, и вдобавок требовать предупреждения за четыре часа до клинического распознавания, разобрать придётся сто девять тревог на одно подтверждение. Восемь и сто девять различаются двумя решениями сразу: сколько тревог на пациента вы считаете и какой горизонт требуете. Приписать весь рост одному горизонту нельзя — и в разделе, который учит разделять решения и их цену, такая склейка дороже прочих.</a:t>
            </a:r>
          </a:p>
          <a:p>
            <a:r>
              <a:t/>
            </a:r>
          </a:p>
          <a:p>
            <a:r>
              <a:t>И следствие для человека у постели, которое я проговорю прямо, потому что иначе разбор звучит как упрёк врачу. Врач, который начинает пролистывать такой поток не читая, действует статистически разумно: из восьми тревог семь окажутся пустыми, а времени на восемь разборов у него нет. Ровно эта разумная адаптация и создаёт риск пропустить восьмую. Склонность доверять автомату — одна половина проблемы; вторая половина — обученная привычка автомату не верить, и она возникает из измеримых свойств потока, а не из характера человека.</a:t>
            </a:r>
          </a:p>
          <a:p>
            <a:r>
              <a:t/>
            </a:r>
          </a:p>
          <a:p>
            <a:r>
              <a:t>**Источники.** </a:t>
            </a:r>
            <a:r>
              <a:rPr u="sng">
                <a:solidFill>
                  <a:srgbClr val="065A82"/>
                </a:solidFill>
                <a:hlinkClick r:id="rId3"/>
              </a:rPr>
              <a:t>Wong, Otles и соавт., JAMA Internal Medicine 2021, DOI 10.1001/jamainternmed.2021.2626</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a:t>
            </a:r>
          </a:p>
          <a:p>
            <a:r>
              <a:t/>
            </a:r>
          </a:p>
          <a:p>
            <a:r>
              <a:t>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 Эту фразу я прочту дословно — она стоит на кадре в кавычках именно потому, что пересказывать её своими словами означало бы её смягчить.</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 Это переносимое наблюдение, и переносится оно широко: всякий раз, когда признак модели появляется как следствие решения человека, модель будет предсказывать это решение, а не опережать его. В промышленности то же самое — модель, обученная на заявках в ремонт, предсказывает заявки, а не отказы.</a:t>
            </a:r>
          </a:p>
          <a:p>
            <a:r>
              <a:t/>
            </a:r>
          </a:p>
          <a:p>
            <a:r>
              <a:t>И почему бесполезная тревога здесь не нейтральна, а вредна. На шаге наблюдения внимание и есть прибор, которым узнают об ухудшении: другого прибора у дежурной смены нет. Расходовать его на поток, подтверждающийся один раз из восьми, — это то же самое, что сбивать настройку прибора.</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 Назвать это надо вслух, иначе разбор прозвучит как рассказ про старую плохую версию: версия новая, проверка проспективная, расход на месте.</a:t>
            </a:r>
          </a:p>
          <a:p>
            <a:r>
              <a:t/>
            </a:r>
          </a:p>
          <a:p>
            <a:r>
              <a:t>Разряд свидетельства у этого разбора стоит назвать целиком, потому что он здесь выше обычного: две рецензированные внешние проверки, независимые авторские коллективы, разные типы учреждений — стационар общего профиля и приёмное отделение, — разница в три года и согласующееся направление результата. Это сильнее любого единичного исследования, которое лекция разбирает в других разделах, и такого разряда добиваются годами.</a:t>
            </a:r>
          </a:p>
          <a:p>
            <a:r>
              <a:t/>
            </a:r>
          </a:p>
          <a:p>
            <a:r>
              <a:t>И честно о расхождении, которое осталось неразрешённым. Доля подтверждений во второй проверке при пересчёте из приведённых чисел срабатываний даёт величину, отличную от заявленной в тексте работы; вероятная причина — разные определения знаменателя. Расхождение не разрешено, поэтому это число я не использую: разбор держится на чувствительности и на нулевом опережении, которые согласованы.</a:t>
            </a:r>
          </a:p>
          <a:p>
            <a:r>
              <a:t/>
            </a:r>
          </a:p>
          <a:p>
            <a:r>
              <a:t>**Источники.** Второй из них — проспективная проверка действующей версии. </a:t>
            </a:r>
            <a:r>
              <a:rPr u="sng">
                <a:solidFill>
                  <a:srgbClr val="065A82"/>
                </a:solidFill>
                <a:hlinkClick r:id="rId3"/>
              </a:rPr>
              <a:t>Ostermayer и соавт., JAMIA Open 2024, DOI 10.1093/jamiaopen/ooae133, PMID 39545248</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 Схема на кадре показывает это двумя строками: верхняя — три шага до модели, нижняя — три шага после, и третий шаг нижней строки не имеет пары в верхней.</a:t>
            </a:r>
          </a:p>
          <a:p>
            <a:r>
              <a:t/>
            </a:r>
          </a:p>
          <a:p>
            <a:r>
              <a:t>Форма «нагрузка выросла на том же месте» подходит здесь буквально: место то же, рука та же, вырос объём чтения и отклонения. Форма именно четвёртая, а не первая, и различение тут несущее: работа не уехала в другое место и не досталась другой руке, поэтому «нагрузка переехала на другой шаг» к этому случаю не подходит.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одна форма, которой нет у классического режима, — её отсутствие я тоже назову. У счёта тревог монитора формы нет вовсе: обученной модели там не было, и работе не от чего было перестраиваться. Говорю это прямо, чтобы форма не приписалась случаю ради симметрии: у словаря девяти форм нет обязанности находить себе строку в каждом разборе.</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 Называю это вслух, потому что отсутствие числа здесь — решение, а не пробел: пересказ есть, и взять число из пересказа было бы ровно той ошибкой, которую лекция разбирает в другом разделе.</a:t>
            </a:r>
          </a:p>
          <a:p>
            <a:r>
              <a:t/>
            </a:r>
          </a:p>
          <a:p>
            <a:r>
              <a:t>И последнее число, которое читается только с базой; оно стоит на кадре парой, и пару эту надо произнести целиком. Суточный поток тревог в двадцати четырёх больницах за время вирусной эпидемии вырос с 953 до 1 363 — на сорок три процента. Само по себе это число ничего не значит: больных стало больше, тревог стало больше. Но загрузка за тот же период упала с 10 159 до 6 634 пациентов, то есть на треть. Значит на каждого пациента тревог стало не на сорок три процента больше, а вдвое с лишним: доля пациентов с тревогой выросла с 9 до 21 из ста.</a:t>
            </a:r>
          </a:p>
          <a:p>
            <a:r>
              <a:t/>
            </a:r>
          </a:p>
          <a:p>
            <a:r>
              <a:t>Вот это и есть то,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для инженера: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и соавт., JAMA Network Open 2021, объём тревог, DOI 10.1001/jamanetworkopen.2021.35286</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 Тип задачи назову здесь: это прогноз на структурированных данных — на входе показатели и записи из карты, на выходе балл риска и прерывающая тревога. В этом разряде сортировка внимания работает, а решение «вмешиваться сейчас» остаётся за человеком и машине не передаётся.</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 по четырём системам здравоохранения.</a:t>
            </a:r>
          </a:p>
          <a:p>
            <a:r>
              <a:t/>
            </a:r>
          </a:p>
          <a:p>
            <a:r>
              <a:t>Что не получается. Три границы, и ни одна не про качество обучения — это и есть самое полезное в разделе. Порог модель себе не назначает: его назначает организация под своё население, и назначает заново при всяком изменении потока.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 поток вырос с девятисот пятидесяти трёх до тысячи трёхсот шестидесяти трёх тревог в сутки при упавшей загрузке.</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 и я этот прочерк оставляю на кадре, а не убираю ради симметрии трёх форм. Сама форма при этом в лекции не пустует — она принадлежит разделу о профессиональной квалификации, где измерена; здесь её просто нечем подтвердить.</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 — то есть держит нагрузку не свойство модели, а чужая работа, записанная в документе. Куда движется принятие, скажу одной фразой, потому что это отвечает на вопрос «а что делать»: от модели поставщика из коробки — к модели, донастроенной и перепроверенной на своём населении, плюс управление самим потоком: правила тишины, порог под местную распространённость, назначенный разбор остатка. Отдельным рынком идут надзор за дрейфом распределения и пересчёт порога.</a:t>
            </a:r>
          </a:p>
          <a:p>
            <a:r>
              <a:t/>
            </a:r>
          </a:p>
          <a:p>
            <a:r>
              <a:t>Заголовок кадра — вывод всего раздела, и прочитать его стоит дословно. Тревога без названной базы не предупреждает: она сообщает о срабатывании порога и молчит о том, что произошло с пациентом. Между этими двумя сообщениями лежит вся разница, и она не видна тому, кто читает поток тревог как показатель работы.</a:t>
            </a:r>
          </a:p>
          <a:p>
            <a:r>
              <a:t/>
            </a:r>
          </a:p>
          <a:p>
            <a:r>
              <a:t>Что уходит дальше: тревогу закрыли, запись об этом решении осталась, и читает её тот, кто пациента не видел вовсе. Это и есть мост к следующему разделу.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вечера: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назову здесь, на кадре их нет. Держать структуру в голове во время разговора. Набрать запись.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честный прочерк, и я его называю: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 С этой картины раздел и начинается.</a:t>
            </a:r>
          </a:p>
          <a:p>
            <a:r>
              <a:t/>
            </a:r>
          </a:p>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Второй разбор идёт с конца: сначала то, чем он кончился, — как редко эту способность проверяют до того, как изделие допустят к продаже, — а счёт в минутах труда, из которого эта подпись сложилась, стоит следом. Обзор поданной документации показывает: тестирование с реальным участием врача нашлось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Про состав раздела стоит сказать вслух, потому что он устроен не так, как предыдущие. Разборов здесь два, а кадров под ними три: Пример 1 держится на одном кадре целиком — выигрыш и его цена рядом, — а Пример 2 разложен на два, и разложен нарочно. Он подан с конца: сначала то, чем он кончился, то есть доля изделий, у которых способность человека возразить при допуске никто не проверял, и только потом счёт в минутах труда, из которого эта подпись сложилась. Порядок этот выбран потому, что прочитанный обычным образом разбор кончался бы нормой и числом, а начинался бы минутами — и слушатель успевал бы решить, что речь про экономию, прежде чем услышал бы, про что она на самом деле.</a:t>
            </a:r>
          </a:p>
          <a:p>
            <a:r>
              <a:t/>
            </a:r>
          </a:p>
          <a:p>
            <a:r>
              <a:t>Кроме двух разборов в разделе два кадра, которые разборами не являются и не выдают себя за них: обзор надзорных механизмов после допуска и определение подходящего человека из нормативного документа. У обзора нет формы разбора в словаре курса, и это произносится прямо.</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 статья 14</a:t>
            </a:r>
            <a:r>
              <a:t> · </a:t>
            </a:r>
            <a:r>
              <a:rPr u="sng">
                <a:solidFill>
                  <a:srgbClr val="065A82"/>
                </a:solidFill>
                <a:hlinkClick r:id="rId4"/>
              </a:rPr>
              <a:t>обзор поданной регуляторам документации, JAMA Network Open 2025;8(11):e2542338</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предыдущие разделы оставили после себя документы и людей, которые эти документы подписывают. Тревогу разобрали — расписался дежурный врач. Эпикриз вычитали — расписался лечащий. Этот раздел про то, что стоит за такой подписью, и про то, проверял ли кто-нибудь, что подписывающий способен возразить.</a:t>
            </a:r>
          </a:p>
          <a:p>
            <a:r>
              <a:t/>
            </a:r>
          </a:p>
          <a:p>
            <a:r>
              <a:t>Первое, что отличает эту стадию от всех предыдущих: она не работает с измерениями человека. Данные её — документы. Заключение с подписью. Информированное согласие. Материалы разбора случая. Документация, по которой изделие допускали к применению. Ни одного нового факта о пациенте здесь не добывают; работают с тем, что уже записано.</a:t>
            </a:r>
          </a:p>
          <a:p>
            <a:r>
              <a:t/>
            </a:r>
          </a:p>
          <a:p>
            <a:r>
              <a:t>Вопрос на этих данных тоже один, и он не про болезнь: кто отвечает за принятое и выдержит ли порядок работы проверку исходом. Заметьте, насколько он другого разряда, чем вопросы предыдущих стадий. Там спрашивали «звать ли на обследование», «что измерено», «чем объясняется найденное», «вмешиваться сейчас». Здесь спрашивают о самой конструкции, внутри которой все те вопросы решались.</a:t>
            </a:r>
          </a:p>
          <a:p>
            <a:r>
              <a:t/>
            </a:r>
          </a:p>
          <a:p>
            <a:r>
              <a:t>Как эти сведения получают — пять источников, и ни одного нового факта о пациенте среди них. Стадия ничего не измеряет, она извлекает. Из карты со всеми заключениями и подписями. Из протоколов исследований. Из журнала системы, где видно, что именно показала модель и в какой момент она это показала — момент здесь важен не меньше содержания, потому что подсказка, пришедшая после решения врача, и подсказка, пришедшая до него, значат разное. Из утверждённого порядка оказания помощи и клинических рекомендаций — документов, с которыми сверяют. И отдельным источником — из документации, поданной регулятору, когда изделие допускали к применению.</a:t>
            </a:r>
          </a:p>
          <a:p>
            <a:r>
              <a:t/>
            </a:r>
          </a:p>
          <a:p>
            <a:r>
              <a:t>Решение, которое стадия принимает, двойное, и вторая его половина интереснее первой. Первая: кто отвечает за принятое. Вторая: что меняется в порядке работы, когда разбор нашёл расхождение. Расхождение, которое повторяется, становится основанием поправить документ — порядок оказания помощи, внутренний регламент отделения, форму листа наблюдения, порог эскалации. Процедура переводит разбор с личности на документ, и в этом её главное инженерное свойство.</a:t>
            </a:r>
          </a:p>
          <a:p>
            <a:r>
              <a:t/>
            </a:r>
          </a:p>
          <a:p>
            <a:r>
              <a:t>И теперь то, из-за чего эта стадия вообще стоит отдельным разделом, а не шагом в ряду. В ряд она не становится. Отбор идёт до исследования, исследование до диагноза, наблюдение после решения — у них есть порядок, и его можно проверить. У этой стадии порядка нет, потому что она идёт поперёк всех остальных сразу. Подпись ставят на каждой стадии. Согласие берут до вмешательства. Разбор приходит после исхода — любого, на любой стадии. Допуск изделия лежит вообще над всем циклом, до того, как изделие впервые включили. Поставить это шагом между наблюдением и чем-нибудь ещё значило бы соврать о том, как оно работает.</a:t>
            </a:r>
          </a:p>
          <a:p>
            <a:r>
              <a:t/>
            </a:r>
          </a:p>
          <a:p>
            <a:r>
              <a:t>Отсюда и свойство, которое стоит забрать с собой в любую отрасль, не только в медицину. Каждый из этих механизмов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И следствие для всякого внедрения модели, которым этот раздел дальше и занят. Модель входит в процесс, у которого механизм удержания цены ошибки уже есть, и рассчитан он на человеческую ошибку определённого вида: усталость, спешку, пробел в знании, невнимательность. Машинная ошибка устроена иначе — она уверенная, связная и повторяющаяся на всех похожих случаях. Механизм, рассчитанный на один вид ошибки, не обязан поймать другой, и проверять это надо измерением, а не рассуждением.</a:t>
            </a:r>
          </a:p>
          <a:p>
            <a:r>
              <a:t/>
            </a:r>
          </a:p>
          <a:p>
            <a:r>
              <a:t>И ещё один вопрос раздел задаст самой процедуре, а не модели, — тот, который обычно не задают вовсе. Разбор случая сверяет действие врача с утверждённым порядком. Но сам этот разбор — одинаково ли он смотрит на врача, который с подсказкой согласился, и на врача, который ей возразил? Вопрос звучит умозрительным, пока его не измерили. Его измерили.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Кто в этой комнате и что перед ними. За столом заместитель главного врача — председатель, заведующий отделением, двое врачей той же специальности из другого отделения, эксперт по качеству помощи и секретарь. На столе карта со всеми заключениями и подписями, протоколы исследований, распечатка вывода модели с указанием момента, когда она его показала, утверждённый порядок оказания помощи и клинические рекомендации. Момент показа здесь значит не меньше содержания: подсказка, пришедшая до решения врача, и подсказка, пришедшая после, — разные обстоятельства дела.</a:t>
            </a:r>
          </a:p>
          <a:p>
            <a:r>
              <a:t/>
            </a:r>
          </a:p>
          <a:p>
            <a:r>
              <a:t>Действий у стадии семь, и каждое записано в документе — в порядке оказания помощи, в регламенте отделения, в нормативном акте. Первое: подписать заключение. Второе: взять информированное согласие. Третье: прочесть вторым читателем независимо. Четвёртое: разрешить расхождение арбитражем. Пятое: собрать комиссию. Шестое: сверить действия с утверждённым порядком. Седьмое: поправить порядок по итогам разбора. Перечень этот со сцены не читается подряд — он нужен, чтобы ответить на вопрос, в какое из семи действий входит модель; ответ — ни в одно.</a:t>
            </a:r>
          </a:p>
          <a:p>
            <a:r>
              <a:t/>
            </a:r>
          </a:p>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 717 радиологических изделий, допущенных к обращению (срез июнь 2024).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и процедура эта из двух шагов.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механизм, независимое второе мнение с арбитражем, разобран кадром раньше, и здесь важно одно его свойство: независимость теряется в тот момент, когда оба читателя видят одну и ту же машинную подсказку.</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Про само изделие сказать почти нечего, и это тоже факт о работе: ни имени, ни обучающего набора она не печатает. Вход — серия магнитно-резонансных снимков коленного сустава, выход — заключение о разрыве передней крестообразной связки; ассистент лабораторный, не выведенный на рынок продукт.</a:t>
            </a:r>
          </a:p>
          <a:p>
            <a:r>
              <a:t/>
            </a:r>
          </a:p>
          <a:p>
            <a:r>
              <a:t>Теперь цена. 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это и предложили, и приложили число — снижение остаточных ошибок на сорок один и семь десятых процента. Число получено расчётом: взяли два уже собранных раунда, чтение без подсказки и чтение с подсказкой,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исчезнет вместе с подсказкой. Поэтому знак итогового эффекта неизвестен, и говорить «нашли решение» нельзя.</a:t>
            </a:r>
          </a:p>
          <a:p>
            <a:r>
              <a:t/>
            </a:r>
          </a:p>
          <a:p>
            <a:r>
              <a:t>Отсюда ответ на пятый вопрос разбора — что переехало. Переехать здесь нечему, и формы словаря у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на восемьдесят один и два десятых процента.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дорогая процедура удержания здесь не нужна. Там, где цена промаха мала, она не окупается — и это такой же вывод, как все остальные.</a:t>
            </a:r>
          </a:p>
          <a:p>
            <a:r>
              <a:t/>
            </a:r>
          </a:p>
          <a:p>
            <a:r>
              <a:t>**Источники.** </a:t>
            </a:r>
            <a:r>
              <a:rPr u="sng">
                <a:solidFill>
                  <a:srgbClr val="065A82"/>
                </a:solidFill>
                <a:hlinkClick r:id="rId3"/>
              </a:rPr>
              <a:t>Wang D. Y., Ding J., Sun A. L. и соавт., JAMIA 2023;30(10):1684–1692, DOI 10.1093/jamia/ocad118</a:t>
            </a:r>
            <a:r>
              <a:t> · разбор алгоритмического планирования смен медсестёр</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 Два знаменателя стоит держать врозь и произносить каждый со своим: 56 считаются от 717, 924 — от 950, и смешать их значило бы получить третье число, которого не измерял никто.</a:t>
            </a:r>
          </a:p>
          <a:p>
            <a:r>
              <a:t/>
            </a:r>
          </a:p>
          <a:p>
            <a:r>
              <a:t>Сила свидетельства разная для факта и для вывода. Для самого факта она сильная: это обзор поданной документации, и число пересчитывается по первоисточнику.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Что переехало в этом разборе — названо одной формой, и форма эта седьмая. Работа не переехала на другой шаг, не выросла в объёме и не досталась другой руке: переехала цена промаха в ней. Подпись осталась человеческой, основание решения пришло извне, а проверка способности возразить этому основанию при допуске не делалась у девяноста двух изделий из ста. Пара «дало — потребовало» читается здесь так: дало — требование сформулировано словами, которых раньше не было, и сформулировано проверяемо; потребовало — свидетельства исполнения, которого при допуске нет, и значит исполнение остаётся на организации, купившей изделие.</a:t>
            </a:r>
          </a:p>
          <a:p>
            <a:r>
              <a:t/>
            </a:r>
          </a:p>
          <a:p>
            <a:r>
              <a:t>Почему этот разбор подан с конца. Конец у него и есть результат: восемь изделий из ста. Счёт, из которого эта подпись сложилась, стоит следом — цена обеих ошибок, два классических режима и минуты труда, которых стоит двойное чтение. Прочитанный в обычном порядке, разбор кончался бы нормой и числом, а начинался бы минутами; прочитанный с конца, он сначала называет цену, а потом показывает, из чего она собрана.</a:t>
            </a:r>
          </a:p>
          <a:p>
            <a:r>
              <a:t/>
            </a:r>
          </a:p>
          <a:p>
            <a:r>
              <a:t>Вопрос залу стоит задать и подождать ответа: подпись под машинным решением есть в очень многих рабочих контурах — от согласования заявки до приёмки сборки, — а проверка того, что подписывающий физически успевает прочитать то, что подписывает, не делается почти ни в одном из них. Ответ «никто не проверял» здесь обычный, и он по существу.</a:t>
            </a:r>
          </a:p>
          <a:p>
            <a:r>
              <a:t/>
            </a:r>
          </a:p>
          <a:p>
            <a:r>
              <a:t>**Источники.** </a:t>
            </a:r>
            <a:r>
              <a:rPr u="sng">
                <a:solidFill>
                  <a:srgbClr val="065A82"/>
                </a:solidFill>
                <a:hlinkClick r:id="rId3"/>
              </a:rPr>
              <a:t>обзор поданной регуляторам документации, JAMA Network Open 2025;8(11):e2542338, срез июнь 2024</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и в прочтении с конца она приходит второй — но от места в рассказе не меняется.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 Со сцены это проговаривается обязательно: две величины считаются от разных знаменателей, и подмена одной другой превращает прирост в несопоставимое число. Две эти величины считаются от разных знаменателей, и названы они врозь нарочно.</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потому что по медианам и по средним выходит разное, и выбор одного из двух был бы выбором удобного.</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и это управляемый параметр, а не свойство модели. Поэтому среднее произносится вместе с разбросом: без него оно читается как отраслевая норма, которой нет.</a:t>
            </a:r>
          </a:p>
          <a:p>
            <a:r>
              <a:t/>
            </a:r>
          </a:p>
          <a:p>
            <a:r>
              <a:t>Теперь то, ради чего эти минуты посчитаны. Чтение подешевело: человеческих первичных чтений стало вдвое меньше, и каждое из них стоило 48 секунд. Разбор расхождения не подешевел — он остался человеческой операцией прежней цены, и объём его вырос. Вывод от величин при этом не зависит: экономия на одном шаге не обязана компенсировать рост другого, и счёт в одной валюте для этой пары никто не делал. Утверждать «в сумме выгодно» или «в сумме дороже» на этих числах нельзя; что можно — назвать оба движения и их направления.</a:t>
            </a:r>
          </a:p>
          <a:p>
            <a:r>
              <a:t/>
            </a:r>
          </a:p>
          <a:p>
            <a:r>
              <a:t>И последнее, что связывает этот счёт с тем, чем разбор кончился. Подпись, которую норма требует держать человеку, держится не на присутствии, а на минутах: на том, что подписывающий успевает прочитать и разобрать. Минуты здесь посчитаны, и они растут; проверка способности возразить при допуске не делалась у девяноста двух изделий из ста. Два этих факта стоят рядом и читаются вместе: минуты растут у того, чья способность возразить не проверялась. Вот это и есть вся цена подписи, посчитанная в единицах, которые можно сложить и предъявить.</a:t>
            </a:r>
          </a:p>
          <a:p>
            <a:r>
              <a:t/>
            </a:r>
          </a:p>
          <a:p>
            <a:r>
              <a:t>**Источники.** </a:t>
            </a:r>
            <a:r>
              <a:rPr u="sng">
                <a:solidFill>
                  <a:srgbClr val="065A82"/>
                </a:solidFill>
                <a:hlinkClick r:id="rId3"/>
              </a:rPr>
              <a:t>Hovda, Holen, Hofvind, European Radiology 2026, DOI 10.1007/s00330-025-12273-x</a:t>
            </a:r>
            <a:r>
              <a:t> · </a:t>
            </a:r>
            <a:r>
              <a:rPr u="sng">
                <a:solidFill>
                  <a:srgbClr val="065A82"/>
                </a:solidFill>
                <a:hlinkClick r:id="rId4"/>
              </a:rPr>
              <a:t>Warren L. M. и соавт., Nature Cancer 2026, DOI 10.1038/s43018-026-01128-z</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 717 радиологических изделий, допущенных к обращению (срез июнь 2024),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a:p>
            <a:r>
              <a:t/>
            </a:r>
          </a:p>
          <a:p>
            <a:r>
              <a:t>Теперь то, что делает этот шов дорогим не в теории, а в измерении. Разбор случая после исхода — процедура, которой медицина и держит цену ошибки: собирается комиссия, сверяет действия человека с утверждёнными порядками и решает, разумно ли он поступил. Вопрос, который до сих пор никто не задавал этой процедуре вслух: а как она сама относится к тому, согласился человек с подсказкой или возразил ей.</a:t>
            </a:r>
          </a:p>
          <a:p>
            <a:r>
              <a:t/>
            </a:r>
          </a:p>
          <a:p>
            <a:r>
              <a:t>Ответ измерен, и измерен предрегистрированным испытанием со случайным распределением. Участникам давали один и тот же случай, менялось одно: принял врач машинную подсказку или отверг её. Врача, который принял подсказку в пользу стандартного лечения, оценивают как более разумного, чем того, кто её отверг. Так оценивают взрослые жители двух стран — и, отдельной выборкой, двести сорок восемь немецких врачей, то есть ровно та сторона, которую порядок разбора и назначает разбирать случай коллеги. Величина эффекта небольшая и значимая; предшествующее испытание 2021 года на двух тысячах взрослых дало то же направление.</a:t>
            </a:r>
          </a:p>
          <a:p>
            <a:r>
              <a:t/>
            </a:r>
          </a:p>
          <a:p>
            <a:r>
              <a:t>У этого измерения есть вторая половина, и без неё его нельзя произносить. Защитный эффект согласия появляется только тогда, когда подсказка советует стандартное лечение. При нестандартной рекомендации разницы между принявшим и отвергнувшим нет, и это проверено на равнозначность, а не выведено из отсутствия значимости. То есть выгодно не «соглашаться с машиной» вообще, а соглашаться с машиной там, где она советует то, что и так принято. Оговорка разряда тоже обязательна: оценивается разумность поведения в задании, а не исход настоящего иска.</a:t>
            </a:r>
          </a:p>
          <a:p>
            <a:r>
              <a:t/>
            </a:r>
          </a:p>
          <a:p>
            <a:r>
              <a:t>Зачем это сказано здесь, а не в перечне адресов платежа. Адреса — внимание, навык, подпись, арбитраж — называют, чем платят. Это измерение называет не адрес, а причину, по которой платят именно подписью. Поставить его пятым в тот же ряд значило бы смешать два разряда в одном перечне.</a:t>
            </a:r>
          </a:p>
          <a:p>
            <a:r>
              <a:t/>
            </a:r>
          </a:p>
          <a:p>
            <a:r>
              <a:t>И что из него следует для четвёртой ступени участия. До этого места «подписывает не глядя» читалось как упрёк — человек поленился. С этим числом ступень читается иначе: подписать дешевле, чем не согласиться и ошибиться. Поведение рациональное, и поменять его призывом нельзя — меняется оно только там, где меняют сам порядок разбора. Формальное требование участия человека, не подкреплённое изменённым порядком разбора, отменяет себя само: оно требует способности возразить и одновременно делает возражение самым дорогим из доступных ходов.</a:t>
            </a:r>
          </a:p>
          <a:p>
            <a:r>
              <a:t/>
            </a:r>
          </a:p>
          <a:p>
            <a:r>
              <a:t>Приложим шов к женщине с письмом. Если по её случаю через год соберут комиссию, перед комиссией будет один вопрос: соответствовали ли действия человека утверждённым порядкам. Вопроса о модели в этом списке нет — ни о том, какой версией читали её снимок, ни о том, что показала подсказка, ни о том, кто её обучал. Разработчик к этому разбору не вызывается и ответственности за решение о ней не несёт, хотя именно он держит данные, порог и обновления.</a:t>
            </a:r>
          </a:p>
          <a:p>
            <a:r>
              <a:t/>
            </a:r>
          </a:p>
          <a:p>
            <a:r>
              <a:t>**Источники.** </a:t>
            </a:r>
            <a:r>
              <a:rPr u="sng">
                <a:solidFill>
                  <a:srgbClr val="065A82"/>
                </a:solidFill>
                <a:hlinkClick r:id="rId3"/>
              </a:rPr>
              <a:t>Tacconelli и соавт., How Following Medical AI Advice Can Mitigate Malpractice Liability, Journal of Nuclear Medicine 2026;67(9):1474–1480</a:t>
            </a:r>
            <a:r>
              <a:t> — предрегистрированное испытание со случайным распределением: 248 немецких врачей и взрослые двух стран · </a:t>
            </a:r>
            <a:r>
              <a:rPr u="sng">
                <a:solidFill>
                  <a:srgbClr val="065A82"/>
                </a:solidFill>
                <a:hlinkClick r:id="rId4"/>
              </a:rPr>
              <a:t>предшественник, Tobia и соавт., там же 2021;62(1):17–21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формулировку, которая сильнее любого предостережения, и про то, чего в ней нет.</a:t>
            </a:r>
          </a:p>
          <a:p>
            <a:r>
              <a:t/>
            </a:r>
          </a:p>
          <a:p>
            <a:r>
              <a:t>Политика принята Палатой делегатов американской врачебной ассоциации двенадцатого ноября две тысячи двадцать четвёртого года; документ на двадцать две страницы, и пункт один-ж в нём — то, ради чего документ здесь. Он говорит две вещи подряд. Первая: клинические решения, на которые повлияла модель, обязаны иметь назначенные точки квалифицированного человеческого вмешательства. Это обычная формула, её пишут все. Вторая — та, ради которой кадр и стоит: квалифицированный человек определяется как лицензированный врач, обладающий квалификацией и подготовкой, достаточными, чтобы оказать ту же медицинскую услугу самостоятельно, без помощи модели.</a:t>
            </a:r>
          </a:p>
          <a:p>
            <a:r>
              <a:t/>
            </a:r>
          </a:p>
          <a:p>
            <a:r>
              <a:t>Разберём, что это определение делает. Весь вечер мы разбирали износ навыка как расход: врач работает с помощником, и его собственный результат без помощника падает. Это неприятно, но звучит как вопрос профессиональной гигиены. Здесь то же сказано как условие пригодности человека к той роли, которую норма ему назначила. Человек в контуре нужен не для присутствия, а чтобы вмешаться; вмешаться может только тот, кто умеет сделать работу сам; значит врач, разучившийся работать без подсказки, формально перестаёт быть тем человеком, которого требует норма. Схема при этом выглядит исправной: подпись стоит, точка вмешательства назначена, документы в порядке.</a:t>
            </a:r>
          </a:p>
          <a:p>
            <a:r>
              <a:t/>
            </a:r>
          </a:p>
          <a:p>
            <a:r>
              <a:t>Сопоставьте это с разбором доли обнаружения. Девятнадцать эндоскопистов со средним стажем двадцать восемь лет, четыре центра, процедуры без помощника: двадцать восемь целых четыре десятых из ста до внедрения и двадцать две целых четыре десятых после. Разряд свидетельства там низкий, повторения нет, и мы это произносим вслух каждый раз. Но прочитанное рядом с определением квалифицированного человека это измерение меняет жанр: оно перестаёт быть наблюдением о привычках врача и становится замером того, выполняется ли норма.</a:t>
            </a:r>
          </a:p>
          <a:p>
            <a:r>
              <a:t/>
            </a:r>
          </a:p>
          <a:p>
            <a:r>
              <a:t>Та же политика в том же документе требует от разработчика раскрывать происхождение, объём и временные границы обучающих данных, точность разметки, данные внешней проверки с учётом сдвига и деградации модели и наблюдение после выпуска. То есть в части изделия документ подробен до перечня. А в части человека он ограничивается определением.</a:t>
            </a:r>
          </a:p>
          <a:p>
            <a:r>
              <a:t/>
            </a:r>
          </a:p>
          <a:p>
            <a:r>
              <a:t>И теперь то, чего в нём нет, — и это надо произнести ровно так же твёрдо, как саму формулу. Порога нет: не сказано, какая доля самостоятельных прочтений считается достаточной. Срока нет: не сказано, как часто способность работать без подсказки надо подтверждать. Процедуры нет: не сказано, кто и чем эту способность проверяет. Документ, который делает навык условием законности, не даёт ни одного способа узнать, выполнено ли условие.</a:t>
            </a:r>
          </a:p>
          <a:p>
            <a:r>
              <a:t/>
            </a:r>
          </a:p>
          <a:p>
            <a:r>
              <a:t>Сравните с тем, как устроена проверка изделия. У изделия есть заявленное назначение, клинические данные, досье, надзор после допуска и отзыв с рынка. У человека, от которого зависит законность всей схемы, нет ни заявленного назначения, ни досье, ни надзора. Мы уже видели этот перекос числом: способность вмешаться проверяли у пятидесяти шести изделий из семисот семнадцати. Здесь он виден с другой стороны: даже там, где требование к человеку сформулировано точнее всего, измерять его никто не поручил.</a:t>
            </a:r>
          </a:p>
          <a:p>
            <a:r>
              <a:t/>
            </a:r>
          </a:p>
          <a:p>
            <a:r>
              <a:t>Что из этого берёт инженер, который строит контур. Определение годится как рабочий критерий, и применять его можно сразу, не дожидаясь, пока кто-нибудь назначит порог. Если в вашем контуре человеку отведена точка вмешательства, спросите, умеет ли этот человек сделать ту же работу без модели, и чем это подтверждено. Если ответа нет, точка вмешательства в вашем контуре уже стоит формально. И второй вопрос, следующий из той же формулы: что в контуре устроено так, чтобы умение сохранялось. Доля случаев, которые проходят разбор вручную, и собственное мнение, записанное до показа подсказки, — два названных способа, и оба упоминаются в государственных документах по этой теме без единого числа.</a:t>
            </a:r>
          </a:p>
          <a:p>
            <a:r>
              <a:t/>
            </a:r>
          </a:p>
          <a:p>
            <a:r>
              <a:t>**Источники.** </a:t>
            </a:r>
            <a:r>
              <a:rPr u="sng">
                <a:solidFill>
                  <a:srgbClr val="065A82"/>
                </a:solidFill>
                <a:hlinkClick r:id="rId3"/>
              </a:rPr>
              <a:t>Политика Американской медицинской ассоциации о разработке, развёртывании и применении дополненного интеллекта в медицине, принята Палатой делегатов 12 ноября 2024 года, пункт 1(g)</a:t>
            </a:r>
            <a:r>
              <a:t>. Дословная формулировка пункта: «A qualified human is defined as a licensed physician with the necessary qualifications and training to independently provide the same medical service without the aid of AI».</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предварительно утверждённых изменений модели, декабрь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B. и соавт., JAMA Health Forum 2025;6(8):e253172, срез ноябрь 2024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 Каждый пункт свода здесь — ссылка на разобранный кадр, а не новое утверждение: если число в своде вызывает вопрос, ответ стоит искать на кадре, откуда оно пришло, вместе с его знаменателем и разрядом свидетельства.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физического лица — права подписи у модели нет ни в одной из рассмотренных стран, и это не формальность, а основание, на котором стоит вся конструкция раздела. Двойное чтение с арбитражем там, где второго читателя не заменили: механизм рабочий, и ломает его именно замена, а не сам инструмент. Разбор случая после исхода и правка порядка по его итогам — единственный из трёх механизмов, который меняет не поведение одного человека, а документ, по которому работают все.</a:t>
            </a:r>
          </a:p>
          <a:p>
            <a:r>
              <a:t/>
            </a:r>
          </a:p>
          <a:p>
            <a:r>
              <a:t>И то, чего свод не говорит, хотя читается, будто говорит. Ни одно из этих чисел не складывается с другим: прирост доли верных заключений посчитан против одного читателя, минуты труда — в национальной программе двойного чтения, доля изделий без проверки — по поданной документации. Три разные работы, три разных знаменателя. Свод ставит их рядом, чтобы показать направление, и не даёт права на арифметику между ними.</a:t>
            </a:r>
          </a:p>
          <a:p>
            <a:r>
              <a:t/>
            </a:r>
          </a:p>
          <a:p>
            <a:r>
              <a:t>Контраст с прошлой лекцией предъявляется прямо: там требований к искусственному интеллекту внутри промышленных изделий не было вовсе, здесь документ есть — с документами, сроками и измеримым исполнением.</a:t>
            </a:r>
          </a:p>
          <a:p>
            <a:r>
              <a:t/>
            </a:r>
          </a:p>
          <a:p>
            <a:r>
              <a:t>И то, чем раздел кончается, произносится вслух, потому что следующий раздел начинается именно с этого. Удерживает не сама подпись, а то, что стоит за ней: время прочитать вывод, способность с ним не согласиться и процедура, в которой это несогласие что-то меняет. Где за подписью ничего из этого нет, цена ошибки переезжает на того, кто не подписывал. Своего места в сетке задач у стадии нет и быть не может: подписывать модели нечем. Мерят здесь другое — ловит ли процедура, рассчитанная на ошибку человека, ошибку машинную.</a:t>
            </a:r>
          </a:p>
          <a:p>
            <a:r>
              <a:t/>
            </a:r>
          </a:p>
          <a:p>
            <a:r>
              <a:t>**Источники.** </a:t>
            </a:r>
            <a:r>
              <a:rPr u="sng">
                <a:solidFill>
                  <a:srgbClr val="065A82"/>
                </a:solidFill>
                <a:hlinkClick r:id="rId3"/>
              </a:rPr>
              <a:t>обзор поданной регуляторам документации по радиологическим изделиям, JAMA Network Open 2025;8(11):e2542338, срез июнь 2024</a:t>
            </a:r>
            <a:r>
              <a:t> · </a:t>
            </a:r>
            <a:r>
              <a:rPr u="sng">
                <a:solidFill>
                  <a:srgbClr val="065A82"/>
                </a:solidFill>
                <a:hlinkClick r:id="rId4"/>
              </a:rPr>
              <a:t>Hovda, Holen, Hofvind, European Radiology 2026, DOI 10.1007/s00330-025-12273-x</a:t>
            </a:r>
            <a:r>
              <a:t> · </a:t>
            </a:r>
            <a:r>
              <a:rPr u="sng">
                <a:solidFill>
                  <a:srgbClr val="065A82"/>
                </a:solidFill>
                <a:hlinkClick r:id="rId5"/>
              </a:rPr>
              <a:t>Wang D. Y. и соавт., JAMIA 2023;30(10):1684–1692</a:t>
            </a:r>
            <a:r>
              <a:t> · </a:t>
            </a:r>
            <a:r>
              <a:rPr u="sng">
                <a:solidFill>
                  <a:srgbClr val="065A82"/>
                </a:solidFill>
                <a:hlinkClick r:id="rId6"/>
              </a:rPr>
              <a:t>Регламент (ЕС) 2024/1689, статья 14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полной форме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 последнее про женщину с письмом, потому что это прямо её случай. Падение доли обнаружения измерено на эндоскопии: там у врача есть собственный числовой показатель, который считают из обычной работы. У того, кто читает её снимок, такого показателя нет, и отключить помощника, чтобы посмотреть, что стало с его рукой, не пробовал никто. Это и означает «измерения нет»: не «измерено, что ничего не портится», а «не смотрели».</a:t>
            </a:r>
          </a:p>
          <a:p>
            <a:r>
              <a:t/>
            </a:r>
          </a:p>
          <a:p>
            <a:r>
              <a:t>**Источники.** </a:t>
            </a:r>
            <a:r>
              <a:rPr u="sng">
                <a:solidFill>
                  <a:srgbClr val="065A82"/>
                </a:solidFill>
                <a:hlinkClick r:id="rId3"/>
              </a:rPr>
              <a:t>METR, обновление замера, 24 февраля 2026</a:t>
            </a:r>
          </a:p>
          <a:p>
            <a:r>
              <a:t/>
            </a:r>
          </a:p>
          <a:p>
            <a:r>
              <a:t>Оговорка про режим инструмента, снятая с кадра: средство с поправкой прогноза найдено не на подсветке и не на втором чтении, а на совсем другом классе инструмента, поэтому переносить его к нам надо как устройство интерфейса, а не как свойство режима. Режим говорит, где инструмент стоит в работе; возможность поправить вывод — это про то, как он с человеком разговаривает, и прикладывается она к любому режиму.</a:t>
            </a:r>
          </a:p>
          <a:p>
            <a:r>
              <a:t/>
            </a:r>
          </a:p>
          <a:p>
            <a:r>
              <a:t>Про разряд числа «от тридцати до пятидесяти из ста опытных разработчиков отказываются работать без помощника»: это величина опросная — так сказали сами участники, телеметрии за их словами нет. Опрос меряет то, что человек о себе думает, а не то, что он делает; для нашей линии он годится как указание на размер явления и не годится как измерение.</a:t>
            </a:r>
          </a:p>
          <a:p>
            <a:r>
              <a:t/>
            </a:r>
          </a:p>
          <a:p>
            <a:r>
              <a:t>Различение «измерения нет» и «измерено, что эффекта нет» — несущее для всего вечера, и здесь оно применяется к себе. Первое означает, что никто не смотрел; второе — что смотрели и не нашли. Утверждать по первому, что эффекта нет, значит делать ровно ту ошибку, за которую лекция разбирает чужие заявления. Про доверие врача к модели за месяцы реальной работы у нас первое: таких измерений нет ни у кого, и это не фигура речи, а результат сплошного поиска.</a:t>
            </a:r>
          </a:p>
          <a:p>
            <a:r>
              <a:t/>
            </a:r>
          </a:p>
          <a:p>
            <a:r>
              <a:t>Про женщину с письмом. Весь разбор износа навыка снят на эндоскопии — на процедуре, где рука работает в реальном времени. Того, кто читает её снимок, без помощника не измерял никто, и переносить на него эндоскопическое падение нельзя: другая работа, другой темп, другая обратная связь. Пробел этот называется вслух именно потому, что соблазн перенести велик.</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рядом две вещи: чего нет у мировых программ обучения и почему мы всё-таки произносим слабое измерение вместо того, чтобы молчать.</a:t>
            </a:r>
          </a:p>
          <a:p>
            <a:r>
              <a:t/>
            </a:r>
          </a:p>
          <a:p>
            <a:r>
              <a:t>Начнём с чертежа. Отчёт государственного органа образования Англии вместе с лабораторией ИИ национальной службы здравоохранения, май двадцать второго года, девяносто страниц. Это не курс, а основание для курса, и по содержанию он сильнее всего, что есть в собранном корпусе: именно там лежит единственная таксономия искажений на стороне врача, и устроена она парами в обе стороны — склонность принять подсказку без критики и склонность отвергнуть её без рассмотрения, согласие потому, что совпало с интуицией, и отказ потому, что не совпал. Ни одна из двух с лишним десятков прочитанных программ этой парности не передаёт: везде, где тема есть, она подана односторонне, как «не доверяй слишком».</a:t>
            </a:r>
          </a:p>
          <a:p>
            <a:r>
              <a:t/>
            </a:r>
          </a:p>
          <a:p>
            <a:r>
              <a:t>И в этом самом документе тема доведена до графика. На осях — уверенность пользователя и уместная уверенность, обе в процентах. Поля под осями нет. То есть автор знал, что именно надо измерить, назвал величины, нарисовал рамку — и остановился там, где должны были встать точки.</a:t>
            </a:r>
          </a:p>
          <a:p>
            <a:r>
              <a:t/>
            </a:r>
          </a:p>
          <a:p>
            <a:r>
              <a:t>Теперь счёт по остальному корпусу, и он сделан сплошным проходом по полным текстам, а не впечатлением. Силлабус четырёх врачебных обществ двадцать пятого года — программа по четырём ролям, шесть тысяч сто девяносто шесть слов. Слова «износ навыка», «якорение», «самоуспокоение», «чрезмерное доверие» — ноль вхождений каждое. Слово «нагрузка» — тоже ноль. Крупнейшая врачебная программа по ИИ, пятьдесят четыре с половиной кредита непрерывного образования, шестьдесят часов: на эту тему в ней одно видео на пять минут, то есть ноль целых пятнадцать сотых процента программы. Обзор рынка обучающих программ двадцать первого года: ноль вхождений. Белая книга европейского общества радиологов описывает механизм подробно и не приводит ни одного числа.</a:t>
            </a:r>
          </a:p>
          <a:p>
            <a:r>
              <a:t/>
            </a:r>
          </a:p>
          <a:p>
            <a:r>
              <a:t>А теперь другая сторона того же разрыва. Поиск в медицинском указателе по этой теме — искажение внимания и самоуспокоение у врачей, с ограничением на опыты и испытания — даёт больше тысячи совпадений. Оговорка обязательна и стоит на самом кадре: читался указатель, то есть названия, журналы, годы и опознаватели; полные тексты в рамках этой разведки не читались, и в доказательство по содержанию это не берётся. Но для утверждения, которое кадр делает, этого достаточно: работы существуют, и их много. Разрыв не между «измерено» и «не измерено», а между измеренным и тем, что доходит до программы обучения.</a:t>
            </a:r>
          </a:p>
          <a:p>
            <a:r>
              <a:t/>
            </a:r>
          </a:p>
          <a:p>
            <a:r>
              <a:t>Зачем это студенту, который не собирается ни в медицину, ни в преподавание. Затем, что такой разрыв узнаётся по признаку, а не по отрасли. Если тема объявлена во всех документах, описана механизмом и ни в одном не имеет величины, значит её никто не мерил или никто не захотел переносить измерение в требование. Любая ваша будущая предметная область устроена так же: частое утверждение в документах и измеренное утверждение — разные вещи.</a:t>
            </a:r>
          </a:p>
          <a:p>
            <a:r>
              <a:t/>
            </a:r>
          </a:p>
          <a:p>
            <a:r>
              <a:t>И про нас самих, потому что честнее сказать это здесь, чем в закрытии. Наше собственное единственное измерение износа навыка на реальной работе — ретроспективное, наблюдательное, снятое один раз в одной стране и оспоренное в печати тремя письмами. Мы произносим эти оговорки каждый раз, когда называем числа двадцать восемь целых четыре десятых и двадцать две целых четыре десятых. Можно было бы вовсе его не брать — и тогда на этом месте у нас стояли бы те же пустые оси, что у самого подробного документа корпуса. Слабое измерение, названное слабым, стоит дороже сильного вывода без измерения; выбор между ними — и есть предмет этого вечера.</a:t>
            </a:r>
          </a:p>
          <a:p>
            <a:r>
              <a:t/>
            </a:r>
          </a:p>
          <a:p>
            <a:r>
              <a:t>Что именно подписано на осях единственного чертежа темы: уверенность пользователя против уместной уверенности, обе в процентах. То есть автор дошёл до того, чтобы назвать обе величины и привести их к одной шкале, — и остановился, потому что точек под ними нет ни одной. Счёт по силлабусам сделан сплошной: полный текст четырёх врачебных обществ, 6 196 слов, ноль вхождений трёх терминов.</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клетки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Прочерк произносится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клетками, и причина в самом разделе: ни одной клетки он окну не прибавил.</a:t>
            </a:r>
          </a:p>
          <a:p>
            <a:r>
              <a:t/>
            </a:r>
          </a:p>
          <a:p>
            <a:r>
              <a:t>Двенадцать клеток окна — это четыре строки задач на три вида данных, оси и порядок те же, что были объявлены в начале вечера. За семь разделов занято четыре клетки, и те же четыре стояли уже два раздела назад. Восемь клеток пусты с раздела об анализе данных, и читать надо именно их: прочерк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и сравнить итог с обещанием станет невозможно.</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клеткой этого раздела в сетке стоит распознавание на снимке в режиме второго читателя — клетку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клеток. Доверие к выводу модели, его калибровка, готовность человека работать без инструмента — всё это клетки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 Отсюда и правило чтения любой такой сетки: имя клетки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клетка раздела лежит именно там. Окно курсовой сетки объявлено на входе лекции и собрано под клинику, где читают снимок, текст и карту показателей. Дописать в него столбец посреди вечера значит отменить то, что залу обещано на первом кадре, и сделать сетку такой, под которую любой случай подойдёт.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a:p>
            <a:r>
              <a:t/>
            </a:r>
          </a:p>
          <a:p>
            <a:r>
              <a:t>Отдельно оговорить границу раздела, снятую с кадра: производство лекарственной формы на линии сюда не входит — это отдельная лекция курса. Здесь речь только о том, как вещество находят и доводят до испытаний, а не о том, как его потом делают тоннами.</a:t>
            </a:r>
          </a:p>
          <a:p>
            <a:r>
              <a:t/>
            </a:r>
          </a:p>
          <a:p>
            <a:r>
              <a:t>**Источники.** </a:t>
            </a:r>
            <a:r>
              <a:rPr u="sng">
                <a:solidFill>
                  <a:srgbClr val="065A82"/>
                </a:solidFill>
                <a:hlinkClick r:id="rId3"/>
              </a:rPr>
              <a:t>BIO, QLS и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стоит не внутри цикла помощи человеку, а выше него по течению: здесь появляется то, что на стадии назначения потом назначают. Поэтому и предмет замера здесь другой — не человек, а вещество, и решение принимается не о пациенте.</a:t>
            </a:r>
          </a:p>
          <a:p>
            <a:r>
              <a:t/>
            </a:r>
          </a:p>
          <a:p>
            <a:r>
              <a:t>Какие данные получают и чем. Связи «мишень — болезнь — препарат» берут из литературы и баз; строение молекулы — из синтеза и расчёта; поведение вещества — из опытов на культурах клеток и животных; и только потом идут наблюдения у людей, сначала у здоровых добровольцев, затем у пациентов. Способов семь, и они дают разное по цене и по сроку: расчёт на машине стоит часов, опыт на животных — месяцев, наблюдение у пациентов — лет.</a:t>
            </a:r>
          </a:p>
          <a:p>
            <a:r>
              <a:t/>
            </a:r>
          </a:p>
          <a:p>
            <a:r>
              <a:t>Путь складывается из шагов, и у каждого свой исполнитель. Мишень — что в организме надо затронуть, чтобы болезнь пошла иначе; выбирают биологи. Молекула — вещество, которое на эту мишень действует; подбирают химики. Доклиника — проверка на культурах клеток и животных: работает ли, не убивает ли, как выводится. Фаза I — впервые на человеке, обычно на здоровых добровольцах, и вопрос один: переносимость. Фаза II — на пациентах, вопрос другой: работает ли вообще и в какой дозе. Фаза III — на больших выборках, подтверждение эффекта и редких нежелательных явлений. Затем заявка и регистрация.</a:t>
            </a:r>
          </a:p>
          <a:p>
            <a:r>
              <a:t/>
            </a:r>
          </a:p>
          <a:p>
            <a:r>
              <a:t>Чтобы «фаза II» перестала быть словом, стоит посмотреть на работу руками. Химик-синтетик ставит реакцию и получает миллиграммы вещества. Тот же порошок через полгода едет в виварий на токсикологию: доза, переносимость, патология органов у животных. Ещё через год координатор исследования сидит с одним здоровым добровольцем и часами пишет наблюдения в карту первой фазы. Три человека, три места, одно вещество, и между первым эпизодом и третьим проходит около двух лет.</a:t>
            </a:r>
          </a:p>
          <a:p>
            <a:r>
              <a:t/>
            </a:r>
          </a:p>
          <a:p>
            <a:r>
              <a:t>Отсюда и ответ, почему стадия стоит именно здесь, а не шагом внутри цикла. Шаг, на который приходится вычисление, один, и он в начале, у химика и биолога. Весь остальной путь делают руками люди, и его длина от вычислений не зависит вовсе. Классический путь «мишень → клинический кандидат» занимает четыре-пять лет по отраслевой норме, медиана «основание компании → начало первой фазы» — шесть с половиной лет, а между решением и подтверждением здесь лежит порядка десяти лет и больше, считая наблюдение после выхода на рынок. Такой задержки обратной связи нет ни на одной клинической стадии вечера.</a:t>
            </a:r>
          </a:p>
          <a:p>
            <a:r>
              <a:t/>
            </a:r>
          </a:p>
          <a:p>
            <a:r>
              <a:t>Теперь база, без которой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 Из первой фазы во вторую проходит чуть больше половины программ, из второй в третью — меньше трети. Итог пути от первой фазы до одобрения — 7,9 процента: из примерно тринадцати программ, вошедших в клинику, лекарством становится одна. Плотнее всего отсев в середине, не в начале и не в конце.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a:t>
            </a:r>
          </a:p>
          <a:p>
            <a:r>
              <a:t/>
            </a:r>
          </a:p>
          <a:p>
            <a:r>
              <a:t>**Источники.** </a:t>
            </a:r>
            <a:r>
              <a:rPr u="sng">
                <a:solidFill>
                  <a:srgbClr val="065A82"/>
                </a:solidFill>
                <a:hlinkClick r:id="rId3"/>
              </a:rPr>
              <a:t>BIO / QLS / Informa, Clinical Development Success Rates 2011–2020</a:t>
            </a:r>
          </a:p>
          <a:p>
            <a:r>
              <a:t/>
            </a:r>
          </a:p>
          <a:p>
            <a:r>
              <a:t>Про знаменатель, сжатый на плашке до «1 779 компаний, 2011–2020»: считаны там переходы, а не программы, и это разные единицы — 12 728 переходов пришли из 9 704 программ.</a:t>
            </a:r>
          </a:p>
          <a:p>
            <a:r>
              <a:t/>
            </a:r>
          </a:p>
          <a:p>
            <a:r>
              <a:t>Разброс по областям произносится обязательно, иначе средняя читается как предсказание: и 48,1 процента в гематологии, и 15,0 в урологии лежат внутри той же базы, из которой получилась средняя 28,9.</a:t>
            </a:r>
          </a:p>
          <a:p>
            <a:r>
              <a:t/>
            </a:r>
          </a:p>
          <a:p>
            <a:r>
              <a:t>Число 7,9 процента от фазы I до одобрения получено отдельным счётом по тому же корпусу, а не перемножением трёх долей: доли разных фаз посчитаны на разных знаменателях и не перемножаются.</a:t>
            </a:r>
          </a:p>
          <a:p>
            <a:r>
              <a:t/>
            </a:r>
          </a:p>
          <a:p>
            <a:r>
              <a:t>И главное, ради чего кадр стоит: это база. Всё, что в разделе скажут про ускорение и удешевление, сравнивается с этими тремя числами, и названы они раньше любого сравнения.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А вот у третьего классического порядка — физического перебора на шаге поиска молекулы — числа есть, и они проверяемы: библиотеку в один-три миллиона соединений прогоняют через опыт, попаданий выходит один-два процента. Метод назван, знаменатель назван, и именно с этой парой чисел надо сверять заявленные доли попаданий у модельного отбора. Разница между «число слабое» и «числа нет» здесь видна в одном разделе дважды: у экспертного отбора повторяемость не измерена вовсе, у физического перебора измерена и опубликована.</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a:p>
            <a:r>
              <a:t/>
            </a:r>
          </a:p>
          <a:p>
            <a:r>
              <a:t>Почему цена отброшенной годной молекулы не измеряется вовсе, а не «измеряется плохо». Чтобы её измерить, надо было бы довести отброшенное до людей и посмотреть, что вышло, — то есть провести ровно тот эксперимент, от которого отбор и отказался. Цена эта поэтому не маленькая и не большая, она неизвестная, и никакой отбор её себе не предъявляет. Цена противоположной ошибки измерима прямо: месяцы работы центра и здоровые добровольцы под дозой.</a:t>
            </a:r>
          </a:p>
          <a:p>
            <a:r>
              <a:t/>
            </a:r>
          </a:p>
          <a:p>
            <a:r>
              <a:t>Две строки столбцов, снятые с кадра. У первого режима цена считается в месяцах работы центра — она измерима, и это её главное свойство. У второго ошибки не увидит никто, потому что эксперимента не было: отброшенная молекула до людей не дошла, и проверить решение нечем. Именно эта несимметричность, а не разница в качестве отбора, делает два режима несравнимыми по цене ошибки.</a:t>
            </a:r>
          </a:p>
          <a:p>
            <a:r>
              <a:t/>
            </a:r>
          </a:p>
          <a:p>
            <a:r>
              <a:t>Почему у двух классических режимов счёт один и тот же. Отчёт, из которого взяты 52,0 · 28,9 · 7,9, считает отрасль целиком и разделения на «вели в клинику всё синтезированное» и «вели только прошедшее экспертный отбор» не проводит. Поэтому назвать, какой из режимов даёт какую долю, нечем ни одним источником — и графа второго шага здесь закрывается честно: второй режим назван без своего числа, и сказано это на месте, а не замазано средней по отрасли.</a:t>
            </a:r>
          </a:p>
          <a:p>
            <a:r>
              <a:t/>
            </a:r>
          </a:p>
          <a:p>
            <a:r>
              <a:t>Про экспертный отбор как режим. Это совет из химиков, биологов и токсикологов, решающий по опыту и литературе. Протоколом решение не описано, повторяемость никто не замерял — то есть у режима нет ни документированной процедуры, ни меры согласия между экспертами. Сравнивать с ним модель строго нельзя; можно только сказать, что он существует и что отрасль работает им.</a:t>
            </a:r>
          </a:p>
          <a:p>
            <a:r>
              <a:t/>
            </a:r>
          </a:p>
          <a:p>
            <a:r>
              <a:t>Отсюда вывод кадра, и произносить его надо медленно: пока сравнения с этими числами нет, фраза «модель ускорила разработку» говорит исключительно про тот шаг, на котором модель применили, и ничего — про срок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a:p>
            <a:r>
              <a:t/>
            </a:r>
          </a:p>
          <a:p>
            <a:r>
              <a:t>Детали испытания, снятые с плашек. Фаза IIa: 91 пациент от 18 до 65 лет, 28 дней нанесения, рандомизированное двойное слепое с плацебо. Первичная точка — безопасность — достигнута; не достигнуты точки эффективности, тяжесть экземы и зуд: плацебо не превзойдено ни по одной. Расплата шла волнами: минус 180 мест сразу, годом позже ещё минус тридцать процентов штата, следом офис за рубежом, смена руководителя и переход на сервисную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a:p>
            <a:r>
              <a:t/>
            </a:r>
          </a:p>
          <a:p>
            <a:r>
              <a:t>Почему эти два идут упоминанием, а не разбором: оба числа заявлены самими компаниями и внешней проверки не имеют. По правилу отбора такое на отдельный разбор не идёт, но из лекции не выбрасывается — упоминание с числом и названной базой есть ровно тот разряд, который им положен.</a:t>
            </a:r>
          </a:p>
          <a:p>
            <a:r>
              <a:t/>
            </a:r>
          </a:p>
          <a:p>
            <a:r>
              <a:t>Снятое со свода, и всё это произносится. Доклиника сжата — заявлено меньше двенадцати месяцев вместо нескольких лет, и оба конца сравнения назвала сама компания. Три формы на кадре стоят одной строкой, а разводятся так: нагрузка переехала на другой шаг — и на молекуле, и на отрасли; объём на том же месте упал — шаг тот же, исполнитель тот же, итераций меньше; порядок работ изменился на масштабе модели бизнеса, препарата это не касается. Воронка 52,0 · 28,9 · 7,9 — та база, без которой ни одно сравнение кадра не читается, и назвать её надо прежде первого «чаще базы».</a:t>
            </a:r>
          </a:p>
          <a:p>
            <a:r>
              <a:t/>
            </a:r>
          </a:p>
          <a:p>
            <a:r>
              <a:t>Два упоминания, снятые со свода на кадре, произносятся здесь, каждое с числом и базой. Молекула за год: доклиника заявлена короче двенадцати месяцев против четырёх с половиной лет обычного срока — оба конца этого сравнения назвала сама компания, снята молекула на первой фазе, база перехода там 52,0 из ста. Воронка категории: переход второй фазы около сорока против базы 28,9, то есть сопоставимо, а одобрений за десять лет ноль при 75 и 117 активах в клинике. Ни одно из двух на отдельный разбор не идёт: внешней проверки у чисел нет.</a:t>
            </a:r>
          </a:p>
          <a:p>
            <a:r>
              <a:t/>
            </a:r>
          </a:p>
          <a:p>
            <a:r>
              <a:t>Вопрос залу раздела стоит на этом кадре, и задаётся он после того, как ось раздела закрыта числами: у кого на работе есть шаг, который подешевел в разы, и стало ли от этого быстрее всё остальное. Короткий ответ, которым разговор замыкается, если зал молчит: здесь — не стало, и именно это считано. Ранний шаг разработки подешевел многократно, а узкое место стоит дальше по пути и не подешевело ни на сколько; поэтому мерить надо тот шаг, которого вы не трогали, а не тот, который удешевили. Прежде эта мысль стояла на кадре утверждением — вопросом она делает ту же работу и отдаёт её залу, у которого такой шаг почти наверняка есть: сборка, прогон тестов, генерация кода.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клетке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два прочерка,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оба прочерка названы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и на кадре они названы девятью из пятнадцати.</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a:p>
            <a:r>
              <a:t/>
            </a:r>
          </a:p>
          <a:p>
            <a:r>
              <a:t>Про семь строк реестра, оставшихся за кадром: четыре лишились своего кадра при сокращении деки и живут теперь только в главе, три стоят условно — их адрес лежит за другим разделом, и подтвердить их этим вечером нечем. В счёт подтверждённых они не идут ни одна.</a:t>
            </a:r>
          </a:p>
          <a:p>
            <a:r>
              <a:t/>
            </a:r>
          </a:p>
          <a:p>
            <a:r>
              <a:t>Цены по первой графе, снятые с кадра: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 Перепутанные обзором первоисточники тоже называются числом: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и для курса третья графа весит столько же, сколько две первые: пересказ встречается чаще, чем первоисточник.</a:t>
            </a:r>
          </a:p>
          <a:p>
            <a:r>
              <a:t/>
            </a:r>
          </a:p>
          <a:p>
            <a:r>
              <a:t>Про четвёртое число, снятое с кадра кругом диеты. Прежде рядом со «восемь из пятнадцати» стояло «свой разбор есть у четырёх из девяти» — и зал читал два знаменателя как один счёт. Оно считает КАДРЫ, а не номинации, и по этой деке два счёта разошлись: сплошной проход (`deck/SCHET-RAZBOROV.md`) даёт разборов 17, а кадров под ними 32, после свёртки шести пар. Всякий счёт, выведенный умножением разборов на два, разойдётся. Если вопрос придёт именно сюда, отвечать надо так: номинаций пятнадцать, подтверждённых восемь, на экране девять, своим кадром из них шли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названы во входе.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прочерков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первичным скринингом, инструментальной диагностикой и постановкой диагноза. Распознавание на изображении трижды — скринингом, диагнозом и надзором.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a:p>
            <a:r>
              <a:t/>
            </a:r>
          </a:p>
          <a:p>
            <a:r>
              <a:t>Про клетку «прогноз на структурированных данных», в которой стоят сразу три раздела — анализ, наблюдение и лекарство. Это самая населённая клетка вечера, и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клетки говорить надо так же прямо, как про занятые: в восемь из двенадцати за восемь разделов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клетка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охват снимка сузился с 11,1 до 9,5 процента площади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стоит прочерк, и он объявлен был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196/94450" TargetMode="External"/><Relationship Id="rId3" Type="http://schemas.openxmlformats.org/officeDocument/2006/relationships/hyperlink" Target="https://doi.org/10.1056/NEJMoa1804710"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lmed.org/tools/xray"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doi.org/10.1038/s41467-023-44676-z"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038/s42256-021-00307-0"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45/3313831.3376718"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91-024-02850-w" TargetMode="External"/><Relationship Id="rId3" Type="http://schemas.openxmlformats.org/officeDocument/2006/relationships/hyperlink" Target="https://arxiv.org/abs/2102.09692"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38/s41746-026-02545-1"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doi.org/10.2967/jnumed.120.256032"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eb.archive.org/web/2026/https://www.ama-assn.org/system/files/ama-ai-principles.pdf"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doi.org/10.1016/j.gie.2014.07.058"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digital-transformation.hee.nhs.uk/binaries/content/assets/digital-transformation/dart-ed/understandingconfidenceinai-may22.pdf" TargetMode="External"/><Relationship Id="rId4" Type="http://schemas.openxmlformats.org/officeDocument/2006/relationships/hyperlink" Target="https://doi.org/10.1007/s10278-025-01485-8" TargetMode="Externa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10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Поперёк цикла — ещё две:</a:t>
            </a:r>
            <a:r>
              <a:rPr sz="14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450" b="1" i="0">
                <a:solidFill>
                  <a:srgbClr val="21295C"/>
                </a:solidFill>
                <a:latin typeface="Arial"/>
              </a:rPr>
              <a:t>Выше по течению:</a:t>
            </a:r>
            <a:r>
              <a:rPr sz="1450" b="0" i="0">
                <a:solidFill>
                  <a:srgbClr val="21295C"/>
                </a:solidFill>
                <a:latin typeface="Arial"/>
              </a:rPr>
              <a:t> разработка лекарств.</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Контингент.</a:t>
            </a:r>
            <a:r>
              <a:rPr sz="1450" b="0" i="0">
                <a:solidFill>
                  <a:srgbClr val="21295C"/>
                </a:solidFill>
                <a:latin typeface="Arial"/>
              </a:rPr>
              <a:t> Смотреть можно только позванного.</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Знаменатель.</a:t>
            </a:r>
            <a:r>
              <a:rPr sz="1450" b="0" i="0">
                <a:solidFill>
                  <a:srgbClr val="21295C"/>
                </a:solidFill>
                <a:latin typeface="Arial"/>
              </a:rPr>
              <a:t> Доли считаются в группе, которую собрал отбор.</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Рабочая точка.</a:t>
            </a:r>
            <a:r>
              <a:rPr sz="1450" b="0" i="0">
                <a:solidFill>
                  <a:srgbClr val="21295C"/>
                </a:solidFill>
                <a:latin typeface="Arial"/>
              </a:rPr>
              <a:t> Порог «болен» назначает протокол под цену исхода.</a:t>
            </a:r>
          </a:p>
        </p:txBody>
      </p:sp>
      <p:sp>
        <p:nvSpPr>
          <p:cNvPr id="27" name="Rectangle 26"/>
          <p:cNvSpPr/>
          <p:nvPr/>
        </p:nvSpPr>
        <p:spPr>
          <a:xfrm>
            <a:off x="6091275" y="4662584"/>
            <a:ext cx="9144" cy="1524695"/>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получают данные и как решают без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Четыре</a:t>
            </a:r>
          </a:p>
        </p:txBody>
      </p:sp>
      <p:sp>
        <p:nvSpPr>
          <p:cNvPr id="5" name="Rounded Rectangle 4"/>
          <p:cNvSpPr/>
          <p:nvPr/>
        </p:nvSpPr>
        <p:spPr>
          <a:xfrm>
            <a:off x="1920240"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439894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687765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Rounded Rectangle 10"/>
          <p:cNvSpPr/>
          <p:nvPr/>
        </p:nvSpPr>
        <p:spPr>
          <a:xfrm>
            <a:off x="935636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4" name="Rounded Rectangle 13"/>
          <p:cNvSpPr/>
          <p:nvPr/>
        </p:nvSpPr>
        <p:spPr>
          <a:xfrm>
            <a:off x="1920240"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5225186"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07482"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Приглашение по регистру</a:t>
            </a:r>
          </a:p>
        </p:txBody>
      </p:sp>
      <p:sp>
        <p:nvSpPr>
          <p:cNvPr id="18" name="Rounded Rectangle 17"/>
          <p:cNvSpPr/>
          <p:nvPr/>
        </p:nvSpPr>
        <p:spPr>
          <a:xfrm>
            <a:off x="8530132"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8612428"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20" name="TextBox 19"/>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способов получить данные о человеке</a:t>
            </a:r>
          </a:p>
        </p:txBody>
      </p:sp>
      <p:sp>
        <p:nvSpPr>
          <p:cNvPr id="21" name="Rounded Rectangle 20"/>
          <p:cNvSpPr/>
          <p:nvPr/>
        </p:nvSpPr>
        <p:spPr>
          <a:xfrm>
            <a:off x="374904" y="3246671"/>
            <a:ext cx="11441887" cy="2989536"/>
          </a:xfrm>
          <a:prstGeom prst="roundRect">
            <a:avLst>
              <a:gd name="adj" fmla="val 1019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338111"/>
            <a:ext cx="5373471" cy="2898096"/>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Как решают без модели — классические режимы по именам.</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Отбор</a:t>
            </a:r>
            <a:r>
              <a:rPr sz="145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Диагностика</a:t>
            </a:r>
            <a:r>
              <a:rPr sz="1450" b="0" i="0">
                <a:solidFill>
                  <a:srgbClr val="21295C"/>
                </a:solidFill>
                <a:latin typeface="Arial"/>
              </a:rPr>
              <a:t> — пара «чувствительность и специфичность» при рабочей точке протокола.</a:t>
            </a:r>
          </a:p>
        </p:txBody>
      </p:sp>
      <p:sp>
        <p:nvSpPr>
          <p:cNvPr id="23" name="TextBox 22"/>
          <p:cNvSpPr txBox="1"/>
          <p:nvPr/>
        </p:nvSpPr>
        <p:spPr>
          <a:xfrm>
            <a:off x="6278727" y="3338111"/>
            <a:ext cx="5373471" cy="289809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Диагноз</a:t>
            </a:r>
            <a:r>
              <a:rPr sz="145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Наблюдение</a:t>
            </a:r>
            <a:r>
              <a:rPr sz="145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Документация</a:t>
            </a:r>
            <a:r>
              <a:rPr sz="1450" b="0" i="0">
                <a:solidFill>
                  <a:srgbClr val="21295C"/>
                </a:solidFill>
                <a:latin typeface="Arial"/>
              </a:rPr>
              <a:t> — структура записи, вычитка, подпись, выписной эпикриз.</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Надзор</a:t>
            </a:r>
            <a:r>
              <a:rPr sz="1450" b="0" i="0">
                <a:solidFill>
                  <a:srgbClr val="21295C"/>
                </a:solidFill>
                <a:latin typeface="Arial"/>
              </a:rPr>
              <a:t> — разбор случая после исхода и изменение порядка работы.</a:t>
            </a:r>
          </a:p>
        </p:txBody>
      </p:sp>
      <p:sp>
        <p:nvSpPr>
          <p:cNvPr id="24" name="Rectangle 23"/>
          <p:cNvSpPr/>
          <p:nvPr/>
        </p:nvSpPr>
        <p:spPr>
          <a:xfrm>
            <a:off x="6091275" y="3338111"/>
            <a:ext cx="9144" cy="2851131"/>
          </a:xfrm>
          <a:prstGeom prst="rect">
            <a:avLst/>
          </a:prstGeom>
          <a:solidFill>
            <a:srgbClr val="D9E2EC"/>
          </a:solidFill>
          <a:ln>
            <a:noFill/>
          </a:ln>
          <a:effectLst/>
        </p:spPr>
        <p:txBody>
          <a:bodyPr rtlCol="0" anchor="ctr"/>
          <a:lstStyle/>
          <a:p>
            <a:pPr algn="ct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модель стоит и где её нет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 четыре клетки</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распознавание на изображении — чтение исследований</a:t>
            </a:r>
          </a:p>
          <a:p>
            <a:pPr algn="l">
              <a:lnSpc>
                <a:spcPct val="126000"/>
              </a:lnSpc>
            </a:pPr>
            <a:r>
              <a:rPr sz="1450" b="0" i="0">
                <a:solidFill>
                  <a:srgbClr val="21295C"/>
                </a:solidFill>
                <a:latin typeface="Arial"/>
              </a:rPr>
              <a:t>• прогноз на структурированных данных — раннее предупреждение</a:t>
            </a:r>
          </a:p>
          <a:p>
            <a:pPr algn="l">
              <a:lnSpc>
                <a:spcPct val="126000"/>
              </a:lnSpc>
            </a:pPr>
            <a:r>
              <a:rPr sz="1450" b="0" i="0">
                <a:solidFill>
                  <a:srgbClr val="21295C"/>
                </a:solidFill>
                <a:latin typeface="Arial"/>
              </a:rPr>
              <a:t>• поиск и генерация на тексте — запись приёма</a:t>
            </a:r>
          </a:p>
          <a:p>
            <a:pPr algn="l">
              <a:lnSpc>
                <a:spcPct val="126000"/>
              </a:lnSpc>
            </a:pPr>
            <a:r>
              <a:rPr sz="1450" b="0" i="0">
                <a:solidFill>
                  <a:srgbClr val="21295C"/>
                </a:solidFill>
                <a:latin typeface="Arial"/>
              </a:rPr>
              <a:t>• генерация структуры — молекула под мишень</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 пятая клетка и четыре прочерка</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исполнитель с выключенным инструментом — процедуры нет</a:t>
            </a:r>
          </a:p>
          <a:p>
            <a:pPr algn="l">
              <a:lnSpc>
                <a:spcPct val="126000"/>
              </a:lnSpc>
            </a:pPr>
            <a:r>
              <a:rPr sz="1450" b="0" i="0">
                <a:solidFill>
                  <a:srgbClr val="21295C"/>
                </a:solidFill>
                <a:latin typeface="Arial"/>
              </a:rPr>
              <a:t>• пациенту в операционной — ни одного исхода</a:t>
            </a:r>
          </a:p>
          <a:p>
            <a:pPr algn="l">
              <a:lnSpc>
                <a:spcPct val="126000"/>
              </a:lnSpc>
            </a:pPr>
            <a:r>
              <a:rPr sz="1450" b="0" i="0">
                <a:solidFill>
                  <a:srgbClr val="21295C"/>
                </a:solidFill>
                <a:latin typeface="Arial"/>
              </a:rPr>
              <a:t>• долгосрочный исход — не измерен ни разу</a:t>
            </a:r>
          </a:p>
          <a:p>
            <a:pPr algn="l">
              <a:lnSpc>
                <a:spcPct val="126000"/>
              </a:lnSpc>
            </a:pPr>
            <a:r>
              <a:rPr sz="1450" b="0" i="0">
                <a:solidFill>
                  <a:srgbClr val="21295C"/>
                </a:solidFill>
                <a:latin typeface="Arial"/>
              </a:rPr>
              <a:t>• график смен: 32,0 → 6,0 часа в месяц, не нейросеть</a:t>
            </a:r>
          </a:p>
          <a:p>
            <a:pPr algn="l">
              <a:lnSpc>
                <a:spcPct val="126000"/>
              </a:lnSpc>
            </a:pPr>
            <a:r>
              <a:rPr sz="1450" b="0" i="0">
                <a:solidFill>
                  <a:srgbClr val="21295C"/>
                </a:solidFill>
                <a:latin typeface="Arial"/>
              </a:rPr>
              <a:t>• «кого не лечить»: формула по 21 гену, не нейросеть</a:t>
            </a:r>
          </a:p>
        </p:txBody>
      </p:sp>
      <p:sp>
        <p:nvSpPr>
          <p:cNvPr id="10" name="Rounded Rectangle 9"/>
          <p:cNvSpPr/>
          <p:nvPr/>
        </p:nvSpPr>
        <p:spPr>
          <a:xfrm>
            <a:off x="374904" y="4535424"/>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Грубое распознавание и черновик текста работают. Диагноз и ответственное решение о человеке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Контингент, знаменатель и рабочая точка назначены на отборе — первый вопрос вечера: кого позвали. Дальше — письмо по возрасту.</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Shia и соавт., JMIR Nursing 2026</a:t>
            </a:r>
            <a:r>
              <a:rPr sz="1200" b="0" i="1">
                <a:solidFill>
                  <a:srgbClr val="1C7293"/>
                </a:solidFill>
                <a:latin typeface="Arial"/>
              </a:rPr>
              <a:t> · </a:t>
            </a:r>
            <a:r>
              <a:rPr sz="1200" b="0" i="1" u="sng">
                <a:solidFill>
                  <a:srgbClr val="065A82"/>
                </a:solidFill>
                <a:latin typeface="Arial"/>
                <a:hlinkClick r:id="rId3"/>
              </a:rPr>
              <a:t>Sparano и соавт., NEJM 2018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Письмо по возрасту: кто смотрел снимок первым</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ПОЗВАЛИ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 возрасту и интервалу</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 документ</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ВЗГЛЯД НА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секунды</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браузер, без допуска и денег</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ПОДПИСЬ: ПЕРЕДАНА → ПРИНЯТА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бесплатно → у 56 из 717</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из ста, июнь 2024</a:t>
            </a:r>
          </a:p>
        </p:txBody>
      </p:sp>
      <p:sp>
        <p:nvSpPr>
          <p:cNvPr id="16" name="Rounded Rectangle 15"/>
          <p:cNvSpPr/>
          <p:nvPr/>
        </p:nvSpPr>
        <p:spPr>
          <a:xfrm>
            <a:off x="374904" y="2982641"/>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пятьдесят четыре года, жалоб у неё нет. Снимок делает лаборант.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Решается про неё одно: есть на снимке находка или нет.</a:t>
            </a:r>
            <a:r>
              <a:rPr sz="1500" b="0" i="0">
                <a:solidFill>
                  <a:srgbClr val="21295C"/>
                </a:solidFill>
                <a:latin typeface="Arial"/>
              </a:rPr>
              <a:t> Пропустили — лечить будут позже и хуже. Позвали лишнего — биопсия и недели с открытым вопросом.</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Смотрит её снимок первым уже не человек:</a:t>
            </a:r>
            <a:r>
              <a:rPr sz="1500" b="0" i="0">
                <a:solidFill>
                  <a:srgbClr val="21295C"/>
                </a:solidFill>
                <a:latin typeface="Arial"/>
              </a:rPr>
              <a:t> страница в браузере, восемнадцать патологий — и строка </a:t>
            </a:r>
            <a:r>
              <a:rPr sz="1500" b="1" i="0">
                <a:solidFill>
                  <a:srgbClr val="21295C"/>
                </a:solidFill>
                <a:latin typeface="Arial"/>
              </a:rPr>
              <a:t>«не для диагностики»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Строка не о точности — она называет отвечающего:</a:t>
            </a:r>
            <a:r>
              <a:rPr sz="1500" b="0" i="0">
                <a:solidFill>
                  <a:srgbClr val="21295C"/>
                </a:solidFill>
                <a:latin typeface="Arial"/>
              </a:rPr>
              <a:t> решение на том, кто посмотрит вторым.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Получали ли вы результат обследования раньше, чем его прочитал врач?</a:t>
            </a:r>
          </a:p>
        </p:txBody>
      </p:sp>
      <p:sp>
        <p:nvSpPr>
          <p:cNvPr id="19" name="Rectangle 18"/>
          <p:cNvSpPr/>
          <p:nvPr/>
        </p:nvSpPr>
        <p:spPr>
          <a:xfrm>
            <a:off x="6091275" y="3074081"/>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Cohen и соавт., 2019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Скрининг и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Диагностика</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 и тревоги</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документации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Допуск и надзор</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Квалификация</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Разработка лекарств</a:t>
            </a:r>
          </a:p>
        </p:txBody>
      </p:sp>
      <p:sp>
        <p:nvSpPr>
          <p:cNvPr id="23" name="Rounded Rectangle 22"/>
          <p:cNvSpPr/>
          <p:nvPr/>
        </p:nvSpPr>
        <p:spPr>
          <a:xfrm>
            <a:off x="374904" y="3145250"/>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r>
              <a:rPr sz="1500" b="0" i="0">
                <a:solidFill>
                  <a:srgbClr val="21295C"/>
                </a:solidFill>
                <a:latin typeface="Arial"/>
              </a:rPr>
              <a:t> смотреть — только позванного · решать — по измеренному · наблюдать — после решения · читать — после записи.</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разбора одна:</a:t>
            </a:r>
            <a:r>
              <a:rPr sz="1500" b="0" i="0">
                <a:solidFill>
                  <a:srgbClr val="21295C"/>
                </a:solidFill>
                <a:latin typeface="Arial"/>
              </a:rPr>
              <a:t> цена обеих ошибок · два классических режима · модель против них · как это устроено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каждый инструмент — две вещи: какую задачу решает и с какими данными.</a:t>
            </a:r>
            <a:r>
              <a:rPr sz="1500" b="0" i="0">
                <a:solidFill>
                  <a:srgbClr val="21295C"/>
                </a:solidFill>
                <a:latin typeface="Arial"/>
              </a:rPr>
              <a:t> Сетку из этих имён собирает сборка — вместе с пустыми клетками.</a:t>
            </a:r>
          </a:p>
        </p:txBody>
      </p:sp>
      <p:sp>
        <p:nvSpPr>
          <p:cNvPr id="26" name="Rectangle 25"/>
          <p:cNvSpPr/>
          <p:nvPr/>
        </p:nvSpPr>
        <p:spPr>
          <a:xfrm>
            <a:off x="6091275" y="3236690"/>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759076"/>
          </a:xfrm>
          <a:prstGeom prst="roundRect">
            <a:avLst>
              <a:gd name="adj" fmla="val 110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«Человек в контуре» — четыре разных устройства.</a:t>
            </a:r>
            <a:r>
              <a:rPr sz="1400" b="0" i="0">
                <a:solidFill>
                  <a:srgbClr val="21295C"/>
                </a:solidFill>
                <a:latin typeface="Arial"/>
              </a:rPr>
              <a:t> Человек обязателен не потому, что точнее — измерено, что часто он не точнее: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право подписи выдано ему</a:t>
            </a:r>
            <a:r>
              <a:rPr sz="1400" b="0" i="0">
                <a:solidFill>
                  <a:srgbClr val="21295C"/>
                </a:solidFill>
                <a:latin typeface="Arial"/>
              </a:rPr>
              <a:t> — при разборе оценивают действия человека;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ошибается он иначе</a:t>
            </a:r>
            <a:r>
              <a:rPr sz="1400" b="0" i="0">
                <a:solidFill>
                  <a:srgbClr val="21295C"/>
                </a:solidFill>
                <a:latin typeface="Arial"/>
              </a:rPr>
              <a:t> — выигрыш даёт несовпадение ошибок;</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отменить решение нельзя</a:t>
            </a:r>
            <a:r>
              <a:rPr sz="1400" b="0" i="0">
                <a:solidFill>
                  <a:srgbClr val="21295C"/>
                </a:solidFill>
                <a:latin typeface="Arial"/>
              </a:rPr>
              <a:t> — изделие отзывают, решения по нему остаются.</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Три проверки для любого рабочего контура:</a:t>
            </a:r>
          </a:p>
          <a:p>
            <a:pPr algn="l">
              <a:lnSpc>
                <a:spcPct val="126000"/>
              </a:lnSpc>
              <a:spcBef>
                <a:spcPts val="700"/>
              </a:spcBef>
            </a:pPr>
            <a:r>
              <a:rPr sz="1400" b="0" i="0">
                <a:solidFill>
                  <a:srgbClr val="21295C"/>
                </a:solidFill>
                <a:latin typeface="Arial"/>
              </a:rPr>
              <a:t/>
            </a:r>
            <a:r>
              <a:rPr sz="140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400" b="0" i="0">
                <a:solidFill>
                  <a:srgbClr val="21295C"/>
                </a:solidFill>
                <a:latin typeface="Arial"/>
              </a:rPr>
              <a:t/>
            </a:r>
            <a:r>
              <a:rPr sz="1400" b="0" i="0">
                <a:solidFill>
                  <a:srgbClr val="21295C"/>
                </a:solidFill>
                <a:latin typeface="Arial"/>
              </a:rPr>
              <a:t>• измерено ли, что человек возражает — и возражает верно?</a:t>
            </a:r>
          </a:p>
          <a:p>
            <a:pPr algn="l">
              <a:lnSpc>
                <a:spcPct val="126000"/>
              </a:lnSpc>
              <a:spcBef>
                <a:spcPts val="700"/>
              </a:spcBef>
            </a:pPr>
            <a:r>
              <a:rPr sz="1400" b="0" i="0">
                <a:solidFill>
                  <a:srgbClr val="21295C"/>
                </a:solidFill>
                <a:latin typeface="Arial"/>
              </a:rPr>
              <a:t/>
            </a:r>
            <a:r>
              <a:rPr sz="140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400" b="0" i="0">
                <a:solidFill>
                  <a:srgbClr val="21295C"/>
                </a:solidFill>
                <a:latin typeface="Arial"/>
              </a:rPr>
              <a:t/>
            </a:r>
            <a:r>
              <a:rPr sz="140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484756"/>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верных ответов из ста · 50 врачей · виньетки</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520990"/>
          </a:xfrm>
          <a:prstGeom prst="roundRect">
            <a:avLst>
              <a:gd name="adj" fmla="val 1209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Удешевление предъявлено: </a:t>
            </a:r>
            <a:r>
              <a:rPr sz="1300" b="1" i="0">
                <a:solidFill>
                  <a:srgbClr val="21295C"/>
                </a:solidFill>
                <a:latin typeface="Arial"/>
              </a:rPr>
              <a:t>три секунды и ноль рублей против 48 секунд человеческого чтения.</a:t>
            </a:r>
            <a:r>
              <a:rPr sz="1300" b="0" i="0">
                <a:solidFill>
                  <a:srgbClr val="21295C"/>
                </a:solidFill>
                <a:latin typeface="Arial"/>
              </a:rPr>
              <a:t> </a:t>
            </a:r>
            <a:r>
              <a:rPr sz="1300" b="0" i="1">
                <a:solidFill>
                  <a:srgbClr val="21295C"/>
                </a:solidFill>
                <a:latin typeface="Arial"/>
              </a:rPr>
              <a:t>Единицы разные — сравнение на разряд.</a:t>
            </a:r>
          </a:p>
          <a:p>
            <a:pPr algn="l">
              <a:lnSpc>
                <a:spcPct val="126000"/>
              </a:lnSpc>
              <a:spcBef>
                <a:spcPts val="700"/>
              </a:spcBef>
            </a:pPr>
            <a:r>
              <a:rPr sz="1300" b="0" i="0">
                <a:solidFill>
                  <a:srgbClr val="21295C"/>
                </a:solidFill>
                <a:latin typeface="Arial"/>
              </a:rPr>
              <a:t/>
            </a:r>
            <a:r>
              <a:rPr sz="1300" b="1" i="0">
                <a:solidFill>
                  <a:srgbClr val="21295C"/>
                </a:solidFill>
                <a:latin typeface="Arial"/>
              </a:rPr>
              <a:t>Переезд вы узнаете без перевода:</a:t>
            </a:r>
            <a:r>
              <a:rPr sz="1300" b="0" i="0">
                <a:solidFill>
                  <a:srgbClr val="21295C"/>
                </a:solidFill>
                <a:latin typeface="Arial"/>
              </a:rPr>
              <a:t> младшие пишут с моделью больше, проверять не успевают старшие. </a:t>
            </a:r>
            <a:r>
              <a:rPr sz="1300" b="0" i="1">
                <a:solidFill>
                  <a:srgbClr val="21295C"/>
                </a:solidFill>
                <a:latin typeface="Arial"/>
              </a:rPr>
              <a:t>Замера нет: иллюстрация оси.</a:t>
            </a:r>
          </a:p>
          <a:p>
            <a:pPr algn="l">
              <a:lnSpc>
                <a:spcPct val="126000"/>
              </a:lnSpc>
              <a:spcBef>
                <a:spcPts val="700"/>
              </a:spcBef>
            </a:pPr>
            <a:r>
              <a:rPr sz="1300" b="0" i="0">
                <a:solidFill>
                  <a:srgbClr val="21295C"/>
                </a:solidFill>
                <a:latin typeface="Arial"/>
              </a:rPr>
              <a:t/>
            </a:r>
            <a:r>
              <a:rPr sz="1300" b="0" i="0">
                <a:solidFill>
                  <a:srgbClr val="21295C"/>
                </a:solidFill>
                <a:latin typeface="Arial"/>
              </a:rPr>
              <a:t>Своё здесь — </a:t>
            </a:r>
            <a:r>
              <a:rPr sz="1300" b="1" i="0">
                <a:solidFill>
                  <a:srgbClr val="21295C"/>
                </a:solidFill>
                <a:latin typeface="Arial"/>
              </a:rPr>
              <a:t>адрес: платят шагом, который делает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Адреса платежа:</a:t>
            </a:r>
            <a:r>
              <a:rPr sz="1300" b="0" i="0">
                <a:solidFill>
                  <a:srgbClr val="21295C"/>
                </a:solidFill>
                <a:latin typeface="Arial"/>
              </a:rPr>
              <a:t> внимание — смотрит после модели · навык — перестаёт делать сам · подпись — ставят не читая · </a:t>
            </a:r>
            <a:r>
              <a:rPr sz="1300" b="1" i="0">
                <a:solidFill>
                  <a:srgbClr val="21295C"/>
                </a:solidFill>
                <a:latin typeface="Arial"/>
              </a:rPr>
              <a:t>арбитраж — дороже прежнего чтения</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Путь, ступень, адрес — этим читается каждый разбор лекции.</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переезда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038420"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74581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
            </a:r>
          </a:p>
        </p:txBody>
      </p:sp>
      <p:sp>
        <p:nvSpPr>
          <p:cNvPr id="7" name="Rectangle 6"/>
          <p:cNvSpPr/>
          <p:nvPr/>
        </p:nvSpPr>
        <p:spPr>
          <a:xfrm>
            <a:off x="1577916" y="1335024"/>
            <a:ext cx="634274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1724220" y="1335024"/>
            <a:ext cx="605013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форма</a:t>
            </a:r>
          </a:p>
        </p:txBody>
      </p:sp>
      <p:sp>
        <p:nvSpPr>
          <p:cNvPr id="9" name="Rectangle 8"/>
          <p:cNvSpPr/>
          <p:nvPr/>
        </p:nvSpPr>
        <p:spPr>
          <a:xfrm>
            <a:off x="7920657" y="1335024"/>
            <a:ext cx="3731542"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8066961" y="1335024"/>
            <a:ext cx="3438934"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чем узнаётся</a:t>
            </a:r>
          </a:p>
        </p:txBody>
      </p:sp>
      <p:sp>
        <p:nvSpPr>
          <p:cNvPr id="11" name="Rectangle 10"/>
          <p:cNvSpPr/>
          <p:nvPr/>
        </p:nvSpPr>
        <p:spPr>
          <a:xfrm>
            <a:off x="539496" y="1773100"/>
            <a:ext cx="1038420" cy="43807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1</a:t>
            </a:r>
          </a:p>
        </p:txBody>
      </p:sp>
      <p:sp>
        <p:nvSpPr>
          <p:cNvPr id="13" name="Rectangle 12"/>
          <p:cNvSpPr/>
          <p:nvPr/>
        </p:nvSpPr>
        <p:spPr>
          <a:xfrm>
            <a:off x="1577916" y="1773100"/>
            <a:ext cx="6342740" cy="43807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724220" y="1773100"/>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переехала на другой шаг</a:t>
            </a:r>
          </a:p>
        </p:txBody>
      </p:sp>
      <p:sp>
        <p:nvSpPr>
          <p:cNvPr id="15" name="Rectangle 14"/>
          <p:cNvSpPr/>
          <p:nvPr/>
        </p:nvSpPr>
        <p:spPr>
          <a:xfrm>
            <a:off x="7920657" y="1773100"/>
            <a:ext cx="3731542" cy="43807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066961" y="1773100"/>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место</a:t>
            </a:r>
          </a:p>
        </p:txBody>
      </p:sp>
      <p:sp>
        <p:nvSpPr>
          <p:cNvPr id="17" name="Rectangle 16"/>
          <p:cNvSpPr/>
          <p:nvPr/>
        </p:nvSpPr>
        <p:spPr>
          <a:xfrm>
            <a:off x="539496" y="2211177"/>
            <a:ext cx="1038420" cy="438076"/>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211177"/>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2</a:t>
            </a:r>
          </a:p>
        </p:txBody>
      </p:sp>
      <p:sp>
        <p:nvSpPr>
          <p:cNvPr id="19" name="Rectangle 18"/>
          <p:cNvSpPr/>
          <p:nvPr/>
        </p:nvSpPr>
        <p:spPr>
          <a:xfrm>
            <a:off x="1577916" y="2211177"/>
            <a:ext cx="6342740" cy="438076"/>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724220" y="2211177"/>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исчез совсем</a:t>
            </a:r>
          </a:p>
        </p:txBody>
      </p:sp>
      <p:sp>
        <p:nvSpPr>
          <p:cNvPr id="21" name="Rectangle 20"/>
          <p:cNvSpPr/>
          <p:nvPr/>
        </p:nvSpPr>
        <p:spPr>
          <a:xfrm>
            <a:off x="7920657" y="2211177"/>
            <a:ext cx="3731542" cy="43807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066961" y="2211177"/>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нет</a:t>
            </a:r>
          </a:p>
        </p:txBody>
      </p:sp>
      <p:sp>
        <p:nvSpPr>
          <p:cNvPr id="23" name="Rectangle 22"/>
          <p:cNvSpPr/>
          <p:nvPr/>
        </p:nvSpPr>
        <p:spPr>
          <a:xfrm>
            <a:off x="539496" y="2649254"/>
            <a:ext cx="1038420" cy="43807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649254"/>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3</a:t>
            </a:r>
          </a:p>
        </p:txBody>
      </p:sp>
      <p:sp>
        <p:nvSpPr>
          <p:cNvPr id="25" name="Rectangle 24"/>
          <p:cNvSpPr/>
          <p:nvPr/>
        </p:nvSpPr>
        <p:spPr>
          <a:xfrm>
            <a:off x="1577916" y="2649254"/>
            <a:ext cx="6342740" cy="43807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724220" y="2649254"/>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появился</a:t>
            </a:r>
          </a:p>
        </p:txBody>
      </p:sp>
      <p:sp>
        <p:nvSpPr>
          <p:cNvPr id="27" name="Rectangle 26"/>
          <p:cNvSpPr/>
          <p:nvPr/>
        </p:nvSpPr>
        <p:spPr>
          <a:xfrm>
            <a:off x="7920657" y="2649254"/>
            <a:ext cx="3731542" cy="43807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066961" y="2649254"/>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новая</a:t>
            </a:r>
          </a:p>
        </p:txBody>
      </p:sp>
      <p:sp>
        <p:nvSpPr>
          <p:cNvPr id="29" name="Rectangle 28"/>
          <p:cNvSpPr/>
          <p:nvPr/>
        </p:nvSpPr>
        <p:spPr>
          <a:xfrm>
            <a:off x="539496" y="3087331"/>
            <a:ext cx="1038420" cy="438076"/>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087331"/>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a:t>
            </a:r>
          </a:p>
        </p:txBody>
      </p:sp>
      <p:sp>
        <p:nvSpPr>
          <p:cNvPr id="31" name="Rectangle 30"/>
          <p:cNvSpPr/>
          <p:nvPr/>
        </p:nvSpPr>
        <p:spPr>
          <a:xfrm>
            <a:off x="1577916" y="3087331"/>
            <a:ext cx="6342740" cy="43807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724220" y="3087331"/>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выросла на том же месте</a:t>
            </a:r>
          </a:p>
        </p:txBody>
      </p:sp>
      <p:sp>
        <p:nvSpPr>
          <p:cNvPr id="33" name="Rectangle 32"/>
          <p:cNvSpPr/>
          <p:nvPr/>
        </p:nvSpPr>
        <p:spPr>
          <a:xfrm>
            <a:off x="7920657" y="3087331"/>
            <a:ext cx="3731542" cy="43807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066961" y="3087331"/>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больше</a:t>
            </a:r>
          </a:p>
        </p:txBody>
      </p:sp>
      <p:sp>
        <p:nvSpPr>
          <p:cNvPr id="35" name="Rectangle 34"/>
          <p:cNvSpPr/>
          <p:nvPr/>
        </p:nvSpPr>
        <p:spPr>
          <a:xfrm>
            <a:off x="539496" y="3525408"/>
            <a:ext cx="1038420" cy="43807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525408"/>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4а</a:t>
            </a:r>
          </a:p>
        </p:txBody>
      </p:sp>
      <p:sp>
        <p:nvSpPr>
          <p:cNvPr id="37" name="Rectangle 36"/>
          <p:cNvSpPr/>
          <p:nvPr/>
        </p:nvSpPr>
        <p:spPr>
          <a:xfrm>
            <a:off x="1577916" y="3525408"/>
            <a:ext cx="6342740" cy="438076"/>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724220" y="3525408"/>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на том же месте упала</a:t>
            </a:r>
          </a:p>
        </p:txBody>
      </p:sp>
      <p:sp>
        <p:nvSpPr>
          <p:cNvPr id="39" name="Rectangle 38"/>
          <p:cNvSpPr/>
          <p:nvPr/>
        </p:nvSpPr>
        <p:spPr>
          <a:xfrm>
            <a:off x="7920657" y="3525408"/>
            <a:ext cx="3731542" cy="43807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8066961" y="3525408"/>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меньше</a:t>
            </a:r>
          </a:p>
        </p:txBody>
      </p:sp>
      <p:sp>
        <p:nvSpPr>
          <p:cNvPr id="41" name="Rectangle 40"/>
          <p:cNvSpPr/>
          <p:nvPr/>
        </p:nvSpPr>
        <p:spPr>
          <a:xfrm>
            <a:off x="539496" y="3963485"/>
            <a:ext cx="1038420" cy="43807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963485"/>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5</a:t>
            </a:r>
          </a:p>
        </p:txBody>
      </p:sp>
      <p:sp>
        <p:nvSpPr>
          <p:cNvPr id="43" name="Rectangle 42"/>
          <p:cNvSpPr/>
          <p:nvPr/>
        </p:nvSpPr>
        <p:spPr>
          <a:xfrm>
            <a:off x="1577916" y="3963485"/>
            <a:ext cx="6342740" cy="43807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724220" y="3963485"/>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сменился исполнитель</a:t>
            </a:r>
          </a:p>
        </p:txBody>
      </p:sp>
      <p:sp>
        <p:nvSpPr>
          <p:cNvPr id="45" name="Rectangle 44"/>
          <p:cNvSpPr/>
          <p:nvPr/>
        </p:nvSpPr>
        <p:spPr>
          <a:xfrm>
            <a:off x="7920657" y="3963485"/>
            <a:ext cx="3731542" cy="438076"/>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8066961" y="3963485"/>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рука другая</a:t>
            </a:r>
          </a:p>
        </p:txBody>
      </p:sp>
      <p:sp>
        <p:nvSpPr>
          <p:cNvPr id="47" name="Rectangle 46"/>
          <p:cNvSpPr/>
          <p:nvPr/>
        </p:nvSpPr>
        <p:spPr>
          <a:xfrm>
            <a:off x="539496" y="4401561"/>
            <a:ext cx="1038420" cy="43807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401561"/>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6</a:t>
            </a:r>
          </a:p>
        </p:txBody>
      </p:sp>
      <p:sp>
        <p:nvSpPr>
          <p:cNvPr id="49" name="Rectangle 48"/>
          <p:cNvSpPr/>
          <p:nvPr/>
        </p:nvSpPr>
        <p:spPr>
          <a:xfrm>
            <a:off x="1577916" y="4401561"/>
            <a:ext cx="6342740" cy="43807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724220" y="4401561"/>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изменился порядок работ</a:t>
            </a:r>
          </a:p>
        </p:txBody>
      </p:sp>
      <p:sp>
        <p:nvSpPr>
          <p:cNvPr id="51" name="Rectangle 50"/>
          <p:cNvSpPr/>
          <p:nvPr/>
        </p:nvSpPr>
        <p:spPr>
          <a:xfrm>
            <a:off x="7920657" y="4401561"/>
            <a:ext cx="3731542" cy="43807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066961" y="4401561"/>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состав</a:t>
            </a:r>
          </a:p>
        </p:txBody>
      </p:sp>
      <p:sp>
        <p:nvSpPr>
          <p:cNvPr id="53" name="Rectangle 52"/>
          <p:cNvSpPr/>
          <p:nvPr/>
        </p:nvSpPr>
        <p:spPr>
          <a:xfrm>
            <a:off x="539496" y="4839638"/>
            <a:ext cx="1038420" cy="43807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839638"/>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7</a:t>
            </a:r>
          </a:p>
        </p:txBody>
      </p:sp>
      <p:sp>
        <p:nvSpPr>
          <p:cNvPr id="55" name="Rectangle 54"/>
          <p:cNvSpPr/>
          <p:nvPr/>
        </p:nvSpPr>
        <p:spPr>
          <a:xfrm>
            <a:off x="1577916" y="4839638"/>
            <a:ext cx="6342740" cy="43807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724220" y="4839638"/>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сместилась цена ошибки</a:t>
            </a:r>
          </a:p>
        </p:txBody>
      </p:sp>
      <p:sp>
        <p:nvSpPr>
          <p:cNvPr id="57" name="Rectangle 56"/>
          <p:cNvSpPr/>
          <p:nvPr/>
        </p:nvSpPr>
        <p:spPr>
          <a:xfrm>
            <a:off x="7920657" y="4839638"/>
            <a:ext cx="3731542" cy="43807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8066961" y="4839638"/>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машина → человек</a:t>
            </a:r>
          </a:p>
        </p:txBody>
      </p:sp>
      <p:sp>
        <p:nvSpPr>
          <p:cNvPr id="59" name="Rectangle 58"/>
          <p:cNvSpPr/>
          <p:nvPr/>
        </p:nvSpPr>
        <p:spPr>
          <a:xfrm>
            <a:off x="539496" y="5277715"/>
            <a:ext cx="1038420" cy="438076"/>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5277715"/>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8</a:t>
            </a:r>
          </a:p>
        </p:txBody>
      </p:sp>
      <p:sp>
        <p:nvSpPr>
          <p:cNvPr id="61" name="Rectangle 60"/>
          <p:cNvSpPr/>
          <p:nvPr/>
        </p:nvSpPr>
        <p:spPr>
          <a:xfrm>
            <a:off x="1577916" y="5277715"/>
            <a:ext cx="6342740" cy="438076"/>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724220" y="5277715"/>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исполнитель тот же, но стал хуже</a:t>
            </a:r>
          </a:p>
        </p:txBody>
      </p:sp>
      <p:sp>
        <p:nvSpPr>
          <p:cNvPr id="63" name="Rectangle 62"/>
          <p:cNvSpPr/>
          <p:nvPr/>
        </p:nvSpPr>
        <p:spPr>
          <a:xfrm>
            <a:off x="7920657" y="5277715"/>
            <a:ext cx="3731542" cy="438076"/>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8066961" y="5277715"/>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разучилась</a:t>
            </a:r>
          </a:p>
        </p:txBody>
      </p:sp>
      <p:sp>
        <p:nvSpPr>
          <p:cNvPr id="65" name="Rectangle 64"/>
          <p:cNvSpPr/>
          <p:nvPr/>
        </p:nvSpPr>
        <p:spPr>
          <a:xfrm>
            <a:off x="539496" y="5715792"/>
            <a:ext cx="1038420" cy="438076"/>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715792"/>
            <a:ext cx="74581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8а</a:t>
            </a:r>
          </a:p>
        </p:txBody>
      </p:sp>
      <p:sp>
        <p:nvSpPr>
          <p:cNvPr id="67" name="Rectangle 66"/>
          <p:cNvSpPr/>
          <p:nvPr/>
        </p:nvSpPr>
        <p:spPr>
          <a:xfrm>
            <a:off x="1577916" y="5715792"/>
            <a:ext cx="6342740" cy="438076"/>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724220" y="5715792"/>
            <a:ext cx="6050132"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исполнитель тот же, но стал лучше</a:t>
            </a:r>
          </a:p>
        </p:txBody>
      </p:sp>
      <p:sp>
        <p:nvSpPr>
          <p:cNvPr id="69" name="Rectangle 68"/>
          <p:cNvSpPr/>
          <p:nvPr/>
        </p:nvSpPr>
        <p:spPr>
          <a:xfrm>
            <a:off x="7920657" y="5715792"/>
            <a:ext cx="3731542" cy="438076"/>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8066961" y="5715792"/>
            <a:ext cx="3438934"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измерений нет</a:t>
            </a:r>
          </a:p>
        </p:txBody>
      </p:sp>
      <p:sp>
        <p:nvSpPr>
          <p:cNvPr id="71" name="Rectangle 7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разрядов свидетельства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305655"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13047"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7" name="Rectangle 6"/>
          <p:cNvSpPr/>
          <p:nvPr/>
        </p:nvSpPr>
        <p:spPr>
          <a:xfrm>
            <a:off x="3845151" y="1335024"/>
            <a:ext cx="3131601"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3991455" y="1335024"/>
            <a:ext cx="283899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как добыто</a:t>
            </a:r>
          </a:p>
        </p:txBody>
      </p:sp>
      <p:sp>
        <p:nvSpPr>
          <p:cNvPr id="9" name="Rectangle 8"/>
          <p:cNvSpPr/>
          <p:nvPr/>
        </p:nvSpPr>
        <p:spPr>
          <a:xfrm>
            <a:off x="6976753" y="1335024"/>
            <a:ext cx="4675445"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23057" y="1335024"/>
            <a:ext cx="4382837"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что утверждает</a:t>
            </a:r>
          </a:p>
        </p:txBody>
      </p:sp>
      <p:sp>
        <p:nvSpPr>
          <p:cNvPr id="11" name="Rectangle 10"/>
          <p:cNvSpPr/>
          <p:nvPr/>
        </p:nvSpPr>
        <p:spPr>
          <a:xfrm>
            <a:off x="539496" y="1800449"/>
            <a:ext cx="3305655"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рандомизированное испытание</a:t>
            </a:r>
          </a:p>
        </p:txBody>
      </p:sp>
      <p:sp>
        <p:nvSpPr>
          <p:cNvPr id="13" name="Rectangle 12"/>
          <p:cNvSpPr/>
          <p:nvPr/>
        </p:nvSpPr>
        <p:spPr>
          <a:xfrm>
            <a:off x="3845151" y="1800449"/>
            <a:ext cx="3131601"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991455" y="1800449"/>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развели по группам жребием</a:t>
            </a:r>
          </a:p>
        </p:txBody>
      </p:sp>
      <p:sp>
        <p:nvSpPr>
          <p:cNvPr id="15" name="Rectangle 14"/>
          <p:cNvSpPr/>
          <p:nvPr/>
        </p:nvSpPr>
        <p:spPr>
          <a:xfrm>
            <a:off x="6976753" y="1800449"/>
            <a:ext cx="4675445"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23057" y="1800449"/>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разницу можно отнести к вмешательству</a:t>
            </a:r>
          </a:p>
        </p:txBody>
      </p:sp>
      <p:sp>
        <p:nvSpPr>
          <p:cNvPr id="17" name="Rectangle 16"/>
          <p:cNvSpPr/>
          <p:nvPr/>
        </p:nvSpPr>
        <p:spPr>
          <a:xfrm>
            <a:off x="539496" y="2566707"/>
            <a:ext cx="3305655"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проспективное наблюдение</a:t>
            </a:r>
          </a:p>
        </p:txBody>
      </p:sp>
      <p:sp>
        <p:nvSpPr>
          <p:cNvPr id="19" name="Rectangle 18"/>
          <p:cNvSpPr/>
          <p:nvPr/>
        </p:nvSpPr>
        <p:spPr>
          <a:xfrm>
            <a:off x="3845151" y="2566707"/>
            <a:ext cx="3131601"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991455" y="2566707"/>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следили вперёд до исхода</a:t>
            </a:r>
          </a:p>
        </p:txBody>
      </p:sp>
      <p:sp>
        <p:nvSpPr>
          <p:cNvPr id="21" name="Rectangle 20"/>
          <p:cNvSpPr/>
          <p:nvPr/>
        </p:nvSpPr>
        <p:spPr>
          <a:xfrm>
            <a:off x="6976753" y="2566707"/>
            <a:ext cx="4675445"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23057" y="2566707"/>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что произошло — да; из-за чего — с оговоркой</a:t>
            </a:r>
          </a:p>
        </p:txBody>
      </p:sp>
      <p:sp>
        <p:nvSpPr>
          <p:cNvPr id="23" name="Rectangle 22"/>
          <p:cNvSpPr/>
          <p:nvPr/>
        </p:nvSpPr>
        <p:spPr>
          <a:xfrm>
            <a:off x="539496" y="3332966"/>
            <a:ext cx="3305655"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ретроспективный срез</a:t>
            </a:r>
          </a:p>
        </p:txBody>
      </p:sp>
      <p:sp>
        <p:nvSpPr>
          <p:cNvPr id="25" name="Rectangle 24"/>
          <p:cNvSpPr/>
          <p:nvPr/>
        </p:nvSpPr>
        <p:spPr>
          <a:xfrm>
            <a:off x="3845151" y="3332966"/>
            <a:ext cx="3131601"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991455" y="3332966"/>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посмотрели назад по записям</a:t>
            </a:r>
          </a:p>
        </p:txBody>
      </p:sp>
      <p:sp>
        <p:nvSpPr>
          <p:cNvPr id="27" name="Rectangle 26"/>
          <p:cNvSpPr/>
          <p:nvPr/>
        </p:nvSpPr>
        <p:spPr>
          <a:xfrm>
            <a:off x="6976753" y="3332966"/>
            <a:ext cx="4675445"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23057" y="3332966"/>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связь — да, направление — нет</a:t>
            </a:r>
          </a:p>
        </p:txBody>
      </p:sp>
      <p:sp>
        <p:nvSpPr>
          <p:cNvPr id="29" name="Rectangle 28"/>
          <p:cNvSpPr/>
          <p:nvPr/>
        </p:nvSpPr>
        <p:spPr>
          <a:xfrm>
            <a:off x="539496" y="4099225"/>
            <a:ext cx="3305655" cy="465425"/>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3013047" cy="465425"/>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пересказ в обзоре</a:t>
            </a:r>
          </a:p>
        </p:txBody>
      </p:sp>
      <p:sp>
        <p:nvSpPr>
          <p:cNvPr id="31" name="Rectangle 30"/>
          <p:cNvSpPr/>
          <p:nvPr/>
        </p:nvSpPr>
        <p:spPr>
          <a:xfrm>
            <a:off x="3845151" y="4099225"/>
            <a:ext cx="3131601" cy="465425"/>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991455" y="4099225"/>
            <a:ext cx="283899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через чужой текст</a:t>
            </a:r>
          </a:p>
        </p:txBody>
      </p:sp>
      <p:sp>
        <p:nvSpPr>
          <p:cNvPr id="33" name="Rectangle 32"/>
          <p:cNvSpPr/>
          <p:nvPr/>
        </p:nvSpPr>
        <p:spPr>
          <a:xfrm>
            <a:off x="6976753" y="4099225"/>
            <a:ext cx="4675445" cy="465425"/>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23057" y="4099225"/>
            <a:ext cx="4382837"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ничего, пока не открыт первоисточник</a:t>
            </a:r>
          </a:p>
        </p:txBody>
      </p:sp>
      <p:sp>
        <p:nvSpPr>
          <p:cNvPr id="35" name="Rectangle 34"/>
          <p:cNvSpPr/>
          <p:nvPr/>
        </p:nvSpPr>
        <p:spPr>
          <a:xfrm>
            <a:off x="539496" y="4564650"/>
            <a:ext cx="3305655" cy="76625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564650"/>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самоотчёт</a:t>
            </a:r>
          </a:p>
        </p:txBody>
      </p:sp>
      <p:sp>
        <p:nvSpPr>
          <p:cNvPr id="37" name="Rectangle 36"/>
          <p:cNvSpPr/>
          <p:nvPr/>
        </p:nvSpPr>
        <p:spPr>
          <a:xfrm>
            <a:off x="3845151" y="4564650"/>
            <a:ext cx="3131601" cy="766258"/>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3991455" y="4564650"/>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человек сказал сам о себе</a:t>
            </a:r>
          </a:p>
        </p:txBody>
      </p:sp>
      <p:sp>
        <p:nvSpPr>
          <p:cNvPr id="39" name="Rectangle 38"/>
          <p:cNvSpPr/>
          <p:nvPr/>
        </p:nvSpPr>
        <p:spPr>
          <a:xfrm>
            <a:off x="6976753" y="4564650"/>
            <a:ext cx="4675445" cy="766258"/>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23057" y="4564650"/>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что он думает о своей работе</a:t>
            </a:r>
          </a:p>
        </p:txBody>
      </p:sp>
      <p:sp>
        <p:nvSpPr>
          <p:cNvPr id="41" name="TextBox 40"/>
          <p:cNvSpPr txBox="1"/>
          <p:nvPr/>
        </p:nvSpPr>
        <p:spPr>
          <a:xfrm>
            <a:off x="539496" y="5477213"/>
            <a:ext cx="11112703" cy="68214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Разряд называется вместе с числом. Выше него число не утверждает ничего — и к своим числам лекция тоже.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 и его цена</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Регистр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скрининга без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13030"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41630"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23926"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4934421"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63021"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245317"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55581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784411"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866707"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53494"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82094"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64390"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015348" y="248231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243948"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326244"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6" name="Rounded Rectangle 25"/>
          <p:cNvSpPr/>
          <p:nvPr/>
        </p:nvSpPr>
        <p:spPr>
          <a:xfrm>
            <a:off x="1920240"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a:t>
            </a:r>
          </a:p>
        </p:txBody>
      </p:sp>
      <p:sp>
        <p:nvSpPr>
          <p:cNvPr id="28" name="Rounded Rectangle 27"/>
          <p:cNvSpPr/>
          <p:nvPr/>
        </p:nvSpPr>
        <p:spPr>
          <a:xfrm>
            <a:off x="4039422"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21718"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30" name="Rounded Rectangle 29"/>
          <p:cNvSpPr/>
          <p:nvPr/>
        </p:nvSpPr>
        <p:spPr>
          <a:xfrm>
            <a:off x="6158604"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240900"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a:t>
            </a:r>
          </a:p>
        </p:txBody>
      </p:sp>
      <p:sp>
        <p:nvSpPr>
          <p:cNvPr id="32" name="TextBox 31"/>
          <p:cNvSpPr txBox="1"/>
          <p:nvPr/>
        </p:nvSpPr>
        <p:spPr>
          <a:xfrm>
            <a:off x="502920" y="3803333"/>
            <a:ext cx="7628562"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из них заняла модель</a:t>
            </a:r>
          </a:p>
        </p:txBody>
      </p:sp>
      <p:sp>
        <p:nvSpPr>
          <p:cNvPr id="33" name="Rounded Rectangle 32"/>
          <p:cNvSpPr/>
          <p:nvPr/>
        </p:nvSpPr>
        <p:spPr>
          <a:xfrm>
            <a:off x="374904" y="4443983"/>
            <a:ext cx="11441887" cy="1792224"/>
          </a:xfrm>
          <a:prstGeom prst="roundRect">
            <a:avLst>
              <a:gd name="adj" fmla="val 170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начался вечер, вышло отсюда: программа берёт список жителей, отбирает подходящих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За «нет» не следует ничего, и нигде не записано:</a:t>
            </a:r>
            <a:r>
              <a:rPr sz="1400" b="0" i="0">
                <a:solidFill>
                  <a:srgbClr val="21295C"/>
                </a:solidFill>
                <a:latin typeface="Arial"/>
              </a:rPr>
              <a:t> события, которого не было, в карте нет.</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два классических режима — звать по возрасту и ждать жалобу</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между приглашениями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 в разделе о диагнозе</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2,0 из ста обследованных</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52 872 женщины, двойное чтение</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ПОЗДНИЕ СТАДИИ: ЖДАТЬ ЖАЛОБУ → ЗВАТЬ ПО СПИСКУ</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из 159 против 62 из 160</a:t>
            </a:r>
          </a:p>
        </p:txBody>
      </p:sp>
      <p:sp>
        <p:nvSpPr>
          <p:cNvPr id="16" name="Rounded Rectangle 15"/>
          <p:cNvSpPr/>
          <p:nvPr/>
        </p:nvSpPr>
        <p:spPr>
          <a:xfrm>
            <a:off x="374904" y="298264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звать всех по возрасту.</a:t>
            </a:r>
            <a:r>
              <a:rPr sz="1500" b="0" i="0">
                <a:solidFill>
                  <a:srgbClr val="21295C"/>
                </a:solidFill>
                <a:latin typeface="Arial"/>
              </a:rPr>
              <a:t> Порог — это документ: он назначен раньше, чем измерили точность прибора.</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второй: ждать жалобу.</a:t>
            </a:r>
            <a:r>
              <a:rPr sz="1500" b="0" i="0">
                <a:solidFill>
                  <a:srgbClr val="21295C"/>
                </a:solidFill>
                <a:latin typeface="Arial"/>
              </a:rPr>
              <a:t> Находка приходит позже и стадией крупнее.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режим: только возраст и интервал, ни одного её признака.</a:t>
            </a:r>
          </a:p>
        </p:txBody>
      </p:sp>
      <p:sp>
        <p:nvSpPr>
          <p:cNvPr id="19" name="Rectangle 18"/>
          <p:cNvSpPr/>
          <p:nvPr/>
        </p:nvSpPr>
        <p:spPr>
          <a:xfrm>
            <a:off x="6091275" y="3074081"/>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 моделью: сортировка потока по предсказанному риску</a:t>
            </a:r>
          </a:p>
        </p:txBody>
      </p:sp>
      <p:sp>
        <p:nvSpPr>
          <p:cNvPr id="4" name="Rounded Rectangle 3"/>
          <p:cNvSpPr/>
          <p:nvPr/>
        </p:nvSpPr>
        <p:spPr>
          <a:xfrm>
            <a:off x="502920"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a:t>
            </a:r>
          </a:p>
        </p:txBody>
      </p:sp>
      <p:sp>
        <p:nvSpPr>
          <p:cNvPr id="8" name="Rounded Rectangle 7"/>
          <p:cNvSpPr/>
          <p:nvPr/>
        </p:nvSpPr>
        <p:spPr>
          <a:xfrm>
            <a:off x="4286402"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ДВОЕ → ЧЕЛОВЕК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ГЕРМАНИЯ, ВЫЯВЛЕНИЕ НА 1000</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6,7</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наблюдательное</a:t>
            </a:r>
          </a:p>
        </p:txBody>
      </p:sp>
      <p:sp>
        <p:nvSpPr>
          <p:cNvPr id="16" name="Rounded Rectangle 15"/>
          <p:cNvSpPr/>
          <p:nvPr/>
        </p:nvSpPr>
        <p:spPr>
          <a:xfrm>
            <a:off x="374904" y="2799689"/>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Случайное распределение: одно плечо читает как прежде, во втором модель сортирует поток по риску.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риск и место в очереди. </a:t>
            </a:r>
            <a:r>
              <a:rPr sz="1500" b="1" i="0">
                <a:solidFill>
                  <a:srgbClr val="21295C"/>
                </a:solidFill>
                <a:latin typeface="Arial"/>
              </a:rPr>
              <a:t>Имени система не получила</a:t>
            </a:r>
            <a:r>
              <a:rPr sz="1500" b="0" i="0">
                <a:solidFill>
                  <a:srgbClr val="21295C"/>
                </a:solidFill>
                <a:latin typeface="Arial"/>
              </a:rPr>
              <a:t>; режим занимают Transpara, Lunit INSIGHT MMG, iCAD ProFound. </a:t>
            </a:r>
            <a:r>
              <a:rPr sz="1500" b="0" i="1">
                <a:solidFill>
                  <a:srgbClr val="21295C"/>
                </a:solidFill>
                <a:latin typeface="Arial"/>
              </a:rPr>
              <a:t>Распознавание на изображении.</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Второго независимого человека большинство обследованных больше не получает.</a:t>
            </a:r>
            <a:r>
              <a:rPr sz="1500" b="0" i="0">
                <a:solidFill>
                  <a:srgbClr val="21295C"/>
                </a:solidFill>
                <a:latin typeface="Arial"/>
              </a:rPr>
              <a:t> Цена — в устройстве процедуры.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 В Швеции второго читателя заменили, в Германии сохранили: одна фраза — две процедуры</a:t>
            </a:r>
          </a:p>
        </p:txBody>
      </p:sp>
      <p:sp>
        <p:nvSpPr>
          <p:cNvPr id="19" name="Rectangle 18"/>
          <p:cNvSpPr/>
          <p:nvPr/>
        </p:nvSpPr>
        <p:spPr>
          <a:xfrm>
            <a:off x="6091275" y="2891129"/>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и его цена</a:t>
            </a:r>
          </a:p>
        </p:txBody>
      </p:sp>
      <p:sp>
        <p:nvSpPr>
          <p:cNvPr id="4" name="Rounded Rectangle 3"/>
          <p:cNvSpPr/>
          <p:nvPr/>
        </p:nvSpPr>
        <p:spPr>
          <a:xfrm>
            <a:off x="502920"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ЭКЗАМЕН</a:t>
            </a:r>
          </a:p>
        </p:txBody>
      </p:sp>
      <p:sp>
        <p:nvSpPr>
          <p:cNvPr id="6" name="TextBox 5"/>
          <p:cNvSpPr txBox="1"/>
          <p:nvPr/>
        </p:nvSpPr>
        <p:spPr>
          <a:xfrm>
            <a:off x="640080" y="1725375"/>
            <a:ext cx="2398699"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81 у приложения · 72 у врачей</a:t>
            </a:r>
          </a:p>
        </p:txBody>
      </p:sp>
      <p:sp>
        <p:nvSpPr>
          <p:cNvPr id="7" name="TextBox 6"/>
          <p:cNvSpPr txBox="1"/>
          <p:nvPr/>
        </p:nvSpPr>
        <p:spPr>
          <a:xfrm>
            <a:off x="640080" y="249187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заявления сомнительны</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 в год</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числа обращений не зависит</a:t>
            </a:r>
          </a:p>
        </p:txBody>
      </p:sp>
      <p:sp>
        <p:nvSpPr>
          <p:cNvPr id="12" name="Rounded Rectangle 11"/>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В ГОД: КЛАССИКА → СЕРВИС</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a:t>
            </a:r>
          </a:p>
        </p:txBody>
      </p:sp>
      <p:sp>
        <p:nvSpPr>
          <p:cNvPr id="16" name="Rounded Rectangle 15"/>
          <p:cNvSpPr/>
          <p:nvPr/>
        </p:nvSpPr>
        <p:spPr>
          <a:xfrm>
            <a:off x="9015755"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Rounded Rectangle 18"/>
          <p:cNvSpPr/>
          <p:nvPr/>
        </p:nvSpPr>
        <p:spPr>
          <a:xfrm>
            <a:off x="374904" y="3190112"/>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ненужным ·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a:t>
            </a:r>
            <a:r>
              <a:rPr sz="1500" b="1" i="0">
                <a:solidFill>
                  <a:srgbClr val="21295C"/>
                </a:solidFill>
                <a:latin typeface="Arial"/>
              </a:rPr>
              <a:t>Babylon</a:t>
            </a:r>
            <a:r>
              <a:rPr sz="1500" b="0" i="0">
                <a:solidFill>
                  <a:srgbClr val="21295C"/>
                </a:solidFill>
                <a:latin typeface="Arial"/>
              </a:rPr>
              <a:t>, сервис </a:t>
            </a:r>
            <a:r>
              <a:rPr sz="1500" b="1" i="0">
                <a:solidFill>
                  <a:srgbClr val="21295C"/>
                </a:solidFill>
                <a:latin typeface="Arial"/>
              </a:rPr>
              <a:t>«GP at Hand»</a:t>
            </a:r>
            <a:r>
              <a:rPr sz="1500" b="0" i="0">
                <a:solidFill>
                  <a:srgbClr val="21295C"/>
                </a:solidFill>
                <a:latin typeface="Arial"/>
              </a:rPr>
              <a:t>: вход — жалоба текстом, выход — маршрут. </a:t>
            </a:r>
            <a:r>
              <a:rPr sz="1500" b="1" i="0">
                <a:solidFill>
                  <a:srgbClr val="21295C"/>
                </a:solidFill>
                <a:latin typeface="Arial"/>
              </a:rPr>
              <a:t>Обучать было нечему: внутри дерево «если — то».</a:t>
            </a:r>
            <a:r>
              <a:rPr sz="1500" b="0" i="0">
                <a:solidFill>
                  <a:srgbClr val="21295C"/>
                </a:solidFill>
                <a:latin typeface="Arial"/>
              </a:rPr>
              <a:t> </a:t>
            </a:r>
            <a:r>
              <a:rPr sz="1500" b="0" i="1">
                <a:solidFill>
                  <a:srgbClr val="21295C"/>
                </a:solidFill>
                <a:latin typeface="Arial"/>
              </a:rPr>
              <a:t>Поиск с генерацией на тексте.</a:t>
            </a:r>
          </a:p>
        </p:txBody>
      </p:sp>
      <p:sp>
        <p:nvSpPr>
          <p:cNvPr id="21" name="TextBox 20"/>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Уберите модель — сервис продолжит работать.</a:t>
            </a:r>
            <a:r>
              <a:rPr sz="1500" b="0" i="0">
                <a:solidFill>
                  <a:srgbClr val="21295C"/>
                </a:solidFill>
                <a:latin typeface="Arial"/>
              </a:rPr>
              <a:t> </a:t>
            </a:r>
            <a:r>
              <a:rPr sz="1500" b="0" i="1">
                <a:solidFill>
                  <a:srgbClr val="21295C"/>
                </a:solidFill>
                <a:latin typeface="Arial"/>
              </a:rPr>
              <a:t>Слова участника, не аудит.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минуса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22" name="Rectangle 21"/>
          <p:cNvSpPr/>
          <p:nvPr/>
        </p:nvSpPr>
        <p:spPr>
          <a:xfrm>
            <a:off x="6091275" y="3281552"/>
            <a:ext cx="9144" cy="1871266"/>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К СПЕЦИАЛИСТУ → ТЕСТ НА МЕСТЕ</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человек</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9" name="Rounded Rectangle 8"/>
          <p:cNvSpPr/>
          <p:nvPr/>
        </p:nvSpPr>
        <p:spPr>
          <a:xfrm>
            <a:off x="1920240"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1" name="Right Arrow 10"/>
          <p:cNvSpPr/>
          <p:nvPr/>
        </p:nvSpPr>
        <p:spPr>
          <a:xfrm>
            <a:off x="3624986"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853586"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935882"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4" name="Right Arrow 13"/>
          <p:cNvSpPr/>
          <p:nvPr/>
        </p:nvSpPr>
        <p:spPr>
          <a:xfrm>
            <a:off x="5558332"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5786932"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5869228"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8" name="Rounded Rectangle 17"/>
          <p:cNvSpPr/>
          <p:nvPr/>
        </p:nvSpPr>
        <p:spPr>
          <a:xfrm>
            <a:off x="1920240"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0" name="Right Arrow 19"/>
          <p:cNvSpPr/>
          <p:nvPr/>
        </p:nvSpPr>
        <p:spPr>
          <a:xfrm>
            <a:off x="3624986"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3853586"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3935882"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3" name="Right Arrow 22"/>
          <p:cNvSpPr/>
          <p:nvPr/>
        </p:nvSpPr>
        <p:spPr>
          <a:xfrm>
            <a:off x="5558332"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786932"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869228"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26" name="TextBox 25"/>
          <p:cNvSpPr txBox="1"/>
          <p:nvPr/>
        </p:nvSpPr>
        <p:spPr>
          <a:xfrm>
            <a:off x="502920" y="4292621"/>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27" name="Rounded Rectangle 26"/>
          <p:cNvSpPr/>
          <p:nvPr/>
        </p:nvSpPr>
        <p:spPr>
          <a:xfrm>
            <a:off x="374904" y="4595305"/>
            <a:ext cx="11441887" cy="1600756"/>
          </a:xfrm>
          <a:prstGeom prst="roundRect">
            <a:avLst>
              <a:gd name="adj" fmla="val 1904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Выигрыш измерен явкой, </a:t>
            </a:r>
            <a:r>
              <a:rPr sz="1450" b="1" i="0">
                <a:solidFill>
                  <a:srgbClr val="21295C"/>
                </a:solidFill>
                <a:latin typeface="Arial"/>
              </a:rPr>
              <a:t>рандомизированное испытание</a:t>
            </a:r>
            <a:r>
              <a:rPr sz="1450" b="0" i="0">
                <a:solidFill>
                  <a:srgbClr val="21295C"/>
                </a:solidFill>
                <a:latin typeface="Arial"/>
              </a:rPr>
              <a:t>. </a:t>
            </a:r>
            <a:r>
              <a:rPr sz="1450" b="1" i="0">
                <a:solidFill>
                  <a:srgbClr val="21295C"/>
                </a:solidFill>
                <a:latin typeface="Arial"/>
              </a:rPr>
              <a:t>Классический режим</a:t>
            </a:r>
            <a:r>
              <a:rPr sz="1450" b="0" i="0">
                <a:solidFill>
                  <a:srgbClr val="21295C"/>
                </a:solidFill>
                <a:latin typeface="Arial"/>
              </a:rPr>
              <a:t> — раз в год отдельный визит к специалисту.</a:t>
            </a:r>
          </a:p>
          <a:p>
            <a:pPr algn="l">
              <a:lnSpc>
                <a:spcPct val="126000"/>
              </a:lnSpc>
              <a:spcBef>
                <a:spcPts val="700"/>
              </a:spcBef>
            </a:pPr>
            <a:r>
              <a:rPr sz="1450" b="0" i="0">
                <a:solidFill>
                  <a:srgbClr val="21295C"/>
                </a:solidFill>
                <a:latin typeface="Arial"/>
              </a:rPr>
              <a:t/>
            </a:r>
            <a:r>
              <a:rPr sz="1450" b="1" i="0">
                <a:solidFill>
                  <a:srgbClr val="21295C"/>
                </a:solidFill>
                <a:latin typeface="Arial"/>
              </a:rPr>
              <a:t>Устроено:</a:t>
            </a:r>
            <a:r>
              <a:rPr sz="1450" b="0" i="0">
                <a:solidFill>
                  <a:srgbClr val="21295C"/>
                </a:solidFill>
                <a:latin typeface="Arial"/>
              </a:rPr>
              <a:t> вход — два снимка глазного дна от медсестры,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Второй шаг: из 25 с отклонением дошли 16 — </a:t>
            </a:r>
            <a:r>
              <a:rPr sz="1450" b="1" i="0">
                <a:solidFill>
                  <a:srgbClr val="21295C"/>
                </a:solidFill>
                <a:latin typeface="Arial"/>
              </a:rPr>
              <a:t>64 из ста против 22</a:t>
            </a:r>
          </a:p>
        </p:txBody>
      </p:sp>
      <p:sp>
        <p:nvSpPr>
          <p:cNvPr id="29" name="Rounded Rectangle 28"/>
          <p:cNvSpPr/>
          <p:nvPr/>
        </p:nvSpPr>
        <p:spPr>
          <a:xfrm>
            <a:off x="7756855" y="1335024"/>
            <a:ext cx="3931920" cy="2707004"/>
          </a:xfrm>
          <a:prstGeom prst="roundRect">
            <a:avLst>
              <a:gd name="adj" fmla="val 11259"/>
            </a:avLst>
          </a:prstGeom>
          <a:solidFill>
            <a:srgbClr val="F4F7FA"/>
          </a:solidFill>
          <a:ln w="19050">
            <a:solidFill>
              <a:srgbClr val="1C7293"/>
            </a:solidFill>
          </a:ln>
          <a:effectLst/>
        </p:spPr>
        <p:txBody>
          <a:bodyPr rtlCol="0" anchor="ctr"/>
          <a:lstStyle/>
          <a:p>
            <a:pPr algn="ctr"/>
          </a:p>
        </p:txBody>
      </p:sp>
      <p:pic>
        <p:nvPicPr>
          <p:cNvPr id="30" name="Picture 29" descr="s18-fundus-kamera-v-kabinete.jpg"/>
          <p:cNvPicPr>
            <a:picLocks noChangeAspect="1"/>
          </p:cNvPicPr>
          <p:nvPr/>
        </p:nvPicPr>
        <p:blipFill>
          <a:blip r:embed="rId2"/>
          <a:stretch>
            <a:fillRect/>
          </a:stretch>
        </p:blipFill>
        <p:spPr>
          <a:xfrm>
            <a:off x="7894015" y="1472184"/>
            <a:ext cx="3657600" cy="2432685"/>
          </a:xfrm>
          <a:prstGeom prst="rect">
            <a:avLst/>
          </a:prstGeom>
        </p:spPr>
      </p:pic>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 — рандомизированное испытание явки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шага не было</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доступ ценой отказного потока</a:t>
            </a:r>
          </a:p>
        </p:txBody>
      </p:sp>
      <p:sp>
        <p:nvSpPr>
          <p:cNvPr id="13" name="Rounded Rectangle 12"/>
          <p:cNvSpPr/>
          <p:nvPr/>
        </p:nvSpPr>
        <p:spPr>
          <a:xfrm>
            <a:off x="374904" y="277139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перешло к допущенному регулятором устройству.</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в одну бухгалтерию не складывается</a:t>
            </a:r>
          </a:p>
        </p:txBody>
      </p:sp>
      <p:sp>
        <p:nvSpPr>
          <p:cNvPr id="16" name="Rectangle 15"/>
          <p:cNvSpPr/>
          <p:nvPr/>
        </p:nvSpPr>
        <p:spPr>
          <a:xfrm>
            <a:off x="6091275" y="2862837"/>
            <a:ext cx="9144" cy="1663105"/>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измерен доступом, точности модель не прибавила</a:t>
            </a:r>
          </a:p>
        </p:txBody>
      </p:sp>
      <p:sp>
        <p:nvSpPr>
          <p:cNvPr id="4" name="Rounded Rectangle 3"/>
          <p:cNvSpPr/>
          <p:nvPr/>
        </p:nvSpPr>
        <p:spPr>
          <a:xfrm>
            <a:off x="374904" y="1243584"/>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снять объём чтения, где процедура плотная · дотянуться до тех, кто иначе не придёт.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порог — за ним подпись · открытый поток · годность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платить некому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Сменился исполнитель</a:t>
            </a:r>
            <a:r>
              <a:rPr sz="1500" b="0" i="0">
                <a:solidFill>
                  <a:srgbClr val="21295C"/>
                </a:solidFill>
                <a:latin typeface="Arial"/>
              </a:rPr>
              <a:t>, производной формой </a:t>
            </a:r>
            <a:r>
              <a:rPr sz="1500" b="1" i="0">
                <a:solidFill>
                  <a:srgbClr val="21295C"/>
                </a:solidFill>
                <a:latin typeface="Arial"/>
              </a:rPr>
              <a:t>появился шаг</a:t>
            </a:r>
            <a:r>
              <a:rPr sz="1500" b="0" i="0">
                <a:solidFill>
                  <a:srgbClr val="21295C"/>
                </a:solidFill>
                <a:latin typeface="Arial"/>
              </a:rPr>
              <a:t> — годный снимок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Прочерк: 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19601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 уже измерен — и заключение по измеренному выносит система.</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1 классический режим отдельным кадром · 2 упоминания с числом</a:t>
            </a:r>
          </a:p>
        </p:txBody>
      </p:sp>
      <p:sp>
        <p:nvSpPr>
          <p:cNvPr id="10" name="TextBox 9"/>
          <p:cNvSpPr txBox="1"/>
          <p:nvPr/>
        </p:nvSpPr>
        <p:spPr>
          <a:xfrm>
            <a:off x="704088" y="4116427"/>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1" name="TextBox 10"/>
          <p:cNvSpPr txBox="1"/>
          <p:nvPr/>
        </p:nvSpPr>
        <p:spPr>
          <a:xfrm>
            <a:off x="704088" y="5187291"/>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Инструментальная и лабораторная диагностика: что это за стадия</a:t>
            </a:r>
          </a:p>
        </p:txBody>
      </p:sp>
      <p:sp>
        <p:nvSpPr>
          <p:cNvPr id="4" name="Rounded Rectangle 3"/>
          <p:cNvSpPr/>
          <p:nvPr/>
        </p:nvSpPr>
        <p:spPr>
          <a:xfrm>
            <a:off x="374904" y="12435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 человека снимают величины</a:t>
            </a:r>
            <a:r>
              <a:rPr sz="1500" b="0" i="0">
                <a:solidFill>
                  <a:srgbClr val="21295C"/>
                </a:solidFill>
                <a:latin typeface="Arial"/>
              </a:rPr>
              <a:t> — прибором, в лаборатории, под нагрузкой.</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ставит человека к прибору, снимает, смотрит на экран и решает: читать или переснимать. Посев мокроты идёт три недели, и три недели эти платит человек.</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a:t>
            </a:r>
            <a:r>
              <a:rPr sz="1500" b="0" i="0">
                <a:solidFill>
                  <a:srgbClr val="21295C"/>
                </a:solidFill>
                <a:latin typeface="Arial"/>
              </a:rPr>
              <a:t> что измерено и с какой точностью.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после отбора:</a:t>
            </a:r>
            <a:r>
              <a:rPr sz="1500" b="0" i="0">
                <a:solidFill>
                  <a:srgbClr val="21295C"/>
                </a:solidFill>
                <a:latin typeface="Arial"/>
              </a:rPr>
              <a:t> обе доли измерения посчитаны на группе, которую собрал отбор.</a:t>
            </a:r>
          </a:p>
        </p:txBody>
      </p:sp>
      <p:sp>
        <p:nvSpPr>
          <p:cNvPr id="7" name="Rectangle 6"/>
          <p:cNvSpPr/>
          <p:nvPr/>
        </p:nvSpPr>
        <p:spPr>
          <a:xfrm>
            <a:off x="6091275" y="1335024"/>
            <a:ext cx="9144" cy="15742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действий стадии и что заняла модель</a:t>
            </a:r>
          </a:p>
        </p:txBody>
      </p:sp>
      <p:sp>
        <p:nvSpPr>
          <p:cNvPr id="4" name="Rounded Rectangle 3"/>
          <p:cNvSpPr/>
          <p:nvPr/>
        </p:nvSpPr>
        <p:spPr>
          <a:xfrm>
            <a:off x="502920" y="1335024"/>
            <a:ext cx="3389223"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работы</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работ</a:t>
            </a:r>
          </a:p>
        </p:txBody>
      </p:sp>
      <p:sp>
        <p:nvSpPr>
          <p:cNvPr id="8" name="Rounded Rectangle 7"/>
          <p:cNvSpPr/>
          <p:nvPr/>
        </p:nvSpPr>
        <p:spPr>
          <a:xfrm>
            <a:off x="4056735" y="1335024"/>
            <a:ext cx="3389223"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 ПОЧТИ НИКТО</a:t>
            </a:r>
          </a:p>
        </p:txBody>
      </p:sp>
      <p:sp>
        <p:nvSpPr>
          <p:cNvPr id="10" name="TextBox 9"/>
          <p:cNvSpPr txBox="1"/>
          <p:nvPr/>
        </p:nvSpPr>
        <p:spPr>
          <a:xfrm>
            <a:off x="4193895" y="1725375"/>
            <a:ext cx="31149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одна не годна для клиники</a:t>
            </a:r>
          </a:p>
        </p:txBody>
      </p:sp>
      <p:sp>
        <p:nvSpPr>
          <p:cNvPr id="11" name="Rounded Rectangle 10"/>
          <p:cNvSpPr/>
          <p:nvPr/>
        </p:nvSpPr>
        <p:spPr>
          <a:xfrm>
            <a:off x="374904" y="4154126"/>
            <a:ext cx="11441887" cy="2082081"/>
          </a:xfrm>
          <a:prstGeom prst="roundRect">
            <a:avLst>
              <a:gd name="adj" fmla="val 1463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4245566"/>
            <a:ext cx="11112703" cy="199064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 прибора стоит человек: лаборант, техник, медсестра.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все шесть действий делает человек по записанному правилу. С моделью — два из шести:</a:t>
            </a:r>
            <a:r>
              <a:rPr sz="1500" b="0" i="0">
                <a:solidFill>
                  <a:srgbClr val="21295C"/>
                </a:solidFill>
                <a:latin typeface="Arial"/>
              </a:rPr>
              <a:t> прочесть измерение и сообщить результат.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Вам называют «точность 94 процента». На какой группе она посчитана?</a:t>
            </a:r>
          </a:p>
        </p:txBody>
      </p:sp>
      <p:sp>
        <p:nvSpPr>
          <p:cNvPr id="13" name="Rounded Rectangle 12"/>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14" name="Picture 13"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против 79</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РАБОЧАЯ ТОЧКА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 · 11 из ста здоровых напрасно</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точка</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ВЕРНЫХ ТРЕВОГ: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больных 100 и 3 000 из 10 000; 94 на 1 089 и 2 820 на 770</a:t>
            </a:r>
          </a:p>
        </p:txBody>
      </p:sp>
      <p:sp>
        <p:nvSpPr>
          <p:cNvPr id="12" name="Rounded Rectangle 11"/>
          <p:cNvSpPr/>
          <p:nvPr/>
        </p:nvSpPr>
        <p:spPr>
          <a:xfrm>
            <a:off x="374904" y="2982641"/>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изменилось ничего — менялась только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Женщина с письмом в поголовном потоке: у неё 8 из ста.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негодный уйдёт на чтение:</a:t>
            </a:r>
            <a:r>
              <a:rPr sz="1500" b="0" i="0">
                <a:solidFill>
                  <a:srgbClr val="21295C"/>
                </a:solidFill>
                <a:latin typeface="Arial"/>
              </a:rPr>
              <a:t> диагноз поставят по тому, что видно.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заметит, если не он:</a:t>
            </a:r>
            <a:r>
              <a:rPr sz="1500" b="0" i="0">
                <a:solidFill>
                  <a:srgbClr val="21295C"/>
                </a:solidFill>
                <a:latin typeface="Arial"/>
              </a:rPr>
              <a:t> никто, пока не понадобится пересмотр.</a:t>
            </a:r>
          </a:p>
        </p:txBody>
      </p:sp>
      <p:sp>
        <p:nvSpPr>
          <p:cNvPr id="17" name="Rectangle 16"/>
          <p:cNvSpPr/>
          <p:nvPr/>
        </p:nvSpPr>
        <p:spPr>
          <a:xfrm>
            <a:off x="6091275" y="2241116"/>
            <a:ext cx="9144" cy="127714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930298" cy="724060"/>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потеря зрения · визит к офтальмологу, которого нет</a:t>
            </a:r>
          </a:p>
        </p:txBody>
      </p:sp>
      <p:sp>
        <p:nvSpPr>
          <p:cNvPr id="7" name="Rounded Rectangle 6"/>
          <p:cNvSpPr/>
          <p:nvPr/>
        </p:nvSpPr>
        <p:spPr>
          <a:xfrm>
            <a:off x="2872130" y="1335024"/>
            <a:ext cx="2204618"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00929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9" name="TextBox 8"/>
          <p:cNvSpPr txBox="1"/>
          <p:nvPr/>
        </p:nvSpPr>
        <p:spPr>
          <a:xfrm>
            <a:off x="3009290" y="1932846"/>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0" name="TextBox 9"/>
          <p:cNvSpPr txBox="1"/>
          <p:nvPr/>
        </p:nvSpPr>
        <p:spPr>
          <a:xfrm>
            <a:off x="3009290" y="2359845"/>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11 клиник</a:t>
            </a:r>
          </a:p>
        </p:txBody>
      </p:sp>
      <p:sp>
        <p:nvSpPr>
          <p:cNvPr id="11" name="Rounded Rectangle 10"/>
          <p:cNvSpPr/>
          <p:nvPr/>
        </p:nvSpPr>
        <p:spPr>
          <a:xfrm>
            <a:off x="524134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3" name="TextBox 12"/>
          <p:cNvSpPr txBox="1"/>
          <p:nvPr/>
        </p:nvSpPr>
        <p:spPr>
          <a:xfrm>
            <a:off x="5378500" y="1725375"/>
            <a:ext cx="1930298"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результат в кабинете первичного звена → годный снимок в непроверенных условиях</a:t>
            </a:r>
          </a:p>
        </p:txBody>
      </p:sp>
      <p:sp>
        <p:nvSpPr>
          <p:cNvPr id="14" name="TextBox 13"/>
          <p:cNvSpPr txBox="1"/>
          <p:nvPr/>
        </p:nvSpPr>
        <p:spPr>
          <a:xfrm>
            <a:off x="5378500" y="2780446"/>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на старте хуже лабораторного замера</a:t>
            </a:r>
          </a:p>
        </p:txBody>
      </p:sp>
      <p:sp>
        <p:nvSpPr>
          <p:cNvPr id="15" name="Rounded Rectangle 14"/>
          <p:cNvSpPr/>
          <p:nvPr/>
        </p:nvSpPr>
        <p:spPr>
          <a:xfrm>
            <a:off x="374904" y="3431533"/>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22973"/>
            <a:ext cx="11112703" cy="27132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Классический режим,</a:t>
            </a:r>
            <a:r>
              <a:rPr sz="1500" b="0" i="0">
                <a:solidFill>
                  <a:srgbClr val="21295C"/>
                </a:solidFill>
                <a:latin typeface="Arial"/>
              </a:rPr>
              <a:t> без числа: человек с диабетом раз в год идёт к офтальмологу — тот снимает и читает.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два снимка глазного дна, выход — та же метка. Обучено на снимках, прошедших отбор по качеству; в поле его делает человек без правила. Имени системы нет.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У техника появилась работа добиться годного снимка; появился шаг — повторный визит каждому из 21 из ста. </a:t>
            </a:r>
            <a:r>
              <a:rPr sz="1500" b="0" i="1">
                <a:solidFill>
                  <a:srgbClr val="21295C"/>
                </a:solidFill>
                <a:latin typeface="Arial"/>
              </a:rPr>
              <a:t>Полевое наблюдение; причины обе про место съёмки.</a:t>
            </a:r>
          </a:p>
        </p:txBody>
      </p:sp>
      <p:sp>
        <p:nvSpPr>
          <p:cNvPr id="17" name="Rounded Rectangle 16"/>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8" name="Picture 17"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ГЛАЗОМ → ДЕРМОСКОПИЯ</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 из ста больных</a:t>
            </a:r>
          </a:p>
        </p:txBody>
      </p:sp>
      <p:sp>
        <p:nvSpPr>
          <p:cNvPr id="10" name="TextBox 9"/>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 74, один метаанализ</a:t>
            </a:r>
          </a:p>
        </p:txBody>
      </p:sp>
      <p:sp>
        <p:nvSpPr>
          <p:cNvPr id="11" name="Rounded Rectangle 10"/>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a:t>
            </a:r>
          </a:p>
        </p:txBody>
      </p:sp>
      <p:sp>
        <p:nvSpPr>
          <p:cNvPr id="13" name="TextBox 12"/>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9–15 пунктов площади под кривой</a:t>
            </a:r>
          </a:p>
        </p:txBody>
      </p:sp>
      <p:sp>
        <p:nvSpPr>
          <p:cNvPr id="14" name="TextBox 13"/>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656 изображений с биопсией: 208 светлых · 241 средних · 207 тёмных</a:t>
            </a:r>
          </a:p>
        </p:txBody>
      </p:sp>
      <p:sp>
        <p:nvSpPr>
          <p:cNvPr id="15" name="Rounded Rectangle 14"/>
          <p:cNvSpPr/>
          <p:nvPr/>
        </p:nvSpPr>
        <p:spPr>
          <a:xfrm>
            <a:off x="374904" y="3193884"/>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285324"/>
            <a:ext cx="11112703"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снимок образования, выход — «показать врачу или нет». Наборы у трёх моделей свои, тёмных тонов в них мало — в этом разбор. Имён нет, проверочный набор назван — DDI. </a:t>
            </a:r>
            <a:r>
              <a:rPr sz="1500" b="0" i="1">
                <a:solidFill>
                  <a:srgbClr val="21295C"/>
                </a:solidFill>
                <a:latin typeface="Arial"/>
              </a:rPr>
              <a:t>Классификация на изображении.</a:t>
            </a:r>
          </a:p>
          <a:p>
            <a:pPr algn="l">
              <a:lnSpc>
                <a:spcPct val="126000"/>
              </a:lnSpc>
              <a:spcBef>
                <a:spcPts val="700"/>
              </a:spcBef>
            </a:pPr>
            <a:r>
              <a:rPr sz="1200" b="0" i="0">
                <a:solidFill>
                  <a:srgbClr val="21295C"/>
                </a:solidFill>
                <a:latin typeface="Arial"/>
              </a:rPr>
              <a:t/>
            </a:r>
            <a:r>
              <a:rPr sz="1200" b="0" i="1">
                <a:solidFill>
                  <a:srgbClr val="1C7293"/>
                </a:solidFill>
                <a:latin typeface="Arial"/>
              </a:rPr>
              <a:t>Классические режимы — из одного метаанализа прямого сравнения; модель — на отобранном биопсийном корпусе.</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разрыв снимает</a:t>
            </a:r>
          </a:p>
        </p:txBody>
      </p:sp>
      <p:sp>
        <p:nvSpPr>
          <p:cNvPr id="7" name="TextBox 6"/>
          <p:cNvSpPr txBox="1"/>
          <p:nvPr/>
        </p:nvSpPr>
        <p:spPr>
          <a:xfrm>
            <a:off x="640080"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3" name="TextBox 12"/>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7" name="TextBox 16"/>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8" name="TextBox 17"/>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19" name="Rounded Rectangle 18"/>
          <p:cNvSpPr/>
          <p:nvPr/>
        </p:nvSpPr>
        <p:spPr>
          <a:xfrm>
            <a:off x="374904" y="3612599"/>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поля нет ни у одной из трёх моделей.</a:t>
            </a:r>
          </a:p>
        </p:txBody>
      </p:sp>
      <p:sp>
        <p:nvSpPr>
          <p:cNvPr id="22" name="Rectangle 21"/>
          <p:cNvSpPr/>
          <p:nvPr/>
        </p:nvSpPr>
        <p:spPr>
          <a:xfrm>
            <a:off x="6091275" y="3704039"/>
            <a:ext cx="9144" cy="891183"/>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658969"/>
          </a:xfrm>
          <a:prstGeom prst="roundRect">
            <a:avLst>
              <a:gd name="adj" fmla="val 183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болезнь без присмотра · занятое место и время координатора</a:t>
            </a:r>
          </a:p>
        </p:txBody>
      </p:sp>
      <p:sp>
        <p:nvSpPr>
          <p:cNvPr id="7" name="Rounded Rectangle 6"/>
          <p:cNvSpPr/>
          <p:nvPr/>
        </p:nvSpPr>
        <p:spPr>
          <a:xfrm>
            <a:off x="4286402" y="1335024"/>
            <a:ext cx="3618890" cy="1658969"/>
          </a:xfrm>
          <a:prstGeom prst="roundRect">
            <a:avLst>
              <a:gd name="adj" fmla="val 1837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БАЛЛОМ</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0" name="TextBox 9"/>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a:t>
            </a:r>
          </a:p>
        </p:txBody>
      </p:sp>
      <p:sp>
        <p:nvSpPr>
          <p:cNvPr id="11" name="Rounded Rectangle 10"/>
          <p:cNvSpPr/>
          <p:nvPr/>
        </p:nvSpPr>
        <p:spPr>
          <a:xfrm>
            <a:off x="8069884" y="1335024"/>
            <a:ext cx="3618890" cy="1658969"/>
          </a:xfrm>
          <a:prstGeom prst="roundRect">
            <a:avLst>
              <a:gd name="adj" fmla="val 18372"/>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4" name="TextBox 13"/>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5" name="Rounded Rectangle 14"/>
          <p:cNvSpPr/>
          <p:nvPr/>
        </p:nvSpPr>
        <p:spPr>
          <a:xfrm>
            <a:off x="374904" y="308543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76873"/>
            <a:ext cx="11112703" cy="30593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записи карты и данные о расходах, выход — один балл на человека и отбор по порогу. </a:t>
            </a:r>
            <a:r>
              <a:rPr sz="1500" b="1" i="0">
                <a:solidFill>
                  <a:srgbClr val="21295C"/>
                </a:solidFill>
                <a:latin typeface="Arial"/>
              </a:rPr>
              <a:t>Обучено предсказывать будущие расходы на лечение</a:t>
            </a:r>
            <a:r>
              <a:rPr sz="1500" b="0" i="0">
                <a:solidFill>
                  <a:srgbClr val="21295C"/>
                </a:solidFill>
                <a:latin typeface="Arial"/>
              </a:rPr>
              <a:t> — а решение принималось о болезни. Имени у промышленного алгоритма публикация не даёт. </a:t>
            </a:r>
            <a:r>
              <a:rPr sz="1500" b="0" i="1">
                <a:solidFill>
                  <a:srgbClr val="21295C"/>
                </a:solidFill>
                <a:latin typeface="Arial"/>
              </a:rPr>
              <a:t>Прогноз на структурированных данных.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Покупает такой счёт администрация или плательщик, не врач, и «дорого лечится» от «болен» он не отличает.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5510631"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НАБЛЮДАЕМАЯ → ПРИ УБРАННОМ РАЗРЫВЕ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17,7 → 46,5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внедрения не было</a:t>
            </a:r>
          </a:p>
        </p:txBody>
      </p:sp>
      <p:sp>
        <p:nvSpPr>
          <p:cNvPr id="8" name="Rounded Rectangle 7"/>
          <p:cNvSpPr/>
          <p:nvPr/>
        </p:nvSpPr>
        <p:spPr>
          <a:xfrm>
            <a:off x="6178143" y="1335024"/>
            <a:ext cx="5510631"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0" name="TextBox 9"/>
          <p:cNvSpPr txBox="1"/>
          <p:nvPr/>
        </p:nvSpPr>
        <p:spPr>
          <a:xfrm>
            <a:off x="6315303" y="1725375"/>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последовательный отбор вместо ручного → совпадения расходов с болезнью, которого нет</a:t>
            </a:r>
          </a:p>
        </p:txBody>
      </p:sp>
      <p:sp>
        <p:nvSpPr>
          <p:cNvPr id="11" name="TextBox 10"/>
          <p:cNvSpPr txBox="1"/>
          <p:nvPr/>
        </p:nvSpPr>
        <p:spPr>
          <a:xfrm>
            <a:off x="6315303" y="29332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для одной группы хуже прежнего отбора</a:t>
            </a:r>
          </a:p>
        </p:txBody>
      </p:sp>
      <p:sp>
        <p:nvSpPr>
          <p:cNvPr id="12" name="Rounded Rectangle 11"/>
          <p:cNvSpPr/>
          <p:nvPr/>
        </p:nvSpPr>
        <p:spPr>
          <a:xfrm>
            <a:off x="374904" y="3373064"/>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64504"/>
            <a:ext cx="5373471"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4" name="TextBox 13"/>
          <p:cNvSpPr txBox="1"/>
          <p:nvPr/>
        </p:nvSpPr>
        <p:spPr>
          <a:xfrm>
            <a:off x="6278727" y="3464504"/>
            <a:ext cx="5373471"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Внутренняя проверка этого не видит: провал лежит там, где его не проверяют.</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Расчёт авторов на тех же данных — не измерение.</a:t>
            </a:r>
          </a:p>
        </p:txBody>
      </p:sp>
      <p:sp>
        <p:nvSpPr>
          <p:cNvPr id="15" name="Rectangle 14"/>
          <p:cNvSpPr/>
          <p:nvPr/>
        </p:nvSpPr>
        <p:spPr>
          <a:xfrm>
            <a:off x="6091275" y="3464504"/>
            <a:ext cx="9144" cy="92067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Ни в одном разборе не провалилось само чтение</a:t>
            </a:r>
          </a:p>
        </p:txBody>
      </p:sp>
      <p:sp>
        <p:nvSpPr>
          <p:cNvPr id="4" name="Rounded Rectangle 3"/>
          <p:cNvSpPr/>
          <p:nvPr/>
        </p:nvSpPr>
        <p:spPr>
          <a:xfrm>
            <a:off x="374904" y="1243584"/>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 постоянство: десятитысячный снимок как первый - поток: норма не занимает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 рабочая точка: за порогом цена ошибок - переснять: годность осталась человеку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 нагрузка на том же месте, повторный визит - исполнитель: отбор делал врач, стал балл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Держит</a:t>
            </a:r>
            <a:r>
              <a:rPr sz="1500" b="0" i="0">
                <a:solidFill>
                  <a:srgbClr val="21295C"/>
                </a:solidFill>
                <a:latin typeface="Arial"/>
              </a:rPr>
              <a:t> - рабочая точка под цену, пересчёт под группу - </a:t>
            </a:r>
            <a:r>
              <a:rPr sz="1500" b="1" i="0">
                <a:solidFill>
                  <a:srgbClr val="21295C"/>
                </a:solidFill>
                <a:latin typeface="Arial"/>
              </a:rPr>
              <a:t>прочерк: цель системы не проверяет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Провалились развёртывание, состав набора и цель.</a:t>
            </a:r>
          </a:p>
        </p:txBody>
      </p:sp>
      <p:sp>
        <p:nvSpPr>
          <p:cNvPr id="7" name="Rectangle 6"/>
          <p:cNvSpPr/>
          <p:nvPr/>
        </p:nvSpPr>
        <p:spPr>
          <a:xfrm>
            <a:off x="6091275" y="1335024"/>
            <a:ext cx="9144" cy="16631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заключение по измеренному выносила система — здесь подпись ставит человек.</a:t>
            </a:r>
            <a:r>
              <a:rPr sz="1550" b="0" i="0">
                <a:solidFill>
                  <a:srgbClr val="21295C"/>
                </a:solidFill>
                <a:latin typeface="Arial"/>
              </a:rPr>
              <a:t> Читает он теперь не только снимок, но и подсказку модели рядом. Разборы по порядку:</a:t>
            </a:r>
          </a:p>
        </p:txBody>
      </p:sp>
      <p:sp>
        <p:nvSpPr>
          <p:cNvPr id="9" name="TextBox 8"/>
          <p:cNvSpPr txBox="1"/>
          <p:nvPr/>
        </p:nvSpPr>
        <p:spPr>
          <a:xfrm>
            <a:off x="704088" y="2915422"/>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и </a:t>
            </a:r>
            <a:r>
              <a:rPr sz="1550" b="1" i="0">
                <a:solidFill>
                  <a:srgbClr val="21295C"/>
                </a:solidFill>
                <a:latin typeface="Arial"/>
              </a:rPr>
              <a:t>зеркало того же замера</a:t>
            </a:r>
          </a:p>
        </p:txBody>
      </p:sp>
      <p:sp>
        <p:nvSpPr>
          <p:cNvPr id="10" name="TextBox 9"/>
          <p:cNvSpPr txBox="1"/>
          <p:nvPr/>
        </p:nvSpPr>
        <p:spPr>
          <a:xfrm>
            <a:off x="704088" y="3382105"/>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1" name="TextBox 10"/>
          <p:cNvSpPr txBox="1"/>
          <p:nvPr/>
        </p:nvSpPr>
        <p:spPr>
          <a:xfrm>
            <a:off x="704088" y="3848787"/>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2" name="TextBox 11"/>
          <p:cNvSpPr txBox="1"/>
          <p:nvPr/>
        </p:nvSpPr>
        <p:spPr>
          <a:xfrm>
            <a:off x="704088" y="4315470"/>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3" name="TextBox 12"/>
          <p:cNvSpPr txBox="1"/>
          <p:nvPr/>
        </p:nvSpPr>
        <p:spPr>
          <a:xfrm>
            <a:off x="704088" y="478215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5: хирурги на септическом шоке</a:t>
            </a:r>
          </a:p>
        </p:txBody>
      </p:sp>
      <p:sp>
        <p:nvSpPr>
          <p:cNvPr id="14" name="TextBox 13"/>
          <p:cNvSpPr txBox="1"/>
          <p:nvPr/>
        </p:nvSpPr>
        <p:spPr>
          <a:xfrm>
            <a:off x="704088" y="5248836"/>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Постановка диагноза: что это за стадия</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постановка диагноза.</a:t>
            </a:r>
            <a:r>
              <a:rPr sz="1500" b="0" i="0">
                <a:solidFill>
                  <a:srgbClr val="21295C"/>
                </a:solidFill>
                <a:latin typeface="Arial"/>
              </a:rPr>
              <a:t> Измерения сделаны — здесь их складывают вместе, и под заключением встаёт подпись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Приём: врач слушает рассказ, смотрит руками, открывает снимок — и держит список болезней, которые это объясняют. Вычёркивают его проверками: сначала дешёвыми и отсекающими много.</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модели это решают так:</a:t>
            </a:r>
            <a:r>
              <a:rPr sz="1500" b="0" i="0">
                <a:solidFill>
                  <a:srgbClr val="21295C"/>
                </a:solidFill>
                <a:latin typeface="Arial"/>
              </a:rPr>
              <a:t> дифференциальный диагноз · второе мнение от того, кто первого не видел · консилиум · клинические рекомендации.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Назначенное отменяют, пока его не выполнили.</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приём: как сужается список</a:t>
            </a:r>
          </a:p>
        </p:txBody>
      </p:sp>
      <p:sp>
        <p:nvSpPr>
          <p:cNvPr id="4" name="TextBox 3"/>
          <p:cNvSpPr txBox="1"/>
          <p:nvPr/>
        </p:nvSpPr>
        <p:spPr>
          <a:xfrm>
            <a:off x="502920" y="1371600"/>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7" name="Right Arrow 6"/>
          <p:cNvSpPr/>
          <p:nvPr/>
        </p:nvSpPr>
        <p:spPr>
          <a:xfrm>
            <a:off x="3141649" y="160536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0" name="Right Arrow 9"/>
          <p:cNvSpPr/>
          <p:nvPr/>
        </p:nvSpPr>
        <p:spPr>
          <a:xfrm>
            <a:off x="4591659" y="160536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3" name="Right Arrow 12"/>
          <p:cNvSpPr/>
          <p:nvPr/>
        </p:nvSpPr>
        <p:spPr>
          <a:xfrm>
            <a:off x="6041669" y="160536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16" name="TextBox 15"/>
          <p:cNvSpPr txBox="1"/>
          <p:nvPr/>
        </p:nvSpPr>
        <p:spPr>
          <a:xfrm>
            <a:off x="502920" y="2195738"/>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17" name="Rounded Rectangle 16"/>
          <p:cNvSpPr/>
          <p:nvPr/>
        </p:nvSpPr>
        <p:spPr>
          <a:xfrm>
            <a:off x="1920240"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19" name="Rounded Rectangle 18"/>
          <p:cNvSpPr/>
          <p:nvPr/>
        </p:nvSpPr>
        <p:spPr>
          <a:xfrm>
            <a:off x="3810914"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3893210"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1" name="Rounded Rectangle 20"/>
          <p:cNvSpPr/>
          <p:nvPr/>
        </p:nvSpPr>
        <p:spPr>
          <a:xfrm>
            <a:off x="5701588"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783884"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3" name="TextBox 22"/>
          <p:cNvSpPr txBox="1"/>
          <p:nvPr/>
        </p:nvSpPr>
        <p:spPr>
          <a:xfrm>
            <a:off x="502920" y="2873573"/>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a:t>
            </a:r>
          </a:p>
        </p:txBody>
      </p:sp>
      <p:sp>
        <p:nvSpPr>
          <p:cNvPr id="24" name="Rounded Rectangle 23"/>
          <p:cNvSpPr/>
          <p:nvPr/>
        </p:nvSpPr>
        <p:spPr>
          <a:xfrm>
            <a:off x="374904" y="3993641"/>
            <a:ext cx="11441887" cy="2242566"/>
          </a:xfrm>
          <a:prstGeom prst="roundRect">
            <a:avLst>
              <a:gd name="adj" fmla="val 13591"/>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085081"/>
            <a:ext cx="11112703" cy="2151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Один приём: кашель три недели, вечерняя температура, минус четыре килограмма. В списке четыре болезни; снимок и анализ крови вычеркнули две — осталось две, которые по снимку не различаются.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Добавилось одно действие, которого у врача не было: решить, верить ли подсказке.</a:t>
            </a:r>
          </a:p>
        </p:txBody>
      </p:sp>
      <p:sp>
        <p:nvSpPr>
          <p:cNvPr id="26" name="Rounded Rectangle 25"/>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27" name="Picture 26"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5" name="Rounded Rectangle 4"/>
          <p:cNvSpPr/>
          <p:nvPr/>
        </p:nvSpPr>
        <p:spPr>
          <a:xfrm>
            <a:off x="1920240"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6713067"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10" name="TextBox 9"/>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Разошлись</a:t>
            </a:r>
          </a:p>
        </p:txBody>
      </p:sp>
      <p:sp>
        <p:nvSpPr>
          <p:cNvPr id="11" name="Rounded Rectangle 10"/>
          <p:cNvSpPr/>
          <p:nvPr/>
        </p:nvSpPr>
        <p:spPr>
          <a:xfrm>
            <a:off x="1920240"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13" name="Right Arrow 12"/>
          <p:cNvSpPr/>
          <p:nvPr/>
        </p:nvSpPr>
        <p:spPr>
          <a:xfrm>
            <a:off x="6713067" y="212583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941667"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7023963"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16" name="TextBox 15"/>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Перегородка: второй не видит первого заключения</a:t>
            </a:r>
          </a:p>
        </p:txBody>
      </p:sp>
      <p:sp>
        <p:nvSpPr>
          <p:cNvPr id="17" name="Rounded Rectangle 16"/>
          <p:cNvSpPr/>
          <p:nvPr/>
        </p:nvSpPr>
        <p:spPr>
          <a:xfrm>
            <a:off x="374904" y="2771373"/>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a:t>
            </a:r>
          </a:p>
          <a:p>
            <a:pPr algn="l">
              <a:lnSpc>
                <a:spcPct val="126000"/>
              </a:lnSpc>
              <a:spcBef>
                <a:spcPts val="700"/>
              </a:spcBef>
            </a:pPr>
            <a:r>
              <a:rPr sz="1500" b="0" i="0">
                <a:solidFill>
                  <a:srgbClr val="21295C"/>
                </a:solidFill>
                <a:latin typeface="Arial"/>
              </a:rPr>
              <a:t/>
            </a:r>
            <a:r>
              <a:rPr sz="1500" b="0" i="0">
                <a:solidFill>
                  <a:srgbClr val="21295C"/>
                </a:solidFill>
                <a:latin typeface="Arial"/>
              </a:rPr>
              <a:t>Второе мнение от модели, подсказавшей первое, — </a:t>
            </a:r>
            <a:r>
              <a:rPr sz="1500" b="1" i="0">
                <a:solidFill>
                  <a:srgbClr val="21295C"/>
                </a:solidFill>
                <a:latin typeface="Arial"/>
              </a:rPr>
              <a:t>уже не второе:</a:t>
            </a:r>
            <a:r>
              <a:rPr sz="1500" b="0" i="0">
                <a:solidFill>
                  <a:srgbClr val="21295C"/>
                </a:solidFill>
                <a:latin typeface="Arial"/>
              </a:rPr>
              <a:t> ошибка общая и удваивается вместо усреднения.</a:t>
            </a:r>
          </a:p>
        </p:txBody>
      </p:sp>
      <p:sp>
        <p:nvSpPr>
          <p:cNvPr id="19" name="TextBox 18"/>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Снимок женщины с письмом прочтёт тот, у кого подсказка на экране.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0" name="Rectangle 19"/>
          <p:cNvSpPr/>
          <p:nvPr/>
        </p:nvSpPr>
        <p:spPr>
          <a:xfrm>
            <a:off x="6091275" y="2862813"/>
            <a:ext cx="9144" cy="1574205"/>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11112703"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не передвигает на ступень выше:</a:t>
            </a:r>
            <a:r>
              <a:rPr sz="1500" b="0" i="0">
                <a:solidFill>
                  <a:srgbClr val="21295C"/>
                </a:solidFill>
                <a:latin typeface="Arial"/>
              </a:rPr>
              <a:t> у 44 обученных врачей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71 → 39 из ста</a:t>
            </a:r>
          </a:p>
        </p:txBody>
      </p:sp>
      <p:sp>
        <p:nvSpPr>
          <p:cNvPr id="7" name="TextBox 6"/>
          <p:cNvSpPr txBox="1"/>
          <p:nvPr/>
        </p:nvSpPr>
        <p:spPr>
          <a:xfrm>
            <a:off x="640080"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перекрёстная подача; тот же читатель, те же случаи; медиана десяти; −32 пункта, значимо</a:t>
            </a:r>
          </a:p>
        </p:txBody>
      </p:sp>
      <p:sp>
        <p:nvSpPr>
          <p:cNvPr id="8" name="Rounded Rectangle 7"/>
          <p:cNvSpPr/>
          <p:nvPr/>
        </p:nvSpPr>
        <p:spPr>
          <a:xfrm>
            <a:off x="3340531"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ВЗГЛЯД НА ПРОПУЩЕННОМ МОДЕЛЬЮ</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0,47 → 0,44 фиксации в секунду</a:t>
            </a:r>
          </a:p>
        </p:txBody>
      </p:sp>
      <p:sp>
        <p:nvSpPr>
          <p:cNvPr id="11" name="TextBox 10"/>
          <p:cNvSpPr txBox="1"/>
          <p:nvPr/>
        </p:nvSpPr>
        <p:spPr>
          <a:xfrm>
            <a:off x="3477691" y="25805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подсказки → с подсказкой</a:t>
            </a:r>
          </a:p>
        </p:txBody>
      </p:sp>
      <p:sp>
        <p:nvSpPr>
          <p:cNvPr id="12" name="Rounded Rectangle 11"/>
          <p:cNvSpPr/>
          <p:nvPr/>
        </p:nvSpPr>
        <p:spPr>
          <a:xfrm>
            <a:off x="6178143"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5" name="Rounded Rectangle 14"/>
          <p:cNvSpPr/>
          <p:nvPr/>
        </p:nvSpPr>
        <p:spPr>
          <a:xfrm>
            <a:off x="9015755"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8" name="TextBox 17"/>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читатели программы стали читать хуже</a:t>
            </a:r>
          </a:p>
        </p:txBody>
      </p:sp>
      <p:sp>
        <p:nvSpPr>
          <p:cNvPr id="19" name="Rounded Rectangle 18"/>
          <p:cNvSpPr/>
          <p:nvPr/>
        </p:nvSpPr>
        <p:spPr>
          <a:xfrm>
            <a:off x="374904" y="3225948"/>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317388"/>
            <a:ext cx="5373471" cy="29188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Пропущенный рак — лечение позже и хуже. Ложный вызов —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Та же маммограмма без подсказки — база; второе человеческое чтение — чем держится программа.</a:t>
            </a:r>
          </a:p>
        </p:txBody>
      </p:sp>
      <p:sp>
        <p:nvSpPr>
          <p:cNvPr id="21" name="TextBox 20"/>
          <p:cNvSpPr txBox="1"/>
          <p:nvPr/>
        </p:nvSpPr>
        <p:spPr>
          <a:xfrm>
            <a:off x="6278727" y="3317388"/>
            <a:ext cx="5373471" cy="29188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цифровая маммограмма, выход — отметка области с оценкой подозрительности. </a:t>
            </a:r>
            <a:r>
              <a:rPr sz="1500" b="1" i="0">
                <a:solidFill>
                  <a:srgbClr val="21295C"/>
                </a:solidFill>
                <a:latin typeface="Arial"/>
              </a:rPr>
              <a:t>Имени изделия и обучающих данных работа не называет:</a:t>
            </a:r>
            <a:r>
              <a:rPr sz="1500" b="0" i="0">
                <a:solidFill>
                  <a:srgbClr val="21295C"/>
                </a:solidFill>
                <a:latin typeface="Arial"/>
              </a:rPr>
              <a:t> допущенная коммерческая система.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это цена: читатель стал осматривать снимок меньше. Пропуск модели стал пропуском читателя.</a:t>
            </a:r>
          </a:p>
        </p:txBody>
      </p:sp>
      <p:sp>
        <p:nvSpPr>
          <p:cNvPr id="22" name="Rectangle 21"/>
          <p:cNvSpPr/>
          <p:nvPr/>
        </p:nvSpPr>
        <p:spPr>
          <a:xfrm>
            <a:off x="6091275" y="3317388"/>
            <a:ext cx="9144" cy="2168327"/>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Зеркало того же замера: результат вырос</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здесь это выигрыш</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0,93 → 0,97</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но незначимо</a:t>
            </a:r>
          </a:p>
        </p:txBody>
      </p:sp>
      <p:sp>
        <p:nvSpPr>
          <p:cNvPr id="12" name="Rounded Rectangle 11"/>
          <p:cNvSpPr/>
          <p:nvPr/>
        </p:nvSpPr>
        <p:spPr>
          <a:xfrm>
            <a:off x="374904" y="2592217"/>
            <a:ext cx="11441887" cy="1432640"/>
          </a:xfrm>
          <a:prstGeom prst="roundRect">
            <a:avLst>
              <a:gd name="adj" fmla="val 2127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по сигналу не различить.</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Различение больного и здорового выросло значимо, а «модель сделала врачей лучше» этим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12 радиологов, 3 600 прочтений, раков в наборе половина.</a:t>
            </a:r>
          </a:p>
        </p:txBody>
      </p:sp>
      <p:sp>
        <p:nvSpPr>
          <p:cNvPr id="15" name="Rectangle 14"/>
          <p:cNvSpPr/>
          <p:nvPr/>
        </p:nvSpPr>
        <p:spPr>
          <a:xfrm>
            <a:off x="6091275" y="2683657"/>
            <a:ext cx="9144" cy="115832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и соавт., Radiology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ШАНСЫ ВЕРНОГО ОТВЕТА: МОДЕЛЬ ПРАВА → НЕПРАВА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вчетверо вверх → вчетверо вниз</a:t>
            </a:r>
          </a:p>
        </p:txBody>
      </p:sp>
      <p:sp>
        <p:nvSpPr>
          <p:cNvPr id="7" name="TextBox 6"/>
          <p:cNvSpPr txBox="1"/>
          <p:nvPr/>
        </p:nvSpPr>
        <p:spPr>
          <a:xfrm>
            <a:off x="640080" y="3140692"/>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срез без подсказки</a:t>
            </a:r>
          </a:p>
        </p:txBody>
      </p:sp>
      <p:sp>
        <p:nvSpPr>
          <p:cNvPr id="8" name="Rounded Rectangle 7"/>
          <p:cNvSpPr/>
          <p:nvPr/>
        </p:nvSpPr>
        <p:spPr>
          <a:xfrm>
            <a:off x="3340531"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ДОЛЯХ: МОДЕЛЬ ПРАВА → НЕПРАВА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50 из ста</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опыт не защищает</a:t>
            </a:r>
          </a:p>
        </p:txBody>
      </p:sp>
      <p:sp>
        <p:nvSpPr>
          <p:cNvPr id="12" name="Rounded Rectangle 11"/>
          <p:cNvSpPr/>
          <p:nvPr/>
        </p:nvSpPr>
        <p:spPr>
          <a:xfrm>
            <a:off x="6178143"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4" name="TextBox 13"/>
          <p:cNvSpPr txBox="1"/>
          <p:nvPr/>
        </p:nvSpPr>
        <p:spPr>
          <a:xfrm>
            <a:off x="6315303"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прибавку при верной → равную потерю при неверной</a:t>
            </a:r>
          </a:p>
        </p:txBody>
      </p:sp>
      <p:sp>
        <p:nvSpPr>
          <p:cNvPr id="15" name="Rounded Rectangle 14"/>
          <p:cNvSpPr/>
          <p:nvPr/>
        </p:nvSpPr>
        <p:spPr>
          <a:xfrm>
            <a:off x="9015755"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средняя та же, разброс вырос</a:t>
            </a:r>
          </a:p>
        </p:txBody>
      </p:sp>
      <p:sp>
        <p:nvSpPr>
          <p:cNvPr id="18" name="Rounded Rectangle 17"/>
          <p:cNvSpPr/>
          <p:nvPr/>
        </p:nvSpPr>
        <p:spPr>
          <a:xfrm>
            <a:off x="374904" y="3580535"/>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один патолог на срезе — база; второе мнение субспециалиста названо, не измерено.</a:t>
            </a:r>
          </a:p>
        </p:txBody>
      </p:sp>
      <p:sp>
        <p:nvSpPr>
          <p:cNvPr id="20" name="TextBox 19"/>
          <p:cNvSpPr txBox="1"/>
          <p:nvPr/>
        </p:nvSpPr>
        <p:spPr>
          <a:xfrm>
            <a:off x="6278727"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оцифрованный срез, выход — один из двух диагнозов; точность модели на независимом наборе </a:t>
            </a:r>
            <a:r>
              <a:rPr sz="1500" b="1" i="0">
                <a:solidFill>
                  <a:srgbClr val="21295C"/>
                </a:solidFill>
                <a:latin typeface="Arial"/>
              </a:rPr>
              <a:t>0,842</a:t>
            </a:r>
            <a:r>
              <a:rPr sz="1500" b="0" i="0">
                <a:solidFill>
                  <a:srgbClr val="21295C"/>
                </a:solidFill>
                <a:latin typeface="Arial"/>
              </a:rPr>
              <a:t>. </a:t>
            </a:r>
            <a:r>
              <a:rPr sz="1500" b="1" i="0">
                <a:solidFill>
                  <a:srgbClr val="21295C"/>
                </a:solidFill>
                <a:latin typeface="Arial"/>
              </a:rPr>
              <a:t>Имени изделия работа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Ошибка модели стала ошибкой врача — подпись ставит он.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a:t>
            </a:r>
          </a:p>
        </p:txBody>
      </p:sp>
      <p:sp>
        <p:nvSpPr>
          <p:cNvPr id="21" name="Rectangle 20"/>
          <p:cNvSpPr/>
          <p:nvPr/>
        </p:nvSpPr>
        <p:spPr>
          <a:xfrm>
            <a:off x="6091275" y="3671975"/>
            <a:ext cx="9144" cy="18712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8446038"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06875"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2338029"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498866"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Врач один</a:t>
            </a:r>
          </a:p>
        </p:txBody>
      </p:sp>
      <p:sp>
        <p:nvSpPr>
          <p:cNvPr id="13" name="Rectangle 12"/>
          <p:cNvSpPr/>
          <p:nvPr/>
        </p:nvSpPr>
        <p:spPr>
          <a:xfrm>
            <a:off x="3016697"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177533"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Врач поверх модели</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верных ответов из ста · 50 практикующих врачей, одни и те же виньетки; у одинокого врача — привычные справочники</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интервал разницы — от −4 до 8 пунктов</a:t>
            </a:r>
          </a:p>
        </p:txBody>
      </p:sp>
      <p:sp>
        <p:nvSpPr>
          <p:cNvPr id="17" name="Rounded Rectangle 16"/>
          <p:cNvSpPr/>
          <p:nvPr/>
        </p:nvSpPr>
        <p:spPr>
          <a:xfrm>
            <a:off x="374904" y="3436056"/>
            <a:ext cx="11441887" cy="2472135"/>
          </a:xfrm>
          <a:prstGeom prst="roundRect">
            <a:avLst>
              <a:gd name="adj" fmla="val 1232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5373471"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Неверный диагноз — лечение чужой болезни. Избыточная проверка — свой риск.</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письменное описание случая, выход — разбор словами: гипотезы и проверки. </a:t>
            </a:r>
            <a:r>
              <a:rPr sz="1500" b="1" i="0">
                <a:solidFill>
                  <a:srgbClr val="21295C"/>
                </a:solidFill>
                <a:latin typeface="Arial"/>
              </a:rPr>
              <a:t>Модель не названа: «большая языковая модель».</a:t>
            </a:r>
          </a:p>
        </p:txBody>
      </p:sp>
      <p:sp>
        <p:nvSpPr>
          <p:cNvPr id="19" name="TextBox 18"/>
          <p:cNvSpPr txBox="1"/>
          <p:nvPr/>
        </p:nvSpPr>
        <p:spPr>
          <a:xfrm>
            <a:off x="6278727" y="3527496"/>
            <a:ext cx="5373471"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место и объём те же, рука другая. </a:t>
            </a:r>
            <a:r>
              <a:rPr sz="1500" b="1" i="0">
                <a:solidFill>
                  <a:srgbClr val="21295C"/>
                </a:solidFill>
                <a:latin typeface="Arial"/>
              </a:rPr>
              <a:t>Улучшения не фиксирует ни одна форма словаря.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ничего измеримого — это измеренный ноль, не отсутствие данных. </a:t>
            </a:r>
            <a:r>
              <a:rPr sz="1500" b="1" i="0">
                <a:solidFill>
                  <a:srgbClr val="21295C"/>
                </a:solidFill>
                <a:latin typeface="Arial"/>
              </a:rPr>
              <a:t>Потребовало</a:t>
            </a:r>
            <a:r>
              <a:rPr sz="1500" b="0" i="0">
                <a:solidFill>
                  <a:srgbClr val="21295C"/>
                </a:solidFill>
                <a:latin typeface="Arial"/>
              </a:rPr>
              <a:t> доступ и новый шаг в рассуждении. </a:t>
            </a:r>
            <a:r>
              <a:rPr sz="1500" b="1" i="0">
                <a:solidFill>
                  <a:srgbClr val="21295C"/>
                </a:solidFill>
                <a:latin typeface="Arial"/>
              </a:rPr>
              <a:t>В сумме</a:t>
            </a:r>
            <a:r>
              <a:rPr sz="1500" b="0" i="0">
                <a:solidFill>
                  <a:srgbClr val="21295C"/>
                </a:solidFill>
                <a:latin typeface="Arial"/>
              </a:rPr>
              <a:t> так же, как было.</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Рандомизированное испытание на виньетках.</a:t>
            </a:r>
          </a:p>
        </p:txBody>
      </p:sp>
      <p:sp>
        <p:nvSpPr>
          <p:cNvPr id="20" name="Rectangle 19"/>
          <p:cNvSpPr/>
          <p:nvPr/>
        </p:nvSpPr>
        <p:spPr>
          <a:xfrm>
            <a:off x="6091275" y="3527496"/>
            <a:ext cx="9144" cy="2197815"/>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JAMA Network Open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специфичность 98,5 в обоих плечах</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одну базу не складываются</a:t>
            </a:r>
          </a:p>
        </p:txBody>
      </p:sp>
      <p:sp>
        <p:nvSpPr>
          <p:cNvPr id="16" name="Rounded Rectangle 15"/>
          <p:cNvSpPr/>
          <p:nvPr/>
        </p:nvSpPr>
        <p:spPr>
          <a:xfrm>
            <a:off x="374904" y="3010932"/>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та же, что в скрининге: пропуск — рак позже; ложный вызов —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База — двойное чтение двумя людьми с арбитражем третьего. Одиночное чтение без арбитража не воспроизводили: сравнивали против сильного.</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них.</a:t>
            </a:r>
            <a:r>
              <a:rPr sz="1500" b="0" i="0">
                <a:solidFill>
                  <a:srgbClr val="21295C"/>
                </a:solidFill>
                <a:latin typeface="Arial"/>
              </a:rPr>
              <a:t> Модель читает первой, человек — сам, разногласие разбирает третий. Независимость </a:t>
            </a:r>
            <a:r>
              <a:rPr sz="1500" b="1" i="0">
                <a:solidFill>
                  <a:srgbClr val="21295C"/>
                </a:solidFill>
                <a:latin typeface="Arial"/>
              </a:rPr>
              <a:t>перестроена</a:t>
            </a:r>
            <a:r>
              <a:rPr sz="1500" b="0" i="0">
                <a:solidFill>
                  <a:srgbClr val="21295C"/>
                </a:solidFill>
                <a:latin typeface="Arial"/>
              </a:rPr>
              <a:t>, и выиграло устройство процедуры.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как в разборе отбора: вход — снимок скрининга, выход — оценка риска вместо второго чтения. </a:t>
            </a:r>
            <a:r>
              <a:rPr sz="1500" b="1" i="0">
                <a:solidFill>
                  <a:srgbClr val="21295C"/>
                </a:solidFill>
                <a:latin typeface="Arial"/>
              </a:rPr>
              <a:t>Имени система не получила ни там, ни здесь.</a:t>
            </a:r>
          </a:p>
        </p:txBody>
      </p:sp>
      <p:sp>
        <p:nvSpPr>
          <p:cNvPr id="19" name="Rectangle 18"/>
          <p:cNvSpPr/>
          <p:nvPr/>
        </p:nvSpPr>
        <p:spPr>
          <a:xfrm>
            <a:off x="6091275" y="3102372"/>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чьим находкам верят</a:t>
            </a:r>
          </a:p>
        </p:txBody>
      </p:sp>
      <p:sp>
        <p:nvSpPr>
          <p:cNvPr id="4" name="Rounded Rectangle 3"/>
          <p:cNvSpPr/>
          <p:nvPr/>
        </p:nvSpPr>
        <p:spPr>
          <a:xfrm>
            <a:off x="502920"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не-худшесть показана, улучшение не доказано: отношение 0,88, интервал 0,65–1,18</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РАКОМ: НАХОДКА ТОЛЬКО МОДЕЛИ → ТОЛЬКО РАДИОЛОГА</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1" name="TextBox 10"/>
          <p:cNvSpPr txBox="1"/>
          <p:nvPr/>
        </p:nvSpPr>
        <p:spPr>
          <a:xfrm>
            <a:off x="3477691"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знаменатели почти равны: 1 886 против 1 858 находок</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ОТЗЫВАЮТ: НАХОДКА ТОЛЬКО МОДЕЛИ → ТОЛЬКО РАДИОЛОГА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14,2</a:t>
            </a:r>
          </a:p>
        </p:txBody>
      </p:sp>
      <p:sp>
        <p:nvSpPr>
          <p:cNvPr id="15" name="Rounded Rectangle 14"/>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7" name="TextBox 16"/>
          <p:cNvSpPr txBox="1"/>
          <p:nvPr/>
        </p:nvSpPr>
        <p:spPr>
          <a:xfrm>
            <a:off x="9152915"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 арбитраж как новую работу и контроль порога</a:t>
            </a:r>
          </a:p>
        </p:txBody>
      </p:sp>
      <p:sp>
        <p:nvSpPr>
          <p:cNvPr id="18" name="TextBox 17"/>
          <p:cNvSpPr txBox="1"/>
          <p:nvPr/>
        </p:nvSpPr>
        <p:spPr>
          <a:xfrm>
            <a:off x="9152915" y="24748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лучше и по качеству, и по нагрузке</a:t>
            </a:r>
          </a:p>
        </p:txBody>
      </p:sp>
      <p:sp>
        <p:nvSpPr>
          <p:cNvPr id="19" name="Rounded Rectangle 18"/>
          <p:cNvSpPr/>
          <p:nvPr/>
        </p:nvSpPr>
        <p:spPr>
          <a:xfrm>
            <a:off x="374904" y="3640890"/>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Появился шаг «нужно ли второе чтение»; объём человеческого чтения упал там же.</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Повторных вызовов не стало ни больше, ни меньше: специфичность в двух плечах одинакова.</a:t>
            </a:r>
          </a:p>
        </p:txBody>
      </p:sp>
      <p:sp>
        <p:nvSpPr>
          <p:cNvPr id="21" name="TextBox 20"/>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Доверия к модели здесь слишком мало:</a:t>
            </a:r>
            <a:r>
              <a:rPr sz="1500" b="0" i="0">
                <a:solidFill>
                  <a:srgbClr val="21295C"/>
                </a:solidFill>
                <a:latin typeface="Arial"/>
              </a:rPr>
              <a:t> отзывают чаще находку более слабого источника.</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Проспективное наблюдение, 54 991 женщина.</a:t>
            </a:r>
          </a:p>
        </p:txBody>
      </p:sp>
      <p:sp>
        <p:nvSpPr>
          <p:cNvPr id="22" name="Rectangle 21"/>
          <p:cNvSpPr/>
          <p:nvPr/>
        </p:nvSpPr>
        <p:spPr>
          <a:xfrm>
            <a:off x="6091275" y="3732330"/>
            <a:ext cx="9144" cy="127714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Dembrower и соавт., Radiology 2025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откалибровано не по правоте</a:t>
            </a:r>
          </a:p>
        </p:txBody>
      </p:sp>
      <p:sp>
        <p:nvSpPr>
          <p:cNvPr id="4" name="Rounded Rectangle 3"/>
          <p:cNvSpPr/>
          <p:nvPr/>
        </p:nvSpPr>
        <p:spPr>
          <a:xfrm>
            <a:off x="502920" y="1335024"/>
            <a:ext cx="5510631"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выигрыша не предсказывают — предсказывает правота модели</a:t>
            </a:r>
          </a:p>
        </p:txBody>
      </p:sp>
      <p:sp>
        <p:nvSpPr>
          <p:cNvPr id="7" name="Rounded Rectangle 6"/>
          <p:cNvSpPr/>
          <p:nvPr/>
        </p:nvSpPr>
        <p:spPr>
          <a:xfrm>
            <a:off x="6178143" y="1335024"/>
            <a:ext cx="5510631"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значимо — и почти половина согласий остаётся</a:t>
            </a:r>
          </a:p>
        </p:txBody>
      </p:sp>
      <p:sp>
        <p:nvSpPr>
          <p:cNvPr id="11" name="Rounded Rectangle 10"/>
          <p:cNvSpPr/>
          <p:nvPr/>
        </p:nvSpPr>
        <p:spPr>
          <a:xfrm>
            <a:off x="374904" y="2771397"/>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62837"/>
            <a:ext cx="11112703"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Доверие откалибровано не по тому признаку:</a:t>
            </a:r>
            <a:r>
              <a:rPr sz="1500" b="0" i="0">
                <a:solidFill>
                  <a:srgbClr val="21295C"/>
                </a:solidFill>
                <a:latin typeface="Arial"/>
              </a:rPr>
              <a:t> по подписи, по уверенности, по единичному промаху. </a:t>
            </a:r>
            <a:r>
              <a:rPr sz="1500" b="1" i="0">
                <a:solidFill>
                  <a:srgbClr val="21295C"/>
                </a:solidFill>
                <a:latin typeface="Arial"/>
              </a:rPr>
              <a:t>Правота в этот счёт не входит.</a:t>
            </a:r>
          </a:p>
          <a:p>
            <a:pPr algn="l">
              <a:lnSpc>
                <a:spcPct val="126000"/>
              </a:lnSpc>
              <a:spcBef>
                <a:spcPts val="700"/>
              </a:spcBef>
            </a:pPr>
            <a:r>
              <a:rPr sz="1200" b="0" i="0">
                <a:solidFill>
                  <a:srgbClr val="21295C"/>
                </a:solidFill>
                <a:latin typeface="Arial"/>
              </a:rPr>
              <a:t/>
            </a:r>
            <a:r>
              <a:rPr sz="1200" b="0" i="1">
                <a:solidFill>
                  <a:srgbClr val="1C7293"/>
                </a:solidFill>
                <a:latin typeface="Arial"/>
              </a:rPr>
              <a:t>Опыт лабораторный, не клинический.</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Yu и соавт., Nature Medicine 2024</a:t>
            </a:r>
            <a:r>
              <a:rPr sz="1200" b="0" i="1">
                <a:solidFill>
                  <a:srgbClr val="1C7293"/>
                </a:solidFill>
                <a:latin typeface="Arial"/>
              </a:rPr>
              <a:t> · </a:t>
            </a:r>
            <a:r>
              <a:rPr sz="1200" b="0" i="1" u="sng">
                <a:solidFill>
                  <a:srgbClr val="065A82"/>
                </a:solidFill>
                <a:latin typeface="Arial"/>
                <a:hlinkClick r:id="rId3"/>
              </a:rPr>
              <a:t>Buçinca и соавт., CSCW 2021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749966"/>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280318"/>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8" name="TextBox 7"/>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9" name="Rectangle 8"/>
          <p:cNvSpPr/>
          <p:nvPr/>
        </p:nvSpPr>
        <p:spPr>
          <a:xfrm>
            <a:off x="2481942" y="1996854"/>
            <a:ext cx="1730602"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3322097" y="1841406"/>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50779"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Модель сильнее человека: пара хуже модели</a:t>
            </a:r>
          </a:p>
        </p:txBody>
      </p:sp>
      <p:sp>
        <p:nvSpPr>
          <p:cNvPr id="12" name="Rectangle 11"/>
          <p:cNvSpPr/>
          <p:nvPr/>
        </p:nvSpPr>
        <p:spPr>
          <a:xfrm>
            <a:off x="7521049" y="1996854"/>
            <a:ext cx="1934202"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8412105"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640787"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Человек сильнее модели: пара лучше обеих сторон</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интервал нуля не пересекает</a:t>
            </a:r>
          </a:p>
        </p:txBody>
      </p:sp>
      <p:sp>
        <p:nvSpPr>
          <p:cNvPr id="17" name="Rounded Rectangle 16"/>
          <p:cNvSpPr/>
          <p:nvPr/>
        </p:nvSpPr>
        <p:spPr>
          <a:xfrm>
            <a:off x="374904" y="3436056"/>
            <a:ext cx="11441887" cy="89793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идёт против лучшей из двух сторон. Человека одного пара обходит:</a:t>
            </a:r>
            <a:r>
              <a:rPr sz="1500" b="0" i="0">
                <a:solidFill>
                  <a:srgbClr val="21295C"/>
                </a:solidFill>
                <a:latin typeface="Arial"/>
              </a:rPr>
              <a:t> 0,64 (интервал 0,53–0,74).</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Предрегистрированный обзор с мета-анализом.</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Обещано в прошлый раз: оценка риска перед экстренной операцией</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374904" y="2803461"/>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Обещано было дважды: разбор, где добавление человека к машине ухудшило результат. Это 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чем решают без обученной модели: шкала, справочник, процедура, второй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Одна выборка — три шкалы и модель.</a:t>
            </a:r>
            <a:r>
              <a:rPr sz="1500" b="0" i="0">
                <a:solidFill>
                  <a:srgbClr val="21295C"/>
                </a:solidFill>
                <a:latin typeface="Arial"/>
              </a:rPr>
              <a:t> Физического состояния 0,8743 · экстренной хирургии 0,8910 · калькулятор 0,8975 · модель 0,9162.</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Другие 150 случаев — чутьё хирурга.</a:t>
            </a:r>
            <a:r>
              <a:rPr sz="1500" b="0" i="0">
                <a:solidFill>
                  <a:srgbClr val="21295C"/>
                </a:solidFill>
                <a:latin typeface="Arial"/>
              </a:rPr>
              <a:t> По описанию, 15 врачей: смертность 0,841 — точнее модель, септический шок 0,820 — точнее хирург.</a:t>
            </a:r>
          </a:p>
          <a:p>
            <a:pPr algn="l">
              <a:lnSpc>
                <a:spcPct val="126000"/>
              </a:lnSpc>
              <a:spcBef>
                <a:spcPts val="700"/>
              </a:spcBef>
            </a:pPr>
            <a:r>
              <a:rPr sz="1200" b="0" i="0">
                <a:solidFill>
                  <a:srgbClr val="21295C"/>
                </a:solidFill>
                <a:latin typeface="Arial"/>
              </a:rPr>
              <a:t/>
            </a:r>
            <a:r>
              <a:rPr sz="1200" b="0" i="1">
                <a:solidFill>
                  <a:srgbClr val="1C7293"/>
                </a:solidFill>
                <a:latin typeface="Arial"/>
              </a:rPr>
              <a:t>Выборки разные — рядом не ставятся.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c-статистика:</a:t>
            </a:r>
            <a:r>
              <a:rPr sz="1500" b="0" i="0">
                <a:solidFill>
                  <a:srgbClr val="21295C"/>
                </a:solidFill>
                <a:latin typeface="Arial"/>
              </a:rPr>
              <a:t> 0,5 — монетка, 1,0 — без промаха</a:t>
            </a:r>
          </a:p>
        </p:txBody>
      </p:sp>
      <p:sp>
        <p:nvSpPr>
          <p:cNvPr id="15" name="Rectangle 14"/>
          <p:cNvSpPr/>
          <p:nvPr/>
        </p:nvSpPr>
        <p:spPr>
          <a:xfrm>
            <a:off x="6091275" y="2894901"/>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5: хирурги на септическом шоке — 0,712 против 0,816 и 0,820</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0,7</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0,9</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9430106"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7590943"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0,816</a:t>
            </a:r>
          </a:p>
          <a:p>
            <a:pPr algn="ctr">
              <a:lnSpc>
                <a:spcPct val="110000"/>
              </a:lnSpc>
            </a:pPr>
            <a:r>
              <a:rPr sz="1200" b="0" i="0">
                <a:solidFill>
                  <a:srgbClr val="21295C"/>
                </a:solidFill>
                <a:latin typeface="Arial"/>
              </a:rPr>
              <a:t>Модель одна</a:t>
            </a:r>
          </a:p>
        </p:txBody>
      </p:sp>
      <p:sp>
        <p:nvSpPr>
          <p:cNvPr id="11" name="Rectangle 10"/>
          <p:cNvSpPr/>
          <p:nvPr/>
        </p:nvSpPr>
        <p:spPr>
          <a:xfrm>
            <a:off x="9633706"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794543"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0,820</a:t>
            </a:r>
          </a:p>
          <a:p>
            <a:pPr algn="ctr">
              <a:lnSpc>
                <a:spcPct val="110000"/>
              </a:lnSpc>
            </a:pPr>
            <a:r>
              <a:rPr sz="1200" b="0" i="0">
                <a:solidFill>
                  <a:srgbClr val="21295C"/>
                </a:solidFill>
                <a:latin typeface="Arial"/>
              </a:rPr>
              <a:t>Хирург один</a:t>
            </a:r>
          </a:p>
        </p:txBody>
      </p:sp>
      <p:sp>
        <p:nvSpPr>
          <p:cNvPr id="13" name="Rectangle 12"/>
          <p:cNvSpPr/>
          <p:nvPr/>
        </p:nvSpPr>
        <p:spPr>
          <a:xfrm>
            <a:off x="4136498" y="1841406"/>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2297335"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0,712</a:t>
            </a:r>
          </a:p>
          <a:p>
            <a:pPr algn="ctr">
              <a:lnSpc>
                <a:spcPct val="110000"/>
              </a:lnSpc>
            </a:pPr>
            <a:r>
              <a:rPr sz="1200" b="0" i="0">
                <a:solidFill>
                  <a:srgbClr val="21295C"/>
                </a:solidFill>
                <a:latin typeface="Arial"/>
              </a:rPr>
              <a:t>Хирург с подсказкой</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площадь под кривой · 150 случаев, 30 хирургов по группам жребием, 30 дней наблюдения</a:t>
            </a:r>
          </a:p>
        </p:txBody>
      </p:sp>
      <p:sp>
        <p:nvSpPr>
          <p:cNvPr id="16" name="Rounded Rectangle 15"/>
          <p:cNvSpPr/>
          <p:nvPr/>
        </p:nvSpPr>
        <p:spPr>
          <a:xfrm>
            <a:off x="374904" y="3147889"/>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39329"/>
            <a:ext cx="5373471" cy="29968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a:t>
            </a:r>
            <a:r>
              <a:rPr sz="1500" b="1" i="0">
                <a:solidFill>
                  <a:srgbClr val="21295C"/>
                </a:solidFill>
                <a:latin typeface="Arial"/>
              </a:rPr>
              <a:t>Вход:</a:t>
            </a:r>
            <a:r>
              <a:rPr sz="1500" b="0" i="0">
                <a:solidFill>
                  <a:srgbClr val="21295C"/>
                </a:solidFill>
                <a:latin typeface="Arial"/>
              </a:rPr>
              <a:t> 4–11 ответов о больном, </a:t>
            </a:r>
            <a:r>
              <a:rPr sz="1500" b="1" i="0">
                <a:solidFill>
                  <a:srgbClr val="21295C"/>
                </a:solidFill>
                <a:latin typeface="Arial"/>
              </a:rPr>
              <a:t>выход:</a:t>
            </a:r>
            <a:r>
              <a:rPr sz="1500" b="0" i="0">
                <a:solidFill>
                  <a:srgbClr val="21295C"/>
                </a:solidFill>
                <a:latin typeface="Arial"/>
              </a:rPr>
              <a:t> вероятности пяти исходов за 30 дней. </a:t>
            </a:r>
            <a:r>
              <a:rPr sz="1500" b="1" i="0">
                <a:solidFill>
                  <a:srgbClr val="21295C"/>
                </a:solidFill>
                <a:latin typeface="Arial"/>
              </a:rPr>
              <a:t>Обучен</a:t>
            </a:r>
            <a:r>
              <a:rPr sz="1500" b="0" i="0">
                <a:solidFill>
                  <a:srgbClr val="21295C"/>
                </a:solidFill>
                <a:latin typeface="Arial"/>
              </a:rPr>
              <a:t> на 382 960 случаях экстренной хирургии.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Контрпример там же:</a:t>
            </a:r>
            <a:r>
              <a:rPr sz="1500" b="0" i="0">
                <a:solidFill>
                  <a:srgbClr val="21295C"/>
                </a:solidFill>
                <a:latin typeface="Arial"/>
              </a:rPr>
              <a:t> где перевес модели наибольший, пара не прибавила — </a:t>
            </a:r>
            <a:r>
              <a:rPr sz="1500" b="1" i="0">
                <a:solidFill>
                  <a:srgbClr val="21295C"/>
                </a:solidFill>
                <a:latin typeface="Arial"/>
              </a:rPr>
              <a:t>0,834 против 0,833</a:t>
            </a:r>
            <a:r>
              <a:rPr sz="1500" b="0" i="0">
                <a:solidFill>
                  <a:srgbClr val="21295C"/>
                </a:solidFill>
                <a:latin typeface="Arial"/>
              </a:rPr>
              <a:t>.</a:t>
            </a:r>
          </a:p>
        </p:txBody>
      </p:sp>
      <p:sp>
        <p:nvSpPr>
          <p:cNvPr id="18" name="TextBox 17"/>
          <p:cNvSpPr txBox="1"/>
          <p:nvPr/>
        </p:nvSpPr>
        <p:spPr>
          <a:xfrm>
            <a:off x="6278727" y="3239329"/>
            <a:ext cx="5373471" cy="29968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Исполнитель тот же, но стал хуже: место, объём и рука прежние, изменилось состояние руки. </a:t>
            </a:r>
            <a:r>
              <a:rPr sz="1500" b="1" i="0">
                <a:solidFill>
                  <a:srgbClr val="21295C"/>
                </a:solidFill>
                <a:latin typeface="Arial"/>
              </a:rPr>
              <a:t>Ступень — смотрит вторым.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предъявления стоит 8,9 пункта</a:t>
            </a:r>
            <a:r>
              <a:rPr sz="1500" b="0" i="0">
                <a:solidFill>
                  <a:srgbClr val="21295C"/>
                </a:solidFill>
                <a:latin typeface="Arial"/>
              </a:rPr>
              <a:t> — та же команда, 70 врачей.</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описаниям, не у койки; повторения нет.</a:t>
            </a:r>
          </a:p>
        </p:txBody>
      </p:sp>
      <p:sp>
        <p:nvSpPr>
          <p:cNvPr id="19" name="Rectangle 18"/>
          <p:cNvSpPr/>
          <p:nvPr/>
        </p:nvSpPr>
        <p:spPr>
          <a:xfrm>
            <a:off x="6091275" y="3239329"/>
            <a:ext cx="9144" cy="190075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3"/>
              </a:rPr>
              <a:t>Эверетт и соавт., npj Digital Medicine 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замера, один вывод</a:t>
            </a:r>
          </a:p>
        </p:txBody>
      </p:sp>
      <p:sp>
        <p:nvSpPr>
          <p:cNvPr id="4" name="Rounded Rectangle 3"/>
          <p:cNvSpPr/>
          <p:nvPr/>
        </p:nvSpPr>
        <p:spPr>
          <a:xfrm>
            <a:off x="374904" y="1243584"/>
            <a:ext cx="11441887" cy="4779528"/>
          </a:xfrm>
          <a:prstGeom prst="roundRect">
            <a:avLst>
              <a:gd name="adj" fmla="val 637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112984"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4820376"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замер</a:t>
            </a:r>
          </a:p>
        </p:txBody>
      </p:sp>
      <p:sp>
        <p:nvSpPr>
          <p:cNvPr id="7" name="Rectangle 6"/>
          <p:cNvSpPr/>
          <p:nvPr/>
        </p:nvSpPr>
        <p:spPr>
          <a:xfrm>
            <a:off x="5652480" y="1335024"/>
            <a:ext cx="2834840"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5798784" y="1335024"/>
            <a:ext cx="2542232"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9" name="Rectangle 8"/>
          <p:cNvSpPr/>
          <p:nvPr/>
        </p:nvSpPr>
        <p:spPr>
          <a:xfrm>
            <a:off x="8487321" y="1335024"/>
            <a:ext cx="3164878"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8633625" y="1335024"/>
            <a:ext cx="2872270"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на ком</a:t>
            </a:r>
          </a:p>
        </p:txBody>
      </p:sp>
      <p:sp>
        <p:nvSpPr>
          <p:cNvPr id="11" name="Rectangle 10"/>
          <p:cNvSpPr/>
          <p:nvPr/>
        </p:nvSpPr>
        <p:spPr>
          <a:xfrm>
            <a:off x="539496" y="1800449"/>
            <a:ext cx="5112984"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0,712</a:t>
            </a:r>
            <a:r>
              <a:rPr sz="1650" b="0" i="0">
                <a:solidFill>
                  <a:srgbClr val="21295C"/>
                </a:solidFill>
                <a:latin typeface="Arial"/>
              </a:rPr>
              <a:t> против 0,816 и 0,820 — пара ниже обеих</a:t>
            </a:r>
          </a:p>
        </p:txBody>
      </p:sp>
      <p:sp>
        <p:nvSpPr>
          <p:cNvPr id="13" name="Rectangle 12"/>
          <p:cNvSpPr/>
          <p:nvPr/>
        </p:nvSpPr>
        <p:spPr>
          <a:xfrm>
            <a:off x="5652480" y="1800449"/>
            <a:ext cx="2834840"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5798784" y="1800449"/>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 и наблюдение</a:t>
            </a:r>
          </a:p>
        </p:txBody>
      </p:sp>
      <p:sp>
        <p:nvSpPr>
          <p:cNvPr id="15" name="Rectangle 14"/>
          <p:cNvSpPr/>
          <p:nvPr/>
        </p:nvSpPr>
        <p:spPr>
          <a:xfrm>
            <a:off x="8487321" y="1800449"/>
            <a:ext cx="3164878"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633625" y="1800449"/>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30 хирургов, 150 случаев</a:t>
            </a:r>
          </a:p>
        </p:txBody>
      </p:sp>
      <p:sp>
        <p:nvSpPr>
          <p:cNvPr id="17" name="Rectangle 16"/>
          <p:cNvSpPr/>
          <p:nvPr/>
        </p:nvSpPr>
        <p:spPr>
          <a:xfrm>
            <a:off x="539496" y="2566707"/>
            <a:ext cx="5112984"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92 · 74 · 76</a:t>
            </a:r>
            <a:r>
              <a:rPr sz="1650" b="0" i="0">
                <a:solidFill>
                  <a:srgbClr val="21295C"/>
                </a:solidFill>
                <a:latin typeface="Arial"/>
              </a:rPr>
              <a:t> — врач с моделью не отличим</a:t>
            </a:r>
          </a:p>
        </p:txBody>
      </p:sp>
      <p:sp>
        <p:nvSpPr>
          <p:cNvPr id="19" name="Rectangle 18"/>
          <p:cNvSpPr/>
          <p:nvPr/>
        </p:nvSpPr>
        <p:spPr>
          <a:xfrm>
            <a:off x="5652480" y="2566707"/>
            <a:ext cx="2834840"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5798784" y="2566707"/>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a:t>
            </a:r>
          </a:p>
        </p:txBody>
      </p:sp>
      <p:sp>
        <p:nvSpPr>
          <p:cNvPr id="21" name="Rectangle 20"/>
          <p:cNvSpPr/>
          <p:nvPr/>
        </p:nvSpPr>
        <p:spPr>
          <a:xfrm>
            <a:off x="8487321" y="2566707"/>
            <a:ext cx="3164878"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633625" y="2566707"/>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50 врачей, описания случаев</a:t>
            </a:r>
          </a:p>
        </p:txBody>
      </p:sp>
      <p:sp>
        <p:nvSpPr>
          <p:cNvPr id="23" name="Rectangle 22"/>
          <p:cNvSpPr/>
          <p:nvPr/>
        </p:nvSpPr>
        <p:spPr>
          <a:xfrm>
            <a:off x="539496" y="3332966"/>
            <a:ext cx="5112984"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−0,54</a:t>
            </a:r>
            <a:r>
              <a:rPr sz="1650" b="0" i="0">
                <a:solidFill>
                  <a:srgbClr val="21295C"/>
                </a:solidFill>
                <a:latin typeface="Arial"/>
              </a:rPr>
              <a:t> — где модель сильнее, пара хуже модели</a:t>
            </a:r>
          </a:p>
        </p:txBody>
      </p:sp>
      <p:sp>
        <p:nvSpPr>
          <p:cNvPr id="25" name="Rectangle 24"/>
          <p:cNvSpPr/>
          <p:nvPr/>
        </p:nvSpPr>
        <p:spPr>
          <a:xfrm>
            <a:off x="5652480" y="3332966"/>
            <a:ext cx="2834840"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5798784" y="3332966"/>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мета-анализ</a:t>
            </a:r>
          </a:p>
        </p:txBody>
      </p:sp>
      <p:sp>
        <p:nvSpPr>
          <p:cNvPr id="27" name="Rectangle 26"/>
          <p:cNvSpPr/>
          <p:nvPr/>
        </p:nvSpPr>
        <p:spPr>
          <a:xfrm>
            <a:off x="8487321" y="3332966"/>
            <a:ext cx="3164878"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633625" y="3332966"/>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74 работы, 106 опытов</a:t>
            </a:r>
          </a:p>
        </p:txBody>
      </p:sp>
      <p:sp>
        <p:nvSpPr>
          <p:cNvPr id="29" name="Rectangle 28"/>
          <p:cNvSpPr/>
          <p:nvPr/>
        </p:nvSpPr>
        <p:spPr>
          <a:xfrm>
            <a:off x="539496" y="4099225"/>
            <a:ext cx="5112984" cy="766258"/>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71 → 39</a:t>
            </a:r>
            <a:r>
              <a:rPr sz="1650" b="0" i="0">
                <a:solidFill>
                  <a:srgbClr val="21295C"/>
                </a:solidFill>
                <a:latin typeface="Arial"/>
              </a:rPr>
              <a:t> — тот же читатель при ложной подсказке</a:t>
            </a:r>
          </a:p>
        </p:txBody>
      </p:sp>
      <p:sp>
        <p:nvSpPr>
          <p:cNvPr id="31" name="Rectangle 30"/>
          <p:cNvSpPr/>
          <p:nvPr/>
        </p:nvSpPr>
        <p:spPr>
          <a:xfrm>
            <a:off x="5652480" y="4099225"/>
            <a:ext cx="2834840" cy="766258"/>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5798784" y="4099225"/>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читатель против себя</a:t>
            </a:r>
          </a:p>
        </p:txBody>
      </p:sp>
      <p:sp>
        <p:nvSpPr>
          <p:cNvPr id="33" name="Rectangle 32"/>
          <p:cNvSpPr/>
          <p:nvPr/>
        </p:nvSpPr>
        <p:spPr>
          <a:xfrm>
            <a:off x="8487321" y="4099225"/>
            <a:ext cx="3164878" cy="766258"/>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633625" y="4099225"/>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10 читателей, 60 случаев</a:t>
            </a:r>
          </a:p>
        </p:txBody>
      </p:sp>
      <p:sp>
        <p:nvSpPr>
          <p:cNvPr id="35" name="TextBox 34"/>
          <p:cNvSpPr txBox="1"/>
          <p:nvPr/>
        </p:nvSpPr>
        <p:spPr>
          <a:xfrm>
            <a:off x="539496" y="5011787"/>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Пара не наследует силу сильнейшей стороны.</a:t>
            </a:r>
            <a:r>
              <a:rPr sz="1700" b="0" i="0">
                <a:solidFill>
                  <a:srgbClr val="21295C"/>
                </a:solidFill>
                <a:latin typeface="Arial"/>
              </a:rPr>
              <a:t> Человека одного обходит — 0,64.</a:t>
            </a:r>
          </a:p>
        </p:txBody>
      </p:sp>
      <p:sp>
        <p:nvSpPr>
          <p:cNvPr id="36" name="TextBox 35"/>
          <p:cNvSpPr txBox="1"/>
          <p:nvPr/>
        </p:nvSpPr>
        <p:spPr>
          <a:xfrm>
            <a:off x="539496" y="5499162"/>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Исход пациента не измерен ни в одном из четырёх.</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тройка: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разошлось устройство процедуры</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a:t>
            </a:r>
          </a:p>
          <a:p>
            <a:pPr algn="l">
              <a:lnSpc>
                <a:spcPct val="126000"/>
              </a:lnSpc>
            </a:pPr>
            <a:r>
              <a:rPr sz="1450" b="0" i="0">
                <a:solidFill>
                  <a:srgbClr val="21295C"/>
                </a:solidFill>
                <a:latin typeface="Arial"/>
              </a:rPr>
              <a:t>• подсказать избирательно</a:t>
            </a:r>
          </a:p>
          <a:p>
            <a:pPr algn="l">
              <a:lnSpc>
                <a:spcPct val="126000"/>
              </a:lnSpc>
            </a:pPr>
            <a:r>
              <a:rPr sz="1450" b="0" i="0">
                <a:solidFill>
                  <a:srgbClr val="21295C"/>
                </a:solidFill>
                <a:latin typeface="Arial"/>
              </a:rPr>
              <a:t>• объяснить без вреда</a:t>
            </a:r>
          </a:p>
          <a:p>
            <a:pPr algn="l">
              <a:lnSpc>
                <a:spcPct val="126000"/>
              </a:lnSpc>
            </a:pPr>
            <a:r>
              <a:rPr sz="1450" b="0" i="0">
                <a:solidFill>
                  <a:srgbClr val="21295C"/>
                </a:solidFill>
                <a:latin typeface="Arial"/>
              </a:rPr>
              <a:t>• удержать своё преимущество</a:t>
            </a:r>
          </a:p>
        </p:txBody>
      </p:sp>
      <p:sp>
        <p:nvSpPr>
          <p:cNvPr id="10" name="Rounded Rectangle 9"/>
          <p:cNvSpPr/>
          <p:nvPr/>
        </p:nvSpPr>
        <p:spPr>
          <a:xfrm>
            <a:off x="374904" y="4535424"/>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упала · цена ошибки сместилась · сменился исполнитель · исполнитель тот же, но стал хуже.</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Прочерк: ступень участия нигде не записана, а неназначенная сползает к подписи не глядя.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Динамическое наблюдение и клинические тревоги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Кто заметит ухудшение.</a:t>
            </a:r>
            <a:r>
              <a:rPr sz="1550" b="0" i="0">
                <a:solidFill>
                  <a:srgbClr val="21295C"/>
                </a:solidFill>
                <a:latin typeface="Arial"/>
              </a:rPr>
              <a:t> Решение принято, лечение назначено. Дальше состояние меняется за часы — и кто-то должен заметить перемену раньше, чем она станет очевидной.</a:t>
            </a:r>
          </a:p>
        </p:txBody>
      </p:sp>
      <p:sp>
        <p:nvSpPr>
          <p:cNvPr id="9" name="TextBox 8"/>
          <p:cNvSpPr txBox="1"/>
          <p:nvPr/>
        </p:nvSpPr>
        <p:spPr>
          <a:xfrm>
            <a:off x="704088" y="334765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a:t>
            </a:r>
            <a:r>
              <a:rPr sz="1550" b="1" i="0">
                <a:solidFill>
                  <a:srgbClr val="21295C"/>
                </a:solidFill>
                <a:latin typeface="Arial"/>
              </a:rPr>
              <a:t>Пример 1: модель раннего предупреждения</a:t>
            </a:r>
            <a:r>
              <a:rPr sz="1550" b="0" i="0">
                <a:solidFill>
                  <a:srgbClr val="21295C"/>
                </a:solidFill>
                <a:latin typeface="Arial"/>
              </a:rPr>
              <a:t>.</a:t>
            </a:r>
          </a:p>
        </p:txBody>
      </p:sp>
      <p:sp>
        <p:nvSpPr>
          <p:cNvPr id="10" name="TextBox 9"/>
          <p:cNvSpPr txBox="1"/>
          <p:nvPr/>
        </p:nvSpPr>
        <p:spPr>
          <a:xfrm>
            <a:off x="704088" y="3814336"/>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пять кадров: данные и решение стадии · работа участников · классический режим · цена обеих ошибок · счёт обоих режимов в одной единице.</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данные, способы, решение</a:t>
            </a:r>
          </a:p>
        </p:txBody>
      </p:sp>
      <p:sp>
        <p:nvSpPr>
          <p:cNvPr id="4" name="Rounded Rectangle 3"/>
          <p:cNvSpPr/>
          <p:nvPr/>
        </p:nvSpPr>
        <p:spPr>
          <a:xfrm>
            <a:off x="374904" y="12435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дорожка повторных измерений:</a:t>
            </a:r>
            <a:r>
              <a:rPr sz="1500" b="0" i="0">
                <a:solidFill>
                  <a:srgbClr val="21295C"/>
                </a:solidFill>
                <a:latin typeface="Arial"/>
              </a:rPr>
              <a:t> дыхание · пульс · давление · температура · сознание · насыщение крови кислородом.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вмешиваться сейчас или на следующем обходе. Читается направление дорожки, а не точка на ней.</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эскалация:</a:t>
            </a:r>
            <a:r>
              <a:rPr sz="1500" b="0" i="0">
                <a:solidFill>
                  <a:srgbClr val="21295C"/>
                </a:solidFill>
                <a:latin typeface="Arial"/>
              </a:rPr>
              <a:t> звать дежурного врача, участить измерения, переводить в реанимацию.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после диагноза:</a:t>
            </a:r>
            <a:r>
              <a:rPr sz="1500" b="0" i="0">
                <a:solidFill>
                  <a:srgbClr val="21295C"/>
                </a:solidFill>
                <a:latin typeface="Arial"/>
              </a:rPr>
              <a:t> диагноз ставят однажды и подписывают — состояние переоценивают каждые несколько часов, и каждая переоценка отдельная возможность пройти мимо.</a:t>
            </a:r>
          </a:p>
        </p:txBody>
      </p:sp>
      <p:sp>
        <p:nvSpPr>
          <p:cNvPr id="7" name="Rectangle 6"/>
          <p:cNvSpPr/>
          <p:nvPr/>
        </p:nvSpPr>
        <p:spPr>
          <a:xfrm>
            <a:off x="6091275" y="1335024"/>
            <a:ext cx="9144" cy="18712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наблюдения</a:t>
            </a:r>
          </a:p>
        </p:txBody>
      </p:sp>
      <p:sp>
        <p:nvSpPr>
          <p:cNvPr id="4" name="Rounded Rectangle 3"/>
          <p:cNvSpPr/>
          <p:nvPr/>
        </p:nvSpPr>
        <p:spPr>
          <a:xfrm>
            <a:off x="502920" y="1335024"/>
            <a:ext cx="338922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ДОРОЖКА У ОДНОЙ ПОСТЕЛИ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78 → 92 → 104</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пульс при падающем давлении</a:t>
            </a:r>
          </a:p>
        </p:txBody>
      </p:sp>
      <p:sp>
        <p:nvSpPr>
          <p:cNvPr id="8" name="Rounded Rectangle 7"/>
          <p:cNvSpPr/>
          <p:nvPr/>
        </p:nvSpPr>
        <p:spPr>
          <a:xfrm>
            <a:off x="4056735" y="1335024"/>
            <a:ext cx="338922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10" name="TextBox 9"/>
          <p:cNvSpPr txBox="1"/>
          <p:nvPr/>
        </p:nvSpPr>
        <p:spPr>
          <a:xfrm>
            <a:off x="4193895"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a:t>
            </a:r>
          </a:p>
        </p:txBody>
      </p:sp>
      <p:sp>
        <p:nvSpPr>
          <p:cNvPr id="11" name="TextBox 10"/>
          <p:cNvSpPr txBox="1"/>
          <p:nvPr/>
        </p:nvSpPr>
        <p:spPr>
          <a:xfrm>
            <a:off x="4193895"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измерение, запись, передача</a:t>
            </a:r>
          </a:p>
        </p:txBody>
      </p:sp>
      <p:sp>
        <p:nvSpPr>
          <p:cNvPr id="12" name="Rounded Rectangle 11"/>
          <p:cNvSpPr/>
          <p:nvPr/>
        </p:nvSpPr>
        <p:spPr>
          <a:xfrm>
            <a:off x="374904" y="3993641"/>
            <a:ext cx="11441887" cy="2242566"/>
          </a:xfrm>
          <a:prstGeom prst="roundRect">
            <a:avLst>
              <a:gd name="adj" fmla="val 1359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085081"/>
            <a:ext cx="11112703" cy="2151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тридцать коек: две сестры и дежурный врач на несколько отделений. Пара минут у постели, бланк в ногах кровати.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Новый шаг — разобрать тревогу и отклонить её.</a:t>
            </a:r>
            <a:r>
              <a:rPr sz="1500" b="0" i="0">
                <a:solidFill>
                  <a:srgbClr val="21295C"/>
                </a:solidFill>
                <a:latin typeface="Arial"/>
              </a:rPr>
              <a:t> Решает тот, кто видит запись.</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Женщины с письмом в этой палате нет: за ней не наблюдает никто.</a:t>
            </a:r>
          </a:p>
        </p:txBody>
      </p:sp>
      <p:sp>
        <p:nvSpPr>
          <p:cNvPr id="14" name="Rounded Rectangle 13"/>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15" name="Picture 14" descr="s53-obkhod-u-posteli-s-blankom.jpg"/>
          <p:cNvPicPr>
            <a:picLocks noChangeAspect="1"/>
          </p:cNvPicPr>
          <p:nvPr/>
        </p:nvPicPr>
        <p:blipFill>
          <a:blip r:embed="rId2"/>
          <a:stretch>
            <a:fillRect/>
          </a:stretch>
        </p:blipFill>
        <p:spPr>
          <a:xfrm>
            <a:off x="7894015" y="1472184"/>
            <a:ext cx="3657600" cy="2384298"/>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шкала с назначенными весами</a:t>
            </a:r>
          </a:p>
        </p:txBody>
      </p:sp>
      <p:sp>
        <p:nvSpPr>
          <p:cNvPr id="4" name="Rounded Rectangle 3"/>
          <p:cNvSpPr/>
          <p:nvPr/>
        </p:nvSpPr>
        <p:spPr>
          <a:xfrm>
            <a:off x="502920"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за отклонение</a:t>
            </a:r>
          </a:p>
        </p:txBody>
      </p:sp>
      <p:sp>
        <p:nvSpPr>
          <p:cNvPr id="6" name="Right Arrow 5"/>
          <p:cNvSpPr/>
          <p:nvPr/>
        </p:nvSpPr>
        <p:spPr>
          <a:xfrm>
            <a:off x="2078659"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230725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238955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9" name="Right Arrow 8"/>
          <p:cNvSpPr/>
          <p:nvPr/>
        </p:nvSpPr>
        <p:spPr>
          <a:xfrm>
            <a:off x="3882999"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411159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419389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12" name="Right Arrow 11"/>
          <p:cNvSpPr/>
          <p:nvPr/>
        </p:nvSpPr>
        <p:spPr>
          <a:xfrm>
            <a:off x="5687339"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91593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599823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a:t>
            </a:r>
          </a:p>
        </p:txBody>
      </p:sp>
      <p:sp>
        <p:nvSpPr>
          <p:cNvPr id="16" name="Rounded Rectangle 15"/>
          <p:cNvSpPr/>
          <p:nvPr/>
        </p:nvSpPr>
        <p:spPr>
          <a:xfrm>
            <a:off x="502920" y="2478765"/>
            <a:ext cx="3316071"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2986887"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комиссия, они напечатаны</a:t>
            </a:r>
          </a:p>
          <a:p>
            <a:pPr algn="l">
              <a:lnSpc>
                <a:spcPct val="126000"/>
              </a:lnSpc>
            </a:pPr>
            <a:r>
              <a:rPr sz="1450" b="0" i="0">
                <a:solidFill>
                  <a:srgbClr val="21295C"/>
                </a:solidFill>
                <a:latin typeface="Arial"/>
              </a:rPr>
              <a:t>• видно, откуда взялись три балла</a:t>
            </a:r>
          </a:p>
          <a:p>
            <a:pPr algn="l">
              <a:lnSpc>
                <a:spcPct val="126000"/>
              </a:lnSpc>
            </a:pPr>
            <a:r>
              <a:rPr sz="1450" b="0" i="0">
                <a:solidFill>
                  <a:srgbClr val="21295C"/>
                </a:solidFill>
                <a:latin typeface="Arial"/>
              </a:rPr>
              <a:t>• ошибку правят новой редакцией</a:t>
            </a:r>
          </a:p>
        </p:txBody>
      </p:sp>
      <p:sp>
        <p:nvSpPr>
          <p:cNvPr id="19" name="Rounded Rectangle 18"/>
          <p:cNvSpPr/>
          <p:nvPr/>
        </p:nvSpPr>
        <p:spPr>
          <a:xfrm>
            <a:off x="4129887" y="2478765"/>
            <a:ext cx="3316071"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4294479" y="2634213"/>
            <a:ext cx="2986887"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целилась</a:t>
            </a:r>
          </a:p>
        </p:txBody>
      </p:sp>
      <p:sp>
        <p:nvSpPr>
          <p:cNvPr id="21" name="TextBox 20"/>
          <p:cNvSpPr txBox="1"/>
          <p:nvPr/>
        </p:nvSpPr>
        <p:spPr>
          <a:xfrm>
            <a:off x="4294479" y="3236842"/>
            <a:ext cx="2986887" cy="20729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после отклонения</a:t>
            </a:r>
          </a:p>
          <a:p>
            <a:pPr algn="l">
              <a:lnSpc>
                <a:spcPct val="126000"/>
              </a:lnSpc>
            </a:pPr>
            <a:r>
              <a:rPr sz="1450" b="0" i="0">
                <a:solidFill>
                  <a:srgbClr val="21295C"/>
                </a:solidFill>
                <a:latin typeface="Arial"/>
              </a:rPr>
              <a:t>• груба: один порог на все возрасты</a:t>
            </a:r>
          </a:p>
          <a:p>
            <a:pPr algn="l">
              <a:lnSpc>
                <a:spcPct val="126000"/>
              </a:lnSpc>
            </a:pPr>
            <a:r>
              <a:rPr sz="1450" b="0" i="0">
                <a:solidFill>
                  <a:srgbClr val="21295C"/>
                </a:solidFill>
                <a:latin typeface="Arial"/>
              </a:rPr>
              <a:t>• знает шесть величин, снятых сейчас</a:t>
            </a:r>
          </a:p>
        </p:txBody>
      </p:sp>
      <p:sp>
        <p:nvSpPr>
          <p:cNvPr id="22" name="Rounded Rectangle 21"/>
          <p:cNvSpPr/>
          <p:nvPr/>
        </p:nvSpPr>
        <p:spPr>
          <a:xfrm>
            <a:off x="374904" y="5556710"/>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 классический режим этой стадии: дальше модель сравнивается именно с ней.</a:t>
            </a:r>
          </a:p>
        </p:txBody>
      </p:sp>
      <p:sp>
        <p:nvSpPr>
          <p:cNvPr id="24" name="Rounded Rectangle 23"/>
          <p:cNvSpPr/>
          <p:nvPr/>
        </p:nvSpPr>
        <p:spPr>
          <a:xfrm>
            <a:off x="7756855" y="1335024"/>
            <a:ext cx="3931920" cy="2643767"/>
          </a:xfrm>
          <a:prstGeom prst="roundRect">
            <a:avLst>
              <a:gd name="adj" fmla="val 11529"/>
            </a:avLst>
          </a:prstGeom>
          <a:solidFill>
            <a:srgbClr val="F4F7FA"/>
          </a:solidFill>
          <a:ln w="19050">
            <a:solidFill>
              <a:srgbClr val="1C7293"/>
            </a:solidFill>
          </a:ln>
          <a:effectLst/>
        </p:spPr>
        <p:txBody>
          <a:bodyPr rtlCol="0" anchor="ctr"/>
          <a:lstStyle/>
          <a:p>
            <a:pPr algn="ctr"/>
          </a:p>
        </p:txBody>
      </p:sp>
      <p:pic>
        <p:nvPicPr>
          <p:cNvPr id="25" name="Picture 24" descr="s54-shkala-NEWS2-poroga-po-polosam.jpg"/>
          <p:cNvPicPr>
            <a:picLocks noChangeAspect="1"/>
          </p:cNvPicPr>
          <p:nvPr/>
        </p:nvPicPr>
        <p:blipFill>
          <a:blip r:embed="rId2"/>
          <a:stretch>
            <a:fillRect/>
          </a:stretch>
        </p:blipFill>
        <p:spPr>
          <a:xfrm>
            <a:off x="7894015" y="1472184"/>
            <a:ext cx="3657600" cy="2369447"/>
          </a:xfrm>
          <a:prstGeom prst="rect">
            <a:avLst/>
          </a:prstGeom>
        </p:spPr>
      </p:pic>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капельница или реанимация</a:t>
            </a:r>
          </a:p>
          <a:p>
            <a:pPr algn="l">
              <a:lnSpc>
                <a:spcPct val="126000"/>
              </a:lnSpc>
            </a:pPr>
            <a:r>
              <a:rPr sz="1450" b="0" i="0">
                <a:solidFill>
                  <a:srgbClr val="21295C"/>
                </a:solidFill>
                <a:latin typeface="Arial"/>
              </a:rPr>
              <a:t>• ведущая причина внутрибольничной смерти</a:t>
            </a:r>
          </a:p>
          <a:p>
            <a:pPr algn="l">
              <a:lnSpc>
                <a:spcPct val="126000"/>
              </a:lnSpc>
            </a:pPr>
            <a:r>
              <a:rPr sz="1450" b="0" i="0">
                <a:solidFill>
                  <a:srgbClr val="21295C"/>
                </a:solidFill>
                <a:latin typeface="Arial"/>
              </a:rPr>
              <a:t>• считается не в деньгах</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анализы «чтобы исключить»</a:t>
            </a:r>
          </a:p>
          <a:p>
            <a:pPr algn="l">
              <a:lnSpc>
                <a:spcPct val="126000"/>
              </a:lnSpc>
            </a:pPr>
            <a:r>
              <a:rPr sz="1450" b="0" i="0">
                <a:solidFill>
                  <a:srgbClr val="21295C"/>
                </a:solidFill>
                <a:latin typeface="Arial"/>
              </a:rPr>
              <a:t>• антибиотик «на всякий случай» — устойчивость</a:t>
            </a:r>
          </a:p>
          <a:p>
            <a:pPr algn="l">
              <a:lnSpc>
                <a:spcPct val="126000"/>
              </a:lnSpc>
            </a:pPr>
            <a:r>
              <a:rPr sz="1450" b="0" i="0">
                <a:solidFill>
                  <a:srgbClr val="21295C"/>
                </a:solidFill>
                <a:latin typeface="Arial"/>
              </a:rPr>
              <a:t>• время, снятое с другого пациента</a:t>
            </a:r>
          </a:p>
          <a:p>
            <a:pPr algn="l">
              <a:lnSpc>
                <a:spcPct val="126000"/>
              </a:lnSpc>
            </a:pPr>
            <a:r>
              <a:rPr sz="1450" b="0" i="0">
                <a:solidFill>
                  <a:srgbClr val="21295C"/>
                </a:solidFill>
                <a:latin typeface="Arial"/>
              </a:rPr>
              <a:t>• через сотню повторений — закрывать не читая</a:t>
            </a:r>
          </a:p>
        </p:txBody>
      </p:sp>
      <p:sp>
        <p:nvSpPr>
          <p:cNvPr id="10" name="Rounded Rectangle 9"/>
          <p:cNvSpPr/>
          <p:nvPr/>
        </p:nvSpPr>
        <p:spPr>
          <a:xfrm>
            <a:off x="374904" y="4535424"/>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дежурная смена, и выбор между ними делается по многу раз за ночь.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Оба классических режима в одной единице —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88,8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прибор у постели, порог выставлен рукой; обученной модели в приборе нет</a:t>
            </a:r>
          </a:p>
        </p:txBody>
      </p:sp>
      <p:sp>
        <p:nvSpPr>
          <p:cNvPr id="8" name="Rectangle 7"/>
          <p:cNvSpPr/>
          <p:nvPr/>
        </p:nvSpPr>
        <p:spPr>
          <a:xfrm>
            <a:off x="754380" y="3354632"/>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a:t>
            </a:r>
          </a:p>
        </p:txBody>
      </p:sp>
      <p:sp>
        <p:nvSpPr>
          <p:cNvPr id="10" name="TextBox 9"/>
          <p:cNvSpPr txBox="1"/>
          <p:nvPr/>
        </p:nvSpPr>
        <p:spPr>
          <a:xfrm>
            <a:off x="11071555"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20</a:t>
            </a:r>
          </a:p>
        </p:txBody>
      </p:sp>
      <p:sp>
        <p:nvSpPr>
          <p:cNvPr id="11" name="Rectangle 10"/>
          <p:cNvSpPr/>
          <p:nvPr/>
        </p:nvSpPr>
        <p:spPr>
          <a:xfrm>
            <a:off x="836676" y="3274165"/>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274165"/>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3016697" y="319004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177533"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a:t>
            </a:r>
          </a:p>
          <a:p>
            <a:pPr algn="ctr">
              <a:lnSpc>
                <a:spcPct val="110000"/>
              </a:lnSpc>
            </a:pPr>
            <a:r>
              <a:rPr sz="1200" b="0" i="0">
                <a:solidFill>
                  <a:srgbClr val="21295C"/>
                </a:solidFill>
                <a:latin typeface="Arial"/>
              </a:rPr>
              <a:t>Шкала раннего предупреждения</a:t>
            </a:r>
          </a:p>
        </p:txBody>
      </p:sp>
      <p:sp>
        <p:nvSpPr>
          <p:cNvPr id="15" name="Rectangle 14"/>
          <p:cNvSpPr/>
          <p:nvPr/>
        </p:nvSpPr>
        <p:spPr>
          <a:xfrm>
            <a:off x="5731367" y="340492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3892204" y="3660956"/>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12</a:t>
            </a:r>
          </a:p>
          <a:p>
            <a:pPr algn="ctr">
              <a:lnSpc>
                <a:spcPct val="110000"/>
              </a:lnSpc>
            </a:pPr>
            <a:r>
              <a:rPr sz="1200" b="0" i="0">
                <a:solidFill>
                  <a:srgbClr val="21295C"/>
                </a:solidFill>
                <a:latin typeface="Arial"/>
              </a:rPr>
              <a:t>Вторая</a:t>
            </a:r>
          </a:p>
        </p:txBody>
      </p:sp>
      <p:sp>
        <p:nvSpPr>
          <p:cNvPr id="17" name="Rectangle 16"/>
          <p:cNvSpPr/>
          <p:nvPr/>
        </p:nvSpPr>
        <p:spPr>
          <a:xfrm>
            <a:off x="9803373" y="3190040"/>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964210"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18</a:t>
            </a:r>
          </a:p>
          <a:p>
            <a:pPr algn="ctr">
              <a:lnSpc>
                <a:spcPct val="110000"/>
              </a:lnSpc>
            </a:pPr>
            <a:r>
              <a:rPr sz="1200" b="0" i="0">
                <a:solidFill>
                  <a:srgbClr val="21295C"/>
                </a:solidFill>
                <a:latin typeface="Arial"/>
              </a:rPr>
              <a:t>Третья</a:t>
            </a:r>
          </a:p>
        </p:txBody>
      </p:sp>
      <p:sp>
        <p:nvSpPr>
          <p:cNvPr id="19" name="TextBox 18"/>
          <p:cNvSpPr txBox="1"/>
          <p:nvPr/>
        </p:nvSpPr>
        <p:spPr>
          <a:xfrm>
            <a:off x="502920" y="4185626"/>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подтверждается тревог из ста · 45 776 пациентов; сепсис у 3,3 из ста — одна выборка на все три</a:t>
            </a:r>
          </a:p>
        </p:txBody>
      </p:sp>
      <p:sp>
        <p:nvSpPr>
          <p:cNvPr id="20" name="Rounded Rectangle 19"/>
          <p:cNvSpPr/>
          <p:nvPr/>
        </p:nvSpPr>
        <p:spPr>
          <a:xfrm>
            <a:off x="374904" y="4496522"/>
            <a:ext cx="11441887" cy="1739685"/>
          </a:xfrm>
          <a:prstGeom prst="roundRect">
            <a:avLst>
              <a:gd name="adj" fmla="val 1752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87962"/>
            <a:ext cx="5373471" cy="164824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шкалы подтверждаются 8 тревог из ста — остальные 92 сделаны впустую, до всякого машинного обучения</a:t>
            </a:r>
          </a:p>
        </p:txBody>
      </p:sp>
      <p:sp>
        <p:nvSpPr>
          <p:cNvPr id="22" name="TextBox 21"/>
          <p:cNvSpPr txBox="1"/>
          <p:nvPr/>
        </p:nvSpPr>
        <p:spPr>
          <a:xfrm>
            <a:off x="6278727" y="4587962"/>
            <a:ext cx="5373471" cy="164824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прибор у постели решает другую задачу: порог там выставлен рукой. </a:t>
            </a:r>
            <a:r>
              <a:rPr sz="1500" b="1" i="0">
                <a:solidFill>
                  <a:srgbClr val="21295C"/>
                </a:solidFill>
                <a:latin typeface="Arial"/>
              </a:rPr>
              <a:t>Доли прибора и шкалы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этими числами. Нуля в этом сравнении нет.</a:t>
            </a:r>
          </a:p>
        </p:txBody>
      </p:sp>
      <p:sp>
        <p:nvSpPr>
          <p:cNvPr id="23" name="Rectangle 22"/>
          <p:cNvSpPr/>
          <p:nvPr/>
        </p:nvSpPr>
        <p:spPr>
          <a:xfrm>
            <a:off x="6091275" y="4587962"/>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JAMIA Open 2021</a:t>
            </a:r>
            <a:r>
              <a:rPr sz="1200" b="0" i="1">
                <a:solidFill>
                  <a:srgbClr val="1C7293"/>
                </a:solidFill>
                <a:latin typeface="Arial"/>
              </a:rPr>
              <a:t> · </a:t>
            </a:r>
            <a:r>
              <a:rPr sz="1200" b="0" i="1" u="sng">
                <a:solidFill>
                  <a:srgbClr val="065A82"/>
                </a:solidFill>
                <a:latin typeface="Arial"/>
                <a:hlinkClick r:id="rId3"/>
              </a:rPr>
              <a:t>Drew и соавт., PLoS One 2014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38 455 госпитализаций; сепсис у 6,6 из ста</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33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карты, читаемые непрерывно; выход — балл риска и тревога с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между 0,76 и 0,63 — это разница в пригодности:</a:t>
            </a:r>
            <a:r>
              <a:rPr sz="1500" b="0" i="0">
                <a:solidFill>
                  <a:srgbClr val="21295C"/>
                </a:solidFill>
                <a:latin typeface="Arial"/>
              </a:rPr>
              <a:t> на 0,76 можно опереться при настройке порога, при 0,63 неприемлем либо поток тревог, либо чувствительность.</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 модели — штрафованная логистическая регрессия:</a:t>
            </a:r>
            <a:r>
              <a:rPr sz="1500" b="0" i="0">
                <a:solidFill>
                  <a:srgbClr val="21295C"/>
                </a:solidFill>
                <a:latin typeface="Arial"/>
              </a:rPr>
              <a:t> обученная статистика, глубокой сети здесь нет. </a:t>
            </a:r>
            <a:r>
              <a:rPr sz="1500" b="0" i="1">
                <a:solidFill>
                  <a:srgbClr val="21295C"/>
                </a:solidFill>
                <a:latin typeface="Arial"/>
              </a:rPr>
              <a:t>Прогноз на структурированных данных.</a:t>
            </a:r>
          </a:p>
          <a:p>
            <a:pPr algn="l">
              <a:lnSpc>
                <a:spcPct val="126000"/>
              </a:lnSpc>
              <a:spcBef>
                <a:spcPts val="700"/>
              </a:spcBef>
            </a:pPr>
            <a:r>
              <a:rPr sz="1200" b="0" i="0">
                <a:solidFill>
                  <a:srgbClr val="21295C"/>
                </a:solidFill>
                <a:latin typeface="Arial"/>
              </a:rPr>
              <a:t/>
            </a:r>
            <a:r>
              <a:rPr sz="1200" b="0" i="1">
                <a:solidFill>
                  <a:srgbClr val="1C7293"/>
                </a:solidFill>
                <a:latin typeface="Arial"/>
              </a:rPr>
              <a:t>Ретроспективная когорта одной системы: 38 455 госпитализаций.</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a:t>
            </a:r>
            <a:r>
              <a:rPr sz="1200" b="0" i="1">
                <a:solidFill>
                  <a:srgbClr val="1C7293"/>
                </a:solidFill>
                <a:latin typeface="Arial"/>
              </a:rPr>
              <a:t> · </a:t>
            </a:r>
            <a:r>
              <a:rPr sz="1200" b="0" i="1" u="sng">
                <a:solidFill>
                  <a:srgbClr val="065A82"/>
                </a:solidFill>
                <a:latin typeface="Arial"/>
                <a:hlinkClick r:id="rId3"/>
              </a:rPr>
              <a:t>заявление по второй версии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арифметика: восемнадцать тревог на сто госпитализаций</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35860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3888733"/>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3980173"/>
            <a:ext cx="5373471" cy="22560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Знаменатели разные, и путать их нельзя:</a:t>
            </a:r>
            <a:r>
              <a:rPr sz="1500" b="0" i="0">
                <a:solidFill>
                  <a:srgbClr val="21295C"/>
                </a:solidFill>
                <a:latin typeface="Arial"/>
              </a:rPr>
              <a:t> 18 — доля </a:t>
            </a:r>
            <a:r>
              <a:rPr sz="1500" b="1" i="0">
                <a:solidFill>
                  <a:srgbClr val="21295C"/>
                </a:solidFill>
                <a:latin typeface="Arial"/>
              </a:rPr>
              <a:t>госпитализаций</a:t>
            </a:r>
            <a:r>
              <a:rPr sz="1500" b="0" i="0">
                <a:solidFill>
                  <a:srgbClr val="21295C"/>
                </a:solidFill>
                <a:latin typeface="Arial"/>
              </a:rPr>
              <a:t>, 12 — доля </a:t>
            </a:r>
            <a:r>
              <a:rPr sz="1500" b="1" i="0">
                <a:solidFill>
                  <a:srgbClr val="21295C"/>
                </a:solidFill>
                <a:latin typeface="Arial"/>
              </a:rPr>
              <a:t>поднятых тревог</a:t>
            </a:r>
            <a:r>
              <a:rPr sz="1500" b="0" i="0">
                <a:solidFill>
                  <a:srgbClr val="21295C"/>
                </a:solidFill>
                <a:latin typeface="Arial"/>
              </a:rPr>
              <a:t>.</a:t>
            </a:r>
          </a:p>
        </p:txBody>
      </p:sp>
      <p:sp>
        <p:nvSpPr>
          <p:cNvPr id="28" name="TextBox 27"/>
          <p:cNvSpPr txBox="1"/>
          <p:nvPr/>
        </p:nvSpPr>
        <p:spPr>
          <a:xfrm>
            <a:off x="6278727" y="3980173"/>
            <a:ext cx="5373471" cy="22560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Шкала, которую модель заменяла, подтверждалась 8 тревогами из ста; другая шкала того же разбора — 18. </a:t>
            </a:r>
            <a:r>
              <a:rPr sz="1500" b="1" i="0">
                <a:solidFill>
                  <a:srgbClr val="21295C"/>
                </a:solidFill>
                <a:latin typeface="Arial"/>
              </a:rPr>
              <a:t>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сравнивается порядок величины. </a:t>
            </a:r>
            <a:r>
              <a:rPr sz="1500" b="1" i="0">
                <a:solidFill>
                  <a:srgbClr val="21295C"/>
                </a:solidFill>
                <a:latin typeface="Arial"/>
              </a:rPr>
              <a:t>Превосходства это сравнение не устанавливает.</a:t>
            </a:r>
          </a:p>
        </p:txBody>
      </p:sp>
      <p:sp>
        <p:nvSpPr>
          <p:cNvPr id="29" name="Rectangle 28"/>
          <p:cNvSpPr/>
          <p:nvPr/>
        </p:nvSpPr>
        <p:spPr>
          <a:xfrm>
            <a:off x="6091275" y="3980173"/>
            <a:ext cx="9144" cy="1574205"/>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и больницы</a:t>
            </a:r>
          </a:p>
        </p:txBody>
      </p:sp>
      <p:sp>
        <p:nvSpPr>
          <p:cNvPr id="4" name="Rounded Rectangle 3"/>
          <p:cNvSpPr/>
          <p:nvPr/>
        </p:nvSpPr>
        <p:spPr>
          <a:xfrm>
            <a:off x="502920" y="1335024"/>
            <a:ext cx="2204618"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1932846"/>
            <a:ext cx="193029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359845"/>
            <a:ext cx="193029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шесть часов</a:t>
            </a:r>
          </a:p>
        </p:txBody>
      </p:sp>
      <p:sp>
        <p:nvSpPr>
          <p:cNvPr id="8" name="Rounded Rectangle 7"/>
          <p:cNvSpPr/>
          <p:nvPr/>
        </p:nvSpPr>
        <p:spPr>
          <a:xfrm>
            <a:off x="2872130" y="1335024"/>
            <a:ext cx="2204618"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009290" y="1472184"/>
            <a:ext cx="19302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0" name="TextBox 9"/>
          <p:cNvSpPr txBox="1"/>
          <p:nvPr/>
        </p:nvSpPr>
        <p:spPr>
          <a:xfrm>
            <a:off x="3009290" y="2140317"/>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 минут</a:t>
            </a:r>
          </a:p>
        </p:txBody>
      </p:sp>
      <p:sp>
        <p:nvSpPr>
          <p:cNvPr id="11" name="TextBox 10"/>
          <p:cNvSpPr txBox="1"/>
          <p:nvPr/>
        </p:nvSpPr>
        <p:spPr>
          <a:xfrm>
            <a:off x="3009290" y="2567316"/>
            <a:ext cx="193029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2" name="Rounded Rectangle 11"/>
          <p:cNvSpPr/>
          <p:nvPr/>
        </p:nvSpPr>
        <p:spPr>
          <a:xfrm>
            <a:off x="5241340" y="1335024"/>
            <a:ext cx="2204618"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378500" y="1472184"/>
            <a:ext cx="19302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РАЗЛИЧЕНИЕ · ПОДТВЕРЖДЕНИЕ</a:t>
            </a:r>
          </a:p>
        </p:txBody>
      </p:sp>
      <p:sp>
        <p:nvSpPr>
          <p:cNvPr id="14" name="TextBox 13"/>
          <p:cNvSpPr txBox="1"/>
          <p:nvPr/>
        </p:nvSpPr>
        <p:spPr>
          <a:xfrm>
            <a:off x="5378500" y="2140317"/>
            <a:ext cx="19302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0,82–0,92 · 0,13–0,26</a:t>
            </a:r>
          </a:p>
        </p:txBody>
      </p:sp>
      <p:sp>
        <p:nvSpPr>
          <p:cNvPr id="15" name="TextBox 14"/>
          <p:cNvSpPr txBox="1"/>
          <p:nvPr/>
        </p:nvSpPr>
        <p:spPr>
          <a:xfrm>
            <a:off x="5378500" y="2957740"/>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четыре системы</a:t>
            </a:r>
          </a:p>
        </p:txBody>
      </p:sp>
      <p:sp>
        <p:nvSpPr>
          <p:cNvPr id="16" name="Rounded Rectangle 15"/>
          <p:cNvSpPr/>
          <p:nvPr/>
        </p:nvSpPr>
        <p:spPr>
          <a:xfrm>
            <a:off x="374904" y="4296099"/>
            <a:ext cx="11441887" cy="1940108"/>
          </a:xfrm>
          <a:prstGeom prst="roundRect">
            <a:avLst>
              <a:gd name="adj" fmla="val 1571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87539"/>
            <a:ext cx="11112703" cy="184866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145 885 обращений двух приёмных отделений, 2023 год.</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 действующей версии различение выросло, подтверждение осталось низким.</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Проспективная многоцентровая проверка: 227 091 госпитализация, четыре системы.</a:t>
            </a:r>
          </a:p>
        </p:txBody>
      </p:sp>
      <p:sp>
        <p:nvSpPr>
          <p:cNvPr id="18" name="Rounded Rectangle 17"/>
          <p:cNvSpPr/>
          <p:nvPr/>
        </p:nvSpPr>
        <p:spPr>
          <a:xfrm>
            <a:off x="7756855" y="1335024"/>
            <a:ext cx="3931920" cy="2961075"/>
          </a:xfrm>
          <a:prstGeom prst="roundRect">
            <a:avLst>
              <a:gd name="adj" fmla="val 10293"/>
            </a:avLst>
          </a:prstGeom>
          <a:solidFill>
            <a:srgbClr val="F4F7FA"/>
          </a:solidFill>
          <a:ln w="19050">
            <a:solidFill>
              <a:srgbClr val="1C7293"/>
            </a:solidFill>
          </a:ln>
          <a:effectLst/>
        </p:spPr>
        <p:txBody>
          <a:bodyPr rtlCol="0" anchor="ctr"/>
          <a:lstStyle/>
          <a:p>
            <a:pPr algn="ctr"/>
          </a:p>
        </p:txBody>
      </p:sp>
      <p:pic>
        <p:nvPicPr>
          <p:cNvPr id="19" name="Picture 18" descr="s59-stranitsa-publikatsii-2024.png"/>
          <p:cNvPicPr>
            <a:picLocks noChangeAspect="1"/>
          </p:cNvPicPr>
          <p:nvPr/>
        </p:nvPicPr>
        <p:blipFill>
          <a:blip r:embed="rId2"/>
          <a:stretch>
            <a:fillRect/>
          </a:stretch>
        </p:blipFill>
        <p:spPr>
          <a:xfrm>
            <a:off x="7894015" y="1472184"/>
            <a:ext cx="3657600" cy="2686755"/>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JAMA Network Open 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оповещение работает без человека</a:t>
            </a:r>
          </a:p>
        </p:txBody>
      </p:sp>
      <p:sp>
        <p:nvSpPr>
          <p:cNvPr id="7" name="Rounded Rectangle 6"/>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разбор тревоги — статья рабочего времени, со штатом</a:t>
            </a:r>
          </a:p>
        </p:txBody>
      </p:sp>
      <p:sp>
        <p:nvSpPr>
          <p:cNvPr id="10" name="Rounded Rectangle 9"/>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ТРЕВОГ ЗА ЭПИДЕМИЮ</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953 → 1 363 в сутки</a:t>
            </a:r>
          </a:p>
        </p:txBody>
      </p:sp>
      <p:sp>
        <p:nvSpPr>
          <p:cNvPr id="13" name="TextBox 12"/>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загрузка при этом упала: 10 159 → 6 634</a:t>
            </a:r>
          </a:p>
        </p:txBody>
      </p:sp>
      <p:sp>
        <p:nvSpPr>
          <p:cNvPr id="14" name="Rounded Rectangle 13"/>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внимание там же, только больше</a:t>
            </a:r>
          </a:p>
        </p:txBody>
      </p:sp>
      <p:sp>
        <p:nvSpPr>
          <p:cNvPr id="17" name="TextBox 16"/>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8" name="Rounded Rectangle 17"/>
          <p:cNvSpPr/>
          <p:nvPr/>
        </p:nvSpPr>
        <p:spPr>
          <a:xfrm>
            <a:off x="1920240" y="349279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3851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20" name="Right Arrow 19"/>
          <p:cNvSpPr/>
          <p:nvPr/>
        </p:nvSpPr>
        <p:spPr>
          <a:xfrm>
            <a:off x="5039258" y="3661912"/>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49279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53851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3" name="Right Arrow 22"/>
          <p:cNvSpPr/>
          <p:nvPr/>
        </p:nvSpPr>
        <p:spPr>
          <a:xfrm>
            <a:off x="8386876" y="3661912"/>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49279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53851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6" name="TextBox 25"/>
          <p:cNvSpPr txBox="1"/>
          <p:nvPr/>
        </p:nvSpPr>
        <p:spPr>
          <a:xfrm>
            <a:off x="502920" y="415106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7" name="Rounded Rectangle 26"/>
          <p:cNvSpPr/>
          <p:nvPr/>
        </p:nvSpPr>
        <p:spPr>
          <a:xfrm>
            <a:off x="1920240" y="411449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16021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9" name="Right Arrow 28"/>
          <p:cNvSpPr/>
          <p:nvPr/>
        </p:nvSpPr>
        <p:spPr>
          <a:xfrm>
            <a:off x="5039258" y="4283609"/>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5267858" y="4114492"/>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1" name="TextBox 30"/>
          <p:cNvSpPr txBox="1"/>
          <p:nvPr/>
        </p:nvSpPr>
        <p:spPr>
          <a:xfrm>
            <a:off x="5350154" y="4160212"/>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2" name="Right Arrow 31"/>
          <p:cNvSpPr/>
          <p:nvPr/>
        </p:nvSpPr>
        <p:spPr>
          <a:xfrm>
            <a:off x="8386876" y="4283609"/>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8615476" y="411449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8697772" y="416021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5" name="TextBox 34"/>
          <p:cNvSpPr txBox="1"/>
          <p:nvPr/>
        </p:nvSpPr>
        <p:spPr>
          <a:xfrm>
            <a:off x="502920" y="46264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тревоги стал новым шагом той же смены</a:t>
            </a:r>
          </a:p>
        </p:txBody>
      </p:sp>
      <p:sp>
        <p:nvSpPr>
          <p:cNvPr id="36" name="Rounded Rectangle 35"/>
          <p:cNvSpPr/>
          <p:nvPr/>
        </p:nvSpPr>
        <p:spPr>
          <a:xfrm>
            <a:off x="374904" y="4929145"/>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020585"/>
            <a:ext cx="11112703" cy="121562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Форма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Форма </a:t>
            </a:r>
            <a:r>
              <a:rPr sz="1500" b="1" i="0">
                <a:solidFill>
                  <a:srgbClr val="21295C"/>
                </a:solidFill>
                <a:latin typeface="Arial"/>
              </a:rPr>
              <a:t>«шаг появился»</a:t>
            </a:r>
            <a:r>
              <a:rPr sz="1500" b="0" i="0">
                <a:solidFill>
                  <a:srgbClr val="21295C"/>
                </a:solidFill>
                <a:latin typeface="Arial"/>
              </a:rPr>
              <a:t> — разбор потока тревог.</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пациентов с тревогой: </a:t>
            </a:r>
            <a:r>
              <a:rPr sz="1500" b="1" i="0">
                <a:solidFill>
                  <a:srgbClr val="21295C"/>
                </a:solidFill>
                <a:latin typeface="Arial"/>
              </a:rPr>
              <a:t>9 → 21 из ста</a:t>
            </a:r>
            <a:r>
              <a:rPr sz="1500" b="0" i="0">
                <a:solidFill>
                  <a:srgbClr val="21295C"/>
                </a:solidFill>
                <a:latin typeface="Arial"/>
              </a:rPr>
              <a:t>. </a:t>
            </a:r>
            <a:r>
              <a:rPr sz="1500" b="1" i="0">
                <a:solidFill>
                  <a:srgbClr val="21295C"/>
                </a:solidFill>
                <a:latin typeface="Arial"/>
              </a:rPr>
              <a:t>Распределение входов сдвинулось, порог остался на месте.</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и соавт., JAMA Network Open 2021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базы не предупреждает</a:t>
            </a:r>
          </a:p>
        </p:txBody>
      </p:sp>
      <p:sp>
        <p:nvSpPr>
          <p:cNvPr id="4" name="Rounded Rectangle 3"/>
          <p:cNvSpPr/>
          <p:nvPr/>
        </p:nvSpPr>
        <p:spPr>
          <a:xfrm>
            <a:off x="374904" y="12435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балл считается непрерывно по всей больнице. Подтверждается </a:t>
            </a:r>
            <a:r>
              <a:rPr sz="1500" b="1" i="0">
                <a:solidFill>
                  <a:srgbClr val="21295C"/>
                </a:solidFill>
                <a:latin typeface="Arial"/>
              </a:rPr>
              <a:t>12 тревог из ста против 8 и 18</a:t>
            </a:r>
            <a:r>
              <a:rPr sz="1500" b="0" i="0">
                <a:solidFill>
                  <a:srgbClr val="21295C"/>
                </a:solidFill>
                <a:latin typeface="Arial"/>
              </a:rPr>
              <a:t> у сменённых шкал.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себе порог · опередить врача — </a:t>
            </a:r>
            <a:r>
              <a:rPr sz="1500" b="1" i="0">
                <a:solidFill>
                  <a:srgbClr val="21295C"/>
                </a:solidFill>
                <a:latin typeface="Arial"/>
              </a:rPr>
              <a:t>ноль минут</a:t>
            </a:r>
            <a:r>
              <a:rPr sz="1500" b="0" i="0">
                <a:solidFill>
                  <a:srgbClr val="21295C"/>
                </a:solidFill>
                <a:latin typeface="Arial"/>
              </a:rPr>
              <a:t> · замолчать на сдвинувшемся потоке.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выросла там же, появился шаг разбора тревоги. </a:t>
            </a:r>
            <a:r>
              <a:rPr sz="1500" b="1" i="0">
                <a:solidFill>
                  <a:srgbClr val="21295C"/>
                </a:solidFill>
                <a:latin typeface="Arial"/>
              </a:rPr>
              <a:t>Прочерк: что стало со сменой — не измерено.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проверка доли подтверждения на своём потоке, назначенный разбор, порог под распространённость.</a:t>
            </a:r>
          </a:p>
        </p:txBody>
      </p:sp>
      <p:sp>
        <p:nvSpPr>
          <p:cNvPr id="7" name="Rectangle 6"/>
          <p:cNvSpPr/>
          <p:nvPr/>
        </p:nvSpPr>
        <p:spPr>
          <a:xfrm>
            <a:off x="6091275" y="1335024"/>
            <a:ext cx="9144" cy="18712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способы,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980083"/>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33,0 % в 2015 → 54,2 % в 2020</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401355"/>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 это доля </a:t>
            </a:r>
            <a:r>
              <a:rPr sz="1500" b="1" i="0">
                <a:solidFill>
                  <a:srgbClr val="21295C"/>
                </a:solidFill>
                <a:latin typeface="Arial"/>
              </a:rPr>
              <a:t>текста</a:t>
            </a:r>
            <a:r>
              <a:rPr sz="1500" b="0" i="0">
                <a:solidFill>
                  <a:srgbClr val="21295C"/>
                </a:solidFill>
                <a:latin typeface="Arial"/>
              </a:rPr>
              <a:t>, а не доля заметок: не «половина записей скопирована», а «половина написанного уже было написано».</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принадлежат замеру, не задаче.</a:t>
            </a:r>
          </a:p>
        </p:txBody>
      </p:sp>
      <p:sp>
        <p:nvSpPr>
          <p:cNvPr id="21" name="Rectangle 20"/>
          <p:cNvSpPr/>
          <p:nvPr/>
        </p:nvSpPr>
        <p:spPr>
          <a:xfrm>
            <a:off x="6091275" y="3492795"/>
            <a:ext cx="9144" cy="1277144"/>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один шаг убрала</a:t>
            </a:r>
          </a:p>
        </p:txBody>
      </p:sp>
      <p:sp>
        <p:nvSpPr>
          <p:cNvPr id="8" name="Rounded Rectangle 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продукта режима, один дизайн — один результат значимый, другой нулевой:</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Трёхрукое рандомизированное испытание; препринт, рецензирования не проходил.</a:t>
            </a:r>
          </a:p>
        </p:txBody>
      </p:sp>
      <p:sp>
        <p:nvSpPr>
          <p:cNvPr id="20" name="Rectangle 19"/>
          <p:cNvSpPr/>
          <p:nvPr/>
        </p:nvSpPr>
        <p:spPr>
          <a:xfrm>
            <a:off x="6091275" y="3281552"/>
            <a:ext cx="9144" cy="2168327"/>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Пятую операцию делает не врач:</a:t>
            </a:r>
            <a:r>
              <a:rPr sz="1250" b="0" i="0">
                <a:solidFill>
                  <a:srgbClr val="21295C"/>
                </a:solidFill>
                <a:latin typeface="Arial"/>
              </a:rPr>
              <a:t> выборочный контроль заметок — работа появившейся службы со своим штатом.</a:t>
            </a:r>
          </a:p>
          <a:p>
            <a:pPr algn="l">
              <a:lnSpc>
                <a:spcPct val="126000"/>
              </a:lnSpc>
              <a:spcBef>
                <a:spcPts val="700"/>
              </a:spcBef>
            </a:pPr>
            <a:r>
              <a:rPr sz="1250" b="0" i="0">
                <a:solidFill>
                  <a:srgbClr val="21295C"/>
                </a:solidFill>
                <a:latin typeface="Arial"/>
              </a:rPr>
              <a:t/>
            </a:r>
            <a:r>
              <a:rPr sz="1250" b="1" i="0">
                <a:solidFill>
                  <a:srgbClr val="21295C"/>
                </a:solidFill>
                <a:latin typeface="Arial"/>
              </a:rPr>
              <a:t>Сняли не время, а необходимость держать структуру документа в голове при живом человеке.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смотрели двое — и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 100 госпитализаций, 22 рецензента.</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а не 1 274 сводки</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a:t>
            </a:r>
          </a:p>
        </p:txBody>
      </p:sp>
      <p:sp>
        <p:nvSpPr>
          <p:cNvPr id="18" name="Rounded Rectangle 17"/>
          <p:cNvSpPr/>
          <p:nvPr/>
        </p:nvSpPr>
        <p:spPr>
          <a:xfrm>
            <a:off x="374904" y="3401355"/>
            <a:ext cx="11441887" cy="1492052"/>
          </a:xfrm>
          <a:prstGeom prst="roundRect">
            <a:avLst>
              <a:gd name="adj" fmla="val 2042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и уместное по стилю утверждение, которого в истории болезни не было. </a:t>
            </a:r>
            <a:r>
              <a:rPr sz="1500" b="1" i="0">
                <a:solidFill>
                  <a:srgbClr val="21295C"/>
                </a:solidFill>
                <a:latin typeface="Arial"/>
              </a:rPr>
              <a:t>Этому чтению никто не учит.</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Ссылка проверяется не на существование работы, а на то, считает ли она ровно эту величину.</a:t>
            </a:r>
            <a:r>
              <a:rPr sz="1500" b="0" i="0">
                <a:solidFill>
                  <a:srgbClr val="21295C"/>
                </a:solidFill>
                <a:latin typeface="Arial"/>
              </a:rPr>
              <a:t> Не считает ни одна из трёх.</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492795"/>
            <a:ext cx="9144" cy="1217732"/>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Прочерк: вычитке другого рода не учат.</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Допуск, надзор и ответственность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Подпись, процедура, норматив — чем удерживают цену ошибки.</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подписью. Этот — про то, что она значит.</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1 обзор надзора после допуска · 1 определение подходящего человека</a:t>
            </a:r>
          </a:p>
        </p:txBody>
      </p:sp>
      <p:sp>
        <p:nvSpPr>
          <p:cNvPr id="9" name="TextBox 8"/>
          <p:cNvSpPr txBox="1"/>
          <p:nvPr/>
        </p:nvSpPr>
        <p:spPr>
          <a:xfrm>
            <a:off x="704088" y="3244606"/>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 и её цена</a:t>
            </a:r>
            <a:r>
              <a:rPr sz="1550" b="0" i="0">
                <a:solidFill>
                  <a:srgbClr val="21295C"/>
                </a:solidFill>
                <a:latin typeface="Arial"/>
              </a:rPr>
              <a:t> · </a:t>
            </a:r>
            <a:r>
              <a:rPr sz="1550" b="1" i="0">
                <a:solidFill>
                  <a:srgbClr val="21295C"/>
                </a:solidFill>
                <a:latin typeface="Arial"/>
              </a:rPr>
              <a:t>Пример 2</a:t>
            </a:r>
            <a:r>
              <a:rPr sz="1550" b="0" i="0">
                <a:solidFill>
                  <a:srgbClr val="21295C"/>
                </a:solidFill>
                <a:latin typeface="Arial"/>
              </a:rPr>
              <a:t> двумя кадрами — </a:t>
            </a:r>
            <a:r>
              <a:rPr sz="1550" b="1" i="0">
                <a:solidFill>
                  <a:srgbClr val="21295C"/>
                </a:solidFill>
                <a:latin typeface="Arial"/>
              </a:rPr>
              <a:t>с конца: норма есть, а проверки нет</a:t>
            </a:r>
            <a:r>
              <a:rPr sz="1550" b="0" i="0">
                <a:solidFill>
                  <a:srgbClr val="21295C"/>
                </a:solidFill>
                <a:latin typeface="Arial"/>
              </a:rPr>
              <a:t>, затем </a:t>
            </a:r>
            <a:r>
              <a:rPr sz="1550" b="1" i="0">
                <a:solidFill>
                  <a:srgbClr val="21295C"/>
                </a:solidFill>
                <a:latin typeface="Arial"/>
              </a:rPr>
              <a:t>двойное чтение в минутах труда</a:t>
            </a: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 надзор: данные, вопрос,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348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не измеряет человека — она читает записанное:</a:t>
            </a:r>
            <a:r>
              <a:rPr sz="1500" b="0" i="0">
                <a:solidFill>
                  <a:srgbClr val="21295C"/>
                </a:solidFill>
                <a:latin typeface="Arial"/>
              </a:rPr>
              <a:t> заключение с подписью · согласие · материалы разбора · документацию допуска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кто отвечает за принятое и выдержит ли порядок проверку исходом.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 двойное:</a:t>
            </a:r>
            <a:r>
              <a:rPr sz="1500" b="0" i="0">
                <a:solidFill>
                  <a:srgbClr val="21295C"/>
                </a:solidFill>
                <a:latin typeface="Arial"/>
              </a:rPr>
              <a:t> кто отвечает — и что меняется в порядке после расхождения.</a:t>
            </a:r>
          </a:p>
        </p:txBody>
      </p:sp>
      <p:sp>
        <p:nvSpPr>
          <p:cNvPr id="6" name="TextBox 5"/>
          <p:cNvSpPr txBox="1"/>
          <p:nvPr/>
        </p:nvSpPr>
        <p:spPr>
          <a:xfrm>
            <a:off x="539496" y="4139946"/>
            <a:ext cx="11112703" cy="2096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не в ряду, а поперёк всех сразу:</a:t>
            </a:r>
            <a:r>
              <a:rPr sz="1500" b="0" i="0">
                <a:solidFill>
                  <a:srgbClr val="21295C"/>
                </a:solidFill>
                <a:latin typeface="Arial"/>
              </a:rPr>
              <a:t> подпись — на каждой, согласие — до вмешательства, разбор — после исхода, допуск — над всем циклом.</a:t>
            </a:r>
          </a:p>
        </p:txBody>
      </p:sp>
      <p:sp>
        <p:nvSpPr>
          <p:cNvPr id="7" name="Rounded Rectangle 6"/>
          <p:cNvSpPr/>
          <p:nvPr/>
        </p:nvSpPr>
        <p:spPr>
          <a:xfrm>
            <a:off x="7756855" y="1335024"/>
            <a:ext cx="3931920" cy="2713482"/>
          </a:xfrm>
          <a:prstGeom prst="roundRect">
            <a:avLst>
              <a:gd name="adj" fmla="val 11232"/>
            </a:avLst>
          </a:prstGeom>
          <a:solidFill>
            <a:srgbClr val="F4F7FA"/>
          </a:solidFill>
          <a:ln w="19050">
            <a:solidFill>
              <a:srgbClr val="1C7293"/>
            </a:solidFill>
          </a:ln>
          <a:effectLst/>
        </p:spPr>
        <p:txBody>
          <a:bodyPr rtlCol="0" anchor="ctr"/>
          <a:lstStyle/>
          <a:p>
            <a:pPr algn="ctr"/>
          </a:p>
        </p:txBody>
      </p:sp>
      <p:pic>
        <p:nvPicPr>
          <p:cNvPr id="8" name="Picture 7" descr="s65a-zapisannoe-kotoroe-chitaet-stadiya.jpg"/>
          <p:cNvPicPr>
            <a:picLocks noChangeAspect="1"/>
          </p:cNvPicPr>
          <p:nvPr/>
        </p:nvPicPr>
        <p:blipFill>
          <a:blip r:embed="rId2"/>
          <a:stretch>
            <a:fillRect/>
          </a:stretch>
        </p:blipFill>
        <p:spPr>
          <a:xfrm>
            <a:off x="7894015" y="1472184"/>
            <a:ext cx="3657600" cy="2439162"/>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один случай</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 людей</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Подписать заключение</a:t>
            </a:r>
          </a:p>
        </p:txBody>
      </p:sp>
      <p:sp>
        <p:nvSpPr>
          <p:cNvPr id="8" name="Rounded Rectangle 7"/>
          <p:cNvSpPr/>
          <p:nvPr/>
        </p:nvSpPr>
        <p:spPr>
          <a:xfrm>
            <a:off x="4499533"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Взять согласие</a:t>
            </a:r>
          </a:p>
        </p:txBody>
      </p:sp>
      <p:sp>
        <p:nvSpPr>
          <p:cNvPr id="10" name="Rounded Rectangle 9"/>
          <p:cNvSpPr/>
          <p:nvPr/>
        </p:nvSpPr>
        <p:spPr>
          <a:xfrm>
            <a:off x="6895947"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Прочесть вторым независимо</a:t>
            </a:r>
          </a:p>
        </p:txBody>
      </p:sp>
      <p:sp>
        <p:nvSpPr>
          <p:cNvPr id="12" name="Rounded Rectangle 11"/>
          <p:cNvSpPr/>
          <p:nvPr/>
        </p:nvSpPr>
        <p:spPr>
          <a:xfrm>
            <a:off x="9292361"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Разрешить расхождение арбитражем</a:t>
            </a:r>
          </a:p>
        </p:txBody>
      </p:sp>
      <p:sp>
        <p:nvSpPr>
          <p:cNvPr id="14" name="TextBox 13"/>
          <p:cNvSpPr txBox="1"/>
          <p:nvPr/>
        </p:nvSpPr>
        <p:spPr>
          <a:xfrm>
            <a:off x="502920" y="2382711"/>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Ими же</a:t>
            </a:r>
          </a:p>
        </p:txBody>
      </p:sp>
      <p:sp>
        <p:nvSpPr>
          <p:cNvPr id="15" name="Rounded Rectangle 14"/>
          <p:cNvSpPr/>
          <p:nvPr/>
        </p:nvSpPr>
        <p:spPr>
          <a:xfrm>
            <a:off x="2011680" y="2346135"/>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Собрать комиссию</a:t>
            </a:r>
          </a:p>
        </p:txBody>
      </p:sp>
      <p:sp>
        <p:nvSpPr>
          <p:cNvPr id="18" name="Rounded Rectangle 17"/>
          <p:cNvSpPr/>
          <p:nvPr/>
        </p:nvSpPr>
        <p:spPr>
          <a:xfrm>
            <a:off x="4499533"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Сверить с порядком</a:t>
            </a:r>
          </a:p>
        </p:txBody>
      </p:sp>
      <p:sp>
        <p:nvSpPr>
          <p:cNvPr id="20" name="Rounded Rectangle 19"/>
          <p:cNvSpPr/>
          <p:nvPr/>
        </p:nvSpPr>
        <p:spPr>
          <a:xfrm>
            <a:off x="6895947"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Поправить порядок</a:t>
            </a:r>
          </a:p>
        </p:txBody>
      </p:sp>
      <p:sp>
        <p:nvSpPr>
          <p:cNvPr id="22" name="TextBox 21"/>
          <p:cNvSpPr txBox="1"/>
          <p:nvPr/>
        </p:nvSpPr>
        <p:spPr>
          <a:xfrm>
            <a:off x="502920" y="3004503"/>
            <a:ext cx="1307592" cy="10814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3" name="Rounded Rectangle 22"/>
          <p:cNvSpPr/>
          <p:nvPr/>
        </p:nvSpPr>
        <p:spPr>
          <a:xfrm>
            <a:off x="2103120"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4" name="Rounded Rectangle 23"/>
          <p:cNvSpPr/>
          <p:nvPr/>
        </p:nvSpPr>
        <p:spPr>
          <a:xfrm>
            <a:off x="4499533"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5" name="Rounded Rectangle 24"/>
          <p:cNvSpPr/>
          <p:nvPr/>
        </p:nvSpPr>
        <p:spPr>
          <a:xfrm>
            <a:off x="6895947"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9292361"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103120" y="3887599"/>
            <a:ext cx="9494215" cy="207471"/>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ни одного действия из семи</a:t>
            </a:r>
          </a:p>
        </p:txBody>
      </p:sp>
      <p:sp>
        <p:nvSpPr>
          <p:cNvPr id="28" name="Rounded Rectangle 27"/>
          <p:cNvSpPr/>
          <p:nvPr/>
        </p:nvSpPr>
        <p:spPr>
          <a:xfrm>
            <a:off x="374904" y="4213942"/>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305382"/>
            <a:ext cx="5373471" cy="19308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Четверг, кабинет заместителя главного врача. Комиссию собрали по одному случаю: пациентку выписали через четыре дня, через сутки она вернулась с осложнением. За столом шестеро, двое с лечащим врачом вместе не работают.</a:t>
            </a:r>
          </a:p>
        </p:txBody>
      </p:sp>
      <p:sp>
        <p:nvSpPr>
          <p:cNvPr id="30" name="TextBox 29"/>
          <p:cNvSpPr txBox="1"/>
          <p:nvPr/>
        </p:nvSpPr>
        <p:spPr>
          <a:xfrm>
            <a:off x="6278727" y="4305382"/>
            <a:ext cx="5373471" cy="19308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Один вопрос:</a:t>
            </a:r>
            <a:r>
              <a:rPr sz="1500" b="0" i="0">
                <a:solidFill>
                  <a:srgbClr val="21295C"/>
                </a:solidFill>
                <a:latin typeface="Arial"/>
              </a:rPr>
              <a:t> соответствовали ли действия врача утверждённым порядкам. Вопроса «пользовался ли он моделью» в списке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Подписать ей нечем.</a:t>
            </a:r>
            <a:r>
              <a:rPr sz="1500" b="0" i="0">
                <a:solidFill>
                  <a:srgbClr val="21295C"/>
                </a:solidFill>
                <a:latin typeface="Arial"/>
              </a:rPr>
              <a:t> Норма добавила человеку восьмое — мочь возразить и остановить.</a:t>
            </a:r>
          </a:p>
        </p:txBody>
      </p:sp>
      <p:sp>
        <p:nvSpPr>
          <p:cNvPr id="31" name="Rectangle 30"/>
          <p:cNvSpPr/>
          <p:nvPr/>
        </p:nvSpPr>
        <p:spPr>
          <a:xfrm>
            <a:off x="6091275" y="4305382"/>
            <a:ext cx="9144" cy="1574205"/>
          </a:xfrm>
          <a:prstGeom prst="rect">
            <a:avLst/>
          </a:prstGeom>
          <a:solidFill>
            <a:srgbClr val="D9E2EC"/>
          </a:solidFill>
          <a:ln>
            <a:noFill/>
          </a:ln>
          <a:effectLst/>
        </p:spPr>
        <p:txBody>
          <a:bodyPr rtlCol="0" anchor="ctr"/>
          <a:lstStyle/>
          <a:p>
            <a:pPr algn="ct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 и её цена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перекрёстный, 40 клиницистов, 8000 прочтений; против одного читателя</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ДОВЕРИЯ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не от всех прочтений; стаж не защищает</a:t>
            </a:r>
          </a:p>
        </p:txBody>
      </p:sp>
      <p:sp>
        <p:nvSpPr>
          <p:cNvPr id="12" name="Rounded Rectangle 11"/>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ЛЕКАРСТВО — СКРЫВАТЬ ПОДСКАЗКУ</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−41,7 процента, расчётом</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по двум собранным раундам; раунда с живыми врачами не было</a:t>
            </a:r>
          </a:p>
        </p:txBody>
      </p:sp>
      <p:sp>
        <p:nvSpPr>
          <p:cNvPr id="16" name="Rounded Rectangle 15"/>
          <p:cNvSpPr/>
          <p:nvPr/>
        </p:nvSpPr>
        <p:spPr>
          <a:xfrm>
            <a:off x="374904" y="31938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девять пунктов точности. </a:t>
            </a:r>
            <a:r>
              <a:rPr sz="1500" b="1" i="0">
                <a:solidFill>
                  <a:srgbClr val="21295C"/>
                </a:solidFill>
                <a:latin typeface="Arial"/>
              </a:rPr>
              <a:t>Потребовало:</a:t>
            </a:r>
            <a:r>
              <a:rPr sz="1500" b="0" i="0">
                <a:solidFill>
                  <a:srgbClr val="21295C"/>
                </a:solidFill>
                <a:latin typeface="Arial"/>
              </a:rPr>
              <a:t> почти половина оставшихся ошибок идёт от той же склонности — выигрыш и вред из одного места.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это устроено.</a:t>
            </a:r>
            <a:r>
              <a:rPr sz="1500" b="0" i="0">
                <a:solidFill>
                  <a:srgbClr val="21295C"/>
                </a:solidFill>
                <a:latin typeface="Arial"/>
              </a:rPr>
              <a:t> МР-снимки коленного сустава → заключение о разрыве передней крестообразной связки. </a:t>
            </a:r>
            <a:r>
              <a:rPr sz="1500" b="0" i="1">
                <a:solidFill>
                  <a:srgbClr val="21295C"/>
                </a:solidFill>
                <a:latin typeface="Arial"/>
              </a:rPr>
              <a:t>Классификация на изображении.</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Формы словаря у лекарства нет — её присваивают измерению, не расчёту.</a:t>
            </a:r>
          </a:p>
          <a:p>
            <a:pPr algn="l">
              <a:lnSpc>
                <a:spcPct val="126000"/>
              </a:lnSpc>
              <a:spcBef>
                <a:spcPts val="700"/>
              </a:spcBef>
            </a:pPr>
            <a:r>
              <a:rPr sz="1500" b="0" i="0">
                <a:solidFill>
                  <a:srgbClr val="21295C"/>
                </a:solidFill>
                <a:latin typeface="Arial"/>
              </a:rPr>
              <a:t/>
            </a:r>
            <a:r>
              <a:rPr sz="1500" b="0" i="1">
                <a:solidFill>
                  <a:srgbClr val="21295C"/>
                </a:solidFill>
                <a:latin typeface="Arial"/>
              </a:rPr>
              <a:t>Для контраста:</a:t>
            </a:r>
            <a:r>
              <a:rPr sz="1500" b="0" i="0">
                <a:solidFill>
                  <a:srgbClr val="21295C"/>
                </a:solidFill>
                <a:latin typeface="Arial"/>
              </a:rPr>
              <a:t> график смен медсестёр 32,0 → 6,0 часа, обученной модели внутри нет: где цена промаха мала, дорогая процедура не окупается.</a:t>
            </a:r>
          </a:p>
        </p:txBody>
      </p:sp>
      <p:sp>
        <p:nvSpPr>
          <p:cNvPr id="19" name="Rectangle 18"/>
          <p:cNvSpPr/>
          <p:nvPr/>
        </p:nvSpPr>
        <p:spPr>
          <a:xfrm>
            <a:off x="6091275" y="3285324"/>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JAMIA 2023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с конца: норма есть, а проверки нет</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56 из 717</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радиологических изделий, июнь 2024; проспективное — 33, любое клиническое — 208, все от 717</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срез</a:t>
            </a:r>
          </a:p>
        </p:txBody>
      </p:sp>
      <p:sp>
        <p:nvSpPr>
          <p:cNvPr id="12" name="Rounded Rectangle 11"/>
          <p:cNvSpPr/>
          <p:nvPr/>
        </p:nvSpPr>
        <p:spPr>
          <a:xfrm>
            <a:off x="374904" y="2803461"/>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Разбор с конца: сначала чем кончился, счёт — следом.</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Регулятор требует: человек остаётся финальным звеном. </a:t>
            </a:r>
            <a:r>
              <a:rPr sz="1500" b="0" i="1">
                <a:solidFill>
                  <a:srgbClr val="21295C"/>
                </a:solidFill>
                <a:latin typeface="Arial"/>
              </a:rPr>
              <a:t>Статья 14 (ЕС 2024/1689): понять ограничения, не поддаться доверию автомату, истолковать вывод, не согласиться, остановить.</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требует способности вмешаться, а не присутствия.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Предмет — не изделие, а документация, поданная регуляторам.</a:t>
            </a:r>
            <a:r>
              <a:rPr sz="1500" b="0" i="0">
                <a:solidFill>
                  <a:srgbClr val="21295C"/>
                </a:solidFill>
                <a:latin typeface="Arial"/>
              </a:rPr>
              <a:t> Имён свод не печатает: он считает процедуры.</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15" name="Rectangle 14"/>
          <p:cNvSpPr/>
          <p:nvPr/>
        </p:nvSpPr>
        <p:spPr>
          <a:xfrm>
            <a:off x="6091275" y="2894901"/>
            <a:ext cx="9144" cy="2554289"/>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документации регуляторов, JAMA Network Open 2025</a:t>
            </a:r>
            <a:r>
              <a:rPr sz="1200" b="0" i="1">
                <a:solidFill>
                  <a:srgbClr val="1C7293"/>
                </a:solidFill>
                <a:latin typeface="Arial"/>
              </a:rPr>
              <a:t> · </a:t>
            </a:r>
            <a:r>
              <a:rPr sz="1200" b="0" i="1" u="sng">
                <a:solidFill>
                  <a:srgbClr val="065A82"/>
                </a:solidFill>
                <a:latin typeface="Arial"/>
                <a:hlinkClick r:id="rId3"/>
              </a:rPr>
              <a:t>Регламент (ЕС) 2024/1689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ДВОЕ ЛЮДЕЙ → ОДИН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та же программа</a:t>
            </a:r>
          </a:p>
        </p:txBody>
      </p:sp>
      <p:sp>
        <p:nvSpPr>
          <p:cNvPr id="8" name="Rounded Rectangle 7"/>
          <p:cNvSpPr/>
          <p:nvPr/>
        </p:nvSpPr>
        <p:spPr>
          <a:xfrm>
            <a:off x="4286402"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МАММОГРАММЫ → РАЗБОР РАСХОЖДЕНИЯ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 2 мин 12 с</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4,6 раза дольше по медианам, в 2,75 по средним; база — 441 276 прочтений, 16 центров</a:t>
            </a:r>
          </a:p>
        </p:txBody>
      </p:sp>
      <p:sp>
        <p:nvSpPr>
          <p:cNvPr id="12" name="Rounded Rectangle 11"/>
          <p:cNvSpPr/>
          <p:nvPr/>
        </p:nvSpPr>
        <p:spPr>
          <a:xfrm>
            <a:off x="8069884" y="1335024"/>
            <a:ext cx="3618890"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16" name="Rounded Rectangle 15"/>
          <p:cNvSpPr/>
          <p:nvPr/>
        </p:nvSpPr>
        <p:spPr>
          <a:xfrm>
            <a:off x="374904" y="3222176"/>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у подписи.</a:t>
            </a:r>
            <a:r>
              <a:rPr sz="1500" b="0" i="0">
                <a:solidFill>
                  <a:srgbClr val="21295C"/>
                </a:solidFill>
                <a:latin typeface="Arial"/>
              </a:rPr>
              <a:t> И пропущенный диагноз, и лишнее вмешательство: подпись человеческая, платит исходом пациент.</a:t>
            </a:r>
          </a:p>
        </p:txBody>
      </p:sp>
      <p:sp>
        <p:nvSpPr>
          <p:cNvPr id="18" name="TextBox 17"/>
          <p:cNvSpPr txBox="1"/>
          <p:nvPr/>
        </p:nvSpPr>
        <p:spPr>
          <a:xfrm>
            <a:off x="6278727"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Классических режимов два.</a:t>
            </a:r>
            <a:r>
              <a:rPr sz="1500" b="0" i="0">
                <a:solidFill>
                  <a:srgbClr val="21295C"/>
                </a:solidFill>
                <a:latin typeface="Arial"/>
              </a:rPr>
              <a:t> Один читатель без арбитража — назван, своего числа не имеет. Двое с арбитражем — посчитаны, сразу в двух единицах.</a:t>
            </a:r>
          </a:p>
          <a:p>
            <a:pPr algn="l">
              <a:lnSpc>
                <a:spcPct val="126000"/>
              </a:lnSpc>
              <a:spcBef>
                <a:spcPts val="700"/>
              </a:spcBef>
            </a:pPr>
            <a:r>
              <a:rPr sz="1500" b="0" i="0">
                <a:solidFill>
                  <a:srgbClr val="21295C"/>
                </a:solidFill>
                <a:latin typeface="Arial"/>
              </a:rPr>
              <a:t/>
            </a:r>
            <a:r>
              <a:rPr sz="1500" b="1" i="0">
                <a:solidFill>
                  <a:srgbClr val="21295C"/>
                </a:solidFill>
                <a:latin typeface="Arial"/>
              </a:rPr>
              <a:t>Экономия на одном шаге не обязана компенсировать рост другого.</a:t>
            </a:r>
          </a:p>
        </p:txBody>
      </p:sp>
      <p:sp>
        <p:nvSpPr>
          <p:cNvPr id="19" name="Rectangle 18"/>
          <p:cNvSpPr/>
          <p:nvPr/>
        </p:nvSpPr>
        <p:spPr>
          <a:xfrm>
            <a:off x="6091275" y="3313616"/>
            <a:ext cx="9144" cy="15742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a:t>
            </a:r>
            <a:r>
              <a:rPr sz="1200" b="0" i="1">
                <a:solidFill>
                  <a:srgbClr val="1C7293"/>
                </a:solidFill>
                <a:latin typeface="Arial"/>
              </a:rPr>
              <a:t> · </a:t>
            </a:r>
            <a:r>
              <a:rPr sz="1200" b="0" i="1" u="sng">
                <a:solidFill>
                  <a:srgbClr val="065A82"/>
                </a:solidFill>
                <a:latin typeface="Arial"/>
                <a:hlinkClick r:id="rId3"/>
              </a:rPr>
              <a:t>Warren и соавт., Nature Cancer 2026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Разработчик</a:t>
            </a:r>
          </a:p>
          <a:p>
            <a:pPr algn="ctr">
              <a:lnSpc>
                <a:spcPct val="112000"/>
              </a:lnSpc>
            </a:pPr>
            <a:r>
              <a:rPr sz="1350" b="0" i="0">
                <a:solidFill>
                  <a:srgbClr val="21295C"/>
                </a:solidFill>
                <a:latin typeface="Arial"/>
              </a:rPr>
              <a:t>данные, устройство, обновления → соответствие назначению</a:t>
            </a:r>
          </a:p>
        </p:txBody>
      </p:sp>
      <p:sp>
        <p:nvSpPr>
          <p:cNvPr id="6" name="Rounded Rectangle 5"/>
          <p:cNvSpPr/>
          <p:nvPr/>
        </p:nvSpPr>
        <p:spPr>
          <a:xfrm>
            <a:off x="333595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a:p>
            <a:pPr algn="ctr">
              <a:lnSpc>
                <a:spcPct val="112000"/>
              </a:lnSpc>
            </a:pPr>
            <a:r>
              <a:rPr sz="1350" b="0" i="0">
                <a:solidFill>
                  <a:srgbClr val="21295C"/>
                </a:solidFill>
                <a:latin typeface="Arial"/>
              </a:rPr>
              <a:t>решение по одному человеку → это решение целиком</a:t>
            </a:r>
          </a:p>
        </p:txBody>
      </p:sp>
      <p:sp>
        <p:nvSpPr>
          <p:cNvPr id="8" name="Rounded Rectangle 7"/>
          <p:cNvSpPr/>
          <p:nvPr/>
        </p:nvSpPr>
        <p:spPr>
          <a:xfrm>
            <a:off x="616899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Больница</a:t>
            </a:r>
          </a:p>
          <a:p>
            <a:pPr algn="ctr">
              <a:lnSpc>
                <a:spcPct val="112000"/>
              </a:lnSpc>
            </a:pPr>
            <a:r>
              <a:rPr sz="1350" b="0" i="0">
                <a:solidFill>
                  <a:srgbClr val="21295C"/>
                </a:solidFill>
                <a:latin typeface="Arial"/>
              </a:rPr>
              <a:t>закупка, обучение, порядок → организация работы</a:t>
            </a:r>
          </a:p>
        </p:txBody>
      </p:sp>
      <p:sp>
        <p:nvSpPr>
          <p:cNvPr id="10" name="Rounded Rectangle 9"/>
          <p:cNvSpPr/>
          <p:nvPr/>
        </p:nvSpPr>
        <p:spPr>
          <a:xfrm>
            <a:off x="900203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Регулятор</a:t>
            </a:r>
          </a:p>
          <a:p>
            <a:pPr algn="ctr">
              <a:lnSpc>
                <a:spcPct val="112000"/>
              </a:lnSpc>
            </a:pPr>
            <a:r>
              <a:rPr sz="1350" b="0" i="0">
                <a:solidFill>
                  <a:srgbClr val="21295C"/>
                </a:solidFill>
                <a:latin typeface="Arial"/>
              </a:rPr>
              <a:t>допуск и надзор → рамка</a:t>
            </a:r>
          </a:p>
        </p:txBody>
      </p:sp>
      <p:sp>
        <p:nvSpPr>
          <p:cNvPr id="12" name="TextBox 11"/>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Контролирует → отвечает. Шов проходит по подписи врача</a:t>
            </a:r>
          </a:p>
        </p:txBody>
      </p:sp>
      <p:sp>
        <p:nvSpPr>
          <p:cNvPr id="13" name="Rounded Rectangle 12"/>
          <p:cNvSpPr/>
          <p:nvPr/>
        </p:nvSpPr>
        <p:spPr>
          <a:xfrm>
            <a:off x="374904" y="2862623"/>
            <a:ext cx="11441887" cy="2056686"/>
          </a:xfrm>
          <a:prstGeom prst="roundRect">
            <a:avLst>
              <a:gd name="adj" fmla="val 14819"/>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Измерено, во что обходится несогласие.</a:t>
            </a:r>
            <a:r>
              <a:rPr sz="1500" b="0" i="0">
                <a:solidFill>
                  <a:srgbClr val="21295C"/>
                </a:solidFill>
                <a:latin typeface="Arial"/>
              </a:rPr>
              <a:t> Врача, принявшего подсказку в пользу стандартного лечения, оценивают разумнее отвергнувшего. Так судят и присяжные, и — отдельной выборкой — </a:t>
            </a:r>
            <a:r>
              <a:rPr sz="1500" b="1" i="0">
                <a:solidFill>
                  <a:srgbClr val="21295C"/>
                </a:solidFill>
                <a:latin typeface="Arial"/>
              </a:rPr>
              <a:t>248 немецких врачей</a:t>
            </a:r>
            <a:r>
              <a:rPr sz="1500" b="0" i="0">
                <a:solidFill>
                  <a:srgbClr val="21295C"/>
                </a:solidFill>
                <a:latin typeface="Arial"/>
              </a:rPr>
              <a:t>, та сторона, которой порядок и поручает разбор. При нестандартной рекомендации разницы нет.</a:t>
            </a:r>
          </a:p>
        </p:txBody>
      </p:sp>
      <p:sp>
        <p:nvSpPr>
          <p:cNvPr id="15" name="TextBox 14"/>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Отсюда четвёртая ступень:</a:t>
            </a:r>
            <a:r>
              <a:rPr sz="1500" b="0" i="0">
                <a:solidFill>
                  <a:srgbClr val="21295C"/>
                </a:solidFill>
                <a:latin typeface="Arial"/>
              </a:rPr>
              <a:t> подписать не глядя — дешёвый ход в заданном порядке, не разгильдяйство.</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проверка способности её нести — нет: 56 из 717 радиологических изделий, июнь 2024.</a:t>
            </a:r>
          </a:p>
        </p:txBody>
      </p:sp>
      <p:sp>
        <p:nvSpPr>
          <p:cNvPr id="16" name="Rectangle 15"/>
          <p:cNvSpPr/>
          <p:nvPr/>
        </p:nvSpPr>
        <p:spPr>
          <a:xfrm>
            <a:off x="6091275" y="2954063"/>
            <a:ext cx="9144" cy="17823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r>
              <a:rPr sz="1200" b="0" i="1">
                <a:solidFill>
                  <a:srgbClr val="1C7293"/>
                </a:solidFill>
                <a:latin typeface="Arial"/>
              </a:rPr>
              <a:t> · </a:t>
            </a:r>
            <a:r>
              <a:rPr sz="1200" b="0" i="1" u="sng">
                <a:solidFill>
                  <a:srgbClr val="065A82"/>
                </a:solidFill>
                <a:latin typeface="Arial"/>
                <a:hlinkClick r:id="rId3"/>
              </a:rPr>
              <a:t>Tobia и соавт., там же 2021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Кого норматив считает подходящим человеком</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ПОДХОДЯЩИЙ ЧЕЛОВЕК — ДОСЛОВНО, ПУНКТ 1(G)</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тот, кто сделает это сам, без модели</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лицензированный врач, пункт 1(g)</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ПОРОГ, СРОК И СПОСОБ ПРОВЕРКИ</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документе не названы</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ни периодичности, ни процедуры</a:t>
            </a:r>
          </a:p>
        </p:txBody>
      </p:sp>
      <p:sp>
        <p:nvSpPr>
          <p:cNvPr id="12" name="Rounded Rectangle 11"/>
          <p:cNvSpPr/>
          <p:nvPr/>
        </p:nvSpPr>
        <p:spPr>
          <a:xfrm>
            <a:off x="374904" y="298264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только врач перестаёт уметь без подсказки, точка вмешательства перестаёт ею быть — и схема на подписи не выполняет норму.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Износ навыка — не оговорка про этику, а условие законности.</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Политика Американской медицинской ассоциации, пункт 1(g), 2024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43,4 процента отзывов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событий у 60 отозванных из 950; 108 неразрешённых; срез ноябрь 2024</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15" name="TextBox 14"/>
          <p:cNvSpPr txBox="1"/>
          <p:nvPr/>
        </p:nvSpPr>
        <p:spPr>
          <a:xfrm>
            <a:off x="502920" y="343327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действуют одновременно, один из другого не следует</a:t>
            </a:r>
          </a:p>
        </p:txBody>
      </p:sp>
      <p:sp>
        <p:nvSpPr>
          <p:cNvPr id="16" name="Rounded Rectangle 15"/>
          <p:cNvSpPr/>
          <p:nvPr/>
        </p:nvSpPr>
        <p:spPr>
          <a:xfrm>
            <a:off x="374904" y="3735959"/>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p:txBody>
      </p:sp>
      <p:sp>
        <p:nvSpPr>
          <p:cNvPr id="18" name="TextBox 17"/>
          <p:cNvSpPr txBox="1"/>
          <p:nvPr/>
        </p:nvSpPr>
        <p:spPr>
          <a:xfrm>
            <a:off x="6278727"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Измеренное последствие — ранний отзыв: проверка, не состоявшаяся до допуска, состоялась после.</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разбора здесь нет: это обзор надзорных механизмов.</a:t>
            </a:r>
          </a:p>
        </p:txBody>
      </p:sp>
      <p:sp>
        <p:nvSpPr>
          <p:cNvPr id="19" name="Rectangle 18"/>
          <p:cNvSpPr/>
          <p:nvPr/>
        </p:nvSpPr>
        <p:spPr>
          <a:xfrm>
            <a:off x="6091275" y="3827399"/>
            <a:ext cx="9144" cy="920671"/>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2024</a:t>
            </a:r>
            <a:r>
              <a:rPr sz="1200" b="0" i="1">
                <a:solidFill>
                  <a:srgbClr val="1C7293"/>
                </a:solidFill>
                <a:latin typeface="Arial"/>
              </a:rPr>
              <a:t> · </a:t>
            </a:r>
            <a:r>
              <a:rPr sz="1200" b="0" i="1" u="sng">
                <a:solidFill>
                  <a:srgbClr val="065A82"/>
                </a:solidFill>
                <a:latin typeface="Arial"/>
                <a:hlinkClick r:id="rId3"/>
              </a:rPr>
              <a:t>приказ Росздравнадзора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и соавт., JAMA Health Forum 2025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3570170"/>
          </a:xfrm>
          <a:prstGeom prst="roundRect">
            <a:avLst>
              <a:gd name="adj" fmla="val 853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87,2 → 96,4 из ста — против одного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Первичных чтений вдвое меньше: 48 с против 2 мин 12 с</a:t>
            </a:r>
          </a:p>
          <a:p>
            <a:pPr algn="l">
              <a:lnSpc>
                <a:spcPct val="126000"/>
              </a:lnSpc>
              <a:spcBef>
                <a:spcPts val="700"/>
              </a:spcBef>
            </a:pPr>
            <a:r>
              <a:rPr sz="1500" b="0" i="0">
                <a:solidFill>
                  <a:srgbClr val="21295C"/>
                </a:solidFill>
                <a:latin typeface="Arial"/>
              </a:rPr>
              <a:t/>
            </a:r>
            <a:r>
              <a:rPr sz="1500" b="0" i="0">
                <a:solidFill>
                  <a:srgbClr val="21295C"/>
                </a:solidFill>
                <a:latin typeface="Arial"/>
              </a:rPr>
              <a:t>• Требование названо: понять, возразить,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Удержать независимость при одной подсказке на двоих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Избавиться от арбитража: +53 %, от 22 до 142</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Проверить способность возразить: 56 из 717 радиологических изделий, июнь 2024</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Сместилась цена ошибки: подпись человеческая, основание извне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выросла там же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45,5 из ста оставшихся ошибок — доверие автомату</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Права подписи у модели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Двойное чтение, где второго не заменили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Разбор случая и правка порядка</a:t>
            </a:r>
          </a:p>
        </p:txBody>
      </p:sp>
      <p:sp>
        <p:nvSpPr>
          <p:cNvPr id="7" name="Rectangle 6"/>
          <p:cNvSpPr/>
          <p:nvPr/>
        </p:nvSpPr>
        <p:spPr>
          <a:xfrm>
            <a:off x="6091275" y="1335024"/>
            <a:ext cx="9144" cy="32958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JAMA Network Open 2025</a:t>
            </a:r>
            <a:r>
              <a:rPr sz="1200" b="0" i="1">
                <a:solidFill>
                  <a:srgbClr val="1C7293"/>
                </a:solidFill>
                <a:latin typeface="Arial"/>
              </a:rPr>
              <a:t> · </a:t>
            </a:r>
            <a:r>
              <a:rPr sz="1200" b="0" i="1" u="sng">
                <a:solidFill>
                  <a:srgbClr val="065A82"/>
                </a:solidFill>
                <a:latin typeface="Arial"/>
                <a:hlinkClick r:id="rId3"/>
              </a:rPr>
              <a:t>European Radiology 2026</a:t>
            </a:r>
            <a:r>
              <a:rPr sz="1200" b="0" i="1">
                <a:solidFill>
                  <a:srgbClr val="1C7293"/>
                </a:solidFill>
                <a:latin typeface="Arial"/>
              </a:rPr>
              <a:t> · </a:t>
            </a:r>
            <a:r>
              <a:rPr sz="1200" b="0" i="1" u="sng">
                <a:solidFill>
                  <a:srgbClr val="065A82"/>
                </a:solidFill>
                <a:latin typeface="Arial"/>
                <a:hlinkClick r:id="rId4"/>
              </a:rPr>
              <a:t>JAMIA 2023</a:t>
            </a:r>
            <a:r>
              <a:rPr sz="1200" b="0" i="1">
                <a:solidFill>
                  <a:srgbClr val="1C7293"/>
                </a:solidFill>
                <a:latin typeface="Arial"/>
              </a:rPr>
              <a:t> · </a:t>
            </a:r>
            <a:r>
              <a:rPr sz="1200" b="0" i="1" u="sng">
                <a:solidFill>
                  <a:srgbClr val="065A82"/>
                </a:solidFill>
                <a:latin typeface="Arial"/>
                <a:hlinkClick r:id="rId5"/>
              </a:rPr>
              <a:t>Регламент (ЕС) 2024/1689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классических режима с числами · 1 плоскость без разбора</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упала без помощника</a:t>
            </a:r>
          </a:p>
        </p:txBody>
      </p:sp>
      <p:sp>
        <p:nvSpPr>
          <p:cNvPr id="11" name="TextBox 10"/>
          <p:cNvSpPr txBox="1"/>
          <p:nvPr/>
        </p:nvSpPr>
        <p:spPr>
          <a:xfrm>
            <a:off x="704088" y="4583110"/>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разбора: </a:t>
            </a:r>
            <a:r>
              <a:rPr sz="1550" b="1" i="0">
                <a:solidFill>
                  <a:srgbClr val="21295C"/>
                </a:solidFill>
                <a:latin typeface="Arial"/>
              </a:rPr>
              <a:t>чего про доверие не измерено</a:t>
            </a:r>
            <a:r>
              <a:rPr sz="1550" b="0" i="0">
                <a:solidFill>
                  <a:srgbClr val="21295C"/>
                </a:solidFill>
                <a:latin typeface="Arial"/>
              </a:rPr>
              <a:t> и </a:t>
            </a:r>
            <a:r>
              <a:rPr sz="1550" b="1" i="0">
                <a:solidFill>
                  <a:srgbClr val="21295C"/>
                </a:solidFill>
                <a:latin typeface="Arial"/>
              </a:rPr>
              <a:t>единственный чертёж темы — с пустыми осями</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Замер поперёк цикла, по самому исполнителю: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вечер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135210"/>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135210"/>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135210"/>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27,1 → 36,6 из ста</a:t>
            </a:r>
          </a:p>
        </p:txBody>
      </p:sp>
      <p:sp>
        <p:nvSpPr>
          <p:cNvPr id="13" name="TextBox 12"/>
          <p:cNvSpPr txBox="1"/>
          <p:nvPr/>
        </p:nvSpPr>
        <p:spPr>
          <a:xfrm>
            <a:off x="4513935" y="2699344"/>
            <a:ext cx="149801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1 027 пациентов, рандомизированное</a:t>
            </a:r>
          </a:p>
        </p:txBody>
      </p:sp>
      <p:sp>
        <p:nvSpPr>
          <p:cNvPr id="14" name="Rounded Rectangle 13"/>
          <p:cNvSpPr/>
          <p:nvPr/>
        </p:nvSpPr>
        <p:spPr>
          <a:xfrm>
            <a:off x="6313703" y="1335024"/>
            <a:ext cx="1772335" cy="2135210"/>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39,3 → 45,7 из ста</a:t>
            </a:r>
          </a:p>
        </p:txBody>
      </p:sp>
      <p:sp>
        <p:nvSpPr>
          <p:cNvPr id="17" name="TextBox 16"/>
          <p:cNvSpPr txBox="1"/>
          <p:nvPr/>
        </p:nvSpPr>
        <p:spPr>
          <a:xfrm>
            <a:off x="6450863" y="2699344"/>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свод трёх испытаний</a:t>
            </a:r>
          </a:p>
        </p:txBody>
      </p:sp>
      <p:sp>
        <p:nvSpPr>
          <p:cNvPr id="18" name="Rounded Rectangle 17"/>
          <p:cNvSpPr/>
          <p:nvPr/>
        </p:nvSpPr>
        <p:spPr>
          <a:xfrm>
            <a:off x="374904" y="3561674"/>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53114"/>
            <a:ext cx="11112703" cy="258309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в доле обнаружения, и 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из 795 против 145 из 648</a:t>
            </a:r>
          </a:p>
        </p:txBody>
      </p:sp>
      <p:sp>
        <p:nvSpPr>
          <p:cNvPr id="8" name="Rounded Rectangle 7"/>
          <p:cNvSpPr/>
          <p:nvPr/>
        </p:nvSpPr>
        <p:spPr>
          <a:xfrm>
            <a:off x="4286402"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0112"/>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центра внедрили помощника, подсвечивающего образование на видео. Потом смотрели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1552"/>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ОБРЫВ ДОВЕРИЯ ПОСЛЕ ОШИБКИ И ЗА МЕСЯЦЫ РАБОТЫ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7" name="Rounded Rectangle 6"/>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30–50 из ста разработчиков</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телеметрии нет</a:t>
            </a:r>
          </a:p>
        </p:txBody>
      </p:sp>
      <p:sp>
        <p:nvSpPr>
          <p:cNvPr id="11" name="Rounded Rectangle 10"/>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видно. Что он думает о доверии,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Средство одно:</a:t>
            </a:r>
            <a:r>
              <a:rPr sz="1500" b="0" i="0">
                <a:solidFill>
                  <a:srgbClr val="21295C"/>
                </a:solidFill>
                <a:latin typeface="Arial"/>
              </a:rPr>
              <a:t> дают немного поправить прогноз — и после ошибки модель не бросают. </a:t>
            </a:r>
            <a:r>
              <a:rPr sz="1500" b="0" i="1">
                <a:solidFill>
                  <a:srgbClr val="21295C"/>
                </a:solidFill>
                <a:latin typeface="Arial"/>
              </a:rPr>
              <a:t>Найдено вне медицины.</a:t>
            </a:r>
          </a:p>
        </p:txBody>
      </p:sp>
      <p:sp>
        <p:nvSpPr>
          <p:cNvPr id="13" name="TextBox 12"/>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Того, кто читает снимок женщины с письмом, без помощника не измерял никто.</a:t>
            </a:r>
          </a:p>
        </p:txBody>
      </p:sp>
      <p:sp>
        <p:nvSpPr>
          <p:cNvPr id="14" name="Rectangle 13"/>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замер производительности разработчиков, 2026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Единственный чертёж темы — с пустыми осями</a:t>
            </a:r>
          </a:p>
        </p:txBody>
      </p:sp>
      <p:sp>
        <p:nvSpPr>
          <p:cNvPr id="4" name="Rounded Rectangle 3"/>
          <p:cNvSpPr/>
          <p:nvPr/>
        </p:nvSpPr>
        <p:spPr>
          <a:xfrm>
            <a:off x="502920" y="1335024"/>
            <a:ext cx="360399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ИЗНОС НАВЫКА В СИЛЛАБУСАХ</a:t>
            </a:r>
          </a:p>
        </p:txBody>
      </p:sp>
      <p:sp>
        <p:nvSpPr>
          <p:cNvPr id="6" name="TextBox 5"/>
          <p:cNvSpPr txBox="1"/>
          <p:nvPr/>
        </p:nvSpPr>
        <p:spPr>
          <a:xfrm>
            <a:off x="640080" y="1725375"/>
            <a:ext cx="332967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 вхождений</a:t>
            </a:r>
          </a:p>
        </p:txBody>
      </p:sp>
      <p:sp>
        <p:nvSpPr>
          <p:cNvPr id="7" name="TextBox 6"/>
          <p:cNvSpPr txBox="1"/>
          <p:nvPr/>
        </p:nvSpPr>
        <p:spPr>
          <a:xfrm>
            <a:off x="640080"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сплошной счёт, 6 196 слов</a:t>
            </a:r>
          </a:p>
        </p:txBody>
      </p:sp>
      <p:sp>
        <p:nvSpPr>
          <p:cNvPr id="8" name="Rounded Rectangle 7"/>
          <p:cNvSpPr/>
          <p:nvPr/>
        </p:nvSpPr>
        <p:spPr>
          <a:xfrm>
            <a:off x="4271505" y="1335024"/>
            <a:ext cx="360399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08665"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ПРОГРАММА ПО ИИ: НА ЭТУ ТЕМУ</a:t>
            </a:r>
          </a:p>
        </p:txBody>
      </p:sp>
      <p:sp>
        <p:nvSpPr>
          <p:cNvPr id="10" name="TextBox 9"/>
          <p:cNvSpPr txBox="1"/>
          <p:nvPr/>
        </p:nvSpPr>
        <p:spPr>
          <a:xfrm>
            <a:off x="4408665" y="1725375"/>
            <a:ext cx="332967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 из 60 часов</a:t>
            </a:r>
          </a:p>
        </p:txBody>
      </p:sp>
      <p:sp>
        <p:nvSpPr>
          <p:cNvPr id="11" name="TextBox 10"/>
          <p:cNvSpPr txBox="1"/>
          <p:nvPr/>
        </p:nvSpPr>
        <p:spPr>
          <a:xfrm>
            <a:off x="4408665"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видео, 0,15 процента</a:t>
            </a:r>
          </a:p>
        </p:txBody>
      </p:sp>
      <p:sp>
        <p:nvSpPr>
          <p:cNvPr id="12" name="Rounded Rectangle 11"/>
          <p:cNvSpPr/>
          <p:nvPr/>
        </p:nvSpPr>
        <p:spPr>
          <a:xfrm>
            <a:off x="374904" y="4443983"/>
            <a:ext cx="11441887" cy="1792224"/>
          </a:xfrm>
          <a:prstGeom prst="roundRect">
            <a:avLst>
              <a:gd name="adj" fmla="val 170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Отчёт государственного органа образования:</a:t>
            </a:r>
            <a:r>
              <a:rPr sz="1500" b="0" i="0">
                <a:solidFill>
                  <a:srgbClr val="21295C"/>
                </a:solidFill>
                <a:latin typeface="Arial"/>
              </a:rPr>
              <a:t> оси подписаны, поле под ними пустое. Назвать оси было чем, данные под них нечем.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Механизм описан подробно и без величин:</a:t>
            </a:r>
            <a:r>
              <a:rPr sz="1500" b="0" i="0">
                <a:solidFill>
                  <a:srgbClr val="21295C"/>
                </a:solidFill>
                <a:latin typeface="Arial"/>
              </a:rPr>
              <a:t> недополученные прочтения, деградация умений, самоуспокоение.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 в указателе больше тысячи, в обучение не пришло ни одной величины.</a:t>
            </a:r>
          </a:p>
        </p:txBody>
      </p:sp>
      <p:sp>
        <p:nvSpPr>
          <p:cNvPr id="14" name="Rounded Rectangle 13"/>
          <p:cNvSpPr/>
          <p:nvPr/>
        </p:nvSpPr>
        <p:spPr>
          <a:xfrm>
            <a:off x="8186395" y="1335024"/>
            <a:ext cx="35023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15" name="Picture 14" descr="s73ha-pustye-osi-otchet-HEE-2022.png"/>
          <p:cNvPicPr>
            <a:picLocks noChangeAspect="1"/>
          </p:cNvPicPr>
          <p:nvPr/>
        </p:nvPicPr>
        <p:blipFill>
          <a:blip r:embed="rId2"/>
          <a:stretch>
            <a:fillRect/>
          </a:stretch>
        </p:blipFill>
        <p:spPr>
          <a:xfrm>
            <a:off x="8323555" y="1472184"/>
            <a:ext cx="3228059" cy="283464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Health Education England и NHS AI Lab, 2022</a:t>
            </a:r>
            <a:r>
              <a:rPr sz="1200" b="0" i="1">
                <a:solidFill>
                  <a:srgbClr val="1C7293"/>
                </a:solidFill>
                <a:latin typeface="Arial"/>
              </a:rPr>
              <a:t> · </a:t>
            </a:r>
            <a:r>
              <a:rPr sz="1200" b="0" i="1" u="sng">
                <a:solidFill>
                  <a:srgbClr val="065A82"/>
                </a:solidFill>
                <a:latin typeface="Arial"/>
                <a:hlinkClick r:id="rId4"/>
              </a:rPr>
              <a:t>AAPM, ACR, RSNA, SIIM,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находят больше, пока помощник включён; считают его показатели — долю обнаружения и время выведения.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Прочерк: 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в сетке: вне окна</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КЛЕТОК В ОКНЕ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деки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СЕМЬ РАЗДЕЛОВ</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пятый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клеток</a:t>
            </a:r>
          </a:p>
        </p:txBody>
      </p:sp>
      <p:sp>
        <p:nvSpPr>
          <p:cNvPr id="18" name="Rounded Rectangle 1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Клетка раздела лежит вне окна: это распознавание на видео</a:t>
            </a:r>
            <a:r>
              <a:rPr sz="1500" b="0" i="0">
                <a:solidFill>
                  <a:srgbClr val="21295C"/>
                </a:solidFill>
                <a:latin typeface="Arial"/>
              </a:rPr>
              <a:t> — подсветка на живом потоке кадров. Столбца «видео» в окне нет, и дописывать его нельзя: окно объявлено на входе.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Доверие клетки не получает вовсе:</a:t>
            </a:r>
            <a:r>
              <a:rPr sz="1500" b="0" i="0">
                <a:solidFill>
                  <a:srgbClr val="21295C"/>
                </a:solidFill>
                <a:latin typeface="Arial"/>
              </a:rPr>
              <a:t> режима работы в нём нет.</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подсветка на видео</a:t>
            </a:r>
            <a:r>
              <a:rPr sz="1500" b="0" i="0">
                <a:solidFill>
                  <a:srgbClr val="21295C"/>
                </a:solidFill>
                <a:latin typeface="Arial"/>
              </a:rPr>
              <a:t> — GI Genius · CAD EYE · ENDO-AID CADe</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второй читатель на снимке</a:t>
            </a:r>
            <a:r>
              <a:rPr sz="1500" b="0" i="0">
                <a:solidFill>
                  <a:srgbClr val="21295C"/>
                </a:solidFill>
                <a:latin typeface="Arial"/>
              </a:rPr>
              <a:t> — Transpara · Lunit INSIGHT · iCAD ProFound</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в последствиях: у подсветки человек остаётся и решает, со второго места его снимают.</a:t>
            </a:r>
          </a:p>
        </p:txBody>
      </p:sp>
      <p:sp>
        <p:nvSpPr>
          <p:cNvPr id="21" name="Rectangle 2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475454"/>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8. Разработка лекарственных средств</a:t>
            </a:r>
          </a:p>
        </p:txBody>
      </p:sp>
      <p:sp>
        <p:nvSpPr>
          <p:cNvPr id="7" name="Rectangle 6"/>
          <p:cNvSpPr/>
          <p:nvPr/>
        </p:nvSpPr>
        <p:spPr>
          <a:xfrm>
            <a:off x="704088" y="1527014"/>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01334"/>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Удешевили начало — где узкое место.</a:t>
            </a:r>
            <a:r>
              <a:rPr sz="1550" b="0" i="0">
                <a:solidFill>
                  <a:srgbClr val="21295C"/>
                </a:solidFill>
                <a:latin typeface="Arial"/>
              </a:rPr>
              <a:t> Прошлый раздел кончился человеком, который стал хуже. Здесь меняется масштаб: ранний шаг разработки подешевел многократно, а узкое место дальше по пути — ни на сколько.</a:t>
            </a:r>
          </a:p>
        </p:txBody>
      </p:sp>
      <p:sp>
        <p:nvSpPr>
          <p:cNvPr id="9" name="TextBox 8"/>
          <p:cNvSpPr txBox="1"/>
          <p:nvPr/>
        </p:nvSpPr>
        <p:spPr>
          <a:xfrm>
            <a:off x="704088" y="31742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упоминания с числом и базой.</a:t>
            </a:r>
            <a:r>
              <a:rPr sz="1550" b="0" i="0">
                <a:solidFill>
                  <a:srgbClr val="21295C"/>
                </a:solidFill>
                <a:latin typeface="Arial"/>
              </a:rPr>
              <a:t> Разбор: </a:t>
            </a:r>
            <a:r>
              <a:rPr sz="1550" b="1" i="0">
                <a:solidFill>
                  <a:srgbClr val="21295C"/>
                </a:solidFill>
                <a:latin typeface="Arial"/>
              </a:rPr>
              <a:t>Пример 1: отказ от своего обещания и минус 180 мест</a:t>
            </a:r>
            <a:r>
              <a:rPr sz="1550" b="0" i="0">
                <a:solidFill>
                  <a:srgbClr val="21295C"/>
                </a:solidFill>
                <a:latin typeface="Arial"/>
              </a:rPr>
              <a:t>; упоминания — в своде раздела.</a:t>
            </a:r>
          </a:p>
        </p:txBody>
      </p:sp>
      <p:sp>
        <p:nvSpPr>
          <p:cNvPr id="10" name="TextBox 9"/>
          <p:cNvSpPr txBox="1"/>
          <p:nvPr/>
        </p:nvSpPr>
        <p:spPr>
          <a:xfrm>
            <a:off x="704088" y="424515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что делают и какая у стадии база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12 728 переходов, 9 704 программы</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a:t>
            </a:r>
          </a:p>
        </p:txBody>
      </p:sp>
      <p:sp>
        <p:nvSpPr>
          <p:cNvPr id="8" name="Rounded Rectangle 7"/>
          <p:cNvSpPr/>
          <p:nvPr/>
        </p:nvSpPr>
        <p:spPr>
          <a:xfrm>
            <a:off x="502920" y="2683657"/>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94360" y="2729377"/>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фаза II</a:t>
            </a:r>
          </a:p>
          <a:p>
            <a:pPr algn="ctr">
              <a:lnSpc>
                <a:spcPct val="112000"/>
              </a:lnSpc>
            </a:pPr>
            <a:r>
              <a:rPr sz="1350" b="0" i="0">
                <a:solidFill>
                  <a:srgbClr val="21295C"/>
                </a:solidFill>
                <a:latin typeface="Arial"/>
              </a:rPr>
              <a:t>52,0 % · из 4 414</a:t>
            </a:r>
          </a:p>
        </p:txBody>
      </p:sp>
      <p:sp>
        <p:nvSpPr>
          <p:cNvPr id="10" name="Rounded Rectangle 9"/>
          <p:cNvSpPr/>
          <p:nvPr/>
        </p:nvSpPr>
        <p:spPr>
          <a:xfrm>
            <a:off x="2853842" y="2884825"/>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2945282" y="2930545"/>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II → фаза III</a:t>
            </a:r>
          </a:p>
          <a:p>
            <a:pPr algn="ctr">
              <a:lnSpc>
                <a:spcPct val="112000"/>
              </a:lnSpc>
            </a:pPr>
            <a:r>
              <a:rPr sz="1350" b="0" i="0">
                <a:solidFill>
                  <a:srgbClr val="21295C"/>
                </a:solidFill>
                <a:latin typeface="Arial"/>
              </a:rPr>
              <a:t>28,9 % · из 4 933</a:t>
            </a:r>
          </a:p>
        </p:txBody>
      </p:sp>
      <p:sp>
        <p:nvSpPr>
          <p:cNvPr id="12" name="Rounded Rectangle 11"/>
          <p:cNvSpPr/>
          <p:nvPr/>
        </p:nvSpPr>
        <p:spPr>
          <a:xfrm>
            <a:off x="5204764" y="3085993"/>
            <a:ext cx="2241194"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296204" y="3131713"/>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одобрение</a:t>
            </a:r>
          </a:p>
          <a:p>
            <a:pPr algn="ctr">
              <a:lnSpc>
                <a:spcPct val="112000"/>
              </a:lnSpc>
            </a:pPr>
            <a:r>
              <a:rPr sz="1350" b="0" i="0">
                <a:solidFill>
                  <a:srgbClr val="21295C"/>
                </a:solidFill>
                <a:latin typeface="Arial"/>
              </a:rPr>
              <a:t>7,9 % · одна из тринадцати</a:t>
            </a:r>
          </a:p>
        </p:txBody>
      </p:sp>
      <p:sp>
        <p:nvSpPr>
          <p:cNvPr id="14" name="Rounded Rectangle 13"/>
          <p:cNvSpPr/>
          <p:nvPr/>
        </p:nvSpPr>
        <p:spPr>
          <a:xfrm>
            <a:off x="374904" y="4109836"/>
            <a:ext cx="11441887" cy="2126371"/>
          </a:xfrm>
          <a:prstGeom prst="roundRect">
            <a:avLst>
              <a:gd name="adj" fmla="val 14334"/>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201276"/>
            <a:ext cx="11112703" cy="203493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Стадия стоит вверх по течению: здесь появляется то, что потом назначают.</a:t>
            </a:r>
            <a:r>
              <a:rPr sz="1450" b="0" i="0">
                <a:solidFill>
                  <a:srgbClr val="21295C"/>
                </a:solidFill>
                <a:latin typeface="Arial"/>
              </a:rPr>
              <a:t> Данные о веществе.</a:t>
            </a:r>
          </a:p>
          <a:p>
            <a:pPr algn="l">
              <a:lnSpc>
                <a:spcPct val="126000"/>
              </a:lnSpc>
              <a:spcBef>
                <a:spcPts val="700"/>
              </a:spcBef>
            </a:pPr>
            <a:r>
              <a:rPr sz="1450" b="0" i="0">
                <a:solidFill>
                  <a:srgbClr val="21295C"/>
                </a:solidFill>
                <a:latin typeface="Arial"/>
              </a:rPr>
              <a:t/>
            </a:r>
            <a:r>
              <a:rPr sz="1450" b="0" i="0">
                <a:solidFill>
                  <a:srgbClr val="21295C"/>
                </a:solidFill>
                <a:latin typeface="Arial"/>
              </a:rPr>
              <a:t>Химик ставит реакцию, получает миллиграммы. Через полгода порошок едет в виварий. Через год координатор пишет наблюдения по одному добровольцу. </a:t>
            </a:r>
            <a:r>
              <a:rPr sz="1450" b="1" i="0">
                <a:solidFill>
                  <a:srgbClr val="21295C"/>
                </a:solidFill>
                <a:latin typeface="Arial"/>
              </a:rPr>
              <a:t>Три человека, три места, одно вещество, два года.</a:t>
            </a:r>
          </a:p>
          <a:p>
            <a:pPr algn="l">
              <a:lnSpc>
                <a:spcPct val="126000"/>
              </a:lnSpc>
              <a:spcBef>
                <a:spcPts val="700"/>
              </a:spcBef>
            </a:pPr>
            <a:r>
              <a:rPr sz="1450" b="0" i="0">
                <a:solidFill>
                  <a:srgbClr val="21295C"/>
                </a:solidFill>
                <a:latin typeface="Arial"/>
              </a:rPr>
              <a:t/>
            </a:r>
            <a:r>
              <a:rPr sz="1450" b="1" i="0">
                <a:solidFill>
                  <a:srgbClr val="21295C"/>
                </a:solidFill>
                <a:latin typeface="Arial"/>
              </a:rPr>
              <a:t>Решение на каждом шаге:</a:t>
            </a:r>
            <a:r>
              <a:rPr sz="1450" b="0" i="0">
                <a:solidFill>
                  <a:srgbClr val="21295C"/>
                </a:solidFill>
                <a:latin typeface="Arial"/>
              </a:rPr>
              <a:t> вести или закрыть. </a:t>
            </a:r>
            <a:r>
              <a:rPr sz="1450" b="1" i="0">
                <a:solidFill>
                  <a:srgbClr val="21295C"/>
                </a:solidFill>
                <a:latin typeface="Arial"/>
              </a:rPr>
              <a:t>Считающий шаг один и он в начале;</a:t>
            </a:r>
            <a:r>
              <a:rPr sz="1450" b="0" i="0">
                <a:solidFill>
                  <a:srgbClr val="21295C"/>
                </a:solidFill>
                <a:latin typeface="Arial"/>
              </a:rPr>
              <a:t> остальной путь делают руками, и дешевле он не стал.</a:t>
            </a:r>
          </a:p>
          <a:p>
            <a:pPr algn="l">
              <a:lnSpc>
                <a:spcPct val="126000"/>
              </a:lnSpc>
              <a:spcBef>
                <a:spcPts val="700"/>
              </a:spcBef>
            </a:pPr>
            <a:r>
              <a:rPr sz="1450" b="0" i="0">
                <a:solidFill>
                  <a:srgbClr val="21295C"/>
                </a:solidFill>
                <a:latin typeface="Arial"/>
              </a:rPr>
              <a:t/>
            </a:r>
            <a:r>
              <a:rPr sz="1450" b="1" i="0">
                <a:solidFill>
                  <a:srgbClr val="21295C"/>
                </a:solidFill>
                <a:latin typeface="Arial"/>
              </a:rPr>
              <a:t>«Перешли» и «завершили» — две разные дроби:</a:t>
            </a:r>
            <a:r>
              <a:rPr sz="1450" b="0" i="0">
                <a:solidFill>
                  <a:srgbClr val="21295C"/>
                </a:solidFill>
                <a:latin typeface="Arial"/>
              </a:rPr>
              <a:t> живые активы в базу не попадают.</a:t>
            </a:r>
          </a:p>
        </p:txBody>
      </p:sp>
      <p:sp>
        <p:nvSpPr>
          <p:cNvPr id="16" name="Rounded Rectangle 15"/>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7" name="Picture 16"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цена обеих ошибок и два режима</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эксперимента не было</a:t>
            </a:r>
          </a:p>
        </p:txBody>
      </p:sp>
      <p:sp>
        <p:nvSpPr>
          <p:cNvPr id="12" name="Rounded Rectangle 11"/>
          <p:cNvSpPr/>
          <p:nvPr/>
        </p:nvSpPr>
        <p:spPr>
          <a:xfrm>
            <a:off x="374904" y="2592217"/>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у обоих режимов один и тот же:</a:t>
            </a:r>
            <a:r>
              <a:rPr sz="1500" b="0" i="0">
                <a:solidFill>
                  <a:srgbClr val="21295C"/>
                </a:solidFill>
                <a:latin typeface="Arial"/>
              </a:rPr>
              <a:t> различия между ними числом не предъявил ни один источник.</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Вести всё синтезированное</a:t>
            </a:r>
            <a:r>
              <a:rPr sz="1500" b="0" i="0">
                <a:solidFill>
                  <a:srgbClr val="21295C"/>
                </a:solidFill>
                <a:latin typeface="Arial"/>
              </a:rPr>
              <a:t> — платит первой фазой за пустышку, и ошибку видно. </a:t>
            </a:r>
            <a:r>
              <a:rPr sz="1500" b="1" i="0">
                <a:solidFill>
                  <a:srgbClr val="21295C"/>
                </a:solidFill>
                <a:latin typeface="Arial"/>
              </a:rPr>
              <a:t>Вести только прошедшее экспертный отбор</a:t>
            </a:r>
            <a:r>
              <a:rPr sz="1500" b="0" i="0">
                <a:solidFill>
                  <a:srgbClr val="21295C"/>
                </a:solidFill>
                <a:latin typeface="Arial"/>
              </a:rPr>
              <a:t> — платит отброшенными молекулами, и сколько их, не знает никто.</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Экспертный отбор</a:t>
            </a:r>
            <a:r>
              <a:rPr sz="1500" b="0" i="0">
                <a:solidFill>
                  <a:srgbClr val="21295C"/>
                </a:solidFill>
                <a:latin typeface="Arial"/>
              </a:rPr>
              <a:t> — совет химиков, биологов и токсикологов: опыт и литература, протокола нет, повторяемость не замерял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шаге поиска молекулы числа есть и проверяемы:</a:t>
            </a:r>
            <a:r>
              <a:rPr sz="1500" b="0" i="0">
                <a:solidFill>
                  <a:srgbClr val="21295C"/>
                </a:solidFill>
                <a:latin typeface="Arial"/>
              </a:rPr>
              <a:t> перебор библиотеки 1–3 млн соединений, попадания 1–2 процента.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этой базой нет, «модель ускорила разработку» говорит только про тот шаг, где её применили.</a:t>
            </a:r>
          </a:p>
        </p:txBody>
      </p:sp>
      <p:sp>
        <p:nvSpPr>
          <p:cNvPr id="15" name="Rectangle 14"/>
          <p:cNvSpPr/>
          <p:nvPr/>
        </p:nvSpPr>
        <p:spPr>
          <a:xfrm>
            <a:off x="6091275" y="2683657"/>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QLS и Informa, Clinical Development Success Rates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отказ от своего обещания и минус 180 мест</a:t>
            </a:r>
          </a:p>
        </p:txBody>
      </p:sp>
      <p:sp>
        <p:nvSpPr>
          <p:cNvPr id="4" name="Rounded Rectangle 3"/>
          <p:cNvSpPr/>
          <p:nvPr/>
        </p:nvSpPr>
        <p:spPr>
          <a:xfrm>
            <a:off x="502920"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1543735"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91 пациент, 28 дней</a:t>
            </a:r>
          </a:p>
        </p:txBody>
      </p:sp>
      <p:sp>
        <p:nvSpPr>
          <p:cNvPr id="7" name="TextBox 6"/>
          <p:cNvSpPr txBox="1"/>
          <p:nvPr/>
        </p:nvSpPr>
        <p:spPr>
          <a:xfrm>
            <a:off x="640080" y="2457923"/>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a:t>
            </a:r>
          </a:p>
        </p:txBody>
      </p:sp>
      <p:sp>
        <p:nvSpPr>
          <p:cNvPr id="8" name="Rounded Rectangle 7"/>
          <p:cNvSpPr/>
          <p:nvPr/>
        </p:nvSpPr>
        <p:spPr>
          <a:xfrm>
            <a:off x="2485567"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22727" y="1472184"/>
            <a:ext cx="154373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a:t>
            </a:r>
          </a:p>
        </p:txBody>
      </p:sp>
      <p:sp>
        <p:nvSpPr>
          <p:cNvPr id="10" name="TextBox 9"/>
          <p:cNvSpPr txBox="1"/>
          <p:nvPr/>
        </p:nvSpPr>
        <p:spPr>
          <a:xfrm>
            <a:off x="2622727" y="1932846"/>
            <a:ext cx="1543735"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не достигнуты</a:t>
            </a:r>
          </a:p>
        </p:txBody>
      </p:sp>
      <p:sp>
        <p:nvSpPr>
          <p:cNvPr id="11" name="TextBox 10"/>
          <p:cNvSpPr txBox="1"/>
          <p:nvPr/>
        </p:nvSpPr>
        <p:spPr>
          <a:xfrm>
            <a:off x="2622727" y="2648419"/>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плацебо не превзойдено</a:t>
            </a:r>
          </a:p>
        </p:txBody>
      </p:sp>
      <p:sp>
        <p:nvSpPr>
          <p:cNvPr id="12" name="Rounded Rectangle 11"/>
          <p:cNvSpPr/>
          <p:nvPr/>
        </p:nvSpPr>
        <p:spPr>
          <a:xfrm>
            <a:off x="4468215"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05375"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a:t>
            </a:r>
          </a:p>
        </p:txBody>
      </p:sp>
      <p:sp>
        <p:nvSpPr>
          <p:cNvPr id="14" name="TextBox 13"/>
          <p:cNvSpPr txBox="1"/>
          <p:nvPr/>
        </p:nvSpPr>
        <p:spPr>
          <a:xfrm>
            <a:off x="4605375" y="1725375"/>
            <a:ext cx="1543735"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28,9 % перехода фазы II</a:t>
            </a:r>
          </a:p>
        </p:txBody>
      </p:sp>
      <p:sp>
        <p:nvSpPr>
          <p:cNvPr id="15" name="TextBox 14"/>
          <p:cNvSpPr txBox="1"/>
          <p:nvPr/>
        </p:nvSpPr>
        <p:spPr>
          <a:xfrm>
            <a:off x="4605375" y="2254223"/>
            <a:ext cx="15437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норма воронки</a:t>
            </a:r>
          </a:p>
        </p:txBody>
      </p:sp>
      <p:sp>
        <p:nvSpPr>
          <p:cNvPr id="16" name="Rounded Rectangle 15"/>
          <p:cNvSpPr/>
          <p:nvPr/>
        </p:nvSpPr>
        <p:spPr>
          <a:xfrm>
            <a:off x="6450863" y="1335024"/>
            <a:ext cx="1818055" cy="1873042"/>
          </a:xfrm>
          <a:prstGeom prst="roundRect">
            <a:avLst>
              <a:gd name="adj" fmla="val 167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588023"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6588023" y="1725375"/>
            <a:ext cx="154373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минус 180 мест, затем минус 30 % штата</a:t>
            </a:r>
          </a:p>
        </p:txBody>
      </p:sp>
      <p:sp>
        <p:nvSpPr>
          <p:cNvPr id="19" name="Rounded Rectangle 18"/>
          <p:cNvSpPr/>
          <p:nvPr/>
        </p:nvSpPr>
        <p:spPr>
          <a:xfrm>
            <a:off x="374904" y="3671655"/>
            <a:ext cx="11441887" cy="2564552"/>
          </a:xfrm>
          <a:prstGeom prst="roundRect">
            <a:avLst>
              <a:gd name="adj" fmla="val 1188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63095"/>
            <a:ext cx="11112703" cy="24731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вход — связи «мишень — болезнь — препарат», выход — молекула под мишень. </a:t>
            </a:r>
            <a:r>
              <a:rPr sz="1500" b="1" i="0">
                <a:solidFill>
                  <a:srgbClr val="21295C"/>
                </a:solidFill>
                <a:latin typeface="Arial"/>
              </a:rPr>
              <a:t>Ни компании, ни молекулы, ни данных обучения источники не называют.</a:t>
            </a:r>
            <a:r>
              <a:rPr sz="1500" b="0" i="0">
                <a:solidFill>
                  <a:srgbClr val="21295C"/>
                </a:solidFill>
                <a:latin typeface="Arial"/>
              </a:rPr>
              <a:t> Разница выяснилась только на людях.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Переехал порядок работ, и на масштабе модели бизнеса. Дало</a:t>
            </a:r>
            <a:r>
              <a:rPr sz="1500" b="0" i="0">
                <a:solidFill>
                  <a:srgbClr val="21295C"/>
                </a:solidFill>
                <a:latin typeface="Arial"/>
              </a:rPr>
              <a:t>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a:t>
            </a:r>
          </a:p>
        </p:txBody>
      </p:sp>
      <p:sp>
        <p:nvSpPr>
          <p:cNvPr id="21" name="Rounded Rectangle 20"/>
          <p:cNvSpPr/>
          <p:nvPr/>
        </p:nvSpPr>
        <p:spPr>
          <a:xfrm>
            <a:off x="8579815" y="1335024"/>
            <a:ext cx="3108960" cy="2336631"/>
          </a:xfrm>
          <a:prstGeom prst="roundRect">
            <a:avLst>
              <a:gd name="adj" fmla="val 13044"/>
            </a:avLst>
          </a:prstGeom>
          <a:solidFill>
            <a:srgbClr val="F4F7FA"/>
          </a:solidFill>
          <a:ln w="19050">
            <a:solidFill>
              <a:srgbClr val="1C7293"/>
            </a:solidFill>
          </a:ln>
          <a:effectLst/>
        </p:spPr>
        <p:txBody>
          <a:bodyPr rtlCol="0" anchor="ctr"/>
          <a:lstStyle/>
          <a:p>
            <a:pPr algn="ctr"/>
          </a:p>
        </p:txBody>
      </p:sp>
      <p:pic>
        <p:nvPicPr>
          <p:cNvPr id="22" name="Picture 21" descr="s75-dobrovolec-i-koordinator.jpg"/>
          <p:cNvPicPr>
            <a:picLocks noChangeAspect="1"/>
          </p:cNvPicPr>
          <p:nvPr/>
        </p:nvPicPr>
        <p:blipFill>
          <a:blip r:embed="rId2"/>
          <a:stretch>
            <a:fillRect/>
          </a:stretch>
        </p:blipFill>
        <p:spPr>
          <a:xfrm>
            <a:off x="8716975" y="1472184"/>
            <a:ext cx="2834639" cy="2062311"/>
          </a:xfrm>
          <a:prstGeom prst="rect">
            <a:avLst/>
          </a:prstGeom>
        </p:spPr>
      </p:pic>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фазе IIa, 2023</a:t>
            </a:r>
            <a:r>
              <a:rPr sz="1200" b="0" i="1">
                <a:solidFill>
                  <a:srgbClr val="1C7293"/>
                </a:solidFill>
                <a:latin typeface="Arial"/>
              </a:rPr>
              <a:t> · </a:t>
            </a:r>
            <a:r>
              <a:rPr sz="1200" b="0" i="1">
                <a:solidFill>
                  <a:srgbClr val="1C7293"/>
                </a:solidFill>
                <a:latin typeface="Arial"/>
              </a:rPr>
              <a:t>отраслевая журналистика, 2023–2024</a:t>
            </a:r>
            <a:r>
              <a:rPr sz="1200" b="0" i="1">
                <a:solidFill>
                  <a:srgbClr val="1C7293"/>
                </a:solidFill>
                <a:latin typeface="Arial"/>
              </a:rPr>
              <a:t> · </a:t>
            </a: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начало подешевело, одобрений ноль</a:t>
            </a:r>
          </a:p>
        </p:txBody>
      </p:sp>
      <p:sp>
        <p:nvSpPr>
          <p:cNvPr id="4" name="Rounded Rectangle 3"/>
          <p:cNvSpPr/>
          <p:nvPr/>
        </p:nvSpPr>
        <p:spPr>
          <a:xfrm>
            <a:off x="374904" y="12435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срезать физический перебор расчётом; первая фаза чаще базы — </a:t>
            </a:r>
            <a:r>
              <a:rPr sz="1500" b="1" i="0">
                <a:solidFill>
                  <a:srgbClr val="21295C"/>
                </a:solidFill>
                <a:latin typeface="Arial"/>
              </a:rPr>
              <a:t>80–90 из ста</a:t>
            </a:r>
            <a:r>
              <a:rPr sz="1500" b="0" i="0">
                <a:solidFill>
                  <a:srgbClr val="21295C"/>
                </a:solidFill>
                <a:latin typeface="Arial"/>
              </a:rPr>
              <a:t> против </a:t>
            </a:r>
            <a:r>
              <a:rPr sz="1500" b="1" i="0">
                <a:solidFill>
                  <a:srgbClr val="21295C"/>
                </a:solidFill>
                <a:latin typeface="Arial"/>
              </a:rPr>
              <a:t>52,0</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вторая фаза — около </a:t>
            </a:r>
            <a:r>
              <a:rPr sz="1500" b="1" i="0">
                <a:solidFill>
                  <a:srgbClr val="21295C"/>
                </a:solidFill>
                <a:latin typeface="Arial"/>
              </a:rPr>
              <a:t>40</a:t>
            </a:r>
            <a:r>
              <a:rPr sz="1500" b="0" i="0">
                <a:solidFill>
                  <a:srgbClr val="21295C"/>
                </a:solidFill>
                <a:latin typeface="Arial"/>
              </a:rPr>
              <a:t> против базы </a:t>
            </a:r>
            <a:r>
              <a:rPr sz="1500" b="1" i="0">
                <a:solidFill>
                  <a:srgbClr val="21295C"/>
                </a:solidFill>
                <a:latin typeface="Arial"/>
              </a:rPr>
              <a:t>28,9</a:t>
            </a:r>
            <a:r>
              <a:rPr sz="1500" b="0" i="0">
                <a:solidFill>
                  <a:srgbClr val="21295C"/>
                </a:solidFill>
                <a:latin typeface="Arial"/>
              </a:rPr>
              <a:t>; одобрений за десять лет категории </a:t>
            </a:r>
            <a:r>
              <a:rPr sz="1500" b="1" i="0">
                <a:solidFill>
                  <a:srgbClr val="21295C"/>
                </a:solidFill>
                <a:latin typeface="Arial"/>
              </a:rPr>
              <a:t>0</a:t>
            </a:r>
            <a:r>
              <a:rPr sz="1500" b="0" i="0">
                <a:solidFill>
                  <a:srgbClr val="21295C"/>
                </a:solidFill>
                <a:latin typeface="Arial"/>
              </a:rPr>
              <a:t> при 75 и 117 активах; четыре работы на людях — задачи для модели там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переехала, объём на том же месте упал, порядок работ изменился у бизнеса.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физиология и протокол: доклиника и три фазы. </a:t>
            </a:r>
            <a:r>
              <a:rPr sz="1500" b="1" i="0">
                <a:solidFill>
                  <a:srgbClr val="21295C"/>
                </a:solidFill>
                <a:latin typeface="Arial"/>
              </a:rPr>
              <a:t>Прочерк: «шаг исчез» не подтверждается</a:t>
            </a:r>
            <a:r>
              <a:rPr sz="1500" b="0" i="0">
                <a:solidFill>
                  <a:srgbClr val="21295C"/>
                </a:solidFill>
                <a:latin typeface="Arial"/>
              </a:rPr>
              <a:t> — депозиты держат </a:t>
            </a:r>
            <a:r>
              <a:rPr sz="1500" b="1" i="0">
                <a:solidFill>
                  <a:srgbClr val="21295C"/>
                </a:solidFill>
                <a:latin typeface="Arial"/>
              </a:rPr>
              <a:t>9–10 тысяч в год</a:t>
            </a:r>
            <a:r>
              <a:rPr sz="1500" b="0" i="0">
                <a:solidFill>
                  <a:srgbClr val="21295C"/>
                </a:solidFill>
                <a:latin typeface="Arial"/>
              </a:rPr>
              <a:t> с 2015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на работе есть шаг, который подешевел в разы, — и стало ли от этого быстрее всё остальное?</a:t>
            </a:r>
          </a:p>
        </p:txBody>
      </p:sp>
      <p:sp>
        <p:nvSpPr>
          <p:cNvPr id="7" name="Rectangle 6"/>
          <p:cNvSpPr/>
          <p:nvPr/>
        </p:nvSpPr>
        <p:spPr>
          <a:xfrm>
            <a:off x="6091275" y="1335024"/>
            <a:ext cx="9144" cy="22572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и соавт., J Clin Oncol 2026</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QLS и Informa, Clinical Development Success Rates 2011–2020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свод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Выигрыш приписан не тому</a:t>
            </a:r>
            <a:r>
              <a:rPr sz="1550" b="0" i="0">
                <a:solidFill>
                  <a:srgbClr val="21295C"/>
                </a:solidFill>
                <a:latin typeface="Arial"/>
              </a:rPr>
              <a:t> — чей результат на самом деле 3.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4.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5.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6424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716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203738" y="1335024"/>
            <a:ext cx="3766078"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350042" y="1335024"/>
            <a:ext cx="347347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4969816" y="1335024"/>
            <a:ext cx="1653997"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6120" y="1335024"/>
            <a:ext cx="136138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мерит</a:t>
            </a:r>
          </a:p>
        </p:txBody>
      </p:sp>
      <p:sp>
        <p:nvSpPr>
          <p:cNvPr id="11" name="Rectangle 10"/>
          <p:cNvSpPr/>
          <p:nvPr/>
        </p:nvSpPr>
        <p:spPr>
          <a:xfrm>
            <a:off x="6623814" y="1335024"/>
            <a:ext cx="502838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770118" y="1335024"/>
            <a:ext cx="473577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счёт за лекцию</a:t>
            </a:r>
          </a:p>
        </p:txBody>
      </p:sp>
      <p:sp>
        <p:nvSpPr>
          <p:cNvPr id="13" name="Rectangle 12"/>
          <p:cNvSpPr/>
          <p:nvPr/>
        </p:nvSpPr>
        <p:spPr>
          <a:xfrm>
            <a:off x="539496" y="1736636"/>
            <a:ext cx="66424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5" name="Rectangle 14"/>
          <p:cNvSpPr/>
          <p:nvPr/>
        </p:nvSpPr>
        <p:spPr>
          <a:xfrm>
            <a:off x="1203738" y="1736636"/>
            <a:ext cx="3766078"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50042" y="1736636"/>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7" name="Rectangle 16"/>
          <p:cNvSpPr/>
          <p:nvPr/>
        </p:nvSpPr>
        <p:spPr>
          <a:xfrm>
            <a:off x="4969816" y="1736636"/>
            <a:ext cx="1653997"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6120" y="1736636"/>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19" name="Rectangle 18"/>
          <p:cNvSpPr/>
          <p:nvPr/>
        </p:nvSpPr>
        <p:spPr>
          <a:xfrm>
            <a:off x="6623814" y="1736636"/>
            <a:ext cx="502838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770118" y="1736636"/>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одобрений регулятора </a:t>
            </a:r>
            <a:r>
              <a:rPr sz="1300" b="1" i="0">
                <a:solidFill>
                  <a:srgbClr val="21295C"/>
                </a:solidFill>
                <a:latin typeface="Arial"/>
              </a:rPr>
              <a:t>ноль</a:t>
            </a:r>
          </a:p>
        </p:txBody>
      </p:sp>
      <p:sp>
        <p:nvSpPr>
          <p:cNvPr id="21" name="Rectangle 20"/>
          <p:cNvSpPr/>
          <p:nvPr/>
        </p:nvSpPr>
        <p:spPr>
          <a:xfrm>
            <a:off x="539496" y="2138248"/>
            <a:ext cx="66424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23" name="Rectangle 22"/>
          <p:cNvSpPr/>
          <p:nvPr/>
        </p:nvSpPr>
        <p:spPr>
          <a:xfrm>
            <a:off x="1203738" y="2138248"/>
            <a:ext cx="3766078"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50042" y="2138248"/>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5" name="Rectangle 24"/>
          <p:cNvSpPr/>
          <p:nvPr/>
        </p:nvSpPr>
        <p:spPr>
          <a:xfrm>
            <a:off x="4969816" y="2138248"/>
            <a:ext cx="1653997"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6120" y="2138248"/>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27" name="Rectangle 26"/>
          <p:cNvSpPr/>
          <p:nvPr/>
        </p:nvSpPr>
        <p:spPr>
          <a:xfrm>
            <a:off x="6623814" y="2138248"/>
            <a:ext cx="502838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770118" y="2138248"/>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случая не встретилось</a:t>
            </a:r>
          </a:p>
        </p:txBody>
      </p:sp>
      <p:sp>
        <p:nvSpPr>
          <p:cNvPr id="29" name="Rectangle 28"/>
          <p:cNvSpPr/>
          <p:nvPr/>
        </p:nvSpPr>
        <p:spPr>
          <a:xfrm>
            <a:off x="539496" y="2539860"/>
            <a:ext cx="66424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31" name="Rectangle 30"/>
          <p:cNvSpPr/>
          <p:nvPr/>
        </p:nvSpPr>
        <p:spPr>
          <a:xfrm>
            <a:off x="1203738" y="2539860"/>
            <a:ext cx="3766078"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50042" y="2539860"/>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33" name="Rectangle 32"/>
          <p:cNvSpPr/>
          <p:nvPr/>
        </p:nvSpPr>
        <p:spPr>
          <a:xfrm>
            <a:off x="4969816" y="2539860"/>
            <a:ext cx="1653997"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6120" y="2539860"/>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35" name="Rectangle 34"/>
          <p:cNvSpPr/>
          <p:nvPr/>
        </p:nvSpPr>
        <p:spPr>
          <a:xfrm>
            <a:off x="6623814" y="2539860"/>
            <a:ext cx="502838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770118" y="2539860"/>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разбор расхождений </a:t>
            </a:r>
            <a:r>
              <a:rPr sz="1300" b="1" i="0">
                <a:solidFill>
                  <a:srgbClr val="21295C"/>
                </a:solidFill>
                <a:latin typeface="Arial"/>
              </a:rPr>
              <a:t>+53 %</a:t>
            </a:r>
          </a:p>
        </p:txBody>
      </p:sp>
      <p:sp>
        <p:nvSpPr>
          <p:cNvPr id="37" name="Rectangle 36"/>
          <p:cNvSpPr/>
          <p:nvPr/>
        </p:nvSpPr>
        <p:spPr>
          <a:xfrm>
            <a:off x="539496" y="2941472"/>
            <a:ext cx="66424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9" name="Rectangle 38"/>
          <p:cNvSpPr/>
          <p:nvPr/>
        </p:nvSpPr>
        <p:spPr>
          <a:xfrm>
            <a:off x="1203738" y="2941472"/>
            <a:ext cx="3766078"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50042" y="2941472"/>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41" name="Rectangle 40"/>
          <p:cNvSpPr/>
          <p:nvPr/>
        </p:nvSpPr>
        <p:spPr>
          <a:xfrm>
            <a:off x="4969816" y="2941472"/>
            <a:ext cx="1653997"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6120" y="2941472"/>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43" name="Rectangle 42"/>
          <p:cNvSpPr/>
          <p:nvPr/>
        </p:nvSpPr>
        <p:spPr>
          <a:xfrm>
            <a:off x="6623814" y="2941472"/>
            <a:ext cx="502838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770118" y="2941472"/>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тревога часто, подтверждается редко</a:t>
            </a:r>
          </a:p>
        </p:txBody>
      </p:sp>
      <p:sp>
        <p:nvSpPr>
          <p:cNvPr id="45" name="Rectangle 44"/>
          <p:cNvSpPr/>
          <p:nvPr/>
        </p:nvSpPr>
        <p:spPr>
          <a:xfrm>
            <a:off x="539496" y="3343085"/>
            <a:ext cx="664242" cy="40161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43085"/>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47" name="Rectangle 46"/>
          <p:cNvSpPr/>
          <p:nvPr/>
        </p:nvSpPr>
        <p:spPr>
          <a:xfrm>
            <a:off x="1203738" y="3343085"/>
            <a:ext cx="3766078"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50042" y="3343085"/>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49" name="Rectangle 48"/>
          <p:cNvSpPr/>
          <p:nvPr/>
        </p:nvSpPr>
        <p:spPr>
          <a:xfrm>
            <a:off x="4969816" y="3343085"/>
            <a:ext cx="1653997"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16120" y="3343085"/>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51" name="Rectangle 50"/>
          <p:cNvSpPr/>
          <p:nvPr/>
        </p:nvSpPr>
        <p:spPr>
          <a:xfrm>
            <a:off x="6623814" y="3343085"/>
            <a:ext cx="5028384"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770118" y="3343085"/>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чтение ниже </a:t>
            </a:r>
            <a:r>
              <a:rPr sz="1300" b="1" i="0">
                <a:solidFill>
                  <a:srgbClr val="21295C"/>
                </a:solidFill>
                <a:latin typeface="Arial"/>
              </a:rPr>
              <a:t>на 44,3 %</a:t>
            </a:r>
          </a:p>
        </p:txBody>
      </p:sp>
      <p:sp>
        <p:nvSpPr>
          <p:cNvPr id="53" name="Rectangle 52"/>
          <p:cNvSpPr/>
          <p:nvPr/>
        </p:nvSpPr>
        <p:spPr>
          <a:xfrm>
            <a:off x="539496" y="3744697"/>
            <a:ext cx="664242"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44697"/>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55" name="Rectangle 54"/>
          <p:cNvSpPr/>
          <p:nvPr/>
        </p:nvSpPr>
        <p:spPr>
          <a:xfrm>
            <a:off x="1203738" y="3744697"/>
            <a:ext cx="3766078"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50042" y="3744697"/>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57" name="Rectangle 56"/>
          <p:cNvSpPr/>
          <p:nvPr/>
        </p:nvSpPr>
        <p:spPr>
          <a:xfrm>
            <a:off x="4969816" y="3744697"/>
            <a:ext cx="1653997"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16120" y="3744697"/>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59" name="Rectangle 58"/>
          <p:cNvSpPr/>
          <p:nvPr/>
        </p:nvSpPr>
        <p:spPr>
          <a:xfrm>
            <a:off x="6623814" y="3744697"/>
            <a:ext cx="5028384" cy="401612"/>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770118" y="3744697"/>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явка </a:t>
            </a:r>
            <a:r>
              <a:rPr sz="1300" b="1" i="0">
                <a:solidFill>
                  <a:srgbClr val="21295C"/>
                </a:solidFill>
                <a:latin typeface="Arial"/>
              </a:rPr>
              <a:t>22 → 100</a:t>
            </a:r>
            <a:r>
              <a:rPr sz="1300" b="0" i="0">
                <a:solidFill>
                  <a:srgbClr val="21295C"/>
                </a:solidFill>
                <a:latin typeface="Arial"/>
              </a:rPr>
              <a:t> из ста</a:t>
            </a:r>
          </a:p>
        </p:txBody>
      </p:sp>
      <p:sp>
        <p:nvSpPr>
          <p:cNvPr id="61" name="Rectangle 60"/>
          <p:cNvSpPr/>
          <p:nvPr/>
        </p:nvSpPr>
        <p:spPr>
          <a:xfrm>
            <a:off x="539496" y="4146309"/>
            <a:ext cx="664242"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146309"/>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63" name="Rectangle 62"/>
          <p:cNvSpPr/>
          <p:nvPr/>
        </p:nvSpPr>
        <p:spPr>
          <a:xfrm>
            <a:off x="1203738" y="4146309"/>
            <a:ext cx="3766078"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50042" y="4146309"/>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65" name="Rectangle 64"/>
          <p:cNvSpPr/>
          <p:nvPr/>
        </p:nvSpPr>
        <p:spPr>
          <a:xfrm>
            <a:off x="4969816" y="4146309"/>
            <a:ext cx="1653997" cy="401612"/>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16120" y="4146309"/>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порядок</a:t>
            </a:r>
          </a:p>
        </p:txBody>
      </p:sp>
      <p:sp>
        <p:nvSpPr>
          <p:cNvPr id="67" name="Rectangle 66"/>
          <p:cNvSpPr/>
          <p:nvPr/>
        </p:nvSpPr>
        <p:spPr>
          <a:xfrm>
            <a:off x="6623814" y="4146309"/>
            <a:ext cx="5028384" cy="401612"/>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770118" y="4146309"/>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счёта нет</a:t>
            </a:r>
          </a:p>
        </p:txBody>
      </p:sp>
      <p:sp>
        <p:nvSpPr>
          <p:cNvPr id="69" name="Rectangle 68"/>
          <p:cNvSpPr/>
          <p:nvPr/>
        </p:nvSpPr>
        <p:spPr>
          <a:xfrm>
            <a:off x="539496" y="4547921"/>
            <a:ext cx="664242"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547921"/>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71" name="Rectangle 70"/>
          <p:cNvSpPr/>
          <p:nvPr/>
        </p:nvSpPr>
        <p:spPr>
          <a:xfrm>
            <a:off x="1203738" y="4547921"/>
            <a:ext cx="3766078" cy="401612"/>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50042" y="4547921"/>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73" name="Rectangle 72"/>
          <p:cNvSpPr/>
          <p:nvPr/>
        </p:nvSpPr>
        <p:spPr>
          <a:xfrm>
            <a:off x="4969816" y="4547921"/>
            <a:ext cx="1653997" cy="401612"/>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16120" y="4547921"/>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цена ошибки</a:t>
            </a:r>
          </a:p>
        </p:txBody>
      </p:sp>
      <p:sp>
        <p:nvSpPr>
          <p:cNvPr id="75" name="Rectangle 74"/>
          <p:cNvSpPr/>
          <p:nvPr/>
        </p:nvSpPr>
        <p:spPr>
          <a:xfrm>
            <a:off x="6623814" y="4547921"/>
            <a:ext cx="5028384" cy="401612"/>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770118" y="4547921"/>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вмешаться способны </a:t>
            </a:r>
            <a:r>
              <a:rPr sz="1300" b="1" i="0">
                <a:solidFill>
                  <a:srgbClr val="21295C"/>
                </a:solidFill>
                <a:latin typeface="Arial"/>
              </a:rPr>
              <a:t>56 из 717</a:t>
            </a:r>
            <a:r>
              <a:rPr sz="1300" b="0" i="0">
                <a:solidFill>
                  <a:srgbClr val="21295C"/>
                </a:solidFill>
                <a:latin typeface="Arial"/>
              </a:rPr>
              <a:t> радиологических</a:t>
            </a:r>
          </a:p>
        </p:txBody>
      </p:sp>
      <p:sp>
        <p:nvSpPr>
          <p:cNvPr id="77" name="Rectangle 76"/>
          <p:cNvSpPr/>
          <p:nvPr/>
        </p:nvSpPr>
        <p:spPr>
          <a:xfrm>
            <a:off x="539496" y="4949533"/>
            <a:ext cx="664242" cy="401612"/>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949533"/>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79" name="Rectangle 78"/>
          <p:cNvSpPr/>
          <p:nvPr/>
        </p:nvSpPr>
        <p:spPr>
          <a:xfrm>
            <a:off x="1203738" y="4949533"/>
            <a:ext cx="3766078" cy="401612"/>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50042" y="4949533"/>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81" name="Rectangle 80"/>
          <p:cNvSpPr/>
          <p:nvPr/>
        </p:nvSpPr>
        <p:spPr>
          <a:xfrm>
            <a:off x="4969816" y="4949533"/>
            <a:ext cx="1653997" cy="401612"/>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16120" y="4949533"/>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83" name="Rectangle 82"/>
          <p:cNvSpPr/>
          <p:nvPr/>
        </p:nvSpPr>
        <p:spPr>
          <a:xfrm>
            <a:off x="6623814" y="4949533"/>
            <a:ext cx="5028384" cy="401612"/>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770118" y="4949533"/>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28,4 → 22,4</a:t>
            </a:r>
            <a:r>
              <a:rPr sz="1300" b="0" i="0">
                <a:solidFill>
                  <a:srgbClr val="21295C"/>
                </a:solidFill>
                <a:latin typeface="Arial"/>
              </a:rPr>
              <a:t> из ста</a:t>
            </a:r>
          </a:p>
        </p:txBody>
      </p:sp>
      <p:sp>
        <p:nvSpPr>
          <p:cNvPr id="85" name="Rectangle 84"/>
          <p:cNvSpPr/>
          <p:nvPr/>
        </p:nvSpPr>
        <p:spPr>
          <a:xfrm>
            <a:off x="539496" y="5351146"/>
            <a:ext cx="664242" cy="401612"/>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351146"/>
            <a:ext cx="37163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87" name="Rectangle 86"/>
          <p:cNvSpPr/>
          <p:nvPr/>
        </p:nvSpPr>
        <p:spPr>
          <a:xfrm>
            <a:off x="1203738" y="5351146"/>
            <a:ext cx="3766078" cy="401612"/>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50042" y="5351146"/>
            <a:ext cx="3473470"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89" name="Rectangle 88"/>
          <p:cNvSpPr/>
          <p:nvPr/>
        </p:nvSpPr>
        <p:spPr>
          <a:xfrm>
            <a:off x="4969816" y="5351146"/>
            <a:ext cx="1653997" cy="401612"/>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16120" y="5351146"/>
            <a:ext cx="1361389"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рука</a:t>
            </a:r>
          </a:p>
        </p:txBody>
      </p:sp>
      <p:sp>
        <p:nvSpPr>
          <p:cNvPr id="91" name="Rectangle 90"/>
          <p:cNvSpPr/>
          <p:nvPr/>
        </p:nvSpPr>
        <p:spPr>
          <a:xfrm>
            <a:off x="6623814" y="5351146"/>
            <a:ext cx="5028384" cy="401612"/>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770118" y="5351146"/>
            <a:ext cx="4735776"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измерения нет</a:t>
            </a:r>
          </a:p>
        </p:txBody>
      </p:sp>
      <p:sp>
        <p:nvSpPr>
          <p:cNvPr id="93" name="TextBox 92"/>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Семь форм из девяти со счётом.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ПОДТВЕРЖДЕНО РАЗБОРОМ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из 15 номинаций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был на экране</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без кадра, три условно</a:t>
            </a:r>
          </a:p>
        </p:txBody>
      </p:sp>
      <p:sp>
        <p:nvSpPr>
          <p:cNvPr id="12" name="Rounded Rectangle 11"/>
          <p:cNvSpPr/>
          <p:nvPr/>
        </p:nvSpPr>
        <p:spPr>
          <a:xfrm>
            <a:off x="374904" y="2592217"/>
            <a:ext cx="11441887" cy="3333831"/>
          </a:xfrm>
          <a:prstGeom prst="roundRect">
            <a:avLst>
              <a:gd name="adj" fmla="val 914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Ниже — девять из этих пятнадцати, названные вслух.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модели нет.</a:t>
            </a:r>
            <a:r>
              <a:rPr sz="1500" b="0" i="0">
                <a:solidFill>
                  <a:srgbClr val="21295C"/>
                </a:solidFill>
                <a:latin typeface="Arial"/>
              </a:rPr>
              <a:t> Сортировка обращений оказалась деревом «если-то»; прибор, измеряющий насыщение крови кислородом, смещён до модели; тревога кардиомонитора — порог на приборе. </a:t>
            </a:r>
            <a:r>
              <a:rPr sz="1500" b="1" i="0">
                <a:solidFill>
                  <a:srgbClr val="21295C"/>
                </a:solidFill>
                <a:latin typeface="Arial"/>
              </a:rPr>
              <a:t>Убери модель, механизм продолжит работать.</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выигрыш не там.</a:t>
            </a:r>
            <a:r>
              <a:rPr sz="1500" b="0" i="0">
                <a:solidFill>
                  <a:srgbClr val="21295C"/>
                </a:solidFill>
                <a:latin typeface="Arial"/>
              </a:rPr>
              <a:t> Снижение смертности принадлежит новой роли, не качеству прогноза; «ИИ изобрёл лекарство» — расчёту физики связывания; «миллионы исследований» — объёму, знаменателя нет. </a:t>
            </a:r>
            <a:r>
              <a:rPr sz="1500" b="1" i="0">
                <a:solidFill>
                  <a:srgbClr val="21295C"/>
                </a:solidFill>
                <a:latin typeface="Arial"/>
              </a:rPr>
              <a:t>Спроси, от чего посчитан эффект.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числа выросли при пересказе.</a:t>
            </a:r>
            <a:r>
              <a:rPr sz="1500" b="0" i="0">
                <a:solidFill>
                  <a:srgbClr val="21295C"/>
                </a:solidFill>
                <a:latin typeface="Arial"/>
              </a:rPr>
              <a:t> Обзор перепутал шесть первоисточников из семи; «три секунды на описание» — время модели, не врача; «экономия двойного чтения» взята из вымышленного сценария. </a:t>
            </a:r>
            <a:r>
              <a:rPr sz="1500" b="1" i="0">
                <a:solidFill>
                  <a:srgbClr val="21295C"/>
                </a:solidFill>
                <a:latin typeface="Arial"/>
              </a:rPr>
              <a:t>Открой первоисточник.</a:t>
            </a:r>
          </a:p>
        </p:txBody>
      </p:sp>
      <p:sp>
        <p:nvSpPr>
          <p:cNvPr id="15" name="Rectangle 14"/>
          <p:cNvSpPr/>
          <p:nvPr/>
        </p:nvSpPr>
        <p:spPr>
          <a:xfrm>
            <a:off x="6091275" y="2683657"/>
            <a:ext cx="9144" cy="305951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клетки заняты, восемь пусты</a:t>
            </a:r>
          </a:p>
        </p:txBody>
      </p:sp>
      <p:sp>
        <p:nvSpPr>
          <p:cNvPr id="4" name="Rounded Rectangle 3"/>
          <p:cNvSpPr/>
          <p:nvPr/>
        </p:nvSpPr>
        <p:spPr>
          <a:xfrm>
            <a:off x="374904" y="1243584"/>
            <a:ext cx="11441887" cy="4938092"/>
          </a:xfrm>
          <a:prstGeom prst="roundRect">
            <a:avLst>
              <a:gd name="adj" fmla="val 6172"/>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10148"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1754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449644" y="1335024"/>
            <a:ext cx="2855503"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595948" y="1335024"/>
            <a:ext cx="256289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05147" y="1335024"/>
            <a:ext cx="2950511"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51451" y="1335024"/>
            <a:ext cx="26579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659" y="1335024"/>
            <a:ext cx="339653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963" y="1335024"/>
            <a:ext cx="310393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10148"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449644" y="1727520"/>
            <a:ext cx="2855503"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95948" y="1727520"/>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05147" y="1727520"/>
            <a:ext cx="2950511"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51451" y="1727520"/>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диагностика · диагноз</a:t>
            </a:r>
          </a:p>
        </p:txBody>
      </p:sp>
      <p:sp>
        <p:nvSpPr>
          <p:cNvPr id="19" name="Rectangle 18"/>
          <p:cNvSpPr/>
          <p:nvPr/>
        </p:nvSpPr>
        <p:spPr>
          <a:xfrm>
            <a:off x="8255659" y="1727520"/>
            <a:ext cx="3396539"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963" y="1727520"/>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347920"/>
            <a:ext cx="1910148"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347920"/>
            <a:ext cx="161754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449644" y="2347920"/>
            <a:ext cx="2855503"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95948" y="2347920"/>
            <a:ext cx="256289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05147" y="2347920"/>
            <a:ext cx="2950511"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51451" y="2347920"/>
            <a:ext cx="26579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диагноз · надзор</a:t>
            </a:r>
          </a:p>
        </p:txBody>
      </p:sp>
      <p:sp>
        <p:nvSpPr>
          <p:cNvPr id="27" name="Rectangle 26"/>
          <p:cNvSpPr/>
          <p:nvPr/>
        </p:nvSpPr>
        <p:spPr>
          <a:xfrm>
            <a:off x="8255659" y="2347920"/>
            <a:ext cx="339653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963" y="2347920"/>
            <a:ext cx="31039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740416"/>
            <a:ext cx="1910148"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40416"/>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449644" y="2740416"/>
            <a:ext cx="2855503"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95948" y="2740416"/>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диагноз · документы</a:t>
            </a:r>
          </a:p>
        </p:txBody>
      </p:sp>
      <p:sp>
        <p:nvSpPr>
          <p:cNvPr id="33" name="Rectangle 32"/>
          <p:cNvSpPr/>
          <p:nvPr/>
        </p:nvSpPr>
        <p:spPr>
          <a:xfrm>
            <a:off x="5305147" y="2740416"/>
            <a:ext cx="2950511"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51451" y="2740416"/>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659" y="2740416"/>
            <a:ext cx="3396539"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963" y="2740416"/>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360816"/>
            <a:ext cx="1910148" cy="62040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360816"/>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449644" y="3360816"/>
            <a:ext cx="2855503" cy="62040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5948" y="3360816"/>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05147" y="3360816"/>
            <a:ext cx="2950511" cy="62040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51451" y="3360816"/>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659" y="3360816"/>
            <a:ext cx="3396539" cy="62040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963" y="3360816"/>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диагностика · наблюдение · лекарство</a:t>
            </a:r>
          </a:p>
        </p:txBody>
      </p:sp>
      <p:sp>
        <p:nvSpPr>
          <p:cNvPr id="45" name="TextBox 44"/>
          <p:cNvSpPr txBox="1"/>
          <p:nvPr/>
        </p:nvSpPr>
        <p:spPr>
          <a:xfrm>
            <a:off x="539496" y="412752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в восемь за восемь разделов не зашёл никто.</a:t>
            </a:r>
            <a:r>
              <a:rPr sz="1300" b="0" i="0">
                <a:solidFill>
                  <a:srgbClr val="21295C"/>
                </a:solidFill>
                <a:latin typeface="Arial"/>
              </a:rPr>
              <a:t> Вне окна ещё три места: генерация структуры, распознавание на видео, сигнал прибора, где модели нет вовсе.</a:t>
            </a:r>
          </a:p>
        </p:txBody>
      </p:sp>
      <p:sp>
        <p:nvSpPr>
          <p:cNvPr id="46" name="TextBox 45"/>
          <p:cNvSpPr txBox="1"/>
          <p:nvPr/>
        </p:nvSpPr>
        <p:spPr>
          <a:xfrm>
            <a:off x="539496" y="4800046"/>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 на структуре фазы испытаний.</a:t>
            </a:r>
          </a:p>
        </p:txBody>
      </p:sp>
      <p:sp>
        <p:nvSpPr>
          <p:cNvPr id="47" name="TextBox 46"/>
          <p:cNvSpPr txBox="1"/>
          <p:nvPr/>
        </p:nvSpPr>
        <p:spPr>
          <a:xfrm>
            <a:off x="539496" y="547257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изображение — внутри смены, структура — во второй фазе, через годы.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адреса платежа из начала — поимённо, с измерением и разрядом под каждым.</a:t>
            </a:r>
          </a:p>
        </p:txBody>
      </p:sp>
      <p:sp>
        <p:nvSpPr>
          <p:cNvPr id="6" name="Rectangle 5"/>
          <p:cNvSpPr/>
          <p:nvPr/>
        </p:nvSpPr>
        <p:spPr>
          <a:xfrm>
            <a:off x="539496" y="1783418"/>
            <a:ext cx="1322827" cy="428960"/>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83418"/>
            <a:ext cx="103021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адрес</a:t>
            </a:r>
          </a:p>
        </p:txBody>
      </p:sp>
      <p:sp>
        <p:nvSpPr>
          <p:cNvPr id="8" name="Rectangle 7"/>
          <p:cNvSpPr/>
          <p:nvPr/>
        </p:nvSpPr>
        <p:spPr>
          <a:xfrm>
            <a:off x="1862323" y="1783418"/>
            <a:ext cx="6704198" cy="428960"/>
          </a:xfrm>
          <a:prstGeom prst="rect">
            <a:avLst/>
          </a:prstGeom>
          <a:solidFill>
            <a:srgbClr val="065A82"/>
          </a:solidFill>
          <a:ln>
            <a:noFill/>
          </a:ln>
          <a:effectLst/>
        </p:spPr>
        <p:txBody>
          <a:bodyPr rtlCol="0" anchor="ctr"/>
          <a:lstStyle/>
          <a:p>
            <a:pPr algn="ctr"/>
          </a:p>
        </p:txBody>
      </p:sp>
      <p:sp>
        <p:nvSpPr>
          <p:cNvPr id="9" name="TextBox 8"/>
          <p:cNvSpPr txBox="1"/>
          <p:nvPr/>
        </p:nvSpPr>
        <p:spPr>
          <a:xfrm>
            <a:off x="2008627" y="1783418"/>
            <a:ext cx="641159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чем заплачено</a:t>
            </a:r>
          </a:p>
        </p:txBody>
      </p:sp>
      <p:sp>
        <p:nvSpPr>
          <p:cNvPr id="10" name="Rectangle 9"/>
          <p:cNvSpPr/>
          <p:nvPr/>
        </p:nvSpPr>
        <p:spPr>
          <a:xfrm>
            <a:off x="8566521" y="1783418"/>
            <a:ext cx="3085677" cy="428960"/>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712825" y="1783418"/>
            <a:ext cx="27930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a:t>
            </a:r>
          </a:p>
        </p:txBody>
      </p:sp>
      <p:sp>
        <p:nvSpPr>
          <p:cNvPr id="12" name="Rectangle 11"/>
          <p:cNvSpPr/>
          <p:nvPr/>
        </p:nvSpPr>
        <p:spPr>
          <a:xfrm>
            <a:off x="539496" y="2212379"/>
            <a:ext cx="1322827" cy="693329"/>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212379"/>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Внимание</a:t>
            </a:r>
          </a:p>
        </p:txBody>
      </p:sp>
      <p:sp>
        <p:nvSpPr>
          <p:cNvPr id="14" name="Rectangle 13"/>
          <p:cNvSpPr/>
          <p:nvPr/>
        </p:nvSpPr>
        <p:spPr>
          <a:xfrm>
            <a:off x="1862323" y="2212379"/>
            <a:ext cx="6704198" cy="693329"/>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2008627" y="2212379"/>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охват снимка 11,1 → 9,5 % площади, разница значима; цена сужения 32 пункта, 71 → 39</a:t>
            </a:r>
          </a:p>
        </p:txBody>
      </p:sp>
      <p:sp>
        <p:nvSpPr>
          <p:cNvPr id="16" name="Rectangle 15"/>
          <p:cNvSpPr/>
          <p:nvPr/>
        </p:nvSpPr>
        <p:spPr>
          <a:xfrm>
            <a:off x="8566521" y="2212379"/>
            <a:ext cx="3085677" cy="693329"/>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712825" y="2212379"/>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лабораторный замер взгляда</a:t>
            </a:r>
          </a:p>
        </p:txBody>
      </p:sp>
      <p:sp>
        <p:nvSpPr>
          <p:cNvPr id="18" name="Rectangle 17"/>
          <p:cNvSpPr/>
          <p:nvPr/>
        </p:nvSpPr>
        <p:spPr>
          <a:xfrm>
            <a:off x="539496" y="2905708"/>
            <a:ext cx="1322827" cy="693329"/>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905708"/>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Навык</a:t>
            </a:r>
          </a:p>
        </p:txBody>
      </p:sp>
      <p:sp>
        <p:nvSpPr>
          <p:cNvPr id="20" name="Rectangle 19"/>
          <p:cNvSpPr/>
          <p:nvPr/>
        </p:nvSpPr>
        <p:spPr>
          <a:xfrm>
            <a:off x="1862323" y="2905708"/>
            <a:ext cx="6704198" cy="693329"/>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2008627" y="2905708"/>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28,4 → 22,4 из ста у тех же девятнадцати врачей</a:t>
            </a:r>
          </a:p>
        </p:txBody>
      </p:sp>
      <p:sp>
        <p:nvSpPr>
          <p:cNvPr id="22" name="Rectangle 21"/>
          <p:cNvSpPr/>
          <p:nvPr/>
        </p:nvSpPr>
        <p:spPr>
          <a:xfrm>
            <a:off x="8566521" y="2905708"/>
            <a:ext cx="3085677" cy="693329"/>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712825" y="2905708"/>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наблюдательное, однажды и спорно</a:t>
            </a:r>
          </a:p>
        </p:txBody>
      </p:sp>
      <p:sp>
        <p:nvSpPr>
          <p:cNvPr id="24" name="Rectangle 23"/>
          <p:cNvSpPr/>
          <p:nvPr/>
        </p:nvSpPr>
        <p:spPr>
          <a:xfrm>
            <a:off x="539496" y="3599038"/>
            <a:ext cx="1322827" cy="69332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599038"/>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Подпись</a:t>
            </a:r>
          </a:p>
        </p:txBody>
      </p:sp>
      <p:sp>
        <p:nvSpPr>
          <p:cNvPr id="26" name="Rectangle 25"/>
          <p:cNvSpPr/>
          <p:nvPr/>
        </p:nvSpPr>
        <p:spPr>
          <a:xfrm>
            <a:off x="1862323" y="3599038"/>
            <a:ext cx="6704198" cy="69332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008627" y="3599038"/>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56 из 717; девять машинных эпикризов из одиннадцати с ошибкой</a:t>
            </a:r>
          </a:p>
        </p:txBody>
      </p:sp>
      <p:sp>
        <p:nvSpPr>
          <p:cNvPr id="28" name="Rectangle 27"/>
          <p:cNvSpPr/>
          <p:nvPr/>
        </p:nvSpPr>
        <p:spPr>
          <a:xfrm>
            <a:off x="8566521" y="3599038"/>
            <a:ext cx="3085677" cy="69332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712825" y="3599038"/>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перепись изделий; качество заметок</a:t>
            </a:r>
          </a:p>
        </p:txBody>
      </p:sp>
      <p:sp>
        <p:nvSpPr>
          <p:cNvPr id="30" name="Rectangle 29"/>
          <p:cNvSpPr/>
          <p:nvPr/>
        </p:nvSpPr>
        <p:spPr>
          <a:xfrm>
            <a:off x="539496" y="4292367"/>
            <a:ext cx="1322827" cy="69332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92367"/>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Арбитраж</a:t>
            </a:r>
          </a:p>
        </p:txBody>
      </p:sp>
      <p:sp>
        <p:nvSpPr>
          <p:cNvPr id="32" name="Rectangle 31"/>
          <p:cNvSpPr/>
          <p:nvPr/>
        </p:nvSpPr>
        <p:spPr>
          <a:xfrm>
            <a:off x="1862323" y="4292367"/>
            <a:ext cx="6704198" cy="69332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2008627" y="4292367"/>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2 мин 12 с против 48 с; объём +53 % (разброс 22–142)</a:t>
            </a:r>
          </a:p>
        </p:txBody>
      </p:sp>
      <p:sp>
        <p:nvSpPr>
          <p:cNvPr id="34" name="Rectangle 33"/>
          <p:cNvSpPr/>
          <p:nvPr/>
        </p:nvSpPr>
        <p:spPr>
          <a:xfrm>
            <a:off x="8566521" y="4292367"/>
            <a:ext cx="3085677" cy="69332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712825" y="4292367"/>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записи рабочего времени программы</a:t>
            </a:r>
          </a:p>
        </p:txBody>
      </p:sp>
      <p:sp>
        <p:nvSpPr>
          <p:cNvPr id="36" name="TextBox 35"/>
          <p:cNvSpPr txBox="1"/>
          <p:nvPr/>
        </p:nvSpPr>
        <p:spPr>
          <a:xfrm>
            <a:off x="539496" y="5132000"/>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Оплачены неровно:</a:t>
            </a:r>
            <a:r>
              <a:rPr sz="1500" b="0" i="0">
                <a:solidFill>
                  <a:srgbClr val="21295C"/>
                </a:solidFill>
                <a:latin typeface="Arial"/>
              </a:rPr>
              <a:t> внимание и арбитраж — крупные выборки; навык — одно спорное наблюдение, подпись — доля процедур, не исход пациента.</a:t>
            </a:r>
          </a:p>
        </p:txBody>
      </p:sp>
      <p:sp>
        <p:nvSpPr>
          <p:cNvPr id="37" name="TextBox 36"/>
          <p:cNvSpPr txBox="1"/>
          <p:nvPr/>
        </p:nvSpPr>
        <p:spPr>
          <a:xfrm>
            <a:off x="539496" y="5882486"/>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Разделы 2 и 9 не платят ни одного адреса:</a:t>
            </a:r>
            <a:r>
              <a:rPr sz="1500" b="0" i="0">
                <a:solidFill>
                  <a:srgbClr val="21295C"/>
                </a:solidFill>
                <a:latin typeface="Arial"/>
              </a:rPr>
              <a:t> рядом с моделью там никто не работает.</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ЧЕТВЁРТАЯ СТУПЕНЬ, ОНА ЖЕ ЧАСТАЯ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вне медицины</a:t>
            </a:r>
          </a:p>
        </p:txBody>
      </p:sp>
      <p:sp>
        <p:nvSpPr>
          <p:cNvPr id="8" name="Rounded Rectangle 7"/>
          <p:cNvSpPr/>
          <p:nvPr/>
        </p:nvSpPr>
        <p:spPr>
          <a:xfrm>
            <a:off x="374904" y="2592217"/>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расхождение идёт в арбитраж. </a:t>
            </a:r>
            <a:r>
              <a:rPr sz="1500" b="0" i="1">
                <a:solidFill>
                  <a:srgbClr val="21295C"/>
                </a:solidFill>
                <a:latin typeface="Arial"/>
              </a:rPr>
              <a:t>Рандомизированное испытание.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меняется на неверное. </a:t>
            </a:r>
            <a:r>
              <a:rPr sz="1500" b="0" i="1">
                <a:solidFill>
                  <a:srgbClr val="21295C"/>
                </a:solidFill>
                <a:latin typeface="Arial"/>
              </a:rPr>
              <a:t>Замер взгляда и обзор.</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отмеченное, остальное проходит мимо. </a:t>
            </a:r>
            <a:r>
              <a:rPr sz="1500" b="0" i="1">
                <a:solidFill>
                  <a:srgbClr val="21295C"/>
                </a:solidFill>
                <a:latin typeface="Arial"/>
              </a:rPr>
              <a:t>Обзор отклонений.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и ход дешёвый: </a:t>
            </a:r>
            <a:r>
              <a:rPr sz="1500" b="1" i="0">
                <a:solidFill>
                  <a:srgbClr val="21295C"/>
                </a:solidFill>
                <a:latin typeface="Arial"/>
              </a:rPr>
              <a:t>согласие с подсказкой при разборе случая оценивают выше отказа.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формальнее участие, тем слабее свидетельство:</a:t>
            </a:r>
            <a:r>
              <a:rPr sz="1500" b="0" i="0">
                <a:solidFill>
                  <a:srgbClr val="21295C"/>
                </a:solidFill>
                <a:latin typeface="Arial"/>
              </a:rPr>
              <a:t> про четвёртую ступень, она же частая, известно меньше всего. </a:t>
            </a:r>
            <a:r>
              <a:rPr sz="1500" b="1" i="0">
                <a:solidFill>
                  <a:srgbClr val="21295C"/>
                </a:solidFill>
                <a:latin typeface="Arial"/>
              </a:rPr>
              <a:t>Исхода пациента нет ни у одного разбора ядра.</a:t>
            </a:r>
          </a:p>
        </p:txBody>
      </p:sp>
      <p:sp>
        <p:nvSpPr>
          <p:cNvPr id="11" name="Rectangle 10"/>
          <p:cNvSpPr/>
          <p:nvPr/>
        </p:nvSpPr>
        <p:spPr>
          <a:xfrm>
            <a:off x="6091275" y="2683657"/>
            <a:ext cx="9144" cy="25542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a:t>
            </a:r>
            <a:r>
              <a:rPr sz="1550" b="1" i="0">
                <a:solidFill>
                  <a:srgbClr val="21295C"/>
                </a:solidFill>
                <a:latin typeface="Arial"/>
              </a:rPr>
              <a:t>Почему подписывает человек — и чем это подтверждено</a:t>
            </a:r>
            <a:r>
              <a:rPr sz="1550" b="0" i="0">
                <a:solidFill>
                  <a:srgbClr val="21295C"/>
                </a:solidFill>
                <a:latin typeface="Arial"/>
              </a:rPr>
              <a:t> · 2. </a:t>
            </a:r>
            <a:r>
              <a:rPr sz="1550" b="1" i="0">
                <a:solidFill>
                  <a:srgbClr val="21295C"/>
                </a:solidFill>
                <a:latin typeface="Arial"/>
              </a:rPr>
              <a:t>Изделие отзовут. Решения этого года останутся</a:t>
            </a:r>
            <a:r>
              <a:rPr sz="1550" b="0" i="0">
                <a:solidFill>
                  <a:srgbClr val="21295C"/>
                </a:solidFill>
                <a:latin typeface="Arial"/>
              </a:rPr>
              <a:t> · 3. </a:t>
            </a:r>
            <a:r>
              <a:rPr sz="1550" b="1" i="0">
                <a:solidFill>
                  <a:srgbClr val="21295C"/>
                </a:solidFill>
                <a:latin typeface="Arial"/>
              </a:rPr>
              <a:t>Три проверки для любой отрасли — и вопрос</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вмешаться способны 56 изделий из 717</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июнь 2024</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298264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у каждого свой разряд:</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комиссия оценивает действия человека; вопроса о модели в этой процедуре нет</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07408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3179513"/>
          </a:xfrm>
          <a:prstGeom prst="roundRect">
            <a:avLst>
              <a:gd name="adj" fmla="val 9586"/>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777240" y="1644954"/>
            <a:ext cx="3303727" cy="1298581"/>
          </a:xfrm>
          <a:prstGeom prst="rect">
            <a:avLst/>
          </a:prstGeom>
          <a:noFill/>
        </p:spPr>
        <p:txBody>
          <a:bodyPr wrap="square" lIns="0" rIns="0" tIns="0" bIns="0" anchor="t">
            <a:spAutoFit/>
          </a:bodyPr>
          <a:lstStyle/>
          <a:p>
            <a:pPr algn="ctr">
              <a:lnSpc>
                <a:spcPct val="102000"/>
              </a:lnSpc>
            </a:pPr>
            <a:r>
              <a:rPr sz="8100" b="1" i="0">
                <a:solidFill>
                  <a:srgbClr val="21295C"/>
                </a:solidFill>
                <a:latin typeface="Arial"/>
              </a:rPr>
              <a:t>43,4 %</a:t>
            </a:r>
          </a:p>
        </p:txBody>
      </p:sp>
      <p:sp>
        <p:nvSpPr>
          <p:cNvPr id="8" name="Rectangle 7"/>
          <p:cNvSpPr/>
          <p:nvPr/>
        </p:nvSpPr>
        <p:spPr>
          <a:xfrm>
            <a:off x="1697583" y="3162991"/>
            <a:ext cx="1463040" cy="68580"/>
          </a:xfrm>
          <a:prstGeom prst="rect">
            <a:avLst/>
          </a:prstGeom>
          <a:solidFill>
            <a:srgbClr val="F0AB00"/>
          </a:solidFill>
          <a:ln>
            <a:noFill/>
          </a:ln>
          <a:effectLst/>
        </p:spPr>
        <p:txBody>
          <a:bodyPr rtlCol="0" anchor="ctr"/>
          <a:lstStyle/>
          <a:p>
            <a:pPr algn="ctr"/>
          </a:p>
        </p:txBody>
      </p:sp>
      <p:sp>
        <p:nvSpPr>
          <p:cNvPr id="9" name="TextBox 8"/>
          <p:cNvSpPr txBox="1"/>
          <p:nvPr/>
        </p:nvSpPr>
        <p:spPr>
          <a:xfrm>
            <a:off x="777240" y="3341299"/>
            <a:ext cx="3303727" cy="583434"/>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отзывов приходится на первые 12 месяцев после допуска</a:t>
            </a:r>
          </a:p>
        </p:txBody>
      </p:sp>
      <p:sp>
        <p:nvSpPr>
          <p:cNvPr id="10" name="TextBox 9"/>
          <p:cNvSpPr txBox="1"/>
          <p:nvPr/>
        </p:nvSpPr>
        <p:spPr>
          <a:xfrm>
            <a:off x="777240" y="4016174"/>
            <a:ext cx="3303727" cy="259653"/>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79 из 182 событий, 60 изделий из 950</a:t>
            </a:r>
          </a:p>
        </p:txBody>
      </p:sp>
      <p:sp>
        <p:nvSpPr>
          <p:cNvPr id="11" name="Rounded Rectangle 10"/>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3" name="Rectangle 12"/>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