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Чем эта лекция отличается от прошлой по предмету: там накопленное считалось в изделиях, здесь — в людях. Партию бракованных деталей отзывают; принятое клиническое решение отозвать нельзя, даже когда ошибку нашли сразу после. Это меняет саму постановку вопроса о цене ошибки, и курс идёт в медицину вторым не случайно — чтобы цена отказа стала видна по контрасту.</a:t>
            </a:r>
          </a:p>
          <a:p>
            <a:r>
              <a:t/>
            </a:r>
          </a:p>
          <a:p>
            <a:r>
              <a:t>Что значит «процедура удерживает цену ошибки»: двойное чтение снимка, второе мнение коллеги, консилиум при спорном случае, информированное согласие перед вмешательством — ни одно из этих устройств не придумано ради искусственного интеллекта. Все они существовали задолго до него и решали одну задачу: чтобы ошибка одного человека не стала окончательным решением без проверки. Модель входит в уже сложившуюся процедуру, а не строит свою заново, и именно поэтому интересный вопрос — не «умеет ли модель», а что происходит с самой процедурой и с человеком внутри неё, когда рядом появляется ещё один участник, который не устаёт, не сомневается и не просит паузы.</a:t>
            </a:r>
          </a:p>
          <a:p>
            <a:r>
              <a:t/>
            </a:r>
          </a:p>
          <a:p>
            <a:r>
              <a:t>Почему именно медицина идёт после машиностроения: предмет тот же — та же пара вопросов «что стоит пропуск» и «что стоит ложная тревога», то же устройство разбора через цену обеих ошибок. Граница допустимого риска при этом проведена в другом месте, и увидеть это можно только по контрасту с уже разобранной отраслью, а не абстрактным рассуждением.</a:t>
            </a:r>
          </a:p>
          <a:p>
            <a:r>
              <a:t/>
            </a:r>
          </a:p>
          <a:p>
            <a:r>
              <a:t>Что стоит унести с этого кадра, даже если к концу вечера забудутся все числа: вопрос звучит не «человек в контуре или нет», а предметно — что именно в каждом конкретном случае делает человек после того, как модель уже посмотрела. Ответ на этот вопрос и собирает вечер, случай за случаем, предъявляя не оценку инструмента, а то, что он сделал с работой вокруг себя.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Хребет лекции собран как путь одного решения о человеке, а не как каталог применений: каталог отвечает на вопрос «что бывает», путь — на вопрос «где за это платят». Раздел «Отбор» открывает вечер, потому что раньше всякого диагноза кто-то решает, попадёт ли человек в поле зрения вообще. Дальше — «Анализ данных»: что именно измерили и на какой группе это посчитано, потому что число без группы ничего не говорит. «Постановка диагноза» разбирает, что происходит, когда человек читает рядом с моделью, а не вместо неё. «Наблюдение за состоянием» — кто вообще заметит ухудшение, если оно начнётся между визитами. «Ведение записи» — кто прочтёт сделанную запись потом, и в каком виде. «Чем удерживают» — какая подпись, какая процедура и какой норматив держат решение на месте, если что-то пойдёт не так. «Разработка лекарства» — где именно удешевили начало цикла и где после этого образовалось узкое место. «Что стало с теми, кто решает» — что происходит с навыком человека, который годами работает рядом с моделью. «Сборка» возвращает счёт по всем разделам сразу, а «Закрытие» — обязательство, заявленное в начале вечера.</a:t>
            </a:r>
          </a:p>
          <a:p>
            <a:r>
              <a:t/>
            </a:r>
          </a:p>
          <a:p>
            <a:r>
              <a:t>Последняя позиция списка, наравне с разделами, — вопросы: так показано, что время на них отведено, без единой минуты на экране.</a:t>
            </a:r>
          </a:p>
          <a:p>
            <a:r>
              <a:t/>
            </a:r>
          </a:p>
          <a:p>
            <a:r>
              <a:t>Три разграничения в подвале — честный адрес, по которому тема закрывается, и дешевле сказать его сейчас, чем отбиваться от вопроса в середине вечера: производство лекарственной формы — предмет другой лекции, про производственную линию; устройство предсказания структуры белка в этом вечере встречается только как готовый инструмент на столе исследователя, а разбирает его как метод и как научное событие отдельная лекция про научный цикл; цифровые двойники — обещание отдельной лекции, и оно подтверждается, а не отменяется.</a:t>
            </a:r>
          </a:p>
          <a:p>
            <a:r>
              <a:t/>
            </a:r>
          </a:p>
          <a:p>
            <a:r>
              <a:t>Два прочерка рядом с тремя разграничениями: назначение и лечение — предмет уже разобран в Лекции 5, и вечер к нему не возвращается; оперативная помощь — такая работа существует, но измеренного материала по ней у этой лекции нет, и прочерк здесь честнее, чем слайд из воздуха.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стоит первым в хребте вечера не по алфавиту, а по месту в работе: дальше лекция разбирает решения о человеке, который уже попал в поле зрения, а здесь решается, попадёт ли он вообще — и это решение принимается до всякого диагноза, часто без врача и всегда без участия самого пациента в момент, когда оно принимается.</a:t>
            </a:r>
          </a:p>
          <a:p>
            <a:r>
              <a:t/>
            </a:r>
          </a:p>
          <a:p>
            <a:r>
              <a:t>Два разбора раздела показывают эту работу с двух разных сторон одной и той же задачи — сортировки потока, кого вообще стоит посмотреть внимательнее. «Пример 1: чат-бот первой линии» — случай, где модель (или то, что ею называли) встала на входе в поток обращений и решала, кого направить, а кого нет; разбор идёт через то, что предъявили публично, и через то, что это стоило каналу обращений, когда удешевлённый вход изменил само число людей, которые решили обратиться. «Пример 2: отбор в программу повышенного внимания по предсказанным расходам» — случай, где критерием отбора в программу для самых тяжёлых пациентов стала не тяжесть болезни напрямую, а предсказанные будущие расходы на лечение, и этот выбор целевой переменной незаметно меняет, кого именно модель считает «достаточно больным», чтобы включить в программу.</a:t>
            </a:r>
          </a:p>
          <a:p>
            <a:r>
              <a:t/>
            </a:r>
          </a:p>
          <a:p>
            <a:r>
              <a:t>Общее между разборами — не тема и не отрасль, а то, что оба показывают: отбор решает не только «кого лечить», но прежде — «кого вообще стоит заметить», и ошибка на этом шаге не видна там, где её обычно ищут, потому что она случается раньше любого диагноза и любого измерения точности.</a:t>
            </a:r>
          </a:p>
          <a:p>
            <a:r>
              <a:t/>
            </a:r>
          </a:p>
          <a:p>
            <a:r>
              <a:t>Снимок рядом — настоящий кабинет чтения снимков с двумя рабочими местами и маммографическими мониторами: работа отбора выглядит именно так — не драматично, а буднично, и именно в этой будничности она чаще всего и остаётся незамеченной.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открывается границей, которую мы только что провели: в разделе 1 система решала, кого вообще посмотреть; здесь система не просто смотрит — она меряет и сама выносит заключение по измеренному. Отличие от раздела 3 принципиальное: там заключение по данным делает человек, здесь — машина. Граница проходит не по модальности данных и не по сложности алгоритма, а по тому, кто подписывает результат измерения.</a:t>
            </a:r>
          </a:p>
          <a:p>
            <a:r>
              <a:t/>
            </a:r>
          </a:p>
          <a:p>
            <a:r>
              <a:t>Раздел держится на одной идее, которую трудно удержать в голове при чтении рекламных материалов: любая доля — чувствительность, специфичность, точность — посчитана на конкретной группе людей, и при переносе этой доли на другую группу она перестаёт означать то же самое. Поэтому первые кадры раздела — не кейсы, а определения: что такое чувствительность и специфичность без привязки к конкретной болезни, и что происходит с одними и теми же долями системы на двух разных группах — поголовном скрининге и профильном отделении.</a:t>
            </a:r>
          </a:p>
          <a:p>
            <a:r>
              <a:t/>
            </a:r>
          </a:p>
          <a:p>
            <a:r>
              <a:t>Первый разбор — «Техник флюорографии и годность снимка» — начинается с человека, которого легко узнать: техник в районной поликлинике, который решает, годится снимок для чтения или нет. Тот же вопрос — кто решает годность измерения — встаёт в развёрнутом виде в автономном чтении снимков глазного дна: когда решение о годности снимка и решение о диагнозе принимает одно и то же устройство, у этого устройства должна быть мера того, что оно не готово решать.</a:t>
            </a:r>
          </a:p>
          <a:p>
            <a:r>
              <a:t/>
            </a:r>
          </a:p>
          <a:p>
            <a:r>
              <a:t>Второй разбор — «Глазное дно без офтальмолога» — про то же устройство, но с другой стороны: не про годность снимка, а про то, что прежде чем мерить и решать, снимок вообще должен появиться, и это меняет, кто до теста доходит.</a:t>
            </a:r>
          </a:p>
          <a:p>
            <a:r>
              <a:t/>
            </a:r>
          </a:p>
          <a:p>
            <a:r>
              <a:t>Третий разбор — «Кожа и состав набора» — показывает ту же проблему группы с другой модальностью измерения: набор, на котором обучена и проверена модель, редко повторяет состав населения, на котором она потом работает.</a:t>
            </a:r>
          </a:p>
          <a:p>
            <a:r>
              <a:t/>
            </a:r>
          </a:p>
          <a:p>
            <a:r>
              <a:t>Раздел заканчивается картой стадии и выводом: польза раздела — постоянство измерения там, где человек устаёт; граница — она же заявлена группой, на которой измерение посчитано.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переходит через ту же границу, что отделила раздел 2 от раздела 1, только с другой стороны: здесь данные уже измерены и прочитаны системой, но заключение — диагноз — подписывает человек. Подсказка модели встаёт рядом со снимком, и вопрос раздела в том, что именно человек теперь смотрит: сам снимок, подсказку, или уже не то и не другое, а привычку доверять экрану.</a:t>
            </a:r>
          </a:p>
          <a:p>
            <a:r>
              <a:t/>
            </a:r>
          </a:p>
          <a:p>
            <a:r>
              <a:t>Первый разбор, «Замер взгляда радиолога», берёт инструмент, который редко применяют в разборах такого рода, — айтрекер. Он показывает механику того, что обычно описывают словом «автоматизационное искажение»: при ложной подсказке взгляд радиолога на самом поражении задерживается реже, и это измерено в движении глаз, а не в опросе после просмотра.</a:t>
            </a:r>
          </a:p>
          <a:p>
            <a:r>
              <a:t/>
            </a:r>
          </a:p>
          <a:p>
            <a:r>
              <a:t>Второй разбор, «Одна подсказка с двумя знаками», показывает то же устройство эффекта на уровне решения, а не взгляда: одна и та же подсказка модели по срезу в патологии поднимает шансы верного ответа вчетверо, когда модель права, и роняет вчетверо, когда неправа. Знак эффекта зависит не от модели вообще, а от конкретного случая.</a:t>
            </a:r>
          </a:p>
          <a:p>
            <a:r>
              <a:t/>
            </a:r>
          </a:p>
          <a:p>
            <a:r>
              <a:t>Третий разбор, «Измеренная тройка», ставит рядом три числа на одних и тех же случаях: модель в одиночку, врач в одиночку, врач с моделью. Разрыв между третьим и первым — то, ради чего часто покупают систему; разрыв между третьим и вторым — то, что она реально даёт.</a:t>
            </a:r>
          </a:p>
          <a:p>
            <a:r>
              <a:t/>
            </a:r>
          </a:p>
          <a:p>
            <a:r>
              <a:t>Четвёртый разбор, «Контрольная линия», — единственный в разделе случай предрегистрированного скринингового испытания с реальным объёмом: объём человеческого чтения падает почти наполовину, и это измерено, а не оценено.</a:t>
            </a:r>
          </a:p>
          <a:p>
            <a:r>
              <a:t/>
            </a:r>
          </a:p>
          <a:p>
            <a:r>
              <a:t>Раздел держит одну методическую линию: пара «человек плюс модель» не равна ни человеку, ни модели в отдельности, и какая сторона в итоге перевешивает, нельзя сказать заранее, не замерив — обычно замеряют что угодно, кроме этого.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лекция разбирала разовое решение: прочитать снимок, поставить диагноз, назначить лечение. Наблюдение — работа другого устройства. Предмет тот же человек, но решение не принимается один раз, а повторяется каждые несколько часов, и ошибка здесь не однократная, а накапливающаяся: пропущенное ухудшение не остаётся пропущенным навсегда, оно просто замечено не вовремя.</a:t>
            </a:r>
          </a:p>
          <a:p>
            <a:r>
              <a:t/>
            </a:r>
          </a:p>
          <a:p>
            <a:r>
              <a:t>Классический вид этой работы держится тремя вещами: расписанием измерений, балльной шкалой, которая переводит несколько показателей в одно число, и порогом, на котором дежурная смена обязана вызвать старшего. Все три — документ, а не прибор: баллы назначила согласительная комиссия, порог опубликован, и любой может посмотреть, почему решение такое.</a:t>
            </a:r>
          </a:p>
          <a:p>
            <a:r>
              <a:t/>
            </a:r>
          </a:p>
          <a:p>
            <a:r>
              <a:t>Именно сюда и заходит модель: данные уже лежат в карте в машинном виде, снимать их отдельно не нужно. Вместо дежурной смены, которая раз в несколько часов складывает показатели в одно число, карта сама считает балл риска непрерывно и сама решает, когда прерывать работу тревогой.</a:t>
            </a:r>
          </a:p>
          <a:p>
            <a:r>
              <a:t/>
            </a:r>
          </a:p>
          <a:p>
            <a:r>
              <a:t>Раздел разбирает один случай — модель раннего предупреждения о сепсисе, встроенную в медицинскую карту, — и держит его на четырёх экранах: что заявлено и что измерила независимая проверка; чего стоит поток тревог и как это против шкалы, которую модель заменила; подтвердила ли это вторая, независимая проверка; и что это дало, чего потребовало и что было дальше. Один случай, разобранный подробно, — не три случая, разобранных бегло.</a:t>
            </a:r>
          </a:p>
          <a:p>
            <a:r>
              <a:t/>
            </a:r>
          </a:p>
          <a:p>
            <a:r>
              <a:t>Два экрана перед разбором ставят классику на место: как сегодня выглядит обход и запись в лист наблюдения, и как устроена шкала, которую десятилетиями читали руками. Без них разбор модели был бы сравнением с нулём, а не с работающим режимом, и именно эту ошибку курс ловит у других.</a:t>
            </a:r>
          </a:p>
          <a:p>
            <a:r>
              <a:t/>
            </a:r>
          </a:p>
          <a:p>
            <a:r>
              <a:t>Снимок рядом — сестринский пост с монитором показателей: место, где решение «звать врача сейчас или на следующем обходе» принималось и принимается до сих пор, с моделью или без неё.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Наблюдение искало ухудшение в цифрах; эта работа устроена иначе. Решение по ней принимает не прибор и не дежурная смена, а человек, который читает документ позже, иногда через месяцы, и не видел пациента лично. Качество записи для него — не стиль, а единственный канал, через который к нему попадает чужое решение.</a:t>
            </a:r>
          </a:p>
          <a:p>
            <a:r>
              <a:t/>
            </a:r>
          </a:p>
          <a:p>
            <a:r>
              <a:t>Классический вид этой работы — диктовка под шаблон или набор текста руками сразу после приёма, с подписью в конце. Модель входит в неё с двух сторон. Первая — запись самого приёма: инструмент слушает разговор и отдаёт черновик заметки, врач вычитывает и подписывает. Вторая — запись исхода госпитализации целиком: модель собирает выписной документ по истории болезни, врач снова вычитывает и подписывает, и дальше по этому документу назначают лечение в другом месте.</a:t>
            </a:r>
          </a:p>
          <a:p>
            <a:r>
              <a:t/>
            </a:r>
          </a:p>
          <a:p>
            <a:r>
              <a:t>Оба разбора держатся одной и той же формой. Классический режим посчитан отдельно от заявленного эффекта модели; измеренный эффект — рандомизированным испытанием или слепым сравнением, а не самоотчётом тех, кто сам выбрал инструмент; и у каждого названа пара — что стало возможно и чего это потребовало.</a:t>
            </a:r>
          </a:p>
          <a:p>
            <a:r>
              <a:t/>
            </a:r>
          </a:p>
          <a:p>
            <a:r>
              <a:t>Разбор записи приёма показывает, как заявленная экономия времени и измеренный результат — две разные величины, посчитанные в разных единицах. Разбор выписного эпикриза идёт дальше: счёт ошибок у модели и у человека сопоставим, но устройство ошибки другое — не опечатка, а правдоподобно звучащая подробность, которой не было в истории. Прежний навык вычитки «как после коллеги» на этот документ не переносится.</a:t>
            </a:r>
          </a:p>
          <a:p>
            <a:r>
              <a:t/>
            </a:r>
          </a:p>
          <a:p>
            <a:r>
              <a:t>Раздел заканчивается документом, а документ в медицине почти всегда стоит под чьей-то подписью. Это и есть мост к следующему разделу: чем вообще удерживают цену ошибки, если решение уже принято и записано.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Раздел, который открывает этот дивайдер, продолжает прямую линию от записи к подписи. Эпикриз из прошлого раздела — документ, у которого есть автор и подпись лечащего врача; то же самое верно для заключения по снимку, для плана лечения, для любого решения, в котором участвовала модель. Вопрос этого раздела простой и неудобный: что стоит за этой подписью, кроме самого акта подписания.</a:t>
            </a:r>
          </a:p>
          <a:p>
            <a:r>
              <a:t/>
            </a:r>
          </a:p>
          <a:p>
            <a:r>
              <a:t>Первый механизм — врачебная комиссия. Она не разбирает, пользовался ли врач алгоритмом; она разбирает, соответствовали ли его действия утверждённому порядку оказания помощи. Если соответствовали — ответственность не наступает, даже если исход оказался плохим. Модель в этой процедуре присутствует ровно в той мере, в какой её вывод попал в карту пациента и мог повлиять на решение.</a:t>
            </a:r>
          </a:p>
          <a:p>
            <a:r>
              <a:t/>
            </a:r>
          </a:p>
          <a:p>
            <a:r>
              <a:t>Второй механизм — норма, которая требует, чтобы человек оставался последним звеном: способным понять ограничения системы, не согласиться с её выводом и остановить её. Разбор «Норма есть, проверки нет» показывает, как редко эту способность проверяют на практике до того, как устройство допустят к продаже: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— подавляющее большинство допущено без такой проверки вовсе.</a:t>
            </a:r>
          </a:p>
          <a:p>
            <a:r>
              <a:t/>
            </a:r>
          </a:p>
          <a:p>
            <a:r>
              <a:t>Третий механизм — то, что происходит, когда модель продолжает обучаться уже после допуска. Обзор «Модель, которая меняется после допуска» называет три инструмента регулятора: заранее утверждённый план будущих изменений модели, передачу данных о работе устройства регулятору и перенесённые сроки обязательной отчётности в европейском регламенте об ИИ. У этого обзора нет формы разбора в словаре курса, и это не недостаток материала: он описывает надзорный механизм, а не измеренное изменение работы, и сказать об этом прямо — часть самого раздела.</a:t>
            </a:r>
          </a:p>
          <a:p>
            <a:r>
              <a:t/>
            </a:r>
          </a:p>
          <a:p>
            <a:r>
              <a:t>Раздел заканчивается тем же, с чего начинается: удерживает не сама по себе подпись, а то, что стоит за ней — время прочитать вывод, способность с ним не согласиться и процедура, в которой это несогласие что-то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Химик-синтетик получает миллиграммы вещества. Тот же порошок через полгода едет в виварий на токсикологию. Ещё через год координатор исследования часами пишет наблюдения по одному здоровому добровольцу первой фазы. Три человека, три места, одно вещество, и между первым эпизодом и третьим проходит около двух лет. Этот раздел начинается с этой картины не случайно: дальше пойдут проценты и доли, и за каждым из них стоит такая же работа руками.</a:t>
            </a:r>
          </a:p>
          <a:p>
            <a:r>
              <a:t/>
            </a:r>
          </a:p>
          <a:p>
            <a:r>
              <a:t>Отраслевая база нужна раньше любого числа про модель: из программ, вошедших в первую фазу, лекарством становится меньше одной десятой, и отсев плотнее всего в середине пути — не в начале и не в конце, — при переходе из второй фазы в третью. Это и есть счёт классического режима, с которым сравнивается всё остальное.</a:t>
            </a:r>
          </a:p>
          <a:p>
            <a:r>
              <a:t/>
            </a:r>
          </a:p>
          <a:p>
            <a:r>
              <a:t>Три разбора вечера проверяют один и тот же вопрос на разном материале. Первый — молекула, спроектированная моделью целиком: доклинический этап у неё занял меньше года против нескольких лет отраслевой нормы, она вошла в клинику человека, а затем была снята на первой фазе — ускорение одного шага не ускорило и не гарантировало следующий. Второй — воронка молекул, в происхождении которых участвовала обученная модель: десятки активов вошли в клинику, часть дошла до второй фазы, а одобрений регулятора за всё время существования категории — ноль. Третий — компания, которая публично обещала доводить препараты до регистрации самостоятельно, нашла молекулу через граф биомедицинских связей и потеряла сотни рабочих мест, когда клиническое испытание не показало эффекта, который модель бизнеса обещала считать предрешённым.</a:t>
            </a:r>
          </a:p>
          <a:p>
            <a:r>
              <a:t/>
            </a:r>
          </a:p>
          <a:p>
            <a:r>
              <a:t>Отдельно в разделе стоит эпизод про предсказание структуры белка: ожидание, что экспериментальная структурная биология сожмётся после его появления, не подтвердилось числами депозитария — это оговорка против рекламы, и она держится не на мнении, а на статистике.</a:t>
            </a:r>
          </a:p>
          <a:p>
            <a:r>
              <a:t/>
            </a:r>
          </a:p>
          <a:p>
            <a:r>
              <a:t>Производство лекарственной формы на линии — отдельная тема курса, и в этот раздел она не входит. Важно удержать одну границу до первого разбора: это работа на масштабе отрасли, а не решение о конкретном человеке у койки, и переносить выводы одного масштаба на другой здесь запрещено так же, как и в остальных разделах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стоит после лекарства и перед сборкой не по случайности порядка, а потому что отвечает на вопрос, который все предыдущие разделы оставили открытым. Раздел про лекарство закончился выводом: узкое место лежит не на шаге, который ускорили, а на шаге, которого никто не трогал. Эта же мысль здесь поворачивается на человека: есть ещё один шаг, которого никто не трогал, — сам человек, который решает. Весь вечер измеряли отрасль: поток тревог, документ, воронку. Ни один из этих замеров не говорит, что происходит с тем, кто внутри этой работы остаётся решающим звеном.</a:t>
            </a:r>
          </a:p>
          <a:p>
            <a:r>
              <a:t/>
            </a:r>
          </a:p>
          <a:p>
            <a:r>
              <a:t>Раздел отличается от общего разговора о влиянии техники на людей тем, что в нём есть числа, снятые на реальной работе, а не домыслы о будущем или общие тревоги. Чисел мало, и именно поэтому они дорогие: единственное прямое измерение деквалификации на реальной, а не лабораторной работе случилось один раз, и повторения у него нет. Раздел называет это прямо, не прячет и не смягчает.</a:t>
            </a:r>
          </a:p>
          <a:p>
            <a:r>
              <a:t/>
            </a:r>
          </a:p>
          <a:p>
            <a:r>
              <a:t>Три предмета раздела идут по порядку. Сначала — доля обнаружения, измеренная у тех же врачей до появления помощника и после периода работы с ним: единственное прямое свидетельство того, что навык расходуется, если инструмент исключить из работы. Затем — кто теперь исполнитель: какие новые роли и шаги появились в процессе, когда часть решения стала доверяться модели. И наконец — то, чего про доверие не измерено вовсе: раздел не стесняется сказать, где у него нет данных, а есть только предположение.</a:t>
            </a:r>
          </a:p>
          <a:p>
            <a:r>
              <a:t/>
            </a:r>
          </a:p>
          <a:p>
            <a:r>
              <a:t>Это последний материал содержания вечера: дальше в деке — только свод. Поэтому раздел закрывает не тему, а саму ось лекции, и закрывает её тем же приёмом, которым лекция весь вечер читает чужие числа: называет, что измерено, а что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{{заметки: пишутся после сведения главы}}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11185855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0" i="0">
                <a:solidFill>
                  <a:srgbClr val="21295C"/>
                </a:solidFill>
                <a:latin typeface="Arial"/>
              </a:rPr>
              <a:t>AI в медицине и фармацевтике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3400" b="0" i="0">
                <a:solidFill>
                  <a:srgbClr val="21295C"/>
                </a:solidFill>
                <a:latin typeface="Arial"/>
              </a:rPr>
              <a:t/>
            </a:r>
            <a:r>
              <a:rPr sz="3400" b="0" i="0">
                <a:solidFill>
                  <a:srgbClr val="21295C"/>
                </a:solidFill>
                <a:latin typeface="Arial"/>
              </a:rPr>
              <a:t>Лекция 7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3400" b="0" i="0">
                <a:solidFill>
                  <a:srgbClr val="21295C"/>
                </a:solidFill>
                <a:latin typeface="Arial"/>
              </a:rPr>
              <a:t/>
            </a:r>
            <a:r>
              <a:rPr sz="1700" b="0" i="0">
                <a:solidFill>
                  <a:srgbClr val="21295C"/>
                </a:solidFill>
                <a:latin typeface="Arial"/>
              </a:rPr>
              <a:t>Цену ошибки в медицине удерживает процедура вокруг человека: двойное чтение, второе мнение, консилиум, информированное согласие.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700" b="0" i="0">
                <a:solidFill>
                  <a:srgbClr val="21295C"/>
                </a:solidFill>
                <a:latin typeface="Arial"/>
              </a:rPr>
              <a:t/>
            </a:r>
            <a:r>
              <a:rPr sz="1700" b="0" i="0">
                <a:solidFill>
                  <a:srgbClr val="21295C"/>
                </a:solidFill>
                <a:latin typeface="Arial"/>
              </a:rPr>
              <a:t>Эта лекция разбирает, что модель делает с этой процедурой — и с человеком внутри неё.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70432"/>
            <a:ext cx="1463040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 посмотрела на снимок первой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СКОРОСТЬ ОТВЕТА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10041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{{число: время получения профиля вероятностей после загрузки снимка, с}}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ПРИВАТНОСТЬ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вычисление в браузере, снимок не уходит на сервер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ДОПУСК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не требуется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Перетащенный рентген грудной клетки. Профиль вероятностей по {{число: сколько патологий учитывает инструмент}} патологиям. Тепловая карта поверх снимка — область, на которую модель смотрела.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время получения профиля вероятностей, с}}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браузере, снимок не уходит на сервер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допуска не требуется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Сама модель подписана: «не для диагностики».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1">
                <a:solidFill>
                  <a:srgbClr val="21295C"/>
                </a:solidFill>
                <a:latin typeface="Arial"/>
              </a:rPr>
              <a:t>Кто из вас когда-нибудь получал результат обследования раньше, чем врач успел его прочитать?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 чат: да / нет / не помню.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Cohen, Bertin, Frappier, 2019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mlmed.org/tools/xray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Удешевили чтение данных. Платят вниманием, навыком, подписью и арбитражем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смотрит после модели, а не до неё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перестаёт делать сам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ПОДПИСЬ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подтверждает не читая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АРБИТРАЖ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927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F0AB00"/>
                </a:solidFill>
                <a:latin typeface="Arial"/>
              </a:rPr>
              <a:t>разбор расхождений дороже прежнего чтения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Удешевили чтение данных. Платят вниманием, навыком, подписью и арбитражем.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Внимание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человек смотрит после модели, а не до неё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Навык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перестаёт делать сам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Подпись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подтверждает не читая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Арбитраж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разбор расхождений дороже прежнего чтения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Удешевление одного шага перестраивает работу целиком, платят на другом шаге — линза предыдущих лекций, применённая здесь к человеку.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 одна против человека с моделью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МОДЕЛЬ ОДНА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балл модели отдельно, отдельный прогон, три повтора}}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ЧЕЛОВЕК С МОДЕЛЬЮ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F0AB00"/>
                </a:solidFill>
                <a:latin typeface="Arial"/>
              </a:rPr>
              <a:t>{{число: балл пары врач+модель, 50 практикующих врачей, те же случаи}}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Модель одна — {{число: балл модели отдельно}}.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(отдельный прогон, три повтора)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Человек с моделью — {{число: балл пары}}.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</a:t>
            </a:r>
            <a:r>
              <a:rPr sz="1500" b="0" i="1">
                <a:solidFill>
                  <a:srgbClr val="21295C"/>
                </a:solidFill>
                <a:latin typeface="Arial"/>
              </a:rPr>
              <a:t>(50 практикующих врачей, одни и те же случаи)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Разрыв: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разница между моделью и парой, пункты}}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Инструмент, который сам по себе точнее, не поднял человека до себя.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Происхождение: рандомизированное исследование, 50 практикующих врачей, три состояния на одних и тех же случаях.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Единица: шкала диагностического рассуждения на клинических виньетках по реальным случаям — не исходы пациентов.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Урок: куплен потенциал, измеренного выигрыша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Третье состояние — человек без модели — и чем этот разрыв посчитан: в разделе про чтение снимка.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Goh и соавторы, JAMA Network Open, октябрь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Четыре ступени участия. И то же самое в вашей работе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Ступени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Смотрит первым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02353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0953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3249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Смотрит вторым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13067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1667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3963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Смотрит только спорное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23781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452381" y="1335024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4677" y="1417320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Подписывает не глядя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Кто смотрит первым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Четыре ступени — кто смотрит первым.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Четвёртая ступень формально та же, что требует регулятор, и фактически его отсутствие.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Свидетельство, замера нет.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Нагрузка в разработке переехала с младших разработчиков на старших — младшие пишут с моделью, старшие не успевают проверять.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Это та же градация степеней участия, что дана в курсе ранее (человек в каждой точке решения · над контуром · вне контура), прочитанная по одному признаку — кто смотрит первым. Новой шкалы здесь нет.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Почему без человека нельзя: три опоры и три проверки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Участие человека в медицинском решении обязательно не потому, что человек точнее. Измерено, что часто он не точнее. Обязательно — потому что право подписи выдано ему, ошибается он иначе, чем модель, и отменить принятое решение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Три опоры: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- Право подписи выдано человеку - Ошибается иначе, чем модель - Отменить нельзя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Три проверки: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- Есть ли независимый источник истины, кроме объяснения модели? - Измерено ли, что человек возражает — и что возражает верно? - Успевает ли он физически: секунды на решение против объёма, который надо прочитать?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Это заявка; каждую опору лекция посчитает, и в конце мы к ней вернёмся.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Партию можно отозвать. Решение о человеке — нельзя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Путь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Пришёл результат обследования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Назначено лечение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Проведена операция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Человек живёт с последствиями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одного решения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Путь одного решения об одном человеке: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Пришёл результат обследования → назначено лечение → проведена операция → человек живёт с её последствиями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Ни один из этих шагов не отзывается: снимок можно перечитать, назначение можно отменить до того, как его выполнили, а проведённую операцию и потерянные месяцы —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Партию можно отозвать. Решение о человеке отозвать нельзя.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 медицине прибором, которым узнают об ошибке модели, становится человек.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Где медицина стоит в сетке курса — и чем эти клетки заняты сегодня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1" i="0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чтение снимка. Режим: модель вторым читателем или триаж потока по риску (Transpara · Lunit INSIGHT MMG; в России — платформа лучевой диагностики, «Цельс», «Третье мнение», Care Mentor AI) и режим сортировки потока по приоритету (Aidoc). Растёт в скрининге и в сортировке потока. Не умеет заменить арбитраж: кто разбирает расхождение, назначает процедура.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Классификация на изображении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решение «направить или нет» на месте. Режим: автономное решение без врача (LumineticsCore, бывший IDx-DR · EyeArt). Допущено единицами, и только там, где вопрос бинарный. Не умеет отвечать за годность снимка.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раннее предупреждение по данным карты. Режим: предупреждение внутри медицинской информационной системы, встроенное поставщиком (модель сепсиса у Epic; в России — Webiomed). Расходится вместе с системой, а не покупается отдельно. Не умеет назначить себе порог тревоги.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Поиск с генерацией на тексте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ответ по документам, сортировка обращения, запись приёма. Три режима: запись приёма под диктовку (Nuance DAX · Abridge · Nabla) принимается быстрее всех, потому что не ставит диагноз; ответ по документам со ссылкой на источник; сортировка обращения словами — после краха сервиса первой линии стагнирует. Не умеет отличать редкое от частого в открытом потоке.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Клетки те же, что в инженерии; отличается цена ошибки и устройство процедур, которые её удерживают.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Названо, чем делают, а не чья марка лучше: режим один, реализаций много, и разницу в результате делает устройство процедуры, а не бренд.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Из чего состоит этот вечер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0. Вход 1. Отбор — кого вообще смотреть 2. Анализ данных — и группа, на которой он посчитан 3. Постановка диагноза — человек читает рядом с моделью 4. Наблюдение за состоянием — кто заметит ухудшение 5. Ведение записи — кто прочтёт её потом 6. Чем удерживают — подпись, процедура, норматив 7. Разработка лекарства — удешевили начало, где узкое место 8. Что стало с теми, кто решает — навык 9. Сборка 10. Закрытие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Вопросы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---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Производство лекарственной формы, устройство предсказания структуры белка и цифровые двойники закрываются другими лекциями.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Назначение и лечение — как разобрано в Лекции 5.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Оперативная помощь — такая работа есть, измеренного материала по ней у лекции нет.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Модель посмотрела первой. Что теперь делает человек — и кто это измерял?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Модель посмотрела первой. Что теперь делает человек — и кто это измерял?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Ответ собирается в сборке, поимённо.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1. Отбор — кого вообще смотреть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Прежде чем кого-то лечить, кто-то решает, кого вообще посмотреть.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11240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Пример 1: чат-бот первой линии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Пример 2: отбор в программу повышенного внимания по предсказанным расходам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Женщине пришло письмо, и её снимок прочли двое, которые её не видели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Женщине {{число: возраст по программе приглашения, лет}} ничего не чувствует — ей приходит письмо с приглашением. Снимок делает лаборант.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Снимок читают двое рентгенологов, которые её не видели и между собой не говорят. Если один сказал «есть», а другой «нет» — снимок уходит третьему.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Дальше либо письмо «норма», либо звонок «придите на дообследование».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Человек с жалобой идёт обратным путём — он пришёл сам, и его ведёт симптом.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Кто-то решает, кто попадёт к врачу сегодня, а кто — через две недели.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публичная страница национальной программы скрининга с правилами приглашения}}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Пример 1: приглашение по возрасту и интервалу. Шведская программа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ПРОПУСК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интервальный рак на 1000 обследованных за два года}}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ЛОЖНЫЙ ВЫЗОВ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вызванных повторно на дообследование,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Режим: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звать всех по возрасту и интервалу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(шведская программа, контрольная группа).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Пропуск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{{число: интервальный рак на 1000 обследованных за два года}} на 1000 обследованных за два года наблюдения: найден между двумя приглашениями, программа его не поймала, поймал симптом.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Ложный вызов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{{число: доля вызванных повторно на дообследование, %}} обследованных вызваны повторно: повторный снимок, иногда биопсия, недели ожидания.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Порог — это документ: возраст, с которого зовут, и интервал назначены раньше, чем кто-либо измерил точность какого-либо прибора.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А чем кончается «ждать жалобу» — следующий кадр.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Рандомизированное исследование шведской программы скрининга, контрольная группа — промежуточные данные 2023, итоговые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А чем кончается «ждать жалобу»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12363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БЕЗ ПРИГЛАШЕНИЯ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613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{{число: доля стадии II и выше среди найденных случаев без приглашения, из 100}}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12363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 ПРИГЛАШЕНИЕМ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6306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F0AB00"/>
                </a:solidFill>
                <a:latin typeface="Arial"/>
              </a:rPr>
              <a:t>{{число: доля стадии II и выше среди найденных случаев с приглашением, из 100}}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550094"/>
            <a:ext cx="11441887" cy="3686113"/>
          </a:xfrm>
          <a:prstGeom prst="roundRect">
            <a:avLst>
              <a:gd name="adj" fmla="val 82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641534"/>
            <a:ext cx="11112703" cy="3594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Режим: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ждать жалобу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человек приходит сам, когда почувствовал.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Стадия II и выше среди найденных случаев: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без приглашения, из 100}}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без приглашения против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с приглашением, из 100}}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приглашённой группе.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Находка приходит позже и стадией крупнее — и это измерено, а не рассуждение.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Измерение того режима в единственный момент, когда его измеряли случайным распределением — пока скрининг вводили; сегодня его так не измерить.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Мальмёское рандомизированное испытание маммографического скрининга (набор 1976–1986)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Что здесь получилось, что не получилось, и что про это публикуют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ГЕРМАНСКАЯ ПРОГРАММА — ВЫЯВЛЕНИЕ НА 1000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выявление с моделью}} против {{число: выявление без модели}}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37835"/>
            <a:ext cx="5437479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593283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Получилось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949462"/>
            <a:ext cx="5108295" cy="7502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Триаж снимков по предсказанному риску снижает объём человеческого чтения без потери чувствительности (подробно — в разделе про чтение снимка)</a:t>
            </a:r>
          </a:p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Решение «направить или нет» на месте там, где специалиста нет вовсе — измерено явкой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1295" y="2437835"/>
            <a:ext cx="5437479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2593283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 получилось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5887" y="2949462"/>
            <a:ext cx="5108295" cy="7502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Открытый поток обращений, где встречаются редкие диагнозы, дети, беременные и пожилые</a:t>
            </a:r>
          </a:p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Экзаменационная метрика «обошёл врача на вопросах» как основание для допуска к потоку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946595"/>
            <a:ext cx="11441887" cy="2289612"/>
          </a:xfrm>
          <a:prstGeom prst="roundRect">
            <a:avLst>
              <a:gd name="adj" fmla="val 1331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4038035"/>
            <a:ext cx="11112703" cy="2198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80" b="1" i="0">
                <a:solidFill>
                  <a:srgbClr val="21295C"/>
                </a:solidFill>
                <a:latin typeface="Arial"/>
              </a:rPr>
              <a:t>Получилось.</a:t>
            </a:r>
            <a:r>
              <a:rPr sz="1080" b="0" i="0">
                <a:solidFill>
                  <a:srgbClr val="21295C"/>
                </a:solidFill>
                <a:latin typeface="Arial"/>
              </a:rPr>
              <a:t> Триаж снимков по предсказанному риску снижает объём человеческого чтения на {{число: снижение объёма чтения, %}} при чувствительности {{число: чувствительность с моделью, %}} против {{число: чувствительность без модели, %}} — второго независимого человека большинство обследованных больше не получает (подробно — в разделе про чтение снимка). Решение «направить или нет» на месте, там, где специалиста нет вовсе, — измерено явкой.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1" i="0">
                <a:solidFill>
                  <a:srgbClr val="21295C"/>
                </a:solidFill>
                <a:latin typeface="Arial"/>
              </a:rPr>
              <a:t>Не получилось.</a:t>
            </a:r>
            <a:r>
              <a:rPr sz="1080" b="0" i="0">
                <a:solidFill>
                  <a:srgbClr val="21295C"/>
                </a:solidFill>
                <a:latin typeface="Arial"/>
              </a:rPr>
              <a:t> Открытый поток обращений, где встречаются редкие диагнозы, дети, беременные и пожилые — то, чего в обучающей выборке почти не было. Экзаменационная метрика «обошёл врача на экзаменационных вопросах» как основание для допуска к потоку.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1" i="0">
                <a:solidFill>
                  <a:srgbClr val="21295C"/>
                </a:solidFill>
                <a:latin typeface="Arial"/>
              </a:rPr>
              <a:t>Охват публикуют, устройство работы —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0" i="0">
                <a:solidFill>
                  <a:srgbClr val="21295C"/>
                </a:solidFill>
                <a:latin typeface="Arial"/>
              </a:rPr>
              <a:t>• Германская программа скрининга: выявление </a:t>
            </a:r>
            <a:r>
              <a:rPr sz="1080" b="1" i="0">
                <a:solidFill>
                  <a:srgbClr val="21295C"/>
                </a:solidFill>
                <a:latin typeface="Arial"/>
              </a:rPr>
              <a:t>{{число: выявление на 1000, с моделью}}</a:t>
            </a:r>
            <a:r>
              <a:rPr sz="1080" b="0" i="0">
                <a:solidFill>
                  <a:srgbClr val="21295C"/>
                </a:solidFill>
                <a:latin typeface="Arial"/>
              </a:rPr>
              <a:t> против </a:t>
            </a:r>
            <a:r>
              <a:rPr sz="1080" b="1" i="0">
                <a:solidFill>
                  <a:srgbClr val="21295C"/>
                </a:solidFill>
                <a:latin typeface="Arial"/>
              </a:rPr>
              <a:t>{{число: выявление на 1000, без модели}}</a:t>
            </a:r>
            <a:r>
              <a:rPr sz="1080" b="0" i="0">
                <a:solidFill>
                  <a:srgbClr val="21295C"/>
                </a:solidFill>
                <a:latin typeface="Arial"/>
              </a:rPr>
              <a:t> на 1000 — как распределилась работа между моделью и вторым читателем, не опубликовано.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80" b="0" i="0">
                <a:solidFill>
                  <a:srgbClr val="21295C"/>
                </a:solidFill>
                <a:latin typeface="Arial"/>
              </a:rPr>
              <a:t/>
            </a:r>
            <a:r>
              <a:rPr sz="1080" b="0" i="0">
                <a:solidFill>
                  <a:srgbClr val="21295C"/>
                </a:solidFill>
                <a:latin typeface="Arial"/>
              </a:rPr>
              <a:t>• Отечественная платформа лучевой диагностики: свыше </a:t>
            </a:r>
            <a:r>
              <a:rPr sz="1080" b="1" i="0">
                <a:solidFill>
                  <a:srgbClr val="21295C"/>
                </a:solidFill>
                <a:latin typeface="Arial"/>
              </a:rPr>
              <a:t>{{число: число исследований, млн}}</a:t>
            </a:r>
            <a:r>
              <a:rPr sz="1080" b="0" i="0">
                <a:solidFill>
                  <a:srgbClr val="21295C"/>
                </a:solidFill>
                <a:latin typeface="Arial"/>
              </a:rPr>
              <a:t> млн исследований, </a:t>
            </a:r>
            <a:r>
              <a:rPr sz="1080" b="1" i="0">
                <a:solidFill>
                  <a:srgbClr val="21295C"/>
                </a:solidFill>
                <a:latin typeface="Arial"/>
              </a:rPr>
              <a:t>{{число: число регионов}}</a:t>
            </a:r>
            <a:r>
              <a:rPr sz="1080" b="0" i="0">
                <a:solidFill>
                  <a:srgbClr val="21295C"/>
                </a:solidFill>
                <a:latin typeface="Arial"/>
              </a:rPr>
              <a:t> регионов на дату среза — независимого протокола сравнения с врачом без модели в открытом доступе нет.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Шведская программа скрининга (упоминание)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германское исследование скрининга, 2025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материалы отечественной платформы лучевой диагностики (дата среза)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Пример 1: чат-бот первой линии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НА ЭКЗАМЕНАЦИОННЫХ ВОПРОСАХ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балл приложения}} против {{число: балл врачей}}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НЕЗАВИСИМЫЙ ТЕСТ ГОДОМ РАНЬШЕ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из трёх приложений — наименее точное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70" b="0" i="0">
                <a:solidFill>
                  <a:srgbClr val="21295C"/>
                </a:solidFill>
                <a:latin typeface="Arial"/>
              </a:rPr>
              <a:t>Цена обеих ошибок в сортировке обращений: пропустить того, кому нужно сейчас, и занять приём тем, кому не нужно — плюс цена самого канала.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Что предъявили вместо модели: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• На экзаменационных вопросах для начинающих врачей, {{число: год публичной демонстрации}}: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{{число: балл приложения}}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против </a:t>
            </a:r>
            <a:r>
              <a:rPr sz="1470" b="1" i="0">
                <a:solidFill>
                  <a:srgbClr val="21295C"/>
                </a:solidFill>
                <a:latin typeface="Arial"/>
              </a:rPr>
              <a:t>{{число: балл врачей}}</a:t>
            </a:r>
            <a:r>
              <a:rPr sz="147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• Независимый тест годом раньше: из трёх приложений это оказалось наименее точным.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1" i="0">
                <a:solidFill>
                  <a:srgbClr val="21295C"/>
                </a:solidFill>
                <a:latin typeface="Arial"/>
              </a:rPr>
              <a:t>Уберите модель — и сервис продолжит работать.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По заявлению бывшего руководителя регуляторных вопросов компании, внутри было дерево решений если-то, собранное в таблице. </a:t>
            </a:r>
            <a:r>
              <a:rPr sz="1470" b="0" i="1">
                <a:solidFill>
                  <a:srgbClr val="21295C"/>
                </a:solidFill>
                <a:latin typeface="Arial"/>
              </a:rPr>
              <a:t>(по заявлению бывшего сотрудника, не аудит)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70" b="0" i="0">
                <a:solidFill>
                  <a:srgbClr val="21295C"/>
                </a:solidFill>
                <a:latin typeface="Arial"/>
              </a:rPr>
              <a:t/>
            </a:r>
            <a:r>
              <a:rPr sz="1470" b="0" i="0">
                <a:solidFill>
                  <a:srgbClr val="21295C"/>
                </a:solidFill>
                <a:latin typeface="Arial"/>
              </a:rPr>
              <a:t>Чем это делают сегодня: </a:t>
            </a:r>
            <a:r>
              <a:rPr sz="1470" b="0" i="1">
                <a:solidFill>
                  <a:srgbClr val="21295C"/>
                </a:solidFill>
                <a:latin typeface="Arial"/>
              </a:rPr>
              <a:t>поиск с генерацией на тексте</a:t>
            </a:r>
            <a:r>
              <a:rPr sz="1470" b="0" i="0">
                <a:solidFill>
                  <a:srgbClr val="21295C"/>
                </a:solidFill>
                <a:latin typeface="Arial"/>
              </a:rPr>
              <a:t> — запись приёма под диктовку принимается, сортировка обращения после этого случая — нет. Не умеет отличать редкое от частого в открытом потоке.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80" b="0" i="0">
                <a:solidFill>
                  <a:srgbClr val="21295C"/>
                </a:solidFill>
                <a:latin typeface="Arial"/>
              </a:rPr>
              <a:t/>
            </a:r>
            <a:r>
              <a:rPr sz="1180" b="0" i="1">
                <a:solidFill>
                  <a:srgbClr val="1C7293"/>
                </a:solidFill>
                <a:latin typeface="Arial"/>
              </a:rPr>
              <a:t>Сколько это стоило — следующий кадр.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Независимый сравнительный тест, 2017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публичное заявление коллегии врачей общей практики, 2018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Фиксированная сумма, делённая на выросшее число обращений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446154"/>
          </a:xfrm>
          <a:prstGeom prst="roundRect">
            <a:avLst>
              <a:gd name="adj" fmla="val 2107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СКОЛЬКО ПЛАТЯТ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{{число: подушевая сумма, £ на человека в год}}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446154"/>
          </a:xfrm>
          <a:prstGeom prst="roundRect">
            <a:avLst>
              <a:gd name="adj" fmla="val 2107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ОБРАЩАЮТСЯ КЛАССИЧЕСКИ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715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обращений на человека в год, возраст 25–44}} / {{число: обращений на человека в год, возраст 15–24}}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446154"/>
          </a:xfrm>
          <a:prstGeom prst="roundRect">
            <a:avLst>
              <a:gd name="adj" fmla="val 2107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ОБРАЩАЮТСЯ В СЕРВИСЕ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{{число: обращений на человека в год в сервисе}}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446154"/>
          </a:xfrm>
          <a:prstGeom prst="roundRect">
            <a:avLst>
              <a:gd name="adj" fmla="val 21076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ИТОГ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5712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оценка {{число: рыночная оценка, млрд}} → активы проданы за {{число: сумма продажи активов}}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872618"/>
            <a:ext cx="11441887" cy="3363589"/>
          </a:xfrm>
          <a:prstGeom prst="roundRect">
            <a:avLst>
              <a:gd name="adj" fmla="val 90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964058"/>
            <a:ext cx="11112703" cy="32721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0" i="0">
                <a:solidFill>
                  <a:srgbClr val="21295C"/>
                </a:solidFill>
                <a:latin typeface="Arial"/>
              </a:rPr>
              <a:t>Практика получает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подушевая сумма, £ на человека в год}}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на зарегистрированного человека в год — сумма не зависит от числа обращений.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Классически обращаются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обращений на человека в год, 25–44}}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раз в год у 25–44-летних и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обращений на человека в год, 15–24}}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у 15–24-летних — тех возрастов, из которых сервис почти целиком состоял.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В сервисе обращений стало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обращений на человека в год, в сервисе}}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на человека в год при той же подушевой сумме.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Нагрузка переехала на другой шаг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с сортировки на приём, и платить за это стало некому.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сортировка круглосуточно и мгновенно, порог обращения ниже ·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экономика на каждом пациенте в минус, задокументированный случай нераспознанных симптомов ·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в сумме хуже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оценка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рыночная оценка, млрд}}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, банкротство в {{число: год и месяц банкротства}}, активы проданы за </a:t>
            </a:r>
            <a:r>
              <a:rPr sz="1440" b="1" i="0">
                <a:solidFill>
                  <a:srgbClr val="21295C"/>
                </a:solidFill>
                <a:latin typeface="Arial"/>
              </a:rPr>
              <a:t>{{число: сумма продажи активов}}</a:t>
            </a:r>
            <a:r>
              <a:rPr sz="144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Удешевление входа перестраивает экономику системы раньше, чем кто-нибудь успевает проверить качество.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Итоговый независимый отчёт об оценке сервиса, 2019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статистика выплат национальной службы, 2018/19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материалы о банкротстве, 2023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РЕЖИМ — ДОХОДЯТ ДО СПЕЦИАЛИСТА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681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{{число: доля дошедших до специалиста раз в год без модели, из 100}}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 МОДЕЛЬЮ — ДОХОДЯТ НА МЕСТЕ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дошедших до теста на месте с моделью, из 100}}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3123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Без модели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282825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02536" y="291055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Направление к офтальмологу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039258" y="2988279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67858" y="282825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0154" y="291055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Ожидание визита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86876" y="2988279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15476" y="2828259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97772" y="2910555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Чтение специалистом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486627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С моделью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0240" y="343176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02536" y="351405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Снимок у медсестры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039258" y="3591783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67858" y="343176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50154" y="351405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Автономное чтение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386876" y="3591783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15476" y="3431763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7772" y="3514059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Решение на месте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035267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от снимка до решения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4904" y="4348121"/>
            <a:ext cx="11441887" cy="1888086"/>
          </a:xfrm>
          <a:prstGeom prst="roundRect">
            <a:avLst>
              <a:gd name="adj" fmla="val 1614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4439561"/>
            <a:ext cx="11112703" cy="1796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8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Выигрыш здесь измерен явкой, а не точностью.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Классический режим.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Раз в год человек с диабетом идёт к специалисту-офтальмологу; до теста реально доходят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{{число: доля дошедших до специалиста раз в год без модели, из 100}}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из ста.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Модель.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Снимок делает медсестра в первичном звене, решение «направить или нет» принимается на месте меньше чем за минуту; до теста доходят </a:t>
            </a:r>
            <a:r>
              <a:rPr sz="1410" b="1" i="0">
                <a:solidFill>
                  <a:srgbClr val="21295C"/>
                </a:solidFill>
                <a:latin typeface="Arial"/>
              </a:rPr>
              <a:t>{{число: доля дошедших до теста на месте с моделью, из 100}}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из ста.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программа автономного скрининга диабетической ретинопатии — уточняется при сведении главы}}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Глазное дно без офтальмолога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Доступ на месте, без визита к специалисту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Годный снимок — новый шаг, которого не было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Выигрыш в доступе ценой нового отказного потока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Глазное дно без офтальмолога: что переехало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Сменился исполнитель: решение целиком перешло к допущенному регулятором устройству. Появился шаг — обеспечить годность снимка.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Отдельно, другой прибор и взрослые пациенты: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негодных снимков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негодных снимков из общего числа визитов}}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общее число визитов}}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;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потока, не доходящая до специалиста, %}}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потока специалист не видит вовсе.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вторая публикация о полевом развёртывании автономного чтения глазного дна, взрослые пациенты — уточняется при сведении главы}}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здесь переехало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польза: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этом шаге модель решает, кого вообще посмотрят — выигрыш, где он измерен, лежит в доступе, а не в точности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границы: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 открытом потоке обращений и при отборе в программу повышенного внимания ни один полный разбор выигрыша не подтвердил; охват публикуют, устройство работы — нет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удешевление входа перестраивает экономику системы раньше, чем кто-нибудь успевает проверить качество, а критерий отбора способен тихо сместить, кого вообще видят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•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нагрузка дальше: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поток, отобранный моделью, приходит в следующий раздел уже смещённым — то, что она назвала нормой, человек не увидит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Нагрузка переехала на другой шаг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(чат-бот первой линии)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{{форма: имя формы по разбору «отбор по предсказанным расходам» — кандидаты по плану: форма 5 «исполнитель сменился» · форма 7 «сместилась цена ошибки»}}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(отбор по предсказанным расходам)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Чем эти клетки заняты сегодня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Поиск с генерацией на тексте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(разбор: чат-бот первой линии) — режим «сортировка обращения словами»: после этого случая стагнирует; рядом — «запись приёма под диктовку» (принимается быстрее всех, потому что не ставит диагноз) и «ответ по документам со ссылкой на источник». Не умеет отличать редкое от частого в открытом потоке.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Прогноз на структурированных данных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(разбор: отбор по предсказанным расходам) — режим «критерий отбора в программу повышенного внимания по прогнозу будущих расходов». {{заметки: формулировка «чего режим не умеет» для этой клетки — проверить по письму сессии, которая ведёт разбор s2-08/s2-08a}}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Распознавание на изображении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(упоминание — подробно в разделе про чтение снимка) — режим «модель вторым читателем или триаж потока по риску» (Transpara · Lunit INSIGHT MMG; в России — платформа лучевой диагностики, «Цельс», «Третье мнение», Care Mentor AI). Растёт в скрининге. Не умеет заменить арбитраж: кто разбирает расхождение, назначает процедура.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 этом шаге занято три клетки из тридцати с лишним, и ни одна не про лечение — модель решает, кого посмотрят, а не что с ним делать.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Названо, чем делают, а не чья марка лучше — режим один, реализаций много, и разницу в результате делает устройство процедуры, а не бренд.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2. Анализ данных — и группа, на которой он посчитан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Решение о человеке принимает система, а не человек — и решение это построено на том, что про человека измерили. У каждого измерения есть группа, на которой оно посчитано: доля, посчитанная на одних людях, на других означает не то же самое.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915422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3 подробных разбора · 2 упоминания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82105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1. Техник флюорографии и годность снимка · 2. Глазное дно без офтальмолога · 3. Кожа и состав набора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4150878"/>
            <a:ext cx="11185855" cy="215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Рабочее место, где снимают данные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50" b="1" i="0">
                <a:solidFill>
                  <a:srgbClr val="21295C"/>
                </a:solidFill>
                <a:latin typeface="Arial"/>
              </a:rPr>
              <a:t>Чувствительность и специфичность: две доли без рабочей точки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ЧУВСТВИТЕЛЬНОСТЬ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больных, названных больными}}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СПЕЦИФИЧНОСТЬ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здоровых, не названных больными}}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Чувствительность и специфичность: две доли без рабочей точки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Из всех, у кого болезнь есть, — какую долю система назвала больными. Из всех, у кого болезни нет, — какую долю она не стала пугать.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Обе доли считаются по группе, которую собрал исследователь.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Упоминание: систематический обзор нашёл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всего найденных работ по диагностическим моделям}}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работ, в клинический анализ вошли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число работ, отобранных для обзора}}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пригодных для реального применения в клинике — ни одной.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систематический обзор диагностических моделей — уточняется при сведении главы}}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Одна система, две группы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ЛОВИТ БОЛЬНЫХ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10805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F0AB00"/>
                </a:solidFill>
                <a:latin typeface="Arial"/>
              </a:rPr>
              <a:t>{{число: доля верно найденных больных, из ста}}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ЛОЖНАЯ ТРЕВОГА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{{число: доля напрасно напуганных здоровых, из ста}}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ГРУППА 1 — ПОГОЛОВНЫЙ ПОТОК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распространённость болезни в поголовном потоке, на 10 000}}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ГРУППА 2 — ПРОФИЛЬНОЕ ОТДЕЛЕНИЕ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863689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распространённость болезни в профильном отделении, на 10 000}}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999930"/>
            <a:ext cx="11441887" cy="3236277"/>
          </a:xfrm>
          <a:prstGeom prst="roundRect">
            <a:avLst>
              <a:gd name="adj" fmla="val 94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091370"/>
            <a:ext cx="11112703" cy="3144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Одна система, две группы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Одна и та же система, с одними и теми же долями чувствительности и специфичности, работает на двух группах: десять тысяч здоровых подряд и десять тысяч в профильном отделении, где больных заметно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Вопрос, который остаётся без ответа до следующего кадра: что это меняет в том, скольким из тревог стоит верить?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несущая выкладка «одна система, две группы» — уточняется при сведении главы}}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Верные тревоги в двух группах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ВЕРНАЯ ТРЕВОГА — ПОГОЛОВНЫЙ СКРИНИНГ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верных тревог среди всех тревог при поголовном скрининге, из ста}}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ВЕРНАЯ ТРЕВОГА — ПРОФИЛЬНОЕ ОТДЕЛЕНИЕ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верных тревог среди всех тревог в профильном отделении, из ста}}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Верные тревоги в двух группах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Та же схема с проявленным результатом: доля тревог, которые оказались верными, различается почти на порядок между поголовным скринингом и профильным отделением — при одних и тех же долях системы.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Правило, которое раздел выдаёт лекции: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заявленная точность без названной группы и распространённости болезни на слайд не идёт.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несущая выкладка, проявленный результат — уточняется при сведении главы}}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Без модели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Снять пациента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39258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67858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50154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Посмотреть на экран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386876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15476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97772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Решить: годится или переснять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Решение техника о годности снимка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Техник флюорографии районной поликлиники ставит пациента, снимает, смотрит на экран и решает — годится снимок или нужно переснять.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 какому правилу он решает.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Опыт и видимое качество кадра, не формальный норматив.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Что бывает, если негодный снимок уйдёт на чтение.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Диагноз ставят по тому, что видно, не по тому, что было на самом деле.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Кто это заметит, если не он.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Чаще всего — никто, пока не понадобится пересмотр.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Пригодность измерения решает не прибор.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описание рабочего места техника флюорографии — уточняется при сведении главы}}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работает и что не работает: анализ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получается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Постоянство — не устаёт и не отвлекается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Поток — держит объём, который человек не удержит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Воспроизводимость — один и тот же вход даёт один и тот же результат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Что не получается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Качество входа — зависит от прибора и условий съёмки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Перенос долей между больницами — доля верна там, где посчитана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Смещение самого измерительного прибора — модель наследует его молча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Что работает и что не работает: анализ данных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Пример смещения на входе: прибор насыщения крови кислородом расходится с результатом анализа крови у пациентов с тёмной кожей 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значимых расхождений пульсоксиметрии у пациентов с тёмной кожей}}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измерений против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та же доля у пациентов со светлой кожей}}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и обученная модель, принимающая показания прибора на вход, этого смещения не видит вовсе.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пульсоксиметрии и анализа крови по тону кожи — уточняется при сведении главы}}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05573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РЕЖИМ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4439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{{число: ЗАНЯТО — явка снята как повтор s18; счёт классического режима для этого разбора назначает сведение главы}}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0557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ОТКЛОНЕНО ПО КАЧЕСТВУ В ПОЛЕ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562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F0AB00"/>
                </a:solidFill>
                <a:latin typeface="Arial"/>
              </a:rPr>
              <a:t>{{число: доля снимков глазного дна, отклонённых по качеству в поле, 11 клиник, первые полгода}}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482195"/>
            <a:ext cx="11441887" cy="3754012"/>
          </a:xfrm>
          <a:prstGeom prst="roundRect">
            <a:avLst>
              <a:gd name="adj" fmla="val 811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573635"/>
            <a:ext cx="11112703" cy="3662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Три шага формы: цена обеих ошибок считается в исходах и в визитах.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Классический режим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словами, без числа: раз в год человек с диабетом идёт на приём к офтальмологу.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Модель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автономное чтение двух снимков глазного дна на месте, и в поле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снимков глазного дна, отклонённых по качеству в поле, 11 клиник, первые полгода}}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снимков отклонён по качеству.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полевое развёртывание автономного чтения глазного дна, 11 клиник, первые полгода — уточняется при сведении главы}}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Техник флюорографии и годность снимка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Результат в кабинете первичного звена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Годный снимок в непроверенных условиях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На старте хуже лабораторного замера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Техник флюорографии и годность снимка: что переехало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Нагрузка выросла на том же месте: у техника появилась работа добиться годного снимка. Появился шаг — повторный визит тем, чей снимок не прошёл.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результат в кабинете первичного звена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годного снимка в непроверенных условиях ·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старте хуже лабораторного замера.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то же полевое развёртывание, продолжение — уточняется при сведении главы}}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Кожа и состав набора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395229"/>
          </a:xfrm>
          <a:prstGeom prst="roundRect">
            <a:avLst>
              <a:gd name="adj" fmla="val 2184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ОСМОТР НЕВООРУЖЁННЫМ ГЛАЗОМ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477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{{число: доля верно найденных больных при осмотре глазом, из 100}}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395229"/>
          </a:xfrm>
          <a:prstGeom prst="roundRect">
            <a:avLst>
              <a:gd name="adj" fmla="val 2184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ДЕРМОСКОПИЯ У СПЕЦИАЛИСТА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511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{{число: доля верно найденных больных при дермоскопии, из 100}}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395229"/>
          </a:xfrm>
          <a:prstGeom prst="roundRect">
            <a:avLst>
              <a:gd name="adj" fmla="val 2184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РАЗРЫВ НА ТЁМНОЙ КОЖЕ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{{число: разрыв площади под кривой на самых тёмных тонах кожи, в пунктах}}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2821693"/>
            <a:ext cx="11441887" cy="3414514"/>
          </a:xfrm>
          <a:prstGeom prst="roundRect">
            <a:avLst>
              <a:gd name="adj" fmla="val 89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2913133"/>
            <a:ext cx="11112703" cy="3323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Кожа и состав набора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Оба классических режима посчитаны одной методологией. Модель: на биопсийно подтверждённых изображениях три модели дают площадь под кривой на самых тёмных тонах кожи ниже, чем на светлых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разрыв площади под кривой на самых тёмных тонах кожи, в пунктах}}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База: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общее число биопсийно подтверждённых изображений}}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изображений, из них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число изображений с тёмными тонами кожи}}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 тёмными тонами кожи.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площади под кривой на биопсийно подтверждённых изображениях по тону кожи — уточняется при сведении главы}}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Карта стадии: анализ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Карта стадии: анализ данных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Матрица «тип задачи × модальность». В каждой занятой клетке — режим и одно-два названия: автономное чтение глазного дна, детекция и триаж на рентгене и КТ, счёт риска внутри карты, автоматическая запись приёма.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Три разбора раздела отмечены отдельно. Клетка «измерение · сигнал прибора» помечена как не занятая обученной моделью.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анализ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Вывод: анализ данных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постоянство чтения и разгрузка потока.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доли посчитаны на группе, и вместе с группой меняется смысл выхода.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ошибиться можно в приборе на входе, в составе набора и в определении цели, не ошибившись в самой модели.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результат измерения попадает к человеку, который примет решение.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013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900" b="1" i="0">
                <a:solidFill>
                  <a:srgbClr val="21295C"/>
                </a:solidFill>
                <a:latin typeface="Arial"/>
              </a:rPr>
              <a:t>3. Постановка диагноза — человек читает рядом с моделью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5294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2726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Заключение по данным выносит человек. Читает он теперь не только снимок, но и подсказку модели рядом с ним.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293951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4 подробных разбора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760634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1. Замер взгляда радиолога · 2. Одна подсказка с двумя знаками · 3. Измеренная тройка · 4. Контрольная линия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529407"/>
            <a:ext cx="11185855" cy="215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Два врача у одного экрана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4. Наблюдение за состоянием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Решение принято, лечение назначено. Дальше человек не стоит на месте: состояние меняется — иногда медленно, иногда за несколько часов. Кто-то должен заметить перемену раньше, чем она станет очевидной.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13331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 раздела один —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Модель раннего предупреждения</a:t>
            </a:r>
            <a:r>
              <a:rPr sz="1550" b="0" i="0">
                <a:solidFill>
                  <a:srgbClr val="21295C"/>
                </a:solidFill>
                <a:latin typeface="Arial"/>
              </a:rPr>
              <a:t>. Она непрерывно считает балл риска по тем же показателям, что снимает дежурная смена, и прерывает работу тревогой, когда балл переходит порог.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Обход в палате и лист наблюдения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Обход по расписанию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измерение величин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39258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67858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50154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сравнение с нормой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386876" y="1495044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15476" y="1335024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97772" y="1417320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запись в лист наблюдения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9385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Как собирается запись между обходами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4" y="2251382"/>
            <a:ext cx="11441887" cy="3984825"/>
          </a:xfrm>
          <a:prstGeom prst="roundRect">
            <a:avLst>
              <a:gd name="adj" fmla="val 764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" y="2342822"/>
            <a:ext cx="11112703" cy="3893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Палата, обход по расписанию. Дежурная смена снимает руками и прибором несколько величин — дыхание, пульс, давление, температуру — и сравнивает с нормой.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Каждое измерение уходит в лист наблюдения. Он — единственное, что видит следующая смена, врач на обходе и разбор случая при осложнении.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Вопрос, который решают на этом шаге: звать старшего сейчас или на следующем обходе.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Решает тот, кто пациента не видел — и видит он только запись.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Шкала раннего предупреждения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Шкала раннего предупреждения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баллы по отклонению от нормы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сумма баллов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сравнение с порогом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назначенное действие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Устройство шкалы — без обученной модели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Каждая измеренная величина получает баллы по тому, насколько она отклонилась от нормы. Баллы складываются. Сумма сравнивается с порогом. Порог назначает действие: участить наблюдение, вызвать старшего, вызвать бригаду.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Отличие от модели: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веса здесь назначены людьми и опубликованы.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Любой может посмотреть, почему балл такой.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официальная публикация действующей редакции шкалы раннего предупреждения, профессиональное общество, год редакции}}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Цена двух ошибок дежурной смены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Пропустить ухудшение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часы задержки лечения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{{число: место задержки лечения среди причин внутрибольничной смертности}}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Поднять ложную тревогу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дополнительные анализы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антибиотик «на всякий случай»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время сестры, снятое с другого пациента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Пропустить ухудшение.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Часы задержки лечения — {{число: место задержки лечения среди причин внутрибольничной смертности}}.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Поднять ложную тревогу.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Дополнительные анализы, антибиотик «на всякий случай», устойчивость возбудителя, время сестры, снятое с другого пациента.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0" i="0">
                <a:solidFill>
                  <a:srgbClr val="21295C"/>
                </a:solidFill>
                <a:latin typeface="Arial"/>
              </a:rPr>
              <a:t>Обе ошибки платит одна и та же дежурная смена.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50" b="0" i="0">
                <a:solidFill>
                  <a:srgbClr val="21295C"/>
                </a:solidFill>
                <a:latin typeface="Arial"/>
              </a:rPr>
              <a:t/>
            </a:r>
            <a:r>
              <a:rPr sz="1350" b="1" i="0">
                <a:solidFill>
                  <a:srgbClr val="21295C"/>
                </a:solidFill>
                <a:latin typeface="Arial"/>
              </a:rPr>
              <a:t>Какую долю входящих оповещений вы закрываете, не читая?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Счёт заменяемых режимов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593584"/>
          </a:xfrm>
          <a:prstGeom prst="roundRect">
            <a:avLst>
              <a:gd name="adj" fmla="val 1912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ШКАЛА РАННЕГО ПРЕДУПРЕЖДЕНИЯ — ДОЛЯ ПОДТВЕРЖДЕНИЯ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63689"/>
            <a:ext cx="3344570" cy="5627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{{число: доля подтверждённых тревог из ста, JAMIA Open 2021}}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593584"/>
          </a:xfrm>
          <a:prstGeom prst="roundRect">
            <a:avLst>
              <a:gd name="adj" fmla="val 19126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ДВЕ ДРУГИЕ ШКАЛЫ ТОГО ЖЕ РАЗБОРА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3760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доля подтверждения, шкала 2, из ста}} и {{число: доля подтверждения, шкала 3, из ста}}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593584"/>
          </a:xfrm>
          <a:prstGeom prst="roundRect">
            <a:avLst>
              <a:gd name="adj" fmla="val 19126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ТРЕВОГИ ПРИБОРОВ БЕЗ МОДЕЛИ — ДОЛЯ ЛОЖНЫХ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863689"/>
            <a:ext cx="3344570" cy="927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F0AB00"/>
                </a:solidFill>
                <a:latin typeface="Arial"/>
              </a:rPr>
              <a:t>{{число: доля ложных тревог прикроватного монитора, из скольких размеченных}}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020048"/>
            <a:ext cx="11441887" cy="3216159"/>
          </a:xfrm>
          <a:prstGeom prst="roundRect">
            <a:avLst>
              <a:gd name="adj" fmla="val 94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111488"/>
            <a:ext cx="11112703" cy="3124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подтверждённых тревог из ста, JAMIA Open 2021}}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шкала раннего предупреждения на поиске сепсиса в общем отделении.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подтверждения, шкала 2, из ста}} и {{число: доля подтверждения, шкала 3, из ста}}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две другие шкалы того же разбора.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ложных тревог прикроватного монитора, из скольких размеченных}}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тревоги приборов, где обученной модели нет вовсе.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Ни один классический режим не был бесплатным. Сравнивать модель надо с этими числами, а не с нулём.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балльных шкал на поиске сепсиса в общем отделении, JAMIA Open, 2021}}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наблюдательное исследование тревог реанимации, PMC4206416}}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 раннего предупреждения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675315"/>
          </a:xfrm>
          <a:prstGeom prst="roundRect">
            <a:avLst>
              <a:gd name="adj" fmla="val 1819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ЗАЯВЛЕНО РАЗРАБОТЧИКОМ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1182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21295C"/>
                </a:solidFill>
                <a:latin typeface="Arial"/>
              </a:rPr>
              <a:t>{{число: диапазон заявленного качества, разработчик}}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675315"/>
          </a:xfrm>
          <a:prstGeom prst="roundRect">
            <a:avLst>
              <a:gd name="adj" fmla="val 18193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ИЗМЕРЕНО НЕЗАВИСИМОЙ ПРОВЕРКОЙ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156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{{число: измеренное качество, независимая проверка}}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675315"/>
          </a:xfrm>
          <a:prstGeom prst="roundRect">
            <a:avLst>
              <a:gd name="adj" fmla="val 18193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ПОЙМАНА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1182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50" b="1" i="0">
                <a:solidFill>
                  <a:srgbClr val="21295C"/>
                </a:solidFill>
                <a:latin typeface="Arial"/>
              </a:rPr>
              <a:t>{{число: доля пойманных случаев сепсиса, из скольких}}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01779"/>
            <a:ext cx="11441887" cy="3134428"/>
          </a:xfrm>
          <a:prstGeom prst="roundRect">
            <a:avLst>
              <a:gd name="adj" fmla="val 97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193219"/>
            <a:ext cx="11112703" cy="30429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Модель непрерывно считает балл риска по карте и прерывает работу тревогой с готовым набором назначений в один щелчок.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Заявлено разработчиком: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{{число: диапазон заявленного качества, разработчик}}.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Измерено независимой проверкой: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{{число: измеренное качество, независимая проверка}}.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Поймана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{{число: доля пойманных случаев сепсиса, из скольких}}.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Класс модели — штрафованная логистическая регрессия: обученная статистика, а не глубокая сеть.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Режим: предиктивный модуль внутри самой медицинской карты. Чем это делают сегодня: модель сепсиса у Epic (действующая версия — решающие деревья с градиентным бустингом, с донастройкой на историю своей больницы); у второго крупного поставщика карты — та же схема на моделях облачного партнёра; в России — Webiomed. Чего режим не умеет: переносить качество между населениями; замолкать, когда картина населения меняется.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Wong, Otles и др., JAMA Internal Medicine, 2021}}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Сто госпитализаций, восемнадцать тревог, один подтверждённый случай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ТРЕВОГА ПРИХОДИТ 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госпитализаций с тревогой, из ста}}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ЧТОБЫ НАЙТИ ОДИН СЛУЧАЙ СЕПСИСА, РАЗОБРАТЬ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количество тревог на один подтверждённый случай}}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3123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Поток тревоги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2828259"/>
            <a:ext cx="3073298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02536" y="2910555"/>
            <a:ext cx="2908706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{{число: госпитализаций}} госпитализаций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039258" y="308099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67858" y="2828259"/>
            <a:ext cx="3073298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0154" y="2910555"/>
            <a:ext cx="2908706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{{число: тревог}} тревог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386876" y="308099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15476" y="2828259"/>
            <a:ext cx="3073298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97772" y="2910555"/>
            <a:ext cx="2908706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{{число: подтверждённых случаев}} подтверждённый случай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617190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одной тревоги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4904" y="3930044"/>
            <a:ext cx="11441887" cy="2306163"/>
          </a:xfrm>
          <a:prstGeom prst="roundRect">
            <a:avLst>
              <a:gd name="adj" fmla="val 1321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" y="4021484"/>
            <a:ext cx="11112703" cy="22147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Тревога приходит на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госпитализаций с тревогой, из ста}}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Чтобы найти одного пациента, у которого разовьётся сепсис, разобрать приходится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количество тревог на один подтверждённый случай}}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Шкала, которую модель заменяла, подтверждалась {{число: доля подтверждения заменённой шкалы, из ста}}; другая шкала того же разбора — {{число: доля подтверждения второй шкалы, из ста}}. Модель из этой полосы не вышла.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Населения разные, и событие в них случается с разной частотой: сравнивается порядок величины, а не превосходство.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Wong, Otles и др., JAMA Internal Medicine, 2021}}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сравнение балльных шкал, JAMIA Open, 2021}}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Вторая проверка: другие авторы, другие больницы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415348"/>
          </a:xfrm>
          <a:prstGeom prst="roundRect">
            <a:avLst>
              <a:gd name="adj" fmla="val 215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ПОЙМАНА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8004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пойманных тревог, одна из скольких случаев}}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415348"/>
          </a:xfrm>
          <a:prstGeom prst="roundRect">
            <a:avLst>
              <a:gd name="adj" fmla="val 215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СРАБАТЫВАНИЕ — ДОЛЯ ОБРАЩЕНИЙ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863689"/>
            <a:ext cx="2398699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{{число: доля обращений со срабатыванием тревоги, из ста}}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415348"/>
          </a:xfrm>
          <a:prstGeom prst="roundRect">
            <a:avLst>
              <a:gd name="adj" fmla="val 21535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ОПЕРЕЖЕНИЕ КЛИНИЧЕСКОГО РЕШЕНИЯ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863689"/>
            <a:ext cx="2398699" cy="74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{{число: медианное опережение клинического решения, минуты}}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415348"/>
          </a:xfrm>
          <a:prstGeom prst="roundRect">
            <a:avLst>
              <a:gd name="adj" fmla="val 21535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ДЕЙСТВУЮЩАЯ ВЕРСИЯ — МНОГОЦЕНТРОВАЯ ПРОВЕРКА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863689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различение AUC, диапазон}} / {{число: прогностическая ценность, диапазон}}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841812"/>
            <a:ext cx="11441887" cy="3394395"/>
          </a:xfrm>
          <a:prstGeom prst="roundRect">
            <a:avLst>
              <a:gd name="adj" fmla="val 89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933252"/>
            <a:ext cx="11112703" cy="3302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Вторая проверка, другие авторы, другие больницы. Поймана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пойманных тревог, одна из скольких случаев}}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Срабатывание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доля обращений со срабатыванием тревоги, из ста}}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Медианное опережение клинического решения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медианное опережение клинического решения, минуты}}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Вывод авторов дословно: «добавляет мало к тому, что врачи и так делают».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Действующую версию модели проверили отдельно, многоцентрово и проспективно: различение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различение AUC, диапазон}}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прогностическая ценность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{{число: прогностическая ценность, диапазон}}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нагрузка тревогами высокая. Это текущее состояние того же случая, а не снятая версия.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внешняя проверка в двух приёмных отделениях, JAMIA Open, 2024}}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проспективная многоцентровая проверка действующей версии модели, уточнить публикацию}}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Пара на тревогах: дало, потребовало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раннее оповещение работает без участия человека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разбор и отклонение тревоги — отдельная статья рабочего времени, со штатом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1156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внимание расходуется там же, где раньше, только больше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раннее оповещение существует и работает без участия человека.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разбор и отклонение тревоги стало отдельной статьёй рабочего времени, которой до внедрения не существовало; в отдельных больницах у этого шага появился штат.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внимание расходуется там же, где и раньше, только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Форма «нагрузка выросла на том же месте»: та же дежурная смена у той же постели, объём чтения и отклонения вырос. Форма «шаг появился»: разбор потока тревог как статья рабочего времени.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Та же постановка на детях, пять лет спустя: правильно опознано {{число: доля опознанных случаев у детей, из скольких обращений}}. Поток тревог в 24 больницах за время вирусной эпидемии вырос с {{число: тревог в сутки до роста}} до {{число: тревог в сутки после роста}}.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та же постановка на детях, публикация 2026}}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наблюдение потока тревог в 24 больницах за время эпидемии}}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наблюдение за состоянием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модель считает балл риска непрерывно и там, где дежурная смена успевает складывать его раз в несколько часов.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она не вышла за полосу подтверждения заменённой шкалы: больше тревог не значит больше пойманных случаев.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нагрузка выросла на том же месте, и появился шаг — разбор и отклонение потока, за которым теперь нужен штат.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запись об этом решении читает кто-то, кто пациента не видел вовсе.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Форма «появился шаг» встретится ещё раз в разделе о ведении записи: это повторение формы на разном материале, не новое наблюдение.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5. Ведение записи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Приём и госпитализация заканчиваются документом. Запись приёма читает сам пациент и следующий врач; выписной эпикриз читает участковый врач, следующий стационар, страховщик — человек, который пациента не видел и видит только текст.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915422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Два разбора по порядку: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Автоматическая запись приёма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·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Выписной эпикриз</a:t>
            </a:r>
            <a:r>
              <a:rPr sz="15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Автоматическая запись приёма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ЗАЯВЛЕНО — БЕЗ РАСКРЫТОЙ МЕТОДИКИ СЧЁТА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63689"/>
            <a:ext cx="2398699" cy="1029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50" b="1" i="0">
                <a:solidFill>
                  <a:srgbClr val="21295C"/>
                </a:solidFill>
                <a:latin typeface="Arial"/>
              </a:rPr>
              <a:t>{{число: часов экономии, на сколько приёмов}}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ИЗМЕРЕНО — ИНСТРУМЕНТ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9786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{{число: изменение времени в заметке, доля}}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ИЗМЕРЕНО — ИНСТРУМЕНТ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значимого изменения 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АКТИВНОЕ ВРЕМЯ ПРАВКИ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не изменилось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121898"/>
            <a:ext cx="11441887" cy="3114309"/>
          </a:xfrm>
          <a:prstGeom prst="roundRect">
            <a:avLst>
              <a:gd name="adj" fmla="val 978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213338"/>
            <a:ext cx="11112703" cy="3022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Инструмент слушает приём и отдаёт черновик заметки; врач вычитывает и подписывает.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Заявлено: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экономия {{число: часов экономии, на сколько приёмов}} — методика счёта не раскрыта.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Измерено рандомизированным испытанием ({{число: число врачей в испытании}} врачей):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у одного из двух инструментов время в заметке упало примерно на {{число: изменение времени в заметке, доля}}, у второго значимого изменения нет;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активное время правки заметки не изменилось.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Две величины разные — время в карте и время правки, — и заявление посчитано не в той, в которой измерен результат.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Режим: амбиентная запись приёма — голосом в текст. Чем это делают сегодня: Abridge и Ambience в крупных системах, Microsoft Dragon Copilot (прежний Nuance DAX), Nabla и Suki в среднем сегменте. Чего режим не умеет: снять обязанность вычитки; сократить активное время правки.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Кто из вас прочитывает автоматический протокол встречи построчно перед тем, как разослать?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трёхрукое рандомизированное испытание двух инструментов, препринт medRxiv 2025.07.10.25331333}}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многоцентровое наблюдение приёмных отделений}}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Две дорожки: набор текста и вычитка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заметка готова раньше, усталость от работы ниже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ПОТРЕБОВАЛО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обязательная вычитка каждого черновика и служба контроля качества со штатом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СУММЕ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825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F0AB00"/>
                </a:solidFill>
                <a:latin typeface="Arial"/>
              </a:rPr>
              <a:t>набор текста сократился, вычитка появилась, активное время правки осталось прежним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73546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Было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3218682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02536" y="3300978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набор текста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713067" y="337870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3218682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23963" y="3300978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подпись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877050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Стало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20240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02536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разговор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202353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30953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3249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черновик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713067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941667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3963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вычитка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223781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452381" y="3822186"/>
            <a:ext cx="2236393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34677" y="3904482"/>
            <a:ext cx="20718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подпись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425690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Было и стало; выборочный контроль заметок — пятый шаг, он вынесен в полосу плашек отдельной службой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4" y="4738544"/>
            <a:ext cx="11441887" cy="1497663"/>
          </a:xfrm>
          <a:prstGeom prst="roundRect">
            <a:avLst>
              <a:gd name="adj" fmla="val 203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" y="4829984"/>
            <a:ext cx="11112703" cy="1406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170" b="1" i="0">
                <a:solidFill>
                  <a:srgbClr val="21295C"/>
                </a:solidFill>
                <a:latin typeface="Arial"/>
              </a:rPr>
              <a:t>Было:</a:t>
            </a:r>
            <a:r>
              <a:rPr sz="1170" b="0" i="0">
                <a:solidFill>
                  <a:srgbClr val="21295C"/>
                </a:solidFill>
                <a:latin typeface="Arial"/>
              </a:rPr>
              <a:t> набор текста → подпись. </a:t>
            </a:r>
            <a:r>
              <a:rPr sz="1170" b="1" i="0">
                <a:solidFill>
                  <a:srgbClr val="21295C"/>
                </a:solidFill>
                <a:latin typeface="Arial"/>
              </a:rPr>
              <a:t>Стало:</a:t>
            </a:r>
            <a:r>
              <a:rPr sz="1170" b="0" i="0">
                <a:solidFill>
                  <a:srgbClr val="21295C"/>
                </a:solidFill>
                <a:latin typeface="Arial"/>
              </a:rPr>
              <a:t> разговор → черновик → вычитка → подпись → выборочный контроль.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70" b="0" i="0">
                <a:solidFill>
                  <a:srgbClr val="21295C"/>
                </a:solidFill>
                <a:latin typeface="Arial"/>
              </a:rPr>
              <a:t/>
            </a:r>
            <a:r>
              <a:rPr sz="117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170" b="0" i="0">
                <a:solidFill>
                  <a:srgbClr val="21295C"/>
                </a:solidFill>
                <a:latin typeface="Arial"/>
              </a:rPr>
              <a:t> — заметка готова раньше, усталость от работы ниже у пользователей обоих инструментов. </a:t>
            </a:r>
            <a:r>
              <a:rPr sz="117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170" b="0" i="0">
                <a:solidFill>
                  <a:srgbClr val="21295C"/>
                </a:solidFill>
                <a:latin typeface="Arial"/>
              </a:rPr>
              <a:t> — обязательная вычитка каждого черновика и новая служба контроля качества заметок со своим штатом. </a:t>
            </a:r>
            <a:r>
              <a:rPr sz="117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170" b="0" i="0">
                <a:solidFill>
                  <a:srgbClr val="21295C"/>
                </a:solidFill>
                <a:latin typeface="Arial"/>
              </a:rPr>
              <a:t> — набор текста сократился, вычитка появилась, активное время правки осталось прежним.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70" b="0" i="0">
                <a:solidFill>
                  <a:srgbClr val="21295C"/>
                </a:solidFill>
                <a:latin typeface="Arial"/>
              </a:rPr>
              <a:t/>
            </a:r>
            <a:r>
              <a:rPr sz="1170" b="0" i="0">
                <a:solidFill>
                  <a:srgbClr val="21295C"/>
                </a:solidFill>
                <a:latin typeface="Arial"/>
              </a:rPr>
              <a:t>Нагрузка переехала на другой шаг — с набора на вычитку. Шаг появился — служба контроля качества заметок.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70" b="0" i="0">
                <a:solidFill>
                  <a:srgbClr val="21295C"/>
                </a:solidFill>
                <a:latin typeface="Arial"/>
              </a:rPr>
              <a:t/>
            </a:r>
            <a:r>
              <a:rPr sz="1170" b="0" i="0">
                <a:solidFill>
                  <a:srgbClr val="21295C"/>
                </a:solidFill>
                <a:latin typeface="Arial"/>
              </a:rPr>
              <a:t>Ноль изменений у второго инструмента — то есть эффект принадлежит не режиму, а реализации.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отчёт службы контроля качества клиники}}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Выписной эпикриз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873671"/>
          </a:xfrm>
          <a:prstGeom prst="roundRect">
            <a:avLst>
              <a:gd name="adj" fmla="val 1626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ПОЛНОТА ДОКУМЕНТА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7749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{{число: оценка полноты, модель против человека, шкала}}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873671"/>
          </a:xfrm>
          <a:prstGeom prst="roundRect">
            <a:avLst>
              <a:gd name="adj" fmla="val 1626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УНИКАЛЬНЫХ ОШИБОК НА ДОКУМЕНТ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863689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модель против человека}}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873671"/>
          </a:xfrm>
          <a:prstGeom prst="roundRect">
            <a:avLst>
              <a:gd name="adj" fmla="val 16267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ПОТЕНЦИАЛ ВРЕДА ОДНОЙ ОШИБКИ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863689"/>
            <a:ext cx="2398699" cy="110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F0AB00"/>
                </a:solidFill>
                <a:latin typeface="Arial"/>
              </a:rPr>
              <a:t>{{число: модель против человека, значимость}}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873671"/>
          </a:xfrm>
          <a:prstGeom prst="roundRect">
            <a:avLst>
              <a:gd name="adj" fmla="val 1626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СУММАРНАЯ ОЦЕНКА ВРЕДА ДОКУМЕНТА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863689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модель против человека}}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300135"/>
            <a:ext cx="11441887" cy="2936072"/>
          </a:xfrm>
          <a:prstGeom prst="roundRect">
            <a:avLst>
              <a:gd name="adj" fmla="val 1038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391575"/>
            <a:ext cx="11112703" cy="284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260" b="0" i="0">
                <a:solidFill>
                  <a:srgbClr val="21295C"/>
                </a:solidFill>
                <a:latin typeface="Arial"/>
              </a:rPr>
              <a:t>Модель собирает выписной документ по истории болезни; врач вычитывает и подписывает; документ читает следующий врач и назначает по нему.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60" b="0" i="0">
                <a:solidFill>
                  <a:srgbClr val="21295C"/>
                </a:solidFill>
                <a:latin typeface="Arial"/>
              </a:rPr>
              <a:t/>
            </a:r>
            <a:r>
              <a:rPr sz="126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260" b="0" i="0">
                <a:solidFill>
                  <a:srgbClr val="21295C"/>
                </a:solidFill>
                <a:latin typeface="Arial"/>
              </a:rPr>
              <a:t> — документ готов раньше, короче и связнее. </a:t>
            </a:r>
            <a:r>
              <a:rPr sz="126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260" b="0" i="0">
                <a:solidFill>
                  <a:srgbClr val="21295C"/>
                </a:solidFill>
                <a:latin typeface="Arial"/>
              </a:rPr>
              <a:t> — полноты и вычитки другого рода. </a:t>
            </a:r>
            <a:r>
              <a:rPr sz="126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260" b="0" i="0">
                <a:solidFill>
                  <a:srgbClr val="21295C"/>
                </a:solidFill>
                <a:latin typeface="Arial"/>
              </a:rPr>
              <a:t> — потенциал вреда одной ошибки тот же, ошибок больше, документ менее полон.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60" b="0" i="0">
                <a:solidFill>
                  <a:srgbClr val="21295C"/>
                </a:solidFill>
                <a:latin typeface="Arial"/>
              </a:rPr>
              <a:t/>
            </a:r>
            <a:r>
              <a:rPr sz="1260" b="0" i="0">
                <a:solidFill>
                  <a:srgbClr val="21295C"/>
                </a:solidFill>
                <a:latin typeface="Arial"/>
              </a:rPr>
              <a:t>Слепое сравнение: полнота {{число: оценка полноты, модель против человека, шкала}}. Уникальных ошибок на документ: {{число: модель против человека}}. Потенциал вреда одной ошибки: {{число: модель против человека, значимость}}.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60" b="0" i="0">
                <a:solidFill>
                  <a:srgbClr val="21295C"/>
                </a:solidFill>
                <a:latin typeface="Arial"/>
              </a:rPr>
              <a:t/>
            </a:r>
            <a:r>
              <a:rPr sz="1260" b="1" i="0">
                <a:solidFill>
                  <a:srgbClr val="21295C"/>
                </a:solidFill>
                <a:latin typeface="Arial"/>
              </a:rPr>
              <a:t>Тройка «{{число: доля потенциально вредных расхождений, из ста}} · {{число: доля добавленного несуществующего препарата, из ста}} · {{число: доля расхождений с необратимым вредом, из ста}}» не подтверждается построчно ни одним из трёх открытых первоисточников.</a:t>
            </a:r>
            <a:r>
              <a:rPr sz="1260" b="0" i="0">
                <a:solidFill>
                  <a:srgbClr val="21295C"/>
                </a:solidFill>
                <a:latin typeface="Arial"/>
              </a:rPr>
              <a:t> Она переходит из пересказа в пересказ тем же способом, каким уже разобранный в этой лекции обзор перепутал собственные источники.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10" b="0" i="0">
                <a:solidFill>
                  <a:srgbClr val="21295C"/>
                </a:solidFill>
                <a:latin typeface="Arial"/>
              </a:rPr>
              <a:t/>
            </a:r>
            <a:r>
              <a:rPr sz="1010" b="0" i="1">
                <a:solidFill>
                  <a:srgbClr val="1C7293"/>
                </a:solidFill>
                <a:latin typeface="Arial"/>
              </a:rPr>
              <a:t>Режим: генерация клинических документов внутри карты — сводка событий госпитализации у поставщика карты, у второго поставщика — модели облачного партнёра; отдельно — сводка со ссылкой на место в карте-источнике. Чего режим не умеет: без такой привязки отличить правдоподобное от записанного.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JAMA Intern Med 2025 (PMID 40323616)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JAMA Netw Open 2026 (PMID 42101844)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Cureus 2026 (Япония)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ведение записи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Польза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заметка и выписной документ готовы быстрее, короче и связнее прежнего.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Граница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вычитка не исчезла, она сменила предмет: искать теперь надо не опечатку, а правдоподобную подробность, которой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Риск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набор текста переехал на вычитку, а у вычитки появился собственный штат; документ, по которому назначают, стал менее полным.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Дальше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эпикриз и есть документ, под которым стоит подпись.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Форма «появился шаг» повторилась здесь на другом материале — так же, как в наблюдении за состоянием.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6. Чем удерживают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Подпись, процедура, норматив.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11240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Предыдущий раздел разбирал запись — эпикриз, который кто-то вычитывает и подписывает. Этот раздел про саму подпись: что она значит, кто проверяет, что подписавший ещё способен возразить машине, и что происходит, когда программа меняется уже после того, как её допустили к продаже.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82105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1 разбор · 1 обзор надзора после допуска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848787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По порядку: разбор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«Норма есть, проверки нет»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— требование оставить человека финальным звеном проверили на практике у считаных устройств из сотен допущенных. И обзор </a:t>
            </a:r>
            <a:r>
              <a:rPr sz="1550" b="1" i="0">
                <a:solidFill>
                  <a:srgbClr val="21295C"/>
                </a:solidFill>
                <a:latin typeface="Arial"/>
              </a:rPr>
              <a:t>«Модель, которая меняется после допуска»</a:t>
            </a:r>
            <a:r>
              <a:rPr sz="1550" b="0" i="0">
                <a:solidFill>
                  <a:srgbClr val="21295C"/>
                </a:solidFill>
                <a:latin typeface="Arial"/>
              </a:rPr>
              <a:t> — что регулятор требует от программы, которая продолжает обучаться уже на рынке.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919652"/>
            <a:ext cx="11185855" cy="430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Семь человек за столом врачебной комиссии решают один вопрос: соответствовали ли действия врача утверждённому порядку. Пользовался ли он моделью — вопрос, которого в этом списке 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Регламент (ЕС) 2024/1689, статья 14; систематический обзор поданной регуляторам документации по радиологическим устройствам с ИИ, JAMA Network Open 2025;8(11):e2542338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Одна комната и один случай: врачебная комиссия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845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За столом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Заместитель главного врача — председатель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02353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0953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3249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Заведующий отделением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13067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1667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3963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Двое врачей той же специальности из другого отделения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23781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452381" y="1335024"/>
            <a:ext cx="2236393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4677" y="1417320"/>
            <a:ext cx="2071801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Эксперт по качеству помощи · секретарь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381260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На столе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02536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Карта со всеми заключениями и подписями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202353" y="257913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30953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3249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Протоколы исследований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713067" y="257913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1667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23963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Распечатка вывода модели и момент её показа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223781" y="257913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52381" y="2326396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34677" y="2408692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Утверждённый порядок и клинические рекомендации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115328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Кто сидит за столом и что на нём лежит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74904" y="3428182"/>
            <a:ext cx="11441887" cy="2808025"/>
          </a:xfrm>
          <a:prstGeom prst="roundRect">
            <a:avLst>
              <a:gd name="adj" fmla="val 1085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3519622"/>
            <a:ext cx="11112703" cy="27165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380" b="0" i="0">
                <a:solidFill>
                  <a:srgbClr val="21295C"/>
                </a:solidFill>
                <a:latin typeface="Arial"/>
              </a:rPr>
              <a:t>Четверг, кабинет заместителя главного врача. Комиссия разбирает один случай: пациентка {{число: возраст пациентки, лет}}, госпитализирована с болью в животе, выписана через {{число: дней до выписки}}, вернулась через сутки с осложнением.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Кто сидит за столом.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Председатель — заместитель главного врача. Заведующий отделением. Двое врачей той же специальности из другого отделения — с лечащим они не работают вместе. Эксперт по качеству медицинской помощи. Секретарь, ведущий протокол.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Что лежит на столе.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Карта со всеми заключениями и подписями. Протоколы исследований. Распечатка того, что показала модель, и отметка, в какой момент она это показала. Утверждённый порядок оказания помощи и клинические рекомендации.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1" i="0">
                <a:solidFill>
                  <a:srgbClr val="21295C"/>
                </a:solidFill>
                <a:latin typeface="Arial"/>
              </a:rPr>
              <a:t>Какой вопрос решают.</a:t>
            </a:r>
            <a:r>
              <a:rPr sz="1380" b="0" i="0">
                <a:solidFill>
                  <a:srgbClr val="21295C"/>
                </a:solidFill>
                <a:latin typeface="Arial"/>
              </a:rPr>
              <a:t> Один: соответствовали ли действия врача утверждённым порядкам, стандартам и рекомендациям.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380" b="0" i="0">
                <a:solidFill>
                  <a:srgbClr val="21295C"/>
                </a:solidFill>
                <a:latin typeface="Arial"/>
              </a:rPr>
              <a:t/>
            </a:r>
            <a:r>
              <a:rPr sz="1380" b="0" i="0">
                <a:solidFill>
                  <a:srgbClr val="21295C"/>
                </a:solidFill>
                <a:latin typeface="Arial"/>
              </a:rPr>
              <a:t>Вопроса «пользовался ли он моделью» в этом списке нет.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описание процедуры разбора врачебной ошибки — нормативный акт, раздел, дата}}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Два шага процедуры: разбор случая и склонность доверять автомату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ТОЧНОСТЬ БЕЗ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10805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21295C"/>
                </a:solidFill>
                <a:latin typeface="Arial"/>
              </a:rPr>
              <a:t>{{число: точность клиницистов без модели, %}}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ТОЧНОСТЬ С МОДЕЛЬЮ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10805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F0AB00"/>
                </a:solidFill>
                <a:latin typeface="Arial"/>
              </a:rPr>
              <a:t>{{число: точность клиницистов с моделью,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ОСТАТОЧНЫЕ ОШИБКИ — АВТОМАТИЗАЦИОННОЕ ИСКАЖЕНИЕ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863689"/>
            <a:ext cx="2398699" cy="825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{{число: доля ошибок от склонности доверять автомату, %}}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573466"/>
          </a:xfrm>
          <a:prstGeom prst="roundRect">
            <a:avLst>
              <a:gd name="adj" fmla="val 1937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РАСЧЁТНОЕ СНИЖЕНИЕ (ОЦЕНЕНО РАСЧЁТОМ, НЕ ИЗМЕРЕНО)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863689"/>
            <a:ext cx="2398699" cy="825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{{число: расчётное снижение склонности доверять автомату, %}}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46234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Процедура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3091370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02536" y="3173666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Разбор случая после исхода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713067" y="3251390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1667" y="3091370"/>
            <a:ext cx="4747107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3963" y="3173666"/>
            <a:ext cx="458251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Изменение порядка по итогам разбора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94874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Процедура из двух шагов, которой медицина держит цену ошибки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4904" y="4007728"/>
            <a:ext cx="11441887" cy="2228479"/>
          </a:xfrm>
          <a:prstGeom prst="roundRect">
            <a:avLst>
              <a:gd name="adj" fmla="val 1367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" y="4099168"/>
            <a:ext cx="11112703" cy="2137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Процедура держит цену ошибки в два шага.</a:t>
            </a:r>
            <a:r>
              <a:rPr sz="1050" b="0" i="0">
                <a:solidFill>
                  <a:srgbClr val="21295C"/>
                </a:solidFill>
                <a:latin typeface="Arial"/>
              </a:rPr>
              <a:t> Разбор случая после исхода → изменение порядка по итогам. Независимое второе мнение и арбитраж — третий шаг, разобранный ранее.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50" b="0" i="0">
                <a:solidFill>
                  <a:srgbClr val="21295C"/>
                </a:solidFill>
                <a:latin typeface="Arial"/>
              </a:rPr>
              <a:t/>
            </a:r>
            <a:r>
              <a:rPr sz="1050" b="0" i="1">
                <a:solidFill>
                  <a:srgbClr val="21295C"/>
                </a:solidFill>
                <a:latin typeface="Arial"/>
              </a:rPr>
              <a:t>Упоминание.</a:t>
            </a:r>
            <a:r>
              <a:rPr sz="1050" b="0" i="0">
                <a:solidFill>
                  <a:srgbClr val="21295C"/>
                </a:solidFill>
                <a:latin typeface="Arial"/>
              </a:rPr>
              <a:t> Алгоритмическое планирование смен медсестёр: сокращение времени на составление графика {{число: сокращение времени на составление графика смен, %}}, сокращение ошибок в графике {{число: сокращение ошибок в графике смен, %}}. Это не обученная модель — задача комбинаторной оптимизации с ограничениями.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50" b="0" i="0">
                <a:solidFill>
                  <a:srgbClr val="21295C"/>
                </a:solidFill>
                <a:latin typeface="Arial"/>
              </a:rPr>
              <a:t/>
            </a:r>
            <a:r>
              <a:rPr sz="1050" b="1" i="0">
                <a:solidFill>
                  <a:srgbClr val="21295C"/>
                </a:solidFill>
                <a:latin typeface="Arial"/>
              </a:rPr>
              <a:t>Склонность доверять автомату.</a:t>
            </a:r>
            <a:r>
              <a:rPr sz="1050" b="0" i="0">
                <a:solidFill>
                  <a:srgbClr val="21295C"/>
                </a:solidFill>
                <a:latin typeface="Arial"/>
              </a:rPr>
              <a:t> Точность без модели — {{число: точность клиницистов без модели, %}}; с моделью — {{число: точность клиницистов с моделью, %}}. Из оставшихся ошибок {{число: доля ошибок от склонности доверять автомату, %}} связаны со склонностью доверять автомату — на всех уровнях квалификации.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50" b="0" i="0">
                <a:solidFill>
                  <a:srgbClr val="21295C"/>
                </a:solidFill>
                <a:latin typeface="Arial"/>
              </a:rPr>
              <a:t/>
            </a:r>
            <a:r>
              <a:rPr sz="1050" b="0" i="0">
                <a:solidFill>
                  <a:srgbClr val="21295C"/>
                </a:solidFill>
                <a:latin typeface="Arial"/>
              </a:rPr>
              <a:t>Предложенное лекарство — скрывать подсказку там, где она чаще ошибается — </a:t>
            </a:r>
            <a:r>
              <a:rPr sz="1050" b="1" i="0">
                <a:solidFill>
                  <a:srgbClr val="21295C"/>
                </a:solidFill>
                <a:latin typeface="Arial"/>
              </a:rPr>
              <a:t>оценено расчётом</a:t>
            </a:r>
            <a:r>
              <a:rPr sz="1050" b="0" i="0">
                <a:solidFill>
                  <a:srgbClr val="21295C"/>
                </a:solidFill>
                <a:latin typeface="Arial"/>
              </a:rPr>
              <a:t>: {{число: расчётное снижение склонности доверять автомату, %}}. Третьего раунда, где это проверили бы на живых врачах,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050" b="0" i="0">
                <a:solidFill>
                  <a:srgbClr val="21295C"/>
                </a:solidFill>
                <a:latin typeface="Arial"/>
              </a:rPr>
              <a:t/>
            </a:r>
            <a:r>
              <a:rPr sz="1050" b="0" i="0">
                <a:solidFill>
                  <a:srgbClr val="21295C"/>
                </a:solidFill>
                <a:latin typeface="Arial"/>
              </a:rPr>
              <a:t>Раскрытый конфликт интересов: часть авторов работает в компании-производителе модели или имеет на неё патент.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Wang D. Y., Ding J., Sun A. L. и соавт., JAMIA 2023;30(10):1684–1692, DOI 10.1093/jamia/ocad118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Цена обеих ошибок у подписи и счёт двойного чтения в минутах труда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ДВОЙНОЕ ЧТЕНИЕ — ОБНАРУЖЕНИЕ НА 1000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63689"/>
            <a:ext cx="2398699" cy="528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{{число: двойное чтение, обнаружений на 1000}}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С МОДЕЛЬЮ — ОБНАРУЖЕНИЕ НА 1000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863689"/>
            <a:ext cx="2398699" cy="5797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{{число: с моделью, обнаружений на 1000}}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ОДИНОЧНОЕ ЧТЕНИЕ МАММОГРАММЫ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863689"/>
            <a:ext cx="2398699" cy="1029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50" b="1" i="0">
                <a:solidFill>
                  <a:srgbClr val="21295C"/>
                </a:solidFill>
                <a:latin typeface="Arial"/>
              </a:rPr>
              <a:t>{{число: среднее время одиночного чтения, с}}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695434"/>
          </a:xfrm>
          <a:prstGeom prst="roundRect">
            <a:avLst>
              <a:gd name="adj" fmla="val 1797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РАЗБОР РАСХОЖДЕНИЯ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8259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{{число: среднее время согласительного разбора, мин}}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121898"/>
            <a:ext cx="11441887" cy="3114309"/>
          </a:xfrm>
          <a:prstGeom prst="roundRect">
            <a:avLst>
              <a:gd name="adj" fmla="val 978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213338"/>
            <a:ext cx="11112703" cy="30228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Цена обеих ошибок у подписи.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Пропущенный диагноз — подпись человеческая. Лишнее вмешательство — подпись тоже человеческая. Обе оплачивает пациент исходом.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Счёт классического режима.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Двойное чтение с арбитражем — {{число: двойное чтение, обнаружений на 1000}} обнаружения на тысячу; с моделью вторым читателем — {{число: с моделью, обнаружений на 1000}}.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 минутах труда.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Одиночное чтение маммограммы — {{число: среднее время одиночного чтения, с}}; согласительный разбор расхождения — {{число: среднее время согласительного разбора, мин}} — как пять обычных чтений.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При сокращении первичных чтений вдвое объём арбитража вырос на {{число: рост объёма арбитража, %}}.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Hovda, Holen, Hofvind, European Radiology 2026, DOI 10.1007/s00330-025-12273-x; Warren L. M. и соавт., Nature Cancer 2026, DOI 10.1038/s43018-026-01128-z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Норма есть, проверки нет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ТЕСТИРОВАНИЕ С ЧЕЛОВЕКОМ В КОНТУРЕ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783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{{число: устройств с тестированием «человек в контуре», доля из 717}}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ДОПУЩЕНЫ УПРОЩЁННЫМ ПУТЁМ ПО ПОДОБИЮ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устройств, допущенных по подобию, доля из 950}}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Регулятор требует, чтобы человек оставался финальным звеном.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Тестирование с человеком в контуре нашли 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{{число: устройств с тестированием «человек в контуре», доля из 717}}.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Допущены упрощённым путём, по подобию ранее одобренному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{{число: устройств, допущенных по подобию, доля из 950}}.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200" b="0" i="0">
                <a:solidFill>
                  <a:srgbClr val="21295C"/>
                </a:solidFill>
                <a:latin typeface="Arial"/>
              </a:rPr>
              <a:t/>
            </a:r>
            <a:r>
              <a:rPr sz="1200" b="0" i="1">
                <a:solidFill>
                  <a:srgbClr val="1C7293"/>
                </a:solidFill>
                <a:latin typeface="Arial"/>
              </a:rPr>
              <a:t>Статья 14 (ЕС 2024/1689): понять ограничения, заметить аномалию, не согласиться, остановить.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Вопрос залу: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где в вашем рабочем контуре требуется подпись под тем, что решил автомат, — и проверял ли кто-нибудь, что вы успеваете это решение прочитать?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Систематический обзор поданной регуляторам документации по радиологическим устройствам с ИИ, JAMA Network Open 2025;8(11):e2542338, срез июнь 2024; Регламент (ЕС) 2024/1689, статья 14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50" b="1" i="0">
                <a:solidFill>
                  <a:srgbClr val="21295C"/>
                </a:solidFill>
                <a:latin typeface="Arial"/>
              </a:rPr>
              <a:t>Четыре участника: контроль у одного, ответственность у другого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данные, устройство и обновления модели · отвечает за соответствие заявленному назначению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5959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18255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Врач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решение по одному человеку · отвечает за это решение целиком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8999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51295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Больница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закупку, обучение и порядок применения · отвечает за организацию работы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2039" y="1335024"/>
            <a:ext cx="2686735" cy="1249952"/>
          </a:xfrm>
          <a:prstGeom prst="roundRect">
            <a:avLst>
              <a:gd name="adj" fmla="val 24384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84335" y="1417320"/>
            <a:ext cx="2522143" cy="1085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Регулятор</a:t>
            </a:r>
          </a:p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контролирует допуск и надзор после допуска · отвечает за рамку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31280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Контроль и ответственность у разных участников, и шов между ними проходит по подписи врача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044134"/>
            <a:ext cx="11441887" cy="3192073"/>
          </a:xfrm>
          <a:prstGeom prst="roundRect">
            <a:avLst>
              <a:gd name="adj" fmla="val 954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135574"/>
            <a:ext cx="11112703" cy="31006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Четыре участника. Под каждым — что он контролирует и за что отвечает.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Разработчик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данные, архитектуру, обновления модели; отвечает за соответствие заявленному назначению.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Врач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решение по одному человеку; отвечает за это решение целиком.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Больница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закупку, обучение персонала, порядок применения; отвечает за организацию процесса.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Регулятор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контролирует допуск и надзор после допуска; отвечает за рамку.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Контроль и ответственность лежат у разных участников. Шов между ними проходит по подписи врача.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рамка четырёх участников клинического контура — работы 2019–2020 годов, авторы и издание}}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Модель, которая меняется после допуска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845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Механизмы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3073298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908706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План изменений модели — утверждается заранее, протокол проверки каждого шага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39258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67858" y="1335024"/>
            <a:ext cx="3073298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50154" y="1417320"/>
            <a:ext cx="2908706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Передача данных о работе регулятору — порядок утверждён, сроки вступления не установлены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386876" y="1688978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15476" y="1335024"/>
            <a:ext cx="3073298" cy="84506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97772" y="1417320"/>
            <a:ext cx="2908706" cy="6804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Перенесённые сроки — 2 декабря 2027 и 2 августа 2028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26396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Три механизма надзора после допуска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4904" y="2639251"/>
            <a:ext cx="11441887" cy="3596956"/>
          </a:xfrm>
          <a:prstGeom prst="roundRect">
            <a:avLst>
              <a:gd name="adj" fmla="val 84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" y="2730691"/>
            <a:ext cx="11112703" cy="3505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Три механизма, каждый — что требуется, с какого момента, чем подтверждается.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Заранее утверждённый план изменений.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Какие изменения модели допустимы после выхода на рынок — включая дообучение, — и протокол проверки каждого.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Передача данных о работе регулятору.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Порядок утверждён; дата вступления в силу, срок действия и область действия по тексту акта не установлены.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Перенесённые сроки.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2 декабря 2027 года — для самостоятельного программного обеспечения. 2 августа 2028 года — для встроенного в изделие.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Формы разбора здесь нет: это обзор надзорных механизмов.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Руководство FDA по плану предварительно утверждённых изменений (PCCP), декабрь 2024; приказ Росздравнадзора от 21.07.2025 № 4472; Регламент (ЕС) 2024/1689, пакет поправок 2026 года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Отзывы и отечественный реестр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ОТЗЫВЫ ИЗ ДОПУЩЕННЫХ УСТРОЙСТВ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7325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50" b="1" i="0">
                <a:solidFill>
                  <a:srgbClr val="F0AB00"/>
                </a:solidFill>
                <a:latin typeface="Arial"/>
              </a:rPr>
              <a:t>{{число: отозванных устройств, доля из 950}}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ОТЗЫВНЫЕ СОБЫТИЯ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число отзывных событий}}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 ПЕРВЫЕ 12 МЕСЯЦЕВ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отзывов в первый год, %}}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Из {{число: допущенных устройств с ИИ, всего}} допущенных устройств отзывались {{число: отозванных устройств, доля из 950}}; на них {{число: число отзывных событий}} отзывных событий; {{число: доля отзывов в первый год, %}} — в первые двенадцать месяцев.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Отечественный реестр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три даты среза: {{число: реестр, срез 1}} → {{число: реестр, срез 2}} → {{число: реестр, срез 3}}.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Независимой — то есть не организаторской — оценки в отечественном контуре не найдено: есть только организаторская.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Dai и соавт., Early Recalls and Clinical Validation Gaps in AI-Enabled Medical Devices, JAMA Health Forum 2025, DOI 10.1001/jamahealthforum.2025.3172; реестр медицинских изделий с ИИ, {{источник: даты срезов и ведомство}}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удерживает то, что стоит за подписью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ТЕСТИРОВАНИЕ С ЧЕЛОВЕКОМ В КОНТУРЕ НАЙДЕНО 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устройств с тестированием «человек в контуре», доля из 717}}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" y="2346395"/>
            <a:ext cx="11441887" cy="3889812"/>
          </a:xfrm>
          <a:prstGeom prst="roundRect">
            <a:avLst>
              <a:gd name="adj" fmla="val 7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2437835"/>
            <a:ext cx="11112703" cy="3798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 прошлой лекции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требований к системам с ИИ внутри промышленных изделий не было.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 медицине они есть.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Названы документы: класс риска, стандарты, порядок передачи данных регулятору, статья о человеческом надзоре. Названы сроки.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 {{число: устройств с тестированием «человек в контуре», доля из 717}} показывают, где требование описывает работу, которой не делают.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Удерживает то, что стоит за подписью.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свод раздела — разборы «норма есть, проверки нет» и контраст с инженерной лекцией в главе}}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7. Разработка лекарства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Удешевили начало — где узкое место.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311240"/>
            <a:ext cx="10984687" cy="9428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От мишени до заявки на регистрацию путь проходит годами, и вычисление в нём занимает один шаг — в самом начале, у химика. Дальше — доклиника, три фазы испытаний на людях, заявка. Три разбора вечера — про то, что из этого пути подешевело, а что осталось прежней длины.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82105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3 подробных разбора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848787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По порядку: 1. Молекула за год, снятая на первой фазе · 2. Воронка молекул машинного происхождения · 3. Компания, отказавшаяся от своего обещания.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617561"/>
            <a:ext cx="10984687" cy="3386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Производство лекарственной формы на линии в этот раздел не входит — это отдельная лекция курса.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5084244"/>
            <a:ext cx="11185855" cy="430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Это та же работа, что и в предыдущих разделах, только на масштабе отрасли: решение не о человеке у койки, а о веществе, которое до койки может не дойти вовсе.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BIO / QLS / Informa, Clinical Development Success Rates and Contributing Factors 2011–2020; Jayatunga и соавт., Drug Discovery Today, 2024; Haque W. и соавт., J Clin Oncol 2026, DOI 10.1200/JCO.2026.44.16_suppl.11072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Три человека, три места, одно вещество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Химик-синтетик ставит реакцию и получает миллиграммы вещества.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Тот же порошок через {{число: интервал до вивария, мес}} едет в виварий на токсикологию: доза, переносимость, патология органов у животных.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Ещё через {{число: интервал до фазы I, лет}} координатор исследования сидит с одним здоровым добровольцем и часами пишет наблюдения в карту первой фазы.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Три человека, три места, одно вещество. Между первым эпизодом и третьим — около {{число: интервал между первым и третьим эпизодом, лет}}.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отраслевое описание пути разработки — отчёт, раздел}}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Путь разработки схемой: четыре шага от мишени до заявки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289304" cy="642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Путь разработки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02536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Мишень и молекула — биологи, химики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02353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0953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3249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Доклиника — токсикология на культурах и животных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13067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1667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3963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Фазы I–III — клиницисты, пациенты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23781" y="1587757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452381" y="1335024"/>
            <a:ext cx="2236393" cy="642627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4677" y="1417320"/>
            <a:ext cx="2071801" cy="4780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Заявка — регуляторные специалисты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123955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Шаг вычисления — один, и он в начале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4" y="2436809"/>
            <a:ext cx="11441887" cy="3799398"/>
          </a:xfrm>
          <a:prstGeom prst="roundRect">
            <a:avLst>
              <a:gd name="adj" fmla="val 802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528249"/>
            <a:ext cx="11112703" cy="37079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Мишень и молекула.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Что в организме затронуть и чем — выбирают биологи, подбирают химики.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Доклиника.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Культуры клеток и животные: работает ли, не убивает ли, как выводится.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Фазы I–III.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Переносимость → работает ли и в какой дозе → подтверждение на больших выборках.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Заявка.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Регистрация у регулятора.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Шаг, на который приходится вычисление, — один, и он в начале, у химика. Весь остальной путь делают руками люди.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описание фаз разработки лекарства — отраслевой обзор}}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Воронка отрасли: из тринадцати программ лекарством становится одна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ФАЗА I → ФАЗА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переход фазы I в фазу II, %}}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ФАЗА II → ФАЗА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переход фазы II в фазу III,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 ФАЗЫ I ДО ОДОБРЕНИЯ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{{число: совокупная вероятность одобрения, %}}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ЗНАМЕНАТЕЛЬ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545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{{число: число фазовых переходов}} из {{число: число программ}}, 2011–2020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Фаза I → фаза II — {{число: переход фазы I в фазу II, %}}. Фаза II → фаза III — {{число: переход фазы II в фазу III, %}}. От первой фазы до одобрения — {{число: совокупная вероятность одобрения, %}}.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Знаменатель: {{число: число фазовых переходов}} переходов из {{число: число программ}} программ, 2011–2020.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Плотнее всего отсев в середине, не в начале и не в конце.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BIO / QLS / Informa, Clinical Development Success Rates and Contributing Factors 2011–2020, февраль 2021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Две дроби рядом: «перешли» и «завершили»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«Перешли».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Считают среди тех, кто фазу прошёл до конца — знаменатель: завершившие фазу.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«Завершили».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Считают среди всех, кто когда-либо вошёл в испытания — в знаменателе сидят активы, которые ещё идут и до следующей фазы просто не дошли.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Поставить эти две дроби через «против» — получить вывод, которого не делает ни один из двух замеров.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разбор знаменателей «перешли/завершили» — глава о разработке лекарства}}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Что подешевело и что не подешевело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ПЕРЕБОР ГИПОТЕЗ ПО ГРАФУ ЗНАНИЙ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время перебора гипотез, ч}}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РАСЧЁТНАЯ ОЦЕНКА СВЯЗЫВАНИЯ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число оценённых соединений}} под известную мишень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18682"/>
            <a:ext cx="5437479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3374130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Подешевело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730309"/>
            <a:ext cx="5108295" cy="7502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Перебор гипотез по графу знаний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Расчётная оценка связывания соединений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1295" y="3218682"/>
            <a:ext cx="5437479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3374130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Не подешевело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730309"/>
            <a:ext cx="5108295" cy="7502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Переносимость у людей</a:t>
            </a:r>
          </a:p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Набор пациентов</a:t>
            </a:r>
          </a:p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Длительность наблюдения</a:t>
            </a:r>
          </a:p>
          <a:p>
            <a:pPr algn="l">
              <a:lnSpc>
                <a:spcPct val="126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• Производство клинической партии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4727442"/>
            <a:ext cx="11441887" cy="1508765"/>
          </a:xfrm>
          <a:prstGeom prst="roundRect">
            <a:avLst>
              <a:gd name="adj" fmla="val 202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4818882"/>
            <a:ext cx="11112703" cy="1417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10" b="1" i="0">
                <a:solidFill>
                  <a:srgbClr val="21295C"/>
                </a:solidFill>
                <a:latin typeface="Arial"/>
              </a:rPr>
              <a:t>Подешевело, с числами.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Перебор гипотез по графу знаний — {{число: время перебора гипотез, ч}}. Расчётная оценка связывания — {{число: число оценённых соединений}} соединений под известную мишень.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Не подешевело, словами и без чисел.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Переносимость у людей. Набор пациентов в испытание. Длительность наблюдения. Производство клинической партии.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0" i="0">
                <a:solidFill>
                  <a:srgbClr val="21295C"/>
                </a:solidFill>
                <a:latin typeface="Arial"/>
              </a:rPr>
              <a:t>Пустая клетка справа — вывод столбца: формы здесь нет.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разбор графа знаний и расчётного связывания — проект и публикация}}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Хитрейт с методом и без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ПЕРЕБОР — ПОПАДАНИЯ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попаданий классического перебора, %}}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БИБЛИОТЕКА СОЕДИНЕНИЙ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размер библиотеки, млн соединений}}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Классический физический перебор: библиотека {{число: размер библиотеки, млн соединений}} соединений, попадания — {{число: доля попаданий классического перебора, %}}. Метод назван, знаменатель назван.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Рядом в обзорах и на страницах агрегаторов — заявленные доля попаданий и экономия перехода от попадания к лиду. У этих чисел нет ни имени проекта, ни даты, ни публикации.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Вопрос залу: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у какого числа в вашей работе есть метод и знаменатель, а у какого — только цифра без них?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отраслевой обзор классического физического перебора — публикация}}; страница агрегатора — {{источник: адрес и дата снятия скриншота}}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Воронка молекул машинного происхождения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391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ДОВЕСТИ НЕГОДНУЮ МОЛЕКУЛУ ДО ФАЗЫ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63689"/>
            <a:ext cx="2398699" cy="8768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месяцы работы центра, добровольцы под дозой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ОТБРОСИТЬ ГОДНУЮ МОЛЕКУЛУ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110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терапии не будет ни у кого — цена не измеряется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ОБА РЕЖИМА — ПЕРЕХОД ФАЗЫ 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переход фазы I в фазу II, %}}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ОБА РЕЖИМА — ОДОБРЕНИЕ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1690796"/>
            <a:ext cx="2398699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{{число: совокупная вероятность одобрения, %}}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Довести негодную молекулу до первой фазы — месяцы работы клинического центра, здоровые добровольцы под дозой. Отбросить годную — терапии не будет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Оба классических режима посчитаны тем же числом.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Вести в клинику всё синтезированное, и вести только то, что прошло полный экспертный отбор: у обоих — переход фазы I {{число: переход фазы I в фазу II, %}}, переход фазы II {{число: переход фазы II в фазу III, %}}, до одобрения — {{число: совокупная вероятность одобрения, %}}.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BIO / QLS / Informa, Clinical Development Success Rates and Contributing Factors 2011–2020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Молекула за год, снятая на первой фазе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ДОКЛИНИКА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длительность доклиники, мес}}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ОТРАСЛЕВАЯ НОРМА (ЗАЯВЛЕНИЕ КОМПАНИИ)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отраслевая норма доклиники, лет}}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736819"/>
            <a:ext cx="11441887" cy="3499388"/>
          </a:xfrm>
          <a:prstGeom prst="roundRect">
            <a:avLst>
              <a:gd name="adj" fmla="val 871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828259"/>
            <a:ext cx="11112703" cy="3407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Доклинический этап — {{число: длительность доклиники, мес}} против заявленных {{число: отраслевая норма доклиники, лет}} отраслевой нормы для этого класса мишеней.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Молекула вошла в клинику человека {{число: дата входа в клинику}}.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{{число: дата снятия}} — молекула снята: не удовлетворила критериям исследования на первой фазе.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Оба числа — доклиника и норма — заявления самой компании.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отраслевой дайджест + независимые пересказы снятия молекулы на фазе I}}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Переход второй фазы: не хуже базы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МОЛЕКУЛЫ МАШИННОГО ПРОИСХОЖДЕНИЯ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переход второй фазы, молекулы машинного происхождения, % (n=…)}}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ПО ОТРАСЛИ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переход фазы II в фазу III по отрасли,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Это переход против перехода: одна и та же дробь с обеих сторон.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Переход второй фазы у молекул машинного происхождения — {{число: переход второй фазы, молекулы машинного происхождения, % (n=…)}} — против {{число: переход фазы II в фазу III по отрасли, %}} по отрасли.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Не хуже базы.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Jayatunga и соавт., Drug Discovery Today, 2024; BIO / QLS / Informa, Clinical Development Success Rates 2011–2020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Одобрений — ноль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2673019" cy="1316642"/>
          </a:xfrm>
          <a:prstGeom prst="roundRect">
            <a:avLst>
              <a:gd name="adj" fmla="val 23149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ОДОБРЕНИЙ РЕГУЛЯТОРА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2398699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40531" y="1335024"/>
            <a:ext cx="2673019" cy="1316642"/>
          </a:xfrm>
          <a:prstGeom prst="roundRect">
            <a:avLst>
              <a:gd name="adj" fmla="val 2314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7691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АКТИВОВ В КЛИНИКЕ — ЗАМЕР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7691" y="1690796"/>
            <a:ext cx="2398699" cy="698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50" b="1" i="0">
                <a:solidFill>
                  <a:srgbClr val="21295C"/>
                </a:solidFill>
                <a:latin typeface="Arial"/>
              </a:rPr>
              <a:t>{{число: активов в клинике, замер 1}}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8143" y="1335024"/>
            <a:ext cx="2673019" cy="1316642"/>
          </a:xfrm>
          <a:prstGeom prst="roundRect">
            <a:avLst>
              <a:gd name="adj" fmla="val 2314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5303" y="1472184"/>
            <a:ext cx="2398699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АКТИВОВ В КЛИНИКЕ — ЗАМЕР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3" y="1690796"/>
            <a:ext cx="2398699" cy="6985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950" b="1" i="0">
                <a:solidFill>
                  <a:srgbClr val="21295C"/>
                </a:solidFill>
                <a:latin typeface="Arial"/>
              </a:rPr>
              <a:t>{{число: активов в клинике, замер 2}}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755" y="1335024"/>
            <a:ext cx="2673019" cy="1316642"/>
          </a:xfrm>
          <a:prstGeom prst="roundRect">
            <a:avLst>
              <a:gd name="adj" fmla="val 23149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2915" y="1472184"/>
            <a:ext cx="2398699" cy="5643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ЗАВЕРШИЛИ ФАЗУ II ИЗ АКТИВОВ ЗАМЕРА 2 (НЕСОПОСТАВИМО С ПЕРЕХОДОМ)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2915" y="2036582"/>
            <a:ext cx="2398699" cy="4779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{{число: завершили фазу II, доля из активов замера 2}}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4" y="2743106"/>
            <a:ext cx="11441887" cy="3493101"/>
          </a:xfrm>
          <a:prstGeom prst="roundRect">
            <a:avLst>
              <a:gd name="adj" fmla="val 872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2834546"/>
            <a:ext cx="11112703" cy="34016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Одобрений регулятора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ноль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При {{число: активов в клинике, замер 1}} активах по одному замеру и {{число: активов в клинике, замер 2}} по другому.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Подписанное как несопоставимое: из активов второго замера вторую фазу завершили {{число: завершили фазу II, доля из активов замера 2}}, срез {{число: дата среза второго замера}}.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Одной строкой: одна молекула — третья фаза начата.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Haque W. и соавт., J Clin Oncol 2026, DOI 10.1200/JCO.2026.44.16_suppl.11072; Jayatunga и соавт., Drug Discovery Today, 2024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Компания, отказавшаяся от своего обещания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ЦЕНА ОБЕИХ ОШИБОК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фаза IIa целиком против терапии, которой не будет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310355"/>
          </a:xfrm>
          <a:prstGeom prst="roundRect">
            <a:avLst>
              <a:gd name="adj" fmla="val 2326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КЛАССИЧЕСКИЙ РЕЖИМ — НАПОМИНАНИЕ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переход фазы II в фазу III по отрасли, %}}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3123"/>
            <a:ext cx="1289304" cy="1452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Путь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2828259"/>
            <a:ext cx="2236393" cy="1452393"/>
          </a:xfrm>
          <a:prstGeom prst="roundRect">
            <a:avLst>
              <a:gd name="adj" fmla="val 20986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02536" y="2910555"/>
            <a:ext cx="2071801" cy="128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Обещание доводить препараты самостоятельно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02353" y="348587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0953" y="2828259"/>
            <a:ext cx="2236393" cy="1452393"/>
          </a:xfrm>
          <a:prstGeom prst="roundRect">
            <a:avLst>
              <a:gd name="adj" fmla="val 20986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3249" y="2910555"/>
            <a:ext cx="2071801" cy="128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Фаза IIa — {{число: число пациентов}} пациентов, {{число: число дней нанесения}} дней, точки эффективности не достигнуты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713067" y="348587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2828259"/>
            <a:ext cx="2236393" cy="1452393"/>
          </a:xfrm>
          <a:prstGeom prst="roundRect">
            <a:avLst>
              <a:gd name="adj" fmla="val 20986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23963" y="2910555"/>
            <a:ext cx="2071801" cy="128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{{число: сокращение штата, человек}} рабочих мест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223781" y="348587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452381" y="2828259"/>
            <a:ext cx="2236393" cy="1452393"/>
          </a:xfrm>
          <a:prstGeom prst="roundRect">
            <a:avLst>
              <a:gd name="adj" fmla="val 20986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34677" y="2910555"/>
            <a:ext cx="2071801" cy="128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Отказ от модели бизнеса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426957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Путь одной компании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4904" y="4739811"/>
            <a:ext cx="11441887" cy="1496396"/>
          </a:xfrm>
          <a:prstGeom prst="roundRect">
            <a:avLst>
              <a:gd name="adj" fmla="val 203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" y="4831251"/>
            <a:ext cx="11112703" cy="14049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10" b="1" i="0">
                <a:solidFill>
                  <a:srgbClr val="21295C"/>
                </a:solidFill>
                <a:latin typeface="Arial"/>
              </a:rPr>
              <a:t>Цена обеих ошибок.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Обещание рассчитано на успех там, где отраслевая база даёт {{число: переход фазы II в фазу III по отрасли, %}} перехода — провал на этом шаге норма воронки.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10" b="0" i="0">
                <a:solidFill>
                  <a:srgbClr val="21295C"/>
                </a:solidFill>
                <a:latin typeface="Arial"/>
              </a:rPr>
              <a:t/>
            </a:r>
            <a:r>
              <a:rPr sz="1410" b="1" i="0">
                <a:solidFill>
                  <a:srgbClr val="21295C"/>
                </a:solidFill>
                <a:latin typeface="Arial"/>
              </a:rPr>
              <a:t>Путь компании.</a:t>
            </a:r>
            <a:r>
              <a:rPr sz="1410" b="0" i="0">
                <a:solidFill>
                  <a:srgbClr val="21295C"/>
                </a:solidFill>
                <a:latin typeface="Arial"/>
              </a:rPr>
              <a:t> Обещание доводить препараты до регистрации самостоятельно → фаза IIa, {{число: число пациентов}} пациентов, {{число: число дней нанесения}} дней, точки эффективности не достигнуты → {{число: сокращение штата, человек}} рабочих мест → отказ от модели бизнеса.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отраслевая журналистика + сообщения компании — издания и даты}}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График депозитария: шаг не исчез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Две линии по данным депозитария, 2020 → 2024.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Рентгеновская кристаллография — плато около {{число: плато депозитов рентгеновской кристаллографии, тыс. в год}} в год, причём с {{число: год начала плато}}.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Криоэлектронная микроскопия — рост.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Ожидаемая форма «шаг исчез» числами не подтверждается.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статистика депозитария структур — архив, диапазон лет}}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Вывод: узкое место не подешевело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ОДОБРЕНИЙ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" y="2346395"/>
            <a:ext cx="11441887" cy="3889812"/>
          </a:xfrm>
          <a:prstGeom prst="roundRect">
            <a:avLst>
              <a:gd name="adj" fmla="val 7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2437835"/>
            <a:ext cx="11112703" cy="3798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Форма 1.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Нагрузка переехала на другой шаг — на масштабе отрасли и на масштабе одной молекулы.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Форма 4а.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Объём на том же месте упал — расчётный отбор соединений под известную мишень.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Форма 6.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Изменился порядок работ — на масштабе модели бизнеса, не процесса одного препарата.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Ранний шаг подешевел многократно. Одобрений —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0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 Узкое место лежит дальше и не подешевело.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Инженеру: мерить пропускную способность шага, который вы не трогали.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свод раздела — ссылки на §9.11–9.12 главы}}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960120"/>
            <a:ext cx="11185855" cy="518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8. Что стало с теми, кто решает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0238"/>
            <a:ext cx="1188720" cy="5943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4558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Весь вечер лекция мерила работу: поток тревог, документ, воронку разработки лекарства. Ни один из этих замеров не отвечает на вопрос, что стало с человеком внутри этой работы — а он в ней остался и остался решающим.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13331"/>
            <a:ext cx="10984687" cy="6407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550" b="0" i="0">
                <a:solidFill>
                  <a:srgbClr val="21295C"/>
                </a:solidFill>
                <a:latin typeface="Arial"/>
              </a:rPr>
              <a:t>Разборы по порядку: 1. Доля обнаружения после отключения помощника · 2. Кто теперь исполнитель · 3. Чего про доверие не измерено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Эндоскопист после года без процедур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74904" y="1243584"/>
            <a:ext cx="11441887" cy="4992624"/>
          </a:xfrm>
          <a:prstGeom prst="roundRect">
            <a:avLst>
              <a:gd name="adj" fmla="val 61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" y="1335024"/>
            <a:ext cx="11112703" cy="4901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Врач вернулся после года без процедур — декрет, административная должность, долгая болезнь, неважно. Диплом тот же, сертификат действующий,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допуск не отзывали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Первая процедура: прибор идёт медленнее, рука ищет угол дольше, складку, за которую надо заглянуть, он проходит — и сам этого не знает, потому что обратной связи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Навык здесь — расходуемое, и расходуется он молча.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Поэтому профессия не спрашивает врача, в форме ли он, а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считает за него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долю обследований с находкой, по каждому врачу отдельно.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рекомендации профессионального общества по показателю качества колоноскопии}}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Цена обеих ошибок, названная до всякой точности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Пропустить образование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остаётся в человеке до следующего обследования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так возникает болезнь, найденная между обследованиями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1295" y="1335024"/>
            <a:ext cx="5437479" cy="3108960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5887" y="1490472"/>
            <a:ext cx="5108295" cy="246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Увидеть лишнее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5887" y="1846650"/>
            <a:ext cx="5108295" cy="24418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снятие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кровотечение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гистология</a:t>
            </a:r>
          </a:p>
          <a:p>
            <a:pPr algn="l">
              <a:lnSpc>
                <a:spcPct val="126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• повторный визит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4535424"/>
            <a:ext cx="11441887" cy="1700784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4626864"/>
            <a:ext cx="11112703" cy="160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Обратная связь приходит через годы — поэтому плохой осмотр не чувствуется плохим.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Два классических режима, посчитанные в одной единице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ДИСЦИПЛИНА ОСМОТРА: БЫЛО → СТАЛО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доля обнаружения до → после удлинения извлечения прибора, %}}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ВТОРОЙ НАБЛЮДАТЕЛЬ: БЫЛО → СТАЛО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обнаружения до → после участия второго наблюдателя,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Дисциплина осмотра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извлечение прибора удлинили.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Второй наблюдатель в кабинете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на тот же экран смотрит ещё один человек.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Оба режима не бесплатны — и оба дают прирост того же порядка, что помощник, или больше.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рандомизированное испытание девятиминутного извлечения, Clinical Gastroenterology and Hepatology}}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сводный разбор рандомизированных испытаний участия сестры}}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Доля обнаружения упала там, где помощника не было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5510631" cy="1420692"/>
          </a:xfrm>
          <a:prstGeom prst="roundRect">
            <a:avLst>
              <a:gd name="adj" fmla="val 21454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БЕЗ ПОМОЩНИКА: БЫЛО → СТАЛО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5236311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доля обнаружения без помощника, было → стало, %}}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335024"/>
            <a:ext cx="5510631" cy="1420692"/>
          </a:xfrm>
          <a:prstGeom prst="roundRect">
            <a:avLst>
              <a:gd name="adj" fmla="val 21454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5303" y="1472184"/>
            <a:ext cx="5236311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ПРИВЕЛО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5303" y="1690796"/>
            <a:ext cx="5236311" cy="927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 i="0">
                <a:solidFill>
                  <a:srgbClr val="21295C"/>
                </a:solidFill>
                <a:latin typeface="Arial"/>
              </a:rPr>
              <a:t>минус {{число: падение, процентных пунктов}} у врачей со средним стажем {{число: средний стаж врачей, лет, разброс}}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" y="2847156"/>
            <a:ext cx="11441887" cy="3389051"/>
          </a:xfrm>
          <a:prstGeom prst="roundRect">
            <a:avLst>
              <a:gd name="adj" fmla="val 89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" y="2938596"/>
            <a:ext cx="11112703" cy="3297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 четырёх центрах внедрили помощника, подсвечивающего образование на видео в реальном времени. Затем посмотрели, что стало с процедурами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без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помощника, выполненными теми же врачами.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Сила свидетельства — на экране, а не в заметках.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Ретроспективное наблюдательное,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воспроизводилось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причинности не доказывает.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Состав спора — тоже на экране.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Опубликованное исправление, три письма и ответ авторов: вторичные исходы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просели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время выведения прибора в работе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не измерено вовсе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а нагрузка на тех же врачей выросла с {{число: нагрузка, было, процедур}} до {{число: нагрузка, стало, процедур}}.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Budzyń и др., The Lancet Gastroenterology &amp; Hepatology, 2025, с исправлением и тремя письмами}}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50" b="1" i="0">
                <a:solidFill>
                  <a:srgbClr val="21295C"/>
                </a:solidFill>
                <a:latin typeface="Arial"/>
              </a:rPr>
              <a:t>Что это дало, чего потребовало — форма «Исполнитель тот же, но стал хуже»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ПЕРИОД РАБОТЫ С ПОМОЩНИКОМ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110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{{число: длительность периода работы с помощником, месяцев}}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ПРАКТИКА С МОДЕЛЬЮ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прирост на практике с моделью,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ЭКЗАМЕН БЕЗ МОДЕЛИ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9532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{{число: результат экзамена без модели относительно контроля, %}}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440" b="1" i="0">
                <a:solidFill>
                  <a:srgbClr val="21295C"/>
                </a:solidFill>
                <a:latin typeface="Arial"/>
              </a:rPr>
              <a:t>Дало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с помощником находят больше.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Потребовало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умения искать самому.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В сумме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— помощник повышает результат, пока включён, и это состояние не бесплатно.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1" i="0">
                <a:solidFill>
                  <a:srgbClr val="21295C"/>
                </a:solidFill>
                <a:latin typeface="Arial"/>
              </a:rPr>
              <a:t>Форма 9 словаря: Исполнитель тот же, но стал хуже.</a:t>
            </a:r>
            <a:r>
              <a:rPr sz="1440" b="0" i="0">
                <a:solidFill>
                  <a:srgbClr val="21295C"/>
                </a:solidFill>
                <a:latin typeface="Arial"/>
              </a:rPr>
              <a:t> Место, объём, порядок шагов и рука прежние — изменилось состояние самой руки. Не форма 5: там сменилась рука, здесь рука та же, и именно на этом стоит измерение. Не форма 4а: там упал объём операции, здесь объём тот же, упала доля находок.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150" b="0" i="0">
                <a:solidFill>
                  <a:srgbClr val="21295C"/>
                </a:solidFill>
                <a:latin typeface="Arial"/>
              </a:rPr>
              <a:t/>
            </a:r>
            <a:r>
              <a:rPr sz="1150" b="0" i="1">
                <a:solidFill>
                  <a:srgbClr val="1C7293"/>
                </a:solidFill>
                <a:latin typeface="Arial"/>
              </a:rPr>
              <a:t>режим: распознавание на видео, в реальном времени · чем делают сегодня: обнаружение образований в реальном времени, реализаций много, разница между ними мала · куда движется: от обнаружения к характеристике найденного и к счёту показателей самого врача · чего не умеет: поддерживать навык — здесь измерено обратное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440" b="0" i="0">
                <a:solidFill>
                  <a:srgbClr val="21295C"/>
                </a:solidFill>
                <a:latin typeface="Arial"/>
              </a:rPr>
              <a:t/>
            </a:r>
            <a:r>
              <a:rPr sz="1440" b="0" i="0">
                <a:solidFill>
                  <a:srgbClr val="21295C"/>
                </a:solidFill>
                <a:latin typeface="Arial"/>
              </a:rPr>
              <a:t>Навык, наработанный с помощником, на работу без помощника не переносится — измерено рандомизированно, на {{число: размер выборки учебного эксперимента, человек}}.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Bastani и др., PNAS, 2025 — рандомизированный полевой эксперимент}}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Два пробела и одно измерение доверия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ОДНА ОШИБКА ОБРЫВАЕТ ДОВЕРИЕ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не опубликовано как отдельная измеренная величина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ДОВЕРИЕ ЗА МЕСЯЦЫ РЕАЛЬНОЙ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не измерено ни у кого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ОТКАЗ РАБОТАТЬ БЕЗ ПОМОЩНИКА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9022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{{число: доля опытных разработчиков, отказавшихся сдавать задачи без ИИ, %}}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4" y="3127242"/>
            <a:ext cx="11441887" cy="3108965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3218682"/>
            <a:ext cx="11112703" cy="3017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От чего человек отказывается — видно; что он думает о доверии — нет.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Единственное управляемое средство: если человеку дают хоть немного поправить прогноз модели, он не бросает её после ошибки.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обновление замера производительности разработчиков, февраль 2026}}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Кто теперь исполнитель и какие шаги появились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ОБЪЁМ ЧЕЛОВЕЧЕСКОГО ЧТЕНИЯ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3344570" cy="7749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ниже на {{число: снижение объёма чтения, %}} (по внедрениям {{число: диапазон снижения, %}})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402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3562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ЗАВИСИМОСТЬ ОТ КОНТАКТА: ВЕРНУВШИЕСЯ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3562" y="1690796"/>
            <a:ext cx="3344570" cy="1207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{{число: изменение у вернувшихся участников, %}}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9884" y="1335024"/>
            <a:ext cx="3618890" cy="1700778"/>
          </a:xfrm>
          <a:prstGeom prst="roundRect">
            <a:avLst>
              <a:gd name="adj" fmla="val 17921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7044" y="1472184"/>
            <a:ext cx="3344570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ЗАВИСИМОСТЬ ОТ КОНТАКТА: НОВЫЕ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7044" y="1690796"/>
            <a:ext cx="3344570" cy="81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изменение у новых участников, %}}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73546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До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3218682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02536" y="3300978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снимок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039258" y="337870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67858" y="3218682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50154" y="3300978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первый читатель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86876" y="3378702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15476" y="3218682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7772" y="3300978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второй читатель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877050"/>
            <a:ext cx="1289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После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20240" y="3822186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2536" y="3904482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снимок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039258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267858" y="3822186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50154" y="3904482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386876" y="3982206"/>
            <a:ext cx="182879" cy="137160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615476" y="3822186"/>
            <a:ext cx="3073298" cy="4572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7772" y="3904482"/>
            <a:ext cx="290870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арбитр при расхождении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425690"/>
            <a:ext cx="11185855" cy="184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поток решения до и после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4" y="4738544"/>
            <a:ext cx="11441887" cy="1497663"/>
          </a:xfrm>
          <a:prstGeom prst="roundRect">
            <a:avLst>
              <a:gd name="adj" fmla="val 2035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" y="4829984"/>
            <a:ext cx="11112703" cy="14062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Появилась роль посредника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модель даёт вывод, человек переводит его на язык, которому поверит врач; доверие выше у тех, кто работает с моделью руками.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Появился целевой арбитраж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а рутинная перепроверка каждого случая ушла.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Третья строка — измеренная зависимость: точечные оценки есть,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значимости нет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качественное исследование внедрения модели предупреждения, JMIR, 2020}}</a:t>
            </a:r>
            <a:r>
              <a:rPr sz="1100" b="0" i="1">
                <a:solidFill>
                  <a:srgbClr val="1C7293"/>
                </a:solidFill>
                <a:latin typeface="Arial"/>
              </a:rPr>
              <a:t> · </a:t>
            </a:r>
            <a:r>
              <a:rPr sz="1100" b="0" i="1">
                <a:solidFill>
                  <a:srgbClr val="1C7293"/>
                </a:solidFill>
                <a:latin typeface="Arial"/>
              </a:rPr>
              <a:t>{{источник: обновление замера производительности разработчиков, 24 февраля 2026}}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8585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Навык — расходуемое, и расход измерен один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60120" cy="5029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335024"/>
            <a:ext cx="11185855" cy="91993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72184"/>
            <a:ext cx="10911535" cy="2186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ЦЕЛЕВЫХ ПОПЫТОК ПОИСКА ПОВТОРЕНИЯ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0796"/>
            <a:ext cx="10911535" cy="426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F0AB00"/>
                </a:solidFill>
                <a:latin typeface="Arial"/>
              </a:rPr>
              <a:t>{{число: 22 целевых попытки поиска, включая отечественные}}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" y="2346395"/>
            <a:ext cx="11441887" cy="3889812"/>
          </a:xfrm>
          <a:prstGeom prst="roundRect">
            <a:avLst>
              <a:gd name="adj" fmla="val 7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2437835"/>
            <a:ext cx="11112703" cy="37983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На реальной работе измерено однажды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падение доли обнаружения, с опубликованным исправлением и тремя письмами.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Повторения на реальной работе нет</a:t>
            </a:r>
            <a:r>
              <a:rPr sz="1500" b="0" i="0">
                <a:solidFill>
                  <a:srgbClr val="21295C"/>
                </a:solidFill>
                <a:latin typeface="Arial"/>
              </a:rPr>
              <a:t>, и пробел назван числом.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Продольного измерения для тех, кто учился сразу с ассистентом, не существует вовсе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— про людей в этой аудитории данных нет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Матрица ниже — третий слой «чем держат» — имеет одну пустую клетку: </a:t>
            </a:r>
            <a:r>
              <a:rPr sz="1500" b="1" i="0">
                <a:solidFill>
                  <a:srgbClr val="21295C"/>
                </a:solidFill>
                <a:latin typeface="Arial"/>
              </a:rPr>
              <a:t>процедуры, измеряющей результат врача без помощника, не существует ни у кого.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/>
            </a:r>
            <a:r>
              <a:rPr sz="1500" b="0" i="0">
                <a:solidFill>
                  <a:srgbClr val="21295C"/>
                </a:solidFill>
                <a:latin typeface="Arial"/>
              </a:rPr>
              <a:t>Дальше мы складываем вечер — девять форм, счёт красной линии и ответ на вопрос лекции.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345936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{{источник: пилотное исследование по рентгенологии (препринт)}}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