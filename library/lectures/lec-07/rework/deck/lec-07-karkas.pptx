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467-023-44676-z"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s41467-023-44676-z"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www.accessdata.fda.gov/cdrh_docs/pdf18/DEN180001.pdf"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2256-021-00307-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arxiv.org/abs/1711.05225"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NEJMc2029240" TargetMode="External"/><Relationship Id="rId4"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398-021-01224-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8/radiol.2525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48/radiol.25259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48/radiol.24368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38/s41746-020-0232-8"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networkopen.2024.40969"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01/jamanetworkopen.2024.4096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1001/jamanetworkopen.2026.16556"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93/jamia/ocad11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93/jamia/ocad11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01/jamahealthforum.2025.3172"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go.bio.org/rs/490-EHZ-999/images/ClinicalDevelopmentSuccessRates2011_2020.pdf"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pmc.ncbi.nlm.nih.gov/articles/PMC9231077/" TargetMode="External"/><Relationship Id="rId4"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pmc.ncbi.nlm.nih.gov/articles/PMC9231077/"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go.bio.org/rs/490-EHZ-999/images/ClinicalDevelopmentSuccessRates2011_2020.pdf"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16/j.gie.2014.07.058"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 Id="rId3" Type="http://schemas.openxmlformats.org/officeDocument/2006/relationships/hyperlink" Target="https://doi.org/10.1016/j.gie.2014.07.058" TargetMode="External"/><Relationship Id="rId4" Type="http://schemas.openxmlformats.org/officeDocument/2006/relationships/hyperlink" Target="https://doi.org/10.1016/S2468-1253%2825%2900133-5" TargetMode="Externa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metr.org/blog/2026-02-24-uplift-update/"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16/S1470-2045%2823%2900298-X" TargetMode="External"/><Relationship Id="rId4" Type="http://schemas.openxmlformats.org/officeDocument/2006/relationships/hyperlink" Target="https://metr.org/blog/2026-02-24-uplift-update/"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 Id="rId3" Type="http://schemas.openxmlformats.org/officeDocument/2006/relationships/hyperlink" Target="https://doi.org/10.1016/S2468-1253%2825%2900133-5" TargetMode="Externa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 Id="rId3" Type="http://schemas.openxmlformats.org/officeDocument/2006/relationships/hyperlink" Target="https://doi.org/10.1001/jamahealthforum.2025.3172" TargetMode="Externa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даже если к концу лекции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лекция,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об одном человеке, а не как каталог применений. Каталог отвечает на вопрос «что бывает», путь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лекцию: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распознавание, поиск, генерация, прогноз, планирование. Второе — с какими данными она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В конце каждого раздела по строкам встанут типы задач, которые на этой стадии встретились, по столбцам — виды данных, в клетках — короткие имена разобранных случаев. Карта делает видимым то, чего не видно на отдельных разборах. Пустая клетка в ней такое же содержание, как занятая: она говорит, что на этой стадии инструмент такого класса искать незачем, и экономит время, которое ушло бы на поиск.</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а не симптом.</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отбора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Порог записан в документе органа здравоохранения, и записан задолго до того, как кто-нибудь измерил точность какого-нибудь прибора. Читают двое, и выигрыш здесь даёт несовпадение ошибок: пропуски двух людей приходятся на разные снимки. Категорию тяжести присваивает медсестра по опубликованной таблице баллов. А тот, кто не придёт сам, в поле зрения не попадает вовсе: у этого режима явка ноль, и получена она определением, а не измерением.</a:t>
            </a:r>
          </a:p>
          <a:p>
            <a:r>
              <a:t/>
            </a:r>
          </a:p>
          <a:p>
            <a:r>
              <a:t>Правая половина — три шага, в которые модель вошла, и один, который она добавила. В чтении она сортирует поток по предсказанному риску, и человек читает отобранное; в решении на месте снимок делает медсестра, а «направить или нет» выносится без специалиста; в сортировке потока она занимает место протокольной шкалы. Новый шаг — добыть годный снимок: у специалиста такой операции не существовало, он компенсировал условия съёмки сам.</a:t>
            </a:r>
          </a:p>
          <a:p>
            <a:r>
              <a:t/>
            </a:r>
          </a:p>
          <a:p>
            <a:r>
              <a:t>Три места, где модель не работает. Первое: порог она не назначает. Что хуже — пропустить или позвать лишнего — решает тот, кто это подписывает, и носителя истины внутри данных у этого вопроса нет. Второе: открытый поток обращений. Человек говорит «мне плохо», и формулировки в его словах нет; редкое от частого модель в таком потоке не отличает, и выигрыша здесь не дал ни один разбор. Третье: экзаменационный балл. Вопрос экзамена приходит сформулированным и содержит нужные признаки — то есть измеряет ровно ту часть задачи, которой в живом потоке нет.</a:t>
            </a:r>
          </a:p>
          <a:p>
            <a:r>
              <a:t/>
            </a:r>
          </a:p>
          <a:p>
            <a:r>
              <a:t>Единственный счёт здесь свой — три шага из семи.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отбора занято три.</a:t>
            </a:r>
          </a:p>
          <a:p>
            <a:r>
              <a:t/>
            </a:r>
          </a:p>
          <a:p>
            <a:r>
              <a:t>Как читать полужирное. Жирным отмечено то, что разобрано в разделе числами: автономное чтение глазного дна и сортировка потока по предсказанному риску в программе скрининга. Обычным шрифтом — режимы, которые на стадии распространены, но собственного разбора у нас по ним нет, и чисел по ним поэтому не будет ни одного.</a:t>
            </a:r>
          </a:p>
          <a:p>
            <a:r>
              <a:t/>
            </a:r>
          </a:p>
          <a:p>
            <a:r>
              <a:t>Три занятые клетки и разная судьба трёх режимов. Решение «направить или нет» на месте занято автономным чтением без врача: допущено единицами и только там, где вопрос бинарный. Это свойство задачи, а не особая осторожность надзора — у бинарного вопроса есть проверяемый ответ, у открытого диагноза его нет. Чтение снимка занято режимом «вторым читателем или сортировка потока по риску», и растёт он шире всех остальных: он не отменяет ни одной подписи, кто разбирает расхождение — назначает процедура. А работа со словами обращения даёт три режима с разной судьбой: сортировка обращения словами после разобранного случая стагнирует, запись приёма под диктовку и ответ по документам со ссылкой на источник принимаются быстро. Разницу делает одно: первый режим принимает решение, два других оформляют уже принятое.</a:t>
            </a:r>
          </a:p>
          <a:p>
            <a:r>
              <a:t/>
            </a:r>
          </a:p>
          <a:p>
            <a:r>
              <a:t>Что говорят пустые клетки. Прогноза и планирования в разборах раздела нет: кого звать и с каким интервалом, назначено документом, а не выведено из данных. Пустая клетка — такое же содержание, как занятая: она говорит, инструмент какого класса здесь искать незачем. И пять видов данных из семи здесь пустуют целиком — поставщик, принёсший историю успеха на звуке или на видео, принёс историю не про эту стадию.</a:t>
            </a:r>
          </a:p>
          <a:p>
            <a:r>
              <a:t/>
            </a:r>
          </a:p>
          <a:p>
            <a:r>
              <a:t>Чисел в раскладке нет — ни долей рынка, ни числа допущенных изделий: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анализа данных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Рабочую точку выбирает протокол под цену обеих ошибок. Годность кадра решает техник по инструкции кабинета. Две доли называют парой и всегда для одной рабочей точки. Долю верных тревог пересчитывают под свою распространённость.</a:t>
            </a:r>
          </a:p>
          <a:p>
            <a:r>
              <a:t/>
            </a:r>
          </a:p>
          <a:p>
            <a:r>
              <a:t>Правая половина — два шага, в которые модель вошла, один, который она добавила, и одно свойство, которого у человека нет. В чтении она выдаёт заключение сама и без специалиста. В сообщении результата вместо величины приходит один балл, и отбор идёт по порогу. Новый шаг — повторный визит тем, чьё измерение не прошло по качеству: в классическом порядке его не было, потому что переснимали на месте. И постоянство: десятитысячный снимок читается так же, как первый, тогда как у человека к концу смены доля пропусков меняется.</a:t>
            </a:r>
          </a:p>
          <a:p>
            <a:r>
              <a:t/>
            </a:r>
          </a:p>
          <a:p>
            <a:r>
              <a:t>Три места, где модель не работает. Первое: рабочую точку она не назначает — за порогом стоит цена обеих ошибок, а решает её тот, кто подписывает. Второе: переснять она не умеет, и качество входа остаётся на человеке, которому никто не сказал правила. Третье: чем измерен вход. Прибор, определяющий насыщение крови кислородом по поглощению света, расходится с прямым анализом крови у пациентов с тёмной кожей в одиннадцати и семи десятых процента измерений против трёх и шести у светлокожих. Обе доли считаются по измерениям, не по пациентам, и обе взяты из одной названной когорты; многоцентровая выборка той же работы даёт другие числа, и рядом они не произносятся.</a:t>
            </a:r>
          </a:p>
          <a:p>
            <a:r>
              <a:t/>
            </a:r>
          </a:p>
          <a:p>
            <a:r>
              <a:t>Обученной модели в этом приборе нет вовсе: смещение оптическое и пришло до всякой модели. Система, берущая показание на вход, наследует его, не создавая. Смещение одностороннее — показание выше, опасное снижение пропускается чаще.</a:t>
            </a:r>
          </a:p>
          <a:p>
            <a:r>
              <a:t/>
            </a:r>
          </a:p>
          <a:p>
            <a:r>
              <a:t>**Источники.** </a:t>
            </a:r>
            <a:r>
              <a:rPr u="sng">
                <a:solidFill>
                  <a:srgbClr val="065A82"/>
                </a:solidFill>
                <a:hlinkClick r:id="rId3"/>
              </a:rPr>
              <a:t>Sjoding и соавт., NEJM 2020</a:t>
            </a:r>
            <a:r>
              <a:t> · </a:t>
            </a:r>
            <a:r>
              <a:rPr u="sng">
                <a:solidFill>
                  <a:srgbClr val="065A82"/>
                </a:solidFill>
                <a:hlinkClick r:id="rId4"/>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анализа данных занято три.</a:t>
            </a:r>
          </a:p>
          <a:p>
            <a:r>
              <a:t/>
            </a:r>
          </a:p>
          <a:p>
            <a:r>
              <a:t>Как читать полужирное. Жирным отмечено разобранное в разделе числами. Два разбора из трёх легли в одну клетку — классификация на изображении: автономное чтение глазного дна и оценка кожного образования. Это и есть находка карты: одна клетка, одна задача, один вид данных — и два провала разной природы. В Таиланде провалилось место развёртывания, в дерматологии состав обучающего набора. Отчёт, который сложил бы оба под именем клетки, не сказал бы ни о том, ни о другом.</a:t>
            </a:r>
          </a:p>
          <a:p>
            <a:r>
              <a:t/>
            </a:r>
          </a:p>
          <a:p>
            <a:r>
              <a:t>Распознавание на изображении занято детекцией и сортировкой потока на рентгене и томографии; собственного разбора раздела там нет, и чисел по нему не будет. Прогноз на структурированных данных занят отбором по предсказанным расходам — разбор третий.</a:t>
            </a:r>
          </a:p>
          <a:p>
            <a:r>
              <a:t/>
            </a:r>
          </a:p>
          <a:p>
            <a:r>
              <a:t>Что говорят пустые клетки. Поиск с генерацией на тексте в разборах раздела не встречается вовсе: заключение по измеренному здесь выносит система, а не текст. Пустая клетка — такое же содержание, как занятая: она говорит, инструмент какого класса на этой стадии искать незачем.</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так и помечено.</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постановки диагноза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Список собирает врач по наблюдаемому, и состав списка — его работа, а не выбор из готового. Читают двое независимо, и выигрыш даёт несовпадение ошибок: пропуски двух людей приходятся на разные случаи. Расхождение разбирает третий, видящий оба заключения. Подпись ставит тот, кто читал сам.</a:t>
            </a:r>
          </a:p>
          <a:p>
            <a:r>
              <a:t/>
            </a:r>
          </a:p>
          <a:p>
            <a:r>
              <a:t>Правая половина — три шага, в которые модель вошла, и один, который она добавила. В составе списка подсказка не выбирает из готового, а задаёт, какие строки в нём окажутся: отметила инфильтрат — строка про лимфому появится с меньшей вероятностью. Во втором чтении она заняла место второго человека. В подписи на четвёртой ступени человек видит только текст заключения. И новый шаг — решить, верить ли подсказке: такой операции у читателя до сих пор не было, потому что спорить было не с чем.</a:t>
            </a:r>
          </a:p>
          <a:p>
            <a:r>
              <a:t/>
            </a:r>
          </a:p>
          <a:p>
            <a:r>
              <a:t>Три места, где модель не работает. Первое: независимость. Подсказка видна до того, как сложилось собственное мнение, и так устроен интерфейс, а не характер врача. Хуже другое: ошибка обученной системы у всех читателей одна, поэтому между двумя она не усредняется, а удваивается. Второе: избирательность.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Третье — объяснимость, и у неё цена измерена. База — точность выбора препарата без всякой модели, тридцать пять и семь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двадцати шести и двух — ниже линии, которую тот же врач даёт без модели вообще. Понятому возразить труднее, чем непонятному.</a:t>
            </a:r>
          </a:p>
          <a:p>
            <a:r>
              <a:t/>
            </a:r>
          </a:p>
          <a:p>
            <a:r>
              <a:t>**Источники.** </a:t>
            </a:r>
            <a:r>
              <a:rPr u="sng">
                <a:solidFill>
                  <a:srgbClr val="065A82"/>
                </a:solidFill>
                <a:hlinkClick r:id="rId3"/>
              </a:rPr>
              <a:t>Jacobs и соавт., Translational Psychiatry 2021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постановки диагноза занято четыре.</a:t>
            </a:r>
          </a:p>
          <a:p>
            <a:r>
              <a:t/>
            </a:r>
          </a:p>
          <a:p>
            <a:r>
              <a:t>Как читать полужирное. Жирным отмечено разобранное в разделе числами. Три разбора из четырёх лежат на изображении, и это свойство самой стадии: подсказка живёт там, где человек читает картинку, а не текст. В клетке распознавания стоят сразу два разбора с противоположными результатами — замер взгляда, где подсказка уронила чувствительность, и контрольная линия, где пара вышла сильнее обеих сторон. Одна клетка, одна задача, один вид данных и даже один производитель; разошлось устройство процедуры. Отчёт, сложивший бы оба под именем клетки, не сказал бы ни о том, ни о другом.</a:t>
            </a:r>
          </a:p>
          <a:p>
            <a:r>
              <a:t/>
            </a:r>
          </a:p>
          <a:p>
            <a:r>
              <a:t>Классификация на изображении занята подсказкой по оцифрованному срезу. Входит этот режим не там, где нужнее, а там,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а не принимает его. Прогноз на структурированных данных занят счётом риска внутри карты, собственного разбора раздела там нет.</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Названо здесь, чем делают, а не чья марка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наблюдения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Балл складывают руками, раз в несколько часов, по расписанию обхода. Веса таблицы опубликованы, и всякий может посмотреть, почему при такой частоте дыхания получается именно столько баллов. Порог назначен документом, и полоса, в которую попала сумма, назначает действие. Решение «звать старшего сейчас или на следующем обходе» выносит дежурная смена.</a:t>
            </a:r>
          </a:p>
          <a:p>
            <a:r>
              <a:t/>
            </a:r>
          </a:p>
          <a:p>
            <a:r>
              <a:t>Правая половина — три действия, в которые модель вошла, и одно, которое она добавила. Счёт балла она ведёт непрерывно и по всей карте, а не по шести величинам, снятым сейчас. Сравнение с порогом она делает сама и прерывает работу тревогой. К назначенному действию прикладывает готовый набор назначений в один щелчок. Новый шаг — разобрать тревогу и отклонить её: у шкалы такой операции не существовало вовсе, потому что отклонять в ней было нечего.</a:t>
            </a:r>
          </a:p>
          <a:p>
            <a:r>
              <a:t/>
            </a:r>
          </a:p>
          <a:p>
            <a:r>
              <a:t>Три места, где модель не работает. Первое: порог она себе не назначает. Какую долю ложных тревог организация готова оплачивать разбором — решение организации, и носителя истины внутри данных у этого вопроса нет. Второе: опережение. Модель считает по тому, что попало в карту, а анализ попадает в карту потому, что врач его заказал; если заказ сделан по возникшему подозрению, балл поднимется после подозрения. Третье: смена картины населения. Порог, выставленный под одно распределение входов, при сдвинувшемся потоке остаётся на месте и молчать не умеет.</a:t>
            </a:r>
          </a:p>
          <a:p>
            <a:r>
              <a:t/>
            </a:r>
          </a:p>
          <a:p>
            <a:r>
              <a:t>Единственный счёт здесь свой — три действия из шести.</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Ostermayer и соавт., JAMIA Open 2024</a:t>
            </a:r>
            <a:r>
              <a:t> · </a:t>
            </a:r>
            <a:r>
              <a:rPr u="sng">
                <a:solidFill>
                  <a:srgbClr val="065A82"/>
                </a:solidFill>
                <a:hlinkClick r:id="rId5"/>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наблюдения занята одна.</a:t>
            </a:r>
          </a:p>
          <a:p>
            <a:r>
              <a:t/>
            </a:r>
          </a:p>
          <a:p>
            <a:r>
              <a:t>Клетка эта — прогноз на структурированных данных. Вход — показатели и записи, которые уже лежат в карте; выход — балл риска и прерывающая тревога. Полужирным она набрана потому, что разобрана в разделе числами: заявленное качество против измеренного, доля подтверждения, опережение, поток тревог.</a:t>
            </a:r>
          </a:p>
          <a:p>
            <a:r>
              <a:t/>
            </a:r>
          </a:p>
          <a:p>
            <a:r>
              <a:t>Что говорит одна занятая клетка. Это единственная разобранная стадия лекции, где занятая клетка не лежит на изображении. На отборе и на чтении исследований работали со снимком; здесь снимка нет вовсе — наблюдение считает по числам, которые в карту попали сами, и именно поэтому модель сюда и зашла: снимать данные отдельно не нужно, они уже есть.</a:t>
            </a:r>
          </a:p>
          <a:p>
            <a:r>
              <a:t/>
            </a:r>
          </a:p>
          <a:p>
            <a:r>
              <a:t>Что говорят пустые. Шесть видов данных из семи пустуют целиком, и три типа задач из четырёх показанных пусты в этом разделе. Пустая клетка — такое же содержание, как занятая: она говорит, инструмент какого класса здесь искать незачем. Поставщик, принёсший историю успеха на изображении, на звуке или на видео, принёс историю не про эту стадию, и проверять его надо не придирками к цифрам, а вопросом, в какую клетку он попадает.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записи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Структуру документа врач держит в голове, пока говорит с человеком. Текст набирает сам либо диктует писцу, сидящему рядом. Вычитывает своё, и глаз у него настроен на опечатку и пропуск — на то, что оставляет после себя уставший человек. Выписной документ собирает по истории болезни руками.</a:t>
            </a:r>
          </a:p>
          <a:p>
            <a:r>
              <a:t/>
            </a:r>
          </a:p>
          <a:p>
            <a:r>
              <a:t>Правая половина — два действия, в которые модель вошла, одно, которое она сняла, и одно, которое добавила. Черновик заметки готов к концу приёма, а не к концу дня. Выписной документ собирается по карте целиком. Снято первое действие: структуру во время разговора держит инструмент, и это настоящий выигрыш, который специалист возьмёт. Новый шаг — вычитать чужой текст.</a:t>
            </a:r>
          </a:p>
          <a:p>
            <a:r>
              <a:t/>
            </a:r>
          </a:p>
          <a:p>
            <a:r>
              <a:t>Три места, где модель не работает. Первое: обязанность вычитки она не снимает. Подпись остаётся человеческой, и когда по документу что-то произойдёт, разбирать будут подпись. Второе: активное время правки. Оно измерено и не изменилось: сократился набор, правка осталась прежней, и продают при этом именно время. Третье: отличить правдоподобное от записанного. Связное, уместное по стилю утверждение, которого в истории болезни не было, инструмент от записанного не отличает — отличает привязка строки к месту в карте-источнике, и она есть не у всякой реализации.</a:t>
            </a:r>
          </a:p>
          <a:p>
            <a:r>
              <a:t/>
            </a:r>
          </a:p>
          <a:p>
            <a:r>
              <a:t>Единственный счёт здесь свой — два действия из шести. И сразу предупреждение к обоим разборам: из двух продуктов одного режима один дал измеренный выигрыш, другой ноль, так что фраза «мы внедрили автоматическую запись»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проспективный пилот,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записи занята одна, и обе работы раздела стоят в ней вдвоём: запись приёма и выписной эпикриз — один класс задачи на одном виде данных.</a:t>
            </a:r>
          </a:p>
          <a:p>
            <a:r>
              <a:t/>
            </a:r>
          </a:p>
          <a:p>
            <a:r>
              <a:t>Почему клетка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а не задача; оно работало задолго до нынешних моделей, и ни одно из измеренных чисел раздела к нему не относится.</a:t>
            </a:r>
          </a:p>
          <a:p>
            <a:r>
              <a:t/>
            </a:r>
          </a:p>
          <a:p>
            <a:r>
              <a:t>Что говорит одна занятая клетка вдвоём. Два разбора раздела отличаются не инструментом, а тем, что документ запускает дальше. Запись приёма читает следующий врач. Выписной эпикриз запускает назначения в другом учреждении. Клетка одна, цена ошибки разная — и это ровно та мысль, ради которой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запись приёма в фоне с черновиком заметки принимается массово и принимается именно как черновик, а не как готовый документ. Второй режим — генерация клинических документов внутри самой карты, и у него есть важная разновидность: сводка со ссылкой на место в карте-источнике. Разница между ними не в качестве текста, а в проверяемости: привязка строки к источнику — единственное, что превращает вычитку из чтения на правдоподобие в сверку.</a:t>
            </a:r>
          </a:p>
          <a:p>
            <a:r>
              <a:t/>
            </a:r>
          </a:p>
          <a:p>
            <a:r>
              <a:t>Куда это направление идёт дальше: от заметки к черновику назначений и кодов, то есть к документу, который что-то запускает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На прежних стадиях левая и правая половины расходились: модель входила в три действия из семи, в два из шести. Модель не вошла ни в одно действие из семи.</a:t>
            </a:r>
          </a:p>
          <a:p>
            <a:r>
              <a:t/>
            </a:r>
          </a:p>
          <a:p>
            <a:r>
              <a:t>Левая половина. Подпись есть юридический акт физического лица. Независимость второго чтения держится тем, что второй не видел заключения первого. Комиссия сверяет действия с порядком и правит сам порядок. И процедура заранее знает, какую ошибку ловит: усталость, спешку, пробел в знании.</a:t>
            </a:r>
          </a:p>
          <a:p>
            <a:r>
              <a:t/>
            </a:r>
          </a:p>
          <a:p>
            <a:r>
              <a:t>Правая половина. Подписать модели нечем: права подписи у неё нет ни в одной из рассмотренных стран. Независимость теряется, когда оба читателя видят одну подсказку. Вывод модели попадает на стол комиссии в том объёме, в каком попал в карту. А ошибка у неё другая: уверенная, связная и повторяющаяся на всех похожих случаях — то есть не та, под которую механизм собран.</a:t>
            </a:r>
          </a:p>
          <a:p>
            <a:r>
              <a:t/>
            </a:r>
          </a:p>
          <a:p>
            <a:r>
              <a:t>Три места, где процедура против модели не работает. Первое названо: механизм, рассчитанный на один вид ошибки, не обязан поймать другой, и проверять это надо измерением. Второе: оценивать модель процедура не умеет, потому что её инструмент — соответствие порядку, а порядок про модель ничего не говорит, пока его не перепишут. Третье: норма добавила восьмое требование — человек обязан понимать ограничения системы, сохранять настороженность к доверию автомату, не согласиться, отменить и остановить. Требование описывает способность вмешаться; физического присутствия человека при каждом решении оно не требует. При допуске изделий эту способность проверяют редко: тестирование с человеком в контуре нашли у пятидесяти шести изделий из семисот семнадцати, у которых документация подачи доступна, — восемь из ста. Остальным шестистам шестидесяти одному при допуске не проверяли ничего о том, как с выводом обращается человек.</a:t>
            </a:r>
          </a:p>
          <a:p>
            <a:r>
              <a:t/>
            </a:r>
          </a:p>
          <a:p>
            <a:r>
              <a:t>Знаменатель назван намеренно: доля без него читалась бы как оценка надзора вообще, а это счёт по одной выборке с одной датой среза.</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У этого раздела занята одна, и она не новая: подсказка по снимку, которой верят, стоит в клетке распознавания на изображении — ровно там же, где стояли разборы о чтении исследований.</a:t>
            </a:r>
          </a:p>
          <a:p>
            <a:r>
              <a:t/>
            </a:r>
          </a:p>
          <a:p>
            <a:r>
              <a:t>Раздел шёл после четырёх стадий работы и не добавил сетке ничего. Оба его разбора — склонность доверять подсказке и счёт двойного чтения в минутах — происходят в уже занятой клетке, а всё, чем раздел занимался сверх них, на сетке не стоит нигде. Подпись не распознаёт. Согласие не прогнозирует. Арбитраж ничего не порождает. Разбор случая, допуск изделия и надзор после допуска — тоже.</a:t>
            </a:r>
          </a:p>
          <a:p>
            <a:r>
              <a:t/>
            </a:r>
          </a:p>
          <a:p>
            <a:r>
              <a:t>Отсюда вывод, который стоит унести дальше любой отрасли: клетка говорит, чем инструмент занят, и ничего не говорит о том, чем его держат. Две системы в одной клетке могут быть удержаны совершенно разными процедурами, и разницу между ними даёт не класс задачи и не вид данных, а цена промаха и то, кто её платит.</a:t>
            </a:r>
          </a:p>
          <a:p>
            <a:r>
              <a:t/>
            </a:r>
          </a:p>
          <a:p>
            <a:r>
              <a:t>Строки под таблицей — не клетки, и путать их с клетками нельзя. Первая перечисляет, чем держат саму клетку распознавания: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a:t>
            </a:r>
          </a:p>
          <a:p>
            <a:r>
              <a:t/>
            </a:r>
          </a:p>
          <a:p>
            <a:r>
              <a:t>И пустые клетки здесь говорят сильнее занятой. Их пустота не значит, что процедуры там нет: она значит, что процедура вообще не описывается этой сеткой. Сказано это прямо, чтобы пустота не сошла за пробел в материале.</a:t>
            </a:r>
          </a:p>
          <a:p>
            <a:r>
              <a:t/>
            </a:r>
          </a:p>
          <a:p>
            <a:r>
              <a:t>Отсюда вопрос, который стоит задать на своей работе: какой процедурой держится клетка, в которую попадает ваш инструмент, и существует ли она вообще. Там, где клетка занята, а процедуры под ней нет, цена промаха никуда не делась — она просто не записана ни за кем.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разработки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Мишень выбирают биологи, молекулу подбирают химики: синтезируют серии близких веществ и смотрят, какое действует избирательнее. Классический перебор идёт физически — библиотеку соединений реально прогоняют через опыт. Переносимость проверяют на человеке по протоколу испытания. Заявку собирает регуляторный специалист, и это месяцы работы.</a:t>
            </a:r>
          </a:p>
          <a:p>
            <a:r>
              <a:t/>
            </a:r>
          </a:p>
          <a:p>
            <a:r>
              <a:t>Правая половина — один шаг, в который модель вошла, и один, который она добавила. В подборе молекулы она проектирует соединение расчётом; в выборе мишени — реже — перебирает гипотезы «мишень — болезнь — препарат» по графу связей. Объём физических итераций при этом падает: расчётный отбор идёт до синтеза. Новый шаг — сверить предсказание с экспериментальными данными, и делает эту сверку тот же человек, который прежде ставил опыт.</a:t>
            </a:r>
          </a:p>
          <a:p>
            <a:r>
              <a:t/>
            </a:r>
          </a:p>
          <a:p>
            <a:r>
              <a:t>Четыре работы, где модель не работает. Переносимость у людей: длину проверки задаёт физиология, а не вычисление. Набор пациентов: счёт идёт центрами и визитами, и ускорить его расчётом нельзя. Длительность наблюдения за медленно прогрессирующей болезнью задана самой болезнью. Производство клинической партии требует подтверждённой чистоты и документированной технологии. Ни одна из четырёх не содержит задачи, которую делает модель: именно в этих четырёх стоит основной объём работы и основные деньги.</a:t>
            </a:r>
          </a:p>
          <a:p>
            <a:r>
              <a:t/>
            </a:r>
          </a:p>
          <a:p>
            <a:r>
              <a:t>Единственный счёт здесь свой — один шаг из восьми.</a:t>
            </a:r>
          </a:p>
          <a:p>
            <a:r>
              <a:t/>
            </a:r>
          </a:p>
          <a:p>
            <a:r>
              <a:t>**Источники.** </a:t>
            </a:r>
            <a:r>
              <a:rPr u="sng">
                <a:solidFill>
                  <a:srgbClr val="065A82"/>
                </a:solidFill>
                <a:hlinkClick r:id="rId3"/>
              </a:rPr>
              <a:t>рецензируемый обзор перепрофилирования, 2022</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разработки лекарства занято две.</a:t>
            </a:r>
          </a:p>
          <a:p>
            <a:r>
              <a:t/>
            </a:r>
          </a:p>
          <a:p>
            <a:r>
              <a:t>Главное в этой карте — строка, которой на входной сетке не было. Вход называл четыре клинические клетки: распознавание и классификация на снимке, прогноз на структурированных данных, поиск с генерацией на тексте. Генерации структуры там нет вовсе, и появляется она только здесь: отрасль добавляет свой класс задач, которого в клиническом контуре не существует. Три сгустка те же, добавилась одна клетка.</a:t>
            </a:r>
          </a:p>
          <a:p>
            <a:r>
              <a:t/>
            </a:r>
          </a:p>
          <a:p>
            <a:r>
              <a:t>Жирным отмечено разобранное в разделе числами; обычным шрифтом здесь нет ничего — все занятые клетки имеют свой разбор.</a:t>
            </a:r>
          </a:p>
          <a:p>
            <a:r>
              <a:t/>
            </a:r>
          </a:p>
          <a:p>
            <a:r>
              <a:t>Что говорят пустые клетки, и их здесь сорок. Изображение и текст пустуют целиком: поставщик, принёсший историю успеха на снимке или на тексте, принёс историю не про эту стадию. Распознавания и классификации нет ни одного — на этой стадии нечего узнавать на готовом материале, материал тут производят.</a:t>
            </a:r>
          </a:p>
          <a:p>
            <a:r>
              <a:t/>
            </a:r>
          </a:p>
          <a:p>
            <a:r>
              <a:t>Расчётная оценка связывания клетки не занимает: это метод расчёта физики, а не обученная модель. Поставщики ставят два приёма рядом и называют одним словом; различать их приходится вслух, потому что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a:t>
            </a:r>
          </a:p>
          <a:p>
            <a:r>
              <a:t/>
            </a:r>
          </a:p>
          <a:p>
            <a:r>
              <a:t>Чисел в раскладке нет — ни долей рынка, ни числа компаний: направление принятия названо словами, потому что слова здесь проверяемы, а цифры рынка меняются быстрее, чем лекция читается. Имена изделий стоят строками под таблицей, а не в клетках, и это тоже решение: режим один, реализаций много, и разницу в результате делает устройство процедуры вокруг человека, а не марка.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три, и разбор по форме из четырёх шагов есть только у первого — два других предъявлены плоскостями и названы так прямо.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осмотра обходятся без обученных моделей, куда модель входит и где она не работает.</a:t>
            </a:r>
          </a:p>
          <a:p>
            <a:r>
              <a:t/>
            </a:r>
          </a:p>
          <a:p>
            <a:r>
              <a:t>Левая половина — четыре приёма, и обучения нет ни в одном. Время выведения прибора назначено рекомендациями и засекается таймером. За складку заглядывает глаз врача, и ничего, кроме глаза, там не работает. Долю обнаружения считает профессия, по каждому врачу отдельно, из обычной работы — без специального испытания. Второй наблюдатель в кабинете смотрит на тот же экран, и выигрыш здесь даёт вторая пара глаз, а не вторая квалификация.</a:t>
            </a:r>
          </a:p>
          <a:p>
            <a:r>
              <a:t/>
            </a:r>
          </a:p>
          <a:p>
            <a:r>
              <a:t>Правая половина — один шаг, в который модель вошла, и один, который она добавила. В осмотре при выведении она подсвечивает подозрительный участок рамкой в реальном времени, и человек смотрит на отмеченное. Направление принятия идёт дальше: от обнаружения к характеристике найденного — модель переходит от «смотри здесь» к «это вот что», — и затем к автоматическому счёту доли обнаружения и времени выведения, то есть инструмент становится ещё и измерителем того, кто им пользуется. Новый шаг — решить, доверять ли рамке, и делает это тот же врач в ту же секунду.</a:t>
            </a:r>
          </a:p>
          <a:p>
            <a:r>
              <a:t/>
            </a:r>
          </a:p>
          <a:p>
            <a:r>
              <a:t>Три места, где модель не работает. Первое: поддерживать навык — здесь измерено прямо обратное, и это содержание разбора. Второе: показать врачу, чего он не увидел бы без подсветки, — то есть дать ту обратную связь, отсутствие которой и делает расход молчаливым. Третье: измерить результат того же врача без помощника; показатель для такого замера у профессии есть, а процедуры нет ни в одной юрисдикции.</a:t>
            </a:r>
          </a:p>
          <a:p>
            <a:r>
              <a:t/>
            </a:r>
          </a:p>
          <a:p>
            <a:r>
              <a:t>Свой счёт здесь один — один шаг из восьми.</a:t>
            </a:r>
          </a:p>
          <a:p>
            <a:r>
              <a:t/>
            </a:r>
          </a:p>
          <a:p>
            <a:r>
              <a:t>**Источники.** </a:t>
            </a:r>
            <a:r>
              <a:rPr u="sng">
                <a:solidFill>
                  <a:srgbClr val="065A82"/>
                </a:solidFill>
                <a:hlinkClick r:id="rId3"/>
              </a:rPr>
              <a:t>показатели качества колоноскопии, Gastrointestinal Endoscopy 2015</a:t>
            </a:r>
            <a:r>
              <a:t> · </a:t>
            </a:r>
            <a:r>
              <a:rPr u="sng">
                <a:solidFill>
                  <a:srgbClr val="065A82"/>
                </a:solidFill>
                <a:hlinkClick r:id="rId4"/>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Занято две, обе в одной строке.</a:t>
            </a:r>
          </a:p>
          <a:p>
            <a:r>
              <a:t/>
            </a:r>
          </a:p>
          <a:p>
            <a:r>
              <a:t>Распознавание на видео в реальном времени: вход — поток кадров во время процедуры, выход — рамка на подозрительном участке. Распознавание на снимке в режиме второго читателя: вход — снимок скрининга, выход — заключение вместо второго человека. Одна строка, два вида данных, разные последствия: в первом случае человек остаётся у прибора, во втором его со второго места снимают.</a:t>
            </a:r>
          </a:p>
          <a:p>
            <a:r>
              <a:t/>
            </a:r>
          </a:p>
          <a:p>
            <a:r>
              <a:t>Что говорят пустые клетки. Прогноза и планирования в разборах раздела нет, поиска с генерацией нет, текста нет вовсе. Но главная пустота этой карты не в клетке, а строкой ниже: психология участия — доверие, его калибровка, готовность работать без инструмента — клетки «задача × модальность» не получает, потому что режима там нет. Предмет этой плоскости — то, чего про человека не измерено, и сеткой инструментов он не описывается.</a:t>
            </a:r>
          </a:p>
          <a:p>
            <a:r>
              <a:t/>
            </a:r>
          </a:p>
          <a:p>
            <a:r>
              <a:t>Третий слой карты — чем держат цену ошибки — и он предъявляет пустое место прямо. Долю обнаружения считают по каждому врачу отдельно; время выведения прибора имеет назначенную нижнюю границу и засекается таймером. А процедуры, которая измеряла бы результат врача без помощника, не существует ни у кого. Писать туда «переаттестация» нельзя: такой процедуры нет ни в одной юрисдикции, и убирать строку тоже нельзя — карта из двух занятых клеток читалась бы как «на всё есть процедура», и это была бы неправда.</a:t>
            </a:r>
          </a:p>
          <a:p>
            <a:r>
              <a:t/>
            </a:r>
          </a:p>
          <a:p>
            <a:r>
              <a:t>И одно замечание про направление принятия,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лекции, включая самые сильные, и честный вывод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лекция измерила;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лекции на уровень выше и обращает его против самой лекции.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лекции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всю лекцию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Выходить было некуда, и закрытие затухло, вместо того чтобы сесть.</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лекция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467-023-44676-z"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hyperlink" Target="https://doi.org/10.1145/3313831.3376718"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398-021-01224-x"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1001/jamanetworkopen.2026.16556" TargetMode="Externa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hyperlink" Target="https://doi.org/10.1016/S2468-1253%2825%2900133-5" TargetMode="Externa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metr.org/blog/2026-02-24-uplift-update/"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вечер: путь одного решения о человеке</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решения</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6053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Форма разбора</a:t>
            </a:r>
          </a:p>
        </p:txBody>
      </p:sp>
      <p:sp>
        <p:nvSpPr>
          <p:cNvPr id="17" name="Rounded Rectangle 16"/>
          <p:cNvSpPr/>
          <p:nvPr/>
        </p:nvSpPr>
        <p:spPr>
          <a:xfrm>
            <a:off x="1920240"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Цена обеих ошибок</a:t>
            </a:r>
          </a:p>
        </p:txBody>
      </p:sp>
      <p:sp>
        <p:nvSpPr>
          <p:cNvPr id="19" name="Right Arrow 18"/>
          <p:cNvSpPr/>
          <p:nvPr/>
        </p:nvSpPr>
        <p:spPr>
          <a:xfrm>
            <a:off x="4202353" y="237668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Два классических режима</a:t>
            </a:r>
          </a:p>
        </p:txBody>
      </p:sp>
      <p:sp>
        <p:nvSpPr>
          <p:cNvPr id="22" name="Right Arrow 21"/>
          <p:cNvSpPr/>
          <p:nvPr/>
        </p:nvSpPr>
        <p:spPr>
          <a:xfrm>
            <a:off x="6713067" y="237668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23955"/>
            <a:ext cx="2236393"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169675"/>
            <a:ext cx="2071801"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 против них</a:t>
            </a:r>
          </a:p>
        </p:txBody>
      </p:sp>
      <p:sp>
        <p:nvSpPr>
          <p:cNvPr id="25" name="Right Arrow 24"/>
          <p:cNvSpPr/>
          <p:nvPr/>
        </p:nvSpPr>
        <p:spPr>
          <a:xfrm>
            <a:off x="9223781" y="23766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Что переехало</a:t>
            </a:r>
          </a:p>
        </p:txBody>
      </p:sp>
      <p:sp>
        <p:nvSpPr>
          <p:cNvPr id="28" name="TextBox 27"/>
          <p:cNvSpPr txBox="1"/>
          <p:nvPr/>
        </p:nvSpPr>
        <p:spPr>
          <a:xfrm>
            <a:off x="502920" y="28031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Сверху — хребет вечера. Снизу — форма, по которой идёт каждый разбор</a:t>
            </a:r>
          </a:p>
        </p:txBody>
      </p:sp>
      <p:sp>
        <p:nvSpPr>
          <p:cNvPr id="29" name="Rounded Rectangle 28"/>
          <p:cNvSpPr/>
          <p:nvPr/>
        </p:nvSpPr>
        <p:spPr>
          <a:xfrm>
            <a:off x="374904" y="3079436"/>
            <a:ext cx="11441887" cy="3156771"/>
          </a:xfrm>
          <a:prstGeom prst="roundRect">
            <a:avLst>
              <a:gd name="adj" fmla="val 965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170876"/>
            <a:ext cx="11112703" cy="30653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один шаг пути не отзывается. Снимок перечитывают, назначение отменяют до того, как его выполнили, — проведённую операцию и потерянные месяцы отменить нельзя.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лекции:</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этого пути вы видели с другой стороны.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Rounded Rectangle 15"/>
          <p:cNvSpPr/>
          <p:nvPr/>
        </p:nvSpPr>
        <p:spPr>
          <a:xfrm>
            <a:off x="374904" y="1883664"/>
            <a:ext cx="11441887" cy="4352544"/>
          </a:xfrm>
          <a:prstGeom prst="roundRect">
            <a:avLst>
              <a:gd name="adj" fmla="val 700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1975104"/>
            <a:ext cx="11112703" cy="42611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имени на инструмент — и клетки, которые мы заполним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p>
        </p:txBody>
      </p:sp>
      <p:sp>
        <p:nvSpPr>
          <p:cNvPr id="6" name="Rounded Rectangle 5"/>
          <p:cNvSpPr/>
          <p:nvPr/>
        </p:nvSpPr>
        <p:spPr>
          <a:xfrm>
            <a:off x="630936" y="1835244"/>
            <a:ext cx="100584" cy="100584"/>
          </a:xfrm>
          <a:prstGeom prst="roundRect">
            <a:avLst>
              <a:gd name="adj" fmla="val 50000"/>
            </a:avLst>
          </a:prstGeom>
          <a:solidFill>
            <a:srgbClr val="028090"/>
          </a:solidFill>
          <a:ln>
            <a:noFill/>
          </a:ln>
          <a:effectLst/>
        </p:spPr>
        <p:txBody>
          <a:bodyPr rtlCol="0" anchor="ctr"/>
          <a:lstStyle/>
          <a:p>
            <a:pPr algn="ctr"/>
          </a:p>
        </p:txBody>
      </p:sp>
      <p:sp>
        <p:nvSpPr>
          <p:cNvPr id="7" name="TextBox 6"/>
          <p:cNvSpPr txBox="1"/>
          <p:nvPr/>
        </p:nvSpPr>
        <p:spPr>
          <a:xfrm>
            <a:off x="923544" y="174443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Классификация</a:t>
            </a:r>
            <a:r>
              <a:rPr sz="1300" b="0" i="0">
                <a:solidFill>
                  <a:srgbClr val="21295C"/>
                </a:solidFill>
                <a:latin typeface="Arial"/>
              </a:rPr>
              <a:t> — поставить метку из списка</a:t>
            </a:r>
          </a:p>
        </p:txBody>
      </p:sp>
      <p:sp>
        <p:nvSpPr>
          <p:cNvPr id="8" name="Rounded Rectangle 7"/>
          <p:cNvSpPr/>
          <p:nvPr/>
        </p:nvSpPr>
        <p:spPr>
          <a:xfrm>
            <a:off x="630936" y="2244659"/>
            <a:ext cx="100584" cy="100584"/>
          </a:xfrm>
          <a:prstGeom prst="roundRect">
            <a:avLst>
              <a:gd name="adj" fmla="val 50000"/>
            </a:avLst>
          </a:prstGeom>
          <a:solidFill>
            <a:srgbClr val="028090"/>
          </a:solidFill>
          <a:ln>
            <a:noFill/>
          </a:ln>
          <a:effectLst/>
        </p:spPr>
        <p:txBody>
          <a:bodyPr rtlCol="0" anchor="ctr"/>
          <a:lstStyle/>
          <a:p>
            <a:pPr algn="ctr"/>
          </a:p>
        </p:txBody>
      </p:sp>
      <p:sp>
        <p:nvSpPr>
          <p:cNvPr id="9" name="TextBox 8"/>
          <p:cNvSpPr txBox="1"/>
          <p:nvPr/>
        </p:nvSpPr>
        <p:spPr>
          <a:xfrm>
            <a:off x="923544" y="2153854"/>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Распознавание</a:t>
            </a:r>
            <a:r>
              <a:rPr sz="1300" b="0" i="0">
                <a:solidFill>
                  <a:srgbClr val="21295C"/>
                </a:solidFill>
                <a:latin typeface="Arial"/>
              </a:rPr>
              <a:t> — найти и опознать во входе</a:t>
            </a:r>
          </a:p>
        </p:txBody>
      </p:sp>
      <p:sp>
        <p:nvSpPr>
          <p:cNvPr id="10" name="Rounded Rectangle 9"/>
          <p:cNvSpPr/>
          <p:nvPr/>
        </p:nvSpPr>
        <p:spPr>
          <a:xfrm>
            <a:off x="630936" y="2654074"/>
            <a:ext cx="100584" cy="100584"/>
          </a:xfrm>
          <a:prstGeom prst="roundRect">
            <a:avLst>
              <a:gd name="adj" fmla="val 50000"/>
            </a:avLst>
          </a:prstGeom>
          <a:solidFill>
            <a:srgbClr val="028090"/>
          </a:solidFill>
          <a:ln>
            <a:noFill/>
          </a:ln>
          <a:effectLst/>
        </p:spPr>
        <p:txBody>
          <a:bodyPr rtlCol="0" anchor="ctr"/>
          <a:lstStyle/>
          <a:p>
            <a:pPr algn="ctr"/>
          </a:p>
        </p:txBody>
      </p:sp>
      <p:sp>
        <p:nvSpPr>
          <p:cNvPr id="11" name="TextBox 10"/>
          <p:cNvSpPr txBox="1"/>
          <p:nvPr/>
        </p:nvSpPr>
        <p:spPr>
          <a:xfrm>
            <a:off x="923544" y="256326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Поиск с генерацией</a:t>
            </a:r>
            <a:r>
              <a:rPr sz="1300" b="0" i="0">
                <a:solidFill>
                  <a:srgbClr val="21295C"/>
                </a:solidFill>
                <a:latin typeface="Arial"/>
              </a:rPr>
              <a:t> — найти и отранжировать, затем создать содержимое по найденному</a:t>
            </a:r>
          </a:p>
        </p:txBody>
      </p:sp>
      <p:sp>
        <p:nvSpPr>
          <p:cNvPr id="12" name="Rounded Rectangle 11"/>
          <p:cNvSpPr/>
          <p:nvPr/>
        </p:nvSpPr>
        <p:spPr>
          <a:xfrm>
            <a:off x="630936" y="3063490"/>
            <a:ext cx="100584" cy="100584"/>
          </a:xfrm>
          <a:prstGeom prst="roundRect">
            <a:avLst>
              <a:gd name="adj" fmla="val 50000"/>
            </a:avLst>
          </a:prstGeom>
          <a:solidFill>
            <a:srgbClr val="028090"/>
          </a:solidFill>
          <a:ln>
            <a:noFill/>
          </a:ln>
          <a:effectLst/>
        </p:spPr>
        <p:txBody>
          <a:bodyPr rtlCol="0" anchor="ctr"/>
          <a:lstStyle/>
          <a:p>
            <a:pPr algn="ctr"/>
          </a:p>
        </p:txBody>
      </p:sp>
      <p:sp>
        <p:nvSpPr>
          <p:cNvPr id="13" name="TextBox 12"/>
          <p:cNvSpPr txBox="1"/>
          <p:nvPr/>
        </p:nvSpPr>
        <p:spPr>
          <a:xfrm>
            <a:off x="923544" y="2972685"/>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Прогноз</a:t>
            </a:r>
            <a:r>
              <a:rPr sz="1300" b="0" i="0">
                <a:solidFill>
                  <a:srgbClr val="21295C"/>
                </a:solidFill>
                <a:latin typeface="Arial"/>
              </a:rPr>
              <a:t> — предсказать число</a:t>
            </a:r>
          </a:p>
        </p:txBody>
      </p:sp>
      <p:sp>
        <p:nvSpPr>
          <p:cNvPr id="14" name="TextBox 13"/>
          <p:cNvSpPr txBox="1"/>
          <p:nvPr/>
        </p:nvSpPr>
        <p:spPr>
          <a:xfrm>
            <a:off x="539496" y="3382100"/>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Эти клетки заполняются в конце каждого раздела.</a:t>
            </a:r>
            <a:r>
              <a:rPr sz="1300" b="0" i="0">
                <a:solidFill>
                  <a:srgbClr val="21295C"/>
                </a:solidFill>
                <a:latin typeface="Arial"/>
              </a:rPr>
              <a:t> Образец:</a:t>
            </a:r>
          </a:p>
        </p:txBody>
      </p:sp>
      <p:sp>
        <p:nvSpPr>
          <p:cNvPr id="15" name="Rectangle 14"/>
          <p:cNvSpPr/>
          <p:nvPr/>
        </p:nvSpPr>
        <p:spPr>
          <a:xfrm>
            <a:off x="539496" y="3791515"/>
            <a:ext cx="3161928" cy="392496"/>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85800" y="3791515"/>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17" name="Rectangle 16"/>
          <p:cNvSpPr/>
          <p:nvPr/>
        </p:nvSpPr>
        <p:spPr>
          <a:xfrm>
            <a:off x="3701424" y="3791515"/>
            <a:ext cx="1321749" cy="392496"/>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847728" y="3791515"/>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19" name="Rectangle 18"/>
          <p:cNvSpPr/>
          <p:nvPr/>
        </p:nvSpPr>
        <p:spPr>
          <a:xfrm>
            <a:off x="5023174" y="3791515"/>
            <a:ext cx="233763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5169478" y="3791515"/>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1" name="Rectangle 20"/>
          <p:cNvSpPr/>
          <p:nvPr/>
        </p:nvSpPr>
        <p:spPr>
          <a:xfrm>
            <a:off x="7360812" y="3791515"/>
            <a:ext cx="4291386"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7507116" y="3791515"/>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3" name="Rectangle 22"/>
          <p:cNvSpPr/>
          <p:nvPr/>
        </p:nvSpPr>
        <p:spPr>
          <a:xfrm>
            <a:off x="539496" y="4184011"/>
            <a:ext cx="3161928" cy="39249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418401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5" name="Rectangle 24"/>
          <p:cNvSpPr/>
          <p:nvPr/>
        </p:nvSpPr>
        <p:spPr>
          <a:xfrm>
            <a:off x="3701424" y="4184011"/>
            <a:ext cx="1321749" cy="39249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47728" y="418401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7" name="Rectangle 26"/>
          <p:cNvSpPr/>
          <p:nvPr/>
        </p:nvSpPr>
        <p:spPr>
          <a:xfrm>
            <a:off x="5023174" y="4184011"/>
            <a:ext cx="233763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5169478" y="418401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9" name="Rectangle 28"/>
          <p:cNvSpPr/>
          <p:nvPr/>
        </p:nvSpPr>
        <p:spPr>
          <a:xfrm>
            <a:off x="7360812" y="4184011"/>
            <a:ext cx="4291386"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7507116" y="418401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39496" y="4576507"/>
            <a:ext cx="3161928" cy="39249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85800" y="457650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3" name="Rectangle 32"/>
          <p:cNvSpPr/>
          <p:nvPr/>
        </p:nvSpPr>
        <p:spPr>
          <a:xfrm>
            <a:off x="3701424" y="4576507"/>
            <a:ext cx="1321749" cy="39249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3847728" y="457650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023174" y="4576507"/>
            <a:ext cx="233763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5169478" y="457650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7" name="Rectangle 36"/>
          <p:cNvSpPr/>
          <p:nvPr/>
        </p:nvSpPr>
        <p:spPr>
          <a:xfrm>
            <a:off x="7360812" y="4576507"/>
            <a:ext cx="4291386"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7507116" y="457650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39496" y="4969003"/>
            <a:ext cx="3161928" cy="39249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85800" y="4969003"/>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1" name="Rectangle 40"/>
          <p:cNvSpPr/>
          <p:nvPr/>
        </p:nvSpPr>
        <p:spPr>
          <a:xfrm>
            <a:off x="3701424" y="4969003"/>
            <a:ext cx="1321749" cy="392496"/>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3847728" y="4969003"/>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023174" y="4969003"/>
            <a:ext cx="233763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5169478" y="4969003"/>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5" name="Rectangle 44"/>
          <p:cNvSpPr/>
          <p:nvPr/>
        </p:nvSpPr>
        <p:spPr>
          <a:xfrm>
            <a:off x="7360812" y="4969003"/>
            <a:ext cx="4291386"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7507116" y="4969003"/>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39496" y="5361499"/>
            <a:ext cx="3161928" cy="392496"/>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361499"/>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49" name="Rectangle 48"/>
          <p:cNvSpPr/>
          <p:nvPr/>
        </p:nvSpPr>
        <p:spPr>
          <a:xfrm>
            <a:off x="3701424" y="5361499"/>
            <a:ext cx="1321749" cy="392496"/>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847728" y="5361499"/>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023174" y="5361499"/>
            <a:ext cx="233763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169478" y="5361499"/>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3" name="Rectangle 52"/>
          <p:cNvSpPr/>
          <p:nvPr/>
        </p:nvSpPr>
        <p:spPr>
          <a:xfrm>
            <a:off x="7360812" y="5361499"/>
            <a:ext cx="4291386"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7507116" y="5361499"/>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TextBox 54"/>
          <p:cNvSpPr txBox="1"/>
          <p:nvPr/>
        </p:nvSpPr>
        <p:spPr>
          <a:xfrm>
            <a:off x="539496" y="5900299"/>
            <a:ext cx="11112703" cy="253366"/>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5" name="Picture 4"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6" name="Rounded Rectangle 5"/>
          <p:cNvSpPr/>
          <p:nvPr/>
        </p:nvSpPr>
        <p:spPr>
          <a:xfrm>
            <a:off x="502920"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8" name="TextBox 7"/>
          <p:cNvSpPr txBox="1"/>
          <p:nvPr/>
        </p:nvSpPr>
        <p:spPr>
          <a:xfrm>
            <a:off x="640080" y="169079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9" name="Rounded Rectangle 8"/>
          <p:cNvSpPr/>
          <p:nvPr/>
        </p:nvSpPr>
        <p:spPr>
          <a:xfrm>
            <a:off x="2279827"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0" name="TextBox 9"/>
          <p:cNvSpPr txBox="1"/>
          <p:nvPr/>
        </p:nvSpPr>
        <p:spPr>
          <a:xfrm>
            <a:off x="2416987"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11" name="TextBox 10"/>
          <p:cNvSpPr txBox="1"/>
          <p:nvPr/>
        </p:nvSpPr>
        <p:spPr>
          <a:xfrm>
            <a:off x="2416987" y="1690796"/>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2" name="Rounded Rectangle 11"/>
          <p:cNvSpPr/>
          <p:nvPr/>
        </p:nvSpPr>
        <p:spPr>
          <a:xfrm>
            <a:off x="4056735"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193895"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4" name="TextBox 13"/>
          <p:cNvSpPr txBox="1"/>
          <p:nvPr/>
        </p:nvSpPr>
        <p:spPr>
          <a:xfrm>
            <a:off x="4193895" y="1690796"/>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5" name="Rounded Rectangle 14"/>
          <p:cNvSpPr/>
          <p:nvPr/>
        </p:nvSpPr>
        <p:spPr>
          <a:xfrm>
            <a:off x="5833643" y="1335024"/>
            <a:ext cx="1612315" cy="1700778"/>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5970803"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7" name="TextBox 16"/>
          <p:cNvSpPr txBox="1"/>
          <p:nvPr/>
        </p:nvSpPr>
        <p:spPr>
          <a:xfrm>
            <a:off x="5970803" y="1690796"/>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8" name="Rounded Rectangle 17"/>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Половина оси курсу знакома: подешевел шаг — платят на другом. Своё здесь — 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20" name="Rectangle 19"/>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5" name="Picture 4"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6" name="Rounded Rectangle 5"/>
          <p:cNvSpPr/>
          <p:nvPr/>
        </p:nvSpPr>
        <p:spPr>
          <a:xfrm>
            <a:off x="374904" y="1243584"/>
            <a:ext cx="7884594"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1335024"/>
            <a:ext cx="7555410" cy="4901184"/>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Женщине пятьдесят четыре года. Она ничего не чувствует: письмо пришло потому, что программа зовёт по возрасту.</a:t>
            </a:r>
          </a:p>
          <a:p>
            <a:pPr algn="l">
              <a:lnSpc>
                <a:spcPct val="126000"/>
              </a:lnSpc>
              <a:spcBef>
                <a:spcPts val="700"/>
              </a:spcBef>
            </a:pPr>
            <a:r>
              <a:rPr sz="1230" b="0" i="0">
                <a:solidFill>
                  <a:srgbClr val="21295C"/>
                </a:solidFill>
                <a:latin typeface="Arial"/>
              </a:rPr>
              <a:t/>
            </a:r>
            <a:r>
              <a:rPr sz="1230" b="1" i="0">
                <a:solidFill>
                  <a:srgbClr val="21295C"/>
                </a:solidFill>
                <a:latin typeface="Arial"/>
              </a:rPr>
              <a:t>Семь действий стадии.</a:t>
            </a:r>
            <a:r>
              <a:rPr sz="1230" b="0" i="0">
                <a:solidFill>
                  <a:srgbClr val="21295C"/>
                </a:solidFill>
                <a:latin typeface="Arial"/>
              </a:rPr>
              <a:t> 1. Назначить порог — с какого возраста звать и как часто · 2. Позвать по списку · 3. Снять исследование · 4. Прочесть — двое, независимо друг от друга · 5. Разрешить расхождение — третий читатель · 6. Сообщить исход: «норма» или вызов на дообследование · 7. Отсортировать тех, кто пришёл без приглашения, — кого смотреть сегодня, кого через две недели.</a:t>
            </a:r>
          </a:p>
          <a:p>
            <a:pPr algn="l">
              <a:lnSpc>
                <a:spcPct val="126000"/>
              </a:lnSpc>
              <a:spcBef>
                <a:spcPts val="700"/>
              </a:spcBef>
            </a:pPr>
            <a:r>
              <a:rPr sz="1230" b="0" i="0">
                <a:solidFill>
                  <a:srgbClr val="21295C"/>
                </a:solidFill>
                <a:latin typeface="Arial"/>
              </a:rPr>
              <a:t/>
            </a:r>
            <a:r>
              <a:rPr sz="123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230" b="0" i="0">
                <a:solidFill>
                  <a:srgbClr val="21295C"/>
                </a:solidFill>
                <a:latin typeface="Arial"/>
              </a:rPr>
              <a:t/>
            </a:r>
            <a:r>
              <a:rPr sz="1230" b="0" i="0">
                <a:solidFill>
                  <a:srgbClr val="21295C"/>
                </a:solidFill>
                <a:latin typeface="Arial"/>
              </a:rPr>
              <a:t>• Порог стоит в документе органа здравоохранения: возраст и интервал назначены до всякого прибора</a:t>
            </a:r>
          </a:p>
          <a:p>
            <a:pPr algn="l">
              <a:lnSpc>
                <a:spcPct val="126000"/>
              </a:lnSpc>
              <a:spcBef>
                <a:spcPts val="700"/>
              </a:spcBef>
            </a:pPr>
            <a:r>
              <a:rPr sz="1230" b="0" i="0">
                <a:solidFill>
                  <a:srgbClr val="21295C"/>
                </a:solidFill>
                <a:latin typeface="Arial"/>
              </a:rPr>
              <a:t/>
            </a:r>
            <a:r>
              <a:rPr sz="1230" b="0" i="0">
                <a:solidFill>
                  <a:srgbClr val="21295C"/>
                </a:solidFill>
                <a:latin typeface="Arial"/>
              </a:rPr>
              <a:t>• Категорию тяжести присваивает медсестра по таблице баллов, и веса в ней опубликованы — таблицу можно открыть и возразить составителю</a:t>
            </a:r>
          </a:p>
          <a:p>
            <a:pPr algn="l">
              <a:lnSpc>
                <a:spcPct val="126000"/>
              </a:lnSpc>
              <a:spcBef>
                <a:spcPts val="700"/>
              </a:spcBef>
            </a:pPr>
            <a:r>
              <a:rPr sz="1230" b="0" i="0">
                <a:solidFill>
                  <a:srgbClr val="21295C"/>
                </a:solidFill>
                <a:latin typeface="Arial"/>
              </a:rPr>
              <a:t/>
            </a:r>
            <a:r>
              <a:rPr sz="1230" b="0" i="0">
                <a:solidFill>
                  <a:srgbClr val="21295C"/>
                </a:solidFill>
                <a:latin typeface="Arial"/>
              </a:rPr>
              <a:t>Три порядка работы:</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скрининг</a:t>
            </a:r>
            <a:r>
              <a:rPr sz="1230" b="0" i="0">
                <a:solidFill>
                  <a:srgbClr val="21295C"/>
                </a:solidFill>
                <a:latin typeface="Arial"/>
              </a:rPr>
              <a:t> — зовут тех, у кого жалоб нет, по признаку группы: возраст, пол, профессия</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обращение по симптому</a:t>
            </a:r>
            <a:r>
              <a:rPr sz="1230" b="0" i="0">
                <a:solidFill>
                  <a:srgbClr val="21295C"/>
                </a:solidFill>
                <a:latin typeface="Arial"/>
              </a:rPr>
              <a:t> — человек пришёл сам, и дальше его ведёт жалоба</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сортировка потока</a:t>
            </a:r>
            <a:r>
              <a:rPr sz="1230" b="0" i="0">
                <a:solidFill>
                  <a:srgbClr val="21295C"/>
                </a:solidFill>
                <a:latin typeface="Arial"/>
              </a:rPr>
              <a:t> — кого из обратившихся смотреть первым</a:t>
            </a:r>
          </a:p>
          <a:p>
            <a:pPr algn="l">
              <a:lnSpc>
                <a:spcPct val="126000"/>
              </a:lnSpc>
              <a:spcBef>
                <a:spcPts val="700"/>
              </a:spcBef>
            </a:pPr>
            <a:r>
              <a:rPr sz="1230" b="0" i="0">
                <a:solidFill>
                  <a:srgbClr val="21295C"/>
                </a:solidFill>
                <a:latin typeface="Arial"/>
              </a:rPr>
              <a:t/>
            </a:r>
            <a:r>
              <a:rPr sz="123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8" name="Rectangle 7"/>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100" b="0" i="1">
                <a:solidFill>
                  <a:srgbClr val="1C7293"/>
                </a:solidFill>
                <a:latin typeface="Arial"/>
              </a:rPr>
              <a:t> · </a:t>
            </a:r>
            <a:r>
              <a:rPr sz="11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опубликованному правилу; модель входит в три шага из семи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чтение · решение «направить или нет» на месте · сортировка потока; порог, приглашение, арбитраж и сообщение исхода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Порог — документ: возраст и интервал записаны до всякого прибора</a:t>
            </a:r>
          </a:p>
          <a:p>
            <a:pPr algn="l">
              <a:lnSpc>
                <a:spcPct val="126000"/>
              </a:lnSpc>
            </a:pPr>
            <a:r>
              <a:rPr sz="1200" b="0" i="0">
                <a:solidFill>
                  <a:srgbClr val="21295C"/>
                </a:solidFill>
                <a:latin typeface="Arial"/>
              </a:rPr>
              <a:t>• Читают двое независимо: выигрыш даёт несовпадение ошибок</a:t>
            </a:r>
          </a:p>
          <a:p>
            <a:pPr algn="l">
              <a:lnSpc>
                <a:spcPct val="126000"/>
              </a:lnSpc>
            </a:pPr>
            <a:r>
              <a:rPr sz="1200" b="0" i="0">
                <a:solidFill>
                  <a:srgbClr val="21295C"/>
                </a:solidFill>
                <a:latin typeface="Arial"/>
              </a:rPr>
              <a:t>• Категорию тяжести присваивает медсестра по таблице баллов</a:t>
            </a:r>
          </a:p>
          <a:p>
            <a:pPr algn="l">
              <a:lnSpc>
                <a:spcPct val="126000"/>
              </a:lnSpc>
            </a:pPr>
            <a:r>
              <a:rPr sz="1200" b="0" i="0">
                <a:solidFill>
                  <a:srgbClr val="21295C"/>
                </a:solidFill>
                <a:latin typeface="Arial"/>
              </a:rPr>
              <a:t>• Кто не придёт сам, в поле зрения не попадает</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поток сортируют по предсказанному риску</a:t>
            </a:r>
          </a:p>
          <a:p>
            <a:pPr algn="l">
              <a:lnSpc>
                <a:spcPct val="126000"/>
              </a:lnSpc>
            </a:pPr>
            <a:r>
              <a:rPr sz="1400" b="0" i="0">
                <a:solidFill>
                  <a:srgbClr val="21295C"/>
                </a:solidFill>
                <a:latin typeface="Arial"/>
              </a:rPr>
              <a:t>• Шаги 3 и 6: решение «направить или нет» — на месте</a:t>
            </a:r>
          </a:p>
          <a:p>
            <a:pPr algn="l">
              <a:lnSpc>
                <a:spcPct val="126000"/>
              </a:lnSpc>
            </a:pPr>
            <a:r>
              <a:rPr sz="1400" b="0" i="0">
                <a:solidFill>
                  <a:srgbClr val="21295C"/>
                </a:solidFill>
                <a:latin typeface="Arial"/>
              </a:rPr>
              <a:t>• Шаг 7: модель заняла место протокольной шкалы</a:t>
            </a:r>
          </a:p>
          <a:p>
            <a:pPr algn="l">
              <a:lnSpc>
                <a:spcPct val="126000"/>
              </a:lnSpc>
            </a:pPr>
            <a:r>
              <a:rPr sz="1400" b="0" i="0">
                <a:solidFill>
                  <a:srgbClr val="21295C"/>
                </a:solidFill>
                <a:latin typeface="Arial"/>
              </a:rPr>
              <a:t>• Новый шаг: добыть годный снимок</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Порог модель не назначает: за ним стоит подпись</a:t>
            </a:r>
          </a:p>
          <a:p>
            <a:pPr algn="l">
              <a:lnSpc>
                <a:spcPct val="126000"/>
              </a:lnSpc>
              <a:spcBef>
                <a:spcPts val="700"/>
              </a:spcBef>
            </a:pPr>
            <a:r>
              <a:rPr sz="1290" b="0" i="0">
                <a:solidFill>
                  <a:srgbClr val="21295C"/>
                </a:solidFill>
                <a:latin typeface="Arial"/>
              </a:rPr>
              <a:t/>
            </a:r>
            <a:r>
              <a:rPr sz="1290" b="0" i="0">
                <a:solidFill>
                  <a:srgbClr val="21295C"/>
                </a:solidFill>
                <a:latin typeface="Arial"/>
              </a:rPr>
              <a:t>• Открытый поток обращений: выигрыша не дал ни один разбор</a:t>
            </a:r>
          </a:p>
          <a:p>
            <a:pPr algn="l">
              <a:lnSpc>
                <a:spcPct val="126000"/>
              </a:lnSpc>
              <a:spcBef>
                <a:spcPts val="700"/>
              </a:spcBef>
            </a:pPr>
            <a:r>
              <a:rPr sz="1290" b="0" i="0">
                <a:solidFill>
                  <a:srgbClr val="21295C"/>
                </a:solidFill>
                <a:latin typeface="Arial"/>
              </a:rPr>
              <a:t/>
            </a:r>
            <a:r>
              <a:rPr sz="1290" b="0" i="0">
                <a:solidFill>
                  <a:srgbClr val="21295C"/>
                </a:solidFill>
                <a:latin typeface="Arial"/>
              </a:rPr>
              <a:t>• Экзаменационный балл не основание: вопрос экзамена приходит сформулированным, живое обращение —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лежит в доступе,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Wolf и соавторы, Nature Communications, 2024;15:421</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ЧЕЛОВЕЧЕСКОГО ЧТЕНИЯ МЕНЬШЕ</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распределённые женщины</a:t>
            </a:r>
          </a:p>
        </p:txBody>
      </p:sp>
      <p:sp>
        <p:nvSpPr>
          <p:cNvPr id="8" name="Rounded Rectangle 7"/>
          <p:cNvSpPr/>
          <p:nvPr/>
        </p:nvSpPr>
        <p:spPr>
          <a:xfrm>
            <a:off x="4286402" y="1335024"/>
            <a:ext cx="3618890"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80,5 против 73,8 из ста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итоговый анализ той же программы, 105 934 женщины — другая выборка; специфичность в обоих плечах одинакова</a:t>
            </a:r>
          </a:p>
        </p:txBody>
      </p:sp>
      <p:sp>
        <p:nvSpPr>
          <p:cNvPr id="12" name="Rounded Rectangle 11"/>
          <p:cNvSpPr/>
          <p:nvPr/>
        </p:nvSpPr>
        <p:spPr>
          <a:xfrm>
            <a:off x="8069884"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14" name="TextBox 13"/>
          <p:cNvSpPr txBox="1"/>
          <p:nvPr/>
        </p:nvSpPr>
        <p:spPr>
          <a:xfrm>
            <a:off x="8207044"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с поддержкой модели · 5,7 без неё</a:t>
            </a:r>
          </a:p>
        </p:txBody>
      </p:sp>
      <p:sp>
        <p:nvSpPr>
          <p:cNvPr id="15" name="TextBox 14"/>
          <p:cNvSpPr txBox="1"/>
          <p:nvPr/>
        </p:nvSpPr>
        <p:spPr>
          <a:xfrm>
            <a:off x="8207044" y="2681111"/>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16" name="Rounded Rectangle 15"/>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080" b="0" i="0">
                <a:solidFill>
                  <a:srgbClr val="21295C"/>
                </a:solidFill>
                <a:latin typeface="Arial"/>
              </a:rPr>
              <a:t/>
            </a:r>
            <a:r>
              <a:rPr sz="1080" b="1" i="0">
                <a:solidFill>
                  <a:srgbClr val="21295C"/>
                </a:solidFill>
                <a:latin typeface="Arial"/>
              </a:rPr>
              <a:t>Два числа посчитаны на разных выборках и в один список не складываются:</a:t>
            </a:r>
            <a:r>
              <a:rPr sz="108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080" b="0" i="0">
                <a:solidFill>
                  <a:srgbClr val="21295C"/>
                </a:solidFill>
                <a:latin typeface="Arial"/>
              </a:rPr>
              <a:t/>
            </a:r>
            <a:r>
              <a:rPr sz="1080" b="1" i="0">
                <a:solidFill>
                  <a:srgbClr val="21295C"/>
                </a:solidFill>
                <a:latin typeface="Arial"/>
              </a:rPr>
              <a:t>Второго независимого человека большинство обследованных больше не получает.</a:t>
            </a:r>
            <a:r>
              <a:rPr sz="1080" b="0" i="0">
                <a:solidFill>
                  <a:srgbClr val="21295C"/>
                </a:solidFill>
                <a:latin typeface="Arial"/>
              </a:rPr>
              <a:t> Цена лежит в устройстве процедуры, а не в точности прибора.</a:t>
            </a:r>
          </a:p>
          <a:p>
            <a:pPr algn="l">
              <a:lnSpc>
                <a:spcPct val="126000"/>
              </a:lnSpc>
              <a:spcBef>
                <a:spcPts val="700"/>
              </a:spcBef>
            </a:pPr>
            <a:r>
              <a:rPr sz="1080" b="0" i="0">
                <a:solidFill>
                  <a:srgbClr val="21295C"/>
                </a:solidFill>
                <a:latin typeface="Arial"/>
              </a:rPr>
              <a:t/>
            </a:r>
            <a:r>
              <a:rPr sz="1080" b="1" i="0">
                <a:solidFill>
                  <a:srgbClr val="21295C"/>
                </a:solidFill>
                <a:latin typeface="Arial"/>
              </a:rPr>
              <a:t>Охват публикуют, устройство работы —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080" b="0" i="0">
                <a:solidFill>
                  <a:srgbClr val="21295C"/>
                </a:solidFill>
                <a:latin typeface="Arial"/>
              </a:rPr>
              <a:t/>
            </a:r>
            <a:r>
              <a:rPr sz="1080" b="0" i="0">
                <a:solidFill>
                  <a:srgbClr val="21295C"/>
                </a:solidFill>
                <a:latin typeface="Arial"/>
              </a:rPr>
              <a:t>• Отечественная платформа лучевой диагностики — свыше </a:t>
            </a:r>
            <a:r>
              <a:rPr sz="1080" b="1" i="0">
                <a:solidFill>
                  <a:srgbClr val="21295C"/>
                </a:solidFill>
                <a:latin typeface="Arial"/>
              </a:rPr>
              <a:t>16 млн</a:t>
            </a:r>
            <a:r>
              <a:rPr sz="1080" b="0" i="0">
                <a:solidFill>
                  <a:srgbClr val="21295C"/>
                </a:solidFill>
                <a:latin typeface="Arial"/>
              </a:rPr>
              <a:t> исследований в </a:t>
            </a:r>
            <a:r>
              <a:rPr sz="1080" b="1" i="0">
                <a:solidFill>
                  <a:srgbClr val="21295C"/>
                </a:solidFill>
                <a:latin typeface="Arial"/>
              </a:rPr>
              <a:t>75 регионах</a:t>
            </a:r>
            <a:r>
              <a:rPr sz="1080" b="0" i="0">
                <a:solidFill>
                  <a:srgbClr val="21295C"/>
                </a:solidFill>
                <a:latin typeface="Arial"/>
              </a:rPr>
              <a:t>; методика подсчёта не раскрыта</a:t>
            </a:r>
          </a:p>
          <a:p>
            <a:pPr algn="l">
              <a:lnSpc>
                <a:spcPct val="126000"/>
              </a:lnSpc>
              <a:spcBef>
                <a:spcPts val="700"/>
              </a:spcBef>
            </a:pPr>
            <a:r>
              <a:rPr sz="1080" b="0" i="0">
                <a:solidFill>
                  <a:srgbClr val="21295C"/>
                </a:solidFill>
                <a:latin typeface="Arial"/>
              </a:rPr>
              <a:t/>
            </a:r>
            <a:r>
              <a:rPr sz="108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860" b="0" i="0">
                <a:solidFill>
                  <a:srgbClr val="21295C"/>
                </a:solidFill>
                <a:latin typeface="Arial"/>
              </a:rPr>
              <a:t/>
            </a:r>
            <a:r>
              <a:rPr sz="86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440" b="0" i="0">
                <a:solidFill>
                  <a:srgbClr val="21295C"/>
                </a:solidFill>
                <a:latin typeface="Arial"/>
              </a:rPr>
              <a:t/>
            </a:r>
            <a:r>
              <a:rPr sz="1440" b="1" i="0">
                <a:solidFill>
                  <a:srgbClr val="21295C"/>
                </a:solidFill>
                <a:latin typeface="Arial"/>
              </a:rPr>
              <a:t>Вместо модели предъявили экзаменационный балл, а он основанием не служит:</a:t>
            </a:r>
            <a:r>
              <a:rPr sz="144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440" b="0" i="0">
                <a:solidFill>
                  <a:srgbClr val="21295C"/>
                </a:solidFill>
                <a:latin typeface="Arial"/>
              </a:rPr>
              <a:t/>
            </a:r>
            <a:r>
              <a:rPr sz="1440" b="1" i="0">
                <a:solidFill>
                  <a:srgbClr val="21295C"/>
                </a:solidFill>
                <a:latin typeface="Arial"/>
              </a:rPr>
              <a:t>Уберите модель — и сервис продолжит работать.</a:t>
            </a:r>
            <a:r>
              <a:rPr sz="144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150" b="0" i="0">
                <a:solidFill>
                  <a:srgbClr val="21295C"/>
                </a:solidFill>
                <a:latin typeface="Arial"/>
              </a:rPr>
              <a:t/>
            </a:r>
            <a:r>
              <a:rPr sz="1150" b="0" i="1">
                <a:solidFill>
                  <a:srgbClr val="1C7293"/>
                </a:solidFill>
                <a:latin typeface="Arial"/>
              </a:rPr>
              <a:t>Слова участника, а не аудит.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 </a:t>
            </a:r>
            <a:r>
              <a:rPr sz="1440" b="0" i="1">
                <a:solidFill>
                  <a:srgbClr val="21295C"/>
                </a:solidFill>
                <a:latin typeface="Arial"/>
              </a:rPr>
              <a:t>поиск с генерацией на тексте</a:t>
            </a:r>
            <a:r>
              <a:rPr sz="144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Редкое от частого в открытом потоке этот режим не отличает.</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Практика получает </a:t>
            </a:r>
            <a:r>
              <a:rPr sz="1290" b="1" i="0">
                <a:solidFill>
                  <a:srgbClr val="21295C"/>
                </a:solidFill>
                <a:latin typeface="Arial"/>
              </a:rPr>
              <a:t>около 155 фунтов</a:t>
            </a:r>
            <a:r>
              <a:rPr sz="129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Классически обращаются </a:t>
            </a:r>
            <a:r>
              <a:rPr sz="1290" b="1" i="0">
                <a:solidFill>
                  <a:srgbClr val="21295C"/>
                </a:solidFill>
                <a:latin typeface="Arial"/>
              </a:rPr>
              <a:t>4,0 раза</a:t>
            </a:r>
            <a:r>
              <a:rPr sz="1290" b="0" i="0">
                <a:solidFill>
                  <a:srgbClr val="21295C"/>
                </a:solidFill>
                <a:latin typeface="Arial"/>
              </a:rPr>
              <a:t> в год у 25–44-летних и </a:t>
            </a:r>
            <a:r>
              <a:rPr sz="1290" b="1" i="0">
                <a:solidFill>
                  <a:srgbClr val="21295C"/>
                </a:solidFill>
                <a:latin typeface="Arial"/>
              </a:rPr>
              <a:t>3,26 раза</a:t>
            </a:r>
            <a:r>
              <a:rPr sz="129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90" b="0" i="0">
                <a:solidFill>
                  <a:srgbClr val="21295C"/>
                </a:solidFill>
                <a:latin typeface="Arial"/>
              </a:rPr>
              <a:t/>
            </a:r>
            <a:r>
              <a:rPr sz="1290" b="0" i="0">
                <a:solidFill>
                  <a:srgbClr val="21295C"/>
                </a:solidFill>
                <a:latin typeface="Arial"/>
              </a:rPr>
              <a:t>В сервисе обращений стало </a:t>
            </a:r>
            <a:r>
              <a:rPr sz="1290" b="1" i="0">
                <a:solidFill>
                  <a:srgbClr val="21295C"/>
                </a:solidFill>
                <a:latin typeface="Arial"/>
              </a:rPr>
              <a:t>4,3</a:t>
            </a:r>
            <a:r>
              <a:rPr sz="1290" b="0" i="0">
                <a:solidFill>
                  <a:srgbClr val="21295C"/>
                </a:solidFill>
                <a:latin typeface="Arial"/>
              </a:rPr>
              <a:t> на человека в год при той же подушевой сумме.</a:t>
            </a:r>
          </a:p>
          <a:p>
            <a:pPr algn="l">
              <a:lnSpc>
                <a:spcPct val="126000"/>
              </a:lnSpc>
              <a:spcBef>
                <a:spcPts val="700"/>
              </a:spcBef>
            </a:pPr>
            <a:r>
              <a:rPr sz="1290" b="0" i="0">
                <a:solidFill>
                  <a:srgbClr val="21295C"/>
                </a:solidFill>
                <a:latin typeface="Arial"/>
              </a:rPr>
              <a:t/>
            </a:r>
            <a:r>
              <a:rPr sz="1290" b="1" i="0">
                <a:solidFill>
                  <a:srgbClr val="21295C"/>
                </a:solidFill>
                <a:latin typeface="Arial"/>
              </a:rPr>
              <a:t>Нагрузка переехала на другой шаг</a:t>
            </a:r>
            <a:r>
              <a:rPr sz="1290" b="0" i="0">
                <a:solidFill>
                  <a:srgbClr val="21295C"/>
                </a:solidFill>
                <a:latin typeface="Arial"/>
              </a:rPr>
              <a:t> — с сортировки на приём, и платить за это стало некому.</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дало</a:t>
            </a:r>
            <a:r>
              <a:rPr sz="1290" b="0" i="0">
                <a:solidFill>
                  <a:srgbClr val="21295C"/>
                </a:solidFill>
                <a:latin typeface="Arial"/>
              </a:rPr>
              <a:t> — сортировка круглосуточно и мгновенно, порог обращения ниже</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потребовало</a:t>
            </a:r>
            <a:r>
              <a:rPr sz="1290" b="0" i="0">
                <a:solidFill>
                  <a:srgbClr val="21295C"/>
                </a:solidFill>
                <a:latin typeface="Arial"/>
              </a:rPr>
              <a:t> — экономика на каждом пациенте в минус, задокументированный случай нераспознанных симптомов</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в сумме хуже</a:t>
            </a:r>
            <a:r>
              <a:rPr sz="1290" b="0" i="0">
                <a:solidFill>
                  <a:srgbClr val="21295C"/>
                </a:solidFill>
                <a:latin typeface="Arial"/>
              </a:rPr>
              <a:t> — банкротство в августе 2023 года, активы проданы за малую долю оценки</a:t>
            </a:r>
          </a:p>
          <a:p>
            <a:pPr algn="l">
              <a:lnSpc>
                <a:spcPct val="126000"/>
              </a:lnSpc>
              <a:spcBef>
                <a:spcPts val="700"/>
              </a:spcBef>
            </a:pPr>
            <a:r>
              <a:rPr sz="1290" b="0" i="0">
                <a:solidFill>
                  <a:srgbClr val="21295C"/>
                </a:solidFill>
                <a:latin typeface="Arial"/>
              </a:rPr>
              <a:t/>
            </a:r>
            <a:r>
              <a:rPr sz="129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8305495" y="1335024"/>
            <a:ext cx="3383280" cy="2342102"/>
          </a:xfrm>
          <a:prstGeom prst="roundRect">
            <a:avLst>
              <a:gd name="adj" fmla="val 13013"/>
            </a:avLst>
          </a:prstGeom>
          <a:solidFill>
            <a:srgbClr val="F4F7FA"/>
          </a:solidFill>
          <a:ln w="19050">
            <a:solidFill>
              <a:srgbClr val="1C7293"/>
            </a:solidFill>
          </a:ln>
          <a:effectLst/>
        </p:spPr>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8442655" y="1472184"/>
            <a:ext cx="3108960" cy="2067782"/>
          </a:xfrm>
          <a:prstGeom prst="rect">
            <a:avLst/>
          </a:prstGeom>
        </p:spPr>
      </p:pic>
      <p:sp>
        <p:nvSpPr>
          <p:cNvPr id="6" name="Rounded Rectangle 5"/>
          <p:cNvSpPr/>
          <p:nvPr/>
        </p:nvSpPr>
        <p:spPr>
          <a:xfrm>
            <a:off x="502920" y="1335024"/>
            <a:ext cx="3663543"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3892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508219"/>
            <a:ext cx="338922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331055" y="1335024"/>
            <a:ext cx="3663543"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68215"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468215" y="1690796"/>
            <a:ext cx="338922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468215" y="2117795"/>
            <a:ext cx="338922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23451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15" name="Rounded Rectangle 14"/>
          <p:cNvSpPr/>
          <p:nvPr/>
        </p:nvSpPr>
        <p:spPr>
          <a:xfrm>
            <a:off x="1920240"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807866" y="3450668"/>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036466"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118762"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5924092" y="3450668"/>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6152692"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234988"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023442"/>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 моделью</a:t>
            </a:r>
          </a:p>
        </p:txBody>
      </p:sp>
      <p:sp>
        <p:nvSpPr>
          <p:cNvPr id="24" name="Rounded Rectangle 23"/>
          <p:cNvSpPr/>
          <p:nvPr/>
        </p:nvSpPr>
        <p:spPr>
          <a:xfrm>
            <a:off x="1920240"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2002536"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807866" y="423960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036466"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118762"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5924092" y="423960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152692"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34988"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666069"/>
            <a:ext cx="749167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4942347"/>
            <a:ext cx="11441887" cy="1293860"/>
          </a:xfrm>
          <a:prstGeom prst="roundRect">
            <a:avLst>
              <a:gd name="adj" fmla="val 23557"/>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033787"/>
            <a:ext cx="11112703" cy="1202420"/>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Выигрыш здесь измерен явкой, а не точностью.</a:t>
            </a:r>
          </a:p>
          <a:p>
            <a:pPr algn="l">
              <a:lnSpc>
                <a:spcPct val="126000"/>
              </a:lnSpc>
              <a:spcBef>
                <a:spcPts val="700"/>
              </a:spcBef>
            </a:pPr>
            <a:r>
              <a:rPr sz="1170" b="0" i="0">
                <a:solidFill>
                  <a:srgbClr val="21295C"/>
                </a:solidFill>
                <a:latin typeface="Arial"/>
              </a:rPr>
              <a:t/>
            </a:r>
            <a:r>
              <a:rPr sz="1170" b="1" i="0">
                <a:solidFill>
                  <a:srgbClr val="21295C"/>
                </a:solidFill>
                <a:latin typeface="Arial"/>
              </a:rPr>
              <a:t>Классический режим</a:t>
            </a:r>
            <a:r>
              <a:rPr sz="1170" b="0" i="0">
                <a:solidFill>
                  <a:srgbClr val="21295C"/>
                </a:solidFill>
                <a:latin typeface="Arial"/>
              </a:rPr>
              <a:t> — раз в год человек с диабетом идёт к отдельному специалисту в отдельный день.</a:t>
            </a:r>
          </a:p>
          <a:p>
            <a:pPr algn="l">
              <a:lnSpc>
                <a:spcPct val="126000"/>
              </a:lnSpc>
              <a:spcBef>
                <a:spcPts val="700"/>
              </a:spcBef>
            </a:pPr>
            <a:r>
              <a:rPr sz="1170" b="0" i="0">
                <a:solidFill>
                  <a:srgbClr val="21295C"/>
                </a:solidFill>
                <a:latin typeface="Arial"/>
              </a:rPr>
              <a:t/>
            </a:r>
            <a:r>
              <a:rPr sz="1170" b="1" i="0">
                <a:solidFill>
                  <a:srgbClr val="21295C"/>
                </a:solidFill>
                <a:latin typeface="Arial"/>
              </a:rPr>
              <a:t>Модель</a:t>
            </a:r>
            <a:r>
              <a:rPr sz="1170" b="0" i="0">
                <a:solidFill>
                  <a:srgbClr val="21295C"/>
                </a:solidFill>
                <a:latin typeface="Arial"/>
              </a:rPr>
              <a:t> — снимок делает медсестра, решение «направить или нет» выносится на месте меньше чем за минуту.</a:t>
            </a:r>
          </a:p>
          <a:p>
            <a:pPr algn="l">
              <a:lnSpc>
                <a:spcPct val="126000"/>
              </a:lnSpc>
              <a:spcBef>
                <a:spcPts val="700"/>
              </a:spcBef>
            </a:pPr>
            <a:r>
              <a:rPr sz="1170" b="0" i="0">
                <a:solidFill>
                  <a:srgbClr val="21295C"/>
                </a:solidFill>
                <a:latin typeface="Arial"/>
              </a:rPr>
              <a:t/>
            </a:r>
            <a:r>
              <a:rPr sz="1170" b="0" i="0">
                <a:solidFill>
                  <a:srgbClr val="21295C"/>
                </a:solidFill>
                <a:latin typeface="Arial"/>
              </a:rPr>
              <a:t>• Второй шаг посчитан внутри того же испытания: из 25 человек с отклонением до офтальмолога дошли 16 — </a:t>
            </a:r>
            <a:r>
              <a:rPr sz="1170" b="1" i="0">
                <a:solidFill>
                  <a:srgbClr val="21295C"/>
                </a:solidFill>
                <a:latin typeface="Arial"/>
              </a:rPr>
              <a:t>64 из ста против 22 в контроле</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17875"/>
          </a:xfrm>
          <a:prstGeom prst="roundRect">
            <a:avLst>
              <a:gd name="adj" fmla="val 63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7521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826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014715" y="1335024"/>
            <a:ext cx="282458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161019" y="1335024"/>
            <a:ext cx="253197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5839295" y="1335024"/>
            <a:ext cx="3105730"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985599" y="1335024"/>
            <a:ext cx="281312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8945026" y="1335024"/>
            <a:ext cx="2707172"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91330" y="1335024"/>
            <a:ext cx="241456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47521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объём человеческого чтения, где процедура уже плотная</a:t>
            </a:r>
          </a:p>
        </p:txBody>
      </p:sp>
      <p:sp>
        <p:nvSpPr>
          <p:cNvPr id="15" name="Rectangle 14"/>
          <p:cNvSpPr/>
          <p:nvPr/>
        </p:nvSpPr>
        <p:spPr>
          <a:xfrm>
            <a:off x="3014715" y="1763984"/>
            <a:ext cx="2824580"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61019" y="1763984"/>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назначить порог: кого звать и с какого возраста — за этим подпись</a:t>
            </a:r>
          </a:p>
        </p:txBody>
      </p:sp>
      <p:sp>
        <p:nvSpPr>
          <p:cNvPr id="17" name="Rectangle 16"/>
          <p:cNvSpPr/>
          <p:nvPr/>
        </p:nvSpPr>
        <p:spPr>
          <a:xfrm>
            <a:off x="5839295" y="1763984"/>
            <a:ext cx="3105730"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985599" y="1763984"/>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сортировки на приём, и платить стало некому</a:t>
            </a:r>
          </a:p>
        </p:txBody>
      </p:sp>
      <p:sp>
        <p:nvSpPr>
          <p:cNvPr id="19" name="Rectangle 18"/>
          <p:cNvSpPr/>
          <p:nvPr/>
        </p:nvSpPr>
        <p:spPr>
          <a:xfrm>
            <a:off x="8945026" y="1763984"/>
            <a:ext cx="2707172"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91330" y="1763984"/>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порог вмешательства, записанный документом до всякой точности</a:t>
            </a:r>
          </a:p>
        </p:txBody>
      </p:sp>
      <p:sp>
        <p:nvSpPr>
          <p:cNvPr id="21" name="Rectangle 20"/>
          <p:cNvSpPr/>
          <p:nvPr/>
        </p:nvSpPr>
        <p:spPr>
          <a:xfrm>
            <a:off x="539496" y="2986051"/>
            <a:ext cx="247521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дотянуться до тех, кто иначе не придёт: решение выносится на месте</a:t>
            </a:r>
          </a:p>
        </p:txBody>
      </p:sp>
      <p:sp>
        <p:nvSpPr>
          <p:cNvPr id="23" name="Rectangle 22"/>
          <p:cNvSpPr/>
          <p:nvPr/>
        </p:nvSpPr>
        <p:spPr>
          <a:xfrm>
            <a:off x="3014715" y="2986051"/>
            <a:ext cx="2824580"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61019" y="2986051"/>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работать в открытом потоке обращений: выигрыша не дал ни один разбор</a:t>
            </a:r>
          </a:p>
        </p:txBody>
      </p:sp>
      <p:sp>
        <p:nvSpPr>
          <p:cNvPr id="25" name="Rectangle 24"/>
          <p:cNvSpPr/>
          <p:nvPr/>
        </p:nvSpPr>
        <p:spPr>
          <a:xfrm>
            <a:off x="5839295" y="2986051"/>
            <a:ext cx="3105730"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985599" y="2986051"/>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сменился исполнитель, и производной формой шаг появился — добыть годный снимок</a:t>
            </a:r>
          </a:p>
        </p:txBody>
      </p:sp>
      <p:sp>
        <p:nvSpPr>
          <p:cNvPr id="27" name="Rectangle 26"/>
          <p:cNvSpPr/>
          <p:nvPr/>
        </p:nvSpPr>
        <p:spPr>
          <a:xfrm>
            <a:off x="8945026" y="2986051"/>
            <a:ext cx="2707172"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91330" y="2986051"/>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двойное чтение и арбитраж — там, где второго читателя не заменили</a:t>
            </a:r>
          </a:p>
        </p:txBody>
      </p:sp>
      <p:sp>
        <p:nvSpPr>
          <p:cNvPr id="29" name="Rectangle 28"/>
          <p:cNvSpPr/>
          <p:nvPr/>
        </p:nvSpPr>
        <p:spPr>
          <a:xfrm>
            <a:off x="539496" y="4208118"/>
            <a:ext cx="2475219" cy="122206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выигрыш измерен доступом: точности модель здесь не прибавила</a:t>
            </a:r>
          </a:p>
        </p:txBody>
      </p:sp>
      <p:sp>
        <p:nvSpPr>
          <p:cNvPr id="31" name="Rectangle 30"/>
          <p:cNvSpPr/>
          <p:nvPr/>
        </p:nvSpPr>
        <p:spPr>
          <a:xfrm>
            <a:off x="3014715" y="4208118"/>
            <a:ext cx="2824580" cy="122206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61019" y="4208118"/>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отвечать за годность снимка: добывает её человек без профильной подготовки</a:t>
            </a:r>
          </a:p>
        </p:txBody>
      </p:sp>
      <p:sp>
        <p:nvSpPr>
          <p:cNvPr id="33" name="Rectangle 32"/>
          <p:cNvSpPr/>
          <p:nvPr/>
        </p:nvSpPr>
        <p:spPr>
          <a:xfrm>
            <a:off x="5839295" y="4208118"/>
            <a:ext cx="3105730" cy="122206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985599" y="4208118"/>
            <a:ext cx="281312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второго независимого человека большинство обследованных больше не получает</a:t>
            </a:r>
          </a:p>
        </p:txBody>
      </p:sp>
      <p:sp>
        <p:nvSpPr>
          <p:cNvPr id="35" name="Rectangle 34"/>
          <p:cNvSpPr/>
          <p:nvPr/>
        </p:nvSpPr>
        <p:spPr>
          <a:xfrm>
            <a:off x="8945026" y="4208118"/>
            <a:ext cx="2707172" cy="122206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91330" y="4208118"/>
            <a:ext cx="2414564"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ни одна процедура не проверяет, что фильтр отсеял: такой процедуры нет</a:t>
            </a:r>
          </a:p>
        </p:txBody>
      </p:sp>
      <p:sp>
        <p:nvSpPr>
          <p:cNvPr id="37" name="TextBox 36"/>
          <p:cNvSpPr txBox="1"/>
          <p:nvPr/>
        </p:nvSpPr>
        <p:spPr>
          <a:xfrm>
            <a:off x="539496" y="5576488"/>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поток приходит смещённым: что модель назвала нормой, человек не увидит.</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ни одна не про лечение, и пять видов данных из семи пустуют.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второй читатель и сортировка потока по риску</a:t>
            </a:r>
            <a:r>
              <a:rPr sz="1500" b="0" i="0">
                <a:solidFill>
                  <a:srgbClr val="21295C"/>
                </a:solidFill>
                <a:latin typeface="Arial"/>
              </a:rPr>
              <a:t> — Transpara · Lunit INSIGHT MMG · «Цельс» · «Третье мнение» · Care Mentor AI</a:t>
            </a:r>
          </a:p>
        </p:txBody>
      </p:sp>
      <p:sp>
        <p:nvSpPr>
          <p:cNvPr id="50" name="Rounded Rectangle 49"/>
          <p:cNvSpPr/>
          <p:nvPr/>
        </p:nvSpPr>
        <p:spPr>
          <a:xfrm>
            <a:off x="630936" y="5680272"/>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575497"/>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сортировка обращения словами</a:t>
            </a:r>
            <a:r>
              <a:rPr sz="1500" b="0" i="0">
                <a:solidFill>
                  <a:srgbClr val="21295C"/>
                </a:solidFill>
                <a:latin typeface="Arial"/>
              </a:rPr>
              <a:t> после разобранного случая стагнирует, а запись приёма под диктовку принимается</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система, а не человек.</a:t>
            </a:r>
          </a:p>
        </p:txBody>
      </p:sp>
      <p:sp>
        <p:nvSpPr>
          <p:cNvPr id="9" name="TextBox 8"/>
          <p:cNvSpPr txBox="1"/>
          <p:nvPr/>
        </p:nvSpPr>
        <p:spPr>
          <a:xfrm>
            <a:off x="704088" y="2743472"/>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51224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583110"/>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ДОЛИ СЧИТАЛИ</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2 212 просмотренных публикаций</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ГРУППУ, НА КОТОРОЙ ОНИ ПОСЧИТАНЫ</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пригодных для клинического применения среди них не нашлось ни одной; это вывод о качестве исследовательских работ — про внедрённые системы обзор не говорит ничего</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Человека поставили к прибору и сняли измерение. Дальше по этому измерению кто-то скажет «болен» или «здоров».</a:t>
            </a:r>
          </a:p>
          <a:p>
            <a:pPr algn="l">
              <a:lnSpc>
                <a:spcPct val="126000"/>
              </a:lnSpc>
              <a:spcBef>
                <a:spcPts val="700"/>
              </a:spcBef>
            </a:pPr>
            <a:r>
              <a:rPr sz="1110" b="0" i="0">
                <a:solidFill>
                  <a:srgbClr val="21295C"/>
                </a:solidFill>
                <a:latin typeface="Arial"/>
              </a:rPr>
              <a:t/>
            </a:r>
            <a:r>
              <a:rPr sz="1110" b="1" i="0">
                <a:solidFill>
                  <a:srgbClr val="21295C"/>
                </a:solidFill>
                <a:latin typeface="Arial"/>
              </a:rPr>
              <a:t>Шесть действий стадии.</a:t>
            </a:r>
            <a:r>
              <a:rPr sz="1110" b="0" i="0">
                <a:solidFill>
                  <a:srgbClr val="21295C"/>
                </a:solidFill>
                <a:latin typeface="Arial"/>
              </a:rPr>
              <a:t> 1. Назначить рабочую точку — порог, за которым объявляют «болен» · 2. Снять измерение · 3. Решить, годно ли оно: читать или переснять · 4. Прочесть и назвать две доли — на больных и на здоровых · 5. Пересчитать их под свою распространённость · 6. Сообщить результат тому, кто принимает решение.</a:t>
            </a:r>
          </a:p>
          <a:p>
            <a:pPr algn="l">
              <a:lnSpc>
                <a:spcPct val="126000"/>
              </a:lnSpc>
              <a:spcBef>
                <a:spcPts val="700"/>
              </a:spcBef>
            </a:pPr>
            <a:r>
              <a:rPr sz="1110" b="0" i="0">
                <a:solidFill>
                  <a:srgbClr val="21295C"/>
                </a:solidFill>
                <a:latin typeface="Arial"/>
              </a:rPr>
              <a:t/>
            </a:r>
            <a:r>
              <a:rPr sz="111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110" b="0" i="0">
                <a:solidFill>
                  <a:srgbClr val="21295C"/>
                </a:solidFill>
                <a:latin typeface="Arial"/>
              </a:rPr>
              <a:t/>
            </a:r>
            <a:r>
              <a:rPr sz="1110" b="0" i="0">
                <a:solidFill>
                  <a:srgbClr val="21295C"/>
                </a:solidFill>
                <a:latin typeface="Arial"/>
              </a:rPr>
              <a:t>• Рабочую точку выбирает протокол под цену обеих ошибок — и выбирает раньше, чем к задаче подошёл разработчик</a:t>
            </a:r>
          </a:p>
          <a:p>
            <a:pPr algn="l">
              <a:lnSpc>
                <a:spcPct val="126000"/>
              </a:lnSpc>
              <a:spcBef>
                <a:spcPts val="700"/>
              </a:spcBef>
            </a:pPr>
            <a:r>
              <a:rPr sz="1110" b="0" i="0">
                <a:solidFill>
                  <a:srgbClr val="21295C"/>
                </a:solidFill>
                <a:latin typeface="Arial"/>
              </a:rPr>
              <a:t/>
            </a:r>
            <a:r>
              <a:rPr sz="1110" b="0" i="0">
                <a:solidFill>
                  <a:srgbClr val="21295C"/>
                </a:solidFill>
                <a:latin typeface="Arial"/>
              </a:rPr>
              <a:t>• Годность кадра решает техник по инструкции кабинета: положение, захват объёма, артефакты. В приборе этого правила нет</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величины:</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чувствительность</a:t>
            </a:r>
            <a:r>
              <a:rPr sz="1110" b="0" i="0">
                <a:solidFill>
                  <a:srgbClr val="21295C"/>
                </a:solidFill>
                <a:latin typeface="Arial"/>
              </a:rPr>
              <a:t> — из тех, у кого болезнь есть, какую долю система назвала больными</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специфичность</a:t>
            </a:r>
            <a:r>
              <a:rPr sz="1110" b="0" i="0">
                <a:solidFill>
                  <a:srgbClr val="21295C"/>
                </a:solidFill>
                <a:latin typeface="Arial"/>
              </a:rPr>
              <a:t> — из тех, у кого её нет, какую долю она не стала пугать</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доля верных тревог</a:t>
            </a:r>
            <a:r>
              <a:rPr sz="1110" b="0" i="0">
                <a:solidFill>
                  <a:srgbClr val="21295C"/>
                </a:solidFill>
                <a:latin typeface="Arial"/>
              </a:rPr>
              <a:t> — из поднятых тревог какая часть оказалась болезнью; только её и видит врач на приёме</a:t>
            </a:r>
          </a:p>
          <a:p>
            <a:pPr algn="l">
              <a:lnSpc>
                <a:spcPct val="126000"/>
              </a:lnSpc>
              <a:spcBef>
                <a:spcPts val="700"/>
              </a:spcBef>
            </a:pPr>
            <a:r>
              <a:rPr sz="1110" b="0" i="0">
                <a:solidFill>
                  <a:srgbClr val="21295C"/>
                </a:solidFill>
                <a:latin typeface="Arial"/>
              </a:rPr>
              <a:t/>
            </a:r>
            <a:r>
              <a:rPr sz="111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TextBox 19"/>
          <p:cNvSpPr txBox="1"/>
          <p:nvPr/>
        </p:nvSpPr>
        <p:spPr>
          <a:xfrm>
            <a:off x="502920" y="3789025"/>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Поголовный поток</a:t>
            </a:r>
          </a:p>
        </p:txBody>
      </p:sp>
      <p:sp>
        <p:nvSpPr>
          <p:cNvPr id="21" name="Rounded Rectangle 20"/>
          <p:cNvSpPr/>
          <p:nvPr/>
        </p:nvSpPr>
        <p:spPr>
          <a:xfrm>
            <a:off x="1920240" y="3752449"/>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98169"/>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10 000 подряд, больных 100</a:t>
            </a:r>
          </a:p>
        </p:txBody>
      </p:sp>
      <p:sp>
        <p:nvSpPr>
          <p:cNvPr id="23" name="Right Arrow 22"/>
          <p:cNvSpPr/>
          <p:nvPr/>
        </p:nvSpPr>
        <p:spPr>
          <a:xfrm>
            <a:off x="5039258" y="400518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752449"/>
            <a:ext cx="3073298"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5" name="TextBox 24"/>
          <p:cNvSpPr txBox="1"/>
          <p:nvPr/>
        </p:nvSpPr>
        <p:spPr>
          <a:xfrm>
            <a:off x="5350154" y="3798169"/>
            <a:ext cx="2908706"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94 и 11 из ста</a:t>
            </a:r>
          </a:p>
        </p:txBody>
      </p:sp>
      <p:sp>
        <p:nvSpPr>
          <p:cNvPr id="26" name="Right Arrow 25"/>
          <p:cNvSpPr/>
          <p:nvPr/>
        </p:nvSpPr>
        <p:spPr>
          <a:xfrm>
            <a:off x="8386876" y="4005182"/>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752449"/>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798169"/>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94 верных и 1 089 ложных — 1 183 тревоги</a:t>
            </a:r>
          </a:p>
        </p:txBody>
      </p:sp>
      <p:sp>
        <p:nvSpPr>
          <p:cNvPr id="29" name="TextBox 28"/>
          <p:cNvSpPr txBox="1"/>
          <p:nvPr/>
        </p:nvSpPr>
        <p:spPr>
          <a:xfrm>
            <a:off x="502920" y="4577956"/>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Профильное отделение</a:t>
            </a:r>
          </a:p>
        </p:txBody>
      </p:sp>
      <p:sp>
        <p:nvSpPr>
          <p:cNvPr id="30" name="Rounded Rectangle 29"/>
          <p:cNvSpPr/>
          <p:nvPr/>
        </p:nvSpPr>
        <p:spPr>
          <a:xfrm>
            <a:off x="1920240" y="4541380"/>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587100"/>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10 000 отобранных, больных 3 000</a:t>
            </a:r>
          </a:p>
        </p:txBody>
      </p:sp>
      <p:sp>
        <p:nvSpPr>
          <p:cNvPr id="32" name="Right Arrow 31"/>
          <p:cNvSpPr/>
          <p:nvPr/>
        </p:nvSpPr>
        <p:spPr>
          <a:xfrm>
            <a:off x="5039258" y="479411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41380"/>
            <a:ext cx="3073298"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587100"/>
            <a:ext cx="2908706"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та же точка, 94 и 11</a:t>
            </a:r>
          </a:p>
        </p:txBody>
      </p:sp>
      <p:sp>
        <p:nvSpPr>
          <p:cNvPr id="35" name="Right Arrow 34"/>
          <p:cNvSpPr/>
          <p:nvPr/>
        </p:nvSpPr>
        <p:spPr>
          <a:xfrm>
            <a:off x="8386876" y="479411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41380"/>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587100"/>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2 820 верных и 770 ложных — 3 590 тревог</a:t>
            </a:r>
          </a:p>
        </p:txBody>
      </p:sp>
      <p:sp>
        <p:nvSpPr>
          <p:cNvPr id="38" name="TextBox 37"/>
          <p:cNvSpPr txBox="1"/>
          <p:nvPr/>
        </p:nvSpPr>
        <p:spPr>
          <a:xfrm>
            <a:off x="502920" y="522058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система, одна рабочая точка — меняется только группа</a:t>
            </a:r>
          </a:p>
        </p:txBody>
      </p:sp>
      <p:sp>
        <p:nvSpPr>
          <p:cNvPr id="39" name="Rounded Rectangle 38"/>
          <p:cNvSpPr/>
          <p:nvPr/>
        </p:nvSpPr>
        <p:spPr>
          <a:xfrm>
            <a:off x="374904" y="5496861"/>
            <a:ext cx="11441887" cy="7393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0" name="TextBox 39"/>
          <p:cNvSpPr txBox="1"/>
          <p:nvPr/>
        </p:nvSpPr>
        <p:spPr>
          <a:xfrm>
            <a:off x="539496" y="5588301"/>
            <a:ext cx="11112703" cy="647906"/>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Ни одна строка внутри системы не изменилась. Долю больных назначил тот, кто решил, кого звать.</a:t>
            </a:r>
          </a:p>
          <a:p>
            <a:pPr algn="l">
              <a:lnSpc>
                <a:spcPct val="126000"/>
              </a:lnSpc>
              <a:spcBef>
                <a:spcPts val="700"/>
              </a:spcBef>
            </a:pPr>
            <a:r>
              <a:rPr sz="1410" b="0" i="0">
                <a:solidFill>
                  <a:srgbClr val="21295C"/>
                </a:solidFill>
                <a:latin typeface="Arial"/>
              </a:rPr>
              <a:t/>
            </a:r>
            <a:r>
              <a:rPr sz="1410" b="1" i="0">
                <a:solidFill>
                  <a:srgbClr val="21295C"/>
                </a:solidFill>
                <a:latin typeface="Arial"/>
              </a:rPr>
              <a:t>Посчитайте сами: какая часть этих тревог окажется болезнью — там и там?</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почти десятикратная — при одних и тех же долях системы.</a:t>
            </a:r>
          </a:p>
          <a:p>
            <a:pPr algn="l">
              <a:lnSpc>
                <a:spcPct val="126000"/>
              </a:lnSpc>
              <a:spcBef>
                <a:spcPts val="700"/>
              </a:spcBef>
            </a:pPr>
            <a:r>
              <a:rPr sz="1500" b="0" i="0">
                <a:solidFill>
                  <a:srgbClr val="21295C"/>
                </a:solidFill>
                <a:latin typeface="Arial"/>
              </a:rPr>
              <a:t/>
            </a:r>
            <a:r>
              <a:rPr sz="1500" b="0" i="0">
                <a:solidFill>
                  <a:srgbClr val="21295C"/>
                </a:solidFill>
                <a:latin typeface="Arial"/>
              </a:rPr>
              <a:t>У этой доли есть имя: </a:t>
            </a:r>
            <a:r>
              <a:rPr sz="1500" b="1" i="0">
                <a:solidFill>
                  <a:srgbClr val="21295C"/>
                </a:solidFill>
                <a:latin typeface="Arial"/>
              </a:rPr>
              <a:t>прогностическая ценность положительного результата.</a:t>
            </a:r>
            <a:r>
              <a:rPr sz="1500" b="0" i="0">
                <a:solidFill>
                  <a:srgbClr val="21295C"/>
                </a:solidFill>
                <a:latin typeface="Arial"/>
              </a:rPr>
              <a:t> Зависит она от распространённости, а распространённость свойством прибора не служит.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Поднять её можно тремя способами,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 ложных тревог меньше, пропущенных больных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сменить группу —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только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измеряет и читает человек; модель входит в два шага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прочесть измерение · сообщить результат тому, кто решает; рабочая точка, съёмка, годность и пересчёт под свою группу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Рабочую точку выбирает протокол под цену ошибок</a:t>
            </a:r>
          </a:p>
          <a:p>
            <a:pPr algn="l">
              <a:lnSpc>
                <a:spcPct val="126000"/>
              </a:lnSpc>
            </a:pPr>
            <a:r>
              <a:rPr sz="1400" b="0" i="0">
                <a:solidFill>
                  <a:srgbClr val="21295C"/>
                </a:solidFill>
                <a:latin typeface="Arial"/>
              </a:rPr>
              <a:t>• Годность кадра решает техник по инструкции кабинета</a:t>
            </a:r>
          </a:p>
          <a:p>
            <a:pPr algn="l">
              <a:lnSpc>
                <a:spcPct val="126000"/>
              </a:lnSpc>
            </a:pPr>
            <a:r>
              <a:rPr sz="1400" b="0" i="0">
                <a:solidFill>
                  <a:srgbClr val="21295C"/>
                </a:solidFill>
                <a:latin typeface="Arial"/>
              </a:rPr>
              <a:t>• Две доли называют парой и для одной рабочей точки</a:t>
            </a:r>
          </a:p>
          <a:p>
            <a:pPr algn="l">
              <a:lnSpc>
                <a:spcPct val="126000"/>
              </a:lnSpc>
            </a:pPr>
            <a:r>
              <a:rPr sz="1400" b="0" i="0">
                <a:solidFill>
                  <a:srgbClr val="21295C"/>
                </a:solidFill>
                <a:latin typeface="Arial"/>
              </a:rPr>
              <a:t>• Долю верных тревог пересчитывают под свою группу</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чтение целиком — без специалиста</a:t>
            </a:r>
          </a:p>
          <a:p>
            <a:pPr algn="l">
              <a:lnSpc>
                <a:spcPct val="126000"/>
              </a:lnSpc>
            </a:pPr>
            <a:r>
              <a:rPr sz="1400" b="0" i="0">
                <a:solidFill>
                  <a:srgbClr val="21295C"/>
                </a:solidFill>
                <a:latin typeface="Arial"/>
              </a:rPr>
              <a:t>• Шаг 6: вместо величины — один балл, отбор по порогу</a:t>
            </a:r>
          </a:p>
          <a:p>
            <a:pPr algn="l">
              <a:lnSpc>
                <a:spcPct val="126000"/>
              </a:lnSpc>
            </a:pPr>
            <a:r>
              <a:rPr sz="1400" b="0" i="0">
                <a:solidFill>
                  <a:srgbClr val="21295C"/>
                </a:solidFill>
                <a:latin typeface="Arial"/>
              </a:rPr>
              <a:t>• Новый шаг: повторный визит, если кадр не прошёл</a:t>
            </a:r>
          </a:p>
          <a:p>
            <a:pPr algn="l">
              <a:lnSpc>
                <a:spcPct val="126000"/>
              </a:lnSpc>
            </a:pPr>
            <a:r>
              <a:rPr sz="1400" b="0" i="0">
                <a:solidFill>
                  <a:srgbClr val="21295C"/>
                </a:solidFill>
                <a:latin typeface="Arial"/>
              </a:rPr>
              <a:t>• Постоянство: десятитысячный кадр читается как первый</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Рабочую точку не назначает: за порогом цена обеих ошибок, а за ней подпись</a:t>
            </a:r>
          </a:p>
          <a:p>
            <a:pPr algn="l">
              <a:lnSpc>
                <a:spcPct val="126000"/>
              </a:lnSpc>
              <a:spcBef>
                <a:spcPts val="700"/>
              </a:spcBef>
            </a:pPr>
            <a:r>
              <a:rPr sz="1290" b="0" i="0">
                <a:solidFill>
                  <a:srgbClr val="21295C"/>
                </a:solidFill>
                <a:latin typeface="Arial"/>
              </a:rPr>
              <a:t/>
            </a:r>
            <a:r>
              <a:rPr sz="1290" b="0" i="0">
                <a:solidFill>
                  <a:srgbClr val="21295C"/>
                </a:solidFill>
                <a:latin typeface="Arial"/>
              </a:rPr>
              <a:t>• Переснять не умеет: в поле по качеству не прошёл каждый пятый кадр</a:t>
            </a:r>
          </a:p>
          <a:p>
            <a:pPr algn="l">
              <a:lnSpc>
                <a:spcPct val="126000"/>
              </a:lnSpc>
              <a:spcBef>
                <a:spcPts val="700"/>
              </a:spcBef>
            </a:pPr>
            <a:r>
              <a:rPr sz="1290" b="0" i="0">
                <a:solidFill>
                  <a:srgbClr val="21295C"/>
                </a:solidFill>
                <a:latin typeface="Arial"/>
              </a:rPr>
              <a:t/>
            </a:r>
            <a:r>
              <a:rPr sz="1290" b="0" i="0">
                <a:solidFill>
                  <a:srgbClr val="21295C"/>
                </a:solidFill>
                <a:latin typeface="Arial"/>
              </a:rPr>
              <a:t>• Смещение прибора наследует молча: </a:t>
            </a:r>
            <a:r>
              <a:rPr sz="1290" b="1" i="0">
                <a:solidFill>
                  <a:srgbClr val="21295C"/>
                </a:solidFill>
                <a:latin typeface="Arial"/>
              </a:rPr>
              <a:t>11,7 против 3,6 процента измерений</a:t>
            </a:r>
            <a:r>
              <a:rPr sz="1290" b="0" i="0">
                <a:solidFill>
                  <a:srgbClr val="21295C"/>
                </a:solidFill>
                <a:latin typeface="Arial"/>
              </a:rPr>
              <a:t> у пациентов с тёмной и светлой кожей</a:t>
            </a:r>
          </a:p>
          <a:p>
            <a:pPr algn="l">
              <a:lnSpc>
                <a:spcPct val="126000"/>
              </a:lnSpc>
              <a:spcBef>
                <a:spcPts val="700"/>
              </a:spcBef>
            </a:pPr>
            <a:r>
              <a:rPr sz="1290" b="0" i="0">
                <a:solidFill>
                  <a:srgbClr val="21295C"/>
                </a:solidFill>
                <a:latin typeface="Arial"/>
              </a:rPr>
              <a:t/>
            </a:r>
            <a:r>
              <a:rPr sz="1290" b="1" i="0">
                <a:solidFill>
                  <a:srgbClr val="21295C"/>
                </a:solidFill>
                <a:latin typeface="Arial"/>
              </a:rPr>
              <a:t>Обученной модели в том приборе нет вовсе, и смещение одностороннее.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прибора насыщения крови с прямым анализом крови по тону кожи: Sjoding и соавторы, New England Journal of Medicine, 2020;383:2477–2478</a:t>
            </a:r>
            <a:r>
              <a:rPr sz="1100" b="0" i="1">
                <a:solidFill>
                  <a:srgbClr val="1C7293"/>
                </a:solidFill>
                <a:latin typeface="Arial"/>
              </a:rPr>
              <a:t> · </a:t>
            </a:r>
            <a:r>
              <a:rPr sz="1100" b="0" i="1" u="sng">
                <a:solidFill>
                  <a:srgbClr val="065A82"/>
                </a:solidFill>
                <a:latin typeface="Arial"/>
                <a:hlinkClick r:id="rId3"/>
              </a:rPr>
              <a:t>полевая оценка автономного чтения глазного дна: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5" name="Picture 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6" name="Rounded Rectangle 5"/>
          <p:cNvSpPr/>
          <p:nvPr/>
        </p:nvSpPr>
        <p:spPr>
          <a:xfrm>
            <a:off x="502920" y="1335024"/>
            <a:ext cx="2204618" cy="1522541"/>
          </a:xfrm>
          <a:prstGeom prst="roundRect">
            <a:avLst>
              <a:gd name="adj" fmla="val 20019"/>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8" name="TextBox 7"/>
          <p:cNvSpPr txBox="1"/>
          <p:nvPr/>
        </p:nvSpPr>
        <p:spPr>
          <a:xfrm>
            <a:off x="640080" y="1690796"/>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9" name="Rounded Rectangle 8"/>
          <p:cNvSpPr/>
          <p:nvPr/>
        </p:nvSpPr>
        <p:spPr>
          <a:xfrm>
            <a:off x="2872130" y="1335024"/>
            <a:ext cx="2204618" cy="1522541"/>
          </a:xfrm>
          <a:prstGeom prst="roundRect">
            <a:avLst>
              <a:gd name="adj" fmla="val 20019"/>
            </a:avLst>
          </a:prstGeom>
          <a:solidFill>
            <a:srgbClr val="F4F7FA"/>
          </a:solidFill>
          <a:ln w="15240">
            <a:solidFill>
              <a:srgbClr val="1C7293"/>
            </a:solidFill>
          </a:ln>
          <a:effectLst/>
        </p:spPr>
        <p:txBody>
          <a:bodyPr rtlCol="0" anchor="ctr"/>
          <a:lstStyle/>
          <a:p>
            <a:pPr algn="ctr"/>
          </a:p>
        </p:txBody>
      </p:sp>
      <p:sp>
        <p:nvSpPr>
          <p:cNvPr id="10" name="TextBox 9"/>
          <p:cNvSpPr txBox="1"/>
          <p:nvPr/>
        </p:nvSpPr>
        <p:spPr>
          <a:xfrm>
            <a:off x="300929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1" name="TextBox 10"/>
          <p:cNvSpPr txBox="1"/>
          <p:nvPr/>
        </p:nvSpPr>
        <p:spPr>
          <a:xfrm>
            <a:off x="3009290" y="1690796"/>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2" name="Rounded Rectangle 11"/>
          <p:cNvSpPr/>
          <p:nvPr/>
        </p:nvSpPr>
        <p:spPr>
          <a:xfrm>
            <a:off x="5241340" y="1335024"/>
            <a:ext cx="2204618" cy="1522541"/>
          </a:xfrm>
          <a:prstGeom prst="roundRect">
            <a:avLst>
              <a:gd name="adj" fmla="val 2001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7850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4" name="TextBox 13"/>
          <p:cNvSpPr txBox="1"/>
          <p:nvPr/>
        </p:nvSpPr>
        <p:spPr>
          <a:xfrm>
            <a:off x="5378500" y="1690796"/>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5" name="Rounded Rectangle 14"/>
          <p:cNvSpPr/>
          <p:nvPr/>
        </p:nvSpPr>
        <p:spPr>
          <a:xfrm>
            <a:off x="374904" y="2949005"/>
            <a:ext cx="11441887" cy="3287202"/>
          </a:xfrm>
          <a:prstGeom prst="roundRect">
            <a:avLst>
              <a:gd name="adj" fmla="val 927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040445"/>
            <a:ext cx="11112703" cy="319576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7" name="Rectangle 1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100" b="0" i="1">
                <a:solidFill>
                  <a:srgbClr val="1C7293"/>
                </a:solidFill>
                <a:latin typeface="Arial"/>
              </a:rPr>
              <a:t> · </a:t>
            </a:r>
            <a:r>
              <a:rPr sz="11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Цена обеих ошибок.</a:t>
            </a:r>
            <a:r>
              <a:rPr sz="114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140" b="0" i="0">
                <a:solidFill>
                  <a:srgbClr val="21295C"/>
                </a:solidFill>
                <a:latin typeface="Arial"/>
              </a:rPr>
              <a:t/>
            </a:r>
            <a:r>
              <a:rPr sz="1140" b="1" i="0">
                <a:solidFill>
                  <a:srgbClr val="21295C"/>
                </a:solidFill>
                <a:latin typeface="Arial"/>
              </a:rPr>
              <a:t>Оба классических режима посчитаны одной методологией</a:t>
            </a:r>
            <a:r>
              <a:rPr sz="114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140" b="0" i="0">
                <a:solidFill>
                  <a:srgbClr val="21295C"/>
                </a:solidFill>
                <a:latin typeface="Arial"/>
              </a:rPr>
              <a:t/>
            </a:r>
            <a:r>
              <a:rPr sz="1140" b="1" i="0">
                <a:solidFill>
                  <a:srgbClr val="21295C"/>
                </a:solidFill>
                <a:latin typeface="Arial"/>
              </a:rPr>
              <a:t>Модель против них.</a:t>
            </a:r>
            <a:r>
              <a:rPr sz="114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a:p>
            <a:pPr algn="l">
              <a:lnSpc>
                <a:spcPct val="126000"/>
              </a:lnSpc>
              <a:spcBef>
                <a:spcPts val="700"/>
              </a:spcBef>
            </a:pPr>
            <a:r>
              <a:rPr sz="1140" b="0" i="0">
                <a:solidFill>
                  <a:srgbClr val="21295C"/>
                </a:solidFill>
                <a:latin typeface="Arial"/>
              </a:rPr>
              <a:t/>
            </a:r>
            <a:r>
              <a:rPr sz="1140" b="0" i="0">
                <a:solidFill>
                  <a:srgbClr val="21295C"/>
                </a:solidFill>
                <a:latin typeface="Arial"/>
              </a:rPr>
              <a:t>База: </a:t>
            </a:r>
            <a:r>
              <a:rPr sz="1140" b="1" i="0">
                <a:solidFill>
                  <a:srgbClr val="21295C"/>
                </a:solidFill>
                <a:latin typeface="Arial"/>
              </a:rPr>
              <a:t>656 изображений</a:t>
            </a:r>
            <a:r>
              <a:rPr sz="1140" b="0" i="0">
                <a:solidFill>
                  <a:srgbClr val="21295C"/>
                </a:solidFill>
                <a:latin typeface="Arial"/>
              </a:rPr>
              <a:t>, все с подтверждённой биопсией.</a:t>
            </a:r>
          </a:p>
          <a:p>
            <a:pPr algn="l">
              <a:lnSpc>
                <a:spcPct val="126000"/>
              </a:lnSpc>
              <a:spcBef>
                <a:spcPts val="700"/>
              </a:spcBef>
            </a:pPr>
            <a:r>
              <a:rPr sz="1140" b="0" i="0">
                <a:solidFill>
                  <a:srgbClr val="21295C"/>
                </a:solidFill>
                <a:latin typeface="Arial"/>
              </a:rPr>
              <a:t/>
            </a:r>
            <a:r>
              <a:rPr sz="1140" b="0" i="0">
                <a:solidFill>
                  <a:srgbClr val="21295C"/>
                </a:solidFill>
                <a:latin typeface="Arial"/>
              </a:rPr>
              <a:t>• тёмных тонов — </a:t>
            </a:r>
            <a:r>
              <a:rPr sz="1140" b="1" i="0">
                <a:solidFill>
                  <a:srgbClr val="21295C"/>
                </a:solidFill>
                <a:latin typeface="Arial"/>
              </a:rPr>
              <a:t>207</a:t>
            </a:r>
            <a:r>
              <a:rPr sz="1140" b="0" i="0">
                <a:solidFill>
                  <a:srgbClr val="21295C"/>
                </a:solidFill>
                <a:latin typeface="Arial"/>
              </a:rPr>
              <a:t>, светлых 208, средних 241</a:t>
            </a:r>
          </a:p>
          <a:p>
            <a:pPr algn="l">
              <a:lnSpc>
                <a:spcPct val="126000"/>
              </a:lnSpc>
              <a:spcBef>
                <a:spcPts val="700"/>
              </a:spcBef>
            </a:pPr>
            <a:r>
              <a:rPr sz="1140" b="0" i="0">
                <a:solidFill>
                  <a:srgbClr val="21295C"/>
                </a:solidFill>
                <a:latin typeface="Arial"/>
              </a:rPr>
              <a:t/>
            </a:r>
            <a:r>
              <a:rPr sz="1140" b="0" i="0">
                <a:solidFill>
                  <a:srgbClr val="21295C"/>
                </a:solidFill>
                <a:latin typeface="Arial"/>
              </a:rPr>
              <a:t>• знаменатель назван, и это не «несколько примеров»</a:t>
            </a:r>
          </a:p>
          <a:p>
            <a:pPr algn="l">
              <a:lnSpc>
                <a:spcPct val="126000"/>
              </a:lnSpc>
              <a:spcBef>
                <a:spcPts val="700"/>
              </a:spcBef>
            </a:pPr>
            <a:r>
              <a:rPr sz="1140" b="0" i="0">
                <a:solidFill>
                  <a:srgbClr val="21295C"/>
                </a:solidFill>
                <a:latin typeface="Arial"/>
              </a:rPr>
              <a:t/>
            </a:r>
            <a:r>
              <a:rPr sz="114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910" b="0" i="0">
                <a:solidFill>
                  <a:srgbClr val="21295C"/>
                </a:solidFill>
                <a:latin typeface="Arial"/>
              </a:rPr>
              <a:t/>
            </a:r>
            <a:r>
              <a:rPr sz="91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 а не алгоритм</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ДООБУЧЕНИЕ НА ПРЕДСТАВИТЕЛЬНОМ НАБОРЕ</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ТРИ АЛГОРИТМИЧЕСКИХ МЕТОДА ПРОТИВ СМЕЩЕНИЯ</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КЛАССИЧЕСКИХ МЕТОДОВ</a:t>
            </a:r>
          </a:p>
        </p:txBody>
      </p:sp>
      <p:sp>
        <p:nvSpPr>
          <p:cNvPr id="13" name="TextBox 12"/>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постоянную оценку образования там, где дерматолога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набора, повторяющего состав тех, на ком система будет работать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Цена обеих ошибок.</a:t>
            </a:r>
            <a:r>
              <a:rPr sz="108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080" b="0" i="0">
                <a:solidFill>
                  <a:srgbClr val="21295C"/>
                </a:solidFill>
                <a:latin typeface="Arial"/>
              </a:rPr>
              <a:t/>
            </a:r>
            <a:r>
              <a:rPr sz="1080" b="1" i="0">
                <a:solidFill>
                  <a:srgbClr val="21295C"/>
                </a:solidFill>
                <a:latin typeface="Arial"/>
              </a:rPr>
              <a:t>Оба классических режима посчитаны на одной выборке.</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 против них.</a:t>
            </a:r>
            <a:r>
              <a:rPr sz="108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080" b="0" i="0">
                <a:solidFill>
                  <a:srgbClr val="21295C"/>
                </a:solidFill>
                <a:latin typeface="Arial"/>
              </a:rPr>
              <a:t/>
            </a:r>
            <a:r>
              <a:rPr sz="1080" b="0" i="0">
                <a:solidFill>
                  <a:srgbClr val="21295C"/>
                </a:solidFill>
                <a:latin typeface="Arial"/>
              </a:rPr>
              <a:t>База: </a:t>
            </a:r>
            <a:r>
              <a:rPr sz="1080" b="1" i="0">
                <a:solidFill>
                  <a:srgbClr val="21295C"/>
                </a:solidFill>
                <a:latin typeface="Arial"/>
              </a:rPr>
              <a:t>49 618 пациентов</a:t>
            </a:r>
            <a:r>
              <a:rPr sz="1080" b="0" i="0">
                <a:solidFill>
                  <a:srgbClr val="21295C"/>
                </a:solidFill>
                <a:latin typeface="Arial"/>
              </a:rPr>
              <a:t> одной больницы, 100 009 пациенто-лет, 2013–2015 годы.</a:t>
            </a:r>
          </a:p>
          <a:p>
            <a:pPr algn="l">
              <a:lnSpc>
                <a:spcPct val="126000"/>
              </a:lnSpc>
              <a:spcBef>
                <a:spcPts val="700"/>
              </a:spcBef>
            </a:pPr>
            <a:r>
              <a:rPr sz="860" b="0" i="0">
                <a:solidFill>
                  <a:srgbClr val="21295C"/>
                </a:solidFill>
                <a:latin typeface="Arial"/>
              </a:rPr>
              <a:t/>
            </a:r>
            <a:r>
              <a:rPr sz="86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a:t>
            </a:r>
            <a:r>
              <a:rPr sz="1080" b="0" i="1">
                <a:solidFill>
                  <a:srgbClr val="21295C"/>
                </a:solidFill>
                <a:latin typeface="Arial"/>
              </a:rPr>
              <a:t>прогноз на структурированных данных</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080" b="0" i="0">
                <a:solidFill>
                  <a:srgbClr val="21295C"/>
                </a:solidFill>
                <a:latin typeface="Arial"/>
              </a:rPr>
              <a:t/>
            </a:r>
            <a:r>
              <a:rPr sz="108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080" b="0" i="0">
                <a:solidFill>
                  <a:srgbClr val="21295C"/>
                </a:solidFill>
                <a:latin typeface="Arial"/>
              </a:rPr>
              <a:t/>
            </a:r>
            <a:r>
              <a:rPr sz="1080" b="0" i="0">
                <a:solidFill>
                  <a:srgbClr val="21295C"/>
                </a:solidFill>
                <a:latin typeface="Arial"/>
              </a:rPr>
              <a:t>• не умеет отличить «дорого лечится» от «болен», если целью взяты расходы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Разрыв убран расчётом, не внедрением.</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Масштаб и знаменатель — порознь, иначе их складывают:</a:t>
            </a:r>
          </a:p>
          <a:p>
            <a:pPr algn="l">
              <a:lnSpc>
                <a:spcPct val="126000"/>
              </a:lnSpc>
              <a:spcBef>
                <a:spcPts val="700"/>
              </a:spcBef>
            </a:pPr>
            <a:r>
              <a:rPr sz="1110" b="0" i="0">
                <a:solidFill>
                  <a:srgbClr val="21295C"/>
                </a:solidFill>
                <a:latin typeface="Arial"/>
              </a:rPr>
              <a:t/>
            </a:r>
            <a:r>
              <a:rPr sz="1110" b="0" i="0">
                <a:solidFill>
                  <a:srgbClr val="21295C"/>
                </a:solidFill>
                <a:latin typeface="Arial"/>
              </a:rPr>
              <a:t>• к моделям этого класса отнесены примерно </a:t>
            </a:r>
            <a:r>
              <a:rPr sz="1110" b="1" i="0">
                <a:solidFill>
                  <a:srgbClr val="21295C"/>
                </a:solidFill>
                <a:latin typeface="Arial"/>
              </a:rPr>
              <a:t>200 миллионов</a:t>
            </a:r>
            <a:r>
              <a:rPr sz="1110" b="0" i="0">
                <a:solidFill>
                  <a:srgbClr val="21295C"/>
                </a:solidFill>
                <a:latin typeface="Arial"/>
              </a:rPr>
              <a:t> человек в год</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0" i="1">
                <a:solidFill>
                  <a:srgbClr val="21295C"/>
                </a:solidFill>
                <a:latin typeface="Arial"/>
              </a:rPr>
              <a:t>это оценка охвата, а не выборка: перекос измерен на 49 618 пациентах</a:t>
            </a:r>
          </a:p>
          <a:p>
            <a:pPr algn="l">
              <a:lnSpc>
                <a:spcPct val="126000"/>
              </a:lnSpc>
              <a:spcBef>
                <a:spcPts val="700"/>
              </a:spcBef>
            </a:pPr>
            <a:r>
              <a:rPr sz="1110" b="0" i="0">
                <a:solidFill>
                  <a:srgbClr val="21295C"/>
                </a:solidFill>
                <a:latin typeface="Arial"/>
              </a:rPr>
              <a:t/>
            </a:r>
            <a:r>
              <a:rPr sz="1110" b="1" i="0">
                <a:solidFill>
                  <a:srgbClr val="21295C"/>
                </a:solidFill>
                <a:latin typeface="Arial"/>
              </a:rPr>
              <a:t>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42987"/>
          </a:xfrm>
          <a:prstGeom prst="roundRect">
            <a:avLst>
              <a:gd name="adj" fmla="val 616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928"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232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034424" y="1335024"/>
            <a:ext cx="2264321"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728" y="1335024"/>
            <a:ext cx="19717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298745" y="1335024"/>
            <a:ext cx="3257043"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45049" y="1335024"/>
            <a:ext cx="296443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555788" y="1335024"/>
            <a:ext cx="3096410"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02092" y="1335024"/>
            <a:ext cx="2803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494928"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постоянство: десятитысячный снимок читается как первый</a:t>
            </a:r>
          </a:p>
        </p:txBody>
      </p:sp>
      <p:sp>
        <p:nvSpPr>
          <p:cNvPr id="15" name="Rectangle 14"/>
          <p:cNvSpPr/>
          <p:nvPr/>
        </p:nvSpPr>
        <p:spPr>
          <a:xfrm>
            <a:off x="3034424" y="1736636"/>
            <a:ext cx="2264321"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728" y="1736636"/>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назначить рабочую точку: за порогом стоит цена обеих ошибок</a:t>
            </a:r>
          </a:p>
        </p:txBody>
      </p:sp>
      <p:sp>
        <p:nvSpPr>
          <p:cNvPr id="17" name="Rectangle 16"/>
          <p:cNvSpPr/>
          <p:nvPr/>
        </p:nvSpPr>
        <p:spPr>
          <a:xfrm>
            <a:off x="5298745" y="1736636"/>
            <a:ext cx="3257043"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45049" y="1736636"/>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выросла на том же месте — у техника появилась работа добиться годного снимка</a:t>
            </a:r>
          </a:p>
        </p:txBody>
      </p:sp>
      <p:sp>
        <p:nvSpPr>
          <p:cNvPr id="19" name="Rectangle 18"/>
          <p:cNvSpPr/>
          <p:nvPr/>
        </p:nvSpPr>
        <p:spPr>
          <a:xfrm>
            <a:off x="8555788" y="1736636"/>
            <a:ext cx="3096410"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02092" y="1736636"/>
            <a:ext cx="2803802"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рабочая точка под цену обеих ошибок и пересчёт доли верных тревог под свою группу</a:t>
            </a:r>
          </a:p>
        </p:txBody>
      </p:sp>
      <p:sp>
        <p:nvSpPr>
          <p:cNvPr id="21" name="Rectangle 20"/>
          <p:cNvSpPr/>
          <p:nvPr/>
        </p:nvSpPr>
        <p:spPr>
          <a:xfrm>
            <a:off x="539496" y="2849309"/>
            <a:ext cx="2494928" cy="134969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202320"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поток: чтение нормы перестаёт занимать специалиста</a:t>
            </a:r>
          </a:p>
        </p:txBody>
      </p:sp>
      <p:sp>
        <p:nvSpPr>
          <p:cNvPr id="23" name="Rectangle 22"/>
          <p:cNvSpPr/>
          <p:nvPr/>
        </p:nvSpPr>
        <p:spPr>
          <a:xfrm>
            <a:off x="3034424" y="2849309"/>
            <a:ext cx="2264321" cy="134969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728" y="2849309"/>
            <a:ext cx="1971713"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переснять: качество входа остаётся человеку без профильной подготовки</a:t>
            </a:r>
          </a:p>
        </p:txBody>
      </p:sp>
      <p:sp>
        <p:nvSpPr>
          <p:cNvPr id="25" name="Rectangle 24"/>
          <p:cNvSpPr/>
          <p:nvPr/>
        </p:nvSpPr>
        <p:spPr>
          <a:xfrm>
            <a:off x="5298745" y="2849309"/>
            <a:ext cx="3257043" cy="134969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45049" y="2849309"/>
            <a:ext cx="2964435" cy="1349693"/>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производной формой шаг появился — повторный визит тем, чьё измерение не прошло</a:t>
            </a:r>
          </a:p>
        </p:txBody>
      </p:sp>
      <p:sp>
        <p:nvSpPr>
          <p:cNvPr id="27" name="Rectangle 26"/>
          <p:cNvSpPr/>
          <p:nvPr/>
        </p:nvSpPr>
        <p:spPr>
          <a:xfrm>
            <a:off x="8555788" y="2849309"/>
            <a:ext cx="3096410" cy="134969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02092" y="2849309"/>
            <a:ext cx="2803802"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контроль годности измерения: правило кабинета, а не свойство прибора</a:t>
            </a:r>
          </a:p>
        </p:txBody>
      </p:sp>
      <p:sp>
        <p:nvSpPr>
          <p:cNvPr id="29" name="Rectangle 28"/>
          <p:cNvSpPr/>
          <p:nvPr/>
        </p:nvSpPr>
        <p:spPr>
          <a:xfrm>
            <a:off x="539496" y="4199002"/>
            <a:ext cx="2494928"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199002"/>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воспроизводимость: один вход даёт один выход, и расхождение можно разобрать</a:t>
            </a:r>
          </a:p>
        </p:txBody>
      </p:sp>
      <p:sp>
        <p:nvSpPr>
          <p:cNvPr id="31" name="Rectangle 30"/>
          <p:cNvSpPr/>
          <p:nvPr/>
        </p:nvSpPr>
        <p:spPr>
          <a:xfrm>
            <a:off x="3034424" y="4199002"/>
            <a:ext cx="2264321"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728" y="4199002"/>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увидеть, чем измерен вход: смещение прибора модель наследует молча</a:t>
            </a:r>
          </a:p>
        </p:txBody>
      </p:sp>
      <p:sp>
        <p:nvSpPr>
          <p:cNvPr id="33" name="Rectangle 32"/>
          <p:cNvSpPr/>
          <p:nvPr/>
        </p:nvSpPr>
        <p:spPr>
          <a:xfrm>
            <a:off x="5298745" y="4199002"/>
            <a:ext cx="3257043"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45049" y="4199002"/>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сменился исполнитель — отбор делал врач, стал делать один балл; и сместилась цена ошибки на подгруппу</a:t>
            </a:r>
          </a:p>
        </p:txBody>
      </p:sp>
      <p:sp>
        <p:nvSpPr>
          <p:cNvPr id="35" name="Rectangle 34"/>
          <p:cNvSpPr/>
          <p:nvPr/>
        </p:nvSpPr>
        <p:spPr>
          <a:xfrm>
            <a:off x="8555788" y="4199002"/>
            <a:ext cx="3096410"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02092" y="4199002"/>
            <a:ext cx="2803802"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проверяет, что система считает целью: исправление посчитано и не применено</a:t>
            </a:r>
          </a:p>
        </p:txBody>
      </p:sp>
      <p:sp>
        <p:nvSpPr>
          <p:cNvPr id="37" name="TextBox 36"/>
          <p:cNvSpPr txBox="1"/>
          <p:nvPr/>
        </p:nvSpPr>
        <p:spPr>
          <a:xfrm>
            <a:off x="539496" y="545797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63187"/>
          </a:xfrm>
          <a:prstGeom prst="roundRect">
            <a:avLst>
              <a:gd name="adj" fmla="val 614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594522"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0191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3134018" y="1335024"/>
            <a:ext cx="104014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280322" y="1335024"/>
            <a:ext cx="74753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4174162" y="1335024"/>
            <a:ext cx="392947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4320466" y="1335024"/>
            <a:ext cx="363686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103635" y="1335024"/>
            <a:ext cx="3548563"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249939" y="1335024"/>
            <a:ext cx="325595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594522"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3134018" y="1763984"/>
            <a:ext cx="1040143"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280322" y="1763984"/>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4174162" y="1763984"/>
            <a:ext cx="3929473"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320466" y="1763984"/>
            <a:ext cx="363686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Таиланд · кожа и состав набора</a:t>
            </a:r>
          </a:p>
        </p:txBody>
      </p:sp>
      <p:sp>
        <p:nvSpPr>
          <p:cNvPr id="19" name="Rectangle 18"/>
          <p:cNvSpPr/>
          <p:nvPr/>
        </p:nvSpPr>
        <p:spPr>
          <a:xfrm>
            <a:off x="8103635" y="1763984"/>
            <a:ext cx="3548563"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249939" y="1763984"/>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594522"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3134018" y="2192945"/>
            <a:ext cx="1040143"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280322" y="2192945"/>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4174162" y="2192945"/>
            <a:ext cx="3929473"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320466" y="2192945"/>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детекция и сортировка потока</a:t>
            </a:r>
          </a:p>
        </p:txBody>
      </p:sp>
      <p:sp>
        <p:nvSpPr>
          <p:cNvPr id="27" name="Rectangle 26"/>
          <p:cNvSpPr/>
          <p:nvPr/>
        </p:nvSpPr>
        <p:spPr>
          <a:xfrm>
            <a:off x="8103635" y="2192945"/>
            <a:ext cx="3548563"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249939" y="2192945"/>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594522"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3134018" y="2621906"/>
            <a:ext cx="1040143"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280322" y="262190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3" name="Rectangle 32"/>
          <p:cNvSpPr/>
          <p:nvPr/>
        </p:nvSpPr>
        <p:spPr>
          <a:xfrm>
            <a:off x="4174162" y="2621906"/>
            <a:ext cx="3929473"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320466" y="262190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103635" y="2621906"/>
            <a:ext cx="3548563"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249939" y="2621906"/>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594522"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3134018" y="3050866"/>
            <a:ext cx="1040143"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280322" y="305086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4174162" y="3050866"/>
            <a:ext cx="3929473"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320466" y="305086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103635" y="3050866"/>
            <a:ext cx="3548563"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249939" y="3050866"/>
            <a:ext cx="325595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расходы вместо болезни</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и два разбора из трёх стоят в одной. Четвёртая занятая клетка лежит вне окна: </a:t>
            </a:r>
            <a:r>
              <a:rPr sz="1500" b="0" i="1">
                <a:solidFill>
                  <a:srgbClr val="1C7293"/>
                </a:solidFill>
                <a:latin typeface="Arial"/>
              </a:rPr>
              <a:t>измерение · сигнал прибора</a:t>
            </a:r>
            <a:r>
              <a:rPr sz="1500" b="0" i="0">
                <a:solidFill>
                  <a:srgbClr val="21295C"/>
                </a:solidFill>
                <a:latin typeface="Arial"/>
              </a:rPr>
              <a:t>, и обученной модели в ней нет.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 · AEYE-DS</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оценка кожного образования</a:t>
            </a:r>
            <a:r>
              <a:rPr sz="1500" b="0" i="0">
                <a:solidFill>
                  <a:srgbClr val="21295C"/>
                </a:solidFill>
                <a:latin typeface="Arial"/>
              </a:rPr>
              <a:t> — SkinVision в приложении у человека · DermaSensor, щуп первичного звена</a:t>
            </a:r>
          </a:p>
        </p:txBody>
      </p:sp>
      <p:sp>
        <p:nvSpPr>
          <p:cNvPr id="50" name="Rounded Rectangle 49"/>
          <p:cNvSpPr/>
          <p:nvPr/>
        </p:nvSpPr>
        <p:spPr>
          <a:xfrm>
            <a:off x="630936" y="53781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27340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детекция и сортировка потока</a:t>
            </a:r>
            <a:r>
              <a:rPr sz="1500" b="0" i="0">
                <a:solidFill>
                  <a:srgbClr val="21295C"/>
                </a:solidFill>
                <a:latin typeface="Arial"/>
              </a:rPr>
              <a:t> — Annalise · Aidoc · Lunit; в России — сервисы московского эксперимента</a:t>
            </a:r>
          </a:p>
        </p:txBody>
      </p:sp>
      <p:sp>
        <p:nvSpPr>
          <p:cNvPr id="52" name="Rounded Rectangle 51"/>
          <p:cNvSpPr/>
          <p:nvPr/>
        </p:nvSpPr>
        <p:spPr>
          <a:xfrm>
            <a:off x="630936" y="5826576"/>
            <a:ext cx="100584" cy="100584"/>
          </a:xfrm>
          <a:prstGeom prst="roundRect">
            <a:avLst>
              <a:gd name="adj" fmla="val 50000"/>
            </a:avLst>
          </a:prstGeom>
          <a:solidFill>
            <a:srgbClr val="028090"/>
          </a:solidFill>
          <a:ln>
            <a:noFill/>
          </a:ln>
          <a:effectLst/>
        </p:spPr>
        <p:txBody>
          <a:bodyPr rtlCol="0" anchor="ctr"/>
          <a:lstStyle/>
          <a:p>
            <a:pPr algn="ctr"/>
          </a:p>
        </p:txBody>
      </p:sp>
      <p:sp>
        <p:nvSpPr>
          <p:cNvPr id="53" name="TextBox 52"/>
          <p:cNvSpPr txBox="1"/>
          <p:nvPr/>
        </p:nvSpPr>
        <p:spPr>
          <a:xfrm>
            <a:off x="923544" y="572180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счёт риска внутри карты</a:t>
            </a:r>
            <a:r>
              <a:rPr sz="1500" b="0" i="0">
                <a:solidFill>
                  <a:srgbClr val="21295C"/>
                </a:solidFill>
                <a:latin typeface="Arial"/>
              </a:rPr>
              <a:t> — покупает администрация или плательщик, не врач</a:t>
            </a:r>
          </a:p>
        </p:txBody>
      </p:sp>
      <p:sp>
        <p:nvSpPr>
          <p:cNvPr id="54" name="Rectangle 5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10" name="TextBox 9"/>
          <p:cNvSpPr txBox="1"/>
          <p:nvPr/>
        </p:nvSpPr>
        <p:spPr>
          <a:xfrm>
            <a:off x="704088" y="411642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Женщина тридцати четырёх лет: три недели кашля, вечерами температура, минус четыре килограмма за полтора месяца — без диеты и без смены работы.</a:t>
            </a:r>
          </a:p>
          <a:p>
            <a:pPr algn="l">
              <a:lnSpc>
                <a:spcPct val="126000"/>
              </a:lnSpc>
              <a:spcBef>
                <a:spcPts val="700"/>
              </a:spcBef>
            </a:pPr>
            <a:r>
              <a:rPr sz="1350" b="0" i="0">
                <a:solidFill>
                  <a:srgbClr val="21295C"/>
                </a:solidFill>
                <a:latin typeface="Arial"/>
              </a:rPr>
              <a:t/>
            </a:r>
            <a:r>
              <a:rPr sz="1350" b="1" i="0">
                <a:solidFill>
                  <a:srgbClr val="21295C"/>
                </a:solidFill>
                <a:latin typeface="Arial"/>
              </a:rPr>
              <a:t>Семь действий стадии.</a:t>
            </a:r>
            <a:r>
              <a:rPr sz="1350" b="0" i="0">
                <a:solidFill>
                  <a:srgbClr val="21295C"/>
                </a:solidFill>
                <a:latin typeface="Arial"/>
              </a:rPr>
              <a:t> 1. Собрать данные · 2. Выписать болезни, способные объяснить наблюдаемое · 3. Назначить различающую проверку — дешёвое и отсекающее первым · 4. Вычеркнуть опровергнутое и пересобрать список · 5. Прочесть вторым — независимо от первого · 6. Разрешить расхождение — третий читатель, видящий оба заключения · 7. Подписать заключение.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 списке — бронхит, туберкулёз, лимфома, аутоиммунное поражение; вычеркнули бронхит снимком, аутоиммунное спокойным анализом</a:t>
            </a:r>
          </a:p>
          <a:p>
            <a:pPr algn="l">
              <a:lnSpc>
                <a:spcPct val="126000"/>
              </a:lnSpc>
              <a:spcBef>
                <a:spcPts val="700"/>
              </a:spcBef>
            </a:pPr>
            <a:r>
              <a:rPr sz="1350" b="0" i="0">
                <a:solidFill>
                  <a:srgbClr val="21295C"/>
                </a:solidFill>
                <a:latin typeface="Arial"/>
              </a:rPr>
              <a:t/>
            </a:r>
            <a:r>
              <a:rPr sz="1350" b="0" i="0">
                <a:solidFill>
                  <a:srgbClr val="21295C"/>
                </a:solidFill>
                <a:latin typeface="Arial"/>
              </a:rPr>
              <a:t>• Осталось два, и между ними решает исследование мокроты, которое идёт три недели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не принимается, пока список не сузился.</a:t>
            </a:r>
          </a:p>
          <a:p>
            <a:pPr algn="l">
              <a:lnSpc>
                <a:spcPct val="126000"/>
              </a:lnSpc>
              <a:spcBef>
                <a:spcPts val="700"/>
              </a:spcBef>
            </a:pPr>
            <a:r>
              <a:rPr sz="1350" b="0" i="0">
                <a:solidFill>
                  <a:srgbClr val="21295C"/>
                </a:solidFill>
                <a:latin typeface="Arial"/>
              </a:rPr>
              <a:t/>
            </a:r>
            <a:r>
              <a:rPr sz="1350" b="0" i="0">
                <a:solidFill>
                  <a:srgbClr val="21295C"/>
                </a:solidFill>
                <a:latin typeface="Arial"/>
              </a:rPr>
              <a:t>Ошибка здесь — </a:t>
            </a:r>
            <a:r>
              <a:rPr sz="1350" b="1" i="0">
                <a:solidFill>
                  <a:srgbClr val="21295C"/>
                </a:solidFill>
                <a:latin typeface="Arial"/>
              </a:rPr>
              <a:t>не вписать в список то, что должно было там быть</a:t>
            </a:r>
            <a:r>
              <a:rPr sz="1350" b="0" i="0">
                <a:solidFill>
                  <a:srgbClr val="21295C"/>
                </a:solidFill>
                <a:latin typeface="Arial"/>
              </a:rPr>
              <a:t>: проверки, которая бы это нашла, никто не назначит.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Какую свою гипотезу вы в последний раз не записали — и как узнали, что её не хватало?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62985"/>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6648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82368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099967"/>
            <a:ext cx="11441887" cy="2136240"/>
          </a:xfrm>
          <a:prstGeom prst="roundRect">
            <a:avLst>
              <a:gd name="adj" fmla="val 14268"/>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191407"/>
            <a:ext cx="11112703" cy="204480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140" b="0" i="0">
                <a:solidFill>
                  <a:srgbClr val="21295C"/>
                </a:solidFill>
                <a:latin typeface="Arial"/>
              </a:rPr>
              <a:t/>
            </a:r>
            <a:r>
              <a:rPr sz="1140" b="0" i="0">
                <a:solidFill>
                  <a:srgbClr val="21295C"/>
                </a:solidFill>
                <a:latin typeface="Arial"/>
              </a:rPr>
              <a:t>Медиана проверки подсказки измерена </a:t>
            </a:r>
            <a:r>
              <a:rPr sz="1140" b="1" i="0">
                <a:solidFill>
                  <a:srgbClr val="21295C"/>
                </a:solidFill>
                <a:latin typeface="Arial"/>
              </a:rPr>
              <a:t>в лабораторном опыте на разработчиках, не в клинике</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 у врачей, </a:t>
            </a:r>
            <a:r>
              <a:rPr sz="1140" b="1" i="0">
                <a:solidFill>
                  <a:srgbClr val="21295C"/>
                </a:solidFill>
                <a:latin typeface="Arial"/>
              </a:rPr>
              <a:t>которых специально обучали работе с ИИ</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 при верных рекомендациях точность рассуждения — </a:t>
            </a:r>
            <a:r>
              <a:rPr sz="1140" b="1" i="0">
                <a:solidFill>
                  <a:srgbClr val="21295C"/>
                </a:solidFill>
                <a:latin typeface="Arial"/>
              </a:rPr>
              <a:t>84,9 из ста</a:t>
            </a:r>
          </a:p>
          <a:p>
            <a:pPr algn="l">
              <a:lnSpc>
                <a:spcPct val="126000"/>
              </a:lnSpc>
              <a:spcBef>
                <a:spcPts val="700"/>
              </a:spcBef>
            </a:pPr>
            <a:r>
              <a:rPr sz="1140" b="0" i="0">
                <a:solidFill>
                  <a:srgbClr val="21295C"/>
                </a:solidFill>
                <a:latin typeface="Arial"/>
              </a:rPr>
              <a:t/>
            </a:r>
            <a:r>
              <a:rPr sz="1140" b="0" i="0">
                <a:solidFill>
                  <a:srgbClr val="21295C"/>
                </a:solidFill>
                <a:latin typeface="Arial"/>
              </a:rPr>
              <a:t>• когда часть рекомендаций намеренно неверна — </a:t>
            </a:r>
            <a:r>
              <a:rPr sz="1140" b="1" i="0">
                <a:solidFill>
                  <a:srgbClr val="21295C"/>
                </a:solidFill>
                <a:latin typeface="Arial"/>
              </a:rPr>
              <a:t>73,3 из ста</a:t>
            </a:r>
          </a:p>
          <a:p>
            <a:pPr algn="l">
              <a:lnSpc>
                <a:spcPct val="126000"/>
              </a:lnSpc>
              <a:spcBef>
                <a:spcPts val="700"/>
              </a:spcBef>
            </a:pPr>
            <a:r>
              <a:rPr sz="1140" b="0" i="0">
                <a:solidFill>
                  <a:srgbClr val="21295C"/>
                </a:solidFill>
                <a:latin typeface="Arial"/>
              </a:rPr>
              <a:t/>
            </a:r>
            <a:r>
              <a:rPr sz="1140" b="0" i="0">
                <a:solidFill>
                  <a:srgbClr val="21295C"/>
                </a:solidFill>
                <a:latin typeface="Arial"/>
              </a:rPr>
              <a:t>• поправленная разница — 14,0 пункта</a:t>
            </a:r>
          </a:p>
          <a:p>
            <a:pPr algn="l">
              <a:lnSpc>
                <a:spcPct val="126000"/>
              </a:lnSpc>
              <a:spcBef>
                <a:spcPts val="700"/>
              </a:spcBef>
            </a:pPr>
            <a:r>
              <a:rPr sz="910" b="0" i="0">
                <a:solidFill>
                  <a:srgbClr val="21295C"/>
                </a:solidFill>
                <a:latin typeface="Arial"/>
              </a:rPr>
              <a:t/>
            </a:r>
            <a:r>
              <a:rPr sz="91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140" b="0" i="0">
                <a:solidFill>
                  <a:srgbClr val="21295C"/>
                </a:solidFill>
                <a:latin typeface="Arial"/>
              </a:rPr>
              <a:t/>
            </a:r>
            <a:r>
              <a:rPr sz="1140" b="0" i="0">
                <a:solidFill>
                  <a:srgbClr val="21295C"/>
                </a:solidFill>
                <a:latin typeface="Arial"/>
              </a:rPr>
              <a:t>Обучение работе с инструментом </a:t>
            </a:r>
            <a:r>
              <a:rPr sz="1140" b="1" i="0">
                <a:solidFill>
                  <a:srgbClr val="21295C"/>
                </a:solidFill>
                <a:latin typeface="Arial"/>
              </a:rPr>
              <a:t>не передвигает человека на ступень выше</a:t>
            </a:r>
            <a:r>
              <a:rPr sz="1140" b="0" i="0">
                <a:solidFill>
                  <a:srgbClr val="21295C"/>
                </a:solidFill>
                <a:latin typeface="Arial"/>
              </a:rPr>
              <a:t> — замерено ровно на тех, кого обучали.</a:t>
            </a:r>
          </a:p>
          <a:p>
            <a:pPr algn="l">
              <a:lnSpc>
                <a:spcPct val="126000"/>
              </a:lnSpc>
              <a:spcBef>
                <a:spcPts val="700"/>
              </a:spcBef>
            </a:pPr>
            <a:r>
              <a:rPr sz="910" b="0" i="0">
                <a:solidFill>
                  <a:srgbClr val="21295C"/>
                </a:solidFill>
                <a:latin typeface="Arial"/>
              </a:rPr>
              <a:t/>
            </a:r>
            <a:r>
              <a:rPr sz="91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Qazi S. и соавт., NEJM AI, DOI 10.1056/AIoa2501001 — рандомизированное испытание, 44 врача, 264 случая</a:t>
            </a:r>
            <a:r>
              <a:rPr sz="1100" b="0" i="1">
                <a:solidFill>
                  <a:srgbClr val="1C7293"/>
                </a:solidFill>
                <a:latin typeface="Arial"/>
              </a:rPr>
              <a:t> · </a:t>
            </a:r>
            <a:r>
              <a:rPr sz="1100" b="0" i="1" u="sng">
                <a:solidFill>
                  <a:srgbClr val="065A82"/>
                </a:solidFill>
                <a:latin typeface="Arial"/>
                <a:hlinkClick r:id="rId3"/>
              </a:rPr>
              <a:t>Mozannar H. и соавт., Reading Between the Lines,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список собирает и читает человек; модель входит в три шага из семи и в трёх местах не работает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списка · второе чтение · подпись; сбор данных, выбор проверки, вычёркивание опровергнутого и арбитраж остались людям. Точность подсказки в опыте с выбором препарата задана имитацией — настоящей модели там не было</a:t>
            </a:r>
          </a:p>
        </p:txBody>
      </p:sp>
      <p:sp>
        <p:nvSpPr>
          <p:cNvPr id="8" name="Rounded Rectangle 7"/>
          <p:cNvSpPr/>
          <p:nvPr/>
        </p:nvSpPr>
        <p:spPr>
          <a:xfrm>
            <a:off x="502920" y="2807511"/>
            <a:ext cx="5437479" cy="1592791"/>
          </a:xfrm>
          <a:prstGeom prst="roundRect">
            <a:avLst>
              <a:gd name="adj" fmla="val 191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Состав списка собирает врач по наблюдаемому</a:t>
            </a:r>
          </a:p>
          <a:p>
            <a:pPr algn="l">
              <a:lnSpc>
                <a:spcPct val="126000"/>
              </a:lnSpc>
            </a:pPr>
            <a:r>
              <a:rPr sz="1150" b="0" i="0">
                <a:solidFill>
                  <a:srgbClr val="21295C"/>
                </a:solidFill>
                <a:latin typeface="Arial"/>
              </a:rPr>
              <a:t>• Читают двое независимо: выигрыш даёт несовпадение ошибок</a:t>
            </a:r>
          </a:p>
          <a:p>
            <a:pPr algn="l">
              <a:lnSpc>
                <a:spcPct val="126000"/>
              </a:lnSpc>
            </a:pPr>
            <a:r>
              <a:rPr sz="1150" b="0" i="0">
                <a:solidFill>
                  <a:srgbClr val="21295C"/>
                </a:solidFill>
                <a:latin typeface="Arial"/>
              </a:rPr>
              <a:t>• Расхождение разбирает третий, видящий оба заключения</a:t>
            </a:r>
          </a:p>
          <a:p>
            <a:pPr algn="l">
              <a:lnSpc>
                <a:spcPct val="126000"/>
              </a:lnSpc>
            </a:pPr>
            <a:r>
              <a:rPr sz="1150" b="0" i="0">
                <a:solidFill>
                  <a:srgbClr val="21295C"/>
                </a:solidFill>
                <a:latin typeface="Arial"/>
              </a:rPr>
              <a:t>• Подпись ставит тот, кто читал сам</a:t>
            </a:r>
          </a:p>
        </p:txBody>
      </p:sp>
      <p:sp>
        <p:nvSpPr>
          <p:cNvPr id="11" name="Rounded Rectangle 10"/>
          <p:cNvSpPr/>
          <p:nvPr/>
        </p:nvSpPr>
        <p:spPr>
          <a:xfrm>
            <a:off x="6251295" y="2807511"/>
            <a:ext cx="5437479" cy="1592791"/>
          </a:xfrm>
          <a:prstGeom prst="roundRect">
            <a:avLst>
              <a:gd name="adj" fmla="val 1913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Шаг 2: подсказка правит состав списка</a:t>
            </a:r>
          </a:p>
          <a:p>
            <a:pPr algn="l">
              <a:lnSpc>
                <a:spcPct val="126000"/>
              </a:lnSpc>
            </a:pPr>
            <a:r>
              <a:rPr sz="1150" b="0" i="0">
                <a:solidFill>
                  <a:srgbClr val="21295C"/>
                </a:solidFill>
                <a:latin typeface="Arial"/>
              </a:rPr>
              <a:t>• Шаг 5: вторым читателем стала модель</a:t>
            </a:r>
          </a:p>
          <a:p>
            <a:pPr algn="l">
              <a:lnSpc>
                <a:spcPct val="126000"/>
              </a:lnSpc>
            </a:pPr>
            <a:r>
              <a:rPr sz="1150" b="0" i="0">
                <a:solidFill>
                  <a:srgbClr val="21295C"/>
                </a:solidFill>
                <a:latin typeface="Arial"/>
              </a:rPr>
              <a:t>• Шаг 7: на четвёртой ступени подпись — не глядя</a:t>
            </a:r>
          </a:p>
          <a:p>
            <a:pPr algn="l">
              <a:lnSpc>
                <a:spcPct val="126000"/>
              </a:lnSpc>
            </a:pPr>
            <a:r>
              <a:rPr sz="1150" b="0" i="0">
                <a:solidFill>
                  <a:srgbClr val="21295C"/>
                </a:solidFill>
                <a:latin typeface="Arial"/>
              </a:rPr>
              <a:t>• Новый шаг: решить, верить ли подсказке</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Независимость: подсказка видна до своего вывода, а ошибка модели у всех одна — не усредняется, а удваивается</a:t>
            </a:r>
          </a:p>
          <a:p>
            <a:pPr algn="l">
              <a:lnSpc>
                <a:spcPct val="126000"/>
              </a:lnSpc>
              <a:spcBef>
                <a:spcPts val="700"/>
              </a:spcBef>
            </a:pPr>
            <a:r>
              <a:rPr sz="1290" b="0" i="0">
                <a:solidFill>
                  <a:srgbClr val="21295C"/>
                </a:solidFill>
                <a:latin typeface="Arial"/>
              </a:rPr>
              <a:t/>
            </a:r>
            <a:r>
              <a:rPr sz="1290" b="0" i="0">
                <a:solidFill>
                  <a:srgbClr val="21295C"/>
                </a:solidFill>
                <a:latin typeface="Arial"/>
              </a:rPr>
              <a:t>• Избирательность: отличить верную подсказку от неверной не смогла ни одна группа</a:t>
            </a:r>
          </a:p>
          <a:p>
            <a:pPr algn="l">
              <a:lnSpc>
                <a:spcPct val="126000"/>
              </a:lnSpc>
              <a:spcBef>
                <a:spcPts val="700"/>
              </a:spcBef>
            </a:pPr>
            <a:r>
              <a:rPr sz="1290" b="0" i="0">
                <a:solidFill>
                  <a:srgbClr val="21295C"/>
                </a:solidFill>
                <a:latin typeface="Arial"/>
              </a:rPr>
              <a:t/>
            </a:r>
            <a:r>
              <a:rPr sz="1290" b="0" i="0">
                <a:solidFill>
                  <a:srgbClr val="21295C"/>
                </a:solidFill>
                <a:latin typeface="Arial"/>
              </a:rPr>
              <a:t>• Объяснимость: неверная рекомендация с объяснением уронила выбор препарата с </a:t>
            </a:r>
            <a:r>
              <a:rPr sz="1290" b="1" i="0">
                <a:solidFill>
                  <a:srgbClr val="21295C"/>
                </a:solidFill>
                <a:latin typeface="Arial"/>
              </a:rPr>
              <a:t>35,7</a:t>
            </a:r>
            <a:r>
              <a:rPr sz="1290" b="0" i="0">
                <a:solidFill>
                  <a:srgbClr val="21295C"/>
                </a:solidFill>
                <a:latin typeface="Arial"/>
              </a:rPr>
              <a:t> до </a:t>
            </a:r>
            <a:r>
              <a:rPr sz="1290" b="1" i="0">
                <a:solidFill>
                  <a:srgbClr val="21295C"/>
                </a:solidFill>
                <a:latin typeface="Arial"/>
              </a:rPr>
              <a:t>26,2 из ста</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даёт несовпадение ошибок, а не точность модели.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100" b="0" i="1">
                <a:solidFill>
                  <a:srgbClr val="1C7293"/>
                </a:solidFill>
                <a:latin typeface="Arial"/>
              </a:rPr>
              <a:t> · </a:t>
            </a:r>
            <a:r>
              <a:rPr sz="11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080" b="0" i="0">
                <a:solidFill>
                  <a:srgbClr val="21295C"/>
                </a:solidFill>
                <a:latin typeface="Arial"/>
              </a:rPr>
              <a:t/>
            </a:r>
            <a:r>
              <a:rPr sz="1080" b="1" i="0">
                <a:solidFill>
                  <a:srgbClr val="21295C"/>
                </a:solidFill>
                <a:latin typeface="Arial"/>
              </a:rPr>
              <a:t>Цена обеих ошибок, до всякой точности.</a:t>
            </a:r>
            <a:r>
              <a:rPr sz="108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080" b="0" i="0">
                <a:solidFill>
                  <a:srgbClr val="21295C"/>
                </a:solidFill>
                <a:latin typeface="Arial"/>
              </a:rPr>
              <a:t/>
            </a:r>
            <a:r>
              <a:rPr sz="1080" b="1" i="0">
                <a:solidFill>
                  <a:srgbClr val="21295C"/>
                </a:solidFill>
                <a:latin typeface="Arial"/>
              </a:rPr>
              <a:t>Оба классических режима.</a:t>
            </a:r>
            <a:r>
              <a:rPr sz="108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 против них.</a:t>
            </a:r>
            <a:r>
              <a:rPr sz="108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860" b="0" i="0">
                <a:solidFill>
                  <a:srgbClr val="21295C"/>
                </a:solidFill>
                <a:latin typeface="Arial"/>
              </a:rPr>
              <a:t/>
            </a:r>
            <a:r>
              <a:rPr sz="86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a:t>
            </a:r>
            <a:r>
              <a:rPr sz="1080" b="0" i="1">
                <a:solidFill>
                  <a:srgbClr val="21295C"/>
                </a:solidFill>
                <a:latin typeface="Arial"/>
              </a:rPr>
              <a:t>распознавание на изображении</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080" b="0" i="0">
                <a:solidFill>
                  <a:srgbClr val="21295C"/>
                </a:solidFill>
                <a:latin typeface="Arial"/>
              </a:rPr>
              <a:t/>
            </a:r>
            <a:r>
              <a:rPr sz="1080" b="0" i="0">
                <a:solidFill>
                  <a:srgbClr val="21295C"/>
                </a:solidFill>
                <a:latin typeface="Arial"/>
              </a:rPr>
              <a:t>• принимает это организатор программы скрининга, а не отдельная больница</a:t>
            </a:r>
          </a:p>
          <a:p>
            <a:pPr algn="l">
              <a:lnSpc>
                <a:spcPct val="126000"/>
              </a:lnSpc>
              <a:spcBef>
                <a:spcPts val="700"/>
              </a:spcBef>
            </a:pPr>
            <a:r>
              <a:rPr sz="1080" b="0" i="0">
                <a:solidFill>
                  <a:srgbClr val="21295C"/>
                </a:solidFill>
                <a:latin typeface="Arial"/>
              </a:rPr>
              <a:t/>
            </a:r>
            <a:r>
              <a:rPr sz="1080" b="0" i="0">
                <a:solidFill>
                  <a:srgbClr val="21295C"/>
                </a:solidFill>
                <a:latin typeface="Arial"/>
              </a:rPr>
              <a:t>•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ПРАВА: ШАНСЫ ВЕРНОГО ОТВЕТА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база — чтение среза тем же патологом без подсказки</a:t>
            </a:r>
          </a:p>
        </p:txBody>
      </p:sp>
      <p:sp>
        <p:nvSpPr>
          <p:cNvPr id="8" name="Rounded Rectangle 7"/>
          <p:cNvSpPr/>
          <p:nvPr/>
        </p:nvSpPr>
        <p:spPr>
          <a:xfrm>
            <a:off x="4286402"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НЕПРАВА: ШАНСЫ ВЕРНОГО ОТВЕТА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всех уровнях опыта и на случаях любой сложности одинаково — субспециалист по профилю не защищён</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САМОЙ МОДЕЛИ НА НЕЗАВИСИМОМ НАБОРЕ</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одиннадцать патологов, 80 оцифрованных срезов; каждый читал набор дважды в разных сессиях с отмывочным периодом не меньше двух недель</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380" b="0" i="0">
                <a:solidFill>
                  <a:srgbClr val="21295C"/>
                </a:solidFill>
                <a:latin typeface="Arial"/>
              </a:rPr>
              <a:t/>
            </a:r>
            <a:r>
              <a:rPr sz="1380" b="1" i="0">
                <a:solidFill>
                  <a:srgbClr val="21295C"/>
                </a:solidFill>
                <a:latin typeface="Arial"/>
              </a:rPr>
              <a:t>Цена обеих ошибок.</a:t>
            </a:r>
            <a:r>
              <a:rPr sz="138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380" b="0" i="0">
                <a:solidFill>
                  <a:srgbClr val="21295C"/>
                </a:solidFill>
                <a:latin typeface="Arial"/>
              </a:rPr>
              <a:t/>
            </a:r>
            <a:r>
              <a:rPr sz="1380" b="1" i="0">
                <a:solidFill>
                  <a:srgbClr val="21295C"/>
                </a:solidFill>
                <a:latin typeface="Arial"/>
              </a:rPr>
              <a:t>Оба классических режима:</a:t>
            </a:r>
            <a:r>
              <a:rPr sz="1380" b="0" i="0">
                <a:solidFill>
                  <a:srgbClr val="21295C"/>
                </a:solidFill>
                <a:latin typeface="Arial"/>
              </a:rPr>
              <a:t> чтение среза одним патологом; второе мнение субспециалиста.</a:t>
            </a:r>
          </a:p>
          <a:p>
            <a:pPr algn="l">
              <a:lnSpc>
                <a:spcPct val="126000"/>
              </a:lnSpc>
              <a:spcBef>
                <a:spcPts val="700"/>
              </a:spcBef>
            </a:pPr>
            <a:r>
              <a:rPr sz="1380" b="0" i="0">
                <a:solidFill>
                  <a:srgbClr val="21295C"/>
                </a:solidFill>
                <a:latin typeface="Arial"/>
              </a:rPr>
              <a:t/>
            </a:r>
            <a:r>
              <a:rPr sz="1380" b="1" i="0">
                <a:solidFill>
                  <a:srgbClr val="21295C"/>
                </a:solidFill>
                <a:latin typeface="Arial"/>
              </a:rPr>
              <a:t>Модель против них.</a:t>
            </a:r>
            <a:r>
              <a:rPr sz="1380" b="0" i="0">
                <a:solidFill>
                  <a:srgbClr val="21295C"/>
                </a:solidFill>
                <a:latin typeface="Arial"/>
              </a:rPr>
              <a:t> Знак эффекта зависит не от модели вообще, а от того, права ли она на этом случае.</a:t>
            </a:r>
          </a:p>
          <a:p>
            <a:pPr algn="l">
              <a:lnSpc>
                <a:spcPct val="126000"/>
              </a:lnSpc>
              <a:spcBef>
                <a:spcPts val="700"/>
              </a:spcBef>
            </a:pPr>
            <a:r>
              <a:rPr sz="1380" b="0" i="0">
                <a:solidFill>
                  <a:srgbClr val="21295C"/>
                </a:solidFill>
                <a:latin typeface="Arial"/>
              </a:rPr>
              <a:t/>
            </a:r>
            <a:r>
              <a:rPr sz="1380" b="0" i="0">
                <a:solidFill>
                  <a:srgbClr val="21295C"/>
                </a:solidFill>
                <a:latin typeface="Arial"/>
              </a:rPr>
              <a:t>• как читать «вчетверо»: при восьми верных ответах из десяти выросшие вчетверо шансы дают около </a:t>
            </a:r>
            <a:r>
              <a:rPr sz="1380" b="1" i="0">
                <a:solidFill>
                  <a:srgbClr val="21295C"/>
                </a:solidFill>
                <a:latin typeface="Arial"/>
              </a:rPr>
              <a:t>94 из ста</a:t>
            </a:r>
            <a:r>
              <a:rPr sz="1380" b="0" i="0">
                <a:solidFill>
                  <a:srgbClr val="21295C"/>
                </a:solidFill>
                <a:latin typeface="Arial"/>
              </a:rPr>
              <a:t>, упавшие — около </a:t>
            </a:r>
            <a:r>
              <a:rPr sz="1380" b="1" i="0">
                <a:solidFill>
                  <a:srgbClr val="21295C"/>
                </a:solidFill>
                <a:latin typeface="Arial"/>
              </a:rPr>
              <a:t>50</a:t>
            </a:r>
          </a:p>
          <a:p>
            <a:pPr algn="l">
              <a:lnSpc>
                <a:spcPct val="126000"/>
              </a:lnSpc>
              <a:spcBef>
                <a:spcPts val="700"/>
              </a:spcBef>
            </a:pPr>
            <a:r>
              <a:rPr sz="1380" b="0" i="0">
                <a:solidFill>
                  <a:srgbClr val="21295C"/>
                </a:solidFill>
                <a:latin typeface="Arial"/>
              </a:rPr>
              <a:t/>
            </a:r>
            <a:r>
              <a:rPr sz="138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100" b="0" i="0">
                <a:solidFill>
                  <a:srgbClr val="21295C"/>
                </a:solidFill>
                <a:latin typeface="Arial"/>
              </a:rPr>
              <a:t/>
            </a:r>
            <a:r>
              <a:rPr sz="1100" b="0" i="1">
                <a:solidFill>
                  <a:srgbClr val="1C7293"/>
                </a:solidFill>
                <a:latin typeface="Arial"/>
              </a:rPr>
              <a:t>Ступень: смотрит вторым — подсказка выведена одновременно со срезом.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а не обученных моделей</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Kiani A. и соавт., npj Digital Medicine 2020, PMC7044422</a:t>
            </a:r>
            <a:r>
              <a:rPr sz="1100" b="0" i="1">
                <a:solidFill>
                  <a:srgbClr val="1C7293"/>
                </a:solidFill>
                <a:latin typeface="Arial"/>
              </a:rPr>
              <a:t> · </a:t>
            </a:r>
            <a:r>
              <a:rPr sz="11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140" b="0" i="0">
                <a:solidFill>
                  <a:srgbClr val="21295C"/>
                </a:solidFill>
                <a:latin typeface="Arial"/>
              </a:rPr>
              <a:t/>
            </a:r>
            <a:r>
              <a:rPr sz="1140" b="1" i="0">
                <a:solidFill>
                  <a:srgbClr val="21295C"/>
                </a:solidFill>
                <a:latin typeface="Arial"/>
              </a:rPr>
              <a:t>Цена обеих ошибок.</a:t>
            </a:r>
            <a:r>
              <a:rPr sz="114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140" b="0" i="0">
                <a:solidFill>
                  <a:srgbClr val="21295C"/>
                </a:solidFill>
                <a:latin typeface="Arial"/>
              </a:rPr>
              <a:t/>
            </a:r>
            <a:r>
              <a:rPr sz="1140" b="1" i="0">
                <a:solidFill>
                  <a:srgbClr val="21295C"/>
                </a:solidFill>
                <a:latin typeface="Arial"/>
              </a:rPr>
              <a:t>Классический режим</a:t>
            </a:r>
            <a:r>
              <a:rPr sz="1140" b="0" i="0">
                <a:solidFill>
                  <a:srgbClr val="21295C"/>
                </a:solidFill>
                <a:latin typeface="Arial"/>
              </a:rPr>
              <a:t> — врач с обычными справочниками, и это база сравнения.</a:t>
            </a:r>
          </a:p>
          <a:p>
            <a:pPr algn="l">
              <a:lnSpc>
                <a:spcPct val="126000"/>
              </a:lnSpc>
              <a:spcBef>
                <a:spcPts val="700"/>
              </a:spcBef>
            </a:pPr>
            <a:r>
              <a:rPr sz="1140" b="0" i="0">
                <a:solidFill>
                  <a:srgbClr val="21295C"/>
                </a:solidFill>
                <a:latin typeface="Arial"/>
              </a:rPr>
              <a:t/>
            </a:r>
            <a:r>
              <a:rPr sz="1140" b="0" i="0">
                <a:solidFill>
                  <a:srgbClr val="21295C"/>
                </a:solidFill>
                <a:latin typeface="Arial"/>
              </a:rPr>
              <a:t>Разница между врачом одним и врачом с моделью — два пункта, и она </a:t>
            </a:r>
            <a:r>
              <a:rPr sz="1140" b="1" i="0">
                <a:solidFill>
                  <a:srgbClr val="21295C"/>
                </a:solidFill>
                <a:latin typeface="Arial"/>
              </a:rPr>
              <a:t>незначима</a:t>
            </a:r>
            <a:r>
              <a:rPr sz="1140" b="0" i="0">
                <a:solidFill>
                  <a:srgbClr val="21295C"/>
                </a:solidFill>
                <a:latin typeface="Arial"/>
              </a:rPr>
              <a:t>. Это ноль, измеренный, а не отсутствие данных.</a:t>
            </a:r>
          </a:p>
          <a:p>
            <a:pPr algn="l">
              <a:lnSpc>
                <a:spcPct val="126000"/>
              </a:lnSpc>
              <a:spcBef>
                <a:spcPts val="700"/>
              </a:spcBef>
            </a:pPr>
            <a:r>
              <a:rPr sz="1140" b="0" i="0">
                <a:solidFill>
                  <a:srgbClr val="21295C"/>
                </a:solidFill>
                <a:latin typeface="Arial"/>
              </a:rPr>
              <a:t/>
            </a:r>
            <a:r>
              <a:rPr sz="1140" b="0" i="0">
                <a:solidFill>
                  <a:srgbClr val="21295C"/>
                </a:solidFill>
                <a:latin typeface="Arial"/>
              </a:rPr>
              <a:t>Прогон «модель одна» не был равноправной случайной ветвью — он идёт </a:t>
            </a:r>
            <a:r>
              <a:rPr sz="1140" b="1" i="0">
                <a:solidFill>
                  <a:srgbClr val="21295C"/>
                </a:solidFill>
                <a:latin typeface="Arial"/>
              </a:rPr>
              <a:t>наблюдательным дополнением</a:t>
            </a:r>
            <a:r>
              <a:rPr sz="1140" b="0" i="0">
                <a:solidFill>
                  <a:srgbClr val="21295C"/>
                </a:solidFill>
                <a:latin typeface="Arial"/>
              </a:rPr>
              <a:t>, не результатом распределения.</a:t>
            </a:r>
          </a:p>
          <a:p>
            <a:pPr algn="l">
              <a:lnSpc>
                <a:spcPct val="126000"/>
              </a:lnSpc>
              <a:spcBef>
                <a:spcPts val="700"/>
              </a:spcBef>
            </a:pPr>
            <a:r>
              <a:rPr sz="910" b="0" i="0">
                <a:solidFill>
                  <a:srgbClr val="21295C"/>
                </a:solidFill>
                <a:latin typeface="Arial"/>
              </a:rPr>
              <a:t/>
            </a:r>
            <a:r>
              <a:rPr sz="91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140" b="0" i="0">
                <a:solidFill>
                  <a:srgbClr val="21295C"/>
                </a:solidFill>
                <a:latin typeface="Arial"/>
              </a:rPr>
              <a:t/>
            </a:r>
            <a:r>
              <a:rPr sz="1140" b="0" i="0">
                <a:solidFill>
                  <a:srgbClr val="21295C"/>
                </a:solidFill>
                <a:latin typeface="Arial"/>
              </a:rPr>
              <a:t>Чем это делают сегодня — </a:t>
            </a:r>
            <a:r>
              <a:rPr sz="1140" b="0" i="1">
                <a:solidFill>
                  <a:srgbClr val="21295C"/>
                </a:solidFill>
                <a:latin typeface="Arial"/>
              </a:rPr>
              <a:t>генерация на тексте</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140" b="0" i="0">
                <a:solidFill>
                  <a:srgbClr val="21295C"/>
                </a:solidFill>
                <a:latin typeface="Arial"/>
              </a:rPr>
              <a:t/>
            </a:r>
            <a:r>
              <a:rPr sz="1140" b="0" i="0">
                <a:solidFill>
                  <a:srgbClr val="21295C"/>
                </a:solidFill>
                <a:latin typeface="Arial"/>
              </a:rPr>
              <a:t>• входит </a:t>
            </a:r>
            <a:r>
              <a:rPr sz="1140" b="1" i="0">
                <a:solidFill>
                  <a:srgbClr val="21295C"/>
                </a:solidFill>
                <a:latin typeface="Arial"/>
              </a:rPr>
              <a:t>снизу</a:t>
            </a:r>
            <a:r>
              <a:rPr sz="1140" b="0" i="0">
                <a:solidFill>
                  <a:srgbClr val="21295C"/>
                </a:solidFill>
                <a:latin typeface="Arial"/>
              </a:rPr>
              <a:t>, самостоятельным употреблением врача, минуя закупку</a:t>
            </a:r>
          </a:p>
          <a:p>
            <a:pPr algn="l">
              <a:lnSpc>
                <a:spcPct val="126000"/>
              </a:lnSpc>
              <a:spcBef>
                <a:spcPts val="700"/>
              </a:spcBef>
            </a:pPr>
            <a:r>
              <a:rPr sz="1140" b="0" i="0">
                <a:solidFill>
                  <a:srgbClr val="21295C"/>
                </a:solidFill>
                <a:latin typeface="Arial"/>
              </a:rPr>
              <a:t/>
            </a:r>
            <a:r>
              <a:rPr sz="1140" b="0" i="0">
                <a:solidFill>
                  <a:srgbClr val="21295C"/>
                </a:solidFill>
                <a:latin typeface="Arial"/>
              </a:rPr>
              <a:t>• поэтому режим под процесс не настраивал никто — и силу свою на пару он не переносит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Разница во времени </a:t>
            </a:r>
            <a:r>
              <a:rPr sz="1440" b="1" i="0">
                <a:solidFill>
                  <a:srgbClr val="21295C"/>
                </a:solidFill>
                <a:latin typeface="Arial"/>
              </a:rPr>
              <a:t>незначима</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1" i="0">
                <a:solidFill>
                  <a:srgbClr val="21295C"/>
                </a:solidFill>
                <a:latin typeface="Arial"/>
              </a:rPr>
              <a:t>Что переехало.</a:t>
            </a:r>
            <a:r>
              <a:rPr sz="144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40" b="0" i="0">
                <a:solidFill>
                  <a:srgbClr val="21295C"/>
                </a:solidFill>
                <a:latin typeface="Arial"/>
              </a:rPr>
              <a:t/>
            </a:r>
            <a:r>
              <a:rPr sz="144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Цена обеих ошибок</a:t>
            </a:r>
            <a:r>
              <a:rPr sz="114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140" b="0" i="0">
                <a:solidFill>
                  <a:srgbClr val="21295C"/>
                </a:solidFill>
                <a:latin typeface="Arial"/>
              </a:rPr>
              <a:t/>
            </a:r>
            <a:r>
              <a:rPr sz="1140" b="1" i="0">
                <a:solidFill>
                  <a:srgbClr val="21295C"/>
                </a:solidFill>
                <a:latin typeface="Arial"/>
              </a:rPr>
              <a:t>Оба классических режима.</a:t>
            </a:r>
            <a:r>
              <a:rPr sz="114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140" b="0" i="0">
                <a:solidFill>
                  <a:srgbClr val="21295C"/>
                </a:solidFill>
                <a:latin typeface="Arial"/>
              </a:rPr>
              <a:t/>
            </a:r>
            <a:r>
              <a:rPr sz="1140" b="1" i="0">
                <a:solidFill>
                  <a:srgbClr val="21295C"/>
                </a:solidFill>
                <a:latin typeface="Arial"/>
              </a:rPr>
              <a:t>Модель против них.</a:t>
            </a:r>
            <a:r>
              <a:rPr sz="1140" b="0" i="0">
                <a:solidFill>
                  <a:srgbClr val="21295C"/>
                </a:solidFill>
                <a:latin typeface="Arial"/>
              </a:rPr>
              <a:t> Один человек плюс модель, арбитраж на разногласиях. Прибавка чувствительности </a:t>
            </a:r>
            <a:r>
              <a:rPr sz="1140" b="1" i="0">
                <a:solidFill>
                  <a:srgbClr val="21295C"/>
                </a:solidFill>
                <a:latin typeface="Arial"/>
              </a:rPr>
              <a:t>значима</a:t>
            </a:r>
            <a:r>
              <a:rPr sz="1140" b="0" i="0">
                <a:solidFill>
                  <a:srgbClr val="21295C"/>
                </a:solidFill>
                <a:latin typeface="Arial"/>
              </a:rPr>
              <a:t>.</a:t>
            </a:r>
          </a:p>
          <a:p>
            <a:pPr algn="l">
              <a:lnSpc>
                <a:spcPct val="126000"/>
              </a:lnSpc>
              <a:spcBef>
                <a:spcPts val="700"/>
              </a:spcBef>
            </a:pPr>
            <a:r>
              <a:rPr sz="910" b="0" i="0">
                <a:solidFill>
                  <a:srgbClr val="21295C"/>
                </a:solidFill>
                <a:latin typeface="Arial"/>
              </a:rPr>
              <a:t/>
            </a:r>
            <a:r>
              <a:rPr sz="91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140" b="0" i="0">
                <a:solidFill>
                  <a:srgbClr val="21295C"/>
                </a:solidFill>
                <a:latin typeface="Arial"/>
              </a:rPr>
              <a:t/>
            </a:r>
            <a:r>
              <a:rPr sz="1140" b="0" i="0">
                <a:solidFill>
                  <a:srgbClr val="21295C"/>
                </a:solidFill>
                <a:latin typeface="Arial"/>
              </a:rPr>
              <a:t>Независимость здесь не нарушена, а </a:t>
            </a:r>
            <a:r>
              <a:rPr sz="1140" b="1" i="0">
                <a:solidFill>
                  <a:srgbClr val="21295C"/>
                </a:solidFill>
                <a:latin typeface="Arial"/>
              </a:rPr>
              <a:t>перестроена</a:t>
            </a:r>
            <a:r>
              <a:rPr sz="114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10" b="0" i="0">
                <a:solidFill>
                  <a:srgbClr val="21295C"/>
                </a:solidFill>
                <a:latin typeface="Arial"/>
              </a:rPr>
              <a:t/>
            </a:r>
            <a:r>
              <a:rPr sz="91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140" b="0" i="0">
                <a:solidFill>
                  <a:srgbClr val="21295C"/>
                </a:solidFill>
                <a:latin typeface="Arial"/>
              </a:rPr>
              <a:t/>
            </a:r>
            <a:r>
              <a:rPr sz="1140" b="0" i="0">
                <a:solidFill>
                  <a:srgbClr val="21295C"/>
                </a:solidFill>
                <a:latin typeface="Arial"/>
              </a:rPr>
              <a:t>Чем это делают сегодня — </a:t>
            </a:r>
            <a:r>
              <a:rPr sz="1140" b="0" i="1">
                <a:solidFill>
                  <a:srgbClr val="21295C"/>
                </a:solidFill>
                <a:latin typeface="Arial"/>
              </a:rPr>
              <a:t>распознавание на изображении</a:t>
            </a:r>
            <a:r>
              <a:rPr sz="1140" b="0" i="0">
                <a:solidFill>
                  <a:srgbClr val="21295C"/>
                </a:solidFill>
                <a:latin typeface="Arial"/>
              </a:rPr>
              <a:t>, та же клетка и </a:t>
            </a:r>
            <a:r>
              <a:rPr sz="1140" b="1" i="0">
                <a:solidFill>
                  <a:srgbClr val="21295C"/>
                </a:solidFill>
                <a:latin typeface="Arial"/>
              </a:rPr>
              <a:t>тот же инструмент</a:t>
            </a:r>
            <a:r>
              <a:rPr sz="1140" b="0" i="0">
                <a:solidFill>
                  <a:srgbClr val="21295C"/>
                </a:solidFill>
                <a:latin typeface="Arial"/>
              </a:rPr>
              <a:t>, что в разборе выше:</a:t>
            </a:r>
          </a:p>
          <a:p>
            <a:pPr algn="l">
              <a:lnSpc>
                <a:spcPct val="126000"/>
              </a:lnSpc>
              <a:spcBef>
                <a:spcPts val="700"/>
              </a:spcBef>
            </a:pPr>
            <a:r>
              <a:rPr sz="1140" b="0" i="0">
                <a:solidFill>
                  <a:srgbClr val="21295C"/>
                </a:solidFill>
                <a:latin typeface="Arial"/>
              </a:rPr>
              <a:t/>
            </a:r>
            <a:r>
              <a:rPr sz="114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140" b="0" i="0">
                <a:solidFill>
                  <a:srgbClr val="21295C"/>
                </a:solidFill>
                <a:latin typeface="Arial"/>
              </a:rPr>
              <a:t/>
            </a:r>
            <a:r>
              <a:rPr sz="1140" b="0" i="0">
                <a:solidFill>
                  <a:srgbClr val="21295C"/>
                </a:solidFill>
                <a:latin typeface="Arial"/>
              </a:rPr>
              <a:t>•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MASAI — Gommers J., … Lång K., The Lancet 2026, 105 934 распределённых</a:t>
            </a:r>
            <a:r>
              <a:rPr sz="1100" b="0" i="1">
                <a:solidFill>
                  <a:srgbClr val="1C7293"/>
                </a:solidFill>
                <a:latin typeface="Arial"/>
              </a:rPr>
              <a:t> · </a:t>
            </a:r>
            <a:r>
              <a:rPr sz="11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переехало.</a:t>
            </a:r>
            <a:r>
              <a:rPr sz="111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и это разворачивает весь раздел: в другой программе измерили, </a:t>
            </a:r>
            <a:r>
              <a:rPr sz="1110" b="1" i="0">
                <a:solidFill>
                  <a:srgbClr val="21295C"/>
                </a:solidFill>
                <a:latin typeface="Arial"/>
              </a:rPr>
              <a:t>чьим находкам верят</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 из ста находок </a:t>
            </a:r>
            <a:r>
              <a:rPr sz="1110" b="1" i="0">
                <a:solidFill>
                  <a:srgbClr val="21295C"/>
                </a:solidFill>
                <a:latin typeface="Arial"/>
              </a:rPr>
              <a:t>только модели</a:t>
            </a:r>
            <a:r>
              <a:rPr sz="1110" b="0" i="0">
                <a:solidFill>
                  <a:srgbClr val="21295C"/>
                </a:solidFill>
                <a:latin typeface="Arial"/>
              </a:rPr>
              <a:t> подтверждается раком </a:t>
            </a:r>
            <a:r>
              <a:rPr sz="1110" b="1" i="0">
                <a:solidFill>
                  <a:srgbClr val="21295C"/>
                </a:solidFill>
                <a:latin typeface="Arial"/>
              </a:rPr>
              <a:t>22</a:t>
            </a:r>
            <a:r>
              <a:rPr sz="1110" b="0" i="0">
                <a:solidFill>
                  <a:srgbClr val="21295C"/>
                </a:solidFill>
                <a:latin typeface="Arial"/>
              </a:rPr>
              <a:t>; из ста находок </a:t>
            </a:r>
            <a:r>
              <a:rPr sz="1110" b="1" i="0">
                <a:solidFill>
                  <a:srgbClr val="21295C"/>
                </a:solidFill>
                <a:latin typeface="Arial"/>
              </a:rPr>
              <a:t>только радиолога</a:t>
            </a:r>
            <a:r>
              <a:rPr sz="1110" b="0" i="0">
                <a:solidFill>
                  <a:srgbClr val="21295C"/>
                </a:solidFill>
                <a:latin typeface="Arial"/>
              </a:rPr>
              <a:t> — </a:t>
            </a:r>
            <a:r>
              <a:rPr sz="1110" b="1" i="0">
                <a:solidFill>
                  <a:srgbClr val="21295C"/>
                </a:solidFill>
                <a:latin typeface="Arial"/>
              </a:rPr>
              <a:t>3,4</a:t>
            </a:r>
          </a:p>
          <a:p>
            <a:pPr algn="l">
              <a:lnSpc>
                <a:spcPct val="126000"/>
              </a:lnSpc>
              <a:spcBef>
                <a:spcPts val="700"/>
              </a:spcBef>
            </a:pPr>
            <a:r>
              <a:rPr sz="1110" b="0" i="0">
                <a:solidFill>
                  <a:srgbClr val="21295C"/>
                </a:solidFill>
                <a:latin typeface="Arial"/>
              </a:rPr>
              <a:t/>
            </a:r>
            <a:r>
              <a:rPr sz="111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есть здесь доверия к модели </a:t>
            </a:r>
            <a:r>
              <a:rPr sz="1110" b="1" i="0">
                <a:solidFill>
                  <a:srgbClr val="21295C"/>
                </a:solidFill>
                <a:latin typeface="Arial"/>
              </a:rPr>
              <a:t>слишком мало</a:t>
            </a:r>
            <a:r>
              <a:rPr sz="1110" b="0" i="0">
                <a:solidFill>
                  <a:srgbClr val="21295C"/>
                </a:solidFill>
                <a:latin typeface="Arial"/>
              </a:rPr>
              <a:t>, а не слишком много.</a:t>
            </a:r>
          </a:p>
          <a:p>
            <a:pPr algn="l">
              <a:lnSpc>
                <a:spcPct val="126000"/>
              </a:lnSpc>
              <a:spcBef>
                <a:spcPts val="700"/>
              </a:spcBef>
            </a:pPr>
            <a:r>
              <a:rPr sz="890" b="0" i="0">
                <a:solidFill>
                  <a:srgbClr val="21295C"/>
                </a:solidFill>
                <a:latin typeface="Arial"/>
              </a:rPr>
              <a:t/>
            </a:r>
            <a:r>
              <a:rPr sz="89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той же программы — Gommers J., … Lång K., The Lancet 2026</a:t>
            </a:r>
            <a:r>
              <a:rPr sz="1100" b="0" i="1">
                <a:solidFill>
                  <a:srgbClr val="1C7293"/>
                </a:solidFill>
                <a:latin typeface="Arial"/>
              </a:rPr>
              <a:t> · </a:t>
            </a:r>
            <a:r>
              <a:rPr sz="11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Что ломается.</a:t>
            </a:r>
            <a:r>
              <a:rPr sz="1080" b="0" i="0">
                <a:solidFill>
                  <a:srgbClr val="21295C"/>
                </a:solidFill>
                <a:latin typeface="Arial"/>
              </a:rPr>
              <a:t> База падения — </a:t>
            </a:r>
            <a:r>
              <a:rPr sz="1080" b="1" i="0">
                <a:solidFill>
                  <a:srgbClr val="21295C"/>
                </a:solidFill>
                <a:latin typeface="Arial"/>
              </a:rPr>
              <a:t>верная</a:t>
            </a:r>
            <a:r>
              <a:rPr sz="1080" b="0" i="0">
                <a:solidFill>
                  <a:srgbClr val="21295C"/>
                </a:solidFill>
                <a:latin typeface="Arial"/>
              </a:rPr>
              <a:t> расшифровка, а не работа без подсказки. Существеннее величины другое: связь уверенности с правотой ослабевает у обеих групп.</a:t>
            </a:r>
          </a:p>
          <a:p>
            <a:pPr algn="l">
              <a:lnSpc>
                <a:spcPct val="126000"/>
              </a:lnSpc>
              <a:spcBef>
                <a:spcPts val="700"/>
              </a:spcBef>
            </a:pPr>
            <a:r>
              <a:rPr sz="1080" b="0" i="0">
                <a:solidFill>
                  <a:srgbClr val="21295C"/>
                </a:solidFill>
                <a:latin typeface="Arial"/>
              </a:rPr>
              <a:t/>
            </a:r>
            <a:r>
              <a:rPr sz="1080" b="1" i="0">
                <a:solidFill>
                  <a:srgbClr val="21295C"/>
                </a:solidFill>
                <a:latin typeface="Arial"/>
              </a:rPr>
              <a:t>Где потолок.</a:t>
            </a:r>
            <a:r>
              <a:rPr sz="1080" b="0" i="0">
                <a:solidFill>
                  <a:srgbClr val="21295C"/>
                </a:solidFill>
                <a:latin typeface="Arial"/>
              </a:rPr>
              <a:t> Переустройство подачи снижает согласие значимо — и при нём почти половина согласий остаётся. </a:t>
            </a:r>
            <a:r>
              <a:rPr sz="1080" b="0" i="1">
                <a:solidFill>
                  <a:srgbClr val="21295C"/>
                </a:solidFill>
                <a:latin typeface="Arial"/>
              </a:rPr>
              <a:t>Лабораторный опыт, 199 участников, задача не клиническая.</a:t>
            </a:r>
          </a:p>
          <a:p>
            <a:pPr algn="l">
              <a:lnSpc>
                <a:spcPct val="126000"/>
              </a:lnSpc>
              <a:spcBef>
                <a:spcPts val="700"/>
              </a:spcBef>
            </a:pPr>
            <a:r>
              <a:rPr sz="1080" b="0" i="0">
                <a:solidFill>
                  <a:srgbClr val="21295C"/>
                </a:solidFill>
                <a:latin typeface="Arial"/>
              </a:rPr>
              <a:t/>
            </a:r>
            <a:r>
              <a:rPr sz="1080" b="1" i="0">
                <a:solidFill>
                  <a:srgbClr val="21295C"/>
                </a:solidFill>
                <a:latin typeface="Arial"/>
              </a:rPr>
              <a:t>Не измерено, и это названо пробелом.</a:t>
            </a:r>
            <a:r>
              <a:rPr sz="108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и дальше.</a:t>
            </a:r>
          </a:p>
          <a:p>
            <a:pPr algn="l">
              <a:lnSpc>
                <a:spcPct val="126000"/>
              </a:lnSpc>
              <a:spcBef>
                <a:spcPts val="700"/>
              </a:spcBef>
            </a:pPr>
            <a:r>
              <a:rPr sz="1080" b="0" i="0">
                <a:solidFill>
                  <a:srgbClr val="21295C"/>
                </a:solidFill>
                <a:latin typeface="Arial"/>
              </a:rPr>
              <a:t/>
            </a:r>
            <a:r>
              <a:rPr sz="1080" b="0" i="0">
                <a:solidFill>
                  <a:srgbClr val="21295C"/>
                </a:solidFill>
                <a:latin typeface="Arial"/>
              </a:rPr>
              <a:t>Доверие откалибровано </a:t>
            </a:r>
            <a:r>
              <a:rPr sz="1080" b="1" i="0">
                <a:solidFill>
                  <a:srgbClr val="21295C"/>
                </a:solidFill>
                <a:latin typeface="Arial"/>
              </a:rPr>
              <a:t>не по тому признаку</a:t>
            </a:r>
            <a:r>
              <a:rPr sz="1080" b="0" i="0">
                <a:solidFill>
                  <a:srgbClr val="21295C"/>
                </a:solidFill>
                <a:latin typeface="Arial"/>
              </a:rPr>
              <a:t>: не по правоте, а по подписи, по уверенности и по единичному промаху.</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подсказку выводят в рабочее место через платформу-оркестратор:</a:t>
            </a:r>
          </a:p>
          <a:p>
            <a:pPr algn="l">
              <a:lnSpc>
                <a:spcPct val="126000"/>
              </a:lnSpc>
              <a:spcBef>
                <a:spcPts val="700"/>
              </a:spcBef>
            </a:pPr>
            <a:r>
              <a:rPr sz="1080" b="0" i="0">
                <a:solidFill>
                  <a:srgbClr val="21295C"/>
                </a:solidFill>
                <a:latin typeface="Arial"/>
              </a:rPr>
              <a:t/>
            </a:r>
            <a:r>
              <a:rPr sz="108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080" b="0" i="0">
                <a:solidFill>
                  <a:srgbClr val="21295C"/>
                </a:solidFill>
                <a:latin typeface="Arial"/>
              </a:rPr>
              <a:t/>
            </a:r>
            <a:r>
              <a:rPr sz="108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Bond R. R. и соавт., Journal of Electrocardiology 2018</a:t>
            </a:r>
            <a:r>
              <a:rPr sz="1100" b="0" i="1">
                <a:solidFill>
                  <a:srgbClr val="1C7293"/>
                </a:solidFill>
                <a:latin typeface="Arial"/>
              </a:rPr>
              <a:t> · </a:t>
            </a:r>
            <a:r>
              <a:rPr sz="1100" b="0" i="1" u="sng">
                <a:solidFill>
                  <a:srgbClr val="065A82"/>
                </a:solidFill>
                <a:latin typeface="Arial"/>
                <a:hlinkClick r:id="rId3"/>
              </a:rPr>
              <a:t>Yu F. и соавт., Nature Medicine 2024</a:t>
            </a:r>
            <a:r>
              <a:rPr sz="1100" b="0" i="1">
                <a:solidFill>
                  <a:srgbClr val="1C7293"/>
                </a:solidFill>
                <a:latin typeface="Arial"/>
              </a:rPr>
              <a:t> · </a:t>
            </a:r>
            <a:r>
              <a:rPr sz="1100" b="0" i="1" u="sng">
                <a:solidFill>
                  <a:srgbClr val="065A82"/>
                </a:solidFill>
                <a:latin typeface="Arial"/>
                <a:hlinkClick r:id="rId4"/>
              </a:rPr>
              <a:t>Buçinca Z. и соавт., To Trust or to Think, CSCW 2021</a:t>
            </a:r>
            <a:r>
              <a:rPr sz="1100" b="0" i="1">
                <a:solidFill>
                  <a:srgbClr val="1C7293"/>
                </a:solidFill>
                <a:latin typeface="Arial"/>
              </a:rPr>
              <a:t> · </a:t>
            </a:r>
            <a:r>
              <a:rPr sz="11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232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306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2962793" y="1335024"/>
            <a:ext cx="3036236"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09097" y="1335024"/>
            <a:ext cx="274362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5999029" y="1335024"/>
            <a:ext cx="3000177"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145333" y="1335024"/>
            <a:ext cx="27075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8999207" y="1335024"/>
            <a:ext cx="2652992"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5511" y="1335024"/>
            <a:ext cx="236038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42329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второй взгляд на поток, который человеку не прочесть целиком</a:t>
            </a:r>
          </a:p>
        </p:txBody>
      </p:sp>
      <p:sp>
        <p:nvSpPr>
          <p:cNvPr id="15" name="Rectangle 14"/>
          <p:cNvSpPr/>
          <p:nvPr/>
        </p:nvSpPr>
        <p:spPr>
          <a:xfrm>
            <a:off x="2962793" y="1745752"/>
            <a:ext cx="3036236"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09097" y="1745752"/>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независимость: подсказка видна до собственного вывода</a:t>
            </a:r>
          </a:p>
        </p:txBody>
      </p:sp>
      <p:sp>
        <p:nvSpPr>
          <p:cNvPr id="17" name="Rectangle 16"/>
          <p:cNvSpPr/>
          <p:nvPr/>
        </p:nvSpPr>
        <p:spPr>
          <a:xfrm>
            <a:off x="5999029" y="1745752"/>
            <a:ext cx="3000177"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145333" y="1745752"/>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на том же месте упала — и знак задаёт правота подсказки, а не форма</a:t>
            </a:r>
          </a:p>
        </p:txBody>
      </p:sp>
      <p:sp>
        <p:nvSpPr>
          <p:cNvPr id="19" name="Rectangle 18"/>
          <p:cNvSpPr/>
          <p:nvPr/>
        </p:nvSpPr>
        <p:spPr>
          <a:xfrm>
            <a:off x="8999207" y="1745752"/>
            <a:ext cx="2652992"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5511" y="1745752"/>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 предъявления подсказки: параметр с измеренной ценой</a:t>
            </a:r>
          </a:p>
        </p:txBody>
      </p:sp>
      <p:sp>
        <p:nvSpPr>
          <p:cNvPr id="21" name="Rectangle 20"/>
          <p:cNvSpPr/>
          <p:nvPr/>
        </p:nvSpPr>
        <p:spPr>
          <a:xfrm>
            <a:off x="539496" y="2894889"/>
            <a:ext cx="2423297" cy="1149137"/>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напоминание о редком диагнозе, которого в списке не появилось бы</a:t>
            </a:r>
          </a:p>
        </p:txBody>
      </p:sp>
      <p:sp>
        <p:nvSpPr>
          <p:cNvPr id="23" name="Rectangle 22"/>
          <p:cNvSpPr/>
          <p:nvPr/>
        </p:nvSpPr>
        <p:spPr>
          <a:xfrm>
            <a:off x="2962793" y="2894889"/>
            <a:ext cx="3036236" cy="1149137"/>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09097" y="2894889"/>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избирательность: не поверить именно там, где модель ошиблась, не смог никто</a:t>
            </a:r>
          </a:p>
        </p:txBody>
      </p:sp>
      <p:sp>
        <p:nvSpPr>
          <p:cNvPr id="25" name="Rectangle 24"/>
          <p:cNvSpPr/>
          <p:nvPr/>
        </p:nvSpPr>
        <p:spPr>
          <a:xfrm>
            <a:off x="5999029" y="2894889"/>
            <a:ext cx="3000177" cy="1149137"/>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145333" y="2894889"/>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сместилась цена ошибки — пропуск модели стал пропуском читателя, подписанным человеком</a:t>
            </a:r>
          </a:p>
        </p:txBody>
      </p:sp>
      <p:sp>
        <p:nvSpPr>
          <p:cNvPr id="27" name="Rectangle 26"/>
          <p:cNvSpPr/>
          <p:nvPr/>
        </p:nvSpPr>
        <p:spPr>
          <a:xfrm>
            <a:off x="8999207" y="2894889"/>
            <a:ext cx="2652992" cy="1149137"/>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5511" y="2894889"/>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арбитраж третьим читателем — только там, где человек и модель разошлись</a:t>
            </a:r>
          </a:p>
        </p:txBody>
      </p:sp>
      <p:sp>
        <p:nvSpPr>
          <p:cNvPr id="29" name="Rectangle 28"/>
          <p:cNvSpPr/>
          <p:nvPr/>
        </p:nvSpPr>
        <p:spPr>
          <a:xfrm>
            <a:off x="539496" y="4044027"/>
            <a:ext cx="242329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044027"/>
            <a:ext cx="213068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 одном устройстве процедуры пара сильнее обеих сторон: 80,5 против 73,8 из ста</a:t>
            </a:r>
          </a:p>
        </p:txBody>
      </p:sp>
      <p:sp>
        <p:nvSpPr>
          <p:cNvPr id="31" name="Rectangle 30"/>
          <p:cNvSpPr/>
          <p:nvPr/>
        </p:nvSpPr>
        <p:spPr>
          <a:xfrm>
            <a:off x="2962793" y="4044027"/>
            <a:ext cx="3036236"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09097" y="4044027"/>
            <a:ext cx="2743628"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объяснимость: упрощённое объяснение неверной рекомендации роняет выбор ниже работы без модели</a:t>
            </a:r>
          </a:p>
        </p:txBody>
      </p:sp>
      <p:sp>
        <p:nvSpPr>
          <p:cNvPr id="33" name="Rectangle 32"/>
          <p:cNvSpPr/>
          <p:nvPr/>
        </p:nvSpPr>
        <p:spPr>
          <a:xfrm>
            <a:off x="5999029" y="4044027"/>
            <a:ext cx="3000177"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145333" y="4044027"/>
            <a:ext cx="2707569"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сменился исполнитель — вторым читателем стала модель, и объём человеческого чтения упал следом</a:t>
            </a:r>
          </a:p>
        </p:txBody>
      </p:sp>
      <p:sp>
        <p:nvSpPr>
          <p:cNvPr id="35" name="Rectangle 34"/>
          <p:cNvSpPr/>
          <p:nvPr/>
        </p:nvSpPr>
        <p:spPr>
          <a:xfrm>
            <a:off x="8999207" y="4044027"/>
            <a:ext cx="2652992"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5511" y="4044027"/>
            <a:ext cx="2360384"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и ступень участия человека нигде не записана: неназначенная сползает к подписи не глядя</a:t>
            </a:r>
          </a:p>
        </p:txBody>
      </p:sp>
      <p:sp>
        <p:nvSpPr>
          <p:cNvPr id="37" name="TextBox 36"/>
          <p:cNvSpPr txBox="1"/>
          <p:nvPr/>
        </p:nvSpPr>
        <p:spPr>
          <a:xfrm>
            <a:off x="539496" y="5585605"/>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400683"/>
          </a:xfrm>
          <a:prstGeom prst="roundRect">
            <a:avLst>
              <a:gd name="adj" fmla="val 69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5691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6430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96413" y="1335024"/>
            <a:ext cx="325665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42717" y="1335024"/>
            <a:ext cx="296404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753066" y="1335024"/>
            <a:ext cx="3243192"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99370" y="1335024"/>
            <a:ext cx="295058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96259" y="1335024"/>
            <a:ext cx="26559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2563" y="1335024"/>
            <a:ext cx="23633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5691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96413" y="1727520"/>
            <a:ext cx="3256652"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42717" y="1727520"/>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753066" y="1727520"/>
            <a:ext cx="3243192"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99370" y="1727520"/>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одна подсказка с двумя знаками</a:t>
            </a:r>
          </a:p>
        </p:txBody>
      </p:sp>
      <p:sp>
        <p:nvSpPr>
          <p:cNvPr id="19" name="Rectangle 18"/>
          <p:cNvSpPr/>
          <p:nvPr/>
        </p:nvSpPr>
        <p:spPr>
          <a:xfrm>
            <a:off x="8996259" y="1727520"/>
            <a:ext cx="265593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2563" y="1727520"/>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956917"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96413" y="2120016"/>
            <a:ext cx="3256652"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42717" y="2120016"/>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753066" y="2120016"/>
            <a:ext cx="3243192"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99370" y="2120016"/>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замер взгляда · контрольная линия</a:t>
            </a:r>
          </a:p>
        </p:txBody>
      </p:sp>
      <p:sp>
        <p:nvSpPr>
          <p:cNvPr id="27" name="Rectangle 26"/>
          <p:cNvSpPr/>
          <p:nvPr/>
        </p:nvSpPr>
        <p:spPr>
          <a:xfrm>
            <a:off x="8996259" y="2120016"/>
            <a:ext cx="26559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2563" y="2120016"/>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1956917"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96413" y="2512512"/>
            <a:ext cx="3256652"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42717" y="2512512"/>
            <a:ext cx="296404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измеренная тройка · запись приёма</a:t>
            </a:r>
          </a:p>
        </p:txBody>
      </p:sp>
      <p:sp>
        <p:nvSpPr>
          <p:cNvPr id="33" name="Rectangle 32"/>
          <p:cNvSpPr/>
          <p:nvPr/>
        </p:nvSpPr>
        <p:spPr>
          <a:xfrm>
            <a:off x="5753066" y="2512512"/>
            <a:ext cx="3243192"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99370" y="2512512"/>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96259" y="2512512"/>
            <a:ext cx="265593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2563" y="2512512"/>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1956917"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96413" y="2905008"/>
            <a:ext cx="3256652"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42717" y="2905008"/>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753066" y="2905008"/>
            <a:ext cx="3243192"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99370" y="2905008"/>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96259" y="2905008"/>
            <a:ext cx="265593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142563" y="2905008"/>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счёт риска внутри карты</a:t>
            </a:r>
          </a:p>
        </p:txBody>
      </p:sp>
      <p:sp>
        <p:nvSpPr>
          <p:cNvPr id="45" name="TextBox 44"/>
          <p:cNvSpPr txBox="1"/>
          <p:nvPr/>
        </p:nvSpPr>
        <p:spPr>
          <a:xfrm>
            <a:off x="539496" y="3443808"/>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четыре клетки из сорока двух, три разбора из четырёх лежат на изображении, и в одной клетке стоят сразу два — с противоположными результатами. Клетки </a:t>
            </a:r>
            <a:r>
              <a:rPr sz="1350" b="1" i="0">
                <a:solidFill>
                  <a:srgbClr val="21295C"/>
                </a:solidFill>
                <a:latin typeface="Arial"/>
              </a:rPr>
              <a:t>ансамбль моделей с голосованием</a:t>
            </a:r>
            <a:r>
              <a:rPr sz="1300" b="0" i="0">
                <a:solidFill>
                  <a:srgbClr val="21295C"/>
                </a:solidFill>
                <a:latin typeface="Arial"/>
              </a:rPr>
              <a:t> на рынке нет: купить и развернуть такое в клинике нельзя.</a:t>
            </a:r>
          </a:p>
        </p:txBody>
      </p:sp>
      <p:sp>
        <p:nvSpPr>
          <p:cNvPr id="46" name="Rounded Rectangle 45"/>
          <p:cNvSpPr/>
          <p:nvPr/>
        </p:nvSpPr>
        <p:spPr>
          <a:xfrm>
            <a:off x="630936" y="447025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944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модель вторым читателем и сортировка потока</a:t>
            </a:r>
            <a:r>
              <a:rPr sz="1300" b="0" i="0">
                <a:solidFill>
                  <a:srgbClr val="21295C"/>
                </a:solidFill>
                <a:latin typeface="Arial"/>
              </a:rPr>
              <a:t> — Transpara · Lunit INSIGHT MMG · Annalise · Aidoc</a:t>
            </a:r>
          </a:p>
        </p:txBody>
      </p:sp>
      <p:sp>
        <p:nvSpPr>
          <p:cNvPr id="48" name="Rounded Rectangle 47"/>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88861"/>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подсказка по оцифрованному срезу</a:t>
            </a:r>
            <a:r>
              <a:rPr sz="1300" b="0" i="0">
                <a:solidFill>
                  <a:srgbClr val="21295C"/>
                </a:solidFill>
                <a:latin typeface="Arial"/>
              </a:rPr>
              <a:t> — входит там, где уже есть сканер: оцифровка стекла дороже модели</a:t>
            </a:r>
          </a:p>
        </p:txBody>
      </p:sp>
      <p:sp>
        <p:nvSpPr>
          <p:cNvPr id="50" name="Rounded Rectangle 49"/>
          <p:cNvSpPr/>
          <p:nvPr/>
        </p:nvSpPr>
        <p:spPr>
          <a:xfrm>
            <a:off x="630936" y="52890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19827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вопрос-ответ со ссылками и запись приёма</a:t>
            </a:r>
            <a:r>
              <a:rPr sz="1300" b="0" i="0">
                <a:solidFill>
                  <a:srgbClr val="21295C"/>
                </a:solidFill>
                <a:latin typeface="Arial"/>
              </a:rPr>
              <a:t> — Abridge · Nabla · Dragon Copilot; первое входит снизу, минуя закупку</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1. Снять величины по расписанию — дыхание, пульс, давление, температуру, насыщение крови кислородом · 2. Записать каждое измерение в лист наблюдения · 3. Перевести отклонения в баллы по опубликованной таблице · 4. Сравнить сумму с порогом · 5. Выполнить назначенное порогом действие: участить измерения, позвать дежурного врача, вызвать бригаду · 6. Передать дорожку следующей смене.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обученной модели каждое из шести делает человек по опубликованной таблице.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Веса в таблице назначила согласительная комиссия и напечатала на карте — её можно открыть и возразить составителю</a:t>
            </a:r>
          </a:p>
          <a:p>
            <a:pPr algn="l">
              <a:lnSpc>
                <a:spcPct val="126000"/>
              </a:lnSpc>
              <a:spcBef>
                <a:spcPts val="700"/>
              </a:spcBef>
            </a:pPr>
            <a:r>
              <a:rPr sz="1500" b="0" i="0">
                <a:solidFill>
                  <a:srgbClr val="21295C"/>
                </a:solidFill>
                <a:latin typeface="Arial"/>
              </a:rPr>
              <a:t/>
            </a:r>
            <a:r>
              <a:rPr sz="1500" b="0" i="0">
                <a:solidFill>
                  <a:srgbClr val="21295C"/>
                </a:solidFill>
                <a:latin typeface="Arial"/>
              </a:rPr>
              <a:t>• Ухудшение читается не по одному числу, а по направлению дорожки: 78 → 92 → 104 при падающем давлении говорит больше, чем любое из трёх по отдельности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на этом шаге одно и повторяющееся: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5" name="Picture 4"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6" name="Rounded Rectangle 5"/>
          <p:cNvSpPr/>
          <p:nvPr/>
        </p:nvSpPr>
        <p:spPr>
          <a:xfrm>
            <a:off x="502920" y="1335024"/>
            <a:ext cx="3316071" cy="2332528"/>
          </a:xfrm>
          <a:prstGeom prst="roundRect">
            <a:avLst>
              <a:gd name="adj" fmla="val 13067"/>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8" name="TextBox 7"/>
          <p:cNvSpPr txBox="1"/>
          <p:nvPr/>
        </p:nvSpPr>
        <p:spPr>
          <a:xfrm>
            <a:off x="667512"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9" name="Rounded Rectangle 8"/>
          <p:cNvSpPr/>
          <p:nvPr/>
        </p:nvSpPr>
        <p:spPr>
          <a:xfrm>
            <a:off x="4129887" y="1335024"/>
            <a:ext cx="3316071" cy="2332528"/>
          </a:xfrm>
          <a:prstGeom prst="roundRect">
            <a:avLst>
              <a:gd name="adj" fmla="val 13067"/>
            </a:avLst>
          </a:prstGeom>
          <a:solidFill>
            <a:srgbClr val="FFFFFF"/>
          </a:solidFill>
          <a:ln w="19050">
            <a:solidFill>
              <a:srgbClr val="028090"/>
            </a:solidFill>
          </a:ln>
          <a:effectLst/>
        </p:spPr>
        <p:txBody>
          <a:bodyPr rtlCol="0" anchor="ctr"/>
          <a:lstStyle/>
          <a:p>
            <a:pPr algn="ctr"/>
          </a:p>
        </p:txBody>
      </p:sp>
      <p:sp>
        <p:nvSpPr>
          <p:cNvPr id="10" name="TextBox 9"/>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11" name="TextBox 10"/>
          <p:cNvSpPr txBox="1"/>
          <p:nvPr/>
        </p:nvSpPr>
        <p:spPr>
          <a:xfrm>
            <a:off x="4294479"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2" name="Rounded Rectangle 11"/>
          <p:cNvSpPr/>
          <p:nvPr/>
        </p:nvSpPr>
        <p:spPr>
          <a:xfrm>
            <a:off x="374904" y="3758992"/>
            <a:ext cx="7199071" cy="2477215"/>
          </a:xfrm>
          <a:prstGeom prst="roundRect">
            <a:avLst>
              <a:gd name="adj" fmla="val 1230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850432"/>
            <a:ext cx="6869887" cy="2385775"/>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Пропустить ухудшение.</a:t>
            </a:r>
            <a:r>
              <a:rPr sz="129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290" b="0" i="0">
                <a:solidFill>
                  <a:srgbClr val="21295C"/>
                </a:solidFill>
                <a:latin typeface="Arial"/>
              </a:rPr>
              <a:t/>
            </a:r>
            <a:r>
              <a:rPr sz="1290" b="1" i="0">
                <a:solidFill>
                  <a:srgbClr val="21295C"/>
                </a:solidFill>
                <a:latin typeface="Arial"/>
              </a:rPr>
              <a:t>Поднять ложную тревогу.</a:t>
            </a:r>
            <a:r>
              <a:rPr sz="129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290" b="0" i="0">
                <a:solidFill>
                  <a:srgbClr val="21295C"/>
                </a:solidFill>
                <a:latin typeface="Arial"/>
              </a:rPr>
              <a:t/>
            </a:r>
            <a:r>
              <a:rPr sz="1290" b="0" i="0">
                <a:solidFill>
                  <a:srgbClr val="21295C"/>
                </a:solidFill>
                <a:latin typeface="Arial"/>
              </a:rPr>
              <a:t>Обе ошибки платит одна и та же дежурная смена.</a:t>
            </a:r>
          </a:p>
          <a:p>
            <a:pPr algn="l">
              <a:lnSpc>
                <a:spcPct val="126000"/>
              </a:lnSpc>
              <a:spcBef>
                <a:spcPts val="700"/>
              </a:spcBef>
            </a:pPr>
            <a:r>
              <a:rPr sz="1030" b="0" i="0">
                <a:solidFill>
                  <a:srgbClr val="21295C"/>
                </a:solidFill>
                <a:latin typeface="Arial"/>
              </a:rPr>
              <a:t/>
            </a:r>
            <a:r>
              <a:rPr sz="103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Какую долю входящих оповещений вы закрываете, не читая?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балл считают по опубликованной таблице; модель вошла в три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балла · сравнение с порогом · назначенное действие; измерение, запись в лист и передача дорожки смене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Балл складывают руками раз в несколько часов — по расписанию обхода</a:t>
            </a:r>
          </a:p>
          <a:p>
            <a:pPr algn="l">
              <a:lnSpc>
                <a:spcPct val="126000"/>
              </a:lnSpc>
            </a:pPr>
            <a:r>
              <a:rPr sz="1100" b="0" i="0">
                <a:solidFill>
                  <a:srgbClr val="21295C"/>
                </a:solidFill>
                <a:latin typeface="Arial"/>
              </a:rPr>
              <a:t>• Веса таблицы опубликованы: видно, почему балл такой</a:t>
            </a:r>
          </a:p>
          <a:p>
            <a:pPr algn="l">
              <a:lnSpc>
                <a:spcPct val="126000"/>
              </a:lnSpc>
            </a:pPr>
            <a:r>
              <a:rPr sz="1100" b="0" i="0">
                <a:solidFill>
                  <a:srgbClr val="21295C"/>
                </a:solidFill>
                <a:latin typeface="Arial"/>
              </a:rPr>
              <a:t>• Порог назначен документом, и полоса назначает действие</a:t>
            </a:r>
          </a:p>
          <a:p>
            <a:pPr algn="l">
              <a:lnSpc>
                <a:spcPct val="126000"/>
              </a:lnSpc>
            </a:pPr>
            <a:r>
              <a:rPr sz="1100" b="0" i="0">
                <a:solidFill>
                  <a:srgbClr val="21295C"/>
                </a:solidFill>
                <a:latin typeface="Arial"/>
              </a:rPr>
              <a:t>• Решение «звать сейчас или на обходе» выносит дежурная смена</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Действие 3: балл считается непрерывно и по всей карте</a:t>
            </a:r>
          </a:p>
          <a:p>
            <a:pPr algn="l">
              <a:lnSpc>
                <a:spcPct val="126000"/>
              </a:lnSpc>
            </a:pPr>
            <a:r>
              <a:rPr sz="1250" b="0" i="0">
                <a:solidFill>
                  <a:srgbClr val="21295C"/>
                </a:solidFill>
                <a:latin typeface="Arial"/>
              </a:rPr>
              <a:t>• Действие 4: порог перейдён — работа прерывается тревогой</a:t>
            </a:r>
          </a:p>
          <a:p>
            <a:pPr algn="l">
              <a:lnSpc>
                <a:spcPct val="126000"/>
              </a:lnSpc>
            </a:pPr>
            <a:r>
              <a:rPr sz="1250" b="0" i="0">
                <a:solidFill>
                  <a:srgbClr val="21295C"/>
                </a:solidFill>
                <a:latin typeface="Arial"/>
              </a:rPr>
              <a:t>• Действие 5: к тревоге приложен набор назначений в один щелчок</a:t>
            </a:r>
          </a:p>
          <a:p>
            <a:pPr algn="l">
              <a:lnSpc>
                <a:spcPct val="126000"/>
              </a:lnSpc>
            </a:pPr>
            <a:r>
              <a:rPr sz="1250" b="0" i="0">
                <a:solidFill>
                  <a:srgbClr val="21295C"/>
                </a:solidFill>
                <a:latin typeface="Arial"/>
              </a:rPr>
              <a:t>• Новый шаг: разобрать тревогу и отклонить её</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Порог тревоги модель себе не назначает: его назначает организация под своё население</a:t>
            </a:r>
          </a:p>
          <a:p>
            <a:pPr algn="l">
              <a:lnSpc>
                <a:spcPct val="126000"/>
              </a:lnSpc>
              <a:spcBef>
                <a:spcPts val="700"/>
              </a:spcBef>
            </a:pPr>
            <a:r>
              <a:rPr sz="1290" b="0" i="0">
                <a:solidFill>
                  <a:srgbClr val="21295C"/>
                </a:solidFill>
                <a:latin typeface="Arial"/>
              </a:rPr>
              <a:t/>
            </a:r>
            <a:r>
              <a:rPr sz="1290" b="0" i="0">
                <a:solidFill>
                  <a:srgbClr val="21295C"/>
                </a:solidFill>
                <a:latin typeface="Arial"/>
              </a:rPr>
              <a:t>• Опередить врача она не может там, где данные попадают в карту уже после его решения</a:t>
            </a:r>
          </a:p>
          <a:p>
            <a:pPr algn="l">
              <a:lnSpc>
                <a:spcPct val="126000"/>
              </a:lnSpc>
              <a:spcBef>
                <a:spcPts val="700"/>
              </a:spcBef>
            </a:pPr>
            <a:r>
              <a:rPr sz="1290" b="0" i="0">
                <a:solidFill>
                  <a:srgbClr val="21295C"/>
                </a:solidFill>
                <a:latin typeface="Arial"/>
              </a:rPr>
              <a:t/>
            </a:r>
            <a:r>
              <a:rPr sz="1290" b="0" i="0">
                <a:solidFill>
                  <a:srgbClr val="21295C"/>
                </a:solidFill>
                <a:latin typeface="Arial"/>
              </a:rPr>
              <a:t>• Замолчать при смене картины населения она не умеет: поток сдвинулся, порог остался</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лежит в непрерывности,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Ostermayer D. G. и соавт., JAMIA Open 2024;7(4):ooae133</a:t>
            </a:r>
            <a:r>
              <a:rPr sz="1100" b="0" i="1">
                <a:solidFill>
                  <a:srgbClr val="1C7293"/>
                </a:solidFill>
                <a:latin typeface="Arial"/>
              </a:rPr>
              <a:t> · </a:t>
            </a:r>
            <a:r>
              <a:rPr sz="1100" b="0" i="1" u="sng">
                <a:solidFill>
                  <a:srgbClr val="065A82"/>
                </a:solidFill>
                <a:latin typeface="Arial"/>
                <a:hlinkClick r:id="rId4"/>
              </a:rPr>
              <a:t>Wong A., Cao J., Lyons P. G. и соавт., JAMA Network Open 2021;4(11), DOI 10.1001/jamanetworkopen.2021.35286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17795"/>
            <a:ext cx="3344570"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полоса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213798"/>
          </a:xfrm>
          <a:prstGeom prst="roundRect">
            <a:avLst>
              <a:gd name="adj" fmla="val 1376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640262"/>
            <a:ext cx="11441887" cy="2595945"/>
          </a:xfrm>
          <a:prstGeom prst="roundRect">
            <a:avLst>
              <a:gd name="adj" fmla="val 117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1702"/>
            <a:ext cx="11112703" cy="250450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3012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577566"/>
            <a:ext cx="11441887" cy="2658641"/>
          </a:xfrm>
          <a:prstGeom prst="roundRect">
            <a:avLst>
              <a:gd name="adj" fmla="val 1146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69006"/>
            <a:ext cx="11112703" cy="256720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 с эрратой того же журнала</a:t>
            </a:r>
            <a:r>
              <a:rPr sz="1100" b="0" i="1">
                <a:solidFill>
                  <a:srgbClr val="1C7293"/>
                </a:solidFill>
                <a:latin typeface="Arial"/>
              </a:rPr>
              <a:t> · </a:t>
            </a:r>
            <a:r>
              <a:rPr sz="11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8945575" y="1335024"/>
            <a:ext cx="2743200" cy="2087880"/>
          </a:xfrm>
          <a:prstGeom prst="roundRect">
            <a:avLst>
              <a:gd name="adj" fmla="val 14598"/>
            </a:avLst>
          </a:prstGeom>
          <a:solidFill>
            <a:srgbClr val="F4F7FA"/>
          </a:solidFill>
          <a:ln w="19050">
            <a:solidFill>
              <a:srgbClr val="1C7293"/>
            </a:solidFill>
          </a:ln>
          <a:effectLst/>
        </p:spPr>
        <p:txBody>
          <a:bodyPr rtlCol="0" anchor="ctr"/>
          <a:lstStyle/>
          <a:p>
            <a:pPr algn="ctr"/>
          </a:p>
        </p:txBody>
      </p:sp>
      <p:pic>
        <p:nvPicPr>
          <p:cNvPr id="5" name="Picture 4" descr="s59-stranitsa-publikatsii-2024.png"/>
          <p:cNvPicPr>
            <a:picLocks noChangeAspect="1"/>
          </p:cNvPicPr>
          <p:nvPr/>
        </p:nvPicPr>
        <p:blipFill>
          <a:blip r:embed="rId2"/>
          <a:stretch>
            <a:fillRect/>
          </a:stretch>
        </p:blipFill>
        <p:spPr>
          <a:xfrm>
            <a:off x="9082735" y="1472184"/>
            <a:ext cx="2468879" cy="1813559"/>
          </a:xfrm>
          <a:prstGeom prst="rect">
            <a:avLst/>
          </a:prstGeom>
        </p:spPr>
      </p:pic>
      <p:sp>
        <p:nvSpPr>
          <p:cNvPr id="6" name="Rounded Rectangle 5"/>
          <p:cNvSpPr/>
          <p:nvPr/>
        </p:nvSpPr>
        <p:spPr>
          <a:xfrm>
            <a:off x="502920" y="1335024"/>
            <a:ext cx="1909495" cy="3319682"/>
          </a:xfrm>
          <a:prstGeom prst="roundRect">
            <a:avLst>
              <a:gd name="adj" fmla="val 15962"/>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635175"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8" name="TextBox 7"/>
          <p:cNvSpPr txBox="1"/>
          <p:nvPr/>
        </p:nvSpPr>
        <p:spPr>
          <a:xfrm>
            <a:off x="640080" y="1863689"/>
            <a:ext cx="163517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9" name="TextBox 8"/>
          <p:cNvSpPr txBox="1"/>
          <p:nvPr/>
        </p:nvSpPr>
        <p:spPr>
          <a:xfrm>
            <a:off x="640080" y="2290688"/>
            <a:ext cx="1635175"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10" name="Rounded Rectangle 9"/>
          <p:cNvSpPr/>
          <p:nvPr/>
        </p:nvSpPr>
        <p:spPr>
          <a:xfrm>
            <a:off x="2577007" y="1335024"/>
            <a:ext cx="1909495" cy="3319682"/>
          </a:xfrm>
          <a:prstGeom prst="roundRect">
            <a:avLst>
              <a:gd name="adj" fmla="val 15962"/>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2714167" y="1472184"/>
            <a:ext cx="1635175"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2" name="TextBox 11"/>
          <p:cNvSpPr txBox="1"/>
          <p:nvPr/>
        </p:nvSpPr>
        <p:spPr>
          <a:xfrm>
            <a:off x="2714167" y="1863689"/>
            <a:ext cx="1635175"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4,9 из ста обращений</a:t>
            </a:r>
          </a:p>
        </p:txBody>
      </p:sp>
      <p:sp>
        <p:nvSpPr>
          <p:cNvPr id="13" name="TextBox 12"/>
          <p:cNvSpPr txBox="1"/>
          <p:nvPr/>
        </p:nvSpPr>
        <p:spPr>
          <a:xfrm>
            <a:off x="2714167" y="2647161"/>
            <a:ext cx="1635175"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4" name="Rounded Rectangle 13"/>
          <p:cNvSpPr/>
          <p:nvPr/>
        </p:nvSpPr>
        <p:spPr>
          <a:xfrm>
            <a:off x="4651095" y="1335024"/>
            <a:ext cx="1909495" cy="3319682"/>
          </a:xfrm>
          <a:prstGeom prst="roundRect">
            <a:avLst>
              <a:gd name="adj" fmla="val 1596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4788255" y="1472184"/>
            <a:ext cx="1635175"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6" name="TextBox 15"/>
          <p:cNvSpPr txBox="1"/>
          <p:nvPr/>
        </p:nvSpPr>
        <p:spPr>
          <a:xfrm>
            <a:off x="4788255" y="2036582"/>
            <a:ext cx="1635175"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7" name="TextBox 16"/>
          <p:cNvSpPr txBox="1"/>
          <p:nvPr/>
        </p:nvSpPr>
        <p:spPr>
          <a:xfrm>
            <a:off x="4788255" y="2854004"/>
            <a:ext cx="1635175" cy="166354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8" name="Rounded Rectangle 17"/>
          <p:cNvSpPr/>
          <p:nvPr/>
        </p:nvSpPr>
        <p:spPr>
          <a:xfrm>
            <a:off x="6725183" y="1335024"/>
            <a:ext cx="1909495" cy="3319682"/>
          </a:xfrm>
          <a:prstGeom prst="roundRect">
            <a:avLst>
              <a:gd name="adj" fmla="val 15962"/>
            </a:avLst>
          </a:prstGeom>
          <a:solidFill>
            <a:srgbClr val="F4F7FA"/>
          </a:solidFill>
          <a:ln w="15240">
            <a:solidFill>
              <a:srgbClr val="1C7293"/>
            </a:solidFill>
          </a:ln>
          <a:effectLst/>
        </p:spPr>
        <p:txBody>
          <a:bodyPr rtlCol="0" anchor="ctr"/>
          <a:lstStyle/>
          <a:p>
            <a:pPr algn="ctr"/>
          </a:p>
        </p:txBody>
      </p:sp>
      <p:sp>
        <p:nvSpPr>
          <p:cNvPr id="19" name="TextBox 18"/>
          <p:cNvSpPr txBox="1"/>
          <p:nvPr/>
        </p:nvSpPr>
        <p:spPr>
          <a:xfrm>
            <a:off x="6862343" y="1472184"/>
            <a:ext cx="1635175"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20" name="TextBox 19"/>
          <p:cNvSpPr txBox="1"/>
          <p:nvPr/>
        </p:nvSpPr>
        <p:spPr>
          <a:xfrm>
            <a:off x="6862343" y="2036582"/>
            <a:ext cx="163517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от 0,82 до 0,92 · от 0,13 до 0,26</a:t>
            </a:r>
          </a:p>
        </p:txBody>
      </p:sp>
      <p:sp>
        <p:nvSpPr>
          <p:cNvPr id="21" name="TextBox 20"/>
          <p:cNvSpPr txBox="1"/>
          <p:nvPr/>
        </p:nvSpPr>
        <p:spPr>
          <a:xfrm>
            <a:off x="6862343" y="2616355"/>
            <a:ext cx="1635175" cy="184838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2" name="Rounded Rectangle 21"/>
          <p:cNvSpPr/>
          <p:nvPr/>
        </p:nvSpPr>
        <p:spPr>
          <a:xfrm>
            <a:off x="374904" y="4746146"/>
            <a:ext cx="11441887" cy="1490061"/>
          </a:xfrm>
          <a:prstGeom prst="roundRect">
            <a:avLst>
              <a:gd name="adj" fmla="val 20455"/>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837586"/>
            <a:ext cx="11112703" cy="1398621"/>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Вторая проверка, другие авторы, другие больницы: 145 885 обращений двух приёмных отделений. Поймано </a:t>
            </a:r>
            <a:r>
              <a:rPr sz="1230" b="1" i="0">
                <a:solidFill>
                  <a:srgbClr val="21295C"/>
                </a:solidFill>
                <a:latin typeface="Arial"/>
              </a:rPr>
              <a:t>14,7 случая сепсиса из ста</a:t>
            </a:r>
            <a:r>
              <a:rPr sz="1230" b="0" i="0">
                <a:solidFill>
                  <a:srgbClr val="21295C"/>
                </a:solidFill>
                <a:latin typeface="Arial"/>
              </a:rPr>
              <a:t>. Срабатывание — </a:t>
            </a:r>
            <a:r>
              <a:rPr sz="1230" b="1" i="0">
                <a:solidFill>
                  <a:srgbClr val="21295C"/>
                </a:solidFill>
                <a:latin typeface="Arial"/>
              </a:rPr>
              <a:t>4,9 обращения из ста</a:t>
            </a:r>
            <a:r>
              <a:rPr sz="1230" b="0" i="0">
                <a:solidFill>
                  <a:srgbClr val="21295C"/>
                </a:solidFill>
                <a:latin typeface="Arial"/>
              </a:rPr>
              <a:t>. Медианное опережение клинического решения — </a:t>
            </a:r>
            <a:r>
              <a:rPr sz="1230" b="1" i="0">
                <a:solidFill>
                  <a:srgbClr val="21295C"/>
                </a:solidFill>
                <a:latin typeface="Arial"/>
              </a:rPr>
              <a:t>ноль минут</a:t>
            </a:r>
            <a:r>
              <a:rPr sz="1230" b="0" i="0">
                <a:solidFill>
                  <a:srgbClr val="21295C"/>
                </a:solidFill>
                <a:latin typeface="Arial"/>
              </a:rPr>
              <a:t>.</a:t>
            </a:r>
          </a:p>
          <a:p>
            <a:pPr algn="l">
              <a:lnSpc>
                <a:spcPct val="126000"/>
              </a:lnSpc>
              <a:spcBef>
                <a:spcPts val="700"/>
              </a:spcBef>
            </a:pPr>
            <a:r>
              <a:rPr sz="1230" b="0" i="0">
                <a:solidFill>
                  <a:srgbClr val="21295C"/>
                </a:solidFill>
                <a:latin typeface="Arial"/>
              </a:rPr>
              <a:t/>
            </a:r>
            <a:r>
              <a:rPr sz="123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230" b="0" i="0">
                <a:solidFill>
                  <a:srgbClr val="21295C"/>
                </a:solidFill>
                <a:latin typeface="Arial"/>
              </a:rPr>
              <a:t/>
            </a:r>
            <a:r>
              <a:rPr sz="1230" b="0" i="0">
                <a:solidFill>
                  <a:srgbClr val="21295C"/>
                </a:solidFill>
                <a:latin typeface="Arial"/>
              </a:rPr>
              <a:t>Действующую версию модели проверили отдельно, многоцентрово и проспективно: различение </a:t>
            </a:r>
            <a:r>
              <a:rPr sz="1230" b="1" i="0">
                <a:solidFill>
                  <a:srgbClr val="21295C"/>
                </a:solidFill>
                <a:latin typeface="Arial"/>
              </a:rPr>
              <a:t>от 0,82 до 0,92</a:t>
            </a:r>
            <a:r>
              <a:rPr sz="1230" b="0" i="0">
                <a:solidFill>
                  <a:srgbClr val="21295C"/>
                </a:solidFill>
                <a:latin typeface="Arial"/>
              </a:rPr>
              <a:t>, прогностическая ценность </a:t>
            </a:r>
            <a:r>
              <a:rPr sz="1230" b="1" i="0">
                <a:solidFill>
                  <a:srgbClr val="21295C"/>
                </a:solidFill>
                <a:latin typeface="Arial"/>
              </a:rPr>
              <a:t>от 0,13 до 0,26</a:t>
            </a:r>
            <a:r>
              <a:rPr sz="123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Ostermayer D. G., Braunheim B., Mehta A. M., Ward J., Andrabi S., Sirajuddin A. M., JAMIA Open 2024;7(4):ooae133, DOI 10.1093/jamiaopen/ooae133, PMID 39545248</a:t>
            </a:r>
            <a:r>
              <a:rPr sz="1100" b="0" i="1">
                <a:solidFill>
                  <a:srgbClr val="1C7293"/>
                </a:solidFill>
                <a:latin typeface="Arial"/>
              </a:rPr>
              <a:t> · </a:t>
            </a:r>
            <a:r>
              <a:rPr sz="11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4" name="Rounded Rectangle 13"/>
          <p:cNvSpPr/>
          <p:nvPr/>
        </p:nvSpPr>
        <p:spPr>
          <a:xfrm>
            <a:off x="1920240"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обход по расписанию</a:t>
            </a:r>
          </a:p>
        </p:txBody>
      </p:sp>
      <p:sp>
        <p:nvSpPr>
          <p:cNvPr id="16" name="Right Arrow 15"/>
          <p:cNvSpPr/>
          <p:nvPr/>
        </p:nvSpPr>
        <p:spPr>
          <a:xfrm>
            <a:off x="5039258"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 по таблице</a:t>
            </a:r>
          </a:p>
        </p:txBody>
      </p:sp>
      <p:sp>
        <p:nvSpPr>
          <p:cNvPr id="19" name="Right Arrow 18"/>
          <p:cNvSpPr/>
          <p:nvPr/>
        </p:nvSpPr>
        <p:spPr>
          <a:xfrm>
            <a:off x="8386876" y="337870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звать врача или нет</a:t>
            </a:r>
          </a:p>
        </p:txBody>
      </p:sp>
      <p:sp>
        <p:nvSpPr>
          <p:cNvPr id="22" name="TextBox 21"/>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3" name="Rounded Rectangle 22"/>
          <p:cNvSpPr/>
          <p:nvPr/>
        </p:nvSpPr>
        <p:spPr>
          <a:xfrm>
            <a:off x="1920240" y="382218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86790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считает непрерывно</a:t>
            </a:r>
          </a:p>
        </p:txBody>
      </p:sp>
      <p:sp>
        <p:nvSpPr>
          <p:cNvPr id="25" name="Right Arrow 24"/>
          <p:cNvSpPr/>
          <p:nvPr/>
        </p:nvSpPr>
        <p:spPr>
          <a:xfrm>
            <a:off x="5039258"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22186"/>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867906"/>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тревога модели</a:t>
            </a:r>
          </a:p>
        </p:txBody>
      </p:sp>
      <p:sp>
        <p:nvSpPr>
          <p:cNvPr id="28" name="Right Arrow 27"/>
          <p:cNvSpPr/>
          <p:nvPr/>
        </p:nvSpPr>
        <p:spPr>
          <a:xfrm>
            <a:off x="8386876"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2218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86790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и отклонение</a:t>
            </a:r>
          </a:p>
        </p:txBody>
      </p:sp>
      <p:sp>
        <p:nvSpPr>
          <p:cNvPr id="31" name="TextBox 30"/>
          <p:cNvSpPr txBox="1"/>
          <p:nvPr/>
        </p:nvSpPr>
        <p:spPr>
          <a:xfrm>
            <a:off x="502920" y="431596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592240"/>
            <a:ext cx="11441887" cy="1643967"/>
          </a:xfrm>
          <a:prstGeom prst="roundRect">
            <a:avLst>
              <a:gd name="adj" fmla="val 1854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83680"/>
            <a:ext cx="11112703" cy="155252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470" b="0" i="0">
                <a:solidFill>
                  <a:srgbClr val="21295C"/>
                </a:solidFill>
                <a:latin typeface="Arial"/>
              </a:rPr>
              <a:t/>
            </a:r>
            <a:r>
              <a:rPr sz="147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470" b="1" i="0">
                <a:solidFill>
                  <a:srgbClr val="21295C"/>
                </a:solidFill>
                <a:latin typeface="Arial"/>
              </a:rPr>
              <a:t>953 до 1 363 в сутки</a:t>
            </a:r>
            <a:r>
              <a:rPr sz="1470" b="0" i="0">
                <a:solidFill>
                  <a:srgbClr val="21295C"/>
                </a:solidFill>
                <a:latin typeface="Arial"/>
              </a:rPr>
              <a:t>, причём загрузка за тот же период </a:t>
            </a:r>
            <a:r>
              <a:rPr sz="1470" b="1" i="0">
                <a:solidFill>
                  <a:srgbClr val="21295C"/>
                </a:solidFill>
                <a:latin typeface="Arial"/>
              </a:rPr>
              <a:t>упала с 10 159 до 6 634 пациентов</a:t>
            </a:r>
            <a:r>
              <a:rPr sz="1470" b="0" i="0">
                <a:solidFill>
                  <a:srgbClr val="21295C"/>
                </a:solidFill>
                <a:latin typeface="Arial"/>
              </a:rPr>
              <a:t>: доля пациентов с тревогой выросла с 9 до 21 из ста.</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5587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63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3295373" y="1335024"/>
            <a:ext cx="3124298"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441677" y="1335024"/>
            <a:ext cx="283169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6419672" y="1335024"/>
            <a:ext cx="2981649"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65976" y="1335024"/>
            <a:ext cx="268904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9401321" y="1335024"/>
            <a:ext cx="225087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47625" y="1335024"/>
            <a:ext cx="1958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75587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463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считать балл непрерывно и по всей больнице сразу — по данным, которые уже лежат в карте</a:t>
            </a:r>
          </a:p>
        </p:txBody>
      </p:sp>
      <p:sp>
        <p:nvSpPr>
          <p:cNvPr id="15" name="Rectangle 14"/>
          <p:cNvSpPr/>
          <p:nvPr/>
        </p:nvSpPr>
        <p:spPr>
          <a:xfrm>
            <a:off x="3295373" y="1745752"/>
            <a:ext cx="3124298"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41677" y="1745752"/>
            <a:ext cx="2831690"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назначить себе порог: его назначает организация под своё население</a:t>
            </a:r>
          </a:p>
        </p:txBody>
      </p:sp>
      <p:sp>
        <p:nvSpPr>
          <p:cNvPr id="17" name="Rectangle 16"/>
          <p:cNvSpPr/>
          <p:nvPr/>
        </p:nvSpPr>
        <p:spPr>
          <a:xfrm>
            <a:off x="6419672" y="1745752"/>
            <a:ext cx="2981649"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65976" y="1745752"/>
            <a:ext cx="2689041"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выросла на том же месте — та же смена у той же постели, объём чтения и отклонения вырос</a:t>
            </a:r>
          </a:p>
        </p:txBody>
      </p:sp>
      <p:sp>
        <p:nvSpPr>
          <p:cNvPr id="19" name="Rectangle 18"/>
          <p:cNvSpPr/>
          <p:nvPr/>
        </p:nvSpPr>
        <p:spPr>
          <a:xfrm>
            <a:off x="9401321" y="1745752"/>
            <a:ext cx="2250877"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47625" y="1745752"/>
            <a:ext cx="1958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проверка доли подтверждения на своём потоке до включения</a:t>
            </a:r>
          </a:p>
        </p:txBody>
      </p:sp>
      <p:sp>
        <p:nvSpPr>
          <p:cNvPr id="21" name="Rectangle 20"/>
          <p:cNvSpPr/>
          <p:nvPr/>
        </p:nvSpPr>
        <p:spPr>
          <a:xfrm>
            <a:off x="539496" y="2894889"/>
            <a:ext cx="2755877" cy="139527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догнать полосу подтверждения заменённой шкалы: 12 из ста против 8 и 18 у двух других</a:t>
            </a:r>
          </a:p>
        </p:txBody>
      </p:sp>
      <p:sp>
        <p:nvSpPr>
          <p:cNvPr id="23" name="Rectangle 22"/>
          <p:cNvSpPr/>
          <p:nvPr/>
        </p:nvSpPr>
        <p:spPr>
          <a:xfrm>
            <a:off x="3295373" y="2894889"/>
            <a:ext cx="3124298" cy="139527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41677" y="2894889"/>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опередить врача там, где данные попадают в карту после его решения: медианное опережение ноль минут</a:t>
            </a:r>
          </a:p>
        </p:txBody>
      </p:sp>
      <p:sp>
        <p:nvSpPr>
          <p:cNvPr id="25" name="Rectangle 24"/>
          <p:cNvSpPr/>
          <p:nvPr/>
        </p:nvSpPr>
        <p:spPr>
          <a:xfrm>
            <a:off x="6419672" y="2894889"/>
            <a:ext cx="2981649" cy="139527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65976" y="2894889"/>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шаг появился — разбор и отклонение тревоги; в отдельных больницах у него штат</a:t>
            </a:r>
          </a:p>
        </p:txBody>
      </p:sp>
      <p:sp>
        <p:nvSpPr>
          <p:cNvPr id="27" name="Rectangle 26"/>
          <p:cNvSpPr/>
          <p:nvPr/>
        </p:nvSpPr>
        <p:spPr>
          <a:xfrm>
            <a:off x="9401321" y="2894889"/>
            <a:ext cx="2250877" cy="139527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47625" y="2894889"/>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назначенный разбор потока, посчитанный как рабочее время</a:t>
            </a:r>
          </a:p>
        </p:txBody>
      </p:sp>
      <p:sp>
        <p:nvSpPr>
          <p:cNvPr id="29" name="Rectangle 28"/>
          <p:cNvSpPr/>
          <p:nvPr/>
        </p:nvSpPr>
        <p:spPr>
          <a:xfrm>
            <a:off x="539496" y="4290163"/>
            <a:ext cx="275587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90163"/>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различение действующей версии выросло до полосы от 0,82 до 0,92 по четырём системам</a:t>
            </a:r>
          </a:p>
        </p:txBody>
      </p:sp>
      <p:sp>
        <p:nvSpPr>
          <p:cNvPr id="31" name="Rectangle 30"/>
          <p:cNvSpPr/>
          <p:nvPr/>
        </p:nvSpPr>
        <p:spPr>
          <a:xfrm>
            <a:off x="3295373" y="4290163"/>
            <a:ext cx="3124298"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41677" y="4290163"/>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замолчать при сдвинувшейся картине населения: поток вырос с 953 до 1 363 в сутки при упавшей загрузке</a:t>
            </a:r>
          </a:p>
        </p:txBody>
      </p:sp>
      <p:sp>
        <p:nvSpPr>
          <p:cNvPr id="33" name="Rectangle 32"/>
          <p:cNvSpPr/>
          <p:nvPr/>
        </p:nvSpPr>
        <p:spPr>
          <a:xfrm>
            <a:off x="6419672" y="4290163"/>
            <a:ext cx="2981649"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65976" y="4290163"/>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что стало с самой сменой, не измерено: качества её работы до внедрения и после никто не снимал</a:t>
            </a:r>
          </a:p>
        </p:txBody>
      </p:sp>
      <p:sp>
        <p:nvSpPr>
          <p:cNvPr id="35" name="Rectangle 34"/>
          <p:cNvSpPr/>
          <p:nvPr/>
        </p:nvSpPr>
        <p:spPr>
          <a:xfrm>
            <a:off x="9401321" y="4290163"/>
            <a:ext cx="2250877"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47625" y="4290163"/>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правила тишины и порог, пересчитанный под местную распространённость</a:t>
            </a:r>
          </a:p>
        </p:txBody>
      </p:sp>
      <p:sp>
        <p:nvSpPr>
          <p:cNvPr id="37" name="TextBox 36"/>
          <p:cNvSpPr txBox="1"/>
          <p:nvPr/>
        </p:nvSpPr>
        <p:spPr>
          <a:xfrm>
            <a:off x="539496" y="5831741"/>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Тревога без названной базы не предупреждает: она сообщает, что сработал порог, а не что произошло с пациентом.</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82729"/>
          </a:xfrm>
          <a:prstGeom prst="roundRect">
            <a:avLst>
              <a:gd name="adj" fmla="val 611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2799" cy="45630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019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
            </a:r>
          </a:p>
        </p:txBody>
      </p:sp>
      <p:sp>
        <p:nvSpPr>
          <p:cNvPr id="7" name="Rectangle 6"/>
          <p:cNvSpPr/>
          <p:nvPr/>
        </p:nvSpPr>
        <p:spPr>
          <a:xfrm>
            <a:off x="3722295" y="1335024"/>
            <a:ext cx="1242540" cy="456309"/>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8599" y="1335024"/>
            <a:ext cx="949932"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текст</a:t>
            </a:r>
          </a:p>
        </p:txBody>
      </p:sp>
      <p:sp>
        <p:nvSpPr>
          <p:cNvPr id="9" name="Rectangle 8"/>
          <p:cNvSpPr/>
          <p:nvPr/>
        </p:nvSpPr>
        <p:spPr>
          <a:xfrm>
            <a:off x="4964835" y="1335024"/>
            <a:ext cx="2313679" cy="45630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1139" y="1335024"/>
            <a:ext cx="202107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изображение</a:t>
            </a:r>
          </a:p>
        </p:txBody>
      </p:sp>
      <p:sp>
        <p:nvSpPr>
          <p:cNvPr id="11" name="Rectangle 10"/>
          <p:cNvSpPr/>
          <p:nvPr/>
        </p:nvSpPr>
        <p:spPr>
          <a:xfrm>
            <a:off x="7278514" y="1335024"/>
            <a:ext cx="4373684" cy="45630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424818" y="1335024"/>
            <a:ext cx="4081076"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структурированные данные</a:t>
            </a:r>
          </a:p>
        </p:txBody>
      </p:sp>
      <p:sp>
        <p:nvSpPr>
          <p:cNvPr id="13" name="Rectangle 12"/>
          <p:cNvSpPr/>
          <p:nvPr/>
        </p:nvSpPr>
        <p:spPr>
          <a:xfrm>
            <a:off x="539496" y="1791333"/>
            <a:ext cx="3182799" cy="45630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91333"/>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классификация</a:t>
            </a:r>
          </a:p>
        </p:txBody>
      </p:sp>
      <p:sp>
        <p:nvSpPr>
          <p:cNvPr id="15" name="Rectangle 14"/>
          <p:cNvSpPr/>
          <p:nvPr/>
        </p:nvSpPr>
        <p:spPr>
          <a:xfrm>
            <a:off x="3722295" y="1791333"/>
            <a:ext cx="1242540" cy="45630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868599" y="1791333"/>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7" name="Rectangle 16"/>
          <p:cNvSpPr/>
          <p:nvPr/>
        </p:nvSpPr>
        <p:spPr>
          <a:xfrm>
            <a:off x="4964835" y="1791333"/>
            <a:ext cx="2313679" cy="45630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1139" y="1791333"/>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9" name="Rectangle 18"/>
          <p:cNvSpPr/>
          <p:nvPr/>
        </p:nvSpPr>
        <p:spPr>
          <a:xfrm>
            <a:off x="7278514" y="1791333"/>
            <a:ext cx="4373684" cy="45630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424818" y="1791333"/>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1" name="Rectangle 20"/>
          <p:cNvSpPr/>
          <p:nvPr/>
        </p:nvSpPr>
        <p:spPr>
          <a:xfrm>
            <a:off x="539496" y="2247642"/>
            <a:ext cx="3182799" cy="45630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247642"/>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распознавание</a:t>
            </a:r>
          </a:p>
        </p:txBody>
      </p:sp>
      <p:sp>
        <p:nvSpPr>
          <p:cNvPr id="23" name="Rectangle 22"/>
          <p:cNvSpPr/>
          <p:nvPr/>
        </p:nvSpPr>
        <p:spPr>
          <a:xfrm>
            <a:off x="3722295" y="2247642"/>
            <a:ext cx="1242540" cy="45630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868599" y="2247642"/>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5" name="Rectangle 24"/>
          <p:cNvSpPr/>
          <p:nvPr/>
        </p:nvSpPr>
        <p:spPr>
          <a:xfrm>
            <a:off x="4964835" y="2247642"/>
            <a:ext cx="2313679" cy="45630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1139" y="2247642"/>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7" name="Rectangle 26"/>
          <p:cNvSpPr/>
          <p:nvPr/>
        </p:nvSpPr>
        <p:spPr>
          <a:xfrm>
            <a:off x="7278514" y="2247642"/>
            <a:ext cx="4373684" cy="45630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424818" y="2247642"/>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9" name="Rectangle 28"/>
          <p:cNvSpPr/>
          <p:nvPr/>
        </p:nvSpPr>
        <p:spPr>
          <a:xfrm>
            <a:off x="539496" y="2703951"/>
            <a:ext cx="3182799" cy="45630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03951"/>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поиск с генерацией</a:t>
            </a:r>
          </a:p>
        </p:txBody>
      </p:sp>
      <p:sp>
        <p:nvSpPr>
          <p:cNvPr id="31" name="Rectangle 30"/>
          <p:cNvSpPr/>
          <p:nvPr/>
        </p:nvSpPr>
        <p:spPr>
          <a:xfrm>
            <a:off x="3722295" y="2703951"/>
            <a:ext cx="1242540" cy="45630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868599" y="2703951"/>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3" name="Rectangle 32"/>
          <p:cNvSpPr/>
          <p:nvPr/>
        </p:nvSpPr>
        <p:spPr>
          <a:xfrm>
            <a:off x="4964835" y="2703951"/>
            <a:ext cx="2313679" cy="45630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1139" y="2703951"/>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5" name="Rectangle 34"/>
          <p:cNvSpPr/>
          <p:nvPr/>
        </p:nvSpPr>
        <p:spPr>
          <a:xfrm>
            <a:off x="7278514" y="2703951"/>
            <a:ext cx="4373684" cy="45630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424818" y="2703951"/>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7" name="Rectangle 36"/>
          <p:cNvSpPr/>
          <p:nvPr/>
        </p:nvSpPr>
        <p:spPr>
          <a:xfrm>
            <a:off x="539496" y="3160260"/>
            <a:ext cx="3182799" cy="45630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160260"/>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прогноз</a:t>
            </a:r>
          </a:p>
        </p:txBody>
      </p:sp>
      <p:sp>
        <p:nvSpPr>
          <p:cNvPr id="39" name="Rectangle 38"/>
          <p:cNvSpPr/>
          <p:nvPr/>
        </p:nvSpPr>
        <p:spPr>
          <a:xfrm>
            <a:off x="3722295" y="3160260"/>
            <a:ext cx="1242540" cy="45630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868599" y="3160260"/>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1" name="Rectangle 40"/>
          <p:cNvSpPr/>
          <p:nvPr/>
        </p:nvSpPr>
        <p:spPr>
          <a:xfrm>
            <a:off x="4964835" y="3160260"/>
            <a:ext cx="2313679" cy="45630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1139" y="3160260"/>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3" name="Rectangle 42"/>
          <p:cNvSpPr/>
          <p:nvPr/>
        </p:nvSpPr>
        <p:spPr>
          <a:xfrm>
            <a:off x="7278514" y="3160260"/>
            <a:ext cx="4373684" cy="45630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424818" y="3160260"/>
            <a:ext cx="4081076" cy="456309"/>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счёт риска внутри карты</a:t>
            </a:r>
          </a:p>
        </p:txBody>
      </p:sp>
      <p:sp>
        <p:nvSpPr>
          <p:cNvPr id="45" name="TextBox 44"/>
          <p:cNvSpPr txBox="1"/>
          <p:nvPr/>
        </p:nvSpPr>
        <p:spPr>
          <a:xfrm>
            <a:off x="539496" y="3762873"/>
            <a:ext cx="11112703" cy="662650"/>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Полужирным — разобранное в разделе.</a:t>
            </a:r>
            <a:r>
              <a:rPr sz="1650" b="0" i="0">
                <a:solidFill>
                  <a:srgbClr val="21295C"/>
                </a:solidFill>
                <a:latin typeface="Arial"/>
              </a:rPr>
              <a:t> Занята одна клетка из сорока двух, и шесть видов данных из семи пустуют целиком — ни один разбор раздела не читал ни снимка, ни текста.</a:t>
            </a:r>
          </a:p>
        </p:txBody>
      </p:sp>
      <p:sp>
        <p:nvSpPr>
          <p:cNvPr id="46" name="Rounded Rectangle 45"/>
          <p:cNvSpPr/>
          <p:nvPr/>
        </p:nvSpPr>
        <p:spPr>
          <a:xfrm>
            <a:off x="630936" y="4687080"/>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571828"/>
            <a:ext cx="10728655" cy="99397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счёт риска внутри медицинской карты</a:t>
            </a:r>
            <a:r>
              <a:rPr sz="1650" b="0" i="0">
                <a:solidFill>
                  <a:srgbClr val="21295C"/>
                </a:solidFill>
                <a:latin typeface="Arial"/>
              </a:rPr>
              <a:t> — предиктивный модуль поставщика карты: действующая версия модели сепсиса на решающих деревьях с градиентным бустингом, донастроенных на свою больницу; в отечественном реестре — Webiomed</a:t>
            </a:r>
          </a:p>
        </p:txBody>
      </p:sp>
      <p:sp>
        <p:nvSpPr>
          <p:cNvPr id="48" name="Rounded Rectangle 47"/>
          <p:cNvSpPr/>
          <p:nvPr/>
        </p:nvSpPr>
        <p:spPr>
          <a:xfrm>
            <a:off x="630936" y="5827360"/>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712108"/>
            <a:ext cx="10728655" cy="33132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надзор за дрейфом и пересчёт порога</a:t>
            </a:r>
            <a:r>
              <a:rPr sz="1650" b="0" i="0">
                <a:solidFill>
                  <a:srgbClr val="21295C"/>
                </a:solidFill>
                <a:latin typeface="Arial"/>
              </a:rPr>
              <a:t> под своё население — отдельный рынок рядом с моделью</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ПИШЕТ САМ — РЕЖИМ ПОСЧИТАН</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контрольная группа рандомизированного испытания за период наблюдения: восемнадцать секунд улучшения без всякого инструмента</a:t>
            </a:r>
          </a:p>
        </p:txBody>
      </p:sp>
      <p:sp>
        <p:nvSpPr>
          <p:cNvPr id="8" name="Rounded Rectangle 7"/>
          <p:cNvSpPr/>
          <p:nvPr/>
        </p:nvSpPr>
        <p:spPr>
          <a:xfrm>
            <a:off x="6178143"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ЖИВОЙ ПИСЕЦ — РЕЖИМ НАЗВАН И НЕ ПОСЧИТАН</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Приём на двенадцать минут. Пациент рассказывает, врач спрашивает и смотрит — и всё это время держит в голове структуру будущей записи.</a:t>
            </a:r>
          </a:p>
          <a:p>
            <a:pPr algn="l">
              <a:lnSpc>
                <a:spcPct val="126000"/>
              </a:lnSpc>
              <a:spcBef>
                <a:spcPts val="700"/>
              </a:spcBef>
            </a:pPr>
            <a:r>
              <a:rPr sz="1170" b="0" i="0">
                <a:solidFill>
                  <a:srgbClr val="21295C"/>
                </a:solidFill>
                <a:latin typeface="Arial"/>
              </a:rPr>
              <a:t/>
            </a:r>
            <a:r>
              <a:rPr sz="1170" b="1" i="0">
                <a:solidFill>
                  <a:srgbClr val="21295C"/>
                </a:solidFill>
                <a:latin typeface="Arial"/>
              </a:rPr>
              <a:t>Шесть действий стадии.</a:t>
            </a:r>
            <a:r>
              <a:rPr sz="1170" b="0" i="0">
                <a:solidFill>
                  <a:srgbClr val="21295C"/>
                </a:solidFill>
                <a:latin typeface="Arial"/>
              </a:rPr>
              <a:t> 1. Держать структуру в голове во время разговора — жалобы, анамнез, осмотр, диагноз, план · 2. Набрать запись в карту · 3. Вычитать и подписать · 4. Собрать выписной документ по истории болезни и подписать его · 5. Передать документ читателю: участковому врачу, следующему стационару, пациенту · 6. Предъявить запись при разборе случая.</a:t>
            </a:r>
          </a:p>
          <a:p>
            <a:pPr algn="l">
              <a:lnSpc>
                <a:spcPct val="126000"/>
              </a:lnSpc>
              <a:spcBef>
                <a:spcPts val="700"/>
              </a:spcBef>
            </a:pPr>
            <a:r>
              <a:rPr sz="1170" b="0" i="0">
                <a:solidFill>
                  <a:srgbClr val="21295C"/>
                </a:solidFill>
                <a:latin typeface="Arial"/>
              </a:rPr>
              <a:t/>
            </a:r>
            <a:r>
              <a:rPr sz="117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170" b="0" i="0">
                <a:solidFill>
                  <a:srgbClr val="21295C"/>
                </a:solidFill>
                <a:latin typeface="Arial"/>
              </a:rPr>
              <a:t/>
            </a:r>
            <a:r>
              <a:rPr sz="1170" b="1" i="0">
                <a:solidFill>
                  <a:srgbClr val="21295C"/>
                </a:solidFill>
                <a:latin typeface="Arial"/>
              </a:rPr>
              <a:t>Цена обеих ошибок, названная до чисел.</a:t>
            </a:r>
            <a:r>
              <a:rPr sz="1170" b="0" i="0">
                <a:solidFill>
                  <a:srgbClr val="21295C"/>
                </a:solidFill>
                <a:latin typeface="Arial"/>
              </a:rPr>
              <a:t> Записать меньше, чем было, — следующий читатель не узнает о проверенном и назначит заново. Записать то, чего не было, — назначит по ложному основанию.</a:t>
            </a:r>
          </a:p>
          <a:p>
            <a:pPr algn="l">
              <a:lnSpc>
                <a:spcPct val="126000"/>
              </a:lnSpc>
              <a:spcBef>
                <a:spcPts val="700"/>
              </a:spcBef>
            </a:pPr>
            <a:r>
              <a:rPr sz="1170" b="0" i="0">
                <a:solidFill>
                  <a:srgbClr val="21295C"/>
                </a:solidFill>
                <a:latin typeface="Arial"/>
              </a:rPr>
              <a:t/>
            </a:r>
            <a:r>
              <a:rPr sz="1170" b="0" i="0">
                <a:solidFill>
                  <a:srgbClr val="21295C"/>
                </a:solidFill>
                <a:latin typeface="Arial"/>
              </a:rPr>
              <a:t>• Обе ошибки платит тот, кто в этом приёме не участвовал: следующий врач и сам пациент</a:t>
            </a:r>
          </a:p>
          <a:p>
            <a:pPr algn="l">
              <a:lnSpc>
                <a:spcPct val="126000"/>
              </a:lnSpc>
              <a:spcBef>
                <a:spcPts val="700"/>
              </a:spcBef>
            </a:pPr>
            <a:r>
              <a:rPr sz="1170" b="0" i="0">
                <a:solidFill>
                  <a:srgbClr val="21295C"/>
                </a:solidFill>
                <a:latin typeface="Arial"/>
              </a:rPr>
              <a:t/>
            </a:r>
            <a:r>
              <a:rPr sz="1170" b="0" i="0">
                <a:solidFill>
                  <a:srgbClr val="21295C"/>
                </a:solidFill>
                <a:latin typeface="Arial"/>
              </a:rPr>
              <a:t>• Пропуск в записи и отсутствие события выглядят для читателя одинаково</a:t>
            </a:r>
          </a:p>
          <a:p>
            <a:pPr algn="l">
              <a:lnSpc>
                <a:spcPct val="126000"/>
              </a:lnSpc>
              <a:spcBef>
                <a:spcPts val="700"/>
              </a:spcBef>
            </a:pPr>
            <a:r>
              <a:rPr sz="1170" b="0" i="0">
                <a:solidFill>
                  <a:srgbClr val="21295C"/>
                </a:solidFill>
                <a:latin typeface="Arial"/>
              </a:rPr>
              <a:t/>
            </a:r>
            <a:r>
              <a:rPr sz="1170" b="1" i="0">
                <a:solidFill>
                  <a:srgbClr val="21295C"/>
                </a:solidFill>
                <a:latin typeface="Arial"/>
              </a:rPr>
              <a:t>Восемнадцать секунд улучшения без всякого инструмента — это ход времени и практика: всякое «стало быстрее» считают против этой величины.</a:t>
            </a:r>
          </a:p>
        </p:txBody>
      </p:sp>
      <p:sp>
        <p:nvSpPr>
          <p:cNvPr id="13" name="Rectangle 12"/>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врач держит структуру в голове и печатает сам; модель вошла в два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набор заметки · сборку выписного документа; структура разговора, подпись, передача документа и предъявление при разборе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Структуру документа врач держит в голове при живом человеке</a:t>
            </a:r>
          </a:p>
          <a:p>
            <a:pPr algn="l">
              <a:lnSpc>
                <a:spcPct val="126000"/>
              </a:lnSpc>
            </a:pPr>
            <a:r>
              <a:rPr sz="1300" b="0" i="0">
                <a:solidFill>
                  <a:srgbClr val="21295C"/>
                </a:solidFill>
                <a:latin typeface="Arial"/>
              </a:rPr>
              <a:t>• Текст набирает сам — или его пишет писец, сидящий рядом</a:t>
            </a:r>
          </a:p>
          <a:p>
            <a:pPr algn="l">
              <a:lnSpc>
                <a:spcPct val="126000"/>
              </a:lnSpc>
            </a:pPr>
            <a:r>
              <a:rPr sz="1300" b="0" i="0">
                <a:solidFill>
                  <a:srgbClr val="21295C"/>
                </a:solidFill>
                <a:latin typeface="Arial"/>
              </a:rPr>
              <a:t>• Вычитывает своё: глаз настроен на опечатку и пропуск</a:t>
            </a:r>
          </a:p>
          <a:p>
            <a:pPr algn="l">
              <a:lnSpc>
                <a:spcPct val="126000"/>
              </a:lnSpc>
            </a:pPr>
            <a:r>
              <a:rPr sz="1300" b="0" i="0">
                <a:solidFill>
                  <a:srgbClr val="21295C"/>
                </a:solidFill>
                <a:latin typeface="Arial"/>
              </a:rPr>
              <a:t>• Выписной документ собирает по истории болезни руками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Действие 2: черновик заметки готов к концу приёма</a:t>
            </a:r>
          </a:p>
          <a:p>
            <a:pPr algn="l">
              <a:lnSpc>
                <a:spcPct val="126000"/>
              </a:lnSpc>
            </a:pPr>
            <a:r>
              <a:rPr sz="1200" b="0" i="0">
                <a:solidFill>
                  <a:srgbClr val="21295C"/>
                </a:solidFill>
                <a:latin typeface="Arial"/>
              </a:rPr>
              <a:t>• Действие 4: выписной документ собирается по карте целиком</a:t>
            </a:r>
          </a:p>
          <a:p>
            <a:pPr algn="l">
              <a:lnSpc>
                <a:spcPct val="126000"/>
              </a:lnSpc>
            </a:pPr>
            <a:r>
              <a:rPr sz="1200" b="0" i="0">
                <a:solidFill>
                  <a:srgbClr val="21295C"/>
                </a:solidFill>
                <a:latin typeface="Arial"/>
              </a:rPr>
              <a:t>• Действие 1 снято: структуру во время разговора держит инструмент</a:t>
            </a:r>
          </a:p>
          <a:p>
            <a:pPr algn="l">
              <a:lnSpc>
                <a:spcPct val="126000"/>
              </a:lnSpc>
            </a:pPr>
            <a:r>
              <a:rPr sz="1200" b="0" i="0">
                <a:solidFill>
                  <a:srgbClr val="21295C"/>
                </a:solidFill>
                <a:latin typeface="Arial"/>
              </a:rPr>
              <a:t>• Новый шаг: вычитать чужой текст и найти то, чего не было</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Снять обязанность вычитки: подпись остаётся человеческой, и при разборе случая разбирать будут её</a:t>
            </a:r>
          </a:p>
          <a:p>
            <a:pPr algn="l">
              <a:lnSpc>
                <a:spcPct val="126000"/>
              </a:lnSpc>
              <a:spcBef>
                <a:spcPts val="700"/>
              </a:spcBef>
            </a:pPr>
            <a:r>
              <a:rPr sz="1290" b="0" i="0">
                <a:solidFill>
                  <a:srgbClr val="21295C"/>
                </a:solidFill>
                <a:latin typeface="Arial"/>
              </a:rPr>
              <a:t/>
            </a:r>
            <a:r>
              <a:rPr sz="1290" b="0" i="0">
                <a:solidFill>
                  <a:srgbClr val="21295C"/>
                </a:solidFill>
                <a:latin typeface="Arial"/>
              </a:rPr>
              <a:t>• Сократить активное время правки: набор текста упал, правка осталась прежней</a:t>
            </a:r>
          </a:p>
          <a:p>
            <a:pPr algn="l">
              <a:lnSpc>
                <a:spcPct val="126000"/>
              </a:lnSpc>
              <a:spcBef>
                <a:spcPts val="700"/>
              </a:spcBef>
            </a:pPr>
            <a:r>
              <a:rPr sz="1290" b="0" i="0">
                <a:solidFill>
                  <a:srgbClr val="21295C"/>
                </a:solidFill>
                <a:latin typeface="Arial"/>
              </a:rPr>
              <a:t/>
            </a:r>
            <a:r>
              <a:rPr sz="1290" b="0" i="0">
                <a:solidFill>
                  <a:srgbClr val="21295C"/>
                </a:solidFill>
                <a:latin typeface="Arial"/>
              </a:rPr>
              <a:t>• Отличить правдоподобное от записанного — без привязки каждой строки к месту в карте-источнике</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снимает не время, а необходимость держать структуру в голове при живом человеке.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проспективный пилот, JAMA Network Open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592276"/>
          </a:xfrm>
          <a:prstGeom prst="roundRect">
            <a:avLst>
              <a:gd name="adj" fmla="val 11758"/>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4018740"/>
            <a:ext cx="11441887" cy="2217467"/>
          </a:xfrm>
          <a:prstGeom prst="roundRect">
            <a:avLst>
              <a:gd name="adj" fmla="val 137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110180"/>
            <a:ext cx="11112703" cy="212602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6226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47141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491946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195744"/>
            <a:ext cx="11441887" cy="104046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287184"/>
            <a:ext cx="11112703" cy="9490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пятибалльной шкале; общее качество при этом сопоставимо — 3,67 у врачей против 3,77 у модели; машинные версии сжатее и связнее</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сто случайно отобранных госпитализаций продолжительностью от трёх до шести дней</a:t>
            </a:r>
          </a:p>
        </p:txBody>
      </p:sp>
      <p:sp>
        <p:nvSpPr>
          <p:cNvPr id="12" name="Rounded Rectangle 11"/>
          <p:cNvSpPr/>
          <p:nvPr/>
        </p:nvSpPr>
        <p:spPr>
          <a:xfrm>
            <a:off x="8069884"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 ЧЕЛОВЕК → МОДЕЛЬ</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шкала от нуля до семи — обе оценки низкие и между собой не различаются; ошибок с потенциалом необратимого вреда шесть у модели и пять у врачей</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Форма 7 словаря: 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МАШИННОЕ СОДЕРЖАНИЕ ВРАЧИ ИСПОЛЬЗОВАЛИ</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57 из ста; система выдала 1 274 сводки на эти 384 выписки</a:t>
            </a:r>
          </a:p>
        </p:txBody>
      </p:sp>
      <p:sp>
        <p:nvSpPr>
          <p:cNvPr id="8" name="Rounded Rectangle 7"/>
          <p:cNvSpPr/>
          <p:nvPr/>
        </p:nvSpPr>
        <p:spPr>
          <a:xfrm>
            <a:off x="3340531"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СОТНЕ СВОДОК ПРОСПЕКТИВНОГО ПИЛОТА</a:t>
            </a:r>
          </a:p>
        </p:txBody>
      </p:sp>
      <p:sp>
        <p:nvSpPr>
          <p:cNvPr id="10" name="TextBox 9"/>
          <p:cNvSpPr txBox="1"/>
          <p:nvPr/>
        </p:nvSpPr>
        <p:spPr>
          <a:xfrm>
            <a:off x="3477691" y="1863689"/>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392538"/>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ошибок и определения здесь другие, чем в слепом сравнении, и в один список они не складываются</a:t>
            </a:r>
          </a:p>
        </p:txBody>
      </p:sp>
      <p:sp>
        <p:nvSpPr>
          <p:cNvPr id="12" name="Rounded Rectangle 11"/>
          <p:cNvSpPr/>
          <p:nvPr/>
        </p:nvSpPr>
        <p:spPr>
          <a:xfrm>
            <a:off x="6178143"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 СТА НЕОТРЕДАКТИРОВАННЫХ СВОДОК</a:t>
            </a:r>
          </a:p>
        </p:txBody>
      </p:sp>
      <p:sp>
        <p:nvSpPr>
          <p:cNvPr id="14" name="TextBox 13"/>
          <p:cNvSpPr txBox="1"/>
          <p:nvPr/>
        </p:nvSpPr>
        <p:spPr>
          <a:xfrm>
            <a:off x="6315303" y="1863689"/>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255292"/>
          </a:xfrm>
          <a:prstGeom prst="roundRect">
            <a:avLst>
              <a:gd name="adj" fmla="val 1351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898642"/>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одна из трёх работ не считает в тех определениях, в которых тройку пересказывают</a:t>
            </a:r>
          </a:p>
        </p:txBody>
      </p:sp>
      <p:sp>
        <p:nvSpPr>
          <p:cNvPr id="19" name="Rounded Rectangle 18"/>
          <p:cNvSpPr/>
          <p:nvPr/>
        </p:nvSpPr>
        <p:spPr>
          <a:xfrm>
            <a:off x="374904" y="3681756"/>
            <a:ext cx="11441887" cy="2554451"/>
          </a:xfrm>
          <a:prstGeom prst="roundRect">
            <a:avLst>
              <a:gd name="adj" fmla="val 11932"/>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73196"/>
            <a:ext cx="11112703" cy="2463011"/>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Чего это потребовало — вычитки другого рода, которой никто не учит.</a:t>
            </a:r>
            <a:r>
              <a:rPr sz="123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230" b="0" i="0">
                <a:solidFill>
                  <a:srgbClr val="21295C"/>
                </a:solidFill>
                <a:latin typeface="Arial"/>
              </a:rPr>
              <a:t/>
            </a:r>
            <a:r>
              <a:rPr sz="1230" b="1" i="0">
                <a:solidFill>
                  <a:srgbClr val="21295C"/>
                </a:solidFill>
                <a:latin typeface="Arial"/>
              </a:rPr>
              <a:t>А теперь то, что по этому случаю чаще всего и пересказывают.</a:t>
            </a:r>
            <a:r>
              <a:rPr sz="123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230" b="0" i="0">
                <a:solidFill>
                  <a:srgbClr val="21295C"/>
                </a:solidFill>
                <a:latin typeface="Arial"/>
              </a:rPr>
              <a:t/>
            </a:r>
            <a:r>
              <a:rPr sz="1230" b="1" i="0">
                <a:solidFill>
                  <a:srgbClr val="21295C"/>
                </a:solidFill>
                <a:latin typeface="Arial"/>
              </a:rPr>
              <a:t>Построчное чтение трёх доступных первоисточников этой тройки не даёт.</a:t>
            </a:r>
            <a:r>
              <a:rPr sz="123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230" b="0" i="0">
                <a:solidFill>
                  <a:srgbClr val="21295C"/>
                </a:solidFill>
                <a:latin typeface="Arial"/>
              </a:rPr>
              <a:t/>
            </a:r>
            <a:r>
              <a:rPr sz="123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Проспективный пилот, JAMA Network Open 2026</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2164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2904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361145" y="1335024"/>
            <a:ext cx="3094724"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507449" y="1335024"/>
            <a:ext cx="28021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6455869" y="1335024"/>
            <a:ext cx="2614377"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2173" y="1335024"/>
            <a:ext cx="23217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9070247" y="1335024"/>
            <a:ext cx="2581951"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16551" y="1335024"/>
            <a:ext cx="228934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82164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заметка готова к концу приёма, а не к концу дня; документ короче и связнее</a:t>
            </a:r>
          </a:p>
        </p:txBody>
      </p:sp>
      <p:sp>
        <p:nvSpPr>
          <p:cNvPr id="15" name="Rectangle 14"/>
          <p:cNvSpPr/>
          <p:nvPr/>
        </p:nvSpPr>
        <p:spPr>
          <a:xfrm>
            <a:off x="3361145" y="1763984"/>
            <a:ext cx="3094724"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07449" y="1763984"/>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подтвердить заявленную экономию: 15 791 час на 63 000 приёмов посчитаны без раскрытой методики</a:t>
            </a:r>
          </a:p>
        </p:txBody>
      </p:sp>
      <p:sp>
        <p:nvSpPr>
          <p:cNvPr id="17" name="Rectangle 16"/>
          <p:cNvSpPr/>
          <p:nvPr/>
        </p:nvSpPr>
        <p:spPr>
          <a:xfrm>
            <a:off x="6455869" y="1763984"/>
            <a:ext cx="2614377"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02173" y="1763984"/>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набора текста на вычитку чужого</a:t>
            </a:r>
          </a:p>
        </p:txBody>
      </p:sp>
      <p:sp>
        <p:nvSpPr>
          <p:cNvPr id="19" name="Rectangle 18"/>
          <p:cNvSpPr/>
          <p:nvPr/>
        </p:nvSpPr>
        <p:spPr>
          <a:xfrm>
            <a:off x="9070247" y="1763984"/>
            <a:ext cx="2581951"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16551" y="1763984"/>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вычитка и подпись врача: подпись остаётся человеческой</a:t>
            </a:r>
          </a:p>
        </p:txBody>
      </p:sp>
      <p:sp>
        <p:nvSpPr>
          <p:cNvPr id="21" name="Rectangle 20"/>
          <p:cNvSpPr/>
          <p:nvPr/>
        </p:nvSpPr>
        <p:spPr>
          <a:xfrm>
            <a:off x="539496" y="2986051"/>
            <a:ext cx="282164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необходимость держать структуру документа в голове при живом человеке</a:t>
            </a:r>
          </a:p>
        </p:txBody>
      </p:sp>
      <p:sp>
        <p:nvSpPr>
          <p:cNvPr id="23" name="Rectangle 22"/>
          <p:cNvSpPr/>
          <p:nvPr/>
        </p:nvSpPr>
        <p:spPr>
          <a:xfrm>
            <a:off x="3361145" y="2986051"/>
            <a:ext cx="3094724"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07449" y="2986051"/>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сократить активное время правки: оно не изменилось ни у одного из двух инструментов</a:t>
            </a:r>
          </a:p>
        </p:txBody>
      </p:sp>
      <p:sp>
        <p:nvSpPr>
          <p:cNvPr id="25" name="Rectangle 24"/>
          <p:cNvSpPr/>
          <p:nvPr/>
        </p:nvSpPr>
        <p:spPr>
          <a:xfrm>
            <a:off x="6455869" y="2986051"/>
            <a:ext cx="2614377"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02173" y="2986051"/>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шаг появился — выборочный контроль заметок, и у него постоянный штат</a:t>
            </a:r>
          </a:p>
        </p:txBody>
      </p:sp>
      <p:sp>
        <p:nvSpPr>
          <p:cNvPr id="27" name="Rectangle 26"/>
          <p:cNvSpPr/>
          <p:nvPr/>
        </p:nvSpPr>
        <p:spPr>
          <a:xfrm>
            <a:off x="9070247" y="2986051"/>
            <a:ext cx="2581951"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16551" y="2986051"/>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выборочный контроль: 3 600 отзывов врачей и 1 252 анкеты в отчёте одной клиники</a:t>
            </a:r>
          </a:p>
        </p:txBody>
      </p:sp>
      <p:sp>
        <p:nvSpPr>
          <p:cNvPr id="29" name="Rectangle 28"/>
          <p:cNvSpPr/>
          <p:nvPr/>
        </p:nvSpPr>
        <p:spPr>
          <a:xfrm>
            <a:off x="539496" y="4208118"/>
            <a:ext cx="2821649" cy="148643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529041"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писать быстрее — измерено у одного из двух инструментов: 9,5 процента времени в заметке</a:t>
            </a:r>
          </a:p>
        </p:txBody>
      </p:sp>
      <p:sp>
        <p:nvSpPr>
          <p:cNvPr id="31" name="Rectangle 30"/>
          <p:cNvSpPr/>
          <p:nvPr/>
        </p:nvSpPr>
        <p:spPr>
          <a:xfrm>
            <a:off x="3361145" y="4208118"/>
            <a:ext cx="3094724" cy="148643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07449" y="4208118"/>
            <a:ext cx="2802116"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написать полнее человека: 3,72 против 4,13, и уникальных ошибок 2,91 против 1,82</a:t>
            </a:r>
          </a:p>
        </p:txBody>
      </p:sp>
      <p:sp>
        <p:nvSpPr>
          <p:cNvPr id="33" name="Rectangle 32"/>
          <p:cNvSpPr/>
          <p:nvPr/>
        </p:nvSpPr>
        <p:spPr>
          <a:xfrm>
            <a:off x="6455869" y="4208118"/>
            <a:ext cx="2614377" cy="148643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02173" y="4208118"/>
            <a:ext cx="2321769"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сместилась цена ошибки — искать надо не опечатку, а правдоподобную подробность</a:t>
            </a:r>
          </a:p>
        </p:txBody>
      </p:sp>
      <p:sp>
        <p:nvSpPr>
          <p:cNvPr id="35" name="Rectangle 34"/>
          <p:cNvSpPr/>
          <p:nvPr/>
        </p:nvSpPr>
        <p:spPr>
          <a:xfrm>
            <a:off x="9070247" y="4208118"/>
            <a:ext cx="2581951" cy="1486435"/>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16551" y="4208118"/>
            <a:ext cx="2289343"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вычитке другого рода никто не учит: такой подготовки нет</a:t>
            </a:r>
          </a:p>
        </p:txBody>
      </p:sp>
      <p:sp>
        <p:nvSpPr>
          <p:cNvPr id="37" name="TextBox 36"/>
          <p:cNvSpPr txBox="1"/>
          <p:nvPr/>
        </p:nvSpPr>
        <p:spPr>
          <a:xfrm>
            <a:off x="539496" y="5840857"/>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 этому документу назначают — и когда что-то произойдёт, разбирать будут подпись.</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32081"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3947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871577" y="1335024"/>
            <a:ext cx="388476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017881" y="1335024"/>
            <a:ext cx="359215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6756337" y="1335024"/>
            <a:ext cx="170624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902641" y="1335024"/>
            <a:ext cx="141363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462579" y="1335024"/>
            <a:ext cx="3189619"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08883" y="1335024"/>
            <a:ext cx="28970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332081"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871577" y="1763984"/>
            <a:ext cx="388476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17881" y="1763984"/>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6756337" y="1763984"/>
            <a:ext cx="1706241"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902641" y="1763984"/>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9" name="Rectangle 18"/>
          <p:cNvSpPr/>
          <p:nvPr/>
        </p:nvSpPr>
        <p:spPr>
          <a:xfrm>
            <a:off x="8462579" y="1763984"/>
            <a:ext cx="3189619"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08883" y="1763984"/>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332081"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871577" y="2192945"/>
            <a:ext cx="388476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17881" y="2192945"/>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6756337" y="2192945"/>
            <a:ext cx="1706241"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902641" y="2192945"/>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7" name="Rectangle 26"/>
          <p:cNvSpPr/>
          <p:nvPr/>
        </p:nvSpPr>
        <p:spPr>
          <a:xfrm>
            <a:off x="8462579" y="2192945"/>
            <a:ext cx="3189619"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08883" y="2192945"/>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332081"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871577" y="2621906"/>
            <a:ext cx="388476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17881" y="2621906"/>
            <a:ext cx="359215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запись приёма · выписной эпикриз</a:t>
            </a:r>
          </a:p>
        </p:txBody>
      </p:sp>
      <p:sp>
        <p:nvSpPr>
          <p:cNvPr id="33" name="Rectangle 32"/>
          <p:cNvSpPr/>
          <p:nvPr/>
        </p:nvSpPr>
        <p:spPr>
          <a:xfrm>
            <a:off x="6756337" y="2621906"/>
            <a:ext cx="1706241"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902641" y="262190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462579" y="2621906"/>
            <a:ext cx="3189619"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08883" y="262190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332081"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871577" y="3050866"/>
            <a:ext cx="388476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17881" y="3050866"/>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6756337" y="3050866"/>
            <a:ext cx="1706241"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902641" y="305086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462579" y="3050866"/>
            <a:ext cx="3189619"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08883" y="305086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Занята одна клетка из сорока двух, обе работы раздела в ней вдвоём.</a:t>
            </a:r>
          </a:p>
        </p:txBody>
      </p:sp>
      <p:sp>
        <p:nvSpPr>
          <p:cNvPr id="46" name="Rounded Rectangle 45"/>
          <p:cNvSpPr/>
          <p:nvPr/>
        </p:nvSpPr>
        <p:spPr>
          <a:xfrm>
            <a:off x="630936" y="417930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074526"/>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запись приёма в фоне с черновиком заметки</a:t>
            </a:r>
            <a:r>
              <a:rPr sz="1500" b="0" i="0">
                <a:solidFill>
                  <a:srgbClr val="21295C"/>
                </a:solidFill>
                <a:latin typeface="Arial"/>
              </a:rPr>
              <a:t> — Abridge · Ambience · Microsoft Dragon Copilot (прежний Nuance DAX) · Nabla · Suki · Heidi; принимается массово, и принимается как черновик</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генерация клинических документов внутри карты</a:t>
            </a:r>
            <a:r>
              <a:rPr sz="1500" b="0" i="0">
                <a:solidFill>
                  <a:srgbClr val="21295C"/>
                </a:solidFill>
                <a:latin typeface="Arial"/>
              </a:rPr>
              <a:t> — сводка событий госпитализации; отдельно сводка со ссылкой на место в карте-источнике</a:t>
            </a:r>
          </a:p>
        </p:txBody>
      </p:sp>
      <p:sp>
        <p:nvSpPr>
          <p:cNvPr id="50" name="TextBox 49"/>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Вход у записи приёма звуковой, а клетка стоит по выходу: решение принимается по тексту, и вычитывают текст.</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2 обзора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два обзора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Регламент (ЕС) 2024/1689, статья 14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62972"/>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На столе</a:t>
            </a:r>
          </a:p>
        </p:txBody>
      </p:sp>
      <p:sp>
        <p:nvSpPr>
          <p:cNvPr id="17" name="Rounded Rectangle 16"/>
          <p:cNvSpPr/>
          <p:nvPr/>
        </p:nvSpPr>
        <p:spPr>
          <a:xfrm>
            <a:off x="1920240"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68035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68035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680351"/>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20804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84319"/>
            <a:ext cx="11441887" cy="2751888"/>
          </a:xfrm>
          <a:prstGeom prst="roundRect">
            <a:avLst>
              <a:gd name="adj" fmla="val 11076"/>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575759"/>
            <a:ext cx="11112703" cy="2660448"/>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пациентка шестидесяти восьми лет выписана через четыре дня и вернулась через сутки с осложнением.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подпись физического лица, юридический акт · 2. Объяснить вмешательство, риски и альтернативы и взять согласие · 3. Прочесть вторым читателем независимо · 4. Разрешить расхождение арбитражем · 5. Собрать комиссию по случаю после исхода · 6. Сверить действия с утверждённым порядком и назвать расхождение · 7. Поправить порядок по итогам разбора.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и каждое записано: порядок оказания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Какой вопрос решают.</a:t>
            </a:r>
            <a:r>
              <a:rPr sz="1200" b="0" i="0">
                <a:solidFill>
                  <a:srgbClr val="21295C"/>
                </a:solidFill>
                <a:latin typeface="Arial"/>
              </a:rPr>
              <a:t> Один: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a:p>
            <a:pPr algn="l">
              <a:lnSpc>
                <a:spcPct val="126000"/>
              </a:lnSpc>
              <a:spcBef>
                <a:spcPts val="700"/>
              </a:spcBef>
            </a:pPr>
            <a:r>
              <a:rPr sz="960" b="0" i="0">
                <a:solidFill>
                  <a:srgbClr val="21295C"/>
                </a:solidFill>
                <a:latin typeface="Arial"/>
              </a:rPr>
              <a:t/>
            </a:r>
            <a:r>
              <a:rPr sz="96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каждое действие записано в документе; модель не вошла ни в одно из семи, и в трёх местах процедура против неё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в одно действие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подпись, согласие, независимое чтение, арбитраж, комиссия, сверка с порядком, правка порядка — всё осталось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Подпись — юридический акт физического лица</a:t>
            </a:r>
          </a:p>
          <a:p>
            <a:pPr algn="l">
              <a:lnSpc>
                <a:spcPct val="126000"/>
              </a:lnSpc>
            </a:pPr>
            <a:r>
              <a:rPr sz="1400" b="0" i="0">
                <a:solidFill>
                  <a:srgbClr val="21295C"/>
                </a:solidFill>
                <a:latin typeface="Arial"/>
              </a:rPr>
              <a:t>• Второй читатель не видел заключения первого</a:t>
            </a:r>
          </a:p>
          <a:p>
            <a:pPr algn="l">
              <a:lnSpc>
                <a:spcPct val="126000"/>
              </a:lnSpc>
            </a:pPr>
            <a:r>
              <a:rPr sz="1400" b="0" i="0">
                <a:solidFill>
                  <a:srgbClr val="21295C"/>
                </a:solidFill>
                <a:latin typeface="Arial"/>
              </a:rPr>
              <a:t>• Комиссия сверяет с порядком и правит порядок</a:t>
            </a:r>
          </a:p>
          <a:p>
            <a:pPr algn="l">
              <a:lnSpc>
                <a:spcPct val="126000"/>
              </a:lnSpc>
            </a:pPr>
            <a:r>
              <a:rPr sz="1400" b="0" i="0">
                <a:solidFill>
                  <a:srgbClr val="21295C"/>
                </a:solidFill>
                <a:latin typeface="Arial"/>
              </a:rPr>
              <a:t>• Процедура ждёт усталости, спешки, пробела в знании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Подписать ей нечем: права подписи нет</a:t>
            </a:r>
          </a:p>
          <a:p>
            <a:pPr algn="l">
              <a:lnSpc>
                <a:spcPct val="126000"/>
              </a:lnSpc>
            </a:pPr>
            <a:r>
              <a:rPr sz="1400" b="0" i="0">
                <a:solidFill>
                  <a:srgbClr val="21295C"/>
                </a:solidFill>
                <a:latin typeface="Arial"/>
              </a:rPr>
              <a:t>• Оба читателя видят одну подсказку</a:t>
            </a:r>
          </a:p>
          <a:p>
            <a:pPr algn="l">
              <a:lnSpc>
                <a:spcPct val="126000"/>
              </a:lnSpc>
            </a:pPr>
            <a:r>
              <a:rPr sz="1400" b="0" i="0">
                <a:solidFill>
                  <a:srgbClr val="21295C"/>
                </a:solidFill>
                <a:latin typeface="Arial"/>
              </a:rPr>
              <a:t>• Вывод модели лежит на том же столе</a:t>
            </a:r>
          </a:p>
          <a:p>
            <a:pPr algn="l">
              <a:lnSpc>
                <a:spcPct val="126000"/>
              </a:lnSpc>
            </a:pPr>
            <a:r>
              <a:rPr sz="1400" b="0" i="0">
                <a:solidFill>
                  <a:srgbClr val="21295C"/>
                </a:solidFill>
                <a:latin typeface="Arial"/>
              </a:rPr>
              <a:t>• Ошибка уверенная и одинаковая на всех случаях</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60" b="1" i="0">
                <a:solidFill>
                  <a:srgbClr val="21295C"/>
                </a:solidFill>
                <a:latin typeface="Arial"/>
              </a:rPr>
              <a:t>И три места, где процедура не работает против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Она собрана под человеческую ошибку, а машинная повторяется на всех похожих случаях сразу</a:t>
            </a:r>
          </a:p>
          <a:p>
            <a:pPr algn="l">
              <a:lnSpc>
                <a:spcPct val="126000"/>
              </a:lnSpc>
              <a:spcBef>
                <a:spcPts val="700"/>
              </a:spcBef>
            </a:pPr>
            <a:r>
              <a:rPr sz="1260" b="0" i="0">
                <a:solidFill>
                  <a:srgbClr val="21295C"/>
                </a:solidFill>
                <a:latin typeface="Arial"/>
              </a:rPr>
              <a:t/>
            </a:r>
            <a:r>
              <a:rPr sz="1260" b="0" i="0">
                <a:solidFill>
                  <a:srgbClr val="21295C"/>
                </a:solidFill>
                <a:latin typeface="Arial"/>
              </a:rPr>
              <a:t>• Оценить модель она не умеет: порядок про модель молчит, пока его не перепишут</a:t>
            </a:r>
          </a:p>
          <a:p>
            <a:pPr algn="l">
              <a:lnSpc>
                <a:spcPct val="126000"/>
              </a:lnSpc>
              <a:spcBef>
                <a:spcPts val="700"/>
              </a:spcBef>
            </a:pPr>
            <a:r>
              <a:rPr sz="1260" b="0" i="0">
                <a:solidFill>
                  <a:srgbClr val="21295C"/>
                </a:solidFill>
                <a:latin typeface="Arial"/>
              </a:rPr>
              <a:t/>
            </a:r>
            <a:r>
              <a:rPr sz="1260" b="0" i="0">
                <a:solidFill>
                  <a:srgbClr val="21295C"/>
                </a:solidFill>
                <a:latin typeface="Arial"/>
              </a:rPr>
              <a:t>• Норма требует, чтобы человек мог возразить и остановить, — а при допуске это проверяют редко</a:t>
            </a:r>
          </a:p>
          <a:p>
            <a:pPr algn="l">
              <a:lnSpc>
                <a:spcPct val="126000"/>
              </a:lnSpc>
              <a:spcBef>
                <a:spcPts val="700"/>
              </a:spcBef>
            </a:pPr>
            <a:r>
              <a:rPr sz="1260" b="0" i="0">
                <a:solidFill>
                  <a:srgbClr val="21295C"/>
                </a:solidFill>
                <a:latin typeface="Arial"/>
              </a:rPr>
              <a:t/>
            </a:r>
            <a:r>
              <a:rPr sz="1260" b="1" i="0">
                <a:solidFill>
                  <a:srgbClr val="21295C"/>
                </a:solidFill>
                <a:latin typeface="Arial"/>
              </a:rPr>
              <a:t>Удерживает то, что стоит за подписью: время прочитать, способность возразить и процедура, в которой возражение чем-то кончается.</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перекрёстный план; девять пунктов посчитаны против ОДНОГО читателя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ВТОРОЕ МНЕНИЕ ВТОРОГО ЧЕЛОВЕКА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второго читателя в этом опыте не было, и сколько из девяти пунктов осталось бы при сравнении с парой людей, он не говорит</a:t>
            </a:r>
          </a:p>
        </p:txBody>
      </p:sp>
      <p:sp>
        <p:nvSpPr>
          <p:cNvPr id="16" name="TextBox 15"/>
          <p:cNvSpPr txBox="1"/>
          <p:nvPr/>
        </p:nvSpPr>
        <p:spPr>
          <a:xfrm>
            <a:off x="502920" y="341934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Процедура</a:t>
            </a:r>
          </a:p>
        </p:txBody>
      </p:sp>
      <p:sp>
        <p:nvSpPr>
          <p:cNvPr id="17" name="Rounded Rectangle 16"/>
          <p:cNvSpPr/>
          <p:nvPr/>
        </p:nvSpPr>
        <p:spPr>
          <a:xfrm>
            <a:off x="1920240"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5427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8765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152827"/>
            <a:ext cx="11441887" cy="2083380"/>
          </a:xfrm>
          <a:prstGeom prst="roundRect">
            <a:avLst>
              <a:gd name="adj" fmla="val 1463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44267"/>
            <a:ext cx="11112703" cy="19919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41,7 процента</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в скрываемой зоне остаются случаи, где модель права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ПЛАНИРОВАНИЕ СМЕН — ВРЕМЯ НА ГРАФИК</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32,0 → 6,0 часа в месяц</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81,2 процента; обученной модели внутри нет — это задача комбинаторной оптимизации с ограничениями, и формы словаря случай поэтому не получает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и для контраста.</a:t>
            </a:r>
            <a:r>
              <a:rPr sz="150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r>
              <a:rPr sz="1100" b="0" i="1">
                <a:solidFill>
                  <a:srgbClr val="1C7293"/>
                </a:solidFill>
                <a:latin typeface="Arial"/>
              </a:rPr>
              <a:t> · </a:t>
            </a:r>
            <a:r>
              <a:rPr sz="11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Разработчик</a:t>
            </a:r>
          </a:p>
          <a:p>
            <a:pPr algn="ctr">
              <a:lnSpc>
                <a:spcPct val="112000"/>
              </a:lnSpc>
            </a:pPr>
            <a:r>
              <a:rPr sz="11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Врач</a:t>
            </a:r>
          </a:p>
          <a:p>
            <a:pPr algn="ctr">
              <a:lnSpc>
                <a:spcPct val="112000"/>
              </a:lnSpc>
            </a:pPr>
            <a:r>
              <a:rPr sz="11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Больница</a:t>
            </a:r>
          </a:p>
          <a:p>
            <a:pPr algn="ctr">
              <a:lnSpc>
                <a:spcPct val="112000"/>
              </a:lnSpc>
            </a:pPr>
            <a:r>
              <a:rPr sz="11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Регулятор</a:t>
            </a:r>
          </a:p>
          <a:p>
            <a:pPr algn="ctr">
              <a:lnSpc>
                <a:spcPct val="112000"/>
              </a:lnSpc>
            </a:pPr>
            <a:r>
              <a:rPr sz="11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57754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853821"/>
            <a:ext cx="11441887" cy="3382386"/>
          </a:xfrm>
          <a:prstGeom prst="roundRect">
            <a:avLst>
              <a:gd name="adj" fmla="val 901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45261"/>
            <a:ext cx="11112703" cy="32909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21666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492947"/>
            <a:ext cx="11441887" cy="3743260"/>
          </a:xfrm>
          <a:prstGeom prst="roundRect">
            <a:avLst>
              <a:gd name="adj" fmla="val 814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584387"/>
            <a:ext cx="11112703" cy="36518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100" b="0" i="1">
                <a:solidFill>
                  <a:srgbClr val="1C7293"/>
                </a:solidFill>
                <a:latin typeface="Arial"/>
              </a:rPr>
              <a:t> · </a:t>
            </a:r>
            <a:r>
              <a:rPr sz="1100" b="0" i="1" u="sng">
                <a:solidFill>
                  <a:srgbClr val="065A82"/>
                </a:solidFill>
                <a:latin typeface="Arial"/>
                <a:hlinkClick r:id="rId3"/>
              </a:rPr>
              <a:t>приказ Росздравнадзора от 21.07.2025 № 4472</a:t>
            </a:r>
            <a:r>
              <a:rPr sz="1100" b="0" i="1">
                <a:solidFill>
                  <a:srgbClr val="1C7293"/>
                </a:solidFill>
                <a:latin typeface="Arial"/>
              </a:rPr>
              <a:t> · </a:t>
            </a:r>
            <a:r>
              <a:rPr sz="1100" b="0" i="1" u="sng">
                <a:solidFill>
                  <a:srgbClr val="065A82"/>
                </a:solidFill>
                <a:latin typeface="Arial"/>
                <a:hlinkClick r:id="rId4"/>
              </a:rPr>
              <a:t>Регламент (ЕС) 2024/1689, пакет поправок 2026 года</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и соавт.,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числа регистраций — сообщения со ссылкой на Росздравнадзор, срезы ноябрь 2025, июнь 2026, август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77382"/>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0931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1670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получается</a:t>
            </a:r>
          </a:p>
        </p:txBody>
      </p:sp>
      <p:sp>
        <p:nvSpPr>
          <p:cNvPr id="7" name="Rectangle 6"/>
          <p:cNvSpPr/>
          <p:nvPr/>
        </p:nvSpPr>
        <p:spPr>
          <a:xfrm>
            <a:off x="3648809" y="1335024"/>
            <a:ext cx="286673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795113" y="1335024"/>
            <a:ext cx="257412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не получается</a:t>
            </a:r>
          </a:p>
        </p:txBody>
      </p:sp>
      <p:sp>
        <p:nvSpPr>
          <p:cNvPr id="9" name="Rectangle 8"/>
          <p:cNvSpPr/>
          <p:nvPr/>
        </p:nvSpPr>
        <p:spPr>
          <a:xfrm>
            <a:off x="6515541" y="1335024"/>
            <a:ext cx="2861085"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61845" y="1335024"/>
            <a:ext cx="2568477"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стало с работой</a:t>
            </a:r>
          </a:p>
        </p:txBody>
      </p:sp>
      <p:sp>
        <p:nvSpPr>
          <p:cNvPr id="11" name="Rectangle 10"/>
          <p:cNvSpPr/>
          <p:nvPr/>
        </p:nvSpPr>
        <p:spPr>
          <a:xfrm>
            <a:off x="9376626" y="1335024"/>
            <a:ext cx="2275572"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22930" y="1335024"/>
            <a:ext cx="198296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это держит</a:t>
            </a:r>
          </a:p>
        </p:txBody>
      </p:sp>
      <p:sp>
        <p:nvSpPr>
          <p:cNvPr id="13" name="Rectangle 12"/>
          <p:cNvSpPr/>
          <p:nvPr/>
        </p:nvSpPr>
        <p:spPr>
          <a:xfrm>
            <a:off x="539496" y="1727520"/>
            <a:ext cx="3109313" cy="107620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поднять долю верных заключений: 87,2 → 96,4 из ста с подсказкой, против одного читателя</a:t>
            </a:r>
          </a:p>
        </p:txBody>
      </p:sp>
      <p:sp>
        <p:nvSpPr>
          <p:cNvPr id="15" name="Rectangle 14"/>
          <p:cNvSpPr/>
          <p:nvPr/>
        </p:nvSpPr>
        <p:spPr>
          <a:xfrm>
            <a:off x="3648809" y="1727520"/>
            <a:ext cx="2866732" cy="107620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795113" y="1727520"/>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удержать независимость второго чтения, когда оба читателя видят одну подсказку</a:t>
            </a:r>
          </a:p>
        </p:txBody>
      </p:sp>
      <p:sp>
        <p:nvSpPr>
          <p:cNvPr id="17" name="Rectangle 16"/>
          <p:cNvSpPr/>
          <p:nvPr/>
        </p:nvSpPr>
        <p:spPr>
          <a:xfrm>
            <a:off x="6515541" y="1727520"/>
            <a:ext cx="2861085" cy="107620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61845" y="1727520"/>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сместилась цена ошибки — подпись осталась человеческой, а основание решения пришло извне</a:t>
            </a:r>
          </a:p>
        </p:txBody>
      </p:sp>
      <p:sp>
        <p:nvSpPr>
          <p:cNvPr id="19" name="Rectangle 18"/>
          <p:cNvSpPr/>
          <p:nvPr/>
        </p:nvSpPr>
        <p:spPr>
          <a:xfrm>
            <a:off x="9376626" y="1727520"/>
            <a:ext cx="2275572" cy="107620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22930" y="1727520"/>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подпись: юридический акт физического лица, и права подписи у модели нет</a:t>
            </a:r>
          </a:p>
        </p:txBody>
      </p:sp>
      <p:sp>
        <p:nvSpPr>
          <p:cNvPr id="21" name="Rectangle 20"/>
          <p:cNvSpPr/>
          <p:nvPr/>
        </p:nvSpPr>
        <p:spPr>
          <a:xfrm>
            <a:off x="539496" y="2803728"/>
            <a:ext cx="3109313" cy="107620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03728"/>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сократить первичные чтения вдвое: 48 секунд на чтение против 2 минут 12 секунд на разбор расхождения</a:t>
            </a:r>
          </a:p>
        </p:txBody>
      </p:sp>
      <p:sp>
        <p:nvSpPr>
          <p:cNvPr id="23" name="Rectangle 22"/>
          <p:cNvSpPr/>
          <p:nvPr/>
        </p:nvSpPr>
        <p:spPr>
          <a:xfrm>
            <a:off x="3648809" y="2803728"/>
            <a:ext cx="2866732" cy="107620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795113" y="2803728"/>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избавиться от разбора расхождений: их объём вырос на 53 процента, в двух центрах от 22 до 142</a:t>
            </a:r>
          </a:p>
        </p:txBody>
      </p:sp>
      <p:sp>
        <p:nvSpPr>
          <p:cNvPr id="25" name="Rectangle 24"/>
          <p:cNvSpPr/>
          <p:nvPr/>
        </p:nvSpPr>
        <p:spPr>
          <a:xfrm>
            <a:off x="6515541" y="2803728"/>
            <a:ext cx="2861085" cy="107620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61845" y="2803728"/>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нагрузка выросла на том же месте — арбитраж, и каждый разбор дороже чтения</a:t>
            </a:r>
          </a:p>
        </p:txBody>
      </p:sp>
      <p:sp>
        <p:nvSpPr>
          <p:cNvPr id="27" name="Rectangle 26"/>
          <p:cNvSpPr/>
          <p:nvPr/>
        </p:nvSpPr>
        <p:spPr>
          <a:xfrm>
            <a:off x="9376626" y="2803728"/>
            <a:ext cx="2275572" cy="107620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22930" y="2803728"/>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двойное чтение и арбитраж там, где второго читателя не заменили</a:t>
            </a:r>
          </a:p>
        </p:txBody>
      </p:sp>
      <p:sp>
        <p:nvSpPr>
          <p:cNvPr id="29" name="Rectangle 28"/>
          <p:cNvSpPr/>
          <p:nvPr/>
        </p:nvSpPr>
        <p:spPr>
          <a:xfrm>
            <a:off x="539496" y="3879936"/>
            <a:ext cx="3109313" cy="107620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879936"/>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назвать требование словами: понять ограничения, не согласиться, остановить</a:t>
            </a:r>
          </a:p>
        </p:txBody>
      </p:sp>
      <p:sp>
        <p:nvSpPr>
          <p:cNvPr id="31" name="Rectangle 30"/>
          <p:cNvSpPr/>
          <p:nvPr/>
        </p:nvSpPr>
        <p:spPr>
          <a:xfrm>
            <a:off x="3648809" y="3879936"/>
            <a:ext cx="2866732" cy="107620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795113" y="3879936"/>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проверить, что подписавший способен возразить: 56 изделий из 717</a:t>
            </a:r>
          </a:p>
        </p:txBody>
      </p:sp>
      <p:sp>
        <p:nvSpPr>
          <p:cNvPr id="33" name="Rectangle 32"/>
          <p:cNvSpPr/>
          <p:nvPr/>
        </p:nvSpPr>
        <p:spPr>
          <a:xfrm>
            <a:off x="6515541" y="3879936"/>
            <a:ext cx="2861085" cy="107620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61845" y="3879936"/>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45,5 из ста оставшихся ошибок — от склонности доверять автомату, на всех уровнях стажа</a:t>
            </a:r>
          </a:p>
        </p:txBody>
      </p:sp>
      <p:sp>
        <p:nvSpPr>
          <p:cNvPr id="35" name="Rectangle 34"/>
          <p:cNvSpPr/>
          <p:nvPr/>
        </p:nvSpPr>
        <p:spPr>
          <a:xfrm>
            <a:off x="9376626" y="3879936"/>
            <a:ext cx="2275572" cy="107620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22930" y="3879936"/>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разбор случая после исхода и правка порядка по его итогам</a:t>
            </a:r>
          </a:p>
        </p:txBody>
      </p:sp>
      <p:sp>
        <p:nvSpPr>
          <p:cNvPr id="37" name="TextBox 36"/>
          <p:cNvSpPr txBox="1"/>
          <p:nvPr/>
        </p:nvSpPr>
        <p:spPr>
          <a:xfrm>
            <a:off x="539496" y="510244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 прошлой лекции требований к системам с ИИ внутри промышленных изделий не было. В медицине они есть — названы документами и сроками, и измеримо, насколько они исполняются.</a:t>
            </a:r>
          </a:p>
        </p:txBody>
      </p:sp>
      <p:sp>
        <p:nvSpPr>
          <p:cNvPr id="38" name="TextBox 37"/>
          <p:cNvSpPr txBox="1"/>
          <p:nvPr/>
        </p:nvSpPr>
        <p:spPr>
          <a:xfrm>
            <a:off x="539496" y="5774975"/>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Удерживает то, что стоит за подписью. Где за ней не стоит ничего, цена ошибки переезжает на того, кто не подписывал.</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4"/>
              </a:rPr>
              <a:t>Wang D. Y. и соавт., JAMIA 2023;30(10):1684–1692</a:t>
            </a:r>
            <a:r>
              <a:rPr sz="1100" b="0" i="1">
                <a:solidFill>
                  <a:srgbClr val="1C7293"/>
                </a:solidFill>
                <a:latin typeface="Arial"/>
              </a:rPr>
              <a:t> · </a:t>
            </a:r>
            <a:r>
              <a:rPr sz="1100" b="0" i="1" u="sng">
                <a:solidFill>
                  <a:srgbClr val="065A82"/>
                </a:solidFill>
                <a:latin typeface="Arial"/>
                <a:hlinkClick r:id="rId5"/>
              </a:rPr>
              <a:t>Регламент (ЕС) 2024/1689, статья 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46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18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3033959" y="1335024"/>
            <a:ext cx="102010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263" y="1335024"/>
            <a:ext cx="72750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4054069" y="1335024"/>
            <a:ext cx="4198741"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0373" y="1335024"/>
            <a:ext cx="3906133"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52811" y="1335024"/>
            <a:ext cx="339938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99115" y="1335024"/>
            <a:ext cx="310677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49446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3033959" y="1745752"/>
            <a:ext cx="102010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263" y="1745752"/>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4054069" y="1745752"/>
            <a:ext cx="4198741"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00373" y="1745752"/>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9" name="Rectangle 18"/>
          <p:cNvSpPr/>
          <p:nvPr/>
        </p:nvSpPr>
        <p:spPr>
          <a:xfrm>
            <a:off x="8252811" y="1745752"/>
            <a:ext cx="339938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99115" y="1745752"/>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49446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3033959" y="2156480"/>
            <a:ext cx="102010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263" y="2156480"/>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4054069" y="2156480"/>
            <a:ext cx="4198741"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00373" y="2156480"/>
            <a:ext cx="3906133"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подсказка по снимку, которой верят</a:t>
            </a:r>
          </a:p>
        </p:txBody>
      </p:sp>
      <p:sp>
        <p:nvSpPr>
          <p:cNvPr id="27" name="Rectangle 26"/>
          <p:cNvSpPr/>
          <p:nvPr/>
        </p:nvSpPr>
        <p:spPr>
          <a:xfrm>
            <a:off x="8252811" y="2156480"/>
            <a:ext cx="339938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99115" y="2156480"/>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49446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3033959" y="2567209"/>
            <a:ext cx="102010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263" y="2567209"/>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3" name="Rectangle 32"/>
          <p:cNvSpPr/>
          <p:nvPr/>
        </p:nvSpPr>
        <p:spPr>
          <a:xfrm>
            <a:off x="4054069" y="2567209"/>
            <a:ext cx="4198741"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00373" y="2567209"/>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52811" y="2567209"/>
            <a:ext cx="339938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99115" y="2567209"/>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49446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3033959" y="2977937"/>
            <a:ext cx="102010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180263" y="2977937"/>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4054069" y="2977937"/>
            <a:ext cx="4198741"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00373" y="2977937"/>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52811" y="2977937"/>
            <a:ext cx="339938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99115" y="2977937"/>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Полужирным — разобранное в разделе.</a:t>
            </a:r>
            <a:r>
              <a:rPr sz="1400" b="0" i="0">
                <a:solidFill>
                  <a:srgbClr val="21295C"/>
                </a:solidFill>
                <a:latin typeface="Arial"/>
              </a:rPr>
              <a:t> Занята одна клетка из сорока двух, и она не новая: ту же клетку занимали разделы о чтении исследований.</a:t>
            </a:r>
          </a:p>
        </p:txBody>
      </p:sp>
      <p:sp>
        <p:nvSpPr>
          <p:cNvPr id="46" name="Rounded Rectangle 45"/>
          <p:cNvSpPr/>
          <p:nvPr/>
        </p:nvSpPr>
        <p:spPr>
          <a:xfrm>
            <a:off x="630936" y="4344265"/>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246475"/>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эту клетку</a:t>
            </a:r>
            <a:r>
              <a:rPr sz="14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8" name="Rounded Rectangle 47"/>
          <p:cNvSpPr/>
          <p:nvPr/>
        </p:nvSpPr>
        <p:spPr>
          <a:xfrm>
            <a:off x="630936" y="5055771"/>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957981"/>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сам допуск</a:t>
            </a:r>
            <a:r>
              <a:rPr sz="1400" b="0" i="0">
                <a:solidFill>
                  <a:srgbClr val="21295C"/>
                </a:solidFill>
                <a:latin typeface="Arial"/>
              </a:rPr>
              <a:t> — заранее утверждённый план изменений модели · передача данных о работе изделия регулятору · отзыв изделия с рынка</a:t>
            </a:r>
          </a:p>
        </p:txBody>
      </p:sp>
      <p:sp>
        <p:nvSpPr>
          <p:cNvPr id="50" name="TextBox 49"/>
          <p:cNvSpPr txBox="1"/>
          <p:nvPr/>
        </p:nvSpPr>
        <p:spPr>
          <a:xfrm>
            <a:off x="539496" y="5669487"/>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Подпись, согласие, арбитраж, разбор случая, допуск и надзор не занимаются ни распознаванием, ни прогнозом, ни генерацией — на этой сетке их нет вовсе.</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116427"/>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BIO / QLS / Informa, Clinical Development Success Rates and Contributing Factors 2011–2020</a:t>
            </a:r>
            <a:r>
              <a:rPr sz="1100" b="0" i="1">
                <a:solidFill>
                  <a:srgbClr val="1C7293"/>
                </a:solidFill>
                <a:latin typeface="Arial"/>
              </a:rPr>
              <a:t> · </a:t>
            </a:r>
            <a:r>
              <a:rPr sz="1100" b="0" i="1" u="sng">
                <a:solidFill>
                  <a:srgbClr val="065A82"/>
                </a:solidFill>
                <a:latin typeface="Arial"/>
                <a:hlinkClick r:id="rId4"/>
              </a:rPr>
              <a:t>Jayatunga и соавт., Drug Discovery Today, 2024</a:t>
            </a:r>
            <a:r>
              <a:rPr sz="1100" b="0" i="1">
                <a:solidFill>
                  <a:srgbClr val="1C7293"/>
                </a:solidFill>
                <a:latin typeface="Arial"/>
              </a:rPr>
              <a:t> · </a:t>
            </a:r>
            <a:r>
              <a:rPr sz="11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5" name="Picture 4"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6" name="Rounded Rectangle 5"/>
          <p:cNvSpPr/>
          <p:nvPr/>
        </p:nvSpPr>
        <p:spPr>
          <a:xfrm>
            <a:off x="502920" y="1335024"/>
            <a:ext cx="3389223"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МЕЖДУ ПЕРВЫМ ЭПИЗОДОМ И ТРЕТЬИМ</a:t>
            </a:r>
          </a:p>
        </p:txBody>
      </p:sp>
      <p:sp>
        <p:nvSpPr>
          <p:cNvPr id="8" name="TextBox 7"/>
          <p:cNvSpPr txBox="1"/>
          <p:nvPr/>
        </p:nvSpPr>
        <p:spPr>
          <a:xfrm>
            <a:off x="640080" y="1690796"/>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двух лет</a:t>
            </a:r>
          </a:p>
        </p:txBody>
      </p:sp>
      <p:sp>
        <p:nvSpPr>
          <p:cNvPr id="9" name="Rounded Rectangle 8"/>
          <p:cNvSpPr/>
          <p:nvPr/>
        </p:nvSpPr>
        <p:spPr>
          <a:xfrm>
            <a:off x="4056735" y="1335024"/>
            <a:ext cx="3389223"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0" name="TextBox 9"/>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МИШЕНЬ → КЛИНИЧЕСКИЙ КАНДИДАТ</a:t>
            </a:r>
          </a:p>
        </p:txBody>
      </p:sp>
      <p:sp>
        <p:nvSpPr>
          <p:cNvPr id="11" name="TextBox 10"/>
          <p:cNvSpPr txBox="1"/>
          <p:nvPr/>
        </p:nvSpPr>
        <p:spPr>
          <a:xfrm>
            <a:off x="4193895" y="1690796"/>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четыре-пять лет</a:t>
            </a:r>
          </a:p>
        </p:txBody>
      </p:sp>
      <p:sp>
        <p:nvSpPr>
          <p:cNvPr id="12" name="TextBox 11"/>
          <p:cNvSpPr txBox="1"/>
          <p:nvPr/>
        </p:nvSpPr>
        <p:spPr>
          <a:xfrm>
            <a:off x="4193895" y="2117795"/>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отраслевая норма из согласующихся между собой обзоров; это порядок величины, а не замер, и разброс между программами большой</a:t>
            </a:r>
          </a:p>
        </p:txBody>
      </p:sp>
      <p:sp>
        <p:nvSpPr>
          <p:cNvPr id="13" name="Rounded Rectangle 12"/>
          <p:cNvSpPr/>
          <p:nvPr/>
        </p:nvSpPr>
        <p:spPr>
          <a:xfrm>
            <a:off x="374904" y="2900910"/>
            <a:ext cx="7199071"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92350"/>
            <a:ext cx="6869887" cy="3243857"/>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260" b="0" i="0">
                <a:solidFill>
                  <a:srgbClr val="21295C"/>
                </a:solidFill>
                <a:latin typeface="Arial"/>
              </a:rPr>
              <a:t/>
            </a:r>
            <a:r>
              <a:rPr sz="126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260" b="0" i="0">
                <a:solidFill>
                  <a:srgbClr val="21295C"/>
                </a:solidFill>
                <a:latin typeface="Arial"/>
              </a:rPr>
              <a:t/>
            </a:r>
            <a:r>
              <a:rPr sz="126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260" b="0" i="0">
                <a:solidFill>
                  <a:srgbClr val="21295C"/>
                </a:solidFill>
                <a:latin typeface="Arial"/>
              </a:rPr>
              <a:t/>
            </a:r>
            <a:r>
              <a:rPr sz="1260" b="1" i="0">
                <a:solidFill>
                  <a:srgbClr val="21295C"/>
                </a:solidFill>
                <a:latin typeface="Arial"/>
              </a:rPr>
              <a:t>Три человека, три места, одно вещество.</a:t>
            </a:r>
          </a:p>
          <a:p>
            <a:pPr algn="l">
              <a:lnSpc>
                <a:spcPct val="126000"/>
              </a:lnSpc>
              <a:spcBef>
                <a:spcPts val="700"/>
              </a:spcBef>
            </a:pPr>
            <a:r>
              <a:rPr sz="1260" b="0" i="0">
                <a:solidFill>
                  <a:srgbClr val="21295C"/>
                </a:solidFill>
                <a:latin typeface="Arial"/>
              </a:rPr>
              <a:t/>
            </a:r>
            <a:r>
              <a:rPr sz="126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260" b="0" i="0">
                <a:solidFill>
                  <a:srgbClr val="21295C"/>
                </a:solidFill>
                <a:latin typeface="Arial"/>
              </a:rPr>
              <a:t/>
            </a:r>
            <a:r>
              <a:rPr sz="1260" b="0" i="0">
                <a:solidFill>
                  <a:srgbClr val="21295C"/>
                </a:solidFill>
                <a:latin typeface="Arial"/>
              </a:rPr>
              <a:t>• длина такого шага от вычислений не зависит — её задают физиология, протокол и расписание центра</a:t>
            </a:r>
          </a:p>
          <a:p>
            <a:pPr algn="l">
              <a:lnSpc>
                <a:spcPct val="126000"/>
              </a:lnSpc>
              <a:spcBef>
                <a:spcPts val="700"/>
              </a:spcBef>
            </a:pPr>
            <a:r>
              <a:rPr sz="1010" b="0" i="0">
                <a:solidFill>
                  <a:srgbClr val="21295C"/>
                </a:solidFill>
                <a:latin typeface="Arial"/>
              </a:rPr>
              <a:t/>
            </a:r>
            <a:r>
              <a:rPr sz="1010" b="0" i="1">
                <a:solidFill>
                  <a:srgbClr val="1C7293"/>
                </a:solidFill>
                <a:latin typeface="Arial"/>
              </a:rPr>
              <a:t>Вторая сцена пути: проверка клетки вивария</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культуры и животные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Восемь действий стадии.</a:t>
            </a:r>
            <a:r>
              <a:rPr sz="141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10" b="0" i="0">
                <a:solidFill>
                  <a:srgbClr val="21295C"/>
                </a:solidFill>
                <a:latin typeface="Arial"/>
              </a:rPr>
              <a:t/>
            </a:r>
            <a:r>
              <a:rPr sz="141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10" b="0" i="0">
                <a:solidFill>
                  <a:srgbClr val="21295C"/>
                </a:solidFill>
                <a:latin typeface="Arial"/>
              </a:rPr>
              <a:t/>
            </a:r>
            <a:r>
              <a:rPr sz="1410" b="0" i="0">
                <a:solidFill>
                  <a:srgbClr val="21295C"/>
                </a:solidFill>
                <a:latin typeface="Arial"/>
              </a:rPr>
              <a:t>• исполнители у шагов разные: биологи и химики · токсикологи · клиницисты и координаторы · регуляторные специалисты</a:t>
            </a:r>
          </a:p>
          <a:p>
            <a:pPr algn="l">
              <a:lnSpc>
                <a:spcPct val="126000"/>
              </a:lnSpc>
              <a:spcBef>
                <a:spcPts val="700"/>
              </a:spcBef>
            </a:pPr>
            <a:r>
              <a:rPr sz="1410" b="0" i="0">
                <a:solidFill>
                  <a:srgbClr val="21295C"/>
                </a:solidFill>
                <a:latin typeface="Arial"/>
              </a:rPr>
              <a:t/>
            </a:r>
            <a:r>
              <a:rPr sz="141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10" b="0" i="0">
                <a:solidFill>
                  <a:srgbClr val="21295C"/>
                </a:solidFill>
                <a:latin typeface="Arial"/>
              </a:rPr>
              <a:t/>
            </a:r>
            <a:r>
              <a:rPr sz="1410" b="1" i="0">
                <a:solidFill>
                  <a:srgbClr val="21295C"/>
                </a:solidFill>
                <a:latin typeface="Arial"/>
              </a:rPr>
              <a:t>Две дроби, и различать их придётся весь раздел:</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«перешли»</a:t>
            </a:r>
            <a:r>
              <a:rPr sz="1410" b="0" i="0">
                <a:solidFill>
                  <a:srgbClr val="21295C"/>
                </a:solidFill>
                <a:latin typeface="Arial"/>
              </a:rPr>
              <a:t> — считают среди тех, кто фазу прошёл до конца</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«завершили»</a:t>
            </a:r>
            <a:r>
              <a:rPr sz="141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410" b="0" i="0">
                <a:solidFill>
                  <a:srgbClr val="21295C"/>
                </a:solidFill>
                <a:latin typeface="Arial"/>
              </a:rPr>
              <a:t/>
            </a:r>
            <a:r>
              <a:rPr sz="141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2" name="Rectangle 21"/>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здоровые добровольцы под дозой и деньги, не ушедшие в другую программу: цена измеримая</a:t>
            </a:r>
          </a:p>
        </p:txBody>
      </p:sp>
      <p:sp>
        <p:nvSpPr>
          <p:cNvPr id="8" name="Rounded Rectangle 7"/>
          <p:cNvSpPr/>
          <p:nvPr/>
        </p:nvSpPr>
        <p:spPr>
          <a:xfrm>
            <a:off x="4286402"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у кого; цена не измеряется вовсе: узнать, что отброшенное вещество сработало бы, невозможно — эксперимента не было</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СЧЁТ У ОБОИХ РЕЖИМОВ ОДИН</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 28,9 · 7,9</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переход фазы I, переход фазы II, путь до одобрения — различие двух режимов числом не предъявлено ни одним источником</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8" name="Rectangle 17"/>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записанному протоколу; модель входит в один шаг из восьми и в четырёх работах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подбор молекулы, и реже выбор мишени; доклиника, производство партии, три фазы на людях и заявка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Мишень выбирают биологи, молекулу подбирают химики</a:t>
            </a:r>
          </a:p>
          <a:p>
            <a:pPr algn="l">
              <a:lnSpc>
                <a:spcPct val="126000"/>
              </a:lnSpc>
            </a:pPr>
            <a:r>
              <a:rPr sz="1450" b="0" i="0">
                <a:solidFill>
                  <a:srgbClr val="21295C"/>
                </a:solidFill>
                <a:latin typeface="Arial"/>
              </a:rPr>
              <a:t>• Физический перебор: библиотеку прогоняют через опыт</a:t>
            </a:r>
          </a:p>
          <a:p>
            <a:pPr algn="l">
              <a:lnSpc>
                <a:spcPct val="126000"/>
              </a:lnSpc>
            </a:pPr>
            <a:r>
              <a:rPr sz="1450" b="0" i="0">
                <a:solidFill>
                  <a:srgbClr val="21295C"/>
                </a:solidFill>
                <a:latin typeface="Arial"/>
              </a:rPr>
              <a:t>• Переносимость проверяют на человеке по протоколу</a:t>
            </a:r>
          </a:p>
          <a:p>
            <a:pPr algn="l">
              <a:lnSpc>
                <a:spcPct val="126000"/>
              </a:lnSpc>
            </a:pPr>
            <a:r>
              <a:rPr sz="1450" b="0" i="0">
                <a:solidFill>
                  <a:srgbClr val="21295C"/>
                </a:solidFill>
                <a:latin typeface="Arial"/>
              </a:rPr>
              <a:t>• Заявку собирает человек — отдельная профессия</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2: молекулу проектируют расчётом</a:t>
            </a:r>
          </a:p>
          <a:p>
            <a:pPr algn="l">
              <a:lnSpc>
                <a:spcPct val="126000"/>
              </a:lnSpc>
            </a:pPr>
            <a:r>
              <a:rPr sz="1450" b="0" i="0">
                <a:solidFill>
                  <a:srgbClr val="21295C"/>
                </a:solidFill>
                <a:latin typeface="Arial"/>
              </a:rPr>
              <a:t>• Шаг 1: гипотезы перебирают по графу связей</a:t>
            </a:r>
          </a:p>
          <a:p>
            <a:pPr algn="l">
              <a:lnSpc>
                <a:spcPct val="126000"/>
              </a:lnSpc>
            </a:pPr>
            <a:r>
              <a:rPr sz="1450" b="0" i="0">
                <a:solidFill>
                  <a:srgbClr val="21295C"/>
                </a:solidFill>
                <a:latin typeface="Arial"/>
              </a:rPr>
              <a:t>• Объём физических итераций падает</a:t>
            </a:r>
          </a:p>
          <a:p>
            <a:pPr algn="l">
              <a:lnSpc>
                <a:spcPct val="126000"/>
              </a:lnSpc>
            </a:pPr>
            <a:r>
              <a:rPr sz="1450" b="0" i="0">
                <a:solidFill>
                  <a:srgbClr val="21295C"/>
                </a:solidFill>
                <a:latin typeface="Arial"/>
              </a:rPr>
              <a:t>• Новый шаг: сверить предсказание с опытом</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И четыре работы, где не работает:</a:t>
            </a:r>
            <a:r>
              <a:rPr sz="138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Ни одна из четырёх не содержит задачи, которую делает модель, — и это вывод, а не пробел подборки.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Раскрытие разработчика о графе биомедицинских связей,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отраслевой обзор физического скрининга библиотек соединений, technologynetworks.com</a:t>
            </a:r>
            <a:r>
              <a:rPr sz="1100" b="0" i="1">
                <a:solidFill>
                  <a:srgbClr val="1C7293"/>
                </a:solidFill>
                <a:latin typeface="Arial"/>
              </a:rPr>
              <a:t> · </a:t>
            </a:r>
            <a:r>
              <a:rPr sz="1100" b="0" i="1" u="sng">
                <a:solidFill>
                  <a:srgbClr val="065A82"/>
                </a:solidFill>
                <a:latin typeface="Arial"/>
                <a:hlinkClick r:id="rId3"/>
              </a:rPr>
              <a:t>BIO / QLS / Informa, Clinical Development Success Rates and Contributing Factors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СВЯЗЕЙ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недель и месяцев систематического обзора литературы и экспертной гипотезы; подтверждение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4286402" y="1335024"/>
            <a:ext cx="3618890" cy="2015757"/>
          </a:xfrm>
          <a:prstGeom prst="roundRect">
            <a:avLst>
              <a:gd name="adj" fmla="val 151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4423562" y="1690796"/>
            <a:ext cx="3344570" cy="783472"/>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13 000 соединений под известную мишень</a:t>
            </a:r>
          </a:p>
        </p:txBody>
      </p:sp>
      <p:sp>
        <p:nvSpPr>
          <p:cNvPr id="11" name="TextBox 10"/>
          <p:cNvSpPr txBox="1"/>
          <p:nvPr/>
        </p:nvSpPr>
        <p:spPr>
          <a:xfrm>
            <a:off x="4423562" y="247426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классического цикла «синтезируй и протестируй», где физически прогоняют от одного до трёх миллионов; это метод расчёта физики связывания, не генеративная модель</a:t>
            </a:r>
          </a:p>
        </p:txBody>
      </p:sp>
      <p:sp>
        <p:nvSpPr>
          <p:cNvPr id="12" name="Rounded Rectangle 11"/>
          <p:cNvSpPr/>
          <p:nvPr/>
        </p:nvSpPr>
        <p:spPr>
          <a:xfrm>
            <a:off x="8069884"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ГОТОВОГО АКТИВА ПРИ ЭТОМ НЕ УПАЛА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млрд долларов авансом</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плюс до 2 млрд выплат по достижениям: удешевление поиска молекулы саму молекулу не удешевило</a:t>
            </a:r>
          </a:p>
        </p:txBody>
      </p:sp>
      <p:sp>
        <p:nvSpPr>
          <p:cNvPr id="16" name="Rounded Rectangle 15"/>
          <p:cNvSpPr/>
          <p:nvPr/>
        </p:nvSpPr>
        <p:spPr>
          <a:xfrm>
            <a:off x="374904" y="3442221"/>
            <a:ext cx="11441887" cy="2793986"/>
          </a:xfrm>
          <a:prstGeom prst="roundRect">
            <a:avLst>
              <a:gd name="adj" fmla="val 1090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3661"/>
            <a:ext cx="11112703" cy="27025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а не цена результата.</a:t>
            </a:r>
          </a:p>
        </p:txBody>
      </p:sp>
      <p:sp>
        <p:nvSpPr>
          <p:cNvPr id="18" name="Rectangle 1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снята на первой фазе</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ВОШЛА В КЛИНИКУ</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СНЯТА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ПЕРЕХОД ФАЗЫ I</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 словаря: 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доклинический этап меньше года вместо нескольких лет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той же первой фазы, той же длины, у тех же людей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Независимые пересказы снятия молекулы на первой фазе, 2022</a:t>
            </a:r>
            <a:r>
              <a:rPr sz="1100" b="0" i="1">
                <a:solidFill>
                  <a:srgbClr val="1C7293"/>
                </a:solidFill>
                <a:latin typeface="Arial"/>
              </a:rPr>
              <a:t> · </a:t>
            </a: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a:t>
            </a:r>
          </a:p>
        </p:txBody>
      </p:sp>
      <p:sp>
        <p:nvSpPr>
          <p:cNvPr id="8" name="Rounded Rectangle 7"/>
          <p:cNvSpPr/>
          <p:nvPr/>
        </p:nvSpPr>
        <p:spPr>
          <a:xfrm>
            <a:off x="4286402"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три порядка</a:t>
            </a:r>
          </a:p>
        </p:txBody>
      </p:sp>
      <p:sp>
        <p:nvSpPr>
          <p:cNvPr id="12" name="Rounded Rectangle 11"/>
          <p:cNvSpPr/>
          <p:nvPr/>
        </p:nvSpPr>
        <p:spPr>
          <a:xfrm>
            <a:off x="8069884"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У ТЕХ ЖЕ МОЛЕКУЛ</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80–90 против 52,0</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первой фазе авторы замера говорят о заметном превосходстве над историческими средними отрасли</a:t>
            </a:r>
          </a:p>
        </p:txBody>
      </p:sp>
      <p:sp>
        <p:nvSpPr>
          <p:cNvPr id="16" name="Rounded Rectangle 15"/>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Jayatunga и соавт., Drug Discovery Today, 2024</a:t>
            </a:r>
            <a:r>
              <a:rPr sz="1100" b="0" i="1">
                <a:solidFill>
                  <a:srgbClr val="1C7293"/>
                </a:solidFill>
                <a:latin typeface="Arial"/>
              </a:rPr>
              <a:t> · </a:t>
            </a:r>
            <a:r>
              <a:rPr sz="1100" b="0" i="1" u="sng">
                <a:solidFill>
                  <a:srgbClr val="065A82"/>
                </a:solidFill>
                <a:latin typeface="Arial"/>
                <a:hlinkClick r:id="rId3"/>
              </a:rPr>
              <a:t>BIO / QLS / Informa, Clinical Development Success Rates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срез 1 декабря 2025 года;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Одобрений регулятора — </a:t>
            </a:r>
            <a:r>
              <a:rPr sz="1350" b="1" i="0">
                <a:solidFill>
                  <a:srgbClr val="21295C"/>
                </a:solidFill>
                <a:latin typeface="Arial"/>
              </a:rPr>
              <a:t>ноль</a:t>
            </a:r>
            <a:r>
              <a:rPr sz="135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350" b="0" i="0">
                <a:solidFill>
                  <a:srgbClr val="21295C"/>
                </a:solidFill>
                <a:latin typeface="Arial"/>
              </a:rPr>
              <a:t/>
            </a:r>
            <a:r>
              <a:rPr sz="1350" b="1" i="0">
                <a:solidFill>
                  <a:srgbClr val="21295C"/>
                </a:solidFill>
                <a:latin typeface="Arial"/>
              </a:rPr>
              <a:t>Форма 1 словаря на масштабе отрасли: нагрузка переехала на другой шаг.</a:t>
            </a:r>
            <a:r>
              <a:rPr sz="1350" b="0" i="0">
                <a:solidFill>
                  <a:srgbClr val="21295C"/>
                </a:solidFill>
                <a:latin typeface="Arial"/>
              </a:rPr>
              <a:t> Ранний шаг подешевел, и весь объём работы оказался в клинических фазах, которые не подешевели.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«больше двухсот молекул в клинике» в этом разделе не произносится: оба реальных замера дают </a:t>
            </a:r>
            <a:r>
              <a:rPr sz="1350" b="1" i="0">
                <a:solidFill>
                  <a:srgbClr val="21295C"/>
                </a:solidFill>
                <a:latin typeface="Arial"/>
              </a:rPr>
              <a:t>75</a:t>
            </a:r>
            <a:r>
              <a:rPr sz="1350" b="0" i="0">
                <a:solidFill>
                  <a:srgbClr val="21295C"/>
                </a:solidFill>
                <a:latin typeface="Arial"/>
              </a:rPr>
              <a:t> и </a:t>
            </a:r>
            <a:r>
              <a:rPr sz="1350" b="1" i="0">
                <a:solidFill>
                  <a:srgbClr val="21295C"/>
                </a:solidFill>
                <a:latin typeface="Arial"/>
              </a:rPr>
              <a:t>117</a:t>
            </a:r>
          </a:p>
          <a:p>
            <a:pPr algn="l">
              <a:lnSpc>
                <a:spcPct val="126000"/>
              </a:lnSpc>
              <a:spcBef>
                <a:spcPts val="700"/>
              </a:spcBef>
            </a:pPr>
            <a:r>
              <a:rPr sz="1350" b="0" i="0">
                <a:solidFill>
                  <a:srgbClr val="21295C"/>
                </a:solidFill>
                <a:latin typeface="Arial"/>
              </a:rPr>
              <a:t/>
            </a:r>
            <a:r>
              <a:rPr sz="135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350" b="0" i="0">
                <a:solidFill>
                  <a:srgbClr val="21295C"/>
                </a:solidFill>
                <a:latin typeface="Arial"/>
              </a:rPr>
              <a:t/>
            </a:r>
            <a:r>
              <a:rPr sz="1350" b="0" i="0">
                <a:solidFill>
                  <a:srgbClr val="21295C"/>
                </a:solidFill>
                <a:latin typeface="Arial"/>
              </a:rPr>
              <a:t>• одной строкой: одна молекула — третья фаза начата; медиана от основания компании до первого человека — </a:t>
            </a:r>
            <a:r>
              <a:rPr sz="1350" b="1" i="0">
                <a:solidFill>
                  <a:srgbClr val="21295C"/>
                </a:solidFill>
                <a:latin typeface="Arial"/>
              </a:rPr>
              <a:t>шесть с половиной лет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IIA</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двойное слепое, с группой плацебо; пациенты 18–65 лет</a:t>
            </a:r>
          </a:p>
        </p:txBody>
      </p:sp>
      <p:sp>
        <p:nvSpPr>
          <p:cNvPr id="8" name="Rounded Rectangle 7"/>
          <p:cNvSpPr/>
          <p:nvPr/>
        </p:nvSpPr>
        <p:spPr>
          <a:xfrm>
            <a:off x="3340531"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достигнуты</a:t>
            </a:r>
          </a:p>
        </p:txBody>
      </p:sp>
      <p:sp>
        <p:nvSpPr>
          <p:cNvPr id="14" name="TextBox 13"/>
          <p:cNvSpPr txBox="1"/>
          <p:nvPr/>
        </p:nvSpPr>
        <p:spPr>
          <a:xfrm>
            <a:off x="6315303"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препарат оказался не лучше плацебо по заявленным мерам улучшения</a:t>
            </a:r>
          </a:p>
        </p:txBody>
      </p:sp>
      <p:sp>
        <p:nvSpPr>
          <p:cNvPr id="15" name="Rounded Rectangle 14"/>
          <p:cNvSpPr/>
          <p:nvPr/>
        </p:nvSpPr>
        <p:spPr>
          <a:xfrm>
            <a:off x="9015755"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НА ТОМ ЖЕ ШАГЕ</a:t>
            </a:r>
          </a:p>
        </p:txBody>
      </p:sp>
      <p:sp>
        <p:nvSpPr>
          <p:cNvPr id="17" name="TextBox 16"/>
          <p:cNvSpPr txBox="1"/>
          <p:nvPr/>
        </p:nvSpPr>
        <p:spPr>
          <a:xfrm>
            <a:off x="9152915" y="169079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8" name="TextBox 17"/>
          <p:cNvSpPr txBox="1"/>
          <p:nvPr/>
        </p:nvSpPr>
        <p:spPr>
          <a:xfrm>
            <a:off x="9152915" y="24403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провал на этом шаге — норма воронки, а не неудача конкретной команды</a:t>
            </a:r>
          </a:p>
        </p:txBody>
      </p:sp>
      <p:sp>
        <p:nvSpPr>
          <p:cNvPr id="19" name="Rounded Rectangle 18"/>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ВОЛНЫ СОКРАЩЕНИЙ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БИЗНЕСА</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419349"/>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13" name="Rounded Rectangle 12"/>
          <p:cNvSpPr/>
          <p:nvPr/>
        </p:nvSpPr>
        <p:spPr>
          <a:xfrm>
            <a:off x="1920240"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5" name="Right Arrow 14"/>
          <p:cNvSpPr/>
          <p:nvPr/>
        </p:nvSpPr>
        <p:spPr>
          <a:xfrm>
            <a:off x="4202353" y="3635506"/>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эффекта нет</a:t>
            </a:r>
          </a:p>
        </p:txBody>
      </p:sp>
      <p:sp>
        <p:nvSpPr>
          <p:cNvPr id="18" name="Right Arrow 17"/>
          <p:cNvSpPr/>
          <p:nvPr/>
        </p:nvSpPr>
        <p:spPr>
          <a:xfrm>
            <a:off x="6713067" y="3635506"/>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1" name="Right Arrow 20"/>
          <p:cNvSpPr/>
          <p:nvPr/>
        </p:nvSpPr>
        <p:spPr>
          <a:xfrm>
            <a:off x="9223781" y="3635506"/>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4" name="TextBox 23"/>
          <p:cNvSpPr txBox="1"/>
          <p:nvPr/>
        </p:nvSpPr>
        <p:spPr>
          <a:xfrm>
            <a:off x="502920" y="406197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Порядок событий, который уже не изменится</a:t>
            </a:r>
          </a:p>
        </p:txBody>
      </p:sp>
      <p:sp>
        <p:nvSpPr>
          <p:cNvPr id="25" name="Rounded Rectangle 24"/>
          <p:cNvSpPr/>
          <p:nvPr/>
        </p:nvSpPr>
        <p:spPr>
          <a:xfrm>
            <a:off x="374904" y="4338254"/>
            <a:ext cx="11441887" cy="1897953"/>
          </a:xfrm>
          <a:prstGeom prst="roundRect">
            <a:avLst>
              <a:gd name="adj" fmla="val 16059"/>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29694"/>
            <a:ext cx="11112703" cy="18065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6 словаря: 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собственную молекулу и собственную программу до второй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успеха там, где отрасль даёт меньше трети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две волны сокращений и отказ от обещания</a:t>
            </a:r>
          </a:p>
        </p:txBody>
      </p:sp>
      <p:sp>
        <p:nvSpPr>
          <p:cNvPr id="27" name="Rectangle 2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5" name="Picture 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6" name="Rounded Rectangle 5"/>
          <p:cNvSpPr/>
          <p:nvPr/>
        </p:nvSpPr>
        <p:spPr>
          <a:xfrm>
            <a:off x="502920" y="1335024"/>
            <a:ext cx="3389223"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РЕНТГЕНОВСКАЯ КРИСТАЛЛОГРАФИЯ</a:t>
            </a:r>
          </a:p>
        </p:txBody>
      </p:sp>
      <p:sp>
        <p:nvSpPr>
          <p:cNvPr id="8" name="TextBox 7"/>
          <p:cNvSpPr txBox="1"/>
          <p:nvPr/>
        </p:nvSpPr>
        <p:spPr>
          <a:xfrm>
            <a:off x="640080" y="169079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9" name="TextBox 8"/>
          <p:cNvSpPr txBox="1"/>
          <p:nvPr/>
        </p:nvSpPr>
        <p:spPr>
          <a:xfrm>
            <a:off x="640080"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10" name="Rounded Rectangle 9"/>
          <p:cNvSpPr/>
          <p:nvPr/>
        </p:nvSpPr>
        <p:spPr>
          <a:xfrm>
            <a:off x="4056735" y="1335024"/>
            <a:ext cx="3389223"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КРИОЭЛЕКТРОННАЯ МИКРОСКОПИЯ</a:t>
            </a:r>
          </a:p>
        </p:txBody>
      </p:sp>
      <p:sp>
        <p:nvSpPr>
          <p:cNvPr id="12" name="TextBox 11"/>
          <p:cNvSpPr txBox="1"/>
          <p:nvPr/>
        </p:nvSpPr>
        <p:spPr>
          <a:xfrm>
            <a:off x="4193895" y="1690796"/>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3" name="TextBox 12"/>
          <p:cNvSpPr txBox="1"/>
          <p:nvPr/>
        </p:nvSpPr>
        <p:spPr>
          <a:xfrm>
            <a:off x="4193895"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4" name="Rounded Rectangle 13"/>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Две линии по данным депозитария, 2020 → 2024. </a:t>
            </a:r>
            <a:r>
              <a:rPr sz="1440" b="1" i="0">
                <a:solidFill>
                  <a:srgbClr val="21295C"/>
                </a:solidFill>
                <a:latin typeface="Arial"/>
              </a:rPr>
              <a:t>Объём экспериментальных депозиций не упал.</a:t>
            </a:r>
          </a:p>
          <a:p>
            <a:pPr algn="l">
              <a:lnSpc>
                <a:spcPct val="126000"/>
              </a:lnSpc>
              <a:spcBef>
                <a:spcPts val="700"/>
              </a:spcBef>
            </a:pPr>
            <a:r>
              <a:rPr sz="1440" b="0" i="0">
                <a:solidFill>
                  <a:srgbClr val="21295C"/>
                </a:solidFill>
                <a:latin typeface="Arial"/>
              </a:rPr>
              <a:t/>
            </a:r>
            <a:r>
              <a:rPr sz="1440" b="1" i="0">
                <a:solidFill>
                  <a:srgbClr val="21295C"/>
                </a:solidFill>
                <a:latin typeface="Arial"/>
              </a:rPr>
              <a:t>Ожидаемая форма «шаг исчез» числами не подтверждается.</a:t>
            </a:r>
          </a:p>
          <a:p>
            <a:pPr algn="l">
              <a:lnSpc>
                <a:spcPct val="126000"/>
              </a:lnSpc>
              <a:spcBef>
                <a:spcPts val="700"/>
              </a:spcBef>
            </a:pPr>
            <a:r>
              <a:rPr sz="1440" b="0" i="0">
                <a:solidFill>
                  <a:srgbClr val="21295C"/>
                </a:solidFill>
                <a:latin typeface="Arial"/>
              </a:rPr>
              <a:t/>
            </a:r>
            <a:r>
              <a:rPr sz="144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440" b="0" i="0">
                <a:solidFill>
                  <a:srgbClr val="21295C"/>
                </a:solidFill>
                <a:latin typeface="Arial"/>
              </a:rPr>
              <a:t/>
            </a:r>
            <a:r>
              <a:rPr sz="144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440" b="0" i="0">
                <a:solidFill>
                  <a:srgbClr val="21295C"/>
                </a:solidFill>
                <a:latin typeface="Arial"/>
              </a:rPr>
              <a:t/>
            </a:r>
            <a:r>
              <a:rPr sz="144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440" b="0" i="0">
                <a:solidFill>
                  <a:srgbClr val="21295C"/>
                </a:solidFill>
                <a:latin typeface="Arial"/>
              </a:rPr>
              <a:t/>
            </a:r>
            <a:r>
              <a:rPr sz="144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150" b="0" i="0">
                <a:solidFill>
                  <a:srgbClr val="21295C"/>
                </a:solidFill>
                <a:latin typeface="Arial"/>
              </a:rPr>
              <a:t/>
            </a:r>
            <a:r>
              <a:rPr sz="1150" b="0" i="1">
                <a:solidFill>
                  <a:srgbClr val="1C7293"/>
                </a:solidFill>
                <a:latin typeface="Arial"/>
              </a:rPr>
              <a:t>Честная формулировка не «шаг исчез», а «нагрузка перераспределилась внутри того же шага».</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100" b="0" i="1">
                <a:solidFill>
                  <a:srgbClr val="1C7293"/>
                </a:solidFill>
                <a:latin typeface="Arial"/>
              </a:rPr>
              <a:t> · </a:t>
            </a:r>
            <a:r>
              <a:rPr sz="11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52270"/>
          </a:xfrm>
          <a:prstGeom prst="roundRect">
            <a:avLst>
              <a:gd name="adj" fmla="val 628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76229"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8362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315725" y="1335024"/>
            <a:ext cx="3242462"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462029" y="1335024"/>
            <a:ext cx="294985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6558187" y="1335024"/>
            <a:ext cx="2637268"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704491" y="1335024"/>
            <a:ext cx="234466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9195456" y="1335024"/>
            <a:ext cx="2456742"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41760" y="1335024"/>
            <a:ext cx="21641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776229"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срезать объём физического перебора: расчётный отбор вместо миллионов опытных итераций</a:t>
            </a:r>
          </a:p>
        </p:txBody>
      </p:sp>
      <p:sp>
        <p:nvSpPr>
          <p:cNvPr id="15" name="Rectangle 14"/>
          <p:cNvSpPr/>
          <p:nvPr/>
        </p:nvSpPr>
        <p:spPr>
          <a:xfrm>
            <a:off x="3315725" y="1736636"/>
            <a:ext cx="3242462"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62029" y="1736636"/>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вторую фазу лучше базы: около 40 против 28,9 — сопоставимо, и лучшим его не называют сами авторы</a:t>
            </a:r>
          </a:p>
        </p:txBody>
      </p:sp>
      <p:sp>
        <p:nvSpPr>
          <p:cNvPr id="17" name="Rectangle 16"/>
          <p:cNvSpPr/>
          <p:nvPr/>
        </p:nvSpPr>
        <p:spPr>
          <a:xfrm>
            <a:off x="6558187" y="1736636"/>
            <a:ext cx="2637268"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704491" y="1736636"/>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переехала на другой шаг — на масштабе одной молекулы и на масштабе отрасли</a:t>
            </a:r>
          </a:p>
        </p:txBody>
      </p:sp>
      <p:sp>
        <p:nvSpPr>
          <p:cNvPr id="19" name="Rectangle 18"/>
          <p:cNvSpPr/>
          <p:nvPr/>
        </p:nvSpPr>
        <p:spPr>
          <a:xfrm>
            <a:off x="9195456" y="1736636"/>
            <a:ext cx="2456742"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41760" y="1736636"/>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доклиника и три фазы на людях: их длину задают физиология и протокол</a:t>
            </a:r>
          </a:p>
        </p:txBody>
      </p:sp>
      <p:sp>
        <p:nvSpPr>
          <p:cNvPr id="21" name="Rectangle 20"/>
          <p:cNvSpPr/>
          <p:nvPr/>
        </p:nvSpPr>
        <p:spPr>
          <a:xfrm>
            <a:off x="539496" y="2849309"/>
            <a:ext cx="2776229"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сжать доклинику: заявлено меньше двенадцати месяцев вместо нескольких лет</a:t>
            </a:r>
          </a:p>
        </p:txBody>
      </p:sp>
      <p:sp>
        <p:nvSpPr>
          <p:cNvPr id="23" name="Rectangle 22"/>
          <p:cNvSpPr/>
          <p:nvPr/>
        </p:nvSpPr>
        <p:spPr>
          <a:xfrm>
            <a:off x="3315725" y="2849309"/>
            <a:ext cx="3242462"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62029" y="2849309"/>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получить одобрение: за десять лет категории — ноль при 75 и 117 активах</a:t>
            </a:r>
          </a:p>
        </p:txBody>
      </p:sp>
      <p:sp>
        <p:nvSpPr>
          <p:cNvPr id="25" name="Rectangle 24"/>
          <p:cNvSpPr/>
          <p:nvPr/>
        </p:nvSpPr>
        <p:spPr>
          <a:xfrm>
            <a:off x="6558187" y="2849309"/>
            <a:ext cx="2637268"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704491" y="2849309"/>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объём на том же месте упал — тот же шаг, тот же исполнитель, меньше итераций</a:t>
            </a:r>
          </a:p>
        </p:txBody>
      </p:sp>
      <p:sp>
        <p:nvSpPr>
          <p:cNvPr id="27" name="Rectangle 26"/>
          <p:cNvSpPr/>
          <p:nvPr/>
        </p:nvSpPr>
        <p:spPr>
          <a:xfrm>
            <a:off x="9195456" y="2849309"/>
            <a:ext cx="2456742"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41760" y="2849309"/>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воронка переходов 52,0 · 28,9 · 7,9 — база, с которой сравнивают улучшение</a:t>
            </a:r>
          </a:p>
        </p:txBody>
      </p:sp>
      <p:sp>
        <p:nvSpPr>
          <p:cNvPr id="29" name="Rectangle 28"/>
          <p:cNvSpPr/>
          <p:nvPr/>
        </p:nvSpPr>
        <p:spPr>
          <a:xfrm>
            <a:off x="539496" y="3961981"/>
            <a:ext cx="2776229"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первую фазу чаще базы: 80–90 из ста против 52,0</a:t>
            </a:r>
          </a:p>
        </p:txBody>
      </p:sp>
      <p:sp>
        <p:nvSpPr>
          <p:cNvPr id="31" name="Rectangle 30"/>
          <p:cNvSpPr/>
          <p:nvPr/>
        </p:nvSpPr>
        <p:spPr>
          <a:xfrm>
            <a:off x="3315725" y="3961981"/>
            <a:ext cx="3242462"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62029" y="3961981"/>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сократить четыре работы на людях: задачи для модели там нет ни одной</a:t>
            </a:r>
          </a:p>
        </p:txBody>
      </p:sp>
      <p:sp>
        <p:nvSpPr>
          <p:cNvPr id="33" name="Rectangle 32"/>
          <p:cNvSpPr/>
          <p:nvPr/>
        </p:nvSpPr>
        <p:spPr>
          <a:xfrm>
            <a:off x="6558187" y="3961981"/>
            <a:ext cx="2637268"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704491" y="3961981"/>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изменился порядок работ — на масштабе модели бизнеса, не процесса одного препарата</a:t>
            </a:r>
          </a:p>
        </p:txBody>
      </p:sp>
      <p:sp>
        <p:nvSpPr>
          <p:cNvPr id="35" name="Rectangle 34"/>
          <p:cNvSpPr/>
          <p:nvPr/>
        </p:nvSpPr>
        <p:spPr>
          <a:xfrm>
            <a:off x="9195456" y="3961981"/>
            <a:ext cx="2456742"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41760" y="3961981"/>
            <a:ext cx="2164134"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прочерк: ожидаемая форма «шаг исчез» числами депозитария не подтверждается</a:t>
            </a:r>
          </a:p>
        </p:txBody>
      </p:sp>
      <p:sp>
        <p:nvSpPr>
          <p:cNvPr id="37" name="TextBox 36"/>
          <p:cNvSpPr txBox="1"/>
          <p:nvPr/>
        </p:nvSpPr>
        <p:spPr>
          <a:xfrm>
            <a:off x="539496" y="5220958"/>
            <a:ext cx="11112703" cy="272856"/>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Ранний шаг подешевел многократно. Одобрений — </a:t>
            </a:r>
            <a:r>
              <a:rPr sz="1400" b="1" i="0">
                <a:solidFill>
                  <a:srgbClr val="21295C"/>
                </a:solidFill>
                <a:latin typeface="Arial"/>
              </a:rPr>
              <a:t>0</a:t>
            </a:r>
            <a:r>
              <a:rPr sz="1350" b="0" i="0">
                <a:solidFill>
                  <a:srgbClr val="21295C"/>
                </a:solidFill>
                <a:latin typeface="Arial"/>
              </a:rPr>
              <a:t>. Узкое место лежит дальше и не подешевело.</a:t>
            </a:r>
          </a:p>
        </p:txBody>
      </p:sp>
      <p:sp>
        <p:nvSpPr>
          <p:cNvPr id="38" name="TextBox 37"/>
          <p:cNvSpPr txBox="1"/>
          <p:nvPr/>
        </p:nvSpPr>
        <p:spPr>
          <a:xfrm>
            <a:off x="539496" y="5640118"/>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Инженеру: мерить пропускную способность шага, который вы не трогали.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r>
              <a:rPr sz="1100" b="0" i="1">
                <a:solidFill>
                  <a:srgbClr val="1C7293"/>
                </a:solidFill>
                <a:latin typeface="Arial"/>
              </a:rPr>
              <a:t> · </a:t>
            </a:r>
            <a:r>
              <a:rPr sz="11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59131"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6652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3398627" y="1335024"/>
            <a:ext cx="1195174"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544931" y="1335024"/>
            <a:ext cx="90256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4593801" y="1335024"/>
            <a:ext cx="2113778"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740105" y="1335024"/>
            <a:ext cx="182117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6707580" y="1335024"/>
            <a:ext cx="494461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853884" y="1335024"/>
            <a:ext cx="465201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859131"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3398627" y="1727520"/>
            <a:ext cx="1195174"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44931" y="1727520"/>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4593801" y="1727520"/>
            <a:ext cx="2113778"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740105" y="1727520"/>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9" name="Rectangle 18"/>
          <p:cNvSpPr/>
          <p:nvPr/>
        </p:nvSpPr>
        <p:spPr>
          <a:xfrm>
            <a:off x="6707580" y="1727520"/>
            <a:ext cx="494461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3884" y="1727520"/>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859131"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3398627" y="2120016"/>
            <a:ext cx="1195174"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44931" y="2120016"/>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4593801" y="2120016"/>
            <a:ext cx="2113778"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740105" y="2120016"/>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7" name="Rectangle 26"/>
          <p:cNvSpPr/>
          <p:nvPr/>
        </p:nvSpPr>
        <p:spPr>
          <a:xfrm>
            <a:off x="6707580" y="2120016"/>
            <a:ext cx="494461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853884" y="2120016"/>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859131"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3398627" y="2512512"/>
            <a:ext cx="1195174"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44931" y="2512512"/>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3" name="Rectangle 32"/>
          <p:cNvSpPr/>
          <p:nvPr/>
        </p:nvSpPr>
        <p:spPr>
          <a:xfrm>
            <a:off x="4593801" y="2512512"/>
            <a:ext cx="2113778"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740105" y="2512512"/>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6707580" y="2512512"/>
            <a:ext cx="494461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3884" y="2512512"/>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859131"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3398627" y="2905008"/>
            <a:ext cx="1195174"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544931" y="2905008"/>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4593801" y="2905008"/>
            <a:ext cx="2113778"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740105" y="2905008"/>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6707580" y="2905008"/>
            <a:ext cx="494461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853884" y="2905008"/>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перебор гипотез по графу связей</a:t>
            </a:r>
          </a:p>
        </p:txBody>
      </p:sp>
      <p:sp>
        <p:nvSpPr>
          <p:cNvPr id="45" name="Rectangle 44"/>
          <p:cNvSpPr/>
          <p:nvPr/>
        </p:nvSpPr>
        <p:spPr>
          <a:xfrm>
            <a:off x="539496" y="3297504"/>
            <a:ext cx="2859131"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генерация</a:t>
            </a:r>
          </a:p>
        </p:txBody>
      </p:sp>
      <p:sp>
        <p:nvSpPr>
          <p:cNvPr id="47" name="Rectangle 46"/>
          <p:cNvSpPr/>
          <p:nvPr/>
        </p:nvSpPr>
        <p:spPr>
          <a:xfrm>
            <a:off x="3398627" y="3297504"/>
            <a:ext cx="1195174"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3544931" y="3297504"/>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9" name="Rectangle 48"/>
          <p:cNvSpPr/>
          <p:nvPr/>
        </p:nvSpPr>
        <p:spPr>
          <a:xfrm>
            <a:off x="4593801" y="3297504"/>
            <a:ext cx="2113778"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740105" y="3297504"/>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51" name="Rectangle 50"/>
          <p:cNvSpPr/>
          <p:nvPr/>
        </p:nvSpPr>
        <p:spPr>
          <a:xfrm>
            <a:off x="6707580" y="3297504"/>
            <a:ext cx="4944619"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853884" y="3297504"/>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молекула под мишень · дизайн белка</a:t>
            </a:r>
          </a:p>
        </p:txBody>
      </p:sp>
      <p:sp>
        <p:nvSpPr>
          <p:cNvPr id="53" name="TextBox 52"/>
          <p:cNvSpPr txBox="1"/>
          <p:nvPr/>
        </p:nvSpPr>
        <p:spPr>
          <a:xfrm>
            <a:off x="539496" y="383630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две клетки из сорока двух, и строки «генерация» на входной сетке курса не было вовсе: эту клетку добавляет отрасль.</a:t>
            </a:r>
          </a:p>
        </p:txBody>
      </p:sp>
      <p:sp>
        <p:nvSpPr>
          <p:cNvPr id="54" name="Rounded Rectangle 53"/>
          <p:cNvSpPr/>
          <p:nvPr/>
        </p:nvSpPr>
        <p:spPr>
          <a:xfrm>
            <a:off x="630936" y="4599635"/>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4508830"/>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генеративный дизайн молекулы</a:t>
            </a:r>
            <a:r>
              <a:rPr sz="1300" b="0" i="0">
                <a:solidFill>
                  <a:srgbClr val="21295C"/>
                </a:solidFill>
                <a:latin typeface="Arial"/>
              </a:rPr>
              <a:t> — Chemistry42 · REINVENT; дизайн белка — RFdiffusion · ProteinMPNN; предсказание структуры — AlphaFold 3 · Boltz-2 · Chai-1</a:t>
            </a:r>
          </a:p>
        </p:txBody>
      </p:sp>
      <p:sp>
        <p:nvSpPr>
          <p:cNvPr id="56" name="Rounded Rectangle 55"/>
          <p:cNvSpPr/>
          <p:nvPr/>
        </p:nvSpPr>
        <p:spPr>
          <a:xfrm>
            <a:off x="630936" y="5272162"/>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518135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перебор гипотез «мишень — болезнь — препарат»</a:t>
            </a:r>
            <a:r>
              <a:rPr sz="1300" b="0" i="0">
                <a:solidFill>
                  <a:srgbClr val="21295C"/>
                </a:solidFill>
                <a:latin typeface="Arial"/>
              </a:rPr>
              <a:t> — обученная модель на графе биомедицинских связей</a:t>
            </a:r>
          </a:p>
        </p:txBody>
      </p:sp>
      <p:sp>
        <p:nvSpPr>
          <p:cNvPr id="58" name="Rounded Rectangle 57"/>
          <p:cNvSpPr/>
          <p:nvPr/>
        </p:nvSpPr>
        <p:spPr>
          <a:xfrm>
            <a:off x="630936" y="5681577"/>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5590772"/>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расчётная оценка связывания клетки не занимает</a:t>
            </a:r>
            <a:r>
              <a:rPr sz="1300" b="0" i="0">
                <a:solidFill>
                  <a:srgbClr val="21295C"/>
                </a:solidFill>
                <a:latin typeface="Arial"/>
              </a:rPr>
              <a:t>: это расчёт физики, а не обученная модель, и различать приходится вслух</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две плоскости без собственного разбора: </a:t>
            </a:r>
            <a:r>
              <a:rPr sz="1550" b="1" i="0">
                <a:solidFill>
                  <a:srgbClr val="21295C"/>
                </a:solidFill>
                <a:latin typeface="Arial"/>
              </a:rPr>
              <a:t>кто теперь исполнитель</a:t>
            </a:r>
            <a:r>
              <a:rPr sz="1550" b="0" i="0">
                <a:solidFill>
                  <a:srgbClr val="21295C"/>
                </a:solidFill>
                <a:latin typeface="Arial"/>
              </a:rPr>
              <a:t> · </a:t>
            </a:r>
            <a:r>
              <a:rPr sz="1550" b="1" i="0">
                <a:solidFill>
                  <a:srgbClr val="21295C"/>
                </a:solidFill>
                <a:latin typeface="Arial"/>
              </a:rPr>
              <a:t>чего про доверие не измерено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Врач вернулся после года без процедур — декрет, административная должность, долгая болезнь. Диплом тот же, сертификат действующий, </a:t>
            </a:r>
            <a:r>
              <a:rPr sz="1380" b="1" i="0">
                <a:solidFill>
                  <a:srgbClr val="21295C"/>
                </a:solidFill>
                <a:latin typeface="Arial"/>
              </a:rPr>
              <a:t>допуск не отзывали</a:t>
            </a:r>
            <a:r>
              <a:rPr sz="1380" b="0" i="0">
                <a:solidFill>
                  <a:srgbClr val="21295C"/>
                </a:solidFill>
                <a:latin typeface="Arial"/>
              </a:rPr>
              <a:t>.</a:t>
            </a:r>
          </a:p>
          <a:p>
            <a:pPr algn="l">
              <a:lnSpc>
                <a:spcPct val="126000"/>
              </a:lnSpc>
              <a:spcBef>
                <a:spcPts val="700"/>
              </a:spcBef>
            </a:pPr>
            <a:r>
              <a:rPr sz="1380" b="0" i="0">
                <a:solidFill>
                  <a:srgbClr val="21295C"/>
                </a:solidFill>
                <a:latin typeface="Arial"/>
              </a:rPr>
              <a:t/>
            </a:r>
            <a:r>
              <a:rPr sz="1380" b="1" i="0">
                <a:solidFill>
                  <a:srgbClr val="21295C"/>
                </a:solidFill>
                <a:latin typeface="Arial"/>
              </a:rPr>
              <a:t>Восемь действий стадии.</a:t>
            </a:r>
            <a:r>
              <a:rPr sz="1380" b="0" i="0">
                <a:solidFill>
                  <a:srgbClr val="21295C"/>
                </a:solidFill>
                <a:latin typeface="Arial"/>
              </a:rPr>
              <a:t> 1. Подготовить пациента · 2. Ввести прибор до слепой кишки · 3. Осматривать при выведении — время засекают по таймеру · 4. Заглянуть за складку · 5. Снять найденное · 6. Отправить материал на гистологию · 7. Записать протокол · 8. Посчитать показатели самого врача.</a:t>
            </a:r>
          </a:p>
          <a:p>
            <a:pPr algn="l">
              <a:lnSpc>
                <a:spcPct val="126000"/>
              </a:lnSpc>
              <a:spcBef>
                <a:spcPts val="700"/>
              </a:spcBef>
            </a:pPr>
            <a:r>
              <a:rPr sz="1380" b="0" i="0">
                <a:solidFill>
                  <a:srgbClr val="21295C"/>
                </a:solidFill>
                <a:latin typeface="Arial"/>
              </a:rPr>
              <a:t/>
            </a:r>
            <a:r>
              <a:rPr sz="138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доля обнаружения</a:t>
            </a:r>
            <a:r>
              <a:rPr sz="1380" b="0" i="0">
                <a:solidFill>
                  <a:srgbClr val="21295C"/>
                </a:solidFill>
                <a:latin typeface="Arial"/>
              </a:rPr>
              <a:t> — доля процедур с находкой: её нельзя получить старанием, поэтому она измеряет поведение</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время выведения прибора</a:t>
            </a:r>
            <a:r>
              <a:rPr sz="138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380" b="0" i="0">
                <a:solidFill>
                  <a:srgbClr val="21295C"/>
                </a:solidFill>
                <a:latin typeface="Arial"/>
              </a:rPr>
              <a:t/>
            </a:r>
            <a:r>
              <a:rPr sz="1380" b="0" i="0">
                <a:solidFill>
                  <a:srgbClr val="21295C"/>
                </a:solidFill>
                <a:latin typeface="Arial"/>
              </a:rPr>
              <a:t>Три опоры, и ни одна не спрашивает самого человека:</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объём практики</a:t>
            </a:r>
            <a:r>
              <a:rPr sz="1380" b="0" i="0">
                <a:solidFill>
                  <a:srgbClr val="21295C"/>
                </a:solidFill>
                <a:latin typeface="Arial"/>
              </a:rPr>
              <a:t> — минимальное число процедур в год, ниже которого специалист считается выпавшим из формы</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аккредитация</a:t>
            </a:r>
            <a:r>
              <a:rPr sz="1380" b="0" i="0">
                <a:solidFill>
                  <a:srgbClr val="21295C"/>
                </a:solidFill>
                <a:latin typeface="Arial"/>
              </a:rPr>
              <a:t> — допуск к одному виду деятельности: его можно сузить, приостановить, не продлить</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повторная сертификация</a:t>
            </a:r>
            <a:r>
              <a:rPr sz="1380" b="0" i="0">
                <a:solidFill>
                  <a:srgbClr val="21295C"/>
                </a:solidFill>
                <a:latin typeface="Arial"/>
              </a:rPr>
              <a:t> — подтверждение периодическое, и между двумя подтверждениями состояние меняется в обе стороны</a:t>
            </a:r>
          </a:p>
          <a:p>
            <a:pPr algn="l">
              <a:lnSpc>
                <a:spcPct val="126000"/>
              </a:lnSpc>
              <a:spcBef>
                <a:spcPts val="700"/>
              </a:spcBef>
            </a:pPr>
            <a:r>
              <a:rPr sz="1380" b="0" i="0">
                <a:solidFill>
                  <a:srgbClr val="21295C"/>
                </a:solidFill>
                <a:latin typeface="Arial"/>
              </a:rPr>
              <a:t/>
            </a:r>
            <a:r>
              <a:rPr sz="1380" b="1" i="0">
                <a:solidFill>
                  <a:srgbClr val="21295C"/>
                </a:solidFill>
                <a:latin typeface="Arial"/>
              </a:rPr>
              <a:t>Навык здесь — расходуемое, и расходуется он молча.</a:t>
            </a:r>
          </a:p>
          <a:p>
            <a:pPr algn="l">
              <a:lnSpc>
                <a:spcPct val="126000"/>
              </a:lnSpc>
              <a:spcBef>
                <a:spcPts val="700"/>
              </a:spcBef>
            </a:pPr>
            <a:r>
              <a:rPr sz="1380" b="0" i="0">
                <a:solidFill>
                  <a:srgbClr val="21295C"/>
                </a:solidFill>
                <a:latin typeface="Arial"/>
              </a:rPr>
              <a:t/>
            </a:r>
            <a:r>
              <a:rPr sz="1380" b="1" i="0">
                <a:solidFill>
                  <a:srgbClr val="21295C"/>
                </a:solidFill>
                <a:latin typeface="Arial"/>
              </a:rPr>
              <a:t>У кого в работе есть внешняя числовая проверка собственной формы — и кто её считает?</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5" name="Picture 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6" name="Rounded Rectangle 5"/>
          <p:cNvSpPr/>
          <p:nvPr/>
        </p:nvSpPr>
        <p:spPr>
          <a:xfrm>
            <a:off x="502920" y="1335024"/>
            <a:ext cx="3389223"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ПРОПУСТИТЬ ОБРАЗОВАНИЕ</a:t>
            </a:r>
          </a:p>
        </p:txBody>
      </p:sp>
      <p:sp>
        <p:nvSpPr>
          <p:cNvPr id="8" name="TextBox 7"/>
          <p:cNvSpPr txBox="1"/>
          <p:nvPr/>
        </p:nvSpPr>
        <p:spPr>
          <a:xfrm>
            <a:off x="640080" y="1690796"/>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9" name="TextBox 8"/>
          <p:cNvSpPr txBox="1"/>
          <p:nvPr/>
        </p:nvSpPr>
        <p:spPr>
          <a:xfrm>
            <a:off x="640080" y="2898642"/>
            <a:ext cx="3114903"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так и возникает болезнь, найденная между двумя обследованиями; цена считается в стадии, на которой болезнь найдут в следующий раз, и в числе оставшихся вариантов лечения</a:t>
            </a:r>
          </a:p>
        </p:txBody>
      </p:sp>
      <p:sp>
        <p:nvSpPr>
          <p:cNvPr id="10" name="Rounded Rectangle 9"/>
          <p:cNvSpPr/>
          <p:nvPr/>
        </p:nvSpPr>
        <p:spPr>
          <a:xfrm>
            <a:off x="4056735" y="1335024"/>
            <a:ext cx="3389223"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УВИДЕТЬ ЛИШНЕЕ</a:t>
            </a:r>
          </a:p>
        </p:txBody>
      </p:sp>
      <p:sp>
        <p:nvSpPr>
          <p:cNvPr id="12" name="TextBox 11"/>
          <p:cNvSpPr txBox="1"/>
          <p:nvPr/>
        </p:nvSpPr>
        <p:spPr>
          <a:xfrm>
            <a:off x="4193895" y="1690796"/>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3" name="TextBox 12"/>
          <p:cNvSpPr txBox="1"/>
          <p:nvPr/>
        </p:nvSpPr>
        <p:spPr>
          <a:xfrm>
            <a:off x="4193895" y="2796792"/>
            <a:ext cx="311490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цена ложной тревоги считается в осложнениях, визитах и работе лаборатории</a:t>
            </a:r>
          </a:p>
        </p:txBody>
      </p:sp>
      <p:sp>
        <p:nvSpPr>
          <p:cNvPr id="14" name="Rounded Rectangle 13"/>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440" b="0" i="0">
                <a:solidFill>
                  <a:srgbClr val="21295C"/>
                </a:solidFill>
                <a:latin typeface="Arial"/>
              </a:rPr>
              <a:t/>
            </a:r>
            <a:r>
              <a:rPr sz="144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440" b="0" i="0">
                <a:solidFill>
                  <a:srgbClr val="21295C"/>
                </a:solidFill>
                <a:latin typeface="Arial"/>
              </a:rPr>
              <a:t/>
            </a:r>
            <a:r>
              <a:rPr sz="144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440" b="0" i="0">
                <a:solidFill>
                  <a:srgbClr val="21295C"/>
                </a:solidFill>
                <a:latin typeface="Arial"/>
              </a:rPr>
              <a:t/>
            </a:r>
            <a:r>
              <a:rPr sz="144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440" b="0" i="0">
                <a:solidFill>
                  <a:srgbClr val="21295C"/>
                </a:solidFill>
                <a:latin typeface="Arial"/>
              </a:rPr>
              <a:t/>
            </a:r>
            <a:r>
              <a:rPr sz="1440" b="1" i="0">
                <a:solidFill>
                  <a:srgbClr val="21295C"/>
                </a:solidFill>
                <a:latin typeface="Arial"/>
              </a:rPr>
              <a:t>Поэтому три опоры и считают за человека: сам он узнать не может.</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Zhao S., Yang X., … Bai Y., Clinical Gastroenterology and Hepatology 2022;20(2):e168–e181, DOI 10.1016/j.cgh.2020.11.019</a:t>
            </a:r>
            <a:r>
              <a:rPr sz="1100" b="0" i="1">
                <a:solidFill>
                  <a:srgbClr val="1C7293"/>
                </a:solidFill>
                <a:latin typeface="Arial"/>
              </a:rPr>
              <a:t> · </a:t>
            </a:r>
            <a:r>
              <a:rPr sz="1100" b="0" i="1" u="sng">
                <a:solidFill>
                  <a:srgbClr val="065A82"/>
                </a:solidFill>
                <a:latin typeface="Arial"/>
                <a:hlinkClick r:id="rId3"/>
              </a:rPr>
              <a:t>Xu L. и соавт., Gastroenterology Research and Practice 2016;2016:7631981, DOI 10.1155/2016/7631981</a:t>
            </a:r>
            <a:r>
              <a:rPr sz="1100" b="0" i="1">
                <a:solidFill>
                  <a:srgbClr val="1C7293"/>
                </a:solidFill>
                <a:latin typeface="Arial"/>
              </a:rPr>
              <a:t> · </a:t>
            </a:r>
            <a:r>
              <a:rPr sz="11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опубликованным рекомендациям; модель входит в один шаг из восьми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осмотр при выведении; подготовка, введение прибора, снятие, гистология, протокол и счёт показателей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Время выведения назначено и засекается таймером</a:t>
            </a:r>
          </a:p>
          <a:p>
            <a:pPr algn="l">
              <a:lnSpc>
                <a:spcPct val="126000"/>
              </a:lnSpc>
            </a:pPr>
            <a:r>
              <a:rPr sz="1450" b="0" i="0">
                <a:solidFill>
                  <a:srgbClr val="21295C"/>
                </a:solidFill>
                <a:latin typeface="Arial"/>
              </a:rPr>
              <a:t>• За складку заглядывает глаз врача</a:t>
            </a:r>
          </a:p>
          <a:p>
            <a:pPr algn="l">
              <a:lnSpc>
                <a:spcPct val="126000"/>
              </a:lnSpc>
            </a:pPr>
            <a:r>
              <a:rPr sz="1450" b="0" i="0">
                <a:solidFill>
                  <a:srgbClr val="21295C"/>
                </a:solidFill>
                <a:latin typeface="Arial"/>
              </a:rPr>
              <a:t>• Долю обнаружения считает профессия, по каждому</a:t>
            </a:r>
          </a:p>
          <a:p>
            <a:pPr algn="l">
              <a:lnSpc>
                <a:spcPct val="126000"/>
              </a:lnSpc>
            </a:pPr>
            <a:r>
              <a:rPr sz="1450" b="0" i="0">
                <a:solidFill>
                  <a:srgbClr val="21295C"/>
                </a:solidFill>
                <a:latin typeface="Arial"/>
              </a:rPr>
              <a:t>• Второй наблюдатель смотрит на тот же экран</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3–4: рамка на участке в реальном времени</a:t>
            </a:r>
          </a:p>
          <a:p>
            <a:pPr algn="l">
              <a:lnSpc>
                <a:spcPct val="126000"/>
              </a:lnSpc>
            </a:pPr>
            <a:r>
              <a:rPr sz="1450" b="0" i="0">
                <a:solidFill>
                  <a:srgbClr val="21295C"/>
                </a:solidFill>
                <a:latin typeface="Arial"/>
              </a:rPr>
              <a:t>• Движется к характеристике: «это вот что»</a:t>
            </a:r>
          </a:p>
          <a:p>
            <a:pPr algn="l">
              <a:lnSpc>
                <a:spcPct val="126000"/>
              </a:lnSpc>
            </a:pPr>
            <a:r>
              <a:rPr sz="1450" b="0" i="0">
                <a:solidFill>
                  <a:srgbClr val="21295C"/>
                </a:solidFill>
                <a:latin typeface="Arial"/>
              </a:rPr>
              <a:t>• Движется к автоматическому счёту показателей</a:t>
            </a:r>
          </a:p>
          <a:p>
            <a:pPr algn="l">
              <a:lnSpc>
                <a:spcPct val="126000"/>
              </a:lnSpc>
            </a:pPr>
            <a:r>
              <a:rPr sz="1450" b="0" i="0">
                <a:solidFill>
                  <a:srgbClr val="21295C"/>
                </a:solidFill>
                <a:latin typeface="Arial"/>
              </a:rPr>
              <a:t>• Новый шаг: решить, доверять ли рамке</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И три места, где не работает:</a:t>
            </a:r>
            <a:r>
              <a:rPr sz="1380" b="0" i="0">
                <a:solidFill>
                  <a:srgbClr val="21295C"/>
                </a:solidFill>
                <a:latin typeface="Arial"/>
              </a:rPr>
              <a:t> поддержать навык · показать врачу, чего он не увидел бы без подсветки · измерить его же результат без помощника.</a:t>
            </a:r>
          </a:p>
          <a:p>
            <a:pPr algn="l">
              <a:lnSpc>
                <a:spcPct val="126000"/>
              </a:lnSpc>
              <a:spcBef>
                <a:spcPts val="700"/>
              </a:spcBef>
            </a:pPr>
            <a:r>
              <a:rPr sz="1380" b="0" i="0">
                <a:solidFill>
                  <a:srgbClr val="21295C"/>
                </a:solidFill>
                <a:latin typeface="Arial"/>
              </a:rPr>
              <a:t/>
            </a:r>
            <a:r>
              <a:rPr sz="1380" b="1" i="0">
                <a:solidFill>
                  <a:srgbClr val="21295C"/>
                </a:solidFill>
                <a:latin typeface="Arial"/>
              </a:rPr>
              <a:t>Выигрыш лежит в находках при включённом помощнике — и это состояние не бесплатно.</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по показателям качества колоноскопии</a:t>
            </a:r>
            <a:r>
              <a:rPr sz="1100" b="0" i="1">
                <a:solidFill>
                  <a:srgbClr val="1C7293"/>
                </a:solidFill>
                <a:latin typeface="Arial"/>
              </a:rPr>
              <a:t> · </a:t>
            </a:r>
            <a:r>
              <a:rPr sz="1100" b="0" i="1" u="sng">
                <a:solidFill>
                  <a:srgbClr val="065A82"/>
                </a:solidFill>
                <a:latin typeface="Arial"/>
                <a:hlinkClick r:id="rId3"/>
              </a:rPr>
              <a:t>Budzyń K. и соавт., The Lancet Gastroenterology &amp; Hepatology 2025;10(10):896–903, DOI 10.1016/S2468-1253(25)00133-5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350" b="1" i="0">
                <a:solidFill>
                  <a:srgbClr val="21295C"/>
                </a:solidFill>
                <a:latin typeface="Arial"/>
              </a:rPr>
              <a:t>без</a:t>
            </a:r>
            <a:r>
              <a:rPr sz="1350" b="0" i="0">
                <a:solidFill>
                  <a:srgbClr val="21295C"/>
                </a:solidFill>
                <a:latin typeface="Arial"/>
              </a:rPr>
              <a:t> помощника, выполненными теми же врачами.</a:t>
            </a:r>
          </a:p>
          <a:p>
            <a:pPr algn="l">
              <a:lnSpc>
                <a:spcPct val="126000"/>
              </a:lnSpc>
              <a:spcBef>
                <a:spcPts val="700"/>
              </a:spcBef>
            </a:pPr>
            <a:r>
              <a:rPr sz="1350" b="0" i="0">
                <a:solidFill>
                  <a:srgbClr val="21295C"/>
                </a:solidFill>
                <a:latin typeface="Arial"/>
              </a:rPr>
              <a:t/>
            </a:r>
            <a:r>
              <a:rPr sz="1350" b="1" i="0">
                <a:solidFill>
                  <a:srgbClr val="21295C"/>
                </a:solidFill>
                <a:latin typeface="Arial"/>
              </a:rPr>
              <a:t>Сила свидетельства — на экране, а не в заметках:</a:t>
            </a:r>
            <a:r>
              <a:rPr sz="1350" b="0" i="0">
                <a:solidFill>
                  <a:srgbClr val="21295C"/>
                </a:solidFill>
                <a:latin typeface="Arial"/>
              </a:rPr>
              <a:t> ретроспективное наблюдательное, </a:t>
            </a:r>
            <a:r>
              <a:rPr sz="1350" b="1" i="0">
                <a:solidFill>
                  <a:srgbClr val="21295C"/>
                </a:solidFill>
                <a:latin typeface="Arial"/>
              </a:rPr>
              <a:t>не воспроизводилось</a:t>
            </a:r>
            <a:r>
              <a:rPr sz="1350" b="0" i="0">
                <a:solidFill>
                  <a:srgbClr val="21295C"/>
                </a:solidFill>
                <a:latin typeface="Arial"/>
              </a:rPr>
              <a:t>, причинности не доказывает.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Состав спора — тоже на экране:</a:t>
            </a:r>
          </a:p>
          <a:p>
            <a:pPr algn="l">
              <a:lnSpc>
                <a:spcPct val="126000"/>
              </a:lnSpc>
              <a:spcBef>
                <a:spcPts val="700"/>
              </a:spcBef>
            </a:pPr>
            <a:r>
              <a:rPr sz="1350" b="0" i="0">
                <a:solidFill>
                  <a:srgbClr val="21295C"/>
                </a:solidFill>
                <a:latin typeface="Arial"/>
              </a:rPr>
              <a:t/>
            </a:r>
            <a:r>
              <a:rPr sz="135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вторичные исходы </a:t>
            </a:r>
            <a:r>
              <a:rPr sz="1350" b="1" i="0">
                <a:solidFill>
                  <a:srgbClr val="21295C"/>
                </a:solidFill>
                <a:latin typeface="Arial"/>
              </a:rPr>
              <a:t>не просели</a:t>
            </a:r>
            <a:r>
              <a:rPr sz="1350" b="0" i="0">
                <a:solidFill>
                  <a:srgbClr val="21295C"/>
                </a:solidFill>
                <a:latin typeface="Arial"/>
              </a:rPr>
              <a:t>, время выведения прибора в работе </a:t>
            </a:r>
            <a:r>
              <a:rPr sz="1350" b="1" i="0">
                <a:solidFill>
                  <a:srgbClr val="21295C"/>
                </a:solidFill>
                <a:latin typeface="Arial"/>
              </a:rPr>
              <a:t>не измерено вовсе</a:t>
            </a:r>
          </a:p>
          <a:p>
            <a:pPr algn="l">
              <a:lnSpc>
                <a:spcPct val="126000"/>
              </a:lnSpc>
              <a:spcBef>
                <a:spcPts val="700"/>
              </a:spcBef>
            </a:pPr>
            <a:r>
              <a:rPr sz="1350" b="0" i="0">
                <a:solidFill>
                  <a:srgbClr val="21295C"/>
                </a:solidFill>
                <a:latin typeface="Arial"/>
              </a:rPr>
              <a:t/>
            </a:r>
            <a:r>
              <a:rPr sz="1350" b="0" i="0">
                <a:solidFill>
                  <a:srgbClr val="21295C"/>
                </a:solidFill>
                <a:latin typeface="Arial"/>
              </a:rPr>
              <a:t>• нагрузка на тех же врачей выросла с </a:t>
            </a:r>
            <a:r>
              <a:rPr sz="1350" b="1" i="0">
                <a:solidFill>
                  <a:srgbClr val="21295C"/>
                </a:solidFill>
                <a:latin typeface="Arial"/>
              </a:rPr>
              <a:t>795 до 1 382 процедур</a:t>
            </a:r>
            <a:r>
              <a:rPr sz="1350" b="0" i="0">
                <a:solidFill>
                  <a:srgbClr val="21295C"/>
                </a:solidFill>
                <a:latin typeface="Arial"/>
              </a:rPr>
              <a:t> за окно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Romańczyk M., Kitala D.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TextBox 15"/>
          <p:cNvSpPr txBox="1"/>
          <p:nvPr/>
        </p:nvSpPr>
        <p:spPr>
          <a:xfrm>
            <a:off x="502920" y="36041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Та же рука</a:t>
            </a:r>
          </a:p>
        </p:txBody>
      </p:sp>
      <p:sp>
        <p:nvSpPr>
          <p:cNvPr id="17" name="Rounded Rectangle 16"/>
          <p:cNvSpPr/>
          <p:nvPr/>
        </p:nvSpPr>
        <p:spPr>
          <a:xfrm>
            <a:off x="1920240" y="3567611"/>
            <a:ext cx="4811115"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613331"/>
            <a:ext cx="4646523"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с подсветкой — находят больше</a:t>
            </a:r>
          </a:p>
        </p:txBody>
      </p:sp>
      <p:sp>
        <p:nvSpPr>
          <p:cNvPr id="19" name="Rounded Rectangle 18"/>
          <p:cNvSpPr/>
          <p:nvPr/>
        </p:nvSpPr>
        <p:spPr>
          <a:xfrm>
            <a:off x="6877659" y="3567611"/>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613331"/>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613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37665"/>
            <a:ext cx="11441887" cy="1898542"/>
          </a:xfrm>
          <a:prstGeom prst="roundRect">
            <a:avLst>
              <a:gd name="adj" fmla="val 1605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429105"/>
            <a:ext cx="11112703" cy="180710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Форма 8 словаря: 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ассистента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Плоскость без разбора: 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TextBox 13"/>
          <p:cNvSpPr txBox="1"/>
          <p:nvPr/>
        </p:nvSpPr>
        <p:spPr>
          <a:xfrm>
            <a:off x="502920" y="351931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В медицине — не измерено</a:t>
            </a:r>
          </a:p>
        </p:txBody>
      </p:sp>
      <p:sp>
        <p:nvSpPr>
          <p:cNvPr id="15" name="Rounded Rectangle 14"/>
          <p:cNvSpPr/>
          <p:nvPr/>
        </p:nvSpPr>
        <p:spPr>
          <a:xfrm>
            <a:off x="1920240" y="3482736"/>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528456"/>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обрыв доверия после одной ошибки</a:t>
            </a:r>
          </a:p>
        </p:txBody>
      </p:sp>
      <p:sp>
        <p:nvSpPr>
          <p:cNvPr id="17" name="Rounded Rectangle 16"/>
          <p:cNvSpPr/>
          <p:nvPr/>
        </p:nvSpPr>
        <p:spPr>
          <a:xfrm>
            <a:off x="6877659" y="3482736"/>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6959955" y="3528456"/>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доверие врача за месяцы работы</a:t>
            </a:r>
          </a:p>
        </p:txBody>
      </p:sp>
      <p:sp>
        <p:nvSpPr>
          <p:cNvPr id="19" name="TextBox 18"/>
          <p:cNvSpPr txBox="1"/>
          <p:nvPr/>
        </p:nvSpPr>
        <p:spPr>
          <a:xfrm>
            <a:off x="502920" y="412281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Вне медицины — измерено</a:t>
            </a:r>
          </a:p>
        </p:txBody>
      </p:sp>
      <p:sp>
        <p:nvSpPr>
          <p:cNvPr id="20" name="Rounded Rectangle 19"/>
          <p:cNvSpPr/>
          <p:nvPr/>
        </p:nvSpPr>
        <p:spPr>
          <a:xfrm>
            <a:off x="1920240" y="408624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413196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работать без помощника: от 30 до 50 из ста, опрос</a:t>
            </a:r>
          </a:p>
        </p:txBody>
      </p:sp>
      <p:sp>
        <p:nvSpPr>
          <p:cNvPr id="22" name="TextBox 21"/>
          <p:cNvSpPr txBox="1"/>
          <p:nvPr/>
        </p:nvSpPr>
        <p:spPr>
          <a:xfrm>
            <a:off x="502920" y="458001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 чего человек отказывается — видно; что он думает о доверии — нет</a:t>
            </a:r>
          </a:p>
        </p:txBody>
      </p:sp>
      <p:sp>
        <p:nvSpPr>
          <p:cNvPr id="23" name="Rounded Rectangle 22"/>
          <p:cNvSpPr/>
          <p:nvPr/>
        </p:nvSpPr>
        <p:spPr>
          <a:xfrm>
            <a:off x="374904" y="4856294"/>
            <a:ext cx="11441887" cy="1379913"/>
          </a:xfrm>
          <a:prstGeom prst="roundRect">
            <a:avLst>
              <a:gd name="adj" fmla="val 220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947734"/>
            <a:ext cx="11112703" cy="1288473"/>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350" b="0" i="0">
                <a:solidFill>
                  <a:srgbClr val="21295C"/>
                </a:solidFill>
                <a:latin typeface="Arial"/>
              </a:rPr>
              <a:t/>
            </a:r>
            <a:r>
              <a:rPr sz="1350" b="0" i="0">
                <a:solidFill>
                  <a:srgbClr val="21295C"/>
                </a:solidFill>
                <a:latin typeface="Arial"/>
              </a:rPr>
              <a:t>• всё, что есть про доверие врача, снято в один сеанс</a:t>
            </a:r>
          </a:p>
          <a:p>
            <a:pPr algn="l">
              <a:lnSpc>
                <a:spcPct val="126000"/>
              </a:lnSpc>
              <a:spcBef>
                <a:spcPts val="700"/>
              </a:spcBef>
            </a:pPr>
            <a:r>
              <a:rPr sz="1350" b="0" i="0">
                <a:solidFill>
                  <a:srgbClr val="21295C"/>
                </a:solidFill>
                <a:latin typeface="Arial"/>
              </a:rPr>
              <a:t/>
            </a:r>
            <a:r>
              <a:rPr sz="135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080" b="0" i="0">
                <a:solidFill>
                  <a:srgbClr val="21295C"/>
                </a:solidFill>
                <a:latin typeface="Arial"/>
              </a:rPr>
              <a:t/>
            </a:r>
            <a:r>
              <a:rPr sz="1080" b="0" i="1">
                <a:solidFill>
                  <a:srgbClr val="1C7293"/>
                </a:solidFill>
                <a:latin typeface="Arial"/>
              </a:rPr>
              <a:t>Это устройство интерфейса, а не режим инструмента, и найдено оно вне медицины.</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Плоскость без разбора: 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39860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0210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011250"/>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a:t>
            </a:r>
          </a:p>
        </p:txBody>
      </p:sp>
      <p:sp>
        <p:nvSpPr>
          <p:cNvPr id="31" name="Right Arrow 30"/>
          <p:cNvSpPr/>
          <p:nvPr/>
        </p:nvSpPr>
        <p:spPr>
          <a:xfrm>
            <a:off x="8386876" y="412555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45930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735584"/>
            <a:ext cx="11441887" cy="1500623"/>
          </a:xfrm>
          <a:prstGeom prst="roundRect">
            <a:avLst>
              <a:gd name="adj" fmla="val 20311"/>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27024"/>
            <a:ext cx="11112703" cy="14091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u="sng">
                <a:solidFill>
                  <a:srgbClr val="065A82"/>
                </a:solidFill>
                <a:latin typeface="Arial"/>
                <a:hlinkClick r:id="rId2"/>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METR, обновление замера производительности разработчиков, 24 февраля 2026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42104"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4949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181600" y="1335024"/>
            <a:ext cx="250366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327904" y="1335024"/>
            <a:ext cx="221105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685268" y="1335024"/>
            <a:ext cx="291607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31572" y="1335024"/>
            <a:ext cx="262346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601342" y="1335024"/>
            <a:ext cx="3050856"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47646" y="1335024"/>
            <a:ext cx="275824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642104"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 включённым помощником находят больше: прирост измерен и повторён многократно</a:t>
            </a:r>
          </a:p>
        </p:txBody>
      </p:sp>
      <p:sp>
        <p:nvSpPr>
          <p:cNvPr id="15" name="Rectangle 14"/>
          <p:cNvSpPr/>
          <p:nvPr/>
        </p:nvSpPr>
        <p:spPr>
          <a:xfrm>
            <a:off x="3181600" y="1736636"/>
            <a:ext cx="2503667"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327904" y="1736636"/>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поддерживать навык: измерено обратное — 28,4 против 22,4 из ста без помощника</a:t>
            </a:r>
          </a:p>
        </p:txBody>
      </p:sp>
      <p:sp>
        <p:nvSpPr>
          <p:cNvPr id="17" name="Rectangle 16"/>
          <p:cNvSpPr/>
          <p:nvPr/>
        </p:nvSpPr>
        <p:spPr>
          <a:xfrm>
            <a:off x="5685268" y="1736636"/>
            <a:ext cx="2916074"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31572" y="1736636"/>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исполнитель тот же, но стал хуже — место, объём и рука прежние, изменилось состояние руки</a:t>
            </a:r>
          </a:p>
        </p:txBody>
      </p:sp>
      <p:sp>
        <p:nvSpPr>
          <p:cNvPr id="19" name="Rectangle 18"/>
          <p:cNvSpPr/>
          <p:nvPr/>
        </p:nvSpPr>
        <p:spPr>
          <a:xfrm>
            <a:off x="8601342" y="1736636"/>
            <a:ext cx="3050856"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47646" y="1736636"/>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доля обнаружения по каждому врачу отдельно, из обычной работы</a:t>
            </a:r>
          </a:p>
        </p:txBody>
      </p:sp>
      <p:sp>
        <p:nvSpPr>
          <p:cNvPr id="21" name="Rectangle 20"/>
          <p:cNvSpPr/>
          <p:nvPr/>
        </p:nvSpPr>
        <p:spPr>
          <a:xfrm>
            <a:off x="539496" y="2849309"/>
            <a:ext cx="2642104"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считать показатели самого врача: долю обнаружения и время выведения</a:t>
            </a:r>
          </a:p>
        </p:txBody>
      </p:sp>
      <p:sp>
        <p:nvSpPr>
          <p:cNvPr id="23" name="Rectangle 22"/>
          <p:cNvSpPr/>
          <p:nvPr/>
        </p:nvSpPr>
        <p:spPr>
          <a:xfrm>
            <a:off x="3181600" y="2849309"/>
            <a:ext cx="2503667"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327904" y="2849309"/>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дать врачу обратную связь о пропуске: внутри процедуры её нет</a:t>
            </a:r>
          </a:p>
        </p:txBody>
      </p:sp>
      <p:sp>
        <p:nvSpPr>
          <p:cNvPr id="25" name="Rectangle 24"/>
          <p:cNvSpPr/>
          <p:nvPr/>
        </p:nvSpPr>
        <p:spPr>
          <a:xfrm>
            <a:off x="5685268" y="2849309"/>
            <a:ext cx="2916074"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31572" y="2849309"/>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шаг появился — посредник, переводящий вывод модели, и целевой арбитраж расхождения</a:t>
            </a:r>
          </a:p>
        </p:txBody>
      </p:sp>
      <p:sp>
        <p:nvSpPr>
          <p:cNvPr id="27" name="Rectangle 26"/>
          <p:cNvSpPr/>
          <p:nvPr/>
        </p:nvSpPr>
        <p:spPr>
          <a:xfrm>
            <a:off x="8601342" y="2849309"/>
            <a:ext cx="3050856"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47646" y="2849309"/>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время выведения прибора с назначенной нижней границей, по таймеру</a:t>
            </a:r>
          </a:p>
        </p:txBody>
      </p:sp>
      <p:sp>
        <p:nvSpPr>
          <p:cNvPr id="29" name="Rectangle 28"/>
          <p:cNvSpPr/>
          <p:nvPr/>
        </p:nvSpPr>
        <p:spPr>
          <a:xfrm>
            <a:off x="539496" y="3961981"/>
            <a:ext cx="2642104"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снять объём рутинной перепроверки: человеческого чтения ниже на 44,3 процента</a:t>
            </a:r>
          </a:p>
        </p:txBody>
      </p:sp>
      <p:sp>
        <p:nvSpPr>
          <p:cNvPr id="31" name="Rectangle 30"/>
          <p:cNvSpPr/>
          <p:nvPr/>
        </p:nvSpPr>
        <p:spPr>
          <a:xfrm>
            <a:off x="3181600" y="3961981"/>
            <a:ext cx="2503667"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327904" y="3961981"/>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измерить доверие за месяцы работы: таких измерений нет ни у кого</a:t>
            </a:r>
          </a:p>
        </p:txBody>
      </p:sp>
      <p:sp>
        <p:nvSpPr>
          <p:cNvPr id="33" name="Rectangle 32"/>
          <p:cNvSpPr/>
          <p:nvPr/>
        </p:nvSpPr>
        <p:spPr>
          <a:xfrm>
            <a:off x="5685268" y="3961981"/>
            <a:ext cx="2916074"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31572" y="3961981"/>
            <a:ext cx="262346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рутинная перепроверка каждого случая ушла, а структура защиты от ошибки сменилась целиком</a:t>
            </a:r>
          </a:p>
        </p:txBody>
      </p:sp>
      <p:sp>
        <p:nvSpPr>
          <p:cNvPr id="35" name="Rectangle 34"/>
          <p:cNvSpPr/>
          <p:nvPr/>
        </p:nvSpPr>
        <p:spPr>
          <a:xfrm>
            <a:off x="8601342" y="3961981"/>
            <a:ext cx="3050856"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47646" y="3961981"/>
            <a:ext cx="2758248"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измеряет врача без помощника: такой процедуры нет ни в одной юрисдикции</a:t>
            </a:r>
          </a:p>
        </p:txBody>
      </p:sp>
      <p:sp>
        <p:nvSpPr>
          <p:cNvPr id="37" name="TextBox 36"/>
          <p:cNvSpPr txBox="1"/>
          <p:nvPr/>
        </p:nvSpPr>
        <p:spPr>
          <a:xfrm>
            <a:off x="539496" y="522095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Повторения на реальной работе нет, и пробел назван числом: 22 отдельные попытки поиска.</a:t>
            </a:r>
            <a:r>
              <a:rPr sz="1350" b="0" i="0">
                <a:solidFill>
                  <a:srgbClr val="21295C"/>
                </a:solidFill>
                <a:latin typeface="Arial"/>
              </a:rPr>
              <a:t> Продольного измерения для тех, кто учился сразу с ассистентом, не существует вовсе.</a:t>
            </a:r>
          </a:p>
        </p:txBody>
      </p:sp>
      <p:sp>
        <p:nvSpPr>
          <p:cNvPr id="38" name="TextBox 37"/>
          <p:cNvSpPr txBox="1"/>
          <p:nvPr/>
        </p:nvSpPr>
        <p:spPr>
          <a:xfrm>
            <a:off x="539496" y="591297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Дальше: девять форм, счёт приписок и ответ на вопрос лекции.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100" b="0" i="1">
                <a:solidFill>
                  <a:srgbClr val="1C7293"/>
                </a:solidFill>
                <a:latin typeface="Arial"/>
              </a:rPr>
              <a:t> · </a:t>
            </a:r>
            <a:r>
              <a:rPr sz="11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712833"/>
          </a:xfrm>
          <a:prstGeom prst="roundRect">
            <a:avLst>
              <a:gd name="adj" fmla="val 646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53737"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61129"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693233" y="1335024"/>
            <a:ext cx="871850"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39537" y="1335024"/>
            <a:ext cx="57924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3565084" y="1335024"/>
            <a:ext cx="1909236"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3711388" y="1335024"/>
            <a:ext cx="161662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5474320" y="1335024"/>
            <a:ext cx="3237348"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620624" y="1335024"/>
            <a:ext cx="2944740"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видео</a:t>
            </a:r>
          </a:p>
        </p:txBody>
      </p:sp>
      <p:sp>
        <p:nvSpPr>
          <p:cNvPr id="13" name="Rectangle 12"/>
          <p:cNvSpPr/>
          <p:nvPr/>
        </p:nvSpPr>
        <p:spPr>
          <a:xfrm>
            <a:off x="8711668" y="1335024"/>
            <a:ext cx="2940530" cy="419844"/>
          </a:xfrm>
          <a:prstGeom prst="rect">
            <a:avLst/>
          </a:prstGeom>
          <a:solidFill>
            <a:srgbClr val="065A82"/>
          </a:solidFill>
          <a:ln>
            <a:noFill/>
          </a:ln>
          <a:effectLst/>
        </p:spPr>
        <p:txBody>
          <a:bodyPr rtlCol="0" anchor="ctr"/>
          <a:lstStyle/>
          <a:p>
            <a:pPr algn="ctr"/>
          </a:p>
        </p:txBody>
      </p:sp>
      <p:sp>
        <p:nvSpPr>
          <p:cNvPr id="14" name="TextBox 13"/>
          <p:cNvSpPr txBox="1"/>
          <p:nvPr/>
        </p:nvSpPr>
        <p:spPr>
          <a:xfrm>
            <a:off x="8857972" y="1335024"/>
            <a:ext cx="264792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5" name="Rectangle 14"/>
          <p:cNvSpPr/>
          <p:nvPr/>
        </p:nvSpPr>
        <p:spPr>
          <a:xfrm>
            <a:off x="539496" y="1754868"/>
            <a:ext cx="2153737"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1754868"/>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7" name="Rectangle 16"/>
          <p:cNvSpPr/>
          <p:nvPr/>
        </p:nvSpPr>
        <p:spPr>
          <a:xfrm>
            <a:off x="2693233" y="1754868"/>
            <a:ext cx="871850"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2839537" y="1754868"/>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9" name="Rectangle 18"/>
          <p:cNvSpPr/>
          <p:nvPr/>
        </p:nvSpPr>
        <p:spPr>
          <a:xfrm>
            <a:off x="3565084" y="1754868"/>
            <a:ext cx="190923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3711388" y="1754868"/>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474320" y="1754868"/>
            <a:ext cx="3237348" cy="419844"/>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5620624" y="1754868"/>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3" name="Rectangle 22"/>
          <p:cNvSpPr/>
          <p:nvPr/>
        </p:nvSpPr>
        <p:spPr>
          <a:xfrm>
            <a:off x="8711668" y="1754868"/>
            <a:ext cx="2940530" cy="41984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8857972" y="1754868"/>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39496" y="2174713"/>
            <a:ext cx="2153737"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2174713"/>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7" name="Rectangle 26"/>
          <p:cNvSpPr/>
          <p:nvPr/>
        </p:nvSpPr>
        <p:spPr>
          <a:xfrm>
            <a:off x="2693233" y="2174713"/>
            <a:ext cx="871850"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839537" y="2174713"/>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3565084" y="2174713"/>
            <a:ext cx="1909236" cy="41984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3711388" y="2174713"/>
            <a:ext cx="1616628"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второй читатель</a:t>
            </a:r>
          </a:p>
        </p:txBody>
      </p:sp>
      <p:sp>
        <p:nvSpPr>
          <p:cNvPr id="31" name="Rectangle 30"/>
          <p:cNvSpPr/>
          <p:nvPr/>
        </p:nvSpPr>
        <p:spPr>
          <a:xfrm>
            <a:off x="5474320" y="2174713"/>
            <a:ext cx="3237348" cy="41984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620624" y="2174713"/>
            <a:ext cx="2944740"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подсветка в реальном времени</a:t>
            </a:r>
          </a:p>
        </p:txBody>
      </p:sp>
      <p:sp>
        <p:nvSpPr>
          <p:cNvPr id="33" name="Rectangle 32"/>
          <p:cNvSpPr/>
          <p:nvPr/>
        </p:nvSpPr>
        <p:spPr>
          <a:xfrm>
            <a:off x="8711668" y="2174713"/>
            <a:ext cx="2940530" cy="41984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857972" y="2174713"/>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539496" y="2594557"/>
            <a:ext cx="2153737"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2594557"/>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7" name="Rectangle 36"/>
          <p:cNvSpPr/>
          <p:nvPr/>
        </p:nvSpPr>
        <p:spPr>
          <a:xfrm>
            <a:off x="2693233" y="2594557"/>
            <a:ext cx="871850" cy="41984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839537" y="2594557"/>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9" name="Rectangle 38"/>
          <p:cNvSpPr/>
          <p:nvPr/>
        </p:nvSpPr>
        <p:spPr>
          <a:xfrm>
            <a:off x="3565084" y="2594557"/>
            <a:ext cx="1909236" cy="41984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3711388" y="2594557"/>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474320" y="2594557"/>
            <a:ext cx="3237348" cy="419844"/>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5620624" y="2594557"/>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711668" y="2594557"/>
            <a:ext cx="2940530" cy="419844"/>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8857972" y="2594557"/>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5" name="Rectangle 44"/>
          <p:cNvSpPr/>
          <p:nvPr/>
        </p:nvSpPr>
        <p:spPr>
          <a:xfrm>
            <a:off x="539496" y="3014402"/>
            <a:ext cx="2153737" cy="41984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85800" y="3014402"/>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47" name="Rectangle 46"/>
          <p:cNvSpPr/>
          <p:nvPr/>
        </p:nvSpPr>
        <p:spPr>
          <a:xfrm>
            <a:off x="2693233" y="3014402"/>
            <a:ext cx="871850" cy="419844"/>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2839537" y="3014402"/>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9" name="Rectangle 48"/>
          <p:cNvSpPr/>
          <p:nvPr/>
        </p:nvSpPr>
        <p:spPr>
          <a:xfrm>
            <a:off x="3565084" y="3014402"/>
            <a:ext cx="1909236" cy="419844"/>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711388" y="3014402"/>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1" name="Rectangle 50"/>
          <p:cNvSpPr/>
          <p:nvPr/>
        </p:nvSpPr>
        <p:spPr>
          <a:xfrm>
            <a:off x="5474320" y="3014402"/>
            <a:ext cx="3237348" cy="419844"/>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620624" y="3014402"/>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3" name="Rectangle 52"/>
          <p:cNvSpPr/>
          <p:nvPr/>
        </p:nvSpPr>
        <p:spPr>
          <a:xfrm>
            <a:off x="8711668" y="3014402"/>
            <a:ext cx="2940530" cy="419844"/>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8857972" y="3014402"/>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5" name="TextBox 54"/>
          <p:cNvSpPr txBox="1"/>
          <p:nvPr/>
        </p:nvSpPr>
        <p:spPr>
          <a:xfrm>
            <a:off x="539496" y="358055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Полужирным — разобранное в разделе.</a:t>
            </a:r>
            <a:r>
              <a:rPr sz="1450" b="0" i="0">
                <a:solidFill>
                  <a:srgbClr val="21295C"/>
                </a:solidFill>
                <a:latin typeface="Arial"/>
              </a:rPr>
              <a:t> Занято две клетки из сорока двух, обе в распознавании; психология участия клетки не получает — режима там нет.</a:t>
            </a:r>
          </a:p>
        </p:txBody>
      </p:sp>
      <p:sp>
        <p:nvSpPr>
          <p:cNvPr id="56" name="Rounded Rectangle 55"/>
          <p:cNvSpPr/>
          <p:nvPr/>
        </p:nvSpPr>
        <p:spPr>
          <a:xfrm>
            <a:off x="630936" y="4412828"/>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43115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в реальном времени</a:t>
            </a:r>
            <a:r>
              <a:rPr sz="1450" b="0" i="0">
                <a:solidFill>
                  <a:srgbClr val="21295C"/>
                </a:solidFill>
                <a:latin typeface="Arial"/>
              </a:rPr>
              <a:t> — GI Genius · CAD EYE · ENDO-AID CADe; разница между ними мала</a:t>
            </a:r>
          </a:p>
        </p:txBody>
      </p:sp>
      <p:sp>
        <p:nvSpPr>
          <p:cNvPr id="58" name="Rounded Rectangle 57"/>
          <p:cNvSpPr/>
          <p:nvPr/>
        </p:nvSpPr>
        <p:spPr>
          <a:xfrm>
            <a:off x="630936" y="4851478"/>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475019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a:t>
            </a:r>
            <a:r>
              <a:rPr sz="1450" b="0" i="0">
                <a:solidFill>
                  <a:srgbClr val="21295C"/>
                </a:solidFill>
                <a:latin typeface="Arial"/>
              </a:rPr>
              <a:t> — Transpara · Lunit INSIGHT · iCAD ProFound; рядом — сортировка потока низкого риска</a:t>
            </a:r>
          </a:p>
        </p:txBody>
      </p:sp>
      <p:sp>
        <p:nvSpPr>
          <p:cNvPr id="60" name="Rounded Rectangle 59"/>
          <p:cNvSpPr/>
          <p:nvPr/>
        </p:nvSpPr>
        <p:spPr>
          <a:xfrm>
            <a:off x="630936" y="5290128"/>
            <a:ext cx="100584" cy="100584"/>
          </a:xfrm>
          <a:prstGeom prst="roundRect">
            <a:avLst>
              <a:gd name="adj" fmla="val 50000"/>
            </a:avLst>
          </a:prstGeom>
          <a:solidFill>
            <a:srgbClr val="028090"/>
          </a:solidFill>
          <a:ln>
            <a:noFill/>
          </a:ln>
          <a:effectLst/>
        </p:spPr>
        <p:txBody>
          <a:bodyPr rtlCol="0" anchor="ctr"/>
          <a:lstStyle/>
          <a:p>
            <a:pPr algn="ctr"/>
          </a:p>
        </p:txBody>
      </p:sp>
      <p:sp>
        <p:nvSpPr>
          <p:cNvPr id="61" name="TextBox 60"/>
          <p:cNvSpPr txBox="1"/>
          <p:nvPr/>
        </p:nvSpPr>
        <p:spPr>
          <a:xfrm>
            <a:off x="923544" y="5188846"/>
            <a:ext cx="10728655"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чем держат цену ошибки:</a:t>
            </a:r>
            <a:r>
              <a:rPr sz="1450" b="0" i="0">
                <a:solidFill>
                  <a:srgbClr val="21295C"/>
                </a:solidFill>
                <a:latin typeface="Arial"/>
              </a:rPr>
              <a:t> доля обнаружения · время выведения · </a:t>
            </a:r>
            <a:r>
              <a:rPr sz="1500" b="1" i="0">
                <a:solidFill>
                  <a:srgbClr val="21295C"/>
                </a:solidFill>
                <a:latin typeface="Arial"/>
              </a:rPr>
              <a:t>результат врача без помощника не измеряет ни одна процедура</a:t>
            </a:r>
          </a:p>
        </p:txBody>
      </p:sp>
      <p:sp>
        <p:nvSpPr>
          <p:cNvPr id="62" name="Rectangle 6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 </a:t>
            </a:r>
            <a:r>
              <a:rPr sz="1320" b="1" i="0">
                <a:solidFill>
                  <a:srgbClr val="21295C"/>
                </a:solidFill>
                <a:latin typeface="Arial"/>
              </a:rPr>
              <a:t>1. Нагрузка переехала на другой шаг</a:t>
            </a:r>
            <a:r>
              <a:rPr sz="1320" b="0" i="0">
                <a:solidFill>
                  <a:srgbClr val="21295C"/>
                </a:solidFill>
                <a:latin typeface="Arial"/>
              </a:rPr>
              <a:t> — воронка молекул ИИ-происхождения против базы отрасли: одобрений регулятора </a:t>
            </a:r>
            <a:r>
              <a:rPr sz="1320" b="1" i="0">
                <a:solidFill>
                  <a:srgbClr val="21295C"/>
                </a:solidFill>
                <a:latin typeface="Arial"/>
              </a:rPr>
              <a:t>ноль</a:t>
            </a:r>
            <a:r>
              <a:rPr sz="1320" b="0" i="0">
                <a:solidFill>
                  <a:srgbClr val="21295C"/>
                </a:solidFill>
                <a:latin typeface="Arial"/>
              </a:rPr>
              <a:t>.</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2. Шаг исчез совсем</a:t>
            </a:r>
            <a:r>
              <a:rPr sz="1320" b="0" i="0">
                <a:solidFill>
                  <a:srgbClr val="21295C"/>
                </a:solidFill>
                <a:latin typeface="Arial"/>
              </a:rPr>
              <a:t> — </a:t>
            </a:r>
            <a:r>
              <a:rPr sz="1320" b="0" i="1">
                <a:solidFill>
                  <a:srgbClr val="21295C"/>
                </a:solidFill>
                <a:latin typeface="Arial"/>
              </a:rPr>
              <a:t>ни одного подтверждённого случая за лекцию.</a:t>
            </a:r>
            <a:r>
              <a:rPr sz="132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3. Шаг появился</a:t>
            </a:r>
            <a:r>
              <a:rPr sz="132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4. Нагрузка выросла на том же месте</a:t>
            </a:r>
            <a:r>
              <a:rPr sz="132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4а. Нагрузка на том же месте упала</a:t>
            </a:r>
            <a:r>
              <a:rPr sz="132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60" b="0" i="0">
                <a:solidFill>
                  <a:srgbClr val="21295C"/>
                </a:solidFill>
                <a:latin typeface="Arial"/>
              </a:rPr>
              <a:t/>
            </a:r>
            <a:r>
              <a:rPr sz="106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60" b="0" i="0">
                <a:solidFill>
                  <a:srgbClr val="21295C"/>
                </a:solidFill>
                <a:latin typeface="Arial"/>
              </a:rPr>
              <a:t/>
            </a:r>
            <a:r>
              <a:rPr sz="106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a:t>
            </a:r>
            <a:r>
              <a:rPr sz="126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Копаешь — а там вообще нет модели.</a:t>
            </a:r>
            <a:r>
              <a:rPr sz="129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выигрыш не там, где показывают.</a:t>
            </a:r>
            <a:r>
              <a:rPr sz="129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числа выросли при пересказе.</a:t>
            </a:r>
            <a:r>
              <a:rPr sz="129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Приёмы, по одному на графу: </a:t>
            </a:r>
            <a:r>
              <a:rPr sz="1290" b="1" i="0">
                <a:solidFill>
                  <a:srgbClr val="21295C"/>
                </a:solidFill>
                <a:latin typeface="Arial"/>
              </a:rPr>
              <a:t>убери модель</a:t>
            </a:r>
            <a:r>
              <a:rPr sz="1290" b="0" i="0">
                <a:solidFill>
                  <a:srgbClr val="21295C"/>
                </a:solidFill>
                <a:latin typeface="Arial"/>
              </a:rPr>
              <a:t> · </a:t>
            </a:r>
            <a:r>
              <a:rPr sz="1290" b="1" i="0">
                <a:solidFill>
                  <a:srgbClr val="21295C"/>
                </a:solidFill>
                <a:latin typeface="Arial"/>
              </a:rPr>
              <a:t>спроси, от чего посчитан эффект</a:t>
            </a:r>
            <a:r>
              <a:rPr sz="1290" b="0" i="0">
                <a:solidFill>
                  <a:srgbClr val="21295C"/>
                </a:solidFill>
                <a:latin typeface="Arial"/>
              </a:rPr>
              <a:t> · </a:t>
            </a:r>
            <a:r>
              <a:rPr sz="1290" b="1" i="0">
                <a:solidFill>
                  <a:srgbClr val="21295C"/>
                </a:solidFill>
                <a:latin typeface="Arial"/>
              </a:rPr>
              <a:t>открой первоисточник и сверь выборку, дизайн и журнал</a:t>
            </a:r>
            <a:r>
              <a:rPr sz="1290" b="0" i="0">
                <a:solidFill>
                  <a:srgbClr val="21295C"/>
                </a:solidFill>
                <a:latin typeface="Arial"/>
              </a:rPr>
              <a:t>.</a:t>
            </a:r>
          </a:p>
          <a:p>
            <a:pPr algn="l">
              <a:lnSpc>
                <a:spcPct val="126000"/>
              </a:lnSpc>
              <a:spcBef>
                <a:spcPts val="700"/>
              </a:spcBef>
            </a:pPr>
            <a:r>
              <a:rPr sz="1030" b="0" i="0">
                <a:solidFill>
                  <a:srgbClr val="21295C"/>
                </a:solidFill>
                <a:latin typeface="Arial"/>
              </a:rPr>
              <a:t/>
            </a:r>
            <a:r>
              <a:rPr sz="1030" b="0" i="1">
                <a:solidFill>
                  <a:srgbClr val="1C7293"/>
                </a:solidFill>
                <a:latin typeface="Arial"/>
              </a:rPr>
              <a:t>В этой же лекции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лекции: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 </a:t>
            </a:r>
            <a:r>
              <a:rPr sz="1470" b="1" i="0">
                <a:solidFill>
                  <a:srgbClr val="21295C"/>
                </a:solidFill>
                <a:latin typeface="Arial"/>
              </a:rPr>
              <a:t>Распознавание на изображении</a:t>
            </a:r>
            <a:r>
              <a:rPr sz="1470" b="0" i="0">
                <a:solidFill>
                  <a:srgbClr val="21295C"/>
                </a:solidFill>
                <a:latin typeface="Arial"/>
              </a:rPr>
              <a:t> — скрининг и чтение исследований. </a:t>
            </a:r>
            <a:r>
              <a:rPr sz="1470" b="0" i="1">
                <a:solidFill>
                  <a:srgbClr val="21295C"/>
                </a:solidFill>
                <a:latin typeface="Arial"/>
              </a:rPr>
              <a:t>Держат:</a:t>
            </a:r>
            <a:r>
              <a:rPr sz="147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Прогноз на структурированных данных</a:t>
            </a:r>
            <a:r>
              <a:rPr sz="1470" b="0" i="0">
                <a:solidFill>
                  <a:srgbClr val="21295C"/>
                </a:solidFill>
                <a:latin typeface="Arial"/>
              </a:rPr>
              <a:t> — раннее предупреждение, воронка активов. </a:t>
            </a:r>
            <a:r>
              <a:rPr sz="1470" b="0" i="1">
                <a:solidFill>
                  <a:srgbClr val="21295C"/>
                </a:solidFill>
                <a:latin typeface="Arial"/>
              </a:rPr>
              <a:t>Держат:</a:t>
            </a:r>
            <a:r>
              <a:rPr sz="147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Поиск и генерация на тексте</a:t>
            </a:r>
            <a:r>
              <a:rPr sz="1470" b="0" i="0">
                <a:solidFill>
                  <a:srgbClr val="21295C"/>
                </a:solidFill>
                <a:latin typeface="Arial"/>
              </a:rPr>
              <a:t> — запись приёма, выписка, дифференциальный диагноз. </a:t>
            </a:r>
            <a:r>
              <a:rPr sz="1470" b="0" i="1">
                <a:solidFill>
                  <a:srgbClr val="21295C"/>
                </a:solidFill>
                <a:latin typeface="Arial"/>
              </a:rPr>
              <a:t>Держат:</a:t>
            </a:r>
            <a:r>
              <a:rPr sz="147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Генерация структуры</a:t>
            </a:r>
            <a:r>
              <a:rPr sz="1470" b="0" i="0">
                <a:solidFill>
                  <a:srgbClr val="21295C"/>
                </a:solidFill>
                <a:latin typeface="Arial"/>
              </a:rPr>
              <a:t> — молекула под заданную мишень, дизайн белка. </a:t>
            </a:r>
            <a:r>
              <a:rPr sz="1470" b="0" i="1">
                <a:solidFill>
                  <a:srgbClr val="21295C"/>
                </a:solidFill>
                <a:latin typeface="Arial"/>
              </a:rPr>
              <a:t>Держат:</a:t>
            </a:r>
            <a:r>
              <a:rPr sz="147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Результат исполнителя без инструмента</a:t>
            </a:r>
            <a:r>
              <a:rPr sz="1470" b="0" i="0">
                <a:solidFill>
                  <a:srgbClr val="21295C"/>
                </a:solidFill>
                <a:latin typeface="Arial"/>
              </a:rPr>
              <a:t> — тот же врач, та же процедура, без помощника: находок меньше. </a:t>
            </a:r>
            <a:r>
              <a:rPr sz="1470" b="0" i="1">
                <a:solidFill>
                  <a:srgbClr val="21295C"/>
                </a:solidFill>
                <a:latin typeface="Arial"/>
              </a:rPr>
              <a:t>Держат:</a:t>
            </a:r>
            <a:r>
              <a:rPr sz="1470" b="0" i="0">
                <a:solidFill>
                  <a:srgbClr val="21295C"/>
                </a:solidFill>
                <a:latin typeface="Arial"/>
              </a:rPr>
              <a:t> </a:t>
            </a:r>
            <a:r>
              <a:rPr sz="147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Три сгустка те же, добавилась одна клетка, держат их четыре разные процедуры — </a:t>
            </a:r>
            <a:r>
              <a:rPr sz="1470" b="1" i="0">
                <a:solidFill>
                  <a:srgbClr val="21295C"/>
                </a:solidFill>
                <a:latin typeface="Arial"/>
              </a:rPr>
              <a:t>а пятую не держит ничто</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лекция это отработала · 2. Устройство отозвали за год. Решения этого года остались · 3. Вопросы</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7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70" b="0" i="0">
                <a:solidFill>
                  <a:srgbClr val="21295C"/>
                </a:solidFill>
                <a:latin typeface="Arial"/>
              </a:rPr>
              <a:t/>
            </a:r>
            <a:r>
              <a:rPr sz="1170" b="0" i="0">
                <a:solidFill>
                  <a:srgbClr val="21295C"/>
                </a:solidFill>
                <a:latin typeface="Arial"/>
              </a:rPr>
              <a:t>У опоры «ошибается иначе» величины нет: </a:t>
            </a:r>
            <a:r>
              <a:rPr sz="1170" b="1" i="0">
                <a:solidFill>
                  <a:srgbClr val="21295C"/>
                </a:solidFill>
                <a:latin typeface="Arial"/>
              </a:rPr>
              <a:t>доли взаимного перекрытия ошибок не измерены</a:t>
            </a:r>
            <a:r>
              <a:rPr sz="117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Есть ли у человека независимый источник истины, кроме объяснения модели?</a:t>
            </a:r>
            <a:r>
              <a:rPr sz="1170" b="0" i="0">
                <a:solidFill>
                  <a:srgbClr val="21295C"/>
                </a:solidFill>
                <a:latin typeface="Arial"/>
              </a:rPr>
              <a:t> Проверка по самообъяснению — не проверка.</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Измерено ли, что он возражает?</a:t>
            </a:r>
            <a:r>
              <a:rPr sz="1170" b="0" i="0">
                <a:solidFill>
                  <a:srgbClr val="21295C"/>
                </a:solidFill>
                <a:latin typeface="Arial"/>
              </a:rPr>
              <a:t> Доля отклонений и доля </a:t>
            </a:r>
            <a:r>
              <a:rPr sz="1170" b="1" i="0">
                <a:solidFill>
                  <a:srgbClr val="21295C"/>
                </a:solidFill>
                <a:latin typeface="Arial"/>
              </a:rPr>
              <a:t>правильных</a:t>
            </a:r>
            <a:r>
              <a:rPr sz="117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Успевает ли он физически?</a:t>
            </a:r>
            <a:r>
              <a:rPr sz="117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940" b="0" i="0">
                <a:solidFill>
                  <a:srgbClr val="21295C"/>
                </a:solidFill>
                <a:latin typeface="Arial"/>
              </a:rPr>
              <a:t/>
            </a:r>
            <a:r>
              <a:rPr sz="94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Kramer P., … Dai T., JAMA Health Forum 2025;6(8):e253172, DOI 10.1001/jamahealthforum.2025.3172, срез ноябрь 2024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4"/>
              </a:rPr>
              <a:t>Регламент (ЕС) 2024/1689, статья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659284"/>
          </a:xfrm>
          <a:prstGeom prst="roundRect">
            <a:avLst>
              <a:gd name="adj" fmla="val 18369"/>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3177188"/>
            <a:ext cx="1770735" cy="1847305"/>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332636"/>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935265"/>
            <a:ext cx="1441551" cy="93378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77188"/>
            <a:ext cx="1770735" cy="1847305"/>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332636"/>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935265"/>
            <a:ext cx="1441551" cy="93378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Решение до отзыва</a:t>
            </a:r>
          </a:p>
          <a:p>
            <a:pPr algn="l">
              <a:lnSpc>
                <a:spcPct val="126000"/>
              </a:lnSpc>
            </a:pPr>
            <a:r>
              <a:rPr sz="115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