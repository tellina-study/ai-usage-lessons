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а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база для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сомнительным;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после принятия, медиана поднимается до шести с половиной секунд —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разборе. Значит опоры нужны другие, и их три.</a:t>
            </a:r>
          </a:p>
          <a:p>
            <a:r>
              <a:t/>
            </a:r>
          </a:p>
          <a:p>
            <a:r>
              <a:t>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на вопросы практика она не отвечает.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её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процедура и норматив держат решение на месте.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a:t>
            </a:r>
          </a:p>
          <a:p>
            <a:r>
              <a:t/>
            </a:r>
          </a:p>
          <a:p>
            <a:r>
              <a:t>Три разграничения — честный адрес, по которому тема закрывается: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как метод и научное событие его разбирает отдельная лекция про научный цикл; цифровые двойники — обещание отдельной лекции, и оно подтверждается, а не отменяется.</a:t>
            </a:r>
          </a:p>
          <a:p>
            <a:r>
              <a:t/>
            </a:r>
          </a:p>
          <a:p>
            <a:r>
              <a:t>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потому, что на них нет времени. Материал есть, времени на него нет, и сказать это надо именно так.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совсем другая, и от неё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 что занят ресурс, которого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и это решение, а не умолчание: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разной судьбой, и разницу стоит проговорить: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только что проведённой границей: в разделе 1 система решала, кого посмотреть; здесь система меряет и сама выносит заключение по измеренному. Отличие от раздела 3: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раздел начинается с определений: чувствительность и специфичность без привязки к болезни, и что происходит с одними и теми же долями на двух группах — поголовном скрининге и профильном отделении.</a:t>
            </a:r>
          </a:p>
          <a:p>
            <a:r>
              <a:t/>
            </a:r>
          </a:p>
          <a:p>
            <a:r>
              <a:t>Перед тремя разборами раздел даёт картину узнаваемого человека — техника флюорографии, который на месте решает, годится ли снимок; это не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случай про доступ, а не про годность входа, — предмет раздела 1.</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а сводной оценки дермоскопии не даёт вовсе — из-за разнородности работ; две методологии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тёмных тонах на 9–15 пунктов ниже, чем на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в публикации не найдена,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против смещения его значимо не уменьшили. Чинилось это сбором и разметкой — той работой, которая в руках инженера.</a:t>
            </a:r>
          </a:p>
          <a:p>
            <a:r>
              <a:t/>
            </a:r>
          </a:p>
          <a:p>
            <a:r>
              <a:t>И строка, которая несёт разбор: разрыв по тону кожи измерен у модели, а у классических методов не измерен вовсе — по тону кожи точность не разбивает ни метаанализ, ни обзоры. Сказать «модель хуже человека на этой подгруппе» не с чем. Средняя точность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 причём у одного из них регистрация была приостановлена надзором, поскольку заявленные характеристики при проверке не подтвердились.</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специалист её возьмёт. Система читает десятитысячный снимок так же, как первый, а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один вход даёт один и тот же выход, чего от двух людей не добиться.</a:t>
            </a:r>
          </a:p>
          <a:p>
            <a:r>
              <a:t/>
            </a:r>
          </a:p>
          <a:p>
            <a:r>
              <a:t>Граница названа группой. Доли посчитаны на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не менялась.</a:t>
            </a:r>
          </a:p>
          <a:p>
            <a:r>
              <a:t/>
            </a:r>
          </a:p>
          <a:p>
            <a:r>
              <a:t>Риск разложен по трём местам, и ни одно не в модели. Вход измеряет прибор, и прибор может быть смещён до модели. Набор собирает человек, и его состав может не повторять население, на котором система потом работает. Цель задаёт переменная — и ею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целью. Четыре вопроса — и каждый в этом разделе провалил по одному внедрению.</a:t>
            </a:r>
          </a:p>
          <a:p>
            <a:r>
              <a:t/>
            </a:r>
          </a:p>
          <a:p>
            <a:r>
              <a:t>И одно обнадёживающее наблюдение: единственное измеренное исправление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надо обосновывать. Снимок и анализ крови назначены первыми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 это не возражение предыдущим кадрам: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покупает и чего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сортировка потока в неотложной рентгенологии. Покупает это организатор национальной или региональной программы, а не отдельная больница; в сортировке — больница или сеть. Режим не умеет удержать читателя от сужения поиска: порядок предъявления подсказки решает больше, чем точность модели, и измерено это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 и потому никто не настраивал режим под процесс. Вторая клетка на предыдущей стадии отсутствовала, и это существенно: текст в карте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существует как направление исследований,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существует второе мнение, и утверждение проверяемое: долю несовпадающих ошибок можно посчитать на своих данных прежде, чем собирать пару. Отсюда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ошибка ни там, ни здесь, а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«не менее 0,76» в информационном листе поставщика;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0,76–0,86.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Картина стоит здесь затем, что дальше пойдут проценты и доли, а за каждым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который модель бизнеса считала предрешённым.</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Производство лекарственной формы на линии — отдельная тема курса, в этот раздел она не входит. Одну границу надо удержать до первого разбора: это работа на масштабе отрасли, а не решение о человеке у койки, и переносить выводы одного масштаба на другой запрещено так же, как в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вечера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Одно уточнение про знаменатель, чтобы рядом не встал чужой. В клинику с 2015 года вошло 75 молекул машинного происхождения — это вся совокупность категории, а не знаменатель второй фазы, и ставить 75 рядом с «около сорока процентов» нельзя. Против 4 933 переходов отраслевой стороны такая пара внушала бы сопоставимый вес свидетельства там, где разница в три порядка.</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Узкое место стоит назвать по частям, иначе оно звучит отговоркой: переносимость у людей, набор пациентов, длительность наблюдения, производство клинической партии. Расчётный отбор соединений не касается ни одной из этих четырёх работ.</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У этого вывода есть и срок годности, и его стоит произнести: появится первое одобрение — вывод придётся менять целиком, переформулировкой тут не обойтись.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за вечер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Между двумя осями стоят три кадра, каждый —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начался вечер.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копаешь — а это не модель. Порог на приборе, таблица правил, оптика, протокол или новая роль в процессе. Линия эта про принадлежность выигрыша и вины, а не про их наличие: в том же вечере есть разборы, где выигрыш принадлежит именно модели, и они названы по именам. Счёт ведётся по реестру номинаций на день сборки: он читался десять, потом двенадцать, потом снова десять,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около шестидесяти процентов отзывов к концу исследования оставались неразрешёнными.</a:t>
            </a:r>
          </a:p>
          <a:p>
            <a:r>
              <a:t/>
            </a:r>
          </a:p>
          <a:p>
            <a:r>
              <a:t>Вторая половина подтверждается двумя разборами вечера. В исследовании подбора дозы два смертельных исхода — программу остановили, исходы остались.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принятого не врачом, снят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554480"/>
            <a:ext cx="11185855" cy="3840480"/>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
            </a:r>
            <a:r>
              <a:rPr sz="3400" b="0" i="0">
                <a:solidFill>
                  <a:srgbClr val="21295C"/>
                </a:solidFill>
                <a:latin typeface="Arial"/>
              </a:rPr>
              <a:t>Лекция 7</a:t>
            </a:r>
          </a:p>
          <a:p>
            <a:pPr algn="l">
              <a:lnSpc>
                <a:spcPct val="122000"/>
              </a:lnSpc>
              <a:spcBef>
                <a:spcPts val="1200"/>
              </a:spcBef>
            </a:pPr>
            <a:r>
              <a:rPr sz="3400" b="0" i="0">
                <a:solidFill>
                  <a:srgbClr val="21295C"/>
                </a:solidFill>
                <a:latin typeface="Arial"/>
              </a:rPr>
              <a:t/>
            </a: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
            </a: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4" name="Rectangle 3"/>
          <p:cNvSpPr/>
          <p:nvPr/>
        </p:nvSpPr>
        <p:spPr>
          <a:xfrm>
            <a:off x="502920" y="1170432"/>
            <a:ext cx="1463040"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три состояния на одних и тех же случаях.</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состояние — человек без модели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Распознавание на изображении</a:t>
            </a:r>
            <a:r>
              <a:rPr sz="1440" b="0" i="0">
                <a:solidFill>
                  <a:srgbClr val="21295C"/>
                </a:solidFill>
                <a:latin typeface="Arial"/>
              </a:rPr>
              <a:t> — чтение снимка. Режим: модель вторым читателем или сортировка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440" b="0" i="0">
                <a:solidFill>
                  <a:srgbClr val="21295C"/>
                </a:solidFill>
                <a:latin typeface="Arial"/>
              </a:rPr>
              <a:t/>
            </a:r>
            <a:r>
              <a:rPr sz="1440" b="1" i="0">
                <a:solidFill>
                  <a:srgbClr val="21295C"/>
                </a:solidFill>
                <a:latin typeface="Arial"/>
              </a:rPr>
              <a:t>Классификация на изображении</a:t>
            </a:r>
            <a:r>
              <a:rPr sz="144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440" b="0" i="0">
                <a:solidFill>
                  <a:srgbClr val="21295C"/>
                </a:solidFill>
                <a:latin typeface="Arial"/>
              </a:rPr>
              <a:t/>
            </a:r>
            <a:r>
              <a:rPr sz="1440" b="1" i="0">
                <a:solidFill>
                  <a:srgbClr val="21295C"/>
                </a:solidFill>
                <a:latin typeface="Arial"/>
              </a:rPr>
              <a:t>Прогноз на структурированных данных</a:t>
            </a:r>
            <a:r>
              <a:rPr sz="144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Поиск с генерацией на тексте</a:t>
            </a:r>
            <a:r>
              <a:rPr sz="144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Сортировка потока по предсказанному риску снимает </a:t>
            </a:r>
            <a:r>
              <a:rPr sz="1200" b="1" i="0">
                <a:solidFill>
                  <a:srgbClr val="21295C"/>
                </a:solidFill>
                <a:latin typeface="Arial"/>
              </a:rPr>
              <a:t>44,3 процента</a:t>
            </a:r>
            <a:r>
              <a:rPr sz="1200" b="0" i="0">
                <a:solidFill>
                  <a:srgbClr val="21295C"/>
                </a:solidFill>
                <a:latin typeface="Arial"/>
              </a:rPr>
              <a:t> человеческого чтения при чувствительности </a:t>
            </a:r>
            <a:r>
              <a:rPr sz="1200" b="1" i="0">
                <a:solidFill>
                  <a:srgbClr val="21295C"/>
                </a:solidFill>
                <a:latin typeface="Arial"/>
              </a:rPr>
              <a:t>80,5 из ста</a:t>
            </a:r>
            <a:r>
              <a:rPr sz="1200" b="0" i="0">
                <a:solidFill>
                  <a:srgbClr val="21295C"/>
                </a:solidFill>
                <a:latin typeface="Arial"/>
              </a:rPr>
              <a:t> против </a:t>
            </a:r>
            <a:r>
              <a:rPr sz="1200" b="1" i="0">
                <a:solidFill>
                  <a:srgbClr val="21295C"/>
                </a:solidFill>
                <a:latin typeface="Arial"/>
              </a:rPr>
              <a:t>73,8 из ста</a:t>
            </a:r>
            <a:r>
              <a:rPr sz="1200" b="0" i="0">
                <a:solidFill>
                  <a:srgbClr val="21295C"/>
                </a:solidFill>
                <a:latin typeface="Arial"/>
              </a:rPr>
              <a:t> у двойного чтения без модели. </a:t>
            </a:r>
            <a:r>
              <a:rPr sz="1200" b="1" i="0">
                <a:solidFill>
                  <a:srgbClr val="21295C"/>
                </a:solidFill>
                <a:latin typeface="Arial"/>
              </a:rPr>
              <a:t>Базы разные: объём чтения — промежуточный анализ на 80 033 женщинах, чувствительность — итоговый на 105 934.</a:t>
            </a:r>
            <a:r>
              <a:rPr sz="12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Отечественная платформа лучевой диагностики: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470" b="0" i="0">
                <a:solidFill>
                  <a:srgbClr val="21295C"/>
                </a:solidFill>
                <a:latin typeface="Arial"/>
              </a:rPr>
              <a:t/>
            </a:r>
            <a:r>
              <a:rPr sz="1470" b="0" i="0">
                <a:solidFill>
                  <a:srgbClr val="21295C"/>
                </a:solidFill>
                <a:latin typeface="Arial"/>
              </a:rPr>
              <a:t>Что предъявили вместо модели:</a:t>
            </a:r>
          </a:p>
          <a:p>
            <a:pPr algn="l">
              <a:lnSpc>
                <a:spcPct val="126000"/>
              </a:lnSpc>
              <a:spcBef>
                <a:spcPts val="700"/>
              </a:spcBef>
            </a:pPr>
            <a:r>
              <a:rPr sz="1470" b="0" i="0">
                <a:solidFill>
                  <a:srgbClr val="21295C"/>
                </a:solidFill>
                <a:latin typeface="Arial"/>
              </a:rPr>
              <a:t/>
            </a:r>
            <a:r>
              <a:rPr sz="1470" b="0" i="0">
                <a:solidFill>
                  <a:srgbClr val="21295C"/>
                </a:solidFill>
                <a:latin typeface="Arial"/>
              </a:rPr>
              <a:t>• На экзаменационных вопросах для начинающих врачей, июнь 2018 года: </a:t>
            </a:r>
            <a:r>
              <a:rPr sz="1470" b="1" i="0">
                <a:solidFill>
                  <a:srgbClr val="21295C"/>
                </a:solidFill>
                <a:latin typeface="Arial"/>
              </a:rPr>
              <a:t>81</a:t>
            </a:r>
            <a:r>
              <a:rPr sz="1470" b="0" i="0">
                <a:solidFill>
                  <a:srgbClr val="21295C"/>
                </a:solidFill>
                <a:latin typeface="Arial"/>
              </a:rPr>
              <a:t> у приложения против </a:t>
            </a:r>
            <a:r>
              <a:rPr sz="1470" b="1" i="0">
                <a:solidFill>
                  <a:srgbClr val="21295C"/>
                </a:solidFill>
                <a:latin typeface="Arial"/>
              </a:rPr>
              <a:t>72</a:t>
            </a:r>
            <a:r>
              <a:rPr sz="1470" b="0" i="0">
                <a:solidFill>
                  <a:srgbClr val="21295C"/>
                </a:solidFill>
                <a:latin typeface="Arial"/>
              </a:rPr>
              <a:t> — среднего результата живых врачей на тех же вопросах.</a:t>
            </a:r>
          </a:p>
          <a:p>
            <a:pPr algn="l">
              <a:lnSpc>
                <a:spcPct val="126000"/>
              </a:lnSpc>
              <a:spcBef>
                <a:spcPts val="700"/>
              </a:spcBef>
            </a:pPr>
            <a:r>
              <a:rPr sz="1470" b="0" i="0">
                <a:solidFill>
                  <a:srgbClr val="21295C"/>
                </a:solidFill>
                <a:latin typeface="Arial"/>
              </a:rPr>
              <a:t/>
            </a:r>
            <a:r>
              <a:rPr sz="147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470" b="0" i="0">
                <a:solidFill>
                  <a:srgbClr val="21295C"/>
                </a:solidFill>
                <a:latin typeface="Arial"/>
              </a:rPr>
              <a:t/>
            </a:r>
            <a:r>
              <a:rPr sz="1470" b="1" i="0">
                <a:solidFill>
                  <a:srgbClr val="21295C"/>
                </a:solidFill>
                <a:latin typeface="Arial"/>
              </a:rPr>
              <a:t>Уберите модель — и сервис продолжит работать.</a:t>
            </a:r>
            <a:r>
              <a:rPr sz="147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470" b="0" i="1">
                <a:solidFill>
                  <a:srgbClr val="21295C"/>
                </a:solidFill>
                <a:latin typeface="Arial"/>
              </a:rPr>
              <a:t>(по заявлению бывшего сотрудника, не аудит)</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это делают сегодня: </a:t>
            </a:r>
            <a:r>
              <a:rPr sz="1470" b="0" i="1">
                <a:solidFill>
                  <a:srgbClr val="21295C"/>
                </a:solidFill>
                <a:latin typeface="Arial"/>
              </a:rPr>
              <a:t>поиск с генерацией на тексте</a:t>
            </a:r>
            <a:r>
              <a:rPr sz="147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180" b="0" i="0">
                <a:solidFill>
                  <a:srgbClr val="21295C"/>
                </a:solidFill>
                <a:latin typeface="Arial"/>
              </a:rPr>
              <a:t/>
            </a:r>
            <a:r>
              <a:rPr sz="118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62909"/>
          </a:xfrm>
          <a:prstGeom prst="roundRect">
            <a:avLst>
              <a:gd name="adj" fmla="val 1477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89373"/>
            <a:ext cx="11441887" cy="2746834"/>
          </a:xfrm>
          <a:prstGeom prst="roundRect">
            <a:avLst>
              <a:gd name="adj" fmla="val 1109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580813"/>
            <a:ext cx="11112703" cy="2655394"/>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Практика получает </a:t>
            </a:r>
            <a:r>
              <a:rPr sz="1440" b="1" i="0">
                <a:solidFill>
                  <a:srgbClr val="21295C"/>
                </a:solidFill>
                <a:latin typeface="Arial"/>
              </a:rPr>
              <a:t>около 155 фунтов</a:t>
            </a:r>
            <a:r>
              <a:rPr sz="144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Классически обращаются </a:t>
            </a:r>
            <a:r>
              <a:rPr sz="1440" b="1" i="0">
                <a:solidFill>
                  <a:srgbClr val="21295C"/>
                </a:solidFill>
                <a:latin typeface="Arial"/>
              </a:rPr>
              <a:t>4,0 раза</a:t>
            </a:r>
            <a:r>
              <a:rPr sz="1440" b="0" i="0">
                <a:solidFill>
                  <a:srgbClr val="21295C"/>
                </a:solidFill>
                <a:latin typeface="Arial"/>
              </a:rPr>
              <a:t> в год у 25–44-летних и </a:t>
            </a:r>
            <a:r>
              <a:rPr sz="1440" b="1" i="0">
                <a:solidFill>
                  <a:srgbClr val="21295C"/>
                </a:solidFill>
                <a:latin typeface="Arial"/>
              </a:rPr>
              <a:t>3,26 раза</a:t>
            </a:r>
            <a:r>
              <a:rPr sz="144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440" b="0" i="0">
                <a:solidFill>
                  <a:srgbClr val="21295C"/>
                </a:solidFill>
                <a:latin typeface="Arial"/>
              </a:rPr>
              <a:t/>
            </a:r>
            <a:r>
              <a:rPr sz="1440" b="0" i="0">
                <a:solidFill>
                  <a:srgbClr val="21295C"/>
                </a:solidFill>
                <a:latin typeface="Arial"/>
              </a:rPr>
              <a:t>В сервисе обращений стало </a:t>
            </a:r>
            <a:r>
              <a:rPr sz="1440" b="1" i="0">
                <a:solidFill>
                  <a:srgbClr val="21295C"/>
                </a:solidFill>
                <a:latin typeface="Arial"/>
              </a:rPr>
              <a:t>4,3</a:t>
            </a:r>
            <a:r>
              <a:rPr sz="1440" b="0" i="0">
                <a:solidFill>
                  <a:srgbClr val="21295C"/>
                </a:solidFill>
                <a:latin typeface="Arial"/>
              </a:rPr>
              <a:t> на человека в год при той же подушевой сумме.</a:t>
            </a:r>
          </a:p>
          <a:p>
            <a:pPr algn="l">
              <a:lnSpc>
                <a:spcPct val="126000"/>
              </a:lnSpc>
              <a:spcBef>
                <a:spcPts val="700"/>
              </a:spcBef>
            </a:pPr>
            <a:r>
              <a:rPr sz="1440" b="0" i="0">
                <a:solidFill>
                  <a:srgbClr val="21295C"/>
                </a:solidFill>
                <a:latin typeface="Arial"/>
              </a:rPr>
              <a:t/>
            </a:r>
            <a:r>
              <a:rPr sz="1440" b="1" i="0">
                <a:solidFill>
                  <a:srgbClr val="21295C"/>
                </a:solidFill>
                <a:latin typeface="Arial"/>
              </a:rPr>
              <a:t>Нагрузка переехала на другой шаг</a:t>
            </a:r>
            <a:r>
              <a:rPr sz="1440" b="0" i="0">
                <a:solidFill>
                  <a:srgbClr val="21295C"/>
                </a:solidFill>
                <a:latin typeface="Arial"/>
              </a:rPr>
              <a:t> — с сортировки на приём, и платить за это стало некому.</a:t>
            </a:r>
          </a:p>
          <a:p>
            <a:pPr algn="l">
              <a:lnSpc>
                <a:spcPct val="126000"/>
              </a:lnSpc>
              <a:spcBef>
                <a:spcPts val="700"/>
              </a:spcBef>
            </a:pPr>
            <a:r>
              <a:rPr sz="1440" b="0" i="0">
                <a:solidFill>
                  <a:srgbClr val="21295C"/>
                </a:solidFill>
                <a:latin typeface="Arial"/>
              </a:rPr>
              <a:t/>
            </a:r>
            <a:r>
              <a:rPr sz="1440" b="1" i="0">
                <a:solidFill>
                  <a:srgbClr val="21295C"/>
                </a:solidFill>
                <a:latin typeface="Arial"/>
              </a:rPr>
              <a:t>дало</a:t>
            </a:r>
            <a:r>
              <a:rPr sz="1440" b="0" i="0">
                <a:solidFill>
                  <a:srgbClr val="21295C"/>
                </a:solidFill>
                <a:latin typeface="Arial"/>
              </a:rPr>
              <a:t> — сортировка круглосуточно и мгновенно, порог обращения ниже · </a:t>
            </a:r>
            <a:r>
              <a:rPr sz="1440" b="1" i="0">
                <a:solidFill>
                  <a:srgbClr val="21295C"/>
                </a:solidFill>
                <a:latin typeface="Arial"/>
              </a:rPr>
              <a:t>потребовало</a:t>
            </a:r>
            <a:r>
              <a:rPr sz="1440" b="0" i="0">
                <a:solidFill>
                  <a:srgbClr val="21295C"/>
                </a:solidFill>
                <a:latin typeface="Arial"/>
              </a:rPr>
              <a:t> — экономика на каждом пациенте в минус, задокументированный случай нераспознанных симптомов · </a:t>
            </a:r>
            <a:r>
              <a:rPr sz="1440" b="1" i="0">
                <a:solidFill>
                  <a:srgbClr val="21295C"/>
                </a:solidFill>
                <a:latin typeface="Arial"/>
              </a:rPr>
              <a:t>в сумме хуже</a:t>
            </a:r>
            <a:r>
              <a:rPr sz="1440" b="0" i="0">
                <a:solidFill>
                  <a:srgbClr val="21295C"/>
                </a:solidFill>
                <a:latin typeface="Arial"/>
              </a:rPr>
              <a:t> — оценка на выходе </a:t>
            </a:r>
            <a:r>
              <a:rPr sz="1440" b="1" i="0">
                <a:solidFill>
                  <a:srgbClr val="21295C"/>
                </a:solidFill>
                <a:latin typeface="Arial"/>
              </a:rPr>
              <a:t>4,2 млрд долларов</a:t>
            </a:r>
            <a:r>
              <a:rPr sz="1440" b="0" i="0">
                <a:solidFill>
                  <a:srgbClr val="21295C"/>
                </a:solidFill>
                <a:latin typeface="Arial"/>
              </a:rPr>
              <a:t>, банкротство в августе 2023 года, активы проданы за </a:t>
            </a:r>
            <a:r>
              <a:rPr sz="1440" b="1" i="0">
                <a:solidFill>
                  <a:srgbClr val="21295C"/>
                </a:solidFill>
                <a:latin typeface="Arial"/>
              </a:rPr>
              <a:t>500 тысяч фунтов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2" name="TextBox 11"/>
          <p:cNvSpPr txBox="1"/>
          <p:nvPr/>
        </p:nvSpPr>
        <p:spPr>
          <a:xfrm>
            <a:off x="502920" y="304721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13" name="Rounded Rectangle 12"/>
          <p:cNvSpPr/>
          <p:nvPr/>
        </p:nvSpPr>
        <p:spPr>
          <a:xfrm>
            <a:off x="1920240"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5" name="Right Arrow 14"/>
          <p:cNvSpPr/>
          <p:nvPr/>
        </p:nvSpPr>
        <p:spPr>
          <a:xfrm>
            <a:off x="5039258"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18" name="Right Arrow 17"/>
          <p:cNvSpPr/>
          <p:nvPr/>
        </p:nvSpPr>
        <p:spPr>
          <a:xfrm>
            <a:off x="8386876"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1" name="TextBox 20"/>
          <p:cNvSpPr txBox="1"/>
          <p:nvPr/>
        </p:nvSpPr>
        <p:spPr>
          <a:xfrm>
            <a:off x="502920" y="365071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 моделью</a:t>
            </a:r>
          </a:p>
        </p:txBody>
      </p:sp>
      <p:sp>
        <p:nvSpPr>
          <p:cNvPr id="22" name="Rounded Rectangle 21"/>
          <p:cNvSpPr/>
          <p:nvPr/>
        </p:nvSpPr>
        <p:spPr>
          <a:xfrm>
            <a:off x="1920240"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02536"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4" name="Right Arrow 23"/>
          <p:cNvSpPr/>
          <p:nvPr/>
        </p:nvSpPr>
        <p:spPr>
          <a:xfrm>
            <a:off x="5039258"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67858"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50154"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7" name="Right Arrow 26"/>
          <p:cNvSpPr/>
          <p:nvPr/>
        </p:nvSpPr>
        <p:spPr>
          <a:xfrm>
            <a:off x="8386876"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15476"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97772"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0" name="TextBox 29"/>
          <p:cNvSpPr txBox="1"/>
          <p:nvPr/>
        </p:nvSpPr>
        <p:spPr>
          <a:xfrm>
            <a:off x="502920" y="41993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1" name="Rounded Rectangle 30"/>
          <p:cNvSpPr/>
          <p:nvPr/>
        </p:nvSpPr>
        <p:spPr>
          <a:xfrm>
            <a:off x="374904" y="4512212"/>
            <a:ext cx="11441887" cy="1723995"/>
          </a:xfrm>
          <a:prstGeom prst="roundRect">
            <a:avLst>
              <a:gd name="adj" fmla="val 176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9496" y="4603652"/>
            <a:ext cx="11112703" cy="1632555"/>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Выигрыш здесь измерен явкой, а не точностью.</a:t>
            </a:r>
          </a:p>
          <a:p>
            <a:pPr algn="l">
              <a:lnSpc>
                <a:spcPct val="126000"/>
              </a:lnSpc>
              <a:spcBef>
                <a:spcPts val="700"/>
              </a:spcBef>
            </a:pPr>
            <a:r>
              <a:rPr sz="1410" b="0" i="0">
                <a:solidFill>
                  <a:srgbClr val="21295C"/>
                </a:solidFill>
                <a:latin typeface="Arial"/>
              </a:rPr>
              <a:t/>
            </a:r>
            <a:r>
              <a:rPr sz="1410" b="1" i="0">
                <a:solidFill>
                  <a:srgbClr val="21295C"/>
                </a:solidFill>
                <a:latin typeface="Arial"/>
              </a:rPr>
              <a:t>Классический режим.</a:t>
            </a:r>
            <a:r>
              <a:rPr sz="1410" b="0" i="0">
                <a:solidFill>
                  <a:srgbClr val="21295C"/>
                </a:solidFill>
                <a:latin typeface="Arial"/>
              </a:rPr>
              <a:t> Раз в год человек с диабетом идёт к специалисту-офтальмологу; до теста реально доходят </a:t>
            </a:r>
            <a:r>
              <a:rPr sz="1410" b="1" i="0">
                <a:solidFill>
                  <a:srgbClr val="21295C"/>
                </a:solidFill>
                <a:latin typeface="Arial"/>
              </a:rPr>
              <a:t>22 из ста</a:t>
            </a:r>
            <a:r>
              <a:rPr sz="1410" b="0" i="0">
                <a:solidFill>
                  <a:srgbClr val="21295C"/>
                </a:solidFill>
                <a:latin typeface="Arial"/>
              </a:rPr>
              <a:t>.</a:t>
            </a:r>
          </a:p>
          <a:p>
            <a:pPr algn="l">
              <a:lnSpc>
                <a:spcPct val="126000"/>
              </a:lnSpc>
              <a:spcBef>
                <a:spcPts val="700"/>
              </a:spcBef>
            </a:pPr>
            <a:r>
              <a:rPr sz="1410" b="0" i="0">
                <a:solidFill>
                  <a:srgbClr val="21295C"/>
                </a:solidFill>
                <a:latin typeface="Arial"/>
              </a:rPr>
              <a:t/>
            </a:r>
            <a:r>
              <a:rPr sz="1410" b="1" i="0">
                <a:solidFill>
                  <a:srgbClr val="21295C"/>
                </a:solidFill>
                <a:latin typeface="Arial"/>
              </a:rPr>
              <a:t>Модель.</a:t>
            </a:r>
            <a:r>
              <a:rPr sz="141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410" b="1" i="0">
                <a:solidFill>
                  <a:srgbClr val="21295C"/>
                </a:solidFill>
                <a:latin typeface="Arial"/>
              </a:rPr>
              <a:t>100 из ста</a:t>
            </a:r>
            <a:r>
              <a:rPr sz="141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410" b="1" i="0">
                <a:solidFill>
                  <a:srgbClr val="21295C"/>
                </a:solidFill>
                <a:latin typeface="Arial"/>
              </a:rPr>
              <a:t>64 из ста против 22 в контроле</a:t>
            </a:r>
            <a:r>
              <a:rPr sz="1410" b="0" i="0">
                <a:solidFill>
                  <a:srgbClr val="21295C"/>
                </a:solidFill>
                <a:latin typeface="Arial"/>
              </a:rPr>
              <a:t>.</a:t>
            </a:r>
          </a:p>
        </p:txBody>
      </p:sp>
      <p:sp>
        <p:nvSpPr>
          <p:cNvPr id="33" name="Rectangle 3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сортировка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2. Анализ данных — и группа, на которой он посчитан</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9" name="TextBox 8"/>
          <p:cNvSpPr txBox="1"/>
          <p:nvPr/>
        </p:nvSpPr>
        <p:spPr>
          <a:xfrm>
            <a:off x="704088" y="384878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в главе: число для доли «назвала больными»}}</a:t>
            </a:r>
          </a:p>
        </p:txBody>
      </p:sp>
      <p:sp>
        <p:nvSpPr>
          <p:cNvPr id="7" name="Rounded Rectangle 6"/>
          <p:cNvSpPr/>
          <p:nvPr/>
        </p:nvSpPr>
        <p:spPr>
          <a:xfrm>
            <a:off x="6178143" y="1335024"/>
            <a:ext cx="5510631"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{{нет в главе: число для доли «не стала пугать»}}</a:t>
            </a:r>
          </a:p>
        </p:txBody>
      </p:sp>
      <p:sp>
        <p:nvSpPr>
          <p:cNvPr id="10" name="Rounded Rectangle 9"/>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2" name="Rectangle 11"/>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5510631"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a:t>
            </a:r>
          </a:p>
        </p:txBody>
      </p:sp>
      <p:sp>
        <p:nvSpPr>
          <p:cNvPr id="6" name="TextBox 5"/>
          <p:cNvSpPr txBox="1"/>
          <p:nvPr/>
        </p:nvSpPr>
        <p:spPr>
          <a:xfrm>
            <a:off x="640080" y="1690796"/>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в главе: свой счёт классического режима для этого разбора}}</a:t>
            </a:r>
          </a:p>
        </p:txBody>
      </p:sp>
      <p:sp>
        <p:nvSpPr>
          <p:cNvPr id="7" name="Rounded Rectangle 6"/>
          <p:cNvSpPr/>
          <p:nvPr/>
        </p:nvSpPr>
        <p:spPr>
          <a:xfrm>
            <a:off x="6178143" y="1335024"/>
            <a:ext cx="5510631"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9" name="TextBox 8"/>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10" name="TextBox 9"/>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11" name="Rounded Rectangle 10"/>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500" b="1" i="0">
                <a:solidFill>
                  <a:srgbClr val="21295C"/>
                </a:solidFill>
                <a:latin typeface="Arial"/>
              </a:rPr>
              <a:t>9–15 пунктов</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a:t>
            </a:r>
            <a:r>
              <a:rPr sz="1500" b="1" i="0">
                <a:solidFill>
                  <a:srgbClr val="21295C"/>
                </a:solidFill>
                <a:latin typeface="Arial"/>
              </a:rPr>
              <a:t>656 изображений</a:t>
            </a:r>
            <a:r>
              <a:rPr sz="1500" b="0" i="0">
                <a:solidFill>
                  <a:srgbClr val="21295C"/>
                </a:solidFill>
                <a:latin typeface="Arial"/>
              </a:rPr>
              <a:t>, все с подтверждённой биопсией, из них </a:t>
            </a:r>
            <a:r>
              <a:rPr sz="1500" b="1" i="0">
                <a:solidFill>
                  <a:srgbClr val="21295C"/>
                </a:solidFill>
                <a:latin typeface="Arial"/>
              </a:rPr>
              <a:t>207 с тёмными тонами кожи</a:t>
            </a:r>
            <a:r>
              <a:rPr sz="150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по тону кожи измерен </a:t>
            </a:r>
            <a:r>
              <a:rPr sz="1500" b="1" i="0">
                <a:solidFill>
                  <a:srgbClr val="21295C"/>
                </a:solidFill>
                <a:latin typeface="Arial"/>
              </a:rPr>
              <a:t>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 посчитаны на одной выборке:</a:t>
            </a:r>
            <a:r>
              <a:rPr sz="132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320" b="0" i="0">
                <a:solidFill>
                  <a:srgbClr val="21295C"/>
                </a:solidFill>
                <a:latin typeface="Arial"/>
              </a:rPr>
              <a:t/>
            </a:r>
            <a:r>
              <a:rPr sz="1320" b="0" i="0">
                <a:solidFill>
                  <a:srgbClr val="21295C"/>
                </a:solidFill>
                <a:latin typeface="Arial"/>
              </a:rPr>
              <a:t>База: </a:t>
            </a:r>
            <a:r>
              <a:rPr sz="1320" b="1" i="0">
                <a:solidFill>
                  <a:srgbClr val="21295C"/>
                </a:solidFill>
                <a:latin typeface="Arial"/>
              </a:rPr>
              <a:t>49 618 пациентов</a:t>
            </a:r>
            <a:r>
              <a:rPr sz="132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1060" b="0" i="0">
                <a:solidFill>
                  <a:srgbClr val="21295C"/>
                </a:solidFill>
                <a:latin typeface="Arial"/>
              </a:rPr>
              <a:t/>
            </a:r>
            <a:r>
              <a:rPr sz="106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прогноз на структурированных данных</a:t>
            </a:r>
            <a:r>
              <a:rPr sz="132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Если убрать разрыв в здоровье на границе отбора, доля этой группы среди отобранных поднялась бы — расчёт авторов на тех же данных, не результат внедрения.</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И сместилась цена ошибки — на группу, у которой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Модели этого класса применяются примерно к </a:t>
            </a:r>
            <a:r>
              <a:rPr sz="1110" b="1" i="0">
                <a:solidFill>
                  <a:srgbClr val="21295C"/>
                </a:solidFill>
                <a:latin typeface="Arial"/>
              </a:rPr>
              <a:t>200 миллионам</a:t>
            </a:r>
            <a:r>
              <a:rPr sz="1110" b="0" i="0">
                <a:solidFill>
                  <a:srgbClr val="21295C"/>
                </a:solidFill>
                <a:latin typeface="Arial"/>
              </a:rPr>
              <a:t> человек в год — </a:t>
            </a:r>
            <a:r>
              <a:rPr sz="111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110" b="0" i="1">
                <a:solidFill>
                  <a:srgbClr val="21295C"/>
                </a:solidFill>
                <a:latin typeface="Arial"/>
              </a:rPr>
              <a:t>препринт</a:t>
            </a:r>
            <a:r>
              <a:rPr sz="1110" b="0" i="0">
                <a:solidFill>
                  <a:srgbClr val="21295C"/>
                </a:solidFill>
                <a:latin typeface="Arial"/>
              </a:rPr>
              <a:t>. Внутренняя проверка этого не видит: провал проявляется там, где его меньше всего проверяют.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оценка кожного образования, детекция и сортировка потока на рентгене и КТ,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8127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84777"/>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93341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246271"/>
            <a:ext cx="11441887" cy="1989936"/>
          </a:xfrm>
          <a:prstGeom prst="roundRect">
            <a:avLst>
              <a:gd name="adj" fmla="val 153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337711"/>
            <a:ext cx="11112703" cy="18984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500" b="0" i="0">
                <a:solidFill>
                  <a:srgbClr val="21295C"/>
                </a:solidFill>
                <a:latin typeface="Arial"/>
              </a:rPr>
              <a:t/>
            </a:r>
            <a:r>
              <a:rPr sz="1500" b="0" i="0">
                <a:solidFill>
                  <a:srgbClr val="21295C"/>
                </a:solidFill>
                <a:latin typeface="Arial"/>
              </a:rPr>
              <a:t>Медиана проверки подсказки измерена </a:t>
            </a:r>
            <a:r>
              <a:rPr sz="1500" b="1" i="0">
                <a:solidFill>
                  <a:srgbClr val="21295C"/>
                </a:solidFill>
                <a:latin typeface="Arial"/>
              </a:rPr>
              <a:t>в лабораторном опыте 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точность рассуждения при верных рекомендациях — </a:t>
            </a:r>
            <a:r>
              <a:rPr sz="1500" b="1" i="0">
                <a:solidFill>
                  <a:srgbClr val="21295C"/>
                </a:solidFill>
                <a:latin typeface="Arial"/>
              </a:rPr>
              <a:t>84,9 из ста</a:t>
            </a:r>
            <a:r>
              <a:rPr sz="1500" b="0" i="0">
                <a:solidFill>
                  <a:srgbClr val="21295C"/>
                </a:solidFill>
                <a:latin typeface="Arial"/>
              </a:rPr>
              <a:t>, а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440" b="0" i="0">
                <a:solidFill>
                  <a:srgbClr val="21295C"/>
                </a:solidFill>
                <a:latin typeface="Arial"/>
              </a:rPr>
              <a:t/>
            </a:r>
            <a:r>
              <a:rPr sz="1440" b="1" i="0">
                <a:solidFill>
                  <a:srgbClr val="21295C"/>
                </a:solidFill>
                <a:latin typeface="Arial"/>
              </a:rPr>
              <a:t>Цена обеих ошибок, до всякой точности.</a:t>
            </a:r>
            <a:r>
              <a:rPr sz="144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Оба классических режима.</a:t>
            </a:r>
            <a:r>
              <a:rPr sz="144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440" b="0" i="0">
                <a:solidFill>
                  <a:srgbClr val="21295C"/>
                </a:solidFill>
                <a:latin typeface="Arial"/>
              </a:rPr>
              <a:t/>
            </a:r>
            <a:r>
              <a:rPr sz="1440" b="1" i="0">
                <a:solidFill>
                  <a:srgbClr val="21295C"/>
                </a:solidFill>
                <a:latin typeface="Arial"/>
              </a:rPr>
              <a:t>Модель против них.</a:t>
            </a:r>
            <a:r>
              <a:rPr sz="144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1150" b="0" i="0">
                <a:solidFill>
                  <a:srgbClr val="21295C"/>
                </a:solidFill>
                <a:latin typeface="Arial"/>
              </a:rPr>
              <a:t/>
            </a:r>
            <a:r>
              <a:rPr sz="115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440" b="0" i="0">
                <a:solidFill>
                  <a:srgbClr val="21295C"/>
                </a:solidFill>
                <a:latin typeface="Arial"/>
              </a:rPr>
              <a:t/>
            </a:r>
            <a:r>
              <a:rPr sz="1440" b="0" i="0">
                <a:solidFill>
                  <a:srgbClr val="21295C"/>
                </a:solidFill>
                <a:latin typeface="Arial"/>
              </a:rPr>
              <a:t>Чем это делают сегодня: </a:t>
            </a:r>
            <a:r>
              <a:rPr sz="1440" b="0" i="1">
                <a:solidFill>
                  <a:srgbClr val="21295C"/>
                </a:solidFill>
                <a:latin typeface="Arial"/>
              </a:rPr>
              <a:t>распознавание на изображении</a:t>
            </a:r>
            <a:r>
              <a:rPr sz="1440" b="0" i="0">
                <a:solidFill>
                  <a:srgbClr val="21295C"/>
                </a:solidFill>
                <a:latin typeface="Arial"/>
              </a:rPr>
              <a:t> — чтение маммограммы моделью как второй читатель или как сортировка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90" b="0" i="0">
                <a:solidFill>
                  <a:srgbClr val="21295C"/>
                </a:solidFill>
                <a:latin typeface="Arial"/>
              </a:rPr>
              <a:t/>
            </a:r>
            <a:r>
              <a:rPr sz="1290" b="1" i="0">
                <a:solidFill>
                  <a:srgbClr val="21295C"/>
                </a:solidFill>
                <a:latin typeface="Arial"/>
              </a:rPr>
              <a:t>Цена обеих ошибок.</a:t>
            </a:r>
            <a:r>
              <a:rPr sz="129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90" b="0" i="0">
                <a:solidFill>
                  <a:srgbClr val="21295C"/>
                </a:solidFill>
                <a:latin typeface="Arial"/>
              </a:rPr>
              <a:t/>
            </a:r>
            <a:r>
              <a:rPr sz="1290" b="1" i="0">
                <a:solidFill>
                  <a:srgbClr val="21295C"/>
                </a:solidFill>
                <a:latin typeface="Arial"/>
              </a:rPr>
              <a:t>Оба классических режима:</a:t>
            </a:r>
            <a:r>
              <a:rPr sz="129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90" b="0" i="0">
                <a:solidFill>
                  <a:srgbClr val="21295C"/>
                </a:solidFill>
                <a:latin typeface="Arial"/>
              </a:rPr>
              <a:t/>
            </a:r>
            <a:r>
              <a:rPr sz="1290" b="1" i="0">
                <a:solidFill>
                  <a:srgbClr val="21295C"/>
                </a:solidFill>
                <a:latin typeface="Arial"/>
              </a:rPr>
              <a:t>Модель против них.</a:t>
            </a:r>
            <a:r>
              <a:rPr sz="129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90" b="1" i="0">
                <a:solidFill>
                  <a:srgbClr val="21295C"/>
                </a:solidFill>
                <a:latin typeface="Arial"/>
              </a:rPr>
              <a:t>А на группе в целом, без разделения на правоту модели, прибавка незначима</a:t>
            </a:r>
            <a:r>
              <a:rPr sz="129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90" b="0" i="0">
                <a:solidFill>
                  <a:srgbClr val="21295C"/>
                </a:solidFill>
                <a:latin typeface="Arial"/>
              </a:rPr>
              <a:t/>
            </a:r>
            <a:r>
              <a:rPr sz="1290" b="1" i="0">
                <a:solidFill>
                  <a:srgbClr val="21295C"/>
                </a:solidFill>
                <a:latin typeface="Arial"/>
              </a:rPr>
              <a:t>Что переехало.</a:t>
            </a:r>
            <a:r>
              <a:rPr sz="129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90" b="0" i="0">
                <a:solidFill>
                  <a:srgbClr val="21295C"/>
                </a:solidFill>
                <a:latin typeface="Arial"/>
              </a:rPr>
              <a:t/>
            </a:r>
            <a:r>
              <a:rPr sz="129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90" b="1" i="0">
                <a:solidFill>
                  <a:srgbClr val="21295C"/>
                </a:solidFill>
                <a:latin typeface="Arial"/>
              </a:rPr>
              <a:t>26 процентов</a:t>
            </a:r>
            <a:r>
              <a:rPr sz="1290" b="0" i="0">
                <a:solidFill>
                  <a:srgbClr val="21295C"/>
                </a:solidFill>
                <a:latin typeface="Arial"/>
              </a:rPr>
              <a:t>; обзор включил 74 исследования из 13 821 просмотренного. </a:t>
            </a:r>
            <a:r>
              <a:rPr sz="129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1030" b="0" i="0">
                <a:solidFill>
                  <a:srgbClr val="21295C"/>
                </a:solidFill>
                <a:latin typeface="Arial"/>
              </a:rPr>
              <a:t/>
            </a:r>
            <a:r>
              <a:rPr sz="103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320" b="0" i="0">
                <a:solidFill>
                  <a:srgbClr val="21295C"/>
                </a:solidFill>
                <a:latin typeface="Arial"/>
              </a:rPr>
              <a:t/>
            </a:r>
            <a:r>
              <a:rPr sz="1320" b="1" i="0">
                <a:solidFill>
                  <a:srgbClr val="21295C"/>
                </a:solidFill>
                <a:latin typeface="Arial"/>
              </a:rPr>
              <a:t>Цена обеих ошибок.</a:t>
            </a:r>
            <a:r>
              <a:rPr sz="132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320" b="0" i="0">
                <a:solidFill>
                  <a:srgbClr val="21295C"/>
                </a:solidFill>
                <a:latin typeface="Arial"/>
              </a:rPr>
              <a:t/>
            </a:r>
            <a:r>
              <a:rPr sz="1320" b="1" i="0">
                <a:solidFill>
                  <a:srgbClr val="21295C"/>
                </a:solidFill>
                <a:latin typeface="Arial"/>
              </a:rPr>
              <a:t>Классический режим</a:t>
            </a:r>
            <a:r>
              <a:rPr sz="1320" b="0" i="0">
                <a:solidFill>
                  <a:srgbClr val="21295C"/>
                </a:solidFill>
                <a:latin typeface="Arial"/>
              </a:rPr>
              <a:t> — врач с обычными справочниками, и это база сравнения.</a:t>
            </a:r>
          </a:p>
          <a:p>
            <a:pPr algn="l">
              <a:lnSpc>
                <a:spcPct val="126000"/>
              </a:lnSpc>
              <a:spcBef>
                <a:spcPts val="700"/>
              </a:spcBef>
            </a:pPr>
            <a:r>
              <a:rPr sz="1320" b="0" i="0">
                <a:solidFill>
                  <a:srgbClr val="21295C"/>
                </a:solidFill>
                <a:latin typeface="Arial"/>
              </a:rPr>
              <a:t/>
            </a:r>
            <a:r>
              <a:rPr sz="1320" b="0" i="0">
                <a:solidFill>
                  <a:srgbClr val="21295C"/>
                </a:solidFill>
                <a:latin typeface="Arial"/>
              </a:rPr>
              <a:t>Разница между врачом одним и врачом с моделью — два пункта, и она </a:t>
            </a:r>
            <a:r>
              <a:rPr sz="1320" b="1" i="0">
                <a:solidFill>
                  <a:srgbClr val="21295C"/>
                </a:solidFill>
                <a:latin typeface="Arial"/>
              </a:rPr>
              <a:t>незначима</a:t>
            </a:r>
            <a:r>
              <a:rPr sz="1320" b="0" i="0">
                <a:solidFill>
                  <a:srgbClr val="21295C"/>
                </a:solidFill>
                <a:latin typeface="Arial"/>
              </a:rPr>
              <a:t>. Это ноль, измеренный, а не отсутствие данных.</a:t>
            </a:r>
          </a:p>
          <a:p>
            <a:pPr algn="l">
              <a:lnSpc>
                <a:spcPct val="126000"/>
              </a:lnSpc>
              <a:spcBef>
                <a:spcPts val="700"/>
              </a:spcBef>
            </a:pPr>
            <a:r>
              <a:rPr sz="1320" b="0" i="0">
                <a:solidFill>
                  <a:srgbClr val="21295C"/>
                </a:solidFill>
                <a:latin typeface="Arial"/>
              </a:rPr>
              <a:t/>
            </a:r>
            <a:r>
              <a:rPr sz="1320" b="0" i="0">
                <a:solidFill>
                  <a:srgbClr val="21295C"/>
                </a:solidFill>
                <a:latin typeface="Arial"/>
              </a:rPr>
              <a:t>Прогон «модель одна» не был равноправной случайной ветвью — он идёт </a:t>
            </a:r>
            <a:r>
              <a:rPr sz="1320" b="1" i="0">
                <a:solidFill>
                  <a:srgbClr val="21295C"/>
                </a:solidFill>
                <a:latin typeface="Arial"/>
              </a:rPr>
              <a:t>наблюдательным дополнением</a:t>
            </a:r>
            <a:r>
              <a:rPr sz="1320" b="0" i="0">
                <a:solidFill>
                  <a:srgbClr val="21295C"/>
                </a:solidFill>
                <a:latin typeface="Arial"/>
              </a:rPr>
              <a:t>, не результатом распределения.</a:t>
            </a:r>
          </a:p>
          <a:p>
            <a:pPr algn="l">
              <a:lnSpc>
                <a:spcPct val="126000"/>
              </a:lnSpc>
              <a:spcBef>
                <a:spcPts val="700"/>
              </a:spcBef>
            </a:pPr>
            <a:r>
              <a:rPr sz="1060" b="0" i="0">
                <a:solidFill>
                  <a:srgbClr val="21295C"/>
                </a:solidFill>
                <a:latin typeface="Arial"/>
              </a:rPr>
              <a:t/>
            </a:r>
            <a:r>
              <a:rPr sz="106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генерация на тексте</a:t>
            </a:r>
            <a:r>
              <a:rPr sz="1320" b="0" i="0">
                <a:solidFill>
                  <a:srgbClr val="21295C"/>
                </a:solidFill>
                <a:latin typeface="Arial"/>
              </a:rPr>
              <a:t> — клиническое рассуждение и вопрос-ответ со ссылками на литературу. Входит в работу </a:t>
            </a:r>
            <a:r>
              <a:rPr sz="1320" b="1" i="0">
                <a:solidFill>
                  <a:srgbClr val="21295C"/>
                </a:solidFill>
                <a:latin typeface="Arial"/>
              </a:rPr>
              <a:t>снизу</a:t>
            </a:r>
            <a:r>
              <a:rPr sz="132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a:t>
            </a:r>
            <a:r>
              <a:rPr sz="132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человек плюс модель, арбитраж на разногласиях. Прибавка чувствительности </a:t>
            </a:r>
            <a:r>
              <a:rPr sz="1320" b="1" i="0">
                <a:solidFill>
                  <a:srgbClr val="21295C"/>
                </a:solidFill>
                <a:latin typeface="Arial"/>
              </a:rPr>
              <a:t>значима</a:t>
            </a:r>
            <a:r>
              <a:rPr sz="1320" b="0" i="0">
                <a:solidFill>
                  <a:srgbClr val="21295C"/>
                </a:solidFill>
                <a:latin typeface="Arial"/>
              </a:rPr>
              <a:t>.</a:t>
            </a:r>
          </a:p>
          <a:p>
            <a:pPr algn="l">
              <a:lnSpc>
                <a:spcPct val="126000"/>
              </a:lnSpc>
              <a:spcBef>
                <a:spcPts val="700"/>
              </a:spcBef>
            </a:pPr>
            <a:r>
              <a:rPr sz="1060" b="0" i="0">
                <a:solidFill>
                  <a:srgbClr val="21295C"/>
                </a:solidFill>
                <a:latin typeface="Arial"/>
              </a:rPr>
              <a:t/>
            </a:r>
            <a:r>
              <a:rPr sz="10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320" b="0" i="0">
                <a:solidFill>
                  <a:srgbClr val="21295C"/>
                </a:solidFill>
                <a:latin typeface="Arial"/>
              </a:rPr>
              <a:t/>
            </a:r>
            <a:r>
              <a:rPr sz="1320" b="0" i="0">
                <a:solidFill>
                  <a:srgbClr val="21295C"/>
                </a:solidFill>
                <a:latin typeface="Arial"/>
              </a:rPr>
              <a:t>Независимость здесь не нарушена, а </a:t>
            </a:r>
            <a:r>
              <a:rPr sz="1320" b="1" i="0">
                <a:solidFill>
                  <a:srgbClr val="21295C"/>
                </a:solidFill>
                <a:latin typeface="Arial"/>
              </a:rPr>
              <a:t>перестроена</a:t>
            </a:r>
            <a:r>
              <a:rPr sz="132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1060" b="0" i="0">
                <a:solidFill>
                  <a:srgbClr val="21295C"/>
                </a:solidFill>
                <a:latin typeface="Arial"/>
              </a:rPr>
              <a:t/>
            </a:r>
            <a:r>
              <a:rPr sz="10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распознавание на изображении</a:t>
            </a:r>
            <a:r>
              <a:rPr sz="1320" b="0" i="0">
                <a:solidFill>
                  <a:srgbClr val="21295C"/>
                </a:solidFill>
                <a:latin typeface="Arial"/>
              </a:rPr>
              <a:t>, та же клетка и </a:t>
            </a:r>
            <a:r>
              <a:rPr sz="1320" b="1" i="0">
                <a:solidFill>
                  <a:srgbClr val="21295C"/>
                </a:solidFill>
                <a:latin typeface="Arial"/>
              </a:rPr>
              <a:t>тот же инструмент</a:t>
            </a:r>
            <a:r>
              <a:rPr sz="132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Что переехало.</a:t>
            </a:r>
            <a:r>
              <a:rPr sz="114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 Больше форм здесь не называется.</a:t>
            </a:r>
          </a:p>
          <a:p>
            <a:pPr algn="l">
              <a:lnSpc>
                <a:spcPct val="126000"/>
              </a:lnSpc>
              <a:spcBef>
                <a:spcPts val="700"/>
              </a:spcBef>
            </a:pPr>
            <a:r>
              <a:rPr sz="1140" b="0" i="0">
                <a:solidFill>
                  <a:srgbClr val="21295C"/>
                </a:solidFill>
                <a:latin typeface="Arial"/>
              </a:rPr>
              <a:t/>
            </a:r>
            <a:r>
              <a:rPr sz="114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и это разворачивает весь раздел: в другой программе измерили, </a:t>
            </a:r>
            <a:r>
              <a:rPr sz="1140" b="1" i="0">
                <a:solidFill>
                  <a:srgbClr val="21295C"/>
                </a:solidFill>
                <a:latin typeface="Arial"/>
              </a:rPr>
              <a:t>чьим находкам верят</a:t>
            </a:r>
            <a:r>
              <a:rPr sz="1140" b="0" i="0">
                <a:solidFill>
                  <a:srgbClr val="21295C"/>
                </a:solidFill>
                <a:latin typeface="Arial"/>
              </a:rPr>
              <a:t>. Из ста находок, сделанных </a:t>
            </a:r>
            <a:r>
              <a:rPr sz="1140" b="1" i="0">
                <a:solidFill>
                  <a:srgbClr val="21295C"/>
                </a:solidFill>
                <a:latin typeface="Arial"/>
              </a:rPr>
              <a:t>только моделью</a:t>
            </a:r>
            <a:r>
              <a:rPr sz="1140" b="0" i="0">
                <a:solidFill>
                  <a:srgbClr val="21295C"/>
                </a:solidFill>
                <a:latin typeface="Arial"/>
              </a:rPr>
              <a:t>, подтверждается раком </a:t>
            </a:r>
            <a:r>
              <a:rPr sz="1140" b="1" i="0">
                <a:solidFill>
                  <a:srgbClr val="21295C"/>
                </a:solidFill>
                <a:latin typeface="Arial"/>
              </a:rPr>
              <a:t>22</a:t>
            </a:r>
            <a:r>
              <a:rPr sz="1140" b="0" i="0">
                <a:solidFill>
                  <a:srgbClr val="21295C"/>
                </a:solidFill>
                <a:latin typeface="Arial"/>
              </a:rPr>
              <a:t>; из ста находок, сделанных </a:t>
            </a:r>
            <a:r>
              <a:rPr sz="1140" b="1" i="0">
                <a:solidFill>
                  <a:srgbClr val="21295C"/>
                </a:solidFill>
                <a:latin typeface="Arial"/>
              </a:rPr>
              <a:t>только радиологом</a:t>
            </a:r>
            <a:r>
              <a:rPr sz="1140" b="0" i="0">
                <a:solidFill>
                  <a:srgbClr val="21295C"/>
                </a:solidFill>
                <a:latin typeface="Arial"/>
              </a:rPr>
              <a:t> — </a:t>
            </a:r>
            <a:r>
              <a:rPr sz="1140" b="1" i="0">
                <a:solidFill>
                  <a:srgbClr val="21295C"/>
                </a:solidFill>
                <a:latin typeface="Arial"/>
              </a:rPr>
              <a:t>3,4</a:t>
            </a:r>
            <a:r>
              <a:rPr sz="114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есть здесь доверия к модели </a:t>
            </a:r>
            <a:r>
              <a:rPr sz="1140" b="1" i="0">
                <a:solidFill>
                  <a:srgbClr val="21295C"/>
                </a:solidFill>
                <a:latin typeface="Arial"/>
              </a:rPr>
              <a:t>слишком мало</a:t>
            </a:r>
            <a:r>
              <a:rPr sz="1140" b="0" i="0">
                <a:solidFill>
                  <a:srgbClr val="21295C"/>
                </a:solidFill>
                <a:latin typeface="Arial"/>
              </a:rPr>
              <a:t>, а не слишком много.</a:t>
            </a:r>
          </a:p>
          <a:p>
            <a:pPr algn="l">
              <a:lnSpc>
                <a:spcPct val="126000"/>
              </a:lnSpc>
              <a:spcBef>
                <a:spcPts val="700"/>
              </a:spcBef>
            </a:pPr>
            <a:r>
              <a:rPr sz="910" b="0" i="0">
                <a:solidFill>
                  <a:srgbClr val="21295C"/>
                </a:solidFill>
                <a:latin typeface="Arial"/>
              </a:rPr>
              <a:t/>
            </a:r>
            <a:r>
              <a:rPr sz="91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ломается.</a:t>
            </a:r>
            <a:r>
              <a:rPr sz="1110" b="0" i="0">
                <a:solidFill>
                  <a:srgbClr val="21295C"/>
                </a:solidFill>
                <a:latin typeface="Arial"/>
              </a:rPr>
              <a:t> База падения — </a:t>
            </a:r>
            <a:r>
              <a:rPr sz="1110" b="1" i="0">
                <a:solidFill>
                  <a:srgbClr val="21295C"/>
                </a:solidFill>
                <a:latin typeface="Arial"/>
              </a:rPr>
              <a:t>верная</a:t>
            </a:r>
            <a:r>
              <a:rPr sz="111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110" b="0" i="0">
                <a:solidFill>
                  <a:srgbClr val="21295C"/>
                </a:solidFill>
                <a:latin typeface="Arial"/>
              </a:rPr>
              <a:t/>
            </a:r>
            <a:r>
              <a:rPr sz="1110" b="1" i="0">
                <a:solidFill>
                  <a:srgbClr val="21295C"/>
                </a:solidFill>
                <a:latin typeface="Arial"/>
              </a:rPr>
              <a:t>Где потолок.</a:t>
            </a:r>
            <a:r>
              <a:rPr sz="111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11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110" b="0" i="0">
                <a:solidFill>
                  <a:srgbClr val="21295C"/>
                </a:solidFill>
                <a:latin typeface="Arial"/>
              </a:rPr>
              <a:t/>
            </a:r>
            <a:r>
              <a:rPr sz="1110" b="1" i="0">
                <a:solidFill>
                  <a:srgbClr val="21295C"/>
                </a:solidFill>
                <a:latin typeface="Arial"/>
              </a:rPr>
              <a:t>Не измерено, и это названо пробелом.</a:t>
            </a:r>
            <a:r>
              <a:rPr sz="111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Доверие откалибровано </a:t>
            </a:r>
            <a:r>
              <a:rPr sz="1110" b="1" i="0">
                <a:solidFill>
                  <a:srgbClr val="21295C"/>
                </a:solidFill>
                <a:latin typeface="Arial"/>
              </a:rPr>
              <a:t>не по тому признаку</a:t>
            </a:r>
            <a:r>
              <a:rPr sz="111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110" b="0" i="0">
                <a:solidFill>
                  <a:srgbClr val="21295C"/>
                </a:solidFill>
                <a:latin typeface="Arial"/>
              </a:rPr>
              <a:t/>
            </a:r>
            <a:r>
              <a:rPr sz="111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сортировка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0259"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347"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официальная публикация действующей редакции шкалы раннего предупреждения, профессиональное общество, год редакции}}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Пропустить ухудшение.</a:t>
            </a:r>
            <a:r>
              <a:rPr sz="15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Поднять ложную тревогу.</a:t>
            </a:r>
            <a:r>
              <a:rPr sz="15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ошибки платит одна и та же дежурная смена.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менее 0,76 · 0,83–0,86</a:t>
            </a:r>
          </a:p>
        </p:txBody>
      </p:sp>
      <p:sp>
        <p:nvSpPr>
          <p:cNvPr id="7" name="TextBox 6"/>
          <p:cNvSpPr txBox="1"/>
          <p:nvPr/>
        </p:nvSpPr>
        <p:spPr>
          <a:xfrm>
            <a:off x="640080"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информационный лист по первой версии, второе — заявление по второй версии по трём своим площадкам; это не одно число, и оно менялось от версии к версии</a:t>
            </a:r>
          </a:p>
        </p:txBody>
      </p:sp>
      <p:sp>
        <p:nvSpPr>
          <p:cNvPr id="8" name="Rounded Rectangle 7"/>
          <p:cNvSpPr/>
          <p:nvPr/>
        </p:nvSpPr>
        <p:spPr>
          <a:xfrm>
            <a:off x="4286402" y="1335024"/>
            <a:ext cx="3618890"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не менее 0,76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информационный лист по первой версии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62375"/>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41101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723870"/>
            <a:ext cx="11441887" cy="2512337"/>
          </a:xfrm>
          <a:prstGeom prst="roundRect">
            <a:avLst>
              <a:gd name="adj" fmla="val 12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3815310"/>
            <a:ext cx="11112703" cy="24208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Вторая проверка, другие авторы, другие больницы: 145 885 обращений двух приёмных отделений. Поймано </a:t>
            </a:r>
            <a:r>
              <a:rPr sz="1440" b="1" i="0">
                <a:solidFill>
                  <a:srgbClr val="21295C"/>
                </a:solidFill>
                <a:latin typeface="Arial"/>
              </a:rPr>
              <a:t>14,7 случая сепсиса из ста</a:t>
            </a:r>
            <a:r>
              <a:rPr sz="1440" b="0" i="0">
                <a:solidFill>
                  <a:srgbClr val="21295C"/>
                </a:solidFill>
                <a:latin typeface="Arial"/>
              </a:rPr>
              <a:t>. Срабатывание — </a:t>
            </a:r>
            <a:r>
              <a:rPr sz="1440" b="1" i="0">
                <a:solidFill>
                  <a:srgbClr val="21295C"/>
                </a:solidFill>
                <a:latin typeface="Arial"/>
              </a:rPr>
              <a:t>4,9 обращения из ста</a:t>
            </a:r>
            <a:r>
              <a:rPr sz="1440" b="0" i="0">
                <a:solidFill>
                  <a:srgbClr val="21295C"/>
                </a:solidFill>
                <a:latin typeface="Arial"/>
              </a:rPr>
              <a:t>. Медианное опережение клинического решения — </a:t>
            </a:r>
            <a:r>
              <a:rPr sz="1440" b="1" i="0">
                <a:solidFill>
                  <a:srgbClr val="21295C"/>
                </a:solidFill>
                <a:latin typeface="Arial"/>
              </a:rPr>
              <a:t>ноль минут</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Действующую версию модели проверили отдельно, многоцентрово и проспективно: различение </a:t>
            </a:r>
            <a:r>
              <a:rPr sz="1440" b="1" i="0">
                <a:solidFill>
                  <a:srgbClr val="21295C"/>
                </a:solidFill>
                <a:latin typeface="Arial"/>
              </a:rPr>
              <a:t>от 0,82 до 0,92</a:t>
            </a:r>
            <a:r>
              <a:rPr sz="1440" b="0" i="0">
                <a:solidFill>
                  <a:srgbClr val="21295C"/>
                </a:solidFill>
                <a:latin typeface="Arial"/>
              </a:rPr>
              <a:t>, прогностическая ценность </a:t>
            </a:r>
            <a:r>
              <a:rPr sz="1440" b="1" i="0">
                <a:solidFill>
                  <a:srgbClr val="21295C"/>
                </a:solidFill>
                <a:latin typeface="Arial"/>
              </a:rPr>
              <a:t>от 0,13 до 0,26</a:t>
            </a:r>
            <a:r>
              <a:rPr sz="144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080" b="0" i="0">
                <a:solidFill>
                  <a:srgbClr val="21295C"/>
                </a:solidFill>
                <a:latin typeface="Arial"/>
              </a:rPr>
              <a:t/>
            </a:r>
            <a:r>
              <a:rPr sz="108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73546"/>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02536"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3963"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7705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3249"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3963"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677"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8055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4507986"/>
            <a:ext cx="9603943"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502919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42048"/>
            <a:ext cx="11441887" cy="894159"/>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5433488"/>
            <a:ext cx="11112703" cy="8027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350" b="0" i="0">
                <a:solidFill>
                  <a:srgbClr val="21295C"/>
                </a:solidFill>
                <a:latin typeface="Arial"/>
              </a:rPr>
              <a:t/>
            </a:r>
            <a:r>
              <a:rPr sz="1350" b="0" i="0">
                <a:solidFill>
                  <a:srgbClr val="21295C"/>
                </a:solidFill>
                <a:latin typeface="Arial"/>
              </a:rPr>
              <a:t>Нагрузка переехала с набора на вычитку, и рядом появился шаг, которого не было.</a:t>
            </a:r>
          </a:p>
          <a:p>
            <a:pPr algn="l">
              <a:lnSpc>
                <a:spcPct val="126000"/>
              </a:lnSpc>
              <a:spcBef>
                <a:spcPts val="700"/>
              </a:spcBef>
            </a:pPr>
            <a:r>
              <a:rPr sz="1350" b="0" i="0">
                <a:solidFill>
                  <a:srgbClr val="21295C"/>
                </a:solidFill>
                <a:latin typeface="Arial"/>
              </a:rPr>
              <a:t/>
            </a:r>
            <a:r>
              <a:rPr sz="135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669971"/>
          </a:xfrm>
          <a:prstGeom prst="roundRect">
            <a:avLst>
              <a:gd name="adj" fmla="val 1825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096435"/>
            <a:ext cx="11441887" cy="3139772"/>
          </a:xfrm>
          <a:prstGeom prst="roundRect">
            <a:avLst>
              <a:gd name="adj" fmla="val 97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187875"/>
            <a:ext cx="11112703" cy="30483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Дало</a:t>
            </a:r>
            <a:r>
              <a:rPr sz="1200" b="0" i="0">
                <a:solidFill>
                  <a:srgbClr val="21295C"/>
                </a:solidFill>
                <a:latin typeface="Arial"/>
              </a:rPr>
              <a:t> — документ готов раньше, короче и связнее. </a:t>
            </a:r>
            <a:r>
              <a:rPr sz="1200" b="1" i="0">
                <a:solidFill>
                  <a:srgbClr val="21295C"/>
                </a:solidFill>
                <a:latin typeface="Arial"/>
              </a:rPr>
              <a:t>Потребовало</a:t>
            </a:r>
            <a:r>
              <a:rPr sz="1200" b="0" i="0">
                <a:solidFill>
                  <a:srgbClr val="21295C"/>
                </a:solidFill>
                <a:latin typeface="Arial"/>
              </a:rPr>
              <a:t> — полноты и вычитки другого рода. </a:t>
            </a:r>
            <a:r>
              <a:rPr sz="1200" b="1" i="0">
                <a:solidFill>
                  <a:srgbClr val="21295C"/>
                </a:solidFill>
                <a:latin typeface="Arial"/>
              </a:rPr>
              <a:t>В сумме</a:t>
            </a:r>
            <a:r>
              <a:rPr sz="1200" b="0" i="0">
                <a:solidFill>
                  <a:srgbClr val="21295C"/>
                </a:solidFill>
                <a:latin typeface="Arial"/>
              </a:rPr>
              <a:t> — потенциал вреда одной ошибки тот же, ошибок больше, документ менее полон.</a:t>
            </a:r>
          </a:p>
          <a:p>
            <a:pPr algn="l">
              <a:lnSpc>
                <a:spcPct val="126000"/>
              </a:lnSpc>
              <a:spcBef>
                <a:spcPts val="700"/>
              </a:spcBef>
            </a:pPr>
            <a:r>
              <a:rPr sz="1200" b="0" i="0">
                <a:solidFill>
                  <a:srgbClr val="21295C"/>
                </a:solidFill>
                <a:latin typeface="Arial"/>
              </a:rPr>
              <a:t/>
            </a:r>
            <a:r>
              <a:rPr sz="1200" b="1" i="0">
                <a:solidFill>
                  <a:srgbClr val="21295C"/>
                </a:solidFill>
                <a:latin typeface="Arial"/>
              </a:rPr>
              <a:t>А теперь то, что по этому случаю чаще всего и пересказывают.</a:t>
            </a:r>
            <a:r>
              <a:rPr sz="120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200" b="0" i="0">
                <a:solidFill>
                  <a:srgbClr val="21295C"/>
                </a:solidFill>
                <a:latin typeface="Arial"/>
              </a:rPr>
              <a:t/>
            </a:r>
            <a:r>
              <a:rPr sz="1200" b="1" i="0">
                <a:solidFill>
                  <a:srgbClr val="21295C"/>
                </a:solidFill>
                <a:latin typeface="Arial"/>
              </a:rPr>
              <a:t>Построчное чтение трёх доступных первоисточников этой тройки не даёт.</a:t>
            </a:r>
            <a:r>
              <a:rPr sz="120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200" b="0" i="0">
                <a:solidFill>
                  <a:srgbClr val="21295C"/>
                </a:solidFill>
                <a:latin typeface="Arial"/>
              </a:rPr>
              <a:t/>
            </a:r>
            <a:r>
              <a:rPr sz="1200" b="0" i="0">
                <a:solidFill>
                  <a:srgbClr val="21295C"/>
                </a:solidFill>
                <a:latin typeface="Arial"/>
              </a:rPr>
              <a:t>Числа, которые удобно звучат, живут в пересказах дольше, чем в первоисточниках. </a:t>
            </a:r>
            <a:r>
              <a:rPr sz="1200" b="1" i="0">
                <a:solidFill>
                  <a:srgbClr val="21295C"/>
                </a:solidFill>
                <a:latin typeface="Arial"/>
              </a:rPr>
              <a:t>Разряд свидетельства у пересказа ниже, чем у исследования, даже когда числа совпадают</a:t>
            </a:r>
            <a:r>
              <a:rPr sz="1200" b="0" i="0">
                <a:solidFill>
                  <a:srgbClr val="21295C"/>
                </a:solidFill>
                <a:latin typeface="Arial"/>
              </a:rPr>
              <a:t> — а проверка одного первоисточника построчно меняет состав утверждения целиком.</a:t>
            </a:r>
          </a:p>
          <a:p>
            <a:pPr algn="l">
              <a:lnSpc>
                <a:spcPct val="126000"/>
              </a:lnSpc>
              <a:spcBef>
                <a:spcPts val="700"/>
              </a:spcBef>
            </a:pPr>
            <a:r>
              <a:rPr sz="960" b="0" i="0">
                <a:solidFill>
                  <a:srgbClr val="21295C"/>
                </a:solidFill>
                <a:latin typeface="Arial"/>
              </a:rPr>
              <a:t/>
            </a:r>
            <a:r>
              <a:rPr sz="96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81260"/>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На столе</a:t>
            </a:r>
          </a:p>
        </p:txBody>
      </p:sp>
      <p:sp>
        <p:nvSpPr>
          <p:cNvPr id="17" name="Rounded Rectangle 16"/>
          <p:cNvSpPr/>
          <p:nvPr/>
        </p:nvSpPr>
        <p:spPr>
          <a:xfrm>
            <a:off x="1920240"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30953"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3249"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1667"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963"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452381"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34677"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1153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28182"/>
            <a:ext cx="11441887" cy="2808025"/>
          </a:xfrm>
          <a:prstGeom prst="roundRect">
            <a:avLst>
              <a:gd name="adj" fmla="val 108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 y="3519622"/>
            <a:ext cx="11112703" cy="2716585"/>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380" b="0" i="0">
                <a:solidFill>
                  <a:srgbClr val="21295C"/>
                </a:solidFill>
                <a:latin typeface="Arial"/>
              </a:rPr>
              <a:t/>
            </a:r>
            <a:r>
              <a:rPr sz="1380" b="1" i="0">
                <a:solidFill>
                  <a:srgbClr val="21295C"/>
                </a:solidFill>
                <a:latin typeface="Arial"/>
              </a:rPr>
              <a:t>Кто сидит за столом.</a:t>
            </a:r>
            <a:r>
              <a:rPr sz="138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380" b="0" i="0">
                <a:solidFill>
                  <a:srgbClr val="21295C"/>
                </a:solidFill>
                <a:latin typeface="Arial"/>
              </a:rPr>
              <a:t/>
            </a:r>
            <a:r>
              <a:rPr sz="1380" b="1" i="0">
                <a:solidFill>
                  <a:srgbClr val="21295C"/>
                </a:solidFill>
                <a:latin typeface="Arial"/>
              </a:rPr>
              <a:t>Что лежит на столе.</a:t>
            </a:r>
            <a:r>
              <a:rPr sz="138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Какой вопрос решают.</a:t>
            </a:r>
            <a:r>
              <a:rPr sz="138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380" b="0" i="0">
                <a:solidFill>
                  <a:srgbClr val="21295C"/>
                </a:solidFill>
                <a:latin typeface="Arial"/>
              </a:rPr>
              <a:t/>
            </a:r>
            <a:r>
              <a:rPr sz="1380" b="0" i="0">
                <a:solidFill>
                  <a:srgbClr val="21295C"/>
                </a:solidFill>
                <a:latin typeface="Arial"/>
              </a:rPr>
              <a:t>Вопроса «пользовался ли он моделью» в этом списке нет.</a:t>
            </a:r>
          </a:p>
        </p:txBody>
      </p:sp>
      <p:sp>
        <p:nvSpPr>
          <p:cNvPr id="31" name="Rectangle 3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порядок разбора врачебной ошибки — нормативного акта глава не называет, процедура описана без ссылки}}</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32052"/>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3963"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78069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093546"/>
            <a:ext cx="11441887" cy="2142661"/>
          </a:xfrm>
          <a:prstGeom prst="roundRect">
            <a:avLst>
              <a:gd name="adj" fmla="val 142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 y="4184986"/>
            <a:ext cx="11112703" cy="20512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00" b="0" i="0">
                <a:solidFill>
                  <a:srgbClr val="21295C"/>
                </a:solidFill>
                <a:latin typeface="Arial"/>
              </a:rPr>
              <a:t/>
            </a:r>
            <a:r>
              <a:rPr sz="1200" b="0" i="1">
                <a:solidFill>
                  <a:srgbClr val="21295C"/>
                </a:solidFill>
                <a:latin typeface="Arial"/>
              </a:rPr>
              <a:t>Упоминание.</a:t>
            </a:r>
            <a:r>
              <a:rPr sz="1200" b="0" i="0">
                <a:solidFill>
                  <a:srgbClr val="21295C"/>
                </a:solidFill>
                <a:latin typeface="Arial"/>
              </a:rPr>
              <a:t> Алгоритмическое планирование смен медсестёр: время на составление графика сократилось на </a:t>
            </a:r>
            <a:r>
              <a:rPr sz="1200" b="1" i="0">
                <a:solidFill>
                  <a:srgbClr val="21295C"/>
                </a:solidFill>
                <a:latin typeface="Arial"/>
              </a:rPr>
              <a:t>81,2 процента</a:t>
            </a:r>
            <a:r>
              <a:rPr sz="120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Склонность доверять автомату.</a:t>
            </a:r>
            <a:r>
              <a:rPr sz="120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Предложенное лекарство — скрывать подсказку там, где она чаще ошибается — </a:t>
            </a:r>
            <a:r>
              <a:rPr sz="1200" b="1" i="0">
                <a:solidFill>
                  <a:srgbClr val="21295C"/>
                </a:solidFill>
                <a:latin typeface="Arial"/>
              </a:rPr>
              <a:t>оценено расчётом, а не измерено</a:t>
            </a:r>
            <a:r>
              <a:rPr sz="1200" b="0" i="0">
                <a:solidFill>
                  <a:srgbClr val="21295C"/>
                </a:solidFill>
                <a:latin typeface="Arial"/>
              </a:rPr>
              <a:t>. Третьего раунда, где это проверили бы на живых врачах, не было.</a:t>
            </a:r>
          </a:p>
          <a:p>
            <a:pPr algn="l">
              <a:lnSpc>
                <a:spcPct val="126000"/>
              </a:lnSpc>
              <a:spcBef>
                <a:spcPts val="700"/>
              </a:spcBef>
            </a:pPr>
            <a:r>
              <a:rPr sz="1200" b="0" i="0">
                <a:solidFill>
                  <a:srgbClr val="21295C"/>
                </a:solidFill>
                <a:latin typeface="Arial"/>
              </a:rPr>
              <a:t/>
            </a:r>
            <a:r>
              <a:rPr sz="120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 у подписи.</a:t>
            </a:r>
            <a:r>
              <a:rPr sz="135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350" b="0" i="0">
                <a:solidFill>
                  <a:srgbClr val="21295C"/>
                </a:solidFill>
                <a:latin typeface="Arial"/>
              </a:rPr>
              <a:t/>
            </a:r>
            <a:r>
              <a:rPr sz="1350" b="1" i="0">
                <a:solidFill>
                  <a:srgbClr val="21295C"/>
                </a:solidFill>
                <a:latin typeface="Arial"/>
              </a:rPr>
              <a:t>Счёт классического режима в двух единицах.</a:t>
            </a:r>
            <a:r>
              <a:rPr sz="1350" b="0" i="0">
                <a:solidFill>
                  <a:srgbClr val="21295C"/>
                </a:solidFill>
                <a:latin typeface="Arial"/>
              </a:rPr>
              <a:t> Первая — </a:t>
            </a:r>
            <a:r>
              <a:rPr sz="1350" b="1" i="0">
                <a:solidFill>
                  <a:srgbClr val="21295C"/>
                </a:solidFill>
                <a:latin typeface="Arial"/>
              </a:rPr>
              <a:t>чувствительность</a:t>
            </a:r>
            <a:r>
              <a:rPr sz="135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Вторая единица — минуты труда</a:t>
            </a:r>
            <a:r>
              <a:rPr sz="135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 сокращении первичных чтений вдвое объём арбитража вырос на </a:t>
            </a:r>
            <a:r>
              <a:rPr sz="1350" b="1" i="0">
                <a:solidFill>
                  <a:srgbClr val="21295C"/>
                </a:solidFill>
                <a:latin typeface="Arial"/>
              </a:rPr>
              <a:t>53 процента</a:t>
            </a:r>
            <a:r>
              <a:rPr sz="135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Разработчик</a:t>
            </a:r>
          </a:p>
          <a:p>
            <a:pPr algn="ctr">
              <a:lnSpc>
                <a:spcPct val="112000"/>
              </a:lnSpc>
            </a:pPr>
            <a:r>
              <a:rPr sz="115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825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Врач</a:t>
            </a:r>
          </a:p>
          <a:p>
            <a:pPr algn="ctr">
              <a:lnSpc>
                <a:spcPct val="112000"/>
              </a:lnSpc>
            </a:pPr>
            <a:r>
              <a:rPr sz="115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5129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Больница</a:t>
            </a:r>
          </a:p>
          <a:p>
            <a:pPr algn="ctr">
              <a:lnSpc>
                <a:spcPct val="112000"/>
              </a:lnSpc>
            </a:pPr>
            <a:r>
              <a:rPr sz="115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8433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Регулятор</a:t>
            </a:r>
          </a:p>
          <a:p>
            <a:pPr algn="ctr">
              <a:lnSpc>
                <a:spcPct val="112000"/>
              </a:lnSpc>
            </a:pPr>
            <a:r>
              <a:rPr sz="115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73128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3044134"/>
            <a:ext cx="11441887" cy="3192073"/>
          </a:xfrm>
          <a:prstGeom prst="roundRect">
            <a:avLst>
              <a:gd name="adj" fmla="val 95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135574"/>
            <a:ext cx="11112703" cy="310063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p:txBody>
      </p:sp>
      <p:sp>
        <p:nvSpPr>
          <p:cNvPr id="15" name="Rectangle 14"/>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рамка четырёх участников — глава называет только «работы 2019 и 2020 годов», авторов и издание не называет}}</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32639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639251"/>
            <a:ext cx="11441887" cy="3596956"/>
          </a:xfrm>
          <a:prstGeom prst="roundRect">
            <a:avLst>
              <a:gd name="adj" fmla="val 84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730691"/>
            <a:ext cx="11112703" cy="35055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52799"/>
            <a:ext cx="1289304" cy="104751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3249"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3963"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4677"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3917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704603"/>
            <a:ext cx="11441887" cy="1531604"/>
          </a:xfrm>
          <a:prstGeom prst="roundRect">
            <a:avLst>
              <a:gd name="adj" fmla="val 199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796043"/>
            <a:ext cx="11112703" cy="144016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Цена обеих ошибок.</a:t>
            </a:r>
            <a:r>
              <a:rPr sz="1440" b="0" i="0">
                <a:solidFill>
                  <a:srgbClr val="21295C"/>
                </a:solidFill>
                <a:latin typeface="Arial"/>
              </a:rPr>
              <a:t> Обещание рассчитано на успех там, где отраслевая база даёт </a:t>
            </a:r>
            <a:r>
              <a:rPr sz="1440" b="1" i="0">
                <a:solidFill>
                  <a:srgbClr val="21295C"/>
                </a:solidFill>
                <a:latin typeface="Arial"/>
              </a:rPr>
              <a:t>28,9 процента</a:t>
            </a:r>
            <a:r>
              <a:rPr sz="1440" b="0" i="0">
                <a:solidFill>
                  <a:srgbClr val="21295C"/>
                </a:solidFill>
                <a:latin typeface="Arial"/>
              </a:rPr>
              <a:t> перехода — провал на этом шаге норма воронки.</a:t>
            </a:r>
          </a:p>
          <a:p>
            <a:pPr algn="l">
              <a:lnSpc>
                <a:spcPct val="126000"/>
              </a:lnSpc>
              <a:spcBef>
                <a:spcPts val="700"/>
              </a:spcBef>
            </a:pPr>
            <a:r>
              <a:rPr sz="1440" b="0" i="0">
                <a:solidFill>
                  <a:srgbClr val="21295C"/>
                </a:solidFill>
                <a:latin typeface="Arial"/>
              </a:rPr>
              <a:t/>
            </a:r>
            <a:r>
              <a:rPr sz="1440" b="1" i="0">
                <a:solidFill>
                  <a:srgbClr val="21295C"/>
                </a:solidFill>
                <a:latin typeface="Arial"/>
              </a:rPr>
              <a:t>Путь компании.</a:t>
            </a:r>
            <a:r>
              <a:rPr sz="1440" b="0" i="0">
                <a:solidFill>
                  <a:srgbClr val="21295C"/>
                </a:solidFill>
                <a:latin typeface="Arial"/>
              </a:rPr>
              <a:t> Обещание доводить препараты до регистрации самостоятельно → фаза IIa: </a:t>
            </a:r>
            <a:r>
              <a:rPr sz="1440" b="1" i="0">
                <a:solidFill>
                  <a:srgbClr val="21295C"/>
                </a:solidFill>
                <a:latin typeface="Arial"/>
              </a:rPr>
              <a:t>91 пациент</a:t>
            </a:r>
            <a:r>
              <a:rPr sz="1440" b="0" i="0">
                <a:solidFill>
                  <a:srgbClr val="21295C"/>
                </a:solidFill>
                <a:latin typeface="Arial"/>
              </a:rPr>
              <a:t> 18–65 лет, </a:t>
            </a:r>
            <a:r>
              <a:rPr sz="1440" b="1" i="0">
                <a:solidFill>
                  <a:srgbClr val="21295C"/>
                </a:solidFill>
                <a:latin typeface="Arial"/>
              </a:rPr>
              <a:t>28 дней</a:t>
            </a:r>
            <a:r>
              <a:rPr sz="1440" b="0" i="0">
                <a:solidFill>
                  <a:srgbClr val="21295C"/>
                </a:solidFill>
                <a:latin typeface="Arial"/>
              </a:rPr>
              <a:t> нанесения, первичная точка по безопасности достигнута, точки эффективности — нет → </a:t>
            </a:r>
            <a:r>
              <a:rPr sz="1440" b="1" i="0">
                <a:solidFill>
                  <a:srgbClr val="21295C"/>
                </a:solidFill>
                <a:latin typeface="Arial"/>
              </a:rPr>
              <a:t>минус 180 рабочих мест</a:t>
            </a:r>
            <a:r>
              <a:rPr sz="144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Дало</a:t>
            </a:r>
            <a:r>
              <a:rPr sz="1140" b="0" i="0">
                <a:solidFill>
                  <a:srgbClr val="21295C"/>
                </a:solidFill>
                <a:latin typeface="Arial"/>
              </a:rPr>
              <a:t> — с помощником находят больше.</a:t>
            </a:r>
          </a:p>
          <a:p>
            <a:pPr algn="l">
              <a:lnSpc>
                <a:spcPct val="126000"/>
              </a:lnSpc>
              <a:spcBef>
                <a:spcPts val="700"/>
              </a:spcBef>
            </a:pPr>
            <a:r>
              <a:rPr sz="1140" b="0" i="0">
                <a:solidFill>
                  <a:srgbClr val="21295C"/>
                </a:solidFill>
                <a:latin typeface="Arial"/>
              </a:rPr>
              <a:t/>
            </a:r>
            <a:r>
              <a:rPr sz="1140" b="1" i="0">
                <a:solidFill>
                  <a:srgbClr val="21295C"/>
                </a:solidFill>
                <a:latin typeface="Arial"/>
              </a:rPr>
              <a:t>Потребовало</a:t>
            </a:r>
            <a:r>
              <a:rPr sz="1140" b="0" i="0">
                <a:solidFill>
                  <a:srgbClr val="21295C"/>
                </a:solidFill>
                <a:latin typeface="Arial"/>
              </a:rPr>
              <a:t> — умения искать самому.</a:t>
            </a:r>
          </a:p>
          <a:p>
            <a:pPr algn="l">
              <a:lnSpc>
                <a:spcPct val="126000"/>
              </a:lnSpc>
              <a:spcBef>
                <a:spcPts val="700"/>
              </a:spcBef>
            </a:pPr>
            <a:r>
              <a:rPr sz="1140" b="0" i="0">
                <a:solidFill>
                  <a:srgbClr val="21295C"/>
                </a:solidFill>
                <a:latin typeface="Arial"/>
              </a:rPr>
              <a:t/>
            </a:r>
            <a:r>
              <a:rPr sz="1140" b="1" i="0">
                <a:solidFill>
                  <a:srgbClr val="21295C"/>
                </a:solidFill>
                <a:latin typeface="Arial"/>
              </a:rPr>
              <a:t>В сумме</a:t>
            </a:r>
            <a:r>
              <a:rPr sz="114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40" b="0" i="0">
                <a:solidFill>
                  <a:srgbClr val="21295C"/>
                </a:solidFill>
                <a:latin typeface="Arial"/>
              </a:rPr>
              <a:t/>
            </a:r>
            <a:r>
              <a:rPr sz="1140" b="1" i="0">
                <a:solidFill>
                  <a:srgbClr val="21295C"/>
                </a:solidFill>
                <a:latin typeface="Arial"/>
              </a:rPr>
              <a:t>Форма 8 словаря: Исполнитель тот же, но стал хуже.</a:t>
            </a:r>
            <a:r>
              <a:rPr sz="1140" b="0" i="0">
                <a:solidFill>
                  <a:srgbClr val="21295C"/>
                </a:solidFill>
                <a:latin typeface="Arial"/>
              </a:rPr>
              <a:t> Место, объём, порядок шагов и рука прежние — изменилось состояние самой руки. Не форма 5: там сменилась рука, здесь рука та же, и именно на этом стоит измерение. Не форма 4а: там упал объём операции, здесь объём тот же, упала доля находок.</a:t>
            </a:r>
          </a:p>
          <a:p>
            <a:pPr algn="l">
              <a:lnSpc>
                <a:spcPct val="126000"/>
              </a:lnSpc>
              <a:spcBef>
                <a:spcPts val="700"/>
              </a:spcBef>
            </a:pPr>
            <a:r>
              <a:rPr sz="910" b="0" i="0">
                <a:solidFill>
                  <a:srgbClr val="21295C"/>
                </a:solidFill>
                <a:latin typeface="Arial"/>
              </a:rPr>
              <a:t/>
            </a:r>
            <a:r>
              <a:rPr sz="91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40" b="1" i="0">
                <a:solidFill>
                  <a:srgbClr val="21295C"/>
                </a:solidFill>
                <a:latin typeface="Arial"/>
              </a:rPr>
              <a:t>Повторением клинической находки это не является:</a:t>
            </a:r>
            <a:r>
              <a:rPr sz="114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40" b="0" i="0">
                <a:solidFill>
                  <a:srgbClr val="21295C"/>
                </a:solidFill>
                <a:latin typeface="Arial"/>
              </a:rPr>
              <a:t/>
            </a:r>
            <a:r>
              <a:rPr sz="114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41689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2039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модель</a:t>
            </a:r>
          </a:p>
        </p:txBody>
      </p:sp>
      <p:sp>
        <p:nvSpPr>
          <p:cNvPr id="31" name="Right Arrow 30"/>
          <p:cNvSpPr/>
          <p:nvPr/>
        </p:nvSpPr>
        <p:spPr>
          <a:xfrm>
            <a:off x="8386876"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56903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881888"/>
            <a:ext cx="11441887" cy="1354319"/>
          </a:xfrm>
          <a:prstGeom prst="roundRect">
            <a:avLst>
              <a:gd name="adj" fmla="val 22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973328"/>
            <a:ext cx="11112703" cy="12628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1. Нагрузка переехала на другой шаг</a:t>
            </a:r>
            <a:r>
              <a:rPr sz="1350" b="0" i="0">
                <a:solidFill>
                  <a:srgbClr val="21295C"/>
                </a:solidFill>
                <a:latin typeface="Arial"/>
              </a:rPr>
              <a:t> — воронка молекул ИИ-происхождения против базы отрасли: одобрений регулятора </a:t>
            </a:r>
            <a:r>
              <a:rPr sz="1350" b="1" i="0">
                <a:solidFill>
                  <a:srgbClr val="21295C"/>
                </a:solidFill>
                <a:latin typeface="Arial"/>
              </a:rPr>
              <a:t>ноль</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2. Шаг исчез совсем</a:t>
            </a:r>
            <a:r>
              <a:rPr sz="1350" b="0" i="0">
                <a:solidFill>
                  <a:srgbClr val="21295C"/>
                </a:solidFill>
                <a:latin typeface="Arial"/>
              </a:rPr>
              <a:t> — </a:t>
            </a:r>
            <a:r>
              <a:rPr sz="1350" b="0" i="1">
                <a:solidFill>
                  <a:srgbClr val="21295C"/>
                </a:solidFill>
                <a:latin typeface="Arial"/>
              </a:rPr>
              <a:t>ни одного подтверждённого случая за вечер.</a:t>
            </a:r>
            <a:r>
              <a:rPr sz="135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3. Шаг появился</a:t>
            </a:r>
            <a:r>
              <a:rPr sz="135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 Нагрузка выросла на том же месте</a:t>
            </a:r>
            <a:r>
              <a:rPr sz="135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4а. Нагрузка на том же месте упала</a:t>
            </a:r>
            <a:r>
              <a:rPr sz="135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80" b="0" i="0">
                <a:solidFill>
                  <a:srgbClr val="21295C"/>
                </a:solidFill>
                <a:latin typeface="Arial"/>
              </a:rPr>
              <a:t/>
            </a:r>
            <a:r>
              <a:rPr sz="108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80" b="0" i="0">
                <a:solidFill>
                  <a:srgbClr val="21295C"/>
                </a:solidFill>
                <a:latin typeface="Arial"/>
              </a:rPr>
              <a:t/>
            </a:r>
            <a:r>
              <a:rPr sz="108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 </a:t>
            </a:r>
            <a:r>
              <a:rPr sz="1260" b="1" i="0">
                <a:solidFill>
                  <a:srgbClr val="21295C"/>
                </a:solidFill>
                <a:latin typeface="Arial"/>
              </a:rPr>
              <a:t>5. Исполнитель сменился</a:t>
            </a:r>
            <a:r>
              <a:rPr sz="126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6. Изменился порядок работ</a:t>
            </a:r>
            <a:r>
              <a:rPr sz="1260" b="0" i="0">
                <a:solidFill>
                  <a:srgbClr val="21295C"/>
                </a:solidFill>
                <a:latin typeface="Arial"/>
              </a:rPr>
              <a:t> — сортировка до приёма. </a:t>
            </a:r>
            <a:r>
              <a:rPr sz="126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7. Сместилась цена ошибки</a:t>
            </a:r>
            <a:r>
              <a:rPr sz="1260" b="0" i="0">
                <a:solidFill>
                  <a:srgbClr val="21295C"/>
                </a:solidFill>
                <a:latin typeface="Arial"/>
              </a:rPr>
              <a:t> — разрыв между нормой и проверкой.</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8. Исполнитель тот же, но стал хуже</a:t>
            </a:r>
            <a:r>
              <a:rPr sz="126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восьмая форма отличается от двух соседних: в пятой сменилась </a:t>
            </a:r>
            <a:r>
              <a:rPr sz="1260" b="1" i="0">
                <a:solidFill>
                  <a:srgbClr val="21295C"/>
                </a:solidFill>
                <a:latin typeface="Arial"/>
              </a:rPr>
              <a:t>рука</a:t>
            </a:r>
            <a:r>
              <a:rPr sz="1260" b="0" i="0">
                <a:solidFill>
                  <a:srgbClr val="21295C"/>
                </a:solidFill>
                <a:latin typeface="Arial"/>
              </a:rPr>
              <a:t> — здесь рука та же, и на этом стоит измерение. В форме 4а упал </a:t>
            </a:r>
            <a:r>
              <a:rPr sz="1260" b="1" i="0">
                <a:solidFill>
                  <a:srgbClr val="21295C"/>
                </a:solidFill>
                <a:latin typeface="Arial"/>
              </a:rPr>
              <a:t>объём</a:t>
            </a:r>
            <a:r>
              <a:rPr sz="1260" b="0" i="0">
                <a:solidFill>
                  <a:srgbClr val="21295C"/>
                </a:solidFill>
                <a:latin typeface="Arial"/>
              </a:rPr>
              <a:t> — здесь объём тот же, упала </a:t>
            </a:r>
            <a:r>
              <a:rPr sz="1260" b="1" i="0">
                <a:solidFill>
                  <a:srgbClr val="21295C"/>
                </a:solidFill>
                <a:latin typeface="Arial"/>
              </a:rPr>
              <a:t>доля находок</a:t>
            </a:r>
            <a:r>
              <a:rPr sz="1260" b="0" i="0">
                <a:solidFill>
                  <a:srgbClr val="21295C"/>
                </a:solidFill>
                <a:latin typeface="Arial"/>
              </a:rPr>
              <a:t>.</a:t>
            </a:r>
          </a:p>
          <a:p>
            <a:pPr algn="l">
              <a:lnSpc>
                <a:spcPct val="126000"/>
              </a:lnSpc>
              <a:spcBef>
                <a:spcPts val="700"/>
              </a:spcBef>
            </a:pPr>
            <a:r>
              <a:rPr sz="1010" b="0" i="0">
                <a:solidFill>
                  <a:srgbClr val="21295C"/>
                </a:solidFill>
                <a:latin typeface="Arial"/>
              </a:rPr>
              <a:t/>
            </a:r>
            <a:r>
              <a:rPr sz="101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60" b="0" i="0">
                <a:solidFill>
                  <a:srgbClr val="21295C"/>
                </a:solidFill>
                <a:latin typeface="Arial"/>
              </a:rPr>
              <a:t/>
            </a:r>
            <a:r>
              <a:rPr sz="126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десять строк реестра из тринадцати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Копаешь — а там вообще нет модели.</a:t>
            </a:r>
            <a:r>
              <a:rPr sz="135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выигрыш не там, где показывают.</a:t>
            </a:r>
            <a:r>
              <a:rPr sz="135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числа выросли при пересказе.</a:t>
            </a:r>
            <a:r>
              <a:rPr sz="135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Приёмы, по одному на графу: </a:t>
            </a:r>
            <a:r>
              <a:rPr sz="1350" b="1" i="0">
                <a:solidFill>
                  <a:srgbClr val="21295C"/>
                </a:solidFill>
                <a:latin typeface="Arial"/>
              </a:rPr>
              <a:t>убери модель</a:t>
            </a:r>
            <a:r>
              <a:rPr sz="1350" b="0" i="0">
                <a:solidFill>
                  <a:srgbClr val="21295C"/>
                </a:solidFill>
                <a:latin typeface="Arial"/>
              </a:rPr>
              <a:t> · </a:t>
            </a:r>
            <a:r>
              <a:rPr sz="1350" b="1" i="0">
                <a:solidFill>
                  <a:srgbClr val="21295C"/>
                </a:solidFill>
                <a:latin typeface="Arial"/>
              </a:rPr>
              <a:t>спроси, от чего посчитан эффект</a:t>
            </a:r>
            <a:r>
              <a:rPr sz="1350" b="0" i="0">
                <a:solidFill>
                  <a:srgbClr val="21295C"/>
                </a:solidFill>
                <a:latin typeface="Arial"/>
              </a:rPr>
              <a:t> · </a:t>
            </a:r>
            <a:r>
              <a:rPr sz="1350" b="1" i="0">
                <a:solidFill>
                  <a:srgbClr val="21295C"/>
                </a:solidFill>
                <a:latin typeface="Arial"/>
              </a:rPr>
              <a:t>открой первоисточник и сверь выборку, дизайн и журнал</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Распознавание на изображении</a:t>
            </a:r>
            <a:r>
              <a:rPr sz="1500" b="0" i="0">
                <a:solidFill>
                  <a:srgbClr val="21295C"/>
                </a:solidFill>
                <a:latin typeface="Arial"/>
              </a:rPr>
              <a:t> — скрининг и чтение исследований. </a:t>
            </a:r>
            <a:r>
              <a:rPr sz="1500" b="0" i="1">
                <a:solidFill>
                  <a:srgbClr val="21295C"/>
                </a:solidFill>
                <a:latin typeface="Arial"/>
              </a:rPr>
              <a:t>Держат:</a:t>
            </a:r>
            <a:r>
              <a:rPr sz="150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Прогноз на структурированных данных</a:t>
            </a:r>
            <a:r>
              <a:rPr sz="1500" b="0" i="0">
                <a:solidFill>
                  <a:srgbClr val="21295C"/>
                </a:solidFill>
                <a:latin typeface="Arial"/>
              </a:rPr>
              <a:t> — раннее предупреждение, воронка активов. </a:t>
            </a:r>
            <a:r>
              <a:rPr sz="1500" b="0" i="1">
                <a:solidFill>
                  <a:srgbClr val="21295C"/>
                </a:solidFill>
                <a:latin typeface="Arial"/>
              </a:rPr>
              <a:t>Держат:</a:t>
            </a:r>
            <a:r>
              <a:rPr sz="150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Поиск и генерация на тексте</a:t>
            </a:r>
            <a:r>
              <a:rPr sz="1500" b="0" i="0">
                <a:solidFill>
                  <a:srgbClr val="21295C"/>
                </a:solidFill>
                <a:latin typeface="Arial"/>
              </a:rPr>
              <a:t> — запись приёма, выписка, дифференциальный диагноз. </a:t>
            </a:r>
            <a:r>
              <a:rPr sz="1500" b="0" i="1">
                <a:solidFill>
                  <a:srgbClr val="21295C"/>
                </a:solidFill>
                <a:latin typeface="Arial"/>
              </a:rPr>
              <a:t>Держат:</a:t>
            </a:r>
            <a:r>
              <a:rPr sz="150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Генерация структуры</a:t>
            </a:r>
            <a:r>
              <a:rPr sz="1500" b="0" i="0">
                <a:solidFill>
                  <a:srgbClr val="21295C"/>
                </a:solidFill>
                <a:latin typeface="Arial"/>
              </a:rPr>
              <a:t> — молекула под заданную мишень, дизайн белка. </a:t>
            </a:r>
            <a:r>
              <a:rPr sz="1500" b="0" i="1">
                <a:solidFill>
                  <a:srgbClr val="21295C"/>
                </a:solidFill>
                <a:latin typeface="Arial"/>
              </a:rPr>
              <a:t>Держат:</a:t>
            </a:r>
            <a:r>
              <a:rPr sz="150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Результат исполнителя без инструмента</a:t>
            </a:r>
            <a:r>
              <a:rPr sz="1500" b="0" i="0">
                <a:solidFill>
                  <a:srgbClr val="21295C"/>
                </a:solidFill>
                <a:latin typeface="Arial"/>
              </a:rPr>
              <a:t> — тот же врач, та же процедура, без помощника: находок меньше. </a:t>
            </a:r>
            <a:r>
              <a:rPr sz="1500" b="0" i="1">
                <a:solidFill>
                  <a:srgbClr val="21295C"/>
                </a:solidFill>
                <a:latin typeface="Arial"/>
              </a:rPr>
              <a:t>Держат:</a:t>
            </a:r>
            <a:r>
              <a:rPr sz="1500" b="0" i="0">
                <a:solidFill>
                  <a:srgbClr val="21295C"/>
                </a:solidFill>
                <a:latin typeface="Arial"/>
              </a:rPr>
              <a:t> </a:t>
            </a:r>
            <a:r>
              <a:rPr sz="150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сгустка те же, добавилась одна клетка, держат их четыре разные процедуры — </a:t>
            </a:r>
            <a:r>
              <a:rPr sz="1500" b="1" i="0">
                <a:solidFill>
                  <a:srgbClr val="21295C"/>
                </a:solidFill>
                <a:latin typeface="Arial"/>
              </a:rPr>
              <a:t>а пятую не держит ничто</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10" b="0" i="0">
                <a:solidFill>
                  <a:srgbClr val="21295C"/>
                </a:solidFill>
                <a:latin typeface="Arial"/>
              </a:rPr>
              <a:t/>
            </a:r>
            <a:r>
              <a:rPr sz="1110" b="0" i="0">
                <a:solidFill>
                  <a:srgbClr val="21295C"/>
                </a:solidFill>
                <a:latin typeface="Arial"/>
              </a:rPr>
              <a:t>У опоры «ошибается иначе» величины нет, и сказано это той же строкой, которой вечер требовал базу у чужих чисел: </a:t>
            </a:r>
            <a:r>
              <a:rPr sz="1110" b="1" i="0">
                <a:solidFill>
                  <a:srgbClr val="21295C"/>
                </a:solidFill>
                <a:latin typeface="Arial"/>
              </a:rPr>
              <a:t>доли взаимного перекрытия ошибок не измерены</a:t>
            </a:r>
            <a:r>
              <a:rPr sz="1110" b="0" i="0">
                <a:solidFill>
                  <a:srgbClr val="21295C"/>
                </a:solidFill>
                <a:latin typeface="Arial"/>
              </a:rPr>
              <a:t> — измерения есть, их числа сверку по первоисточнику не прошли. Держится опора механизмом: какая сторона сильнее, такой у пары и знак.</a:t>
            </a:r>
          </a:p>
          <a:p>
            <a:pPr algn="l">
              <a:lnSpc>
                <a:spcPct val="126000"/>
              </a:lnSpc>
              <a:spcBef>
                <a:spcPts val="700"/>
              </a:spcBef>
            </a:pPr>
            <a:r>
              <a:rPr sz="1110" b="0" i="0">
                <a:solidFill>
                  <a:srgbClr val="21295C"/>
                </a:solidFill>
                <a:latin typeface="Arial"/>
              </a:rPr>
              <a:t/>
            </a:r>
            <a:r>
              <a:rPr sz="1110" b="0" i="0">
                <a:solidFill>
                  <a:srgbClr val="21295C"/>
                </a:solidFill>
                <a:latin typeface="Arial"/>
              </a:rPr>
              <a:t>Три проверки, которые инженер может приложить к своему контуру:</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Есть ли у человека независимый источник истины, кроме объяснения модели?</a:t>
            </a:r>
            <a:r>
              <a:rPr sz="1110" b="0" i="0">
                <a:solidFill>
                  <a:srgbClr val="21295C"/>
                </a:solidFill>
                <a:latin typeface="Arial"/>
              </a:rPr>
              <a:t> Если он проверяет вывод по самообъяснению модели — это не проверка.</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Измерено ли, что он возражает?</a:t>
            </a:r>
            <a:r>
              <a:rPr sz="1110" b="0" i="0">
                <a:solidFill>
                  <a:srgbClr val="21295C"/>
                </a:solidFill>
                <a:latin typeface="Arial"/>
              </a:rPr>
              <a:t> Доля отклонений и доля </a:t>
            </a:r>
            <a:r>
              <a:rPr sz="1110" b="1" i="0">
                <a:solidFill>
                  <a:srgbClr val="21295C"/>
                </a:solidFill>
                <a:latin typeface="Arial"/>
              </a:rPr>
              <a:t>правильных</a:t>
            </a:r>
            <a:r>
              <a:rPr sz="111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Успевает ли он физически?</a:t>
            </a:r>
            <a:r>
              <a:rPr sz="111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890" b="0" i="0">
                <a:solidFill>
                  <a:srgbClr val="21295C"/>
                </a:solidFill>
                <a:latin typeface="Arial"/>
              </a:rPr>
              <a:t/>
            </a:r>
            <a:r>
              <a:rPr sz="890" b="0" i="1">
                <a:solidFill>
                  <a:srgbClr val="1C7293"/>
                </a:solidFill>
                <a:latin typeface="Arial"/>
              </a:rPr>
              <a:t>Норма сформулирована как способность вмешаться, а не как присутствие: формулировка не требует, чтобы человек смотрел каждое решение.</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2992350"/>
            <a:ext cx="1770735" cy="2032143"/>
          </a:xfrm>
          <a:prstGeom prst="roundRect">
            <a:avLst>
              <a:gd name="adj" fmla="val 172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147798"/>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750427"/>
            <a:ext cx="1441551" cy="111861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Допуск</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2992350"/>
            <a:ext cx="1770735" cy="2032143"/>
          </a:xfrm>
          <a:prstGeom prst="roundRect">
            <a:avLst>
              <a:gd name="adj" fmla="val 1721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9143" y="3147798"/>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750427"/>
            <a:ext cx="1441551" cy="1118618"/>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Исход исследования подбора дозы</a:t>
            </a:r>
          </a:p>
          <a:p>
            <a:pPr algn="l">
              <a:lnSpc>
                <a:spcPct val="126000"/>
              </a:lnSpc>
            </a:pPr>
            <a:r>
              <a:rPr sz="11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5079357"/>
            <a:ext cx="11112703" cy="9790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