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gie.2014.07.058"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gie.2014.07.058"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16/S2468-1253%2825%2900133-5"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healthforum.2025.317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порог, кто решает, годно ли измерение, и кто пересчитывает долю под свою распространённость. Внедрения идут после.</a:t>
            </a:r>
          </a:p>
          <a:p>
            <a:r>
              <a:t/>
            </a:r>
          </a:p>
          <a:p>
            <a:r>
              <a:t>Семь разборов берут разные места, где можно провалиться, не ошибившись в чтении, и назвать стоит каждый — зал услышит эти имена ещё по разу у каждого кадра.</a:t>
            </a:r>
          </a:p>
          <a:p>
            <a:r>
              <a:t/>
            </a:r>
          </a:p>
          <a:p>
            <a:r>
              <a:t>Два на стадии исследования.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«Отбор в программу повышенного внимания» — провал определения цели: целевой переменной взяты будущие расходы на лечение, а решение принималось о болезни, и из ста мест в программе почти двадцать девять уходило не тем, кому нужнее.</a:t>
            </a:r>
          </a:p>
          <a:p>
            <a:r>
              <a:t/>
            </a:r>
          </a:p>
          <a:p>
            <a:r>
              <a:t>Четыре на стадии диагноза, и они идут по возрастанию того, что измерено. «Замер взгляда» отвечает не «сколько», а «через что»: один и тот же читатель на одних и тех же маммограммах пропускает вдвое больше раков там, где подсказка молчала, и видно это в движении глаза — ложная подсказка сузила зрительный поиск. Рядом, на том же кадре, та же величина с обратным знаком: в другой программе, где разметку читатель запрашивает сам, пропущенных раков стало меньше, — и модель одна там обошла пару. «Патологи читают срезы» показывает оба знака сразу внутри одного опыта: при верной подсказке шансы верного ответа растут вчетверо, при неверной вчетверо падают, и на группе в целом прибавка незначима — отчёт с одним числом показал бы «эффекта нет». «Шведское испытание» — единственный разбор раздела, где пара выиграла: одно человеческое чтение поверх модели с арбитражем на расхождениях пропускает двадцать раков из ста против двадцати шести у двойного человеческого чтения, и человеческого чтения при этом вдвое меньше. «Хирурги оценивают риск» закрывает обещание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«Шведское испытание» и «хирурги оценивают риск»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Седьмой разбор — «модель раннего предупреждения о сепсисе» — пришёл из снятой стадии наблюдения, и держится он на двух базах, которые нельзя путать: тревога приходит на 18 госпитализаций из ста, а подтверждается 12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8 из ста против 12 у модели — из этой полосы модель не вышла. Независимая проверка сказала дословно: «добавляет мало к тому, что врачи и так делают». Разбор стоит последним потому, что он единственный в разделе, где решение принимается непрерывно, а не по одному случаю.</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семь разборов — сперва два про стадию исследования, потом четыре про точность и качество диагноза, и седьмой про непрерывное наблюдение.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почему этот кадр стоит здесь и не притворяется частью стадии. Шесть действий стадии записи, которые мы считали двумя кадрами раньше, такую систему не содержат ни одним пунктом. Вход у неё на ведении записи: она слушает живой приём. А выход — на постановке диагноза, то есть в разделе, который лекция уже закрыла. Это шов между двумя стадиями, и называть его надо швом. Инструмент, который не ложится в разбивку по стадиям, — не исключение из правила и не недочёт разбивки: это обычное дело, когда средство идёт поперёк того, как работа была устроена до него,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которое уже разобрано в этом разделе.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 в разделе один, и разбор у него полный: доля обнаружения, измеренная у тех же врачей до появления помощника и после периода работы с ним, — единственное прямое свидетельство того, что навык расходуется, если инструмент исключить из работы.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показанных ячеек — это четыре строки задач на три вида данных. За четыре раздела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16/j.gie.2014.07.058"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значимо, p = 0,031</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 p = 0,052</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Семь разборов по порядку.</a:t>
            </a:r>
            <a:r>
              <a:rPr sz="1550" b="0" i="0">
                <a:solidFill>
                  <a:srgbClr val="21295C"/>
                </a:solidFill>
                <a:latin typeface="Arial"/>
              </a:rPr>
              <a:t> Стадия исследования: </a:t>
            </a:r>
            <a:r>
              <a:rPr sz="1550" b="1" i="0">
                <a:solidFill>
                  <a:srgbClr val="21295C"/>
                </a:solidFill>
                <a:latin typeface="Arial"/>
              </a:rPr>
              <a:t>Таиланд</a:t>
            </a:r>
            <a:r>
              <a:rPr sz="1550" b="0" i="0">
                <a:solidFill>
                  <a:srgbClr val="21295C"/>
                </a:solidFill>
                <a:latin typeface="Arial"/>
              </a:rPr>
              <a:t> · </a:t>
            </a:r>
            <a:r>
              <a:rPr sz="1550" b="1" i="0">
                <a:solidFill>
                  <a:srgbClr val="21295C"/>
                </a:solidFill>
                <a:latin typeface="Arial"/>
              </a:rPr>
              <a:t>отбор в программу повышенного внимания</a:t>
            </a:r>
            <a:r>
              <a:rPr sz="1550" b="0" i="0">
                <a:solidFill>
                  <a:srgbClr val="21295C"/>
                </a:solidFill>
                <a:latin typeface="Arial"/>
              </a:rPr>
              <a:t>. Стадия диагноза: </a:t>
            </a:r>
            <a:r>
              <a:rPr sz="1550" b="1" i="0">
                <a:solidFill>
                  <a:srgbClr val="21295C"/>
                </a:solidFill>
                <a:latin typeface="Arial"/>
              </a:rPr>
              <a:t>замер взгляда</a:t>
            </a:r>
            <a:r>
              <a:rPr sz="1550" b="0" i="0">
                <a:solidFill>
                  <a:srgbClr val="21295C"/>
                </a:solidFill>
                <a:latin typeface="Arial"/>
              </a:rPr>
              <a:t> · </a:t>
            </a:r>
            <a:r>
              <a:rPr sz="1550" b="1" i="0">
                <a:solidFill>
                  <a:srgbClr val="21295C"/>
                </a:solidFill>
                <a:latin typeface="Arial"/>
              </a:rPr>
              <a:t>патологи читают срезы</a:t>
            </a:r>
            <a:r>
              <a:rPr sz="1550" b="0" i="0">
                <a:solidFill>
                  <a:srgbClr val="21295C"/>
                </a:solidFill>
                <a:latin typeface="Arial"/>
              </a:rPr>
              <a:t> · </a:t>
            </a:r>
            <a:r>
              <a:rPr sz="1550" b="1" i="0">
                <a:solidFill>
                  <a:srgbClr val="21295C"/>
                </a:solidFill>
                <a:latin typeface="Arial"/>
              </a:rPr>
              <a:t>шведское испытание</a:t>
            </a:r>
            <a:r>
              <a:rPr sz="1550" b="0" i="0">
                <a:solidFill>
                  <a:srgbClr val="21295C"/>
                </a:solidFill>
                <a:latin typeface="Arial"/>
              </a:rPr>
              <a:t> · </a:t>
            </a:r>
            <a:r>
              <a:rPr sz="1550" b="1" i="0">
                <a:solidFill>
                  <a:srgbClr val="21295C"/>
                </a:solidFill>
                <a:latin typeface="Arial"/>
              </a:rPr>
              <a:t>хирурги оценивают риск</a:t>
            </a:r>
            <a:r>
              <a:rPr sz="1550" b="0" i="0">
                <a:solidFill>
                  <a:srgbClr val="21295C"/>
                </a:solidFill>
                <a:latin typeface="Arial"/>
              </a:rPr>
              <a:t>. Непрерывное наблюдение: </a:t>
            </a:r>
            <a:r>
              <a:rPr sz="1550" b="1" i="0">
                <a:solidFill>
                  <a:srgbClr val="21295C"/>
                </a:solidFill>
                <a:latin typeface="Arial"/>
              </a:rPr>
              <a:t>модель раннего предупреждения о сепсисе</a:t>
            </a:r>
            <a:r>
              <a:rPr sz="1550" b="0" i="0">
                <a:solidFill>
                  <a:srgbClr val="21295C"/>
                </a:solidFill>
                <a:latin typeface="Arial"/>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НЕзначима — отношение шансов 1,281, p = 0,184.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(p &lt; 0,001)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значимо, p = 0,031</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 &lt; 0,001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три места, где провалилось не чтение</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вход сдвинулся</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 и один случай сверх них.</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 устройство процедуры: инструмент тот же, а исходы противоположные. На непрерывном наблюдении сдвинулось распределение входов, а порог остался прежним.</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Надиктовка, которая предлагает диагноз: граница проведена по подписи</a:t>
            </a:r>
          </a:p>
        </p:txBody>
      </p:sp>
      <p:sp>
        <p:nvSpPr>
          <p:cNvPr id="4" name="Rounded Rectangle 3"/>
          <p:cNvSpPr/>
          <p:nvPr/>
        </p:nvSpPr>
        <p:spPr>
          <a:xfrm>
            <a:off x="502920" y="1335024"/>
            <a:ext cx="3618890"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именно на предложение из речи — ноль, независимых рецензируемых замеров его точности — тоже ноль</a:t>
            </a:r>
          </a:p>
        </p:txBody>
      </p:sp>
      <p:sp>
        <p:nvSpPr>
          <p:cNvPr id="8" name="Rounded Rectangle 7"/>
          <p:cNvSpPr/>
          <p:nvPr/>
        </p:nvSpPr>
        <p:spPr>
          <a:xfrm>
            <a:off x="4286402"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клиническое предложение» среди них нет ни одной</a:t>
            </a:r>
          </a:p>
        </p:txBody>
      </p:sp>
      <p:sp>
        <p:nvSpPr>
          <p:cNvPr id="12" name="Rounded Rectangle 11"/>
          <p:cNvSpPr/>
          <p:nvPr/>
        </p:nvSpPr>
        <p:spPr>
          <a:xfrm>
            <a:off x="8069884"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БЛИЖАЙШАЯ ОТЕЧЕСТВЕННАЯ — МОСКОВСКАЯ ТОП-3</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СОГЛАСИЯ врача с подсказкой: при одном диагнозе и при выборе из трёх. Зарегистрирована медизделием, но жалобы врач набирает руками</a:t>
            </a:r>
          </a:p>
        </p:txBody>
      </p:sp>
      <p:sp>
        <p:nvSpPr>
          <p:cNvPr id="16" name="Rounded Rectangle 15"/>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24859"/>
            <a:ext cx="11112703" cy="27113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не седьмое действие стадии.</a:t>
            </a:r>
            <a:r>
              <a:rPr sz="1500" b="0" i="0">
                <a:solidFill>
                  <a:srgbClr val="21295C"/>
                </a:solidFill>
                <a:latin typeface="Arial"/>
              </a:rPr>
              <a:t> Вход у такой системы здесь, на приёме, а выход — на постановке диагноза: она сшивает два раздела лекции и целиком не помещается ни в один.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 проведена по подписи, и проведена дважды.</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делает сейчас:</a:t>
            </a:r>
            <a:r>
              <a:rPr sz="1500" b="0" i="0">
                <a:solidFill>
                  <a:srgbClr val="21295C"/>
                </a:solidFill>
                <a:latin typeface="Arial"/>
              </a:rPr>
              <a:t> Glass Health достраивает предположительный диагноз по ходу живой речи, Corti подсказывает прямо во время разговора. </a:t>
            </a:r>
            <a:r>
              <a:rPr sz="1500" b="0" i="1">
                <a:solidFill>
                  <a:srgbClr val="21295C"/>
                </a:solidFill>
                <a:latin typeface="Arial"/>
              </a:rPr>
              <a:t>Обе — по страницам изготовителей; 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это согласие врача с подсказкой, а не её точность.</a:t>
            </a:r>
            <a:r>
              <a:rPr sz="1500" b="0" i="0">
                <a:solidFill>
                  <a:srgbClr val="21295C"/>
                </a:solidFill>
                <a:latin typeface="Arial"/>
              </a:rPr>
              <a:t> Если врач и модель ошибаются одинаково, такая метрика этого не увидит. </a:t>
            </a:r>
            <a:r>
              <a:rPr sz="1500" b="1" i="0">
                <a:solidFill>
                  <a:srgbClr val="21295C"/>
                </a:solidFill>
                <a:latin typeface="Arial"/>
              </a:rPr>
              <a:t>Ни один источник этой оговорки не делает.</a:t>
            </a:r>
          </a:p>
        </p:txBody>
      </p:sp>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 §5.1-5.2</a:t>
            </a:r>
            <a:r>
              <a:rPr sz="1200" b="0" i="1">
                <a:solidFill>
                  <a:srgbClr val="1C7293"/>
                </a:solidFill>
                <a:latin typeface="Arial"/>
              </a:rPr>
              <a:t> · </a:t>
            </a:r>
            <a:r>
              <a:rPr sz="1200" b="0" i="1" u="sng">
                <a:solidFill>
                  <a:srgbClr val="065A82"/>
                </a:solidFill>
                <a:latin typeface="Arial"/>
                <a:hlinkClick r:id="rId3"/>
              </a:rPr>
              <a:t>ТОП-3: страница изготовителя — числа 46 % и 68 % — сообщение Правительства Москвы от 14.07.2021</a:t>
            </a:r>
            <a:r>
              <a:rPr sz="1200" b="0" i="1">
                <a:solidFill>
                  <a:srgbClr val="1C7293"/>
                </a:solidFill>
                <a:latin typeface="Arial"/>
              </a:rPr>
              <a:t> · </a:t>
            </a:r>
            <a:r>
              <a:rPr sz="1200" b="0" i="1">
                <a:solidFill>
                  <a:srgbClr val="1C7293"/>
                </a:solidFill>
                <a:latin typeface="Arial"/>
              </a:rPr>
              <a:t>Glass Health и Corti — страницы изготовителей</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на карте курса: своего столбца нет</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ПОКАЗАНО ЯЧЕЕК КАРТЫ</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ЧЕТЫРЕ РАЗДЕЛА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Этому разделу на карте курса места не нашлось, и сказать почему важнее, чем найти ячейку.</a:t>
            </a:r>
            <a:r>
              <a:rPr sz="1500" b="0" i="0">
                <a:solidFill>
                  <a:srgbClr val="21295C"/>
                </a:solidFill>
                <a:latin typeface="Arial"/>
              </a:rPr>
              <a:t> Карта спрашивает о каждом случае две вещи: что модель делает и с какими данными. Здесь она распознаёт — но не снимок, а </a:t>
            </a:r>
            <a:r>
              <a:rPr sz="1500" b="1" i="0">
                <a:solidFill>
                  <a:srgbClr val="21295C"/>
                </a:solidFill>
                <a:latin typeface="Arial"/>
              </a:rPr>
              <a:t>живой поток кадров во время процедуры</a:t>
            </a:r>
            <a:r>
              <a:rPr sz="1500" b="0" i="0">
                <a:solidFill>
                  <a:srgbClr val="21295C"/>
                </a:solidFill>
                <a:latin typeface="Arial"/>
              </a:rPr>
              <a:t>. Такого столбца среди двенадцати показанных нет: карта собрана под клинику, где читают снимок, запись и показатели.</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 разница, которая важнее места на карте.</a:t>
            </a:r>
            <a:r>
              <a:rPr sz="1500" b="0" i="0">
                <a:solidFill>
                  <a:srgbClr val="21295C"/>
                </a:solidFill>
                <a:latin typeface="Arial"/>
              </a:rPr>
              <a:t> Помощник подсвечивает находку рамкой, пока врач ведёт процедуру: решение остаётся за врачом, он смотрит сам. Там, где модель садится вторым читателем снимка, человека с этого места снимают совсем.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доверие карта не спрашивает вовсе</a:t>
            </a:r>
            <a:r>
              <a:rPr sz="1500" b="0" i="0">
                <a:solidFill>
                  <a:srgbClr val="21295C"/>
                </a:solidFill>
                <a:latin typeface="Arial"/>
              </a:rPr>
              <a:t> — такого вопроса в ней нет, и это её пробел, а не наш.</a:t>
            </a:r>
          </a:p>
        </p:txBody>
      </p:sp>
      <p:sp>
        <p:nvSpPr>
          <p:cNvPr id="21" name="Rectangle 2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891169"/>
          </a:xfrm>
          <a:prstGeom prst="roundRect">
            <a:avLst>
              <a:gd name="adj" fmla="val 623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248"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564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37744" y="1335024"/>
            <a:ext cx="3240715"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84048" y="1335024"/>
            <a:ext cx="294810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378459" y="1335024"/>
            <a:ext cx="1441425"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24763" y="1335024"/>
            <a:ext cx="11488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мерит</a:t>
            </a:r>
          </a:p>
        </p:txBody>
      </p:sp>
      <p:sp>
        <p:nvSpPr>
          <p:cNvPr id="11" name="Rectangle 10"/>
          <p:cNvSpPr/>
          <p:nvPr/>
        </p:nvSpPr>
        <p:spPr>
          <a:xfrm>
            <a:off x="5819884" y="1335024"/>
            <a:ext cx="5832314"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66188" y="1335024"/>
            <a:ext cx="553970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598248"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37744" y="1718403"/>
            <a:ext cx="3240715"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84048" y="17184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378459" y="1718403"/>
            <a:ext cx="1441425"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24763" y="17184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5819884" y="1718403"/>
            <a:ext cx="5832314"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66188" y="171840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разработки лекарства — раздел снят</a:t>
            </a:r>
          </a:p>
        </p:txBody>
      </p:sp>
      <p:sp>
        <p:nvSpPr>
          <p:cNvPr id="21" name="Rectangle 20"/>
          <p:cNvSpPr/>
          <p:nvPr/>
        </p:nvSpPr>
        <p:spPr>
          <a:xfrm>
            <a:off x="539496" y="2101783"/>
            <a:ext cx="598248"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37744" y="2101783"/>
            <a:ext cx="3240715"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84048" y="21017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378459" y="2101783"/>
            <a:ext cx="1441425"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24763" y="21017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5819884" y="2101783"/>
            <a:ext cx="5832314"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66188" y="21017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598248"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37744" y="2485163"/>
            <a:ext cx="3240715"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84048" y="24851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378459" y="2485163"/>
            <a:ext cx="1441425"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24763" y="24851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5819884" y="2485163"/>
            <a:ext cx="5832314"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66188" y="248516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тревоги модели · </a:t>
            </a:r>
            <a:r>
              <a:rPr sz="1200" b="0" i="1">
                <a:solidFill>
                  <a:srgbClr val="21295C"/>
                </a:solidFill>
                <a:latin typeface="Arial"/>
              </a:rPr>
              <a:t>счёт объёма был у надзора — раздел снят</a:t>
            </a:r>
          </a:p>
        </p:txBody>
      </p:sp>
      <p:sp>
        <p:nvSpPr>
          <p:cNvPr id="37" name="Rectangle 36"/>
          <p:cNvSpPr/>
          <p:nvPr/>
        </p:nvSpPr>
        <p:spPr>
          <a:xfrm>
            <a:off x="539496" y="2868543"/>
            <a:ext cx="598248"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37744" y="2868543"/>
            <a:ext cx="3240715"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84048" y="286854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378459" y="2868543"/>
            <a:ext cx="1441425"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24763" y="286854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5819884" y="2868543"/>
            <a:ext cx="5832314"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66188" y="286854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598248"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37744" y="3251923"/>
            <a:ext cx="3240715"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84048" y="325192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378459" y="3251923"/>
            <a:ext cx="1441425"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24763" y="325192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5819884" y="3251923"/>
            <a:ext cx="5832314"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66188" y="325192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53" name="Rectangle 52"/>
          <p:cNvSpPr/>
          <p:nvPr/>
        </p:nvSpPr>
        <p:spPr>
          <a:xfrm>
            <a:off x="539496" y="3635303"/>
            <a:ext cx="598248"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37744" y="3635303"/>
            <a:ext cx="3240715"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84048" y="36353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378459" y="3635303"/>
            <a:ext cx="1441425"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24763" y="36353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5819884" y="3635303"/>
            <a:ext cx="5832314"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66188" y="363530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a:t>
            </a:r>
          </a:p>
        </p:txBody>
      </p:sp>
      <p:sp>
        <p:nvSpPr>
          <p:cNvPr id="61" name="Rectangle 60"/>
          <p:cNvSpPr/>
          <p:nvPr/>
        </p:nvSpPr>
        <p:spPr>
          <a:xfrm>
            <a:off x="539496" y="4018683"/>
            <a:ext cx="598248"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37744" y="4018683"/>
            <a:ext cx="3240715"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84048" y="40186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378459" y="4018683"/>
            <a:ext cx="1441425"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24763" y="40186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5819884" y="4018683"/>
            <a:ext cx="5832314"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66188" y="40186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598248"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37744" y="4402063"/>
            <a:ext cx="3240715"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84048" y="44020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378459" y="4402063"/>
            <a:ext cx="1441425"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24763" y="44020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5819884" y="4402063"/>
            <a:ext cx="5832314"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66188" y="440206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надзора — раздел снят</a:t>
            </a:r>
          </a:p>
        </p:txBody>
      </p:sp>
      <p:sp>
        <p:nvSpPr>
          <p:cNvPr id="77" name="Rectangle 76"/>
          <p:cNvSpPr/>
          <p:nvPr/>
        </p:nvSpPr>
        <p:spPr>
          <a:xfrm>
            <a:off x="539496" y="4785442"/>
            <a:ext cx="598248"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37744" y="4785442"/>
            <a:ext cx="3240715"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84048" y="4785442"/>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378459" y="4785442"/>
            <a:ext cx="1441425"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24763" y="4785442"/>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83" name="Rectangle 82"/>
          <p:cNvSpPr/>
          <p:nvPr/>
        </p:nvSpPr>
        <p:spPr>
          <a:xfrm>
            <a:off x="5819884" y="4785442"/>
            <a:ext cx="5832314"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66188" y="4785442"/>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a:t>
            </a:r>
          </a:p>
        </p:txBody>
      </p:sp>
      <p:sp>
        <p:nvSpPr>
          <p:cNvPr id="85" name="Rectangle 84"/>
          <p:cNvSpPr/>
          <p:nvPr/>
        </p:nvSpPr>
        <p:spPr>
          <a:xfrm>
            <a:off x="539496" y="5168822"/>
            <a:ext cx="598248"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0564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37744" y="5168822"/>
            <a:ext cx="3240715"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84048" y="5168822"/>
            <a:ext cx="294810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378459" y="5168822"/>
            <a:ext cx="1441425"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24763" y="5168822"/>
            <a:ext cx="114881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рука</a:t>
            </a:r>
          </a:p>
        </p:txBody>
      </p:sp>
      <p:sp>
        <p:nvSpPr>
          <p:cNvPr id="91" name="Rectangle 90"/>
          <p:cNvSpPr/>
          <p:nvPr/>
        </p:nvSpPr>
        <p:spPr>
          <a:xfrm>
            <a:off x="5819884" y="5168822"/>
            <a:ext cx="5832314"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66188" y="5168822"/>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93" name="TextBox 92"/>
          <p:cNvSpPr txBox="1"/>
          <p:nvPr/>
        </p:nvSpPr>
        <p:spPr>
          <a:xfrm>
            <a:off x="539496" y="5698506"/>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формы из девяти со счётом; у трёх счёт был и ушёл со снятыми разделами.</a:t>
            </a:r>
            <a:r>
              <a:rPr sz="1250" b="0" i="0">
                <a:solidFill>
                  <a:srgbClr val="21295C"/>
                </a:solidFill>
                <a:latin typeface="Arial"/>
              </a:rPr>
              <a:t>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платежа из начала — поимённо. Под тремя стоит измерение, под четвёртым его в деке больше нет.</a:t>
            </a:r>
          </a:p>
        </p:txBody>
      </p:sp>
      <p:sp>
        <p:nvSpPr>
          <p:cNvPr id="6" name="Rectangle 5"/>
          <p:cNvSpPr/>
          <p:nvPr/>
        </p:nvSpPr>
        <p:spPr>
          <a:xfrm>
            <a:off x="539496" y="1744439"/>
            <a:ext cx="1195862"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44439"/>
            <a:ext cx="90325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платёж</a:t>
            </a:r>
          </a:p>
        </p:txBody>
      </p:sp>
      <p:sp>
        <p:nvSpPr>
          <p:cNvPr id="8" name="Rectangle 7"/>
          <p:cNvSpPr/>
          <p:nvPr/>
        </p:nvSpPr>
        <p:spPr>
          <a:xfrm>
            <a:off x="1735358" y="1744439"/>
            <a:ext cx="5184682"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1881662" y="1744439"/>
            <a:ext cx="48920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заплачено</a:t>
            </a:r>
          </a:p>
        </p:txBody>
      </p:sp>
      <p:sp>
        <p:nvSpPr>
          <p:cNvPr id="10" name="Rectangle 9"/>
          <p:cNvSpPr/>
          <p:nvPr/>
        </p:nvSpPr>
        <p:spPr>
          <a:xfrm>
            <a:off x="6920041" y="1744439"/>
            <a:ext cx="4732157"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7066345" y="1744439"/>
            <a:ext cx="44395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измерено</a:t>
            </a:r>
          </a:p>
        </p:txBody>
      </p:sp>
      <p:sp>
        <p:nvSpPr>
          <p:cNvPr id="12" name="Rectangle 11"/>
          <p:cNvSpPr/>
          <p:nvPr/>
        </p:nvSpPr>
        <p:spPr>
          <a:xfrm>
            <a:off x="539496" y="2136935"/>
            <a:ext cx="1195862"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36935"/>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Внимание</a:t>
            </a:r>
          </a:p>
        </p:txBody>
      </p:sp>
      <p:sp>
        <p:nvSpPr>
          <p:cNvPr id="14" name="Rectangle 13"/>
          <p:cNvSpPr/>
          <p:nvPr/>
        </p:nvSpPr>
        <p:spPr>
          <a:xfrm>
            <a:off x="1735358" y="2136935"/>
            <a:ext cx="5184682"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81662" y="2136935"/>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6920041" y="2136935"/>
            <a:ext cx="4732157"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7066345" y="2136935"/>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лабораторный замер взгляда</a:t>
            </a:r>
          </a:p>
        </p:txBody>
      </p:sp>
      <p:sp>
        <p:nvSpPr>
          <p:cNvPr id="18" name="Rectangle 17"/>
          <p:cNvSpPr/>
          <p:nvPr/>
        </p:nvSpPr>
        <p:spPr>
          <a:xfrm>
            <a:off x="539496" y="2757335"/>
            <a:ext cx="1195862" cy="392496"/>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7335"/>
            <a:ext cx="90325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Навык</a:t>
            </a:r>
          </a:p>
        </p:txBody>
      </p:sp>
      <p:sp>
        <p:nvSpPr>
          <p:cNvPr id="20" name="Rectangle 19"/>
          <p:cNvSpPr/>
          <p:nvPr/>
        </p:nvSpPr>
        <p:spPr>
          <a:xfrm>
            <a:off x="1735358" y="2757335"/>
            <a:ext cx="5184682" cy="392496"/>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81662" y="2757335"/>
            <a:ext cx="48920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28,4 → 22,4 из ста у тех же девятнадцати врачей</a:t>
            </a:r>
          </a:p>
        </p:txBody>
      </p:sp>
      <p:sp>
        <p:nvSpPr>
          <p:cNvPr id="22" name="Rectangle 21"/>
          <p:cNvSpPr/>
          <p:nvPr/>
        </p:nvSpPr>
        <p:spPr>
          <a:xfrm>
            <a:off x="6920041" y="2757335"/>
            <a:ext cx="4732157" cy="392496"/>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7066345" y="2757335"/>
            <a:ext cx="44395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наблюдательное, однажды и спорно</a:t>
            </a:r>
          </a:p>
        </p:txBody>
      </p:sp>
      <p:sp>
        <p:nvSpPr>
          <p:cNvPr id="24" name="Rectangle 23"/>
          <p:cNvSpPr/>
          <p:nvPr/>
        </p:nvSpPr>
        <p:spPr>
          <a:xfrm>
            <a:off x="539496" y="3149831"/>
            <a:ext cx="1195862"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498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Подпись</a:t>
            </a:r>
          </a:p>
        </p:txBody>
      </p:sp>
      <p:sp>
        <p:nvSpPr>
          <p:cNvPr id="26" name="Rectangle 25"/>
          <p:cNvSpPr/>
          <p:nvPr/>
        </p:nvSpPr>
        <p:spPr>
          <a:xfrm>
            <a:off x="1735358" y="3149831"/>
            <a:ext cx="5184682"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81662" y="3149831"/>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девять машинных эпикризов из одиннадцати с ошибкой</a:t>
            </a:r>
          </a:p>
        </p:txBody>
      </p:sp>
      <p:sp>
        <p:nvSpPr>
          <p:cNvPr id="28" name="Rectangle 27"/>
          <p:cNvSpPr/>
          <p:nvPr/>
        </p:nvSpPr>
        <p:spPr>
          <a:xfrm>
            <a:off x="6920041" y="3149831"/>
            <a:ext cx="4732157"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7066345" y="31498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качество заметок. </a:t>
            </a:r>
            <a:r>
              <a:rPr sz="1250" b="0" i="1">
                <a:solidFill>
                  <a:srgbClr val="21295C"/>
                </a:solidFill>
                <a:latin typeface="Arial"/>
              </a:rPr>
              <a:t>Перепись изделий, 56 из 717, ушла со снятым разделом надзора</a:t>
            </a:r>
          </a:p>
        </p:txBody>
      </p:sp>
      <p:sp>
        <p:nvSpPr>
          <p:cNvPr id="30" name="Rectangle 29"/>
          <p:cNvSpPr/>
          <p:nvPr/>
        </p:nvSpPr>
        <p:spPr>
          <a:xfrm>
            <a:off x="539496" y="3770231"/>
            <a:ext cx="1195862"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7702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Арбитраж</a:t>
            </a:r>
          </a:p>
        </p:txBody>
      </p:sp>
      <p:sp>
        <p:nvSpPr>
          <p:cNvPr id="32" name="Rectangle 31"/>
          <p:cNvSpPr/>
          <p:nvPr/>
        </p:nvSpPr>
        <p:spPr>
          <a:xfrm>
            <a:off x="1735358" y="3770231"/>
            <a:ext cx="5184682"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81662" y="3770231"/>
            <a:ext cx="4892074" cy="620400"/>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разбор снят вместе с надзором: минуты двойного чтения и рост объёма были его числами</a:t>
            </a:r>
          </a:p>
        </p:txBody>
      </p:sp>
      <p:sp>
        <p:nvSpPr>
          <p:cNvPr id="34" name="Rectangle 33"/>
          <p:cNvSpPr/>
          <p:nvPr/>
        </p:nvSpPr>
        <p:spPr>
          <a:xfrm>
            <a:off x="6920041" y="3770231"/>
            <a:ext cx="4732157"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7066345" y="37702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6" name="TextBox 35"/>
          <p:cNvSpPr txBox="1"/>
          <p:nvPr/>
        </p:nvSpPr>
        <p:spPr>
          <a:xfrm>
            <a:off x="539496" y="4536935"/>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Оплачены неровно:</a:t>
            </a:r>
            <a:r>
              <a:rPr sz="1300" b="0" i="0">
                <a:solidFill>
                  <a:srgbClr val="21295C"/>
                </a:solidFill>
                <a:latin typeface="Arial"/>
              </a:rPr>
              <a:t> у внимания крупная выборка, у навыка — одно спорное наблюдение, у подписи — доля документов, а не исход пациента. </a:t>
            </a:r>
            <a:r>
              <a:rPr sz="1350" b="1" i="0">
                <a:solidFill>
                  <a:srgbClr val="21295C"/>
                </a:solidFill>
                <a:latin typeface="Arial"/>
              </a:rPr>
              <a:t>У арбитража в деке не осталось ни одного измерения.</a:t>
            </a:r>
          </a:p>
        </p:txBody>
      </p:sp>
      <p:sp>
        <p:nvSpPr>
          <p:cNvPr id="37" name="TextBox 36"/>
          <p:cNvSpPr txBox="1"/>
          <p:nvPr/>
        </p:nvSpPr>
        <p:spPr>
          <a:xfrm>
            <a:off x="539496" y="520946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Кто платит:</a:t>
            </a:r>
            <a:r>
              <a:rPr sz="1300" b="0" i="0">
                <a:solidFill>
                  <a:srgbClr val="21295C"/>
                </a:solidFill>
                <a:latin typeface="Arial"/>
              </a:rPr>
              <a:t> исследование и диагноз — вниманием · квалификация — навыком · документы — подписью. </a:t>
            </a:r>
            <a:r>
              <a:rPr sz="1350" b="1" i="0">
                <a:solidFill>
                  <a:srgbClr val="21295C"/>
                </a:solidFill>
                <a:latin typeface="Arial"/>
              </a:rPr>
              <a:t>Скрининг из четырёх разделов не платит ничем:</a:t>
            </a:r>
            <a:r>
              <a:rPr sz="1300" b="0" i="0">
                <a:solidFill>
                  <a:srgbClr val="21295C"/>
                </a:solidFill>
                <a:latin typeface="Arial"/>
              </a:rPr>
              <a:t> человек прочёл там каждое исследование.</a:t>
            </a:r>
          </a:p>
        </p:txBody>
      </p:sp>
      <p:sp>
        <p:nvSpPr>
          <p:cNvPr id="38" name="TextBox 37"/>
          <p:cNvSpPr txBox="1"/>
          <p:nvPr/>
        </p:nvSpPr>
        <p:spPr>
          <a:xfrm>
            <a:off x="539496" y="5881988"/>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Арбитраж ось называет, а разбора под ним в деке больше нет</a:t>
            </a:r>
            <a:r>
              <a:rPr sz="1300" b="0" i="0">
                <a:solidFill>
                  <a:srgbClr val="21295C"/>
                </a:solidFill>
                <a:latin typeface="Arial"/>
              </a:rPr>
              <a:t> — и это пробел названный, а не забытый.</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