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doi.org/10.1038/s41467-023-44676-z"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 Id="rId3" Type="http://schemas.openxmlformats.org/officeDocument/2006/relationships/hyperlink" Target="https://www.accessdata.fda.gov/cdrh_docs/pdf18/DEN180001.pdf" TargetMode="Externa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038/s42256-021-00307-0"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arxiv.org/abs/1711.05225"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145/3313831.3376718"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5/3313831.337671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adv.abq6147"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126/science.aax2342"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126/science.aax2342"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148/radiol.252590"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148/radiol.25259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148/radiol.243688"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038/s41746-020-0232-8"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01/jamanetworkopen.2024.40969"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01/jamanetworkopen.2024.40969"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doi.org/10.1001/jamanetworkopen.2021.35286"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www.medrxiv.org/content/10.1101/2025.07.10.25331333"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doi.org/10.1001/jamainternmed.2025.0821"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doi.org/10.1093/jamia/ocad118"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93/jamia/ocad118"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16/j.gie.2014.07.058"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doi.org/10.1016/S2468-1253%2825%2900133-5" TargetMode="External"/><Relationship Id="rId4" Type="http://schemas.openxmlformats.org/officeDocument/2006/relationships/hyperlink" Target="https://doi.org/10.1073/pnas.2422633122"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 Id="rId3" Type="http://schemas.openxmlformats.org/officeDocument/2006/relationships/hyperlink" Target="https://metr.org/blog/2026-02-24-uplift-update/" TargetMode="Externa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doi.org/10.1016/S2468-1253%2825%2900133-5"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 Id="rId3" Type="http://schemas.openxmlformats.org/officeDocument/2006/relationships/hyperlink" Target="https://go.bio.org/rs/490-EHZ-999/images/ClinicalDevelopmentSuccessRates2011_2020.pdf" TargetMode="Externa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 Id="rId3" Type="http://schemas.openxmlformats.org/officeDocument/2006/relationships/hyperlink" Target="https://go.bio.org/rs/490-EHZ-999/images/ClinicalDevelopmentSuccessRates2011_2020.pdf" TargetMode="Externa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 Id="rId3" Type="http://schemas.openxmlformats.org/officeDocument/2006/relationships/hyperlink" Target="https://doi.org/10.1001/jamahealthforum.2025.3172" TargetMode="Externa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идёт по пути одного случая, и это не каталог применений. Каталог отвечает на вопрос «что бывает»; путь отвечает на вопрос «где за это платят». Кто-то решает, попадёт ли человек в поле зрения вообще. Потом измеряют. Потом по измеренному ставят диагноз. Потом следят, что меняется дальше. И всё это время пишут запись, которую кто-то прочтёт потом.</a:t>
            </a:r>
          </a:p>
          <a:p>
            <a:r>
              <a:t/>
            </a:r>
          </a:p>
          <a:p>
            <a:r>
              <a:t>Порядок первых пяти разделов держится не удобством изложения. Смотреть можно только того, кто уже попал в поле зрения: человек, которого не позвали, невидим для любой модели, какой бы точной она ни была. Решать можно только по тому, что измерено, и свойства измерения переезжают в решение целиком, вместе со своими смещениями. Наблюдать имеет смысл после того, как решение принято, — наблюдение отвечает на вопрос, что стало дальше. Запись читают после того, как её сделали, и читает её другой человек, у которого вопрос свой. Переставить эти пять ступеней нельзя, и у перестановки нет варианта, при котором она работает.</a:t>
            </a:r>
          </a:p>
          <a:p>
            <a:r>
              <a:t/>
            </a:r>
          </a:p>
          <a:p>
            <a:r>
              <a:t>Чем путь кончается, лекция сказать не может, и сказать об этом надо прямо. Измерений долгосрочного исхода человека после решения, принятого с участием модели, не нашлось ни одного: ни одного замера, где прослежено, что стало со здоровьем людей через годы после того, как модель вошла в процедуру. Там, где должен стоять шестой шаг пути, стоит прочерк.</a:t>
            </a:r>
          </a:p>
          <a:p>
            <a:r>
              <a:t/>
            </a:r>
          </a:p>
          <a:p>
            <a:r>
              <a:t>Три раздела на путь не ложатся, и объединять их с пятью было бы подменой. Чем удерживают — это процедура: двойное чтение, арбитраж, подпись, норматив; она стоит вокруг всех пяти сразу, отдельным шагом её не поставить. Что стало с теми, кто решает, — замер по человеку: что сделалось с его вниманием, навыком и готовностью возразить; шаг работы такого замера не показывает. Разработка лекарства — другой предмет: откуда берётся то, что назначают, и там удешевили начало, а узкое место осталось на испытаниях. Поперёк — это их настоящее положение, и назвать его так честнее, чем выстроить восемь разделов в один ряд и сделать вид, что они однородны.</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Снимок перечитывают сколько угодно раз, назначение отменяют, пока его не выполнили, — а проведённую операцию и месяцы, потерянные на неверном лечении, не отменяет ничто.</a:t>
            </a:r>
          </a:p>
          <a:p>
            <a:r>
              <a:t/>
            </a:r>
          </a:p>
          <a:p>
            <a:r>
              <a:t>Форма у каждого разбора одна, и это освобождает слушателя от необходимости угадывать устройство следующего раздела.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a:p>
            <a:r>
              <a:t/>
            </a:r>
          </a:p>
          <a:p>
            <a:r>
              <a:t>Производство лекарственной формы на линии, устройство предсказания структуры белка и цифровые двойники закрывают другие лекции курса. Назначение лечения разобрано в главе и со сцены сегодня не идёт: разбора, у которого обе половины измерены в сопоставимых единицах, на нём не нашлось. Из оперативной помощи на сцену вынесен один разбор — оценка риска перед экстренной операцией; остальное тоже остаётся в главе.</a:t>
            </a:r>
          </a:p>
          <a:p>
            <a:r>
              <a:t/>
            </a:r>
          </a:p>
          <a:p>
            <a:r>
              <a:t>Вопрос залу стоит задать и подождать ответа. Результат обследования, пришедший раньше, чем его прочитал врач, видел почти каждый, у кого есть доступ к электронной карте. Это и есть первый шаг пути, увиденный с другой стороны: данные уже есть, решения по ним ещё нет, и промежуток между этими двумя моментами — ровно то место, куда входит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Третья: у вопроса «успевает ли» бывает ответ «нет», и дальше он будет назван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ставит метку из списка, распознавание находит и опознаёт во входе, поиск с генерацией сначала находит и ранжирует, а потом создаёт содержимое по найденному, прогноз предсказывает число, планирование строит последовательность действий. Названия эти курсу знакомы, и определений со сцены они не требуют: на экране рядом с каждым стоит то, что система по нему выдаёт, одной строкой. Второе имя — с какими данными система работает: текст, изображение, звук, видео, структурированные данные, код, комбинации нескольких видов сразу. Пара бывает составной, и это не оговорка: чат, который ищет в документах и пишет по ним ответ, решает две задачи подряд.</a:t>
            </a:r>
          </a:p>
          <a:p>
            <a:r>
              <a:t/>
            </a:r>
          </a:p>
          <a:p>
            <a:r>
              <a:t>Зачем это нужно. Два имени задают поставщику два вопроса, на которые тот обязан ответить коротко.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распознавание на изображении — обкатанная область с готовыми мерами качества, а планирование на структурированных данных в медицинской практике встречается редко, и каждый случай придётся разбирать с нуля. И пара показывает подмену, которая стоит дорого: успех показывают в одной клетке, а продают инструмент для другой.</a:t>
            </a:r>
          </a:p>
          <a:p>
            <a:r>
              <a:t/>
            </a:r>
          </a:p>
          <a:p>
            <a:r>
              <a:t>Заполняется карта по ходу, и обещать стоит ровно это. В конце каждого раздела на экран возвращается та же сетка, и в неё вписываются короткие имена случаев, которые раздел разобрал: по строкам типы задач, по столбцам виды данных. К последнему разделу карта собрана целиком, и с этого момента читать на ней надо прочерки. Занятых клеток за всю лекцию наберётся четыре, то есть восемь из двенадцати показанных так и останутся пустыми. Эти восемь — такое же содержание карты, как четыре занятых: пустая клетка говорит, что инструмент такого класса на этой стадии искать незачем, и время, которое ушло бы на поиск, карта экономит заранее. Заполнение само по себе результат, и восемь неподвижных прочерков — результат тоже.</a:t>
            </a:r>
          </a:p>
          <a:p>
            <a:r>
              <a:t/>
            </a:r>
          </a:p>
          <a:p>
            <a:r>
              <a:t>Общую картину стоит держать в голове с первой минуты. Медицина занимает здесь четыре клетки, и все четыре — те же, которыми заканчивалась инженерная лекция: распознавание и классификация на изображении, прогноз на структурированных данных, поиск с генерацией на тексте. Совпадение клеток и есть результат: отрасли различают цена ошибки и процедура вокруг человека, класс модели их не различает. Чисел в этой раскладке нет ни одного — ни долей рынка, ни числа допущенных изделий, ни «лидеров».</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разбирали одни и те же клинические случаи, оценивали их слепо по шкале диагностического рассуждения, и рандомизированы были два человеческих состояния: врач как обычно — семьдесят четыре из ста, врач поверх модели — семьдесят шесть.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идёт здесь иллюстрацией оси; разбором он не идёт. Стоит он тут ровно потому, что ось на нём узнаётся без перевода.</a:t>
            </a:r>
          </a:p>
          <a:p>
            <a:r>
              <a:t/>
            </a:r>
          </a:p>
          <a:p>
            <a:r>
              <a:t>**Источники.** </a:t>
            </a:r>
            <a:r>
              <a:rPr u="sng">
                <a:solidFill>
                  <a:srgbClr val="065A82"/>
                </a:solidFill>
                <a:hlinkClick r:id="rId3"/>
              </a:rPr>
              <a:t>Goh и соавт., JAMA Network Open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 прочерк.</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знаменателе. У четыре-а знаменателя нет вовсе, там считается абсолютный объём работы. У восьмой знаменатель есть и он не менялся: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этот прочерк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каждого числа в этой лекции названо, из какого опыта оно взято. Это не академическая вежливость: разряд свидетельства решает, что по числу вообще можно сказать, и два одинаковых процента из опытов разного устройства означают разное.</a:t>
            </a:r>
          </a:p>
          <a:p>
            <a:r>
              <a:t/>
            </a:r>
          </a:p>
          <a:p>
            <a:r>
              <a:t>Верхняя ступень — рандомизированное испытание. Людей развели по группам жребием, и этим снят главный способ соврать самому себе: в группу, которая получила новый инструмент, не попали систематически те, у кого и без него дела шли лучше. Разницу между группами после такого распределения можно отнести к самому вмешательству. Оговорка, которую надо держать рядом: жребий защищает от смещения отбора и не делает задание похожим на работу. Испытание на составленных описаниях случаев остаётся рандомизированным и при этом не говорит ничего о том, что случилось с больным.</a:t>
            </a:r>
          </a:p>
          <a:p>
            <a:r>
              <a:t/>
            </a:r>
          </a:p>
          <a:p>
            <a:r>
              <a:t>Вторая ступень — проспективное наблюдение. Групп жребием не делили, но за людьми следили вперёд, от решения к исходу, и исход зафиксировали тогда, когда он наступил, а не вспомнили потом. Такой опыт честно отвечает, что произошло. На вопрос, из-за чего именно, он отвечает с оговоркой: вместе с изучаемым решением менялось и всё остальное.</a:t>
            </a:r>
          </a:p>
          <a:p>
            <a:r>
              <a:t/>
            </a:r>
          </a:p>
          <a:p>
            <a:r>
              <a:t>Третья ступень — ретроспективный срез. Взяли уже собранные записи и посмотрели назад. Так устроена большая часть того, что публикуется о внедрениях, и так же устроена большая часть того, что приносят поставщики. Срез умеет показать связь и не умеет показать её направление: те, у кого результат лучше, могли чаще пользоваться инструментом — или пользоваться им чаще потому, что результат и так был лучше.</a:t>
            </a:r>
          </a:p>
          <a:p>
            <a:r>
              <a:t/>
            </a:r>
          </a:p>
          <a:p>
            <a:r>
              <a:t>Четвёртая ступень — пересказ в обзоре. Число дошло не из опыта, а из чужого текста о нём. Это не нижняя ступень по досадному совпадению, а измеренное свойство: в этой лекции разобран рецензируемый обзор, перепутавший шесть своих первоисточников из семи, и ошибка там живёт выше блога — там, где читатель обычно уже не проверяет. Правило простое: пока первоисточник не открыт, по пересказу не утверждается ничего.</a:t>
            </a:r>
          </a:p>
          <a:p>
            <a:r>
              <a:t/>
            </a:r>
          </a:p>
          <a:p>
            <a:r>
              <a:t>Нижняя ступень — самоотчёт. Человек сам говорит, сколько времени он тратит и насколько ему помогает инструмент. Величины такого рода нужны и их не надо выбрасывать: они говорят, что человек думает о своей работе, и это отдельный, настоящий предмет. Про саму работу они не говорят, и расхождение между самоотчётом и телеметрией измерено не раз.</a:t>
            </a:r>
          </a:p>
          <a:p>
            <a:r>
              <a:t/>
            </a:r>
          </a:p>
          <a:p>
            <a:r>
              <a:t>Лестница эта применяется и к числам самой лекции, иначе правило было бы требованием к чужим. Ядро разговора стоит на опытах с отобранными случаями: там измерено, как человек смотрит, как он меняет верное решение на неверное, как соглашается с подсказкой. Исход пациента из-за того, что человек стал хуже смотреть, не измерен ни в одном из этих опытов — ни одним автором, нигде. Это прочерк, и он называется вслух там же, где называются числа.</a:t>
            </a:r>
          </a:p>
          <a:p>
            <a:r>
              <a:t/>
            </a:r>
          </a:p>
          <a:p>
            <a:r>
              <a:t>Почему лестница стоит здесь, а не в конце. Разряд называется у каждого числа начиная с первого разбора, и названный разряд без выданной лестницы — это жаргон: слова «ретроспективный» и «проспективный» звучат похоже и различаются одним признаком, который надо знать заранее. Собранная в конце, она собрала бы уже знакомое; выданная здесь, она работает весь разговор, и к ней достаточно возвращаться одним словом.</a:t>
            </a:r>
          </a:p>
          <a:p>
            <a:r>
              <a:t/>
            </a:r>
          </a:p>
          <a:p>
            <a:r>
              <a:t>И одно различение, без которого две разметки слипнутся. Разряд свидетельства — про устройство опыта: как добыто число. Ступень участия — про устройство работы: что человек успевает увидеть, прежде чем подписать. Одно и то же число может быть взято из сильного опыта и описывать слабую ступень участия, и наоборот. Когда дальше у каждого разбора называются обе разметки подряд, их легко спутать, поэтому разводятся они здесь, пока ни одного числа ещё не прозвучало.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семь действий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назвать его надо до разборов. Из семи действий обученная модель заняла три. Четвёртое — чтение: она сортирует поток по предсказанному риску, и человек читает отобранное. Шестое — «направить или нет» выносится на месте и без специалиста. Седьмое — в сортировке потока она занимает место протокольной шкалы.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 —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Поток, отобранный моделью, приходит на следующий шаг уже смещённым, и обнаруживает ошибку отбора только следующий виток — другой человек в другой день.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раздела — та же сетка, которой курс называет каждый встреченный инструмент: по строкам тип задачи, по столбцам вид данных. Собирается она ради одного вопроса, который инженер задаёт поставщику до всякой демонстрации: какую задачу ваша система решает и на каких данных. Пока на этот вопрос нет короткого ответа, разговор о пригодности инструмента ещё не начался.</a:t>
            </a:r>
          </a:p>
          <a:p>
            <a:r>
              <a:t/>
            </a:r>
          </a:p>
          <a:p>
            <a:r>
              <a:t>Занято в разделе три клетки из двенадцати показанных, и стоит пройти по каждой.</a:t>
            </a:r>
          </a:p>
          <a:p>
            <a:r>
              <a:t/>
            </a:r>
          </a:p>
          <a:p>
            <a:r>
              <a:t>Классификация на изображении — автономное чтение глазного дна. На входе снимок сетчатки, на выходе метка из конечного набора: направить или нет. Ничего, кроме метки, устройство не выдаёт, и в этом вся задача.</a:t>
            </a:r>
          </a:p>
          <a:p>
            <a:r>
              <a:t/>
            </a:r>
          </a:p>
          <a:p>
            <a:r>
              <a:t>Распознавание на изображении — сортировка потока по предсказанному риску. Система находит на снимке подозрительные места и расставляет исследования по очереди; читает отобранное человек. Выход здесь — разметка и порядок исследований, и поэтому клетка другая.</a:t>
            </a:r>
          </a:p>
          <a:p>
            <a:r>
              <a:t/>
            </a:r>
          </a:p>
          <a:p>
            <a:r>
              <a:t>Поиск с генерацией на тексте — чат-бот первой линии. Человек описывает жалобу свободным текстом, система ищет подходящее и отвечает словами. Клетка занята неудачей, и помнить надо обе половины: сама клетка рабочая — запись приёма под диктовку в ней живёт и сегодня, — а сортировка живого обращения в открытом потоке в ней не получилась.</a:t>
            </a:r>
          </a:p>
          <a:p>
            <a:r>
              <a:t/>
            </a:r>
          </a:p>
          <a:p>
            <a:r>
              <a:t>Теперь прочерки, ради которых карта и собирается. Прогноза в разделе нет ни одного, и это не пробел подбора. Кого звать на обследование и с каким интервалом — назначено документом: за порогом стоит решение о том, что хуже — пропустить или позвать лишнего, — и подпись под этим решением. Предсказывать тут нечего: величину назначают. Поставщик, который приносит на эту стадию прогнозную модель, предлагает инструмент не для этой работы, и видно это по карте за несколько секунд, до разбора его цифр.</a:t>
            </a:r>
          </a:p>
          <a:p>
            <a:r>
              <a:t/>
            </a:r>
          </a:p>
          <a:p>
            <a:r>
              <a:t>Классификации и распознавания на тексте в разделе нет. Поиска с генерацией на изображении и на структурированных данных нет. Девять клеток из двенадцати пусты, и пустая клетка говорит ровно столько же, сколько занятая: инструмент такого класса здесь искать незачем, и время, которое ушло бы на поиск, карта экономит заранее.</a:t>
            </a:r>
          </a:p>
          <a:p>
            <a:r>
              <a:t/>
            </a:r>
          </a:p>
          <a:p>
            <a:r>
              <a:t>Третье читается прямо с таблицы. Ни одна из трёх занятых клеток не про лечение: модель на этой стадии решает, кого посмотрят; что с человеком делать, решают дальше по пути. Отсюда и мера выигрыша, которая вышла в разделе, — доступ. Точности модель здесь не прибавила.</a:t>
            </a:r>
          </a:p>
          <a:p>
            <a:r>
              <a:t/>
            </a:r>
          </a:p>
          <a:p>
            <a:r>
              <a:t>Клетки накопительные. Полужирным набрано то, что занял этот раздел; дальше к ним добавятся клетки следующих разделов, и к концу станет видно, сколько клеток занято всего и какие остались пустыми до последней минуты. Складывать между собой числа разных клеток нельзя: у каждой своя выборка, своя программа и своя оговорка. Складывается только одно — перечень мест, где обученная модель на этом пути вообще встала.</a:t>
            </a:r>
          </a:p>
          <a:p>
            <a:r>
              <a:t/>
            </a:r>
          </a:p>
          <a:p>
            <a:r>
              <a:t>Что из этого следует для работы инженера. Встретив инструмент, положите его в сетку прежде всего остального: что он выдаёт на выходе и с какими данными работает. Это две минуты разговора, и после них видно, с каким классическим способом его сравнивать и у кого спрашивать цифры. Инструмент, который в клетку не укладывается, — повод задать поставщику тот же вопрос ещё раз, другими словами. А успех, показанный в одной клетке и проданный для другой, карта ловит раньше, чем начинается спор о процентах.</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 Номер «Пример N» носят только эти три: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На слайде шесть действий названы одной строкой, здесь — каждое.</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Рабочую точку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его сделает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Это точность по положительному классу, и у неё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она от распространённости, то есть от доли больных в обследованной группе. Распространённость свойством прибора не служит: её меняет тот, кто решил, кого обследовать.</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Отсюда рабочий вопрос к любому поставщику: на ком посчитана ваша средняя и какие подгруппы в этой средней растворились.</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чем измерен вход. Смещение измерительного прибора приходит до всякой модели, и модель его наследует, не создавая.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В отборе по прогнозу расходов сменился исполнитель: отбор делал лечащий врач, стал делать один балл; и сместилась цена ошибки на подгруппу,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Ни в одном из трёх разборов не провалилось само чтение.</a:t>
            </a:r>
          </a:p>
          <a:p>
            <a:r>
              <a:t/>
            </a:r>
          </a:p>
          <a:p>
            <a:r>
              <a:t>Ни в одном из трёх разборов не провалилось само чтение. Провалились развёртывание, состав обучающего набора и определение цели — три разных места, и ни одно из них не лечится лучшей моделью. Это главное, что стоит унести из раздела: вопрос «насколько точна ваша система» в каждом из трёх случаев имел хороший ответ, и ни в одном из трёх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рабочая точка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дерматологического разбора и из упоминания про прибор насыщения крови. Четыре изменения работы стоят поимённо: два из тайского случая, два из разбора по прогнозу расходов.</a:t>
            </a:r>
          </a:p>
          <a:p>
            <a:r>
              <a:t/>
            </a:r>
          </a:p>
          <a:p>
            <a:r>
              <a:t>И про прочерк в четвёртой шапке — он здесь не фигура речи. Рабочую точку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 Карта задачи и данных, которая идёт следом, добавляет к этому своё: раздел занял в ней одну новую клетку, а два разбора из трёх легли туда, где уже стоял прошлый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четыре строки задач на три вида данных, те же и в том же порядке, что стояли на незаполненной матрице в начале. К этой минуте в окне занято четыре клетки, и раздел добавил из них одну — прогноз на структурированных данных, отбор по предсказанным расходам.</a:t>
            </a:r>
          </a:p>
          <a:p>
            <a:r>
              <a:t/>
            </a:r>
          </a:p>
          <a:p>
            <a:r>
              <a:t>Как читать накопительную карту. Полужирным отмечено разобранное в этом разделе числами, в скобках — раздел, который занял клетку раньше. Слово «отбор» стоит теперь в трёх клетках, и это значит, что прошлый раздел уже привёл инструменты туда же: автономное чтение глазного дна, сортировка потока по риску, первая линия на словах. Клетки не обнуляются при переходе между разделами — к концу лекции по ним будет видно, сколько раз курс возвращался в одно и то же место.</a:t>
            </a:r>
          </a:p>
          <a:p>
            <a:r>
              <a:t/>
            </a:r>
          </a:p>
          <a:p>
            <a:r>
              <a:t>Первая строка чтения — про счёт. Четыре клетки из двенадцати, и новая за весь раздел одна. Это не бедность подбора: три разбора раздела взяты из трёх разных мест, где можно провалиться, и два из трёх попали в клетку, уже занятую отбором. Клетка, стало быть, про класс инструмента, а не про то, что с ним случится.</a:t>
            </a:r>
          </a:p>
          <a:p>
            <a:r>
              <a:t/>
            </a:r>
          </a:p>
          <a:p>
            <a:r>
              <a:t>Вторая строка чтения — про прочерки, и она важнее первой. Восемь клеток пусты, и за два раздела в них не зашёл никто. Классификации и распознавания на тексте в разборах нет; поиска с генерацией на изображении и на структурированных данных нет; прогноза на тексте и на изображении нет. Пустая клетка — такое же содержание, как занятая: она говорит, инструмент какого класса на этой стадии искать незачем, и экономит время, которое ушло бы на поиск. Поставщик, принёсший историю успеха на звуке или на видео, принёс историю не про эту стадию — этих видов данных в окне нет вовсе.</a:t>
            </a:r>
          </a:p>
          <a:p>
            <a:r>
              <a:t/>
            </a:r>
          </a:p>
          <a:p>
            <a:r>
              <a:t>Третья строка чтения — про клетку, занятую дважды, и это особенность именно этого раздела. Классификация на изображении держит оба первых разбора: автономное чтение глазного дна в стране развёртывания и оценку кожного образования. Класс инструмента у них один, а провалились разные вещи: в Таиланде место развёртывания — освещение в кабинете и медленная связь; в дерматологии состав обучающего набора — тёмных тонов кожи в нём мало. Отчёт, который сложил бы оба случая под именем клетки, не сказал бы ни о том, ни о другом. Отсюда прямое следствие для работы: клетка годится, чтобы выбрать, с чем сравнивать инструмент, и не годится, чтобы предсказать, где он сломается.</a:t>
            </a:r>
          </a:p>
          <a:p>
            <a:r>
              <a:t/>
            </a:r>
          </a:p>
          <a:p>
            <a:r>
              <a:t>И четвёртое занятое место стоит вне показанного окна — измерение и сигнал прибора. Оно занято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Пустой эту клетку назвать нельзя, занятой моделью тоже — поэтому она и стоит отдельной строкой под таблицей, а не внутри сетки.</a:t>
            </a:r>
          </a:p>
          <a:p>
            <a:r>
              <a:t/>
            </a:r>
          </a:p>
          <a:p>
            <a:r>
              <a:t>Строки под таблицей называют, чем это делают: режим один, реализаций много, и разницу в результате делает устройство процедуры вокруг прибора, а не имя на корпусе. Марок в клетках нет намеренно — клетка про класс задачи, а не про поставщика.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Пять разборов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движением глаза. Сразу за ним стоит зеркало того же замера — другая работа, тот же сигнал, обратный знак; номера разбора у него нет: цены обеих ошибок и обоих классических режимов он не считает. Работа его другая — проверить, что падение не есть свойство самого сужения поиска. Второй — одна подсказка с двумя знаками: то же устройство эффекта, перенесённое с взгляда на решение;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 Пятый — хирурги на септическом шоке: тот разбор, который был обещан в прошлый раз, и единственный, где пара оказалась ниже и модели в одиночку, и человека в одиночку.</a:t>
            </a:r>
          </a:p>
          <a:p>
            <a:r>
              <a:t/>
            </a:r>
          </a:p>
          <a:p>
            <a:r>
              <a:t>Имена произносятся здесь затем, чтобы потом узнавать слайд по уже сказанному: каждый из четырёх выйдет на экран под этим заголовком, и зеркало тоже. После четвёртого разбора раздел закрывают три кадра: правило, собранное из ста шести опытов, вывод стадии и карта задачи и данных.</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чтения: врач за двумя мониторами, исследование на одном, рабочий список на другом.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подсказки. На слайде семь действий названы одной строкой, здесь — существенное о каждом.</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**Источники.** </a:t>
            </a:r>
            <a:r>
              <a:rPr u="sng">
                <a:solidFill>
                  <a:srgbClr val="065A82"/>
                </a:solidFill>
                <a:hlinkClick r:id="rId3"/>
              </a:rPr>
              <a:t>Qazi и соавт., NEJM AI</a:t>
            </a:r>
            <a:r>
              <a:t>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национальной программы скрининга, их собственная ежедневная работа, прямое ухудшение результата. Собраны все четыре будут в конце раздела.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Номера разбора у этого кадра нет, и это не оплошность нумерации. Номер в разделе носит случай, проведённый по всей форме: цена обеих ошибок, оба классических режима в тех же единицах, модель против них, названная форма словаря. Здесь из четырёх шагов сделан один — модель против чтения без модели внутри того же опыта; цены обеих ошибок работа не назначает, второго классического режима в ней нет вовсе. Кадр служит проверкой: он отвечает на вопрос, не является ли само сужение поиска вредом. Ответ — нет, и поэтому стоит он сразу за падением и номера не носит.</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 p меньше 0,001.</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p равно 0,06. Два уровня значимости надо произносить парой — первый меньше одной тысячной, второй выше порога, и держится на этой паре весь вывод кадра.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
            </a:r>
          </a:p>
          <a:p>
            <a:r>
              <a:t>**Источники.** </a:t>
            </a:r>
            <a:r>
              <a:rPr u="sng">
                <a:solidFill>
                  <a:srgbClr val="065A82"/>
                </a:solidFill>
                <a:hlinkClick r:id="rId3"/>
              </a:rPr>
              <a:t>Kiani и соавт., npj Digital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a:t>
            </a:r>
            <a:r>
              <a:rPr u="sng">
                <a:solidFill>
                  <a:srgbClr val="065A82"/>
                </a:solidFill>
                <a:hlinkClick r:id="rId3"/>
              </a:rPr>
              <a:t>Kiani и соавт., npj Digital Medicine 2020</a:t>
            </a:r>
            <a:r>
              <a:t> · </a:t>
            </a:r>
            <a:r>
              <a:rPr u="sng">
                <a:solidFill>
                  <a:srgbClr val="065A82"/>
                </a:solidFill>
                <a:hlinkClick r:id="rId4"/>
              </a:rPr>
              <a:t>Goddard, Roudsari, Wyatt, JAMIA 2012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Все три числа зал видит здесь впервые, и несущее из трёх — 74: это база сравнения, врач с обычными справочниками.</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данные есть, разницы нет, и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результатом случайного распределения оно не является.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пробелом изложения он не является.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стаж у них одинаковый —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четыре разбора и четыре разных исхода: падение чувствительности на замере взгляда, оба знака сразу в патологии, измеренный нуль на тройке и выигрыш на контрольной линии. Отдельное испытание, как бы ярко в нём ни было измерено, остаётся отдельным случаем, и четыре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человек тут не база.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Пятнадцать хирургов экстренной помощи оценивали риск по описанию случая, не зная машинной оценки.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Опыт устроен так. Пятнадцать хирургов экстренной помощи оценивают риск по описанию случая, не видя машинной оценки. Вторая группа из пятнадцати делает те же оценки после того, как познакомилась с подсказкой модели. Между группами хирургов развели жребием, случаев сто пятьдесят, и исходы у всех ста пятидесяти прослежены вперёд тридцать дней. Это редкое по устройству сравнение: обе человеческие группы и модель измерены на одних и тех же случаях, и разряд свидетельства здесь высокий сразу по двум признакам — жребий между группами и проспективно зафиксированный исход.</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вечера.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Ни один из четырёх замеров не поднялся на ступень исхода пациента. Измерено, как человек смотрит, как он меняет верное решение на неверное, как соглашается с подсказкой, — и не измерено, что случилось с больным из-за того, что человек стал хуже смотреть. Такого замера не нашлось ни одного, и это прочерк, а не умолчание: он называется здесь, рядом с собственными числами, тем же приёмом, которым лекция требует базу у чужих.</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и неназначенная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и раздел не добавил ни одной. Это само по себе результат: разборов было пять, и каждый встал туда, где уже стояли отбор или анализ.</a:t>
            </a:r>
          </a:p>
          <a:p>
            <a:r>
              <a:t/>
            </a:r>
          </a:p>
          <a:p>
            <a:r>
              <a:t>Как читать накопительную карту. Имя без скобок — разобранное в этом разделе числами, имя в скобках — раздел, занявший клетку раньше. Три разбора из пяти легли на изображение, и это свойство стадии: подсказка живёт там, где человек читает картинку. Пятый лёг на прогноз по структурированным данным — в клетку, занятую разделом об анализе.</a:t>
            </a:r>
          </a:p>
          <a:p>
            <a:r>
              <a:t/>
            </a:r>
          </a:p>
          <a:p>
            <a:r>
              <a:t>Теперь то, ради чего карту стоит разглядывать клетками. В клетке распознавания на изображении стоят три разбора: замер взгляда, где подсказка уронила чувствительность читателя на тридцать два пункта; его зеркало, где при верной подсказке поиск сузился так же, а различение выросло; и контрольная линия, где пара вышла сильнее обеих сторон. Одна задача, один вид данных, один класс инструмента — и три разных знака. Отчёт, сложивший бы их под именем клетки, не сказал бы ни о том, ни о другом.</a:t>
            </a:r>
          </a:p>
          <a:p>
            <a:r>
              <a:t/>
            </a:r>
          </a:p>
          <a:p>
            <a:r>
              <a:t>Про две плашки надо произнести прямо, потому что соблазн их сложить велик, а складывать нельзя. Обе величины называются чувствительностью, обе выражены в долях из ста, и это единственное, что у них общее. Первая измерена на десяти читателях и шестидесяти случаях, в наборе, куда нарочно положили ошибки системы в обе стороны, и база сравнения там — тот же читатель без подсказки. Вторая измерена на ста пяти тысячах женщин со случайным распределением, и база там — двойное человеческое чтение с арбитражем. Вычесть одну из другой, получить «в среднем ничего» и успокоиться — это та самая склейка знаменателей, которую раздел учит ловить. Складывается у этих двух чисел ровно одно — клетка сетки; и ровно поэтому клетка оказывается слабым предсказателем результата.</a:t>
            </a:r>
          </a:p>
          <a:p>
            <a:r>
              <a:t/>
            </a:r>
          </a:p>
          <a:p>
            <a:r>
              <a:t>Классификация на изображении занята подсказкой по оцифрованному срезу. Входит этот режим туда, где уже есть сканер: оцифровка стекла идёт раньше модели и стоит дороже неё. Поиск с генерацией на тексте занят клиническим рассуждением и записью приёма под диктовку; первое входит снизу, самостоятельным употреблением врача, вторая принимается быстро, потому что оформляет уже принятое решение. Прогноз на структурированных данных остался светлым: его занял прошлый раздел, собственного разбора здесь нет.</a:t>
            </a:r>
          </a:p>
          <a:p>
            <a:r>
              <a:t/>
            </a:r>
          </a:p>
          <a:p>
            <a:r>
              <a:t>Восемь прочерков — то, ради чего карту и держат, и читаются они неподвижностью: число тут ни при чём. Третий раздел подряд они стоят на месте: классификации и распознавания на тексте в лекции нет, поиска с генерацией на изображении и на структурированных данных нет, прогноза на тексте и на изображении нет. Прочерк говорит ровно столько же, сколько занятая клетка: инструмент такого класса здесь искать незачем, и время на поиск карта экономит заранее.</a:t>
            </a:r>
          </a:p>
          <a:p>
            <a:r>
              <a:t/>
            </a:r>
          </a:p>
          <a:p>
            <a:r>
              <a:t>Что говорит пустая клетка, которой на рынке нет вовсе, — ансамбль моделей с голосованием. Это не пробел подборки: как направление исследований ансамбль существует, а купить и развернуть его в клинике нельзя,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прямо: ожидание «соберём несколько моделей, и они проголосуют» звучит разумно и ничем доступным не обеспечено.</a:t>
            </a:r>
          </a:p>
          <a:p>
            <a:r>
              <a:t/>
            </a:r>
          </a:p>
          <a:p>
            <a:r>
              <a:t>И одна клетка по-прежнему стоит вне окна — измерение и сигнал прибора, занятая прошлым разделом. Обученной модели в ней нет, и внутрь сетки её поэтому не вносят.</a:t>
            </a:r>
          </a:p>
          <a:p>
            <a:r>
              <a:t/>
            </a:r>
          </a:p>
          <a:p>
            <a:r>
              <a:t>Последнее, и это уже про курс. Третий раздел подряд лекция возвращается в одни и те же клетки: отбор привёл инструменты в распознавание и классификацию на изображении и в поиск с генерацией на тексте, анализ данных добавил прогноз на структурированных, диагноз не добавил ничего. Класс модели разделы не различает. Различают их цена промаха и процедура, выстроенная вокруг человека, — и это тот же вывод, который сетка дала в инженерной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здесь повторяется каждые несколько часов, и ошибка накапливается: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Разбор в разделе один, и назвать стоит сразу, что чем является. Два кадра до него разбором не считаются: первый — подача стадии, шесть действий дежурной смены без всякой модели; второй — классический режим, балльная шкала, которую модель застала на этом месте. Дальше идёт цена обеих ошибок, потом счёт обоих классических режимов в той же единице. И только после этого — «Пример 1: модель раннего предупреждения», модель сепсиса, встроенная в медицинскую карту; она держится на четырёх кадрах: что заявлено и что измерила независимая проверка; арифметика потока тревог против шкалы, которую модель заменила; вторая, независимая проверка; и что это дало, чего потребовало и что было дальше. Один случай, разобранный подробно, — не три случая, разобранных бегло. Слово «пример» в заголовках стоит только на этих четырёх кадрах.</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шесть действий названы одной строкой, здесь — каждое.</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Зачем измерять человека, который спит и выглядит стабильно. Ухудшение читается по направлению дорожки.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веса в таблице назначены людьми и опубликованы. Модель на том же месте выдаёт тот же выход — балл и тревогу — и весов своих не предъявляет.</a:t>
            </a:r>
          </a:p>
          <a:p>
            <a:r>
              <a:t/>
            </a:r>
          </a:p>
          <a:p>
            <a:r>
              <a:t>И то же поле с моделью, названное до разборов. Из шести действий обученная модель заняла три: счёт балла — теперь непрерывный и по всей карте, а не раз в несколько часов по расписанию обхода; сравнение с порогом — работа смены прерывается тревогой; и назначенное действие, к которому приложен набор назначений в один щелчок. Измерение у постели, запись в лист и передача дорожки следующей смене остались людям целиком. Один шаг добавился, и он новый для профессии — разобрать тревогу и отклонить её. Три места, где модель не работает, тоже стоит назвать заранее: порог себе она не назначает, его назначает организация под своё население; опередить врача она не может там, где данные попадают в карту уже после его решения; и замолчать при сдвинувшейся картине населения она не умеет: поток изменился, порог остался прежним.</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проверяется одно: закрыла ли модель эти две конкретные дыры. Вопрос «лучше ли модель вообще» на этом разборе не стоит — на него нечем ответить.</a:t>
            </a:r>
          </a:p>
          <a:p>
            <a:r>
              <a:t/>
            </a:r>
          </a:p>
          <a:p>
            <a:r>
              <a:t>Выходные данные действующей редакции карты здесь не названы — ни года, ни публикации. Редакции шкал обновляются, а устаревшую опознаёт только тот, кто работает со шкалой каждый день, и ставить непроверенную ссылку на экран хуже, чем не ставить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a:p>
            <a:r>
              <a:t/>
            </a:r>
          </a:p>
          <a:p>
            <a:r>
              <a:t>**Источники.** </a:t>
            </a:r>
            <a:r>
              <a:rPr u="sng">
                <a:solidFill>
                  <a:srgbClr val="065A82"/>
                </a:solidFill>
                <a:hlinkClick r:id="rId3"/>
              </a:rPr>
              <a:t>сравнение балльных шкал, JAMIA Open 2021</a:t>
            </a:r>
            <a:r>
              <a:t> · </a:t>
            </a:r>
            <a:r>
              <a:rPr u="sng">
                <a:solidFill>
                  <a:srgbClr val="065A82"/>
                </a:solidFill>
                <a:hlinkClick r:id="rId4"/>
              </a:rPr>
              <a:t>Drew и соавт., PLoS One 2014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a:p>
            <a:r>
              <a:t/>
            </a:r>
          </a:p>
          <a:p>
            <a:r>
              <a:t>**Источники.** </a:t>
            </a:r>
            <a:r>
              <a:rPr u="sng">
                <a:solidFill>
                  <a:srgbClr val="065A82"/>
                </a:solidFill>
                <a:hlinkClick r:id="rId3"/>
              </a:rPr>
              <a:t>Ostermayer и соавт., JAMIA Open 2024</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a:p>
            <a:r>
              <a:t/>
            </a:r>
          </a:p>
          <a:p>
            <a:r>
              <a:t>**Источники.** </a:t>
            </a:r>
            <a:r>
              <a:rPr u="sng">
                <a:solidFill>
                  <a:srgbClr val="065A82"/>
                </a:solidFill>
                <a:hlinkClick r:id="rId3"/>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a:t>
            </a:r>
          </a:p>
          <a:p>
            <a:r>
              <a:t/>
            </a:r>
          </a:p>
          <a:p>
            <a:r>
              <a:t>Что не получается. Три границы, и ни одна не про качество обучения. Порог модель себе не назначает.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a:t>
            </a:r>
          </a:p>
          <a:p>
            <a:r>
              <a:t/>
            </a:r>
          </a:p>
          <a:p>
            <a:r>
              <a:t>Что уходит дальше: тревогу закрыли, запись об этом решении осталась, и читает её тот, кто пациента не видел вовсе.</a:t>
            </a:r>
          </a:p>
          <a:p>
            <a:r>
              <a:t/>
            </a:r>
          </a:p>
          <a:p>
            <a:r>
              <a:t>Карту задачи и данных держит отдельный кадр, и на нём видно главное: новой клетки раздел не добавил. Прогноз на структурированных данных занят с прошлого раздела — там это был отбор по предсказанным расходам, здесь модель раннего предупреждения, и класс модели у них один. Различает эти два разбора то, кому приходит выход: в одном случае администрации, в другом дежурной смене у постели.</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четыре строки задач на три вида данных, те же и в том же порядке, что стояли на незаполненной матрице входа. К этой минуте в окне занято четыре клетки, и раздел не добавил ни одной.</a:t>
            </a:r>
          </a:p>
          <a:p>
            <a:r>
              <a:t/>
            </a:r>
          </a:p>
          <a:p>
            <a:r>
              <a:t>Своя клетка раздела — прогноз на структурированных данных. Вход — показатели и записи, которые уже лежат в карте; выход — балл риска и прерывающая тревога. Полужирной она набрана потому, что разобрана числами: заявленное качество против измеренного, доля подтверждения, опережение, поток тревог. Светлое слово «анализ» стоит в той же клетке: её занял прошлый раздел отбором по предсказанным расходам, и класс модели у двух разборов один. Различает их то, кому приходит выход — администрации или дежурной смене у постели.</a:t>
            </a:r>
          </a:p>
          <a:p>
            <a:r>
              <a:t/>
            </a:r>
          </a:p>
          <a:p>
            <a:r>
              <a:t>Что говорит занятая клетка. Это единственный раздел лекции, который целиком стоит не на изображении. На отборе, на анализе данных и на чтении исследований работали со снимком; здесь снимка нет вовсе. Именно поэтому модель сюда и зашла: снимать данные отдельно не нужно, они уже есть в машинном виде, и это же объясняет, почему внедрение обогнало независимые проверки.</a:t>
            </a:r>
          </a:p>
          <a:p>
            <a:r>
              <a:t/>
            </a:r>
          </a:p>
          <a:p>
            <a:r>
              <a:t>Что говорит светлое в трёх других клетках. Три клетки заняты прежними разделами, и ни в одну из них этот раздел ничего не добавил. Карта накопительная, поэтому видно то, чего не видно на отдельном разборе: курс четвёртый раздел подряд работает в одних и тех же четырёх клетках. Разделы различает цена промаха и процедура вокруг человека; класс задачи и вид данных у них общие.</a:t>
            </a:r>
          </a:p>
          <a:p>
            <a:r>
              <a:t/>
            </a:r>
          </a:p>
          <a:p>
            <a:r>
              <a:t>Что говорят пустые. Восемь клеток окна пусты, и пусты они не впервые — те же восемь стояли прочерками и на трёх прежних картах. Неподвижный прочерк и есть содержание: он говорит, что инструмент такого класса на этих местах искать незачем, и экономит время, которое ушло бы на поиск. Поставщик, принёсший историю успеха на звуке, на видео или на изображении, принёс историю не про эту стадию, и проверять его надо вопросом, в какую клетку он попадает; придирки к цифрам тут не помогут.</a:t>
            </a:r>
          </a:p>
          <a:p>
            <a:r>
              <a:t/>
            </a:r>
          </a:p>
          <a:p>
            <a:r>
              <a:t>Имена под таблицей — не метрики и не рекомендация. Они названы, чтобы режим можно было узнать в своей больнице: предиктивный модуль внутри самой карты, донастраиваемый на свою историю, и отдельный рынок рядом с ним — надзор за дрейфом распределения и пересчёт порога под своё население. Второй рынок существует ровно потому, что первый не умеет замолкать сам.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набор текста руками сразу после приёма либо диктовка живому писцу,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a:t>
            </a:r>
          </a:p>
          <a:p>
            <a:r>
              <a:t/>
            </a:r>
          </a:p>
          <a:p>
            <a:r>
              <a:t>Цена обеих ошибок называется до всяких чисел. Записать меньше, чем было, — следующий читатель назначит заново,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Классических режимов на этом месте работало два, и посчитан из них один. Первый — врач пишет сам, и он посчитан внутри самого испытания: у него есть контрольная группа, писавшая заметки как раньше. Второй — живой медицинский писец, человек на приёме, который пишет за врача. Это не экзотика: у режима есть рынок, стоимость приёма и собственная литература. Плечом испытания он не был, и приводить его стоимость из другой работы значило бы складывать разные выборки.</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а не инструменту.</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a:p>
            <a:r>
              <a:t/>
            </a:r>
          </a:p>
          <a:p>
            <a:r>
              <a:t>И то же поле с моделью, названное до разборов.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Своё вычитывают иначе, глаз настроен на опечатку и пропуск; правдоподобная подробность, которой в карте нет, этому глазу не видна. Три места, где модель не работает: снять обязанность вычитки она не может — подпись остаётся человеческой, и при разборе случая разбирать будут её;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Второй шаг формы назовём до чисел. Классических режимов на этом месте работало два. Первый — лечащий врач пишет эпикриз сам; он посчитан ниже и служит базой всех сравнений. Второй — черновик, подготовленный ординатором или младшим врачом под подпись лечащего: та же работа, другая рука, и в учебных клиниках она чаще всего делается именно так. Этот режим назван и не посчитан: отдельным плечом его не выделяла ни одна из трёх работ, то есть сравнения «модель против ординатора» на этом материале нет. Называть его обязательно по той же причине, по которой считают первый: сравнение с дорогим вариантом завышает выигрыш по времени, сравнение с дешёвым — завышает выигрыш по качеству.</a:t>
            </a:r>
          </a:p>
          <a:p>
            <a:r>
              <a:t/>
            </a:r>
          </a:p>
          <a:p>
            <a:r>
              <a:t>Устройство замера назовём до чисел, иначе их не прочесть. Сто случайно отобранных госпитализаций продолжительностью от трёх до шести дней. Двадцать два лечащих врача-рецензента. Оценка дублированная — каждый документ смотрели двое. И слепая: рецензенты не знали, какой текст машинный, а какой человеческий. Это высокий разряд свидетельства для такой задачи, и именно поэтому числа отсюда стоит держать в голове.</a:t>
            </a:r>
          </a:p>
          <a:p>
            <a:r>
              <a:t/>
            </a:r>
          </a:p>
          <a:p>
            <a:r>
              <a:t>Что измерено. Общее качество сопоставимо: три целых шестьдесят семь у врачей против трёх целых семидесяти семи у модели по пятибалльной шкале. Машинные версии сжатее — четыре целых одна сотая против трёх целых семидесяти — и связнее. Но менее полны: три целых семьдесят две сотых против четырёх целых тринадцати. Уникальных ошибок на документ у модели больше: две целых девяносто одна сотая против одной целой восьмидесяти двух.</a:t>
            </a:r>
          </a:p>
          <a:p>
            <a:r>
              <a:t/>
            </a:r>
          </a:p>
          <a:p>
            <a:r>
              <a:t>Третье число — то, которое чаще всего пропускают. Потенциальный вред отдельной ошибки у человека и у модели не различается: одна целая тридцать четыре сотых против одной целой тридцати пяти по шкале от нуля до семи, обе оценки низкие. Ошибок с потенциалом необратимого вреда шесть у модели и пять у врачей. То есть ошибок стало больше, а каждая отдельная не стала страшнее.</a:t>
            </a:r>
          </a:p>
          <a:p>
            <a:r>
              <a:t/>
            </a:r>
          </a:p>
          <a:p>
            <a:r>
              <a:t>Форма словаря здесь седьмая: сместилась цена ошибки. Шаги те же, исполнители те же, подпись та же — изменилось то, чего стоит пропущенная в документе строка, потому что по этому документу назначают в другом месте и другие руки.</a:t>
            </a:r>
          </a:p>
          <a:p>
            <a:r>
              <a:t/>
            </a:r>
          </a:p>
          <a:p>
            <a:r>
              <a:t>**Источники.** </a:t>
            </a:r>
            <a:r>
              <a:rPr u="sng">
                <a:solidFill>
                  <a:srgbClr val="065A82"/>
                </a:solidFill>
                <a:hlinkClick r:id="rId3"/>
              </a:rPr>
              <a:t>слепое сравнение ста госпитализаций, JAMA Internal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 и проверять их приходится не придиркой к величине, а чтением самой работы.</a:t>
            </a:r>
          </a:p>
          <a:p>
            <a:r>
              <a:t/>
            </a:r>
          </a:p>
          <a:p>
            <a:r>
              <a:t>Практический вывод для инженера звучит одинаково в любой отрасли.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сравнение «до и после» в реабилитационном отделении, Cureus 2026</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Числа стоят на разборах, откуда эти обобщения взяты.</a:t>
            </a:r>
          </a:p>
          <a:p>
            <a:r>
              <a:t/>
            </a:r>
          </a:p>
          <a:p>
            <a:r>
              <a:t>Что получается. Выигрыш настоящий и берётся сразу: заметка готова к концу приёма, а не к концу дня, документ короче и связнее человеческого, а главное — снята необходимость держать структуру документа в голове, пока говоришь с человеком. Измеренная скорость при этом принадлежит не режиму, а реализации: девять с половиной процентов времени в заметке у одного инструмента и ноль у второго, при одном дизайне и на одном населении врачей.</a:t>
            </a:r>
          </a:p>
          <a:p>
            <a:r>
              <a:t/>
            </a:r>
          </a:p>
          <a:p>
            <a:r>
              <a:t>Что не получается. Подтвердить заявленную экономию нельзя: пятнадцать тысяч семьсот девяносто один час на шестьдесят три тысячи приёмов посчитаны без раскрытой методики, а это около четверти часа на приём при всей работе над заметкой в четыре минуты. Сократить активное время правки не удалось ни одному из двух инструментов. И написать полнее человека модель не умеет: три целых семьдесят две сотых против четырёх целых тринадцати по полноте, уникальных ошибок две целых девяносто одна против одной целой восьмидесяти двух.</a:t>
            </a:r>
          </a:p>
          <a:p>
            <a:r>
              <a:t/>
            </a:r>
          </a:p>
          <a:p>
            <a:r>
              <a:t>Что стало с работой. Три формы, названные по словарю. Нагрузка переехала на другой шаг — с набора текста на вычитку чужого. Шаг появился — выборочный контроль заметок, и у него постоянный штат: свыше трёх тысяч шестисот прочитанных отзывов и тысяча двести пятьдесят две анкеты в отчёте одной клиники. Сместилась цена ошибки: искать надо не опечатку, а правдоподобную подробность, которой не было.</a:t>
            </a:r>
          </a:p>
          <a:p>
            <a:r>
              <a:t/>
            </a:r>
          </a:p>
          <a:p>
            <a:r>
              <a:t>Что это держит. Вычитка и подпись врача; выборочный контроль с его объёмом. И честный прочерк: подготовки к вычитке другого рода не существует — прежний навык на машинную ошибку не переносится, а новому никто не учит.</a:t>
            </a:r>
          </a:p>
          <a:p>
            <a:r>
              <a:t/>
            </a:r>
          </a:p>
          <a:p>
            <a:r>
              <a:t>Строка про судьбу двух режимов в одной клетке, и она короткая. Сортировка обращения словами после разобранного краха стагнирует, а запись приёма под диктовку принимается быстро. Разницу делает одно: первый режим принимает решение, второй оформляет уже принятое. Карту стадии разберём следующим кадром.</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Раздел не добавил ни одной: обе его работы — запись приёма и выписной эпикриз — встали в клетку поиска с генерацией на тексте, которую до них заняли отбор и диагноз.</a:t>
            </a:r>
          </a:p>
          <a:p>
            <a:r>
              <a:t/>
            </a:r>
          </a:p>
          <a:p>
            <a:r>
              <a:t>Начнём с прочерков, потому что в этой карте они говорят громче занятых клеток. Их восемь, и с Раздела 2 ни один не закрылся. Отбор занял три клетки, анализ данных добавил четвёртую, и дальше сетка стоит: диагноз, наблюдение и эта стадия легли туда, где уже стояли прежние разделы. Пустая клетка не означает, что материал не искали. Она означает ровно то, что написано: инструмента такого класса на этой работе нет, и поставщик, который его приносит, принёс инструмент не для этой стадии. Это и есть практическая польза карты — она отвечает «нет» быстрее, чем любое обсуждение.</a:t>
            </a:r>
          </a:p>
          <a:p>
            <a:r>
              <a:t/>
            </a:r>
          </a:p>
          <a:p>
            <a:r>
              <a:t>Теперь занятая клетка. Почему она именно эта, хотя запись приёма начинается с голоса. Вход у режима звуковой, а клетка ставится по выходу: решение принимается по тексту, подписывают текст и вычитывают текст. Распознавание речи здесь — доставка, и оно работало задолго до нынешних моделей; ни одно из измеренных чисел раздела к нему не относится.</a:t>
            </a:r>
          </a:p>
          <a:p>
            <a:r>
              <a:t/>
            </a:r>
          </a:p>
          <a:p>
            <a:r>
              <a:t>Что говорит одна клетка, занятая четырьмя работами. Два разбора этого раздела отличаются тем, что документ запускает дальше: запись приёма читает следующий врач, выписной эпикриз запускает назначения в другом учреждении. Светлые «отбор» и «диагноз» в той же клетке добавляют третий и четвёртый случай — первая линия обращений на словах и клиническое рассуждение. Четыре работы, одна клетка, четыре разные цены ошибки. Ради этой мысли курс и держит сетку: клетка говорит, чем инструмент занят, и ничего не говорит о том, чего стоит его промах.</a:t>
            </a:r>
          </a:p>
          <a:p>
            <a:r>
              <a:t/>
            </a:r>
          </a:p>
          <a:p>
            <a:r>
              <a:t>Имена под таблицей — не метрики и не рекомендация. Они названы, чтобы режим можно было узнать в своей работе. Запись приёма в фоне с черновиком заметки принимается массово и принимается именно как черновик. Второй режим — сборка клинического документа внутри самой карты, и у него есть важная разновидность: сводка со ссылкой на место в карте-источнике. Различает их проверяемость. Привязка строки к месту в карте-источнике — единственное, что превращает вычитку из чтения на правдоподобие в сверку; качество текста тут ни при чём.</a:t>
            </a:r>
          </a:p>
          <a:p>
            <a:r>
              <a:t/>
            </a:r>
          </a:p>
          <a:p>
            <a:r>
              <a:t>Куда это направление идёт дальше: от заметки к черновику назначений и кодов, то есть к документу, который что-то запускает сам. Там та же клетка будет стоять под другой ценой ошибки — и карта об этом по-прежнему не скажет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Вторая половина второго разбора показывает, как редко эту способность проверяют до того, как изделие допустят к продаже: систематический обзор поданной регулятору документации по радиологическим изделиям с ИИ нашёл тестирование с реальным участием врача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изделий из 717.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шаг, независимое второе мнение и арбитраж, разобран выше.</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работы это и предложили, и приложили число — снижение остаточных ошибок на сорок один и семь десятых процента.</a:t>
            </a:r>
          </a:p>
          <a:p>
            <a:r>
              <a:t/>
            </a:r>
          </a:p>
          <a:p>
            <a:r>
              <a:t>Число это получено расчётом. Авторы взяли два уже собранных раунда — чтение без подсказки и чтение с подсказкой —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тоже исчезнет вместе с подсказкой. Поэтому знак итогового эффекта неизвестен, и говорить «нашли решение» нельзя.</a:t>
            </a:r>
          </a:p>
          <a:p>
            <a:r>
              <a:t/>
            </a:r>
          </a:p>
          <a:p>
            <a:r>
              <a:t>Отсюда и ответ на четвёртый вопрос разбора — что переехало. Переехать здесь нечему, и формы словаря у этого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 форма размечает изменение, вызванное обученной моделью, а здесь её нет, — и в счёт разборов он не идёт. Ценность его в другом: ошибка в графике исправляется до начала смены и никому не стоит здоровья, а значит и процедура удержания здесь не нужна. Там, где цена промаха мала, дорогая процедура не окупается — и это такой же вывод, как все остальные.</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a:p>
            <a:r>
              <a:t/>
            </a:r>
          </a:p>
          <a:p>
            <a:r>
              <a:t>**Источники.** </a:t>
            </a:r>
            <a:r>
              <a:rPr u="sng">
                <a:solidFill>
                  <a:srgbClr val="065A82"/>
                </a:solidFill>
                <a:hlinkClick r:id="rId3"/>
              </a:rPr>
              <a:t>Hovda, Holen, Hofvind, European Radiology 2026</a:t>
            </a:r>
            <a:r>
              <a:t> · </a:t>
            </a:r>
            <a:r>
              <a:rPr u="sng">
                <a:solidFill>
                  <a:srgbClr val="065A82"/>
                </a:solidFill>
                <a:hlinkClick r:id="rId4"/>
              </a:rPr>
              <a:t>Warren и соавт., Nature Cancer 2026</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утверждённых изменений,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двойное чтение с арбитражем там, где второго читателя не заменили; разбор случая и правка порядка по его итогам.</a:t>
            </a:r>
          </a:p>
          <a:p>
            <a:r>
              <a:t/>
            </a:r>
          </a:p>
          <a:p>
            <a:r>
              <a:t>Контраст с прошлой лекцией предъявляется прямо: там требований не было вовсе, здесь документ есть — и измеримо, насколько он исполняется.</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Hovda, Holen, Hofvind, European Radiology 2026</a:t>
            </a:r>
            <a:r>
              <a:t> · </a:t>
            </a:r>
            <a:r>
              <a:rPr u="sng">
                <a:solidFill>
                  <a:srgbClr val="065A82"/>
                </a:solidFill>
                <a:hlinkClick r:id="rId5"/>
              </a:rPr>
              <a:t>Wang и соавт., JAMIA 2023</a:t>
            </a:r>
            <a:r>
              <a:t> · </a:t>
            </a:r>
            <a:r>
              <a:rPr u="sng">
                <a:solidFill>
                  <a:srgbClr val="065A82"/>
                </a:solidFill>
                <a:hlinkClick r:id="rId6"/>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занято в нём четыре, и четвёртый раздел подряд не добавил ни одной. Подсказка по снимку, которой верят, стоит в клетке распознавания на изображении — ровно там, где уже стояли разборы об отборе и о чтении исследований.</a:t>
            </a:r>
          </a:p>
          <a:p>
            <a:r>
              <a:t/>
            </a:r>
          </a:p>
          <a:p>
            <a:r>
              <a:t>Дальше начинается то, ради чего эта карта и стоит в этом разделе. У прежних карт пустота означала одно: инструмента такого класса на стадии нет, искать его незачем. Здесь она означает другое и более сильное. Раздел занимался подписью, информированным согласием, независимым вторым чтением и арбитражем, разбором случая после исхода, допуском изделия и надзором после допуска — семью настоящими действиями, которые и держат в медицине цену ошибки. Ни одно из них не встало на сетку, и не потому, что до них не дошла очередь. Они на этой сетке не стоят нигде и стоять не могут: подпись не распознаёт, согласие не прогнозирует, арбитраж ничего не порождает. Сетка размечает инструменты по тому, что они производят, а процедура не производит ничего — она удерживает.</a:t>
            </a:r>
          </a:p>
          <a:p>
            <a:r>
              <a:t/>
            </a:r>
          </a:p>
          <a:p>
            <a:r>
              <a:t>Отсюда вывод, который стоит унести в любую отрасль: клетка говорит, чем инструмент занят, и ничего не говорит о том, чем его держат. Накопительная карта делает это очевидным. В клетке распознавания на изображении стоят теперь три захода — отбор, диагноз и этот раздел, — и под каждым своя процедура. Две системы в одной клетке могут удерживаться совершенно по-разному, и разницу между ними задаёт цена промаха и то, кто её платит; класс задачи и вид данных у них при этом общие.</a:t>
            </a:r>
          </a:p>
          <a:p>
            <a:r>
              <a:t/>
            </a:r>
          </a:p>
          <a:p>
            <a:r>
              <a:t>Строки под таблицей — не клетки, и путать их с клетками нельзя. Первая перечисляет, чем держат саму клетку распознавания на изображении: двойное чтение, арбитраж при расхождении, порог вмешательства, пересчёт прогностической ценности под местную распространённость. Вторая — чем держат допуск: заранее утверждённый план изменений модели, передача данных о работе изделия регулятору, отзыв с рынка. Имён изделий здесь нет сознательно: вход лекции обещал, что марок в клетках не будет, а режим узнаётся не по марке.</a:t>
            </a:r>
          </a:p>
          <a:p>
            <a:r>
              <a:t/>
            </a:r>
          </a:p>
          <a:p>
            <a:r>
              <a:t>И практический вопрос, который из карты следует прямо. Назовите клетку, в которую попадает ваш инструмент, а затем назовите процедуру, которая держит цену его промаха, — и проверьте, существует ли эта процедура вообще. Там, где клетка занята, а процедуры под ней нет, цена промаха никуда не делась: она просто не записана ни за кем. Именно это и показал раздел числом — проверку способности подписавшего возразить нашли у пятидесяти шести изделий из семисот семнадцати.</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форме из четырёх шагов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В медицине она устроена иначе, и различение это несущее для всего раздела: врачебный навык — расходуемое.</a:t>
            </a:r>
          </a:p>
          <a:p>
            <a:r>
              <a:t/>
            </a:r>
          </a:p>
          <a:p>
            <a:r>
              <a:t>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меняется в обе стороны.</a:t>
            </a:r>
          </a:p>
          <a:p>
            <a:r>
              <a:t/>
            </a:r>
          </a:p>
          <a:p>
            <a:r>
              <a:t>Три опоры отвечают на один вопрос — держится ли человек в форме, — и ни одна не спрашивает самого человека. Профессия считает за него, и для колоноскопии счёт устроен двумя показателями. Доля обнаружения — доля процедур, в которых врач нашёл хотя бы одно предраковое образование. Её нельзя получить старанием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Прибор шёл медленнее, рука дольше искала угол, складку он прошёл мимо — и сам этого не знает.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Bastani и соавт., PNAS 2025</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**Источники.** </a:t>
            </a:r>
            <a:r>
              <a:rPr u="sng">
                <a:solidFill>
                  <a:srgbClr val="065A82"/>
                </a:solidFill>
                <a:hlinkClick r:id="rId3"/>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И строка про карту задачи и данных: клетка этого раздела в показанное окно не попадает — подсветка в реальном времени снята на потоке кадров во время процедуры, то есть на видео, а столбца видео в окне нет. Отдельно стоит назвать то, чему клетки не находится вовсе: психология участия — доверие, его калибровка, готовность работать без инструмента — в сетку «задача × вид данных» не ложится, потому что режима там нет. Предмет этой плоскости — то, чего про человека не измерено, и сеткой инструментов он не описывается.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оси и порядок строк те же, что стояли на незаполненной матрице входа. Светлым в занятых клетках стоят разделы, занявшие их раньше.</a:t>
            </a:r>
          </a:p>
          <a:p>
            <a:r>
              <a:t/>
            </a:r>
          </a:p>
          <a:p>
            <a:r>
              <a:t>Полужирного в сетке нет, и это надо произнести вслух, иначе кадр читается как недоделанный. Разбор этого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тогда перестанет быть тем окном, которое объявлено на входе, а зал не сможет сравнить итог с обещанием.</a:t>
            </a:r>
          </a:p>
          <a:p>
            <a:r>
              <a:t/>
            </a:r>
          </a:p>
          <a:p>
            <a:r>
              <a:t>Этот раздел не прибавил окну ни одной клетки, и не потому, что про него мало известно, а потому, что предмет лежит вне клинической раскладки: он добавил распознавание на видео — здесь смотрят живой поток кадров, и готового снимка тут нет. 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не растягивается на соседние, и растягивать его молча — значит соврать о его границах.</a:t>
            </a:r>
          </a:p>
          <a:p>
            <a:r>
              <a:t/>
            </a:r>
          </a:p>
          <a:p>
            <a:r>
              <a:t>Рядом в той же строке светлым стоит распознавание на снимке в режиме второго читателя: клетку занимали разделы об отборе, о чтении исследований и об удержании. Разница между двумя режимами лежит в последствиях, и для этого раздела она существенная: у прибора, который подсвечивает находку, человек остаётся и продолжает решать; со второго места человека снимают. Расходуется навык в первом случае, где человек формально остался на месте.</a:t>
            </a:r>
          </a:p>
          <a:p>
            <a:r>
              <a:t/>
            </a:r>
          </a:p>
          <a:p>
            <a:r>
              <a:t>И пустота, которая лежит строкой ниже сетки, вне клеток. Доверие к выводу модели, его калибровка, готовность человека работать без инструмента — всё это клетки «задача × вид данных» не получает,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клеткой.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клеток занято, сколько пусто и чем каждую из них удерживают — здесь не читается. Он стоит в «Сборке», куда собираются все восемь разделов разом, и там у него есть то, чего здесь нет: полный набор процедур, с которыми занятые клетки можно сравнить между собой.</a:t>
            </a:r>
          </a:p>
          <a:p>
            <a:r>
              <a:t/>
            </a:r>
          </a:p>
          <a:p>
            <a:r>
              <a:t>И одно замечание про направление,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держались человека: кого позвать, что увидеть на снимке, какой диагноз поставить, когда поднять тревогу — и, в разделе прямо перед этим, что сделалось с тем, кто решает.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Подробный разбор здесь один: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Ещё два случая идут упоминаниями в своде раздела, и каждое упоминание несёт число вместе с базой, с которой это число сравнивают: одна молекула, спроектированная моделью целиком, — доклиника меньше года, снята на первой фазе, где база отрасли пропускает 52,0 процента; и вся категория — переход второй фазы около 40 процентов против базы 28,9 при нуле одобрений регулятора.</a:t>
            </a:r>
          </a:p>
          <a:p>
            <a:r>
              <a:t/>
            </a:r>
          </a:p>
          <a:p>
            <a:r>
              <a:t>Почему так, а не тремя разборами подряд: вопрос у всех трёх случаев один и тот же, и проверять его трижды в одном разделе значит показывать залу форму вместо содержания. Один разбор идёт целиком, два стоят числом рядом с базой.</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Отдельно стоит сказать, как эту базу употребляют дальше. 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 потому что фазы отвечают на разные вопросы к одному веществу.</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Подставить сюда правдоподобную цифру значило бы её выдумать, и этого разбор не делает: число повторяемости экспертного решения не опубликовано ни по одной программе.</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Подробный разбор в этом разделе один, и предмет замера у него особый: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Претензия здесь не к модели и не к механизму, а к обещанию, построенному на игнорировании собственной воронки.</a:t>
            </a:r>
          </a:p>
          <a:p>
            <a:r>
              <a:t/>
            </a:r>
          </a:p>
          <a:p>
            <a:r>
              <a:t>Цена обеих ошибок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 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Число, стоящее за каждым обобщением, названо здесь же и рядом с базой, с которой его сравнивают: разбор в разделе один, а два других случая идут упоминанием.</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экспериментальные депозиты держат плато в девять-десять тысяч в год с 2015 года, то есть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Про адрес платежа — и это надо сказать прямо, потому что ось лекции здесь не работает. Лекция мерит удешевление четырьмя адресами: внимание человека, его навык, его подпись, его участие в арбитраже. В этом разделе не занят ни один из четырёх, и объяснение простое. Решение здесь принимают о веществе, которое до человека может не дойти вовсе; врача в контуре нет, и подешевевший шаг — подбор молекулы — делает химик расчётом вместо физического перебора. Его внимание не сужается подсказкой, его подпись ни под чем не стоит, арбитража расхождений у него нет. Платит за ошибку отрасль — программами и годами.</a:t>
            </a:r>
          </a:p>
          <a:p>
            <a:r>
              <a:t/>
            </a:r>
          </a:p>
          <a:p>
            <a:r>
              <a:t>Это содержание раздела, и пробелом подборки оно не является. Остальные семь разделов показывали один и тот же механизм: шаг подешевел, и счёт пришёл человеку, который работает рядом. Здесь счёт приходит в другое место — на шаг, которого ускорение не коснулось: три фазы на людях, набор пациентов, длительность наблюдения, производство клинической партии. Длину этих работ задают физиология и протокол, и расчётом они не сокращаются. Поэтому к такому удешевлению задают другой вопрос: измерена ли пропускная способность того шага, которого вы не трогали. Подводить раздел под адрес платежа силой значило бы назвать человека там, где его в контуре нет.</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впервые предъявляется целиком одним кадром.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 Разряд замера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два прочерка,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а не переписывается из прошлой редакции. Правило счёта называется до числа: подтверждённой считается номинация, разбор которой зал видел — своим кадром либо названным числом внутри разбора. Строка, которая живёт только здесь, в своде, в счёт не идёт: свод ничего не доказывает, он собирает доказанное. По этому правилу из пятнадцати живых строк реестра подтверждены восемь. Остальные семь остаются в главе: четыре лишились своего кадра при сокращении деки, три стоят условно — их адрес лежит за другим разделом. На экран здесь выведены девять строк, по три из каждой графы; свой разбор есть у четырёх из них, и сказано это на самом кадре.</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на кадре не напечатана, и произносится она вслух. Общая,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как обещал вход. Двенадцать показанных клеток — окно курсовой сетки из сорока двух: четыре строки задач на три вида данных, те же и в том же порядке, что стояли на незаполненной матрице в начале.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a:t>
            </a:r>
          </a:p>
          <a:p>
            <a:r>
              <a:t/>
            </a:r>
          </a:p>
          <a:p>
            <a:r>
              <a:t>Главное читается прямо с таблицы, и это не занятые клетки. Заняты четыре. **Восемь пусты, и за восемь разделов в них не зашёл никто** — ни одна стадия медицины, ни один из семнадцати разборов.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прочерков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клеток и есть ответ на вопрос, зачем курс держит сетку. Инструменты восьми разных стадий медицины уложились в четыре клетки. Классификация на изображении занята трижды — отбором, анализом данных и диагнозом. Распознавание на изображении трижды — отбором, диагнозом и удержанием. Поиск с генерацией на тексте трижды. Прогноз на структурированных данных трижды.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клетке удерживают цену ошибки, и здесь сетка перестаёт быть узнаваемой. Процедуры у четырёх клеток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клеток читалась бы как «на всё есть процедура», и это была бы неправда.</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И здесь возвращается четвёрка, с которой лекция началась: внимание, навык, подпись, арбитраж. Там это было обещанием, здесь под каждым словом стоит измерение с названным разрядом. Внимание и навык собраны в строке поведения: сужение зрительного поиска и смена верного решения на неверное — это внимание, падение техники после привыкания — навык. Арбитраж приходит строкой процесса: роль второго проверяющего переходит к модели, и разбор расхождения, который за этим появляется, делает человек. Подпись стоит своей строкой и своим именем. Строка психологии в четвёрку адресов не входит. Она мерит доверие и согласие — отдельную плоскость, которой в четырёх словах нет, и поэтому у неё своё имя.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лекция разбирает поставщиков. Сам этот свод собран из независимых повторений, то есть вопрос о воспроизведении в этой строке закрыт её устройством, а не оставлен без ответа.</a:t>
            </a:r>
          </a:p>
          <a:p>
            <a:r>
              <a:t/>
            </a:r>
          </a:p>
          <a:p>
            <a:r>
              <a:t>И последняя строка ведомости, которая называет отсутствие измерения. Ни один разбор ядра лекции не доходит до исхода пациента. Измерено поведение — куда смотрит глаз, что человек подписывает, сколько находок он делает без помощника; измерено качество работы — доля обнаружения, объём арбитража. Что из этого случилось с больным, не проверил никто: что стало с человеком, которого смотрел врач, разучившийся смотреть сам, — вопрос, на который в собранном материале нет ответа. Это не упрёк исследователям: такой замер стоит лет и требует исходов, которых в лабораторном устройстве опыта нет вовсе. Но называть разряд своего замера вслух — включая свой собственный — лекция требует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лекции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на четырёх разных разрядах свидетельства: первая на исходе пациента, вторая на точности корпуса, третья на качестве работы, четвёртая счётом секунд вне медицины. Разряд падает ровно по мере того, как участие человека становится формальнее, и это само по себе наблюдение: про самую распространённую ступень известно меньше всего.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Три кадра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из трёх опор, и у одной опоры число названо отсутствующим. Второй закрывает лекцию разрывом между двумя вещами, которые привычно считают одной: изделие с рынка снимают, решения по нему остаются; его заголовок и есть эта строка, а под ней стоит доля отзывов, пришедшихся на первый год работы изделия, и снимок страницы регулятора. Третий отдаёт в руки три проверки — те самые, которые инженер приложит к собственному рабочему контуру независимо от отрасли, — и задаёт вопрос, с которого начинается разговор.</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591-024-03408-6"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doi.org/10.1038/s41467-023-44676-z"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2256-021-00307-0"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hyperlink" Target="https://doi.org/10.1136/amiajnl-2011-000089"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electrocard.2018.08.007" TargetMode="External"/><Relationship Id="rId3" Type="http://schemas.openxmlformats.org/officeDocument/2006/relationships/hyperlink" Target="https://doi.org/10.1038/s41591-024-02850-w" TargetMode="External"/><Relationship Id="rId4" Type="http://schemas.openxmlformats.org/officeDocument/2006/relationships/hyperlink" Target="https://arxiv.org/abs/2102.09692" TargetMode="External"/><Relationship Id="rId5" Type="http://schemas.openxmlformats.org/officeDocument/2006/relationships/hyperlink" Target="https://doi.org/10.1037/xge0000033" TargetMode="Externa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hyperlink" Target="https://arxiv.org/abs/2405.06087"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38/s41746-026-02545-1" TargetMode="Externa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pmc.ncbi.nlm.nih.gov/articles/PMC12852673/" TargetMode="Externa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155/2016/7631981" TargetMode="External"/><Relationship Id="rId4" Type="http://schemas.openxmlformats.org/officeDocument/2006/relationships/hyperlink" Target="https://doi.org/10.1007/s00384-023-04585-5" TargetMode="External"/><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2468-1253%2825%2900294-8" TargetMode="Externa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0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Лекция идёт по пути одного случая: что модель делает с процедурой и с человеком в ней.</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одного случая</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Отбор</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 Анализ данных</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 Диагноз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2" name="Rounded Rectangle 11"/>
          <p:cNvSpPr/>
          <p:nvPr/>
        </p:nvSpPr>
        <p:spPr>
          <a:xfrm>
            <a:off x="1920240"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 Наблюдение</a:t>
            </a:r>
          </a:p>
        </p:txBody>
      </p:sp>
      <p:sp>
        <p:nvSpPr>
          <p:cNvPr id="14" name="Rounded Rectangle 13"/>
          <p:cNvSpPr/>
          <p:nvPr/>
        </p:nvSpPr>
        <p:spPr>
          <a:xfrm>
            <a:off x="6877659"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Ведение записи</a:t>
            </a:r>
          </a:p>
        </p:txBody>
      </p:sp>
      <p:sp>
        <p:nvSpPr>
          <p:cNvPr id="16" name="TextBox 15"/>
          <p:cNvSpPr txBox="1"/>
          <p:nvPr/>
        </p:nvSpPr>
        <p:spPr>
          <a:xfrm>
            <a:off x="502920" y="261499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Поперёк пути</a:t>
            </a:r>
          </a:p>
        </p:txBody>
      </p:sp>
      <p:sp>
        <p:nvSpPr>
          <p:cNvPr id="17" name="Rounded Rectangle 16"/>
          <p:cNvSpPr/>
          <p:nvPr/>
        </p:nvSpPr>
        <p:spPr>
          <a:xfrm>
            <a:off x="1920240"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6. Чем удерживают</a:t>
            </a:r>
          </a:p>
        </p:txBody>
      </p:sp>
      <p:sp>
        <p:nvSpPr>
          <p:cNvPr id="19" name="Rounded Rectangle 18"/>
          <p:cNvSpPr/>
          <p:nvPr/>
        </p:nvSpPr>
        <p:spPr>
          <a:xfrm>
            <a:off x="5225186"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07482"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7. Что стало с теми, кто решает</a:t>
            </a:r>
          </a:p>
        </p:txBody>
      </p:sp>
      <p:sp>
        <p:nvSpPr>
          <p:cNvPr id="21" name="Rounded Rectangle 20"/>
          <p:cNvSpPr/>
          <p:nvPr/>
        </p:nvSpPr>
        <p:spPr>
          <a:xfrm>
            <a:off x="8530132"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8612428"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8. Разработка лекарства</a:t>
            </a:r>
          </a:p>
        </p:txBody>
      </p:sp>
      <p:sp>
        <p:nvSpPr>
          <p:cNvPr id="23" name="Rounded Rectangle 22"/>
          <p:cNvSpPr/>
          <p:nvPr/>
        </p:nvSpPr>
        <p:spPr>
          <a:xfrm>
            <a:off x="374904" y="3145250"/>
            <a:ext cx="11441887" cy="3035896"/>
          </a:xfrm>
          <a:prstGeom prst="roundRect">
            <a:avLst>
              <a:gd name="adj" fmla="val 10039"/>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первых пяти не переставляется: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смотреть можно только того, кто попал в поле зрения;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решать — только по тому, что измерено;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наблюдать — только после того, как решение принято;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читать запись — только после того, как её сделали.</a:t>
            </a:r>
          </a:p>
        </p:txBody>
      </p:sp>
      <p:sp>
        <p:nvSpPr>
          <p:cNvPr id="25" name="TextBox 24"/>
          <p:cNvSpPr txBox="1"/>
          <p:nvPr/>
        </p:nvSpPr>
        <p:spPr>
          <a:xfrm>
            <a:off x="6278727"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разбора одна:</a:t>
            </a:r>
            <a:r>
              <a:rPr sz="1500" b="0" i="0">
                <a:solidFill>
                  <a:srgbClr val="21295C"/>
                </a:solidFill>
                <a:latin typeface="Arial"/>
              </a:rPr>
              <a:t> цена обеих ошибок · два классических режима · модель против них · что переехало.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последних идут поперёк пути: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чем удерживают</a:t>
            </a:r>
            <a:r>
              <a:rPr sz="1500" b="0" i="0">
                <a:solidFill>
                  <a:srgbClr val="21295C"/>
                </a:solidFill>
                <a:latin typeface="Arial"/>
              </a:rPr>
              <a:t> — процедура вокруг всех пяти;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что стало с теми, кто решает</a:t>
            </a:r>
            <a:r>
              <a:rPr sz="1500" b="0" i="0">
                <a:solidFill>
                  <a:srgbClr val="21295C"/>
                </a:solidFill>
                <a:latin typeface="Arial"/>
              </a:rPr>
              <a:t> — замер по человеку;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разработка лекарства</a:t>
            </a:r>
            <a:r>
              <a:rPr sz="1500" b="0" i="0">
                <a:solidFill>
                  <a:srgbClr val="21295C"/>
                </a:solidFill>
                <a:latin typeface="Arial"/>
              </a:rPr>
              <a:t> — откуда берётся то, что назначают.</a:t>
            </a:r>
          </a:p>
          <a:p>
            <a:pPr algn="l">
              <a:lnSpc>
                <a:spcPct val="126000"/>
              </a:lnSpc>
              <a:spcBef>
                <a:spcPts val="700"/>
              </a:spcBef>
            </a:pPr>
            <a:r>
              <a:rPr sz="1200" b="0" i="0">
                <a:solidFill>
                  <a:srgbClr val="21295C"/>
                </a:solidFill>
                <a:latin typeface="Arial"/>
              </a:rPr>
              <a:t/>
            </a:r>
            <a:r>
              <a:rPr sz="1200" b="0" i="1">
                <a:solidFill>
                  <a:srgbClr val="1C7293"/>
                </a:solidFill>
                <a:latin typeface="Arial"/>
              </a:rPr>
              <a:t>Кто получал результат обследования раньше, чем его прочитал врач?</a:t>
            </a:r>
          </a:p>
        </p:txBody>
      </p:sp>
      <p:sp>
        <p:nvSpPr>
          <p:cNvPr id="26" name="Rectangle 25"/>
          <p:cNvSpPr/>
          <p:nvPr/>
        </p:nvSpPr>
        <p:spPr>
          <a:xfrm>
            <a:off x="6091275" y="3236690"/>
            <a:ext cx="9144" cy="276157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Ступени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первым</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вторым</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только спорное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Подписывает не глядя</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участие человека убывает; требование регулятора исполнено на всех четырёх</a:t>
            </a:r>
          </a:p>
        </p:txBody>
      </p:sp>
      <p:sp>
        <p:nvSpPr>
          <p:cNvPr id="17" name="Rounded Rectangle 16"/>
          <p:cNvSpPr/>
          <p:nvPr/>
        </p:nvSpPr>
        <p:spPr>
          <a:xfrm>
            <a:off x="374904" y="2387325"/>
            <a:ext cx="11441887" cy="3808692"/>
          </a:xfrm>
          <a:prstGeom prst="roundRect">
            <a:avLst>
              <a:gd name="adj" fmla="val 800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«Человек в контуре» — четыре разных устройства работы.</a:t>
            </a:r>
            <a:r>
              <a:rPr sz="1500" b="0" i="0">
                <a:solidFill>
                  <a:srgbClr val="21295C"/>
                </a:solidFill>
                <a:latin typeface="Arial"/>
              </a:rPr>
              <a:t> Между первым и четвёртым разница больше, чем между парой моделей. Человек обязателен не потому, что он точнее: измерено, что часто он не точнее. Обязателен потому, что: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право подписи выдано ему</a:t>
            </a:r>
            <a:r>
              <a:rPr sz="1500" b="0" i="0">
                <a:solidFill>
                  <a:srgbClr val="21295C"/>
                </a:solidFill>
                <a:latin typeface="Arial"/>
              </a:rPr>
              <a:t> — при разборе случая оценивают действия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ошибается он иначе, чем модель</a:t>
            </a:r>
            <a:r>
              <a:rPr sz="1500" b="0" i="0">
                <a:solidFill>
                  <a:srgbClr val="21295C"/>
                </a:solidFill>
                <a:latin typeface="Arial"/>
              </a:rPr>
              <a:t> — выигрыш даёт несовпадение ошибок;</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отменить принятое решение нельзя</a:t>
            </a:r>
            <a:r>
              <a:rPr sz="1500" b="0" i="0">
                <a:solidFill>
                  <a:srgbClr val="21295C"/>
                </a:solidFill>
                <a:latin typeface="Arial"/>
              </a:rPr>
              <a:t> — изделие отзывают, решения по нему остаются.</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проверки для любого рабочего контура: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независимый источник истины, кроме объяснения самой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человек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Контур, не прошедший эти проверки, и есть четвёртая ступень: подпись стоит, участия нет.</a:t>
            </a:r>
          </a:p>
        </p:txBody>
      </p:sp>
      <p:sp>
        <p:nvSpPr>
          <p:cNvPr id="20" name="Rectangle 19"/>
          <p:cNvSpPr/>
          <p:nvPr/>
        </p:nvSpPr>
        <p:spPr>
          <a:xfrm>
            <a:off x="6091275" y="2478765"/>
            <a:ext cx="9144" cy="3534372"/>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Задача и данные</a:t>
            </a:r>
          </a:p>
        </p:txBody>
      </p:sp>
      <p:sp>
        <p:nvSpPr>
          <p:cNvPr id="4" name="Rounded Rectangle 3"/>
          <p:cNvSpPr/>
          <p:nvPr/>
        </p:nvSpPr>
        <p:spPr>
          <a:xfrm>
            <a:off x="502920" y="1335024"/>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Классификация — метка из списка</a:t>
            </a:r>
          </a:p>
        </p:txBody>
      </p:sp>
      <p:sp>
        <p:nvSpPr>
          <p:cNvPr id="6" name="Rounded Rectangle 5"/>
          <p:cNvSpPr/>
          <p:nvPr/>
        </p:nvSpPr>
        <p:spPr>
          <a:xfrm>
            <a:off x="4280306" y="1335024"/>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4362602" y="1380744"/>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Распознавание — находка и место</a:t>
            </a:r>
          </a:p>
        </p:txBody>
      </p:sp>
      <p:sp>
        <p:nvSpPr>
          <p:cNvPr id="8" name="Rounded Rectangle 7"/>
          <p:cNvSpPr/>
          <p:nvPr/>
        </p:nvSpPr>
        <p:spPr>
          <a:xfrm>
            <a:off x="8057692" y="1335024"/>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8139988" y="1380744"/>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Поиск — найти нужное в документах</a:t>
            </a:r>
          </a:p>
        </p:txBody>
      </p:sp>
      <p:sp>
        <p:nvSpPr>
          <p:cNvPr id="10" name="Rounded Rectangle 9"/>
          <p:cNvSpPr/>
          <p:nvPr/>
        </p:nvSpPr>
        <p:spPr>
          <a:xfrm>
            <a:off x="502920" y="1956720"/>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585216" y="2002440"/>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Генерация — написать по найденному</a:t>
            </a:r>
          </a:p>
        </p:txBody>
      </p:sp>
      <p:sp>
        <p:nvSpPr>
          <p:cNvPr id="12" name="Rounded Rectangle 11"/>
          <p:cNvSpPr/>
          <p:nvPr/>
        </p:nvSpPr>
        <p:spPr>
          <a:xfrm>
            <a:off x="4280306" y="1956720"/>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4362602" y="2002440"/>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Прогноз — число</a:t>
            </a:r>
          </a:p>
        </p:txBody>
      </p:sp>
      <p:sp>
        <p:nvSpPr>
          <p:cNvPr id="14" name="Rounded Rectangle 13"/>
          <p:cNvSpPr/>
          <p:nvPr/>
        </p:nvSpPr>
        <p:spPr>
          <a:xfrm>
            <a:off x="8057692" y="1956720"/>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8139988" y="2002440"/>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Планирование — последовательность</a:t>
            </a:r>
          </a:p>
        </p:txBody>
      </p:sp>
      <p:sp>
        <p:nvSpPr>
          <p:cNvPr id="16" name="TextBox 15"/>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типов задачи — по тому, что система выдаёт на выходе</a:t>
            </a:r>
          </a:p>
        </p:txBody>
      </p:sp>
      <p:sp>
        <p:nvSpPr>
          <p:cNvPr id="17" name="Rounded Rectangle 16"/>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862813"/>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Про каждый инструмент спрашиваем две вещи: какую задачу он решает и с какими данными работает.</a:t>
            </a:r>
            <a:r>
              <a:rPr sz="1300" b="0" i="0">
                <a:solidFill>
                  <a:srgbClr val="21295C"/>
                </a:solidFill>
                <a:latin typeface="Arial"/>
              </a:rPr>
              <a:t> Шесть типов на семь видов данных — сорок две клетки; на экране окно из двенадцати.</a:t>
            </a:r>
          </a:p>
        </p:txBody>
      </p:sp>
      <p:sp>
        <p:nvSpPr>
          <p:cNvPr id="19" name="Rectangle 18"/>
          <p:cNvSpPr/>
          <p:nvPr/>
        </p:nvSpPr>
        <p:spPr>
          <a:xfrm>
            <a:off x="539496" y="3535339"/>
            <a:ext cx="3161928" cy="392496"/>
          </a:xfrm>
          <a:prstGeom prst="rect">
            <a:avLst/>
          </a:prstGeom>
          <a:solidFill>
            <a:srgbClr val="065A82"/>
          </a:solidFill>
          <a:ln>
            <a:noFill/>
          </a:ln>
          <a:effectLst/>
        </p:spPr>
        <p:txBody>
          <a:bodyPr rtlCol="0" anchor="ctr"/>
          <a:lstStyle/>
          <a:p>
            <a:pPr algn="ctr"/>
          </a:p>
        </p:txBody>
      </p:sp>
      <p:sp>
        <p:nvSpPr>
          <p:cNvPr id="20" name="TextBox 19"/>
          <p:cNvSpPr txBox="1"/>
          <p:nvPr/>
        </p:nvSpPr>
        <p:spPr>
          <a:xfrm>
            <a:off x="685800" y="3535339"/>
            <a:ext cx="286932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21" name="Rectangle 20"/>
          <p:cNvSpPr/>
          <p:nvPr/>
        </p:nvSpPr>
        <p:spPr>
          <a:xfrm>
            <a:off x="3701424" y="3535339"/>
            <a:ext cx="1321749" cy="392496"/>
          </a:xfrm>
          <a:prstGeom prst="rect">
            <a:avLst/>
          </a:prstGeom>
          <a:solidFill>
            <a:srgbClr val="065A82"/>
          </a:solidFill>
          <a:ln>
            <a:noFill/>
          </a:ln>
          <a:effectLst/>
        </p:spPr>
        <p:txBody>
          <a:bodyPr rtlCol="0" anchor="ctr"/>
          <a:lstStyle/>
          <a:p>
            <a:pPr algn="ctr"/>
          </a:p>
        </p:txBody>
      </p:sp>
      <p:sp>
        <p:nvSpPr>
          <p:cNvPr id="22" name="TextBox 21"/>
          <p:cNvSpPr txBox="1"/>
          <p:nvPr/>
        </p:nvSpPr>
        <p:spPr>
          <a:xfrm>
            <a:off x="3847728" y="3535339"/>
            <a:ext cx="102914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23" name="Rectangle 22"/>
          <p:cNvSpPr/>
          <p:nvPr/>
        </p:nvSpPr>
        <p:spPr>
          <a:xfrm>
            <a:off x="5023174" y="3535339"/>
            <a:ext cx="2337638" cy="392496"/>
          </a:xfrm>
          <a:prstGeom prst="rect">
            <a:avLst/>
          </a:prstGeom>
          <a:solidFill>
            <a:srgbClr val="065A82"/>
          </a:solidFill>
          <a:ln>
            <a:noFill/>
          </a:ln>
          <a:effectLst/>
        </p:spPr>
        <p:txBody>
          <a:bodyPr rtlCol="0" anchor="ctr"/>
          <a:lstStyle/>
          <a:p>
            <a:pPr algn="ctr"/>
          </a:p>
        </p:txBody>
      </p:sp>
      <p:sp>
        <p:nvSpPr>
          <p:cNvPr id="24" name="TextBox 23"/>
          <p:cNvSpPr txBox="1"/>
          <p:nvPr/>
        </p:nvSpPr>
        <p:spPr>
          <a:xfrm>
            <a:off x="5169478" y="3535339"/>
            <a:ext cx="20450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25" name="Rectangle 24"/>
          <p:cNvSpPr/>
          <p:nvPr/>
        </p:nvSpPr>
        <p:spPr>
          <a:xfrm>
            <a:off x="7360812" y="3535339"/>
            <a:ext cx="4291386" cy="392496"/>
          </a:xfrm>
          <a:prstGeom prst="rect">
            <a:avLst/>
          </a:prstGeom>
          <a:solidFill>
            <a:srgbClr val="065A82"/>
          </a:solidFill>
          <a:ln>
            <a:noFill/>
          </a:ln>
          <a:effectLst/>
        </p:spPr>
        <p:txBody>
          <a:bodyPr rtlCol="0" anchor="ctr"/>
          <a:lstStyle/>
          <a:p>
            <a:pPr algn="ctr"/>
          </a:p>
        </p:txBody>
      </p:sp>
      <p:sp>
        <p:nvSpPr>
          <p:cNvPr id="26" name="TextBox 25"/>
          <p:cNvSpPr txBox="1"/>
          <p:nvPr/>
        </p:nvSpPr>
        <p:spPr>
          <a:xfrm>
            <a:off x="7507116" y="3535339"/>
            <a:ext cx="3998778"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27" name="Rectangle 26"/>
          <p:cNvSpPr/>
          <p:nvPr/>
        </p:nvSpPr>
        <p:spPr>
          <a:xfrm>
            <a:off x="539496" y="3927835"/>
            <a:ext cx="3161928" cy="39249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685800" y="3927835"/>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29" name="Rectangle 28"/>
          <p:cNvSpPr/>
          <p:nvPr/>
        </p:nvSpPr>
        <p:spPr>
          <a:xfrm>
            <a:off x="3701424" y="3927835"/>
            <a:ext cx="1321749"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3847728" y="3927835"/>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1" name="Rectangle 30"/>
          <p:cNvSpPr/>
          <p:nvPr/>
        </p:nvSpPr>
        <p:spPr>
          <a:xfrm>
            <a:off x="5023174" y="3927835"/>
            <a:ext cx="2337638"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5169478" y="3927835"/>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3" name="Rectangle 32"/>
          <p:cNvSpPr/>
          <p:nvPr/>
        </p:nvSpPr>
        <p:spPr>
          <a:xfrm>
            <a:off x="7360812" y="3927835"/>
            <a:ext cx="4291386"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7507116" y="3927835"/>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5" name="Rectangle 34"/>
          <p:cNvSpPr/>
          <p:nvPr/>
        </p:nvSpPr>
        <p:spPr>
          <a:xfrm>
            <a:off x="539496" y="4320331"/>
            <a:ext cx="3161928" cy="392496"/>
          </a:xfrm>
          <a:prstGeom prst="rect">
            <a:avLst/>
          </a:prstGeom>
          <a:solidFill>
            <a:srgbClr val="F4F7FA"/>
          </a:solidFill>
          <a:ln w="12700">
            <a:solidFill>
              <a:srgbClr val="D9E2EC"/>
            </a:solidFill>
          </a:ln>
          <a:effectLst/>
        </p:spPr>
        <p:txBody>
          <a:bodyPr rtlCol="0" anchor="ctr"/>
          <a:lstStyle/>
          <a:p>
            <a:pPr algn="ctr"/>
          </a:p>
        </p:txBody>
      </p:sp>
      <p:sp>
        <p:nvSpPr>
          <p:cNvPr id="36" name="TextBox 35"/>
          <p:cNvSpPr txBox="1"/>
          <p:nvPr/>
        </p:nvSpPr>
        <p:spPr>
          <a:xfrm>
            <a:off x="685800" y="4320331"/>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37" name="Rectangle 36"/>
          <p:cNvSpPr/>
          <p:nvPr/>
        </p:nvSpPr>
        <p:spPr>
          <a:xfrm>
            <a:off x="3701424" y="4320331"/>
            <a:ext cx="1321749"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3847728" y="4320331"/>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9" name="Rectangle 38"/>
          <p:cNvSpPr/>
          <p:nvPr/>
        </p:nvSpPr>
        <p:spPr>
          <a:xfrm>
            <a:off x="5023174" y="4320331"/>
            <a:ext cx="2337638"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5169478" y="4320331"/>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1" name="Rectangle 40"/>
          <p:cNvSpPr/>
          <p:nvPr/>
        </p:nvSpPr>
        <p:spPr>
          <a:xfrm>
            <a:off x="7360812" y="4320331"/>
            <a:ext cx="4291386"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7507116" y="4320331"/>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3" name="Rectangle 42"/>
          <p:cNvSpPr/>
          <p:nvPr/>
        </p:nvSpPr>
        <p:spPr>
          <a:xfrm>
            <a:off x="539496" y="4712827"/>
            <a:ext cx="3161928" cy="392496"/>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685800" y="4712827"/>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45" name="Rectangle 44"/>
          <p:cNvSpPr/>
          <p:nvPr/>
        </p:nvSpPr>
        <p:spPr>
          <a:xfrm>
            <a:off x="3701424" y="4712827"/>
            <a:ext cx="1321749"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3847728" y="4712827"/>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7" name="Rectangle 46"/>
          <p:cNvSpPr/>
          <p:nvPr/>
        </p:nvSpPr>
        <p:spPr>
          <a:xfrm>
            <a:off x="5023174" y="4712827"/>
            <a:ext cx="2337638" cy="39249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5169478" y="4712827"/>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9" name="Rectangle 48"/>
          <p:cNvSpPr/>
          <p:nvPr/>
        </p:nvSpPr>
        <p:spPr>
          <a:xfrm>
            <a:off x="7360812" y="4712827"/>
            <a:ext cx="4291386" cy="39249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7507116" y="4712827"/>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1" name="Rectangle 50"/>
          <p:cNvSpPr/>
          <p:nvPr/>
        </p:nvSpPr>
        <p:spPr>
          <a:xfrm>
            <a:off x="539496" y="5105324"/>
            <a:ext cx="3161928" cy="392496"/>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685800" y="5105324"/>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53" name="Rectangle 52"/>
          <p:cNvSpPr/>
          <p:nvPr/>
        </p:nvSpPr>
        <p:spPr>
          <a:xfrm>
            <a:off x="3701424" y="5105324"/>
            <a:ext cx="1321749" cy="39249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3847728" y="5105324"/>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5" name="Rectangle 54"/>
          <p:cNvSpPr/>
          <p:nvPr/>
        </p:nvSpPr>
        <p:spPr>
          <a:xfrm>
            <a:off x="5023174" y="5105324"/>
            <a:ext cx="2337638" cy="392496"/>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5169478" y="5105324"/>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7" name="Rectangle 56"/>
          <p:cNvSpPr/>
          <p:nvPr/>
        </p:nvSpPr>
        <p:spPr>
          <a:xfrm>
            <a:off x="7360812" y="5105324"/>
            <a:ext cx="4291386" cy="392496"/>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7507116" y="5105324"/>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9" name="TextBox 58"/>
          <p:cNvSpPr txBox="1"/>
          <p:nvPr/>
        </p:nvSpPr>
        <p:spPr>
          <a:xfrm>
            <a:off x="539496" y="56441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заполняются по ходу лекции, разделом за разделом. К концу видно, какие остались пустыми: куда за восемь разделов не зашёл никто.</a:t>
            </a:r>
          </a:p>
        </p:txBody>
      </p:sp>
      <p:sp>
        <p:nvSpPr>
          <p:cNvPr id="60" name="Rectangle 5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133799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52374"/>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прогон без человека</a:t>
            </a:r>
          </a:p>
        </p:txBody>
      </p:sp>
      <p:sp>
        <p:nvSpPr>
          <p:cNvPr id="8" name="Rounded Rectangle 7"/>
          <p:cNvSpPr/>
          <p:nvPr/>
        </p:nvSpPr>
        <p:spPr>
          <a:xfrm>
            <a:off x="2279827"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16987"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ОДИН</a:t>
            </a:r>
          </a:p>
        </p:txBody>
      </p:sp>
      <p:sp>
        <p:nvSpPr>
          <p:cNvPr id="10" name="TextBox 9"/>
          <p:cNvSpPr txBox="1"/>
          <p:nvPr/>
        </p:nvSpPr>
        <p:spPr>
          <a:xfrm>
            <a:off x="2416987" y="1725375"/>
            <a:ext cx="133799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2416987" y="2152374"/>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обычно, своя ветвь</a:t>
            </a:r>
          </a:p>
        </p:txBody>
      </p:sp>
      <p:sp>
        <p:nvSpPr>
          <p:cNvPr id="12" name="Rounded Rectangle 11"/>
          <p:cNvSpPr/>
          <p:nvPr/>
        </p:nvSpPr>
        <p:spPr>
          <a:xfrm>
            <a:off x="4056735" y="1335024"/>
            <a:ext cx="1612315" cy="1791939"/>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193895" y="1472184"/>
            <a:ext cx="13379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ПОВЕРХ МОДЕЛИ</a:t>
            </a:r>
          </a:p>
        </p:txBody>
      </p:sp>
      <p:sp>
        <p:nvSpPr>
          <p:cNvPr id="14" name="TextBox 13"/>
          <p:cNvSpPr txBox="1"/>
          <p:nvPr/>
        </p:nvSpPr>
        <p:spPr>
          <a:xfrm>
            <a:off x="4193895" y="2140317"/>
            <a:ext cx="133799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4193895" y="2567316"/>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разница 2 пункта, p = 0,60</a:t>
            </a:r>
          </a:p>
        </p:txBody>
      </p:sp>
      <p:sp>
        <p:nvSpPr>
          <p:cNvPr id="16" name="Rounded Rectangle 15"/>
          <p:cNvSpPr/>
          <p:nvPr/>
        </p:nvSpPr>
        <p:spPr>
          <a:xfrm>
            <a:off x="5833643"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5970803"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КТО И НА ЧЁМ МЕРИЛ</a:t>
            </a:r>
          </a:p>
        </p:txBody>
      </p:sp>
      <p:sp>
        <p:nvSpPr>
          <p:cNvPr id="18" name="TextBox 17"/>
          <p:cNvSpPr txBox="1"/>
          <p:nvPr/>
        </p:nvSpPr>
        <p:spPr>
          <a:xfrm>
            <a:off x="5970803" y="1932846"/>
            <a:ext cx="13379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50 врачей · виньетки</a:t>
            </a:r>
          </a:p>
        </p:txBody>
      </p:sp>
      <p:sp>
        <p:nvSpPr>
          <p:cNvPr id="19" name="TextBox 18"/>
          <p:cNvSpPr txBox="1"/>
          <p:nvPr/>
        </p:nvSpPr>
        <p:spPr>
          <a:xfrm>
            <a:off x="5970803" y="2631444"/>
            <a:ext cx="13379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Goh, 2024</a:t>
            </a:r>
          </a:p>
        </p:txBody>
      </p:sp>
      <p:sp>
        <p:nvSpPr>
          <p:cNvPr id="20" name="Rounded Rectangle 19"/>
          <p:cNvSpPr/>
          <p:nvPr/>
        </p:nvSpPr>
        <p:spPr>
          <a:xfrm>
            <a:off x="374904" y="3218403"/>
            <a:ext cx="11441887" cy="3017804"/>
          </a:xfrm>
          <a:prstGeom prst="roundRect">
            <a:avLst>
              <a:gd name="adj" fmla="val 101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309843"/>
            <a:ext cx="11112703" cy="2926364"/>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Удешевление уже предъявлено: модель читает рентген в браузере за три секунды, без допуска и без денег, и сама подписана «не для диагностики».</a:t>
            </a:r>
          </a:p>
          <a:p>
            <a:pPr algn="l">
              <a:lnSpc>
                <a:spcPct val="126000"/>
              </a:lnSpc>
              <a:spcBef>
                <a:spcPts val="700"/>
              </a:spcBef>
            </a:pPr>
            <a:r>
              <a:rPr sz="1250" b="0" i="0">
                <a:solidFill>
                  <a:srgbClr val="21295C"/>
                </a:solidFill>
                <a:latin typeface="Arial"/>
              </a:rPr>
              <a:t/>
            </a:r>
            <a:r>
              <a:rPr sz="1250" b="1" i="0">
                <a:solidFill>
                  <a:srgbClr val="21295C"/>
                </a:solidFill>
                <a:latin typeface="Arial"/>
              </a:rPr>
              <a:t>Этот переезд вы узнаете без перевода — он ваш собственный.</a:t>
            </a:r>
            <a:r>
              <a:rPr sz="1250" b="0" i="0">
                <a:solidFill>
                  <a:srgbClr val="21295C"/>
                </a:solidFill>
                <a:latin typeface="Arial"/>
              </a:rPr>
              <a:t> Младшие разработчики пишут с моделью и пишут больше; проверять не успевают старшие.</a:t>
            </a:r>
          </a:p>
          <a:p>
            <a:pPr algn="l">
              <a:lnSpc>
                <a:spcPct val="126000"/>
              </a:lnSpc>
              <a:spcBef>
                <a:spcPts val="700"/>
              </a:spcBef>
            </a:pPr>
            <a:r>
              <a:rPr sz="1250" b="0" i="0">
                <a:solidFill>
                  <a:srgbClr val="21295C"/>
                </a:solidFill>
                <a:latin typeface="Arial"/>
              </a:rPr>
              <a:t/>
            </a:r>
            <a:r>
              <a:rPr sz="1250" b="0" i="0">
                <a:solidFill>
                  <a:srgbClr val="21295C"/>
                </a:solidFill>
                <a:latin typeface="Arial"/>
              </a:rPr>
              <a:t>Замера под этим нет ни одного: он иллюстрация оси, разбором не идёт.</a:t>
            </a:r>
          </a:p>
          <a:p>
            <a:pPr algn="l">
              <a:lnSpc>
                <a:spcPct val="126000"/>
              </a:lnSpc>
              <a:spcBef>
                <a:spcPts val="700"/>
              </a:spcBef>
            </a:pPr>
            <a:r>
              <a:rPr sz="1250" b="0" i="0">
                <a:solidFill>
                  <a:srgbClr val="21295C"/>
                </a:solidFill>
                <a:latin typeface="Arial"/>
              </a:rPr>
              <a:t/>
            </a:r>
            <a:r>
              <a:rPr sz="1250" b="0" i="0">
                <a:solidFill>
                  <a:srgbClr val="21295C"/>
                </a:solidFill>
                <a:latin typeface="Arial"/>
              </a:rPr>
              <a:t>Подешевел шаг — платят на другом. Своё здесь — </a:t>
            </a:r>
            <a:r>
              <a:rPr sz="1250" b="1" i="0">
                <a:solidFill>
                  <a:srgbClr val="21295C"/>
                </a:solidFill>
                <a:latin typeface="Arial"/>
              </a:rPr>
              <a:t>адрес: платят тем шагом, которым работает человек.</a:t>
            </a:r>
          </a:p>
          <a:p>
            <a:pPr algn="l">
              <a:lnSpc>
                <a:spcPct val="126000"/>
              </a:lnSpc>
              <a:spcBef>
                <a:spcPts val="700"/>
              </a:spcBef>
            </a:pPr>
            <a:r>
              <a:rPr sz="1250" b="0" i="0">
                <a:solidFill>
                  <a:srgbClr val="21295C"/>
                </a:solidFill>
                <a:latin typeface="Arial"/>
              </a:rPr>
              <a:t/>
            </a:r>
            <a:r>
              <a:rPr sz="1250" b="1" i="0">
                <a:solidFill>
                  <a:srgbClr val="21295C"/>
                </a:solidFill>
                <a:latin typeface="Arial"/>
              </a:rPr>
              <a:t>Адреса платежа:</a:t>
            </a:r>
            <a:r>
              <a:rPr sz="1250" b="0" i="0">
                <a:solidFill>
                  <a:srgbClr val="21295C"/>
                </a:solidFill>
                <a:latin typeface="Arial"/>
              </a:rPr>
              <a:t> внимание — смотрит после модели · навык — перестаёт делать сам · подпись — ставят не читая · </a:t>
            </a:r>
            <a:r>
              <a:rPr sz="1250" b="1" i="0">
                <a:solidFill>
                  <a:srgbClr val="21295C"/>
                </a:solidFill>
                <a:latin typeface="Arial"/>
              </a:rPr>
              <a:t>арбитраж — дороже прежнего чтения</a:t>
            </a:r>
            <a:r>
              <a:rPr sz="1250" b="0" i="0">
                <a:solidFill>
                  <a:srgbClr val="21295C"/>
                </a:solidFill>
                <a:latin typeface="Arial"/>
              </a:rPr>
              <a:t>.</a:t>
            </a:r>
          </a:p>
          <a:p>
            <a:pPr algn="l">
              <a:lnSpc>
                <a:spcPct val="126000"/>
              </a:lnSpc>
              <a:spcBef>
                <a:spcPts val="700"/>
              </a:spcBef>
            </a:pPr>
            <a:r>
              <a:rPr sz="1250" b="0" i="0">
                <a:solidFill>
                  <a:srgbClr val="21295C"/>
                </a:solidFill>
                <a:latin typeface="Arial"/>
              </a:rPr>
              <a:t/>
            </a:r>
            <a:r>
              <a:rPr sz="1250" b="1" i="0">
                <a:solidFill>
                  <a:srgbClr val="21295C"/>
                </a:solidFill>
                <a:latin typeface="Arial"/>
              </a:rPr>
              <a:t>Путь, ступень, адрес — этим читается каждый разбор лекции.</a:t>
            </a:r>
          </a:p>
          <a:p>
            <a:pPr algn="l">
              <a:lnSpc>
                <a:spcPct val="126000"/>
              </a:lnSpc>
              <a:spcBef>
                <a:spcPts val="700"/>
              </a:spcBef>
            </a:pPr>
            <a:r>
              <a:rPr sz="1250" b="0" i="0">
                <a:solidFill>
                  <a:srgbClr val="21295C"/>
                </a:solidFill>
                <a:latin typeface="Arial"/>
              </a:rPr>
              <a:t/>
            </a:r>
            <a:r>
              <a:rPr sz="1250" b="1" i="0">
                <a:solidFill>
                  <a:srgbClr val="21295C"/>
                </a:solidFill>
                <a:latin typeface="Arial"/>
              </a:rPr>
              <a:t>Модель посмотрела первой. Что теперь делает человек — и кто это измерял?</a:t>
            </a:r>
          </a:p>
        </p:txBody>
      </p:sp>
      <p:sp>
        <p:nvSpPr>
          <p:cNvPr id="22" name="Rounded Rectangle 21"/>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3" name="Picture 22"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4" name="Rectangle 23"/>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E. и соавт., JAMA Network Open 2024;7(10):e2440969, 28 октября 2024</a:t>
            </a:r>
            <a:r>
              <a:rPr sz="1200" b="0" i="1">
                <a:solidFill>
                  <a:srgbClr val="1C7293"/>
                </a:solidFill>
                <a:latin typeface="Arial"/>
              </a:rPr>
              <a:t> · </a:t>
            </a:r>
            <a:r>
              <a:rPr sz="1200" b="0" i="1" u="sng">
                <a:solidFill>
                  <a:srgbClr val="065A82"/>
                </a:solidFill>
                <a:latin typeface="Arial"/>
                <a:hlinkClick r:id="rId4"/>
              </a:rPr>
              <a:t>Фото: NIAID, Викисклад, CC BY 2.0 — подпись добровольца под информированным согласием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Девять форм переезда: чем лекция будет называть то, что стало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843813"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55120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1383309" y="1335024"/>
            <a:ext cx="4759479"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1529613" y="1335024"/>
            <a:ext cx="446687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форма</a:t>
            </a:r>
          </a:p>
        </p:txBody>
      </p:sp>
      <p:sp>
        <p:nvSpPr>
          <p:cNvPr id="9" name="Rectangle 8"/>
          <p:cNvSpPr/>
          <p:nvPr/>
        </p:nvSpPr>
        <p:spPr>
          <a:xfrm>
            <a:off x="6142789" y="1335024"/>
            <a:ext cx="5509410"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6289093" y="1335024"/>
            <a:ext cx="5216802"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чем узнаётся</a:t>
            </a:r>
          </a:p>
        </p:txBody>
      </p:sp>
      <p:sp>
        <p:nvSpPr>
          <p:cNvPr id="11" name="Rectangle 10"/>
          <p:cNvSpPr/>
          <p:nvPr/>
        </p:nvSpPr>
        <p:spPr>
          <a:xfrm>
            <a:off x="539496" y="1736636"/>
            <a:ext cx="843813" cy="401612"/>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36636"/>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1</a:t>
            </a:r>
          </a:p>
        </p:txBody>
      </p:sp>
      <p:sp>
        <p:nvSpPr>
          <p:cNvPr id="13" name="Rectangle 12"/>
          <p:cNvSpPr/>
          <p:nvPr/>
        </p:nvSpPr>
        <p:spPr>
          <a:xfrm>
            <a:off x="1383309" y="1736636"/>
            <a:ext cx="4759479"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1529613" y="1736636"/>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переехала на другой шаг</a:t>
            </a:r>
          </a:p>
        </p:txBody>
      </p:sp>
      <p:sp>
        <p:nvSpPr>
          <p:cNvPr id="15" name="Rectangle 14"/>
          <p:cNvSpPr/>
          <p:nvPr/>
        </p:nvSpPr>
        <p:spPr>
          <a:xfrm>
            <a:off x="6142789" y="1736636"/>
            <a:ext cx="5509410"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6289093" y="1736636"/>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работа цела, место другое</a:t>
            </a:r>
          </a:p>
        </p:txBody>
      </p:sp>
      <p:sp>
        <p:nvSpPr>
          <p:cNvPr id="17" name="Rectangle 16"/>
          <p:cNvSpPr/>
          <p:nvPr/>
        </p:nvSpPr>
        <p:spPr>
          <a:xfrm>
            <a:off x="539496" y="2138248"/>
            <a:ext cx="843813" cy="401612"/>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138248"/>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a:t>
            </a:r>
          </a:p>
        </p:txBody>
      </p:sp>
      <p:sp>
        <p:nvSpPr>
          <p:cNvPr id="19" name="Rectangle 18"/>
          <p:cNvSpPr/>
          <p:nvPr/>
        </p:nvSpPr>
        <p:spPr>
          <a:xfrm>
            <a:off x="1383309" y="2138248"/>
            <a:ext cx="4759479" cy="401612"/>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1529613" y="2138248"/>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исчез совсем</a:t>
            </a:r>
          </a:p>
        </p:txBody>
      </p:sp>
      <p:sp>
        <p:nvSpPr>
          <p:cNvPr id="21" name="Rectangle 20"/>
          <p:cNvSpPr/>
          <p:nvPr/>
        </p:nvSpPr>
        <p:spPr>
          <a:xfrm>
            <a:off x="6142789" y="2138248"/>
            <a:ext cx="5509410"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289093" y="2138248"/>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работы нет ни у кого</a:t>
            </a:r>
          </a:p>
        </p:txBody>
      </p:sp>
      <p:sp>
        <p:nvSpPr>
          <p:cNvPr id="23" name="Rectangle 22"/>
          <p:cNvSpPr/>
          <p:nvPr/>
        </p:nvSpPr>
        <p:spPr>
          <a:xfrm>
            <a:off x="539496" y="2539860"/>
            <a:ext cx="843813" cy="40161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2539860"/>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3</a:t>
            </a:r>
          </a:p>
        </p:txBody>
      </p:sp>
      <p:sp>
        <p:nvSpPr>
          <p:cNvPr id="25" name="Rectangle 24"/>
          <p:cNvSpPr/>
          <p:nvPr/>
        </p:nvSpPr>
        <p:spPr>
          <a:xfrm>
            <a:off x="1383309" y="2539860"/>
            <a:ext cx="4759479" cy="401612"/>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1529613" y="2539860"/>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появился</a:t>
            </a:r>
          </a:p>
        </p:txBody>
      </p:sp>
      <p:sp>
        <p:nvSpPr>
          <p:cNvPr id="27" name="Rectangle 26"/>
          <p:cNvSpPr/>
          <p:nvPr/>
        </p:nvSpPr>
        <p:spPr>
          <a:xfrm>
            <a:off x="6142789" y="2539860"/>
            <a:ext cx="5509410" cy="401612"/>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6289093" y="2539860"/>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работа новая, раньше её не делали</a:t>
            </a:r>
          </a:p>
        </p:txBody>
      </p:sp>
      <p:sp>
        <p:nvSpPr>
          <p:cNvPr id="29" name="Rectangle 28"/>
          <p:cNvSpPr/>
          <p:nvPr/>
        </p:nvSpPr>
        <p:spPr>
          <a:xfrm>
            <a:off x="539496" y="2941472"/>
            <a:ext cx="843813" cy="40161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2941472"/>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a:t>
            </a:r>
          </a:p>
        </p:txBody>
      </p:sp>
      <p:sp>
        <p:nvSpPr>
          <p:cNvPr id="31" name="Rectangle 30"/>
          <p:cNvSpPr/>
          <p:nvPr/>
        </p:nvSpPr>
        <p:spPr>
          <a:xfrm>
            <a:off x="1383309" y="2941472"/>
            <a:ext cx="4759479" cy="401612"/>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1529613" y="2941472"/>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выросла на том же месте</a:t>
            </a:r>
          </a:p>
        </p:txBody>
      </p:sp>
      <p:sp>
        <p:nvSpPr>
          <p:cNvPr id="33" name="Rectangle 32"/>
          <p:cNvSpPr/>
          <p:nvPr/>
        </p:nvSpPr>
        <p:spPr>
          <a:xfrm>
            <a:off x="6142789" y="2941472"/>
            <a:ext cx="5509410" cy="401612"/>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6289093" y="2941472"/>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 то же, работы больше</a:t>
            </a:r>
          </a:p>
        </p:txBody>
      </p:sp>
      <p:sp>
        <p:nvSpPr>
          <p:cNvPr id="35" name="Rectangle 34"/>
          <p:cNvSpPr/>
          <p:nvPr/>
        </p:nvSpPr>
        <p:spPr>
          <a:xfrm>
            <a:off x="539496" y="3343085"/>
            <a:ext cx="843813"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3343085"/>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4а</a:t>
            </a:r>
          </a:p>
        </p:txBody>
      </p:sp>
      <p:sp>
        <p:nvSpPr>
          <p:cNvPr id="37" name="Rectangle 36"/>
          <p:cNvSpPr/>
          <p:nvPr/>
        </p:nvSpPr>
        <p:spPr>
          <a:xfrm>
            <a:off x="1383309" y="3343085"/>
            <a:ext cx="4759479" cy="401612"/>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1529613" y="3343085"/>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на том же месте упала</a:t>
            </a:r>
          </a:p>
        </p:txBody>
      </p:sp>
      <p:sp>
        <p:nvSpPr>
          <p:cNvPr id="39" name="Rectangle 38"/>
          <p:cNvSpPr/>
          <p:nvPr/>
        </p:nvSpPr>
        <p:spPr>
          <a:xfrm>
            <a:off x="6142789" y="3343085"/>
            <a:ext cx="5509410" cy="401612"/>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6289093" y="3343085"/>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 то же, работы меньше</a:t>
            </a:r>
          </a:p>
        </p:txBody>
      </p:sp>
      <p:sp>
        <p:nvSpPr>
          <p:cNvPr id="41" name="Rectangle 40"/>
          <p:cNvSpPr/>
          <p:nvPr/>
        </p:nvSpPr>
        <p:spPr>
          <a:xfrm>
            <a:off x="539496" y="3744697"/>
            <a:ext cx="843813"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3744697"/>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5</a:t>
            </a:r>
          </a:p>
        </p:txBody>
      </p:sp>
      <p:sp>
        <p:nvSpPr>
          <p:cNvPr id="43" name="Rectangle 42"/>
          <p:cNvSpPr/>
          <p:nvPr/>
        </p:nvSpPr>
        <p:spPr>
          <a:xfrm>
            <a:off x="1383309" y="3744697"/>
            <a:ext cx="4759479"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1529613" y="3744697"/>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сменился исполнитель</a:t>
            </a:r>
          </a:p>
        </p:txBody>
      </p:sp>
      <p:sp>
        <p:nvSpPr>
          <p:cNvPr id="45" name="Rectangle 44"/>
          <p:cNvSpPr/>
          <p:nvPr/>
        </p:nvSpPr>
        <p:spPr>
          <a:xfrm>
            <a:off x="6142789" y="3744697"/>
            <a:ext cx="5509410" cy="401612"/>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6289093" y="3744697"/>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работа та же, рука другая</a:t>
            </a:r>
          </a:p>
        </p:txBody>
      </p:sp>
      <p:sp>
        <p:nvSpPr>
          <p:cNvPr id="47" name="Rectangle 46"/>
          <p:cNvSpPr/>
          <p:nvPr/>
        </p:nvSpPr>
        <p:spPr>
          <a:xfrm>
            <a:off x="539496" y="4146309"/>
            <a:ext cx="843813" cy="401612"/>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685800" y="4146309"/>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6</a:t>
            </a:r>
          </a:p>
        </p:txBody>
      </p:sp>
      <p:sp>
        <p:nvSpPr>
          <p:cNvPr id="49" name="Rectangle 48"/>
          <p:cNvSpPr/>
          <p:nvPr/>
        </p:nvSpPr>
        <p:spPr>
          <a:xfrm>
            <a:off x="1383309" y="4146309"/>
            <a:ext cx="4759479" cy="401612"/>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1529613" y="4146309"/>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изменился порядок работ</a:t>
            </a:r>
          </a:p>
        </p:txBody>
      </p:sp>
      <p:sp>
        <p:nvSpPr>
          <p:cNvPr id="51" name="Rectangle 50"/>
          <p:cNvSpPr/>
          <p:nvPr/>
        </p:nvSpPr>
        <p:spPr>
          <a:xfrm>
            <a:off x="6142789" y="4146309"/>
            <a:ext cx="5509410" cy="401612"/>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289093" y="4146309"/>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состав тот же, порядок другой</a:t>
            </a:r>
          </a:p>
        </p:txBody>
      </p:sp>
      <p:sp>
        <p:nvSpPr>
          <p:cNvPr id="53" name="Rectangle 52"/>
          <p:cNvSpPr/>
          <p:nvPr/>
        </p:nvSpPr>
        <p:spPr>
          <a:xfrm>
            <a:off x="539496" y="4547921"/>
            <a:ext cx="843813" cy="401612"/>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4547921"/>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7</a:t>
            </a:r>
          </a:p>
        </p:txBody>
      </p:sp>
      <p:sp>
        <p:nvSpPr>
          <p:cNvPr id="55" name="Rectangle 54"/>
          <p:cNvSpPr/>
          <p:nvPr/>
        </p:nvSpPr>
        <p:spPr>
          <a:xfrm>
            <a:off x="1383309" y="4547921"/>
            <a:ext cx="4759479" cy="401612"/>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529613" y="4547921"/>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сместилась цена ошибки</a:t>
            </a:r>
          </a:p>
        </p:txBody>
      </p:sp>
      <p:sp>
        <p:nvSpPr>
          <p:cNvPr id="57" name="Rectangle 56"/>
          <p:cNvSpPr/>
          <p:nvPr/>
        </p:nvSpPr>
        <p:spPr>
          <a:xfrm>
            <a:off x="6142789" y="4547921"/>
            <a:ext cx="5509410" cy="401612"/>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6289093" y="4547921"/>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промах машины стал промахом человека</a:t>
            </a:r>
          </a:p>
        </p:txBody>
      </p:sp>
      <p:sp>
        <p:nvSpPr>
          <p:cNvPr id="59" name="Rectangle 58"/>
          <p:cNvSpPr/>
          <p:nvPr/>
        </p:nvSpPr>
        <p:spPr>
          <a:xfrm>
            <a:off x="539496" y="4949533"/>
            <a:ext cx="843813" cy="401612"/>
          </a:xfrm>
          <a:prstGeom prst="rect">
            <a:avLst/>
          </a:prstGeom>
          <a:solidFill>
            <a:srgbClr val="FFFFFF"/>
          </a:solidFill>
          <a:ln w="12700">
            <a:solidFill>
              <a:srgbClr val="D9E2EC"/>
            </a:solidFill>
          </a:ln>
          <a:effectLst/>
        </p:spPr>
        <p:txBody>
          <a:bodyPr rtlCol="0" anchor="ctr"/>
          <a:lstStyle/>
          <a:p>
            <a:pPr algn="ctr"/>
          </a:p>
        </p:txBody>
      </p:sp>
      <p:sp>
        <p:nvSpPr>
          <p:cNvPr id="60" name="TextBox 59"/>
          <p:cNvSpPr txBox="1"/>
          <p:nvPr/>
        </p:nvSpPr>
        <p:spPr>
          <a:xfrm>
            <a:off x="685800" y="4949533"/>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8</a:t>
            </a:r>
          </a:p>
        </p:txBody>
      </p:sp>
      <p:sp>
        <p:nvSpPr>
          <p:cNvPr id="61" name="Rectangle 60"/>
          <p:cNvSpPr/>
          <p:nvPr/>
        </p:nvSpPr>
        <p:spPr>
          <a:xfrm>
            <a:off x="1383309" y="4949533"/>
            <a:ext cx="4759479" cy="401612"/>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1529613" y="4949533"/>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исполнитель тот же, но стал хуже</a:t>
            </a:r>
          </a:p>
        </p:txBody>
      </p:sp>
      <p:sp>
        <p:nvSpPr>
          <p:cNvPr id="63" name="Rectangle 62"/>
          <p:cNvSpPr/>
          <p:nvPr/>
        </p:nvSpPr>
        <p:spPr>
          <a:xfrm>
            <a:off x="6142789" y="4949533"/>
            <a:ext cx="5509410" cy="401612"/>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6289093" y="4949533"/>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 та же, и она разучилась</a:t>
            </a:r>
          </a:p>
        </p:txBody>
      </p:sp>
      <p:sp>
        <p:nvSpPr>
          <p:cNvPr id="65" name="Rectangle 64"/>
          <p:cNvSpPr/>
          <p:nvPr/>
        </p:nvSpPr>
        <p:spPr>
          <a:xfrm>
            <a:off x="539496" y="5351146"/>
            <a:ext cx="843813" cy="401612"/>
          </a:xfrm>
          <a:prstGeom prst="rect">
            <a:avLst/>
          </a:prstGeom>
          <a:solidFill>
            <a:srgbClr val="F4F7FA"/>
          </a:solidFill>
          <a:ln w="12700">
            <a:solidFill>
              <a:srgbClr val="D9E2EC"/>
            </a:solidFill>
          </a:ln>
          <a:effectLst/>
        </p:spPr>
        <p:txBody>
          <a:bodyPr rtlCol="0" anchor="ctr"/>
          <a:lstStyle/>
          <a:p>
            <a:pPr algn="ctr"/>
          </a:p>
        </p:txBody>
      </p:sp>
      <p:sp>
        <p:nvSpPr>
          <p:cNvPr id="66" name="TextBox 65"/>
          <p:cNvSpPr txBox="1"/>
          <p:nvPr/>
        </p:nvSpPr>
        <p:spPr>
          <a:xfrm>
            <a:off x="685800" y="5351146"/>
            <a:ext cx="551205"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8а</a:t>
            </a:r>
          </a:p>
        </p:txBody>
      </p:sp>
      <p:sp>
        <p:nvSpPr>
          <p:cNvPr id="67" name="Rectangle 66"/>
          <p:cNvSpPr/>
          <p:nvPr/>
        </p:nvSpPr>
        <p:spPr>
          <a:xfrm>
            <a:off x="1383309" y="5351146"/>
            <a:ext cx="4759479" cy="401612"/>
          </a:xfrm>
          <a:prstGeom prst="rect">
            <a:avLst/>
          </a:prstGeom>
          <a:solidFill>
            <a:srgbClr val="F4F7FA"/>
          </a:solidFill>
          <a:ln w="12700">
            <a:solidFill>
              <a:srgbClr val="D9E2EC"/>
            </a:solidFill>
          </a:ln>
          <a:effectLst/>
        </p:spPr>
        <p:txBody>
          <a:bodyPr rtlCol="0" anchor="ctr"/>
          <a:lstStyle/>
          <a:p>
            <a:pPr algn="ctr"/>
          </a:p>
        </p:txBody>
      </p:sp>
      <p:sp>
        <p:nvSpPr>
          <p:cNvPr id="68" name="TextBox 67"/>
          <p:cNvSpPr txBox="1"/>
          <p:nvPr/>
        </p:nvSpPr>
        <p:spPr>
          <a:xfrm>
            <a:off x="1529613" y="5351146"/>
            <a:ext cx="4466871"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исполнитель тот же, но стал лучше</a:t>
            </a:r>
          </a:p>
        </p:txBody>
      </p:sp>
      <p:sp>
        <p:nvSpPr>
          <p:cNvPr id="69" name="Rectangle 68"/>
          <p:cNvSpPr/>
          <p:nvPr/>
        </p:nvSpPr>
        <p:spPr>
          <a:xfrm>
            <a:off x="6142789" y="5351146"/>
            <a:ext cx="5509410" cy="401612"/>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289093" y="5351146"/>
            <a:ext cx="5216802"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номер пуст: измерения нет ни одного</a:t>
            </a:r>
          </a:p>
        </p:txBody>
      </p:sp>
      <p:sp>
        <p:nvSpPr>
          <p:cNvPr id="71" name="TextBox 70"/>
          <p:cNvSpPr txBox="1"/>
          <p:nvPr/>
        </p:nvSpPr>
        <p:spPr>
          <a:xfrm>
            <a:off x="539496" y="5899062"/>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Форма отвечает, что сделалось с работой. Адрес платежа — на каком человеческом шаге.</a:t>
            </a:r>
          </a:p>
        </p:txBody>
      </p:sp>
      <p:sp>
        <p:nvSpPr>
          <p:cNvPr id="72" name="Rectangle 71"/>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Пять разрядов свидетельства: насколько устроен опыт, из которого взято число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695986"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403378"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разряд</a:t>
            </a:r>
          </a:p>
        </p:txBody>
      </p:sp>
      <p:sp>
        <p:nvSpPr>
          <p:cNvPr id="7" name="Rectangle 6"/>
          <p:cNvSpPr/>
          <p:nvPr/>
        </p:nvSpPr>
        <p:spPr>
          <a:xfrm>
            <a:off x="3235482" y="1335024"/>
            <a:ext cx="3777633"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381786" y="1335024"/>
            <a:ext cx="348502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как добыто число</a:t>
            </a:r>
          </a:p>
        </p:txBody>
      </p:sp>
      <p:sp>
        <p:nvSpPr>
          <p:cNvPr id="9" name="Rectangle 8"/>
          <p:cNvSpPr/>
          <p:nvPr/>
        </p:nvSpPr>
        <p:spPr>
          <a:xfrm>
            <a:off x="7013115" y="1335024"/>
            <a:ext cx="4639083"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59419" y="1335024"/>
            <a:ext cx="434647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по нему можно утверждать</a:t>
            </a:r>
          </a:p>
        </p:txBody>
      </p:sp>
      <p:sp>
        <p:nvSpPr>
          <p:cNvPr id="11" name="Rectangle 10"/>
          <p:cNvSpPr/>
          <p:nvPr/>
        </p:nvSpPr>
        <p:spPr>
          <a:xfrm>
            <a:off x="539496" y="1763984"/>
            <a:ext cx="2695986" cy="693329"/>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63984"/>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рандомизированное испытание</a:t>
            </a:r>
          </a:p>
        </p:txBody>
      </p:sp>
      <p:sp>
        <p:nvSpPr>
          <p:cNvPr id="13" name="Rectangle 12"/>
          <p:cNvSpPr/>
          <p:nvPr/>
        </p:nvSpPr>
        <p:spPr>
          <a:xfrm>
            <a:off x="3235482" y="1763984"/>
            <a:ext cx="3777633" cy="69332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381786" y="1763984"/>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участников развели по группам жребием</a:t>
            </a:r>
          </a:p>
        </p:txBody>
      </p:sp>
      <p:sp>
        <p:nvSpPr>
          <p:cNvPr id="15" name="Rectangle 14"/>
          <p:cNvSpPr/>
          <p:nvPr/>
        </p:nvSpPr>
        <p:spPr>
          <a:xfrm>
            <a:off x="7013115" y="1763984"/>
            <a:ext cx="4639083" cy="69332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59419" y="1763984"/>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разницу между группами можно отнести к вмешательству</a:t>
            </a:r>
          </a:p>
        </p:txBody>
      </p:sp>
      <p:sp>
        <p:nvSpPr>
          <p:cNvPr id="17" name="Rectangle 16"/>
          <p:cNvSpPr/>
          <p:nvPr/>
        </p:nvSpPr>
        <p:spPr>
          <a:xfrm>
            <a:off x="539496" y="2457314"/>
            <a:ext cx="2695986" cy="693329"/>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457314"/>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проспективное наблюдение</a:t>
            </a:r>
          </a:p>
        </p:txBody>
      </p:sp>
      <p:sp>
        <p:nvSpPr>
          <p:cNvPr id="19" name="Rectangle 18"/>
          <p:cNvSpPr/>
          <p:nvPr/>
        </p:nvSpPr>
        <p:spPr>
          <a:xfrm>
            <a:off x="3235482" y="2457314"/>
            <a:ext cx="3777633" cy="693329"/>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381786" y="2457314"/>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следили вперёд и дождались исхода</a:t>
            </a:r>
          </a:p>
        </p:txBody>
      </p:sp>
      <p:sp>
        <p:nvSpPr>
          <p:cNvPr id="21" name="Rectangle 20"/>
          <p:cNvSpPr/>
          <p:nvPr/>
        </p:nvSpPr>
        <p:spPr>
          <a:xfrm>
            <a:off x="7013115" y="2457314"/>
            <a:ext cx="4639083" cy="69332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59419" y="2457314"/>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что произошло — да; из-за чего — с оговоркой</a:t>
            </a:r>
          </a:p>
        </p:txBody>
      </p:sp>
      <p:sp>
        <p:nvSpPr>
          <p:cNvPr id="23" name="Rectangle 22"/>
          <p:cNvSpPr/>
          <p:nvPr/>
        </p:nvSpPr>
        <p:spPr>
          <a:xfrm>
            <a:off x="539496" y="3150643"/>
            <a:ext cx="2695986" cy="693329"/>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150643"/>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ретроспективный срез</a:t>
            </a:r>
          </a:p>
        </p:txBody>
      </p:sp>
      <p:sp>
        <p:nvSpPr>
          <p:cNvPr id="25" name="Rectangle 24"/>
          <p:cNvSpPr/>
          <p:nvPr/>
        </p:nvSpPr>
        <p:spPr>
          <a:xfrm>
            <a:off x="3235482" y="3150643"/>
            <a:ext cx="3777633" cy="693329"/>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381786" y="3150643"/>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посмотрели назад по уже собранным записям</a:t>
            </a:r>
          </a:p>
        </p:txBody>
      </p:sp>
      <p:sp>
        <p:nvSpPr>
          <p:cNvPr id="27" name="Rectangle 26"/>
          <p:cNvSpPr/>
          <p:nvPr/>
        </p:nvSpPr>
        <p:spPr>
          <a:xfrm>
            <a:off x="7013115" y="3150643"/>
            <a:ext cx="4639083" cy="693329"/>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59419" y="3150643"/>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связь — да; направление связи — нет</a:t>
            </a:r>
          </a:p>
        </p:txBody>
      </p:sp>
      <p:sp>
        <p:nvSpPr>
          <p:cNvPr id="29" name="Rectangle 28"/>
          <p:cNvSpPr/>
          <p:nvPr/>
        </p:nvSpPr>
        <p:spPr>
          <a:xfrm>
            <a:off x="539496" y="3843972"/>
            <a:ext cx="2695986" cy="428960"/>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843972"/>
            <a:ext cx="2403378"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пересказ в обзоре</a:t>
            </a:r>
          </a:p>
        </p:txBody>
      </p:sp>
      <p:sp>
        <p:nvSpPr>
          <p:cNvPr id="31" name="Rectangle 30"/>
          <p:cNvSpPr/>
          <p:nvPr/>
        </p:nvSpPr>
        <p:spPr>
          <a:xfrm>
            <a:off x="3235482" y="3843972"/>
            <a:ext cx="3777633" cy="428960"/>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381786" y="3843972"/>
            <a:ext cx="348502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число дошло через чужой текст</a:t>
            </a:r>
          </a:p>
        </p:txBody>
      </p:sp>
      <p:sp>
        <p:nvSpPr>
          <p:cNvPr id="33" name="Rectangle 32"/>
          <p:cNvSpPr/>
          <p:nvPr/>
        </p:nvSpPr>
        <p:spPr>
          <a:xfrm>
            <a:off x="7013115" y="3843972"/>
            <a:ext cx="4639083" cy="428960"/>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59419" y="3843972"/>
            <a:ext cx="434647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ничего, пока не открыт первоисточник</a:t>
            </a:r>
          </a:p>
        </p:txBody>
      </p:sp>
      <p:sp>
        <p:nvSpPr>
          <p:cNvPr id="35" name="Rectangle 34"/>
          <p:cNvSpPr/>
          <p:nvPr/>
        </p:nvSpPr>
        <p:spPr>
          <a:xfrm>
            <a:off x="539496" y="4272933"/>
            <a:ext cx="2695986" cy="69332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272933"/>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самоотчёт</a:t>
            </a:r>
          </a:p>
        </p:txBody>
      </p:sp>
      <p:sp>
        <p:nvSpPr>
          <p:cNvPr id="37" name="Rectangle 36"/>
          <p:cNvSpPr/>
          <p:nvPr/>
        </p:nvSpPr>
        <p:spPr>
          <a:xfrm>
            <a:off x="3235482" y="4272933"/>
            <a:ext cx="3777633" cy="693329"/>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3381786" y="4272933"/>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человек сам сказал, сколько и как он работает</a:t>
            </a:r>
          </a:p>
        </p:txBody>
      </p:sp>
      <p:sp>
        <p:nvSpPr>
          <p:cNvPr id="39" name="Rectangle 38"/>
          <p:cNvSpPr/>
          <p:nvPr/>
        </p:nvSpPr>
        <p:spPr>
          <a:xfrm>
            <a:off x="7013115" y="4272933"/>
            <a:ext cx="4639083" cy="693329"/>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59419" y="4272933"/>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то, что он думает о своей работе</a:t>
            </a:r>
          </a:p>
        </p:txBody>
      </p:sp>
      <p:sp>
        <p:nvSpPr>
          <p:cNvPr id="41" name="TextBox 40"/>
          <p:cNvSpPr txBox="1"/>
          <p:nvPr/>
        </p:nvSpPr>
        <p:spPr>
          <a:xfrm>
            <a:off x="539496" y="5112566"/>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Разряд называется вместе с числом. Выше своего разряда число не утверждает ничего — к своим числам лекция применяет это правило тоже.</a:t>
            </a:r>
          </a:p>
        </p:txBody>
      </p:sp>
      <p:sp>
        <p:nvSpPr>
          <p:cNvPr id="42" name="TextBox 41"/>
          <p:cNvSpPr txBox="1"/>
          <p:nvPr/>
        </p:nvSpPr>
        <p:spPr>
          <a:xfrm>
            <a:off x="539496" y="5863052"/>
            <a:ext cx="11112703" cy="292345"/>
          </a:xfrm>
          <a:prstGeom prst="rect">
            <a:avLst/>
          </a:prstGeom>
          <a:noFill/>
        </p:spPr>
        <p:txBody>
          <a:bodyPr wrap="square" lIns="0" rIns="0" tIns="0" bIns="0" anchor="t">
            <a:spAutoFit/>
          </a:bodyPr>
          <a:lstStyle/>
          <a:p>
            <a:pPr algn="l">
              <a:lnSpc>
                <a:spcPct val="124000"/>
              </a:lnSpc>
            </a:pPr>
            <a:r>
              <a:rPr sz="1500" b="0" i="1">
                <a:solidFill>
                  <a:srgbClr val="1C7293"/>
                </a:solidFill>
                <a:latin typeface="Arial"/>
              </a:rPr>
              <a:t>Это про устройство опыта; ступень участия — другая разметка.</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отбора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7555410" cy="3108959"/>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Женщине пятьдесят четыре года, она ничего не чувствует и ни на что не жаловалась. Письмо пришло потому, что программа зовёт всех женщин этого возраста.</a:t>
            </a:r>
          </a:p>
          <a:p>
            <a:pPr algn="l">
              <a:lnSpc>
                <a:spcPct val="126000"/>
              </a:lnSpc>
              <a:spcBef>
                <a:spcPts val="700"/>
              </a:spcBef>
            </a:pPr>
            <a:r>
              <a:rPr sz="1250" b="0" i="0">
                <a:solidFill>
                  <a:srgbClr val="21295C"/>
                </a:solidFill>
                <a:latin typeface="Arial"/>
              </a:rPr>
              <a:t/>
            </a:r>
            <a:r>
              <a:rPr sz="1250" b="0" i="0">
                <a:solidFill>
                  <a:srgbClr val="21295C"/>
                </a:solidFill>
                <a:latin typeface="Arial"/>
              </a:rPr>
              <a:t>• Снимок делает лаборант</a:t>
            </a:r>
          </a:p>
          <a:p>
            <a:pPr algn="l">
              <a:lnSpc>
                <a:spcPct val="126000"/>
              </a:lnSpc>
              <a:spcBef>
                <a:spcPts val="700"/>
              </a:spcBef>
            </a:pPr>
            <a:r>
              <a:rPr sz="1250" b="0" i="0">
                <a:solidFill>
                  <a:srgbClr val="21295C"/>
                </a:solidFill>
                <a:latin typeface="Arial"/>
              </a:rPr>
              <a:t/>
            </a:r>
            <a:r>
              <a:rPr sz="1250" b="0" i="0">
                <a:solidFill>
                  <a:srgbClr val="21295C"/>
                </a:solidFill>
                <a:latin typeface="Arial"/>
              </a:rPr>
              <a:t>• Читают двое рентгенологов: её они не видели и между собой о ней не говорят</a:t>
            </a:r>
          </a:p>
          <a:p>
            <a:pPr algn="l">
              <a:lnSpc>
                <a:spcPct val="126000"/>
              </a:lnSpc>
              <a:spcBef>
                <a:spcPts val="700"/>
              </a:spcBef>
            </a:pPr>
            <a:r>
              <a:rPr sz="1250" b="0" i="0">
                <a:solidFill>
                  <a:srgbClr val="21295C"/>
                </a:solidFill>
                <a:latin typeface="Arial"/>
              </a:rPr>
              <a:t/>
            </a:r>
            <a:r>
              <a:rPr sz="1250" b="0" i="0">
                <a:solidFill>
                  <a:srgbClr val="21295C"/>
                </a:solidFill>
                <a:latin typeface="Arial"/>
              </a:rPr>
              <a:t>• Разошлись — снимок уходит третьему</a:t>
            </a:r>
          </a:p>
          <a:p>
            <a:pPr algn="l">
              <a:lnSpc>
                <a:spcPct val="126000"/>
              </a:lnSpc>
              <a:spcBef>
                <a:spcPts val="700"/>
              </a:spcBef>
            </a:pPr>
            <a:r>
              <a:rPr sz="1250" b="0" i="0">
                <a:solidFill>
                  <a:srgbClr val="21295C"/>
                </a:solidFill>
                <a:latin typeface="Arial"/>
              </a:rPr>
              <a:t/>
            </a:r>
            <a:r>
              <a:rPr sz="1250" b="0" i="0">
                <a:solidFill>
                  <a:srgbClr val="21295C"/>
                </a:solidFill>
                <a:latin typeface="Arial"/>
              </a:rPr>
              <a:t>• Через несколько недель приходит письмо «норма» либо звонок на дообследование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Семь действий стадии.</a:t>
            </a:r>
            <a:r>
              <a:rPr sz="1250" b="0" i="0">
                <a:solidFill>
                  <a:srgbClr val="21295C"/>
                </a:solidFill>
                <a:latin typeface="Arial"/>
              </a:rPr>
              <a:t> 1. Назначить порог · 2. Позвать по списку · 3. Снять исследование · 4. Прочесть двоим независимо · 5. Разрешить расхождение третьим · 6. Сообщить исход · 7. Отсортировать пришедших без приглашения.</a:t>
            </a:r>
          </a:p>
          <a:p>
            <a:pPr algn="l">
              <a:lnSpc>
                <a:spcPct val="126000"/>
              </a:lnSpc>
              <a:spcBef>
                <a:spcPts val="700"/>
              </a:spcBef>
            </a:pPr>
            <a:r>
              <a:rPr sz="1250" b="0" i="0">
                <a:solidFill>
                  <a:srgbClr val="21295C"/>
                </a:solidFill>
                <a:latin typeface="Arial"/>
              </a:rPr>
              <a:t/>
            </a:r>
            <a:r>
              <a:rPr sz="1250" b="1" i="0">
                <a:solidFill>
                  <a:srgbClr val="21295C"/>
                </a:solidFill>
                <a:latin typeface="Arial"/>
              </a:rPr>
              <a:t>Без обученной модели каждое из семи делает человек по записанному правилу.</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 обученной моделью — три шага из семи:</a:t>
            </a:r>
            <a:r>
              <a:rPr sz="1250" b="0" i="0">
                <a:solidFill>
                  <a:srgbClr val="21295C"/>
                </a:solidFill>
                <a:latin typeface="Arial"/>
              </a:rPr>
              <a:t> прочесть · сообщить исход · отсортировать поток. Порог, приглашение, съёмка и арбитраж остались людям. </a:t>
            </a:r>
            <a:r>
              <a:rPr sz="1250" b="1" i="0">
                <a:solidFill>
                  <a:srgbClr val="21295C"/>
                </a:solidFill>
                <a:latin typeface="Arial"/>
              </a:rPr>
              <a:t>Новый шаг — добыть годный снимок.</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порядка работы.</a:t>
            </a:r>
            <a:r>
              <a:rPr sz="1250" b="0" i="0">
                <a:solidFill>
                  <a:srgbClr val="21295C"/>
                </a:solidFill>
                <a:latin typeface="Arial"/>
              </a:rPr>
              <a:t> Скрининг — зовут тех, у кого жалоб нет, по признаку группы · обращение по симптому — человек пришёл сам, и ведёт его жалоба · сортировка потока — кого из обратившихся смотреть первым.</a:t>
            </a:r>
          </a:p>
          <a:p>
            <a:pPr algn="l">
              <a:lnSpc>
                <a:spcPct val="126000"/>
              </a:lnSpc>
              <a:spcBef>
                <a:spcPts val="700"/>
              </a:spcBef>
            </a:pPr>
            <a:r>
              <a:rPr sz="1250" b="0" i="0">
                <a:solidFill>
                  <a:srgbClr val="21295C"/>
                </a:solidFill>
                <a:latin typeface="Arial"/>
              </a:rPr>
              <a:t/>
            </a:r>
            <a:r>
              <a:rPr sz="125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7" name="Rounded Rectangle 6"/>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8" name="Picture 7"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9" name="Rectangle 8"/>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Снимок страницы: программа скрининга молочной железы NHS England, раздел «кого зовут», GOV.UK, снято 13 октября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первый: звать по возрасту и интервалу</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ЛОЖНЫЙ ВЫЗОВ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93884"/>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и интервал назначены раньше, чем кто-либо измерил точность прибора.</a:t>
            </a:r>
          </a:p>
        </p:txBody>
      </p:sp>
      <p:sp>
        <p:nvSpPr>
          <p:cNvPr id="14" name="TextBox 13"/>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За ложным вызовом стоят повторный снимок, иногда биопсия и недели, которые человек живёт с открытым вопросом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Счёт цены пропуска предъявляется в контрольной линии: там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Порог назначает тот, кто решил, что хуже — пропустить или позвать лишнего</a:t>
            </a:r>
          </a:p>
        </p:txBody>
      </p:sp>
      <p:sp>
        <p:nvSpPr>
          <p:cNvPr id="15" name="Rectangle 14"/>
          <p:cNvSpPr/>
          <p:nvPr/>
        </p:nvSpPr>
        <p:spPr>
          <a:xfrm>
            <a:off x="6091275" y="3285324"/>
            <a:ext cx="9144" cy="22572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Рандомизированное исследование шведской программы скрининга, контрольная группа — промежуточные данные 2023</a:t>
            </a:r>
            <a:r>
              <a:rPr sz="1200" b="0" i="1">
                <a:solidFill>
                  <a:srgbClr val="1C7293"/>
                </a:solidFill>
                <a:latin typeface="Arial"/>
              </a:rPr>
              <a:t> · </a:t>
            </a:r>
            <a:r>
              <a:rPr sz="1200" b="0" i="1" u="sng">
                <a:solidFill>
                  <a:srgbClr val="065A82"/>
                </a:solidFill>
                <a:latin typeface="Arial"/>
                <a:hlinkClick r:id="rId3"/>
              </a:rPr>
              <a:t>итоговые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второй: ждать жалобу</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ПРИГЛАШЕНИЯ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 случай из 159 — стадия II и выше</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ПРИГЛАШЕНИЕМ</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62 случая из 160 — та же единица, другая группа того же испытания</a:t>
            </a:r>
          </a:p>
        </p:txBody>
      </p:sp>
      <p:sp>
        <p:nvSpPr>
          <p:cNvPr id="12" name="Rounded Rectangle 11"/>
          <p:cNvSpPr/>
          <p:nvPr/>
        </p:nvSpPr>
        <p:spPr>
          <a:xfrm>
            <a:off x="374904" y="2592217"/>
            <a:ext cx="11441887" cy="2650372"/>
          </a:xfrm>
          <a:prstGeom prst="roundRect">
            <a:avLst>
              <a:gd name="adj" fmla="val 1150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Находка приходит позже и стадией крупнее — и это измерено.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База: Мальмёское рандомизированное испытание, распределявшее приглашение случайно; набор шёл с середины семидесятых по середину восьмидесятых</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Доля поздних стадий среди найденных не зависит от того, сколько нашли, — только от того, когда нашли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Поставщик сравнивает систему «с тем, как было раньше» — спрашивайте, какое именно «раньше» он посчитал и в каких единицах.</a:t>
            </a:r>
          </a:p>
        </p:txBody>
      </p:sp>
      <p:sp>
        <p:nvSpPr>
          <p:cNvPr id="15" name="Rectangle 14"/>
          <p:cNvSpPr/>
          <p:nvPr/>
        </p:nvSpPr>
        <p:spPr>
          <a:xfrm>
            <a:off x="6091275" y="2683657"/>
            <a:ext cx="9144" cy="237605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 моделью, то же поле: сортировка потока по предсказанному риску</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ЧЕЛОВЕЧЕСКОГО ЧТЕНИЯ МЕНЬШЕ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80,5 против 73,8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той же программы, 105 934 женщины</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ГЕРМАНСКАЯ ПРОГРАММА — ВЫЯВЛЕНИЕ НА 1000</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моделью · 5,7 без неё</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463 094 женщины, 260 739 с моделью; внедрение наблюдательное</a:t>
            </a:r>
          </a:p>
        </p:txBody>
      </p:sp>
      <p:sp>
        <p:nvSpPr>
          <p:cNvPr id="16" name="Rounded Rectangle 15"/>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Испытание со случайным распределением: одно плечо читает по-прежнему, во втором модель сортирует поток по риску.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Два числа взяты с разных выборок и в один список не складываются:</a:t>
            </a:r>
            <a:r>
              <a:rPr sz="1350" b="0" i="0">
                <a:solidFill>
                  <a:srgbClr val="21295C"/>
                </a:solidFill>
                <a:latin typeface="Arial"/>
              </a:rPr>
              <a:t> объём чтения — промежуточный анализ, чувствительность — итоговый.</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Второго независимого человека большинство обследованных больше не получает.</a:t>
            </a:r>
            <a:r>
              <a:rPr sz="1350" b="0" i="0">
                <a:solidFill>
                  <a:srgbClr val="21295C"/>
                </a:solidFill>
                <a:latin typeface="Arial"/>
              </a:rPr>
              <a:t> Цена здесь — свойство устройства процедуры. К точности прибора она не относится.</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Охват публикуют, устройство работы —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 Германская программа: как работа распределилась между моделью и вторым читателем, не опубликовано</a:t>
            </a:r>
          </a:p>
          <a:p>
            <a:pPr algn="l">
              <a:lnSpc>
                <a:spcPct val="126000"/>
              </a:lnSpc>
              <a:spcBef>
                <a:spcPts val="700"/>
              </a:spcBef>
            </a:pPr>
            <a:r>
              <a:rPr sz="1350" b="0" i="0">
                <a:solidFill>
                  <a:srgbClr val="21295C"/>
                </a:solidFill>
                <a:latin typeface="Arial"/>
              </a:rPr>
              <a:t/>
            </a:r>
            <a:r>
              <a:rPr sz="1350" b="0" i="0">
                <a:solidFill>
                  <a:srgbClr val="21295C"/>
                </a:solidFill>
                <a:latin typeface="Arial"/>
              </a:rPr>
              <a:t>• Отечественная платформа лучевой диагностики — свыше </a:t>
            </a:r>
            <a:r>
              <a:rPr sz="1350" b="1" i="0">
                <a:solidFill>
                  <a:srgbClr val="21295C"/>
                </a:solidFill>
                <a:latin typeface="Arial"/>
              </a:rPr>
              <a:t>16 млн</a:t>
            </a:r>
            <a:r>
              <a:rPr sz="1350" b="0" i="0">
                <a:solidFill>
                  <a:srgbClr val="21295C"/>
                </a:solidFill>
                <a:latin typeface="Arial"/>
              </a:rPr>
              <a:t> исследований в </a:t>
            </a:r>
            <a:r>
              <a:rPr sz="1350" b="1" i="0">
                <a:solidFill>
                  <a:srgbClr val="21295C"/>
                </a:solidFill>
                <a:latin typeface="Arial"/>
              </a:rPr>
              <a:t>75 регионах</a:t>
            </a:r>
            <a:r>
              <a:rPr sz="1350" b="0" i="0">
                <a:solidFill>
                  <a:srgbClr val="21295C"/>
                </a:solidFill>
                <a:latin typeface="Arial"/>
              </a:rPr>
              <a:t>; методика подсчёта не раскрыта</a:t>
            </a:r>
          </a:p>
          <a:p>
            <a:pPr algn="l">
              <a:lnSpc>
                <a:spcPct val="126000"/>
              </a:lnSpc>
              <a:spcBef>
                <a:spcPts val="700"/>
              </a:spcBef>
            </a:pPr>
            <a:r>
              <a:rPr sz="1350" b="0" i="0">
                <a:solidFill>
                  <a:srgbClr val="21295C"/>
                </a:solidFill>
                <a:latin typeface="Arial"/>
              </a:rPr>
              <a:t/>
            </a:r>
            <a:r>
              <a:rPr sz="1350" b="0" i="0">
                <a:solidFill>
                  <a:srgbClr val="21295C"/>
                </a:solidFill>
                <a:latin typeface="Arial"/>
              </a:rPr>
              <a:t>• Сколько исследований в стране за год — не опубликовано: доля охвата не считается</a:t>
            </a:r>
          </a:p>
          <a:p>
            <a:pPr algn="l">
              <a:lnSpc>
                <a:spcPct val="126000"/>
              </a:lnSpc>
              <a:spcBef>
                <a:spcPts val="700"/>
              </a:spcBef>
            </a:pPr>
            <a:r>
              <a:rPr sz="1100" b="0" i="0">
                <a:solidFill>
                  <a:srgbClr val="21295C"/>
                </a:solidFill>
                <a:latin typeface="Arial"/>
              </a:rPr>
              <a:t/>
            </a:r>
            <a:r>
              <a:rPr sz="1100" b="0" i="1">
                <a:solidFill>
                  <a:srgbClr val="1C7293"/>
                </a:solidFill>
                <a:latin typeface="Arial"/>
              </a:rPr>
              <a:t>В Швеции второго читателя заменили, в Германии сохранили: одна фраза «внедрили модель в скрининг» означает две разные процедуры.</a:t>
            </a:r>
          </a:p>
        </p:txBody>
      </p:sp>
      <p:sp>
        <p:nvSpPr>
          <p:cNvPr id="19" name="Rectangle 18"/>
          <p:cNvSpPr/>
          <p:nvPr/>
        </p:nvSpPr>
        <p:spPr>
          <a:xfrm>
            <a:off x="6091275" y="3492795"/>
            <a:ext cx="9144" cy="266277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промежуточный анализ безопасности</a:t>
            </a:r>
            <a:r>
              <a:rPr sz="1200" b="0" i="1">
                <a:solidFill>
                  <a:srgbClr val="1C7293"/>
                </a:solidFill>
                <a:latin typeface="Arial"/>
              </a:rPr>
              <a:t> · </a:t>
            </a:r>
            <a:r>
              <a:rPr sz="1200" b="0" i="1" u="sng">
                <a:solidFill>
                  <a:srgbClr val="065A82"/>
                </a:solidFill>
                <a:latin typeface="Arial"/>
                <a:hlinkClick r:id="rId3"/>
              </a:rPr>
              <a:t>итоговый анализ</a:t>
            </a:r>
            <a:r>
              <a:rPr sz="1200" b="0" i="1">
                <a:solidFill>
                  <a:srgbClr val="1C7293"/>
                </a:solidFill>
                <a:latin typeface="Arial"/>
              </a:rPr>
              <a:t> · </a:t>
            </a:r>
            <a:r>
              <a:rPr sz="1200" b="0" i="1" u="sng">
                <a:solidFill>
                  <a:srgbClr val="065A82"/>
                </a:solidFill>
                <a:latin typeface="Arial"/>
                <a:hlinkClick r:id="rId4"/>
              </a:rPr>
              <a:t>Eisemann N. и соавторы, PRAIM, Nature Medicine 2025;31(3):917–924</a:t>
            </a:r>
            <a:r>
              <a:rPr sz="1200" b="0" i="1">
                <a:solidFill>
                  <a:srgbClr val="1C7293"/>
                </a:solidFill>
                <a:latin typeface="Arial"/>
              </a:rPr>
              <a:t> · </a:t>
            </a:r>
            <a:r>
              <a:rPr sz="12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ЭКЗАМЕНАЦИОННЫХ ВОПРОСАХ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вопросы для начинающих врачей; коллегия назвала заявления сомнительными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НЕЗАВИСИМЫЙ ТЕСТ ГОДОМ РАНЬШЕ</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в сортировке обращений: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пропустить того, кому нужно сейчас</a:t>
            </a:r>
          </a:p>
          <a:p>
            <a:pPr algn="l">
              <a:lnSpc>
                <a:spcPct val="126000"/>
              </a:lnSpc>
              <a:spcBef>
                <a:spcPts val="700"/>
              </a:spcBef>
            </a:pPr>
            <a:r>
              <a:rPr sz="1500" b="0" i="0">
                <a:solidFill>
                  <a:srgbClr val="21295C"/>
                </a:solidFill>
                <a:latin typeface="Arial"/>
              </a:rPr>
              <a:t/>
            </a:r>
            <a:r>
              <a:rPr sz="1500" b="0" i="0">
                <a:solidFill>
                  <a:srgbClr val="21295C"/>
                </a:solidFill>
                <a:latin typeface="Arial"/>
              </a:rPr>
              <a:t>• занять приём тем, кому не нужно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и цена самого канала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Вместо модели предъявили экзаменационный балл, а он основанием не служит:</a:t>
            </a:r>
            <a:r>
              <a:rPr sz="1500" b="0" i="0">
                <a:solidFill>
                  <a:srgbClr val="21295C"/>
                </a:solidFill>
                <a:latin typeface="Arial"/>
              </a:rPr>
              <a:t> вопрос экзамена приходит сформулированным, живое обращение — нет.</a:t>
            </a:r>
          </a:p>
        </p:txBody>
      </p:sp>
      <p:sp>
        <p:nvSpPr>
          <p:cNvPr id="13" name="TextBox 12"/>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Уберите модель — и сервис продолжит работать.</a:t>
            </a:r>
            <a:r>
              <a:rPr sz="1500" b="0" i="0">
                <a:solidFill>
                  <a:srgbClr val="21295C"/>
                </a:solidFill>
                <a:latin typeface="Arial"/>
              </a:rPr>
              <a:t> Внутри, по заявлению бывшего руководителя регуляторных вопросов компании, стояло дерево решений если-то, собранное в таблице.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Слова участника; аудита не было.</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поиск с генерацией на тексте</a:t>
            </a:r>
            <a:r>
              <a:rPr sz="1500" b="0" i="0">
                <a:solidFill>
                  <a:srgbClr val="21295C"/>
                </a:solidFill>
                <a:latin typeface="Arial"/>
              </a:rPr>
              <a:t>: запись приёма под диктовку принимается, сортировка обращения после этого случая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Редкое от частого в открытом потоке этот режим не отличает.</a:t>
            </a:r>
          </a:p>
        </p:txBody>
      </p:sp>
      <p:sp>
        <p:nvSpPr>
          <p:cNvPr id="14" name="Rectangle 13"/>
          <p:cNvSpPr/>
          <p:nvPr/>
        </p:nvSpPr>
        <p:spPr>
          <a:xfrm>
            <a:off x="6091275" y="2894901"/>
            <a:ext cx="9144" cy="3177899"/>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Независимый сравнительный тест, 2017</a:t>
            </a:r>
            <a:r>
              <a:rPr sz="1200" b="0" i="1">
                <a:solidFill>
                  <a:srgbClr val="1C7293"/>
                </a:solidFill>
                <a:latin typeface="Arial"/>
              </a:rPr>
              <a:t> · </a:t>
            </a:r>
            <a:r>
              <a:rPr sz="12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та же сумма на выросшее число обращений</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a:t>
            </a:r>
          </a:p>
        </p:txBody>
      </p:sp>
      <p:sp>
        <p:nvSpPr>
          <p:cNvPr id="6" name="TextBox 5"/>
          <p:cNvSpPr txBox="1"/>
          <p:nvPr/>
        </p:nvSpPr>
        <p:spPr>
          <a:xfrm>
            <a:off x="640080" y="1725375"/>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57923"/>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2018/19; от числа обращений не зависит</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КЛАССИЧЕСКИ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3,26 у 15–24 лет; работа 2016 года</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В СЕРВИСЕ</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по двенадцати месяцам, с экстраполяцией</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ИТОГ</a:t>
            </a:r>
          </a:p>
        </p:txBody>
      </p:sp>
      <p:sp>
        <p:nvSpPr>
          <p:cNvPr id="18" name="TextBox 17"/>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8632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валюты рядом: доллары и фунты</a:t>
            </a:r>
          </a:p>
        </p:txBody>
      </p:sp>
      <p:sp>
        <p:nvSpPr>
          <p:cNvPr id="20" name="Rounded Rectangle 19"/>
          <p:cNvSpPr/>
          <p:nvPr/>
        </p:nvSpPr>
        <p:spPr>
          <a:xfrm>
            <a:off x="374904" y="3193884"/>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Сумма за человека в год фиксирована, число обращений выросло.</a:t>
            </a:r>
            <a:r>
              <a:rPr sz="1500" b="0" i="0">
                <a:solidFill>
                  <a:srgbClr val="21295C"/>
                </a:solidFill>
                <a:latin typeface="Arial"/>
              </a:rPr>
              <a:t> Делим одно на другое — на каждое обращение приходится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Возрасты взяты не средние по стране: сервис почти целиком состоял из молодых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Двигатель переезда — доступность канала: вход стал мгновенным и бесплатным, и обращений стало больше</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и платить за это стало некому.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сортировку круглосуточно и мгновенно · </a:t>
            </a:r>
            <a:r>
              <a:rPr sz="1500" b="1" i="0">
                <a:solidFill>
                  <a:srgbClr val="21295C"/>
                </a:solidFill>
                <a:latin typeface="Arial"/>
              </a:rPr>
              <a:t>потребовало</a:t>
            </a:r>
            <a:r>
              <a:rPr sz="1500" b="0" i="0">
                <a:solidFill>
                  <a:srgbClr val="21295C"/>
                </a:solidFill>
                <a:latin typeface="Arial"/>
              </a:rPr>
              <a:t> экономики в минус на каждом пациенте и дало случай нераспознанных симптомов · </a:t>
            </a:r>
            <a:r>
              <a:rPr sz="1500" b="1" i="0">
                <a:solidFill>
                  <a:srgbClr val="21295C"/>
                </a:solidFill>
                <a:latin typeface="Arial"/>
              </a:rPr>
              <a:t>в сумме хуже</a:t>
            </a:r>
            <a:r>
              <a:rPr sz="1500" b="0" i="0">
                <a:solidFill>
                  <a:srgbClr val="21295C"/>
                </a:solidFill>
                <a:latin typeface="Arial"/>
              </a:rPr>
              <a:t>: банкротство в августе 2023 года, активы проданы за малую долю оценки</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3" name="Rectangle 22"/>
          <p:cNvSpPr/>
          <p:nvPr/>
        </p:nvSpPr>
        <p:spPr>
          <a:xfrm>
            <a:off x="6091275" y="3285324"/>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независимый отчёт об оценке сервиса, 2019</a:t>
            </a:r>
            <a:r>
              <a:rPr sz="1200" b="0" i="1">
                <a:solidFill>
                  <a:srgbClr val="1C7293"/>
                </a:solidFill>
                <a:latin typeface="Arial"/>
              </a:rPr>
              <a:t> · </a:t>
            </a:r>
            <a:r>
              <a:rPr sz="1200" b="0" i="1">
                <a:solidFill>
                  <a:srgbClr val="1C7293"/>
                </a:solidFill>
                <a:latin typeface="Arial"/>
              </a:rPr>
              <a:t>статистика выплат национальной службы, 2018/19</a:t>
            </a:r>
            <a:r>
              <a:rPr sz="1200" b="0" i="1">
                <a:solidFill>
                  <a:srgbClr val="1C7293"/>
                </a:solidFill>
                <a:latin typeface="Arial"/>
              </a:rPr>
              <a:t> · </a:t>
            </a:r>
            <a:r>
              <a:rPr sz="1200" b="0" i="1">
                <a:solidFill>
                  <a:srgbClr val="1C7293"/>
                </a:solidFill>
                <a:latin typeface="Arial"/>
              </a:rPr>
              <a:t>материалы о банкротстве,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380070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СПЕЦИАЛИСТА</a:t>
            </a:r>
          </a:p>
        </p:txBody>
      </p:sp>
      <p:sp>
        <p:nvSpPr>
          <p:cNvPr id="6" name="TextBox 5"/>
          <p:cNvSpPr txBox="1"/>
          <p:nvPr/>
        </p:nvSpPr>
        <p:spPr>
          <a:xfrm>
            <a:off x="640080" y="1725375"/>
            <a:ext cx="352638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52374"/>
            <a:ext cx="352638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подростки 8–21 года, 81 против 83</a:t>
            </a:r>
          </a:p>
        </p:txBody>
      </p:sp>
      <p:sp>
        <p:nvSpPr>
          <p:cNvPr id="8" name="Rounded Rectangle 7"/>
          <p:cNvSpPr/>
          <p:nvPr/>
        </p:nvSpPr>
        <p:spPr>
          <a:xfrm>
            <a:off x="4468215" y="1335024"/>
            <a:ext cx="3800703"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605375"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ТЕСТА НА МЕСТЕ</a:t>
            </a:r>
          </a:p>
        </p:txBody>
      </p:sp>
      <p:sp>
        <p:nvSpPr>
          <p:cNvPr id="10" name="TextBox 9"/>
          <p:cNvSpPr txBox="1"/>
          <p:nvPr/>
        </p:nvSpPr>
        <p:spPr>
          <a:xfrm>
            <a:off x="4605375" y="1725375"/>
            <a:ext cx="352638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4605375" y="2152374"/>
            <a:ext cx="352638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того же испытания</a:t>
            </a:r>
          </a:p>
        </p:txBody>
      </p:sp>
      <p:sp>
        <p:nvSpPr>
          <p:cNvPr id="12" name="TextBox 11"/>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офтальмологу</a:t>
            </a:r>
          </a:p>
        </p:txBody>
      </p:sp>
      <p:sp>
        <p:nvSpPr>
          <p:cNvPr id="15" name="Right Arrow 14"/>
          <p:cNvSpPr/>
          <p:nvPr/>
        </p:nvSpPr>
        <p:spPr>
          <a:xfrm>
            <a:off x="3899306" y="318284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127906"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210202"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6106972" y="318284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335572"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417868"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7908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3899306" y="4042188"/>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127906"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210202"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6106972" y="4042188"/>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335572"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6417868"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503865"/>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от снимка до решения</a:t>
            </a:r>
          </a:p>
        </p:txBody>
      </p:sp>
      <p:sp>
        <p:nvSpPr>
          <p:cNvPr id="31" name="Rounded Rectangle 30"/>
          <p:cNvSpPr/>
          <p:nvPr/>
        </p:nvSpPr>
        <p:spPr>
          <a:xfrm>
            <a:off x="374904" y="4806548"/>
            <a:ext cx="11441887" cy="1429659"/>
          </a:xfrm>
          <a:prstGeom prst="roundRect">
            <a:avLst>
              <a:gd name="adj" fmla="val 21319"/>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897988"/>
            <a:ext cx="11112703" cy="13382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Выигрыш здесь измерен явкой.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Классический режим</a:t>
            </a:r>
            <a:r>
              <a:rPr sz="1350" b="0" i="0">
                <a:solidFill>
                  <a:srgbClr val="21295C"/>
                </a:solidFill>
                <a:latin typeface="Arial"/>
              </a:rPr>
              <a:t> — раз в год человек с диабетом идёт к специалисту отдельным визитом.</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a:t>
            </a:r>
            <a:r>
              <a:rPr sz="1350" b="0" i="0">
                <a:solidFill>
                  <a:srgbClr val="21295C"/>
                </a:solidFill>
                <a:latin typeface="Arial"/>
              </a:rPr>
              <a:t> — снимок делает медсестра, решение «направить или нет» выносится на месте меньше минуты.</a:t>
            </a:r>
          </a:p>
          <a:p>
            <a:pPr algn="l">
              <a:lnSpc>
                <a:spcPct val="126000"/>
              </a:lnSpc>
              <a:spcBef>
                <a:spcPts val="700"/>
              </a:spcBef>
            </a:pPr>
            <a:r>
              <a:rPr sz="1350" b="0" i="0">
                <a:solidFill>
                  <a:srgbClr val="21295C"/>
                </a:solidFill>
                <a:latin typeface="Arial"/>
              </a:rPr>
              <a:t/>
            </a:r>
            <a:r>
              <a:rPr sz="1350" b="0" i="0">
                <a:solidFill>
                  <a:srgbClr val="21295C"/>
                </a:solidFill>
                <a:latin typeface="Arial"/>
              </a:rPr>
              <a:t>• Второй шаг: из 25 с отклонением до офтальмолога дошли 16 — </a:t>
            </a:r>
            <a:r>
              <a:rPr sz="1350" b="1" i="0">
                <a:solidFill>
                  <a:srgbClr val="21295C"/>
                </a:solidFill>
                <a:latin typeface="Arial"/>
              </a:rPr>
              <a:t>64 из ста против 22 в контроле</a:t>
            </a:r>
          </a:p>
        </p:txBody>
      </p:sp>
      <p:sp>
        <p:nvSpPr>
          <p:cNvPr id="33" name="Rounded Rectangle 32"/>
          <p:cNvSpPr/>
          <p:nvPr/>
        </p:nvSpPr>
        <p:spPr>
          <a:xfrm>
            <a:off x="8579815" y="1335024"/>
            <a:ext cx="3108960" cy="2159650"/>
          </a:xfrm>
          <a:prstGeom prst="roundRect">
            <a:avLst>
              <a:gd name="adj" fmla="val 14113"/>
            </a:avLst>
          </a:prstGeom>
          <a:solidFill>
            <a:srgbClr val="F4F7FA"/>
          </a:solidFill>
          <a:ln w="19050">
            <a:solidFill>
              <a:srgbClr val="1C7293"/>
            </a:solidFill>
          </a:ln>
          <a:effectLst/>
        </p:spPr>
        <p:txBody>
          <a:bodyPr rtlCol="0" anchor="ctr"/>
          <a:lstStyle/>
          <a:p>
            <a:pPr algn="ctr"/>
          </a:p>
        </p:txBody>
      </p:sp>
      <p:pic>
        <p:nvPicPr>
          <p:cNvPr id="34" name="Picture 33" descr="s18-fundus-kamera-v-kabinete.jpg"/>
          <p:cNvPicPr>
            <a:picLocks noChangeAspect="1"/>
          </p:cNvPicPr>
          <p:nvPr/>
        </p:nvPicPr>
        <p:blipFill>
          <a:blip r:embed="rId2"/>
          <a:stretch>
            <a:fillRect/>
          </a:stretch>
        </p:blipFill>
        <p:spPr>
          <a:xfrm>
            <a:off x="8716975" y="1472184"/>
            <a:ext cx="2834639" cy="1885330"/>
          </a:xfrm>
          <a:prstGeom prst="rect">
            <a:avLst/>
          </a:prstGeom>
        </p:spPr>
      </p:pic>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 появился шаг</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61820"/>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p:txBody>
      </p:sp>
      <p:sp>
        <p:nvSpPr>
          <p:cNvPr id="15" name="TextBox 14"/>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эти числа в одну бухгалтерию не складываются: другая программа, другой прибор, другая возрастная группа</a:t>
            </a:r>
          </a:p>
        </p:txBody>
      </p:sp>
      <p:sp>
        <p:nvSpPr>
          <p:cNvPr id="16" name="Rectangle 15"/>
          <p:cNvSpPr/>
          <p:nvPr/>
        </p:nvSpPr>
        <p:spPr>
          <a:xfrm>
            <a:off x="6091275" y="3253260"/>
            <a:ext cx="9144" cy="1960166"/>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о допуске первой автономной диагностической системы, 2018</a:t>
            </a:r>
            <a:r>
              <a:rPr sz="1200" b="0" i="1">
                <a:solidFill>
                  <a:srgbClr val="1C7293"/>
                </a:solidFill>
                <a:latin typeface="Arial"/>
              </a:rPr>
              <a:t> · </a:t>
            </a:r>
            <a:r>
              <a:rPr sz="12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Отбор: выигрыш здесь измерен доступом — точности модель не прибавила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объём человеческого чтения снимается там, где процедура уже плотная</a:t>
            </a:r>
          </a:p>
          <a:p>
            <a:pPr algn="l">
              <a:lnSpc>
                <a:spcPct val="126000"/>
              </a:lnSpc>
              <a:spcBef>
                <a:spcPts val="700"/>
              </a:spcBef>
            </a:pPr>
            <a:r>
              <a:rPr sz="1300" b="0" i="0">
                <a:solidFill>
                  <a:srgbClr val="21295C"/>
                </a:solidFill>
                <a:latin typeface="Arial"/>
              </a:rPr>
              <a:t/>
            </a:r>
            <a:r>
              <a:rPr sz="1300" b="0" i="0">
                <a:solidFill>
                  <a:srgbClr val="21295C"/>
                </a:solidFill>
                <a:latin typeface="Arial"/>
              </a:rPr>
              <a:t>• решение выносится на месте, и обследование получают те, кто иначе не придёт</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измерен доступом: точности модель здесь не прибавила.</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порог — кого звать и с какого возраста: за этим стоит подпись</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работать в открытом потоке обращений: выигрыша не дал ни один разбор</a:t>
            </a:r>
          </a:p>
          <a:p>
            <a:pPr algn="l">
              <a:lnSpc>
                <a:spcPct val="126000"/>
              </a:lnSpc>
              <a:spcBef>
                <a:spcPts val="700"/>
              </a:spcBef>
            </a:pPr>
            <a:r>
              <a:rPr sz="1300" b="0" i="0">
                <a:solidFill>
                  <a:srgbClr val="21295C"/>
                </a:solidFill>
                <a:latin typeface="Arial"/>
              </a:rPr>
              <a:t/>
            </a:r>
            <a:r>
              <a:rPr sz="1300" b="0" i="0">
                <a:solidFill>
                  <a:srgbClr val="21295C"/>
                </a:solidFill>
                <a:latin typeface="Arial"/>
              </a:rPr>
              <a:t>• отвечать за годность снимка: добывает её человек без профильной подготовки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нагрузка переехала на другой шаг</a:t>
            </a:r>
            <a:r>
              <a:rPr sz="1300" b="0" i="0">
                <a:solidFill>
                  <a:srgbClr val="21295C"/>
                </a:solidFill>
                <a:latin typeface="Arial"/>
              </a:rPr>
              <a:t> — с сортировки на приём, и платить за неё стало некому</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сменился исполнитель</a:t>
            </a:r>
            <a:r>
              <a:rPr sz="1300" b="0" i="0">
                <a:solidFill>
                  <a:srgbClr val="21295C"/>
                </a:solidFill>
                <a:latin typeface="Arial"/>
              </a:rPr>
              <a:t>, и производной формой </a:t>
            </a:r>
            <a:r>
              <a:rPr sz="1300" b="1" i="0">
                <a:solidFill>
                  <a:srgbClr val="21295C"/>
                </a:solidFill>
                <a:latin typeface="Arial"/>
              </a:rPr>
              <a:t>появился шаг</a:t>
            </a:r>
            <a:r>
              <a:rPr sz="1300" b="0" i="0">
                <a:solidFill>
                  <a:srgbClr val="21295C"/>
                </a:solidFill>
                <a:latin typeface="Arial"/>
              </a:rPr>
              <a:t> — добыть годный снимок</a:t>
            </a:r>
          </a:p>
          <a:p>
            <a:pPr algn="l">
              <a:lnSpc>
                <a:spcPct val="126000"/>
              </a:lnSpc>
              <a:spcBef>
                <a:spcPts val="700"/>
              </a:spcBef>
            </a:pPr>
            <a:r>
              <a:rPr sz="1300" b="0" i="0">
                <a:solidFill>
                  <a:srgbClr val="21295C"/>
                </a:solidFill>
                <a:latin typeface="Arial"/>
              </a:rPr>
              <a:t/>
            </a:r>
            <a:r>
              <a:rPr sz="13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порог вмешательства, записанный документом задолго до всякой точности</a:t>
            </a:r>
          </a:p>
          <a:p>
            <a:pPr algn="l">
              <a:lnSpc>
                <a:spcPct val="126000"/>
              </a:lnSpc>
              <a:spcBef>
                <a:spcPts val="700"/>
              </a:spcBef>
            </a:pPr>
            <a:r>
              <a:rPr sz="1300" b="0" i="0">
                <a:solidFill>
                  <a:srgbClr val="21295C"/>
                </a:solidFill>
                <a:latin typeface="Arial"/>
              </a:rPr>
              <a:t/>
            </a:r>
            <a:r>
              <a:rPr sz="1300" b="0" i="0">
                <a:solidFill>
                  <a:srgbClr val="21295C"/>
                </a:solidFill>
                <a:latin typeface="Arial"/>
              </a:rPr>
              <a:t>• двойное чтение и арбитраж — там, где второго читателя не заменили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процедуры, которая проверяла бы отсеянное фильтром,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Дальше поток приходит смещённым: что модель назвала нормой, человек не увидит.</a:t>
            </a:r>
          </a:p>
        </p:txBody>
      </p:sp>
      <p:sp>
        <p:nvSpPr>
          <p:cNvPr id="7" name="Rectangle 6"/>
          <p:cNvSpPr/>
          <p:nvPr/>
        </p:nvSpPr>
        <p:spPr>
          <a:xfrm>
            <a:off x="6091275" y="1335024"/>
            <a:ext cx="9144" cy="483044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24201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4940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781513" y="1335024"/>
            <a:ext cx="246689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2927817" y="1335024"/>
            <a:ext cx="217428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5248403" y="1335024"/>
            <a:ext cx="3337358"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394707" y="1335024"/>
            <a:ext cx="304475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585761" y="1335024"/>
            <a:ext cx="3066437"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32065" y="1335024"/>
            <a:ext cx="277382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242017"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781513" y="1763984"/>
            <a:ext cx="246689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927817" y="1763984"/>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5248403" y="1763984"/>
            <a:ext cx="3337358"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394707" y="1763984"/>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глазное дно без офтальмолога</a:t>
            </a:r>
          </a:p>
        </p:txBody>
      </p:sp>
      <p:sp>
        <p:nvSpPr>
          <p:cNvPr id="19" name="Rectangle 18"/>
          <p:cNvSpPr/>
          <p:nvPr/>
        </p:nvSpPr>
        <p:spPr>
          <a:xfrm>
            <a:off x="8585761" y="1763984"/>
            <a:ext cx="3066437"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32065" y="1763984"/>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242017"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781513" y="2192945"/>
            <a:ext cx="246689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927817" y="2192945"/>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5248403" y="2192945"/>
            <a:ext cx="3337358"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394707" y="2192945"/>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сортировка потока по риску</a:t>
            </a:r>
          </a:p>
        </p:txBody>
      </p:sp>
      <p:sp>
        <p:nvSpPr>
          <p:cNvPr id="27" name="Rectangle 26"/>
          <p:cNvSpPr/>
          <p:nvPr/>
        </p:nvSpPr>
        <p:spPr>
          <a:xfrm>
            <a:off x="8585761" y="2192945"/>
            <a:ext cx="3066437"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32065" y="2192945"/>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242017"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781513" y="2621906"/>
            <a:ext cx="246689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927817" y="2621906"/>
            <a:ext cx="217428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чат-бот первой линии</a:t>
            </a:r>
          </a:p>
        </p:txBody>
      </p:sp>
      <p:sp>
        <p:nvSpPr>
          <p:cNvPr id="33" name="Rectangle 32"/>
          <p:cNvSpPr/>
          <p:nvPr/>
        </p:nvSpPr>
        <p:spPr>
          <a:xfrm>
            <a:off x="5248403" y="2621906"/>
            <a:ext cx="3337358"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394707" y="262190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585761" y="2621906"/>
            <a:ext cx="3066437"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32065" y="262190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242017"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781513" y="3050866"/>
            <a:ext cx="246689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927817" y="3050866"/>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5248403" y="3050866"/>
            <a:ext cx="3337358"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394707" y="305086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585761" y="3050866"/>
            <a:ext cx="3066437"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732065" y="305086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Полужирное — разбор этого раздела, в скобках — кто занял клетку раньше, прочерк — пусто.</a:t>
            </a:r>
            <a:r>
              <a:rPr sz="1500" b="0" i="0">
                <a:solidFill>
                  <a:srgbClr val="21295C"/>
                </a:solidFill>
                <a:latin typeface="Arial"/>
              </a:rPr>
              <a:t> Раздел первый, скобок ещё нет. Занято 3 клетки из 12 показанных — окно курсовой сетки из 42.</a:t>
            </a:r>
          </a:p>
        </p:txBody>
      </p:sp>
      <p:sp>
        <p:nvSpPr>
          <p:cNvPr id="46" name="TextBox 45"/>
          <p:cNvSpPr txBox="1"/>
          <p:nvPr/>
        </p:nvSpPr>
        <p:spPr>
          <a:xfrm>
            <a:off x="539496" y="4376616"/>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Прогноза в разделе нет ни одного:</a:t>
            </a:r>
            <a:r>
              <a:rPr sz="1500" b="0" i="0">
                <a:solidFill>
                  <a:srgbClr val="21295C"/>
                </a:solidFill>
                <a:latin typeface="Arial"/>
              </a:rPr>
              <a:t> кого звать и с каким интервалом — назначено документом; предсказывать здесь нечего.</a:t>
            </a:r>
          </a:p>
        </p:txBody>
      </p:sp>
      <p:sp>
        <p:nvSpPr>
          <p:cNvPr id="47" name="TextBox 46"/>
          <p:cNvSpPr txBox="1"/>
          <p:nvPr/>
        </p:nvSpPr>
        <p:spPr>
          <a:xfrm>
            <a:off x="539496" y="5127102"/>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Девять прочерков, и читать надо их:</a:t>
            </a:r>
            <a:r>
              <a:rPr sz="1500" b="0" i="0">
                <a:solidFill>
                  <a:srgbClr val="21295C"/>
                </a:solidFill>
                <a:latin typeface="Arial"/>
              </a:rPr>
              <a:t> инструмент такого класса в этом разделе искать незачем.</a:t>
            </a:r>
          </a:p>
        </p:txBody>
      </p:sp>
      <p:sp>
        <p:nvSpPr>
          <p:cNvPr id="48" name="TextBox 47"/>
          <p:cNvSpPr txBox="1"/>
          <p:nvPr/>
        </p:nvSpPr>
        <p:spPr>
          <a:xfrm>
            <a:off x="539496" y="5575497"/>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Ни одна занятая клетка не про лечение:</a:t>
            </a:r>
            <a:r>
              <a:rPr sz="1500" b="0" i="0">
                <a:solidFill>
                  <a:srgbClr val="21295C"/>
                </a:solidFill>
                <a:latin typeface="Arial"/>
              </a:rPr>
              <a:t> модель решает, кого посмотрят; что с человеком делать, решают дальше.</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Сетка «тип задачи × данные» — Лекция 1, раздел 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Здесь заключение по измеренному выносит сама система — без человека.</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 каждой доли есть группа, на которой она посчитана: на других людях та же доля означает другое.</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1 классический режим отдельным кадром · 2 упоминания с числом</a:t>
            </a:r>
          </a:p>
        </p:txBody>
      </p:sp>
      <p:sp>
        <p:nvSpPr>
          <p:cNvPr id="11" name="TextBox 10"/>
          <p:cNvSpPr txBox="1"/>
          <p:nvPr/>
        </p:nvSpPr>
        <p:spPr>
          <a:xfrm>
            <a:off x="704088" y="4583110"/>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2" name="TextBox 11"/>
          <p:cNvSpPr txBox="1"/>
          <p:nvPr/>
        </p:nvSpPr>
        <p:spPr>
          <a:xfrm>
            <a:off x="704088" y="5653974"/>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анализа данных — до всякой обученной модели</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отобранные работы</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просмотренных публикаций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НА КОТОРОЙ ОНИ ПОСЧИТАНЫ</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почти никто</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пригодна для клинического применения</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У прибора стоит человек — лаборант, техник, медсестра.</a:t>
            </a:r>
          </a:p>
          <a:p>
            <a:pPr algn="l">
              <a:lnSpc>
                <a:spcPct val="126000"/>
              </a:lnSpc>
              <a:spcBef>
                <a:spcPts val="700"/>
              </a:spcBef>
            </a:pPr>
            <a:r>
              <a:rPr sz="1300" b="0" i="0">
                <a:solidFill>
                  <a:srgbClr val="21295C"/>
                </a:solidFill>
                <a:latin typeface="Arial"/>
              </a:rPr>
              <a:t/>
            </a:r>
            <a:r>
              <a:rPr sz="1300" b="0" i="0">
                <a:solidFill>
                  <a:srgbClr val="21295C"/>
                </a:solidFill>
                <a:latin typeface="Arial"/>
              </a:rPr>
              <a:t>Порог, за которым говорят «болен», записан в протоколе кабинета до прибора.</a:t>
            </a:r>
          </a:p>
          <a:p>
            <a:pPr algn="l">
              <a:lnSpc>
                <a:spcPct val="126000"/>
              </a:lnSpc>
              <a:spcBef>
                <a:spcPts val="700"/>
              </a:spcBef>
            </a:pPr>
            <a:r>
              <a:rPr sz="1300" b="0" i="0">
                <a:solidFill>
                  <a:srgbClr val="21295C"/>
                </a:solidFill>
                <a:latin typeface="Arial"/>
              </a:rPr>
              <a:t/>
            </a:r>
            <a:r>
              <a:rPr sz="1300" b="1" i="0">
                <a:solidFill>
                  <a:srgbClr val="21295C"/>
                </a:solidFill>
                <a:latin typeface="Arial"/>
              </a:rPr>
              <a:t>Шесть действий стадии</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рабочую точку</a:t>
            </a:r>
          </a:p>
          <a:p>
            <a:pPr algn="l">
              <a:lnSpc>
                <a:spcPct val="126000"/>
              </a:lnSpc>
              <a:spcBef>
                <a:spcPts val="700"/>
              </a:spcBef>
            </a:pPr>
            <a:r>
              <a:rPr sz="1300" b="0" i="0">
                <a:solidFill>
                  <a:srgbClr val="21295C"/>
                </a:solidFill>
                <a:latin typeface="Arial"/>
              </a:rPr>
              <a:t/>
            </a:r>
            <a:r>
              <a:rPr sz="1300" b="0" i="0">
                <a:solidFill>
                  <a:srgbClr val="21295C"/>
                </a:solidFill>
                <a:latin typeface="Arial"/>
              </a:rPr>
              <a:t>• снять измерение</a:t>
            </a:r>
          </a:p>
          <a:p>
            <a:pPr algn="l">
              <a:lnSpc>
                <a:spcPct val="126000"/>
              </a:lnSpc>
              <a:spcBef>
                <a:spcPts val="700"/>
              </a:spcBef>
            </a:pPr>
            <a:r>
              <a:rPr sz="1300" b="0" i="0">
                <a:solidFill>
                  <a:srgbClr val="21295C"/>
                </a:solidFill>
                <a:latin typeface="Arial"/>
              </a:rPr>
              <a:t/>
            </a:r>
            <a:r>
              <a:rPr sz="1300" b="0" i="0">
                <a:solidFill>
                  <a:srgbClr val="21295C"/>
                </a:solidFill>
                <a:latin typeface="Arial"/>
              </a:rPr>
              <a:t>• решить, годно ли оно</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прочесть и назвать две доли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пересчитать их под свою распространённость</a:t>
            </a:r>
          </a:p>
          <a:p>
            <a:pPr algn="l">
              <a:lnSpc>
                <a:spcPct val="126000"/>
              </a:lnSpc>
              <a:spcBef>
                <a:spcPts val="700"/>
              </a:spcBef>
            </a:pPr>
            <a:r>
              <a:rPr sz="1300" b="0" i="0">
                <a:solidFill>
                  <a:srgbClr val="21295C"/>
                </a:solidFill>
                <a:latin typeface="Arial"/>
              </a:rPr>
              <a:t/>
            </a:r>
            <a:r>
              <a:rPr sz="1300" b="0" i="0">
                <a:solidFill>
                  <a:srgbClr val="21295C"/>
                </a:solidFill>
                <a:latin typeface="Arial"/>
              </a:rPr>
              <a:t>• сообщить результат тому, кто решает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Без обученной модели каждое из шести делает человек по записанному правилу.</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два шага из шести:</a:t>
            </a:r>
            <a:r>
              <a:rPr sz="1300" b="0" i="0">
                <a:solidFill>
                  <a:srgbClr val="21295C"/>
                </a:solidFill>
                <a:latin typeface="Arial"/>
              </a:rPr>
              <a:t> прочесть измерение, где вместо величины выдаётся один балл, и сообщить результат.</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Рабочая точка, съёмка, годность и пересчёт остались людям.</a:t>
            </a:r>
            <a:r>
              <a:rPr sz="1300" b="0" i="0">
                <a:solidFill>
                  <a:srgbClr val="21295C"/>
                </a:solidFill>
                <a:latin typeface="Arial"/>
              </a:rPr>
              <a:t> Новый шаг —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1" i="0">
                <a:solidFill>
                  <a:srgbClr val="21295C"/>
                </a:solidFill>
                <a:latin typeface="Arial"/>
              </a:rPr>
              <a:t>Чувствительность</a:t>
            </a:r>
            <a:r>
              <a:rPr sz="1300" b="0" i="0">
                <a:solidFill>
                  <a:srgbClr val="21295C"/>
                </a:solidFill>
                <a:latin typeface="Arial"/>
              </a:rPr>
              <a:t> и </a:t>
            </a:r>
            <a:r>
              <a:rPr sz="1300" b="1" i="0">
                <a:solidFill>
                  <a:srgbClr val="21295C"/>
                </a:solidFill>
                <a:latin typeface="Arial"/>
              </a:rPr>
              <a:t>специфичность</a:t>
            </a:r>
            <a:r>
              <a:rPr sz="1300" b="0" i="0">
                <a:solidFill>
                  <a:srgbClr val="21295C"/>
                </a:solidFill>
                <a:latin typeface="Arial"/>
              </a:rPr>
              <a:t> — полнота по больным и по здоровым; всегда парой и всегда для одной рабочей точки.</a:t>
            </a:r>
          </a:p>
          <a:p>
            <a:pPr algn="l">
              <a:lnSpc>
                <a:spcPct val="126000"/>
              </a:lnSpc>
              <a:spcBef>
                <a:spcPts val="700"/>
              </a:spcBef>
            </a:pPr>
            <a:r>
              <a:rPr sz="1300" b="0" i="0">
                <a:solidFill>
                  <a:srgbClr val="21295C"/>
                </a:solidFill>
                <a:latin typeface="Arial"/>
              </a:rPr>
              <a:t/>
            </a:r>
            <a:r>
              <a:rPr sz="1300" b="1" i="0">
                <a:solidFill>
                  <a:srgbClr val="21295C"/>
                </a:solidFill>
                <a:latin typeface="Arial"/>
              </a:rPr>
              <a:t>Доля верных тревог</a:t>
            </a:r>
            <a:r>
              <a:rPr sz="1300" b="0" i="0">
                <a:solidFill>
                  <a:srgbClr val="21295C"/>
                </a:solidFill>
                <a:latin typeface="Arial"/>
              </a:rPr>
              <a:t> — третья, и считает её тот, кто применяет. Врач на приёме видит на столе именно её.</a:t>
            </a:r>
          </a:p>
          <a:p>
            <a:pPr algn="l">
              <a:lnSpc>
                <a:spcPct val="126000"/>
              </a:lnSpc>
              <a:spcBef>
                <a:spcPts val="700"/>
              </a:spcBef>
            </a:pPr>
            <a:r>
              <a:rPr sz="1300" b="0" i="0">
                <a:solidFill>
                  <a:srgbClr val="21295C"/>
                </a:solidFill>
                <a:latin typeface="Arial"/>
              </a:rPr>
              <a:t/>
            </a:r>
            <a:r>
              <a:rPr sz="1300" b="1" i="0">
                <a:solidFill>
                  <a:srgbClr val="21295C"/>
                </a:solidFill>
                <a:latin typeface="Arial"/>
              </a:rPr>
              <a:t>Вам называют «точность 94 процента». На какой группе она посчитана — и кто у вас задаёт этот вопрос вслух?</a:t>
            </a:r>
          </a:p>
        </p:txBody>
      </p:sp>
      <p:sp>
        <p:nvSpPr>
          <p:cNvPr id="15" name="Rectangle 14"/>
          <p:cNvSpPr/>
          <p:nvPr/>
        </p:nvSpPr>
        <p:spPr>
          <a:xfrm>
            <a:off x="6091275" y="2683657"/>
            <a:ext cx="9144" cy="353393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 8 верных тревог из ста против 79</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ЛОВИТ БОЛЬНЫХ</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опубликованная рабочая точка, взятая иллюстрацией методики</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НАПРАСНО ПУГАЕТ ЗДОРОВЫХ</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точка; обе доли меняются только вместе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ПОГОЛОВНЫЙ ПОТОК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10 000 подряд больных 100: 94 верные тревоги и 1 089 ложных — 1 183 поднятые</a:t>
            </a:r>
          </a:p>
        </p:txBody>
      </p:sp>
      <p:sp>
        <p:nvSpPr>
          <p:cNvPr id="16" name="Rounded Rectangle 15"/>
          <p:cNvSpPr/>
          <p:nvPr/>
        </p:nvSpPr>
        <p:spPr>
          <a:xfrm>
            <a:off x="9015755"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ПРОФИЛЬНОЕ ОТДЕЛЕНИЕ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9" name="TextBox 18"/>
          <p:cNvSpPr txBox="1"/>
          <p:nvPr/>
        </p:nvSpPr>
        <p:spPr>
          <a:xfrm>
            <a:off x="9152915"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тех же 10 000 больных 3 000: 2 820 верных и 770 ложных — 3 590 поднятых</a:t>
            </a:r>
          </a:p>
        </p:txBody>
      </p:sp>
      <p:sp>
        <p:nvSpPr>
          <p:cNvPr id="20" name="Rounded Rectangle 19"/>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Внутри системы не изменилась ни одна строка. Долю больных назначил тот, кто решил, кого звать.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счёт методики на опубликованной рабочей точке — не разбор изделия.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способа поднять долю верных тревог, и ни один не состоит в улучшении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сдвинуть порог: ложных тревог меньше, пропущенных больных больше</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сменить группу: обследовать тех, у кого болезнь встречается чаще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поставить вторым подтверждающий тест и объявлять «болен» по двум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Заявленная точность без названной группы и распространённости болезни на слайд не идёт.</a:t>
            </a:r>
          </a:p>
        </p:txBody>
      </p:sp>
      <p:sp>
        <p:nvSpPr>
          <p:cNvPr id="23" name="Rectangle 22"/>
          <p:cNvSpPr/>
          <p:nvPr/>
        </p:nvSpPr>
        <p:spPr>
          <a:xfrm>
            <a:off x="6091275" y="3496568"/>
            <a:ext cx="9144" cy="26431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Рабочая точка 94 и 11 — опубликованный замер модели чтения снимков грудной клетки: Rajpurkar и соавторы, CheXNet, 2017, взята иллюстрацией методики; доля верных тревог посчитана при распространённости один из ста и тридцать из ста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человек</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Решить: 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трёх классических режимов чтения раздел берёт один — </a:t>
            </a:r>
            <a:r>
              <a:rPr sz="1500" b="1" i="0">
                <a:solidFill>
                  <a:srgbClr val="21295C"/>
                </a:solidFill>
                <a:latin typeface="Arial"/>
              </a:rPr>
              <a:t>контроль годности измерения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Двойное чтение и арбитраж придут позже, вместе с человеком, который читает рядом с моделью.</a:t>
            </a:r>
          </a:p>
          <a:p>
            <a:pPr algn="l">
              <a:lnSpc>
                <a:spcPct val="126000"/>
              </a:lnSpc>
              <a:spcBef>
                <a:spcPts val="700"/>
              </a:spcBef>
            </a:pPr>
            <a:r>
              <a:rPr sz="1500" b="0" i="0">
                <a:solidFill>
                  <a:srgbClr val="21295C"/>
                </a:solidFill>
                <a:latin typeface="Arial"/>
              </a:rPr>
              <a:t/>
            </a: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7" name="Rectangle 16"/>
          <p:cNvSpPr/>
          <p:nvPr/>
        </p:nvSpPr>
        <p:spPr>
          <a:xfrm>
            <a:off x="6091275" y="2241116"/>
            <a:ext cx="9144" cy="264318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92217"/>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 в исходах и в визитах, не в деньгах</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пропуск: поражение глазного дна бессимптомно до поздних стадий, потеря зрения необратима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ложная тревога: направление к офтальмологу, которого в районе может не быть вовсе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к офтальмологу, тот сам снимает и сам читает.</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него</a:t>
            </a:r>
            <a:r>
              <a:rPr sz="1500" b="0" i="0">
                <a:solidFill>
                  <a:srgbClr val="21295C"/>
                </a:solidFill>
                <a:latin typeface="Arial"/>
              </a:rPr>
              <a:t> — автономное чтение двух снимков глазного дна на месте, без офтальмолога, результат меньше чем за минуту.</a:t>
            </a:r>
          </a:p>
          <a:p>
            <a:pPr algn="l">
              <a:lnSpc>
                <a:spcPct val="126000"/>
              </a:lnSpc>
              <a:spcBef>
                <a:spcPts val="700"/>
              </a:spcBef>
            </a:pPr>
            <a:r>
              <a:rPr sz="1500" b="0" i="0">
                <a:solidFill>
                  <a:srgbClr val="21295C"/>
                </a:solidFill>
                <a:latin typeface="Arial"/>
              </a:rPr>
              <a:t/>
            </a:r>
            <a:r>
              <a:rPr sz="1500" b="0" i="0">
                <a:solidFill>
                  <a:srgbClr val="21295C"/>
                </a:solidFill>
                <a:latin typeface="Arial"/>
              </a:rPr>
              <a:t>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Причины названы, и обе они про место съёмки: освещение в кабинете и медленная связь.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доля негодных снимков. Явку мерил другой разбор и на другой выборке.</a:t>
            </a:r>
          </a:p>
        </p:txBody>
      </p:sp>
      <p:sp>
        <p:nvSpPr>
          <p:cNvPr id="11" name="Rectangle 10"/>
          <p:cNvSpPr/>
          <p:nvPr/>
        </p:nvSpPr>
        <p:spPr>
          <a:xfrm>
            <a:off x="6091275" y="2683657"/>
            <a:ext cx="9144" cy="2940250"/>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цена: тот же техник и новая работа — добиться годного снимка</a:t>
            </a:r>
          </a:p>
        </p:txBody>
      </p:sp>
      <p:sp>
        <p:nvSpPr>
          <p:cNvPr id="4" name="Rounded Rectangle 3"/>
          <p:cNvSpPr/>
          <p:nvPr/>
        </p:nvSpPr>
        <p:spPr>
          <a:xfrm>
            <a:off x="50292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19302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Результат в кабинете первичного звена</a:t>
            </a:r>
          </a:p>
        </p:txBody>
      </p:sp>
      <p:sp>
        <p:nvSpPr>
          <p:cNvPr id="7" name="Rounded Rectangle 6"/>
          <p:cNvSpPr/>
          <p:nvPr/>
        </p:nvSpPr>
        <p:spPr>
          <a:xfrm>
            <a:off x="287213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00929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009290" y="1725375"/>
            <a:ext cx="1930298"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Годный снимок в непроверенных условиях</a:t>
            </a:r>
          </a:p>
        </p:txBody>
      </p:sp>
      <p:sp>
        <p:nvSpPr>
          <p:cNvPr id="10" name="Rounded Rectangle 9"/>
          <p:cNvSpPr/>
          <p:nvPr/>
        </p:nvSpPr>
        <p:spPr>
          <a:xfrm>
            <a:off x="5241340" y="1335024"/>
            <a:ext cx="2204618" cy="1557120"/>
          </a:xfrm>
          <a:prstGeom prst="roundRect">
            <a:avLst>
              <a:gd name="adj" fmla="val 1957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5378500" y="1725375"/>
            <a:ext cx="1930298" cy="1029608"/>
          </a:xfrm>
          <a:prstGeom prst="rect">
            <a:avLst/>
          </a:prstGeom>
          <a:noFill/>
        </p:spPr>
        <p:txBody>
          <a:bodyPr wrap="square" lIns="0" rIns="0" tIns="0" bIns="0" anchor="t">
            <a:spAutoFit/>
          </a:bodyPr>
          <a:lstStyle/>
          <a:p>
            <a:pPr algn="l">
              <a:lnSpc>
                <a:spcPct val="108000"/>
              </a:lnSpc>
            </a:pPr>
            <a:r>
              <a:rPr sz="1950" b="1" i="0">
                <a:solidFill>
                  <a:srgbClr val="F0AB00"/>
                </a:solidFill>
                <a:latin typeface="Arial"/>
              </a:rPr>
              <a:t>На старте хуже лабораторного замера</a:t>
            </a:r>
          </a:p>
        </p:txBody>
      </p:sp>
      <p:sp>
        <p:nvSpPr>
          <p:cNvPr id="13" name="Rounded Rectangle 12"/>
          <p:cNvSpPr/>
          <p:nvPr/>
        </p:nvSpPr>
        <p:spPr>
          <a:xfrm>
            <a:off x="374904" y="2983584"/>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75024"/>
            <a:ext cx="11112703" cy="31611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Появился шаг — повторный визит тем, чей снимок не прошёл: это 21 человек из каждых ста обследованных.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Причины отклонения обе про место съёмки: освещение в кабинете и медленная связь. Ни одна на лабораторном наборе не видна.</a:t>
            </a:r>
          </a:p>
        </p:txBody>
      </p:sp>
      <p:sp>
        <p:nvSpPr>
          <p:cNvPr id="15" name="Rounded Rectangle 14"/>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6" name="Picture 15"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7" name="Rectangle 1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То же полевое наблюдение развёртывания, одиннадцать клиник, первые полгода: Beede и соавторы, CHI 2020</a:t>
            </a:r>
            <a:r>
              <a:rPr sz="1200" b="0" i="1">
                <a:solidFill>
                  <a:srgbClr val="1C7293"/>
                </a:solidFill>
                <a:latin typeface="Arial"/>
              </a:rPr>
              <a:t> · </a:t>
            </a:r>
            <a:r>
              <a:rPr sz="1200" b="0" i="1" u="sng">
                <a:solidFill>
                  <a:srgbClr val="065A82"/>
                </a:solidFill>
                <a:latin typeface="Arial"/>
                <a:hlinkClick r:id="rId4"/>
              </a:rPr>
              <a:t>Иллюстрация: Skevas и соавт., BMC Ophthalmology 2024, рис. 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ОСМОТР НЕВООРУЖЁННЫМ ГЛАЗОМ</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77; оба режима из одного метаанализа</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ДЕРМОСКОПИЯ У СПЕЦИАЛИСТА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74</a:t>
            </a:r>
          </a:p>
        </p:txBody>
      </p:sp>
      <p:sp>
        <p:nvSpPr>
          <p:cNvPr id="12" name="Rounded Rectangle 11"/>
          <p:cNvSpPr/>
          <p:nvPr/>
        </p:nvSpPr>
        <p:spPr>
          <a:xfrm>
            <a:off x="6178143"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МОДЕЛИ</a:t>
            </a:r>
          </a:p>
        </p:txBody>
      </p:sp>
      <p:sp>
        <p:nvSpPr>
          <p:cNvPr id="14" name="TextBox 13"/>
          <p:cNvSpPr txBox="1"/>
          <p:nvPr/>
        </p:nvSpPr>
        <p:spPr>
          <a:xfrm>
            <a:off x="6315303" y="1932846"/>
            <a:ext cx="2398699" cy="630698"/>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9–15 пунктов площади под кривой</a:t>
            </a:r>
          </a:p>
        </p:txBody>
      </p:sp>
      <p:sp>
        <p:nvSpPr>
          <p:cNvPr id="15" name="TextBox 14"/>
          <p:cNvSpPr txBox="1"/>
          <p:nvPr/>
        </p:nvSpPr>
        <p:spPr>
          <a:xfrm>
            <a:off x="6315303"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тёмные тона против светлых, у трёх моделей</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ЗАМЕРА</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656 изображений</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207 самых тёмных тонов · 241 средних · 208 светлых; все с биопсией</a:t>
            </a:r>
          </a:p>
        </p:txBody>
      </p:sp>
      <p:sp>
        <p:nvSpPr>
          <p:cNvPr id="20" name="Rounded Rectangle 19"/>
          <p:cNvSpPr/>
          <p:nvPr/>
        </p:nvSpPr>
        <p:spPr>
          <a:xfrm>
            <a:off x="374904" y="3405128"/>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Пропуск — лечение на поздней стадии вместо ранней. Лишняя тревога — биопсия, рубец, месяцы ожидания.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одной методологией</a:t>
            </a:r>
            <a:r>
              <a:rPr sz="1500" b="0" i="0">
                <a:solidFill>
                  <a:srgbClr val="21295C"/>
                </a:solidFill>
                <a:latin typeface="Arial"/>
              </a:rPr>
              <a:t> — одним метаанализом прямого сравнения.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На биопсийно подтверждённых изображениях три модели дают площадь под кривой на тёмных тонах ниже, чем на светлых.</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Знаменатель назван: это не «несколько примеров».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Одну ходовую цифру разбор произносить отказывается:</a:t>
            </a:r>
            <a:r>
              <a:rPr sz="1500" b="0" i="0">
                <a:solidFill>
                  <a:srgbClr val="21295C"/>
                </a:solidFill>
                <a:latin typeface="Arial"/>
              </a:rPr>
              <a:t> «на тёмной коже чувствительность падает на 20–30 процентов» в публикации не найдена.</a:t>
            </a:r>
          </a:p>
          <a:p>
            <a:pPr algn="l">
              <a:lnSpc>
                <a:spcPct val="126000"/>
              </a:lnSpc>
              <a:spcBef>
                <a:spcPts val="700"/>
              </a:spcBef>
            </a:pPr>
            <a:r>
              <a:rPr sz="1200" b="0" i="0">
                <a:solidFill>
                  <a:srgbClr val="21295C"/>
                </a:solidFill>
                <a:latin typeface="Arial"/>
              </a:rPr>
              <a:t/>
            </a:r>
            <a:r>
              <a:rPr sz="1200" b="0" i="1">
                <a:solidFill>
                  <a:srgbClr val="1C7293"/>
                </a:solidFill>
                <a:latin typeface="Arial"/>
              </a:rPr>
              <a:t>Ближайшее измеренное, у одной из трёх моделей: 69 больных из ста на светлых тонах против 23 на тёмных.</a:t>
            </a:r>
          </a:p>
        </p:txBody>
      </p:sp>
      <p:sp>
        <p:nvSpPr>
          <p:cNvPr id="23" name="Rectangle 22"/>
          <p:cNvSpPr/>
          <p:nvPr/>
        </p:nvSpPr>
        <p:spPr>
          <a:xfrm>
            <a:off x="6091275" y="3496568"/>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Набор DDI, 656 биопсийно подтверждённых изображений — Daneshjou и соавторы, Science Advances, 2022;8(31):eabq6147</a:t>
            </a:r>
            <a:r>
              <a:rPr sz="1200" b="0" i="1">
                <a:solidFill>
                  <a:srgbClr val="1C7293"/>
                </a:solidFill>
                <a:latin typeface="Arial"/>
              </a:rPr>
              <a:t> · </a:t>
            </a:r>
            <a:r>
              <a:rPr sz="1200" b="0" i="1" u="sng">
                <a:solidFill>
                  <a:srgbClr val="065A82"/>
                </a:solidFill>
                <a:latin typeface="Arial"/>
                <a:hlinkClick r:id="rId3"/>
              </a:rPr>
              <a:t>осмотр и дермоскопия — Vestergaard и соавторы, British Journal of Dermatology, 2008;159(3):669–676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 НА ПРЕДСТАВИТЕЛЬНОМ НАБОРЕ</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разрыв снимает и переворачивает</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измеренное исправление; лечит его сбор и разметка — та работа, которая в руках инженера</a:t>
            </a:r>
          </a:p>
        </p:txBody>
      </p:sp>
      <p:sp>
        <p:nvSpPr>
          <p:cNvPr id="8" name="Rounded Rectangle 7"/>
          <p:cNvSpPr/>
          <p:nvPr/>
        </p:nvSpPr>
        <p:spPr>
          <a:xfrm>
            <a:off x="4286402"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 не уменьшили разрыв</a:t>
            </a:r>
          </a:p>
        </p:txBody>
      </p:sp>
      <p:sp>
        <p:nvSpPr>
          <p:cNvPr id="11" name="Rounded Rectangle 10"/>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КЛАССИЧЕСКИХ МЕТОДОВ</a:t>
            </a:r>
          </a:p>
        </p:txBody>
      </p:sp>
      <p:sp>
        <p:nvSpPr>
          <p:cNvPr id="13" name="TextBox 12"/>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 — сказать «модель хуже человека на этой подгруппе» не с чем</a:t>
            </a:r>
          </a:p>
        </p:txBody>
      </p:sp>
      <p:sp>
        <p:nvSpPr>
          <p:cNvPr id="15" name="Rounded Rectangle 14"/>
          <p:cNvSpPr/>
          <p:nvPr/>
        </p:nvSpPr>
        <p:spPr>
          <a:xfrm>
            <a:off x="374904" y="3612599"/>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04039"/>
            <a:ext cx="11112703"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точность по набору осталась приличной, а платит за разрыв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Исправление измерено, и лечит его не алгоритм.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постоянную оценку образования там, где дерматолога нет · </a:t>
            </a:r>
            <a:r>
              <a:rPr sz="1500" b="1" i="0">
                <a:solidFill>
                  <a:srgbClr val="21295C"/>
                </a:solidFill>
                <a:latin typeface="Arial"/>
              </a:rPr>
              <a:t>потребовало</a:t>
            </a:r>
            <a:r>
              <a:rPr sz="1500" b="0" i="0">
                <a:solidFill>
                  <a:srgbClr val="21295C"/>
                </a:solidFill>
                <a:latin typeface="Arial"/>
              </a:rPr>
              <a:t> набора, повторяющего состав тех, на ком система будет работать · </a:t>
            </a:r>
            <a:r>
              <a:rPr sz="1500" b="1" i="0">
                <a:solidFill>
                  <a:srgbClr val="21295C"/>
                </a:solidFill>
                <a:latin typeface="Arial"/>
              </a:rPr>
              <a:t>в сумме</a:t>
            </a:r>
            <a:r>
              <a:rPr sz="1500" b="0" i="0">
                <a:solidFill>
                  <a:srgbClr val="21295C"/>
                </a:solidFill>
                <a:latin typeface="Arial"/>
              </a:rPr>
              <a:t> средняя держится, а цена ошибки переехала на подгруппу</a:t>
            </a:r>
          </a:p>
          <a:p>
            <a:pPr algn="l">
              <a:lnSpc>
                <a:spcPct val="126000"/>
              </a:lnSpc>
              <a:spcBef>
                <a:spcPts val="700"/>
              </a:spcBef>
            </a:pPr>
            <a:r>
              <a:rPr sz="1500" b="0" i="0">
                <a:solidFill>
                  <a:srgbClr val="21295C"/>
                </a:solidFill>
                <a:latin typeface="Arial"/>
              </a:rPr>
              <a:t/>
            </a:r>
            <a:r>
              <a:rPr sz="1500" b="0" i="0">
                <a:solidFill>
                  <a:srgbClr val="21295C"/>
                </a:solidFill>
                <a:latin typeface="Arial"/>
              </a:rPr>
              <a:t>Строка, которая несёт разбор: разрыв </a:t>
            </a:r>
            <a:r>
              <a:rPr sz="1500" b="1" i="0">
                <a:solidFill>
                  <a:srgbClr val="21295C"/>
                </a:solidFill>
                <a:latin typeface="Arial"/>
              </a:rPr>
              <a:t>измерен 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Отсутствие замера равенства не доказывает.</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работа — Daneshjou и соавторы, Science Advances, 2022;8(31):eabq6147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РЕШЕНИЕМ ВРАЧА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рассматриваемой группы среди отобранных</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БАЛЛОМ ПО ПРОГНОЗУ РАСХОДОВ</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различает только ярлык режима</a:t>
            </a:r>
          </a:p>
        </p:txBody>
      </p:sp>
      <p:sp>
        <p:nvSpPr>
          <p:cNvPr id="12" name="Rounded Rectangle 11"/>
          <p:cNvSpPr/>
          <p:nvPr/>
        </p:nvSpPr>
        <p:spPr>
          <a:xfrm>
            <a:off x="6178143"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целевой переменной взяты будущие расходы</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ЗАМЕРА</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49 618 пациентов</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академическая больница, 100 009 пациенто-лет, 2013–2015 годы</a:t>
            </a:r>
          </a:p>
        </p:txBody>
      </p:sp>
      <p:sp>
        <p:nvSpPr>
          <p:cNvPr id="20" name="Rounded Rectangle 19"/>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Не попал тот, кому программа нужна: болезнь развивается без присмотра.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Попал тот, кому она не нужна: занято место и время координатора.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на одной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Один балл на каждого, отбор по порогу; целью взяты будущие расходы на лечение.</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Ограничение второго режима: врач, отбиравший пациентов, уже видел балл. Отбора до модели в публикации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делают сегодня</a:t>
            </a:r>
            <a:r>
              <a:rPr sz="1500" b="0" i="0">
                <a:solidFill>
                  <a:srgbClr val="21295C"/>
                </a:solidFill>
                <a:latin typeface="Arial"/>
              </a:rPr>
              <a:t> — счёт риска на данных плательщика и на медицинской карте, </a:t>
            </a:r>
            <a:r>
              <a:rPr sz="1500" b="0" i="1">
                <a:solidFill>
                  <a:srgbClr val="21295C"/>
                </a:solidFill>
                <a:latin typeface="Arial"/>
              </a:rPr>
              <a:t>прогноз на структурированных данных</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покупает это администрация или плательщик, не врач</a:t>
            </a:r>
          </a:p>
          <a:p>
            <a:pPr algn="l">
              <a:lnSpc>
                <a:spcPct val="126000"/>
              </a:lnSpc>
              <a:spcBef>
                <a:spcPts val="700"/>
              </a:spcBef>
            </a:pPr>
            <a:r>
              <a:rPr sz="1500" b="0" i="0">
                <a:solidFill>
                  <a:srgbClr val="21295C"/>
                </a:solidFill>
                <a:latin typeface="Arial"/>
              </a:rPr>
              <a:t/>
            </a:r>
            <a:r>
              <a:rPr sz="1500" b="0" i="0">
                <a:solidFill>
                  <a:srgbClr val="21295C"/>
                </a:solidFill>
                <a:latin typeface="Arial"/>
              </a:rPr>
              <a:t>• «дорого лечится» от «болен» такой счёт не отличает</a:t>
            </a:r>
          </a:p>
        </p:txBody>
      </p:sp>
      <p:sp>
        <p:nvSpPr>
          <p:cNvPr id="23" name="Rectangle 22"/>
          <p:cNvSpPr/>
          <p:nvPr/>
        </p:nvSpPr>
        <p:spPr>
          <a:xfrm>
            <a:off x="6091275" y="3496568"/>
            <a:ext cx="9144" cy="26431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2673019" cy="2601077"/>
          </a:xfrm>
          <a:prstGeom prst="roundRect">
            <a:avLst>
              <a:gd name="adj" fmla="val 1171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СРЕДИ ОТОБРАННЫХ: НАБЛЮДАЕМАЯ → ПРИ УБРАННОМ РАЗРЫВЕ</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вторая половина — расчёт авторов на тех же данных, внедрения не было</a:t>
            </a:r>
          </a:p>
        </p:txBody>
      </p:sp>
      <p:sp>
        <p:nvSpPr>
          <p:cNvPr id="8" name="Rounded Rectangle 7"/>
          <p:cNvSpPr/>
          <p:nvPr/>
        </p:nvSpPr>
        <p:spPr>
          <a:xfrm>
            <a:off x="3340531"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для одной группы хуже прежнего отбора, и исправление только посчитано</a:t>
            </a:r>
          </a:p>
        </p:txBody>
      </p:sp>
      <p:sp>
        <p:nvSpPr>
          <p:cNvPr id="17" name="Rounded Rectangle 16"/>
          <p:cNvSpPr/>
          <p:nvPr/>
        </p:nvSpPr>
        <p:spPr>
          <a:xfrm>
            <a:off x="374904" y="4027541"/>
            <a:ext cx="11441887" cy="1878013"/>
          </a:xfrm>
          <a:prstGeom prst="roundRect">
            <a:avLst>
              <a:gd name="adj" fmla="val 1622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Исправление посчитано и не применено.</a:t>
            </a:r>
            <a:r>
              <a:rPr sz="1500" b="0" i="0">
                <a:solidFill>
                  <a:srgbClr val="21295C"/>
                </a:solidFill>
                <a:latin typeface="Arial"/>
              </a:rPr>
              <a:t> Разрыв убран расчётом, не внедрением.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p:txBody>
      </p:sp>
      <p:sp>
        <p:nvSpPr>
          <p:cNvPr id="19" name="TextBox 18"/>
          <p:cNvSpPr txBox="1"/>
          <p:nvPr/>
        </p:nvSpPr>
        <p:spPr>
          <a:xfrm>
            <a:off x="6278727"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Масштаб и знаменатель — порознь.</a:t>
            </a:r>
            <a:r>
              <a:rPr sz="1500" b="0" i="0">
                <a:solidFill>
                  <a:srgbClr val="21295C"/>
                </a:solidFill>
                <a:latin typeface="Arial"/>
              </a:rPr>
              <a:t> К моделям этого класса отнесены около </a:t>
            </a:r>
            <a:r>
              <a:rPr sz="1500" b="1" i="0">
                <a:solidFill>
                  <a:srgbClr val="21295C"/>
                </a:solidFill>
                <a:latin typeface="Arial"/>
              </a:rPr>
              <a:t>200 миллионов</a:t>
            </a:r>
            <a:r>
              <a:rPr sz="1500" b="0" i="0">
                <a:solidFill>
                  <a:srgbClr val="21295C"/>
                </a:solidFill>
                <a:latin typeface="Arial"/>
              </a:rPr>
              <a:t> человек в год.</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оценка охвата; перекос измерен на 49 618 пациентах.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Внутренняя проверка этого не видит: провал лежит там, где его не проверяют.</a:t>
            </a:r>
          </a:p>
        </p:txBody>
      </p:sp>
      <p:sp>
        <p:nvSpPr>
          <p:cNvPr id="20" name="Rectangle 19"/>
          <p:cNvSpPr/>
          <p:nvPr/>
        </p:nvSpPr>
        <p:spPr>
          <a:xfrm>
            <a:off x="6091275" y="4118981"/>
            <a:ext cx="9144" cy="1603693"/>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Obermeyer и соавторы, Science, 2019;366(6464):447–453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Анализ данных: ни в одном разборе не провалилось само чтение</a:t>
            </a:r>
          </a:p>
        </p:txBody>
      </p:sp>
      <p:sp>
        <p:nvSpPr>
          <p:cNvPr id="4" name="Rounded Rectangle 3"/>
          <p:cNvSpPr/>
          <p:nvPr/>
        </p:nvSpPr>
        <p:spPr>
          <a:xfrm>
            <a:off x="374904" y="1243584"/>
            <a:ext cx="11441887" cy="4936214"/>
          </a:xfrm>
          <a:prstGeom prst="roundRect">
            <a:avLst>
              <a:gd name="adj" fmla="val 6174"/>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Постоянство: десятитысячный снимок читается так же, как первый</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Поток: чтение нормы перестаёт занимать специалиста</a:t>
            </a:r>
          </a:p>
          <a:p>
            <a:pPr algn="l">
              <a:lnSpc>
                <a:spcPct val="126000"/>
              </a:lnSpc>
              <a:spcBef>
                <a:spcPts val="700"/>
              </a:spcBef>
            </a:pPr>
            <a:r>
              <a:rPr sz="1300" b="0" i="0">
                <a:solidFill>
                  <a:srgbClr val="21295C"/>
                </a:solidFill>
                <a:latin typeface="Arial"/>
              </a:rPr>
              <a:t/>
            </a:r>
            <a:r>
              <a:rPr sz="1300" b="0" i="0">
                <a:solidFill>
                  <a:srgbClr val="21295C"/>
                </a:solidFill>
                <a:latin typeface="Arial"/>
              </a:rPr>
              <a:t>• Воспроизводимость: один вход даёт один выход, и расхождение можно разобрать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рабочую точку: за порогом стоит цена обеих ошибок</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Переснять: качество входа остаётся человеку без профильной подготовки</a:t>
            </a:r>
          </a:p>
          <a:p>
            <a:pPr algn="l">
              <a:lnSpc>
                <a:spcPct val="126000"/>
              </a:lnSpc>
              <a:spcBef>
                <a:spcPts val="700"/>
              </a:spcBef>
            </a:pPr>
            <a:r>
              <a:rPr sz="1300" b="0" i="0">
                <a:solidFill>
                  <a:srgbClr val="21295C"/>
                </a:solidFill>
                <a:latin typeface="Arial"/>
              </a:rPr>
              <a:t/>
            </a:r>
            <a:r>
              <a:rPr sz="1300" b="0" i="0">
                <a:solidFill>
                  <a:srgbClr val="21295C"/>
                </a:solidFill>
                <a:latin typeface="Arial"/>
              </a:rPr>
              <a:t>• Увидеть, чем измерен вход: смещение прибора модель наследует молча — </a:t>
            </a:r>
            <a:r>
              <a:rPr sz="1300" b="1" i="0">
                <a:solidFill>
                  <a:srgbClr val="21295C"/>
                </a:solidFill>
                <a:latin typeface="Arial"/>
              </a:rPr>
              <a:t>11,7 против 3,6 процента измерений</a:t>
            </a:r>
            <a:r>
              <a:rPr sz="1300" b="0" i="0">
                <a:solidFill>
                  <a:srgbClr val="21295C"/>
                </a:solidFill>
                <a:latin typeface="Arial"/>
              </a:rPr>
              <a:t> у пациентов с тёмной и светлой кожей</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Нагрузка выросла на том же месте: у техника появилась работа добиться годного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Появился шаг: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Сменился исполнитель: отбор делал врач, стал делать один балл</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Сместилась цена ошибки на подгруппу, которой в обучающем наборе было мало</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Рабочая точка под цену обеих ошибок и пересчёт доли верных тревог под свою группу</a:t>
            </a:r>
          </a:p>
          <a:p>
            <a:pPr algn="l">
              <a:lnSpc>
                <a:spcPct val="126000"/>
              </a:lnSpc>
              <a:spcBef>
                <a:spcPts val="700"/>
              </a:spcBef>
            </a:pPr>
            <a:r>
              <a:rPr sz="1300" b="0" i="0">
                <a:solidFill>
                  <a:srgbClr val="21295C"/>
                </a:solidFill>
                <a:latin typeface="Arial"/>
              </a:rPr>
              <a:t/>
            </a:r>
            <a:r>
              <a:rPr sz="1300" b="0" i="0">
                <a:solidFill>
                  <a:srgbClr val="21295C"/>
                </a:solidFill>
                <a:latin typeface="Arial"/>
              </a:rPr>
              <a:t>• Контроль годности измерения: правило кабинета, и прибор его не заменяет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процедуры, которая проверяла бы, что система считает своей целью,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Ни в одном из трёх разборов не провалилось само чтение: провалились развёртывание, состав набора и определение цели.</a:t>
            </a:r>
          </a:p>
        </p:txBody>
      </p:sp>
      <p:sp>
        <p:nvSpPr>
          <p:cNvPr id="7" name="Rectangle 6"/>
          <p:cNvSpPr/>
          <p:nvPr/>
        </p:nvSpPr>
        <p:spPr>
          <a:xfrm>
            <a:off x="6091275" y="1335024"/>
            <a:ext cx="9144" cy="46618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359596"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066988"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899092" y="1335024"/>
            <a:ext cx="1200523"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3045396" y="1335024"/>
            <a:ext cx="907915"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099615" y="1335024"/>
            <a:ext cx="4365042"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45919" y="1335024"/>
            <a:ext cx="407243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8464658" y="1335024"/>
            <a:ext cx="3187540"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610962" y="1335024"/>
            <a:ext cx="289493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359596"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899092" y="1709287"/>
            <a:ext cx="1200523"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045396" y="1709287"/>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099615" y="1709287"/>
            <a:ext cx="4365042"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245919" y="1709287"/>
            <a:ext cx="4072434"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Таиланд</a:t>
            </a:r>
            <a:r>
              <a:rPr sz="1150" b="0" i="0">
                <a:solidFill>
                  <a:srgbClr val="21295C"/>
                </a:solidFill>
                <a:latin typeface="Arial"/>
              </a:rPr>
              <a:t> · </a:t>
            </a:r>
            <a:r>
              <a:rPr sz="1150" b="1" i="0">
                <a:solidFill>
                  <a:srgbClr val="21295C"/>
                </a:solidFill>
                <a:latin typeface="Arial"/>
              </a:rPr>
              <a:t>кожа и состав набора</a:t>
            </a:r>
            <a:r>
              <a:rPr sz="1150" b="0" i="0">
                <a:solidFill>
                  <a:srgbClr val="21295C"/>
                </a:solidFill>
                <a:latin typeface="Arial"/>
              </a:rPr>
              <a:t> · (отбор)</a:t>
            </a:r>
          </a:p>
        </p:txBody>
      </p:sp>
      <p:sp>
        <p:nvSpPr>
          <p:cNvPr id="19" name="Rectangle 18"/>
          <p:cNvSpPr/>
          <p:nvPr/>
        </p:nvSpPr>
        <p:spPr>
          <a:xfrm>
            <a:off x="8464658" y="1709287"/>
            <a:ext cx="3187540"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610962" y="1709287"/>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359596"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899092" y="2083551"/>
            <a:ext cx="1200523"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045396" y="2083551"/>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099615" y="2083551"/>
            <a:ext cx="4365042"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245919" y="2083551"/>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a:t>
            </a:r>
          </a:p>
        </p:txBody>
      </p:sp>
      <p:sp>
        <p:nvSpPr>
          <p:cNvPr id="27" name="Rectangle 26"/>
          <p:cNvSpPr/>
          <p:nvPr/>
        </p:nvSpPr>
        <p:spPr>
          <a:xfrm>
            <a:off x="8464658" y="2083551"/>
            <a:ext cx="3187540"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610962" y="2083551"/>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359596"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899092" y="2457815"/>
            <a:ext cx="1200523"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045396" y="2457815"/>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a:t>
            </a:r>
          </a:p>
        </p:txBody>
      </p:sp>
      <p:sp>
        <p:nvSpPr>
          <p:cNvPr id="33" name="Rectangle 32"/>
          <p:cNvSpPr/>
          <p:nvPr/>
        </p:nvSpPr>
        <p:spPr>
          <a:xfrm>
            <a:off x="4099615" y="2457815"/>
            <a:ext cx="4365042"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245919" y="2457815"/>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8464658" y="2457815"/>
            <a:ext cx="3187540"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610962" y="2457815"/>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359596"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899092" y="2832078"/>
            <a:ext cx="1200523"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045396" y="2832078"/>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099615" y="2832078"/>
            <a:ext cx="4365042"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245919" y="2832078"/>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8464658" y="2832078"/>
            <a:ext cx="3187540"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610962" y="2832078"/>
            <a:ext cx="2894932"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расходы вместо болезни</a:t>
            </a:r>
          </a:p>
        </p:txBody>
      </p:sp>
      <p:sp>
        <p:nvSpPr>
          <p:cNvPr id="45" name="TextBox 44"/>
          <p:cNvSpPr txBox="1"/>
          <p:nvPr/>
        </p:nvSpPr>
        <p:spPr>
          <a:xfrm>
            <a:off x="539496" y="3352646"/>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этот раздел, в скобках — кто занял клетку раньше, прочерк — пусто.</a:t>
            </a:r>
            <a:r>
              <a:rPr sz="1200" b="0" i="0">
                <a:solidFill>
                  <a:srgbClr val="21295C"/>
                </a:solidFill>
                <a:latin typeface="Arial"/>
              </a:rPr>
              <a:t> Занято 4 клетки из 12, новая одна: прогноз.</a:t>
            </a:r>
          </a:p>
        </p:txBody>
      </p:sp>
      <p:sp>
        <p:nvSpPr>
          <p:cNvPr id="46" name="TextBox 45"/>
          <p:cNvSpPr txBox="1"/>
          <p:nvPr/>
        </p:nvSpPr>
        <p:spPr>
          <a:xfrm>
            <a:off x="539496" y="3742572"/>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за два раздела не двинулись, и читать надо их:</a:t>
            </a:r>
            <a:r>
              <a:rPr sz="1200" b="0" i="0">
                <a:solidFill>
                  <a:srgbClr val="21295C"/>
                </a:solidFill>
                <a:latin typeface="Arial"/>
              </a:rPr>
              <a:t> инструмент такого класса здесь искать незачем.</a:t>
            </a:r>
          </a:p>
        </p:txBody>
      </p:sp>
      <p:sp>
        <p:nvSpPr>
          <p:cNvPr id="47" name="TextBox 46"/>
          <p:cNvSpPr txBox="1"/>
          <p:nvPr/>
        </p:nvSpPr>
        <p:spPr>
          <a:xfrm>
            <a:off x="539496" y="4132497"/>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Одна клетка занята дважды, и провалилось разное:</a:t>
            </a:r>
            <a:r>
              <a:rPr sz="1200" b="0" i="0">
                <a:solidFill>
                  <a:srgbClr val="21295C"/>
                </a:solidFill>
                <a:latin typeface="Arial"/>
              </a:rPr>
              <a:t> в Таиланде — место развёртывания, в дерматологии — состав набора. Отчёт под именем клетки не сказал бы ни о том, ни о другом.</a:t>
            </a:r>
          </a:p>
        </p:txBody>
      </p:sp>
      <p:sp>
        <p:nvSpPr>
          <p:cNvPr id="48" name="TextBox 47"/>
          <p:cNvSpPr txBox="1"/>
          <p:nvPr/>
        </p:nvSpPr>
        <p:spPr>
          <a:xfrm>
            <a:off x="539496" y="4766044"/>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Вне окна — одно занятое место:</a:t>
            </a:r>
            <a:r>
              <a:rPr sz="1200" b="0" i="0">
                <a:solidFill>
                  <a:srgbClr val="21295C"/>
                </a:solidFill>
                <a:latin typeface="Arial"/>
              </a:rPr>
              <a:t> </a:t>
            </a:r>
            <a:r>
              <a:rPr sz="1200" b="0" i="1">
                <a:solidFill>
                  <a:srgbClr val="1C7293"/>
                </a:solidFill>
                <a:latin typeface="Arial"/>
              </a:rPr>
              <a:t>измерение · сигнал прибора</a:t>
            </a:r>
            <a:r>
              <a:rPr sz="1200" b="0" i="0">
                <a:solidFill>
                  <a:srgbClr val="21295C"/>
                </a:solidFill>
                <a:latin typeface="Arial"/>
              </a:rPr>
              <a:t>, где обученной модели нет вовсе.</a:t>
            </a:r>
          </a:p>
        </p:txBody>
      </p:sp>
      <p:sp>
        <p:nvSpPr>
          <p:cNvPr id="49" name="Rounded Rectangle 48"/>
          <p:cNvSpPr/>
          <p:nvPr/>
        </p:nvSpPr>
        <p:spPr>
          <a:xfrm>
            <a:off x="630936" y="5239790"/>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15597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автономное чтение без врача</a:t>
            </a:r>
            <a:r>
              <a:rPr sz="1200" b="0" i="0">
                <a:solidFill>
                  <a:srgbClr val="21295C"/>
                </a:solidFill>
                <a:latin typeface="Arial"/>
              </a:rPr>
              <a:t> — LumineticsCore · EyeArt · AEYE-DS</a:t>
            </a:r>
          </a:p>
        </p:txBody>
      </p:sp>
      <p:sp>
        <p:nvSpPr>
          <p:cNvPr id="51" name="Rounded Rectangle 50"/>
          <p:cNvSpPr/>
          <p:nvPr/>
        </p:nvSpPr>
        <p:spPr>
          <a:xfrm>
            <a:off x="630936" y="5629715"/>
            <a:ext cx="100584" cy="100584"/>
          </a:xfrm>
          <a:prstGeom prst="roundRect">
            <a:avLst>
              <a:gd name="adj" fmla="val 50000"/>
            </a:avLst>
          </a:prstGeom>
          <a:solidFill>
            <a:srgbClr val="028090"/>
          </a:solidFill>
          <a:ln>
            <a:noFill/>
          </a:ln>
          <a:effectLst/>
        </p:spPr>
        <p:txBody>
          <a:bodyPr rtlCol="0" anchor="ctr"/>
          <a:lstStyle/>
          <a:p>
            <a:pPr algn="ctr"/>
          </a:p>
        </p:txBody>
      </p:sp>
      <p:sp>
        <p:nvSpPr>
          <p:cNvPr id="52" name="TextBox 51"/>
          <p:cNvSpPr txBox="1"/>
          <p:nvPr/>
        </p:nvSpPr>
        <p:spPr>
          <a:xfrm>
            <a:off x="923544" y="5545895"/>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оценка кожного образования</a:t>
            </a:r>
            <a:r>
              <a:rPr sz="1200" b="0" i="0">
                <a:solidFill>
                  <a:srgbClr val="21295C"/>
                </a:solidFill>
                <a:latin typeface="Arial"/>
              </a:rPr>
              <a:t> — SkinVision · DermaSensor</a:t>
            </a:r>
          </a:p>
        </p:txBody>
      </p:sp>
      <p:sp>
        <p:nvSpPr>
          <p:cNvPr id="53" name="Rounded Rectangle 52"/>
          <p:cNvSpPr/>
          <p:nvPr/>
        </p:nvSpPr>
        <p:spPr>
          <a:xfrm>
            <a:off x="630936" y="6019641"/>
            <a:ext cx="100584" cy="100584"/>
          </a:xfrm>
          <a:prstGeom prst="roundRect">
            <a:avLst>
              <a:gd name="adj" fmla="val 50000"/>
            </a:avLst>
          </a:prstGeom>
          <a:solidFill>
            <a:srgbClr val="028090"/>
          </a:solidFill>
          <a:ln>
            <a:noFill/>
          </a:ln>
          <a:effectLst/>
        </p:spPr>
        <p:txBody>
          <a:bodyPr rtlCol="0" anchor="ctr"/>
          <a:lstStyle/>
          <a:p>
            <a:pPr algn="ctr"/>
          </a:p>
        </p:txBody>
      </p:sp>
      <p:sp>
        <p:nvSpPr>
          <p:cNvPr id="54" name="TextBox 53"/>
          <p:cNvSpPr txBox="1"/>
          <p:nvPr/>
        </p:nvSpPr>
        <p:spPr>
          <a:xfrm>
            <a:off x="923544" y="5935821"/>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счёт риска внутри карты</a:t>
            </a:r>
            <a:r>
              <a:rPr sz="1200" b="0" i="0">
                <a:solidFill>
                  <a:srgbClr val="21295C"/>
                </a:solidFill>
                <a:latin typeface="Arial"/>
              </a:rPr>
              <a:t> — покупает плательщик или администрация, не врач</a:t>
            </a:r>
          </a:p>
        </p:txBody>
      </p:sp>
      <p:sp>
        <p:nvSpPr>
          <p:cNvPr id="55" name="Rectangle 5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6" name="TextBox 5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Сетка «тип задачи × данные» — Лекция 1. Полужирным — разборы этого раздела со сверенными числами; в скобках — раздел, занявший клетку раньше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3. Постановка диагноза — человек читает рядом с моделью</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выносит человек. Читает он теперь не только снимок, но и подсказку модели рядом. Разборы по порядку:</a:t>
            </a:r>
          </a:p>
        </p:txBody>
      </p:sp>
      <p:sp>
        <p:nvSpPr>
          <p:cNvPr id="9" name="TextBox 8"/>
          <p:cNvSpPr txBox="1"/>
          <p:nvPr/>
        </p:nvSpPr>
        <p:spPr>
          <a:xfrm>
            <a:off x="704088" y="3045563"/>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1: замер взгляда радиолога</a:t>
            </a:r>
            <a:r>
              <a:rPr sz="1550" b="0" i="0">
                <a:solidFill>
                  <a:srgbClr val="21295C"/>
                </a:solidFill>
                <a:latin typeface="Arial"/>
              </a:rPr>
              <a:t> и </a:t>
            </a:r>
            <a:r>
              <a:rPr sz="1550" b="1" i="0">
                <a:solidFill>
                  <a:srgbClr val="21295C"/>
                </a:solidFill>
                <a:latin typeface="Arial"/>
              </a:rPr>
              <a:t>зеркало того же замера</a:t>
            </a:r>
          </a:p>
        </p:txBody>
      </p:sp>
      <p:sp>
        <p:nvSpPr>
          <p:cNvPr id="10" name="TextBox 9"/>
          <p:cNvSpPr txBox="1"/>
          <p:nvPr/>
        </p:nvSpPr>
        <p:spPr>
          <a:xfrm>
            <a:off x="704088" y="3512246"/>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2: одна подсказка с двумя знаками</a:t>
            </a:r>
          </a:p>
        </p:txBody>
      </p:sp>
      <p:sp>
        <p:nvSpPr>
          <p:cNvPr id="11" name="TextBox 10"/>
          <p:cNvSpPr txBox="1"/>
          <p:nvPr/>
        </p:nvSpPr>
        <p:spPr>
          <a:xfrm>
            <a:off x="704088" y="3978928"/>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3: измеренная тройка</a:t>
            </a:r>
          </a:p>
        </p:txBody>
      </p:sp>
      <p:sp>
        <p:nvSpPr>
          <p:cNvPr id="12" name="TextBox 11"/>
          <p:cNvSpPr txBox="1"/>
          <p:nvPr/>
        </p:nvSpPr>
        <p:spPr>
          <a:xfrm>
            <a:off x="704088" y="444561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4: контрольная линия</a:t>
            </a:r>
          </a:p>
        </p:txBody>
      </p:sp>
      <p:sp>
        <p:nvSpPr>
          <p:cNvPr id="13" name="TextBox 12"/>
          <p:cNvSpPr txBox="1"/>
          <p:nvPr/>
        </p:nvSpPr>
        <p:spPr>
          <a:xfrm>
            <a:off x="704088" y="4912294"/>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5: хирурги на септическом шоке</a:t>
            </a:r>
          </a:p>
        </p:txBody>
      </p:sp>
      <p:sp>
        <p:nvSpPr>
          <p:cNvPr id="14" name="TextBox 13"/>
          <p:cNvSpPr txBox="1"/>
          <p:nvPr/>
        </p:nvSpPr>
        <p:spPr>
          <a:xfrm>
            <a:off x="704088" y="5378977"/>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делают участники на стадии постановки диагноза — до всякой обученной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данные</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выписать объясняющие болезни</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различающее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вычеркнуть опровергнутое</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список сужается</a:t>
            </a:r>
          </a:p>
        </p:txBody>
      </p:sp>
      <p:sp>
        <p:nvSpPr>
          <p:cNvPr id="17" name="Rounded Rectangle 16"/>
          <p:cNvSpPr/>
          <p:nvPr/>
        </p:nvSpPr>
        <p:spPr>
          <a:xfrm>
            <a:off x="374904" y="2387325"/>
            <a:ext cx="11441887" cy="3848882"/>
          </a:xfrm>
          <a:prstGeom prst="roundRect">
            <a:avLst>
              <a:gd name="adj" fmla="val 791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Семь действий стадии.</a:t>
            </a:r>
            <a:r>
              <a:rPr sz="1400" b="0" i="0">
                <a:solidFill>
                  <a:srgbClr val="21295C"/>
                </a:solidFill>
                <a:latin typeface="Arial"/>
              </a:rPr>
              <a:t> 1. Собрать данные · 2. Выписать объясняющие болезни · 3. Назначить различающую проверку · 4. Вычеркнуть опровергнутое · 5. Прочесть вторым независимо · 6. Разрешить расхождение третьим · 7. Подписать заключение.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Один приём, женщина тридцати четырёх лет:</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на входе</a:t>
            </a:r>
            <a:r>
              <a:rPr sz="1400" b="0" i="0">
                <a:solidFill>
                  <a:srgbClr val="21295C"/>
                </a:solidFill>
                <a:latin typeface="Arial"/>
              </a:rPr>
              <a:t> — кашель три недели · вечерняя температура · минус четыре килограмма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в списке</a:t>
            </a:r>
            <a:r>
              <a:rPr sz="1400" b="0" i="0">
                <a:solidFill>
                  <a:srgbClr val="21295C"/>
                </a:solidFill>
                <a:latin typeface="Arial"/>
              </a:rPr>
              <a:t> — затяжной бронхит · туберкулёз · лимфома · аутоиммунное поражение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различают дешёвым и отсекающим</a:t>
            </a:r>
            <a:r>
              <a:rPr sz="1400" b="0" i="0">
                <a:solidFill>
                  <a:srgbClr val="21295C"/>
                </a:solidFill>
                <a:latin typeface="Arial"/>
              </a:rPr>
              <a:t> — снимок и анализ крови</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через два дня</a:t>
            </a:r>
            <a:r>
              <a:rPr sz="1400" b="0" i="0">
                <a:solidFill>
                  <a:srgbClr val="21295C"/>
                </a:solidFill>
                <a:latin typeface="Arial"/>
              </a:rPr>
              <a:t> — два вычеркнуты, осталось два, которые по снимку не различаются</a:t>
            </a:r>
          </a:p>
          <a:p>
            <a:pPr algn="l">
              <a:lnSpc>
                <a:spcPct val="126000"/>
              </a:lnSpc>
              <a:spcBef>
                <a:spcPts val="700"/>
              </a:spcBef>
            </a:pPr>
            <a:r>
              <a:rPr sz="1400" b="0" i="0">
                <a:solidFill>
                  <a:srgbClr val="21295C"/>
                </a:solidFill>
                <a:latin typeface="Arial"/>
              </a:rPr>
              <a:t/>
            </a:r>
            <a:r>
              <a:rPr sz="1400" b="1" i="0">
                <a:solidFill>
                  <a:srgbClr val="21295C"/>
                </a:solidFill>
                <a:latin typeface="Arial"/>
              </a:rPr>
              <a:t>Без обученной модели каждое из семи делает человек по записанному правилу.</a:t>
            </a:r>
            <a:r>
              <a:rPr sz="1400" b="0" i="0">
                <a:solidFill>
                  <a:srgbClr val="21295C"/>
                </a:solidFill>
                <a:latin typeface="Arial"/>
              </a:rPr>
              <a:t> Решение не принимается, пока список не сузился.</a:t>
            </a:r>
          </a:p>
          <a:p>
            <a:pPr algn="l">
              <a:lnSpc>
                <a:spcPct val="126000"/>
              </a:lnSpc>
              <a:spcBef>
                <a:spcPts val="700"/>
              </a:spcBef>
            </a:pPr>
            <a:r>
              <a:rPr sz="1400" b="0" i="0">
                <a:solidFill>
                  <a:srgbClr val="21295C"/>
                </a:solidFill>
                <a:latin typeface="Arial"/>
              </a:rPr>
              <a:t/>
            </a:r>
            <a:r>
              <a:rPr sz="1400" b="1" i="0">
                <a:solidFill>
                  <a:srgbClr val="21295C"/>
                </a:solidFill>
                <a:latin typeface="Arial"/>
              </a:rPr>
              <a:t>Обученная модель заняла три действия из семи:</a:t>
            </a:r>
            <a:r>
              <a:rPr sz="1400" b="0" i="0">
                <a:solidFill>
                  <a:srgbClr val="21295C"/>
                </a:solidFill>
                <a:latin typeface="Arial"/>
              </a:rPr>
              <a:t> состав списка (2) · второе чтение (5) · подпись (7). </a:t>
            </a:r>
            <a:r>
              <a:rPr sz="1400" b="1" i="0">
                <a:solidFill>
                  <a:srgbClr val="21295C"/>
                </a:solidFill>
                <a:latin typeface="Arial"/>
              </a:rPr>
              <a:t>Добавилось одно, которого у врача не было: решить, верить ли подсказке.</a:t>
            </a:r>
          </a:p>
          <a:p>
            <a:pPr algn="l">
              <a:lnSpc>
                <a:spcPct val="126000"/>
              </a:lnSpc>
              <a:spcBef>
                <a:spcPts val="700"/>
              </a:spcBef>
            </a:pPr>
            <a:r>
              <a:rPr sz="1400" b="0" i="0">
                <a:solidFill>
                  <a:srgbClr val="21295C"/>
                </a:solidFill>
                <a:latin typeface="Arial"/>
              </a:rPr>
              <a:t/>
            </a:r>
            <a:r>
              <a:rPr sz="1400" b="0" i="0">
                <a:solidFill>
                  <a:srgbClr val="21295C"/>
                </a:solidFill>
                <a:latin typeface="Arial"/>
              </a:rPr>
              <a:t>Ошибка здесь — </a:t>
            </a:r>
            <a:r>
              <a:rPr sz="1400" b="1" i="0">
                <a:solidFill>
                  <a:srgbClr val="21295C"/>
                </a:solidFill>
                <a:latin typeface="Arial"/>
              </a:rPr>
              <a:t>не вписать в список то, что должно было там быть</a:t>
            </a:r>
            <a:r>
              <a:rPr sz="1400" b="0" i="0">
                <a:solidFill>
                  <a:srgbClr val="21295C"/>
                </a:solidFill>
                <a:latin typeface="Arial"/>
              </a:rPr>
              <a:t>: проверки, которая бы это нашла, никто не назначит.</a:t>
            </a:r>
          </a:p>
          <a:p>
            <a:pPr algn="l">
              <a:lnSpc>
                <a:spcPct val="126000"/>
              </a:lnSpc>
              <a:spcBef>
                <a:spcPts val="700"/>
              </a:spcBef>
            </a:pPr>
            <a:r>
              <a:rPr sz="1400" b="0" i="0">
                <a:solidFill>
                  <a:srgbClr val="21295C"/>
                </a:solidFill>
                <a:latin typeface="Arial"/>
              </a:rPr>
              <a:t/>
            </a:r>
            <a:r>
              <a:rPr sz="1400" b="1" i="0">
                <a:solidFill>
                  <a:srgbClr val="21295C"/>
                </a:solidFill>
                <a:latin typeface="Arial"/>
              </a:rPr>
              <a:t>Какую свою гипотезу вы не записали — и как узнали, что её не хватало?</a:t>
            </a:r>
          </a:p>
        </p:txBody>
      </p:sp>
      <p:sp>
        <p:nvSpPr>
          <p:cNvPr id="20" name="Rectangle 19"/>
          <p:cNvSpPr/>
          <p:nvPr/>
        </p:nvSpPr>
        <p:spPr>
          <a:xfrm>
            <a:off x="6091275" y="2478765"/>
            <a:ext cx="9144" cy="368268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устроено второе мнение — и на чём оно держится</a:t>
            </a:r>
          </a:p>
        </p:txBody>
      </p:sp>
      <p:sp>
        <p:nvSpPr>
          <p:cNvPr id="4" name="Rounded Rectangle 3"/>
          <p:cNvSpPr/>
          <p:nvPr/>
        </p:nvSpPr>
        <p:spPr>
          <a:xfrm>
            <a:off x="502920"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a:t>
            </a:r>
          </a:p>
        </p:txBody>
      </p:sp>
      <p:sp>
        <p:nvSpPr>
          <p:cNvPr id="6" name="TextBox 5"/>
          <p:cNvSpPr txBox="1"/>
          <p:nvPr/>
        </p:nvSpPr>
        <p:spPr>
          <a:xfrm>
            <a:off x="640080" y="1725375"/>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ЗАЧЕМ</a:t>
            </a:r>
          </a:p>
        </p:txBody>
      </p:sp>
      <p:sp>
        <p:nvSpPr>
          <p:cNvPr id="9" name="TextBox 8"/>
          <p:cNvSpPr txBox="1"/>
          <p:nvPr/>
        </p:nvSpPr>
        <p:spPr>
          <a:xfrm>
            <a:off x="3477691"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ПРЕДПОЛАГАЕТ</a:t>
            </a:r>
          </a:p>
        </p:txBody>
      </p:sp>
      <p:sp>
        <p:nvSpPr>
          <p:cNvPr id="12" name="TextBox 11"/>
          <p:cNvSpPr txBox="1"/>
          <p:nvPr/>
        </p:nvSpPr>
        <p:spPr>
          <a:xfrm>
            <a:off x="6315303" y="1725375"/>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433580"/>
          </a:xfrm>
          <a:prstGeom prst="roundRect">
            <a:avLst>
              <a:gd name="adj" fmla="val 21261"/>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 РАЗБИРАЮТ РАЗНОГЛАСИЕ</a:t>
            </a:r>
          </a:p>
        </p:txBody>
      </p:sp>
      <p:sp>
        <p:nvSpPr>
          <p:cNvPr id="15" name="TextBox 14"/>
          <p:cNvSpPr txBox="1"/>
          <p:nvPr/>
        </p:nvSpPr>
        <p:spPr>
          <a:xfrm>
            <a:off x="9152915" y="193284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98806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17" name="Rounded Rectangle 16"/>
          <p:cNvSpPr/>
          <p:nvPr/>
        </p:nvSpPr>
        <p:spPr>
          <a:xfrm>
            <a:off x="1920240"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19" name="Right Arrow 18"/>
          <p:cNvSpPr/>
          <p:nvPr/>
        </p:nvSpPr>
        <p:spPr>
          <a:xfrm>
            <a:off x="5039258" y="312060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перегородка</a:t>
            </a:r>
          </a:p>
        </p:txBody>
      </p:sp>
      <p:sp>
        <p:nvSpPr>
          <p:cNvPr id="22" name="Right Arrow 21"/>
          <p:cNvSpPr/>
          <p:nvPr/>
        </p:nvSpPr>
        <p:spPr>
          <a:xfrm>
            <a:off x="8386876" y="312060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25" name="TextBox 24"/>
          <p:cNvSpPr txBox="1"/>
          <p:nvPr/>
        </p:nvSpPr>
        <p:spPr>
          <a:xfrm>
            <a:off x="502920" y="36097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Если не совпали</a:t>
            </a:r>
          </a:p>
        </p:txBody>
      </p:sp>
      <p:sp>
        <p:nvSpPr>
          <p:cNvPr id="26" name="Rounded Rectangle 25"/>
          <p:cNvSpPr/>
          <p:nvPr/>
        </p:nvSpPr>
        <p:spPr>
          <a:xfrm>
            <a:off x="1920240"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a:t>
            </a:r>
          </a:p>
        </p:txBody>
      </p:sp>
      <p:sp>
        <p:nvSpPr>
          <p:cNvPr id="28" name="Right Arrow 27"/>
          <p:cNvSpPr/>
          <p:nvPr/>
        </p:nvSpPr>
        <p:spPr>
          <a:xfrm>
            <a:off x="5039258" y="374229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31" name="Right Arrow 30"/>
          <p:cNvSpPr/>
          <p:nvPr/>
        </p:nvSpPr>
        <p:spPr>
          <a:xfrm>
            <a:off x="8386876" y="374229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4" name="TextBox 33"/>
          <p:cNvSpPr txBox="1"/>
          <p:nvPr/>
        </p:nvSpPr>
        <p:spPr>
          <a:xfrm>
            <a:off x="502920" y="40851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второго мнения</a:t>
            </a:r>
          </a:p>
        </p:txBody>
      </p:sp>
      <p:sp>
        <p:nvSpPr>
          <p:cNvPr id="35" name="Rounded Rectangle 34"/>
          <p:cNvSpPr/>
          <p:nvPr/>
        </p:nvSpPr>
        <p:spPr>
          <a:xfrm>
            <a:off x="374904" y="4387833"/>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79273"/>
            <a:ext cx="5373471" cy="17569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p:txBody>
      </p:sp>
      <p:sp>
        <p:nvSpPr>
          <p:cNvPr id="37" name="TextBox 36"/>
          <p:cNvSpPr txBox="1"/>
          <p:nvPr/>
        </p:nvSpPr>
        <p:spPr>
          <a:xfrm>
            <a:off x="6278727" y="4479273"/>
            <a:ext cx="5373471" cy="17569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p:txBody>
      </p:sp>
      <p:sp>
        <p:nvSpPr>
          <p:cNvPr id="38" name="Rectangle 37"/>
          <p:cNvSpPr/>
          <p:nvPr/>
        </p:nvSpPr>
        <p:spPr>
          <a:xfrm>
            <a:off x="6091275" y="4479273"/>
            <a:ext cx="9144" cy="127714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что именно делает человек</a:t>
            </a:r>
          </a:p>
        </p:txBody>
      </p:sp>
      <p:sp>
        <p:nvSpPr>
          <p:cNvPr id="4" name="Rounded Rectangle 3"/>
          <p:cNvSpPr/>
          <p:nvPr/>
        </p:nvSpPr>
        <p:spPr>
          <a:xfrm>
            <a:off x="502920"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ПЕРВЫМ</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ВТОРЫМ</a:t>
            </a:r>
          </a:p>
        </p:txBody>
      </p:sp>
      <p:sp>
        <p:nvSpPr>
          <p:cNvPr id="9" name="TextBox 8"/>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ТОЛЬКО СПОРНОЕ</a:t>
            </a:r>
          </a:p>
        </p:txBody>
      </p:sp>
      <p:sp>
        <p:nvSpPr>
          <p:cNvPr id="12" name="TextBox 11"/>
          <p:cNvSpPr txBox="1"/>
          <p:nvPr/>
        </p:nvSpPr>
        <p:spPr>
          <a:xfrm>
            <a:off x="6315303" y="1725375"/>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633507"/>
          </a:xfrm>
          <a:prstGeom prst="roundRect">
            <a:avLst>
              <a:gd name="adj" fmla="val 18659"/>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ПОДПИСЫВАЕТ НЕ ГЛЯДЯ</a:t>
            </a:r>
          </a:p>
        </p:txBody>
      </p:sp>
      <p:sp>
        <p:nvSpPr>
          <p:cNvPr id="15" name="TextBox 14"/>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видит только текст; медиана проверки — 1,99 секунды</a:t>
            </a:r>
          </a:p>
        </p:txBody>
      </p:sp>
      <p:sp>
        <p:nvSpPr>
          <p:cNvPr id="16" name="TextBox 15"/>
          <p:cNvSpPr txBox="1"/>
          <p:nvPr/>
        </p:nvSpPr>
        <p:spPr>
          <a:xfrm>
            <a:off x="9152915" y="218632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время ДО решения принять; вторая медиана работы — 6,48 секунды</a:t>
            </a:r>
          </a:p>
        </p:txBody>
      </p:sp>
      <p:sp>
        <p:nvSpPr>
          <p:cNvPr id="17" name="Rounded Rectangle 16"/>
          <p:cNvSpPr/>
          <p:nvPr/>
        </p:nvSpPr>
        <p:spPr>
          <a:xfrm>
            <a:off x="374904" y="3059971"/>
            <a:ext cx="11441887" cy="3176236"/>
          </a:xfrm>
          <a:prstGeom prst="roundRect">
            <a:avLst>
              <a:gd name="adj" fmla="val 95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51411"/>
            <a:ext cx="5373471" cy="30847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Принятое без предварительной проверки правят потом в </a:t>
            </a:r>
            <a:r>
              <a:rPr sz="1500" b="1" i="0">
                <a:solidFill>
                  <a:srgbClr val="21295C"/>
                </a:solidFill>
                <a:latin typeface="Arial"/>
              </a:rPr>
              <a:t>53 случаях из ста против 18</a:t>
            </a:r>
            <a:r>
              <a:rPr sz="1500" b="0" i="0">
                <a:solidFill>
                  <a:srgbClr val="21295C"/>
                </a:solidFill>
                <a:latin typeface="Arial"/>
              </a:rPr>
              <a:t>. Медиана измерена </a:t>
            </a:r>
            <a:r>
              <a:rPr sz="1500" b="1" i="0">
                <a:solidFill>
                  <a:srgbClr val="21295C"/>
                </a:solidFill>
                <a:latin typeface="Arial"/>
              </a:rPr>
              <a:t>на разработчиках в лаборатории,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верных рекомендациях точность рассуждения — </a:t>
            </a:r>
            <a:r>
              <a:rPr sz="1500" b="1" i="0">
                <a:solidFill>
                  <a:srgbClr val="21295C"/>
                </a:solidFill>
                <a:latin typeface="Arial"/>
              </a:rPr>
              <a:t>84,9 из ста</a:t>
            </a:r>
          </a:p>
        </p:txBody>
      </p:sp>
      <p:sp>
        <p:nvSpPr>
          <p:cNvPr id="19" name="TextBox 18"/>
          <p:cNvSpPr txBox="1"/>
          <p:nvPr/>
        </p:nvSpPr>
        <p:spPr>
          <a:xfrm>
            <a:off x="6278727" y="3151411"/>
            <a:ext cx="5373471" cy="30847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14,0 пункта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Рандомизированное испытание: 44 врача, 264 случая, двадцатичасовой курс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Ступени не ранжированы по качеству: на каждой есть и выигрыш, и своя слепота.</a:t>
            </a:r>
          </a:p>
        </p:txBody>
      </p:sp>
      <p:sp>
        <p:nvSpPr>
          <p:cNvPr id="20" name="Rectangle 19"/>
          <p:cNvSpPr/>
          <p:nvPr/>
        </p:nvSpPr>
        <p:spPr>
          <a:xfrm>
            <a:off x="6091275" y="3151411"/>
            <a:ext cx="9144" cy="29402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S. и соавт., NEJM AI, DOI 10.1056/AIoa2501001 — рандомизированное испытание, 44 врача, 264 случая</a:t>
            </a:r>
            <a:r>
              <a:rPr sz="1200" b="0" i="1">
                <a:solidFill>
                  <a:srgbClr val="1C7293"/>
                </a:solidFill>
                <a:latin typeface="Arial"/>
              </a:rPr>
              <a:t> · </a:t>
            </a:r>
            <a:r>
              <a:rPr sz="1200" b="0" i="1" u="sng">
                <a:solidFill>
                  <a:srgbClr val="065A82"/>
                </a:solidFill>
                <a:latin typeface="Arial"/>
                <a:hlinkClick r:id="rId3"/>
              </a:rPr>
              <a:t>Mozannar H. и соавт., Reading Between the Lines, CHI 2024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ЧИТАТЕЛЯ: БЕЗ ПОДСКАЗКИ → ПРИ ЛОЖНООТРИЦАТЕЛЬНОЙ</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по десяти читателям; падение 32 пункта, значимое</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Что происходит, когда подсказка неверна, и с какой величиной.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 до всякой точности.</a:t>
            </a:r>
            <a:r>
              <a:rPr sz="1500" b="0" i="0">
                <a:solidFill>
                  <a:srgbClr val="21295C"/>
                </a:solidFill>
                <a:latin typeface="Arial"/>
              </a:rPr>
              <a:t> Пропущенный рак — лечение позже и хуже. Ложный вызов — повторные исследования, биопсия,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той же маммограммы без подсказки — база. Второе человеческое чтение — режим, которым программа и держится.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Те же случаи и читатели, разница только в наличии подсказки.</a:t>
            </a:r>
          </a:p>
        </p:txBody>
      </p:sp>
      <p:sp>
        <p:nvSpPr>
          <p:cNvPr id="13" name="TextBox 12"/>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Десять читателей национальной программы, 60 случаев, каждый прочитан дважды; набор наполнен ошибками в обе стороны. Сильное по механизму, среднее по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распознавание на изображении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чтение маммограммы моделью вторым читателем либо сортировка потока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решает это организатор программы скрининга; больнице это не передано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 умеет удержать читателя от сужения поиска</a:t>
            </a:r>
          </a:p>
        </p:txBody>
      </p:sp>
      <p:sp>
        <p:nvSpPr>
          <p:cNvPr id="14" name="Rectangle 13"/>
          <p:cNvSpPr/>
          <p:nvPr/>
        </p:nvSpPr>
        <p:spPr>
          <a:xfrm>
            <a:off x="6091275" y="2891129"/>
            <a:ext cx="9144" cy="3237311"/>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взгляд ушёл с пропущенного — и это измерено</a:t>
            </a:r>
          </a:p>
        </p:txBody>
      </p:sp>
      <p:sp>
        <p:nvSpPr>
          <p:cNvPr id="4" name="Rounded Rectangle 3"/>
          <p:cNvSpPr/>
          <p:nvPr/>
        </p:nvSpPr>
        <p:spPr>
          <a:xfrm>
            <a:off x="502920" y="1335024"/>
            <a:ext cx="2673019" cy="2638799"/>
          </a:xfrm>
          <a:prstGeom prst="roundRect">
            <a:avLst>
              <a:gd name="adj" fmla="val 1155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ЗАДЕРЖКА ВЗГЛЯДА НА ПРОПУЩЕННЫХ МОДЕЛЬЮ ПОРАЖЕНИЯХ: БЕЗ ПОДСКАЗКИ → С ПОДСКАЗКОЙ</a:t>
            </a:r>
          </a:p>
        </p:txBody>
      </p:sp>
      <p:sp>
        <p:nvSpPr>
          <p:cNvPr id="6" name="TextBox 5"/>
          <p:cNvSpPr txBox="1"/>
          <p:nvPr/>
        </p:nvSpPr>
        <p:spPr>
          <a:xfrm>
            <a:off x="640080" y="2555260"/>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320293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различаются в третьем знаке, поэтому названы по ярлыкам</a:t>
            </a:r>
          </a:p>
        </p:txBody>
      </p:sp>
      <p:sp>
        <p:nvSpPr>
          <p:cNvPr id="8" name="Rounded Rectangle 7"/>
          <p:cNvSpPr/>
          <p:nvPr/>
        </p:nvSpPr>
        <p:spPr>
          <a:xfrm>
            <a:off x="3340531"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у профессиональных читателей программы результат стал хуже</a:t>
            </a:r>
          </a:p>
        </p:txBody>
      </p:sp>
      <p:sp>
        <p:nvSpPr>
          <p:cNvPr id="17" name="Rounded Rectangle 16"/>
          <p:cNvSpPr/>
          <p:nvPr/>
        </p:nvSpPr>
        <p:spPr>
          <a:xfrm>
            <a:off x="374904" y="4065263"/>
            <a:ext cx="11441887" cy="1966913"/>
          </a:xfrm>
          <a:prstGeom prst="roundRect">
            <a:avLst>
              <a:gd name="adj" fmla="val 154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56703"/>
            <a:ext cx="11112703" cy="20795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Taib A., Partridge G., Phillips P., Chen Y. и соавт., Radiology 2026;320(1):e252590, DOI 10.1148/radiol.252590, PMID 42446361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Зеркало того же замера: подсказка верна, поиск сузился, результат вырос</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ОХВАТ СНИМКА ВЗГЛЯДОМ: БЕЗ МОДЕЛИ → С МОДЕЛЬЮ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поиск сузился — и здесь это выигрыш</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БЕЗ МОДЕЛИ → С МОДЕЛЬЮ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81,7 → 87,2 из ста, но незначимо</a:t>
            </a:r>
          </a:p>
        </p:txBody>
      </p:sp>
      <p:sp>
        <p:nvSpPr>
          <p:cNvPr id="12" name="Rounded Rectangle 11"/>
          <p:cNvSpPr/>
          <p:nvPr/>
        </p:nvSpPr>
        <p:spPr>
          <a:xfrm>
            <a:off x="502920" y="2683657"/>
            <a:ext cx="5437479" cy="2120402"/>
          </a:xfrm>
          <a:prstGeom prst="roundRect">
            <a:avLst>
              <a:gd name="adj" fmla="val 1437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доказано</a:t>
            </a:r>
          </a:p>
        </p:txBody>
      </p:sp>
      <p:sp>
        <p:nvSpPr>
          <p:cNvPr id="14" name="TextBox 13"/>
          <p:cNvSpPr txBox="1"/>
          <p:nvPr/>
        </p:nvSpPr>
        <p:spPr>
          <a:xfrm>
            <a:off x="667512" y="3195284"/>
            <a:ext cx="5108295" cy="14533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различение больного и здорового выросло, и прибавка значима</a:t>
            </a:r>
          </a:p>
          <a:p>
            <a:pPr algn="l">
              <a:lnSpc>
                <a:spcPct val="126000"/>
              </a:lnSpc>
            </a:pPr>
            <a:r>
              <a:rPr sz="1450" b="0" i="0">
                <a:solidFill>
                  <a:srgbClr val="21295C"/>
                </a:solidFill>
                <a:latin typeface="Arial"/>
              </a:rPr>
              <a:t>• в нужном месте взгляд задержался дольше: 4,4 → 5,4 секунды</a:t>
            </a:r>
          </a:p>
        </p:txBody>
      </p:sp>
      <p:sp>
        <p:nvSpPr>
          <p:cNvPr id="15" name="Rounded Rectangle 14"/>
          <p:cNvSpPr/>
          <p:nvPr/>
        </p:nvSpPr>
        <p:spPr>
          <a:xfrm>
            <a:off x="6251295" y="2683657"/>
            <a:ext cx="5437479" cy="2120402"/>
          </a:xfrm>
          <a:prstGeom prst="roundRect">
            <a:avLst>
              <a:gd name="adj" fmla="val 14374"/>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доказано</a:t>
            </a:r>
          </a:p>
        </p:txBody>
      </p:sp>
      <p:sp>
        <p:nvSpPr>
          <p:cNvPr id="17" name="TextBox 16"/>
          <p:cNvSpPr txBox="1"/>
          <p:nvPr/>
        </p:nvSpPr>
        <p:spPr>
          <a:xfrm>
            <a:off x="6415887" y="3195284"/>
            <a:ext cx="5108295" cy="14533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прибавка чувствительности значимости не достигла</a:t>
            </a:r>
          </a:p>
          <a:p>
            <a:pPr algn="l">
              <a:lnSpc>
                <a:spcPct val="126000"/>
              </a:lnSpc>
            </a:pPr>
            <a:r>
              <a:rPr sz="1450" b="0" i="0">
                <a:solidFill>
                  <a:srgbClr val="21295C"/>
                </a:solidFill>
                <a:latin typeface="Arial"/>
              </a:rPr>
              <a:t>• специфичность и время чтения не изменились</a:t>
            </a:r>
          </a:p>
          <a:p>
            <a:pPr algn="l">
              <a:lnSpc>
                <a:spcPct val="126000"/>
              </a:lnSpc>
            </a:pPr>
            <a:r>
              <a:rPr sz="1450" b="0" i="0">
                <a:solidFill>
                  <a:srgbClr val="21295C"/>
                </a:solidFill>
                <a:latin typeface="Arial"/>
              </a:rPr>
              <a:t>• «модель сделала врачей лучше» этими данными не держится</a:t>
            </a:r>
          </a:p>
        </p:txBody>
      </p:sp>
      <p:sp>
        <p:nvSpPr>
          <p:cNvPr id="18" name="Rounded Rectangle 17"/>
          <p:cNvSpPr/>
          <p:nvPr/>
        </p:nvSpPr>
        <p:spPr>
          <a:xfrm>
            <a:off x="374904" y="4895500"/>
            <a:ext cx="11441887" cy="1340707"/>
          </a:xfrm>
          <a:prstGeom prst="roundRect">
            <a:avLst>
              <a:gd name="adj" fmla="val 22734"/>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986940"/>
            <a:ext cx="11112703" cy="1249267"/>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300" b="0" i="0">
                <a:solidFill>
                  <a:srgbClr val="21295C"/>
                </a:solidFill>
                <a:latin typeface="Arial"/>
              </a:rPr>
              <a:t/>
            </a:r>
            <a:r>
              <a:rPr sz="1300" b="1" i="0">
                <a:solidFill>
                  <a:srgbClr val="21295C"/>
                </a:solidFill>
                <a:latin typeface="Arial"/>
              </a:rPr>
              <a:t>Сужение поиска само по себе ни польза, ни вред.</a:t>
            </a:r>
            <a:r>
              <a:rPr sz="1300" b="0" i="0">
                <a:solidFill>
                  <a:srgbClr val="21295C"/>
                </a:solidFill>
                <a:latin typeface="Arial"/>
              </a:rPr>
              <a:t> Знак задаёт правота подсказки, и по сигналу различить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Оговорки.</a:t>
            </a:r>
            <a:r>
              <a:rPr sz="1300" b="0" i="0">
                <a:solidFill>
                  <a:srgbClr val="21295C"/>
                </a:solidFill>
                <a:latin typeface="Arial"/>
              </a:rPr>
              <a:t> Двенадцать радиологов, 3 600 прочтений. Чтение лабораторное: раков в наборе половина. Институциональные интересы с производителями авторы назвали сами.</a:t>
            </a: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ПРАВА: ШАНСЫ ВЕРНОГО ОТВЕТА</a:t>
            </a:r>
          </a:p>
        </p:txBody>
      </p:sp>
      <p:sp>
        <p:nvSpPr>
          <p:cNvPr id="6" name="TextBox 5"/>
          <p:cNvSpPr txBox="1"/>
          <p:nvPr/>
        </p:nvSpPr>
        <p:spPr>
          <a:xfrm>
            <a:off x="640080"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растут примерно вчетверо</a:t>
            </a:r>
          </a:p>
        </p:txBody>
      </p:sp>
      <p:sp>
        <p:nvSpPr>
          <p:cNvPr id="7" name="TextBox 6"/>
          <p:cNvSpPr txBox="1"/>
          <p:nvPr/>
        </p:nvSpPr>
        <p:spPr>
          <a:xfrm>
            <a:off x="640080"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чтение того же среза без подсказки</a:t>
            </a:r>
          </a:p>
        </p:txBody>
      </p:sp>
      <p:sp>
        <p:nvSpPr>
          <p:cNvPr id="8" name="Rounded Rectangle 7"/>
          <p:cNvSpPr/>
          <p:nvPr/>
        </p:nvSpPr>
        <p:spPr>
          <a:xfrm>
            <a:off x="3340531" y="1335024"/>
            <a:ext cx="2673019"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НЕПРАВА: ШАНСЫ ВЕРНОГО ОТВЕТА</a:t>
            </a:r>
          </a:p>
        </p:txBody>
      </p:sp>
      <p:sp>
        <p:nvSpPr>
          <p:cNvPr id="10" name="TextBox 9"/>
          <p:cNvSpPr txBox="1"/>
          <p:nvPr/>
        </p:nvSpPr>
        <p:spPr>
          <a:xfrm>
            <a:off x="3477691" y="1932846"/>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падают примерно вчетверо</a:t>
            </a:r>
          </a:p>
        </p:txBody>
      </p:sp>
      <p:sp>
        <p:nvSpPr>
          <p:cNvPr id="11" name="TextBox 10"/>
          <p:cNvSpPr txBox="1"/>
          <p:nvPr/>
        </p:nvSpPr>
        <p:spPr>
          <a:xfrm>
            <a:off x="3477691"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всех уровнях опыта и на случаях любой сложности</a:t>
            </a:r>
          </a:p>
        </p:txBody>
      </p:sp>
      <p:sp>
        <p:nvSpPr>
          <p:cNvPr id="12" name="Rounded Rectangle 11"/>
          <p:cNvSpPr/>
          <p:nvPr/>
        </p:nvSpPr>
        <p:spPr>
          <a:xfrm>
            <a:off x="6178143"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 ЖЕ ШАНСЫ В ДОЛЯХ: МОДЕЛЬ ПРАВА → НЕПРАВА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 50 из ста</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восьми верных ответах из десяти без подсказки</a:t>
            </a:r>
          </a:p>
        </p:txBody>
      </p:sp>
      <p:sp>
        <p:nvSpPr>
          <p:cNvPr id="16" name="Rounded Rectangle 15"/>
          <p:cNvSpPr/>
          <p:nvPr/>
        </p:nvSpPr>
        <p:spPr>
          <a:xfrm>
            <a:off x="9015755"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САМОЙ МОДЕЛИ НА НЕЗАВИСИМОМ НАБОРЕ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0,842</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одиннадцать патологов, 80 срезов, два чтения</a:t>
            </a:r>
          </a:p>
        </p:txBody>
      </p:sp>
      <p:sp>
        <p:nvSpPr>
          <p:cNvPr id="20" name="Rounded Rectangle 19"/>
          <p:cNvSpPr/>
          <p:nvPr/>
        </p:nvSpPr>
        <p:spPr>
          <a:xfrm>
            <a:off x="374904" y="3791779"/>
            <a:ext cx="11441887" cy="2444428"/>
          </a:xfrm>
          <a:prstGeom prst="roundRect">
            <a:avLst>
              <a:gd name="adj" fmla="val 12469"/>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83219"/>
            <a:ext cx="5373471" cy="235298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Подсказка по оцифрованному срезу в патологии. То же устройство — теперь на решении.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среза одним патологом; второе мнение субспециалиста.</a:t>
            </a:r>
          </a:p>
        </p:txBody>
      </p:sp>
      <p:sp>
        <p:nvSpPr>
          <p:cNvPr id="22" name="TextBox 21"/>
          <p:cNvSpPr txBox="1"/>
          <p:nvPr/>
        </p:nvSpPr>
        <p:spPr>
          <a:xfrm>
            <a:off x="6278727" y="3883219"/>
            <a:ext cx="5373471" cy="2352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них.</a:t>
            </a:r>
            <a:r>
              <a:rPr sz="1500" b="0" i="0">
                <a:solidFill>
                  <a:srgbClr val="21295C"/>
                </a:solidFill>
                <a:latin typeface="Arial"/>
              </a:rPr>
              <a:t> Знак эффекта задаёт её правота на этом конкретном случае.</a:t>
            </a:r>
          </a:p>
          <a:p>
            <a:pPr algn="l">
              <a:lnSpc>
                <a:spcPct val="126000"/>
              </a:lnSpc>
              <a:spcBef>
                <a:spcPts val="700"/>
              </a:spcBef>
            </a:pPr>
            <a:r>
              <a:rPr sz="1500" b="0" i="0">
                <a:solidFill>
                  <a:srgbClr val="21295C"/>
                </a:solidFill>
                <a:latin typeface="Arial"/>
              </a:rPr>
              <a:t/>
            </a:r>
            <a:r>
              <a:rPr sz="1500" b="0" i="0">
                <a:solidFill>
                  <a:srgbClr val="21295C"/>
                </a:solidFill>
                <a:latin typeface="Arial"/>
              </a:rPr>
              <a:t>Симметрия в шансах даёт асимметрию в долях: высокой точности есть куда падать и почти некуда расти.</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Ступень: смотрит вторым — подсказка выведена одновременно со срезом.</a:t>
            </a:r>
          </a:p>
        </p:txBody>
      </p:sp>
      <p:sp>
        <p:nvSpPr>
          <p:cNvPr id="23" name="Rectangle 22"/>
          <p:cNvSpPr/>
          <p:nvPr/>
        </p:nvSpPr>
        <p:spPr>
          <a:xfrm>
            <a:off x="6091275" y="3883219"/>
            <a:ext cx="9144" cy="22572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A. и соавт., Impact of a deep learning assistant on the histopathologic classification of liver cancer, npj Digital Medicine 2020, PMC7044422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цена: средняя складывает две противоположные вещи</a:t>
            </a:r>
          </a:p>
        </p:txBody>
      </p:sp>
      <p:sp>
        <p:nvSpPr>
          <p:cNvPr id="4" name="Rounded Rectangle 3"/>
          <p:cNvSpPr/>
          <p:nvPr/>
        </p:nvSpPr>
        <p:spPr>
          <a:xfrm>
            <a:off x="502920"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71397"/>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62837"/>
            <a:ext cx="5373471" cy="33733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группе в целом, без разделения на правоту модели, прибавка незначима.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Отчёт о внедрении с одним числом показал бы «эффекта нет» там, где эффект велик в обе стороны.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Сместилась цена ошибки: ошибка модели стала ошибкой врача — и подпись под заключением ставит он.</a:t>
            </a:r>
          </a:p>
        </p:txBody>
      </p:sp>
      <p:sp>
        <p:nvSpPr>
          <p:cNvPr id="15" name="TextBox 14"/>
          <p:cNvSpPr txBox="1"/>
          <p:nvPr/>
        </p:nvSpPr>
        <p:spPr>
          <a:xfrm>
            <a:off x="6278727"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другим жанром, — сводка систем поддержки врачебных решений: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неверная подсказка повышает риск неверного решения на </a:t>
            </a:r>
            <a:r>
              <a:rPr sz="1500" b="1" i="0">
                <a:solidFill>
                  <a:srgbClr val="21295C"/>
                </a:solidFill>
                <a:latin typeface="Arial"/>
              </a:rPr>
              <a:t>26 процентов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обзор включил 74 исследования из 13 821 просмотренного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в той совокупности много систем на правилах, и обученной моделью они не являются</a:t>
            </a:r>
          </a:p>
        </p:txBody>
      </p:sp>
      <p:sp>
        <p:nvSpPr>
          <p:cNvPr id="16" name="Rectangle 15"/>
          <p:cNvSpPr/>
          <p:nvPr/>
        </p:nvSpPr>
        <p:spPr>
          <a:xfrm>
            <a:off x="6091275" y="2862837"/>
            <a:ext cx="9144" cy="2346127"/>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Kiani A. и соавт., npj Digital Medicine 2020, PMC7044422</a:t>
            </a:r>
            <a:r>
              <a:rPr sz="1200" b="0" i="1">
                <a:solidFill>
                  <a:srgbClr val="1C7293"/>
                </a:solidFill>
                <a:latin typeface="Arial"/>
              </a:rPr>
              <a:t> · </a:t>
            </a:r>
            <a:r>
              <a:rPr sz="1200" b="0" i="1" u="sng">
                <a:solidFill>
                  <a:srgbClr val="065A82"/>
                </a:solidFill>
                <a:latin typeface="Arial"/>
                <a:hlinkClick r:id="rId3"/>
              </a:rPr>
              <a:t>Goddard K., Roudsari A., Wyatt J., Automation bias: a systematic review of frequency, effect mediators, and mitigators, JAMIA 2012;19(1):121–127, обзор</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отдельный прогон; равноправной случайной ветвью он не был</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ОДИН, СО СПРАВОЧНИКАМИ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привычные источники — это база сравнения</a:t>
            </a:r>
          </a:p>
        </p:txBody>
      </p:sp>
      <p:sp>
        <p:nvSpPr>
          <p:cNvPr id="12" name="Rounded Rectangle 11"/>
          <p:cNvSpPr/>
          <p:nvPr/>
        </p:nvSpPr>
        <p:spPr>
          <a:xfrm>
            <a:off x="6178143"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ПОВЕРХ МОДЕЛИ</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разница два пункта, незначима: интервал от −4 до 8</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первым</a:t>
            </a:r>
          </a:p>
        </p:txBody>
      </p:sp>
      <p:sp>
        <p:nvSpPr>
          <p:cNvPr id="19" name="TextBox 18"/>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под рукой справочником; рассуждение врач начинает сам</a:t>
            </a:r>
          </a:p>
        </p:txBody>
      </p:sp>
      <p:sp>
        <p:nvSpPr>
          <p:cNvPr id="20" name="Rounded Rectangle 19"/>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А может, пара всё-таки лучше человека без модели? Три числа на одних задачах отвечают на это.</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Неверный диагноз — лечение чужой болезни и потерянное время. Избыточная проверка — свой риск и отложенное решение.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врач с обычными справочниками: это база сравнения.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Разница между врачом одним и врачом с моделью — два пункта, и она </a:t>
            </a:r>
            <a:r>
              <a:rPr sz="1500" b="1" i="0">
                <a:solidFill>
                  <a:srgbClr val="21295C"/>
                </a:solidFill>
                <a:latin typeface="Arial"/>
              </a:rPr>
              <a:t>незначима</a:t>
            </a:r>
            <a:r>
              <a:rPr sz="1500" b="0" i="0">
                <a:solidFill>
                  <a:srgbClr val="21295C"/>
                </a:solidFill>
                <a:latin typeface="Arial"/>
              </a:rPr>
              <a:t>: данные есть, разницы нет.</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Прогон «модель одна» равноправной случайной ветвью не был — он идёт </a:t>
            </a:r>
            <a:r>
              <a:rPr sz="1500" b="1" i="0">
                <a:solidFill>
                  <a:srgbClr val="21295C"/>
                </a:solidFill>
                <a:latin typeface="Arial"/>
              </a:rPr>
              <a:t>наблюдательным дополнением</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Пятьдесят врачей, медиана пять случаев на врача. Виньетки по реальным случаям: исходов пациентов никто не проверял.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генерация на тексте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клиническое рассуждение и вопрос-ответ со ссылками на литературу</a:t>
            </a:r>
          </a:p>
          <a:p>
            <a:pPr algn="l">
              <a:lnSpc>
                <a:spcPct val="126000"/>
              </a:lnSpc>
              <a:spcBef>
                <a:spcPts val="700"/>
              </a:spcBef>
            </a:pPr>
            <a:r>
              <a:rPr sz="1500" b="0" i="0">
                <a:solidFill>
                  <a:srgbClr val="21295C"/>
                </a:solidFill>
                <a:latin typeface="Arial"/>
              </a:rPr>
              <a:t/>
            </a:r>
            <a:r>
              <a:rPr sz="1500" b="0" i="0">
                <a:solidFill>
                  <a:srgbClr val="21295C"/>
                </a:solidFill>
                <a:latin typeface="Arial"/>
              </a:rPr>
              <a:t>• входит </a:t>
            </a:r>
            <a:r>
              <a:rPr sz="1500" b="1" i="0">
                <a:solidFill>
                  <a:srgbClr val="21295C"/>
                </a:solidFill>
                <a:latin typeface="Arial"/>
              </a:rPr>
              <a:t>снизу</a:t>
            </a:r>
            <a:r>
              <a:rPr sz="1500" b="0" i="0">
                <a:solidFill>
                  <a:srgbClr val="21295C"/>
                </a:solidFill>
                <a:latin typeface="Arial"/>
              </a:rPr>
              <a:t>, самостоятельным употреблением врача, минуя закупку</a:t>
            </a:r>
          </a:p>
        </p:txBody>
      </p:sp>
      <p:sp>
        <p:nvSpPr>
          <p:cNvPr id="23" name="Rectangle 22"/>
          <p:cNvSpPr/>
          <p:nvPr/>
        </p:nvSpPr>
        <p:spPr>
          <a:xfrm>
            <a:off x="6091275" y="3285324"/>
            <a:ext cx="9144" cy="294025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времени меньше, выигрыша нет</a:t>
            </a:r>
          </a:p>
        </p:txBody>
      </p:sp>
      <p:sp>
        <p:nvSpPr>
          <p:cNvPr id="4" name="Rounded Rectangle 3"/>
          <p:cNvSpPr/>
          <p:nvPr/>
        </p:nvSpPr>
        <p:spPr>
          <a:xfrm>
            <a:off x="502920" y="1335024"/>
            <a:ext cx="2673019" cy="2393606"/>
          </a:xfrm>
          <a:prstGeom prst="roundRect">
            <a:avLst>
              <a:gd name="adj" fmla="val 1273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МЕДИАННОЕ ВРЕМЯ НА СЛУЧАЙ: БЕЗ МОДЕЛИ →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95774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519 — это группа С моделью; разница значимости не достигает</a:t>
            </a:r>
          </a:p>
        </p:txBody>
      </p:sp>
      <p:sp>
        <p:nvSpPr>
          <p:cNvPr id="8" name="Rounded Rectangle 7"/>
          <p:cNvSpPr/>
          <p:nvPr/>
        </p:nvSpPr>
        <p:spPr>
          <a:xfrm>
            <a:off x="3340531"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доступ к инструменту и новый шаг внутри рассуждения</a:t>
            </a:r>
          </a:p>
        </p:txBody>
      </p:sp>
      <p:sp>
        <p:nvSpPr>
          <p:cNvPr id="14" name="Rounded Rectangle 13"/>
          <p:cNvSpPr/>
          <p:nvPr/>
        </p:nvSpPr>
        <p:spPr>
          <a:xfrm>
            <a:off x="9015755"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20070"/>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p:txBody>
      </p:sp>
      <p:sp>
        <p:nvSpPr>
          <p:cNvPr id="19" name="TextBox 18"/>
          <p:cNvSpPr txBox="1"/>
          <p:nvPr/>
        </p:nvSpPr>
        <p:spPr>
          <a:xfrm>
            <a:off x="6278727"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«Ничего измеримого» —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20" name="Rectangle 19"/>
          <p:cNvSpPr/>
          <p:nvPr/>
        </p:nvSpPr>
        <p:spPr>
          <a:xfrm>
            <a:off x="6091275" y="3911510"/>
            <a:ext cx="9144" cy="190075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Goh E. и соавт., JAMA Network Open 2024;7(10):e2440969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прибавка значима; специфичность в обоих плечах 98,5</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анализа одного испытания; в одну базу не складываются</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11112703"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та же, что в разделе про отбор: пропуск — рак, найденный позже; ложный вызов — повторные исследования и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База сравнения — двойное чтение двумя людьми с арбитражем третьего на разногласиях.</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Модель читает первой, человек читает сам, разногласие разбирает третий. Прибавка чувствительности </a:t>
            </a:r>
            <a:r>
              <a:rPr sz="1500" b="1" i="0">
                <a:solidFill>
                  <a:srgbClr val="21295C"/>
                </a:solidFill>
                <a:latin typeface="Arial"/>
              </a:rPr>
              <a:t>значима</a:t>
            </a:r>
            <a:r>
              <a:rPr sz="1500" b="0" i="0">
                <a:solidFill>
                  <a:srgbClr val="21295C"/>
                </a:solidFill>
                <a:latin typeface="Arial"/>
              </a:rPr>
              <a:t>: независимость здесь </a:t>
            </a:r>
            <a:r>
              <a:rPr sz="1500" b="1" i="0">
                <a:solidFill>
                  <a:srgbClr val="21295C"/>
                </a:solidFill>
                <a:latin typeface="Arial"/>
              </a:rPr>
              <a:t>перестроена</a:t>
            </a:r>
            <a:r>
              <a:rPr sz="1500" b="0" i="0">
                <a:solidFill>
                  <a:srgbClr val="21295C"/>
                </a:solidFill>
                <a:latin typeface="Arial"/>
              </a:rPr>
              <a:t>, и выиграло устройство процедуры.</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Инструмент тот же, что в разборе выше.</a:t>
            </a:r>
            <a:r>
              <a:rPr sz="1500" b="0" i="0">
                <a:solidFill>
                  <a:srgbClr val="21295C"/>
                </a:solidFill>
                <a:latin typeface="Arial"/>
              </a:rPr>
              <a:t> Держат его контроль порога и арбитраж; вне скрининга бессимптомных он работать не умеет.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 Gommers J., … Lång K., The Lancet 2026, 105 934 распределённых</a:t>
            </a:r>
            <a:r>
              <a:rPr sz="1200" b="0" i="1">
                <a:solidFill>
                  <a:srgbClr val="1C7293"/>
                </a:solidFill>
                <a:latin typeface="Arial"/>
              </a:rPr>
              <a:t> · </a:t>
            </a:r>
            <a:r>
              <a:rPr sz="1200" b="0" i="1" u="sng">
                <a:solidFill>
                  <a:srgbClr val="065A82"/>
                </a:solidFill>
                <a:latin typeface="Arial"/>
                <a:hlinkClick r:id="rId3"/>
              </a:rPr>
              <a:t>промежуточный анализ безопасности — Lång K. и соавт., Lancet Oncology 2023, 80 033 распределённых</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что переехало и чем за это платят</a:t>
            </a:r>
          </a:p>
        </p:txBody>
      </p:sp>
      <p:sp>
        <p:nvSpPr>
          <p:cNvPr id="4" name="Rounded Rectangle 3"/>
          <p:cNvSpPr/>
          <p:nvPr/>
        </p:nvSpPr>
        <p:spPr>
          <a:xfrm>
            <a:off x="502920" y="1335024"/>
            <a:ext cx="2673019" cy="2012613"/>
          </a:xfrm>
          <a:prstGeom prst="roundRect">
            <a:avLst>
              <a:gd name="adj" fmla="val 1514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2140317"/>
            <a:ext cx="2398699" cy="647673"/>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78799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отношение частот 0,88, интервал от 0,65 до 1,18</a:t>
            </a:r>
          </a:p>
        </p:txBody>
      </p:sp>
      <p:sp>
        <p:nvSpPr>
          <p:cNvPr id="8" name="Rounded Rectangle 7"/>
          <p:cNvSpPr/>
          <p:nvPr/>
        </p:nvSpPr>
        <p:spPr>
          <a:xfrm>
            <a:off x="3340531"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3439077"/>
            <a:ext cx="11441887" cy="2797130"/>
          </a:xfrm>
          <a:prstGeom prst="roundRect">
            <a:avLst>
              <a:gd name="adj" fmla="val 108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30517"/>
            <a:ext cx="5373471" cy="270569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и это разворачивает весь раздел: в другой программе измерили, </a:t>
            </a:r>
            <a:r>
              <a:rPr sz="1500" b="1" i="0">
                <a:solidFill>
                  <a:srgbClr val="21295C"/>
                </a:solidFill>
                <a:latin typeface="Arial"/>
              </a:rPr>
              <a:t>чьим находкам верят</a:t>
            </a:r>
            <a:r>
              <a:rPr sz="1500" b="0" i="0">
                <a:solidFill>
                  <a:srgbClr val="21295C"/>
                </a:solidFill>
                <a:latin typeface="Arial"/>
              </a:rPr>
              <a:t>.</a:t>
            </a:r>
          </a:p>
        </p:txBody>
      </p:sp>
      <p:sp>
        <p:nvSpPr>
          <p:cNvPr id="19" name="TextBox 18"/>
          <p:cNvSpPr txBox="1"/>
          <p:nvPr/>
        </p:nvSpPr>
        <p:spPr>
          <a:xfrm>
            <a:off x="6278727" y="3530517"/>
            <a:ext cx="5373471" cy="270569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 ста находок </a:t>
            </a:r>
            <a:r>
              <a:rPr sz="1500" b="1" i="0">
                <a:solidFill>
                  <a:srgbClr val="21295C"/>
                </a:solidFill>
                <a:latin typeface="Arial"/>
              </a:rPr>
              <a:t>только модели</a:t>
            </a:r>
            <a:r>
              <a:rPr sz="1500" b="0" i="0">
                <a:solidFill>
                  <a:srgbClr val="21295C"/>
                </a:solidFill>
                <a:latin typeface="Arial"/>
              </a:rPr>
              <a:t> подтверждается раком </a:t>
            </a:r>
            <a:r>
              <a:rPr sz="1500" b="1" i="0">
                <a:solidFill>
                  <a:srgbClr val="21295C"/>
                </a:solidFill>
                <a:latin typeface="Arial"/>
              </a:rPr>
              <a:t>22</a:t>
            </a:r>
            <a:r>
              <a:rPr sz="1500" b="0" i="0">
                <a:solidFill>
                  <a:srgbClr val="21295C"/>
                </a:solidFill>
                <a:latin typeface="Arial"/>
              </a:rPr>
              <a:t>; из ста находок </a:t>
            </a:r>
            <a:r>
              <a:rPr sz="1500" b="1" i="0">
                <a:solidFill>
                  <a:srgbClr val="21295C"/>
                </a:solidFill>
                <a:latin typeface="Arial"/>
              </a:rPr>
              <a:t>только радиолога</a:t>
            </a:r>
            <a:r>
              <a:rPr sz="1500" b="0" i="0">
                <a:solidFill>
                  <a:srgbClr val="21295C"/>
                </a:solidFill>
                <a:latin typeface="Arial"/>
              </a:rPr>
              <a:t> — </a:t>
            </a:r>
            <a:r>
              <a:rPr sz="1500" b="1" i="0">
                <a:solidFill>
                  <a:srgbClr val="21295C"/>
                </a:solidFill>
                <a:latin typeface="Arial"/>
              </a:rPr>
              <a:t>3,4</a:t>
            </a:r>
          </a:p>
          <a:p>
            <a:pPr algn="l">
              <a:lnSpc>
                <a:spcPct val="126000"/>
              </a:lnSpc>
              <a:spcBef>
                <a:spcPts val="700"/>
              </a:spcBef>
            </a:pPr>
            <a:r>
              <a:rPr sz="1500" b="0" i="0">
                <a:solidFill>
                  <a:srgbClr val="21295C"/>
                </a:solidFill>
                <a:latin typeface="Arial"/>
              </a:rPr>
              <a:t/>
            </a:r>
            <a:r>
              <a:rPr sz="1500" b="0" i="0">
                <a:solidFill>
                  <a:srgbClr val="21295C"/>
                </a:solidFill>
                <a:latin typeface="Arial"/>
              </a:rPr>
              <a:t>• отзывают же чаще вторую: находку радиолога — в 14,2 случая из ста, находку модели — в 4,6</a:t>
            </a:r>
          </a:p>
          <a:p>
            <a:pPr algn="l">
              <a:lnSpc>
                <a:spcPct val="126000"/>
              </a:lnSpc>
              <a:spcBef>
                <a:spcPts val="700"/>
              </a:spcBef>
            </a:pPr>
            <a:r>
              <a:rPr sz="1500" b="0" i="0">
                <a:solidFill>
                  <a:srgbClr val="21295C"/>
                </a:solidFill>
                <a:latin typeface="Arial"/>
              </a:rPr>
              <a:t/>
            </a:r>
            <a:r>
              <a:rPr sz="1500" b="0" i="0">
                <a:solidFill>
                  <a:srgbClr val="21295C"/>
                </a:solidFill>
                <a:latin typeface="Arial"/>
              </a:rPr>
              <a:t>То есть доверия к модели здесь </a:t>
            </a:r>
            <a:r>
              <a:rPr sz="1500" b="1" i="0">
                <a:solidFill>
                  <a:srgbClr val="21295C"/>
                </a:solidFill>
                <a:latin typeface="Arial"/>
              </a:rPr>
              <a:t>слишком мало</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54 991 женщина, три независимых источника на каждое исследование. Знаменатели почти равны: 1 858 находок радиолога против 1 886 находок системы.</a:t>
            </a:r>
          </a:p>
        </p:txBody>
      </p:sp>
      <p:sp>
        <p:nvSpPr>
          <p:cNvPr id="20" name="Rectangle 19"/>
          <p:cNvSpPr/>
          <p:nvPr/>
        </p:nvSpPr>
        <p:spPr>
          <a:xfrm>
            <a:off x="6091275" y="3530517"/>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той же программы — Gommers J., … Lång K., The Lancet 2026</a:t>
            </a:r>
            <a:r>
              <a:rPr sz="1200" b="0" i="1">
                <a:solidFill>
                  <a:srgbClr val="1C7293"/>
                </a:solidFill>
                <a:latin typeface="Arial"/>
              </a:rPr>
              <a:t> · </a:t>
            </a:r>
            <a:r>
              <a:rPr sz="1200" b="0" i="1" u="sng">
                <a:solidFill>
                  <a:srgbClr val="065A82"/>
                </a:solidFill>
                <a:latin typeface="Arial"/>
                <a:hlinkClick r:id="rId3"/>
              </a:rPr>
              <a:t>Dembrower K. E. и соавт., Radiology 2025, проспективное исследование ScreenTrustCAD, 54 991 женщина</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НЕВЕРНАЯ РАСШИФРОВКА РОНЯЕТ ТОЧНОСТЬ</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группы стажёров; различает специальность</a:t>
            </a:r>
          </a:p>
        </p:txBody>
      </p:sp>
      <p:sp>
        <p:nvSpPr>
          <p:cNvPr id="8" name="Rounded Rectangle 7"/>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выигрыша не предсказывают — предсказывает правота модели</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 ПОДАЧИ</a:t>
            </a:r>
          </a:p>
        </p:txBody>
      </p:sp>
      <p:sp>
        <p:nvSpPr>
          <p:cNvPr id="13" name="TextBox 12"/>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64 → 48 из ста</a:t>
            </a:r>
          </a:p>
        </p:txBody>
      </p:sp>
      <p:sp>
        <p:nvSpPr>
          <p:cNvPr id="14" name="TextBox 13"/>
          <p:cNvSpPr txBox="1"/>
          <p:nvPr/>
        </p:nvSpPr>
        <p:spPr>
          <a:xfrm>
            <a:off x="6315303"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на одной задаче</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ОСТАЁТСЯ ПРИ САМОЙ СИЛЬНОЙ ИЗ МЕР</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48 согласий из ста</a:t>
            </a:r>
          </a:p>
        </p:txBody>
      </p:sp>
      <p:sp>
        <p:nvSpPr>
          <p:cNvPr id="18" name="Rounded Rectangle 17"/>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Что ломается.</a:t>
            </a:r>
            <a:r>
              <a:rPr sz="1350" b="0" i="0">
                <a:solidFill>
                  <a:srgbClr val="21295C"/>
                </a:solidFill>
                <a:latin typeface="Arial"/>
              </a:rPr>
              <a:t> База падения — </a:t>
            </a:r>
            <a:r>
              <a:rPr sz="1350" b="1" i="0">
                <a:solidFill>
                  <a:srgbClr val="21295C"/>
                </a:solidFill>
                <a:latin typeface="Arial"/>
              </a:rPr>
              <a:t>верная</a:t>
            </a:r>
            <a:r>
              <a:rPr sz="1350" b="0" i="0">
                <a:solidFill>
                  <a:srgbClr val="21295C"/>
                </a:solidFill>
                <a:latin typeface="Arial"/>
              </a:rPr>
              <a:t> расшифровка. Существеннее величины другое: у обеих групп слабеет связь уверенности с правотой.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Где потолок.</a:t>
            </a:r>
            <a:r>
              <a:rPr sz="1350" b="0" i="0">
                <a:solidFill>
                  <a:srgbClr val="21295C"/>
                </a:solidFill>
                <a:latin typeface="Arial"/>
              </a:rPr>
              <a:t> Переустройство подачи снижает согласие значимо — и при нём почти половина согласий остаётся. </a:t>
            </a:r>
            <a:r>
              <a:rPr sz="1350" b="0" i="1">
                <a:solidFill>
                  <a:srgbClr val="21295C"/>
                </a:solidFill>
                <a:latin typeface="Arial"/>
              </a:rPr>
              <a:t>Лабораторный опыт, 199 участников, задача не клиническая.</a:t>
            </a:r>
          </a:p>
          <a:p>
            <a:pPr algn="l">
              <a:lnSpc>
                <a:spcPct val="126000"/>
              </a:lnSpc>
              <a:spcBef>
                <a:spcPts val="700"/>
              </a:spcBef>
            </a:pPr>
            <a:r>
              <a:rPr sz="1350" b="0" i="0">
                <a:solidFill>
                  <a:srgbClr val="21295C"/>
                </a:solidFill>
                <a:latin typeface="Arial"/>
              </a:rPr>
              <a:t/>
            </a:r>
            <a:r>
              <a:rPr sz="1350" b="1" i="0">
                <a:solidFill>
                  <a:srgbClr val="21295C"/>
                </a:solidFill>
                <a:latin typeface="Arial"/>
              </a:rPr>
              <a:t>Не измерено, и это названо пробелом.</a:t>
            </a:r>
            <a:r>
              <a:rPr sz="1350" b="0" i="0">
                <a:solidFill>
                  <a:srgbClr val="21295C"/>
                </a:solidFill>
                <a:latin typeface="Arial"/>
              </a:rPr>
              <a:t> «Одна ошибка обрывает доверие» как величина не опубликована. Измерено другое: увидев промах алгоритма, человек реже выбирает его дальше.</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Доверие откалибровано </a:t>
            </a:r>
            <a:r>
              <a:rPr sz="1350" b="1" i="0">
                <a:solidFill>
                  <a:srgbClr val="21295C"/>
                </a:solidFill>
                <a:latin typeface="Arial"/>
              </a:rPr>
              <a:t>не по тому признаку</a:t>
            </a:r>
            <a:r>
              <a:rPr sz="1350" b="0" i="0">
                <a:solidFill>
                  <a:srgbClr val="21295C"/>
                </a:solidFill>
                <a:latin typeface="Arial"/>
              </a:rPr>
              <a:t>: по подписи, по уверенности, по единичному промаху. Правота в этот счёт не входит.</a:t>
            </a:r>
          </a:p>
          <a:p>
            <a:pPr algn="l">
              <a:lnSpc>
                <a:spcPct val="126000"/>
              </a:lnSpc>
              <a:spcBef>
                <a:spcPts val="700"/>
              </a:spcBef>
            </a:pPr>
            <a:r>
              <a:rPr sz="1350" b="0" i="0">
                <a:solidFill>
                  <a:srgbClr val="21295C"/>
                </a:solidFill>
                <a:latin typeface="Arial"/>
              </a:rPr>
              <a:t/>
            </a:r>
            <a:r>
              <a:rPr sz="1350" b="0" i="0">
                <a:solidFill>
                  <a:srgbClr val="21295C"/>
                </a:solidFill>
                <a:latin typeface="Arial"/>
              </a:rPr>
              <a:t>Выводят подсказку в рабочее место через платформу-посредник:</a:t>
            </a:r>
          </a:p>
          <a:p>
            <a:pPr algn="l">
              <a:lnSpc>
                <a:spcPct val="126000"/>
              </a:lnSpc>
              <a:spcBef>
                <a:spcPts val="700"/>
              </a:spcBef>
            </a:pPr>
            <a:r>
              <a:rPr sz="1350" b="0" i="0">
                <a:solidFill>
                  <a:srgbClr val="21295C"/>
                </a:solidFill>
                <a:latin typeface="Arial"/>
              </a:rPr>
              <a:t/>
            </a:r>
            <a:r>
              <a:rPr sz="1350" b="0" i="0">
                <a:solidFill>
                  <a:srgbClr val="21295C"/>
                </a:solidFill>
                <a:latin typeface="Arial"/>
              </a:rPr>
              <a:t>• модули подключают по подписке: «какой алгоритм смотрит снимок» решается после закупки</a:t>
            </a:r>
          </a:p>
          <a:p>
            <a:pPr algn="l">
              <a:lnSpc>
                <a:spcPct val="126000"/>
              </a:lnSpc>
              <a:spcBef>
                <a:spcPts val="700"/>
              </a:spcBef>
            </a:pPr>
            <a:r>
              <a:rPr sz="1350" b="0" i="0">
                <a:solidFill>
                  <a:srgbClr val="21295C"/>
                </a:solidFill>
                <a:latin typeface="Arial"/>
              </a:rPr>
              <a:t/>
            </a:r>
            <a:r>
              <a:rPr sz="1350" b="0" i="0">
                <a:solidFill>
                  <a:srgbClr val="21295C"/>
                </a:solidFill>
                <a:latin typeface="Arial"/>
              </a:rPr>
              <a:t>• точности платформа не добавляет — добавляет подпись «смотрела программа»</a:t>
            </a:r>
          </a:p>
        </p:txBody>
      </p:sp>
      <p:sp>
        <p:nvSpPr>
          <p:cNvPr id="21" name="Rectangle 20"/>
          <p:cNvSpPr/>
          <p:nvPr/>
        </p:nvSpPr>
        <p:spPr>
          <a:xfrm>
            <a:off x="6091275" y="3492795"/>
            <a:ext cx="9144" cy="2583995"/>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R. R. и соавт., Journal of Electrocardiology 2018</a:t>
            </a:r>
            <a:r>
              <a:rPr sz="1200" b="0" i="1">
                <a:solidFill>
                  <a:srgbClr val="1C7293"/>
                </a:solidFill>
                <a:latin typeface="Arial"/>
              </a:rPr>
              <a:t> · </a:t>
            </a:r>
            <a:r>
              <a:rPr sz="1200" b="0" i="1" u="sng">
                <a:solidFill>
                  <a:srgbClr val="065A82"/>
                </a:solidFill>
                <a:latin typeface="Arial"/>
                <a:hlinkClick r:id="rId3"/>
              </a:rPr>
              <a:t>Yu F. и соавт., Nature Medicine 2024</a:t>
            </a:r>
            <a:r>
              <a:rPr sz="1200" b="0" i="1">
                <a:solidFill>
                  <a:srgbClr val="1C7293"/>
                </a:solidFill>
                <a:latin typeface="Arial"/>
              </a:rPr>
              <a:t> · </a:t>
            </a:r>
            <a:r>
              <a:rPr sz="1200" b="0" i="1" u="sng">
                <a:solidFill>
                  <a:srgbClr val="065A82"/>
                </a:solidFill>
                <a:latin typeface="Arial"/>
                <a:hlinkClick r:id="rId4"/>
              </a:rPr>
              <a:t>Buçinca Z. и соавт., To Trust or to Think, CSCW 2021</a:t>
            </a:r>
            <a:r>
              <a:rPr sz="1200" b="0" i="1">
                <a:solidFill>
                  <a:srgbClr val="1C7293"/>
                </a:solidFill>
                <a:latin typeface="Arial"/>
              </a:rPr>
              <a:t> · </a:t>
            </a:r>
            <a:r>
              <a:rPr sz="1200" b="0" i="1" u="sng">
                <a:solidFill>
                  <a:srgbClr val="065A82"/>
                </a:solidFill>
                <a:latin typeface="Arial"/>
                <a:hlinkClick r:id="rId5"/>
              </a:rPr>
              <a:t>Dietvorst B. и соавт., Algorithm Aversion, Journal of Experimental Psychology: General 2015, названный пробел</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Правило, собранное из ста шести опытов</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СИЛЬНЕЕ ЧЕЛОВЕКА: ПАРА ХУЖЕ МОДЕЛИ</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в долях разброса; интервал от −0,71 до −0,37</a:t>
            </a:r>
          </a:p>
        </p:txBody>
      </p:sp>
      <p:sp>
        <p:nvSpPr>
          <p:cNvPr id="8" name="Rounded Rectangle 7"/>
          <p:cNvSpPr/>
          <p:nvPr/>
        </p:nvSpPr>
        <p:spPr>
          <a:xfrm>
            <a:off x="4286402"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 от 0,28 до 0,66 — целиком выше нуля</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a:t>
            </a:r>
          </a:p>
        </p:txBody>
      </p:sp>
      <p:sp>
        <p:nvSpPr>
          <p:cNvPr id="14" name="TextBox 13"/>
          <p:cNvSpPr txBox="1"/>
          <p:nvPr/>
        </p:nvSpPr>
        <p:spPr>
          <a:xfrm>
            <a:off x="8207044" y="1725375"/>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748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5 126 просмотренных работ</a:t>
            </a:r>
          </a:p>
        </p:txBody>
      </p:sp>
      <p:sp>
        <p:nvSpPr>
          <p:cNvPr id="16" name="Rounded Rectangle 15"/>
          <p:cNvSpPr/>
          <p:nvPr/>
        </p:nvSpPr>
        <p:spPr>
          <a:xfrm>
            <a:off x="374904" y="3010932"/>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разбора дали четыре разных исхода: падение · оба знака сразу · нуль · выигрыш. По отдельному испытанию правило не строится — вот оно, собранное из ста шести: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Теперь «помогает ли ИИ» читается как вопрос о том,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Свод замеров: внедрённого процесса за ним нет, исходов пациентов он не касается, опыты в нём разной природы. Правило не привязано к модальности.</a:t>
            </a:r>
          </a:p>
        </p:txBody>
      </p:sp>
      <p:sp>
        <p:nvSpPr>
          <p:cNvPr id="19" name="Rectangle 18"/>
          <p:cNvSpPr/>
          <p:nvPr/>
        </p:nvSpPr>
        <p:spPr>
          <a:xfrm>
            <a:off x="6091275" y="3102372"/>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M., Almaatouq A., Malone T., When combinations of humans and AI are useful: a systematic review and meta-analysis, Nature Human Behaviour 2024;8:2293–2303, DOI 10.1038/s41562-024-02024-1</a:t>
            </a:r>
            <a:r>
              <a:rPr sz="1200" b="0" i="1">
                <a:solidFill>
                  <a:srgbClr val="1C7293"/>
                </a:solidFill>
                <a:latin typeface="Arial"/>
              </a:rPr>
              <a:t> · </a:t>
            </a:r>
            <a:r>
              <a:rPr sz="1200" b="0" i="1" u="sng">
                <a:solidFill>
                  <a:srgbClr val="065A82"/>
                </a:solidFill>
                <a:latin typeface="Arial"/>
                <a:hlinkClick r:id="rId3"/>
              </a:rPr>
              <a:t>открытый препринт той же версии, arXiv:2405.06087v2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Обещано в прошлый раз: оценка риска перед экстренной операцией</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места в реанимации и без разговора с семьёй; осложнение считают на тридцатый день</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операцию отложат или не сделают</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этой половины в тридцатидневном счёте не видно вовсе: человека не оперировали, и сравнивать не с чем</a:t>
            </a:r>
          </a:p>
        </p:txBody>
      </p:sp>
      <p:sp>
        <p:nvSpPr>
          <p:cNvPr id="12" name="Rounded Rectangle 11"/>
          <p:cNvSpPr/>
          <p:nvPr/>
        </p:nvSpPr>
        <p:spPr>
          <a:xfrm>
            <a:off x="502920" y="2894901"/>
            <a:ext cx="5437479" cy="2166611"/>
          </a:xfrm>
          <a:prstGeom prst="roundRect">
            <a:avLst>
              <a:gd name="adj" fmla="val 1406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05034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шкалы риска — на одной выборке с моделью</a:t>
            </a:r>
          </a:p>
        </p:txBody>
      </p:sp>
      <p:sp>
        <p:nvSpPr>
          <p:cNvPr id="14" name="TextBox 13"/>
          <p:cNvSpPr txBox="1"/>
          <p:nvPr/>
        </p:nvSpPr>
        <p:spPr>
          <a:xfrm>
            <a:off x="667512" y="3406528"/>
            <a:ext cx="5108295" cy="149953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физического состояния — 0,8743</a:t>
            </a:r>
          </a:p>
          <a:p>
            <a:pPr algn="l">
              <a:lnSpc>
                <a:spcPct val="126000"/>
              </a:lnSpc>
            </a:pPr>
            <a:r>
              <a:rPr sz="1450" b="0" i="0">
                <a:solidFill>
                  <a:srgbClr val="21295C"/>
                </a:solidFill>
                <a:latin typeface="Arial"/>
              </a:rPr>
              <a:t>• экстренной хирургии — 0,8910</a:t>
            </a:r>
          </a:p>
          <a:p>
            <a:pPr algn="l">
              <a:lnSpc>
                <a:spcPct val="126000"/>
              </a:lnSpc>
            </a:pPr>
            <a:r>
              <a:rPr sz="1450" b="0" i="0">
                <a:solidFill>
                  <a:srgbClr val="21295C"/>
                </a:solidFill>
                <a:latin typeface="Arial"/>
              </a:rPr>
              <a:t>• онлайн-калькулятор — 0,8975</a:t>
            </a:r>
          </a:p>
          <a:p>
            <a:pPr algn="l">
              <a:lnSpc>
                <a:spcPct val="126000"/>
              </a:lnSpc>
            </a:pPr>
            <a:r>
              <a:rPr sz="1450" b="0" i="0">
                <a:solidFill>
                  <a:srgbClr val="21295C"/>
                </a:solidFill>
                <a:latin typeface="Arial"/>
              </a:rPr>
              <a:t>• модель там же — 0,9162</a:t>
            </a:r>
          </a:p>
        </p:txBody>
      </p:sp>
      <p:sp>
        <p:nvSpPr>
          <p:cNvPr id="15" name="Rounded Rectangle 14"/>
          <p:cNvSpPr/>
          <p:nvPr/>
        </p:nvSpPr>
        <p:spPr>
          <a:xfrm>
            <a:off x="6251295" y="2894901"/>
            <a:ext cx="5437479" cy="2166611"/>
          </a:xfrm>
          <a:prstGeom prst="roundRect">
            <a:avLst>
              <a:gd name="adj" fmla="val 14068"/>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05034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Чутьё хирурга — на других 150 случаях</a:t>
            </a:r>
          </a:p>
        </p:txBody>
      </p:sp>
      <p:sp>
        <p:nvSpPr>
          <p:cNvPr id="17" name="TextBox 16"/>
          <p:cNvSpPr txBox="1"/>
          <p:nvPr/>
        </p:nvSpPr>
        <p:spPr>
          <a:xfrm>
            <a:off x="6415887" y="3406528"/>
            <a:ext cx="5108295" cy="149953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судят по описанию случая, 15 врачей</a:t>
            </a:r>
          </a:p>
          <a:p>
            <a:pPr algn="l">
              <a:lnSpc>
                <a:spcPct val="126000"/>
              </a:lnSpc>
            </a:pPr>
            <a:r>
              <a:rPr sz="1450" b="0" i="0">
                <a:solidFill>
                  <a:srgbClr val="21295C"/>
                </a:solidFill>
                <a:latin typeface="Arial"/>
              </a:rPr>
              <a:t>• смертность 0,841 — модель точнее</a:t>
            </a:r>
          </a:p>
          <a:p>
            <a:pPr algn="l">
              <a:lnSpc>
                <a:spcPct val="126000"/>
              </a:lnSpc>
            </a:pPr>
            <a:r>
              <a:rPr sz="1450" b="0" i="0">
                <a:solidFill>
                  <a:srgbClr val="21295C"/>
                </a:solidFill>
                <a:latin typeface="Arial"/>
              </a:rPr>
              <a:t>• септический шок 0,820 — точнее хирург</a:t>
            </a:r>
          </a:p>
        </p:txBody>
      </p:sp>
      <p:sp>
        <p:nvSpPr>
          <p:cNvPr id="18" name="Rounded Rectangle 17"/>
          <p:cNvSpPr/>
          <p:nvPr/>
        </p:nvSpPr>
        <p:spPr>
          <a:xfrm>
            <a:off x="374904" y="5152953"/>
            <a:ext cx="11441887" cy="108325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244393"/>
            <a:ext cx="11112703" cy="99181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Обещано было дважды: разбор, где добавление человека к машине ухудшило результат — у профессиональных медиков. Это он.</a:t>
            </a:r>
          </a:p>
          <a:p>
            <a:pPr algn="l">
              <a:lnSpc>
                <a:spcPct val="126000"/>
              </a:lnSpc>
              <a:spcBef>
                <a:spcPts val="700"/>
              </a:spcBef>
            </a:pPr>
            <a:r>
              <a:rPr sz="1300" b="0" i="0">
                <a:solidFill>
                  <a:srgbClr val="21295C"/>
                </a:solidFill>
                <a:latin typeface="Arial"/>
              </a:rPr>
              <a:t/>
            </a:r>
            <a:r>
              <a:rPr sz="1300" b="1" i="0">
                <a:solidFill>
                  <a:srgbClr val="21295C"/>
                </a:solidFill>
                <a:latin typeface="Arial"/>
              </a:rPr>
              <a:t>Классический режим</a:t>
            </a:r>
            <a:r>
              <a:rPr sz="1300" b="0" i="0">
                <a:solidFill>
                  <a:srgbClr val="21295C"/>
                </a:solidFill>
                <a:latin typeface="Arial"/>
              </a:rPr>
              <a:t> — чем задачу решают без обученной модели: шкала, справочник, процедура, второй человек.</a:t>
            </a:r>
          </a:p>
          <a:p>
            <a:pPr algn="l">
              <a:lnSpc>
                <a:spcPct val="126000"/>
              </a:lnSpc>
              <a:spcBef>
                <a:spcPts val="700"/>
              </a:spcBef>
            </a:pPr>
            <a:r>
              <a:rPr sz="1300" b="0" i="0">
                <a:solidFill>
                  <a:srgbClr val="21295C"/>
                </a:solidFill>
                <a:latin typeface="Arial"/>
              </a:rPr>
              <a:t/>
            </a:r>
            <a:r>
              <a:rPr sz="1300" b="1" i="0">
                <a:solidFill>
                  <a:srgbClr val="21295C"/>
                </a:solidFill>
                <a:latin typeface="Arial"/>
              </a:rPr>
              <a:t>c-статистика</a:t>
            </a:r>
            <a:r>
              <a:rPr sz="1300" b="0" i="0">
                <a:solidFill>
                  <a:srgbClr val="21295C"/>
                </a:solidFill>
                <a:latin typeface="Arial"/>
              </a:rPr>
              <a:t> — насколько уверенно шкала отличает того, с кем беда случится, от того, с кем нет: 0,5 — монетка, 1,0 — без промаха.</a:t>
            </a: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калькулятор POTTER, Annals of Surgery 2018, PMID 30124479</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and Acute Care Surgery 2023, PMID 37314698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5: хирурги на септическом шоке — 0,712 против 0,816 и 0,820</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0,816</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150 случаев</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ХИРУРГ ОДИН</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0,820</a:t>
            </a:r>
          </a:p>
        </p:txBody>
      </p:sp>
      <p:sp>
        <p:nvSpPr>
          <p:cNvPr id="11" name="TextBox 10"/>
          <p:cNvSpPr txBox="1"/>
          <p:nvPr/>
        </p:nvSpPr>
        <p:spPr>
          <a:xfrm>
            <a:off x="3477691"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точнее модели</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ХИРУРГ С ПОДСКАЗКОЙ</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0,712</a:t>
            </a:r>
          </a:p>
        </p:txBody>
      </p:sp>
      <p:sp>
        <p:nvSpPr>
          <p:cNvPr id="15" name="TextBox 14"/>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ниже обеих сторон</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ИСХОД СРАВНЕНИЯ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пара хуже обеих сторон</a:t>
            </a:r>
          </a:p>
        </p:txBody>
      </p:sp>
      <p:sp>
        <p:nvSpPr>
          <p:cNvPr id="19" name="TextBox 18"/>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30 хирургов по группам жребием, 30 дней наблюдения</a:t>
            </a:r>
          </a:p>
        </p:txBody>
      </p:sp>
      <p:sp>
        <p:nvSpPr>
          <p:cNvPr id="20" name="Rounded Rectangle 19"/>
          <p:cNvSpPr/>
          <p:nvPr/>
        </p:nvSpPr>
        <p:spPr>
          <a:xfrm>
            <a:off x="374904" y="3193884"/>
            <a:ext cx="11441887" cy="2412723"/>
          </a:xfrm>
          <a:prstGeom prst="roundRect">
            <a:avLst>
              <a:gd name="adj" fmla="val 1263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калькулятор риска перед операцией. </a:t>
            </a:r>
            <a:r>
              <a:rPr sz="1500" b="1" i="0">
                <a:solidFill>
                  <a:srgbClr val="21295C"/>
                </a:solidFill>
                <a:latin typeface="Arial"/>
              </a:rPr>
              <a:t>Вход:</a:t>
            </a:r>
            <a:r>
              <a:rPr sz="1500" b="0" i="0">
                <a:solidFill>
                  <a:srgbClr val="21295C"/>
                </a:solidFill>
                <a:latin typeface="Arial"/>
              </a:rPr>
              <a:t> 4–11 ответов о больном, </a:t>
            </a:r>
            <a:r>
              <a:rPr sz="1500" b="1" i="0">
                <a:solidFill>
                  <a:srgbClr val="21295C"/>
                </a:solidFill>
                <a:latin typeface="Arial"/>
              </a:rPr>
              <a:t>выход:</a:t>
            </a:r>
            <a:r>
              <a:rPr sz="1500" b="0" i="0">
                <a:solidFill>
                  <a:srgbClr val="21295C"/>
                </a:solidFill>
                <a:latin typeface="Arial"/>
              </a:rPr>
              <a:t> вероятности пяти исходов за 30 дней. </a:t>
            </a:r>
            <a:r>
              <a:rPr sz="1500" b="1" i="0">
                <a:solidFill>
                  <a:srgbClr val="21295C"/>
                </a:solidFill>
                <a:latin typeface="Arial"/>
              </a:rPr>
              <a:t>Обучен</a:t>
            </a:r>
            <a:r>
              <a:rPr sz="1500" b="0" i="0">
                <a:solidFill>
                  <a:srgbClr val="21295C"/>
                </a:solidFill>
                <a:latin typeface="Arial"/>
              </a:rPr>
              <a:t> на 382 960 случаях экстренной хирургии.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Контрпример там же:</a:t>
            </a:r>
            <a:r>
              <a:rPr sz="1500" b="0" i="0">
                <a:solidFill>
                  <a:srgbClr val="21295C"/>
                </a:solidFill>
                <a:latin typeface="Arial"/>
              </a:rPr>
              <a:t> где перевес модели наибольший, пара не прибавила ничего — </a:t>
            </a:r>
            <a:r>
              <a:rPr sz="1500" b="1" i="0">
                <a:solidFill>
                  <a:srgbClr val="21295C"/>
                </a:solidFill>
                <a:latin typeface="Arial"/>
              </a:rPr>
              <a:t>0,834 против 0,833</a:t>
            </a:r>
            <a:r>
              <a:rPr sz="1500" b="0" i="0">
                <a:solidFill>
                  <a:srgbClr val="21295C"/>
                </a:solidFill>
                <a:latin typeface="Arial"/>
              </a:rPr>
              <a:t>.</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Форма восьмая: исполнитель тот же, но стал хуже. Место, объём и рука прежние; изменилось состояние руки. </a:t>
            </a:r>
            <a:r>
              <a:rPr sz="1500" b="1" i="0">
                <a:solidFill>
                  <a:srgbClr val="21295C"/>
                </a:solidFill>
                <a:latin typeface="Arial"/>
              </a:rPr>
              <a:t>Ступень — смотрит вторым.</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Команда, измерившая тройку 92 · 74 · 76, на 70 врачах измерила и </a:t>
            </a:r>
            <a:r>
              <a:rPr sz="1500" b="1" i="0">
                <a:solidFill>
                  <a:srgbClr val="21295C"/>
                </a:solidFill>
                <a:latin typeface="Arial"/>
              </a:rPr>
              <a:t>порядок предъявления: он стоит 8,9 пункта</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Риск оценивался по описаниям случаев, не у койки. Повторения замера нет.</a:t>
            </a:r>
          </a:p>
        </p:txBody>
      </p:sp>
      <p:sp>
        <p:nvSpPr>
          <p:cNvPr id="23" name="Rectangle 22"/>
          <p:cNvSpPr/>
          <p:nvPr/>
        </p:nvSpPr>
        <p:spPr>
          <a:xfrm>
            <a:off x="6091275" y="3285324"/>
            <a:ext cx="9144" cy="213840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Модель против чутья хирурга, Journal of Trauma and Acute Care Surgery 2023, PMID 37314698</a:t>
            </a:r>
            <a:r>
              <a:rPr sz="1200" b="0" i="1">
                <a:solidFill>
                  <a:srgbClr val="1C7293"/>
                </a:solidFill>
                <a:latin typeface="Arial"/>
              </a:rPr>
              <a:t> · </a:t>
            </a:r>
            <a:r>
              <a:rPr sz="1200" b="0" i="1" u="sng">
                <a:solidFill>
                  <a:srgbClr val="065A82"/>
                </a:solidFill>
                <a:latin typeface="Arial"/>
                <a:hlinkClick r:id="rId3"/>
              </a:rPr>
              <a:t>Эверетт и соавт., порядок предъявления подсказки, npj Digital Medicine 2026;9:409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замера, один вывод</a:t>
            </a:r>
          </a:p>
        </p:txBody>
      </p:sp>
      <p:sp>
        <p:nvSpPr>
          <p:cNvPr id="4" name="Rounded Rectangle 3"/>
          <p:cNvSpPr/>
          <p:nvPr/>
        </p:nvSpPr>
        <p:spPr>
          <a:xfrm>
            <a:off x="374904" y="1243584"/>
            <a:ext cx="11441887" cy="4977569"/>
          </a:xfrm>
          <a:prstGeom prst="roundRect">
            <a:avLst>
              <a:gd name="adj" fmla="val 6123"/>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35487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6226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замер</a:t>
            </a:r>
          </a:p>
        </p:txBody>
      </p:sp>
      <p:sp>
        <p:nvSpPr>
          <p:cNvPr id="7" name="Rectangle 6"/>
          <p:cNvSpPr/>
          <p:nvPr/>
        </p:nvSpPr>
        <p:spPr>
          <a:xfrm>
            <a:off x="3894373" y="1335024"/>
            <a:ext cx="4221333"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4040677" y="1335024"/>
            <a:ext cx="392872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разряд свидетельства</a:t>
            </a:r>
          </a:p>
        </p:txBody>
      </p:sp>
      <p:sp>
        <p:nvSpPr>
          <p:cNvPr id="9" name="Rectangle 8"/>
          <p:cNvSpPr/>
          <p:nvPr/>
        </p:nvSpPr>
        <p:spPr>
          <a:xfrm>
            <a:off x="8115707" y="1335024"/>
            <a:ext cx="3536491"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8262011" y="1335024"/>
            <a:ext cx="324388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на ком и на чём</a:t>
            </a:r>
          </a:p>
        </p:txBody>
      </p:sp>
      <p:sp>
        <p:nvSpPr>
          <p:cNvPr id="11" name="Rectangle 10"/>
          <p:cNvSpPr/>
          <p:nvPr/>
        </p:nvSpPr>
        <p:spPr>
          <a:xfrm>
            <a:off x="539496" y="1763984"/>
            <a:ext cx="3354877" cy="693329"/>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63984"/>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0,712</a:t>
            </a:r>
            <a:r>
              <a:rPr sz="1450" b="0" i="0">
                <a:solidFill>
                  <a:srgbClr val="21295C"/>
                </a:solidFill>
                <a:latin typeface="Arial"/>
              </a:rPr>
              <a:t> против 0,816 и 0,820 — пара ниже обеих сторон</a:t>
            </a:r>
          </a:p>
        </p:txBody>
      </p:sp>
      <p:sp>
        <p:nvSpPr>
          <p:cNvPr id="13" name="Rectangle 12"/>
          <p:cNvSpPr/>
          <p:nvPr/>
        </p:nvSpPr>
        <p:spPr>
          <a:xfrm>
            <a:off x="3894373" y="1763984"/>
            <a:ext cx="4221333" cy="69332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4040677" y="1763984"/>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рандомизированное испытание </a:t>
            </a:r>
            <a:r>
              <a:rPr sz="1450" b="1" i="0">
                <a:solidFill>
                  <a:srgbClr val="21295C"/>
                </a:solidFill>
                <a:latin typeface="Arial"/>
              </a:rPr>
              <a:t>и</a:t>
            </a:r>
            <a:r>
              <a:rPr sz="1450" b="0" i="0">
                <a:solidFill>
                  <a:srgbClr val="21295C"/>
                </a:solidFill>
                <a:latin typeface="Arial"/>
              </a:rPr>
              <a:t> проспективное наблюдение</a:t>
            </a:r>
          </a:p>
        </p:txBody>
      </p:sp>
      <p:sp>
        <p:nvSpPr>
          <p:cNvPr id="15" name="Rectangle 14"/>
          <p:cNvSpPr/>
          <p:nvPr/>
        </p:nvSpPr>
        <p:spPr>
          <a:xfrm>
            <a:off x="8115707" y="1763984"/>
            <a:ext cx="3536491" cy="69332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262011" y="1763984"/>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30 хирургов по группам жребием, 150 случаев, тридцать дней</a:t>
            </a:r>
          </a:p>
        </p:txBody>
      </p:sp>
      <p:sp>
        <p:nvSpPr>
          <p:cNvPr id="17" name="Rectangle 16"/>
          <p:cNvSpPr/>
          <p:nvPr/>
        </p:nvSpPr>
        <p:spPr>
          <a:xfrm>
            <a:off x="539496" y="2457314"/>
            <a:ext cx="3354877" cy="693329"/>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457314"/>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92 · 74 · 76</a:t>
            </a:r>
            <a:r>
              <a:rPr sz="1450" b="0" i="0">
                <a:solidFill>
                  <a:srgbClr val="21295C"/>
                </a:solidFill>
                <a:latin typeface="Arial"/>
              </a:rPr>
              <a:t> — врач с моделью не отличим от врача без неё</a:t>
            </a:r>
          </a:p>
        </p:txBody>
      </p:sp>
      <p:sp>
        <p:nvSpPr>
          <p:cNvPr id="19" name="Rectangle 18"/>
          <p:cNvSpPr/>
          <p:nvPr/>
        </p:nvSpPr>
        <p:spPr>
          <a:xfrm>
            <a:off x="3894373" y="2457314"/>
            <a:ext cx="4221333" cy="693329"/>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4040677" y="2457314"/>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рандомизированное испытание; ветвь «модель одна» — наблюдательная</a:t>
            </a:r>
          </a:p>
        </p:txBody>
      </p:sp>
      <p:sp>
        <p:nvSpPr>
          <p:cNvPr id="21" name="Rectangle 20"/>
          <p:cNvSpPr/>
          <p:nvPr/>
        </p:nvSpPr>
        <p:spPr>
          <a:xfrm>
            <a:off x="8115707" y="2457314"/>
            <a:ext cx="3536491" cy="69332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262011" y="2457314"/>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50 врачей, составленные описания случаев, исходов нет</a:t>
            </a:r>
          </a:p>
        </p:txBody>
      </p:sp>
      <p:sp>
        <p:nvSpPr>
          <p:cNvPr id="23" name="Rectangle 22"/>
          <p:cNvSpPr/>
          <p:nvPr/>
        </p:nvSpPr>
        <p:spPr>
          <a:xfrm>
            <a:off x="539496" y="3150643"/>
            <a:ext cx="3354877" cy="693329"/>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150643"/>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−0,54</a:t>
            </a:r>
            <a:r>
              <a:rPr sz="1450" b="0" i="0">
                <a:solidFill>
                  <a:srgbClr val="21295C"/>
                </a:solidFill>
                <a:latin typeface="Arial"/>
              </a:rPr>
              <a:t> — где модель сильнее, пара хуже модели</a:t>
            </a:r>
          </a:p>
        </p:txBody>
      </p:sp>
      <p:sp>
        <p:nvSpPr>
          <p:cNvPr id="25" name="Rectangle 24"/>
          <p:cNvSpPr/>
          <p:nvPr/>
        </p:nvSpPr>
        <p:spPr>
          <a:xfrm>
            <a:off x="3894373" y="3150643"/>
            <a:ext cx="4221333" cy="693329"/>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4040677" y="3150643"/>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свод с мета-анализом, предрегистрированный</a:t>
            </a:r>
          </a:p>
        </p:txBody>
      </p:sp>
      <p:sp>
        <p:nvSpPr>
          <p:cNvPr id="27" name="Rectangle 26"/>
          <p:cNvSpPr/>
          <p:nvPr/>
        </p:nvSpPr>
        <p:spPr>
          <a:xfrm>
            <a:off x="8115707" y="3150643"/>
            <a:ext cx="3536491" cy="693329"/>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262011" y="3150643"/>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74 работы, 106 опытов; медицинских среди них часть</a:t>
            </a:r>
          </a:p>
        </p:txBody>
      </p:sp>
      <p:sp>
        <p:nvSpPr>
          <p:cNvPr id="29" name="Rectangle 28"/>
          <p:cNvSpPr/>
          <p:nvPr/>
        </p:nvSpPr>
        <p:spPr>
          <a:xfrm>
            <a:off x="539496" y="3843972"/>
            <a:ext cx="3354877" cy="693329"/>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843972"/>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71 → 39</a:t>
            </a:r>
            <a:r>
              <a:rPr sz="1450" b="0" i="0">
                <a:solidFill>
                  <a:srgbClr val="21295C"/>
                </a:solidFill>
                <a:latin typeface="Arial"/>
              </a:rPr>
              <a:t> — тот же читатель при ложной подсказке</a:t>
            </a:r>
          </a:p>
        </p:txBody>
      </p:sp>
      <p:sp>
        <p:nvSpPr>
          <p:cNvPr id="31" name="Rectangle 30"/>
          <p:cNvSpPr/>
          <p:nvPr/>
        </p:nvSpPr>
        <p:spPr>
          <a:xfrm>
            <a:off x="3894373" y="3843972"/>
            <a:ext cx="4221333" cy="693329"/>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4040677" y="3843972"/>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опыт с перекрёстной подачей: читатель против себя</a:t>
            </a:r>
          </a:p>
        </p:txBody>
      </p:sp>
      <p:sp>
        <p:nvSpPr>
          <p:cNvPr id="33" name="Rectangle 32"/>
          <p:cNvSpPr/>
          <p:nvPr/>
        </p:nvSpPr>
        <p:spPr>
          <a:xfrm>
            <a:off x="8115707" y="3843972"/>
            <a:ext cx="3536491" cy="693329"/>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262011" y="3843972"/>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10 читателей национальной программы, 60 случаев</a:t>
            </a:r>
          </a:p>
        </p:txBody>
      </p:sp>
      <p:sp>
        <p:nvSpPr>
          <p:cNvPr id="35" name="TextBox 34"/>
          <p:cNvSpPr txBox="1"/>
          <p:nvPr/>
        </p:nvSpPr>
        <p:spPr>
          <a:xfrm>
            <a:off x="539496" y="4683606"/>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Один вывод на четыре замера: пара человека и модели не наследует силу сильнейшей стороны.</a:t>
            </a:r>
            <a:r>
              <a:rPr sz="1500" b="0" i="0">
                <a:solidFill>
                  <a:srgbClr val="21295C"/>
                </a:solidFill>
                <a:latin typeface="Arial"/>
              </a:rPr>
              <a:t> Человека одного она обычно обходит — размер эффекта 0,64. Сильнейшую сторону — нет.</a:t>
            </a:r>
          </a:p>
        </p:txBody>
      </p:sp>
      <p:sp>
        <p:nvSpPr>
          <p:cNvPr id="36" name="TextBox 35"/>
          <p:cNvSpPr txBox="1"/>
          <p:nvPr/>
        </p:nvSpPr>
        <p:spPr>
          <a:xfrm>
            <a:off x="539496" y="543409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Исход пациента не измерен ни в одном из четырёх. Выше своего разряда ни одно из этих чисел не утверждает ничего.</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and Acute Care Surgery 2023, PMID 37314698</a:t>
            </a:r>
            <a:r>
              <a:rPr sz="1200" b="0" i="1">
                <a:solidFill>
                  <a:srgbClr val="1C7293"/>
                </a:solidFill>
                <a:latin typeface="Arial"/>
              </a:rPr>
              <a:t> · </a:t>
            </a:r>
            <a:r>
              <a:rPr sz="1200" b="0" i="1" u="sng">
                <a:solidFill>
                  <a:srgbClr val="065A82"/>
                </a:solidFill>
                <a:latin typeface="Arial"/>
                <a:hlinkClick r:id="rId3"/>
              </a:rPr>
              <a:t>тройка: Го и соавт., JAMA Network Open 2024</a:t>
            </a:r>
            <a:r>
              <a:rPr sz="1200" b="0" i="1">
                <a:solidFill>
                  <a:srgbClr val="1C7293"/>
                </a:solidFill>
                <a:latin typeface="Arial"/>
              </a:rPr>
              <a:t> · </a:t>
            </a:r>
            <a:r>
              <a:rPr sz="1200" b="0" i="1" u="sng">
                <a:solidFill>
                  <a:srgbClr val="065A82"/>
                </a:solidFill>
                <a:latin typeface="Arial"/>
                <a:hlinkClick r:id="rId4"/>
              </a:rPr>
              <a:t>свод: Ваккаро и соавт., Nature Human Behaviour 2024</a:t>
            </a:r>
            <a:r>
              <a:rPr sz="1200" b="0" i="1">
                <a:solidFill>
                  <a:srgbClr val="1C7293"/>
                </a:solidFill>
                <a:latin typeface="Arial"/>
              </a:rPr>
              <a:t> · </a:t>
            </a:r>
            <a:r>
              <a:rPr sz="1200" b="0" i="1" u="sng">
                <a:solidFill>
                  <a:srgbClr val="065A82"/>
                </a:solidFill>
                <a:latin typeface="Arial"/>
                <a:hlinkClick r:id="rId5"/>
              </a:rPr>
              <a:t>взгляд: Тайб и соавт., Radiology 2026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Диагноз: один инструмент уронил результат и поднял его — разошлось устройство процедуры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Второй взгляд на поток, который человеку не прочесть целиком. Напоминание о редком диагнозе, которого в списке не появилось бы. В одном устройстве процедуры пара сильнее обеих сторон: 80,5 против 73,8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Независимость: подсказка видна до собственного вывода. Избирательность: не поверить именно там, где модель ошиблась, не смог никто. Удержать собственное преимущество: там, где человек был точнее машины, подсказка увела его </a:t>
            </a:r>
            <a:r>
              <a:rPr sz="1500" b="1" i="0">
                <a:solidFill>
                  <a:srgbClr val="21295C"/>
                </a:solidFill>
                <a:latin typeface="Arial"/>
              </a:rPr>
              <a:t>ниже его же уровня</a:t>
            </a:r>
            <a:r>
              <a:rPr sz="1500" b="0" i="0">
                <a:solidFill>
                  <a:srgbClr val="21295C"/>
                </a:solidFill>
                <a:latin typeface="Arial"/>
              </a:rPr>
              <a:t> — 0,712 против 0,820. Объяснимость: упрощённое объяснение неверной рекомендации роняет выбор препарата с </a:t>
            </a:r>
            <a:r>
              <a:rPr sz="1500" b="1" i="0">
                <a:solidFill>
                  <a:srgbClr val="21295C"/>
                </a:solidFill>
                <a:latin typeface="Arial"/>
              </a:rPr>
              <a:t>35,7 до 26,2 из ста</a:t>
            </a:r>
            <a:r>
              <a:rPr sz="1500" b="0" i="0">
                <a:solidFill>
                  <a:srgbClr val="21295C"/>
                </a:solidFill>
                <a:latin typeface="Arial"/>
              </a:rPr>
              <a:t> — ниже работы вообще без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на том же месте упала</a:t>
            </a:r>
            <a:r>
              <a:rPr sz="1500" b="0" i="0">
                <a:solidFill>
                  <a:srgbClr val="21295C"/>
                </a:solidFill>
                <a:latin typeface="Arial"/>
              </a:rPr>
              <a:t> — знак этой формы задаёт правота подсказки. </a:t>
            </a:r>
            <a:r>
              <a:rPr sz="1500" b="1" i="0">
                <a:solidFill>
                  <a:srgbClr val="21295C"/>
                </a:solidFill>
                <a:latin typeface="Arial"/>
              </a:rPr>
              <a:t>Сместилась цена ошибки</a:t>
            </a:r>
            <a:r>
              <a:rPr sz="1500" b="0" i="0">
                <a:solidFill>
                  <a:srgbClr val="21295C"/>
                </a:solidFill>
                <a:latin typeface="Arial"/>
              </a:rPr>
              <a:t> — пропуск модели стал пропуском читателя, подписанным человеком. </a:t>
            </a:r>
            <a:r>
              <a:rPr sz="1500" b="1" i="0">
                <a:solidFill>
                  <a:srgbClr val="21295C"/>
                </a:solidFill>
                <a:latin typeface="Arial"/>
              </a:rPr>
              <a:t>Сменился исполнитель</a:t>
            </a:r>
            <a:r>
              <a:rPr sz="1500" b="0" i="0">
                <a:solidFill>
                  <a:srgbClr val="21295C"/>
                </a:solidFill>
                <a:latin typeface="Arial"/>
              </a:rPr>
              <a:t> — вторым читателем стала модель, и объём человеческого чтения упал следом. </a:t>
            </a:r>
            <a:r>
              <a:rPr sz="1500" b="1" i="0">
                <a:solidFill>
                  <a:srgbClr val="21295C"/>
                </a:solidFill>
                <a:latin typeface="Arial"/>
              </a:rPr>
              <a:t>Исполнитель тот же, но стал хуже</a:t>
            </a:r>
            <a:r>
              <a:rPr sz="1500" b="0" i="0">
                <a:solidFill>
                  <a:srgbClr val="21295C"/>
                </a:solidFill>
                <a:latin typeface="Arial"/>
              </a:rPr>
              <a:t> — у хирурга при той же работе просело собственное преимущество.</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Порядок предъявления подсказки: параметр с измеренной ценой. Арбитраж третьим читателем — только там, где человек и модель разошлись. </a:t>
            </a:r>
            <a:r>
              <a:rPr sz="1500" b="1" i="0">
                <a:solidFill>
                  <a:srgbClr val="21295C"/>
                </a:solidFill>
                <a:latin typeface="Arial"/>
              </a:rPr>
              <a:t>Прочерк: ступень участия человека нигде не записана, и неназначенная сползает к подписи не глядя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Один и тот же инструмент уронил результат в одном разборе и поднял в контрольной линии: разошлось устройство процедуры.</a:t>
            </a:r>
          </a:p>
        </p:txBody>
      </p:sp>
      <p:sp>
        <p:nvSpPr>
          <p:cNvPr id="6" name="Rectangle 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865372"/>
          </a:xfrm>
          <a:prstGeom prst="roundRect">
            <a:avLst>
              <a:gd name="adj" fmla="val 6264"/>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54328"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61720"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393824" y="1335024"/>
            <a:ext cx="2408090"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540128" y="1335024"/>
            <a:ext cx="21154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801914" y="1335024"/>
            <a:ext cx="4345302"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948218" y="1335024"/>
            <a:ext cx="405269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9147216" y="1335024"/>
            <a:ext cx="2504982"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293520" y="1335024"/>
            <a:ext cx="221237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1854328"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393824" y="1709287"/>
            <a:ext cx="2408090"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540128" y="1709287"/>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801914" y="1709287"/>
            <a:ext cx="4345302"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948218" y="1709287"/>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подсказка по срезу (отбор · анализ)</a:t>
            </a:r>
          </a:p>
        </p:txBody>
      </p:sp>
      <p:sp>
        <p:nvSpPr>
          <p:cNvPr id="19" name="Rectangle 18"/>
          <p:cNvSpPr/>
          <p:nvPr/>
        </p:nvSpPr>
        <p:spPr>
          <a:xfrm>
            <a:off x="9147216" y="1709287"/>
            <a:ext cx="2504982"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293520" y="1709287"/>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1854328"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393824" y="2083551"/>
            <a:ext cx="2408090"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540128" y="2083551"/>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801914" y="2083551"/>
            <a:ext cx="4345302"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948218" y="2083551"/>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замер взгляда · зеркало · контрольная линия (отбор)</a:t>
            </a:r>
          </a:p>
        </p:txBody>
      </p:sp>
      <p:sp>
        <p:nvSpPr>
          <p:cNvPr id="27" name="Rectangle 26"/>
          <p:cNvSpPr/>
          <p:nvPr/>
        </p:nvSpPr>
        <p:spPr>
          <a:xfrm>
            <a:off x="9147216" y="2083551"/>
            <a:ext cx="2504982"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293520" y="2083551"/>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1854328"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393824" y="2457815"/>
            <a:ext cx="2408090"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540128" y="2457815"/>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измеренная тройка (отбор)</a:t>
            </a:r>
          </a:p>
        </p:txBody>
      </p:sp>
      <p:sp>
        <p:nvSpPr>
          <p:cNvPr id="33" name="Rectangle 32"/>
          <p:cNvSpPr/>
          <p:nvPr/>
        </p:nvSpPr>
        <p:spPr>
          <a:xfrm>
            <a:off x="4801914" y="2457815"/>
            <a:ext cx="4345302"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948218" y="2457815"/>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9147216" y="2457815"/>
            <a:ext cx="2504982"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293520" y="2457815"/>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1854328"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393824" y="2832078"/>
            <a:ext cx="2408090"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40128" y="2832078"/>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801914" y="2832078"/>
            <a:ext cx="4345302"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948218" y="2832078"/>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9147216" y="2832078"/>
            <a:ext cx="2504982"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293520" y="2832078"/>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риск до операции (анализ)</a:t>
            </a:r>
          </a:p>
        </p:txBody>
      </p:sp>
      <p:sp>
        <p:nvSpPr>
          <p:cNvPr id="45" name="TextBox 44"/>
          <p:cNvSpPr txBox="1"/>
          <p:nvPr/>
        </p:nvSpPr>
        <p:spPr>
          <a:xfrm>
            <a:off x="539496" y="3352646"/>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 этого раздела, в скобках — кто занял клетку раньше.</a:t>
            </a:r>
            <a:r>
              <a:rPr sz="1200" b="0" i="0">
                <a:solidFill>
                  <a:srgbClr val="21295C"/>
                </a:solidFill>
                <a:latin typeface="Arial"/>
              </a:rPr>
              <a:t> Новых клеток раздел не добавил.</a:t>
            </a:r>
          </a:p>
        </p:txBody>
      </p:sp>
      <p:sp>
        <p:nvSpPr>
          <p:cNvPr id="46" name="TextBox 45"/>
          <p:cNvSpPr txBox="1"/>
          <p:nvPr/>
        </p:nvSpPr>
        <p:spPr>
          <a:xfrm>
            <a:off x="539496" y="3742572"/>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Одна клетка, один класс инструмента — три знака, в одно число не сводятся:</a:t>
            </a:r>
          </a:p>
        </p:txBody>
      </p:sp>
      <p:sp>
        <p:nvSpPr>
          <p:cNvPr id="47" name="Rounded Rectangle 46"/>
          <p:cNvSpPr/>
          <p:nvPr/>
        </p:nvSpPr>
        <p:spPr>
          <a:xfrm>
            <a:off x="630936" y="4216317"/>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132497"/>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замер взгляда</a:t>
            </a:r>
            <a:r>
              <a:rPr sz="1200" b="0" i="0">
                <a:solidFill>
                  <a:srgbClr val="21295C"/>
                </a:solidFill>
                <a:latin typeface="Arial"/>
              </a:rPr>
              <a:t> — чувствительность упала</a:t>
            </a:r>
          </a:p>
        </p:txBody>
      </p:sp>
      <p:sp>
        <p:nvSpPr>
          <p:cNvPr id="49" name="Rounded Rectangle 48"/>
          <p:cNvSpPr/>
          <p:nvPr/>
        </p:nvSpPr>
        <p:spPr>
          <a:xfrm>
            <a:off x="630936" y="4606243"/>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4522423"/>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зеркало</a:t>
            </a:r>
            <a:r>
              <a:rPr sz="1200" b="0" i="0">
                <a:solidFill>
                  <a:srgbClr val="21295C"/>
                </a:solidFill>
                <a:latin typeface="Arial"/>
              </a:rPr>
              <a:t> — поиск сузился так же, различение выросло</a:t>
            </a:r>
          </a:p>
        </p:txBody>
      </p:sp>
      <p:sp>
        <p:nvSpPr>
          <p:cNvPr id="51" name="Rounded Rectangle 50"/>
          <p:cNvSpPr/>
          <p:nvPr/>
        </p:nvSpPr>
        <p:spPr>
          <a:xfrm>
            <a:off x="630936" y="4996168"/>
            <a:ext cx="100584" cy="100584"/>
          </a:xfrm>
          <a:prstGeom prst="roundRect">
            <a:avLst>
              <a:gd name="adj" fmla="val 50000"/>
            </a:avLst>
          </a:prstGeom>
          <a:solidFill>
            <a:srgbClr val="028090"/>
          </a:solidFill>
          <a:ln>
            <a:noFill/>
          </a:ln>
          <a:effectLst/>
        </p:spPr>
        <p:txBody>
          <a:bodyPr rtlCol="0" anchor="ctr"/>
          <a:lstStyle/>
          <a:p>
            <a:pPr algn="ctr"/>
          </a:p>
        </p:txBody>
      </p:sp>
      <p:sp>
        <p:nvSpPr>
          <p:cNvPr id="52" name="TextBox 51"/>
          <p:cNvSpPr txBox="1"/>
          <p:nvPr/>
        </p:nvSpPr>
        <p:spPr>
          <a:xfrm>
            <a:off x="923544" y="4912348"/>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контрольная линия</a:t>
            </a:r>
            <a:r>
              <a:rPr sz="1200" b="0" i="0">
                <a:solidFill>
                  <a:srgbClr val="21295C"/>
                </a:solidFill>
                <a:latin typeface="Arial"/>
              </a:rPr>
              <a:t> — пара сильнее обеих сторон</a:t>
            </a:r>
          </a:p>
        </p:txBody>
      </p:sp>
      <p:sp>
        <p:nvSpPr>
          <p:cNvPr id="53" name="TextBox 52"/>
          <p:cNvSpPr txBox="1"/>
          <p:nvPr/>
        </p:nvSpPr>
        <p:spPr>
          <a:xfrm>
            <a:off x="539496" y="5302274"/>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из двенадцати неподвижны третий раздел подряд.</a:t>
            </a:r>
            <a:r>
              <a:rPr sz="1200" b="0" i="0">
                <a:solidFill>
                  <a:srgbClr val="21295C"/>
                </a:solidFill>
                <a:latin typeface="Arial"/>
              </a:rPr>
              <a:t> Вне окна — </a:t>
            </a:r>
            <a:r>
              <a:rPr sz="1200" b="0" i="1">
                <a:solidFill>
                  <a:srgbClr val="1C7293"/>
                </a:solidFill>
                <a:latin typeface="Arial"/>
              </a:rPr>
              <a:t>измерение · сигнал прибора</a:t>
            </a:r>
            <a:r>
              <a:rPr sz="1200" b="0" i="0">
                <a:solidFill>
                  <a:srgbClr val="21295C"/>
                </a:solidFill>
                <a:latin typeface="Arial"/>
              </a:rPr>
              <a:t>.</a:t>
            </a:r>
          </a:p>
        </p:txBody>
      </p:sp>
      <p:sp>
        <p:nvSpPr>
          <p:cNvPr id="54" name="Rounded Rectangle 53"/>
          <p:cNvSpPr/>
          <p:nvPr/>
        </p:nvSpPr>
        <p:spPr>
          <a:xfrm>
            <a:off x="630936" y="5776019"/>
            <a:ext cx="100584" cy="100584"/>
          </a:xfrm>
          <a:prstGeom prst="roundRect">
            <a:avLst>
              <a:gd name="adj" fmla="val 50000"/>
            </a:avLst>
          </a:prstGeom>
          <a:solidFill>
            <a:srgbClr val="028090"/>
          </a:solidFill>
          <a:ln>
            <a:noFill/>
          </a:ln>
          <a:effectLst/>
        </p:spPr>
        <p:txBody>
          <a:bodyPr rtlCol="0" anchor="ctr"/>
          <a:lstStyle/>
          <a:p>
            <a:pPr algn="ctr"/>
          </a:p>
        </p:txBody>
      </p:sp>
      <p:sp>
        <p:nvSpPr>
          <p:cNvPr id="55" name="TextBox 54"/>
          <p:cNvSpPr txBox="1"/>
          <p:nvPr/>
        </p:nvSpPr>
        <p:spPr>
          <a:xfrm>
            <a:off x="923544" y="5692199"/>
            <a:ext cx="10728655" cy="233876"/>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изделия занятых клеток — Transpara · Lunit INSIGHT MMG · Annalise · Aidoc · Paige · Abridge · Nabla · Dragon Copilot · POTTER</a:t>
            </a:r>
          </a:p>
        </p:txBody>
      </p:sp>
      <p:sp>
        <p:nvSpPr>
          <p:cNvPr id="56" name="Rectangle 5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состояние меняется — иногда за несколько часов.</a:t>
            </a:r>
          </a:p>
        </p:txBody>
      </p:sp>
      <p:sp>
        <p:nvSpPr>
          <p:cNvPr id="9" name="TextBox 8"/>
          <p:cNvSpPr txBox="1"/>
          <p:nvPr/>
        </p:nvSpPr>
        <p:spPr>
          <a:xfrm>
            <a:off x="704088" y="261333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Кто-то должен заметить перемену раньше, чем она станет очевидной.</a:t>
            </a:r>
          </a:p>
        </p:txBody>
      </p:sp>
      <p:sp>
        <p:nvSpPr>
          <p:cNvPr id="10" name="TextBox 9"/>
          <p:cNvSpPr txBox="1"/>
          <p:nvPr/>
        </p:nvSpPr>
        <p:spPr>
          <a:xfrm>
            <a:off x="704088" y="308001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Пример 1: модель раннего предупреждения</a:t>
            </a:r>
            <a:r>
              <a:rPr sz="1550" b="0" i="0">
                <a:solidFill>
                  <a:srgbClr val="21295C"/>
                </a:solidFill>
                <a:latin typeface="Arial"/>
              </a:rPr>
              <a:t>.</a:t>
            </a:r>
          </a:p>
        </p:txBody>
      </p:sp>
      <p:sp>
        <p:nvSpPr>
          <p:cNvPr id="11" name="TextBox 10"/>
          <p:cNvSpPr txBox="1"/>
          <p:nvPr/>
        </p:nvSpPr>
        <p:spPr>
          <a:xfrm>
            <a:off x="704088" y="3848787"/>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считает балл риска непрерывно, по тем же показателям, что снимает дежурная смена</a:t>
            </a:r>
          </a:p>
        </p:txBody>
      </p:sp>
      <p:sp>
        <p:nvSpPr>
          <p:cNvPr id="12" name="TextBox 11"/>
          <p:cNvSpPr txBox="1"/>
          <p:nvPr/>
        </p:nvSpPr>
        <p:spPr>
          <a:xfrm>
            <a:off x="704088" y="461756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прерывает работу тревогой, когда балл переходит порог</a:t>
            </a:r>
          </a:p>
        </p:txBody>
      </p:sp>
      <p:sp>
        <p:nvSpPr>
          <p:cNvPr id="13" name="TextBox 12"/>
          <p:cNvSpPr txBox="1"/>
          <p:nvPr/>
        </p:nvSpPr>
        <p:spPr>
          <a:xfrm>
            <a:off x="704088" y="508424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До него — подача стадии и классический режим, который модель застала на этом месте.</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наблюдения — до всякой обученной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Обход по расписанию</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измерение величин</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нормой</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запись в лист наблюдения</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собирается запись между обходами</a:t>
            </a:r>
          </a:p>
        </p:txBody>
      </p:sp>
      <p:sp>
        <p:nvSpPr>
          <p:cNvPr id="14" name="Rounded Rectangle 13"/>
          <p:cNvSpPr/>
          <p:nvPr/>
        </p:nvSpPr>
        <p:spPr>
          <a:xfrm>
            <a:off x="374904" y="2149676"/>
            <a:ext cx="11441887" cy="3957004"/>
          </a:xfrm>
          <a:prstGeom prst="roundRect">
            <a:avLst>
              <a:gd name="adj" fmla="val 770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Половина третьего ночи, отделение на тридцать коек: две сестры и дежурный врач на несколько отделений.</a:t>
            </a:r>
          </a:p>
          <a:p>
            <a:pPr algn="l">
              <a:lnSpc>
                <a:spcPct val="126000"/>
              </a:lnSpc>
              <a:spcBef>
                <a:spcPts val="700"/>
              </a:spcBef>
            </a:pPr>
            <a:r>
              <a:rPr sz="1400" b="0" i="0">
                <a:solidFill>
                  <a:srgbClr val="21295C"/>
                </a:solidFill>
                <a:latin typeface="Arial"/>
              </a:rPr>
              <a:t/>
            </a:r>
            <a:r>
              <a:rPr sz="1400" b="0" i="0">
                <a:solidFill>
                  <a:srgbClr val="21295C"/>
                </a:solidFill>
                <a:latin typeface="Arial"/>
              </a:rPr>
              <a:t>Сестра идёт по палатам с тележкой: дыхание, пульс, давление, температура — пара минут у постели.</a:t>
            </a:r>
          </a:p>
          <a:p>
            <a:pPr algn="l">
              <a:lnSpc>
                <a:spcPct val="126000"/>
              </a:lnSpc>
              <a:spcBef>
                <a:spcPts val="700"/>
              </a:spcBef>
            </a:pPr>
            <a:r>
              <a:rPr sz="1400" b="0" i="0">
                <a:solidFill>
                  <a:srgbClr val="21295C"/>
                </a:solidFill>
                <a:latin typeface="Arial"/>
              </a:rPr>
              <a:t/>
            </a:r>
            <a:r>
              <a:rPr sz="1400" b="0" i="0">
                <a:solidFill>
                  <a:srgbClr val="21295C"/>
                </a:solidFill>
                <a:latin typeface="Arial"/>
              </a:rPr>
              <a:t>Числа ложатся в бумажный бланк в ногах кровати; обход повторяется через несколько часов.</a:t>
            </a:r>
          </a:p>
          <a:p>
            <a:pPr algn="l">
              <a:lnSpc>
                <a:spcPct val="126000"/>
              </a:lnSpc>
              <a:spcBef>
                <a:spcPts val="700"/>
              </a:spcBef>
            </a:pPr>
            <a:r>
              <a:rPr sz="1400" b="0" i="0">
                <a:solidFill>
                  <a:srgbClr val="21295C"/>
                </a:solidFill>
                <a:latin typeface="Arial"/>
              </a:rPr>
              <a:t/>
            </a:r>
            <a:r>
              <a:rPr sz="1400" b="0" i="0">
                <a:solidFill>
                  <a:srgbClr val="21295C"/>
                </a:solidFill>
                <a:latin typeface="Arial"/>
              </a:rPr>
              <a:t>К утру дорожка измерений готова — и читает её тот, кто пациента ночью не видел.</a:t>
            </a:r>
          </a:p>
          <a:p>
            <a:pPr algn="l">
              <a:lnSpc>
                <a:spcPct val="126000"/>
              </a:lnSpc>
              <a:spcBef>
                <a:spcPts val="700"/>
              </a:spcBef>
            </a:pPr>
            <a:r>
              <a:rPr sz="1400" b="0" i="0">
                <a:solidFill>
                  <a:srgbClr val="21295C"/>
                </a:solidFill>
                <a:latin typeface="Arial"/>
              </a:rPr>
              <a:t/>
            </a:r>
            <a:r>
              <a:rPr sz="1400" b="1" i="0">
                <a:solidFill>
                  <a:srgbClr val="21295C"/>
                </a:solidFill>
                <a:latin typeface="Arial"/>
              </a:rPr>
              <a:t>Шесть действий стадии.</a:t>
            </a:r>
            <a:r>
              <a:rPr sz="1400" b="0" i="0">
                <a:solidFill>
                  <a:srgbClr val="21295C"/>
                </a:solidFill>
                <a:latin typeface="Arial"/>
              </a:rPr>
              <a:t> 1. Снять величины по расписанию · 2. Записать измерение в лист · 3. Перевести отклонения в баллы · 4. Сравнить сумму с порогом · 5. Выполнить назначенное действие · 6. Передать дорожку смене.</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Без обученной модели каждое из шести делает человек по таблице</a:t>
            </a:r>
            <a:r>
              <a:rPr sz="1400" b="0" i="0">
                <a:solidFill>
                  <a:srgbClr val="21295C"/>
                </a:solidFill>
                <a:latin typeface="Arial"/>
              </a:rPr>
              <a:t>, веса в которой назначила комиссия и напечатала на карте.</a:t>
            </a:r>
          </a:p>
          <a:p>
            <a:pPr algn="l">
              <a:lnSpc>
                <a:spcPct val="126000"/>
              </a:lnSpc>
              <a:spcBef>
                <a:spcPts val="700"/>
              </a:spcBef>
            </a:pPr>
            <a:r>
              <a:rPr sz="1400" b="0" i="0">
                <a:solidFill>
                  <a:srgbClr val="21295C"/>
                </a:solidFill>
                <a:latin typeface="Arial"/>
              </a:rPr>
              <a:t/>
            </a:r>
            <a:r>
              <a:rPr sz="1400" b="1" i="0">
                <a:solidFill>
                  <a:srgbClr val="21295C"/>
                </a:solidFill>
                <a:latin typeface="Arial"/>
              </a:rPr>
              <a:t>С обученной моделью — три действия из шести:</a:t>
            </a:r>
            <a:r>
              <a:rPr sz="1400" b="0" i="0">
                <a:solidFill>
                  <a:srgbClr val="21295C"/>
                </a:solidFill>
                <a:latin typeface="Arial"/>
              </a:rPr>
              <a:t> счёт балла (3) · сравнение с порогом (4) · назначенное действие (5). Измерение, запись и передача дорожки остались людям.</a:t>
            </a:r>
          </a:p>
          <a:p>
            <a:pPr algn="l">
              <a:lnSpc>
                <a:spcPct val="126000"/>
              </a:lnSpc>
              <a:spcBef>
                <a:spcPts val="700"/>
              </a:spcBef>
            </a:pPr>
            <a:r>
              <a:rPr sz="1400" b="0" i="0">
                <a:solidFill>
                  <a:srgbClr val="21295C"/>
                </a:solidFill>
                <a:latin typeface="Arial"/>
              </a:rPr>
              <a:t/>
            </a:r>
            <a:r>
              <a:rPr sz="1400" b="1" i="0">
                <a:solidFill>
                  <a:srgbClr val="21295C"/>
                </a:solidFill>
                <a:latin typeface="Arial"/>
              </a:rPr>
              <a:t>Новый шаг — разобрать тревогу и отклонить её.</a:t>
            </a:r>
          </a:p>
          <a:p>
            <a:pPr algn="l">
              <a:lnSpc>
                <a:spcPct val="126000"/>
              </a:lnSpc>
              <a:spcBef>
                <a:spcPts val="700"/>
              </a:spcBef>
            </a:pPr>
            <a:r>
              <a:rPr sz="1400" b="0" i="0">
                <a:solidFill>
                  <a:srgbClr val="21295C"/>
                </a:solidFill>
                <a:latin typeface="Arial"/>
              </a:rPr>
              <a:t/>
            </a:r>
            <a:r>
              <a:rPr sz="1400" b="0" i="0">
                <a:solidFill>
                  <a:srgbClr val="21295C"/>
                </a:solidFill>
                <a:latin typeface="Arial"/>
              </a:rPr>
              <a:t>Ухудшение читается по направлению дорожки: 78 → 92 → 104 при падающем давлении говорит больше каждого числа отдельно.</a:t>
            </a:r>
          </a:p>
          <a:p>
            <a:pPr algn="l">
              <a:lnSpc>
                <a:spcPct val="126000"/>
              </a:lnSpc>
              <a:spcBef>
                <a:spcPts val="700"/>
              </a:spcBef>
            </a:pPr>
            <a:r>
              <a:rPr sz="1400" b="0" i="0">
                <a:solidFill>
                  <a:srgbClr val="21295C"/>
                </a:solidFill>
                <a:latin typeface="Arial"/>
              </a:rPr>
              <a:t/>
            </a:r>
            <a:r>
              <a:rPr sz="1400" b="0" i="0">
                <a:solidFill>
                  <a:srgbClr val="21295C"/>
                </a:solidFill>
                <a:latin typeface="Arial"/>
              </a:rPr>
              <a:t>Решение одно и повторяющееся: звать старшего сейчас или на следующем обходе. </a:t>
            </a:r>
            <a:r>
              <a:rPr sz="1400" b="1" i="0">
                <a:solidFill>
                  <a:srgbClr val="21295C"/>
                </a:solidFill>
                <a:latin typeface="Arial"/>
              </a:rPr>
              <a:t>Решает тот, кто видит только запись.</a:t>
            </a:r>
          </a:p>
        </p:txBody>
      </p:sp>
      <p:sp>
        <p:nvSpPr>
          <p:cNvPr id="17" name="Rectangle 16"/>
          <p:cNvSpPr/>
          <p:nvPr/>
        </p:nvSpPr>
        <p:spPr>
          <a:xfrm>
            <a:off x="6091275" y="2241116"/>
            <a:ext cx="9144" cy="3682684"/>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классический режим: шкала, веса которой назначили люди</a:t>
            </a:r>
          </a:p>
        </p:txBody>
      </p:sp>
      <p:sp>
        <p:nvSpPr>
          <p:cNvPr id="4" name="Rounded Rectangle 3"/>
          <p:cNvSpPr/>
          <p:nvPr/>
        </p:nvSpPr>
        <p:spPr>
          <a:xfrm>
            <a:off x="502920"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отклонению от нормы</a:t>
            </a:r>
          </a:p>
        </p:txBody>
      </p:sp>
      <p:sp>
        <p:nvSpPr>
          <p:cNvPr id="6" name="Right Arrow 5"/>
          <p:cNvSpPr/>
          <p:nvPr/>
        </p:nvSpPr>
        <p:spPr>
          <a:xfrm>
            <a:off x="3139363" y="162296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 баллов</a:t>
            </a:r>
          </a:p>
        </p:txBody>
      </p:sp>
      <p:sp>
        <p:nvSpPr>
          <p:cNvPr id="9" name="Right Arrow 8"/>
          <p:cNvSpPr/>
          <p:nvPr/>
        </p:nvSpPr>
        <p:spPr>
          <a:xfrm>
            <a:off x="6004407" y="162296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порогом</a:t>
            </a:r>
          </a:p>
        </p:txBody>
      </p:sp>
      <p:sp>
        <p:nvSpPr>
          <p:cNvPr id="12" name="Right Arrow 11"/>
          <p:cNvSpPr/>
          <p:nvPr/>
        </p:nvSpPr>
        <p:spPr>
          <a:xfrm>
            <a:off x="8869451" y="162296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15" name="TextBox 14"/>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шкалы — без обученной модели</a:t>
            </a:r>
          </a:p>
        </p:txBody>
      </p:sp>
      <p:sp>
        <p:nvSpPr>
          <p:cNvPr id="16" name="Rounded Rectangle 15"/>
          <p:cNvSpPr/>
          <p:nvPr/>
        </p:nvSpPr>
        <p:spPr>
          <a:xfrm>
            <a:off x="502920" y="2478765"/>
            <a:ext cx="5437479" cy="2986504"/>
          </a:xfrm>
          <a:prstGeom prst="roundRect">
            <a:avLst>
              <a:gd name="adj" fmla="val 10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263421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шкала даёт</a:t>
            </a:r>
          </a:p>
        </p:txBody>
      </p:sp>
      <p:sp>
        <p:nvSpPr>
          <p:cNvPr id="18" name="TextBox 17"/>
          <p:cNvSpPr txBox="1"/>
          <p:nvPr/>
        </p:nvSpPr>
        <p:spPr>
          <a:xfrm>
            <a:off x="667512" y="2990391"/>
            <a:ext cx="5108295"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веса назначила согласительная комиссия и напечатала на карте</a:t>
            </a:r>
          </a:p>
          <a:p>
            <a:pPr algn="l">
              <a:lnSpc>
                <a:spcPct val="126000"/>
              </a:lnSpc>
            </a:pPr>
            <a:r>
              <a:rPr sz="1450" b="0" i="0">
                <a:solidFill>
                  <a:srgbClr val="21295C"/>
                </a:solidFill>
                <a:latin typeface="Arial"/>
              </a:rPr>
              <a:t>• видно, почему при частоте дыхания 25 выходит ровно три балла</a:t>
            </a:r>
          </a:p>
          <a:p>
            <a:pPr algn="l">
              <a:lnSpc>
                <a:spcPct val="126000"/>
              </a:lnSpc>
            </a:pPr>
            <a:r>
              <a:rPr sz="1450" b="0" i="0">
                <a:solidFill>
                  <a:srgbClr val="21295C"/>
                </a:solidFill>
                <a:latin typeface="Arial"/>
              </a:rPr>
              <a:t>• ошибку правят как ошибку документа: комиссия, новая редакция, адресат возражения</a:t>
            </a:r>
          </a:p>
        </p:txBody>
      </p:sp>
      <p:sp>
        <p:nvSpPr>
          <p:cNvPr id="19" name="Rounded Rectangle 18"/>
          <p:cNvSpPr/>
          <p:nvPr/>
        </p:nvSpPr>
        <p:spPr>
          <a:xfrm>
            <a:off x="6251295" y="2478765"/>
            <a:ext cx="5437479" cy="2986504"/>
          </a:xfrm>
          <a:prstGeom prst="roundRect">
            <a:avLst>
              <a:gd name="adj" fmla="val 102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263421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не даёт — в это модель и целилась</a:t>
            </a:r>
          </a:p>
        </p:txBody>
      </p:sp>
      <p:sp>
        <p:nvSpPr>
          <p:cNvPr id="21" name="TextBox 20"/>
          <p:cNvSpPr txBox="1"/>
          <p:nvPr/>
        </p:nvSpPr>
        <p:spPr>
          <a:xfrm>
            <a:off x="6415887" y="2990391"/>
            <a:ext cx="5108295"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медленна: баллы растут, когда показатели уже отклонились, а человеку с сепсисом к этой минуте плохо несколько часов</a:t>
            </a:r>
          </a:p>
          <a:p>
            <a:pPr algn="l">
              <a:lnSpc>
                <a:spcPct val="126000"/>
              </a:lnSpc>
            </a:pPr>
            <a:r>
              <a:rPr sz="1450" b="0" i="0">
                <a:solidFill>
                  <a:srgbClr val="21295C"/>
                </a:solidFill>
                <a:latin typeface="Arial"/>
              </a:rPr>
              <a:t>• груба: один порог на восьмидесятилетнего после операции на брюшной полости и на тридцатилетнего с переломом</a:t>
            </a:r>
          </a:p>
          <a:p>
            <a:pPr algn="l">
              <a:lnSpc>
                <a:spcPct val="126000"/>
              </a:lnSpc>
            </a:pPr>
            <a:r>
              <a:rPr sz="1450" b="0" i="0">
                <a:solidFill>
                  <a:srgbClr val="21295C"/>
                </a:solidFill>
                <a:latin typeface="Arial"/>
              </a:rPr>
              <a:t>• знает шесть величин, снятых сейчас: ни диагноза, ни анализов, ни прошлых госпитализаций</a:t>
            </a:r>
          </a:p>
        </p:txBody>
      </p:sp>
      <p:sp>
        <p:nvSpPr>
          <p:cNvPr id="22" name="Rounded Rectangle 21"/>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Шкала — классический режим этой стадии: дальше модель сравнивается именно с ней.</a:t>
            </a:r>
            <a:r>
              <a:rPr sz="1450" b="0" i="0">
                <a:solidFill>
                  <a:srgbClr val="21295C"/>
                </a:solidFill>
                <a:latin typeface="Arial"/>
              </a:rPr>
              <a:t> </a:t>
            </a:r>
            <a:r>
              <a:rPr sz="1450" b="0" i="1">
                <a:solidFill>
                  <a:srgbClr val="21295C"/>
                </a:solidFill>
                <a:latin typeface="Arial"/>
              </a:rPr>
              <a:t>Выходные данные действующей редакции карты не названы — ни года, ни публикации профессионального общества.</a:t>
            </a: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часы задержки лечения: от капельницы с антибиотиком до реанимации</a:t>
            </a:r>
          </a:p>
          <a:p>
            <a:pPr algn="l">
              <a:lnSpc>
                <a:spcPct val="126000"/>
              </a:lnSpc>
            </a:pPr>
            <a:r>
              <a:rPr sz="1350" b="0" i="0">
                <a:solidFill>
                  <a:srgbClr val="21295C"/>
                </a:solidFill>
                <a:latin typeface="Arial"/>
              </a:rPr>
              <a:t>• нераспознанное ухудшение — одна из ведущих причин внутрибольничной смерти</a:t>
            </a:r>
          </a:p>
          <a:p>
            <a:pPr algn="l">
              <a:lnSpc>
                <a:spcPct val="126000"/>
              </a:lnSpc>
            </a:pPr>
            <a:r>
              <a:rPr sz="1350" b="0" i="0">
                <a:solidFill>
                  <a:srgbClr val="21295C"/>
                </a:solidFill>
                <a:latin typeface="Arial"/>
              </a:rPr>
              <a:t>• считается не в деньгах; точное место в ряду причин здесь не названо</a:t>
            </a:r>
          </a:p>
        </p:txBody>
      </p:sp>
      <p:sp>
        <p:nvSpPr>
          <p:cNvPr id="7" name="Rounded Rectangle 6"/>
          <p:cNvSpPr/>
          <p:nvPr/>
        </p:nvSpPr>
        <p:spPr>
          <a:xfrm>
            <a:off x="4129887" y="1335024"/>
            <a:ext cx="3316071"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анализы, назначенные «чтобы исключить»</a:t>
            </a:r>
          </a:p>
          <a:p>
            <a:pPr algn="l">
              <a:lnSpc>
                <a:spcPct val="126000"/>
              </a:lnSpc>
            </a:pPr>
            <a:r>
              <a:rPr sz="1350" b="0" i="0">
                <a:solidFill>
                  <a:srgbClr val="21295C"/>
                </a:solidFill>
                <a:latin typeface="Arial"/>
              </a:rPr>
              <a:t>• антибиотик «на всякий случай» — и вклад в устойчивость возбудителя</a:t>
            </a:r>
          </a:p>
          <a:p>
            <a:pPr algn="l">
              <a:lnSpc>
                <a:spcPct val="126000"/>
              </a:lnSpc>
            </a:pPr>
            <a:r>
              <a:rPr sz="1350" b="0" i="0">
                <a:solidFill>
                  <a:srgbClr val="21295C"/>
                </a:solidFill>
                <a:latin typeface="Arial"/>
              </a:rPr>
              <a:t>• время сестры и врача, снятое с другого пациента той же смены</a:t>
            </a:r>
          </a:p>
          <a:p>
            <a:pPr algn="l">
              <a:lnSpc>
                <a:spcPct val="126000"/>
              </a:lnSpc>
            </a:pPr>
            <a:r>
              <a:rPr sz="1350" b="0" i="0">
                <a:solidFill>
                  <a:srgbClr val="21295C"/>
                </a:solidFill>
                <a:latin typeface="Arial"/>
              </a:rPr>
              <a:t>• через сотню повторений — привычка закрывать оповещение не читая</a:t>
            </a:r>
          </a:p>
        </p:txBody>
      </p:sp>
      <p:sp>
        <p:nvSpPr>
          <p:cNvPr id="10" name="Rounded Rectangle 9"/>
          <p:cNvSpPr/>
          <p:nvPr/>
        </p:nvSpPr>
        <p:spPr>
          <a:xfrm>
            <a:off x="374904" y="4535424"/>
            <a:ext cx="11441887" cy="1283891"/>
          </a:xfrm>
          <a:prstGeom prst="roundRect">
            <a:avLst>
              <a:gd name="adj" fmla="val 2374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Обе ошибки платит одна и та же дежурная смена, и выбор между ними делается по многу раз за ночь.</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Прикроватный монитор: активная тревога по пульсу в шапке экрана (съёмка на учебном манекене)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Оба классических режима, посчитанные в одной единице — до всякой модели</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ШКАЛА РАННЕГО ПРЕДУПРЕЖДЕНИЯ — ПОДТВЕРЖДАЕТСЯ</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тревог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45 776 пациентов, сепсис у 3,3 из ста; чувствительность 0,758</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ДВЕ ДРУГИЕ ШКАЛЫ ТОГО ЖЕ РАЗБОРА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тревог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 же население</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ТРЕВОГИ ПРИКРОВАТНОГО ПРИБОРА — ЛОЖНЫЕ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12 671 размеченная тревога; обученной модели в приборе нет</a:t>
            </a:r>
          </a:p>
        </p:txBody>
      </p:sp>
      <p:sp>
        <p:nvSpPr>
          <p:cNvPr id="16" name="Rounded Rectangle 15"/>
          <p:cNvSpPr/>
          <p:nvPr/>
        </p:nvSpPr>
        <p:spPr>
          <a:xfrm>
            <a:off x="374904" y="3010932"/>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классический режим не был бесплатным.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У шкалы раннего предупреждения подтверждаются 8 тревог из ста. Остальные 92 сделаны впустую — до всякого машинного обучения.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Две другие шкалы того же разбора, на той же выборке: 12 и 18 из ста.</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Прибор у постели решает другую задачу: порог там выставлен рукой, обученной модели нет вовсе. Доли прибора и шкалы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Сравнивать модель надо с этими числами. Нуля в этом сравнении нет.</a:t>
            </a:r>
          </a:p>
        </p:txBody>
      </p:sp>
      <p:sp>
        <p:nvSpPr>
          <p:cNvPr id="19" name="Rectangle 18"/>
          <p:cNvSpPr/>
          <p:nvPr/>
        </p:nvSpPr>
        <p:spPr>
          <a:xfrm>
            <a:off x="6091275" y="3102372"/>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балльных шкал на поиске сепсиса в общем отделении, JAMIA Open 2021, DOI 10.1093/jamiaopen/ooab062, PMID 34820600</a:t>
            </a:r>
            <a:r>
              <a:rPr sz="1200" b="0" i="1">
                <a:solidFill>
                  <a:srgbClr val="1C7293"/>
                </a:solidFill>
                <a:latin typeface="Arial"/>
              </a:rPr>
              <a:t> · </a:t>
            </a:r>
            <a:r>
              <a:rPr sz="1200" b="0" i="1" u="sng">
                <a:solidFill>
                  <a:srgbClr val="065A82"/>
                </a:solidFill>
                <a:latin typeface="Arial"/>
                <a:hlinkClick r:id="rId3"/>
              </a:rPr>
              <a:t>Drew B. J. и соавт., PLoS One 2014;9(10):e110274, DOI 10.1371/journal.pone.0110274, PMID 25338067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РАЗРАБОТЧИКОМ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версии, два заявления; полосы «0,76–0,86» не существует</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НЕЗАВИСИМОЙ ПРОВЕРКОЙ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версия; 38 455 госпитализаций 27 697 пациентов одной университетской системы, сепсис у 6,6 из ста</a:t>
            </a:r>
          </a:p>
        </p:txBody>
      </p:sp>
      <p:sp>
        <p:nvSpPr>
          <p:cNvPr id="12" name="Rounded Rectangle 11"/>
          <p:cNvSpPr/>
          <p:nvPr/>
        </p:nvSpPr>
        <p:spPr>
          <a:xfrm>
            <a:off x="8069884"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33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выявлено 1 709 из 2 552; из пропущенных клиницистом — 7 из ста</a:t>
            </a:r>
          </a:p>
        </p:txBody>
      </p:sp>
      <p:sp>
        <p:nvSpPr>
          <p:cNvPr id="16" name="Rounded Rectangle 15"/>
          <p:cNvSpPr/>
          <p:nvPr/>
        </p:nvSpPr>
        <p:spPr>
          <a:xfrm>
            <a:off x="374904" y="301470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Разница между 0,76 и 0,63 — это разница в пригодности.</a:t>
            </a:r>
          </a:p>
        </p:txBody>
      </p:sp>
      <p:sp>
        <p:nvSpPr>
          <p:cNvPr id="18" name="TextBox 17"/>
          <p:cNvSpPr txBox="1"/>
          <p:nvPr/>
        </p:nvSpPr>
        <p:spPr>
          <a:xfrm>
            <a:off x="6278727"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 0,76 можно опереться при настройке порога; при 0,63 неприемлем либо поток тревог, либо чувствительность.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глубокой сети здесь нет.</a:t>
            </a:r>
          </a:p>
        </p:txBody>
      </p:sp>
      <p:sp>
        <p:nvSpPr>
          <p:cNvPr id="19" name="Rectangle 18"/>
          <p:cNvSpPr/>
          <p:nvPr/>
        </p:nvSpPr>
        <p:spPr>
          <a:xfrm>
            <a:off x="6091275" y="3106144"/>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a:t>
            </a:r>
            <a:r>
              <a:rPr sz="1200" b="0" i="1">
                <a:solidFill>
                  <a:srgbClr val="1C7293"/>
                </a:solidFill>
                <a:latin typeface="Arial"/>
              </a:rPr>
              <a:t> · </a:t>
            </a:r>
            <a:r>
              <a:rPr sz="1200" b="0" i="1" u="sng">
                <a:solidFill>
                  <a:srgbClr val="065A82"/>
                </a:solidFill>
                <a:latin typeface="Arial"/>
                <a:hlinkClick r:id="rId3"/>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Пример 1, арифметика: сто госпитализаций, восемнадцать тревог, два подтверждённых случая</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ТРЕВОГА ПРИХОДИТ НА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6 971 тревога на 38 455 госпитализаций; пересказ «каждая шестая» занижает измеренное</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ста</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 сами тревоги, а не госпитализации</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СЕПСИСА, РАЗОБРАТЬ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5" name="TextBox 14"/>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 пресса печатает отозванное до сих пор</a:t>
            </a:r>
          </a:p>
        </p:txBody>
      </p:sp>
      <p:sp>
        <p:nvSpPr>
          <p:cNvPr id="16" name="TextBox 15"/>
          <p:cNvSpPr txBox="1"/>
          <p:nvPr/>
        </p:nvSpPr>
        <p:spPr>
          <a:xfrm>
            <a:off x="502920" y="353314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Поток тревоги</a:t>
            </a:r>
          </a:p>
        </p:txBody>
      </p:sp>
      <p:sp>
        <p:nvSpPr>
          <p:cNvPr id="17" name="Rounded Rectangle 16"/>
          <p:cNvSpPr/>
          <p:nvPr/>
        </p:nvSpPr>
        <p:spPr>
          <a:xfrm>
            <a:off x="1920240"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1 000 госпитализаций</a:t>
            </a:r>
          </a:p>
        </p:txBody>
      </p:sp>
      <p:sp>
        <p:nvSpPr>
          <p:cNvPr id="19" name="Right Arrow 18"/>
          <p:cNvSpPr/>
          <p:nvPr/>
        </p:nvSpPr>
        <p:spPr>
          <a:xfrm>
            <a:off x="5039258" y="36656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около 181 тревоги</a:t>
            </a:r>
          </a:p>
        </p:txBody>
      </p:sp>
      <p:sp>
        <p:nvSpPr>
          <p:cNvPr id="22" name="Right Arrow 21"/>
          <p:cNvSpPr/>
          <p:nvPr/>
        </p:nvSpPr>
        <p:spPr>
          <a:xfrm>
            <a:off x="8386876" y="36656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22 подтверждённых случая</a:t>
            </a:r>
          </a:p>
        </p:txBody>
      </p:sp>
      <p:sp>
        <p:nvSpPr>
          <p:cNvPr id="25" name="TextBox 24"/>
          <p:cNvSpPr txBox="1"/>
          <p:nvPr/>
        </p:nvSpPr>
        <p:spPr>
          <a:xfrm>
            <a:off x="502920" y="400853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одной тревоги</a:t>
            </a:r>
          </a:p>
        </p:txBody>
      </p:sp>
      <p:sp>
        <p:nvSpPr>
          <p:cNvPr id="26" name="Rounded Rectangle 25"/>
          <p:cNvSpPr/>
          <p:nvPr/>
        </p:nvSpPr>
        <p:spPr>
          <a:xfrm>
            <a:off x="374904" y="4311220"/>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402660"/>
            <a:ext cx="5373471" cy="18335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Знаменатели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12 — доля </a:t>
            </a:r>
            <a:r>
              <a:rPr sz="1500" b="1" i="0">
                <a:solidFill>
                  <a:srgbClr val="21295C"/>
                </a:solidFill>
                <a:latin typeface="Arial"/>
              </a:rPr>
              <a:t>поднятых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Шкала, которую модель заменяла, подтверждалась 8 тревогами из ста; другая шкала того же разбора — 18. Модель из этой полосы не вышла.</a:t>
            </a:r>
          </a:p>
        </p:txBody>
      </p:sp>
      <p:sp>
        <p:nvSpPr>
          <p:cNvPr id="28" name="TextBox 27"/>
          <p:cNvSpPr txBox="1"/>
          <p:nvPr/>
        </p:nvSpPr>
        <p:spPr>
          <a:xfrm>
            <a:off x="6278727" y="4402660"/>
            <a:ext cx="5373471" cy="18335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Населения разные, и событие в них случается с разной частотой: сравнивается порядок величины. Превосходства это сравнение не устанавливает.</a:t>
            </a:r>
          </a:p>
        </p:txBody>
      </p:sp>
      <p:sp>
        <p:nvSpPr>
          <p:cNvPr id="29" name="Rectangle 28"/>
          <p:cNvSpPr/>
          <p:nvPr/>
        </p:nvSpPr>
        <p:spPr>
          <a:xfrm>
            <a:off x="6091275" y="4402660"/>
            <a:ext cx="9144" cy="1574205"/>
          </a:xfrm>
          <a:prstGeom prst="rect">
            <a:avLst/>
          </a:prstGeom>
          <a:solidFill>
            <a:srgbClr val="D9E2EC"/>
          </a:solidFill>
          <a:ln>
            <a:noFill/>
          </a:ln>
          <a:effectLst/>
        </p:spPr>
        <p:txBody>
          <a:bodyPr rtlCol="0" anchor="ctr"/>
          <a:lstStyle/>
          <a:p>
            <a:pPr algn="ctr"/>
          </a:p>
        </p:txBody>
      </p:sp>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 DOI 10.1093/jamiaopen/ooab062, PMID 34820600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вторая проверка: другие авторы, другие больницы</a:t>
            </a:r>
          </a:p>
        </p:txBody>
      </p:sp>
      <p:sp>
        <p:nvSpPr>
          <p:cNvPr id="4" name="Rounded Rectangle 3"/>
          <p:cNvSpPr/>
          <p:nvPr/>
        </p:nvSpPr>
        <p:spPr>
          <a:xfrm>
            <a:off x="502920"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6" name="TextBox 5"/>
          <p:cNvSpPr txBox="1"/>
          <p:nvPr/>
        </p:nvSpPr>
        <p:spPr>
          <a:xfrm>
            <a:off x="640080"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957740"/>
            <a:ext cx="145229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95,3; окно шесть часов</a:t>
            </a:r>
          </a:p>
        </p:txBody>
      </p:sp>
      <p:sp>
        <p:nvSpPr>
          <p:cNvPr id="8" name="Rounded Rectangle 7"/>
          <p:cNvSpPr/>
          <p:nvPr/>
        </p:nvSpPr>
        <p:spPr>
          <a:xfrm>
            <a:off x="2394127"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287"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СРАБАТЫВАНИЕ — ДОЛЯ ОБРАЩЕНИЙ</a:t>
            </a:r>
          </a:p>
        </p:txBody>
      </p:sp>
      <p:sp>
        <p:nvSpPr>
          <p:cNvPr id="10" name="TextBox 9"/>
          <p:cNvSpPr txBox="1"/>
          <p:nvPr/>
        </p:nvSpPr>
        <p:spPr>
          <a:xfrm>
            <a:off x="2531287" y="2140317"/>
            <a:ext cx="14522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4,9 из ста обращений</a:t>
            </a:r>
          </a:p>
        </p:txBody>
      </p:sp>
      <p:sp>
        <p:nvSpPr>
          <p:cNvPr id="11" name="TextBox 10"/>
          <p:cNvSpPr txBox="1"/>
          <p:nvPr/>
        </p:nvSpPr>
        <p:spPr>
          <a:xfrm>
            <a:off x="2531287" y="2838915"/>
            <a:ext cx="14522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7 183 на 145 885 обращений</a:t>
            </a:r>
          </a:p>
        </p:txBody>
      </p:sp>
      <p:sp>
        <p:nvSpPr>
          <p:cNvPr id="12" name="Rounded Rectangle 11"/>
          <p:cNvSpPr/>
          <p:nvPr/>
        </p:nvSpPr>
        <p:spPr>
          <a:xfrm>
            <a:off x="4285335"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2495"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ОПЕРЕЖЕНИЕ КЛИНИЧЕСКОГО РЕШЕНИЯ</a:t>
            </a:r>
          </a:p>
        </p:txBody>
      </p:sp>
      <p:sp>
        <p:nvSpPr>
          <p:cNvPr id="14" name="TextBox 13"/>
          <p:cNvSpPr txBox="1"/>
          <p:nvPr/>
        </p:nvSpPr>
        <p:spPr>
          <a:xfrm>
            <a:off x="4422495"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ноль минут</a:t>
            </a:r>
          </a:p>
        </p:txBody>
      </p:sp>
      <p:sp>
        <p:nvSpPr>
          <p:cNvPr id="15" name="TextBox 14"/>
          <p:cNvSpPr txBox="1"/>
          <p:nvPr/>
        </p:nvSpPr>
        <p:spPr>
          <a:xfrm>
            <a:off x="4422495" y="2957740"/>
            <a:ext cx="14522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a:t>
            </a:r>
          </a:p>
        </p:txBody>
      </p:sp>
      <p:sp>
        <p:nvSpPr>
          <p:cNvPr id="16" name="Rounded Rectangle 15"/>
          <p:cNvSpPr/>
          <p:nvPr/>
        </p:nvSpPr>
        <p:spPr>
          <a:xfrm>
            <a:off x="6176543" y="1335024"/>
            <a:ext cx="1726615" cy="2506772"/>
          </a:xfrm>
          <a:prstGeom prst="roundRect">
            <a:avLst>
              <a:gd name="adj" fmla="val 17653"/>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3703" y="1472184"/>
            <a:ext cx="14522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ДЕЙСТВУЮЩАЯ ВЕРСИЯ — РАЗЛИЧЕНИЕ И ПОДТВЕРЖДЕНИЕ</a:t>
            </a:r>
          </a:p>
        </p:txBody>
      </p:sp>
      <p:sp>
        <p:nvSpPr>
          <p:cNvPr id="18" name="TextBox 17"/>
          <p:cNvSpPr txBox="1"/>
          <p:nvPr/>
        </p:nvSpPr>
        <p:spPr>
          <a:xfrm>
            <a:off x="6313703" y="2347789"/>
            <a:ext cx="1452295"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 0,82 до 0,92 · от 0,13 до 0,26</a:t>
            </a:r>
          </a:p>
        </p:txBody>
      </p:sp>
      <p:sp>
        <p:nvSpPr>
          <p:cNvPr id="19" name="TextBox 18"/>
          <p:cNvSpPr txBox="1"/>
          <p:nvPr/>
        </p:nvSpPr>
        <p:spPr>
          <a:xfrm>
            <a:off x="6313703" y="2859662"/>
            <a:ext cx="145229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227 091 госпитализация; 4–8 тревог на подтверждение</a:t>
            </a:r>
          </a:p>
        </p:txBody>
      </p:sp>
      <p:sp>
        <p:nvSpPr>
          <p:cNvPr id="20" name="Rounded Rectangle 19"/>
          <p:cNvSpPr/>
          <p:nvPr/>
        </p:nvSpPr>
        <p:spPr>
          <a:xfrm>
            <a:off x="374904" y="3933236"/>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24676"/>
            <a:ext cx="11112703" cy="221153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145 885 обращений двух приёмных отделений, данные 2023 года, окно предсказания шесть часов.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Действующую версию проверили проспективно, в четырёх системах: различение выросло, доля подтверждения осталась низкой.</a:t>
            </a:r>
          </a:p>
        </p:txBody>
      </p:sp>
      <p:sp>
        <p:nvSpPr>
          <p:cNvPr id="22" name="Rounded Rectangle 21"/>
          <p:cNvSpPr/>
          <p:nvPr/>
        </p:nvSpPr>
        <p:spPr>
          <a:xfrm>
            <a:off x="8214055" y="1335024"/>
            <a:ext cx="3474720" cy="2625231"/>
          </a:xfrm>
          <a:prstGeom prst="roundRect">
            <a:avLst>
              <a:gd name="adj" fmla="val 11610"/>
            </a:avLst>
          </a:prstGeom>
          <a:solidFill>
            <a:srgbClr val="F4F7FA"/>
          </a:solidFill>
          <a:ln w="19050">
            <a:solidFill>
              <a:srgbClr val="1C7293"/>
            </a:solidFill>
          </a:ln>
          <a:effectLst/>
        </p:spPr>
        <p:txBody>
          <a:bodyPr rtlCol="0" anchor="ctr"/>
          <a:lstStyle/>
          <a:p>
            <a:pPr algn="ctr"/>
          </a:p>
        </p:txBody>
      </p:sp>
      <p:pic>
        <p:nvPicPr>
          <p:cNvPr id="23" name="Picture 22" descr="s59-stranitsa-publikatsii-2024.png"/>
          <p:cNvPicPr>
            <a:picLocks noChangeAspect="1"/>
          </p:cNvPicPr>
          <p:nvPr/>
        </p:nvPicPr>
        <p:blipFill>
          <a:blip r:embed="rId2"/>
          <a:stretch>
            <a:fillRect/>
          </a:stretch>
        </p:blipFill>
        <p:spPr>
          <a:xfrm>
            <a:off x="8351215" y="1472184"/>
            <a:ext cx="3200400" cy="2350911"/>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Ostermayer D. G., Braunheim B., Mehta A. M., Ward J., Andrabi S., Sirajuddin A. M., JAMIA Open 2024;7(4):ooae133, DOI 10.1093/jamiaopen/ooae133, PMID 39545248</a:t>
            </a:r>
            <a:r>
              <a:rPr sz="1200" b="0" i="1">
                <a:solidFill>
                  <a:srgbClr val="1C7293"/>
                </a:solidFill>
                <a:latin typeface="Arial"/>
              </a:rPr>
              <a:t> · </a:t>
            </a:r>
            <a:r>
              <a:rPr sz="1200" b="0" i="1" u="sng">
                <a:solidFill>
                  <a:srgbClr val="065A82"/>
                </a:solidFill>
                <a:latin typeface="Arial"/>
                <a:hlinkClick r:id="rId4"/>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TextBox 12"/>
          <p:cNvSpPr txBox="1"/>
          <p:nvPr/>
        </p:nvSpPr>
        <p:spPr>
          <a:xfrm>
            <a:off x="502920" y="32898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4" name="Rounded Rectangle 13"/>
          <p:cNvSpPr/>
          <p:nvPr/>
        </p:nvSpPr>
        <p:spPr>
          <a:xfrm>
            <a:off x="1920240"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6" name="Right Arrow 15"/>
          <p:cNvSpPr/>
          <p:nvPr/>
        </p:nvSpPr>
        <p:spPr>
          <a:xfrm>
            <a:off x="5039258" y="342237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19" name="Right Arrow 18"/>
          <p:cNvSpPr/>
          <p:nvPr/>
        </p:nvSpPr>
        <p:spPr>
          <a:xfrm>
            <a:off x="8386876" y="342237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2" name="TextBox 21"/>
          <p:cNvSpPr txBox="1"/>
          <p:nvPr/>
        </p:nvSpPr>
        <p:spPr>
          <a:xfrm>
            <a:off x="502920" y="39115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3" name="Rounded Rectangle 22"/>
          <p:cNvSpPr/>
          <p:nvPr/>
        </p:nvSpPr>
        <p:spPr>
          <a:xfrm>
            <a:off x="1920240"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2002536"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5" name="Right Arrow 24"/>
          <p:cNvSpPr/>
          <p:nvPr/>
        </p:nvSpPr>
        <p:spPr>
          <a:xfrm>
            <a:off x="5039258" y="404407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267858" y="387495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5350154" y="392067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28" name="Right Arrow 27"/>
          <p:cNvSpPr/>
          <p:nvPr/>
        </p:nvSpPr>
        <p:spPr>
          <a:xfrm>
            <a:off x="8386876" y="404407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8615476"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8697772"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1" name="TextBox 30"/>
          <p:cNvSpPr txBox="1"/>
          <p:nvPr/>
        </p:nvSpPr>
        <p:spPr>
          <a:xfrm>
            <a:off x="502920" y="438692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Оповещение появилось без человека; разбор и отклонение тревоги стал новым шагом той же смены</a:t>
            </a:r>
          </a:p>
        </p:txBody>
      </p:sp>
      <p:sp>
        <p:nvSpPr>
          <p:cNvPr id="32" name="Rounded Rectangle 31"/>
          <p:cNvSpPr/>
          <p:nvPr/>
        </p:nvSpPr>
        <p:spPr>
          <a:xfrm>
            <a:off x="374904" y="4689610"/>
            <a:ext cx="11441887" cy="1546597"/>
          </a:xfrm>
          <a:prstGeom prst="roundRect">
            <a:avLst>
              <a:gd name="adj" fmla="val 19707"/>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781050"/>
            <a:ext cx="5373471" cy="1455157"/>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Форма «нагрузка выросла на том же месте» — та же смена у той же постели; форма «шаг появился» — разбор потока тревог как статья рабочего времени.</a:t>
            </a:r>
          </a:p>
          <a:p>
            <a:pPr algn="l">
              <a:lnSpc>
                <a:spcPct val="126000"/>
              </a:lnSpc>
              <a:spcBef>
                <a:spcPts val="700"/>
              </a:spcBef>
            </a:pPr>
            <a:r>
              <a:rPr sz="1250" b="0" i="0">
                <a:solidFill>
                  <a:srgbClr val="21295C"/>
                </a:solidFill>
                <a:latin typeface="Arial"/>
              </a:rPr>
              <a:t/>
            </a:r>
            <a:r>
              <a:rPr sz="1250" b="0" i="0">
                <a:solidFill>
                  <a:srgbClr val="21295C"/>
                </a:solidFill>
                <a:latin typeface="Arial"/>
              </a:rPr>
              <a:t>Та же постановка перенесена на детей; чисел из того разбора не приводим — полный текст закрыт.</a:t>
            </a:r>
          </a:p>
        </p:txBody>
      </p:sp>
      <p:sp>
        <p:nvSpPr>
          <p:cNvPr id="34" name="TextBox 33"/>
          <p:cNvSpPr txBox="1"/>
          <p:nvPr/>
        </p:nvSpPr>
        <p:spPr>
          <a:xfrm>
            <a:off x="6278727" y="4781050"/>
            <a:ext cx="5373471" cy="1455157"/>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поток тревог в 24 больницах за вирусную эпидемию: </a:t>
            </a:r>
            <a:r>
              <a:rPr sz="1250" b="1" i="0">
                <a:solidFill>
                  <a:srgbClr val="21295C"/>
                </a:solidFill>
                <a:latin typeface="Arial"/>
              </a:rPr>
              <a:t>953 → 1 363 в сутки</a:t>
            </a:r>
          </a:p>
          <a:p>
            <a:pPr algn="l">
              <a:lnSpc>
                <a:spcPct val="126000"/>
              </a:lnSpc>
              <a:spcBef>
                <a:spcPts val="700"/>
              </a:spcBef>
            </a:pPr>
            <a:r>
              <a:rPr sz="1250" b="0" i="0">
                <a:solidFill>
                  <a:srgbClr val="21295C"/>
                </a:solidFill>
                <a:latin typeface="Arial"/>
              </a:rPr>
              <a:t/>
            </a:r>
            <a:r>
              <a:rPr sz="1250" b="0" i="0">
                <a:solidFill>
                  <a:srgbClr val="21295C"/>
                </a:solidFill>
                <a:latin typeface="Arial"/>
              </a:rPr>
              <a:t>• загрузка за тот же период: </a:t>
            </a:r>
            <a:r>
              <a:rPr sz="1250" b="1" i="0">
                <a:solidFill>
                  <a:srgbClr val="21295C"/>
                </a:solidFill>
                <a:latin typeface="Arial"/>
              </a:rPr>
              <a:t>10 159 → 6 634 пациента</a:t>
            </a:r>
            <a:r>
              <a:rPr sz="1250" b="0" i="0">
                <a:solidFill>
                  <a:srgbClr val="21295C"/>
                </a:solidFill>
                <a:latin typeface="Arial"/>
              </a:rPr>
              <a:t>, доля с тревогой </a:t>
            </a:r>
            <a:r>
              <a:rPr sz="1250" b="1" i="0">
                <a:solidFill>
                  <a:srgbClr val="21295C"/>
                </a:solidFill>
                <a:latin typeface="Arial"/>
              </a:rPr>
              <a:t>9 → 21 из ста</a:t>
            </a:r>
          </a:p>
          <a:p>
            <a:pPr algn="l">
              <a:lnSpc>
                <a:spcPct val="126000"/>
              </a:lnSpc>
              <a:spcBef>
                <a:spcPts val="700"/>
              </a:spcBef>
            </a:pPr>
            <a:r>
              <a:rPr sz="1250" b="0" i="0">
                <a:solidFill>
                  <a:srgbClr val="21295C"/>
                </a:solidFill>
                <a:latin typeface="Arial"/>
              </a:rPr>
              <a:t/>
            </a:r>
            <a:r>
              <a:rPr sz="1250" b="1" i="0">
                <a:solidFill>
                  <a:srgbClr val="21295C"/>
                </a:solidFill>
                <a:latin typeface="Arial"/>
              </a:rPr>
              <a:t>Распределение входов сдвинулось, порог остался на месте.</a:t>
            </a:r>
          </a:p>
        </p:txBody>
      </p:sp>
      <p:sp>
        <p:nvSpPr>
          <p:cNvPr id="35" name="Rectangle 34"/>
          <p:cNvSpPr/>
          <p:nvPr/>
        </p:nvSpPr>
        <p:spPr>
          <a:xfrm>
            <a:off x="6091275" y="4781050"/>
            <a:ext cx="9144" cy="1415554"/>
          </a:xfrm>
          <a:prstGeom prst="rect">
            <a:avLst/>
          </a:prstGeom>
          <a:solidFill>
            <a:srgbClr val="D9E2EC"/>
          </a:solidFill>
          <a:ln>
            <a:noFill/>
          </a:ln>
          <a:effectLst/>
        </p:spPr>
        <p:txBody>
          <a:bodyPr rtlCol="0" anchor="ctr"/>
          <a:lstStyle/>
          <a:p>
            <a:pPr algn="ct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A., Cao J., Lyons P. G. и соавт., JAMA Network Open 2021;4(11), DOI 10.1001/jamanetworkopen.2021.35286, PMID 34797372</a:t>
            </a:r>
            <a:r>
              <a:rPr sz="1200" b="0" i="1">
                <a:solidFill>
                  <a:srgbClr val="1C7293"/>
                </a:solidFill>
                <a:latin typeface="Arial"/>
              </a:rPr>
              <a:t> · </a:t>
            </a:r>
            <a:r>
              <a:rPr sz="12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тревога без названной базы не предупреждает</a:t>
            </a:r>
          </a:p>
        </p:txBody>
      </p:sp>
      <p:sp>
        <p:nvSpPr>
          <p:cNvPr id="4" name="Rounded Rectangle 3"/>
          <p:cNvSpPr/>
          <p:nvPr/>
        </p:nvSpPr>
        <p:spPr>
          <a:xfrm>
            <a:off x="374904" y="1243584"/>
            <a:ext cx="11441887" cy="4313914"/>
          </a:xfrm>
          <a:prstGeom prst="roundRect">
            <a:avLst>
              <a:gd name="adj" fmla="val 706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Считать балл непрерывно и по всей больнице сразу — по данным, которые уже лежат в карте. Догнать полосу подтверждения заменённой шкалы: 12 из ста против 8 и 18 у двух других. Различение действующей версии выросло до полосы от 0,82 до 0,92 по четырём системам.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себе порог: его назначает организация под своё население. Опередить врача там, где данные попадают в карту после его решения: медианное опережение ноль минут. Замолчать при сдвинувшейся картине населения: поток вырос с 953 до 1 363 в сутки при упавшей загрузке.</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выросла на том же месте</a:t>
            </a:r>
            <a:r>
              <a:rPr sz="1500" b="0" i="0">
                <a:solidFill>
                  <a:srgbClr val="21295C"/>
                </a:solidFill>
                <a:latin typeface="Arial"/>
              </a:rPr>
              <a:t> — та же смена у той же постели, вырос объём чтения и отклонения. </a:t>
            </a:r>
            <a:r>
              <a:rPr sz="1500" b="1" i="0">
                <a:solidFill>
                  <a:srgbClr val="21295C"/>
                </a:solidFill>
                <a:latin typeface="Arial"/>
              </a:rPr>
              <a:t>Появился шаг</a:t>
            </a:r>
            <a:r>
              <a:rPr sz="1500" b="0" i="0">
                <a:solidFill>
                  <a:srgbClr val="21295C"/>
                </a:solidFill>
                <a:latin typeface="Arial"/>
              </a:rPr>
              <a:t> — разбор и отклонение тревоги; в отдельных больницах у него штат. </a:t>
            </a:r>
            <a:r>
              <a:rPr sz="1500" b="1" i="0">
                <a:solidFill>
                  <a:srgbClr val="21295C"/>
                </a:solidFill>
                <a:latin typeface="Arial"/>
              </a:rPr>
              <a:t>Прочерк: что стало с самой сменой, не измерено — качество её работы до внедрения и после никто не снимал</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Проверка доли подтверждения на своём потоке до включения. Назначенный разбор потока, посчитанный как рабочее время. Правила тишины и порог, пересчитанный под местную распространённость.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Тревога без названной базы не предупреждает: она сообщает о срабатывании порога и молчит о том, что произошло с пациентом.</a:t>
            </a:r>
          </a:p>
        </p:txBody>
      </p:sp>
      <p:sp>
        <p:nvSpPr>
          <p:cNvPr id="7" name="Rectangle 6"/>
          <p:cNvSpPr/>
          <p:nvPr/>
        </p:nvSpPr>
        <p:spPr>
          <a:xfrm>
            <a:off x="6091275" y="1335024"/>
            <a:ext cx="9144" cy="40395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98075"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05467"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737571" y="1335024"/>
            <a:ext cx="1967277"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883875" y="1335024"/>
            <a:ext cx="1674669"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704849" y="1335024"/>
            <a:ext cx="2735458"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851153" y="1335024"/>
            <a:ext cx="2442850"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7440308" y="1335024"/>
            <a:ext cx="4211890"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586612" y="1335024"/>
            <a:ext cx="39192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198075"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737571" y="1709287"/>
            <a:ext cx="1967277"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83875" y="1709287"/>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704849" y="1709287"/>
            <a:ext cx="2735458"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851153" y="1709287"/>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анализ · диагноз)</a:t>
            </a:r>
          </a:p>
        </p:txBody>
      </p:sp>
      <p:sp>
        <p:nvSpPr>
          <p:cNvPr id="19" name="Rectangle 18"/>
          <p:cNvSpPr/>
          <p:nvPr/>
        </p:nvSpPr>
        <p:spPr>
          <a:xfrm>
            <a:off x="7440308" y="1709287"/>
            <a:ext cx="4211890"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586612" y="1709287"/>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198075"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737571" y="2083551"/>
            <a:ext cx="1967277"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83875" y="2083551"/>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704849" y="2083551"/>
            <a:ext cx="2735458"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851153" y="2083551"/>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27" name="Rectangle 26"/>
          <p:cNvSpPr/>
          <p:nvPr/>
        </p:nvSpPr>
        <p:spPr>
          <a:xfrm>
            <a:off x="7440308" y="2083551"/>
            <a:ext cx="4211890"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586612" y="2083551"/>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198075"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737571" y="2457815"/>
            <a:ext cx="1967277"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83875" y="2457815"/>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33" name="Rectangle 32"/>
          <p:cNvSpPr/>
          <p:nvPr/>
        </p:nvSpPr>
        <p:spPr>
          <a:xfrm>
            <a:off x="4704849" y="2457815"/>
            <a:ext cx="2735458"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851153" y="2457815"/>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7440308" y="2457815"/>
            <a:ext cx="4211890"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586612" y="2457815"/>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198075"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737571" y="2832078"/>
            <a:ext cx="1967277"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83875" y="2832078"/>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704849" y="2832078"/>
            <a:ext cx="2735458"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851153" y="2832078"/>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7440308" y="2832078"/>
            <a:ext cx="4211890"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586612" y="2832078"/>
            <a:ext cx="3919282"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модель раннего предупреждения</a:t>
            </a:r>
            <a:r>
              <a:rPr sz="1150" b="0" i="0">
                <a:solidFill>
                  <a:srgbClr val="21295C"/>
                </a:solidFill>
                <a:latin typeface="Arial"/>
              </a:rPr>
              <a:t> (анализ)</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 раздела, в скобках — занявшие клетку раньше, прочерк — пусто. Занято 4 из 12 показанных клеток</a:t>
            </a:r>
            <a:r>
              <a:rPr sz="1200" b="0" i="0">
                <a:solidFill>
                  <a:srgbClr val="21295C"/>
                </a:solidFill>
                <a:latin typeface="Arial"/>
              </a:rPr>
              <a:t>, окно курсовой сетки из 42. Новой клетки раздел не добавил.</a:t>
            </a:r>
          </a:p>
        </p:txBody>
      </p:sp>
      <p:sp>
        <p:nvSpPr>
          <p:cNvPr id="46" name="TextBox 45"/>
          <p:cNvSpPr txBox="1"/>
          <p:nvPr/>
        </p:nvSpPr>
        <p:spPr>
          <a:xfrm>
            <a:off x="539496" y="39861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Те же восемь клеток пусты четвёртый раздел подряд:</a:t>
            </a:r>
            <a:r>
              <a:rPr sz="1200" b="0" i="0">
                <a:solidFill>
                  <a:srgbClr val="21295C"/>
                </a:solidFill>
                <a:latin typeface="Arial"/>
              </a:rPr>
              <a:t> прочерк говорит столько же, сколько имя — инструмент такого класса здесь искать незачем.</a:t>
            </a:r>
          </a:p>
        </p:txBody>
      </p:sp>
      <p:sp>
        <p:nvSpPr>
          <p:cNvPr id="47" name="TextBox 46"/>
          <p:cNvSpPr txBox="1"/>
          <p:nvPr/>
        </p:nvSpPr>
        <p:spPr>
          <a:xfrm>
            <a:off x="539496" y="4619740"/>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Единственный раздел лекции целиком не на изображении:</a:t>
            </a:r>
            <a:r>
              <a:rPr sz="1200" b="0" i="0">
                <a:solidFill>
                  <a:srgbClr val="21295C"/>
                </a:solidFill>
                <a:latin typeface="Arial"/>
              </a:rPr>
              <a:t> наблюдение считает по числам, уже попавшим в карту. Вне окна — </a:t>
            </a:r>
            <a:r>
              <a:rPr sz="1200" b="0" i="1">
                <a:solidFill>
                  <a:srgbClr val="1C7293"/>
                </a:solidFill>
                <a:latin typeface="Arial"/>
              </a:rPr>
              <a:t>измерение · сигнал прибора</a:t>
            </a:r>
            <a:r>
              <a:rPr sz="1200" b="0" i="0">
                <a:solidFill>
                  <a:srgbClr val="21295C"/>
                </a:solidFill>
                <a:latin typeface="Arial"/>
              </a:rPr>
              <a:t> (анализ).</a:t>
            </a:r>
          </a:p>
        </p:txBody>
      </p:sp>
      <p:sp>
        <p:nvSpPr>
          <p:cNvPr id="48" name="Rounded Rectangle 47"/>
          <p:cNvSpPr/>
          <p:nvPr/>
        </p:nvSpPr>
        <p:spPr>
          <a:xfrm>
            <a:off x="630936" y="5337107"/>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253287"/>
            <a:ext cx="10728655"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счёт риска внутри карты</a:t>
            </a:r>
            <a:r>
              <a:rPr sz="1200" b="0" i="0">
                <a:solidFill>
                  <a:srgbClr val="21295C"/>
                </a:solidFill>
                <a:latin typeface="Arial"/>
              </a:rPr>
              <a:t> — модуль поставщика карты: действующая версия на решающих деревьях с градиентным бустингом, донастроенных на свою больницу; из зарегистрированных в России — Webiomed</a:t>
            </a:r>
          </a:p>
        </p:txBody>
      </p:sp>
      <p:sp>
        <p:nvSpPr>
          <p:cNvPr id="50" name="Rounded Rectangle 49"/>
          <p:cNvSpPr/>
          <p:nvPr/>
        </p:nvSpPr>
        <p:spPr>
          <a:xfrm>
            <a:off x="630936" y="5970655"/>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886835"/>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надзор за дрейфом и пересчёт порога</a:t>
            </a:r>
            <a:r>
              <a:rPr sz="1200" b="0" i="0">
                <a:solidFill>
                  <a:srgbClr val="21295C"/>
                </a:solidFill>
                <a:latin typeface="Arial"/>
              </a:rPr>
              <a:t> под своё население — отдельный рынок рядом с моделью</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Решение по нему принимает тот, кто пациента не видел.</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244606"/>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371128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записи — до всякой обученной модели</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РЕЖИМ ПОСЧИТАН</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минуты 22 секунды → 4 минуты 04 секунды</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испытания, без всякого инструмента</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НАЗВАН И НЕ ПОСЧИТАН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он не был</a:t>
            </a:r>
          </a:p>
        </p:txBody>
      </p:sp>
      <p:sp>
        <p:nvSpPr>
          <p:cNvPr id="11" name="Rounded Rectangle 10"/>
          <p:cNvSpPr/>
          <p:nvPr/>
        </p:nvSpPr>
        <p:spPr>
          <a:xfrm>
            <a:off x="374904" y="2982641"/>
            <a:ext cx="11441887" cy="3253566"/>
          </a:xfrm>
          <a:prstGeom prst="roundRect">
            <a:avLst>
              <a:gd name="adj" fmla="val 936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Приём на двенадцать минут. Врач спрашивает, смотрит, назначает — и параллельно держит в голове структуру будущей записи. Что не успели, остаётся домашней работой с картой.</a:t>
            </a:r>
          </a:p>
          <a:p>
            <a:pPr algn="l">
              <a:lnSpc>
                <a:spcPct val="126000"/>
              </a:lnSpc>
              <a:spcBef>
                <a:spcPts val="700"/>
              </a:spcBef>
            </a:pPr>
            <a:r>
              <a:rPr sz="1200" b="0" i="0">
                <a:solidFill>
                  <a:srgbClr val="21295C"/>
                </a:solidFill>
                <a:latin typeface="Arial"/>
              </a:rPr>
              <a:t/>
            </a:r>
            <a:r>
              <a:rPr sz="1200" b="1" i="0">
                <a:solidFill>
                  <a:srgbClr val="21295C"/>
                </a:solidFill>
                <a:latin typeface="Arial"/>
              </a:rPr>
              <a:t>Шесть действий стадии.</a:t>
            </a:r>
            <a:r>
              <a:rPr sz="1200" b="0" i="0">
                <a:solidFill>
                  <a:srgbClr val="21295C"/>
                </a:solidFill>
                <a:latin typeface="Arial"/>
              </a:rPr>
              <a:t> 1. Держать структуру в голове · 2. Набрать запись · 3. Вычитать и подписать · 4. Собрать выписной документ · 5. Передать его читателю · 6. Предъявить при разборе случая.</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шести делает человек: пишет сам либо диктует живому писцу.</a:t>
            </a:r>
          </a:p>
          <a:p>
            <a:pPr algn="l">
              <a:lnSpc>
                <a:spcPct val="126000"/>
              </a:lnSpc>
              <a:spcBef>
                <a:spcPts val="700"/>
              </a:spcBef>
            </a:pPr>
            <a:r>
              <a:rPr sz="1200" b="0" i="0">
                <a:solidFill>
                  <a:srgbClr val="21295C"/>
                </a:solidFill>
                <a:latin typeface="Arial"/>
              </a:rPr>
              <a:t/>
            </a:r>
            <a:r>
              <a:rPr sz="1200" b="1" i="0">
                <a:solidFill>
                  <a:srgbClr val="21295C"/>
                </a:solidFill>
                <a:latin typeface="Arial"/>
              </a:rPr>
              <a:t>С обученной моделью — два действия из шести:</a:t>
            </a:r>
            <a:r>
              <a:rPr sz="1200" b="0" i="0">
                <a:solidFill>
                  <a:srgbClr val="21295C"/>
                </a:solidFill>
                <a:latin typeface="Arial"/>
              </a:rPr>
              <a:t> набор записи (2) · сборка выписного документа (4). Шаг у человека убрали: структуру во время разговора держит инструмент — за лекцию это единственное такое место. Взамен дали новый: вычитать чужой текст и найти то, чего не было.</a:t>
            </a:r>
          </a:p>
        </p:txBody>
      </p:sp>
      <p:sp>
        <p:nvSpPr>
          <p:cNvPr id="13" name="TextBox 12"/>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 до всякой точности.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записать меньше, чем было</a:t>
            </a:r>
            <a:r>
              <a:rPr sz="1200" b="0" i="0">
                <a:solidFill>
                  <a:srgbClr val="21295C"/>
                </a:solidFill>
                <a:latin typeface="Arial"/>
              </a:rPr>
              <a:t> — читатель назначит заново уже проверенное</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записать то, чего не было</a:t>
            </a:r>
            <a:r>
              <a:rPr sz="1200" b="0" i="0">
                <a:solidFill>
                  <a:srgbClr val="21295C"/>
                </a:solidFill>
                <a:latin typeface="Arial"/>
              </a:rPr>
              <a:t> — назначит по ложному основанию</a:t>
            </a:r>
          </a:p>
          <a:p>
            <a:pPr algn="l">
              <a:lnSpc>
                <a:spcPct val="126000"/>
              </a:lnSpc>
              <a:spcBef>
                <a:spcPts val="700"/>
              </a:spcBef>
            </a:pPr>
            <a:r>
              <a:rPr sz="1200" b="0" i="0">
                <a:solidFill>
                  <a:srgbClr val="21295C"/>
                </a:solidFill>
                <a:latin typeface="Arial"/>
              </a:rPr>
              <a:t/>
            </a:r>
            <a:r>
              <a:rPr sz="1200" b="1" i="0">
                <a:solidFill>
                  <a:srgbClr val="21295C"/>
                </a:solidFill>
                <a:latin typeface="Arial"/>
              </a:rPr>
              <a:t>Восемнадцать секунд улучшения без инструмента: всякое «стало быстрее» считают против этой величины.</a:t>
            </a:r>
          </a:p>
        </p:txBody>
      </p:sp>
      <p:sp>
        <p:nvSpPr>
          <p:cNvPr id="14" name="Rectangle 13"/>
          <p:cNvSpPr/>
          <p:nvPr/>
        </p:nvSpPr>
        <p:spPr>
          <a:xfrm>
            <a:off x="6091275" y="3074081"/>
            <a:ext cx="9144" cy="3118486"/>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БЕЗ РАСКРЫТОЙ МЕТОДИКИ СЧЁТА</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десять недель — около четверти часа на приём</a:t>
            </a:r>
          </a:p>
        </p:txBody>
      </p:sp>
      <p:sp>
        <p:nvSpPr>
          <p:cNvPr id="8" name="Rounded Rectangle 7"/>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время в заметке ниже на 9,5 процента</a:t>
            </a:r>
          </a:p>
        </p:txBody>
      </p:sp>
      <p:sp>
        <p:nvSpPr>
          <p:cNvPr id="11" name="TextBox 10"/>
          <p:cNvSpPr txBox="1"/>
          <p:nvPr/>
        </p:nvSpPr>
        <p:spPr>
          <a:xfrm>
            <a:off x="3477691"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относительно контрольной группы</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ИНСТРУМЕНТ 2</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a:t>
            </a:r>
          </a:p>
        </p:txBody>
      </p:sp>
      <p:sp>
        <p:nvSpPr>
          <p:cNvPr id="18" name="Rounded Rectangle 17"/>
          <p:cNvSpPr/>
          <p:nvPr/>
        </p:nvSpPr>
        <p:spPr>
          <a:xfrm>
            <a:off x="374904" y="3608827"/>
            <a:ext cx="11441887" cy="2627380"/>
          </a:xfrm>
          <a:prstGeom prst="roundRect">
            <a:avLst>
              <a:gd name="adj" fmla="val 116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0267"/>
            <a:ext cx="5373471" cy="253594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Классический режим.</a:t>
            </a:r>
            <a:r>
              <a:rPr sz="1250" b="0" i="0">
                <a:solidFill>
                  <a:srgbClr val="21295C"/>
                </a:solidFill>
                <a:latin typeface="Arial"/>
              </a:rPr>
              <a:t> Врач пишет сам — посчитан контрольной группой. Живой писец — назван и не посчитан.</a:t>
            </a:r>
          </a:p>
          <a:p>
            <a:pPr algn="l">
              <a:lnSpc>
                <a:spcPct val="126000"/>
              </a:lnSpc>
              <a:spcBef>
                <a:spcPts val="700"/>
              </a:spcBef>
            </a:pPr>
            <a:r>
              <a:rPr sz="1250" b="0" i="0">
                <a:solidFill>
                  <a:srgbClr val="21295C"/>
                </a:solidFill>
                <a:latin typeface="Arial"/>
              </a:rPr>
              <a:t/>
            </a:r>
            <a:r>
              <a:rPr sz="1250" b="1" i="0">
                <a:solidFill>
                  <a:srgbClr val="21295C"/>
                </a:solidFill>
                <a:latin typeface="Arial"/>
              </a:rPr>
              <a:t>Заявление и замер считают разные величины:</a:t>
            </a:r>
            <a:r>
              <a:rPr sz="1250" b="0" i="0">
                <a:solidFill>
                  <a:srgbClr val="21295C"/>
                </a:solidFill>
                <a:latin typeface="Arial"/>
              </a:rPr>
              <a:t> время в карте вообще против времени в заметке. Четверть часа экономии не укладывается в четыре минуты работы над заметкой.</a:t>
            </a:r>
          </a:p>
        </p:txBody>
      </p:sp>
      <p:sp>
        <p:nvSpPr>
          <p:cNvPr id="20" name="TextBox 19"/>
          <p:cNvSpPr txBox="1"/>
          <p:nvPr/>
        </p:nvSpPr>
        <p:spPr>
          <a:xfrm>
            <a:off x="6278727" y="3700267"/>
            <a:ext cx="5373471" cy="253594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Число без названной методики счёта не проверяется и не опровергается: утверждением о мире оно не является.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Измерено рандомизированно:</a:t>
            </a:r>
            <a:r>
              <a:rPr sz="1250" b="0" i="0">
                <a:solidFill>
                  <a:srgbClr val="21295C"/>
                </a:solidFill>
                <a:latin typeface="Arial"/>
              </a:rPr>
              <a:t> три равные группы, 238 врачей четырнадцати специальностей.</a:t>
            </a:r>
          </a:p>
          <a:p>
            <a:pPr algn="l">
              <a:lnSpc>
                <a:spcPct val="126000"/>
              </a:lnSpc>
              <a:spcBef>
                <a:spcPts val="700"/>
              </a:spcBef>
            </a:pPr>
            <a:r>
              <a:rPr sz="1250" b="0" i="0">
                <a:solidFill>
                  <a:srgbClr val="21295C"/>
                </a:solidFill>
                <a:latin typeface="Arial"/>
              </a:rPr>
              <a:t/>
            </a:r>
            <a:r>
              <a:rPr sz="1250" b="1" i="0">
                <a:solidFill>
                  <a:srgbClr val="21295C"/>
                </a:solidFill>
                <a:latin typeface="Arial"/>
              </a:rPr>
              <a:t>Два продукта одного режима, один дизайн, одно население врачей — и один результат значимый, другой нулевой.</a:t>
            </a:r>
            <a:r>
              <a:rPr sz="1250" b="0" i="0">
                <a:solidFill>
                  <a:srgbClr val="21295C"/>
                </a:solidFill>
                <a:latin typeface="Arial"/>
              </a:rPr>
              <a:t> Измеренный эффект принадлежит реализации, а не классу инструмента.</a:t>
            </a:r>
          </a:p>
          <a:p>
            <a:pPr algn="l">
              <a:lnSpc>
                <a:spcPct val="126000"/>
              </a:lnSpc>
              <a:spcBef>
                <a:spcPts val="700"/>
              </a:spcBef>
            </a:pPr>
            <a:r>
              <a:rPr sz="1250" b="0" i="0">
                <a:solidFill>
                  <a:srgbClr val="21295C"/>
                </a:solidFill>
                <a:latin typeface="Arial"/>
              </a:rPr>
              <a:t/>
            </a:r>
            <a:r>
              <a:rPr sz="12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1" name="Rectangle 20"/>
          <p:cNvSpPr/>
          <p:nvPr/>
        </p:nvSpPr>
        <p:spPr>
          <a:xfrm>
            <a:off x="6091275" y="3700267"/>
            <a:ext cx="9144" cy="2494658"/>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r>
              <a:rPr sz="1200" b="0" i="1">
                <a:solidFill>
                  <a:srgbClr val="1C7293"/>
                </a:solidFill>
                <a:latin typeface="Arial"/>
              </a:rPr>
              <a:t> · </a:t>
            </a:r>
            <a:r>
              <a:rPr sz="12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усталость от работы ниже</a:t>
            </a:r>
          </a:p>
        </p:txBody>
      </p:sp>
      <p:sp>
        <p:nvSpPr>
          <p:cNvPr id="8" name="Rounded Rectangle 7"/>
          <p:cNvSpPr/>
          <p:nvPr/>
        </p:nvSpPr>
        <p:spPr>
          <a:xfrm>
            <a:off x="3340531"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0" name="TextBox 9"/>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вычитку каждого черновика и службу контроля со штатом</a:t>
            </a:r>
          </a:p>
        </p:txBody>
      </p:sp>
      <p:sp>
        <p:nvSpPr>
          <p:cNvPr id="11" name="Rounded Rectangle 10"/>
          <p:cNvSpPr/>
          <p:nvPr/>
        </p:nvSpPr>
        <p:spPr>
          <a:xfrm>
            <a:off x="6178143"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4" name="TextBox 13"/>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день внедрения → сто пятидесятый</a:t>
            </a:r>
          </a:p>
        </p:txBody>
      </p:sp>
      <p:sp>
        <p:nvSpPr>
          <p:cNvPr id="15" name="Rounded Rectangle 14"/>
          <p:cNvSpPr/>
          <p:nvPr/>
        </p:nvSpPr>
        <p:spPr>
          <a:xfrm>
            <a:off x="9015755" y="1335024"/>
            <a:ext cx="2673019" cy="1480733"/>
          </a:xfrm>
          <a:prstGeom prst="roundRect">
            <a:avLst>
              <a:gd name="adj" fmla="val 2058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7" name="TextBox 16"/>
          <p:cNvSpPr txBox="1"/>
          <p:nvPr/>
        </p:nvSpPr>
        <p:spPr>
          <a:xfrm>
            <a:off x="9152915" y="1725375"/>
            <a:ext cx="2398699" cy="953221"/>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набор сократился, вычитка появилась, правка та же</a:t>
            </a:r>
          </a:p>
        </p:txBody>
      </p:sp>
      <p:sp>
        <p:nvSpPr>
          <p:cNvPr id="18" name="TextBox 17"/>
          <p:cNvSpPr txBox="1"/>
          <p:nvPr/>
        </p:nvSpPr>
        <p:spPr>
          <a:xfrm>
            <a:off x="502920" y="303521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9" name="Rounded Rectangle 18"/>
          <p:cNvSpPr/>
          <p:nvPr/>
        </p:nvSpPr>
        <p:spPr>
          <a:xfrm>
            <a:off x="1920240" y="299863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04435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текста</a:t>
            </a:r>
          </a:p>
        </p:txBody>
      </p:sp>
      <p:sp>
        <p:nvSpPr>
          <p:cNvPr id="21" name="Right Arrow 20"/>
          <p:cNvSpPr/>
          <p:nvPr/>
        </p:nvSpPr>
        <p:spPr>
          <a:xfrm>
            <a:off x="6713067" y="316775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299863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04435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4" name="TextBox 23"/>
          <p:cNvSpPr txBox="1"/>
          <p:nvPr/>
        </p:nvSpPr>
        <p:spPr>
          <a:xfrm>
            <a:off x="502920" y="365690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1920240"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7" name="Right Arrow 26"/>
          <p:cNvSpPr/>
          <p:nvPr/>
        </p:nvSpPr>
        <p:spPr>
          <a:xfrm>
            <a:off x="4202353" y="3789450"/>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a:t>
            </a:r>
          </a:p>
        </p:txBody>
      </p:sp>
      <p:sp>
        <p:nvSpPr>
          <p:cNvPr id="30" name="Right Arrow 29"/>
          <p:cNvSpPr/>
          <p:nvPr/>
        </p:nvSpPr>
        <p:spPr>
          <a:xfrm>
            <a:off x="6713067" y="3789450"/>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a:t>
            </a:r>
          </a:p>
        </p:txBody>
      </p:sp>
      <p:sp>
        <p:nvSpPr>
          <p:cNvPr id="33" name="Right Arrow 32"/>
          <p:cNvSpPr/>
          <p:nvPr/>
        </p:nvSpPr>
        <p:spPr>
          <a:xfrm>
            <a:off x="9223781" y="3789450"/>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6" name="TextBox 35"/>
          <p:cNvSpPr txBox="1"/>
          <p:nvPr/>
        </p:nvSpPr>
        <p:spPr>
          <a:xfrm>
            <a:off x="502920" y="42786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7" name="Rounded Rectangle 36"/>
          <p:cNvSpPr/>
          <p:nvPr/>
        </p:nvSpPr>
        <p:spPr>
          <a:xfrm>
            <a:off x="1920240" y="4242030"/>
            <a:ext cx="976853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2002536" y="4287750"/>
            <a:ext cx="960394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выборочный контроль заметок</a:t>
            </a:r>
          </a:p>
        </p:txBody>
      </p:sp>
      <p:sp>
        <p:nvSpPr>
          <p:cNvPr id="39" name="TextBox 38"/>
          <p:cNvSpPr txBox="1"/>
          <p:nvPr/>
        </p:nvSpPr>
        <p:spPr>
          <a:xfrm>
            <a:off x="502920" y="475399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дорожки врача — и третья строка: операция, которую делает не он</a:t>
            </a:r>
          </a:p>
        </p:txBody>
      </p:sp>
      <p:sp>
        <p:nvSpPr>
          <p:cNvPr id="40" name="Rounded Rectangle 39"/>
          <p:cNvSpPr/>
          <p:nvPr/>
        </p:nvSpPr>
        <p:spPr>
          <a:xfrm>
            <a:off x="374904" y="5056683"/>
            <a:ext cx="11441887" cy="11795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148123"/>
            <a:ext cx="11112703" cy="10880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Пятую операцию делает не врач:</a:t>
            </a:r>
            <a:r>
              <a:rPr sz="1500" b="0" i="0">
                <a:solidFill>
                  <a:srgbClr val="21295C"/>
                </a:solidFill>
                <a:latin typeface="Arial"/>
              </a:rPr>
              <a:t>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Усталость ниже, а активное время правки то же.</a:t>
            </a:r>
            <a:r>
              <a:rPr sz="1500" b="0" i="0">
                <a:solidFill>
                  <a:srgbClr val="21295C"/>
                </a:solidFill>
                <a:latin typeface="Arial"/>
              </a:rPr>
              <a:t> Сняли другое: необходимость держать структуру документа в голове при живом человеке.</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двух инструментов, препринт medRxiv 2025.07.10.25331333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общее качество сопоставимо, 3,67 против 3,77</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 ЧЕЛОВЕК → МОДЕЛЬ</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 госпитализаций длиной от трёх до шести дней</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 ЧЕЛОВЕК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1,34 → 1,35</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от нуля до семи; обе оценки низкие и не различаются</a:t>
            </a:r>
          </a:p>
        </p:txBody>
      </p:sp>
      <p:sp>
        <p:nvSpPr>
          <p:cNvPr id="16" name="Rounded Rectangle 15"/>
          <p:cNvSpPr/>
          <p:nvPr/>
        </p:nvSpPr>
        <p:spPr>
          <a:xfrm>
            <a:off x="374904" y="3010932"/>
            <a:ext cx="11441887" cy="3225275"/>
          </a:xfrm>
          <a:prstGeom prst="roundRect">
            <a:avLst>
              <a:gd name="adj" fmla="val 94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Модель собирает выписной документ; врач вычитывает и подписывает. Шаги и исполнители те же, а по эпикризу назначают в другом месте.</a:t>
            </a:r>
          </a:p>
          <a:p>
            <a:pPr algn="l">
              <a:lnSpc>
                <a:spcPct val="126000"/>
              </a:lnSpc>
              <a:spcBef>
                <a:spcPts val="700"/>
              </a:spcBef>
            </a:pPr>
            <a:r>
              <a:rPr sz="1450" b="0" i="0">
                <a:solidFill>
                  <a:srgbClr val="21295C"/>
                </a:solidFill>
                <a:latin typeface="Arial"/>
              </a:rPr>
              <a:t/>
            </a:r>
            <a:r>
              <a:rPr sz="1450" b="1" i="0">
                <a:solidFill>
                  <a:srgbClr val="21295C"/>
                </a:solidFill>
                <a:latin typeface="Arial"/>
              </a:rPr>
              <a:t>Оба классических режима, и посчитан из них один.</a:t>
            </a:r>
            <a:r>
              <a:rPr sz="1450" b="0" i="0">
                <a:solidFill>
                  <a:srgbClr val="21295C"/>
                </a:solidFill>
                <a:latin typeface="Arial"/>
              </a:rPr>
              <a:t> Врач пишет эпикриз сам — посчитан, и это база всех сравнений. Черновик ординатора под подпись лечащего — назван и не посчитан.</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измерено.</a:t>
            </a:r>
            <a:r>
              <a:rPr sz="1450" b="0" i="0">
                <a:solidFill>
                  <a:srgbClr val="21295C"/>
                </a:solidFill>
                <a:latin typeface="Arial"/>
              </a:rPr>
              <a:t> Сто госпитализаций длиной от трёх до шести дней. 22 врача-рецензента. Каждый документ смотрели двое, и ни один не знал, где машинный текст.</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общее качество сопоставимо</a:t>
            </a:r>
            <a:r>
              <a:rPr sz="1450" b="0" i="0">
                <a:solidFill>
                  <a:srgbClr val="21295C"/>
                </a:solidFill>
                <a:latin typeface="Arial"/>
              </a:rPr>
              <a:t> — 3,67 у врачей против 3,77 у модели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документ модели короче и связнее</a:t>
            </a:r>
            <a:r>
              <a:rPr sz="1450" b="0" i="0">
                <a:solidFill>
                  <a:srgbClr val="21295C"/>
                </a:solidFill>
                <a:latin typeface="Arial"/>
              </a:rPr>
              <a:t> — и при этом менее полон</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ошибок больше, каждая не страшнее</a:t>
            </a:r>
            <a:r>
              <a:rPr sz="1450" b="0" i="0">
                <a:solidFill>
                  <a:srgbClr val="21295C"/>
                </a:solidFill>
                <a:latin typeface="Arial"/>
              </a:rPr>
              <a:t> — потенциал вреда одной 1,34 против 1,35</a:t>
            </a:r>
          </a:p>
          <a:p>
            <a:pPr algn="l">
              <a:lnSpc>
                <a:spcPct val="126000"/>
              </a:lnSpc>
              <a:spcBef>
                <a:spcPts val="700"/>
              </a:spcBef>
            </a:pPr>
            <a:r>
              <a:rPr sz="1450" b="0" i="0">
                <a:solidFill>
                  <a:srgbClr val="21295C"/>
                </a:solidFill>
                <a:latin typeface="Arial"/>
              </a:rPr>
              <a:t/>
            </a:r>
            <a:r>
              <a:rPr sz="1450" b="1" i="0">
                <a:solidFill>
                  <a:srgbClr val="21295C"/>
                </a:solidFill>
                <a:latin typeface="Arial"/>
              </a:rPr>
              <a:t>Сместилась цена ошибки:</a:t>
            </a:r>
            <a:r>
              <a:rPr sz="1450" b="0" i="0">
                <a:solidFill>
                  <a:srgbClr val="21295C"/>
                </a:solidFill>
                <a:latin typeface="Arial"/>
              </a:rPr>
              <a:t> пишет тот же человек, а стоит пропущенная строка другого.</a:t>
            </a:r>
          </a:p>
        </p:txBody>
      </p:sp>
      <p:sp>
        <p:nvSpPr>
          <p:cNvPr id="19" name="Rectangle 18"/>
          <p:cNvSpPr/>
          <p:nvPr/>
        </p:nvSpPr>
        <p:spPr>
          <a:xfrm>
            <a:off x="6091275" y="3102372"/>
            <a:ext cx="9144" cy="304939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 — слепая дублированная оценка 22 лечащих врачей-рецензентов</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2, цена: вычитка другого рода — и тройка, которой нет в первоисточниках</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ВРАЧИ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 из ста; система выдала 1 274 сводки</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 ПРОСПЕКТИВНОГО ПИЛОТА</a:t>
            </a:r>
          </a:p>
        </p:txBody>
      </p:sp>
      <p:sp>
        <p:nvSpPr>
          <p:cNvPr id="10" name="TextBox 9"/>
          <p:cNvSpPr txBox="1"/>
          <p:nvPr/>
        </p:nvSpPr>
        <p:spPr>
          <a:xfrm>
            <a:off x="3477691" y="1932846"/>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TextBox 10"/>
          <p:cNvSpPr txBox="1"/>
          <p:nvPr/>
        </p:nvSpPr>
        <p:spPr>
          <a:xfrm>
            <a:off x="3477691" y="246169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определения здесь другие, чем в слепом сравнении</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НЕОТРЕДАКТИРОВАННЫХ СВОДОК</a:t>
            </a:r>
          </a:p>
        </p:txBody>
      </p:sp>
      <p:sp>
        <p:nvSpPr>
          <p:cNvPr id="14" name="TextBox 13"/>
          <p:cNvSpPr txBox="1"/>
          <p:nvPr/>
        </p:nvSpPr>
        <p:spPr>
          <a:xfrm>
            <a:off x="6315303" y="2140317"/>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88 без потенциала вреда · 1 умеренный · 0 тяжёлого</a:t>
            </a:r>
          </a:p>
        </p:txBody>
      </p:sp>
      <p:sp>
        <p:nvSpPr>
          <p:cNvPr id="15" name="Rounded Rectangle 14"/>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ИЗ ПЕРЕСКАЗОВ</a:t>
            </a:r>
          </a:p>
        </p:txBody>
      </p:sp>
      <p:sp>
        <p:nvSpPr>
          <p:cNvPr id="17" name="TextBox 16"/>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найдена ни в одной из трёх работ</a:t>
            </a:r>
          </a:p>
        </p:txBody>
      </p:sp>
      <p:sp>
        <p:nvSpPr>
          <p:cNvPr id="18" name="TextBox 17"/>
          <p:cNvSpPr txBox="1"/>
          <p:nvPr/>
        </p:nvSpPr>
        <p:spPr>
          <a:xfrm>
            <a:off x="9152915"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считает в тех определениях</a:t>
            </a:r>
          </a:p>
        </p:txBody>
      </p:sp>
      <p:sp>
        <p:nvSpPr>
          <p:cNvPr id="19" name="Rounded Rectangle 18"/>
          <p:cNvSpPr/>
          <p:nvPr/>
        </p:nvSpPr>
        <p:spPr>
          <a:xfrm>
            <a:off x="374904" y="3584307"/>
            <a:ext cx="11441887" cy="2026762"/>
          </a:xfrm>
          <a:prstGeom prst="roundRect">
            <a:avLst>
              <a:gd name="adj" fmla="val 1503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она сменила предмет.</a:t>
            </a:r>
            <a:r>
              <a:rPr sz="1500" b="0" i="0">
                <a:solidFill>
                  <a:srgbClr val="21295C"/>
                </a:solidFill>
                <a:latin typeface="Arial"/>
              </a:rPr>
              <a:t> Прежний глаз настроен на опечатку, на то, что оставляет уставший человек. Искать теперь надо связное и уместное по стилю утверждение, которого в истории болезни не было. Этому чтению никто не учит.</a:t>
            </a:r>
          </a:p>
        </p:txBody>
      </p:sp>
      <p:sp>
        <p:nvSpPr>
          <p:cNvPr id="21" name="TextBox 20"/>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 теперь то, что по этому случаю чаще всего пересказывают.</a:t>
            </a:r>
            <a:r>
              <a:rPr sz="1500" b="0" i="0">
                <a:solidFill>
                  <a:srgbClr val="21295C"/>
                </a:solidFill>
                <a:latin typeface="Arial"/>
              </a:rPr>
              <a:t> В обзорах ходит тройка аккуратных чисел со ссылкой на «исследование ста эпикризов». Построчное чтение трёх первоисточников её не даёт.</a:t>
            </a:r>
          </a:p>
          <a:p>
            <a:pPr algn="l">
              <a:lnSpc>
                <a:spcPct val="126000"/>
              </a:lnSpc>
              <a:spcBef>
                <a:spcPts val="700"/>
              </a:spcBef>
            </a:pPr>
            <a:r>
              <a:rPr sz="1200" b="0" i="0">
                <a:solidFill>
                  <a:srgbClr val="21295C"/>
                </a:solidFill>
                <a:latin typeface="Arial"/>
              </a:rPr>
              <a:t/>
            </a:r>
            <a:r>
              <a:rPr sz="1200" b="0" i="1">
                <a:solidFill>
                  <a:srgbClr val="1C7293"/>
                </a:solidFill>
                <a:latin typeface="Arial"/>
              </a:rPr>
              <a:t>Ссылку проверяют по одному вопросу: считает ли работа ровно эту величину в ровно этих определениях.</a:t>
            </a:r>
          </a:p>
        </p:txBody>
      </p:sp>
      <p:sp>
        <p:nvSpPr>
          <p:cNvPr id="22" name="Rectangle 21"/>
          <p:cNvSpPr/>
          <p:nvPr/>
        </p:nvSpPr>
        <p:spPr>
          <a:xfrm>
            <a:off x="6091275" y="3675747"/>
            <a:ext cx="9144" cy="1752442"/>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ста госпитализаций, JAMA Internal Medicine 2025</a:t>
            </a:r>
            <a:r>
              <a:rPr sz="1200" b="0" i="1">
                <a:solidFill>
                  <a:srgbClr val="1C7293"/>
                </a:solidFill>
                <a:latin typeface="Arial"/>
              </a:rPr>
              <a:t> · </a:t>
            </a:r>
            <a:r>
              <a:rPr sz="1200" b="0" i="1" u="sng">
                <a:solidFill>
                  <a:srgbClr val="065A82"/>
                </a:solidFill>
                <a:latin typeface="Arial"/>
                <a:hlinkClick r:id="rId4"/>
              </a:rPr>
              <a:t>одноцентровое сравнение «до и после» в реабилитационном отделении, Cureus 2026, журнал с авторским взносом и минимальным рецензированием</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Ведение записи: набор сократился, вычитка появилась</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получается</a:t>
            </a:r>
          </a:p>
          <a:p>
            <a:pPr algn="l">
              <a:lnSpc>
                <a:spcPct val="126000"/>
              </a:lnSpc>
              <a:spcBef>
                <a:spcPts val="700"/>
              </a:spcBef>
            </a:pPr>
            <a:r>
              <a:rPr sz="1400" b="0" i="0">
                <a:solidFill>
                  <a:srgbClr val="21295C"/>
                </a:solidFill>
                <a:latin typeface="Arial"/>
              </a:rPr>
              <a:t/>
            </a:r>
            <a:r>
              <a:rPr sz="1400" b="0" i="0">
                <a:solidFill>
                  <a:srgbClr val="21295C"/>
                </a:solidFill>
                <a:latin typeface="Arial"/>
              </a:rPr>
              <a:t>• Заметка готова к концу приёма — прежде её дописывали к концу дня</a:t>
            </a:r>
          </a:p>
          <a:p>
            <a:pPr algn="l">
              <a:lnSpc>
                <a:spcPct val="126000"/>
              </a:lnSpc>
              <a:spcBef>
                <a:spcPts val="700"/>
              </a:spcBef>
            </a:pPr>
            <a:r>
              <a:rPr sz="1400" b="0" i="0">
                <a:solidFill>
                  <a:srgbClr val="21295C"/>
                </a:solidFill>
                <a:latin typeface="Arial"/>
              </a:rPr>
              <a:t/>
            </a:r>
            <a:r>
              <a:rPr sz="1400" b="0" i="0">
                <a:solidFill>
                  <a:srgbClr val="21295C"/>
                </a:solidFill>
                <a:latin typeface="Arial"/>
              </a:rPr>
              <a:t>• Документ короче и связнее человеческого</a:t>
            </a:r>
          </a:p>
          <a:p>
            <a:pPr algn="l">
              <a:lnSpc>
                <a:spcPct val="126000"/>
              </a:lnSpc>
              <a:spcBef>
                <a:spcPts val="700"/>
              </a:spcBef>
            </a:pPr>
            <a:r>
              <a:rPr sz="1400" b="0" i="0">
                <a:solidFill>
                  <a:srgbClr val="21295C"/>
                </a:solidFill>
                <a:latin typeface="Arial"/>
              </a:rPr>
              <a:t/>
            </a:r>
            <a:r>
              <a:rPr sz="1400" b="0" i="0">
                <a:solidFill>
                  <a:srgbClr val="21295C"/>
                </a:solidFill>
                <a:latin typeface="Arial"/>
              </a:rPr>
              <a:t>• Снята необходимость держать структуру документа в голове при живом человеке</a:t>
            </a:r>
          </a:p>
          <a:p>
            <a:pPr algn="l">
              <a:lnSpc>
                <a:spcPct val="126000"/>
              </a:lnSpc>
              <a:spcBef>
                <a:spcPts val="700"/>
              </a:spcBef>
            </a:pPr>
            <a:r>
              <a:rPr sz="1400" b="0" i="0">
                <a:solidFill>
                  <a:srgbClr val="21295C"/>
                </a:solidFill>
                <a:latin typeface="Arial"/>
              </a:rPr>
              <a:t/>
            </a:r>
            <a:r>
              <a:rPr sz="1400" b="0" i="0">
                <a:solidFill>
                  <a:srgbClr val="21295C"/>
                </a:solidFill>
                <a:latin typeface="Arial"/>
              </a:rPr>
              <a:t>• Писать быстрее — у одного из двух инструментов: 9,5 процента времени в заметке</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не получается</a:t>
            </a:r>
          </a:p>
          <a:p>
            <a:pPr algn="l">
              <a:lnSpc>
                <a:spcPct val="126000"/>
              </a:lnSpc>
              <a:spcBef>
                <a:spcPts val="700"/>
              </a:spcBef>
            </a:pPr>
            <a:r>
              <a:rPr sz="1400" b="0" i="0">
                <a:solidFill>
                  <a:srgbClr val="21295C"/>
                </a:solidFill>
                <a:latin typeface="Arial"/>
              </a:rPr>
              <a:t/>
            </a:r>
            <a:r>
              <a:rPr sz="1400" b="0" i="0">
                <a:solidFill>
                  <a:srgbClr val="21295C"/>
                </a:solidFill>
                <a:latin typeface="Arial"/>
              </a:rPr>
              <a:t>• Подтвердить заявленную экономию: 15 791 час на 63 000 приёмов — без раскрытой методики</a:t>
            </a:r>
          </a:p>
          <a:p>
            <a:pPr algn="l">
              <a:lnSpc>
                <a:spcPct val="126000"/>
              </a:lnSpc>
              <a:spcBef>
                <a:spcPts val="700"/>
              </a:spcBef>
            </a:pPr>
            <a:r>
              <a:rPr sz="1400" b="0" i="0">
                <a:solidFill>
                  <a:srgbClr val="21295C"/>
                </a:solidFill>
                <a:latin typeface="Arial"/>
              </a:rPr>
              <a:t/>
            </a:r>
            <a:r>
              <a:rPr sz="1400" b="0" i="0">
                <a:solidFill>
                  <a:srgbClr val="21295C"/>
                </a:solidFill>
                <a:latin typeface="Arial"/>
              </a:rPr>
              <a:t>• Сократить активное время правки: не изменилось ни у одного из двух</a:t>
            </a:r>
          </a:p>
          <a:p>
            <a:pPr algn="l">
              <a:lnSpc>
                <a:spcPct val="126000"/>
              </a:lnSpc>
              <a:spcBef>
                <a:spcPts val="700"/>
              </a:spcBef>
            </a:pPr>
            <a:r>
              <a:rPr sz="1400" b="0" i="0">
                <a:solidFill>
                  <a:srgbClr val="21295C"/>
                </a:solidFill>
                <a:latin typeface="Arial"/>
              </a:rPr>
              <a:t/>
            </a:r>
            <a:r>
              <a:rPr sz="1400" b="0" i="0">
                <a:solidFill>
                  <a:srgbClr val="21295C"/>
                </a:solidFill>
                <a:latin typeface="Arial"/>
              </a:rPr>
              <a:t>• Написать полнее человека: полнота 3,72 против 4,13, ошибок 2,91 против 1,82</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стало с работой</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Нагрузка переехала на другой шаг</a:t>
            </a:r>
            <a:r>
              <a:rPr sz="1400" b="0" i="0">
                <a:solidFill>
                  <a:srgbClr val="21295C"/>
                </a:solidFill>
                <a:latin typeface="Arial"/>
              </a:rPr>
              <a:t> — с набора текста на вычитку чужого</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Появился шаг</a:t>
            </a:r>
            <a:r>
              <a:rPr sz="1400" b="0" i="0">
                <a:solidFill>
                  <a:srgbClr val="21295C"/>
                </a:solidFill>
                <a:latin typeface="Arial"/>
              </a:rPr>
              <a:t> — выборочный контроль заметок, и у него постоянный штат</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Сместилась цена ошибки</a:t>
            </a:r>
            <a:r>
              <a:rPr sz="1400" b="0" i="0">
                <a:solidFill>
                  <a:srgbClr val="21295C"/>
                </a:solidFill>
                <a:latin typeface="Arial"/>
              </a:rPr>
              <a:t> — опечатка видна, правдоподобная подробность не видна никак</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это держит</a:t>
            </a:r>
          </a:p>
          <a:p>
            <a:pPr algn="l">
              <a:lnSpc>
                <a:spcPct val="126000"/>
              </a:lnSpc>
              <a:spcBef>
                <a:spcPts val="700"/>
              </a:spcBef>
            </a:pPr>
            <a:r>
              <a:rPr sz="1400" b="0" i="0">
                <a:solidFill>
                  <a:srgbClr val="21295C"/>
                </a:solidFill>
                <a:latin typeface="Arial"/>
              </a:rPr>
              <a:t/>
            </a:r>
            <a:r>
              <a:rPr sz="1400" b="0" i="0">
                <a:solidFill>
                  <a:srgbClr val="21295C"/>
                </a:solidFill>
                <a:latin typeface="Arial"/>
              </a:rPr>
              <a:t>• Вычитка и подпись врача: подпись остаётся человеческой</a:t>
            </a:r>
          </a:p>
          <a:p>
            <a:pPr algn="l">
              <a:lnSpc>
                <a:spcPct val="126000"/>
              </a:lnSpc>
              <a:spcBef>
                <a:spcPts val="700"/>
              </a:spcBef>
            </a:pPr>
            <a:r>
              <a:rPr sz="1400" b="0" i="0">
                <a:solidFill>
                  <a:srgbClr val="21295C"/>
                </a:solidFill>
                <a:latin typeface="Arial"/>
              </a:rPr>
              <a:t/>
            </a:r>
            <a:r>
              <a:rPr sz="1400" b="0" i="0">
                <a:solidFill>
                  <a:srgbClr val="21295C"/>
                </a:solidFill>
                <a:latin typeface="Arial"/>
              </a:rPr>
              <a:t>• Выборочный контроль: 3 600 отзывов и 1 252 анкеты в отчёте одной клиники</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Прочерк: вычитке другого рода никто не учит</a:t>
            </a:r>
          </a:p>
          <a:p>
            <a:pPr algn="l">
              <a:lnSpc>
                <a:spcPct val="126000"/>
              </a:lnSpc>
              <a:spcBef>
                <a:spcPts val="700"/>
              </a:spcBef>
            </a:pPr>
            <a:r>
              <a:rPr sz="1400" b="0" i="0">
                <a:solidFill>
                  <a:srgbClr val="21295C"/>
                </a:solidFill>
                <a:latin typeface="Arial"/>
              </a:rPr>
              <a:t/>
            </a:r>
            <a:r>
              <a:rPr sz="1400" b="1" i="0">
                <a:solidFill>
                  <a:srgbClr val="21295C"/>
                </a:solidFill>
                <a:latin typeface="Arial"/>
              </a:rPr>
              <a:t>Дальше по этому документу назначают — и когда что-то произойдёт, разбирать будут подпись.</a:t>
            </a:r>
          </a:p>
        </p:txBody>
      </p:sp>
      <p:sp>
        <p:nvSpPr>
          <p:cNvPr id="7" name="Rectangle 6"/>
          <p:cNvSpPr/>
          <p:nvPr/>
        </p:nvSpPr>
        <p:spPr>
          <a:xfrm>
            <a:off x="6091275" y="1335024"/>
            <a:ext cx="9144" cy="487005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021564"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72895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561060" y="1335024"/>
            <a:ext cx="3844444"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707364" y="1335024"/>
            <a:ext cx="355183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6405505" y="1335024"/>
            <a:ext cx="2515794"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6551809" y="1335024"/>
            <a:ext cx="222318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8921299" y="1335024"/>
            <a:ext cx="2730899"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67603" y="1335024"/>
            <a:ext cx="2438291"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021564"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561060" y="1709287"/>
            <a:ext cx="3844444"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707364" y="1709287"/>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6405505" y="1709287"/>
            <a:ext cx="2515794"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551809" y="1709287"/>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анализ · диагноз)</a:t>
            </a:r>
          </a:p>
        </p:txBody>
      </p:sp>
      <p:sp>
        <p:nvSpPr>
          <p:cNvPr id="19" name="Rectangle 18"/>
          <p:cNvSpPr/>
          <p:nvPr/>
        </p:nvSpPr>
        <p:spPr>
          <a:xfrm>
            <a:off x="8921299" y="1709287"/>
            <a:ext cx="2730899"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67603" y="1709287"/>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021564"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561060" y="2083551"/>
            <a:ext cx="3844444"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707364" y="2083551"/>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6405505" y="2083551"/>
            <a:ext cx="2515794"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551809" y="2083551"/>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27" name="Rectangle 26"/>
          <p:cNvSpPr/>
          <p:nvPr/>
        </p:nvSpPr>
        <p:spPr>
          <a:xfrm>
            <a:off x="8921299" y="2083551"/>
            <a:ext cx="2730899"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67603" y="2083551"/>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021564"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561060" y="2457815"/>
            <a:ext cx="3844444"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707364" y="2457815"/>
            <a:ext cx="3551836"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запись приёма · эпикриз</a:t>
            </a:r>
            <a:r>
              <a:rPr sz="1150" b="0" i="0">
                <a:solidFill>
                  <a:srgbClr val="21295C"/>
                </a:solidFill>
                <a:latin typeface="Arial"/>
              </a:rPr>
              <a:t> (отбор · диагноз)</a:t>
            </a:r>
          </a:p>
        </p:txBody>
      </p:sp>
      <p:sp>
        <p:nvSpPr>
          <p:cNvPr id="33" name="Rectangle 32"/>
          <p:cNvSpPr/>
          <p:nvPr/>
        </p:nvSpPr>
        <p:spPr>
          <a:xfrm>
            <a:off x="6405505" y="2457815"/>
            <a:ext cx="2515794"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551809" y="2457815"/>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8921299" y="2457815"/>
            <a:ext cx="2730899"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67603" y="2457815"/>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021564"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561060" y="2832078"/>
            <a:ext cx="3844444"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707364" y="2832078"/>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6405505" y="2832078"/>
            <a:ext cx="2515794"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551809" y="2832078"/>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8921299" y="2832078"/>
            <a:ext cx="2730899"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67603" y="2832078"/>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(анализ · наблюдение)</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разборы этого раздела; светлое в скобках — разделы, занявшие клетку раньше.</a:t>
            </a:r>
            <a:r>
              <a:rPr sz="1200" b="0" i="0">
                <a:solidFill>
                  <a:srgbClr val="21295C"/>
                </a:solidFill>
                <a:latin typeface="Arial"/>
              </a:rPr>
              <a:t> Занято 4 клетки из 12 показанных — окно курсовой сетки из 42.</a:t>
            </a:r>
          </a:p>
        </p:txBody>
      </p:sp>
      <p:sp>
        <p:nvSpPr>
          <p:cNvPr id="46" name="TextBox 45"/>
          <p:cNvSpPr txBox="1"/>
          <p:nvPr/>
        </p:nvSpPr>
        <p:spPr>
          <a:xfrm>
            <a:off x="539496" y="39861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и они не двигались с Раздела 2.</a:t>
            </a:r>
            <a:r>
              <a:rPr sz="1200" b="0" i="0">
                <a:solidFill>
                  <a:srgbClr val="21295C"/>
                </a:solidFill>
                <a:latin typeface="Arial"/>
              </a:rPr>
              <a:t> Прочерк не пробел подборки: инструмента такого класса в этом разделе искать незачем.</a:t>
            </a:r>
          </a:p>
        </p:txBody>
      </p:sp>
      <p:sp>
        <p:nvSpPr>
          <p:cNvPr id="47" name="Rounded Rectangle 46"/>
          <p:cNvSpPr/>
          <p:nvPr/>
        </p:nvSpPr>
        <p:spPr>
          <a:xfrm>
            <a:off x="630936" y="4703560"/>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61974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запись приёма в фоне с черновиком заметки</a:t>
            </a:r>
            <a:r>
              <a:rPr sz="1200" b="0" i="0">
                <a:solidFill>
                  <a:srgbClr val="21295C"/>
                </a:solidFill>
                <a:latin typeface="Arial"/>
              </a:rPr>
              <a:t> — Abridge · Dragon Copilot (прежний Nuance DAX) · Nabla · Heidi</a:t>
            </a:r>
          </a:p>
        </p:txBody>
      </p:sp>
      <p:sp>
        <p:nvSpPr>
          <p:cNvPr id="49" name="Rounded Rectangle 48"/>
          <p:cNvSpPr/>
          <p:nvPr/>
        </p:nvSpPr>
        <p:spPr>
          <a:xfrm>
            <a:off x="630936" y="5093486"/>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009666"/>
            <a:ext cx="10728655"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сборка клинического документа внутри карты</a:t>
            </a:r>
            <a:r>
              <a:rPr sz="1200" b="0" i="0">
                <a:solidFill>
                  <a:srgbClr val="21295C"/>
                </a:solidFill>
                <a:latin typeface="Arial"/>
              </a:rPr>
              <a:t> — сводка событий госпитализации; отдельно — сводка со ссылкой на место в карте-источнике</a:t>
            </a:r>
          </a:p>
        </p:txBody>
      </p:sp>
      <p:sp>
        <p:nvSpPr>
          <p:cNvPr id="51" name="TextBox 50"/>
          <p:cNvSpPr txBox="1"/>
          <p:nvPr/>
        </p:nvSpPr>
        <p:spPr>
          <a:xfrm>
            <a:off x="539496" y="564321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Четыре работы, одна клетка, четыре разные цены ошибки.</a:t>
            </a:r>
            <a:r>
              <a:rPr sz="1200" b="0" i="0">
                <a:solidFill>
                  <a:srgbClr val="21295C"/>
                </a:solidFill>
                <a:latin typeface="Arial"/>
              </a:rPr>
              <a:t> Вход у записи приёма звуковой, а клетка стоит по выходу: подписывают и вычитывают текст.</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документом под подписью. Этот — про саму подпись: что она значит и кто проверяет, что подписавший способен возразить машине.</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1 обзор надзора после допуска</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a:t>
            </a:r>
            <a:r>
              <a:rPr sz="1550" b="0" i="0">
                <a:solidFill>
                  <a:srgbClr val="21295C"/>
                </a:solidFill>
                <a:latin typeface="Arial"/>
              </a:rPr>
              <a:t> · </a:t>
            </a:r>
            <a:r>
              <a:rPr sz="1550" b="1" i="0">
                <a:solidFill>
                  <a:srgbClr val="21295C"/>
                </a:solidFill>
                <a:latin typeface="Arial"/>
              </a:rPr>
              <a:t>Пример 2: двойное чтение в минутах труда</a:t>
            </a:r>
          </a:p>
        </p:txBody>
      </p:sp>
      <p:sp>
        <p:nvSpPr>
          <p:cNvPr id="10" name="TextBox 9"/>
          <p:cNvSpPr txBox="1"/>
          <p:nvPr/>
        </p:nvSpPr>
        <p:spPr>
          <a:xfrm>
            <a:off x="704088" y="4013379"/>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комиссии решают один вопрос: соответствовали ли действия врача утверждённому порядку. Пользовался ли он моделью — вопроса такого в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 статья 14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удержания — до всякой обученной модели</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 столом</a:t>
            </a:r>
          </a:p>
        </p:txBody>
      </p:sp>
      <p:sp>
        <p:nvSpPr>
          <p:cNvPr id="5" name="Rounded Rectangle 4"/>
          <p:cNvSpPr/>
          <p:nvPr/>
        </p:nvSpPr>
        <p:spPr>
          <a:xfrm>
            <a:off x="1920240"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Заместитель главного врача — председатель</a:t>
            </a:r>
          </a:p>
        </p:txBody>
      </p:sp>
      <p:sp>
        <p:nvSpPr>
          <p:cNvPr id="7" name="Rounded Rectangle 6"/>
          <p:cNvSpPr/>
          <p:nvPr/>
        </p:nvSpPr>
        <p:spPr>
          <a:xfrm>
            <a:off x="439894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448124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Заведующий отделением</a:t>
            </a:r>
          </a:p>
        </p:txBody>
      </p:sp>
      <p:sp>
        <p:nvSpPr>
          <p:cNvPr id="9" name="Rounded Rectangle 8"/>
          <p:cNvSpPr/>
          <p:nvPr/>
        </p:nvSpPr>
        <p:spPr>
          <a:xfrm>
            <a:off x="687765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95995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Двое врачей той же специальности из другого отделения</a:t>
            </a:r>
          </a:p>
        </p:txBody>
      </p:sp>
      <p:sp>
        <p:nvSpPr>
          <p:cNvPr id="11" name="Rounded Rectangle 10"/>
          <p:cNvSpPr/>
          <p:nvPr/>
        </p:nvSpPr>
        <p:spPr>
          <a:xfrm>
            <a:off x="935636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943866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 по качеству помощи · секретарь</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 столе</a:t>
            </a:r>
          </a:p>
        </p:txBody>
      </p:sp>
      <p:sp>
        <p:nvSpPr>
          <p:cNvPr id="14" name="Rounded Rectangle 13"/>
          <p:cNvSpPr/>
          <p:nvPr/>
        </p:nvSpPr>
        <p:spPr>
          <a:xfrm>
            <a:off x="1920240"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со всеми заключениями и подписями</a:t>
            </a:r>
          </a:p>
        </p:txBody>
      </p:sp>
      <p:sp>
        <p:nvSpPr>
          <p:cNvPr id="16" name="Rounded Rectangle 15"/>
          <p:cNvSpPr/>
          <p:nvPr/>
        </p:nvSpPr>
        <p:spPr>
          <a:xfrm>
            <a:off x="439894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48124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Протоколы исследований</a:t>
            </a:r>
          </a:p>
        </p:txBody>
      </p:sp>
      <p:sp>
        <p:nvSpPr>
          <p:cNvPr id="18" name="Rounded Rectangle 17"/>
          <p:cNvSpPr/>
          <p:nvPr/>
        </p:nvSpPr>
        <p:spPr>
          <a:xfrm>
            <a:off x="687765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95995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Распечатка вывода модели и момент её показа</a:t>
            </a:r>
          </a:p>
        </p:txBody>
      </p:sp>
      <p:sp>
        <p:nvSpPr>
          <p:cNvPr id="20" name="Rounded Rectangle 19"/>
          <p:cNvSpPr/>
          <p:nvPr/>
        </p:nvSpPr>
        <p:spPr>
          <a:xfrm>
            <a:off x="935636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943866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Утверждённый порядок и клинические рекомендации</a:t>
            </a:r>
          </a:p>
        </p:txBody>
      </p:sp>
      <p:sp>
        <p:nvSpPr>
          <p:cNvPr id="22" name="TextBox 21"/>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сидит за столом и что на нём лежит</a:t>
            </a:r>
          </a:p>
        </p:txBody>
      </p:sp>
      <p:sp>
        <p:nvSpPr>
          <p:cNvPr id="23" name="Rounded Rectangle 22"/>
          <p:cNvSpPr/>
          <p:nvPr/>
        </p:nvSpPr>
        <p:spPr>
          <a:xfrm>
            <a:off x="374904" y="3721968"/>
            <a:ext cx="11441887" cy="2514239"/>
          </a:xfrm>
          <a:prstGeom prst="roundRect">
            <a:avLst>
              <a:gd name="adj" fmla="val 12122"/>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813408"/>
            <a:ext cx="5373471" cy="242279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Четверг, кабинет заместителя главного врача. Комиссия разбирает один случай: пациентку выписали через четыре дня, и через сутки она вернулась с осложнением. Двое из сидящих за столом с лечащим врачом вместе не работают. Под каждым заключением в карте стоит фамилия.</a:t>
            </a:r>
          </a:p>
          <a:p>
            <a:pPr algn="l">
              <a:lnSpc>
                <a:spcPct val="126000"/>
              </a:lnSpc>
              <a:spcBef>
                <a:spcPts val="700"/>
              </a:spcBef>
            </a:pPr>
            <a:r>
              <a:rPr sz="1300" b="0" i="0">
                <a:solidFill>
                  <a:srgbClr val="21295C"/>
                </a:solidFill>
                <a:latin typeface="Arial"/>
              </a:rPr>
              <a:t/>
            </a:r>
            <a:r>
              <a:rPr sz="1300" b="1" i="0">
                <a:solidFill>
                  <a:srgbClr val="21295C"/>
                </a:solidFill>
                <a:latin typeface="Arial"/>
              </a:rPr>
              <a:t>Семь действий стадии.</a:t>
            </a:r>
            <a:r>
              <a:rPr sz="1300" b="0" i="0">
                <a:solidFill>
                  <a:srgbClr val="21295C"/>
                </a:solidFill>
                <a:latin typeface="Arial"/>
              </a:rPr>
              <a:t> 1. Подписать заключение · 2. Взять согласие · 3. Прочесть вторым независимо · 4. Разрешить расхождение арбитражем · 5. Собрать комиссию · 6. Сверить с порядком · 7. Поправить порядок.</a:t>
            </a:r>
          </a:p>
        </p:txBody>
      </p:sp>
      <p:sp>
        <p:nvSpPr>
          <p:cNvPr id="25" name="TextBox 24"/>
          <p:cNvSpPr txBox="1"/>
          <p:nvPr/>
        </p:nvSpPr>
        <p:spPr>
          <a:xfrm>
            <a:off x="6278727" y="3813408"/>
            <a:ext cx="5373471" cy="2422799"/>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Каждое из семи записано: порядок помощи, регламент отделения, нормативный акт.</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ни одного действия из семи.</a:t>
            </a:r>
            <a:r>
              <a:rPr sz="1300" b="0" i="0">
                <a:solidFill>
                  <a:srgbClr val="21295C"/>
                </a:solidFill>
                <a:latin typeface="Arial"/>
              </a:rPr>
              <a:t> Подписать ей нечем, а оценить её порядок не умеет, пока его не перепишут. Норма добавила восьмое требование, и адресовано оно человеку: мочь возразить и остановить.</a:t>
            </a:r>
          </a:p>
          <a:p>
            <a:pPr algn="l">
              <a:lnSpc>
                <a:spcPct val="126000"/>
              </a:lnSpc>
              <a:spcBef>
                <a:spcPts val="700"/>
              </a:spcBef>
            </a:pPr>
            <a:r>
              <a:rPr sz="1300" b="0" i="0">
                <a:solidFill>
                  <a:srgbClr val="21295C"/>
                </a:solidFill>
                <a:latin typeface="Arial"/>
              </a:rPr>
              <a:t/>
            </a:r>
            <a:r>
              <a:rPr sz="1300" b="1" i="0">
                <a:solidFill>
                  <a:srgbClr val="21295C"/>
                </a:solidFill>
                <a:latin typeface="Arial"/>
              </a:rPr>
              <a:t>Один вопрос:</a:t>
            </a:r>
            <a:r>
              <a:rPr sz="1300" b="0" i="0">
                <a:solidFill>
                  <a:srgbClr val="21295C"/>
                </a:solidFill>
                <a:latin typeface="Arial"/>
              </a:rPr>
              <a:t> соответствовали ли действия врача утверждённым порядкам, стандартам и рекомендациям.</a:t>
            </a:r>
          </a:p>
        </p:txBody>
      </p:sp>
      <p:sp>
        <p:nvSpPr>
          <p:cNvPr id="26" name="Rectangle 25"/>
          <p:cNvSpPr/>
          <p:nvPr/>
        </p:nvSpPr>
        <p:spPr>
          <a:xfrm>
            <a:off x="6091275" y="3813408"/>
            <a:ext cx="9144" cy="240597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из ста</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40 клиницистов, восемь тысяч прочтений; девять пунктов — против ОДНОГО читателя</a:t>
            </a:r>
          </a:p>
        </p:txBody>
      </p:sp>
      <p:sp>
        <p:nvSpPr>
          <p:cNvPr id="8" name="Rounded Rectangle 7"/>
          <p:cNvSpPr/>
          <p:nvPr/>
        </p:nvSpPr>
        <p:spPr>
          <a:xfrm>
            <a:off x="4286402"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на всех уровнях квалификации</a:t>
            </a:r>
          </a:p>
        </p:txBody>
      </p:sp>
      <p:sp>
        <p:nvSpPr>
          <p:cNvPr id="12" name="Rounded Rectangle 11"/>
          <p:cNvSpPr/>
          <p:nvPr/>
        </p:nvSpPr>
        <p:spPr>
          <a:xfrm>
            <a:off x="8069884"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МНЕНИЕ ВТОРОГО ЧЕЛОВЕКА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опыте названо и не посчитано</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второго читателя в этом опыте не было</a:t>
            </a:r>
          </a:p>
        </p:txBody>
      </p:sp>
      <p:sp>
        <p:nvSpPr>
          <p:cNvPr id="16" name="TextBox 15"/>
          <p:cNvSpPr txBox="1"/>
          <p:nvPr/>
        </p:nvSpPr>
        <p:spPr>
          <a:xfrm>
            <a:off x="502920" y="314272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Процедура</a:t>
            </a:r>
          </a:p>
        </p:txBody>
      </p:sp>
      <p:sp>
        <p:nvSpPr>
          <p:cNvPr id="17" name="Rounded Rectangle 16"/>
          <p:cNvSpPr/>
          <p:nvPr/>
        </p:nvSpPr>
        <p:spPr>
          <a:xfrm>
            <a:off x="1920240"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случая после исхода</a:t>
            </a:r>
          </a:p>
        </p:txBody>
      </p:sp>
      <p:sp>
        <p:nvSpPr>
          <p:cNvPr id="19" name="Right Arrow 18"/>
          <p:cNvSpPr/>
          <p:nvPr/>
        </p:nvSpPr>
        <p:spPr>
          <a:xfrm>
            <a:off x="6713067" y="327526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Изменение порядка по итогам разбора</a:t>
            </a:r>
          </a:p>
        </p:txBody>
      </p:sp>
      <p:sp>
        <p:nvSpPr>
          <p:cNvPr id="22" name="TextBox 21"/>
          <p:cNvSpPr txBox="1"/>
          <p:nvPr/>
        </p:nvSpPr>
        <p:spPr>
          <a:xfrm>
            <a:off x="502920" y="361811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3920797"/>
            <a:ext cx="11441887" cy="2315410"/>
          </a:xfrm>
          <a:prstGeom prst="roundRect">
            <a:avLst>
              <a:gd name="adj" fmla="val 13163"/>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012237"/>
            <a:ext cx="5373471" cy="22239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Склонность доверять автомату.</a:t>
            </a:r>
            <a:r>
              <a:rPr sz="1500" b="0" i="0">
                <a:solidFill>
                  <a:srgbClr val="21295C"/>
                </a:solidFill>
                <a:latin typeface="Arial"/>
              </a:rPr>
              <a:t> С моделью точность выше на девять пунктов — и почти половина оставшихся ошибок связана именно с ней. Наблюдалась на всех уровнях квалификации: стаж не защищает.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Выигрыш и вред идут из одного места:</a:t>
            </a:r>
            <a:r>
              <a:rPr sz="1500" b="0" i="0">
                <a:solidFill>
                  <a:srgbClr val="21295C"/>
                </a:solidFill>
                <a:latin typeface="Arial"/>
              </a:rPr>
              <a:t> человек соглашается там, где без подсказки решил бы иначе и правильнее.</a:t>
            </a:r>
          </a:p>
        </p:txBody>
      </p:sp>
      <p:sp>
        <p:nvSpPr>
          <p:cNvPr id="25" name="TextBox 24"/>
          <p:cNvSpPr txBox="1"/>
          <p:nvPr/>
        </p:nvSpPr>
        <p:spPr>
          <a:xfrm>
            <a:off x="6278727" y="4012237"/>
            <a:ext cx="5373471" cy="22239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Доля считается от остаточных ошибок, а не от всех прочтений.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Независимое второе мнение и арбитраж — действия той же стадии: независимость теряется, когда оба читателя видят одну подсказку.</a:t>
            </a:r>
          </a:p>
        </p:txBody>
      </p:sp>
      <p:sp>
        <p:nvSpPr>
          <p:cNvPr id="26" name="Rectangle 25"/>
          <p:cNvSpPr/>
          <p:nvPr/>
        </p:nvSpPr>
        <p:spPr>
          <a:xfrm>
            <a:off x="6091275" y="4012237"/>
            <a:ext cx="9144" cy="2168327"/>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лекарство посчитано, но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РАСЧЁТНОЕ СНИЖЕНИЕ — ОЦЕНЕНО РАСЧЁТОМ, НЕ ИЗМЕРЕНО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расчёт по двум уже собранным раундам</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ПЛАНИРОВАНИЕ СМЕН — ВРЕМЯ НА ГРАФИК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32,0 → 6,0 часа в месяц</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81,2 процента; обученной модели внутри нет</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Очевидное лекарство — скрывать подсказку там, где она чаще ошибается.</a:t>
            </a:r>
            <a:r>
              <a:rPr sz="1500" b="0" i="0">
                <a:solidFill>
                  <a:srgbClr val="21295C"/>
                </a:solidFill>
                <a:latin typeface="Arial"/>
              </a:rPr>
              <a:t> Снижение на 41,7 процента получено расчётом по двум уже собранным раундам. Третьего раунда с живыми врачами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скрываемой зоне остаются и случаи, где модель права, — поэтому знак итогового эффекта неизвестен.</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словаря у приёма нет и назвать её нечем: к живой работе его не прикладывали. Форму присваивают измерению, расчёту её не присваивают.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Раскрытый конфликт интересов:</a:t>
            </a:r>
            <a:r>
              <a:rPr sz="1500" b="0" i="0">
                <a:solidFill>
                  <a:srgbClr val="21295C"/>
                </a:solidFill>
                <a:latin typeface="Arial"/>
              </a:rPr>
              <a:t> часть авторов работает в компании-производителе модели или имеет на неё патент.</a:t>
            </a:r>
          </a:p>
          <a:p>
            <a:pPr algn="l">
              <a:lnSpc>
                <a:spcPct val="126000"/>
              </a:lnSpc>
              <a:spcBef>
                <a:spcPts val="700"/>
              </a:spcBef>
            </a:pPr>
            <a:r>
              <a:rPr sz="1500" b="0" i="0">
                <a:solidFill>
                  <a:srgbClr val="21295C"/>
                </a:solidFill>
                <a:latin typeface="Arial"/>
              </a:rPr>
              <a:t/>
            </a:r>
            <a:r>
              <a:rPr sz="1500" b="0" i="1">
                <a:solidFill>
                  <a:srgbClr val="21295C"/>
                </a:solidFill>
                <a:latin typeface="Arial"/>
              </a:rPr>
              <a:t>Упоминание рядом, для контраста.</a:t>
            </a:r>
            <a:r>
              <a:rPr sz="1500" b="0" i="0">
                <a:solidFill>
                  <a:srgbClr val="21295C"/>
                </a:solidFill>
                <a:latin typeface="Arial"/>
              </a:rPr>
              <a:t> Алгоритмическое планирование смен медсестёр: обученной модели внутри нет — нормы отдыха, квалификации и минимальный состав дежурства задают систему условий, которую решает оптимизатор.</a:t>
            </a:r>
          </a:p>
          <a:p>
            <a:pPr algn="l">
              <a:lnSpc>
                <a:spcPct val="126000"/>
              </a:lnSpc>
              <a:spcBef>
                <a:spcPts val="700"/>
              </a:spcBef>
            </a:pPr>
            <a:r>
              <a:rPr sz="1500" b="0" i="0">
                <a:solidFill>
                  <a:srgbClr val="21295C"/>
                </a:solidFill>
                <a:latin typeface="Arial"/>
              </a:rPr>
              <a:t/>
            </a:r>
            <a:r>
              <a:rPr sz="1500" b="1" i="0">
                <a:solidFill>
                  <a:srgbClr val="21295C"/>
                </a:solidFill>
                <a:latin typeface="Arial"/>
              </a:rPr>
              <a:t>Ошибка в графике исправляется до начала смены и никому не стоит здоровья: там, где цена промаха мала, дорогая процедура не окупается.</a:t>
            </a:r>
          </a:p>
        </p:txBody>
      </p:sp>
      <p:sp>
        <p:nvSpPr>
          <p:cNvPr id="15" name="Rectangle 14"/>
          <p:cNvSpPr/>
          <p:nvPr/>
        </p:nvSpPr>
        <p:spPr>
          <a:xfrm>
            <a:off x="6091275" y="2683657"/>
            <a:ext cx="9144" cy="344547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r>
              <a:rPr sz="1200" b="0" i="1">
                <a:solidFill>
                  <a:srgbClr val="1C7293"/>
                </a:solidFill>
                <a:latin typeface="Arial"/>
              </a:rPr>
              <a:t> · </a:t>
            </a:r>
            <a:r>
              <a:rPr sz="1200" b="0" i="1">
                <a:solidFill>
                  <a:srgbClr val="1C7293"/>
                </a:solidFill>
                <a:latin typeface="Arial"/>
              </a:rPr>
              <a:t>разбор алгоритмического планирования смен медсестёр</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ДВОЙНОЕ ЧТЕНИЕ ДВУМЯ ЛЮДЬМИ → ОДИН ЧЕЛОВЕК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та же программа</a:t>
            </a:r>
          </a:p>
        </p:txBody>
      </p:sp>
      <p:sp>
        <p:nvSpPr>
          <p:cNvPr id="8" name="Rounded Rectangle 7"/>
          <p:cNvSpPr/>
          <p:nvPr/>
        </p:nvSpPr>
        <p:spPr>
          <a:xfrm>
            <a:off x="3340531"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ЧТЕНИЕ МАММОГРАММЫ</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25 секунд</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РАЗБОР РАСХОЖДЕНИЯ ПРОТИВ ОДНОГО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4,6 раза дольше</a:t>
            </a:r>
          </a:p>
        </p:txBody>
      </p:sp>
      <p:sp>
        <p:nvSpPr>
          <p:cNvPr id="15" name="TextBox 14"/>
          <p:cNvSpPr txBox="1"/>
          <p:nvPr/>
        </p:nvSpPr>
        <p:spPr>
          <a:xfrm>
            <a:off x="6315303"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медианам; по средним в 2,75</a:t>
            </a:r>
          </a:p>
        </p:txBody>
      </p:sp>
      <p:sp>
        <p:nvSpPr>
          <p:cNvPr id="16" name="Rounded Rectangle 15"/>
          <p:cNvSpPr/>
          <p:nvPr/>
        </p:nvSpPr>
        <p:spPr>
          <a:xfrm>
            <a:off x="9015755"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АРБИТРАЖА ПРИ ВДВОЕ МЕНЬШЕМ ЧИСЛЕ ЧТЕНИЙ</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+53 процента</a:t>
            </a:r>
          </a:p>
        </p:txBody>
      </p:sp>
      <p:sp>
        <p:nvSpPr>
          <p:cNvPr id="19" name="TextBox 18"/>
          <p:cNvSpPr txBox="1"/>
          <p:nvPr/>
        </p:nvSpPr>
        <p:spPr>
          <a:xfrm>
            <a:off x="9152915"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22 до 142 между двумя центрами</a:t>
            </a:r>
          </a:p>
        </p:txBody>
      </p:sp>
      <p:sp>
        <p:nvSpPr>
          <p:cNvPr id="20" name="Rounded Rectangle 19"/>
          <p:cNvSpPr/>
          <p:nvPr/>
        </p:nvSpPr>
        <p:spPr>
          <a:xfrm>
            <a:off x="374904" y="3608827"/>
            <a:ext cx="11441887" cy="2511743"/>
          </a:xfrm>
          <a:prstGeom prst="roundRect">
            <a:avLst>
              <a:gd name="adj" fmla="val 1213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00267"/>
            <a:ext cx="5373471" cy="253594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Цена обеих ошибок у подписи.</a:t>
            </a:r>
            <a:r>
              <a:rPr sz="1300" b="0" i="0">
                <a:solidFill>
                  <a:srgbClr val="21295C"/>
                </a:solidFill>
                <a:latin typeface="Arial"/>
              </a:rPr>
              <a:t> И пропущенный диагноз, и лишнее вмешательство: подпись человеческая, а платит исходом пациент.</a:t>
            </a:r>
          </a:p>
          <a:p>
            <a:pPr algn="l">
              <a:lnSpc>
                <a:spcPct val="126000"/>
              </a:lnSpc>
              <a:spcBef>
                <a:spcPts val="700"/>
              </a:spcBef>
            </a:pPr>
            <a:r>
              <a:rPr sz="1300" b="0" i="0">
                <a:solidFill>
                  <a:srgbClr val="21295C"/>
                </a:solidFill>
                <a:latin typeface="Arial"/>
              </a:rPr>
              <a:t/>
            </a:r>
            <a:r>
              <a:rPr sz="1300" b="1" i="0">
                <a:solidFill>
                  <a:srgbClr val="21295C"/>
                </a:solidFill>
                <a:latin typeface="Arial"/>
              </a:rPr>
              <a:t>Классических режимов два, и счёт у них разный.</a:t>
            </a:r>
            <a:r>
              <a:rPr sz="1300" b="0" i="0">
                <a:solidFill>
                  <a:srgbClr val="21295C"/>
                </a:solidFill>
                <a:latin typeface="Arial"/>
              </a:rPr>
              <a:t> Один читатель без арбитража — назван и своего числа не имеет. Двое с арбитражем — посчитаны, и сразу в двух единицах.</a:t>
            </a:r>
          </a:p>
          <a:p>
            <a:pPr algn="l">
              <a:lnSpc>
                <a:spcPct val="126000"/>
              </a:lnSpc>
              <a:spcBef>
                <a:spcPts val="700"/>
              </a:spcBef>
            </a:pPr>
            <a:r>
              <a:rPr sz="1300" b="0" i="0">
                <a:solidFill>
                  <a:srgbClr val="21295C"/>
                </a:solidFill>
                <a:latin typeface="Arial"/>
              </a:rPr>
              <a:t/>
            </a:r>
            <a:r>
              <a:rPr sz="1300" b="1" i="0">
                <a:solidFill>
                  <a:srgbClr val="21295C"/>
                </a:solidFill>
                <a:latin typeface="Arial"/>
              </a:rPr>
              <a:t>Первая единица — чувствительность, доля найденного среди больных.</a:t>
            </a:r>
            <a:r>
              <a:rPr sz="1300" b="0" i="0">
                <a:solidFill>
                  <a:srgbClr val="21295C"/>
                </a:solidFill>
                <a:latin typeface="Arial"/>
              </a:rPr>
              <a:t> С выявляемостью её путать нельзя: в той же программе это около шести находок на тысячу обследованных.</a:t>
            </a:r>
          </a:p>
        </p:txBody>
      </p:sp>
      <p:sp>
        <p:nvSpPr>
          <p:cNvPr id="22" name="TextBox 21"/>
          <p:cNvSpPr txBox="1"/>
          <p:nvPr/>
        </p:nvSpPr>
        <p:spPr>
          <a:xfrm>
            <a:off x="6278727" y="3700267"/>
            <a:ext cx="5373471" cy="253594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единица — минуты труда, и без неё экономия на чтении не считается.</a:t>
            </a:r>
            <a:r>
              <a:rPr sz="1300" b="0" i="0">
                <a:solidFill>
                  <a:srgbClr val="21295C"/>
                </a:solidFill>
                <a:latin typeface="Arial"/>
              </a:rPr>
              <a:t> База: 441 276 первичных прочтений, то есть около 219 тысяч обследований, каждое читают двое; 16 центров.</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Разброс произносится вместе со средним:</a:t>
            </a:r>
            <a:r>
              <a:rPr sz="1300" b="0" i="0">
                <a:solidFill>
                  <a:srgbClr val="21295C"/>
                </a:solidFill>
                <a:latin typeface="Arial"/>
              </a:rPr>
              <a:t> протоколы арбитража разные, и устройство нового шага само задаёт нагрузку.</a:t>
            </a:r>
          </a:p>
          <a:p>
            <a:pPr algn="l">
              <a:lnSpc>
                <a:spcPct val="126000"/>
              </a:lnSpc>
              <a:spcBef>
                <a:spcPts val="700"/>
              </a:spcBef>
            </a:pPr>
            <a:r>
              <a:rPr sz="1300" b="0" i="0">
                <a:solidFill>
                  <a:srgbClr val="21295C"/>
                </a:solidFill>
                <a:latin typeface="Arial"/>
              </a:rPr>
              <a:t/>
            </a:r>
            <a:r>
              <a:rPr sz="1300" b="1" i="0">
                <a:solidFill>
                  <a:srgbClr val="21295C"/>
                </a:solidFill>
                <a:latin typeface="Arial"/>
              </a:rPr>
              <a:t>Экономия на одном шаге не обязана компенсировать рост другого.</a:t>
            </a:r>
          </a:p>
        </p:txBody>
      </p:sp>
      <p:sp>
        <p:nvSpPr>
          <p:cNvPr id="23" name="Rectangle 22"/>
          <p:cNvSpPr/>
          <p:nvPr/>
        </p:nvSpPr>
        <p:spPr>
          <a:xfrm>
            <a:off x="6091275" y="3700267"/>
            <a:ext cx="9144" cy="223742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3"/>
              </a:rPr>
              <a:t>Warren L. M. и соавт., Nature Cancer 2026, DOI 10.1038/s43018-026-01128-z</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норма есть, а проверки нет</a:t>
            </a:r>
          </a:p>
        </p:txBody>
      </p:sp>
      <p:sp>
        <p:nvSpPr>
          <p:cNvPr id="4" name="Rounded Rectangle 3"/>
          <p:cNvSpPr/>
          <p:nvPr/>
        </p:nvSpPr>
        <p:spPr>
          <a:xfrm>
            <a:off x="502920" y="1335024"/>
            <a:ext cx="267301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 717</a:t>
            </a:r>
          </a:p>
        </p:txBody>
      </p:sp>
      <p:sp>
        <p:nvSpPr>
          <p:cNvPr id="7" name="TextBox 6"/>
          <p:cNvSpPr txBox="1"/>
          <p:nvPr/>
        </p:nvSpPr>
        <p:spPr>
          <a:xfrm>
            <a:off x="640080"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из ста; срез июнь 2024</a:t>
            </a:r>
          </a:p>
        </p:txBody>
      </p:sp>
      <p:sp>
        <p:nvSpPr>
          <p:cNvPr id="8" name="Rounded Rectangle 7"/>
          <p:cNvSpPr/>
          <p:nvPr/>
        </p:nvSpPr>
        <p:spPr>
          <a:xfrm>
            <a:off x="3340531"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ПРОСПЕКТИВНОЕ ИСПЫТАНИЕ</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717</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 из ста</a:t>
            </a:r>
          </a:p>
        </p:txBody>
      </p:sp>
      <p:sp>
        <p:nvSpPr>
          <p:cNvPr id="12" name="Rounded Rectangle 11"/>
          <p:cNvSpPr/>
          <p:nvPr/>
        </p:nvSpPr>
        <p:spPr>
          <a:xfrm>
            <a:off x="6178143"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КАКОЕ-ЛИБО КЛИНИЧЕСКОЕ ИСПЫТАНИЕ</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208 из 717</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29 из ста</a:t>
            </a:r>
          </a:p>
        </p:txBody>
      </p:sp>
      <p:sp>
        <p:nvSpPr>
          <p:cNvPr id="16" name="Rounded Rectangle 15"/>
          <p:cNvSpPr/>
          <p:nvPr/>
        </p:nvSpPr>
        <p:spPr>
          <a:xfrm>
            <a:off x="9015755"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 950</a:t>
            </a:r>
          </a:p>
        </p:txBody>
      </p:sp>
      <p:sp>
        <p:nvSpPr>
          <p:cNvPr id="19" name="TextBox 18"/>
          <p:cNvSpPr txBox="1"/>
          <p:nvPr/>
        </p:nvSpPr>
        <p:spPr>
          <a:xfrm>
            <a:off x="9152915"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свой знаменатель и своя дата среза</a:t>
            </a:r>
          </a:p>
        </p:txBody>
      </p:sp>
      <p:sp>
        <p:nvSpPr>
          <p:cNvPr id="20" name="Rounded Rectangle 19"/>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p:txBody>
      </p:sp>
      <p:sp>
        <p:nvSpPr>
          <p:cNvPr id="22" name="TextBox 21"/>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Норма описывает способность вмешаться; присутствия человека при каждом решении она не требует.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Знаменатели держим врозь:</a:t>
            </a:r>
            <a:r>
              <a:rPr sz="1500" b="0" i="0">
                <a:solidFill>
                  <a:srgbClr val="21295C"/>
                </a:solidFill>
                <a:latin typeface="Arial"/>
              </a:rPr>
              <a:t> 717 — изделия с доступной документацией, 950 — все допущенные; лучевых среди них 723, то есть 76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контуре нужна подпись под тем, что решил автомат, — и проверял ли кто-нибудь, что вы успеваете это прочитать?</a:t>
            </a:r>
          </a:p>
        </p:txBody>
      </p:sp>
      <p:sp>
        <p:nvSpPr>
          <p:cNvPr id="23" name="Rectangle 22"/>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Регламент (ЕС) 2024/1689, статья 14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Разработчик</a:t>
            </a:r>
          </a:p>
          <a:p>
            <a:pPr algn="ctr">
              <a:lnSpc>
                <a:spcPct val="112000"/>
              </a:lnSpc>
            </a:pPr>
            <a:r>
              <a:rPr sz="12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Врач</a:t>
            </a:r>
          </a:p>
          <a:p>
            <a:pPr algn="ctr">
              <a:lnSpc>
                <a:spcPct val="112000"/>
              </a:lnSpc>
            </a:pPr>
            <a:r>
              <a:rPr sz="12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Больница</a:t>
            </a:r>
          </a:p>
          <a:p>
            <a:pPr algn="ctr">
              <a:lnSpc>
                <a:spcPct val="112000"/>
              </a:lnSpc>
            </a:pPr>
            <a:r>
              <a:rPr sz="12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Регулятор</a:t>
            </a:r>
          </a:p>
          <a:p>
            <a:pPr algn="ctr">
              <a:lnSpc>
                <a:spcPct val="112000"/>
              </a:lnSpc>
            </a:pPr>
            <a:r>
              <a:rPr sz="12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66556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968244"/>
            <a:ext cx="11441887" cy="2441774"/>
          </a:xfrm>
          <a:prstGeom prst="roundRect">
            <a:avLst>
              <a:gd name="adj" fmla="val 12482"/>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59684"/>
            <a:ext cx="11112703" cy="31765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 держит то, что определяет качество вывода, и за решение о конкретном человеке не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 отвечает за решение целиком и не контролирует ни обучающие данные, ни обновления.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Ответственность по шву передана, а проверка способности её нести — нет: 56 изделий из 717.</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качественная: она описывает участников клинического контура и чисел в себе не несёт.</a:t>
            </a:r>
          </a:p>
        </p:txBody>
      </p:sp>
      <p:sp>
        <p:nvSpPr>
          <p:cNvPr id="15" name="Rectangle 14"/>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Модель меняется после допуска: 43,4 процента отзывов — в первый год</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ОТЗЫВАЛИСЬ ИЗ ДОПУЩЕННЫХ</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60 из 950</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срез ноябрь 2024</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ОТЗЫВНЫХ СОБЫТИЙ НА ЭТИ 60</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заявленной проверки — 3,4 на изделие против 1,9</a:t>
            </a:r>
          </a:p>
        </p:txBody>
      </p:sp>
      <p:sp>
        <p:nvSpPr>
          <p:cNvPr id="12" name="Rounded Rectangle 11"/>
          <p:cNvSpPr/>
          <p:nvPr/>
        </p:nvSpPr>
        <p:spPr>
          <a:xfrm>
            <a:off x="8069884"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ПЕРВЫЙ ГОД ПОСЛЕ ДОПУСКА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 отзывов</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из 182; 108 остались неразрешёнными</a:t>
            </a:r>
          </a:p>
        </p:txBody>
      </p:sp>
      <p:sp>
        <p:nvSpPr>
          <p:cNvPr id="16" name="TextBox 15"/>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17" name="Rounded Rectangle 16"/>
          <p:cNvSpPr/>
          <p:nvPr/>
        </p:nvSpPr>
        <p:spPr>
          <a:xfrm>
            <a:off x="1920240"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утверждённый заранее</a:t>
            </a:r>
          </a:p>
        </p:txBody>
      </p:sp>
      <p:sp>
        <p:nvSpPr>
          <p:cNvPr id="19" name="Right Arrow 18"/>
          <p:cNvSpPr/>
          <p:nvPr/>
        </p:nvSpPr>
        <p:spPr>
          <a:xfrm>
            <a:off x="5039258" y="318284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a:t>
            </a:r>
          </a:p>
        </p:txBody>
      </p:sp>
      <p:sp>
        <p:nvSpPr>
          <p:cNvPr id="22" name="Right Arrow 21"/>
          <p:cNvSpPr/>
          <p:nvPr/>
        </p:nvSpPr>
        <p:spPr>
          <a:xfrm>
            <a:off x="8386876" y="318284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2 декабря 2027 · 2 августа 2028</a:t>
            </a:r>
          </a:p>
        </p:txBody>
      </p:sp>
      <p:sp>
        <p:nvSpPr>
          <p:cNvPr id="25" name="TextBox 24"/>
          <p:cNvSpPr txBox="1"/>
          <p:nvPr/>
        </p:nvSpPr>
        <p:spPr>
          <a:xfrm>
            <a:off x="502920" y="364451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после допуска</a:t>
            </a:r>
          </a:p>
        </p:txBody>
      </p:sp>
      <p:sp>
        <p:nvSpPr>
          <p:cNvPr id="26" name="Rounded Rectangle 25"/>
          <p:cNvSpPr/>
          <p:nvPr/>
        </p:nvSpPr>
        <p:spPr>
          <a:xfrm>
            <a:off x="374904" y="3947202"/>
            <a:ext cx="11441887" cy="2289005"/>
          </a:xfrm>
          <a:prstGeom prst="roundRect">
            <a:avLst>
              <a:gd name="adj" fmla="val 1331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038642"/>
            <a:ext cx="11112703" cy="219756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модели есть свойство, которого нет у скальпеля: она меняется после того, как её допустили.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Сроки разведены по приложениям, а не по признаку «самостоятельное или встроенное»:</a:t>
            </a:r>
            <a:r>
              <a:rPr sz="1500" b="0" i="0">
                <a:solidFill>
                  <a:srgbClr val="21295C"/>
                </a:solidFill>
                <a:latin typeface="Arial"/>
              </a:rPr>
              <a:t>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Измеренное последствие рамки — ранний отзыв:</a:t>
            </a:r>
            <a:r>
              <a:rPr sz="1500" b="0" i="0">
                <a:solidFill>
                  <a:srgbClr val="21295C"/>
                </a:solidFill>
                <a:latin typeface="Arial"/>
              </a:rPr>
              <a:t> проверка, которая не состоялась до допуска, состоялась после.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48 в ноябре 2025 → 57 в июне 2026 → 59 в августе 2026. Доля от общего реестра не приводится.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разбора здесь нет: это обзор надзорных механизмов.</a:t>
            </a:r>
          </a:p>
        </p:txBody>
      </p:sp>
      <p:sp>
        <p:nvSpPr>
          <p:cNvPr id="28" name="Rectangle 2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по плану предварительно утверждённых изменений модели, декабрь 2024</a:t>
            </a:r>
            <a:r>
              <a:rPr sz="1200" b="0" i="1">
                <a:solidFill>
                  <a:srgbClr val="1C7293"/>
                </a:solidFill>
                <a:latin typeface="Arial"/>
              </a:rPr>
              <a:t> · </a:t>
            </a:r>
            <a:r>
              <a:rPr sz="1200" b="0" i="1" u="sng">
                <a:solidFill>
                  <a:srgbClr val="065A82"/>
                </a:solidFill>
                <a:latin typeface="Arial"/>
                <a:hlinkClick r:id="rId3"/>
              </a:rPr>
              <a:t>приказ Росздравнадзора от 21.07.2025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B. и соавт., JAMA Health Forum 2025;6(8):e253172, срез ноябрь 2024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Чем удерживают: где за подписью ничего нет, цена ошибки переезжает на того, кто не подписывал</a:t>
            </a:r>
          </a:p>
        </p:txBody>
      </p:sp>
      <p:sp>
        <p:nvSpPr>
          <p:cNvPr id="4" name="Rounded Rectangle 3"/>
          <p:cNvSpPr/>
          <p:nvPr/>
        </p:nvSpPr>
        <p:spPr>
          <a:xfrm>
            <a:off x="374904" y="1243584"/>
            <a:ext cx="11441887" cy="4787684"/>
          </a:xfrm>
          <a:prstGeom prst="roundRect">
            <a:avLst>
              <a:gd name="adj" fmla="val 6366"/>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72465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получается</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Поднять долю верных заключений: 87,2 → 96,4 из ста — против одного читателя</a:t>
            </a:r>
          </a:p>
          <a:p>
            <a:pPr algn="l">
              <a:lnSpc>
                <a:spcPct val="126000"/>
              </a:lnSpc>
              <a:spcBef>
                <a:spcPts val="700"/>
              </a:spcBef>
            </a:pPr>
            <a:r>
              <a:rPr sz="1250" b="0" i="0">
                <a:solidFill>
                  <a:srgbClr val="21295C"/>
                </a:solidFill>
                <a:latin typeface="Arial"/>
              </a:rPr>
              <a:t/>
            </a:r>
            <a:r>
              <a:rPr sz="1250" b="0" i="0">
                <a:solidFill>
                  <a:srgbClr val="21295C"/>
                </a:solidFill>
                <a:latin typeface="Arial"/>
              </a:rPr>
              <a:t>• Сократить первичные чтения вдвое: 48 секунд на чтение против 2 минут 12 секунд на арбитраж</a:t>
            </a:r>
          </a:p>
          <a:p>
            <a:pPr algn="l">
              <a:lnSpc>
                <a:spcPct val="126000"/>
              </a:lnSpc>
              <a:spcBef>
                <a:spcPts val="700"/>
              </a:spcBef>
            </a:pPr>
            <a:r>
              <a:rPr sz="1250" b="0" i="0">
                <a:solidFill>
                  <a:srgbClr val="21295C"/>
                </a:solidFill>
                <a:latin typeface="Arial"/>
              </a:rPr>
              <a:t/>
            </a:r>
            <a:r>
              <a:rPr sz="1250" b="0" i="0">
                <a:solidFill>
                  <a:srgbClr val="21295C"/>
                </a:solidFill>
                <a:latin typeface="Arial"/>
              </a:rPr>
              <a:t>• Назвать требование словами: понять ограничения, не согласиться, остановить</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не получается</a:t>
            </a:r>
          </a:p>
          <a:p>
            <a:pPr algn="l">
              <a:lnSpc>
                <a:spcPct val="126000"/>
              </a:lnSpc>
              <a:spcBef>
                <a:spcPts val="700"/>
              </a:spcBef>
            </a:pPr>
            <a:r>
              <a:rPr sz="1250" b="0" i="0">
                <a:solidFill>
                  <a:srgbClr val="21295C"/>
                </a:solidFill>
                <a:latin typeface="Arial"/>
              </a:rPr>
              <a:t/>
            </a:r>
            <a:r>
              <a:rPr sz="1250" b="0" i="0">
                <a:solidFill>
                  <a:srgbClr val="21295C"/>
                </a:solidFill>
                <a:latin typeface="Arial"/>
              </a:rPr>
              <a:t>• Удержать независимость, когда оба читателя видят одну подсказку</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Избавиться от арбитража: его объём вырос на 53 процента, в двух центрах от 22 до 142</a:t>
            </a:r>
          </a:p>
          <a:p>
            <a:pPr algn="l">
              <a:lnSpc>
                <a:spcPct val="126000"/>
              </a:lnSpc>
              <a:spcBef>
                <a:spcPts val="700"/>
              </a:spcBef>
            </a:pPr>
            <a:r>
              <a:rPr sz="1250" b="0" i="0">
                <a:solidFill>
                  <a:srgbClr val="21295C"/>
                </a:solidFill>
                <a:latin typeface="Arial"/>
              </a:rPr>
              <a:t/>
            </a:r>
            <a:r>
              <a:rPr sz="1250" b="0" i="0">
                <a:solidFill>
                  <a:srgbClr val="21295C"/>
                </a:solidFill>
                <a:latin typeface="Arial"/>
              </a:rPr>
              <a:t>• Проверить, что подписавший способен возразить: 56 изделий из 717</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стало с работой</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Сместилась цена ошибки</a:t>
            </a:r>
            <a:r>
              <a:rPr sz="1250" b="0" i="0">
                <a:solidFill>
                  <a:srgbClr val="21295C"/>
                </a:solidFill>
                <a:latin typeface="Arial"/>
              </a:rPr>
              <a:t> — подпись человеческая, основание решения пришло извне</a:t>
            </a:r>
          </a:p>
        </p:txBody>
      </p:sp>
      <p:sp>
        <p:nvSpPr>
          <p:cNvPr id="6" name="TextBox 5"/>
          <p:cNvSpPr txBox="1"/>
          <p:nvPr/>
        </p:nvSpPr>
        <p:spPr>
          <a:xfrm>
            <a:off x="6278727" y="1335024"/>
            <a:ext cx="5373471" cy="472465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Нагрузка выросла на том же месте</a:t>
            </a:r>
            <a:r>
              <a:rPr sz="1250" b="0" i="0">
                <a:solidFill>
                  <a:srgbClr val="21295C"/>
                </a:solidFill>
                <a:latin typeface="Arial"/>
              </a:rPr>
              <a:t> — арбитраж, и каждый разбор дороже чтения</a:t>
            </a:r>
          </a:p>
          <a:p>
            <a:pPr algn="l">
              <a:lnSpc>
                <a:spcPct val="126000"/>
              </a:lnSpc>
              <a:spcBef>
                <a:spcPts val="700"/>
              </a:spcBef>
            </a:pPr>
            <a:r>
              <a:rPr sz="1250" b="0" i="0">
                <a:solidFill>
                  <a:srgbClr val="21295C"/>
                </a:solidFill>
                <a:latin typeface="Arial"/>
              </a:rPr>
              <a:t/>
            </a:r>
            <a:r>
              <a:rPr sz="1250" b="0" i="0">
                <a:solidFill>
                  <a:srgbClr val="21295C"/>
                </a:solidFill>
                <a:latin typeface="Arial"/>
              </a:rPr>
              <a:t>• 45,5 из ста оставшихся ошибок идут от склонности доверять автомату</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это держит</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Подпись: юридический акт физического лица, и права подписи у модели нет</a:t>
            </a:r>
          </a:p>
          <a:p>
            <a:pPr algn="l">
              <a:lnSpc>
                <a:spcPct val="126000"/>
              </a:lnSpc>
              <a:spcBef>
                <a:spcPts val="700"/>
              </a:spcBef>
            </a:pPr>
            <a:r>
              <a:rPr sz="1250" b="0" i="0">
                <a:solidFill>
                  <a:srgbClr val="21295C"/>
                </a:solidFill>
                <a:latin typeface="Arial"/>
              </a:rPr>
              <a:t/>
            </a:r>
            <a:r>
              <a:rPr sz="1250" b="0" i="0">
                <a:solidFill>
                  <a:srgbClr val="21295C"/>
                </a:solidFill>
                <a:latin typeface="Arial"/>
              </a:rPr>
              <a:t>• Двойное чтение и арбитраж там, где второго читателя не заменили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Разбор случая после исхода и правка порядка по его итогам</a:t>
            </a:r>
          </a:p>
          <a:p>
            <a:pPr algn="l">
              <a:lnSpc>
                <a:spcPct val="126000"/>
              </a:lnSpc>
              <a:spcBef>
                <a:spcPts val="700"/>
              </a:spcBef>
            </a:pPr>
            <a:r>
              <a:rPr sz="1250" b="0" i="0">
                <a:solidFill>
                  <a:srgbClr val="21295C"/>
                </a:solidFill>
                <a:latin typeface="Arial"/>
              </a:rPr>
              <a:t/>
            </a:r>
            <a:r>
              <a:rPr sz="1250" b="1" i="0">
                <a:solidFill>
                  <a:srgbClr val="21295C"/>
                </a:solidFill>
                <a:latin typeface="Arial"/>
              </a:rPr>
              <a:t>В прошлой лекции требований к ИИ внутри промышленных изделий не было. Здесь они есть — с документами, сроками и измеримым исполнением.</a:t>
            </a:r>
          </a:p>
          <a:p>
            <a:pPr algn="l">
              <a:lnSpc>
                <a:spcPct val="126000"/>
              </a:lnSpc>
              <a:spcBef>
                <a:spcPts val="700"/>
              </a:spcBef>
            </a:pPr>
            <a:r>
              <a:rPr sz="1250" b="0" i="0">
                <a:solidFill>
                  <a:srgbClr val="21295C"/>
                </a:solidFill>
                <a:latin typeface="Arial"/>
              </a:rPr>
              <a:t/>
            </a:r>
            <a:r>
              <a:rPr sz="1250" b="1" i="0">
                <a:solidFill>
                  <a:srgbClr val="21295C"/>
                </a:solidFill>
                <a:latin typeface="Arial"/>
              </a:rPr>
              <a:t>Удерживает то, что стоит за подписью. Где за ней ничего нет, цена ошибки переезжает на того, кто не подписывал.</a:t>
            </a:r>
          </a:p>
        </p:txBody>
      </p:sp>
      <p:sp>
        <p:nvSpPr>
          <p:cNvPr id="7" name="Rectangle 6"/>
          <p:cNvSpPr/>
          <p:nvPr/>
        </p:nvSpPr>
        <p:spPr>
          <a:xfrm>
            <a:off x="6091275" y="1335024"/>
            <a:ext cx="9144" cy="451336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поданной регуляторам документации по радиологическим изделиям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4"/>
              </a:rPr>
              <a:t>Wang D. Y. и соавт., JAMIA 2023;30(10):1684–1692</a:t>
            </a:r>
            <a:r>
              <a:rPr sz="1200" b="0" i="1">
                <a:solidFill>
                  <a:srgbClr val="1C7293"/>
                </a:solidFill>
                <a:latin typeface="Arial"/>
              </a:rPr>
              <a:t> · </a:t>
            </a:r>
            <a:r>
              <a:rPr sz="1200" b="0" i="1" u="sng">
                <a:solidFill>
                  <a:srgbClr val="065A82"/>
                </a:solidFill>
                <a:latin typeface="Arial"/>
                <a:hlinkClick r:id="rId5"/>
              </a:rPr>
              <a:t>Регламент (ЕС) 2024/1689, статья 14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000782"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7081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540278" y="1335024"/>
            <a:ext cx="2493237"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686582" y="1335024"/>
            <a:ext cx="220062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033516" y="1335024"/>
            <a:ext cx="3903209"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79820" y="1335024"/>
            <a:ext cx="361060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936725" y="1335024"/>
            <a:ext cx="2715473"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83029" y="1335024"/>
            <a:ext cx="242286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000782"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540278" y="1727520"/>
            <a:ext cx="2493237"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86582" y="1727520"/>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033516" y="1727520"/>
            <a:ext cx="3903209"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79820" y="1727520"/>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анализ · диагноз)</a:t>
            </a:r>
          </a:p>
        </p:txBody>
      </p:sp>
      <p:sp>
        <p:nvSpPr>
          <p:cNvPr id="19" name="Rectangle 18"/>
          <p:cNvSpPr/>
          <p:nvPr/>
        </p:nvSpPr>
        <p:spPr>
          <a:xfrm>
            <a:off x="8936725" y="1727520"/>
            <a:ext cx="2715473"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83029" y="1727520"/>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000782"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540278" y="2120016"/>
            <a:ext cx="2493237"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86582" y="2120016"/>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033516" y="2120016"/>
            <a:ext cx="3903209"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79820" y="2120016"/>
            <a:ext cx="361060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подсказка, которой верят</a:t>
            </a:r>
            <a:r>
              <a:rPr sz="1250" b="0" i="0">
                <a:solidFill>
                  <a:srgbClr val="21295C"/>
                </a:solidFill>
                <a:latin typeface="Arial"/>
              </a:rPr>
              <a:t> (отбор · диагноз)</a:t>
            </a:r>
          </a:p>
        </p:txBody>
      </p:sp>
      <p:sp>
        <p:nvSpPr>
          <p:cNvPr id="27" name="Rectangle 26"/>
          <p:cNvSpPr/>
          <p:nvPr/>
        </p:nvSpPr>
        <p:spPr>
          <a:xfrm>
            <a:off x="8936725" y="2120016"/>
            <a:ext cx="2715473"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83029" y="2120016"/>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000782"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540278" y="2512512"/>
            <a:ext cx="2493237"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86582" y="2512512"/>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запись)</a:t>
            </a:r>
          </a:p>
        </p:txBody>
      </p:sp>
      <p:sp>
        <p:nvSpPr>
          <p:cNvPr id="33" name="Rectangle 32"/>
          <p:cNvSpPr/>
          <p:nvPr/>
        </p:nvSpPr>
        <p:spPr>
          <a:xfrm>
            <a:off x="5033516" y="2512512"/>
            <a:ext cx="3903209"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79820" y="2512512"/>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936725" y="2512512"/>
            <a:ext cx="2715473"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83029" y="2512512"/>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000782"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540278" y="2905008"/>
            <a:ext cx="2493237"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86582" y="2905008"/>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033516" y="2905008"/>
            <a:ext cx="3903209"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79820" y="2905008"/>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936725" y="2905008"/>
            <a:ext cx="2715473"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83029" y="2905008"/>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(анализ · наблюдение)</a:t>
            </a:r>
          </a:p>
        </p:txBody>
      </p:sp>
      <p:sp>
        <p:nvSpPr>
          <p:cNvPr id="45" name="TextBox 44"/>
          <p:cNvSpPr txBox="1"/>
          <p:nvPr/>
        </p:nvSpPr>
        <p:spPr>
          <a:xfrm>
            <a:off x="539496" y="344380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Полужирное — разбор этого раздела, светлое в скобках — прежние разделы.</a:t>
            </a:r>
            <a:r>
              <a:rPr sz="1300" b="0" i="0">
                <a:solidFill>
                  <a:srgbClr val="21295C"/>
                </a:solidFill>
                <a:latin typeface="Arial"/>
              </a:rPr>
              <a:t> Занято 4 клетки из 12 показанных, восемь прочерков стоят с Раздела 2: четвёртый раздел подряд не добавил сетке ничего.</a:t>
            </a:r>
          </a:p>
        </p:txBody>
      </p:sp>
      <p:sp>
        <p:nvSpPr>
          <p:cNvPr id="46" name="TextBox 45"/>
          <p:cNvSpPr txBox="1"/>
          <p:nvPr/>
        </p:nvSpPr>
        <p:spPr>
          <a:xfrm>
            <a:off x="539496" y="411633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И этот — особый случай: он не добавляет ни одной клетки не потому, что опоздал.</a:t>
            </a:r>
            <a:r>
              <a:rPr sz="1300" b="0" i="0">
                <a:solidFill>
                  <a:srgbClr val="21295C"/>
                </a:solidFill>
                <a:latin typeface="Arial"/>
              </a:rPr>
              <a:t> Подпись не распознаёт. Согласие не прогнозирует. Арбитраж ничего не порождает. Разбор случая, допуск изделия и надзор после допуска — тоже.</a:t>
            </a:r>
          </a:p>
        </p:txBody>
      </p:sp>
      <p:sp>
        <p:nvSpPr>
          <p:cNvPr id="47" name="Rounded Rectangle 46"/>
          <p:cNvSpPr/>
          <p:nvPr/>
        </p:nvSpPr>
        <p:spPr>
          <a:xfrm>
            <a:off x="630936" y="4879666"/>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788861"/>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держат эту клетку</a:t>
            </a:r>
            <a:r>
              <a:rPr sz="1300" b="0" i="0">
                <a:solidFill>
                  <a:srgbClr val="21295C"/>
                </a:solidFill>
                <a:latin typeface="Arial"/>
              </a:rPr>
              <a:t> — двойное чтение · арбитраж при расхождении · порог вмешательства · пересчёт прогностической ценности под местную распространённость</a:t>
            </a:r>
          </a:p>
        </p:txBody>
      </p:sp>
      <p:sp>
        <p:nvSpPr>
          <p:cNvPr id="49" name="Rounded Rectangle 48"/>
          <p:cNvSpPr/>
          <p:nvPr/>
        </p:nvSpPr>
        <p:spPr>
          <a:xfrm>
            <a:off x="630936" y="5552192"/>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461387"/>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держат сам допуск</a:t>
            </a:r>
            <a:r>
              <a:rPr sz="1300" b="0" i="0">
                <a:solidFill>
                  <a:srgbClr val="21295C"/>
                </a:solidFill>
                <a:latin typeface="Arial"/>
              </a:rPr>
              <a:t> — заранее утверждённый план изменений модели · передача данных регулятору · отзыв с рынка</a:t>
            </a:r>
          </a:p>
        </p:txBody>
      </p:sp>
      <p:sp>
        <p:nvSpPr>
          <p:cNvPr id="51" name="TextBox 50"/>
          <p:cNvSpPr txBox="1"/>
          <p:nvPr/>
        </p:nvSpPr>
        <p:spPr>
          <a:xfrm>
            <a:off x="539496" y="5870803"/>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Клетка говорит, чем инструмент занят, и ничего не говорит о том, чем его держат.</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мерила работу. Что стало с человеком внутри неё — не сказал ни один замер.</a:t>
            </a:r>
          </a:p>
        </p:txBody>
      </p:sp>
      <p:sp>
        <p:nvSpPr>
          <p:cNvPr id="9" name="TextBox 8"/>
          <p:cNvSpPr txBox="1"/>
          <p:nvPr/>
        </p:nvSpPr>
        <p:spPr>
          <a:xfrm>
            <a:off x="704088" y="2613331"/>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классических режима с числами · 1 плоскость без разбора</a:t>
            </a:r>
          </a:p>
        </p:txBody>
      </p:sp>
      <p:sp>
        <p:nvSpPr>
          <p:cNvPr id="10" name="TextBox 9"/>
          <p:cNvSpPr txBox="1"/>
          <p:nvPr/>
        </p:nvSpPr>
        <p:spPr>
          <a:xfrm>
            <a:off x="704088" y="3382105"/>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обнаружения упала там, где помощника не было</a:t>
            </a:r>
          </a:p>
        </p:txBody>
      </p:sp>
      <p:sp>
        <p:nvSpPr>
          <p:cNvPr id="11" name="TextBox 10"/>
          <p:cNvSpPr txBox="1"/>
          <p:nvPr/>
        </p:nvSpPr>
        <p:spPr>
          <a:xfrm>
            <a:off x="704088" y="415087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собственного разбора: </a:t>
            </a:r>
            <a:r>
              <a:rPr sz="1550" b="1" i="0">
                <a:solidFill>
                  <a:srgbClr val="21295C"/>
                </a:solidFill>
                <a:latin typeface="Arial"/>
              </a:rPr>
              <a:t>чего про доверие не измерено</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осмотра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 административная должность, долгая болезнь, отпуск по уходу за ребёнком.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 отзывать его было не за что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первая процедура идёт иначе: прибор продвигается медленнее, рука дольше ищет угол изгиба, складку врач проходит мимо</a:t>
            </a:r>
          </a:p>
          <a:p>
            <a:pPr algn="l">
              <a:lnSpc>
                <a:spcPct val="126000"/>
              </a:lnSpc>
              <a:spcBef>
                <a:spcPts val="700"/>
              </a:spcBef>
            </a:pPr>
            <a:r>
              <a:rPr sz="1500" b="0" i="0">
                <a:solidFill>
                  <a:srgbClr val="21295C"/>
                </a:solidFill>
                <a:latin typeface="Arial"/>
              </a:rPr>
              <a:t/>
            </a:r>
            <a:r>
              <a:rPr sz="1500" b="0" i="0">
                <a:solidFill>
                  <a:srgbClr val="21295C"/>
                </a:solidFill>
                <a:latin typeface="Arial"/>
              </a:rPr>
              <a:t>• осложнений нет, протокол написан, пациент отпущен домой — и сам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Восемь действий стадии.</a:t>
            </a:r>
            <a:r>
              <a:rPr sz="1500" b="0" i="0">
                <a:solidFill>
                  <a:srgbClr val="21295C"/>
                </a:solidFill>
                <a:latin typeface="Arial"/>
              </a:rPr>
              <a:t> 1. Подготовить пациента · 2. Ввести прибор до слепой кишки · 3. Осматривать при выведении · 4. Заглянуть за складку · 5. Снять найденное · 6. Отправить на гистологию · 7. Записать протокол · 8. Посчитать показатели врача.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Семь действий делает человек; восьмое профессия делает за него.</a:t>
            </a:r>
            <a:r>
              <a:rPr sz="1500" b="0" i="0">
                <a:solidFill>
                  <a:srgbClr val="21295C"/>
                </a:solidFill>
                <a:latin typeface="Arial"/>
              </a:rPr>
              <a:t> Три опоры, и ни одна не спрашивает самого человека: </a:t>
            </a:r>
            <a:r>
              <a:rPr sz="1500" b="1" i="0">
                <a:solidFill>
                  <a:srgbClr val="21295C"/>
                </a:solidFill>
                <a:latin typeface="Arial"/>
              </a:rPr>
              <a:t>объём практики</a:t>
            </a:r>
            <a:r>
              <a:rPr sz="1500" b="0" i="0">
                <a:solidFill>
                  <a:srgbClr val="21295C"/>
                </a:solidFill>
                <a:latin typeface="Arial"/>
              </a:rPr>
              <a:t> · </a:t>
            </a:r>
            <a:r>
              <a:rPr sz="1500" b="1" i="0">
                <a:solidFill>
                  <a:srgbClr val="21295C"/>
                </a:solidFill>
                <a:latin typeface="Arial"/>
              </a:rPr>
              <a:t>аккредитация</a:t>
            </a:r>
            <a:r>
              <a:rPr sz="1500" b="0" i="0">
                <a:solidFill>
                  <a:srgbClr val="21295C"/>
                </a:solidFill>
                <a:latin typeface="Arial"/>
              </a:rPr>
              <a:t> · </a:t>
            </a:r>
            <a:r>
              <a:rPr sz="1500" b="1" i="0">
                <a:solidFill>
                  <a:srgbClr val="21295C"/>
                </a:solidFill>
                <a:latin typeface="Arial"/>
              </a:rPr>
              <a:t>повторная сертификация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С обученной моделью — один шаг из восьми:</a:t>
            </a:r>
            <a:r>
              <a:rPr sz="1500" b="0" i="0">
                <a:solidFill>
                  <a:srgbClr val="21295C"/>
                </a:solidFill>
                <a:latin typeface="Arial"/>
              </a:rPr>
              <a:t> осмотр при выведении (3), рамка на участке в реальном времени. </a:t>
            </a:r>
            <a:r>
              <a:rPr sz="1500" b="1" i="0">
                <a:solidFill>
                  <a:srgbClr val="21295C"/>
                </a:solidFill>
                <a:latin typeface="Arial"/>
              </a:rPr>
              <a:t>Новый шаг — решить, доверять ли рамке.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доля обнаружения</a:t>
            </a:r>
            <a:r>
              <a:rPr sz="1500" b="0" i="0">
                <a:solidFill>
                  <a:srgbClr val="21295C"/>
                </a:solidFill>
                <a:latin typeface="Arial"/>
              </a:rPr>
              <a:t> — доля процедур с находкой, её нельзя получить старанием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время выведения прибора</a:t>
            </a:r>
            <a:r>
              <a:rPr sz="1500" b="0" i="0">
                <a:solidFill>
                  <a:srgbClr val="21295C"/>
                </a:solidFill>
                <a:latin typeface="Arial"/>
              </a:rPr>
              <a:t> — величина дисциплинарная, нижняя граница назначена рекомендациями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ectangle 6"/>
          <p:cNvSpPr/>
          <p:nvPr/>
        </p:nvSpPr>
        <p:spPr>
          <a:xfrm>
            <a:off x="6091275" y="1335024"/>
            <a:ext cx="9144" cy="490041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3389223"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725375"/>
            <a:ext cx="311490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остаётся в человеке до следующего обследования</a:t>
            </a:r>
          </a:p>
        </p:txBody>
      </p:sp>
      <p:sp>
        <p:nvSpPr>
          <p:cNvPr id="7" name="TextBox 6"/>
          <p:cNvSpPr txBox="1"/>
          <p:nvPr/>
        </p:nvSpPr>
        <p:spPr>
          <a:xfrm>
            <a:off x="640080" y="2933220"/>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так и возникает болезнь, найденная между обследованиями</a:t>
            </a:r>
          </a:p>
        </p:txBody>
      </p:sp>
      <p:sp>
        <p:nvSpPr>
          <p:cNvPr id="8" name="Rounded Rectangle 7"/>
          <p:cNvSpPr/>
          <p:nvPr/>
        </p:nvSpPr>
        <p:spPr>
          <a:xfrm>
            <a:off x="4056735" y="1335024"/>
            <a:ext cx="3389223"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10" name="TextBox 9"/>
          <p:cNvSpPr txBox="1"/>
          <p:nvPr/>
        </p:nvSpPr>
        <p:spPr>
          <a:xfrm>
            <a:off x="4193895" y="1725375"/>
            <a:ext cx="3114903" cy="1105996"/>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снятие, кровотечение, гистология, повторный визит</a:t>
            </a:r>
          </a:p>
        </p:txBody>
      </p:sp>
      <p:sp>
        <p:nvSpPr>
          <p:cNvPr id="11" name="TextBox 10"/>
          <p:cNvSpPr txBox="1"/>
          <p:nvPr/>
        </p:nvSpPr>
        <p:spPr>
          <a:xfrm>
            <a:off x="4193895" y="2831371"/>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ложной тревоги считается в осложнениях и визитах</a:t>
            </a:r>
          </a:p>
        </p:txBody>
      </p:sp>
      <p:sp>
        <p:nvSpPr>
          <p:cNvPr id="12" name="Rounded Rectangle 11"/>
          <p:cNvSpPr/>
          <p:nvPr/>
        </p:nvSpPr>
        <p:spPr>
          <a:xfrm>
            <a:off x="374904" y="3584307"/>
            <a:ext cx="11441887" cy="2412286"/>
          </a:xfrm>
          <a:prstGeom prst="roundRect">
            <a:avLst>
              <a:gd name="adj" fmla="val 1263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675747"/>
            <a:ext cx="11112703"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несимметричность двух цен назначил орган здравоохранения, когда решал, кого и с какой периодичностью звать: порог здесь не свойство модели и не выбор врача</a:t>
            </a:r>
          </a:p>
          <a:p>
            <a:pPr algn="l">
              <a:lnSpc>
                <a:spcPct val="126000"/>
              </a:lnSpc>
              <a:spcBef>
                <a:spcPts val="700"/>
              </a:spcBef>
            </a:pPr>
            <a:r>
              <a:rPr sz="1500" b="0" i="0">
                <a:solidFill>
                  <a:srgbClr val="21295C"/>
                </a:solidFill>
                <a:latin typeface="Arial"/>
              </a:rPr>
              <a:t/>
            </a:r>
            <a:r>
              <a:rPr sz="1500" b="0" i="0">
                <a:solidFill>
                  <a:srgbClr val="21295C"/>
                </a:solidFill>
                <a:latin typeface="Arial"/>
              </a:rPr>
              <a:t>• в инженерной работе о промахе сообщает ближайшая сборка или проверка, в тот же день</a:t>
            </a:r>
          </a:p>
          <a:p>
            <a:pPr algn="l">
              <a:lnSpc>
                <a:spcPct val="126000"/>
              </a:lnSpc>
              <a:spcBef>
                <a:spcPts val="700"/>
              </a:spcBef>
            </a:pPr>
            <a:r>
              <a:rPr sz="1500" b="0" i="0">
                <a:solidFill>
                  <a:srgbClr val="21295C"/>
                </a:solidFill>
                <a:latin typeface="Arial"/>
              </a:rPr>
              <a:t/>
            </a:r>
            <a:r>
              <a:rPr sz="1500" b="0" i="0">
                <a:solidFill>
                  <a:srgbClr val="21295C"/>
                </a:solidFill>
                <a:latin typeface="Arial"/>
              </a:rPr>
              <a:t>• здесь ближайший прибор — следующий визит того же пациента, через годы и к другому врачу</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Поэтому три опоры и считают за человека: сам он узнать не может.</a:t>
            </a:r>
          </a:p>
        </p:txBody>
      </p:sp>
      <p:sp>
        <p:nvSpPr>
          <p:cNvPr id="14" name="Rounded Rectangle 13"/>
          <p:cNvSpPr/>
          <p:nvPr/>
        </p:nvSpPr>
        <p:spPr>
          <a:xfrm>
            <a:off x="7756855" y="1335024"/>
            <a:ext cx="3931920" cy="2325253"/>
          </a:xfrm>
          <a:prstGeom prst="roundRect">
            <a:avLst>
              <a:gd name="adj" fmla="val 13108"/>
            </a:avLst>
          </a:prstGeom>
          <a:solidFill>
            <a:srgbClr val="F4F7FA"/>
          </a:solidFill>
          <a:ln w="19050">
            <a:solidFill>
              <a:srgbClr val="1C7293"/>
            </a:solidFill>
          </a:ln>
          <a:effectLst/>
        </p:spPr>
        <p:txBody>
          <a:bodyPr rtlCol="0" anchor="ctr"/>
          <a:lstStyle/>
          <a:p>
            <a:pPr algn="ctr"/>
          </a:p>
        </p:txBody>
      </p:sp>
      <p:pic>
        <p:nvPicPr>
          <p:cNvPr id="15" name="Picture 14" descr="s90-ekran-protsedury-panel-b.jpg"/>
          <p:cNvPicPr>
            <a:picLocks noChangeAspect="1"/>
          </p:cNvPicPr>
          <p:nvPr/>
        </p:nvPicPr>
        <p:blipFill>
          <a:blip r:embed="rId2"/>
          <a:stretch>
            <a:fillRect/>
          </a:stretch>
        </p:blipFill>
        <p:spPr>
          <a:xfrm>
            <a:off x="7894015" y="1472184"/>
            <a:ext cx="3657600" cy="2050933"/>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Иллюстрация: Kader и соавт., npj Digital Medicine 2025, рис. 3, панель b</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оба классических режима в одной единице</a:t>
            </a:r>
          </a:p>
        </p:txBody>
      </p:sp>
      <p:sp>
        <p:nvSpPr>
          <p:cNvPr id="4" name="Rounded Rectangle 3"/>
          <p:cNvSpPr/>
          <p:nvPr/>
        </p:nvSpPr>
        <p:spPr>
          <a:xfrm>
            <a:off x="502920"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 БЫЛО → СТАЛО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 БЫЛО → СТАЛО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3014704"/>
            <a:ext cx="11441887" cy="2561035"/>
          </a:xfrm>
          <a:prstGeom prst="roundRect">
            <a:avLst>
              <a:gd name="adj" fmla="val 1190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6144"/>
            <a:ext cx="5373471" cy="29535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время выведения прибора удлинили с шести минут до девяти.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первый режим стоит </a:t>
            </a:r>
            <a:r>
              <a:rPr sz="1500" b="1" i="0">
                <a:solidFill>
                  <a:srgbClr val="21295C"/>
                </a:solidFill>
                <a:latin typeface="Arial"/>
              </a:rPr>
              <a:t>трёх минут</a:t>
            </a:r>
            <a:r>
              <a:rPr sz="1500" b="0" i="0">
                <a:solidFill>
                  <a:srgbClr val="21295C"/>
                </a:solidFill>
                <a:latin typeface="Arial"/>
              </a:rPr>
              <a:t> времени врача на каждой процедуре, второй — присутствия второго человека</a:t>
            </a:r>
          </a:p>
        </p:txBody>
      </p:sp>
      <p:sp>
        <p:nvSpPr>
          <p:cNvPr id="14" name="TextBox 13"/>
          <p:cNvSpPr txBox="1"/>
          <p:nvPr/>
        </p:nvSpPr>
        <p:spPr>
          <a:xfrm>
            <a:off x="6278727"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базы у двух приростов разные: </a:t>
            </a:r>
            <a:r>
              <a:rPr sz="1500" b="1" i="0">
                <a:solidFill>
                  <a:srgbClr val="21295C"/>
                </a:solidFill>
                <a:latin typeface="Arial"/>
              </a:rPr>
              <a:t>27,1</a:t>
            </a:r>
            <a:r>
              <a:rPr sz="1500" b="0" i="0">
                <a:solidFill>
                  <a:srgbClr val="21295C"/>
                </a:solidFill>
                <a:latin typeface="Arial"/>
              </a:rPr>
              <a:t> и </a:t>
            </a:r>
            <a:r>
              <a:rPr sz="1500" b="1" i="0">
                <a:solidFill>
                  <a:srgbClr val="21295C"/>
                </a:solidFill>
                <a:latin typeface="Arial"/>
              </a:rPr>
              <a:t>39,3</a:t>
            </a:r>
            <a:r>
              <a:rPr sz="1500" b="0" i="0">
                <a:solidFill>
                  <a:srgbClr val="21295C"/>
                </a:solidFill>
                <a:latin typeface="Arial"/>
              </a:rPr>
              <a:t> — разные исходные доли в разных центрах и популяциях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прироста между собой не сравниваются; каждый сравнивается с приростом от помощника в своей работе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дают прирост того же порядка, что помощник, или больше.</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Расхода навыка у этих двух режимов не измерял никто.</a:t>
            </a:r>
          </a:p>
        </p:txBody>
      </p:sp>
      <p:sp>
        <p:nvSpPr>
          <p:cNvPr id="15" name="Rectangle 14"/>
          <p:cNvSpPr/>
          <p:nvPr/>
        </p:nvSpPr>
        <p:spPr>
          <a:xfrm>
            <a:off x="6091275" y="3106144"/>
            <a:ext cx="9144" cy="228671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Zhao S., Yang X., … Bai Y., Clinical Gastroenterology and Hepatology 2022;20(2):e168–e181, DOI 10.1016/j.cgh.2020.11.019</a:t>
            </a:r>
            <a:r>
              <a:rPr sz="1200" b="0" i="1">
                <a:solidFill>
                  <a:srgbClr val="1C7293"/>
                </a:solidFill>
                <a:latin typeface="Arial"/>
              </a:rPr>
              <a:t> · </a:t>
            </a:r>
            <a:r>
              <a:rPr sz="1200" b="0" i="1" u="sng">
                <a:solidFill>
                  <a:srgbClr val="065A82"/>
                </a:solidFill>
                <a:latin typeface="Arial"/>
                <a:hlinkClick r:id="rId3"/>
              </a:rPr>
              <a:t>Xu L. и соавт., Gastroenterology Research and Practice 2016;2016:7631981, DOI 10.1155/2016/7631981</a:t>
            </a:r>
            <a:r>
              <a:rPr sz="1200" b="0" i="1">
                <a:solidFill>
                  <a:srgbClr val="1C7293"/>
                </a:solidFill>
                <a:latin typeface="Arial"/>
              </a:rPr>
              <a:t> · </a:t>
            </a:r>
            <a:r>
              <a:rPr sz="1200" b="0" i="1" u="sng">
                <a:solidFill>
                  <a:srgbClr val="065A82"/>
                </a:solidFill>
                <a:latin typeface="Arial"/>
                <a:hlinkClick r:id="rId4"/>
              </a:rPr>
              <a:t>Lei X. и соавт., International Journal of Colorectal Disease 2024;39(1):19, DOI 10.1007/s00384-023-04585-5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обнаружения упала там, где помощника не было</a:t>
            </a:r>
          </a:p>
        </p:txBody>
      </p:sp>
      <p:sp>
        <p:nvSpPr>
          <p:cNvPr id="4" name="Rounded Rectangle 3"/>
          <p:cNvSpPr/>
          <p:nvPr/>
        </p:nvSpPr>
        <p:spPr>
          <a:xfrm>
            <a:off x="502920"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ОБНАРУЖЕНИЯ БЕЗ ПОМОЩНИКА: ДО ВНЕДРЕНИЯ → ПОСЛЕ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 процедур</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6178143"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6,0 процентного пункта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девятнадцать врачей, средний стаж 28 лет</a:t>
            </a:r>
          </a:p>
        </p:txBody>
      </p:sp>
      <p:sp>
        <p:nvSpPr>
          <p:cNvPr id="12" name="Rounded Rectangle 11"/>
          <p:cNvSpPr/>
          <p:nvPr/>
        </p:nvSpPr>
        <p:spPr>
          <a:xfrm>
            <a:off x="374904" y="2799689"/>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названа здесь, на экране:</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опубликованное исправление, три письма и ответ авторов</a:t>
            </a:r>
          </a:p>
        </p:txBody>
      </p:sp>
      <p:sp>
        <p:nvSpPr>
          <p:cNvPr id="14" name="TextBox 13"/>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 числа 795 меняется знаменатель: в раннем окне помощника ещё не было, поэтому 795 значит одновременно «без помощника» и «всего»; в позднем окне это 648 и 1 382</a:t>
            </a:r>
          </a:p>
        </p:txBody>
      </p:sp>
      <p:sp>
        <p:nvSpPr>
          <p:cNvPr id="15" name="Rectangle 14"/>
          <p:cNvSpPr/>
          <p:nvPr/>
        </p:nvSpPr>
        <p:spPr>
          <a:xfrm>
            <a:off x="6091275" y="2891129"/>
            <a:ext cx="9144" cy="29402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Romańczyk M., Kitala D.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опубликованное исправление 2025;10(11):e12, три письма и ответ авторов 2025;10(12):1060–1062</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исполнитель тот же, но стал хуже</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ВИДЕН ЗА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наблюдения после внедрения помощника</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ДРУГАЯ ОТРАСЛЬ: ПРАКТИКА С МОДЕЛЬЮ</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на задачах математики; полевое рандомизированное</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ПЕРЕНОС: ЭКЗАМЕН БЕЗ МОДЕЛИ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группы со свободным доступом; с ограничителями — на уровне контроля</a:t>
            </a:r>
          </a:p>
        </p:txBody>
      </p:sp>
      <p:sp>
        <p:nvSpPr>
          <p:cNvPr id="16" name="TextBox 15"/>
          <p:cNvSpPr txBox="1"/>
          <p:nvPr/>
        </p:nvSpPr>
        <p:spPr>
          <a:xfrm>
            <a:off x="502920" y="352937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Та же рука</a:t>
            </a:r>
          </a:p>
        </p:txBody>
      </p:sp>
      <p:sp>
        <p:nvSpPr>
          <p:cNvPr id="17" name="Rounded Rectangle 16"/>
          <p:cNvSpPr/>
          <p:nvPr/>
        </p:nvSpPr>
        <p:spPr>
          <a:xfrm>
            <a:off x="1920240" y="3492795"/>
            <a:ext cx="4811115"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38515"/>
            <a:ext cx="4646523"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 подсветкой — находят больше</a:t>
            </a:r>
          </a:p>
        </p:txBody>
      </p:sp>
      <p:sp>
        <p:nvSpPr>
          <p:cNvPr id="19" name="Rounded Rectangle 18"/>
          <p:cNvSpPr/>
          <p:nvPr/>
        </p:nvSpPr>
        <p:spPr>
          <a:xfrm>
            <a:off x="6877659" y="3492795"/>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538515"/>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подсветки — находят меньше, чем до внедрения</a:t>
            </a:r>
          </a:p>
        </p:txBody>
      </p:sp>
      <p:sp>
        <p:nvSpPr>
          <p:cNvPr id="21" name="TextBox 20"/>
          <p:cNvSpPr txBox="1"/>
          <p:nvPr/>
        </p:nvSpPr>
        <p:spPr>
          <a:xfrm>
            <a:off x="502920" y="400476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объём, порядок шагов и рука прежние — изменилось состояние самой руки</a:t>
            </a:r>
          </a:p>
        </p:txBody>
      </p:sp>
      <p:sp>
        <p:nvSpPr>
          <p:cNvPr id="22" name="Rounded Rectangle 21"/>
          <p:cNvSpPr/>
          <p:nvPr/>
        </p:nvSpPr>
        <p:spPr>
          <a:xfrm>
            <a:off x="374904" y="4307448"/>
            <a:ext cx="11441887" cy="1928759"/>
          </a:xfrm>
          <a:prstGeom prst="roundRect">
            <a:avLst>
              <a:gd name="adj" fmla="val 1580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398888"/>
            <a:ext cx="11112703" cy="183731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Дало</a:t>
            </a:r>
            <a:r>
              <a:rPr sz="1200" b="0" i="0">
                <a:solidFill>
                  <a:srgbClr val="21295C"/>
                </a:solidFill>
                <a:latin typeface="Arial"/>
              </a:rPr>
              <a:t> — с помощником находят больше. </a:t>
            </a:r>
            <a:r>
              <a:rPr sz="1200" b="1" i="0">
                <a:solidFill>
                  <a:srgbClr val="21295C"/>
                </a:solidFill>
                <a:latin typeface="Arial"/>
              </a:rPr>
              <a:t>Потребовало</a:t>
            </a:r>
            <a:r>
              <a:rPr sz="1200" b="0" i="0">
                <a:solidFill>
                  <a:srgbClr val="21295C"/>
                </a:solidFill>
                <a:latin typeface="Arial"/>
              </a:rPr>
              <a:t> — умения искать самому. </a:t>
            </a:r>
            <a:r>
              <a:rPr sz="1200" b="1" i="0">
                <a:solidFill>
                  <a:srgbClr val="21295C"/>
                </a:solidFill>
                <a:latin typeface="Arial"/>
              </a:rPr>
              <a:t>В сумме</a:t>
            </a:r>
            <a:r>
              <a:rPr sz="120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200" b="0" i="0">
                <a:solidFill>
                  <a:srgbClr val="21295C"/>
                </a:solidFill>
                <a:latin typeface="Arial"/>
              </a:rPr>
              <a:t/>
            </a:r>
            <a:r>
              <a:rPr sz="1200" b="1" i="0">
                <a:solidFill>
                  <a:srgbClr val="21295C"/>
                </a:solidFill>
                <a:latin typeface="Arial"/>
              </a:rPr>
              <a:t>Исполнитель тот же, но стал хуже.</a:t>
            </a:r>
          </a:p>
          <a:p>
            <a:pPr algn="l">
              <a:lnSpc>
                <a:spcPct val="126000"/>
              </a:lnSpc>
              <a:spcBef>
                <a:spcPts val="700"/>
              </a:spcBef>
            </a:pPr>
            <a:r>
              <a:rPr sz="1200" b="0" i="0">
                <a:solidFill>
                  <a:srgbClr val="21295C"/>
                </a:solidFill>
                <a:latin typeface="Arial"/>
              </a:rPr>
              <a:t/>
            </a:r>
            <a:r>
              <a:rPr sz="1200" b="0" i="0">
                <a:solidFill>
                  <a:srgbClr val="21295C"/>
                </a:solidFill>
                <a:latin typeface="Arial"/>
              </a:rPr>
              <a:t>• тот же знак измерен рандомизированно, но в учёбе — </a:t>
            </a:r>
            <a:r>
              <a:rPr sz="1200" b="1" i="0">
                <a:solidFill>
                  <a:srgbClr val="21295C"/>
                </a:solidFill>
                <a:latin typeface="Arial"/>
              </a:rPr>
              <a:t>повторением клинической находки это не является</a:t>
            </a:r>
            <a:r>
              <a:rPr sz="1200" b="0" i="0">
                <a:solidFill>
                  <a:srgbClr val="21295C"/>
                </a:solidFill>
                <a:latin typeface="Arial"/>
              </a:rPr>
              <a:t>: другая работа, другие люди, другая задача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 у группы с учительскими ограничителями экзамен примерно на уровне контроля: средство тоже измерено</a:t>
            </a:r>
          </a:p>
          <a:p>
            <a:pPr algn="l">
              <a:lnSpc>
                <a:spcPct val="126000"/>
              </a:lnSpc>
              <a:spcBef>
                <a:spcPts val="700"/>
              </a:spcBef>
            </a:pPr>
            <a:r>
              <a:rPr sz="1200" b="0" i="0">
                <a:solidFill>
                  <a:srgbClr val="21295C"/>
                </a:solidFill>
                <a:latin typeface="Arial"/>
              </a:rPr>
              <a:t/>
            </a:r>
            <a:r>
              <a:rPr sz="1200" b="1" i="0">
                <a:solidFill>
                  <a:srgbClr val="21295C"/>
                </a:solidFill>
                <a:latin typeface="Arial"/>
              </a:rPr>
              <a:t>У кого за последние три месяца был рабочий день без помощника — как он прошёл?</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Bastani H., Bastani O., Sungu A. и соавт., PNAS 2025, DOI 10.1073/pnas.2422633122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ОДНА ОШИБКА ОБРЫВАЕТ ДОВЕРИЕ</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ДОВЕРИЕ ЗА МЕСЯЦЫ РЕАЛЬНОЙ РАБОТЫ</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12" name="TextBox 11"/>
          <p:cNvSpPr txBox="1"/>
          <p:nvPr/>
        </p:nvSpPr>
        <p:spPr>
          <a:xfrm>
            <a:off x="8207044" y="1725375"/>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579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величина ОПРОСНАЯ: сказали сами участники, телеметрии нет</a:t>
            </a:r>
          </a:p>
        </p:txBody>
      </p:sp>
      <p:sp>
        <p:nvSpPr>
          <p:cNvPr id="14" name="Rounded Rectangle 13"/>
          <p:cNvSpPr/>
          <p:nvPr/>
        </p:nvSpPr>
        <p:spPr>
          <a:xfrm>
            <a:off x="374904" y="3161820"/>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всё, что есть про доверие врача, снято в один сеанс</a:t>
            </a:r>
          </a:p>
        </p:txBody>
      </p:sp>
      <p:sp>
        <p:nvSpPr>
          <p:cNvPr id="16" name="TextBox 15"/>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устройство интерфейса; режим инструмента здесь ни при чём, и найдено оно вне медицины.</a:t>
            </a:r>
          </a:p>
        </p:txBody>
      </p:sp>
      <p:sp>
        <p:nvSpPr>
          <p:cNvPr id="17" name="Rectangle 16"/>
          <p:cNvSpPr/>
          <p:nvPr/>
        </p:nvSpPr>
        <p:spPr>
          <a:xfrm>
            <a:off x="6091275" y="3253260"/>
            <a:ext cx="9144" cy="1663105"/>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обновление замера производительности разработчиков, 24 февраля 2026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 кто решает: исполнитель тот же, но стал хуже — 28,4 против 22,4 из ста</a:t>
            </a:r>
          </a:p>
        </p:txBody>
      </p:sp>
      <p:sp>
        <p:nvSpPr>
          <p:cNvPr id="4" name="Rounded Rectangle 3"/>
          <p:cNvSpPr/>
          <p:nvPr/>
        </p:nvSpPr>
        <p:spPr>
          <a:xfrm>
            <a:off x="374904" y="1243584"/>
            <a:ext cx="11441887" cy="4965702"/>
          </a:xfrm>
          <a:prstGeom prst="roundRect">
            <a:avLst>
              <a:gd name="adj" fmla="val 613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Что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 включённым помощником находят больше: прирост измерен и повторён многократно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считать показатели самого врача: долю обнаружения и время выведения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снять объём рутинной перепроверки: человеческого чтения ниже на </a:t>
            </a:r>
            <a:r>
              <a:rPr sz="1200" b="1" i="0">
                <a:solidFill>
                  <a:srgbClr val="21295C"/>
                </a:solidFill>
                <a:latin typeface="Arial"/>
              </a:rPr>
              <a:t>44,3 процента</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не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поддерживать навык: измерено обратное — </a:t>
            </a:r>
            <a:r>
              <a:rPr sz="1200" b="1" i="0">
                <a:solidFill>
                  <a:srgbClr val="21295C"/>
                </a:solidFill>
                <a:latin typeface="Arial"/>
              </a:rPr>
              <a:t>28,4 против 22,4 из ста</a:t>
            </a:r>
            <a:r>
              <a:rPr sz="1200" b="0" i="0">
                <a:solidFill>
                  <a:srgbClr val="21295C"/>
                </a:solidFill>
                <a:latin typeface="Arial"/>
              </a:rPr>
              <a:t> без помощника</a:t>
            </a:r>
          </a:p>
          <a:p>
            <a:pPr algn="l">
              <a:lnSpc>
                <a:spcPct val="126000"/>
              </a:lnSpc>
              <a:spcBef>
                <a:spcPts val="700"/>
              </a:spcBef>
            </a:pPr>
            <a:r>
              <a:rPr sz="1200" b="0" i="0">
                <a:solidFill>
                  <a:srgbClr val="21295C"/>
                </a:solidFill>
                <a:latin typeface="Arial"/>
              </a:rPr>
              <a:t/>
            </a:r>
            <a:r>
              <a:rPr sz="1200" b="0" i="0">
                <a:solidFill>
                  <a:srgbClr val="21295C"/>
                </a:solidFill>
                <a:latin typeface="Arial"/>
              </a:rPr>
              <a:t>• дать врачу обратную связь о пропуске: внутри процедуры её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измерить доверие за месяцы работы: таких измерений нет ни у кого</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стало с работой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исполнитель тот же, но стал хуже</a:t>
            </a:r>
            <a:r>
              <a:rPr sz="1200" b="0" i="0">
                <a:solidFill>
                  <a:srgbClr val="21295C"/>
                </a:solidFill>
                <a:latin typeface="Arial"/>
              </a:rPr>
              <a:t> — место, объём и рука прежние, изменилось состояние руки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появился шаг</a:t>
            </a:r>
            <a:r>
              <a:rPr sz="1200" b="0" i="0">
                <a:solidFill>
                  <a:srgbClr val="21295C"/>
                </a:solidFill>
                <a:latin typeface="Arial"/>
              </a:rPr>
              <a:t> — посредник, переводящий вывод модели на язык, которому поверит врач</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и второй шаг</a:t>
            </a:r>
            <a:r>
              <a:rPr sz="1200" b="0" i="0">
                <a:solidFill>
                  <a:srgbClr val="21295C"/>
                </a:solidFill>
                <a:latin typeface="Arial"/>
              </a:rPr>
              <a:t> — целевой арбитраж расхождения вместо рутинной перепроверки каждого случая: структура защиты от ошибки сменилась целиком</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доверие выше у тех, кто работает с моделью руками: точечные оценки есть, </a:t>
            </a:r>
            <a:r>
              <a:rPr sz="1200" b="1" i="0">
                <a:solidFill>
                  <a:srgbClr val="21295C"/>
                </a:solidFill>
                <a:latin typeface="Arial"/>
              </a:rPr>
              <a:t>значимости нет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это держит</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доля обнаружения по каждому врачу отдельно, из обычной работы</a:t>
            </a:r>
          </a:p>
          <a:p>
            <a:pPr algn="l">
              <a:lnSpc>
                <a:spcPct val="126000"/>
              </a:lnSpc>
              <a:spcBef>
                <a:spcPts val="700"/>
              </a:spcBef>
            </a:pPr>
            <a:r>
              <a:rPr sz="1200" b="0" i="0">
                <a:solidFill>
                  <a:srgbClr val="21295C"/>
                </a:solidFill>
                <a:latin typeface="Arial"/>
              </a:rPr>
              <a:t/>
            </a:r>
            <a:r>
              <a:rPr sz="1200" b="0" i="0">
                <a:solidFill>
                  <a:srgbClr val="21295C"/>
                </a:solidFill>
                <a:latin typeface="Arial"/>
              </a:rPr>
              <a:t>• время выведения прибора с назначенной нижней границей, по таймеру</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прочерк: врача без помощника не измеряет ни одна процедура ни в одной юрисдикции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Повторения на реальной работе нет, и пробел назван числом: 22 отдельные попытки поиска.</a:t>
            </a:r>
            <a:r>
              <a:rPr sz="1200" b="0" i="0">
                <a:solidFill>
                  <a:srgbClr val="21295C"/>
                </a:solidFill>
                <a:latin typeface="Arial"/>
              </a:rPr>
              <a:t> Продольного измерения для тех, кто учился сразу с помощником, не существует вовсе.</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девять форм, счёт приписок, накопительная карта и ответ на вопрос лекции.</a:t>
            </a:r>
          </a:p>
        </p:txBody>
      </p:sp>
      <p:sp>
        <p:nvSpPr>
          <p:cNvPr id="7" name="Rectangle 6"/>
          <p:cNvSpPr/>
          <p:nvPr/>
        </p:nvSpPr>
        <p:spPr>
          <a:xfrm>
            <a:off x="6091275" y="1335024"/>
            <a:ext cx="9144" cy="4691382"/>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 с опубликованным исправлением и тремя письмами</a:t>
            </a:r>
            <a:r>
              <a:rPr sz="1200" b="0" i="1">
                <a:solidFill>
                  <a:srgbClr val="1C7293"/>
                </a:solidFill>
                <a:latin typeface="Arial"/>
              </a:rPr>
              <a:t> · </a:t>
            </a:r>
            <a:r>
              <a:rPr sz="1200" b="0" i="1">
                <a:solidFill>
                  <a:srgbClr val="1C7293"/>
                </a:solidFill>
                <a:latin typeface="Arial"/>
              </a:rPr>
              <a:t>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208784" cy="419844"/>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16176"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
            </a:r>
          </a:p>
        </p:txBody>
      </p:sp>
      <p:sp>
        <p:nvSpPr>
          <p:cNvPr id="7" name="Rectangle 6"/>
          <p:cNvSpPr/>
          <p:nvPr/>
        </p:nvSpPr>
        <p:spPr>
          <a:xfrm>
            <a:off x="2748280" y="1335024"/>
            <a:ext cx="2764776" cy="419844"/>
          </a:xfrm>
          <a:prstGeom prst="rect">
            <a:avLst/>
          </a:prstGeom>
          <a:solidFill>
            <a:srgbClr val="065A82"/>
          </a:solidFill>
          <a:ln>
            <a:noFill/>
          </a:ln>
          <a:effectLst/>
        </p:spPr>
        <p:txBody>
          <a:bodyPr rtlCol="0" anchor="ctr"/>
          <a:lstStyle/>
          <a:p>
            <a:pPr algn="ctr"/>
          </a:p>
        </p:txBody>
      </p:sp>
      <p:sp>
        <p:nvSpPr>
          <p:cNvPr id="8" name="TextBox 7"/>
          <p:cNvSpPr txBox="1"/>
          <p:nvPr/>
        </p:nvSpPr>
        <p:spPr>
          <a:xfrm>
            <a:off x="2894584" y="1335024"/>
            <a:ext cx="2472168"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текст</a:t>
            </a:r>
          </a:p>
        </p:txBody>
      </p:sp>
      <p:sp>
        <p:nvSpPr>
          <p:cNvPr id="9" name="Rectangle 8"/>
          <p:cNvSpPr/>
          <p:nvPr/>
        </p:nvSpPr>
        <p:spPr>
          <a:xfrm>
            <a:off x="5513057" y="1335024"/>
            <a:ext cx="3123454" cy="419844"/>
          </a:xfrm>
          <a:prstGeom prst="rect">
            <a:avLst/>
          </a:prstGeom>
          <a:solidFill>
            <a:srgbClr val="065A82"/>
          </a:solidFill>
          <a:ln>
            <a:noFill/>
          </a:ln>
          <a:effectLst/>
        </p:spPr>
        <p:txBody>
          <a:bodyPr rtlCol="0" anchor="ctr"/>
          <a:lstStyle/>
          <a:p>
            <a:pPr algn="ctr"/>
          </a:p>
        </p:txBody>
      </p:sp>
      <p:sp>
        <p:nvSpPr>
          <p:cNvPr id="10" name="TextBox 9"/>
          <p:cNvSpPr txBox="1"/>
          <p:nvPr/>
        </p:nvSpPr>
        <p:spPr>
          <a:xfrm>
            <a:off x="5659361" y="1335024"/>
            <a:ext cx="2830846"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изображение</a:t>
            </a:r>
          </a:p>
        </p:txBody>
      </p:sp>
      <p:sp>
        <p:nvSpPr>
          <p:cNvPr id="11" name="Rectangle 10"/>
          <p:cNvSpPr/>
          <p:nvPr/>
        </p:nvSpPr>
        <p:spPr>
          <a:xfrm>
            <a:off x="8636512" y="1335024"/>
            <a:ext cx="3015686" cy="419844"/>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82816" y="1335024"/>
            <a:ext cx="2723078"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структурированные данные</a:t>
            </a:r>
          </a:p>
        </p:txBody>
      </p:sp>
      <p:sp>
        <p:nvSpPr>
          <p:cNvPr id="13" name="Rectangle 12"/>
          <p:cNvSpPr/>
          <p:nvPr/>
        </p:nvSpPr>
        <p:spPr>
          <a:xfrm>
            <a:off x="539496" y="1754868"/>
            <a:ext cx="2208784" cy="419844"/>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54868"/>
            <a:ext cx="191617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классификация</a:t>
            </a:r>
          </a:p>
        </p:txBody>
      </p:sp>
      <p:sp>
        <p:nvSpPr>
          <p:cNvPr id="15" name="Rectangle 14"/>
          <p:cNvSpPr/>
          <p:nvPr/>
        </p:nvSpPr>
        <p:spPr>
          <a:xfrm>
            <a:off x="2748280" y="1754868"/>
            <a:ext cx="2764776" cy="41984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94584" y="1754868"/>
            <a:ext cx="247216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17" name="Rectangle 16"/>
          <p:cNvSpPr/>
          <p:nvPr/>
        </p:nvSpPr>
        <p:spPr>
          <a:xfrm>
            <a:off x="5513057" y="1754868"/>
            <a:ext cx="3123454" cy="419844"/>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659361" y="1754868"/>
            <a:ext cx="283084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(отбор · анализ · диагноз)</a:t>
            </a:r>
          </a:p>
        </p:txBody>
      </p:sp>
      <p:sp>
        <p:nvSpPr>
          <p:cNvPr id="19" name="Rectangle 18"/>
          <p:cNvSpPr/>
          <p:nvPr/>
        </p:nvSpPr>
        <p:spPr>
          <a:xfrm>
            <a:off x="8636512" y="1754868"/>
            <a:ext cx="3015686" cy="419844"/>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82816" y="1754868"/>
            <a:ext cx="272307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1" name="Rectangle 20"/>
          <p:cNvSpPr/>
          <p:nvPr/>
        </p:nvSpPr>
        <p:spPr>
          <a:xfrm>
            <a:off x="539496" y="2174713"/>
            <a:ext cx="2208784" cy="419844"/>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74713"/>
            <a:ext cx="191617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распознавание</a:t>
            </a:r>
          </a:p>
        </p:txBody>
      </p:sp>
      <p:sp>
        <p:nvSpPr>
          <p:cNvPr id="23" name="Rectangle 22"/>
          <p:cNvSpPr/>
          <p:nvPr/>
        </p:nvSpPr>
        <p:spPr>
          <a:xfrm>
            <a:off x="2748280" y="2174713"/>
            <a:ext cx="2764776" cy="419844"/>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94584" y="2174713"/>
            <a:ext cx="247216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5" name="Rectangle 24"/>
          <p:cNvSpPr/>
          <p:nvPr/>
        </p:nvSpPr>
        <p:spPr>
          <a:xfrm>
            <a:off x="5513057" y="2174713"/>
            <a:ext cx="3123454" cy="419844"/>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659361" y="2174713"/>
            <a:ext cx="283084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(отбор · диагноз · удержание)</a:t>
            </a:r>
          </a:p>
        </p:txBody>
      </p:sp>
      <p:sp>
        <p:nvSpPr>
          <p:cNvPr id="27" name="Rectangle 26"/>
          <p:cNvSpPr/>
          <p:nvPr/>
        </p:nvSpPr>
        <p:spPr>
          <a:xfrm>
            <a:off x="8636512" y="2174713"/>
            <a:ext cx="3015686" cy="419844"/>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82816" y="2174713"/>
            <a:ext cx="272307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9" name="Rectangle 28"/>
          <p:cNvSpPr/>
          <p:nvPr/>
        </p:nvSpPr>
        <p:spPr>
          <a:xfrm>
            <a:off x="539496" y="2594557"/>
            <a:ext cx="2208784" cy="419844"/>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94557"/>
            <a:ext cx="191617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поиск с генерацией</a:t>
            </a:r>
          </a:p>
        </p:txBody>
      </p:sp>
      <p:sp>
        <p:nvSpPr>
          <p:cNvPr id="31" name="Rectangle 30"/>
          <p:cNvSpPr/>
          <p:nvPr/>
        </p:nvSpPr>
        <p:spPr>
          <a:xfrm>
            <a:off x="2748280" y="2594557"/>
            <a:ext cx="2764776" cy="419844"/>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94584" y="2594557"/>
            <a:ext cx="247216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(отбор · диагноз · запись)</a:t>
            </a:r>
          </a:p>
        </p:txBody>
      </p:sp>
      <p:sp>
        <p:nvSpPr>
          <p:cNvPr id="33" name="Rectangle 32"/>
          <p:cNvSpPr/>
          <p:nvPr/>
        </p:nvSpPr>
        <p:spPr>
          <a:xfrm>
            <a:off x="5513057" y="2594557"/>
            <a:ext cx="3123454" cy="419844"/>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659361" y="2594557"/>
            <a:ext cx="283084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5" name="Rectangle 34"/>
          <p:cNvSpPr/>
          <p:nvPr/>
        </p:nvSpPr>
        <p:spPr>
          <a:xfrm>
            <a:off x="8636512" y="2594557"/>
            <a:ext cx="3015686" cy="41984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82816" y="2594557"/>
            <a:ext cx="272307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7" name="Rectangle 36"/>
          <p:cNvSpPr/>
          <p:nvPr/>
        </p:nvSpPr>
        <p:spPr>
          <a:xfrm>
            <a:off x="539496" y="3014402"/>
            <a:ext cx="2208784" cy="419844"/>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14402"/>
            <a:ext cx="191617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прогноз</a:t>
            </a:r>
          </a:p>
        </p:txBody>
      </p:sp>
      <p:sp>
        <p:nvSpPr>
          <p:cNvPr id="39" name="Rectangle 38"/>
          <p:cNvSpPr/>
          <p:nvPr/>
        </p:nvSpPr>
        <p:spPr>
          <a:xfrm>
            <a:off x="2748280" y="3014402"/>
            <a:ext cx="2764776" cy="419844"/>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94584" y="3014402"/>
            <a:ext cx="247216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1" name="Rectangle 40"/>
          <p:cNvSpPr/>
          <p:nvPr/>
        </p:nvSpPr>
        <p:spPr>
          <a:xfrm>
            <a:off x="5513057" y="3014402"/>
            <a:ext cx="3123454" cy="419844"/>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659361" y="3014402"/>
            <a:ext cx="283084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3" name="Rectangle 42"/>
          <p:cNvSpPr/>
          <p:nvPr/>
        </p:nvSpPr>
        <p:spPr>
          <a:xfrm>
            <a:off x="8636512" y="3014402"/>
            <a:ext cx="3015686" cy="419844"/>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782816" y="3014402"/>
            <a:ext cx="272307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(анализ · наблюдение)</a:t>
            </a:r>
          </a:p>
        </p:txBody>
      </p:sp>
      <p:sp>
        <p:nvSpPr>
          <p:cNvPr id="45" name="TextBox 44"/>
          <p:cNvSpPr txBox="1"/>
          <p:nvPr/>
        </p:nvSpPr>
        <p:spPr>
          <a:xfrm>
            <a:off x="539496" y="3580550"/>
            <a:ext cx="11112703"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Полужирного в сетке нет, и это не упущение набора.</a:t>
            </a:r>
            <a:r>
              <a:rPr sz="1450" b="0" i="0">
                <a:solidFill>
                  <a:srgbClr val="21295C"/>
                </a:solidFill>
                <a:latin typeface="Arial"/>
              </a:rPr>
              <a:t> В скобках — кто занял клетку раньше; прочерк — пусто.</a:t>
            </a:r>
          </a:p>
        </p:txBody>
      </p:sp>
      <p:sp>
        <p:nvSpPr>
          <p:cNvPr id="46" name="TextBox 45"/>
          <p:cNvSpPr txBox="1"/>
          <p:nvPr/>
        </p:nvSpPr>
        <p:spPr>
          <a:xfrm>
            <a:off x="539496" y="4019200"/>
            <a:ext cx="11112703"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Клетка раздела лежит вне окна: это распознавание на видео</a:t>
            </a:r>
            <a:r>
              <a:rPr sz="1450" b="0" i="0">
                <a:solidFill>
                  <a:srgbClr val="21295C"/>
                </a:solidFill>
                <a:latin typeface="Arial"/>
              </a:rPr>
              <a:t> — подсветка на потоке кадров во время процедуры. Столбца «видео» в окне нет: оно собрано под клинику, где читают снимок и карту.</a:t>
            </a:r>
          </a:p>
        </p:txBody>
      </p:sp>
      <p:sp>
        <p:nvSpPr>
          <p:cNvPr id="47" name="TextBox 46"/>
          <p:cNvSpPr txBox="1"/>
          <p:nvPr/>
        </p:nvSpPr>
        <p:spPr>
          <a:xfrm>
            <a:off x="539496" y="4750196"/>
            <a:ext cx="11112703"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Этот раздел окну ни одной клетки не прибавил — его предмет стоит вне окна.</a:t>
            </a:r>
            <a:r>
              <a:rPr sz="1450" b="0" i="0">
                <a:solidFill>
                  <a:srgbClr val="21295C"/>
                </a:solidFill>
                <a:latin typeface="Arial"/>
              </a:rPr>
              <a:t> А доверие клетки не получает вовсе: режима в нём нет, и описывать эту плоскость приходится словами.</a:t>
            </a:r>
          </a:p>
        </p:txBody>
      </p:sp>
      <p:sp>
        <p:nvSpPr>
          <p:cNvPr id="48" name="Rounded Rectangle 47"/>
          <p:cNvSpPr/>
          <p:nvPr/>
        </p:nvSpPr>
        <p:spPr>
          <a:xfrm>
            <a:off x="630936" y="5582474"/>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481191"/>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подсветка на видео</a:t>
            </a:r>
            <a:r>
              <a:rPr sz="1450" b="0" i="0">
                <a:solidFill>
                  <a:srgbClr val="21295C"/>
                </a:solidFill>
                <a:latin typeface="Arial"/>
              </a:rPr>
              <a:t> — GI Genius · CAD EYE · ENDO-AID CADe</a:t>
            </a:r>
          </a:p>
        </p:txBody>
      </p:sp>
      <p:sp>
        <p:nvSpPr>
          <p:cNvPr id="50" name="Rounded Rectangle 49"/>
          <p:cNvSpPr/>
          <p:nvPr/>
        </p:nvSpPr>
        <p:spPr>
          <a:xfrm>
            <a:off x="630936" y="6021124"/>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919841"/>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второй читатель на снимке</a:t>
            </a:r>
            <a:r>
              <a:rPr sz="1450" b="0" i="0">
                <a:solidFill>
                  <a:srgbClr val="21295C"/>
                </a:solidFill>
                <a:latin typeface="Arial"/>
              </a:rPr>
              <a:t> — Transpara · Lunit INSIGHT · iCAD ProFound</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8. Разработка лекарства — удешевили начало, где узкое место</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человеком, который стал хуже. Здесь меняется масштаб: ранний шаг разработки подешевел многократно, а шаг, на котором стоит основной объём работы, не подешевел ни на сколько.</a:t>
            </a:r>
          </a:p>
        </p:txBody>
      </p:sp>
      <p:sp>
        <p:nvSpPr>
          <p:cNvPr id="9" name="TextBox 8"/>
          <p:cNvSpPr txBox="1"/>
          <p:nvPr/>
        </p:nvSpPr>
        <p:spPr>
          <a:xfrm>
            <a:off x="704088" y="3649744"/>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упоминания с числом и базой.</a:t>
            </a:r>
            <a:r>
              <a:rPr sz="1550" b="0" i="0">
                <a:solidFill>
                  <a:srgbClr val="21295C"/>
                </a:solidFill>
                <a:latin typeface="Arial"/>
              </a:rPr>
              <a:t> Разбор один: </a:t>
            </a:r>
            <a:r>
              <a:rPr sz="1550" b="1" i="0">
                <a:solidFill>
                  <a:srgbClr val="21295C"/>
                </a:solidFill>
                <a:latin typeface="Arial"/>
              </a:rPr>
              <a:t>Пример 1: компания, отказавшаяся от своего обещания</a:t>
            </a:r>
            <a:r>
              <a:rPr sz="1550" b="0" i="0">
                <a:solidFill>
                  <a:srgbClr val="21295C"/>
                </a:solidFill>
                <a:latin typeface="Arial"/>
              </a:rPr>
              <a:t>; упоминания стоят в своде раздела.</a:t>
            </a:r>
          </a:p>
        </p:txBody>
      </p:sp>
      <p:sp>
        <p:nvSpPr>
          <p:cNvPr id="10" name="TextBox 9"/>
          <p:cNvSpPr txBox="1"/>
          <p:nvPr/>
        </p:nvSpPr>
        <p:spPr>
          <a:xfrm>
            <a:off x="704088" y="472060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Здесь платит не человек:</a:t>
            </a:r>
            <a:r>
              <a:rPr sz="1550" b="0" i="0">
                <a:solidFill>
                  <a:srgbClr val="21295C"/>
                </a:solidFill>
                <a:latin typeface="Arial"/>
              </a:rPr>
              <a:t> решают о веществе, и узкое место стоит дальше.</a:t>
            </a:r>
          </a:p>
        </p:txBody>
      </p:sp>
      <p:sp>
        <p:nvSpPr>
          <p:cNvPr id="11" name="TextBox 10"/>
          <p:cNvSpPr txBox="1"/>
          <p:nvPr/>
        </p:nvSpPr>
        <p:spPr>
          <a:xfrm>
            <a:off x="704088" y="5489382"/>
            <a:ext cx="6675120"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Производство лекарственной формы на линии в этот раздел не входит — это отдельная лекция курса.</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 QLS / Informa, Clinical Development Success Rates and Contributing Factors 2011–2020</a:t>
            </a:r>
            <a:r>
              <a:rPr sz="1200" b="0" i="1">
                <a:solidFill>
                  <a:srgbClr val="1C7293"/>
                </a:solidFill>
                <a:latin typeface="Arial"/>
              </a:rPr>
              <a:t> · </a:t>
            </a:r>
            <a:r>
              <a:rPr sz="1200" b="0" i="1" u="sng">
                <a:solidFill>
                  <a:srgbClr val="065A82"/>
                </a:solidFill>
                <a:latin typeface="Arial"/>
                <a:hlinkClick r:id="rId4"/>
              </a:rPr>
              <a:t>Jayatunga и соавт., Drug Discovery Today, 2024</a:t>
            </a:r>
            <a:r>
              <a:rPr sz="1200" b="0" i="1">
                <a:solidFill>
                  <a:srgbClr val="1C7293"/>
                </a:solidFill>
                <a:latin typeface="Arial"/>
              </a:rPr>
              <a:t> · </a:t>
            </a:r>
            <a:r>
              <a:rPr sz="1200" b="0" i="1" u="sng">
                <a:solidFill>
                  <a:srgbClr val="065A82"/>
                </a:solidFill>
                <a:latin typeface="Arial"/>
                <a:hlinkClick r:id="rId5"/>
              </a:rPr>
              <a:t>Haque W. и соавт., J Clin Oncol 2026, DOI 10.1200/JCO.2026.44.16_suppl.11072</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База отрасли: из тринадцати программ лекарством становится одна</a:t>
            </a:r>
          </a:p>
        </p:txBody>
      </p:sp>
      <p:sp>
        <p:nvSpPr>
          <p:cNvPr id="4" name="Rounded Rectangle 3"/>
          <p:cNvSpPr/>
          <p:nvPr/>
        </p:nvSpPr>
        <p:spPr>
          <a:xfrm>
            <a:off x="502920"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 → ФАЗА II</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4 414 переходов внутри отчёта</a:t>
            </a:r>
          </a:p>
        </p:txBody>
      </p:sp>
      <p:sp>
        <p:nvSpPr>
          <p:cNvPr id="8" name="Rounded Rectangle 7"/>
          <p:cNvSpPr/>
          <p:nvPr/>
        </p:nvSpPr>
        <p:spPr>
          <a:xfrm>
            <a:off x="3340531"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 → ФАЗА III</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4 933 перехода; плотнее всего отсев в середине</a:t>
            </a:r>
          </a:p>
        </p:txBody>
      </p:sp>
      <p:sp>
        <p:nvSpPr>
          <p:cNvPr id="12" name="Rounded Rectangle 11"/>
          <p:cNvSpPr/>
          <p:nvPr/>
        </p:nvSpPr>
        <p:spPr>
          <a:xfrm>
            <a:off x="6178143"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 ФАЗЫ I ДО ОДОБРЕНИЯ</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примерно тринадцати программ лекарством становится одна</a:t>
            </a:r>
          </a:p>
        </p:txBody>
      </p:sp>
      <p:sp>
        <p:nvSpPr>
          <p:cNvPr id="16" name="Rounded Rectangle 15"/>
          <p:cNvSpPr/>
          <p:nvPr/>
        </p:nvSpPr>
        <p:spPr>
          <a:xfrm>
            <a:off x="9015755" y="1335024"/>
            <a:ext cx="2673019" cy="1665571"/>
          </a:xfrm>
          <a:prstGeom prst="roundRect">
            <a:avLst>
              <a:gd name="adj" fmla="val 183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ЗНАМЕНАТЕЛЬ</a:t>
            </a:r>
          </a:p>
        </p:txBody>
      </p:sp>
      <p:sp>
        <p:nvSpPr>
          <p:cNvPr id="18" name="TextBox 17"/>
          <p:cNvSpPr txBox="1"/>
          <p:nvPr/>
        </p:nvSpPr>
        <p:spPr>
          <a:xfrm>
            <a:off x="9152915" y="1725375"/>
            <a:ext cx="2398699" cy="715572"/>
          </a:xfrm>
          <a:prstGeom prst="rect">
            <a:avLst/>
          </a:prstGeom>
          <a:noFill/>
        </p:spPr>
        <p:txBody>
          <a:bodyPr wrap="square" lIns="0" rIns="0" tIns="0" bIns="0" anchor="t">
            <a:spAutoFit/>
          </a:bodyPr>
          <a:lstStyle/>
          <a:p>
            <a:pPr algn="l">
              <a:lnSpc>
                <a:spcPct val="108000"/>
              </a:lnSpc>
            </a:pPr>
            <a:r>
              <a:rPr sz="2000" b="1" i="0">
                <a:solidFill>
                  <a:srgbClr val="F0AB00"/>
                </a:solidFill>
                <a:latin typeface="Arial"/>
              </a:rPr>
              <a:t>12 728 переходов из 9 704 программ</a:t>
            </a:r>
          </a:p>
        </p:txBody>
      </p:sp>
      <p:sp>
        <p:nvSpPr>
          <p:cNvPr id="19" name="TextBox 18"/>
          <p:cNvSpPr txBox="1"/>
          <p:nvPr/>
        </p:nvSpPr>
        <p:spPr>
          <a:xfrm>
            <a:off x="9152915" y="24409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1 779 компаний, 2011–2020; переходы, не программы</a:t>
            </a:r>
          </a:p>
        </p:txBody>
      </p:sp>
      <p:sp>
        <p:nvSpPr>
          <p:cNvPr id="20" name="Rounded Rectangle 19"/>
          <p:cNvSpPr/>
          <p:nvPr/>
        </p:nvSpPr>
        <p:spPr>
          <a:xfrm>
            <a:off x="374904" y="309203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Плотнее всего отсев в середине, не в начале и не в конце.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разброс по областям огромен: переход второй фазы в гематологии </a:t>
            </a:r>
            <a:r>
              <a:rPr sz="1500" b="1" i="0">
                <a:solidFill>
                  <a:srgbClr val="21295C"/>
                </a:solidFill>
                <a:latin typeface="Arial"/>
              </a:rPr>
              <a:t>48,1 процента</a:t>
            </a:r>
            <a:r>
              <a:rPr sz="1500" b="0" i="0">
                <a:solidFill>
                  <a:srgbClr val="21295C"/>
                </a:solidFill>
                <a:latin typeface="Arial"/>
              </a:rPr>
              <a:t>, в урологии </a:t>
            </a:r>
            <a:r>
              <a:rPr sz="1500" b="1" i="0">
                <a:solidFill>
                  <a:srgbClr val="21295C"/>
                </a:solidFill>
                <a:latin typeface="Arial"/>
              </a:rPr>
              <a:t>15,0</a:t>
            </a:r>
          </a:p>
          <a:p>
            <a:pPr algn="l">
              <a:lnSpc>
                <a:spcPct val="126000"/>
              </a:lnSpc>
              <a:spcBef>
                <a:spcPts val="700"/>
              </a:spcBef>
            </a:pPr>
            <a:r>
              <a:rPr sz="1500" b="0" i="0">
                <a:solidFill>
                  <a:srgbClr val="21295C"/>
                </a:solidFill>
                <a:latin typeface="Arial"/>
              </a:rPr>
              <a:t/>
            </a:r>
            <a:r>
              <a:rPr sz="1500" b="0" i="0">
                <a:solidFill>
                  <a:srgbClr val="21295C"/>
                </a:solidFill>
                <a:latin typeface="Arial"/>
              </a:rPr>
              <a:t>• средняя по отрасли годится как база и не годится как предсказание для одной программы</a:t>
            </a:r>
          </a:p>
        </p:txBody>
      </p:sp>
      <p:sp>
        <p:nvSpPr>
          <p:cNvPr id="22" name="TextBox 21"/>
          <p:cNvSpPr txBox="1"/>
          <p:nvPr/>
        </p:nvSpPr>
        <p:spPr>
          <a:xfrm>
            <a:off x="6278727"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доли разных фаз между собой не складываются: у каждой фазы свой знаменатель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«перешли» и «завершили» — </a:t>
            </a:r>
            <a:r>
              <a:rPr sz="1500" b="1" i="0">
                <a:solidFill>
                  <a:srgbClr val="21295C"/>
                </a:solidFill>
                <a:latin typeface="Arial"/>
              </a:rPr>
              <a:t>две разные дроби</a:t>
            </a:r>
            <a:r>
              <a:rPr sz="1500" b="0" i="0">
                <a:solidFill>
                  <a:srgbClr val="21295C"/>
                </a:solidFill>
                <a:latin typeface="Arial"/>
              </a:rPr>
              <a:t>: база считана на завершённых траекториях, живые активы в неё не попадают вовсе</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база, с которой сравнивают любое улучшение.</a:t>
            </a:r>
          </a:p>
        </p:txBody>
      </p:sp>
      <p:sp>
        <p:nvSpPr>
          <p:cNvPr id="23" name="Rectangle 22"/>
          <p:cNvSpPr/>
          <p:nvPr/>
        </p:nvSpPr>
        <p:spPr>
          <a:xfrm>
            <a:off x="6091275" y="3183475"/>
            <a:ext cx="9144" cy="22572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 февраль 2021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Без модели: цена обеих ошибок и два режима, посчитан из них один</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 цена измеримая</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терапии не будет</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не измеряется вовсе: эксперимента не было</a:t>
            </a:r>
          </a:p>
        </p:txBody>
      </p:sp>
      <p:sp>
        <p:nvSpPr>
          <p:cNvPr id="12" name="Rounded Rectangle 11"/>
          <p:cNvSpPr/>
          <p:nvPr/>
        </p:nvSpPr>
        <p:spPr>
          <a:xfrm>
            <a:off x="502920" y="2683657"/>
            <a:ext cx="5437479" cy="1862949"/>
          </a:xfrm>
          <a:prstGeom prst="roundRect">
            <a:avLst>
              <a:gd name="adj" fmla="val 1636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Вести в клинику всё синтезированное</a:t>
            </a:r>
          </a:p>
        </p:txBody>
      </p:sp>
      <p:sp>
        <p:nvSpPr>
          <p:cNvPr id="14" name="TextBox 13"/>
          <p:cNvSpPr txBox="1"/>
          <p:nvPr/>
        </p:nvSpPr>
        <p:spPr>
          <a:xfrm>
            <a:off x="667512" y="3195284"/>
            <a:ext cx="5108295" cy="119587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платит первой фазой за каждую пустышку</a:t>
            </a:r>
          </a:p>
          <a:p>
            <a:pPr algn="l">
              <a:lnSpc>
                <a:spcPct val="126000"/>
              </a:lnSpc>
            </a:pPr>
            <a:r>
              <a:rPr sz="1450" b="0" i="0">
                <a:solidFill>
                  <a:srgbClr val="21295C"/>
                </a:solidFill>
                <a:latin typeface="Arial"/>
              </a:rPr>
              <a:t>• ошибку видно: молекула дошла до людей и отсеялась</a:t>
            </a:r>
          </a:p>
          <a:p>
            <a:pPr algn="l">
              <a:lnSpc>
                <a:spcPct val="126000"/>
              </a:lnSpc>
            </a:pPr>
            <a:r>
              <a:rPr sz="1450" b="0" i="0">
                <a:solidFill>
                  <a:srgbClr val="21295C"/>
                </a:solidFill>
                <a:latin typeface="Arial"/>
              </a:rPr>
              <a:t>• цена считается в месяцах работы центра</a:t>
            </a:r>
          </a:p>
        </p:txBody>
      </p:sp>
      <p:sp>
        <p:nvSpPr>
          <p:cNvPr id="15" name="Rounded Rectangle 14"/>
          <p:cNvSpPr/>
          <p:nvPr/>
        </p:nvSpPr>
        <p:spPr>
          <a:xfrm>
            <a:off x="6251295" y="2683657"/>
            <a:ext cx="5437479" cy="1862949"/>
          </a:xfrm>
          <a:prstGeom prst="roundRect">
            <a:avLst>
              <a:gd name="adj" fmla="val 16361"/>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Вести только прошедшее экспертный отбор</a:t>
            </a:r>
          </a:p>
        </p:txBody>
      </p:sp>
      <p:sp>
        <p:nvSpPr>
          <p:cNvPr id="17" name="TextBox 16"/>
          <p:cNvSpPr txBox="1"/>
          <p:nvPr/>
        </p:nvSpPr>
        <p:spPr>
          <a:xfrm>
            <a:off x="6415887" y="3195284"/>
            <a:ext cx="5108295" cy="119587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платит отброшенными молекулами</a:t>
            </a:r>
          </a:p>
          <a:p>
            <a:pPr algn="l">
              <a:lnSpc>
                <a:spcPct val="126000"/>
              </a:lnSpc>
            </a:pPr>
            <a:r>
              <a:rPr sz="1450" b="0" i="0">
                <a:solidFill>
                  <a:srgbClr val="21295C"/>
                </a:solidFill>
                <a:latin typeface="Arial"/>
              </a:rPr>
              <a:t>• сколько их — не знает никто</a:t>
            </a:r>
          </a:p>
          <a:p>
            <a:pPr algn="l">
              <a:lnSpc>
                <a:spcPct val="126000"/>
              </a:lnSpc>
            </a:pPr>
            <a:r>
              <a:rPr sz="1450" b="0" i="0">
                <a:solidFill>
                  <a:srgbClr val="21295C"/>
                </a:solidFill>
                <a:latin typeface="Arial"/>
              </a:rPr>
              <a:t>• ошибки не увидит никто: эксперимента не было</a:t>
            </a:r>
          </a:p>
        </p:txBody>
      </p:sp>
      <p:sp>
        <p:nvSpPr>
          <p:cNvPr id="18" name="Rounded Rectangle 17"/>
          <p:cNvSpPr/>
          <p:nvPr/>
        </p:nvSpPr>
        <p:spPr>
          <a:xfrm>
            <a:off x="374904" y="4638047"/>
            <a:ext cx="11441887" cy="1598160"/>
          </a:xfrm>
          <a:prstGeom prst="roundRect">
            <a:avLst>
              <a:gd name="adj" fmla="val 1907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729487"/>
            <a:ext cx="11112703" cy="150672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Счёт у двух режимов один и тот же — 52,0 · 28,9 · 7,9.</a:t>
            </a:r>
            <a:r>
              <a:rPr sz="1300" b="0" i="0">
                <a:solidFill>
                  <a:srgbClr val="21295C"/>
                </a:solidFill>
                <a:latin typeface="Arial"/>
              </a:rPr>
              <a:t> Различие между ними числом не предъявлено ни одним источником: отчёт считает отрасль целиком.</a:t>
            </a:r>
          </a:p>
          <a:p>
            <a:pPr algn="l">
              <a:lnSpc>
                <a:spcPct val="126000"/>
              </a:lnSpc>
              <a:spcBef>
                <a:spcPts val="700"/>
              </a:spcBef>
            </a:pPr>
            <a:r>
              <a:rPr sz="1300" b="0" i="0">
                <a:solidFill>
                  <a:srgbClr val="21295C"/>
                </a:solidFill>
                <a:latin typeface="Arial"/>
              </a:rPr>
              <a:t/>
            </a:r>
            <a:r>
              <a:rPr sz="1300" b="1" i="0">
                <a:solidFill>
                  <a:srgbClr val="21295C"/>
                </a:solidFill>
                <a:latin typeface="Arial"/>
              </a:rPr>
              <a:t>Экспертный отбор</a:t>
            </a:r>
            <a:r>
              <a:rPr sz="1300" b="0" i="0">
                <a:solidFill>
                  <a:srgbClr val="21295C"/>
                </a:solidFill>
                <a:latin typeface="Arial"/>
              </a:rPr>
              <a:t> — совет из химиков, биологов и токсикологов: опыт и литература, протоколом решение не описано, повторяемость никто не замерял.</a:t>
            </a:r>
          </a:p>
          <a:p>
            <a:pPr algn="l">
              <a:lnSpc>
                <a:spcPct val="126000"/>
              </a:lnSpc>
              <a:spcBef>
                <a:spcPts val="700"/>
              </a:spcBef>
            </a:pPr>
            <a:r>
              <a:rPr sz="1300" b="0" i="0">
                <a:solidFill>
                  <a:srgbClr val="21295C"/>
                </a:solidFill>
                <a:latin typeface="Arial"/>
              </a:rPr>
              <a:t/>
            </a:r>
            <a:r>
              <a:rPr sz="1300" b="1" i="0">
                <a:solidFill>
                  <a:srgbClr val="21295C"/>
                </a:solidFill>
                <a:latin typeface="Arial"/>
              </a:rPr>
              <a:t>Пока сравнения с этими числами нет, «модель ускорила разработку» говорит только про тот шаг, на котором её применили.</a:t>
            </a: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1: компания, отказавшаяся от своего обещания, и минус 180 рабочих мест</a:t>
            </a:r>
          </a:p>
        </p:txBody>
      </p:sp>
      <p:sp>
        <p:nvSpPr>
          <p:cNvPr id="4" name="Rounded Rectangle 3"/>
          <p:cNvSpPr/>
          <p:nvPr/>
        </p:nvSpPr>
        <p:spPr>
          <a:xfrm>
            <a:off x="502920" y="1335024"/>
            <a:ext cx="2673019" cy="2027702"/>
          </a:xfrm>
          <a:prstGeom prst="roundRect">
            <a:avLst>
              <a:gd name="adj" fmla="val 1503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пациент, 28 дней нанесения</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 с плацебо; пациенты 18–65 лет</a:t>
            </a:r>
          </a:p>
        </p:txBody>
      </p:sp>
      <p:sp>
        <p:nvSpPr>
          <p:cNvPr id="8" name="Rounded Rectangle 7"/>
          <p:cNvSpPr/>
          <p:nvPr/>
        </p:nvSpPr>
        <p:spPr>
          <a:xfrm>
            <a:off x="3340531" y="1335024"/>
            <a:ext cx="2673019" cy="2027702"/>
          </a:xfrm>
          <a:prstGeom prst="roundRect">
            <a:avLst>
              <a:gd name="adj" fmla="val 1503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 — ТЯЖЕСТЬ ЭКЗЕМЫ И ЗУД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достигнуты</a:t>
            </a:r>
          </a:p>
        </p:txBody>
      </p:sp>
      <p:sp>
        <p:nvSpPr>
          <p:cNvPr id="11" name="TextBox 10"/>
          <p:cNvSpPr txBox="1"/>
          <p:nvPr/>
        </p:nvSpPr>
        <p:spPr>
          <a:xfrm>
            <a:off x="3477691"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плацебо не превзойдено; первичная точка, безопасность, при этом достигнута</a:t>
            </a:r>
          </a:p>
        </p:txBody>
      </p:sp>
      <p:sp>
        <p:nvSpPr>
          <p:cNvPr id="12" name="Rounded Rectangle 11"/>
          <p:cNvSpPr/>
          <p:nvPr/>
        </p:nvSpPr>
        <p:spPr>
          <a:xfrm>
            <a:off x="6178143" y="1335024"/>
            <a:ext cx="2673019" cy="2027702"/>
          </a:xfrm>
          <a:prstGeom prst="roundRect">
            <a:avLst>
              <a:gd name="adj" fmla="val 1503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 НА ТОМ ЖЕ ШАГЕ</a:t>
            </a:r>
          </a:p>
        </p:txBody>
      </p:sp>
      <p:sp>
        <p:nvSpPr>
          <p:cNvPr id="14" name="TextBox 13"/>
          <p:cNvSpPr txBox="1"/>
          <p:nvPr/>
        </p:nvSpPr>
        <p:spPr>
          <a:xfrm>
            <a:off x="6315303" y="1932846"/>
            <a:ext cx="239869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28,9 процента перехода фазы II</a:t>
            </a:r>
          </a:p>
        </p:txBody>
      </p:sp>
      <p:sp>
        <p:nvSpPr>
          <p:cNvPr id="15" name="TextBox 14"/>
          <p:cNvSpPr txBox="1"/>
          <p:nvPr/>
        </p:nvSpPr>
        <p:spPr>
          <a:xfrm>
            <a:off x="6315303" y="26823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 здесь — норма воронки, а не неудача команды</a:t>
            </a:r>
          </a:p>
        </p:txBody>
      </p:sp>
      <p:sp>
        <p:nvSpPr>
          <p:cNvPr id="16" name="Rounded Rectangle 15"/>
          <p:cNvSpPr/>
          <p:nvPr/>
        </p:nvSpPr>
        <p:spPr>
          <a:xfrm>
            <a:off x="9015755" y="1335024"/>
            <a:ext cx="2673019" cy="2027702"/>
          </a:xfrm>
          <a:prstGeom prst="roundRect">
            <a:avLst>
              <a:gd name="adj" fmla="val 1503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a:t>
            </a:r>
          </a:p>
        </p:txBody>
      </p:sp>
      <p:sp>
        <p:nvSpPr>
          <p:cNvPr id="18" name="TextBox 17"/>
          <p:cNvSpPr txBox="1"/>
          <p:nvPr/>
        </p:nvSpPr>
        <p:spPr>
          <a:xfrm>
            <a:off x="9152915" y="1725375"/>
            <a:ext cx="2398699" cy="443974"/>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минус 180 мест, годом позже ещё минус 30 процентов штата</a:t>
            </a:r>
          </a:p>
        </p:txBody>
      </p:sp>
      <p:sp>
        <p:nvSpPr>
          <p:cNvPr id="19" name="TextBox 18"/>
          <p:cNvSpPr txBox="1"/>
          <p:nvPr/>
        </p:nvSpPr>
        <p:spPr>
          <a:xfrm>
            <a:off x="9152915" y="2169349"/>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следом зарубежный офис, смена руководителя, объявленный уход с биржи и сервисная модель вместо собственной разработки</a:t>
            </a:r>
          </a:p>
        </p:txBody>
      </p:sp>
      <p:sp>
        <p:nvSpPr>
          <p:cNvPr id="20" name="TextBox 19"/>
          <p:cNvSpPr txBox="1"/>
          <p:nvPr/>
        </p:nvSpPr>
        <p:spPr>
          <a:xfrm>
            <a:off x="502920" y="3582182"/>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a:t>
            </a:r>
          </a:p>
        </p:txBody>
      </p:sp>
      <p:sp>
        <p:nvSpPr>
          <p:cNvPr id="21" name="Rounded Rectangle 20"/>
          <p:cNvSpPr/>
          <p:nvPr/>
        </p:nvSpPr>
        <p:spPr>
          <a:xfrm>
            <a:off x="1920240" y="354560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59132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Обещание доводить препараты самостоятельно</a:t>
            </a:r>
          </a:p>
        </p:txBody>
      </p:sp>
      <p:sp>
        <p:nvSpPr>
          <p:cNvPr id="23" name="Right Arrow 22"/>
          <p:cNvSpPr/>
          <p:nvPr/>
        </p:nvSpPr>
        <p:spPr>
          <a:xfrm>
            <a:off x="4202353" y="3952372"/>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54560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59132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Фаза IIa: эффекта нет</a:t>
            </a:r>
          </a:p>
        </p:txBody>
      </p:sp>
      <p:sp>
        <p:nvSpPr>
          <p:cNvPr id="26" name="Right Arrow 25"/>
          <p:cNvSpPr/>
          <p:nvPr/>
        </p:nvSpPr>
        <p:spPr>
          <a:xfrm>
            <a:off x="6713067" y="3952372"/>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54560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59132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Минус 180 рабочих мест</a:t>
            </a:r>
          </a:p>
        </p:txBody>
      </p:sp>
      <p:sp>
        <p:nvSpPr>
          <p:cNvPr id="29" name="Right Arrow 28"/>
          <p:cNvSpPr/>
          <p:nvPr/>
        </p:nvSpPr>
        <p:spPr>
          <a:xfrm>
            <a:off x="9223781" y="3952372"/>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54560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59132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Отказ от модели бизнеса</a:t>
            </a:r>
          </a:p>
        </p:txBody>
      </p:sp>
      <p:sp>
        <p:nvSpPr>
          <p:cNvPr id="32" name="TextBox 31"/>
          <p:cNvSpPr txBox="1"/>
          <p:nvPr/>
        </p:nvSpPr>
        <p:spPr>
          <a:xfrm>
            <a:off x="502920" y="453287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событий, который уже не изменится</a:t>
            </a:r>
          </a:p>
        </p:txBody>
      </p:sp>
      <p:sp>
        <p:nvSpPr>
          <p:cNvPr id="33" name="Rounded Rectangle 32"/>
          <p:cNvSpPr/>
          <p:nvPr/>
        </p:nvSpPr>
        <p:spPr>
          <a:xfrm>
            <a:off x="374904" y="4835556"/>
            <a:ext cx="11441887" cy="1224120"/>
          </a:xfrm>
          <a:prstGeom prst="roundRect">
            <a:avLst>
              <a:gd name="adj" fmla="val 24899"/>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26996"/>
            <a:ext cx="5373471" cy="1132680"/>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Молекулу нашли через граф биомедицинских связей. Испытание прошло по правилам, и разница выяснилась </a:t>
            </a:r>
            <a:r>
              <a:rPr sz="1300" b="1" i="0">
                <a:solidFill>
                  <a:srgbClr val="21295C"/>
                </a:solidFill>
                <a:latin typeface="Arial"/>
              </a:rPr>
              <a:t>только на людях</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Изменился порядок работ — на масштабе модели бизнеса; процесс одного препарата не менялся.</a:t>
            </a:r>
          </a:p>
        </p:txBody>
      </p:sp>
      <p:sp>
        <p:nvSpPr>
          <p:cNvPr id="35" name="TextBox 34"/>
          <p:cNvSpPr txBox="1"/>
          <p:nvPr/>
        </p:nvSpPr>
        <p:spPr>
          <a:xfrm>
            <a:off x="6278727" y="4926996"/>
            <a:ext cx="5373471" cy="113268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дало</a:t>
            </a:r>
            <a:r>
              <a:rPr sz="1300" b="0" i="0">
                <a:solidFill>
                  <a:srgbClr val="21295C"/>
                </a:solidFill>
                <a:latin typeface="Arial"/>
              </a:rPr>
              <a:t> свою молекулу и свою программу до второй фазы · </a:t>
            </a:r>
            <a:r>
              <a:rPr sz="1300" b="1" i="0">
                <a:solidFill>
                  <a:srgbClr val="21295C"/>
                </a:solidFill>
                <a:latin typeface="Arial"/>
              </a:rPr>
              <a:t>потребовало</a:t>
            </a:r>
            <a:r>
              <a:rPr sz="1300" b="0" i="0">
                <a:solidFill>
                  <a:srgbClr val="21295C"/>
                </a:solidFill>
                <a:latin typeface="Arial"/>
              </a:rPr>
              <a:t> успеха там, где отрасль даёт меньше трети · </a:t>
            </a:r>
            <a:r>
              <a:rPr sz="1300" b="1" i="0">
                <a:solidFill>
                  <a:srgbClr val="21295C"/>
                </a:solidFill>
                <a:latin typeface="Arial"/>
              </a:rPr>
              <a:t>в сумме</a:t>
            </a:r>
            <a:r>
              <a:rPr sz="1300" b="0" i="0">
                <a:solidFill>
                  <a:srgbClr val="21295C"/>
                </a:solidFill>
                <a:latin typeface="Arial"/>
              </a:rPr>
              <a:t> две волны сокращений и отказ от обещания</a:t>
            </a:r>
          </a:p>
        </p:txBody>
      </p:sp>
      <p:sp>
        <p:nvSpPr>
          <p:cNvPr id="36" name="Rectangle 35"/>
          <p:cNvSpPr/>
          <p:nvPr/>
        </p:nvSpPr>
        <p:spPr>
          <a:xfrm>
            <a:off x="6091275" y="4926996"/>
            <a:ext cx="9144" cy="1118711"/>
          </a:xfrm>
          <a:prstGeom prst="rect">
            <a:avLst/>
          </a:prstGeom>
          <a:solidFill>
            <a:srgbClr val="D9E2EC"/>
          </a:solidFill>
          <a:ln>
            <a:noFill/>
          </a:ln>
          <a:effectLst/>
        </p:spPr>
        <p:txBody>
          <a:bodyPr rtlCol="0" anchor="ctr"/>
          <a:lstStyle/>
          <a:p>
            <a:pPr algn="ctr"/>
          </a:p>
        </p:txBody>
      </p:sp>
      <p:sp>
        <p:nvSpPr>
          <p:cNvPr id="37" name="Rectangle 36"/>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r>
              <a:rPr sz="1200" b="0" i="1">
                <a:solidFill>
                  <a:srgbClr val="1C7293"/>
                </a:solidFill>
                <a:latin typeface="Arial"/>
              </a:rPr>
              <a:t> · </a:t>
            </a: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Разработка лекарства: ранний шаг подешевел многократно, одобрений — ноль</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Что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срезать объём физического перебора: расчёт вместо миллионов опытных итераций</a:t>
            </a:r>
          </a:p>
          <a:p>
            <a:pPr algn="l">
              <a:lnSpc>
                <a:spcPct val="126000"/>
              </a:lnSpc>
              <a:spcBef>
                <a:spcPts val="700"/>
              </a:spcBef>
            </a:pPr>
            <a:r>
              <a:rPr sz="1200" b="0" i="0">
                <a:solidFill>
                  <a:srgbClr val="21295C"/>
                </a:solidFill>
                <a:latin typeface="Arial"/>
              </a:rPr>
              <a:t/>
            </a:r>
            <a:r>
              <a:rPr sz="1200" b="0" i="0">
                <a:solidFill>
                  <a:srgbClr val="21295C"/>
                </a:solidFill>
                <a:latin typeface="Arial"/>
              </a:rPr>
              <a:t>• сжать доклинику: заявлено меньше двенадцати месяцев вместо нескольких лет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пройти первую фазу чаще базы: </a:t>
            </a:r>
            <a:r>
              <a:rPr sz="1200" b="1" i="0">
                <a:solidFill>
                  <a:srgbClr val="21295C"/>
                </a:solidFill>
                <a:latin typeface="Arial"/>
              </a:rPr>
              <a:t>80–90 из ста</a:t>
            </a:r>
            <a:r>
              <a:rPr sz="1200" b="0" i="0">
                <a:solidFill>
                  <a:srgbClr val="21295C"/>
                </a:solidFill>
                <a:latin typeface="Arial"/>
              </a:rPr>
              <a:t> против </a:t>
            </a:r>
            <a:r>
              <a:rPr sz="1200" b="1" i="0">
                <a:solidFill>
                  <a:srgbClr val="21295C"/>
                </a:solidFill>
                <a:latin typeface="Arial"/>
              </a:rPr>
              <a:t>52,0</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не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пройти вторую фазу лучше базы: около </a:t>
            </a:r>
            <a:r>
              <a:rPr sz="1200" b="1" i="0">
                <a:solidFill>
                  <a:srgbClr val="21295C"/>
                </a:solidFill>
                <a:latin typeface="Arial"/>
              </a:rPr>
              <a:t>40</a:t>
            </a:r>
            <a:r>
              <a:rPr sz="1200" b="0" i="0">
                <a:solidFill>
                  <a:srgbClr val="21295C"/>
                </a:solidFill>
                <a:latin typeface="Arial"/>
              </a:rPr>
              <a:t> против </a:t>
            </a:r>
            <a:r>
              <a:rPr sz="1200" b="1" i="0">
                <a:solidFill>
                  <a:srgbClr val="21295C"/>
                </a:solidFill>
                <a:latin typeface="Arial"/>
              </a:rPr>
              <a:t>28,9</a:t>
            </a:r>
            <a:r>
              <a:rPr sz="1200" b="0" i="0">
                <a:solidFill>
                  <a:srgbClr val="21295C"/>
                </a:solidFill>
                <a:latin typeface="Arial"/>
              </a:rPr>
              <a:t> — сопоставимо</a:t>
            </a:r>
          </a:p>
          <a:p>
            <a:pPr algn="l">
              <a:lnSpc>
                <a:spcPct val="126000"/>
              </a:lnSpc>
              <a:spcBef>
                <a:spcPts val="700"/>
              </a:spcBef>
            </a:pPr>
            <a:r>
              <a:rPr sz="1200" b="0" i="0">
                <a:solidFill>
                  <a:srgbClr val="21295C"/>
                </a:solidFill>
                <a:latin typeface="Arial"/>
              </a:rPr>
              <a:t/>
            </a:r>
            <a:r>
              <a:rPr sz="1200" b="0" i="0">
                <a:solidFill>
                  <a:srgbClr val="21295C"/>
                </a:solidFill>
                <a:latin typeface="Arial"/>
              </a:rPr>
              <a:t>• получить одобрение: за десять лет категории — </a:t>
            </a:r>
            <a:r>
              <a:rPr sz="1200" b="1" i="0">
                <a:solidFill>
                  <a:srgbClr val="21295C"/>
                </a:solidFill>
                <a:latin typeface="Arial"/>
              </a:rPr>
              <a:t>ноль</a:t>
            </a:r>
            <a:r>
              <a:rPr sz="1200" b="0" i="0">
                <a:solidFill>
                  <a:srgbClr val="21295C"/>
                </a:solidFill>
                <a:latin typeface="Arial"/>
              </a:rPr>
              <a:t> при 75 и 117 активах</a:t>
            </a:r>
          </a:p>
          <a:p>
            <a:pPr algn="l">
              <a:lnSpc>
                <a:spcPct val="126000"/>
              </a:lnSpc>
              <a:spcBef>
                <a:spcPts val="700"/>
              </a:spcBef>
            </a:pPr>
            <a:r>
              <a:rPr sz="1200" b="0" i="0">
                <a:solidFill>
                  <a:srgbClr val="21295C"/>
                </a:solidFill>
                <a:latin typeface="Arial"/>
              </a:rPr>
              <a:t/>
            </a:r>
            <a:r>
              <a:rPr sz="1200" b="0" i="0">
                <a:solidFill>
                  <a:srgbClr val="21295C"/>
                </a:solidFill>
                <a:latin typeface="Arial"/>
              </a:rPr>
              <a:t>• сократить четыре работы на людях: задачи для модели там нет ни одной</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стало с работой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нагрузка переехала на другой шаг</a:t>
            </a:r>
            <a:r>
              <a:rPr sz="1200" b="0" i="0">
                <a:solidFill>
                  <a:srgbClr val="21295C"/>
                </a:solidFill>
                <a:latin typeface="Arial"/>
              </a:rPr>
              <a:t> — и на молекуле, и на отрасли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объём на том же месте упал</a:t>
            </a:r>
            <a:r>
              <a:rPr sz="1200" b="0" i="0">
                <a:solidFill>
                  <a:srgbClr val="21295C"/>
                </a:solidFill>
                <a:latin typeface="Arial"/>
              </a:rPr>
              <a:t> — тот же шаг, тот же исполнитель, меньше итераций</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изменился порядок работ</a:t>
            </a:r>
            <a:r>
              <a:rPr sz="1200" b="0" i="0">
                <a:solidFill>
                  <a:srgbClr val="21295C"/>
                </a:solidFill>
                <a:latin typeface="Arial"/>
              </a:rPr>
              <a:t> — на масштабе модели бизнеса; препарата это не касается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это держит</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доклиника и три фазы на людях: их длину задают физиология и протокол</a:t>
            </a:r>
          </a:p>
          <a:p>
            <a:pPr algn="l">
              <a:lnSpc>
                <a:spcPct val="126000"/>
              </a:lnSpc>
              <a:spcBef>
                <a:spcPts val="700"/>
              </a:spcBef>
            </a:pPr>
            <a:r>
              <a:rPr sz="1200" b="0" i="0">
                <a:solidFill>
                  <a:srgbClr val="21295C"/>
                </a:solidFill>
                <a:latin typeface="Arial"/>
              </a:rPr>
              <a:t/>
            </a:r>
            <a:r>
              <a:rPr sz="1200" b="0" i="0">
                <a:solidFill>
                  <a:srgbClr val="21295C"/>
                </a:solidFill>
                <a:latin typeface="Arial"/>
              </a:rPr>
              <a:t>• воронка переходов </a:t>
            </a:r>
            <a:r>
              <a:rPr sz="1200" b="1" i="0">
                <a:solidFill>
                  <a:srgbClr val="21295C"/>
                </a:solidFill>
                <a:latin typeface="Arial"/>
              </a:rPr>
              <a:t>52,0 · 28,9 · 7,9</a:t>
            </a:r>
            <a:r>
              <a:rPr sz="1200" b="0" i="0">
                <a:solidFill>
                  <a:srgbClr val="21295C"/>
                </a:solidFill>
                <a:latin typeface="Arial"/>
              </a:rPr>
              <a:t> — база для сравнения</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прочерк: «шаг исчез» не подтверждается</a:t>
            </a:r>
            <a:r>
              <a:rPr sz="1200" b="0" i="0">
                <a:solidFill>
                  <a:srgbClr val="21295C"/>
                </a:solidFill>
                <a:latin typeface="Arial"/>
              </a:rPr>
              <a:t> — депозиты держат плато </a:t>
            </a:r>
            <a:r>
              <a:rPr sz="1200" b="1" i="0">
                <a:solidFill>
                  <a:srgbClr val="21295C"/>
                </a:solidFill>
                <a:latin typeface="Arial"/>
              </a:rPr>
              <a:t>9–10 тысяч в год</a:t>
            </a:r>
            <a:r>
              <a:rPr sz="1200" b="0" i="0">
                <a:solidFill>
                  <a:srgbClr val="21295C"/>
                </a:solidFill>
                <a:latin typeface="Arial"/>
              </a:rPr>
              <a:t> с 2015 года</a:t>
            </a:r>
          </a:p>
          <a:p>
            <a:pPr algn="l">
              <a:lnSpc>
                <a:spcPct val="126000"/>
              </a:lnSpc>
              <a:spcBef>
                <a:spcPts val="700"/>
              </a:spcBef>
            </a:pPr>
            <a:r>
              <a:rPr sz="1200" b="0" i="0">
                <a:solidFill>
                  <a:srgbClr val="21295C"/>
                </a:solidFill>
                <a:latin typeface="Arial"/>
              </a:rPr>
              <a:t/>
            </a:r>
            <a:r>
              <a:rPr sz="1200" b="1" i="0">
                <a:solidFill>
                  <a:srgbClr val="21295C"/>
                </a:solidFill>
                <a:latin typeface="Arial"/>
              </a:rPr>
              <a:t>Ещё два случая — упоминанием, числом и базой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молекула за год:</a:t>
            </a:r>
            <a:r>
              <a:rPr sz="1200" b="0" i="0">
                <a:solidFill>
                  <a:srgbClr val="21295C"/>
                </a:solidFill>
                <a:latin typeface="Arial"/>
              </a:rPr>
              <a:t> доклиника меньше </a:t>
            </a:r>
            <a:r>
              <a:rPr sz="1200" b="1" i="0">
                <a:solidFill>
                  <a:srgbClr val="21295C"/>
                </a:solidFill>
                <a:latin typeface="Arial"/>
              </a:rPr>
              <a:t>12 месяцев</a:t>
            </a:r>
            <a:r>
              <a:rPr sz="1200" b="0" i="0">
                <a:solidFill>
                  <a:srgbClr val="21295C"/>
                </a:solidFill>
                <a:latin typeface="Arial"/>
              </a:rPr>
              <a:t> против </a:t>
            </a:r>
            <a:r>
              <a:rPr sz="1200" b="1" i="0">
                <a:solidFill>
                  <a:srgbClr val="21295C"/>
                </a:solidFill>
                <a:latin typeface="Arial"/>
              </a:rPr>
              <a:t>4,5 года</a:t>
            </a:r>
            <a:r>
              <a:rPr sz="1200" b="0" i="0">
                <a:solidFill>
                  <a:srgbClr val="21295C"/>
                </a:solidFill>
                <a:latin typeface="Arial"/>
              </a:rPr>
              <a:t>, но оба числа заявила сама компания; снята на первой фазе, база перехода — </a:t>
            </a:r>
            <a:r>
              <a:rPr sz="1200" b="1" i="0">
                <a:solidFill>
                  <a:srgbClr val="21295C"/>
                </a:solidFill>
                <a:latin typeface="Arial"/>
              </a:rPr>
              <a:t>52,0 из 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воронка категории:</a:t>
            </a:r>
            <a:r>
              <a:rPr sz="1200" b="0" i="0">
                <a:solidFill>
                  <a:srgbClr val="21295C"/>
                </a:solidFill>
                <a:latin typeface="Arial"/>
              </a:rPr>
              <a:t> переход второй фазы </a:t>
            </a:r>
            <a:r>
              <a:rPr sz="1200" b="1" i="0">
                <a:solidFill>
                  <a:srgbClr val="21295C"/>
                </a:solidFill>
                <a:latin typeface="Arial"/>
              </a:rPr>
              <a:t>около 40</a:t>
            </a:r>
            <a:r>
              <a:rPr sz="1200" b="0" i="0">
                <a:solidFill>
                  <a:srgbClr val="21295C"/>
                </a:solidFill>
                <a:latin typeface="Arial"/>
              </a:rPr>
              <a:t> против базы </a:t>
            </a:r>
            <a:r>
              <a:rPr sz="1200" b="1" i="0">
                <a:solidFill>
                  <a:srgbClr val="21295C"/>
                </a:solidFill>
                <a:latin typeface="Arial"/>
              </a:rPr>
              <a:t>28,9</a:t>
            </a:r>
            <a:r>
              <a:rPr sz="1200" b="0" i="0">
                <a:solidFill>
                  <a:srgbClr val="21295C"/>
                </a:solidFill>
                <a:latin typeface="Arial"/>
              </a:rPr>
              <a:t>; одобрений — </a:t>
            </a:r>
            <a:r>
              <a:rPr sz="1200" b="1" i="0">
                <a:solidFill>
                  <a:srgbClr val="21295C"/>
                </a:solidFill>
                <a:latin typeface="Arial"/>
              </a:rPr>
              <a:t>0</a:t>
            </a:r>
            <a:r>
              <a:rPr sz="1200" b="0" i="0">
                <a:solidFill>
                  <a:srgbClr val="21295C"/>
                </a:solidFill>
                <a:latin typeface="Arial"/>
              </a:rPr>
              <a:t> при 75 и 117 активах в клинике</a:t>
            </a:r>
          </a:p>
          <a:p>
            <a:pPr algn="l">
              <a:lnSpc>
                <a:spcPct val="126000"/>
              </a:lnSpc>
              <a:spcBef>
                <a:spcPts val="700"/>
              </a:spcBef>
            </a:pPr>
            <a:r>
              <a:rPr sz="1200" b="0" i="0">
                <a:solidFill>
                  <a:srgbClr val="21295C"/>
                </a:solidFill>
                <a:latin typeface="Arial"/>
              </a:rPr>
              <a:t/>
            </a:r>
            <a:r>
              <a:rPr sz="1200" b="0" i="0">
                <a:solidFill>
                  <a:srgbClr val="21295C"/>
                </a:solidFill>
                <a:latin typeface="Arial"/>
              </a:rPr>
              <a:t>Ранний шаг подешевел многократно. Одобрений — </a:t>
            </a:r>
            <a:r>
              <a:rPr sz="1200" b="1" i="0">
                <a:solidFill>
                  <a:srgbClr val="21295C"/>
                </a:solidFill>
                <a:latin typeface="Arial"/>
              </a:rPr>
              <a:t>0</a:t>
            </a:r>
            <a:r>
              <a:rPr sz="1200" b="0" i="0">
                <a:solidFill>
                  <a:srgbClr val="21295C"/>
                </a:solidFill>
                <a:latin typeface="Arial"/>
              </a:rPr>
              <a:t>. Узкое место лежит дальше и не подешевело.</a:t>
            </a:r>
          </a:p>
          <a:p>
            <a:pPr algn="l">
              <a:lnSpc>
                <a:spcPct val="126000"/>
              </a:lnSpc>
              <a:spcBef>
                <a:spcPts val="700"/>
              </a:spcBef>
            </a:pPr>
            <a:r>
              <a:rPr sz="1200" b="0" i="0">
                <a:solidFill>
                  <a:srgbClr val="21295C"/>
                </a:solidFill>
                <a:latin typeface="Arial"/>
              </a:rPr>
              <a:t/>
            </a:r>
            <a:r>
              <a:rPr sz="1200" b="1" i="0">
                <a:solidFill>
                  <a:srgbClr val="21295C"/>
                </a:solidFill>
                <a:latin typeface="Arial"/>
              </a:rPr>
              <a:t>Адрес платежа здесь пуст: платит не человек</a:t>
            </a:r>
            <a:r>
              <a:rPr sz="1200" b="0" i="0">
                <a:solidFill>
                  <a:srgbClr val="21295C"/>
                </a:solidFill>
                <a:latin typeface="Arial"/>
              </a:rPr>
              <a:t> — решают о веществе. Мерить надо пропускную способность шага, которого вы не трогали.</a:t>
            </a:r>
          </a:p>
        </p:txBody>
      </p:sp>
      <p:sp>
        <p:nvSpPr>
          <p:cNvPr id="7" name="Rectangle 6"/>
          <p:cNvSpPr/>
          <p:nvPr/>
        </p:nvSpPr>
        <p:spPr>
          <a:xfrm>
            <a:off x="6091275" y="1335024"/>
            <a:ext cx="9144" cy="4840131"/>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W. и соавт., J Clin Oncol 2026, DOI 10.1200/JCO.2026.44.16_suppl.11072</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 QLS / Informa, Clinical Development Success Rates and Contributing Factors 2011–2020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Девять форм словаря целиком, со счётом под каждой · 2. Сколько раз выигрыш оказался приписан не тому · 3. Клетки узнаваемые, процедуры другие · 4. Чем заплатили и чем каждое держится · 5. Четыре разных ответа на один вопрос</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Девять форм целиком: чем лекция называла то, что происходит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9107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9846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230567" y="1335024"/>
            <a:ext cx="374354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376871" y="1335024"/>
            <a:ext cx="345093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974111" y="1335024"/>
            <a:ext cx="1902397"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20415" y="1335024"/>
            <a:ext cx="1609789"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что мерит</a:t>
            </a:r>
          </a:p>
        </p:txBody>
      </p:sp>
      <p:sp>
        <p:nvSpPr>
          <p:cNvPr id="11" name="Rectangle 10"/>
          <p:cNvSpPr/>
          <p:nvPr/>
        </p:nvSpPr>
        <p:spPr>
          <a:xfrm>
            <a:off x="6876508" y="1335024"/>
            <a:ext cx="4775690"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022812" y="1335024"/>
            <a:ext cx="4483082"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счёт за лекцию</a:t>
            </a:r>
          </a:p>
        </p:txBody>
      </p:sp>
      <p:sp>
        <p:nvSpPr>
          <p:cNvPr id="13" name="Rectangle 12"/>
          <p:cNvSpPr/>
          <p:nvPr/>
        </p:nvSpPr>
        <p:spPr>
          <a:xfrm>
            <a:off x="539496" y="1718403"/>
            <a:ext cx="69107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230567" y="1718403"/>
            <a:ext cx="374354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76871" y="171840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974111" y="1718403"/>
            <a:ext cx="1902397"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20415" y="171840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19" name="Rectangle 18"/>
          <p:cNvSpPr/>
          <p:nvPr/>
        </p:nvSpPr>
        <p:spPr>
          <a:xfrm>
            <a:off x="6876508" y="1718403"/>
            <a:ext cx="4775690"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022812" y="171840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одобрений регулятора </a:t>
            </a:r>
            <a:r>
              <a:rPr sz="1200" b="1" i="0">
                <a:solidFill>
                  <a:srgbClr val="21295C"/>
                </a:solidFill>
                <a:latin typeface="Arial"/>
              </a:rPr>
              <a:t>ноль</a:t>
            </a:r>
          </a:p>
        </p:txBody>
      </p:sp>
      <p:sp>
        <p:nvSpPr>
          <p:cNvPr id="21" name="Rectangle 20"/>
          <p:cNvSpPr/>
          <p:nvPr/>
        </p:nvSpPr>
        <p:spPr>
          <a:xfrm>
            <a:off x="539496" y="2101783"/>
            <a:ext cx="69107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230567" y="2101783"/>
            <a:ext cx="374354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76871" y="210178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974111" y="2101783"/>
            <a:ext cx="1902397"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20415" y="210178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27" name="Rectangle 26"/>
          <p:cNvSpPr/>
          <p:nvPr/>
        </p:nvSpPr>
        <p:spPr>
          <a:xfrm>
            <a:off x="6876508" y="2101783"/>
            <a:ext cx="4775690"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022812" y="2101783"/>
            <a:ext cx="448308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случая не встретилось</a:t>
            </a:r>
          </a:p>
        </p:txBody>
      </p:sp>
      <p:sp>
        <p:nvSpPr>
          <p:cNvPr id="29" name="Rectangle 28"/>
          <p:cNvSpPr/>
          <p:nvPr/>
        </p:nvSpPr>
        <p:spPr>
          <a:xfrm>
            <a:off x="539496" y="2485163"/>
            <a:ext cx="69107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230567" y="2485163"/>
            <a:ext cx="374354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76871" y="248516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974111" y="2485163"/>
            <a:ext cx="1902397"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20415" y="248516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35" name="Rectangle 34"/>
          <p:cNvSpPr/>
          <p:nvPr/>
        </p:nvSpPr>
        <p:spPr>
          <a:xfrm>
            <a:off x="6876508" y="2485163"/>
            <a:ext cx="4775690"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022812" y="248516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разбор расхождений </a:t>
            </a:r>
            <a:r>
              <a:rPr sz="1200" b="1" i="0">
                <a:solidFill>
                  <a:srgbClr val="21295C"/>
                </a:solidFill>
                <a:latin typeface="Arial"/>
              </a:rPr>
              <a:t>+53 %</a:t>
            </a:r>
          </a:p>
        </p:txBody>
      </p:sp>
      <p:sp>
        <p:nvSpPr>
          <p:cNvPr id="37" name="Rectangle 36"/>
          <p:cNvSpPr/>
          <p:nvPr/>
        </p:nvSpPr>
        <p:spPr>
          <a:xfrm>
            <a:off x="539496" y="2868543"/>
            <a:ext cx="69107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230567" y="2868543"/>
            <a:ext cx="374354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76871" y="286854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974111" y="2868543"/>
            <a:ext cx="1902397"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20415" y="286854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43" name="Rectangle 42"/>
          <p:cNvSpPr/>
          <p:nvPr/>
        </p:nvSpPr>
        <p:spPr>
          <a:xfrm>
            <a:off x="6876508" y="2868543"/>
            <a:ext cx="4775690"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022812" y="286854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5" name="Rectangle 44"/>
          <p:cNvSpPr/>
          <p:nvPr/>
        </p:nvSpPr>
        <p:spPr>
          <a:xfrm>
            <a:off x="539496" y="3251923"/>
            <a:ext cx="69107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230567" y="3251923"/>
            <a:ext cx="374354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76871" y="325192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974111" y="3251923"/>
            <a:ext cx="1902397"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120415" y="325192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51" name="Rectangle 50"/>
          <p:cNvSpPr/>
          <p:nvPr/>
        </p:nvSpPr>
        <p:spPr>
          <a:xfrm>
            <a:off x="6876508" y="3251923"/>
            <a:ext cx="4775690"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7022812" y="325192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две реализации, знаки противоположные</a:t>
            </a:r>
          </a:p>
        </p:txBody>
      </p:sp>
      <p:sp>
        <p:nvSpPr>
          <p:cNvPr id="53" name="Rectangle 52"/>
          <p:cNvSpPr/>
          <p:nvPr/>
        </p:nvSpPr>
        <p:spPr>
          <a:xfrm>
            <a:off x="539496" y="3635303"/>
            <a:ext cx="69107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230567" y="3635303"/>
            <a:ext cx="374354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76871" y="363530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сменился</a:t>
            </a:r>
          </a:p>
        </p:txBody>
      </p:sp>
      <p:sp>
        <p:nvSpPr>
          <p:cNvPr id="57" name="Rectangle 56"/>
          <p:cNvSpPr/>
          <p:nvPr/>
        </p:nvSpPr>
        <p:spPr>
          <a:xfrm>
            <a:off x="4974111" y="3635303"/>
            <a:ext cx="1902397"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20415" y="363530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59" name="Rectangle 58"/>
          <p:cNvSpPr/>
          <p:nvPr/>
        </p:nvSpPr>
        <p:spPr>
          <a:xfrm>
            <a:off x="6876508" y="3635303"/>
            <a:ext cx="4775690"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7022812" y="363530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чтение ниже </a:t>
            </a:r>
            <a:r>
              <a:rPr sz="1200" b="1" i="0">
                <a:solidFill>
                  <a:srgbClr val="21295C"/>
                </a:solidFill>
                <a:latin typeface="Arial"/>
              </a:rPr>
              <a:t>на 44,3 %</a:t>
            </a:r>
          </a:p>
        </p:txBody>
      </p:sp>
      <p:sp>
        <p:nvSpPr>
          <p:cNvPr id="61" name="Rectangle 60"/>
          <p:cNvSpPr/>
          <p:nvPr/>
        </p:nvSpPr>
        <p:spPr>
          <a:xfrm>
            <a:off x="539496" y="4018683"/>
            <a:ext cx="69107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230567" y="4018683"/>
            <a:ext cx="374354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76871" y="401868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974111" y="4018683"/>
            <a:ext cx="1902397"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120415" y="401868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порядок</a:t>
            </a:r>
          </a:p>
        </p:txBody>
      </p:sp>
      <p:sp>
        <p:nvSpPr>
          <p:cNvPr id="67" name="Rectangle 66"/>
          <p:cNvSpPr/>
          <p:nvPr/>
        </p:nvSpPr>
        <p:spPr>
          <a:xfrm>
            <a:off x="6876508" y="4018683"/>
            <a:ext cx="4775690"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7022812" y="4018683"/>
            <a:ext cx="448308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счёта нет</a:t>
            </a:r>
          </a:p>
        </p:txBody>
      </p:sp>
      <p:sp>
        <p:nvSpPr>
          <p:cNvPr id="69" name="Rectangle 68"/>
          <p:cNvSpPr/>
          <p:nvPr/>
        </p:nvSpPr>
        <p:spPr>
          <a:xfrm>
            <a:off x="539496" y="4402063"/>
            <a:ext cx="69107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230567" y="4402063"/>
            <a:ext cx="374354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76871" y="440206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974111" y="4402063"/>
            <a:ext cx="1902397"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120415" y="440206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цена ошибки</a:t>
            </a:r>
          </a:p>
        </p:txBody>
      </p:sp>
      <p:sp>
        <p:nvSpPr>
          <p:cNvPr id="75" name="Rectangle 74"/>
          <p:cNvSpPr/>
          <p:nvPr/>
        </p:nvSpPr>
        <p:spPr>
          <a:xfrm>
            <a:off x="6876508" y="4402063"/>
            <a:ext cx="4775690"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7022812" y="440206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вмешаться способны — проверено у </a:t>
            </a:r>
            <a:r>
              <a:rPr sz="1200" b="1" i="0">
                <a:solidFill>
                  <a:srgbClr val="21295C"/>
                </a:solidFill>
                <a:latin typeface="Arial"/>
              </a:rPr>
              <a:t>56 из 717</a:t>
            </a:r>
          </a:p>
        </p:txBody>
      </p:sp>
      <p:sp>
        <p:nvSpPr>
          <p:cNvPr id="77" name="Rectangle 76"/>
          <p:cNvSpPr/>
          <p:nvPr/>
        </p:nvSpPr>
        <p:spPr>
          <a:xfrm>
            <a:off x="539496" y="4785442"/>
            <a:ext cx="69107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230567" y="4785442"/>
            <a:ext cx="374354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76871" y="4785442"/>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974111" y="4785442"/>
            <a:ext cx="1902397"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120415" y="4785442"/>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состояние руки</a:t>
            </a:r>
          </a:p>
        </p:txBody>
      </p:sp>
      <p:sp>
        <p:nvSpPr>
          <p:cNvPr id="83" name="Rectangle 82"/>
          <p:cNvSpPr/>
          <p:nvPr/>
        </p:nvSpPr>
        <p:spPr>
          <a:xfrm>
            <a:off x="6876508" y="4785442"/>
            <a:ext cx="4775690"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7022812" y="4785442"/>
            <a:ext cx="448308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28,4 → 22,4</a:t>
            </a:r>
            <a:r>
              <a:rPr sz="1200" b="0" i="0">
                <a:solidFill>
                  <a:srgbClr val="21295C"/>
                </a:solidFill>
                <a:latin typeface="Arial"/>
              </a:rPr>
              <a:t> из ста процедур</a:t>
            </a:r>
          </a:p>
        </p:txBody>
      </p:sp>
      <p:sp>
        <p:nvSpPr>
          <p:cNvPr id="85" name="Rectangle 84"/>
          <p:cNvSpPr/>
          <p:nvPr/>
        </p:nvSpPr>
        <p:spPr>
          <a:xfrm>
            <a:off x="539496" y="5168822"/>
            <a:ext cx="69107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39846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230567" y="5168822"/>
            <a:ext cx="374354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376871" y="5168822"/>
            <a:ext cx="345093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974111" y="5168822"/>
            <a:ext cx="1902397"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5120415" y="5168822"/>
            <a:ext cx="1609789"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состояние руки</a:t>
            </a:r>
          </a:p>
        </p:txBody>
      </p:sp>
      <p:sp>
        <p:nvSpPr>
          <p:cNvPr id="91" name="Rectangle 90"/>
          <p:cNvSpPr/>
          <p:nvPr/>
        </p:nvSpPr>
        <p:spPr>
          <a:xfrm>
            <a:off x="6876508" y="5168822"/>
            <a:ext cx="4775690"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7022812" y="5168822"/>
            <a:ext cx="4483082"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измерения нет ни одного</a:t>
            </a:r>
          </a:p>
        </p:txBody>
      </p:sp>
      <p:sp>
        <p:nvSpPr>
          <p:cNvPr id="93" name="TextBox 92"/>
          <p:cNvSpPr txBox="1"/>
          <p:nvPr/>
        </p:nvSpPr>
        <p:spPr>
          <a:xfrm>
            <a:off x="539496" y="5698506"/>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Семь форм из девяти со счётом; у двух счёта нет, и на их месте прочерк. Десятая строка — пустой номер: обратного случая не измерено. Какая из девяти встречалась у вас на работе?</a:t>
            </a:r>
          </a:p>
        </p:txBody>
      </p:sp>
      <p:sp>
        <p:nvSpPr>
          <p:cNvPr id="94" name="Rectangle 93"/>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восемь раз за лекцию</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РАЗОБРАНО НА СВОИХ КАДРАХ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из пятнадцати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строк реестра: свой кадр либо названное число внутри разбора</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ОСТАЛОСЬ В ГЛАВЕ И НА СЦЕНУ НЕ ВЫШЛО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потеряли свой кадр при сокращении, три стоят условно — их адрес за другим разделом</a:t>
            </a:r>
          </a:p>
        </p:txBody>
      </p:sp>
      <p:sp>
        <p:nvSpPr>
          <p:cNvPr id="12" name="Rounded Rectangle 11"/>
          <p:cNvSpPr/>
          <p:nvPr/>
        </p:nvSpPr>
        <p:spPr>
          <a:xfrm>
            <a:off x="374904" y="2803461"/>
            <a:ext cx="11441887" cy="3313590"/>
          </a:xfrm>
          <a:prstGeom prst="roundRect">
            <a:avLst>
              <a:gd name="adj" fmla="val 91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11112703" cy="3341306"/>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Правило счёта: номинация подтверждена, если её разбор был на экране. Из девяти строк ниже свой разбор есть у четырёх.</a:t>
            </a:r>
          </a:p>
          <a:p>
            <a:pPr algn="l">
              <a:lnSpc>
                <a:spcPct val="126000"/>
              </a:lnSpc>
              <a:spcBef>
                <a:spcPts val="700"/>
              </a:spcBef>
            </a:pPr>
            <a:r>
              <a:rPr sz="1400" b="0" i="0">
                <a:solidFill>
                  <a:srgbClr val="21295C"/>
                </a:solidFill>
                <a:latin typeface="Arial"/>
              </a:rPr>
              <a:t/>
            </a:r>
            <a:r>
              <a:rPr sz="1400" b="1" i="0">
                <a:solidFill>
                  <a:srgbClr val="21295C"/>
                </a:solidFill>
                <a:latin typeface="Arial"/>
              </a:rPr>
              <a:t>Копаешь — а там вообще нет модели.</a:t>
            </a:r>
            <a:r>
              <a:rPr sz="1400" b="0" i="0">
                <a:solidFill>
                  <a:srgbClr val="21295C"/>
                </a:solidFill>
                <a:latin typeface="Arial"/>
              </a:rPr>
              <a:t> Сортировка обращений оказалась деревом «если-то». Прибор, измеряющий насыщение крови кислородом, смещён ещё до модели. Тревога кардиомонитора — порог на приборе. </a:t>
            </a:r>
            <a:r>
              <a:rPr sz="1400" b="1" i="0">
                <a:solidFill>
                  <a:srgbClr val="21295C"/>
                </a:solidFill>
                <a:latin typeface="Arial"/>
              </a:rPr>
              <a:t>Убери модель</a:t>
            </a:r>
            <a:r>
              <a:rPr sz="1400" b="0" i="0">
                <a:solidFill>
                  <a:srgbClr val="21295C"/>
                </a:solidFill>
                <a:latin typeface="Arial"/>
              </a:rPr>
              <a:t> — механизм продолжит работать.</a:t>
            </a:r>
          </a:p>
          <a:p>
            <a:pPr algn="l">
              <a:lnSpc>
                <a:spcPct val="126000"/>
              </a:lnSpc>
              <a:spcBef>
                <a:spcPts val="700"/>
              </a:spcBef>
            </a:pPr>
            <a:r>
              <a:rPr sz="1400" b="0" i="0">
                <a:solidFill>
                  <a:srgbClr val="21295C"/>
                </a:solidFill>
                <a:latin typeface="Arial"/>
              </a:rPr>
              <a:t/>
            </a:r>
            <a:r>
              <a:rPr sz="1400" b="1" i="0">
                <a:solidFill>
                  <a:srgbClr val="21295C"/>
                </a:solidFill>
                <a:latin typeface="Arial"/>
              </a:rPr>
              <a:t>Копаешь — а выигрыш не там, где показывают.</a:t>
            </a:r>
            <a:r>
              <a:rPr sz="1400" b="0" i="0">
                <a:solidFill>
                  <a:srgbClr val="21295C"/>
                </a:solidFill>
                <a:latin typeface="Arial"/>
              </a:rPr>
              <a:t> Снижение смертности принадлежит новой роли; качеству прогноза оно не принадлежит. «ИИ изобрёл лекарство» — расчёту физики связывания под известную мишень. «Миллионы обработанных исследований» — объёму: знаменателя нет. </a:t>
            </a:r>
            <a:r>
              <a:rPr sz="1400" b="1" i="0">
                <a:solidFill>
                  <a:srgbClr val="21295C"/>
                </a:solidFill>
                <a:latin typeface="Arial"/>
              </a:rPr>
              <a:t>Спроси, от чего посчитан эффект.</a:t>
            </a:r>
          </a:p>
          <a:p>
            <a:pPr algn="l">
              <a:lnSpc>
                <a:spcPct val="126000"/>
              </a:lnSpc>
              <a:spcBef>
                <a:spcPts val="700"/>
              </a:spcBef>
            </a:pPr>
            <a:r>
              <a:rPr sz="1400" b="0" i="0">
                <a:solidFill>
                  <a:srgbClr val="21295C"/>
                </a:solidFill>
                <a:latin typeface="Arial"/>
              </a:rPr>
              <a:t/>
            </a:r>
            <a:r>
              <a:rPr sz="1400" b="1" i="0">
                <a:solidFill>
                  <a:srgbClr val="21295C"/>
                </a:solidFill>
                <a:latin typeface="Arial"/>
              </a:rPr>
              <a:t>Копаешь — а числа выросли при пересказе.</a:t>
            </a:r>
            <a:r>
              <a:rPr sz="1400" b="0" i="0">
                <a:solidFill>
                  <a:srgbClr val="21295C"/>
                </a:solidFill>
                <a:latin typeface="Arial"/>
              </a:rPr>
              <a:t> Рецензируемый обзор перепутал шесть первоисточников из семи своих. «Три секунды на описание исследования» оказались временем модели, поданным как время врача. «Экономия двойного чтения» взята из сценария, который авторы сами назвали вымышленным. </a:t>
            </a:r>
            <a:r>
              <a:rPr sz="1400" b="1" i="0">
                <a:solidFill>
                  <a:srgbClr val="21295C"/>
                </a:solidFill>
                <a:latin typeface="Arial"/>
              </a:rPr>
              <a:t>Открой первоисточник: выборка, дизайн, журнал.</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Итог карты: четыре занятые клетки, восемь пустых — и ни одной общей процедуры</a:t>
            </a:r>
          </a:p>
        </p:txBody>
      </p:sp>
      <p:sp>
        <p:nvSpPr>
          <p:cNvPr id="4" name="Rounded Rectangle 3"/>
          <p:cNvSpPr/>
          <p:nvPr/>
        </p:nvSpPr>
        <p:spPr>
          <a:xfrm>
            <a:off x="374904" y="1243584"/>
            <a:ext cx="11441887" cy="4926906"/>
          </a:xfrm>
          <a:prstGeom prst="roundRect">
            <a:avLst>
              <a:gd name="adj" fmla="val 61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78364"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8575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717860" y="1335024"/>
            <a:ext cx="2595911"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864164" y="1335024"/>
            <a:ext cx="230330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313772" y="1335024"/>
            <a:ext cx="2941797"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60076" y="1335024"/>
            <a:ext cx="264918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255569" y="1335024"/>
            <a:ext cx="339662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401873" y="1335024"/>
            <a:ext cx="310402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178364"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717860" y="1727520"/>
            <a:ext cx="2595911"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64164" y="1727520"/>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313772" y="1727520"/>
            <a:ext cx="2941797"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60076" y="1727520"/>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анализ · диагноз</a:t>
            </a:r>
          </a:p>
        </p:txBody>
      </p:sp>
      <p:sp>
        <p:nvSpPr>
          <p:cNvPr id="19" name="Rectangle 18"/>
          <p:cNvSpPr/>
          <p:nvPr/>
        </p:nvSpPr>
        <p:spPr>
          <a:xfrm>
            <a:off x="8255569" y="1727520"/>
            <a:ext cx="339662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401873" y="1727520"/>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178364"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717860" y="2120016"/>
            <a:ext cx="2595911"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64164" y="2120016"/>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313772" y="2120016"/>
            <a:ext cx="2941797"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60076" y="2120016"/>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удержание</a:t>
            </a:r>
          </a:p>
        </p:txBody>
      </p:sp>
      <p:sp>
        <p:nvSpPr>
          <p:cNvPr id="27" name="Rectangle 26"/>
          <p:cNvSpPr/>
          <p:nvPr/>
        </p:nvSpPr>
        <p:spPr>
          <a:xfrm>
            <a:off x="8255569" y="2120016"/>
            <a:ext cx="339662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401873" y="2120016"/>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178364"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717860" y="2512512"/>
            <a:ext cx="2595911"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64164" y="2512512"/>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запись</a:t>
            </a:r>
          </a:p>
        </p:txBody>
      </p:sp>
      <p:sp>
        <p:nvSpPr>
          <p:cNvPr id="33" name="Rectangle 32"/>
          <p:cNvSpPr/>
          <p:nvPr/>
        </p:nvSpPr>
        <p:spPr>
          <a:xfrm>
            <a:off x="5313772" y="2512512"/>
            <a:ext cx="2941797"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60076" y="2512512"/>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255569" y="2512512"/>
            <a:ext cx="339662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401873" y="2512512"/>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17836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717860" y="2905008"/>
            <a:ext cx="2595911"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64164" y="2905008"/>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313772" y="2905008"/>
            <a:ext cx="2941797"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60076" y="2905008"/>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255569" y="2905008"/>
            <a:ext cx="339662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401873" y="2905008"/>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анализ · наблюдение · лекарство</a:t>
            </a:r>
          </a:p>
        </p:txBody>
      </p:sp>
      <p:sp>
        <p:nvSpPr>
          <p:cNvPr id="45" name="TextBox 44"/>
          <p:cNvSpPr txBox="1"/>
          <p:nvPr/>
        </p:nvSpPr>
        <p:spPr>
          <a:xfrm>
            <a:off x="539496" y="344380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клетки из 12 показанных — окно курсовой сетки из 42. В восемь клеток за восемь разделов не зашёл никто.</a:t>
            </a:r>
            <a:r>
              <a:rPr sz="1300" b="0" i="0">
                <a:solidFill>
                  <a:srgbClr val="21295C"/>
                </a:solidFill>
                <a:latin typeface="Arial"/>
              </a:rPr>
              <a:t> Вне окна ещё три места: генерация структуры · распознавание на видео · измерение и сигнал прибора, где обученной модели нет вовсе.</a:t>
            </a:r>
          </a:p>
        </p:txBody>
      </p:sp>
      <p:sp>
        <p:nvSpPr>
          <p:cNvPr id="46" name="TextBox 45"/>
          <p:cNvSpPr txBox="1"/>
          <p:nvPr/>
        </p:nvSpPr>
        <p:spPr>
          <a:xfrm>
            <a:off x="539496" y="4116334"/>
            <a:ext cx="11112703" cy="789333"/>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те же, что в инженерии. Процедуры — разные, и ни одна не совпадает с другой:</a:t>
            </a:r>
            <a:r>
              <a:rPr sz="1300" b="0" i="0">
                <a:solidFill>
                  <a:srgbClr val="21295C"/>
                </a:solidFill>
                <a:latin typeface="Arial"/>
              </a:rPr>
              <a:t> на изображении держат двойное чтение и арбитраж · на прогнозе — разбор ложных тревог как рабочее время · на тексте — вычитку и подпись · на структуре — фазы испытаний.</a:t>
            </a:r>
          </a:p>
        </p:txBody>
      </p:sp>
      <p:sp>
        <p:nvSpPr>
          <p:cNvPr id="47" name="TextBox 46"/>
          <p:cNvSpPr txBox="1"/>
          <p:nvPr/>
        </p:nvSpPr>
        <p:spPr>
          <a:xfrm>
            <a:off x="539496" y="5051972"/>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в процедуре проверка, тем дольше живёт ошибка:</a:t>
            </a:r>
            <a:r>
              <a:rPr sz="1300" b="0" i="0">
                <a:solidFill>
                  <a:srgbClr val="21295C"/>
                </a:solidFill>
                <a:latin typeface="Arial"/>
              </a:rPr>
              <a:t> изображение — внутри смены, структура — во второй фазе испытаний, через годы.</a:t>
            </a:r>
          </a:p>
        </p:txBody>
      </p:sp>
      <p:sp>
        <p:nvSpPr>
          <p:cNvPr id="48" name="TextBox 47"/>
          <p:cNvSpPr txBox="1"/>
          <p:nvPr/>
        </p:nvSpPr>
        <p:spPr>
          <a:xfrm>
            <a:off x="539496" y="5724499"/>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Пятая строка, которой в сетке нет: результат исполнителя без инструмента не держится ничем</a:t>
            </a:r>
            <a:r>
              <a:rPr sz="1300" b="0" i="0">
                <a:solidFill>
                  <a:srgbClr val="21295C"/>
                </a:solidFill>
                <a:latin typeface="Arial"/>
              </a:rPr>
              <a:t> — такой процедуры нет ни у кого.</a:t>
            </a:r>
          </a:p>
        </p:txBody>
      </p:sp>
      <p:sp>
        <p:nvSpPr>
          <p:cNvPr id="49" name="Rectangle 48"/>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Чем заплатили: внимание, навык, подпись и арбитраж — и чем каждое держится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33876"/>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Четыре адреса платежа из начала возвращаются измерениями: внимание и навык — в поведении, арбитраж — в процессе, подпись — своей строкой.</a:t>
            </a:r>
          </a:p>
        </p:txBody>
      </p:sp>
      <p:sp>
        <p:nvSpPr>
          <p:cNvPr id="6" name="Rectangle 5"/>
          <p:cNvSpPr/>
          <p:nvPr/>
        </p:nvSpPr>
        <p:spPr>
          <a:xfrm>
            <a:off x="539496" y="1715204"/>
            <a:ext cx="1257390" cy="374263"/>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15204"/>
            <a:ext cx="9647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строка</a:t>
            </a:r>
          </a:p>
        </p:txBody>
      </p:sp>
      <p:sp>
        <p:nvSpPr>
          <p:cNvPr id="8" name="Rectangle 7"/>
          <p:cNvSpPr/>
          <p:nvPr/>
        </p:nvSpPr>
        <p:spPr>
          <a:xfrm>
            <a:off x="1796886" y="1715204"/>
            <a:ext cx="6316227" cy="374263"/>
          </a:xfrm>
          <a:prstGeom prst="rect">
            <a:avLst/>
          </a:prstGeom>
          <a:solidFill>
            <a:srgbClr val="065A82"/>
          </a:solidFill>
          <a:ln>
            <a:noFill/>
          </a:ln>
          <a:effectLst/>
        </p:spPr>
        <p:txBody>
          <a:bodyPr rtlCol="0" anchor="ctr"/>
          <a:lstStyle/>
          <a:p>
            <a:pPr algn="ctr"/>
          </a:p>
        </p:txBody>
      </p:sp>
      <p:sp>
        <p:nvSpPr>
          <p:cNvPr id="9" name="TextBox 8"/>
          <p:cNvSpPr txBox="1"/>
          <p:nvPr/>
        </p:nvSpPr>
        <p:spPr>
          <a:xfrm>
            <a:off x="1943190" y="1715204"/>
            <a:ext cx="6023619"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что измерено</a:t>
            </a:r>
          </a:p>
        </p:txBody>
      </p:sp>
      <p:sp>
        <p:nvSpPr>
          <p:cNvPr id="10" name="Rectangle 9"/>
          <p:cNvSpPr/>
          <p:nvPr/>
        </p:nvSpPr>
        <p:spPr>
          <a:xfrm>
            <a:off x="8113114" y="1715204"/>
            <a:ext cx="3539085" cy="37426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259418" y="1715204"/>
            <a:ext cx="3246477"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чем измерено</a:t>
            </a:r>
          </a:p>
        </p:txBody>
      </p:sp>
      <p:sp>
        <p:nvSpPr>
          <p:cNvPr id="12" name="Rectangle 11"/>
          <p:cNvSpPr/>
          <p:nvPr/>
        </p:nvSpPr>
        <p:spPr>
          <a:xfrm>
            <a:off x="539496" y="2089468"/>
            <a:ext cx="1257390" cy="793607"/>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089468"/>
            <a:ext cx="964782" cy="793607"/>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Поведение</a:t>
            </a:r>
          </a:p>
        </p:txBody>
      </p:sp>
      <p:sp>
        <p:nvSpPr>
          <p:cNvPr id="14" name="Rectangle 13"/>
          <p:cNvSpPr/>
          <p:nvPr/>
        </p:nvSpPr>
        <p:spPr>
          <a:xfrm>
            <a:off x="1796886" y="2089468"/>
            <a:ext cx="6316227" cy="793607"/>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943190" y="2089468"/>
            <a:ext cx="6023619"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зрительный поиск сужается при неверной подсказке · верное решение меняется под влиянием совета · техника падает без помощника · тревоги отклоняют массово</a:t>
            </a:r>
          </a:p>
        </p:txBody>
      </p:sp>
      <p:sp>
        <p:nvSpPr>
          <p:cNvPr id="16" name="Rectangle 15"/>
          <p:cNvSpPr/>
          <p:nvPr/>
        </p:nvSpPr>
        <p:spPr>
          <a:xfrm>
            <a:off x="8113114" y="2089468"/>
            <a:ext cx="3539085" cy="793607"/>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259418" y="2089468"/>
            <a:ext cx="3246477"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замер взгляда · систематический обзор · наблюдение, повторения нет · обзор отклонений</a:t>
            </a:r>
          </a:p>
        </p:txBody>
      </p:sp>
      <p:sp>
        <p:nvSpPr>
          <p:cNvPr id="18" name="Rectangle 17"/>
          <p:cNvSpPr/>
          <p:nvPr/>
        </p:nvSpPr>
        <p:spPr>
          <a:xfrm>
            <a:off x="539496" y="2883075"/>
            <a:ext cx="1257390" cy="793607"/>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883075"/>
            <a:ext cx="964782" cy="793607"/>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Психология</a:t>
            </a:r>
          </a:p>
        </p:txBody>
      </p:sp>
      <p:sp>
        <p:nvSpPr>
          <p:cNvPr id="20" name="Rectangle 19"/>
          <p:cNvSpPr/>
          <p:nvPr/>
        </p:nvSpPr>
        <p:spPr>
          <a:xfrm>
            <a:off x="1796886" y="2883075"/>
            <a:ext cx="6316227" cy="793607"/>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943190" y="2883075"/>
            <a:ext cx="6023619"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объяснение повышает согласие; качество решения оно не повышает · запись пишется быстрее, вычитка остаётся</a:t>
            </a:r>
          </a:p>
        </p:txBody>
      </p:sp>
      <p:sp>
        <p:nvSpPr>
          <p:cNvPr id="22" name="Rectangle 21"/>
          <p:cNvSpPr/>
          <p:nvPr/>
        </p:nvSpPr>
        <p:spPr>
          <a:xfrm>
            <a:off x="8113114" y="2883075"/>
            <a:ext cx="3539085" cy="793607"/>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259418" y="2883075"/>
            <a:ext cx="3246477"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полевой опыт · рандомизированное исследование с замером рабочего времени</a:t>
            </a:r>
          </a:p>
        </p:txBody>
      </p:sp>
      <p:sp>
        <p:nvSpPr>
          <p:cNvPr id="24" name="Rectangle 23"/>
          <p:cNvSpPr/>
          <p:nvPr/>
        </p:nvSpPr>
        <p:spPr>
          <a:xfrm>
            <a:off x="539496" y="3676682"/>
            <a:ext cx="1257390" cy="583935"/>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676682"/>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Процесс</a:t>
            </a:r>
          </a:p>
        </p:txBody>
      </p:sp>
      <p:sp>
        <p:nvSpPr>
          <p:cNvPr id="26" name="Rectangle 25"/>
          <p:cNvSpPr/>
          <p:nvPr/>
        </p:nvSpPr>
        <p:spPr>
          <a:xfrm>
            <a:off x="1796886" y="3676682"/>
            <a:ext cx="6316227" cy="583935"/>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943190" y="3676682"/>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роль второго проверяющего переходит от человека к модели</a:t>
            </a:r>
          </a:p>
        </p:txBody>
      </p:sp>
      <p:sp>
        <p:nvSpPr>
          <p:cNvPr id="28" name="Rectangle 27"/>
          <p:cNvSpPr/>
          <p:nvPr/>
        </p:nvSpPr>
        <p:spPr>
          <a:xfrm>
            <a:off x="8113114" y="3676682"/>
            <a:ext cx="3539085" cy="583935"/>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259418" y="3676682"/>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рандомизированное исследование программы скрининга</a:t>
            </a:r>
          </a:p>
        </p:txBody>
      </p:sp>
      <p:sp>
        <p:nvSpPr>
          <p:cNvPr id="30" name="Rectangle 29"/>
          <p:cNvSpPr/>
          <p:nvPr/>
        </p:nvSpPr>
        <p:spPr>
          <a:xfrm>
            <a:off x="539496" y="4260618"/>
            <a:ext cx="1257390" cy="583935"/>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260618"/>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Подпись</a:t>
            </a:r>
          </a:p>
        </p:txBody>
      </p:sp>
      <p:sp>
        <p:nvSpPr>
          <p:cNvPr id="32" name="Rectangle 31"/>
          <p:cNvSpPr/>
          <p:nvPr/>
        </p:nvSpPr>
        <p:spPr>
          <a:xfrm>
            <a:off x="1796886" y="4260618"/>
            <a:ext cx="6316227" cy="583935"/>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943190" y="4260618"/>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норма требует человека финальным звеном — проверено у </a:t>
            </a:r>
            <a:r>
              <a:rPr sz="1150" b="1" i="0">
                <a:solidFill>
                  <a:srgbClr val="21295C"/>
                </a:solidFill>
                <a:latin typeface="Arial"/>
              </a:rPr>
              <a:t>56 из 717</a:t>
            </a:r>
            <a:r>
              <a:rPr sz="1150" b="0" i="0">
                <a:solidFill>
                  <a:srgbClr val="21295C"/>
                </a:solidFill>
                <a:latin typeface="Arial"/>
              </a:rPr>
              <a:t> · надзор говорит о способности вмешаться, о подписи не сказано</a:t>
            </a:r>
          </a:p>
        </p:txBody>
      </p:sp>
      <p:sp>
        <p:nvSpPr>
          <p:cNvPr id="34" name="Rectangle 33"/>
          <p:cNvSpPr/>
          <p:nvPr/>
        </p:nvSpPr>
        <p:spPr>
          <a:xfrm>
            <a:off x="8113114" y="4260618"/>
            <a:ext cx="3539085" cy="583935"/>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259418" y="4260618"/>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обзор поданной регуляторам документации · нормативный текст</a:t>
            </a:r>
          </a:p>
        </p:txBody>
      </p:sp>
      <p:sp>
        <p:nvSpPr>
          <p:cNvPr id="36" name="Rectangle 35"/>
          <p:cNvSpPr/>
          <p:nvPr/>
        </p:nvSpPr>
        <p:spPr>
          <a:xfrm>
            <a:off x="539496" y="4844553"/>
            <a:ext cx="1257390" cy="583935"/>
          </a:xfrm>
          <a:prstGeom prst="rect">
            <a:avLst/>
          </a:prstGeom>
          <a:solidFill>
            <a:srgbClr val="FFFFFF"/>
          </a:solidFill>
          <a:ln w="12700">
            <a:solidFill>
              <a:srgbClr val="D9E2EC"/>
            </a:solidFill>
          </a:ln>
          <a:effectLst/>
        </p:spPr>
        <p:txBody>
          <a:bodyPr rtlCol="0" anchor="ctr"/>
          <a:lstStyle/>
          <a:p>
            <a:pPr algn="ctr"/>
          </a:p>
        </p:txBody>
      </p:sp>
      <p:sp>
        <p:nvSpPr>
          <p:cNvPr id="37" name="TextBox 36"/>
          <p:cNvSpPr txBox="1"/>
          <p:nvPr/>
        </p:nvSpPr>
        <p:spPr>
          <a:xfrm>
            <a:off x="685800" y="4844553"/>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Контроль</a:t>
            </a:r>
          </a:p>
        </p:txBody>
      </p:sp>
      <p:sp>
        <p:nvSpPr>
          <p:cNvPr id="38" name="Rectangle 37"/>
          <p:cNvSpPr/>
          <p:nvPr/>
        </p:nvSpPr>
        <p:spPr>
          <a:xfrm>
            <a:off x="1796886" y="4844553"/>
            <a:ext cx="6316227" cy="583935"/>
          </a:xfrm>
          <a:prstGeom prst="rect">
            <a:avLst/>
          </a:prstGeom>
          <a:solidFill>
            <a:srgbClr val="FFFFFF"/>
          </a:solidFill>
          <a:ln w="12700">
            <a:solidFill>
              <a:srgbClr val="D9E2EC"/>
            </a:solidFill>
          </a:ln>
          <a:effectLst/>
        </p:spPr>
        <p:txBody>
          <a:bodyPr rtlCol="0" anchor="ctr"/>
          <a:lstStyle/>
          <a:p>
            <a:pPr algn="ctr"/>
          </a:p>
        </p:txBody>
      </p:sp>
      <p:sp>
        <p:nvSpPr>
          <p:cNvPr id="39" name="TextBox 38"/>
          <p:cNvSpPr txBox="1"/>
          <p:nvPr/>
        </p:nvSpPr>
        <p:spPr>
          <a:xfrm>
            <a:off x="1943190" y="4844553"/>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разная структура ошибок человека и модели даёт выигрыш пары</a:t>
            </a:r>
          </a:p>
        </p:txBody>
      </p:sp>
      <p:sp>
        <p:nvSpPr>
          <p:cNvPr id="40" name="Rectangle 39"/>
          <p:cNvSpPr/>
          <p:nvPr/>
        </p:nvSpPr>
        <p:spPr>
          <a:xfrm>
            <a:off x="8113114" y="4844553"/>
            <a:ext cx="3539085" cy="583935"/>
          </a:xfrm>
          <a:prstGeom prst="rect">
            <a:avLst/>
          </a:prstGeom>
          <a:solidFill>
            <a:srgbClr val="FFFFFF"/>
          </a:solidFill>
          <a:ln w="12700">
            <a:solidFill>
              <a:srgbClr val="D9E2EC"/>
            </a:solidFill>
          </a:ln>
          <a:effectLst/>
        </p:spPr>
        <p:txBody>
          <a:bodyPr rtlCol="0" anchor="ctr"/>
          <a:lstStyle/>
          <a:p>
            <a:pPr algn="ctr"/>
          </a:p>
        </p:txBody>
      </p:sp>
      <p:sp>
        <p:nvSpPr>
          <p:cNvPr id="41" name="TextBox 40"/>
          <p:cNvSpPr txBox="1"/>
          <p:nvPr/>
        </p:nvSpPr>
        <p:spPr>
          <a:xfrm>
            <a:off x="8259418" y="4844553"/>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крупное агрегационное исследование, повторения нет</a:t>
            </a:r>
          </a:p>
        </p:txBody>
      </p:sp>
      <p:sp>
        <p:nvSpPr>
          <p:cNvPr id="42" name="TextBox 41"/>
          <p:cNvSpPr txBox="1"/>
          <p:nvPr/>
        </p:nvSpPr>
        <p:spPr>
          <a:xfrm>
            <a:off x="539496" y="55747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И то, чего нет ни в одной строке: исхода пациента нет ни у одного разбора ядра.</a:t>
            </a:r>
            <a:r>
              <a:rPr sz="1200" b="0" i="0">
                <a:solidFill>
                  <a:srgbClr val="21295C"/>
                </a:solidFill>
                <a:latin typeface="Arial"/>
              </a:rPr>
              <a:t> Никто не проверил, что случилось с больным из-за того, что врач стал хуже смотреть.</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РАЗРЯД СВИДЕТЕЛЬСТВА У ПЕРВОЙ СТУПЕНИ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рандомизированное исследование</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программа скрининга, 80 033 женщины</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РАЗРЯД СВИДЕТЕЛЬСТВА У ЧЕТВЁРТОЙ, САМОЙ ЧАСТОЙ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счёт секунд — около двух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проверки подсказки; замер вне медицины — программисты с ассистентом кода</a:t>
            </a:r>
          </a:p>
        </p:txBody>
      </p:sp>
      <p:sp>
        <p:nvSpPr>
          <p:cNvPr id="12" name="Rounded Rectangle 11"/>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первым</a:t>
            </a:r>
            <a:r>
              <a:rPr sz="1400" b="0" i="0">
                <a:solidFill>
                  <a:srgbClr val="21295C"/>
                </a:solidFill>
                <a:latin typeface="Arial"/>
              </a:rPr>
              <a:t> — читает сам, модель даёт второе мнение; при расхождении идёт арбитраж. </a:t>
            </a:r>
            <a:r>
              <a:rPr sz="1400" b="0" i="1">
                <a:solidFill>
                  <a:srgbClr val="21295C"/>
                </a:solidFill>
                <a:latin typeface="Arial"/>
              </a:rPr>
              <a:t>Рандомизированное исследование программы скрининга.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вторым</a:t>
            </a:r>
            <a:r>
              <a:rPr sz="1400" b="0" i="0">
                <a:solidFill>
                  <a:srgbClr val="21295C"/>
                </a:solidFill>
                <a:latin typeface="Arial"/>
              </a:rPr>
              <a:t> — читает после модели: внимание сужается, верное решение иногда меняется на неверное. </a:t>
            </a:r>
            <a:r>
              <a:rPr sz="1400" b="0" i="1">
                <a:solidFill>
                  <a:srgbClr val="21295C"/>
                </a:solidFill>
                <a:latin typeface="Arial"/>
              </a:rPr>
              <a:t>Чтение с замером взгляда и систематический обзор.</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Смотрит только спорное</a:t>
            </a:r>
            <a:r>
              <a:rPr sz="1400" b="0" i="0">
                <a:solidFill>
                  <a:srgbClr val="21295C"/>
                </a:solidFill>
                <a:latin typeface="Arial"/>
              </a:rPr>
              <a:t> — разбирает то, что модель отметила; остальное проходит мимо. </a:t>
            </a:r>
            <a:r>
              <a:rPr sz="1400" b="0" i="1">
                <a:solidFill>
                  <a:srgbClr val="21295C"/>
                </a:solidFill>
                <a:latin typeface="Arial"/>
              </a:rPr>
              <a:t>Обзор отклонений тревог и модель раннего предупреждения.</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Подписывает не глядя</a:t>
            </a:r>
            <a:r>
              <a:rPr sz="1400" b="0" i="0">
                <a:solidFill>
                  <a:srgbClr val="21295C"/>
                </a:solidFill>
                <a:latin typeface="Arial"/>
              </a:rPr>
              <a:t> — подпись есть, чтения нет. </a:t>
            </a:r>
            <a:r>
              <a:rPr sz="1400" b="0" i="1">
                <a:solidFill>
                  <a:srgbClr val="21295C"/>
                </a:solidFill>
                <a:latin typeface="Arial"/>
              </a:rPr>
              <a:t>Счёт секунд в лабораторном опыте и доля изделий, у которых способность вмешаться вообще проверяли.</a:t>
            </a:r>
          </a:p>
          <a:p>
            <a:pPr algn="l">
              <a:lnSpc>
                <a:spcPct val="126000"/>
              </a:lnSpc>
              <a:spcBef>
                <a:spcPts val="700"/>
              </a:spcBef>
            </a:pPr>
            <a:r>
              <a:rPr sz="1400" b="0" i="0">
                <a:solidFill>
                  <a:srgbClr val="21295C"/>
                </a:solidFill>
                <a:latin typeface="Arial"/>
              </a:rPr>
              <a:t/>
            </a:r>
            <a:r>
              <a:rPr sz="1400" b="0" i="0">
                <a:solidFill>
                  <a:srgbClr val="21295C"/>
                </a:solidFill>
                <a:latin typeface="Arial"/>
              </a:rPr>
              <a:t>«Человек в контуре» — формулировка вопроса. Разряд свидетельства падает по мере того, как участие формальнее: про самую частую ступень известно меньше всего.</a:t>
            </a:r>
          </a:p>
          <a:p>
            <a:pPr algn="l">
              <a:lnSpc>
                <a:spcPct val="126000"/>
              </a:lnSpc>
              <a:spcBef>
                <a:spcPts val="700"/>
              </a:spcBef>
            </a:pPr>
            <a:r>
              <a:rPr sz="1400" b="0" i="0">
                <a:solidFill>
                  <a:srgbClr val="21295C"/>
                </a:solidFill>
                <a:latin typeface="Arial"/>
              </a:rPr>
              <a:t/>
            </a:r>
            <a:r>
              <a:rPr sz="1400" b="0" i="0">
                <a:solidFill>
                  <a:srgbClr val="21295C"/>
                </a:solidFill>
                <a:latin typeface="Arial"/>
              </a:rPr>
              <a:t>Четвёртая ступень — не чья-то вина: она следствие устройства процедуры и переделывается процедурой.</a:t>
            </a:r>
          </a:p>
        </p:txBody>
      </p:sp>
      <p:sp>
        <p:nvSpPr>
          <p:cNvPr id="15" name="Rectangle 14"/>
          <p:cNvSpPr/>
          <p:nvPr/>
        </p:nvSpPr>
        <p:spPr>
          <a:xfrm>
            <a:off x="6091275" y="2894901"/>
            <a:ext cx="9144" cy="33165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Что было обещано в начале — и чем лекция это отработала · 2. Изделие отзовут, решения этого года останутся · 3. Три проверки, которые работают в любой отрасли, и вопрос залу</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 ВЫДАНО ЧЕЛОВЕКУ</a:t>
            </a:r>
          </a:p>
        </p:txBody>
      </p:sp>
      <p:sp>
        <p:nvSpPr>
          <p:cNvPr id="6" name="TextBox 5"/>
          <p:cNvSpPr txBox="1"/>
          <p:nvPr/>
        </p:nvSpPr>
        <p:spPr>
          <a:xfrm>
            <a:off x="640080" y="1725375"/>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3221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изделия, срез июнь 2024 года</a:t>
            </a:r>
          </a:p>
        </p:txBody>
      </p:sp>
      <p:sp>
        <p:nvSpPr>
          <p:cNvPr id="8" name="Rounded Rectangle 7"/>
          <p:cNvSpPr/>
          <p:nvPr/>
        </p:nvSpPr>
        <p:spPr>
          <a:xfrm>
            <a:off x="4286402" y="1335024"/>
            <a:ext cx="3618890"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933220"/>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подтверждён, величина — нет</a:t>
            </a:r>
          </a:p>
        </p:txBody>
      </p:sp>
      <p:sp>
        <p:nvSpPr>
          <p:cNvPr id="12" name="Rounded Rectangle 11"/>
          <p:cNvSpPr/>
          <p:nvPr/>
        </p:nvSpPr>
        <p:spPr>
          <a:xfrm>
            <a:off x="8069884" y="1335024"/>
            <a:ext cx="3618890"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проведённую процедуру не переделать</a:t>
            </a:r>
          </a:p>
        </p:txBody>
      </p:sp>
      <p:sp>
        <p:nvSpPr>
          <p:cNvPr id="15" name="TextBox 14"/>
          <p:cNvSpPr txBox="1"/>
          <p:nvPr/>
        </p:nvSpPr>
        <p:spPr>
          <a:xfrm>
            <a:off x="8207044" y="293322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принятые до отзыва решения вместе с изделием не отзываются</a:t>
            </a:r>
          </a:p>
        </p:txBody>
      </p:sp>
      <p:sp>
        <p:nvSpPr>
          <p:cNvPr id="16" name="Rounded Rectangle 15"/>
          <p:cNvSpPr/>
          <p:nvPr/>
        </p:nvSpPr>
        <p:spPr>
          <a:xfrm>
            <a:off x="374904" y="3584307"/>
            <a:ext cx="11441887" cy="2475369"/>
          </a:xfrm>
          <a:prstGeom prst="roundRect">
            <a:avLst>
              <a:gd name="adj" fmla="val 1231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75747"/>
            <a:ext cx="11112703" cy="2383929"/>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250" b="0" i="0">
                <a:solidFill>
                  <a:srgbClr val="21295C"/>
                </a:solidFill>
                <a:latin typeface="Arial"/>
              </a:rPr>
              <a:t/>
            </a:r>
            <a:r>
              <a:rPr sz="1250" b="1" i="0">
                <a:solidFill>
                  <a:srgbClr val="21295C"/>
                </a:solidFill>
                <a:latin typeface="Arial"/>
              </a:rPr>
              <a:t>Право подписи.</a:t>
            </a:r>
            <a:r>
              <a:rPr sz="1250" b="0" i="0">
                <a:solidFill>
                  <a:srgbClr val="21295C"/>
                </a:solidFill>
                <a:latin typeface="Arial"/>
              </a:rPr>
              <a:t> При разборе случая комиссия оценивает действия человека; вопроса о модели в этой процедуре нет. А способен ли человек этим правом воспользоваться, проверяют редко.</a:t>
            </a:r>
          </a:p>
          <a:p>
            <a:pPr algn="l">
              <a:lnSpc>
                <a:spcPct val="126000"/>
              </a:lnSpc>
              <a:spcBef>
                <a:spcPts val="700"/>
              </a:spcBef>
            </a:pPr>
            <a:r>
              <a:rPr sz="1250" b="0" i="0">
                <a:solidFill>
                  <a:srgbClr val="21295C"/>
                </a:solidFill>
                <a:latin typeface="Arial"/>
              </a:rPr>
              <a:t/>
            </a:r>
            <a:r>
              <a:rPr sz="1250" b="1" i="0">
                <a:solidFill>
                  <a:srgbClr val="21295C"/>
                </a:solidFill>
                <a:latin typeface="Arial"/>
              </a:rPr>
              <a:t>Ошибается иначе.</a:t>
            </a:r>
            <a:r>
              <a:rPr sz="1250" b="0" i="0">
                <a:solidFill>
                  <a:srgbClr val="21295C"/>
                </a:solidFill>
                <a:latin typeface="Arial"/>
              </a:rPr>
              <a:t> Направление подтверждено: на 106 опытах знак выигрыша пары зависит от того, какая сторона сильнее на задаче. Величины у опоры нет, и сказано это той же строкой, которой лекция требовала базу у чужих чисел.</a:t>
            </a:r>
          </a:p>
          <a:p>
            <a:pPr algn="l">
              <a:lnSpc>
                <a:spcPct val="126000"/>
              </a:lnSpc>
              <a:spcBef>
                <a:spcPts val="700"/>
              </a:spcBef>
            </a:pPr>
            <a:r>
              <a:rPr sz="1250" b="0" i="0">
                <a:solidFill>
                  <a:srgbClr val="21295C"/>
                </a:solidFill>
                <a:latin typeface="Arial"/>
              </a:rPr>
              <a:t/>
            </a:r>
            <a:r>
              <a:rPr sz="1250" b="1" i="0">
                <a:solidFill>
                  <a:srgbClr val="21295C"/>
                </a:solidFill>
                <a:latin typeface="Arial"/>
              </a:rPr>
              <a:t>Отменить нельзя.</a:t>
            </a:r>
            <a:r>
              <a:rPr sz="1250" b="0" i="0">
                <a:solidFill>
                  <a:srgbClr val="21295C"/>
                </a:solidFill>
                <a:latin typeface="Arial"/>
              </a:rPr>
              <a:t> Операцию не отменить задним числом, год наблюдения не переиграть; процедуры, проведённые упавшей рукой, уже проведены.</a:t>
            </a:r>
          </a:p>
          <a:p>
            <a:pPr algn="l">
              <a:lnSpc>
                <a:spcPct val="126000"/>
              </a:lnSpc>
              <a:spcBef>
                <a:spcPts val="700"/>
              </a:spcBef>
            </a:pPr>
            <a:r>
              <a:rPr sz="1250" b="0" i="0">
                <a:solidFill>
                  <a:srgbClr val="21295C"/>
                </a:solidFill>
                <a:latin typeface="Arial"/>
              </a:rPr>
              <a:t/>
            </a:r>
            <a:r>
              <a:rPr sz="1250" b="1" i="0">
                <a:solidFill>
                  <a:srgbClr val="21295C"/>
                </a:solidFill>
                <a:latin typeface="Arial"/>
              </a:rPr>
              <a:t>Норма сформулирована как способность вмешаться.</a:t>
            </a:r>
            <a:r>
              <a:rPr sz="1250" b="0" i="0">
                <a:solidFill>
                  <a:srgbClr val="21295C"/>
                </a:solidFill>
                <a:latin typeface="Arial"/>
              </a:rPr>
              <a:t> Присутствие само по себе её не исполняет, и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B., Kramer P., … Dai T., JAMA Health Forum 2025;6(8):e253172, DOI 10.1001/jamahealthforum.2025.3172, срез ноябрь 2024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3852367"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507794"/>
            <a:ext cx="357804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ОТЗЫВОВ В ПЕРВЫЕ ДВЕНАДЦАТЬ МЕСЯЦЕВ</a:t>
            </a:r>
          </a:p>
        </p:txBody>
      </p:sp>
      <p:sp>
        <p:nvSpPr>
          <p:cNvPr id="8" name="TextBox 7"/>
          <p:cNvSpPr txBox="1"/>
          <p:nvPr/>
        </p:nvSpPr>
        <p:spPr>
          <a:xfrm>
            <a:off x="640080" y="196845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395456"/>
            <a:ext cx="357804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событий из 182 на 60 отозванных изделий из 950; ноябрь 2024</a:t>
            </a:r>
          </a:p>
        </p:txBody>
      </p:sp>
      <p:sp>
        <p:nvSpPr>
          <p:cNvPr id="10" name="Rounded Rectangle 9"/>
          <p:cNvSpPr/>
          <p:nvPr/>
        </p:nvSpPr>
        <p:spPr>
          <a:xfrm>
            <a:off x="502920" y="3137983"/>
            <a:ext cx="1770735" cy="1886510"/>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3293431"/>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896060"/>
            <a:ext cx="1441551" cy="9729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37983"/>
            <a:ext cx="1770735" cy="1886510"/>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3293431"/>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896060"/>
            <a:ext cx="1441551" cy="97298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Решение до отзыва</a:t>
            </a:r>
          </a:p>
          <a:p>
            <a:pPr algn="l">
              <a:lnSpc>
                <a:spcPct val="126000"/>
              </a:lnSpc>
            </a:pPr>
            <a:r>
              <a:rPr sz="12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0" i="0">
                <a:solidFill>
                  <a:srgbClr val="21295C"/>
                </a:solidFill>
                <a:latin typeface="Arial"/>
              </a:rPr>
              <a:t>Разрыв между этими двумя вещами измерен, и его стоит приложить к своему рабочему контуру: что в нём отзывается, а что остаётся после отзыва.</a:t>
            </a:r>
          </a:p>
          <a:p>
            <a:pPr algn="l">
              <a:lnSpc>
                <a:spcPct val="126000"/>
              </a:lnSpc>
              <a:spcBef>
                <a:spcPts val="700"/>
              </a:spcBef>
            </a:pPr>
            <a:r>
              <a:rPr sz="1200" b="0" i="0">
                <a:solidFill>
                  <a:srgbClr val="21295C"/>
                </a:solidFill>
                <a:latin typeface="Arial"/>
              </a:rPr>
              <a:t/>
            </a:r>
            <a:r>
              <a:rPr sz="1200" b="0" i="0">
                <a:solidFill>
                  <a:srgbClr val="21295C"/>
                </a:solidFill>
                <a:latin typeface="Arial"/>
              </a:rPr>
              <a:t>Дальше — отрасль, где ошибку почти всегда можно отменить, и спор там идёт о принадлежности результата. Цена ошибки в нём почти не звучит.</a:t>
            </a:r>
          </a:p>
        </p:txBody>
      </p:sp>
      <p:sp>
        <p:nvSpPr>
          <p:cNvPr id="18" name="Rectangle 17"/>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B., Kramer P., Sandri S., … Dai T., JAMA Health Forum 2025;6(8):e253172, DOI 10.1001/jamahealthforum.2025.3172, срез ноябрь 2024</a:t>
            </a:r>
            <a:r>
              <a:rPr sz="1200" b="0" i="1">
                <a:solidFill>
                  <a:srgbClr val="1C7293"/>
                </a:solidFill>
                <a:latin typeface="Arial"/>
              </a:rPr>
              <a:t> · </a:t>
            </a:r>
            <a:r>
              <a:rPr sz="12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которые работают в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у человека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как часто возражает и как часто правильно. Не измерена ни одна — «человек проверяет» ничем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который надо прочитать. Измеренная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и принятое без предварительной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