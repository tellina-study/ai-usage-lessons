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16/j.gie.2014.07.058"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Шесть разборов берут разные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шесть разборов — сперва три про стадию исследования, потом три про точность и качество диагноза.</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измерен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исследования, по порядку:</a:t>
            </a:r>
            <a:r>
              <a:rPr sz="1550" b="0" i="0">
                <a:solidFill>
                  <a:srgbClr val="21295C"/>
                </a:solidFill>
                <a:latin typeface="Arial"/>
              </a:rPr>
              <a:t>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расходы вместо болезни</a:t>
            </a:r>
          </a:p>
        </p:txBody>
      </p:sp>
      <p:sp>
        <p:nvSpPr>
          <p:cNvPr id="10" name="TextBox 9"/>
          <p:cNvSpPr txBox="1"/>
          <p:nvPr/>
        </p:nvSpPr>
        <p:spPr>
          <a:xfrm>
            <a:off x="704088" y="441851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диагноза:</a:t>
            </a:r>
            <a:r>
              <a:rPr sz="1550" b="0" i="0">
                <a:solidFill>
                  <a:srgbClr val="21295C"/>
                </a:solidFill>
                <a:latin typeface="Arial"/>
              </a:rPr>
              <a:t> </a:t>
            </a:r>
            <a:r>
              <a:rPr sz="1550" b="1" i="0">
                <a:solidFill>
                  <a:srgbClr val="21295C"/>
                </a:solidFill>
                <a:latin typeface="Arial"/>
              </a:rPr>
              <a:t>Пример 3: замер взгляда радиолога</a:t>
            </a:r>
            <a:r>
              <a:rPr sz="1550" b="0" i="0">
                <a:solidFill>
                  <a:srgbClr val="21295C"/>
                </a:solidFill>
                <a:latin typeface="Arial"/>
              </a:rPr>
              <a:t> · </a:t>
            </a:r>
            <a:r>
              <a:rPr sz="1550" b="1" i="0">
                <a:solidFill>
                  <a:srgbClr val="21295C"/>
                </a:solidFill>
                <a:latin typeface="Arial"/>
              </a:rPr>
              <a:t>Пример 4: одна подсказка с двумя знаками</a:t>
            </a:r>
            <a:r>
              <a:rPr sz="1550" b="0" i="0">
                <a:solidFill>
                  <a:srgbClr val="21295C"/>
                </a:solidFill>
                <a:latin typeface="Arial"/>
              </a:rPr>
              <a:t> · </a:t>
            </a:r>
            <a:r>
              <a:rPr sz="1550" b="1" i="0">
                <a:solidFill>
                  <a:srgbClr val="21295C"/>
                </a:solidFill>
                <a:latin typeface="Arial"/>
              </a:rPr>
              <a:t>Пример 5: контрольная линия</a:t>
            </a:r>
            <a:r>
              <a:rPr sz="1550" b="0" i="0">
                <a:solidFill>
                  <a:srgbClr val="21295C"/>
                </a:solidFill>
                <a:latin typeface="Arial"/>
              </a:rPr>
              <a:t> · </a:t>
            </a:r>
            <a:r>
              <a:rPr sz="1550" b="1" i="0">
                <a:solidFill>
                  <a:srgbClr val="21295C"/>
                </a:solidFill>
                <a:latin typeface="Arial"/>
              </a:rPr>
              <a:t>Пример 6: хирурги на септическом шоке</a:t>
            </a:r>
          </a:p>
        </p:txBody>
      </p:sp>
      <p:sp>
        <p:nvSpPr>
          <p:cNvPr id="11" name="TextBox 10"/>
          <p:cNvSpPr txBox="1"/>
          <p:nvPr/>
        </p:nvSpPr>
        <p:spPr>
          <a:xfrm>
            <a:off x="704088" y="5489382"/>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78774"/>
          </a:xfrm>
          <a:prstGeom prst="roundRect">
            <a:avLst>
              <a:gd name="adj" fmla="val 612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Четыре платежа из начала — поимённо, с измерением под каждым.</a:t>
            </a:r>
          </a:p>
        </p:txBody>
      </p:sp>
      <p:sp>
        <p:nvSpPr>
          <p:cNvPr id="6" name="Rectangle 5"/>
          <p:cNvSpPr/>
          <p:nvPr/>
        </p:nvSpPr>
        <p:spPr>
          <a:xfrm>
            <a:off x="539496" y="1754184"/>
            <a:ext cx="1227603" cy="401612"/>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54184"/>
            <a:ext cx="93499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платёж</a:t>
            </a:r>
          </a:p>
        </p:txBody>
      </p:sp>
      <p:sp>
        <p:nvSpPr>
          <p:cNvPr id="8" name="Rectangle 7"/>
          <p:cNvSpPr/>
          <p:nvPr/>
        </p:nvSpPr>
        <p:spPr>
          <a:xfrm>
            <a:off x="1767099" y="1754184"/>
            <a:ext cx="6389189" cy="401612"/>
          </a:xfrm>
          <a:prstGeom prst="rect">
            <a:avLst/>
          </a:prstGeom>
          <a:solidFill>
            <a:srgbClr val="065A82"/>
          </a:solidFill>
          <a:ln>
            <a:noFill/>
          </a:ln>
          <a:effectLst/>
        </p:spPr>
        <p:txBody>
          <a:bodyPr rtlCol="0" anchor="ctr"/>
          <a:lstStyle/>
          <a:p>
            <a:pPr algn="ctr"/>
          </a:p>
        </p:txBody>
      </p:sp>
      <p:sp>
        <p:nvSpPr>
          <p:cNvPr id="9" name="TextBox 8"/>
          <p:cNvSpPr txBox="1"/>
          <p:nvPr/>
        </p:nvSpPr>
        <p:spPr>
          <a:xfrm>
            <a:off x="1913403" y="1754184"/>
            <a:ext cx="6096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заплачено</a:t>
            </a:r>
          </a:p>
        </p:txBody>
      </p:sp>
      <p:sp>
        <p:nvSpPr>
          <p:cNvPr id="10" name="Rectangle 9"/>
          <p:cNvSpPr/>
          <p:nvPr/>
        </p:nvSpPr>
        <p:spPr>
          <a:xfrm>
            <a:off x="8156288" y="1754184"/>
            <a:ext cx="3495910" cy="40161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302592" y="1754184"/>
            <a:ext cx="32033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измерено</a:t>
            </a:r>
          </a:p>
        </p:txBody>
      </p:sp>
      <p:sp>
        <p:nvSpPr>
          <p:cNvPr id="12" name="Rectangle 11"/>
          <p:cNvSpPr/>
          <p:nvPr/>
        </p:nvSpPr>
        <p:spPr>
          <a:xfrm>
            <a:off x="539496" y="2155796"/>
            <a:ext cx="1227603" cy="638632"/>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55796"/>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Внимание</a:t>
            </a:r>
          </a:p>
        </p:txBody>
      </p:sp>
      <p:sp>
        <p:nvSpPr>
          <p:cNvPr id="14" name="Rectangle 13"/>
          <p:cNvSpPr/>
          <p:nvPr/>
        </p:nvSpPr>
        <p:spPr>
          <a:xfrm>
            <a:off x="1767099" y="2155796"/>
            <a:ext cx="6389189" cy="638632"/>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13403" y="2155796"/>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8156288" y="2155796"/>
            <a:ext cx="3495910" cy="638632"/>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302592" y="2155796"/>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лабораторный замер взгляда</a:t>
            </a:r>
          </a:p>
        </p:txBody>
      </p:sp>
      <p:sp>
        <p:nvSpPr>
          <p:cNvPr id="18" name="Rectangle 17"/>
          <p:cNvSpPr/>
          <p:nvPr/>
        </p:nvSpPr>
        <p:spPr>
          <a:xfrm>
            <a:off x="539496" y="2794428"/>
            <a:ext cx="1227603" cy="401612"/>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94428"/>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Навык</a:t>
            </a:r>
          </a:p>
        </p:txBody>
      </p:sp>
      <p:sp>
        <p:nvSpPr>
          <p:cNvPr id="20" name="Rectangle 19"/>
          <p:cNvSpPr/>
          <p:nvPr/>
        </p:nvSpPr>
        <p:spPr>
          <a:xfrm>
            <a:off x="1767099" y="2794428"/>
            <a:ext cx="6389189" cy="401612"/>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13403" y="2794428"/>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28,4 → 22,4 из ста у тех же девятнадцати врачей</a:t>
            </a:r>
          </a:p>
        </p:txBody>
      </p:sp>
      <p:sp>
        <p:nvSpPr>
          <p:cNvPr id="22" name="Rectangle 21"/>
          <p:cNvSpPr/>
          <p:nvPr/>
        </p:nvSpPr>
        <p:spPr>
          <a:xfrm>
            <a:off x="8156288" y="2794428"/>
            <a:ext cx="3495910" cy="401612"/>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302592" y="2794428"/>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наблюдательное, однажды и спорно</a:t>
            </a:r>
          </a:p>
        </p:txBody>
      </p:sp>
      <p:sp>
        <p:nvSpPr>
          <p:cNvPr id="24" name="Rectangle 23"/>
          <p:cNvSpPr/>
          <p:nvPr/>
        </p:nvSpPr>
        <p:spPr>
          <a:xfrm>
            <a:off x="539496" y="3196040"/>
            <a:ext cx="1227603" cy="401612"/>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96040"/>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Подпись</a:t>
            </a:r>
          </a:p>
        </p:txBody>
      </p:sp>
      <p:sp>
        <p:nvSpPr>
          <p:cNvPr id="26" name="Rectangle 25"/>
          <p:cNvSpPr/>
          <p:nvPr/>
        </p:nvSpPr>
        <p:spPr>
          <a:xfrm>
            <a:off x="1767099" y="3196040"/>
            <a:ext cx="6389189" cy="401612"/>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13403" y="3196040"/>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156288" y="3196040"/>
            <a:ext cx="3495910" cy="401612"/>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302592" y="3196040"/>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перепись изделий; качество заметок</a:t>
            </a:r>
          </a:p>
        </p:txBody>
      </p:sp>
      <p:sp>
        <p:nvSpPr>
          <p:cNvPr id="30" name="Rectangle 29"/>
          <p:cNvSpPr/>
          <p:nvPr/>
        </p:nvSpPr>
        <p:spPr>
          <a:xfrm>
            <a:off x="539496" y="3597653"/>
            <a:ext cx="1227603" cy="63863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597653"/>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Арбитраж</a:t>
            </a:r>
          </a:p>
        </p:txBody>
      </p:sp>
      <p:sp>
        <p:nvSpPr>
          <p:cNvPr id="32" name="Rectangle 31"/>
          <p:cNvSpPr/>
          <p:nvPr/>
        </p:nvSpPr>
        <p:spPr>
          <a:xfrm>
            <a:off x="1767099" y="3597653"/>
            <a:ext cx="6389189" cy="638632"/>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13403" y="3597653"/>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 мин 12 с против 48 с; объём +53 % (разброс 22–142)</a:t>
            </a:r>
          </a:p>
        </p:txBody>
      </p:sp>
      <p:sp>
        <p:nvSpPr>
          <p:cNvPr id="34" name="Rectangle 33"/>
          <p:cNvSpPr/>
          <p:nvPr/>
        </p:nvSpPr>
        <p:spPr>
          <a:xfrm>
            <a:off x="8156288" y="3597653"/>
            <a:ext cx="3495910" cy="638632"/>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302592" y="3597653"/>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записи рабочего времени программы</a:t>
            </a:r>
          </a:p>
        </p:txBody>
      </p:sp>
      <p:sp>
        <p:nvSpPr>
          <p:cNvPr id="36" name="TextBox 35"/>
          <p:cNvSpPr txBox="1"/>
          <p:nvPr/>
        </p:nvSpPr>
        <p:spPr>
          <a:xfrm>
            <a:off x="539496" y="4382589"/>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Оплачены неровно:</a:t>
            </a:r>
            <a:r>
              <a:rPr sz="1350" b="0" i="0">
                <a:solidFill>
                  <a:srgbClr val="21295C"/>
                </a:solidFill>
                <a:latin typeface="Arial"/>
              </a:rPr>
              <a:t> внимание и арбитраж — крупные выборки; подпись — доля процедур, не исход.</a:t>
            </a:r>
          </a:p>
        </p:txBody>
      </p:sp>
      <p:sp>
        <p:nvSpPr>
          <p:cNvPr id="37" name="TextBox 36"/>
          <p:cNvSpPr txBox="1"/>
          <p:nvPr/>
        </p:nvSpPr>
        <p:spPr>
          <a:xfrm>
            <a:off x="539496" y="480174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Кто платит:</a:t>
            </a:r>
            <a:r>
              <a:rPr sz="1350" b="0" i="0">
                <a:solidFill>
                  <a:srgbClr val="21295C"/>
                </a:solidFill>
                <a:latin typeface="Arial"/>
              </a:rPr>
              <a:t> исследование и диагноз — вниманием и арбитражем · надзор — подписью и арбитражем · документы — подписью · квалификация — навыком.</a:t>
            </a:r>
          </a:p>
        </p:txBody>
      </p:sp>
      <p:sp>
        <p:nvSpPr>
          <p:cNvPr id="38" name="TextBox 37"/>
          <p:cNvSpPr txBox="1"/>
          <p:nvPr/>
        </p:nvSpPr>
        <p:spPr>
          <a:xfrm>
            <a:off x="539496" y="5493766"/>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Скрининг и разработка лекарства из шести не платят ничем:</a:t>
            </a:r>
            <a:r>
              <a:rPr sz="1350" b="0" i="0">
                <a:solidFill>
                  <a:srgbClr val="21295C"/>
                </a:solidFill>
                <a:latin typeface="Arial"/>
              </a:rPr>
              <a:t> в скрининге человек прочёл каждое исследование, в разработке рядом с моделью никто не работает.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отзывается, а что остаётся</a:t>
            </a:r>
          </a:p>
        </p:txBody>
      </p:sp>
      <p:sp>
        <p:nvSpPr>
          <p:cNvPr id="6" name="Rounded Rectangle 5"/>
          <p:cNvSpPr/>
          <p:nvPr/>
        </p:nvSpPr>
        <p:spPr>
          <a:xfrm>
            <a:off x="502920" y="133502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0934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2738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0568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3980563"/>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