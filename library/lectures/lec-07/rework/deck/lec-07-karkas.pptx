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 id="322" r:id="rId74"/>
    <p:sldId id="323" r:id="rId75"/>
    <p:sldId id="324" r:id="rId76"/>
    <p:sldId id="325" r:id="rId77"/>
    <p:sldId id="326" r:id="rId78"/>
    <p:sldId id="327" r:id="rId79"/>
    <p:sldId id="328" r:id="rId80"/>
    <p:sldId id="329" r:id="rId81"/>
    <p:sldId id="330" r:id="rId82"/>
    <p:sldId id="331" r:id="rId83"/>
    <p:sldId id="332" r:id="rId84"/>
    <p:sldId id="333" r:id="rId85"/>
    <p:sldId id="334" r:id="rId86"/>
    <p:sldId id="335" r:id="rId87"/>
    <p:sldId id="336" r:id="rId88"/>
    <p:sldId id="337" r:id="rId89"/>
    <p:sldId id="338" r:id="rId90"/>
    <p:sldId id="339" r:id="rId91"/>
    <p:sldId id="340" r:id="rId92"/>
    <p:sldId id="341" r:id="rId93"/>
    <p:sldId id="342" r:id="rId94"/>
    <p:sldId id="343" r:id="rId95"/>
    <p:sldId id="344" r:id="rId96"/>
    <p:sldId id="345" r:id="rId97"/>
    <p:sldId id="346" r:id="rId98"/>
    <p:sldId id="347" r:id="rId99"/>
    <p:sldId id="348" r:id="rId100"/>
    <p:sldId id="349" r:id="rId101"/>
    <p:sldId id="350" r:id="rId102"/>
    <p:sldId id="351" r:id="rId103"/>
    <p:sldId id="352" r:id="rId104"/>
    <p:sldId id="353" r:id="rId105"/>
    <p:sldId id="354" r:id="rId106"/>
    <p:sldId id="355" r:id="rId107"/>
    <p:sldId id="356" r:id="rId10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 Id="rId73" Type="http://schemas.openxmlformats.org/officeDocument/2006/relationships/slide" Target="slides/slide66.xml"/><Relationship Id="rId74" Type="http://schemas.openxmlformats.org/officeDocument/2006/relationships/slide" Target="slides/slide67.xml"/><Relationship Id="rId75" Type="http://schemas.openxmlformats.org/officeDocument/2006/relationships/slide" Target="slides/slide68.xml"/><Relationship Id="rId76" Type="http://schemas.openxmlformats.org/officeDocument/2006/relationships/slide" Target="slides/slide69.xml"/><Relationship Id="rId77" Type="http://schemas.openxmlformats.org/officeDocument/2006/relationships/slide" Target="slides/slide70.xml"/><Relationship Id="rId78" Type="http://schemas.openxmlformats.org/officeDocument/2006/relationships/slide" Target="slides/slide71.xml"/><Relationship Id="rId79" Type="http://schemas.openxmlformats.org/officeDocument/2006/relationships/slide" Target="slides/slide72.xml"/><Relationship Id="rId80" Type="http://schemas.openxmlformats.org/officeDocument/2006/relationships/slide" Target="slides/slide73.xml"/><Relationship Id="rId81" Type="http://schemas.openxmlformats.org/officeDocument/2006/relationships/slide" Target="slides/slide74.xml"/><Relationship Id="rId82" Type="http://schemas.openxmlformats.org/officeDocument/2006/relationships/slide" Target="slides/slide75.xml"/><Relationship Id="rId83" Type="http://schemas.openxmlformats.org/officeDocument/2006/relationships/slide" Target="slides/slide76.xml"/><Relationship Id="rId84" Type="http://schemas.openxmlformats.org/officeDocument/2006/relationships/slide" Target="slides/slide77.xml"/><Relationship Id="rId85" Type="http://schemas.openxmlformats.org/officeDocument/2006/relationships/slide" Target="slides/slide78.xml"/><Relationship Id="rId86" Type="http://schemas.openxmlformats.org/officeDocument/2006/relationships/slide" Target="slides/slide79.xml"/><Relationship Id="rId87" Type="http://schemas.openxmlformats.org/officeDocument/2006/relationships/slide" Target="slides/slide80.xml"/><Relationship Id="rId88" Type="http://schemas.openxmlformats.org/officeDocument/2006/relationships/slide" Target="slides/slide81.xml"/><Relationship Id="rId89" Type="http://schemas.openxmlformats.org/officeDocument/2006/relationships/slide" Target="slides/slide82.xml"/><Relationship Id="rId90" Type="http://schemas.openxmlformats.org/officeDocument/2006/relationships/slide" Target="slides/slide83.xml"/><Relationship Id="rId91" Type="http://schemas.openxmlformats.org/officeDocument/2006/relationships/slide" Target="slides/slide84.xml"/><Relationship Id="rId92" Type="http://schemas.openxmlformats.org/officeDocument/2006/relationships/slide" Target="slides/slide85.xml"/><Relationship Id="rId93" Type="http://schemas.openxmlformats.org/officeDocument/2006/relationships/slide" Target="slides/slide86.xml"/><Relationship Id="rId94" Type="http://schemas.openxmlformats.org/officeDocument/2006/relationships/slide" Target="slides/slide87.xml"/><Relationship Id="rId95" Type="http://schemas.openxmlformats.org/officeDocument/2006/relationships/slide" Target="slides/slide88.xml"/><Relationship Id="rId96" Type="http://schemas.openxmlformats.org/officeDocument/2006/relationships/slide" Target="slides/slide89.xml"/><Relationship Id="rId97" Type="http://schemas.openxmlformats.org/officeDocument/2006/relationships/slide" Target="slides/slide90.xml"/><Relationship Id="rId98" Type="http://schemas.openxmlformats.org/officeDocument/2006/relationships/slide" Target="slides/slide91.xml"/><Relationship Id="rId99" Type="http://schemas.openxmlformats.org/officeDocument/2006/relationships/slide" Target="slides/slide92.xml"/><Relationship Id="rId100" Type="http://schemas.openxmlformats.org/officeDocument/2006/relationships/slide" Target="slides/slide93.xml"/><Relationship Id="rId101" Type="http://schemas.openxmlformats.org/officeDocument/2006/relationships/slide" Target="slides/slide94.xml"/><Relationship Id="rId102" Type="http://schemas.openxmlformats.org/officeDocument/2006/relationships/slide" Target="slides/slide95.xml"/><Relationship Id="rId103" Type="http://schemas.openxmlformats.org/officeDocument/2006/relationships/slide" Target="slides/slide96.xml"/><Relationship Id="rId104" Type="http://schemas.openxmlformats.org/officeDocument/2006/relationships/slide" Target="slides/slide97.xml"/><Relationship Id="rId105" Type="http://schemas.openxmlformats.org/officeDocument/2006/relationships/slide" Target="slides/slide98.xml"/><Relationship Id="rId106" Type="http://schemas.openxmlformats.org/officeDocument/2006/relationships/slide" Target="slides/slide99.xml"/><Relationship Id="rId107" Type="http://schemas.openxmlformats.org/officeDocument/2006/relationships/slide" Target="slides/slide100.xml"/><Relationship Id="rId108" Type="http://schemas.openxmlformats.org/officeDocument/2006/relationships/slide" Target="slides/slide10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 Id="rId3" Type="http://schemas.openxmlformats.org/officeDocument/2006/relationships/hyperlink" Target="https://doi.org/10.2196/94450" TargetMode="External"/><Relationship Id="rId4" Type="http://schemas.openxmlformats.org/officeDocument/2006/relationships/hyperlink" Target="https://doi.org/10.1056/NEJMoa1804710" TargetMode="Externa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 Id="rId3" Type="http://schemas.openxmlformats.org/officeDocument/2006/relationships/hyperlink" Target="https://mlmed.org/tools/xray" TargetMode="External"/><Relationship Id="rId4" Type="http://schemas.openxmlformats.org/officeDocument/2006/relationships/hyperlink" Target="https://doi.org/10.1001/jamanetworkopen.2025.42338" TargetMode="Externa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 Id="rId3" Type="http://schemas.openxmlformats.org/officeDocument/2006/relationships/hyperlink" Target="https://doi.org/10.1001/jamanetworkopen.2024.40969" TargetMode="External"/><Relationship Id="rId4" Type="http://schemas.openxmlformats.org/officeDocument/2006/relationships/hyperlink" Target="https://commons.wikimedia.org/wiki/File:Clinical_Trial_Volunteer_Signs_Informed_Consent_Form_%2845116548901%29.jpg" TargetMode="Externa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 Id="rId3" Type="http://schemas.openxmlformats.org/officeDocument/2006/relationships/hyperlink" Target="https://doi.org/10.1016/S1470-2045%2823%2900298-X" TargetMode="External"/><Relationship Id="rId4" Type="http://schemas.openxmlformats.org/officeDocument/2006/relationships/hyperlink" Target="https://doi.org/10.1016/S0140-6736%2825%2902464-X" TargetMode="Externa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 Id="rId3" Type="http://schemas.openxmlformats.org/officeDocument/2006/relationships/hyperlink" Target="https://doi.org/10.1016/S1470-2045%2823%2900298-X" TargetMode="External"/><Relationship Id="rId4" Type="http://schemas.openxmlformats.org/officeDocument/2006/relationships/hyperlink" Target="https://doi.org/10.1016/S0140-6736%2825%2902464-X" TargetMode="External"/><Relationship Id="rId5" Type="http://schemas.openxmlformats.org/officeDocument/2006/relationships/hyperlink" Target="https://doi.org/10.1038/s41591-024-03408-6" TargetMode="Externa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 Id="rId3" Type="http://schemas.openxmlformats.org/officeDocument/2006/relationships/hyperlink" Target="https://doi.org/10.1038/s41467-023-44676-z" TargetMode="Externa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 Id="rId3" Type="http://schemas.openxmlformats.org/officeDocument/2006/relationships/hyperlink" Target="https://www.accessdata.fda.gov/cdrh_docs/pdf18/DEN180001.pdf" TargetMode="Externa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 Id="rId3" Type="http://schemas.openxmlformats.org/officeDocument/2006/relationships/hyperlink" Target="https://doi.org/10.1038/s42256-021-00307-0" TargetMode="Externa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 Id="rId3" Type="http://schemas.openxmlformats.org/officeDocument/2006/relationships/hyperlink" Target="https://arxiv.org/abs/1711.05225" TargetMode="Externa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 Id="rId3" Type="http://schemas.openxmlformats.org/officeDocument/2006/relationships/hyperlink" Target="https://doi.org/10.1145/3313831.3376718" TargetMode="External"/><Relationship Id="rId4" Type="http://schemas.openxmlformats.org/officeDocument/2006/relationships/hyperlink" Target="https://pmc.ncbi.nlm.nih.gov/articles/PMC10832120/" TargetMode="Externa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 Id="rId3" Type="http://schemas.openxmlformats.org/officeDocument/2006/relationships/hyperlink" Target="https://doi.org/10.1126/sciadv.abq6147" TargetMode="External"/><Relationship Id="rId4" Type="http://schemas.openxmlformats.org/officeDocument/2006/relationships/hyperlink" Target="https://doi.org/10.1111/j.1365-2133.2008.08713.x" TargetMode="Externa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 Id="rId3" Type="http://schemas.openxmlformats.org/officeDocument/2006/relationships/hyperlink" Target="https://doi.org/10.1126/sciadv.abq6147" TargetMode="Externa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 Id="rId3" Type="http://schemas.openxmlformats.org/officeDocument/2006/relationships/hyperlink" Target="https://doi.org/10.1126/science.aax2342" TargetMode="Externa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 Id="rId3" Type="http://schemas.openxmlformats.org/officeDocument/2006/relationships/hyperlink" Target="https://doi.org/10.1126/science.aax2342" TargetMode="Externa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 Id="rId3" Type="http://schemas.openxmlformats.org/officeDocument/2006/relationships/hyperlink" Target="https://doi.org/10.1136/bmjqs-2013-002627" TargetMode="Externa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 Id="rId3" Type="http://schemas.openxmlformats.org/officeDocument/2006/relationships/hyperlink" Target="https://doi.org/10.1056/AIoa2501001" TargetMode="External"/><Relationship Id="rId4" Type="http://schemas.openxmlformats.org/officeDocument/2006/relationships/hyperlink" Target="https://arxiv.org/abs/2210.14306" TargetMode="Externa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 Id="rId3" Type="http://schemas.openxmlformats.org/officeDocument/2006/relationships/hyperlink" Target="https://doi.org/10.1148/radiol.252590" TargetMode="Externa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 Id="rId3" Type="http://schemas.openxmlformats.org/officeDocument/2006/relationships/hyperlink" Target="https://doi.org/10.1148/radiol.243688" TargetMode="Externa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 Id="rId3" Type="http://schemas.openxmlformats.org/officeDocument/2006/relationships/hyperlink" Target="https://doi.org/10.1038/s41746-020-0232-8" TargetMode="External"/><Relationship Id="rId4" Type="http://schemas.openxmlformats.org/officeDocument/2006/relationships/hyperlink" Target="https://doi.org/10.1136/amiajnl-2011-000089" TargetMode="Externa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 Id="rId3" Type="http://schemas.openxmlformats.org/officeDocument/2006/relationships/hyperlink" Target="https://doi.org/10.1001/jamanetworkopen.2024.40969" TargetMode="Externa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 Id="rId3" Type="http://schemas.openxmlformats.org/officeDocument/2006/relationships/hyperlink" Target="https://doi.org/10.1016/S0140-6736%2825%2902464-X" TargetMode="External"/><Relationship Id="rId4" Type="http://schemas.openxmlformats.org/officeDocument/2006/relationships/hyperlink" Target="https://doi.org/10.1016/S1470-2045%2823%2900298-X" TargetMode="Externa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 Id="rId3" Type="http://schemas.openxmlformats.org/officeDocument/2006/relationships/hyperlink" Target="https://doi.org/10.1016/S0140-6736%2825%2902464-X" TargetMode="External"/><Relationship Id="rId4" Type="http://schemas.openxmlformats.org/officeDocument/2006/relationships/hyperlink" Target="https://doi.org/10.1148/radiol.242566" TargetMode="Externa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 Id="rId3" Type="http://schemas.openxmlformats.org/officeDocument/2006/relationships/hyperlink" Target="https://doi.org/10.1016/j.jelectrocard.2018.08.007" TargetMode="External"/><Relationship Id="rId4" Type="http://schemas.openxmlformats.org/officeDocument/2006/relationships/hyperlink" Target="https://doi.org/10.1038/s41591-024-02850-w" TargetMode="External"/><Relationship Id="rId5" Type="http://schemas.openxmlformats.org/officeDocument/2006/relationships/hyperlink" Target="https://arxiv.org/abs/2102.09692" TargetMode="External"/><Relationship Id="rId6" Type="http://schemas.openxmlformats.org/officeDocument/2006/relationships/hyperlink" Target="https://doi.org/10.1037/xge0000033" TargetMode="Externa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 Id="rId3" Type="http://schemas.openxmlformats.org/officeDocument/2006/relationships/hyperlink" Target="https://doi.org/10.1038/s41562-024-02024-1" TargetMode="External"/><Relationship Id="rId4" Type="http://schemas.openxmlformats.org/officeDocument/2006/relationships/hyperlink" Target="https://arxiv.org/abs/2405.06087" TargetMode="Externa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 Id="rId3" Type="http://schemas.openxmlformats.org/officeDocument/2006/relationships/hyperlink" Target="https://doi.org/10.1093/jamiaopen/ooab062" TargetMode="External"/><Relationship Id="rId4" Type="http://schemas.openxmlformats.org/officeDocument/2006/relationships/hyperlink" Target="https://doi.org/10.1371/journal.pone.0110274" TargetMode="Externa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 Id="rId3" Type="http://schemas.openxmlformats.org/officeDocument/2006/relationships/hyperlink" Target="https://doi.org/10.1001/jamainternmed.2021.2626" TargetMode="External"/><Relationship Id="rId4" Type="http://schemas.openxmlformats.org/officeDocument/2006/relationships/hyperlink" Target="https://doi.org/10.1001/jamanetworkopen.2026.0181" TargetMode="Externa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 Id="rId3" Type="http://schemas.openxmlformats.org/officeDocument/2006/relationships/hyperlink" Target="https://doi.org/10.1001/jamainternmed.2021.2626" TargetMode="External"/><Relationship Id="rId4" Type="http://schemas.openxmlformats.org/officeDocument/2006/relationships/hyperlink" Target="https://doi.org/10.1093/jamiaopen/ooab062" TargetMode="Externa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 Id="rId3" Type="http://schemas.openxmlformats.org/officeDocument/2006/relationships/hyperlink" Target="https://doi.org/10.1093/jamiaopen/ooae133" TargetMode="External"/><Relationship Id="rId4" Type="http://schemas.openxmlformats.org/officeDocument/2006/relationships/hyperlink" Target="https://doi.org/10.1001/jamanetworkopen.2026.0181" TargetMode="Externa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 Id="rId3" Type="http://schemas.openxmlformats.org/officeDocument/2006/relationships/hyperlink" Target="https://doi.org/10.1001/jamanetworkopen.2021.35286" TargetMode="Externa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 Id="rId3" Type="http://schemas.openxmlformats.org/officeDocument/2006/relationships/hyperlink" Target="https://doi.org/10.1001/jamainternmed.2017.1548" TargetMode="Externa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 Id="rId3" Type="http://schemas.openxmlformats.org/officeDocument/2006/relationships/hyperlink" Target="https://doi.org/10.1001/jamanetworkopen.2022.33348" TargetMode="External"/><Relationship Id="rId4" Type="http://schemas.openxmlformats.org/officeDocument/2006/relationships/hyperlink" Target="https://doi.org/10.4338/ACI-2016-09-R-0150" TargetMode="Externa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 Id="rId3" Type="http://schemas.openxmlformats.org/officeDocument/2006/relationships/hyperlink" Target="https://www.medrxiv.org/content/10.1101/2025.07.10.25331333" TargetMode="External"/><Relationship Id="rId4" Type="http://schemas.openxmlformats.org/officeDocument/2006/relationships/hyperlink" Target="https://clinicaltrials.gov/study/NCT06792890" TargetMode="Externa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 Id="rId3" Type="http://schemas.openxmlformats.org/officeDocument/2006/relationships/hyperlink" Target="https://www.medrxiv.org/content/10.1101/2025.07.10.25331333" TargetMode="External"/><Relationship Id="rId4" Type="http://schemas.openxmlformats.org/officeDocument/2006/relationships/hyperlink" Target="https://clinicaltrials.gov/study/NCT06792890" TargetMode="Externa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 Id="rId3" Type="http://schemas.openxmlformats.org/officeDocument/2006/relationships/hyperlink" Target="https://www.medrxiv.org/content/10.1101/2025.07.10.25331333" TargetMode="Externa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 Id="rId3" Type="http://schemas.openxmlformats.org/officeDocument/2006/relationships/hyperlink" Target="https://doi.org/10.1001/jamainternmed.2025.0821" TargetMode="Externa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 Id="rId3" Type="http://schemas.openxmlformats.org/officeDocument/2006/relationships/hyperlink" Target="https://doi.org/10.1001/jamanetworkopen.2026.16556" TargetMode="External"/><Relationship Id="rId4" Type="http://schemas.openxmlformats.org/officeDocument/2006/relationships/hyperlink" Target="https://doi.org/10.1001/jamainternmed.2025.0821" TargetMode="External"/><Relationship Id="rId5" Type="http://schemas.openxmlformats.org/officeDocument/2006/relationships/hyperlink" Target="https://doi.org/10.7759/cureus.109247" TargetMode="Externa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 Id="rId3" Type="http://schemas.openxmlformats.org/officeDocument/2006/relationships/hyperlink" Target="https://eur-lex.europa.eu/eli/reg/2024/1689/oj" TargetMode="External"/><Relationship Id="rId4" Type="http://schemas.openxmlformats.org/officeDocument/2006/relationships/hyperlink" Target="https://doi.org/10.1001/jamanetworkopen.2025.42338" TargetMode="Externa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 Id="rId3" Type="http://schemas.openxmlformats.org/officeDocument/2006/relationships/hyperlink" Target="https://doi.org/10.1093/jamia/ocad118" TargetMode="Externa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 Id="rId3" Type="http://schemas.openxmlformats.org/officeDocument/2006/relationships/hyperlink" Target="https://doi.org/10.1001/jamanetworkopen.2025.42338" TargetMode="External"/><Relationship Id="rId4" Type="http://schemas.openxmlformats.org/officeDocument/2006/relationships/hyperlink" Target="https://eur-lex.europa.eu/eli/reg/2024/1689/oj" TargetMode="Externa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 Id="rId3" Type="http://schemas.openxmlformats.org/officeDocument/2006/relationships/hyperlink" Target="https://doi.org/10.1007/s00330-025-12273-x" TargetMode="External"/><Relationship Id="rId4" Type="http://schemas.openxmlformats.org/officeDocument/2006/relationships/hyperlink" Target="https://doi.org/10.1038/s43018-026-01128-z" TargetMode="Externa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 Id="rId3" Type="http://schemas.openxmlformats.org/officeDocument/2006/relationships/hyperlink" Target="https://doi.org/10.2967/jnumed.126.272292" TargetMode="External"/><Relationship Id="rId4" Type="http://schemas.openxmlformats.org/officeDocument/2006/relationships/hyperlink" Target="https://doi.org/10.2967/jnumed.120.256032" TargetMode="Externa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 Id="rId3" Type="http://schemas.openxmlformats.org/officeDocument/2006/relationships/hyperlink" Target="https://web.archive.org/web/2026/https://www.ama-assn.org/system/files/ama-ai-principles.pdf" TargetMode="Externa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 Id="rId3" Type="http://schemas.openxmlformats.org/officeDocument/2006/relationships/hyperlink" Target="https://www.fda.gov/regulatory-information/search-fda-guidance-documents/marketing-submission-recommendations-predetermined-change-control-plan-artificial-intelligence" TargetMode="External"/><Relationship Id="rId4" Type="http://schemas.openxmlformats.org/officeDocument/2006/relationships/hyperlink" Target="http://publication.pravo.gov.ru/document/0001202510140015" TargetMode="External"/><Relationship Id="rId5" Type="http://schemas.openxmlformats.org/officeDocument/2006/relationships/hyperlink" Target="https://eur-lex.europa.eu/eli/reg/2024/1689/oj" TargetMode="External"/><Relationship Id="rId6" Type="http://schemas.openxmlformats.org/officeDocument/2006/relationships/hyperlink" Target="https://doi.org/10.1001/jamahealthforum.2025.3172" TargetMode="Externa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 Id="rId3" Type="http://schemas.openxmlformats.org/officeDocument/2006/relationships/hyperlink" Target="https://doi.org/10.1001/jamanetworkopen.2025.42338" TargetMode="External"/><Relationship Id="rId4" Type="http://schemas.openxmlformats.org/officeDocument/2006/relationships/hyperlink" Target="https://doi.org/10.1007/s00330-025-12273-x" TargetMode="External"/><Relationship Id="rId5" Type="http://schemas.openxmlformats.org/officeDocument/2006/relationships/hyperlink" Target="https://doi.org/10.1093/jamia/ocad118" TargetMode="External"/><Relationship Id="rId6" Type="http://schemas.openxmlformats.org/officeDocument/2006/relationships/hyperlink" Target="https://eur-lex.europa.eu/eli/reg/2024/1689/oj" TargetMode="Externa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 Id="rId3" Type="http://schemas.openxmlformats.org/officeDocument/2006/relationships/hyperlink" Target="https://doi.org/10.1016/j.gie.2014.07.058" TargetMode="Externa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 Id="rId3" Type="http://schemas.openxmlformats.org/officeDocument/2006/relationships/hyperlink" Target="https://doi.org/10.1016/j.gie.2014.07.058" TargetMode="Externa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xml"/><Relationship Id="rId3" Type="http://schemas.openxmlformats.org/officeDocument/2006/relationships/hyperlink" Target="https://doi.org/10.1016/j.cgh.2020.11.019" TargetMode="External"/><Relationship Id="rId4" Type="http://schemas.openxmlformats.org/officeDocument/2006/relationships/hyperlink" Target="https://doi.org/10.1155/2016/7631981" TargetMode="External"/><Relationship Id="rId5" Type="http://schemas.openxmlformats.org/officeDocument/2006/relationships/hyperlink" Target="https://doi.org/10.1007/s00384-023-04585-5" TargetMode="External"/></Relationships>
</file>

<file path=ppt/notesSlides/_rels/notesSlide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2.xml"/><Relationship Id="rId3" Type="http://schemas.openxmlformats.org/officeDocument/2006/relationships/hyperlink" Target="https://doi.org/10.1016/S2468-1253%2825%2900133-5" TargetMode="External"/><Relationship Id="rId4" Type="http://schemas.openxmlformats.org/officeDocument/2006/relationships/hyperlink" Target="https://doi.org/10.1016/S2468-1253%2825%2900294-8" TargetMode="External"/><Relationship Id="rId5" Type="http://schemas.openxmlformats.org/officeDocument/2006/relationships/hyperlink" Target="https://doi.org/10.1073/pnas.2422633122" TargetMode="External"/></Relationships>
</file>

<file path=ppt/notesSlides/_rels/notesSlide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3.xml"/><Relationship Id="rId3" Type="http://schemas.openxmlformats.org/officeDocument/2006/relationships/hyperlink" Target="https://metr.org/blog/2026-02-24-uplift-update/" TargetMode="External"/></Relationships>
</file>

<file path=ppt/notesSlides/_rels/notesSlide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4.xml"/></Relationships>
</file>

<file path=ppt/notesSlides/_rels/notesSlide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5.xml"/><Relationship Id="rId3" Type="http://schemas.openxmlformats.org/officeDocument/2006/relationships/hyperlink" Target="https://doi.org/10.1016/S2468-1253%2825%2900133-5" TargetMode="External"/></Relationships>
</file>

<file path=ppt/notesSlides/_rels/notesSlide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6.xml"/></Relationships>
</file>

<file path=ppt/notesSlides/_rels/notesSlide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7.xml"/><Relationship Id="rId3" Type="http://schemas.openxmlformats.org/officeDocument/2006/relationships/hyperlink" Target="https://go.bio.org/rs/490-EHZ-999/images/ClinicalDevelopmentSuccessRates2011_2020.pdf" TargetMode="External"/><Relationship Id="rId4" Type="http://schemas.openxmlformats.org/officeDocument/2006/relationships/hyperlink" Target="https://doi.org/10.1016/j.drudis.2024.104009" TargetMode="External"/><Relationship Id="rId5" Type="http://schemas.openxmlformats.org/officeDocument/2006/relationships/hyperlink" Target="https://doi.org/10.1200/JCO.2026.44.16_suppl.11072" TargetMode="External"/></Relationships>
</file>

<file path=ppt/notesSlides/_rels/notesSlide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8.xml"/><Relationship Id="rId3" Type="http://schemas.openxmlformats.org/officeDocument/2006/relationships/hyperlink" Target="https://go.bio.org/rs/490-EHZ-999/images/ClinicalDevelopmentSuccessRates2011_2020.pdf" TargetMode="External"/></Relationships>
</file>

<file path=ppt/notesSlides/_rels/notesSlide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9.xml"/><Relationship Id="rId3" Type="http://schemas.openxmlformats.org/officeDocument/2006/relationships/hyperlink" Target="https://go.bio.org/rs/490-EHZ-999/images/ClinicalDevelopmentSuccessRates2011_2020.pdf" TargetMode="External"/></Relationships>
</file>

<file path=ppt/notesSlides/_rels/notesSlide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0.xml"/></Relationships>
</file>

<file path=ppt/notesSlides/_rels/notesSlide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1.xml"/><Relationship Id="rId3" Type="http://schemas.openxmlformats.org/officeDocument/2006/relationships/hyperlink" Target="https://doi.org/10.1200/JCO.2026.44.16_suppl.11072" TargetMode="External"/><Relationship Id="rId4" Type="http://schemas.openxmlformats.org/officeDocument/2006/relationships/hyperlink" Target="https://doi.org/10.1016/j.drudis.2024.104009" TargetMode="External"/><Relationship Id="rId5" Type="http://schemas.openxmlformats.org/officeDocument/2006/relationships/hyperlink" Target="https://go.bio.org/rs/490-EHZ-999/images/ClinicalDevelopmentSuccessRates2011_2020.pdf" TargetMode="External"/></Relationships>
</file>

<file path=ppt/notesSlides/_rels/notesSlide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2.xml"/></Relationships>
</file>

<file path=ppt/notesSlides/_rels/notesSlide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3.xml"/><Relationship Id="rId3" Type="http://schemas.openxmlformats.org/officeDocument/2006/relationships/hyperlink" Target="https://go.bio.org/rs/490-EHZ-999/images/ClinicalDevelopmentSuccessRates2011_2020.pdf" TargetMode="External"/><Relationship Id="rId4" Type="http://schemas.openxmlformats.org/officeDocument/2006/relationships/hyperlink" Target="https://doi.org/10.1007/s00330-025-12273-x" TargetMode="External"/><Relationship Id="rId5" Type="http://schemas.openxmlformats.org/officeDocument/2006/relationships/hyperlink" Target="https://doi.org/10.1001/jamainternmed.2021.2626" TargetMode="External"/><Relationship Id="rId6" Type="http://schemas.openxmlformats.org/officeDocument/2006/relationships/hyperlink" Target="https://doi.org/10.1148/radiol.252590" TargetMode="External"/><Relationship Id="rId7" Type="http://schemas.openxmlformats.org/officeDocument/2006/relationships/hyperlink" Target="https://doi.org/10.1148/radiol.243688" TargetMode="External"/><Relationship Id="rId8" Type="http://schemas.openxmlformats.org/officeDocument/2006/relationships/hyperlink" Target="https://doi.org/10.1016/S1470-2045%2823%2900298-X" TargetMode="External"/><Relationship Id="rId9" Type="http://schemas.openxmlformats.org/officeDocument/2006/relationships/hyperlink" Target="https://doi.org/10.1001/jamanetworkopen.2025.42338" TargetMode="External"/><Relationship Id="rId10" Type="http://schemas.openxmlformats.org/officeDocument/2006/relationships/hyperlink" Target="https://doi.org/10.1016/S2468-1253%2825%2900133-5" TargetMode="External"/><Relationship Id="rId11" Type="http://schemas.openxmlformats.org/officeDocument/2006/relationships/hyperlink" Target="https://pubmed.ncbi.nlm.nih.gov/37314698/" TargetMode="External"/></Relationships>
</file>

<file path=ppt/notesSlides/_rels/notesSlide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4.xml"/></Relationships>
</file>

<file path=ppt/notesSlides/_rels/notesSlide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5.xml"/></Relationships>
</file>

<file path=ppt/notesSlides/_rels/notesSlide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6.xml"/></Relationships>
</file>

<file path=ppt/notesSlides/_rels/notesSlide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7.xml"/></Relationships>
</file>

<file path=ppt/notesSlides/_rels/notesSlide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8.xml"/></Relationships>
</file>

<file path=ppt/notesSlides/_rels/notesSlide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9.xml"/><Relationship Id="rId3" Type="http://schemas.openxmlformats.org/officeDocument/2006/relationships/hyperlink" Target="https://doi.org/10.1001/jamahealthforum.2025.3172" TargetMode="External"/><Relationship Id="rId4" Type="http://schemas.openxmlformats.org/officeDocument/2006/relationships/hyperlink" Target="https://doi.org/10.1001/jamanetworkopen.2025.42338" TargetMode="External"/><Relationship Id="rId5" Type="http://schemas.openxmlformats.org/officeDocument/2006/relationships/hyperlink" Target="https://eur-lex.europa.eu/eli/reg/2024/1689/oj" TargetMode="External"/></Relationships>
</file>

<file path=ppt/notesSlides/_rels/notesSlide1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0.xml"/><Relationship Id="rId3" Type="http://schemas.openxmlformats.org/officeDocument/2006/relationships/hyperlink" Target="https://doi.org/10.1001/jamahealthforum.2025.3172" TargetMode="External"/></Relationships>
</file>

<file path=ppt/notesSlides/_rels/notesSlide1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1.xml"/><Relationship Id="rId3" Type="http://schemas.openxmlformats.org/officeDocument/2006/relationships/hyperlink" Target="https://commons.wikimedia.org/wiki/File:Radiologist_interpreting_MRI.jpg" TargetMode="External"/><Relationship Id="rId4" Type="http://schemas.openxmlformats.org/officeDocument/2006/relationships/hyperlink" Target="https://creativecommons.org/licenses/by/4.0" TargetMode="Externa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Чем эта лекция отличается от прошлой по предмету: там накопленное считалось в изделиях, здесь — в людях. Партию бракованных деталей отзывают; принятое клиническое решение отозвать нельзя, даже когда ошибку нашли сразу после. Это меняет саму постановку вопроса о цене ошибки, и курс идёт в медицину вторым не случайно — чтобы цена отказа стала видна по контрасту.</a:t>
            </a:r>
          </a:p>
          <a:p>
            <a:r>
              <a:t/>
            </a:r>
          </a:p>
          <a:p>
            <a:r>
              <a:t>Что значит «процедура удерживает цену ошибки»: двойное чтение снимка, второе мнение коллеги, консилиум при спорном случае, информированное согласие перед вмешательством — ни одно из этих устройств не придумано ради искусственного интеллекта. Все они существовали задолго до него и решали одну задачу: чтобы ошибка одного человека не стала окончательным решением без проверки. Модель входит в уже сложившуюся процедуру; своей она не строит. Поэтому и вопрос лекции — о самой процедуре и о человеке внутри неё: что с ними происходит, когда рядом появляется участник, который не устаёт, не сомневается и не просит паузы.</a:t>
            </a:r>
          </a:p>
          <a:p>
            <a:r>
              <a:t/>
            </a:r>
          </a:p>
          <a:p>
            <a:r>
              <a:t>Почему именно медицина идёт после машиностроения: предмет тот же — та же пара вопросов «что стоит пропуск» и «что стоит ложная тревога», то же устройство разбора через цену обеих ошибок. Граница допустимого риска при этом проведена в другом месте, и увидеть её можно по контрасту с уже разобранной отраслью; абстрактное рассуждение её не показывает.</a:t>
            </a:r>
          </a:p>
          <a:p>
            <a:r>
              <a:t/>
            </a:r>
          </a:p>
          <a:p>
            <a:r>
              <a:t>Что стоит унести, даже если к концу лекции забудутся все числа: спрашивать надо предметно: что именно в каждом конкретном случае делает человек после того, как модель уже посмотрела. Ответом на этот вопрос лекция и занята, случай за случаем. Оценок инструментам она не выставляет — предъявляет то, что инструмент сделал с работой вокруг себя.</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Прежде чем смотреть, что обученная модель делает в медицине, стоит увидеть предмет целиком: какие стадии у цикла оказания помощи существуют, что на каждой делают и какое решение о человеке каждая принимает. Названия здесь взяты те, которыми стадии называются в отрасли. Это сделано нарочно: инженер, пришедший в медицинский проект, услышит в нём именно эти слова, и разговор начнётся с них.</a:t>
            </a:r>
          </a:p>
          <a:p>
            <a:r>
              <a:t/>
            </a:r>
          </a:p>
          <a:p>
            <a:r>
              <a:t>Первая полоса — пока решают. **Первичный скрининг и отбор на обследование** решает один вопрос: звать ли этого человека смотреть вообще. Скрининг — это обследование людей без жалоб, по формальному признаку, чаще всего по возрасту и интервалу с прошлого обследования. **Инструментальная и лабораторная диагностика** отвечает на другой вопрос: что про человека измерено и с какой точностью. **Постановка диагноза** собирает жалобы, осмотр и результаты исследований вместе и отвечает, какая болезнь объясняет наблюдаемое и какую проверку назначить следующей.</a:t>
            </a:r>
          </a:p>
          <a:p>
            <a:r>
              <a:t/>
            </a:r>
          </a:p>
          <a:p>
            <a:r>
              <a:t>Вторая полоса — решили и лечат. **Назначение терапии и подбор дозы** отвечает, чем лечить, сколько и кого можно не лечить; доза уточняется по измерениям, и подбор этот повторяют много раз, пока показатель не уляжется в целевые границы. **Хирургическое вмешательство и интраоперационный мониторинг** решает, оперировать ли, каким доступом и что делать на столе, когда картина оказалась не той, которую ожидали.</a:t>
            </a:r>
          </a:p>
          <a:p>
            <a:r>
              <a:t/>
            </a:r>
          </a:p>
          <a:p>
            <a:r>
              <a:t>Третья полоса — после решения. **Динамическое наблюдение и клинические тревоги** отвечает на повторяющийся вопрос: вмешиваться сейчас или на следующем обходе. Читается здесь направление дорожки измерений: пульс сам по себе говорит мало, пульс, растущий при падающем давлении, говорит много. **Ведение медицинской документации** отвечает на вопрос о следующем читателе: что должен узнать тот, кого при приёме не было и кто будет принимать решение по записи.</a:t>
            </a:r>
          </a:p>
          <a:p>
            <a:r>
              <a:t/>
            </a:r>
          </a:p>
          <a:p>
            <a:r>
              <a:t>Две стадии в этот ряд не ложатся, и выстраивать их в ряд было бы подменой. **Допуск, надзор и ответственность** — это процедура, которая стоит вокруг всех стадий сразу: подпись под заключением как юридический акт, информированное согласие, разбор случая после исхода, допуск изделия к применению и надзор за ним после допуска. Решение, которое принимает эта стадия, звучит так: кто отвечает за сделанное и что меняется в порядке работы, когда разбор нашёл расхождение. Отдельным шагом цикла её не поставить. **Профессиональная квалификация: поддержание и износ** — это замер по самому человеку: держится ли он в форме. Профессия не спрашивает об этом врача, она считает за него — объёмом практики, аккредитацией и повторной сертификацией. Шаг работы такого замера не показывает вовсе.</a:t>
            </a:r>
          </a:p>
          <a:p>
            <a:r>
              <a:t/>
            </a:r>
          </a:p>
          <a:p>
            <a:r>
              <a:t>И ещё одна стадия стоит вверх по течению от всего цикла. **Разработка лекарственных средств** отвечает на вопрос, откуда вообще берётся то, что на стадии назначения назначают: мишень в организме, молекула, которая на неё действует, доклиника на культурах клеток и животных, затем фазы испытаний на людях.</a:t>
            </a:r>
          </a:p>
          <a:p>
            <a:r>
              <a:t/>
            </a:r>
          </a:p>
          <a:p>
            <a:r>
              <a:t>Теперь о порядке, потому что он не декоративный и не удобство изложения. Порядок первых стадий держат три опоры, и каждую можно проверить.</a:t>
            </a:r>
          </a:p>
          <a:p>
            <a:r>
              <a:t/>
            </a:r>
          </a:p>
          <a:p>
            <a:r>
              <a:t>**Контингент.** Смотреть можно только того, кто попал в поле зрения. Человека, которого не позвали, не видит ни одна система, какой бы точной она ни была. Поэтому решение о том, кого звать, принимается раньше всех остальных и определяет, кто вообще станет предметом последующих решений.</a:t>
            </a:r>
          </a:p>
          <a:p>
            <a:r>
              <a:t/>
            </a:r>
          </a:p>
          <a:p>
            <a:r>
              <a:t>**Знаменатель.** Группу, на которой посчитаны свойства измерения, собирает стадия отбора. Доли, которыми описывают любую систему «болен или нет», считаются на разных группах людей: одна — на тех, у кого болезнь есть, другая — на тех, у кого её нет. Доля верных тревог среди всех поднятых тревог зависит от того, насколько болезнь распространена в обследованной группе, и свойством прибора эта доля не является вовсе. Одна и та же система в поголовном обследовании и в профильном отделении положит врачу на стол совершенно разную картину.</a:t>
            </a:r>
          </a:p>
          <a:p>
            <a:r>
              <a:t/>
            </a:r>
          </a:p>
          <a:p>
            <a:r>
              <a:t>**Рабочая точка.** Порог, за которым система объявляет «болен», выбирает протокол под цену исхода — под ту цену, которая назначена до всякой точности: что хуже, пропустить находку или позвать лишнего. Выбор этот сделан раньше разработчика, и разработчик его не отменяет.</a:t>
            </a:r>
          </a:p>
          <a:p>
            <a:r>
              <a:t/>
            </a:r>
          </a:p>
          <a:p>
            <a:r>
              <a:t>Дальше порядок держится тем же способом. Решать можно только по измеренному. Наблюдать имеет смысл только после того, как решение принято. Читать запись можно только после того, как её сделали. Перестановки, при которой это работает, нет ни одной.</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Вся работа ниже существовала до всякой автоматики и существует сейчас в том же виде. Модель входит в этот сложившийся порядок; своего она не строит, и потому разговор о ней начинается с устройства самого порядка.</a:t>
            </a:r>
          </a:p>
          <a:p>
            <a:r>
              <a:t/>
            </a:r>
          </a:p>
          <a:p>
            <a:r>
              <a:t>Сначала о том, откуда вообще берутся данные о человеке, потому что способов семь и они дают разное. Приём у врача даёт жалобы, анамнез и осмотр — то, что человек рассказал, и то, что врач увидел руками. Инструментальное исследование даёт величины, снятые прибором: обзорный снимок, томограмма, эндоскопия. Лабораторный анализ даёт показатели крови, мочи, ткани, посева — и у части из них свой срок, который никуда не денется: посев мокроты идёт три недели. Удалённое исследование устроено так, что снимают человека в одном месте, а читает изображение специалист в другом; это не экзотика, на этом держится лучевая диагностика в районах, где рентгенолога нет. Разбор уже имеющихся документов карты нового измерения не добавляет вовсе — он извлекает из того, что уже записано, и сам становится источником решений. Приглашение по регистру населения — случай, когда данных о человеке ещё нет и его зовут по формальному признаку: возраст, пол, интервал с прошлого обследования. И последний способ, который за двадцать лет стал массовым: измерения, которые пациент снимает сам, — монитор глюкозы, домашний тонометр, дневник симптомов.</a:t>
            </a:r>
          </a:p>
          <a:p>
            <a:r>
              <a:t/>
            </a:r>
          </a:p>
          <a:p>
            <a:r>
              <a:t>Теперь о том, как на каждой стадии решают без всякой модели. Классические режимы надо называть по именам: сравнивать модель придётся именно с ними. Модель, сравнённая с пустым местом, выигрывает всегда, и выигрыш этот ничего не значит.</a:t>
            </a:r>
          </a:p>
          <a:p>
            <a:r>
              <a:t/>
            </a:r>
          </a:p>
          <a:p>
            <a:r>
              <a:t>На отборе работает двойное чтение. Снимок скринингового обследования читают двое, и слово «независимо» здесь несущее: второй читатель не видит заключения первого. Как только он его видит, два мнения перестают быть двумя — второй начинает отвечать на вопрос «согласен ли я», а это другая задача и другая доля ошибок. Выигрыш двойному чтению даёт несовпадение ошибок: пропуски двух людей приходятся на разные снимки. Расхождение двух независимых чтений надо чем-то разрешать, и для этого существует арбитраж — третий читатель, подключаемый только на расхождении и не писавший ни одного из двух заключений.</a:t>
            </a:r>
          </a:p>
          <a:p>
            <a:r>
              <a:t/>
            </a:r>
          </a:p>
          <a:p>
            <a:r>
              <a:t>На диагностике работает пара долей. Чувствительность — из всех, у кого болезнь есть, какую долю система назвала больными. Специфичность — из всех, у кого болезни нет, какую долю она не стала пугать. Эти две доли считаются на разных группах людей и всегда называются парой, потому что движутся вместе: сдвинь порог — одна вырастет, другая упадёт. Поэтому доли всегда приводят для одной рабочей точки, и рабочую точку выбирает протокол под цену исхода.</a:t>
            </a:r>
          </a:p>
          <a:p>
            <a:r>
              <a:t/>
            </a:r>
          </a:p>
          <a:p>
            <a:r>
              <a:t>На постановке диагноза работает дифференциальный диагноз, и он складывается из двух движений, повторяющихся по кругу: выписать болезни, способные объяснить наблюдаемое, и назначить проверку, которая эти болезни между собой различит. Порядок проверок здесь — отдельное решение: часть проверок сама опасна или дорога, поэтому первыми идут дешёвые, отсекающие много. Рядом стоят второе мнение — заключение по тому же случаю от того, кто первого заключения не видел, консилиум и клинические рекомендации.</a:t>
            </a:r>
          </a:p>
          <a:p>
            <a:r>
              <a:t/>
            </a:r>
          </a:p>
          <a:p>
            <a:r>
              <a:t>На наблюдении работает шкала раннего предупреждения. Устройство у неё из четырёх шагов: каждая измеренная величина получает баллы за отклонение от нормы, баллы складываются, сумма сравнивается с порогом, порог назначает действие. Эскалация — это и есть назначенное действие: участить измерения, позвать дежурного врача, вызвать реанимационную бригаду. Два свойства этой конструкции стоит назвать вслух. Баллы передаются между сменами, а суждение «мне кажется, он сдал» не передаётся. И веса в таблице назначены людьми и опубликованы: любой может посмотреть, почему при такой частоте дыхания получается именно столько баллов.</a:t>
            </a:r>
          </a:p>
          <a:p>
            <a:r>
              <a:t/>
            </a:r>
          </a:p>
          <a:p>
            <a:r>
              <a:t>На документации работает структура записи — жалобы, анамнез, осмотр, диагноз, план, — вычитка и подпись. Выписной эпикриз, документ, который получает следующий стационар, устроен так же и читается тем, кого при приёме не было.</a:t>
            </a:r>
          </a:p>
          <a:p>
            <a:r>
              <a:t/>
            </a:r>
          </a:p>
          <a:p>
            <a:r>
              <a:t>И поверх всего стоит надзор: разбор случая после исхода и изменение порядка работы по его итогам. Расхождение, которое повторяется, становится основанием поправить документ — порядок оказания помощи, регламент отделения, форму листа наблюдения, порог эскалации.</a:t>
            </a:r>
          </a:p>
          <a:p>
            <a:r>
              <a:t/>
            </a:r>
          </a:p>
          <a:p>
            <a:r>
              <a:t>Общее у всех этих режимов одно, и его стоит забрать с собой в любую отрасль. Каждый существует потому, что один человек ошибается, и процедура знает это заранее. Процедура не делает людей внимательнее — она устроена так, чтобы ошибка одного была поймана до того, как стала необратимой, или разобрана после того, как стала.</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Половин здесь две, и вторая такая же содержательная, как первая. Та, где модель стоит, — четыре клетки курсовой сетки, и названы они режимом работы. Торговых имён здесь нет намеренно: режим один, реализаций у него много, и разницу в результате делает устройство процедуры вокруг, не марка.</a:t>
            </a:r>
          </a:p>
          <a:p>
            <a:r>
              <a:t/>
            </a:r>
          </a:p>
          <a:p>
            <a:r>
              <a:t>Первая клетка — распознавание на изображении. Работа: скрининговое чтение снимков и чтение исследований. Режим: модель встаёт вторым читателем вместо человека — первое чтение остаётся человеческим, мимо читателя не проходит ни одно исследование. Удерживают цену ошибки здесь двойное чтение, арбитраж при расхождении, порог вмешательства и пересчёт доли верных тревог под местную распространённость болезни.</a:t>
            </a:r>
          </a:p>
          <a:p>
            <a:r>
              <a:t/>
            </a:r>
          </a:p>
          <a:p>
            <a:r>
              <a:t>Вторая клетка — прогноз на структурированных данных. Работа: раннее предупреждение в стационаре и оценка риска перед вмешательством. Режим — предупреждение, встроенное в медицинскую информационную систему поставщиком; отдельной закупки оно не требует и расходится вместе с системой. Удерживают цену ошибки разбор ложных тревог как статья рабочего времени, заранее утверждённый план изменений модели и передача регулятору данных о работе изделия. Чего режим не умеет: назначить себе порог тревоги. Порог назначает организация, и цена ложной тревоги ложится на рабочее время.</a:t>
            </a:r>
          </a:p>
          <a:p>
            <a:r>
              <a:t/>
            </a:r>
          </a:p>
          <a:p>
            <a:r>
              <a:t>Третья клетка — поиск и генерация на тексте. Работа: запись приёма и выписной эпикриз. Принимается этот режим массово и быстрее всех остальных, и принимается он именно как черновик: текст пишется быстрее, обязательная вычитка остаётся. Удерживают цену ошибки вычитка и подпись врача, разбор случая и границы допуска по заявленному назначению.</a:t>
            </a:r>
          </a:p>
          <a:p>
            <a:r>
              <a:t/>
            </a:r>
          </a:p>
          <a:p>
            <a:r>
              <a:t>Четвёртая клетка — генерация структуры: молекула под выбранную мишень, дизайн белка. Удерживают цену ошибки доклиника и фазы испытаний на людях, то есть процедура, которой в клиническом контуре нет вовсе.</a:t>
            </a:r>
          </a:p>
          <a:p>
            <a:r>
              <a:t/>
            </a:r>
          </a:p>
          <a:p>
            <a:r>
              <a:t>Теперь вторая половина.</a:t>
            </a:r>
          </a:p>
          <a:p>
            <a:r>
              <a:t/>
            </a:r>
          </a:p>
          <a:p>
            <a:r>
              <a:t>Пятая клетка сетки пуста, и пуста она содержательно. Процедуры, которая измеряла бы результат исполнителя с выключенным инструментом, не существует ни в одной юрисдикции. Ни одна из четырёх процедур выше её не закрывает: двойное чтение считает находки при включённом контуре, разбор ложных тревог считает поток подсказок, вычитка проверяет машинный текст, воронка испытаний проверяет молекулу. Ни одна не измеряет, что стало с человеком, когда инструмент выключили. Записать в эту клетку переаттестацию нельзя — такой процедуры нет; убрать строку тоже нельзя: таблица из четырёх занятых клеток читается как «на всё есть процедура», и это неправда. Одной фразой: четыре процедуры удерживают цену ошибки, пока модель включена; что происходит с человеком, когда её выключают, не измеряет никто.</a:t>
            </a:r>
          </a:p>
          <a:p>
            <a:r>
              <a:t/>
            </a:r>
          </a:p>
          <a:p>
            <a:r>
              <a:t>Вторая пустота — в оперативной помощи. Измерены и точность на отобранных кадрах, и качество работы хирурга, и автономный шаг на животных — а пациенту модель в операционной пока не показала ничего: испытания с клиническими исходами только проектируются.</a:t>
            </a:r>
          </a:p>
          <a:p>
            <a:r>
              <a:t/>
            </a:r>
          </a:p>
          <a:p>
            <a:r>
              <a:t>Третья пустота стоит в конце пути одного решения. Пришёл результат обследования, по нему назначено лечение, по назначению проведена операция, человек живёт дальше с её последствиями. Первые три шага разобраны; у четвёртого нет ни одного измерения: долгосрочный исход человека после решения, принятого с участием модели, не измерен ни в одной работе. Такого замера не нашлось ни по одной из четырёх занятых клеток.</a:t>
            </a:r>
          </a:p>
          <a:p>
            <a:r>
              <a:t/>
            </a:r>
          </a:p>
          <a:p>
            <a:r>
              <a:t>Четвёртое место — выигравшая процедура, внутри которой модели нет. Составление графика смен медсестёр делалось руками и съедало дни старшей сестры. Алгоритмическое планирование сократило время на составление графика с тридцати двух часов в месяц до шести. Первый вопрос к этому случаю тот же, что ко всем: обученная модель ли это? Ответ отрицательный, и в этом содержание случая. Составление графика — задача комбинаторной оптимизации с ограничениями: нормы отдыха, квалификации, заявки на отпуск и минимальный состав дежурства задают систему условий, которую решает целочисленное программирование. Проверка «уберите модель» ответа не меняет: убирать нечего. Границу выигрыша надо назвать: он относится к организации труда, решение о человеке здесь не принимается, ошибка в графике исправляется до начала смены и никому не стоит здоровья.</a:t>
            </a:r>
          </a:p>
          <a:p>
            <a:r>
              <a:t/>
            </a:r>
          </a:p>
          <a:p>
            <a:r>
              <a:t>Пятое место. Задачу «кого можно не лечить» при раннем раке молочной железы в опубликованном виде решила статистическая формула по двадцати одному гену: активность генов в образце опухоли подставляется в выражение с фиксированными коэффициентами, на выходе — балл. Нейросети в ней нет. Измерено это проспективным рандомизированным испытанием, на высшей ступени замера — исход пациента. Оговорка обязательна: у женщин пятидесяти лет и младше с баллом в верхней части промежуточного диапазона выигрыш от химиотерапии всё-таки был, и один агрегированный балл не читается одинаково во всех подгруппах.</a:t>
            </a:r>
          </a:p>
          <a:p>
            <a:r>
              <a:t/>
            </a:r>
          </a:p>
          <a:p>
            <a:r>
              <a:t>Итог по типам задач. Первичное грубое распознавание и черновик текста работают. Точная постановка диагноза и ответственное решение о человеке — нет.</a:t>
            </a:r>
          </a:p>
          <a:p>
            <a:r>
              <a:t/>
            </a:r>
          </a:p>
          <a:p>
            <a:r>
              <a:t>Отсюда и порядок лекции. Контингент, знаменатель и рабочая точка назначены на отборе, и до него не читается ни одно следующее число: смотреть можно только того, кто попал в поле зрения. Поэтому первый вопрос лекции — кого позвали. Дальше идёт одна позванная: женщине пятьдесят четыре года, жалоб у неё нет, письмо пришло потому, что программа приглашает всех женщин этого возраста с назначенным интервалом. Её снимок прочли раньше, чем на него посмотрел человек, и этим прочтением открывается вопрос, который дальше задаётся на каждой стадии: что теперь делает человек и кто это измерял.</a:t>
            </a:r>
          </a:p>
          <a:p>
            <a:r>
              <a:t/>
            </a:r>
          </a:p>
          <a:p>
            <a:r>
              <a:t>**Источники.** </a:t>
            </a:r>
            <a:r>
              <a:rPr u="sng">
                <a:solidFill>
                  <a:srgbClr val="065A82"/>
                </a:solidFill>
                <a:hlinkClick r:id="rId3"/>
              </a:rPr>
              <a:t>Shia B. C. и соавт., JMIR Nursing 2026, DOI 10.2196/94450</a:t>
            </a:r>
            <a:r>
              <a:t> · </a:t>
            </a:r>
            <a:r>
              <a:rPr u="sng">
                <a:solidFill>
                  <a:srgbClr val="065A82"/>
                </a:solidFill>
                <a:hlinkClick r:id="rId4"/>
              </a:rPr>
              <a:t>Sparano J. A. и соавт., New England Journal of Medicine 2018;379(2):111–121, DOI 10.1056/NEJMoa1804710</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Этот кадр ставит перед разговором одного человека, потому что дальше лекция будет считать решения о людях, и считать их легче, когда видно, о ком они.</a:t>
            </a:r>
          </a:p>
          <a:p>
            <a:r>
              <a:t/>
            </a:r>
          </a:p>
          <a:p>
            <a:r>
              <a:t>Женщине пятьдесят четыре года. У неё нет жалоб, она ничего не чувствует, и к медицине в этом году её привело не самочувствие, а возраст: программа приглашает всех женщин этого возраста с назначенным интервалом. Она приходит, снимок делает лаборант. Дальше её снимок читают люди, которые её не видели и между собой о ней не говорят, а если они разошлись, снимок уходит третьему — на арбитраж. Через несколько недель приходит либо письмо «норма», либо звонок с приглашением на дообследование. Это весь её контакт с решением, которое о ней принимается: письмо на входе и письмо на выходе.</a:t>
            </a:r>
          </a:p>
          <a:p>
            <a:r>
              <a:t/>
            </a:r>
          </a:p>
          <a:p>
            <a:r>
              <a:t>Решение при этом одно, и формулируется оно коротко: есть на снимке находка или нет. Цена у него с обеих сторон, и обе стороны стоит назвать до всякого разговора о точности. Пропустили находку — лечить будут позже и хуже, и у этой ошибки нет проверочного шага: её покажет не повторный снимок, а сама болезнь, через год или через три. Позвали лишнего — повторный снимок, иногда биопсия, и недели, которые человек живёт с открытым вопросом. Ни одна из этих двух цен не исчезает от того, что решение стало приниматься быстрее.</a:t>
            </a:r>
          </a:p>
          <a:p>
            <a:r>
              <a:t/>
            </a:r>
          </a:p>
          <a:p>
            <a:r>
              <a:t>Теперь то, что изменилось, и изменилось оно до всякого внедрения. Чтение медицинских данных стало стоить секунды и ноль рублей. Открывается страница в браузере, в неё перетаскивается снимок, и через три секунды страница выдаёт профиль вероятностей по восемнадцати патологиям и тепловую карту поверх снимка — область, на которую модель смотрела, когда считала профиль. Вычисление идёт на том же ноутбуке: снимок никуда не уходит, страница работает и без сети. Допуска не требуется, аккаунта не требуется, денег не требуется. Инструмент опубликован в 2019 году и лежит в открытом доступе семь лет. Внутри — узкая свёрточная сеть, обученная на размеченных снимках; она не рассуждает и не пишет текста, она выдаёт восемнадцать чисел.</a:t>
            </a:r>
          </a:p>
          <a:p>
            <a:r>
              <a:t/>
            </a:r>
          </a:p>
          <a:p>
            <a:r>
              <a:t>Рядом с этими числами стоит строка «не для диагностики», и читают её обычно как признание незрелости: инструмент показательный, бесплатный, до клиники дело не дошло, у допущенного изделия такой строки не будет. Из такого чтения следует одно — ждать, пока модели дорастут. Строка говорит о другом. О точности профиля она не сообщает ничего: ни одного из восемнадцати чисел она не подтверждает и ни одного не ставит под сомнение. Она переводит машинный вывод в разряд сведений, за использование которых отвечает прочитавший. Первое, что посмотрело на снимок, заранее передало подпись дальше — тому, кто посмотрит вторым.</a:t>
            </a:r>
          </a:p>
          <a:p>
            <a:r>
              <a:t/>
            </a:r>
          </a:p>
          <a:p>
            <a:r>
              <a:t>В этом же разряде существует и весь допущенный класс. Условие, на котором изделие допускают к продаже, говорит о том же: человек истолковывает машинный вывод и принимает решение сам. Европейская норма формулирует точнее — надзирающий обязан сохранять способность не согласиться с выводом и отменить его. Бесплатная страница в браузере и купленное изделие стоят здесь на одном: подпись на человеке.</a:t>
            </a:r>
          </a:p>
          <a:p>
            <a:r>
              <a:t/>
            </a:r>
          </a:p>
          <a:p>
            <a:r>
              <a:t>Отсюда и вопрос, который стоит задавать с этой минуты: чем измерено, что человек, которому передали подпись, её держит. У вопроса есть место, где ищут ответ, — документация, по которой изделие допускали. По этому адресу ответ измерен: тестирование с человеком в контуре нашли у 56 радиологических изделий из 717, у восьми из ста. У остальных 661 при допуске не проверяли ничего о том, как с машинным выводом обращается человек. Складывается шов, по которому пойдёт вся лекция: передача подписи задокументирована у всего класса, приём подписи проверен у восьми процентов.</a:t>
            </a:r>
          </a:p>
          <a:p>
            <a:r>
              <a:t/>
            </a:r>
          </a:p>
          <a:p>
            <a:r>
              <a:t>Разбором этот кадр не идёт, и это стоит сказать прямо: чисел с двух сторон у него нет, цена обеих ошибок названа словами, классический режим не посчитан, и в счёт разборов лекции он не входит. Работает он на другое — показывает, что порядок работы изменился до всякого внедрения и что передача подписи стала технически бесплатной.</a:t>
            </a:r>
          </a:p>
          <a:p>
            <a:r>
              <a:t/>
            </a:r>
          </a:p>
          <a:p>
            <a:r>
              <a:t>Вопрос про результат обследования, пришедший раньше, чем его прочитал врач, видел почти каждый, у кого есть доступ к электронной карте. Кто его получал, стоял по другую сторону ровно этого порядка — и подпись в тот момент была уже передана.</a:t>
            </a:r>
          </a:p>
          <a:p>
            <a:r>
              <a:t/>
            </a:r>
          </a:p>
          <a:p>
            <a:r>
              <a:t>**Источники.** </a:t>
            </a:r>
            <a:r>
              <a:rPr u="sng">
                <a:solidFill>
                  <a:srgbClr val="065A82"/>
                </a:solidFill>
                <a:hlinkClick r:id="rId3"/>
              </a:rPr>
              <a:t>Cohen J. P., Bertin P., Frappier V. Chester: A Web Delivered Locally Computed Chest X-Ray Disease Prediction System, 2019</a:t>
            </a:r>
            <a:r>
              <a:t> · </a:t>
            </a:r>
            <a:r>
              <a:rPr u="sng">
                <a:solidFill>
                  <a:srgbClr val="065A82"/>
                </a:solidFill>
                <a:hlinkClick r:id="rId4"/>
              </a:rPr>
              <a:t>систематический обзор поданной регуляторам документации, JAMA Network Open 2025;8(11):e2542338, срез июнь 2024</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Лекция идёт по пути одного случая, и это не каталог применений. Каталог отвечает на вопрос «что бывает»; путь отвечает на вопрос «где за это платят». Кто-то решает, попадёт ли человек в поле зрения вообще. Потом измеряют. Потом по измеренному ставят диагноз. Потом следят, что меняется дальше. И всё это время пишут запись, которую кто-то прочтёт потом.</a:t>
            </a:r>
          </a:p>
          <a:p>
            <a:r>
              <a:t/>
            </a:r>
          </a:p>
          <a:p>
            <a:r>
              <a:t>Порядок первых пяти разделов держится не удобством изложения. Смотреть можно только того, кто уже попал в поле зрения: человек, которого не позвали, невидим для любой модели, какой бы точной она ни была. Решать можно только по тому, что измерено, и свойства измерения переезжают в решение целиком, вместе со своими смещениями. Наблюдать имеет смысл после того, как решение принято, — наблюдение отвечает на вопрос, что стало дальше. Запись читают после того, как её сделали, и читает её другой человек, у которого вопрос свой. Переставить эти пять ступеней нельзя: работающего варианта перестановки нет.</a:t>
            </a:r>
          </a:p>
          <a:p>
            <a:r>
              <a:t/>
            </a:r>
          </a:p>
          <a:p>
            <a:r>
              <a:t>Чем путь кончается, лекция сказать не может, и сказать об этом надо прямо. Измерений долгосрочного исхода человека после решения, принятого с участием модели, не нашлось ни одного: ни одного замера, где прослежено, что стало со здоровьем людей через годы после того, как модель вошла в процедуру. Там, где должен стоять шестой шаг пути, пусто.</a:t>
            </a:r>
          </a:p>
          <a:p>
            <a:r>
              <a:t/>
            </a:r>
          </a:p>
          <a:p>
            <a:r>
              <a:t>Три раздела на путь не ложатся, и объединять их с пятью было бы подменой. Допуск, надзор и ответственность — это процедура: двойное чтение, арбитраж, подпись, норматив; она стоит вокруг всех пяти сразу, отдельным шагом её не поставить. Профессиональная квалификация, её поддержание и износ, — замер по самому человеку: что сделалось с его вниманием, навыком и готовностью возразить; шаг работы такого замера не показывает. Разработка лекарственных средств — другой предмет: откуда берётся то, что назначают, и там удешевили начало, а узкое место осталось на испытаниях. Поперёк — это их настоящее положение, и назвать его так честнее, чем выстроить восемь разделов в один ряд и сделать вид, что они однородны.</a:t>
            </a:r>
          </a:p>
          <a:p>
            <a:r>
              <a:t/>
            </a:r>
          </a:p>
          <a:p>
            <a:r>
              <a:t>Отсюда разница между клиническим решением и инженерным, и она в цене отката. В инженерии накопленное считается в изделиях, и партию отзывают: дорого, публично, но возможно. В медицине накопленное считается в людях. Устройство с рынка снять можно; решения, принятые по нему за два года его работы, останутся решениями. Снимок перечитывают сколько угодно раз, назначение отменяют, пока его не выполнили, — а проведённую операцию и месяцы, потерянные на неверном лечении, не отменяет ничто.</a:t>
            </a:r>
          </a:p>
          <a:p>
            <a:r>
              <a:t/>
            </a:r>
          </a:p>
          <a:p>
            <a:r>
              <a:t>Форма у каждого разбора одна, и это освобождает слушателя от необходимости угадывать устройство следующего раздела. Сначала цена обеих ошибок: что стоит пропуск и что стоит ложная тревога. Потом оба классических режима, посчитанные в тех же единицах: модель, сравнённая с пустым местом, выигрывает всегда, и выигрыш этот ничего не значит. Потом модель против этих двух режимов. И в конце — что переехало, названное именем, вместе с парой «дало — потребовало».</a:t>
            </a:r>
          </a:p>
          <a:p>
            <a:r>
              <a:t/>
            </a:r>
          </a:p>
          <a:p>
            <a:r>
              <a:t>Два имени — весь рабочий инструмент, которым курс называет каждый встреченный инструмент. Первое отвечает на вопрос, что система выдаёт на выходе: классификация ставит метку из списка, распознавание находит и опознаёт во входе, поиск с генерацией сначала находит и ранжирует, а потом создаёт содержимое по найденному, прогноз предсказывает число, планирование строит последовательность действий. Второе имя — с какими данными система работает: текст, изображение, звук, видео, структурированные данные, код, комбинации нескольких видов. Пара бывает составной: чат, который ищет в документах и пишет по ним ответ, решает две задачи подряд. Шесть типов задачи на семь видов данных дают сорок две клетки; на экране дальше стоит окно из двенадцати — ровно то, что лекция разбирает в клинике.</a:t>
            </a:r>
          </a:p>
          <a:p>
            <a:r>
              <a:t/>
            </a:r>
          </a:p>
          <a:p>
            <a:r>
              <a:t>Зачем это нужно. Два имени задают поставщику два вопроса, на которые тот обязан ответить коротко, и если ответа нет или он звучит как «у нас комплексное решение на основе искусственного интеллекта», разговор о пригодности инструмента ещё не начался. По паре имён сразу видно, где искать опыт, и видно подмену, которая стоит дорого: успех показывают в одной клетке, а продают инструмент для другой. Собирается сетка один раз — в сборке, где все восемь разделов стоят рядом и короткие имена разобранных случаев вписываются в клетки разом. Раздельных карт по стадиям лекция не показывает: карта, в которой от раздела к разделу меняется одна клетка, восемь раз повторяет то, что обзор уже сказал в одном месте. У двух разделов из восьми своей клетки в окне нет вовсе, и сказано это будет там же. Занятых клеток наберётся четыре; восемь из двенадцати останутся пустыми, и эти восемь — такое же содержание карты, как четыре занятых: пустая клетка говорит, что инструмент такого класса на этой стадии искать незачем, и время, которое ушло бы на поиск, карта экономит заранее.</a:t>
            </a:r>
          </a:p>
          <a:p>
            <a:r>
              <a:t/>
            </a:r>
          </a:p>
          <a:p>
            <a:r>
              <a:t>Производство лекарственной формы на линии, устройство предсказания структуры белка и цифровые двойники закрывают другие лекции курса. Назначение терапии и подбор дозы разобраны в главе и со сцены сегодня не идут: разбора, у которого обе половины измерены в сопоставимых единицах, на этой стадии не нашлось. Из хирургического вмешательства и интраоперационного мониторинга на сцену вынесен один разбор — оценка риска перед экстренной операцией; остальное тоже остаётся в главе.</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Разложить четыре устройства помогает один признак — кто смотрит первым. Смотрит первым: человек читает данные сам, модель подключается после него или не подключается вовсе. Это классический режим, и именно с ним модель сравнивают. Смотрит вторым: первый проход сделан моделью, человек читает её результат и подтверждает либо отклоняет. Смотрит только спорное: человек подключается там, где модель и второй источник не сошлись или где модель отметила случай сомнительным; остального потока он не видит. Подписывает не глядя: формально требование выполнено, человек в контуре стоит и подпись его есть — фактически участия нет. Шкала не ранжирует ступени по качеству: на каждой есть и выигрыш, и своя слепота. Разница между первой ступенью и четвёртой при этом больше, чем между двумя моделями, и это стоит произнести прямо: спор о том, чья модель точнее, идёт внутри одной клетки, а переход с «смотрит первым» на «подписывает не глядя» меняет саму процедуру. Разберу четыре ступени по отдельности, потому что дальше каждый разбор лекции будет размечен одной из них. Смотрит первым: человек читает данные сам, модель подключается после него или не подключается вовсе, — это классический режим, и именно с ним модель сравнивают. Смотрит вторым: первый проход сделан моделью, человек читает её результат и подтверждает либо отклоняет. Смотрит только спорное: человек подключается там, где модель и второй источник не сошлись или где модель отметила случай сомнительным; остального потока он не видит вовсе. Подписывает не глядя: формально требование выполнено, человек в контуре стоит и подпись его есть — фактически участия нет.</a:t>
            </a:r>
          </a:p>
          <a:p>
            <a:r>
              <a:t/>
            </a:r>
          </a:p>
          <a:p>
            <a:r>
              <a:t>Обоснование участия начинается отрицанием точности, и это не фигура речи: измерено, что часто человек не точнее, и опора, стоящая на его точности, рассыпалась бы на первом же разборе. Опоры другие. Право подписи выдано человеку: ни в одной из рассмотренных стран модель права подписи не имеет, заключение оформляется подписью человека, а при разборе случая оценивают действия человека. Отсюда прямое следствие: вопрос о модели оказывается вопросом о процедуре вокруг неё. Ошибается иначе: выигрыш паре даёт несовпадение ошибок; превосходство одной из сторон его не даёт — если человек и модель ошибаются на одних и тех же случаях, пара не даёт ничего. Отменить нельзя: изделие отозвать можно, и отзывают; решения, принятые по нему до отзыва, не отзываются.</a:t>
            </a:r>
          </a:p>
          <a:p>
            <a:r>
              <a:t/>
            </a:r>
          </a:p>
          <a:p>
            <a:r>
              <a:t>Три проверки нужны не только в медицине. Первая: если вывод проверяют по самообъяснению модели, это не проверка — объяснение построено той же системой и согласовано с выводом по устройству. Вторая: нужны две доли сразу, доля отклонённых подсказок и доля верных отклонений; без второй первая не подтверждает ничего, отклонять можно всё подряд. Если отклонений нет вовсе или они никем не разбирались, участие человека не подтверждено — ни опровергнуто, именно не подтверждено, и разница тут та же, что между «проверили и чисто» и «не проверяли». Третья: у вопроса «успевает ли» бывает ответ «нет», и дальше он будет назван числом. Три проверки связаны с лестницей напрямую, и связь эта — последнее, что стоит сказать здесь. Контур, не прошедший их, и есть четвёртая ступень: подпись под решением стоит, а участия за ней нет. Ступень поэтому определяется не тем, что записано в регламенте, а тем, что человек успевает увидеть до того, как подписать.</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Чтение медицинских данных стало стоить три секунды и ноль рублей — против 48 секунд человеческого чтения в среднем и 25 по медиане. Единицы у этих двух величин разные: снимок грудной клетки и маммограмма читаются по-разному, поэтому сравнение годится только на разряд величины, и именно так оно на кадре и названо. Инструмент открывается в браузере, вычисление идёт на том же ноутбуке, снимок не уходит на сервер, барьера входа нет вообще. Дальше читается то, что у этого удешевления на другом конце, и адресов платежа четыре.</a:t>
            </a:r>
          </a:p>
          <a:p>
            <a:r>
              <a:t/>
            </a:r>
          </a:p>
          <a:p>
            <a:r>
              <a:t>Тройка на полосе плашек — это один замер, и назвать его надо целиком. Пятьдесят практикующих врачей читали письменные описания реальных случаев — жалобы, анамнез, уже готовые результаты исследований, — по пять случаев на врача и строили рассуждение: гипотезы, обоснование, какие проверки назначить. Оценивали их слепо по шкале диагностического рассуждения, и рандомизированы были два человеческих состояния: врач как обычно — семьдесят четыре из ста, врач поверх модели — семьдесят шесть. Разница в два пункта статистически незначима: p равно нулю целых шестидесяти сотым, то есть такая разница свободно получается случайно, и прибавкой её называть нельзя. Прогон модели в одиночку — девяносто два — рандомизированной ветвью не был и стоит разрядом ниже. Отсюда короткая формула, которой читается вся лекция: куплено девяносто два, работает семьдесят шесть, и в отчётности этой разницы нет.</a:t>
            </a:r>
          </a:p>
          <a:p>
            <a:r>
              <a:t/>
            </a:r>
          </a:p>
          <a:p>
            <a:r>
              <a:t>Внимание. Человек смотрит после модели, и его зрительный поиск сужается — это измерено движением глаз, причём в обе стороны: при верной подсказке охват снимка падает, и качество чтения при этом растёт; при подсказке, пропустившей находку, охват падает так же, а качество чтения обваливается.</a:t>
            </a:r>
          </a:p>
          <a:p>
            <a:r>
              <a:t/>
            </a:r>
          </a:p>
          <a:p>
            <a:r>
              <a:t>Навык. Человек перестаёт делать сам то, что делал годами. Измерено это отключением помощника: доля обнаружения в процедурах без него у тех, кто к нему привык, оказалась ниже, чем до его появления. Состав свидетельства здесь слабее остальных трёх, и его стоит назвать составом: на реальной работе следствие измерено один раз и спорно, то же явление измерено случайным распределением в учёбе, повторения на реальной работе нет ни одного.</a:t>
            </a:r>
          </a:p>
          <a:p>
            <a:r>
              <a:t/>
            </a:r>
          </a:p>
          <a:p>
            <a:r>
              <a:t>Подпись. Человек подтверждает решение, которого не читал. Требование, чтобы человек оставался последним звеном, у регулятора записано; проверку же этого требования нашли у 56 радиологических изделий из 717 — у восьми процентов.</a:t>
            </a:r>
          </a:p>
          <a:p>
            <a:r>
              <a:t/>
            </a:r>
          </a:p>
          <a:p>
            <a:r>
              <a:t>Арбитраж. Разбор одного расхождения дороже прежнего чтения: снимок занимает 48 секунд в среднем при медиане 25 — разбор расхождения — две минуты двенадцать секунд, то есть пять чтений. И когда первичных человеческих чтений стало вдвое меньше, объём арбитража вырос больше чем наполовину.</a:t>
            </a:r>
          </a:p>
          <a:p>
            <a:r>
              <a:t/>
            </a:r>
          </a:p>
          <a:p>
            <a:r>
              <a:t>Половина этой оси курсу знакома с прошлой лекции: подешевел шаг — платят на другом. Своё здесь одно, и ради него ось и объявлена — адрес платежа. Платят тем шагом, который делает человек, — ни деньгами, ни вычислительным временем.</a:t>
            </a:r>
          </a:p>
          <a:p>
            <a:r>
              <a:t/>
            </a:r>
          </a:p>
          <a:p>
            <a:r>
              <a:t>Теперь о том, как эти четыре слова живут дальше, потому что услышать их один раз мало. Словарь форм влияния на процесс курсу знаком с прошлой лекции, и девять его имён держат почти каждый разбор, который пойдёт дальше: «нагрузка переехала на другой шаг», «сменился исполнитель», «сместилась цена ошибки». Четыре адреса платежа этот словарь не отменяют и не повторяют — они отвечают на другой вопрос об одном и том же случае. Форма говорит, что сделалось с работой: где она теперь стоит, сколько её, чья рука её делает, чем кончается ошибка. Адрес говорит, на каком человеческом шаге это сделалось: смотрит он вторым, перестал ли делать сам, подписал ли непрочитанное, разбирает ли расхождение.</a:t>
            </a:r>
          </a:p>
          <a:p>
            <a:r>
              <a:t/>
            </a:r>
          </a:p>
          <a:p>
            <a:r>
              <a:t>Отсюда порядок, по которому идёт каждый разбор дальше. Каждый кончается формой — или названным отказом её присвоить, и отказ этот такой же вердикт, как имя. В сборке формы сводятся обратно к четырём адресам, и сводятся счётом: по каждому адресу стоит измерение с названным разрядом. Держать в голове надо обе половины: формой измеряется работа, адресом измеряется человек. Смешивать их нельзя: работа переезжает так, что ни один человеческий шаг этого не чувствует, и человек платит там, где работа осталась на месте.</a:t>
            </a:r>
          </a:p>
          <a:p>
            <a:r>
              <a:t/>
            </a:r>
          </a:p>
          <a:p>
            <a:r>
              <a:t>Пример про разработку стоит на особом положении, и сказать об этом надо прямо. Разборы лекции отобраны по трём условиям, и последнее — обе половины измерены в сопоставимых единицах. Этот не проходит: сколько часов проверки прибавилось на час сэкономленного письма, никто не считал. Поэтому он идёт здесь примером к несущей мысли; примером с числами он не идёт. Стоит он тут ровно потому, что ось на нём узнаётся без перевода.</a:t>
            </a:r>
          </a:p>
          <a:p>
            <a:r>
              <a:t/>
            </a:r>
          </a:p>
          <a:p>
            <a:r>
              <a:t>**Источники.** </a:t>
            </a:r>
            <a:r>
              <a:rPr u="sng">
                <a:solidFill>
                  <a:srgbClr val="065A82"/>
                </a:solidFill>
                <a:hlinkClick r:id="rId3"/>
              </a:rPr>
              <a:t>Goh E. и соавт., JAMA Network Open 2024;7(10):e2440969, 28 октября 2024</a:t>
            </a:r>
            <a:r>
              <a:t> · </a:t>
            </a:r>
            <a:r>
              <a:rPr u="sng">
                <a:solidFill>
                  <a:srgbClr val="065A82"/>
                </a:solidFill>
                <a:hlinkClick r:id="rId4"/>
              </a:rPr>
              <a:t>снимок: NIAID, Викисклад, CC BY 2.0</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Каждый разбор дальше кончается названной формой — или названным отказом её присвоить, и отказ такой же вердикт, как имя. Чисел в словаре нет намеренно: счёт под каждой формой соберётся из разборов, и к концу разговора под семью формами из девяти будет стоять измеренная величина, а под двумя измерений не будет.</a:t>
            </a:r>
          </a:p>
          <a:p>
            <a:r>
              <a:t/>
            </a:r>
          </a:p>
          <a:p>
            <a:r>
              <a:t>Словарь форм пришёл из прошлой лекции и там же доказал, зачем он нужен. Привычный образ — «нагрузка уехала вправо» — врёт сразу в нескольких направлениях. Он описывает один случай из девяти возможных и молча подставляет его вместо остальных восьми. Работа может переехать на другой шаг, целиком сохранившись в объёме. Может удвоиться, оставшись там же, где была. Может исчезнуть, и это самый редкий из случаев. Может появиться впервые — такой работы раньше не делал никто. Может достаться другой руке при том же месте и том же объёме. Может остаться точно такой же, а измениться только последствие промаха. И может остаться совсем такой же во всём, кроме состояния руки, которая её делает. Девять строк нужны ровно затем, чтобы эти случаи не слиплись в один.</a:t>
            </a:r>
          </a:p>
          <a:p>
            <a:r>
              <a:t/>
            </a:r>
          </a:p>
          <a:p>
            <a:r>
              <a:t>Делится словарь по вопросу, который к нему задан. Первые пять форм мерят место и объём: где работа теперь стоит и сколько её стало. Четвёртая и четыре-а — пара с противоположными знаками на одном месте: нагрузка либо выросла, либо упала, и обе половины встречаются по-настоящему, иногда на одном и том же измерении. Следующие четыре мерят руку, порядок, последствие промаха и состояние самой руки. Разделение это не формальное: именно на последней форме держится самое неудобное наблюдение лекции — исполнитель остался тот же, место то же, объём тот же, а результат стал хуже.</a:t>
            </a:r>
          </a:p>
          <a:p>
            <a:r>
              <a:t/>
            </a:r>
          </a:p>
          <a:p>
            <a:r>
              <a:t>Восьмая форма заведена этой темой, и до неё словаря с такой осью не было. Её легко спутать с двумя соседними, поэтому различение стоит запомнить сразу. В пятой форме сменилась рука: работу делает другой. В четыре-а упал объём: работы стало меньше. В восьмой рука и объём те же, упало качество того, что эта рука находит. Быстрая проверка — вопрос о знаменателе. У четыре-а знаменателя нет вовсе, там считается абсолютный объём работы. У восьмой знаменатель есть и он не менялся: те же случаи, те же люди, другая доля находок.</a:t>
            </a:r>
          </a:p>
          <a:p>
            <a:r>
              <a:t/>
            </a:r>
          </a:p>
          <a:p>
            <a:r>
              <a:t>Строка восемь-а держится пустой намеренно, и пустой её надо и читать. Обратный случай — исполнитель тот же, и стал лучше без помощника рядом — звучит так же правдоподобно, как восьмой, и измерения под ним нет ни одного. Номер под него зарезервирован, имя названо, счёта нет. Замазать эту пустую строку похожим случаем нельзя: любой случай, где человек стал лучше, пока помощник включён, мерит другое — он мерит пару, а не руку.</a:t>
            </a:r>
          </a:p>
          <a:p>
            <a:r>
              <a:t/>
            </a:r>
          </a:p>
          <a:p>
            <a:r>
              <a:t>Теперь про то, чем словарь форм не является. Он не отвечает на вопрос, хорошо это или плохо. Форма только называет, что произошло с работой; выигрыш это или цена, решается отдельно, числом и базой. Переезд нагрузки на другой шаг бывает чистым выигрышем, когда на новом шаге её меньше, и бывает чистой ценой, когда на новом шаге за неё некому платить. То же с падением объёма на том же месте: один и тот же замер зрительного поиска показывает и выигрыш, и цену, в зависимости от того, верной была подсказка или нет.</a:t>
            </a:r>
          </a:p>
          <a:p>
            <a:r>
              <a:t/>
            </a:r>
          </a:p>
          <a:p>
            <a:r>
              <a:t>И последнее, ради чего словарь выдаётся именно здесь, в начале. Рядом с ним работает вторая разметка — четыре адреса платежа: внимание, навык, подпись, арбитраж. Эти две вещи отвечают на разные вопросы об одном и том же случае, и путать их нельзя. Форма говорит, что сделалось с работой: где она теперь, сколько её, чья рука её делает, чем кончается промах. Адрес говорит, на каком человеческом шаге это сделалось: смотрит человек вторым, перестал ли делать сам, подписал ли непрочитанное, разбирает ли расхождение. Работа умеет переезжать так, что ни один человеческий шаг этого не чувствует, — и человек умеет платить там, где работа осталась ровно на месте.</a:t>
            </a:r>
          </a:p>
          <a:p>
            <a:r>
              <a:t/>
            </a:r>
          </a:p>
          <a:p>
            <a:r>
              <a:t>И различение, которое с кадра снято, потому что оно уже прозвучало на оси и повторять его экраном незачем: форма говорит, что сделалось с работой, а адрес платежа — на каком человеческом шаге это сделалось. Девять имён отвечают на первый вопрос, четыре адреса — на второй, и смешивать их нельзя: работа переезжает так, что ни один человеческий шаг этого не чувствует, и человек платит там, где работа осталась на месте.</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У каждого числа в этой лекции названо, из какого опыта оно взято. Это не академическая вежливость: разряд свидетельства решает, что по числу вообще можно сказать, и два одинаковых процента из опытов разного устройства означают разное.</a:t>
            </a:r>
          </a:p>
          <a:p>
            <a:r>
              <a:t/>
            </a:r>
          </a:p>
          <a:p>
            <a:r>
              <a:t>Верхняя ступень — рандомизированное испытание. Людей развели по группам жребием, и этим снят главный способ соврать самому себе: в группу, которая получила новый инструмент, не попали систематически те, у кого и без него дела шли лучше. Разницу между группами после такого распределения можно отнести к самому вмешательству. Оговорка, которую надо держать рядом: жребий защищает от смещения отбора и не делает задание похожим на работу. Испытание на составленных описаниях случаев остаётся рандомизированным и при этом не говорит ничего о том, что случилось с больным.</a:t>
            </a:r>
          </a:p>
          <a:p>
            <a:r>
              <a:t/>
            </a:r>
          </a:p>
          <a:p>
            <a:r>
              <a:t>Вторая ступень — проспективное наблюдение. Групп жребием не делили, но за людьми следили вперёд, от решения к исходу, и исход зафиксировали тогда, когда он наступил, а не вспомнили потом. Такой опыт честно отвечает, что произошло. На вопрос, из-за чего именно, он отвечает с оговоркой: вместе с изучаемым решением менялось и всё остальное.</a:t>
            </a:r>
          </a:p>
          <a:p>
            <a:r>
              <a:t/>
            </a:r>
          </a:p>
          <a:p>
            <a:r>
              <a:t>Третья ступень — ретроспективный срез. Взяли уже собранные записи и посмотрели назад. Так устроена большая часть того, что публикуется о внедрениях, и так же устроена большая часть того, что приносят поставщики. Срез умеет показать связь и не умеет показать её направление: те, у кого результат лучше, могли чаще пользоваться инструментом — или пользоваться им чаще потому, что результат и так был лучше.</a:t>
            </a:r>
          </a:p>
          <a:p>
            <a:r>
              <a:t/>
            </a:r>
          </a:p>
          <a:p>
            <a:r>
              <a:t>Четвёртая ступень — пересказ в обзоре. Число дошло не из опыта, а из чужого текста о нём. Это не нижняя ступень по досадному совпадению, а измеренное свойство: в этой лекции разобран рецензируемый обзор, перепутавший шесть своих первоисточников из семи, и ошибка там живёт выше блога — там, где читатель обычно уже не проверяет. Правило простое: пока первоисточник не открыт, по пересказу не утверждается ничего.</a:t>
            </a:r>
          </a:p>
          <a:p>
            <a:r>
              <a:t/>
            </a:r>
          </a:p>
          <a:p>
            <a:r>
              <a:t>Нижняя ступень — самоотчёт. Человек сам говорит, сколько времени он тратит и насколько ему помогает инструмент. Величины такого рода нужны и их не надо выбрасывать: они говорят, что человек думает о своей работе, и это отдельный, настоящий предмет. Про саму работу они не говорят, и расхождение между самоотчётом и телеметрией измерено не раз.</a:t>
            </a:r>
          </a:p>
          <a:p>
            <a:r>
              <a:t/>
            </a:r>
          </a:p>
          <a:p>
            <a:r>
              <a:t>Лестница эта применяется и к числам самой лекции, иначе правило было бы требованием к чужим. Ядро разговора стоит на опытах с отобранными случаями: там измерено, как человек смотрит, как он меняет верное решение на неверное, как соглашается с подсказкой. Исход пациента из-за того, что человек стал хуже смотреть, не измерен ни в одном из этих опытов — ни одним автором, нигде. Говорится это вслух там же, где называются числа.</a:t>
            </a:r>
          </a:p>
          <a:p>
            <a:r>
              <a:t/>
            </a:r>
          </a:p>
          <a:p>
            <a:r>
              <a:t>Почему лестница стоит здесь, а не в конце. Разряд называется у каждого числа начиная с первого разбора, и названный разряд без выданной лестницы — это жаргон: слова «ретроспективный» и «проспективный» звучат похоже и различаются одним признаком, который надо знать заранее. Собранная в конце, она собрала бы уже знакомое; выданная здесь, она работает весь разговор, и к ней достаточно возвращаться одним словом.</a:t>
            </a:r>
          </a:p>
          <a:p>
            <a:r>
              <a:t/>
            </a:r>
          </a:p>
          <a:p>
            <a:r>
              <a:t>И одно различение, без которого две разметки слипнутся. Разряд свидетельства — про устройство опыта: как добыто число. Ступень участия — про устройство работы: что человек успевает увидеть, прежде чем подписать. Одно и то же число может быть взято из сильного опыта и описывать слабую ступень участия, и наоборот. Когда дальше у каждого разбора называются обе разметки подряд, их легко спутать, поэтому разводятся они здесь, пока ни одного числа ещё не прозвучало.</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Вход кончился осью и двумя словарями: удешевили чтение данных, а платят вниманием, навыком, подписью и арбитражем; девять форм переезда и пять разрядов свидетельства выданы до первого употребления, чтобы дальше к ним возвращаться одним словом. И кончился он вопросом, который теперь будет задаваться на каждой стадии: модель посмотрела первой — что теперь делает человек и кто это измерял. Здесь этот вопрос задаётся впервые, и задаётся он на самой первой стадии пути, потому что раньше неё нет ничего: смотреть можно только того, кого позвали. Женщина с письмом по возрасту, с которой началась лекция, стоит ровно здесь — её позвали, и дальше разбирается, кто и как решает, кого звать и кого смотреть внимательнее.</a:t>
            </a:r>
          </a:p>
          <a:p>
            <a:r>
              <a:t/>
            </a:r>
          </a:p>
          <a:p>
            <a:r>
              <a:t>Состав раздела: два разбора и один провал — чат-бот первой линии, единственный случай лекции, где проверка «уберите модель» ответила «сервис продолжит работать».</a:t>
            </a:r>
          </a:p>
          <a:p>
            <a:r>
              <a:t/>
            </a:r>
          </a:p>
          <a:p>
            <a:r>
              <a:t>Дальше лекция разбирает решения о человеке, который уже попал в поле зрения, а здесь решается, попадёт ли он вообще — и это решение принимается до всякого диагноза, часто без врача и всегда без участия самого пациента в момент, когда оно принимается.</a:t>
            </a:r>
          </a:p>
          <a:p>
            <a:r>
              <a:t/>
            </a:r>
          </a:p>
          <a:p>
            <a:r>
              <a:t>Два разбора показывают одну работу с двух сторон. Чат-бот первой линии встал на входе в поток обращений и решал, кого направить; разбирается он через то, что предъявили публично, и через то, что удешевлённый вход сделал с экономикой канала. Глазное дно без офтальмолога — случай, где выигрыш измерен не точностью чтения, а явкой: 22 из ста против ста из ста. Числа и базы — на самих кадрах.</a:t>
            </a:r>
          </a:p>
          <a:p>
            <a:r>
              <a:t/>
            </a:r>
          </a:p>
          <a:p>
            <a:r>
              <a:t>Общее между разборами — не тема и не отрасль, а то, что оба показывают: отбор решает не только «кого лечить», но прежде — «кого вообще стоит заметить», и ошибка на этом шаге не видна там, где её обычно ищут, потому что она случается раньше любого диагноза и любого измерения точности.</a:t>
            </a:r>
          </a:p>
          <a:p>
            <a:r>
              <a:t/>
            </a:r>
          </a:p>
          <a:p>
            <a:r>
              <a:t>Снимок рядом — техник ставит человека к маммографу: та самая минута, в которую приглашение по возрасту превращается в процедуру. Женщина с письмом стоит сейчас именно здесь: решение о ней принято не ею и не врачом, а программой — по году рождения. Работа отбора выглядит так: не драматично, а буднично, и в этой будничности она чаще всего и остаётся незамеченной.</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Раздел открывается описанием стадии, потому что иначе непонятно, во что инструмент вмешивается. Названа стадия тем именем, которым её называет отрасль: первичный скрининг и отбор на обследование. Инженер, пришедший в медицинский проект, услышит в нём именно эти слова, и разговор начнётся с них.</a:t>
            </a:r>
          </a:p>
          <a:p>
            <a:r>
              <a:t/>
            </a:r>
          </a:p>
          <a:p>
            <a:r>
              <a:t>Скрининг — обследование людей, у которых нет жалоб, по признаку принадлежности к группе: возраст, пол, профессия, предшествующий диагноз. Польза скрининга держится на одном допущении: находка, сделанная раньше жалобы, меняет исход. Если болезнь при раннем обнаружении лечится так же, как при позднем, скрининг остаётся чистой стоимостью плюс вред от ложных вызовов.</a:t>
            </a:r>
          </a:p>
          <a:p>
            <a:r>
              <a:t/>
            </a:r>
          </a:p>
          <a:p>
            <a:r>
              <a:t>Данные о человеке на этой стадии скудные, и это её главное свойство. Возраст. Пол. Интервал с прошлого обследования. Иногда анкета или одна жалоба, с которой человек пришёл сам. Ничего из того, что обычно называют медицинскими данными, здесь ещё нет: ни снимка, ни анализа, ни осмотра. Вопрос, который на этих данных решают, тоже один: звать ли этого человека смотреть вообще.</a:t>
            </a:r>
          </a:p>
          <a:p>
            <a:r>
              <a:t/>
            </a:r>
          </a:p>
          <a:p>
            <a:r>
              <a:t>Способов получить эти данные четыре, и дают они разное. Приглашение по регистру населения — случай, когда данных о человеке ещё нет и его зовут по формальному признаку: год рождения, пол, интервал. Обращение самого человека с жалобой устроено обратным ходом: он пришёл, потому что что-то почувствовал, и дальше его ведёт симптом; вероятность болезни у него на входе совсем другая, и в следующем разделе от этой вероятности будет зависеть смысл любого положительного результата. Направление от другого врача приносит вместе с человеком чужую гипотезу. Разбор уже имеющихся документов карты нового измерения не добавляет вовсе — он извлекает из того, что записано, и сам становится источником решения.</a:t>
            </a:r>
          </a:p>
          <a:p>
            <a:r>
              <a:t/>
            </a:r>
          </a:p>
          <a:p>
            <a:r>
              <a:t>Решение, которое принимает стадия, звучит коротко: попадёт человек в поле зрения или не попадёт. За решением следует либо обследование, либо ничего — до следующего интервала или до того дня, когда человек почувствует сам.</a:t>
            </a:r>
          </a:p>
          <a:p>
            <a:r>
              <a:t/>
            </a:r>
          </a:p>
          <a:p>
            <a:r>
              <a:t>Теперь о том, почему эта стадия стоит первой, потому что порядок здесь не удобство изложения. Опор три, и каждую можно проверить. Первая — контингент: смотреть можно только того, кто попал в поле зрения, и человека, которого не позвали, не видит ни одна система, какой бы точной она ни была. Вторая — знаменатель: группу, на которой посчитаны свойства любого измерения, собирает именно эта стадия, и доля верных тревог среди всех поднятых зависит от того, насколько болезнь распространена в собранной группе. Третья — рабочая точка: порог, за которым система объявляет «болен», назначает протокол под цену исхода, и цена эта назначена до всякой точности — тем, кто решил, что хуже, пропустить находку или позвать лишнего. Все три опоры лежат на этой стадии, и потому переставить её некуда.</a:t>
            </a:r>
          </a:p>
          <a:p>
            <a:r>
              <a:t/>
            </a:r>
          </a:p>
          <a:p>
            <a:r>
              <a:t>И последнее до разборов — как это решение принимают без всякой обученной модели. Называть эту работу надо по именам, потому что сравнивать модель придётся именно с ней: модель, сравнённая с пустым местом, выигрывает всегда, и выигрыш этот ничего не значит. Порядка работы здесь три. Первый — звать всех по возрасту и интервалу: работает программа, человек в решении не участвует. Второй — ждать жалобу: не делать ничего, пока человек не придёт сам. Третий — сортировать уже обратившийся поток по тяжести: кого смотреть сегодня, а кого через две недели; классический инструмент этой сортировки — пять категорий тяжести, которые присваивает медсестра по протоколу, и каждой категории назначено нормативное время до осмотра врачом. Классическими режимами отбора, посчитанными в одной цене, из этих трёх работают два — первые два; их числа, база и оговорки стоят в этом разделе отдельным кадром. Третий порядок считают иначе и в другой единице. Внутри скринингового чтения стоят ещё два режима, придуманных до всякой автоматики: двойное чтение, где снимок читают двое, не видя заключения друг друга, и арбитраж — третий читатель, подключаемый только на расхождении.</a:t>
            </a:r>
          </a:p>
          <a:p>
            <a:r>
              <a:t/>
            </a:r>
          </a:p>
          <a:p>
            <a:r>
              <a:t>Ошибка этого шага не видна там, где её обычно ищут: она случается раньше любого диагноза и любого замера точности.</a:t>
            </a:r>
          </a:p>
          <a:p>
            <a:r>
              <a:t/>
            </a:r>
          </a:p>
          <a:p>
            <a:r>
              <a:t>Профессия — четвёртый признак группы наряду с возрастом, полом и прежним диагнозом: по ней зовут на профосмотры, и это тот же скрининг без жалоб. За решением стадии следует либо обследование, либо ничего — до следующего интервала или до того дня, когда человек почувствует сам. Порог, назначенный документом, — это возраст, с которого зовут, интервал между приглашениями и критерий отзыва на дообследование.</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Стадия названа, и теперь по шагам: из каких действий она сложена и кто каждое делает. Женщина с письмом, с которой началась лекция, пришла — и дальше про неё решает устройство, в котором она не участвует ни на одном шаге. На слайде семь действий этого устройства названы одной строкой, здесь — каждое.</a:t>
            </a:r>
          </a:p>
          <a:p>
            <a:r>
              <a:t/>
            </a:r>
          </a:p>
          <a:p>
            <a:r>
              <a:t>Назначить порог. Возраст, с которого зовут, и интервал между приглашениями записаны в документе органа здравоохранения. Их назначает не разработчик и не врач у монитора, а тот, кто решил, что хуже — пропустить или позвать лишнего.</a:t>
            </a:r>
          </a:p>
          <a:p>
            <a:r>
              <a:t/>
            </a:r>
          </a:p>
          <a:p>
            <a:r>
              <a:t>Позвать по списку. Письмо приходит человеку, который ни на что не жаловался: его выбрал признак группы — возраст, пол, профессия, прежний диагноз.</a:t>
            </a:r>
          </a:p>
          <a:p>
            <a:r>
              <a:t/>
            </a:r>
          </a:p>
          <a:p>
            <a:r>
              <a:t>Снять исследование. Снимок делает лаборант, и это отдельная квалификация, отдельное рабочее место и отдельная очередь.</a:t>
            </a:r>
          </a:p>
          <a:p>
            <a:r>
              <a:t/>
            </a:r>
          </a:p>
          <a:p>
            <a:r>
              <a:t>Прочесть двумя. Двойное чтение придумано до всякой автоматики и ради одного: чтобы ошибка одного человека не стала решением. Выигрыш даёт несовпадение ошибок — пропуски двух людей приходятся на разные снимки, и держится это на том, что второй не видит заключения первого.</a:t>
            </a:r>
          </a:p>
          <a:p>
            <a:r>
              <a:t/>
            </a:r>
          </a:p>
          <a:p>
            <a:r>
              <a:t>Разрешить расхождение. Третий читатель подключается только там, где двое разошлись, и разрешать расхождение должен тот, кто обоих заключений не писал.</a:t>
            </a:r>
          </a:p>
          <a:p>
            <a:r>
              <a:t/>
            </a:r>
          </a:p>
          <a:p>
            <a:r>
              <a:t>Сообщить исход. Письмо «норма» либо звонок с приглашением на дообследование — и недели ожидания между ними.</a:t>
            </a:r>
          </a:p>
          <a:p>
            <a:r>
              <a:t/>
            </a:r>
          </a:p>
          <a:p>
            <a:r>
              <a:t>Отсортировать пришедших без приглашения. Здесь решают, кого смотреть сегодня, а кого через две недели. Вошедшего в приёмное отделение относят к одной из пяти категорий тяжести: медсестра задаёт несколько вопросов, снимает несколько величин и сверяет с таблицей. Каждой категории назначено нормативное время до осмотра врачом. Недооценка — человек с развивающимся инфарктом сидит в очереди; переоценка — занят ресурс, которого не хватило кому-то другому. Обе ошибки платит одна смена.</a:t>
            </a:r>
          </a:p>
          <a:p>
            <a:r>
              <a:t/>
            </a:r>
          </a:p>
          <a:p>
            <a:r>
              <a:t>Теперь то же поле с моделью, и назвать его надо до разборов. Из семи действий обученная модель заняла три. Четвёртое — чтение: она сортирует поток по предсказанному риску и встаёт на место второго читателя, тогда как первое чтение остаётся человеческим. Шестое — «направить или нет» выносится на месте и без специалиста. Седьмое — в сортировке потока она занимает место протокольной шкалы. Порог она не назначает: за ним стоит цена обеих ошибок и подпись под ней. Приглашение, съёмку и арбитраж она не трогает. И один шаг она добавляет — добыть годный снимок: у специалиста такой операции не существовало, он компенсировал условия съёмки сам.</a:t>
            </a:r>
          </a:p>
          <a:p>
            <a:r>
              <a:t/>
            </a:r>
          </a:p>
          <a:p>
            <a:r>
              <a:t>И свойство этой шкалы, которое встретится ещё не раз: веса в ней назначены людьми и опубликованы. Обученная модель на том же месте выдаёт тот же выход — категорию или приоритет — и весов своих не предъявляет. Сравнение с ней становится возможным только по результату.</a:t>
            </a:r>
          </a:p>
          <a:p>
            <a:r>
              <a:t/>
            </a:r>
          </a:p>
          <a:p>
            <a:r>
              <a:t>Путь той женщины внутри этого устройства выглядит так: снимок делает лаборант; читают двое рентгенологов, которые её не видели и между собой о ней не говорят; разошлись — снимок уходит третьему; через несколько недель приходит письмо «норма» либо звонок на дообследование. Ни на одном из этих шагов её не спрашивают.</a:t>
            </a:r>
          </a:p>
          <a:p>
            <a:r>
              <a:t/>
            </a:r>
          </a:p>
          <a:p>
            <a:r>
              <a:t>Женщина с письмом, с которой началась лекция, пришла — и дальше вокруг неё работает устройство, в котором она не участвует ни на одном шаге: снимок делает лаборант, читают двое рентгенологов, которые её не видели и между собой о ней не говорят, разошлись — снимок уходит третьему, через несколько недель приходит письмо «норма» либо звонок на дообследование.</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Порог вмешательства — это документ. Возраст, с которого зовут. Интервал между приглашениями. Критерий, по которому человека отзывают на дообследование. Всё это записано в документе органа здравоохранения, и записано задолго до того, как кто-нибудь измерил точность какого-нибудь прибора. Разработчик модели порога не назначает; врач у монитора порога не назначает; его назначает тот, кто решил, что хуже — пропустить или позвать лишнего. С этого и начинается разбор любого случая: пока не названа цена обеих ошибок, никакая точность не читается.</a:t>
            </a:r>
          </a:p>
          <a:p>
            <a:r>
              <a:t/>
            </a:r>
          </a:p>
          <a:p>
            <a:r>
              <a:t>Цена пропуска в первом режиме считается долей рака, найденного между двумя приглашениями: программа его не поймала, поймал симптом. Единица честная, потому что считается она на тех же людях, которых программа смотрела. Сам счёт предъявляется там, где разбирают чтение снимка: у этого числа есть вторая половина и оговорка о значимости, и без них оно читается сильнее, чем есть.</a:t>
            </a:r>
          </a:p>
          <a:p>
            <a:r>
              <a:t/>
            </a:r>
          </a:p>
          <a:p>
            <a:r>
              <a:t>Цена ложного вызова — два человека из ста обследованных вызваны повторно. За этим стоит повторный снимок, иногда биопсия и несколько недель, которые человек живёт с открытым вопросом. Последнее в отчёты не ставят, и это тоже цена — её платит не программа и не поставщик, а тот, кого позвали.</a:t>
            </a:r>
          </a:p>
          <a:p>
            <a:r>
              <a:t/>
            </a:r>
          </a:p>
          <a:p>
            <a:r>
              <a:t>База у обоих чисел одна, и называть её надо вместе с ними: контрольная группа шведской рандомизированной программы скрининга, пятьдесят две тысячи восемьсот семьдесят две женщины, двойное чтение без всякой модели, наблюдение два года. Распределение по группам случайное, исходы написаны заранее — это высший разряд свидетельства из тех, что встретятся в этой лекции, и именно поэтому контрольная группа годится как точка отсчёта для всего остального.</a:t>
            </a:r>
          </a:p>
          <a:p>
            <a:r>
              <a:t/>
            </a:r>
          </a:p>
          <a:p>
            <a:r>
              <a:t>Второй классический режим — не делать ничего и ждать, пока человек придёт сам. Считать его труднее первого, потому что нулём он не работает: тот, кого не позвали, всё равно однажды придёт — позже и с другой стадией. Значит сравнивать надо не «нашли или не нашли», а когда нашли. Единственный момент, когда этот режим измеряли случайным распределением, — время, когда скрининг только вводили. Мальмёское испытание набирало участниц с середины семидесятых по середину восьмидесятых и распределяло приглашение случайно: две группы отличались ровно тем, позвали человека или нет. Доля стадии II и выше среди найденных случаев составила девяносто один случай из ста пятидесяти девяти в группе без приглашения — пятьдесят семь из ста — против шестидесяти двух из ста шестидесяти в приглашённой, то есть тридцати девяти из ста.</a:t>
            </a:r>
          </a:p>
          <a:p>
            <a:r>
              <a:t/>
            </a:r>
          </a:p>
          <a:p>
            <a:r>
              <a:t>Оговорка, без которой второе число нельзя употреблять. Испытание шло почти полвека назад: другой прибор, другое лечение, другая эпоха. Это измерение режима, а не свойств аппаратуры, и переносить его на сегодняшнюю технику нельзя. Складывать его с числами шведской программы тоже нельзя: две разные программы и две разные эпохи, и вместе они дают только одно — две стороны цены, назначенные до всякой модели. Сегодня такое сравнение не поставить вовсе, потому что программу не отменяют ради замера. Воспроизведение: по направлению эффекта — многократно, разными программами разных стран; по величине — нет, и от эпохи величина зависит сильно.</a:t>
            </a:r>
          </a:p>
          <a:p>
            <a:r>
              <a:t/>
            </a:r>
          </a:p>
          <a:p>
            <a:r>
              <a:t>Главное, что стоит унести с этого кадра: обе цены и оба режима назначены и посчитаны до всякой модели и без всякой модели. Когда дальше кто-то скажет «система снижает число пропусков на столько-то процентов», первый вопрос будет не про проценты, а про то, какую из двух цен эта система должна была уменьшать, кто это решил и с каким именно «раньше» её сравнили.</a:t>
            </a:r>
          </a:p>
          <a:p>
            <a:r>
              <a:t/>
            </a:r>
          </a:p>
          <a:p>
            <a:r>
              <a:t>Та женщина, которой пришло письмо, попала под первый режим целиком. В решении позвать её нет ни одного её собственного признака: ни жалобы, ни находки, ни наследственности — только год рождения и интервал, записанные в документе. Это стоит произнести вслух, потому что дальше лекция будет считать, что с её случаем делает модель, а первое решение о ней принято без неё и до всякой модели. Порог — тоже решение, и подпись под ним стоит у организатора программы, а не у читателя снимка.</a:t>
            </a:r>
          </a:p>
          <a:p>
            <a:r>
              <a:t/>
            </a:r>
          </a:p>
          <a:p>
            <a:r>
              <a:t>Две оговорки, снятые с кадра, но обязательные к произнесению. Первая: два числа режимов взяты с разных программ и разных эпох — вместе они дают не сумму, а две стороны цены, назначенной до всякой модели. Вторая: доля поздних стадий среди найденных не зависит от того, сколько случаев нашли, — только от того, когда их нашли; поэтому она и годится для сравнения двух порядков работы, тогда как «сколько нашли» сравнивало бы заодно охват, мощность программы и численность групп.</a:t>
            </a:r>
          </a:p>
          <a:p>
            <a:r>
              <a:t/>
            </a:r>
          </a:p>
          <a:p>
            <a:r>
              <a:t>О чём спросить поставщика прямо на этом кадре: он сравнивает «с тем, как было раньше» — спрашивайте, какое именно «раньше» он посчитал.</a:t>
            </a:r>
          </a:p>
          <a:p>
            <a:r>
              <a:t/>
            </a:r>
          </a:p>
          <a:p>
            <a:r>
              <a:t>Единицы плашек названы полностью: ложный вызов — два человека из ста обследованных, повторно вызванные в контрольном плече шведской программы, где снимок читали двое людей без всякой модели и наблюдение шло два года. Поздние стадии — доля стадии II и выше среди найденных случаев в Мальмёском испытании, которое распределяло приглашение случайно.</a:t>
            </a:r>
          </a:p>
          <a:p>
            <a:r>
              <a:t/>
            </a:r>
          </a:p>
          <a:p>
            <a:r>
              <a:t>**Источники.** </a:t>
            </a:r>
            <a:r>
              <a:rPr u="sng">
                <a:solidFill>
                  <a:srgbClr val="065A82"/>
                </a:solidFill>
                <a:hlinkClick r:id="rId3"/>
              </a:rPr>
              <a:t>MASAI, анализ безопасности, Lancet Oncology 2023</a:t>
            </a:r>
            <a:r>
              <a:t> · </a:t>
            </a:r>
            <a:r>
              <a:rPr u="sng">
                <a:solidFill>
                  <a:srgbClr val="065A82"/>
                </a:solidFill>
                <a:hlinkClick r:id="rId4"/>
              </a:rPr>
              <a:t>MASAI, итоговый анализ, The Lancet 2026</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Шведская программа поставила испытание со случайным распределением: одно плечо читало снимки по-прежнему — двое людей с арбитражем на расхождении, — во втором модель сортировала поток по предсказанному риску и встала на место второго читателя. Первое чтение осталось человеческим: радиолог читает случай сам и выдаёт своё заключение, мимо него не проходит ни одно исследование, — а второго независимого заключения большинство обследованных уже не получает. Исходы написаны заранее.</a:t>
            </a:r>
          </a:p>
          <a:p>
            <a:r>
              <a:t/>
            </a:r>
          </a:p>
          <a:p>
            <a:r>
              <a:t>Публикаций у программы две, и выборки у них разные: промежуточный анализ безопасности на восьмидесяти тысячах распределённых женщин и итоговый на ста шести тысячах. Числа из них в один список складывать нельзя: объём человеческого чтения принадлежит промежуточному анализу, а чувствительность 80,5 против 73,8 — итоговому, и специфичность там одинакова в обоих плечах. Поставленное под чужую выборку число становится другим утверждением.</a:t>
            </a:r>
          </a:p>
          <a:p>
            <a:r>
              <a:t/>
            </a:r>
          </a:p>
          <a:p>
            <a:r>
              <a:t>Ответ этого разбора на вопрос раздела: большинство обследованных второго независимого человека больше не получает. Двойное чтение как механизм несовпадения ошибок заменено одним человеческим чтением поверх модели плюс арбитраж — и цена лежит здесь, в устройстве процедуры, а не в точности прибора.</a:t>
            </a:r>
          </a:p>
          <a:p>
            <a:r>
              <a:t/>
            </a:r>
          </a:p>
          <a:p>
            <a:r>
              <a:t>Германская программа стоит для контраста, и разряд её ниже шведского: это наблюдательное внедрение, применять модель каждый радиолог решал сам, распределения по группам не было. Поэтому направление подтверждено, а величину приписывать модели нельзя. Устройство работы опубликовано — двойное чтение с поддержкой модели против обычного двойного чтения, то есть второго читателя в Германии не заменяли. Отсюда вывод, которого одно внедрение дать не может: фраза «внедрили модель в скрининг» означает две разные процедуры, и вопрос «выросло ли выявление» ни о чём не говорит, пока не назван порядок работы, внутри которого оно выросло.</a:t>
            </a:r>
          </a:p>
          <a:p>
            <a:r>
              <a:t/>
            </a:r>
          </a:p>
          <a:p>
            <a:r>
              <a:t>А вот где охват сообщают, а устройство работы — нет: отечественная платформа лучевой диагностики. Больше шестнадцати миллионов исследований в семидесяти пяти регионах, методика подсчёта не раскрыта; сколько всего лучевых исследований делается в стране за год, не опубликовано — значит доля охвата не вычисляется. Независимого протокола сравнения с врачом без модели в открытом доступе нет. Это утверждение об одном источнике, и на скрининговые программы оно не распространяется.</a:t>
            </a:r>
          </a:p>
          <a:p>
            <a:r>
              <a:t/>
            </a:r>
          </a:p>
          <a:p>
            <a:r>
              <a:t>Устройство системы названо на кадре ровно в том объёме, в каком его называют публикации: на вход идёт цифровая маммограмма, на выходе — оценка риска и место исследования в очереди чтения. На чём система обучена, не публикует ни одна из трёх программ, и собственного имени у неё в этих работах тоже нет — сказано «коммерчески доступная система». Режим занимают Transpara, Lunit INSIGHT MMG и iCAD ProFound; какая именно стояла в шведской программе, из опубликованного не следует, и подставлять имя по догадке нельзя. Это стоит произнести вслух: разбор, который нельзя перепроверить по имени изделия, проверяется только по устройству процедуры — и именно поэтому процедура здесь и разбирается.</a:t>
            </a:r>
          </a:p>
          <a:p>
            <a:r>
              <a:t/>
            </a:r>
          </a:p>
          <a:p>
            <a:r>
              <a:t>Два числа кадра стоят на разных выборках, и складывать их в один список нельзя: объём человеческого чтения принадлежит промежуточному анализу безопасности, чувствительность 80,5 против 73,8 — итоговому. Поставленное под чужую выборку число становится другим утверждением. На чём обучена система, не публикует ни одна из трёх программ, и какая именно из названных стояла в шведской — из опубликованного не следует; подставлять имя по догадке нельзя.</a:t>
            </a:r>
          </a:p>
          <a:p>
            <a:r>
              <a:t/>
            </a:r>
          </a:p>
          <a:p>
            <a:r>
              <a:t>**Источники.** </a:t>
            </a:r>
            <a:r>
              <a:rPr u="sng">
                <a:solidFill>
                  <a:srgbClr val="065A82"/>
                </a:solidFill>
                <a:hlinkClick r:id="rId3"/>
              </a:rPr>
              <a:t>MASAI, анализ безопасности, Lancet Oncology 2023</a:t>
            </a:r>
            <a:r>
              <a:t> · </a:t>
            </a:r>
            <a:r>
              <a:rPr u="sng">
                <a:solidFill>
                  <a:srgbClr val="065A82"/>
                </a:solidFill>
                <a:hlinkClick r:id="rId4"/>
              </a:rPr>
              <a:t>MASAI, итоговый анализ, The Lancet 2026</a:t>
            </a:r>
            <a:r>
              <a:t> · </a:t>
            </a:r>
            <a:r>
              <a:rPr u="sng">
                <a:solidFill>
                  <a:srgbClr val="065A82"/>
                </a:solidFill>
                <a:hlinkClick r:id="rId5"/>
              </a:rPr>
              <a:t>Eisemann и соавт., PRAIM, Nature Medicine 2025</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Цена обеих ошибок в сортировке обращений считается так. Пропустить того, кому помощь нужна сейчас, — цена в исходе. Занять приём тем, кому он не нужен, — цена во времени врача и в чьём-то отложенном визите. И третья цена, которую обычно не считают вовсе: сортировка стоит денег тому, кто её содержит, и устройство оплаты решает, выживет ли она.</a:t>
            </a:r>
          </a:p>
          <a:p>
            <a:r>
              <a:t/>
            </a:r>
          </a:p>
          <a:p>
            <a:r>
              <a:t>Что предъявили. В июне 2018 года публично заявили, что приложение набрало восемьдесят один процент против семидесяти двух на экзаменационных вопросах для начинающих врачей — против среднего результата живых врачей. Коллегия врачей общей практики публично назвала эти заявления сомнительными.</a:t>
            </a:r>
          </a:p>
          <a:p>
            <a:r>
              <a:t/>
            </a:r>
          </a:p>
          <a:p>
            <a:r>
              <a:t>Изделие и сервис называются своими именами, иначе случай нельзя ни проверить, ни пересказать: приложение — Babylon, сервис первой линии на его основе — «GP at Hand». На вход подавалась жалоба свободным текстом, на выходе был маршрут «куда вам сейчас». А вот на чём обучено — неизвестно, и неизвестность эта содержательная: по публичному заявлению бывшего руководителя регуляторных вопросов компании, обучать было нечего, внутри стояло дерево решений «если — то», собранное в таблице; он же документировал проблемы распознавания для надзорных органов с 2017 года. Сила этого свидетельства называется прямо: слова участника, не аудит. Выдать их за установленный факт значило бы сделать то, за что случай и разбирают.</a:t>
            </a:r>
          </a:p>
          <a:p>
            <a:r>
              <a:t/>
            </a:r>
          </a:p>
          <a:p>
            <a:r>
              <a:t>Почему экзаменационная метрика не читается как основание. Вопрос экзамена приходит сформулированным и содержит нужные признаки. Живое обращение приходит без формулировки: человек говорит «мне плохо», а «загрудинная боль с иррадиацией в левую руку» он не произносит. Экзаменационная метрика измеряет работу с готовой формулировкой — ровно ту часть задачи, которой в открытом потоке нет. И правильное сравнение существовало: за год до демонстрации независимое сопоставление трёх приложений на тех же задачах поставило его на последнее место — типовые болезни он распознавал хуже всех. Сравнение было, и его прошли мимо.</a:t>
            </a:r>
          </a:p>
          <a:p>
            <a:r>
              <a:t/>
            </a:r>
          </a:p>
          <a:p>
            <a:r>
              <a:t>Теперь вторая половина случая — цена, и классический режим здесь посчитан в деньгах. Практика получает от национальной службы около ста пятидесяти пяти фунтов на зарегистрированного человека в год, и эта сумма не зависит от числа обращений. Классическая частота обращений — четыре раза в год у людей от двадцати пяти до сорока четырёх и три с четвертью у людей от пятнадцати до двадцати четырёх. База выбрана эта, а не среднее по стране: больше восьмидесяти процентов списка сервиса были младше сорока, и среднее разницу бы занизило. В сервисе обращений стало четыре и три десятых на человека в год.</a:t>
            </a:r>
          </a:p>
          <a:p>
            <a:r>
              <a:t/>
            </a:r>
          </a:p>
          <a:p>
            <a:r>
              <a:t>Дальше арифметика проводится делением, и в ней вся соль. Сверху — фиксированная сумма за человека в год. Снизу — выросшее число обращений. Каждое следующее обращение бесплатно для пациента и оплачивается тем же платежом, поделённым на большее число обращений. Нагрузка переехала с сортировки на приём, и платить за это стало некому. Двигатель переезда стоит назвать отдельно: доступность канала, а не качество модели. Вход стал мгновенным и бесплатным, и обращений стало больше.</a:t>
            </a:r>
          </a:p>
          <a:p>
            <a:r>
              <a:t/>
            </a:r>
          </a:p>
          <a:p>
            <a:r>
              <a:t>Две последние плашки стоят раздельно нарочно, и сказать это стоит вслух: четыре с лишним миллиарда — оценка компании при слиянии, пятьсот тысяч фунтов — выручка от продажи активов при банкротстве. Это разные величины в разных валютах, а не одна величина в двух точках времени, и стрелки между ними нет именно поэтому.</a:t>
            </a:r>
          </a:p>
          <a:p>
            <a:r>
              <a:t/>
            </a:r>
          </a:p>
          <a:p>
            <a:r>
              <a:t>Что получили и чего это потребовало. Получили круглосуточную сортировку и низкий порог обращения. Потребовало: экономику в минус на каждом пациенте, более десяти миллионов фунтов дополнительных расходов заказчика услуги за год при списке около сорока девяти тысяч человек и задокументированный случай, когда симптомы, похожие на инфаркт, не были распознаны. В сумме: оценка на выходе через слияние — четыре с лишним миллиарда долларов, банкротство в августе 2023 года, активы проданы за пятьсот тысяч фунтов.</a:t>
            </a:r>
          </a:p>
          <a:p>
            <a:r>
              <a:t/>
            </a:r>
          </a:p>
          <a:p>
            <a:r>
              <a:t>Оговорки к числам кадра, все три. Возрасты взяты не средние по стране — причина названа выше. Частота обращений в сервисе — оценка независимого отчёта по двенадцати месяцам данных, причём личные обращения посчитаны по единственному месяцу, который дали посчитать; это оценка с продолжением тренда, и отчёт сам это пишет. Две валюты в последней плашке стоят рядом не по небрежности: оценка компании считалась в долларах, выручка от активов — в фунтах, и в части сообщений та же сумма названа как 620 тысяч долларов.</a:t>
            </a:r>
          </a:p>
          <a:p>
            <a:r>
              <a:t/>
            </a:r>
          </a:p>
          <a:p>
            <a:r>
              <a:t>Чего эти числа не доказывают: был ли рост обращений непокрытой потребностью или спросом, созданным самим предложением. Отчёт честно говорит, что не знает, и удобного чтения выбирать не стоит. Плохо ли сортировало дерево решений, данных тоже нет: измерена здесь перестройка экономики канала, а не качество сортировки.</a:t>
            </a:r>
          </a:p>
          <a:p>
            <a:r>
              <a:t/>
            </a:r>
          </a:p>
          <a:p>
            <a:r>
              <a:t>Случай всё равно взят, и провал условия — его содержание. Измерена не точность дерева решений, а цена заявления о модели: копаешь — а там не модель. Урок остаётся проверяемым критерием: демонстрационная метрика не служит основанием для допуска в открытый поток, и спрашивать надо, на каком материале она получена и какой части живой задачи в нём нет.</a:t>
            </a:r>
          </a:p>
          <a:p>
            <a:r>
              <a:t/>
            </a:r>
          </a:p>
          <a:p>
            <a:r>
              <a:t>Редкое от частого в открытом потоке этот режим не отличает. Запись приёма под диктовку в нём принимается — её разбирает раздел о ведении документации; сортировка обращения после этого случая — нет.</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Цена обеих ошибок называется здесь до всякой точности. Пропустить поражение глазного дна у человека с диабетом — значит дойти до потери зрения: до поздних стадий оно бессимптомно, человек ничего не чувствует и потому не приходит. Лишнее направление стоит визита к специалисту, которого в районе может не быть. И третья величина, решающая всё: теряют на неявке. Тест, до которого человек не дошёл, имеет нулевую чувствительность, какой бы она ни была в лаборатории.</a:t>
            </a:r>
          </a:p>
          <a:p>
            <a:r>
              <a:t/>
            </a:r>
          </a:p>
          <a:p>
            <a:r>
              <a:t>Оба классических режима посчитаны в одной единице — в явке. Первый: раз в год человек с диабетом идёт к офтальмологу, тот сам снимает и читает; до теста доходят двадцать два человека из ста. Отдельный визит к отдельному специалисту в отдельный день, часто в другом городе, притом что человек ничего не чувствует, — режим теряет людей по дороге. Второй режим называть неприятно, и распространён он шире: не обследовать вовсе. Явка у него ноль, и получена она определением, а не измерением. Так устроено наблюдение там, где офтальмолога в районе нет.</a:t>
            </a:r>
          </a:p>
          <a:p>
            <a:r>
              <a:t/>
            </a:r>
          </a:p>
          <a:p>
            <a:r>
              <a:t>Модель против этих режимов. Снимок делает медсестра или техник первичного звена, решение «направить или нет» выдаётся на месте меньше чем за минуту, без офтальмолога — доходят сто из ста. База: испытание со случайным распределением, подростки от восьми до двадцати одного года с диабетом, восемьдесят один человек против восьмидесяти трёх, один прибор. Чувствительность прибора здесь не произносится: распространённости поражения в этих выборках в источниках нет, а точность без группы и распространённости не читается.</a:t>
            </a:r>
          </a:p>
          <a:p>
            <a:r>
              <a:t/>
            </a:r>
          </a:p>
          <a:p>
            <a:r>
              <a:t>Второй шаг того же пути посчитан внутри того же испытания: из двадцати пяти человек, у кого результат оказался отклонением, до офтальмолога дошли шестнадцать — шестьдесят четыре из ста против двадцати двух в контроле. Критерий, который разбор оставляет: автономия переносит ответственность, но не отменяет работу — перекладывает её на другой шаг и другого человека. Если этот шаг не посчитали, внедрение считается дешевле, чем есть.</a:t>
            </a:r>
          </a:p>
          <a:p>
            <a:r>
              <a:t/>
            </a:r>
          </a:p>
          <a:p>
            <a:r>
              <a:t>Про устройство прибора стоит сказать и то, что известно, и то, что нет. Вход — два снимка глазного дна, снятые медсестрой или техником в кабинете первичного звена; выход — метка «направить или нет», выданная на месте меньше чем за минуту; на чём прибор обучен, производитель не публикует. Имени прибора, который работал в этом испытании, публикация не называет. Имена у режима есть, и они проверяемы: первое в истории разрешение на автономную диагностику без интерпретации врачом выдано в 2018 году системе IDx-DR, которая сегодня называется LumineticsCore; ретроспективный поток на сто одну тысячу визитов, о котором речь дальше, снят на приборе EyeArt.</a:t>
            </a:r>
          </a:p>
          <a:p>
            <a:r>
              <a:t/>
            </a:r>
          </a:p>
          <a:p>
            <a:r>
              <a:t>Второй классический режим называть неприятно, и распространён он шире первого: не обследовать вовсе. Явка у него ноль, и получена она определением, а не измерением. Так устроено наблюдение там, где офтальмолога в районе нет. На кадре он не стоит, но произносится обязательно — иначе выигрыш в явке читается только против визита к специалисту, а он получен и против ничего.</a:t>
            </a:r>
          </a:p>
          <a:p>
            <a:r>
              <a:t/>
            </a:r>
          </a:p>
          <a:p>
            <a:r>
              <a:t>Чувствительность прибора здесь не произносится намеренно: распространённости поражения в этих выборках в источниках нет, а точность без группы и распространённости не читается. Критерий, который разбор оставляет: автономия переносит ответственность, но не отменяет работу — перекладывает её на другой шаг и другого человека. Если этот шаг не посчитали, внедрение считается дешевле, чем есть.</a:t>
            </a:r>
          </a:p>
          <a:p>
            <a:r>
              <a:t/>
            </a:r>
          </a:p>
          <a:p>
            <a:r>
              <a:t>На чём прибор обучен, производитель не публикует — на кадре этой строки больше нет, но произносится она обязательно: разбор, в котором обучающие данные не названы, проверяется только по устройству процедуры.</a:t>
            </a:r>
          </a:p>
          <a:p>
            <a:r>
              <a:t/>
            </a:r>
          </a:p>
          <a:p>
            <a:r>
              <a:t>**Источники.** </a:t>
            </a:r>
            <a:r>
              <a:rPr u="sng">
                <a:solidFill>
                  <a:srgbClr val="065A82"/>
                </a:solidFill>
                <a:hlinkClick r:id="rId3"/>
              </a:rPr>
              <a:t>Wolf и соавт., Nature Communications 2024</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Ведущая форма изменения здесь — сменился исполнитель. Решение «направить или нет» перешло от офтальмолога к допущенному регулятором устройству целиком, и вместе с решением сместилась ответственность за пропуск: прежде она лежала на решении врача, теперь — на изделии. Это единственный случай всей лекции, где исполнитель сменился по документу: первое разрешение на автономную диагностику без интерпретации врачом выдано в 2018 году. Производная форма — появился шаг, которого не было: добиться годного снимка. У офтальмолога такой операции не существовало, потому что условия съёмки он компенсировал сам, на месте.</a:t>
            </a:r>
          </a:p>
          <a:p>
            <a:r>
              <a:t/>
            </a:r>
          </a:p>
          <a:p>
            <a:r>
              <a:t>Сколько стоит этот новый шаг, измерено — но на другом материале, и это надо называть вслух. На зрелом потоке у прибора другого производителя и у взрослых пациентов пять процентов снимков негодны по качеству: счёт идёт на сто одну тысячу визитов в четырёхстах с лишним клиниках, и семьдесят пять с лишним процентов потока специалист не видит вовсе. С явкой двадцать два против ста эти числа в одну бухгалтерию не складываются: две разные программы, два разных прибора, две разные возрастные группы. Сложить их в одну пару «дало — потребовало» означало бы ровно ту склейку выборок, которую эта лекция разбирает.</a:t>
            </a:r>
          </a:p>
          <a:p>
            <a:r>
              <a:t/>
            </a:r>
          </a:p>
          <a:p>
            <a:r>
              <a:t>Что стало с офтальмологом. Он видит примерно пятую часть потока, и это та часть, которую отобрала модель. Прежде именно специалист решал, что нормально; теперь нормальное к нему не приходит — и проверить, что оно действительно было нормальным, он не может. Это и есть переезд, названный точно: работа не исчезла, она перешла к другому исполнителю, а вместе с ней перешла и возможность её проверить.</a:t>
            </a:r>
          </a:p>
          <a:p>
            <a:r>
              <a:t/>
            </a:r>
          </a:p>
          <a:p>
            <a:r>
              <a:t>Чем этот случай отличается от шведского скрининга, где тоже «внедрили модель»: там модель распределяла снимки, а заключение оставалось за человеком — сменился порядок работы. Здесь заключение выдаёт устройство — сменился исполнитель. Одними словами эти два внедрения описывать нельзя, хотя описывают.</a:t>
            </a:r>
          </a:p>
          <a:p>
            <a:r>
              <a:t/>
            </a:r>
          </a:p>
          <a:p>
            <a:r>
              <a:t>Критерий, который этот разбор оставляет и который переносится дальше: автономия переносит ответственность и не отменяет работу — она перекладывает её на другой шаг и на другого человека. Если этот шаг не посчитали, внедрение считается дешевле, чем оно есть. Здесь его посчитали, и потому разбор годен: до специалиста доведены 64 процента, а не сто.</a:t>
            </a:r>
          </a:p>
          <a:p>
            <a:r>
              <a:t/>
            </a:r>
          </a:p>
          <a:p>
            <a:r>
              <a:t>Разряд свидетельства назову целиком, чтобы выигрыш не прозвучал крупнее, чем он измерен: рандомизированное испытание — верхняя ступень лестницы, — но малая выборка, один прибор и узкая возрастная группа. Воспроизведения нет ни одного.</a:t>
            </a:r>
          </a:p>
          <a:p>
            <a:r>
              <a:t/>
            </a:r>
          </a:p>
          <a:p>
            <a:r>
              <a:t>Почему три числа отказного потока нельзя сложить с явкой в одну пару «дало — потребовало»: это две разные программы, два разных прибора и две разные возрастные группы. Сложить их означало бы ровно ту склейку выборок, которую эта лекция разбирает. Поэтому отказной поток стоит на кадре отдельным блоком с явной оговоркой, а не внутри счёта выигрыша.</a:t>
            </a:r>
          </a:p>
          <a:p>
            <a:r>
              <a:t/>
            </a:r>
          </a:p>
          <a:p>
            <a:r>
              <a:t>Про единицу отказного потока: пять снимков из ста негодны по качеству — это зрелый поток у прибора другого производителя и у взрослых пациентов, тогда как явка 22 против 100 измерена на подростках и другим прибором. Поэтому числа и стоят отдельным блоком с оговоркой. И про семьдесят пять процентов: именно столько потока специалист не видит вовсе — это и есть переезд решения, названный в единицах работы, а не в словах.</a:t>
            </a:r>
          </a:p>
          <a:p>
            <a:r>
              <a:t/>
            </a:r>
          </a:p>
          <a:p>
            <a:r>
              <a:t>**Источники.** </a:t>
            </a:r>
            <a:r>
              <a:rPr u="sng">
                <a:solidFill>
                  <a:srgbClr val="065A82"/>
                </a:solidFill>
                <a:hlinkClick r:id="rId3"/>
              </a:rPr>
              <a:t>решение регулятора США DEN180001, 2018</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Соберём стадию по четырём вопросам, которые будут задаваться на каждой. Числа стоят на разборах, откуда эти обобщения взяты.</a:t>
            </a:r>
          </a:p>
          <a:p>
            <a:r>
              <a:t/>
            </a:r>
          </a:p>
          <a:p>
            <a:r>
              <a:t>Что получается. Выигрыш в обоих разборах измерен доступом — тем, сколько людей дошло до обследования и сколько снимков прочёл второй человек. Берут его двумя способами: снимают объём человеческого чтения там, где процедура уже плотная, и дотягиваются до тех, кто иначе не придёт. Второй способ в этом разделе сильнее, и причина простая: тест, до которого человек не дошёл, имеет нулевую чувствительность. Точности модель здесь не прибавила ни в одном разборе.</a:t>
            </a:r>
          </a:p>
          <a:p>
            <a:r>
              <a:t/>
            </a:r>
          </a:p>
          <a:p>
            <a:r>
              <a:t>Что не получается. Три границы, и ни одна не про качество модели. Порог модель не назначает: что хуже — пропустить или позвать лишнего — решает тот, кто это подписывает. В открытом потоке обращений выигрыша не дал ни один разбор, а единственная состоявшаяся попытка кончилась банкротством. И за годность снимка автономное чтение не отвечает: добывать её приходится человеку без профильной подготовки. И одна граница, которую легко расширить не по делу: охват публикуют, а устройство работы — нет. Это верно для отечественной платформы лучевой диагностики и только для неё; шведская и германская программы скрининга устройство работы публикуют обе. Обобщать это на класс внедрений нельзя — глава такое обобщение у себя сняла после сверки по первоисточнику.</a:t>
            </a:r>
          </a:p>
          <a:p>
            <a:r>
              <a:t/>
            </a:r>
          </a:p>
          <a:p>
            <a:r>
              <a:t>Что стало с работой. Две формы, названные по словарю. На сервисе первой линии нагрузка переехала на другой шаг — с сортировки на приём, — и платить за переехавшую нагрузку оказалось некому. На автономном скрининге глазного дна сменился исполнитель: решение целиком перешло к допущенному устройству, и производной формой появился шаг, которого не было. Третье следствие не форма, а свойство процедуры: второго независимого человека большинство обследованных больше не получает.</a:t>
            </a:r>
          </a:p>
          <a:p>
            <a:r>
              <a:t/>
            </a:r>
          </a:p>
          <a:p>
            <a:r>
              <a:t>Что это держит. Порог вмешательства, записанный документом задолго до всякого прибора. Двойное чтение и арбитраж при расхождении — там, где второго читателя не заменили. И то, чего нет: процедуры, которая проверяла бы отсеянное фильтром. Ответ на вопрос «кто разбирает то, что он отфильтровал» чаще всего «никто», и это не упущение одной организации, а пустое место в самом порядке работы.</a:t>
            </a:r>
          </a:p>
          <a:p>
            <a:r>
              <a:t/>
            </a:r>
          </a:p>
          <a:p>
            <a:r>
              <a:t>Что уходит дальше — и обобщать это одной фразой нельзя, хотя соблазн велик. Там, где модель решает вместо человека, её «норма» ему действительно не достаётся: чат-бот отвечает «идти незачем» сам, а на съёмке глазного дна решение выносится на месте, без офтальмолога. А в обеих программах скрининга человек прочёл КАЖДОЕ исследование, и смещение там другое: он читает, видя оценку модели, а снято второе независимое чтение — то есть смещён не состав потока, а устройство чтения. Ошибку отбора в первом случае обнаруживает только следующий виток, другой человек в другой день; во втором её ищут на расхождении. Поэтому следующий раздел и начинается с того, что вообще значит «измерили».</a:t>
            </a:r>
          </a:p>
          <a:p>
            <a:r>
              <a:t/>
            </a:r>
          </a:p>
          <a:p>
            <a:r>
              <a:t>Третье следствие переезда — не форма словаря, а свойство процедуры: второго независимого человека большинство обследованных больше не получает. А ответ на вопрос «кто разбирает то, что фильтр отсеял» чаще всего «никто», и это не упущение одной организации, а пустое место в самом порядке работы.</a:t>
            </a:r>
          </a:p>
          <a:p>
            <a:r>
              <a:t/>
            </a:r>
          </a:p>
          <a:p>
            <a:r>
              <a:t>Что держит эту нагрузку, с кадра снято и произносится: порог вмешательства, записанный документом задолго до всякого прибора, и двойное чтение с арбитражем при расхождении — там, где второго читателя не заменили. В открытом потоке обращений выигрыша не дал ни один разбор, а единственная состоявшаяся попытка кончилась банкротством.</a:t>
            </a:r>
          </a:p>
          <a:p>
            <a:r>
              <a:t/>
            </a:r>
          </a:p>
          <a:p>
            <a:r>
              <a:t>Выигрыш этого раздела взят двумя способами, и второй сильнее: тест, до которого человек не дошёл, имеет нулевую чувствительность, какой бы она ни была в лаборатории. Поэтому явка здесь — не организационная мелочь, а то, чем измеряется польза модели на этой стадии.</a:t>
            </a:r>
          </a:p>
          <a:p>
            <a:r>
              <a:t/>
            </a:r>
          </a:p>
          <a:p>
            <a:r>
              <a:t>И счёт по сетке курса, который дальше будет расти от раздела к разделу: на этом шаге занято три клетки из сорока двух, и ни одна не про лечение. Разницу между ними стоит заметить сразу: режим, который принимает решение, принимается туго, а режимы, которые оформляют уже принятое, расходятся быстро. Сортировка обращения словами после разобранного случая стоит на месте; автономное решение без врача допущено единицами и только там, где вопрос бинарный; а модель вторым читателем растёт шире всех — потому что не отменяет ни одной подписи.</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На кадре оставлено имя раздела, счёт разборов и их перечень; остальное отсюда проговаривается. Раздел стоит вторым по месту в работе. В первом решали, кого вообще посмотреть; здесь человек уже в поле зрения, его измерили — и заключение по измеренному выносит система. Границу с третьим разделом проводит подпись: там она остаётся за человеком, здесь её ставит машина. Ни модальность данных, ни сложность алгоритма эту границу не задают.</a:t>
            </a:r>
          </a:p>
          <a:p>
            <a:r>
              <a:t/>
            </a:r>
          </a:p>
          <a:p>
            <a:r>
              <a:t>Раздел держится на одной мысли, которую трудно удержать при чтении рекламных материалов. Любая доля — чувствительность, специфичность, точность — посчитана на конкретной группе людей, и при переносе на другую группу она перестаёт означать то же самое. Поэтому раздел начинается с того, из чего сделана работа стадии: кто назначает рабочую точку, кто решает, годно ли измерение, и кто пересчитывает долю под свою распространённость. Внедрения идут после.</a:t>
            </a:r>
          </a:p>
          <a:p>
            <a:r>
              <a:t/>
            </a:r>
          </a:p>
          <a:p>
            <a:r>
              <a:t>Три разбора берут три разных места, где можно провалиться, не ошибившись в чтении. «Таиланд» — провал развёртывания: автономное чтение снимков глазного дна в одиннадцати клиниках отклоняет по качеству каждый пятый снимок, и причины обе про место съёмки, а не про модель. «Кожа и состав набора» — провал обучающего набора: на биопсийно подтверждённых изображениях три модели теряют на тёмных тонах кожи от девяти до пятнадцати пунктов площади под кривой. «Расходы вместо болезни» — провал определения цели: целевой переменной взяты будущие расходы на лечение, а решение принималось о болезни.</a:t>
            </a:r>
          </a:p>
          <a:p>
            <a:r>
              <a:t/>
            </a:r>
          </a:p>
          <a:p>
            <a:r>
              <a:t>Названия произносятся здесь затем, чтобы потом узнавать слайд по уже сказанному имени: каждый из трёх выйдет на экран ровно под этим заголовком. Номер «Пример N» носят только эти три: у каждого названа цена обеих ошибок, посчитаны классические режимы и названо, что переехало в работе. Остальное в разделе называется своими именами и номера не получает. Отдельным кадром стоит классический режим контроля годности — работа техника, которая делается без всякой модели и которую первый разбор потом застаёт изменившейся. Два упоминания идут с числом и разборами не становятся: систематический обзор работ по снимкам при ковидной пневмонии на кадре заземления и смещение прибора насыщения крови на своде раздела.</a:t>
            </a:r>
          </a:p>
          <a:p>
            <a:r>
              <a:t/>
            </a:r>
          </a:p>
          <a:p>
            <a:r>
              <a:t>Снимок рядом — настоящее рабочее место, где снимают данные. Разговор про доли начинается отсюда: сначала кто-то ставит человека к прибору.</a:t>
            </a:r>
          </a:p>
          <a:p>
            <a:r>
              <a:t/>
            </a:r>
          </a:p>
          <a:p>
            <a:r>
              <a:t>Про женщину с письмом — её линия идёт через всю лекцию, и в этом разделе она стоит в самом неудобном месте. Она пришла без жалоб, по возрасту, то есть ровно в поголовном потоке, где больных около одного на сотню. Значит все доли, которые ей кто-нибудь назовёт, посчитаны не на её группе, а доля верных тревог на её группе — худшая из возможных. Кадр со счётом двух групп к этому и ведёт, и там её имя произносится прямо.</a:t>
            </a:r>
          </a:p>
          <a:p>
            <a:r>
              <a:t/>
            </a:r>
          </a:p>
          <a:p>
            <a:r>
              <a:t>Порядок кадров раздела держится на одном правиле: сначала то, во что ИИ вмешивается, потом вмешательство. Поэтому стадия описывается дважды и по-разному — что это за стадия и какие на ней действия, — потом отдельным кадром идёт классический режим контроля годности, который делается без всякой модели, и только после этого три разбора. Счёт двух групп стоит до разборов затем, что без него ни одно число в разборах не читается.</a:t>
            </a:r>
          </a:p>
          <a:p>
            <a:r>
              <a:t/>
            </a:r>
          </a:p>
          <a:p>
            <a:r>
              <a:t>Чего в разделе нет и почему. Нет сравнения моделей между собой: это не обзор рынка. Нет лабораторных показателей точности в отрыве от группы — по тому же правилу раздела. И нет ни одного случая, где провалилось бы само чтение: такого среди разобранных не оказалось, и об этом свод раздела говорит прямо.</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Стадия называется инструментальной и лабораторной диагностикой, и этим именем её называет отрасль. Человек на ней уже в поле зрения: предыдущая стадия решила, что его смотрят. Теперь про него снимают величины — делают снимок, берут анализ, подключают прибор, записывают измерение в карту.</a:t>
            </a:r>
          </a:p>
          <a:p>
            <a:r>
              <a:t/>
            </a:r>
          </a:p>
          <a:p>
            <a:r>
              <a:t>Картина работы на экране одна, и она нарочно одна. Техник ставит человека к прибору, снимает, смотрит на экран и решает: читать это или переснимать. Рядом, в лаборатории, посев мокроты идёт три недели — и эти три недели платит человек, который ждёт. Два этих кадра и есть стадия: кто-то стоит у прибора, кто-то ждёт срока.</a:t>
            </a:r>
          </a:p>
          <a:p>
            <a:r>
              <a:t/>
            </a:r>
          </a:p>
          <a:p>
            <a:r>
              <a:t>Данные здесь другого рода, чем на отборе. Там были год рождения и интервал; здесь — изображение, сигнал прибора, показатель крови, мочи, ткани или посева. И вопросов на этих данных решают два, а не один. Первый — что измеренные величины означают. Второй, который в рекламных материалах не встречается никогда, — годятся ли эти величины к чтению вообще.</a:t>
            </a:r>
          </a:p>
          <a:p>
            <a:r>
              <a:t/>
            </a:r>
          </a:p>
          <a:p>
            <a:r>
              <a:t>Способов получить такие данные четыре, и назвать их надо все, потому что дальше разборы разойдутся по ним. Инструментальное исследование даёт величины, снятые прибором: обзорный снимок, томограмма, эндоскопия. Лабораторный анализ даёт показатели крови, мочи, ткани, посева — и у части из них свой срок, который никуда не денется: тот самый посев мокроты идёт три недели. Функциональная проба снимает величины под нагрузкой, то есть добавляет к измерению условие, в котором оно снято. Удалённое исследование устроено так, что человека снимают в одном месте, а читает изображение специалист в другом; это не экзотика — на этом держится лучевая диагностика в районах, где своего рентгенолога нет.</a:t>
            </a:r>
          </a:p>
          <a:p>
            <a:r>
              <a:t/>
            </a:r>
          </a:p>
          <a:p>
            <a:r>
              <a:t>Решение, которое принимает стадия, звучит так: что про человека измерено и с какой точностью. Дальше следует интерпретация — чтение измеренного и заключение по нему, и это работа следующей стадии.</a:t>
            </a:r>
          </a:p>
          <a:p>
            <a:r>
              <a:t/>
            </a:r>
          </a:p>
          <a:p>
            <a:r>
              <a:t>Теперь почему эта стадия стоит после отбора, а не до него. Любую систему, которая отвечает «болен или нет», описывают двумя долями, и считаются они на разных группах людей: чувствительность — из всех, у кого болезнь есть, какую долю система назвала больными; специфичность — из всех, у кого болезни нет, какую долю она не стала пугать. Обе доли посчитаны на группе, которую собрал отбор. Третья доля — какая часть поднятых тревог оказалась верной — зависит уже от того, насколько болезнь распространена в этой группе, и свойством прибора не является вовсе. Одна и та же система в поголовном обследовании и в профильном отделении положит врачу на стол совершенно разную картину. Это и есть причина порядка: пока не названа группа, ни одно число измерения не читается.</a:t>
            </a:r>
          </a:p>
          <a:p>
            <a:r>
              <a:t/>
            </a:r>
          </a:p>
          <a:p>
            <a:r>
              <a:t>Вторая половина той же причины — рабочая точка. Обе доли меняются только вместе: сдвиньте порог, за которым система объявляет «болен», и чувствительность вырастет, а специфичность упадёт. Поэтому доли всегда называются парой и всегда для одной рабочей точки. Выбирает рабочую точку протокол под цену исхода — ту цену обеих ошибок, которая назначена до всякой точности, — и выбор этот сделан раньше, чем разработчик к задаче подошёл. Общая точность ни одну из долей не заменяет: пусть болезнь есть у одного человека из тысячи, тогда система, которая всем говорит «здоров», даёт общую точность в девяносто девять и девять десятых процента и не находит ни одного больного. На редком событии общая точность измеряет распространённость, а не работу системы, и в клинических публикациях её не печатают.</a:t>
            </a:r>
          </a:p>
          <a:p>
            <a:r>
              <a:t/>
            </a:r>
          </a:p>
          <a:p>
            <a:r>
              <a:t>И как это решение принимают без всякой модели — три классических режима принятия решения стадии, по именам. Три режима ЧТЕНИЯ — двойное чтение, арбитраж и контроль годности — другая тройка, и она названа на отдельном кадре ниже; путать их нельзя. Первый — контроль годности измерения, та самая картина с экрана: техник смотрит и решает, читать или переснимать. Правило записано в инструкции кабинета — положение, захват объёма, артефакты, видимость того, что должно быть видно, — и в самом приборе этого правила нет вовсе. Если негодное измерение уйдёт на чтение, читать будут артефакт, и читающий об этом может не узнать, потому что человека он не видел. Второй режим — пара долей при одной рабочей точке протокола. Третий — пересчёт доли верных тревог под свою распространённость, и делает его тот, кто применяет, а не тот, кто продал. Все три существуют без всякой автоматики, и модель приходит именно на их место. Первый из трёх разобран отдельным кадром ниже в разделе.</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Стадия названа, и теперь по шагам. Действий шесть, и на экране их перечня нет нарочно — перечень читается вслух, а на кадре стоит та картина, из которой всё это состоит: у прибора стоит человек.</a:t>
            </a:r>
          </a:p>
          <a:p>
            <a:r>
              <a:t/>
            </a:r>
          </a:p>
          <a:p>
            <a:r>
              <a:t>Назначить рабочую точку. Порог, за которым система или лаборатория объявляет «болен», выбирает протокол под цену обеих ошибок — ту самую, что назначена до всякой точности. Вкус разработчика в этом выборе не участвует, и сделан выбор раньше, чем разработчик к задаче подошёл.</a:t>
            </a:r>
          </a:p>
          <a:p>
            <a:r>
              <a:t/>
            </a:r>
          </a:p>
          <a:p>
            <a:r>
              <a:t>Снять измерение. Это отдельная квалификация, отдельное рабочее место и отдельная очередь: лаборант, техник, медсестра у прибора.</a:t>
            </a:r>
          </a:p>
          <a:p>
            <a:r>
              <a:t/>
            </a:r>
          </a:p>
          <a:p>
            <a:r>
              <a:t>Решить, годно ли измерение. Техник смотрит на экран и решает: читать или переснимать. Правило записано в инструкции кабинета — положение пациента, захват объёма, артефакты, видимость того, что должно быть видно. В самом приборе этого правила нет вовсе.</a:t>
            </a:r>
          </a:p>
          <a:p>
            <a:r>
              <a:t/>
            </a:r>
          </a:p>
          <a:p>
            <a:r>
              <a:t>Прочесть и назвать две доли. Чувствительность берёт только больных, специфичность только здоровых. Инженеру они знакомы под другими именами — полнота по положительному классу и по отрицательному; медицинские взяты затем, что в клинических публикациях стоят именно они. Общая точность ни одну не заменяет: на редком событии она измеряет распространённость, а не работу системы.</a:t>
            </a:r>
          </a:p>
          <a:p>
            <a:r>
              <a:t/>
            </a:r>
          </a:p>
          <a:p>
            <a:r>
              <a:t>Пересчитать под свою распространённость. Доли меняются только вместе, и названы они всегда парой и всегда для одной рабочей точки. Долю верных тревог считает тот, кто применяет, — и считает заново для своей группы.</a:t>
            </a:r>
          </a:p>
          <a:p>
            <a:r>
              <a:t/>
            </a:r>
          </a:p>
          <a:p>
            <a:r>
              <a:t>Сообщить результат тому, кто решает. Врач на приёме видит долю верных тревог среди пришедших к нему тревог; чувствительности он не видит вовсе.</a:t>
            </a:r>
          </a:p>
          <a:p>
            <a:r>
              <a:t/>
            </a:r>
          </a:p>
          <a:p>
            <a:r>
              <a:t>И то же поле с моделью, названное до разборов. Из шести действий обученная модель заняла два: чтение измерения целиком, без специалиста, и сообщение результата — где вместо величины на стол приходит один балл и отбор по порогу. Рабочую точку она не назначает, переснять не умеет, годность входа остаётся человеку без профильной подготовки, а пересчёт под свою распространённость делает тот, кто применяет. Один шаг она добавляет — повторный визит тем, чьё измерение не прошло по качеству. Выигрыш же её здесь в постоянстве: десятитысячный кадр читается так же, как первый.</a:t>
            </a:r>
          </a:p>
          <a:p>
            <a:r>
              <a:t/>
            </a:r>
          </a:p>
          <a:p>
            <a:r>
              <a:t>Систематический обзор работ по ковидной пневмонии отобрал из двух тысяч двухсот двенадцати публикаций шестьдесят две и не нашёл среди них ни одной, пригодной для клиники. Доли считали все; группу, на которой они посчитаны, почти никто. Оговорка обязательна: это вывод о качестве исследовательских работ, про внедрённые системы он не говорит ничего. Упоминание это разбором не становится — цены обеих ошибок в числах у него нет, счёта против классического режима тоже.</a:t>
            </a:r>
          </a:p>
          <a:p>
            <a:r>
              <a:t/>
            </a:r>
          </a:p>
          <a:p>
            <a:r>
              <a:t>И вопрос залу, который стоит задать здесь, а не в конце. Вам называют «точность девяносто четыре процента». На какой группе она посчитана — и кто у вас на работе задаёт этот вопрос вслух? Зал в этой аудитории почти весь работает в ИТ, и у части слушателей такая система стоит на приёмке прямо сейчас; пусть скажут, что у них с ложными тревогами. Ответ на этот вопрос — следующий кадр, и он посчитан.</a:t>
            </a:r>
          </a:p>
          <a:p>
            <a:r>
              <a:t/>
            </a:r>
          </a:p>
          <a:p>
            <a:r>
              <a:t>Инженеру из зала стоит сказать отдельно, почему шесть, а не три и не десять. Шесть — это те действия, у каждого из которых есть свой исполнитель и своё место в расписании кабинета: порог назначает протокол, съёмку делает техник, годность решает он же на месте, чтение делает врач, пересчёт делает тот, кто применяет, сообщение идёт тому, кто принимает решение. Разбивать мельче смысла нет — исполнитель не меняется; крупнее — потеряется ровно то, что дальше переедет.</a:t>
            </a:r>
          </a:p>
          <a:p>
            <a:r>
              <a:t/>
            </a:r>
          </a:p>
          <a:p>
            <a:r>
              <a:t>И последнее, что стоит произнести до разборов. Два действия, которые заняла модель, — не самые трудные из шести. Трудные остались людям: назначить порог под цену ошибки и решить, годно ли измерение. Это общий сюжет всей лекции, и в этом разделе он виден отчётливее всего.</a:t>
            </a:r>
          </a:p>
          <a:p>
            <a:r>
              <a:t/>
            </a:r>
          </a:p>
          <a:p>
            <a:r>
              <a:t>**Источники.** </a:t>
            </a:r>
            <a:r>
              <a:rPr u="sng">
                <a:solidFill>
                  <a:srgbClr val="065A82"/>
                </a:solidFill>
                <a:hlinkClick r:id="rId3"/>
              </a:rPr>
              <a:t>Roberts и соавт., Nature Machine Intelligence 2021</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Счёт здесь короткий, и группа его сделает быстрее, чем я проговорю. Возьмём одну систему с одной рабочей точкой: она ловит 94 больных из ста и напрасно пугает 11 здоровых из ста. Эти два числа — иллюстрация методики, взятая из опубликованной рабочей точки модели чтения снимков грудной клетки; характеристикой конкретного изделия они не служат, и ни одно решение о закупке на них опирать нельзя.</a:t>
            </a:r>
          </a:p>
          <a:p>
            <a:r>
              <a:t/>
            </a:r>
          </a:p>
          <a:p>
            <a:r>
              <a:t>Применим её в двух группах, которые отличаются ровно одним — долей больных среди обследованных.</a:t>
            </a:r>
          </a:p>
          <a:p>
            <a:r>
              <a:t/>
            </a:r>
          </a:p>
          <a:p>
            <a:r>
              <a:t>Поголовный поток: десять тысяч человек подряд, болезнь у одного из ста, то есть у 100 из 10 000. Верных тревог 94, ложных 1 089, всего 1 183. Профильное отделение: те же десять тысяч, но сюда людей уже отобрали по жалобе или направлению, болезнь у тридцати из ста. Верных 2 820, ложных 770, всего 3 590.</a:t>
            </a:r>
          </a:p>
          <a:p>
            <a:r>
              <a:t/>
            </a:r>
          </a:p>
          <a:p>
            <a:r>
              <a:t>Теперь то, ради чего счёт и ведётся. Врач на приёме чувствительности не видит вовсе — он видит, какая доля пришедших к нему тревог оказалась болезнью. В первом случае это 94 из 1 183, то есть 8 из ста. Во втором 2 820 из 3 590, то есть 79 из ста. Разница почти десятикратная, и внутри системы при этом не изменилась ни одна строка: менялась только группа, а долю больных в ней назначил тот, кто решил, кого звать на обследование, — не разработчик. Это решение об отборе, принятое за всех ещё до того, как кто-нибудь посмотрел на точность.</a:t>
            </a:r>
          </a:p>
          <a:p>
            <a:r>
              <a:t/>
            </a:r>
          </a:p>
          <a:p>
            <a:r>
              <a:t>Это точность по положительному классу, и у неё два имени, потому что в двух профессиях она называется по-разному. Инженеру она знакома как точность по положительному классу. В клинических работах она стоит под именем прогностической ценности положительного результата, и зависит она от распространённости, то есть от доли больных в обследованной группе. Распространённость свойством прибора не служит: её меняет тот, кто решил, кого обследовать.</a:t>
            </a:r>
          </a:p>
          <a:p>
            <a:r>
              <a:t/>
            </a:r>
          </a:p>
          <a:p>
            <a:r>
              <a:t>Что это значит для врача. Объяснять пациенту одну ложную тревогу из десяти и девять ложных из десяти — две разные профессии, и разговоры эти устроены по-разному. Что это значит для инженера. Перенос системы из профильного отделения в поголовное обследование меняет смысл выхода: один и тот же сигнал «болен» в первом случае почти достоверная находка, во втором — повод для дообследования, которое в девяти случаях из десяти кончится словом «норма».</a:t>
            </a:r>
          </a:p>
          <a:p>
            <a:r>
              <a:t/>
            </a:r>
          </a:p>
          <a:p>
            <a:r>
              <a:t>И отсюда три способа поднять долю верных тревог, ни один из которых не состоит в улучшении модели. Поднять порог: ложных тревог станет меньше, пропущенных больных больше, и обменный курс здесь назначает цена обеих ошибок. Изменить группу: обследовать тех, у кого болезнь встречается чаще. Поставить второй, подтверждающий тест и объявлять «болен» только по двум — именно так устроены две ступени скрининговых программ. На кадре их перечня нет: он читается вслух, а на экране стоят числа, из которых он следует. Отсюда и правило, которое раздел выдаёт всей лекции: заявленная точность без названной группы и названной распространённости не читается.</a:t>
            </a:r>
          </a:p>
          <a:p>
            <a:r>
              <a:t/>
            </a:r>
          </a:p>
          <a:p>
            <a:r>
              <a:t>Теперь о женщине с письмом, потому что эта арифметика про неё. Она пришла без жалоб, по возрасту, и стоит в том самом поголовном потоке, где больных около одного на сотню. Значит доля верных тревог на её группе — левая, восемь из ста, а не правая. Если ей позвонят и пригласят на дообследование, восемь шансов из ста, что находка подтвердится, и девяносто два — что это ложная тревога, и каждый из этих девяноста двух человек проживёт свои недели с открытым вопросом. Ни одна строка внутри системы при этом не меняется.</a:t>
            </a:r>
          </a:p>
          <a:p>
            <a:r>
              <a:t/>
            </a:r>
          </a:p>
          <a:p>
            <a:r>
              <a:t>**Источники.** </a:t>
            </a:r>
            <a:r>
              <a:rPr u="sng">
                <a:solidFill>
                  <a:srgbClr val="065A82"/>
                </a:solidFill>
                <a:hlinkClick r:id="rId3"/>
              </a:rPr>
              <a:t>Rajpurkar и соавт., CheXNet 2017</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Этот кадр называет классический режим — так же, как стадия требований в инженерной лекции предъявляет «требование, которое можно нарушить» прежде всякого инструмента. Номера «Пример N» он не носит: цены обеих ошибок в числах у него нет, счёта против модели тоже, и быть их здесь не должно. Он описывает работу, которая делается без всякой модели.</a:t>
            </a:r>
          </a:p>
          <a:p>
            <a:r>
              <a:t/>
            </a:r>
          </a:p>
          <a:p>
            <a:r>
              <a:t>Кабинет флюорографии районной поликлиники. Техник ставит пациента к аппарату, снимает, смотрит на экран и решает: годится или переснять. Решает он по тому, что видно на кадре, — положение пациента, захват объёма, наличие артефактов, видимость того, что должно быть видно. Это правило живёт в инструкции кабинета и в глазах того, кто снимал; в самом приборе его нет вовсе. Схема на кадре и есть эти три шага, и больше в классическом режиме ничего нет.</a:t>
            </a:r>
          </a:p>
          <a:p>
            <a:r>
              <a:t/>
            </a:r>
          </a:p>
          <a:p>
            <a:r>
              <a:t>Единица счёта у этой работы своя, и назвать её надо здесь, пока режим ещё классический: одно решение о годности на один снимок, принятое на месте и почти никогда не записанное. Записи не остаётся — значит и посчитать потом, сколько снимков переснимали, по документам нельзя. Именно поэтому в разборе, который идёт следом, доля негодных снимков оказалась неожиданной для всех: в классическом порядке её никто не мерил, потому что мерить было нечего.</a:t>
            </a:r>
          </a:p>
          <a:p>
            <a:r>
              <a:t/>
            </a:r>
          </a:p>
          <a:p>
            <a:r>
              <a:t>Если негодный снимок уйдёт на чтение, читать будут артефакт — и читающий об этом может не узнать, потому что пациента он не видел. Диагноз поставят по тому, что видно, а не по тому, что было на самом деле. Заметить подмену, кроме техника, некому: обратная связь к нему не возвращается, и до пересмотра случая никто обычно и не узнаёт, что снимок был негодным.</a:t>
            </a:r>
          </a:p>
          <a:p>
            <a:r>
              <a:t/>
            </a:r>
          </a:p>
          <a:p>
            <a:r>
              <a:t>Отсюда общее утверждение, которое стоит произнести прежде всякого разбора: до всякого чтения кто-то решает, пригодно ли измерение, и решает это человек. Контроль годности — процедура, и свойством прибора он не становится.</a:t>
            </a:r>
          </a:p>
          <a:p>
            <a:r>
              <a:t/>
            </a:r>
          </a:p>
          <a:p>
            <a:r>
              <a:t>У этой работы есть объём, и объём этот меряется. Техник переснимает, пациент переодевается второй раз, очередь стоит. В разборе, который идёт следом, та же работа посчитана прямо: при автономном чтении снимков глазного дна в одиннадцати клиниках по качеству отклонили 393 снимка из 1 838 — то есть 21 из каждых ста за первые полгода.</a:t>
            </a:r>
          </a:p>
          <a:p>
            <a:r>
              <a:t/>
            </a:r>
          </a:p>
          <a:p>
            <a:r>
              <a:t>И вот где сцена перестаёт быть бытовой. Пока чтение делает человек, годность остаётся внутренним делом кабинета: не понравилось — переснял. Когда чтение становится автономным и выполняется на месте, годность превращается в условие, от которого зависит результат: переснять некому, и посмотреть на заключение специалисту тоже некому. Из трёх режимов чтения — двойное чтение, арбитраж и контроль годности — раздел берёт только третий; первые два придут позже, вместе с человеком, который читает рядом с моделью, и там же будут посчитаны.</a:t>
            </a:r>
          </a:p>
          <a:p>
            <a:r>
              <a:t/>
            </a:r>
          </a:p>
          <a:p>
            <a:r>
              <a:t>Стоит сказать, почему этот кадр вообще отдельный, а не строка в описании стадии. Из трёх классических режимов чтения — двойное чтение, арбитраж, контроль годности — раздел берёт один, и берёт его потому, что именно этот режим первый же разбор застанет изменившимся. Двойное чтение и арбитраж придут в следующем разделе, вместе с человеком, который читает рядом с моделью, и там же будут посчитаны в числах. Здесь они только названы.</a:t>
            </a:r>
          </a:p>
          <a:p>
            <a:r>
              <a:t/>
            </a:r>
          </a:p>
          <a:p>
            <a:r>
              <a:t>Вопрос залу, который здесь уместен: у кого на работе стоит автоматическая проверка входных данных — и что у вас с её ложными отказами? Зал в этой аудитории почти весь вайбкодит и многие работают в ИТ, так что история про «система отклонила годный вход, и переделывать пришлось человеку» у части слушателей своя. Пусть расскажут: это тот же самый режим, только не в поликлинике.</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Цена обеих ошибок считается здесь в исходах и в визитах, а не в деньгах. Пропущенное поражение глазного дна у человека с диабетом — это необратимая потеря зрения: до поздних стадий оно бессимптомно, человек ничего не чувствует и сам не приходит. Ложная тревога — направление к офтальмологу, которого в районе может не быть вовсе, и очередь, в которой стоят те, кому направление нужно. Денежных оценок для этой страны в открытых источниках нет, а американские сюда не переносятся, поэтому цена названа исходом и визитом.</a:t>
            </a:r>
          </a:p>
          <a:p>
            <a:r>
              <a:t/>
            </a:r>
          </a:p>
          <a:p>
            <a:r>
              <a:t>Классический режим произносится словами и без числа: раз в год человек с диабетом идёт на приём к офтальмологу, тот сам снимает и сам читает. Своего счёта этого режима на той же тайской выборке в источнике нет, и подставлять сюда явку из другого испытания — другая страна, другая возрастная группа — значило бы склеить две выборки в одну. Второй классический режим в этой задаче просто отсутствует: двойного чтения снимков глазного дна в первичном звене не бывает, читать их там некому вовсе, и это сказано здесь, а не замолчано.</a:t>
            </a:r>
          </a:p>
          <a:p>
            <a:r>
              <a:t/>
            </a:r>
          </a:p>
          <a:p>
            <a:r>
              <a:t>Модель против этого режима: автономное чтение двух снимков глазного дна прямо в кабинете первичного звена, результат меньше чем за минуту, без офтальмолога. Вход — два снимка, выход — та же метка, что поставил бы специалист. Обучена она на лабораторном наборе из снимков, прошедших отбор по качеству, и вот здесь лежит весь разбор: в поле этот отбор делает человек, которому правила не назвали. Имени системы оценка не называет — назвать его нечем, и это отказ, а не пропуск.</a:t>
            </a:r>
          </a:p>
          <a:p>
            <a:r>
              <a:t/>
            </a:r>
          </a:p>
          <a:p>
            <a:r>
              <a:t>И вот что показало поле. За первые полгода развёртывания в одиннадцати клиниках по качеству отклонён 21 снимок из ста — 393 из 1 838 сделанных. Причины названы и обе про место, а не про модель: освещение в кабинете, где снимали, и медленная связь, из-за которой снимок не успевал уйти на обработку. Ни одна из двух на лабораторном наборе не видна.</a:t>
            </a:r>
          </a:p>
          <a:p>
            <a:r>
              <a:t/>
            </a:r>
          </a:p>
          <a:p>
            <a:r>
              <a:t>Два числа рядом стоять не должны, и это стоит произнести прямо: 21 из ста — доля негодных снимков, а не доля неявки. Явку мерил другой разбор, на другой выборке и в другой стране.</a:t>
            </a:r>
          </a:p>
          <a:p>
            <a:r>
              <a:t/>
            </a:r>
          </a:p>
          <a:p>
            <a:r>
              <a:t>Лабораторная точность модели-предшественника опубликована, и в этом разборе она не произносится — по тому самому правилу раздела: у неё нет ни названной группы, ни названной распространённости. Правило применяется к числу, которое разбору было бы выгодно.</a:t>
            </a:r>
          </a:p>
          <a:p>
            <a:r>
              <a:t/>
            </a:r>
          </a:p>
          <a:p>
            <a:r>
              <a:t>Теперь то, что переехало в работе, и это ведущее изменение случая. Нагрузка выросла на том же месте. Место и рука те же — техник первичного звена, та же камера, — а объём работы больше: у него появилась работа добиться годного снимка. У офтальмолога такой операции не было вовсе, потому что он компенсировал условия съёмки сам: подправил положение, переснял, посмотрел собственными глазами на результат. Рядом появился шаг, которого в классическом порядке не существовало: повторный визит для тех, чей снимок не прошёл. Это 21 человек из каждых ста обследованных, и каждому из них нужно прийти второй раз.</a:t>
            </a:r>
          </a:p>
          <a:p>
            <a:r>
              <a:t/>
            </a:r>
          </a:p>
          <a:p>
            <a:r>
              <a:t>Пара, которой разбор закрывается. Дало: результат в кабинете первичного звена, без направления и без ожидания специалиста. Потребовало: годного снимка в условиях, под которые систему не проверяли. В сумме: на старте развёртывания результат оказался хуже лабораторного замера, и разница объясняется устройством места, а не устройством модели.</a:t>
            </a:r>
          </a:p>
          <a:p>
            <a:r>
              <a:t/>
            </a:r>
          </a:p>
          <a:p>
            <a:r>
              <a:t>Урок, который стоит унести с этого разбора целиком. Провалилось развёртывание — чтение сработало. Модель приехала готовой, место под неё — нет, и ровно это место никто не измерял до внедрения. Ни одно из двух названных изменений не про модель: оба про место.</a:t>
            </a:r>
          </a:p>
          <a:p>
            <a:r>
              <a:t/>
            </a:r>
          </a:p>
          <a:p>
            <a:r>
              <a:t>И честная оговорка о силе свидетельства. Это полевое наблюдательное исследование внедрения: одиннадцать клиник, первые полгода. Измерено однажды, прямого повторения нет — и это произносится рядом с числом, а не вместо него.</a:t>
            </a:r>
          </a:p>
          <a:p>
            <a:r>
              <a:t/>
            </a:r>
          </a:p>
          <a:p>
            <a:r>
              <a:t>**Источники.** </a:t>
            </a:r>
            <a:r>
              <a:rPr u="sng">
                <a:solidFill>
                  <a:srgbClr val="065A82"/>
                </a:solidFill>
                <a:hlinkClick r:id="rId3"/>
              </a:rPr>
              <a:t>Beede и соавт., CHI 2020</a:t>
            </a:r>
            <a:r>
              <a:t> · иллюстрация — </a:t>
            </a:r>
            <a:r>
              <a:rPr u="sng">
                <a:solidFill>
                  <a:srgbClr val="065A82"/>
                </a:solidFill>
                <a:hlinkClick r:id="rId4"/>
              </a:rPr>
              <a:t>Skevas и соавт., BMC Ophthalmology 2024, рис. 3</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Цена обеих ошибок называется здесь стадией. Пропущенное злокачественное образование кожи — лечение на поздней стадии, а не на ранней; единого числа выживаемости по группам, посчитанного на одной когорте за один период, в открытых сводках нет, поэтому цена названа стадией, а не процентом. Лишняя тревога — биопсия, рубец и месяцы ожидания результата.</a:t>
            </a:r>
          </a:p>
          <a:p>
            <a:r>
              <a:t/>
            </a:r>
          </a:p>
          <a:p>
            <a:r>
              <a:t>Оба классических режима взяты из одной работы и одной методологии: метаанализ прямого сравнения показал, что осмотр невооружённым глазом находит восемьдесят шесть больных из ста при специфичности семьдесят семь, а дермоскопия у обученного специалиста — девяносто один при специфичности семьдесят четыре. Свежий обзор по той же задаче даёт для осмотра другие числа, а сводной оценки дермоскопии не даёт вовсе из-за разнородности работ; две методологии рядом не ставятся, иначе сравнение пойдёт между методиками подсчёта, а не между режимами.</a:t>
            </a:r>
          </a:p>
          <a:p>
            <a:r>
              <a:t/>
            </a:r>
          </a:p>
          <a:p>
            <a:r>
              <a:t>Модель против этих режимов. На наборе из шестисот пятидесяти шести изображений, каждое с подтверждённой биопсией, три модели дают площадь под кривой на тёмных тонах кожи на девять-пятнадцать пунктов ниже, чем на светлых. Состав набора назван поимённо: двести восемь светлых тонов, двести сорок один средних, двести семь самых тёмных. Знаменатель приличный, и говорить о «нескольких примерах» здесь нельзя.</a:t>
            </a:r>
          </a:p>
          <a:p>
            <a:r>
              <a:t/>
            </a:r>
          </a:p>
          <a:p>
            <a:r>
              <a:t>Устроено это так: на входе снимок кожного образования, на выходе оценка «показать врачу или нет». Обучающие наборы у трёх моделей свои, и тёмных тонов в них мало — в этом весь разбор, и это единственный случай в лекции, где предметом стал состав обучающих данных, а не алгоритм, развёртывание или выбор цели. Имён самих моделей публикация не даёт; названа проверочная выборка — DDI, и по ней работу можно найти.</a:t>
            </a:r>
          </a:p>
          <a:p>
            <a:r>
              <a:t/>
            </a:r>
          </a:p>
          <a:p>
            <a:r>
              <a:t>Одну ходовую цифру разбор произносить отказывается, и отказ стоит произнести вслух. Формулировка «на тёмной коже чувствительность падает на двадцать-тридцать процентов» в публикации не найдена, источник её не опознаётся. Ближайшее измеренное выглядит иначе и относится к одной из трёх моделей: шестьдесят девять больных из ста на светлых тонах против двадцати трёх на тёмных. Правило раздела применяется к числу, которое разбору было бы выгодно, — и именно поэтому применяется.</a:t>
            </a:r>
          </a:p>
          <a:p>
            <a:r>
              <a:t/>
            </a:r>
          </a:p>
          <a:p>
            <a:r>
              <a:t>Единица замера названа точно: это пункты площади под кривой, мера различения больного и здорового, а не доля найденных больных. Подменять одно другим нельзя — величины разной природы, и разрыв в пунктах площади не переводится в проценты пропущенных. Если кто-нибудь в зале переведёт его в проценты, он получит число, которого никто не мерил.</a:t>
            </a:r>
          </a:p>
          <a:p>
            <a:r>
              <a:t/>
            </a:r>
          </a:p>
          <a:p>
            <a:r>
              <a:t>И про силу свидетельства, прежде чем идти к цене. Это проверка на отобранном корпусе с биопсийным подтверждением, а не полевое наблюдение внедрения: про то, как эти модели ведут себя в настоящем кабинете, работа не говорит ничего. Знаменатель назван, состав назван, единица названа — и этим её ценность исчерпывается. Переносить вывод на конкретное изделие нельзя: моделей три, и ни одна не поименована.</a:t>
            </a:r>
          </a:p>
          <a:p>
            <a:r>
              <a:t/>
            </a:r>
          </a:p>
          <a:p>
            <a:r>
              <a:t>По-человечески случай устроен так. Идти ли с этим образованием к врачу — вопрос, который человек задаёт себе сам, и до всякой модели решали его тремя способами: посмотреть глазом, посмотреть через дермоскоп у специалиста и сфотографировать телефоном, отдав снимок модели. Получилось вот что: модель работает, и работает неодинаково для разных людей — причём разница лежит не в алгоритме, а в том, из чьих снимков её учили. Это классификация изображений, и в этом месте курса она уже знакома; новое здесь не устройство модели, а то, что предметом разбора стал её обучающий набор.</a:t>
            </a:r>
          </a:p>
          <a:p>
            <a:r>
              <a:t/>
            </a:r>
          </a:p>
          <a:p>
            <a:r>
              <a:t>**Источники.** </a:t>
            </a:r>
            <a:r>
              <a:rPr u="sng">
                <a:solidFill>
                  <a:srgbClr val="065A82"/>
                </a:solidFill>
                <a:hlinkClick r:id="rId3"/>
              </a:rPr>
              <a:t>Daneshjou и соавт., Science Advances 2022</a:t>
            </a:r>
            <a:r>
              <a:t> · </a:t>
            </a:r>
            <a:r>
              <a:rPr u="sng">
                <a:solidFill>
                  <a:srgbClr val="065A82"/>
                </a:solidFill>
                <a:hlinkClick r:id="rId4"/>
              </a:rPr>
              <a:t>Vestergaard и соавт., British Journal of Dermatology 2008</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Форма здесь одна, и она называется прямо: сместилась цена ошибки. Место то же и исполнитель тот же, а то, во что обходится ошибка, распределилось иначе — по разным людям по-разному. Средняя точность по набору остаётся приличной, и отчёт о внедрении с одним числом покажет благополучие. Платит подгруппа, изображений которой в обучающем наборе было мало, и в среднюю её вклад тонет по построению: она меньшая часть набора.</a:t>
            </a:r>
          </a:p>
          <a:p>
            <a:r>
              <a:t/>
            </a:r>
          </a:p>
          <a:p>
            <a:r>
              <a:t>Исправление в этом разборе измерено, и это редкий случай — обычно про смещение говорят, не проверяя лечения. Дообучение на представительном наборе разрыв снимает и даже переворачивает. Три алгоритмических метода борьбы со смещением значимо его не уменьшили. Вывод отсюда неудобный для инженерного вкуса: чинит разрыв сбор и разметка — та часть работы, которую чаще всего отдают на сторону и считают черновой. Модель его не чинит.</a:t>
            </a:r>
          </a:p>
          <a:p>
            <a:r>
              <a:t/>
            </a:r>
          </a:p>
          <a:p>
            <a:r>
              <a:t>Что из этого стоит унести инженеру. Состав обучающего набора — не черновая работа и не то, что отдают стажёру: здесь он оказался единственным, что лечит измеренный разрыв, причём три метода, созданных именно для борьбы со смещением, его не вылечили. Это неудобный вывод, и он проверяемый — проверка лежит в той же работе, рядом с самим разрывом.</a:t>
            </a:r>
          </a:p>
          <a:p>
            <a:r>
              <a:t/>
            </a:r>
          </a:p>
          <a:p>
            <a:r>
              <a:t>Пара, которой закрывается разбор. Дало: постоянную оценку кожного образования там, где дерматолога нет, — доступ, а не точность. Потребовало: набора, который повторяет состав тех, на ком система будет работать, и знания этого состава заранее. В сумме: средняя держится, цена ошибки переехала на подгруппу, и заметить это по средней нельзя.</a:t>
            </a:r>
          </a:p>
          <a:p>
            <a:r>
              <a:t/>
            </a:r>
          </a:p>
          <a:p>
            <a:r>
              <a:t>И строка, которая несёт весь разбор. Разрыв по тону кожи измерен у модели, а у классических методов не измерен вовсе: по тону кожи точность не разбивает ни метаанализ прямого сравнения, ни обзоры. Значит сказать «модель хуже человека на этой подгруппе» не с чем, и утверждать это было бы ровно тем, за что разбор и взят. Верное утверждение другое и проверяемое: у модели разрыв измерен и назван, у человека не измерен никем, и отсутствие замера — не свидетельство равенства.</a:t>
            </a:r>
          </a:p>
          <a:p>
            <a:r>
              <a:t/>
            </a:r>
          </a:p>
          <a:p>
            <a:r>
              <a:t>Это стоит задержать на секунду, потому что обратное слышится чаще. Из того, что у классического осмотра разрыв по тону кожи не измерен, не следует, что у него разрыва нет: следует только, что никто не смотрел. Разница между «измерено и равно нулю» и «не измерено» — это и есть разница между свидетельством и его отсутствием, и путать их в обе стороны одинаково неправильно.</a:t>
            </a:r>
          </a:p>
          <a:p>
            <a:r>
              <a:t/>
            </a:r>
          </a:p>
          <a:p>
            <a:r>
              <a:t>Отсюда рабочий вопрос к любому поставщику: на ком посчитана ваша средняя и какие подгруппы в этой средней растворились. Вопрос этот стоит задавать до покупки, а не после внедрения, потому что после внедрения средняя будет единственным числом в отчёте — и будет выглядеть хорошо.</a:t>
            </a:r>
          </a:p>
          <a:p>
            <a:r>
              <a:t/>
            </a:r>
          </a:p>
          <a:p>
            <a:r>
              <a:t>И про то, как эта цена выглядит в отчёте. Если бы такую систему внедрили и измерили одним числом — средней точностью по всем снимкам, — отчёт показал бы ровное благополучие, и показал бы его честно: средняя действительно держится. Увидеть сместившуюся цену можно только разбив замер по подгруппам, то есть зная заранее, по каким именно подгруппам разбивать. В этой работе разбивали по тону кожи; какая подгруппа окажется существенной в следующей задаче, из самой модели не следует никак, и назвать её должен тот, кто знает предмет.</a:t>
            </a:r>
          </a:p>
          <a:p>
            <a:r>
              <a:t/>
            </a:r>
          </a:p>
          <a:p>
            <a:r>
              <a:t>**Источники.** </a:t>
            </a:r>
            <a:r>
              <a:rPr u="sng">
                <a:solidFill>
                  <a:srgbClr val="065A82"/>
                </a:solidFill>
                <a:hlinkClick r:id="rId3"/>
              </a:rPr>
              <a:t>Daneshjou и соавт., Science Advances 2022</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Речь о программе повышенного внимания: больница выделяет ограниченное число мест для людей, за которыми нужно присматривать плотнее обычного. Цена обеих ошибок считается местами. Не попал тот, кому программа нужна, — болезнь развивается без присмотра, и узнают об этом на госпитализации. Попал тот, кому не нужна, — потрачено место и время координатора, то есть кто-то третий не попал.</a:t>
            </a:r>
          </a:p>
          <a:p>
            <a:r>
              <a:t/>
            </a:r>
          </a:p>
          <a:p>
            <a:r>
              <a:t>Оба классических режима посчитаны на одной выборке. При отборе решением лечащего врача доля рассматриваемой группы среди фактически отобранных — 19,2 из ста. При отборе одним баллом по прогнозу расходов — 17,2 из ста. Два числа близки, различаются только ярлыком режима, и потому подряд они не произносятся.</a:t>
            </a:r>
          </a:p>
          <a:p>
            <a:r>
              <a:t/>
            </a:r>
          </a:p>
          <a:p>
            <a:r>
              <a:t>Ограничение этого счёта надо назвать вслух, и оно существенное: врач, отбиравший пациентов, уже видел балл — выше порога ему приходила подсказка. Значит посчитан отбор врачом, у которого балл под рукой; отбора, не видевшего балла, в публикации нет вовсе. Сравнение поэтому идёт не между «человеком» и «моделью», а между двумя режимами, в одном из которых человек работает с подсказкой.</a:t>
            </a:r>
          </a:p>
          <a:p>
            <a:r>
              <a:t/>
            </a:r>
          </a:p>
          <a:p>
            <a:r>
              <a:t>Модель против этих режимов. Система считает каждому пациенту один балл, отбор идёт по порогу, а целевой переменной взяты будущие расходы на лечение. Результат: при равном балле у одной группы болезней оказалось на 26 процентов больше. То есть чтобы попасть в программу, им нужно было быть болезненнее при той же оценке риска. База названа целиком: 49 618 пациентов одной академической больницы, 100 009 пациенто-лет, 2013–2015 годы. Знаменатель относится к одной больнице, и выводы о величине перекоса относятся к нему, а не к отрасли.</a:t>
            </a:r>
          </a:p>
          <a:p>
            <a:r>
              <a:t/>
            </a:r>
          </a:p>
          <a:p>
            <a:r>
              <a:t>Устроено это так: на входе записи карты и данные о расходах, на выходе один балл на человека и отбор по порогу. Имени у промышленного алгоритма публикация не даёт — и это отказ назвать, а не пропуск: авторы разбирают систему, которую не вправе поименовать.</a:t>
            </a:r>
          </a:p>
          <a:p>
            <a:r>
              <a:t/>
            </a:r>
          </a:p>
          <a:p>
            <a:r>
              <a:t>Механизм стоит разобрать медленно: выбор целевой переменной был инженерно разумным и поучителен именно поэтому. Расходы есть у всех пациентов, они числовые, не требуют разметки и действительно связаны с болезнью. Но расходы отражают обращаемость — сколько человек пользовался медициной, — а обращаемость у разных групп населения разная при одинаковом состоянии здоровья. Ошибка не в модели и не в данных по отдельности: никто не записал, что решение считает целью, и ею стало то, что было в данных.</a:t>
            </a:r>
          </a:p>
          <a:p>
            <a:r>
              <a:t/>
            </a:r>
          </a:p>
          <a:p>
            <a:r>
              <a:t>Чем это делают сегодня: счёт риска на данных плательщика и на карте, разделение населения по уровням внимания. Покупает такие системы администрация или плательщик, не врач, — и для покупателя «дорого лечится» и «болен» выглядят одним и тем же, потому что в его собственных данных они и есть одно и то же.</a:t>
            </a:r>
          </a:p>
          <a:p>
            <a:r>
              <a:t/>
            </a:r>
          </a:p>
          <a:p>
            <a:r>
              <a:t>Почему этот разбор стоит в разделе про измерение, а не в разделе про отбор, — вопрос законный, и ответ такой: решение здесь принимается по измеренному, и выносит его система, без человека. Что измеряли — расходы; о чём решали — болезнь. Расхождение между этими двумя и есть предмет кадра.</a:t>
            </a:r>
          </a:p>
          <a:p>
            <a:r>
              <a:t/>
            </a:r>
          </a:p>
          <a:p>
            <a:r>
              <a:t>И то, что стоит сказать инженеру прямо. Целевую переменную в этой задаче выбирали не из лени: расходы есть у каждого пациента, они числовые, не требуют разметки и действительно коррелируют с болезнью. Любой из сидящих в зале выбрал бы её же при тех же данных и том же сроке. Ошибка лежит не в выборе, а в том, что никто не записал, что система считает своей целью, — и потому никто не проверил, совпадает ли она с целью решения. Процедуры такой проверки в порядке работы нет, и об этом говорит свод раздела.</a:t>
            </a:r>
          </a:p>
          <a:p>
            <a:r>
              <a:t/>
            </a:r>
          </a:p>
          <a:p>
            <a:r>
              <a:t>**Источники.** </a:t>
            </a:r>
            <a:r>
              <a:rPr u="sng">
                <a:solidFill>
                  <a:srgbClr val="065A82"/>
                </a:solidFill>
                <a:hlinkClick r:id="rId3"/>
              </a:rPr>
              <a:t>Obermeyer и соавт., Science 2019</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Авторы посчитали, что было бы, если убрать разрыв в здоровье на границе отбора: доля этой группы пациентов среди отобранных поднялась бы с наблюдаемых 17,7 до 46,5 из ста. Произносить это надо условным наклонением, иначе упражнение выдаётся за внедрённое исправление. Устроен расчёт так: на границе более здорового пациента заменяют более больным, пока разрыв не исчезнет, и смотрят, какой состав получится. Внедрения за этим нет, переобучения тоже.</a:t>
            </a:r>
          </a:p>
          <a:p>
            <a:r>
              <a:t/>
            </a:r>
          </a:p>
          <a:p>
            <a:r>
              <a:t>Настоящее переобучение авторы тоже сделали, и оно слабее расчёта. Их предсказатель на числе активных хронических состояний даёт в группе высшего риска 26,7 из ста против 14,1 у их же предсказателя расходов, обученного на тех же данных. А наблюдаемая доля 17,7 принадлежит промышленному алгоритму, который авторы разбирают, — это третья модель, и вычитать одно из другого нельзя: такой разности в первоисточнике нет. Урок точнее: смена целевой переменной двигает состав отобранных и всё равно не доходит до 46,5.</a:t>
            </a:r>
          </a:p>
          <a:p>
            <a:r>
              <a:t/>
            </a:r>
          </a:p>
          <a:p>
            <a:r>
              <a:t>Что переехало. Сменился исполнитель: отбор делал лечащий врач, стал делать один балл. И сместилась цена ошибки — на группу, у которой при равном балле больше болезней. Пара, которой закрывается разбор: дало последовательный отбор там, где ручной непоследователен; потребовало совпадения расходов с болезнью, которого нет; в сумме для одной группы отбор стал хуже прежнего, а исправление до сих пор только посчитано.</a:t>
            </a:r>
          </a:p>
          <a:p>
            <a:r>
              <a:t/>
            </a:r>
          </a:p>
          <a:p>
            <a:r>
              <a:t>Про масштаб и его знаменатель — отдельно, потому что два числа тут легко сложить неправильно. Модели этого класса применяются, по оценке отрасли, примерно к 200 миллионам человек в год. Это оценка охвата, а не выборка измерения: перекос измерен на 49 618 пациентах одной больницы, и выводы о его величине относятся к этому знаменателю, а не к двумстам миллионам. Числа эти стоят в разных единицах и складывать их нельзя — на кадре поэтому стоит только второе.</a:t>
            </a:r>
          </a:p>
          <a:p>
            <a:r>
              <a:t/>
            </a:r>
          </a:p>
          <a:p>
            <a:r>
              <a:t>Рядом, другим жанром и слабее, стоит наблюдение: модели чтения рентгена при переносе на чужой набор теряют чувствительность по отдельным патологиям, сохраняя формально высокую специфичность. Источник — препринт, числа из него до пересверки не выносятся. Ценно другое, и ради этого наблюдение и названо: внутренняя проверка этого не видит, провал проявляется там, где его не проверяют. Та же мысль закрывает и этот разбор: если бы кто-то проверял, что система считает своей целью, разрыв нашёлся бы до внедрения, а не после.</a:t>
            </a:r>
          </a:p>
          <a:p>
            <a:r>
              <a:t/>
            </a:r>
          </a:p>
          <a:p>
            <a:r>
              <a:t>Стоит отдельно сказать, зачем этот кадр существует после предыдущего. Предыдущий назвал перекос и его величину; этот отвечает на вопрос, который зал задаёт сам: ну и что, починили? Ответ честный и неприятный: посчитали, что было бы, если починить, и не починили. Разница между расчётом и внедрением здесь не придирка к формулировке — это разница между работой, которую можно предъявить, и работой, которую сделали.</a:t>
            </a:r>
          </a:p>
          <a:p>
            <a:r>
              <a:t/>
            </a:r>
          </a:p>
          <a:p>
            <a:r>
              <a:t>Что из этого следует для инженера, у которого на руках похожая система. Перекос нашли не внутренней проверкой, а сторонним разбором на данных больницы: внутренняя проверка показывала, что модель хорошо предсказывает расходы, — и она действительно их хорошо предсказывала. Провал лежал там, где его никто не проверял, потому что проверяли соответствие модели её собственной цели, а не соответствие этой цели цели решения. Это и есть единственная проверка, которой в порядке работы нет совсем, и ровно этим свод раздела и закрывается.</a:t>
            </a:r>
          </a:p>
          <a:p>
            <a:r>
              <a:t/>
            </a:r>
          </a:p>
          <a:p>
            <a:r>
              <a:t>И последнее, о пределах урока. Измерено это на одной академической больнице за три года, на 49 618 пациентах. Вывод о механизме — выбор целевой переменной двигает состав отобранных — переносится; конкретная величина перекоса не переносится никуда, и произносить её как отраслевую нельзя.</a:t>
            </a:r>
          </a:p>
          <a:p>
            <a:r>
              <a:t/>
            </a:r>
          </a:p>
          <a:p>
            <a:r>
              <a:t>**Источники.** </a:t>
            </a:r>
            <a:r>
              <a:rPr u="sng">
                <a:solidFill>
                  <a:srgbClr val="065A82"/>
                </a:solidFill>
                <a:hlinkClick r:id="rId3"/>
              </a:rPr>
              <a:t>Obermeyer и соавт., Science 2019</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Соберём стадию по тем же четырём вопросам. На кадре от каждого осталось по два пункта, остальное проговаривается здесь.</a:t>
            </a:r>
          </a:p>
          <a:p>
            <a:r>
              <a:t/>
            </a:r>
          </a:p>
          <a:p>
            <a:r>
              <a:t>Что получается. Постоянство: система читает десятитысячный снимок так же, как первый, тогда как у человека к концу смены доля пропусков меняется. Поток: чтение нормы перестаёт занимать специалиста, и время перераспределяется на спорное. И третье, которого на кадре нет: воспроизводимость — один и тот же вход даёт один и тот же выход, а значит расхождение можно разобрать. У двух людей такой возможности нет, потому что ни один не повторит собственное чтение буквально.</a:t>
            </a:r>
          </a:p>
          <a:p>
            <a:r>
              <a:t/>
            </a:r>
          </a:p>
          <a:p>
            <a:r>
              <a:t>Что не получается. Три границы, и ни одна не про качество модели. Рабочую точку модель не назначает: за порогом стоит цена обеих ошибок, а её решает тот, кто подписывает. Переснять она не умеет, и качество входа остаётся на человеке без профильной подготовки. И третье, самое незаметное и тоже снятое с кадра: чем измерен вход. Смещение измерительного прибора приходит до всякой модели, и модель его наследует, не создавая. Измеренный пример этого — прибор насыщения крови: у пациентов с тёмной кожей скрытая нехватка кислорода встречалась в 11,7 процента измерений против 3,6 у пациентов со светлой. Упоминание идёт с числом и разбором не становится.</a:t>
            </a:r>
          </a:p>
          <a:p>
            <a:r>
              <a:t/>
            </a:r>
          </a:p>
          <a:p>
            <a:r>
              <a:t>Что стало с работой. На тайском развёртывании нагрузка выросла на том же месте: та же рука, та же камера, а работы больше — добиться годного снимка. Производной формой появился шаг, которого в классическом порядке не было, — повторный визит тем, чьё измерение не прошло; это 21 человек из каждых ста. В отборе по прогнозу расходов сменился исполнитель: отбор делал лечащий врач, стал делать один балл. И сместилась цена ошибки — в дерматологическом разборе на подгруппу, у которой изображений в обучающем наборе было мало, в разборе по расходам на группу, у которой при равном балле больше болезней.</a:t>
            </a:r>
          </a:p>
          <a:p>
            <a:r>
              <a:t/>
            </a:r>
          </a:p>
          <a:p>
            <a:r>
              <a:t>Что это держит. Рабочая точка, назначенная протоколом под цену обеих ошибок, и пересчёт доли верных тревог под свою группу. Контроль годности измерения — правило кабинета, а не свойство прибора. И четвёртое, названное прямо: процедуры, которая проверяла бы, что система считает своей целью, нет ни одной. В разборе по прогнозу расходов исправление посчитали и не применили. Пустое место это лежит в самом порядке работы; одна больница тут ни при чём.</a:t>
            </a:r>
          </a:p>
          <a:p>
            <a:r>
              <a:t/>
            </a:r>
          </a:p>
          <a:p>
            <a:r>
              <a:t>Теперь то, ради чего раздел и собран, и произносится оно медленно. Ни в одном из трёх разборов не провалилось само чтение. Провалились развёртывание, состав обучающего набора и определение цели — три разных места, и ни одно из них не лечится лучшей моделью. Это то, что стоит унести из раздела целиком: вопрос «насколько точна ваша система» в каждом из трёх случаев имел хороший ответ, и ни в одном из трёх он не помог.</a:t>
            </a:r>
          </a:p>
          <a:p>
            <a:r>
              <a:t/>
            </a:r>
          </a:p>
          <a:p>
            <a:r>
              <a:t>Про каждую из четырёх шапок стоит сказать, какой разбор её держит, иначе свод читается как общие слова. Постоянство и поток названы на заземлении и подтверждены тайским развёртыванием: чтение там работало, результат приходил меньше чем за минуту. Границы — рабочая точка и пересъёмка — названы на заземлении и измерены в поле: 21 отклонённый снимок из ста это и есть цена того, что модель не умеет переснять. Смещение входа приходит из дерматологического разбора и из упоминания про прибор насыщения крови. Четыре изменения работы стоят поимённо: два из тайского случая, два из разборов по составу набора и по прогнозу расходов.</a:t>
            </a:r>
          </a:p>
          <a:p>
            <a:r>
              <a:t/>
            </a:r>
          </a:p>
          <a:p>
            <a:r>
              <a:t>И про полужирную строку в четвёртой шапке — она здесь не фигура речи. Рабочую точку держит протокол, годность держит инструкция кабинета, пересчёт доли верных тревог держит тот, кто применяет. А процедуры, которая проверяла бы, что система считает своей целью, нет ни одной. Следующий раздел начнётся с того места, где подпись остаётся за человеком, — и там к этому пустому месту добавится своё.</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Раздел переходит через ту же границу, что отделила второй раздел от первого, только с другой стороны: данные уже измерены и прочитаны системой, но заключение подписывает человек. Подсказка встаёт рядом со снимком, и вопрос раздела в том, что человек после этого смотрит — сам снимок, подсказку или уже привычку доверять экрану.</a:t>
            </a:r>
          </a:p>
          <a:p>
            <a:r>
              <a:t/>
            </a:r>
          </a:p>
          <a:p>
            <a:r>
              <a:t>Пять разборов идут по возрастанию того, что именно измерено. Первый — замер взгляда радиолога: тот же читатель на тех же случаях, подсказка модели ложная, и падение измерено движением глаза. Сразу за ним стоит зеркало того же замера — другая работа, тот же сигнал, обратный знак; номера разбора у него нет: цены обеих ошибок и обоих классических режимов он не считает. Работа его другая — проверить, что падение не есть свойство самого сужения поиска. Второй — одна подсказка с двумя знаками: то же устройство эффекта, перенесённое с взгляда на решение; одна и та же подсказка в патологии поднимает шансы верного ответа вчетверо, когда модель права, и роняет вчетверо, когда неправа. Третий — измеренная тройка: три числа на одних и тех же задачах, модель одна, врач один, врач с моделью, и разрыв между вторым и третьим оказывается нулём. Четвёртый — контрольная линия: единственное в разделе испытание со случайным распределением и с измеренным исходом пациента, где пара вышла сильнее обеих сторон. Пятый — хирурги на септическом шоке: тот разбор, который был обещан в прошлый раз, и единственный, где пара оказалась ниже и модели в одиночку, и человека в одиночку.</a:t>
            </a:r>
          </a:p>
          <a:p>
            <a:r>
              <a:t/>
            </a:r>
          </a:p>
          <a:p>
            <a:r>
              <a:t>Имена произносятся здесь затем, чтобы потом узнавать слайд по уже сказанному: каждый из пяти выйдет на экран под этим заголовком, и зеркало тоже. После четвёртого разбора идут ещё пять кадров: кадр о том, по какому признаку откалибровано доверие; правило, собранное из ста шести опытов; пятый разбор — он занимает три кадра, потому что в нём и выплата обещания, и свод четырёх замеров; и вывод стадии. Сетка «задача × вид данных» в разделах не рисуется — она собирается один раз, в сборке, по всем разделам сразу.</a:t>
            </a:r>
          </a:p>
          <a:p>
            <a:r>
              <a:t/>
            </a:r>
          </a:p>
          <a:p>
            <a:r>
              <a:t>Раздел держит одну линию, и её стоит назвать до разборов. Пара «человек плюс модель» не равна ни человеку, ни модели в отдельности, и какая сторона перевесит, заранее сказать нельзя — это измеряют. Обычно же измеряют что угодно, кроме этого: точность модели отдельно, удовлетворённость врача отдельно, а третью величину, ради которой пара и собиралась, не считает никто.</a:t>
            </a:r>
          </a:p>
          <a:p>
            <a:r>
              <a:t/>
            </a:r>
          </a:p>
          <a:p>
            <a:r>
              <a:t>Снимок рядом — настоящее рабочее место чтения: врач за двумя мониторами, исследование на одном, рабочий список на другом.</a:t>
            </a:r>
          </a:p>
          <a:p>
            <a:r>
              <a:t/>
            </a:r>
          </a:p>
          <a:p>
            <a:r>
              <a:t>Про устройство самих кадров стоит знать заранее, чтобы не искать на экране того, чего там нет. Одним кадром идут два разбора из пяти — Примеры 2 и 3: выигрыш и его цена стоят там рядом, полосой «дало — потребовало — в сумме», и читаются с одного взгляда. У остальных трёх кадров больше, и каждый раз по своей причине. Пример 1 — два: за замером взгляда стоит зеркало того же опыта, и дивайдер называет его вслух. Контрольная линия — два: на втором живёт обратный сюжет, где доверия к модели оказалось слишком мало, и свести его с первым нельзя — он измерен в другой программе и на других людях. Хирурги — три: на первом названы цена обеих ошибок и оба классических режима, на втором стоит само изделие с тремя числами, на третьем собраны четыре замера раздела с их разрядами.</a:t>
            </a:r>
          </a:p>
          <a:p>
            <a:r>
              <a:t/>
            </a:r>
          </a:p>
          <a:p>
            <a:r>
              <a:t>И про зеркало, которое стоит сразу за первым разбором. Номера у него нет намеренно: цены обеих ошибок та работа не назначает, второго классического режима в ней нет, и по форме разбора она не проходит. Работа у неё одна и важная — ответить, не является ли само сужение зрительного поиска вредом. Ответ: нет, знак задаёт правота подсказки. Без этого кадра первый разбор читается односторонне, как провал, а не как измерение механизма.</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Стадия называется постановкой диагноза, и граница между ней и предыдущей проходит по подписи: пока измеряет и обрабатывает машина, это диагностика; как только заключение выносит человек, это постановка диагноза. Ни модальность данных, ни сложность алгоритма эту границу не задают.</a:t>
            </a:r>
          </a:p>
          <a:p>
            <a:r>
              <a:t/>
            </a:r>
          </a:p>
          <a:p>
            <a:r>
              <a:t>Данные здесь не новые, а собранные. Жалобы — то, что человек рассказал. Анамнез — то, что с ним было раньше. Осмотр — то, что врач увидел и прощупал руками. И результаты исследований, пришедшие с предыдущей стадии. Несущее слово — «вместе»: ни одна из четырёх частей по отдельности диагноза не даёт, и работа стадии состоит именно в том, чтобы сложить их в одну картину. Вопрос на этих данных один: какая болезнь объясняет наблюдаемое и какую проверку назначить следующей.</a:t>
            </a:r>
          </a:p>
          <a:p>
            <a:r>
              <a:t/>
            </a:r>
          </a:p>
          <a:p>
            <a:r>
              <a:t>Способов получить такие данные четыре. Приём у врача — основной: он даёт жалобы, анамнез и осмотр, то есть то, чего ни один прибор не снимает. Разбор уже имеющихся документов карты извлекает из написанного и нового измерения не добавляет. Консилиум — случай, когда один случай смотрят несколько специалистов сразу, и каждый приносит свою область. Телемедицинская консультация переносит ту же работу туда, где нужного специалиста нет.</a:t>
            </a:r>
          </a:p>
          <a:p>
            <a:r>
              <a:t/>
            </a:r>
          </a:p>
          <a:p>
            <a:r>
              <a:t>Решение, которое принимает стадия, — диагноз, который формулируют и подписывают. За ним следует назначение лечения, и здесь стоит произнести вслух цену отката: назначение отменяют, пока его не выполнили, а проведённую операцию и месяцы, потерянные на неверном лечении, не отменяет ничто.</a:t>
            </a:r>
          </a:p>
          <a:p>
            <a:r>
              <a:t/>
            </a:r>
          </a:p>
          <a:p>
            <a:r>
              <a:t>Теперь почему стадия стоит именно здесь, после измерений и до назначения. Она замыкает круг, начатый раньше: список болезней, способных объяснить наблюдаемое, составляют до исследования, а вычёркивают после него. Работа эта называется дифференциальным диагнозом и состоит из двух движений, повторяющихся по кругу: выписать болезни и назначить проверку, которая их между собой различит. Женщина тридцати четырёх лет приходит с кашлем, который держится три недели, вечерней температурой и потерей четырёх килограммов. Список на первом приёме: затяжной бронхит после инфекции — частая причина, потому стоит первым; туберкулёз — картина классическая, а пропустить его дорого; лимфома — те же два признака, прочитанные иначе; системное поражение лёгких — реже, но ложится сюда же. Назначены обзорный снимок и анализ крови с воспалительными показателями: сначала то, что стоит мало и отсекает много. Через два дня бронхит снят — на снимке изменения в верхней доле, которых при бронхите не бывает; системное снято спокойными показателями. Осталось два диагноза, которые по снимку не различаются, и решает их посев мокроты — три недели ожидания.</a:t>
            </a:r>
          </a:p>
          <a:p>
            <a:r>
              <a:t/>
            </a:r>
          </a:p>
          <a:p>
            <a:r>
              <a:t>В этом примере видно, чем клиническая версия перебора гипотез жёстче инженерной. Часть проверок сама опасна или дорога, поэтому порядок проверок становится отдельным решением, которое приходится обосновывать. И видна ошибка, у которой нет следа: выбрать неверно из списка — ошибка, которую заметят, потому что придёт результат проверки и не совпадёт с ожиданием; не вписать в список то, что должно было там стоять, никто не заметит, потому что проверки, которая бы это нашла, не назначит никто.</a:t>
            </a:r>
          </a:p>
          <a:p>
            <a:r>
              <a:t/>
            </a:r>
          </a:p>
          <a:p>
            <a:r>
              <a:t>И как решение принимают без обученной модели. Первый режим — тот самый дифференциальный диагноз в два движения. Второй — второе мнение: заключение по тому же случаю от того, кто первого заключения не видел, и вся работа этого определения держится на второй половине. Как только второй читатель видит вывод первого, два мнения перестают быть двумя: второй начинает отвечать на вопрос «согласен ли я», а это другая задача и другая доля ошибок. Третий — консилиум. Четвёртый — клинические рекомендации, то есть записанный и опубликованный порядок действий при названной картине. Все четыре придуманы до всякой автоматики и ради одного: чтобы ошибка одного человека не стала решением.</a:t>
            </a:r>
          </a:p>
          <a:p>
            <a:r>
              <a:t/>
            </a:r>
          </a:p>
          <a:p>
            <a:r>
              <a:t>И как часто ошибается сам человек. Частота ошибки со знаменателем в литературе есть одна: 5,08 приёма из ста в амбулаторной помощи у взрослых — по оценке авторов не менее одного случая на двадцать взрослых, около двенадцати миллионов взрослых в год по населению США. Половина этих ошибок, по их же прежней работе, способна привести к тяжёлому вреду.</a:t>
            </a:r>
          </a:p>
          <a:p>
            <a:r>
              <a:t/>
            </a:r>
          </a:p>
          <a:p>
            <a:r>
              <a:t>Произносить это как «врачи ошибаются в пяти процентах случаев» нельзя, и оговорка идёт вместе с числом. Ошибки выявляли триггером — необычным возвратом пациента после приёма и ненормальным результатом без дообследования, — поэтому сосчитана та часть, которая оставила такой след. Определение ошибки шире обыденного: «упущенная возможность поставить диагноз своевременно или верно». Знаменатель получен переносом с трёх клинических выборок на взрослое население США. Сами авторы пишут, что это занижение и что частота может быть заметно выше пяти процентов. Поддержано этим числом другое: на двадцать взрослых приходится не менее одной упущенной возможности поставить диагноз вовремя или верно.</a:t>
            </a:r>
          </a:p>
          <a:p>
            <a:r>
              <a:t/>
            </a:r>
          </a:p>
          <a:p>
            <a:r>
              <a:t>Разряд у этой частоты — экстраполяция на население, сведённая из трёх ретроспективных работ; собственного замера частоты за ней нет. Своей ступени в лестнице пяти разрядов такому построению не отведено, и ближайший снизу ретроспективный срез описывает его неполно: частота получена переносом поверх трёх срезов сразу. Поэтому ступень ей не подставляется.</a:t>
            </a:r>
          </a:p>
          <a:p>
            <a:r>
              <a:t/>
            </a:r>
          </a:p>
          <a:p>
            <a:r>
              <a:t>**Источники.** </a:t>
            </a:r>
            <a:r>
              <a:rPr u="sng">
                <a:solidFill>
                  <a:srgbClr val="065A82"/>
                </a:solidFill>
                <a:hlinkClick r:id="rId3"/>
              </a:rPr>
              <a:t>Singh H., Meyer A. N. D., Thomas E. J., The frequency of diagnostic errors in outpatient care: estimations from three large observational studies involving US adult populations, BMJ Quality &amp; Safety 2014;23(9):727–731, DOI 10.1136/bmjqs-2013-002627, PMID 24742777, PMC4145460, открытый доступ</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Стадия названа, и теперь по шагам. Действий на ней семь: собрать данные, выписать объясняющие болезни, назначить различающую проверку, вычеркнуть опровергнутое, прочесть вторым независимо, разрешить расхождение третьим, подписать заключение. На схеме стоят первые четыре — те, что сужают список; пятое, шестое и седьмое идут уже после него и разбираются на следующем кадре. Здесь — существенное о каждом из семи.</a:t>
            </a:r>
          </a:p>
          <a:p>
            <a:r>
              <a:t/>
            </a:r>
          </a:p>
          <a:p>
            <a:r>
              <a:t>Собрать данные. Жалобы, осмотр, то, что уже измерено на предыдущей стадии. Это всё, что у врача есть на входе.</a:t>
            </a:r>
          </a:p>
          <a:p>
            <a:r>
              <a:t/>
            </a:r>
          </a:p>
          <a:p>
            <a:r>
              <a:t>Выписать список. Болезни, способные объяснить наблюдаемое: затяжной бронхит стоит первым как частая причина, туберкулёз — потому что картина классическая и пропустить его дорого, лимфома — те же два признака, прочитанные иначе, аутоиммунное поражение — реже, но ложится сюда же.</a:t>
            </a:r>
          </a:p>
          <a:p>
            <a:r>
              <a:t/>
            </a:r>
          </a:p>
          <a:p>
            <a:r>
              <a:t>Назначить различающую проверку. Снимок и анализ крови идут первыми не случайно: сначала то, что стоит мало и отсекает много. Клиническая версия перебора гипотез жёстче инженерной в одном — часть проверок сама опасна или дорога, поэтому порядок проверок становится отдельным решением, которое приходится обосновывать.</a:t>
            </a:r>
          </a:p>
          <a:p>
            <a:r>
              <a:t/>
            </a:r>
          </a:p>
          <a:p>
            <a:r>
              <a:t>Вычеркнуть опровергнутое. Бронхит снят снимком: изменений в верхней доле при бронхите не бывает. Аутоиммунное снято спокойными воспалительными показателями. Осталось два диагноза, которые по снимку не различаются, и решает их посев мокроты — три недели ожидания, часть цены, которую платит пациент.</a:t>
            </a:r>
          </a:p>
          <a:p>
            <a:r>
              <a:t/>
            </a:r>
          </a:p>
          <a:p>
            <a:r>
              <a:t>Прочесть вторым, независимо. Второе мнение — заключение по тому же случаю, сделанное тем, кто не видел первого; вся работа этого определения держится на второй половине.</a:t>
            </a:r>
          </a:p>
          <a:p>
            <a:r>
              <a:t/>
            </a:r>
          </a:p>
          <a:p>
            <a:r>
              <a:t>Разрешить расхождение. Третий читатель видит оба заключения и включается только там, где двое разошлись.</a:t>
            </a:r>
          </a:p>
          <a:p>
            <a:r>
              <a:t/>
            </a:r>
          </a:p>
          <a:p>
            <a:r>
              <a:t>Подписать заключение. Подпись — то место, где ответственность становится именной.</a:t>
            </a:r>
          </a:p>
          <a:p>
            <a:r>
              <a:t/>
            </a:r>
          </a:p>
          <a:p>
            <a:r>
              <a:t>Выбрать неверно из списка — ошибка, которую заметят: придёт результат проверки и не совпадёт с ожиданием. Не вписать в список то, что должно было там стоять, — ошибка без следа: проверки никто не назначит, случай уйдёт с другим диагнозом и вернётся через год.</a:t>
            </a:r>
          </a:p>
          <a:p>
            <a:r>
              <a:t/>
            </a:r>
          </a:p>
          <a:p>
            <a:r>
              <a:t>И то же поле с моделью, названное до разборов. Из семи действий обученная модель заняла три. Второе — подсказка правит состав списка, добавляя строку, которой у усталого врача не появилось бы, или убирая ту, которая должна была там стоять. Пятое — вторым независимым читателем становится она. Седьмое — подпись, и на четвёртой ступени участия она ставится не глядя. Один шаг добавляется — решить, верить ли подсказке, и операции этой у врача прежде не было вовсе. Три места, где она не работает, названы именами того, что ломается: независимость — подсказка видна до собственного вывода, и ошибка модели у всех читателей одна, то есть удваивается вместо усреднения; избирательность — не поверить именно там, где модель ошиблась, не смогла ни одна группа; объяснимость — упрощённое объяснение неверной рекомендации роняет результат ниже работы вообще без модели.</a:t>
            </a:r>
          </a:p>
          <a:p>
            <a:r>
              <a:t/>
            </a:r>
          </a:p>
          <a:p>
            <a:r>
              <a:t>Вопрос залу, пока список на экране. Какую свою гипотезу вы не записали — и как узнали, что её не хватало? Ответ ждём короткий, в одну фразу: чаще всего узнают так же, как в клинике, — по тому, что пришёл результат, которого никто не ждал, потому что проверки на незаписанное не назначают. Кто-то назовёт разбор аварии, кто-то — отладку, в которой причина оказалась вне списка рассматриваемых. Это тот же механизм, и он здесь нужен затем, чтобы второй ряд схемы читался не как улучшение, а как смена места ошибки: модель правит состав списка, то есть вмешивается ровно в то действие, промах на котором не оставляет следа.</a:t>
            </a:r>
          </a:p>
          <a:p>
            <a:r>
              <a:t/>
            </a:r>
          </a:p>
          <a:p>
            <a:r>
              <a:t>И последнее, ради чего стоит задержаться на втором ряду схемы. Из семи действий обученная модель заняла три — состав списка, второе чтение, подпись, — и четвёртое добавила сама: решить, верить ли подсказке. Этой операции у врача прежде не было вовсе, ей не учат, и на неё не отводят времени в нормативе приёма. Весь остаток раздела измеряет именно её: чем кончается попытка человека отличить верную подсказку от неверной. Три места, где она не работает, названы по имени того, что ломается. Независимость — подсказка видна до собственного вывода, и ошибка модели у всех читателей одна, то есть удваивается вместо усреднения. Избирательность — не поверить именно там, где модель ошиблась, не смогла ни одна группа из тех, что мы разберём. Объяснимость — упрощённое объяснение неверной рекомендации роняет результат ниже работы вообще без модели.</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Второе мнение — заключение по тому же случаю, сделанное тем, кто не видел первого. Вся работа этого определения держится на второй половине.</a:t>
            </a:r>
          </a:p>
          <a:p>
            <a:r>
              <a:t/>
            </a:r>
          </a:p>
          <a:p>
            <a:r>
              <a:t>Существует устройство потому, что одиночное чтение пропускает, и пропускает у любого читателя: внимание ограниченно, снимок большой, признак бывает мелким и стоит там, где его не ждали. Полезным второе мнение делает одно наблюдение: пропуски двух читателей не совпадают. Первый не заметил уплотнение, потому что отвлёкся на кальцинаты в центре; второй отвлёкся на другое. Если бы оба систематически не видели одно и то же, второй читатель не добавлял бы ничего, кроме стоимости. Выигрыш двойного чтения создаётся несовпадением ошибок и ничем больше — силу первого читателя он не удваивает.</a:t>
            </a:r>
          </a:p>
          <a:p>
            <a:r>
              <a:t/>
            </a:r>
          </a:p>
          <a:p>
            <a:r>
              <a:t>Независимость делается руками организации: отдельная очередь чтения, скрытое поле заключения, иногда отдельная смена или учреждение. На добросовестность читателя она не опирается. Проверяемый признак один — мог ли второй читатель физически увидеть первое заключение в момент чтения; ответ дают права доступа; регламент здесь не доказательство. Перегородка стоит денег, и её убирают первой, когда ищут, на чём сэкономить. Формальная независимость выглядит так же и работает иначе: доля расхождений падает, и руководство читает это как рост согласованности.</a:t>
            </a:r>
          </a:p>
          <a:p>
            <a:r>
              <a:t/>
            </a:r>
          </a:p>
          <a:p>
            <a:r>
              <a:t>Арбитраж — третий читатель, который видит оба заключения и включается там, где два первых не совпали. Объём его работы задан числом разногласий, то есть считается заранее и управляется порогом. Консилиум устроен иначе: несколько специалистов обсуждают случай, видя мнения друг друга, и независимость здесь утрачена сознательно — ценность в обмене доводами. Поэтому консилиумом поток в скрининге не читают.</a:t>
            </a:r>
          </a:p>
          <a:p>
            <a:r>
              <a:t/>
            </a:r>
          </a:p>
          <a:p>
            <a:r>
              <a:t>Подсказка модели ломает независимость с двух сторон. Она видна до того, как сложилось собственное мнение. И она одна и та же для всех читателей: пропуск обученной системы у всех один, поэтому её ошибка на двух читателях удваивается; усреднения, ради которого второго читателя и заводили, не происходит. Отсюда вывод, на котором держится раздел: «добавим второе мнение от модели» и «добавим второго врача» — разные изменения процесса, хотя на схеме выглядят одним блоком.</a:t>
            </a:r>
          </a:p>
          <a:p>
            <a:r>
              <a:t/>
            </a:r>
          </a:p>
          <a:p>
            <a:r>
              <a:t>И одно измерение, которого лекция не берёт, — названное вслух, потому что иначе не видно, как работает её собственное правило. Про якорение в обратную сторону, то есть про то, как врачебный текст двигает машину, есть величина: совпадение модели с поданным ей врачебным рассуждением растёт с 65,8 до 93,5 процента. Величина эта по предмету драгоценная — она бьёт ровно в независимость второго мнения с машинной стороны, — но измерена она в препринте, где живых врачей ноль: врачебное рассуждение в нём имитировано другими моделями. Лекция, которая считает разряд свидетельства своим правилом, такое число со сцены не произносит: на этом месте честнее сказать, что измерения нет.</a:t>
            </a:r>
          </a:p>
          <a:p>
            <a:r>
              <a:t/>
            </a:r>
          </a:p>
          <a:p>
            <a:r>
              <a:t>Для женщины с письмом перегородка между двумя читателями и есть то, чем держится её программа: выигрыш двойного чтения берётся из несовпадения ошибок двух людей, а несовпадение бывает только у тех, кто друг друга не видел. Подсказку модели видят оба, и перегородка перестаёт быть свойством процедуры: оба читателя отвечают теперь на вопрос «согласен ли я», а это другая задача и другая доля ошибок. Арбитраж третьим читателем остаётся, но разбирать ему приходится расхождение двух мнений, у которых был общий источник.</a:t>
            </a:r>
          </a:p>
          <a:p>
            <a:r>
              <a:t/>
            </a:r>
          </a:p>
          <a:p>
            <a:r>
              <a:t>И одна проверка, которую стоит назвать вслух, пока схема на экране. Перегородка на ней — не правило поведения, а устройство: проверяемый признак один — мог ли второй читатель физически увидеть первое заключение в момент чтения. Ответ дают права доступа, и регламент здесь не доказательство. Поэтому «добавим второе мнение от модели» и «добавим второго врача» — два разных изменения процесса, хотя на схеме рисуются одним блоком.</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Про число на четвёртой ступени, которого теперь нет на кадре: медиана проверки там — 1,99 секунды, и это время ДО того, как решение принять; вторая медиана работы в том же замере — 6,48 секунды. Произносится это вместе со ступенью, а не вместо неё: на экране ступень показана формой, число живёт в речи.</a:t>
            </a:r>
          </a:p>
          <a:p>
            <a:r>
              <a:t/>
            </a:r>
          </a:p>
          <a:p>
            <a:r>
              <a:t>Формула «человек в контуре» отвечает на вопрос, которого никто не задавал: она говорит, что человек присутствует, и ничего не говорит о том, что он делает. Четыре ступени разводят это по тому, что человек успевает увидеть. Читающий первым видит случай и собственный вывод делает до того, как узнает машинный: ступень дороже всех по времени и сохраняет независимость. Читающий вторым видит случай вместе с готовым выводом — независимость утрачена по построению, выигрыш в скорости есть. Читающий только спорное видит выборку, отобранную моделью, и то, что отобрано ошибочно, до него не доходит никогда. Подписывающий не глядя видит только текст заключения.</a:t>
            </a:r>
          </a:p>
          <a:p>
            <a:r>
              <a:t/>
            </a:r>
          </a:p>
          <a:p>
            <a:r>
              <a:t>У четвёртой ступени есть измеренная величина, и найдена она за пределами медицины: двадцать один программист, 1 096 обработанных подсказок ассистента кода, поведенческая телеметрия. Медиана времени над подсказкой до решения её принять — 1,99 секунды. В той же работе есть вторая медиана, и путать их нельзя: если досчитать проверку уже после принятия подсказки, выходит 6,48 секунды, то есть больше половины всей проверки приходится на время, когда решение уже принято. На вопрос «успевает ли человек прочитать прежде, чем подписал» отвечает первая величина. Существеннее другое: подсказка, принятая без предварительной проверки, позже требовала правки с вероятностью 0,53, проверенная до принятия — 0,18. Медицины в этой выборке нет, и перенос на врача держится на аналогии.</a:t>
            </a:r>
          </a:p>
          <a:p>
            <a:r>
              <a:t/>
            </a:r>
          </a:p>
          <a:p>
            <a:r>
              <a:t>Медицинское измерение рядом — про то, что обучение ступень не повышает. База сравнения здесь — работа с верными рекомендациями модели; работы вовсе без подсказки в испытании нет: те же 44 врача — по двадцать два в плече, по шесть клинических задач каждому, то есть 264 прочтения, а не 264 случая — дают 84,9 из ста при верных рекомендациях модели и 73,3, когда часть рекомендаций намеренно неверна; неверные давались в трёх задачах из шести. Поправленная разница — минус 14,0 пункта при интервале от −18,9 до −9,1: знак у точки тот же, что у интервала, и произносить его надо, иначе число читается как прибавка. Разряд свидетельства высокий — рецензируемое рандомизированное испытание, не препринт, — выборка маленькая, страна одна, и одно другого не отменяет. Интервал от −18,9 до −9,1 оставляем как есть и не правим: у двух опубликованных версий этой работы границы расходятся, обе центрированы на минус 14,0, и менять границы без чтения журнальной версии мы права не имеем. Человек, прошедший двадцатичасовой курс, остался на той ступени, на которой стоял: курс не делает его читателем, который умеет выборочно не поверить.</a:t>
            </a:r>
          </a:p>
          <a:p>
            <a:r>
              <a:t/>
            </a:r>
          </a:p>
          <a:p>
            <a:r>
              <a:t>И последнее про четвёртую ступень, без чего она читается упрёком. Подписать не глядя — поведение, у которого есть измеренная выгода, и выгода эта создана не интерфейсом, а порядком, в котором случай разбирают после исхода. Врача, который принял машинную подсказку в пользу стандартного лечения, при разборе оценивают как более разумного, чем того, кто подсказку отверг; при нестандартной рекомендации разницы нет. Значит ступень держится не на лени: не согласиться и ошибиться дороже, чем подписать. Само измерение и его оговорки предъявляются в разделе о допуске, надзоре и ответственности — там, где разбираются подпись, процедура и норматив; здесь оно названо затем, чтобы лестница не выглядела шкалой добросовестности.</a:t>
            </a:r>
          </a:p>
          <a:p>
            <a:r>
              <a:t/>
            </a:r>
          </a:p>
          <a:p>
            <a:r>
              <a:t>**Источники.** </a:t>
            </a:r>
            <a:r>
              <a:rPr u="sng">
                <a:solidFill>
                  <a:srgbClr val="065A82"/>
                </a:solidFill>
                <a:hlinkClick r:id="rId3"/>
              </a:rPr>
              <a:t>Qazi I. A., Ali A., Khawaja A. U. и соавт., Automation Bias in Large Language Model–Assisted Diagnostic Reasoning among Physicians Trained in AI Literacy — A Randomized Clinical Trial, NEJM AI 2026;3(5), 23.04.2026, DOI 10.1056/AIoa2501001</a:t>
            </a:r>
            <a:r>
              <a:t>; препринт medRxiv 10.1101/2025.08.23.25334280 · </a:t>
            </a:r>
            <a:r>
              <a:rPr u="sng">
                <a:solidFill>
                  <a:srgbClr val="065A82"/>
                </a:solidFill>
                <a:hlinkClick r:id="rId4"/>
              </a:rPr>
              <a:t>Mozannar и соавт., Reading Between the Lines, CHI 2024</a:t>
            </a:r>
          </a:p>
          <a:p>
            <a:r>
              <a:t/>
            </a:r>
          </a:p>
          <a:p>
            <a:r>
              <a:t>И сразу оговорка, без которой лестница врёт. Ступень называет, что человек успевает увидеть, и больше ничего: ранжировать разборы по качеству она не умеет, и различать их тоже. Дальше в этом разделе встретятся два разбора на одной и той же ступени «смотрит первым» с противоположными результатами — в одном пара не отличилась от человека без модели и осталась ниже самой модели, в другом вышла сильнее обеих сторон. Различает их устройство процедуры: сохранена ли независимость двух мнений и кому назначен арбитраж при расхождении. Ступень у них одна. А разбор, где пара оказалась ниже и модели, и человека по отдельности, стоит на другой ступени — «смотрит вторым»: подсказку там показали до того, как человек составил собственное мнение.</a:t>
            </a:r>
          </a:p>
          <a:p>
            <a:r>
              <a:t/>
            </a:r>
          </a:p>
          <a:p>
            <a:r>
              <a:t>И два счёта, снятые с кадра, но произносимые здесь же. Первый — про то, что подсказка, принятая без предварительной проверки, позже требовала правки в 53 случаях из ста против 18 у проверенной до принятия; медиана 1,99 секунды измерена на двадцати одном разработчике, не в клинике, и перенос на врача держится на аналогии. Второй — про то, что четвёртая ступень не разгильдяйство, а дешёвый ход: согласившегося с машинной подсказкой при разборе случая после исхода оценивают как более разумного, чем отказавшегося. Значит, ступень держится не на лени — не согласиться и ошибиться дороже, чем подписать. Полный счёт предъявляется в разделе о допуске, надзоре и ответственности.</a:t>
            </a:r>
          </a:p>
          <a:p>
            <a:r>
              <a:t/>
            </a:r>
          </a:p>
          <a:p>
            <a:r>
              <a:t>И оговорка, без которой лестница врёт, — её тоже произносим, на кадре её нет. Ступени не ранжированы по качеству: на каждой есть и свой выигрыш, и своя слепота.</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 один из четырёх замеров, которыми закрывается обещание прошлой лекции, и по механизму он самый наглядный: профессиональные читатели национальной программы скрининга, их собственная ежедневная работа, прямое ухудшение результата. Собраны все четыре будут в конце раздела.</a:t>
            </a:r>
          </a:p>
          <a:p>
            <a:r>
              <a:t/>
            </a:r>
          </a:p>
          <a:p>
            <a:r>
              <a:t>Устройство опыта. Десять радиологов читают один и тот же набор из шестидесяти случаев дважды: сначала без подсказок, через шесть недель — с подсказками. Подсказки подлинные: это вывод коммерчески доступной допущенной системы при пороге оценки области 10 из 100. Преднамеренным был подбор набора — в него нарочно положили случаи, где система ошибается в обе стороны: 26 верно-положительных подсказок, 14 ложноотрицательных, 14 ложноположительных, 6 верно-отрицательных; исходы подтверждены трёхлетним наблюдением или гистологией. Сравнивается один человек с собой, и это сильная сторона дизайна: межчитательский разброс, который в чтении маммограмм велик, из сравнения исключён целиком.</a:t>
            </a:r>
          </a:p>
          <a:p>
            <a:r>
              <a:t/>
            </a:r>
          </a:p>
          <a:p>
            <a:r>
              <a:t>База — медианная чувствительность того же читателя на тех же случаях без подсказки, 71 из ста. На случаях, где подсказка была ложноотрицательной, та же величина составила 39, и падение в 32 пункта значимо. Медиана по десяти читателям устойчивее средней к одному выпадающему читателю.</a:t>
            </a:r>
          </a:p>
          <a:p>
            <a:r>
              <a:t/>
            </a:r>
          </a:p>
          <a:p>
            <a:r>
              <a:t>Вторая половина того же измерения показывает перелом знака внутри одной работы: на случаях с ложноположительной подсказкой специфичность читателя выросла — с 21 до 39 из ста. Пару надо читать вместе: ложноотрицательная подсказка стоит читателю 32 пункта чувствительности, ложноположительная приносит ему 18 пунктов специфичности. Подсказка не «ухудшает чтение» и не «улучшает» его — она сдвигает порог читателя в ту сторону, которую сама называет, и цена сдвига зависит от того, в какую сторону подсказка ошиблась.</a:t>
            </a:r>
          </a:p>
          <a:p>
            <a:r>
              <a:t/>
            </a:r>
          </a:p>
          <a:p>
            <a:r>
              <a:t>Сила свидетельства названа вместе с числом: по механизму сильное, по выборке читателей среднее — их десять, и обобщение на всю профессию на этом не строится. Шесть недель между сессиями защищают от узнавания случая по памяти, но полностью такой интервал не защищает. Прямого повторения по величине падения нет.</a:t>
            </a:r>
          </a:p>
          <a:p>
            <a:r>
              <a:t>Величина падения сама по себе оставляет открытым вопрос «как именно». Ответ в той же работе получен измерением. На поражениях, которые модель пропустила, взгляд читателя задерживался реже: без подсказки — 0,47 фиксации в секунду, с подсказкой — 0,44. Два числа различаются в третьем знаке, поэтому называть их полезно порознь, каждое со своим ярлыком; база — чтение тех же случаев тем же читателем без подсказки.</a:t>
            </a:r>
          </a:p>
          <a:p>
            <a:r>
              <a:t/>
            </a:r>
          </a:p>
          <a:p>
            <a:r>
              <a:t>Что это значит. Ложная подсказка сузила зрительный поиск. Переубеждения словами не было: читателю никто не доказывал, что поражения нет. Его глаз просто реже останавливался на том месте, которое система не отметила. Это физическое изменение сканирующего поведения под влиянием машинного указания, измеренное в движении глаза.</a:t>
            </a:r>
          </a:p>
          <a:p>
            <a:r>
              <a:t/>
            </a:r>
          </a:p>
          <a:p>
            <a:r>
              <a:t>Почему механизм существеннее самой величины. Если подсказка меняет мнение, лечится это доводами: объяснением, показом уверенности модели, обучением. Если подсказка меняет то, что человек физически успевает увидеть, доводы бессильны, и призыв быть внимательнее перестаёт быть мерой. Лечится это процедурой: порядком предъявления, временем на самостоятельное чтение до показа подсказки, запретом выводить отметку одновременно со снимком. Отсюда три следствия. Порядок предъявления — управляемый параметр с измеренной ценой: интерфейс, показывающий отметку вместе со снимком, покупает скорость за 32 пункта медианной чувствительности на случаях, где подсказка молчала. Обучение бьёт не туда. И мера эффекта должна быть поведенческой: процесс поиска меняется раньше и надёжнее, чем доля находок.</a:t>
            </a:r>
          </a:p>
          <a:p>
            <a:r>
              <a:t/>
            </a:r>
          </a:p>
          <a:p>
            <a:r>
              <a:t>Про словарь форм. Нагрузка на том же месте упала — три проверки формы выполняются буквально: место то же, исполнитель тот же, объём ниже. Эталонные примеры этой формы предполагали, что падение объёма работы — выигрыш; здесь оно оказалось ценой. Значит, форма знака не несёт: знак задаёт правота подсказки. Второй формой сместилась цена ошибки — пропуск модели стал пропуском читателя, подписанным человеком. И отдельно: исполнитель остался тот же и стал хуже, то есть изменилось состояние руки, а состояния руки в словаре до сих пор не было. Чего этот разбор не говорит: что подсказки вредны.</a:t>
            </a:r>
          </a:p>
          <a:p>
            <a:r>
              <a:t/>
            </a:r>
          </a:p>
          <a:p>
            <a:r>
              <a:t>**Источники.** </a:t>
            </a:r>
            <a:r>
              <a:rPr u="sng">
                <a:solidFill>
                  <a:srgbClr val="065A82"/>
                </a:solidFill>
                <a:hlinkClick r:id="rId3"/>
              </a:rPr>
              <a:t>Taib и соавт., Radiology 2026</a:t>
            </a:r>
          </a:p>
          <a:p>
            <a:r>
              <a:t/>
            </a:r>
          </a:p>
          <a:p>
            <a:r>
              <a:t>«Быть внимательнее» здесь не мера — это стоит сказать прямо, потому что именно так на такое падение и отвечают: подсказка меняет не мнение читателя, а то, что он физически успевает увидеть. Доводами и обучением это не лечится, лечится порядком предъявления.</a:t>
            </a:r>
          </a:p>
          <a:p>
            <a:r>
              <a:t/>
            </a:r>
          </a:p>
          <a:p>
            <a:r>
              <a:t>Ступень участия здесь — «смотрит вторым»: подсказку выводят на экран вместе со случаем, то есть до того, как у читателя сложилось собственное мнение. Это та ступень, на которой независимость утрачена по построению, и именно поэтому механизм падения виден так чисто.</a:t>
            </a:r>
          </a:p>
          <a:p>
            <a:r>
              <a:t/>
            </a:r>
          </a:p>
          <a:p>
            <a:r>
              <a:t>**Источники.** </a:t>
            </a:r>
            <a:r>
              <a:rPr u="sng">
                <a:solidFill>
                  <a:srgbClr val="065A82"/>
                </a:solidFill>
                <a:hlinkClick r:id="rId3"/>
              </a:rPr>
              <a:t>Taib A., Partridge G., Phillips P., Chen Y. и соавт., Automation Bias in Action: Eye Tracking of Humans Reading Screening Mammograms with and without AI Prompts, Radiology 2026;320(1):e252590, DOI 10.1148/radiol.252590, PMID 42446361</a:t>
            </a:r>
            <a:r>
              <a:t>. Порог показа области — 10 из 100. Набор: 26 верно-положительных подсказок, 14 ложноотрицательных, 14 ложноположительных, 6 верно-отрицательных; исходы подтверждены трёхлетним наблюдением или гистологией. Шесть недель между сессиями чтения. Сильное по механизму, среднее по выборке читателей: их десять.</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Без этого измерения остался бы только провал — восторг наизнанку. Измерение то же, сигнал тот же, разница одна — там подсказка была намеренно ложной, здесь это обычная работа одобренной системы с оценкой подозрительности по шкале от 1 до 100.</a:t>
            </a:r>
          </a:p>
          <a:p>
            <a:r>
              <a:t/>
            </a:r>
          </a:p>
          <a:p>
            <a:r>
              <a:t>Номера разбора у этого кадра нет, и это не оплошность нумерации. Номер в разделе носит случай, проведённый по всей форме: цена обеих ошибок, оба классических режима в тех же единицах, модель против них, устройство самого изделия, названная форма словаря. Здесь из пяти шагов сделан один — модель против чтения без модели внутри того же опыта; цены обеих ошибок работа не назначает, второго классического режима в ней нет вовсе. Кадр служит проверкой: он отвечает на вопрос, не является ли само сужение поиска вредом. Ответ — нет, и поэтому стоит он сразу за падением и номера не носит.</a:t>
            </a:r>
          </a:p>
          <a:p>
            <a:r>
              <a:t/>
            </a:r>
          </a:p>
          <a:p>
            <a:r>
              <a:t>Двенадцать радиологов программы скрининга из десяти учреждений, стаж от 4 до 32 лет при медиане 12. Сто пятьдесят исследований: 75 с подтверждённым раком, 75 без. Каждое читается без системы и с системой — 3 600 прочтений, по 1 800 на режим; знаменатель доли внутри режима — 900: двенадцать читателей на семьдесят пять случаев.</a:t>
            </a:r>
          </a:p>
          <a:p>
            <a:r>
              <a:t/>
            </a:r>
          </a:p>
          <a:p>
            <a:r>
              <a:t>Каждая величина идёт со своей базой «без модели». Охват площади груди фиксациями взгляда упал с 11,1 до 9,5 из ста — то же сужение поиска. Время фиксации в области поражения выросло с 4,4 до 5,4 секунды: читатель осматривал меньшую площадь, но дольше задерживался в нужном месте, и авторы называют это более эффективным поиском. Площадь под кривой выросла с 0,93 при интервале 0,91–0,96 до 0,97 при интервале 0,95–0,98, p меньше 0,001.</a:t>
            </a:r>
          </a:p>
          <a:p>
            <a:r>
              <a:t/>
            </a:r>
          </a:p>
          <a:p>
            <a:r>
              <a:t>Дальше произносить надо точно. Выросла именно площадь под кривой — мера различения больного и здорового. Чувствительность выросла с 81,7 из ста (735 из 900) до 87,2 (785 из 900), но прибавка значимости не достигла: p равно 0,06. Два уровня значимости надо произносить парой — первый меньше одной тысячной, второй выше порога, и держится на этой паре весь вывод кадра. Специфичность не изменилась (89,0 против 91,1), время чтения тоже (29,4 против 30,8 секунды). Формулировка «модель сделала врачей лучше» этими данными не держится. Доказано другое: читатели стали лучше различать по шкале подозрительности, а что выйдет при конкретном пороге отзыва на дообследование, работа не измеряла.</a:t>
            </a:r>
          </a:p>
          <a:p>
            <a:r>
              <a:t/>
            </a:r>
          </a:p>
          <a:p>
            <a:r>
              <a:t>Оговорки — вслух. Набор обогащён раками до половины, тогда как в живой программе рак встречается у единиц на тысячу. И у работы раскрыты институциональные соглашения с производителями систем: результат это не отменяет — дизайн рецензирован, интервалы явные, знаменатели у каждой доли, — но назвать их нужно: единственное измерение раздела, идущее в пользу помощника, оказалось работой с названными интересами.</a:t>
            </a:r>
          </a:p>
          <a:p>
            <a:r>
              <a:t/>
            </a:r>
          </a:p>
          <a:p>
            <a:r>
              <a:t>**Источники.** </a:t>
            </a:r>
            <a:r>
              <a:rPr u="sng">
                <a:solidFill>
                  <a:srgbClr val="065A82"/>
                </a:solidFill>
                <a:hlinkClick r:id="rId3"/>
              </a:rPr>
              <a:t>Gommers и соавт., Radiology 2025</a:t>
            </a:r>
          </a:p>
          <a:p>
            <a:r>
              <a:t/>
            </a:r>
          </a:p>
          <a:p>
            <a:r>
              <a:t>Разница с предыдущим кадром одна: там подсказка была ложной намеренно, здесь это обычная работа одобренной системы с оценкой подозрительности по шкале от 1 до 100. Оговорки — вслух, с кадра они сняты. Двенадцать радиологов программы скрининга из десяти учреждений, стаж от 4 до 32 лет при медиане 12; сто пятьдесят исследований, 3 600 прочтений. Чтение лабораторное: раков в наборе половина, тогда как в живой программе рак встречается у единиц на тысячу. И институциональные соглашения с производителями систем авторы раскрыли сами — результат это не отменяет, но назвать нужно: единственное измерение раздела, идущее в пользу помощника, оказалось работой с названными интересами.</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Два предыдущих измерения показали, что подсказка меняет работу глаза. Это показывает то же на уровне решения.</a:t>
            </a:r>
          </a:p>
          <a:p>
            <a:r>
              <a:t/>
            </a:r>
          </a:p>
          <a:p>
            <a:r>
              <a:t>Устройство опыта, от которого зависит отметка ступени. Одиннадцать патологов разного опыта — трое субспециалистов по желудочно-кишечному тракту, трое специалистов других профилей, трое резидентов и двое, чей профиль не определён, — различают два вида опухоли печени по оцифрованным срезам. Набор — восемьдесят срезов; точность самой модели на независимом тестовом наборе ноль целых восемьсот сорок две тысячных. Один и тот же патолог читал тот же набор дважды в разных сессиях: половина случаев с подсказкой, половина без, с перевёрнутым распределением во второй сессии и отмывочным периодом не меньше двух недель. Сравнение идёт между сессиями: первый и второй взгляд на один случай тут не сравниваются.</a:t>
            </a:r>
          </a:p>
          <a:p>
            <a:r>
              <a:t/>
            </a:r>
          </a:p>
          <a:p>
            <a:r>
              <a:t>База — чтение среза без подсказки. Когда подсказка верна, шансы верного ответа вырастают примерно вчетверо; когда неверна — падают примерно во столько же. Работало это на всех уровнях опыта и на случаях любой сложности одинаково: субспециалист по профилю защищён не был, и это существеннее самой величины.</a:t>
            </a:r>
          </a:p>
          <a:p>
            <a:r>
              <a:t/>
            </a:r>
          </a:p>
          <a:p>
            <a:r>
              <a:t>Как читать «вчетверо», чтобы не ошибиться порядком. Шансы — отношение вероятности верного ответа к вероятности неверного. Если без подсказки патолог отвечал верно в восьми случаях из десяти, выросшие вчетверо шансы дают около девяноста четырёх из ста, а упавшие вчетверо уводят примерно к пятидесяти. Симметрия в шансах даёт асимметрию в долях, потому что у высокой точности есть куда падать и почти некуда расти.</a:t>
            </a:r>
          </a:p>
          <a:p>
            <a:r>
              <a:t/>
            </a:r>
          </a:p>
          <a:p>
            <a:r>
              <a:t>Второй классический режим — второе мнение субспециалиста — назван и не посчитан: на этом наборе его не измеряли, и подставлять число из другой работы было бы той самой склейкой выборок.</a:t>
            </a:r>
          </a:p>
          <a:p>
            <a:r>
              <a:t>Средняя прибавка и знакопеременность — одно наблюдение, прочитанное с двух сторон, и получены они на одной выборке. На группе в целом, без разделения случаев на те, где модель права, и те, где неправа, прибавка значимости не достигает. Это и есть цена разбора, и она организационная по природе, клиники в ней нет: отчёт о внедрении, в котором стоит одно число, показал бы отсутствие эффекта ровно там, где эффект был четырёхкратным в обе стороны. Решение по такому отчёту принимается одно — «работает примерно как раньше, оставим», — и принимается оно вслепую.</a:t>
            </a:r>
          </a:p>
          <a:p>
            <a:r>
              <a:t/>
            </a:r>
          </a:p>
          <a:p>
            <a:r>
              <a:t>Что переехало. Форма одна: сместилась цена ошибки. Шаги, объём работы и исполнители остались те же — патолог смотрит тот же срез то же время. Изменилось последствие: ошибка модели стала ошибкой врача, потому что подпись под заключением ставит он. Перенос измерен в обе стороны, и это редкость: обычно измеряют только убыток либо только прибавку.</a:t>
            </a:r>
          </a:p>
          <a:p>
            <a:r>
              <a:t/>
            </a:r>
          </a:p>
          <a:p>
            <a:r>
              <a:t>Пара, которой закрывается разбор, читается прямо с плашек. Дало — прибавку при верной подсказке. Потребовало — равной потери при неверной. В сумме — средняя та же, разброс вырос. Для процедуры это худший исход из возможных: средняя повода вмешаться не даёт; разброс при этом означает, что часть пациентов получила решение хуже прежнего.</a:t>
            </a:r>
          </a:p>
          <a:p>
            <a:r>
              <a:t/>
            </a:r>
          </a:p>
          <a:p>
            <a:r>
              <a:t>Рядом, другим жанром и слабее по разряду, стоит сводка систем поддержки врачебных решений: неверная подсказка повышает риск неверного решения на двадцать шесть процентов, обзор включил семьдесят четыре исследования из тринадцати тысяч восьмисот двадцати одного просмотренного. Подпись к обзору обязательна: в той совокупности много систем, работающих на правилах, а обученных моделей среди них часть. Поэтому число идёт упоминанием; доводом оно здесь не работает.</a:t>
            </a:r>
          </a:p>
          <a:p>
            <a:r>
              <a:t/>
            </a:r>
          </a:p>
          <a:p>
            <a:r>
              <a:t>**Источники.** Обучающего набора работа тоже не печатает. </a:t>
            </a:r>
            <a:r>
              <a:rPr u="sng">
                <a:solidFill>
                  <a:srgbClr val="065A82"/>
                </a:solidFill>
                <a:hlinkClick r:id="rId3"/>
              </a:rPr>
              <a:t>Kiani A. и соавт., Impact of a deep learning assistant on the histopathologic classification of liver cancer, npj Digital Medicine 2020, PMC7044422</a:t>
            </a:r>
            <a:r>
              <a:t>. Устройство опыта: одиннадцать патологов разного опыта — трое субспециалистов по желудочно-кишечному тракту, трое специалистов других профилей, трое резидентов и двое с неопределённым профилем; восемьдесят срезов, два чтения, перевёрнутое распределение подсказок во второй сессии, отмывочный период не меньше двух недель. Упоминание, снятое с кадра как слабейшее по разряду: </a:t>
            </a:r>
            <a:r>
              <a:rPr u="sng">
                <a:solidFill>
                  <a:srgbClr val="065A82"/>
                </a:solidFill>
                <a:hlinkClick r:id="rId4"/>
              </a:rPr>
              <a:t>Goddard K., Roudsari A., Wyatt J., Automation bias: a systematic review of frequency, effect mediators, and mitigators, JAMIA 2012;19(1):121–127</a:t>
            </a:r>
            <a:r>
              <a:t>.</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После трёх измерений механизма остаётся незакрытый вопрос: допустим, пара хуже сильной модели — но человека-то одного она обходит? Все три числа зал видит здесь впервые, и несущее из трёх — 74: это база сравнения, врач с обычными справочниками.</a:t>
            </a:r>
          </a:p>
          <a:p>
            <a:r>
              <a:t/>
            </a:r>
          </a:p>
          <a:p>
            <a:r>
              <a:t>Пятьдесят практикующих врачей распределены по двум условиям: рассуждение по клиническому случаю с обычными справочными ресурсами и то же рассуждение с доступом к большой языковой модели. Оценивалось структурированное рассуждение — перечень гипотез, их обоснование, назначенные различающие проверки. Медианы с межквартильными размахами: модель одна — 92 из ста (от 82 до 97), врач один — 74 (от 63 до 84), врач с моделью — 76 (от 66 до 87). Разница между двумя человеческими условиями — два пункта, интервал от −4 до 8, и значимости она не достигает. Это измеренный ноль: данные есть, разницы нет, и интервал исключает выигрыш больше восьми пунктов, то есть эффект того размера, который от внедрения ожидают, был бы виден.</a:t>
            </a:r>
          </a:p>
          <a:p>
            <a:r>
              <a:t/>
            </a:r>
          </a:p>
          <a:p>
            <a:r>
              <a:t>Прогон «модель одна» равноправной случайной ветвью не был — это отдельный прогон модели по тем же задачам, и сравнение 76 против 92 читается наблюдательным дополнением к испытанию; результатом случайного распределения оно не является. Рядом ловушка подписи. Первоисточник проверяет на значимость единственный разрыв: модель выше человека без модели на 16 поправленных пунктов при интервале от 2 до 30. По медианам разница модели и пары тоже 16 пунктов, а модели и человека без модели — 18; две шестнадцатки совпали случайно, и для пары первоисточник не печатает ни интервала, ни уровня значимости.</a:t>
            </a:r>
          </a:p>
          <a:p>
            <a:r>
              <a:t/>
            </a:r>
          </a:p>
          <a:p>
            <a:r>
              <a:t>Виньетка — письменное описание случая, собранное по реальной истории. Она позволяет дать пятидесяти врачам одни и те же случаи, но осмотра на ней нет, вопроса задать нельзя, цены ожидания и ответственности за исход нет. Поэтому 76 против 74 относится к рассуждению по описанию случая и ни к чему больше. Причину нулевого результата испытание называет само: инструмент выдали, а процедуру работы с ним — нет.</a:t>
            </a:r>
          </a:p>
          <a:p>
            <a:r>
              <a:t>Про время надо говорить медленно и с ярлыками у обоих чисел. Медианное время на случай: без модели 565 секунд, с моделью 519. Без ярлыков меньшее число читается как выигрыш — и прочитано будет наоборот, потому что 519 это как раз группа с моделью, а разница между группами значимости не достигает. То есть времени тоже не сэкономили.</a:t>
            </a:r>
          </a:p>
          <a:p>
            <a:r>
              <a:t/>
            </a:r>
          </a:p>
          <a:p>
            <a:r>
              <a:t>Что переехало. Форма одна — сменился исполнитель, и три её проверки выполняются буквально. Место то же: рассуждение по случаю. Объём тот же, и здесь это измерено — 565 против 519 секунд при незначимой разнице, то есть работа не стала ни больше, ни меньше. Рука сменилась: рассуждение строит врач, читающий готовую подсказку, вместо врача, собирающего ответ из справочников. И отдельной строкой: ни одна форма из словаря не фиксирует здесь улучшения. Это итог разбора; пробелом изложения он не является.</a:t>
            </a:r>
          </a:p>
          <a:p>
            <a:r>
              <a:t/>
            </a:r>
          </a:p>
          <a:p>
            <a:r>
              <a:t>Пара читается так. Дало — ничего измеримого. Потребовало — доступ к инструменту для каждого врача и новый шаг внутри рассуждения: сформулировать запрос, прочитать ответ, решить, что с ним делать. В сумме — так же, как было, при том что инструмент сам по себе точнее обоих человеческих условий: по медианам на восемнадцать пунктов против человека без модели и на шестнадцать против пары.</a:t>
            </a:r>
          </a:p>
          <a:p>
            <a:r>
              <a:t/>
            </a:r>
          </a:p>
          <a:p>
            <a:r>
              <a:t>«Ничего измеримого» требует отдельного пояснения, потому что звучит как отсутствие данных. Это не отсутствие: это измеренный нулевой результат при рабочей выборке, и такие результаты публикуют реже положительных. Отсюда проверяемое правило: закупка сильного инструмента и улучшение результата — два разных события, и между ними лежит отдельная работа, у которой в этом испытании не было исполнителя. Как человек формулирует запрос, как он видит ответ и когда он имеет право не поверить — ничего из этого никому из пятидесяти врачей не задали. Ограничение называется вместе с выводом: оценивалось рассуждение на задачах, пациент в испытании не лечился, и ни одно число здесь не говорит о том, что с ним стало.</a:t>
            </a:r>
          </a:p>
          <a:p>
            <a:r>
              <a:t/>
            </a:r>
          </a:p>
          <a:p>
            <a:r>
              <a:t>Куда входит этот инструмент — отдельная строка, снятая с кадра. Входит он снизу, самостоятельным употреблением врача, минуя закупку: врач открывает чат сам, и ни тендера, ни допуска на этом пути нет. Тип задачи — генерация на тексте.</a:t>
            </a:r>
          </a:p>
          <a:p>
            <a:r>
              <a:t/>
            </a:r>
          </a:p>
          <a:p>
            <a:r>
              <a:t>Ступень участия здесь — «смотрит первым»: модель лежит под рукой справочником, а рассуждение врач начинает сам. Ту же ступень занимает и контрольная линия, и результаты у них противоположные — ступенью эти два разбора не различаются, различает их устройство процедуры.</a:t>
            </a:r>
          </a:p>
          <a:p>
            <a:r>
              <a:t/>
            </a:r>
          </a:p>
          <a:p>
            <a:r>
              <a:t>**Источники.** </a:t>
            </a:r>
            <a:r>
              <a:rPr u="sng">
                <a:solidFill>
                  <a:srgbClr val="065A82"/>
                </a:solidFill>
                <a:hlinkClick r:id="rId3"/>
              </a:rPr>
              <a:t>Goh E. и соавт., JAMA Network Open 2024;7(10):e2440969, 28 октября 2024, рандомизированное исследование диагностического рассуждения, 50 практикующих врачей</a:t>
            </a:r>
            <a:r>
              <a:t>. Медианы с межквартильными размахами: модель одна — 92 (от 82 до 97), врач один — 74 (от 63 до 84), врач с моделью — 76 (от 66 до 87). Виньетки собраны по реальным историям; осмотра на них нет, вопроса задать нельзя, исходов пациентов никто не проверял.</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Силу свидетельства надо назвать первым делом: рандомизированное исследование национальной программы скрининга, 105 934 женщины распределены случайно, четыре площадки, набор с апреля 2021 по декабрь 2022, исходы предрегистрированы. Девятнадцать человек исключены из анализа; вошли 53 043 в плечо с моделью и 52 872 в контроль. Дизайн одно-слепой, на не-меньшую эффективность. Это единственное измерение раздела, где измерен исход пациента; в остальных мерили точность чтения, взгляд или балл рассуждения.</a:t>
            </a:r>
          </a:p>
          <a:p>
            <a:r>
              <a:t/>
            </a:r>
          </a:p>
          <a:p>
            <a:r>
              <a:t>Что сравнивалось. Контрольное плечо работало классическим двойным чтением: два независимых радиолога, арбитраж третьего на расхождении, чувствительность 73,8 из ста при интервале от 68,9 до 78,3 — это база. Плечо с моделью: модель читает поток, один радиолог читает сам, расхождение между ними разбирает арбитр; чувствительность 80,5 при интервале от 76,4 до 84,2, и прибавка значима. Специфичность в двух плечах одинакова — 98,5 из ста здоровых. То есть заменён второй читатель, а независимость и арбитраж сохранены и переустроены под нового участника.</a:t>
            </a:r>
          </a:p>
          <a:p>
            <a:r>
              <a:t/>
            </a:r>
          </a:p>
          <a:p>
            <a:r>
              <a:t>Две половины счёта в одну базу сводить нельзя, хотя программа одна. Снижение объёма человеческого чтения на 44,3 процента принадлежит промежуточному анализу безопасности: выборка там 80 033, на четверть меньше, набор короче на четыре с половиной месяца. Чувствительность принадлежит итоговому анализу на 105 934. Поставить минус 44,3 процента под объявленной выборкой 105 934 значило бы склеить знаменатели — ровно то, что лекция учит ловить.</a:t>
            </a:r>
          </a:p>
          <a:p>
            <a:r>
              <a:t/>
            </a:r>
          </a:p>
          <a:p>
            <a:r>
              <a:t>Арбитраж и порог. Модель выставляет оценку подозрительности, радиолог — своё заключение, при расхождении случай уходит арбитру, который видит оба. Нагрузка арбитра задана долей расхождений, а та — порогом: сдвиг порога в сторону подозрительности растит и число расхождений, и число отзывов на дообследование. В классическом двойном чтении порог тоже был, но его назначала практика каждого читателя, где он не записан и не настраивается; переход к модели сделал его явным параметром, который теперь кто-то обязан держать. Второй классический режим — одиночное чтение без арбитража, которым работают программы без ресурса на второго читателя, — в испытании не воспроизводился: сравнивали против сильного.</a:t>
            </a:r>
          </a:p>
          <a:p>
            <a:r>
              <a:t/>
            </a:r>
          </a:p>
          <a:p>
            <a:r>
              <a:t>Устройство инструмента здесь то же, что в разборе отбора, и названо оно так же точно и так же неполно: вход — снимок скрининга, выход — оценка риска, которая встаёт на место второго человеческого чтения. Имени система не получила ни в той публикации, ни в этой, и на чём она обучена, программа не раскрывает. Для разбора это важно дважды: во-первых, проверить чужое заявление по имени изделия здесь нельзя; во-вторых, выигрыш, который кадр показывает, всё равно принадлежит не прибору, а устройству процедуры вокруг него.</a:t>
            </a:r>
          </a:p>
          <a:p>
            <a:r>
              <a:t/>
            </a:r>
          </a:p>
          <a:p>
            <a:r>
              <a:t>**Источники.** </a:t>
            </a:r>
            <a:r>
              <a:rPr u="sng">
                <a:solidFill>
                  <a:srgbClr val="065A82"/>
                </a:solidFill>
                <a:hlinkClick r:id="rId3"/>
              </a:rPr>
              <a:t>MASAI, итоговый анализ, The Lancet 2026</a:t>
            </a:r>
            <a:r>
              <a:t> · </a:t>
            </a:r>
            <a:r>
              <a:rPr u="sng">
                <a:solidFill>
                  <a:srgbClr val="065A82"/>
                </a:solidFill>
                <a:hlinkClick r:id="rId4"/>
              </a:rPr>
              <a:t>MASAI, анализ безопасности, Lancet Oncology 2023</a:t>
            </a:r>
          </a:p>
          <a:p>
            <a:r>
              <a:t/>
            </a:r>
          </a:p>
          <a:p>
            <a:r>
              <a:t>Ступень читающего врача — «смотрит первым»: каждое исследование он видит сам и выдаёт собственное заключение, чужого ему не показывают. Арбитр смотрит только спорное, и назначено это устройством программы. Тип задачи — распознавание на изображении. На чём система обучена, программа не публикует: проверить чужое заявление по имени изделия здесь нельзя, а выигрыш кадра всё равно принадлежит не прибору, а устройству процедуры вокруг него.</a:t>
            </a:r>
          </a:p>
          <a:p>
            <a:r>
              <a:t/>
            </a:r>
          </a:p>
          <a:p>
            <a:r>
              <a:t>Про две базы ещё раз, потому что это ровно тот приём, который лекция учит ловить. Анализов у испытания два, и они разной выборки: снижение объёма человеческого чтения на 44,3 процента принадлежит промежуточному анализу безопасности на 80 033 женщинах, а чувствительность — итоговому на 105 934. Поставить «минус 44,3 процента» под объявленной выборкой 105 934 значило бы склеить знаменатели. Программа одна, числа из неё — из двух разных мест.</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Форма одна, две соседние сняты проверкой. «Шаг исчез совсем» неверно: второе чтение не исчезло, его делает модель. «Шаг появился» неверно тоньше: арбитраж выглядит новым, но разбор расхождения был и в классическом двойном чтении — изменился объём и то, с чьим заключением расходится человеческое.</a:t>
            </a:r>
          </a:p>
          <a:p>
            <a:r>
              <a:t/>
            </a:r>
          </a:p>
          <a:p>
            <a:r>
              <a:t>Про интервальные раки — болезнь, найденную между обследованиями, — надо сказать точно. В плече двойного чтения 1,76 на 1000 обследованных, с моделью 1,55: это 93 случая из 52 872 против 82 из 53 043. Отношение частот 0,88 при интервале от 0,65 до 1,18 — интервал пересекает единицу, значимости нет, и дизайном испытания была заявлена не-худшесть. Читать 1,55 против 1,76 как доказанное улучшение нельзя. Доказано другое, и оно сильное: чувствительность выше значимо, исход не ухудшился, состав пропущенного сдвинулся в менее опасную сторону — инвазивных на 16 процентов меньше (75 против 89), крупных, стадии T2 и выше, на 21 процент меньше (38 против 48), агрессивных подтипов на 27 процентов меньше (43 против 59).</a:t>
            </a:r>
          </a:p>
          <a:p>
            <a:r>
              <a:t/>
            </a:r>
          </a:p>
          <a:p>
            <a:r>
              <a:t>Обратный сюжет измерен в другой программе, у профессионалов. Там каждое исследование читают три независимых источника — два радиолога и система; положительная находка любого уходит на обсуждение консенсуса, куда попало 5 489 случаев из 54 991, и отозвано оттуда 1 348. Одиночную находку системы отзывали в 4,6 случая из ста (86 из 1 886), находку радиолога — в 14,2 (263 из 1 858), то есть втрое чаще. При этом находка системы подтверждалась раком в 22 процентах (19 из 86), радиолога — в 3,4 (9 из 263), то есть была точнее в шесть с лишним раз. Почти равные знаменатели важны: сравниваются сопоставимые потоки находок; большой группы против маленькой здесь нет.</a:t>
            </a:r>
          </a:p>
          <a:p>
            <a:r>
              <a:t/>
            </a:r>
          </a:p>
          <a:p>
            <a:r>
              <a:t>Сломалось здесь организационное доверие к источнику находки, и сломалось оно вместе с появлением нового шага процесса; модель и её точность тут исправны. Вывод не сглаживать: калибровка ломается в обе стороны, и «люди слишком доверяют машине» — половина измеренного.</a:t>
            </a:r>
          </a:p>
          <a:p>
            <a:r>
              <a:t/>
            </a:r>
          </a:p>
          <a:p>
            <a:r>
              <a:t>Ступень участия у читающего врача та же, что на предыдущем кадре, — «смотрит первым»: каждое исследование он видит сам и выдаёт собственное заключение, чужого ему не показывают. Арбитр смотрит только спорное, и назначено это устройством программы, а не его выбором.</a:t>
            </a:r>
          </a:p>
          <a:p>
            <a:r>
              <a:t/>
            </a:r>
          </a:p>
          <a:p>
            <a:r>
              <a:t>**Источники.** </a:t>
            </a:r>
            <a:r>
              <a:rPr u="sng">
                <a:solidFill>
                  <a:srgbClr val="065A82"/>
                </a:solidFill>
                <a:hlinkClick r:id="rId3"/>
              </a:rPr>
              <a:t>MASAI, итоговый анализ, The Lancet 2026</a:t>
            </a:r>
            <a:r>
              <a:t> · </a:t>
            </a:r>
            <a:r>
              <a:rPr u="sng">
                <a:solidFill>
                  <a:srgbClr val="065A82"/>
                </a:solidFill>
                <a:hlinkClick r:id="rId4"/>
              </a:rPr>
              <a:t>Dembrower и соавт., Radiology 2025, ScreenTrustCAD</a:t>
            </a:r>
          </a:p>
          <a:p>
            <a:r>
              <a:t/>
            </a:r>
          </a:p>
          <a:p>
            <a:r>
              <a:t>Знаменатели второго замера стоит назвать вслух целиком, потому что на нём держится разворот. Исследование проспективное, 54 991 женщина, каждое исследование читают три независимых источника — два радиолога и система; положительная находка любого уходит на обсуждение консенсуса, куда попало 5 489 случаев, и отозвано оттуда 1 348. Одиночную находку системы отзывали в 4,6 случая из ста — это 86 из 1 886; находку радиолога — в 14,2, это 263 из 1 858. Подтверждалась же раком находка системы в 22 процентах (19 из 86), радиолога — в 3,4 (9 из 263). Почти равные знаменатели важны: сравниваются сопоставимые потоки находок, большой группы против маленькой здесь нет.</a:t>
            </a:r>
          </a:p>
          <a:p>
            <a:r>
              <a:t/>
            </a:r>
          </a:p>
          <a:p>
            <a:r>
              <a:t>И почему этот замер разворачивает весь раздел, а не дополняет его. Четыре предыдущих измерения показывали одно и то же устройство ошибки: человек верит подсказке больше, чем следует, и платит за это внимательностью, шансами верного ответа или напрасно потраченным доступом к инструменту. Здесь то же организационное доверие сломано в обратную сторону: источник, который подтверждался раком в шесть с лишним раз чаще, отзывали втрое реже. Значит, правило раздела не «люди слишком доверяют машине» — это половина измеренного. Правило в том, что доверие к источнику находки назначается устройством процедуры, а не точностью источника, и калибруется оно независимо от неё — в обе стороны. Вывод не сглаживать: модель и её точность в этом замере исправны, сломалось то, что вокруг неё построили.</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Что ломается — измерено. Тридцать читателей, девять тысяч прочтений электрокардиограмм: сто кардиограмм, каждую каждый читатель проходил трижды — без расшифровки, с одной расшифровкой (половина неверных) и с несколькими вариантами диагноза. Девять тысяч — повторные измерения на тридцати читателях; независимыми наблюдениями они не являются, и ограничение это называют сами авторы. База падения — верная расшифровка; работы вовсе без подсказки в сравнении нет: те же читатели на тех же ста кардиограммах при правой подсказке и при ошибающейся. У стажёров кардиологии точность падает с 84,86 до 41,66 из ста; у стажёров других специальностей — с 86,38 до 27,43. Две группы различает специальность; стаж у них одинаковый — обе состоят из стажёров. Существеннее другое: связь между уверенностью читателя и его правотой ослабевает у обеих групп. Из падения точности можно выйти процедурой перепроверки; из сломанной калибровки нельзя, потому что человек не знает, какие случаи на перепроверку отправлять.</a:t>
            </a:r>
          </a:p>
          <a:p>
            <a:r>
              <a:t/>
            </a:r>
          </a:p>
          <a:p>
            <a:r>
              <a:t>Что не спасает. Сто сорок радиологов, пятнадцать задач по рентгенограмме грудной клетки: стаж, субспециализация и знакомство с инструментами не предсказывают, кому помощь модели поможет, а кому повредит; ходовое допущение, что выигрывают слабые читатели, опровергнуто. Предсказывает наличие ошибок модели. Числа у величины нет сознательно: её содержание и есть отсутствие связи.</a:t>
            </a:r>
          </a:p>
          <a:p>
            <a:r>
              <a:t/>
            </a:r>
          </a:p>
          <a:p>
            <a:r>
              <a:t>Где потолок. Сто девяносто девять участников краудплатформы, задача про состав питания — не клиническая и без ставок; точность подсказки имитирована на уровне 75 процентов, модели не обучали. Принудительные приёмы подачи — не показывать подсказку, пока не запросят; сначала своё решение, потом подсказка; задержка перед показом — снизили согласие с неверной подсказкой с 64 до 48 из ста. Посчитана пара на одной задаче набора; на общей метрике по всем задачам сдвиг значимости не достиг. Обе половины держатся вместе: шестнадцать пунктов — настоящее улучшение, и при нём почти половина согласий остаётся. Цена измерена тем же опытом: хуже оценивали именно те интерфейсы, которые сильнее снижали опору.</a:t>
            </a:r>
          </a:p>
          <a:p>
            <a:r>
              <a:t/>
            </a:r>
          </a:p>
          <a:p>
            <a:r>
              <a:t>Пробел назван потому, что числа нет в литературе: искали и не нашли.</a:t>
            </a:r>
          </a:p>
          <a:p>
            <a:r>
              <a:t/>
            </a:r>
          </a:p>
          <a:p>
            <a:r>
              <a:t>**Источники.** </a:t>
            </a:r>
            <a:r>
              <a:rPr u="sng">
                <a:solidFill>
                  <a:srgbClr val="065A82"/>
                </a:solidFill>
                <a:hlinkClick r:id="rId3"/>
              </a:rPr>
              <a:t>Bond и соавт., Journal of Electrocardiology 2018</a:t>
            </a:r>
            <a:r>
              <a:t> · </a:t>
            </a:r>
            <a:r>
              <a:rPr u="sng">
                <a:solidFill>
                  <a:srgbClr val="065A82"/>
                </a:solidFill>
                <a:hlinkClick r:id="rId4"/>
              </a:rPr>
              <a:t>Yu и соавт., Nature Medicine 2024</a:t>
            </a:r>
            <a:r>
              <a:t> · </a:t>
            </a:r>
            <a:r>
              <a:rPr u="sng">
                <a:solidFill>
                  <a:srgbClr val="065A82"/>
                </a:solidFill>
                <a:hlinkClick r:id="rId5"/>
              </a:rPr>
              <a:t>Buçinca и соавт., To Trust or to Think, CSCW 2021</a:t>
            </a:r>
            <a:r>
              <a:t> · </a:t>
            </a:r>
            <a:r>
              <a:rPr u="sng">
                <a:solidFill>
                  <a:srgbClr val="065A82"/>
                </a:solidFill>
                <a:hlinkClick r:id="rId6"/>
              </a:rPr>
              <a:t>Dietvorst и соавт., Algorithm Aversion, 2015</a:t>
            </a:r>
          </a:p>
          <a:p>
            <a:r>
              <a:t/>
            </a:r>
          </a:p>
          <a:p>
            <a:r>
              <a:t>Три счёта, снятые с кадра. Первый, на кардиограммах: неверная машинная расшифровка роняет точность стажёров на 43 пункта в одной группе и на 59 в другой — база падения тут верная расшифровка, а различает группы специальность. Существеннее самой величины другое: у обеих групп слабеет связь уверенности с правотой, то есть ломается не точность, а калибровка. Второй — названный пробел: «одна ошибка обрывает доверие» как величина не опубликована нигде; измерено только то, что человек, увидевший промах алгоритма, реже выбирает его дальше. Третий — про то, как подсказка попадает в рабочее место: её выводят через платформу-посредник, модули к которой подключают по подписке, так что «какой именно алгоритм смотрит снимок» решается уже после закупки. Точности платформа не добавляет — добавляет подпись «смотрела программа».</a:t>
            </a:r>
          </a:p>
          <a:p>
            <a:r>
              <a:t/>
            </a:r>
          </a:p>
          <a:p>
            <a:r>
              <a:t>**Источники к снятому.** </a:t>
            </a:r>
            <a:r>
              <a:rPr u="sng">
                <a:solidFill>
                  <a:srgbClr val="065A82"/>
                </a:solidFill>
                <a:hlinkClick r:id="rId3"/>
              </a:rPr>
              <a:t>Bond R. R. и соавт., Journal of Electrocardiology 2018</a:t>
            </a:r>
            <a:r>
              <a:t> · </a:t>
            </a:r>
            <a:r>
              <a:rPr u="sng">
                <a:solidFill>
                  <a:srgbClr val="065A82"/>
                </a:solidFill>
                <a:hlinkClick r:id="rId6"/>
              </a:rPr>
              <a:t>Dietvorst B. и соавт., Algorithm Aversion, Journal of Experimental Psychology: General 2015</a:t>
            </a:r>
          </a:p>
          <a:p>
            <a:r>
              <a:t/>
            </a:r>
          </a:p>
          <a:p>
            <a:r>
              <a:t>И общий смысл кадра, ради которого он стоит именно здесь, после четырёх разборов. Во всех четырёх человек либо верил подсказке больше, чем следовало, либо не получал от неё ничего, — и ни в одном случае дело не было в том, что он мало знает. Этот кадр называет, по какому признаку доверие на самом деле откалибровано: по тому, кто подписывает; по тому, насколько уверенно звучит ответ; по тому, видел ли человек промах своими глазами. Правота источника в этот счёт не входит вовсе, и стаж её туда не добавляет. Отсюда и потолок: переустроить подачу можно, и это даёт значимые шестнадцать пунктов, но почти половина согласий с неверной подсказкой остаётся при самой сильной из опробованных мер. Значит, «научим людей не доверять слепо» — не мера процесса, а пожелание; мерой становится только то, что меняет порядок предъявления и распределение ответственности.</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Зал только что видел четыре разбора и четыре разных исхода: падение чувствительности на замере взгляда, оба знака сразу в патологии, измеренный нуль на тройке и выигрыш на контрольной линии. Отдельное испытание, как бы ярко в нём ни было измерено, остаётся отдельным случаем, и четыре отдельных случая правилом тоже не становятся. Чтобы говорить о правиле, нужен свод, и он есть: предрегистрированный обзор с мета-анализом, 74 работы из 5 126 просмотренных, 106 уникальных опытов, 370 размеров эффекта, публикации с января 2020 по июнь 2023. Критерий включения решает здесь всё: опыт брали только тогда, когда измерены все три величины — человек один, модель одна и пара. Без третьей величины сравнивать пару не с чем, и ровно поэтому большинство отчётов о внедрении на этот вопрос не отвечают.</a:t>
            </a:r>
          </a:p>
          <a:p>
            <a:r>
              <a:t/>
            </a:r>
          </a:p>
          <a:p>
            <a:r>
              <a:t>Размер эффекта — мера «насколько сдвинулось», выраженная в долях разброса самих данных. Она нужна там, где надо сложить сто шесть опытов с разными шкалами: один мерил долю верных ответов, другой балл эксперта, третий время. Читаются такие числа по двум признакам: знак и то, лежит ли интервал целиком по одну сторону от нуля. Интервал от −0,71 до −0,37 отрицателен целиком — значит при повторении опытов эффект останется отрицательным. Третий знак после запятой смысла не несёт: содержательно здесь «около половины разброса вниз» против «около половины разброса вверх».</a:t>
            </a:r>
          </a:p>
          <a:p>
            <a:r>
              <a:t/>
            </a:r>
          </a:p>
          <a:p>
            <a:r>
              <a:t>Оговорку надо произносить каждый раз вместе с числом. Общий результат −0,23 считается против лучшей из двух сторон; человек тут не база. Авторы отдельно пишут, что усиление человека в среднем есть, и у этого есть своё число: пара работает лучше человека одного с размером эффекта 0,64 при интервале от 0,53 до 0,74. Прочтение «пара человека и модели работает плохо» эти данные не поддерживают. Верная формулировка одна: пара обычно лучше человека и хуже сильнейшего из двух.</a:t>
            </a:r>
          </a:p>
          <a:p>
            <a:r>
              <a:t/>
            </a:r>
          </a:p>
          <a:p>
            <a:r>
              <a:t>Чего свод не говорит. Он не про исходы пациентов, разнородность внутри высокая, и медицинских работ там часть. Форма из словаря здесь не определяется: за сводом нет внедрённого процесса — ни места, ни объёма, ни исполнителя, — и подгонять под ближайшую форму нечем. Правило отсюда короткое: сначала измерь, кто сильнее по отдельности, потом решай, кто решает.</a:t>
            </a:r>
          </a:p>
          <a:p>
            <a:r>
              <a:t/>
            </a:r>
          </a:p>
          <a:p>
            <a:r>
              <a:t>**Источники.** </a:t>
            </a:r>
            <a:r>
              <a:rPr u="sng">
                <a:solidFill>
                  <a:srgbClr val="065A82"/>
                </a:solidFill>
                <a:hlinkClick r:id="rId3"/>
              </a:rPr>
              <a:t>Vaccaro, Almaatouq, Malone, Nature Human Behaviour 2024</a:t>
            </a:r>
            <a:r>
              <a:t> · </a:t>
            </a:r>
            <a:r>
              <a:rPr u="sng">
                <a:solidFill>
                  <a:srgbClr val="065A82"/>
                </a:solidFill>
                <a:hlinkClick r:id="rId4"/>
              </a:rPr>
              <a:t>та же работа, открытый препринт</a:t>
            </a:r>
          </a:p>
          <a:p>
            <a:r>
              <a:t/>
            </a:r>
          </a:p>
          <a:p>
            <a:r>
              <a:t>Что из этого произносится, а на кадре снято. Первое: по отдельному испытанию правило не строится — вот оно, собранное из ста шести опытов предрегистрированным мета-анализом, и это другой разряд свидетельства, чем любой из четырёх разборов до него. Второе: после этого кадра вопрос «помогает ли ИИ» читается иначе — как вопрос о том, кто в этой паре сильнее на этой задаче, и он проверяем, в отличие от исходного. Третье: правило не привязано к модальности — оно собрано на опытах с текстом, изображениями и табличными данными сразу, и именно поэтому его можно унести с лекции и приложить к своей работе.</a:t>
            </a:r>
          </a:p>
          <a:p>
            <a:r>
              <a:t/>
            </a:r>
          </a:p>
          <a:p>
            <a:r>
              <a:t>И последнее, без чего кадр читается как приговор паре. Пара не наследует силу сильнейшей стороны — но человека одного она обходит, и обходит устойчиво: размер эффекта 0,64 при интервале от 0,53 до 0,74, целиком выше нуля. То есть вопрос не в том, брать ли модель в работу, а в том, против какой стороны считать выигрыш. Сравнение с человеком без модели даёт одну картину, сравнение с сильнейшей из сторон — другую, и подменять второе первым умеет почти любой отчёт о внедрении.</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Задача, в которую мы входим, устроена иначе, чем чтение снимка. Больного привозят по экстренным показаниям, и в ближайшие часы надо решить: везти его в операционную сейчас или не везти. Решение принимает хирург, и принимает он его по тому, что видит — по виду больного, по его возрасту, по тому, чем он болел раньше, по анализам, взятым час назад. Времени на консилиум нет, второго мнения часто нет тоже.</a:t>
            </a:r>
          </a:p>
          <a:p>
            <a:r>
              <a:t/>
            </a:r>
          </a:p>
          <a:p>
            <a:r>
              <a:t>Цена обеих ошибок называется здесь до всякой точности, и половины её несопоставимы по измеримости — это надо сказать прежде любого числа. Недооценить риск означает повезти больного в операционную как рядовой случай: без приготовленного места в реанимации, без переливания наготове, без разговора с семьёй о том, что может быть дальше. Осложнение в таком случае считают на тридцатый день, и считают его хорошо: национальная база контроля качества хирургии собирает именно эти исходы. Переоценить риск означает отложить операцию или не делать её вовсе — и человек умирает от того, чего не сделали. Этой половины в тридцатидневном счёте не видно вообще: больного не оперировали, сравнивать не с чем, и узнать, что операция его бы спасла, невозможно, потому что опыта не было. Половину, которой нет в числах, называют прямо и не заменяют оценкой.</a:t>
            </a:r>
          </a:p>
          <a:p>
            <a:r>
              <a:t/>
            </a:r>
          </a:p>
          <a:p>
            <a:r>
              <a:t>Классических режимов на этом месте не один, а два разряда, и посчитаны оба. Первый — формальные шкалы риска, которыми пользуются до всякого машинного обучения: шкала физического состояния больного, шкала экстренной хирургии, открытый онлайн-калькулятор. Все три посчитаны на той же проверочной выборке, что и модель, той же мерой, и это редкость: обычно новую систему сравнивают с опубликованным чужим числом или не сравнивают ни с чем. Три шкалы дают от 0,8743 до 0,8975, модель на той же выборке — 0,9162. Выигрыш, то есть от 0,019 до 0,042, различим и не разителен, и произносить его надо именно так, а не словами «модель точнее шкал».</a:t>
            </a:r>
          </a:p>
          <a:p>
            <a:r>
              <a:t/>
            </a:r>
          </a:p>
          <a:p>
            <a:r>
              <a:t>Второй разряд классического режима — чутьё хирурга без всякой шкалы. Пятнадцать хирургов экстренной помощи оценивали риск по описанию случая, не зная машинной оценки. Модель оказалась точнее человеческого чутья по четырём исходам из пяти: смертность 0,880 против 0,841, зависимость от аппарата 0,928 против 0,833, кровотечение с переливанием 0,832 против 0,735, пневмония 0,837 против 0,753. И по одному исходу модель оказалась хуже человека: септический шок, 0,816 против 0,820. Разница там крошечная, и важна она не величиной, а тем, что это единственное место задачи, где у человека было собственное преимущество.</a:t>
            </a:r>
          </a:p>
          <a:p>
            <a:r>
              <a:t/>
            </a:r>
          </a:p>
          <a:p>
            <a:r>
              <a:t>Здесь нужна оговорка о выборках, иначе два ряда чисел слипнутся в один. Три шкалы и модель посчитаны на проверочной выборке 2014 года — это десятки тысяч случаев из той же национальной базы. Хирургов мерили на других ста пятидесяти случаях, прослеженных вперёд тридцать дней. Два ряда стоят рядом как два классических режима одной задачи и в одну бухгалтерию не складываются: сравнивать 0,9162 с 0,820 напрямую нельзя.</a:t>
            </a:r>
          </a:p>
          <a:p>
            <a:r>
              <a:t/>
            </a:r>
          </a:p>
          <a:p>
            <a:r>
              <a:t>И последнее, что относится уже не к задаче, а к самой лекции. Обещание, данное в прошлый раз, звучало дословно так: будет разбор, где добавление человека в связку с машиной ухудшило результат, причём у профессиональных медиков. Обещание это закрывается, и закрывается оно не пересказом, а измерением — у практикующих хирургов, на прослеженных исходах, с жребием между группами. Всё, что названо на этом кадре, нужно затем, чтобы следующее число имело, с чем сравниваться.</a:t>
            </a:r>
          </a:p>
          <a:p>
            <a:r>
              <a:t/>
            </a:r>
          </a:p>
          <a:p>
            <a:r>
              <a:t>И две подробности, снятые с кадра. Обещан этот разбор был у профессиональных медиков — слово «медики» тут несущее: это не студенты и не участники лабораторного опыта, а практикующие хирурги на своей собственной работе. Место в реанимации заказывают заранее, и недооценка риска отнимает именно его. А осложнение в тридцатидневном счёте считают на тридцатый день после операции: отсюда и слепота счёта к переоценке риска — человека, которого решили не оперировать, в этом счёте нет вовсе.</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Опыт устроен так. Пятнадцать хирургов экстренной помощи оценивают риск по описанию случая, не видя машинной оценки. Вторая группа из пятнадцати делает те же оценки после того, как познакомилась с подсказкой модели. Между группами хирургов развели жребием, случаев сто пятьдесят, и исходы у всех ста пятидесяти прослежены вперёд тридцать дней. Это редкое по устройству сравнение: обе человеческие группы и модель измерены на одних и тех же случаях, и разряд свидетельства здесь высокий сразу по двум признакам — жребий между группами и проспективно зафиксированный исход.</a:t>
            </a:r>
          </a:p>
          <a:p>
            <a:r>
              <a:t/>
            </a:r>
          </a:p>
          <a:p>
            <a:r>
              <a:t>Результат по трём исходам из пяти лёг так, как внедрение и обещает: по смертности, по кровотечению и по пневмонии хирурги с подсказкой стали точнее хирургов без неё. На этом большинство отчётов о внедрении и заканчивается, и именно поэтому стоит назвать остальные два.</a:t>
            </a:r>
          </a:p>
          <a:p>
            <a:r>
              <a:t/>
            </a:r>
          </a:p>
          <a:p>
            <a:r>
              <a:t>Четвёртый исход — зависимость от аппарата. Это место, где перевес модели над человеком был наибольшим из пяти: 0,928 против 0,833. Правило, которое лекция только что собрала из ста шести опытов, предсказывает здесь выигрыш пары, и выигрыша нет: 0,834 против 0,833, то есть ровно ноль. Опустить эту строку, оставив четыре удобные, означало бы показать опыт чистой демонстрацией правила.</a:t>
            </a:r>
          </a:p>
          <a:p>
            <a:r>
              <a:t/>
            </a:r>
          </a:p>
          <a:p>
            <a:r>
              <a:t>Пятый исход — септический шок, и это главное число лекции. Здесь человек был точнее модели: 0,820 против 0,816. Разница крошечная, и важна она не величиной, а направлением — это единственное место задачи, где у хирурга было собственное преимущество. Хирург, увидевший подсказку, дал 0,712. Он ушёл не просто ниже модели — он ушёл ниже самого себя, на единственном исходе, где ему не нужна была помощь. Пара оказалась хуже и модели в одиночку, и человека в одиночку, и это надо назвать именно так, а не «пара не улучшила результат».</a:t>
            </a:r>
          </a:p>
          <a:p>
            <a:r>
              <a:t/>
            </a:r>
          </a:p>
          <a:p>
            <a:r>
              <a:t>Что из этого переехало, по словарю. Форма восьмая: исполнитель тот же, но стал хуже. Проверки её выполняются буквально. Место то же — оценка риска делается там же. Объём тот же — те же сто пятьдесят случаев. Рука та же — оценку даёт хирург, и порядок работ не менялся. Изменилось состояние руки: хирург перестал опираться на собственное преимущество там, где оно у него было. Рядом стоит пятая форма — часть оценки риска переехала с опыта хирурга на экран, — но несущая здесь восьмая, потому что мерится не место работы, а качество того, что рука находит.</a:t>
            </a:r>
          </a:p>
          <a:p>
            <a:r>
              <a:t/>
            </a:r>
          </a:p>
          <a:p>
            <a:r>
              <a:t>Устройство изделия стоит произнести целиком, иначе разбор нельзя ни проверить, ни пересказать. Калькулятор называется POTTER. Внутри — решающие деревья, подобранные оптимизацией; это не нейросеть, и класс здесь важен, потому что от него зависит, сколько вопросов надо задать. Обучен он на 382 960 случаях экстренной хирургии из национальной базы контроля качества за 2007–2013 годы. На входе от четырёх до одиннадцати ответов о больном, на выходе — вероятности пяти исходов за тридцать дней. У него же измерено ограничение, о котором обычно молчат: при внешней проверке на 29 366 больных старше шестидесяти пяти лет точность по смертности падает до 0,80, а у тех, кому больше восьмидесяти пяти, — до 0,71. Модель работает хуже всего там, где решение «оперировать ли» труднее всего.</a:t>
            </a:r>
          </a:p>
          <a:p>
            <a:r>
              <a:t/>
            </a:r>
          </a:p>
          <a:p>
            <a:r>
              <a:t>И одно число из соседнего испытания, которое объясняет механизм лучше остальных. В продолжении того самого опыта, откуда взята тройка 92 · 74 · 76, — та же команда, семьдесят врачей, двести пятьдесят четыре случая — измерили не «помогает ли модель», а когда её показали. Подсказка, предъявленная до того, как человек составил собственное мнение, против подсказки, предъявленной после, стоит 8,9 пункта по решениям к действию. То есть дело не в том, что модель плохая: дело в порядке.</a:t>
            </a:r>
          </a:p>
          <a:p>
            <a:r>
              <a:t/>
            </a:r>
          </a:p>
          <a:p>
            <a:r>
              <a:t>Чего разбор не утверждает. Он не утверждает, что POTTER плохой калькулятор: по четырём исходам из пяти он точнее человеческого чутья и точнее трёх классических шкал. Он не утверждает и что подсказку надо убрать. Он утверждает ровно одно: подсказку нельзя показывать там, где у человека есть собственное преимущество, не измерив заранее, что с этим преимуществом станет. Риск оценивался по составленным описаниям случаев, не у койки, и повторения этого замера нет ни одного — обе оговорки произносятся вместе с числом.</a:t>
            </a:r>
          </a:p>
          <a:p>
            <a:r>
              <a:t>Ступень участия здесь — «смотрит вторым», и это ровно та разница с контрольной линией, из-за которой при одном и том же классе инструмента результаты разошлись в противоположные стороны.</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Четыре замера, которые прозвучали в этом разделе, отвечают на один и тот же вопрос, и собрать их надо вслух, иначе они останутся четырьмя разными числами в четырёх разных местах. Вопрос был задан в прошлый раз: бывает ли так, что добавление человека к машине делает результат хуже, и бывает ли это у профессиональных медиков. Ответ — да, и он измерен четыре раза с разной стороны.</a:t>
            </a:r>
          </a:p>
          <a:p>
            <a:r>
              <a:t/>
            </a:r>
          </a:p>
          <a:p>
            <a:r>
              <a:t>Первый замер сильнее остальных по устройству опыта. Тридцать хирургов экстренной помощи разведены по группам жребием, сто пятьдесят случаев прослежены вперёд тридцать дней, обе человеческие группы и модель измерены на одних и тех же случаях. По септическому шоку — единственному исходу, где человек был точнее машины, — пара дала 0,712 против 0,816 у модели в одиночку и 0,820 у хирурга в одиночку. Это прямое измерение обещанного: пара ниже каждой из сторон.</a:t>
            </a:r>
          </a:p>
          <a:p>
            <a:r>
              <a:t/>
            </a:r>
          </a:p>
          <a:p>
            <a:r>
              <a:t>Второй замер — тройка, с которой лекция начиналась. Пятьдесят практикующих врачей, рандомизированы два человеческих условия: врач с обычными справочниками дал 74 из ста, врач поверх модели — 76, и разница эта незначима. Прогон модели в одиночку, 92, равноправной случайной ветвью не был и стоит разрядом ниже остального. Задания здесь — составленные описания случаев, осмотра нет, исходов пациентов никто не проверял. То есть замер слабее первого по двум признакам сразу, и назвать их надо оба.</a:t>
            </a:r>
          </a:p>
          <a:p>
            <a:r>
              <a:t/>
            </a:r>
          </a:p>
          <a:p>
            <a:r>
              <a:t>Третий замер — не отдельный опыт, а свод из ста шести. Предрегистрированный обзор с мета-анализом собрал семьдесят четыре работы, и критерий включения там решает всё: опыт брали только тогда, когда измерены все три величины — человек один, модель одна и пара. Там, где модель сильнее человека, пара хуже модели: минус 0,54 размера эффекта при интервале от минус 0,71 до минус 0,37, то есть отрицательном целиком. Свод строже каждого отдельного случая по дизайну и шире по предмету: медицинских работ внутри него часть, исходов пациентов он не касается, опыты разной природы.</a:t>
            </a:r>
          </a:p>
          <a:p>
            <a:r>
              <a:t/>
            </a:r>
          </a:p>
          <a:p>
            <a:r>
              <a:t>Четвёртый замер отвечает не «сколько», а «через что». Десять читателей национальной программы скрининга прочитали один и тот же набор из шестидесяти случаев дважды — сначала без подсказок, через шесть недель с подсказками. На случаях, где подсказка пропустила находку, чувствительность того же читателя упала с 71 из ста до 39. Сравнивается человек с самим собой, и этим снят разброс между людьми, который в чтении снимков велик. Слабая сторона названа там же: читателей десять, и обобщать на профессию по десяти нельзя.</a:t>
            </a:r>
          </a:p>
          <a:p>
            <a:r>
              <a:t/>
            </a:r>
          </a:p>
          <a:p>
            <a:r>
              <a:t>Теперь вывод, один на четыре. Пара человека и модели не наследует силу сильнейшей стороны. Это не то же самое, что «пара работает плохо»: человека без модели пара обычно обходит, и у этого есть своё число — размер эффекта 0,64 при интервале от 0,53 до 0,74. Формулировка, которую данные поддерживают, звучит так: пара обычно лучше человека и хуже сильнейшего из двух. Отсюда и практическое правило: прежде чем решать, кто решает, надо измерить, кто из двоих сильнее на этой конкретной задаче.</a:t>
            </a:r>
          </a:p>
          <a:p>
            <a:r>
              <a:t/>
            </a:r>
          </a:p>
          <a:p>
            <a:r>
              <a:t>И честная оговорка, которая относится ко всем четырём сразу. Ни один из четырёх замеров не поднялся на ступень исхода пациента. Измерено, как человек смотрит, как он меняет верное решение на неверное, как соглашается с подсказкой, — и не измерено, что случилось с больным из-за того, что человек стал хуже смотреть. Такого замера не нашлось ни одного, и промолчать об этом нельзя: сказано это здесь, рядом с собственными числами, тем же приёмом, которым лекция требует базу у чужих.</a:t>
            </a:r>
          </a:p>
          <a:p>
            <a:r>
              <a:t/>
            </a:r>
          </a:p>
          <a:p>
            <a:r>
              <a:t>Что тут произносится помимо таблицы. Разряд у четырёх замеров разный, и назвать его обязательно — иначе четыре числа читаются либо как четыре независимых подтверждения одного, либо как одно исследование, рассказанное четыре раза. Ни то, ни другое неверно. У хирургов ветвь с жребием соседствует с проспективным наблюдением, у тройки ветвь «модель одна» наблюдательная и равноправной случайной не была, свод предрегистрирован и медицинских работ в нём часть, а замер взгляда — перекрёстная подача, где читателя сравнивают с ним же. Выше своего разряда ни одно из этих чисел не утверждает ничего. И ни в одном из четырёх не измерен исход пациента: мерили точность чтения, движение глаза, балл рассуждения и оценку риска — но не то, что стало с человеком.</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Соберём стадию по тем же четырём вопросам.</a:t>
            </a:r>
          </a:p>
          <a:p>
            <a:r>
              <a:t/>
            </a:r>
          </a:p>
          <a:p>
            <a:r>
              <a:t>Что получается. Второй взгляд на поток, который человеку не прочесть целиком: модель читает всё и не теряет чувствительность в пятницу вечером. Напоминание о редком диагнозе работает тем же механизмом, которым подсказка и вредит, — она дополняет состав списка, и строка, которой у усталого врача не появилось бы, появляется. И одно устройство процедуры, где пара измеренно сильнее обеих сторон: чувствительность восемьдесят с половиной против семидесяти трёх и восьми при одинаковой специфичности.</a:t>
            </a:r>
          </a:p>
          <a:p>
            <a:r>
              <a:t/>
            </a:r>
          </a:p>
          <a:p>
            <a:r>
              <a:t>Что не получается. Независимость теряется потому, что так устроен интерфейс; внимательность врача тут не причина. Избирательности не хватает процедуры: инструмента, позволяющего отличить верную подсказку от неверной, не получила ни одна группа, и ни одна с задачей не справилась. Объяснимость имеет измеренную цену: упрощённое объяснение неверной рекомендации роняет выбор ниже той линии, которую тот же врач даёт без модели вообще.</a:t>
            </a:r>
          </a:p>
          <a:p>
            <a:r>
              <a:t/>
            </a:r>
          </a:p>
          <a:p>
            <a:r>
              <a:t>Что стало с работой. Нагрузка на том же месте упала — у замера взгляда это было ценой, у обратного знака выигрышем; значит форма знака не несёт, знак задаёт правота подсказки. Сместилась цена ошибки: пропуск модели стал пропуском читателя, и подпись под ним ставит человек. Сменился исполнитель: вторым читателем стала модель, и падение объёма человеческого чтения — следствие этой смены; отдельным достижением оно не является.</a:t>
            </a:r>
          </a:p>
          <a:p>
            <a:r>
              <a:t/>
            </a:r>
          </a:p>
          <a:p>
            <a:r>
              <a:t>Что это держит. Порядок предъявления подсказки — управляемый параметр с измеренной ценой: интерфейс, показывающий отметку вместе со снимком, покупает скорость дорого. Арбитраж третьим читателем там, где человек и модель разошлись. И то, что нигде не записано: ступень участия человека. Неназначенная, под нагрузкой она сползает к подписи не глядя.</a:t>
            </a:r>
          </a:p>
          <a:p>
            <a:r>
              <a:t/>
            </a:r>
          </a:p>
          <a:p>
            <a:r>
              <a:t>Связку надо произнести: в разборе, где результат упал, и в контрольной линии, где он вырос, работала одна и та же система одного производителя.</a:t>
            </a:r>
          </a:p>
          <a:p>
            <a:r>
              <a:t/>
            </a:r>
          </a:p>
          <a:p>
            <a:r>
              <a:t>Число под строкой об объяснимости стоит назвать, потому что оно против интуиции. В опыте на виньетках с выбором антидепрессанта неверная рекомендация, поданная с упрощённым объяснением, уронила долю верных выборов с 35,7 до 26,2 из ста — то есть ниже той, что получалась вообще без всякой модели. Объяснение не помогло отличить плохой совет от хорошего; оно помогло плохому совету пройти.</a:t>
            </a:r>
          </a:p>
          <a:p>
            <a:r>
              <a:t/>
            </a:r>
          </a:p>
          <a:p>
            <a:r>
              <a:t>Карта задачи и данных идёт следующим кадром, и строку про неё здесь произносить не надо — она там и стоит.</a:t>
            </a:r>
          </a:p>
          <a:p>
            <a:r>
              <a:t/>
            </a:r>
          </a:p>
          <a:p>
            <a:r>
              <a:t>И то, чем эта нагрузка держится, — произносим, на кадре этого нет. Держат её две вещи: порядок предъявления подсказки, у которого есть измеренная цена, и арбитраж третьим читателем — но только там, где человек и модель разошлись. Числа к четырём формам словаря не повторяем: каждое стояло на своём разборе, и повтор здесь сделал бы из вывода конспект раздела. Один и тот же инструмент уронил результат в одном разборе и поднял в контрольной линии — разошлось у них устройство процедуры, и это и есть вывод стадии.</a:t>
            </a:r>
          </a:p>
          <a:p>
            <a:r>
              <a:t/>
            </a:r>
          </a:p>
          <a:p>
            <a:r>
              <a:t>Как произносить четыре формы словаря, стоящие строкой. Нагрузка на том же месте упала — у замера взгляда, и знак этой формы задаёт правота подсказки: то же падение объёма осмотра в зеркальной работе оказалось выигрышем. Сместилась цена ошибки — пропуск модели стал пропуском читателя, подписанным человеком. Сменился исполнитель — вторым читателем стала модель, и объём человеческого чтения упал следом, как следствие смены, а не как самостоятельная цель. Исполнитель тот же, но стал хуже — у хирурга на септическом шоке при той же работе просело собственное преимущество; этой формы в словаре до раздела не было, её пришлось завести.</a:t>
            </a:r>
          </a:p>
          <a:p>
            <a:r>
              <a:t/>
            </a:r>
          </a:p>
          <a:p>
            <a:r>
              <a:t>И про полужирную строку. Ступень участия человека не записана нигде: ни в регламенте программы, ни в инструкции к изделию, ни в должностной инструкции читателя. Незаписанная ступень не остаётся нейтральной — она сползает вниз, к подписи не глядя, потому что это самый дешёвый способ закрыть требование «решение принимает человек». Счёт за это предъявляется в разделе о допуске, надзоре и ответственности, и предъявляется он не интерфейсу, а тому, кто ступень не назначил.</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До сих пор лекция разбирала разовое решение: прочитать снимок, поставить диагноз, назначить лечение. Наблюдение — работа другого устройства. Предмет тот же человек, но решение здесь повторяется каждые несколько часов, и ошибка накапливается: пропущенное ухудшение не остаётся пропущенным навсегда, оно просто замечено не вовремя.</a:t>
            </a:r>
          </a:p>
          <a:p>
            <a:r>
              <a:t/>
            </a:r>
          </a:p>
          <a:p>
            <a:r>
              <a:t>Классический вид этой работы держится тремя вещами: расписанием измерений, балльной шкалой, которая переводит несколько показателей в одно число, и порогом, на котором дежурная смена обязана вызвать старшего. Все три — документ, а не прибор: баллы назначила согласительная комиссия, порог опубликован, и любой может посмотреть, почему решение такое.</a:t>
            </a:r>
          </a:p>
          <a:p>
            <a:r>
              <a:t/>
            </a:r>
          </a:p>
          <a:p>
            <a:r>
              <a:t>Именно сюда и заходит модель: данные уже лежат в карте в машинном виде, снимать их отдельно не нужно. Вместо дежурной смены, которая раз в несколько часов складывает показатели в одно число, карта сама считает балл риска непрерывно и сама решает, когда прерывать работу тревогой.</a:t>
            </a:r>
          </a:p>
          <a:p>
            <a:r>
              <a:t/>
            </a:r>
          </a:p>
          <a:p>
            <a:r>
              <a:t>Разбор в разделе один, и назвать стоит сразу, что чем является. Пять кадров до него разбором не считаются: данные, вопрос и решение стадии; работа участников — картина ночного обхода и дорожка величин; классический режим — балльная шкала, которую модель застала на этом месте; цена обеих ошибок дежурной смены; и счёт обоих классических режимов в той же единице. И только после этих пяти — «Пример 1: модель раннего предупреждения», модель сепсиса, встроенная в медицинскую карту; она держится на четырёх кадрах: что заявлено и что измерила независимая проверка; арифметика потока тревог против шкалы, которую модель заменила; вторая, независимая проверка; и что это дало, чего потребовало и что было дальше. Один случай, разобранный подробно, — не три случая, разобранных бегло. Слово «пример» в заголовках стоит только на этих четырёх кадрах.</a:t>
            </a:r>
          </a:p>
          <a:p>
            <a:r>
              <a:t/>
            </a:r>
          </a:p>
          <a:p>
            <a:r>
              <a:t>Без них разбор модели был бы сравнением с нулём, а не с работающим режимом, и эту ошибку курс ловит у других.</a:t>
            </a:r>
          </a:p>
          <a:p>
            <a:r>
              <a:t/>
            </a:r>
          </a:p>
          <a:p>
            <a:r>
              <a:t>Снимок рядом — сестринский пост: место, где решение «звать врача сейчас или на следующем обходе» принималось и принимается до сих пор, с моделью или без неё. Пост на снимке пуст, и это правда про стадию: между обходами здесь нет никого, а состояние тем временем меняется.</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Предыдущая стадия кончилась принятым решением: диагноз поставлен, лечение назначено, под заключением стоит фамилия. Эта стадия начинается там же и отвечает на другой вопрос — что стало дальше. Названа она в отрасли динамическим наблюдением, и слово «динамическое» здесь несущее: предмет наблюдения не состояние человека в одной точке, а то, как это состояние меняется во времени.</a:t>
            </a:r>
          </a:p>
          <a:p>
            <a:r>
              <a:t/>
            </a:r>
          </a:p>
          <a:p>
            <a:r>
              <a:t>Начнём с того, какие данные стадия получает, потому что от их устройства зависит всё остальное. Это дорожка повторных измерений шести величин: частота дыхания, пульс, артериальное давление, температура, уровень сознания и насыщение крови кислородом. Шесть величин, снятых не один раз, а по расписанию, и выстроенных в последовательность.</a:t>
            </a:r>
          </a:p>
          <a:p>
            <a:r>
              <a:t/>
            </a:r>
          </a:p>
          <a:p>
            <a:r>
              <a:t>Вопрос, который на этих данных решают, один и повторяющийся: меняется ли состояние и надо ли вмешиваться сейчас. И вот первое свойство стадии, которое стоит произнести прежде всякого инструмента: одна величина сама по себе говорит мало. Пульс сто четыре у одного человека норма дня, у другого боль, у третьего обезвоживание. А пульс семьдесят восемь, потом девяносто два, потом сто четыре при падающем давлении говорит много — и говорит за несколько часов до того, как станет очевидно плохо. Читается направление дорожки, а не точка на ней. Отсюда следует вещь практическая: дорожка существует только тогда, когда её ведут непрерывно, и восстановить её задним числом нельзя. Пропущенный обход — не пропущенное число, а пропущенный участок направления.</a:t>
            </a:r>
          </a:p>
          <a:p>
            <a:r>
              <a:t/>
            </a:r>
          </a:p>
          <a:p>
            <a:r>
              <a:t>Теперь о том, какими способами эти данные получают, потому что способов четыре и дают они разное. Первый — обход с измерением у постели: сестра идёт по палатам, снимает четыре-пять величин руками и прибором, у постели это две-три минуты. Второй — мониторный контроль: прибор у кровати измеряет непрерывно и сам поднимает тревогу по выставленному рукой порогу. Третий — лист наблюдения, бумажный бланк в ногах кровати или экранная форма в карте; лист — единственное, что видит следующая смена, врач на обходе и комиссия при разборе осложнения. Четвёртый способ за последние двадцать лет стал массовым и к стационару отношения почти не имеет: измерения, которые пациент снимает сам, — домашний тонометр, монитор глюкозы, дневник симптомов.</a:t>
            </a:r>
          </a:p>
          <a:p>
            <a:r>
              <a:t/>
            </a:r>
          </a:p>
          <a:p>
            <a:r>
              <a:t>Какое решение стадия принимает. Решение называется эскалацией, и смысл слова стоит разобрать: это передача случая на уровень выше. Звать дежурного врача сейчас или на следующем обходе; участить измерения; переводить ли в реанимацию. Принимает это решение человек, который пациента в этот момент не видит: дежурный врач за несколько отделений читает лист наблюдения и слышит голос сестры по телефону. Запись здесь не бюрократия — она единственный канал, по которому состояние человека доходит до того, кто вправе назначить лечение.</a:t>
            </a:r>
          </a:p>
          <a:p>
            <a:r>
              <a:t/>
            </a:r>
          </a:p>
          <a:p>
            <a:r>
              <a:t>И почему эта стадия стоит именно здесь, после постановки диагноза. Ответ не «так удобнее изложить». До принятого решения вопроса «что стало дальше» просто не существует: наблюдать нечего, пока ничего не назначено. Но есть и вторая половина ответа, и она важнее. Диагноз ставят однажды и подписывают — это разовое решение, у которого есть момент и автор. Наблюдение переоценивает одно и то же состояние каждые несколько часов, и каждая переоценка — отдельная возможность пройти мимо. Ошибка здесь не случается один раз, она накапливается. Это другое устройство работы, и инструмент, который сюда приходит, попадает именно в него: не в одно решение, а в поток решений, принимаемых по многу раз за ночь усталыми людьми по неполным данным.</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Разберём работу стадии прежде, чем говорить про модели: без этого непонятно, во что инструмент вмешивается. На кадре — одна картина работы и дорожка величин; шесть действий стадии и порядок обхода назову здесь, каждое по отдельности. Порядок работы без модели прост: измерить величины, сравнить с нормой, записать в лист.</a:t>
            </a:r>
          </a:p>
          <a:p>
            <a:r>
              <a:t/>
            </a:r>
          </a:p>
          <a:p>
            <a:r>
              <a:t>Снять величины. Сестра идёт по палатам и снимает четыре-пять величин: дыхание, пульс, давление, температуру, иногда насыщение крови кислородом. У постели это занимает две-три минуты, и делает это младший персонал.</a:t>
            </a:r>
          </a:p>
          <a:p>
            <a:r>
              <a:t/>
            </a:r>
          </a:p>
          <a:p>
            <a:r>
              <a:t>Записать в лист. Числа ложатся в бумажный бланк в ногах кровати или в экранную форму карты. Лист — единственное, что видит следующая смена, врач на обходе и комиссия при разборе осложнения.</a:t>
            </a:r>
          </a:p>
          <a:p>
            <a:r>
              <a:t/>
            </a:r>
          </a:p>
          <a:p>
            <a:r>
              <a:t>Перевести отклонения в баллы. Каждая величина получает баллы за отклонение от нормы по таблице: частота дыхания от двенадцати до двадцати — ноль, от двадцати одного до двадцати четырёх — два, двадцать пять и выше — три.</a:t>
            </a:r>
          </a:p>
          <a:p>
            <a:r>
              <a:t/>
            </a:r>
          </a:p>
          <a:p>
            <a:r>
              <a:t>Сравнить сумму с порогом. Баллы складываются в одно число, и число попадает в одну из полос — низкую, среднюю, высокую.</a:t>
            </a:r>
          </a:p>
          <a:p>
            <a:r>
              <a:t/>
            </a:r>
          </a:p>
          <a:p>
            <a:r>
              <a:t>Выполнить назначенное действие. Низкая полоса — продолжать наблюдение по расписанию; средняя — участить измерения и позвать дежурного врача; высокая — вызвать бригаду немедленно.</a:t>
            </a:r>
          </a:p>
          <a:p>
            <a:r>
              <a:t/>
            </a:r>
          </a:p>
          <a:p>
            <a:r>
              <a:t>Передать дорожку смене. Суждение «мне кажется, он сдал» передать нельзя: его не записать в лист и не предъявить утром. Число передаётся, и в этом вся ценность конструкции.</a:t>
            </a:r>
          </a:p>
          <a:p>
            <a:r>
              <a:t/>
            </a:r>
          </a:p>
          <a:p>
            <a:r>
              <a:t>Решение на этой стадии одно и повторяющееся: звать старшего сейчас или на следующем обходе. Повторяется оно каждые несколько часов у каждой постели, и принимает его тот, кто видит только запись.</a:t>
            </a:r>
          </a:p>
          <a:p>
            <a:r>
              <a:t/>
            </a:r>
          </a:p>
          <a:p>
            <a:r>
              <a:t>Зачем измерять человека, который спит и выглядит стабильно. Ухудшение читается по направлению дорожки — её и показывает плашка. Пульс сто четыре сам по себе не говорит почти ничего; пульс семьдесят восемь, потом девяносто два, потом сто четыре при падающем давлении говорит много — и говорит за несколько часов до того, как станет очевидно плохо. Поэтому измерения ставят по расписанию: восстановить дорожку задним числом нельзя.</a:t>
            </a:r>
          </a:p>
          <a:p>
            <a:r>
              <a:t/>
            </a:r>
          </a:p>
          <a:p>
            <a:r>
              <a:t>И свойство, которое встретится ещё не раз и которое разберёт следующий кадр: веса в таблице назначены людьми и опубликованы. Модель на том же месте выдаёт тот же выход — балл и тревогу — и весов своих не предъявляет.</a:t>
            </a:r>
          </a:p>
          <a:p>
            <a:r>
              <a:t/>
            </a:r>
          </a:p>
          <a:p>
            <a:r>
              <a:t>Теперь то же поле с моделью, названное до разборов. Из шести действий обученная модель заняла три: счёт балла — теперь непрерывный и по всей карте, а не раз в несколько часов по расписанию обхода; сравнение с порогом — работа смены прерывается тревогой; и назначенное действие, к которому приложен набор назначений в один щелчок. Измерение у постели, запись в лист и передача дорожки следующей смене остались людям целиком. Один шаг добавился, и он новый для профессии — разобрать тревогу и отклонить её.</a:t>
            </a:r>
          </a:p>
          <a:p>
            <a:r>
              <a:t/>
            </a:r>
          </a:p>
          <a:p>
            <a:r>
              <a:t>Три места, где модель не работает, тоже стоит назвать заранее: порог себе она не назначает, его назначает организация под своё население; опередить врача она не может там, где данные попадают в карту уже после его решения; и замолчать при сдвинувшейся картине населения она не умеет — поток изменился, порог остался прежним.</a:t>
            </a:r>
          </a:p>
          <a:p>
            <a:r>
              <a:t/>
            </a:r>
          </a:p>
          <a:p>
            <a:r>
              <a:t>Женщины с письмом в этой палате нет, и сказать об этом стоит прямо. Её путь кончается письмом «норма» или звонком на дообследование: никакого наблюдения за ней программа не ведёт, следующий контакт назначен тем же интервалом, что и первый. Наблюдение в этом разделе — про того, кто уже лежит в отделении, и измеряется оно на его дорожке величин. Это не пробел подборки: за человеком, которого обследовали и отпустили, в медицине вообще наблюдают редко, и ровно поэтому долгосрочного исхода у разборов этой лекции нет ни у одного.</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Шкала раннего предупреждения — классический режим этой стадии, и с ним дальше придётся сравнивать обученную модель. Устройство её показано схемой из четырёх шагов, и каждый шаг можно показать пальцем: баллы за отклонение, сложение, сравнение с полосой, назначенное действие. Четвёртый шаг назову составом, иначе он звучит отвлечённо: низкая полоса — продолжать наблюдение по расписанию; средняя — участить измерения и позвать дежурного врача; высокая — вызвать реанимационную бригаду немедленно. То есть шкала кончается не числом, а назначенным действием, и в этом вся её работа.</a:t>
            </a:r>
          </a:p>
          <a:p>
            <a:r>
              <a:t/>
            </a:r>
          </a:p>
          <a:p>
            <a:r>
              <a:t>Свойств у такой конструкции два, и первое я назову раньше второго, потому что оно важнее для сегодняшнего разговора. Баллы передаются между сменами. Суждение «мне кажется, он сдал» не передаётся: его нельзя записать в лист, нельзя предъявить утром и нельзя оспорить. Число передаётся — и именно поэтому сестра, не имеющая права поставить диагноз, может поднять тревогу, на которую обязаны ответить.</a:t>
            </a:r>
          </a:p>
          <a:p>
            <a:r>
              <a:t/>
            </a:r>
          </a:p>
          <a:p>
            <a:r>
              <a:t>Главное свойство для сегодняшнего разговора — веса в таблице назначены людьми и опубликованы. Их выписала согласительная комиссия профессионального общества, они напечатаны на карте, которая лежит в отделении. Отсюда следует вещь, которой у модели нет: ошибка шкалы разбирается как ошибка документа. Собирается комиссия, правит таблицу, выпускает новую редакцию, и всякий, кто с редакцией не согласен, знает, кому возражать и по какому пункту.</a:t>
            </a:r>
          </a:p>
          <a:p>
            <a:r>
              <a:t/>
            </a:r>
          </a:p>
          <a:p>
            <a:r>
              <a:t>Левый столбец стоит прочесть именно так: это не похвала старому инструменту, это перечень того, что мы теряем при замене. Прозрачность веса, воспроизводимость счёта и адресат возражения — три свойства, за которые никто отдельно не платил, потому что они достались конструкции бесплатно. Левый пункт про три балла раскрою вслух: частота дыхания от двенадцати до двадцати даёт ноль, от двадцати одного до двадцати четырёх — два, двадцать пять и выше — три, и эту таблицу можно открыть руками.</a:t>
            </a:r>
          </a:p>
          <a:p>
            <a:r>
              <a:t/>
            </a:r>
          </a:p>
          <a:p>
            <a:r>
              <a:t>Теперь слабости, и назвать их надо честно, иначе разбор дальше превратится в защиту старого.</a:t>
            </a:r>
          </a:p>
          <a:p>
            <a:r>
              <a:t/>
            </a:r>
          </a:p>
          <a:p>
            <a:r>
              <a:t>Шкала медленна. Она считает по тому, что уже произошло: баллы растут тогда, когда показатели уже отклонились. Человеку, у которого развивается сепсис, к этому моменту уже несколько часов плохо, и первые часы — именно те, в которые меняется исход.</a:t>
            </a:r>
          </a:p>
          <a:p>
            <a:r>
              <a:t/>
            </a:r>
          </a:p>
          <a:p>
            <a:r>
              <a:t>Шкала груба. Один и тот же порог стоит для восьмидесятилетнего после операции на брюшной полости и для тридцатилетнего с переломом. Она не знает ни диагноза, ни анализов, ни истории прошлых госпитализаций — только шесть величин, снятых сейчас. Правый столбец поэтому и назван «в это модель и целилась»: обещание было адресным, и проверять его дальше надо по этим двум пунктам, а не по общему вопросу «лучше ли модель вообще».</a:t>
            </a:r>
          </a:p>
          <a:p>
            <a:r>
              <a:t/>
            </a:r>
          </a:p>
          <a:p>
            <a:r>
              <a:t>Обученная модель обещала закрыть ровно эти две слабости: смотреть на всё, что лежит в карте, и говорить раньше. Обещание осмысленное, и держать его в голове надо буквально. Дальше проверяется одно: закрыла ли модель эти две конкретные дыры. Вопрос «лучше ли модель вообще» на этом разборе не стоит — на него нечем ответить, и всякий, кто на него отвечает, отвечает не на него.</a:t>
            </a:r>
          </a:p>
          <a:p>
            <a:r>
              <a:t/>
            </a:r>
          </a:p>
          <a:p>
            <a:r>
              <a:t>И оговорка, которую на кадр я выносить не стал, а произнести стоит. Выходные данные действующей редакции карты здесь не названы — ни года, ни публикации профессионального общества. Редакции шкал обновляются, устаревшую опознаёт только тот, кто работает со шкалой каждый день, и ставить непроверенную ссылку на экран хуже, чем не ставить никакой. Для инженера это обычная ситуация: инструмент, с которым сравнивают, существует в нескольких редакциях одновременно, и вопрос «с какой именно редакцией сравнивали» задаётся до вопроса о качестве.</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Цена обеих ошибок называется до чисел: сначала нужны единицы, в которых эти числа потом придётся читать. На кадре два столбца, и они здесь ровно под противопоставление — иначе колонок не ставят.</a:t>
            </a:r>
          </a:p>
          <a:p>
            <a:r>
              <a:t/>
            </a:r>
          </a:p>
          <a:p>
            <a:r>
              <a:t>Пропустить ухудшение. Между моментом, когда состояние начало портиться, и моментом, когда это заметили, проходят часы. При сепсисе за эти часы меняется исход: от капельницы с антибиотиком до реанимации и органной недостаточности. Нераспознанное ухудшение состояния — одна из ведущих причин внутрибольничной смерти, и считается она не в деньгах. Точное место в ряду причин я не называю: проверяемого числа для него нет, а подставить похожее из другого разбора нельзя — это та самая склейка выборок, которую разбирают дальше как ошибку.</a:t>
            </a:r>
          </a:p>
          <a:p>
            <a:r>
              <a:t/>
            </a:r>
          </a:p>
          <a:p>
            <a:r>
              <a:t>Поднять ложную тревогу. Эта ошибка стоит дешевле, и именно поэтому её цену почти никогда не называют. А состоит она из четырёх слагаемых: анализы, назначенные «чтобы исключить»; антибиотик широкого спектра «на всякий случай» и вклад этого назначения в устойчивость возбудителя; время сестры и врача, снятое с другого пациента в той же смене; и — через сотню повторений — привычка закрывать такие оповещения не читая. Последнее слагаемое самое дорогое и самое незаметное: оно не тратится сразу, оно накапливается, и расплачиваются им в тот единственный раз, когда оповещение было настоящим.</a:t>
            </a:r>
          </a:p>
          <a:p>
            <a:r>
              <a:t/>
            </a:r>
          </a:p>
          <a:p>
            <a:r>
              <a:t>Обе ошибки платит один и тот же человек: дежурная смена. Это свойство шага, и держать его в голове стоит на весь раздел. На прежних шагах пути решения платили разные люди: лишнее обследование пациент оплачивал временем и деньгами, пропущенную находку — исходом. Здесь оба столбца сходятся в одной ночной смене, и выбор между ними делается по многу раз за ночь. Само решение стоит назвать своим именем: это эскалация — передача случая на уровень выше. Звать дежурного врача сейчас или на следующем обходе, переводить ли в реанимацию. И вот чем этот шаг отличается от постановки диагноза, которой занят прошлый раздел: диагноз ставят однажды и подписывают, а наблюдение переоценивает одно и то же состояние каждые несколько часов. Каждая переоценка — отдельная возможность пройти мимо, и ошибка здесь не случается однажды, а накапливается за смену. Это и делает стадию наблюдения особенной: тот, кто назначает порог, и тот, кто платит за порог, — разные люди, и второй о первом обычно ничего не знает. И ещё одно про того, кто платит: решение о пациенте принимает человек, который его в этот момент не видит. Дежурный врач идёт на несколько отделений и читает лист наблюдения да голос сестры в телефоне. Запись на этом шаге не бюрократия — это единственный канал, по которому состояние человека доходит до того, кто вправе назначить лечение.</a:t>
            </a:r>
          </a:p>
          <a:p>
            <a:r>
              <a:t/>
            </a:r>
          </a:p>
          <a:p>
            <a:r>
              <a:t>Снимок на кадре — экран прикроватного монитора с настоящей активной тревогой по пульсу в шапке. Съёмка велась на учебном манекене, но прибор и тревога настоящие, и подпись это называет: приписывать снимку больше доказательной силы, чем у него есть, в этой лекции нельзя дважды — один раз потому, что неправда, второй потому, что лекция про это.</a:t>
            </a:r>
          </a:p>
          <a:p>
            <a:r>
              <a:t/>
            </a:r>
          </a:p>
          <a:p>
            <a:r>
              <a:t>Вопрос, который стоит задать себе до всяких чисел, и задать его надо вслух, залу: какую долю автоматических оповещений вы в своём рабочем контуре закрываете не читая. Ответ на него и есть база, с которой дальше сравниваются измеренные доли подтверждения. Прямого медицинского опыта у инженера нет, а контур с автоматическими оповещениями есть почти у каждого — сборка упала, тест мигнул, монитор написал в чат. Ответ «почти все» звучит чаще, чем хотелось бы, и звучит он от людей, которые этот контур сами и настраивали.</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Второй шаг разбора — оба классических режима, посчитанные в той же цене, в которой потом считается модель. Этот шаг пропускают чаще всего: модель сравнивают с нулём или с ощущением, что раньше было плохо. Здесь числа есть, и единица у них одна — доля подтверждения: из ста поднятых тревог сколько оказались тревогами о том, что действительно происходило.</a:t>
            </a:r>
          </a:p>
          <a:p>
            <a:r>
              <a:t/>
            </a:r>
          </a:p>
          <a:p>
            <a:r>
              <a:t>Заменяемый режим — балльная шкала раннего предупреждения. Сравнение шкал на поиске сепсиса в общем отделении разбирает 45 776 пациентов общего профиля; сепсис в этой выборке у 3,3 из ста — 1 496 случаев. Чувствительность шкалы 0,758, специфичность 0,711, доля подтверждения — восемь тревог из ста. Прочитаем это медленно: инструмент, который стоит в стационарах десятилетиями и чьи веса опубликованы, подтверждается восемью случаями из ста поднятых тревог. Девяносто две тревоги из ста — работа, проделанная впустую, и она была частью цены ещё до всякого машинного обучения. Две другие шкалы того же разбора, на той же выборке, подтверждаются двенадцатью и восемнадцатью из ста.</a:t>
            </a:r>
          </a:p>
          <a:p>
            <a:r>
              <a:t/>
            </a:r>
          </a:p>
          <a:p>
            <a:r>
              <a:t>Режим-сосед — пороговая тревога прибора у постели. Из 12 671 размеченной вручную тревоги аритмии ложных 88,8 из ста; объём — от ста пятидесяти до четырёхсот тревог за смену на одного пациента, к вмешательству ведут от пяти до тринадцати из ста. Обученной модели в приборе нет вовсе: там порог, выставленный рукой. Поэтому прибор стоит соседом, а не заменяемым режимом — порог на мониторе и балльная шкала решают разные задачи, и доли их не складываются; плашки на кадре стоят рядом, но сложить их в одно число нельзя, и это первое, что я скажу, если из зала попробуют сложить.</a:t>
            </a:r>
          </a:p>
          <a:p>
            <a:r>
              <a:t/>
            </a:r>
          </a:p>
          <a:p>
            <a:r>
              <a:t>Ценность числа прибора в другом: поток ложных тревог существовал в палате до обученных моделей, и персонал научился его фильтровать задолго до них. То есть привычка закрывать оповещение не читая — не побочный эффект моделей, а то, что модели застали на месте и усилили. Рядом стоит число, которое к работе персонала относится прямо: девяносто один процент сестёр сообщают, что шум тревог мешает работе.</a:t>
            </a:r>
          </a:p>
          <a:p>
            <a:r>
              <a:t/>
            </a:r>
          </a:p>
          <a:p>
            <a:r>
              <a:t>И есть третий режим, который легко принять за второй, — его я называю затем, чтобы вы не приняли чужие числа за наши. Отклонение лекарственных тревог в системах поддержки решений измерено сводным обзором: средняя доля отклонения девяносто из ста при разбросе по отдельным работам от пятидесяти пяти до девяноста восьми; в десятицентровом исследовании отклонены 95,7 процента из 16 011 тревог; а из отклонённых тревог высокой приоритетности только 45,4 процента признаны потом клинически обоснованными. Это тревоги о взаимодействии препаратов, построенные на правилах, и к задаче «заметить, что человеку стало хуже», они не относятся вовсе. Называю их потому, что в пересказах их склеивают с числами модели сепсиса, и склейка даёт утверждение, которого не измерял никто.</a:t>
            </a:r>
          </a:p>
          <a:p>
            <a:r>
              <a:t/>
            </a:r>
          </a:p>
          <a:p>
            <a:r>
              <a:t>И последнее по этому кадру, честно: работы, где шкала и обученная модель измерены на одном населении, при сборе материала найти не удалось. Если такая появится, она заменит собой обе строки сравнения — а пока сравнение держится на порядке величины и ни на чём больше.</a:t>
            </a:r>
          </a:p>
          <a:p>
            <a:r>
              <a:t/>
            </a:r>
          </a:p>
          <a:p>
            <a:r>
              <a:t>И оговорка, без которой сравнение дальше не читается: шкалы измерены там, где сепсис встречается у 3,3 из ста, а модель — там, где у 6,6 из ста. Доля подтверждения прямо зависит от распространённости, поэтому сравнивается порядок величины, а не превосходство. К этой оговорке мы вернёмся через два кадра арифметикой — там видно, как одна и та же модель даёт разную долю подтверждения на двух потоках.</a:t>
            </a:r>
          </a:p>
          <a:p>
            <a:r>
              <a:t/>
            </a:r>
          </a:p>
          <a:p>
            <a:r>
              <a:t>**Источники.** </a:t>
            </a:r>
            <a:r>
              <a:rPr u="sng">
                <a:solidFill>
                  <a:srgbClr val="065A82"/>
                </a:solidFill>
                <a:hlinkClick r:id="rId3"/>
              </a:rPr>
              <a:t>сравнение балльных шкал, JAMIA Open 2021, DOI 10.1093/jamiaopen/ooab062, PMID 34820600</a:t>
            </a:r>
            <a:r>
              <a:t> · </a:t>
            </a:r>
            <a:r>
              <a:rPr u="sng">
                <a:solidFill>
                  <a:srgbClr val="065A82"/>
                </a:solidFill>
                <a:hlinkClick r:id="rId4"/>
              </a:rPr>
              <a:t>Drew B. J. и соавт., PLoS One 2014;9(10):e110274, DOI 10.1371/journal.pone.0110274, PMID 25338067</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Постановка задачи в одну фразу: обученная модель непрерывно считает балл риска сепсиса по данным медицинской карты и, когда балл переходит порог, прерывает работу врача тревогой с готовым набором назначений — обследование и лечение в один щелчок.</a:t>
            </a:r>
          </a:p>
          <a:p>
            <a:r>
              <a:t/>
            </a:r>
          </a:p>
          <a:p>
            <a:r>
              <a:t>Что заявлял разработчик. По первой версии — от 0,76 до 0,83 на уровне госпитализации, так разработчик сообщал его сам; по второй — от 0,83 до 0,86 по трём своим площадкам, и это заявление напечатано внутри рецензируемой работы. Уже здесь полезный факт: заявленное качество закрытой модели бывает множественным и меняется от версии к версии. То, что верхняя граница первой заявки и нижняя граница второй совпали, — совпадение: одной полосы «от 0,76 до 0,86» из них не складывается, и если вы увидите такую полосу в обзоре, вы увидите склейку двух заявлений о двух разных изделиях. Здесь же — то, что мы с этого кадра сняли сами: прежняя редакция называла ещё и 0,73 как раннее заявление разработчика. Документа с этим числом не нашлось ни по одному открытому пути, и число больше не произносится. Говорю об этом вслух, потому что правило лекции — не утверждать выше своего разряда — обязано применяться и к её собственным числам.</a:t>
            </a:r>
          </a:p>
          <a:p>
            <a:r>
              <a:t/>
            </a:r>
          </a:p>
          <a:p>
            <a:r>
              <a:t>Что измерила независимая внешняя проверка. Ретроспективная когорта одной университетской системы: 38 455 госпитализаций 27 697 пациентов, сепсис у 2 552 из них — это 6,6 из ста. Качество различения 0,63 против заявленных 0,76–0,83. При выбранном пороге чувствительность 33 из ста, специфичность 83 из ста, подтверждается 12 тревог из ста поднятых. Модель не выявила 1 709 случаев из 2 552 — две трети. А из пациентов, которых пропустил живой клиницист, поймала 7 из ста: почти не ловила именно те случаи, где была бы полезна сверх человека. Это последнее число — самое важное в разборе и самое редко произносимое: инструмент оценивают по тому, что он добавляет к человеку, а не по тому, что он повторяет за ним. Период когорты — с декабря 2018 по октябрь 2019. Разряд свидетельства назову сразу: рецензированная внешняя проверка на большой когорте одной системы, и она воспроизвелась — независимая вторая проверка идёт через кадр.</a:t>
            </a:r>
          </a:p>
          <a:p>
            <a:r>
              <a:t/>
            </a:r>
          </a:p>
          <a:p>
            <a:r>
              <a:t>Разницу между 0,63 и 0,76 легко прочитать как «чуть хуже заявленного» — мелочь в третьем знаке. На деле между этими величинами лежит разница в пригодности. 0,76 — инструмент, на который можно опереться при настройке порога; 0,63 — инструмент, у которого при любом пороге либо чувствительность, либо поток тревог оказывается неприемлемым. Отсюда вывод, переносимый на любую отрасль: качество модели есть свойство пары «модель и население», а не свойство модели.</a:t>
            </a:r>
          </a:p>
          <a:p>
            <a:r>
              <a:t/>
            </a:r>
          </a:p>
          <a:p>
            <a:r>
              <a:t>Класс модели стоит произнести вслух: штрафованная логистическая регрессия, простейшая из обучаемых конструкций, никакой глубокой сети. Это делает случай сильнее, а не слабее: цена заплачена за постановку задачи и за поток тревог, и сложность устройства тут ни при чём. Инженеру отсюда следует неприятное: выбор архитектуры — не то место, где решается судьба внедрения. И проверку «уберите модель» этот случай проходит, в отличие от чат-бота из первого раздела: уберите её — останутся балльные шкалы, где веса выписала согласительная комиссия, и потока тревог, о котором идёт весь разбор, не возникнет вовсе. Значит изменение вызвано именно обученной моделью, и разбор засчитывается.</a:t>
            </a:r>
          </a:p>
          <a:p>
            <a:r>
              <a:t/>
            </a:r>
          </a:p>
          <a:p>
            <a:r>
              <a:t>Изделие называется своим именем: модель сепсиса, встроенная в медицинскую информационную систему Epic. Вход — показатели и записи, которые уже лежат в карте, читаемые непрерывно; выход — балл риска и прерывающая тревога с набором назначений в один щелчок. Обучена она на данных пациентов — так пишет разработчик; объём обучающей выборки он построчно не подтверждает, и поэтому числа обучающей выборки на кадре нет.</a:t>
            </a:r>
          </a:p>
          <a:p>
            <a:r>
              <a:t/>
            </a:r>
          </a:p>
          <a:p>
            <a:r>
              <a:t>**Источники.** </a:t>
            </a:r>
            <a:r>
              <a:rPr u="sng">
                <a:solidFill>
                  <a:srgbClr val="065A82"/>
                </a:solidFill>
                <a:hlinkClick r:id="rId3"/>
              </a:rPr>
              <a:t>Wong, Otles и соавт., JAMA Internal Medicine 2021, DOI 10.1001/jamainternmed.2021.2626</a:t>
            </a:r>
            <a:r>
              <a:t> · </a:t>
            </a:r>
            <a:r>
              <a:rPr u="sng">
                <a:solidFill>
                  <a:srgbClr val="065A82"/>
                </a:solidFill>
                <a:hlinkClick r:id="rId4"/>
              </a:rPr>
              <a:t>проспективная многоцентровая проверка, JAMA Network Open 2026</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Проверим измеренные числа арифметикой — проверка занимает две минуты, и считать её я буду вслух, по схеме на кадре.</a:t>
            </a:r>
          </a:p>
          <a:p>
            <a:r>
              <a:t/>
            </a:r>
          </a:p>
          <a:p>
            <a:r>
              <a:t>Возьмём тысячу госпитализаций в той системе, где модель измеряли. Сепсис там у 6,6 из ста, значит случаев 66, а остальных 934. Чувствительность 33 из ста даёт из этих 66 двадцать два пойманных. Специфичность 83 из ста означает, что из 934 человек без сепсиса модель ошибочно отметит 17 из ста — это 159 тревог. Складываем: 22 и 159 — около 181 тревоги на тысячу госпитализаций, то есть 18 из ста. Ровно столько и измерено: 6 971 тревога на 38 455 госпитализаций. Делим пойманных на все тревоги: 22 из 181 — это 12 из ста, та самая доля подтверждения. Обратная величина, 181 на 22, и есть восемь тревог на одно подтверждение.</a:t>
            </a:r>
          </a:p>
          <a:p>
            <a:r>
              <a:t/>
            </a:r>
          </a:p>
          <a:p>
            <a:r>
              <a:t>Зачем этот счёт нужен инженеру отдельно от публикации. Все четыре числа — чувствительность, специфичность, распространённость и доля подтверждения — связаны арифметикой на четыре действия. Значит, получив от поставщика любые три, четвёртое вы считаете сами, а не спрашиваете. И наоборот: если четыре названных числа не сходятся, сходиться они и не должны — где-то знаменатель другой.</a:t>
            </a:r>
          </a:p>
          <a:p>
            <a:r>
              <a:t/>
            </a:r>
          </a:p>
          <a:p>
            <a:r>
              <a:t>Переведём это на сотню госпитализаций. Тревога приходит на 18 из ста, подтверждаются около двух. Рядом надо держать третье число: сепсис в этой системе развивается у шести-семи пациентов из ста, и модель находит из них двоих — остальные остаются ненайденными. Два знаменателя разные, и путать их нельзя: 18 — доля госпитализаций, на которые пришла тревога, 12 — доля поднятых тревог, которые подтвердились. Это и есть самая частая ошибка чтения такой таблицы, и делают её не из небрежности: оба числа называются «долей», и оба записываются «из ста». Заодно отвергну пересказ, который встретится вам первым: «каждая шестая госпитализация». Он занижает измеренное — 16,7 против 18,1, — и мы им не пользуемся.</a:t>
            </a:r>
          </a:p>
          <a:p>
            <a:r>
              <a:t/>
            </a:r>
          </a:p>
          <a:p>
            <a:r>
              <a:t>Про саму восьмёрку надо сказать одно, иначе покажется, что в счёте ошибка. В первой публикации на этом месте стояло пятнадцать; значение отозвано эрратой того же журнала, и здесь используется исправленное. Пресса до сих пор печатает пятнадцать и в поиске стоит выше эрраты — то есть отозванное число живёт дольше исправления, и проверять приходится не величину, а то, читал ли пересказчик эрратy.</a:t>
            </a:r>
          </a:p>
          <a:p>
            <a:r>
              <a:t/>
            </a:r>
          </a:p>
          <a:p>
            <a:r>
              <a:t>Та же модель в общем отделении, где сепсис у 3,3 из ста, даёт около 175 тревог на тысячу, подтверждение падает до 6 из ста, а на одно подтверждение приходится шестнадцать разборов. Доля подтверждения не переносится вместе с моделью: её пересчитывают под распространённость своего потока, той же арифметикой на четыре действия, до закупки. Поэтому шкалу с её восемью тревогами из ста, измеренную там, где сепсис вдвое реже, и модель с её двенадцатью сравнивают по порядку величины, а не по превосходству.</a:t>
            </a:r>
          </a:p>
          <a:p>
            <a:r>
              <a:t/>
            </a:r>
          </a:p>
          <a:p>
            <a:r>
              <a:t>И отдельно — число, которое нельзя называть рядом с восьмёркой без его рамки. Если переоценивать пациента при каждом превышении порога, а не только при первом, и вдобавок требовать предупреждения за четыре часа до клинического распознавания, разобрать придётся сто девять тревог на одно подтверждение. Восемь и сто девять различаются двумя решениями сразу: сколько тревог на пациента вы считаете и какой горизонт требуете. Приписать весь рост одному горизонту нельзя — и в разделе, который учит разделять решения и их цену, такая склейка дороже прочих.</a:t>
            </a:r>
          </a:p>
          <a:p>
            <a:r>
              <a:t/>
            </a:r>
          </a:p>
          <a:p>
            <a:r>
              <a:t>И следствие для человека у постели, которое я проговорю прямо, потому что иначе разбор звучит как упрёк врачу. Врач, который начинает пролистывать такой поток не читая, действует статистически разумно: из восьми тревог семь окажутся пустыми, а времени на восемь разборов у него нет. Ровно эта разумная адаптация и создаёт риск пропустить восьмую. Склонность доверять автомату — одна половина проблемы; вторая половина — обученная привычка автомату не верить, и она возникает из измеримых свойств потока, а не из характера человека.</a:t>
            </a:r>
          </a:p>
          <a:p>
            <a:r>
              <a:t/>
            </a:r>
          </a:p>
          <a:p>
            <a:r>
              <a:t>**Источники.** </a:t>
            </a:r>
            <a:r>
              <a:rPr u="sng">
                <a:solidFill>
                  <a:srgbClr val="065A82"/>
                </a:solidFill>
                <a:hlinkClick r:id="rId3"/>
              </a:rPr>
              <a:t>Wong, Otles и соавт., JAMA Internal Medicine 2021, DOI 10.1001/jamainternmed.2021.2626</a:t>
            </a:r>
            <a:r>
              <a:t> · </a:t>
            </a:r>
            <a:r>
              <a:rPr u="sng">
                <a:solidFill>
                  <a:srgbClr val="065A82"/>
                </a:solidFill>
                <a:hlinkClick r:id="rId4"/>
              </a:rPr>
              <a:t>сравнение балльных шкал, JAMIA Open 2021</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Один провал — это один провал; два независимых повторения — другой разряд свидетельства, и поэтому вторая проверка разбирается отдельно.</a:t>
            </a:r>
          </a:p>
          <a:p>
            <a:r>
              <a:t/>
            </a:r>
          </a:p>
          <a:p>
            <a:r>
              <a:t>Через три года другая группа авторов проверила ту же модель в приёмных отделениях двух округов: 145 885 обращений, данные 2023 года, окно предсказания шесть часов. Чувствительность 14,7 из ста, специфичность 95,3. Тревога срабатывала на 4,9 обращения из ста — 7 183 из 145 885; до «пяти из ста» здесь не округляют по тому же правилу, по которому отвергнут пересказ «каждая шестая госпитализация».</a:t>
            </a:r>
          </a:p>
          <a:p>
            <a:r>
              <a:t/>
            </a:r>
          </a:p>
          <a:p>
            <a:r>
              <a:t>Медианное опережение клинического решения — ноль минут, причём восемьдесят процентов случаев укладываются в полосу от шести часов сорока двух минут раньше врача до двенадцати часов позже: модель с равной вероятностью приходит задолго до человека и много позже него. Примерно в половине случаев врачи вели сепсис уже до прихода тревоги. Вывод авторов в их собственной формулировке: добавляет мало к тому, что врачи и так делают. Эту фразу я прочту дословно — она стоит на кадре в кавычках именно потому, что пересказывать её своими словами означало бы её смягчить.</a:t>
            </a:r>
          </a:p>
          <a:p>
            <a:r>
              <a:t/>
            </a:r>
          </a:p>
          <a:p>
            <a:r>
              <a:t>Нулевое опережение — свойство другого рода, чем низкая точность, и механика его видна без всякой статистики. Модель считает по тому, что попало в карту, а в карту данные попадают после того, как врач их запросил. Если анализ заказан потому, что сепсис уже подозревают, его результат поднимет балл после возникшего подозрения. Опережение в такой схеме уходит в ноль по устройству, и никакая донастройка весов этого не меняет. Это переносимое наблюдение, и переносится оно широко: всякий раз, когда признак модели появляется как следствие решения человека, модель будет предсказывать это решение, а не опережать его. В промышленности то же самое — модель, обученная на заявках в ремонт, предсказывает заявки, а не отказы.</a:t>
            </a:r>
          </a:p>
          <a:p>
            <a:r>
              <a:t/>
            </a:r>
          </a:p>
          <a:p>
            <a:r>
              <a:t>И почему бесполезная тревога здесь не нейтральна, а вредна. На шаге наблюдения внимание и есть прибор, которым узнают об ухудшении: другого прибора у дежурной смены нет. Расходовать его на поток, подтверждающийся один раз из восьми, — это то же самое, что сбивать настройку прибора.</a:t>
            </a:r>
          </a:p>
          <a:p>
            <a:r>
              <a:t/>
            </a:r>
          </a:p>
          <a:p>
            <a:r>
              <a:t>Действующую версию проверили отдельно, проспективно и в нескольких центрах: 227 091 госпитализация в четырёх системах здравоохранения, сепсис у 3,3 из ста — 7 401 случай. Различение выросло до полосы от 0,82 до 0,92 в зависимости от учреждения. А доля подтверждения осталась низкой, от 0,13 до 0,26, то есть от четырёх до восьми тревог на одно подтверждение. Различение улучшилось, статья расхода уцелела — и разброс между четырьмя системами говорит то же, что и первая проверка: качество есть свойство пары «модель и население». Назвать это надо вслух, иначе разбор прозвучит как рассказ про старую плохую версию: версия новая, проверка проспективная, расход на месте.</a:t>
            </a:r>
          </a:p>
          <a:p>
            <a:r>
              <a:t/>
            </a:r>
          </a:p>
          <a:p>
            <a:r>
              <a:t>Разряд свидетельства у этого разбора стоит назвать целиком, потому что он здесь выше обычного: две рецензированные внешние проверки, независимые авторские коллективы, разные типы учреждений — стационар общего профиля и приёмное отделение, — разница в три года и согласующееся направление результата. Это сильнее любого единичного исследования, которое лекция разбирает в других разделах, и такого разряда добиваются годами.</a:t>
            </a:r>
          </a:p>
          <a:p>
            <a:r>
              <a:t/>
            </a:r>
          </a:p>
          <a:p>
            <a:r>
              <a:t>И честно о расхождении, которое осталось неразрешённым. Доля подтверждений во второй проверке при пересчёте из приведённых чисел срабатываний даёт величину, отличную от заявленной в тексте работы; вероятная причина — разные определения знаменателя. Расхождение не разрешено, поэтому это число я не использую: разбор держится на чувствительности и на нулевом опережении, которые согласованы.</a:t>
            </a:r>
          </a:p>
          <a:p>
            <a:r>
              <a:t/>
            </a:r>
          </a:p>
          <a:p>
            <a:r>
              <a:t>**Источники.** Второй из них — проспективная проверка действующей версии. </a:t>
            </a:r>
            <a:r>
              <a:rPr u="sng">
                <a:solidFill>
                  <a:srgbClr val="065A82"/>
                </a:solidFill>
                <a:hlinkClick r:id="rId3"/>
              </a:rPr>
              <a:t>Ostermayer и соавт., JAMIA Open 2024, DOI 10.1093/jamiaopen/ooae133, PMID 39545248</a:t>
            </a:r>
            <a:r>
              <a:t> · </a:t>
            </a:r>
            <a:r>
              <a:rPr u="sng">
                <a:solidFill>
                  <a:srgbClr val="065A82"/>
                </a:solidFill>
                <a:hlinkClick r:id="rId4"/>
              </a:rPr>
              <a:t>проспективная многоцентровая проверка, JAMA Network Open 2026</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Четвёртый шаг разбора — назвать, что переехало.</a:t>
            </a:r>
          </a:p>
          <a:p>
            <a:r>
              <a:t/>
            </a:r>
          </a:p>
          <a:p>
            <a:r>
              <a:t>Дало. Раннее оповещение существует и работает без участия человека: круглосуточно, по всем пациентам сразу, по данным, которые уже лежат в карте в машинном виде. Это настоящий выигрыш, и специалист его возьмёт — ни одна балльная шкала не пересчитывается по всей больнице каждые пятнадцать минут.</a:t>
            </a:r>
          </a:p>
          <a:p>
            <a:r>
              <a:t/>
            </a:r>
          </a:p>
          <a:p>
            <a:r>
              <a:t>Потребовало. Разбор и отклонение тревоги стали отдельной статьёй рабочего времени, которой до внедрения не существовало; в отдельных больницах у этого шага появился штат. Плюс проверка доли подтверждения на своём населении до включения, правила тишины, порог под местную распространённость и наблюдение за тем, не поплыло ли распределение входов.</a:t>
            </a:r>
          </a:p>
          <a:p>
            <a:r>
              <a:t/>
            </a:r>
          </a:p>
          <a:p>
            <a:r>
              <a:t>В сумме. Внимание расходуется там же, где и раньше — у постели, в ту же дежурную смену, — и расходуется его больше. Схема на кадре показывает это двумя строками: верхняя — три шага до модели, нижняя — три шага после, и третий шаг нижней строки не имеет пары в верхней.</a:t>
            </a:r>
          </a:p>
          <a:p>
            <a:r>
              <a:t/>
            </a:r>
          </a:p>
          <a:p>
            <a:r>
              <a:t>Форма «нагрузка выросла на том же месте» подходит здесь буквально: место то же, рука та же, вырос объём чтения и отклонения. Форма именно четвёртая, а не первая, и различение тут несущее: работа не уехала в другое место и не досталась другой руке, поэтому «нагрузка переехала на другой шаг» к этому случаю не подходит. Форма «шаг появился» — про разбор тревоги: эскалация по шкале либо происходила, либо нет, и операции «прочитать машинную тревогу, оценить правдоподобие и закрыть» в классическом контуре не было вовсе. А формы «исполнитель тот же, но стал хуже» в этом разделе нет, и это проверено: качество работы дежурной смены до внедрения и после него никто не измерял, а выдумать такое измерение нельзя так же, как выдумать число.</a:t>
            </a:r>
          </a:p>
          <a:p>
            <a:r>
              <a:t/>
            </a:r>
          </a:p>
          <a:p>
            <a:r>
              <a:t>И одна форма, которой нет у классического режима, — её отсутствие я тоже назову. У счёта тревог монитора формы нет вовсе: обученной модели там не было, и работе не от чего было перестраиваться. Говорю это прямо, чтобы форма не приписалась случаю ради симметрии: у словаря девяти форм нет обязанности находить себе строку в каждом разборе.</a:t>
            </a:r>
          </a:p>
          <a:p>
            <a:r>
              <a:t/>
            </a:r>
          </a:p>
          <a:p>
            <a:r>
              <a:t>Та же постановка перенесена на детей, и разбор опубликован; числа из него не приводятся — полный текст закрыт, а краткое изложение для числа слабое основание. Называю это вслух, потому что отсутствие числа здесь — решение, а не пробел: пересказ есть, и взять число из пересказа было бы ровно той ошибкой, которую лекция разбирает в другом разделе.</a:t>
            </a:r>
          </a:p>
          <a:p>
            <a:r>
              <a:t/>
            </a:r>
          </a:p>
          <a:p>
            <a:r>
              <a:t>И последнее число, которое читается только с базой; оно стоит на кадре парой, и пару эту надо произнести целиком. Суточный поток тревог в двадцати четырёх больницах за время вирусной эпидемии вырос с 953 до 1 363 — на сорок три процента. Само по себе это число ничего не значит: больных стало больше, тревог стало больше. Но загрузка за тот же период упала с 10 159 до 6 634 пациентов, то есть на треть. Значит на каждого пациента тревог стало не на сорок три процента больше, а вдвое с лишним: доля пациентов с тревогой выросла с 9 до 21 из ста.</a:t>
            </a:r>
          </a:p>
          <a:p>
            <a:r>
              <a:t/>
            </a:r>
          </a:p>
          <a:p>
            <a:r>
              <a:t>Вот это и есть то, что произошло: распределение входов сдвинулось — другие пациенты, другая болезнь, — а порог остался на месте, потому что порог никто не пересчитывал. Модель не сломалась и не переобучилась; она продолжала считать то же, что считала всегда, на изменившемся потоке. Переносимое для инженера: в момент, когда поток меняется сильнее всего, инструмент врёт больше всего, и именно в этот момент у организации меньше всего рук на пересчёт порога.</a:t>
            </a:r>
          </a:p>
          <a:p>
            <a:r>
              <a:t/>
            </a:r>
          </a:p>
          <a:p>
            <a:r>
              <a:t>**Источники.** </a:t>
            </a:r>
            <a:r>
              <a:rPr u="sng">
                <a:solidFill>
                  <a:srgbClr val="065A82"/>
                </a:solidFill>
                <a:hlinkClick r:id="rId3"/>
              </a:rPr>
              <a:t>Wong и соавт., JAMA Network Open 2021, объём тревог, DOI 10.1001/jamanetworkopen.2021.35286</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Соберём стадию по четырём вопросам, которые задаются на каждой. Числа стоят на разборе, откуда эти обобщения взяты. Тип задачи назову здесь: это прогноз на структурированных данных — на входе показатели и записи из карты, на выходе балл риска и прерывающая тревога. В этом разряде сортировка внимания работает, а решение «вмешиваться сейчас» остаётся за человеком и машине не передаётся.</a:t>
            </a:r>
          </a:p>
          <a:p>
            <a:r>
              <a:t/>
            </a:r>
          </a:p>
          <a:p>
            <a:r>
              <a:t>Что получается. Выигрыш один и настоящий: балл считается непрерывно и по всей больнице сразу, по данным, которые уже лежат в карте в машинном виде. Ни одна балльная шкала не пересчитывается каждые пятнадцать минут. К этому добавляются два измеренных факта: доля подтверждения модели — двенадцать из ста — лежит в той же полосе, что у заменённой шкалы с её восемью и у соседней с её восемнадцатью; различение действующей версии выросло до полосы от нуля целых восьмидесяти двух сотых до нуля целых девяноста двух сотых по четырём системам здравоохранения.</a:t>
            </a:r>
          </a:p>
          <a:p>
            <a:r>
              <a:t/>
            </a:r>
          </a:p>
          <a:p>
            <a:r>
              <a:t>Что не получается. Три границы, и ни одна не про качество обучения — это и есть самое полезное в разделе. Порог модель себе не назначает: его назначает организация под своё население, и назначает заново при всяком изменении потока. Опередить решение врача она не может там, где данные попадают в карту после этого решения, — медианное опережение ноль минут. И замолчать при сдвинувшейся картине населения она не умеет: поток вырос с девятисот пятидесяти трёх до тысячи трёхсот шестидесяти трёх тревог в сутки при упавшей загрузке.</a:t>
            </a:r>
          </a:p>
          <a:p>
            <a:r>
              <a:t/>
            </a:r>
          </a:p>
          <a:p>
            <a:r>
              <a:t>Что стало с работой. Две формы, названные по словарю. Нагрузка выросла на том же месте: та же смена у той же постели, рука та же, вырос объём чтения и отклонения. Появился шаг — разбор и отклонение тревоги, у которого в отдельных больницах есть штат. Третья клетка пустая, и сказано это прямо: формы «исполнитель тот же, но стал хуже» в этом разделе нет, потому что качества работы дежурной смены до внедрения и после него никто не измерял. Выдумывать это измерение нельзя так же, как выдумывать число, и эту пустую клетку я оставляю на кадре, а не убираю ради симметрии трёх форм. Сама форма при этом в лекции не пустует — она принадлежит разделу о профессиональной квалификации, где измерена; здесь её просто нечем подтвердить.</a:t>
            </a:r>
          </a:p>
          <a:p>
            <a:r>
              <a:t/>
            </a:r>
          </a:p>
          <a:p>
            <a:r>
              <a:t>Что это держит. Проверка доли подтверждения на своём потоке до включения; назначенный разбор потока, посчитанный рабочим временем; правила тишины и порог под местную распространённость. Три процедуры, и каждая кем-то назначена и подписана — то есть держит нагрузку не свойство модели, а чужая работа, записанная в документе. Куда движется принятие, скажу одной фразой, потому что это отвечает на вопрос «а что делать»: от модели поставщика из коробки — к модели, донастроенной и перепроверенной на своём населении, плюс управление самим потоком: правила тишины, порог под местную распространённость, назначенный разбор остатка. Отдельным рынком идут надзор за дрейфом распределения и пересчёт порога.</a:t>
            </a:r>
          </a:p>
          <a:p>
            <a:r>
              <a:t/>
            </a:r>
          </a:p>
          <a:p>
            <a:r>
              <a:t>Заголовок кадра — вывод всего раздела, и прочитать его стоит дословно. Тревога без названной базы не предупреждает: она сообщает о срабатывании порога и молчит о том, что произошло с пациентом. Между этими двумя сообщениями лежит вся разница, и она не видна тому, кто читает поток тревог как показатель работы.</a:t>
            </a:r>
          </a:p>
          <a:p>
            <a:r>
              <a:t/>
            </a:r>
          </a:p>
          <a:p>
            <a:r>
              <a:t>Что уходит дальше: тревогу закрыли, запись об этом решении осталась, и читает её тот, кто пациента не видел вовсе. Это и есть мост к следующему разделу.</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Наблюдение искало ухудшение в цифрах; эта работа устроена иначе. Решение по ней принимает не прибор и не дежурная смена, а человек, который читает документ позже, иногда через месяцы, и не видел пациента лично. Качество записи для него — не стиль, а единственный канал, через который к нему попадает чужое решение.</a:t>
            </a:r>
          </a:p>
          <a:p>
            <a:r>
              <a:t/>
            </a:r>
          </a:p>
          <a:p>
            <a:r>
              <a:t>Классических режимов этой работы четыре: врач набирает текст руками сразу после приёма; переносит прежнюю запись в новую, правя изменившееся; диктует живому писцу; либо правит черновик ординатора под свою подпись. Посчитаны из четырёх два, и в разных единицах — письмо врача в минутах на заметку, перенос в доле текста карты; у живого писца и у черновика ординатора числа в наших работах нет, и причина у каждого названа на месте. Модель входит в неё с двух сторон. Первая — запись самого приёма: инструмент слушает разговор и отдаёт черновик заметки, врач вычитывает и подписывает. Вторая — запись исхода госпитализации целиком: модель собирает выписной документ по истории болезни, врач снова вычитывает и подписывает, и дальше по этому документу назначают лечение в другом месте.</a:t>
            </a:r>
          </a:p>
          <a:p>
            <a:r>
              <a:t/>
            </a:r>
          </a:p>
          <a:p>
            <a:r>
              <a:t>Оба разбора держатся одной и той же формой. Классический режим посчитан отдельно от заявленного эффекта модели; измеренный эффект — рандомизированным испытанием или слепым сравнением, а не самоотчётом тех, кто сам выбрал инструмент; и у каждого названа пара — что стало возможно и чего это потребовало.</a:t>
            </a:r>
          </a:p>
          <a:p>
            <a:r>
              <a:t/>
            </a:r>
          </a:p>
          <a:p>
            <a:r>
              <a:t>Разбор записи приёма показывает, как заявленная экономия времени и измеренный результат — две разные величины, посчитанные в разных единицах. Разбор выписного эпикриза идёт дальше: счёт ошибок у модели и у человека сопоставим, но устройство ошибки другое — не опечатка, а правдоподобно звучащая подробность, которой не было в истории. Прежний навык вычитки «как после коллеги» на этот документ не переносится.</a:t>
            </a:r>
          </a:p>
          <a:p>
            <a:r>
              <a:t/>
            </a:r>
          </a:p>
          <a:p>
            <a:r>
              <a:t>Раздел заканчивается документом, а документ в медицине почти всегда стоит под чьей-то подписью. Это и есть мост к следующему разделу: чем вообще удерживают цену ошибки, если решение уже принято и записано.</a:t>
            </a:r>
          </a:p>
          <a:p>
            <a:r>
              <a:t/>
            </a:r>
          </a:p>
          <a:p>
            <a:r>
              <a:t>Скажу сразу, чем этот раздел устроен иначе предыдущего. На наблюдении предмет был числовой: дорожка величин, балл, порог. Здесь предмет — текст, и проверить его нечем, кроме чтения. У балла есть порог, у записи порога нет: нельзя сказать «эта запись на семьдесят процентов полная» и принять решение по этому числу.</a:t>
            </a:r>
          </a:p>
          <a:p>
            <a:r>
              <a:t/>
            </a:r>
          </a:p>
          <a:p>
            <a:r>
              <a:t>Два читателя этого раздела разные, и цена ошибки у них разная. Запись приёма читают сам пациент и следующий врач — ошибка стоит повторного обследования или неверного продолжения лечения. Выписной эпикриз читают участковый врач, следующий стационар и страховщик — ошибка стоит назначения в другом учреждении, где спросить автора уже не у кого. Поэтому в разделе два разбора, а не один: один инструмент, две стадии, две разные цены.</a:t>
            </a:r>
          </a:p>
          <a:p>
            <a:r>
              <a:t/>
            </a:r>
          </a:p>
          <a:p>
            <a:r>
              <a:t>И одно свойство, которое надо держать в голове весь раздел, потому что оно объясняет обе цены. Пропуск в записи и отсутствие события выглядят для читателя одинаково. Если в документе не написано, что пациенту давали препарат, читатель не может отличить «не давали» от «дали и не записали». Никакая внимательность чтения этого не исправляет: различения просто нет в документе. Из этого следует вещь, неочевидная для инженера: полнота записи здесь важнее её краткости, и всякий инструмент, который делает документ короче, надо проверять именно на этом.</a:t>
            </a:r>
          </a:p>
          <a:p>
            <a:r>
              <a:t/>
            </a:r>
          </a:p>
          <a:p>
            <a:r>
              <a:t>Последнее про порядок двух разборов. Запись приёма идёт первой потому, что на ней есть настоящая рандомизация — самый сильный разряд свидетельства во всей лекции, и начинать стадию стоит с него. Выписной эпикриз идёт вторым потому, что он тяжелее: по нему назначают в другом учреждении, и устройство ошибки там другое — не опечатка, а правдоподобно звучащая подробность, которой в истории болезни не было. Прежний навык вычитки «как после коллеги» на такой документ не переносится, и это и будет главной находкой раздела.</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Предыдущая стадия оставила после себя дорожку измерений, тревоги и то, что по ним сделали. Дальше работает уже не дорожка, а документ — и ведение медицинской документации поэтому отдельная работа врача, с отдельной формой, своими сроками и своей ответственностью за содержание. Заполненная карта служит сразу тремя вещами: источником сведений для следующего врача, предметом экспертизы качества помощи и основным доказательством при разборе случая.</a:t>
            </a:r>
          </a:p>
          <a:p>
            <a:r>
              <a:t/>
            </a:r>
          </a:p>
          <a:p>
            <a:r>
              <a:t>Данные этой стадии — всё, что собрали стадии до неё, положенное в текст. Жалобы и анамнез с приёма, найденное при осмотре, числа исследований, сформулированный диагноз, назначение, дорожка повторных измерений. Своего измерения стадия не добавляет ни одного; она переводит собранное в форму, которую можно передать.</a:t>
            </a:r>
          </a:p>
          <a:p>
            <a:r>
              <a:t/>
            </a:r>
          </a:p>
          <a:p>
            <a:r>
              <a:t>Вопрос, который на этих данных решают, один, и он не про архив: что должен узнать следующий читатель, которого при приёме не было. Запись делают не для хранения и не для проверяющего — её делают для человека, который будет действовать по ней, не видев пациента.</a:t>
            </a:r>
          </a:p>
          <a:p>
            <a:r>
              <a:t/>
            </a:r>
          </a:p>
          <a:p>
            <a:r>
              <a:t>Теперь о способах, которыми запись получается, и здесь стоит задержаться, потому что устроено это обратно тому, как стадию обычно представляют. Перечня на кадре нет, назову его голосом. Способов пять, и в современной карте они работают вместе, в одном документе. Перечень этот — про то, откуда в заметке берутся знаки; кадром позже пойдёт другой, режимы письма, про то, кто кладёт текст в документ. Две разные оси. Набор руками во время приёма — врач печатает, пока говорит с пациентом. Набор после приёма — между пациентами или в конце дня, та самая домашняя работа с картой. Диктовка — речь, которую расшифровывают в текст, человеком или распознаванием речи. Автоподстановка — содержание, которое система сама втягивает в заметку из структурированных полей: список препаратов, результаты анализов, показатели мониторинга. И перенос предыдущей записи — прежняя заметка переходит в новую, целиком или блоками, с правкой изменившегося.</a:t>
            </a:r>
          </a:p>
          <a:p>
            <a:r>
              <a:t/>
            </a:r>
          </a:p>
          <a:p>
            <a:r>
              <a:t>Пропорцию между ними измерили построчно, и она на экране плашками. Электронная карта крупного медицинского центра считает происхождение каждого знака подписанной заметки: набран он руками, подставлен системой или перенесён. По двадцати трём с половиной тысячам заметок четырёхсот шестидесяти авторов вышло так: восемнадцать процентов знаков набрано руками, сорок шесть перенесено, тридцать шесть подставлено системой. У ординаторов доля ручного набора ещё ниже, а доля переноса выше — одиннадцать и восемь против пятидесяти одного и четырёх.</a:t>
            </a:r>
          </a:p>
          <a:p>
            <a:r>
              <a:t/>
            </a:r>
          </a:p>
          <a:p>
            <a:r>
              <a:t>Единица здесь — знаки, и держать её надо твёрдо: кадром позже встретится доля переноса в пятьдесят целых одна десятая процента, и это доля СЛОВ у другой работы с другой выборкой. Сорок шесть и пятьдесят один — не одно и то же число, измеренное дважды.</a:t>
            </a:r>
          </a:p>
          <a:p>
            <a:r>
              <a:t/>
            </a:r>
          </a:p>
          <a:p>
            <a:r>
              <a:t>Читать эту пропорцию надо прямо: руками врач пишет меньшую часть заметки. Четыре знака из пяти приходят из прежнего текста либо из полей карты. И отсюда первое, что надо знать про потолок любого инструмента, обещающего снять набор текста: он попадает в те самые восемнадцать процентов. Оговорку о разряде свидетельства стоит назвать здесь же — это одноцентровое поперечное измерение по журналу самой карты, то есть замер поведения, снятый машиной, и обобщаемость на другие учреждения и другие системы карт не проверена.</a:t>
            </a:r>
          </a:p>
          <a:p>
            <a:r>
              <a:t/>
            </a:r>
          </a:p>
          <a:p>
            <a:r>
              <a:t>Формы документа на этой стадии разные, и работа в них неодинаковая: запись приёма в карте, дневниковая запись в стационаре, выписной эпикриз — итоговый документ о госпитализации, по которому дальше работает следующий врач, — и направление к специалисту. Способ и форма — разные вещи: одну и ту же форму можно набрать руками, надиктовать или перенести.</a:t>
            </a:r>
          </a:p>
          <a:p>
            <a:r>
              <a:t/>
            </a:r>
          </a:p>
          <a:p>
            <a:r>
              <a:t>Дальше — перечень читателей, и он на кадре не для полноты. У записи их пять, и каждый по ней действует. Участковый врач через месяц: по записи он поймёт, что уже проверяли, что исключили и чем лечили. Следующий стационар при повторной госпитализации: выписной документ там основной источник сведений о прошлом разе. Другой специалист того же учреждения, которому пациента направили. Экспертная комиссия при разборе случая: она читает запись и решает, соответствовали ли действия врача утверждённым порядкам, и доказательством служит именно запись. И сам пациент, который вправе получить копию.</a:t>
            </a:r>
          </a:p>
          <a:p>
            <a:r>
              <a:t/>
            </a:r>
          </a:p>
          <a:p>
            <a:r>
              <a:t>Отсюда свойство стадии, определяющее цену ошибки: решение по записи принимает тот, кто пациента не видел. Врач, читающий чужую запись, не может отличить «этого не было» от «этого не записали». Пропуск в записи и отсутствие события выглядят для него одинаково, и различить их ему нечем.</a:t>
            </a:r>
          </a:p>
          <a:p>
            <a:r>
              <a:t/>
            </a:r>
          </a:p>
          <a:p>
            <a:r>
              <a:t>Решение, которое стадия принимает, звучит просто и весит много: что попадёт в документ, по которому примут решение потом. Документ запускает действия — по записи назначают и отменяют, по эпикризу принимают в следующем учреждении, по направлению ставят в очередь, по содержанию карты экспертиза оценивает соответствие порядку.</a:t>
            </a:r>
          </a:p>
          <a:p>
            <a:r>
              <a:t/>
            </a:r>
          </a:p>
          <a:p>
            <a:r>
              <a:t>И почему стадия стоит здесь, после наблюдения. Ответ прямой: запись читают после того, как её сделали. Но важнее вторая половина — читает её другой человек, и вопрос у него свой. Наблюдение решало «вмешиваться сейчас или на обходе» по дорожке, которую вело само. Здесь решает тот, у кого дорожки нет, есть только текст, и качество этого текста для него не стиль, а единственный канал, по которому чужое решение к нему попадает.</a:t>
            </a:r>
          </a:p>
          <a:p>
            <a:r>
              <a:t/>
            </a:r>
          </a:p>
          <a:p>
            <a:r>
              <a:t>**Источник.** </a:t>
            </a:r>
            <a:r>
              <a:rPr u="sng">
                <a:solidFill>
                  <a:srgbClr val="065A82"/>
                </a:solidFill>
                <a:hlinkClick r:id="rId3"/>
              </a:rPr>
              <a:t>Wang, Khanna, Najafi, JAMA Internal Medicine 2017</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Форма разбора требует предъявить классический режим прежде модели и посчитать его в той же цене. На этой стадии режимов четыре, посчитаны из них два и в разных единицах, а у двух названного числа нет вовсе — разобрать это надо по одному, иначе дальше мы сравним модель с пустым местом, а такое сравнение модель выигрывает всегда и не значит ничего.</a:t>
            </a:r>
          </a:p>
          <a:p>
            <a:r>
              <a:t/>
            </a:r>
          </a:p>
          <a:p>
            <a:r>
              <a:t>Сразу уточню, перечень чего это. Режимы — про то, кто кладёт текст в документ. Перечень кадром раньше, пять способов, — про другое: откуда в заметке берутся знаки. Две разные оси, и перенос прежней записи стоит в обеих законно.</a:t>
            </a:r>
          </a:p>
          <a:p>
            <a:r>
              <a:t/>
            </a:r>
          </a:p>
          <a:p>
            <a:r>
              <a:t>Первый режим — врач пишет сам. Он посчитан внутри самого рандомизированного испытания: у испытания есть контрольная группа, писавшая заметки как раньше, и время в заметке у неё — четыре минуты двадцать две секунды. Это база всех сравнений раздела по времени. У режима есть и собственный дрейф, и плашка несёт его парой: за период наблюдения время в контрольной группе само упало до четырёх минут четырёх секунд. Восемнадцать секунд — величина мелкая, смысл её большой: всякое «стало быстрее» надо считать против этого дрейфа, иначе восемнадцать секунд хода времени запишутся в заслугу инструменту. Разряд свидетельства у этого числа назову сразу — препринт, рецензирования не проходил.</a:t>
            </a:r>
          </a:p>
          <a:p>
            <a:r>
              <a:t/>
            </a:r>
          </a:p>
          <a:p>
            <a:r>
              <a:t>Второй режим — перенос предыдущей записи: прежняя заметка переходит в новую, целиком или блоками, с правкой изменившегося. Его долго держали за дурную привычку отдельных врачей; измерение показало, что это основной путь появления текста в карте.</a:t>
            </a:r>
          </a:p>
          <a:p>
            <a:r>
              <a:t/>
            </a:r>
          </a:p>
          <a:p>
            <a:r>
              <a:t>Сплошной разбор карт одной крупной системы здравоохранения за шесть лет — сто четыре миллиона заметок о почти двух миллионах пациентов — нашёл, что половина всего текста карты, пятьдесят целых одна десятая процента слов, дословно повторяет написанное об этом же пациенте раньше. Единицу здесь надо произнести отчётливо, потому что её легко услышать не так: это доля слов, а не доля записей. Не «половина заметок скопирована» — а «половина написанного уже было написано». Доля растёт по годам: тридцать три процента у заметок пятнадцатого года, пятьдесят четыре у заметок двадцатого. Больше половины дублированного текста автор переносит у самого себя, остальное — у другого автора.</a:t>
            </a:r>
          </a:p>
          <a:p>
            <a:r>
              <a:t/>
            </a:r>
          </a:p>
          <a:p>
            <a:r>
              <a:t>И одна строка, без которой зал услышит противоречие там, где его нет: пятьдесят целых одна десятая — доля СЛОВ карты у Стайнкампа на ста четырёх миллионах заметок, сорок шесть кадром раньше — доля ЗНАКОВ в заметке у Вана на одной карте. Разные единицы, разные выборки: числа не спорят и не складываются.</a:t>
            </a:r>
          </a:p>
          <a:p>
            <a:r>
              <a:t/>
            </a:r>
          </a:p>
          <a:p>
            <a:r>
              <a:t>Разряд свидетельства назовём вслух, как делаем со всяким числом лекции: рецензированное поперечное измерение сплошной выборки одной системы, счёт воспроизводим по описанию метода. Слабая сторона названа самими авторами: признаком служит дословное совпадение, то есть перенос с переписыванием счёт не видит вовсе, и доля скорее занижена.</a:t>
            </a:r>
          </a:p>
          <a:p>
            <a:r>
              <a:t/>
            </a:r>
          </a:p>
          <a:p>
            <a:r>
              <a:t>У этого режима измерена и цена ошибки. На диагностических ошибках первичного звена: из двухсот двенадцати тысяч приёмов за год в двух крупных городских центрах отобрали случаи, где за приёмом в течение двух недель последовала незапланированная помощь, и врачи-рецензенты нашли сто девяносто диагностических ошибок. Вклад ошибок переноса — два и шесть десятых процента всех найденных. Здесь нужна оговорка об атрибуции, и она обязательна: полный текст первичной работы открыть не удалось, числа прочитаны в систематическом обзоре, который её цитирует, и до сверки по первоисточнику атрибуция идёт через обзор явно.</a:t>
            </a:r>
          </a:p>
          <a:p>
            <a:r>
              <a:t/>
            </a:r>
          </a:p>
          <a:p>
            <a:r>
              <a:t>Механизм этой ошибки стоит показать одним случаем: доля говорит про частоту и ничего про устройство. У пациента на химиотерапии с перенесённой тромбоэмболией лёгочной артерии запись о назначении гепарина для профилактики попала в поступательную заметку. Сам гепарин назначен не был. При переводе в другое отделение эта запись переносилась пять дней подряд, и все, кто её читал, считали профилактику выполняемой. Вскоре после выписки у пациента развилась тромбоэмболия лёгочной артерии с повторной госпитализацией. Это отдельное сообщение о случае — низший разряд свидетельства: оно показывает механизм и ничего не говорит о частоте.</a:t>
            </a:r>
          </a:p>
          <a:p>
            <a:r>
              <a:t/>
            </a:r>
          </a:p>
          <a:p>
            <a:r>
              <a:t>Третий режим — живой медицинский писец: человек на приёме, в кабинете или удалённо по связи, пишущий запись за врача, пока тот говорит с пациентом. Это не экзотика: у режима есть рынок, стоимость приёма и собственная литература об экономии врачебного времени. Он назван и не посчитан, и причину пробела надо назвать здесь, чтобы разбор не сошёл за полный: плечом рандомизированного испытания этот режим не был, а взять его стоимость из другой работы значило бы складывать две разные выборки. Пробел принадлежит замеру, а не задаче.</a:t>
            </a:r>
          </a:p>
          <a:p>
            <a:r>
              <a:t/>
            </a:r>
          </a:p>
          <a:p>
            <a:r>
              <a:t>Четвёртый режим работает только на выписном документе: черновик пишет ординатор, подписывает лечащий врач. Он тоже назван и тоже без числа, и причина у него своя, названная: слепое сравнение ста госпитализаций, к которому раздел придёт вторым разбором, брало документ лечащего врача, а не ординатора. Значит про этот режим слепое сравнение не говорит ничего, и подставить сюда его числа нельзя.</a:t>
            </a:r>
          </a:p>
          <a:p>
            <a:r>
              <a:t/>
            </a:r>
          </a:p>
          <a:p>
            <a:r>
              <a:t>И последнее, что надо унести с этого кадра. Со вторым режимом модель сходится не по времени, а по вопросу, который для раздела окажется несущим: что делается с достоверностью записи, когда в документе стоит правдоподобный текст, которого в этом приёме никто не произносил.</a:t>
            </a:r>
          </a:p>
          <a:p>
            <a:r>
              <a:t/>
            </a:r>
          </a:p>
          <a:p>
            <a:r>
              <a:t>**Источники.** </a:t>
            </a:r>
            <a:r>
              <a:rPr u="sng">
                <a:solidFill>
                  <a:srgbClr val="065A82"/>
                </a:solidFill>
                <a:hlinkClick r:id="rId3"/>
              </a:rPr>
              <a:t>Steinkamp и соавт., JAMA Network Open 2022</a:t>
            </a:r>
            <a:r>
              <a:t> · </a:t>
            </a:r>
            <a:r>
              <a:rPr u="sng">
                <a:solidFill>
                  <a:srgbClr val="065A82"/>
                </a:solidFill>
                <a:hlinkClick r:id="rId4"/>
              </a:rPr>
              <a:t>Tsou и соавт., Applied Clinical Informatics 2017</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Разберём работу стадии прежде, чем говорить про инструменты. Приём на двенадцать минут: пациент рассказывает, врач спрашивает, смотрит, назначает — и параллельно держит в голове структуру будущей записи. После приёма, а то и к концу дня, эта структура набирается в карту; что не успели — домашняя работа с картой вечером.</a:t>
            </a:r>
          </a:p>
          <a:p>
            <a:r>
              <a:t/>
            </a:r>
          </a:p>
          <a:p>
            <a:r>
              <a:t>Шесть действий стадии назову здесь, на кадре их нет. Держать структуру в голове во время разговора. Набрать запись. Вычитать и подписать. Собрать выписной документ по госпитализации целиком. Передать его читателю. Предъявить при разборе случая.</a:t>
            </a:r>
          </a:p>
          <a:p>
            <a:r>
              <a:t/>
            </a:r>
          </a:p>
          <a:p>
            <a:r>
              <a:t>Запись делают не для архива, и это первое, что надо произнести. У неё есть читатели, и каждый по ней действует: участковый врач через месяц, следующий стационар при повторной госпитализации, другой специалист в том же учреждении, комиссия при разборе случая и сам пациент, который вправе получить копию.</a:t>
            </a:r>
          </a:p>
          <a:p>
            <a:r>
              <a:t/>
            </a:r>
          </a:p>
          <a:p>
            <a:r>
              <a:t>Отсюда свойство стадии, определяющее цену ошибки: решение по записи принимает тот, кто пациента не видел. Врач, читающий чужую запись, не может отличить «этого не было» от «этого не записали». Пропуск и отсутствие события выглядят для него одинаково, и никакая аккуратность чтения этого не исправляет — различения просто нет в документе.</a:t>
            </a:r>
          </a:p>
          <a:p>
            <a:r>
              <a:t/>
            </a:r>
          </a:p>
          <a:p>
            <a:r>
              <a:t>Цена обеих ошибок называется до всяких чисел. Записать меньше, чем было, — следующий читатель назначит заново уже проверенное, а при разборе случая действие, которое врач совершил, окажется недоказанным. Записать то, чего не было, — назначат по ложному основанию. Платит обе ошибки человек, который в этом приёме не участвовал.</a:t>
            </a:r>
          </a:p>
          <a:p>
            <a:r>
              <a:t/>
            </a:r>
          </a:p>
          <a:p>
            <a:r>
              <a:t>Классические режимы письма я предъявил кадром раньше и здесь не пересчитываю. Коротко, одной связкой, чтобы счёт не плыл: режимов четыре; посчитаны два — письмо врача в минутах на заметку и перенос прежней записи в доле текста карты, пятьдесят целых одна десятая процента слов; живой писец и черновик ординатора под подпись лечащего названы, своих чисел не имеют, и причина у каждого названа там же. Единицы двух посчитанных в одну бухгалтерию не складываются: по времени модель сравнивается с письмом врача, с переносом она сходится по другому вопросу — что делается с достоверностью записи, когда правдоподобный текст в документе никто в этом приёме не произносил.</a:t>
            </a:r>
          </a:p>
          <a:p>
            <a:r>
              <a:t/>
            </a:r>
          </a:p>
          <a:p>
            <a:r>
              <a:t>И число, которое надо держать при всяком «стало быстрее»: в контрольной группе время в заметке само упало с четырёх минут двадцати двух секунд до четырёх минут четырёх. Восемнадцать секунд принадлежат ходу времени и практике, а не инструменту.</a:t>
            </a:r>
          </a:p>
          <a:p>
            <a:r>
              <a:t/>
            </a:r>
          </a:p>
          <a:p>
            <a:r>
              <a:t>Теперь то же поле с моделью. Из шести действий обученная модель заняла два: набор записи — черновик готов к концу приёма — и сборку выписного документа по карте целиком. Первое действие с человека снято: структуру будущей записи во время живого разговора держит теперь инструмент, и это единственное место лекции, где шаг у человека действительно убрали. Убрали не бесплатно — взамен появился новый, и он тяжелее, чем выглядит: вычитать чужой текст и найти в нём то, чего не было. Три места, где модель не работает: снять обязанность вычитки она не может, подпись остаётся человеческой; сократить активное время правки не выходит — набор упал, правка осталась прежней; и отличить правдоподобное от записанного без привязки каждой строки к месту в карте-источнике она не умеет.</a:t>
            </a:r>
          </a:p>
          <a:p>
            <a:r>
              <a:t/>
            </a:r>
          </a:p>
          <a:p>
            <a:r>
              <a:t>Запись про женщину с письмом — это заключение по её снимку и строка исхода, которая уйдёт ей письмом. Читает это заключение не она: его читает другой человек, через два года, когда её позовут снова, и вопрос у него будет свой — изменилось ли что-нибудь. Поэтому полнота записи здесь стоит дороже краткости.</a:t>
            </a:r>
          </a:p>
          <a:p>
            <a:r>
              <a:t/>
            </a:r>
          </a:p>
          <a:p>
            <a:r>
              <a:t>**Источники.** </a:t>
            </a:r>
            <a:r>
              <a:rPr u="sng">
                <a:solidFill>
                  <a:srgbClr val="065A82"/>
                </a:solidFill>
                <a:hlinkClick r:id="rId3"/>
              </a:rPr>
              <a:t>трёхрукое рандомизированное испытание, препринт medRxiv 2025.07.10.25331333, рецензирования не проходил</a:t>
            </a:r>
            <a:r>
              <a:t> · </a:t>
            </a:r>
            <a:r>
              <a:rPr u="sng">
                <a:solidFill>
                  <a:srgbClr val="065A82"/>
                </a:solidFill>
                <a:hlinkClick r:id="rId4"/>
              </a:rPr>
              <a:t>регистрация испытания NCT06792890</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Начнём с заявления. Крупная система здравоохранения сообщила об экономии 15 791 часа на 63 000 приёмов за десять недель работы инструмента автоматической записи приёма. Методика счёта не раскрыта.</a:t>
            </a:r>
          </a:p>
          <a:p>
            <a:r>
              <a:t/>
            </a:r>
          </a:p>
          <a:p>
            <a:r>
              <a:t>Поищем базу своими руками, вслух. 15 791 час на 63 000 приёмов — это около четверти часа на приём. Теперь вспомним, в чём измерено время заметки: в минутах и секундах, порядка четырёх минут. Пятнадцать минут экономии на приёме не укладываются в четыре минуты работы над заметкой — экономить больше, чем вся операция стоила, нельзя. Значит заявление посчитано в другой величине, скорее всего во времени, проведённом в карте вообще, и сопоставить его с измеренным результатом невозможно.</a:t>
            </a:r>
          </a:p>
          <a:p>
            <a:r>
              <a:t/>
            </a:r>
          </a:p>
          <a:p>
            <a:r>
              <a:t>Отсюда формулировка, которую стоит унести из лекции целиком: число без названной методики счёта не проверяется и не опровергается — оно не является утверждением о мире. Это не придирка к величине. Пятнадцать тысяч часов могут быть правдой; беда в том, что и доказать, и опровергнуть их нечем, а в презентации поставщика они стоят рядом с измеренными числами тем же кеглем.</a:t>
            </a:r>
          </a:p>
          <a:p>
            <a:r>
              <a:t/>
            </a:r>
          </a:p>
          <a:p>
            <a:r>
              <a:t>Теперь измеренное, и разряд свидетельства назову прежде числа: это препринт, рецензирования он не проходил, регистрация испытания NCT06792890. Испытание с настоящей рандомизацией и тремя равными группами разбирает 238 амбулаторных врачей четырнадцати специальностей: два коммерческих инструмента и обычная практика. У первого инструмента время в заметке снизилось на 9,5 процента относительно контрольной группы, у второго значимых изменений нет. По шкалам самочувствия подействовали оба — общий балл профессионального самочувствия вырос на 2,76 на шкале от десяти до пятидесяти — и между двумя инструментами по этим шкалам разницы нет.</a:t>
            </a:r>
          </a:p>
          <a:p>
            <a:r>
              <a:t/>
            </a:r>
          </a:p>
          <a:p>
            <a:r>
              <a:t>Важна и база самой контрольной группы: там время в заметке за период наблюдения само снизилось с четырёх минут двадцати двух секунд до четырёх минут четырёх секунд. Восемнадцать секунд без всякого инструмента — это практика и ход времени, и всякое «стало быстрее» считают против этой величины, а не против нуля.</a:t>
            </a:r>
          </a:p>
          <a:p>
            <a:r>
              <a:t/>
            </a:r>
          </a:p>
          <a:p>
            <a:r>
              <a:t>В многоцентровом наблюдении приёмных отделений заметка завершалась раньше, пациенты чаще отмечали, что их слушали, нагрузка на внимание падала — а активное время правки заметки не изменилось. Сократился набор текста, правка осталась прежней. Это и стоит на кадре золотой плашкой: из всех чисел разбора именно это самое неудобное для продажи и самое полезное для планирования.</a:t>
            </a:r>
          </a:p>
          <a:p>
            <a:r>
              <a:t/>
            </a:r>
          </a:p>
          <a:p>
            <a:r>
              <a:t>Отсюда вывод сильнее обоих чисел: один дизайн, одно население врачей, два продукта одного режима — и один результат значимый, другой нулевой. Измеренный эффект принадлежит реализации, а не классу инструмента, и фраза «мы внедрили автоматическую запись приёма» сведений о результате не содержит.</a:t>
            </a:r>
          </a:p>
          <a:p>
            <a:r>
              <a:t/>
            </a:r>
          </a:p>
          <a:p>
            <a:r>
              <a:t>Про устройство надо сказать и то, чего в испытании нет. Вход — звук приёма, выход — черновик заметки, который врач вычитывает и подписывает; на чём обучены оба инструмента, препринт не раскрывает. Имён у них в испытании тоже нет: они названы «первым» и «вторым», и это ограничение работы, а не нашего пересказа — проверить, какой именно продукт дал значимый результат, по этой публикации нельзя. Имена у режима известны, и я их называю, чтобы режим можно было узнать: Abridge, Dragon Copilot, Nabla, Heidi. Типом задачи это генерация на тексте.</a:t>
            </a:r>
          </a:p>
          <a:p>
            <a:r>
              <a:t/>
            </a:r>
          </a:p>
          <a:p>
            <a:r>
              <a:t>Вопрос залу — про их собственную работу: кто прочитывает автоматический протокол встречи построчно перед тем, как разослать. У многих в зале такой протокол уже пишется сам, и ответ «просматриваю по диагонали» и есть та самая вычитка, которой здесь меряют цену.</a:t>
            </a:r>
          </a:p>
          <a:p>
            <a:r>
              <a:t/>
            </a:r>
          </a:p>
          <a:p>
            <a:r>
              <a:t>**Источники.** </a:t>
            </a:r>
            <a:r>
              <a:rPr u="sng">
                <a:solidFill>
                  <a:srgbClr val="065A82"/>
                </a:solidFill>
                <a:hlinkClick r:id="rId3"/>
              </a:rPr>
              <a:t>трёхрукое рандомизированное испытание, препринт medRxiv 2025.07.10.25331333</a:t>
            </a:r>
            <a:r>
              <a:t> · </a:t>
            </a:r>
            <a:r>
              <a:rPr u="sng">
                <a:solidFill>
                  <a:srgbClr val="065A82"/>
                </a:solidFill>
                <a:hlinkClick r:id="rId4"/>
              </a:rPr>
              <a:t>регистрация испытания NCT06792890</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Было: держать структуру документа в голове во время разговора и набирать текст после приёма. Стало: говорить свободно, а затем вычитывать чужой текст. Объём работы сопоставим, место сменилось — это форма «нагрузка переехала на другой шаг», и здесь она именно переезд, а не исчезновение.</a:t>
            </a:r>
          </a:p>
          <a:p>
            <a:r>
              <a:t/>
            </a:r>
          </a:p>
          <a:p>
            <a:r>
              <a:t>Пятую операцию делает не врач, и на схеме она стоит отдельной третьей строкой именно поэтому. В отчёте одной клиники постоянная служба контроля качества заметок прочитала свыше 3 600 отзывов врачей и собрала 1 252 анкеты — со своим постоянным штатом. Операции «выборочно прочитать машинные черновики и собрать отзывы» в прежнем процессе не было просто потому, что не было машинных черновиков. Это форма «шаг появился», и у неё есть измеримая стоимость: штат. Инженеру тут стоит задержаться: эта стоимость не попадает ни в одно сравнение времени заметки, потому что её платит другое подразделение.</a:t>
            </a:r>
          </a:p>
          <a:p>
            <a:r>
              <a:t/>
            </a:r>
          </a:p>
          <a:p>
            <a:r>
              <a:t>Одно наблюдение выглядит противоречием и им не является: усталость ниже, а активное время правки то же. Сняли не время — сняли необходимость держать структуру документа в голове во время разговора с человеком. Это настоящий выигрыш, он измерен; он просто измерен в другой величине, чем та, в которой его продают. И это ровно тот случай, когда честный ответ «инструмент помог» и честный ответ «время не сэкономил» — оба верны одновременно.</a:t>
            </a:r>
          </a:p>
          <a:p>
            <a:r>
              <a:t/>
            </a:r>
          </a:p>
          <a:p>
            <a:r>
              <a:t>Величина эффекта к тому же зависит от того, когда измерять. Продольное сравнение до и после с контролем даёт снижение времени записи на 7 из ста в день внедрения и до 16 из ста к сто пятидесятому дню. Отсюда сразу две осторожности, и они направлены в противоположные стороны. Быстрый пробный запуск недооценивает: измерив эффект в первую неделю, можно не увидеть того, что появится к пятому месяцу, и отвергнуть работающий инструмент. И обратная: часть прироста к сто пятидесятому дню — привыкание человека, а разделить привыкание и свойство инструмента наблюдательным сравнением нельзя. Значит у вопроса «сколько даёт инструмент» нет одного ответа без указания дня замера, и поставщик, называющий одно число, называет свой любимый день.</a:t>
            </a:r>
          </a:p>
          <a:p>
            <a:r>
              <a:t/>
            </a:r>
          </a:p>
          <a:p>
            <a:r>
              <a:t>У второго инструмента того же испытания изменений во времени не было вовсе, при том же дизайне и на том же населении врачей. Значит измеренный эффект принадлежит не режиму работы как таковому, а конкретной реализации.</a:t>
            </a:r>
          </a:p>
          <a:p>
            <a:r>
              <a:t/>
            </a:r>
          </a:p>
          <a:p>
            <a:r>
              <a:t>Прочитаю схему построчно, потому что в ней вся мысль кадра. Верхняя строка — как было: набрать текст, подписать. Два шага, оба делает врач. Средняя — как стало: поговорить, получить черновик, вычитать, подписать. Четыре шага, все четыре тоже делает врач. Уже отсюда видно, что операций стало больше, а не меньше, — хотя одна из них, набор, исчезла.</a:t>
            </a:r>
          </a:p>
          <a:p>
            <a:r>
              <a:t/>
            </a:r>
          </a:p>
          <a:p>
            <a:r>
              <a:t>Третья строка стоит отдельно, и она тут самая важная. Выборочный контроль заметок делает не врач. Это новое подразделение с новым штатом, и в сравнениях времени заметки его работа не учитывается вовсе — потому что считают время врача, а платит за контроль организация. Инженеру стоит унести это как правило: когда операция переезжает из одних рук в другие, экономия считается по первым рукам, а расход появляется у вторых, и в одном отчёте эти две величины почти никогда не встречаются.</a:t>
            </a:r>
          </a:p>
          <a:p>
            <a:r>
              <a:t/>
            </a:r>
          </a:p>
          <a:p>
            <a:r>
              <a:t>Пара «дало — потребовало — в сумме» читается по плашкам слева направо. Дало: заметка раньше, усталость ниже. Потребовало: вычитку каждого черновика и службу со штатом. В сумме: набор сократился, правка та же. Ни одна из трёх плашек не отменяет двух других, и честный ответ на вопрос «помог ли инструмент» состоит из всех трёх сразу.</a:t>
            </a:r>
          </a:p>
          <a:p>
            <a:r>
              <a:t/>
            </a:r>
          </a:p>
          <a:p>
            <a:r>
              <a:t>Две формы словаря названы здесь по именам. «Нагрузка переехала на другой шаг» — про набор и вычитку. «Шаг появился» — про выборочный контроль. Третьей формы, «исполнитель тот же, но стал хуже», в этом разборе нет, и выдумывать её я не буду: качество вычитки до внедрения и после никто не измерял.</a:t>
            </a:r>
          </a:p>
          <a:p>
            <a:r>
              <a:t/>
            </a:r>
          </a:p>
          <a:p>
            <a:r>
              <a:t>**Источники.** </a:t>
            </a:r>
            <a:r>
              <a:rPr u="sng">
                <a:solidFill>
                  <a:srgbClr val="065A82"/>
                </a:solidFill>
                <a:hlinkClick r:id="rId3"/>
              </a:rPr>
              <a:t>трёхрукое рандомизированное испытание, препринт medRxiv 2025.07.10.25331333</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Второй разбор раздела — тот же инструмент на другом документе, и документ этот тяжелее: по выписному эпикризу назначают лечение в другом месте.</a:t>
            </a:r>
          </a:p>
          <a:p>
            <a:r>
              <a:t/>
            </a:r>
          </a:p>
          <a:p>
            <a:r>
              <a:t>Классические режимы назову прежде измеренного. Из четырёх режимов стадии на этом документе работают два. Врач пишет эпикриз сам — этот режим посчитан, и он база всех сравнений работы. Черновик ординатора под подпись лечащего — назван и не посчитан: слепое сравнение брало документ лечащего врача, а не ординатора, и подставить сюда число из другой работы нельзя. Двух остальных режимов стадии здесь нет: живой писец пишет запись приёма, не эпикриз, а перенос прежней записи на итоговый документ госпитализации не переносится.</a:t>
            </a:r>
          </a:p>
          <a:p>
            <a:r>
              <a:t/>
            </a:r>
          </a:p>
          <a:p>
            <a:r>
              <a:t>Как измерено — это главное в разборе, и устройство замера стоит произнести медленно. Сто госпитализаций длиной от трёх до шести дней. Двадцать два лечащих врача-рецензента. Каждый документ смотрели двое независимо, и ни один из рецензентов не знал, где машинный текст, а где человеческий. Слепота здесь не формальность: самоотчёт врачей, которые сами выбрали инструмент, — другой разряд свидетельства, и на нём держится большая часть восторженных публикаций про эту стадию.</a:t>
            </a:r>
          </a:p>
          <a:p>
            <a:r>
              <a:t/>
            </a:r>
          </a:p>
          <a:p>
            <a:r>
              <a:t>Теперь числа. Общее качество сопоставимо: 3,67 у врачей против 3,77 у модели — у модели чуть выше. Документ модели короче и связнее. И при этом он менее полон: полнота 4,13 у человека против 3,72 у модели. Уникальных ошибок на документ 1,82 у человека против 2,91 у модели — ошибок у модели больше. А потенциал вреда одной ошибки 1,34 против 1,35 по шкале от нуля до семи: обе оценки низкие и между собой не различаются.</a:t>
            </a:r>
          </a:p>
          <a:p>
            <a:r>
              <a:t/>
            </a:r>
          </a:p>
          <a:p>
            <a:r>
              <a:t>Прочитать эту четвёрку чисел надо целиком, иначе выйдет любая из двух неправд. Сказать «модель пишет лучше» можно, опираясь на общее качество. Сказать «модель пишет опасно» можно, опираясь на счёт ошибок. Верно же третье: документ модели готов раньше, читается легче, содержит меньше нужного и больше лишнего, и ни одна отдельная его ошибка не страшнее человеческой.</a:t>
            </a:r>
          </a:p>
          <a:p>
            <a:r>
              <a:t/>
            </a:r>
          </a:p>
          <a:p>
            <a:r>
              <a:t>Как это устроено: вход — история болезни и дневниковые записи госпитализации, выход — черновик повествовательной части документа. Ни имени модели, ни состава обучающих данных работа не называет, и это я говорю вслух как ограничение публикации — а не умалчиваю, чтобы разбор выглядел полнее.</a:t>
            </a:r>
          </a:p>
          <a:p>
            <a:r>
              <a:t/>
            </a:r>
          </a:p>
          <a:p>
            <a:r>
              <a:t>И то, что переехало. Шаги и исполнители на кадре те же: собрали, вычитали, подписали. Сместилась цена ошибки. Пишет документ один человек, а стоит пропущенная строка другого — того, кто будет назначать по этому документу через месяц в другом учреждении. Это и есть форма словаря, названная здесь по имени, и она самая неприятная из всех: никто из участников не чувствует ухудшения, потому что ухудшение наступает не у него.</a:t>
            </a:r>
          </a:p>
          <a:p>
            <a:r>
              <a:t/>
            </a:r>
          </a:p>
          <a:p>
            <a:r>
              <a:t>Зачем нужна слепота замера, стоит сказать отдельно. Почти вся восторженная литература про эту стадию держится на самоотчётах врачей, которые сами выбрали инструмент и сами оценили результат. Такой отчёт измеряет удовлетворённость выбором, а не качество документа. Здесь устройство другое: документы обезличены, рецензент не знает, какой из них машинный, и каждый документ смотрят двое независимо. Это дороже и медленнее, и именно поэтому таких работ мало.</a:t>
            </a:r>
          </a:p>
          <a:p>
            <a:r>
              <a:t/>
            </a:r>
          </a:p>
          <a:p>
            <a:r>
              <a:t>Отдельно про то, чего работа не говорит, — и это надо произнести, а не обойти. Ни имени модели, ни состава её обучающих данных публикация не называет. Значит повторить замер на своём документе нельзя, и перенести результат на другой продукт того же режима тоже нельзя: мы видели на предыдущем разборе, что два продукта одного режима дали разный результат при одном дизайне испытания.</a:t>
            </a:r>
          </a:p>
          <a:p>
            <a:r>
              <a:t/>
            </a:r>
          </a:p>
          <a:p>
            <a:r>
              <a:t>И последнее, что уходит дальше по пути. Документ собран, вычитан и подписан. Подпись стоит человеческая, а основание решения пришло извне — из текста, который человек не писал. Что эта подпись значит и кто проверяет, что подписавший способен возразить машине, — следующий раздел целиком.</a:t>
            </a:r>
          </a:p>
          <a:p>
            <a:r>
              <a:t/>
            </a:r>
          </a:p>
          <a:p>
            <a:r>
              <a:t>**Источники.** </a:t>
            </a:r>
            <a:r>
              <a:rPr u="sng">
                <a:solidFill>
                  <a:srgbClr val="065A82"/>
                </a:solidFill>
                <a:hlinkClick r:id="rId3"/>
              </a:rPr>
              <a:t>слепое сравнение ста госпитализаций, JAMA Internal Medicine 2025, DOI 10.1001/jamainternmed.2025.0821</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Четвёртый шаг разбора — назвать, что переехало. Переехала здесь вычитка, и переехала она не в другое место, а в другой предмет.</a:t>
            </a:r>
          </a:p>
          <a:p>
            <a:r>
              <a:t/>
            </a:r>
          </a:p>
          <a:p>
            <a:r>
              <a:t>Прежний навык вычитки собран под человеческую ошибку. Глаз настроен на опечатку, на оборванную фразу, на пропущенный раздел — на то, что оставляет после себя уставший человек в конце смены. Машинная ошибка устроена иначе: это связное, уместное по стилю утверждение, которого в истории болезни не было. Искать его прежним навыком нельзя, и учить этому новому чтению пока никто не учит — ни в ординатуре, ни на курсах повышения квалификации, ни инструкцией к самому инструменту.</a:t>
            </a:r>
          </a:p>
          <a:p>
            <a:r>
              <a:t/>
            </a:r>
          </a:p>
          <a:p>
            <a:r>
              <a:t>Сколько этой вычитки на самом деле делается, измерено проспективно. На триста восемьдесят четыре выписки система выдала тысячу двести семьдесят четыре сводки; машинное содержание врачи использовали в двухстах девятнадцати случаях — пятьдесят семь из ста. Единицу тут надо держать твёрдо, и плашка её называет: пятьдесят семь из ста — это доля ВЫПИСОК, а не доля выданных сводок. Сводок было втрое больше, чем выписок, и если взять их знаменателем, то же событие даст семнадцать из ста. Одно и то же наблюдение, два законных числа, разные знаменатели — и оба можно напечатать, не соврав.</a:t>
            </a:r>
          </a:p>
          <a:p>
            <a:r>
              <a:t/>
            </a:r>
          </a:p>
          <a:p>
            <a:r>
              <a:t>На сотне сводок нашлись пропуски в двадцати пяти, неточности в двадцати, выдумки в двух. А из ста неотредактированных сводок восемьдесят восемь признаны не несущими потенциала вреда, одна — способной причинить умеренный вред, случаев тяжёлого вреда нет. Определения тут другие, чем в слепом сравнении, и складывать два набора в один список нельзя.</a:t>
            </a:r>
          </a:p>
          <a:p>
            <a:r>
              <a:t/>
            </a:r>
          </a:p>
          <a:p>
            <a:r>
              <a:t>Теперь про тройку, и это самая переносимая часть раздела. По этому случаю в обзорах ходит тройка аккуратных чисел со ссылкой на «исследование ста эпикризов». Построчное чтение трёх доступных первоисточников её не даёт: ни одна работа не считает в тех определениях, в которых её пересказывают. Числа, которые удобно звучат, живут в пересказах дольше, чем в первоисточниках.</a:t>
            </a:r>
          </a:p>
          <a:p>
            <a:r>
              <a:t/>
            </a:r>
          </a:p>
          <a:p>
            <a:r>
              <a:t>Практический вывод для инженера звучит одинаково в любой отрасли, и он стоит на кадре отдельной строкой. Когда в обзоре стоит число со ссылкой на работу, ссылка проверяется не на существование работы, а на то, считает ли работа ровно эту величину в ровно этих определениях. Здесь она не считает, и три числа держались только тем, что никто не открывал первоисточник. Пересказ — отдельный разряд свидетельства, и он ниже исследования даже тогда, когда числа у них совпадают.</a:t>
            </a:r>
          </a:p>
          <a:p>
            <a:r>
              <a:t/>
            </a:r>
          </a:p>
          <a:p>
            <a:r>
              <a:t>И последнее, про третий источник. Одноцентровое сравнение «до и после» в реабилитационном отделении опубликовано в журнале с авторским взносом и минимальным рецензированием. Я его называю, а не прячу: разряд свидетельства у него низкий, и выводы на нём одном не строятся — но проверить тройку он помог ровно так же, как две сильные работы.</a:t>
            </a:r>
          </a:p>
          <a:p>
            <a:r>
              <a:t/>
            </a:r>
          </a:p>
          <a:p>
            <a:r>
              <a:t>Про конфликт интересов скажу вслух, хотя на кадре его теперь нет. Он раскрыт в самих публикациях: часть авторов работает в компании-производителе модели либо имеет на неё патент. Раскрытый конфликт не делает работу негодной — он делает её работой, которую читают внимательнее, и прежде всего смотрят, кто выбирал, что считать успехом. Нераскрытый конфликт хуже раскрытого именно этим: его нельзя учесть при чтении.</a:t>
            </a:r>
          </a:p>
          <a:p>
            <a:r>
              <a:t/>
            </a:r>
          </a:p>
          <a:p>
            <a:r>
              <a:t>**Источники.** </a:t>
            </a:r>
            <a:r>
              <a:rPr u="sng">
                <a:solidFill>
                  <a:srgbClr val="065A82"/>
                </a:solidFill>
                <a:hlinkClick r:id="rId3"/>
              </a:rPr>
              <a:t>проспективный пилот, JAMA Network Open 2026</a:t>
            </a:r>
            <a:r>
              <a:t> · </a:t>
            </a:r>
            <a:r>
              <a:rPr u="sng">
                <a:solidFill>
                  <a:srgbClr val="065A82"/>
                </a:solidFill>
                <a:hlinkClick r:id="rId4"/>
              </a:rPr>
              <a:t>слепое сравнение ста госпитализаций, JAMA Internal Medicine 2025</a:t>
            </a:r>
            <a:r>
              <a:t> · </a:t>
            </a:r>
            <a:r>
              <a:rPr u="sng">
                <a:solidFill>
                  <a:srgbClr val="065A82"/>
                </a:solidFill>
                <a:hlinkClick r:id="rId5"/>
              </a:rPr>
              <a:t>одноцентровое сравнение, Cureus 2026 — журнал с авторским взносом и минимальным рецензированием</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Вывод стадии я подаю одним числом, а не двумя колонками, и это сознательный сбой ритма: восемь однотипных сводов подряд зал начинает предсказывать, а это число предсказать нельзя.</a:t>
            </a:r>
          </a:p>
          <a:p>
            <a:r>
              <a:t/>
            </a:r>
          </a:p>
          <a:p>
            <a:r>
              <a:t>И счёт стадии, чтобы он сошёлся с тем, что я называл по ходу: классических режимов письма было четыре, посчитаны из них два и в разных единицах — письмо врача в минутах на заметку, перенос прежней записи в доле текста карты. Из шести действий стадии модель заняла два и одно убрала. Девять с половиной процентов — это про первый из четырёх режимов и ни про какой другой.</a:t>
            </a:r>
          </a:p>
          <a:p>
            <a:r>
              <a:t/>
            </a:r>
          </a:p>
          <a:p>
            <a:r>
              <a:t>Девять с половиной процентов — вся измеренная экономия стадии. Не «до тридцати процентов», как говорят на конференциях, не пятнадцать тысяч часов, как сообщила система здравоохранения: девять с половиной процентов времени в заметке, в рандомизированном испытании, у одного инструмента из двух. У второго, того же режима и того же дизайна испытания, экономии нет вовсе — и это первое, что надо сказать вслед за числом, иначе число прочтётся как свойство режима.</a:t>
            </a:r>
          </a:p>
          <a:p>
            <a:r>
              <a:t/>
            </a:r>
          </a:p>
          <a:p>
            <a:r>
              <a:t>Активное время правки не сдвинулось ни у одного из двух. Заметка готова к концу приёма, а не к концу дня, и структуру документа больше не надо держать в голове при живом человеке — это настоящий выигрыш, измеренный в другой величине, чем та, в которой его продают.</a:t>
            </a:r>
          </a:p>
          <a:p>
            <a:r>
              <a:t/>
            </a:r>
          </a:p>
          <a:p>
            <a:r>
              <a:t>Что стало с работой. Нагрузка переехала с набора текста на вычитку чужого — форма словаря называется и здесь подходит буквально. Появился шаг: выборочный контроль заметок, у которого есть собственный штат. И сместилась цена ошибки: опечатка видна, правдоподобная подробность не видна никак.</a:t>
            </a:r>
          </a:p>
          <a:p>
            <a:r>
              <a:t/>
            </a:r>
          </a:p>
          <a:p>
            <a:r>
              <a:t>Про заявленную экономию. Пятнадцать тысяч семьсот девяносто один час на шестьдесят три тысячи приёмов — без раскрытой методики счёта. Подтвердить нельзя, опровергнуть нельзя; четверть часа на приём не укладывается в четыре минуты работы над заметкой, значит считали другую величину. Такое число не ставят рядом с измеренными — оно другого разряда.</a:t>
            </a:r>
          </a:p>
          <a:p>
            <a:r>
              <a:t/>
            </a:r>
          </a:p>
          <a:p>
            <a:r>
              <a:t>Полнее человека документ не пишет, и это измерено слепым сравнением: полнота 3,72 против 4,13, уникальных ошибок 2,91 против 1,82. При этом потенциал вреда одной ошибки одинаков. Документ выходит быстрее, читается легче и содержит меньше нужного.</a:t>
            </a:r>
          </a:p>
          <a:p>
            <a:r>
              <a:t/>
            </a:r>
          </a:p>
          <a:p>
            <a:r>
              <a:t>Что это держит. Вычитка и подпись врача — больше ничего, и это важно: никакого технического механизма проверки здесь не появилось. А рядом — названное прямо: вычитке другого рода, той, где ищут связное утверждение без основания в карте, никто не учит. Процедура опирается на навык, которого нет в программе подготовки.</a:t>
            </a:r>
          </a:p>
          <a:p>
            <a:r>
              <a:t/>
            </a:r>
          </a:p>
          <a:p>
            <a:r>
              <a:t>Тип задачи назову здесь: это генерация на тексте — на входе речь приёма и поля карты, на выходе черновик записи. В этом разряде работает черновик под вычитку, и попадает он в те самые восемнадцать процентов знаков, которые врач набирает руками. Решение, что попадёт в документ, и проверка, что попавшее там действительно было, машине не передаются.</a:t>
            </a:r>
          </a:p>
          <a:p>
            <a:r>
              <a:t/>
            </a:r>
          </a:p>
          <a:p>
            <a:r>
              <a:t>Дальше по этому документу назначают — и когда что-то произойдёт, разбирать будут подпись. Это и есть мост в следующий раздел: он про саму подпись, про то, что она значит и кто проверяет, что подписавший способен возразить машине.</a:t>
            </a:r>
          </a:p>
          <a:p>
            <a:r>
              <a:t/>
            </a:r>
          </a:p>
          <a:p>
            <a:r>
              <a:t>И одно замечание про саму форму этого кадра, потому что оно переносимое. Все прочие своды лекции устроены четырьмя шапками: что получается, что не получается, что стало с работой, что это держит. Здесь вместо них одно число, набранное крупно. Сделано это не для разнообразия: когда одна и та же форма повторяется шесть раз, зал начинает предсказывать экран и перестаёт читать. Сбой ритма возвращает внимание ровно в той точке, где у раздела есть одно число, которое стоит запомнить вместо всего остального.</a:t>
            </a:r>
          </a:p>
          <a:p>
            <a:r>
              <a:t/>
            </a:r>
          </a:p>
          <a:p>
            <a:r>
              <a:t>Почему именно девять с половиной процентов, а не любое другое число раздела. Это единственная величина, полученная настоящей рандомизацией: три равные группы, случайное распределение, контроль. Все остальные числа раздела либо наблюдательные, либо заявленные, либо измеренные в другой величине. Когда в следующий раз услышите про эту стадию число в десятки процентов, первым вопросом будет не «откуда», а «был ли контроль».</a:t>
            </a:r>
          </a:p>
          <a:p>
            <a:r>
              <a:t/>
            </a:r>
          </a:p>
          <a:p>
            <a:r>
              <a:t>И чего в этом выводе сознательно нет. Нет вывода «инструмент не нужен»: он снял настоящую нагрузку, и это измерено по шкалам самочувствия. Нет и вывода «инструмент работает»: активное время правки не сдвинулось, документ стал менее полон. Раздел кончается тем, что обе эти вещи верны одновременно, и выбирать между ними придётся тому, кто подписывает.</a:t>
            </a:r>
          </a:p>
        </p:txBody>
      </p:sp>
      <p:sp>
        <p:nvSpPr>
          <p:cNvPr id="4" name="Slide Number Placeholder 3"/>
          <p:cNvSpPr>
            <a:spLocks noGrp="1"/>
          </p:cNvSpPr>
          <p:nvPr>
            <p:ph type="sldNum" idx="5" sz="quarter"/>
          </p:nvPr>
        </p:nvSpPr>
        <p:spPr/>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Шесть человек за столом комиссии решают один вопрос: соответствовали ли действия врача утверждённому порядку. Пользовался ли он моделью — вопроса такого в списке нет. С этой картины раздел и начинается.</a:t>
            </a:r>
          </a:p>
          <a:p>
            <a:r>
              <a:t/>
            </a:r>
          </a:p>
          <a:p>
            <a:r>
              <a:t>Раздел, который открывает этот дивайдер, продолжает прямую линию от записи к подписи. Эпикриз из прошлого раздела — документ, у которого есть автор и подпись лечащего врача; то же самое верно для заключения по снимку, для плана лечения, для любого решения, в котором участвовала модель. Вопрос этого раздела простой и неудобный: что стоит за этой подписью, кроме самого акта подписания.</a:t>
            </a:r>
          </a:p>
          <a:p>
            <a:r>
              <a:t/>
            </a:r>
          </a:p>
          <a:p>
            <a:r>
              <a:t>Первый механизм — врачебная комиссия. Она не разбирает, пользовался ли врач алгоритмом; она разбирает, соответствовали ли его действия утверждённому порядку оказания помощи. Если соответствовали — ответственность не наступает, даже если исход оказался плохим. Модель в этой процедуре присутствует ровно в той мере, в какой её вывод попал в карту пациента и мог повлиять на решение.</a:t>
            </a:r>
          </a:p>
          <a:p>
            <a:r>
              <a:t/>
            </a:r>
          </a:p>
          <a:p>
            <a:r>
              <a:t>Второй механизм — норма, которая требует, чтобы человек оставался последним звеном: способным понять ограничения системы, не согласиться с её выводом и остановить её. Второй разбор идёт с конца: сначала то, чем он кончился, — как редко эту способность проверяют до того, как изделие допустят к продаже, — а счёт в минутах труда, из которого эта подпись сложилась, стоит следом. Обзор поданной документации показывает: тестирование с реальным участием врача нашлось у восьми изделий из ста — подавляющее большинство допущено без такой проверки вовсе.</a:t>
            </a:r>
          </a:p>
          <a:p>
            <a:r>
              <a:t/>
            </a:r>
          </a:p>
          <a:p>
            <a:r>
              <a:t>Третий механизм — то, что происходит, когда модель продолжает обучаться уже после допуска. Обзор называет три инструмента регулятора: заранее утверждённый план будущих изменений модели, передачу данных о работе изделия регулятору и перенесённые сроки европейского регламента, разведённые по приложениям, а не по признаку «самостоятельное или встроенное». У обзоров нет формы разбора в словаре курса, и это не недостаток материала: они описывают надзорный механизм, а не измеренное изменение работы, и сказать об этом прямо — часть самого раздела.</a:t>
            </a:r>
          </a:p>
          <a:p>
            <a:r>
              <a:t/>
            </a:r>
          </a:p>
          <a:p>
            <a:r>
              <a:t>Про состав раздела стоит сказать вслух, потому что он устроен не так, как предыдущие. Разборов здесь два, а кадров под ними три: Пример 1 держится на одном кадре целиком — выигрыш и его цена рядом, — а Пример 2 разложен на два, и разложен нарочно. Он подан с конца: сначала то, чем он кончился, то есть доля изделий, у которых способность человека возразить при допуске никто не проверял, и только потом счёт в минутах труда, из которого эта подпись сложилась. Порядок этот выбран потому, что прочитанный обычным образом разбор кончался бы нормой и числом, а начинался бы минутами — и слушатель успевал бы решить, что речь про экономию, прежде чем услышал бы, про что она на самом деле.</a:t>
            </a:r>
          </a:p>
          <a:p>
            <a:r>
              <a:t/>
            </a:r>
          </a:p>
          <a:p>
            <a:r>
              <a:t>Кроме двух разборов в разделе два кадра, которые разборами не являются и не выдают себя за них: обзор надзорных механизмов после допуска и определение подходящего человека из нормативного документа. У обзора нет формы разбора в словаре курса, и это произносится прямо.</a:t>
            </a:r>
          </a:p>
          <a:p>
            <a:r>
              <a:t/>
            </a:r>
          </a:p>
          <a:p>
            <a:r>
              <a:t>Раздел заканчивается тем же, с чего начинается: удерживает не сама по себе подпись, а то, что стоит за ней — время прочитать вывод, способность с ним не согласиться и процедура, в которой это несогласие что-то меняет.</a:t>
            </a:r>
          </a:p>
          <a:p>
            <a:r>
              <a:t/>
            </a:r>
          </a:p>
          <a:p>
            <a:r>
              <a:t>**Источники.** </a:t>
            </a:r>
            <a:r>
              <a:rPr u="sng">
                <a:solidFill>
                  <a:srgbClr val="065A82"/>
                </a:solidFill>
                <a:hlinkClick r:id="rId3"/>
              </a:rPr>
              <a:t>Регламент (ЕС) 2024/1689, статья 14</a:t>
            </a:r>
            <a:r>
              <a:t> · </a:t>
            </a:r>
            <a:r>
              <a:rPr u="sng">
                <a:solidFill>
                  <a:srgbClr val="065A82"/>
                </a:solidFill>
                <a:hlinkClick r:id="rId4"/>
              </a:rPr>
              <a:t>обзор поданной регуляторам документации, JAMA Network Open 2025;8(11):e2542338</a:t>
            </a:r>
          </a:p>
        </p:txBody>
      </p:sp>
      <p:sp>
        <p:nvSpPr>
          <p:cNvPr id="4" name="Slide Number Placeholder 3"/>
          <p:cNvSpPr>
            <a:spLocks noGrp="1"/>
          </p:cNvSpPr>
          <p:nvPr>
            <p:ph type="sldNum" idx="5" sz="quarter"/>
          </p:nvPr>
        </p:nvSpPr>
        <p:spPr/>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Все предыдущие разделы оставили после себя документы и людей, которые эти документы подписывают. Тревогу разобрали — расписался дежурный врач. Эпикриз вычитали — расписался лечащий. Этот раздел про то, что стоит за такой подписью, и про то, проверял ли кто-нибудь, что подписывающий способен возразить.</a:t>
            </a:r>
          </a:p>
          <a:p>
            <a:r>
              <a:t/>
            </a:r>
          </a:p>
          <a:p>
            <a:r>
              <a:t>Первое, что отличает эту стадию от всех предыдущих: она не работает с измерениями человека. Данные её — документы. Заключение с подписью. Информированное согласие. Материалы разбора случая. Документация, по которой изделие допускали к применению. Ни одного нового факта о пациенте здесь не добывают; работают с тем, что уже записано.</a:t>
            </a:r>
          </a:p>
          <a:p>
            <a:r>
              <a:t/>
            </a:r>
          </a:p>
          <a:p>
            <a:r>
              <a:t>Вопрос на этих данных тоже один, и он не про болезнь: кто отвечает за принятое и выдержит ли порядок работы проверку исходом. Заметьте, насколько он другого разряда, чем вопросы предыдущих стадий. Там спрашивали «звать ли на обследование», «что измерено», «чем объясняется найденное», «вмешиваться сейчас». Здесь спрашивают о самой конструкции, внутри которой все те вопросы решались.</a:t>
            </a:r>
          </a:p>
          <a:p>
            <a:r>
              <a:t/>
            </a:r>
          </a:p>
          <a:p>
            <a:r>
              <a:t>Как эти сведения получают — пять источников, и ни одного нового факта о пациенте среди них. Стадия ничего не измеряет, она извлекает. Из карты со всеми заключениями и подписями. Из протоколов исследований. Из журнала системы, где видно, что именно показала модель и в какой момент она это показала — момент здесь важен не меньше содержания, потому что подсказка, пришедшая после решения врача, и подсказка, пришедшая до него, значат разное. Из утверждённого порядка оказания помощи и клинических рекомендаций — документов, с которыми сверяют. И отдельным источником — из документации, поданной регулятору, когда изделие допускали к применению.</a:t>
            </a:r>
          </a:p>
          <a:p>
            <a:r>
              <a:t/>
            </a:r>
          </a:p>
          <a:p>
            <a:r>
              <a:t>Решение, которое стадия принимает, двойное, и вторая его половина интереснее первой. Первая: кто отвечает за принятое. Вторая: что меняется в порядке работы, когда разбор нашёл расхождение. Расхождение, которое повторяется, становится основанием поправить документ — порядок оказания помощи, внутренний регламент отделения, форму листа наблюдения, порог эскалации. Процедура переводит разбор с личности на документ, и в этом её главное инженерное свойство.</a:t>
            </a:r>
          </a:p>
          <a:p>
            <a:r>
              <a:t/>
            </a:r>
          </a:p>
          <a:p>
            <a:r>
              <a:t>И теперь то, из-за чего эта стадия вообще стоит отдельным разделом, а не шагом в ряду. В ряд она не становится. Отбор идёт до исследования, исследование до диагноза, наблюдение после решения — у них есть порядок, и его можно проверить. У этой стадии порядка нет, потому что она идёт поперёк всех остальных сразу. Подпись ставят на каждой стадии. Согласие берут до вмешательства. Разбор приходит после исхода — любого, на любой стадии. Допуск изделия лежит вообще над всем циклом, до того, как изделие впервые включили. Поставить это шагом между наблюдением и чем-нибудь ещё значило бы соврать о том, как оно работает.</a:t>
            </a:r>
          </a:p>
          <a:p>
            <a:r>
              <a:t/>
            </a:r>
          </a:p>
          <a:p>
            <a:r>
              <a:t>Отсюда и свойство, которое стоит забрать с собой в любую отрасль, не только в медицину. Каждый из этих механизмов существует потому, что один человек ошибается, и процедура знает это заранее. Процедура не делает людей внимательнее — она устроена так, чтобы ошибка одного была поймана до того, как стала необратимой, или разобрана после того, как стала.</a:t>
            </a:r>
          </a:p>
          <a:p>
            <a:r>
              <a:t/>
            </a:r>
          </a:p>
          <a:p>
            <a:r>
              <a:t>И следствие для всякого внедрения модели, которым этот раздел дальше и занят. Модель входит в процесс, у которого механизм удержания цены ошибки уже есть, и рассчитан он на человеческую ошибку определённого вида: усталость, спешку, пробел в знании, невнимательность. Машинная ошибка устроена иначе — она уверенная, связная и повторяющаяся на всех похожих случаях. Механизм, рассчитанный на один вид ошибки, не обязан поймать другой, и проверять это надо измерением, а не рассуждением.</a:t>
            </a:r>
          </a:p>
          <a:p>
            <a:r>
              <a:t/>
            </a:r>
          </a:p>
          <a:p>
            <a:r>
              <a:t>И ещё один вопрос раздел задаст самой процедуре, а не модели, — тот, который обычно не задают вовсе. Разбор случая сверяет действие врача с утверждённым порядком. Но сам этот разбор — одинаково ли он смотрит на врача, который с подсказкой согласился, и на врача, который ей возразил? Вопрос звучит умозрительным, пока его не измерили. Его измерили.</a:t>
            </a:r>
          </a:p>
        </p:txBody>
      </p:sp>
      <p:sp>
        <p:nvSpPr>
          <p:cNvPr id="4" name="Slide Number Placeholder 3"/>
          <p:cNvSpPr>
            <a:spLocks noGrp="1"/>
          </p:cNvSpPr>
          <p:nvPr>
            <p:ph type="sldNum" idx="5" sz="quarter"/>
          </p:nvPr>
        </p:nvSpPr>
        <p:spPr/>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Кто в этой комнате и что перед ними. За столом заместитель главного врача — председатель, заведующий отделением, двое врачей той же специальности из другого отделения, эксперт по качеству помощи и секретарь. На столе карта со всеми заключениями и подписями, протоколы исследований, распечатка вывода модели с указанием момента, когда она его показала, утверждённый порядок оказания помощи и клинические рекомендации. Момент показа здесь значит не меньше содержания: подсказка, пришедшая до решения врача, и подсказка, пришедшая после, — разные обстоятельства дела.</a:t>
            </a:r>
          </a:p>
          <a:p>
            <a:r>
              <a:t/>
            </a:r>
          </a:p>
          <a:p>
            <a:r>
              <a:t>Действий у стадии семь, и каждое записано в документе — в порядке оказания помощи, в регламенте отделения, в нормативном акте. Первое: подписать заключение. Второе: взять информированное согласие. Третье: прочесть вторым читателем независимо. Четвёртое: разрешить расхождение арбитражем. Пятое: собрать комиссию. Шестое: сверить действия с утверждённым порядком. Седьмое: поправить порядок по итогам разбора. Перечень этот со сцены не читается подряд — он нужен, чтобы ответить на вопрос, в какое из семи действий входит модель; ответ — ни в одно.</a:t>
            </a:r>
          </a:p>
          <a:p>
            <a:r>
              <a:t/>
            </a:r>
          </a:p>
          <a:p>
            <a:r>
              <a:t>Подпись в медицине — юридический акт. Заключение существует как документ, под которым стоит имя конкретного человека; в электронном контуре это усиленная квалифицированная подпись, привязанная к одному физическому лицу. Отсюда то, на что опирается весь раздел: модель не может взять ответственность на себя, потому что право подписи ей не выдано. Ни в одной из рассмотренных стран алгоритм не является субъектом, способным подписать заключение, — поэтому все вопросы о модели в медицине оказываются вопросами о процедуре вокруг человека.</a:t>
            </a:r>
          </a:p>
          <a:p>
            <a:r>
              <a:t/>
            </a:r>
          </a:p>
          <a:p>
            <a:r>
              <a:t>Второе действие — информированное согласие. Пациент подтверждает, что ему объяснили вмешательство, риски, альтернативы и последствия отказа. Важная для нас деталь: объясняет человек, и объясняет он то, что сам понимает. Если часть решения пришла из модели, объём объяснения определяется тем, насколько врач понимает, как эта часть получена.</a:t>
            </a:r>
          </a:p>
          <a:p>
            <a:r>
              <a:t/>
            </a:r>
          </a:p>
          <a:p>
            <a:r>
              <a:t>Третье и четвёртое — независимое второе чтение и арбитраж при расхождении. Независимость предполагает, что два мнения друг друга не видели, и теряется она в тот момент, когда оба читателя видят одну и ту же машинную подсказку.</a:t>
            </a:r>
          </a:p>
          <a:p>
            <a:r>
              <a:t/>
            </a:r>
          </a:p>
          <a:p>
            <a:r>
              <a:t>Пятое, шестое и седьмое — разбор случая. Комиссия собирается по одному случаю, читает документы и отвечает на один вопрос, сформулированный дословно: соответствовали ли действия врача утверждённым порядкам, стандартам и клиническим рекомендациям. Соответствовали — ответственность не наступает, даже когда исход плохой. Не соответствовали — комиссия называет расхождение, и повторяющееся расхождение правит документ.</a:t>
            </a:r>
          </a:p>
          <a:p>
            <a:r>
              <a:t/>
            </a:r>
          </a:p>
          <a:p>
            <a:r>
              <a:t>Вопроса «пользовался ли он моделью» здесь нет вовсе. Вывод модели упоминается ровно в той мере, в какой он попал в карту и мог повлиять на действие.</a:t>
            </a:r>
          </a:p>
          <a:p>
            <a:r>
              <a:t/>
            </a:r>
          </a:p>
          <a:p>
            <a:r>
              <a:t>Общее у всех семи одно: каждое существует потому, что один человек ошибается, и процедура знает это заранее. Внимательнее людей она не делает.</a:t>
            </a:r>
          </a:p>
          <a:p>
            <a:r>
              <a:t/>
            </a:r>
          </a:p>
          <a:p>
            <a:r>
              <a:t>Нормативный акт, которым установлен этот порядок, со сцены не назван намеренно: процедура приведена описанием, без ссылки, и выдавать описание за цитату нормы нельзя.</a:t>
            </a:r>
          </a:p>
          <a:p>
            <a:r>
              <a:t/>
            </a:r>
          </a:p>
          <a:p>
            <a:r>
              <a:t>И то, чем эта стадия отличается от всех прежних. Семь действий остаются за людьми целиком — обученная модель не вошла ни в одно. Подписать ей нечем: права подписи у неё нет ни в одной из рассмотренных стран. Оценить её сама процедура не умеет: порядок помощи про модель молчит, пока его не перепишут, — а переписывают порядки медленно. Вместо входа в действия норма добавила к семи восьмое требование, и адресовано оно человеку: он обязан мочь возразить и остановить. Проверку именно этой способности при допуске и нашли у 56 из 717 радиологических изделий, допущенных к обращению (срез июнь 2024). Отдельно стоит назвать, почему процедура против модели работает хуже, чем против человека: собрана она под человеческую ошибку — усталость, спешку, пробел в знании, то есть ошибку разную у разных людей и в разные дни. Машинная ошибка уверенная и одинаковая, и приходит она на все похожие случаи сразу.</a:t>
            </a:r>
          </a:p>
        </p:txBody>
      </p:sp>
      <p:sp>
        <p:nvSpPr>
          <p:cNvPr id="4" name="Slide Number Placeholder 3"/>
          <p:cNvSpPr>
            <a:spLocks noGrp="1"/>
          </p:cNvSpPr>
          <p:nvPr>
            <p:ph type="sldNum" idx="5" sz="quarter"/>
          </p:nvPr>
        </p:nvSpPr>
        <p:spPr/>
      </p:sp>
    </p:spTree>
  </p:cSld>
  <p:clrMapOvr>
    <a:masterClrMapping/>
  </p:clrMapOvr>
</p:notes>
</file>

<file path=ppt/notesSlides/notesSlide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Разбор начинается с процедуры, в которую подсказка попадает, и процедура эта из двух шагов. Шаг первый — разбор случая после исхода: произошло осложнение или смерть, собирается комиссия, читает документы, называет расхождение с утверждённым порядком. Шаг второй — изменение порядка по итогам: расхождение, которое повторяется, становится основанием поправить документ. Третий механизм, независимое второе мнение с арбитражем, разобран кадром раньше, и здесь важно одно его свойство: независимость теряется в тот момент, когда оба читателя видят одну и ту же машинную подсказку.</a:t>
            </a:r>
          </a:p>
          <a:p>
            <a:r>
              <a:t/>
            </a:r>
          </a:p>
          <a:p>
            <a:r>
              <a:t>Теперь сам замер. Опыт с перекрёстным планом: сорок клиницистов, по двести снимков каждый, восемь тысяч прочтений. Без модели верных заключений восемьдесят семь и два десятых из ста, с моделью девяносто шесть и четыре десятых. Девять пунктов — величина крупная, и отказываться от неё было бы нечестно.</a:t>
            </a:r>
          </a:p>
          <a:p>
            <a:r>
              <a:t/>
            </a:r>
          </a:p>
          <a:p>
            <a:r>
              <a:t>Но посчитаны эти девять пунктов против одного читателя. Второго человека в опыте не было, и сколько из девяти осталось бы при сравнении с парой людей, опыт не говорит. Это тот самый второй классический режим, который назван и не посчитан, и произносить это надо вслух всякий раз, когда предъявляют прирост против одиночки.</a:t>
            </a:r>
          </a:p>
          <a:p>
            <a:r>
              <a:t/>
            </a:r>
          </a:p>
          <a:p>
            <a:r>
              <a:t>Сорок пять и пять десятых из ста ошибок, оставшихся в раунде с подсказкой, связаны со склонностью доверять автомату: человек соглашается с машинным выводом там, где без него решил бы иначе и правильнее. Доля считается от остаточных ошибок, а не от всех прочтений, и путать эти знаменатели нельзя. Наблюдалась она на всех уровнях квалификации — стаж от этого не защищает.</a:t>
            </a:r>
          </a:p>
          <a:p>
            <a:r>
              <a:t/>
            </a:r>
          </a:p>
          <a:p>
            <a:r>
              <a:t>Главное, что отсюда уносят: выигрыш и вред идут из одного места. Это не два независимых эффекта, которые можно развести настройкой; человек, который доверяет подсказке, именно поэтому и читает лучше — и именно поэтому ошибается там, где подсказка неверна.</a:t>
            </a:r>
          </a:p>
          <a:p>
            <a:r>
              <a:t/>
            </a:r>
          </a:p>
          <a:p>
            <a:r>
              <a:t>Про само изделие сказать почти нечего, и это тоже факт о работе: ни имени, ни обучающего набора она не печатает. Вход — серия магнитно-резонансных снимков коленного сустава, выход — заключение о разрыве передней крестообразной связки; ассистент лабораторный, не выведенный на рынок продукт.</a:t>
            </a:r>
          </a:p>
          <a:p>
            <a:r>
              <a:t/>
            </a:r>
          </a:p>
          <a:p>
            <a:r>
              <a:t>Теперь цена. Против склонности доверять автомату напрашивается очевидное лекарство: прятать подсказку там, где она скорее введёт в заблуждение, и показывать там, где она надёжна. Авторы это и предложили, и приложили число — снижение остаточных ошибок на сорок один и семь десятых процента. Число получено расчётом: взяли два уже собранных раунда, чтение без подсказки и чтение с подсказкой, и посчитали, что вышло бы, если бы в части случаев подсказку скрыли. Третьего раунда, где живые врачи работали бы по такому правилу, не было вовсе. Разница между «посчитано» и «измерено» здесь не придирка: в скрываемой зоне остаются и случаи, где модель права, и выигрыш от них исчезнет вместе с подсказкой. Поэтому знак итогового эффекта неизвестен, и говорить «нашли решение» нельзя.</a:t>
            </a:r>
          </a:p>
          <a:p>
            <a:r>
              <a:t/>
            </a:r>
          </a:p>
          <a:p>
            <a:r>
              <a:t>Отсюда ответ на пятый вопрос разбора — что переехало. Переехать здесь нечему, и формы словаря у приёма нет. Отказ этот такой же вердикт, как имя: приём существует расчётом, к живой работе его не прикладывали, и ни один человеческий шаг от него пока не двинулся. Соблазн достать из словаря «нагрузку на том же месте упала» велик — шаг тот же, исполнитель тот же, работы как будто меньше, — но опора этой формы в лекции стоит на двух клинических замерах, и этот случай в их число не входит. Форму присваивают измерению; расчёту её не присваивают.</a:t>
            </a:r>
          </a:p>
          <a:p>
            <a:r>
              <a:t/>
            </a:r>
          </a:p>
          <a:p>
            <a:r>
              <a:t>Рядом произносится раскрытый конфликт интересов: часть авторов работает в компании-производителе модели или имеет на неё патент. Это не отменяет замера и не делает числа ложными — это обстоятельство, которое читатель обязан знать, чтобы взвесить формулировки выводов.</a:t>
            </a:r>
          </a:p>
          <a:p>
            <a:r>
              <a:t/>
            </a:r>
          </a:p>
          <a:p>
            <a:r>
              <a:t>И упоминание для контраста, ради которого оно здесь и стоит. Алгоритмическое планирование смен медсестёр: время на составление графика упало с тридцати двух часов в месяц до шести, на восемьдесят один и два десятых процента. Выигрыш крупный, но обученной модели внутри планировщика нет вовсе — нормы отдыха, квалификации, заявки на отпуск и минимальный состав дежурства задают систему условий, которую решает оптимизатор. Формы словаря этот случай поэтому не получает, и в счёт разборов он не идёт. Ценность его в другом: ошибка в графике исправляется до начала смены и никому не стоит здоровья, а значит и дорогая процедура удержания здесь не нужна. Там, где цена промаха мала, она не окупается — и это такой же вывод, как все остальные.</a:t>
            </a:r>
          </a:p>
          <a:p>
            <a:r>
              <a:t/>
            </a:r>
          </a:p>
          <a:p>
            <a:r>
              <a:t>**Источники.** </a:t>
            </a:r>
            <a:r>
              <a:rPr u="sng">
                <a:solidFill>
                  <a:srgbClr val="065A82"/>
                </a:solidFill>
                <a:hlinkClick r:id="rId3"/>
              </a:rPr>
              <a:t>Wang D. Y., Ding J., Sun A. L. и соавт., JAMIA 2023;30(10):1684–1692, DOI 10.1093/jamia/ocad118</a:t>
            </a:r>
            <a:r>
              <a:t> · разбор алгоритмического планирования смен медсестёр</a:t>
            </a:r>
          </a:p>
        </p:txBody>
      </p:sp>
      <p:sp>
        <p:nvSpPr>
          <p:cNvPr id="4" name="Slide Number Placeholder 3"/>
          <p:cNvSpPr>
            <a:spLocks noGrp="1"/>
          </p:cNvSpPr>
          <p:nvPr>
            <p:ph type="sldNum" idx="5" sz="quarter"/>
          </p:nvPr>
        </p:nvSpPr>
        <p:spPr/>
      </p:sp>
    </p:spTree>
  </p:cSld>
  <p:clrMapOvr>
    <a:masterClrMapping/>
  </p:clrMapOvr>
</p:notes>
</file>

<file path=ppt/notesSlides/notesSlide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Требование регулятора в обеих рассматриваемых странах формулируется одинаково по смыслу: человек остаётся финальным звеном. Изделие допускают к продаже в предположении, что клиницист истолкует машинный вывод и примет клиническое решение сам. Точнее всех это записано в статье 14 европейского регламента: система высокого риска проектируется так, чтобы человек, который за ней надзирает, мог понимать её возможности и ограничения, сохранять настороженность к склонности доверять автомату, правильно истолковать вывод, не согласиться с ним или отменить его и остановить систему. Норма описывает способность вмешаться; физического присутствия человека при каждом решении она не требует. Это прямая нормативная формулировка проблемы подписи не глядя: нажатие кнопки согласия требованию не удовлетворяет, если вмешаться подписавший не может.</a:t>
            </a:r>
          </a:p>
          <a:p>
            <a:r>
              <a:t/>
            </a:r>
          </a:p>
          <a:p>
            <a:r>
              <a:t>Теперь измерение. Систематический обзор документации, поданной регулятору по радиологическим изделиям с искусственным интеллектом, разбирает 717 изделий, у которых эта документация доступна. Тестирование с человеком в контуре нашли у 56 — восемь из ста; значит, у 661 изделия при допуске не проверяли ничего о том, как с выводом обращается человек. Рядом два числа из той же работы: проспективное клиническое испытание было у 33 изделий, какое-либо клиническое испытание — у 208.</a:t>
            </a:r>
          </a:p>
          <a:p>
            <a:r>
              <a:t/>
            </a:r>
          </a:p>
          <a:p>
            <a:r>
              <a:t>Второй знаменатель другой, и дата среза у него своя. Из 950 допущенных изделий 924 — девяносто семь из ста — прошли упрощённым путём, по подобию ранее допущенному, а такой путь проспективной проверки не предполагает. Радиология здесь крупная по объёму область: 723 изделия из 950. Два знаменателя стоит держать врозь и произносить каждый со своим: 56 считаются от 717, 924 — от 950, и смешать их значило бы получить третье число, которого не измерял никто.</a:t>
            </a:r>
          </a:p>
          <a:p>
            <a:r>
              <a:t/>
            </a:r>
          </a:p>
          <a:p>
            <a:r>
              <a:t>Сила свидетельства разная для факта и для вывода. Для самого факта она сильная: это обзор поданной документации, и число пересчитывается по первоисточнику. Для чтения «значит, надзор формален» — средняя: поведение людей здесь не измерялось, измерялось содержание дела о допуске. Повторного независимого замера нет, публикация одна, и это произносится вслух.</a:t>
            </a:r>
          </a:p>
          <a:p>
            <a:r>
              <a:t/>
            </a:r>
          </a:p>
          <a:p>
            <a:r>
              <a:t>Что переехало в этом разборе — названо одной формой, и форма эта седьмая. Работа не переехала на другой шаг, не выросла в объёме и не досталась другой руке: переехала цена промаха в ней. Подпись осталась человеческой, основание решения пришло извне, а проверка способности возразить этому основанию при допуске не делалась у девяноста двух изделий из ста. Пара «дало — потребовало» читается здесь так: дало — требование сформулировано словами, которых раньше не было, и сформулировано проверяемо; потребовало — свидетельства исполнения, которого при допуске нет, и значит исполнение остаётся на организации, купившей изделие.</a:t>
            </a:r>
          </a:p>
          <a:p>
            <a:r>
              <a:t/>
            </a:r>
          </a:p>
          <a:p>
            <a:r>
              <a:t>Почему этот разбор подан с конца. Конец у него и есть результат: восемь изделий из ста. Счёт, из которого эта подпись сложилась, стоит следом — цена обеих ошибок, два классических режима и минуты труда, которых стоит двойное чтение. Прочитанный в обычном порядке, разбор кончался бы нормой и числом, а начинался бы минутами; прочитанный с конца, он сначала называет цену, а потом показывает, из чего она собрана.</a:t>
            </a:r>
          </a:p>
          <a:p>
            <a:r>
              <a:t/>
            </a:r>
          </a:p>
          <a:p>
            <a:r>
              <a:t>Вопрос залу стоит задать и подождать ответа: подпись под машинным решением есть в очень многих рабочих контурах — от согласования заявки до приёмки сборки, — а проверка того, что подписывающий физически успевает прочитать то, что подписывает, не делается почти ни в одном из них. Ответ «никто не проверял» здесь обычный, и он по существу.</a:t>
            </a:r>
          </a:p>
          <a:p>
            <a:r>
              <a:t/>
            </a:r>
          </a:p>
          <a:p>
            <a:r>
              <a:t>**Источники.** </a:t>
            </a:r>
            <a:r>
              <a:rPr u="sng">
                <a:solidFill>
                  <a:srgbClr val="065A82"/>
                </a:solidFill>
                <a:hlinkClick r:id="rId3"/>
              </a:rPr>
              <a:t>обзор поданной регуляторам документации, JAMA Network Open 2025;8(11):e2542338, срез июнь 2024</a:t>
            </a:r>
            <a:r>
              <a:t> · </a:t>
            </a:r>
            <a:r>
              <a:rPr u="sng">
                <a:solidFill>
                  <a:srgbClr val="065A82"/>
                </a:solidFill>
                <a:hlinkClick r:id="rId4"/>
              </a:rPr>
              <a:t>Регламент (ЕС) 2024/1689</a:t>
            </a:r>
          </a:p>
        </p:txBody>
      </p:sp>
      <p:sp>
        <p:nvSpPr>
          <p:cNvPr id="4" name="Slide Number Placeholder 3"/>
          <p:cNvSpPr>
            <a:spLocks noGrp="1"/>
          </p:cNvSpPr>
          <p:nvPr>
            <p:ph type="sldNum" idx="5" sz="quarter"/>
          </p:nvPr>
        </p:nvSpPr>
        <p:spPr/>
      </p:sp>
    </p:spTree>
  </p:cSld>
  <p:clrMapOvr>
    <a:masterClrMapping/>
  </p:clrMapOvr>
</p:notes>
</file>

<file path=ppt/notesSlides/notesSlide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Начинать надо с цены обеих ошибок, и в прочтении с конца она приходит второй — но от места в рассказе не меняется. Модель пропустила находку, человек подтвердил её заключение не глядя — пропущенный диагноз, и подпись под ним человеческая. Модель отметила лишнее, человек подтвердил — лишнее вмешательство, и подпись опять человеческая. Обе ошибки оплачивает пациент исходом, а отвечает за них подписавший.</a:t>
            </a:r>
          </a:p>
          <a:p>
            <a:r>
              <a:t/>
            </a:r>
          </a:p>
          <a:p>
            <a:r>
              <a:t>Классических режимов здесь два. Первый — человек смотрит первым и единственным: один читатель, одно заключение, никакого арбитража; собственного числа у этого режима нет, и сказано это прямо. Второй — два независимых читателя плюс арбитраж при расхождении, и у него счёт есть: чувствительность двойного чтения 73,8 из ста против 80,5 при чтении одним человеком с моделью. Чувствительность — доля найденного среди больных, и с выявляемостью её путать нельзя: выявляемость в той же программе около шести находок на тысячу обследованных. Со сцены это проговаривается обязательно: две величины считаются от разных знаменателей, и подмена одной другой превращает прирост в несопоставимое число. Две эти величины считаются от разных знаменателей, и названы они врозь нарочно.</a:t>
            </a:r>
          </a:p>
          <a:p>
            <a:r>
              <a:t/>
            </a:r>
          </a:p>
          <a:p>
            <a:r>
              <a:t>Доля найденного говорит, сколько находят; минуты говорят, чего это стоит. По рабочим записям национальной программы — 441 276 первичных прочтений, то есть около 219 тысяч обследований, потому что каждое читают двое, 16 центров — одно чтение маммограммы занимает 48 секунд в среднем при медиане 25 секунд, а согласительный разбор расхождения двух читателей 2 минуты 12 секунд при медиане 1 минута 55 секунд. Отсюда кратность: по медианам разбор дороже чтения в 4,6 раза, по средним в 2,75. Называется она двумя счётами, потому что по медианам и по средним выходит разное, и выбор одного из двух был бы выбором удобного.</a:t>
            </a:r>
          </a:p>
          <a:p>
            <a:r>
              <a:t/>
            </a:r>
          </a:p>
          <a:p>
            <a:r>
              <a:t>Дальше — сколько таких разборов становится. Когда модель заняла место второго человека на пятидесяти тысячах обследований, первичных чтений стало вдвое меньше, а объём арбитража вырос на 53 процента: в одном центре на 142, в другом на 22. Протоколы арбитража там разные — в одном разбирают только расхождения по отзыву, в другом все отзывы, — значит, устройство нового шага само задаёт нагрузку, и это управляемый параметр, а не свойство модели. Поэтому среднее произносится вместе с разбросом: без него оно читается как отраслевая норма, которой нет.</a:t>
            </a:r>
          </a:p>
          <a:p>
            <a:r>
              <a:t/>
            </a:r>
          </a:p>
          <a:p>
            <a:r>
              <a:t>Теперь то, ради чего эти минуты посчитаны. Чтение подешевело: человеческих первичных чтений стало вдвое меньше, и каждое из них стоило 48 секунд. Разбор расхождения не подешевел — он остался человеческой операцией прежней цены, и объём его вырос. Вывод от величин при этом не зависит: экономия на одном шаге не обязана компенсировать рост другого, и счёт в одной валюте для этой пары никто не делал. Утверждать «в сумме выгодно» или «в сумме дороже» на этих числах нельзя; что можно — назвать оба движения и их направления.</a:t>
            </a:r>
          </a:p>
          <a:p>
            <a:r>
              <a:t/>
            </a:r>
          </a:p>
          <a:p>
            <a:r>
              <a:t>И последнее, что связывает этот счёт с тем, чем разбор кончился. Подпись, которую норма требует держать человеку, держится не на присутствии, а на минутах: на том, что подписывающий успевает прочитать и разобрать. Минуты здесь посчитаны, и они растут; проверка способности возразить при допуске не делалась у девяноста двух изделий из ста. Два этих факта стоят рядом и читаются вместе: минуты растут у того, чья способность возразить не проверялась. Вот это и есть вся цена подписи, посчитанная в единицах, которые можно сложить и предъявить.</a:t>
            </a:r>
          </a:p>
          <a:p>
            <a:r>
              <a:t/>
            </a:r>
          </a:p>
          <a:p>
            <a:r>
              <a:t>**Источники.** </a:t>
            </a:r>
            <a:r>
              <a:rPr u="sng">
                <a:solidFill>
                  <a:srgbClr val="065A82"/>
                </a:solidFill>
                <a:hlinkClick r:id="rId3"/>
              </a:rPr>
              <a:t>Hovda, Holen, Hofvind, European Radiology 2026, DOI 10.1007/s00330-025-12273-x</a:t>
            </a:r>
            <a:r>
              <a:t> · </a:t>
            </a:r>
            <a:r>
              <a:rPr u="sng">
                <a:solidFill>
                  <a:srgbClr val="065A82"/>
                </a:solidFill>
                <a:hlinkClick r:id="rId4"/>
              </a:rPr>
              <a:t>Warren L. M. и соавт., Nature Cancer 2026, DOI 10.1038/s43018-026-01128-z</a:t>
            </a:r>
          </a:p>
        </p:txBody>
      </p:sp>
      <p:sp>
        <p:nvSpPr>
          <p:cNvPr id="4" name="Slide Number Placeholder 3"/>
          <p:cNvSpPr>
            <a:spLocks noGrp="1"/>
          </p:cNvSpPr>
          <p:nvPr>
            <p:ph type="sldNum" idx="5" sz="quarter"/>
          </p:nvPr>
        </p:nvSpPr>
        <p:spPr/>
      </p:sp>
    </p:spTree>
  </p:cSld>
  <p:clrMapOvr>
    <a:masterClrMapping/>
  </p:clrMapOvr>
</p:notes>
</file>

<file path=ppt/notesSlides/notesSlide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Рамка, сложившаяся в работах 2019 и 2020 годов, называет четырёх и у каждого разделяет две вещи: что он контролирует и за что отвечает.</a:t>
            </a:r>
          </a:p>
          <a:p>
            <a:r>
              <a:t/>
            </a:r>
          </a:p>
          <a:p>
            <a:r>
              <a:t>Разработчик контролирует обучающие данные, архитектуру и обновления модели — почти всё, что определяет качество вывода, — и отвечает за соответствие изделия заявленному назначению. Врач контролирует решение по одному человеку и отвечает за это решение целиком. Больница контролирует закупку, настройку, обучение персонала и порядок применения — отвечает за организацию работы. Регулятор контролирует допуск и надзор после допуска, отвечает за рамку.</a:t>
            </a:r>
          </a:p>
          <a:p>
            <a:r>
              <a:t/>
            </a:r>
          </a:p>
          <a:p>
            <a:r>
              <a:t>Читается таблица в одну строку: контроль и ответственность лежат у разных участников, и шов между ними проходит по подписи врача. Разработчик держит то, что определяет качество вывода, и не отвечает за решение о конкретном человеке. Врач отвечает за решение целиком и не контролирует ни обучающие данные, ни обновления. Измеренный разрыв — проверку способности вмешаться нашли у 56 из 717 радиологических изделий, допущенных к обращению (срез июнь 2024), — и есть измерение этого шва: ответственность по шву передана, а проверка способности её нести по шву не передана.</a:t>
            </a:r>
          </a:p>
          <a:p>
            <a:r>
              <a:t/>
            </a:r>
          </a:p>
          <a:p>
            <a:r>
              <a:t>Рамка качественная, числовых данных в ней нет, и читать её как измерение нельзя: иначе таблица выглядит доказательством того, что она лишь описывает. Границу стоит назвать: она описывает четырёх участников клинического контура и ничего не говорит о том, кто платит за лечение.</a:t>
            </a:r>
          </a:p>
          <a:p>
            <a:r>
              <a:t/>
            </a:r>
          </a:p>
          <a:p>
            <a:r>
              <a:t>Формулировки по странам различаются, и общей теории из них не выводится. В Европе требуется способность понять ограничения, не согласиться, отменить и остановить, а присутствие при каждом решении не обязательно. В России подпись есть юридический акт, и при разборе оценивают соответствие действий врача утверждённым порядкам: ответственность не наступает при соответствии — независимо от того, следовал врач подсказке или возразил ей. В Китае рамка 2026 года по применению искусственного интеллекта в обращении лекарств формулирует совместное человеко-машинное рецензирование и отказ от перехода к автономным регуляторным решениям.</a:t>
            </a:r>
          </a:p>
          <a:p>
            <a:r>
              <a:t/>
            </a:r>
          </a:p>
          <a:p>
            <a:r>
              <a:t>Теперь то, что делает этот шов дорогим не в теории, а в измерении. Разбор случая после исхода — процедура, которой медицина и держит цену ошибки: собирается комиссия, сверяет действия человека с утверждёнными порядками и решает, разумно ли он поступил. Вопрос, который до сих пор никто не задавал этой процедуре вслух: а как она сама относится к тому, согласился человек с подсказкой или возразил ей.</a:t>
            </a:r>
          </a:p>
          <a:p>
            <a:r>
              <a:t/>
            </a:r>
          </a:p>
          <a:p>
            <a:r>
              <a:t>Ответ измерен, и измерен предрегистрированным испытанием со случайным распределением. Участникам давали один и тот же случай, менялось одно: принял врач машинную подсказку или отверг её. Врача, который принял подсказку в пользу стандартного лечения, оценивают как более разумного, чем того, кто её отверг. Так оценивают взрослые жители двух стран — и, отдельной выборкой, двести сорок восемь немецких врачей, то есть ровно та сторона, которую порядок разбора и назначает разбирать случай коллеги. Величина эффекта небольшая и значимая; предшествующее испытание 2021 года на двух тысячах взрослых дало то же направление.</a:t>
            </a:r>
          </a:p>
          <a:p>
            <a:r>
              <a:t/>
            </a:r>
          </a:p>
          <a:p>
            <a:r>
              <a:t>У этого измерения есть вторая половина, и без неё его нельзя произносить. Защитный эффект согласия появляется только тогда, когда подсказка советует стандартное лечение. При нестандартной рекомендации разницы между принявшим и отвергнувшим нет, и это проверено на равнозначность, а не выведено из отсутствия значимости. То есть выгодно не «соглашаться с машиной» вообще, а соглашаться с машиной там, где она советует то, что и так принято. Оговорка разряда тоже обязательна: оценивается разумность поведения в задании, а не исход настоящего иска.</a:t>
            </a:r>
          </a:p>
          <a:p>
            <a:r>
              <a:t/>
            </a:r>
          </a:p>
          <a:p>
            <a:r>
              <a:t>Зачем это сказано здесь, а не в перечне адресов платежа. Адреса — внимание, навык, подпись, арбитраж — называют, чем платят. Это измерение называет не адрес, а причину, по которой платят именно подписью. Поставить его пятым в тот же ряд значило бы смешать два разряда в одном перечне.</a:t>
            </a:r>
          </a:p>
          <a:p>
            <a:r>
              <a:t/>
            </a:r>
          </a:p>
          <a:p>
            <a:r>
              <a:t>И что из него следует для четвёртой ступени участия. До этого места «подписывает не глядя» читалось как упрёк — человек поленился. С этим числом ступень читается иначе: подписать дешевле, чем не согласиться и ошибиться. Поведение рациональное, и поменять его призывом нельзя — меняется оно только там, где меняют сам порядок разбора. Формальное требование участия человека, не подкреплённое изменённым порядком разбора, отменяет себя само: оно требует способности возразить и одновременно делает возражение самым дорогим из доступных ходов.</a:t>
            </a:r>
          </a:p>
          <a:p>
            <a:r>
              <a:t/>
            </a:r>
          </a:p>
          <a:p>
            <a:r>
              <a:t>Приложим шов к женщине с письмом. Если по её случаю через год соберут комиссию, перед комиссией будет один вопрос: соответствовали ли действия человека утверждённым порядкам. Вопроса о модели в этом списке нет — ни о том, какой версией читали её снимок, ни о том, что показала подсказка, ни о том, кто её обучал. Разработчик к этому разбору не вызывается и ответственности за решение о ней не несёт, хотя именно он держит данные, порог и обновления.</a:t>
            </a:r>
          </a:p>
          <a:p>
            <a:r>
              <a:t/>
            </a:r>
          </a:p>
          <a:p>
            <a:r>
              <a:t>**Источники.** </a:t>
            </a:r>
            <a:r>
              <a:rPr u="sng">
                <a:solidFill>
                  <a:srgbClr val="065A82"/>
                </a:solidFill>
                <a:hlinkClick r:id="rId3"/>
              </a:rPr>
              <a:t>Tacconelli и соавт., How Following Medical AI Advice Can Mitigate Malpractice Liability, Journal of Nuclear Medicine 2026;67(9):1474–1480</a:t>
            </a:r>
            <a:r>
              <a:t> — предрегистрированное испытание со случайным распределением: 248 немецких врачей и взрослые двух стран · </a:t>
            </a:r>
            <a:r>
              <a:rPr u="sng">
                <a:solidFill>
                  <a:srgbClr val="065A82"/>
                </a:solidFill>
                <a:hlinkClick r:id="rId4"/>
              </a:rPr>
              <a:t>предшественник, Tobia и соавт., там же 2021;62(1):17–21</a:t>
            </a:r>
          </a:p>
        </p:txBody>
      </p:sp>
      <p:sp>
        <p:nvSpPr>
          <p:cNvPr id="4" name="Slide Number Placeholder 3"/>
          <p:cNvSpPr>
            <a:spLocks noGrp="1"/>
          </p:cNvSpPr>
          <p:nvPr>
            <p:ph type="sldNum" idx="5" sz="quarter"/>
          </p:nvPr>
        </p:nvSpPr>
        <p:spPr/>
      </p:sp>
    </p:spTree>
  </p:cSld>
  <p:clrMapOvr>
    <a:masterClrMapping/>
  </p:clrMapOvr>
</p:notes>
</file>

<file path=ppt/notesSlides/notesSlide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Этот кадр — про формулировку, которая сильнее любого предостережения, и про то, чего в ней нет.</a:t>
            </a:r>
          </a:p>
          <a:p>
            <a:r>
              <a:t/>
            </a:r>
          </a:p>
          <a:p>
            <a:r>
              <a:t>Политика принята Палатой делегатов американской врачебной ассоциации двенадцатого ноября две тысячи двадцать четвёртого года; документ на двадцать две страницы, и пункт один-ж в нём — то, ради чего документ здесь. Он говорит две вещи подряд. Первая: клинические решения, на которые повлияла модель, обязаны иметь назначенные точки квалифицированного человеческого вмешательства. Это обычная формула, её пишут все. Вторая — та, ради которой кадр и стоит: квалифицированный человек определяется как лицензированный врач, обладающий квалификацией и подготовкой, достаточными, чтобы оказать ту же медицинскую услугу самостоятельно, без помощи модели.</a:t>
            </a:r>
          </a:p>
          <a:p>
            <a:r>
              <a:t/>
            </a:r>
          </a:p>
          <a:p>
            <a:r>
              <a:t>Разберём, что это определение делает. Весь вечер мы разбирали износ навыка как расход: врач работает с помощником, и его собственный результат без помощника падает. Это неприятно, но звучит как вопрос профессиональной гигиены. Здесь то же сказано как условие пригодности человека к той роли, которую норма ему назначила. Человек в контуре нужен не для присутствия, а чтобы вмешаться; вмешаться может только тот, кто умеет сделать работу сам; значит врач, разучившийся работать без подсказки, формально перестаёт быть тем человеком, которого требует норма. Схема при этом выглядит исправной: подпись стоит, точка вмешательства назначена, документы в порядке.</a:t>
            </a:r>
          </a:p>
          <a:p>
            <a:r>
              <a:t/>
            </a:r>
          </a:p>
          <a:p>
            <a:r>
              <a:t>Сопоставьте это с разбором доли обнаружения. Девятнадцать эндоскопистов со средним стажем двадцать восемь лет, четыре центра, процедуры без помощника: двадцать восемь целых четыре десятых из ста до внедрения и двадцать две целых четыре десятых после. Разряд свидетельства там низкий, повторения нет, и мы это произносим вслух каждый раз. Но прочитанное рядом с определением квалифицированного человека это измерение меняет жанр: оно перестаёт быть наблюдением о привычках врача и становится замером того, выполняется ли норма.</a:t>
            </a:r>
          </a:p>
          <a:p>
            <a:r>
              <a:t/>
            </a:r>
          </a:p>
          <a:p>
            <a:r>
              <a:t>Та же политика в том же документе требует от разработчика раскрывать происхождение, объём и временные границы обучающих данных, точность разметки, данные внешней проверки с учётом сдвига и деградации модели и наблюдение после выпуска. То есть в части изделия документ подробен до перечня. А в части человека он ограничивается определением.</a:t>
            </a:r>
          </a:p>
          <a:p>
            <a:r>
              <a:t/>
            </a:r>
          </a:p>
          <a:p>
            <a:r>
              <a:t>И теперь то, чего в нём нет, — и это надо произнести ровно так же твёрдо, как саму формулу. Порога нет: не сказано, какая доля самостоятельных прочтений считается достаточной. Срока нет: не сказано, как часто способность работать без подсказки надо подтверждать. Процедуры нет: не сказано, кто и чем эту способность проверяет. Документ, который делает навык условием законности, не даёт ни одного способа узнать, выполнено ли условие.</a:t>
            </a:r>
          </a:p>
          <a:p>
            <a:r>
              <a:t/>
            </a:r>
          </a:p>
          <a:p>
            <a:r>
              <a:t>Сравните с тем, как устроена проверка изделия. У изделия есть заявленное назначение, клинические данные, досье, надзор после допуска и отзыв с рынка. У человека, от которого зависит законность всей схемы, нет ни заявленного назначения, ни досье, ни надзора. Мы уже видели этот перекос числом: способность вмешаться проверяли у пятидесяти шести изделий из семисот семнадцати. Здесь он виден с другой стороны: даже там, где требование к человеку сформулировано точнее всего, измерять его никто не поручил.</a:t>
            </a:r>
          </a:p>
          <a:p>
            <a:r>
              <a:t/>
            </a:r>
          </a:p>
          <a:p>
            <a:r>
              <a:t>Что из этого берёт инженер, который строит контур. Определение годится как рабочий критерий, и применять его можно сразу, не дожидаясь, пока кто-нибудь назначит порог. Если в вашем контуре человеку отведена точка вмешательства, спросите, умеет ли этот человек сделать ту же работу без модели, и чем это подтверждено. Если ответа нет, точка вмешательства в вашем контуре уже стоит формально. И второй вопрос, следующий из той же формулы: что в контуре устроено так, чтобы умение сохранялось. Доля случаев, которые проходят разбор вручную, и собственное мнение, записанное до показа подсказки, — два названных способа, и оба упоминаются в государственных документах по этой теме без единого числа.</a:t>
            </a:r>
          </a:p>
          <a:p>
            <a:r>
              <a:t/>
            </a:r>
          </a:p>
          <a:p>
            <a:r>
              <a:t>**Источники.** </a:t>
            </a:r>
            <a:r>
              <a:rPr u="sng">
                <a:solidFill>
                  <a:srgbClr val="065A82"/>
                </a:solidFill>
                <a:hlinkClick r:id="rId3"/>
              </a:rPr>
              <a:t>Политика Американской медицинской ассоциации о разработке, развёртывании и применении дополненного интеллекта в медицине, принята Палатой делегатов 12 ноября 2024 года, пункт 1(g)</a:t>
            </a:r>
            <a:r>
              <a:t>. Дословная формулировка пункта: «A qualified human is defined as a licensed physician with the necessary qualifications and training to independently provide the same medical service without the aid of AI».</a:t>
            </a:r>
          </a:p>
        </p:txBody>
      </p:sp>
      <p:sp>
        <p:nvSpPr>
          <p:cNvPr id="4" name="Slide Number Placeholder 3"/>
          <p:cNvSpPr>
            <a:spLocks noGrp="1"/>
          </p:cNvSpPr>
          <p:nvPr>
            <p:ph type="sldNum" idx="5" sz="quarter"/>
          </p:nvPr>
        </p:nvSpPr>
        <p:spPr/>
      </p:sp>
    </p:spTree>
  </p:cSld>
  <p:clrMapOvr>
    <a:masterClrMapping/>
  </p:clrMapOvr>
</p:notes>
</file>

<file path=ppt/notesSlides/notesSlide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Переобучение на новых данных, смена версии, донастройка на население конкретной больницы — всё это меняет поведение изделия уже на рынке. Регулятор отвечает тремя механизмами.</a:t>
            </a:r>
          </a:p>
          <a:p>
            <a:r>
              <a:t/>
            </a:r>
          </a:p>
          <a:p>
            <a:r>
              <a:t>Первый — заранее утверждённый план изменений. Производитель вместе с заявкой описывает, какие именно изменения модели допустимы после выхода на рынок, включая автоматическое дообучение, и протокол проверки каждого: данные, обучение, тестирование, маркировку, защиту от вторжения, систему качества. Если план утверждён, последующие изменения в его рамках новой заявки не требуют. Прямой ответ на вопрос, что делать с моделью, которая учится дальше, звучит так: разрешить изменение до того, как оно произошло, и перенести работу на проектирование. Конструкция осмысленная, и цена у неё есть: качество проверки целиком определяется качеством плана, написанного до того, как изменения случились.</a:t>
            </a:r>
          </a:p>
          <a:p>
            <a:r>
              <a:t/>
            </a:r>
          </a:p>
          <a:p>
            <a:r>
              <a:t>Второй — передача данных о работе изделия регулятору. В отечественном контуре порядок утверждён приказом, номер которого проверен, и на этом утверждения заканчиваются: дата вступления в силу, срок действия и область действия по тексту акта не установлены. Поэтому слов «обязательная передача» и утверждений, что поток данных уже идёт, здесь нет.</a:t>
            </a:r>
          </a:p>
          <a:p>
            <a:r>
              <a:t/>
            </a:r>
          </a:p>
          <a:p>
            <a:r>
              <a:t>Третий — сроки европейского регламента, и путаница здесь дорогая. Закон разводит обязательства по приложениям, а не по признаку «самостоятельное или встроенное». Приложение III — перечисленные сферы применения высокого риска, срок 2 декабря 2027 года. Приложение I — искусственный интеллект в составе изделий, которые регулирует отраслевое законодательство Союза; медицинские изделия названы там прямо, срок 2 августа 2028 года. Самостоятельное медицинское программное обеспечение регулируется как медицинское изделие — значит, попадает в Приложение I и живёт по августу 2028 года, а не по декабрю 2027. Отсрочка — политическое решение, и называется нейтрально.</a:t>
            </a:r>
          </a:p>
          <a:p>
            <a:r>
              <a:t/>
            </a:r>
          </a:p>
          <a:p>
            <a:r>
              <a:t>Теперь измеренное последствие этой рамки, и оно показывает, где она не успевает. Исследование реестра со срезом в ноябре 2024 года: из 950 допущенных изделий с искусственным интеллектом отзывались 60, на них пришлось 182 отзывных события, и 79 из этих 182 — 43,4 процента — случились в первые двенадцать месяцев после допуска, примерно вдвое чаще, чем в среднем по этому пути допуска. Изделия без заявленной клинической проверки отзывались чаще: в среднем 3,4 отзыва на изделие против 1,9 у проверенных ретроспективно. К концу исследования 108 отзывов из 182 оставались неразрешёнными. Знаменатели надо держать врозь: 950 — общий объём, из которого отобраны 60 отзывавшихся; 182 — число событий, пришедшихся на эти 60.</a:t>
            </a:r>
          </a:p>
          <a:p>
            <a:r>
              <a:t/>
            </a:r>
          </a:p>
          <a:p>
            <a:r>
              <a:t>Читается это так: ранний отзыв — проверка, которая не состоялась до допуска и состоялась после. Рамка переносит работу на проектирование, и то, чего в проектировании не предусмотрели, выясняется на рынке; доля 43,4 процента в первый год — измеренный объём такого выяснения. Отдельно — чего найти не удалось: ни одного именованного случая «допуск выдали — отозвали за диагностическую ошибку» в собранном материале нет. Это отсутствие данных, а не отсутствие события.</a:t>
            </a:r>
          </a:p>
          <a:p>
            <a:r>
              <a:t/>
            </a:r>
          </a:p>
          <a:p>
            <a:r>
              <a:t>Отечественный реестр считает ту же величину с другой стороны: зарегистрированных медицинских программ с искусственным интеллектом 48 в ноябре 2025 года, 57 в июне 2026, 59 в августе 2026, и темп регистраций вырос втрое — 13 за 2020 и 2021 годы, 9 за 2022 и 2023, 26 за 2024 и 2025. Доля от общего реестра не приводится: знаменатель «всего медицинских изделий» в источниках расходится, 28 тысяч против 48 тысяч, и достоверен только порядок величины — десятые доли процента. И пробел, который называется числом, чтобы не выглядеть умолчанием: независимой, то есть не организаторской, оценки влияния этих систем на работу врача найти не удалось, и установлено это двадцатью двумя попытками — восемнадцать поисковых формулировок и четыре обращения к профильным журналам и базе диссертаций.</a:t>
            </a:r>
          </a:p>
          <a:p>
            <a:r>
              <a:t/>
            </a:r>
          </a:p>
          <a:p>
            <a:r>
              <a:t>Цена обеих ошибок у надзорного механизма не измерена, классического режима в той же цене никто не посчитал. Обзор механизмов остаётся обзором.</a:t>
            </a:r>
          </a:p>
          <a:p>
            <a:r>
              <a:t/>
            </a:r>
          </a:p>
          <a:p>
            <a:r>
              <a:t>**Источники.** </a:t>
            </a:r>
            <a:r>
              <a:rPr u="sng">
                <a:solidFill>
                  <a:srgbClr val="065A82"/>
                </a:solidFill>
                <a:hlinkClick r:id="rId3"/>
              </a:rPr>
              <a:t>руководство регулятора США по плану предварительно утверждённых изменений модели, декабрь 2024</a:t>
            </a:r>
            <a:r>
              <a:t> · </a:t>
            </a:r>
            <a:r>
              <a:rPr u="sng">
                <a:solidFill>
                  <a:srgbClr val="065A82"/>
                </a:solidFill>
                <a:hlinkClick r:id="rId4"/>
              </a:rPr>
              <a:t>приказ Росздравнадзора от 21.07.2025 № 4472</a:t>
            </a:r>
            <a:r>
              <a:t> · </a:t>
            </a:r>
            <a:r>
              <a:rPr u="sng">
                <a:solidFill>
                  <a:srgbClr val="065A82"/>
                </a:solidFill>
                <a:hlinkClick r:id="rId5"/>
              </a:rPr>
              <a:t>Регламент (ЕС) 2024/1689</a:t>
            </a:r>
            <a:r>
              <a:t> · </a:t>
            </a:r>
            <a:r>
              <a:rPr u="sng">
                <a:solidFill>
                  <a:srgbClr val="065A82"/>
                </a:solidFill>
                <a:hlinkClick r:id="rId6"/>
              </a:rPr>
              <a:t>Lee B. и соавт., JAMA Health Forum 2025;6(8):e253172, срез ноябрь 2024</a:t>
            </a:r>
          </a:p>
        </p:txBody>
      </p:sp>
      <p:sp>
        <p:nvSpPr>
          <p:cNvPr id="4" name="Slide Number Placeholder 3"/>
          <p:cNvSpPr>
            <a:spLocks noGrp="1"/>
          </p:cNvSpPr>
          <p:nvPr>
            <p:ph type="sldNum" idx="5" sz="quarter"/>
          </p:nvPr>
        </p:nvSpPr>
        <p:spPr/>
      </p:sp>
    </p:spTree>
  </p:cSld>
  <p:clrMapOvr>
    <a:masterClrMapping/>
  </p:clrMapOvr>
</p:notes>
</file>

<file path=ppt/notesSlides/notesSlide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Соберём стадию по тем же четырём вопросам, и у каждой клетки своя база. Каждый пункт свода здесь — ссылка на разобранный кадр, а не новое утверждение: если число в своде вызывает вопрос, ответ стоит искать на кадре, откуда оно пришло, вместе с его знаменателем и разрядом свидетельства.</a:t>
            </a:r>
          </a:p>
          <a:p>
            <a:r>
              <a:t/>
            </a:r>
          </a:p>
          <a:p>
            <a:r>
              <a:t>Что получается. Подсказка поднимает долю верных заключений с восьмидесяти семи и двух десятых до девяноста шести и четырёх десятых из ста — но против одного читателя, не против пары. Замена второго человека сокращает первичные чтения вдвое, и счёт этому есть в минутах: сорок восемь секунд на чтение маммограммы против двух минут двенадцати секунд на разбор расхождения. И требование к надзору названо словами: понять ограничения, сохранять настороженность к доверию автомату, правильно истолковать вывод, не согласиться, остановить.</a:t>
            </a:r>
          </a:p>
          <a:p>
            <a:r>
              <a:t/>
            </a:r>
          </a:p>
          <a:p>
            <a:r>
              <a:t>Что не получается. Независимость второго чтения не удерживается, когда оба читателя видят одну и ту же подсказку. От разбора расхождений избавиться не вышло: при вдвое меньшем числе первичных чтений объём арбитража вырос на пятьдесят три процента, и разброс между двумя центрами — от двадцати двух до ста сорока двух — показывает, что устройство нового шага само задаёт нагрузку. А проверку способности подписавшего возразить нашли у пятидесяти шести изделий из семисот семнадцати.</a:t>
            </a:r>
          </a:p>
          <a:p>
            <a:r>
              <a:t/>
            </a:r>
          </a:p>
          <a:p>
            <a:r>
              <a:t>Что стало с работой. Сместилась цена ошибки: подпись осталась человеческой, а основание решения пришло извне. Нагрузка выросла на том же месте — на арбитраже, и каждый разбор дороже чтения. И третья клетка не форма, а свойство: сорок пять и пять десятых из ста оставшихся ошибок связаны со склонностью доверять автомату, на всех уровнях стажа.</a:t>
            </a:r>
          </a:p>
          <a:p>
            <a:r>
              <a:t/>
            </a:r>
          </a:p>
          <a:p>
            <a:r>
              <a:t>Что это держит. Подпись как юридический акт физического лица — права подписи у модели нет ни в одной из рассмотренных стран, и это не формальность, а основание, на котором стоит вся конструкция раздела. Двойное чтение с арбитражем там, где второго читателя не заменили: механизм рабочий, и ломает его именно замена, а не сам инструмент. Разбор случая после исхода и правка порядка по его итогам — единственный из трёх механизмов, который меняет не поведение одного человека, а документ, по которому работают все.</a:t>
            </a:r>
          </a:p>
          <a:p>
            <a:r>
              <a:t/>
            </a:r>
          </a:p>
          <a:p>
            <a:r>
              <a:t>И то, чего свод не говорит, хотя читается, будто говорит. Ни одно из этих чисел не складывается с другим: прирост доли верных заключений посчитан против одного читателя, минуты труда — в национальной программе двойного чтения, доля изделий без проверки — по поданной документации. Три разные работы, три разных знаменателя. Свод ставит их рядом, чтобы показать направление, и не даёт права на арифметику между ними.</a:t>
            </a:r>
          </a:p>
          <a:p>
            <a:r>
              <a:t/>
            </a:r>
          </a:p>
          <a:p>
            <a:r>
              <a:t>Контраст с прошлой лекцией предъявляется прямо: там требований к искусственному интеллекту внутри промышленных изделий не было вовсе, здесь документ есть — с документами, сроками и измеримым исполнением.</a:t>
            </a:r>
          </a:p>
          <a:p>
            <a:r>
              <a:t/>
            </a:r>
          </a:p>
          <a:p>
            <a:r>
              <a:t>И то, чем раздел кончается, произносится вслух, потому что следующий раздел начинается именно с этого. Удерживает не сама подпись, а то, что стоит за ней: время прочитать вывод, способность с ним не согласиться и процедура, в которой это несогласие что-то меняет. Где за подписью ничего из этого нет, цена ошибки переезжает на того, кто не подписывал. Своего места в сетке задач у стадии нет и быть не может: подписывать модели нечем. Мерят здесь другое — ловит ли процедура, рассчитанная на ошибку человека, ошибку машинную.</a:t>
            </a:r>
          </a:p>
          <a:p>
            <a:r>
              <a:t/>
            </a:r>
          </a:p>
          <a:p>
            <a:r>
              <a:t>**Источники.** </a:t>
            </a:r>
            <a:r>
              <a:rPr u="sng">
                <a:solidFill>
                  <a:srgbClr val="065A82"/>
                </a:solidFill>
                <a:hlinkClick r:id="rId3"/>
              </a:rPr>
              <a:t>обзор поданной регуляторам документации по радиологическим изделиям, JAMA Network Open 2025;8(11):e2542338, срез июнь 2024</a:t>
            </a:r>
            <a:r>
              <a:t> · </a:t>
            </a:r>
            <a:r>
              <a:rPr u="sng">
                <a:solidFill>
                  <a:srgbClr val="065A82"/>
                </a:solidFill>
                <a:hlinkClick r:id="rId4"/>
              </a:rPr>
              <a:t>Hovda, Holen, Hofvind, European Radiology 2026, DOI 10.1007/s00330-025-12273-x</a:t>
            </a:r>
            <a:r>
              <a:t> · </a:t>
            </a:r>
            <a:r>
              <a:rPr u="sng">
                <a:solidFill>
                  <a:srgbClr val="065A82"/>
                </a:solidFill>
                <a:hlinkClick r:id="rId5"/>
              </a:rPr>
              <a:t>Wang D. Y. и соавт., JAMIA 2023;30(10):1684–1692</a:t>
            </a:r>
            <a:r>
              <a:t> · </a:t>
            </a:r>
            <a:r>
              <a:rPr u="sng">
                <a:solidFill>
                  <a:srgbClr val="065A82"/>
                </a:solidFill>
                <a:hlinkClick r:id="rId6"/>
              </a:rPr>
              <a:t>Регламент (ЕС) 2024/1689, статья 14</a:t>
            </a:r>
          </a:p>
        </p:txBody>
      </p:sp>
      <p:sp>
        <p:nvSpPr>
          <p:cNvPr id="4" name="Slide Number Placeholder 3"/>
          <p:cNvSpPr>
            <a:spLocks noGrp="1"/>
          </p:cNvSpPr>
          <p:nvPr>
            <p:ph type="sldNum" idx="5" sz="quarter"/>
          </p:nvPr>
        </p:nvSpPr>
        <p:spPr/>
      </p:sp>
    </p:spTree>
  </p:cSld>
  <p:clrMapOvr>
    <a:masterClrMapping/>
  </p:clrMapOvr>
</p:notes>
</file>

<file path=ppt/notesSlides/notesSlide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Раздел стоит сразу за разделом о том, чем удерживают, не по случайности порядка, а потому что отвечает на вопрос, который все предыдущие разделы оставили открытым. Прошлый раздел кончился подписью, за которой может не стоять ничего: цена ошибки переезжает на того, кто её не подписывал. Эта же мысль здесь поворачивается на человека целиком: есть ещё один шаг, которого никто не трогал, — сам человек, который решает. Работу измеряли всю лекцию: поток тревог, документ, снимок. Ни один из этих замеров не говорит, что происходит с тем, кто внутри этой работы остаётся решающим звеном.</a:t>
            </a:r>
          </a:p>
          <a:p>
            <a:r>
              <a:t/>
            </a:r>
          </a:p>
          <a:p>
            <a:r>
              <a:t>Раздел отличается от общего разговора о влиянии техники на людей тем, что в нём есть числа, снятые на реальной работе, а не домыслы о будущем или общие тревоги. Чисел мало, и именно поэтому они дорогие: единственное прямое измерение деквалификации на реальной, а не лабораторной работе случилось один раз, и повторения у него нет. Раздел называет это прямо, не прячет и не смягчает.</a:t>
            </a:r>
          </a:p>
          <a:p>
            <a:r>
              <a:t/>
            </a:r>
          </a:p>
          <a:p>
            <a:r>
              <a:t>Предметов в разделе два, и разбор по полной форме есть только у первого — второй предъявлен плоскостью и назван так прямо. Сначала — доля обнаружения, измеренная у тех же врачей до появления помощника и после периода работы с ним: единственное прямое свидетельство того, что навык расходуется, если инструмент исключить из работы. Затем — то, чего про доверие не измерено вовсе: раздел не стесняется сказать, где у него нет данных, а есть только предположение. Новые роли и шаги, появившиеся в процессе, когда часть решения стала доверяться модели, собраны в своде раздела вместе с остальным.</a:t>
            </a:r>
          </a:p>
          <a:p>
            <a:r>
              <a:t/>
            </a:r>
          </a:p>
          <a:p>
            <a:r>
              <a:t>Поэтому раздел закрывает не тему, а саму ось лекции, и закрывает её тем же приёмом, которым лекция читает чужие числа: называет, что измерено, а что нет.</a:t>
            </a:r>
          </a:p>
        </p:txBody>
      </p:sp>
      <p:sp>
        <p:nvSpPr>
          <p:cNvPr id="4" name="Slide Number Placeholder 3"/>
          <p:cNvSpPr>
            <a:spLocks noGrp="1"/>
          </p:cNvSpPr>
          <p:nvPr>
            <p:ph type="sldNum" idx="5" sz="quarter"/>
          </p:nvPr>
        </p:nvSpPr>
        <p:spPr/>
      </p:sp>
    </p:spTree>
  </p:cSld>
  <p:clrMapOvr>
    <a:masterClrMapping/>
  </p:clrMapOvr>
</p:notes>
</file>

<file path=ppt/notesSlides/notesSlide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Стадия эта устроена иначе всех прежних, и различение надо поставить первым. Все предыдущие разделы мерили работу: поток тревог, документ, снимок, процедуру вокруг подписи. Здесь предмет замера — сам исполнитель, и вопрос к нему один: держится ли он в форме. Инженер привык считать квалификацию выданной: диплом получен, допуск оформлен, сертификат на руках. В медицине она устроена иначе, и это несущее для всего раздела: врачебный навык — расходуемое.</a:t>
            </a:r>
          </a:p>
          <a:p>
            <a:r>
              <a:t/>
            </a:r>
          </a:p>
          <a:p>
            <a:r>
              <a:t>Теперь о том, какие данные о человеке на этой стадии получают и чем. Способов шесть, и они дают разное.</a:t>
            </a:r>
          </a:p>
          <a:p>
            <a:r>
              <a:t/>
            </a:r>
          </a:p>
          <a:p>
            <a:r>
              <a:t>Счёт процедур за год берётся из журнала выполненных работ: навык ручной процедуры поддерживается её выполнением, и снаружи это проверяется одной величиной — сколько раз человек её выполнил. Минимальное число в год назначают профессиональные общества, и ниже него специалист считается выпавшим из формы.</a:t>
            </a:r>
          </a:p>
          <a:p>
            <a:r>
              <a:t/>
            </a:r>
          </a:p>
          <a:p>
            <a:r>
              <a:t>Доля обнаружения считается из обычных протоколов, без всякого отдельного испытания, — и это редкое свойство: профессия получает проверку состояния отдельного исполнителя прямо из его повседневной работы, не устраивая ему экзамена. Устроена доля хитро. Это доля процедур, в которых врач нашёл хотя бы одно предраковое образование, от всех его процедур скрининга, и получить её старанием, волей или аккуратностью в описании нельзя: образование, за которым надо заглянуть под складку, попадает в знаменатель независимо от того, заглянул врач или нет, а в числитель — только если заглянул. Поэтому доля обнаружения измеряет поведение, а не отчётность о нём.</a:t>
            </a:r>
          </a:p>
          <a:p>
            <a:r>
              <a:t/>
            </a:r>
          </a:p>
          <a:p>
            <a:r>
              <a:t>Время выведения прибора засекается таймером: осмотр делается при выведении эндоскопа, чем медленнее выводят, тем больше успевают увидеть, а нижнюю границу назначили рекомендации. Аккредитационная проверка идёт от организации, которая за эту деятельность отвечает: допуск привязан к рабочему месту и к процедуре. Экзамен и накопленная учёба собираются к повторной сертификации. И разбор случая приходит после исхода — он же меняет порядок работы, если расхождение повторяется.</a:t>
            </a:r>
          </a:p>
          <a:p>
            <a:r>
              <a:t/>
            </a:r>
          </a:p>
          <a:p>
            <a:r>
              <a:t>Какое решение стадия принимает. Допускать · сузить допуск до части процедур · приостановить · не продлить. За этим решением стоит всё, что было раньше: человек либо продолжает решать на прежних стадиях — звать на обследование, читать измерение, ставить диагноз, подписывать, — либо нет. И это единственная стадия вечера, у которой решение принимается не о пациенте.</a:t>
            </a:r>
          </a:p>
          <a:p>
            <a:r>
              <a:t/>
            </a:r>
          </a:p>
          <a:p>
            <a:r>
              <a:t>И почему стадия идёт поперёк цикла, а не шагом внутри него. Прошлый раздел кончился подписью, за которой может не стоять ничего: цена ошибки переезжает на того, кто её не подписывал. Здесь та же мысль поворачивается на человека целиком. Тот, кто подписывает, — единственный, кого за вечер не измерил ни один замер: работу мерили всю лекцию, а того, кто внутри этой работы остаётся решающим звеном, не мерил никто. Поставить это шагом в ряд с отбором, диагностикой и наблюдением нельзя: шаг работы такого замера не показывает вовсе, и выстроить девять стадий в один ряд значило бы сделать вид, что они однородны.</a:t>
            </a:r>
          </a:p>
          <a:p>
            <a:r>
              <a:t/>
            </a:r>
          </a:p>
          <a:p>
            <a:r>
              <a:t>Одна оговорка про порядок, которую стоит произнести здесь же. Стадия стоит в вечере последней из содержательных не потому, что она менее важна, а потому, что измерить износ человека можно только после того, как показано, чем он был занят и чем его удерживали. Поставь её раньше — и мерить будет нечего.</a:t>
            </a:r>
          </a:p>
          <a:p>
            <a:r>
              <a:t/>
            </a:r>
          </a:p>
          <a:p>
            <a:r>
              <a:t>**Источники.** </a:t>
            </a:r>
            <a:r>
              <a:rPr u="sng">
                <a:solidFill>
                  <a:srgbClr val="065A82"/>
                </a:solidFill>
                <a:hlinkClick r:id="rId3"/>
              </a:rPr>
              <a:t>показатели качества колоноскопии, Gastrointestinal Endoscopy 2015</a:t>
            </a:r>
          </a:p>
          <a:p>
            <a:r>
              <a:t/>
            </a:r>
          </a:p>
          <a:p>
            <a:r>
              <a:t>И то же поле с моделью, названное до разбора. Из восьми действий обученная модель заняла одно — осмотр при выведении, где на участке изображения в реальном времени появляется рамка. Один шаг добавился: решить, доверять ли этой рамке. Подготовка, введение прибора, складка, снятие найденного, гистология, протокол и счёт показателей остались людям и профессии. И три места, где модель не работает, названы именами того, чего нет: поддержать навык она не может — измерено прямо обратное; показать врачу, чего он не увидел бы без подсветки, внутри процедуры нечем; и измерить его же результат без помощника не умеет ни она, ни какая-либо процедура ни в одной юрисдикции. Направление же развития инструмента стоит отметить сразу: от обнаружения он движется к характеристике найденного и дальше к автоматическому счёту показателей самого врача — то есть становится ещё и измерителем того, кто им пользуется.</a:t>
            </a:r>
          </a:p>
          <a:p>
            <a:r>
              <a:t/>
            </a:r>
          </a:p>
          <a:p>
            <a:r>
              <a:t>Восемь действий стадии, с кадра они сняты в эту заметку и называются вслух по порядку: подготовить пациента · ввести прибор до слепой кишки · осматривать при выведении · заглянуть за складку · снять найденное · отправить на гистологию · записать протокол · посчитать показатели самого врача. Семь первых делает человек руками, восьмое профессия делает за него по опубликованным рекомендациям — и это единственное место стадии, где форму конкретного врача меряет кто-то, кроме него самого.</a:t>
            </a:r>
          </a:p>
          <a:p>
            <a:r>
              <a:t/>
            </a:r>
          </a:p>
          <a:p>
            <a:r>
              <a:t>Два показателя, которыми эта внешняя проверка устроена, стоит назвать отдельно, потому что устроены они по-разному. Доля обнаружения — доля процедур, в которых найдено хотя бы одно образование; величина эта снимается с потока и стараться её поднять напрямую нельзя: она либо есть в работе, либо её нет. Время выведения прибора — величина дисциплинарная: нижняя граница ей назначена рекомендациями, и соблюдение проверяется по таймеру. Первая меряет результат, вторая — поведение, и подменять одну другой нельзя, хотя на практике подменяют: время держать проще.</a:t>
            </a:r>
          </a:p>
        </p:txBody>
      </p:sp>
      <p:sp>
        <p:nvSpPr>
          <p:cNvPr id="4" name="Slide Number Placeholder 3"/>
          <p:cNvSpPr>
            <a:spLocks noGrp="1"/>
          </p:cNvSpPr>
          <p:nvPr>
            <p:ph type="sldNum" idx="5" sz="quarter"/>
          </p:nvPr>
        </p:nvSpPr>
        <p:spPr/>
      </p:sp>
    </p:spTree>
  </p:cSld>
  <p:clrMapOvr>
    <a:masterClrMapping/>
  </p:clrMapOvr>
</p:notes>
</file>

<file path=ppt/notesSlides/notesSlide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Как это решение принимают без всякой модели. Три опоры, работающие одновременно, и ни одна не спрашивает самого человека.</a:t>
            </a:r>
          </a:p>
          <a:p>
            <a:r>
              <a:t/>
            </a:r>
          </a:p>
          <a:p>
            <a:r>
              <a:t>Объём практики: профессиональные общества назначают минимальное число процедур в год, ниже которого специалист считается выпавшим из формы. Аккредитация: допуск выдаётся к одному виду деятельности, выдаётся организацией, которая за эту деятельность отвечает, и привязан к рабочему месту и к процедуре — его можно сузить, приостановить, не продлить. Повторная сертификация: квалификация подтверждается периодически, и подтверждение предполагает и накопленную учёбу, и накопленную практику, потому что между двумя подтверждениями состояние специалиста меняется, причём в обе стороны.</a:t>
            </a:r>
          </a:p>
          <a:p>
            <a:r>
              <a:t/>
            </a:r>
          </a:p>
          <a:p>
            <a:r>
              <a:t>Три опоры отвечают на один вопрос — держится ли человек в форме, — и ни одна не обращается к нему самому. Профессия не спрашивает врача, в форме ли он: она считает за него, долей обнаружения и временем выведения прибора.</a:t>
            </a:r>
          </a:p>
          <a:p>
            <a:r>
              <a:t/>
            </a:r>
          </a:p>
          <a:p>
            <a:r>
              <a:t>Теперь картина, ради которой этот кадр стоит отдельно. Врач вернулся после года без процедур: административная должность, долгая болезнь, отпуск по уходу за ребёнком, перевод в другое отделение. Диплом тот же, сертификат действующий, допуск не отзывали — отзывать его было не за что. Первая процедура идёт иначе. Прибор продвигается медленнее. Рука дольше ищет угол, под которым проходится изгиб. Складку, за которую надо заглянуть, врач проходит мимо.</a:t>
            </a:r>
          </a:p>
          <a:p>
            <a:r>
              <a:t/>
            </a:r>
          </a:p>
          <a:p>
            <a:r>
              <a:t>И вот то, ради чего картина здесь стоит: он сам этого не знает. Процедура прошла без осложнений, протокол написан, пациент отпущен домой. Обратной связи нет и не будет: образование, которое не увидели, остаётся в человеке до следующего обследования, а оно через годы. Плохой осмотр выглядит ровно как хороший осмотр, в котором ничего не нашли. Отсюда и устройство трёх опор: самочувствие специалиста — негодный прибор для измерения его формы.</a:t>
            </a:r>
          </a:p>
          <a:p>
            <a:r>
              <a:t/>
            </a:r>
          </a:p>
          <a:p>
            <a:r>
              <a:t>Залу картина знакома с другой стороны. Навык, которым год не пользовались, теряется — это знает каждый, кто возвращался к языку или к предметной области после перерыва. Различие в одном. В инженерной работе о потере навыка сообщает ближайшая сборка, тест или обзор кода, в тот же день; здесь ближайший прибор, которым о ней узнают, — следующий визит того же пациента, через годы и к другому врачу.</a:t>
            </a:r>
          </a:p>
          <a:p>
            <a:r>
              <a:t/>
            </a:r>
          </a:p>
          <a:p>
            <a:r>
              <a:t>Теперь о самом поле работы, чтобы видеть, во что вмешивается модель. Осмотр складывается из восьми действий. Подготовить пациента. Ввести прибор до слепой кишки. Осматривать при выведении. Заглянуть за складку. Снять найденное. Отправить на гистологию. Записать протокол. Посчитать показатели самого врача. Семь первых делает человек руками; восьмое делает за него профессия, по опубликованным рекомендациям, и сам он в этом счёте не участвует.</a:t>
            </a:r>
          </a:p>
          <a:p>
            <a:r>
              <a:t/>
            </a:r>
          </a:p>
          <a:p>
            <a:r>
              <a:t>Из этих восьми обученная модель заняла одно — осмотр при выведении, где на участке изображения в реальном времени появляется рамка. И один шаг добавился: решить, доверять ли этой рамке. Подготовка, введение прибора, складка, снятие найденного, гистология, протокол и счёт показателей остались людям и профессии.</a:t>
            </a:r>
          </a:p>
          <a:p>
            <a:r>
              <a:t/>
            </a:r>
          </a:p>
          <a:p>
            <a:r>
              <a:t>И три места, где модель не работает, названы именами того, чего нет. Поддержать навык она не может — измерено прямо обратное, и это разбор следующего кадра. Показать врачу, чего он не увидел бы без подсветки, внутри процедуры нечем. Измерить его же результат без помощника не умеет ни она, ни какая-либо процедура ни в одной юрисдикции. Направление же развития инструмента стоит отметить сразу: от обнаружения он движется к характеристике найденного и дальше к автоматическому счёту показателей самого врача — то есть становится ещё и измерителем того, кто им пользуется.</a:t>
            </a:r>
          </a:p>
          <a:p>
            <a:r>
              <a:t/>
            </a:r>
          </a:p>
          <a:p>
            <a:r>
              <a:t>Вопрос раздела залу задаётся кадром раньше, на замере формы: у кого есть внешняя числовая проверка собственной формы и кто её считает — он сам, руководитель или заказчик. Второй вопрос за тот же раздел не задаётся: прежде на разборе стоял свой, про рабочий день без помощника, и кругом диеты он снят вместе со свёрткой пары. Два вопроса подряд зал читает как риторику и не отвечает ни на один.</a:t>
            </a:r>
          </a:p>
          <a:p>
            <a:r>
              <a:t/>
            </a:r>
          </a:p>
          <a:p>
            <a:r>
              <a:t>**Источники.** </a:t>
            </a:r>
            <a:r>
              <a:rPr u="sng">
                <a:solidFill>
                  <a:srgbClr val="065A82"/>
                </a:solidFill>
                <a:hlinkClick r:id="rId3"/>
              </a:rPr>
              <a:t>показатели качества колоноскопии, Gastrointestinal Endoscopy 2015</a:t>
            </a:r>
          </a:p>
        </p:txBody>
      </p:sp>
      <p:sp>
        <p:nvSpPr>
          <p:cNvPr id="4" name="Slide Number Placeholder 3"/>
          <p:cNvSpPr>
            <a:spLocks noGrp="1"/>
          </p:cNvSpPr>
          <p:nvPr>
            <p:ph type="sldNum" idx="5" sz="quarter"/>
          </p:nvPr>
        </p:nvSpPr>
        <p:spPr/>
      </p:sp>
    </p:spTree>
  </p:cSld>
  <p:clrMapOvr>
    <a:masterClrMapping/>
  </p:clrMapOvr>
</p:notes>
</file>

<file path=ppt/notesSlides/notesSlide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Цена обеих ошибок называется здесь до всякой точности, и первое, что надо понять про эту стадию: обратная связь приходит через годы. Пропущенное образование остаётся в человеке до следующего обследования — так и возникает болезнь, найденная между обследованиями. Увидеть лишнее стоит снятия, иногда кровотечения, гистологии и повторного визита. Несимметричность этих двух цен назначил не врач и не модель: её назначил орган здравоохранения, когда решал, кого и с какой периодичностью звать на обследование.</a:t>
            </a:r>
          </a:p>
          <a:p>
            <a:r>
              <a:t/>
            </a:r>
          </a:p>
          <a:p>
            <a:r>
              <a:t>Почему это место устроено опаснее остальных. В инженерной работе о промахе сообщает ближайшая сборка или проверка, в тот же день. Здесь ближайший измеритель — следующий визит того же пациента, через годы и к другому врачу. Плохо выполненный осмотр не чувствуется плохим ни в ту минуту, ни через месяц, и собственного сигнала о падении у человека нет вовсе. Поэтому дисциплину за него и считают процедурой — сам он узнать не может.</a:t>
            </a:r>
          </a:p>
          <a:p>
            <a:r>
              <a:t/>
            </a:r>
          </a:p>
          <a:p>
            <a:r>
              <a:t>Теперь второй шаг формы разбора, тот, на пропуске которого разборы и теряются. Модель, сравнённая с пустым местом, выигрывает всегда, и выигрыш этот ничего не значит: там, куда приходит помощник, уже работали два порядка, и оба измерены в той же единице — в доле обнаружения.</a:t>
            </a:r>
          </a:p>
          <a:p>
            <a:r>
              <a:t/>
            </a:r>
          </a:p>
          <a:p>
            <a:r>
              <a:t>Режим первый — дисциплина времени осмотра. Время выведения прибора удлинили с шести минут до девяти. Рандомизированное испытание, тысяча двадцать семь пациентов, пятьсот четырнадцать против пятисот тринадцати, время засекали по таймеру: доля обнаружения выросла с двадцати семи целых одной десятой до тридцати шести целых шести десятых процента при уровне значимости ноль целых одна тысячная. Отдельное наблюдение даёт и ручку к режиму: каждая дополнительная минута выведения прибавляет около шести процентов к шансам найти аденому, измерено в окне от шести до тринадцати минут.</a:t>
            </a:r>
          </a:p>
          <a:p>
            <a:r>
              <a:t/>
            </a:r>
          </a:p>
          <a:p>
            <a:r>
              <a:t>Режим второй — второй наблюдатель в кабинете: на тот же экран, кроме врача, смотрит медицинская сестра. Сводный разбор трёх рандомизированных испытаний на тысяче шестистах семидесяти шести пациентах: с тридцати девяти целых трёх десятых до сорока пяти целых семи десятых процента, относительный риск один и шестнадцать при интервале от одного и четырёх до одного и трёх. Второй сводный разбор, на одиннадцати испытаниях и восьми тысячах двухстах семидесяти восьми пациентах, даёт один и пятнадцать от одного и пяти до одного и двадцати шести. Оговорка самих авторов обзора называется вместе с числом: все включённые испытания несут высокий риск систематической ошибки, а выигрыша по обнаружению полипов и по продвинутым находкам в том же обзоре нет вовсе. И оговорка своя: часть эффекта может быть эффектом наблюдения за наблюдающим, и отделить одно от другого эти испытания не могли.</a:t>
            </a:r>
          </a:p>
          <a:p>
            <a:r>
              <a:t/>
            </a:r>
          </a:p>
          <a:p>
            <a:r>
              <a:t>Базы у двух приростов разные, между собой они не сравниваются; каждый сравнивается с приростом от помощника в своей работе. Вывод, ради которого шаг стоит отдельно: оба классических режима дают прирост того же порядка, что помощник, или больше, и ни один из них не бесплатен — первый стоит трёх минут времени врача на каждой процедуре, второй присутствия второго человека.</a:t>
            </a:r>
          </a:p>
          <a:p>
            <a:r>
              <a:t/>
            </a:r>
          </a:p>
          <a:p>
            <a:r>
              <a:t>А расхода навыка у этих двух режимов не измерял никто, и произносить это надо именно так: измерения нет. Сказать «они навык не расходуют» значило бы утверждать больше, чем измерено — ровно то, за что эта лекция разбирает поставщиков.</a:t>
            </a:r>
          </a:p>
          <a:p>
            <a:r>
              <a:t/>
            </a:r>
          </a:p>
          <a:p>
            <a:r>
              <a:t>**Источники.** </a:t>
            </a:r>
            <a:r>
              <a:rPr u="sng">
                <a:solidFill>
                  <a:srgbClr val="065A82"/>
                </a:solidFill>
                <a:hlinkClick r:id="rId3"/>
              </a:rPr>
              <a:t>Zhao и соавт., Clinical Gastroenterology and Hepatology 2022</a:t>
            </a:r>
            <a:r>
              <a:t> · </a:t>
            </a:r>
            <a:r>
              <a:rPr u="sng">
                <a:solidFill>
                  <a:srgbClr val="065A82"/>
                </a:solidFill>
                <a:hlinkClick r:id="rId4"/>
              </a:rPr>
              <a:t>Xu и соавт., Gastroenterology Research and Practice 2016</a:t>
            </a:r>
            <a:r>
              <a:t> · </a:t>
            </a:r>
            <a:r>
              <a:rPr u="sng">
                <a:solidFill>
                  <a:srgbClr val="065A82"/>
                </a:solidFill>
                <a:hlinkClick r:id="rId5"/>
              </a:rPr>
              <a:t>Lei и соавт., International Journal of Colorectal Disease 2024</a:t>
            </a:r>
          </a:p>
          <a:p>
            <a:r>
              <a:t/>
            </a:r>
          </a:p>
          <a:p>
            <a:r>
              <a:t>Устройство обоих классических режимов, снятое с плашек в эту заметку. Дисциплина осмотра: рандомизированное испытание на 1 027 пациентах, и подняли там не старание, а время — нижнюю границу выведения прибора удлинили с шести минут до девяти, после чего доля находок пошла с 27,1 до 36,6 из ста. Второй наблюдатель: сводный разбор трёх рандомизированных испытаний, 1 676 пациентов, 39,3 против 45,7 — и авторы свода сами называют высокий риск систематической ошибки у всех включённых работ, то есть число это слабее первого по разряду свидетельства. Базы у двух режимов разные, 27,1 и 39,3, поэтому приросты между собой не сравниваются: сравнивается каждый со своей базой. Цена ложной тревоги считается в осложнениях и повторных визитах, цена пропуска — в болезни, найденной между обследованиями; обе назначены до всякой точности.</a:t>
            </a:r>
          </a:p>
        </p:txBody>
      </p:sp>
      <p:sp>
        <p:nvSpPr>
          <p:cNvPr id="4" name="Slide Number Placeholder 3"/>
          <p:cNvSpPr>
            <a:spLocks noGrp="1"/>
          </p:cNvSpPr>
          <p:nvPr>
            <p:ph type="sldNum" idx="5" sz="quarter"/>
          </p:nvPr>
        </p:nvSpPr>
        <p:spPr/>
      </p:sp>
    </p:spTree>
  </p:cSld>
  <p:clrMapOvr>
    <a:masterClrMapping/>
  </p:clrMapOvr>
</p:notes>
</file>

<file path=ppt/notesSlides/notesSlide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Замысел разбора в том, где именно смотрели. В четырёх центрах внедрили помощника, подсвечивающего образование на видео в реальном времени, а затем посмотрели не на процедуры с ним, а на процедуры без него, выполненные теми же врачами: расход навыка виден только там, где инструмента нет.</a:t>
            </a:r>
          </a:p>
          <a:p>
            <a:r>
              <a:t/>
            </a:r>
          </a:p>
          <a:p>
            <a:r>
              <a:t>Состав. Девятнадцать эндоскопистов — шестнадцать гастроэнтерологов и три хирурга, у каждого больше двух тысяч выполненных колоноскопий, средний стаж 28 лет. Два окна по три месяца, помощник внедрён между ними. В основное сравнение вошли 1 443 процедуры без помощника: 795 в раннем окне и 648 в позднем. Это не ординаторы и не новички, и в этом половина силы наблюдения: просело у людей, которые два десятка лет свою форму держали.</a:t>
            </a:r>
          </a:p>
          <a:p>
            <a:r>
              <a:t/>
            </a:r>
          </a:p>
          <a:p>
            <a:r>
              <a:t>Результат. Доля обнаружения в процедурах без помощника — 28,4 процента до внедрения, это 226 находок на 795 процедур, и 22,4 процента после, 145 находок на 648. Абсолютная разница минус 6,0 процентного пункта при интервале от минус 10,5 до минус 1,6 и значимости 0,0089. В многофакторной модели работа рядом с помощником даёт отношение шансов 0,69 при интервале от 0,53 до 0,89; возраст пациента от шестидесяти лет даёт в той же модели 3,60 — то есть предсказывает выявляемость заметно сильнее. Кратность между этими двумя величинами не произносится: деление отношения больше единицы на отношение меньше единицы ничего не сравнивает. Шесть пунктов лежат в том же диапазоне, где живут эффекты состава пациентов, и это задаёт масштаб находки, не отменяя её.</a:t>
            </a:r>
          </a:p>
          <a:p>
            <a:r>
              <a:t/>
            </a:r>
          </a:p>
          <a:p>
            <a:r>
              <a:t>Оговорка про знаменатель, снятая с кадра, — без неё число 795 читается не тем, чем является. В раннем окне помощника в центрах ещё не было, поэтому 795 означает одновременно «процедур без помощника» и «процедур всего» — две разные величины, совпавшие по обстоятельствам. В позднем окне они расходятся: без помощника 648, всего 1 382. Сравнение 226 на 795 против 145 на 648 сделано честно, по одной графе, а рост общей нагрузки идёт рядом третьим числом и сам объясняет часть падения не хуже, чем износ навыка. Авторы этого не разводят, и именно сюда бьют три письма в редакцию.</a:t>
            </a:r>
          </a:p>
          <a:p>
            <a:r>
              <a:t/>
            </a:r>
          </a:p>
          <a:p>
            <a:r>
              <a:t>Сила свидетельства названа на экране и не смягчается: ретроспективное наблюдательное, не рандомизированное; причинности оно не доказывает, и авторы этого не утверждают. Окна короткие, регион один, система помощника одна, повторения нет ни одного. «Падение на пятую часть» и «шесть пунктов» — одна величина в двух выражениях, и произносить надо одно, иначе два выражения сложатся как два свидетельства.</a:t>
            </a:r>
          </a:p>
          <a:p>
            <a:r>
              <a:t/>
            </a:r>
          </a:p>
          <a:p>
            <a:r>
              <a:t>Устройство помощника: вход — поток кадров во время процедуры, выход — рамка на подозрительном участке, выведенная в ту же секунду. Система в исследовании одна, и имени её публикация не называет; на чём обучены системы этого класса, производители не публикуют. Имена у режима есть и проверяемы: обнаружение образований в реальном времени делают GI Genius от Medtronic, CAD EYE от Fujifilm и ENDO-AID CADe от Olympus; в сводных сетевых сравнениях разница между системами мала, и это важнее имён.</a:t>
            </a:r>
          </a:p>
          <a:p>
            <a:r>
              <a:t/>
            </a:r>
          </a:p>
          <a:p>
            <a:r>
              <a:t>Теперь пара, ради которой прежде стоял отдельный кадр. Дало: с включённым помощником врачи находят больше, и прирост доли обнаружения в рандомизированных испытаниях измерен и повторён многократно. Потребовало: умения искать самому. Расход виден за три месяца и у врачей со средним стажем двадцать восемь лет; речь о натренированном навыке, который поддерживается объёмом выполнения, — старательность здесь ни при чём, и падение шло ровно по центрам, а не у отдельных врачей. В сумме: помощник повышает результат, пока включён, и это состояние не бесплатно. Счёта в одной валюте — сколько прибавил включённый помощник против того, сколько убыло в выключенном состоянии, — не сделал никто, и выдавать его за измеренный нельзя.</a:t>
            </a:r>
          </a:p>
          <a:p>
            <a:r>
              <a:t/>
            </a:r>
          </a:p>
          <a:p>
            <a:r>
              <a:t>Форма восьмая словаря: исполнитель тот же, но стал хуже. Место работы, объём, порядок шагов и рука прежние; изменилось состояние самой руки. Соседние две формы выглядят подходящими, и обе проверку не проходят. Пятая требует, чтобы сменилась рука, а здесь сравнение построено внутри тех же девятнадцати врачей. Четыре-а говорит про объём операции, а здесь объём процедур тот же, упала доля находок; назвать это падением объёма значит подменить единицу измерения. Направление названо вниз осознанно: измерен один знак, а обратный случай стоит в словаре пустым номером восемь-а — имя у него есть, измерения нет ни одного.</a:t>
            </a:r>
          </a:p>
          <a:p>
            <a:r>
              <a:t/>
            </a:r>
          </a:p>
          <a:p>
            <a:r>
              <a:t>То же явление измерено рандомизированно, но в учёбе: около тысячи старшеклассников, математика, три группы. Практика со свободным доступом к модели дала плюс 48 процентов к контролю, с учительскими ограничителями плюс 127; экзамен без модели у свободной группы оказался на 17 процентов хуже контроля, у группы с ограничителями — примерно на уровне контроля. То есть измерено не только падение, но и средство против него, и средство это — устройство доступа, а не количество практики. Повторением клинической находки это не является: другая работа, другие люди, другая задача. Совпадение знака — довод в пользу того, что механизм общий, и не довод в пользу того, что величина переносится.</a:t>
            </a:r>
          </a:p>
          <a:p>
            <a:r>
              <a:t/>
            </a:r>
          </a:p>
          <a:p>
            <a:r>
              <a:t>**Источники.** </a:t>
            </a:r>
            <a:r>
              <a:rPr u="sng">
                <a:solidFill>
                  <a:srgbClr val="065A82"/>
                </a:solidFill>
                <a:hlinkClick r:id="rId3"/>
              </a:rPr>
              <a:t>Budzyń и соавт., Lancet Gastroenterology &amp; Hepatology 2025</a:t>
            </a:r>
            <a:r>
              <a:t> · </a:t>
            </a:r>
            <a:r>
              <a:rPr u="sng">
                <a:solidFill>
                  <a:srgbClr val="065A82"/>
                </a:solidFill>
                <a:hlinkClick r:id="rId4"/>
              </a:rPr>
              <a:t>опубликованное исправление к той же работе, 2025;10(11):e12, и три письма с ответом авторов, 2025;10(12):1060–1062</a:t>
            </a:r>
            <a:r>
              <a:t> · </a:t>
            </a:r>
            <a:r>
              <a:rPr u="sng">
                <a:solidFill>
                  <a:srgbClr val="065A82"/>
                </a:solidFill>
                <a:hlinkClick r:id="rId5"/>
              </a:rPr>
              <a:t>Bastani и соавт., PNAS 2025</a:t>
            </a:r>
            <a:r>
              <a:t> · основная работа: 2025;10(10):896–903</a:t>
            </a:r>
          </a:p>
        </p:txBody>
      </p:sp>
      <p:sp>
        <p:nvSpPr>
          <p:cNvPr id="4" name="Slide Number Placeholder 3"/>
          <p:cNvSpPr>
            <a:spLocks noGrp="1"/>
          </p:cNvSpPr>
          <p:nvPr>
            <p:ph type="sldNum" idx="5" sz="quarter"/>
          </p:nvPr>
        </p:nvSpPr>
        <p:spPr/>
      </p:sp>
    </p:spTree>
  </p:cSld>
  <p:clrMapOvr>
    <a:masterClrMapping/>
  </p:clrMapOvr>
</p:notes>
</file>

<file path=ppt/notesSlides/notesSlide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Эта плоскость предъявляется пробелом, а пробел добыт поиском — он и есть результат, а не отсутствие работы.</a:t>
            </a:r>
          </a:p>
          <a:p>
            <a:r>
              <a:t/>
            </a:r>
          </a:p>
          <a:p>
            <a:r>
              <a:t>Пробел первый. Утверждение «одна грубая ошибка модели обрывает доверие к ней» как отдельная измеренная величина не опубликовано. То, что за него обычно выдают, измеряет выбор между моделью и человеком в задачах прогнозирования вне медицины, в лаборатории, в один сеанс, — и картину даёт мягче: доверие осыпается постепенно.</a:t>
            </a:r>
          </a:p>
          <a:p>
            <a:r>
              <a:t/>
            </a:r>
          </a:p>
          <a:p>
            <a:r>
              <a:t>Пробел второй, и он прямо про предмет раздела. Измерений того, как доверие врача к модели меняется за месяцы реальной работы, нет вовсе. Всё, что есть, снято в один сеанс, на подготовленных случаях. Однократный опыт измеряет реакцию; расход он измерить не может по своему устройству.</a:t>
            </a:r>
          </a:p>
          <a:p>
            <a:r>
              <a:t/>
            </a:r>
          </a:p>
          <a:p>
            <a:r>
              <a:t>Различать надо две вещи, и это различение уносится дальше любого числа: «измерения нет» и «измерено, что эффекта нет» — разные утверждения. Первое говорит о состоянии знания, второе о состоянии мира. Здесь первое.</a:t>
            </a:r>
          </a:p>
          <a:p>
            <a:r>
              <a:t/>
            </a:r>
          </a:p>
          <a:p>
            <a:r>
              <a:t>И одно свидетельство, которое в этой плоскости есть, — с точно названным разрядом. От 30 до 50 процентов опытных разработчиков сказали исследователям в опросе, что не сдают часть задач, потому что не хотят делать их без модели. Поведенческий факт рядом реален и сверен: задачи действительно не сдавали, и устройство замера пришлось перепроектировать. Но сколько именно их не сдавали, известно из самоотчёта участников, а не из телеметрии, — поэтому величина названа опросной. Предмет немедицинский, это разработка программ: свидетельство числится переносом и свидетельством медицинской плоскости не становится. Отсюда правило чтения, годное далеко за пределами этого случая: заявленное отношение к инструменту и готовность без него работать — разные величины, и смешивать разряд поведения с разрядом самоотчёта нельзя. О качестве работы это свидетельство не говорит ничего — только о готовности работу делать.</a:t>
            </a:r>
          </a:p>
          <a:p>
            <a:r>
              <a:t/>
            </a:r>
          </a:p>
          <a:p>
            <a:r>
              <a:t>И одно средство, которое измерено: если человеку дают хоть немного поправить прогноз модели, он не бросает её после ошибки. Это устройство интерфейса, а не режим инструмента, и найдено оно тоже вне медицины.</a:t>
            </a:r>
          </a:p>
          <a:p>
            <a:r>
              <a:t/>
            </a:r>
          </a:p>
          <a:p>
            <a:r>
              <a:t>И последнее про женщину с письмом, потому что это прямо её случай. Падение доли обнаружения измерено на эндоскопии: там у врача есть собственный числовой показатель, который считают из обычной работы. У того, кто читает её снимок, такого показателя нет, и отключить помощника, чтобы посмотреть, что стало с его рукой, не пробовал никто. Это и означает «измерения нет»: не «измерено, что ничего не портится», а «не смотрели».</a:t>
            </a:r>
          </a:p>
          <a:p>
            <a:r>
              <a:t/>
            </a:r>
          </a:p>
          <a:p>
            <a:r>
              <a:t>**Источники.** </a:t>
            </a:r>
            <a:r>
              <a:rPr u="sng">
                <a:solidFill>
                  <a:srgbClr val="065A82"/>
                </a:solidFill>
                <a:hlinkClick r:id="rId3"/>
              </a:rPr>
              <a:t>METR, обновление замера, 24 февраля 2026</a:t>
            </a:r>
          </a:p>
          <a:p>
            <a:r>
              <a:t/>
            </a:r>
          </a:p>
          <a:p>
            <a:r>
              <a:t>Оговорка про режим инструмента, снятая с кадра: средство с поправкой прогноза найдено не на подсветке и не на втором чтении, а на совсем другом классе инструмента, поэтому переносить его к нам надо как устройство интерфейса, а не как свойство режима. Режим говорит, где инструмент стоит в работе; возможность поправить вывод — это про то, как он с человеком разговаривает, и прикладывается она к любому режиму.</a:t>
            </a:r>
          </a:p>
          <a:p>
            <a:r>
              <a:t/>
            </a:r>
          </a:p>
          <a:p>
            <a:r>
              <a:t>Про разряд числа «от тридцати до пятидесяти из ста опытных разработчиков отказываются работать без помощника»: это величина опросная — так сказали сами участники, телеметрии за их словами нет. Опрос меряет то, что человек о себе думает, а не то, что он делает; для нашей линии он годится как указание на размер явления и не годится как измерение.</a:t>
            </a:r>
          </a:p>
          <a:p>
            <a:r>
              <a:t/>
            </a:r>
          </a:p>
          <a:p>
            <a:r>
              <a:t>Различение «измерения нет» и «измерено, что эффекта нет» — несущее для всего вечера, и здесь оно применяется к себе. Первое означает, что никто не смотрел; второе — что смотрели и не нашли. Утверждать по первому, что эффекта нет, значит делать ровно ту ошибку, за которую лекция разбирает чужие заявления. Про доверие врача к модели за месяцы реальной работы у нас первое: таких измерений нет ни у кого, и это не фигура речи, а результат сплошного поиска.</a:t>
            </a:r>
          </a:p>
          <a:p>
            <a:r>
              <a:t/>
            </a:r>
          </a:p>
          <a:p>
            <a:r>
              <a:t>Про женщину с письмом. Весь разбор износа навыка снят на эндоскопии — на процедуре, где рука работает в реальном времени. Того, кто читает её снимок, без помощника не измерял никто, и переносить на него эндоскопическое падение нельзя: другая работа, другой темп, другая обратная связь. Пробел этот называется вслух именно потому, что соблазн перенести велик.</a:t>
            </a:r>
          </a:p>
        </p:txBody>
      </p:sp>
      <p:sp>
        <p:nvSpPr>
          <p:cNvPr id="4" name="Slide Number Placeholder 3"/>
          <p:cNvSpPr>
            <a:spLocks noGrp="1"/>
          </p:cNvSpPr>
          <p:nvPr>
            <p:ph type="sldNum" idx="5" sz="quarter"/>
          </p:nvPr>
        </p:nvSpPr>
        <p:spPr/>
      </p:sp>
    </p:spTree>
  </p:cSld>
  <p:clrMapOvr>
    <a:masterClrMapping/>
  </p:clrMapOvr>
</p:notes>
</file>

<file path=ppt/notesSlides/notesSlide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Этот кадр ставит рядом две вещи: чего нет у мировых программ обучения и почему мы всё-таки произносим слабое измерение вместо того, чтобы молчать.</a:t>
            </a:r>
          </a:p>
          <a:p>
            <a:r>
              <a:t/>
            </a:r>
          </a:p>
          <a:p>
            <a:r>
              <a:t>Начнём с чертежа. Отчёт государственного органа образования Англии вместе с лабораторией ИИ национальной службы здравоохранения, май двадцать второго года, девяносто страниц. Это не курс, а основание для курса, и по содержанию он сильнее всего, что есть в собранном корпусе: именно там лежит единственная таксономия искажений на стороне врача, и устроена она парами в обе стороны — склонность принять подсказку без критики и склонность отвергнуть её без рассмотрения, согласие потому, что совпало с интуицией, и отказ потому, что не совпал. Ни одна из двух с лишним десятков прочитанных программ этой парности не передаёт: везде, где тема есть, она подана односторонне, как «не доверяй слишком».</a:t>
            </a:r>
          </a:p>
          <a:p>
            <a:r>
              <a:t/>
            </a:r>
          </a:p>
          <a:p>
            <a:r>
              <a:t>И в этом самом документе тема доведена до графика. На осях — уверенность пользователя и уместная уверенность, обе в процентах. Поля под осями нет. То есть автор знал, что именно надо измерить, назвал величины, нарисовал рамку — и остановился там, где должны были встать точки.</a:t>
            </a:r>
          </a:p>
          <a:p>
            <a:r>
              <a:t/>
            </a:r>
          </a:p>
          <a:p>
            <a:r>
              <a:t>Теперь счёт по остальному корпусу, и он сделан сплошным проходом по полным текстам, а не впечатлением. Силлабус четырёх врачебных обществ двадцать пятого года — программа по четырём ролям, шесть тысяч сто девяносто шесть слов. Слова «износ навыка», «якорение», «самоуспокоение», «чрезмерное доверие» — ноль вхождений каждое. Слово «нагрузка» — тоже ноль. Крупнейшая врачебная программа по ИИ, пятьдесят четыре с половиной кредита непрерывного образования, шестьдесят часов: на эту тему в ней одно видео на пять минут, то есть ноль целых пятнадцать сотых процента программы. Обзор рынка обучающих программ двадцать первого года: ноль вхождений. Белая книга европейского общества радиологов описывает механизм подробно и не приводит ни одного числа.</a:t>
            </a:r>
          </a:p>
          <a:p>
            <a:r>
              <a:t/>
            </a:r>
          </a:p>
          <a:p>
            <a:r>
              <a:t>А теперь другая сторона того же разрыва. Поиск в медицинском указателе по этой теме — искажение внимания и самоуспокоение у врачей, с ограничением на опыты и испытания — даёт больше тысячи совпадений. Оговорка обязательна и стоит на самом кадре: читался указатель, то есть названия, журналы, годы и опознаватели; полные тексты в рамках этой разведки не читались, и в доказательство по содержанию это не берётся. Но для утверждения, которое кадр делает, этого достаточно: работы существуют, и их много. Разрыв не между «измерено» и «не измерено», а между измеренным и тем, что доходит до программы обучения.</a:t>
            </a:r>
          </a:p>
          <a:p>
            <a:r>
              <a:t/>
            </a:r>
          </a:p>
          <a:p>
            <a:r>
              <a:t>Зачем это студенту, который не собирается ни в медицину, ни в преподавание. Затем, что такой разрыв узнаётся по признаку, а не по отрасли. Если тема объявлена во всех документах, описана механизмом и ни в одном не имеет величины, значит её никто не мерил или никто не захотел переносить измерение в требование. Любая ваша будущая предметная область устроена так же: частое утверждение в документах и измеренное утверждение — разные вещи.</a:t>
            </a:r>
          </a:p>
          <a:p>
            <a:r>
              <a:t/>
            </a:r>
          </a:p>
          <a:p>
            <a:r>
              <a:t>И про нас самих, потому что честнее сказать это здесь, чем в закрытии. Наше собственное единственное измерение износа навыка на реальной работе — ретроспективное, наблюдательное, снятое один раз в одной стране и оспоренное в печати тремя письмами. Мы произносим эти оговорки каждый раз, когда называем числа двадцать восемь целых четыре десятых и двадцать две целых четыре десятых. Можно было бы вовсе его не брать — и тогда на этом месте у нас стояли бы те же пустые оси, что у самого подробного документа корпуса. Слабое измерение, названное слабым, стоит дороже сильного вывода без измерения; выбор между ними — и есть предмет этого вечера.</a:t>
            </a:r>
          </a:p>
          <a:p>
            <a:r>
              <a:t/>
            </a:r>
          </a:p>
          <a:p>
            <a:r>
              <a:t>Что именно подписано на осях единственного чертежа темы: уверенность пользователя против уместной уверенности, обе в процентах. То есть автор дошёл до того, чтобы назвать обе величины и привести их к одной шкале, — и остановился, потому что точек под ними нет ни одной. Счёт по силлабусам сделан сплошной: полный текст четырёх врачебных обществ, 6 196 слов, ноль вхождений трёх терминов.</a:t>
            </a:r>
          </a:p>
        </p:txBody>
      </p:sp>
      <p:sp>
        <p:nvSpPr>
          <p:cNvPr id="4" name="Slide Number Placeholder 3"/>
          <p:cNvSpPr>
            <a:spLocks noGrp="1"/>
          </p:cNvSpPr>
          <p:nvPr>
            <p:ph type="sldNum" idx="5" sz="quarter"/>
          </p:nvPr>
        </p:nvSpPr>
        <p:spPr/>
      </p:sp>
    </p:spTree>
  </p:cSld>
  <p:clrMapOvr>
    <a:masterClrMapping/>
  </p:clrMapOvr>
</p:notes>
</file>

<file path=ppt/notesSlides/notesSlide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Соберём стадию по тем же четырём вопросам и закончим своими пробелами.</a:t>
            </a:r>
          </a:p>
          <a:p>
            <a:r>
              <a:t/>
            </a:r>
          </a:p>
          <a:p>
            <a:r>
              <a:t>Что получается. С включённым помощником находят больше: прирост измерен в рандомизированных испытаниях и повторён многократно, и скрыть эту половину значило бы сделать то, за что разбирались поставщики, только в обратную сторону.</a:t>
            </a:r>
          </a:p>
          <a:p>
            <a:r>
              <a:t/>
            </a:r>
          </a:p>
          <a:p>
            <a:r>
              <a:t>Что не получается. Поддерживать навык — здесь измерено прямо обратное. Дать врачу обратную связь о пропуске — внутри процедуры её нет, и именно поэтому расход молчалив. Измерить доверие за месяцы реальной работы не смог никто: всё, что есть, снято в один сеанс.</a:t>
            </a:r>
          </a:p>
          <a:p>
            <a:r>
              <a:t/>
            </a:r>
          </a:p>
          <a:p>
            <a:r>
              <a:t>Что стало с работой. Две формы по словарю. Исполнитель тот же, но стал хуже: место, объём, порядок шагов и рука прежние, изменилось состояние руки. И шаг появился — дважды: посредник, переводящий вывод модели на язык, которому поверит врач, и целевой арбитраж расхождения.</a:t>
            </a:r>
          </a:p>
          <a:p>
            <a:r>
              <a:t/>
            </a:r>
          </a:p>
          <a:p>
            <a:r>
              <a:t>Что это держит. Доля обнаружения и время выведения — обе величины снимаются в обычной работе. И честно названное пустое место: процедуры, которая измеряла бы результат врача без помощника, нет ни в одной юрисдикции.</a:t>
            </a:r>
          </a:p>
          <a:p>
            <a:r>
              <a:t/>
            </a:r>
          </a:p>
          <a:p>
            <a:r>
              <a:t>Пробелы названы числом: двадцать две отдельные попытки поиска повторения — восемнадцать формулировок и четыре целевых обращения. Число это про поиск, о предмете оно не говорит ничего, и нужно оно затем, чтобы отличить «искали и не нашли» от «не искали»: внешне эти две вещи выглядят одинаково, а первая проверяема. Продольного измерения навыка у тех, кто учился сразу с помощником, не существует вовсе — про людей в этой аудитории данных нет ни у кого, ни о просевшем навыке, ни о сохранившемся.</a:t>
            </a:r>
          </a:p>
          <a:p>
            <a:r>
              <a:t/>
            </a:r>
          </a:p>
          <a:p>
            <a:r>
              <a:t>Практическое следствие одно, и оно переносится за пределы медицины: ставя помощника в контур, измерять надо и результат с ним, и результат без него, и не однажды. Показатель для такого замера у профессии есть, а процедуры нет — и требовать от одного наблюдательного исследования большего, чем оно весит, была бы та же ошибка, что требовать работы от заявленной точности без знаменателя.</a:t>
            </a:r>
          </a:p>
          <a:p>
            <a:r>
              <a:t/>
            </a:r>
          </a:p>
          <a:p>
            <a:r>
              <a:t>**Источники.** </a:t>
            </a:r>
            <a:r>
              <a:rPr u="sng">
                <a:solidFill>
                  <a:srgbClr val="065A82"/>
                </a:solidFill>
                <a:hlinkClick r:id="rId3"/>
              </a:rPr>
              <a:t>Budzyń и соавт., Lancet Gastroenterology &amp; Hepatology 2025</a:t>
            </a:r>
          </a:p>
          <a:p>
            <a:r>
              <a:t/>
            </a:r>
          </a:p>
          <a:p>
            <a:r>
              <a:t>Про поток решения — то, что изменилось в нём помимо находок. Появилась роль посредника: модель выдаёт вывод, а человек переводит его на язык, которому поверит врач, и роль эта новая для отделения. Рядом измеренная зависимость, которую надо произносить вместе с её слабостью: доверие к выводу выше у тех, кто работает с моделью руками, — точечные оценки есть, статистической значимости нет. Рутинная перепроверка каждого случая при этом ушла, а на её место встал целевой арбитраж расхождения, то есть структура защиты от ошибки сменилась целиком, а не сократилась.</a:t>
            </a:r>
          </a:p>
          <a:p>
            <a:r>
              <a:t/>
            </a:r>
          </a:p>
          <a:p>
            <a:r>
              <a:t>Про карту задачи и данных здесь не говорим: она идёт следующим кадром, счётом, и там же названо то, чему клетки не находится вовсе.</a:t>
            </a:r>
          </a:p>
          <a:p>
            <a:r>
              <a:t/>
            </a:r>
          </a:p>
          <a:p>
            <a:r>
              <a:t>Две строки свода сняты с кадра в эту заметку, и обе произносятся, потому что каждая несёт оговорку, которой на экране не видно. Первая: доверие к модели выше у тех, кто работает с ней руками, — точечные оценки в эту сторону есть, значимости нет ни у одной, и вывода из них делать нельзя. Вторая: продольного измерения для тех, кто учился сразу с помощником и другой работы не знал, не существует вовсе — то есть самый интересный для курса случай не измерен никем.</a:t>
            </a:r>
          </a:p>
          <a:p>
            <a:r>
              <a:t/>
            </a:r>
          </a:p>
          <a:p>
            <a:r>
              <a:t>Про смену структуры защиты от ошибки, свёрнутую на кадре в одну строку. Рутинная перепроверка каждого случая и целевой арбитраж расхождения — это не одно и то же дешевле, а разные устройства защиты: первая ловит ошибку равномерно и дёшево на единицу, второй ловит только там, где две стороны разошлись, и каждый разбор дороже чтения. Переход от первой ко второму меняет не объём работы, а то, какие ошибки вообще попадают в поле зрения проверки.</a:t>
            </a:r>
          </a:p>
          <a:p>
            <a:r>
              <a:t/>
            </a:r>
          </a:p>
          <a:p>
            <a:r>
              <a:t>Снятое со свода в эту заметку. Из «что получается» ушла третья строка: рутинная перепроверка снята, человеческого чтения ниже на 44,3 процента — число это стоит на своём разборе в разделе отбора и здесь было третьим повторением. Из «что это держит» ушёл хвост «из обычной работы»: оба показателя снимаются с потока процедур, а не с отдельного зачёта, и это надо сказать вслух, потому что в этом вся их сила. Произносится это целиком: врача без помощника не меряет ни одна процедура ни в одной юрисдикции — не «меряет плохо», а не меряет вовсе.</a:t>
            </a:r>
          </a:p>
          <a:p>
            <a:r>
              <a:t/>
            </a:r>
          </a:p>
          <a:p>
            <a:r>
              <a:t>И переход к «Сборке», снятый с кадра: дальше идут девять форм словаря целиком, счёт приписок, накопительная карта и поимённый ответ на вопрос, с которого вечер начался.</a:t>
            </a:r>
          </a:p>
        </p:txBody>
      </p:sp>
      <p:sp>
        <p:nvSpPr>
          <p:cNvPr id="4" name="Slide Number Placeholder 3"/>
          <p:cNvSpPr>
            <a:spLocks noGrp="1"/>
          </p:cNvSpPr>
          <p:nvPr>
            <p:ph type="sldNum" idx="5" sz="quarter"/>
          </p:nvPr>
        </p:nvSpPr>
        <p:spPr/>
      </p:sp>
    </p:spTree>
  </p:cSld>
  <p:clrMapOvr>
    <a:masterClrMapping/>
  </p:clrMapOvr>
</p:notes>
</file>

<file path=ppt/notesSlides/notesSlide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Сетка этого раздела читается счётом, а не клетками, и причина в самом разделе: ни одной клетки он окну не прибавил.</a:t>
            </a:r>
          </a:p>
          <a:p>
            <a:r>
              <a:t/>
            </a:r>
          </a:p>
          <a:p>
            <a:r>
              <a:t>Двенадцать клеток окна — это четыре строки задач на три вида данных, оси и порядок те же, что были объявлены в начале вечера. За семь разделов занято четыре клетки, и те же четыре стояли уже два раздела назад. Восемь клеток пусты с раздела об анализе данных, и читать надо именно их: пустая клетка говорит, что инструмент такого класса на этих местах искать незачем, и экономит время, которое ушло бы на поиск.</a:t>
            </a:r>
          </a:p>
          <a:p>
            <a:r>
              <a:t/>
            </a:r>
          </a:p>
          <a:p>
            <a:r>
              <a:t>Почему этот раздел ничего не прибавил. Не потому, что про него мало известно, а потому, что его предмет лежит вне клинической раскладки. Разбор раздела — падение доли обнаружения у тех же врачей после отключения помощника — снят на потоке кадров во время процедуры, то есть на видео. Столбца «видео» в окне нет: окно собрано под то, что лекция разбирает в клинике, где читают снимок, текст и карту. Дописать таблице четвёртый столбец было бы проще всего, и именно поэтому так делать нельзя: окно тогда перестанет быть тем окном, которое объявлено на входе, и сравнить итог с обещанием станет невозможно.</a:t>
            </a:r>
          </a:p>
          <a:p>
            <a:r>
              <a:t/>
            </a:r>
          </a:p>
          <a:p>
            <a:r>
              <a:t>Следующий раздел, о разработке лекарства, встанет вне окна по своей причине: там производят вещество, и это генерация на структуре. Два разных ответа, одно следствие: окно, собранное под одну отрасль, на соседние не растягивается, и растягивать его молча значит соврать о его границах.</a:t>
            </a:r>
          </a:p>
          <a:p>
            <a:r>
              <a:t/>
            </a:r>
          </a:p>
          <a:p>
            <a:r>
              <a:t>Рядом с клеткой этого раздела в сетке стоит распознавание на снимке в режиме второго читателя — клетку занимали разделы об отборе, о чтении исследований и об удержании. Разница между двумя режимами лежит в последствиях, и для этого раздела она несущая: у прибора, который подсвечивает находку, человек остаётся на месте и продолжает решать; со второго места человека снимают вовсе. Навык расходуется в первом случае — там, где человек формально остался и работу продолжает делать он.</a:t>
            </a:r>
          </a:p>
          <a:p>
            <a:r>
              <a:t/>
            </a:r>
          </a:p>
          <a:p>
            <a:r>
              <a:t>И пустота, которая лежит вне клеток. Доверие к выводу модели, его калибровка, готовность человека работать без инструмента — всё это клетки «задача × вид данных» не получают, потому что режима работы там нет. Сетка описывает инструменты; предмет этой плоскости — то, чего про человека не измерено, и сеткой он не описывается ни одной клеткой. Писать туда что-нибудь, чтобы строка не пустовала, нельзя: получится карта, на которой у всего есть место, а это неправда.</a:t>
            </a:r>
          </a:p>
          <a:p>
            <a:r>
              <a:t/>
            </a:r>
          </a:p>
          <a:p>
            <a:r>
              <a:t>Сводный счёт всей карты — сколько клеток занято, сколько пусто и чем каждую из них удерживают — здесь не читается. Он стоит в сборке, куда собираются все разделы разом, и там у него есть то, чего здесь нет: полный набор процедур, с которыми занятые клетки можно сравнить между собой.</a:t>
            </a:r>
          </a:p>
          <a:p>
            <a:r>
              <a:t/>
            </a:r>
          </a:p>
          <a:p>
            <a:r>
              <a:t>И одно замечание про направление, которого в клетках не видно. Подсветка движется от обнаружения к характеристике найденного и дальше к автоматическому счёту показателей самого врача: инструмент становится ещё и измерителем того, кто им пользуется. Клетка остаётся той же, а предмет решения меняется — и это тот случай, когда карта обязана дополняться словами. Отсюда и правило чтения любой такой сетки: имя клетки говорит, чем инструмент занят, и ничего не говорит ни о том, что он делает с рукой работающего, ни о том, чем его держат.</a:t>
            </a:r>
          </a:p>
          <a:p>
            <a:r>
              <a:t/>
            </a:r>
          </a:p>
          <a:p>
            <a:r>
              <a:t>Почему столбец «видео» в окно не дописывается, хотя клетка раздела лежит именно там. Окно курсовой сетки объявлено на входе лекции и собрано под клинику, где читают снимок, текст и карту показателей. Дописать в него столбец посреди вечера значит отменить то, что залу обещано на первом кадре, и сделать сетку такой, под которую любой случай подойдёт. Честнее сказать: этот раздел лежит вне окна, и назвать, где именно.</a:t>
            </a:r>
          </a:p>
          <a:p>
            <a:r>
              <a:t/>
            </a:r>
          </a:p>
          <a:p>
            <a:r>
              <a:t>Про два режима и их последствия. Подсветка на видео и второй читатель на снимке — это один класс инструмента в двух режимах, и разница между ними не в точности, а в том, что остаётся человеку. У подсветки человек остаётся на месте и решает сам, с подсветкой или без; со второго читательского места его снимают совсем. Навык расходуется там, где он формально остался, — и в этом весь раздел.</a:t>
            </a:r>
          </a:p>
        </p:txBody>
      </p:sp>
      <p:sp>
        <p:nvSpPr>
          <p:cNvPr id="4" name="Slide Number Placeholder 3"/>
          <p:cNvSpPr>
            <a:spLocks noGrp="1"/>
          </p:cNvSpPr>
          <p:nvPr>
            <p:ph type="sldNum" idx="5" sz="quarter"/>
          </p:nvPr>
        </p:nvSpPr>
        <p:spPr/>
      </p:sp>
    </p:spTree>
  </p:cSld>
  <p:clrMapOvr>
    <a:masterClrMapping/>
  </p:clrMapOvr>
</p:notes>
</file>

<file path=ppt/notesSlides/notesSlide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Раздел стоит здесь затем, что меняет масштаб. Все предыдущие разделы держались человека: кого позвать, что увидеть на снимке, какой диагноз поставить, когда поднять тревогу — и, в разделе прямо перед этим, что сделалось с тем, кто решает. Здесь решение принимается о веществе, которое до человека может не дойти вовсе, и платит за ошибку не смена, а отрасль — годами и программами.</a:t>
            </a:r>
          </a:p>
          <a:p>
            <a:r>
              <a:t/>
            </a:r>
          </a:p>
          <a:p>
            <a:r>
              <a:t>Отраслевая база нужна раньше любого числа про модель: из программ, вошедших в первую фазу, лекарством становится меньше одной десятой, и отсев плотнее всего в середине пути — не в начале и не в конце, — при переходе из второй фазы в третью. Это счёт классического режима, с которым сравнивается всё остальное.</a:t>
            </a:r>
          </a:p>
          <a:p>
            <a:r>
              <a:t/>
            </a:r>
          </a:p>
          <a:p>
            <a:r>
              <a:t>Подробный разбор здесь один: компания, которая обещала доводить препараты до регистрации самостоятельно, нашла молекулу через граф биомедицинских связей и потеряла сотни рабочих мест, когда испытание не показало эффекта. Ещё два случая идут упоминаниями в своде раздела, и каждое упоминание несёт число вместе с базой, с которой это число сравнивают: одна молекула, спроектированная моделью целиком, — доклиника меньше года, снята на первой фазе, где база отрасли пропускает 52,0 процента; и вся категория — переход второй фазы около 40 процентов против базы 28,9 при нуле одобрений регулятора.</a:t>
            </a:r>
          </a:p>
          <a:p>
            <a:r>
              <a:t/>
            </a:r>
          </a:p>
          <a:p>
            <a:r>
              <a:t>Почему так, а не тремя разборами подряд: вопрос у всех трёх случаев один и тот же, и проверять его трижды в одном разделе значит показывать залу форму вместо содержания. Один разбор идёт целиком, два стоят числом рядом с базой.</a:t>
            </a:r>
          </a:p>
          <a:p>
            <a:r>
              <a:t/>
            </a:r>
          </a:p>
          <a:p>
            <a:r>
              <a:t>Одну границу надо удержать до первого разбора: это работа на масштабе отрасли, и переносить выводы одного масштаба на другой запрещено так же, как в остальных разделах.</a:t>
            </a:r>
          </a:p>
          <a:p>
            <a:r>
              <a:t/>
            </a:r>
          </a:p>
          <a:p>
            <a:r>
              <a:t>**Источники.** </a:t>
            </a:r>
            <a:r>
              <a:rPr u="sng">
                <a:solidFill>
                  <a:srgbClr val="065A82"/>
                </a:solidFill>
                <a:hlinkClick r:id="rId3"/>
              </a:rPr>
              <a:t>BIO / QLS / Informa, Clinical Development Success Rates 2011–2020</a:t>
            </a:r>
            <a:r>
              <a:t> · </a:t>
            </a:r>
            <a:r>
              <a:rPr u="sng">
                <a:solidFill>
                  <a:srgbClr val="065A82"/>
                </a:solidFill>
                <a:hlinkClick r:id="rId4"/>
              </a:rPr>
              <a:t>Jayatunga и соавт., Drug Discovery Today 2024</a:t>
            </a:r>
            <a:r>
              <a:t> · </a:t>
            </a:r>
            <a:r>
              <a:rPr u="sng">
                <a:solidFill>
                  <a:srgbClr val="065A82"/>
                </a:solidFill>
                <a:hlinkClick r:id="rId5"/>
              </a:rPr>
              <a:t>Haque и соавт., J Clin Oncol 2026</a:t>
            </a:r>
          </a:p>
          <a:p>
            <a:r>
              <a:t/>
            </a:r>
          </a:p>
          <a:p>
            <a:r>
              <a:t>Отдельно оговорить границу раздела, снятую с кадра: производство лекарственной формы на линии сюда не входит — это отдельная лекция курса. Здесь речь только о том, как вещество находят и доводят до испытаний, а не о том, как его потом делают тоннами.</a:t>
            </a:r>
          </a:p>
          <a:p>
            <a:r>
              <a:t/>
            </a:r>
          </a:p>
          <a:p>
            <a:r>
              <a:t>**Источники.** </a:t>
            </a:r>
            <a:r>
              <a:rPr u="sng">
                <a:solidFill>
                  <a:srgbClr val="065A82"/>
                </a:solidFill>
                <a:hlinkClick r:id="rId3"/>
              </a:rPr>
              <a:t>BIO, QLS и Informa, Clinical Development Success Rates 2011–2020</a:t>
            </a:r>
            <a:r>
              <a:t> · </a:t>
            </a:r>
            <a:r>
              <a:rPr u="sng">
                <a:solidFill>
                  <a:srgbClr val="065A82"/>
                </a:solidFill>
                <a:hlinkClick r:id="rId4"/>
              </a:rPr>
              <a:t>Jayatunga и соавт., Drug Discovery Today 2024</a:t>
            </a:r>
            <a:r>
              <a:t> · </a:t>
            </a:r>
            <a:r>
              <a:rPr u="sng">
                <a:solidFill>
                  <a:srgbClr val="065A82"/>
                </a:solidFill>
                <a:hlinkClick r:id="rId5"/>
              </a:rPr>
              <a:t>Haque и соавт., J Clin Oncol 2026</a:t>
            </a:r>
          </a:p>
        </p:txBody>
      </p:sp>
      <p:sp>
        <p:nvSpPr>
          <p:cNvPr id="4" name="Slide Number Placeholder 3"/>
          <p:cNvSpPr>
            <a:spLocks noGrp="1"/>
          </p:cNvSpPr>
          <p:nvPr>
            <p:ph type="sldNum" idx="5" sz="quarter"/>
          </p:nvPr>
        </p:nvSpPr>
        <p:spPr/>
      </p:sp>
    </p:spTree>
  </p:cSld>
  <p:clrMapOvr>
    <a:masterClrMapping/>
  </p:clrMapOvr>
</p:notes>
</file>

<file path=ppt/notesSlides/notesSlide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Стадия эта стоит не внутри цикла помощи человеку, а выше него по течению: здесь появляется то, что на стадии назначения потом назначают. Поэтому и предмет замера здесь другой — не человек, а вещество, и решение принимается не о пациенте.</a:t>
            </a:r>
          </a:p>
          <a:p>
            <a:r>
              <a:t/>
            </a:r>
          </a:p>
          <a:p>
            <a:r>
              <a:t>Какие данные получают и чем. Связи «мишень — болезнь — препарат» берут из литературы и баз; строение молекулы — из синтеза и расчёта; поведение вещества — из опытов на культурах клеток и животных; и только потом идут наблюдения у людей, сначала у здоровых добровольцев, затем у пациентов. Способов семь, и они дают разное по цене и по сроку: расчёт на машине стоит часов, опыт на животных — месяцев, наблюдение у пациентов — лет.</a:t>
            </a:r>
          </a:p>
          <a:p>
            <a:r>
              <a:t/>
            </a:r>
          </a:p>
          <a:p>
            <a:r>
              <a:t>Путь складывается из шагов, и у каждого свой исполнитель. Мишень — что в организме надо затронуть, чтобы болезнь пошла иначе; выбирают биологи. Молекула — вещество, которое на эту мишень действует; подбирают химики. Доклиника — проверка на культурах клеток и животных: работает ли, не убивает ли, как выводится. Фаза I — впервые на человеке, обычно на здоровых добровольцах, и вопрос один: переносимость. Фаза II — на пациентах, вопрос другой: работает ли вообще и в какой дозе. Фаза III — на больших выборках, подтверждение эффекта и редких нежелательных явлений. Затем заявка и регистрация.</a:t>
            </a:r>
          </a:p>
          <a:p>
            <a:r>
              <a:t/>
            </a:r>
          </a:p>
          <a:p>
            <a:r>
              <a:t>Чтобы «фаза II» перестала быть словом, стоит посмотреть на работу руками. Химик-синтетик ставит реакцию и получает миллиграммы вещества. Тот же порошок через полгода едет в виварий на токсикологию: доза, переносимость, патология органов у животных. Ещё через год координатор исследования сидит с одним здоровым добровольцем и часами пишет наблюдения в карту первой фазы. Три человека, три места, одно вещество, и между первым эпизодом и третьим проходит около двух лет.</a:t>
            </a:r>
          </a:p>
          <a:p>
            <a:r>
              <a:t/>
            </a:r>
          </a:p>
          <a:p>
            <a:r>
              <a:t>Отсюда и ответ, почему стадия стоит именно здесь, а не шагом внутри цикла. Шаг, на который приходится вычисление, один, и он в начале, у химика и биолога. Весь остальной путь делают руками люди, и его длина от вычислений не зависит вовсе. Классический путь «мишень → клинический кандидат» занимает четыре-пять лет по отраслевой норме, медиана «основание компании → начало первой фазы» — шесть с половиной лет, а между решением и подтверждением здесь лежит порядка десяти лет и больше, считая наблюдение после выхода на рынок. Такой задержки обратной связи нет ни на одной клинической стадии вечера.</a:t>
            </a:r>
          </a:p>
          <a:p>
            <a:r>
              <a:t/>
            </a:r>
          </a:p>
          <a:p>
            <a:r>
              <a:t>Теперь база, без которой ни одно «ускорили в несколько раз» не читается. Отчёт считает 12 728 переходов в 9 704 программах 1 779 компаний за десять лет — это счёт переходов, а не программ: у каждой фазы свой знаменатель, и доли разных фаз между собой не складываются. Из первой фазы во вторую проходит чуть больше половины программ, из второй в третью — меньше трети. Итог пути от первой фазы до одобрения — 7,9 процента: из примерно тринадцати программ, вошедших в клинику, лекарством становится одна. Плотнее всего отсев в середине, не в начале и не в конце.</a:t>
            </a:r>
          </a:p>
          <a:p>
            <a:r>
              <a:t/>
            </a:r>
          </a:p>
          <a:p>
            <a:r>
              <a:t>Средняя по отрасли годится как база и не годится как предсказание. Переход второй фазы в гематологии — 48,1 процента, в урологии — 15,0: разброс втрое, и конкретную программу осмысленно сравнивать со своей терапевтической областью, а не с общей средней.</a:t>
            </a:r>
          </a:p>
          <a:p>
            <a:r>
              <a:t/>
            </a:r>
          </a:p>
          <a:p>
            <a:r>
              <a:t>И последнее про сам знаменатель, потому что на нём держится всё сравнение. Отраслевая база посчитана на программах, доведённых до конца или остановленных, то есть на завершённых траекториях. Активы, которые ещё идут, в неё не попадают вовсе — и именно поэтому доля «перешли» и доля «завершили» дают разные числа на одних и тех же данных. Всякое сравнение модельной воронки с отраслевой базой обязано называть, какая из двух дробей взята: у воронки молекул модельного происхождения большинство активов живые, и считать по ним «завершили» значит делить на знаменатель, который ещё не сложился.</a:t>
            </a:r>
          </a:p>
          <a:p>
            <a:r>
              <a:t/>
            </a:r>
          </a:p>
          <a:p>
            <a:r>
              <a:t>Каждое из трёх чисел — счёт того порядка работы, в котором обученной модели нет вовсе: решения принимал экспертный совет, молекулы синтезировали руками, фазы вели люди по протоколу. Поэтому всякое «модель ускорила разработку» сравнивается именно с этими числами, а не с нулём и не с ожиданиями из заголовков. И сравнивать надо своей фазой: улучшение на первой фазе и улучшение на второй — разные утверждения о разной работе.</a:t>
            </a:r>
          </a:p>
          <a:p>
            <a:r>
              <a:t/>
            </a:r>
          </a:p>
          <a:p>
            <a:r>
              <a:t>**Источники.** </a:t>
            </a:r>
            <a:r>
              <a:rPr u="sng">
                <a:solidFill>
                  <a:srgbClr val="065A82"/>
                </a:solidFill>
                <a:hlinkClick r:id="rId3"/>
              </a:rPr>
              <a:t>BIO / QLS / Informa, Clinical Development Success Rates 2011–2020</a:t>
            </a:r>
          </a:p>
          <a:p>
            <a:r>
              <a:t/>
            </a:r>
          </a:p>
          <a:p>
            <a:r>
              <a:t>Про знаменатель, сжатый на плашке до «1 779 компаний, 2011–2020»: считаны там переходы, а не программы, и это разные единицы — 12 728 переходов пришли из 9 704 программ.</a:t>
            </a:r>
          </a:p>
          <a:p>
            <a:r>
              <a:t/>
            </a:r>
          </a:p>
          <a:p>
            <a:r>
              <a:t>Разброс по областям произносится обязательно, иначе средняя читается как предсказание: и 48,1 процента в гематологии, и 15,0 в урологии лежат внутри той же базы, из которой получилась средняя 28,9.</a:t>
            </a:r>
          </a:p>
          <a:p>
            <a:r>
              <a:t/>
            </a:r>
          </a:p>
          <a:p>
            <a:r>
              <a:t>Число 7,9 процента от фазы I до одобрения получено отдельным счётом по тому же корпусу, а не перемножением трёх долей: доли разных фаз посчитаны на разных знаменателях и не перемножаются.</a:t>
            </a:r>
          </a:p>
          <a:p>
            <a:r>
              <a:t/>
            </a:r>
          </a:p>
          <a:p>
            <a:r>
              <a:t>И главное, ради чего кадр стоит: это база. Всё, что в разделе скажут про ускорение и удешевление, сравнивается с этими тремя числами, и названы они раньше любого сравнения.</a:t>
            </a:r>
          </a:p>
        </p:txBody>
      </p:sp>
      <p:sp>
        <p:nvSpPr>
          <p:cNvPr id="4" name="Slide Number Placeholder 3"/>
          <p:cNvSpPr>
            <a:spLocks noGrp="1"/>
          </p:cNvSpPr>
          <p:nvPr>
            <p:ph type="sldNum" idx="5" sz="quarter"/>
          </p:nvPr>
        </p:nvSpPr>
        <p:spPr/>
      </p:sp>
    </p:spTree>
  </p:cSld>
  <p:clrMapOvr>
    <a:masterClrMapping/>
  </p:clrMapOvr>
</p:notes>
</file>

<file path=ppt/notesSlides/notesSlide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Разбор стадии начинается не с результата модели, а с цены ошибки: иначе «меньше года вместо четырёх с половиной» не с чем сравнивать. Цена здесь двусторонняя, и половины её несопоставимы по измеримости — это надо сказать до любой цифры.</a:t>
            </a:r>
          </a:p>
          <a:p>
            <a:r>
              <a:t/>
            </a:r>
          </a:p>
          <a:p>
            <a:r>
              <a:t>Довести негодную молекулу до первой фазы — цена измеримая: месяцы работы клинического центра, здоровые добровольцы, которым дают дозу вещества без всякой пользы для них самих, и деньги, не ушедшие в другую программу. Отбросить годную молекулу — цена, которой в числах нет вовсе: узнать, что отброшенное вещество сработало бы, невозможно, потому что эксперимента не было. Эту половину называют прямо и не заменяют оценкой.</a:t>
            </a:r>
          </a:p>
          <a:p>
            <a:r>
              <a:t/>
            </a:r>
          </a:p>
          <a:p>
            <a:r>
              <a:t>Классических режимов на этом месте два, и платят оба. Режим «вести в клинику всё, что синтезировали» платит первой фазой за каждую пустышку. Режим «вести только то, что прошло полный экспертный отбор» платит отброшенными молекулами, число которых никто не знает. Экспертный отбор — это совет из медицинских химиков, биологов и токсикологов: смотрят серию близких соединений и решают, какое брать в доклинику. Решение опирается на опыт и литературу, протоколом оно не описано, и повторяемость его никто не замерял.</a:t>
            </a:r>
          </a:p>
          <a:p>
            <a:r>
              <a:t/>
            </a:r>
          </a:p>
          <a:p>
            <a:r>
              <a:t>Подставить сюда правдоподобную цифру значило бы её выдумать, и этого разбор не делает: число повторяемости экспертного решения не опубликовано ни по одной программе.</a:t>
            </a:r>
          </a:p>
          <a:p>
            <a:r>
              <a:t/>
            </a:r>
          </a:p>
          <a:p>
            <a:r>
              <a:t>А вот у третьего классического порядка — физического перебора на шаге поиска молекулы — числа есть, и они проверяемы: библиотеку в один-три миллиона соединений прогоняют через опыт, попаданий выходит один-два процента. Метод назван, знаменатель назван, и именно с этой парой чисел надо сверять заявленные доли попаданий у модельного отбора. Разница между «число слабое» и «числа нет» здесь видна в одном разделе дважды: у экспертного отбора повторяемость не измерена вовсе, у физического перебора измерена и опубликована.</a:t>
            </a:r>
          </a:p>
          <a:p>
            <a:r>
              <a:t/>
            </a:r>
          </a:p>
          <a:p>
            <a:r>
              <a:t>И вот честная слабость этого шага, которую стоит назвать вслух, а не прятать. Счёт у двух режимов один и тот же: первая фаза пропускает дальше 52,0 процента программ, вторая — 28,9, до одобрения доходит 7,9. Различие между режимами числом не предъявлено ни одним источником — отчёт считает всю отрасль целиком, не разделяя, как в ней принимали решение о входе в клинику. Поэтому второй режим здесь назван и не посчитан, и так это и произносится.</a:t>
            </a:r>
          </a:p>
          <a:p>
            <a:r>
              <a:t/>
            </a:r>
          </a:p>
          <a:p>
            <a:r>
              <a:t>**Источники.** </a:t>
            </a:r>
            <a:r>
              <a:rPr u="sng">
                <a:solidFill>
                  <a:srgbClr val="065A82"/>
                </a:solidFill>
                <a:hlinkClick r:id="rId3"/>
              </a:rPr>
              <a:t>BIO / QLS / Informa, Clinical Development Success Rates 2011–2020</a:t>
            </a:r>
          </a:p>
          <a:p>
            <a:r>
              <a:t/>
            </a:r>
          </a:p>
          <a:p>
            <a:r>
              <a:t>Почему цена отброшенной годной молекулы не измеряется вовсе, а не «измеряется плохо». Чтобы её измерить, надо было бы довести отброшенное до людей и посмотреть, что вышло, — то есть провести ровно тот эксперимент, от которого отбор и отказался. Цена эта поэтому не маленькая и не большая, она неизвестная, и никакой отбор её себе не предъявляет. Цена противоположной ошибки измерима прямо: месяцы работы центра и здоровые добровольцы под дозой.</a:t>
            </a:r>
          </a:p>
          <a:p>
            <a:r>
              <a:t/>
            </a:r>
          </a:p>
          <a:p>
            <a:r>
              <a:t>Две строки столбцов, снятые с кадра. У первого режима цена считается в месяцах работы центра — она измерима, и это её главное свойство. У второго ошибки не увидит никто, потому что эксперимента не было: отброшенная молекула до людей не дошла, и проверить решение нечем. Именно эта несимметричность, а не разница в качестве отбора, делает два режима несравнимыми по цене ошибки.</a:t>
            </a:r>
          </a:p>
          <a:p>
            <a:r>
              <a:t/>
            </a:r>
          </a:p>
          <a:p>
            <a:r>
              <a:t>Почему у двух классических режимов счёт один и тот же. Отчёт, из которого взяты 52,0 · 28,9 · 7,9, считает отрасль целиком и разделения на «вели в клинику всё синтезированное» и «вели только прошедшее экспертный отбор» не проводит. Поэтому назвать, какой из режимов даёт какую долю, нечем ни одним источником — и графа второго шага здесь закрывается честно: второй режим назван без своего числа, и сказано это на месте, а не замазано средней по отрасли.</a:t>
            </a:r>
          </a:p>
          <a:p>
            <a:r>
              <a:t/>
            </a:r>
          </a:p>
          <a:p>
            <a:r>
              <a:t>Про экспертный отбор как режим. Это совет из химиков, биологов и токсикологов, решающий по опыту и литературе. Протоколом решение не описано, повторяемость никто не замерял — то есть у режима нет ни документированной процедуры, ни меры согласия между экспертами. Сравнивать с ним модель строго нельзя; можно только сказать, что он существует и что отрасль работает им.</a:t>
            </a:r>
          </a:p>
          <a:p>
            <a:r>
              <a:t/>
            </a:r>
          </a:p>
          <a:p>
            <a:r>
              <a:t>Отсюда вывод кадра, и произносить его надо медленно: пока сравнения с этими числами нет, фраза «модель ускорила разработку» говорит исключительно про тот шаг, на котором модель применили, и ничего — про срок до лекарства.</a:t>
            </a:r>
          </a:p>
        </p:txBody>
      </p:sp>
      <p:sp>
        <p:nvSpPr>
          <p:cNvPr id="4" name="Slide Number Placeholder 3"/>
          <p:cNvSpPr>
            <a:spLocks noGrp="1"/>
          </p:cNvSpPr>
          <p:nvPr>
            <p:ph type="sldNum" idx="5" sz="quarter"/>
          </p:nvPr>
        </p:nvSpPr>
        <p:spPr/>
      </p:sp>
    </p:spTree>
  </p:cSld>
  <p:clrMapOvr>
    <a:masterClrMapping/>
  </p:clrMapOvr>
</p:notes>
</file>

<file path=ppt/notesSlides/notesSlide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Подробный разбор в этом разделе один, и предмет замера у него особый: здесь измерен не препарат, а последствие для людей, которые его делали. Но начинается он всё равно с испытания, и испытание было устроено по правилам.</a:t>
            </a:r>
          </a:p>
          <a:p>
            <a:r>
              <a:t/>
            </a:r>
          </a:p>
          <a:p>
            <a:r>
              <a:t>Рандомизированное, двойное слепое, с группой плацебо: 91 пациент от восемнадцати до шестидесяти пяти лет, двадцать восемь дней нанесения препарата на кожу. Первичная точка — безопасность и переносимость — достигнута. Вторичные точки эффективности, индекс тяжести экземы и шкала зуда, не достигнуты: препарат оказался не лучше плацебо по заявленным мерам улучшения. Это и означает «механизм правдоподобен, эффекта у пациентов нет». Разница выяснилась только на людях: ни граф связей, ни доклиника её не показали — обе работают с молекулой и мишенью, а не с ходом болезни у пациента.</a:t>
            </a:r>
          </a:p>
          <a:p>
            <a:r>
              <a:t/>
            </a:r>
          </a:p>
          <a:p>
            <a:r>
              <a:t>По базе отрасли такой исход предсказуем. Переход второй фазы в третью — 28,9 процента, то есть провал на этом шаге норма воронки, а не неудача конкретной команды. Публичное обещание доводить препараты до регистрации самостоятельно было рассчитано на успех там, где отрасль даёт меньше трети, и противоречие предъявляется одним этим числом — без разговора о качестве модели, которая молекулу нашла. Претензия здесь не к модели и не к механизму, а к обещанию, построенному на игнорировании собственной воронки.</a:t>
            </a:r>
          </a:p>
          <a:p>
            <a:r>
              <a:t/>
            </a:r>
          </a:p>
          <a:p>
            <a:r>
              <a:t>Цена обеих ошибок считается так же, как на всей стадии: фаза IIa целиком против терапии, которой не будет, — и вторая половина по-прежнему не измеряется. Классический режим на этом месте один и тот же отраслевой: вести программу через фазы и платить за отсев. Второго режима разбор не называет, и это стоит произнести вслух.</a:t>
            </a:r>
          </a:p>
          <a:p>
            <a:r>
              <a:t/>
            </a:r>
          </a:p>
          <a:p>
            <a:r>
              <a:t>Что было дальше. Инвестировать в актив прекратили сразу, следом ушли 180 рабочих мест, годом позже — ещё около трети штата и зарубежный офис, затем смена руководителя и объявленный план ухода с биржи. Исходную модель бизнеса — «сами доводим препараты до регистрации» — заменили сервисной: продажа платформы и ранних данных партнёрам. Кто заплатил, стоит назвать поимённо, потому что обычно эту графу не заполняют вовсе: заплатили сотрудники двумя волнами сокращений и публичные акционеры, для которых уход с биржи означает потерю ликвидности позиции. Статус этого ухода и текущая модель бизнеса со временем меняются, а порядок событий — обещание, провал середины воронки, отказ от обещания — уже не изменится.</a:t>
            </a:r>
          </a:p>
          <a:p>
            <a:r>
              <a:t/>
            </a:r>
          </a:p>
          <a:p>
            <a:r>
              <a:t>Форма словаря здесь шестая: изменился порядок работ. Называть её надо с оговоркой, и оговорка не формальная: порядок переставлен на масштабе модели бизнеса, а процесс одного препарата не менялся — доклиника, фазы и заявка остались в том же составе и той же длины. Это заимствование формы на другой масштаб, и говорится это прямо: словарь описывает работу, стратегии в нём нет. Назвать здесь форму без оговорки значило бы растянуть словарь на предмет, для которого он не сделан.</a:t>
            </a:r>
          </a:p>
          <a:p>
            <a:r>
              <a:t/>
            </a:r>
          </a:p>
          <a:p>
            <a:r>
              <a:t>Чего разбор не утверждает. Он не утверждает, что модель нашла плохую молекулу: механизм был правдоподобен, и испытание прошло по правилам. Он не утверждает и что подход не работает — провал второй фазы случается у двух программ из трёх независимо от того, как молекулу нашли. Он утверждает одно: обещание, построенное на игнорировании собственной воронки, оплачивают люди — и оплачивают не деньгами инвестора, а рабочими местами.</a:t>
            </a:r>
          </a:p>
          <a:p>
            <a:r>
              <a:t/>
            </a:r>
          </a:p>
          <a:p>
            <a:r>
              <a:t>И последнее, что стоит из этого разбора унести инженеру. Когда вы обещаете результат на шаге, через который ваша же статистика пропускает меньше трети попыток, вы обещаете не результат, а серию попыток — и считать надо, сколько их бюджет выдержит. Молекула, о которой речь, найдена через граф биомедицинских связей — тот самый приём, который выглядел дешёвым выигрышем; здесь видна его вторая половина: дешевизна поиска не переносится на остальной путь, и подтверждать гипотезу всё равно идут к пациентам.</a:t>
            </a:r>
          </a:p>
          <a:p>
            <a:r>
              <a:t/>
            </a:r>
          </a:p>
          <a:p>
            <a:r>
              <a:t>Детали испытания, снятые с плашек. Фаза IIa: 91 пациент от 18 до 65 лет, 28 дней нанесения, рандомизированное двойное слепое с плацебо. Первичная точка — безопасность — достигнута; не достигнуты точки эффективности, тяжесть экземы и зуд: плацебо не превзойдено ни по одной. Расплата шла волнами: минус 180 мест сразу, годом позже ещё минус тридцать процентов штата, следом офис за рубежом, смена руководителя и переход на сервисную модель.</a:t>
            </a:r>
          </a:p>
        </p:txBody>
      </p:sp>
      <p:sp>
        <p:nvSpPr>
          <p:cNvPr id="4" name="Slide Number Placeholder 3"/>
          <p:cNvSpPr>
            <a:spLocks noGrp="1"/>
          </p:cNvSpPr>
          <p:nvPr>
            <p:ph type="sldNum" idx="5" sz="quarter"/>
          </p:nvPr>
        </p:nvSpPr>
        <p:spPr/>
      </p:sp>
    </p:spTree>
  </p:cSld>
  <p:clrMapOvr>
    <a:masterClrMapping/>
  </p:clrMapOvr>
</p:notes>
</file>

<file path=ppt/notesSlides/notesSlide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Соберём стадию по тем же четырём вопросам, что и остальные. Число, стоящее за каждым обобщением, названо здесь же и рядом с базой, с которой его сравнивают: разбор в разделе один, а два других случая идут упоминанием.</a:t>
            </a:r>
          </a:p>
          <a:p>
            <a:r>
              <a:t/>
            </a:r>
          </a:p>
          <a:p>
            <a:r>
              <a:t>Что получается. Выигрыш везде лежит в объёме работы на одном шаге: расчётный отбор соединений вместо миллионов физических итераций, доклиника в месяцы вместо лет, первая фаза чаще базы. Все три — про начало пути.</a:t>
            </a:r>
          </a:p>
          <a:p>
            <a:r>
              <a:t/>
            </a:r>
          </a:p>
          <a:p>
            <a:r>
              <a:t>Что не получается. Три границы. Вторая фаза не идёт лучше базы: около сорока процентов против 28,9 авторы замера называют сопоставимым, и лучшим не называют. Одобрения нет ни одного за десять лет категории. И четыре работы на людях — переносимость, набор пациентов, длительность наблюдения, производство партии — не сокращаются, потому что задачи для модели там нет.</a:t>
            </a:r>
          </a:p>
          <a:p>
            <a:r>
              <a:t/>
            </a:r>
          </a:p>
          <a:p>
            <a:r>
              <a:t>Что стало с работой. Три формы, названные по словарю. Нагрузка переехала на другой шаг — дважды: на одной молекуле доклиника сжалась, а остановила проект переносимость у людей; на отрасли ранний шаг подешевел, а весь объём остался в клинических фазах. Объём на том же месте упал — расчётный отбор под известную мишень: тот же шаг, тот же исполнитель, меньше физических итераций. Изменился порядок работ — на масштабе модели бизнеса, и это заимствование формы на другой масштаб, сказанное прямо.</a:t>
            </a:r>
          </a:p>
          <a:p>
            <a:r>
              <a:t/>
            </a:r>
          </a:p>
          <a:p>
            <a:r>
              <a:t>Что это держит. Доклиника и три фазы на людях, длину которых задают физиология и протокол. Воронка переходов как база сравнения. И честно названное пустое место: ожидаемая форма «шаг исчез» числами депозитария не подтверждается — экспериментальные депозиты держат плато в девять-десять тысяч в год с 2015 года, то есть структурная биология не сжалась.</a:t>
            </a:r>
          </a:p>
          <a:p>
            <a:r>
              <a:t/>
            </a:r>
          </a:p>
          <a:p>
            <a:r>
              <a:t>Чего раздел не утверждает: что подход не работает. Ноль одобрений — состояние категории на дату, при десятках активов в клинике и одной молекуле в третьей фазе; приговором методу оно не является, и у вывода есть срок годности.</a:t>
            </a:r>
          </a:p>
          <a:p>
            <a:r>
              <a:t/>
            </a:r>
          </a:p>
          <a:p>
            <a:r>
              <a:t>Что отсюда забирают за пределы фармацевтики — два навыка чтения чисел. Первый: прежде чем сравнивать две доли, проверить знаменатели, потому что «перешли» и «завершили» выглядят одинаково и значат разное. Второй: мерить пропускную способность, и мерить её у того шага, который вы не трогали.</a:t>
            </a:r>
          </a:p>
          <a:p>
            <a:r>
              <a:t/>
            </a:r>
          </a:p>
          <a:p>
            <a:r>
              <a:t>**Источники.** </a:t>
            </a:r>
            <a:r>
              <a:rPr u="sng">
                <a:solidFill>
                  <a:srgbClr val="065A82"/>
                </a:solidFill>
                <a:hlinkClick r:id="rId3"/>
              </a:rPr>
              <a:t>Haque и соавт., J Clin Oncol 2026</a:t>
            </a:r>
            <a:r>
              <a:t> · </a:t>
            </a:r>
            <a:r>
              <a:rPr u="sng">
                <a:solidFill>
                  <a:srgbClr val="065A82"/>
                </a:solidFill>
                <a:hlinkClick r:id="rId4"/>
              </a:rPr>
              <a:t>Jayatunga и соавт., Drug Discovery Today 2024</a:t>
            </a:r>
            <a:r>
              <a:t> · </a:t>
            </a:r>
            <a:r>
              <a:rPr u="sng">
                <a:solidFill>
                  <a:srgbClr val="065A82"/>
                </a:solidFill>
                <a:hlinkClick r:id="rId5"/>
              </a:rPr>
              <a:t>BIO / QLS / Informa, Clinical Development Success Rates 2011–2020</a:t>
            </a:r>
          </a:p>
          <a:p>
            <a:r>
              <a:t/>
            </a:r>
          </a:p>
          <a:p>
            <a:r>
              <a:t>Про адрес платежа — и это надо сказать прямо, потому что ось лекции здесь не работает. Лекция мерит удешевление четырьмя адресами: внимание человека, его навык, его подпись, его участие в арбитраже. В этом разделе не занят ни один из четырёх, и объяснение простое. Решение здесь принимают о веществе, которое до человека может не дойти вовсе; врача в контуре нет, и подешевевший шаг — подбор молекулы — делает химик расчётом вместо физического перебора. Его внимание не сужается подсказкой, его подпись ни под чем не стоит, арбитража расхождений у него нет. Платит за ошибку отрасль — программами и годами.</a:t>
            </a:r>
          </a:p>
          <a:p>
            <a:r>
              <a:t/>
            </a:r>
          </a:p>
          <a:p>
            <a:r>
              <a:t>Это содержание раздела, и пробелом подборки оно не является. Остальные семь разделов показывали один и тот же механизм: шаг подешевел, и счёт пришёл человеку, который работает рядом. Здесь счёт приходит в другое место — на шаг, которого ускорение не коснулось: три фазы на людях, набор пациентов, длительность наблюдения, производство клинической партии. Длину этих работ задают физиология и протокол, и расчётом они не сокращаются. Поэтому к такому удешевлению задают другой вопрос: измерена ли пропускная способность того шага, которого вы не трогали. Подводить раздел под адрес платежа силой значило бы назвать человека там, где его в контуре нет.</a:t>
            </a:r>
          </a:p>
          <a:p>
            <a:r>
              <a:t/>
            </a:r>
          </a:p>
          <a:p>
            <a:r>
              <a:t>Почему эти два идут упоминанием, а не разбором: оба числа заявлены самими компаниями и внешней проверки не имеют. По правилу отбора такое на отдельный разбор не идёт, но из лекции не выбрасывается — упоминание с числом и названной базой есть ровно тот разряд, который им положен.</a:t>
            </a:r>
          </a:p>
          <a:p>
            <a:r>
              <a:t/>
            </a:r>
          </a:p>
          <a:p>
            <a:r>
              <a:t>Снятое со свода, и всё это произносится. Доклиника сжата — заявлено меньше двенадцати месяцев вместо нескольких лет, и оба конца сравнения назвала сама компания. Три формы на кадре стоят одной строкой, а разводятся так: нагрузка переехала на другой шаг — и на молекуле, и на отрасли; объём на том же месте упал — шаг тот же, исполнитель тот же, итераций меньше; порядок работ изменился на масштабе модели бизнеса, препарата это не касается. Воронка 52,0 · 28,9 · 7,9 — та база, без которой ни одно сравнение кадра не читается, и назвать её надо прежде первого «чаще базы».</a:t>
            </a:r>
          </a:p>
          <a:p>
            <a:r>
              <a:t/>
            </a:r>
          </a:p>
          <a:p>
            <a:r>
              <a:t>Два упоминания, снятые со свода на кадре, произносятся здесь, каждое с числом и базой. Молекула за год: доклиника заявлена короче двенадцати месяцев против четырёх с половиной лет обычного срока — оба конца этого сравнения назвала сама компания, снята молекула на первой фазе, база перехода там 52,0 из ста. Воронка категории: переход второй фазы около сорока против базы 28,9, то есть сопоставимо, а одобрений за десять лет ноль при 75 и 117 активах в клинике. Ни одно из двух на отдельный разбор не идёт: внешней проверки у чисел нет.</a:t>
            </a:r>
          </a:p>
          <a:p>
            <a:r>
              <a:t/>
            </a:r>
          </a:p>
          <a:p>
            <a:r>
              <a:t>Вопрос залу раздела стоит на этом кадре, и задаётся он после того, как ось раздела закрыта числами: у кого на работе есть шаг, который подешевел в разы, и стало ли от этого быстрее всё остальное. Короткий ответ, которым разговор замыкается, если зал молчит: здесь — не стало, и именно это считано. Ранний шаг разработки подешевел многократно, а узкое место стоит дальше по пути и не подешевело ни на сколько; поэтому мерить надо тот шаг, которого вы не трогали, а не тот, который удешевили. Прежде эта мысль стояла на кадре утверждением — вопросом она делает ту же работу и отдаёт её залу, у которого такой шаг почти наверняка есть: сборка, прогон тестов, генерация кода.</a:t>
            </a:r>
          </a:p>
        </p:txBody>
      </p:sp>
      <p:sp>
        <p:nvSpPr>
          <p:cNvPr id="4" name="Slide Number Placeholder 3"/>
          <p:cNvSpPr>
            <a:spLocks noGrp="1"/>
          </p:cNvSpPr>
          <p:nvPr>
            <p:ph type="sldNum" idx="5" sz="quarter"/>
          </p:nvPr>
        </p:nvSpPr>
        <p:spPr/>
      </p:sp>
    </p:spTree>
  </p:cSld>
  <p:clrMapOvr>
    <a:masterClrMapping/>
  </p:clrMapOvr>
</p:notes>
</file>

<file path=ppt/notesSlides/notesSlide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Этот раздел не добавляет ни одного нового случая и ни одного нового числа — кроме счёта того, сколько раз выигрыш оказался приписан не обученной модели. Остальное уже предъявлено, каждое со своей базой, и задача раздела — сложить предъявленное так, чтобы из суммы читалось то, чего не видно в отдельном случае.</a:t>
            </a:r>
          </a:p>
          <a:p>
            <a:r>
              <a:t/>
            </a:r>
          </a:p>
          <a:p>
            <a:r>
              <a:t>Складывается это по двум осям, и первая из них стояла в начале вечера именами, а здесь возвращается со счётом под каждой строкой. Это словарь форм: девять способов, которыми работа меняет место, объём, руку, время, последствие и состояние руки. Словарь нужен затем, чтобы вместо образа «уехало вправо» на каждом случае стояла названная форма с числом: один образ врёт там, где работа не переехала, а удвоилась или исчезла. Две строки словаря стоят без числа, и это произносится вслух: за эту лекцию ни одного подтверждённого случая, где шаг исчез бы совсем, не встретилось, а у формы, мерящей порядок работ, единственное её число ушло вместе со снятым материалом.</a:t>
            </a:r>
          </a:p>
          <a:p>
            <a:r>
              <a:t/>
            </a:r>
          </a:p>
          <a:p>
            <a:r>
              <a:t>Вторая ось — что стало с человеком, который эту работу делает: поведение, психология, процесс и подпись. Первая говорит, куда переехала работа, вторая — что произошло с тем, кто её делает.</a:t>
            </a:r>
          </a:p>
          <a:p>
            <a:r>
              <a:t/>
            </a:r>
          </a:p>
          <a:p>
            <a:r>
              <a:t>Счёт приписок отвечает на вопрос, сколько раз результат принадлежал не модели, а порогу, протоколу, новой роли или объёму — и отдельной графой на то, сколько раз число выросло по дороге от первоисточника к пересказу. Сводная сетка показывает, что клетки «задача × модальность» узнаваемы по прошлой лекции, а процедуры, которыми в них удерживают цену ошибки, у каждой клетки свои — и одна строка в этой сетке остаётся пустой. Разряд свидетельства назван там, где он применяется: под каждой ступенью участия, вместе с неудобным выводом о том, что исхода пациента нет ни у одного разбора ядра.</a:t>
            </a:r>
          </a:p>
          <a:p>
            <a:r>
              <a:t/>
            </a:r>
          </a:p>
          <a:p>
            <a:r>
              <a:t>Закрывается раздел поимённым ответом на вопрос, с которого началась лекция. Ответ не общий: четыре ступени, на каждой своё дело человека и измерение.</a:t>
            </a:r>
          </a:p>
          <a:p>
            <a:r>
              <a:t/>
            </a:r>
          </a:p>
          <a:p>
            <a:r>
              <a:t>Порядок четырёх сводов здесь несущий, и его стоит объявить вслух, потому что прошлый круг раздела шёл подряд пятью сводами и зал переставал смотреть с третьего. Первый отвечает, что сделалось с работой: девять форм словаря, именами они стояли в начале вечера, здесь под каждой стоит счёт. Второй отвечает, чей это результат: сколько раз выигрыш принадлежал не модели, а порогу, протоколу, новой роли или объёму — и отдельной графой, сколько раз число выросло по дороге от первоисточника к пересказу. Третий отвечает, где всё это лежит на сетке курса и чем в каждой клетке удерживают цену ошибки. Четвёртый отвечает на вопрос, с которого лекция началась, и ответ там поимённый: четыре ступени, на каждой своё дело человека и свой разряд свидетельства.</a:t>
            </a:r>
          </a:p>
          <a:p>
            <a:r>
              <a:t/>
            </a:r>
          </a:p>
          <a:p>
            <a:r>
              <a:t>Таблица «что меняется в человеке и в подписи», стоявшая здесь пятым сводом, снята: она отвечала на вопрос четвёртого свода теми же числами. Что из неё произносится — в заметках к ответу на вопрос лекции.</a:t>
            </a:r>
          </a:p>
        </p:txBody>
      </p:sp>
      <p:sp>
        <p:nvSpPr>
          <p:cNvPr id="4" name="Slide Number Placeholder 3"/>
          <p:cNvSpPr>
            <a:spLocks noGrp="1"/>
          </p:cNvSpPr>
          <p:nvPr>
            <p:ph type="sldNum" idx="5" sz="quarter"/>
          </p:nvPr>
        </p:nvSpPr>
        <p:spPr/>
      </p:sp>
    </p:spTree>
  </p:cSld>
  <p:clrMapOvr>
    <a:masterClrMapping/>
  </p:clrMapOvr>
</p:notes>
</file>

<file path=ppt/notesSlides/notesSlide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Словарь на экране целиком и со счётом — именами он выдавался в начале, без чисел, и с тех пор держал каждый разбор. Пользовались мы им весь разговор: на каждом разборе вместо образа «нагрузка уехала вправо» стояла названная форма с числом. Образ врёт там, где работа не переехала, а удвоилась, исчезла или осталась на месте и просела в качестве, — и девять строк нужны ровно затем, чтобы эти случаи не слиплись в один.</a:t>
            </a:r>
          </a:p>
          <a:p>
            <a:r>
              <a:t/>
            </a:r>
          </a:p>
          <a:p>
            <a:r>
              <a:t>Делится словарь по вопросу. Первые пять мерят место и объём работы: где она теперь и сколько её. Вторые четыре мерят руку, время, последствие ошибки и состояние самой руки: кто делает работу, когда и чем платит за промах. Разделение это объявлено на оси в начале и здесь только подтверждается: форма отвечает, что сделалось с работой, адрес — на каком человеческом шаге это сделалось.</a:t>
            </a:r>
          </a:p>
          <a:p>
            <a:r>
              <a:t/>
            </a:r>
          </a:p>
          <a:p>
            <a:r>
              <a:t>Пройдём по несущим строкам. Нагрузка переехала на другой шаг — воронка молекул, спроектированных моделью, против базы отрасли: одобрений регулятора ноль. Шаг появился — разбор расхождения при замене второго читателя моделью, и это самая обеспеченная строка словаря: плюс 53 процента объёма арбитража при падении первичных чтений вдвое, а один разбор расхождения против одного чтения дольше в 4,6 раза по медианам и в 2,75 по средним, то есть 48 секунд против двух минут двенадцати. Среднее идёт с разбросом от плюс 22 до плюс 142 процентов: устройство нового шага само задаёт нагрузку. Исполнитель сменился — одного из двух читателей в программе скрининга заменила модель: объём человеческого чтения ниже на 44,3 процента при большем числе найденных раков, промежуточный анализ безопасности, 80 033 женщины. Обратная сторона той же формы — пара «врач плюс модель» слабее самой модели там, где сильнее модель. Исполнитель тот же, но стал хуже — две опоры, и обе прозвучали. Первая по порядку разговора: хирурги с подсказкой модели на септическом шоке, 0,712 против 0,820 без подсказки. Вторая, единственная снятая на реальной работе: падение доли обнаружения в процедурах без помощника у тех же девятнадцати врачей, с 28,4 до 22,4 процента, минус шесть процентных пунктов.</a:t>
            </a:r>
          </a:p>
          <a:p>
            <a:r>
              <a:t/>
            </a:r>
          </a:p>
          <a:p>
            <a:r>
              <a:t>Теперь про две формы без счёта, и замазывать их похожим случаем запрещено. Отмены шага без появления нового предмета за эту лекцию не встретилось ни разу: три кандидата проверены, и у каждого взамен появился новый шаг. Второй человеческий читатель ушёл с рабочего места, но взамен появился шаг — решать, нужно ли этому исследованию второе чтение. Ручная работа структурного биолога не исчезла: объём экспериментальных депозитов вырос, и появилась проверка предсказания. Рутинная перепроверка каждого случая ушла, а на её место пришёл разбор расхождения, посчитанный в минутах. Утверждать из этого «модель не убирает шаги» нельзя: такое утверждение шире любого замера лекции. У формы, мерящей порядок работ, счёта нет по другой причине: порядок в разборах переставлялся, но посчитан как порядок он не был, и единственное её число ушло вместе со снятым материалом.</a:t>
            </a:r>
          </a:p>
          <a:p>
            <a:r>
              <a:t/>
            </a:r>
          </a:p>
          <a:p>
            <a:r>
              <a:t>И различение, на котором держится восьмая форма, потому что без него её спутают с соседними. В пятой форме сменилась рука; здесь сравнение построено внутри тех же девятнадцати врачей, и смену исполнителя измерение прямо исключает. В форме четыре-а упал объём операции; здесь объём тот же, упала доля находок, то есть единицы измерения разные. Быстрая проверка — вопрос о знаменателе: у формы четыре-а его нет вовсе, там абсолютный объём; у восьмой он есть и не менялся. Пятая и восьмая стоят на одном разборе, и это не противоречие: у колоноскопии с помощником два состояния контура — пока помощник включён, часть поиска делает модель, а когда выключен, та же рука находит меньше, чем находила до его появления.</a:t>
            </a:r>
          </a:p>
          <a:p>
            <a:r>
              <a:t/>
            </a:r>
          </a:p>
          <a:p>
            <a:r>
              <a:t>Вопрос залу стоит задать и дождаться ответа: номер формы из собственной работы называется за несколько секунд, а названный номер потом держит весь остаток разговора.</a:t>
            </a:r>
          </a:p>
          <a:p>
            <a:r>
              <a:t/>
            </a:r>
          </a:p>
          <a:p>
            <a:r>
              <a:t>**Источники — по формам, которые несут счёт.** Форма 1, воронка молекул и ноль одобрений регулятора: </a:t>
            </a:r>
            <a:r>
              <a:rPr u="sng">
                <a:solidFill>
                  <a:srgbClr val="065A82"/>
                </a:solidFill>
                <a:hlinkClick r:id="rId3"/>
              </a:rPr>
              <a:t>BIO, QLS и Informa, Clinical Development Success Rates 2011–2020</a:t>
            </a:r>
            <a:r>
              <a:t>. Форма 3, объём арбитража плюс 53 процента и разбор расхождения в минутах труда: </a:t>
            </a:r>
            <a:r>
              <a:rPr u="sng">
                <a:solidFill>
                  <a:srgbClr val="065A82"/>
                </a:solidFill>
                <a:hlinkClick r:id="rId4"/>
              </a:rPr>
              <a:t>Hovda, Holen, Hofvind, European Radiology 2026</a:t>
            </a:r>
            <a:r>
              <a:t>. Форма 4, тревога часто и подтверждается редко: </a:t>
            </a:r>
            <a:r>
              <a:rPr u="sng">
                <a:solidFill>
                  <a:srgbClr val="065A82"/>
                </a:solidFill>
                <a:hlinkClick r:id="rId5"/>
              </a:rPr>
              <a:t>Wong, Otles и соавт., JAMA Internal Medicine 2021, с эрратой того же журнала</a:t>
            </a:r>
            <a:r>
              <a:t>. Форма 4а, две реализации с обратными знаками: </a:t>
            </a:r>
            <a:r>
              <a:rPr u="sng">
                <a:solidFill>
                  <a:srgbClr val="065A82"/>
                </a:solidFill>
                <a:hlinkClick r:id="rId6"/>
              </a:rPr>
              <a:t>Taib и соавт., Radiology 2026</a:t>
            </a:r>
            <a:r>
              <a:t> и </a:t>
            </a:r>
            <a:r>
              <a:rPr u="sng">
                <a:solidFill>
                  <a:srgbClr val="065A82"/>
                </a:solidFill>
                <a:hlinkClick r:id="rId7"/>
              </a:rPr>
              <a:t>Gommers и соавт., Radiology 2025</a:t>
            </a:r>
            <a:r>
              <a:t>. Форма 5, объём человеческого чтения ниже на 44,3 процента: </a:t>
            </a:r>
            <a:r>
              <a:rPr u="sng">
                <a:solidFill>
                  <a:srgbClr val="065A82"/>
                </a:solidFill>
                <a:hlinkClick r:id="rId8"/>
              </a:rPr>
              <a:t>анализ безопасности MASAI, Lancet Oncology 2023</a:t>
            </a:r>
            <a:r>
              <a:t>. Форма 7, вмешаться способны 56 радиологических изделий из 717, срез июнь 2024 года: </a:t>
            </a:r>
            <a:r>
              <a:rPr u="sng">
                <a:solidFill>
                  <a:srgbClr val="065A82"/>
                </a:solidFill>
                <a:hlinkClick r:id="rId9"/>
              </a:rPr>
              <a:t>обзор документации регуляторов, JAMA Network Open 2025;8(11):e2542338</a:t>
            </a:r>
            <a:r>
              <a:t>. Форма 8, обе опоры: </a:t>
            </a:r>
            <a:r>
              <a:rPr u="sng">
                <a:solidFill>
                  <a:srgbClr val="065A82"/>
                </a:solidFill>
                <a:hlinkClick r:id="rId10"/>
              </a:rPr>
              <a:t>Budzyń и соавт., Lancet Gastroenterology &amp; Hepatology 2025</a:t>
            </a:r>
            <a:r>
              <a:t> по колоноскопии и </a:t>
            </a:r>
            <a:r>
              <a:rPr u="sng">
                <a:solidFill>
                  <a:srgbClr val="065A82"/>
                </a:solidFill>
                <a:hlinkClick r:id="rId11"/>
              </a:rPr>
              <a:t>модель против чутья хирурга, Journal of Trauma 2023</a:t>
            </a:r>
            <a:r>
              <a:t> по септическому шоку. Формы 2 и 6 источника не имеют по существу: у первой случая не встретилось, у второй счёта нет, и сказано это на кадре прямо.</a:t>
            </a:r>
          </a:p>
        </p:txBody>
      </p:sp>
      <p:sp>
        <p:nvSpPr>
          <p:cNvPr id="4" name="Slide Number Placeholder 3"/>
          <p:cNvSpPr>
            <a:spLocks noGrp="1"/>
          </p:cNvSpPr>
          <p:nvPr>
            <p:ph type="sldNum" idx="5" sz="quarter"/>
          </p:nvPr>
        </p:nvSpPr>
        <p:spPr/>
      </p:sp>
    </p:spTree>
  </p:cSld>
  <p:clrMapOvr>
    <a:masterClrMapping/>
  </p:clrMapOvr>
</p:notes>
</file>

<file path=ppt/notesSlides/notesSlide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Линия лекции: копаешь — а это не модель. Порог на приборе, оптимизатор расписания, оптика, протокол или новая роль в процессе. Линия эта про принадлежность выигрыша и вины, а не про их наличие: разборы, где выигрыш принадлежит именно модели, в этой лекции тоже есть. Счёт ведётся по реестру номинаций и пересчитывается на день сборки, а не переписывается из прошлой редакции. Правило счёта называется до числа: подтверждённой считается номинация, разбор которой зал видел — своим кадром либо названным числом внутри разбора. Строка, которая живёт только здесь, в своде, в счёт не идёт: свод ничего не доказывает, он собирает доказанное. По этому правилу из пятнадцати живых строк реестра подтверждены восемь. Остальные семь остаются в главе: четыре лишились своего кадра при сокращении деки, три стоят условно — их адрес лежит за другим разделом. На экран здесь выведены девять строк, по три из каждой графы, и на кадре они названы девятью из пятнадцати.</a:t>
            </a:r>
          </a:p>
          <a:p>
            <a:r>
              <a:t/>
            </a:r>
          </a:p>
          <a:p>
            <a:r>
              <a:t>Граф три, и проверка у каждой своя.</a:t>
            </a:r>
          </a:p>
          <a:p>
            <a:r>
              <a:t/>
            </a:r>
          </a:p>
          <a:p>
            <a:r>
              <a:t>Первая: модели нет вовсе. Сортировка обращений оказалась деревом «если-то»; прибор, измеряющий насыщение крови кислородом, смещён до модели, и система наследует смещение, не создавая его; тревога кардиомонитора — порог на приборе. Проверка здесь — убери модель: механизм продолжит работать, потому что модели в нём и не было. Цена при этом измерена в каждом случае: 88,8 процента ложных из 12 671 размеченной тревоги; расхождение у пациентов с тёмной кожей на 11,7 процента измерений против 3,6 у остальных; оценка 4,2 миллиарда и продажа активов за 500 тысяч фунтов.</a:t>
            </a:r>
          </a:p>
          <a:p>
            <a:r>
              <a:t/>
            </a:r>
          </a:p>
          <a:p>
            <a:r>
              <a:t>Вторая: модель есть, но результат принадлежит не ей — классу модели, методу, новой роли в процессе, объёму потока или пресс-сообщению. Снижение смертности принадлежит новой роли, а не качеству прогноза; «искусственный интеллект изобрёл лекарство» — расчёту физики связывания под известную мишень; «миллионы обработанных исследований» — объёму, без знаменателя и без доли ошибок. Проверка — спроси, от чего посчитан эффект.</a:t>
            </a:r>
          </a:p>
          <a:p>
            <a:r>
              <a:t/>
            </a:r>
          </a:p>
          <a:p>
            <a:r>
              <a:t>Третья: числа выросли при пересказе, и здесь ошибку делает не заявитель, а пересказчик, потому что первоисточник часто аккуратен. Экспонат — рецензируемый обзор, перепутавший шесть из семи своих первоисточников: наблюдательное исследование названо рандомизированным, 1 443 процедуры стали «более 23 000», восемь ординаторов — тридцатью двумя. Ошибка живёт выше блога, там, где читатель обычно уже не проверяет. Проверка — открой первоисточник и сверь выборку, дизайн и журнал. Для курса эта графа весит столько же, сколько две первые: пересказ встречается чаще, чем первоисточник.</a:t>
            </a:r>
          </a:p>
          <a:p>
            <a:r>
              <a:t/>
            </a:r>
          </a:p>
          <a:p>
            <a:r>
              <a:t>Четвёртая проверка на кадре не напечатана, и произносится она вслух. Общая, прикладывается к любому из трёх случаев: посмотреть, на каком уровне вообще сделан замер, и не утверждать больше, чем этот уровень позволяет. Точность, посчитанная на корпусе, говорит о корпусе — утверждать по ней вред или пользу пациенту нельзя. Замер качества работы говорит о работе — утверждать по нему исход нельзя. А на заявлении поставщика нельзя утверждать ничего, и это не фигура речи: оба разобранных заявления — «три секунды на описание исследования» и «экономия двойного чтения» — при обращении к первоисточнику оказались не тем, чем назывались.</a:t>
            </a:r>
          </a:p>
          <a:p>
            <a:r>
              <a:t/>
            </a:r>
          </a:p>
          <a:p>
            <a:r>
              <a:t>Про семь строк реестра, оставшихся за кадром: четыре лишились своего кадра при сокращении деки и живут теперь только в главе, три стоят условно — их адрес лежит за другим разделом, и подтвердить их этим вечером нечем. В счёт подтверждённых они не идут ни одна.</a:t>
            </a:r>
          </a:p>
          <a:p>
            <a:r>
              <a:t/>
            </a:r>
          </a:p>
          <a:p>
            <a:r>
              <a:t>Цены по первой графе, снятые с кадра: 88,8 процента ложных из 12 671 размеченной тревоги; расхождение у пациентов с тёмной кожей на 11,7 процента измерений против 3,6 у остальных; оценка 4,2 миллиарда и продажа активов за 500 тысяч фунтов. Перепутанные обзором первоисточники тоже называются числом: наблюдательное исследование названо рандомизированным, 1 443 процедуры стали «более 23 000», восемь ординаторов — тридцатью двумя. Ошибка живёт выше блога, там, где читатель обычно уже не проверяет, и для курса третья графа весит столько же, сколько две первые: пересказ встречается чаще, чем первоисточник.</a:t>
            </a:r>
          </a:p>
          <a:p>
            <a:r>
              <a:t/>
            </a:r>
          </a:p>
          <a:p>
            <a:r>
              <a:t>Про четвёртое число, снятое с кадра кругом диеты. Прежде рядом со «восемь из пятнадцати» стояло «свой разбор есть у четырёх из девяти» — и зал читал два знаменателя как один счёт. Оно считает КАДРЫ, а не номинации, и по этой деке два счёта разошлись: сплошной проход (`deck/SCHET-RAZBOROV.md`) даёт разборов 17, а кадров под ними 32, после свёртки шести пар. Всякий счёт, выведенный умножением разборов на два, разойдётся. Если вопрос придёт именно сюда, отвечать надо так: номинаций пятнадцать, подтверждённых восемь, на экране девять, своим кадром из них шли четыре.</a:t>
            </a:r>
          </a:p>
        </p:txBody>
      </p:sp>
      <p:sp>
        <p:nvSpPr>
          <p:cNvPr id="4" name="Slide Number Placeholder 3"/>
          <p:cNvSpPr>
            <a:spLocks noGrp="1"/>
          </p:cNvSpPr>
          <p:nvPr>
            <p:ph type="sldNum" idx="5" sz="quarter"/>
          </p:nvPr>
        </p:nvSpPr>
        <p:spPr/>
      </p:sp>
    </p:spTree>
  </p:cSld>
  <p:clrMapOvr>
    <a:masterClrMapping/>
  </p:clrMapOvr>
</p:notes>
</file>

<file path=ppt/notesSlides/notesSlide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Карта собрана один раз и целиком, как обещал вход. Двенадцать показанных клеток — окно курсовой сетки из сорока двух: четыре строки задач на три вида данных, те же и в том же порядке, что названы во входе. Поиск и генерация сведены в окне одной строкой, планирования в нём нет, и четырёх видов данных — звука, видео, кода и смешанных комбинаций — тоже. Окно взято ровно под то, что лекция разбирает в клинике, и считать по нему проще: двенадцать клеток пересчитываются глазами за несколько секунд, сорок две — нет.</a:t>
            </a:r>
          </a:p>
          <a:p>
            <a:r>
              <a:t/>
            </a:r>
          </a:p>
          <a:p>
            <a:r>
              <a:t>Главное читается прямо с таблицы, и это не занятые клетки. Заняты четыре. **Восемь пусты, и за восемь разделов в них не зашёл никто** — ни одна стадия медицины, ни один из семнадцати разборов. Классификации и распознавания на тексте в лекции нет вовсе; поиска с генерацией на изображении и на структурированных данных нет; прогноза на тексте и на изображении нет. Эти восемь пустых клеток — такое же содержание, как четыре имени: они говорят, инструмент какого класса на этих местах искать незачем, и экономят время, которое ушло бы на поиск.</a:t>
            </a:r>
          </a:p>
          <a:p>
            <a:r>
              <a:t/>
            </a:r>
          </a:p>
          <a:p>
            <a:r>
              <a:t>Имена разделов внутри занятых клеток и есть ответ на вопрос, зачем курс держит сетку. Инструменты восьми разных стадий медицины уложились в четыре клетки. Классификация на изображении занята трижды — первичным скринингом, инструментальной диагностикой и постановкой диагноза. Распознавание на изображении трижды — скринингом, диагнозом и надзором. Поиск с генерацией на тексте трижды. Прогноз на структурированных данных трижды. Класс модели разделы не различает; различают их цена промаха и процедура вокруг человека.</a:t>
            </a:r>
          </a:p>
          <a:p>
            <a:r>
              <a:t/>
            </a:r>
          </a:p>
          <a:p>
            <a:r>
              <a:t>Три места встали вне окна, и назвать их надо словами, потому что в сетке их нет. Генерация структуры — молекула под заданную мишень в разработке лекарства. Распознавание на видео — подсветка в реальном времени у тех, кто решает. И измерение с сигналом прибора, где обученной модели нет вовсе: смещение прибора насыщения крови приходит до всякой модели, а система, принимающая его показания на вход, наследует смещение молча. Пустым это место назвать нельзя, занятым моделью тоже.</a:t>
            </a:r>
          </a:p>
          <a:p>
            <a:r>
              <a:t/>
            </a:r>
          </a:p>
          <a:p>
            <a:r>
              <a:t>Третий слой карты — чем в каждой клетке удерживают цену ошибки, и здесь сетка перестаёт быть узнаваемой. Процедуры у четырёх клеток разные, и ни одна не совпадает с другой: на изображении держат двойное чтение, арбитраж и пересчёт доли верных тревог под местную распространённость; на прогнозе — разбор ложных тревог, посчитанный как рабочее время, и заранее утверждённый план изменений модели; на тексте — вычитка и подпись врача, разбор случая и границы заявленного назначения; на структуре — доклиника, три фазы на людях и воронка переходов. Отсюда правило, которое читается по порядку этих строк: чем позже в процедуре стоит проверка, тем дольше живёт ошибка. На изображении её поймают внутри смены, на тексте — при подписи, на прогнозе — при следующем срезе переданных регулятору данных, на структуре — во второй фазе испытаний, то есть через годы.</a:t>
            </a:r>
          </a:p>
          <a:p>
            <a:r>
              <a:t/>
            </a:r>
          </a:p>
          <a:p>
            <a:r>
              <a:t>И пятая строка, которой в сетке нет и которую убирать нельзя. Результат исполнителя без инструмента — тот же врач, та же процедура, помощник выключен, находок меньше — не держится ничем. Писать туда «переаттестация» нельзя: такой процедуры нет ни в одной юрисдикции. Убрать строку тоже нельзя: карта из четырёх занятых клеток читалась бы как «на всё есть процедура», и это была бы неправда.</a:t>
            </a:r>
          </a:p>
          <a:p>
            <a:r>
              <a:t/>
            </a:r>
          </a:p>
          <a:p>
            <a:r>
              <a:t>Про клетку «прогноз на структурированных данных», в которой стоят сразу три раздела — анализ, наблюдение и лекарство. Это самая населённая клетка вечера, и населена она не потому, что прогноз в медицине удаётся лучше прочего, а потому, что структурированные данные там уже собраны кем-то до модели: выписанные назначения, показатели у койки, реестры испытаний. Модель приходит туда, где цифры уже лежат, и это наблюдение переносится за пределы медицины почти без правок.</a:t>
            </a:r>
          </a:p>
          <a:p>
            <a:r>
              <a:t/>
            </a:r>
          </a:p>
          <a:p>
            <a:r>
              <a:t>Про пустые клетки говорить надо так же прямо, как про занятые: в восемь из двенадцати за восемь разделов не зашёл никто, и это не пробел нашего отбора. Там либо инструмента такого класса в клинике нет вовсе, либо он есть, но цену ошибки в нём никто не удерживает процедурой — а раз процедуры нет, то и разбирать нечего. Честная пустая клетка здесь лучше выдуманной занятой.</a:t>
            </a:r>
          </a:p>
        </p:txBody>
      </p:sp>
      <p:sp>
        <p:nvSpPr>
          <p:cNvPr id="4" name="Slide Number Placeholder 3"/>
          <p:cNvSpPr>
            <a:spLocks noGrp="1"/>
          </p:cNvSpPr>
          <p:nvPr>
            <p:ph type="sldNum" idx="5" sz="quarter"/>
          </p:nvPr>
        </p:nvSpPr>
        <p:spPr/>
      </p:sp>
    </p:spTree>
  </p:cSld>
  <p:clrMapOvr>
    <a:masterClrMapping/>
  </p:clrMapOvr>
</p:notes>
</file>

<file path=ppt/notesSlides/notesSlide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Эта ведомость отвечает на другой вопрос, чем словарь форм двумя кадрами раньше. Словарь говорит, куда переехала работа. Ведомость говорит, что стало с тем, кто её делает, и чем именно каждая строка держится. И она — единственное место вечера, где четыре адреса оси названы вместе: на входе это было обещанием, здесь под каждым словом стоит измерение с названным разрядом.</a:t>
            </a:r>
          </a:p>
          <a:p>
            <a:r>
              <a:t/>
            </a:r>
          </a:p>
          <a:p>
            <a:r>
              <a:t>Внимание. Зрительный поиск сужается при неверной подсказке — лабораторное чтение с замером взгляда, воспроизведённое по направлению, причём в другой специальности прочтение вышло обратным, и это надо произносить вслух. Верное решение меняется на неверное под влиянием совета — систематический обзор. Обе величины про то, куда смотрит человек, а не про то, что он думает.</a:t>
            </a:r>
          </a:p>
          <a:p>
            <a:r>
              <a:t/>
            </a:r>
          </a:p>
          <a:p>
            <a:r>
              <a:t>Навык. Техника падает в работе без помощника после привыкания: с 28,4 до 22,4 процента доли обнаружения, у тех же девятнадцати врачей, наблюдательное исследование, повторения нет ни одного. Разряд называю прямо: причинности эта работа не доказывает, и авторы её не утверждают.</a:t>
            </a:r>
          </a:p>
          <a:p>
            <a:r>
              <a:t/>
            </a:r>
          </a:p>
          <a:p>
            <a:r>
              <a:t>Подпись. Норма требует человека финальным звеном, и проверено это редко — обзор поданной регуляторам документации, 56 изделий из 717. Стандарт надзора сформулирован как способность вмешаться, а не как присутствие; формулировка не требует, чтобы человек смотрел каждое решение. Третье измерение этой строки объясняет, почему первые два держатся так прочно: врача, принявшего подсказку в пользу стандартного лечения, при разборе случая оценивают как более разумного, чем отвергнувшего её, — и так оценивают не только присяжные, но и двести сорок восемь немецких врачей, то есть та сторона, которую порядок и назначает разбирать. При нестандартной рекомендации разницы нет, и это проверено на равнозначность. Разряд — рандомизированное предрегистрированное испытание на заданиях: оценивается разумность поведения, а не исход настоящего иска. Читать строку надо так: подпись дорога не потому, что её трудно поставить, а потому, что отказ от неё дороже.</a:t>
            </a:r>
          </a:p>
          <a:p>
            <a:r>
              <a:t/>
            </a:r>
          </a:p>
          <a:p>
            <a:r>
              <a:t>Арбитраж. Роль второго проверяющего переходит от человека к модели — рандомизированное испытание программы скрининга. Рядом вторая величина того же адреса: доля отклоняемых тревог предельно высока, и разбор этих отклонений — рабочее время живого человека, которого до инструмента в расписании не было.</a:t>
            </a:r>
          </a:p>
          <a:p>
            <a:r>
              <a:t/>
            </a:r>
          </a:p>
          <a:p>
            <a:r>
              <a:t>Плоскость, которой в четырёх адресах нет вовсе, — доверие и согласие. Объяснение повышает согласие и не повышает качество решения, полевой опыт. Запись приёма пишется быстрее, а вычитка остаётся — рандомизированное вместе с замером рабочего времени. Строка эта мерит отдельное, и своего адреса в четвёрке у неё нет; называю это прямо, чтобы ведомость не выглядела полной там, где она неполна.</a:t>
            </a:r>
          </a:p>
          <a:p>
            <a:r>
              <a:t/>
            </a:r>
          </a:p>
          <a:p>
            <a:r>
              <a:t>И последняя строка, без которой ведомость врёт в одну сторону: читалась бы как перечень одних потерь. Разная структура ошибок человека и модели даёт выигрыш пары — сводный замер на 106 опытах, где знак эффекта переворачивается в зависимости от того, какая сторона сильнее на задаче, и оба интервала лежат целиком по одну сторону нуля. У строки есть направление и нет величины: долей взаимного перекрытия ошибок не измерено. Такие числа в обороте есть, но сверку по первоисточнику они не прошли, и подставить их значило бы сделать ровно то, за что лекция разбирает поставщиков. Вопрос о повторении у этой строки закрыт её собственным устройством: свод собран из независимых повторений.</a:t>
            </a:r>
          </a:p>
          <a:p>
            <a:r>
              <a:t/>
            </a:r>
          </a:p>
          <a:p>
            <a:r>
              <a:t>Чего в ведомости нет и почему это сказано на соседнем кадре, а не здесь: ни один разбор ядра не доходит до исхода пациента. Повторять это дважды подряд не надо — строка стоит в своде четырёх ступеней, и там она на месте.</a:t>
            </a:r>
          </a:p>
          <a:p>
            <a:r>
              <a:t/>
            </a:r>
          </a:p>
          <a:p>
            <a:r>
              <a:t>Значимости по ведомости произносятся здесь, на экране их нет: охват снимка сузился с 11,1 до 9,5 процента площади при p равном 0,004, а падение медианной чувствительности с 71 до 39 из ста — 32 пункта — при p равном 0,002. Оба числа из лабораторного замера взгляда; у падения доли обнаружения в разделе о навыке своей значимости в работе не приведено, и выдавать её за измеренную нельзя.</a:t>
            </a:r>
          </a:p>
          <a:p>
            <a:r>
              <a:t/>
            </a:r>
          </a:p>
          <a:p>
            <a:r>
              <a:t>**Источники.** Адреса измерений — на разборах соответствующих разделов; тома, страницы и адреса работ стоят в подвалах тех кадров.</a:t>
            </a:r>
          </a:p>
        </p:txBody>
      </p:sp>
      <p:sp>
        <p:nvSpPr>
          <p:cNvPr id="4" name="Slide Number Placeholder 3"/>
          <p:cNvSpPr>
            <a:spLocks noGrp="1"/>
          </p:cNvSpPr>
          <p:nvPr>
            <p:ph type="sldNum" idx="5" sz="quarter"/>
          </p:nvPr>
        </p:nvSpPr>
        <p:spPr/>
      </p:sp>
    </p:spTree>
  </p:cSld>
  <p:clrMapOvr>
    <a:masterClrMapping/>
  </p:clrMapOvr>
</p:notes>
</file>

<file path=ppt/notesSlides/notesSlide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Третья ступень опаснее, чем выглядит: то, что модель не отметила, до человека не доходит никогда, и узнать о пропущенном он может только из другого источника — следующего обследования, жалобы, разбора после исхода. Проверить её можно одним вопросом к своему контуру: что происходит с тем, чего фильтр не показал, и кто это считает.</a:t>
            </a:r>
          </a:p>
          <a:p>
            <a:r>
              <a:t/>
            </a:r>
          </a:p>
          <a:p>
            <a:r>
              <a:t>Рядом с четвёртой ступенью стоит отдельное свидетельство другого предмета и другого знаменателя — перепись допущенных изделий: способность человека вмешаться проверена у 56 радиологических изделий из 717, срез июнь 2024 года. Четвёртая ступень, таким образом, не вырождение от небрежности, а дешёвый ход в заданном порядке разбора: не согласиться и ошибиться дороже, чем подписать.</a:t>
            </a:r>
          </a:p>
          <a:p>
            <a:r>
              <a:t/>
            </a:r>
          </a:p>
          <a:p>
            <a:r>
              <a:t>И одно следствие, которое стоит произнести прежде итоговой фразы. Если самая частая ступень — та, на которой подпись есть, а чтения нет, и если отказ от согласия с подсказкой при разборе случая обходится дороже самого согласия, то формальное требование участия человека отменяет себя само. Оно требует способности возразить и одновременно делает возражение самым дорогим из доступных ходов. Чинится это не призывом и не обучением — обучение, как показал отдельный замер, ступень не повышает, — а изменением того порядка, в котором случай разбирают после исхода: пока разбор вознаграждает согласие, контур будет сползать на четвёртую ступень при любых инструкциях.</a:t>
            </a:r>
          </a:p>
          <a:p>
            <a:r>
              <a:t/>
            </a:r>
          </a:p>
          <a:p>
            <a:r>
              <a:t>Четыре ступени описывают процедуру, а не автономию: новой лестницы здесь не вводится, сводная таблица лестниц стоит в финальной лекции.</a:t>
            </a:r>
          </a:p>
          <a:p>
            <a:r>
              <a:t/>
            </a:r>
          </a:p>
          <a:p>
            <a:r>
              <a:t>Про разряд свидетельства у четвёртой ступени, сжатый на плашке до «медиана; замер вне медицины». Медиана времени над подсказкой до её принятия — около двух секунд, и снята она на программистах с ассистентом кода, то есть вне медицины; перенос назван переносом и за клиническое измерение не выдаётся. Первая ступень, для сравнения, стоит на рандомизированном испытании программы скрининга с 80 033 женщинами. Разряд падает ровно по мере того, как участие формальнее.</a:t>
            </a:r>
          </a:p>
          <a:p>
            <a:r>
              <a:t/>
            </a:r>
          </a:p>
          <a:p>
            <a:r>
              <a:t>Этот кадр принял на себя работу снятой таблицы «что меняется в человеке и в подписи»: она отвечала на тот же вопрос пятью строками, которые здесь стоят четырьмя ступенями, и повторяла их теми же числами. Что из неё надо произнести, идёт ниже.</a:t>
            </a:r>
          </a:p>
          <a:p>
            <a:r>
              <a:t/>
            </a:r>
          </a:p>
          <a:p>
            <a:r>
              <a:t>Четвёрка адресов платежа, объявленная в начале вечера, возвращается здесь измерениями. Внимание и навык — это поведение: зрительный поиск сужается при неверной подсказке (замер взгляда, воспроизведено по направлению, в другой специальности прочтение обратное), верное решение меняется на неверное под влиянием совета (обзор), техника падает без помощника (28,4 → 22,4 процента, повторения нет), тревоги отклоняют массово. Арбитраж — это процесс: роль второго проверяющего переходит к модели, рандомизированное испытание скрининга. Подпись стоит своим именем: норма требует человека финальным звеном, проверено у 56 радиологических изделий из 717.</a:t>
            </a:r>
          </a:p>
          <a:p>
            <a:r>
              <a:t/>
            </a:r>
          </a:p>
          <a:p>
            <a:r>
              <a:t>Отдельная плоскость, которой в четырёх адресах нет, — доверие и согласие. Объяснение повышает согласие и не повышает качество решения, полевой опыт. Запись приёма пишется быстрее, а вычитка остаётся — рандомизированное вместе с замером рабочего времени.</a:t>
            </a:r>
          </a:p>
          <a:p>
            <a:r>
              <a:t/>
            </a:r>
          </a:p>
          <a:p>
            <a:r>
              <a:t>Строка, без которой весь счёт врёт в одну сторону: разная структура ошибок человека и модели даёт выигрыш пары. Сводный замер на 106 опытах, знак эффекта пары переворачивается в зависимости от того, какая сторона сильнее на задаче, оба интервала лежат целиком по одну сторону нуля. У строки есть направление и нет величины: долей взаимного перекрытия ошибок не измерено — такие числа существуют, но сверку по первоисточнику не прошли, и подставить их значило бы сделать ровно то, за что лекция разбирает поставщиков. Вопрос о повторении у этой строки закрыт её устройством: свод собран из независимых повторений.</a:t>
            </a:r>
          </a:p>
          <a:p>
            <a:r>
              <a:t/>
            </a:r>
          </a:p>
          <a:p>
            <a:r>
              <a:t>Про четвёртую ступень подробнее, потому что на кадре она сжата в одну строку. Медиана времени над подсказкой до принятия — около двух секунд, и принятое без предварительной проверки правится потом в 53 процентах случаев против 18; замер вне медицины, на программистах с ассистентом кода, и перенос назван переносом. Почему ступень самая частая, объясняет третье свидетельство: врача, принявшего подсказку в пользу стандартного лечения, при разборе случая оценивают как более разумного, чем отвергнувшего её, — так оценивают и присяжные, и двести сорок восемь немецких врачей, то есть та сторона, которую порядок и назначает разбирать; при нестандартной рекомендации разницы нет.</a:t>
            </a:r>
          </a:p>
          <a:p>
            <a:r>
              <a:t/>
            </a:r>
          </a:p>
          <a:p>
            <a:r>
              <a:t>Отсюда следствие, которое произносится прежде итоговой фразы. Если самая частая ступень — та, где подпись есть, а чтения нет, и если отказ от согласия обходится дороже согласия, то формальное требование участия человека отменяет себя само: оно требует способности возразить и одновременно делает возражение самым дорогим из доступных ходов. Чинится это не призывом и не обучением — обучение, как показал отдельный замер, ступень не повышает, — а изменением того порядка, в котором случай разбирают после исхода. Четвёртая ступень не чья-то вина: она следствие устройства процедуры и переделывается процедурой. Если у подтверждения нет времени в расписании, подпись стоит, а чтения нет.</a:t>
            </a:r>
          </a:p>
          <a:p>
            <a:r>
              <a:t/>
            </a:r>
          </a:p>
          <a:p>
            <a:r>
              <a:t>Про последнюю строку кадра. Ни один разбор ядра не доходит до исхода пациента. Измерено поведение — куда смотрит глаз, что подписывает человек, сколько находок он делает без помощника. Что из этого случилось с больным, не проверил никто. Это не упрёк исследователям: такой замер стоит лет. Но разряд своего замера лекция требует называть вслух от себя так же, как от поставщиков.</a:t>
            </a:r>
          </a:p>
        </p:txBody>
      </p:sp>
      <p:sp>
        <p:nvSpPr>
          <p:cNvPr id="4" name="Slide Number Placeholder 3"/>
          <p:cNvSpPr>
            <a:spLocks noGrp="1"/>
          </p:cNvSpPr>
          <p:nvPr>
            <p:ph type="sldNum" idx="5" sz="quarter"/>
          </p:nvPr>
        </p:nvSpPr>
        <p:spPr/>
      </p:sp>
    </p:spTree>
  </p:cSld>
  <p:clrMapOvr>
    <a:masterClrMapping/>
  </p:clrMapOvr>
</p:notes>
</file>

<file path=ppt/notesSlides/notesSlide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Закрытие устроено как сверка, а не как объявление. Фраза, которой открылась лекция, — что участие человека в медицинском решении обязательно не потому, что человек точнее, — перестаёт быть заявлением и становится ведомостью: у каждой из трёх её опор есть разбор, который её оплатил, и число, которым он это сделал. Это и есть разница между тезисом и утверждением: тезис произносят, утверждение предъявляют со счётом.</a:t>
            </a:r>
          </a:p>
          <a:p>
            <a:r>
              <a:t/>
            </a:r>
          </a:p>
          <a:p>
            <a:r>
              <a:t>Та закончилась мыслью о необратимости, и зал её слышал. Лекция эту мысль подтвердила и внесла в неё поправку, которую стоит знать: отзыв существует, он посчитан, и значительная часть отзывов приходится на первый год работы изделия. А вот решения, принятые по этому изделию за тот год, не отзываются вместе с ним. Необратимы не изделия — необратимы решения, принятые по ним до отзыва. Формулировка «в медицине всё необратимо» шире замера; разрыв между обратимостью изделия и необратимостью решения измерен, и это сильнее исходной фразы.</a:t>
            </a:r>
          </a:p>
          <a:p>
            <a:r>
              <a:t/>
            </a:r>
          </a:p>
          <a:p>
            <a:r>
              <a:t>Там же отвечается вопрос, зачем медицина шла в курсе после машиностроения: та же работа с той же парой вопросов — что стоит ошибиться в обе стороны и кто за это отвечает, — только граница допустимого проведена в другом месте, и проведена она процедурой, а не чувством.</a:t>
            </a:r>
          </a:p>
          <a:p>
            <a:r>
              <a:t/>
            </a:r>
          </a:p>
          <a:p>
            <a:r>
              <a:t>Три кадра раздела устроены по-разному, и порядок у них не случайный. Первый — ведомость: фраза, объявленная на входе обязательством, возвращается с разбором и числом под каждой из трёх опор, и у одной опоры число названо отсутствующим. Второй закрывает лекцию разрывом между двумя вещами, которые привычно считают одной: изделие с рынка снимают, решения по нему остаются; его заголовок и есть эта строка, а под ней стоит доля отзывов, пришедшихся на первый год работы изделия, и снимок страницы регулятора. Третий отдаёт в руки три проверки — те самые, которые инженер приложит к собственному рабочему контуру независимо от отрасли, — и задаёт вопрос, с которого начинается разговор.</a:t>
            </a:r>
          </a:p>
          <a:p>
            <a:r>
              <a:t/>
            </a:r>
          </a:p>
          <a:p>
            <a:r>
              <a:t>Новых утверждений раздел не вводит ни одного, и это свойство, а не упущение. Всё, что здесь произносится, уже предъявлено со своей базой и своим разрядом свидетельства; закрытие складывает предъявленное и проверяет, оплачено ли обещание входа. Четвёртой опоры здесь появиться не может: их три, они заявлены в начале, и четвёртая означала бы, что обещание было неполным.</a:t>
            </a:r>
          </a:p>
        </p:txBody>
      </p:sp>
      <p:sp>
        <p:nvSpPr>
          <p:cNvPr id="4" name="Slide Number Placeholder 3"/>
          <p:cNvSpPr>
            <a:spLocks noGrp="1"/>
          </p:cNvSpPr>
          <p:nvPr>
            <p:ph type="sldNum" idx="5" sz="quarter"/>
          </p:nvPr>
        </p:nvSpPr>
        <p:spPr/>
      </p:sp>
    </p:spTree>
  </p:cSld>
  <p:clrMapOvr>
    <a:masterClrMapping/>
  </p:clrMapOvr>
</p:notes>
</file>

<file path=ppt/notesSlides/notesSlide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Закрытие устроено как сверка, а не как объявление. Фраза прозвучала на входе обязательством лекции; здесь она возвращается заработанной, и доказывать её заново не нужно — нужно предъявить ведомость по каждой опоре.</a:t>
            </a:r>
          </a:p>
          <a:p>
            <a:r>
              <a:t/>
            </a:r>
          </a:p>
          <a:p>
            <a:r>
              <a:t>Право подписи выдано человеку. При разборе случая комиссия оценивает действия человека, и вопроса о модели в этой процедуре нет вовсе. И измерено, как редко проверяют, способен ли человек этим правом воспользоваться: способность вмешаться проверена у 56 радиологических изделий из 717, срез июнь 2024 года. Спрашивают при этом именно с него, и это не то же самое, что «он важнее».</a:t>
            </a:r>
          </a:p>
          <a:p>
            <a:r>
              <a:t/>
            </a:r>
          </a:p>
          <a:p>
            <a:r>
              <a:t>Ошибается иначе. У этой опоры величины нет, и сказать это надо той же строкой, которой всю лекцию требовалась база у чужих чисел: доли взаимного перекрытия ошибок человека и модели не измерены. Такие измерения существуют, но их числа сверку по первоисточнику не прошли, и подставить их здесь значило бы сделать в ведомости ровно то, за что лекция разбирает поставщиков. Держится опора механизмом и структурой: на 106 опытах пара работает хуже самой модели там, где сильнее модель, и лучше обеих сторон там, где сильнее человек. Рядом измеренная асимметрия отклонений: более точные находки модели отклоняли чаще, чем менее точные свои. Вместе это подтверждает направление — ошибки человека и модели лежат на разных случаях — и не подтверждает величину. Опоре этого достаточно: она утверждает, что ошибки расходятся, а на скольких случаях — не измерено.</a:t>
            </a:r>
          </a:p>
          <a:p>
            <a:r>
              <a:t/>
            </a:r>
          </a:p>
          <a:p>
            <a:r>
              <a:t>Отменить нельзя. Изделие отзывают, и это посчитано: из 950 допущенных изделий с моделью отзывались 60, на них 182 отзывных события, и 43,4 процента отзывов приходятся на первый год; срез ноябрь 2024. Решения, принятые по изделию за этот год, вместе с ним не отзываются. Два знаменателя рядом — 717 и 950 — приходят из двух разных работ при разных срезах, поэтому у каждого числа стоит своя дата.</a:t>
            </a:r>
          </a:p>
          <a:p>
            <a:r>
              <a:t/>
            </a:r>
          </a:p>
          <a:p>
            <a:r>
              <a:t>Ведомость не добавляет ни одной опоры и ни одной проверки: их три и три, они заявлены на входе, и четвёртая опора в закрытии означала бы, что обещание было неполным.</a:t>
            </a:r>
          </a:p>
          <a:p>
            <a:r>
              <a:t/>
            </a:r>
          </a:p>
          <a:p>
            <a:r>
              <a:t>**Источники.** </a:t>
            </a:r>
            <a:r>
              <a:rPr u="sng">
                <a:solidFill>
                  <a:srgbClr val="065A82"/>
                </a:solidFill>
                <a:hlinkClick r:id="rId3"/>
              </a:rPr>
              <a:t>Lee и соавт., JAMA Health Forum 2025, отзывы изделий</a:t>
            </a:r>
            <a:r>
              <a:t> · </a:t>
            </a:r>
            <a:r>
              <a:rPr u="sng">
                <a:solidFill>
                  <a:srgbClr val="065A82"/>
                </a:solidFill>
                <a:hlinkClick r:id="rId4"/>
              </a:rPr>
              <a:t>обзор поданной регуляторам документации, JAMA Network Open 2025</a:t>
            </a:r>
            <a:r>
              <a:t> · </a:t>
            </a:r>
            <a:r>
              <a:rPr u="sng">
                <a:solidFill>
                  <a:srgbClr val="065A82"/>
                </a:solidFill>
                <a:hlinkClick r:id="rId5"/>
              </a:rPr>
              <a:t>Регламент (ЕС) 2024/1689</a:t>
            </a:r>
          </a:p>
          <a:p>
            <a:r>
              <a:t/>
            </a:r>
          </a:p>
          <a:p>
            <a:r>
              <a:t>Про срез по изделиям, сжатый на плашке. Пятьдесят шесть из семисот семнадцати — это радиологические изделия, допущенные к обращению, срез июнь 2024 года; проверена у них способность человека вмешаться, а не наличие человека рядом. И про вторую опору: механизм «ошибается иначе» подтверждён направлением на 106 опытах, а величины — доли взаимного перекрытия ошибок человека и модели — не измерено ни одной. Требовать базу у чужих чисел и не называть её у своей опоры нельзя, поэтому пробел назван той же строкой.</a:t>
            </a:r>
          </a:p>
          <a:p>
            <a:r>
              <a:t/>
            </a:r>
          </a:p>
          <a:p>
            <a:r>
              <a:t>Три основания, снятые с кадра до строки каждое, произносятся полностью.</a:t>
            </a:r>
          </a:p>
          <a:p>
            <a:r>
              <a:t/>
            </a:r>
          </a:p>
          <a:p>
            <a:r>
              <a:t>Ошибается иначе. Направление подтверждено на 106 опытах: знак выигрыша пары зависит от того, какая сторона сильнее на задаче, и оба интервала лежат целиком по одну сторону нуля. Величины у опоры нет — долей взаимного перекрытия ошибок человека и модели не измерено, — и сказать это надо той же строкой, которой лекция весь вечер требовала базу у чужих чисел. Требовать базу у поставщика и умалчивать её у своей опоры нельзя.</a:t>
            </a:r>
          </a:p>
          <a:p>
            <a:r>
              <a:t/>
            </a:r>
          </a:p>
          <a:p>
            <a:r>
              <a:t>Отменить нельзя. Операцию не отменить задним числом, год наблюдения не переиграть, процедуры, проведённые упавшей рукой, уже проведены. Это и отличает медицинское решение от того, что обсуждается в следующей лекции.</a:t>
            </a:r>
          </a:p>
          <a:p>
            <a:r>
              <a:t/>
            </a:r>
          </a:p>
          <a:p>
            <a:r>
              <a:t>И про саму норму: она сформулирована как способность вмешаться, а не как присутствие, и смотреть каждое решение она не требует. Присутствие человека рядом с контуром её не исполняет — именно поэтому «у нас человек в контуре» само по себе не говорит ничего, пока не названа ступень.</a:t>
            </a:r>
          </a:p>
        </p:txBody>
      </p:sp>
      <p:sp>
        <p:nvSpPr>
          <p:cNvPr id="4" name="Slide Number Placeholder 3"/>
          <p:cNvSpPr>
            <a:spLocks noGrp="1"/>
          </p:cNvSpPr>
          <p:nvPr>
            <p:ph type="sldNum" idx="5" sz="quarter"/>
          </p:nvPr>
        </p:nvSpPr>
        <p:spPr/>
      </p:sp>
    </p:spTree>
  </p:cSld>
  <p:clrMapOvr>
    <a:masterClrMapping/>
  </p:clrMapOvr>
</p:notes>
</file>

<file path=ppt/notesSlides/notesSlide1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Прошлая лекция закончилась фразой, произнесённой залу: партию можно отозвать, решение о человеке отозвать нельзя. Эта лекция тезис отработала измеренным материалом — тезис подтверждается, и к нему есть поправка, которая делает его сильнее.</a:t>
            </a:r>
          </a:p>
          <a:p>
            <a:r>
              <a:t/>
            </a:r>
          </a:p>
          <a:p>
            <a:r>
              <a:t>Первая половина подтверждается буквально и даже шире, чем произносилась: отзывается не только партия деталей, но и изделие с обученной моделью внутри. Из 950 допущенных изделий отзывались 60, на них 182 отзывных события, и 79 из них — 43,4 процента — пришлись на первые двенадцать месяцев после допуска, примерно вдвое чаще обычного для этого пути допуска; срез ноябрь 2024 года. Изделия без заявленной клинической проверки отзывались чаще: 3,4 отзыва на изделие против 1,9 у проверенных ретроспективно. А 108 отзывов из 182 к концу исследования оставались неразрешёнными.</a:t>
            </a:r>
          </a:p>
          <a:p>
            <a:r>
              <a:t/>
            </a:r>
          </a:p>
          <a:p>
            <a:r>
              <a:t>Вторая половина подтверждается двумя разборами лекции. Решения, принятые по изделию до его отзыва: отзывом изделия они не отзываются. Техника, упавшая в процедурах без помощника, — те процедуры уже проведены, и переделать их нельзя.</a:t>
            </a:r>
          </a:p>
          <a:p>
            <a:r>
              <a:t/>
            </a:r>
          </a:p>
          <a:p>
            <a:r>
              <a:t>Поправка, которую стоит произнести: отзыв существует, работает и посчитан. Изделие отзывается — необратимы решения, принятые по нему до отзыва. Сорок три процента отзывов приходятся на первый год работы изделия, и решения этого года остаются. Формулировка «в медицине всё необратимо» шире замера, и проверить её нечем. Формулировка «между обратимостью изделия и необратимостью решения есть разрыв, и он измерен» проверяема, и её можно приложить к своему рабочему контуру: спросить, что в нём отзывается, а что остаётся после отзыва.</a:t>
            </a:r>
          </a:p>
          <a:p>
            <a:r>
              <a:t/>
            </a:r>
          </a:p>
          <a:p>
            <a:r>
              <a:t>И честная оговорка про охват: оба оставшихся разбора лежат внутри медицинского контура, где решение принимал тот, кто за него отвечает. Третий, в котором необратимость касалась решения о лечении конкретного человека, принятого не врачом, снят решением владельца курса вместе с изъятой темой, и усиливать опору взамен нечем. Дальше курс идёт в отрасль, где ошибку почти всегда можно отменить, и спор там о принадлежности результата, а не о цене ошибки: смена вопроса и есть переход.</a:t>
            </a:r>
          </a:p>
          <a:p>
            <a:r>
              <a:t/>
            </a:r>
          </a:p>
          <a:p>
            <a:r>
              <a:t>И про женщину, с которой вечер начался. Чем кончилось для неё, не измерил никто: замеров долгосрочного исхода человека после решения, принятого с участием модели, не нашлось ни одного — ни в её программе, ни в любой другой. Там, где должен стоять шестой шаг пути, пусто, и это было объявлено в начале. Это и есть разница между отзывом изделия и решением о человеке: первое посчитано, второе даже не прослежено.</a:t>
            </a:r>
          </a:p>
          <a:p>
            <a:r>
              <a:t/>
            </a:r>
          </a:p>
          <a:p>
            <a:r>
              <a:t>**Источники.** </a:t>
            </a:r>
            <a:r>
              <a:rPr u="sng">
                <a:solidFill>
                  <a:srgbClr val="065A82"/>
                </a:solidFill>
                <a:hlinkClick r:id="rId3"/>
              </a:rPr>
              <a:t>Lee и соавт., JAMA Health Forum 2025, отзывы изделий</a:t>
            </a:r>
          </a:p>
          <a:p>
            <a:r>
              <a:t/>
            </a:r>
          </a:p>
          <a:p>
            <a:r>
              <a:t>Знаменатель отзывов, сжатый на плашке: 79 событий отзыва из 182 пришлись на первые двенадцать месяцев, и считано это на 60 отозванных изделиях из 950 допущенных, срез ноябрь 2024 года. То есть 43,4 процента — это доля событий, а не доля изделий, и путать их нельзя.</a:t>
            </a:r>
          </a:p>
          <a:p>
            <a:r>
              <a:t/>
            </a:r>
          </a:p>
          <a:p>
            <a:r>
              <a:t>«В медицине всё необратимо» — утверждение шире любого замера, и проверять его надо так же, как чужие. Отзыв существует и посчитан: 43,4 процента отзывов приходится на первые двенадцать месяцев. То есть устройство из обращения вывести можно, и делается это довольно быстро. Необратимо другое — решения, принятые по этому устройству за год его работы. Они вместе с ним не отзываются, их никто не пересматривает, и человека, которому по ним что-то сделали, об отзыве обычно не извещают.</a:t>
            </a:r>
          </a:p>
          <a:p>
            <a:r>
              <a:t/>
            </a:r>
          </a:p>
          <a:p>
            <a:r>
              <a:t>Поэтому вопрос к своему контуру ставится именно так: что в нём отзывается, а что остаётся. Отозвать можно изделие и партию; отменить нельзя решение, принятое до отзыва, и уже проведённую процедуру.</a:t>
            </a:r>
          </a:p>
          <a:p>
            <a:r>
              <a:t/>
            </a:r>
          </a:p>
          <a:p>
            <a:r>
              <a:t>И переход к следующей лекции. Дальше идёт отрасль, где ошибку почти всегда можно отменить: откатить версию, переписать код, вернуть данные из резервной копии. Спор там идёт о принадлежности результата — кто автор, чей труд, чьи права, — а цена ошибки в нём почти не звучит. Сопоставление это стоит произнести прямо: не «там проще», а «там другая несимметричность, и она делает другие вещи дорогими».</a:t>
            </a:r>
          </a:p>
        </p:txBody>
      </p:sp>
      <p:sp>
        <p:nvSpPr>
          <p:cNvPr id="4" name="Slide Number Placeholder 3"/>
          <p:cNvSpPr>
            <a:spLocks noGrp="1"/>
          </p:cNvSpPr>
          <p:nvPr>
            <p:ph type="sldNum" idx="5" sz="quarter"/>
          </p:nvPr>
        </p:nvSpPr>
        <p:spPr/>
      </p:sp>
    </p:spTree>
  </p:cSld>
  <p:clrMapOvr>
    <a:masterClrMapping/>
  </p:clrMapOvr>
</p:notes>
</file>

<file path=ppt/notesSlides/notesSlide10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Три строки на кадре — это и есть то, что лекция оставляет в руках. Каждая проверяема на конкретной системе, и каждая уже была применена сегодня на разборе, а здесь только названа своим именем.</a:t>
            </a:r>
          </a:p>
          <a:p>
            <a:r>
              <a:t/>
            </a:r>
          </a:p>
          <a:p>
            <a:r>
              <a:t>Первая проверка отделяет проверку от её видимости. Если единственное, по чему человек сверяет вывод модели, — это объяснение самой модели, то проверки нет: объяснение покупает согласие и не покупает качество, и это измерено. Упрощённое объяснение неверной рекомендации уронило точность выбора ниже той, которую тот же человек даёт без всякой модели. Независимый источник истины — это другой прибор, другой анализ, другой человек или сам предмет; самообъяснение в этот список не входит.</a:t>
            </a:r>
          </a:p>
          <a:p>
            <a:r>
              <a:t/>
            </a:r>
          </a:p>
          <a:p>
            <a:r>
              <a:t>Вторая проверка превращает слово «контроль» в величину. У любого контура, где человек подтверждает решение модели, есть две считаемые доли: как часто он возражает и как часто возражает правильно. Если ни одна из них не измерена, утверждение «человек проверяет» ничем не отличается от утверждения «человек подписывает». В разборах лекции это различие было видно дважды. Там, где подсказка приходила раньше собственного вывода, человек возражал реже и хуже. Там, где процедуру перестроили и человек смотрел только расхождения, возражение стало отдельной работой — и её объём оказалось возможно посчитать.</a:t>
            </a:r>
          </a:p>
          <a:p>
            <a:r>
              <a:t/>
            </a:r>
          </a:p>
          <a:p>
            <a:r>
              <a:t>Третья проверка — про физику, не про старательность. У проверки есть длительность, и она сравнивается с объёмом, который надо прочитать, чтобы проверка состоялась. Измеренная медиана проверки подсказки — около двух секунд; за это время подсказку прочесть нельзя, и принятое без предварительной проверки правится потом в 53 процентах случаев против 18. Замер сделан вне медицины, на программистах с ассистентом кода, и перенос назван переносом. Отсюда вывод, который переносится на любую отрасль: требование «человек подтверждает» выполнимо только тогда, когда у подтверждения есть время в расписании. Если его нет, подпись стоит, а чтения нет, и переделывается это процедурой, не внимательностью.</a:t>
            </a:r>
          </a:p>
          <a:p>
            <a:r>
              <a:t/>
            </a:r>
          </a:p>
          <a:p>
            <a:r>
              <a:t>Отдельным свидетельством, другого предмета и другого знаменателя, рядом с третьей проверкой стоит перепись допущенных изделий: способность человека вмешаться проверена у 56 радиологических изделий из 717, срез июнь 2024 года. Та же мысль с другой стороны — норма требует возможности вмешаться и не требует, чтобы вмешательство кто-нибудь посчитал.</a:t>
            </a:r>
          </a:p>
          <a:p>
            <a:r>
              <a:t/>
            </a:r>
          </a:p>
          <a:p>
            <a:r>
              <a:t>Вопрос задан про собственный рабочий контур слушателя и не про медицину: медицинского опыта он не требует, а автоматический элемент, решающий что-то за человека, есть сегодня почти в каждом рабочем контуре. Ответ ждём вслух; если зал молчит, называется первая проверка и задаётся прямой вопрос — у кого в контуре независимый источник истины есть, а у кого единственным источником служит экран.</a:t>
            </a:r>
          </a:p>
          <a:p>
            <a:r>
              <a:t/>
            </a:r>
          </a:p>
          <a:p>
            <a:r>
              <a:t>На снимке двое читают серию с рабочей станции. Кадр ничего не доказывает и ни одного числа лекции не подтверждает: он стоит здесь затем, чтобы вопрос задавался не пустой рамке, а сцене, в которой человек смотрит на вывод машины.</a:t>
            </a:r>
          </a:p>
          <a:p>
            <a:r>
              <a:t/>
            </a:r>
          </a:p>
          <a:p>
            <a:r>
              <a:t>Эти три проверки не про медицину, и произносить их надо именно так: любая из них прикладывается к контуру в банке, на производстве и в разработке программ — везде, где вывод модели читает человек и подписывается под результатом.</a:t>
            </a:r>
          </a:p>
          <a:p>
            <a:r>
              <a:t/>
            </a:r>
          </a:p>
          <a:p>
            <a:r>
              <a:t>Первая проверка — про независимый источник истины. Объяснение модели источником истины не является: оно порождено тем же механизмом, что и сам вывод, и согласуется с ним по построению. Независимым будет другой прибор, другой анализ, другой человек или сам предмет. Контур, в котором проверить вывод можно только объяснением к нему, замкнут сам на себя.</a:t>
            </a:r>
          </a:p>
          <a:p>
            <a:r>
              <a:t/>
            </a:r>
          </a:p>
          <a:p>
            <a:r>
              <a:t>Вторая — про две считаемые доли. Как часто человек возражает и как часто он возражает верно. Если не измерена ни одна, то «человек проверяет» не отличается от «человек подписывает» никаким наблюдаемым признаком, и спорить тут не о чем.</a:t>
            </a:r>
          </a:p>
          <a:p>
            <a:r>
              <a:t/>
            </a:r>
          </a:p>
          <a:p>
            <a:r>
              <a:t>Третья — про физику времени. Секунды на решение против объёма, который надо прочитать. Медиана проверки подсказки — около двух секунд, и принятое без предварительной проверки правится потом в 53 процентах случаев против 18. Если у подтверждения нет времени в расписании, подпись будет, а чтения не будет, и никакая инструкция этого не изменит.</a:t>
            </a:r>
          </a:p>
          <a:p>
            <a:r>
              <a:t/>
            </a:r>
          </a:p>
          <a:p>
            <a:r>
              <a:t>Вопрос залу задать и дождаться ответа: какую одну проверку вы бы сделали обязательной до включения модели в свой контур. Ответ называется за несколько секунд, и он почти всегда оказывается одной из этих трёх.</a:t>
            </a:r>
          </a:p>
          <a:p>
            <a:r>
              <a:t/>
            </a:r>
          </a:p>
          <a:p>
            <a:r>
              <a:t>**Иллюстрация.** Двое читают серию снимков с рабочей станции — </a:t>
            </a:r>
            <a:r>
              <a:rPr u="sng">
                <a:solidFill>
                  <a:srgbClr val="065A82"/>
                </a:solidFill>
                <a:hlinkClick r:id="rId3"/>
              </a:rPr>
              <a:t>Викисклад</a:t>
            </a:r>
            <a:r>
              <a:t>, The Medical Futurist, 2017, </a:t>
            </a:r>
            <a:r>
              <a:rPr u="sng">
                <a:solidFill>
                  <a:srgbClr val="065A82"/>
                </a:solidFill>
                <a:hlinkClick r:id="rId4"/>
              </a:rPr>
              <a:t>CC BY 4.0</a:t>
            </a:r>
            <a:r>
              <a: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2196/94450" TargetMode="External"/><Relationship Id="rId3" Type="http://schemas.openxmlformats.org/officeDocument/2006/relationships/hyperlink" Target="https://doi.org/10.1056/NEJMoa1804710" TargetMode="Externa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mlmed.org/tools/xray" TargetMode="External"/><Relationship Id="rId3" Type="http://schemas.openxmlformats.org/officeDocument/2006/relationships/hyperlink" Target="https://doi.org/10.1001/jamanetworkopen.2025.42338" TargetMode="Externa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 Id="rId3" Type="http://schemas.openxmlformats.org/officeDocument/2006/relationships/hyperlink" Target="https://doi.org/10.1001/jamanetworkopen.2024.40969" TargetMode="Externa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hyperlink" Target="https://www.gov.uk/guidance/breast-screening-programme-overview" TargetMode="External"/><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016/S0140-6736%2825%2902464-X" TargetMode="Externa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016/S0140-6736%2825%2902464-X" TargetMode="External"/><Relationship Id="rId3" Type="http://schemas.openxmlformats.org/officeDocument/2006/relationships/hyperlink" Target="https://doi.org/10.1038/s41591-024-03408-6" TargetMode="External"/><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jpg"/><Relationship Id="rId3" Type="http://schemas.openxmlformats.org/officeDocument/2006/relationships/hyperlink" Target="https://doi.org/10.1038/s41467-023-44676-z" TargetMode="External"/><Relationship Id="rId4"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www.accessdata.fda.gov/cdrh_docs/pdf18/DEN180001.pdf" TargetMode="Externa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jpg"/><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jpg"/><Relationship Id="rId3" Type="http://schemas.openxmlformats.org/officeDocument/2006/relationships/hyperlink" Target="https://doi.org/10.1038/s42256-021-00307-0" TargetMode="External"/><Relationship Id="rId4"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arxiv.org/abs/1711.05225" TargetMode="Externa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jpg"/><Relationship Id="rId3" Type="http://schemas.openxmlformats.org/officeDocument/2006/relationships/hyperlink" Target="https://doi.org/10.1145/3313831.3376718" TargetMode="External"/><Relationship Id="rId4"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126/sciadv.abq6147" TargetMode="External"/><Relationship Id="rId3" Type="http://schemas.openxmlformats.org/officeDocument/2006/relationships/hyperlink" Target="https://doi.org/10.1111/j.1365-2133.2008.08713.x" TargetMode="External"/><Relationship Id="rId4"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126/sciadv.abq6147" TargetMode="Externa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126/science.aax2342" TargetMode="Externa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126/science.aax2342" TargetMode="Externa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jpg"/><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136/bmjqs-2013-002627" TargetMode="Externa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jpg"/><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056/AIoa2501001" TargetMode="External"/><Relationship Id="rId3" Type="http://schemas.openxmlformats.org/officeDocument/2006/relationships/hyperlink" Target="https://arxiv.org/abs/2210.14306" TargetMode="External"/><Relationship Id="rId4"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148/radiol.252590" TargetMode="Externa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148/radiol.243688" TargetMode="Externa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038/s41746-020-0232-8" TargetMode="Externa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001/jamanetworkopen.2024.40969" TargetMode="Externa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016/S0140-6736%2825%2902464-X" TargetMode="External"/><Relationship Id="rId3" Type="http://schemas.openxmlformats.org/officeDocument/2006/relationships/hyperlink" Target="https://doi.org/10.1016/S1470-2045%2823%2900298-X" TargetMode="External"/><Relationship Id="rId4"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016/S0140-6736%2825%2902464-X" TargetMode="External"/><Relationship Id="rId3" Type="http://schemas.openxmlformats.org/officeDocument/2006/relationships/hyperlink" Target="https://doi.org/10.1148/radiol.242566" TargetMode="External"/><Relationship Id="rId4"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038/s41591-024-02850-w" TargetMode="External"/><Relationship Id="rId3" Type="http://schemas.openxmlformats.org/officeDocument/2006/relationships/hyperlink" Target="https://arxiv.org/abs/2102.09692" TargetMode="External"/><Relationship Id="rId4"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038/s41562-024-02024-1" TargetMode="Externa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pubmed.ncbi.nlm.nih.gov/30124479/" TargetMode="External"/><Relationship Id="rId3" Type="http://schemas.openxmlformats.org/officeDocument/2006/relationships/hyperlink" Target="https://pubmed.ncbi.nlm.nih.gov/37314698/" TargetMode="External"/><Relationship Id="rId4"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pubmed.ncbi.nlm.nih.gov/37314698/" TargetMode="External"/><Relationship Id="rId3" Type="http://schemas.openxmlformats.org/officeDocument/2006/relationships/hyperlink" Target="https://doi.org/10.1038/s41746-026-02545-1" TargetMode="External"/><Relationship Id="rId4"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pubmed.ncbi.nlm.nih.gov/37314698/" TargetMode="External"/><Relationship Id="rId3" Type="http://schemas.openxmlformats.org/officeDocument/2006/relationships/hyperlink" Target="https://doi.org/10.1001/jamanetworkopen.2024.40969" TargetMode="External"/><Relationship Id="rId4" Type="http://schemas.openxmlformats.org/officeDocument/2006/relationships/hyperlink" Target="https://doi.org/10.1038/s41562-024-02024-1" TargetMode="External"/><Relationship Id="rId5" Type="http://schemas.openxmlformats.org/officeDocument/2006/relationships/hyperlink" Target="https://doi.org/10.1148/radiol.252590" TargetMode="External"/><Relationship Id="rId6"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jpg"/><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jpg"/><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jpg"/><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jpg"/><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093/jamiaopen/ooab062" TargetMode="External"/><Relationship Id="rId3" Type="http://schemas.openxmlformats.org/officeDocument/2006/relationships/hyperlink" Target="https://doi.org/10.1371/journal.pone.0110274" TargetMode="External"/><Relationship Id="rId4"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001/jamainternmed.2021.2626" TargetMode="External"/><Relationship Id="rId3" Type="http://schemas.openxmlformats.org/officeDocument/2006/relationships/hyperlink" Target="https://doi.org/10.1001/jamanetworkopen.2026.0181" TargetMode="External"/><Relationship Id="rId4"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001/jamainternmed.2021.2626" TargetMode="External"/><Relationship Id="rId3" Type="http://schemas.openxmlformats.org/officeDocument/2006/relationships/hyperlink" Target="https://doi.org/10.1093/jamiaopen/ooab062" TargetMode="External"/><Relationship Id="rId4"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 Id="rId3" Type="http://schemas.openxmlformats.org/officeDocument/2006/relationships/hyperlink" Target="https://doi.org/10.1093/jamiaopen/ooae133" TargetMode="External"/><Relationship Id="rId4" Type="http://schemas.openxmlformats.org/officeDocument/2006/relationships/hyperlink" Target="https://doi.org/10.1001/jamanetworkopen.2026.0181" TargetMode="External"/><Relationship Id="rId5"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001/jamanetworkopen.2021.35286" TargetMode="External"/><Relationship Id="rId3"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001/jamainternmed.2017.1548" TargetMode="External"/><Relationship Id="rId3"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001/jamanetworkopen.2022.33348" TargetMode="External"/><Relationship Id="rId3" Type="http://schemas.openxmlformats.org/officeDocument/2006/relationships/hyperlink" Target="https://doi.org/10.4338/ACI-2016-09-R-0150" TargetMode="External"/><Relationship Id="rId4"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www.medrxiv.org/content/10.1101/2025.07.10.25331333" TargetMode="External"/><Relationship Id="rId3"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www.medrxiv.org/content/10.1101/2025.07.10.25331333" TargetMode="External"/><Relationship Id="rId3"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001/jamainternmed.2025.0821" TargetMode="External"/><Relationship Id="rId3"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001/jamanetworkopen.2026.16556" TargetMode="External"/><Relationship Id="rId3" Type="http://schemas.openxmlformats.org/officeDocument/2006/relationships/hyperlink" Target="https://doi.org/10.1001/jamainternmed.2025.0821" TargetMode="External"/><Relationship Id="rId4" Type="http://schemas.openxmlformats.org/officeDocument/2006/relationships/hyperlink" Target="https://doi.org/10.7759/cureus.109247" TargetMode="External"/><Relationship Id="rId5"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eur-lex.europa.eu/eli/reg/2024/1689/oj" TargetMode="External"/><Relationship Id="rId3" Type="http://schemas.openxmlformats.org/officeDocument/2006/relationships/hyperlink" Target="https://doi.org/10.1001/jamanetworkopen.2025.42338" TargetMode="External"/><Relationship Id="rId4"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jpg"/><Relationship Id="rId3"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093/jamia/ocad118" TargetMode="External"/><Relationship Id="rId3"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001/jamanetworkopen.2025.42338" TargetMode="External"/><Relationship Id="rId3" Type="http://schemas.openxmlformats.org/officeDocument/2006/relationships/hyperlink" Target="https://eur-lex.europa.eu/eli/reg/2024/1689/oj" TargetMode="External"/><Relationship Id="rId4"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007/s00330-025-12273-x" TargetMode="External"/><Relationship Id="rId3" Type="http://schemas.openxmlformats.org/officeDocument/2006/relationships/hyperlink" Target="https://doi.org/10.1038/s43018-026-01128-z" TargetMode="External"/><Relationship Id="rId4"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2967/jnumed.126.272292" TargetMode="External"/><Relationship Id="rId3" Type="http://schemas.openxmlformats.org/officeDocument/2006/relationships/hyperlink" Target="https://doi.org/10.2967/jnumed.120.256032" TargetMode="External"/><Relationship Id="rId4"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web.archive.org/web/2026/https://www.ama-assn.org/system/files/ama-ai-principles.pdf" TargetMode="External"/><Relationship Id="rId3"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www.fda.gov/regulatory-information/search-fda-guidance-documents/marketing-submission-recommendations-predetermined-change-control-plan-artificial-intelligence" TargetMode="External"/><Relationship Id="rId3" Type="http://schemas.openxmlformats.org/officeDocument/2006/relationships/hyperlink" Target="http://publication.pravo.gov.ru/document/0001202510140015" TargetMode="External"/><Relationship Id="rId4" Type="http://schemas.openxmlformats.org/officeDocument/2006/relationships/hyperlink" Target="https://eur-lex.europa.eu/eli/reg/2024/1689/oj" TargetMode="External"/><Relationship Id="rId5" Type="http://schemas.openxmlformats.org/officeDocument/2006/relationships/hyperlink" Target="https://doi.org/10.1001/jamahealthforum.2025.3172" TargetMode="External"/><Relationship Id="rId6"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001/jamanetworkopen.2025.42338" TargetMode="External"/><Relationship Id="rId3" Type="http://schemas.openxmlformats.org/officeDocument/2006/relationships/hyperlink" Target="https://doi.org/10.1007/s00330-025-12273-x" TargetMode="External"/><Relationship Id="rId4" Type="http://schemas.openxmlformats.org/officeDocument/2006/relationships/hyperlink" Target="https://doi.org/10.1093/jamia/ocad118" TargetMode="External"/><Relationship Id="rId5" Type="http://schemas.openxmlformats.org/officeDocument/2006/relationships/hyperlink" Target="https://eur-lex.europa.eu/eli/reg/2024/1689/oj" TargetMode="External"/><Relationship Id="rId6" Type="http://schemas.openxmlformats.org/officeDocument/2006/relationships/notesSlide" Target="../notesSlides/notesSlide7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jpg"/><Relationship Id="rId3" Type="http://schemas.openxmlformats.org/officeDocument/2006/relationships/notesSlide" Target="../notesSlides/notesSlide78.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 Id="rId3" Type="http://schemas.openxmlformats.org/officeDocument/2006/relationships/hyperlink" Target="https://doi.org/10.1016/j.gie.2014.07.058" TargetMode="External"/><Relationship Id="rId4" Type="http://schemas.openxmlformats.org/officeDocument/2006/relationships/notesSlide" Target="../notesSlides/notesSlide79.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016/j.gie.2014.07.058" TargetMode="External"/><Relationship Id="rId3" Type="http://schemas.openxmlformats.org/officeDocument/2006/relationships/notesSlide" Target="../notesSlides/notesSlide80.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jpg"/><Relationship Id="rId3" Type="http://schemas.openxmlformats.org/officeDocument/2006/relationships/hyperlink" Target="https://pmc.ncbi.nlm.nih.gov/articles/PMC12852673/" TargetMode="External"/><Relationship Id="rId4" Type="http://schemas.openxmlformats.org/officeDocument/2006/relationships/hyperlink" Target="https://doi.org/10.1016/j.cgh.2020.11.019" TargetMode="External"/><Relationship Id="rId5" Type="http://schemas.openxmlformats.org/officeDocument/2006/relationships/hyperlink" Target="https://doi.org/10.1007/s00384-023-04585-5" TargetMode="External"/><Relationship Id="rId6" Type="http://schemas.openxmlformats.org/officeDocument/2006/relationships/notesSlide" Target="../notesSlides/notesSlide8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016/S2468-1253%2825%2900133-5" TargetMode="External"/><Relationship Id="rId3" Type="http://schemas.openxmlformats.org/officeDocument/2006/relationships/hyperlink" Target="https://doi.org/10.1073/pnas.2422633122" TargetMode="External"/><Relationship Id="rId4" Type="http://schemas.openxmlformats.org/officeDocument/2006/relationships/notesSlide" Target="../notesSlides/notesSlide82.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metr.org/blog/2026-02-24-uplift-update/" TargetMode="External"/><Relationship Id="rId3" Type="http://schemas.openxmlformats.org/officeDocument/2006/relationships/notesSlide" Target="../notesSlides/notesSlide83.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png"/><Relationship Id="rId3" Type="http://schemas.openxmlformats.org/officeDocument/2006/relationships/hyperlink" Target="https://digital-transformation.hee.nhs.uk/binaries/content/assets/digital-transformation/dart-ed/understandingconfidenceinai-may22.pdf" TargetMode="External"/><Relationship Id="rId4" Type="http://schemas.openxmlformats.org/officeDocument/2006/relationships/hyperlink" Target="https://doi.org/10.1007/s10278-025-01485-8" TargetMode="External"/><Relationship Id="rId5" Type="http://schemas.openxmlformats.org/officeDocument/2006/relationships/notesSlide" Target="../notesSlides/notesSlide84.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016/S2468-1253%2825%2900133-5" TargetMode="External"/><Relationship Id="rId3" Type="http://schemas.openxmlformats.org/officeDocument/2006/relationships/notesSlide" Target="../notesSlides/notesSlide85.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6.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jpg"/><Relationship Id="rId3" Type="http://schemas.openxmlformats.org/officeDocument/2006/relationships/notesSlide" Target="../notesSlides/notesSlide8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2.jpg"/><Relationship Id="rId3" Type="http://schemas.openxmlformats.org/officeDocument/2006/relationships/hyperlink" Target="https://go.bio.org/rs/490-EHZ-999/images/ClinicalDevelopmentSuccessRates2011_2020.pdf" TargetMode="External"/><Relationship Id="rId4" Type="http://schemas.openxmlformats.org/officeDocument/2006/relationships/notesSlide" Target="../notesSlides/notesSlide88.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go.bio.org/rs/490-EHZ-999/images/ClinicalDevelopmentSuccessRates2011_2020.pdf" TargetMode="External"/><Relationship Id="rId3" Type="http://schemas.openxmlformats.org/officeDocument/2006/relationships/notesSlide" Target="../notesSlides/notesSlide89.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3.jpg"/><Relationship Id="rId3" Type="http://schemas.openxmlformats.org/officeDocument/2006/relationships/hyperlink" Target="https://go.bio.org/rs/490-EHZ-999/images/ClinicalDevelopmentSuccessRates2011_2020.pdf" TargetMode="External"/><Relationship Id="rId4" Type="http://schemas.openxmlformats.org/officeDocument/2006/relationships/notesSlide" Target="../notesSlides/notesSlide90.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200/JCO.2026.44.16_suppl.11072" TargetMode="External"/><Relationship Id="rId3" Type="http://schemas.openxmlformats.org/officeDocument/2006/relationships/hyperlink" Target="https://doi.org/10.1016/j.drudis.2024.104009" TargetMode="External"/><Relationship Id="rId4" Type="http://schemas.openxmlformats.org/officeDocument/2006/relationships/hyperlink" Target="https://go.bio.org/rs/490-EHZ-999/images/ClinicalDevelopmentSuccessRates2011_2020.pdf" TargetMode="External"/><Relationship Id="rId5" Type="http://schemas.openxmlformats.org/officeDocument/2006/relationships/notesSlide" Target="../notesSlides/notesSlide91.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2.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3.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4.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5.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6.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2967/jnumed.126.272292" TargetMode="External"/><Relationship Id="rId3" Type="http://schemas.openxmlformats.org/officeDocument/2006/relationships/notesSlide" Target="../notesSlides/notesSlide97.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8.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001/jamahealthforum.2025.3172" TargetMode="External"/><Relationship Id="rId3" Type="http://schemas.openxmlformats.org/officeDocument/2006/relationships/hyperlink" Target="https://doi.org/10.1001/jamanetworkopen.2025.42338" TargetMode="External"/><Relationship Id="rId4" Type="http://schemas.openxmlformats.org/officeDocument/2006/relationships/hyperlink" Target="https://eur-lex.europa.eu/eli/reg/2024/1689/oj" TargetMode="External"/><Relationship Id="rId5" Type="http://schemas.openxmlformats.org/officeDocument/2006/relationships/notesSlide" Target="../notesSlides/notesSlide99.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4.png"/><Relationship Id="rId3" Type="http://schemas.openxmlformats.org/officeDocument/2006/relationships/hyperlink" Target="https://doi.org/10.1001/jamahealthforum.2025.3172" TargetMode="External"/><Relationship Id="rId4" Type="http://schemas.openxmlformats.org/officeDocument/2006/relationships/notesSlide" Target="../notesSlides/notesSlide100.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5.jpg"/><Relationship Id="rId3" Type="http://schemas.openxmlformats.org/officeDocument/2006/relationships/notesSlide" Target="../notesSlides/notesSlide101.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Rounded Rectangle 2"/>
          <p:cNvSpPr/>
          <p:nvPr/>
        </p:nvSpPr>
        <p:spPr>
          <a:xfrm>
            <a:off x="4474159" y="91440"/>
            <a:ext cx="7214616" cy="4840224"/>
          </a:xfrm>
          <a:prstGeom prst="roundRect">
            <a:avLst>
              <a:gd name="adj" fmla="val 6297"/>
            </a:avLst>
          </a:prstGeom>
          <a:solidFill>
            <a:srgbClr val="F4F7FA"/>
          </a:solidFill>
          <a:ln w="19050">
            <a:solidFill>
              <a:srgbClr val="1C7293"/>
            </a:solidFill>
          </a:ln>
          <a:effectLst/>
        </p:spPr>
        <p:txBody>
          <a:bodyPr rtlCol="0" anchor="ctr"/>
          <a:lstStyle/>
          <a:p>
            <a:pPr algn="ctr"/>
          </a:p>
        </p:txBody>
      </p:sp>
      <p:pic>
        <p:nvPicPr>
          <p:cNvPr id="4" name="Picture 3" descr="s01-hero-chtenie-mammogrammy.jpg"/>
          <p:cNvPicPr>
            <a:picLocks noChangeAspect="1"/>
          </p:cNvPicPr>
          <p:nvPr/>
        </p:nvPicPr>
        <p:blipFill>
          <a:blip r:embed="rId2"/>
          <a:stretch>
            <a:fillRect/>
          </a:stretch>
        </p:blipFill>
        <p:spPr>
          <a:xfrm>
            <a:off x="4519879" y="137160"/>
            <a:ext cx="7123176" cy="4748784"/>
          </a:xfrm>
          <a:prstGeom prst="rect">
            <a:avLst/>
          </a:prstGeom>
        </p:spPr>
      </p:pic>
      <p:sp>
        <p:nvSpPr>
          <p:cNvPr id="5" name="TextBox 4"/>
          <p:cNvSpPr txBox="1"/>
          <p:nvPr/>
        </p:nvSpPr>
        <p:spPr>
          <a:xfrm>
            <a:off x="502920" y="1005840"/>
            <a:ext cx="3660343" cy="5230368"/>
          </a:xfrm>
          <a:prstGeom prst="rect">
            <a:avLst/>
          </a:prstGeom>
          <a:noFill/>
        </p:spPr>
        <p:txBody>
          <a:bodyPr wrap="square" lIns="0" rIns="0" tIns="0" bIns="0" anchor="t">
            <a:spAutoFit/>
          </a:bodyPr>
          <a:lstStyle/>
          <a:p>
            <a:pPr algn="l">
              <a:lnSpc>
                <a:spcPct val="122000"/>
              </a:lnSpc>
            </a:pPr>
            <a:r>
              <a:rPr sz="3400" b="0" i="0">
                <a:solidFill>
                  <a:srgbClr val="21295C"/>
                </a:solidFill>
                <a:latin typeface="Arial"/>
              </a:rPr>
              <a:t>Решение о человеке: кто смотрит, кто подписывает, кто платит</a:t>
            </a:r>
          </a:p>
          <a:p>
            <a:pPr algn="l">
              <a:lnSpc>
                <a:spcPct val="122000"/>
              </a:lnSpc>
              <a:spcBef>
                <a:spcPts val="1200"/>
              </a:spcBef>
            </a:pPr>
            <a:r>
              <a:rPr sz="3400" b="0" i="0">
                <a:solidFill>
                  <a:srgbClr val="21295C"/>
                </a:solidFill>
                <a:latin typeface="Arial"/>
              </a:rPr>
              <a:t>Лекция 7</a:t>
            </a:r>
          </a:p>
          <a:p>
            <a:pPr algn="l">
              <a:lnSpc>
                <a:spcPct val="122000"/>
              </a:lnSpc>
              <a:spcBef>
                <a:spcPts val="1200"/>
              </a:spcBef>
            </a:pPr>
            <a:r>
              <a:rPr sz="1700" b="0" i="0">
                <a:solidFill>
                  <a:srgbClr val="21295C"/>
                </a:solidFill>
                <a:latin typeface="Arial"/>
              </a:rPr>
              <a:t>Сегодня чей-то снимок прочтут раньше, чем на него посмотрит человек.</a:t>
            </a:r>
          </a:p>
        </p:txBody>
      </p:sp>
      <p:sp>
        <p:nvSpPr>
          <p:cNvPr id="6" name="Rectangle 5"/>
          <p:cNvSpPr/>
          <p:nvPr/>
        </p:nvSpPr>
        <p:spPr>
          <a:xfrm>
            <a:off x="502920" y="621792"/>
            <a:ext cx="1463040" cy="64008"/>
          </a:xfrm>
          <a:prstGeom prst="rect">
            <a:avLst/>
          </a:prstGeom>
          <a:solidFill>
            <a:srgbClr val="F0AB00"/>
          </a:solidFill>
          <a:ln>
            <a:noFill/>
          </a:ln>
          <a:effectLst/>
        </p:spPr>
        <p:txBody>
          <a:bodyPr rtlCol="0" anchor="ctr"/>
          <a:lstStyle/>
          <a:p>
            <a:pPr algn="ct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Цикл оказания помощи: девять стадий и решение каждой</a:t>
            </a:r>
          </a:p>
        </p:txBody>
      </p:sp>
      <p:sp>
        <p:nvSpPr>
          <p:cNvPr id="4" name="TextBox 3"/>
          <p:cNvSpPr txBox="1"/>
          <p:nvPr/>
        </p:nvSpPr>
        <p:spPr>
          <a:xfrm>
            <a:off x="502920" y="1371600"/>
            <a:ext cx="1307592" cy="877538"/>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Пока решают</a:t>
            </a:r>
          </a:p>
        </p:txBody>
      </p:sp>
      <p:sp>
        <p:nvSpPr>
          <p:cNvPr id="5" name="Rounded Rectangle 4"/>
          <p:cNvSpPr/>
          <p:nvPr/>
        </p:nvSpPr>
        <p:spPr>
          <a:xfrm>
            <a:off x="1920240" y="1335024"/>
            <a:ext cx="3073298" cy="950690"/>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6" name="TextBox 5"/>
          <p:cNvSpPr txBox="1"/>
          <p:nvPr/>
        </p:nvSpPr>
        <p:spPr>
          <a:xfrm>
            <a:off x="2002536" y="1380744"/>
            <a:ext cx="2908706" cy="859250"/>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Первичный скрининг и отбор на обследование</a:t>
            </a:r>
          </a:p>
          <a:p>
            <a:pPr algn="ctr">
              <a:lnSpc>
                <a:spcPct val="112000"/>
              </a:lnSpc>
            </a:pPr>
            <a:r>
              <a:rPr sz="1350" b="0" i="0">
                <a:solidFill>
                  <a:srgbClr val="21295C"/>
                </a:solidFill>
                <a:latin typeface="Arial"/>
              </a:rPr>
              <a:t>звать ли смотреть</a:t>
            </a:r>
          </a:p>
        </p:txBody>
      </p:sp>
      <p:sp>
        <p:nvSpPr>
          <p:cNvPr id="7" name="Right Arrow 6"/>
          <p:cNvSpPr/>
          <p:nvPr/>
        </p:nvSpPr>
        <p:spPr>
          <a:xfrm>
            <a:off x="5039258" y="1741789"/>
            <a:ext cx="182880" cy="137160"/>
          </a:xfrm>
          <a:prstGeom prst="rightArrow">
            <a:avLst/>
          </a:prstGeom>
          <a:solidFill>
            <a:srgbClr val="1C7293"/>
          </a:solidFill>
          <a:ln>
            <a:noFill/>
          </a:ln>
          <a:effectLst/>
        </p:spPr>
        <p:txBody>
          <a:bodyPr rtlCol="0" anchor="ctr"/>
          <a:lstStyle/>
          <a:p>
            <a:pPr algn="ctr"/>
          </a:p>
        </p:txBody>
      </p:sp>
      <p:sp>
        <p:nvSpPr>
          <p:cNvPr id="8" name="Rounded Rectangle 7"/>
          <p:cNvSpPr/>
          <p:nvPr/>
        </p:nvSpPr>
        <p:spPr>
          <a:xfrm>
            <a:off x="5267858" y="1335024"/>
            <a:ext cx="3073298" cy="950690"/>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9" name="TextBox 8"/>
          <p:cNvSpPr txBox="1"/>
          <p:nvPr/>
        </p:nvSpPr>
        <p:spPr>
          <a:xfrm>
            <a:off x="5350154" y="1380744"/>
            <a:ext cx="2908706" cy="859250"/>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Инструментальная и лабораторная диагностика</a:t>
            </a:r>
          </a:p>
          <a:p>
            <a:pPr algn="ctr">
              <a:lnSpc>
                <a:spcPct val="112000"/>
              </a:lnSpc>
            </a:pPr>
            <a:r>
              <a:rPr sz="1350" b="0" i="0">
                <a:solidFill>
                  <a:srgbClr val="21295C"/>
                </a:solidFill>
                <a:latin typeface="Arial"/>
              </a:rPr>
              <a:t>что измерено</a:t>
            </a:r>
          </a:p>
        </p:txBody>
      </p:sp>
      <p:sp>
        <p:nvSpPr>
          <p:cNvPr id="10" name="Right Arrow 9"/>
          <p:cNvSpPr/>
          <p:nvPr/>
        </p:nvSpPr>
        <p:spPr>
          <a:xfrm>
            <a:off x="8386876" y="1741789"/>
            <a:ext cx="182880" cy="137160"/>
          </a:xfrm>
          <a:prstGeom prst="rightArrow">
            <a:avLst/>
          </a:prstGeom>
          <a:solidFill>
            <a:srgbClr val="1C7293"/>
          </a:solidFill>
          <a:ln>
            <a:noFill/>
          </a:ln>
          <a:effectLst/>
        </p:spPr>
        <p:txBody>
          <a:bodyPr rtlCol="0" anchor="ctr"/>
          <a:lstStyle/>
          <a:p>
            <a:pPr algn="ctr"/>
          </a:p>
        </p:txBody>
      </p:sp>
      <p:sp>
        <p:nvSpPr>
          <p:cNvPr id="11" name="Rounded Rectangle 10"/>
          <p:cNvSpPr/>
          <p:nvPr/>
        </p:nvSpPr>
        <p:spPr>
          <a:xfrm>
            <a:off x="8615476" y="1335024"/>
            <a:ext cx="3073298" cy="950690"/>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2" name="TextBox 11"/>
          <p:cNvSpPr txBox="1"/>
          <p:nvPr/>
        </p:nvSpPr>
        <p:spPr>
          <a:xfrm>
            <a:off x="8697772" y="1380744"/>
            <a:ext cx="2908706" cy="859250"/>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Постановка диагноза</a:t>
            </a:r>
          </a:p>
          <a:p>
            <a:pPr algn="ctr">
              <a:lnSpc>
                <a:spcPct val="112000"/>
              </a:lnSpc>
            </a:pPr>
            <a:r>
              <a:rPr sz="1350" b="0" i="0">
                <a:solidFill>
                  <a:srgbClr val="21295C"/>
                </a:solidFill>
                <a:latin typeface="Arial"/>
              </a:rPr>
              <a:t>чем объясняется найденное</a:t>
            </a:r>
          </a:p>
        </p:txBody>
      </p:sp>
      <p:sp>
        <p:nvSpPr>
          <p:cNvPr id="13" name="TextBox 12"/>
          <p:cNvSpPr txBox="1"/>
          <p:nvPr/>
        </p:nvSpPr>
        <p:spPr>
          <a:xfrm>
            <a:off x="502920" y="2468594"/>
            <a:ext cx="1307592" cy="877538"/>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Решили и лечат</a:t>
            </a:r>
          </a:p>
        </p:txBody>
      </p:sp>
      <p:sp>
        <p:nvSpPr>
          <p:cNvPr id="14" name="Rounded Rectangle 13"/>
          <p:cNvSpPr/>
          <p:nvPr/>
        </p:nvSpPr>
        <p:spPr>
          <a:xfrm>
            <a:off x="1920240" y="2432018"/>
            <a:ext cx="4811115" cy="950690"/>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5" name="TextBox 14"/>
          <p:cNvSpPr txBox="1"/>
          <p:nvPr/>
        </p:nvSpPr>
        <p:spPr>
          <a:xfrm>
            <a:off x="2002536" y="2477738"/>
            <a:ext cx="4646523" cy="859250"/>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Назначение терапии и подбор дозы</a:t>
            </a:r>
          </a:p>
          <a:p>
            <a:pPr algn="ctr">
              <a:lnSpc>
                <a:spcPct val="112000"/>
              </a:lnSpc>
            </a:pPr>
            <a:r>
              <a:rPr sz="1350" b="0" i="0">
                <a:solidFill>
                  <a:srgbClr val="21295C"/>
                </a:solidFill>
                <a:latin typeface="Arial"/>
              </a:rPr>
              <a:t>чем лечить и сколько</a:t>
            </a:r>
          </a:p>
        </p:txBody>
      </p:sp>
      <p:sp>
        <p:nvSpPr>
          <p:cNvPr id="16" name="Rounded Rectangle 15"/>
          <p:cNvSpPr/>
          <p:nvPr/>
        </p:nvSpPr>
        <p:spPr>
          <a:xfrm>
            <a:off x="6877659" y="2432018"/>
            <a:ext cx="4811115" cy="950690"/>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7" name="TextBox 16"/>
          <p:cNvSpPr txBox="1"/>
          <p:nvPr/>
        </p:nvSpPr>
        <p:spPr>
          <a:xfrm>
            <a:off x="6959955" y="2477738"/>
            <a:ext cx="4646523" cy="859250"/>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Хирургическое вмешательство и интраоперационный мониторинг</a:t>
            </a:r>
          </a:p>
          <a:p>
            <a:pPr algn="ctr">
              <a:lnSpc>
                <a:spcPct val="112000"/>
              </a:lnSpc>
            </a:pPr>
            <a:r>
              <a:rPr sz="1350" b="0" i="0">
                <a:solidFill>
                  <a:srgbClr val="21295C"/>
                </a:solidFill>
                <a:latin typeface="Arial"/>
              </a:rPr>
              <a:t>оперировать ли и как</a:t>
            </a:r>
          </a:p>
        </p:txBody>
      </p:sp>
      <p:sp>
        <p:nvSpPr>
          <p:cNvPr id="18" name="TextBox 17"/>
          <p:cNvSpPr txBox="1"/>
          <p:nvPr/>
        </p:nvSpPr>
        <p:spPr>
          <a:xfrm>
            <a:off x="502920" y="3565589"/>
            <a:ext cx="1307592" cy="877538"/>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После решения</a:t>
            </a:r>
          </a:p>
        </p:txBody>
      </p:sp>
      <p:sp>
        <p:nvSpPr>
          <p:cNvPr id="19" name="Rounded Rectangle 18"/>
          <p:cNvSpPr/>
          <p:nvPr/>
        </p:nvSpPr>
        <p:spPr>
          <a:xfrm>
            <a:off x="1920240" y="3529013"/>
            <a:ext cx="4747107" cy="950690"/>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0" name="TextBox 19"/>
          <p:cNvSpPr txBox="1"/>
          <p:nvPr/>
        </p:nvSpPr>
        <p:spPr>
          <a:xfrm>
            <a:off x="2002536" y="3574733"/>
            <a:ext cx="4582515" cy="859250"/>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Динамическое наблюдение и клинические тревоги</a:t>
            </a:r>
          </a:p>
          <a:p>
            <a:pPr algn="ctr">
              <a:lnSpc>
                <a:spcPct val="112000"/>
              </a:lnSpc>
            </a:pPr>
            <a:r>
              <a:rPr sz="1350" b="0" i="0">
                <a:solidFill>
                  <a:srgbClr val="21295C"/>
                </a:solidFill>
                <a:latin typeface="Arial"/>
              </a:rPr>
              <a:t>сейчас или на обходе</a:t>
            </a:r>
          </a:p>
        </p:txBody>
      </p:sp>
      <p:sp>
        <p:nvSpPr>
          <p:cNvPr id="21" name="Right Arrow 20"/>
          <p:cNvSpPr/>
          <p:nvPr/>
        </p:nvSpPr>
        <p:spPr>
          <a:xfrm>
            <a:off x="6713067" y="3935778"/>
            <a:ext cx="182880" cy="137160"/>
          </a:xfrm>
          <a:prstGeom prst="rightArrow">
            <a:avLst/>
          </a:prstGeom>
          <a:solidFill>
            <a:srgbClr val="1C7293"/>
          </a:solidFill>
          <a:ln>
            <a:noFill/>
          </a:ln>
          <a:effectLst/>
        </p:spPr>
        <p:txBody>
          <a:bodyPr rtlCol="0" anchor="ctr"/>
          <a:lstStyle/>
          <a:p>
            <a:pPr algn="ctr"/>
          </a:p>
        </p:txBody>
      </p:sp>
      <p:sp>
        <p:nvSpPr>
          <p:cNvPr id="22" name="Rounded Rectangle 21"/>
          <p:cNvSpPr/>
          <p:nvPr/>
        </p:nvSpPr>
        <p:spPr>
          <a:xfrm>
            <a:off x="6941667" y="3529013"/>
            <a:ext cx="4747107" cy="950690"/>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3" name="TextBox 22"/>
          <p:cNvSpPr txBox="1"/>
          <p:nvPr/>
        </p:nvSpPr>
        <p:spPr>
          <a:xfrm>
            <a:off x="7023963" y="3574733"/>
            <a:ext cx="4582515" cy="859250"/>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Ведение медицинской документации</a:t>
            </a:r>
          </a:p>
          <a:p>
            <a:pPr algn="ctr">
              <a:lnSpc>
                <a:spcPct val="112000"/>
              </a:lnSpc>
            </a:pPr>
            <a:r>
              <a:rPr sz="1350" b="0" i="0">
                <a:solidFill>
                  <a:srgbClr val="21295C"/>
                </a:solidFill>
                <a:latin typeface="Arial"/>
              </a:rPr>
              <a:t>что узнает следующий</a:t>
            </a:r>
          </a:p>
        </p:txBody>
      </p:sp>
      <p:sp>
        <p:nvSpPr>
          <p:cNvPr id="24" name="Rounded Rectangle 23"/>
          <p:cNvSpPr/>
          <p:nvPr/>
        </p:nvSpPr>
        <p:spPr>
          <a:xfrm>
            <a:off x="374904" y="4571144"/>
            <a:ext cx="11441887" cy="1665063"/>
          </a:xfrm>
          <a:prstGeom prst="roundRect">
            <a:avLst>
              <a:gd name="adj" fmla="val 18305"/>
            </a:avLst>
          </a:prstGeom>
          <a:solidFill>
            <a:srgbClr val="F4F7FA"/>
          </a:solidFill>
          <a:ln w="19050">
            <a:solidFill>
              <a:srgbClr val="1C7293"/>
            </a:solidFill>
          </a:ln>
          <a:effectLst/>
        </p:spPr>
        <p:txBody>
          <a:bodyPr rtlCol="0" anchor="ctr"/>
          <a:lstStyle/>
          <a:p>
            <a:pPr algn="ctr"/>
          </a:p>
        </p:txBody>
      </p:sp>
      <p:sp>
        <p:nvSpPr>
          <p:cNvPr id="25" name="TextBox 24"/>
          <p:cNvSpPr txBox="1"/>
          <p:nvPr/>
        </p:nvSpPr>
        <p:spPr>
          <a:xfrm>
            <a:off x="539496" y="4662584"/>
            <a:ext cx="5373471" cy="1573623"/>
          </a:xfrm>
          <a:prstGeom prst="rect">
            <a:avLst/>
          </a:prstGeom>
          <a:noFill/>
        </p:spPr>
        <p:txBody>
          <a:bodyPr wrap="square" lIns="0" rIns="0" tIns="0" bIns="0" anchor="t">
            <a:spAutoFit/>
          </a:bodyPr>
          <a:lstStyle/>
          <a:p>
            <a:pPr algn="l">
              <a:lnSpc>
                <a:spcPct val="126000"/>
              </a:lnSpc>
            </a:pPr>
            <a:r>
              <a:rPr sz="1450" b="1" i="0">
                <a:solidFill>
                  <a:srgbClr val="21295C"/>
                </a:solidFill>
                <a:latin typeface="Arial"/>
              </a:rPr>
              <a:t>Поперёк цикла — ещё две:</a:t>
            </a:r>
            <a:r>
              <a:rPr sz="1450" b="0" i="0">
                <a:solidFill>
                  <a:srgbClr val="21295C"/>
                </a:solidFill>
                <a:latin typeface="Arial"/>
              </a:rPr>
              <a:t> допуск, надзор и ответственность — кто отвечает; профессиональная квалификация — держится ли человек в форме. </a:t>
            </a:r>
            <a:r>
              <a:rPr sz="1450" b="1" i="0">
                <a:solidFill>
                  <a:srgbClr val="21295C"/>
                </a:solidFill>
                <a:latin typeface="Arial"/>
              </a:rPr>
              <a:t>Выше по течению:</a:t>
            </a:r>
            <a:r>
              <a:rPr sz="1450" b="0" i="0">
                <a:solidFill>
                  <a:srgbClr val="21295C"/>
                </a:solidFill>
                <a:latin typeface="Arial"/>
              </a:rPr>
              <a:t> разработка лекарств.</a:t>
            </a:r>
          </a:p>
          <a:p>
            <a:pPr algn="l">
              <a:lnSpc>
                <a:spcPct val="126000"/>
              </a:lnSpc>
              <a:spcBef>
                <a:spcPts val="700"/>
              </a:spcBef>
            </a:pPr>
            <a:r>
              <a:rPr sz="1450" b="0" i="0">
                <a:solidFill>
                  <a:srgbClr val="21295C"/>
                </a:solidFill>
                <a:latin typeface="Arial"/>
              </a:rPr>
              <a:t/>
            </a:r>
            <a:r>
              <a:rPr sz="1450" b="0" i="0">
                <a:solidFill>
                  <a:srgbClr val="21295C"/>
                </a:solidFill>
                <a:latin typeface="Arial"/>
              </a:rPr>
              <a:t>• </a:t>
            </a:r>
            <a:r>
              <a:rPr sz="1450" b="1" i="0">
                <a:solidFill>
                  <a:srgbClr val="21295C"/>
                </a:solidFill>
                <a:latin typeface="Arial"/>
              </a:rPr>
              <a:t>Контингент.</a:t>
            </a:r>
            <a:r>
              <a:rPr sz="1450" b="0" i="0">
                <a:solidFill>
                  <a:srgbClr val="21295C"/>
                </a:solidFill>
                <a:latin typeface="Arial"/>
              </a:rPr>
              <a:t> Смотреть можно только позванного.</a:t>
            </a:r>
          </a:p>
        </p:txBody>
      </p:sp>
      <p:sp>
        <p:nvSpPr>
          <p:cNvPr id="26" name="TextBox 25"/>
          <p:cNvSpPr txBox="1"/>
          <p:nvPr/>
        </p:nvSpPr>
        <p:spPr>
          <a:xfrm>
            <a:off x="6278727" y="4662584"/>
            <a:ext cx="5373471" cy="1573623"/>
          </a:xfrm>
          <a:prstGeom prst="rect">
            <a:avLst/>
          </a:prstGeom>
          <a:noFill/>
        </p:spPr>
        <p:txBody>
          <a:bodyPr wrap="square" lIns="0" rIns="0" tIns="0" bIns="0" anchor="t">
            <a:spAutoFit/>
          </a:bodyPr>
          <a:lstStyle/>
          <a:p>
            <a:pPr algn="l">
              <a:lnSpc>
                <a:spcPct val="126000"/>
              </a:lnSpc>
            </a:pPr>
            <a:r>
              <a:rPr sz="1450" b="0" i="0">
                <a:solidFill>
                  <a:srgbClr val="21295C"/>
                </a:solidFill>
                <a:latin typeface="Arial"/>
              </a:rPr>
              <a:t>• </a:t>
            </a:r>
            <a:r>
              <a:rPr sz="1450" b="1" i="0">
                <a:solidFill>
                  <a:srgbClr val="21295C"/>
                </a:solidFill>
                <a:latin typeface="Arial"/>
              </a:rPr>
              <a:t>Знаменатель.</a:t>
            </a:r>
            <a:r>
              <a:rPr sz="1450" b="0" i="0">
                <a:solidFill>
                  <a:srgbClr val="21295C"/>
                </a:solidFill>
                <a:latin typeface="Arial"/>
              </a:rPr>
              <a:t> Доли считаются в группе, которую собрал отбор.</a:t>
            </a:r>
          </a:p>
          <a:p>
            <a:pPr algn="l">
              <a:lnSpc>
                <a:spcPct val="126000"/>
              </a:lnSpc>
              <a:spcBef>
                <a:spcPts val="700"/>
              </a:spcBef>
            </a:pPr>
            <a:r>
              <a:rPr sz="1450" b="0" i="0">
                <a:solidFill>
                  <a:srgbClr val="21295C"/>
                </a:solidFill>
                <a:latin typeface="Arial"/>
              </a:rPr>
              <a:t/>
            </a:r>
            <a:r>
              <a:rPr sz="1450" b="0" i="0">
                <a:solidFill>
                  <a:srgbClr val="21295C"/>
                </a:solidFill>
                <a:latin typeface="Arial"/>
              </a:rPr>
              <a:t>• </a:t>
            </a:r>
            <a:r>
              <a:rPr sz="1450" b="1" i="0">
                <a:solidFill>
                  <a:srgbClr val="21295C"/>
                </a:solidFill>
                <a:latin typeface="Arial"/>
              </a:rPr>
              <a:t>Рабочая точка.</a:t>
            </a:r>
            <a:r>
              <a:rPr sz="1450" b="0" i="0">
                <a:solidFill>
                  <a:srgbClr val="21295C"/>
                </a:solidFill>
                <a:latin typeface="Arial"/>
              </a:rPr>
              <a:t> Порог «болен» назначает протокол под цену исхода.</a:t>
            </a:r>
          </a:p>
        </p:txBody>
      </p:sp>
      <p:sp>
        <p:nvSpPr>
          <p:cNvPr id="27" name="Rectangle 26"/>
          <p:cNvSpPr/>
          <p:nvPr/>
        </p:nvSpPr>
        <p:spPr>
          <a:xfrm>
            <a:off x="6091275" y="4662584"/>
            <a:ext cx="9144" cy="1524695"/>
          </a:xfrm>
          <a:prstGeom prst="rect">
            <a:avLst/>
          </a:prstGeom>
          <a:solidFill>
            <a:srgbClr val="D9E2EC"/>
          </a:solidFill>
          <a:ln>
            <a:noFill/>
          </a:ln>
          <a:effectLst/>
        </p:spPr>
        <p:txBody>
          <a:bodyPr rtlCol="0" anchor="ctr"/>
          <a:lstStyle/>
          <a:p>
            <a:pPr algn="ctr"/>
          </a:p>
        </p:txBody>
      </p:sp>
      <p:sp>
        <p:nvSpPr>
          <p:cNvPr id="28" name="Rectangle 27"/>
          <p:cNvSpPr/>
          <p:nvPr/>
        </p:nvSpPr>
        <p:spPr>
          <a:xfrm>
            <a:off x="502920" y="888090"/>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Как получают данные и как решают без модели</a:t>
            </a:r>
          </a:p>
        </p:txBody>
      </p:sp>
      <p:sp>
        <p:nvSpPr>
          <p:cNvPr id="4" name="TextBox 3"/>
          <p:cNvSpPr txBox="1"/>
          <p:nvPr/>
        </p:nvSpPr>
        <p:spPr>
          <a:xfrm>
            <a:off x="502920" y="1371600"/>
            <a:ext cx="1307592" cy="639889"/>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Четыре</a:t>
            </a:r>
          </a:p>
        </p:txBody>
      </p:sp>
      <p:sp>
        <p:nvSpPr>
          <p:cNvPr id="5" name="Rounded Rectangle 4"/>
          <p:cNvSpPr/>
          <p:nvPr/>
        </p:nvSpPr>
        <p:spPr>
          <a:xfrm>
            <a:off x="1920240" y="1335024"/>
            <a:ext cx="2332405"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6" name="TextBox 5"/>
          <p:cNvSpPr txBox="1"/>
          <p:nvPr/>
        </p:nvSpPr>
        <p:spPr>
          <a:xfrm>
            <a:off x="2002536" y="1380744"/>
            <a:ext cx="2167813"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Приём у врача</a:t>
            </a:r>
          </a:p>
        </p:txBody>
      </p:sp>
      <p:sp>
        <p:nvSpPr>
          <p:cNvPr id="7" name="Rounded Rectangle 6"/>
          <p:cNvSpPr/>
          <p:nvPr/>
        </p:nvSpPr>
        <p:spPr>
          <a:xfrm>
            <a:off x="4398949" y="1335024"/>
            <a:ext cx="2332405"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8" name="TextBox 7"/>
          <p:cNvSpPr txBox="1"/>
          <p:nvPr/>
        </p:nvSpPr>
        <p:spPr>
          <a:xfrm>
            <a:off x="4481245" y="1380744"/>
            <a:ext cx="2167813"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Инструментальное исследование</a:t>
            </a:r>
          </a:p>
        </p:txBody>
      </p:sp>
      <p:sp>
        <p:nvSpPr>
          <p:cNvPr id="9" name="Rounded Rectangle 8"/>
          <p:cNvSpPr/>
          <p:nvPr/>
        </p:nvSpPr>
        <p:spPr>
          <a:xfrm>
            <a:off x="6877659" y="1335024"/>
            <a:ext cx="2332405"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0" name="TextBox 9"/>
          <p:cNvSpPr txBox="1"/>
          <p:nvPr/>
        </p:nvSpPr>
        <p:spPr>
          <a:xfrm>
            <a:off x="6959955" y="1380744"/>
            <a:ext cx="2167813"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Лабораторный анализ</a:t>
            </a:r>
          </a:p>
        </p:txBody>
      </p:sp>
      <p:sp>
        <p:nvSpPr>
          <p:cNvPr id="11" name="Rounded Rectangle 10"/>
          <p:cNvSpPr/>
          <p:nvPr/>
        </p:nvSpPr>
        <p:spPr>
          <a:xfrm>
            <a:off x="9356369" y="1335024"/>
            <a:ext cx="2332405"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2" name="TextBox 11"/>
          <p:cNvSpPr txBox="1"/>
          <p:nvPr/>
        </p:nvSpPr>
        <p:spPr>
          <a:xfrm>
            <a:off x="9438665" y="1380744"/>
            <a:ext cx="2167813"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Удалённое чтение</a:t>
            </a:r>
          </a:p>
        </p:txBody>
      </p:sp>
      <p:sp>
        <p:nvSpPr>
          <p:cNvPr id="13" name="TextBox 12"/>
          <p:cNvSpPr txBox="1"/>
          <p:nvPr/>
        </p:nvSpPr>
        <p:spPr>
          <a:xfrm>
            <a:off x="502920" y="2230945"/>
            <a:ext cx="1307592" cy="639889"/>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И ещё три</a:t>
            </a:r>
          </a:p>
        </p:txBody>
      </p:sp>
      <p:sp>
        <p:nvSpPr>
          <p:cNvPr id="14" name="Rounded Rectangle 13"/>
          <p:cNvSpPr/>
          <p:nvPr/>
        </p:nvSpPr>
        <p:spPr>
          <a:xfrm>
            <a:off x="1920240" y="2194369"/>
            <a:ext cx="3158642"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5" name="TextBox 14"/>
          <p:cNvSpPr txBox="1"/>
          <p:nvPr/>
        </p:nvSpPr>
        <p:spPr>
          <a:xfrm>
            <a:off x="2002536" y="2240089"/>
            <a:ext cx="2994050"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Разбор карты</a:t>
            </a:r>
          </a:p>
        </p:txBody>
      </p:sp>
      <p:sp>
        <p:nvSpPr>
          <p:cNvPr id="16" name="Rounded Rectangle 15"/>
          <p:cNvSpPr/>
          <p:nvPr/>
        </p:nvSpPr>
        <p:spPr>
          <a:xfrm>
            <a:off x="5225186" y="2194369"/>
            <a:ext cx="3158642"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7" name="TextBox 16"/>
          <p:cNvSpPr txBox="1"/>
          <p:nvPr/>
        </p:nvSpPr>
        <p:spPr>
          <a:xfrm>
            <a:off x="5307482" y="2240089"/>
            <a:ext cx="2994050"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Приглашение по регистру</a:t>
            </a:r>
          </a:p>
        </p:txBody>
      </p:sp>
      <p:sp>
        <p:nvSpPr>
          <p:cNvPr id="18" name="Rounded Rectangle 17"/>
          <p:cNvSpPr/>
          <p:nvPr/>
        </p:nvSpPr>
        <p:spPr>
          <a:xfrm>
            <a:off x="8530132" y="2194369"/>
            <a:ext cx="3158642"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9" name="TextBox 18"/>
          <p:cNvSpPr txBox="1"/>
          <p:nvPr/>
        </p:nvSpPr>
        <p:spPr>
          <a:xfrm>
            <a:off x="8612428" y="2240089"/>
            <a:ext cx="2994050"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Измеряет сам пациент</a:t>
            </a:r>
          </a:p>
        </p:txBody>
      </p:sp>
      <p:sp>
        <p:nvSpPr>
          <p:cNvPr id="20" name="TextBox 19"/>
          <p:cNvSpPr txBox="1"/>
          <p:nvPr/>
        </p:nvSpPr>
        <p:spPr>
          <a:xfrm>
            <a:off x="502920" y="2943987"/>
            <a:ext cx="11185855"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Семь способов получить данные о человеке</a:t>
            </a:r>
          </a:p>
        </p:txBody>
      </p:sp>
      <p:sp>
        <p:nvSpPr>
          <p:cNvPr id="21" name="Rounded Rectangle 20"/>
          <p:cNvSpPr/>
          <p:nvPr/>
        </p:nvSpPr>
        <p:spPr>
          <a:xfrm>
            <a:off x="374904" y="3246671"/>
            <a:ext cx="11441887" cy="2989536"/>
          </a:xfrm>
          <a:prstGeom prst="roundRect">
            <a:avLst>
              <a:gd name="adj" fmla="val 10195"/>
            </a:avLst>
          </a:prstGeom>
          <a:solidFill>
            <a:srgbClr val="F4F7FA"/>
          </a:solidFill>
          <a:ln w="19050">
            <a:solidFill>
              <a:srgbClr val="1C7293"/>
            </a:solidFill>
          </a:ln>
          <a:effectLst/>
        </p:spPr>
        <p:txBody>
          <a:bodyPr rtlCol="0" anchor="ctr"/>
          <a:lstStyle/>
          <a:p>
            <a:pPr algn="ctr"/>
          </a:p>
        </p:txBody>
      </p:sp>
      <p:sp>
        <p:nvSpPr>
          <p:cNvPr id="22" name="TextBox 21"/>
          <p:cNvSpPr txBox="1"/>
          <p:nvPr/>
        </p:nvSpPr>
        <p:spPr>
          <a:xfrm>
            <a:off x="539496" y="3338111"/>
            <a:ext cx="5373471" cy="2898096"/>
          </a:xfrm>
          <a:prstGeom prst="rect">
            <a:avLst/>
          </a:prstGeom>
          <a:noFill/>
        </p:spPr>
        <p:txBody>
          <a:bodyPr wrap="square" lIns="0" rIns="0" tIns="0" bIns="0" anchor="t">
            <a:spAutoFit/>
          </a:bodyPr>
          <a:lstStyle/>
          <a:p>
            <a:pPr algn="l">
              <a:lnSpc>
                <a:spcPct val="126000"/>
              </a:lnSpc>
            </a:pPr>
            <a:r>
              <a:rPr sz="1450" b="1" i="0">
                <a:solidFill>
                  <a:srgbClr val="21295C"/>
                </a:solidFill>
                <a:latin typeface="Arial"/>
              </a:rPr>
              <a:t>Как решают без модели — классические режимы по именам.</a:t>
            </a:r>
          </a:p>
          <a:p>
            <a:pPr algn="l">
              <a:lnSpc>
                <a:spcPct val="126000"/>
              </a:lnSpc>
              <a:spcBef>
                <a:spcPts val="700"/>
              </a:spcBef>
            </a:pPr>
            <a:r>
              <a:rPr sz="1450" b="0" i="0">
                <a:solidFill>
                  <a:srgbClr val="21295C"/>
                </a:solidFill>
                <a:latin typeface="Arial"/>
              </a:rPr>
              <a:t/>
            </a:r>
            <a:r>
              <a:rPr sz="1450" b="0" i="0">
                <a:solidFill>
                  <a:srgbClr val="21295C"/>
                </a:solidFill>
                <a:latin typeface="Arial"/>
              </a:rPr>
              <a:t>• </a:t>
            </a:r>
            <a:r>
              <a:rPr sz="1450" b="1" i="0">
                <a:solidFill>
                  <a:srgbClr val="21295C"/>
                </a:solidFill>
                <a:latin typeface="Arial"/>
              </a:rPr>
              <a:t>Отбор</a:t>
            </a:r>
            <a:r>
              <a:rPr sz="1450" b="0" i="0">
                <a:solidFill>
                  <a:srgbClr val="21295C"/>
                </a:solidFill>
                <a:latin typeface="Arial"/>
              </a:rPr>
              <a:t> — двойное чтение двумя независимыми, арбитраж третьим на расхождении.</a:t>
            </a:r>
          </a:p>
          <a:p>
            <a:pPr algn="l">
              <a:lnSpc>
                <a:spcPct val="126000"/>
              </a:lnSpc>
              <a:spcBef>
                <a:spcPts val="700"/>
              </a:spcBef>
            </a:pPr>
            <a:r>
              <a:rPr sz="1450" b="0" i="0">
                <a:solidFill>
                  <a:srgbClr val="21295C"/>
                </a:solidFill>
                <a:latin typeface="Arial"/>
              </a:rPr>
              <a:t/>
            </a:r>
            <a:r>
              <a:rPr sz="1450" b="0" i="0">
                <a:solidFill>
                  <a:srgbClr val="21295C"/>
                </a:solidFill>
                <a:latin typeface="Arial"/>
              </a:rPr>
              <a:t>• </a:t>
            </a:r>
            <a:r>
              <a:rPr sz="1450" b="1" i="0">
                <a:solidFill>
                  <a:srgbClr val="21295C"/>
                </a:solidFill>
                <a:latin typeface="Arial"/>
              </a:rPr>
              <a:t>Диагностика</a:t>
            </a:r>
            <a:r>
              <a:rPr sz="1450" b="0" i="0">
                <a:solidFill>
                  <a:srgbClr val="21295C"/>
                </a:solidFill>
                <a:latin typeface="Arial"/>
              </a:rPr>
              <a:t> — пара «чувствительность и специфичность» при рабочей точке протокола.</a:t>
            </a:r>
          </a:p>
        </p:txBody>
      </p:sp>
      <p:sp>
        <p:nvSpPr>
          <p:cNvPr id="23" name="TextBox 22"/>
          <p:cNvSpPr txBox="1"/>
          <p:nvPr/>
        </p:nvSpPr>
        <p:spPr>
          <a:xfrm>
            <a:off x="6278727" y="3338111"/>
            <a:ext cx="5373471" cy="2898096"/>
          </a:xfrm>
          <a:prstGeom prst="rect">
            <a:avLst/>
          </a:prstGeom>
          <a:noFill/>
        </p:spPr>
        <p:txBody>
          <a:bodyPr wrap="square" lIns="0" rIns="0" tIns="0" bIns="0" anchor="t">
            <a:spAutoFit/>
          </a:bodyPr>
          <a:lstStyle/>
          <a:p>
            <a:pPr algn="l">
              <a:lnSpc>
                <a:spcPct val="126000"/>
              </a:lnSpc>
            </a:pPr>
            <a:r>
              <a:rPr sz="1450" b="0" i="0">
                <a:solidFill>
                  <a:srgbClr val="21295C"/>
                </a:solidFill>
                <a:latin typeface="Arial"/>
              </a:rPr>
              <a:t>• </a:t>
            </a:r>
            <a:r>
              <a:rPr sz="1450" b="1" i="0">
                <a:solidFill>
                  <a:srgbClr val="21295C"/>
                </a:solidFill>
                <a:latin typeface="Arial"/>
              </a:rPr>
              <a:t>Диагноз</a:t>
            </a:r>
            <a:r>
              <a:rPr sz="1450" b="0" i="0">
                <a:solidFill>
                  <a:srgbClr val="21295C"/>
                </a:solidFill>
                <a:latin typeface="Arial"/>
              </a:rPr>
              <a:t> — дифференциальный диагноз: выписать объясняющее, назначить различающую проверку. Второе мнение, консилиум.</a:t>
            </a:r>
          </a:p>
          <a:p>
            <a:pPr algn="l">
              <a:lnSpc>
                <a:spcPct val="126000"/>
              </a:lnSpc>
              <a:spcBef>
                <a:spcPts val="700"/>
              </a:spcBef>
            </a:pPr>
            <a:r>
              <a:rPr sz="1450" b="0" i="0">
                <a:solidFill>
                  <a:srgbClr val="21295C"/>
                </a:solidFill>
                <a:latin typeface="Arial"/>
              </a:rPr>
              <a:t/>
            </a:r>
            <a:r>
              <a:rPr sz="1450" b="0" i="0">
                <a:solidFill>
                  <a:srgbClr val="21295C"/>
                </a:solidFill>
                <a:latin typeface="Arial"/>
              </a:rPr>
              <a:t>• </a:t>
            </a:r>
            <a:r>
              <a:rPr sz="1450" b="1" i="0">
                <a:solidFill>
                  <a:srgbClr val="21295C"/>
                </a:solidFill>
                <a:latin typeface="Arial"/>
              </a:rPr>
              <a:t>Наблюдение</a:t>
            </a:r>
            <a:r>
              <a:rPr sz="1450" b="0" i="0">
                <a:solidFill>
                  <a:srgbClr val="21295C"/>
                </a:solidFill>
                <a:latin typeface="Arial"/>
              </a:rPr>
              <a:t> — шкала раннего предупреждения: баллы, сумма, порог эскалации.</a:t>
            </a:r>
          </a:p>
          <a:p>
            <a:pPr algn="l">
              <a:lnSpc>
                <a:spcPct val="126000"/>
              </a:lnSpc>
              <a:spcBef>
                <a:spcPts val="700"/>
              </a:spcBef>
            </a:pPr>
            <a:r>
              <a:rPr sz="1450" b="0" i="0">
                <a:solidFill>
                  <a:srgbClr val="21295C"/>
                </a:solidFill>
                <a:latin typeface="Arial"/>
              </a:rPr>
              <a:t/>
            </a:r>
            <a:r>
              <a:rPr sz="1450" b="0" i="0">
                <a:solidFill>
                  <a:srgbClr val="21295C"/>
                </a:solidFill>
                <a:latin typeface="Arial"/>
              </a:rPr>
              <a:t>• </a:t>
            </a:r>
            <a:r>
              <a:rPr sz="1450" b="1" i="0">
                <a:solidFill>
                  <a:srgbClr val="21295C"/>
                </a:solidFill>
                <a:latin typeface="Arial"/>
              </a:rPr>
              <a:t>Документация</a:t>
            </a:r>
            <a:r>
              <a:rPr sz="1450" b="0" i="0">
                <a:solidFill>
                  <a:srgbClr val="21295C"/>
                </a:solidFill>
                <a:latin typeface="Arial"/>
              </a:rPr>
              <a:t> — структура записи, вычитка, подпись, выписной эпикриз.</a:t>
            </a:r>
          </a:p>
          <a:p>
            <a:pPr algn="l">
              <a:lnSpc>
                <a:spcPct val="126000"/>
              </a:lnSpc>
              <a:spcBef>
                <a:spcPts val="700"/>
              </a:spcBef>
            </a:pPr>
            <a:r>
              <a:rPr sz="1450" b="0" i="0">
                <a:solidFill>
                  <a:srgbClr val="21295C"/>
                </a:solidFill>
                <a:latin typeface="Arial"/>
              </a:rPr>
              <a:t/>
            </a:r>
            <a:r>
              <a:rPr sz="1450" b="0" i="0">
                <a:solidFill>
                  <a:srgbClr val="21295C"/>
                </a:solidFill>
                <a:latin typeface="Arial"/>
              </a:rPr>
              <a:t>• </a:t>
            </a:r>
            <a:r>
              <a:rPr sz="1450" b="1" i="0">
                <a:solidFill>
                  <a:srgbClr val="21295C"/>
                </a:solidFill>
                <a:latin typeface="Arial"/>
              </a:rPr>
              <a:t>Надзор</a:t>
            </a:r>
            <a:r>
              <a:rPr sz="1450" b="0" i="0">
                <a:solidFill>
                  <a:srgbClr val="21295C"/>
                </a:solidFill>
                <a:latin typeface="Arial"/>
              </a:rPr>
              <a:t> — разбор случая после исхода и изменение порядка работы.</a:t>
            </a:r>
          </a:p>
        </p:txBody>
      </p:sp>
      <p:sp>
        <p:nvSpPr>
          <p:cNvPr id="24" name="Rectangle 23"/>
          <p:cNvSpPr/>
          <p:nvPr/>
        </p:nvSpPr>
        <p:spPr>
          <a:xfrm>
            <a:off x="6091275" y="3338111"/>
            <a:ext cx="9144" cy="2851131"/>
          </a:xfrm>
          <a:prstGeom prst="rect">
            <a:avLst/>
          </a:prstGeom>
          <a:solidFill>
            <a:srgbClr val="D9E2EC"/>
          </a:solidFill>
          <a:ln>
            <a:noFill/>
          </a:ln>
          <a:effectLst/>
        </p:spPr>
        <p:txBody>
          <a:bodyPr rtlCol="0" anchor="ctr"/>
          <a:lstStyle/>
          <a:p>
            <a:pPr algn="ctr"/>
          </a:p>
        </p:txBody>
      </p:sp>
      <p:sp>
        <p:nvSpPr>
          <p:cNvPr id="25" name="Rectangle 24"/>
          <p:cNvSpPr/>
          <p:nvPr/>
        </p:nvSpPr>
        <p:spPr>
          <a:xfrm>
            <a:off x="502920" y="888090"/>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Где модель стоит и где её нет</a:t>
            </a:r>
          </a:p>
        </p:txBody>
      </p:sp>
      <p:sp>
        <p:nvSpPr>
          <p:cNvPr id="4" name="Rounded Rectangle 3"/>
          <p:cNvSpPr/>
          <p:nvPr/>
        </p:nvSpPr>
        <p:spPr>
          <a:xfrm>
            <a:off x="502920" y="1335024"/>
            <a:ext cx="5437479" cy="3108960"/>
          </a:xfrm>
          <a:prstGeom prst="roundRect">
            <a:avLst>
              <a:gd name="adj" fmla="val 9803"/>
            </a:avLst>
          </a:prstGeom>
          <a:solidFill>
            <a:srgbClr val="F4F7FA"/>
          </a:solidFill>
          <a:ln w="19050">
            <a:solidFill>
              <a:srgbClr val="1C7293"/>
            </a:solidFill>
          </a:ln>
          <a:effectLst/>
        </p:spPr>
        <p:txBody>
          <a:bodyPr rtlCol="0" anchor="ctr"/>
          <a:lstStyle/>
          <a:p>
            <a:pPr algn="ctr"/>
          </a:p>
        </p:txBody>
      </p:sp>
      <p:sp>
        <p:nvSpPr>
          <p:cNvPr id="5" name="TextBox 4"/>
          <p:cNvSpPr txBox="1"/>
          <p:nvPr/>
        </p:nvSpPr>
        <p:spPr>
          <a:xfrm>
            <a:off x="667512" y="1490472"/>
            <a:ext cx="5108295" cy="246450"/>
          </a:xfrm>
          <a:prstGeom prst="rect">
            <a:avLst/>
          </a:prstGeom>
          <a:noFill/>
        </p:spPr>
        <p:txBody>
          <a:bodyPr wrap="square" lIns="0" rIns="0" tIns="0" bIns="0" anchor="t">
            <a:spAutoFit/>
          </a:bodyPr>
          <a:lstStyle/>
          <a:p>
            <a:pPr algn="l">
              <a:lnSpc>
                <a:spcPct val="112000"/>
              </a:lnSpc>
            </a:pPr>
            <a:r>
              <a:rPr sz="1400" b="1" i="0">
                <a:solidFill>
                  <a:srgbClr val="065A82"/>
                </a:solidFill>
                <a:latin typeface="Arial"/>
              </a:rPr>
              <a:t>Работает: четыре клетки</a:t>
            </a:r>
          </a:p>
        </p:txBody>
      </p:sp>
      <p:sp>
        <p:nvSpPr>
          <p:cNvPr id="6" name="TextBox 5"/>
          <p:cNvSpPr txBox="1"/>
          <p:nvPr/>
        </p:nvSpPr>
        <p:spPr>
          <a:xfrm>
            <a:off x="667512" y="1846650"/>
            <a:ext cx="5108295" cy="2441885"/>
          </a:xfrm>
          <a:prstGeom prst="rect">
            <a:avLst/>
          </a:prstGeom>
          <a:noFill/>
        </p:spPr>
        <p:txBody>
          <a:bodyPr wrap="square" lIns="0" rIns="0" tIns="0" bIns="0" anchor="t">
            <a:spAutoFit/>
          </a:bodyPr>
          <a:lstStyle/>
          <a:p>
            <a:pPr algn="l">
              <a:lnSpc>
                <a:spcPct val="126000"/>
              </a:lnSpc>
            </a:pPr>
            <a:r>
              <a:rPr sz="1450" b="0" i="0">
                <a:solidFill>
                  <a:srgbClr val="21295C"/>
                </a:solidFill>
                <a:latin typeface="Arial"/>
              </a:rPr>
              <a:t>• распознавание на изображении — чтение исследований</a:t>
            </a:r>
          </a:p>
          <a:p>
            <a:pPr algn="l">
              <a:lnSpc>
                <a:spcPct val="126000"/>
              </a:lnSpc>
            </a:pPr>
            <a:r>
              <a:rPr sz="1450" b="0" i="0">
                <a:solidFill>
                  <a:srgbClr val="21295C"/>
                </a:solidFill>
                <a:latin typeface="Arial"/>
              </a:rPr>
              <a:t>• прогноз на структурированных данных — раннее предупреждение</a:t>
            </a:r>
          </a:p>
          <a:p>
            <a:pPr algn="l">
              <a:lnSpc>
                <a:spcPct val="126000"/>
              </a:lnSpc>
            </a:pPr>
            <a:r>
              <a:rPr sz="1450" b="0" i="0">
                <a:solidFill>
                  <a:srgbClr val="21295C"/>
                </a:solidFill>
                <a:latin typeface="Arial"/>
              </a:rPr>
              <a:t>• поиск и генерация на тексте — запись приёма</a:t>
            </a:r>
          </a:p>
          <a:p>
            <a:pPr algn="l">
              <a:lnSpc>
                <a:spcPct val="126000"/>
              </a:lnSpc>
            </a:pPr>
            <a:r>
              <a:rPr sz="1450" b="0" i="0">
                <a:solidFill>
                  <a:srgbClr val="21295C"/>
                </a:solidFill>
                <a:latin typeface="Arial"/>
              </a:rPr>
              <a:t>• генерация структуры — молекула под мишень</a:t>
            </a:r>
          </a:p>
        </p:txBody>
      </p:sp>
      <p:sp>
        <p:nvSpPr>
          <p:cNvPr id="7" name="Rounded Rectangle 6"/>
          <p:cNvSpPr/>
          <p:nvPr/>
        </p:nvSpPr>
        <p:spPr>
          <a:xfrm>
            <a:off x="6251295" y="1335024"/>
            <a:ext cx="5437479" cy="3108960"/>
          </a:xfrm>
          <a:prstGeom prst="roundRect">
            <a:avLst>
              <a:gd name="adj" fmla="val 9803"/>
            </a:avLst>
          </a:prstGeom>
          <a:solidFill>
            <a:srgbClr val="FFFFFF"/>
          </a:solidFill>
          <a:ln w="19050">
            <a:solidFill>
              <a:srgbClr val="028090"/>
            </a:solidFill>
          </a:ln>
          <a:effectLst/>
        </p:spPr>
        <p:txBody>
          <a:bodyPr rtlCol="0" anchor="ctr"/>
          <a:lstStyle/>
          <a:p>
            <a:pPr algn="ctr"/>
          </a:p>
        </p:txBody>
      </p:sp>
      <p:sp>
        <p:nvSpPr>
          <p:cNvPr id="8" name="TextBox 7"/>
          <p:cNvSpPr txBox="1"/>
          <p:nvPr/>
        </p:nvSpPr>
        <p:spPr>
          <a:xfrm>
            <a:off x="6415887" y="1490472"/>
            <a:ext cx="5108295" cy="246450"/>
          </a:xfrm>
          <a:prstGeom prst="rect">
            <a:avLst/>
          </a:prstGeom>
          <a:noFill/>
        </p:spPr>
        <p:txBody>
          <a:bodyPr wrap="square" lIns="0" rIns="0" tIns="0" bIns="0" anchor="t">
            <a:spAutoFit/>
          </a:bodyPr>
          <a:lstStyle/>
          <a:p>
            <a:pPr algn="l">
              <a:lnSpc>
                <a:spcPct val="112000"/>
              </a:lnSpc>
            </a:pPr>
            <a:r>
              <a:rPr sz="1400" b="1" i="0">
                <a:solidFill>
                  <a:srgbClr val="028090"/>
                </a:solidFill>
                <a:latin typeface="Arial"/>
              </a:rPr>
              <a:t>Не работает: пятая клетка, четыре пустых места</a:t>
            </a:r>
          </a:p>
        </p:txBody>
      </p:sp>
      <p:sp>
        <p:nvSpPr>
          <p:cNvPr id="9" name="TextBox 8"/>
          <p:cNvSpPr txBox="1"/>
          <p:nvPr/>
        </p:nvSpPr>
        <p:spPr>
          <a:xfrm>
            <a:off x="6415887" y="1846650"/>
            <a:ext cx="5108295" cy="2441885"/>
          </a:xfrm>
          <a:prstGeom prst="rect">
            <a:avLst/>
          </a:prstGeom>
          <a:noFill/>
        </p:spPr>
        <p:txBody>
          <a:bodyPr wrap="square" lIns="0" rIns="0" tIns="0" bIns="0" anchor="t">
            <a:spAutoFit/>
          </a:bodyPr>
          <a:lstStyle/>
          <a:p>
            <a:pPr algn="l">
              <a:lnSpc>
                <a:spcPct val="126000"/>
              </a:lnSpc>
            </a:pPr>
            <a:r>
              <a:rPr sz="1450" b="0" i="0">
                <a:solidFill>
                  <a:srgbClr val="21295C"/>
                </a:solidFill>
                <a:latin typeface="Arial"/>
              </a:rPr>
              <a:t>• исполнитель с выключенным инструментом — процедуры нет</a:t>
            </a:r>
          </a:p>
          <a:p>
            <a:pPr algn="l">
              <a:lnSpc>
                <a:spcPct val="126000"/>
              </a:lnSpc>
            </a:pPr>
            <a:r>
              <a:rPr sz="1450" b="0" i="0">
                <a:solidFill>
                  <a:srgbClr val="21295C"/>
                </a:solidFill>
                <a:latin typeface="Arial"/>
              </a:rPr>
              <a:t>• пациенту в операционной — ни одного исхода</a:t>
            </a:r>
          </a:p>
          <a:p>
            <a:pPr algn="l">
              <a:lnSpc>
                <a:spcPct val="126000"/>
              </a:lnSpc>
            </a:pPr>
            <a:r>
              <a:rPr sz="1450" b="0" i="0">
                <a:solidFill>
                  <a:srgbClr val="21295C"/>
                </a:solidFill>
                <a:latin typeface="Arial"/>
              </a:rPr>
              <a:t>• долгосрочный исход — не измерен ни разу</a:t>
            </a:r>
          </a:p>
          <a:p>
            <a:pPr algn="l">
              <a:lnSpc>
                <a:spcPct val="126000"/>
              </a:lnSpc>
            </a:pPr>
            <a:r>
              <a:rPr sz="1450" b="0" i="0">
                <a:solidFill>
                  <a:srgbClr val="21295C"/>
                </a:solidFill>
                <a:latin typeface="Arial"/>
              </a:rPr>
              <a:t>• график смен: 32,0 → 6,0 часа в месяц, не нейросеть</a:t>
            </a:r>
          </a:p>
          <a:p>
            <a:pPr algn="l">
              <a:lnSpc>
                <a:spcPct val="126000"/>
              </a:lnSpc>
            </a:pPr>
            <a:r>
              <a:rPr sz="1450" b="0" i="0">
                <a:solidFill>
                  <a:srgbClr val="21295C"/>
                </a:solidFill>
                <a:latin typeface="Arial"/>
              </a:rPr>
              <a:t>• «кого не лечить»: формула по 21 гену, не нейросеть</a:t>
            </a:r>
          </a:p>
        </p:txBody>
      </p:sp>
      <p:sp>
        <p:nvSpPr>
          <p:cNvPr id="10" name="Rounded Rectangle 9"/>
          <p:cNvSpPr/>
          <p:nvPr/>
        </p:nvSpPr>
        <p:spPr>
          <a:xfrm>
            <a:off x="374904" y="4535424"/>
            <a:ext cx="11441887" cy="1254403"/>
          </a:xfrm>
          <a:prstGeom prst="roundRect">
            <a:avLst>
              <a:gd name="adj" fmla="val 24298"/>
            </a:avLst>
          </a:prstGeom>
          <a:solidFill>
            <a:srgbClr val="F4F7FA"/>
          </a:solidFill>
          <a:ln w="19050">
            <a:solidFill>
              <a:srgbClr val="1C7293"/>
            </a:solidFill>
          </a:ln>
          <a:effectLst/>
        </p:spPr>
        <p:txBody>
          <a:bodyPr rtlCol="0" anchor="ctr"/>
          <a:lstStyle/>
          <a:p>
            <a:pPr algn="ctr"/>
          </a:p>
        </p:txBody>
      </p:sp>
      <p:sp>
        <p:nvSpPr>
          <p:cNvPr id="11" name="TextBox 10"/>
          <p:cNvSpPr txBox="1"/>
          <p:nvPr/>
        </p:nvSpPr>
        <p:spPr>
          <a:xfrm>
            <a:off x="539496" y="4626864"/>
            <a:ext cx="11112703" cy="1609343"/>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Грубое распознавание и черновик текста работают. Диагноз и ответственное решение о человеке — нет.</a:t>
            </a:r>
          </a:p>
          <a:p>
            <a:pPr algn="l">
              <a:lnSpc>
                <a:spcPct val="126000"/>
              </a:lnSpc>
              <a:spcBef>
                <a:spcPts val="700"/>
              </a:spcBef>
            </a:pPr>
            <a:r>
              <a:rPr sz="1500" b="0" i="0">
                <a:solidFill>
                  <a:srgbClr val="21295C"/>
                </a:solidFill>
                <a:latin typeface="Arial"/>
              </a:rPr>
              <a:t/>
            </a:r>
            <a:r>
              <a:rPr sz="1500" b="0" i="0">
                <a:solidFill>
                  <a:srgbClr val="21295C"/>
                </a:solidFill>
                <a:latin typeface="Arial"/>
              </a:rPr>
              <a:t>Контингент, знаменатель и рабочая точка назначены на отборе — первый вопрос лекции: кого позвали. Дальше — письмо по возрасту.</a:t>
            </a:r>
          </a:p>
        </p:txBody>
      </p:sp>
      <p:sp>
        <p:nvSpPr>
          <p:cNvPr id="12" name="Rectangle 11"/>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13" name="TextBox 12"/>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Shia и соавт., JMIR Nursing 2026</a:t>
            </a:r>
            <a:r>
              <a:rPr sz="1200" b="0" i="1">
                <a:solidFill>
                  <a:srgbClr val="1C7293"/>
                </a:solidFill>
                <a:latin typeface="Arial"/>
              </a:rPr>
              <a:t> · </a:t>
            </a:r>
            <a:r>
              <a:rPr sz="1200" b="0" i="1" u="sng">
                <a:solidFill>
                  <a:srgbClr val="065A82"/>
                </a:solidFill>
                <a:latin typeface="Arial"/>
                <a:hlinkClick r:id="rId3"/>
              </a:rPr>
              <a:t>Sparano и соавт., NEJM 2018</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Письмо по возрасту: кто смотрел снимок первым</a:t>
            </a:r>
          </a:p>
        </p:txBody>
      </p:sp>
      <p:sp>
        <p:nvSpPr>
          <p:cNvPr id="4" name="Rounded Rectangle 3"/>
          <p:cNvSpPr/>
          <p:nvPr/>
        </p:nvSpPr>
        <p:spPr>
          <a:xfrm>
            <a:off x="502920" y="1335024"/>
            <a:ext cx="3618890" cy="1556177"/>
          </a:xfrm>
          <a:prstGeom prst="roundRect">
            <a:avLst>
              <a:gd name="adj" fmla="val 19586"/>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ПОЧЕМУ ПОЗВАЛИ</a:t>
            </a:r>
          </a:p>
        </p:txBody>
      </p:sp>
      <p:sp>
        <p:nvSpPr>
          <p:cNvPr id="6" name="TextBox 5"/>
          <p:cNvSpPr txBox="1"/>
          <p:nvPr/>
        </p:nvSpPr>
        <p:spPr>
          <a:xfrm>
            <a:off x="640080" y="1725375"/>
            <a:ext cx="3344570"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по возрасту и интервалу</a:t>
            </a:r>
          </a:p>
        </p:txBody>
      </p:sp>
      <p:sp>
        <p:nvSpPr>
          <p:cNvPr id="7" name="TextBox 6"/>
          <p:cNvSpPr txBox="1"/>
          <p:nvPr/>
        </p:nvSpPr>
        <p:spPr>
          <a:xfrm>
            <a:off x="640080" y="2542797"/>
            <a:ext cx="3344570"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порог — документ</a:t>
            </a:r>
          </a:p>
        </p:txBody>
      </p:sp>
      <p:sp>
        <p:nvSpPr>
          <p:cNvPr id="8" name="Rounded Rectangle 7"/>
          <p:cNvSpPr/>
          <p:nvPr/>
        </p:nvSpPr>
        <p:spPr>
          <a:xfrm>
            <a:off x="4286402" y="1335024"/>
            <a:ext cx="3618890" cy="1556177"/>
          </a:xfrm>
          <a:prstGeom prst="roundRect">
            <a:avLst>
              <a:gd name="adj" fmla="val 19586"/>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4423562"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ПЕРВЫЙ ВЗГЛЯД НА СНИМОК</a:t>
            </a:r>
          </a:p>
        </p:txBody>
      </p:sp>
      <p:sp>
        <p:nvSpPr>
          <p:cNvPr id="10" name="TextBox 9"/>
          <p:cNvSpPr txBox="1"/>
          <p:nvPr/>
        </p:nvSpPr>
        <p:spPr>
          <a:xfrm>
            <a:off x="4423562" y="1725375"/>
            <a:ext cx="3344570"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3 секунды</a:t>
            </a:r>
          </a:p>
        </p:txBody>
      </p:sp>
      <p:sp>
        <p:nvSpPr>
          <p:cNvPr id="11" name="TextBox 10"/>
          <p:cNvSpPr txBox="1"/>
          <p:nvPr/>
        </p:nvSpPr>
        <p:spPr>
          <a:xfrm>
            <a:off x="4423562" y="2152374"/>
            <a:ext cx="3344570"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браузер, без допуска и денег</a:t>
            </a:r>
          </a:p>
        </p:txBody>
      </p:sp>
      <p:sp>
        <p:nvSpPr>
          <p:cNvPr id="12" name="Rounded Rectangle 11"/>
          <p:cNvSpPr/>
          <p:nvPr/>
        </p:nvSpPr>
        <p:spPr>
          <a:xfrm>
            <a:off x="8069884" y="1335024"/>
            <a:ext cx="3618890" cy="1556177"/>
          </a:xfrm>
          <a:prstGeom prst="roundRect">
            <a:avLst>
              <a:gd name="adj" fmla="val 19586"/>
            </a:avLst>
          </a:prstGeom>
          <a:solidFill>
            <a:srgbClr val="FFFFFF"/>
          </a:solidFill>
          <a:ln w="25400">
            <a:solidFill>
              <a:srgbClr val="F0AB00"/>
            </a:solidFill>
          </a:ln>
          <a:effectLst/>
        </p:spPr>
        <p:txBody>
          <a:bodyPr rtlCol="0" anchor="ctr"/>
          <a:lstStyle/>
          <a:p>
            <a:pPr algn="ctr"/>
          </a:p>
        </p:txBody>
      </p:sp>
      <p:sp>
        <p:nvSpPr>
          <p:cNvPr id="13" name="TextBox 12"/>
          <p:cNvSpPr txBox="1"/>
          <p:nvPr/>
        </p:nvSpPr>
        <p:spPr>
          <a:xfrm>
            <a:off x="8207044"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ПОДПИСЬ: ПЕРЕДАНА → ПРИНЯТА</a:t>
            </a:r>
          </a:p>
        </p:txBody>
      </p:sp>
      <p:sp>
        <p:nvSpPr>
          <p:cNvPr id="14" name="TextBox 13"/>
          <p:cNvSpPr txBox="1"/>
          <p:nvPr/>
        </p:nvSpPr>
        <p:spPr>
          <a:xfrm>
            <a:off x="8207044" y="1725375"/>
            <a:ext cx="3344570" cy="817422"/>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бесплатно → у 56 из 717</a:t>
            </a:r>
          </a:p>
        </p:txBody>
      </p:sp>
      <p:sp>
        <p:nvSpPr>
          <p:cNvPr id="15" name="TextBox 14"/>
          <p:cNvSpPr txBox="1"/>
          <p:nvPr/>
        </p:nvSpPr>
        <p:spPr>
          <a:xfrm>
            <a:off x="8207044" y="2542797"/>
            <a:ext cx="3344570"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восемь из ста, июнь 2024</a:t>
            </a:r>
          </a:p>
        </p:txBody>
      </p:sp>
      <p:sp>
        <p:nvSpPr>
          <p:cNvPr id="16" name="Rounded Rectangle 15"/>
          <p:cNvSpPr/>
          <p:nvPr/>
        </p:nvSpPr>
        <p:spPr>
          <a:xfrm>
            <a:off x="374904" y="2982641"/>
            <a:ext cx="11441887" cy="2531547"/>
          </a:xfrm>
          <a:prstGeom prst="roundRect">
            <a:avLst>
              <a:gd name="adj" fmla="val 12040"/>
            </a:avLst>
          </a:prstGeom>
          <a:solidFill>
            <a:srgbClr val="F4F7FA"/>
          </a:solidFill>
          <a:ln w="19050">
            <a:solidFill>
              <a:srgbClr val="1C7293"/>
            </a:solidFill>
          </a:ln>
          <a:effectLst/>
        </p:spPr>
        <p:txBody>
          <a:bodyPr rtlCol="0" anchor="ctr"/>
          <a:lstStyle/>
          <a:p>
            <a:pPr algn="ctr"/>
          </a:p>
        </p:txBody>
      </p:sp>
      <p:sp>
        <p:nvSpPr>
          <p:cNvPr id="17" name="TextBox 16"/>
          <p:cNvSpPr txBox="1"/>
          <p:nvPr/>
        </p:nvSpPr>
        <p:spPr>
          <a:xfrm>
            <a:off x="539496" y="3074081"/>
            <a:ext cx="5373471" cy="3162126"/>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Швеция, программа скрининга: женщине пятьдесят четыре года, жалоб у неё нет. Снимок делает лаборант.</a:t>
            </a:r>
          </a:p>
          <a:p>
            <a:pPr algn="l">
              <a:lnSpc>
                <a:spcPct val="126000"/>
              </a:lnSpc>
              <a:spcBef>
                <a:spcPts val="700"/>
              </a:spcBef>
            </a:pPr>
            <a:r>
              <a:rPr sz="1500" b="0" i="0">
                <a:solidFill>
                  <a:srgbClr val="21295C"/>
                </a:solidFill>
                <a:latin typeface="Arial"/>
              </a:rPr>
              <a:t/>
            </a:r>
            <a:r>
              <a:rPr sz="1500" b="1" i="0">
                <a:solidFill>
                  <a:srgbClr val="21295C"/>
                </a:solidFill>
                <a:latin typeface="Arial"/>
              </a:rPr>
              <a:t>Решается про неё одно: есть на снимке находка или нет.</a:t>
            </a:r>
            <a:r>
              <a:rPr sz="1500" b="0" i="0">
                <a:solidFill>
                  <a:srgbClr val="21295C"/>
                </a:solidFill>
                <a:latin typeface="Arial"/>
              </a:rPr>
              <a:t> Пропустили — лечить будут позже и хуже. Позвали лишнего — биопсия и недели с открытым вопросом.</a:t>
            </a:r>
          </a:p>
        </p:txBody>
      </p:sp>
      <p:sp>
        <p:nvSpPr>
          <p:cNvPr id="18" name="TextBox 17"/>
          <p:cNvSpPr txBox="1"/>
          <p:nvPr/>
        </p:nvSpPr>
        <p:spPr>
          <a:xfrm>
            <a:off x="6278727" y="3074081"/>
            <a:ext cx="5373471" cy="3162126"/>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Смотрит её снимок первым уже не человек:</a:t>
            </a:r>
            <a:r>
              <a:rPr sz="1500" b="0" i="0">
                <a:solidFill>
                  <a:srgbClr val="21295C"/>
                </a:solidFill>
                <a:latin typeface="Arial"/>
              </a:rPr>
              <a:t> страница в браузере, восемнадцать патологий — и строка </a:t>
            </a:r>
            <a:r>
              <a:rPr sz="1500" b="1" i="0">
                <a:solidFill>
                  <a:srgbClr val="21295C"/>
                </a:solidFill>
                <a:latin typeface="Arial"/>
              </a:rPr>
              <a:t>«не для диагностики»</a:t>
            </a:r>
            <a:r>
              <a:rPr sz="1500" b="0" i="0">
                <a:solidFill>
                  <a:srgbClr val="21295C"/>
                </a:solidFill>
                <a:latin typeface="Arial"/>
              </a:rPr>
              <a:t>.</a:t>
            </a:r>
          </a:p>
          <a:p>
            <a:pPr algn="l">
              <a:lnSpc>
                <a:spcPct val="126000"/>
              </a:lnSpc>
              <a:spcBef>
                <a:spcPts val="700"/>
              </a:spcBef>
            </a:pPr>
            <a:r>
              <a:rPr sz="1500" b="0" i="0">
                <a:solidFill>
                  <a:srgbClr val="21295C"/>
                </a:solidFill>
                <a:latin typeface="Arial"/>
              </a:rPr>
              <a:t/>
            </a:r>
            <a:r>
              <a:rPr sz="1500" b="1" i="0">
                <a:solidFill>
                  <a:srgbClr val="21295C"/>
                </a:solidFill>
                <a:latin typeface="Arial"/>
              </a:rPr>
              <a:t>Строка не о точности — она называет отвечающего:</a:t>
            </a:r>
            <a:r>
              <a:rPr sz="1500" b="0" i="0">
                <a:solidFill>
                  <a:srgbClr val="21295C"/>
                </a:solidFill>
                <a:latin typeface="Arial"/>
              </a:rPr>
              <a:t> решение на том, кто посмотрит вторым.</a:t>
            </a:r>
          </a:p>
          <a:p>
            <a:pPr algn="l">
              <a:lnSpc>
                <a:spcPct val="126000"/>
              </a:lnSpc>
              <a:spcBef>
                <a:spcPts val="700"/>
              </a:spcBef>
            </a:pPr>
            <a:r>
              <a:rPr sz="1500" b="0" i="0">
                <a:solidFill>
                  <a:srgbClr val="21295C"/>
                </a:solidFill>
                <a:latin typeface="Arial"/>
              </a:rPr>
              <a:t/>
            </a:r>
            <a:r>
              <a:rPr sz="1500" b="1" i="0">
                <a:solidFill>
                  <a:srgbClr val="21295C"/>
                </a:solidFill>
                <a:latin typeface="Arial"/>
              </a:rPr>
              <a:t>Получали ли вы результат обследования раньше, чем его прочитал врач?</a:t>
            </a:r>
          </a:p>
        </p:txBody>
      </p:sp>
      <p:sp>
        <p:nvSpPr>
          <p:cNvPr id="19" name="Rectangle 18"/>
          <p:cNvSpPr/>
          <p:nvPr/>
        </p:nvSpPr>
        <p:spPr>
          <a:xfrm>
            <a:off x="6091275" y="3074081"/>
            <a:ext cx="9144" cy="2257227"/>
          </a:xfrm>
          <a:prstGeom prst="rect">
            <a:avLst/>
          </a:prstGeom>
          <a:solidFill>
            <a:srgbClr val="D9E2EC"/>
          </a:solidFill>
          <a:ln>
            <a:noFill/>
          </a:ln>
          <a:effectLst/>
        </p:spPr>
        <p:txBody>
          <a:bodyPr rtlCol="0" anchor="ctr"/>
          <a:lstStyle/>
          <a:p>
            <a:pPr algn="ctr"/>
          </a:p>
        </p:txBody>
      </p:sp>
      <p:sp>
        <p:nvSpPr>
          <p:cNvPr id="20" name="Rectangle 19"/>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21" name="TextBox 20"/>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Cohen и соавт., 2019</a:t>
            </a:r>
            <a:r>
              <a:rPr sz="1200" b="0" i="1">
                <a:solidFill>
                  <a:srgbClr val="1C7293"/>
                </a:solidFill>
                <a:latin typeface="Arial"/>
              </a:rPr>
              <a:t> · </a:t>
            </a:r>
            <a:r>
              <a:rPr sz="1200" b="0" i="1" u="sng">
                <a:solidFill>
                  <a:srgbClr val="065A82"/>
                </a:solidFill>
                <a:latin typeface="Arial"/>
                <a:hlinkClick r:id="rId3"/>
              </a:rPr>
              <a:t>JAMA Network Open 2025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Путь одного случая</a:t>
            </a:r>
          </a:p>
        </p:txBody>
      </p:sp>
      <p:sp>
        <p:nvSpPr>
          <p:cNvPr id="4" name="TextBox 3"/>
          <p:cNvSpPr txBox="1"/>
          <p:nvPr/>
        </p:nvSpPr>
        <p:spPr>
          <a:xfrm>
            <a:off x="502920" y="1371600"/>
            <a:ext cx="1307592" cy="402240"/>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Пока решают</a:t>
            </a:r>
          </a:p>
        </p:txBody>
      </p:sp>
      <p:sp>
        <p:nvSpPr>
          <p:cNvPr id="5" name="Rounded Rectangle 4"/>
          <p:cNvSpPr/>
          <p:nvPr/>
        </p:nvSpPr>
        <p:spPr>
          <a:xfrm>
            <a:off x="1920240" y="1335024"/>
            <a:ext cx="3158642"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6" name="TextBox 5"/>
          <p:cNvSpPr txBox="1"/>
          <p:nvPr/>
        </p:nvSpPr>
        <p:spPr>
          <a:xfrm>
            <a:off x="2002536" y="1380744"/>
            <a:ext cx="2994050"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1. Скрининг и отбор</a:t>
            </a:r>
          </a:p>
        </p:txBody>
      </p:sp>
      <p:sp>
        <p:nvSpPr>
          <p:cNvPr id="7" name="Rounded Rectangle 6"/>
          <p:cNvSpPr/>
          <p:nvPr/>
        </p:nvSpPr>
        <p:spPr>
          <a:xfrm>
            <a:off x="5225186" y="1335024"/>
            <a:ext cx="3158642"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8" name="TextBox 7"/>
          <p:cNvSpPr txBox="1"/>
          <p:nvPr/>
        </p:nvSpPr>
        <p:spPr>
          <a:xfrm>
            <a:off x="5307482" y="1380744"/>
            <a:ext cx="2994050"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2. Диагностика</a:t>
            </a:r>
          </a:p>
        </p:txBody>
      </p:sp>
      <p:sp>
        <p:nvSpPr>
          <p:cNvPr id="9" name="Rounded Rectangle 8"/>
          <p:cNvSpPr/>
          <p:nvPr/>
        </p:nvSpPr>
        <p:spPr>
          <a:xfrm>
            <a:off x="8530132" y="1335024"/>
            <a:ext cx="3158642"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0" name="TextBox 9"/>
          <p:cNvSpPr txBox="1"/>
          <p:nvPr/>
        </p:nvSpPr>
        <p:spPr>
          <a:xfrm>
            <a:off x="8612428" y="1380744"/>
            <a:ext cx="2994050"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3. Диагноз</a:t>
            </a:r>
          </a:p>
        </p:txBody>
      </p:sp>
      <p:sp>
        <p:nvSpPr>
          <p:cNvPr id="11" name="TextBox 10"/>
          <p:cNvSpPr txBox="1"/>
          <p:nvPr/>
        </p:nvSpPr>
        <p:spPr>
          <a:xfrm>
            <a:off x="502920" y="1993296"/>
            <a:ext cx="1307592" cy="402240"/>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После решения</a:t>
            </a:r>
          </a:p>
        </p:txBody>
      </p:sp>
      <p:sp>
        <p:nvSpPr>
          <p:cNvPr id="12" name="Rounded Rectangle 11"/>
          <p:cNvSpPr/>
          <p:nvPr/>
        </p:nvSpPr>
        <p:spPr>
          <a:xfrm>
            <a:off x="1920240" y="1956720"/>
            <a:ext cx="4811115"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3" name="TextBox 12"/>
          <p:cNvSpPr txBox="1"/>
          <p:nvPr/>
        </p:nvSpPr>
        <p:spPr>
          <a:xfrm>
            <a:off x="2002536" y="2002440"/>
            <a:ext cx="4646523"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4. Наблюдение и тревоги</a:t>
            </a:r>
          </a:p>
        </p:txBody>
      </p:sp>
      <p:sp>
        <p:nvSpPr>
          <p:cNvPr id="14" name="Rounded Rectangle 13"/>
          <p:cNvSpPr/>
          <p:nvPr/>
        </p:nvSpPr>
        <p:spPr>
          <a:xfrm>
            <a:off x="6877659" y="1956720"/>
            <a:ext cx="4811115"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5" name="TextBox 14"/>
          <p:cNvSpPr txBox="1"/>
          <p:nvPr/>
        </p:nvSpPr>
        <p:spPr>
          <a:xfrm>
            <a:off x="6959955" y="2002440"/>
            <a:ext cx="4646523"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5. Ведение документации</a:t>
            </a:r>
          </a:p>
        </p:txBody>
      </p:sp>
      <p:sp>
        <p:nvSpPr>
          <p:cNvPr id="16" name="TextBox 15"/>
          <p:cNvSpPr txBox="1"/>
          <p:nvPr/>
        </p:nvSpPr>
        <p:spPr>
          <a:xfrm>
            <a:off x="502920" y="2614993"/>
            <a:ext cx="1307592" cy="402240"/>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Поперёк пути</a:t>
            </a:r>
          </a:p>
        </p:txBody>
      </p:sp>
      <p:sp>
        <p:nvSpPr>
          <p:cNvPr id="17" name="Rounded Rectangle 16"/>
          <p:cNvSpPr/>
          <p:nvPr/>
        </p:nvSpPr>
        <p:spPr>
          <a:xfrm>
            <a:off x="1920240" y="2578417"/>
            <a:ext cx="3158642"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8" name="TextBox 17"/>
          <p:cNvSpPr txBox="1"/>
          <p:nvPr/>
        </p:nvSpPr>
        <p:spPr>
          <a:xfrm>
            <a:off x="2002536" y="2624137"/>
            <a:ext cx="2994050"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6. Допуск и надзор</a:t>
            </a:r>
          </a:p>
        </p:txBody>
      </p:sp>
      <p:sp>
        <p:nvSpPr>
          <p:cNvPr id="19" name="Rounded Rectangle 18"/>
          <p:cNvSpPr/>
          <p:nvPr/>
        </p:nvSpPr>
        <p:spPr>
          <a:xfrm>
            <a:off x="5225186" y="2578417"/>
            <a:ext cx="3158642"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0" name="TextBox 19"/>
          <p:cNvSpPr txBox="1"/>
          <p:nvPr/>
        </p:nvSpPr>
        <p:spPr>
          <a:xfrm>
            <a:off x="5307482" y="2624137"/>
            <a:ext cx="2994050"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7. Квалификация</a:t>
            </a:r>
          </a:p>
        </p:txBody>
      </p:sp>
      <p:sp>
        <p:nvSpPr>
          <p:cNvPr id="21" name="Rounded Rectangle 20"/>
          <p:cNvSpPr/>
          <p:nvPr/>
        </p:nvSpPr>
        <p:spPr>
          <a:xfrm>
            <a:off x="8530132" y="2578417"/>
            <a:ext cx="3158642"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2" name="TextBox 21"/>
          <p:cNvSpPr txBox="1"/>
          <p:nvPr/>
        </p:nvSpPr>
        <p:spPr>
          <a:xfrm>
            <a:off x="8612428" y="2624137"/>
            <a:ext cx="2994050"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8. Разработка лекарств</a:t>
            </a:r>
          </a:p>
        </p:txBody>
      </p:sp>
      <p:sp>
        <p:nvSpPr>
          <p:cNvPr id="23" name="Rounded Rectangle 22"/>
          <p:cNvSpPr/>
          <p:nvPr/>
        </p:nvSpPr>
        <p:spPr>
          <a:xfrm>
            <a:off x="374904" y="3145250"/>
            <a:ext cx="11441887" cy="2145586"/>
          </a:xfrm>
          <a:prstGeom prst="roundRect">
            <a:avLst>
              <a:gd name="adj" fmla="val 14205"/>
            </a:avLst>
          </a:prstGeom>
          <a:solidFill>
            <a:srgbClr val="F4F7FA"/>
          </a:solidFill>
          <a:ln w="19050">
            <a:solidFill>
              <a:srgbClr val="1C7293"/>
            </a:solidFill>
          </a:ln>
          <a:effectLst/>
        </p:spPr>
        <p:txBody>
          <a:bodyPr rtlCol="0" anchor="ctr"/>
          <a:lstStyle/>
          <a:p>
            <a:pPr algn="ctr"/>
          </a:p>
        </p:txBody>
      </p:sp>
      <p:sp>
        <p:nvSpPr>
          <p:cNvPr id="24" name="TextBox 23"/>
          <p:cNvSpPr txBox="1"/>
          <p:nvPr/>
        </p:nvSpPr>
        <p:spPr>
          <a:xfrm>
            <a:off x="539496" y="3236690"/>
            <a:ext cx="5373471" cy="2999517"/>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Партию можно отозвать. Решение о человеке — нельзя.</a:t>
            </a:r>
          </a:p>
          <a:p>
            <a:pPr algn="l">
              <a:lnSpc>
                <a:spcPct val="126000"/>
              </a:lnSpc>
              <a:spcBef>
                <a:spcPts val="700"/>
              </a:spcBef>
            </a:pPr>
            <a:r>
              <a:rPr sz="1500" b="0" i="0">
                <a:solidFill>
                  <a:srgbClr val="21295C"/>
                </a:solidFill>
                <a:latin typeface="Arial"/>
              </a:rPr>
              <a:t/>
            </a:r>
            <a:r>
              <a:rPr sz="1500" b="1" i="0">
                <a:solidFill>
                  <a:srgbClr val="21295C"/>
                </a:solidFill>
                <a:latin typeface="Arial"/>
              </a:rPr>
              <a:t>Порядок первых пяти не переставляется:</a:t>
            </a:r>
            <a:r>
              <a:rPr sz="1500" b="0" i="0">
                <a:solidFill>
                  <a:srgbClr val="21295C"/>
                </a:solidFill>
                <a:latin typeface="Arial"/>
              </a:rPr>
              <a:t> смотреть — только позванного · решать — по измеренному · наблюдать — после решения · читать — после записи.</a:t>
            </a:r>
          </a:p>
        </p:txBody>
      </p:sp>
      <p:sp>
        <p:nvSpPr>
          <p:cNvPr id="25" name="TextBox 24"/>
          <p:cNvSpPr txBox="1"/>
          <p:nvPr/>
        </p:nvSpPr>
        <p:spPr>
          <a:xfrm>
            <a:off x="6278727" y="3236690"/>
            <a:ext cx="5373471" cy="2999517"/>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Каждый пример разобран одинаково:</a:t>
            </a:r>
            <a:r>
              <a:rPr sz="1500" b="0" i="0">
                <a:solidFill>
                  <a:srgbClr val="21295C"/>
                </a:solidFill>
                <a:latin typeface="Arial"/>
              </a:rPr>
              <a:t> цена обеих ошибок · два классических режима · модель против них · как это устроено · что переехало.</a:t>
            </a:r>
          </a:p>
          <a:p>
            <a:pPr algn="l">
              <a:lnSpc>
                <a:spcPct val="126000"/>
              </a:lnSpc>
              <a:spcBef>
                <a:spcPts val="700"/>
              </a:spcBef>
            </a:pPr>
            <a:r>
              <a:rPr sz="1500" b="0" i="0">
                <a:solidFill>
                  <a:srgbClr val="21295C"/>
                </a:solidFill>
                <a:latin typeface="Arial"/>
              </a:rPr>
              <a:t/>
            </a:r>
            <a:r>
              <a:rPr sz="1500" b="1" i="0">
                <a:solidFill>
                  <a:srgbClr val="21295C"/>
                </a:solidFill>
                <a:latin typeface="Arial"/>
              </a:rPr>
              <a:t>Про каждый инструмент — две вещи: какую задачу решает и с какими данными.</a:t>
            </a:r>
            <a:r>
              <a:rPr sz="1500" b="0" i="0">
                <a:solidFill>
                  <a:srgbClr val="21295C"/>
                </a:solidFill>
                <a:latin typeface="Arial"/>
              </a:rPr>
              <a:t> Сетку из этих имён собирает сборка — вместе с пустыми клетками.</a:t>
            </a:r>
          </a:p>
        </p:txBody>
      </p:sp>
      <p:sp>
        <p:nvSpPr>
          <p:cNvPr id="26" name="Rectangle 25"/>
          <p:cNvSpPr/>
          <p:nvPr/>
        </p:nvSpPr>
        <p:spPr>
          <a:xfrm>
            <a:off x="6091275" y="3236690"/>
            <a:ext cx="9144" cy="1871266"/>
          </a:xfrm>
          <a:prstGeom prst="rect">
            <a:avLst/>
          </a:prstGeom>
          <a:solidFill>
            <a:srgbClr val="D9E2EC"/>
          </a:solidFill>
          <a:ln>
            <a:noFill/>
          </a:ln>
          <a:effectLst/>
        </p:spPr>
        <p:txBody>
          <a:bodyPr rtlCol="0" anchor="ctr"/>
          <a:lstStyle/>
          <a:p>
            <a:pPr algn="ctr"/>
          </a:p>
        </p:txBody>
      </p:sp>
      <p:sp>
        <p:nvSpPr>
          <p:cNvPr id="27" name="Rectangle 26"/>
          <p:cNvSpPr/>
          <p:nvPr/>
        </p:nvSpPr>
        <p:spPr>
          <a:xfrm>
            <a:off x="502920" y="888090"/>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Кто смотрит первым — и почему подписывает человек</a:t>
            </a:r>
          </a:p>
        </p:txBody>
      </p:sp>
      <p:sp>
        <p:nvSpPr>
          <p:cNvPr id="4" name="TextBox 3"/>
          <p:cNvSpPr txBox="1"/>
          <p:nvPr/>
        </p:nvSpPr>
        <p:spPr>
          <a:xfrm>
            <a:off x="502920" y="1335024"/>
            <a:ext cx="11185855" cy="237744"/>
          </a:xfrm>
          <a:prstGeom prst="rect">
            <a:avLst/>
          </a:prstGeom>
          <a:noFill/>
        </p:spPr>
        <p:txBody>
          <a:bodyPr wrap="square" lIns="0" rIns="0" tIns="0" bIns="0" anchor="t">
            <a:spAutoFit/>
          </a:bodyPr>
          <a:lstStyle/>
          <a:p>
            <a:pPr algn="l">
              <a:lnSpc>
                <a:spcPct val="110000"/>
              </a:lnSpc>
            </a:pPr>
            <a:r>
              <a:rPr sz="1200" b="0" i="1">
                <a:solidFill>
                  <a:srgbClr val="065A82"/>
                </a:solidFill>
                <a:latin typeface="Arial"/>
              </a:rPr>
              <a:t>участие человека — вниз по ступеням</a:t>
            </a:r>
          </a:p>
        </p:txBody>
      </p:sp>
      <p:sp>
        <p:nvSpPr>
          <p:cNvPr id="5" name="Rounded Rectangle 4"/>
          <p:cNvSpPr/>
          <p:nvPr/>
        </p:nvSpPr>
        <p:spPr>
          <a:xfrm>
            <a:off x="502920" y="1664207"/>
            <a:ext cx="2714167" cy="658368"/>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6" name="TextBox 5"/>
          <p:cNvSpPr txBox="1"/>
          <p:nvPr/>
        </p:nvSpPr>
        <p:spPr>
          <a:xfrm>
            <a:off x="594360" y="1709928"/>
            <a:ext cx="2531287" cy="566928"/>
          </a:xfrm>
          <a:prstGeom prst="rect">
            <a:avLst/>
          </a:prstGeom>
          <a:noFill/>
        </p:spPr>
        <p:txBody>
          <a:bodyPr wrap="square" lIns="0" rIns="0" tIns="0" bIns="0" anchor="ctr">
            <a:spAutoFit/>
          </a:bodyPr>
          <a:lstStyle/>
          <a:p>
            <a:pPr algn="ctr">
              <a:lnSpc>
                <a:spcPct val="112000"/>
              </a:lnSpc>
            </a:pPr>
            <a:r>
              <a:rPr sz="1350" b="1" i="0">
                <a:solidFill>
                  <a:srgbClr val="21295C"/>
                </a:solidFill>
                <a:latin typeface="Arial"/>
              </a:rPr>
              <a:t>Смотрит первым</a:t>
            </a:r>
          </a:p>
        </p:txBody>
      </p:sp>
      <p:sp>
        <p:nvSpPr>
          <p:cNvPr id="7" name="Rounded Rectangle 6"/>
          <p:cNvSpPr/>
          <p:nvPr/>
        </p:nvSpPr>
        <p:spPr>
          <a:xfrm>
            <a:off x="3326815" y="1865376"/>
            <a:ext cx="2714167" cy="658368"/>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8" name="TextBox 7"/>
          <p:cNvSpPr txBox="1"/>
          <p:nvPr/>
        </p:nvSpPr>
        <p:spPr>
          <a:xfrm>
            <a:off x="3418255" y="1911095"/>
            <a:ext cx="2531287" cy="566928"/>
          </a:xfrm>
          <a:prstGeom prst="rect">
            <a:avLst/>
          </a:prstGeom>
          <a:noFill/>
        </p:spPr>
        <p:txBody>
          <a:bodyPr wrap="square" lIns="0" rIns="0" tIns="0" bIns="0" anchor="ctr">
            <a:spAutoFit/>
          </a:bodyPr>
          <a:lstStyle/>
          <a:p>
            <a:pPr algn="ctr">
              <a:lnSpc>
                <a:spcPct val="112000"/>
              </a:lnSpc>
            </a:pPr>
            <a:r>
              <a:rPr sz="1350" b="1" i="0">
                <a:solidFill>
                  <a:srgbClr val="21295C"/>
                </a:solidFill>
                <a:latin typeface="Arial"/>
              </a:rPr>
              <a:t>Смотрит вторым</a:t>
            </a:r>
          </a:p>
        </p:txBody>
      </p:sp>
      <p:sp>
        <p:nvSpPr>
          <p:cNvPr id="9" name="Rounded Rectangle 8"/>
          <p:cNvSpPr/>
          <p:nvPr/>
        </p:nvSpPr>
        <p:spPr>
          <a:xfrm>
            <a:off x="6150711" y="2066543"/>
            <a:ext cx="2714167" cy="658368"/>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0" name="TextBox 9"/>
          <p:cNvSpPr txBox="1"/>
          <p:nvPr/>
        </p:nvSpPr>
        <p:spPr>
          <a:xfrm>
            <a:off x="6242151" y="2112263"/>
            <a:ext cx="2531287" cy="566928"/>
          </a:xfrm>
          <a:prstGeom prst="rect">
            <a:avLst/>
          </a:prstGeom>
          <a:noFill/>
        </p:spPr>
        <p:txBody>
          <a:bodyPr wrap="square" lIns="0" rIns="0" tIns="0" bIns="0" anchor="ctr">
            <a:spAutoFit/>
          </a:bodyPr>
          <a:lstStyle/>
          <a:p>
            <a:pPr algn="ctr">
              <a:lnSpc>
                <a:spcPct val="112000"/>
              </a:lnSpc>
            </a:pPr>
            <a:r>
              <a:rPr sz="1350" b="1" i="0">
                <a:solidFill>
                  <a:srgbClr val="21295C"/>
                </a:solidFill>
                <a:latin typeface="Arial"/>
              </a:rPr>
              <a:t>Смотрит только спорное</a:t>
            </a:r>
          </a:p>
        </p:txBody>
      </p:sp>
      <p:sp>
        <p:nvSpPr>
          <p:cNvPr id="11" name="Rounded Rectangle 10"/>
          <p:cNvSpPr/>
          <p:nvPr/>
        </p:nvSpPr>
        <p:spPr>
          <a:xfrm>
            <a:off x="8974607" y="2267712"/>
            <a:ext cx="2714167" cy="658368"/>
          </a:xfrm>
          <a:prstGeom prst="roundRect">
            <a:avLst>
              <a:gd name="adj" fmla="val 25000"/>
            </a:avLst>
          </a:prstGeom>
          <a:solidFill>
            <a:srgbClr val="FFFFFF"/>
          </a:solidFill>
          <a:ln w="25400">
            <a:solidFill>
              <a:srgbClr val="F0AB00"/>
            </a:solidFill>
          </a:ln>
          <a:effectLst/>
        </p:spPr>
        <p:txBody>
          <a:bodyPr rtlCol="0" anchor="ctr"/>
          <a:lstStyle/>
          <a:p>
            <a:pPr algn="ctr"/>
          </a:p>
        </p:txBody>
      </p:sp>
      <p:sp>
        <p:nvSpPr>
          <p:cNvPr id="12" name="TextBox 11"/>
          <p:cNvSpPr txBox="1"/>
          <p:nvPr/>
        </p:nvSpPr>
        <p:spPr>
          <a:xfrm>
            <a:off x="9066047" y="2313432"/>
            <a:ext cx="2531287" cy="566928"/>
          </a:xfrm>
          <a:prstGeom prst="rect">
            <a:avLst/>
          </a:prstGeom>
          <a:noFill/>
        </p:spPr>
        <p:txBody>
          <a:bodyPr wrap="square" lIns="0" rIns="0" tIns="0" bIns="0" anchor="ctr">
            <a:spAutoFit/>
          </a:bodyPr>
          <a:lstStyle/>
          <a:p>
            <a:pPr algn="ctr">
              <a:lnSpc>
                <a:spcPct val="112000"/>
              </a:lnSpc>
            </a:pPr>
            <a:r>
              <a:rPr sz="1350" b="1" i="0">
                <a:solidFill>
                  <a:srgbClr val="21295C"/>
                </a:solidFill>
                <a:latin typeface="Arial"/>
              </a:rPr>
              <a:t>Подписывает не глядя</a:t>
            </a:r>
          </a:p>
        </p:txBody>
      </p:sp>
      <p:sp>
        <p:nvSpPr>
          <p:cNvPr id="13" name="TextBox 12"/>
          <p:cNvSpPr txBox="1"/>
          <p:nvPr/>
        </p:nvSpPr>
        <p:spPr>
          <a:xfrm>
            <a:off x="502920" y="2999232"/>
            <a:ext cx="11185855" cy="215015"/>
          </a:xfrm>
          <a:prstGeom prst="rect">
            <a:avLst/>
          </a:prstGeom>
          <a:noFill/>
        </p:spPr>
        <p:txBody>
          <a:bodyPr wrap="square" lIns="0" rIns="0" tIns="0" bIns="0" anchor="t">
            <a:spAutoFit/>
          </a:bodyPr>
          <a:lstStyle/>
          <a:p>
            <a:pPr algn="l">
              <a:lnSpc>
                <a:spcPct val="114000"/>
              </a:lnSpc>
            </a:pPr>
            <a:r>
              <a:rPr sz="1200" b="0" i="1">
                <a:solidFill>
                  <a:srgbClr val="1C7293"/>
                </a:solidFill>
                <a:latin typeface="Arial"/>
              </a:rPr>
              <a:t>требование регулятора исполнено на всех четырёх</a:t>
            </a:r>
          </a:p>
        </p:txBody>
      </p:sp>
      <p:sp>
        <p:nvSpPr>
          <p:cNvPr id="14" name="Rounded Rectangle 13"/>
          <p:cNvSpPr/>
          <p:nvPr/>
        </p:nvSpPr>
        <p:spPr>
          <a:xfrm>
            <a:off x="374904" y="3305687"/>
            <a:ext cx="11441887" cy="2759076"/>
          </a:xfrm>
          <a:prstGeom prst="roundRect">
            <a:avLst>
              <a:gd name="adj" fmla="val 11047"/>
            </a:avLst>
          </a:prstGeom>
          <a:solidFill>
            <a:srgbClr val="F4F7FA"/>
          </a:solidFill>
          <a:ln w="19050">
            <a:solidFill>
              <a:srgbClr val="1C7293"/>
            </a:solidFill>
          </a:ln>
          <a:effectLst/>
        </p:spPr>
        <p:txBody>
          <a:bodyPr rtlCol="0" anchor="ctr"/>
          <a:lstStyle/>
          <a:p>
            <a:pPr algn="ctr"/>
          </a:p>
        </p:txBody>
      </p:sp>
      <p:sp>
        <p:nvSpPr>
          <p:cNvPr id="15" name="TextBox 14"/>
          <p:cNvSpPr txBox="1"/>
          <p:nvPr/>
        </p:nvSpPr>
        <p:spPr>
          <a:xfrm>
            <a:off x="539496" y="3397127"/>
            <a:ext cx="5373471" cy="2839080"/>
          </a:xfrm>
          <a:prstGeom prst="rect">
            <a:avLst/>
          </a:prstGeom>
          <a:noFill/>
        </p:spPr>
        <p:txBody>
          <a:bodyPr wrap="square" lIns="0" rIns="0" tIns="0" bIns="0" anchor="t">
            <a:spAutoFit/>
          </a:bodyPr>
          <a:lstStyle/>
          <a:p>
            <a:pPr algn="l">
              <a:lnSpc>
                <a:spcPct val="126000"/>
              </a:lnSpc>
            </a:pPr>
            <a:r>
              <a:rPr sz="1400" b="1" i="0">
                <a:solidFill>
                  <a:srgbClr val="21295C"/>
                </a:solidFill>
                <a:latin typeface="Arial"/>
              </a:rPr>
              <a:t>«Человек в контуре» — четыре разных устройства.</a:t>
            </a:r>
            <a:r>
              <a:rPr sz="1400" b="0" i="0">
                <a:solidFill>
                  <a:srgbClr val="21295C"/>
                </a:solidFill>
                <a:latin typeface="Arial"/>
              </a:rPr>
              <a:t> Человек обязателен не потому, что точнее — измерено, что часто он не точнее:</a:t>
            </a:r>
          </a:p>
          <a:p>
            <a:pPr algn="l">
              <a:lnSpc>
                <a:spcPct val="126000"/>
              </a:lnSpc>
              <a:spcBef>
                <a:spcPts val="700"/>
              </a:spcBef>
            </a:pPr>
            <a:r>
              <a:rPr sz="1400" b="0" i="0">
                <a:solidFill>
                  <a:srgbClr val="21295C"/>
                </a:solidFill>
                <a:latin typeface="Arial"/>
              </a:rPr>
              <a:t/>
            </a:r>
            <a:r>
              <a:rPr sz="1400" b="0" i="0">
                <a:solidFill>
                  <a:srgbClr val="21295C"/>
                </a:solidFill>
                <a:latin typeface="Arial"/>
              </a:rPr>
              <a:t>• </a:t>
            </a:r>
            <a:r>
              <a:rPr sz="1400" b="1" i="0">
                <a:solidFill>
                  <a:srgbClr val="21295C"/>
                </a:solidFill>
                <a:latin typeface="Arial"/>
              </a:rPr>
              <a:t>право подписи выдано ему</a:t>
            </a:r>
            <a:r>
              <a:rPr sz="1400" b="0" i="0">
                <a:solidFill>
                  <a:srgbClr val="21295C"/>
                </a:solidFill>
                <a:latin typeface="Arial"/>
              </a:rPr>
              <a:t> — при разборе оценивают действия человека;</a:t>
            </a:r>
          </a:p>
          <a:p>
            <a:pPr algn="l">
              <a:lnSpc>
                <a:spcPct val="126000"/>
              </a:lnSpc>
              <a:spcBef>
                <a:spcPts val="700"/>
              </a:spcBef>
            </a:pPr>
            <a:r>
              <a:rPr sz="1400" b="0" i="0">
                <a:solidFill>
                  <a:srgbClr val="21295C"/>
                </a:solidFill>
                <a:latin typeface="Arial"/>
              </a:rPr>
              <a:t/>
            </a:r>
            <a:r>
              <a:rPr sz="1400" b="0" i="0">
                <a:solidFill>
                  <a:srgbClr val="21295C"/>
                </a:solidFill>
                <a:latin typeface="Arial"/>
              </a:rPr>
              <a:t>• </a:t>
            </a:r>
            <a:r>
              <a:rPr sz="1400" b="1" i="0">
                <a:solidFill>
                  <a:srgbClr val="21295C"/>
                </a:solidFill>
                <a:latin typeface="Arial"/>
              </a:rPr>
              <a:t>ошибается он иначе</a:t>
            </a:r>
            <a:r>
              <a:rPr sz="1400" b="0" i="0">
                <a:solidFill>
                  <a:srgbClr val="21295C"/>
                </a:solidFill>
                <a:latin typeface="Arial"/>
              </a:rPr>
              <a:t> — выигрыш даёт несовпадение ошибок;</a:t>
            </a:r>
          </a:p>
          <a:p>
            <a:pPr algn="l">
              <a:lnSpc>
                <a:spcPct val="126000"/>
              </a:lnSpc>
              <a:spcBef>
                <a:spcPts val="700"/>
              </a:spcBef>
            </a:pPr>
            <a:r>
              <a:rPr sz="1400" b="0" i="0">
                <a:solidFill>
                  <a:srgbClr val="21295C"/>
                </a:solidFill>
                <a:latin typeface="Arial"/>
              </a:rPr>
              <a:t/>
            </a:r>
            <a:r>
              <a:rPr sz="1400" b="0" i="0">
                <a:solidFill>
                  <a:srgbClr val="21295C"/>
                </a:solidFill>
                <a:latin typeface="Arial"/>
              </a:rPr>
              <a:t>• </a:t>
            </a:r>
            <a:r>
              <a:rPr sz="1400" b="1" i="0">
                <a:solidFill>
                  <a:srgbClr val="21295C"/>
                </a:solidFill>
                <a:latin typeface="Arial"/>
              </a:rPr>
              <a:t>отменить решение нельзя</a:t>
            </a:r>
            <a:r>
              <a:rPr sz="1400" b="0" i="0">
                <a:solidFill>
                  <a:srgbClr val="21295C"/>
                </a:solidFill>
                <a:latin typeface="Arial"/>
              </a:rPr>
              <a:t> — изделие отзывают, решения по нему остаются.</a:t>
            </a:r>
          </a:p>
        </p:txBody>
      </p:sp>
      <p:sp>
        <p:nvSpPr>
          <p:cNvPr id="16" name="TextBox 15"/>
          <p:cNvSpPr txBox="1"/>
          <p:nvPr/>
        </p:nvSpPr>
        <p:spPr>
          <a:xfrm>
            <a:off x="6278727" y="3397127"/>
            <a:ext cx="5373471" cy="2839080"/>
          </a:xfrm>
          <a:prstGeom prst="rect">
            <a:avLst/>
          </a:prstGeom>
          <a:noFill/>
        </p:spPr>
        <p:txBody>
          <a:bodyPr wrap="square" lIns="0" rIns="0" tIns="0" bIns="0" anchor="t">
            <a:spAutoFit/>
          </a:bodyPr>
          <a:lstStyle/>
          <a:p>
            <a:pPr algn="l">
              <a:lnSpc>
                <a:spcPct val="126000"/>
              </a:lnSpc>
            </a:pPr>
            <a:r>
              <a:rPr sz="1400" b="1" i="0">
                <a:solidFill>
                  <a:srgbClr val="21295C"/>
                </a:solidFill>
                <a:latin typeface="Arial"/>
              </a:rPr>
              <a:t>Три проверки для любого рабочего контура:</a:t>
            </a:r>
          </a:p>
          <a:p>
            <a:pPr algn="l">
              <a:lnSpc>
                <a:spcPct val="126000"/>
              </a:lnSpc>
              <a:spcBef>
                <a:spcPts val="700"/>
              </a:spcBef>
            </a:pPr>
            <a:r>
              <a:rPr sz="1400" b="0" i="0">
                <a:solidFill>
                  <a:srgbClr val="21295C"/>
                </a:solidFill>
                <a:latin typeface="Arial"/>
              </a:rPr>
              <a:t/>
            </a:r>
            <a:r>
              <a:rPr sz="1400" b="0" i="0">
                <a:solidFill>
                  <a:srgbClr val="21295C"/>
                </a:solidFill>
                <a:latin typeface="Arial"/>
              </a:rPr>
              <a:t>• независимый источник истины, кроме объяснения самой модели?</a:t>
            </a:r>
          </a:p>
          <a:p>
            <a:pPr algn="l">
              <a:lnSpc>
                <a:spcPct val="126000"/>
              </a:lnSpc>
              <a:spcBef>
                <a:spcPts val="700"/>
              </a:spcBef>
            </a:pPr>
            <a:r>
              <a:rPr sz="1400" b="0" i="0">
                <a:solidFill>
                  <a:srgbClr val="21295C"/>
                </a:solidFill>
                <a:latin typeface="Arial"/>
              </a:rPr>
              <a:t/>
            </a:r>
            <a:r>
              <a:rPr sz="1400" b="0" i="0">
                <a:solidFill>
                  <a:srgbClr val="21295C"/>
                </a:solidFill>
                <a:latin typeface="Arial"/>
              </a:rPr>
              <a:t>• измерено ли, что человек возражает — и возражает верно?</a:t>
            </a:r>
          </a:p>
          <a:p>
            <a:pPr algn="l">
              <a:lnSpc>
                <a:spcPct val="126000"/>
              </a:lnSpc>
              <a:spcBef>
                <a:spcPts val="700"/>
              </a:spcBef>
            </a:pPr>
            <a:r>
              <a:rPr sz="1400" b="0" i="0">
                <a:solidFill>
                  <a:srgbClr val="21295C"/>
                </a:solidFill>
                <a:latin typeface="Arial"/>
              </a:rPr>
              <a:t/>
            </a:r>
            <a:r>
              <a:rPr sz="1400" b="0" i="0">
                <a:solidFill>
                  <a:srgbClr val="21295C"/>
                </a:solidFill>
                <a:latin typeface="Arial"/>
              </a:rPr>
              <a:t>• успевает ли физически: секунды на решение против объёма?</a:t>
            </a:r>
          </a:p>
          <a:p>
            <a:pPr algn="l">
              <a:lnSpc>
                <a:spcPct val="126000"/>
              </a:lnSpc>
              <a:spcBef>
                <a:spcPts val="700"/>
              </a:spcBef>
            </a:pPr>
            <a:r>
              <a:rPr sz="1400" b="0" i="0">
                <a:solidFill>
                  <a:srgbClr val="21295C"/>
                </a:solidFill>
                <a:latin typeface="Arial"/>
              </a:rPr>
              <a:t/>
            </a:r>
            <a:r>
              <a:rPr sz="1400" b="1" i="0">
                <a:solidFill>
                  <a:srgbClr val="21295C"/>
                </a:solidFill>
                <a:latin typeface="Arial"/>
              </a:rPr>
              <a:t>Не прошёл проверки — это четвёртая ступень: подпись стоит, участия нет.</a:t>
            </a:r>
          </a:p>
        </p:txBody>
      </p:sp>
      <p:sp>
        <p:nvSpPr>
          <p:cNvPr id="17" name="Rectangle 16"/>
          <p:cNvSpPr/>
          <p:nvPr/>
        </p:nvSpPr>
        <p:spPr>
          <a:xfrm>
            <a:off x="6091275" y="3397127"/>
            <a:ext cx="9144" cy="2484756"/>
          </a:xfrm>
          <a:prstGeom prst="rect">
            <a:avLst/>
          </a:prstGeom>
          <a:solidFill>
            <a:srgbClr val="D9E2EC"/>
          </a:solidFill>
          <a:ln>
            <a:noFill/>
          </a:ln>
          <a:effectLst/>
        </p:spPr>
        <p:txBody>
          <a:bodyPr rtlCol="0" anchor="ctr"/>
          <a:lstStyle/>
          <a:p>
            <a:pPr algn="ctr"/>
          </a:p>
        </p:txBody>
      </p:sp>
      <p:sp>
        <p:nvSpPr>
          <p:cNvPr id="18" name="Rectangle 17"/>
          <p:cNvSpPr/>
          <p:nvPr/>
        </p:nvSpPr>
        <p:spPr>
          <a:xfrm>
            <a:off x="502920" y="888090"/>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100" b="1" i="0">
                <a:solidFill>
                  <a:srgbClr val="21295C"/>
                </a:solidFill>
                <a:latin typeface="Arial"/>
              </a:rPr>
              <a:t>Удешевили чтение данных. Платят вниманием, навыком, подписью и арбитражем</a:t>
            </a:r>
          </a:p>
        </p:txBody>
      </p:sp>
      <p:sp>
        <p:nvSpPr>
          <p:cNvPr id="4" name="Rectangle 3"/>
          <p:cNvSpPr/>
          <p:nvPr/>
        </p:nvSpPr>
        <p:spPr>
          <a:xfrm>
            <a:off x="754380" y="2005998"/>
            <a:ext cx="6440119" cy="50292"/>
          </a:xfrm>
          <a:prstGeom prst="rect">
            <a:avLst/>
          </a:prstGeom>
          <a:solidFill>
            <a:srgbClr val="1C7293"/>
          </a:solidFill>
          <a:ln>
            <a:noFill/>
          </a:ln>
          <a:effectLst/>
        </p:spPr>
        <p:txBody>
          <a:bodyPr rtlCol="0" anchor="ctr"/>
          <a:lstStyle/>
          <a:p>
            <a:pPr algn="ctr"/>
          </a:p>
        </p:txBody>
      </p:sp>
      <p:sp>
        <p:nvSpPr>
          <p:cNvPr id="5" name="TextBox 4"/>
          <p:cNvSpPr txBox="1"/>
          <p:nvPr/>
        </p:nvSpPr>
        <p:spPr>
          <a:xfrm>
            <a:off x="388620" y="2092866"/>
            <a:ext cx="731520" cy="219456"/>
          </a:xfrm>
          <a:prstGeom prst="rect">
            <a:avLst/>
          </a:prstGeom>
          <a:noFill/>
        </p:spPr>
        <p:txBody>
          <a:bodyPr wrap="square" lIns="0" rIns="0" tIns="0" bIns="0" anchor="t">
            <a:spAutoFit/>
          </a:bodyPr>
          <a:lstStyle/>
          <a:p>
            <a:pPr algn="ctr">
              <a:lnSpc>
                <a:spcPct val="100000"/>
              </a:lnSpc>
            </a:pPr>
            <a:r>
              <a:rPr sz="1200" b="0" i="0">
                <a:solidFill>
                  <a:srgbClr val="556070"/>
                </a:solidFill>
                <a:latin typeface="Arial"/>
              </a:rPr>
              <a:t>70</a:t>
            </a:r>
          </a:p>
        </p:txBody>
      </p:sp>
      <p:sp>
        <p:nvSpPr>
          <p:cNvPr id="6" name="TextBox 5"/>
          <p:cNvSpPr txBox="1"/>
          <p:nvPr/>
        </p:nvSpPr>
        <p:spPr>
          <a:xfrm>
            <a:off x="6828739" y="2092866"/>
            <a:ext cx="731520" cy="219456"/>
          </a:xfrm>
          <a:prstGeom prst="rect">
            <a:avLst/>
          </a:prstGeom>
          <a:noFill/>
        </p:spPr>
        <p:txBody>
          <a:bodyPr wrap="square" lIns="0" rIns="0" tIns="0" bIns="0" anchor="t">
            <a:spAutoFit/>
          </a:bodyPr>
          <a:lstStyle/>
          <a:p>
            <a:pPr algn="ctr">
              <a:lnSpc>
                <a:spcPct val="100000"/>
              </a:lnSpc>
            </a:pPr>
            <a:r>
              <a:rPr sz="1200" b="0" i="0">
                <a:solidFill>
                  <a:srgbClr val="556070"/>
                </a:solidFill>
                <a:latin typeface="Arial"/>
              </a:rPr>
              <a:t>100</a:t>
            </a:r>
          </a:p>
        </p:txBody>
      </p:sp>
      <p:sp>
        <p:nvSpPr>
          <p:cNvPr id="7" name="Rectangle 6"/>
          <p:cNvSpPr/>
          <p:nvPr/>
        </p:nvSpPr>
        <p:spPr>
          <a:xfrm>
            <a:off x="836676" y="1925531"/>
            <a:ext cx="37033" cy="211226"/>
          </a:xfrm>
          <a:prstGeom prst="rect">
            <a:avLst/>
          </a:prstGeom>
          <a:solidFill>
            <a:srgbClr val="FFFFFF"/>
          </a:solidFill>
          <a:ln>
            <a:noFill/>
          </a:ln>
          <a:effectLst/>
        </p:spPr>
        <p:txBody>
          <a:bodyPr rtlCol="0" anchor="ctr"/>
          <a:lstStyle/>
          <a:p>
            <a:pPr algn="ctr"/>
          </a:p>
        </p:txBody>
      </p:sp>
      <p:sp>
        <p:nvSpPr>
          <p:cNvPr id="8" name="Rectangle 7"/>
          <p:cNvSpPr/>
          <p:nvPr/>
        </p:nvSpPr>
        <p:spPr>
          <a:xfrm>
            <a:off x="910742" y="1925531"/>
            <a:ext cx="37033" cy="211226"/>
          </a:xfrm>
          <a:prstGeom prst="rect">
            <a:avLst/>
          </a:prstGeom>
          <a:solidFill>
            <a:srgbClr val="FFFFFF"/>
          </a:solidFill>
          <a:ln>
            <a:noFill/>
          </a:ln>
          <a:effectLst/>
        </p:spPr>
        <p:txBody>
          <a:bodyPr rtlCol="0" anchor="ctr"/>
          <a:lstStyle/>
          <a:p>
            <a:pPr algn="ctr"/>
          </a:p>
        </p:txBody>
      </p:sp>
      <p:sp>
        <p:nvSpPr>
          <p:cNvPr id="9" name="Rectangle 8"/>
          <p:cNvSpPr/>
          <p:nvPr/>
        </p:nvSpPr>
        <p:spPr>
          <a:xfrm>
            <a:off x="5334640" y="1841406"/>
            <a:ext cx="50292" cy="164592"/>
          </a:xfrm>
          <a:prstGeom prst="rect">
            <a:avLst/>
          </a:prstGeom>
          <a:solidFill>
            <a:srgbClr val="065A82"/>
          </a:solidFill>
          <a:ln>
            <a:noFill/>
          </a:ln>
          <a:effectLst/>
        </p:spPr>
        <p:txBody>
          <a:bodyPr rtlCol="0" anchor="ctr"/>
          <a:lstStyle/>
          <a:p>
            <a:pPr algn="ctr"/>
          </a:p>
        </p:txBody>
      </p:sp>
      <p:sp>
        <p:nvSpPr>
          <p:cNvPr id="10" name="TextBox 9"/>
          <p:cNvSpPr txBox="1"/>
          <p:nvPr/>
        </p:nvSpPr>
        <p:spPr>
          <a:xfrm>
            <a:off x="4202612" y="1335024"/>
            <a:ext cx="2314346" cy="414942"/>
          </a:xfrm>
          <a:prstGeom prst="rect">
            <a:avLst/>
          </a:prstGeom>
          <a:noFill/>
        </p:spPr>
        <p:txBody>
          <a:bodyPr wrap="square" lIns="0" rIns="0" tIns="0" bIns="0" anchor="b">
            <a:spAutoFit/>
          </a:bodyPr>
          <a:lstStyle/>
          <a:p>
            <a:pPr algn="ctr">
              <a:lnSpc>
                <a:spcPct val="110000"/>
              </a:lnSpc>
            </a:pPr>
            <a:r>
              <a:rPr sz="1200" b="0" i="0">
                <a:solidFill>
                  <a:srgbClr val="21295C"/>
                </a:solidFill>
                <a:latin typeface="Arial"/>
              </a:rPr>
              <a:t>92</a:t>
            </a:r>
          </a:p>
          <a:p>
            <a:pPr algn="ctr">
              <a:lnSpc>
                <a:spcPct val="110000"/>
              </a:lnSpc>
            </a:pPr>
            <a:r>
              <a:rPr sz="1200" b="0" i="0">
                <a:solidFill>
                  <a:srgbClr val="21295C"/>
                </a:solidFill>
                <a:latin typeface="Arial"/>
              </a:rPr>
              <a:t>Модель одна</a:t>
            </a:r>
          </a:p>
        </p:txBody>
      </p:sp>
      <p:sp>
        <p:nvSpPr>
          <p:cNvPr id="11" name="Rectangle 10"/>
          <p:cNvSpPr/>
          <p:nvPr/>
        </p:nvSpPr>
        <p:spPr>
          <a:xfrm>
            <a:off x="1772320" y="1841406"/>
            <a:ext cx="50292" cy="164592"/>
          </a:xfrm>
          <a:prstGeom prst="rect">
            <a:avLst/>
          </a:prstGeom>
          <a:solidFill>
            <a:srgbClr val="065A82"/>
          </a:solidFill>
          <a:ln>
            <a:noFill/>
          </a:ln>
          <a:effectLst/>
        </p:spPr>
        <p:txBody>
          <a:bodyPr rtlCol="0" anchor="ctr"/>
          <a:lstStyle/>
          <a:p>
            <a:pPr algn="ctr"/>
          </a:p>
        </p:txBody>
      </p:sp>
      <p:sp>
        <p:nvSpPr>
          <p:cNvPr id="12" name="TextBox 11"/>
          <p:cNvSpPr txBox="1"/>
          <p:nvPr/>
        </p:nvSpPr>
        <p:spPr>
          <a:xfrm>
            <a:off x="640293" y="1335024"/>
            <a:ext cx="2314346" cy="414942"/>
          </a:xfrm>
          <a:prstGeom prst="rect">
            <a:avLst/>
          </a:prstGeom>
          <a:noFill/>
        </p:spPr>
        <p:txBody>
          <a:bodyPr wrap="square" lIns="0" rIns="0" tIns="0" bIns="0" anchor="b">
            <a:spAutoFit/>
          </a:bodyPr>
          <a:lstStyle/>
          <a:p>
            <a:pPr algn="ctr">
              <a:lnSpc>
                <a:spcPct val="110000"/>
              </a:lnSpc>
            </a:pPr>
            <a:r>
              <a:rPr sz="1200" b="0" i="0">
                <a:solidFill>
                  <a:srgbClr val="21295C"/>
                </a:solidFill>
                <a:latin typeface="Arial"/>
              </a:rPr>
              <a:t>74</a:t>
            </a:r>
          </a:p>
          <a:p>
            <a:pPr algn="ctr">
              <a:lnSpc>
                <a:spcPct val="110000"/>
              </a:lnSpc>
            </a:pPr>
            <a:r>
              <a:rPr sz="1200" b="0" i="0">
                <a:solidFill>
                  <a:srgbClr val="21295C"/>
                </a:solidFill>
                <a:latin typeface="Arial"/>
              </a:rPr>
              <a:t>Человек один</a:t>
            </a:r>
          </a:p>
        </p:txBody>
      </p:sp>
      <p:sp>
        <p:nvSpPr>
          <p:cNvPr id="13" name="Rectangle 12"/>
          <p:cNvSpPr/>
          <p:nvPr/>
        </p:nvSpPr>
        <p:spPr>
          <a:xfrm>
            <a:off x="2168133" y="2056290"/>
            <a:ext cx="50292" cy="164592"/>
          </a:xfrm>
          <a:prstGeom prst="rect">
            <a:avLst/>
          </a:prstGeom>
          <a:solidFill>
            <a:srgbClr val="F0AB00"/>
          </a:solidFill>
          <a:ln>
            <a:noFill/>
          </a:ln>
          <a:effectLst/>
        </p:spPr>
        <p:txBody>
          <a:bodyPr rtlCol="0" anchor="ctr"/>
          <a:lstStyle/>
          <a:p>
            <a:pPr algn="ctr"/>
          </a:p>
        </p:txBody>
      </p:sp>
      <p:sp>
        <p:nvSpPr>
          <p:cNvPr id="14" name="TextBox 13"/>
          <p:cNvSpPr txBox="1"/>
          <p:nvPr/>
        </p:nvSpPr>
        <p:spPr>
          <a:xfrm>
            <a:off x="1036106" y="2312322"/>
            <a:ext cx="2314346" cy="414942"/>
          </a:xfrm>
          <a:prstGeom prst="rect">
            <a:avLst/>
          </a:prstGeom>
          <a:noFill/>
        </p:spPr>
        <p:txBody>
          <a:bodyPr wrap="square" lIns="0" rIns="0" tIns="0" bIns="0" anchor="t">
            <a:spAutoFit/>
          </a:bodyPr>
          <a:lstStyle/>
          <a:p>
            <a:pPr algn="ctr">
              <a:lnSpc>
                <a:spcPct val="110000"/>
              </a:lnSpc>
            </a:pPr>
            <a:r>
              <a:rPr sz="1200" b="0" i="0">
                <a:solidFill>
                  <a:srgbClr val="21295C"/>
                </a:solidFill>
                <a:latin typeface="Arial"/>
              </a:rPr>
              <a:t>76</a:t>
            </a:r>
          </a:p>
          <a:p>
            <a:pPr algn="ctr">
              <a:lnSpc>
                <a:spcPct val="110000"/>
              </a:lnSpc>
            </a:pPr>
            <a:r>
              <a:rPr sz="1200" b="0" i="0">
                <a:solidFill>
                  <a:srgbClr val="21295C"/>
                </a:solidFill>
                <a:latin typeface="Arial"/>
              </a:rPr>
              <a:t>Человек поверх модели</a:t>
            </a:r>
          </a:p>
        </p:txBody>
      </p:sp>
      <p:sp>
        <p:nvSpPr>
          <p:cNvPr id="15" name="TextBox 14"/>
          <p:cNvSpPr txBox="1"/>
          <p:nvPr/>
        </p:nvSpPr>
        <p:spPr>
          <a:xfrm>
            <a:off x="502920" y="2836993"/>
            <a:ext cx="6943039" cy="219456"/>
          </a:xfrm>
          <a:prstGeom prst="rect">
            <a:avLst/>
          </a:prstGeom>
          <a:noFill/>
        </p:spPr>
        <p:txBody>
          <a:bodyPr wrap="square" lIns="0" rIns="0" tIns="0" bIns="0" anchor="t">
            <a:spAutoFit/>
          </a:bodyPr>
          <a:lstStyle/>
          <a:p>
            <a:pPr algn="ctr">
              <a:lnSpc>
                <a:spcPct val="100000"/>
              </a:lnSpc>
            </a:pPr>
            <a:r>
              <a:rPr sz="1200" b="1" i="0">
                <a:solidFill>
                  <a:srgbClr val="065A82"/>
                </a:solidFill>
                <a:latin typeface="Arial"/>
              </a:rPr>
              <a:t>медианный балл структурированного рассуждения, % от максимума · 50 врачей · виньетки</a:t>
            </a:r>
          </a:p>
        </p:txBody>
      </p:sp>
      <p:sp>
        <p:nvSpPr>
          <p:cNvPr id="16" name="TextBox 15"/>
          <p:cNvSpPr txBox="1"/>
          <p:nvPr/>
        </p:nvSpPr>
        <p:spPr>
          <a:xfrm>
            <a:off x="502920" y="3129601"/>
            <a:ext cx="6943039" cy="215015"/>
          </a:xfrm>
          <a:prstGeom prst="rect">
            <a:avLst/>
          </a:prstGeom>
          <a:noFill/>
        </p:spPr>
        <p:txBody>
          <a:bodyPr wrap="square" lIns="0" rIns="0" tIns="0" bIns="0" anchor="t">
            <a:spAutoFit/>
          </a:bodyPr>
          <a:lstStyle/>
          <a:p>
            <a:pPr algn="l">
              <a:lnSpc>
                <a:spcPct val="114000"/>
              </a:lnSpc>
            </a:pPr>
            <a:r>
              <a:rPr sz="1200" b="0" i="1">
                <a:solidFill>
                  <a:srgbClr val="1C7293"/>
                </a:solidFill>
                <a:latin typeface="Arial"/>
              </a:rPr>
              <a:t>разница пары с одиноким человеком — 2 пункта, незначима</a:t>
            </a:r>
          </a:p>
        </p:txBody>
      </p:sp>
      <p:sp>
        <p:nvSpPr>
          <p:cNvPr id="17" name="Rounded Rectangle 16"/>
          <p:cNvSpPr/>
          <p:nvPr/>
        </p:nvSpPr>
        <p:spPr>
          <a:xfrm>
            <a:off x="374904" y="3436056"/>
            <a:ext cx="11441887" cy="2708911"/>
          </a:xfrm>
          <a:prstGeom prst="roundRect">
            <a:avLst>
              <a:gd name="adj" fmla="val 11251"/>
            </a:avLst>
          </a:prstGeom>
          <a:solidFill>
            <a:srgbClr val="F4F7FA"/>
          </a:solidFill>
          <a:ln w="19050">
            <a:solidFill>
              <a:srgbClr val="1C7293"/>
            </a:solidFill>
          </a:ln>
          <a:effectLst/>
        </p:spPr>
        <p:txBody>
          <a:bodyPr rtlCol="0" anchor="ctr"/>
          <a:lstStyle/>
          <a:p>
            <a:pPr algn="ctr"/>
          </a:p>
        </p:txBody>
      </p:sp>
      <p:sp>
        <p:nvSpPr>
          <p:cNvPr id="18" name="TextBox 17"/>
          <p:cNvSpPr txBox="1"/>
          <p:nvPr/>
        </p:nvSpPr>
        <p:spPr>
          <a:xfrm>
            <a:off x="539496" y="3527496"/>
            <a:ext cx="11112703" cy="2708711"/>
          </a:xfrm>
          <a:prstGeom prst="rect">
            <a:avLst/>
          </a:prstGeom>
          <a:noFill/>
        </p:spPr>
        <p:txBody>
          <a:bodyPr wrap="square" lIns="0" rIns="0" tIns="0" bIns="0" anchor="t">
            <a:spAutoFit/>
          </a:bodyPr>
          <a:lstStyle/>
          <a:p>
            <a:pPr algn="l">
              <a:lnSpc>
                <a:spcPct val="126000"/>
              </a:lnSpc>
            </a:pPr>
            <a:r>
              <a:rPr sz="1200" b="0" i="0">
                <a:solidFill>
                  <a:srgbClr val="21295C"/>
                </a:solidFill>
                <a:latin typeface="Arial"/>
              </a:rPr>
              <a:t>Удешевление предъявлено: </a:t>
            </a:r>
            <a:r>
              <a:rPr sz="1200" b="1" i="0">
                <a:solidFill>
                  <a:srgbClr val="21295C"/>
                </a:solidFill>
                <a:latin typeface="Arial"/>
              </a:rPr>
              <a:t>три секунды и ноль рублей против 48 секунд человеческого чтения.</a:t>
            </a:r>
            <a:r>
              <a:rPr sz="1200" b="0" i="0">
                <a:solidFill>
                  <a:srgbClr val="21295C"/>
                </a:solidFill>
                <a:latin typeface="Arial"/>
              </a:rPr>
              <a:t> </a:t>
            </a:r>
            <a:r>
              <a:rPr sz="1200" b="0" i="1">
                <a:solidFill>
                  <a:srgbClr val="21295C"/>
                </a:solidFill>
                <a:latin typeface="Arial"/>
              </a:rPr>
              <a:t>Единицы разные — сравнение на разряд.</a:t>
            </a:r>
          </a:p>
          <a:p>
            <a:pPr algn="l">
              <a:lnSpc>
                <a:spcPct val="126000"/>
              </a:lnSpc>
              <a:spcBef>
                <a:spcPts val="700"/>
              </a:spcBef>
            </a:pPr>
            <a:r>
              <a:rPr sz="1200" b="0" i="0">
                <a:solidFill>
                  <a:srgbClr val="21295C"/>
                </a:solidFill>
                <a:latin typeface="Arial"/>
              </a:rPr>
              <a:t/>
            </a:r>
            <a:r>
              <a:rPr sz="1200" b="1" i="0">
                <a:solidFill>
                  <a:srgbClr val="21295C"/>
                </a:solidFill>
                <a:latin typeface="Arial"/>
              </a:rPr>
              <a:t>Как работали.</a:t>
            </a:r>
            <a:r>
              <a:rPr sz="1200" b="0" i="0">
                <a:solidFill>
                  <a:srgbClr val="21295C"/>
                </a:solidFill>
                <a:latin typeface="Arial"/>
              </a:rPr>
              <a:t> Подсказка приходила в готовом виде, и никто не учил врачей, как её спрашивать и когда ей не верить. </a:t>
            </a:r>
            <a:r>
              <a:rPr sz="1200" b="1" i="0">
                <a:solidFill>
                  <a:srgbClr val="21295C"/>
                </a:solidFill>
                <a:latin typeface="Arial"/>
              </a:rPr>
              <a:t>Инструмент выдали, процедуру работы с ним — нет.</a:t>
            </a:r>
          </a:p>
          <a:p>
            <a:pPr algn="l">
              <a:lnSpc>
                <a:spcPct val="126000"/>
              </a:lnSpc>
              <a:spcBef>
                <a:spcPts val="700"/>
              </a:spcBef>
            </a:pPr>
            <a:r>
              <a:rPr sz="1200" b="0" i="0">
                <a:solidFill>
                  <a:srgbClr val="21295C"/>
                </a:solidFill>
                <a:latin typeface="Arial"/>
              </a:rPr>
              <a:t/>
            </a:r>
            <a:r>
              <a:rPr sz="1200" b="1" i="0">
                <a:solidFill>
                  <a:srgbClr val="21295C"/>
                </a:solidFill>
                <a:latin typeface="Arial"/>
              </a:rPr>
              <a:t>Переезд вы узнаете без перевода:</a:t>
            </a:r>
            <a:r>
              <a:rPr sz="1200" b="0" i="0">
                <a:solidFill>
                  <a:srgbClr val="21295C"/>
                </a:solidFill>
                <a:latin typeface="Arial"/>
              </a:rPr>
              <a:t> младшие пишут с моделью больше, проверять не успевают старшие. </a:t>
            </a:r>
            <a:r>
              <a:rPr sz="1200" b="0" i="1">
                <a:solidFill>
                  <a:srgbClr val="21295C"/>
                </a:solidFill>
                <a:latin typeface="Arial"/>
              </a:rPr>
              <a:t>Этого никто не измерял.</a:t>
            </a:r>
          </a:p>
          <a:p>
            <a:pPr algn="l">
              <a:lnSpc>
                <a:spcPct val="126000"/>
              </a:lnSpc>
              <a:spcBef>
                <a:spcPts val="700"/>
              </a:spcBef>
            </a:pPr>
            <a:r>
              <a:rPr sz="1200" b="0" i="0">
                <a:solidFill>
                  <a:srgbClr val="21295C"/>
                </a:solidFill>
                <a:latin typeface="Arial"/>
              </a:rPr>
              <a:t/>
            </a:r>
            <a:r>
              <a:rPr sz="1200" b="0" i="0">
                <a:solidFill>
                  <a:srgbClr val="21295C"/>
                </a:solidFill>
                <a:latin typeface="Arial"/>
              </a:rPr>
              <a:t>Своё здесь — </a:t>
            </a:r>
            <a:r>
              <a:rPr sz="1200" b="1" i="0">
                <a:solidFill>
                  <a:srgbClr val="21295C"/>
                </a:solidFill>
                <a:latin typeface="Arial"/>
              </a:rPr>
              <a:t>платят шагом, который делает человек.</a:t>
            </a:r>
          </a:p>
          <a:p>
            <a:pPr algn="l">
              <a:lnSpc>
                <a:spcPct val="126000"/>
              </a:lnSpc>
              <a:spcBef>
                <a:spcPts val="700"/>
              </a:spcBef>
            </a:pPr>
            <a:r>
              <a:rPr sz="1200" b="0" i="0">
                <a:solidFill>
                  <a:srgbClr val="21295C"/>
                </a:solidFill>
                <a:latin typeface="Arial"/>
              </a:rPr>
              <a:t/>
            </a:r>
            <a:r>
              <a:rPr sz="1200" b="1" i="0">
                <a:solidFill>
                  <a:srgbClr val="21295C"/>
                </a:solidFill>
                <a:latin typeface="Arial"/>
              </a:rPr>
              <a:t>Чем платят:</a:t>
            </a:r>
            <a:r>
              <a:rPr sz="1200" b="0" i="0">
                <a:solidFill>
                  <a:srgbClr val="21295C"/>
                </a:solidFill>
                <a:latin typeface="Arial"/>
              </a:rPr>
              <a:t> внимание — смотрит после модели · навык — перестаёт делать сам · подпись — ставят не читая · </a:t>
            </a:r>
            <a:r>
              <a:rPr sz="1200" b="1" i="0">
                <a:solidFill>
                  <a:srgbClr val="21295C"/>
                </a:solidFill>
                <a:latin typeface="Arial"/>
              </a:rPr>
              <a:t>арбитраж — дороже прежнего чтения</a:t>
            </a:r>
            <a:r>
              <a:rPr sz="1200" b="0" i="0">
                <a:solidFill>
                  <a:srgbClr val="21295C"/>
                </a:solidFill>
                <a:latin typeface="Arial"/>
              </a:rPr>
              <a:t>.</a:t>
            </a:r>
          </a:p>
          <a:p>
            <a:pPr algn="l">
              <a:lnSpc>
                <a:spcPct val="126000"/>
              </a:lnSpc>
              <a:spcBef>
                <a:spcPts val="700"/>
              </a:spcBef>
            </a:pPr>
            <a:r>
              <a:rPr sz="1200" b="0" i="0">
                <a:solidFill>
                  <a:srgbClr val="21295C"/>
                </a:solidFill>
                <a:latin typeface="Arial"/>
              </a:rPr>
              <a:t/>
            </a:r>
            <a:r>
              <a:rPr sz="1200" b="1" i="0">
                <a:solidFill>
                  <a:srgbClr val="21295C"/>
                </a:solidFill>
                <a:latin typeface="Arial"/>
              </a:rPr>
              <a:t>Путь, ступень, чем платят — так читается каждый пример.</a:t>
            </a:r>
          </a:p>
          <a:p>
            <a:pPr algn="l">
              <a:lnSpc>
                <a:spcPct val="126000"/>
              </a:lnSpc>
              <a:spcBef>
                <a:spcPts val="700"/>
              </a:spcBef>
            </a:pPr>
            <a:r>
              <a:rPr sz="1200" b="0" i="0">
                <a:solidFill>
                  <a:srgbClr val="21295C"/>
                </a:solidFill>
                <a:latin typeface="Arial"/>
              </a:rPr>
              <a:t/>
            </a:r>
            <a:r>
              <a:rPr sz="1200" b="1" i="0">
                <a:solidFill>
                  <a:srgbClr val="21295C"/>
                </a:solidFill>
                <a:latin typeface="Arial"/>
              </a:rPr>
              <a:t>Модель посмотрела первой. Что теперь делает человек — и кто это измерял?</a:t>
            </a:r>
          </a:p>
        </p:txBody>
      </p:sp>
      <p:sp>
        <p:nvSpPr>
          <p:cNvPr id="19" name="Rounded Rectangle 18"/>
          <p:cNvSpPr/>
          <p:nvPr/>
        </p:nvSpPr>
        <p:spPr>
          <a:xfrm>
            <a:off x="7756855" y="1335024"/>
            <a:ext cx="3931920" cy="1823085"/>
          </a:xfrm>
          <a:prstGeom prst="roundRect">
            <a:avLst>
              <a:gd name="adj" fmla="val 16718"/>
            </a:avLst>
          </a:prstGeom>
          <a:solidFill>
            <a:srgbClr val="F4F7FA"/>
          </a:solidFill>
          <a:ln w="19050">
            <a:solidFill>
              <a:srgbClr val="1C7293"/>
            </a:solidFill>
          </a:ln>
          <a:effectLst/>
        </p:spPr>
        <p:txBody>
          <a:bodyPr rtlCol="0" anchor="ctr"/>
          <a:lstStyle/>
          <a:p>
            <a:pPr algn="ctr"/>
          </a:p>
        </p:txBody>
      </p:sp>
      <p:pic>
        <p:nvPicPr>
          <p:cNvPr id="20" name="Picture 19" descr="s05-podpis-pod-soglasiem.jpg"/>
          <p:cNvPicPr>
            <a:picLocks noChangeAspect="1"/>
          </p:cNvPicPr>
          <p:nvPr/>
        </p:nvPicPr>
        <p:blipFill>
          <a:blip r:embed="rId2"/>
          <a:stretch>
            <a:fillRect/>
          </a:stretch>
        </p:blipFill>
        <p:spPr>
          <a:xfrm>
            <a:off x="7894015" y="1472184"/>
            <a:ext cx="3657600" cy="1548765"/>
          </a:xfrm>
          <a:prstGeom prst="rect">
            <a:avLst/>
          </a:prstGeom>
        </p:spPr>
      </p:pic>
      <p:sp>
        <p:nvSpPr>
          <p:cNvPr id="21" name="Rectangle 20"/>
          <p:cNvSpPr/>
          <p:nvPr/>
        </p:nvSpPr>
        <p:spPr>
          <a:xfrm>
            <a:off x="502920" y="786241"/>
            <a:ext cx="960120" cy="50292"/>
          </a:xfrm>
          <a:prstGeom prst="rect">
            <a:avLst/>
          </a:prstGeom>
          <a:solidFill>
            <a:srgbClr val="F0AB00"/>
          </a:solidFill>
          <a:ln>
            <a:noFill/>
          </a:ln>
          <a:effectLst/>
        </p:spPr>
        <p:txBody>
          <a:bodyPr rtlCol="0" anchor="ctr"/>
          <a:lstStyle/>
          <a:p>
            <a:pPr algn="ctr"/>
          </a:p>
        </p:txBody>
      </p:sp>
      <p:sp>
        <p:nvSpPr>
          <p:cNvPr id="22" name="TextBox 21"/>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3"/>
              </a:rPr>
              <a:t>Goh и соавт., JAMA Network Open 2024</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Девять форм переезда</a:t>
            </a:r>
          </a:p>
        </p:txBody>
      </p:sp>
      <p:sp>
        <p:nvSpPr>
          <p:cNvPr id="4" name="Rounded Rectangle 3"/>
          <p:cNvSpPr/>
          <p:nvPr/>
        </p:nvSpPr>
        <p:spPr>
          <a:xfrm>
            <a:off x="374904" y="1243584"/>
            <a:ext cx="11441887" cy="4992624"/>
          </a:xfrm>
          <a:prstGeom prst="roundRect">
            <a:avLst>
              <a:gd name="adj" fmla="val 6105"/>
            </a:avLst>
          </a:prstGeom>
          <a:solidFill>
            <a:srgbClr val="F4F7FA"/>
          </a:solidFill>
          <a:ln w="19050">
            <a:solidFill>
              <a:srgbClr val="1C7293"/>
            </a:solidFill>
          </a:ln>
          <a:effectLst/>
        </p:spPr>
        <p:txBody>
          <a:bodyPr rtlCol="0" anchor="ctr"/>
          <a:lstStyle/>
          <a:p>
            <a:pPr algn="ctr"/>
          </a:p>
        </p:txBody>
      </p:sp>
      <p:sp>
        <p:nvSpPr>
          <p:cNvPr id="5" name="Rectangle 4"/>
          <p:cNvSpPr/>
          <p:nvPr/>
        </p:nvSpPr>
        <p:spPr>
          <a:xfrm>
            <a:off x="539496" y="1335024"/>
            <a:ext cx="1038420" cy="438076"/>
          </a:xfrm>
          <a:prstGeom prst="rect">
            <a:avLst/>
          </a:prstGeom>
          <a:solidFill>
            <a:srgbClr val="065A82"/>
          </a:solidFill>
          <a:ln>
            <a:noFill/>
          </a:ln>
          <a:effectLst/>
        </p:spPr>
        <p:txBody>
          <a:bodyPr rtlCol="0" anchor="ctr"/>
          <a:lstStyle/>
          <a:p>
            <a:pPr algn="ctr"/>
          </a:p>
        </p:txBody>
      </p:sp>
      <p:sp>
        <p:nvSpPr>
          <p:cNvPr id="6" name="TextBox 5"/>
          <p:cNvSpPr txBox="1"/>
          <p:nvPr/>
        </p:nvSpPr>
        <p:spPr>
          <a:xfrm>
            <a:off x="685800" y="1335024"/>
            <a:ext cx="745812" cy="438076"/>
          </a:xfrm>
          <a:prstGeom prst="rect">
            <a:avLst/>
          </a:prstGeom>
          <a:noFill/>
        </p:spPr>
        <p:txBody>
          <a:bodyPr wrap="square" lIns="0" rIns="0" tIns="0" bIns="0" anchor="ctr">
            <a:spAutoFit/>
          </a:bodyPr>
          <a:lstStyle/>
          <a:p>
            <a:pPr algn="l">
              <a:lnSpc>
                <a:spcPct val="116000"/>
              </a:lnSpc>
            </a:pPr>
            <a:r>
              <a:rPr sz="1500" b="1" i="0">
                <a:solidFill>
                  <a:srgbClr val="FFFFFF"/>
                </a:solidFill>
                <a:latin typeface="Arial"/>
              </a:rPr>
              <a:t/>
            </a:r>
          </a:p>
        </p:txBody>
      </p:sp>
      <p:sp>
        <p:nvSpPr>
          <p:cNvPr id="7" name="Rectangle 6"/>
          <p:cNvSpPr/>
          <p:nvPr/>
        </p:nvSpPr>
        <p:spPr>
          <a:xfrm>
            <a:off x="1577916" y="1335024"/>
            <a:ext cx="6342740" cy="438076"/>
          </a:xfrm>
          <a:prstGeom prst="rect">
            <a:avLst/>
          </a:prstGeom>
          <a:solidFill>
            <a:srgbClr val="065A82"/>
          </a:solidFill>
          <a:ln>
            <a:noFill/>
          </a:ln>
          <a:effectLst/>
        </p:spPr>
        <p:txBody>
          <a:bodyPr rtlCol="0" anchor="ctr"/>
          <a:lstStyle/>
          <a:p>
            <a:pPr algn="ctr"/>
          </a:p>
        </p:txBody>
      </p:sp>
      <p:sp>
        <p:nvSpPr>
          <p:cNvPr id="8" name="TextBox 7"/>
          <p:cNvSpPr txBox="1"/>
          <p:nvPr/>
        </p:nvSpPr>
        <p:spPr>
          <a:xfrm>
            <a:off x="1724220" y="1335024"/>
            <a:ext cx="6050132" cy="438076"/>
          </a:xfrm>
          <a:prstGeom prst="rect">
            <a:avLst/>
          </a:prstGeom>
          <a:noFill/>
        </p:spPr>
        <p:txBody>
          <a:bodyPr wrap="square" lIns="0" rIns="0" tIns="0" bIns="0" anchor="ctr">
            <a:spAutoFit/>
          </a:bodyPr>
          <a:lstStyle/>
          <a:p>
            <a:pPr algn="l">
              <a:lnSpc>
                <a:spcPct val="116000"/>
              </a:lnSpc>
            </a:pPr>
            <a:r>
              <a:rPr sz="1500" b="1" i="0">
                <a:solidFill>
                  <a:srgbClr val="FFFFFF"/>
                </a:solidFill>
                <a:latin typeface="Arial"/>
              </a:rPr>
              <a:t>форма</a:t>
            </a:r>
          </a:p>
        </p:txBody>
      </p:sp>
      <p:sp>
        <p:nvSpPr>
          <p:cNvPr id="9" name="Rectangle 8"/>
          <p:cNvSpPr/>
          <p:nvPr/>
        </p:nvSpPr>
        <p:spPr>
          <a:xfrm>
            <a:off x="7920657" y="1335024"/>
            <a:ext cx="3731542" cy="438076"/>
          </a:xfrm>
          <a:prstGeom prst="rect">
            <a:avLst/>
          </a:prstGeom>
          <a:solidFill>
            <a:srgbClr val="065A82"/>
          </a:solidFill>
          <a:ln>
            <a:noFill/>
          </a:ln>
          <a:effectLst/>
        </p:spPr>
        <p:txBody>
          <a:bodyPr rtlCol="0" anchor="ctr"/>
          <a:lstStyle/>
          <a:p>
            <a:pPr algn="ctr"/>
          </a:p>
        </p:txBody>
      </p:sp>
      <p:sp>
        <p:nvSpPr>
          <p:cNvPr id="10" name="TextBox 9"/>
          <p:cNvSpPr txBox="1"/>
          <p:nvPr/>
        </p:nvSpPr>
        <p:spPr>
          <a:xfrm>
            <a:off x="8066961" y="1335024"/>
            <a:ext cx="3438934" cy="438076"/>
          </a:xfrm>
          <a:prstGeom prst="rect">
            <a:avLst/>
          </a:prstGeom>
          <a:noFill/>
        </p:spPr>
        <p:txBody>
          <a:bodyPr wrap="square" lIns="0" rIns="0" tIns="0" bIns="0" anchor="ctr">
            <a:spAutoFit/>
          </a:bodyPr>
          <a:lstStyle/>
          <a:p>
            <a:pPr algn="l">
              <a:lnSpc>
                <a:spcPct val="116000"/>
              </a:lnSpc>
            </a:pPr>
            <a:r>
              <a:rPr sz="1500" b="1" i="0">
                <a:solidFill>
                  <a:srgbClr val="FFFFFF"/>
                </a:solidFill>
                <a:latin typeface="Arial"/>
              </a:rPr>
              <a:t>чем узнаётся</a:t>
            </a:r>
          </a:p>
        </p:txBody>
      </p:sp>
      <p:sp>
        <p:nvSpPr>
          <p:cNvPr id="11" name="Rectangle 10"/>
          <p:cNvSpPr/>
          <p:nvPr/>
        </p:nvSpPr>
        <p:spPr>
          <a:xfrm>
            <a:off x="539496" y="1773100"/>
            <a:ext cx="1038420" cy="438076"/>
          </a:xfrm>
          <a:prstGeom prst="rect">
            <a:avLst/>
          </a:prstGeom>
          <a:solidFill>
            <a:srgbClr val="FFFFFF"/>
          </a:solidFill>
          <a:ln w="12700">
            <a:solidFill>
              <a:srgbClr val="D9E2EC"/>
            </a:solidFill>
          </a:ln>
          <a:effectLst/>
        </p:spPr>
        <p:txBody>
          <a:bodyPr rtlCol="0" anchor="ctr"/>
          <a:lstStyle/>
          <a:p>
            <a:pPr algn="ctr"/>
          </a:p>
        </p:txBody>
      </p:sp>
      <p:sp>
        <p:nvSpPr>
          <p:cNvPr id="12" name="TextBox 11"/>
          <p:cNvSpPr txBox="1"/>
          <p:nvPr/>
        </p:nvSpPr>
        <p:spPr>
          <a:xfrm>
            <a:off x="685800" y="1773100"/>
            <a:ext cx="745812" cy="438076"/>
          </a:xfrm>
          <a:prstGeom prst="rect">
            <a:avLst/>
          </a:prstGeom>
          <a:noFill/>
        </p:spPr>
        <p:txBody>
          <a:bodyPr wrap="square" lIns="0" rIns="0" tIns="0" bIns="0" anchor="ctr">
            <a:spAutoFit/>
          </a:bodyPr>
          <a:lstStyle/>
          <a:p>
            <a:pPr algn="l">
              <a:lnSpc>
                <a:spcPct val="116000"/>
              </a:lnSpc>
            </a:pPr>
            <a:r>
              <a:rPr sz="1500" b="1" i="0">
                <a:solidFill>
                  <a:srgbClr val="21295C"/>
                </a:solidFill>
                <a:latin typeface="Arial"/>
              </a:rPr>
              <a:t>1</a:t>
            </a:r>
          </a:p>
        </p:txBody>
      </p:sp>
      <p:sp>
        <p:nvSpPr>
          <p:cNvPr id="13" name="Rectangle 12"/>
          <p:cNvSpPr/>
          <p:nvPr/>
        </p:nvSpPr>
        <p:spPr>
          <a:xfrm>
            <a:off x="1577916" y="1773100"/>
            <a:ext cx="6342740" cy="438076"/>
          </a:xfrm>
          <a:prstGeom prst="rect">
            <a:avLst/>
          </a:prstGeom>
          <a:solidFill>
            <a:srgbClr val="FFFFFF"/>
          </a:solidFill>
          <a:ln w="12700">
            <a:solidFill>
              <a:srgbClr val="D9E2EC"/>
            </a:solidFill>
          </a:ln>
          <a:effectLst/>
        </p:spPr>
        <p:txBody>
          <a:bodyPr rtlCol="0" anchor="ctr"/>
          <a:lstStyle/>
          <a:p>
            <a:pPr algn="ctr"/>
          </a:p>
        </p:txBody>
      </p:sp>
      <p:sp>
        <p:nvSpPr>
          <p:cNvPr id="14" name="TextBox 13"/>
          <p:cNvSpPr txBox="1"/>
          <p:nvPr/>
        </p:nvSpPr>
        <p:spPr>
          <a:xfrm>
            <a:off x="1724220" y="1773100"/>
            <a:ext cx="6050132" cy="438076"/>
          </a:xfrm>
          <a:prstGeom prst="rect">
            <a:avLst/>
          </a:prstGeom>
          <a:noFill/>
        </p:spPr>
        <p:txBody>
          <a:bodyPr wrap="square" lIns="0" rIns="0" tIns="0" bIns="0" anchor="ctr">
            <a:spAutoFit/>
          </a:bodyPr>
          <a:lstStyle/>
          <a:p>
            <a:pPr algn="l">
              <a:lnSpc>
                <a:spcPct val="116000"/>
              </a:lnSpc>
            </a:pPr>
            <a:r>
              <a:rPr sz="1500" b="0" i="0">
                <a:solidFill>
                  <a:srgbClr val="21295C"/>
                </a:solidFill>
                <a:latin typeface="Arial"/>
              </a:rPr>
              <a:t>нагрузка переехала на другой шаг</a:t>
            </a:r>
          </a:p>
        </p:txBody>
      </p:sp>
      <p:sp>
        <p:nvSpPr>
          <p:cNvPr id="15" name="Rectangle 14"/>
          <p:cNvSpPr/>
          <p:nvPr/>
        </p:nvSpPr>
        <p:spPr>
          <a:xfrm>
            <a:off x="7920657" y="1773100"/>
            <a:ext cx="3731542" cy="438076"/>
          </a:xfrm>
          <a:prstGeom prst="rect">
            <a:avLst/>
          </a:prstGeom>
          <a:solidFill>
            <a:srgbClr val="FFFFFF"/>
          </a:solidFill>
          <a:ln w="12700">
            <a:solidFill>
              <a:srgbClr val="D9E2EC"/>
            </a:solidFill>
          </a:ln>
          <a:effectLst/>
        </p:spPr>
        <p:txBody>
          <a:bodyPr rtlCol="0" anchor="ctr"/>
          <a:lstStyle/>
          <a:p>
            <a:pPr algn="ctr"/>
          </a:p>
        </p:txBody>
      </p:sp>
      <p:sp>
        <p:nvSpPr>
          <p:cNvPr id="16" name="TextBox 15"/>
          <p:cNvSpPr txBox="1"/>
          <p:nvPr/>
        </p:nvSpPr>
        <p:spPr>
          <a:xfrm>
            <a:off x="8066961" y="1773100"/>
            <a:ext cx="3438934" cy="438076"/>
          </a:xfrm>
          <a:prstGeom prst="rect">
            <a:avLst/>
          </a:prstGeom>
          <a:noFill/>
        </p:spPr>
        <p:txBody>
          <a:bodyPr wrap="square" lIns="0" rIns="0" tIns="0" bIns="0" anchor="ctr">
            <a:spAutoFit/>
          </a:bodyPr>
          <a:lstStyle/>
          <a:p>
            <a:pPr algn="l">
              <a:lnSpc>
                <a:spcPct val="116000"/>
              </a:lnSpc>
            </a:pPr>
            <a:r>
              <a:rPr sz="1500" b="0" i="0">
                <a:solidFill>
                  <a:srgbClr val="21295C"/>
                </a:solidFill>
                <a:latin typeface="Arial"/>
              </a:rPr>
              <a:t>место</a:t>
            </a:r>
          </a:p>
        </p:txBody>
      </p:sp>
      <p:sp>
        <p:nvSpPr>
          <p:cNvPr id="17" name="Rectangle 16"/>
          <p:cNvSpPr/>
          <p:nvPr/>
        </p:nvSpPr>
        <p:spPr>
          <a:xfrm>
            <a:off x="539496" y="2211177"/>
            <a:ext cx="1038420" cy="438076"/>
          </a:xfrm>
          <a:prstGeom prst="rect">
            <a:avLst/>
          </a:prstGeom>
          <a:solidFill>
            <a:srgbClr val="F4F7FA"/>
          </a:solidFill>
          <a:ln w="12700">
            <a:solidFill>
              <a:srgbClr val="D9E2EC"/>
            </a:solidFill>
          </a:ln>
          <a:effectLst/>
        </p:spPr>
        <p:txBody>
          <a:bodyPr rtlCol="0" anchor="ctr"/>
          <a:lstStyle/>
          <a:p>
            <a:pPr algn="ctr"/>
          </a:p>
        </p:txBody>
      </p:sp>
      <p:sp>
        <p:nvSpPr>
          <p:cNvPr id="18" name="TextBox 17"/>
          <p:cNvSpPr txBox="1"/>
          <p:nvPr/>
        </p:nvSpPr>
        <p:spPr>
          <a:xfrm>
            <a:off x="685800" y="2211177"/>
            <a:ext cx="745812" cy="438076"/>
          </a:xfrm>
          <a:prstGeom prst="rect">
            <a:avLst/>
          </a:prstGeom>
          <a:noFill/>
        </p:spPr>
        <p:txBody>
          <a:bodyPr wrap="square" lIns="0" rIns="0" tIns="0" bIns="0" anchor="ctr">
            <a:spAutoFit/>
          </a:bodyPr>
          <a:lstStyle/>
          <a:p>
            <a:pPr algn="l">
              <a:lnSpc>
                <a:spcPct val="116000"/>
              </a:lnSpc>
            </a:pPr>
            <a:r>
              <a:rPr sz="1500" b="1" i="0">
                <a:solidFill>
                  <a:srgbClr val="21295C"/>
                </a:solidFill>
                <a:latin typeface="Arial"/>
              </a:rPr>
              <a:t>2</a:t>
            </a:r>
          </a:p>
        </p:txBody>
      </p:sp>
      <p:sp>
        <p:nvSpPr>
          <p:cNvPr id="19" name="Rectangle 18"/>
          <p:cNvSpPr/>
          <p:nvPr/>
        </p:nvSpPr>
        <p:spPr>
          <a:xfrm>
            <a:off x="1577916" y="2211177"/>
            <a:ext cx="6342740" cy="438076"/>
          </a:xfrm>
          <a:prstGeom prst="rect">
            <a:avLst/>
          </a:prstGeom>
          <a:solidFill>
            <a:srgbClr val="F4F7FA"/>
          </a:solidFill>
          <a:ln w="12700">
            <a:solidFill>
              <a:srgbClr val="D9E2EC"/>
            </a:solidFill>
          </a:ln>
          <a:effectLst/>
        </p:spPr>
        <p:txBody>
          <a:bodyPr rtlCol="0" anchor="ctr"/>
          <a:lstStyle/>
          <a:p>
            <a:pPr algn="ctr"/>
          </a:p>
        </p:txBody>
      </p:sp>
      <p:sp>
        <p:nvSpPr>
          <p:cNvPr id="20" name="TextBox 19"/>
          <p:cNvSpPr txBox="1"/>
          <p:nvPr/>
        </p:nvSpPr>
        <p:spPr>
          <a:xfrm>
            <a:off x="1724220" y="2211177"/>
            <a:ext cx="6050132" cy="438076"/>
          </a:xfrm>
          <a:prstGeom prst="rect">
            <a:avLst/>
          </a:prstGeom>
          <a:noFill/>
        </p:spPr>
        <p:txBody>
          <a:bodyPr wrap="square" lIns="0" rIns="0" tIns="0" bIns="0" anchor="ctr">
            <a:spAutoFit/>
          </a:bodyPr>
          <a:lstStyle/>
          <a:p>
            <a:pPr algn="l">
              <a:lnSpc>
                <a:spcPct val="116000"/>
              </a:lnSpc>
            </a:pPr>
            <a:r>
              <a:rPr sz="1500" b="0" i="0">
                <a:solidFill>
                  <a:srgbClr val="21295C"/>
                </a:solidFill>
                <a:latin typeface="Arial"/>
              </a:rPr>
              <a:t>шаг исчез совсем</a:t>
            </a:r>
          </a:p>
        </p:txBody>
      </p:sp>
      <p:sp>
        <p:nvSpPr>
          <p:cNvPr id="21" name="Rectangle 20"/>
          <p:cNvSpPr/>
          <p:nvPr/>
        </p:nvSpPr>
        <p:spPr>
          <a:xfrm>
            <a:off x="7920657" y="2211177"/>
            <a:ext cx="3731542" cy="438076"/>
          </a:xfrm>
          <a:prstGeom prst="rect">
            <a:avLst/>
          </a:prstGeom>
          <a:solidFill>
            <a:srgbClr val="F4F7FA"/>
          </a:solidFill>
          <a:ln w="12700">
            <a:solidFill>
              <a:srgbClr val="D9E2EC"/>
            </a:solidFill>
          </a:ln>
          <a:effectLst/>
        </p:spPr>
        <p:txBody>
          <a:bodyPr rtlCol="0" anchor="ctr"/>
          <a:lstStyle/>
          <a:p>
            <a:pPr algn="ctr"/>
          </a:p>
        </p:txBody>
      </p:sp>
      <p:sp>
        <p:nvSpPr>
          <p:cNvPr id="22" name="TextBox 21"/>
          <p:cNvSpPr txBox="1"/>
          <p:nvPr/>
        </p:nvSpPr>
        <p:spPr>
          <a:xfrm>
            <a:off x="8066961" y="2211177"/>
            <a:ext cx="3438934" cy="438076"/>
          </a:xfrm>
          <a:prstGeom prst="rect">
            <a:avLst/>
          </a:prstGeom>
          <a:noFill/>
        </p:spPr>
        <p:txBody>
          <a:bodyPr wrap="square" lIns="0" rIns="0" tIns="0" bIns="0" anchor="ctr">
            <a:spAutoFit/>
          </a:bodyPr>
          <a:lstStyle/>
          <a:p>
            <a:pPr algn="l">
              <a:lnSpc>
                <a:spcPct val="116000"/>
              </a:lnSpc>
            </a:pPr>
            <a:r>
              <a:rPr sz="1500" b="0" i="0">
                <a:solidFill>
                  <a:srgbClr val="21295C"/>
                </a:solidFill>
                <a:latin typeface="Arial"/>
              </a:rPr>
              <a:t>работы нет</a:t>
            </a:r>
          </a:p>
        </p:txBody>
      </p:sp>
      <p:sp>
        <p:nvSpPr>
          <p:cNvPr id="23" name="Rectangle 22"/>
          <p:cNvSpPr/>
          <p:nvPr/>
        </p:nvSpPr>
        <p:spPr>
          <a:xfrm>
            <a:off x="539496" y="2649254"/>
            <a:ext cx="1038420" cy="438076"/>
          </a:xfrm>
          <a:prstGeom prst="rect">
            <a:avLst/>
          </a:prstGeom>
          <a:solidFill>
            <a:srgbClr val="FFFFFF"/>
          </a:solidFill>
          <a:ln w="12700">
            <a:solidFill>
              <a:srgbClr val="D9E2EC"/>
            </a:solidFill>
          </a:ln>
          <a:effectLst/>
        </p:spPr>
        <p:txBody>
          <a:bodyPr rtlCol="0" anchor="ctr"/>
          <a:lstStyle/>
          <a:p>
            <a:pPr algn="ctr"/>
          </a:p>
        </p:txBody>
      </p:sp>
      <p:sp>
        <p:nvSpPr>
          <p:cNvPr id="24" name="TextBox 23"/>
          <p:cNvSpPr txBox="1"/>
          <p:nvPr/>
        </p:nvSpPr>
        <p:spPr>
          <a:xfrm>
            <a:off x="685800" y="2649254"/>
            <a:ext cx="745812" cy="438076"/>
          </a:xfrm>
          <a:prstGeom prst="rect">
            <a:avLst/>
          </a:prstGeom>
          <a:noFill/>
        </p:spPr>
        <p:txBody>
          <a:bodyPr wrap="square" lIns="0" rIns="0" tIns="0" bIns="0" anchor="ctr">
            <a:spAutoFit/>
          </a:bodyPr>
          <a:lstStyle/>
          <a:p>
            <a:pPr algn="l">
              <a:lnSpc>
                <a:spcPct val="116000"/>
              </a:lnSpc>
            </a:pPr>
            <a:r>
              <a:rPr sz="1500" b="1" i="0">
                <a:solidFill>
                  <a:srgbClr val="21295C"/>
                </a:solidFill>
                <a:latin typeface="Arial"/>
              </a:rPr>
              <a:t>3</a:t>
            </a:r>
          </a:p>
        </p:txBody>
      </p:sp>
      <p:sp>
        <p:nvSpPr>
          <p:cNvPr id="25" name="Rectangle 24"/>
          <p:cNvSpPr/>
          <p:nvPr/>
        </p:nvSpPr>
        <p:spPr>
          <a:xfrm>
            <a:off x="1577916" y="2649254"/>
            <a:ext cx="6342740" cy="438076"/>
          </a:xfrm>
          <a:prstGeom prst="rect">
            <a:avLst/>
          </a:prstGeom>
          <a:solidFill>
            <a:srgbClr val="FFFFFF"/>
          </a:solidFill>
          <a:ln w="12700">
            <a:solidFill>
              <a:srgbClr val="D9E2EC"/>
            </a:solidFill>
          </a:ln>
          <a:effectLst/>
        </p:spPr>
        <p:txBody>
          <a:bodyPr rtlCol="0" anchor="ctr"/>
          <a:lstStyle/>
          <a:p>
            <a:pPr algn="ctr"/>
          </a:p>
        </p:txBody>
      </p:sp>
      <p:sp>
        <p:nvSpPr>
          <p:cNvPr id="26" name="TextBox 25"/>
          <p:cNvSpPr txBox="1"/>
          <p:nvPr/>
        </p:nvSpPr>
        <p:spPr>
          <a:xfrm>
            <a:off x="1724220" y="2649254"/>
            <a:ext cx="6050132" cy="438076"/>
          </a:xfrm>
          <a:prstGeom prst="rect">
            <a:avLst/>
          </a:prstGeom>
          <a:noFill/>
        </p:spPr>
        <p:txBody>
          <a:bodyPr wrap="square" lIns="0" rIns="0" tIns="0" bIns="0" anchor="ctr">
            <a:spAutoFit/>
          </a:bodyPr>
          <a:lstStyle/>
          <a:p>
            <a:pPr algn="l">
              <a:lnSpc>
                <a:spcPct val="116000"/>
              </a:lnSpc>
            </a:pPr>
            <a:r>
              <a:rPr sz="1500" b="0" i="0">
                <a:solidFill>
                  <a:srgbClr val="21295C"/>
                </a:solidFill>
                <a:latin typeface="Arial"/>
              </a:rPr>
              <a:t>шаг появился</a:t>
            </a:r>
          </a:p>
        </p:txBody>
      </p:sp>
      <p:sp>
        <p:nvSpPr>
          <p:cNvPr id="27" name="Rectangle 26"/>
          <p:cNvSpPr/>
          <p:nvPr/>
        </p:nvSpPr>
        <p:spPr>
          <a:xfrm>
            <a:off x="7920657" y="2649254"/>
            <a:ext cx="3731542" cy="438076"/>
          </a:xfrm>
          <a:prstGeom prst="rect">
            <a:avLst/>
          </a:prstGeom>
          <a:solidFill>
            <a:srgbClr val="FFFFFF"/>
          </a:solidFill>
          <a:ln w="12700">
            <a:solidFill>
              <a:srgbClr val="D9E2EC"/>
            </a:solidFill>
          </a:ln>
          <a:effectLst/>
        </p:spPr>
        <p:txBody>
          <a:bodyPr rtlCol="0" anchor="ctr"/>
          <a:lstStyle/>
          <a:p>
            <a:pPr algn="ctr"/>
          </a:p>
        </p:txBody>
      </p:sp>
      <p:sp>
        <p:nvSpPr>
          <p:cNvPr id="28" name="TextBox 27"/>
          <p:cNvSpPr txBox="1"/>
          <p:nvPr/>
        </p:nvSpPr>
        <p:spPr>
          <a:xfrm>
            <a:off x="8066961" y="2649254"/>
            <a:ext cx="3438934" cy="438076"/>
          </a:xfrm>
          <a:prstGeom prst="rect">
            <a:avLst/>
          </a:prstGeom>
          <a:noFill/>
        </p:spPr>
        <p:txBody>
          <a:bodyPr wrap="square" lIns="0" rIns="0" tIns="0" bIns="0" anchor="ctr">
            <a:spAutoFit/>
          </a:bodyPr>
          <a:lstStyle/>
          <a:p>
            <a:pPr algn="l">
              <a:lnSpc>
                <a:spcPct val="116000"/>
              </a:lnSpc>
            </a:pPr>
            <a:r>
              <a:rPr sz="1500" b="0" i="0">
                <a:solidFill>
                  <a:srgbClr val="21295C"/>
                </a:solidFill>
                <a:latin typeface="Arial"/>
              </a:rPr>
              <a:t>новая</a:t>
            </a:r>
          </a:p>
        </p:txBody>
      </p:sp>
      <p:sp>
        <p:nvSpPr>
          <p:cNvPr id="29" name="Rectangle 28"/>
          <p:cNvSpPr/>
          <p:nvPr/>
        </p:nvSpPr>
        <p:spPr>
          <a:xfrm>
            <a:off x="539496" y="3087331"/>
            <a:ext cx="1038420" cy="438076"/>
          </a:xfrm>
          <a:prstGeom prst="rect">
            <a:avLst/>
          </a:prstGeom>
          <a:solidFill>
            <a:srgbClr val="F4F7FA"/>
          </a:solidFill>
          <a:ln w="12700">
            <a:solidFill>
              <a:srgbClr val="D9E2EC"/>
            </a:solidFill>
          </a:ln>
          <a:effectLst/>
        </p:spPr>
        <p:txBody>
          <a:bodyPr rtlCol="0" anchor="ctr"/>
          <a:lstStyle/>
          <a:p>
            <a:pPr algn="ctr"/>
          </a:p>
        </p:txBody>
      </p:sp>
      <p:sp>
        <p:nvSpPr>
          <p:cNvPr id="30" name="TextBox 29"/>
          <p:cNvSpPr txBox="1"/>
          <p:nvPr/>
        </p:nvSpPr>
        <p:spPr>
          <a:xfrm>
            <a:off x="685800" y="3087331"/>
            <a:ext cx="745812" cy="438076"/>
          </a:xfrm>
          <a:prstGeom prst="rect">
            <a:avLst/>
          </a:prstGeom>
          <a:noFill/>
        </p:spPr>
        <p:txBody>
          <a:bodyPr wrap="square" lIns="0" rIns="0" tIns="0" bIns="0" anchor="ctr">
            <a:spAutoFit/>
          </a:bodyPr>
          <a:lstStyle/>
          <a:p>
            <a:pPr algn="l">
              <a:lnSpc>
                <a:spcPct val="116000"/>
              </a:lnSpc>
            </a:pPr>
            <a:r>
              <a:rPr sz="1500" b="1" i="0">
                <a:solidFill>
                  <a:srgbClr val="21295C"/>
                </a:solidFill>
                <a:latin typeface="Arial"/>
              </a:rPr>
              <a:t>4</a:t>
            </a:r>
          </a:p>
        </p:txBody>
      </p:sp>
      <p:sp>
        <p:nvSpPr>
          <p:cNvPr id="31" name="Rectangle 30"/>
          <p:cNvSpPr/>
          <p:nvPr/>
        </p:nvSpPr>
        <p:spPr>
          <a:xfrm>
            <a:off x="1577916" y="3087331"/>
            <a:ext cx="6342740" cy="438076"/>
          </a:xfrm>
          <a:prstGeom prst="rect">
            <a:avLst/>
          </a:prstGeom>
          <a:solidFill>
            <a:srgbClr val="F4F7FA"/>
          </a:solidFill>
          <a:ln w="12700">
            <a:solidFill>
              <a:srgbClr val="D9E2EC"/>
            </a:solidFill>
          </a:ln>
          <a:effectLst/>
        </p:spPr>
        <p:txBody>
          <a:bodyPr rtlCol="0" anchor="ctr"/>
          <a:lstStyle/>
          <a:p>
            <a:pPr algn="ctr"/>
          </a:p>
        </p:txBody>
      </p:sp>
      <p:sp>
        <p:nvSpPr>
          <p:cNvPr id="32" name="TextBox 31"/>
          <p:cNvSpPr txBox="1"/>
          <p:nvPr/>
        </p:nvSpPr>
        <p:spPr>
          <a:xfrm>
            <a:off x="1724220" y="3087331"/>
            <a:ext cx="6050132" cy="438076"/>
          </a:xfrm>
          <a:prstGeom prst="rect">
            <a:avLst/>
          </a:prstGeom>
          <a:noFill/>
        </p:spPr>
        <p:txBody>
          <a:bodyPr wrap="square" lIns="0" rIns="0" tIns="0" bIns="0" anchor="ctr">
            <a:spAutoFit/>
          </a:bodyPr>
          <a:lstStyle/>
          <a:p>
            <a:pPr algn="l">
              <a:lnSpc>
                <a:spcPct val="116000"/>
              </a:lnSpc>
            </a:pPr>
            <a:r>
              <a:rPr sz="1500" b="0" i="0">
                <a:solidFill>
                  <a:srgbClr val="21295C"/>
                </a:solidFill>
                <a:latin typeface="Arial"/>
              </a:rPr>
              <a:t>нагрузка выросла на том же месте</a:t>
            </a:r>
          </a:p>
        </p:txBody>
      </p:sp>
      <p:sp>
        <p:nvSpPr>
          <p:cNvPr id="33" name="Rectangle 32"/>
          <p:cNvSpPr/>
          <p:nvPr/>
        </p:nvSpPr>
        <p:spPr>
          <a:xfrm>
            <a:off x="7920657" y="3087331"/>
            <a:ext cx="3731542" cy="438076"/>
          </a:xfrm>
          <a:prstGeom prst="rect">
            <a:avLst/>
          </a:prstGeom>
          <a:solidFill>
            <a:srgbClr val="F4F7FA"/>
          </a:solidFill>
          <a:ln w="12700">
            <a:solidFill>
              <a:srgbClr val="D9E2EC"/>
            </a:solidFill>
          </a:ln>
          <a:effectLst/>
        </p:spPr>
        <p:txBody>
          <a:bodyPr rtlCol="0" anchor="ctr"/>
          <a:lstStyle/>
          <a:p>
            <a:pPr algn="ctr"/>
          </a:p>
        </p:txBody>
      </p:sp>
      <p:sp>
        <p:nvSpPr>
          <p:cNvPr id="34" name="TextBox 33"/>
          <p:cNvSpPr txBox="1"/>
          <p:nvPr/>
        </p:nvSpPr>
        <p:spPr>
          <a:xfrm>
            <a:off x="8066961" y="3087331"/>
            <a:ext cx="3438934" cy="438076"/>
          </a:xfrm>
          <a:prstGeom prst="rect">
            <a:avLst/>
          </a:prstGeom>
          <a:noFill/>
        </p:spPr>
        <p:txBody>
          <a:bodyPr wrap="square" lIns="0" rIns="0" tIns="0" bIns="0" anchor="ctr">
            <a:spAutoFit/>
          </a:bodyPr>
          <a:lstStyle/>
          <a:p>
            <a:pPr algn="l">
              <a:lnSpc>
                <a:spcPct val="116000"/>
              </a:lnSpc>
            </a:pPr>
            <a:r>
              <a:rPr sz="1500" b="0" i="0">
                <a:solidFill>
                  <a:srgbClr val="21295C"/>
                </a:solidFill>
                <a:latin typeface="Arial"/>
              </a:rPr>
              <a:t>работы больше</a:t>
            </a:r>
          </a:p>
        </p:txBody>
      </p:sp>
      <p:sp>
        <p:nvSpPr>
          <p:cNvPr id="35" name="Rectangle 34"/>
          <p:cNvSpPr/>
          <p:nvPr/>
        </p:nvSpPr>
        <p:spPr>
          <a:xfrm>
            <a:off x="539496" y="3525408"/>
            <a:ext cx="1038420" cy="438076"/>
          </a:xfrm>
          <a:prstGeom prst="rect">
            <a:avLst/>
          </a:prstGeom>
          <a:solidFill>
            <a:srgbClr val="FFFFFF"/>
          </a:solidFill>
          <a:ln w="12700">
            <a:solidFill>
              <a:srgbClr val="D9E2EC"/>
            </a:solidFill>
          </a:ln>
          <a:effectLst/>
        </p:spPr>
        <p:txBody>
          <a:bodyPr rtlCol="0" anchor="ctr"/>
          <a:lstStyle/>
          <a:p>
            <a:pPr algn="ctr"/>
          </a:p>
        </p:txBody>
      </p:sp>
      <p:sp>
        <p:nvSpPr>
          <p:cNvPr id="36" name="TextBox 35"/>
          <p:cNvSpPr txBox="1"/>
          <p:nvPr/>
        </p:nvSpPr>
        <p:spPr>
          <a:xfrm>
            <a:off x="685800" y="3525408"/>
            <a:ext cx="745812" cy="438076"/>
          </a:xfrm>
          <a:prstGeom prst="rect">
            <a:avLst/>
          </a:prstGeom>
          <a:noFill/>
        </p:spPr>
        <p:txBody>
          <a:bodyPr wrap="square" lIns="0" rIns="0" tIns="0" bIns="0" anchor="ctr">
            <a:spAutoFit/>
          </a:bodyPr>
          <a:lstStyle/>
          <a:p>
            <a:pPr algn="l">
              <a:lnSpc>
                <a:spcPct val="116000"/>
              </a:lnSpc>
            </a:pPr>
            <a:r>
              <a:rPr sz="1500" b="1" i="0">
                <a:solidFill>
                  <a:srgbClr val="21295C"/>
                </a:solidFill>
                <a:latin typeface="Arial"/>
              </a:rPr>
              <a:t>4а</a:t>
            </a:r>
          </a:p>
        </p:txBody>
      </p:sp>
      <p:sp>
        <p:nvSpPr>
          <p:cNvPr id="37" name="Rectangle 36"/>
          <p:cNvSpPr/>
          <p:nvPr/>
        </p:nvSpPr>
        <p:spPr>
          <a:xfrm>
            <a:off x="1577916" y="3525408"/>
            <a:ext cx="6342740" cy="438076"/>
          </a:xfrm>
          <a:prstGeom prst="rect">
            <a:avLst/>
          </a:prstGeom>
          <a:solidFill>
            <a:srgbClr val="FFFFFF"/>
          </a:solidFill>
          <a:ln w="12700">
            <a:solidFill>
              <a:srgbClr val="D9E2EC"/>
            </a:solidFill>
          </a:ln>
          <a:effectLst/>
        </p:spPr>
        <p:txBody>
          <a:bodyPr rtlCol="0" anchor="ctr"/>
          <a:lstStyle/>
          <a:p>
            <a:pPr algn="ctr"/>
          </a:p>
        </p:txBody>
      </p:sp>
      <p:sp>
        <p:nvSpPr>
          <p:cNvPr id="38" name="TextBox 37"/>
          <p:cNvSpPr txBox="1"/>
          <p:nvPr/>
        </p:nvSpPr>
        <p:spPr>
          <a:xfrm>
            <a:off x="1724220" y="3525408"/>
            <a:ext cx="6050132" cy="438076"/>
          </a:xfrm>
          <a:prstGeom prst="rect">
            <a:avLst/>
          </a:prstGeom>
          <a:noFill/>
        </p:spPr>
        <p:txBody>
          <a:bodyPr wrap="square" lIns="0" rIns="0" tIns="0" bIns="0" anchor="ctr">
            <a:spAutoFit/>
          </a:bodyPr>
          <a:lstStyle/>
          <a:p>
            <a:pPr algn="l">
              <a:lnSpc>
                <a:spcPct val="116000"/>
              </a:lnSpc>
            </a:pPr>
            <a:r>
              <a:rPr sz="1500" b="0" i="0">
                <a:solidFill>
                  <a:srgbClr val="21295C"/>
                </a:solidFill>
                <a:latin typeface="Arial"/>
              </a:rPr>
              <a:t>нагрузка на том же месте упала</a:t>
            </a:r>
          </a:p>
        </p:txBody>
      </p:sp>
      <p:sp>
        <p:nvSpPr>
          <p:cNvPr id="39" name="Rectangle 38"/>
          <p:cNvSpPr/>
          <p:nvPr/>
        </p:nvSpPr>
        <p:spPr>
          <a:xfrm>
            <a:off x="7920657" y="3525408"/>
            <a:ext cx="3731542" cy="438076"/>
          </a:xfrm>
          <a:prstGeom prst="rect">
            <a:avLst/>
          </a:prstGeom>
          <a:solidFill>
            <a:srgbClr val="FFFFFF"/>
          </a:solidFill>
          <a:ln w="12700">
            <a:solidFill>
              <a:srgbClr val="D9E2EC"/>
            </a:solidFill>
          </a:ln>
          <a:effectLst/>
        </p:spPr>
        <p:txBody>
          <a:bodyPr rtlCol="0" anchor="ctr"/>
          <a:lstStyle/>
          <a:p>
            <a:pPr algn="ctr"/>
          </a:p>
        </p:txBody>
      </p:sp>
      <p:sp>
        <p:nvSpPr>
          <p:cNvPr id="40" name="TextBox 39"/>
          <p:cNvSpPr txBox="1"/>
          <p:nvPr/>
        </p:nvSpPr>
        <p:spPr>
          <a:xfrm>
            <a:off x="8066961" y="3525408"/>
            <a:ext cx="3438934" cy="438076"/>
          </a:xfrm>
          <a:prstGeom prst="rect">
            <a:avLst/>
          </a:prstGeom>
          <a:noFill/>
        </p:spPr>
        <p:txBody>
          <a:bodyPr wrap="square" lIns="0" rIns="0" tIns="0" bIns="0" anchor="ctr">
            <a:spAutoFit/>
          </a:bodyPr>
          <a:lstStyle/>
          <a:p>
            <a:pPr algn="l">
              <a:lnSpc>
                <a:spcPct val="116000"/>
              </a:lnSpc>
            </a:pPr>
            <a:r>
              <a:rPr sz="1500" b="0" i="0">
                <a:solidFill>
                  <a:srgbClr val="21295C"/>
                </a:solidFill>
                <a:latin typeface="Arial"/>
              </a:rPr>
              <a:t>работы меньше</a:t>
            </a:r>
          </a:p>
        </p:txBody>
      </p:sp>
      <p:sp>
        <p:nvSpPr>
          <p:cNvPr id="41" name="Rectangle 40"/>
          <p:cNvSpPr/>
          <p:nvPr/>
        </p:nvSpPr>
        <p:spPr>
          <a:xfrm>
            <a:off x="539496" y="3963485"/>
            <a:ext cx="1038420" cy="438076"/>
          </a:xfrm>
          <a:prstGeom prst="rect">
            <a:avLst/>
          </a:prstGeom>
          <a:solidFill>
            <a:srgbClr val="F4F7FA"/>
          </a:solidFill>
          <a:ln w="12700">
            <a:solidFill>
              <a:srgbClr val="D9E2EC"/>
            </a:solidFill>
          </a:ln>
          <a:effectLst/>
        </p:spPr>
        <p:txBody>
          <a:bodyPr rtlCol="0" anchor="ctr"/>
          <a:lstStyle/>
          <a:p>
            <a:pPr algn="ctr"/>
          </a:p>
        </p:txBody>
      </p:sp>
      <p:sp>
        <p:nvSpPr>
          <p:cNvPr id="42" name="TextBox 41"/>
          <p:cNvSpPr txBox="1"/>
          <p:nvPr/>
        </p:nvSpPr>
        <p:spPr>
          <a:xfrm>
            <a:off x="685800" y="3963485"/>
            <a:ext cx="745812" cy="438076"/>
          </a:xfrm>
          <a:prstGeom prst="rect">
            <a:avLst/>
          </a:prstGeom>
          <a:noFill/>
        </p:spPr>
        <p:txBody>
          <a:bodyPr wrap="square" lIns="0" rIns="0" tIns="0" bIns="0" anchor="ctr">
            <a:spAutoFit/>
          </a:bodyPr>
          <a:lstStyle/>
          <a:p>
            <a:pPr algn="l">
              <a:lnSpc>
                <a:spcPct val="116000"/>
              </a:lnSpc>
            </a:pPr>
            <a:r>
              <a:rPr sz="1500" b="1" i="0">
                <a:solidFill>
                  <a:srgbClr val="21295C"/>
                </a:solidFill>
                <a:latin typeface="Arial"/>
              </a:rPr>
              <a:t>5</a:t>
            </a:r>
          </a:p>
        </p:txBody>
      </p:sp>
      <p:sp>
        <p:nvSpPr>
          <p:cNvPr id="43" name="Rectangle 42"/>
          <p:cNvSpPr/>
          <p:nvPr/>
        </p:nvSpPr>
        <p:spPr>
          <a:xfrm>
            <a:off x="1577916" y="3963485"/>
            <a:ext cx="6342740" cy="438076"/>
          </a:xfrm>
          <a:prstGeom prst="rect">
            <a:avLst/>
          </a:prstGeom>
          <a:solidFill>
            <a:srgbClr val="F4F7FA"/>
          </a:solidFill>
          <a:ln w="12700">
            <a:solidFill>
              <a:srgbClr val="D9E2EC"/>
            </a:solidFill>
          </a:ln>
          <a:effectLst/>
        </p:spPr>
        <p:txBody>
          <a:bodyPr rtlCol="0" anchor="ctr"/>
          <a:lstStyle/>
          <a:p>
            <a:pPr algn="ctr"/>
          </a:p>
        </p:txBody>
      </p:sp>
      <p:sp>
        <p:nvSpPr>
          <p:cNvPr id="44" name="TextBox 43"/>
          <p:cNvSpPr txBox="1"/>
          <p:nvPr/>
        </p:nvSpPr>
        <p:spPr>
          <a:xfrm>
            <a:off x="1724220" y="3963485"/>
            <a:ext cx="6050132" cy="438076"/>
          </a:xfrm>
          <a:prstGeom prst="rect">
            <a:avLst/>
          </a:prstGeom>
          <a:noFill/>
        </p:spPr>
        <p:txBody>
          <a:bodyPr wrap="square" lIns="0" rIns="0" tIns="0" bIns="0" anchor="ctr">
            <a:spAutoFit/>
          </a:bodyPr>
          <a:lstStyle/>
          <a:p>
            <a:pPr algn="l">
              <a:lnSpc>
                <a:spcPct val="116000"/>
              </a:lnSpc>
            </a:pPr>
            <a:r>
              <a:rPr sz="1500" b="0" i="0">
                <a:solidFill>
                  <a:srgbClr val="21295C"/>
                </a:solidFill>
                <a:latin typeface="Arial"/>
              </a:rPr>
              <a:t>сменился исполнитель</a:t>
            </a:r>
          </a:p>
        </p:txBody>
      </p:sp>
      <p:sp>
        <p:nvSpPr>
          <p:cNvPr id="45" name="Rectangle 44"/>
          <p:cNvSpPr/>
          <p:nvPr/>
        </p:nvSpPr>
        <p:spPr>
          <a:xfrm>
            <a:off x="7920657" y="3963485"/>
            <a:ext cx="3731542" cy="438076"/>
          </a:xfrm>
          <a:prstGeom prst="rect">
            <a:avLst/>
          </a:prstGeom>
          <a:solidFill>
            <a:srgbClr val="F4F7FA"/>
          </a:solidFill>
          <a:ln w="12700">
            <a:solidFill>
              <a:srgbClr val="D9E2EC"/>
            </a:solidFill>
          </a:ln>
          <a:effectLst/>
        </p:spPr>
        <p:txBody>
          <a:bodyPr rtlCol="0" anchor="ctr"/>
          <a:lstStyle/>
          <a:p>
            <a:pPr algn="ctr"/>
          </a:p>
        </p:txBody>
      </p:sp>
      <p:sp>
        <p:nvSpPr>
          <p:cNvPr id="46" name="TextBox 45"/>
          <p:cNvSpPr txBox="1"/>
          <p:nvPr/>
        </p:nvSpPr>
        <p:spPr>
          <a:xfrm>
            <a:off x="8066961" y="3963485"/>
            <a:ext cx="3438934" cy="438076"/>
          </a:xfrm>
          <a:prstGeom prst="rect">
            <a:avLst/>
          </a:prstGeom>
          <a:noFill/>
        </p:spPr>
        <p:txBody>
          <a:bodyPr wrap="square" lIns="0" rIns="0" tIns="0" bIns="0" anchor="ctr">
            <a:spAutoFit/>
          </a:bodyPr>
          <a:lstStyle/>
          <a:p>
            <a:pPr algn="l">
              <a:lnSpc>
                <a:spcPct val="116000"/>
              </a:lnSpc>
            </a:pPr>
            <a:r>
              <a:rPr sz="1500" b="0" i="0">
                <a:solidFill>
                  <a:srgbClr val="21295C"/>
                </a:solidFill>
                <a:latin typeface="Arial"/>
              </a:rPr>
              <a:t>рука другая</a:t>
            </a:r>
          </a:p>
        </p:txBody>
      </p:sp>
      <p:sp>
        <p:nvSpPr>
          <p:cNvPr id="47" name="Rectangle 46"/>
          <p:cNvSpPr/>
          <p:nvPr/>
        </p:nvSpPr>
        <p:spPr>
          <a:xfrm>
            <a:off x="539496" y="4401561"/>
            <a:ext cx="1038420" cy="438076"/>
          </a:xfrm>
          <a:prstGeom prst="rect">
            <a:avLst/>
          </a:prstGeom>
          <a:solidFill>
            <a:srgbClr val="FFFFFF"/>
          </a:solidFill>
          <a:ln w="12700">
            <a:solidFill>
              <a:srgbClr val="D9E2EC"/>
            </a:solidFill>
          </a:ln>
          <a:effectLst/>
        </p:spPr>
        <p:txBody>
          <a:bodyPr rtlCol="0" anchor="ctr"/>
          <a:lstStyle/>
          <a:p>
            <a:pPr algn="ctr"/>
          </a:p>
        </p:txBody>
      </p:sp>
      <p:sp>
        <p:nvSpPr>
          <p:cNvPr id="48" name="TextBox 47"/>
          <p:cNvSpPr txBox="1"/>
          <p:nvPr/>
        </p:nvSpPr>
        <p:spPr>
          <a:xfrm>
            <a:off x="685800" y="4401561"/>
            <a:ext cx="745812" cy="438076"/>
          </a:xfrm>
          <a:prstGeom prst="rect">
            <a:avLst/>
          </a:prstGeom>
          <a:noFill/>
        </p:spPr>
        <p:txBody>
          <a:bodyPr wrap="square" lIns="0" rIns="0" tIns="0" bIns="0" anchor="ctr">
            <a:spAutoFit/>
          </a:bodyPr>
          <a:lstStyle/>
          <a:p>
            <a:pPr algn="l">
              <a:lnSpc>
                <a:spcPct val="116000"/>
              </a:lnSpc>
            </a:pPr>
            <a:r>
              <a:rPr sz="1500" b="1" i="0">
                <a:solidFill>
                  <a:srgbClr val="21295C"/>
                </a:solidFill>
                <a:latin typeface="Arial"/>
              </a:rPr>
              <a:t>6</a:t>
            </a:r>
          </a:p>
        </p:txBody>
      </p:sp>
      <p:sp>
        <p:nvSpPr>
          <p:cNvPr id="49" name="Rectangle 48"/>
          <p:cNvSpPr/>
          <p:nvPr/>
        </p:nvSpPr>
        <p:spPr>
          <a:xfrm>
            <a:off x="1577916" y="4401561"/>
            <a:ext cx="6342740" cy="438076"/>
          </a:xfrm>
          <a:prstGeom prst="rect">
            <a:avLst/>
          </a:prstGeom>
          <a:solidFill>
            <a:srgbClr val="FFFFFF"/>
          </a:solidFill>
          <a:ln w="12700">
            <a:solidFill>
              <a:srgbClr val="D9E2EC"/>
            </a:solidFill>
          </a:ln>
          <a:effectLst/>
        </p:spPr>
        <p:txBody>
          <a:bodyPr rtlCol="0" anchor="ctr"/>
          <a:lstStyle/>
          <a:p>
            <a:pPr algn="ctr"/>
          </a:p>
        </p:txBody>
      </p:sp>
      <p:sp>
        <p:nvSpPr>
          <p:cNvPr id="50" name="TextBox 49"/>
          <p:cNvSpPr txBox="1"/>
          <p:nvPr/>
        </p:nvSpPr>
        <p:spPr>
          <a:xfrm>
            <a:off x="1724220" y="4401561"/>
            <a:ext cx="6050132" cy="438076"/>
          </a:xfrm>
          <a:prstGeom prst="rect">
            <a:avLst/>
          </a:prstGeom>
          <a:noFill/>
        </p:spPr>
        <p:txBody>
          <a:bodyPr wrap="square" lIns="0" rIns="0" tIns="0" bIns="0" anchor="ctr">
            <a:spAutoFit/>
          </a:bodyPr>
          <a:lstStyle/>
          <a:p>
            <a:pPr algn="l">
              <a:lnSpc>
                <a:spcPct val="116000"/>
              </a:lnSpc>
            </a:pPr>
            <a:r>
              <a:rPr sz="1500" b="0" i="0">
                <a:solidFill>
                  <a:srgbClr val="21295C"/>
                </a:solidFill>
                <a:latin typeface="Arial"/>
              </a:rPr>
              <a:t>изменился порядок работ</a:t>
            </a:r>
          </a:p>
        </p:txBody>
      </p:sp>
      <p:sp>
        <p:nvSpPr>
          <p:cNvPr id="51" name="Rectangle 50"/>
          <p:cNvSpPr/>
          <p:nvPr/>
        </p:nvSpPr>
        <p:spPr>
          <a:xfrm>
            <a:off x="7920657" y="4401561"/>
            <a:ext cx="3731542" cy="438076"/>
          </a:xfrm>
          <a:prstGeom prst="rect">
            <a:avLst/>
          </a:prstGeom>
          <a:solidFill>
            <a:srgbClr val="FFFFFF"/>
          </a:solidFill>
          <a:ln w="12700">
            <a:solidFill>
              <a:srgbClr val="D9E2EC"/>
            </a:solidFill>
          </a:ln>
          <a:effectLst/>
        </p:spPr>
        <p:txBody>
          <a:bodyPr rtlCol="0" anchor="ctr"/>
          <a:lstStyle/>
          <a:p>
            <a:pPr algn="ctr"/>
          </a:p>
        </p:txBody>
      </p:sp>
      <p:sp>
        <p:nvSpPr>
          <p:cNvPr id="52" name="TextBox 51"/>
          <p:cNvSpPr txBox="1"/>
          <p:nvPr/>
        </p:nvSpPr>
        <p:spPr>
          <a:xfrm>
            <a:off x="8066961" y="4401561"/>
            <a:ext cx="3438934" cy="438076"/>
          </a:xfrm>
          <a:prstGeom prst="rect">
            <a:avLst/>
          </a:prstGeom>
          <a:noFill/>
        </p:spPr>
        <p:txBody>
          <a:bodyPr wrap="square" lIns="0" rIns="0" tIns="0" bIns="0" anchor="ctr">
            <a:spAutoFit/>
          </a:bodyPr>
          <a:lstStyle/>
          <a:p>
            <a:pPr algn="l">
              <a:lnSpc>
                <a:spcPct val="116000"/>
              </a:lnSpc>
            </a:pPr>
            <a:r>
              <a:rPr sz="1500" b="0" i="0">
                <a:solidFill>
                  <a:srgbClr val="21295C"/>
                </a:solidFill>
                <a:latin typeface="Arial"/>
              </a:rPr>
              <a:t>состав</a:t>
            </a:r>
          </a:p>
        </p:txBody>
      </p:sp>
      <p:sp>
        <p:nvSpPr>
          <p:cNvPr id="53" name="Rectangle 52"/>
          <p:cNvSpPr/>
          <p:nvPr/>
        </p:nvSpPr>
        <p:spPr>
          <a:xfrm>
            <a:off x="539496" y="4839638"/>
            <a:ext cx="1038420" cy="438076"/>
          </a:xfrm>
          <a:prstGeom prst="rect">
            <a:avLst/>
          </a:prstGeom>
          <a:solidFill>
            <a:srgbClr val="F4F7FA"/>
          </a:solidFill>
          <a:ln w="12700">
            <a:solidFill>
              <a:srgbClr val="D9E2EC"/>
            </a:solidFill>
          </a:ln>
          <a:effectLst/>
        </p:spPr>
        <p:txBody>
          <a:bodyPr rtlCol="0" anchor="ctr"/>
          <a:lstStyle/>
          <a:p>
            <a:pPr algn="ctr"/>
          </a:p>
        </p:txBody>
      </p:sp>
      <p:sp>
        <p:nvSpPr>
          <p:cNvPr id="54" name="TextBox 53"/>
          <p:cNvSpPr txBox="1"/>
          <p:nvPr/>
        </p:nvSpPr>
        <p:spPr>
          <a:xfrm>
            <a:off x="685800" y="4839638"/>
            <a:ext cx="745812" cy="438076"/>
          </a:xfrm>
          <a:prstGeom prst="rect">
            <a:avLst/>
          </a:prstGeom>
          <a:noFill/>
        </p:spPr>
        <p:txBody>
          <a:bodyPr wrap="square" lIns="0" rIns="0" tIns="0" bIns="0" anchor="ctr">
            <a:spAutoFit/>
          </a:bodyPr>
          <a:lstStyle/>
          <a:p>
            <a:pPr algn="l">
              <a:lnSpc>
                <a:spcPct val="116000"/>
              </a:lnSpc>
            </a:pPr>
            <a:r>
              <a:rPr sz="1500" b="1" i="0">
                <a:solidFill>
                  <a:srgbClr val="21295C"/>
                </a:solidFill>
                <a:latin typeface="Arial"/>
              </a:rPr>
              <a:t>7</a:t>
            </a:r>
          </a:p>
        </p:txBody>
      </p:sp>
      <p:sp>
        <p:nvSpPr>
          <p:cNvPr id="55" name="Rectangle 54"/>
          <p:cNvSpPr/>
          <p:nvPr/>
        </p:nvSpPr>
        <p:spPr>
          <a:xfrm>
            <a:off x="1577916" y="4839638"/>
            <a:ext cx="6342740" cy="438076"/>
          </a:xfrm>
          <a:prstGeom prst="rect">
            <a:avLst/>
          </a:prstGeom>
          <a:solidFill>
            <a:srgbClr val="F4F7FA"/>
          </a:solidFill>
          <a:ln w="12700">
            <a:solidFill>
              <a:srgbClr val="D9E2EC"/>
            </a:solidFill>
          </a:ln>
          <a:effectLst/>
        </p:spPr>
        <p:txBody>
          <a:bodyPr rtlCol="0" anchor="ctr"/>
          <a:lstStyle/>
          <a:p>
            <a:pPr algn="ctr"/>
          </a:p>
        </p:txBody>
      </p:sp>
      <p:sp>
        <p:nvSpPr>
          <p:cNvPr id="56" name="TextBox 55"/>
          <p:cNvSpPr txBox="1"/>
          <p:nvPr/>
        </p:nvSpPr>
        <p:spPr>
          <a:xfrm>
            <a:off x="1724220" y="4839638"/>
            <a:ext cx="6050132" cy="438076"/>
          </a:xfrm>
          <a:prstGeom prst="rect">
            <a:avLst/>
          </a:prstGeom>
          <a:noFill/>
        </p:spPr>
        <p:txBody>
          <a:bodyPr wrap="square" lIns="0" rIns="0" tIns="0" bIns="0" anchor="ctr">
            <a:spAutoFit/>
          </a:bodyPr>
          <a:lstStyle/>
          <a:p>
            <a:pPr algn="l">
              <a:lnSpc>
                <a:spcPct val="116000"/>
              </a:lnSpc>
            </a:pPr>
            <a:r>
              <a:rPr sz="1500" b="0" i="0">
                <a:solidFill>
                  <a:srgbClr val="21295C"/>
                </a:solidFill>
                <a:latin typeface="Arial"/>
              </a:rPr>
              <a:t>сместилась цена ошибки</a:t>
            </a:r>
          </a:p>
        </p:txBody>
      </p:sp>
      <p:sp>
        <p:nvSpPr>
          <p:cNvPr id="57" name="Rectangle 56"/>
          <p:cNvSpPr/>
          <p:nvPr/>
        </p:nvSpPr>
        <p:spPr>
          <a:xfrm>
            <a:off x="7920657" y="4839638"/>
            <a:ext cx="3731542" cy="438076"/>
          </a:xfrm>
          <a:prstGeom prst="rect">
            <a:avLst/>
          </a:prstGeom>
          <a:solidFill>
            <a:srgbClr val="F4F7FA"/>
          </a:solidFill>
          <a:ln w="12700">
            <a:solidFill>
              <a:srgbClr val="D9E2EC"/>
            </a:solidFill>
          </a:ln>
          <a:effectLst/>
        </p:spPr>
        <p:txBody>
          <a:bodyPr rtlCol="0" anchor="ctr"/>
          <a:lstStyle/>
          <a:p>
            <a:pPr algn="ctr"/>
          </a:p>
        </p:txBody>
      </p:sp>
      <p:sp>
        <p:nvSpPr>
          <p:cNvPr id="58" name="TextBox 57"/>
          <p:cNvSpPr txBox="1"/>
          <p:nvPr/>
        </p:nvSpPr>
        <p:spPr>
          <a:xfrm>
            <a:off x="8066961" y="4839638"/>
            <a:ext cx="3438934" cy="438076"/>
          </a:xfrm>
          <a:prstGeom prst="rect">
            <a:avLst/>
          </a:prstGeom>
          <a:noFill/>
        </p:spPr>
        <p:txBody>
          <a:bodyPr wrap="square" lIns="0" rIns="0" tIns="0" bIns="0" anchor="ctr">
            <a:spAutoFit/>
          </a:bodyPr>
          <a:lstStyle/>
          <a:p>
            <a:pPr algn="l">
              <a:lnSpc>
                <a:spcPct val="116000"/>
              </a:lnSpc>
            </a:pPr>
            <a:r>
              <a:rPr sz="1500" b="0" i="0">
                <a:solidFill>
                  <a:srgbClr val="21295C"/>
                </a:solidFill>
                <a:latin typeface="Arial"/>
              </a:rPr>
              <a:t>машина → человек</a:t>
            </a:r>
          </a:p>
        </p:txBody>
      </p:sp>
      <p:sp>
        <p:nvSpPr>
          <p:cNvPr id="59" name="Rectangle 58"/>
          <p:cNvSpPr/>
          <p:nvPr/>
        </p:nvSpPr>
        <p:spPr>
          <a:xfrm>
            <a:off x="539496" y="5277715"/>
            <a:ext cx="1038420" cy="438076"/>
          </a:xfrm>
          <a:prstGeom prst="rect">
            <a:avLst/>
          </a:prstGeom>
          <a:solidFill>
            <a:srgbClr val="FFFFFF"/>
          </a:solidFill>
          <a:ln w="12700">
            <a:solidFill>
              <a:srgbClr val="D9E2EC"/>
            </a:solidFill>
          </a:ln>
          <a:effectLst/>
        </p:spPr>
        <p:txBody>
          <a:bodyPr rtlCol="0" anchor="ctr"/>
          <a:lstStyle/>
          <a:p>
            <a:pPr algn="ctr"/>
          </a:p>
        </p:txBody>
      </p:sp>
      <p:sp>
        <p:nvSpPr>
          <p:cNvPr id="60" name="TextBox 59"/>
          <p:cNvSpPr txBox="1"/>
          <p:nvPr/>
        </p:nvSpPr>
        <p:spPr>
          <a:xfrm>
            <a:off x="685800" y="5277715"/>
            <a:ext cx="745812" cy="438076"/>
          </a:xfrm>
          <a:prstGeom prst="rect">
            <a:avLst/>
          </a:prstGeom>
          <a:noFill/>
        </p:spPr>
        <p:txBody>
          <a:bodyPr wrap="square" lIns="0" rIns="0" tIns="0" bIns="0" anchor="ctr">
            <a:spAutoFit/>
          </a:bodyPr>
          <a:lstStyle/>
          <a:p>
            <a:pPr algn="l">
              <a:lnSpc>
                <a:spcPct val="116000"/>
              </a:lnSpc>
            </a:pPr>
            <a:r>
              <a:rPr sz="1500" b="1" i="0">
                <a:solidFill>
                  <a:srgbClr val="21295C"/>
                </a:solidFill>
                <a:latin typeface="Arial"/>
              </a:rPr>
              <a:t>8</a:t>
            </a:r>
          </a:p>
        </p:txBody>
      </p:sp>
      <p:sp>
        <p:nvSpPr>
          <p:cNvPr id="61" name="Rectangle 60"/>
          <p:cNvSpPr/>
          <p:nvPr/>
        </p:nvSpPr>
        <p:spPr>
          <a:xfrm>
            <a:off x="1577916" y="5277715"/>
            <a:ext cx="6342740" cy="438076"/>
          </a:xfrm>
          <a:prstGeom prst="rect">
            <a:avLst/>
          </a:prstGeom>
          <a:solidFill>
            <a:srgbClr val="FFFFFF"/>
          </a:solidFill>
          <a:ln w="12700">
            <a:solidFill>
              <a:srgbClr val="D9E2EC"/>
            </a:solidFill>
          </a:ln>
          <a:effectLst/>
        </p:spPr>
        <p:txBody>
          <a:bodyPr rtlCol="0" anchor="ctr"/>
          <a:lstStyle/>
          <a:p>
            <a:pPr algn="ctr"/>
          </a:p>
        </p:txBody>
      </p:sp>
      <p:sp>
        <p:nvSpPr>
          <p:cNvPr id="62" name="TextBox 61"/>
          <p:cNvSpPr txBox="1"/>
          <p:nvPr/>
        </p:nvSpPr>
        <p:spPr>
          <a:xfrm>
            <a:off x="1724220" y="5277715"/>
            <a:ext cx="6050132" cy="438076"/>
          </a:xfrm>
          <a:prstGeom prst="rect">
            <a:avLst/>
          </a:prstGeom>
          <a:noFill/>
        </p:spPr>
        <p:txBody>
          <a:bodyPr wrap="square" lIns="0" rIns="0" tIns="0" bIns="0" anchor="ctr">
            <a:spAutoFit/>
          </a:bodyPr>
          <a:lstStyle/>
          <a:p>
            <a:pPr algn="l">
              <a:lnSpc>
                <a:spcPct val="116000"/>
              </a:lnSpc>
            </a:pPr>
            <a:r>
              <a:rPr sz="1500" b="0" i="0">
                <a:solidFill>
                  <a:srgbClr val="21295C"/>
                </a:solidFill>
                <a:latin typeface="Arial"/>
              </a:rPr>
              <a:t>исполнитель тот же, но стал хуже</a:t>
            </a:r>
          </a:p>
        </p:txBody>
      </p:sp>
      <p:sp>
        <p:nvSpPr>
          <p:cNvPr id="63" name="Rectangle 62"/>
          <p:cNvSpPr/>
          <p:nvPr/>
        </p:nvSpPr>
        <p:spPr>
          <a:xfrm>
            <a:off x="7920657" y="5277715"/>
            <a:ext cx="3731542" cy="438076"/>
          </a:xfrm>
          <a:prstGeom prst="rect">
            <a:avLst/>
          </a:prstGeom>
          <a:solidFill>
            <a:srgbClr val="FFFFFF"/>
          </a:solidFill>
          <a:ln w="12700">
            <a:solidFill>
              <a:srgbClr val="D9E2EC"/>
            </a:solidFill>
          </a:ln>
          <a:effectLst/>
        </p:spPr>
        <p:txBody>
          <a:bodyPr rtlCol="0" anchor="ctr"/>
          <a:lstStyle/>
          <a:p>
            <a:pPr algn="ctr"/>
          </a:p>
        </p:txBody>
      </p:sp>
      <p:sp>
        <p:nvSpPr>
          <p:cNvPr id="64" name="TextBox 63"/>
          <p:cNvSpPr txBox="1"/>
          <p:nvPr/>
        </p:nvSpPr>
        <p:spPr>
          <a:xfrm>
            <a:off x="8066961" y="5277715"/>
            <a:ext cx="3438934" cy="438076"/>
          </a:xfrm>
          <a:prstGeom prst="rect">
            <a:avLst/>
          </a:prstGeom>
          <a:noFill/>
        </p:spPr>
        <p:txBody>
          <a:bodyPr wrap="square" lIns="0" rIns="0" tIns="0" bIns="0" anchor="ctr">
            <a:spAutoFit/>
          </a:bodyPr>
          <a:lstStyle/>
          <a:p>
            <a:pPr algn="l">
              <a:lnSpc>
                <a:spcPct val="116000"/>
              </a:lnSpc>
            </a:pPr>
            <a:r>
              <a:rPr sz="1500" b="0" i="0">
                <a:solidFill>
                  <a:srgbClr val="21295C"/>
                </a:solidFill>
                <a:latin typeface="Arial"/>
              </a:rPr>
              <a:t>разучилась</a:t>
            </a:r>
          </a:p>
        </p:txBody>
      </p:sp>
      <p:sp>
        <p:nvSpPr>
          <p:cNvPr id="65" name="Rectangle 64"/>
          <p:cNvSpPr/>
          <p:nvPr/>
        </p:nvSpPr>
        <p:spPr>
          <a:xfrm>
            <a:off x="539496" y="5715792"/>
            <a:ext cx="1038420" cy="438076"/>
          </a:xfrm>
          <a:prstGeom prst="rect">
            <a:avLst/>
          </a:prstGeom>
          <a:solidFill>
            <a:srgbClr val="F4F7FA"/>
          </a:solidFill>
          <a:ln w="12700">
            <a:solidFill>
              <a:srgbClr val="D9E2EC"/>
            </a:solidFill>
          </a:ln>
          <a:effectLst/>
        </p:spPr>
        <p:txBody>
          <a:bodyPr rtlCol="0" anchor="ctr"/>
          <a:lstStyle/>
          <a:p>
            <a:pPr algn="ctr"/>
          </a:p>
        </p:txBody>
      </p:sp>
      <p:sp>
        <p:nvSpPr>
          <p:cNvPr id="66" name="TextBox 65"/>
          <p:cNvSpPr txBox="1"/>
          <p:nvPr/>
        </p:nvSpPr>
        <p:spPr>
          <a:xfrm>
            <a:off x="685800" y="5715792"/>
            <a:ext cx="745812" cy="438076"/>
          </a:xfrm>
          <a:prstGeom prst="rect">
            <a:avLst/>
          </a:prstGeom>
          <a:noFill/>
        </p:spPr>
        <p:txBody>
          <a:bodyPr wrap="square" lIns="0" rIns="0" tIns="0" bIns="0" anchor="ctr">
            <a:spAutoFit/>
          </a:bodyPr>
          <a:lstStyle/>
          <a:p>
            <a:pPr algn="l">
              <a:lnSpc>
                <a:spcPct val="116000"/>
              </a:lnSpc>
            </a:pPr>
            <a:r>
              <a:rPr sz="1500" b="0" i="0">
                <a:solidFill>
                  <a:srgbClr val="21295C"/>
                </a:solidFill>
                <a:latin typeface="Arial"/>
              </a:rPr>
              <a:t>8а</a:t>
            </a:r>
          </a:p>
        </p:txBody>
      </p:sp>
      <p:sp>
        <p:nvSpPr>
          <p:cNvPr id="67" name="Rectangle 66"/>
          <p:cNvSpPr/>
          <p:nvPr/>
        </p:nvSpPr>
        <p:spPr>
          <a:xfrm>
            <a:off x="1577916" y="5715792"/>
            <a:ext cx="6342740" cy="438076"/>
          </a:xfrm>
          <a:prstGeom prst="rect">
            <a:avLst/>
          </a:prstGeom>
          <a:solidFill>
            <a:srgbClr val="F4F7FA"/>
          </a:solidFill>
          <a:ln w="12700">
            <a:solidFill>
              <a:srgbClr val="D9E2EC"/>
            </a:solidFill>
          </a:ln>
          <a:effectLst/>
        </p:spPr>
        <p:txBody>
          <a:bodyPr rtlCol="0" anchor="ctr"/>
          <a:lstStyle/>
          <a:p>
            <a:pPr algn="ctr"/>
          </a:p>
        </p:txBody>
      </p:sp>
      <p:sp>
        <p:nvSpPr>
          <p:cNvPr id="68" name="TextBox 67"/>
          <p:cNvSpPr txBox="1"/>
          <p:nvPr/>
        </p:nvSpPr>
        <p:spPr>
          <a:xfrm>
            <a:off x="1724220" y="5715792"/>
            <a:ext cx="6050132" cy="438076"/>
          </a:xfrm>
          <a:prstGeom prst="rect">
            <a:avLst/>
          </a:prstGeom>
          <a:noFill/>
        </p:spPr>
        <p:txBody>
          <a:bodyPr wrap="square" lIns="0" rIns="0" tIns="0" bIns="0" anchor="ctr">
            <a:spAutoFit/>
          </a:bodyPr>
          <a:lstStyle/>
          <a:p>
            <a:pPr algn="l">
              <a:lnSpc>
                <a:spcPct val="116000"/>
              </a:lnSpc>
            </a:pPr>
            <a:r>
              <a:rPr sz="1500" b="0" i="1">
                <a:solidFill>
                  <a:srgbClr val="21295C"/>
                </a:solidFill>
                <a:latin typeface="Arial"/>
              </a:rPr>
              <a:t>исполнитель тот же, но стал лучше</a:t>
            </a:r>
          </a:p>
        </p:txBody>
      </p:sp>
      <p:sp>
        <p:nvSpPr>
          <p:cNvPr id="69" name="Rectangle 68"/>
          <p:cNvSpPr/>
          <p:nvPr/>
        </p:nvSpPr>
        <p:spPr>
          <a:xfrm>
            <a:off x="7920657" y="5715792"/>
            <a:ext cx="3731542" cy="438076"/>
          </a:xfrm>
          <a:prstGeom prst="rect">
            <a:avLst/>
          </a:prstGeom>
          <a:solidFill>
            <a:srgbClr val="F4F7FA"/>
          </a:solidFill>
          <a:ln w="12700">
            <a:solidFill>
              <a:srgbClr val="D9E2EC"/>
            </a:solidFill>
          </a:ln>
          <a:effectLst/>
        </p:spPr>
        <p:txBody>
          <a:bodyPr rtlCol="0" anchor="ctr"/>
          <a:lstStyle/>
          <a:p>
            <a:pPr algn="ctr"/>
          </a:p>
        </p:txBody>
      </p:sp>
      <p:sp>
        <p:nvSpPr>
          <p:cNvPr id="70" name="TextBox 69"/>
          <p:cNvSpPr txBox="1"/>
          <p:nvPr/>
        </p:nvSpPr>
        <p:spPr>
          <a:xfrm>
            <a:off x="8066961" y="5715792"/>
            <a:ext cx="3438934" cy="438076"/>
          </a:xfrm>
          <a:prstGeom prst="rect">
            <a:avLst/>
          </a:prstGeom>
          <a:noFill/>
        </p:spPr>
        <p:txBody>
          <a:bodyPr wrap="square" lIns="0" rIns="0" tIns="0" bIns="0" anchor="ctr">
            <a:spAutoFit/>
          </a:bodyPr>
          <a:lstStyle/>
          <a:p>
            <a:pPr algn="l">
              <a:lnSpc>
                <a:spcPct val="116000"/>
              </a:lnSpc>
            </a:pPr>
            <a:r>
              <a:rPr sz="1500" b="0" i="1">
                <a:solidFill>
                  <a:srgbClr val="21295C"/>
                </a:solidFill>
                <a:latin typeface="Arial"/>
              </a:rPr>
              <a:t>измерений нет</a:t>
            </a:r>
          </a:p>
        </p:txBody>
      </p:sp>
      <p:sp>
        <p:nvSpPr>
          <p:cNvPr id="71" name="Rectangle 70"/>
          <p:cNvSpPr/>
          <p:nvPr/>
        </p:nvSpPr>
        <p:spPr>
          <a:xfrm>
            <a:off x="502920" y="888090"/>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Пять разрядов свидетельства</a:t>
            </a:r>
          </a:p>
        </p:txBody>
      </p:sp>
      <p:sp>
        <p:nvSpPr>
          <p:cNvPr id="4" name="Rounded Rectangle 3"/>
          <p:cNvSpPr/>
          <p:nvPr/>
        </p:nvSpPr>
        <p:spPr>
          <a:xfrm>
            <a:off x="374904" y="1243584"/>
            <a:ext cx="11441887" cy="4992624"/>
          </a:xfrm>
          <a:prstGeom prst="roundRect">
            <a:avLst>
              <a:gd name="adj" fmla="val 6105"/>
            </a:avLst>
          </a:prstGeom>
          <a:solidFill>
            <a:srgbClr val="F4F7FA"/>
          </a:solidFill>
          <a:ln w="19050">
            <a:solidFill>
              <a:srgbClr val="1C7293"/>
            </a:solidFill>
          </a:ln>
          <a:effectLst/>
        </p:spPr>
        <p:txBody>
          <a:bodyPr rtlCol="0" anchor="ctr"/>
          <a:lstStyle/>
          <a:p>
            <a:pPr algn="ctr"/>
          </a:p>
        </p:txBody>
      </p:sp>
      <p:sp>
        <p:nvSpPr>
          <p:cNvPr id="5" name="Rectangle 4"/>
          <p:cNvSpPr/>
          <p:nvPr/>
        </p:nvSpPr>
        <p:spPr>
          <a:xfrm>
            <a:off x="539496" y="1335024"/>
            <a:ext cx="3305655" cy="465425"/>
          </a:xfrm>
          <a:prstGeom prst="rect">
            <a:avLst/>
          </a:prstGeom>
          <a:solidFill>
            <a:srgbClr val="065A82"/>
          </a:solidFill>
          <a:ln>
            <a:noFill/>
          </a:ln>
          <a:effectLst/>
        </p:spPr>
        <p:txBody>
          <a:bodyPr rtlCol="0" anchor="ctr"/>
          <a:lstStyle/>
          <a:p>
            <a:pPr algn="ctr"/>
          </a:p>
        </p:txBody>
      </p:sp>
      <p:sp>
        <p:nvSpPr>
          <p:cNvPr id="6" name="TextBox 5"/>
          <p:cNvSpPr txBox="1"/>
          <p:nvPr/>
        </p:nvSpPr>
        <p:spPr>
          <a:xfrm>
            <a:off x="685800" y="1335024"/>
            <a:ext cx="3013047" cy="465425"/>
          </a:xfrm>
          <a:prstGeom prst="rect">
            <a:avLst/>
          </a:prstGeom>
          <a:noFill/>
        </p:spPr>
        <p:txBody>
          <a:bodyPr wrap="square" lIns="0" rIns="0" tIns="0" bIns="0" anchor="ctr">
            <a:spAutoFit/>
          </a:bodyPr>
          <a:lstStyle/>
          <a:p>
            <a:pPr algn="l">
              <a:lnSpc>
                <a:spcPct val="116000"/>
              </a:lnSpc>
            </a:pPr>
            <a:r>
              <a:rPr sz="1650" b="1" i="0">
                <a:solidFill>
                  <a:srgbClr val="FFFFFF"/>
                </a:solidFill>
                <a:latin typeface="Arial"/>
              </a:rPr>
              <a:t>разряд</a:t>
            </a:r>
          </a:p>
        </p:txBody>
      </p:sp>
      <p:sp>
        <p:nvSpPr>
          <p:cNvPr id="7" name="Rectangle 6"/>
          <p:cNvSpPr/>
          <p:nvPr/>
        </p:nvSpPr>
        <p:spPr>
          <a:xfrm>
            <a:off x="3845151" y="1335024"/>
            <a:ext cx="3131601" cy="465425"/>
          </a:xfrm>
          <a:prstGeom prst="rect">
            <a:avLst/>
          </a:prstGeom>
          <a:solidFill>
            <a:srgbClr val="065A82"/>
          </a:solidFill>
          <a:ln>
            <a:noFill/>
          </a:ln>
          <a:effectLst/>
        </p:spPr>
        <p:txBody>
          <a:bodyPr rtlCol="0" anchor="ctr"/>
          <a:lstStyle/>
          <a:p>
            <a:pPr algn="ctr"/>
          </a:p>
        </p:txBody>
      </p:sp>
      <p:sp>
        <p:nvSpPr>
          <p:cNvPr id="8" name="TextBox 7"/>
          <p:cNvSpPr txBox="1"/>
          <p:nvPr/>
        </p:nvSpPr>
        <p:spPr>
          <a:xfrm>
            <a:off x="3991455" y="1335024"/>
            <a:ext cx="2838993" cy="465425"/>
          </a:xfrm>
          <a:prstGeom prst="rect">
            <a:avLst/>
          </a:prstGeom>
          <a:noFill/>
        </p:spPr>
        <p:txBody>
          <a:bodyPr wrap="square" lIns="0" rIns="0" tIns="0" bIns="0" anchor="ctr">
            <a:spAutoFit/>
          </a:bodyPr>
          <a:lstStyle/>
          <a:p>
            <a:pPr algn="l">
              <a:lnSpc>
                <a:spcPct val="116000"/>
              </a:lnSpc>
            </a:pPr>
            <a:r>
              <a:rPr sz="1650" b="1" i="0">
                <a:solidFill>
                  <a:srgbClr val="FFFFFF"/>
                </a:solidFill>
                <a:latin typeface="Arial"/>
              </a:rPr>
              <a:t>как добыто</a:t>
            </a:r>
          </a:p>
        </p:txBody>
      </p:sp>
      <p:sp>
        <p:nvSpPr>
          <p:cNvPr id="9" name="Rectangle 8"/>
          <p:cNvSpPr/>
          <p:nvPr/>
        </p:nvSpPr>
        <p:spPr>
          <a:xfrm>
            <a:off x="6976753" y="1335024"/>
            <a:ext cx="4675445" cy="465425"/>
          </a:xfrm>
          <a:prstGeom prst="rect">
            <a:avLst/>
          </a:prstGeom>
          <a:solidFill>
            <a:srgbClr val="065A82"/>
          </a:solidFill>
          <a:ln>
            <a:noFill/>
          </a:ln>
          <a:effectLst/>
        </p:spPr>
        <p:txBody>
          <a:bodyPr rtlCol="0" anchor="ctr"/>
          <a:lstStyle/>
          <a:p>
            <a:pPr algn="ctr"/>
          </a:p>
        </p:txBody>
      </p:sp>
      <p:sp>
        <p:nvSpPr>
          <p:cNvPr id="10" name="TextBox 9"/>
          <p:cNvSpPr txBox="1"/>
          <p:nvPr/>
        </p:nvSpPr>
        <p:spPr>
          <a:xfrm>
            <a:off x="7123057" y="1335024"/>
            <a:ext cx="4382837" cy="465425"/>
          </a:xfrm>
          <a:prstGeom prst="rect">
            <a:avLst/>
          </a:prstGeom>
          <a:noFill/>
        </p:spPr>
        <p:txBody>
          <a:bodyPr wrap="square" lIns="0" rIns="0" tIns="0" bIns="0" anchor="ctr">
            <a:spAutoFit/>
          </a:bodyPr>
          <a:lstStyle/>
          <a:p>
            <a:pPr algn="l">
              <a:lnSpc>
                <a:spcPct val="116000"/>
              </a:lnSpc>
            </a:pPr>
            <a:r>
              <a:rPr sz="1650" b="1" i="0">
                <a:solidFill>
                  <a:srgbClr val="FFFFFF"/>
                </a:solidFill>
                <a:latin typeface="Arial"/>
              </a:rPr>
              <a:t>что утверждает</a:t>
            </a:r>
          </a:p>
        </p:txBody>
      </p:sp>
      <p:sp>
        <p:nvSpPr>
          <p:cNvPr id="11" name="Rectangle 10"/>
          <p:cNvSpPr/>
          <p:nvPr/>
        </p:nvSpPr>
        <p:spPr>
          <a:xfrm>
            <a:off x="539496" y="1800449"/>
            <a:ext cx="3305655" cy="766258"/>
          </a:xfrm>
          <a:prstGeom prst="rect">
            <a:avLst/>
          </a:prstGeom>
          <a:solidFill>
            <a:srgbClr val="FFFFFF"/>
          </a:solidFill>
          <a:ln w="12700">
            <a:solidFill>
              <a:srgbClr val="D9E2EC"/>
            </a:solidFill>
          </a:ln>
          <a:effectLst/>
        </p:spPr>
        <p:txBody>
          <a:bodyPr rtlCol="0" anchor="ctr"/>
          <a:lstStyle/>
          <a:p>
            <a:pPr algn="ctr"/>
          </a:p>
        </p:txBody>
      </p:sp>
      <p:sp>
        <p:nvSpPr>
          <p:cNvPr id="12" name="TextBox 11"/>
          <p:cNvSpPr txBox="1"/>
          <p:nvPr/>
        </p:nvSpPr>
        <p:spPr>
          <a:xfrm>
            <a:off x="685800" y="1800449"/>
            <a:ext cx="3013047" cy="766258"/>
          </a:xfrm>
          <a:prstGeom prst="rect">
            <a:avLst/>
          </a:prstGeom>
          <a:noFill/>
        </p:spPr>
        <p:txBody>
          <a:bodyPr wrap="square" lIns="0" rIns="0" tIns="0" bIns="0" anchor="ctr">
            <a:spAutoFit/>
          </a:bodyPr>
          <a:lstStyle/>
          <a:p>
            <a:pPr algn="l">
              <a:lnSpc>
                <a:spcPct val="116000"/>
              </a:lnSpc>
            </a:pPr>
            <a:r>
              <a:rPr sz="1650" b="1" i="0">
                <a:solidFill>
                  <a:srgbClr val="21295C"/>
                </a:solidFill>
                <a:latin typeface="Arial"/>
              </a:rPr>
              <a:t>рандомизированное испытание</a:t>
            </a:r>
          </a:p>
        </p:txBody>
      </p:sp>
      <p:sp>
        <p:nvSpPr>
          <p:cNvPr id="13" name="Rectangle 12"/>
          <p:cNvSpPr/>
          <p:nvPr/>
        </p:nvSpPr>
        <p:spPr>
          <a:xfrm>
            <a:off x="3845151" y="1800449"/>
            <a:ext cx="3131601" cy="766258"/>
          </a:xfrm>
          <a:prstGeom prst="rect">
            <a:avLst/>
          </a:prstGeom>
          <a:solidFill>
            <a:srgbClr val="FFFFFF"/>
          </a:solidFill>
          <a:ln w="12700">
            <a:solidFill>
              <a:srgbClr val="D9E2EC"/>
            </a:solidFill>
          </a:ln>
          <a:effectLst/>
        </p:spPr>
        <p:txBody>
          <a:bodyPr rtlCol="0" anchor="ctr"/>
          <a:lstStyle/>
          <a:p>
            <a:pPr algn="ctr"/>
          </a:p>
        </p:txBody>
      </p:sp>
      <p:sp>
        <p:nvSpPr>
          <p:cNvPr id="14" name="TextBox 13"/>
          <p:cNvSpPr txBox="1"/>
          <p:nvPr/>
        </p:nvSpPr>
        <p:spPr>
          <a:xfrm>
            <a:off x="3991455" y="1800449"/>
            <a:ext cx="2838993" cy="766258"/>
          </a:xfrm>
          <a:prstGeom prst="rect">
            <a:avLst/>
          </a:prstGeom>
          <a:noFill/>
        </p:spPr>
        <p:txBody>
          <a:bodyPr wrap="square" lIns="0" rIns="0" tIns="0" bIns="0" anchor="ctr">
            <a:spAutoFit/>
          </a:bodyPr>
          <a:lstStyle/>
          <a:p>
            <a:pPr algn="l">
              <a:lnSpc>
                <a:spcPct val="116000"/>
              </a:lnSpc>
            </a:pPr>
            <a:r>
              <a:rPr sz="1650" b="0" i="0">
                <a:solidFill>
                  <a:srgbClr val="21295C"/>
                </a:solidFill>
                <a:latin typeface="Arial"/>
              </a:rPr>
              <a:t>развели по группам жребием</a:t>
            </a:r>
          </a:p>
        </p:txBody>
      </p:sp>
      <p:sp>
        <p:nvSpPr>
          <p:cNvPr id="15" name="Rectangle 14"/>
          <p:cNvSpPr/>
          <p:nvPr/>
        </p:nvSpPr>
        <p:spPr>
          <a:xfrm>
            <a:off x="6976753" y="1800449"/>
            <a:ext cx="4675445" cy="766258"/>
          </a:xfrm>
          <a:prstGeom prst="rect">
            <a:avLst/>
          </a:prstGeom>
          <a:solidFill>
            <a:srgbClr val="FFFFFF"/>
          </a:solidFill>
          <a:ln w="12700">
            <a:solidFill>
              <a:srgbClr val="D9E2EC"/>
            </a:solidFill>
          </a:ln>
          <a:effectLst/>
        </p:spPr>
        <p:txBody>
          <a:bodyPr rtlCol="0" anchor="ctr"/>
          <a:lstStyle/>
          <a:p>
            <a:pPr algn="ctr"/>
          </a:p>
        </p:txBody>
      </p:sp>
      <p:sp>
        <p:nvSpPr>
          <p:cNvPr id="16" name="TextBox 15"/>
          <p:cNvSpPr txBox="1"/>
          <p:nvPr/>
        </p:nvSpPr>
        <p:spPr>
          <a:xfrm>
            <a:off x="7123057" y="1800449"/>
            <a:ext cx="4382837" cy="766258"/>
          </a:xfrm>
          <a:prstGeom prst="rect">
            <a:avLst/>
          </a:prstGeom>
          <a:noFill/>
        </p:spPr>
        <p:txBody>
          <a:bodyPr wrap="square" lIns="0" rIns="0" tIns="0" bIns="0" anchor="ctr">
            <a:spAutoFit/>
          </a:bodyPr>
          <a:lstStyle/>
          <a:p>
            <a:pPr algn="l">
              <a:lnSpc>
                <a:spcPct val="116000"/>
              </a:lnSpc>
            </a:pPr>
            <a:r>
              <a:rPr sz="1650" b="0" i="0">
                <a:solidFill>
                  <a:srgbClr val="21295C"/>
                </a:solidFill>
                <a:latin typeface="Arial"/>
              </a:rPr>
              <a:t>разницу можно отнести к вмешательству</a:t>
            </a:r>
          </a:p>
        </p:txBody>
      </p:sp>
      <p:sp>
        <p:nvSpPr>
          <p:cNvPr id="17" name="Rectangle 16"/>
          <p:cNvSpPr/>
          <p:nvPr/>
        </p:nvSpPr>
        <p:spPr>
          <a:xfrm>
            <a:off x="539496" y="2566707"/>
            <a:ext cx="3305655" cy="766258"/>
          </a:xfrm>
          <a:prstGeom prst="rect">
            <a:avLst/>
          </a:prstGeom>
          <a:solidFill>
            <a:srgbClr val="F4F7FA"/>
          </a:solidFill>
          <a:ln w="12700">
            <a:solidFill>
              <a:srgbClr val="D9E2EC"/>
            </a:solidFill>
          </a:ln>
          <a:effectLst/>
        </p:spPr>
        <p:txBody>
          <a:bodyPr rtlCol="0" anchor="ctr"/>
          <a:lstStyle/>
          <a:p>
            <a:pPr algn="ctr"/>
          </a:p>
        </p:txBody>
      </p:sp>
      <p:sp>
        <p:nvSpPr>
          <p:cNvPr id="18" name="TextBox 17"/>
          <p:cNvSpPr txBox="1"/>
          <p:nvPr/>
        </p:nvSpPr>
        <p:spPr>
          <a:xfrm>
            <a:off x="685800" y="2566707"/>
            <a:ext cx="3013047" cy="766258"/>
          </a:xfrm>
          <a:prstGeom prst="rect">
            <a:avLst/>
          </a:prstGeom>
          <a:noFill/>
        </p:spPr>
        <p:txBody>
          <a:bodyPr wrap="square" lIns="0" rIns="0" tIns="0" bIns="0" anchor="ctr">
            <a:spAutoFit/>
          </a:bodyPr>
          <a:lstStyle/>
          <a:p>
            <a:pPr algn="l">
              <a:lnSpc>
                <a:spcPct val="116000"/>
              </a:lnSpc>
            </a:pPr>
            <a:r>
              <a:rPr sz="1650" b="1" i="0">
                <a:solidFill>
                  <a:srgbClr val="21295C"/>
                </a:solidFill>
                <a:latin typeface="Arial"/>
              </a:rPr>
              <a:t>проспективное наблюдение</a:t>
            </a:r>
          </a:p>
        </p:txBody>
      </p:sp>
      <p:sp>
        <p:nvSpPr>
          <p:cNvPr id="19" name="Rectangle 18"/>
          <p:cNvSpPr/>
          <p:nvPr/>
        </p:nvSpPr>
        <p:spPr>
          <a:xfrm>
            <a:off x="3845151" y="2566707"/>
            <a:ext cx="3131601" cy="766258"/>
          </a:xfrm>
          <a:prstGeom prst="rect">
            <a:avLst/>
          </a:prstGeom>
          <a:solidFill>
            <a:srgbClr val="F4F7FA"/>
          </a:solidFill>
          <a:ln w="12700">
            <a:solidFill>
              <a:srgbClr val="D9E2EC"/>
            </a:solidFill>
          </a:ln>
          <a:effectLst/>
        </p:spPr>
        <p:txBody>
          <a:bodyPr rtlCol="0" anchor="ctr"/>
          <a:lstStyle/>
          <a:p>
            <a:pPr algn="ctr"/>
          </a:p>
        </p:txBody>
      </p:sp>
      <p:sp>
        <p:nvSpPr>
          <p:cNvPr id="20" name="TextBox 19"/>
          <p:cNvSpPr txBox="1"/>
          <p:nvPr/>
        </p:nvSpPr>
        <p:spPr>
          <a:xfrm>
            <a:off x="3991455" y="2566707"/>
            <a:ext cx="2838993" cy="766258"/>
          </a:xfrm>
          <a:prstGeom prst="rect">
            <a:avLst/>
          </a:prstGeom>
          <a:noFill/>
        </p:spPr>
        <p:txBody>
          <a:bodyPr wrap="square" lIns="0" rIns="0" tIns="0" bIns="0" anchor="ctr">
            <a:spAutoFit/>
          </a:bodyPr>
          <a:lstStyle/>
          <a:p>
            <a:pPr algn="l">
              <a:lnSpc>
                <a:spcPct val="116000"/>
              </a:lnSpc>
            </a:pPr>
            <a:r>
              <a:rPr sz="1650" b="0" i="0">
                <a:solidFill>
                  <a:srgbClr val="21295C"/>
                </a:solidFill>
                <a:latin typeface="Arial"/>
              </a:rPr>
              <a:t>следили вперёд до исхода</a:t>
            </a:r>
          </a:p>
        </p:txBody>
      </p:sp>
      <p:sp>
        <p:nvSpPr>
          <p:cNvPr id="21" name="Rectangle 20"/>
          <p:cNvSpPr/>
          <p:nvPr/>
        </p:nvSpPr>
        <p:spPr>
          <a:xfrm>
            <a:off x="6976753" y="2566707"/>
            <a:ext cx="4675445" cy="766258"/>
          </a:xfrm>
          <a:prstGeom prst="rect">
            <a:avLst/>
          </a:prstGeom>
          <a:solidFill>
            <a:srgbClr val="F4F7FA"/>
          </a:solidFill>
          <a:ln w="12700">
            <a:solidFill>
              <a:srgbClr val="D9E2EC"/>
            </a:solidFill>
          </a:ln>
          <a:effectLst/>
        </p:spPr>
        <p:txBody>
          <a:bodyPr rtlCol="0" anchor="ctr"/>
          <a:lstStyle/>
          <a:p>
            <a:pPr algn="ctr"/>
          </a:p>
        </p:txBody>
      </p:sp>
      <p:sp>
        <p:nvSpPr>
          <p:cNvPr id="22" name="TextBox 21"/>
          <p:cNvSpPr txBox="1"/>
          <p:nvPr/>
        </p:nvSpPr>
        <p:spPr>
          <a:xfrm>
            <a:off x="7123057" y="2566707"/>
            <a:ext cx="4382837" cy="766258"/>
          </a:xfrm>
          <a:prstGeom prst="rect">
            <a:avLst/>
          </a:prstGeom>
          <a:noFill/>
        </p:spPr>
        <p:txBody>
          <a:bodyPr wrap="square" lIns="0" rIns="0" tIns="0" bIns="0" anchor="ctr">
            <a:spAutoFit/>
          </a:bodyPr>
          <a:lstStyle/>
          <a:p>
            <a:pPr algn="l">
              <a:lnSpc>
                <a:spcPct val="116000"/>
              </a:lnSpc>
            </a:pPr>
            <a:r>
              <a:rPr sz="1650" b="0" i="0">
                <a:solidFill>
                  <a:srgbClr val="21295C"/>
                </a:solidFill>
                <a:latin typeface="Arial"/>
              </a:rPr>
              <a:t>что произошло — да; из-за чего — с оговоркой</a:t>
            </a:r>
          </a:p>
        </p:txBody>
      </p:sp>
      <p:sp>
        <p:nvSpPr>
          <p:cNvPr id="23" name="Rectangle 22"/>
          <p:cNvSpPr/>
          <p:nvPr/>
        </p:nvSpPr>
        <p:spPr>
          <a:xfrm>
            <a:off x="539496" y="3332966"/>
            <a:ext cx="3305655" cy="766258"/>
          </a:xfrm>
          <a:prstGeom prst="rect">
            <a:avLst/>
          </a:prstGeom>
          <a:solidFill>
            <a:srgbClr val="FFFFFF"/>
          </a:solidFill>
          <a:ln w="12700">
            <a:solidFill>
              <a:srgbClr val="D9E2EC"/>
            </a:solidFill>
          </a:ln>
          <a:effectLst/>
        </p:spPr>
        <p:txBody>
          <a:bodyPr rtlCol="0" anchor="ctr"/>
          <a:lstStyle/>
          <a:p>
            <a:pPr algn="ctr"/>
          </a:p>
        </p:txBody>
      </p:sp>
      <p:sp>
        <p:nvSpPr>
          <p:cNvPr id="24" name="TextBox 23"/>
          <p:cNvSpPr txBox="1"/>
          <p:nvPr/>
        </p:nvSpPr>
        <p:spPr>
          <a:xfrm>
            <a:off x="685800" y="3332966"/>
            <a:ext cx="3013047" cy="766258"/>
          </a:xfrm>
          <a:prstGeom prst="rect">
            <a:avLst/>
          </a:prstGeom>
          <a:noFill/>
        </p:spPr>
        <p:txBody>
          <a:bodyPr wrap="square" lIns="0" rIns="0" tIns="0" bIns="0" anchor="ctr">
            <a:spAutoFit/>
          </a:bodyPr>
          <a:lstStyle/>
          <a:p>
            <a:pPr algn="l">
              <a:lnSpc>
                <a:spcPct val="116000"/>
              </a:lnSpc>
            </a:pPr>
            <a:r>
              <a:rPr sz="1650" b="1" i="0">
                <a:solidFill>
                  <a:srgbClr val="21295C"/>
                </a:solidFill>
                <a:latin typeface="Arial"/>
              </a:rPr>
              <a:t>ретроспективный срез</a:t>
            </a:r>
          </a:p>
        </p:txBody>
      </p:sp>
      <p:sp>
        <p:nvSpPr>
          <p:cNvPr id="25" name="Rectangle 24"/>
          <p:cNvSpPr/>
          <p:nvPr/>
        </p:nvSpPr>
        <p:spPr>
          <a:xfrm>
            <a:off x="3845151" y="3332966"/>
            <a:ext cx="3131601" cy="766258"/>
          </a:xfrm>
          <a:prstGeom prst="rect">
            <a:avLst/>
          </a:prstGeom>
          <a:solidFill>
            <a:srgbClr val="FFFFFF"/>
          </a:solidFill>
          <a:ln w="12700">
            <a:solidFill>
              <a:srgbClr val="D9E2EC"/>
            </a:solidFill>
          </a:ln>
          <a:effectLst/>
        </p:spPr>
        <p:txBody>
          <a:bodyPr rtlCol="0" anchor="ctr"/>
          <a:lstStyle/>
          <a:p>
            <a:pPr algn="ctr"/>
          </a:p>
        </p:txBody>
      </p:sp>
      <p:sp>
        <p:nvSpPr>
          <p:cNvPr id="26" name="TextBox 25"/>
          <p:cNvSpPr txBox="1"/>
          <p:nvPr/>
        </p:nvSpPr>
        <p:spPr>
          <a:xfrm>
            <a:off x="3991455" y="3332966"/>
            <a:ext cx="2838993" cy="766258"/>
          </a:xfrm>
          <a:prstGeom prst="rect">
            <a:avLst/>
          </a:prstGeom>
          <a:noFill/>
        </p:spPr>
        <p:txBody>
          <a:bodyPr wrap="square" lIns="0" rIns="0" tIns="0" bIns="0" anchor="ctr">
            <a:spAutoFit/>
          </a:bodyPr>
          <a:lstStyle/>
          <a:p>
            <a:pPr algn="l">
              <a:lnSpc>
                <a:spcPct val="116000"/>
              </a:lnSpc>
            </a:pPr>
            <a:r>
              <a:rPr sz="1650" b="0" i="0">
                <a:solidFill>
                  <a:srgbClr val="21295C"/>
                </a:solidFill>
                <a:latin typeface="Arial"/>
              </a:rPr>
              <a:t>посмотрели назад по записям</a:t>
            </a:r>
          </a:p>
        </p:txBody>
      </p:sp>
      <p:sp>
        <p:nvSpPr>
          <p:cNvPr id="27" name="Rectangle 26"/>
          <p:cNvSpPr/>
          <p:nvPr/>
        </p:nvSpPr>
        <p:spPr>
          <a:xfrm>
            <a:off x="6976753" y="3332966"/>
            <a:ext cx="4675445" cy="766258"/>
          </a:xfrm>
          <a:prstGeom prst="rect">
            <a:avLst/>
          </a:prstGeom>
          <a:solidFill>
            <a:srgbClr val="FFFFFF"/>
          </a:solidFill>
          <a:ln w="12700">
            <a:solidFill>
              <a:srgbClr val="D9E2EC"/>
            </a:solidFill>
          </a:ln>
          <a:effectLst/>
        </p:spPr>
        <p:txBody>
          <a:bodyPr rtlCol="0" anchor="ctr"/>
          <a:lstStyle/>
          <a:p>
            <a:pPr algn="ctr"/>
          </a:p>
        </p:txBody>
      </p:sp>
      <p:sp>
        <p:nvSpPr>
          <p:cNvPr id="28" name="TextBox 27"/>
          <p:cNvSpPr txBox="1"/>
          <p:nvPr/>
        </p:nvSpPr>
        <p:spPr>
          <a:xfrm>
            <a:off x="7123057" y="3332966"/>
            <a:ext cx="4382837" cy="766258"/>
          </a:xfrm>
          <a:prstGeom prst="rect">
            <a:avLst/>
          </a:prstGeom>
          <a:noFill/>
        </p:spPr>
        <p:txBody>
          <a:bodyPr wrap="square" lIns="0" rIns="0" tIns="0" bIns="0" anchor="ctr">
            <a:spAutoFit/>
          </a:bodyPr>
          <a:lstStyle/>
          <a:p>
            <a:pPr algn="l">
              <a:lnSpc>
                <a:spcPct val="116000"/>
              </a:lnSpc>
            </a:pPr>
            <a:r>
              <a:rPr sz="1650" b="0" i="0">
                <a:solidFill>
                  <a:srgbClr val="21295C"/>
                </a:solidFill>
                <a:latin typeface="Arial"/>
              </a:rPr>
              <a:t>связь — да, направление — нет</a:t>
            </a:r>
          </a:p>
        </p:txBody>
      </p:sp>
      <p:sp>
        <p:nvSpPr>
          <p:cNvPr id="29" name="Rectangle 28"/>
          <p:cNvSpPr/>
          <p:nvPr/>
        </p:nvSpPr>
        <p:spPr>
          <a:xfrm>
            <a:off x="539496" y="4099225"/>
            <a:ext cx="3305655" cy="465425"/>
          </a:xfrm>
          <a:prstGeom prst="rect">
            <a:avLst/>
          </a:prstGeom>
          <a:solidFill>
            <a:srgbClr val="F4F7FA"/>
          </a:solidFill>
          <a:ln w="12700">
            <a:solidFill>
              <a:srgbClr val="D9E2EC"/>
            </a:solidFill>
          </a:ln>
          <a:effectLst/>
        </p:spPr>
        <p:txBody>
          <a:bodyPr rtlCol="0" anchor="ctr"/>
          <a:lstStyle/>
          <a:p>
            <a:pPr algn="ctr"/>
          </a:p>
        </p:txBody>
      </p:sp>
      <p:sp>
        <p:nvSpPr>
          <p:cNvPr id="30" name="TextBox 29"/>
          <p:cNvSpPr txBox="1"/>
          <p:nvPr/>
        </p:nvSpPr>
        <p:spPr>
          <a:xfrm>
            <a:off x="685800" y="4099225"/>
            <a:ext cx="3013047" cy="465425"/>
          </a:xfrm>
          <a:prstGeom prst="rect">
            <a:avLst/>
          </a:prstGeom>
          <a:noFill/>
        </p:spPr>
        <p:txBody>
          <a:bodyPr wrap="square" lIns="0" rIns="0" tIns="0" bIns="0" anchor="ctr">
            <a:spAutoFit/>
          </a:bodyPr>
          <a:lstStyle/>
          <a:p>
            <a:pPr algn="l">
              <a:lnSpc>
                <a:spcPct val="116000"/>
              </a:lnSpc>
            </a:pPr>
            <a:r>
              <a:rPr sz="1650" b="1" i="0">
                <a:solidFill>
                  <a:srgbClr val="21295C"/>
                </a:solidFill>
                <a:latin typeface="Arial"/>
              </a:rPr>
              <a:t>пересказ в обзоре</a:t>
            </a:r>
          </a:p>
        </p:txBody>
      </p:sp>
      <p:sp>
        <p:nvSpPr>
          <p:cNvPr id="31" name="Rectangle 30"/>
          <p:cNvSpPr/>
          <p:nvPr/>
        </p:nvSpPr>
        <p:spPr>
          <a:xfrm>
            <a:off x="3845151" y="4099225"/>
            <a:ext cx="3131601" cy="465425"/>
          </a:xfrm>
          <a:prstGeom prst="rect">
            <a:avLst/>
          </a:prstGeom>
          <a:solidFill>
            <a:srgbClr val="F4F7FA"/>
          </a:solidFill>
          <a:ln w="12700">
            <a:solidFill>
              <a:srgbClr val="D9E2EC"/>
            </a:solidFill>
          </a:ln>
          <a:effectLst/>
        </p:spPr>
        <p:txBody>
          <a:bodyPr rtlCol="0" anchor="ctr"/>
          <a:lstStyle/>
          <a:p>
            <a:pPr algn="ctr"/>
          </a:p>
        </p:txBody>
      </p:sp>
      <p:sp>
        <p:nvSpPr>
          <p:cNvPr id="32" name="TextBox 31"/>
          <p:cNvSpPr txBox="1"/>
          <p:nvPr/>
        </p:nvSpPr>
        <p:spPr>
          <a:xfrm>
            <a:off x="3991455" y="4099225"/>
            <a:ext cx="2838993" cy="465425"/>
          </a:xfrm>
          <a:prstGeom prst="rect">
            <a:avLst/>
          </a:prstGeom>
          <a:noFill/>
        </p:spPr>
        <p:txBody>
          <a:bodyPr wrap="square" lIns="0" rIns="0" tIns="0" bIns="0" anchor="ctr">
            <a:spAutoFit/>
          </a:bodyPr>
          <a:lstStyle/>
          <a:p>
            <a:pPr algn="l">
              <a:lnSpc>
                <a:spcPct val="116000"/>
              </a:lnSpc>
            </a:pPr>
            <a:r>
              <a:rPr sz="1650" b="0" i="0">
                <a:solidFill>
                  <a:srgbClr val="21295C"/>
                </a:solidFill>
                <a:latin typeface="Arial"/>
              </a:rPr>
              <a:t>через чужой текст</a:t>
            </a:r>
          </a:p>
        </p:txBody>
      </p:sp>
      <p:sp>
        <p:nvSpPr>
          <p:cNvPr id="33" name="Rectangle 32"/>
          <p:cNvSpPr/>
          <p:nvPr/>
        </p:nvSpPr>
        <p:spPr>
          <a:xfrm>
            <a:off x="6976753" y="4099225"/>
            <a:ext cx="4675445" cy="465425"/>
          </a:xfrm>
          <a:prstGeom prst="rect">
            <a:avLst/>
          </a:prstGeom>
          <a:solidFill>
            <a:srgbClr val="F4F7FA"/>
          </a:solidFill>
          <a:ln w="12700">
            <a:solidFill>
              <a:srgbClr val="D9E2EC"/>
            </a:solidFill>
          </a:ln>
          <a:effectLst/>
        </p:spPr>
        <p:txBody>
          <a:bodyPr rtlCol="0" anchor="ctr"/>
          <a:lstStyle/>
          <a:p>
            <a:pPr algn="ctr"/>
          </a:p>
        </p:txBody>
      </p:sp>
      <p:sp>
        <p:nvSpPr>
          <p:cNvPr id="34" name="TextBox 33"/>
          <p:cNvSpPr txBox="1"/>
          <p:nvPr/>
        </p:nvSpPr>
        <p:spPr>
          <a:xfrm>
            <a:off x="7123057" y="4099225"/>
            <a:ext cx="4382837" cy="465425"/>
          </a:xfrm>
          <a:prstGeom prst="rect">
            <a:avLst/>
          </a:prstGeom>
          <a:noFill/>
        </p:spPr>
        <p:txBody>
          <a:bodyPr wrap="square" lIns="0" rIns="0" tIns="0" bIns="0" anchor="ctr">
            <a:spAutoFit/>
          </a:bodyPr>
          <a:lstStyle/>
          <a:p>
            <a:pPr algn="l">
              <a:lnSpc>
                <a:spcPct val="116000"/>
              </a:lnSpc>
            </a:pPr>
            <a:r>
              <a:rPr sz="1650" b="0" i="0">
                <a:solidFill>
                  <a:srgbClr val="21295C"/>
                </a:solidFill>
                <a:latin typeface="Arial"/>
              </a:rPr>
              <a:t>ничего, пока не открыт первоисточник</a:t>
            </a:r>
          </a:p>
        </p:txBody>
      </p:sp>
      <p:sp>
        <p:nvSpPr>
          <p:cNvPr id="35" name="Rectangle 34"/>
          <p:cNvSpPr/>
          <p:nvPr/>
        </p:nvSpPr>
        <p:spPr>
          <a:xfrm>
            <a:off x="539496" y="4564650"/>
            <a:ext cx="3305655" cy="766258"/>
          </a:xfrm>
          <a:prstGeom prst="rect">
            <a:avLst/>
          </a:prstGeom>
          <a:solidFill>
            <a:srgbClr val="FFFFFF"/>
          </a:solidFill>
          <a:ln w="12700">
            <a:solidFill>
              <a:srgbClr val="D9E2EC"/>
            </a:solidFill>
          </a:ln>
          <a:effectLst/>
        </p:spPr>
        <p:txBody>
          <a:bodyPr rtlCol="0" anchor="ctr"/>
          <a:lstStyle/>
          <a:p>
            <a:pPr algn="ctr"/>
          </a:p>
        </p:txBody>
      </p:sp>
      <p:sp>
        <p:nvSpPr>
          <p:cNvPr id="36" name="TextBox 35"/>
          <p:cNvSpPr txBox="1"/>
          <p:nvPr/>
        </p:nvSpPr>
        <p:spPr>
          <a:xfrm>
            <a:off x="685800" y="4564650"/>
            <a:ext cx="3013047" cy="766258"/>
          </a:xfrm>
          <a:prstGeom prst="rect">
            <a:avLst/>
          </a:prstGeom>
          <a:noFill/>
        </p:spPr>
        <p:txBody>
          <a:bodyPr wrap="square" lIns="0" rIns="0" tIns="0" bIns="0" anchor="ctr">
            <a:spAutoFit/>
          </a:bodyPr>
          <a:lstStyle/>
          <a:p>
            <a:pPr algn="l">
              <a:lnSpc>
                <a:spcPct val="116000"/>
              </a:lnSpc>
            </a:pPr>
            <a:r>
              <a:rPr sz="1650" b="1" i="0">
                <a:solidFill>
                  <a:srgbClr val="21295C"/>
                </a:solidFill>
                <a:latin typeface="Arial"/>
              </a:rPr>
              <a:t>самоотчёт</a:t>
            </a:r>
          </a:p>
        </p:txBody>
      </p:sp>
      <p:sp>
        <p:nvSpPr>
          <p:cNvPr id="37" name="Rectangle 36"/>
          <p:cNvSpPr/>
          <p:nvPr/>
        </p:nvSpPr>
        <p:spPr>
          <a:xfrm>
            <a:off x="3845151" y="4564650"/>
            <a:ext cx="3131601" cy="766258"/>
          </a:xfrm>
          <a:prstGeom prst="rect">
            <a:avLst/>
          </a:prstGeom>
          <a:solidFill>
            <a:srgbClr val="FFFFFF"/>
          </a:solidFill>
          <a:ln w="12700">
            <a:solidFill>
              <a:srgbClr val="D9E2EC"/>
            </a:solidFill>
          </a:ln>
          <a:effectLst/>
        </p:spPr>
        <p:txBody>
          <a:bodyPr rtlCol="0" anchor="ctr"/>
          <a:lstStyle/>
          <a:p>
            <a:pPr algn="ctr"/>
          </a:p>
        </p:txBody>
      </p:sp>
      <p:sp>
        <p:nvSpPr>
          <p:cNvPr id="38" name="TextBox 37"/>
          <p:cNvSpPr txBox="1"/>
          <p:nvPr/>
        </p:nvSpPr>
        <p:spPr>
          <a:xfrm>
            <a:off x="3991455" y="4564650"/>
            <a:ext cx="2838993" cy="766258"/>
          </a:xfrm>
          <a:prstGeom prst="rect">
            <a:avLst/>
          </a:prstGeom>
          <a:noFill/>
        </p:spPr>
        <p:txBody>
          <a:bodyPr wrap="square" lIns="0" rIns="0" tIns="0" bIns="0" anchor="ctr">
            <a:spAutoFit/>
          </a:bodyPr>
          <a:lstStyle/>
          <a:p>
            <a:pPr algn="l">
              <a:lnSpc>
                <a:spcPct val="116000"/>
              </a:lnSpc>
            </a:pPr>
            <a:r>
              <a:rPr sz="1650" b="0" i="0">
                <a:solidFill>
                  <a:srgbClr val="21295C"/>
                </a:solidFill>
                <a:latin typeface="Arial"/>
              </a:rPr>
              <a:t>человек сказал сам о себе</a:t>
            </a:r>
          </a:p>
        </p:txBody>
      </p:sp>
      <p:sp>
        <p:nvSpPr>
          <p:cNvPr id="39" name="Rectangle 38"/>
          <p:cNvSpPr/>
          <p:nvPr/>
        </p:nvSpPr>
        <p:spPr>
          <a:xfrm>
            <a:off x="6976753" y="4564650"/>
            <a:ext cx="4675445" cy="766258"/>
          </a:xfrm>
          <a:prstGeom prst="rect">
            <a:avLst/>
          </a:prstGeom>
          <a:solidFill>
            <a:srgbClr val="FFFFFF"/>
          </a:solidFill>
          <a:ln w="12700">
            <a:solidFill>
              <a:srgbClr val="D9E2EC"/>
            </a:solidFill>
          </a:ln>
          <a:effectLst/>
        </p:spPr>
        <p:txBody>
          <a:bodyPr rtlCol="0" anchor="ctr"/>
          <a:lstStyle/>
          <a:p>
            <a:pPr algn="ctr"/>
          </a:p>
        </p:txBody>
      </p:sp>
      <p:sp>
        <p:nvSpPr>
          <p:cNvPr id="40" name="TextBox 39"/>
          <p:cNvSpPr txBox="1"/>
          <p:nvPr/>
        </p:nvSpPr>
        <p:spPr>
          <a:xfrm>
            <a:off x="7123057" y="4564650"/>
            <a:ext cx="4382837" cy="766258"/>
          </a:xfrm>
          <a:prstGeom prst="rect">
            <a:avLst/>
          </a:prstGeom>
          <a:noFill/>
        </p:spPr>
        <p:txBody>
          <a:bodyPr wrap="square" lIns="0" rIns="0" tIns="0" bIns="0" anchor="ctr">
            <a:spAutoFit/>
          </a:bodyPr>
          <a:lstStyle/>
          <a:p>
            <a:pPr algn="l">
              <a:lnSpc>
                <a:spcPct val="116000"/>
              </a:lnSpc>
            </a:pPr>
            <a:r>
              <a:rPr sz="1650" b="0" i="0">
                <a:solidFill>
                  <a:srgbClr val="21295C"/>
                </a:solidFill>
                <a:latin typeface="Arial"/>
              </a:rPr>
              <a:t>что он думает о своей работе</a:t>
            </a:r>
          </a:p>
        </p:txBody>
      </p:sp>
      <p:sp>
        <p:nvSpPr>
          <p:cNvPr id="41" name="TextBox 40"/>
          <p:cNvSpPr txBox="1"/>
          <p:nvPr/>
        </p:nvSpPr>
        <p:spPr>
          <a:xfrm>
            <a:off x="539496" y="5477213"/>
            <a:ext cx="11112703" cy="682140"/>
          </a:xfrm>
          <a:prstGeom prst="rect">
            <a:avLst/>
          </a:prstGeom>
          <a:noFill/>
        </p:spPr>
        <p:txBody>
          <a:bodyPr wrap="square" lIns="0" rIns="0" tIns="0" bIns="0" anchor="t">
            <a:spAutoFit/>
          </a:bodyPr>
          <a:lstStyle/>
          <a:p>
            <a:pPr algn="l">
              <a:lnSpc>
                <a:spcPct val="124000"/>
              </a:lnSpc>
            </a:pPr>
            <a:r>
              <a:rPr sz="1750" b="1" i="0">
                <a:solidFill>
                  <a:srgbClr val="21295C"/>
                </a:solidFill>
                <a:latin typeface="Arial"/>
              </a:rPr>
              <a:t>Разряд называется вместе с числом. Выше него число не утверждает ничего — и к своим числам лекция тоже.</a:t>
            </a:r>
          </a:p>
        </p:txBody>
      </p:sp>
      <p:sp>
        <p:nvSpPr>
          <p:cNvPr id="42" name="Rectangle 41"/>
          <p:cNvSpPr/>
          <p:nvPr/>
        </p:nvSpPr>
        <p:spPr>
          <a:xfrm>
            <a:off x="502920" y="888090"/>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Rectangle 2"/>
          <p:cNvSpPr/>
          <p:nvPr/>
        </p:nvSpPr>
        <p:spPr>
          <a:xfrm>
            <a:off x="0" y="0"/>
            <a:ext cx="155448" cy="6858000"/>
          </a:xfrm>
          <a:prstGeom prst="rect">
            <a:avLst/>
          </a:prstGeom>
          <a:solidFill>
            <a:srgbClr val="065A82"/>
          </a:solidFill>
          <a:ln>
            <a:noFill/>
          </a:ln>
          <a:effectLst/>
        </p:spPr>
        <p:txBody>
          <a:bodyPr rtlCol="0" anchor="ctr"/>
          <a:lstStyle/>
          <a:p>
            <a:pPr algn="ctr"/>
          </a:p>
        </p:txBody>
      </p:sp>
      <p:sp>
        <p:nvSpPr>
          <p:cNvPr id="4" name="Rounded Rectangle 3"/>
          <p:cNvSpPr/>
          <p:nvPr/>
        </p:nvSpPr>
        <p:spPr>
          <a:xfrm>
            <a:off x="7543800" y="914400"/>
            <a:ext cx="4144975" cy="2965634"/>
          </a:xfrm>
          <a:prstGeom prst="roundRect">
            <a:avLst>
              <a:gd name="adj" fmla="val 10277"/>
            </a:avLst>
          </a:prstGeom>
          <a:solidFill>
            <a:srgbClr val="F4F7FA"/>
          </a:solidFill>
          <a:ln w="19050">
            <a:solidFill>
              <a:srgbClr val="1C7293"/>
            </a:solidFill>
          </a:ln>
          <a:effectLst/>
        </p:spPr>
        <p:txBody>
          <a:bodyPr rtlCol="0" anchor="ctr"/>
          <a:lstStyle/>
          <a:p>
            <a:pPr algn="ctr"/>
          </a:p>
        </p:txBody>
      </p:sp>
      <p:pic>
        <p:nvPicPr>
          <p:cNvPr id="5" name="Picture 4" descr="s26-tekhnik-stavit-cheloveka-k-priboru.jpg"/>
          <p:cNvPicPr>
            <a:picLocks noChangeAspect="1"/>
          </p:cNvPicPr>
          <p:nvPr/>
        </p:nvPicPr>
        <p:blipFill>
          <a:blip r:embed="rId2"/>
          <a:stretch>
            <a:fillRect/>
          </a:stretch>
        </p:blipFill>
        <p:spPr>
          <a:xfrm>
            <a:off x="7680960" y="1051560"/>
            <a:ext cx="3870655" cy="2691314"/>
          </a:xfrm>
          <a:prstGeom prst="rect">
            <a:avLst/>
          </a:prstGeom>
        </p:spPr>
      </p:pic>
      <p:sp>
        <p:nvSpPr>
          <p:cNvPr id="6" name="TextBox 5"/>
          <p:cNvSpPr txBox="1"/>
          <p:nvPr/>
        </p:nvSpPr>
        <p:spPr>
          <a:xfrm>
            <a:off x="704088" y="960120"/>
            <a:ext cx="6675120" cy="950909"/>
          </a:xfrm>
          <a:prstGeom prst="rect">
            <a:avLst/>
          </a:prstGeom>
          <a:noFill/>
        </p:spPr>
        <p:txBody>
          <a:bodyPr wrap="square" lIns="0" rIns="0" tIns="0" bIns="0" anchor="t">
            <a:spAutoFit/>
          </a:bodyPr>
          <a:lstStyle/>
          <a:p>
            <a:pPr algn="l">
              <a:lnSpc>
                <a:spcPct val="110000"/>
              </a:lnSpc>
            </a:pPr>
            <a:r>
              <a:rPr sz="2750" b="1" i="0">
                <a:solidFill>
                  <a:srgbClr val="21295C"/>
                </a:solidFill>
                <a:latin typeface="Arial"/>
              </a:rPr>
              <a:t>1. Первичный скрининг и отбор на обследование</a:t>
            </a:r>
          </a:p>
        </p:txBody>
      </p:sp>
      <p:sp>
        <p:nvSpPr>
          <p:cNvPr id="7" name="Rectangle 6"/>
          <p:cNvSpPr/>
          <p:nvPr/>
        </p:nvSpPr>
        <p:spPr>
          <a:xfrm>
            <a:off x="704088" y="2002469"/>
            <a:ext cx="1188720" cy="59436"/>
          </a:xfrm>
          <a:prstGeom prst="rect">
            <a:avLst/>
          </a:prstGeom>
          <a:solidFill>
            <a:srgbClr val="F0AB00"/>
          </a:solidFill>
          <a:ln>
            <a:noFill/>
          </a:ln>
          <a:effectLst/>
        </p:spPr>
        <p:txBody>
          <a:bodyPr rtlCol="0" anchor="ctr"/>
          <a:lstStyle/>
          <a:p>
            <a:pPr algn="ctr"/>
          </a:p>
        </p:txBody>
      </p:sp>
      <p:sp>
        <p:nvSpPr>
          <p:cNvPr id="8" name="TextBox 7"/>
          <p:cNvSpPr txBox="1"/>
          <p:nvPr/>
        </p:nvSpPr>
        <p:spPr>
          <a:xfrm>
            <a:off x="704088" y="2276789"/>
            <a:ext cx="6473952" cy="942848"/>
          </a:xfrm>
          <a:prstGeom prst="rect">
            <a:avLst/>
          </a:prstGeom>
          <a:noFill/>
        </p:spPr>
        <p:txBody>
          <a:bodyPr wrap="square" lIns="0" rIns="0" tIns="0" bIns="0" anchor="t">
            <a:spAutoFit/>
          </a:bodyPr>
          <a:lstStyle/>
          <a:p>
            <a:pPr algn="l">
              <a:lnSpc>
                <a:spcPct val="124000"/>
              </a:lnSpc>
            </a:pPr>
            <a:r>
              <a:rPr sz="1550" b="1" i="0">
                <a:solidFill>
                  <a:srgbClr val="21295C"/>
                </a:solidFill>
                <a:latin typeface="Arial"/>
              </a:rPr>
              <a:t>Кого вообще смотреть.</a:t>
            </a:r>
            <a:r>
              <a:rPr sz="1550" b="0" i="0">
                <a:solidFill>
                  <a:srgbClr val="21295C"/>
                </a:solidFill>
                <a:latin typeface="Arial"/>
              </a:rPr>
              <a:t> Скрининг — обследование людей без жалоб, по формальному признаку. Прежде чем кого-то лечить, кто-то решает, кого вообще посмотреть.</a:t>
            </a:r>
          </a:p>
        </p:txBody>
      </p:sp>
      <p:sp>
        <p:nvSpPr>
          <p:cNvPr id="9" name="TextBox 8"/>
          <p:cNvSpPr txBox="1"/>
          <p:nvPr/>
        </p:nvSpPr>
        <p:spPr>
          <a:xfrm>
            <a:off x="704088" y="3347654"/>
            <a:ext cx="6473952" cy="640757"/>
          </a:xfrm>
          <a:prstGeom prst="rect">
            <a:avLst/>
          </a:prstGeom>
          <a:noFill/>
        </p:spPr>
        <p:txBody>
          <a:bodyPr wrap="square" lIns="0" rIns="0" tIns="0" bIns="0" anchor="t">
            <a:spAutoFit/>
          </a:bodyPr>
          <a:lstStyle/>
          <a:p>
            <a:pPr algn="l">
              <a:lnSpc>
                <a:spcPct val="124000"/>
              </a:lnSpc>
            </a:pPr>
            <a:r>
              <a:rPr sz="1550" b="0" i="0">
                <a:solidFill>
                  <a:srgbClr val="21295C"/>
                </a:solidFill>
                <a:latin typeface="Arial"/>
              </a:rPr>
              <a:t>По порядку: </a:t>
            </a:r>
            <a:r>
              <a:rPr sz="1550" b="1" i="0">
                <a:solidFill>
                  <a:srgbClr val="21295C"/>
                </a:solidFill>
                <a:latin typeface="Arial"/>
              </a:rPr>
              <a:t>Пример 1: чат-бот первой линии и его цена</a:t>
            </a:r>
            <a:r>
              <a:rPr sz="1550" b="0" i="0">
                <a:solidFill>
                  <a:srgbClr val="21295C"/>
                </a:solidFill>
                <a:latin typeface="Arial"/>
              </a:rPr>
              <a:t> · </a:t>
            </a:r>
            <a:r>
              <a:rPr sz="1550" b="1" i="0">
                <a:solidFill>
                  <a:srgbClr val="21295C"/>
                </a:solidFill>
                <a:latin typeface="Arial"/>
              </a:rPr>
              <a:t>Пример 2: глазное дно без офтальмолога</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Первичный скрининг: что это за стадия</a:t>
            </a:r>
          </a:p>
        </p:txBody>
      </p:sp>
      <p:sp>
        <p:nvSpPr>
          <p:cNvPr id="4" name="Rounded Rectangle 3"/>
          <p:cNvSpPr/>
          <p:nvPr/>
        </p:nvSpPr>
        <p:spPr>
          <a:xfrm>
            <a:off x="594360" y="1362456"/>
            <a:ext cx="9475927" cy="457200"/>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5" name="TextBox 4"/>
          <p:cNvSpPr txBox="1"/>
          <p:nvPr/>
        </p:nvSpPr>
        <p:spPr>
          <a:xfrm>
            <a:off x="676656" y="1408176"/>
            <a:ext cx="9311335" cy="365760"/>
          </a:xfrm>
          <a:prstGeom prst="rect">
            <a:avLst/>
          </a:prstGeom>
          <a:noFill/>
        </p:spPr>
        <p:txBody>
          <a:bodyPr wrap="square" lIns="0" rIns="0" tIns="0" bIns="0" anchor="ctr">
            <a:spAutoFit/>
          </a:bodyPr>
          <a:lstStyle/>
          <a:p>
            <a:pPr algn="ctr">
              <a:lnSpc>
                <a:spcPct val="110000"/>
              </a:lnSpc>
            </a:pPr>
            <a:r>
              <a:rPr sz="1350" b="0" i="0">
                <a:solidFill>
                  <a:srgbClr val="21295C"/>
                </a:solidFill>
                <a:latin typeface="Arial"/>
              </a:rPr>
              <a:t>Регистр населения</a:t>
            </a:r>
          </a:p>
        </p:txBody>
      </p:sp>
      <p:sp>
        <p:nvSpPr>
          <p:cNvPr id="6" name="Rounded Rectangle 5"/>
          <p:cNvSpPr/>
          <p:nvPr/>
        </p:nvSpPr>
        <p:spPr>
          <a:xfrm>
            <a:off x="594360" y="1984248"/>
            <a:ext cx="9475927" cy="457200"/>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7" name="TextBox 6"/>
          <p:cNvSpPr txBox="1"/>
          <p:nvPr/>
        </p:nvSpPr>
        <p:spPr>
          <a:xfrm>
            <a:off x="676656" y="2029967"/>
            <a:ext cx="9311335" cy="365760"/>
          </a:xfrm>
          <a:prstGeom prst="rect">
            <a:avLst/>
          </a:prstGeom>
          <a:noFill/>
        </p:spPr>
        <p:txBody>
          <a:bodyPr wrap="square" lIns="0" rIns="0" tIns="0" bIns="0" anchor="ctr">
            <a:spAutoFit/>
          </a:bodyPr>
          <a:lstStyle/>
          <a:p>
            <a:pPr algn="ctr">
              <a:lnSpc>
                <a:spcPct val="110000"/>
              </a:lnSpc>
            </a:pPr>
            <a:r>
              <a:rPr sz="1350" b="0" i="0">
                <a:solidFill>
                  <a:srgbClr val="21295C"/>
                </a:solidFill>
                <a:latin typeface="Arial"/>
              </a:rPr>
              <a:t>Жалоба</a:t>
            </a:r>
          </a:p>
        </p:txBody>
      </p:sp>
      <p:sp>
        <p:nvSpPr>
          <p:cNvPr id="8" name="Rounded Rectangle 7"/>
          <p:cNvSpPr/>
          <p:nvPr/>
        </p:nvSpPr>
        <p:spPr>
          <a:xfrm>
            <a:off x="594360" y="2606040"/>
            <a:ext cx="9475927" cy="457200"/>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9" name="TextBox 8"/>
          <p:cNvSpPr txBox="1"/>
          <p:nvPr/>
        </p:nvSpPr>
        <p:spPr>
          <a:xfrm>
            <a:off x="676656" y="2651760"/>
            <a:ext cx="9311335" cy="365760"/>
          </a:xfrm>
          <a:prstGeom prst="rect">
            <a:avLst/>
          </a:prstGeom>
          <a:noFill/>
        </p:spPr>
        <p:txBody>
          <a:bodyPr wrap="square" lIns="0" rIns="0" tIns="0" bIns="0" anchor="ctr">
            <a:spAutoFit/>
          </a:bodyPr>
          <a:lstStyle/>
          <a:p>
            <a:pPr algn="ctr">
              <a:lnSpc>
                <a:spcPct val="110000"/>
              </a:lnSpc>
            </a:pPr>
            <a:r>
              <a:rPr sz="1350" b="0" i="0">
                <a:solidFill>
                  <a:srgbClr val="21295C"/>
                </a:solidFill>
                <a:latin typeface="Arial"/>
              </a:rPr>
              <a:t>Направление врача</a:t>
            </a:r>
          </a:p>
        </p:txBody>
      </p:sp>
      <p:sp>
        <p:nvSpPr>
          <p:cNvPr id="10" name="Rounded Rectangle 9"/>
          <p:cNvSpPr/>
          <p:nvPr/>
        </p:nvSpPr>
        <p:spPr>
          <a:xfrm>
            <a:off x="594360" y="3227832"/>
            <a:ext cx="9475927" cy="457200"/>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11" name="TextBox 10"/>
          <p:cNvSpPr txBox="1"/>
          <p:nvPr/>
        </p:nvSpPr>
        <p:spPr>
          <a:xfrm>
            <a:off x="676656" y="3273551"/>
            <a:ext cx="9311335" cy="365760"/>
          </a:xfrm>
          <a:prstGeom prst="rect">
            <a:avLst/>
          </a:prstGeom>
          <a:noFill/>
        </p:spPr>
        <p:txBody>
          <a:bodyPr wrap="square" lIns="0" rIns="0" tIns="0" bIns="0" anchor="ctr">
            <a:spAutoFit/>
          </a:bodyPr>
          <a:lstStyle/>
          <a:p>
            <a:pPr algn="ctr">
              <a:lnSpc>
                <a:spcPct val="110000"/>
              </a:lnSpc>
            </a:pPr>
            <a:r>
              <a:rPr sz="1350" b="0" i="0">
                <a:solidFill>
                  <a:srgbClr val="21295C"/>
                </a:solidFill>
                <a:latin typeface="Arial"/>
              </a:rPr>
              <a:t>Разбор карты</a:t>
            </a:r>
          </a:p>
        </p:txBody>
      </p:sp>
      <p:sp>
        <p:nvSpPr>
          <p:cNvPr id="12" name="Rounded Rectangle 11"/>
          <p:cNvSpPr/>
          <p:nvPr/>
        </p:nvSpPr>
        <p:spPr>
          <a:xfrm>
            <a:off x="10362895" y="1335024"/>
            <a:ext cx="1325880" cy="2377440"/>
          </a:xfrm>
          <a:prstGeom prst="roundRect">
            <a:avLst>
              <a:gd name="adj" fmla="val 22988"/>
            </a:avLst>
          </a:prstGeom>
          <a:solidFill>
            <a:srgbClr val="FFFFFF"/>
          </a:solidFill>
          <a:ln w="19050">
            <a:solidFill>
              <a:srgbClr val="028090"/>
            </a:solidFill>
          </a:ln>
          <a:effectLst/>
        </p:spPr>
        <p:txBody>
          <a:bodyPr rtlCol="0" anchor="ctr"/>
          <a:lstStyle/>
          <a:p>
            <a:pPr algn="ctr"/>
          </a:p>
        </p:txBody>
      </p:sp>
      <p:sp>
        <p:nvSpPr>
          <p:cNvPr id="13" name="TextBox 12"/>
          <p:cNvSpPr txBox="1"/>
          <p:nvPr/>
        </p:nvSpPr>
        <p:spPr>
          <a:xfrm>
            <a:off x="10436047" y="1380744"/>
            <a:ext cx="1179576" cy="2286000"/>
          </a:xfrm>
          <a:prstGeom prst="rect">
            <a:avLst/>
          </a:prstGeom>
          <a:noFill/>
        </p:spPr>
        <p:txBody>
          <a:bodyPr wrap="square" lIns="0" rIns="0" tIns="0" bIns="0" anchor="ctr">
            <a:spAutoFit/>
          </a:bodyPr>
          <a:lstStyle/>
          <a:p>
            <a:pPr algn="ctr">
              <a:lnSpc>
                <a:spcPct val="110000"/>
              </a:lnSpc>
            </a:pPr>
            <a:r>
              <a:rPr sz="1200" b="1" i="0">
                <a:solidFill>
                  <a:srgbClr val="028090"/>
                </a:solidFill>
                <a:latin typeface="Arial"/>
              </a:rPr>
              <a:t>Попал в скрининг</a:t>
            </a:r>
          </a:p>
        </p:txBody>
      </p:sp>
      <p:sp>
        <p:nvSpPr>
          <p:cNvPr id="14" name="Rectangle 13"/>
          <p:cNvSpPr/>
          <p:nvPr/>
        </p:nvSpPr>
        <p:spPr>
          <a:xfrm>
            <a:off x="10161727" y="1575054"/>
            <a:ext cx="201168" cy="32004"/>
          </a:xfrm>
          <a:prstGeom prst="rect">
            <a:avLst/>
          </a:prstGeom>
          <a:solidFill>
            <a:srgbClr val="1C7293"/>
          </a:solidFill>
          <a:ln>
            <a:noFill/>
          </a:ln>
          <a:effectLst/>
        </p:spPr>
        <p:txBody>
          <a:bodyPr rtlCol="0" anchor="ctr"/>
          <a:lstStyle/>
          <a:p>
            <a:pPr algn="ctr"/>
          </a:p>
        </p:txBody>
      </p:sp>
      <p:sp>
        <p:nvSpPr>
          <p:cNvPr id="15" name="Rectangle 14"/>
          <p:cNvSpPr/>
          <p:nvPr/>
        </p:nvSpPr>
        <p:spPr>
          <a:xfrm>
            <a:off x="10161727" y="2196846"/>
            <a:ext cx="201168" cy="32004"/>
          </a:xfrm>
          <a:prstGeom prst="rect">
            <a:avLst/>
          </a:prstGeom>
          <a:solidFill>
            <a:srgbClr val="1C7293"/>
          </a:solidFill>
          <a:ln>
            <a:noFill/>
          </a:ln>
          <a:effectLst/>
        </p:spPr>
        <p:txBody>
          <a:bodyPr rtlCol="0" anchor="ctr"/>
          <a:lstStyle/>
          <a:p>
            <a:pPr algn="ctr"/>
          </a:p>
        </p:txBody>
      </p:sp>
      <p:sp>
        <p:nvSpPr>
          <p:cNvPr id="16" name="Rectangle 15"/>
          <p:cNvSpPr/>
          <p:nvPr/>
        </p:nvSpPr>
        <p:spPr>
          <a:xfrm>
            <a:off x="10161727" y="2818638"/>
            <a:ext cx="201168" cy="32004"/>
          </a:xfrm>
          <a:prstGeom prst="rect">
            <a:avLst/>
          </a:prstGeom>
          <a:solidFill>
            <a:srgbClr val="1C7293"/>
          </a:solidFill>
          <a:ln>
            <a:noFill/>
          </a:ln>
          <a:effectLst/>
        </p:spPr>
        <p:txBody>
          <a:bodyPr rtlCol="0" anchor="ctr"/>
          <a:lstStyle/>
          <a:p>
            <a:pPr algn="ctr"/>
          </a:p>
        </p:txBody>
      </p:sp>
      <p:sp>
        <p:nvSpPr>
          <p:cNvPr id="17" name="Rectangle 16"/>
          <p:cNvSpPr/>
          <p:nvPr/>
        </p:nvSpPr>
        <p:spPr>
          <a:xfrm>
            <a:off x="10161727" y="3440430"/>
            <a:ext cx="201168" cy="32004"/>
          </a:xfrm>
          <a:prstGeom prst="rect">
            <a:avLst/>
          </a:prstGeom>
          <a:solidFill>
            <a:srgbClr val="1C7293"/>
          </a:solidFill>
          <a:ln>
            <a:noFill/>
          </a:ln>
          <a:effectLst/>
        </p:spPr>
        <p:txBody>
          <a:bodyPr rtlCol="0" anchor="ctr"/>
          <a:lstStyle/>
          <a:p>
            <a:pPr algn="ctr"/>
          </a:p>
        </p:txBody>
      </p:sp>
      <p:sp>
        <p:nvSpPr>
          <p:cNvPr id="18" name="TextBox 17"/>
          <p:cNvSpPr txBox="1"/>
          <p:nvPr/>
        </p:nvSpPr>
        <p:spPr>
          <a:xfrm>
            <a:off x="502920" y="3785616"/>
            <a:ext cx="11185855" cy="215015"/>
          </a:xfrm>
          <a:prstGeom prst="rect">
            <a:avLst/>
          </a:prstGeom>
          <a:noFill/>
        </p:spPr>
        <p:txBody>
          <a:bodyPr wrap="square" lIns="0" rIns="0" tIns="0" bIns="0" anchor="t">
            <a:spAutoFit/>
          </a:bodyPr>
          <a:lstStyle/>
          <a:p>
            <a:pPr algn="l">
              <a:lnSpc>
                <a:spcPct val="114000"/>
              </a:lnSpc>
            </a:pPr>
            <a:r>
              <a:rPr sz="1200" b="0" i="1">
                <a:solidFill>
                  <a:srgbClr val="1C7293"/>
                </a:solidFill>
                <a:latin typeface="Arial"/>
              </a:rPr>
              <a:t>Четыре входа, ни один не следует из другого</a:t>
            </a:r>
          </a:p>
        </p:txBody>
      </p:sp>
      <p:sp>
        <p:nvSpPr>
          <p:cNvPr id="19" name="Rounded Rectangle 18"/>
          <p:cNvSpPr/>
          <p:nvPr/>
        </p:nvSpPr>
        <p:spPr>
          <a:xfrm>
            <a:off x="374904" y="4092071"/>
            <a:ext cx="11441887" cy="1848525"/>
          </a:xfrm>
          <a:prstGeom prst="roundRect">
            <a:avLst>
              <a:gd name="adj" fmla="val 16488"/>
            </a:avLst>
          </a:prstGeom>
          <a:solidFill>
            <a:srgbClr val="F4F7FA"/>
          </a:solidFill>
          <a:ln w="19050">
            <a:solidFill>
              <a:srgbClr val="1C7293"/>
            </a:solidFill>
          </a:ln>
          <a:effectLst/>
        </p:spPr>
        <p:txBody>
          <a:bodyPr rtlCol="0" anchor="ctr"/>
          <a:lstStyle/>
          <a:p>
            <a:pPr algn="ctr"/>
          </a:p>
        </p:txBody>
      </p:sp>
      <p:sp>
        <p:nvSpPr>
          <p:cNvPr id="20" name="TextBox 19"/>
          <p:cNvSpPr txBox="1"/>
          <p:nvPr/>
        </p:nvSpPr>
        <p:spPr>
          <a:xfrm>
            <a:off x="539496" y="4183511"/>
            <a:ext cx="5373471" cy="2052696"/>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 Известно скудно: возраст · пол · интервал</a:t>
            </a:r>
          </a:p>
          <a:p>
            <a:pPr algn="l">
              <a:lnSpc>
                <a:spcPct val="126000"/>
              </a:lnSpc>
              <a:spcBef>
                <a:spcPts val="700"/>
              </a:spcBef>
            </a:pPr>
            <a:r>
              <a:rPr sz="1500" b="0" i="0">
                <a:solidFill>
                  <a:srgbClr val="21295C"/>
                </a:solidFill>
                <a:latin typeface="Arial"/>
              </a:rPr>
              <a:t/>
            </a:r>
            <a:r>
              <a:rPr sz="1500" b="0" i="0">
                <a:solidFill>
                  <a:srgbClr val="21295C"/>
                </a:solidFill>
                <a:latin typeface="Arial"/>
              </a:rPr>
              <a:t>• Вопрос один: звать ли смотреть. Дальше — обследование либо ничего</a:t>
            </a:r>
          </a:p>
        </p:txBody>
      </p:sp>
      <p:sp>
        <p:nvSpPr>
          <p:cNvPr id="21" name="TextBox 20"/>
          <p:cNvSpPr txBox="1"/>
          <p:nvPr/>
        </p:nvSpPr>
        <p:spPr>
          <a:xfrm>
            <a:off x="6278727" y="4183511"/>
            <a:ext cx="5373471" cy="2052696"/>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Почему стадия первая.</a:t>
            </a:r>
            <a:r>
              <a:rPr sz="1500" b="0" i="0">
                <a:solidFill>
                  <a:srgbClr val="21295C"/>
                </a:solidFill>
                <a:latin typeface="Arial"/>
              </a:rPr>
              <a:t> Непозванного не видит никто; порог назначен документом раньше замера точности.</a:t>
            </a:r>
          </a:p>
          <a:p>
            <a:pPr algn="l">
              <a:lnSpc>
                <a:spcPct val="126000"/>
              </a:lnSpc>
              <a:spcBef>
                <a:spcPts val="700"/>
              </a:spcBef>
            </a:pPr>
            <a:r>
              <a:rPr sz="1500" b="0" i="0">
                <a:solidFill>
                  <a:srgbClr val="21295C"/>
                </a:solidFill>
                <a:latin typeface="Arial"/>
              </a:rPr>
              <a:t/>
            </a:r>
            <a:r>
              <a:rPr sz="1500" b="1" i="0">
                <a:solidFill>
                  <a:srgbClr val="21295C"/>
                </a:solidFill>
                <a:latin typeface="Arial"/>
              </a:rPr>
              <a:t>Без модели порядка три:</a:t>
            </a:r>
            <a:r>
              <a:rPr sz="1500" b="0" i="0">
                <a:solidFill>
                  <a:srgbClr val="21295C"/>
                </a:solidFill>
                <a:latin typeface="Arial"/>
              </a:rPr>
              <a:t> звать по возрасту · ждать жалобу · сортировать по тяжести. Классических режимов из них два.</a:t>
            </a:r>
          </a:p>
        </p:txBody>
      </p:sp>
      <p:sp>
        <p:nvSpPr>
          <p:cNvPr id="22" name="Rectangle 21"/>
          <p:cNvSpPr/>
          <p:nvPr/>
        </p:nvSpPr>
        <p:spPr>
          <a:xfrm>
            <a:off x="6091275" y="4183511"/>
            <a:ext cx="9144" cy="1574205"/>
          </a:xfrm>
          <a:prstGeom prst="rect">
            <a:avLst/>
          </a:prstGeom>
          <a:solidFill>
            <a:srgbClr val="D9E2EC"/>
          </a:solidFill>
          <a:ln>
            <a:noFill/>
          </a:ln>
          <a:effectLst/>
        </p:spPr>
        <p:txBody>
          <a:bodyPr rtlCol="0" anchor="ctr"/>
          <a:lstStyle/>
          <a:p>
            <a:pPr algn="ctr"/>
          </a:p>
        </p:txBody>
      </p:sp>
      <p:sp>
        <p:nvSpPr>
          <p:cNvPr id="23" name="Rectangle 22"/>
          <p:cNvSpPr/>
          <p:nvPr/>
        </p:nvSpPr>
        <p:spPr>
          <a:xfrm>
            <a:off x="502920" y="888090"/>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Что делают на стадии скрининга без модели</a:t>
            </a:r>
          </a:p>
        </p:txBody>
      </p:sp>
      <p:sp>
        <p:nvSpPr>
          <p:cNvPr id="4" name="TextBox 3"/>
          <p:cNvSpPr txBox="1"/>
          <p:nvPr/>
        </p:nvSpPr>
        <p:spPr>
          <a:xfrm>
            <a:off x="502920" y="1371600"/>
            <a:ext cx="1307592" cy="639889"/>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Без модели</a:t>
            </a:r>
          </a:p>
        </p:txBody>
      </p:sp>
      <p:sp>
        <p:nvSpPr>
          <p:cNvPr id="5" name="Rounded Rectangle 4"/>
          <p:cNvSpPr/>
          <p:nvPr/>
        </p:nvSpPr>
        <p:spPr>
          <a:xfrm>
            <a:off x="1920240" y="1335024"/>
            <a:ext cx="1347070"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6" name="TextBox 5"/>
          <p:cNvSpPr txBox="1"/>
          <p:nvPr/>
        </p:nvSpPr>
        <p:spPr>
          <a:xfrm>
            <a:off x="2002536" y="1380744"/>
            <a:ext cx="1182478"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Назначить порог</a:t>
            </a:r>
          </a:p>
        </p:txBody>
      </p:sp>
      <p:sp>
        <p:nvSpPr>
          <p:cNvPr id="7" name="Right Arrow 6"/>
          <p:cNvSpPr/>
          <p:nvPr/>
        </p:nvSpPr>
        <p:spPr>
          <a:xfrm>
            <a:off x="3313030" y="1622964"/>
            <a:ext cx="182880" cy="137160"/>
          </a:xfrm>
          <a:prstGeom prst="rightArrow">
            <a:avLst/>
          </a:prstGeom>
          <a:solidFill>
            <a:srgbClr val="1C7293"/>
          </a:solidFill>
          <a:ln>
            <a:noFill/>
          </a:ln>
          <a:effectLst/>
        </p:spPr>
        <p:txBody>
          <a:bodyPr rtlCol="0" anchor="ctr"/>
          <a:lstStyle/>
          <a:p>
            <a:pPr algn="ctr"/>
          </a:p>
        </p:txBody>
      </p:sp>
      <p:sp>
        <p:nvSpPr>
          <p:cNvPr id="8" name="Rounded Rectangle 7"/>
          <p:cNvSpPr/>
          <p:nvPr/>
        </p:nvSpPr>
        <p:spPr>
          <a:xfrm>
            <a:off x="3541630" y="1335024"/>
            <a:ext cx="1347070"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9" name="TextBox 8"/>
          <p:cNvSpPr txBox="1"/>
          <p:nvPr/>
        </p:nvSpPr>
        <p:spPr>
          <a:xfrm>
            <a:off x="3623926" y="1380744"/>
            <a:ext cx="1182478"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Позвать по списку</a:t>
            </a:r>
          </a:p>
        </p:txBody>
      </p:sp>
      <p:sp>
        <p:nvSpPr>
          <p:cNvPr id="10" name="Right Arrow 9"/>
          <p:cNvSpPr/>
          <p:nvPr/>
        </p:nvSpPr>
        <p:spPr>
          <a:xfrm>
            <a:off x="4934421" y="1622964"/>
            <a:ext cx="182880" cy="137160"/>
          </a:xfrm>
          <a:prstGeom prst="rightArrow">
            <a:avLst/>
          </a:prstGeom>
          <a:solidFill>
            <a:srgbClr val="1C7293"/>
          </a:solidFill>
          <a:ln>
            <a:noFill/>
          </a:ln>
          <a:effectLst/>
        </p:spPr>
        <p:txBody>
          <a:bodyPr rtlCol="0" anchor="ctr"/>
          <a:lstStyle/>
          <a:p>
            <a:pPr algn="ctr"/>
          </a:p>
        </p:txBody>
      </p:sp>
      <p:sp>
        <p:nvSpPr>
          <p:cNvPr id="11" name="Rounded Rectangle 10"/>
          <p:cNvSpPr/>
          <p:nvPr/>
        </p:nvSpPr>
        <p:spPr>
          <a:xfrm>
            <a:off x="5163021" y="1335024"/>
            <a:ext cx="1347070"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2" name="TextBox 11"/>
          <p:cNvSpPr txBox="1"/>
          <p:nvPr/>
        </p:nvSpPr>
        <p:spPr>
          <a:xfrm>
            <a:off x="5245317" y="1380744"/>
            <a:ext cx="1182478"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Снять снимок</a:t>
            </a:r>
          </a:p>
        </p:txBody>
      </p:sp>
      <p:sp>
        <p:nvSpPr>
          <p:cNvPr id="13" name="Right Arrow 12"/>
          <p:cNvSpPr/>
          <p:nvPr/>
        </p:nvSpPr>
        <p:spPr>
          <a:xfrm>
            <a:off x="6555811" y="1622964"/>
            <a:ext cx="182880" cy="137160"/>
          </a:xfrm>
          <a:prstGeom prst="rightArrow">
            <a:avLst/>
          </a:prstGeom>
          <a:solidFill>
            <a:srgbClr val="1C7293"/>
          </a:solidFill>
          <a:ln>
            <a:noFill/>
          </a:ln>
          <a:effectLst/>
        </p:spPr>
        <p:txBody>
          <a:bodyPr rtlCol="0" anchor="ctr"/>
          <a:lstStyle/>
          <a:p>
            <a:pPr algn="ctr"/>
          </a:p>
        </p:txBody>
      </p:sp>
      <p:sp>
        <p:nvSpPr>
          <p:cNvPr id="14" name="Rounded Rectangle 13"/>
          <p:cNvSpPr/>
          <p:nvPr/>
        </p:nvSpPr>
        <p:spPr>
          <a:xfrm>
            <a:off x="6784411" y="1335024"/>
            <a:ext cx="1347070"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5" name="TextBox 14"/>
          <p:cNvSpPr txBox="1"/>
          <p:nvPr/>
        </p:nvSpPr>
        <p:spPr>
          <a:xfrm>
            <a:off x="6866707" y="1380744"/>
            <a:ext cx="1182478"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Прочесть двоим</a:t>
            </a:r>
          </a:p>
        </p:txBody>
      </p:sp>
      <p:sp>
        <p:nvSpPr>
          <p:cNvPr id="16" name="TextBox 15"/>
          <p:cNvSpPr txBox="1"/>
          <p:nvPr/>
        </p:nvSpPr>
        <p:spPr>
          <a:xfrm>
            <a:off x="502920" y="2230945"/>
            <a:ext cx="1307592" cy="639889"/>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…и дальше</a:t>
            </a:r>
          </a:p>
        </p:txBody>
      </p:sp>
      <p:sp>
        <p:nvSpPr>
          <p:cNvPr id="17" name="Rounded Rectangle 16"/>
          <p:cNvSpPr/>
          <p:nvPr/>
        </p:nvSpPr>
        <p:spPr>
          <a:xfrm>
            <a:off x="1920240" y="2194369"/>
            <a:ext cx="1887534"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8" name="TextBox 17"/>
          <p:cNvSpPr txBox="1"/>
          <p:nvPr/>
        </p:nvSpPr>
        <p:spPr>
          <a:xfrm>
            <a:off x="2002536" y="2240089"/>
            <a:ext cx="1722942"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Арбитраж</a:t>
            </a:r>
          </a:p>
        </p:txBody>
      </p:sp>
      <p:sp>
        <p:nvSpPr>
          <p:cNvPr id="19" name="Right Arrow 18"/>
          <p:cNvSpPr/>
          <p:nvPr/>
        </p:nvSpPr>
        <p:spPr>
          <a:xfrm>
            <a:off x="3853494" y="2482310"/>
            <a:ext cx="182880" cy="137160"/>
          </a:xfrm>
          <a:prstGeom prst="rightArrow">
            <a:avLst/>
          </a:prstGeom>
          <a:solidFill>
            <a:srgbClr val="1C7293"/>
          </a:solidFill>
          <a:ln>
            <a:noFill/>
          </a:ln>
          <a:effectLst/>
        </p:spPr>
        <p:txBody>
          <a:bodyPr rtlCol="0" anchor="ctr"/>
          <a:lstStyle/>
          <a:p>
            <a:pPr algn="ctr"/>
          </a:p>
        </p:txBody>
      </p:sp>
      <p:sp>
        <p:nvSpPr>
          <p:cNvPr id="20" name="Rounded Rectangle 19"/>
          <p:cNvSpPr/>
          <p:nvPr/>
        </p:nvSpPr>
        <p:spPr>
          <a:xfrm>
            <a:off x="4082094" y="2194369"/>
            <a:ext cx="1887534"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1" name="TextBox 20"/>
          <p:cNvSpPr txBox="1"/>
          <p:nvPr/>
        </p:nvSpPr>
        <p:spPr>
          <a:xfrm>
            <a:off x="4164390" y="2240089"/>
            <a:ext cx="1722942"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Сообщить исход</a:t>
            </a:r>
          </a:p>
        </p:txBody>
      </p:sp>
      <p:sp>
        <p:nvSpPr>
          <p:cNvPr id="22" name="Right Arrow 21"/>
          <p:cNvSpPr/>
          <p:nvPr/>
        </p:nvSpPr>
        <p:spPr>
          <a:xfrm>
            <a:off x="6015348" y="2482310"/>
            <a:ext cx="182880" cy="137160"/>
          </a:xfrm>
          <a:prstGeom prst="rightArrow">
            <a:avLst/>
          </a:prstGeom>
          <a:solidFill>
            <a:srgbClr val="1C7293"/>
          </a:solidFill>
          <a:ln>
            <a:noFill/>
          </a:ln>
          <a:effectLst/>
        </p:spPr>
        <p:txBody>
          <a:bodyPr rtlCol="0" anchor="ctr"/>
          <a:lstStyle/>
          <a:p>
            <a:pPr algn="ctr"/>
          </a:p>
        </p:txBody>
      </p:sp>
      <p:sp>
        <p:nvSpPr>
          <p:cNvPr id="23" name="Rounded Rectangle 22"/>
          <p:cNvSpPr/>
          <p:nvPr/>
        </p:nvSpPr>
        <p:spPr>
          <a:xfrm>
            <a:off x="6243948" y="2194369"/>
            <a:ext cx="1887534"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4" name="TextBox 23"/>
          <p:cNvSpPr txBox="1"/>
          <p:nvPr/>
        </p:nvSpPr>
        <p:spPr>
          <a:xfrm>
            <a:off x="6326244" y="2240089"/>
            <a:ext cx="1722942"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Отсортировать поток</a:t>
            </a:r>
          </a:p>
        </p:txBody>
      </p:sp>
      <p:sp>
        <p:nvSpPr>
          <p:cNvPr id="25" name="TextBox 24"/>
          <p:cNvSpPr txBox="1"/>
          <p:nvPr/>
        </p:nvSpPr>
        <p:spPr>
          <a:xfrm>
            <a:off x="502920" y="3090291"/>
            <a:ext cx="1307592" cy="639889"/>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Заняла модель</a:t>
            </a:r>
          </a:p>
        </p:txBody>
      </p:sp>
      <p:sp>
        <p:nvSpPr>
          <p:cNvPr id="26" name="Rounded Rectangle 25"/>
          <p:cNvSpPr/>
          <p:nvPr/>
        </p:nvSpPr>
        <p:spPr>
          <a:xfrm>
            <a:off x="1920240" y="3053715"/>
            <a:ext cx="1972878"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7" name="TextBox 26"/>
          <p:cNvSpPr txBox="1"/>
          <p:nvPr/>
        </p:nvSpPr>
        <p:spPr>
          <a:xfrm>
            <a:off x="2002536" y="3099435"/>
            <a:ext cx="1808286"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Прочесть</a:t>
            </a:r>
          </a:p>
        </p:txBody>
      </p:sp>
      <p:sp>
        <p:nvSpPr>
          <p:cNvPr id="28" name="Rounded Rectangle 27"/>
          <p:cNvSpPr/>
          <p:nvPr/>
        </p:nvSpPr>
        <p:spPr>
          <a:xfrm>
            <a:off x="4039422" y="3053715"/>
            <a:ext cx="1972878"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9" name="TextBox 28"/>
          <p:cNvSpPr txBox="1"/>
          <p:nvPr/>
        </p:nvSpPr>
        <p:spPr>
          <a:xfrm>
            <a:off x="4121718" y="3099435"/>
            <a:ext cx="1808286"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Сообщить исход</a:t>
            </a:r>
          </a:p>
        </p:txBody>
      </p:sp>
      <p:sp>
        <p:nvSpPr>
          <p:cNvPr id="30" name="Rounded Rectangle 29"/>
          <p:cNvSpPr/>
          <p:nvPr/>
        </p:nvSpPr>
        <p:spPr>
          <a:xfrm>
            <a:off x="6158604" y="3053715"/>
            <a:ext cx="1972878"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31" name="TextBox 30"/>
          <p:cNvSpPr txBox="1"/>
          <p:nvPr/>
        </p:nvSpPr>
        <p:spPr>
          <a:xfrm>
            <a:off x="6240900" y="3099435"/>
            <a:ext cx="1808286"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Отсортировать</a:t>
            </a:r>
          </a:p>
        </p:txBody>
      </p:sp>
      <p:sp>
        <p:nvSpPr>
          <p:cNvPr id="32" name="TextBox 31"/>
          <p:cNvSpPr txBox="1"/>
          <p:nvPr/>
        </p:nvSpPr>
        <p:spPr>
          <a:xfrm>
            <a:off x="502920" y="3803333"/>
            <a:ext cx="7628562"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Семь действий стадии — и три из них заняла модель</a:t>
            </a:r>
          </a:p>
        </p:txBody>
      </p:sp>
      <p:sp>
        <p:nvSpPr>
          <p:cNvPr id="33" name="Rounded Rectangle 32"/>
          <p:cNvSpPr/>
          <p:nvPr/>
        </p:nvSpPr>
        <p:spPr>
          <a:xfrm>
            <a:off x="374904" y="4443983"/>
            <a:ext cx="11441887" cy="1792224"/>
          </a:xfrm>
          <a:prstGeom prst="roundRect">
            <a:avLst>
              <a:gd name="adj" fmla="val 17006"/>
            </a:avLst>
          </a:prstGeom>
          <a:solidFill>
            <a:srgbClr val="F4F7FA"/>
          </a:solidFill>
          <a:ln w="19050">
            <a:solidFill>
              <a:srgbClr val="1C7293"/>
            </a:solidFill>
          </a:ln>
          <a:effectLst/>
        </p:spPr>
        <p:txBody>
          <a:bodyPr rtlCol="0" anchor="ctr"/>
          <a:lstStyle/>
          <a:p>
            <a:pPr algn="ctr"/>
          </a:p>
        </p:txBody>
      </p:sp>
      <p:sp>
        <p:nvSpPr>
          <p:cNvPr id="34" name="TextBox 33"/>
          <p:cNvSpPr txBox="1"/>
          <p:nvPr/>
        </p:nvSpPr>
        <p:spPr>
          <a:xfrm>
            <a:off x="539496" y="4535423"/>
            <a:ext cx="11112703" cy="1700784"/>
          </a:xfrm>
          <a:prstGeom prst="rect">
            <a:avLst/>
          </a:prstGeom>
          <a:noFill/>
        </p:spPr>
        <p:txBody>
          <a:bodyPr wrap="square" lIns="0" rIns="0" tIns="0" bIns="0" anchor="t">
            <a:spAutoFit/>
          </a:bodyPr>
          <a:lstStyle/>
          <a:p>
            <a:pPr algn="l">
              <a:lnSpc>
                <a:spcPct val="126000"/>
              </a:lnSpc>
            </a:pPr>
            <a:r>
              <a:rPr sz="1400" b="0" i="0">
                <a:solidFill>
                  <a:srgbClr val="21295C"/>
                </a:solidFill>
                <a:latin typeface="Arial"/>
              </a:rPr>
              <a:t>Письмо, с которого началась лекция, вышло отсюда: шведская программа скрининга молочной железы берёт список жителей, отбирает по возрасту и полу и рассылает приглашения. Человек не обращался — его позвали.</a:t>
            </a:r>
          </a:p>
          <a:p>
            <a:pPr algn="l">
              <a:lnSpc>
                <a:spcPct val="126000"/>
              </a:lnSpc>
              <a:spcBef>
                <a:spcPts val="700"/>
              </a:spcBef>
            </a:pPr>
            <a:r>
              <a:rPr sz="1400" b="0" i="0">
                <a:solidFill>
                  <a:srgbClr val="21295C"/>
                </a:solidFill>
                <a:latin typeface="Arial"/>
              </a:rPr>
              <a:t/>
            </a:r>
            <a:r>
              <a:rPr sz="1400" b="1" i="0">
                <a:solidFill>
                  <a:srgbClr val="21295C"/>
                </a:solidFill>
                <a:latin typeface="Arial"/>
              </a:rPr>
              <a:t>Порог, приглашение, съёмка и арбитраж остались людям. Новый шаг — годный снимок.</a:t>
            </a:r>
          </a:p>
          <a:p>
            <a:pPr algn="l">
              <a:lnSpc>
                <a:spcPct val="126000"/>
              </a:lnSpc>
              <a:spcBef>
                <a:spcPts val="700"/>
              </a:spcBef>
            </a:pPr>
            <a:r>
              <a:rPr sz="1400" b="0" i="0">
                <a:solidFill>
                  <a:srgbClr val="21295C"/>
                </a:solidFill>
                <a:latin typeface="Arial"/>
              </a:rPr>
              <a:t/>
            </a:r>
            <a:r>
              <a:rPr sz="1400" b="1" i="0">
                <a:solidFill>
                  <a:srgbClr val="21295C"/>
                </a:solidFill>
                <a:latin typeface="Arial"/>
              </a:rPr>
              <a:t>За «нет» не следует ничего, и нигде не записано:</a:t>
            </a:r>
            <a:r>
              <a:rPr sz="1400" b="0" i="0">
                <a:solidFill>
                  <a:srgbClr val="21295C"/>
                </a:solidFill>
                <a:latin typeface="Arial"/>
              </a:rPr>
              <a:t> события, которого не было, в карте нет.</a:t>
            </a:r>
          </a:p>
          <a:p>
            <a:pPr algn="l">
              <a:lnSpc>
                <a:spcPct val="126000"/>
              </a:lnSpc>
              <a:spcBef>
                <a:spcPts val="700"/>
              </a:spcBef>
            </a:pPr>
            <a:r>
              <a:rPr sz="1400" b="0" i="0">
                <a:solidFill>
                  <a:srgbClr val="21295C"/>
                </a:solidFill>
                <a:latin typeface="Arial"/>
              </a:rPr>
              <a:t/>
            </a:r>
            <a:r>
              <a:rPr sz="1400" b="1" i="0">
                <a:solidFill>
                  <a:srgbClr val="21295C"/>
                </a:solidFill>
                <a:latin typeface="Arial"/>
              </a:rPr>
              <a:t>У кого в рабочем контуре стоит автоматический фильтр — и кто разбирает отфильтрованное?</a:t>
            </a:r>
          </a:p>
        </p:txBody>
      </p:sp>
      <p:sp>
        <p:nvSpPr>
          <p:cNvPr id="35" name="Rounded Rectangle 34"/>
          <p:cNvSpPr/>
          <p:nvPr/>
        </p:nvSpPr>
        <p:spPr>
          <a:xfrm>
            <a:off x="8442378" y="1335024"/>
            <a:ext cx="3246397" cy="3108960"/>
          </a:xfrm>
          <a:prstGeom prst="roundRect">
            <a:avLst>
              <a:gd name="adj" fmla="val 9803"/>
            </a:avLst>
          </a:prstGeom>
          <a:solidFill>
            <a:srgbClr val="F4F7FA"/>
          </a:solidFill>
          <a:ln w="19050">
            <a:solidFill>
              <a:srgbClr val="1C7293"/>
            </a:solidFill>
          </a:ln>
          <a:effectLst/>
        </p:spPr>
        <p:txBody>
          <a:bodyPr rtlCol="0" anchor="ctr"/>
          <a:lstStyle/>
          <a:p>
            <a:pPr algn="ctr"/>
          </a:p>
        </p:txBody>
      </p:sp>
      <p:pic>
        <p:nvPicPr>
          <p:cNvPr id="36" name="Picture 35" descr="s12-stranitsa-programmy-kogo-zovut.png"/>
          <p:cNvPicPr>
            <a:picLocks noChangeAspect="1"/>
          </p:cNvPicPr>
          <p:nvPr/>
        </p:nvPicPr>
        <p:blipFill>
          <a:blip r:embed="rId2"/>
          <a:stretch>
            <a:fillRect/>
          </a:stretch>
        </p:blipFill>
        <p:spPr>
          <a:xfrm>
            <a:off x="8579538" y="1472184"/>
            <a:ext cx="2972077" cy="2834640"/>
          </a:xfrm>
          <a:prstGeom prst="rect">
            <a:avLst/>
          </a:prstGeom>
        </p:spPr>
      </p:pic>
      <p:sp>
        <p:nvSpPr>
          <p:cNvPr id="37" name="Rectangle 36"/>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38" name="TextBox 37"/>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3"/>
              </a:rPr>
              <a:t>Программа скрининга NHS England, GOV.UK, снято 13 октября 2026</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Без модели: два классических режима — звать по возрасту и ждать жалобу</a:t>
            </a:r>
          </a:p>
        </p:txBody>
      </p:sp>
      <p:sp>
        <p:nvSpPr>
          <p:cNvPr id="4" name="Rounded Rectangle 3"/>
          <p:cNvSpPr/>
          <p:nvPr/>
        </p:nvSpPr>
        <p:spPr>
          <a:xfrm>
            <a:off x="502920" y="1335024"/>
            <a:ext cx="3618890" cy="1556177"/>
          </a:xfrm>
          <a:prstGeom prst="roundRect">
            <a:avLst>
              <a:gd name="adj" fmla="val 19586"/>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ПРОПУСК</a:t>
            </a:r>
          </a:p>
        </p:txBody>
      </p:sp>
      <p:sp>
        <p:nvSpPr>
          <p:cNvPr id="6" name="TextBox 5"/>
          <p:cNvSpPr txBox="1"/>
          <p:nvPr/>
        </p:nvSpPr>
        <p:spPr>
          <a:xfrm>
            <a:off x="640080" y="1725375"/>
            <a:ext cx="3344570"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рак между приглашениями</a:t>
            </a:r>
          </a:p>
        </p:txBody>
      </p:sp>
      <p:sp>
        <p:nvSpPr>
          <p:cNvPr id="7" name="TextBox 6"/>
          <p:cNvSpPr txBox="1"/>
          <p:nvPr/>
        </p:nvSpPr>
        <p:spPr>
          <a:xfrm>
            <a:off x="640080" y="2542797"/>
            <a:ext cx="3344570"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счёт — в разделе о диагнозе</a:t>
            </a:r>
          </a:p>
        </p:txBody>
      </p:sp>
      <p:sp>
        <p:nvSpPr>
          <p:cNvPr id="8" name="Rounded Rectangle 7"/>
          <p:cNvSpPr/>
          <p:nvPr/>
        </p:nvSpPr>
        <p:spPr>
          <a:xfrm>
            <a:off x="4286402" y="1335024"/>
            <a:ext cx="3618890" cy="1556177"/>
          </a:xfrm>
          <a:prstGeom prst="roundRect">
            <a:avLst>
              <a:gd name="adj" fmla="val 19586"/>
            </a:avLst>
          </a:prstGeom>
          <a:solidFill>
            <a:srgbClr val="FFFFFF"/>
          </a:solidFill>
          <a:ln w="25400">
            <a:solidFill>
              <a:srgbClr val="F0AB00"/>
            </a:solidFill>
          </a:ln>
          <a:effectLst/>
        </p:spPr>
        <p:txBody>
          <a:bodyPr rtlCol="0" anchor="ctr"/>
          <a:lstStyle/>
          <a:p>
            <a:pPr algn="ctr"/>
          </a:p>
        </p:txBody>
      </p:sp>
      <p:sp>
        <p:nvSpPr>
          <p:cNvPr id="9" name="TextBox 8"/>
          <p:cNvSpPr txBox="1"/>
          <p:nvPr/>
        </p:nvSpPr>
        <p:spPr>
          <a:xfrm>
            <a:off x="4423562"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ЛОЖНЫЙ ВЫЗОВ</a:t>
            </a:r>
          </a:p>
        </p:txBody>
      </p:sp>
      <p:sp>
        <p:nvSpPr>
          <p:cNvPr id="10" name="TextBox 9"/>
          <p:cNvSpPr txBox="1"/>
          <p:nvPr/>
        </p:nvSpPr>
        <p:spPr>
          <a:xfrm>
            <a:off x="4423562" y="1725375"/>
            <a:ext cx="3344570" cy="817422"/>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2,0 из ста обследованных</a:t>
            </a:r>
          </a:p>
        </p:txBody>
      </p:sp>
      <p:sp>
        <p:nvSpPr>
          <p:cNvPr id="11" name="TextBox 10"/>
          <p:cNvSpPr txBox="1"/>
          <p:nvPr/>
        </p:nvSpPr>
        <p:spPr>
          <a:xfrm>
            <a:off x="4423562" y="2542797"/>
            <a:ext cx="3344570"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Швеция: 52 872 женщины, двойное чтение</a:t>
            </a:r>
          </a:p>
        </p:txBody>
      </p:sp>
      <p:sp>
        <p:nvSpPr>
          <p:cNvPr id="12" name="Rounded Rectangle 11"/>
          <p:cNvSpPr/>
          <p:nvPr/>
        </p:nvSpPr>
        <p:spPr>
          <a:xfrm>
            <a:off x="8069884" y="1335024"/>
            <a:ext cx="3618890" cy="1556177"/>
          </a:xfrm>
          <a:prstGeom prst="roundRect">
            <a:avLst>
              <a:gd name="adj" fmla="val 19586"/>
            </a:avLst>
          </a:prstGeom>
          <a:solidFill>
            <a:srgbClr val="F4F7FA"/>
          </a:solidFill>
          <a:ln w="15240">
            <a:solidFill>
              <a:srgbClr val="1C7293"/>
            </a:solidFill>
          </a:ln>
          <a:effectLst/>
        </p:spPr>
        <p:txBody>
          <a:bodyPr rtlCol="0" anchor="ctr"/>
          <a:lstStyle/>
          <a:p>
            <a:pPr algn="ctr"/>
          </a:p>
        </p:txBody>
      </p:sp>
      <p:sp>
        <p:nvSpPr>
          <p:cNvPr id="13" name="TextBox 12"/>
          <p:cNvSpPr txBox="1"/>
          <p:nvPr/>
        </p:nvSpPr>
        <p:spPr>
          <a:xfrm>
            <a:off x="8207044" y="1472184"/>
            <a:ext cx="3344570"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ПОЗДНИЕ СТАДИИ: ЖДАТЬ ЖАЛОБУ → ЗВАТЬ ПО СПИСКУ</a:t>
            </a:r>
          </a:p>
        </p:txBody>
      </p:sp>
      <p:sp>
        <p:nvSpPr>
          <p:cNvPr id="14" name="TextBox 13"/>
          <p:cNvSpPr txBox="1"/>
          <p:nvPr/>
        </p:nvSpPr>
        <p:spPr>
          <a:xfrm>
            <a:off x="8207044" y="1932846"/>
            <a:ext cx="3344570"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57 → 39 из ста</a:t>
            </a:r>
          </a:p>
        </p:txBody>
      </p:sp>
      <p:sp>
        <p:nvSpPr>
          <p:cNvPr id="15" name="TextBox 14"/>
          <p:cNvSpPr txBox="1"/>
          <p:nvPr/>
        </p:nvSpPr>
        <p:spPr>
          <a:xfrm>
            <a:off x="8207044" y="2359845"/>
            <a:ext cx="3344570"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Мальмё, Швеция: 91 из 159 против 62 из 160</a:t>
            </a:r>
          </a:p>
        </p:txBody>
      </p:sp>
      <p:sp>
        <p:nvSpPr>
          <p:cNvPr id="16" name="Rounded Rectangle 15"/>
          <p:cNvSpPr/>
          <p:nvPr/>
        </p:nvSpPr>
        <p:spPr>
          <a:xfrm>
            <a:off x="374904" y="2982641"/>
            <a:ext cx="11441887" cy="1551464"/>
          </a:xfrm>
          <a:prstGeom prst="roundRect">
            <a:avLst>
              <a:gd name="adj" fmla="val 19645"/>
            </a:avLst>
          </a:prstGeom>
          <a:solidFill>
            <a:srgbClr val="F4F7FA"/>
          </a:solidFill>
          <a:ln w="19050">
            <a:solidFill>
              <a:srgbClr val="1C7293"/>
            </a:solidFill>
          </a:ln>
          <a:effectLst/>
        </p:spPr>
        <p:txBody>
          <a:bodyPr rtlCol="0" anchor="ctr"/>
          <a:lstStyle/>
          <a:p>
            <a:pPr algn="ctr"/>
          </a:p>
        </p:txBody>
      </p:sp>
      <p:sp>
        <p:nvSpPr>
          <p:cNvPr id="17" name="TextBox 16"/>
          <p:cNvSpPr txBox="1"/>
          <p:nvPr/>
        </p:nvSpPr>
        <p:spPr>
          <a:xfrm>
            <a:off x="539496" y="3074081"/>
            <a:ext cx="5373471" cy="3162126"/>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Режим первый: звать всех по возрасту.</a:t>
            </a:r>
            <a:r>
              <a:rPr sz="1500" b="0" i="0">
                <a:solidFill>
                  <a:srgbClr val="21295C"/>
                </a:solidFill>
                <a:latin typeface="Arial"/>
              </a:rPr>
              <a:t> Порог — это документ: он назначен раньше, чем измерили точность прибора.</a:t>
            </a:r>
          </a:p>
        </p:txBody>
      </p:sp>
      <p:sp>
        <p:nvSpPr>
          <p:cNvPr id="18" name="TextBox 17"/>
          <p:cNvSpPr txBox="1"/>
          <p:nvPr/>
        </p:nvSpPr>
        <p:spPr>
          <a:xfrm>
            <a:off x="6278727" y="3074081"/>
            <a:ext cx="5373471" cy="3162126"/>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Режим второй: ждать жалобу.</a:t>
            </a:r>
            <a:r>
              <a:rPr sz="1500" b="0" i="0">
                <a:solidFill>
                  <a:srgbClr val="21295C"/>
                </a:solidFill>
                <a:latin typeface="Arial"/>
              </a:rPr>
              <a:t> Находка приходит позже и стадией крупнее.</a:t>
            </a:r>
          </a:p>
          <a:p>
            <a:pPr algn="l">
              <a:lnSpc>
                <a:spcPct val="126000"/>
              </a:lnSpc>
              <a:spcBef>
                <a:spcPts val="700"/>
              </a:spcBef>
            </a:pPr>
            <a:r>
              <a:rPr sz="1500" b="0" i="0">
                <a:solidFill>
                  <a:srgbClr val="21295C"/>
                </a:solidFill>
                <a:latin typeface="Arial"/>
              </a:rPr>
              <a:t/>
            </a:r>
            <a:r>
              <a:rPr sz="1500" b="1" i="0">
                <a:solidFill>
                  <a:srgbClr val="21295C"/>
                </a:solidFill>
                <a:latin typeface="Arial"/>
              </a:rPr>
              <a:t>Женщину с письмом позвал первый режим: только возраст и интервал, ни одного её признака.</a:t>
            </a:r>
          </a:p>
        </p:txBody>
      </p:sp>
      <p:sp>
        <p:nvSpPr>
          <p:cNvPr id="19" name="Rectangle 18"/>
          <p:cNvSpPr/>
          <p:nvPr/>
        </p:nvSpPr>
        <p:spPr>
          <a:xfrm>
            <a:off x="6091275" y="3074081"/>
            <a:ext cx="9144" cy="1277144"/>
          </a:xfrm>
          <a:prstGeom prst="rect">
            <a:avLst/>
          </a:prstGeom>
          <a:solidFill>
            <a:srgbClr val="D9E2EC"/>
          </a:solidFill>
          <a:ln>
            <a:noFill/>
          </a:ln>
          <a:effectLst/>
        </p:spPr>
        <p:txBody>
          <a:bodyPr rtlCol="0" anchor="ctr"/>
          <a:lstStyle/>
          <a:p>
            <a:pPr algn="ctr"/>
          </a:p>
        </p:txBody>
      </p:sp>
      <p:sp>
        <p:nvSpPr>
          <p:cNvPr id="20" name="Rectangle 19"/>
          <p:cNvSpPr/>
          <p:nvPr/>
        </p:nvSpPr>
        <p:spPr>
          <a:xfrm>
            <a:off x="502920" y="820191"/>
            <a:ext cx="960120" cy="50292"/>
          </a:xfrm>
          <a:prstGeom prst="rect">
            <a:avLst/>
          </a:prstGeom>
          <a:solidFill>
            <a:srgbClr val="F0AB00"/>
          </a:solidFill>
          <a:ln>
            <a:noFill/>
          </a:ln>
          <a:effectLst/>
        </p:spPr>
        <p:txBody>
          <a:bodyPr rtlCol="0" anchor="ctr"/>
          <a:lstStyle/>
          <a:p>
            <a:pPr algn="ctr"/>
          </a:p>
        </p:txBody>
      </p:sp>
      <p:sp>
        <p:nvSpPr>
          <p:cNvPr id="21" name="TextBox 20"/>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Шведская программа скрининга, контрольное плечо, 2023 и 2026</a:t>
            </a:r>
            <a:r>
              <a:rPr sz="1200" b="0" i="1">
                <a:solidFill>
                  <a:srgbClr val="1C7293"/>
                </a:solidFill>
                <a:latin typeface="Arial"/>
              </a:rPr>
              <a:t> · </a:t>
            </a:r>
            <a:r>
              <a:rPr sz="1200" b="0" i="1">
                <a:solidFill>
                  <a:srgbClr val="1C7293"/>
                </a:solidFill>
                <a:latin typeface="Arial"/>
              </a:rPr>
              <a:t>Мальмёское испытание, 1976–1986</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С моделью: сортировка потока по предсказанному риску</a:t>
            </a:r>
          </a:p>
        </p:txBody>
      </p:sp>
      <p:sp>
        <p:nvSpPr>
          <p:cNvPr id="4" name="Rounded Rectangle 3"/>
          <p:cNvSpPr/>
          <p:nvPr/>
        </p:nvSpPr>
        <p:spPr>
          <a:xfrm>
            <a:off x="502920" y="1335024"/>
            <a:ext cx="3618890" cy="1584468"/>
          </a:xfrm>
          <a:prstGeom prst="roundRect">
            <a:avLst>
              <a:gd name="adj" fmla="val 19236"/>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ЧЕЛОВЕЧЕСКОГО ЧТЕНИЯ МЕНЬШЕ</a:t>
            </a:r>
          </a:p>
        </p:txBody>
      </p:sp>
      <p:sp>
        <p:nvSpPr>
          <p:cNvPr id="6" name="TextBox 5"/>
          <p:cNvSpPr txBox="1"/>
          <p:nvPr/>
        </p:nvSpPr>
        <p:spPr>
          <a:xfrm>
            <a:off x="640080" y="1725375"/>
            <a:ext cx="3344570"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на 44,3 процента</a:t>
            </a:r>
          </a:p>
        </p:txBody>
      </p:sp>
      <p:sp>
        <p:nvSpPr>
          <p:cNvPr id="7" name="TextBox 6"/>
          <p:cNvSpPr txBox="1"/>
          <p:nvPr/>
        </p:nvSpPr>
        <p:spPr>
          <a:xfrm>
            <a:off x="640080" y="2152374"/>
            <a:ext cx="3344570"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80 033 женщины</a:t>
            </a:r>
          </a:p>
        </p:txBody>
      </p:sp>
      <p:sp>
        <p:nvSpPr>
          <p:cNvPr id="8" name="Rounded Rectangle 7"/>
          <p:cNvSpPr/>
          <p:nvPr/>
        </p:nvSpPr>
        <p:spPr>
          <a:xfrm>
            <a:off x="4286402" y="1335024"/>
            <a:ext cx="3618890" cy="1584468"/>
          </a:xfrm>
          <a:prstGeom prst="roundRect">
            <a:avLst>
              <a:gd name="adj" fmla="val 19236"/>
            </a:avLst>
          </a:prstGeom>
          <a:solidFill>
            <a:srgbClr val="FFFFFF"/>
          </a:solidFill>
          <a:ln w="25400">
            <a:solidFill>
              <a:srgbClr val="F0AB00"/>
            </a:solidFill>
          </a:ln>
          <a:effectLst/>
        </p:spPr>
        <p:txBody>
          <a:bodyPr rtlCol="0" anchor="ctr"/>
          <a:lstStyle/>
          <a:p>
            <a:pPr algn="ctr"/>
          </a:p>
        </p:txBody>
      </p:sp>
      <p:sp>
        <p:nvSpPr>
          <p:cNvPr id="9" name="TextBox 8"/>
          <p:cNvSpPr txBox="1"/>
          <p:nvPr/>
        </p:nvSpPr>
        <p:spPr>
          <a:xfrm>
            <a:off x="4423562" y="1472184"/>
            <a:ext cx="3344570"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ЧУВСТВИТЕЛЬНОСТЬ: ДВОЕ → ЧЕЛОВЕК С МОДЕЛЬЮ</a:t>
            </a:r>
          </a:p>
        </p:txBody>
      </p:sp>
      <p:sp>
        <p:nvSpPr>
          <p:cNvPr id="10" name="TextBox 9"/>
          <p:cNvSpPr txBox="1"/>
          <p:nvPr/>
        </p:nvSpPr>
        <p:spPr>
          <a:xfrm>
            <a:off x="4423562" y="1932846"/>
            <a:ext cx="3344570"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73,8 → 80,5 из ста</a:t>
            </a:r>
          </a:p>
        </p:txBody>
      </p:sp>
      <p:sp>
        <p:nvSpPr>
          <p:cNvPr id="11" name="TextBox 10"/>
          <p:cNvSpPr txBox="1"/>
          <p:nvPr/>
        </p:nvSpPr>
        <p:spPr>
          <a:xfrm>
            <a:off x="4423562" y="2359845"/>
            <a:ext cx="3344570"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105 934 женщины; двадцать шесть раков из ста двойное чтение не находит</a:t>
            </a:r>
          </a:p>
        </p:txBody>
      </p:sp>
      <p:sp>
        <p:nvSpPr>
          <p:cNvPr id="12" name="Rounded Rectangle 11"/>
          <p:cNvSpPr/>
          <p:nvPr/>
        </p:nvSpPr>
        <p:spPr>
          <a:xfrm>
            <a:off x="8069884" y="1335024"/>
            <a:ext cx="3618890" cy="1584468"/>
          </a:xfrm>
          <a:prstGeom prst="roundRect">
            <a:avLst>
              <a:gd name="adj" fmla="val 19236"/>
            </a:avLst>
          </a:prstGeom>
          <a:solidFill>
            <a:srgbClr val="F4F7FA"/>
          </a:solidFill>
          <a:ln w="15240">
            <a:solidFill>
              <a:srgbClr val="1C7293"/>
            </a:solidFill>
          </a:ln>
          <a:effectLst/>
        </p:spPr>
        <p:txBody>
          <a:bodyPr rtlCol="0" anchor="ctr"/>
          <a:lstStyle/>
          <a:p>
            <a:pPr algn="ctr"/>
          </a:p>
        </p:txBody>
      </p:sp>
      <p:sp>
        <p:nvSpPr>
          <p:cNvPr id="13" name="TextBox 12"/>
          <p:cNvSpPr txBox="1"/>
          <p:nvPr/>
        </p:nvSpPr>
        <p:spPr>
          <a:xfrm>
            <a:off x="8207044"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ГЕРМАНИЯ, ВЫЯВЛЕНИЕ НА 1000</a:t>
            </a:r>
          </a:p>
        </p:txBody>
      </p:sp>
      <p:sp>
        <p:nvSpPr>
          <p:cNvPr id="14" name="TextBox 13"/>
          <p:cNvSpPr txBox="1"/>
          <p:nvPr/>
        </p:nvSpPr>
        <p:spPr>
          <a:xfrm>
            <a:off x="8207044" y="1725375"/>
            <a:ext cx="3344570"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5,7 → 6,7</a:t>
            </a:r>
          </a:p>
        </p:txBody>
      </p:sp>
      <p:sp>
        <p:nvSpPr>
          <p:cNvPr id="15" name="TextBox 14"/>
          <p:cNvSpPr txBox="1"/>
          <p:nvPr/>
        </p:nvSpPr>
        <p:spPr>
          <a:xfrm>
            <a:off x="8207044" y="2152374"/>
            <a:ext cx="3344570"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463 094 женщины, наблюдательное</a:t>
            </a:r>
          </a:p>
        </p:txBody>
      </p:sp>
      <p:sp>
        <p:nvSpPr>
          <p:cNvPr id="16" name="Rounded Rectangle 15"/>
          <p:cNvSpPr/>
          <p:nvPr/>
        </p:nvSpPr>
        <p:spPr>
          <a:xfrm>
            <a:off x="374904" y="3010932"/>
            <a:ext cx="11441887" cy="2145586"/>
          </a:xfrm>
          <a:prstGeom prst="roundRect">
            <a:avLst>
              <a:gd name="adj" fmla="val 14205"/>
            </a:avLst>
          </a:prstGeom>
          <a:solidFill>
            <a:srgbClr val="F4F7FA"/>
          </a:solidFill>
          <a:ln w="19050">
            <a:solidFill>
              <a:srgbClr val="1C7293"/>
            </a:solidFill>
          </a:ln>
          <a:effectLst/>
        </p:spPr>
        <p:txBody>
          <a:bodyPr rtlCol="0" anchor="ctr"/>
          <a:lstStyle/>
          <a:p>
            <a:pPr algn="ctr"/>
          </a:p>
        </p:txBody>
      </p:sp>
      <p:sp>
        <p:nvSpPr>
          <p:cNvPr id="17" name="TextBox 16"/>
          <p:cNvSpPr txBox="1"/>
          <p:nvPr/>
        </p:nvSpPr>
        <p:spPr>
          <a:xfrm>
            <a:off x="539496" y="3102372"/>
            <a:ext cx="5373471" cy="3133835"/>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Случайное распределение: одно плечо читает как прежде, во втором модель сортирует поток по риску.</a:t>
            </a:r>
          </a:p>
          <a:p>
            <a:pPr algn="l">
              <a:lnSpc>
                <a:spcPct val="126000"/>
              </a:lnSpc>
              <a:spcBef>
                <a:spcPts val="700"/>
              </a:spcBef>
            </a:pPr>
            <a:r>
              <a:rPr sz="1500" b="0" i="0">
                <a:solidFill>
                  <a:srgbClr val="21295C"/>
                </a:solidFill>
                <a:latin typeface="Arial"/>
              </a:rPr>
              <a:t/>
            </a:r>
            <a:r>
              <a:rPr sz="1500" b="1" i="0">
                <a:solidFill>
                  <a:srgbClr val="21295C"/>
                </a:solidFill>
                <a:latin typeface="Arial"/>
              </a:rPr>
              <a:t>Устроено:</a:t>
            </a:r>
            <a:r>
              <a:rPr sz="1500" b="0" i="0">
                <a:solidFill>
                  <a:srgbClr val="21295C"/>
                </a:solidFill>
                <a:latin typeface="Arial"/>
              </a:rPr>
              <a:t> вход — маммограмма, выход — риск и место в очереди. </a:t>
            </a:r>
            <a:r>
              <a:rPr sz="1500" b="1" i="0">
                <a:solidFill>
                  <a:srgbClr val="21295C"/>
                </a:solidFill>
                <a:latin typeface="Arial"/>
              </a:rPr>
              <a:t>Имени система не получила</a:t>
            </a:r>
            <a:r>
              <a:rPr sz="1500" b="0" i="0">
                <a:solidFill>
                  <a:srgbClr val="21295C"/>
                </a:solidFill>
                <a:latin typeface="Arial"/>
              </a:rPr>
              <a:t>; режим занимают Transpara, Lunit INSIGHT MMG, iCAD ProFound. </a:t>
            </a:r>
            <a:r>
              <a:rPr sz="1500" b="0" i="1">
                <a:solidFill>
                  <a:srgbClr val="21295C"/>
                </a:solidFill>
                <a:latin typeface="Arial"/>
              </a:rPr>
              <a:t>Распознавание на изображении.</a:t>
            </a:r>
          </a:p>
        </p:txBody>
      </p:sp>
      <p:sp>
        <p:nvSpPr>
          <p:cNvPr id="18" name="TextBox 17"/>
          <p:cNvSpPr txBox="1"/>
          <p:nvPr/>
        </p:nvSpPr>
        <p:spPr>
          <a:xfrm>
            <a:off x="6278727" y="3102372"/>
            <a:ext cx="5373471" cy="3133835"/>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Второго независимого человека большинство обследованных больше не получает.</a:t>
            </a:r>
            <a:r>
              <a:rPr sz="1500" b="0" i="0">
                <a:solidFill>
                  <a:srgbClr val="21295C"/>
                </a:solidFill>
                <a:latin typeface="Arial"/>
              </a:rPr>
              <a:t> Цена — в устройстве процедуры.</a:t>
            </a:r>
          </a:p>
          <a:p>
            <a:pPr algn="l">
              <a:lnSpc>
                <a:spcPct val="126000"/>
              </a:lnSpc>
              <a:spcBef>
                <a:spcPts val="700"/>
              </a:spcBef>
            </a:pPr>
            <a:r>
              <a:rPr sz="1500" b="0" i="0">
                <a:solidFill>
                  <a:srgbClr val="21295C"/>
                </a:solidFill>
                <a:latin typeface="Arial"/>
              </a:rPr>
              <a:t/>
            </a:r>
            <a:r>
              <a:rPr sz="1500" b="0" i="0">
                <a:solidFill>
                  <a:srgbClr val="21295C"/>
                </a:solidFill>
                <a:latin typeface="Arial"/>
              </a:rPr>
              <a:t>• В Швеции второго читателя заменили, в Германии сохранили: одна фраза — две процедуры</a:t>
            </a:r>
          </a:p>
        </p:txBody>
      </p:sp>
      <p:sp>
        <p:nvSpPr>
          <p:cNvPr id="19" name="Rectangle 18"/>
          <p:cNvSpPr/>
          <p:nvPr/>
        </p:nvSpPr>
        <p:spPr>
          <a:xfrm>
            <a:off x="6091275" y="3102372"/>
            <a:ext cx="9144" cy="1871266"/>
          </a:xfrm>
          <a:prstGeom prst="rect">
            <a:avLst/>
          </a:prstGeom>
          <a:solidFill>
            <a:srgbClr val="D9E2EC"/>
          </a:solidFill>
          <a:ln>
            <a:noFill/>
          </a:ln>
          <a:effectLst/>
        </p:spPr>
        <p:txBody>
          <a:bodyPr rtlCol="0" anchor="ctr"/>
          <a:lstStyle/>
          <a:p>
            <a:pPr algn="ctr"/>
          </a:p>
        </p:txBody>
      </p:sp>
      <p:sp>
        <p:nvSpPr>
          <p:cNvPr id="20" name="Rectangle 19"/>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21" name="TextBox 20"/>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Шведская программа, итоговый анализ</a:t>
            </a:r>
            <a:r>
              <a:rPr sz="1200" b="0" i="1">
                <a:solidFill>
                  <a:srgbClr val="1C7293"/>
                </a:solidFill>
                <a:latin typeface="Arial"/>
              </a:rPr>
              <a:t> · </a:t>
            </a:r>
            <a:r>
              <a:rPr sz="1200" b="0" i="1" u="sng">
                <a:solidFill>
                  <a:srgbClr val="065A82"/>
                </a:solidFill>
                <a:latin typeface="Arial"/>
                <a:hlinkClick r:id="rId3"/>
              </a:rPr>
              <a:t>PRAIM, Nature Medicine 2025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Пример 1: чат-бот первой линии и его цена</a:t>
            </a:r>
          </a:p>
        </p:txBody>
      </p:sp>
      <p:sp>
        <p:nvSpPr>
          <p:cNvPr id="4" name="Rounded Rectangle 3"/>
          <p:cNvSpPr/>
          <p:nvPr/>
        </p:nvSpPr>
        <p:spPr>
          <a:xfrm>
            <a:off x="502920" y="1335024"/>
            <a:ext cx="2673019" cy="1763648"/>
          </a:xfrm>
          <a:prstGeom prst="roundRect">
            <a:avLst>
              <a:gd name="adj" fmla="val 17282"/>
            </a:avLst>
          </a:prstGeom>
          <a:solidFill>
            <a:srgbClr val="FFFFFF"/>
          </a:solidFill>
          <a:ln w="25400">
            <a:solidFill>
              <a:srgbClr val="F0AB00"/>
            </a:solidFill>
          </a:ln>
          <a:effectLst/>
        </p:spPr>
        <p:txBody>
          <a:bodyPr rtlCol="0" anchor="ctr"/>
          <a:lstStyle/>
          <a:p>
            <a:pPr algn="ctr"/>
          </a:p>
        </p:txBody>
      </p:sp>
      <p:sp>
        <p:nvSpPr>
          <p:cNvPr id="5" name="TextBox 4"/>
          <p:cNvSpPr txBox="1"/>
          <p:nvPr/>
        </p:nvSpPr>
        <p:spPr>
          <a:xfrm>
            <a:off x="640080"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ЭКЗАМЕН</a:t>
            </a:r>
          </a:p>
        </p:txBody>
      </p:sp>
      <p:sp>
        <p:nvSpPr>
          <p:cNvPr id="6" name="TextBox 5"/>
          <p:cNvSpPr txBox="1"/>
          <p:nvPr/>
        </p:nvSpPr>
        <p:spPr>
          <a:xfrm>
            <a:off x="640080" y="1725375"/>
            <a:ext cx="2398699" cy="766497"/>
          </a:xfrm>
          <a:prstGeom prst="rect">
            <a:avLst/>
          </a:prstGeom>
          <a:noFill/>
        </p:spPr>
        <p:txBody>
          <a:bodyPr wrap="square" lIns="0" rIns="0" tIns="0" bIns="0" anchor="t">
            <a:spAutoFit/>
          </a:bodyPr>
          <a:lstStyle/>
          <a:p>
            <a:pPr algn="l">
              <a:lnSpc>
                <a:spcPct val="108000"/>
              </a:lnSpc>
            </a:pPr>
            <a:r>
              <a:rPr sz="2150" b="1" i="0">
                <a:solidFill>
                  <a:srgbClr val="1C7293"/>
                </a:solidFill>
                <a:latin typeface="Arial"/>
              </a:rPr>
              <a:t>81 у приложения · 72 у врачей</a:t>
            </a:r>
          </a:p>
        </p:txBody>
      </p:sp>
      <p:sp>
        <p:nvSpPr>
          <p:cNvPr id="7" name="TextBox 6"/>
          <p:cNvSpPr txBox="1"/>
          <p:nvPr/>
        </p:nvSpPr>
        <p:spPr>
          <a:xfrm>
            <a:off x="640080" y="2491872"/>
            <a:ext cx="2398699"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коллегия: заявления сомнительны</a:t>
            </a:r>
          </a:p>
        </p:txBody>
      </p:sp>
      <p:sp>
        <p:nvSpPr>
          <p:cNvPr id="8" name="Rounded Rectangle 7"/>
          <p:cNvSpPr/>
          <p:nvPr/>
        </p:nvSpPr>
        <p:spPr>
          <a:xfrm>
            <a:off x="3340531" y="1335024"/>
            <a:ext cx="2673019" cy="1763648"/>
          </a:xfrm>
          <a:prstGeom prst="roundRect">
            <a:avLst>
              <a:gd name="adj" fmla="val 17282"/>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3477691" y="1472184"/>
            <a:ext cx="2398699"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ПЛАТЯТ ПРАКТИКЕ ЗА ЧЕЛОВЕКА</a:t>
            </a:r>
          </a:p>
        </p:txBody>
      </p:sp>
      <p:sp>
        <p:nvSpPr>
          <p:cNvPr id="10" name="TextBox 9"/>
          <p:cNvSpPr txBox="1"/>
          <p:nvPr/>
        </p:nvSpPr>
        <p:spPr>
          <a:xfrm>
            <a:off x="3477691" y="1932846"/>
            <a:ext cx="2398699"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155 фунтов в год</a:t>
            </a:r>
          </a:p>
        </p:txBody>
      </p:sp>
      <p:sp>
        <p:nvSpPr>
          <p:cNvPr id="11" name="TextBox 10"/>
          <p:cNvSpPr txBox="1"/>
          <p:nvPr/>
        </p:nvSpPr>
        <p:spPr>
          <a:xfrm>
            <a:off x="3477691" y="2750268"/>
            <a:ext cx="2398699"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от числа обращений не зависит</a:t>
            </a:r>
          </a:p>
        </p:txBody>
      </p:sp>
      <p:sp>
        <p:nvSpPr>
          <p:cNvPr id="12" name="Rounded Rectangle 11"/>
          <p:cNvSpPr/>
          <p:nvPr/>
        </p:nvSpPr>
        <p:spPr>
          <a:xfrm>
            <a:off x="6178143" y="1335024"/>
            <a:ext cx="2673019" cy="1763648"/>
          </a:xfrm>
          <a:prstGeom prst="roundRect">
            <a:avLst>
              <a:gd name="adj" fmla="val 17282"/>
            </a:avLst>
          </a:prstGeom>
          <a:solidFill>
            <a:srgbClr val="F4F7FA"/>
          </a:solidFill>
          <a:ln w="15240">
            <a:solidFill>
              <a:srgbClr val="1C7293"/>
            </a:solidFill>
          </a:ln>
          <a:effectLst/>
        </p:spPr>
        <p:txBody>
          <a:bodyPr rtlCol="0" anchor="ctr"/>
          <a:lstStyle/>
          <a:p>
            <a:pPr algn="ctr"/>
          </a:p>
        </p:txBody>
      </p:sp>
      <p:sp>
        <p:nvSpPr>
          <p:cNvPr id="13" name="TextBox 12"/>
          <p:cNvSpPr txBox="1"/>
          <p:nvPr/>
        </p:nvSpPr>
        <p:spPr>
          <a:xfrm>
            <a:off x="6315303" y="1472184"/>
            <a:ext cx="2398699"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ОБРАЩЕНИЙ НА ЧЕЛОВЕКА В ГОД: КЛАССИКА → СЕРВИС</a:t>
            </a:r>
          </a:p>
        </p:txBody>
      </p:sp>
      <p:sp>
        <p:nvSpPr>
          <p:cNvPr id="14" name="TextBox 13"/>
          <p:cNvSpPr txBox="1"/>
          <p:nvPr/>
        </p:nvSpPr>
        <p:spPr>
          <a:xfrm>
            <a:off x="6315303" y="1932846"/>
            <a:ext cx="2398699"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4,0 → 4,3</a:t>
            </a:r>
          </a:p>
        </p:txBody>
      </p:sp>
      <p:sp>
        <p:nvSpPr>
          <p:cNvPr id="15" name="TextBox 14"/>
          <p:cNvSpPr txBox="1"/>
          <p:nvPr/>
        </p:nvSpPr>
        <p:spPr>
          <a:xfrm>
            <a:off x="6315303" y="2359845"/>
            <a:ext cx="2398699"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возраст 25–44</a:t>
            </a:r>
          </a:p>
        </p:txBody>
      </p:sp>
      <p:sp>
        <p:nvSpPr>
          <p:cNvPr id="16" name="Rounded Rectangle 15"/>
          <p:cNvSpPr/>
          <p:nvPr/>
        </p:nvSpPr>
        <p:spPr>
          <a:xfrm>
            <a:off x="9015755" y="1335024"/>
            <a:ext cx="2673019" cy="1763648"/>
          </a:xfrm>
          <a:prstGeom prst="roundRect">
            <a:avLst>
              <a:gd name="adj" fmla="val 17282"/>
            </a:avLst>
          </a:prstGeom>
          <a:solidFill>
            <a:srgbClr val="F4F7FA"/>
          </a:solidFill>
          <a:ln w="15240">
            <a:solidFill>
              <a:srgbClr val="1C7293"/>
            </a:solidFill>
          </a:ln>
          <a:effectLst/>
        </p:spPr>
        <p:txBody>
          <a:bodyPr rtlCol="0" anchor="ctr"/>
          <a:lstStyle/>
          <a:p>
            <a:pPr algn="ctr"/>
          </a:p>
        </p:txBody>
      </p:sp>
      <p:sp>
        <p:nvSpPr>
          <p:cNvPr id="17" name="TextBox 16"/>
          <p:cNvSpPr txBox="1"/>
          <p:nvPr/>
        </p:nvSpPr>
        <p:spPr>
          <a:xfrm>
            <a:off x="9152915" y="1472184"/>
            <a:ext cx="2398699"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ОЦЕНКА → АКТИВЫ ПРИ БАНКРОТСТВЕ</a:t>
            </a:r>
          </a:p>
        </p:txBody>
      </p:sp>
      <p:sp>
        <p:nvSpPr>
          <p:cNvPr id="18" name="TextBox 17"/>
          <p:cNvSpPr txBox="1"/>
          <p:nvPr/>
        </p:nvSpPr>
        <p:spPr>
          <a:xfrm>
            <a:off x="9152915" y="1932846"/>
            <a:ext cx="2398699" cy="630698"/>
          </a:xfrm>
          <a:prstGeom prst="rect">
            <a:avLst/>
          </a:prstGeom>
          <a:noFill/>
        </p:spPr>
        <p:txBody>
          <a:bodyPr wrap="square" lIns="0" rIns="0" tIns="0" bIns="0" anchor="t">
            <a:spAutoFit/>
          </a:bodyPr>
          <a:lstStyle/>
          <a:p>
            <a:pPr algn="l">
              <a:lnSpc>
                <a:spcPct val="108000"/>
              </a:lnSpc>
            </a:pPr>
            <a:r>
              <a:rPr sz="1750" b="1" i="0">
                <a:solidFill>
                  <a:srgbClr val="21295C"/>
                </a:solidFill>
                <a:latin typeface="Arial"/>
              </a:rPr>
              <a:t>4,2 млрд долларов → 500 тысяч фунтов</a:t>
            </a:r>
          </a:p>
        </p:txBody>
      </p:sp>
      <p:sp>
        <p:nvSpPr>
          <p:cNvPr id="19" name="Rounded Rectangle 18"/>
          <p:cNvSpPr/>
          <p:nvPr/>
        </p:nvSpPr>
        <p:spPr>
          <a:xfrm>
            <a:off x="374904" y="3190112"/>
            <a:ext cx="11441887" cy="2828609"/>
          </a:xfrm>
          <a:prstGeom prst="roundRect">
            <a:avLst>
              <a:gd name="adj" fmla="val 10775"/>
            </a:avLst>
          </a:prstGeom>
          <a:solidFill>
            <a:srgbClr val="F4F7FA"/>
          </a:solidFill>
          <a:ln w="19050">
            <a:solidFill>
              <a:srgbClr val="1C7293"/>
            </a:solidFill>
          </a:ln>
          <a:effectLst/>
        </p:spPr>
        <p:txBody>
          <a:bodyPr rtlCol="0" anchor="ctr"/>
          <a:lstStyle/>
          <a:p>
            <a:pPr algn="ctr"/>
          </a:p>
        </p:txBody>
      </p:sp>
      <p:sp>
        <p:nvSpPr>
          <p:cNvPr id="20" name="TextBox 19"/>
          <p:cNvSpPr txBox="1"/>
          <p:nvPr/>
        </p:nvSpPr>
        <p:spPr>
          <a:xfrm>
            <a:off x="539496" y="3281552"/>
            <a:ext cx="5373471" cy="2954655"/>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Классический режим.</a:t>
            </a:r>
            <a:r>
              <a:rPr sz="1500" b="0" i="0">
                <a:solidFill>
                  <a:srgbClr val="21295C"/>
                </a:solidFill>
                <a:latin typeface="Arial"/>
              </a:rPr>
              <a:t> С жалобой звонили в свою практику и ждали: кого принять сегодня, а кого через две недели, решали там.</a:t>
            </a:r>
          </a:p>
          <a:p>
            <a:pPr algn="l">
              <a:lnSpc>
                <a:spcPct val="126000"/>
              </a:lnSpc>
              <a:spcBef>
                <a:spcPts val="700"/>
              </a:spcBef>
            </a:pPr>
            <a:r>
              <a:rPr sz="1500" b="0" i="0">
                <a:solidFill>
                  <a:srgbClr val="21295C"/>
                </a:solidFill>
                <a:latin typeface="Arial"/>
              </a:rPr>
              <a:t/>
            </a:r>
            <a:r>
              <a:rPr sz="1500" b="1" i="0">
                <a:solidFill>
                  <a:srgbClr val="21295C"/>
                </a:solidFill>
                <a:latin typeface="Arial"/>
              </a:rPr>
              <a:t>Второй: телефонная линия сортировки национальной службы, оператор по протоколу. Назван, счёта нет.</a:t>
            </a:r>
          </a:p>
          <a:p>
            <a:pPr algn="l">
              <a:lnSpc>
                <a:spcPct val="126000"/>
              </a:lnSpc>
              <a:spcBef>
                <a:spcPts val="700"/>
              </a:spcBef>
            </a:pPr>
            <a:r>
              <a:rPr sz="1500" b="0" i="0">
                <a:solidFill>
                  <a:srgbClr val="21295C"/>
                </a:solidFill>
                <a:latin typeface="Arial"/>
              </a:rPr>
              <a:t/>
            </a:r>
            <a:r>
              <a:rPr sz="1500" b="1" i="0">
                <a:solidFill>
                  <a:srgbClr val="21295C"/>
                </a:solidFill>
                <a:latin typeface="Arial"/>
              </a:rPr>
              <a:t>Цена обеих ошибок:</a:t>
            </a:r>
            <a:r>
              <a:rPr sz="1500" b="0" i="0">
                <a:solidFill>
                  <a:srgbClr val="21295C"/>
                </a:solidFill>
                <a:latin typeface="Arial"/>
              </a:rPr>
              <a:t> пропустить того, кому нужно сейчас · занять приём ненужным · цена канала.</a:t>
            </a:r>
          </a:p>
        </p:txBody>
      </p:sp>
      <p:sp>
        <p:nvSpPr>
          <p:cNvPr id="21" name="TextBox 20"/>
          <p:cNvSpPr txBox="1"/>
          <p:nvPr/>
        </p:nvSpPr>
        <p:spPr>
          <a:xfrm>
            <a:off x="6278727" y="3281552"/>
            <a:ext cx="5373471" cy="2954655"/>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Устроено.</a:t>
            </a:r>
            <a:r>
              <a:rPr sz="1500" b="0" i="0">
                <a:solidFill>
                  <a:srgbClr val="21295C"/>
                </a:solidFill>
                <a:latin typeface="Arial"/>
              </a:rPr>
              <a:t> </a:t>
            </a:r>
            <a:r>
              <a:rPr sz="1500" b="1" i="0">
                <a:solidFill>
                  <a:srgbClr val="21295C"/>
                </a:solidFill>
                <a:latin typeface="Arial"/>
              </a:rPr>
              <a:t>Babylon</a:t>
            </a:r>
            <a:r>
              <a:rPr sz="1500" b="0" i="0">
                <a:solidFill>
                  <a:srgbClr val="21295C"/>
                </a:solidFill>
                <a:latin typeface="Arial"/>
              </a:rPr>
              <a:t>, сервис </a:t>
            </a:r>
            <a:r>
              <a:rPr sz="1500" b="1" i="0">
                <a:solidFill>
                  <a:srgbClr val="21295C"/>
                </a:solidFill>
                <a:latin typeface="Arial"/>
              </a:rPr>
              <a:t>«GP at Hand»</a:t>
            </a:r>
            <a:r>
              <a:rPr sz="1500" b="0" i="0">
                <a:solidFill>
                  <a:srgbClr val="21295C"/>
                </a:solidFill>
                <a:latin typeface="Arial"/>
              </a:rPr>
              <a:t>: вход — жалоба текстом, выход — маршрут. </a:t>
            </a:r>
            <a:r>
              <a:rPr sz="1500" b="1" i="0">
                <a:solidFill>
                  <a:srgbClr val="21295C"/>
                </a:solidFill>
                <a:latin typeface="Arial"/>
              </a:rPr>
              <a:t>Обучать было нечему: внутри дерево «если — то».</a:t>
            </a:r>
            <a:r>
              <a:rPr sz="1500" b="0" i="0">
                <a:solidFill>
                  <a:srgbClr val="21295C"/>
                </a:solidFill>
                <a:latin typeface="Arial"/>
              </a:rPr>
              <a:t> </a:t>
            </a:r>
            <a:r>
              <a:rPr sz="1500" b="0" i="1">
                <a:solidFill>
                  <a:srgbClr val="21295C"/>
                </a:solidFill>
                <a:latin typeface="Arial"/>
              </a:rPr>
              <a:t>Поиск с генерацией на тексте.</a:t>
            </a:r>
          </a:p>
          <a:p>
            <a:pPr algn="l">
              <a:lnSpc>
                <a:spcPct val="126000"/>
              </a:lnSpc>
              <a:spcBef>
                <a:spcPts val="700"/>
              </a:spcBef>
            </a:pPr>
            <a:r>
              <a:rPr sz="1500" b="0" i="0">
                <a:solidFill>
                  <a:srgbClr val="21295C"/>
                </a:solidFill>
                <a:latin typeface="Arial"/>
              </a:rPr>
              <a:t/>
            </a:r>
            <a:r>
              <a:rPr sz="1500" b="1" i="0">
                <a:solidFill>
                  <a:srgbClr val="21295C"/>
                </a:solidFill>
                <a:latin typeface="Arial"/>
              </a:rPr>
              <a:t>Уберите модель — сервис продолжит работать.</a:t>
            </a:r>
            <a:r>
              <a:rPr sz="1500" b="0" i="0">
                <a:solidFill>
                  <a:srgbClr val="21295C"/>
                </a:solidFill>
                <a:latin typeface="Arial"/>
              </a:rPr>
              <a:t> </a:t>
            </a:r>
            <a:r>
              <a:rPr sz="1500" b="0" i="1">
                <a:solidFill>
                  <a:srgbClr val="21295C"/>
                </a:solidFill>
                <a:latin typeface="Arial"/>
              </a:rPr>
              <a:t>Слова участника, не аудит.</a:t>
            </a:r>
          </a:p>
          <a:p>
            <a:pPr algn="l">
              <a:lnSpc>
                <a:spcPct val="126000"/>
              </a:lnSpc>
              <a:spcBef>
                <a:spcPts val="700"/>
              </a:spcBef>
            </a:pPr>
            <a:r>
              <a:rPr sz="1500" b="0" i="0">
                <a:solidFill>
                  <a:srgbClr val="21295C"/>
                </a:solidFill>
                <a:latin typeface="Arial"/>
              </a:rPr>
              <a:t/>
            </a:r>
            <a:r>
              <a:rPr sz="1500" b="1" i="0">
                <a:solidFill>
                  <a:srgbClr val="21295C"/>
                </a:solidFill>
                <a:latin typeface="Arial"/>
              </a:rPr>
              <a:t>дало</a:t>
            </a:r>
            <a:r>
              <a:rPr sz="1500" b="0" i="0">
                <a:solidFill>
                  <a:srgbClr val="21295C"/>
                </a:solidFill>
                <a:latin typeface="Arial"/>
              </a:rPr>
              <a:t> круглосуточную сортировку · </a:t>
            </a:r>
            <a:r>
              <a:rPr sz="1500" b="1" i="0">
                <a:solidFill>
                  <a:srgbClr val="21295C"/>
                </a:solidFill>
                <a:latin typeface="Arial"/>
              </a:rPr>
              <a:t>потребовало</a:t>
            </a:r>
            <a:r>
              <a:rPr sz="1500" b="0" i="0">
                <a:solidFill>
                  <a:srgbClr val="21295C"/>
                </a:solidFill>
                <a:latin typeface="Arial"/>
              </a:rPr>
              <a:t> минуса на каждом пациенте · </a:t>
            </a:r>
            <a:r>
              <a:rPr sz="1500" b="1" i="0">
                <a:solidFill>
                  <a:srgbClr val="21295C"/>
                </a:solidFill>
                <a:latin typeface="Arial"/>
              </a:rPr>
              <a:t>в сумме хуже</a:t>
            </a:r>
            <a:r>
              <a:rPr sz="1500" b="0" i="0">
                <a:solidFill>
                  <a:srgbClr val="21295C"/>
                </a:solidFill>
                <a:latin typeface="Arial"/>
              </a:rPr>
              <a:t>: банкротство 2023</a:t>
            </a:r>
          </a:p>
        </p:txBody>
      </p:sp>
      <p:sp>
        <p:nvSpPr>
          <p:cNvPr id="22" name="Rectangle 21"/>
          <p:cNvSpPr/>
          <p:nvPr/>
        </p:nvSpPr>
        <p:spPr>
          <a:xfrm>
            <a:off x="6091275" y="3281552"/>
            <a:ext cx="9144" cy="2554289"/>
          </a:xfrm>
          <a:prstGeom prst="rect">
            <a:avLst/>
          </a:prstGeom>
          <a:solidFill>
            <a:srgbClr val="D9E2EC"/>
          </a:solidFill>
          <a:ln>
            <a:noFill/>
          </a:ln>
          <a:effectLst/>
        </p:spPr>
        <p:txBody>
          <a:bodyPr rtlCol="0" anchor="ctr"/>
          <a:lstStyle/>
          <a:p>
            <a:pPr algn="ctr"/>
          </a:p>
        </p:txBody>
      </p:sp>
      <p:sp>
        <p:nvSpPr>
          <p:cNvPr id="23" name="Rectangle 22"/>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24" name="TextBox 23"/>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Тест 2017</a:t>
            </a:r>
            <a:r>
              <a:rPr sz="1200" b="0" i="1">
                <a:solidFill>
                  <a:srgbClr val="1C7293"/>
                </a:solidFill>
                <a:latin typeface="Arial"/>
              </a:rPr>
              <a:t> · </a:t>
            </a:r>
            <a:r>
              <a:rPr sz="1200" b="0" i="1">
                <a:solidFill>
                  <a:srgbClr val="1C7293"/>
                </a:solidFill>
                <a:latin typeface="Arial"/>
              </a:rPr>
              <a:t>коллегия врачей 2018</a:t>
            </a:r>
            <a:r>
              <a:rPr sz="1200" b="0" i="1">
                <a:solidFill>
                  <a:srgbClr val="1C7293"/>
                </a:solidFill>
                <a:latin typeface="Arial"/>
              </a:rPr>
              <a:t> · </a:t>
            </a:r>
            <a:r>
              <a:rPr sz="1200" b="0" i="1">
                <a:solidFill>
                  <a:srgbClr val="1C7293"/>
                </a:solidFill>
                <a:latin typeface="Arial"/>
              </a:rPr>
              <a:t>оценка сервиса 2019</a:t>
            </a:r>
            <a:r>
              <a:rPr sz="1200" b="0" i="1">
                <a:solidFill>
                  <a:srgbClr val="1C7293"/>
                </a:solidFill>
                <a:latin typeface="Arial"/>
              </a:rPr>
              <a:t> · </a:t>
            </a:r>
            <a:r>
              <a:rPr sz="1200" b="0" i="1">
                <a:solidFill>
                  <a:srgbClr val="1C7293"/>
                </a:solidFill>
                <a:latin typeface="Arial"/>
              </a:rPr>
              <a:t>банкротство 2023</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Пример 2: глазное дно без офтальмолога</a:t>
            </a:r>
          </a:p>
        </p:txBody>
      </p:sp>
      <p:sp>
        <p:nvSpPr>
          <p:cNvPr id="4" name="Rounded Rectangle 3"/>
          <p:cNvSpPr/>
          <p:nvPr/>
        </p:nvSpPr>
        <p:spPr>
          <a:xfrm>
            <a:off x="502920" y="1335024"/>
            <a:ext cx="6943039" cy="1165753"/>
          </a:xfrm>
          <a:prstGeom prst="roundRect">
            <a:avLst>
              <a:gd name="adj" fmla="val 25000"/>
            </a:avLst>
          </a:prstGeom>
          <a:solidFill>
            <a:srgbClr val="FFFFFF"/>
          </a:solidFill>
          <a:ln w="25400">
            <a:solidFill>
              <a:srgbClr val="F0AB00"/>
            </a:solidFill>
          </a:ln>
          <a:effectLst/>
        </p:spPr>
        <p:txBody>
          <a:bodyPr rtlCol="0" anchor="ctr"/>
          <a:lstStyle/>
          <a:p>
            <a:pPr algn="ctr"/>
          </a:p>
        </p:txBody>
      </p:sp>
      <p:sp>
        <p:nvSpPr>
          <p:cNvPr id="5" name="TextBox 4"/>
          <p:cNvSpPr txBox="1"/>
          <p:nvPr/>
        </p:nvSpPr>
        <p:spPr>
          <a:xfrm>
            <a:off x="640080" y="1472184"/>
            <a:ext cx="666871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ЯВКА: К СПЕЦИАЛИСТУ → ТЕСТ НА МЕСТЕ</a:t>
            </a:r>
          </a:p>
        </p:txBody>
      </p:sp>
      <p:sp>
        <p:nvSpPr>
          <p:cNvPr id="6" name="TextBox 5"/>
          <p:cNvSpPr txBox="1"/>
          <p:nvPr/>
        </p:nvSpPr>
        <p:spPr>
          <a:xfrm>
            <a:off x="640080" y="1725375"/>
            <a:ext cx="6668719"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22 → 100 из ста</a:t>
            </a:r>
          </a:p>
        </p:txBody>
      </p:sp>
      <p:sp>
        <p:nvSpPr>
          <p:cNvPr id="7" name="TextBox 6"/>
          <p:cNvSpPr txBox="1"/>
          <p:nvPr/>
        </p:nvSpPr>
        <p:spPr>
          <a:xfrm>
            <a:off x="640080" y="2152374"/>
            <a:ext cx="6668719"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81 против 83 человек</a:t>
            </a:r>
          </a:p>
        </p:txBody>
      </p:sp>
      <p:sp>
        <p:nvSpPr>
          <p:cNvPr id="8" name="TextBox 7"/>
          <p:cNvSpPr txBox="1"/>
          <p:nvPr/>
        </p:nvSpPr>
        <p:spPr>
          <a:xfrm>
            <a:off x="502920" y="2720233"/>
            <a:ext cx="1307592" cy="639889"/>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Без модели</a:t>
            </a:r>
          </a:p>
        </p:txBody>
      </p:sp>
      <p:sp>
        <p:nvSpPr>
          <p:cNvPr id="9" name="Rounded Rectangle 8"/>
          <p:cNvSpPr/>
          <p:nvPr/>
        </p:nvSpPr>
        <p:spPr>
          <a:xfrm>
            <a:off x="1920240" y="2683657"/>
            <a:ext cx="1659026"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0" name="TextBox 9"/>
          <p:cNvSpPr txBox="1"/>
          <p:nvPr/>
        </p:nvSpPr>
        <p:spPr>
          <a:xfrm>
            <a:off x="2002536" y="2729377"/>
            <a:ext cx="1494434"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Направление</a:t>
            </a:r>
          </a:p>
        </p:txBody>
      </p:sp>
      <p:sp>
        <p:nvSpPr>
          <p:cNvPr id="11" name="Right Arrow 10"/>
          <p:cNvSpPr/>
          <p:nvPr/>
        </p:nvSpPr>
        <p:spPr>
          <a:xfrm>
            <a:off x="3624986" y="2971598"/>
            <a:ext cx="182880" cy="137160"/>
          </a:xfrm>
          <a:prstGeom prst="rightArrow">
            <a:avLst/>
          </a:prstGeom>
          <a:solidFill>
            <a:srgbClr val="1C7293"/>
          </a:solidFill>
          <a:ln>
            <a:noFill/>
          </a:ln>
          <a:effectLst/>
        </p:spPr>
        <p:txBody>
          <a:bodyPr rtlCol="0" anchor="ctr"/>
          <a:lstStyle/>
          <a:p>
            <a:pPr algn="ctr"/>
          </a:p>
        </p:txBody>
      </p:sp>
      <p:sp>
        <p:nvSpPr>
          <p:cNvPr id="12" name="Rounded Rectangle 11"/>
          <p:cNvSpPr/>
          <p:nvPr/>
        </p:nvSpPr>
        <p:spPr>
          <a:xfrm>
            <a:off x="3853586" y="2683657"/>
            <a:ext cx="1659026"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3" name="TextBox 12"/>
          <p:cNvSpPr txBox="1"/>
          <p:nvPr/>
        </p:nvSpPr>
        <p:spPr>
          <a:xfrm>
            <a:off x="3935882" y="2729377"/>
            <a:ext cx="1494434"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Ожидание визита</a:t>
            </a:r>
          </a:p>
        </p:txBody>
      </p:sp>
      <p:sp>
        <p:nvSpPr>
          <p:cNvPr id="14" name="Right Arrow 13"/>
          <p:cNvSpPr/>
          <p:nvPr/>
        </p:nvSpPr>
        <p:spPr>
          <a:xfrm>
            <a:off x="5558332" y="2971598"/>
            <a:ext cx="182880" cy="137160"/>
          </a:xfrm>
          <a:prstGeom prst="rightArrow">
            <a:avLst/>
          </a:prstGeom>
          <a:solidFill>
            <a:srgbClr val="1C7293"/>
          </a:solidFill>
          <a:ln>
            <a:noFill/>
          </a:ln>
          <a:effectLst/>
        </p:spPr>
        <p:txBody>
          <a:bodyPr rtlCol="0" anchor="ctr"/>
          <a:lstStyle/>
          <a:p>
            <a:pPr algn="ctr"/>
          </a:p>
        </p:txBody>
      </p:sp>
      <p:sp>
        <p:nvSpPr>
          <p:cNvPr id="15" name="Rounded Rectangle 14"/>
          <p:cNvSpPr/>
          <p:nvPr/>
        </p:nvSpPr>
        <p:spPr>
          <a:xfrm>
            <a:off x="5786932" y="2683657"/>
            <a:ext cx="1659026"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6" name="TextBox 15"/>
          <p:cNvSpPr txBox="1"/>
          <p:nvPr/>
        </p:nvSpPr>
        <p:spPr>
          <a:xfrm>
            <a:off x="5869228" y="2729377"/>
            <a:ext cx="1494434"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Чтение специалистом</a:t>
            </a:r>
          </a:p>
        </p:txBody>
      </p:sp>
      <p:sp>
        <p:nvSpPr>
          <p:cNvPr id="17" name="TextBox 16"/>
          <p:cNvSpPr txBox="1"/>
          <p:nvPr/>
        </p:nvSpPr>
        <p:spPr>
          <a:xfrm>
            <a:off x="502920" y="3579579"/>
            <a:ext cx="1307592" cy="639889"/>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С моделью</a:t>
            </a:r>
          </a:p>
        </p:txBody>
      </p:sp>
      <p:sp>
        <p:nvSpPr>
          <p:cNvPr id="18" name="Rounded Rectangle 17"/>
          <p:cNvSpPr/>
          <p:nvPr/>
        </p:nvSpPr>
        <p:spPr>
          <a:xfrm>
            <a:off x="1920240" y="3543003"/>
            <a:ext cx="1659026"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9" name="TextBox 18"/>
          <p:cNvSpPr txBox="1"/>
          <p:nvPr/>
        </p:nvSpPr>
        <p:spPr>
          <a:xfrm>
            <a:off x="2002536" y="3588723"/>
            <a:ext cx="1494434"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Снимок у медсестры</a:t>
            </a:r>
          </a:p>
        </p:txBody>
      </p:sp>
      <p:sp>
        <p:nvSpPr>
          <p:cNvPr id="20" name="Right Arrow 19"/>
          <p:cNvSpPr/>
          <p:nvPr/>
        </p:nvSpPr>
        <p:spPr>
          <a:xfrm>
            <a:off x="3624986" y="3830944"/>
            <a:ext cx="182880" cy="137160"/>
          </a:xfrm>
          <a:prstGeom prst="rightArrow">
            <a:avLst/>
          </a:prstGeom>
          <a:solidFill>
            <a:srgbClr val="1C7293"/>
          </a:solidFill>
          <a:ln>
            <a:noFill/>
          </a:ln>
          <a:effectLst/>
        </p:spPr>
        <p:txBody>
          <a:bodyPr rtlCol="0" anchor="ctr"/>
          <a:lstStyle/>
          <a:p>
            <a:pPr algn="ctr"/>
          </a:p>
        </p:txBody>
      </p:sp>
      <p:sp>
        <p:nvSpPr>
          <p:cNvPr id="21" name="Rounded Rectangle 20"/>
          <p:cNvSpPr/>
          <p:nvPr/>
        </p:nvSpPr>
        <p:spPr>
          <a:xfrm>
            <a:off x="3853586" y="3543003"/>
            <a:ext cx="1659026"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2" name="TextBox 21"/>
          <p:cNvSpPr txBox="1"/>
          <p:nvPr/>
        </p:nvSpPr>
        <p:spPr>
          <a:xfrm>
            <a:off x="3935882" y="3588723"/>
            <a:ext cx="1494434"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Автономное чтение</a:t>
            </a:r>
          </a:p>
        </p:txBody>
      </p:sp>
      <p:sp>
        <p:nvSpPr>
          <p:cNvPr id="23" name="Right Arrow 22"/>
          <p:cNvSpPr/>
          <p:nvPr/>
        </p:nvSpPr>
        <p:spPr>
          <a:xfrm>
            <a:off x="5558332" y="3830944"/>
            <a:ext cx="182880" cy="137160"/>
          </a:xfrm>
          <a:prstGeom prst="rightArrow">
            <a:avLst/>
          </a:prstGeom>
          <a:solidFill>
            <a:srgbClr val="1C7293"/>
          </a:solidFill>
          <a:ln>
            <a:noFill/>
          </a:ln>
          <a:effectLst/>
        </p:spPr>
        <p:txBody>
          <a:bodyPr rtlCol="0" anchor="ctr"/>
          <a:lstStyle/>
          <a:p>
            <a:pPr algn="ctr"/>
          </a:p>
        </p:txBody>
      </p:sp>
      <p:sp>
        <p:nvSpPr>
          <p:cNvPr id="24" name="Rounded Rectangle 23"/>
          <p:cNvSpPr/>
          <p:nvPr/>
        </p:nvSpPr>
        <p:spPr>
          <a:xfrm>
            <a:off x="5786932" y="3543003"/>
            <a:ext cx="1659026"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5" name="TextBox 24"/>
          <p:cNvSpPr txBox="1"/>
          <p:nvPr/>
        </p:nvSpPr>
        <p:spPr>
          <a:xfrm>
            <a:off x="5869228" y="3588723"/>
            <a:ext cx="1494434"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Решение на месте</a:t>
            </a:r>
          </a:p>
        </p:txBody>
      </p:sp>
      <p:sp>
        <p:nvSpPr>
          <p:cNvPr id="26" name="TextBox 25"/>
          <p:cNvSpPr txBox="1"/>
          <p:nvPr/>
        </p:nvSpPr>
        <p:spPr>
          <a:xfrm>
            <a:off x="502920" y="4292621"/>
            <a:ext cx="6943039"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Путь от снимка до решения</a:t>
            </a:r>
          </a:p>
        </p:txBody>
      </p:sp>
      <p:sp>
        <p:nvSpPr>
          <p:cNvPr id="27" name="Rounded Rectangle 26"/>
          <p:cNvSpPr/>
          <p:nvPr/>
        </p:nvSpPr>
        <p:spPr>
          <a:xfrm>
            <a:off x="374904" y="4595305"/>
            <a:ext cx="11441887" cy="1600756"/>
          </a:xfrm>
          <a:prstGeom prst="roundRect">
            <a:avLst>
              <a:gd name="adj" fmla="val 19040"/>
            </a:avLst>
          </a:prstGeom>
          <a:solidFill>
            <a:srgbClr val="F4F7FA"/>
          </a:solidFill>
          <a:ln w="19050">
            <a:solidFill>
              <a:srgbClr val="1C7293"/>
            </a:solidFill>
          </a:ln>
          <a:effectLst/>
        </p:spPr>
        <p:txBody>
          <a:bodyPr rtlCol="0" anchor="ctr"/>
          <a:lstStyle/>
          <a:p>
            <a:pPr algn="ctr"/>
          </a:p>
        </p:txBody>
      </p:sp>
      <p:sp>
        <p:nvSpPr>
          <p:cNvPr id="28" name="TextBox 27"/>
          <p:cNvSpPr txBox="1"/>
          <p:nvPr/>
        </p:nvSpPr>
        <p:spPr>
          <a:xfrm>
            <a:off x="539496" y="4686745"/>
            <a:ext cx="11112703" cy="1549462"/>
          </a:xfrm>
          <a:prstGeom prst="rect">
            <a:avLst/>
          </a:prstGeom>
          <a:noFill/>
        </p:spPr>
        <p:txBody>
          <a:bodyPr wrap="square" lIns="0" rIns="0" tIns="0" bIns="0" anchor="t">
            <a:spAutoFit/>
          </a:bodyPr>
          <a:lstStyle/>
          <a:p>
            <a:pPr algn="l">
              <a:lnSpc>
                <a:spcPct val="126000"/>
              </a:lnSpc>
            </a:pPr>
            <a:r>
              <a:rPr sz="1450" b="0" i="0">
                <a:solidFill>
                  <a:srgbClr val="21295C"/>
                </a:solidFill>
                <a:latin typeface="Arial"/>
              </a:rPr>
              <a:t>Выигрыш измерен явкой, </a:t>
            </a:r>
            <a:r>
              <a:rPr sz="1450" b="1" i="0">
                <a:solidFill>
                  <a:srgbClr val="21295C"/>
                </a:solidFill>
                <a:latin typeface="Arial"/>
              </a:rPr>
              <a:t>рандомизированное испытание</a:t>
            </a:r>
            <a:r>
              <a:rPr sz="1450" b="0" i="0">
                <a:solidFill>
                  <a:srgbClr val="21295C"/>
                </a:solidFill>
                <a:latin typeface="Arial"/>
              </a:rPr>
              <a:t>. </a:t>
            </a:r>
            <a:r>
              <a:rPr sz="1450" b="1" i="0">
                <a:solidFill>
                  <a:srgbClr val="21295C"/>
                </a:solidFill>
                <a:latin typeface="Arial"/>
              </a:rPr>
              <a:t>Классический режим</a:t>
            </a:r>
            <a:r>
              <a:rPr sz="1450" b="0" i="0">
                <a:solidFill>
                  <a:srgbClr val="21295C"/>
                </a:solidFill>
                <a:latin typeface="Arial"/>
              </a:rPr>
              <a:t> — раз в год отдельный визит к специалисту.</a:t>
            </a:r>
          </a:p>
          <a:p>
            <a:pPr algn="l">
              <a:lnSpc>
                <a:spcPct val="126000"/>
              </a:lnSpc>
              <a:spcBef>
                <a:spcPts val="700"/>
              </a:spcBef>
            </a:pPr>
            <a:r>
              <a:rPr sz="1450" b="0" i="0">
                <a:solidFill>
                  <a:srgbClr val="21295C"/>
                </a:solidFill>
                <a:latin typeface="Arial"/>
              </a:rPr>
              <a:t/>
            </a:r>
            <a:r>
              <a:rPr sz="1450" b="1" i="0">
                <a:solidFill>
                  <a:srgbClr val="21295C"/>
                </a:solidFill>
                <a:latin typeface="Arial"/>
              </a:rPr>
              <a:t>Устроено:</a:t>
            </a:r>
            <a:r>
              <a:rPr sz="1450" b="0" i="0">
                <a:solidFill>
                  <a:srgbClr val="21295C"/>
                </a:solidFill>
                <a:latin typeface="Arial"/>
              </a:rPr>
              <a:t> вход — два снимка глазного дна от медсестры, выход — метка «направить или нет» за минуту. </a:t>
            </a:r>
            <a:r>
              <a:rPr sz="1450" b="1" i="0">
                <a:solidFill>
                  <a:srgbClr val="21295C"/>
                </a:solidFill>
                <a:latin typeface="Arial"/>
              </a:rPr>
              <a:t>Прибор испытания не назван</a:t>
            </a:r>
            <a:r>
              <a:rPr sz="1450" b="0" i="0">
                <a:solidFill>
                  <a:srgbClr val="21295C"/>
                </a:solidFill>
                <a:latin typeface="Arial"/>
              </a:rPr>
              <a:t>; режим допущен первым в 2018-м — IDx-DR, ныне LumineticsCore. </a:t>
            </a:r>
            <a:r>
              <a:rPr sz="1450" b="0" i="1">
                <a:solidFill>
                  <a:srgbClr val="21295C"/>
                </a:solidFill>
                <a:latin typeface="Arial"/>
              </a:rPr>
              <a:t>Классификация на изображении.</a:t>
            </a:r>
          </a:p>
          <a:p>
            <a:pPr algn="l">
              <a:lnSpc>
                <a:spcPct val="126000"/>
              </a:lnSpc>
              <a:spcBef>
                <a:spcPts val="700"/>
              </a:spcBef>
            </a:pPr>
            <a:r>
              <a:rPr sz="1450" b="0" i="0">
                <a:solidFill>
                  <a:srgbClr val="21295C"/>
                </a:solidFill>
                <a:latin typeface="Arial"/>
              </a:rPr>
              <a:t/>
            </a:r>
            <a:r>
              <a:rPr sz="1450" b="0" i="0">
                <a:solidFill>
                  <a:srgbClr val="21295C"/>
                </a:solidFill>
                <a:latin typeface="Arial"/>
              </a:rPr>
              <a:t>• Второй шаг: из 25 с отклонением дошли 16 — </a:t>
            </a:r>
            <a:r>
              <a:rPr sz="1450" b="1" i="0">
                <a:solidFill>
                  <a:srgbClr val="21295C"/>
                </a:solidFill>
                <a:latin typeface="Arial"/>
              </a:rPr>
              <a:t>64 из ста против 22</a:t>
            </a:r>
          </a:p>
        </p:txBody>
      </p:sp>
      <p:sp>
        <p:nvSpPr>
          <p:cNvPr id="29" name="Rounded Rectangle 28"/>
          <p:cNvSpPr/>
          <p:nvPr/>
        </p:nvSpPr>
        <p:spPr>
          <a:xfrm>
            <a:off x="7756855" y="1335024"/>
            <a:ext cx="3931920" cy="2707004"/>
          </a:xfrm>
          <a:prstGeom prst="roundRect">
            <a:avLst>
              <a:gd name="adj" fmla="val 11259"/>
            </a:avLst>
          </a:prstGeom>
          <a:solidFill>
            <a:srgbClr val="F4F7FA"/>
          </a:solidFill>
          <a:ln w="19050">
            <a:solidFill>
              <a:srgbClr val="1C7293"/>
            </a:solidFill>
          </a:ln>
          <a:effectLst/>
        </p:spPr>
        <p:txBody>
          <a:bodyPr rtlCol="0" anchor="ctr"/>
          <a:lstStyle/>
          <a:p>
            <a:pPr algn="ctr"/>
          </a:p>
        </p:txBody>
      </p:sp>
      <p:pic>
        <p:nvPicPr>
          <p:cNvPr id="30" name="Picture 29" descr="s18-fundus-kamera-v-kabinete.jpg"/>
          <p:cNvPicPr>
            <a:picLocks noChangeAspect="1"/>
          </p:cNvPicPr>
          <p:nvPr/>
        </p:nvPicPr>
        <p:blipFill>
          <a:blip r:embed="rId2"/>
          <a:stretch>
            <a:fillRect/>
          </a:stretch>
        </p:blipFill>
        <p:spPr>
          <a:xfrm>
            <a:off x="7894015" y="1472184"/>
            <a:ext cx="3657600" cy="2432685"/>
          </a:xfrm>
          <a:prstGeom prst="rect">
            <a:avLst/>
          </a:prstGeom>
        </p:spPr>
      </p:pic>
      <p:sp>
        <p:nvSpPr>
          <p:cNvPr id="31" name="Rectangle 30"/>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32" name="TextBox 31"/>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3"/>
              </a:rPr>
              <a:t>Wolf и соавторы, Nature Communications 2024 — рандомизированное испытание явки</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Пример 2, цена: решение перешло к устройству</a:t>
            </a:r>
          </a:p>
        </p:txBody>
      </p:sp>
      <p:sp>
        <p:nvSpPr>
          <p:cNvPr id="4" name="Rounded Rectangle 3"/>
          <p:cNvSpPr/>
          <p:nvPr/>
        </p:nvSpPr>
        <p:spPr>
          <a:xfrm>
            <a:off x="502920" y="1335024"/>
            <a:ext cx="3618890" cy="1344933"/>
          </a:xfrm>
          <a:prstGeom prst="roundRect">
            <a:avLst>
              <a:gd name="adj" fmla="val 22662"/>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ДАЛО</a:t>
            </a:r>
          </a:p>
        </p:txBody>
      </p:sp>
      <p:sp>
        <p:nvSpPr>
          <p:cNvPr id="6" name="TextBox 5"/>
          <p:cNvSpPr txBox="1"/>
          <p:nvPr/>
        </p:nvSpPr>
        <p:spPr>
          <a:xfrm>
            <a:off x="640080" y="1725375"/>
            <a:ext cx="3344570"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доступ на месте, без визита</a:t>
            </a:r>
          </a:p>
        </p:txBody>
      </p:sp>
      <p:sp>
        <p:nvSpPr>
          <p:cNvPr id="7" name="Rounded Rectangle 6"/>
          <p:cNvSpPr/>
          <p:nvPr/>
        </p:nvSpPr>
        <p:spPr>
          <a:xfrm>
            <a:off x="4286402" y="1335024"/>
            <a:ext cx="3618890" cy="1344933"/>
          </a:xfrm>
          <a:prstGeom prst="roundRect">
            <a:avLst>
              <a:gd name="adj" fmla="val 22662"/>
            </a:avLst>
          </a:prstGeom>
          <a:solidFill>
            <a:srgbClr val="F4F7FA"/>
          </a:solidFill>
          <a:ln w="15240">
            <a:solidFill>
              <a:srgbClr val="1C7293"/>
            </a:solidFill>
          </a:ln>
          <a:effectLst/>
        </p:spPr>
        <p:txBody>
          <a:bodyPr rtlCol="0" anchor="ctr"/>
          <a:lstStyle/>
          <a:p>
            <a:pPr algn="ctr"/>
          </a:p>
        </p:txBody>
      </p:sp>
      <p:sp>
        <p:nvSpPr>
          <p:cNvPr id="8" name="TextBox 7"/>
          <p:cNvSpPr txBox="1"/>
          <p:nvPr/>
        </p:nvSpPr>
        <p:spPr>
          <a:xfrm>
            <a:off x="4423562"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ПОТРЕБОВАЛО</a:t>
            </a:r>
          </a:p>
        </p:txBody>
      </p:sp>
      <p:sp>
        <p:nvSpPr>
          <p:cNvPr id="9" name="TextBox 8"/>
          <p:cNvSpPr txBox="1"/>
          <p:nvPr/>
        </p:nvSpPr>
        <p:spPr>
          <a:xfrm>
            <a:off x="4423562" y="1725375"/>
            <a:ext cx="3344570"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годный снимок — шага не было</a:t>
            </a:r>
          </a:p>
        </p:txBody>
      </p:sp>
      <p:sp>
        <p:nvSpPr>
          <p:cNvPr id="10" name="Rounded Rectangle 9"/>
          <p:cNvSpPr/>
          <p:nvPr/>
        </p:nvSpPr>
        <p:spPr>
          <a:xfrm>
            <a:off x="8069884" y="1335024"/>
            <a:ext cx="3618890" cy="1344933"/>
          </a:xfrm>
          <a:prstGeom prst="roundRect">
            <a:avLst>
              <a:gd name="adj" fmla="val 22662"/>
            </a:avLst>
          </a:prstGeom>
          <a:solidFill>
            <a:srgbClr val="FFFFFF"/>
          </a:solidFill>
          <a:ln w="25400">
            <a:solidFill>
              <a:srgbClr val="F0AB00"/>
            </a:solidFill>
          </a:ln>
          <a:effectLst/>
        </p:spPr>
        <p:txBody>
          <a:bodyPr rtlCol="0" anchor="ctr"/>
          <a:lstStyle/>
          <a:p>
            <a:pPr algn="ctr"/>
          </a:p>
        </p:txBody>
      </p:sp>
      <p:sp>
        <p:nvSpPr>
          <p:cNvPr id="11" name="TextBox 10"/>
          <p:cNvSpPr txBox="1"/>
          <p:nvPr/>
        </p:nvSpPr>
        <p:spPr>
          <a:xfrm>
            <a:off x="8207044"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В СУММЕ</a:t>
            </a:r>
          </a:p>
        </p:txBody>
      </p:sp>
      <p:sp>
        <p:nvSpPr>
          <p:cNvPr id="12" name="TextBox 11"/>
          <p:cNvSpPr txBox="1"/>
          <p:nvPr/>
        </p:nvSpPr>
        <p:spPr>
          <a:xfrm>
            <a:off x="8207044" y="1725375"/>
            <a:ext cx="3344570" cy="817422"/>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доступ ценой отказного потока</a:t>
            </a:r>
          </a:p>
        </p:txBody>
      </p:sp>
      <p:sp>
        <p:nvSpPr>
          <p:cNvPr id="13" name="Rounded Rectangle 12"/>
          <p:cNvSpPr/>
          <p:nvPr/>
        </p:nvSpPr>
        <p:spPr>
          <a:xfrm>
            <a:off x="374904" y="2771397"/>
            <a:ext cx="11441887" cy="1937425"/>
          </a:xfrm>
          <a:prstGeom prst="roundRect">
            <a:avLst>
              <a:gd name="adj" fmla="val 15732"/>
            </a:avLst>
          </a:prstGeom>
          <a:solidFill>
            <a:srgbClr val="F4F7FA"/>
          </a:solidFill>
          <a:ln w="19050">
            <a:solidFill>
              <a:srgbClr val="1C7293"/>
            </a:solidFill>
          </a:ln>
          <a:effectLst/>
        </p:spPr>
        <p:txBody>
          <a:bodyPr rtlCol="0" anchor="ctr"/>
          <a:lstStyle/>
          <a:p>
            <a:pPr algn="ctr"/>
          </a:p>
        </p:txBody>
      </p:sp>
      <p:sp>
        <p:nvSpPr>
          <p:cNvPr id="14" name="TextBox 13"/>
          <p:cNvSpPr txBox="1"/>
          <p:nvPr/>
        </p:nvSpPr>
        <p:spPr>
          <a:xfrm>
            <a:off x="539496" y="2862837"/>
            <a:ext cx="5373471" cy="3373370"/>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Сменился исполнитель: решение перешло к допущенному регулятором устройству.</a:t>
            </a:r>
          </a:p>
          <a:p>
            <a:pPr algn="l">
              <a:lnSpc>
                <a:spcPct val="126000"/>
              </a:lnSpc>
              <a:spcBef>
                <a:spcPts val="700"/>
              </a:spcBef>
            </a:pPr>
            <a:r>
              <a:rPr sz="1500" b="0" i="0">
                <a:solidFill>
                  <a:srgbClr val="21295C"/>
                </a:solidFill>
                <a:latin typeface="Arial"/>
              </a:rPr>
              <a:t/>
            </a:r>
            <a:r>
              <a:rPr sz="1500" b="1" i="0">
                <a:solidFill>
                  <a:srgbClr val="21295C"/>
                </a:solidFill>
                <a:latin typeface="Arial"/>
              </a:rPr>
              <a:t>Отдельно, другой прибор и взрослые:</a:t>
            </a:r>
          </a:p>
          <a:p>
            <a:pPr algn="l">
              <a:lnSpc>
                <a:spcPct val="126000"/>
              </a:lnSpc>
              <a:spcBef>
                <a:spcPts val="700"/>
              </a:spcBef>
            </a:pPr>
            <a:r>
              <a:rPr sz="1500" b="0" i="0">
                <a:solidFill>
                  <a:srgbClr val="21295C"/>
                </a:solidFill>
                <a:latin typeface="Arial"/>
              </a:rPr>
              <a:t/>
            </a:r>
            <a:r>
              <a:rPr sz="1500" b="0" i="0">
                <a:solidFill>
                  <a:srgbClr val="21295C"/>
                </a:solidFill>
                <a:latin typeface="Arial"/>
              </a:rPr>
              <a:t>• негодны </a:t>
            </a:r>
            <a:r>
              <a:rPr sz="1500" b="1" i="0">
                <a:solidFill>
                  <a:srgbClr val="21295C"/>
                </a:solidFill>
                <a:latin typeface="Arial"/>
              </a:rPr>
              <a:t>5 снимков из ста</a:t>
            </a:r>
            <a:r>
              <a:rPr sz="1500" b="0" i="0">
                <a:solidFill>
                  <a:srgbClr val="21295C"/>
                </a:solidFill>
                <a:latin typeface="Arial"/>
              </a:rPr>
              <a:t> — на </a:t>
            </a:r>
            <a:r>
              <a:rPr sz="1500" b="1" i="0">
                <a:solidFill>
                  <a:srgbClr val="21295C"/>
                </a:solidFill>
                <a:latin typeface="Arial"/>
              </a:rPr>
              <a:t>101 710 визитов</a:t>
            </a:r>
            <a:r>
              <a:rPr sz="1500" b="0" i="0">
                <a:solidFill>
                  <a:srgbClr val="21295C"/>
                </a:solidFill>
                <a:latin typeface="Arial"/>
              </a:rPr>
              <a:t> в 404 клиниках</a:t>
            </a:r>
          </a:p>
        </p:txBody>
      </p:sp>
      <p:sp>
        <p:nvSpPr>
          <p:cNvPr id="15" name="TextBox 14"/>
          <p:cNvSpPr txBox="1"/>
          <p:nvPr/>
        </p:nvSpPr>
        <p:spPr>
          <a:xfrm>
            <a:off x="6278727" y="2862837"/>
            <a:ext cx="5373471" cy="3373370"/>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 </a:t>
            </a:r>
            <a:r>
              <a:rPr sz="1500" b="1" i="0">
                <a:solidFill>
                  <a:srgbClr val="21295C"/>
                </a:solidFill>
                <a:latin typeface="Arial"/>
              </a:rPr>
              <a:t>75,7 процента</a:t>
            </a:r>
            <a:r>
              <a:rPr sz="1500" b="0" i="0">
                <a:solidFill>
                  <a:srgbClr val="21295C"/>
                </a:solidFill>
                <a:latin typeface="Arial"/>
              </a:rPr>
              <a:t> потока специалист не видит</a:t>
            </a:r>
          </a:p>
          <a:p>
            <a:pPr algn="l">
              <a:lnSpc>
                <a:spcPct val="126000"/>
              </a:lnSpc>
              <a:spcBef>
                <a:spcPts val="700"/>
              </a:spcBef>
            </a:pPr>
            <a:r>
              <a:rPr sz="1500" b="0" i="0">
                <a:solidFill>
                  <a:srgbClr val="21295C"/>
                </a:solidFill>
                <a:latin typeface="Arial"/>
              </a:rPr>
              <a:t/>
            </a:r>
            <a:r>
              <a:rPr sz="1500" b="0" i="0">
                <a:solidFill>
                  <a:srgbClr val="21295C"/>
                </a:solidFill>
                <a:latin typeface="Arial"/>
              </a:rPr>
              <a:t>• с явкой 22 против 100 в одну бухгалтерию не складывается</a:t>
            </a:r>
          </a:p>
        </p:txBody>
      </p:sp>
      <p:sp>
        <p:nvSpPr>
          <p:cNvPr id="16" name="Rectangle 15"/>
          <p:cNvSpPr/>
          <p:nvPr/>
        </p:nvSpPr>
        <p:spPr>
          <a:xfrm>
            <a:off x="6091275" y="2862837"/>
            <a:ext cx="9144" cy="1663105"/>
          </a:xfrm>
          <a:prstGeom prst="rect">
            <a:avLst/>
          </a:prstGeom>
          <a:solidFill>
            <a:srgbClr val="D9E2EC"/>
          </a:solidFill>
          <a:ln>
            <a:noFill/>
          </a:ln>
          <a:effectLst/>
        </p:spPr>
        <p:txBody>
          <a:bodyPr rtlCol="0" anchor="ctr"/>
          <a:lstStyle/>
          <a:p>
            <a:pPr algn="ctr"/>
          </a:p>
        </p:txBody>
      </p:sp>
      <p:sp>
        <p:nvSpPr>
          <p:cNvPr id="17" name="Rectangle 16"/>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18" name="TextBox 17"/>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Решение регулятора США DEN180001, 2018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Выигрыш измерен доступом, точности модель не прибавила</a:t>
            </a:r>
          </a:p>
        </p:txBody>
      </p:sp>
      <p:sp>
        <p:nvSpPr>
          <p:cNvPr id="4" name="Rounded Rectangle 3"/>
          <p:cNvSpPr/>
          <p:nvPr/>
        </p:nvSpPr>
        <p:spPr>
          <a:xfrm>
            <a:off x="374904" y="1243584"/>
            <a:ext cx="11441887" cy="2234486"/>
          </a:xfrm>
          <a:prstGeom prst="roundRect">
            <a:avLst>
              <a:gd name="adj" fmla="val 13640"/>
            </a:avLst>
          </a:prstGeom>
          <a:solidFill>
            <a:srgbClr val="F4F7FA"/>
          </a:solidFill>
          <a:ln w="19050">
            <a:solidFill>
              <a:srgbClr val="1C7293"/>
            </a:solidFill>
          </a:ln>
          <a:effectLst/>
        </p:spPr>
        <p:txBody>
          <a:bodyPr rtlCol="0" anchor="ctr"/>
          <a:lstStyle/>
          <a:p>
            <a:pPr algn="ctr"/>
          </a:p>
        </p:txBody>
      </p:sp>
      <p:sp>
        <p:nvSpPr>
          <p:cNvPr id="5" name="TextBox 4"/>
          <p:cNvSpPr txBox="1"/>
          <p:nvPr/>
        </p:nvSpPr>
        <p:spPr>
          <a:xfrm>
            <a:off x="539496" y="1335024"/>
            <a:ext cx="5373471" cy="4901184"/>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Что получается:</a:t>
            </a:r>
            <a:r>
              <a:rPr sz="1500" b="0" i="0">
                <a:solidFill>
                  <a:srgbClr val="21295C"/>
                </a:solidFill>
                <a:latin typeface="Arial"/>
              </a:rPr>
              <a:t> снять объём чтения, где процедура плотная · дотянуться до тех, кто иначе не придёт.</a:t>
            </a:r>
          </a:p>
          <a:p>
            <a:pPr algn="l">
              <a:lnSpc>
                <a:spcPct val="126000"/>
              </a:lnSpc>
              <a:spcBef>
                <a:spcPts val="700"/>
              </a:spcBef>
            </a:pPr>
            <a:r>
              <a:rPr sz="1500" b="0" i="0">
                <a:solidFill>
                  <a:srgbClr val="21295C"/>
                </a:solidFill>
                <a:latin typeface="Arial"/>
              </a:rPr>
              <a:t/>
            </a:r>
            <a:r>
              <a:rPr sz="1500" b="1" i="0">
                <a:solidFill>
                  <a:srgbClr val="21295C"/>
                </a:solidFill>
                <a:latin typeface="Arial"/>
              </a:rPr>
              <a:t>Что не получается:</a:t>
            </a:r>
            <a:r>
              <a:rPr sz="1500" b="0" i="0">
                <a:solidFill>
                  <a:srgbClr val="21295C"/>
                </a:solidFill>
                <a:latin typeface="Arial"/>
              </a:rPr>
              <a:t> назначить порог — за ним подпись · открытый поток · годность снимка.</a:t>
            </a:r>
          </a:p>
          <a:p>
            <a:pPr algn="l">
              <a:lnSpc>
                <a:spcPct val="126000"/>
              </a:lnSpc>
              <a:spcBef>
                <a:spcPts val="700"/>
              </a:spcBef>
            </a:pPr>
            <a:r>
              <a:rPr sz="1500" b="0" i="0">
                <a:solidFill>
                  <a:srgbClr val="21295C"/>
                </a:solidFill>
                <a:latin typeface="Arial"/>
              </a:rPr>
              <a:t/>
            </a:r>
            <a:r>
              <a:rPr sz="1500" b="0" i="0">
                <a:solidFill>
                  <a:srgbClr val="21295C"/>
                </a:solidFill>
                <a:latin typeface="Arial"/>
              </a:rPr>
              <a:t>• </a:t>
            </a:r>
            <a:r>
              <a:rPr sz="1500" b="1" i="0">
                <a:solidFill>
                  <a:srgbClr val="21295C"/>
                </a:solidFill>
                <a:latin typeface="Arial"/>
              </a:rPr>
              <a:t>Нагрузка переехала на другой шаг</a:t>
            </a:r>
            <a:r>
              <a:rPr sz="1500" b="0" i="0">
                <a:solidFill>
                  <a:srgbClr val="21295C"/>
                </a:solidFill>
                <a:latin typeface="Arial"/>
              </a:rPr>
              <a:t> — с сортировки на приём, платить некому</a:t>
            </a:r>
          </a:p>
        </p:txBody>
      </p:sp>
      <p:sp>
        <p:nvSpPr>
          <p:cNvPr id="6" name="TextBox 5"/>
          <p:cNvSpPr txBox="1"/>
          <p:nvPr/>
        </p:nvSpPr>
        <p:spPr>
          <a:xfrm>
            <a:off x="6278727" y="1335024"/>
            <a:ext cx="5373471" cy="4901184"/>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 </a:t>
            </a:r>
            <a:r>
              <a:rPr sz="1500" b="1" i="0">
                <a:solidFill>
                  <a:srgbClr val="21295C"/>
                </a:solidFill>
                <a:latin typeface="Arial"/>
              </a:rPr>
              <a:t>Сменился исполнитель</a:t>
            </a:r>
            <a:r>
              <a:rPr sz="1500" b="0" i="0">
                <a:solidFill>
                  <a:srgbClr val="21295C"/>
                </a:solidFill>
                <a:latin typeface="Arial"/>
              </a:rPr>
              <a:t>, производной формой </a:t>
            </a:r>
            <a:r>
              <a:rPr sz="1500" b="1" i="0">
                <a:solidFill>
                  <a:srgbClr val="21295C"/>
                </a:solidFill>
                <a:latin typeface="Arial"/>
              </a:rPr>
              <a:t>появился шаг</a:t>
            </a:r>
            <a:r>
              <a:rPr sz="1500" b="0" i="0">
                <a:solidFill>
                  <a:srgbClr val="21295C"/>
                </a:solidFill>
                <a:latin typeface="Arial"/>
              </a:rPr>
              <a:t> — годный снимок</a:t>
            </a:r>
          </a:p>
          <a:p>
            <a:pPr algn="l">
              <a:lnSpc>
                <a:spcPct val="126000"/>
              </a:lnSpc>
              <a:spcBef>
                <a:spcPts val="700"/>
              </a:spcBef>
            </a:pPr>
            <a:r>
              <a:rPr sz="1500" b="0" i="0">
                <a:solidFill>
                  <a:srgbClr val="21295C"/>
                </a:solidFill>
                <a:latin typeface="Arial"/>
              </a:rPr>
              <a:t/>
            </a:r>
            <a:r>
              <a:rPr sz="1500" b="0" i="0">
                <a:solidFill>
                  <a:srgbClr val="21295C"/>
                </a:solidFill>
                <a:latin typeface="Arial"/>
              </a:rPr>
              <a:t>• </a:t>
            </a:r>
            <a:r>
              <a:rPr sz="1500" b="1" i="0">
                <a:solidFill>
                  <a:srgbClr val="21295C"/>
                </a:solidFill>
                <a:latin typeface="Arial"/>
              </a:rPr>
              <a:t>Отсеянное фильтром не проверяет ни одна процедура</a:t>
            </a:r>
          </a:p>
          <a:p>
            <a:pPr algn="l">
              <a:lnSpc>
                <a:spcPct val="126000"/>
              </a:lnSpc>
              <a:spcBef>
                <a:spcPts val="700"/>
              </a:spcBef>
            </a:pPr>
            <a:r>
              <a:rPr sz="1500" b="0" i="0">
                <a:solidFill>
                  <a:srgbClr val="21295C"/>
                </a:solidFill>
                <a:latin typeface="Arial"/>
              </a:rPr>
              <a:t/>
            </a:r>
            <a:r>
              <a:rPr sz="1500" b="1" i="0">
                <a:solidFill>
                  <a:srgbClr val="21295C"/>
                </a:solidFill>
                <a:latin typeface="Arial"/>
              </a:rPr>
              <a:t>В скрининге человек прочёл каждое исследование. Где решала модель — её «норма» до него не дошла.</a:t>
            </a:r>
          </a:p>
        </p:txBody>
      </p:sp>
      <p:sp>
        <p:nvSpPr>
          <p:cNvPr id="7" name="Rectangle 6"/>
          <p:cNvSpPr/>
          <p:nvPr/>
        </p:nvSpPr>
        <p:spPr>
          <a:xfrm>
            <a:off x="6091275" y="1335024"/>
            <a:ext cx="9144" cy="1960166"/>
          </a:xfrm>
          <a:prstGeom prst="rect">
            <a:avLst/>
          </a:prstGeom>
          <a:solidFill>
            <a:srgbClr val="D9E2EC"/>
          </a:solidFill>
          <a:ln>
            <a:noFill/>
          </a:ln>
          <a:effectLst/>
        </p:spPr>
        <p:txBody>
          <a:bodyPr rtlCol="0" anchor="ctr"/>
          <a:lstStyle/>
          <a:p>
            <a:pPr algn="ctr"/>
          </a:p>
        </p:txBody>
      </p:sp>
      <p:sp>
        <p:nvSpPr>
          <p:cNvPr id="8" name="Rectangle 7"/>
          <p:cNvSpPr/>
          <p:nvPr/>
        </p:nvSpPr>
        <p:spPr>
          <a:xfrm>
            <a:off x="502920" y="888090"/>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Rectangle 2"/>
          <p:cNvSpPr/>
          <p:nvPr/>
        </p:nvSpPr>
        <p:spPr>
          <a:xfrm>
            <a:off x="0" y="0"/>
            <a:ext cx="155448" cy="6858000"/>
          </a:xfrm>
          <a:prstGeom prst="rect">
            <a:avLst/>
          </a:prstGeom>
          <a:solidFill>
            <a:srgbClr val="065A82"/>
          </a:solidFill>
          <a:ln>
            <a:noFill/>
          </a:ln>
          <a:effectLst/>
        </p:spPr>
        <p:txBody>
          <a:bodyPr rtlCol="0" anchor="ctr"/>
          <a:lstStyle/>
          <a:p>
            <a:pPr algn="ctr"/>
          </a:p>
        </p:txBody>
      </p:sp>
      <p:sp>
        <p:nvSpPr>
          <p:cNvPr id="4" name="Rounded Rectangle 3"/>
          <p:cNvSpPr/>
          <p:nvPr/>
        </p:nvSpPr>
        <p:spPr>
          <a:xfrm>
            <a:off x="7543800" y="914400"/>
            <a:ext cx="4144975" cy="4340523"/>
          </a:xfrm>
          <a:prstGeom prst="roundRect">
            <a:avLst>
              <a:gd name="adj" fmla="val 7353"/>
            </a:avLst>
          </a:prstGeom>
          <a:solidFill>
            <a:srgbClr val="F4F7FA"/>
          </a:solidFill>
          <a:ln w="19050">
            <a:solidFill>
              <a:srgbClr val="1C7293"/>
            </a:solidFill>
          </a:ln>
          <a:effectLst/>
        </p:spPr>
        <p:txBody>
          <a:bodyPr rtlCol="0" anchor="ctr"/>
          <a:lstStyle/>
          <a:p>
            <a:pPr algn="ctr"/>
          </a:p>
        </p:txBody>
      </p:sp>
      <p:pic>
        <p:nvPicPr>
          <p:cNvPr id="5" name="Picture 4" descr="s22-rentgenkabinet-pacient-u-pribora.jpg"/>
          <p:cNvPicPr>
            <a:picLocks noChangeAspect="1"/>
          </p:cNvPicPr>
          <p:nvPr/>
        </p:nvPicPr>
        <p:blipFill>
          <a:blip r:embed="rId2"/>
          <a:stretch>
            <a:fillRect/>
          </a:stretch>
        </p:blipFill>
        <p:spPr>
          <a:xfrm>
            <a:off x="7680960" y="1051560"/>
            <a:ext cx="3870655" cy="4066203"/>
          </a:xfrm>
          <a:prstGeom prst="rect">
            <a:avLst/>
          </a:prstGeom>
        </p:spPr>
      </p:pic>
      <p:sp>
        <p:nvSpPr>
          <p:cNvPr id="6" name="TextBox 5"/>
          <p:cNvSpPr txBox="1"/>
          <p:nvPr/>
        </p:nvSpPr>
        <p:spPr>
          <a:xfrm>
            <a:off x="704088" y="960120"/>
            <a:ext cx="6675120" cy="950909"/>
          </a:xfrm>
          <a:prstGeom prst="rect">
            <a:avLst/>
          </a:prstGeom>
          <a:noFill/>
        </p:spPr>
        <p:txBody>
          <a:bodyPr wrap="square" lIns="0" rIns="0" tIns="0" bIns="0" anchor="t">
            <a:spAutoFit/>
          </a:bodyPr>
          <a:lstStyle/>
          <a:p>
            <a:pPr algn="l">
              <a:lnSpc>
                <a:spcPct val="110000"/>
              </a:lnSpc>
            </a:pPr>
            <a:r>
              <a:rPr sz="2750" b="1" i="0">
                <a:solidFill>
                  <a:srgbClr val="21295C"/>
                </a:solidFill>
                <a:latin typeface="Arial"/>
              </a:rPr>
              <a:t>2. Инструментальная и лабораторная диагностика</a:t>
            </a:r>
          </a:p>
        </p:txBody>
      </p:sp>
      <p:sp>
        <p:nvSpPr>
          <p:cNvPr id="7" name="Rectangle 6"/>
          <p:cNvSpPr/>
          <p:nvPr/>
        </p:nvSpPr>
        <p:spPr>
          <a:xfrm>
            <a:off x="704088" y="2002469"/>
            <a:ext cx="1188720" cy="59436"/>
          </a:xfrm>
          <a:prstGeom prst="rect">
            <a:avLst/>
          </a:prstGeom>
          <a:solidFill>
            <a:srgbClr val="F0AB00"/>
          </a:solidFill>
          <a:ln>
            <a:noFill/>
          </a:ln>
          <a:effectLst/>
        </p:spPr>
        <p:txBody>
          <a:bodyPr rtlCol="0" anchor="ctr"/>
          <a:lstStyle/>
          <a:p>
            <a:pPr algn="ctr"/>
          </a:p>
        </p:txBody>
      </p:sp>
      <p:sp>
        <p:nvSpPr>
          <p:cNvPr id="8" name="TextBox 7"/>
          <p:cNvSpPr txBox="1"/>
          <p:nvPr/>
        </p:nvSpPr>
        <p:spPr>
          <a:xfrm>
            <a:off x="704088" y="2276789"/>
            <a:ext cx="6473952" cy="942848"/>
          </a:xfrm>
          <a:prstGeom prst="rect">
            <a:avLst/>
          </a:prstGeom>
          <a:noFill/>
        </p:spPr>
        <p:txBody>
          <a:bodyPr wrap="square" lIns="0" rIns="0" tIns="0" bIns="0" anchor="t">
            <a:spAutoFit/>
          </a:bodyPr>
          <a:lstStyle/>
          <a:p>
            <a:pPr algn="l">
              <a:lnSpc>
                <a:spcPct val="124000"/>
              </a:lnSpc>
            </a:pPr>
            <a:r>
              <a:rPr sz="1550" b="1" i="0">
                <a:solidFill>
                  <a:srgbClr val="21295C"/>
                </a:solidFill>
                <a:latin typeface="Arial"/>
              </a:rPr>
              <a:t>В скрининге решали, кого посмотреть. Здесь человек уже измерен — и заключение по измеренному выносит система.</a:t>
            </a:r>
            <a:r>
              <a:rPr sz="1550" b="0" i="0">
                <a:solidFill>
                  <a:srgbClr val="21295C"/>
                </a:solidFill>
                <a:latin typeface="Arial"/>
              </a:rPr>
              <a:t> У каждой доли есть группа, на которой она посчитана.</a:t>
            </a:r>
          </a:p>
        </p:txBody>
      </p:sp>
      <p:sp>
        <p:nvSpPr>
          <p:cNvPr id="9" name="TextBox 8"/>
          <p:cNvSpPr txBox="1"/>
          <p:nvPr/>
        </p:nvSpPr>
        <p:spPr>
          <a:xfrm>
            <a:off x="704088" y="3347654"/>
            <a:ext cx="6473952" cy="942848"/>
          </a:xfrm>
          <a:prstGeom prst="rect">
            <a:avLst/>
          </a:prstGeom>
          <a:noFill/>
        </p:spPr>
        <p:txBody>
          <a:bodyPr wrap="square" lIns="0" rIns="0" tIns="0" bIns="0" anchor="t">
            <a:spAutoFit/>
          </a:bodyPr>
          <a:lstStyle/>
          <a:p>
            <a:pPr algn="l">
              <a:lnSpc>
                <a:spcPct val="124000"/>
              </a:lnSpc>
            </a:pPr>
            <a:r>
              <a:rPr sz="1550" b="0" i="0">
                <a:solidFill>
                  <a:srgbClr val="21295C"/>
                </a:solidFill>
                <a:latin typeface="Arial"/>
              </a:rPr>
              <a:t>По порядку: </a:t>
            </a:r>
            <a:r>
              <a:rPr sz="1550" b="1" i="0">
                <a:solidFill>
                  <a:srgbClr val="21295C"/>
                </a:solidFill>
                <a:latin typeface="Arial"/>
              </a:rPr>
              <a:t>Пример 1: Таиланд — точность приехала, а снимки не прошли</a:t>
            </a:r>
            <a:r>
              <a:rPr sz="1550" b="0" i="0">
                <a:solidFill>
                  <a:srgbClr val="21295C"/>
                </a:solidFill>
                <a:latin typeface="Arial"/>
              </a:rPr>
              <a:t> · </a:t>
            </a:r>
            <a:r>
              <a:rPr sz="1550" b="1" i="0">
                <a:solidFill>
                  <a:srgbClr val="21295C"/>
                </a:solidFill>
                <a:latin typeface="Arial"/>
              </a:rPr>
              <a:t>Пример 2: кожа и состав набора</a:t>
            </a:r>
            <a:r>
              <a:rPr sz="1550" b="0" i="0">
                <a:solidFill>
                  <a:srgbClr val="21295C"/>
                </a:solidFill>
                <a:latin typeface="Arial"/>
              </a:rPr>
              <a:t> · </a:t>
            </a:r>
            <a:r>
              <a:rPr sz="1550" b="1" i="0">
                <a:solidFill>
                  <a:srgbClr val="21295C"/>
                </a:solidFill>
                <a:latin typeface="Arial"/>
              </a:rPr>
              <a:t>Пример 3: расходы вместо болезни</a:t>
            </a:r>
          </a:p>
        </p:txBody>
      </p:sp>
      <p:sp>
        <p:nvSpPr>
          <p:cNvPr id="10" name="TextBox 9"/>
          <p:cNvSpPr txBox="1"/>
          <p:nvPr/>
        </p:nvSpPr>
        <p:spPr>
          <a:xfrm>
            <a:off x="704088" y="4418518"/>
            <a:ext cx="6675120" cy="215015"/>
          </a:xfrm>
          <a:prstGeom prst="rect">
            <a:avLst/>
          </a:prstGeom>
          <a:noFill/>
        </p:spPr>
        <p:txBody>
          <a:bodyPr wrap="square" lIns="0" rIns="0" tIns="0" bIns="0" anchor="t">
            <a:spAutoFit/>
          </a:bodyPr>
          <a:lstStyle/>
          <a:p>
            <a:pPr algn="l">
              <a:lnSpc>
                <a:spcPct val="114000"/>
              </a:lnSpc>
            </a:pPr>
            <a:r>
              <a:rPr sz="1200" b="0" i="1">
                <a:solidFill>
                  <a:srgbClr val="1C7293"/>
                </a:solidFill>
                <a:latin typeface="Arial"/>
              </a:rPr>
              <a:t>Рабочее место, где снимают данные</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500" b="1" i="0">
                <a:solidFill>
                  <a:srgbClr val="21295C"/>
                </a:solidFill>
                <a:latin typeface="Arial"/>
              </a:rPr>
              <a:t>Инструментальная и лабораторная диагностика: что это за стадия</a:t>
            </a:r>
          </a:p>
        </p:txBody>
      </p:sp>
      <p:sp>
        <p:nvSpPr>
          <p:cNvPr id="4" name="Rounded Rectangle 3"/>
          <p:cNvSpPr/>
          <p:nvPr/>
        </p:nvSpPr>
        <p:spPr>
          <a:xfrm>
            <a:off x="374904" y="1243584"/>
            <a:ext cx="11441887" cy="1848525"/>
          </a:xfrm>
          <a:prstGeom prst="roundRect">
            <a:avLst>
              <a:gd name="adj" fmla="val 16488"/>
            </a:avLst>
          </a:prstGeom>
          <a:solidFill>
            <a:srgbClr val="F4F7FA"/>
          </a:solidFill>
          <a:ln w="19050">
            <a:solidFill>
              <a:srgbClr val="1C7293"/>
            </a:solidFill>
          </a:ln>
          <a:effectLst/>
        </p:spPr>
        <p:txBody>
          <a:bodyPr rtlCol="0" anchor="ctr"/>
          <a:lstStyle/>
          <a:p>
            <a:pPr algn="ctr"/>
          </a:p>
        </p:txBody>
      </p:sp>
      <p:sp>
        <p:nvSpPr>
          <p:cNvPr id="5" name="TextBox 4"/>
          <p:cNvSpPr txBox="1"/>
          <p:nvPr/>
        </p:nvSpPr>
        <p:spPr>
          <a:xfrm>
            <a:off x="539496" y="1335024"/>
            <a:ext cx="5373471" cy="4901184"/>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Про человека снимают величины</a:t>
            </a:r>
            <a:r>
              <a:rPr sz="1500" b="0" i="0">
                <a:solidFill>
                  <a:srgbClr val="21295C"/>
                </a:solidFill>
                <a:latin typeface="Arial"/>
              </a:rPr>
              <a:t> — прибором, в лаборатории, под нагрузкой.</a:t>
            </a:r>
          </a:p>
          <a:p>
            <a:pPr algn="l">
              <a:lnSpc>
                <a:spcPct val="126000"/>
              </a:lnSpc>
              <a:spcBef>
                <a:spcPts val="700"/>
              </a:spcBef>
            </a:pPr>
            <a:r>
              <a:rPr sz="1500" b="0" i="0">
                <a:solidFill>
                  <a:srgbClr val="21295C"/>
                </a:solidFill>
                <a:latin typeface="Arial"/>
              </a:rPr>
              <a:t/>
            </a:r>
            <a:r>
              <a:rPr sz="1500" b="0" i="0">
                <a:solidFill>
                  <a:srgbClr val="21295C"/>
                </a:solidFill>
                <a:latin typeface="Arial"/>
              </a:rPr>
              <a:t>Техник ставит человека к прибору, снимает, смотрит на экран и решает: читать или переснимать. Посев мокроты идёт три недели, и три недели эти платит человек.</a:t>
            </a:r>
          </a:p>
        </p:txBody>
      </p:sp>
      <p:sp>
        <p:nvSpPr>
          <p:cNvPr id="6" name="TextBox 5"/>
          <p:cNvSpPr txBox="1"/>
          <p:nvPr/>
        </p:nvSpPr>
        <p:spPr>
          <a:xfrm>
            <a:off x="6278727" y="1335024"/>
            <a:ext cx="5373471" cy="4901184"/>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Решение стадии:</a:t>
            </a:r>
            <a:r>
              <a:rPr sz="1500" b="0" i="0">
                <a:solidFill>
                  <a:srgbClr val="21295C"/>
                </a:solidFill>
                <a:latin typeface="Arial"/>
              </a:rPr>
              <a:t> что измерено и с какой точностью.</a:t>
            </a:r>
          </a:p>
          <a:p>
            <a:pPr algn="l">
              <a:lnSpc>
                <a:spcPct val="126000"/>
              </a:lnSpc>
              <a:spcBef>
                <a:spcPts val="700"/>
              </a:spcBef>
            </a:pPr>
            <a:r>
              <a:rPr sz="1500" b="0" i="0">
                <a:solidFill>
                  <a:srgbClr val="21295C"/>
                </a:solidFill>
                <a:latin typeface="Arial"/>
              </a:rPr>
              <a:t/>
            </a:r>
            <a:r>
              <a:rPr sz="1500" b="1" i="0">
                <a:solidFill>
                  <a:srgbClr val="21295C"/>
                </a:solidFill>
                <a:latin typeface="Arial"/>
              </a:rPr>
              <a:t>Почему после отбора:</a:t>
            </a:r>
            <a:r>
              <a:rPr sz="1500" b="0" i="0">
                <a:solidFill>
                  <a:srgbClr val="21295C"/>
                </a:solidFill>
                <a:latin typeface="Arial"/>
              </a:rPr>
              <a:t> обе доли измерения посчитаны на группе, которую собрал отбор.</a:t>
            </a:r>
          </a:p>
        </p:txBody>
      </p:sp>
      <p:sp>
        <p:nvSpPr>
          <p:cNvPr id="7" name="Rectangle 6"/>
          <p:cNvSpPr/>
          <p:nvPr/>
        </p:nvSpPr>
        <p:spPr>
          <a:xfrm>
            <a:off x="6091275" y="1335024"/>
            <a:ext cx="9144" cy="1574205"/>
          </a:xfrm>
          <a:prstGeom prst="rect">
            <a:avLst/>
          </a:prstGeom>
          <a:solidFill>
            <a:srgbClr val="D9E2EC"/>
          </a:solidFill>
          <a:ln>
            <a:noFill/>
          </a:ln>
          <a:effectLst/>
        </p:spPr>
        <p:txBody>
          <a:bodyPr rtlCol="0" anchor="ctr"/>
          <a:lstStyle/>
          <a:p>
            <a:pPr algn="ctr"/>
          </a:p>
        </p:txBody>
      </p:sp>
      <p:sp>
        <p:nvSpPr>
          <p:cNvPr id="8" name="Rectangle 7"/>
          <p:cNvSpPr/>
          <p:nvPr/>
        </p:nvSpPr>
        <p:spPr>
          <a:xfrm>
            <a:off x="502920" y="854141"/>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Шесть действий стадии и что заняла модель</a:t>
            </a:r>
          </a:p>
        </p:txBody>
      </p:sp>
      <p:sp>
        <p:nvSpPr>
          <p:cNvPr id="4" name="Rounded Rectangle 3"/>
          <p:cNvSpPr/>
          <p:nvPr/>
        </p:nvSpPr>
        <p:spPr>
          <a:xfrm>
            <a:off x="502920" y="1335024"/>
            <a:ext cx="3389223" cy="1344933"/>
          </a:xfrm>
          <a:prstGeom prst="roundRect">
            <a:avLst>
              <a:gd name="adj" fmla="val 22662"/>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3114903"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ДОЛИ СЧИТАЛИ</a:t>
            </a:r>
          </a:p>
        </p:txBody>
      </p:sp>
      <p:sp>
        <p:nvSpPr>
          <p:cNvPr id="6" name="TextBox 5"/>
          <p:cNvSpPr txBox="1"/>
          <p:nvPr/>
        </p:nvSpPr>
        <p:spPr>
          <a:xfrm>
            <a:off x="640080" y="1725375"/>
            <a:ext cx="3114903"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все 62 работы</a:t>
            </a:r>
          </a:p>
        </p:txBody>
      </p:sp>
      <p:sp>
        <p:nvSpPr>
          <p:cNvPr id="7" name="TextBox 6"/>
          <p:cNvSpPr txBox="1"/>
          <p:nvPr/>
        </p:nvSpPr>
        <p:spPr>
          <a:xfrm>
            <a:off x="640080" y="2152374"/>
            <a:ext cx="3114903"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из 2 212 работ</a:t>
            </a:r>
          </a:p>
        </p:txBody>
      </p:sp>
      <p:sp>
        <p:nvSpPr>
          <p:cNvPr id="8" name="Rounded Rectangle 7"/>
          <p:cNvSpPr/>
          <p:nvPr/>
        </p:nvSpPr>
        <p:spPr>
          <a:xfrm>
            <a:off x="4056735" y="1335024"/>
            <a:ext cx="3389223" cy="1344933"/>
          </a:xfrm>
          <a:prstGeom prst="roundRect">
            <a:avLst>
              <a:gd name="adj" fmla="val 22662"/>
            </a:avLst>
          </a:prstGeom>
          <a:solidFill>
            <a:srgbClr val="FFFFFF"/>
          </a:solidFill>
          <a:ln w="25400">
            <a:solidFill>
              <a:srgbClr val="F0AB00"/>
            </a:solidFill>
          </a:ln>
          <a:effectLst/>
        </p:spPr>
        <p:txBody>
          <a:bodyPr rtlCol="0" anchor="ctr"/>
          <a:lstStyle/>
          <a:p>
            <a:pPr algn="ctr"/>
          </a:p>
        </p:txBody>
      </p:sp>
      <p:sp>
        <p:nvSpPr>
          <p:cNvPr id="9" name="TextBox 8"/>
          <p:cNvSpPr txBox="1"/>
          <p:nvPr/>
        </p:nvSpPr>
        <p:spPr>
          <a:xfrm>
            <a:off x="4193895" y="1472184"/>
            <a:ext cx="3114903"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ГРУППУ — ПОЧТИ НИКТО</a:t>
            </a:r>
          </a:p>
        </p:txBody>
      </p:sp>
      <p:sp>
        <p:nvSpPr>
          <p:cNvPr id="10" name="TextBox 9"/>
          <p:cNvSpPr txBox="1"/>
          <p:nvPr/>
        </p:nvSpPr>
        <p:spPr>
          <a:xfrm>
            <a:off x="4193895" y="1725375"/>
            <a:ext cx="3114903" cy="817422"/>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ни одна не годна для клиники</a:t>
            </a:r>
          </a:p>
        </p:txBody>
      </p:sp>
      <p:sp>
        <p:nvSpPr>
          <p:cNvPr id="11" name="Rounded Rectangle 10"/>
          <p:cNvSpPr/>
          <p:nvPr/>
        </p:nvSpPr>
        <p:spPr>
          <a:xfrm>
            <a:off x="374904" y="4154126"/>
            <a:ext cx="11441887" cy="2082081"/>
          </a:xfrm>
          <a:prstGeom prst="roundRect">
            <a:avLst>
              <a:gd name="adj" fmla="val 14639"/>
            </a:avLst>
          </a:prstGeom>
          <a:solidFill>
            <a:srgbClr val="F4F7FA"/>
          </a:solidFill>
          <a:ln w="19050">
            <a:solidFill>
              <a:srgbClr val="1C7293"/>
            </a:solidFill>
          </a:ln>
          <a:effectLst/>
        </p:spPr>
        <p:txBody>
          <a:bodyPr rtlCol="0" anchor="ctr"/>
          <a:lstStyle/>
          <a:p>
            <a:pPr algn="ctr"/>
          </a:p>
        </p:txBody>
      </p:sp>
      <p:sp>
        <p:nvSpPr>
          <p:cNvPr id="12" name="TextBox 11"/>
          <p:cNvSpPr txBox="1"/>
          <p:nvPr/>
        </p:nvSpPr>
        <p:spPr>
          <a:xfrm>
            <a:off x="539496" y="4245566"/>
            <a:ext cx="11112703" cy="1990641"/>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У прибора стоит человек: лаборант, техник, медсестра.</a:t>
            </a:r>
          </a:p>
          <a:p>
            <a:pPr algn="l">
              <a:lnSpc>
                <a:spcPct val="126000"/>
              </a:lnSpc>
              <a:spcBef>
                <a:spcPts val="700"/>
              </a:spcBef>
            </a:pPr>
            <a:r>
              <a:rPr sz="1500" b="0" i="0">
                <a:solidFill>
                  <a:srgbClr val="21295C"/>
                </a:solidFill>
                <a:latin typeface="Arial"/>
              </a:rPr>
              <a:t/>
            </a:r>
            <a:r>
              <a:rPr sz="1500" b="1" i="0">
                <a:solidFill>
                  <a:srgbClr val="21295C"/>
                </a:solidFill>
                <a:latin typeface="Arial"/>
              </a:rPr>
              <a:t>Без модели все шесть действий делает человек по записанному правилу. С моделью — два из шести:</a:t>
            </a:r>
            <a:r>
              <a:rPr sz="1500" b="0" i="0">
                <a:solidFill>
                  <a:srgbClr val="21295C"/>
                </a:solidFill>
                <a:latin typeface="Arial"/>
              </a:rPr>
              <a:t> прочесть измерение и сообщить результат.</a:t>
            </a:r>
          </a:p>
          <a:p>
            <a:pPr algn="l">
              <a:lnSpc>
                <a:spcPct val="126000"/>
              </a:lnSpc>
              <a:spcBef>
                <a:spcPts val="700"/>
              </a:spcBef>
            </a:pPr>
            <a:r>
              <a:rPr sz="1500" b="0" i="0">
                <a:solidFill>
                  <a:srgbClr val="21295C"/>
                </a:solidFill>
                <a:latin typeface="Arial"/>
              </a:rPr>
              <a:t/>
            </a:r>
            <a:r>
              <a:rPr sz="1500" b="1" i="0">
                <a:solidFill>
                  <a:srgbClr val="21295C"/>
                </a:solidFill>
                <a:latin typeface="Arial"/>
              </a:rPr>
              <a:t>Вам называют «точность 94 процента». На какой группе она посчитана?</a:t>
            </a:r>
          </a:p>
        </p:txBody>
      </p:sp>
      <p:sp>
        <p:nvSpPr>
          <p:cNvPr id="13" name="Rounded Rectangle 12"/>
          <p:cNvSpPr/>
          <p:nvPr/>
        </p:nvSpPr>
        <p:spPr>
          <a:xfrm>
            <a:off x="7756855" y="1335024"/>
            <a:ext cx="3931920" cy="2819102"/>
          </a:xfrm>
          <a:prstGeom prst="roundRect">
            <a:avLst>
              <a:gd name="adj" fmla="val 10811"/>
            </a:avLst>
          </a:prstGeom>
          <a:solidFill>
            <a:srgbClr val="F4F7FA"/>
          </a:solidFill>
          <a:ln w="19050">
            <a:solidFill>
              <a:srgbClr val="1C7293"/>
            </a:solidFill>
          </a:ln>
          <a:effectLst/>
        </p:spPr>
        <p:txBody>
          <a:bodyPr rtlCol="0" anchor="ctr"/>
          <a:lstStyle/>
          <a:p>
            <a:pPr algn="ctr"/>
          </a:p>
        </p:txBody>
      </p:sp>
      <p:pic>
        <p:nvPicPr>
          <p:cNvPr id="14" name="Picture 13" descr="s23-laborant-za-pultom-reshaet-o-godnosti.jpg"/>
          <p:cNvPicPr>
            <a:picLocks noChangeAspect="1"/>
          </p:cNvPicPr>
          <p:nvPr/>
        </p:nvPicPr>
        <p:blipFill>
          <a:blip r:embed="rId2"/>
          <a:stretch>
            <a:fillRect/>
          </a:stretch>
        </p:blipFill>
        <p:spPr>
          <a:xfrm>
            <a:off x="7894015" y="1472184"/>
            <a:ext cx="3657600" cy="2544782"/>
          </a:xfrm>
          <a:prstGeom prst="rect">
            <a:avLst/>
          </a:prstGeom>
        </p:spPr>
      </p:pic>
      <p:sp>
        <p:nvSpPr>
          <p:cNvPr id="15" name="Rectangle 14"/>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16" name="TextBox 15"/>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3"/>
              </a:rPr>
              <a:t>Roberts и соавт., Nature Machine Intelligence 2021</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Одна система, две группы: 8 против 79</a:t>
            </a:r>
          </a:p>
        </p:txBody>
      </p:sp>
      <p:sp>
        <p:nvSpPr>
          <p:cNvPr id="4" name="Rounded Rectangle 3"/>
          <p:cNvSpPr/>
          <p:nvPr/>
        </p:nvSpPr>
        <p:spPr>
          <a:xfrm>
            <a:off x="502920" y="1335024"/>
            <a:ext cx="5510631" cy="1556177"/>
          </a:xfrm>
          <a:prstGeom prst="roundRect">
            <a:avLst>
              <a:gd name="adj" fmla="val 19586"/>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5236311"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РАБОЧАЯ ТОЧКА</a:t>
            </a:r>
          </a:p>
        </p:txBody>
      </p:sp>
      <p:sp>
        <p:nvSpPr>
          <p:cNvPr id="6" name="TextBox 5"/>
          <p:cNvSpPr txBox="1"/>
          <p:nvPr/>
        </p:nvSpPr>
        <p:spPr>
          <a:xfrm>
            <a:off x="640080" y="1725375"/>
            <a:ext cx="5236311"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94 из ста больных · 11 из ста здоровых напрасно</a:t>
            </a:r>
          </a:p>
        </p:txBody>
      </p:sp>
      <p:sp>
        <p:nvSpPr>
          <p:cNvPr id="7" name="TextBox 6"/>
          <p:cNvSpPr txBox="1"/>
          <p:nvPr/>
        </p:nvSpPr>
        <p:spPr>
          <a:xfrm>
            <a:off x="640080" y="2542797"/>
            <a:ext cx="5236311"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опубликованная точка</a:t>
            </a:r>
          </a:p>
        </p:txBody>
      </p:sp>
      <p:sp>
        <p:nvSpPr>
          <p:cNvPr id="8" name="Rounded Rectangle 7"/>
          <p:cNvSpPr/>
          <p:nvPr/>
        </p:nvSpPr>
        <p:spPr>
          <a:xfrm>
            <a:off x="6178143" y="1335024"/>
            <a:ext cx="5510631" cy="1556177"/>
          </a:xfrm>
          <a:prstGeom prst="roundRect">
            <a:avLst>
              <a:gd name="adj" fmla="val 19586"/>
            </a:avLst>
          </a:prstGeom>
          <a:solidFill>
            <a:srgbClr val="FFFFFF"/>
          </a:solidFill>
          <a:ln w="25400">
            <a:solidFill>
              <a:srgbClr val="F0AB00"/>
            </a:solidFill>
          </a:ln>
          <a:effectLst/>
        </p:spPr>
        <p:txBody>
          <a:bodyPr rtlCol="0" anchor="ctr"/>
          <a:lstStyle/>
          <a:p>
            <a:pPr algn="ctr"/>
          </a:p>
        </p:txBody>
      </p:sp>
      <p:sp>
        <p:nvSpPr>
          <p:cNvPr id="9" name="TextBox 8"/>
          <p:cNvSpPr txBox="1"/>
          <p:nvPr/>
        </p:nvSpPr>
        <p:spPr>
          <a:xfrm>
            <a:off x="6315303" y="1472184"/>
            <a:ext cx="5236311"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ВЕРНЫХ ТРЕВОГ: ПОТОК → ОТДЕЛЕНИЕ</a:t>
            </a:r>
          </a:p>
        </p:txBody>
      </p:sp>
      <p:sp>
        <p:nvSpPr>
          <p:cNvPr id="10" name="TextBox 9"/>
          <p:cNvSpPr txBox="1"/>
          <p:nvPr/>
        </p:nvSpPr>
        <p:spPr>
          <a:xfrm>
            <a:off x="6315303" y="1725375"/>
            <a:ext cx="5236311"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8 → 79 из ста</a:t>
            </a:r>
          </a:p>
        </p:txBody>
      </p:sp>
      <p:sp>
        <p:nvSpPr>
          <p:cNvPr id="11" name="TextBox 10"/>
          <p:cNvSpPr txBox="1"/>
          <p:nvPr/>
        </p:nvSpPr>
        <p:spPr>
          <a:xfrm>
            <a:off x="6315303" y="2152374"/>
            <a:ext cx="5236311"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больных 100 и 3 000 из 10 000; 94 на 1 089 и 2 820 на 770</a:t>
            </a:r>
          </a:p>
        </p:txBody>
      </p:sp>
      <p:sp>
        <p:nvSpPr>
          <p:cNvPr id="12" name="Rounded Rectangle 11"/>
          <p:cNvSpPr/>
          <p:nvPr/>
        </p:nvSpPr>
        <p:spPr>
          <a:xfrm>
            <a:off x="374904" y="2982641"/>
            <a:ext cx="11441887" cy="1254403"/>
          </a:xfrm>
          <a:prstGeom prst="roundRect">
            <a:avLst>
              <a:gd name="adj" fmla="val 24298"/>
            </a:avLst>
          </a:prstGeom>
          <a:solidFill>
            <a:srgbClr val="F4F7FA"/>
          </a:solidFill>
          <a:ln w="19050">
            <a:solidFill>
              <a:srgbClr val="1C7293"/>
            </a:solidFill>
          </a:ln>
          <a:effectLst/>
        </p:spPr>
        <p:txBody>
          <a:bodyPr rtlCol="0" anchor="ctr"/>
          <a:lstStyle/>
          <a:p>
            <a:pPr algn="ctr"/>
          </a:p>
        </p:txBody>
      </p:sp>
      <p:sp>
        <p:nvSpPr>
          <p:cNvPr id="13" name="TextBox 12"/>
          <p:cNvSpPr txBox="1"/>
          <p:nvPr/>
        </p:nvSpPr>
        <p:spPr>
          <a:xfrm>
            <a:off x="539496" y="3074081"/>
            <a:ext cx="11112703" cy="3162126"/>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Внутри системы не изменилось ничего — менялась только группа.</a:t>
            </a:r>
          </a:p>
          <a:p>
            <a:pPr algn="l">
              <a:lnSpc>
                <a:spcPct val="126000"/>
              </a:lnSpc>
              <a:spcBef>
                <a:spcPts val="700"/>
              </a:spcBef>
            </a:pPr>
            <a:r>
              <a:rPr sz="1500" b="0" i="0">
                <a:solidFill>
                  <a:srgbClr val="21295C"/>
                </a:solidFill>
                <a:latin typeface="Arial"/>
              </a:rPr>
              <a:t/>
            </a:r>
            <a:r>
              <a:rPr sz="1500" b="1" i="0">
                <a:solidFill>
                  <a:srgbClr val="21295C"/>
                </a:solidFill>
                <a:latin typeface="Arial"/>
              </a:rPr>
              <a:t>Женщина с письмом в поголовном потоке: у неё 8 из ста. Система чтения снимков поднимает здесь девяносто две тревоги из ста впустую.</a:t>
            </a:r>
          </a:p>
        </p:txBody>
      </p:sp>
      <p:sp>
        <p:nvSpPr>
          <p:cNvPr id="14" name="Rectangle 13"/>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15" name="TextBox 14"/>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Rajpurkar и соавт., CheXNet 2017</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Классический режим: годность снимка решает человек</a:t>
            </a:r>
          </a:p>
        </p:txBody>
      </p:sp>
      <p:sp>
        <p:nvSpPr>
          <p:cNvPr id="4" name="TextBox 3"/>
          <p:cNvSpPr txBox="1"/>
          <p:nvPr/>
        </p:nvSpPr>
        <p:spPr>
          <a:xfrm>
            <a:off x="502920" y="1371600"/>
            <a:ext cx="1307592" cy="402240"/>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Без модели</a:t>
            </a:r>
          </a:p>
        </p:txBody>
      </p:sp>
      <p:sp>
        <p:nvSpPr>
          <p:cNvPr id="5" name="Rounded Rectangle 4"/>
          <p:cNvSpPr/>
          <p:nvPr/>
        </p:nvSpPr>
        <p:spPr>
          <a:xfrm>
            <a:off x="1920240" y="1335024"/>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6" name="TextBox 5"/>
          <p:cNvSpPr txBox="1"/>
          <p:nvPr/>
        </p:nvSpPr>
        <p:spPr>
          <a:xfrm>
            <a:off x="2002536" y="1380744"/>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Снять пациента</a:t>
            </a:r>
          </a:p>
        </p:txBody>
      </p:sp>
      <p:sp>
        <p:nvSpPr>
          <p:cNvPr id="7" name="Right Arrow 6"/>
          <p:cNvSpPr/>
          <p:nvPr/>
        </p:nvSpPr>
        <p:spPr>
          <a:xfrm>
            <a:off x="5039258" y="1504140"/>
            <a:ext cx="182880" cy="137160"/>
          </a:xfrm>
          <a:prstGeom prst="rightArrow">
            <a:avLst/>
          </a:prstGeom>
          <a:solidFill>
            <a:srgbClr val="1C7293"/>
          </a:solidFill>
          <a:ln>
            <a:noFill/>
          </a:ln>
          <a:effectLst/>
        </p:spPr>
        <p:txBody>
          <a:bodyPr rtlCol="0" anchor="ctr"/>
          <a:lstStyle/>
          <a:p>
            <a:pPr algn="ctr"/>
          </a:p>
        </p:txBody>
      </p:sp>
      <p:sp>
        <p:nvSpPr>
          <p:cNvPr id="8" name="Rounded Rectangle 7"/>
          <p:cNvSpPr/>
          <p:nvPr/>
        </p:nvSpPr>
        <p:spPr>
          <a:xfrm>
            <a:off x="5267858" y="1335024"/>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9" name="TextBox 8"/>
          <p:cNvSpPr txBox="1"/>
          <p:nvPr/>
        </p:nvSpPr>
        <p:spPr>
          <a:xfrm>
            <a:off x="5350154" y="1380744"/>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Посмотреть на экран</a:t>
            </a:r>
          </a:p>
        </p:txBody>
      </p:sp>
      <p:sp>
        <p:nvSpPr>
          <p:cNvPr id="10" name="Right Arrow 9"/>
          <p:cNvSpPr/>
          <p:nvPr/>
        </p:nvSpPr>
        <p:spPr>
          <a:xfrm>
            <a:off x="8386876" y="1504140"/>
            <a:ext cx="182880" cy="137160"/>
          </a:xfrm>
          <a:prstGeom prst="rightArrow">
            <a:avLst/>
          </a:prstGeom>
          <a:solidFill>
            <a:srgbClr val="1C7293"/>
          </a:solidFill>
          <a:ln>
            <a:noFill/>
          </a:ln>
          <a:effectLst/>
        </p:spPr>
        <p:txBody>
          <a:bodyPr rtlCol="0" anchor="ctr"/>
          <a:lstStyle/>
          <a:p>
            <a:pPr algn="ctr"/>
          </a:p>
        </p:txBody>
      </p:sp>
      <p:sp>
        <p:nvSpPr>
          <p:cNvPr id="11" name="Rounded Rectangle 10"/>
          <p:cNvSpPr/>
          <p:nvPr/>
        </p:nvSpPr>
        <p:spPr>
          <a:xfrm>
            <a:off x="8615476" y="1335024"/>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2" name="TextBox 11"/>
          <p:cNvSpPr txBox="1"/>
          <p:nvPr/>
        </p:nvSpPr>
        <p:spPr>
          <a:xfrm>
            <a:off x="8697772" y="1380744"/>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Годится или переснять</a:t>
            </a:r>
          </a:p>
        </p:txBody>
      </p:sp>
      <p:sp>
        <p:nvSpPr>
          <p:cNvPr id="13" name="TextBox 12"/>
          <p:cNvSpPr txBox="1"/>
          <p:nvPr/>
        </p:nvSpPr>
        <p:spPr>
          <a:xfrm>
            <a:off x="502920" y="1846992"/>
            <a:ext cx="11185855"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Решение техника о годности снимка</a:t>
            </a:r>
          </a:p>
        </p:txBody>
      </p:sp>
      <p:sp>
        <p:nvSpPr>
          <p:cNvPr id="14" name="Rounded Rectangle 13"/>
          <p:cNvSpPr/>
          <p:nvPr/>
        </p:nvSpPr>
        <p:spPr>
          <a:xfrm>
            <a:off x="374904" y="2149676"/>
            <a:ext cx="11441887" cy="1551464"/>
          </a:xfrm>
          <a:prstGeom prst="roundRect">
            <a:avLst>
              <a:gd name="adj" fmla="val 19645"/>
            </a:avLst>
          </a:prstGeom>
          <a:solidFill>
            <a:srgbClr val="F4F7FA"/>
          </a:solidFill>
          <a:ln w="19050">
            <a:solidFill>
              <a:srgbClr val="1C7293"/>
            </a:solidFill>
          </a:ln>
          <a:effectLst/>
        </p:spPr>
        <p:txBody>
          <a:bodyPr rtlCol="0" anchor="ctr"/>
          <a:lstStyle/>
          <a:p>
            <a:pPr algn="ctr"/>
          </a:p>
        </p:txBody>
      </p:sp>
      <p:sp>
        <p:nvSpPr>
          <p:cNvPr id="15" name="TextBox 14"/>
          <p:cNvSpPr txBox="1"/>
          <p:nvPr/>
        </p:nvSpPr>
        <p:spPr>
          <a:xfrm>
            <a:off x="539496" y="2241116"/>
            <a:ext cx="5373471" cy="3995091"/>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Раздел берёт один классический режим — </a:t>
            </a:r>
            <a:r>
              <a:rPr sz="1500" b="1" i="0">
                <a:solidFill>
                  <a:srgbClr val="21295C"/>
                </a:solidFill>
                <a:latin typeface="Arial"/>
              </a:rPr>
              <a:t>контроль годности измерения</a:t>
            </a:r>
            <a:r>
              <a:rPr sz="1500" b="0" i="0">
                <a:solidFill>
                  <a:srgbClr val="21295C"/>
                </a:solidFill>
                <a:latin typeface="Arial"/>
              </a:rPr>
              <a:t>.</a:t>
            </a:r>
          </a:p>
          <a:p>
            <a:pPr algn="l">
              <a:lnSpc>
                <a:spcPct val="126000"/>
              </a:lnSpc>
              <a:spcBef>
                <a:spcPts val="700"/>
              </a:spcBef>
            </a:pPr>
            <a:r>
              <a:rPr sz="1500" b="0" i="0">
                <a:solidFill>
                  <a:srgbClr val="21295C"/>
                </a:solidFill>
                <a:latin typeface="Arial"/>
              </a:rPr>
              <a:t/>
            </a:r>
            <a:r>
              <a:rPr sz="1500" b="1" i="0">
                <a:solidFill>
                  <a:srgbClr val="21295C"/>
                </a:solidFill>
                <a:latin typeface="Arial"/>
              </a:rPr>
              <a:t>По какому правилу он решает:</a:t>
            </a:r>
            <a:r>
              <a:rPr sz="1500" b="0" i="0">
                <a:solidFill>
                  <a:srgbClr val="21295C"/>
                </a:solidFill>
                <a:latin typeface="Arial"/>
              </a:rPr>
              <a:t> инструкция кабинета и видимое качество кадра. В приборе этого правила нет.</a:t>
            </a:r>
          </a:p>
        </p:txBody>
      </p:sp>
      <p:sp>
        <p:nvSpPr>
          <p:cNvPr id="16" name="TextBox 15"/>
          <p:cNvSpPr txBox="1"/>
          <p:nvPr/>
        </p:nvSpPr>
        <p:spPr>
          <a:xfrm>
            <a:off x="6278727" y="2241116"/>
            <a:ext cx="5373471" cy="3995091"/>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Если негодный уйдёт на чтение:</a:t>
            </a:r>
            <a:r>
              <a:rPr sz="1500" b="0" i="0">
                <a:solidFill>
                  <a:srgbClr val="21295C"/>
                </a:solidFill>
                <a:latin typeface="Arial"/>
              </a:rPr>
              <a:t> диагноз поставят по тому, что видно.</a:t>
            </a:r>
          </a:p>
          <a:p>
            <a:pPr algn="l">
              <a:lnSpc>
                <a:spcPct val="126000"/>
              </a:lnSpc>
              <a:spcBef>
                <a:spcPts val="700"/>
              </a:spcBef>
            </a:pPr>
            <a:r>
              <a:rPr sz="1500" b="0" i="0">
                <a:solidFill>
                  <a:srgbClr val="21295C"/>
                </a:solidFill>
                <a:latin typeface="Arial"/>
              </a:rPr>
              <a:t/>
            </a:r>
            <a:r>
              <a:rPr sz="1500" b="1" i="0">
                <a:solidFill>
                  <a:srgbClr val="21295C"/>
                </a:solidFill>
                <a:latin typeface="Arial"/>
              </a:rPr>
              <a:t>Кто заметит, если не он:</a:t>
            </a:r>
            <a:r>
              <a:rPr sz="1500" b="0" i="0">
                <a:solidFill>
                  <a:srgbClr val="21295C"/>
                </a:solidFill>
                <a:latin typeface="Arial"/>
              </a:rPr>
              <a:t> никто, пока не понадобится пересмотр.</a:t>
            </a:r>
          </a:p>
        </p:txBody>
      </p:sp>
      <p:sp>
        <p:nvSpPr>
          <p:cNvPr id="17" name="Rectangle 16"/>
          <p:cNvSpPr/>
          <p:nvPr/>
        </p:nvSpPr>
        <p:spPr>
          <a:xfrm>
            <a:off x="6091275" y="2241116"/>
            <a:ext cx="9144" cy="1277144"/>
          </a:xfrm>
          <a:prstGeom prst="rect">
            <a:avLst/>
          </a:prstGeom>
          <a:solidFill>
            <a:srgbClr val="D9E2EC"/>
          </a:solidFill>
          <a:ln>
            <a:noFill/>
          </a:ln>
          <a:effectLst/>
        </p:spPr>
        <p:txBody>
          <a:bodyPr rtlCol="0" anchor="ctr"/>
          <a:lstStyle/>
          <a:p>
            <a:pPr algn="ctr"/>
          </a:p>
        </p:txBody>
      </p:sp>
      <p:sp>
        <p:nvSpPr>
          <p:cNvPr id="18" name="Rectangle 17"/>
          <p:cNvSpPr/>
          <p:nvPr/>
        </p:nvSpPr>
        <p:spPr>
          <a:xfrm>
            <a:off x="502920" y="888090"/>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Пример 1: Таиланд — точность приехала, а снимки не прошли</a:t>
            </a:r>
          </a:p>
        </p:txBody>
      </p:sp>
      <p:sp>
        <p:nvSpPr>
          <p:cNvPr id="4" name="Rounded Rectangle 3"/>
          <p:cNvSpPr/>
          <p:nvPr/>
        </p:nvSpPr>
        <p:spPr>
          <a:xfrm>
            <a:off x="502920" y="1335024"/>
            <a:ext cx="2204618" cy="2005069"/>
          </a:xfrm>
          <a:prstGeom prst="roundRect">
            <a:avLst>
              <a:gd name="adj" fmla="val 15201"/>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1930298"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ЦЕНА ОБЕИХ ОШИБОК</a:t>
            </a:r>
          </a:p>
        </p:txBody>
      </p:sp>
      <p:sp>
        <p:nvSpPr>
          <p:cNvPr id="6" name="TextBox 5"/>
          <p:cNvSpPr txBox="1"/>
          <p:nvPr/>
        </p:nvSpPr>
        <p:spPr>
          <a:xfrm>
            <a:off x="640080" y="1725375"/>
            <a:ext cx="1930298" cy="724060"/>
          </a:xfrm>
          <a:prstGeom prst="rect">
            <a:avLst/>
          </a:prstGeom>
          <a:noFill/>
        </p:spPr>
        <p:txBody>
          <a:bodyPr wrap="square" lIns="0" rIns="0" tIns="0" bIns="0" anchor="t">
            <a:spAutoFit/>
          </a:bodyPr>
          <a:lstStyle/>
          <a:p>
            <a:pPr algn="l">
              <a:lnSpc>
                <a:spcPct val="108000"/>
              </a:lnSpc>
            </a:pPr>
            <a:r>
              <a:rPr sz="1350" b="1" i="0">
                <a:solidFill>
                  <a:srgbClr val="21295C"/>
                </a:solidFill>
                <a:latin typeface="Arial"/>
              </a:rPr>
              <a:t>потеря зрения · визит к офтальмологу, которого нет</a:t>
            </a:r>
          </a:p>
        </p:txBody>
      </p:sp>
      <p:sp>
        <p:nvSpPr>
          <p:cNvPr id="7" name="Rounded Rectangle 6"/>
          <p:cNvSpPr/>
          <p:nvPr/>
        </p:nvSpPr>
        <p:spPr>
          <a:xfrm>
            <a:off x="2872130" y="1335024"/>
            <a:ext cx="2204618" cy="2005069"/>
          </a:xfrm>
          <a:prstGeom prst="roundRect">
            <a:avLst>
              <a:gd name="adj" fmla="val 15201"/>
            </a:avLst>
          </a:prstGeom>
          <a:solidFill>
            <a:srgbClr val="FFFFFF"/>
          </a:solidFill>
          <a:ln w="25400">
            <a:solidFill>
              <a:srgbClr val="F0AB00"/>
            </a:solidFill>
          </a:ln>
          <a:effectLst/>
        </p:spPr>
        <p:txBody>
          <a:bodyPr rtlCol="0" anchor="ctr"/>
          <a:lstStyle/>
          <a:p>
            <a:pPr algn="ctr"/>
          </a:p>
        </p:txBody>
      </p:sp>
      <p:sp>
        <p:nvSpPr>
          <p:cNvPr id="8" name="TextBox 7"/>
          <p:cNvSpPr txBox="1"/>
          <p:nvPr/>
        </p:nvSpPr>
        <p:spPr>
          <a:xfrm>
            <a:off x="3009290" y="1472184"/>
            <a:ext cx="1930298"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СНИМОК ОТКЛОНЁН ПО КАЧЕСТВУ</a:t>
            </a:r>
          </a:p>
        </p:txBody>
      </p:sp>
      <p:sp>
        <p:nvSpPr>
          <p:cNvPr id="9" name="TextBox 8"/>
          <p:cNvSpPr txBox="1"/>
          <p:nvPr/>
        </p:nvSpPr>
        <p:spPr>
          <a:xfrm>
            <a:off x="3009290" y="1932846"/>
            <a:ext cx="1930298"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21 из ста</a:t>
            </a:r>
          </a:p>
        </p:txBody>
      </p:sp>
      <p:sp>
        <p:nvSpPr>
          <p:cNvPr id="10" name="TextBox 9"/>
          <p:cNvSpPr txBox="1"/>
          <p:nvPr/>
        </p:nvSpPr>
        <p:spPr>
          <a:xfrm>
            <a:off x="3009290" y="2359845"/>
            <a:ext cx="1930298"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393 из 1 838 за первые полгода, 11 клиник</a:t>
            </a:r>
          </a:p>
        </p:txBody>
      </p:sp>
      <p:sp>
        <p:nvSpPr>
          <p:cNvPr id="11" name="Rounded Rectangle 10"/>
          <p:cNvSpPr/>
          <p:nvPr/>
        </p:nvSpPr>
        <p:spPr>
          <a:xfrm>
            <a:off x="5241340" y="1335024"/>
            <a:ext cx="2204618" cy="2005069"/>
          </a:xfrm>
          <a:prstGeom prst="roundRect">
            <a:avLst>
              <a:gd name="adj" fmla="val 15201"/>
            </a:avLst>
          </a:prstGeom>
          <a:solidFill>
            <a:srgbClr val="F4F7FA"/>
          </a:solidFill>
          <a:ln w="15240">
            <a:solidFill>
              <a:srgbClr val="1C7293"/>
            </a:solidFill>
          </a:ln>
          <a:effectLst/>
        </p:spPr>
        <p:txBody>
          <a:bodyPr rtlCol="0" anchor="ctr"/>
          <a:lstStyle/>
          <a:p>
            <a:pPr algn="ctr"/>
          </a:p>
        </p:txBody>
      </p:sp>
      <p:sp>
        <p:nvSpPr>
          <p:cNvPr id="12" name="TextBox 11"/>
          <p:cNvSpPr txBox="1"/>
          <p:nvPr/>
        </p:nvSpPr>
        <p:spPr>
          <a:xfrm>
            <a:off x="5378500" y="1472184"/>
            <a:ext cx="1930298"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ДАЛО → ПОТРЕБОВАЛО</a:t>
            </a:r>
          </a:p>
        </p:txBody>
      </p:sp>
      <p:sp>
        <p:nvSpPr>
          <p:cNvPr id="13" name="TextBox 12"/>
          <p:cNvSpPr txBox="1"/>
          <p:nvPr/>
        </p:nvSpPr>
        <p:spPr>
          <a:xfrm>
            <a:off x="5378500" y="1725375"/>
            <a:ext cx="1930298" cy="1055071"/>
          </a:xfrm>
          <a:prstGeom prst="rect">
            <a:avLst/>
          </a:prstGeom>
          <a:noFill/>
        </p:spPr>
        <p:txBody>
          <a:bodyPr wrap="square" lIns="0" rIns="0" tIns="0" bIns="0" anchor="t">
            <a:spAutoFit/>
          </a:bodyPr>
          <a:lstStyle/>
          <a:p>
            <a:pPr algn="l">
              <a:lnSpc>
                <a:spcPct val="108000"/>
              </a:lnSpc>
            </a:pPr>
            <a:r>
              <a:rPr sz="1200" b="1" i="0">
                <a:solidFill>
                  <a:srgbClr val="21295C"/>
                </a:solidFill>
                <a:latin typeface="Arial"/>
              </a:rPr>
              <a:t>результат в кабинете первичного звена → годный снимок в непроверенных условиях</a:t>
            </a:r>
          </a:p>
        </p:txBody>
      </p:sp>
      <p:sp>
        <p:nvSpPr>
          <p:cNvPr id="14" name="TextBox 13"/>
          <p:cNvSpPr txBox="1"/>
          <p:nvPr/>
        </p:nvSpPr>
        <p:spPr>
          <a:xfrm>
            <a:off x="5378500" y="2780446"/>
            <a:ext cx="1930298"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в сумме: на старте хуже лабораторного замера</a:t>
            </a:r>
          </a:p>
        </p:txBody>
      </p:sp>
      <p:sp>
        <p:nvSpPr>
          <p:cNvPr id="15" name="Rounded Rectangle 14"/>
          <p:cNvSpPr/>
          <p:nvPr/>
        </p:nvSpPr>
        <p:spPr>
          <a:xfrm>
            <a:off x="374904" y="3431533"/>
            <a:ext cx="11441887" cy="1937425"/>
          </a:xfrm>
          <a:prstGeom prst="roundRect">
            <a:avLst>
              <a:gd name="adj" fmla="val 15732"/>
            </a:avLst>
          </a:prstGeom>
          <a:solidFill>
            <a:srgbClr val="F4F7FA"/>
          </a:solidFill>
          <a:ln w="19050">
            <a:solidFill>
              <a:srgbClr val="1C7293"/>
            </a:solidFill>
          </a:ln>
          <a:effectLst/>
        </p:spPr>
        <p:txBody>
          <a:bodyPr rtlCol="0" anchor="ctr"/>
          <a:lstStyle/>
          <a:p>
            <a:pPr algn="ctr"/>
          </a:p>
        </p:txBody>
      </p:sp>
      <p:sp>
        <p:nvSpPr>
          <p:cNvPr id="16" name="TextBox 15"/>
          <p:cNvSpPr txBox="1"/>
          <p:nvPr/>
        </p:nvSpPr>
        <p:spPr>
          <a:xfrm>
            <a:off x="539496" y="3522973"/>
            <a:ext cx="11112703" cy="2713234"/>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Классический режим,</a:t>
            </a:r>
            <a:r>
              <a:rPr sz="1500" b="0" i="0">
                <a:solidFill>
                  <a:srgbClr val="21295C"/>
                </a:solidFill>
                <a:latin typeface="Arial"/>
              </a:rPr>
              <a:t> без числа: человек с диабетом раз в год идёт к офтальмологу — тот снимает и читает.</a:t>
            </a:r>
          </a:p>
          <a:p>
            <a:pPr algn="l">
              <a:lnSpc>
                <a:spcPct val="126000"/>
              </a:lnSpc>
              <a:spcBef>
                <a:spcPts val="700"/>
              </a:spcBef>
            </a:pPr>
            <a:r>
              <a:rPr sz="1500" b="0" i="0">
                <a:solidFill>
                  <a:srgbClr val="21295C"/>
                </a:solidFill>
                <a:latin typeface="Arial"/>
              </a:rPr>
              <a:t/>
            </a:r>
            <a:r>
              <a:rPr sz="1500" b="1" i="0">
                <a:solidFill>
                  <a:srgbClr val="21295C"/>
                </a:solidFill>
                <a:latin typeface="Arial"/>
              </a:rPr>
              <a:t>Устроено.</a:t>
            </a:r>
            <a:r>
              <a:rPr sz="1500" b="0" i="0">
                <a:solidFill>
                  <a:srgbClr val="21295C"/>
                </a:solidFill>
                <a:latin typeface="Arial"/>
              </a:rPr>
              <a:t> Вход — два снимка глазного дна, выход — та же метка. Обучено на снимках, прошедших отбор по качеству; в поле его делает человек без правила. Имени системы нет. </a:t>
            </a:r>
            <a:r>
              <a:rPr sz="1500" b="0" i="1">
                <a:solidFill>
                  <a:srgbClr val="21295C"/>
                </a:solidFill>
                <a:latin typeface="Arial"/>
              </a:rPr>
              <a:t>Классификация на изображении.</a:t>
            </a:r>
          </a:p>
          <a:p>
            <a:pPr algn="l">
              <a:lnSpc>
                <a:spcPct val="126000"/>
              </a:lnSpc>
              <a:spcBef>
                <a:spcPts val="700"/>
              </a:spcBef>
            </a:pPr>
            <a:r>
              <a:rPr sz="1500" b="0" i="0">
                <a:solidFill>
                  <a:srgbClr val="21295C"/>
                </a:solidFill>
                <a:latin typeface="Arial"/>
              </a:rPr>
              <a:t/>
            </a:r>
            <a:r>
              <a:rPr sz="1500" b="1" i="0">
                <a:solidFill>
                  <a:srgbClr val="21295C"/>
                </a:solidFill>
                <a:latin typeface="Arial"/>
              </a:rPr>
              <a:t>Что переехало.</a:t>
            </a:r>
            <a:r>
              <a:rPr sz="1500" b="0" i="0">
                <a:solidFill>
                  <a:srgbClr val="21295C"/>
                </a:solidFill>
                <a:latin typeface="Arial"/>
              </a:rPr>
              <a:t> У техника появилась работа добиться годного снимка; появился шаг — повторный визит каждому из 21 из ста. </a:t>
            </a:r>
            <a:r>
              <a:rPr sz="1500" b="0" i="1">
                <a:solidFill>
                  <a:srgbClr val="21295C"/>
                </a:solidFill>
                <a:latin typeface="Arial"/>
              </a:rPr>
              <a:t>Полевое наблюдение; причины обе про место съёмки.</a:t>
            </a:r>
          </a:p>
        </p:txBody>
      </p:sp>
      <p:sp>
        <p:nvSpPr>
          <p:cNvPr id="17" name="Rounded Rectangle 16"/>
          <p:cNvSpPr/>
          <p:nvPr/>
        </p:nvSpPr>
        <p:spPr>
          <a:xfrm>
            <a:off x="7756855" y="1335024"/>
            <a:ext cx="3931920" cy="1242025"/>
          </a:xfrm>
          <a:prstGeom prst="roundRect">
            <a:avLst>
              <a:gd name="adj" fmla="val 24540"/>
            </a:avLst>
          </a:prstGeom>
          <a:solidFill>
            <a:srgbClr val="F4F7FA"/>
          </a:solidFill>
          <a:ln w="19050">
            <a:solidFill>
              <a:srgbClr val="1C7293"/>
            </a:solidFill>
          </a:ln>
          <a:effectLst/>
        </p:spPr>
        <p:txBody>
          <a:bodyPr rtlCol="0" anchor="ctr"/>
          <a:lstStyle/>
          <a:p>
            <a:pPr algn="ctr"/>
          </a:p>
        </p:txBody>
      </p:sp>
      <p:pic>
        <p:nvPicPr>
          <p:cNvPr id="18" name="Picture 17" descr="s29-negodnye-snimki-glaznogo-dna.jpg"/>
          <p:cNvPicPr>
            <a:picLocks noChangeAspect="1"/>
          </p:cNvPicPr>
          <p:nvPr/>
        </p:nvPicPr>
        <p:blipFill>
          <a:blip r:embed="rId2"/>
          <a:stretch>
            <a:fillRect/>
          </a:stretch>
        </p:blipFill>
        <p:spPr>
          <a:xfrm>
            <a:off x="7894015" y="1472184"/>
            <a:ext cx="3657600" cy="967705"/>
          </a:xfrm>
          <a:prstGeom prst="rect">
            <a:avLst/>
          </a:prstGeom>
        </p:spPr>
      </p:pic>
      <p:sp>
        <p:nvSpPr>
          <p:cNvPr id="19" name="Rectangle 18"/>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20" name="TextBox 19"/>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3"/>
              </a:rPr>
              <a:t>Beede и соавт., CHI 2020</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Пример 2: кожа и состав набора</a:t>
            </a:r>
          </a:p>
        </p:txBody>
      </p:sp>
      <p:sp>
        <p:nvSpPr>
          <p:cNvPr id="4" name="Rounded Rectangle 3"/>
          <p:cNvSpPr/>
          <p:nvPr/>
        </p:nvSpPr>
        <p:spPr>
          <a:xfrm>
            <a:off x="502920" y="1335024"/>
            <a:ext cx="3618890" cy="1767420"/>
          </a:xfrm>
          <a:prstGeom prst="roundRect">
            <a:avLst>
              <a:gd name="adj" fmla="val 17245"/>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ЦЕНА ОБЕИХ ОШИБОК</a:t>
            </a:r>
          </a:p>
        </p:txBody>
      </p:sp>
      <p:sp>
        <p:nvSpPr>
          <p:cNvPr id="6" name="TextBox 5"/>
          <p:cNvSpPr txBox="1"/>
          <p:nvPr/>
        </p:nvSpPr>
        <p:spPr>
          <a:xfrm>
            <a:off x="640080" y="1725375"/>
            <a:ext cx="3344570" cy="1207845"/>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лечение на поздней стадии · биопсия и рубец</a:t>
            </a:r>
          </a:p>
        </p:txBody>
      </p:sp>
      <p:sp>
        <p:nvSpPr>
          <p:cNvPr id="7" name="Rounded Rectangle 6"/>
          <p:cNvSpPr/>
          <p:nvPr/>
        </p:nvSpPr>
        <p:spPr>
          <a:xfrm>
            <a:off x="4286402" y="1335024"/>
            <a:ext cx="3618890" cy="1767420"/>
          </a:xfrm>
          <a:prstGeom prst="roundRect">
            <a:avLst>
              <a:gd name="adj" fmla="val 17245"/>
            </a:avLst>
          </a:prstGeom>
          <a:solidFill>
            <a:srgbClr val="F4F7FA"/>
          </a:solidFill>
          <a:ln w="15240">
            <a:solidFill>
              <a:srgbClr val="1C7293"/>
            </a:solidFill>
          </a:ln>
          <a:effectLst/>
        </p:spPr>
        <p:txBody>
          <a:bodyPr rtlCol="0" anchor="ctr"/>
          <a:lstStyle/>
          <a:p>
            <a:pPr algn="ctr"/>
          </a:p>
        </p:txBody>
      </p:sp>
      <p:sp>
        <p:nvSpPr>
          <p:cNvPr id="8" name="TextBox 7"/>
          <p:cNvSpPr txBox="1"/>
          <p:nvPr/>
        </p:nvSpPr>
        <p:spPr>
          <a:xfrm>
            <a:off x="4423562"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ОСМОТР ГЛАЗОМ → ДЕРМОСКОПИЯ</a:t>
            </a:r>
          </a:p>
        </p:txBody>
      </p:sp>
      <p:sp>
        <p:nvSpPr>
          <p:cNvPr id="9" name="TextBox 8"/>
          <p:cNvSpPr txBox="1"/>
          <p:nvPr/>
        </p:nvSpPr>
        <p:spPr>
          <a:xfrm>
            <a:off x="4423562" y="1725375"/>
            <a:ext cx="3344570"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86 → 91 из ста больных</a:t>
            </a:r>
          </a:p>
        </p:txBody>
      </p:sp>
      <p:sp>
        <p:nvSpPr>
          <p:cNvPr id="10" name="TextBox 9"/>
          <p:cNvSpPr txBox="1"/>
          <p:nvPr/>
        </p:nvSpPr>
        <p:spPr>
          <a:xfrm>
            <a:off x="4423562" y="2542797"/>
            <a:ext cx="3344570"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специфичность 77 → 74, один метаанализ</a:t>
            </a:r>
          </a:p>
        </p:txBody>
      </p:sp>
      <p:sp>
        <p:nvSpPr>
          <p:cNvPr id="11" name="Rounded Rectangle 10"/>
          <p:cNvSpPr/>
          <p:nvPr/>
        </p:nvSpPr>
        <p:spPr>
          <a:xfrm>
            <a:off x="8069884" y="1335024"/>
            <a:ext cx="3618890" cy="1767420"/>
          </a:xfrm>
          <a:prstGeom prst="roundRect">
            <a:avLst>
              <a:gd name="adj" fmla="val 17245"/>
            </a:avLst>
          </a:prstGeom>
          <a:solidFill>
            <a:srgbClr val="FFFFFF"/>
          </a:solidFill>
          <a:ln w="25400">
            <a:solidFill>
              <a:srgbClr val="F0AB00"/>
            </a:solidFill>
          </a:ln>
          <a:effectLst/>
        </p:spPr>
        <p:txBody>
          <a:bodyPr rtlCol="0" anchor="ctr"/>
          <a:lstStyle/>
          <a:p>
            <a:pPr algn="ctr"/>
          </a:p>
        </p:txBody>
      </p:sp>
      <p:sp>
        <p:nvSpPr>
          <p:cNvPr id="12" name="TextBox 11"/>
          <p:cNvSpPr txBox="1"/>
          <p:nvPr/>
        </p:nvSpPr>
        <p:spPr>
          <a:xfrm>
            <a:off x="8207044"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РАЗРЫВ ПО ТОНУ КОЖИ</a:t>
            </a:r>
          </a:p>
        </p:txBody>
      </p:sp>
      <p:sp>
        <p:nvSpPr>
          <p:cNvPr id="13" name="TextBox 12"/>
          <p:cNvSpPr txBox="1"/>
          <p:nvPr/>
        </p:nvSpPr>
        <p:spPr>
          <a:xfrm>
            <a:off x="8207044" y="1725375"/>
            <a:ext cx="3344570" cy="817422"/>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9–15 пунктов площади под кривой</a:t>
            </a:r>
          </a:p>
        </p:txBody>
      </p:sp>
      <p:sp>
        <p:nvSpPr>
          <p:cNvPr id="14" name="TextBox 13"/>
          <p:cNvSpPr txBox="1"/>
          <p:nvPr/>
        </p:nvSpPr>
        <p:spPr>
          <a:xfrm>
            <a:off x="8207044" y="2542797"/>
            <a:ext cx="3344570"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656 изображений с биопсией: 208 светлых · 241 средних · 207 тёмных</a:t>
            </a:r>
          </a:p>
        </p:txBody>
      </p:sp>
      <p:sp>
        <p:nvSpPr>
          <p:cNvPr id="15" name="Rounded Rectangle 14"/>
          <p:cNvSpPr/>
          <p:nvPr/>
        </p:nvSpPr>
        <p:spPr>
          <a:xfrm>
            <a:off x="374904" y="3193884"/>
            <a:ext cx="11441887" cy="2026762"/>
          </a:xfrm>
          <a:prstGeom prst="roundRect">
            <a:avLst>
              <a:gd name="adj" fmla="val 15038"/>
            </a:avLst>
          </a:prstGeom>
          <a:solidFill>
            <a:srgbClr val="F4F7FA"/>
          </a:solidFill>
          <a:ln w="19050">
            <a:solidFill>
              <a:srgbClr val="1C7293"/>
            </a:solidFill>
          </a:ln>
          <a:effectLst/>
        </p:spPr>
        <p:txBody>
          <a:bodyPr rtlCol="0" anchor="ctr"/>
          <a:lstStyle/>
          <a:p>
            <a:pPr algn="ctr"/>
          </a:p>
        </p:txBody>
      </p:sp>
      <p:sp>
        <p:nvSpPr>
          <p:cNvPr id="16" name="TextBox 15"/>
          <p:cNvSpPr txBox="1"/>
          <p:nvPr/>
        </p:nvSpPr>
        <p:spPr>
          <a:xfrm>
            <a:off x="539496" y="3285324"/>
            <a:ext cx="5373471" cy="2950883"/>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Что делали до модели.</a:t>
            </a:r>
            <a:r>
              <a:rPr sz="1500" b="0" i="0">
                <a:solidFill>
                  <a:srgbClr val="21295C"/>
                </a:solidFill>
                <a:latin typeface="Arial"/>
              </a:rPr>
              <a:t> Человек находит на коже образование и хочет знать, идти ли с ним к врачу. Смотрел врач глазом, обученный специалист — через дермоскоп.</a:t>
            </a:r>
          </a:p>
        </p:txBody>
      </p:sp>
      <p:sp>
        <p:nvSpPr>
          <p:cNvPr id="17" name="TextBox 16"/>
          <p:cNvSpPr txBox="1"/>
          <p:nvPr/>
        </p:nvSpPr>
        <p:spPr>
          <a:xfrm>
            <a:off x="6278727" y="3285324"/>
            <a:ext cx="5373471" cy="2950883"/>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Устроено.</a:t>
            </a:r>
            <a:r>
              <a:rPr sz="1500" b="0" i="0">
                <a:solidFill>
                  <a:srgbClr val="21295C"/>
                </a:solidFill>
                <a:latin typeface="Arial"/>
              </a:rPr>
              <a:t> Вход — снимок, выход — «показать врачу или нет». Наборы у трёх моделей свои, тёмных тонов в них мало — в этом дело. Имён нет, проверочный набор назван — DDI. </a:t>
            </a:r>
            <a:r>
              <a:rPr sz="1500" b="0" i="1">
                <a:solidFill>
                  <a:srgbClr val="21295C"/>
                </a:solidFill>
                <a:latin typeface="Arial"/>
              </a:rPr>
              <a:t>Классификация на изображении.</a:t>
            </a:r>
          </a:p>
          <a:p>
            <a:pPr algn="l">
              <a:lnSpc>
                <a:spcPct val="126000"/>
              </a:lnSpc>
              <a:spcBef>
                <a:spcPts val="700"/>
              </a:spcBef>
            </a:pPr>
            <a:r>
              <a:rPr sz="1200" b="0" i="0">
                <a:solidFill>
                  <a:srgbClr val="21295C"/>
                </a:solidFill>
                <a:latin typeface="Arial"/>
              </a:rPr>
              <a:t/>
            </a:r>
            <a:r>
              <a:rPr sz="1200" b="0" i="1">
                <a:solidFill>
                  <a:srgbClr val="1C7293"/>
                </a:solidFill>
                <a:latin typeface="Arial"/>
              </a:rPr>
              <a:t>Классические режимы — из одного метаанализа прямого сравнения; модель — на отобранном биопсийном корпусе.</a:t>
            </a:r>
          </a:p>
        </p:txBody>
      </p:sp>
      <p:sp>
        <p:nvSpPr>
          <p:cNvPr id="18" name="Rectangle 17"/>
          <p:cNvSpPr/>
          <p:nvPr/>
        </p:nvSpPr>
        <p:spPr>
          <a:xfrm>
            <a:off x="6091275" y="3285324"/>
            <a:ext cx="9144" cy="1752442"/>
          </a:xfrm>
          <a:prstGeom prst="rect">
            <a:avLst/>
          </a:prstGeom>
          <a:solidFill>
            <a:srgbClr val="D9E2EC"/>
          </a:solidFill>
          <a:ln>
            <a:noFill/>
          </a:ln>
          <a:effectLst/>
        </p:spPr>
        <p:txBody>
          <a:bodyPr rtlCol="0" anchor="ctr"/>
          <a:lstStyle/>
          <a:p>
            <a:pPr algn="ctr"/>
          </a:p>
        </p:txBody>
      </p:sp>
      <p:sp>
        <p:nvSpPr>
          <p:cNvPr id="19" name="Rectangle 18"/>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20" name="TextBox 19"/>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Daneshjou и соавт., Science Advances 2022</a:t>
            </a:r>
            <a:r>
              <a:rPr sz="1200" b="0" i="1">
                <a:solidFill>
                  <a:srgbClr val="1C7293"/>
                </a:solidFill>
                <a:latin typeface="Arial"/>
              </a:rPr>
              <a:t> · </a:t>
            </a:r>
            <a:r>
              <a:rPr sz="1200" b="0" i="1" u="sng">
                <a:solidFill>
                  <a:srgbClr val="065A82"/>
                </a:solidFill>
                <a:latin typeface="Arial"/>
                <a:hlinkClick r:id="rId3"/>
              </a:rPr>
              <a:t>Vestergaard и соавт., British Journal of Dermatology 2008</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Пример 2, цена: разрыв лечит состав данных</a:t>
            </a:r>
          </a:p>
        </p:txBody>
      </p:sp>
      <p:sp>
        <p:nvSpPr>
          <p:cNvPr id="4" name="Rounded Rectangle 3"/>
          <p:cNvSpPr/>
          <p:nvPr/>
        </p:nvSpPr>
        <p:spPr>
          <a:xfrm>
            <a:off x="502920" y="1335024"/>
            <a:ext cx="2673019" cy="2186135"/>
          </a:xfrm>
          <a:prstGeom prst="roundRect">
            <a:avLst>
              <a:gd name="adj" fmla="val 13942"/>
            </a:avLst>
          </a:prstGeom>
          <a:solidFill>
            <a:srgbClr val="FFFFFF"/>
          </a:solidFill>
          <a:ln w="25400">
            <a:solidFill>
              <a:srgbClr val="F0AB00"/>
            </a:solidFill>
          </a:ln>
          <a:effectLst/>
        </p:spPr>
        <p:txBody>
          <a:bodyPr rtlCol="0" anchor="ctr"/>
          <a:lstStyle/>
          <a:p>
            <a:pPr algn="ctr"/>
          </a:p>
        </p:txBody>
      </p:sp>
      <p:sp>
        <p:nvSpPr>
          <p:cNvPr id="5" name="TextBox 4"/>
          <p:cNvSpPr txBox="1"/>
          <p:nvPr/>
        </p:nvSpPr>
        <p:spPr>
          <a:xfrm>
            <a:off x="640080" y="1472184"/>
            <a:ext cx="2398699" cy="668133"/>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ДООБУЧЕНИЕ НА ПРЕДСТАВИТЕЛЬНОМ НАБОРЕ</a:t>
            </a:r>
          </a:p>
        </p:txBody>
      </p:sp>
      <p:sp>
        <p:nvSpPr>
          <p:cNvPr id="6" name="TextBox 5"/>
          <p:cNvSpPr txBox="1"/>
          <p:nvPr/>
        </p:nvSpPr>
        <p:spPr>
          <a:xfrm>
            <a:off x="640080" y="2140317"/>
            <a:ext cx="2398699"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разрыв снимает</a:t>
            </a:r>
          </a:p>
        </p:txBody>
      </p:sp>
      <p:sp>
        <p:nvSpPr>
          <p:cNvPr id="7" name="TextBox 6"/>
          <p:cNvSpPr txBox="1"/>
          <p:nvPr/>
        </p:nvSpPr>
        <p:spPr>
          <a:xfrm>
            <a:off x="640080" y="2567316"/>
            <a:ext cx="2398699"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лечит сбор и разметка, не алгоритм</a:t>
            </a:r>
          </a:p>
        </p:txBody>
      </p:sp>
      <p:sp>
        <p:nvSpPr>
          <p:cNvPr id="8" name="Rounded Rectangle 7"/>
          <p:cNvSpPr/>
          <p:nvPr/>
        </p:nvSpPr>
        <p:spPr>
          <a:xfrm>
            <a:off x="3340531" y="1335024"/>
            <a:ext cx="2673019" cy="2186135"/>
          </a:xfrm>
          <a:prstGeom prst="roundRect">
            <a:avLst>
              <a:gd name="adj" fmla="val 13942"/>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3477691" y="1472184"/>
            <a:ext cx="2398699"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ТРИ МЕТОДА ПРОТИВ СМЕЩЕНИЯ</a:t>
            </a:r>
          </a:p>
        </p:txBody>
      </p:sp>
      <p:sp>
        <p:nvSpPr>
          <p:cNvPr id="10" name="TextBox 9"/>
          <p:cNvSpPr txBox="1"/>
          <p:nvPr/>
        </p:nvSpPr>
        <p:spPr>
          <a:xfrm>
            <a:off x="3477691" y="1932846"/>
            <a:ext cx="2398699"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разрыв не уменьшили</a:t>
            </a:r>
          </a:p>
        </p:txBody>
      </p:sp>
      <p:sp>
        <p:nvSpPr>
          <p:cNvPr id="11" name="Rounded Rectangle 10"/>
          <p:cNvSpPr/>
          <p:nvPr/>
        </p:nvSpPr>
        <p:spPr>
          <a:xfrm>
            <a:off x="6178143" y="1335024"/>
            <a:ext cx="2673019" cy="2186135"/>
          </a:xfrm>
          <a:prstGeom prst="roundRect">
            <a:avLst>
              <a:gd name="adj" fmla="val 13942"/>
            </a:avLst>
          </a:prstGeom>
          <a:solidFill>
            <a:srgbClr val="F4F7FA"/>
          </a:solidFill>
          <a:ln w="15240">
            <a:solidFill>
              <a:srgbClr val="1C7293"/>
            </a:solidFill>
          </a:ln>
          <a:effectLst/>
        </p:spPr>
        <p:txBody>
          <a:bodyPr rtlCol="0" anchor="ctr"/>
          <a:lstStyle/>
          <a:p>
            <a:pPr algn="ctr"/>
          </a:p>
        </p:txBody>
      </p:sp>
      <p:sp>
        <p:nvSpPr>
          <p:cNvPr id="12" name="TextBox 11"/>
          <p:cNvSpPr txBox="1"/>
          <p:nvPr/>
        </p:nvSpPr>
        <p:spPr>
          <a:xfrm>
            <a:off x="6315303" y="1472184"/>
            <a:ext cx="2398699"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У КЛАССИЧЕСКИХ МЕТОДОВ РАЗРЫВ</a:t>
            </a:r>
          </a:p>
        </p:txBody>
      </p:sp>
      <p:sp>
        <p:nvSpPr>
          <p:cNvPr id="13" name="TextBox 12"/>
          <p:cNvSpPr txBox="1"/>
          <p:nvPr/>
        </p:nvSpPr>
        <p:spPr>
          <a:xfrm>
            <a:off x="6315303" y="1932846"/>
            <a:ext cx="2398699"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не измерен вовсе</a:t>
            </a:r>
          </a:p>
        </p:txBody>
      </p:sp>
      <p:sp>
        <p:nvSpPr>
          <p:cNvPr id="14" name="TextBox 13"/>
          <p:cNvSpPr txBox="1"/>
          <p:nvPr/>
        </p:nvSpPr>
        <p:spPr>
          <a:xfrm>
            <a:off x="6315303" y="2750268"/>
            <a:ext cx="2398699"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по тону кожи точность не разбивает ни метаанализ, ни обзоры</a:t>
            </a:r>
          </a:p>
        </p:txBody>
      </p:sp>
      <p:sp>
        <p:nvSpPr>
          <p:cNvPr id="15" name="Rounded Rectangle 14"/>
          <p:cNvSpPr/>
          <p:nvPr/>
        </p:nvSpPr>
        <p:spPr>
          <a:xfrm>
            <a:off x="9015755" y="1335024"/>
            <a:ext cx="2673019" cy="2186135"/>
          </a:xfrm>
          <a:prstGeom prst="roundRect">
            <a:avLst>
              <a:gd name="adj" fmla="val 13942"/>
            </a:avLst>
          </a:prstGeom>
          <a:solidFill>
            <a:srgbClr val="F4F7FA"/>
          </a:solidFill>
          <a:ln w="15240">
            <a:solidFill>
              <a:srgbClr val="1C7293"/>
            </a:solidFill>
          </a:ln>
          <a:effectLst/>
        </p:spPr>
        <p:txBody>
          <a:bodyPr rtlCol="0" anchor="ctr"/>
          <a:lstStyle/>
          <a:p>
            <a:pPr algn="ctr"/>
          </a:p>
        </p:txBody>
      </p:sp>
      <p:sp>
        <p:nvSpPr>
          <p:cNvPr id="16" name="TextBox 15"/>
          <p:cNvSpPr txBox="1"/>
          <p:nvPr/>
        </p:nvSpPr>
        <p:spPr>
          <a:xfrm>
            <a:off x="9152915"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ДАЛО → ПОТРЕБОВАЛО</a:t>
            </a:r>
          </a:p>
        </p:txBody>
      </p:sp>
      <p:sp>
        <p:nvSpPr>
          <p:cNvPr id="17" name="TextBox 16"/>
          <p:cNvSpPr txBox="1"/>
          <p:nvPr/>
        </p:nvSpPr>
        <p:spPr>
          <a:xfrm>
            <a:off x="9152915" y="1725375"/>
            <a:ext cx="2398699" cy="673135"/>
          </a:xfrm>
          <a:prstGeom prst="rect">
            <a:avLst/>
          </a:prstGeom>
          <a:noFill/>
        </p:spPr>
        <p:txBody>
          <a:bodyPr wrap="square" lIns="0" rIns="0" tIns="0" bIns="0" anchor="t">
            <a:spAutoFit/>
          </a:bodyPr>
          <a:lstStyle/>
          <a:p>
            <a:pPr algn="l">
              <a:lnSpc>
                <a:spcPct val="108000"/>
              </a:lnSpc>
            </a:pPr>
            <a:r>
              <a:rPr sz="1250" b="1" i="0">
                <a:solidFill>
                  <a:srgbClr val="21295C"/>
                </a:solidFill>
                <a:latin typeface="Arial"/>
              </a:rPr>
              <a:t>оценку там, где дерматолога нет → набор под состав тех, на ком работает</a:t>
            </a:r>
          </a:p>
        </p:txBody>
      </p:sp>
      <p:sp>
        <p:nvSpPr>
          <p:cNvPr id="18" name="TextBox 17"/>
          <p:cNvSpPr txBox="1"/>
          <p:nvPr/>
        </p:nvSpPr>
        <p:spPr>
          <a:xfrm>
            <a:off x="9152915" y="2398510"/>
            <a:ext cx="2398699"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в сумме: средняя держится, цена — на подгруппе</a:t>
            </a:r>
          </a:p>
        </p:txBody>
      </p:sp>
      <p:sp>
        <p:nvSpPr>
          <p:cNvPr id="19" name="Rounded Rectangle 18"/>
          <p:cNvSpPr/>
          <p:nvPr/>
        </p:nvSpPr>
        <p:spPr>
          <a:xfrm>
            <a:off x="374904" y="3612599"/>
            <a:ext cx="11441887" cy="2115662"/>
          </a:xfrm>
          <a:prstGeom prst="roundRect">
            <a:avLst>
              <a:gd name="adj" fmla="val 14406"/>
            </a:avLst>
          </a:prstGeom>
          <a:solidFill>
            <a:srgbClr val="F4F7FA"/>
          </a:solidFill>
          <a:ln w="19050">
            <a:solidFill>
              <a:srgbClr val="1C7293"/>
            </a:solidFill>
          </a:ln>
          <a:effectLst/>
        </p:spPr>
        <p:txBody>
          <a:bodyPr rtlCol="0" anchor="ctr"/>
          <a:lstStyle/>
          <a:p>
            <a:pPr algn="ctr"/>
          </a:p>
        </p:txBody>
      </p:sp>
      <p:sp>
        <p:nvSpPr>
          <p:cNvPr id="20" name="TextBox 19"/>
          <p:cNvSpPr txBox="1"/>
          <p:nvPr/>
        </p:nvSpPr>
        <p:spPr>
          <a:xfrm>
            <a:off x="539496" y="3704039"/>
            <a:ext cx="5373471" cy="2532168"/>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Работа та же:</a:t>
            </a:r>
            <a:r>
              <a:rPr sz="1500" b="0" i="0">
                <a:solidFill>
                  <a:srgbClr val="21295C"/>
                </a:solidFill>
                <a:latin typeface="Arial"/>
              </a:rPr>
              <a:t> посмотреть на образование и решить, показывать ли врачу. Делал это врач глазом или специалист дермоскопом; теперь снимок читает модель.</a:t>
            </a:r>
          </a:p>
        </p:txBody>
      </p:sp>
      <p:sp>
        <p:nvSpPr>
          <p:cNvPr id="21" name="TextBox 20"/>
          <p:cNvSpPr txBox="1"/>
          <p:nvPr/>
        </p:nvSpPr>
        <p:spPr>
          <a:xfrm>
            <a:off x="6278727" y="3704039"/>
            <a:ext cx="5373471" cy="2532168"/>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Что переехало.</a:t>
            </a:r>
            <a:r>
              <a:rPr sz="1500" b="0" i="0">
                <a:solidFill>
                  <a:srgbClr val="21295C"/>
                </a:solidFill>
                <a:latin typeface="Arial"/>
              </a:rPr>
              <a:t> Сместилась цена ошибки: средняя по набору осталась приличной, а платит подгруппа, которой в обучающем наборе было мало.</a:t>
            </a:r>
          </a:p>
          <a:p>
            <a:pPr algn="l">
              <a:lnSpc>
                <a:spcPct val="126000"/>
              </a:lnSpc>
              <a:spcBef>
                <a:spcPts val="700"/>
              </a:spcBef>
            </a:pPr>
            <a:r>
              <a:rPr sz="1500" b="0" i="0">
                <a:solidFill>
                  <a:srgbClr val="21295C"/>
                </a:solidFill>
                <a:latin typeface="Arial"/>
              </a:rPr>
              <a:t/>
            </a:r>
            <a:r>
              <a:rPr sz="1500" b="1" i="0">
                <a:solidFill>
                  <a:srgbClr val="21295C"/>
                </a:solidFill>
                <a:latin typeface="Arial"/>
              </a:rPr>
              <a:t>Отсутствие замера равенства не доказывает.</a:t>
            </a:r>
          </a:p>
          <a:p>
            <a:pPr algn="l">
              <a:lnSpc>
                <a:spcPct val="126000"/>
              </a:lnSpc>
              <a:spcBef>
                <a:spcPts val="700"/>
              </a:spcBef>
            </a:pPr>
            <a:r>
              <a:rPr sz="1200" b="0" i="0">
                <a:solidFill>
                  <a:srgbClr val="21295C"/>
                </a:solidFill>
                <a:latin typeface="Arial"/>
              </a:rPr>
              <a:t/>
            </a:r>
            <a:r>
              <a:rPr sz="1200" b="0" i="1">
                <a:solidFill>
                  <a:srgbClr val="1C7293"/>
                </a:solidFill>
                <a:latin typeface="Arial"/>
              </a:rPr>
              <a:t>Исправление измерено в той же работе; в настоящем кабинете — ни одну из трёх.</a:t>
            </a:r>
          </a:p>
        </p:txBody>
      </p:sp>
      <p:sp>
        <p:nvSpPr>
          <p:cNvPr id="22" name="Rectangle 21"/>
          <p:cNvSpPr/>
          <p:nvPr/>
        </p:nvSpPr>
        <p:spPr>
          <a:xfrm>
            <a:off x="6091275" y="3704039"/>
            <a:ext cx="9144" cy="1841342"/>
          </a:xfrm>
          <a:prstGeom prst="rect">
            <a:avLst/>
          </a:prstGeom>
          <a:solidFill>
            <a:srgbClr val="D9E2EC"/>
          </a:solidFill>
          <a:ln>
            <a:noFill/>
          </a:ln>
          <a:effectLst/>
        </p:spPr>
        <p:txBody>
          <a:bodyPr rtlCol="0" anchor="ctr"/>
          <a:lstStyle/>
          <a:p>
            <a:pPr algn="ctr"/>
          </a:p>
        </p:txBody>
      </p:sp>
      <p:sp>
        <p:nvSpPr>
          <p:cNvPr id="23" name="Rectangle 22"/>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24" name="TextBox 23"/>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Daneshjou и соавт., Science Advances 2022</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Пример 3: расходы вместо болезни</a:t>
            </a:r>
          </a:p>
        </p:txBody>
      </p:sp>
      <p:sp>
        <p:nvSpPr>
          <p:cNvPr id="4" name="Rounded Rectangle 3"/>
          <p:cNvSpPr/>
          <p:nvPr/>
        </p:nvSpPr>
        <p:spPr>
          <a:xfrm>
            <a:off x="502920" y="1335024"/>
            <a:ext cx="3618890" cy="1658969"/>
          </a:xfrm>
          <a:prstGeom prst="roundRect">
            <a:avLst>
              <a:gd name="adj" fmla="val 18372"/>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ЦЕНА ОБЕИХ ОШИБОК</a:t>
            </a:r>
          </a:p>
        </p:txBody>
      </p:sp>
      <p:sp>
        <p:nvSpPr>
          <p:cNvPr id="6" name="TextBox 5"/>
          <p:cNvSpPr txBox="1"/>
          <p:nvPr/>
        </p:nvSpPr>
        <p:spPr>
          <a:xfrm>
            <a:off x="640080" y="1725375"/>
            <a:ext cx="3344570" cy="1131458"/>
          </a:xfrm>
          <a:prstGeom prst="rect">
            <a:avLst/>
          </a:prstGeom>
          <a:noFill/>
        </p:spPr>
        <p:txBody>
          <a:bodyPr wrap="square" lIns="0" rIns="0" tIns="0" bIns="0" anchor="t">
            <a:spAutoFit/>
          </a:bodyPr>
          <a:lstStyle/>
          <a:p>
            <a:pPr algn="l">
              <a:lnSpc>
                <a:spcPct val="108000"/>
              </a:lnSpc>
            </a:pPr>
            <a:r>
              <a:rPr sz="2150" b="1" i="0">
                <a:solidFill>
                  <a:srgbClr val="21295C"/>
                </a:solidFill>
                <a:latin typeface="Arial"/>
              </a:rPr>
              <a:t>болезнь без присмотра · занятое место и время координатора</a:t>
            </a:r>
          </a:p>
        </p:txBody>
      </p:sp>
      <p:sp>
        <p:nvSpPr>
          <p:cNvPr id="7" name="Rounded Rectangle 6"/>
          <p:cNvSpPr/>
          <p:nvPr/>
        </p:nvSpPr>
        <p:spPr>
          <a:xfrm>
            <a:off x="4286402" y="1335024"/>
            <a:ext cx="3618890" cy="1658969"/>
          </a:xfrm>
          <a:prstGeom prst="roundRect">
            <a:avLst>
              <a:gd name="adj" fmla="val 18372"/>
            </a:avLst>
          </a:prstGeom>
          <a:solidFill>
            <a:srgbClr val="F4F7FA"/>
          </a:solidFill>
          <a:ln w="15240">
            <a:solidFill>
              <a:srgbClr val="1C7293"/>
            </a:solidFill>
          </a:ln>
          <a:effectLst/>
        </p:spPr>
        <p:txBody>
          <a:bodyPr rtlCol="0" anchor="ctr"/>
          <a:lstStyle/>
          <a:p>
            <a:pPr algn="ctr"/>
          </a:p>
        </p:txBody>
      </p:sp>
      <p:sp>
        <p:nvSpPr>
          <p:cNvPr id="8" name="TextBox 7"/>
          <p:cNvSpPr txBox="1"/>
          <p:nvPr/>
        </p:nvSpPr>
        <p:spPr>
          <a:xfrm>
            <a:off x="4423562"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ОТБОР ВРАЧОМ → БАЛЛОМ</a:t>
            </a:r>
          </a:p>
        </p:txBody>
      </p:sp>
      <p:sp>
        <p:nvSpPr>
          <p:cNvPr id="9" name="TextBox 8"/>
          <p:cNvSpPr txBox="1"/>
          <p:nvPr/>
        </p:nvSpPr>
        <p:spPr>
          <a:xfrm>
            <a:off x="4423562" y="1725375"/>
            <a:ext cx="3344570"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19,2 → 17,2 из ста отобранных</a:t>
            </a:r>
          </a:p>
        </p:txBody>
      </p:sp>
      <p:sp>
        <p:nvSpPr>
          <p:cNvPr id="10" name="TextBox 9"/>
          <p:cNvSpPr txBox="1"/>
          <p:nvPr/>
        </p:nvSpPr>
        <p:spPr>
          <a:xfrm>
            <a:off x="4423562" y="2542797"/>
            <a:ext cx="3344570"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одна выборка; врач уже видел балл</a:t>
            </a:r>
          </a:p>
        </p:txBody>
      </p:sp>
      <p:sp>
        <p:nvSpPr>
          <p:cNvPr id="11" name="Rounded Rectangle 10"/>
          <p:cNvSpPr/>
          <p:nvPr/>
        </p:nvSpPr>
        <p:spPr>
          <a:xfrm>
            <a:off x="8069884" y="1335024"/>
            <a:ext cx="3618890" cy="1658969"/>
          </a:xfrm>
          <a:prstGeom prst="roundRect">
            <a:avLst>
              <a:gd name="adj" fmla="val 18372"/>
            </a:avLst>
          </a:prstGeom>
          <a:solidFill>
            <a:srgbClr val="FFFFFF"/>
          </a:solidFill>
          <a:ln w="25400">
            <a:solidFill>
              <a:srgbClr val="F0AB00"/>
            </a:solidFill>
          </a:ln>
          <a:effectLst/>
        </p:spPr>
        <p:txBody>
          <a:bodyPr rtlCol="0" anchor="ctr"/>
          <a:lstStyle/>
          <a:p>
            <a:pPr algn="ctr"/>
          </a:p>
        </p:txBody>
      </p:sp>
      <p:sp>
        <p:nvSpPr>
          <p:cNvPr id="12" name="TextBox 11"/>
          <p:cNvSpPr txBox="1"/>
          <p:nvPr/>
        </p:nvSpPr>
        <p:spPr>
          <a:xfrm>
            <a:off x="8207044" y="1472184"/>
            <a:ext cx="3344570"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ПРИ РАВНОМ БАЛЛЕ БОЛЕЗНЕЙ БОЛЬШЕ НА</a:t>
            </a:r>
          </a:p>
        </p:txBody>
      </p:sp>
      <p:sp>
        <p:nvSpPr>
          <p:cNvPr id="13" name="TextBox 12"/>
          <p:cNvSpPr txBox="1"/>
          <p:nvPr/>
        </p:nvSpPr>
        <p:spPr>
          <a:xfrm>
            <a:off x="8207044" y="1932846"/>
            <a:ext cx="3344570"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26 процентов</a:t>
            </a:r>
          </a:p>
        </p:txBody>
      </p:sp>
      <p:sp>
        <p:nvSpPr>
          <p:cNvPr id="14" name="TextBox 13"/>
          <p:cNvSpPr txBox="1"/>
          <p:nvPr/>
        </p:nvSpPr>
        <p:spPr>
          <a:xfrm>
            <a:off x="8207044" y="2359845"/>
            <a:ext cx="3344570"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49 618 пациентов, 100 009 пациенто-лет, 2013–2015</a:t>
            </a:r>
          </a:p>
        </p:txBody>
      </p:sp>
      <p:sp>
        <p:nvSpPr>
          <p:cNvPr id="15" name="Rounded Rectangle 14"/>
          <p:cNvSpPr/>
          <p:nvPr/>
        </p:nvSpPr>
        <p:spPr>
          <a:xfrm>
            <a:off x="374904" y="3085433"/>
            <a:ext cx="11441887" cy="1551464"/>
          </a:xfrm>
          <a:prstGeom prst="roundRect">
            <a:avLst>
              <a:gd name="adj" fmla="val 19645"/>
            </a:avLst>
          </a:prstGeom>
          <a:solidFill>
            <a:srgbClr val="F4F7FA"/>
          </a:solidFill>
          <a:ln w="19050">
            <a:solidFill>
              <a:srgbClr val="1C7293"/>
            </a:solidFill>
          </a:ln>
          <a:effectLst/>
        </p:spPr>
        <p:txBody>
          <a:bodyPr rtlCol="0" anchor="ctr"/>
          <a:lstStyle/>
          <a:p>
            <a:pPr algn="ctr"/>
          </a:p>
        </p:txBody>
      </p:sp>
      <p:sp>
        <p:nvSpPr>
          <p:cNvPr id="16" name="TextBox 15"/>
          <p:cNvSpPr txBox="1"/>
          <p:nvPr/>
        </p:nvSpPr>
        <p:spPr>
          <a:xfrm>
            <a:off x="539496" y="3176873"/>
            <a:ext cx="11112703" cy="3059334"/>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Устроено.</a:t>
            </a:r>
            <a:r>
              <a:rPr sz="1500" b="0" i="0">
                <a:solidFill>
                  <a:srgbClr val="21295C"/>
                </a:solidFill>
                <a:latin typeface="Arial"/>
              </a:rPr>
              <a:t> Вход — записи карты и данные о расходах, выход — один балл на человека и отбор по порогу. </a:t>
            </a:r>
            <a:r>
              <a:rPr sz="1500" b="1" i="0">
                <a:solidFill>
                  <a:srgbClr val="21295C"/>
                </a:solidFill>
                <a:latin typeface="Arial"/>
              </a:rPr>
              <a:t>Обучено предсказывать будущие расходы на лечение</a:t>
            </a:r>
            <a:r>
              <a:rPr sz="1500" b="0" i="0">
                <a:solidFill>
                  <a:srgbClr val="21295C"/>
                </a:solidFill>
                <a:latin typeface="Arial"/>
              </a:rPr>
              <a:t> — а решение принималось о болезни. Имени у промышленного алгоритма публикация не даёт. </a:t>
            </a:r>
            <a:r>
              <a:rPr sz="1500" b="0" i="1">
                <a:solidFill>
                  <a:srgbClr val="21295C"/>
                </a:solidFill>
                <a:latin typeface="Arial"/>
              </a:rPr>
              <a:t>Прогноз на структурированных данных.</a:t>
            </a:r>
          </a:p>
          <a:p>
            <a:pPr algn="l">
              <a:lnSpc>
                <a:spcPct val="126000"/>
              </a:lnSpc>
              <a:spcBef>
                <a:spcPts val="700"/>
              </a:spcBef>
            </a:pPr>
            <a:r>
              <a:rPr sz="1500" b="0" i="0">
                <a:solidFill>
                  <a:srgbClr val="21295C"/>
                </a:solidFill>
                <a:latin typeface="Arial"/>
              </a:rPr>
              <a:t/>
            </a:r>
            <a:r>
              <a:rPr sz="1500" b="0" i="0">
                <a:solidFill>
                  <a:srgbClr val="21295C"/>
                </a:solidFill>
                <a:latin typeface="Arial"/>
              </a:rPr>
              <a:t>Покупает такой счёт администрация или плательщик, не врач, и «дорого лечится» от «болен» он не отличает.</a:t>
            </a:r>
          </a:p>
        </p:txBody>
      </p:sp>
      <p:sp>
        <p:nvSpPr>
          <p:cNvPr id="17" name="Rectangle 16"/>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18" name="TextBox 17"/>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Obermeyer и соавт., Science 2019</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Пример 3, цена: исправление посчитали и не применили</a:t>
            </a:r>
          </a:p>
        </p:txBody>
      </p:sp>
      <p:sp>
        <p:nvSpPr>
          <p:cNvPr id="4" name="Rounded Rectangle 3"/>
          <p:cNvSpPr/>
          <p:nvPr/>
        </p:nvSpPr>
        <p:spPr>
          <a:xfrm>
            <a:off x="502920" y="1335024"/>
            <a:ext cx="5510631" cy="1946600"/>
          </a:xfrm>
          <a:prstGeom prst="roundRect">
            <a:avLst>
              <a:gd name="adj" fmla="val 15658"/>
            </a:avLst>
          </a:prstGeom>
          <a:solidFill>
            <a:srgbClr val="FFFFFF"/>
          </a:solidFill>
          <a:ln w="25400">
            <a:solidFill>
              <a:srgbClr val="F0AB00"/>
            </a:solidFill>
          </a:ln>
          <a:effectLst/>
        </p:spPr>
        <p:txBody>
          <a:bodyPr rtlCol="0" anchor="ctr"/>
          <a:lstStyle/>
          <a:p>
            <a:pPr algn="ctr"/>
          </a:p>
        </p:txBody>
      </p:sp>
      <p:sp>
        <p:nvSpPr>
          <p:cNvPr id="5" name="TextBox 4"/>
          <p:cNvSpPr txBox="1"/>
          <p:nvPr/>
        </p:nvSpPr>
        <p:spPr>
          <a:xfrm>
            <a:off x="640080" y="1472184"/>
            <a:ext cx="5236311"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ДОЛЯ ГРУППЫ: НАБЛЮДАЕМАЯ → ПРИ УБРАННОМ РАЗРЫВЕ</a:t>
            </a:r>
          </a:p>
        </p:txBody>
      </p:sp>
      <p:sp>
        <p:nvSpPr>
          <p:cNvPr id="6" name="TextBox 5"/>
          <p:cNvSpPr txBox="1"/>
          <p:nvPr/>
        </p:nvSpPr>
        <p:spPr>
          <a:xfrm>
            <a:off x="640080" y="1725375"/>
            <a:ext cx="5236311"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17,7 → 46,5 из ста</a:t>
            </a:r>
          </a:p>
        </p:txBody>
      </p:sp>
      <p:sp>
        <p:nvSpPr>
          <p:cNvPr id="7" name="TextBox 6"/>
          <p:cNvSpPr txBox="1"/>
          <p:nvPr/>
        </p:nvSpPr>
        <p:spPr>
          <a:xfrm>
            <a:off x="640080" y="2152374"/>
            <a:ext cx="5236311"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расчёт авторов на тех же данных, внедрения не было</a:t>
            </a:r>
          </a:p>
        </p:txBody>
      </p:sp>
      <p:sp>
        <p:nvSpPr>
          <p:cNvPr id="8" name="Rounded Rectangle 7"/>
          <p:cNvSpPr/>
          <p:nvPr/>
        </p:nvSpPr>
        <p:spPr>
          <a:xfrm>
            <a:off x="6178143" y="1335024"/>
            <a:ext cx="5510631" cy="1946600"/>
          </a:xfrm>
          <a:prstGeom prst="roundRect">
            <a:avLst>
              <a:gd name="adj" fmla="val 15658"/>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6315303" y="1472184"/>
            <a:ext cx="5236311"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ДАЛО → ПОТРЕБОВАЛО</a:t>
            </a:r>
          </a:p>
        </p:txBody>
      </p:sp>
      <p:sp>
        <p:nvSpPr>
          <p:cNvPr id="10" name="TextBox 9"/>
          <p:cNvSpPr txBox="1"/>
          <p:nvPr/>
        </p:nvSpPr>
        <p:spPr>
          <a:xfrm>
            <a:off x="6315303" y="1725375"/>
            <a:ext cx="5236311" cy="1207845"/>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последовательный отбор вместо ручного → совпадения расходов с болезнью, которого нет</a:t>
            </a:r>
          </a:p>
        </p:txBody>
      </p:sp>
      <p:sp>
        <p:nvSpPr>
          <p:cNvPr id="11" name="TextBox 10"/>
          <p:cNvSpPr txBox="1"/>
          <p:nvPr/>
        </p:nvSpPr>
        <p:spPr>
          <a:xfrm>
            <a:off x="6315303" y="2933220"/>
            <a:ext cx="5236311"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в сумме: для одной группы хуже прежнего отбора</a:t>
            </a:r>
          </a:p>
        </p:txBody>
      </p:sp>
      <p:sp>
        <p:nvSpPr>
          <p:cNvPr id="12" name="Rounded Rectangle 11"/>
          <p:cNvSpPr/>
          <p:nvPr/>
        </p:nvSpPr>
        <p:spPr>
          <a:xfrm>
            <a:off x="374904" y="3373064"/>
            <a:ext cx="11441887" cy="1194991"/>
          </a:xfrm>
          <a:prstGeom prst="roundRect">
            <a:avLst>
              <a:gd name="adj" fmla="val 25000"/>
            </a:avLst>
          </a:prstGeom>
          <a:solidFill>
            <a:srgbClr val="F4F7FA"/>
          </a:solidFill>
          <a:ln w="19050">
            <a:solidFill>
              <a:srgbClr val="1C7293"/>
            </a:solidFill>
          </a:ln>
          <a:effectLst/>
        </p:spPr>
        <p:txBody>
          <a:bodyPr rtlCol="0" anchor="ctr"/>
          <a:lstStyle/>
          <a:p>
            <a:pPr algn="ctr"/>
          </a:p>
        </p:txBody>
      </p:sp>
      <p:sp>
        <p:nvSpPr>
          <p:cNvPr id="13" name="TextBox 12"/>
          <p:cNvSpPr txBox="1"/>
          <p:nvPr/>
        </p:nvSpPr>
        <p:spPr>
          <a:xfrm>
            <a:off x="539496" y="3464504"/>
            <a:ext cx="5373471" cy="2771703"/>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Что переехало.</a:t>
            </a:r>
            <a:r>
              <a:rPr sz="1500" b="0" i="0">
                <a:solidFill>
                  <a:srgbClr val="21295C"/>
                </a:solidFill>
                <a:latin typeface="Arial"/>
              </a:rPr>
              <a:t> Сменился исполнитель — отбор делал врач, стал делать балл. Цена ошибки переехала на группу, где при равном балле болезней больше.</a:t>
            </a:r>
          </a:p>
        </p:txBody>
      </p:sp>
      <p:sp>
        <p:nvSpPr>
          <p:cNvPr id="14" name="TextBox 13"/>
          <p:cNvSpPr txBox="1"/>
          <p:nvPr/>
        </p:nvSpPr>
        <p:spPr>
          <a:xfrm>
            <a:off x="6278727" y="3464504"/>
            <a:ext cx="5373471" cy="2771703"/>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Внутренняя проверка этого не видит: провал лежит там, где его не проверяют.</a:t>
            </a:r>
          </a:p>
          <a:p>
            <a:pPr algn="l">
              <a:lnSpc>
                <a:spcPct val="126000"/>
              </a:lnSpc>
              <a:spcBef>
                <a:spcPts val="700"/>
              </a:spcBef>
            </a:pPr>
            <a:r>
              <a:rPr sz="1200" b="0" i="0">
                <a:solidFill>
                  <a:srgbClr val="21295C"/>
                </a:solidFill>
                <a:latin typeface="Arial"/>
              </a:rPr>
              <a:t/>
            </a:r>
            <a:r>
              <a:rPr sz="1200" b="0" i="1">
                <a:solidFill>
                  <a:srgbClr val="1C7293"/>
                </a:solidFill>
                <a:latin typeface="Arial"/>
              </a:rPr>
              <a:t>Расчёт авторов на тех же данных — не измерение.</a:t>
            </a:r>
          </a:p>
        </p:txBody>
      </p:sp>
      <p:sp>
        <p:nvSpPr>
          <p:cNvPr id="15" name="Rectangle 14"/>
          <p:cNvSpPr/>
          <p:nvPr/>
        </p:nvSpPr>
        <p:spPr>
          <a:xfrm>
            <a:off x="6091275" y="3464504"/>
            <a:ext cx="9144" cy="920671"/>
          </a:xfrm>
          <a:prstGeom prst="rect">
            <a:avLst/>
          </a:prstGeom>
          <a:solidFill>
            <a:srgbClr val="D9E2EC"/>
          </a:solidFill>
          <a:ln>
            <a:noFill/>
          </a:ln>
          <a:effectLst/>
        </p:spPr>
        <p:txBody>
          <a:bodyPr rtlCol="0" anchor="ctr"/>
          <a:lstStyle/>
          <a:p>
            <a:pPr algn="ctr"/>
          </a:p>
        </p:txBody>
      </p:sp>
      <p:sp>
        <p:nvSpPr>
          <p:cNvPr id="16" name="Rectangle 15"/>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17" name="TextBox 16"/>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Obermeyer и соавт., Science 2019</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Ни в одном примере не провалилось само чтение</a:t>
            </a:r>
          </a:p>
        </p:txBody>
      </p:sp>
      <p:sp>
        <p:nvSpPr>
          <p:cNvPr id="4" name="Rounded Rectangle 3"/>
          <p:cNvSpPr/>
          <p:nvPr/>
        </p:nvSpPr>
        <p:spPr>
          <a:xfrm>
            <a:off x="374904" y="1243584"/>
            <a:ext cx="11441887" cy="1937425"/>
          </a:xfrm>
          <a:prstGeom prst="roundRect">
            <a:avLst>
              <a:gd name="adj" fmla="val 15732"/>
            </a:avLst>
          </a:prstGeom>
          <a:solidFill>
            <a:srgbClr val="F4F7FA"/>
          </a:solidFill>
          <a:ln w="19050">
            <a:solidFill>
              <a:srgbClr val="1C7293"/>
            </a:solidFill>
          </a:ln>
          <a:effectLst/>
        </p:spPr>
        <p:txBody>
          <a:bodyPr rtlCol="0" anchor="ctr"/>
          <a:lstStyle/>
          <a:p>
            <a:pPr algn="ctr"/>
          </a:p>
        </p:txBody>
      </p:sp>
      <p:sp>
        <p:nvSpPr>
          <p:cNvPr id="5" name="TextBox 4"/>
          <p:cNvSpPr txBox="1"/>
          <p:nvPr/>
        </p:nvSpPr>
        <p:spPr>
          <a:xfrm>
            <a:off x="539496" y="1335024"/>
            <a:ext cx="5373471" cy="4901184"/>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Получается</a:t>
            </a:r>
            <a:r>
              <a:rPr sz="1500" b="0" i="0">
                <a:solidFill>
                  <a:srgbClr val="21295C"/>
                </a:solidFill>
                <a:latin typeface="Arial"/>
              </a:rPr>
              <a:t> - постоянство: десятитысячный снимок как первый - поток: норма не занимает специалиста</a:t>
            </a:r>
          </a:p>
          <a:p>
            <a:pPr algn="l">
              <a:lnSpc>
                <a:spcPct val="126000"/>
              </a:lnSpc>
              <a:spcBef>
                <a:spcPts val="700"/>
              </a:spcBef>
            </a:pPr>
            <a:r>
              <a:rPr sz="1500" b="0" i="0">
                <a:solidFill>
                  <a:srgbClr val="21295C"/>
                </a:solidFill>
                <a:latin typeface="Arial"/>
              </a:rPr>
              <a:t/>
            </a:r>
            <a:r>
              <a:rPr sz="1500" b="1" i="0">
                <a:solidFill>
                  <a:srgbClr val="21295C"/>
                </a:solidFill>
                <a:latin typeface="Arial"/>
              </a:rPr>
              <a:t>Не получается</a:t>
            </a:r>
            <a:r>
              <a:rPr sz="1500" b="0" i="0">
                <a:solidFill>
                  <a:srgbClr val="21295C"/>
                </a:solidFill>
                <a:latin typeface="Arial"/>
              </a:rPr>
              <a:t> - рабочая точка: за порогом цена ошибок - переснять: годность осталась человеку</a:t>
            </a:r>
          </a:p>
        </p:txBody>
      </p:sp>
      <p:sp>
        <p:nvSpPr>
          <p:cNvPr id="6" name="TextBox 5"/>
          <p:cNvSpPr txBox="1"/>
          <p:nvPr/>
        </p:nvSpPr>
        <p:spPr>
          <a:xfrm>
            <a:off x="6278727" y="1335024"/>
            <a:ext cx="5373471" cy="4901184"/>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Стало с работой</a:t>
            </a:r>
            <a:r>
              <a:rPr sz="1500" b="0" i="0">
                <a:solidFill>
                  <a:srgbClr val="21295C"/>
                </a:solidFill>
                <a:latin typeface="Arial"/>
              </a:rPr>
              <a:t> - нагрузка на том же месте, повторный визит - исполнитель: отбор делал врач, стал балл</a:t>
            </a:r>
          </a:p>
          <a:p>
            <a:pPr algn="l">
              <a:lnSpc>
                <a:spcPct val="126000"/>
              </a:lnSpc>
              <a:spcBef>
                <a:spcPts val="700"/>
              </a:spcBef>
            </a:pPr>
            <a:r>
              <a:rPr sz="1500" b="0" i="0">
                <a:solidFill>
                  <a:srgbClr val="21295C"/>
                </a:solidFill>
                <a:latin typeface="Arial"/>
              </a:rPr>
              <a:t/>
            </a:r>
            <a:r>
              <a:rPr sz="1500" b="1" i="0">
                <a:solidFill>
                  <a:srgbClr val="21295C"/>
                </a:solidFill>
                <a:latin typeface="Arial"/>
              </a:rPr>
              <a:t>Держит</a:t>
            </a:r>
            <a:r>
              <a:rPr sz="1500" b="0" i="0">
                <a:solidFill>
                  <a:srgbClr val="21295C"/>
                </a:solidFill>
                <a:latin typeface="Arial"/>
              </a:rPr>
              <a:t> - рабочая точка под цену, пересчёт под группу - </a:t>
            </a:r>
            <a:r>
              <a:rPr sz="1500" b="1" i="0">
                <a:solidFill>
                  <a:srgbClr val="21295C"/>
                </a:solidFill>
                <a:latin typeface="Arial"/>
              </a:rPr>
              <a:t>цель системы не проверяет никто</a:t>
            </a:r>
          </a:p>
          <a:p>
            <a:pPr algn="l">
              <a:lnSpc>
                <a:spcPct val="126000"/>
              </a:lnSpc>
              <a:spcBef>
                <a:spcPts val="700"/>
              </a:spcBef>
            </a:pPr>
            <a:r>
              <a:rPr sz="1500" b="0" i="0">
                <a:solidFill>
                  <a:srgbClr val="21295C"/>
                </a:solidFill>
                <a:latin typeface="Arial"/>
              </a:rPr>
              <a:t/>
            </a:r>
            <a:r>
              <a:rPr sz="1500" b="1" i="0">
                <a:solidFill>
                  <a:srgbClr val="21295C"/>
                </a:solidFill>
                <a:latin typeface="Arial"/>
              </a:rPr>
              <a:t>Провалились развёртывание, состав набора и цель.</a:t>
            </a:r>
          </a:p>
        </p:txBody>
      </p:sp>
      <p:sp>
        <p:nvSpPr>
          <p:cNvPr id="7" name="Rectangle 6"/>
          <p:cNvSpPr/>
          <p:nvPr/>
        </p:nvSpPr>
        <p:spPr>
          <a:xfrm>
            <a:off x="6091275" y="1335024"/>
            <a:ext cx="9144" cy="1663105"/>
          </a:xfrm>
          <a:prstGeom prst="rect">
            <a:avLst/>
          </a:prstGeom>
          <a:solidFill>
            <a:srgbClr val="D9E2EC"/>
          </a:solidFill>
          <a:ln>
            <a:noFill/>
          </a:ln>
          <a:effectLst/>
        </p:spPr>
        <p:txBody>
          <a:bodyPr rtlCol="0" anchor="ctr"/>
          <a:lstStyle/>
          <a:p>
            <a:pPr algn="ctr"/>
          </a:p>
        </p:txBody>
      </p:sp>
      <p:sp>
        <p:nvSpPr>
          <p:cNvPr id="8" name="Rectangle 7"/>
          <p:cNvSpPr/>
          <p:nvPr/>
        </p:nvSpPr>
        <p:spPr>
          <a:xfrm>
            <a:off x="502920" y="888090"/>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Rectangle 2"/>
          <p:cNvSpPr/>
          <p:nvPr/>
        </p:nvSpPr>
        <p:spPr>
          <a:xfrm>
            <a:off x="0" y="0"/>
            <a:ext cx="155448" cy="6858000"/>
          </a:xfrm>
          <a:prstGeom prst="rect">
            <a:avLst/>
          </a:prstGeom>
          <a:solidFill>
            <a:srgbClr val="065A82"/>
          </a:solidFill>
          <a:ln>
            <a:noFill/>
          </a:ln>
          <a:effectLst/>
        </p:spPr>
        <p:txBody>
          <a:bodyPr rtlCol="0" anchor="ctr"/>
          <a:lstStyle/>
          <a:p>
            <a:pPr algn="ctr"/>
          </a:p>
        </p:txBody>
      </p:sp>
      <p:sp>
        <p:nvSpPr>
          <p:cNvPr id="4" name="Rounded Rectangle 3"/>
          <p:cNvSpPr/>
          <p:nvPr/>
        </p:nvSpPr>
        <p:spPr>
          <a:xfrm>
            <a:off x="7543800" y="914400"/>
            <a:ext cx="4144975" cy="3010389"/>
          </a:xfrm>
          <a:prstGeom prst="roundRect">
            <a:avLst>
              <a:gd name="adj" fmla="val 10124"/>
            </a:avLst>
          </a:prstGeom>
          <a:solidFill>
            <a:srgbClr val="F4F7FA"/>
          </a:solidFill>
          <a:ln w="19050">
            <a:solidFill>
              <a:srgbClr val="1C7293"/>
            </a:solidFill>
          </a:ln>
          <a:effectLst/>
        </p:spPr>
        <p:txBody>
          <a:bodyPr rtlCol="0" anchor="ctr"/>
          <a:lstStyle/>
          <a:p>
            <a:pPr algn="ctr"/>
          </a:p>
        </p:txBody>
      </p:sp>
      <p:pic>
        <p:nvPicPr>
          <p:cNvPr id="5" name="Picture 4" descr="s35-vrach-chitaet-s-ekrana.jpg"/>
          <p:cNvPicPr>
            <a:picLocks noChangeAspect="1"/>
          </p:cNvPicPr>
          <p:nvPr/>
        </p:nvPicPr>
        <p:blipFill>
          <a:blip r:embed="rId2"/>
          <a:stretch>
            <a:fillRect/>
          </a:stretch>
        </p:blipFill>
        <p:spPr>
          <a:xfrm>
            <a:off x="7680960" y="1051560"/>
            <a:ext cx="3870655" cy="2736069"/>
          </a:xfrm>
          <a:prstGeom prst="rect">
            <a:avLst/>
          </a:prstGeom>
        </p:spPr>
      </p:pic>
      <p:sp>
        <p:nvSpPr>
          <p:cNvPr id="6" name="TextBox 5"/>
          <p:cNvSpPr txBox="1"/>
          <p:nvPr/>
        </p:nvSpPr>
        <p:spPr>
          <a:xfrm>
            <a:off x="704088" y="960120"/>
            <a:ext cx="6675120" cy="518678"/>
          </a:xfrm>
          <a:prstGeom prst="rect">
            <a:avLst/>
          </a:prstGeom>
          <a:noFill/>
        </p:spPr>
        <p:txBody>
          <a:bodyPr wrap="square" lIns="0" rIns="0" tIns="0" bIns="0" anchor="t">
            <a:spAutoFit/>
          </a:bodyPr>
          <a:lstStyle/>
          <a:p>
            <a:pPr algn="l">
              <a:lnSpc>
                <a:spcPct val="110000"/>
              </a:lnSpc>
            </a:pPr>
            <a:r>
              <a:rPr sz="3000" b="1" i="0">
                <a:solidFill>
                  <a:srgbClr val="21295C"/>
                </a:solidFill>
                <a:latin typeface="Arial"/>
              </a:rPr>
              <a:t>3. Постановка диагноза</a:t>
            </a:r>
          </a:p>
        </p:txBody>
      </p:sp>
      <p:sp>
        <p:nvSpPr>
          <p:cNvPr id="7" name="Rectangle 6"/>
          <p:cNvSpPr/>
          <p:nvPr/>
        </p:nvSpPr>
        <p:spPr>
          <a:xfrm>
            <a:off x="704088" y="1570238"/>
            <a:ext cx="1188720" cy="59436"/>
          </a:xfrm>
          <a:prstGeom prst="rect">
            <a:avLst/>
          </a:prstGeom>
          <a:solidFill>
            <a:srgbClr val="F0AB00"/>
          </a:solidFill>
          <a:ln>
            <a:noFill/>
          </a:ln>
          <a:effectLst/>
        </p:spPr>
        <p:txBody>
          <a:bodyPr rtlCol="0" anchor="ctr"/>
          <a:lstStyle/>
          <a:p>
            <a:pPr algn="ctr"/>
          </a:p>
        </p:txBody>
      </p:sp>
      <p:sp>
        <p:nvSpPr>
          <p:cNvPr id="8" name="TextBox 7"/>
          <p:cNvSpPr txBox="1"/>
          <p:nvPr/>
        </p:nvSpPr>
        <p:spPr>
          <a:xfrm>
            <a:off x="704088" y="1844558"/>
            <a:ext cx="6473952" cy="942848"/>
          </a:xfrm>
          <a:prstGeom prst="rect">
            <a:avLst/>
          </a:prstGeom>
          <a:noFill/>
        </p:spPr>
        <p:txBody>
          <a:bodyPr wrap="square" lIns="0" rIns="0" tIns="0" bIns="0" anchor="t">
            <a:spAutoFit/>
          </a:bodyPr>
          <a:lstStyle/>
          <a:p>
            <a:pPr algn="l">
              <a:lnSpc>
                <a:spcPct val="124000"/>
              </a:lnSpc>
            </a:pPr>
            <a:r>
              <a:rPr sz="1550" b="1" i="0">
                <a:solidFill>
                  <a:srgbClr val="21295C"/>
                </a:solidFill>
                <a:latin typeface="Arial"/>
              </a:rPr>
              <a:t>Там заключение по измеренному выносила система — здесь подпись ставит человек.</a:t>
            </a:r>
            <a:r>
              <a:rPr sz="1550" b="0" i="0">
                <a:solidFill>
                  <a:srgbClr val="21295C"/>
                </a:solidFill>
                <a:latin typeface="Arial"/>
              </a:rPr>
              <a:t> Читает он теперь не только снимок, но и подсказку модели рядом. По порядку:</a:t>
            </a:r>
          </a:p>
        </p:txBody>
      </p:sp>
      <p:sp>
        <p:nvSpPr>
          <p:cNvPr id="9" name="TextBox 8"/>
          <p:cNvSpPr txBox="1"/>
          <p:nvPr/>
        </p:nvSpPr>
        <p:spPr>
          <a:xfrm>
            <a:off x="704088" y="2915422"/>
            <a:ext cx="6473952" cy="338666"/>
          </a:xfrm>
          <a:prstGeom prst="rect">
            <a:avLst/>
          </a:prstGeom>
          <a:noFill/>
        </p:spPr>
        <p:txBody>
          <a:bodyPr wrap="square" lIns="0" rIns="0" tIns="0" bIns="0" anchor="t">
            <a:spAutoFit/>
          </a:bodyPr>
          <a:lstStyle/>
          <a:p>
            <a:pPr algn="l">
              <a:lnSpc>
                <a:spcPct val="124000"/>
              </a:lnSpc>
            </a:pPr>
            <a:r>
              <a:rPr sz="1550" b="0" i="0">
                <a:solidFill>
                  <a:srgbClr val="21295C"/>
                </a:solidFill>
                <a:latin typeface="Arial"/>
              </a:rPr>
              <a:t>• </a:t>
            </a:r>
            <a:r>
              <a:rPr sz="1550" b="1" i="0">
                <a:solidFill>
                  <a:srgbClr val="21295C"/>
                </a:solidFill>
                <a:latin typeface="Arial"/>
              </a:rPr>
              <a:t>Пример 1: замер взгляда радиолога</a:t>
            </a:r>
            <a:r>
              <a:rPr sz="1550" b="0" i="0">
                <a:solidFill>
                  <a:srgbClr val="21295C"/>
                </a:solidFill>
                <a:latin typeface="Arial"/>
              </a:rPr>
              <a:t> и </a:t>
            </a:r>
            <a:r>
              <a:rPr sz="1550" b="1" i="0">
                <a:solidFill>
                  <a:srgbClr val="21295C"/>
                </a:solidFill>
                <a:latin typeface="Arial"/>
              </a:rPr>
              <a:t>зеркало того же замера</a:t>
            </a:r>
          </a:p>
        </p:txBody>
      </p:sp>
      <p:sp>
        <p:nvSpPr>
          <p:cNvPr id="10" name="TextBox 9"/>
          <p:cNvSpPr txBox="1"/>
          <p:nvPr/>
        </p:nvSpPr>
        <p:spPr>
          <a:xfrm>
            <a:off x="704088" y="3382105"/>
            <a:ext cx="6473952" cy="338666"/>
          </a:xfrm>
          <a:prstGeom prst="rect">
            <a:avLst/>
          </a:prstGeom>
          <a:noFill/>
        </p:spPr>
        <p:txBody>
          <a:bodyPr wrap="square" lIns="0" rIns="0" tIns="0" bIns="0" anchor="t">
            <a:spAutoFit/>
          </a:bodyPr>
          <a:lstStyle/>
          <a:p>
            <a:pPr algn="l">
              <a:lnSpc>
                <a:spcPct val="124000"/>
              </a:lnSpc>
            </a:pPr>
            <a:r>
              <a:rPr sz="1550" b="0" i="0">
                <a:solidFill>
                  <a:srgbClr val="21295C"/>
                </a:solidFill>
                <a:latin typeface="Arial"/>
              </a:rPr>
              <a:t>• </a:t>
            </a:r>
            <a:r>
              <a:rPr sz="1550" b="1" i="0">
                <a:solidFill>
                  <a:srgbClr val="21295C"/>
                </a:solidFill>
                <a:latin typeface="Arial"/>
              </a:rPr>
              <a:t>Пример 2: одна подсказка с двумя знаками</a:t>
            </a:r>
          </a:p>
        </p:txBody>
      </p:sp>
      <p:sp>
        <p:nvSpPr>
          <p:cNvPr id="11" name="TextBox 10"/>
          <p:cNvSpPr txBox="1"/>
          <p:nvPr/>
        </p:nvSpPr>
        <p:spPr>
          <a:xfrm>
            <a:off x="704088" y="3848787"/>
            <a:ext cx="6473952" cy="338666"/>
          </a:xfrm>
          <a:prstGeom prst="rect">
            <a:avLst/>
          </a:prstGeom>
          <a:noFill/>
        </p:spPr>
        <p:txBody>
          <a:bodyPr wrap="square" lIns="0" rIns="0" tIns="0" bIns="0" anchor="t">
            <a:spAutoFit/>
          </a:bodyPr>
          <a:lstStyle/>
          <a:p>
            <a:pPr algn="l">
              <a:lnSpc>
                <a:spcPct val="124000"/>
              </a:lnSpc>
            </a:pPr>
            <a:r>
              <a:rPr sz="1550" b="0" i="0">
                <a:solidFill>
                  <a:srgbClr val="21295C"/>
                </a:solidFill>
                <a:latin typeface="Arial"/>
              </a:rPr>
              <a:t>• </a:t>
            </a:r>
            <a:r>
              <a:rPr sz="1550" b="1" i="0">
                <a:solidFill>
                  <a:srgbClr val="21295C"/>
                </a:solidFill>
                <a:latin typeface="Arial"/>
              </a:rPr>
              <a:t>Пример 3: измеренная тройка</a:t>
            </a:r>
          </a:p>
        </p:txBody>
      </p:sp>
      <p:sp>
        <p:nvSpPr>
          <p:cNvPr id="12" name="TextBox 11"/>
          <p:cNvSpPr txBox="1"/>
          <p:nvPr/>
        </p:nvSpPr>
        <p:spPr>
          <a:xfrm>
            <a:off x="704088" y="4315470"/>
            <a:ext cx="6473952" cy="338666"/>
          </a:xfrm>
          <a:prstGeom prst="rect">
            <a:avLst/>
          </a:prstGeom>
          <a:noFill/>
        </p:spPr>
        <p:txBody>
          <a:bodyPr wrap="square" lIns="0" rIns="0" tIns="0" bIns="0" anchor="t">
            <a:spAutoFit/>
          </a:bodyPr>
          <a:lstStyle/>
          <a:p>
            <a:pPr algn="l">
              <a:lnSpc>
                <a:spcPct val="124000"/>
              </a:lnSpc>
            </a:pPr>
            <a:r>
              <a:rPr sz="1550" b="0" i="0">
                <a:solidFill>
                  <a:srgbClr val="21295C"/>
                </a:solidFill>
                <a:latin typeface="Arial"/>
              </a:rPr>
              <a:t>• </a:t>
            </a:r>
            <a:r>
              <a:rPr sz="1550" b="1" i="0">
                <a:solidFill>
                  <a:srgbClr val="21295C"/>
                </a:solidFill>
                <a:latin typeface="Arial"/>
              </a:rPr>
              <a:t>Пример 4: контрольная линия</a:t>
            </a:r>
          </a:p>
        </p:txBody>
      </p:sp>
      <p:sp>
        <p:nvSpPr>
          <p:cNvPr id="13" name="TextBox 12"/>
          <p:cNvSpPr txBox="1"/>
          <p:nvPr/>
        </p:nvSpPr>
        <p:spPr>
          <a:xfrm>
            <a:off x="704088" y="4782153"/>
            <a:ext cx="6473952" cy="338666"/>
          </a:xfrm>
          <a:prstGeom prst="rect">
            <a:avLst/>
          </a:prstGeom>
          <a:noFill/>
        </p:spPr>
        <p:txBody>
          <a:bodyPr wrap="square" lIns="0" rIns="0" tIns="0" bIns="0" anchor="t">
            <a:spAutoFit/>
          </a:bodyPr>
          <a:lstStyle/>
          <a:p>
            <a:pPr algn="l">
              <a:lnSpc>
                <a:spcPct val="124000"/>
              </a:lnSpc>
            </a:pPr>
            <a:r>
              <a:rPr sz="1550" b="0" i="0">
                <a:solidFill>
                  <a:srgbClr val="21295C"/>
                </a:solidFill>
                <a:latin typeface="Arial"/>
              </a:rPr>
              <a:t>• </a:t>
            </a:r>
            <a:r>
              <a:rPr sz="1550" b="1" i="0">
                <a:solidFill>
                  <a:srgbClr val="21295C"/>
                </a:solidFill>
                <a:latin typeface="Arial"/>
              </a:rPr>
              <a:t>Пример 5: хирурги на септическом шоке</a:t>
            </a:r>
          </a:p>
        </p:txBody>
      </p:sp>
      <p:sp>
        <p:nvSpPr>
          <p:cNvPr id="14" name="TextBox 13"/>
          <p:cNvSpPr txBox="1"/>
          <p:nvPr/>
        </p:nvSpPr>
        <p:spPr>
          <a:xfrm>
            <a:off x="704088" y="5248836"/>
            <a:ext cx="6675120" cy="215015"/>
          </a:xfrm>
          <a:prstGeom prst="rect">
            <a:avLst/>
          </a:prstGeom>
          <a:noFill/>
        </p:spPr>
        <p:txBody>
          <a:bodyPr wrap="square" lIns="0" rIns="0" tIns="0" bIns="0" anchor="t">
            <a:spAutoFit/>
          </a:bodyPr>
          <a:lstStyle/>
          <a:p>
            <a:pPr algn="l">
              <a:lnSpc>
                <a:spcPct val="114000"/>
              </a:lnSpc>
            </a:pPr>
            <a:r>
              <a:rPr sz="1200" b="0" i="1">
                <a:solidFill>
                  <a:srgbClr val="1C7293"/>
                </a:solidFill>
                <a:latin typeface="Arial"/>
              </a:rPr>
              <a:t>Врач читает исследование с экрана и наговаривает заключение</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Постановка диагноза: что это за стадия</a:t>
            </a:r>
          </a:p>
        </p:txBody>
      </p:sp>
      <p:sp>
        <p:nvSpPr>
          <p:cNvPr id="4" name="Rounded Rectangle 3"/>
          <p:cNvSpPr/>
          <p:nvPr/>
        </p:nvSpPr>
        <p:spPr>
          <a:xfrm>
            <a:off x="502920" y="1335024"/>
            <a:ext cx="11185855" cy="1376997"/>
          </a:xfrm>
          <a:prstGeom prst="roundRect">
            <a:avLst>
              <a:gd name="adj" fmla="val 22135"/>
            </a:avLst>
          </a:prstGeom>
          <a:solidFill>
            <a:srgbClr val="FFFFFF"/>
          </a:solidFill>
          <a:ln w="25400">
            <a:solidFill>
              <a:srgbClr val="F0AB00"/>
            </a:solidFill>
          </a:ln>
          <a:effectLst/>
        </p:spPr>
        <p:txBody>
          <a:bodyPr rtlCol="0" anchor="ctr"/>
          <a:lstStyle/>
          <a:p>
            <a:pPr algn="ctr"/>
          </a:p>
        </p:txBody>
      </p:sp>
      <p:sp>
        <p:nvSpPr>
          <p:cNvPr id="5" name="TextBox 4"/>
          <p:cNvSpPr txBox="1"/>
          <p:nvPr/>
        </p:nvSpPr>
        <p:spPr>
          <a:xfrm>
            <a:off x="640080" y="1472184"/>
            <a:ext cx="10911535"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ЧАСТОТА ДИАГНОСТИЧЕСКОЙ ОШИБКИ: АМБУЛАТОРНЫЙ ПРИЁМ ВЗРОСЛОГО</a:t>
            </a:r>
          </a:p>
        </p:txBody>
      </p:sp>
      <p:sp>
        <p:nvSpPr>
          <p:cNvPr id="6" name="TextBox 5"/>
          <p:cNvSpPr txBox="1"/>
          <p:nvPr/>
        </p:nvSpPr>
        <p:spPr>
          <a:xfrm>
            <a:off x="640080" y="1725375"/>
            <a:ext cx="10911535"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5,08 приёма из ста</a:t>
            </a:r>
          </a:p>
        </p:txBody>
      </p:sp>
      <p:sp>
        <p:nvSpPr>
          <p:cNvPr id="7" name="TextBox 6"/>
          <p:cNvSpPr txBox="1"/>
          <p:nvPr/>
        </p:nvSpPr>
        <p:spPr>
          <a:xfrm>
            <a:off x="640080" y="2152374"/>
            <a:ext cx="10911535"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выявляли триггером — необычный возврат пациента, ненормальный результат без дообследования; поэтому сосчитана часть ошибок; знаменатель перенесён на взрослое население США; авторы называют это занижением: частота может быть заметно выше пяти процентов</a:t>
            </a:r>
          </a:p>
        </p:txBody>
      </p:sp>
      <p:sp>
        <p:nvSpPr>
          <p:cNvPr id="8" name="Rounded Rectangle 7"/>
          <p:cNvSpPr/>
          <p:nvPr/>
        </p:nvSpPr>
        <p:spPr>
          <a:xfrm>
            <a:off x="374904" y="2803461"/>
            <a:ext cx="11441887" cy="2828609"/>
          </a:xfrm>
          <a:prstGeom prst="roundRect">
            <a:avLst>
              <a:gd name="adj" fmla="val 10775"/>
            </a:avLst>
          </a:prstGeom>
          <a:solidFill>
            <a:srgbClr val="F4F7FA"/>
          </a:solidFill>
          <a:ln w="19050">
            <a:solidFill>
              <a:srgbClr val="1C7293"/>
            </a:solidFill>
          </a:ln>
          <a:effectLst/>
        </p:spPr>
        <p:txBody>
          <a:bodyPr rtlCol="0" anchor="ctr"/>
          <a:lstStyle/>
          <a:p>
            <a:pPr algn="ctr"/>
          </a:p>
        </p:txBody>
      </p:sp>
      <p:sp>
        <p:nvSpPr>
          <p:cNvPr id="9" name="TextBox 8"/>
          <p:cNvSpPr txBox="1"/>
          <p:nvPr/>
        </p:nvSpPr>
        <p:spPr>
          <a:xfrm>
            <a:off x="539496" y="2894901"/>
            <a:ext cx="5373471" cy="3341306"/>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Стадия: постановка диагноза.</a:t>
            </a:r>
            <a:r>
              <a:rPr sz="1500" b="0" i="0">
                <a:solidFill>
                  <a:srgbClr val="21295C"/>
                </a:solidFill>
                <a:latin typeface="Arial"/>
              </a:rPr>
              <a:t> Измерения сделаны — здесь их складывают вместе, и под заключением встаёт подпись человека.</a:t>
            </a:r>
          </a:p>
          <a:p>
            <a:pPr algn="l">
              <a:lnSpc>
                <a:spcPct val="126000"/>
              </a:lnSpc>
              <a:spcBef>
                <a:spcPts val="700"/>
              </a:spcBef>
            </a:pPr>
            <a:r>
              <a:rPr sz="1500" b="0" i="0">
                <a:solidFill>
                  <a:srgbClr val="21295C"/>
                </a:solidFill>
                <a:latin typeface="Arial"/>
              </a:rPr>
              <a:t/>
            </a:r>
            <a:r>
              <a:rPr sz="1500" b="0" i="0">
                <a:solidFill>
                  <a:srgbClr val="21295C"/>
                </a:solidFill>
                <a:latin typeface="Arial"/>
              </a:rPr>
              <a:t>Приём: врач слушает рассказ, смотрит руками, открывает снимок — и держит список болезней, которые это объясняют. Вычёркивают его проверками: сначала дешёвыми и отсекающими много.</a:t>
            </a:r>
          </a:p>
        </p:txBody>
      </p:sp>
      <p:sp>
        <p:nvSpPr>
          <p:cNvPr id="10" name="TextBox 9"/>
          <p:cNvSpPr txBox="1"/>
          <p:nvPr/>
        </p:nvSpPr>
        <p:spPr>
          <a:xfrm>
            <a:off x="6278727" y="2894901"/>
            <a:ext cx="5373471" cy="3341306"/>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Без модели это решают так:</a:t>
            </a:r>
            <a:r>
              <a:rPr sz="1500" b="0" i="0">
                <a:solidFill>
                  <a:srgbClr val="21295C"/>
                </a:solidFill>
                <a:latin typeface="Arial"/>
              </a:rPr>
              <a:t> дифференциальный диагноз · второе мнение от того, кто первого не видел · консилиум · клинические рекомендации.</a:t>
            </a:r>
          </a:p>
          <a:p>
            <a:pPr algn="l">
              <a:lnSpc>
                <a:spcPct val="126000"/>
              </a:lnSpc>
              <a:spcBef>
                <a:spcPts val="700"/>
              </a:spcBef>
            </a:pPr>
            <a:r>
              <a:rPr sz="1500" b="0" i="0">
                <a:solidFill>
                  <a:srgbClr val="21295C"/>
                </a:solidFill>
                <a:latin typeface="Arial"/>
              </a:rPr>
              <a:t/>
            </a:r>
            <a:r>
              <a:rPr sz="1500" b="1" i="0">
                <a:solidFill>
                  <a:srgbClr val="21295C"/>
                </a:solidFill>
                <a:latin typeface="Arial"/>
              </a:rPr>
              <a:t>Эта частота — экстраполяция на население</a:t>
            </a:r>
            <a:r>
              <a:rPr sz="1500" b="0" i="0">
                <a:solidFill>
                  <a:srgbClr val="21295C"/>
                </a:solidFill>
                <a:latin typeface="Arial"/>
              </a:rPr>
              <a:t>, сведённая из трёх ретроспективных работ. Своей ступени в лестнице нет, и подставить ближайшую значило бы подменить разряд.</a:t>
            </a:r>
          </a:p>
          <a:p>
            <a:pPr algn="l">
              <a:lnSpc>
                <a:spcPct val="126000"/>
              </a:lnSpc>
              <a:spcBef>
                <a:spcPts val="700"/>
              </a:spcBef>
            </a:pPr>
            <a:r>
              <a:rPr sz="1500" b="0" i="0">
                <a:solidFill>
                  <a:srgbClr val="21295C"/>
                </a:solidFill>
                <a:latin typeface="Arial"/>
              </a:rPr>
              <a:t/>
            </a:r>
            <a:r>
              <a:rPr sz="1500" b="1" i="0">
                <a:solidFill>
                  <a:srgbClr val="21295C"/>
                </a:solidFill>
                <a:latin typeface="Arial"/>
              </a:rPr>
              <a:t>Назначенное отменяют, пока его не выполнили.</a:t>
            </a:r>
          </a:p>
        </p:txBody>
      </p:sp>
      <p:sp>
        <p:nvSpPr>
          <p:cNvPr id="11" name="Rectangle 10"/>
          <p:cNvSpPr/>
          <p:nvPr/>
        </p:nvSpPr>
        <p:spPr>
          <a:xfrm>
            <a:off x="6091275" y="2894901"/>
            <a:ext cx="9144" cy="2554289"/>
          </a:xfrm>
          <a:prstGeom prst="rect">
            <a:avLst/>
          </a:prstGeom>
          <a:solidFill>
            <a:srgbClr val="D9E2EC"/>
          </a:solidFill>
          <a:ln>
            <a:noFill/>
          </a:ln>
          <a:effectLst/>
        </p:spPr>
        <p:txBody>
          <a:bodyPr rtlCol="0" anchor="ctr"/>
          <a:lstStyle/>
          <a:p>
            <a:pPr algn="ctr"/>
          </a:p>
        </p:txBody>
      </p:sp>
      <p:sp>
        <p:nvSpPr>
          <p:cNvPr id="12" name="Rectangle 11"/>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13" name="TextBox 12"/>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Singh и соавт., BMJ Quality &amp; Safety 2014</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Один приём: как сужается список</a:t>
            </a:r>
          </a:p>
        </p:txBody>
      </p:sp>
      <p:sp>
        <p:nvSpPr>
          <p:cNvPr id="4" name="TextBox 3"/>
          <p:cNvSpPr txBox="1"/>
          <p:nvPr/>
        </p:nvSpPr>
        <p:spPr>
          <a:xfrm>
            <a:off x="502920" y="1371600"/>
            <a:ext cx="1307592" cy="604682"/>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Ход работы</a:t>
            </a:r>
          </a:p>
        </p:txBody>
      </p:sp>
      <p:sp>
        <p:nvSpPr>
          <p:cNvPr id="5" name="Rounded Rectangle 4"/>
          <p:cNvSpPr/>
          <p:nvPr/>
        </p:nvSpPr>
        <p:spPr>
          <a:xfrm>
            <a:off x="1920240" y="1335024"/>
            <a:ext cx="1175689" cy="677834"/>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6" name="TextBox 5"/>
          <p:cNvSpPr txBox="1"/>
          <p:nvPr/>
        </p:nvSpPr>
        <p:spPr>
          <a:xfrm>
            <a:off x="2002536" y="1380744"/>
            <a:ext cx="1011097" cy="586394"/>
          </a:xfrm>
          <a:prstGeom prst="rect">
            <a:avLst/>
          </a:prstGeom>
          <a:noFill/>
        </p:spPr>
        <p:txBody>
          <a:bodyPr wrap="square" lIns="0" rIns="0" tIns="0" bIns="0" anchor="ctr">
            <a:spAutoFit/>
          </a:bodyPr>
          <a:lstStyle/>
          <a:p>
            <a:pPr algn="ctr">
              <a:lnSpc>
                <a:spcPct val="112000"/>
              </a:lnSpc>
            </a:pPr>
            <a:r>
              <a:rPr sz="1250" b="0" i="0">
                <a:solidFill>
                  <a:srgbClr val="21295C"/>
                </a:solidFill>
                <a:latin typeface="Arial"/>
              </a:rPr>
              <a:t>собрать данные</a:t>
            </a:r>
          </a:p>
        </p:txBody>
      </p:sp>
      <p:sp>
        <p:nvSpPr>
          <p:cNvPr id="7" name="Right Arrow 6"/>
          <p:cNvSpPr/>
          <p:nvPr/>
        </p:nvSpPr>
        <p:spPr>
          <a:xfrm>
            <a:off x="3141649" y="1605361"/>
            <a:ext cx="182880" cy="137160"/>
          </a:xfrm>
          <a:prstGeom prst="rightArrow">
            <a:avLst/>
          </a:prstGeom>
          <a:solidFill>
            <a:srgbClr val="1C7293"/>
          </a:solidFill>
          <a:ln>
            <a:noFill/>
          </a:ln>
          <a:effectLst/>
        </p:spPr>
        <p:txBody>
          <a:bodyPr rtlCol="0" anchor="ctr"/>
          <a:lstStyle/>
          <a:p>
            <a:pPr algn="ctr"/>
          </a:p>
        </p:txBody>
      </p:sp>
      <p:sp>
        <p:nvSpPr>
          <p:cNvPr id="8" name="Rounded Rectangle 7"/>
          <p:cNvSpPr/>
          <p:nvPr/>
        </p:nvSpPr>
        <p:spPr>
          <a:xfrm>
            <a:off x="3370249" y="1335024"/>
            <a:ext cx="1175689" cy="677834"/>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9" name="TextBox 8"/>
          <p:cNvSpPr txBox="1"/>
          <p:nvPr/>
        </p:nvSpPr>
        <p:spPr>
          <a:xfrm>
            <a:off x="3452545" y="1380744"/>
            <a:ext cx="1011097" cy="586394"/>
          </a:xfrm>
          <a:prstGeom prst="rect">
            <a:avLst/>
          </a:prstGeom>
          <a:noFill/>
        </p:spPr>
        <p:txBody>
          <a:bodyPr wrap="square" lIns="0" rIns="0" tIns="0" bIns="0" anchor="ctr">
            <a:spAutoFit/>
          </a:bodyPr>
          <a:lstStyle/>
          <a:p>
            <a:pPr algn="ctr">
              <a:lnSpc>
                <a:spcPct val="112000"/>
              </a:lnSpc>
            </a:pPr>
            <a:r>
              <a:rPr sz="1250" b="0" i="0">
                <a:solidFill>
                  <a:srgbClr val="21295C"/>
                </a:solidFill>
                <a:latin typeface="Arial"/>
              </a:rPr>
              <a:t>выписать болезни</a:t>
            </a:r>
          </a:p>
        </p:txBody>
      </p:sp>
      <p:sp>
        <p:nvSpPr>
          <p:cNvPr id="10" name="Right Arrow 9"/>
          <p:cNvSpPr/>
          <p:nvPr/>
        </p:nvSpPr>
        <p:spPr>
          <a:xfrm>
            <a:off x="4591659" y="1605361"/>
            <a:ext cx="182880" cy="137160"/>
          </a:xfrm>
          <a:prstGeom prst="rightArrow">
            <a:avLst/>
          </a:prstGeom>
          <a:solidFill>
            <a:srgbClr val="1C7293"/>
          </a:solidFill>
          <a:ln>
            <a:noFill/>
          </a:ln>
          <a:effectLst/>
        </p:spPr>
        <p:txBody>
          <a:bodyPr rtlCol="0" anchor="ctr"/>
          <a:lstStyle/>
          <a:p>
            <a:pPr algn="ctr"/>
          </a:p>
        </p:txBody>
      </p:sp>
      <p:sp>
        <p:nvSpPr>
          <p:cNvPr id="11" name="Rounded Rectangle 10"/>
          <p:cNvSpPr/>
          <p:nvPr/>
        </p:nvSpPr>
        <p:spPr>
          <a:xfrm>
            <a:off x="4820259" y="1335024"/>
            <a:ext cx="1175689" cy="677834"/>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2" name="TextBox 11"/>
          <p:cNvSpPr txBox="1"/>
          <p:nvPr/>
        </p:nvSpPr>
        <p:spPr>
          <a:xfrm>
            <a:off x="4902555" y="1380744"/>
            <a:ext cx="1011097" cy="586394"/>
          </a:xfrm>
          <a:prstGeom prst="rect">
            <a:avLst/>
          </a:prstGeom>
          <a:noFill/>
        </p:spPr>
        <p:txBody>
          <a:bodyPr wrap="square" lIns="0" rIns="0" tIns="0" bIns="0" anchor="ctr">
            <a:spAutoFit/>
          </a:bodyPr>
          <a:lstStyle/>
          <a:p>
            <a:pPr algn="ctr">
              <a:lnSpc>
                <a:spcPct val="112000"/>
              </a:lnSpc>
            </a:pPr>
            <a:r>
              <a:rPr sz="1250" b="0" i="0">
                <a:solidFill>
                  <a:srgbClr val="21295C"/>
                </a:solidFill>
                <a:latin typeface="Arial"/>
              </a:rPr>
              <a:t>назначить проверку</a:t>
            </a:r>
          </a:p>
        </p:txBody>
      </p:sp>
      <p:sp>
        <p:nvSpPr>
          <p:cNvPr id="13" name="Right Arrow 12"/>
          <p:cNvSpPr/>
          <p:nvPr/>
        </p:nvSpPr>
        <p:spPr>
          <a:xfrm>
            <a:off x="6041669" y="1605361"/>
            <a:ext cx="182880" cy="137160"/>
          </a:xfrm>
          <a:prstGeom prst="rightArrow">
            <a:avLst/>
          </a:prstGeom>
          <a:solidFill>
            <a:srgbClr val="1C7293"/>
          </a:solidFill>
          <a:ln>
            <a:noFill/>
          </a:ln>
          <a:effectLst/>
        </p:spPr>
        <p:txBody>
          <a:bodyPr rtlCol="0" anchor="ctr"/>
          <a:lstStyle/>
          <a:p>
            <a:pPr algn="ctr"/>
          </a:p>
        </p:txBody>
      </p:sp>
      <p:sp>
        <p:nvSpPr>
          <p:cNvPr id="14" name="Rounded Rectangle 13"/>
          <p:cNvSpPr/>
          <p:nvPr/>
        </p:nvSpPr>
        <p:spPr>
          <a:xfrm>
            <a:off x="6270269" y="1335024"/>
            <a:ext cx="1175689" cy="677834"/>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5" name="TextBox 14"/>
          <p:cNvSpPr txBox="1"/>
          <p:nvPr/>
        </p:nvSpPr>
        <p:spPr>
          <a:xfrm>
            <a:off x="6352565" y="1380744"/>
            <a:ext cx="1011097" cy="586394"/>
          </a:xfrm>
          <a:prstGeom prst="rect">
            <a:avLst/>
          </a:prstGeom>
          <a:noFill/>
        </p:spPr>
        <p:txBody>
          <a:bodyPr wrap="square" lIns="0" rIns="0" tIns="0" bIns="0" anchor="ctr">
            <a:spAutoFit/>
          </a:bodyPr>
          <a:lstStyle/>
          <a:p>
            <a:pPr algn="ctr">
              <a:lnSpc>
                <a:spcPct val="112000"/>
              </a:lnSpc>
            </a:pPr>
            <a:r>
              <a:rPr sz="1250" b="0" i="0">
                <a:solidFill>
                  <a:srgbClr val="21295C"/>
                </a:solidFill>
                <a:latin typeface="Arial"/>
              </a:rPr>
              <a:t>вычеркнуть лишнее</a:t>
            </a:r>
          </a:p>
        </p:txBody>
      </p:sp>
      <p:sp>
        <p:nvSpPr>
          <p:cNvPr id="16" name="TextBox 15"/>
          <p:cNvSpPr txBox="1"/>
          <p:nvPr/>
        </p:nvSpPr>
        <p:spPr>
          <a:xfrm>
            <a:off x="502920" y="2195738"/>
            <a:ext cx="1307592" cy="604682"/>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Заняла модель</a:t>
            </a:r>
          </a:p>
        </p:txBody>
      </p:sp>
      <p:sp>
        <p:nvSpPr>
          <p:cNvPr id="17" name="Rounded Rectangle 16"/>
          <p:cNvSpPr/>
          <p:nvPr/>
        </p:nvSpPr>
        <p:spPr>
          <a:xfrm>
            <a:off x="1920240" y="2159162"/>
            <a:ext cx="1744370" cy="677834"/>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8" name="TextBox 17"/>
          <p:cNvSpPr txBox="1"/>
          <p:nvPr/>
        </p:nvSpPr>
        <p:spPr>
          <a:xfrm>
            <a:off x="2002536" y="2204882"/>
            <a:ext cx="1579778" cy="586394"/>
          </a:xfrm>
          <a:prstGeom prst="rect">
            <a:avLst/>
          </a:prstGeom>
          <a:noFill/>
        </p:spPr>
        <p:txBody>
          <a:bodyPr wrap="square" lIns="0" rIns="0" tIns="0" bIns="0" anchor="ctr">
            <a:spAutoFit/>
          </a:bodyPr>
          <a:lstStyle/>
          <a:p>
            <a:pPr algn="ctr">
              <a:lnSpc>
                <a:spcPct val="112000"/>
              </a:lnSpc>
            </a:pPr>
            <a:r>
              <a:rPr sz="1250" b="0" i="0">
                <a:solidFill>
                  <a:srgbClr val="21295C"/>
                </a:solidFill>
                <a:latin typeface="Arial"/>
              </a:rPr>
              <a:t>состав списка</a:t>
            </a:r>
          </a:p>
        </p:txBody>
      </p:sp>
      <p:sp>
        <p:nvSpPr>
          <p:cNvPr id="19" name="Rounded Rectangle 18"/>
          <p:cNvSpPr/>
          <p:nvPr/>
        </p:nvSpPr>
        <p:spPr>
          <a:xfrm>
            <a:off x="3810914" y="2159162"/>
            <a:ext cx="1744370" cy="677834"/>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0" name="TextBox 19"/>
          <p:cNvSpPr txBox="1"/>
          <p:nvPr/>
        </p:nvSpPr>
        <p:spPr>
          <a:xfrm>
            <a:off x="3893210" y="2204882"/>
            <a:ext cx="1579778" cy="586394"/>
          </a:xfrm>
          <a:prstGeom prst="rect">
            <a:avLst/>
          </a:prstGeom>
          <a:noFill/>
        </p:spPr>
        <p:txBody>
          <a:bodyPr wrap="square" lIns="0" rIns="0" tIns="0" bIns="0" anchor="ctr">
            <a:spAutoFit/>
          </a:bodyPr>
          <a:lstStyle/>
          <a:p>
            <a:pPr algn="ctr">
              <a:lnSpc>
                <a:spcPct val="112000"/>
              </a:lnSpc>
            </a:pPr>
            <a:r>
              <a:rPr sz="1250" b="0" i="0">
                <a:solidFill>
                  <a:srgbClr val="21295C"/>
                </a:solidFill>
                <a:latin typeface="Arial"/>
              </a:rPr>
              <a:t>второе чтение</a:t>
            </a:r>
          </a:p>
        </p:txBody>
      </p:sp>
      <p:sp>
        <p:nvSpPr>
          <p:cNvPr id="21" name="Rounded Rectangle 20"/>
          <p:cNvSpPr/>
          <p:nvPr/>
        </p:nvSpPr>
        <p:spPr>
          <a:xfrm>
            <a:off x="5701588" y="2159162"/>
            <a:ext cx="1744370" cy="677834"/>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2" name="TextBox 21"/>
          <p:cNvSpPr txBox="1"/>
          <p:nvPr/>
        </p:nvSpPr>
        <p:spPr>
          <a:xfrm>
            <a:off x="5783884" y="2204882"/>
            <a:ext cx="1579778" cy="586394"/>
          </a:xfrm>
          <a:prstGeom prst="rect">
            <a:avLst/>
          </a:prstGeom>
          <a:noFill/>
        </p:spPr>
        <p:txBody>
          <a:bodyPr wrap="square" lIns="0" rIns="0" tIns="0" bIns="0" anchor="ctr">
            <a:spAutoFit/>
          </a:bodyPr>
          <a:lstStyle/>
          <a:p>
            <a:pPr algn="ctr">
              <a:lnSpc>
                <a:spcPct val="112000"/>
              </a:lnSpc>
            </a:pPr>
            <a:r>
              <a:rPr sz="1250" b="0" i="0">
                <a:solidFill>
                  <a:srgbClr val="21295C"/>
                </a:solidFill>
                <a:latin typeface="Arial"/>
              </a:rPr>
              <a:t>подпись</a:t>
            </a:r>
          </a:p>
        </p:txBody>
      </p:sp>
      <p:sp>
        <p:nvSpPr>
          <p:cNvPr id="23" name="TextBox 22"/>
          <p:cNvSpPr txBox="1"/>
          <p:nvPr/>
        </p:nvSpPr>
        <p:spPr>
          <a:xfrm>
            <a:off x="502920" y="2873573"/>
            <a:ext cx="6943039"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Как сужается список</a:t>
            </a:r>
          </a:p>
        </p:txBody>
      </p:sp>
      <p:sp>
        <p:nvSpPr>
          <p:cNvPr id="24" name="Rounded Rectangle 23"/>
          <p:cNvSpPr/>
          <p:nvPr/>
        </p:nvSpPr>
        <p:spPr>
          <a:xfrm>
            <a:off x="374904" y="3993641"/>
            <a:ext cx="11441887" cy="2242566"/>
          </a:xfrm>
          <a:prstGeom prst="roundRect">
            <a:avLst>
              <a:gd name="adj" fmla="val 13591"/>
            </a:avLst>
          </a:prstGeom>
          <a:solidFill>
            <a:srgbClr val="F4F7FA"/>
          </a:solidFill>
          <a:ln w="19050">
            <a:solidFill>
              <a:srgbClr val="1C7293"/>
            </a:solidFill>
          </a:ln>
          <a:effectLst/>
        </p:spPr>
        <p:txBody>
          <a:bodyPr rtlCol="0" anchor="ctr"/>
          <a:lstStyle/>
          <a:p>
            <a:pPr algn="ctr"/>
          </a:p>
        </p:txBody>
      </p:sp>
      <p:sp>
        <p:nvSpPr>
          <p:cNvPr id="25" name="TextBox 24"/>
          <p:cNvSpPr txBox="1"/>
          <p:nvPr/>
        </p:nvSpPr>
        <p:spPr>
          <a:xfrm>
            <a:off x="539496" y="4085081"/>
            <a:ext cx="11112703" cy="2151126"/>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Один приём: кашель три недели, вечерняя температура, минус четыре килограмма. В списке четыре болезни; снимок и анализ крови вычеркнули две — осталось две, которые по снимку не различаются.</a:t>
            </a:r>
          </a:p>
          <a:p>
            <a:pPr algn="l">
              <a:lnSpc>
                <a:spcPct val="126000"/>
              </a:lnSpc>
              <a:spcBef>
                <a:spcPts val="700"/>
              </a:spcBef>
            </a:pPr>
            <a:r>
              <a:rPr sz="1500" b="0" i="0">
                <a:solidFill>
                  <a:srgbClr val="21295C"/>
                </a:solidFill>
                <a:latin typeface="Arial"/>
              </a:rPr>
              <a:t/>
            </a:r>
            <a:r>
              <a:rPr sz="1500" b="1" i="0">
                <a:solidFill>
                  <a:srgbClr val="21295C"/>
                </a:solidFill>
                <a:latin typeface="Arial"/>
              </a:rPr>
              <a:t>Добавилось одно действие, которого у врача не было: решить, верить ли подсказке.</a:t>
            </a:r>
          </a:p>
        </p:txBody>
      </p:sp>
      <p:sp>
        <p:nvSpPr>
          <p:cNvPr id="26" name="Rounded Rectangle 25"/>
          <p:cNvSpPr/>
          <p:nvPr/>
        </p:nvSpPr>
        <p:spPr>
          <a:xfrm>
            <a:off x="7756855" y="1335024"/>
            <a:ext cx="3931920" cy="2658618"/>
          </a:xfrm>
          <a:prstGeom prst="roundRect">
            <a:avLst>
              <a:gd name="adj" fmla="val 11464"/>
            </a:avLst>
          </a:prstGeom>
          <a:solidFill>
            <a:srgbClr val="F4F7FA"/>
          </a:solidFill>
          <a:ln w="19050">
            <a:solidFill>
              <a:srgbClr val="1C7293"/>
            </a:solidFill>
          </a:ln>
          <a:effectLst/>
        </p:spPr>
        <p:txBody>
          <a:bodyPr rtlCol="0" anchor="ctr"/>
          <a:lstStyle/>
          <a:p>
            <a:pPr algn="ctr"/>
          </a:p>
        </p:txBody>
      </p:sp>
      <p:pic>
        <p:nvPicPr>
          <p:cNvPr id="27" name="Picture 26" descr="s35a-priem-vrach-slushaet-rasskaz.jpg"/>
          <p:cNvPicPr>
            <a:picLocks noChangeAspect="1"/>
          </p:cNvPicPr>
          <p:nvPr/>
        </p:nvPicPr>
        <p:blipFill>
          <a:blip r:embed="rId2"/>
          <a:stretch>
            <a:fillRect/>
          </a:stretch>
        </p:blipFill>
        <p:spPr>
          <a:xfrm>
            <a:off x="7894015" y="1472184"/>
            <a:ext cx="3657600" cy="2384298"/>
          </a:xfrm>
          <a:prstGeom prst="rect">
            <a:avLst/>
          </a:prstGeom>
        </p:spPr>
      </p:pic>
      <p:sp>
        <p:nvSpPr>
          <p:cNvPr id="28" name="Rectangle 27"/>
          <p:cNvSpPr/>
          <p:nvPr/>
        </p:nvSpPr>
        <p:spPr>
          <a:xfrm>
            <a:off x="502920" y="888090"/>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Как устроено второе мнение</a:t>
            </a:r>
          </a:p>
        </p:txBody>
      </p:sp>
      <p:sp>
        <p:nvSpPr>
          <p:cNvPr id="4" name="TextBox 3"/>
          <p:cNvSpPr txBox="1"/>
          <p:nvPr/>
        </p:nvSpPr>
        <p:spPr>
          <a:xfrm>
            <a:off x="502920" y="1371600"/>
            <a:ext cx="1307592" cy="402240"/>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Два чтения</a:t>
            </a:r>
          </a:p>
        </p:txBody>
      </p:sp>
      <p:sp>
        <p:nvSpPr>
          <p:cNvPr id="5" name="Rounded Rectangle 4"/>
          <p:cNvSpPr/>
          <p:nvPr/>
        </p:nvSpPr>
        <p:spPr>
          <a:xfrm>
            <a:off x="1920240" y="1335024"/>
            <a:ext cx="4747107"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6" name="TextBox 5"/>
          <p:cNvSpPr txBox="1"/>
          <p:nvPr/>
        </p:nvSpPr>
        <p:spPr>
          <a:xfrm>
            <a:off x="2002536" y="1380744"/>
            <a:ext cx="4582515"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первое чтение</a:t>
            </a:r>
          </a:p>
        </p:txBody>
      </p:sp>
      <p:sp>
        <p:nvSpPr>
          <p:cNvPr id="7" name="Right Arrow 6"/>
          <p:cNvSpPr/>
          <p:nvPr/>
        </p:nvSpPr>
        <p:spPr>
          <a:xfrm>
            <a:off x="6713067" y="1504140"/>
            <a:ext cx="182880" cy="137160"/>
          </a:xfrm>
          <a:prstGeom prst="rightArrow">
            <a:avLst/>
          </a:prstGeom>
          <a:solidFill>
            <a:srgbClr val="1C7293"/>
          </a:solidFill>
          <a:ln>
            <a:noFill/>
          </a:ln>
          <a:effectLst/>
        </p:spPr>
        <p:txBody>
          <a:bodyPr rtlCol="0" anchor="ctr"/>
          <a:lstStyle/>
          <a:p>
            <a:pPr algn="ctr"/>
          </a:p>
        </p:txBody>
      </p:sp>
      <p:sp>
        <p:nvSpPr>
          <p:cNvPr id="8" name="Rounded Rectangle 7"/>
          <p:cNvSpPr/>
          <p:nvPr/>
        </p:nvSpPr>
        <p:spPr>
          <a:xfrm>
            <a:off x="6941667" y="1335024"/>
            <a:ext cx="4747107"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9" name="TextBox 8"/>
          <p:cNvSpPr txBox="1"/>
          <p:nvPr/>
        </p:nvSpPr>
        <p:spPr>
          <a:xfrm>
            <a:off x="7023963" y="1380744"/>
            <a:ext cx="4582515"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второе чтение</a:t>
            </a:r>
          </a:p>
        </p:txBody>
      </p:sp>
      <p:sp>
        <p:nvSpPr>
          <p:cNvPr id="10" name="TextBox 9"/>
          <p:cNvSpPr txBox="1"/>
          <p:nvPr/>
        </p:nvSpPr>
        <p:spPr>
          <a:xfrm>
            <a:off x="502920" y="1993296"/>
            <a:ext cx="1307592" cy="402240"/>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Разошлись</a:t>
            </a:r>
          </a:p>
        </p:txBody>
      </p:sp>
      <p:sp>
        <p:nvSpPr>
          <p:cNvPr id="11" name="Rounded Rectangle 10"/>
          <p:cNvSpPr/>
          <p:nvPr/>
        </p:nvSpPr>
        <p:spPr>
          <a:xfrm>
            <a:off x="1920240" y="1956720"/>
            <a:ext cx="4747107"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2" name="TextBox 11"/>
          <p:cNvSpPr txBox="1"/>
          <p:nvPr/>
        </p:nvSpPr>
        <p:spPr>
          <a:xfrm>
            <a:off x="2002536" y="2002440"/>
            <a:ext cx="4582515"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третий читатель</a:t>
            </a:r>
          </a:p>
        </p:txBody>
      </p:sp>
      <p:sp>
        <p:nvSpPr>
          <p:cNvPr id="13" name="Right Arrow 12"/>
          <p:cNvSpPr/>
          <p:nvPr/>
        </p:nvSpPr>
        <p:spPr>
          <a:xfrm>
            <a:off x="6713067" y="2125837"/>
            <a:ext cx="182880" cy="137160"/>
          </a:xfrm>
          <a:prstGeom prst="rightArrow">
            <a:avLst/>
          </a:prstGeom>
          <a:solidFill>
            <a:srgbClr val="1C7293"/>
          </a:solidFill>
          <a:ln>
            <a:noFill/>
          </a:ln>
          <a:effectLst/>
        </p:spPr>
        <p:txBody>
          <a:bodyPr rtlCol="0" anchor="ctr"/>
          <a:lstStyle/>
          <a:p>
            <a:pPr algn="ctr"/>
          </a:p>
        </p:txBody>
      </p:sp>
      <p:sp>
        <p:nvSpPr>
          <p:cNvPr id="14" name="Rounded Rectangle 13"/>
          <p:cNvSpPr/>
          <p:nvPr/>
        </p:nvSpPr>
        <p:spPr>
          <a:xfrm>
            <a:off x="6941667" y="1956720"/>
            <a:ext cx="4747107"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5" name="TextBox 14"/>
          <p:cNvSpPr txBox="1"/>
          <p:nvPr/>
        </p:nvSpPr>
        <p:spPr>
          <a:xfrm>
            <a:off x="7023963" y="2002440"/>
            <a:ext cx="4582515"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решение</a:t>
            </a:r>
          </a:p>
        </p:txBody>
      </p:sp>
      <p:sp>
        <p:nvSpPr>
          <p:cNvPr id="16" name="TextBox 15"/>
          <p:cNvSpPr txBox="1"/>
          <p:nvPr/>
        </p:nvSpPr>
        <p:spPr>
          <a:xfrm>
            <a:off x="502920" y="2468689"/>
            <a:ext cx="11185855"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Перегородка: второй не видит первого заключения</a:t>
            </a:r>
          </a:p>
        </p:txBody>
      </p:sp>
      <p:sp>
        <p:nvSpPr>
          <p:cNvPr id="17" name="Rounded Rectangle 16"/>
          <p:cNvSpPr/>
          <p:nvPr/>
        </p:nvSpPr>
        <p:spPr>
          <a:xfrm>
            <a:off x="374904" y="2771373"/>
            <a:ext cx="11441887" cy="1848525"/>
          </a:xfrm>
          <a:prstGeom prst="roundRect">
            <a:avLst>
              <a:gd name="adj" fmla="val 16488"/>
            </a:avLst>
          </a:prstGeom>
          <a:solidFill>
            <a:srgbClr val="F4F7FA"/>
          </a:solidFill>
          <a:ln w="19050">
            <a:solidFill>
              <a:srgbClr val="1C7293"/>
            </a:solidFill>
          </a:ln>
          <a:effectLst/>
        </p:spPr>
        <p:txBody>
          <a:bodyPr rtlCol="0" anchor="ctr"/>
          <a:lstStyle/>
          <a:p>
            <a:pPr algn="ctr"/>
          </a:p>
        </p:txBody>
      </p:sp>
      <p:sp>
        <p:nvSpPr>
          <p:cNvPr id="18" name="TextBox 17"/>
          <p:cNvSpPr txBox="1"/>
          <p:nvPr/>
        </p:nvSpPr>
        <p:spPr>
          <a:xfrm>
            <a:off x="539496" y="2862813"/>
            <a:ext cx="5373471" cy="3373394"/>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Держится независимостью:</a:t>
            </a:r>
            <a:r>
              <a:rPr sz="1500" b="0" i="0">
                <a:solidFill>
                  <a:srgbClr val="21295C"/>
                </a:solidFill>
                <a:latin typeface="Arial"/>
              </a:rPr>
              <a:t> второму читателю закрывают доступ к первому заключению.</a:t>
            </a:r>
          </a:p>
          <a:p>
            <a:pPr algn="l">
              <a:lnSpc>
                <a:spcPct val="126000"/>
              </a:lnSpc>
              <a:spcBef>
                <a:spcPts val="700"/>
              </a:spcBef>
            </a:pPr>
            <a:r>
              <a:rPr sz="1500" b="0" i="0">
                <a:solidFill>
                  <a:srgbClr val="21295C"/>
                </a:solidFill>
                <a:latin typeface="Arial"/>
              </a:rPr>
              <a:t/>
            </a:r>
            <a:r>
              <a:rPr sz="1500" b="0" i="0">
                <a:solidFill>
                  <a:srgbClr val="21295C"/>
                </a:solidFill>
                <a:latin typeface="Arial"/>
              </a:rPr>
              <a:t>Второе мнение от модели, подсказавшей первое, — </a:t>
            </a:r>
            <a:r>
              <a:rPr sz="1500" b="1" i="0">
                <a:solidFill>
                  <a:srgbClr val="21295C"/>
                </a:solidFill>
                <a:latin typeface="Arial"/>
              </a:rPr>
              <a:t>уже не второе:</a:t>
            </a:r>
            <a:r>
              <a:rPr sz="1500" b="0" i="0">
                <a:solidFill>
                  <a:srgbClr val="21295C"/>
                </a:solidFill>
                <a:latin typeface="Arial"/>
              </a:rPr>
              <a:t> ошибка общая и удваивается вместо усреднения.</a:t>
            </a:r>
          </a:p>
        </p:txBody>
      </p:sp>
      <p:sp>
        <p:nvSpPr>
          <p:cNvPr id="19" name="TextBox 18"/>
          <p:cNvSpPr txBox="1"/>
          <p:nvPr/>
        </p:nvSpPr>
        <p:spPr>
          <a:xfrm>
            <a:off x="6278727" y="2862813"/>
            <a:ext cx="5373471" cy="3373394"/>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Снимок женщины с письмом прочтёт тот, у кого подсказка на экране.</a:t>
            </a:r>
          </a:p>
          <a:p>
            <a:pPr algn="l">
              <a:lnSpc>
                <a:spcPct val="126000"/>
              </a:lnSpc>
              <a:spcBef>
                <a:spcPts val="700"/>
              </a:spcBef>
            </a:pPr>
            <a:r>
              <a:rPr sz="1500" b="0" i="0">
                <a:solidFill>
                  <a:srgbClr val="21295C"/>
                </a:solidFill>
                <a:latin typeface="Arial"/>
              </a:rPr>
              <a:t/>
            </a:r>
            <a:r>
              <a:rPr sz="1500" b="1" i="0">
                <a:solidFill>
                  <a:srgbClr val="21295C"/>
                </a:solidFill>
                <a:latin typeface="Arial"/>
              </a:rPr>
              <a:t>Кто из вас просил у модели второе мнение по решению, которое принял сам? Что сделали, когда она не согласилась?</a:t>
            </a:r>
          </a:p>
        </p:txBody>
      </p:sp>
      <p:sp>
        <p:nvSpPr>
          <p:cNvPr id="20" name="Rectangle 19"/>
          <p:cNvSpPr/>
          <p:nvPr/>
        </p:nvSpPr>
        <p:spPr>
          <a:xfrm>
            <a:off x="6091275" y="2862813"/>
            <a:ext cx="9144" cy="1574205"/>
          </a:xfrm>
          <a:prstGeom prst="rect">
            <a:avLst/>
          </a:prstGeom>
          <a:solidFill>
            <a:srgbClr val="D9E2EC"/>
          </a:solidFill>
          <a:ln>
            <a:noFill/>
          </a:ln>
          <a:effectLst/>
        </p:spPr>
        <p:txBody>
          <a:bodyPr rtlCol="0" anchor="ctr"/>
          <a:lstStyle/>
          <a:p>
            <a:pPr algn="ctr"/>
          </a:p>
        </p:txBody>
      </p:sp>
      <p:sp>
        <p:nvSpPr>
          <p:cNvPr id="21" name="Rectangle 20"/>
          <p:cNvSpPr/>
          <p:nvPr/>
        </p:nvSpPr>
        <p:spPr>
          <a:xfrm>
            <a:off x="502920" y="888090"/>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Четыре ступени участия</a:t>
            </a:r>
          </a:p>
        </p:txBody>
      </p:sp>
      <p:sp>
        <p:nvSpPr>
          <p:cNvPr id="4" name="TextBox 3"/>
          <p:cNvSpPr txBox="1"/>
          <p:nvPr/>
        </p:nvSpPr>
        <p:spPr>
          <a:xfrm>
            <a:off x="502920" y="1335024"/>
            <a:ext cx="11185855" cy="237744"/>
          </a:xfrm>
          <a:prstGeom prst="rect">
            <a:avLst/>
          </a:prstGeom>
          <a:noFill/>
        </p:spPr>
        <p:txBody>
          <a:bodyPr wrap="square" lIns="0" rIns="0" tIns="0" bIns="0" anchor="t">
            <a:spAutoFit/>
          </a:bodyPr>
          <a:lstStyle/>
          <a:p>
            <a:pPr algn="l">
              <a:lnSpc>
                <a:spcPct val="110000"/>
              </a:lnSpc>
            </a:pPr>
            <a:r>
              <a:rPr sz="1200" b="0" i="1">
                <a:solidFill>
                  <a:srgbClr val="065A82"/>
                </a:solidFill>
                <a:latin typeface="Arial"/>
              </a:rPr>
              <a:t>участие человека — вниз по ступеням</a:t>
            </a:r>
          </a:p>
        </p:txBody>
      </p:sp>
      <p:sp>
        <p:nvSpPr>
          <p:cNvPr id="5" name="Rounded Rectangle 4"/>
          <p:cNvSpPr/>
          <p:nvPr/>
        </p:nvSpPr>
        <p:spPr>
          <a:xfrm>
            <a:off x="502920" y="1664207"/>
            <a:ext cx="2714167" cy="93240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6" name="TextBox 5"/>
          <p:cNvSpPr txBox="1"/>
          <p:nvPr/>
        </p:nvSpPr>
        <p:spPr>
          <a:xfrm>
            <a:off x="594360" y="1709928"/>
            <a:ext cx="2531287" cy="840962"/>
          </a:xfrm>
          <a:prstGeom prst="rect">
            <a:avLst/>
          </a:prstGeom>
          <a:noFill/>
        </p:spPr>
        <p:txBody>
          <a:bodyPr wrap="square" lIns="0" rIns="0" tIns="0" bIns="0" anchor="ctr">
            <a:spAutoFit/>
          </a:bodyPr>
          <a:lstStyle/>
          <a:p>
            <a:pPr algn="ctr">
              <a:lnSpc>
                <a:spcPct val="112000"/>
              </a:lnSpc>
            </a:pPr>
            <a:r>
              <a:rPr sz="1350" b="1" i="0">
                <a:solidFill>
                  <a:srgbClr val="21295C"/>
                </a:solidFill>
                <a:latin typeface="Arial"/>
              </a:rPr>
              <a:t>Смотрит первым</a:t>
            </a:r>
          </a:p>
          <a:p>
            <a:pPr algn="ctr">
              <a:lnSpc>
                <a:spcPct val="112000"/>
              </a:lnSpc>
            </a:pPr>
            <a:r>
              <a:rPr sz="1350" b="0" i="0">
                <a:solidFill>
                  <a:srgbClr val="21295C"/>
                </a:solidFill>
                <a:latin typeface="Arial"/>
              </a:rPr>
              <a:t>видит случай</a:t>
            </a:r>
          </a:p>
        </p:txBody>
      </p:sp>
      <p:sp>
        <p:nvSpPr>
          <p:cNvPr id="7" name="Rounded Rectangle 6"/>
          <p:cNvSpPr/>
          <p:nvPr/>
        </p:nvSpPr>
        <p:spPr>
          <a:xfrm>
            <a:off x="3326815" y="1865376"/>
            <a:ext cx="2714167" cy="93240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8" name="TextBox 7"/>
          <p:cNvSpPr txBox="1"/>
          <p:nvPr/>
        </p:nvSpPr>
        <p:spPr>
          <a:xfrm>
            <a:off x="3418255" y="1911095"/>
            <a:ext cx="2531287" cy="840962"/>
          </a:xfrm>
          <a:prstGeom prst="rect">
            <a:avLst/>
          </a:prstGeom>
          <a:noFill/>
        </p:spPr>
        <p:txBody>
          <a:bodyPr wrap="square" lIns="0" rIns="0" tIns="0" bIns="0" anchor="ctr">
            <a:spAutoFit/>
          </a:bodyPr>
          <a:lstStyle/>
          <a:p>
            <a:pPr algn="ctr">
              <a:lnSpc>
                <a:spcPct val="112000"/>
              </a:lnSpc>
            </a:pPr>
            <a:r>
              <a:rPr sz="1350" b="1" i="0">
                <a:solidFill>
                  <a:srgbClr val="21295C"/>
                </a:solidFill>
                <a:latin typeface="Arial"/>
              </a:rPr>
              <a:t>Смотрит вторым</a:t>
            </a:r>
          </a:p>
          <a:p>
            <a:pPr algn="ctr">
              <a:lnSpc>
                <a:spcPct val="112000"/>
              </a:lnSpc>
            </a:pPr>
            <a:r>
              <a:rPr sz="1350" b="0" i="0">
                <a:solidFill>
                  <a:srgbClr val="21295C"/>
                </a:solidFill>
                <a:latin typeface="Arial"/>
              </a:rPr>
              <a:t>видит случай и готовый вывод</a:t>
            </a:r>
          </a:p>
        </p:txBody>
      </p:sp>
      <p:sp>
        <p:nvSpPr>
          <p:cNvPr id="9" name="Rounded Rectangle 8"/>
          <p:cNvSpPr/>
          <p:nvPr/>
        </p:nvSpPr>
        <p:spPr>
          <a:xfrm>
            <a:off x="6150711" y="2066543"/>
            <a:ext cx="2714167" cy="93240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0" name="TextBox 9"/>
          <p:cNvSpPr txBox="1"/>
          <p:nvPr/>
        </p:nvSpPr>
        <p:spPr>
          <a:xfrm>
            <a:off x="6242151" y="2112263"/>
            <a:ext cx="2531287" cy="840962"/>
          </a:xfrm>
          <a:prstGeom prst="rect">
            <a:avLst/>
          </a:prstGeom>
          <a:noFill/>
        </p:spPr>
        <p:txBody>
          <a:bodyPr wrap="square" lIns="0" rIns="0" tIns="0" bIns="0" anchor="ctr">
            <a:spAutoFit/>
          </a:bodyPr>
          <a:lstStyle/>
          <a:p>
            <a:pPr algn="ctr">
              <a:lnSpc>
                <a:spcPct val="112000"/>
              </a:lnSpc>
            </a:pPr>
            <a:r>
              <a:rPr sz="1350" b="1" i="0">
                <a:solidFill>
                  <a:srgbClr val="21295C"/>
                </a:solidFill>
                <a:latin typeface="Arial"/>
              </a:rPr>
              <a:t>Смотрит только спорное</a:t>
            </a:r>
          </a:p>
          <a:p>
            <a:pPr algn="ctr">
              <a:lnSpc>
                <a:spcPct val="112000"/>
              </a:lnSpc>
            </a:pPr>
            <a:r>
              <a:rPr sz="1350" b="0" i="0">
                <a:solidFill>
                  <a:srgbClr val="21295C"/>
                </a:solidFill>
                <a:latin typeface="Arial"/>
              </a:rPr>
              <a:t>видит выборку, которую отобрала модель</a:t>
            </a:r>
          </a:p>
        </p:txBody>
      </p:sp>
      <p:sp>
        <p:nvSpPr>
          <p:cNvPr id="11" name="Rounded Rectangle 10"/>
          <p:cNvSpPr/>
          <p:nvPr/>
        </p:nvSpPr>
        <p:spPr>
          <a:xfrm>
            <a:off x="8974607" y="2267712"/>
            <a:ext cx="2714167" cy="932402"/>
          </a:xfrm>
          <a:prstGeom prst="roundRect">
            <a:avLst>
              <a:gd name="adj" fmla="val 25000"/>
            </a:avLst>
          </a:prstGeom>
          <a:solidFill>
            <a:srgbClr val="FFFFFF"/>
          </a:solidFill>
          <a:ln w="25400">
            <a:solidFill>
              <a:srgbClr val="F0AB00"/>
            </a:solidFill>
          </a:ln>
          <a:effectLst/>
        </p:spPr>
        <p:txBody>
          <a:bodyPr rtlCol="0" anchor="ctr"/>
          <a:lstStyle/>
          <a:p>
            <a:pPr algn="ctr"/>
          </a:p>
        </p:txBody>
      </p:sp>
      <p:sp>
        <p:nvSpPr>
          <p:cNvPr id="12" name="TextBox 11"/>
          <p:cNvSpPr txBox="1"/>
          <p:nvPr/>
        </p:nvSpPr>
        <p:spPr>
          <a:xfrm>
            <a:off x="9066047" y="2313432"/>
            <a:ext cx="2531287" cy="840962"/>
          </a:xfrm>
          <a:prstGeom prst="rect">
            <a:avLst/>
          </a:prstGeom>
          <a:noFill/>
        </p:spPr>
        <p:txBody>
          <a:bodyPr wrap="square" lIns="0" rIns="0" tIns="0" bIns="0" anchor="ctr">
            <a:spAutoFit/>
          </a:bodyPr>
          <a:lstStyle/>
          <a:p>
            <a:pPr algn="ctr">
              <a:lnSpc>
                <a:spcPct val="112000"/>
              </a:lnSpc>
            </a:pPr>
            <a:r>
              <a:rPr sz="1350" b="1" i="0">
                <a:solidFill>
                  <a:srgbClr val="21295C"/>
                </a:solidFill>
                <a:latin typeface="Arial"/>
              </a:rPr>
              <a:t>Подписывает не глядя</a:t>
            </a:r>
          </a:p>
          <a:p>
            <a:pPr algn="ctr">
              <a:lnSpc>
                <a:spcPct val="112000"/>
              </a:lnSpc>
            </a:pPr>
            <a:r>
              <a:rPr sz="1350" b="0" i="0">
                <a:solidFill>
                  <a:srgbClr val="21295C"/>
                </a:solidFill>
                <a:latin typeface="Arial"/>
              </a:rPr>
              <a:t>видит только текст</a:t>
            </a:r>
          </a:p>
        </p:txBody>
      </p:sp>
      <p:sp>
        <p:nvSpPr>
          <p:cNvPr id="13" name="Rounded Rectangle 12"/>
          <p:cNvSpPr/>
          <p:nvPr/>
        </p:nvSpPr>
        <p:spPr>
          <a:xfrm>
            <a:off x="374904" y="3291554"/>
            <a:ext cx="11441887" cy="868442"/>
          </a:xfrm>
          <a:prstGeom prst="roundRect">
            <a:avLst>
              <a:gd name="adj" fmla="val 25000"/>
            </a:avLst>
          </a:prstGeom>
          <a:solidFill>
            <a:srgbClr val="F4F7FA"/>
          </a:solidFill>
          <a:ln w="19050">
            <a:solidFill>
              <a:srgbClr val="1C7293"/>
            </a:solidFill>
          </a:ln>
          <a:effectLst/>
        </p:spPr>
        <p:txBody>
          <a:bodyPr rtlCol="0" anchor="ctr"/>
          <a:lstStyle/>
          <a:p>
            <a:pPr algn="ctr"/>
          </a:p>
        </p:txBody>
      </p:sp>
      <p:sp>
        <p:nvSpPr>
          <p:cNvPr id="14" name="TextBox 13"/>
          <p:cNvSpPr txBox="1"/>
          <p:nvPr/>
        </p:nvSpPr>
        <p:spPr>
          <a:xfrm>
            <a:off x="539496" y="3382994"/>
            <a:ext cx="11112703" cy="2853213"/>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Обучение не передвигает на ступень выше:</a:t>
            </a:r>
            <a:r>
              <a:rPr sz="1500" b="0" i="0">
                <a:solidFill>
                  <a:srgbClr val="21295C"/>
                </a:solidFill>
                <a:latin typeface="Arial"/>
              </a:rPr>
              <a:t> у 44 обученных врачей точность рассуждения </a:t>
            </a:r>
            <a:r>
              <a:rPr sz="1500" b="1" i="0">
                <a:solidFill>
                  <a:srgbClr val="21295C"/>
                </a:solidFill>
                <a:latin typeface="Arial"/>
              </a:rPr>
              <a:t>84,9 → 73,3 из ста</a:t>
            </a:r>
            <a:r>
              <a:rPr sz="1500" b="0" i="0">
                <a:solidFill>
                  <a:srgbClr val="21295C"/>
                </a:solidFill>
                <a:latin typeface="Arial"/>
              </a:rPr>
              <a:t>, когда часть рекомендаций неверна.</a:t>
            </a:r>
          </a:p>
        </p:txBody>
      </p:sp>
      <p:sp>
        <p:nvSpPr>
          <p:cNvPr id="15" name="Rectangle 14"/>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16" name="TextBox 15"/>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Qazi I. A. и соавт., NEJM AI 2026</a:t>
            </a:r>
            <a:r>
              <a:rPr sz="1200" b="0" i="1">
                <a:solidFill>
                  <a:srgbClr val="1C7293"/>
                </a:solidFill>
                <a:latin typeface="Arial"/>
              </a:rPr>
              <a:t> · </a:t>
            </a:r>
            <a:r>
              <a:rPr sz="1200" b="0" i="1" u="sng">
                <a:solidFill>
                  <a:srgbClr val="065A82"/>
                </a:solidFill>
                <a:latin typeface="Arial"/>
                <a:hlinkClick r:id="rId3"/>
              </a:rPr>
              <a:t>Mozannar и соавт., CHI 2024</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Пример 1: замер взгляда радиолога</a:t>
            </a:r>
          </a:p>
        </p:txBody>
      </p:sp>
      <p:sp>
        <p:nvSpPr>
          <p:cNvPr id="4" name="Rounded Rectangle 3"/>
          <p:cNvSpPr/>
          <p:nvPr/>
        </p:nvSpPr>
        <p:spPr>
          <a:xfrm>
            <a:off x="502920" y="1335024"/>
            <a:ext cx="2673019" cy="1799484"/>
          </a:xfrm>
          <a:prstGeom prst="roundRect">
            <a:avLst>
              <a:gd name="adj" fmla="val 16938"/>
            </a:avLst>
          </a:prstGeom>
          <a:solidFill>
            <a:srgbClr val="FFFFFF"/>
          </a:solidFill>
          <a:ln w="25400">
            <a:solidFill>
              <a:srgbClr val="F0AB00"/>
            </a:solidFill>
          </a:ln>
          <a:effectLst/>
        </p:spPr>
        <p:txBody>
          <a:bodyPr rtlCol="0" anchor="ctr"/>
          <a:lstStyle/>
          <a:p>
            <a:pPr algn="ctr"/>
          </a:p>
        </p:txBody>
      </p:sp>
      <p:sp>
        <p:nvSpPr>
          <p:cNvPr id="5" name="TextBox 4"/>
          <p:cNvSpPr txBox="1"/>
          <p:nvPr/>
        </p:nvSpPr>
        <p:spPr>
          <a:xfrm>
            <a:off x="640080"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ЧУВСТВИТЕЛЬНОСТЬ</a:t>
            </a:r>
          </a:p>
        </p:txBody>
      </p:sp>
      <p:sp>
        <p:nvSpPr>
          <p:cNvPr id="6" name="TextBox 5"/>
          <p:cNvSpPr txBox="1"/>
          <p:nvPr/>
        </p:nvSpPr>
        <p:spPr>
          <a:xfrm>
            <a:off x="640080" y="1725375"/>
            <a:ext cx="2398699"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71 → 39 из ста</a:t>
            </a:r>
          </a:p>
        </p:txBody>
      </p:sp>
      <p:sp>
        <p:nvSpPr>
          <p:cNvPr id="7" name="TextBox 6"/>
          <p:cNvSpPr txBox="1"/>
          <p:nvPr/>
        </p:nvSpPr>
        <p:spPr>
          <a:xfrm>
            <a:off x="640080" y="2152374"/>
            <a:ext cx="2398699" cy="84497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медиана десяти читателей; подгруппа — 14 случаев, где подсказка молчала; −32 пункта, значимо</a:t>
            </a:r>
          </a:p>
        </p:txBody>
      </p:sp>
      <p:sp>
        <p:nvSpPr>
          <p:cNvPr id="8" name="Rounded Rectangle 7"/>
          <p:cNvSpPr/>
          <p:nvPr/>
        </p:nvSpPr>
        <p:spPr>
          <a:xfrm>
            <a:off x="3340531" y="1335024"/>
            <a:ext cx="2673019" cy="1799484"/>
          </a:xfrm>
          <a:prstGeom prst="roundRect">
            <a:avLst>
              <a:gd name="adj" fmla="val 16938"/>
            </a:avLst>
          </a:prstGeom>
          <a:solidFill>
            <a:srgbClr val="FFFFFF"/>
          </a:solidFill>
          <a:ln w="25400">
            <a:solidFill>
              <a:srgbClr val="F0AB00"/>
            </a:solidFill>
          </a:ln>
          <a:effectLst/>
        </p:spPr>
        <p:txBody>
          <a:bodyPr rtlCol="0" anchor="ctr"/>
          <a:lstStyle/>
          <a:p>
            <a:pPr algn="ctr"/>
          </a:p>
        </p:txBody>
      </p:sp>
      <p:sp>
        <p:nvSpPr>
          <p:cNvPr id="9" name="TextBox 8"/>
          <p:cNvSpPr txBox="1"/>
          <p:nvPr/>
        </p:nvSpPr>
        <p:spPr>
          <a:xfrm>
            <a:off x="3477691" y="1472184"/>
            <a:ext cx="2398699"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ВЗГЛЯД НА ПРОПУЩЕННОМ МОДЕЛЬЮ</a:t>
            </a:r>
          </a:p>
        </p:txBody>
      </p:sp>
      <p:sp>
        <p:nvSpPr>
          <p:cNvPr id="10" name="TextBox 9"/>
          <p:cNvSpPr txBox="1"/>
          <p:nvPr/>
        </p:nvSpPr>
        <p:spPr>
          <a:xfrm>
            <a:off x="3477691" y="1932846"/>
            <a:ext cx="2398699" cy="647673"/>
          </a:xfrm>
          <a:prstGeom prst="rect">
            <a:avLst/>
          </a:prstGeom>
          <a:noFill/>
        </p:spPr>
        <p:txBody>
          <a:bodyPr wrap="square" lIns="0" rIns="0" tIns="0" bIns="0" anchor="t">
            <a:spAutoFit/>
          </a:bodyPr>
          <a:lstStyle/>
          <a:p>
            <a:pPr algn="l">
              <a:lnSpc>
                <a:spcPct val="108000"/>
              </a:lnSpc>
            </a:pPr>
            <a:r>
              <a:rPr sz="1800" b="1" i="0">
                <a:solidFill>
                  <a:srgbClr val="1C7293"/>
                </a:solidFill>
                <a:latin typeface="Arial"/>
              </a:rPr>
              <a:t>0,47 → 0,44 фиксации в секунду</a:t>
            </a:r>
          </a:p>
        </p:txBody>
      </p:sp>
      <p:sp>
        <p:nvSpPr>
          <p:cNvPr id="11" name="TextBox 10"/>
          <p:cNvSpPr txBox="1"/>
          <p:nvPr/>
        </p:nvSpPr>
        <p:spPr>
          <a:xfrm>
            <a:off x="3477691" y="2580519"/>
            <a:ext cx="2398699"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без подсказки → с подсказкой</a:t>
            </a:r>
          </a:p>
        </p:txBody>
      </p:sp>
      <p:sp>
        <p:nvSpPr>
          <p:cNvPr id="12" name="Rounded Rectangle 11"/>
          <p:cNvSpPr/>
          <p:nvPr/>
        </p:nvSpPr>
        <p:spPr>
          <a:xfrm>
            <a:off x="6178143" y="1335024"/>
            <a:ext cx="2673019" cy="1799484"/>
          </a:xfrm>
          <a:prstGeom prst="roundRect">
            <a:avLst>
              <a:gd name="adj" fmla="val 16938"/>
            </a:avLst>
          </a:prstGeom>
          <a:solidFill>
            <a:srgbClr val="F4F7FA"/>
          </a:solidFill>
          <a:ln w="15240">
            <a:solidFill>
              <a:srgbClr val="1C7293"/>
            </a:solidFill>
          </a:ln>
          <a:effectLst/>
        </p:spPr>
        <p:txBody>
          <a:bodyPr rtlCol="0" anchor="ctr"/>
          <a:lstStyle/>
          <a:p>
            <a:pPr algn="ctr"/>
          </a:p>
        </p:txBody>
      </p:sp>
      <p:sp>
        <p:nvSpPr>
          <p:cNvPr id="13" name="TextBox 12"/>
          <p:cNvSpPr txBox="1"/>
          <p:nvPr/>
        </p:nvSpPr>
        <p:spPr>
          <a:xfrm>
            <a:off x="6315303"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ДАЛО</a:t>
            </a:r>
          </a:p>
        </p:txBody>
      </p:sp>
      <p:sp>
        <p:nvSpPr>
          <p:cNvPr id="14" name="TextBox 13"/>
          <p:cNvSpPr txBox="1"/>
          <p:nvPr/>
        </p:nvSpPr>
        <p:spPr>
          <a:xfrm>
            <a:off x="6315303" y="1725375"/>
            <a:ext cx="2398699"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указание, куда смотреть</a:t>
            </a:r>
          </a:p>
        </p:txBody>
      </p:sp>
      <p:sp>
        <p:nvSpPr>
          <p:cNvPr id="15" name="Rounded Rectangle 14"/>
          <p:cNvSpPr/>
          <p:nvPr/>
        </p:nvSpPr>
        <p:spPr>
          <a:xfrm>
            <a:off x="9015755" y="1335024"/>
            <a:ext cx="2673019" cy="1799484"/>
          </a:xfrm>
          <a:prstGeom prst="roundRect">
            <a:avLst>
              <a:gd name="adj" fmla="val 16938"/>
            </a:avLst>
          </a:prstGeom>
          <a:solidFill>
            <a:srgbClr val="F4F7FA"/>
          </a:solidFill>
          <a:ln w="15240">
            <a:solidFill>
              <a:srgbClr val="1C7293"/>
            </a:solidFill>
          </a:ln>
          <a:effectLst/>
        </p:spPr>
        <p:txBody>
          <a:bodyPr rtlCol="0" anchor="ctr"/>
          <a:lstStyle/>
          <a:p>
            <a:pPr algn="ctr"/>
          </a:p>
        </p:txBody>
      </p:sp>
      <p:sp>
        <p:nvSpPr>
          <p:cNvPr id="16" name="TextBox 15"/>
          <p:cNvSpPr txBox="1"/>
          <p:nvPr/>
        </p:nvSpPr>
        <p:spPr>
          <a:xfrm>
            <a:off x="9152915"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ПОТРЕБОВАЛО</a:t>
            </a:r>
          </a:p>
        </p:txBody>
      </p:sp>
      <p:sp>
        <p:nvSpPr>
          <p:cNvPr id="17" name="TextBox 16"/>
          <p:cNvSpPr txBox="1"/>
          <p:nvPr/>
        </p:nvSpPr>
        <p:spPr>
          <a:xfrm>
            <a:off x="9152915" y="1725375"/>
            <a:ext cx="2398699"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чтобы указание было верным</a:t>
            </a:r>
          </a:p>
        </p:txBody>
      </p:sp>
      <p:sp>
        <p:nvSpPr>
          <p:cNvPr id="18" name="TextBox 17"/>
          <p:cNvSpPr txBox="1"/>
          <p:nvPr/>
        </p:nvSpPr>
        <p:spPr>
          <a:xfrm>
            <a:off x="9152915" y="2542797"/>
            <a:ext cx="2398699"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в сумме: читатели стали читать хуже</a:t>
            </a:r>
          </a:p>
        </p:txBody>
      </p:sp>
      <p:sp>
        <p:nvSpPr>
          <p:cNvPr id="19" name="Rounded Rectangle 18"/>
          <p:cNvSpPr/>
          <p:nvPr/>
        </p:nvSpPr>
        <p:spPr>
          <a:xfrm>
            <a:off x="374904" y="3225948"/>
            <a:ext cx="11441887" cy="2947433"/>
          </a:xfrm>
          <a:prstGeom prst="roundRect">
            <a:avLst>
              <a:gd name="adj" fmla="val 10341"/>
            </a:avLst>
          </a:prstGeom>
          <a:solidFill>
            <a:srgbClr val="F4F7FA"/>
          </a:solidFill>
          <a:ln w="19050">
            <a:solidFill>
              <a:srgbClr val="1C7293"/>
            </a:solidFill>
          </a:ln>
          <a:effectLst/>
        </p:spPr>
        <p:txBody>
          <a:bodyPr rtlCol="0" anchor="ctr"/>
          <a:lstStyle/>
          <a:p>
            <a:pPr algn="ctr"/>
          </a:p>
        </p:txBody>
      </p:sp>
      <p:sp>
        <p:nvSpPr>
          <p:cNvPr id="20" name="TextBox 19"/>
          <p:cNvSpPr txBox="1"/>
          <p:nvPr/>
        </p:nvSpPr>
        <p:spPr>
          <a:xfrm>
            <a:off x="539496" y="3317388"/>
            <a:ext cx="5373471" cy="2918819"/>
          </a:xfrm>
          <a:prstGeom prst="rect">
            <a:avLst/>
          </a:prstGeom>
          <a:noFill/>
        </p:spPr>
        <p:txBody>
          <a:bodyPr wrap="square" lIns="0" rIns="0" tIns="0" bIns="0" anchor="t">
            <a:spAutoFit/>
          </a:bodyPr>
          <a:lstStyle/>
          <a:p>
            <a:pPr algn="l">
              <a:lnSpc>
                <a:spcPct val="126000"/>
              </a:lnSpc>
            </a:pPr>
            <a:r>
              <a:rPr sz="1400" b="1" i="0">
                <a:solidFill>
                  <a:srgbClr val="21295C"/>
                </a:solidFill>
                <a:latin typeface="Arial"/>
              </a:rPr>
              <a:t>Цена обеих ошибок.</a:t>
            </a:r>
            <a:r>
              <a:rPr sz="1400" b="0" i="0">
                <a:solidFill>
                  <a:srgbClr val="21295C"/>
                </a:solidFill>
                <a:latin typeface="Arial"/>
              </a:rPr>
              <a:t> Пропущенный рак — лечение позже и хуже. Ложный вызов — биопсия, месяцы тревоги.</a:t>
            </a:r>
          </a:p>
          <a:p>
            <a:pPr algn="l">
              <a:lnSpc>
                <a:spcPct val="126000"/>
              </a:lnSpc>
              <a:spcBef>
                <a:spcPts val="700"/>
              </a:spcBef>
            </a:pPr>
            <a:r>
              <a:rPr sz="1400" b="0" i="0">
                <a:solidFill>
                  <a:srgbClr val="21295C"/>
                </a:solidFill>
                <a:latin typeface="Arial"/>
              </a:rPr>
              <a:t/>
            </a:r>
            <a:r>
              <a:rPr sz="1400" b="1" i="0">
                <a:solidFill>
                  <a:srgbClr val="21295C"/>
                </a:solidFill>
                <a:latin typeface="Arial"/>
              </a:rPr>
              <a:t>Как читали.</a:t>
            </a:r>
            <a:r>
              <a:rPr sz="1400" b="0" i="0">
                <a:solidFill>
                  <a:srgbClr val="21295C"/>
                </a:solidFill>
                <a:latin typeface="Arial"/>
              </a:rPr>
              <a:t> Десять радиологов программы скрининга прошли набор из шестидесяти маммограмм сами — это база. Через шесть недель прочли те же случаи заново, с подсказкой на экране. Набор подобрали так, чтобы система ошибалась в обе стороны.</a:t>
            </a:r>
          </a:p>
          <a:p>
            <a:pPr algn="l">
              <a:lnSpc>
                <a:spcPct val="126000"/>
              </a:lnSpc>
              <a:spcBef>
                <a:spcPts val="700"/>
              </a:spcBef>
            </a:pPr>
            <a:r>
              <a:rPr sz="1400" b="0" i="0">
                <a:solidFill>
                  <a:srgbClr val="21295C"/>
                </a:solidFill>
                <a:latin typeface="Arial"/>
              </a:rPr>
              <a:t/>
            </a:r>
            <a:r>
              <a:rPr sz="1400" b="1" i="0">
                <a:solidFill>
                  <a:srgbClr val="21295C"/>
                </a:solidFill>
                <a:latin typeface="Arial"/>
              </a:rPr>
              <a:t>Семьдесят один из ста — это</a:t>
            </a:r>
            <a:r>
              <a:rPr sz="1400" b="0" i="0">
                <a:solidFill>
                  <a:srgbClr val="21295C"/>
                </a:solidFill>
                <a:latin typeface="Arial"/>
              </a:rPr>
              <a:t> двадцать девять пропущенных раков на сто имевшихся, и это человек без всякой подсказки.</a:t>
            </a:r>
          </a:p>
        </p:txBody>
      </p:sp>
      <p:sp>
        <p:nvSpPr>
          <p:cNvPr id="21" name="TextBox 20"/>
          <p:cNvSpPr txBox="1"/>
          <p:nvPr/>
        </p:nvSpPr>
        <p:spPr>
          <a:xfrm>
            <a:off x="6278727" y="3317388"/>
            <a:ext cx="5373471" cy="2918819"/>
          </a:xfrm>
          <a:prstGeom prst="rect">
            <a:avLst/>
          </a:prstGeom>
          <a:noFill/>
        </p:spPr>
        <p:txBody>
          <a:bodyPr wrap="square" lIns="0" rIns="0" tIns="0" bIns="0" anchor="t">
            <a:spAutoFit/>
          </a:bodyPr>
          <a:lstStyle/>
          <a:p>
            <a:pPr algn="l">
              <a:lnSpc>
                <a:spcPct val="126000"/>
              </a:lnSpc>
            </a:pPr>
            <a:r>
              <a:rPr sz="1400" b="1" i="0">
                <a:solidFill>
                  <a:srgbClr val="21295C"/>
                </a:solidFill>
                <a:latin typeface="Arial"/>
              </a:rPr>
              <a:t>Второй классический режим</a:t>
            </a:r>
            <a:r>
              <a:rPr sz="1400" b="0" i="0">
                <a:solidFill>
                  <a:srgbClr val="21295C"/>
                </a:solidFill>
                <a:latin typeface="Arial"/>
              </a:rPr>
              <a:t> — второе человеческое чтение, чем держится программа.</a:t>
            </a:r>
          </a:p>
          <a:p>
            <a:pPr algn="l">
              <a:lnSpc>
                <a:spcPct val="126000"/>
              </a:lnSpc>
              <a:spcBef>
                <a:spcPts val="700"/>
              </a:spcBef>
            </a:pPr>
            <a:r>
              <a:rPr sz="1400" b="0" i="0">
                <a:solidFill>
                  <a:srgbClr val="21295C"/>
                </a:solidFill>
                <a:latin typeface="Arial"/>
              </a:rPr>
              <a:t/>
            </a:r>
            <a:r>
              <a:rPr sz="1400" b="1" i="0">
                <a:solidFill>
                  <a:srgbClr val="21295C"/>
                </a:solidFill>
                <a:latin typeface="Arial"/>
              </a:rPr>
              <a:t>Устроено.</a:t>
            </a:r>
            <a:r>
              <a:rPr sz="1400" b="0" i="0">
                <a:solidFill>
                  <a:srgbClr val="21295C"/>
                </a:solidFill>
                <a:latin typeface="Arial"/>
              </a:rPr>
              <a:t> Вход — цифровая маммограмма, выход — отметка области с оценкой подозрительности. </a:t>
            </a:r>
            <a:r>
              <a:rPr sz="1400" b="1" i="0">
                <a:solidFill>
                  <a:srgbClr val="21295C"/>
                </a:solidFill>
                <a:latin typeface="Arial"/>
              </a:rPr>
              <a:t>Имени изделия и обучающих данных работа не называет:</a:t>
            </a:r>
            <a:r>
              <a:rPr sz="1400" b="0" i="0">
                <a:solidFill>
                  <a:srgbClr val="21295C"/>
                </a:solidFill>
                <a:latin typeface="Arial"/>
              </a:rPr>
              <a:t> допущенная коммерческая система.</a:t>
            </a:r>
          </a:p>
          <a:p>
            <a:pPr algn="l">
              <a:lnSpc>
                <a:spcPct val="126000"/>
              </a:lnSpc>
              <a:spcBef>
                <a:spcPts val="700"/>
              </a:spcBef>
            </a:pPr>
            <a:r>
              <a:rPr sz="1400" b="0" i="0">
                <a:solidFill>
                  <a:srgbClr val="21295C"/>
                </a:solidFill>
                <a:latin typeface="Arial"/>
              </a:rPr>
              <a:t/>
            </a:r>
            <a:r>
              <a:rPr sz="1400" b="1" i="0">
                <a:solidFill>
                  <a:srgbClr val="21295C"/>
                </a:solidFill>
                <a:latin typeface="Arial"/>
              </a:rPr>
              <a:t>Что переехало.</a:t>
            </a:r>
            <a:r>
              <a:rPr sz="1400" b="0" i="0">
                <a:solidFill>
                  <a:srgbClr val="21295C"/>
                </a:solidFill>
                <a:latin typeface="Arial"/>
              </a:rPr>
              <a:t> Нагрузка на том же месте упала — и это цена: пропуск модели стал пропуском читателя.</a:t>
            </a:r>
          </a:p>
        </p:txBody>
      </p:sp>
      <p:sp>
        <p:nvSpPr>
          <p:cNvPr id="22" name="Rectangle 21"/>
          <p:cNvSpPr/>
          <p:nvPr/>
        </p:nvSpPr>
        <p:spPr>
          <a:xfrm>
            <a:off x="6091275" y="3317388"/>
            <a:ext cx="9144" cy="2673113"/>
          </a:xfrm>
          <a:prstGeom prst="rect">
            <a:avLst/>
          </a:prstGeom>
          <a:solidFill>
            <a:srgbClr val="D9E2EC"/>
          </a:solidFill>
          <a:ln>
            <a:noFill/>
          </a:ln>
          <a:effectLst/>
        </p:spPr>
        <p:txBody>
          <a:bodyPr rtlCol="0" anchor="ctr"/>
          <a:lstStyle/>
          <a:p>
            <a:pPr algn="ctr"/>
          </a:p>
        </p:txBody>
      </p:sp>
      <p:sp>
        <p:nvSpPr>
          <p:cNvPr id="23" name="Rectangle 22"/>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24" name="TextBox 23"/>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Taib и соавт., Radiology 2026</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Зеркало того же замера: результат вырос</a:t>
            </a:r>
          </a:p>
        </p:txBody>
      </p:sp>
      <p:sp>
        <p:nvSpPr>
          <p:cNvPr id="4" name="Rounded Rectangle 3"/>
          <p:cNvSpPr/>
          <p:nvPr/>
        </p:nvSpPr>
        <p:spPr>
          <a:xfrm>
            <a:off x="502920" y="1335024"/>
            <a:ext cx="5510631" cy="1376997"/>
          </a:xfrm>
          <a:prstGeom prst="roundRect">
            <a:avLst>
              <a:gd name="adj" fmla="val 22135"/>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5236311"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ОХВАТ СНИМКА ВЗГЛЯДОМ: БЕЗ → С МОДЕЛЬЮ</a:t>
            </a:r>
          </a:p>
        </p:txBody>
      </p:sp>
      <p:sp>
        <p:nvSpPr>
          <p:cNvPr id="6" name="TextBox 5"/>
          <p:cNvSpPr txBox="1"/>
          <p:nvPr/>
        </p:nvSpPr>
        <p:spPr>
          <a:xfrm>
            <a:off x="640080" y="1725375"/>
            <a:ext cx="5236311"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11,1 → 9,5 из ста</a:t>
            </a:r>
          </a:p>
        </p:txBody>
      </p:sp>
      <p:sp>
        <p:nvSpPr>
          <p:cNvPr id="7" name="TextBox 6"/>
          <p:cNvSpPr txBox="1"/>
          <p:nvPr/>
        </p:nvSpPr>
        <p:spPr>
          <a:xfrm>
            <a:off x="640080" y="2152374"/>
            <a:ext cx="5236311"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и здесь это выигрыш</a:t>
            </a:r>
          </a:p>
        </p:txBody>
      </p:sp>
      <p:sp>
        <p:nvSpPr>
          <p:cNvPr id="8" name="Rounded Rectangle 7"/>
          <p:cNvSpPr/>
          <p:nvPr/>
        </p:nvSpPr>
        <p:spPr>
          <a:xfrm>
            <a:off x="6178143" y="1335024"/>
            <a:ext cx="5510631" cy="1376997"/>
          </a:xfrm>
          <a:prstGeom prst="roundRect">
            <a:avLst>
              <a:gd name="adj" fmla="val 22135"/>
            </a:avLst>
          </a:prstGeom>
          <a:solidFill>
            <a:srgbClr val="FFFFFF"/>
          </a:solidFill>
          <a:ln w="25400">
            <a:solidFill>
              <a:srgbClr val="F0AB00"/>
            </a:solidFill>
          </a:ln>
          <a:effectLst/>
        </p:spPr>
        <p:txBody>
          <a:bodyPr rtlCol="0" anchor="ctr"/>
          <a:lstStyle/>
          <a:p>
            <a:pPr algn="ctr"/>
          </a:p>
        </p:txBody>
      </p:sp>
      <p:sp>
        <p:nvSpPr>
          <p:cNvPr id="9" name="TextBox 8"/>
          <p:cNvSpPr txBox="1"/>
          <p:nvPr/>
        </p:nvSpPr>
        <p:spPr>
          <a:xfrm>
            <a:off x="6315303" y="1472184"/>
            <a:ext cx="5236311"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ПЛОЩАДЬ ПОД КРИВОЙ: БЕЗ → С МОДЕЛЬЮ</a:t>
            </a:r>
          </a:p>
        </p:txBody>
      </p:sp>
      <p:sp>
        <p:nvSpPr>
          <p:cNvPr id="10" name="TextBox 9"/>
          <p:cNvSpPr txBox="1"/>
          <p:nvPr/>
        </p:nvSpPr>
        <p:spPr>
          <a:xfrm>
            <a:off x="6315303" y="1725375"/>
            <a:ext cx="5236311"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0,93 → 0,97</a:t>
            </a:r>
          </a:p>
        </p:txBody>
      </p:sp>
      <p:sp>
        <p:nvSpPr>
          <p:cNvPr id="11" name="TextBox 10"/>
          <p:cNvSpPr txBox="1"/>
          <p:nvPr/>
        </p:nvSpPr>
        <p:spPr>
          <a:xfrm>
            <a:off x="6315303" y="2152374"/>
            <a:ext cx="5236311"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чувствительность 81,7 → 87,2 из 900 прочтений на режим, но незначимо</a:t>
            </a:r>
          </a:p>
        </p:txBody>
      </p:sp>
      <p:sp>
        <p:nvSpPr>
          <p:cNvPr id="12" name="Rounded Rectangle 11"/>
          <p:cNvSpPr/>
          <p:nvPr/>
        </p:nvSpPr>
        <p:spPr>
          <a:xfrm>
            <a:off x="374904" y="2803461"/>
            <a:ext cx="11441887" cy="2115662"/>
          </a:xfrm>
          <a:prstGeom prst="roundRect">
            <a:avLst>
              <a:gd name="adj" fmla="val 14406"/>
            </a:avLst>
          </a:prstGeom>
          <a:solidFill>
            <a:srgbClr val="F4F7FA"/>
          </a:solidFill>
          <a:ln w="19050">
            <a:solidFill>
              <a:srgbClr val="1C7293"/>
            </a:solidFill>
          </a:ln>
          <a:effectLst/>
        </p:spPr>
        <p:txBody>
          <a:bodyPr rtlCol="0" anchor="ctr"/>
          <a:lstStyle/>
          <a:p>
            <a:pPr algn="ctr"/>
          </a:p>
        </p:txBody>
      </p:sp>
      <p:sp>
        <p:nvSpPr>
          <p:cNvPr id="13" name="TextBox 12"/>
          <p:cNvSpPr txBox="1"/>
          <p:nvPr/>
        </p:nvSpPr>
        <p:spPr>
          <a:xfrm>
            <a:off x="539496" y="2894901"/>
            <a:ext cx="5373471" cy="3341306"/>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Как читали.</a:t>
            </a:r>
            <a:r>
              <a:rPr sz="1500" b="0" i="0">
                <a:solidFill>
                  <a:srgbClr val="21295C"/>
                </a:solidFill>
                <a:latin typeface="Arial"/>
              </a:rPr>
              <a:t> Двенадцать радиологов программы скрининга прошли сто пятьдесят исследований — 75 с подтверждённым раком, 75 без — каждое дважды: сами и с допущенной системой, которая ставит оценку подозрительности от 1 до 100.</a:t>
            </a:r>
          </a:p>
        </p:txBody>
      </p:sp>
      <p:sp>
        <p:nvSpPr>
          <p:cNvPr id="14" name="TextBox 13"/>
          <p:cNvSpPr txBox="1"/>
          <p:nvPr/>
        </p:nvSpPr>
        <p:spPr>
          <a:xfrm>
            <a:off x="6278727" y="2894901"/>
            <a:ext cx="5373471" cy="3341306"/>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Сужение поиска само по себе ни польза, ни вред.</a:t>
            </a:r>
            <a:r>
              <a:rPr sz="1500" b="0" i="0">
                <a:solidFill>
                  <a:srgbClr val="21295C"/>
                </a:solidFill>
                <a:latin typeface="Arial"/>
              </a:rPr>
              <a:t> Знак задаёт правота подсказки: по сигналу не различить.</a:t>
            </a:r>
          </a:p>
          <a:p>
            <a:pPr algn="l">
              <a:lnSpc>
                <a:spcPct val="126000"/>
              </a:lnSpc>
              <a:spcBef>
                <a:spcPts val="700"/>
              </a:spcBef>
            </a:pPr>
            <a:r>
              <a:rPr sz="1500" b="0" i="0">
                <a:solidFill>
                  <a:srgbClr val="21295C"/>
                </a:solidFill>
                <a:latin typeface="Arial"/>
              </a:rPr>
              <a:t/>
            </a:r>
            <a:r>
              <a:rPr sz="1500" b="1" i="0">
                <a:solidFill>
                  <a:srgbClr val="21295C"/>
                </a:solidFill>
                <a:latin typeface="Arial"/>
              </a:rPr>
              <a:t>Различение больного и здорового выросло значимо.</a:t>
            </a:r>
            <a:r>
              <a:rPr sz="1500" b="0" i="0">
                <a:solidFill>
                  <a:srgbClr val="21295C"/>
                </a:solidFill>
                <a:latin typeface="Arial"/>
              </a:rPr>
              <a:t> «Модель сделала врачей лучше» этим не держится.</a:t>
            </a:r>
          </a:p>
          <a:p>
            <a:pPr algn="l">
              <a:lnSpc>
                <a:spcPct val="126000"/>
              </a:lnSpc>
              <a:spcBef>
                <a:spcPts val="700"/>
              </a:spcBef>
            </a:pPr>
            <a:r>
              <a:rPr sz="1200" b="0" i="0">
                <a:solidFill>
                  <a:srgbClr val="21295C"/>
                </a:solidFill>
                <a:latin typeface="Arial"/>
              </a:rPr>
              <a:t/>
            </a:r>
            <a:r>
              <a:rPr sz="1200" b="0" i="1">
                <a:solidFill>
                  <a:srgbClr val="1C7293"/>
                </a:solidFill>
                <a:latin typeface="Arial"/>
              </a:rPr>
              <a:t>Лабораторный опыт: раков в наборе половина, в живой программе их единицы на тысячу.</a:t>
            </a:r>
          </a:p>
        </p:txBody>
      </p:sp>
      <p:sp>
        <p:nvSpPr>
          <p:cNvPr id="15" name="Rectangle 14"/>
          <p:cNvSpPr/>
          <p:nvPr/>
        </p:nvSpPr>
        <p:spPr>
          <a:xfrm>
            <a:off x="6091275" y="2894901"/>
            <a:ext cx="9144" cy="1841342"/>
          </a:xfrm>
          <a:prstGeom prst="rect">
            <a:avLst/>
          </a:prstGeom>
          <a:solidFill>
            <a:srgbClr val="D9E2EC"/>
          </a:solidFill>
          <a:ln>
            <a:noFill/>
          </a:ln>
          <a:effectLst/>
        </p:spPr>
        <p:txBody>
          <a:bodyPr rtlCol="0" anchor="ctr"/>
          <a:lstStyle/>
          <a:p>
            <a:pPr algn="ctr"/>
          </a:p>
        </p:txBody>
      </p:sp>
      <p:sp>
        <p:nvSpPr>
          <p:cNvPr id="16" name="Rectangle 15"/>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17" name="TextBox 16"/>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Gommers и соавт., Radiology 2025</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Пример 2: одна подсказка с двумя знаками</a:t>
            </a:r>
          </a:p>
        </p:txBody>
      </p:sp>
      <p:sp>
        <p:nvSpPr>
          <p:cNvPr id="4" name="Rounded Rectangle 3"/>
          <p:cNvSpPr/>
          <p:nvPr/>
        </p:nvSpPr>
        <p:spPr>
          <a:xfrm>
            <a:off x="502920" y="1335024"/>
            <a:ext cx="2673019" cy="2154071"/>
          </a:xfrm>
          <a:prstGeom prst="roundRect">
            <a:avLst>
              <a:gd name="adj" fmla="val 14149"/>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2398699"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ШАНСЫ ВЕРНОГО ОТВЕТА: МОДЕЛЬ ПРАВА → НЕПРАВА</a:t>
            </a:r>
          </a:p>
        </p:txBody>
      </p:sp>
      <p:sp>
        <p:nvSpPr>
          <p:cNvPr id="6" name="TextBox 5"/>
          <p:cNvSpPr txBox="1"/>
          <p:nvPr/>
        </p:nvSpPr>
        <p:spPr>
          <a:xfrm>
            <a:off x="640080" y="1932846"/>
            <a:ext cx="2398699" cy="1207845"/>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вчетверо вверх → вчетверо вниз</a:t>
            </a:r>
          </a:p>
        </p:txBody>
      </p:sp>
      <p:sp>
        <p:nvSpPr>
          <p:cNvPr id="7" name="TextBox 6"/>
          <p:cNvSpPr txBox="1"/>
          <p:nvPr/>
        </p:nvSpPr>
        <p:spPr>
          <a:xfrm>
            <a:off x="640080" y="3140692"/>
            <a:ext cx="2398699"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база — срез без подсказки</a:t>
            </a:r>
          </a:p>
        </p:txBody>
      </p:sp>
      <p:sp>
        <p:nvSpPr>
          <p:cNvPr id="8" name="Rounded Rectangle 7"/>
          <p:cNvSpPr/>
          <p:nvPr/>
        </p:nvSpPr>
        <p:spPr>
          <a:xfrm>
            <a:off x="3340531" y="1335024"/>
            <a:ext cx="2673019" cy="2154071"/>
          </a:xfrm>
          <a:prstGeom prst="roundRect">
            <a:avLst>
              <a:gd name="adj" fmla="val 14149"/>
            </a:avLst>
          </a:prstGeom>
          <a:solidFill>
            <a:srgbClr val="FFFFFF"/>
          </a:solidFill>
          <a:ln w="25400">
            <a:solidFill>
              <a:srgbClr val="F0AB00"/>
            </a:solidFill>
          </a:ln>
          <a:effectLst/>
        </p:spPr>
        <p:txBody>
          <a:bodyPr rtlCol="0" anchor="ctr"/>
          <a:lstStyle/>
          <a:p>
            <a:pPr algn="ctr"/>
          </a:p>
        </p:txBody>
      </p:sp>
      <p:sp>
        <p:nvSpPr>
          <p:cNvPr id="9" name="TextBox 8"/>
          <p:cNvSpPr txBox="1"/>
          <p:nvPr/>
        </p:nvSpPr>
        <p:spPr>
          <a:xfrm>
            <a:off x="3477691" y="1472184"/>
            <a:ext cx="2398699"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В ДОЛЯХ: МОДЕЛЬ ПРАВА → НЕПРАВА</a:t>
            </a:r>
          </a:p>
        </p:txBody>
      </p:sp>
      <p:sp>
        <p:nvSpPr>
          <p:cNvPr id="10" name="TextBox 9"/>
          <p:cNvSpPr txBox="1"/>
          <p:nvPr/>
        </p:nvSpPr>
        <p:spPr>
          <a:xfrm>
            <a:off x="3477691" y="1932846"/>
            <a:ext cx="2398699"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94 → 50 из ста</a:t>
            </a:r>
          </a:p>
        </p:txBody>
      </p:sp>
      <p:sp>
        <p:nvSpPr>
          <p:cNvPr id="11" name="TextBox 10"/>
          <p:cNvSpPr txBox="1"/>
          <p:nvPr/>
        </p:nvSpPr>
        <p:spPr>
          <a:xfrm>
            <a:off x="3477691" y="2359845"/>
            <a:ext cx="2398699"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опыт не защищает</a:t>
            </a:r>
          </a:p>
        </p:txBody>
      </p:sp>
      <p:sp>
        <p:nvSpPr>
          <p:cNvPr id="12" name="Rounded Rectangle 11"/>
          <p:cNvSpPr/>
          <p:nvPr/>
        </p:nvSpPr>
        <p:spPr>
          <a:xfrm>
            <a:off x="6178143" y="1335024"/>
            <a:ext cx="2673019" cy="2154071"/>
          </a:xfrm>
          <a:prstGeom prst="roundRect">
            <a:avLst>
              <a:gd name="adj" fmla="val 14149"/>
            </a:avLst>
          </a:prstGeom>
          <a:solidFill>
            <a:srgbClr val="F4F7FA"/>
          </a:solidFill>
          <a:ln w="15240">
            <a:solidFill>
              <a:srgbClr val="1C7293"/>
            </a:solidFill>
          </a:ln>
          <a:effectLst/>
        </p:spPr>
        <p:txBody>
          <a:bodyPr rtlCol="0" anchor="ctr"/>
          <a:lstStyle/>
          <a:p>
            <a:pPr algn="ctr"/>
          </a:p>
        </p:txBody>
      </p:sp>
      <p:sp>
        <p:nvSpPr>
          <p:cNvPr id="13" name="TextBox 12"/>
          <p:cNvSpPr txBox="1"/>
          <p:nvPr/>
        </p:nvSpPr>
        <p:spPr>
          <a:xfrm>
            <a:off x="6315303"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ДАЛО → ПОТРЕБОВАЛО</a:t>
            </a:r>
          </a:p>
        </p:txBody>
      </p:sp>
      <p:sp>
        <p:nvSpPr>
          <p:cNvPr id="14" name="TextBox 13"/>
          <p:cNvSpPr txBox="1"/>
          <p:nvPr/>
        </p:nvSpPr>
        <p:spPr>
          <a:xfrm>
            <a:off x="6315303" y="1725375"/>
            <a:ext cx="2398699" cy="902297"/>
          </a:xfrm>
          <a:prstGeom prst="rect">
            <a:avLst/>
          </a:prstGeom>
          <a:noFill/>
        </p:spPr>
        <p:txBody>
          <a:bodyPr wrap="square" lIns="0" rIns="0" tIns="0" bIns="0" anchor="t">
            <a:spAutoFit/>
          </a:bodyPr>
          <a:lstStyle/>
          <a:p>
            <a:pPr algn="l">
              <a:lnSpc>
                <a:spcPct val="108000"/>
              </a:lnSpc>
            </a:pPr>
            <a:r>
              <a:rPr sz="1700" b="1" i="0">
                <a:solidFill>
                  <a:srgbClr val="21295C"/>
                </a:solidFill>
                <a:latin typeface="Arial"/>
              </a:rPr>
              <a:t>прибавку при верной → равную потерю при неверной</a:t>
            </a:r>
          </a:p>
        </p:txBody>
      </p:sp>
      <p:sp>
        <p:nvSpPr>
          <p:cNvPr id="15" name="Rounded Rectangle 14"/>
          <p:cNvSpPr/>
          <p:nvPr/>
        </p:nvSpPr>
        <p:spPr>
          <a:xfrm>
            <a:off x="9015755" y="1335024"/>
            <a:ext cx="2673019" cy="2154071"/>
          </a:xfrm>
          <a:prstGeom prst="roundRect">
            <a:avLst>
              <a:gd name="adj" fmla="val 14149"/>
            </a:avLst>
          </a:prstGeom>
          <a:solidFill>
            <a:srgbClr val="FFFFFF"/>
          </a:solidFill>
          <a:ln w="25400">
            <a:solidFill>
              <a:srgbClr val="F0AB00"/>
            </a:solidFill>
          </a:ln>
          <a:effectLst/>
        </p:spPr>
        <p:txBody>
          <a:bodyPr rtlCol="0" anchor="ctr"/>
          <a:lstStyle/>
          <a:p>
            <a:pPr algn="ctr"/>
          </a:p>
        </p:txBody>
      </p:sp>
      <p:sp>
        <p:nvSpPr>
          <p:cNvPr id="16" name="TextBox 15"/>
          <p:cNvSpPr txBox="1"/>
          <p:nvPr/>
        </p:nvSpPr>
        <p:spPr>
          <a:xfrm>
            <a:off x="9152915"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В СУММЕ</a:t>
            </a:r>
          </a:p>
        </p:txBody>
      </p:sp>
      <p:sp>
        <p:nvSpPr>
          <p:cNvPr id="17" name="TextBox 16"/>
          <p:cNvSpPr txBox="1"/>
          <p:nvPr/>
        </p:nvSpPr>
        <p:spPr>
          <a:xfrm>
            <a:off x="9152915" y="1725375"/>
            <a:ext cx="2398699" cy="817422"/>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средняя та же, разброс вырос</a:t>
            </a:r>
          </a:p>
        </p:txBody>
      </p:sp>
      <p:sp>
        <p:nvSpPr>
          <p:cNvPr id="18" name="Rounded Rectangle 17"/>
          <p:cNvSpPr/>
          <p:nvPr/>
        </p:nvSpPr>
        <p:spPr>
          <a:xfrm>
            <a:off x="374904" y="3580535"/>
            <a:ext cx="11441887" cy="2145586"/>
          </a:xfrm>
          <a:prstGeom prst="roundRect">
            <a:avLst>
              <a:gd name="adj" fmla="val 14205"/>
            </a:avLst>
          </a:prstGeom>
          <a:solidFill>
            <a:srgbClr val="F4F7FA"/>
          </a:solidFill>
          <a:ln w="19050">
            <a:solidFill>
              <a:srgbClr val="1C7293"/>
            </a:solidFill>
          </a:ln>
          <a:effectLst/>
        </p:spPr>
        <p:txBody>
          <a:bodyPr rtlCol="0" anchor="ctr"/>
          <a:lstStyle/>
          <a:p>
            <a:pPr algn="ctr"/>
          </a:p>
        </p:txBody>
      </p:sp>
      <p:sp>
        <p:nvSpPr>
          <p:cNvPr id="19" name="TextBox 18"/>
          <p:cNvSpPr txBox="1"/>
          <p:nvPr/>
        </p:nvSpPr>
        <p:spPr>
          <a:xfrm>
            <a:off x="539496" y="3671975"/>
            <a:ext cx="5373471" cy="2564232"/>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Цена обеих ошибок.</a:t>
            </a:r>
            <a:r>
              <a:rPr sz="1500" b="0" i="0">
                <a:solidFill>
                  <a:srgbClr val="21295C"/>
                </a:solidFill>
                <a:latin typeface="Arial"/>
              </a:rPr>
              <a:t> Спутать два вида опухоли — другое лечение; перепроверка — время специалиста.</a:t>
            </a:r>
          </a:p>
          <a:p>
            <a:pPr algn="l">
              <a:lnSpc>
                <a:spcPct val="126000"/>
              </a:lnSpc>
              <a:spcBef>
                <a:spcPts val="700"/>
              </a:spcBef>
            </a:pPr>
            <a:r>
              <a:rPr sz="1500" b="0" i="0">
                <a:solidFill>
                  <a:srgbClr val="21295C"/>
                </a:solidFill>
                <a:latin typeface="Arial"/>
              </a:rPr>
              <a:t/>
            </a:r>
            <a:r>
              <a:rPr sz="1500" b="1" i="0">
                <a:solidFill>
                  <a:srgbClr val="21295C"/>
                </a:solidFill>
                <a:latin typeface="Arial"/>
              </a:rPr>
              <a:t>Классические режимы:</a:t>
            </a:r>
            <a:r>
              <a:rPr sz="1500" b="0" i="0">
                <a:solidFill>
                  <a:srgbClr val="21295C"/>
                </a:solidFill>
                <a:latin typeface="Arial"/>
              </a:rPr>
              <a:t> один патолог на срезе — база; второе мнение субспециалиста названо, не измерено.</a:t>
            </a:r>
          </a:p>
        </p:txBody>
      </p:sp>
      <p:sp>
        <p:nvSpPr>
          <p:cNvPr id="20" name="TextBox 19"/>
          <p:cNvSpPr txBox="1"/>
          <p:nvPr/>
        </p:nvSpPr>
        <p:spPr>
          <a:xfrm>
            <a:off x="6278727" y="3671975"/>
            <a:ext cx="5373471" cy="2564232"/>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Устроено.</a:t>
            </a:r>
            <a:r>
              <a:rPr sz="1500" b="0" i="0">
                <a:solidFill>
                  <a:srgbClr val="21295C"/>
                </a:solidFill>
                <a:latin typeface="Arial"/>
              </a:rPr>
              <a:t> Вход — оцифрованный срез, выход — один из двух диагнозов; точность модели на независимом наборе </a:t>
            </a:r>
            <a:r>
              <a:rPr sz="1500" b="1" i="0">
                <a:solidFill>
                  <a:srgbClr val="21295C"/>
                </a:solidFill>
                <a:latin typeface="Arial"/>
              </a:rPr>
              <a:t>0,842</a:t>
            </a:r>
            <a:r>
              <a:rPr sz="1500" b="0" i="0">
                <a:solidFill>
                  <a:srgbClr val="21295C"/>
                </a:solidFill>
                <a:latin typeface="Arial"/>
              </a:rPr>
              <a:t>. </a:t>
            </a:r>
            <a:r>
              <a:rPr sz="1500" b="1" i="0">
                <a:solidFill>
                  <a:srgbClr val="21295C"/>
                </a:solidFill>
                <a:latin typeface="Arial"/>
              </a:rPr>
              <a:t>Имени изделия работа не печатает.</a:t>
            </a:r>
          </a:p>
          <a:p>
            <a:pPr algn="l">
              <a:lnSpc>
                <a:spcPct val="126000"/>
              </a:lnSpc>
              <a:spcBef>
                <a:spcPts val="700"/>
              </a:spcBef>
            </a:pPr>
            <a:r>
              <a:rPr sz="1500" b="0" i="0">
                <a:solidFill>
                  <a:srgbClr val="21295C"/>
                </a:solidFill>
                <a:latin typeface="Arial"/>
              </a:rPr>
              <a:t/>
            </a:r>
            <a:r>
              <a:rPr sz="1500" b="1" i="0">
                <a:solidFill>
                  <a:srgbClr val="21295C"/>
                </a:solidFill>
                <a:latin typeface="Arial"/>
              </a:rPr>
              <a:t>Что переехало.</a:t>
            </a:r>
            <a:r>
              <a:rPr sz="1500" b="0" i="0">
                <a:solidFill>
                  <a:srgbClr val="21295C"/>
                </a:solidFill>
                <a:latin typeface="Arial"/>
              </a:rPr>
              <a:t> Ошибка модели стала ошибкой врача — подпись ставит он. </a:t>
            </a:r>
            <a:r>
              <a:rPr sz="1500" b="1" i="0">
                <a:solidFill>
                  <a:srgbClr val="21295C"/>
                </a:solidFill>
                <a:latin typeface="Arial"/>
              </a:rPr>
              <a:t>«Эффекта нет» в отчёте с одним числом:</a:t>
            </a:r>
            <a:r>
              <a:rPr sz="1500" b="0" i="0">
                <a:solidFill>
                  <a:srgbClr val="21295C"/>
                </a:solidFill>
                <a:latin typeface="Arial"/>
              </a:rPr>
              <a:t> на группе прибавка незначима.</a:t>
            </a:r>
          </a:p>
        </p:txBody>
      </p:sp>
      <p:sp>
        <p:nvSpPr>
          <p:cNvPr id="21" name="Rectangle 20"/>
          <p:cNvSpPr/>
          <p:nvPr/>
        </p:nvSpPr>
        <p:spPr>
          <a:xfrm>
            <a:off x="6091275" y="3671975"/>
            <a:ext cx="9144" cy="1871266"/>
          </a:xfrm>
          <a:prstGeom prst="rect">
            <a:avLst/>
          </a:prstGeom>
          <a:solidFill>
            <a:srgbClr val="D9E2EC"/>
          </a:solidFill>
          <a:ln>
            <a:noFill/>
          </a:ln>
          <a:effectLst/>
        </p:spPr>
        <p:txBody>
          <a:bodyPr rtlCol="0" anchor="ctr"/>
          <a:lstStyle/>
          <a:p>
            <a:pPr algn="ctr"/>
          </a:p>
        </p:txBody>
      </p:sp>
      <p:sp>
        <p:nvSpPr>
          <p:cNvPr id="22" name="Rectangle 21"/>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23" name="TextBox 22"/>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Kiani и соавт., npj Digital Medicine 2020</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Пример 3: измеренная тройка</a:t>
            </a:r>
          </a:p>
        </p:txBody>
      </p:sp>
      <p:sp>
        <p:nvSpPr>
          <p:cNvPr id="4" name="Rectangle 3"/>
          <p:cNvSpPr/>
          <p:nvPr/>
        </p:nvSpPr>
        <p:spPr>
          <a:xfrm>
            <a:off x="754380" y="2005998"/>
            <a:ext cx="10682935" cy="50292"/>
          </a:xfrm>
          <a:prstGeom prst="rect">
            <a:avLst/>
          </a:prstGeom>
          <a:solidFill>
            <a:srgbClr val="1C7293"/>
          </a:solidFill>
          <a:ln>
            <a:noFill/>
          </a:ln>
          <a:effectLst/>
        </p:spPr>
        <p:txBody>
          <a:bodyPr rtlCol="0" anchor="ctr"/>
          <a:lstStyle/>
          <a:p>
            <a:pPr algn="ctr"/>
          </a:p>
        </p:txBody>
      </p:sp>
      <p:sp>
        <p:nvSpPr>
          <p:cNvPr id="5" name="TextBox 4"/>
          <p:cNvSpPr txBox="1"/>
          <p:nvPr/>
        </p:nvSpPr>
        <p:spPr>
          <a:xfrm>
            <a:off x="388620" y="2092866"/>
            <a:ext cx="731520" cy="219456"/>
          </a:xfrm>
          <a:prstGeom prst="rect">
            <a:avLst/>
          </a:prstGeom>
          <a:noFill/>
        </p:spPr>
        <p:txBody>
          <a:bodyPr wrap="square" lIns="0" rIns="0" tIns="0" bIns="0" anchor="t">
            <a:spAutoFit/>
          </a:bodyPr>
          <a:lstStyle/>
          <a:p>
            <a:pPr algn="ctr">
              <a:lnSpc>
                <a:spcPct val="100000"/>
              </a:lnSpc>
            </a:pPr>
            <a:r>
              <a:rPr sz="1200" b="0" i="0">
                <a:solidFill>
                  <a:srgbClr val="556070"/>
                </a:solidFill>
                <a:latin typeface="Arial"/>
              </a:rPr>
              <a:t>70</a:t>
            </a:r>
          </a:p>
        </p:txBody>
      </p:sp>
      <p:sp>
        <p:nvSpPr>
          <p:cNvPr id="6" name="TextBox 5"/>
          <p:cNvSpPr txBox="1"/>
          <p:nvPr/>
        </p:nvSpPr>
        <p:spPr>
          <a:xfrm>
            <a:off x="11071555" y="2092866"/>
            <a:ext cx="731520" cy="219456"/>
          </a:xfrm>
          <a:prstGeom prst="rect">
            <a:avLst/>
          </a:prstGeom>
          <a:noFill/>
        </p:spPr>
        <p:txBody>
          <a:bodyPr wrap="square" lIns="0" rIns="0" tIns="0" bIns="0" anchor="t">
            <a:spAutoFit/>
          </a:bodyPr>
          <a:lstStyle/>
          <a:p>
            <a:pPr algn="ctr">
              <a:lnSpc>
                <a:spcPct val="100000"/>
              </a:lnSpc>
            </a:pPr>
            <a:r>
              <a:rPr sz="1200" b="0" i="0">
                <a:solidFill>
                  <a:srgbClr val="556070"/>
                </a:solidFill>
                <a:latin typeface="Arial"/>
              </a:rPr>
              <a:t>100</a:t>
            </a:r>
          </a:p>
        </p:txBody>
      </p:sp>
      <p:sp>
        <p:nvSpPr>
          <p:cNvPr id="7" name="Rectangle 6"/>
          <p:cNvSpPr/>
          <p:nvPr/>
        </p:nvSpPr>
        <p:spPr>
          <a:xfrm>
            <a:off x="836676" y="1925531"/>
            <a:ext cx="37033" cy="211226"/>
          </a:xfrm>
          <a:prstGeom prst="rect">
            <a:avLst/>
          </a:prstGeom>
          <a:solidFill>
            <a:srgbClr val="FFFFFF"/>
          </a:solidFill>
          <a:ln>
            <a:noFill/>
          </a:ln>
          <a:effectLst/>
        </p:spPr>
        <p:txBody>
          <a:bodyPr rtlCol="0" anchor="ctr"/>
          <a:lstStyle/>
          <a:p>
            <a:pPr algn="ctr"/>
          </a:p>
        </p:txBody>
      </p:sp>
      <p:sp>
        <p:nvSpPr>
          <p:cNvPr id="8" name="Rectangle 7"/>
          <p:cNvSpPr/>
          <p:nvPr/>
        </p:nvSpPr>
        <p:spPr>
          <a:xfrm>
            <a:off x="910742" y="1925531"/>
            <a:ext cx="37033" cy="211226"/>
          </a:xfrm>
          <a:prstGeom prst="rect">
            <a:avLst/>
          </a:prstGeom>
          <a:solidFill>
            <a:srgbClr val="FFFFFF"/>
          </a:solidFill>
          <a:ln>
            <a:noFill/>
          </a:ln>
          <a:effectLst/>
        </p:spPr>
        <p:txBody>
          <a:bodyPr rtlCol="0" anchor="ctr"/>
          <a:lstStyle/>
          <a:p>
            <a:pPr algn="ctr"/>
          </a:p>
        </p:txBody>
      </p:sp>
      <p:sp>
        <p:nvSpPr>
          <p:cNvPr id="9" name="Rectangle 8"/>
          <p:cNvSpPr/>
          <p:nvPr/>
        </p:nvSpPr>
        <p:spPr>
          <a:xfrm>
            <a:off x="8446038" y="1841406"/>
            <a:ext cx="50292" cy="164592"/>
          </a:xfrm>
          <a:prstGeom prst="rect">
            <a:avLst/>
          </a:prstGeom>
          <a:solidFill>
            <a:srgbClr val="065A82"/>
          </a:solidFill>
          <a:ln>
            <a:noFill/>
          </a:ln>
          <a:effectLst/>
        </p:spPr>
        <p:txBody>
          <a:bodyPr rtlCol="0" anchor="ctr"/>
          <a:lstStyle/>
          <a:p>
            <a:pPr algn="ctr"/>
          </a:p>
        </p:txBody>
      </p:sp>
      <p:sp>
        <p:nvSpPr>
          <p:cNvPr id="10" name="TextBox 9"/>
          <p:cNvSpPr txBox="1"/>
          <p:nvPr/>
        </p:nvSpPr>
        <p:spPr>
          <a:xfrm>
            <a:off x="6606875" y="1335024"/>
            <a:ext cx="3728618" cy="414942"/>
          </a:xfrm>
          <a:prstGeom prst="rect">
            <a:avLst/>
          </a:prstGeom>
          <a:noFill/>
        </p:spPr>
        <p:txBody>
          <a:bodyPr wrap="square" lIns="0" rIns="0" tIns="0" bIns="0" anchor="b">
            <a:spAutoFit/>
          </a:bodyPr>
          <a:lstStyle/>
          <a:p>
            <a:pPr algn="ctr">
              <a:lnSpc>
                <a:spcPct val="110000"/>
              </a:lnSpc>
            </a:pPr>
            <a:r>
              <a:rPr sz="1200" b="0" i="0">
                <a:solidFill>
                  <a:srgbClr val="21295C"/>
                </a:solidFill>
                <a:latin typeface="Arial"/>
              </a:rPr>
              <a:t>92</a:t>
            </a:r>
          </a:p>
          <a:p>
            <a:pPr algn="ctr">
              <a:lnSpc>
                <a:spcPct val="110000"/>
              </a:lnSpc>
            </a:pPr>
            <a:r>
              <a:rPr sz="1200" b="0" i="0">
                <a:solidFill>
                  <a:srgbClr val="21295C"/>
                </a:solidFill>
                <a:latin typeface="Arial"/>
              </a:rPr>
              <a:t>Модель одна</a:t>
            </a:r>
          </a:p>
        </p:txBody>
      </p:sp>
      <p:sp>
        <p:nvSpPr>
          <p:cNvPr id="11" name="Rectangle 10"/>
          <p:cNvSpPr/>
          <p:nvPr/>
        </p:nvSpPr>
        <p:spPr>
          <a:xfrm>
            <a:off x="2338029" y="1841406"/>
            <a:ext cx="50292" cy="164592"/>
          </a:xfrm>
          <a:prstGeom prst="rect">
            <a:avLst/>
          </a:prstGeom>
          <a:solidFill>
            <a:srgbClr val="065A82"/>
          </a:solidFill>
          <a:ln>
            <a:noFill/>
          </a:ln>
          <a:effectLst/>
        </p:spPr>
        <p:txBody>
          <a:bodyPr rtlCol="0" anchor="ctr"/>
          <a:lstStyle/>
          <a:p>
            <a:pPr algn="ctr"/>
          </a:p>
        </p:txBody>
      </p:sp>
      <p:sp>
        <p:nvSpPr>
          <p:cNvPr id="12" name="TextBox 11"/>
          <p:cNvSpPr txBox="1"/>
          <p:nvPr/>
        </p:nvSpPr>
        <p:spPr>
          <a:xfrm>
            <a:off x="498866" y="1335024"/>
            <a:ext cx="3728618" cy="414942"/>
          </a:xfrm>
          <a:prstGeom prst="rect">
            <a:avLst/>
          </a:prstGeom>
          <a:noFill/>
        </p:spPr>
        <p:txBody>
          <a:bodyPr wrap="square" lIns="0" rIns="0" tIns="0" bIns="0" anchor="b">
            <a:spAutoFit/>
          </a:bodyPr>
          <a:lstStyle/>
          <a:p>
            <a:pPr algn="ctr">
              <a:lnSpc>
                <a:spcPct val="110000"/>
              </a:lnSpc>
            </a:pPr>
            <a:r>
              <a:rPr sz="1200" b="0" i="0">
                <a:solidFill>
                  <a:srgbClr val="21295C"/>
                </a:solidFill>
                <a:latin typeface="Arial"/>
              </a:rPr>
              <a:t>74</a:t>
            </a:r>
          </a:p>
          <a:p>
            <a:pPr algn="ctr">
              <a:lnSpc>
                <a:spcPct val="110000"/>
              </a:lnSpc>
            </a:pPr>
            <a:r>
              <a:rPr sz="1200" b="0" i="0">
                <a:solidFill>
                  <a:srgbClr val="21295C"/>
                </a:solidFill>
                <a:latin typeface="Arial"/>
              </a:rPr>
              <a:t>Врач один</a:t>
            </a:r>
          </a:p>
        </p:txBody>
      </p:sp>
      <p:sp>
        <p:nvSpPr>
          <p:cNvPr id="13" name="Rectangle 12"/>
          <p:cNvSpPr/>
          <p:nvPr/>
        </p:nvSpPr>
        <p:spPr>
          <a:xfrm>
            <a:off x="3016697" y="2056290"/>
            <a:ext cx="50292" cy="164592"/>
          </a:xfrm>
          <a:prstGeom prst="rect">
            <a:avLst/>
          </a:prstGeom>
          <a:solidFill>
            <a:srgbClr val="F0AB00"/>
          </a:solidFill>
          <a:ln>
            <a:noFill/>
          </a:ln>
          <a:effectLst/>
        </p:spPr>
        <p:txBody>
          <a:bodyPr rtlCol="0" anchor="ctr"/>
          <a:lstStyle/>
          <a:p>
            <a:pPr algn="ctr"/>
          </a:p>
        </p:txBody>
      </p:sp>
      <p:sp>
        <p:nvSpPr>
          <p:cNvPr id="14" name="TextBox 13"/>
          <p:cNvSpPr txBox="1"/>
          <p:nvPr/>
        </p:nvSpPr>
        <p:spPr>
          <a:xfrm>
            <a:off x="1177533" y="2312322"/>
            <a:ext cx="3728618" cy="414942"/>
          </a:xfrm>
          <a:prstGeom prst="rect">
            <a:avLst/>
          </a:prstGeom>
          <a:noFill/>
        </p:spPr>
        <p:txBody>
          <a:bodyPr wrap="square" lIns="0" rIns="0" tIns="0" bIns="0" anchor="t">
            <a:spAutoFit/>
          </a:bodyPr>
          <a:lstStyle/>
          <a:p>
            <a:pPr algn="ctr">
              <a:lnSpc>
                <a:spcPct val="110000"/>
              </a:lnSpc>
            </a:pPr>
            <a:r>
              <a:rPr sz="1200" b="0" i="0">
                <a:solidFill>
                  <a:srgbClr val="21295C"/>
                </a:solidFill>
                <a:latin typeface="Arial"/>
              </a:rPr>
              <a:t>76</a:t>
            </a:r>
          </a:p>
          <a:p>
            <a:pPr algn="ctr">
              <a:lnSpc>
                <a:spcPct val="110000"/>
              </a:lnSpc>
            </a:pPr>
            <a:r>
              <a:rPr sz="1200" b="0" i="0">
                <a:solidFill>
                  <a:srgbClr val="21295C"/>
                </a:solidFill>
                <a:latin typeface="Arial"/>
              </a:rPr>
              <a:t>Врач поверх модели</a:t>
            </a:r>
          </a:p>
        </p:txBody>
      </p:sp>
      <p:sp>
        <p:nvSpPr>
          <p:cNvPr id="15" name="TextBox 14"/>
          <p:cNvSpPr txBox="1"/>
          <p:nvPr/>
        </p:nvSpPr>
        <p:spPr>
          <a:xfrm>
            <a:off x="502920" y="2836993"/>
            <a:ext cx="11185855" cy="219456"/>
          </a:xfrm>
          <a:prstGeom prst="rect">
            <a:avLst/>
          </a:prstGeom>
          <a:noFill/>
        </p:spPr>
        <p:txBody>
          <a:bodyPr wrap="square" lIns="0" rIns="0" tIns="0" bIns="0" anchor="t">
            <a:spAutoFit/>
          </a:bodyPr>
          <a:lstStyle/>
          <a:p>
            <a:pPr algn="ctr">
              <a:lnSpc>
                <a:spcPct val="100000"/>
              </a:lnSpc>
            </a:pPr>
            <a:r>
              <a:rPr sz="1200" b="1" i="0">
                <a:solidFill>
                  <a:srgbClr val="065A82"/>
                </a:solidFill>
                <a:latin typeface="Arial"/>
              </a:rPr>
              <a:t>медианный балл структурированного рассуждения, % от максимума · виньетки одни и те же; справочники у врача без модели</a:t>
            </a:r>
          </a:p>
        </p:txBody>
      </p:sp>
      <p:sp>
        <p:nvSpPr>
          <p:cNvPr id="16" name="TextBox 15"/>
          <p:cNvSpPr txBox="1"/>
          <p:nvPr/>
        </p:nvSpPr>
        <p:spPr>
          <a:xfrm>
            <a:off x="502920" y="3129601"/>
            <a:ext cx="11185855" cy="215015"/>
          </a:xfrm>
          <a:prstGeom prst="rect">
            <a:avLst/>
          </a:prstGeom>
          <a:noFill/>
        </p:spPr>
        <p:txBody>
          <a:bodyPr wrap="square" lIns="0" rIns="0" tIns="0" bIns="0" anchor="t">
            <a:spAutoFit/>
          </a:bodyPr>
          <a:lstStyle/>
          <a:p>
            <a:pPr algn="l">
              <a:lnSpc>
                <a:spcPct val="114000"/>
              </a:lnSpc>
            </a:pPr>
            <a:r>
              <a:rPr sz="1200" b="0" i="1">
                <a:solidFill>
                  <a:srgbClr val="1C7293"/>
                </a:solidFill>
                <a:latin typeface="Arial"/>
              </a:rPr>
              <a:t>интервал разницы — от −4 до 8 пунктов</a:t>
            </a:r>
          </a:p>
        </p:txBody>
      </p:sp>
      <p:sp>
        <p:nvSpPr>
          <p:cNvPr id="17" name="Rounded Rectangle 16"/>
          <p:cNvSpPr/>
          <p:nvPr/>
        </p:nvSpPr>
        <p:spPr>
          <a:xfrm>
            <a:off x="374904" y="3436056"/>
            <a:ext cx="11441887" cy="2800151"/>
          </a:xfrm>
          <a:prstGeom prst="roundRect">
            <a:avLst>
              <a:gd name="adj" fmla="val 10885"/>
            </a:avLst>
          </a:prstGeom>
          <a:solidFill>
            <a:srgbClr val="F4F7FA"/>
          </a:solidFill>
          <a:ln w="19050">
            <a:solidFill>
              <a:srgbClr val="1C7293"/>
            </a:solidFill>
          </a:ln>
          <a:effectLst/>
        </p:spPr>
        <p:txBody>
          <a:bodyPr rtlCol="0" anchor="ctr"/>
          <a:lstStyle/>
          <a:p>
            <a:pPr algn="ctr"/>
          </a:p>
        </p:txBody>
      </p:sp>
      <p:sp>
        <p:nvSpPr>
          <p:cNvPr id="18" name="TextBox 17"/>
          <p:cNvSpPr txBox="1"/>
          <p:nvPr/>
        </p:nvSpPr>
        <p:spPr>
          <a:xfrm>
            <a:off x="539496" y="3527496"/>
            <a:ext cx="5373471" cy="2708711"/>
          </a:xfrm>
          <a:prstGeom prst="rect">
            <a:avLst/>
          </a:prstGeom>
          <a:noFill/>
        </p:spPr>
        <p:txBody>
          <a:bodyPr wrap="square" lIns="0" rIns="0" tIns="0" bIns="0" anchor="t">
            <a:spAutoFit/>
          </a:bodyPr>
          <a:lstStyle/>
          <a:p>
            <a:pPr algn="l">
              <a:lnSpc>
                <a:spcPct val="126000"/>
              </a:lnSpc>
            </a:pPr>
            <a:r>
              <a:rPr sz="1300" b="1" i="0">
                <a:solidFill>
                  <a:srgbClr val="21295C"/>
                </a:solidFill>
                <a:latin typeface="Arial"/>
              </a:rPr>
              <a:t>Цена обеих ошибок.</a:t>
            </a:r>
            <a:r>
              <a:rPr sz="1300" b="0" i="0">
                <a:solidFill>
                  <a:srgbClr val="21295C"/>
                </a:solidFill>
                <a:latin typeface="Arial"/>
              </a:rPr>
              <a:t> Неверный диагноз — лечение чужой болезни. Избыточная проверка — свой риск.</a:t>
            </a:r>
          </a:p>
          <a:p>
            <a:pPr algn="l">
              <a:lnSpc>
                <a:spcPct val="126000"/>
              </a:lnSpc>
              <a:spcBef>
                <a:spcPts val="700"/>
              </a:spcBef>
            </a:pPr>
            <a:r>
              <a:rPr sz="1300" b="0" i="0">
                <a:solidFill>
                  <a:srgbClr val="21295C"/>
                </a:solidFill>
                <a:latin typeface="Arial"/>
              </a:rPr>
              <a:t/>
            </a:r>
            <a:r>
              <a:rPr sz="1300" b="1" i="0">
                <a:solidFill>
                  <a:srgbClr val="21295C"/>
                </a:solidFill>
                <a:latin typeface="Arial"/>
              </a:rPr>
              <a:t>Как работали.</a:t>
            </a:r>
            <a:r>
              <a:rPr sz="1300" b="0" i="0">
                <a:solidFill>
                  <a:srgbClr val="21295C"/>
                </a:solidFill>
                <a:latin typeface="Arial"/>
              </a:rPr>
              <a:t> Пятьдесят практикующих врачей читали письменные описания реальных случаев — жалобы, анамнез, уже готовые результаты исследований — и строили рассуждение: гипотезы, обоснование, какие проверки назначить. Пять случаев на врача.</a:t>
            </a:r>
          </a:p>
          <a:p>
            <a:pPr algn="l">
              <a:lnSpc>
                <a:spcPct val="126000"/>
              </a:lnSpc>
              <a:spcBef>
                <a:spcPts val="700"/>
              </a:spcBef>
            </a:pPr>
            <a:r>
              <a:rPr sz="1300" b="0" i="0">
                <a:solidFill>
                  <a:srgbClr val="21295C"/>
                </a:solidFill>
                <a:latin typeface="Arial"/>
              </a:rPr>
              <a:t/>
            </a:r>
            <a:r>
              <a:rPr sz="1300" b="1" i="0">
                <a:solidFill>
                  <a:srgbClr val="21295C"/>
                </a:solidFill>
                <a:latin typeface="Arial"/>
              </a:rPr>
              <a:t>Жребием развели только два человеческих состояния</a:t>
            </a:r>
            <a:r>
              <a:rPr sz="1300" b="0" i="0">
                <a:solidFill>
                  <a:srgbClr val="21295C"/>
                </a:solidFill>
                <a:latin typeface="Arial"/>
              </a:rPr>
              <a:t> — со справочниками и с моделью. «Модель одна» — отдельный прогон по тем же задачам, третьим плечом он не был.</a:t>
            </a:r>
          </a:p>
        </p:txBody>
      </p:sp>
      <p:sp>
        <p:nvSpPr>
          <p:cNvPr id="19" name="TextBox 18"/>
          <p:cNvSpPr txBox="1"/>
          <p:nvPr/>
        </p:nvSpPr>
        <p:spPr>
          <a:xfrm>
            <a:off x="6278727" y="3527496"/>
            <a:ext cx="5373471" cy="2708711"/>
          </a:xfrm>
          <a:prstGeom prst="rect">
            <a:avLst/>
          </a:prstGeom>
          <a:noFill/>
        </p:spPr>
        <p:txBody>
          <a:bodyPr wrap="square" lIns="0" rIns="0" tIns="0" bIns="0" anchor="t">
            <a:spAutoFit/>
          </a:bodyPr>
          <a:lstStyle/>
          <a:p>
            <a:pPr algn="l">
              <a:lnSpc>
                <a:spcPct val="126000"/>
              </a:lnSpc>
            </a:pPr>
            <a:r>
              <a:rPr sz="1300" b="1" i="0">
                <a:solidFill>
                  <a:srgbClr val="21295C"/>
                </a:solidFill>
                <a:latin typeface="Arial"/>
              </a:rPr>
              <a:t>74 из ста:</a:t>
            </a:r>
            <a:r>
              <a:rPr sz="1300" b="0" i="0">
                <a:solidFill>
                  <a:srgbClr val="21295C"/>
                </a:solidFill>
                <a:latin typeface="Arial"/>
              </a:rPr>
              <a:t> четверть балла рассуждения не набрана — и это врач со справочниками, без всякой модели.</a:t>
            </a:r>
          </a:p>
          <a:p>
            <a:pPr algn="l">
              <a:lnSpc>
                <a:spcPct val="126000"/>
              </a:lnSpc>
              <a:spcBef>
                <a:spcPts val="700"/>
              </a:spcBef>
            </a:pPr>
            <a:r>
              <a:rPr sz="1300" b="0" i="0">
                <a:solidFill>
                  <a:srgbClr val="21295C"/>
                </a:solidFill>
                <a:latin typeface="Arial"/>
              </a:rPr>
              <a:t/>
            </a:r>
            <a:r>
              <a:rPr sz="1300" b="1" i="0">
                <a:solidFill>
                  <a:srgbClr val="21295C"/>
                </a:solidFill>
                <a:latin typeface="Arial"/>
              </a:rPr>
              <a:t>Устроено.</a:t>
            </a:r>
            <a:r>
              <a:rPr sz="1300" b="0" i="0">
                <a:solidFill>
                  <a:srgbClr val="21295C"/>
                </a:solidFill>
                <a:latin typeface="Arial"/>
              </a:rPr>
              <a:t> Вход — то же описание случая, выход — рассуждение словами. </a:t>
            </a:r>
            <a:r>
              <a:rPr sz="1300" b="1" i="0">
                <a:solidFill>
                  <a:srgbClr val="21295C"/>
                </a:solidFill>
                <a:latin typeface="Arial"/>
              </a:rPr>
              <a:t>Модель не названа: «большая языковая модель».</a:t>
            </a:r>
          </a:p>
          <a:p>
            <a:pPr algn="l">
              <a:lnSpc>
                <a:spcPct val="126000"/>
              </a:lnSpc>
              <a:spcBef>
                <a:spcPts val="700"/>
              </a:spcBef>
            </a:pPr>
            <a:r>
              <a:rPr sz="1300" b="0" i="0">
                <a:solidFill>
                  <a:srgbClr val="21295C"/>
                </a:solidFill>
                <a:latin typeface="Arial"/>
              </a:rPr>
              <a:t/>
            </a:r>
            <a:r>
              <a:rPr sz="1300" b="1" i="0">
                <a:solidFill>
                  <a:srgbClr val="21295C"/>
                </a:solidFill>
                <a:latin typeface="Arial"/>
              </a:rPr>
              <a:t>Что переехало.</a:t>
            </a:r>
            <a:r>
              <a:rPr sz="1300" b="0" i="0">
                <a:solidFill>
                  <a:srgbClr val="21295C"/>
                </a:solidFill>
                <a:latin typeface="Arial"/>
              </a:rPr>
              <a:t> Сменился исполнитель: место и объём те же, рука другая. </a:t>
            </a:r>
            <a:r>
              <a:rPr sz="1300" b="1" i="0">
                <a:solidFill>
                  <a:srgbClr val="21295C"/>
                </a:solidFill>
                <a:latin typeface="Arial"/>
              </a:rPr>
              <a:t>Улучшения не фиксирует ни одна форма словаря.</a:t>
            </a:r>
          </a:p>
          <a:p>
            <a:pPr algn="l">
              <a:lnSpc>
                <a:spcPct val="126000"/>
              </a:lnSpc>
              <a:spcBef>
                <a:spcPts val="700"/>
              </a:spcBef>
            </a:pPr>
            <a:r>
              <a:rPr sz="1300" b="0" i="0">
                <a:solidFill>
                  <a:srgbClr val="21295C"/>
                </a:solidFill>
                <a:latin typeface="Arial"/>
              </a:rPr>
              <a:t/>
            </a:r>
            <a:r>
              <a:rPr sz="1300" b="1" i="0">
                <a:solidFill>
                  <a:srgbClr val="21295C"/>
                </a:solidFill>
                <a:latin typeface="Arial"/>
              </a:rPr>
              <a:t>Дало</a:t>
            </a:r>
            <a:r>
              <a:rPr sz="1300" b="0" i="0">
                <a:solidFill>
                  <a:srgbClr val="21295C"/>
                </a:solidFill>
                <a:latin typeface="Arial"/>
              </a:rPr>
              <a:t> ничего измеримого — это измеренный ноль, не отсутствие данных. </a:t>
            </a:r>
            <a:r>
              <a:rPr sz="1300" b="1" i="0">
                <a:solidFill>
                  <a:srgbClr val="21295C"/>
                </a:solidFill>
                <a:latin typeface="Arial"/>
              </a:rPr>
              <a:t>Потребовало</a:t>
            </a:r>
            <a:r>
              <a:rPr sz="1300" b="0" i="0">
                <a:solidFill>
                  <a:srgbClr val="21295C"/>
                </a:solidFill>
                <a:latin typeface="Arial"/>
              </a:rPr>
              <a:t> доступ и новый шаг в рассуждении. </a:t>
            </a:r>
            <a:r>
              <a:rPr sz="1300" b="1" i="0">
                <a:solidFill>
                  <a:srgbClr val="21295C"/>
                </a:solidFill>
                <a:latin typeface="Arial"/>
              </a:rPr>
              <a:t>В сумме</a:t>
            </a:r>
            <a:r>
              <a:rPr sz="1300" b="0" i="0">
                <a:solidFill>
                  <a:srgbClr val="21295C"/>
                </a:solidFill>
                <a:latin typeface="Arial"/>
              </a:rPr>
              <a:t> так же, как было.</a:t>
            </a:r>
          </a:p>
        </p:txBody>
      </p:sp>
      <p:sp>
        <p:nvSpPr>
          <p:cNvPr id="20" name="Rectangle 19"/>
          <p:cNvSpPr/>
          <p:nvPr/>
        </p:nvSpPr>
        <p:spPr>
          <a:xfrm>
            <a:off x="6091275" y="3527496"/>
            <a:ext cx="9144" cy="2583776"/>
          </a:xfrm>
          <a:prstGeom prst="rect">
            <a:avLst/>
          </a:prstGeom>
          <a:solidFill>
            <a:srgbClr val="D9E2EC"/>
          </a:solidFill>
          <a:ln>
            <a:noFill/>
          </a:ln>
          <a:effectLst/>
        </p:spPr>
        <p:txBody>
          <a:bodyPr rtlCol="0" anchor="ctr"/>
          <a:lstStyle/>
          <a:p>
            <a:pPr algn="ctr"/>
          </a:p>
        </p:txBody>
      </p:sp>
      <p:sp>
        <p:nvSpPr>
          <p:cNvPr id="21" name="Rectangle 20"/>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22" name="TextBox 21"/>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Goh и соавт., JAMA Network Open 2024</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Пример 4: контрольная линия</a:t>
            </a:r>
          </a:p>
        </p:txBody>
      </p:sp>
      <p:sp>
        <p:nvSpPr>
          <p:cNvPr id="4" name="Rounded Rectangle 3"/>
          <p:cNvSpPr/>
          <p:nvPr/>
        </p:nvSpPr>
        <p:spPr>
          <a:xfrm>
            <a:off x="502920" y="1335024"/>
            <a:ext cx="3618890" cy="1795712"/>
          </a:xfrm>
          <a:prstGeom prst="roundRect">
            <a:avLst>
              <a:gd name="adj" fmla="val 16973"/>
            </a:avLst>
          </a:prstGeom>
          <a:solidFill>
            <a:srgbClr val="FFFFFF"/>
          </a:solidFill>
          <a:ln w="25400">
            <a:solidFill>
              <a:srgbClr val="F0AB00"/>
            </a:solidFill>
          </a:ln>
          <a:effectLst/>
        </p:spPr>
        <p:txBody>
          <a:bodyPr rtlCol="0" anchor="ctr"/>
          <a:lstStyle/>
          <a:p>
            <a:pPr algn="ctr"/>
          </a:p>
        </p:txBody>
      </p:sp>
      <p:sp>
        <p:nvSpPr>
          <p:cNvPr id="5" name="TextBox 4"/>
          <p:cNvSpPr txBox="1"/>
          <p:nvPr/>
        </p:nvSpPr>
        <p:spPr>
          <a:xfrm>
            <a:off x="640080" y="1472184"/>
            <a:ext cx="3344570"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ЧУВСТВИТЕЛЬНОСТЬ: ДВОЙНОЕ ЧТЕНИЕ → ЧЕЛОВЕК С МОДЕЛЬЮ</a:t>
            </a:r>
          </a:p>
        </p:txBody>
      </p:sp>
      <p:sp>
        <p:nvSpPr>
          <p:cNvPr id="6" name="TextBox 5"/>
          <p:cNvSpPr txBox="1"/>
          <p:nvPr/>
        </p:nvSpPr>
        <p:spPr>
          <a:xfrm>
            <a:off x="640080" y="1932846"/>
            <a:ext cx="3344570"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73,8 → 80,5 из ста</a:t>
            </a:r>
          </a:p>
        </p:txBody>
      </p:sp>
      <p:sp>
        <p:nvSpPr>
          <p:cNvPr id="7" name="TextBox 6"/>
          <p:cNvSpPr txBox="1"/>
          <p:nvPr/>
        </p:nvSpPr>
        <p:spPr>
          <a:xfrm>
            <a:off x="640080" y="2359845"/>
            <a:ext cx="3344570"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рандомизированное; специфичность 98,5 в обоих плечах; двадцать шесть раков из ста двойное чтение не находит</a:t>
            </a:r>
          </a:p>
        </p:txBody>
      </p:sp>
      <p:sp>
        <p:nvSpPr>
          <p:cNvPr id="8" name="Rounded Rectangle 7"/>
          <p:cNvSpPr/>
          <p:nvPr/>
        </p:nvSpPr>
        <p:spPr>
          <a:xfrm>
            <a:off x="4286402" y="1335024"/>
            <a:ext cx="3618890" cy="1795712"/>
          </a:xfrm>
          <a:prstGeom prst="roundRect">
            <a:avLst>
              <a:gd name="adj" fmla="val 16973"/>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4423562"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ОБЪЁМ ЧЕЛОВЕЧЕСКОГО ЧТЕНИЯ</a:t>
            </a:r>
          </a:p>
        </p:txBody>
      </p:sp>
      <p:sp>
        <p:nvSpPr>
          <p:cNvPr id="10" name="TextBox 9"/>
          <p:cNvSpPr txBox="1"/>
          <p:nvPr/>
        </p:nvSpPr>
        <p:spPr>
          <a:xfrm>
            <a:off x="4423562" y="1725375"/>
            <a:ext cx="3344570"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ниже на 44,3 процента</a:t>
            </a:r>
          </a:p>
        </p:txBody>
      </p:sp>
      <p:sp>
        <p:nvSpPr>
          <p:cNvPr id="11" name="TextBox 10"/>
          <p:cNvSpPr txBox="1"/>
          <p:nvPr/>
        </p:nvSpPr>
        <p:spPr>
          <a:xfrm>
            <a:off x="4423562" y="2152374"/>
            <a:ext cx="3344570"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промежуточный анализ, 80 033 женщины</a:t>
            </a:r>
          </a:p>
        </p:txBody>
      </p:sp>
      <p:sp>
        <p:nvSpPr>
          <p:cNvPr id="12" name="Rounded Rectangle 11"/>
          <p:cNvSpPr/>
          <p:nvPr/>
        </p:nvSpPr>
        <p:spPr>
          <a:xfrm>
            <a:off x="8069884" y="1335024"/>
            <a:ext cx="3618890" cy="1795712"/>
          </a:xfrm>
          <a:prstGeom prst="roundRect">
            <a:avLst>
              <a:gd name="adj" fmla="val 16973"/>
            </a:avLst>
          </a:prstGeom>
          <a:solidFill>
            <a:srgbClr val="F4F7FA"/>
          </a:solidFill>
          <a:ln w="15240">
            <a:solidFill>
              <a:srgbClr val="1C7293"/>
            </a:solidFill>
          </a:ln>
          <a:effectLst/>
        </p:spPr>
        <p:txBody>
          <a:bodyPr rtlCol="0" anchor="ctr"/>
          <a:lstStyle/>
          <a:p>
            <a:pPr algn="ctr"/>
          </a:p>
        </p:txBody>
      </p:sp>
      <p:sp>
        <p:nvSpPr>
          <p:cNvPr id="13" name="TextBox 12"/>
          <p:cNvSpPr txBox="1"/>
          <p:nvPr/>
        </p:nvSpPr>
        <p:spPr>
          <a:xfrm>
            <a:off x="8207044"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БАЗА ЧУВСТВИТЕЛЬНОСТИ</a:t>
            </a:r>
          </a:p>
        </p:txBody>
      </p:sp>
      <p:sp>
        <p:nvSpPr>
          <p:cNvPr id="14" name="TextBox 13"/>
          <p:cNvSpPr txBox="1"/>
          <p:nvPr/>
        </p:nvSpPr>
        <p:spPr>
          <a:xfrm>
            <a:off x="8207044" y="1725375"/>
            <a:ext cx="3344570"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итоговый анализ, 105 934 женщины</a:t>
            </a:r>
          </a:p>
        </p:txBody>
      </p:sp>
      <p:sp>
        <p:nvSpPr>
          <p:cNvPr id="15" name="TextBox 14"/>
          <p:cNvSpPr txBox="1"/>
          <p:nvPr/>
        </p:nvSpPr>
        <p:spPr>
          <a:xfrm>
            <a:off x="8207044" y="2542797"/>
            <a:ext cx="3344570"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в одну базу не складываются</a:t>
            </a:r>
          </a:p>
        </p:txBody>
      </p:sp>
      <p:sp>
        <p:nvSpPr>
          <p:cNvPr id="16" name="Rounded Rectangle 15"/>
          <p:cNvSpPr/>
          <p:nvPr/>
        </p:nvSpPr>
        <p:spPr>
          <a:xfrm>
            <a:off x="374904" y="3222176"/>
            <a:ext cx="11441887" cy="2145586"/>
          </a:xfrm>
          <a:prstGeom prst="roundRect">
            <a:avLst>
              <a:gd name="adj" fmla="val 14205"/>
            </a:avLst>
          </a:prstGeom>
          <a:solidFill>
            <a:srgbClr val="F4F7FA"/>
          </a:solidFill>
          <a:ln w="19050">
            <a:solidFill>
              <a:srgbClr val="1C7293"/>
            </a:solidFill>
          </a:ln>
          <a:effectLst/>
        </p:spPr>
        <p:txBody>
          <a:bodyPr rtlCol="0" anchor="ctr"/>
          <a:lstStyle/>
          <a:p>
            <a:pPr algn="ctr"/>
          </a:p>
        </p:txBody>
      </p:sp>
      <p:sp>
        <p:nvSpPr>
          <p:cNvPr id="17" name="TextBox 16"/>
          <p:cNvSpPr txBox="1"/>
          <p:nvPr/>
        </p:nvSpPr>
        <p:spPr>
          <a:xfrm>
            <a:off x="539496" y="3313616"/>
            <a:ext cx="5373471" cy="2922591"/>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Цена обеих ошибок</a:t>
            </a:r>
            <a:r>
              <a:rPr sz="1500" b="0" i="0">
                <a:solidFill>
                  <a:srgbClr val="21295C"/>
                </a:solidFill>
                <a:latin typeface="Arial"/>
              </a:rPr>
              <a:t> как в скрининге: пропуск — рак позже; ложный вызов — месяцы тревоги.</a:t>
            </a:r>
          </a:p>
          <a:p>
            <a:pPr algn="l">
              <a:lnSpc>
                <a:spcPct val="126000"/>
              </a:lnSpc>
              <a:spcBef>
                <a:spcPts val="700"/>
              </a:spcBef>
            </a:pPr>
            <a:r>
              <a:rPr sz="1500" b="0" i="0">
                <a:solidFill>
                  <a:srgbClr val="21295C"/>
                </a:solidFill>
                <a:latin typeface="Arial"/>
              </a:rPr>
              <a:t/>
            </a:r>
            <a:r>
              <a:rPr sz="1500" b="1" i="0">
                <a:solidFill>
                  <a:srgbClr val="21295C"/>
                </a:solidFill>
                <a:latin typeface="Arial"/>
              </a:rPr>
              <a:t>Классические режимы.</a:t>
            </a:r>
            <a:r>
              <a:rPr sz="1500" b="0" i="0">
                <a:solidFill>
                  <a:srgbClr val="21295C"/>
                </a:solidFill>
                <a:latin typeface="Arial"/>
              </a:rPr>
              <a:t> База — двойное чтение двумя людьми, арбитраж третьего. Одиночное чтение без арбитража не воспроизводили: сравнивали против сильного.</a:t>
            </a:r>
          </a:p>
        </p:txBody>
      </p:sp>
      <p:sp>
        <p:nvSpPr>
          <p:cNvPr id="18" name="TextBox 17"/>
          <p:cNvSpPr txBox="1"/>
          <p:nvPr/>
        </p:nvSpPr>
        <p:spPr>
          <a:xfrm>
            <a:off x="6278727" y="3313616"/>
            <a:ext cx="5373471" cy="2922591"/>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Модель против них.</a:t>
            </a:r>
            <a:r>
              <a:rPr sz="1500" b="0" i="0">
                <a:solidFill>
                  <a:srgbClr val="21295C"/>
                </a:solidFill>
                <a:latin typeface="Arial"/>
              </a:rPr>
              <a:t> Читает первой, человек — сам, разногласие разбирает третий. Независимость </a:t>
            </a:r>
            <a:r>
              <a:rPr sz="1500" b="1" i="0">
                <a:solidFill>
                  <a:srgbClr val="21295C"/>
                </a:solidFill>
                <a:latin typeface="Arial"/>
              </a:rPr>
              <a:t>перестроена</a:t>
            </a:r>
            <a:r>
              <a:rPr sz="1500" b="0" i="0">
                <a:solidFill>
                  <a:srgbClr val="21295C"/>
                </a:solidFill>
                <a:latin typeface="Arial"/>
              </a:rPr>
              <a:t>, и выиграло устройство процедуры.</a:t>
            </a:r>
          </a:p>
          <a:p>
            <a:pPr algn="l">
              <a:lnSpc>
                <a:spcPct val="126000"/>
              </a:lnSpc>
              <a:spcBef>
                <a:spcPts val="700"/>
              </a:spcBef>
            </a:pPr>
            <a:r>
              <a:rPr sz="1500" b="0" i="0">
                <a:solidFill>
                  <a:srgbClr val="21295C"/>
                </a:solidFill>
                <a:latin typeface="Arial"/>
              </a:rPr>
              <a:t/>
            </a:r>
            <a:r>
              <a:rPr sz="1500" b="1" i="0">
                <a:solidFill>
                  <a:srgbClr val="21295C"/>
                </a:solidFill>
                <a:latin typeface="Arial"/>
              </a:rPr>
              <a:t>Устроено</a:t>
            </a:r>
            <a:r>
              <a:rPr sz="1500" b="0" i="0">
                <a:solidFill>
                  <a:srgbClr val="21295C"/>
                </a:solidFill>
                <a:latin typeface="Arial"/>
              </a:rPr>
              <a:t> как в примере отбора: вход — снимок скрининга, выход — риск вместо второго чтения. </a:t>
            </a:r>
            <a:r>
              <a:rPr sz="1500" b="1" i="0">
                <a:solidFill>
                  <a:srgbClr val="21295C"/>
                </a:solidFill>
                <a:latin typeface="Arial"/>
              </a:rPr>
              <a:t>Имени система не получила ни там, ни здесь.</a:t>
            </a:r>
          </a:p>
        </p:txBody>
      </p:sp>
      <p:sp>
        <p:nvSpPr>
          <p:cNvPr id="19" name="Rectangle 18"/>
          <p:cNvSpPr/>
          <p:nvPr/>
        </p:nvSpPr>
        <p:spPr>
          <a:xfrm>
            <a:off x="6091275" y="3313616"/>
            <a:ext cx="9144" cy="1871266"/>
          </a:xfrm>
          <a:prstGeom prst="rect">
            <a:avLst/>
          </a:prstGeom>
          <a:solidFill>
            <a:srgbClr val="D9E2EC"/>
          </a:solidFill>
          <a:ln>
            <a:noFill/>
          </a:ln>
          <a:effectLst/>
        </p:spPr>
        <p:txBody>
          <a:bodyPr rtlCol="0" anchor="ctr"/>
          <a:lstStyle/>
          <a:p>
            <a:pPr algn="ctr"/>
          </a:p>
        </p:txBody>
      </p:sp>
      <p:sp>
        <p:nvSpPr>
          <p:cNvPr id="20" name="Rectangle 19"/>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21" name="TextBox 20"/>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Итоговый анализ MASAI, The Lancet 2026</a:t>
            </a:r>
            <a:r>
              <a:rPr sz="1200" b="0" i="1">
                <a:solidFill>
                  <a:srgbClr val="1C7293"/>
                </a:solidFill>
                <a:latin typeface="Arial"/>
              </a:rPr>
              <a:t> · </a:t>
            </a:r>
            <a:r>
              <a:rPr sz="1200" b="0" i="1" u="sng">
                <a:solidFill>
                  <a:srgbClr val="065A82"/>
                </a:solidFill>
                <a:latin typeface="Arial"/>
                <a:hlinkClick r:id="rId3"/>
              </a:rPr>
              <a:t>анализ безопасности, Lancet Oncology 2023</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Пример 4, цена: чьим находкам верят</a:t>
            </a:r>
          </a:p>
        </p:txBody>
      </p:sp>
      <p:sp>
        <p:nvSpPr>
          <p:cNvPr id="4" name="Rounded Rectangle 3"/>
          <p:cNvSpPr/>
          <p:nvPr/>
        </p:nvSpPr>
        <p:spPr>
          <a:xfrm>
            <a:off x="502920" y="1335024"/>
            <a:ext cx="2673019" cy="2214426"/>
          </a:xfrm>
          <a:prstGeom prst="roundRect">
            <a:avLst>
              <a:gd name="adj" fmla="val 13764"/>
            </a:avLst>
          </a:prstGeom>
          <a:solidFill>
            <a:srgbClr val="FFFFFF"/>
          </a:solidFill>
          <a:ln w="25400">
            <a:solidFill>
              <a:srgbClr val="F0AB00"/>
            </a:solidFill>
          </a:ln>
          <a:effectLst/>
        </p:spPr>
        <p:txBody>
          <a:bodyPr rtlCol="0" anchor="ctr"/>
          <a:lstStyle/>
          <a:p>
            <a:pPr algn="ctr"/>
          </a:p>
        </p:txBody>
      </p:sp>
      <p:sp>
        <p:nvSpPr>
          <p:cNvPr id="5" name="TextBox 4"/>
          <p:cNvSpPr txBox="1"/>
          <p:nvPr/>
        </p:nvSpPr>
        <p:spPr>
          <a:xfrm>
            <a:off x="640080" y="1472184"/>
            <a:ext cx="2398699" cy="668133"/>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ИНТЕРВАЛЬНЫЕ РАКИ НА 1000: ДВОЙНОЕ ЧТЕНИЕ → С МОДЕЛЬЮ</a:t>
            </a:r>
          </a:p>
        </p:txBody>
      </p:sp>
      <p:sp>
        <p:nvSpPr>
          <p:cNvPr id="6" name="TextBox 5"/>
          <p:cNvSpPr txBox="1"/>
          <p:nvPr/>
        </p:nvSpPr>
        <p:spPr>
          <a:xfrm>
            <a:off x="640080" y="2140317"/>
            <a:ext cx="2398699"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1,76 → 1,55</a:t>
            </a:r>
          </a:p>
        </p:txBody>
      </p:sp>
      <p:sp>
        <p:nvSpPr>
          <p:cNvPr id="7" name="TextBox 6"/>
          <p:cNvSpPr txBox="1"/>
          <p:nvPr/>
        </p:nvSpPr>
        <p:spPr>
          <a:xfrm>
            <a:off x="640080" y="2567316"/>
            <a:ext cx="2398699" cy="84497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не-худшесть показана, улучшение не доказано: отношение 0,88, интервал 0,65–1,18</a:t>
            </a:r>
          </a:p>
        </p:txBody>
      </p:sp>
      <p:sp>
        <p:nvSpPr>
          <p:cNvPr id="8" name="Rounded Rectangle 7"/>
          <p:cNvSpPr/>
          <p:nvPr/>
        </p:nvSpPr>
        <p:spPr>
          <a:xfrm>
            <a:off x="3340531" y="1335024"/>
            <a:ext cx="2673019" cy="2214426"/>
          </a:xfrm>
          <a:prstGeom prst="roundRect">
            <a:avLst>
              <a:gd name="adj" fmla="val 13764"/>
            </a:avLst>
          </a:prstGeom>
          <a:solidFill>
            <a:srgbClr val="FFFFFF"/>
          </a:solidFill>
          <a:ln w="25400">
            <a:solidFill>
              <a:srgbClr val="F0AB00"/>
            </a:solidFill>
          </a:ln>
          <a:effectLst/>
        </p:spPr>
        <p:txBody>
          <a:bodyPr rtlCol="0" anchor="ctr"/>
          <a:lstStyle/>
          <a:p>
            <a:pPr algn="ctr"/>
          </a:p>
        </p:txBody>
      </p:sp>
      <p:sp>
        <p:nvSpPr>
          <p:cNvPr id="9" name="TextBox 8"/>
          <p:cNvSpPr txBox="1"/>
          <p:nvPr/>
        </p:nvSpPr>
        <p:spPr>
          <a:xfrm>
            <a:off x="3477691" y="1472184"/>
            <a:ext cx="2398699" cy="668133"/>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ПОДТВЕРЖДАЕТСЯ РАКОМ: НАХОДКА ТОЛЬКО МОДЕЛИ → ТОЛЬКО РАДИОЛОГА</a:t>
            </a:r>
          </a:p>
        </p:txBody>
      </p:sp>
      <p:sp>
        <p:nvSpPr>
          <p:cNvPr id="10" name="TextBox 9"/>
          <p:cNvSpPr txBox="1"/>
          <p:nvPr/>
        </p:nvSpPr>
        <p:spPr>
          <a:xfrm>
            <a:off x="3477691" y="2140317"/>
            <a:ext cx="2398699"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22 → 3,4 из ста</a:t>
            </a:r>
          </a:p>
        </p:txBody>
      </p:sp>
      <p:sp>
        <p:nvSpPr>
          <p:cNvPr id="11" name="TextBox 10"/>
          <p:cNvSpPr txBox="1"/>
          <p:nvPr/>
        </p:nvSpPr>
        <p:spPr>
          <a:xfrm>
            <a:off x="3477691" y="2567316"/>
            <a:ext cx="2398699"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знаменатели почти равны: 1 886 против 1 858 находок</a:t>
            </a:r>
          </a:p>
        </p:txBody>
      </p:sp>
      <p:sp>
        <p:nvSpPr>
          <p:cNvPr id="12" name="Rounded Rectangle 11"/>
          <p:cNvSpPr/>
          <p:nvPr/>
        </p:nvSpPr>
        <p:spPr>
          <a:xfrm>
            <a:off x="6178143" y="1335024"/>
            <a:ext cx="2673019" cy="2214426"/>
          </a:xfrm>
          <a:prstGeom prst="roundRect">
            <a:avLst>
              <a:gd name="adj" fmla="val 13764"/>
            </a:avLst>
          </a:prstGeom>
          <a:solidFill>
            <a:srgbClr val="F4F7FA"/>
          </a:solidFill>
          <a:ln w="15240">
            <a:solidFill>
              <a:srgbClr val="1C7293"/>
            </a:solidFill>
          </a:ln>
          <a:effectLst/>
        </p:spPr>
        <p:txBody>
          <a:bodyPr rtlCol="0" anchor="ctr"/>
          <a:lstStyle/>
          <a:p>
            <a:pPr algn="ctr"/>
          </a:p>
        </p:txBody>
      </p:sp>
      <p:sp>
        <p:nvSpPr>
          <p:cNvPr id="13" name="TextBox 12"/>
          <p:cNvSpPr txBox="1"/>
          <p:nvPr/>
        </p:nvSpPr>
        <p:spPr>
          <a:xfrm>
            <a:off x="6315303" y="1472184"/>
            <a:ext cx="2398699" cy="668133"/>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ОТЗЫВАЮТ: НАХОДКА ТОЛЬКО МОДЕЛИ → ТОЛЬКО РАДИОЛОГА</a:t>
            </a:r>
          </a:p>
        </p:txBody>
      </p:sp>
      <p:sp>
        <p:nvSpPr>
          <p:cNvPr id="14" name="TextBox 13"/>
          <p:cNvSpPr txBox="1"/>
          <p:nvPr/>
        </p:nvSpPr>
        <p:spPr>
          <a:xfrm>
            <a:off x="6315303" y="2140317"/>
            <a:ext cx="2398699"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4,6 → 14,2</a:t>
            </a:r>
          </a:p>
        </p:txBody>
      </p:sp>
      <p:sp>
        <p:nvSpPr>
          <p:cNvPr id="15" name="Rounded Rectangle 14"/>
          <p:cNvSpPr/>
          <p:nvPr/>
        </p:nvSpPr>
        <p:spPr>
          <a:xfrm>
            <a:off x="9015755" y="1335024"/>
            <a:ext cx="2673019" cy="2214426"/>
          </a:xfrm>
          <a:prstGeom prst="roundRect">
            <a:avLst>
              <a:gd name="adj" fmla="val 13764"/>
            </a:avLst>
          </a:prstGeom>
          <a:solidFill>
            <a:srgbClr val="F4F7FA"/>
          </a:solidFill>
          <a:ln w="15240">
            <a:solidFill>
              <a:srgbClr val="1C7293"/>
            </a:solidFill>
          </a:ln>
          <a:effectLst/>
        </p:spPr>
        <p:txBody>
          <a:bodyPr rtlCol="0" anchor="ctr"/>
          <a:lstStyle/>
          <a:p>
            <a:pPr algn="ctr"/>
          </a:p>
        </p:txBody>
      </p:sp>
      <p:sp>
        <p:nvSpPr>
          <p:cNvPr id="16" name="TextBox 15"/>
          <p:cNvSpPr txBox="1"/>
          <p:nvPr/>
        </p:nvSpPr>
        <p:spPr>
          <a:xfrm>
            <a:off x="9152915"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ДАЛО → ПОТРЕБОВАЛО</a:t>
            </a:r>
          </a:p>
        </p:txBody>
      </p:sp>
      <p:sp>
        <p:nvSpPr>
          <p:cNvPr id="17" name="TextBox 16"/>
          <p:cNvSpPr txBox="1"/>
          <p:nvPr/>
        </p:nvSpPr>
        <p:spPr>
          <a:xfrm>
            <a:off x="9152915" y="1725375"/>
            <a:ext cx="2398699" cy="749522"/>
          </a:xfrm>
          <a:prstGeom prst="rect">
            <a:avLst/>
          </a:prstGeom>
          <a:noFill/>
        </p:spPr>
        <p:txBody>
          <a:bodyPr wrap="square" lIns="0" rIns="0" tIns="0" bIns="0" anchor="t">
            <a:spAutoFit/>
          </a:bodyPr>
          <a:lstStyle/>
          <a:p>
            <a:pPr algn="l">
              <a:lnSpc>
                <a:spcPct val="108000"/>
              </a:lnSpc>
            </a:pPr>
            <a:r>
              <a:rPr sz="1400" b="1" i="0">
                <a:solidFill>
                  <a:srgbClr val="21295C"/>
                </a:solidFill>
                <a:latin typeface="Arial"/>
              </a:rPr>
              <a:t>больше найденных раков → арбитраж как новую работу и контроль порога</a:t>
            </a:r>
          </a:p>
        </p:txBody>
      </p:sp>
      <p:sp>
        <p:nvSpPr>
          <p:cNvPr id="18" name="TextBox 17"/>
          <p:cNvSpPr txBox="1"/>
          <p:nvPr/>
        </p:nvSpPr>
        <p:spPr>
          <a:xfrm>
            <a:off x="9152915" y="2474897"/>
            <a:ext cx="2398699"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в сумме: лучше и по качеству, и по нагрузке</a:t>
            </a:r>
          </a:p>
        </p:txBody>
      </p:sp>
      <p:sp>
        <p:nvSpPr>
          <p:cNvPr id="19" name="Rounded Rectangle 18"/>
          <p:cNvSpPr/>
          <p:nvPr/>
        </p:nvSpPr>
        <p:spPr>
          <a:xfrm>
            <a:off x="374904" y="3640890"/>
            <a:ext cx="11441887" cy="2145586"/>
          </a:xfrm>
          <a:prstGeom prst="roundRect">
            <a:avLst>
              <a:gd name="adj" fmla="val 14205"/>
            </a:avLst>
          </a:prstGeom>
          <a:solidFill>
            <a:srgbClr val="F4F7FA"/>
          </a:solidFill>
          <a:ln w="19050">
            <a:solidFill>
              <a:srgbClr val="1C7293"/>
            </a:solidFill>
          </a:ln>
          <a:effectLst/>
        </p:spPr>
        <p:txBody>
          <a:bodyPr rtlCol="0" anchor="ctr"/>
          <a:lstStyle/>
          <a:p>
            <a:pPr algn="ctr"/>
          </a:p>
        </p:txBody>
      </p:sp>
      <p:sp>
        <p:nvSpPr>
          <p:cNvPr id="20" name="TextBox 19"/>
          <p:cNvSpPr txBox="1"/>
          <p:nvPr/>
        </p:nvSpPr>
        <p:spPr>
          <a:xfrm>
            <a:off x="539496" y="3732330"/>
            <a:ext cx="5373471" cy="2503877"/>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Что переехало.</a:t>
            </a:r>
            <a:r>
              <a:rPr sz="1500" b="0" i="0">
                <a:solidFill>
                  <a:srgbClr val="21295C"/>
                </a:solidFill>
                <a:latin typeface="Arial"/>
              </a:rPr>
              <a:t> Появился шаг «нужно ли второе чтение»; объём человеческого чтения упал там же.</a:t>
            </a:r>
          </a:p>
          <a:p>
            <a:pPr algn="l">
              <a:lnSpc>
                <a:spcPct val="126000"/>
              </a:lnSpc>
              <a:spcBef>
                <a:spcPts val="700"/>
              </a:spcBef>
            </a:pPr>
            <a:r>
              <a:rPr sz="1500" b="0" i="0">
                <a:solidFill>
                  <a:srgbClr val="21295C"/>
                </a:solidFill>
                <a:latin typeface="Arial"/>
              </a:rPr>
              <a:t/>
            </a:r>
            <a:r>
              <a:rPr sz="1500" b="0" i="0">
                <a:solidFill>
                  <a:srgbClr val="21295C"/>
                </a:solidFill>
                <a:latin typeface="Arial"/>
              </a:rPr>
              <a:t>Повторных вызовов не стало ни больше, ни меньше: специфичность в двух плечах одинакова.</a:t>
            </a:r>
          </a:p>
        </p:txBody>
      </p:sp>
      <p:sp>
        <p:nvSpPr>
          <p:cNvPr id="21" name="TextBox 20"/>
          <p:cNvSpPr txBox="1"/>
          <p:nvPr/>
        </p:nvSpPr>
        <p:spPr>
          <a:xfrm>
            <a:off x="6278727" y="3732330"/>
            <a:ext cx="5373471" cy="2503877"/>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Как читали в другой программе.</a:t>
            </a:r>
            <a:r>
              <a:rPr sz="1500" b="0" i="0">
                <a:solidFill>
                  <a:srgbClr val="21295C"/>
                </a:solidFill>
                <a:latin typeface="Arial"/>
              </a:rPr>
              <a:t> Каждое исследование смотрят трое независимо — два радиолога и система. Находка любого из трёх уходит на обсуждение консенсуса; туда дошло 5 489 случаев из 54 991.</a:t>
            </a:r>
          </a:p>
          <a:p>
            <a:pPr algn="l">
              <a:lnSpc>
                <a:spcPct val="126000"/>
              </a:lnSpc>
              <a:spcBef>
                <a:spcPts val="700"/>
              </a:spcBef>
            </a:pPr>
            <a:r>
              <a:rPr sz="1500" b="0" i="0">
                <a:solidFill>
                  <a:srgbClr val="21295C"/>
                </a:solidFill>
                <a:latin typeface="Arial"/>
              </a:rPr>
              <a:t/>
            </a:r>
            <a:r>
              <a:rPr sz="1500" b="1" i="0">
                <a:solidFill>
                  <a:srgbClr val="21295C"/>
                </a:solidFill>
                <a:latin typeface="Arial"/>
              </a:rPr>
              <a:t>Доверия к модели здесь слишком мало:</a:t>
            </a:r>
            <a:r>
              <a:rPr sz="1500" b="0" i="0">
                <a:solidFill>
                  <a:srgbClr val="21295C"/>
                </a:solidFill>
                <a:latin typeface="Arial"/>
              </a:rPr>
              <a:t> отзывают чаще находку более слабого источника.</a:t>
            </a:r>
          </a:p>
        </p:txBody>
      </p:sp>
      <p:sp>
        <p:nvSpPr>
          <p:cNvPr id="22" name="Rectangle 21"/>
          <p:cNvSpPr/>
          <p:nvPr/>
        </p:nvSpPr>
        <p:spPr>
          <a:xfrm>
            <a:off x="6091275" y="3732330"/>
            <a:ext cx="9144" cy="1871266"/>
          </a:xfrm>
          <a:prstGeom prst="rect">
            <a:avLst/>
          </a:prstGeom>
          <a:solidFill>
            <a:srgbClr val="D9E2EC"/>
          </a:solidFill>
          <a:ln>
            <a:noFill/>
          </a:ln>
          <a:effectLst/>
        </p:spPr>
        <p:txBody>
          <a:bodyPr rtlCol="0" anchor="ctr"/>
          <a:lstStyle/>
          <a:p>
            <a:pPr algn="ctr"/>
          </a:p>
        </p:txBody>
      </p:sp>
      <p:sp>
        <p:nvSpPr>
          <p:cNvPr id="23" name="Rectangle 22"/>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24" name="TextBox 23"/>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Итоговый анализ MASAI, The Lancet 2026</a:t>
            </a:r>
            <a:r>
              <a:rPr sz="1200" b="0" i="1">
                <a:solidFill>
                  <a:srgbClr val="1C7293"/>
                </a:solidFill>
                <a:latin typeface="Arial"/>
              </a:rPr>
              <a:t> · </a:t>
            </a:r>
            <a:r>
              <a:rPr sz="1200" b="0" i="1" u="sng">
                <a:solidFill>
                  <a:srgbClr val="065A82"/>
                </a:solidFill>
                <a:latin typeface="Arial"/>
                <a:hlinkClick r:id="rId3"/>
              </a:rPr>
              <a:t>Dembrower и соавт., Radiology 2025</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Доверие откалибровано не по правоте</a:t>
            </a:r>
          </a:p>
        </p:txBody>
      </p:sp>
      <p:sp>
        <p:nvSpPr>
          <p:cNvPr id="4" name="Rounded Rectangle 3"/>
          <p:cNvSpPr/>
          <p:nvPr/>
        </p:nvSpPr>
        <p:spPr>
          <a:xfrm>
            <a:off x="502920" y="1335024"/>
            <a:ext cx="5510631" cy="1344933"/>
          </a:xfrm>
          <a:prstGeom prst="roundRect">
            <a:avLst>
              <a:gd name="adj" fmla="val 22662"/>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5236311"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СТАЖ И ЗНАКОМСТВО С ИНСТРУМЕНТОМ</a:t>
            </a:r>
          </a:p>
        </p:txBody>
      </p:sp>
      <p:sp>
        <p:nvSpPr>
          <p:cNvPr id="6" name="TextBox 5"/>
          <p:cNvSpPr txBox="1"/>
          <p:nvPr/>
        </p:nvSpPr>
        <p:spPr>
          <a:xfrm>
            <a:off x="640080" y="1725375"/>
            <a:ext cx="5236311"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выигрыша не предсказывают — предсказывает правота модели</a:t>
            </a:r>
          </a:p>
        </p:txBody>
      </p:sp>
      <p:sp>
        <p:nvSpPr>
          <p:cNvPr id="7" name="Rounded Rectangle 6"/>
          <p:cNvSpPr/>
          <p:nvPr/>
        </p:nvSpPr>
        <p:spPr>
          <a:xfrm>
            <a:off x="6178143" y="1335024"/>
            <a:ext cx="5510631" cy="1344933"/>
          </a:xfrm>
          <a:prstGeom prst="roundRect">
            <a:avLst>
              <a:gd name="adj" fmla="val 22662"/>
            </a:avLst>
          </a:prstGeom>
          <a:solidFill>
            <a:srgbClr val="FFFFFF"/>
          </a:solidFill>
          <a:ln w="25400">
            <a:solidFill>
              <a:srgbClr val="F0AB00"/>
            </a:solidFill>
          </a:ln>
          <a:effectLst/>
        </p:spPr>
        <p:txBody>
          <a:bodyPr rtlCol="0" anchor="ctr"/>
          <a:lstStyle/>
          <a:p>
            <a:pPr algn="ctr"/>
          </a:p>
        </p:txBody>
      </p:sp>
      <p:sp>
        <p:nvSpPr>
          <p:cNvPr id="8" name="TextBox 7"/>
          <p:cNvSpPr txBox="1"/>
          <p:nvPr/>
        </p:nvSpPr>
        <p:spPr>
          <a:xfrm>
            <a:off x="6315303" y="1472184"/>
            <a:ext cx="5236311"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СОГЛАСИЕ С НЕВЕРНОЙ ПОДСКАЗКОЙ: ОБЪЯСНЕНИЕ → ПРИЁМЫ</a:t>
            </a:r>
          </a:p>
        </p:txBody>
      </p:sp>
      <p:sp>
        <p:nvSpPr>
          <p:cNvPr id="9" name="TextBox 8"/>
          <p:cNvSpPr txBox="1"/>
          <p:nvPr/>
        </p:nvSpPr>
        <p:spPr>
          <a:xfrm>
            <a:off x="6315303" y="1725375"/>
            <a:ext cx="5236311"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64 → 48 из ста</a:t>
            </a:r>
          </a:p>
        </p:txBody>
      </p:sp>
      <p:sp>
        <p:nvSpPr>
          <p:cNvPr id="10" name="TextBox 9"/>
          <p:cNvSpPr txBox="1"/>
          <p:nvPr/>
        </p:nvSpPr>
        <p:spPr>
          <a:xfrm>
            <a:off x="6315303" y="2152374"/>
            <a:ext cx="5236311"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минус 16 пунктов значимо — и почти половина согласий остаётся</a:t>
            </a:r>
          </a:p>
        </p:txBody>
      </p:sp>
      <p:sp>
        <p:nvSpPr>
          <p:cNvPr id="11" name="Rounded Rectangle 10"/>
          <p:cNvSpPr/>
          <p:nvPr/>
        </p:nvSpPr>
        <p:spPr>
          <a:xfrm>
            <a:off x="374904" y="2771397"/>
            <a:ext cx="11441887" cy="1194991"/>
          </a:xfrm>
          <a:prstGeom prst="roundRect">
            <a:avLst>
              <a:gd name="adj" fmla="val 25000"/>
            </a:avLst>
          </a:prstGeom>
          <a:solidFill>
            <a:srgbClr val="F4F7FA"/>
          </a:solidFill>
          <a:ln w="19050">
            <a:solidFill>
              <a:srgbClr val="1C7293"/>
            </a:solidFill>
          </a:ln>
          <a:effectLst/>
        </p:spPr>
        <p:txBody>
          <a:bodyPr rtlCol="0" anchor="ctr"/>
          <a:lstStyle/>
          <a:p>
            <a:pPr algn="ctr"/>
          </a:p>
        </p:txBody>
      </p:sp>
      <p:sp>
        <p:nvSpPr>
          <p:cNvPr id="12" name="TextBox 11"/>
          <p:cNvSpPr txBox="1"/>
          <p:nvPr/>
        </p:nvSpPr>
        <p:spPr>
          <a:xfrm>
            <a:off x="539496" y="2862837"/>
            <a:ext cx="11112703" cy="3373370"/>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Доверие откалибровано не по тому признаку:</a:t>
            </a:r>
            <a:r>
              <a:rPr sz="1500" b="0" i="0">
                <a:solidFill>
                  <a:srgbClr val="21295C"/>
                </a:solidFill>
                <a:latin typeface="Arial"/>
              </a:rPr>
              <a:t> по подписи, по уверенности, по единичному промаху. </a:t>
            </a:r>
            <a:r>
              <a:rPr sz="1500" b="1" i="0">
                <a:solidFill>
                  <a:srgbClr val="21295C"/>
                </a:solidFill>
                <a:latin typeface="Arial"/>
              </a:rPr>
              <a:t>Правота в этот счёт не входит.</a:t>
            </a:r>
          </a:p>
          <a:p>
            <a:pPr algn="l">
              <a:lnSpc>
                <a:spcPct val="126000"/>
              </a:lnSpc>
              <a:spcBef>
                <a:spcPts val="700"/>
              </a:spcBef>
            </a:pPr>
            <a:r>
              <a:rPr sz="1200" b="0" i="0">
                <a:solidFill>
                  <a:srgbClr val="21295C"/>
                </a:solidFill>
                <a:latin typeface="Arial"/>
              </a:rPr>
              <a:t/>
            </a:r>
            <a:r>
              <a:rPr sz="1200" b="0" i="1">
                <a:solidFill>
                  <a:srgbClr val="1C7293"/>
                </a:solidFill>
                <a:latin typeface="Arial"/>
              </a:rPr>
              <a:t>Опыт лабораторный, не клинический.</a:t>
            </a:r>
          </a:p>
        </p:txBody>
      </p:sp>
      <p:sp>
        <p:nvSpPr>
          <p:cNvPr id="13" name="Rectangle 12"/>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14" name="TextBox 13"/>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Yu и соавт., Nature Medicine 2024</a:t>
            </a:r>
            <a:r>
              <a:rPr sz="1200" b="0" i="1">
                <a:solidFill>
                  <a:srgbClr val="1C7293"/>
                </a:solidFill>
                <a:latin typeface="Arial"/>
              </a:rPr>
              <a:t> · </a:t>
            </a:r>
            <a:r>
              <a:rPr sz="1200" b="0" i="1" u="sng">
                <a:solidFill>
                  <a:srgbClr val="065A82"/>
                </a:solidFill>
                <a:latin typeface="Arial"/>
                <a:hlinkClick r:id="rId3"/>
              </a:rPr>
              <a:t>Buçinca и соавт., CSCW 2021</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Правило, собранное из ста шести опытов</a:t>
            </a:r>
          </a:p>
        </p:txBody>
      </p:sp>
      <p:sp>
        <p:nvSpPr>
          <p:cNvPr id="4" name="Rectangle 3"/>
          <p:cNvSpPr/>
          <p:nvPr/>
        </p:nvSpPr>
        <p:spPr>
          <a:xfrm>
            <a:off x="754380" y="2005998"/>
            <a:ext cx="10682935" cy="50292"/>
          </a:xfrm>
          <a:prstGeom prst="rect">
            <a:avLst/>
          </a:prstGeom>
          <a:solidFill>
            <a:srgbClr val="1C7293"/>
          </a:solidFill>
          <a:ln>
            <a:noFill/>
          </a:ln>
          <a:effectLst/>
        </p:spPr>
        <p:txBody>
          <a:bodyPr rtlCol="0" anchor="ctr"/>
          <a:lstStyle/>
          <a:p>
            <a:pPr algn="ctr"/>
          </a:p>
        </p:txBody>
      </p:sp>
      <p:sp>
        <p:nvSpPr>
          <p:cNvPr id="5" name="Rectangle 4"/>
          <p:cNvSpPr/>
          <p:nvPr/>
        </p:nvSpPr>
        <p:spPr>
          <a:xfrm>
            <a:off x="6070701" y="1749966"/>
            <a:ext cx="50292" cy="562356"/>
          </a:xfrm>
          <a:prstGeom prst="rect">
            <a:avLst/>
          </a:prstGeom>
          <a:solidFill>
            <a:srgbClr val="556070"/>
          </a:solidFill>
          <a:ln>
            <a:noFill/>
          </a:ln>
          <a:effectLst/>
        </p:spPr>
        <p:txBody>
          <a:bodyPr rtlCol="0" anchor="ctr"/>
          <a:lstStyle/>
          <a:p>
            <a:pPr algn="ctr"/>
          </a:p>
        </p:txBody>
      </p:sp>
      <p:sp>
        <p:nvSpPr>
          <p:cNvPr id="6" name="TextBox 5"/>
          <p:cNvSpPr txBox="1"/>
          <p:nvPr/>
        </p:nvSpPr>
        <p:spPr>
          <a:xfrm>
            <a:off x="5775807" y="2280318"/>
            <a:ext cx="640080" cy="201168"/>
          </a:xfrm>
          <a:prstGeom prst="rect">
            <a:avLst/>
          </a:prstGeom>
          <a:noFill/>
        </p:spPr>
        <p:txBody>
          <a:bodyPr wrap="square" lIns="0" rIns="0" tIns="0" bIns="0" anchor="t">
            <a:spAutoFit/>
          </a:bodyPr>
          <a:lstStyle/>
          <a:p>
            <a:pPr algn="ctr">
              <a:lnSpc>
                <a:spcPct val="100000"/>
              </a:lnSpc>
            </a:pPr>
            <a:r>
              <a:rPr sz="1200" b="0" i="1">
                <a:solidFill>
                  <a:srgbClr val="556070"/>
                </a:solidFill>
                <a:latin typeface="Arial"/>
              </a:rPr>
              <a:t>ноль</a:t>
            </a:r>
          </a:p>
        </p:txBody>
      </p:sp>
      <p:sp>
        <p:nvSpPr>
          <p:cNvPr id="7" name="TextBox 6"/>
          <p:cNvSpPr txBox="1"/>
          <p:nvPr/>
        </p:nvSpPr>
        <p:spPr>
          <a:xfrm>
            <a:off x="388620" y="2092866"/>
            <a:ext cx="731520" cy="219456"/>
          </a:xfrm>
          <a:prstGeom prst="rect">
            <a:avLst/>
          </a:prstGeom>
          <a:noFill/>
        </p:spPr>
        <p:txBody>
          <a:bodyPr wrap="square" lIns="0" rIns="0" tIns="0" bIns="0" anchor="t">
            <a:spAutoFit/>
          </a:bodyPr>
          <a:lstStyle/>
          <a:p>
            <a:pPr algn="ctr">
              <a:lnSpc>
                <a:spcPct val="100000"/>
              </a:lnSpc>
            </a:pPr>
            <a:r>
              <a:rPr sz="1200" b="0" i="0">
                <a:solidFill>
                  <a:srgbClr val="556070"/>
                </a:solidFill>
                <a:latin typeface="Arial"/>
              </a:rPr>
              <a:t>-1,0</a:t>
            </a:r>
          </a:p>
        </p:txBody>
      </p:sp>
      <p:sp>
        <p:nvSpPr>
          <p:cNvPr id="8" name="TextBox 7"/>
          <p:cNvSpPr txBox="1"/>
          <p:nvPr/>
        </p:nvSpPr>
        <p:spPr>
          <a:xfrm>
            <a:off x="11071555" y="2092866"/>
            <a:ext cx="731520" cy="219456"/>
          </a:xfrm>
          <a:prstGeom prst="rect">
            <a:avLst/>
          </a:prstGeom>
          <a:noFill/>
        </p:spPr>
        <p:txBody>
          <a:bodyPr wrap="square" lIns="0" rIns="0" tIns="0" bIns="0" anchor="t">
            <a:spAutoFit/>
          </a:bodyPr>
          <a:lstStyle/>
          <a:p>
            <a:pPr algn="ctr">
              <a:lnSpc>
                <a:spcPct val="100000"/>
              </a:lnSpc>
            </a:pPr>
            <a:r>
              <a:rPr sz="1200" b="0" i="0">
                <a:solidFill>
                  <a:srgbClr val="556070"/>
                </a:solidFill>
                <a:latin typeface="Arial"/>
              </a:rPr>
              <a:t>1,0</a:t>
            </a:r>
          </a:p>
        </p:txBody>
      </p:sp>
      <p:sp>
        <p:nvSpPr>
          <p:cNvPr id="9" name="Rectangle 8"/>
          <p:cNvSpPr/>
          <p:nvPr/>
        </p:nvSpPr>
        <p:spPr>
          <a:xfrm>
            <a:off x="2481942" y="1996854"/>
            <a:ext cx="1730602" cy="68580"/>
          </a:xfrm>
          <a:prstGeom prst="rect">
            <a:avLst/>
          </a:prstGeom>
          <a:solidFill>
            <a:srgbClr val="028090"/>
          </a:solidFill>
          <a:ln>
            <a:noFill/>
          </a:ln>
          <a:effectLst/>
        </p:spPr>
        <p:txBody>
          <a:bodyPr rtlCol="0" anchor="ctr"/>
          <a:lstStyle/>
          <a:p>
            <a:pPr algn="ctr"/>
          </a:p>
        </p:txBody>
      </p:sp>
      <p:sp>
        <p:nvSpPr>
          <p:cNvPr id="10" name="Rectangle 9"/>
          <p:cNvSpPr/>
          <p:nvPr/>
        </p:nvSpPr>
        <p:spPr>
          <a:xfrm>
            <a:off x="3322097" y="1841406"/>
            <a:ext cx="50292" cy="164592"/>
          </a:xfrm>
          <a:prstGeom prst="rect">
            <a:avLst/>
          </a:prstGeom>
          <a:solidFill>
            <a:srgbClr val="065A82"/>
          </a:solidFill>
          <a:ln>
            <a:noFill/>
          </a:ln>
          <a:effectLst/>
        </p:spPr>
        <p:txBody>
          <a:bodyPr rtlCol="0" anchor="ctr"/>
          <a:lstStyle/>
          <a:p>
            <a:pPr algn="ctr"/>
          </a:p>
        </p:txBody>
      </p:sp>
      <p:sp>
        <p:nvSpPr>
          <p:cNvPr id="11" name="TextBox 10"/>
          <p:cNvSpPr txBox="1"/>
          <p:nvPr/>
        </p:nvSpPr>
        <p:spPr>
          <a:xfrm>
            <a:off x="550779" y="1335024"/>
            <a:ext cx="5592927" cy="414942"/>
          </a:xfrm>
          <a:prstGeom prst="rect">
            <a:avLst/>
          </a:prstGeom>
          <a:noFill/>
        </p:spPr>
        <p:txBody>
          <a:bodyPr wrap="square" lIns="0" rIns="0" tIns="0" bIns="0" anchor="b">
            <a:spAutoFit/>
          </a:bodyPr>
          <a:lstStyle/>
          <a:p>
            <a:pPr algn="ctr">
              <a:lnSpc>
                <a:spcPct val="110000"/>
              </a:lnSpc>
            </a:pPr>
            <a:r>
              <a:rPr sz="1200" b="0" i="0">
                <a:solidFill>
                  <a:srgbClr val="21295C"/>
                </a:solidFill>
                <a:latin typeface="Arial"/>
              </a:rPr>
              <a:t>−0,54</a:t>
            </a:r>
          </a:p>
          <a:p>
            <a:pPr algn="ctr">
              <a:lnSpc>
                <a:spcPct val="110000"/>
              </a:lnSpc>
            </a:pPr>
            <a:r>
              <a:rPr sz="1200" b="0" i="0">
                <a:solidFill>
                  <a:srgbClr val="21295C"/>
                </a:solidFill>
                <a:latin typeface="Arial"/>
              </a:rPr>
              <a:t>Модель сильнее человека: пара хуже модели</a:t>
            </a:r>
          </a:p>
        </p:txBody>
      </p:sp>
      <p:sp>
        <p:nvSpPr>
          <p:cNvPr id="12" name="Rectangle 11"/>
          <p:cNvSpPr/>
          <p:nvPr/>
        </p:nvSpPr>
        <p:spPr>
          <a:xfrm>
            <a:off x="7521049" y="1996854"/>
            <a:ext cx="1934202" cy="68580"/>
          </a:xfrm>
          <a:prstGeom prst="rect">
            <a:avLst/>
          </a:prstGeom>
          <a:solidFill>
            <a:srgbClr val="028090"/>
          </a:solidFill>
          <a:ln>
            <a:noFill/>
          </a:ln>
          <a:effectLst/>
        </p:spPr>
        <p:txBody>
          <a:bodyPr rtlCol="0" anchor="ctr"/>
          <a:lstStyle/>
          <a:p>
            <a:pPr algn="ctr"/>
          </a:p>
        </p:txBody>
      </p:sp>
      <p:sp>
        <p:nvSpPr>
          <p:cNvPr id="13" name="Rectangle 12"/>
          <p:cNvSpPr/>
          <p:nvPr/>
        </p:nvSpPr>
        <p:spPr>
          <a:xfrm>
            <a:off x="8412105" y="2056290"/>
            <a:ext cx="50292" cy="164592"/>
          </a:xfrm>
          <a:prstGeom prst="rect">
            <a:avLst/>
          </a:prstGeom>
          <a:solidFill>
            <a:srgbClr val="F0AB00"/>
          </a:solidFill>
          <a:ln>
            <a:noFill/>
          </a:ln>
          <a:effectLst/>
        </p:spPr>
        <p:txBody>
          <a:bodyPr rtlCol="0" anchor="ctr"/>
          <a:lstStyle/>
          <a:p>
            <a:pPr algn="ctr"/>
          </a:p>
        </p:txBody>
      </p:sp>
      <p:sp>
        <p:nvSpPr>
          <p:cNvPr id="14" name="TextBox 13"/>
          <p:cNvSpPr txBox="1"/>
          <p:nvPr/>
        </p:nvSpPr>
        <p:spPr>
          <a:xfrm>
            <a:off x="5640787" y="2312322"/>
            <a:ext cx="5592927" cy="414942"/>
          </a:xfrm>
          <a:prstGeom prst="rect">
            <a:avLst/>
          </a:prstGeom>
          <a:noFill/>
        </p:spPr>
        <p:txBody>
          <a:bodyPr wrap="square" lIns="0" rIns="0" tIns="0" bIns="0" anchor="t">
            <a:spAutoFit/>
          </a:bodyPr>
          <a:lstStyle/>
          <a:p>
            <a:pPr algn="ctr">
              <a:lnSpc>
                <a:spcPct val="110000"/>
              </a:lnSpc>
            </a:pPr>
            <a:r>
              <a:rPr sz="1200" b="0" i="0">
                <a:solidFill>
                  <a:srgbClr val="21295C"/>
                </a:solidFill>
                <a:latin typeface="Arial"/>
              </a:rPr>
              <a:t>+0,46</a:t>
            </a:r>
          </a:p>
          <a:p>
            <a:pPr algn="ctr">
              <a:lnSpc>
                <a:spcPct val="110000"/>
              </a:lnSpc>
            </a:pPr>
            <a:r>
              <a:rPr sz="1200" b="0" i="0">
                <a:solidFill>
                  <a:srgbClr val="21295C"/>
                </a:solidFill>
                <a:latin typeface="Arial"/>
              </a:rPr>
              <a:t>Человек сильнее модели: пара лучше обеих сторон</a:t>
            </a:r>
          </a:p>
        </p:txBody>
      </p:sp>
      <p:sp>
        <p:nvSpPr>
          <p:cNvPr id="15" name="TextBox 14"/>
          <p:cNvSpPr txBox="1"/>
          <p:nvPr/>
        </p:nvSpPr>
        <p:spPr>
          <a:xfrm>
            <a:off x="502920" y="2836993"/>
            <a:ext cx="11185855" cy="219456"/>
          </a:xfrm>
          <a:prstGeom prst="rect">
            <a:avLst/>
          </a:prstGeom>
          <a:noFill/>
        </p:spPr>
        <p:txBody>
          <a:bodyPr wrap="square" lIns="0" rIns="0" tIns="0" bIns="0" anchor="t">
            <a:spAutoFit/>
          </a:bodyPr>
          <a:lstStyle/>
          <a:p>
            <a:pPr algn="ctr">
              <a:lnSpc>
                <a:spcPct val="100000"/>
              </a:lnSpc>
            </a:pPr>
            <a:r>
              <a:rPr sz="1200" b="1" i="0">
                <a:solidFill>
                  <a:srgbClr val="065A82"/>
                </a:solidFill>
                <a:latin typeface="Arial"/>
              </a:rPr>
              <a:t>размер эффекта в долях разброса · 74 работы · 106 опытов · 370 размеров эффекта из 5 126 просмотренных</a:t>
            </a:r>
          </a:p>
        </p:txBody>
      </p:sp>
      <p:sp>
        <p:nvSpPr>
          <p:cNvPr id="16" name="TextBox 15"/>
          <p:cNvSpPr txBox="1"/>
          <p:nvPr/>
        </p:nvSpPr>
        <p:spPr>
          <a:xfrm>
            <a:off x="502920" y="3129601"/>
            <a:ext cx="11185855" cy="215015"/>
          </a:xfrm>
          <a:prstGeom prst="rect">
            <a:avLst/>
          </a:prstGeom>
          <a:noFill/>
        </p:spPr>
        <p:txBody>
          <a:bodyPr wrap="square" lIns="0" rIns="0" tIns="0" bIns="0" anchor="t">
            <a:spAutoFit/>
          </a:bodyPr>
          <a:lstStyle/>
          <a:p>
            <a:pPr algn="l">
              <a:lnSpc>
                <a:spcPct val="114000"/>
              </a:lnSpc>
            </a:pPr>
            <a:r>
              <a:rPr sz="1200" b="0" i="1">
                <a:solidFill>
                  <a:srgbClr val="1C7293"/>
                </a:solidFill>
                <a:latin typeface="Arial"/>
              </a:rPr>
              <a:t>ни один интервал нуля не пересекает</a:t>
            </a:r>
          </a:p>
        </p:txBody>
      </p:sp>
      <p:sp>
        <p:nvSpPr>
          <p:cNvPr id="17" name="Rounded Rectangle 16"/>
          <p:cNvSpPr/>
          <p:nvPr/>
        </p:nvSpPr>
        <p:spPr>
          <a:xfrm>
            <a:off x="374904" y="3436056"/>
            <a:ext cx="11441887" cy="897930"/>
          </a:xfrm>
          <a:prstGeom prst="roundRect">
            <a:avLst>
              <a:gd name="adj" fmla="val 25000"/>
            </a:avLst>
          </a:prstGeom>
          <a:solidFill>
            <a:srgbClr val="F4F7FA"/>
          </a:solidFill>
          <a:ln w="19050">
            <a:solidFill>
              <a:srgbClr val="1C7293"/>
            </a:solidFill>
          </a:ln>
          <a:effectLst/>
        </p:spPr>
        <p:txBody>
          <a:bodyPr rtlCol="0" anchor="ctr"/>
          <a:lstStyle/>
          <a:p>
            <a:pPr algn="ctr"/>
          </a:p>
        </p:txBody>
      </p:sp>
      <p:sp>
        <p:nvSpPr>
          <p:cNvPr id="18" name="TextBox 17"/>
          <p:cNvSpPr txBox="1"/>
          <p:nvPr/>
        </p:nvSpPr>
        <p:spPr>
          <a:xfrm>
            <a:off x="539496" y="3527496"/>
            <a:ext cx="11112703" cy="2708711"/>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Счёт идёт против лучшей из двух сторон. Человека одного пара обходит:</a:t>
            </a:r>
            <a:r>
              <a:rPr sz="1500" b="0" i="0">
                <a:solidFill>
                  <a:srgbClr val="21295C"/>
                </a:solidFill>
                <a:latin typeface="Arial"/>
              </a:rPr>
              <a:t> 0,64 (интервал 0,53–0,74).</a:t>
            </a:r>
          </a:p>
          <a:p>
            <a:pPr algn="l">
              <a:lnSpc>
                <a:spcPct val="126000"/>
              </a:lnSpc>
              <a:spcBef>
                <a:spcPts val="700"/>
              </a:spcBef>
            </a:pPr>
            <a:r>
              <a:rPr sz="1200" b="0" i="0">
                <a:solidFill>
                  <a:srgbClr val="21295C"/>
                </a:solidFill>
                <a:latin typeface="Arial"/>
              </a:rPr>
              <a:t/>
            </a:r>
            <a:r>
              <a:rPr sz="1200" b="0" i="1">
                <a:solidFill>
                  <a:srgbClr val="1C7293"/>
                </a:solidFill>
                <a:latin typeface="Arial"/>
              </a:rPr>
              <a:t>Предрегистрированный обзор с мета-анализом.</a:t>
            </a:r>
          </a:p>
        </p:txBody>
      </p:sp>
      <p:sp>
        <p:nvSpPr>
          <p:cNvPr id="19" name="Rectangle 18"/>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20" name="TextBox 19"/>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Vaccaro, Almaatouq, Malone, Nature Human Behaviour 2024</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500" b="1" i="0">
                <a:solidFill>
                  <a:srgbClr val="21295C"/>
                </a:solidFill>
                <a:latin typeface="Arial"/>
              </a:rPr>
              <a:t>Обещано в прошлый раз: оценка риска перед экстренной операцией</a:t>
            </a:r>
          </a:p>
        </p:txBody>
      </p:sp>
      <p:sp>
        <p:nvSpPr>
          <p:cNvPr id="4" name="Rounded Rectangle 3"/>
          <p:cNvSpPr/>
          <p:nvPr/>
        </p:nvSpPr>
        <p:spPr>
          <a:xfrm>
            <a:off x="502920" y="1335024"/>
            <a:ext cx="5510631" cy="1376997"/>
          </a:xfrm>
          <a:prstGeom prst="roundRect">
            <a:avLst>
              <a:gd name="adj" fmla="val 22135"/>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5236311"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НЕДООЦЕНИТЬ РИСК</a:t>
            </a:r>
          </a:p>
        </p:txBody>
      </p:sp>
      <p:sp>
        <p:nvSpPr>
          <p:cNvPr id="6" name="TextBox 5"/>
          <p:cNvSpPr txBox="1"/>
          <p:nvPr/>
        </p:nvSpPr>
        <p:spPr>
          <a:xfrm>
            <a:off x="640080" y="1725375"/>
            <a:ext cx="5236311"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оперируют как рядовой случай</a:t>
            </a:r>
          </a:p>
        </p:txBody>
      </p:sp>
      <p:sp>
        <p:nvSpPr>
          <p:cNvPr id="7" name="TextBox 6"/>
          <p:cNvSpPr txBox="1"/>
          <p:nvPr/>
        </p:nvSpPr>
        <p:spPr>
          <a:xfrm>
            <a:off x="640080" y="2152374"/>
            <a:ext cx="5236311"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без реанимации и без разговора с семьёй</a:t>
            </a:r>
          </a:p>
        </p:txBody>
      </p:sp>
      <p:sp>
        <p:nvSpPr>
          <p:cNvPr id="8" name="Rounded Rectangle 7"/>
          <p:cNvSpPr/>
          <p:nvPr/>
        </p:nvSpPr>
        <p:spPr>
          <a:xfrm>
            <a:off x="6178143" y="1335024"/>
            <a:ext cx="5510631" cy="1376997"/>
          </a:xfrm>
          <a:prstGeom prst="roundRect">
            <a:avLst>
              <a:gd name="adj" fmla="val 22135"/>
            </a:avLst>
          </a:prstGeom>
          <a:solidFill>
            <a:srgbClr val="FFFFFF"/>
          </a:solidFill>
          <a:ln w="25400">
            <a:solidFill>
              <a:srgbClr val="F0AB00"/>
            </a:solidFill>
          </a:ln>
          <a:effectLst/>
        </p:spPr>
        <p:txBody>
          <a:bodyPr rtlCol="0" anchor="ctr"/>
          <a:lstStyle/>
          <a:p>
            <a:pPr algn="ctr"/>
          </a:p>
        </p:txBody>
      </p:sp>
      <p:sp>
        <p:nvSpPr>
          <p:cNvPr id="9" name="TextBox 8"/>
          <p:cNvSpPr txBox="1"/>
          <p:nvPr/>
        </p:nvSpPr>
        <p:spPr>
          <a:xfrm>
            <a:off x="6315303" y="1472184"/>
            <a:ext cx="5236311"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ПЕРЕОЦЕНИТЬ РИСК</a:t>
            </a:r>
          </a:p>
        </p:txBody>
      </p:sp>
      <p:sp>
        <p:nvSpPr>
          <p:cNvPr id="10" name="TextBox 9"/>
          <p:cNvSpPr txBox="1"/>
          <p:nvPr/>
        </p:nvSpPr>
        <p:spPr>
          <a:xfrm>
            <a:off x="6315303" y="1725375"/>
            <a:ext cx="5236311"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операцию отложат или отменят</a:t>
            </a:r>
          </a:p>
        </p:txBody>
      </p:sp>
      <p:sp>
        <p:nvSpPr>
          <p:cNvPr id="11" name="TextBox 10"/>
          <p:cNvSpPr txBox="1"/>
          <p:nvPr/>
        </p:nvSpPr>
        <p:spPr>
          <a:xfrm>
            <a:off x="6315303" y="2152374"/>
            <a:ext cx="5236311"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в тридцатидневном счёте её не видно: не оперировали — сравнивать не с чем</a:t>
            </a:r>
          </a:p>
        </p:txBody>
      </p:sp>
      <p:sp>
        <p:nvSpPr>
          <p:cNvPr id="12" name="Rounded Rectangle 11"/>
          <p:cNvSpPr/>
          <p:nvPr/>
        </p:nvSpPr>
        <p:spPr>
          <a:xfrm>
            <a:off x="374904" y="2803461"/>
            <a:ext cx="11441887" cy="2531547"/>
          </a:xfrm>
          <a:prstGeom prst="roundRect">
            <a:avLst>
              <a:gd name="adj" fmla="val 12040"/>
            </a:avLst>
          </a:prstGeom>
          <a:solidFill>
            <a:srgbClr val="F4F7FA"/>
          </a:solidFill>
          <a:ln w="19050">
            <a:solidFill>
              <a:srgbClr val="1C7293"/>
            </a:solidFill>
          </a:ln>
          <a:effectLst/>
        </p:spPr>
        <p:txBody>
          <a:bodyPr rtlCol="0" anchor="ctr"/>
          <a:lstStyle/>
          <a:p>
            <a:pPr algn="ctr"/>
          </a:p>
        </p:txBody>
      </p:sp>
      <p:sp>
        <p:nvSpPr>
          <p:cNvPr id="13" name="TextBox 12"/>
          <p:cNvSpPr txBox="1"/>
          <p:nvPr/>
        </p:nvSpPr>
        <p:spPr>
          <a:xfrm>
            <a:off x="539496" y="2894901"/>
            <a:ext cx="5373471" cy="3341306"/>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Обещано было дважды: пример, где добавление человека к машине ухудшило результат. Это он.</a:t>
            </a:r>
          </a:p>
          <a:p>
            <a:pPr algn="l">
              <a:lnSpc>
                <a:spcPct val="126000"/>
              </a:lnSpc>
              <a:spcBef>
                <a:spcPts val="700"/>
              </a:spcBef>
            </a:pPr>
            <a:r>
              <a:rPr sz="1500" b="0" i="0">
                <a:solidFill>
                  <a:srgbClr val="21295C"/>
                </a:solidFill>
                <a:latin typeface="Arial"/>
              </a:rPr>
              <a:t/>
            </a:r>
            <a:r>
              <a:rPr sz="1500" b="1" i="0">
                <a:solidFill>
                  <a:srgbClr val="21295C"/>
                </a:solidFill>
                <a:latin typeface="Arial"/>
              </a:rPr>
              <a:t>Классический режим</a:t>
            </a:r>
            <a:r>
              <a:rPr sz="1500" b="0" i="0">
                <a:solidFill>
                  <a:srgbClr val="21295C"/>
                </a:solidFill>
                <a:latin typeface="Arial"/>
              </a:rPr>
              <a:t> — чем решают без обученной модели: шкала, справочник, процедура, второй человек</a:t>
            </a:r>
          </a:p>
          <a:p>
            <a:pPr algn="l">
              <a:lnSpc>
                <a:spcPct val="126000"/>
              </a:lnSpc>
              <a:spcBef>
                <a:spcPts val="700"/>
              </a:spcBef>
            </a:pPr>
            <a:r>
              <a:rPr sz="1500" b="0" i="0">
                <a:solidFill>
                  <a:srgbClr val="21295C"/>
                </a:solidFill>
                <a:latin typeface="Arial"/>
              </a:rPr>
              <a:t/>
            </a:r>
            <a:r>
              <a:rPr sz="1500" b="1" i="0">
                <a:solidFill>
                  <a:srgbClr val="21295C"/>
                </a:solidFill>
                <a:latin typeface="Arial"/>
              </a:rPr>
              <a:t>Одна выборка — три шкалы и модель.</a:t>
            </a:r>
            <a:r>
              <a:rPr sz="1500" b="0" i="0">
                <a:solidFill>
                  <a:srgbClr val="21295C"/>
                </a:solidFill>
                <a:latin typeface="Arial"/>
              </a:rPr>
              <a:t> Физического состояния 0,8743 · экстренной хирургии 0,8910 · калькулятор 0,8975 · модель 0,9162.</a:t>
            </a:r>
          </a:p>
        </p:txBody>
      </p:sp>
      <p:sp>
        <p:nvSpPr>
          <p:cNvPr id="14" name="TextBox 13"/>
          <p:cNvSpPr txBox="1"/>
          <p:nvPr/>
        </p:nvSpPr>
        <p:spPr>
          <a:xfrm>
            <a:off x="6278727" y="2894901"/>
            <a:ext cx="5373471" cy="3341306"/>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Другие 150 случаев — чутьё хирурга.</a:t>
            </a:r>
            <a:r>
              <a:rPr sz="1500" b="0" i="0">
                <a:solidFill>
                  <a:srgbClr val="21295C"/>
                </a:solidFill>
                <a:latin typeface="Arial"/>
              </a:rPr>
              <a:t> По описанию, 15 врачей: смертность 0,841 — точнее модель, септический шок 0,820 — точнее хирург.</a:t>
            </a:r>
          </a:p>
          <a:p>
            <a:pPr algn="l">
              <a:lnSpc>
                <a:spcPct val="126000"/>
              </a:lnSpc>
              <a:spcBef>
                <a:spcPts val="700"/>
              </a:spcBef>
            </a:pPr>
            <a:r>
              <a:rPr sz="1200" b="0" i="0">
                <a:solidFill>
                  <a:srgbClr val="21295C"/>
                </a:solidFill>
                <a:latin typeface="Arial"/>
              </a:rPr>
              <a:t/>
            </a:r>
            <a:r>
              <a:rPr sz="1200" b="0" i="1">
                <a:solidFill>
                  <a:srgbClr val="1C7293"/>
                </a:solidFill>
                <a:latin typeface="Arial"/>
              </a:rPr>
              <a:t>Выборки разные — рядом не ставятся.</a:t>
            </a:r>
          </a:p>
          <a:p>
            <a:pPr algn="l">
              <a:lnSpc>
                <a:spcPct val="126000"/>
              </a:lnSpc>
              <a:spcBef>
                <a:spcPts val="700"/>
              </a:spcBef>
            </a:pPr>
            <a:r>
              <a:rPr sz="1500" b="0" i="0">
                <a:solidFill>
                  <a:srgbClr val="21295C"/>
                </a:solidFill>
                <a:latin typeface="Arial"/>
              </a:rPr>
              <a:t/>
            </a:r>
            <a:r>
              <a:rPr sz="1500" b="1" i="0">
                <a:solidFill>
                  <a:srgbClr val="21295C"/>
                </a:solidFill>
                <a:latin typeface="Arial"/>
              </a:rPr>
              <a:t>c-статистика:</a:t>
            </a:r>
            <a:r>
              <a:rPr sz="1500" b="0" i="0">
                <a:solidFill>
                  <a:srgbClr val="21295C"/>
                </a:solidFill>
                <a:latin typeface="Arial"/>
              </a:rPr>
              <a:t> 0,5 — монетка, 1,0 — без промаха</a:t>
            </a:r>
          </a:p>
        </p:txBody>
      </p:sp>
      <p:sp>
        <p:nvSpPr>
          <p:cNvPr id="15" name="Rectangle 14"/>
          <p:cNvSpPr/>
          <p:nvPr/>
        </p:nvSpPr>
        <p:spPr>
          <a:xfrm>
            <a:off x="6091275" y="2894901"/>
            <a:ext cx="9144" cy="2257227"/>
          </a:xfrm>
          <a:prstGeom prst="rect">
            <a:avLst/>
          </a:prstGeom>
          <a:solidFill>
            <a:srgbClr val="D9E2EC"/>
          </a:solidFill>
          <a:ln>
            <a:noFill/>
          </a:ln>
          <a:effectLst/>
        </p:spPr>
        <p:txBody>
          <a:bodyPr rtlCol="0" anchor="ctr"/>
          <a:lstStyle/>
          <a:p>
            <a:pPr algn="ctr"/>
          </a:p>
        </p:txBody>
      </p:sp>
      <p:sp>
        <p:nvSpPr>
          <p:cNvPr id="16" name="Rectangle 15"/>
          <p:cNvSpPr/>
          <p:nvPr/>
        </p:nvSpPr>
        <p:spPr>
          <a:xfrm>
            <a:off x="502920" y="854141"/>
            <a:ext cx="960120" cy="50292"/>
          </a:xfrm>
          <a:prstGeom prst="rect">
            <a:avLst/>
          </a:prstGeom>
          <a:solidFill>
            <a:srgbClr val="F0AB00"/>
          </a:solidFill>
          <a:ln>
            <a:noFill/>
          </a:ln>
          <a:effectLst/>
        </p:spPr>
        <p:txBody>
          <a:bodyPr rtlCol="0" anchor="ctr"/>
          <a:lstStyle/>
          <a:p>
            <a:pPr algn="ctr"/>
          </a:p>
        </p:txBody>
      </p:sp>
      <p:sp>
        <p:nvSpPr>
          <p:cNvPr id="17" name="TextBox 16"/>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Бертсимас и соавт., Annals of Surgery 2018</a:t>
            </a:r>
            <a:r>
              <a:rPr sz="1200" b="0" i="1">
                <a:solidFill>
                  <a:srgbClr val="1C7293"/>
                </a:solidFill>
                <a:latin typeface="Arial"/>
              </a:rPr>
              <a:t> · </a:t>
            </a:r>
            <a:r>
              <a:rPr sz="1200" b="0" i="1" u="sng">
                <a:solidFill>
                  <a:srgbClr val="065A82"/>
                </a:solidFill>
                <a:latin typeface="Arial"/>
                <a:hlinkClick r:id="rId3"/>
              </a:rPr>
              <a:t>модель против чутья хирурга, Journal of Trauma 2023</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500" b="1" i="0">
                <a:solidFill>
                  <a:srgbClr val="21295C"/>
                </a:solidFill>
                <a:latin typeface="Arial"/>
              </a:rPr>
              <a:t>Пример 5: хирурги на септическом шоке — 0,712 против 0,816 и 0,820</a:t>
            </a:r>
          </a:p>
        </p:txBody>
      </p:sp>
      <p:sp>
        <p:nvSpPr>
          <p:cNvPr id="4" name="Rectangle 3"/>
          <p:cNvSpPr/>
          <p:nvPr/>
        </p:nvSpPr>
        <p:spPr>
          <a:xfrm>
            <a:off x="754380" y="2005998"/>
            <a:ext cx="10682935" cy="50292"/>
          </a:xfrm>
          <a:prstGeom prst="rect">
            <a:avLst/>
          </a:prstGeom>
          <a:solidFill>
            <a:srgbClr val="1C7293"/>
          </a:solidFill>
          <a:ln>
            <a:noFill/>
          </a:ln>
          <a:effectLst/>
        </p:spPr>
        <p:txBody>
          <a:bodyPr rtlCol="0" anchor="ctr"/>
          <a:lstStyle/>
          <a:p>
            <a:pPr algn="ctr"/>
          </a:p>
        </p:txBody>
      </p:sp>
      <p:sp>
        <p:nvSpPr>
          <p:cNvPr id="5" name="TextBox 4"/>
          <p:cNvSpPr txBox="1"/>
          <p:nvPr/>
        </p:nvSpPr>
        <p:spPr>
          <a:xfrm>
            <a:off x="388620" y="2092866"/>
            <a:ext cx="731520" cy="219456"/>
          </a:xfrm>
          <a:prstGeom prst="rect">
            <a:avLst/>
          </a:prstGeom>
          <a:noFill/>
        </p:spPr>
        <p:txBody>
          <a:bodyPr wrap="square" lIns="0" rIns="0" tIns="0" bIns="0" anchor="t">
            <a:spAutoFit/>
          </a:bodyPr>
          <a:lstStyle/>
          <a:p>
            <a:pPr algn="ctr">
              <a:lnSpc>
                <a:spcPct val="100000"/>
              </a:lnSpc>
            </a:pPr>
            <a:r>
              <a:rPr sz="1200" b="0" i="0">
                <a:solidFill>
                  <a:srgbClr val="556070"/>
                </a:solidFill>
                <a:latin typeface="Arial"/>
              </a:rPr>
              <a:t>0,7</a:t>
            </a:r>
          </a:p>
        </p:txBody>
      </p:sp>
      <p:sp>
        <p:nvSpPr>
          <p:cNvPr id="6" name="TextBox 5"/>
          <p:cNvSpPr txBox="1"/>
          <p:nvPr/>
        </p:nvSpPr>
        <p:spPr>
          <a:xfrm>
            <a:off x="11071555" y="2092866"/>
            <a:ext cx="731520" cy="219456"/>
          </a:xfrm>
          <a:prstGeom prst="rect">
            <a:avLst/>
          </a:prstGeom>
          <a:noFill/>
        </p:spPr>
        <p:txBody>
          <a:bodyPr wrap="square" lIns="0" rIns="0" tIns="0" bIns="0" anchor="t">
            <a:spAutoFit/>
          </a:bodyPr>
          <a:lstStyle/>
          <a:p>
            <a:pPr algn="ctr">
              <a:lnSpc>
                <a:spcPct val="100000"/>
              </a:lnSpc>
            </a:pPr>
            <a:r>
              <a:rPr sz="1200" b="0" i="0">
                <a:solidFill>
                  <a:srgbClr val="556070"/>
                </a:solidFill>
                <a:latin typeface="Arial"/>
              </a:rPr>
              <a:t>0,9</a:t>
            </a:r>
          </a:p>
        </p:txBody>
      </p:sp>
      <p:sp>
        <p:nvSpPr>
          <p:cNvPr id="7" name="Rectangle 6"/>
          <p:cNvSpPr/>
          <p:nvPr/>
        </p:nvSpPr>
        <p:spPr>
          <a:xfrm>
            <a:off x="836676" y="1925531"/>
            <a:ext cx="37033" cy="211226"/>
          </a:xfrm>
          <a:prstGeom prst="rect">
            <a:avLst/>
          </a:prstGeom>
          <a:solidFill>
            <a:srgbClr val="FFFFFF"/>
          </a:solidFill>
          <a:ln>
            <a:noFill/>
          </a:ln>
          <a:effectLst/>
        </p:spPr>
        <p:txBody>
          <a:bodyPr rtlCol="0" anchor="ctr"/>
          <a:lstStyle/>
          <a:p>
            <a:pPr algn="ctr"/>
          </a:p>
        </p:txBody>
      </p:sp>
      <p:sp>
        <p:nvSpPr>
          <p:cNvPr id="8" name="Rectangle 7"/>
          <p:cNvSpPr/>
          <p:nvPr/>
        </p:nvSpPr>
        <p:spPr>
          <a:xfrm>
            <a:off x="910742" y="1925531"/>
            <a:ext cx="37033" cy="211226"/>
          </a:xfrm>
          <a:prstGeom prst="rect">
            <a:avLst/>
          </a:prstGeom>
          <a:solidFill>
            <a:srgbClr val="FFFFFF"/>
          </a:solidFill>
          <a:ln>
            <a:noFill/>
          </a:ln>
          <a:effectLst/>
        </p:spPr>
        <p:txBody>
          <a:bodyPr rtlCol="0" anchor="ctr"/>
          <a:lstStyle/>
          <a:p>
            <a:pPr algn="ctr"/>
          </a:p>
        </p:txBody>
      </p:sp>
      <p:sp>
        <p:nvSpPr>
          <p:cNvPr id="9" name="Rectangle 8"/>
          <p:cNvSpPr/>
          <p:nvPr/>
        </p:nvSpPr>
        <p:spPr>
          <a:xfrm>
            <a:off x="9430106" y="2056290"/>
            <a:ext cx="50292" cy="164592"/>
          </a:xfrm>
          <a:prstGeom prst="rect">
            <a:avLst/>
          </a:prstGeom>
          <a:solidFill>
            <a:srgbClr val="065A82"/>
          </a:solidFill>
          <a:ln>
            <a:noFill/>
          </a:ln>
          <a:effectLst/>
        </p:spPr>
        <p:txBody>
          <a:bodyPr rtlCol="0" anchor="ctr"/>
          <a:lstStyle/>
          <a:p>
            <a:pPr algn="ctr"/>
          </a:p>
        </p:txBody>
      </p:sp>
      <p:sp>
        <p:nvSpPr>
          <p:cNvPr id="10" name="TextBox 9"/>
          <p:cNvSpPr txBox="1"/>
          <p:nvPr/>
        </p:nvSpPr>
        <p:spPr>
          <a:xfrm>
            <a:off x="7590943" y="2312322"/>
            <a:ext cx="3728618" cy="414942"/>
          </a:xfrm>
          <a:prstGeom prst="rect">
            <a:avLst/>
          </a:prstGeom>
          <a:noFill/>
        </p:spPr>
        <p:txBody>
          <a:bodyPr wrap="square" lIns="0" rIns="0" tIns="0" bIns="0" anchor="t">
            <a:spAutoFit/>
          </a:bodyPr>
          <a:lstStyle/>
          <a:p>
            <a:pPr algn="ctr">
              <a:lnSpc>
                <a:spcPct val="110000"/>
              </a:lnSpc>
            </a:pPr>
            <a:r>
              <a:rPr sz="1200" b="0" i="0">
                <a:solidFill>
                  <a:srgbClr val="21295C"/>
                </a:solidFill>
                <a:latin typeface="Arial"/>
              </a:rPr>
              <a:t>0,816</a:t>
            </a:r>
          </a:p>
          <a:p>
            <a:pPr algn="ctr">
              <a:lnSpc>
                <a:spcPct val="110000"/>
              </a:lnSpc>
            </a:pPr>
            <a:r>
              <a:rPr sz="1200" b="0" i="0">
                <a:solidFill>
                  <a:srgbClr val="21295C"/>
                </a:solidFill>
                <a:latin typeface="Arial"/>
              </a:rPr>
              <a:t>Модель одна</a:t>
            </a:r>
          </a:p>
        </p:txBody>
      </p:sp>
      <p:sp>
        <p:nvSpPr>
          <p:cNvPr id="11" name="Rectangle 10"/>
          <p:cNvSpPr/>
          <p:nvPr/>
        </p:nvSpPr>
        <p:spPr>
          <a:xfrm>
            <a:off x="9633706" y="1841406"/>
            <a:ext cx="50292" cy="164592"/>
          </a:xfrm>
          <a:prstGeom prst="rect">
            <a:avLst/>
          </a:prstGeom>
          <a:solidFill>
            <a:srgbClr val="065A82"/>
          </a:solidFill>
          <a:ln>
            <a:noFill/>
          </a:ln>
          <a:effectLst/>
        </p:spPr>
        <p:txBody>
          <a:bodyPr rtlCol="0" anchor="ctr"/>
          <a:lstStyle/>
          <a:p>
            <a:pPr algn="ctr"/>
          </a:p>
        </p:txBody>
      </p:sp>
      <p:sp>
        <p:nvSpPr>
          <p:cNvPr id="12" name="TextBox 11"/>
          <p:cNvSpPr txBox="1"/>
          <p:nvPr/>
        </p:nvSpPr>
        <p:spPr>
          <a:xfrm>
            <a:off x="7794543" y="1335024"/>
            <a:ext cx="3728618" cy="414942"/>
          </a:xfrm>
          <a:prstGeom prst="rect">
            <a:avLst/>
          </a:prstGeom>
          <a:noFill/>
        </p:spPr>
        <p:txBody>
          <a:bodyPr wrap="square" lIns="0" rIns="0" tIns="0" bIns="0" anchor="b">
            <a:spAutoFit/>
          </a:bodyPr>
          <a:lstStyle/>
          <a:p>
            <a:pPr algn="ctr">
              <a:lnSpc>
                <a:spcPct val="110000"/>
              </a:lnSpc>
            </a:pPr>
            <a:r>
              <a:rPr sz="1200" b="0" i="0">
                <a:solidFill>
                  <a:srgbClr val="21295C"/>
                </a:solidFill>
                <a:latin typeface="Arial"/>
              </a:rPr>
              <a:t>0,820</a:t>
            </a:r>
          </a:p>
          <a:p>
            <a:pPr algn="ctr">
              <a:lnSpc>
                <a:spcPct val="110000"/>
              </a:lnSpc>
            </a:pPr>
            <a:r>
              <a:rPr sz="1200" b="0" i="0">
                <a:solidFill>
                  <a:srgbClr val="21295C"/>
                </a:solidFill>
                <a:latin typeface="Arial"/>
              </a:rPr>
              <a:t>Хирург один</a:t>
            </a:r>
          </a:p>
        </p:txBody>
      </p:sp>
      <p:sp>
        <p:nvSpPr>
          <p:cNvPr id="13" name="Rectangle 12"/>
          <p:cNvSpPr/>
          <p:nvPr/>
        </p:nvSpPr>
        <p:spPr>
          <a:xfrm>
            <a:off x="4136498" y="1841406"/>
            <a:ext cx="50292" cy="164592"/>
          </a:xfrm>
          <a:prstGeom prst="rect">
            <a:avLst/>
          </a:prstGeom>
          <a:solidFill>
            <a:srgbClr val="F0AB00"/>
          </a:solidFill>
          <a:ln>
            <a:noFill/>
          </a:ln>
          <a:effectLst/>
        </p:spPr>
        <p:txBody>
          <a:bodyPr rtlCol="0" anchor="ctr"/>
          <a:lstStyle/>
          <a:p>
            <a:pPr algn="ctr"/>
          </a:p>
        </p:txBody>
      </p:sp>
      <p:sp>
        <p:nvSpPr>
          <p:cNvPr id="14" name="TextBox 13"/>
          <p:cNvSpPr txBox="1"/>
          <p:nvPr/>
        </p:nvSpPr>
        <p:spPr>
          <a:xfrm>
            <a:off x="2297335" y="1335024"/>
            <a:ext cx="3728618" cy="414942"/>
          </a:xfrm>
          <a:prstGeom prst="rect">
            <a:avLst/>
          </a:prstGeom>
          <a:noFill/>
        </p:spPr>
        <p:txBody>
          <a:bodyPr wrap="square" lIns="0" rIns="0" tIns="0" bIns="0" anchor="b">
            <a:spAutoFit/>
          </a:bodyPr>
          <a:lstStyle/>
          <a:p>
            <a:pPr algn="ctr">
              <a:lnSpc>
                <a:spcPct val="110000"/>
              </a:lnSpc>
            </a:pPr>
            <a:r>
              <a:rPr sz="1200" b="0" i="0">
                <a:solidFill>
                  <a:srgbClr val="21295C"/>
                </a:solidFill>
                <a:latin typeface="Arial"/>
              </a:rPr>
              <a:t>0,712</a:t>
            </a:r>
          </a:p>
          <a:p>
            <a:pPr algn="ctr">
              <a:lnSpc>
                <a:spcPct val="110000"/>
              </a:lnSpc>
            </a:pPr>
            <a:r>
              <a:rPr sz="1200" b="0" i="0">
                <a:solidFill>
                  <a:srgbClr val="21295C"/>
                </a:solidFill>
                <a:latin typeface="Arial"/>
              </a:rPr>
              <a:t>Хирург с подсказкой</a:t>
            </a:r>
          </a:p>
        </p:txBody>
      </p:sp>
      <p:sp>
        <p:nvSpPr>
          <p:cNvPr id="15" name="TextBox 14"/>
          <p:cNvSpPr txBox="1"/>
          <p:nvPr/>
        </p:nvSpPr>
        <p:spPr>
          <a:xfrm>
            <a:off x="502920" y="2836993"/>
            <a:ext cx="11185855" cy="219456"/>
          </a:xfrm>
          <a:prstGeom prst="rect">
            <a:avLst/>
          </a:prstGeom>
          <a:noFill/>
        </p:spPr>
        <p:txBody>
          <a:bodyPr wrap="square" lIns="0" rIns="0" tIns="0" bIns="0" anchor="t">
            <a:spAutoFit/>
          </a:bodyPr>
          <a:lstStyle/>
          <a:p>
            <a:pPr algn="ctr">
              <a:lnSpc>
                <a:spcPct val="100000"/>
              </a:lnSpc>
            </a:pPr>
            <a:r>
              <a:rPr sz="1200" b="1" i="0">
                <a:solidFill>
                  <a:srgbClr val="065A82"/>
                </a:solidFill>
                <a:latin typeface="Arial"/>
              </a:rPr>
              <a:t>площадь под кривой · 150 случаев, 30 хирургов по группам жребием, 30 дней наблюдения</a:t>
            </a:r>
          </a:p>
        </p:txBody>
      </p:sp>
      <p:sp>
        <p:nvSpPr>
          <p:cNvPr id="16" name="Rounded Rectangle 15"/>
          <p:cNvSpPr/>
          <p:nvPr/>
        </p:nvSpPr>
        <p:spPr>
          <a:xfrm>
            <a:off x="374904" y="3147889"/>
            <a:ext cx="11441887" cy="2175074"/>
          </a:xfrm>
          <a:prstGeom prst="roundRect">
            <a:avLst>
              <a:gd name="adj" fmla="val 14013"/>
            </a:avLst>
          </a:prstGeom>
          <a:solidFill>
            <a:srgbClr val="F4F7FA"/>
          </a:solidFill>
          <a:ln w="19050">
            <a:solidFill>
              <a:srgbClr val="1C7293"/>
            </a:solidFill>
          </a:ln>
          <a:effectLst/>
        </p:spPr>
        <p:txBody>
          <a:bodyPr rtlCol="0" anchor="ctr"/>
          <a:lstStyle/>
          <a:p>
            <a:pPr algn="ctr"/>
          </a:p>
        </p:txBody>
      </p:sp>
      <p:sp>
        <p:nvSpPr>
          <p:cNvPr id="17" name="TextBox 16"/>
          <p:cNvSpPr txBox="1"/>
          <p:nvPr/>
        </p:nvSpPr>
        <p:spPr>
          <a:xfrm>
            <a:off x="539496" y="3239329"/>
            <a:ext cx="5373471" cy="2996878"/>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Изделие: POTTER.</a:t>
            </a:r>
            <a:r>
              <a:rPr sz="1500" b="0" i="0">
                <a:solidFill>
                  <a:srgbClr val="21295C"/>
                </a:solidFill>
                <a:latin typeface="Arial"/>
              </a:rPr>
              <a:t> </a:t>
            </a:r>
            <a:r>
              <a:rPr sz="1500" b="1" i="0">
                <a:solidFill>
                  <a:srgbClr val="21295C"/>
                </a:solidFill>
                <a:latin typeface="Arial"/>
              </a:rPr>
              <a:t>Вход:</a:t>
            </a:r>
            <a:r>
              <a:rPr sz="1500" b="0" i="0">
                <a:solidFill>
                  <a:srgbClr val="21295C"/>
                </a:solidFill>
                <a:latin typeface="Arial"/>
              </a:rPr>
              <a:t> 4–11 ответов о больном, </a:t>
            </a:r>
            <a:r>
              <a:rPr sz="1500" b="1" i="0">
                <a:solidFill>
                  <a:srgbClr val="21295C"/>
                </a:solidFill>
                <a:latin typeface="Arial"/>
              </a:rPr>
              <a:t>выход:</a:t>
            </a:r>
            <a:r>
              <a:rPr sz="1500" b="0" i="0">
                <a:solidFill>
                  <a:srgbClr val="21295C"/>
                </a:solidFill>
                <a:latin typeface="Arial"/>
              </a:rPr>
              <a:t> вероятности пяти исходов за 30 дней. </a:t>
            </a:r>
            <a:r>
              <a:rPr sz="1500" b="1" i="0">
                <a:solidFill>
                  <a:srgbClr val="21295C"/>
                </a:solidFill>
                <a:latin typeface="Arial"/>
              </a:rPr>
              <a:t>Обучен</a:t>
            </a:r>
            <a:r>
              <a:rPr sz="1500" b="0" i="0">
                <a:solidFill>
                  <a:srgbClr val="21295C"/>
                </a:solidFill>
                <a:latin typeface="Arial"/>
              </a:rPr>
              <a:t> на 382 960 случаях экстренной хирургии. Решающие деревья, не нейросеть.</a:t>
            </a:r>
          </a:p>
          <a:p>
            <a:pPr algn="l">
              <a:lnSpc>
                <a:spcPct val="126000"/>
              </a:lnSpc>
              <a:spcBef>
                <a:spcPts val="700"/>
              </a:spcBef>
            </a:pPr>
            <a:r>
              <a:rPr sz="1500" b="0" i="0">
                <a:solidFill>
                  <a:srgbClr val="21295C"/>
                </a:solidFill>
                <a:latin typeface="Arial"/>
              </a:rPr>
              <a:t/>
            </a:r>
            <a:r>
              <a:rPr sz="1500" b="1" i="0">
                <a:solidFill>
                  <a:srgbClr val="21295C"/>
                </a:solidFill>
                <a:latin typeface="Arial"/>
              </a:rPr>
              <a:t>Контрпример там же:</a:t>
            </a:r>
            <a:r>
              <a:rPr sz="1500" b="0" i="0">
                <a:solidFill>
                  <a:srgbClr val="21295C"/>
                </a:solidFill>
                <a:latin typeface="Arial"/>
              </a:rPr>
              <a:t> где перевес модели наибольший, пара не прибавила — </a:t>
            </a:r>
            <a:r>
              <a:rPr sz="1500" b="1" i="0">
                <a:solidFill>
                  <a:srgbClr val="21295C"/>
                </a:solidFill>
                <a:latin typeface="Arial"/>
              </a:rPr>
              <a:t>0,834 против 0,833</a:t>
            </a:r>
            <a:r>
              <a:rPr sz="1500" b="0" i="0">
                <a:solidFill>
                  <a:srgbClr val="21295C"/>
                </a:solidFill>
                <a:latin typeface="Arial"/>
              </a:rPr>
              <a:t>.</a:t>
            </a:r>
          </a:p>
        </p:txBody>
      </p:sp>
      <p:sp>
        <p:nvSpPr>
          <p:cNvPr id="18" name="TextBox 17"/>
          <p:cNvSpPr txBox="1"/>
          <p:nvPr/>
        </p:nvSpPr>
        <p:spPr>
          <a:xfrm>
            <a:off x="6278727" y="3239329"/>
            <a:ext cx="5373471" cy="2996878"/>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Что переехало.</a:t>
            </a:r>
            <a:r>
              <a:rPr sz="1500" b="0" i="0">
                <a:solidFill>
                  <a:srgbClr val="21295C"/>
                </a:solidFill>
                <a:latin typeface="Arial"/>
              </a:rPr>
              <a:t> Исполнитель тот же, но стал хуже: место, объём и рука прежние, изменилось состояние руки. </a:t>
            </a:r>
            <a:r>
              <a:rPr sz="1500" b="1" i="0">
                <a:solidFill>
                  <a:srgbClr val="21295C"/>
                </a:solidFill>
                <a:latin typeface="Arial"/>
              </a:rPr>
              <a:t>Ступень — смотрит вторым.</a:t>
            </a:r>
          </a:p>
          <a:p>
            <a:pPr algn="l">
              <a:lnSpc>
                <a:spcPct val="126000"/>
              </a:lnSpc>
              <a:spcBef>
                <a:spcPts val="700"/>
              </a:spcBef>
            </a:pPr>
            <a:r>
              <a:rPr sz="1500" b="0" i="0">
                <a:solidFill>
                  <a:srgbClr val="21295C"/>
                </a:solidFill>
                <a:latin typeface="Arial"/>
              </a:rPr>
              <a:t/>
            </a:r>
            <a:r>
              <a:rPr sz="1500" b="1" i="0">
                <a:solidFill>
                  <a:srgbClr val="21295C"/>
                </a:solidFill>
                <a:latin typeface="Arial"/>
              </a:rPr>
              <a:t>Порядок предъявления стоит 8,9 пункта</a:t>
            </a:r>
            <a:r>
              <a:rPr sz="1500" b="0" i="0">
                <a:solidFill>
                  <a:srgbClr val="21295C"/>
                </a:solidFill>
                <a:latin typeface="Arial"/>
              </a:rPr>
              <a:t> — та же команда, 70 врачей.</a:t>
            </a:r>
          </a:p>
          <a:p>
            <a:pPr algn="l">
              <a:lnSpc>
                <a:spcPct val="126000"/>
              </a:lnSpc>
              <a:spcBef>
                <a:spcPts val="700"/>
              </a:spcBef>
            </a:pPr>
            <a:r>
              <a:rPr sz="1200" b="0" i="0">
                <a:solidFill>
                  <a:srgbClr val="21295C"/>
                </a:solidFill>
                <a:latin typeface="Arial"/>
              </a:rPr>
              <a:t/>
            </a:r>
            <a:r>
              <a:rPr sz="1200" b="0" i="1">
                <a:solidFill>
                  <a:srgbClr val="1C7293"/>
                </a:solidFill>
                <a:latin typeface="Arial"/>
              </a:rPr>
              <a:t>По описаниям, не у койки; повторения нет.</a:t>
            </a:r>
          </a:p>
        </p:txBody>
      </p:sp>
      <p:sp>
        <p:nvSpPr>
          <p:cNvPr id="19" name="Rectangle 18"/>
          <p:cNvSpPr/>
          <p:nvPr/>
        </p:nvSpPr>
        <p:spPr>
          <a:xfrm>
            <a:off x="6091275" y="3239329"/>
            <a:ext cx="9144" cy="1900754"/>
          </a:xfrm>
          <a:prstGeom prst="rect">
            <a:avLst/>
          </a:prstGeom>
          <a:solidFill>
            <a:srgbClr val="D9E2EC"/>
          </a:solidFill>
          <a:ln>
            <a:noFill/>
          </a:ln>
          <a:effectLst/>
        </p:spPr>
        <p:txBody>
          <a:bodyPr rtlCol="0" anchor="ctr"/>
          <a:lstStyle/>
          <a:p>
            <a:pPr algn="ctr"/>
          </a:p>
        </p:txBody>
      </p:sp>
      <p:sp>
        <p:nvSpPr>
          <p:cNvPr id="20" name="Rectangle 19"/>
          <p:cNvSpPr/>
          <p:nvPr/>
        </p:nvSpPr>
        <p:spPr>
          <a:xfrm>
            <a:off x="502920" y="854141"/>
            <a:ext cx="960120" cy="50292"/>
          </a:xfrm>
          <a:prstGeom prst="rect">
            <a:avLst/>
          </a:prstGeom>
          <a:solidFill>
            <a:srgbClr val="F0AB00"/>
          </a:solidFill>
          <a:ln>
            <a:noFill/>
          </a:ln>
          <a:effectLst/>
        </p:spPr>
        <p:txBody>
          <a:bodyPr rtlCol="0" anchor="ctr"/>
          <a:lstStyle/>
          <a:p>
            <a:pPr algn="ctr"/>
          </a:p>
        </p:txBody>
      </p:sp>
      <p:sp>
        <p:nvSpPr>
          <p:cNvPr id="21" name="TextBox 20"/>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модель против чутья хирурга, Journal of Trauma 2023</a:t>
            </a:r>
            <a:r>
              <a:rPr sz="1200" b="0" i="1">
                <a:solidFill>
                  <a:srgbClr val="1C7293"/>
                </a:solidFill>
                <a:latin typeface="Arial"/>
              </a:rPr>
              <a:t> · </a:t>
            </a:r>
            <a:r>
              <a:rPr sz="1200" b="0" i="1" u="sng">
                <a:solidFill>
                  <a:srgbClr val="065A82"/>
                </a:solidFill>
                <a:latin typeface="Arial"/>
                <a:hlinkClick r:id="rId3"/>
              </a:rPr>
              <a:t>Эверетт и соавт., npj Digital Medicine 2026</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Ответ собран: четыре замера, один вывод</a:t>
            </a:r>
          </a:p>
        </p:txBody>
      </p:sp>
      <p:sp>
        <p:nvSpPr>
          <p:cNvPr id="4" name="Rounded Rectangle 3"/>
          <p:cNvSpPr/>
          <p:nvPr/>
        </p:nvSpPr>
        <p:spPr>
          <a:xfrm>
            <a:off x="374904" y="1243584"/>
            <a:ext cx="11441887" cy="4779528"/>
          </a:xfrm>
          <a:prstGeom prst="roundRect">
            <a:avLst>
              <a:gd name="adj" fmla="val 6377"/>
            </a:avLst>
          </a:prstGeom>
          <a:solidFill>
            <a:srgbClr val="F4F7FA"/>
          </a:solidFill>
          <a:ln w="19050">
            <a:solidFill>
              <a:srgbClr val="1C7293"/>
            </a:solidFill>
          </a:ln>
          <a:effectLst/>
        </p:spPr>
        <p:txBody>
          <a:bodyPr rtlCol="0" anchor="ctr"/>
          <a:lstStyle/>
          <a:p>
            <a:pPr algn="ctr"/>
          </a:p>
        </p:txBody>
      </p:sp>
      <p:sp>
        <p:nvSpPr>
          <p:cNvPr id="5" name="Rectangle 4"/>
          <p:cNvSpPr/>
          <p:nvPr/>
        </p:nvSpPr>
        <p:spPr>
          <a:xfrm>
            <a:off x="539496" y="1335024"/>
            <a:ext cx="5112984" cy="465425"/>
          </a:xfrm>
          <a:prstGeom prst="rect">
            <a:avLst/>
          </a:prstGeom>
          <a:solidFill>
            <a:srgbClr val="065A82"/>
          </a:solidFill>
          <a:ln>
            <a:noFill/>
          </a:ln>
          <a:effectLst/>
        </p:spPr>
        <p:txBody>
          <a:bodyPr rtlCol="0" anchor="ctr"/>
          <a:lstStyle/>
          <a:p>
            <a:pPr algn="ctr"/>
          </a:p>
        </p:txBody>
      </p:sp>
      <p:sp>
        <p:nvSpPr>
          <p:cNvPr id="6" name="TextBox 5"/>
          <p:cNvSpPr txBox="1"/>
          <p:nvPr/>
        </p:nvSpPr>
        <p:spPr>
          <a:xfrm>
            <a:off x="685800" y="1335024"/>
            <a:ext cx="4820376" cy="465425"/>
          </a:xfrm>
          <a:prstGeom prst="rect">
            <a:avLst/>
          </a:prstGeom>
          <a:noFill/>
        </p:spPr>
        <p:txBody>
          <a:bodyPr wrap="square" lIns="0" rIns="0" tIns="0" bIns="0" anchor="ctr">
            <a:spAutoFit/>
          </a:bodyPr>
          <a:lstStyle/>
          <a:p>
            <a:pPr algn="l">
              <a:lnSpc>
                <a:spcPct val="116000"/>
              </a:lnSpc>
            </a:pPr>
            <a:r>
              <a:rPr sz="1650" b="1" i="0">
                <a:solidFill>
                  <a:srgbClr val="FFFFFF"/>
                </a:solidFill>
                <a:latin typeface="Arial"/>
              </a:rPr>
              <a:t>замер</a:t>
            </a:r>
          </a:p>
        </p:txBody>
      </p:sp>
      <p:sp>
        <p:nvSpPr>
          <p:cNvPr id="7" name="Rectangle 6"/>
          <p:cNvSpPr/>
          <p:nvPr/>
        </p:nvSpPr>
        <p:spPr>
          <a:xfrm>
            <a:off x="5652480" y="1335024"/>
            <a:ext cx="2834840" cy="465425"/>
          </a:xfrm>
          <a:prstGeom prst="rect">
            <a:avLst/>
          </a:prstGeom>
          <a:solidFill>
            <a:srgbClr val="065A82"/>
          </a:solidFill>
          <a:ln>
            <a:noFill/>
          </a:ln>
          <a:effectLst/>
        </p:spPr>
        <p:txBody>
          <a:bodyPr rtlCol="0" anchor="ctr"/>
          <a:lstStyle/>
          <a:p>
            <a:pPr algn="ctr"/>
          </a:p>
        </p:txBody>
      </p:sp>
      <p:sp>
        <p:nvSpPr>
          <p:cNvPr id="8" name="TextBox 7"/>
          <p:cNvSpPr txBox="1"/>
          <p:nvPr/>
        </p:nvSpPr>
        <p:spPr>
          <a:xfrm>
            <a:off x="5798784" y="1335024"/>
            <a:ext cx="2542232" cy="465425"/>
          </a:xfrm>
          <a:prstGeom prst="rect">
            <a:avLst/>
          </a:prstGeom>
          <a:noFill/>
        </p:spPr>
        <p:txBody>
          <a:bodyPr wrap="square" lIns="0" rIns="0" tIns="0" bIns="0" anchor="ctr">
            <a:spAutoFit/>
          </a:bodyPr>
          <a:lstStyle/>
          <a:p>
            <a:pPr algn="l">
              <a:lnSpc>
                <a:spcPct val="116000"/>
              </a:lnSpc>
            </a:pPr>
            <a:r>
              <a:rPr sz="1650" b="1" i="0">
                <a:solidFill>
                  <a:srgbClr val="FFFFFF"/>
                </a:solidFill>
                <a:latin typeface="Arial"/>
              </a:rPr>
              <a:t>разряд</a:t>
            </a:r>
          </a:p>
        </p:txBody>
      </p:sp>
      <p:sp>
        <p:nvSpPr>
          <p:cNvPr id="9" name="Rectangle 8"/>
          <p:cNvSpPr/>
          <p:nvPr/>
        </p:nvSpPr>
        <p:spPr>
          <a:xfrm>
            <a:off x="8487321" y="1335024"/>
            <a:ext cx="3164878" cy="465425"/>
          </a:xfrm>
          <a:prstGeom prst="rect">
            <a:avLst/>
          </a:prstGeom>
          <a:solidFill>
            <a:srgbClr val="065A82"/>
          </a:solidFill>
          <a:ln>
            <a:noFill/>
          </a:ln>
          <a:effectLst/>
        </p:spPr>
        <p:txBody>
          <a:bodyPr rtlCol="0" anchor="ctr"/>
          <a:lstStyle/>
          <a:p>
            <a:pPr algn="ctr"/>
          </a:p>
        </p:txBody>
      </p:sp>
      <p:sp>
        <p:nvSpPr>
          <p:cNvPr id="10" name="TextBox 9"/>
          <p:cNvSpPr txBox="1"/>
          <p:nvPr/>
        </p:nvSpPr>
        <p:spPr>
          <a:xfrm>
            <a:off x="8633625" y="1335024"/>
            <a:ext cx="2872270" cy="465425"/>
          </a:xfrm>
          <a:prstGeom prst="rect">
            <a:avLst/>
          </a:prstGeom>
          <a:noFill/>
        </p:spPr>
        <p:txBody>
          <a:bodyPr wrap="square" lIns="0" rIns="0" tIns="0" bIns="0" anchor="ctr">
            <a:spAutoFit/>
          </a:bodyPr>
          <a:lstStyle/>
          <a:p>
            <a:pPr algn="l">
              <a:lnSpc>
                <a:spcPct val="116000"/>
              </a:lnSpc>
            </a:pPr>
            <a:r>
              <a:rPr sz="1650" b="1" i="0">
                <a:solidFill>
                  <a:srgbClr val="FFFFFF"/>
                </a:solidFill>
                <a:latin typeface="Arial"/>
              </a:rPr>
              <a:t>на ком</a:t>
            </a:r>
          </a:p>
        </p:txBody>
      </p:sp>
      <p:sp>
        <p:nvSpPr>
          <p:cNvPr id="11" name="Rectangle 10"/>
          <p:cNvSpPr/>
          <p:nvPr/>
        </p:nvSpPr>
        <p:spPr>
          <a:xfrm>
            <a:off x="539496" y="1800449"/>
            <a:ext cx="5112984" cy="766258"/>
          </a:xfrm>
          <a:prstGeom prst="rect">
            <a:avLst/>
          </a:prstGeom>
          <a:solidFill>
            <a:srgbClr val="FFFFFF"/>
          </a:solidFill>
          <a:ln w="12700">
            <a:solidFill>
              <a:srgbClr val="D9E2EC"/>
            </a:solidFill>
          </a:ln>
          <a:effectLst/>
        </p:spPr>
        <p:txBody>
          <a:bodyPr rtlCol="0" anchor="ctr"/>
          <a:lstStyle/>
          <a:p>
            <a:pPr algn="ctr"/>
          </a:p>
        </p:txBody>
      </p:sp>
      <p:sp>
        <p:nvSpPr>
          <p:cNvPr id="12" name="TextBox 11"/>
          <p:cNvSpPr txBox="1"/>
          <p:nvPr/>
        </p:nvSpPr>
        <p:spPr>
          <a:xfrm>
            <a:off x="685800" y="1800449"/>
            <a:ext cx="4820376" cy="766258"/>
          </a:xfrm>
          <a:prstGeom prst="rect">
            <a:avLst/>
          </a:prstGeom>
          <a:noFill/>
        </p:spPr>
        <p:txBody>
          <a:bodyPr wrap="square" lIns="0" rIns="0" tIns="0" bIns="0" anchor="ctr">
            <a:spAutoFit/>
          </a:bodyPr>
          <a:lstStyle/>
          <a:p>
            <a:pPr algn="l">
              <a:lnSpc>
                <a:spcPct val="116000"/>
              </a:lnSpc>
            </a:pPr>
            <a:r>
              <a:rPr sz="1650" b="1" i="0">
                <a:solidFill>
                  <a:srgbClr val="21295C"/>
                </a:solidFill>
                <a:latin typeface="Arial"/>
              </a:rPr>
              <a:t>0,712</a:t>
            </a:r>
            <a:r>
              <a:rPr sz="1650" b="0" i="0">
                <a:solidFill>
                  <a:srgbClr val="21295C"/>
                </a:solidFill>
                <a:latin typeface="Arial"/>
              </a:rPr>
              <a:t> против 0,816 и 0,820 — пара ниже обеих</a:t>
            </a:r>
          </a:p>
        </p:txBody>
      </p:sp>
      <p:sp>
        <p:nvSpPr>
          <p:cNvPr id="13" name="Rectangle 12"/>
          <p:cNvSpPr/>
          <p:nvPr/>
        </p:nvSpPr>
        <p:spPr>
          <a:xfrm>
            <a:off x="5652480" y="1800449"/>
            <a:ext cx="2834840" cy="766258"/>
          </a:xfrm>
          <a:prstGeom prst="rect">
            <a:avLst/>
          </a:prstGeom>
          <a:solidFill>
            <a:srgbClr val="FFFFFF"/>
          </a:solidFill>
          <a:ln w="12700">
            <a:solidFill>
              <a:srgbClr val="D9E2EC"/>
            </a:solidFill>
          </a:ln>
          <a:effectLst/>
        </p:spPr>
        <p:txBody>
          <a:bodyPr rtlCol="0" anchor="ctr"/>
          <a:lstStyle/>
          <a:p>
            <a:pPr algn="ctr"/>
          </a:p>
        </p:txBody>
      </p:sp>
      <p:sp>
        <p:nvSpPr>
          <p:cNvPr id="14" name="TextBox 13"/>
          <p:cNvSpPr txBox="1"/>
          <p:nvPr/>
        </p:nvSpPr>
        <p:spPr>
          <a:xfrm>
            <a:off x="5798784" y="1800449"/>
            <a:ext cx="2542232" cy="766258"/>
          </a:xfrm>
          <a:prstGeom prst="rect">
            <a:avLst/>
          </a:prstGeom>
          <a:noFill/>
        </p:spPr>
        <p:txBody>
          <a:bodyPr wrap="square" lIns="0" rIns="0" tIns="0" bIns="0" anchor="ctr">
            <a:spAutoFit/>
          </a:bodyPr>
          <a:lstStyle/>
          <a:p>
            <a:pPr algn="l">
              <a:lnSpc>
                <a:spcPct val="116000"/>
              </a:lnSpc>
            </a:pPr>
            <a:r>
              <a:rPr sz="1650" b="0" i="0">
                <a:solidFill>
                  <a:srgbClr val="21295C"/>
                </a:solidFill>
                <a:latin typeface="Arial"/>
              </a:rPr>
              <a:t>испытание и наблюдение</a:t>
            </a:r>
          </a:p>
        </p:txBody>
      </p:sp>
      <p:sp>
        <p:nvSpPr>
          <p:cNvPr id="15" name="Rectangle 14"/>
          <p:cNvSpPr/>
          <p:nvPr/>
        </p:nvSpPr>
        <p:spPr>
          <a:xfrm>
            <a:off x="8487321" y="1800449"/>
            <a:ext cx="3164878" cy="766258"/>
          </a:xfrm>
          <a:prstGeom prst="rect">
            <a:avLst/>
          </a:prstGeom>
          <a:solidFill>
            <a:srgbClr val="FFFFFF"/>
          </a:solidFill>
          <a:ln w="12700">
            <a:solidFill>
              <a:srgbClr val="D9E2EC"/>
            </a:solidFill>
          </a:ln>
          <a:effectLst/>
        </p:spPr>
        <p:txBody>
          <a:bodyPr rtlCol="0" anchor="ctr"/>
          <a:lstStyle/>
          <a:p>
            <a:pPr algn="ctr"/>
          </a:p>
        </p:txBody>
      </p:sp>
      <p:sp>
        <p:nvSpPr>
          <p:cNvPr id="16" name="TextBox 15"/>
          <p:cNvSpPr txBox="1"/>
          <p:nvPr/>
        </p:nvSpPr>
        <p:spPr>
          <a:xfrm>
            <a:off x="8633625" y="1800449"/>
            <a:ext cx="2872270" cy="766258"/>
          </a:xfrm>
          <a:prstGeom prst="rect">
            <a:avLst/>
          </a:prstGeom>
          <a:noFill/>
        </p:spPr>
        <p:txBody>
          <a:bodyPr wrap="square" lIns="0" rIns="0" tIns="0" bIns="0" anchor="ctr">
            <a:spAutoFit/>
          </a:bodyPr>
          <a:lstStyle/>
          <a:p>
            <a:pPr algn="l">
              <a:lnSpc>
                <a:spcPct val="116000"/>
              </a:lnSpc>
            </a:pPr>
            <a:r>
              <a:rPr sz="1650" b="0" i="0">
                <a:solidFill>
                  <a:srgbClr val="21295C"/>
                </a:solidFill>
                <a:latin typeface="Arial"/>
              </a:rPr>
              <a:t>30 хирургов, 150 случаев</a:t>
            </a:r>
          </a:p>
        </p:txBody>
      </p:sp>
      <p:sp>
        <p:nvSpPr>
          <p:cNvPr id="17" name="Rectangle 16"/>
          <p:cNvSpPr/>
          <p:nvPr/>
        </p:nvSpPr>
        <p:spPr>
          <a:xfrm>
            <a:off x="539496" y="2566707"/>
            <a:ext cx="5112984" cy="766258"/>
          </a:xfrm>
          <a:prstGeom prst="rect">
            <a:avLst/>
          </a:prstGeom>
          <a:solidFill>
            <a:srgbClr val="F4F7FA"/>
          </a:solidFill>
          <a:ln w="12700">
            <a:solidFill>
              <a:srgbClr val="D9E2EC"/>
            </a:solidFill>
          </a:ln>
          <a:effectLst/>
        </p:spPr>
        <p:txBody>
          <a:bodyPr rtlCol="0" anchor="ctr"/>
          <a:lstStyle/>
          <a:p>
            <a:pPr algn="ctr"/>
          </a:p>
        </p:txBody>
      </p:sp>
      <p:sp>
        <p:nvSpPr>
          <p:cNvPr id="18" name="TextBox 17"/>
          <p:cNvSpPr txBox="1"/>
          <p:nvPr/>
        </p:nvSpPr>
        <p:spPr>
          <a:xfrm>
            <a:off x="685800" y="2566707"/>
            <a:ext cx="4820376" cy="766258"/>
          </a:xfrm>
          <a:prstGeom prst="rect">
            <a:avLst/>
          </a:prstGeom>
          <a:noFill/>
        </p:spPr>
        <p:txBody>
          <a:bodyPr wrap="square" lIns="0" rIns="0" tIns="0" bIns="0" anchor="ctr">
            <a:spAutoFit/>
          </a:bodyPr>
          <a:lstStyle/>
          <a:p>
            <a:pPr algn="l">
              <a:lnSpc>
                <a:spcPct val="116000"/>
              </a:lnSpc>
            </a:pPr>
            <a:r>
              <a:rPr sz="1650" b="1" i="0">
                <a:solidFill>
                  <a:srgbClr val="21295C"/>
                </a:solidFill>
                <a:latin typeface="Arial"/>
              </a:rPr>
              <a:t>92 · 74 · 76</a:t>
            </a:r>
            <a:r>
              <a:rPr sz="1650" b="0" i="0">
                <a:solidFill>
                  <a:srgbClr val="21295C"/>
                </a:solidFill>
                <a:latin typeface="Arial"/>
              </a:rPr>
              <a:t> — врач с моделью не отличим</a:t>
            </a:r>
          </a:p>
        </p:txBody>
      </p:sp>
      <p:sp>
        <p:nvSpPr>
          <p:cNvPr id="19" name="Rectangle 18"/>
          <p:cNvSpPr/>
          <p:nvPr/>
        </p:nvSpPr>
        <p:spPr>
          <a:xfrm>
            <a:off x="5652480" y="2566707"/>
            <a:ext cx="2834840" cy="766258"/>
          </a:xfrm>
          <a:prstGeom prst="rect">
            <a:avLst/>
          </a:prstGeom>
          <a:solidFill>
            <a:srgbClr val="F4F7FA"/>
          </a:solidFill>
          <a:ln w="12700">
            <a:solidFill>
              <a:srgbClr val="D9E2EC"/>
            </a:solidFill>
          </a:ln>
          <a:effectLst/>
        </p:spPr>
        <p:txBody>
          <a:bodyPr rtlCol="0" anchor="ctr"/>
          <a:lstStyle/>
          <a:p>
            <a:pPr algn="ctr"/>
          </a:p>
        </p:txBody>
      </p:sp>
      <p:sp>
        <p:nvSpPr>
          <p:cNvPr id="20" name="TextBox 19"/>
          <p:cNvSpPr txBox="1"/>
          <p:nvPr/>
        </p:nvSpPr>
        <p:spPr>
          <a:xfrm>
            <a:off x="5798784" y="2566707"/>
            <a:ext cx="2542232" cy="766258"/>
          </a:xfrm>
          <a:prstGeom prst="rect">
            <a:avLst/>
          </a:prstGeom>
          <a:noFill/>
        </p:spPr>
        <p:txBody>
          <a:bodyPr wrap="square" lIns="0" rIns="0" tIns="0" bIns="0" anchor="ctr">
            <a:spAutoFit/>
          </a:bodyPr>
          <a:lstStyle/>
          <a:p>
            <a:pPr algn="l">
              <a:lnSpc>
                <a:spcPct val="116000"/>
              </a:lnSpc>
            </a:pPr>
            <a:r>
              <a:rPr sz="1650" b="0" i="0">
                <a:solidFill>
                  <a:srgbClr val="21295C"/>
                </a:solidFill>
                <a:latin typeface="Arial"/>
              </a:rPr>
              <a:t>испытание</a:t>
            </a:r>
          </a:p>
        </p:txBody>
      </p:sp>
      <p:sp>
        <p:nvSpPr>
          <p:cNvPr id="21" name="Rectangle 20"/>
          <p:cNvSpPr/>
          <p:nvPr/>
        </p:nvSpPr>
        <p:spPr>
          <a:xfrm>
            <a:off x="8487321" y="2566707"/>
            <a:ext cx="3164878" cy="766258"/>
          </a:xfrm>
          <a:prstGeom prst="rect">
            <a:avLst/>
          </a:prstGeom>
          <a:solidFill>
            <a:srgbClr val="F4F7FA"/>
          </a:solidFill>
          <a:ln w="12700">
            <a:solidFill>
              <a:srgbClr val="D9E2EC"/>
            </a:solidFill>
          </a:ln>
          <a:effectLst/>
        </p:spPr>
        <p:txBody>
          <a:bodyPr rtlCol="0" anchor="ctr"/>
          <a:lstStyle/>
          <a:p>
            <a:pPr algn="ctr"/>
          </a:p>
        </p:txBody>
      </p:sp>
      <p:sp>
        <p:nvSpPr>
          <p:cNvPr id="22" name="TextBox 21"/>
          <p:cNvSpPr txBox="1"/>
          <p:nvPr/>
        </p:nvSpPr>
        <p:spPr>
          <a:xfrm>
            <a:off x="8633625" y="2566707"/>
            <a:ext cx="2872270" cy="766258"/>
          </a:xfrm>
          <a:prstGeom prst="rect">
            <a:avLst/>
          </a:prstGeom>
          <a:noFill/>
        </p:spPr>
        <p:txBody>
          <a:bodyPr wrap="square" lIns="0" rIns="0" tIns="0" bIns="0" anchor="ctr">
            <a:spAutoFit/>
          </a:bodyPr>
          <a:lstStyle/>
          <a:p>
            <a:pPr algn="l">
              <a:lnSpc>
                <a:spcPct val="116000"/>
              </a:lnSpc>
            </a:pPr>
            <a:r>
              <a:rPr sz="1650" b="0" i="0">
                <a:solidFill>
                  <a:srgbClr val="21295C"/>
                </a:solidFill>
                <a:latin typeface="Arial"/>
              </a:rPr>
              <a:t>50 врачей, описания случаев</a:t>
            </a:r>
          </a:p>
        </p:txBody>
      </p:sp>
      <p:sp>
        <p:nvSpPr>
          <p:cNvPr id="23" name="Rectangle 22"/>
          <p:cNvSpPr/>
          <p:nvPr/>
        </p:nvSpPr>
        <p:spPr>
          <a:xfrm>
            <a:off x="539496" y="3332966"/>
            <a:ext cx="5112984" cy="766258"/>
          </a:xfrm>
          <a:prstGeom prst="rect">
            <a:avLst/>
          </a:prstGeom>
          <a:solidFill>
            <a:srgbClr val="FFFFFF"/>
          </a:solidFill>
          <a:ln w="12700">
            <a:solidFill>
              <a:srgbClr val="D9E2EC"/>
            </a:solidFill>
          </a:ln>
          <a:effectLst/>
        </p:spPr>
        <p:txBody>
          <a:bodyPr rtlCol="0" anchor="ctr"/>
          <a:lstStyle/>
          <a:p>
            <a:pPr algn="ctr"/>
          </a:p>
        </p:txBody>
      </p:sp>
      <p:sp>
        <p:nvSpPr>
          <p:cNvPr id="24" name="TextBox 23"/>
          <p:cNvSpPr txBox="1"/>
          <p:nvPr/>
        </p:nvSpPr>
        <p:spPr>
          <a:xfrm>
            <a:off x="685800" y="3332966"/>
            <a:ext cx="4820376" cy="766258"/>
          </a:xfrm>
          <a:prstGeom prst="rect">
            <a:avLst/>
          </a:prstGeom>
          <a:noFill/>
        </p:spPr>
        <p:txBody>
          <a:bodyPr wrap="square" lIns="0" rIns="0" tIns="0" bIns="0" anchor="ctr">
            <a:spAutoFit/>
          </a:bodyPr>
          <a:lstStyle/>
          <a:p>
            <a:pPr algn="l">
              <a:lnSpc>
                <a:spcPct val="116000"/>
              </a:lnSpc>
            </a:pPr>
            <a:r>
              <a:rPr sz="1650" b="1" i="0">
                <a:solidFill>
                  <a:srgbClr val="21295C"/>
                </a:solidFill>
                <a:latin typeface="Arial"/>
              </a:rPr>
              <a:t>−0,54</a:t>
            </a:r>
            <a:r>
              <a:rPr sz="1650" b="0" i="0">
                <a:solidFill>
                  <a:srgbClr val="21295C"/>
                </a:solidFill>
                <a:latin typeface="Arial"/>
              </a:rPr>
              <a:t> — где модель сильнее, пара хуже модели</a:t>
            </a:r>
          </a:p>
        </p:txBody>
      </p:sp>
      <p:sp>
        <p:nvSpPr>
          <p:cNvPr id="25" name="Rectangle 24"/>
          <p:cNvSpPr/>
          <p:nvPr/>
        </p:nvSpPr>
        <p:spPr>
          <a:xfrm>
            <a:off x="5652480" y="3332966"/>
            <a:ext cx="2834840" cy="766258"/>
          </a:xfrm>
          <a:prstGeom prst="rect">
            <a:avLst/>
          </a:prstGeom>
          <a:solidFill>
            <a:srgbClr val="FFFFFF"/>
          </a:solidFill>
          <a:ln w="12700">
            <a:solidFill>
              <a:srgbClr val="D9E2EC"/>
            </a:solidFill>
          </a:ln>
          <a:effectLst/>
        </p:spPr>
        <p:txBody>
          <a:bodyPr rtlCol="0" anchor="ctr"/>
          <a:lstStyle/>
          <a:p>
            <a:pPr algn="ctr"/>
          </a:p>
        </p:txBody>
      </p:sp>
      <p:sp>
        <p:nvSpPr>
          <p:cNvPr id="26" name="TextBox 25"/>
          <p:cNvSpPr txBox="1"/>
          <p:nvPr/>
        </p:nvSpPr>
        <p:spPr>
          <a:xfrm>
            <a:off x="5798784" y="3332966"/>
            <a:ext cx="2542232" cy="766258"/>
          </a:xfrm>
          <a:prstGeom prst="rect">
            <a:avLst/>
          </a:prstGeom>
          <a:noFill/>
        </p:spPr>
        <p:txBody>
          <a:bodyPr wrap="square" lIns="0" rIns="0" tIns="0" bIns="0" anchor="ctr">
            <a:spAutoFit/>
          </a:bodyPr>
          <a:lstStyle/>
          <a:p>
            <a:pPr algn="l">
              <a:lnSpc>
                <a:spcPct val="116000"/>
              </a:lnSpc>
            </a:pPr>
            <a:r>
              <a:rPr sz="1650" b="0" i="0">
                <a:solidFill>
                  <a:srgbClr val="21295C"/>
                </a:solidFill>
                <a:latin typeface="Arial"/>
              </a:rPr>
              <a:t>мета-анализ</a:t>
            </a:r>
          </a:p>
        </p:txBody>
      </p:sp>
      <p:sp>
        <p:nvSpPr>
          <p:cNvPr id="27" name="Rectangle 26"/>
          <p:cNvSpPr/>
          <p:nvPr/>
        </p:nvSpPr>
        <p:spPr>
          <a:xfrm>
            <a:off x="8487321" y="3332966"/>
            <a:ext cx="3164878" cy="766258"/>
          </a:xfrm>
          <a:prstGeom prst="rect">
            <a:avLst/>
          </a:prstGeom>
          <a:solidFill>
            <a:srgbClr val="FFFFFF"/>
          </a:solidFill>
          <a:ln w="12700">
            <a:solidFill>
              <a:srgbClr val="D9E2EC"/>
            </a:solidFill>
          </a:ln>
          <a:effectLst/>
        </p:spPr>
        <p:txBody>
          <a:bodyPr rtlCol="0" anchor="ctr"/>
          <a:lstStyle/>
          <a:p>
            <a:pPr algn="ctr"/>
          </a:p>
        </p:txBody>
      </p:sp>
      <p:sp>
        <p:nvSpPr>
          <p:cNvPr id="28" name="TextBox 27"/>
          <p:cNvSpPr txBox="1"/>
          <p:nvPr/>
        </p:nvSpPr>
        <p:spPr>
          <a:xfrm>
            <a:off x="8633625" y="3332966"/>
            <a:ext cx="2872270" cy="766258"/>
          </a:xfrm>
          <a:prstGeom prst="rect">
            <a:avLst/>
          </a:prstGeom>
          <a:noFill/>
        </p:spPr>
        <p:txBody>
          <a:bodyPr wrap="square" lIns="0" rIns="0" tIns="0" bIns="0" anchor="ctr">
            <a:spAutoFit/>
          </a:bodyPr>
          <a:lstStyle/>
          <a:p>
            <a:pPr algn="l">
              <a:lnSpc>
                <a:spcPct val="116000"/>
              </a:lnSpc>
            </a:pPr>
            <a:r>
              <a:rPr sz="1650" b="0" i="0">
                <a:solidFill>
                  <a:srgbClr val="21295C"/>
                </a:solidFill>
                <a:latin typeface="Arial"/>
              </a:rPr>
              <a:t>74 работы, 106 опытов</a:t>
            </a:r>
          </a:p>
        </p:txBody>
      </p:sp>
      <p:sp>
        <p:nvSpPr>
          <p:cNvPr id="29" name="Rectangle 28"/>
          <p:cNvSpPr/>
          <p:nvPr/>
        </p:nvSpPr>
        <p:spPr>
          <a:xfrm>
            <a:off x="539496" y="4099225"/>
            <a:ext cx="5112984" cy="766258"/>
          </a:xfrm>
          <a:prstGeom prst="rect">
            <a:avLst/>
          </a:prstGeom>
          <a:solidFill>
            <a:srgbClr val="F4F7FA"/>
          </a:solidFill>
          <a:ln w="12700">
            <a:solidFill>
              <a:srgbClr val="D9E2EC"/>
            </a:solidFill>
          </a:ln>
          <a:effectLst/>
        </p:spPr>
        <p:txBody>
          <a:bodyPr rtlCol="0" anchor="ctr"/>
          <a:lstStyle/>
          <a:p>
            <a:pPr algn="ctr"/>
          </a:p>
        </p:txBody>
      </p:sp>
      <p:sp>
        <p:nvSpPr>
          <p:cNvPr id="30" name="TextBox 29"/>
          <p:cNvSpPr txBox="1"/>
          <p:nvPr/>
        </p:nvSpPr>
        <p:spPr>
          <a:xfrm>
            <a:off x="685800" y="4099225"/>
            <a:ext cx="4820376" cy="766258"/>
          </a:xfrm>
          <a:prstGeom prst="rect">
            <a:avLst/>
          </a:prstGeom>
          <a:noFill/>
        </p:spPr>
        <p:txBody>
          <a:bodyPr wrap="square" lIns="0" rIns="0" tIns="0" bIns="0" anchor="ctr">
            <a:spAutoFit/>
          </a:bodyPr>
          <a:lstStyle/>
          <a:p>
            <a:pPr algn="l">
              <a:lnSpc>
                <a:spcPct val="116000"/>
              </a:lnSpc>
            </a:pPr>
            <a:r>
              <a:rPr sz="1650" b="1" i="0">
                <a:solidFill>
                  <a:srgbClr val="21295C"/>
                </a:solidFill>
                <a:latin typeface="Arial"/>
              </a:rPr>
              <a:t>71 → 39</a:t>
            </a:r>
            <a:r>
              <a:rPr sz="1650" b="0" i="0">
                <a:solidFill>
                  <a:srgbClr val="21295C"/>
                </a:solidFill>
                <a:latin typeface="Arial"/>
              </a:rPr>
              <a:t> — тот же читатель при ложной подсказке</a:t>
            </a:r>
          </a:p>
        </p:txBody>
      </p:sp>
      <p:sp>
        <p:nvSpPr>
          <p:cNvPr id="31" name="Rectangle 30"/>
          <p:cNvSpPr/>
          <p:nvPr/>
        </p:nvSpPr>
        <p:spPr>
          <a:xfrm>
            <a:off x="5652480" y="4099225"/>
            <a:ext cx="2834840" cy="766258"/>
          </a:xfrm>
          <a:prstGeom prst="rect">
            <a:avLst/>
          </a:prstGeom>
          <a:solidFill>
            <a:srgbClr val="F4F7FA"/>
          </a:solidFill>
          <a:ln w="12700">
            <a:solidFill>
              <a:srgbClr val="D9E2EC"/>
            </a:solidFill>
          </a:ln>
          <a:effectLst/>
        </p:spPr>
        <p:txBody>
          <a:bodyPr rtlCol="0" anchor="ctr"/>
          <a:lstStyle/>
          <a:p>
            <a:pPr algn="ctr"/>
          </a:p>
        </p:txBody>
      </p:sp>
      <p:sp>
        <p:nvSpPr>
          <p:cNvPr id="32" name="TextBox 31"/>
          <p:cNvSpPr txBox="1"/>
          <p:nvPr/>
        </p:nvSpPr>
        <p:spPr>
          <a:xfrm>
            <a:off x="5798784" y="4099225"/>
            <a:ext cx="2542232" cy="766258"/>
          </a:xfrm>
          <a:prstGeom prst="rect">
            <a:avLst/>
          </a:prstGeom>
          <a:noFill/>
        </p:spPr>
        <p:txBody>
          <a:bodyPr wrap="square" lIns="0" rIns="0" tIns="0" bIns="0" anchor="ctr">
            <a:spAutoFit/>
          </a:bodyPr>
          <a:lstStyle/>
          <a:p>
            <a:pPr algn="l">
              <a:lnSpc>
                <a:spcPct val="116000"/>
              </a:lnSpc>
            </a:pPr>
            <a:r>
              <a:rPr sz="1650" b="0" i="0">
                <a:solidFill>
                  <a:srgbClr val="21295C"/>
                </a:solidFill>
                <a:latin typeface="Arial"/>
              </a:rPr>
              <a:t>читатель против себя</a:t>
            </a:r>
          </a:p>
        </p:txBody>
      </p:sp>
      <p:sp>
        <p:nvSpPr>
          <p:cNvPr id="33" name="Rectangle 32"/>
          <p:cNvSpPr/>
          <p:nvPr/>
        </p:nvSpPr>
        <p:spPr>
          <a:xfrm>
            <a:off x="8487321" y="4099225"/>
            <a:ext cx="3164878" cy="766258"/>
          </a:xfrm>
          <a:prstGeom prst="rect">
            <a:avLst/>
          </a:prstGeom>
          <a:solidFill>
            <a:srgbClr val="F4F7FA"/>
          </a:solidFill>
          <a:ln w="12700">
            <a:solidFill>
              <a:srgbClr val="D9E2EC"/>
            </a:solidFill>
          </a:ln>
          <a:effectLst/>
        </p:spPr>
        <p:txBody>
          <a:bodyPr rtlCol="0" anchor="ctr"/>
          <a:lstStyle/>
          <a:p>
            <a:pPr algn="ctr"/>
          </a:p>
        </p:txBody>
      </p:sp>
      <p:sp>
        <p:nvSpPr>
          <p:cNvPr id="34" name="TextBox 33"/>
          <p:cNvSpPr txBox="1"/>
          <p:nvPr/>
        </p:nvSpPr>
        <p:spPr>
          <a:xfrm>
            <a:off x="8633625" y="4099225"/>
            <a:ext cx="2872270" cy="766258"/>
          </a:xfrm>
          <a:prstGeom prst="rect">
            <a:avLst/>
          </a:prstGeom>
          <a:noFill/>
        </p:spPr>
        <p:txBody>
          <a:bodyPr wrap="square" lIns="0" rIns="0" tIns="0" bIns="0" anchor="ctr">
            <a:spAutoFit/>
          </a:bodyPr>
          <a:lstStyle/>
          <a:p>
            <a:pPr algn="l">
              <a:lnSpc>
                <a:spcPct val="116000"/>
              </a:lnSpc>
            </a:pPr>
            <a:r>
              <a:rPr sz="1650" b="0" i="0">
                <a:solidFill>
                  <a:srgbClr val="21295C"/>
                </a:solidFill>
                <a:latin typeface="Arial"/>
              </a:rPr>
              <a:t>10 читателей, 60 случаев</a:t>
            </a:r>
          </a:p>
        </p:txBody>
      </p:sp>
      <p:sp>
        <p:nvSpPr>
          <p:cNvPr id="35" name="TextBox 34"/>
          <p:cNvSpPr txBox="1"/>
          <p:nvPr/>
        </p:nvSpPr>
        <p:spPr>
          <a:xfrm>
            <a:off x="539496" y="5011787"/>
            <a:ext cx="11112703" cy="341070"/>
          </a:xfrm>
          <a:prstGeom prst="rect">
            <a:avLst/>
          </a:prstGeom>
          <a:noFill/>
        </p:spPr>
        <p:txBody>
          <a:bodyPr wrap="square" lIns="0" rIns="0" tIns="0" bIns="0" anchor="t">
            <a:spAutoFit/>
          </a:bodyPr>
          <a:lstStyle/>
          <a:p>
            <a:pPr algn="l">
              <a:lnSpc>
                <a:spcPct val="124000"/>
              </a:lnSpc>
            </a:pPr>
            <a:r>
              <a:rPr sz="1750" b="1" i="0">
                <a:solidFill>
                  <a:srgbClr val="21295C"/>
                </a:solidFill>
                <a:latin typeface="Arial"/>
              </a:rPr>
              <a:t>Пара не наследует силу сильнейшей стороны.</a:t>
            </a:r>
            <a:r>
              <a:rPr sz="1700" b="0" i="0">
                <a:solidFill>
                  <a:srgbClr val="21295C"/>
                </a:solidFill>
                <a:latin typeface="Arial"/>
              </a:rPr>
              <a:t> Человека одного обходит — 0,64.</a:t>
            </a:r>
          </a:p>
        </p:txBody>
      </p:sp>
      <p:sp>
        <p:nvSpPr>
          <p:cNvPr id="36" name="TextBox 35"/>
          <p:cNvSpPr txBox="1"/>
          <p:nvPr/>
        </p:nvSpPr>
        <p:spPr>
          <a:xfrm>
            <a:off x="539496" y="5499162"/>
            <a:ext cx="11112703" cy="341070"/>
          </a:xfrm>
          <a:prstGeom prst="rect">
            <a:avLst/>
          </a:prstGeom>
          <a:noFill/>
        </p:spPr>
        <p:txBody>
          <a:bodyPr wrap="square" lIns="0" rIns="0" tIns="0" bIns="0" anchor="t">
            <a:spAutoFit/>
          </a:bodyPr>
          <a:lstStyle/>
          <a:p>
            <a:pPr algn="l">
              <a:lnSpc>
                <a:spcPct val="124000"/>
              </a:lnSpc>
            </a:pPr>
            <a:r>
              <a:rPr sz="1750" b="1" i="0">
                <a:solidFill>
                  <a:srgbClr val="21295C"/>
                </a:solidFill>
                <a:latin typeface="Arial"/>
              </a:rPr>
              <a:t>Исход пациента не измерен ни в одном из четырёх.</a:t>
            </a:r>
          </a:p>
        </p:txBody>
      </p:sp>
      <p:sp>
        <p:nvSpPr>
          <p:cNvPr id="37" name="Rectangle 36"/>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38" name="TextBox 37"/>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хирурги: Journal of Trauma 2023</a:t>
            </a:r>
            <a:r>
              <a:rPr sz="1200" b="0" i="1">
                <a:solidFill>
                  <a:srgbClr val="1C7293"/>
                </a:solidFill>
                <a:latin typeface="Arial"/>
              </a:rPr>
              <a:t> · </a:t>
            </a:r>
            <a:r>
              <a:rPr sz="1200" b="0" i="1" u="sng">
                <a:solidFill>
                  <a:srgbClr val="065A82"/>
                </a:solidFill>
                <a:latin typeface="Arial"/>
                <a:hlinkClick r:id="rId3"/>
              </a:rPr>
              <a:t>тройка: JAMA Network Open 2024</a:t>
            </a:r>
            <a:r>
              <a:rPr sz="1200" b="0" i="1">
                <a:solidFill>
                  <a:srgbClr val="1C7293"/>
                </a:solidFill>
                <a:latin typeface="Arial"/>
              </a:rPr>
              <a:t> · </a:t>
            </a:r>
            <a:r>
              <a:rPr sz="1200" b="0" i="1" u="sng">
                <a:solidFill>
                  <a:srgbClr val="065A82"/>
                </a:solidFill>
                <a:latin typeface="Arial"/>
                <a:hlinkClick r:id="rId4"/>
              </a:rPr>
              <a:t>свод: Nature Human Behaviour 2024</a:t>
            </a:r>
            <a:r>
              <a:rPr sz="1200" b="0" i="1">
                <a:solidFill>
                  <a:srgbClr val="1C7293"/>
                </a:solidFill>
                <a:latin typeface="Arial"/>
              </a:rPr>
              <a:t> · </a:t>
            </a:r>
            <a:r>
              <a:rPr sz="1200" b="0" i="1" u="sng">
                <a:solidFill>
                  <a:srgbClr val="065A82"/>
                </a:solidFill>
                <a:latin typeface="Arial"/>
                <a:hlinkClick r:id="rId5"/>
              </a:rPr>
              <a:t>взгляд: Radiology 2026</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Вывод: разошлось устройство процедуры</a:t>
            </a:r>
          </a:p>
        </p:txBody>
      </p:sp>
      <p:sp>
        <p:nvSpPr>
          <p:cNvPr id="4" name="Rounded Rectangle 3"/>
          <p:cNvSpPr/>
          <p:nvPr/>
        </p:nvSpPr>
        <p:spPr>
          <a:xfrm>
            <a:off x="502920" y="1335024"/>
            <a:ext cx="5437479" cy="3108960"/>
          </a:xfrm>
          <a:prstGeom prst="roundRect">
            <a:avLst>
              <a:gd name="adj" fmla="val 9803"/>
            </a:avLst>
          </a:prstGeom>
          <a:solidFill>
            <a:srgbClr val="F4F7FA"/>
          </a:solidFill>
          <a:ln w="19050">
            <a:solidFill>
              <a:srgbClr val="1C7293"/>
            </a:solidFill>
          </a:ln>
          <a:effectLst/>
        </p:spPr>
        <p:txBody>
          <a:bodyPr rtlCol="0" anchor="ctr"/>
          <a:lstStyle/>
          <a:p>
            <a:pPr algn="ctr"/>
          </a:p>
        </p:txBody>
      </p:sp>
      <p:sp>
        <p:nvSpPr>
          <p:cNvPr id="5" name="TextBox 4"/>
          <p:cNvSpPr txBox="1"/>
          <p:nvPr/>
        </p:nvSpPr>
        <p:spPr>
          <a:xfrm>
            <a:off x="667512" y="1490472"/>
            <a:ext cx="5108295" cy="246450"/>
          </a:xfrm>
          <a:prstGeom prst="rect">
            <a:avLst/>
          </a:prstGeom>
          <a:noFill/>
        </p:spPr>
        <p:txBody>
          <a:bodyPr wrap="square" lIns="0" rIns="0" tIns="0" bIns="0" anchor="t">
            <a:spAutoFit/>
          </a:bodyPr>
          <a:lstStyle/>
          <a:p>
            <a:pPr algn="l">
              <a:lnSpc>
                <a:spcPct val="112000"/>
              </a:lnSpc>
            </a:pPr>
            <a:r>
              <a:rPr sz="1400" b="1" i="0">
                <a:solidFill>
                  <a:srgbClr val="065A82"/>
                </a:solidFill>
                <a:latin typeface="Arial"/>
              </a:rPr>
              <a:t>Что получается</a:t>
            </a:r>
          </a:p>
        </p:txBody>
      </p:sp>
      <p:sp>
        <p:nvSpPr>
          <p:cNvPr id="6" name="TextBox 5"/>
          <p:cNvSpPr txBox="1"/>
          <p:nvPr/>
        </p:nvSpPr>
        <p:spPr>
          <a:xfrm>
            <a:off x="667512" y="1846650"/>
            <a:ext cx="5108295" cy="2441885"/>
          </a:xfrm>
          <a:prstGeom prst="rect">
            <a:avLst/>
          </a:prstGeom>
          <a:noFill/>
        </p:spPr>
        <p:txBody>
          <a:bodyPr wrap="square" lIns="0" rIns="0" tIns="0" bIns="0" anchor="t">
            <a:spAutoFit/>
          </a:bodyPr>
          <a:lstStyle/>
          <a:p>
            <a:pPr algn="l">
              <a:lnSpc>
                <a:spcPct val="126000"/>
              </a:lnSpc>
            </a:pPr>
            <a:r>
              <a:rPr sz="1450" b="0" i="0">
                <a:solidFill>
                  <a:srgbClr val="21295C"/>
                </a:solidFill>
                <a:latin typeface="Arial"/>
              </a:rPr>
              <a:t>• второй взгляд на поток целиком</a:t>
            </a:r>
          </a:p>
          <a:p>
            <a:pPr algn="l">
              <a:lnSpc>
                <a:spcPct val="126000"/>
              </a:lnSpc>
            </a:pPr>
            <a:r>
              <a:rPr sz="1450" b="0" i="0">
                <a:solidFill>
                  <a:srgbClr val="21295C"/>
                </a:solidFill>
                <a:latin typeface="Arial"/>
              </a:rPr>
              <a:t>• напоминание о редком диагнозе</a:t>
            </a:r>
          </a:p>
          <a:p>
            <a:pPr algn="l">
              <a:lnSpc>
                <a:spcPct val="126000"/>
              </a:lnSpc>
            </a:pPr>
            <a:r>
              <a:rPr sz="1450" b="0" i="0">
                <a:solidFill>
                  <a:srgbClr val="21295C"/>
                </a:solidFill>
                <a:latin typeface="Arial"/>
              </a:rPr>
              <a:t>• пара сильнее обеих — в одном устройстве</a:t>
            </a:r>
          </a:p>
        </p:txBody>
      </p:sp>
      <p:sp>
        <p:nvSpPr>
          <p:cNvPr id="7" name="Rounded Rectangle 6"/>
          <p:cNvSpPr/>
          <p:nvPr/>
        </p:nvSpPr>
        <p:spPr>
          <a:xfrm>
            <a:off x="6251295" y="1335024"/>
            <a:ext cx="5437479" cy="3108960"/>
          </a:xfrm>
          <a:prstGeom prst="roundRect">
            <a:avLst>
              <a:gd name="adj" fmla="val 9803"/>
            </a:avLst>
          </a:prstGeom>
          <a:solidFill>
            <a:srgbClr val="FFFFFF"/>
          </a:solidFill>
          <a:ln w="19050">
            <a:solidFill>
              <a:srgbClr val="028090"/>
            </a:solidFill>
          </a:ln>
          <a:effectLst/>
        </p:spPr>
        <p:txBody>
          <a:bodyPr rtlCol="0" anchor="ctr"/>
          <a:lstStyle/>
          <a:p>
            <a:pPr algn="ctr"/>
          </a:p>
        </p:txBody>
      </p:sp>
      <p:sp>
        <p:nvSpPr>
          <p:cNvPr id="8" name="TextBox 7"/>
          <p:cNvSpPr txBox="1"/>
          <p:nvPr/>
        </p:nvSpPr>
        <p:spPr>
          <a:xfrm>
            <a:off x="6415887" y="1490472"/>
            <a:ext cx="5108295" cy="246450"/>
          </a:xfrm>
          <a:prstGeom prst="rect">
            <a:avLst/>
          </a:prstGeom>
          <a:noFill/>
        </p:spPr>
        <p:txBody>
          <a:bodyPr wrap="square" lIns="0" rIns="0" tIns="0" bIns="0" anchor="t">
            <a:spAutoFit/>
          </a:bodyPr>
          <a:lstStyle/>
          <a:p>
            <a:pPr algn="l">
              <a:lnSpc>
                <a:spcPct val="112000"/>
              </a:lnSpc>
            </a:pPr>
            <a:r>
              <a:rPr sz="1400" b="1" i="0">
                <a:solidFill>
                  <a:srgbClr val="028090"/>
                </a:solidFill>
                <a:latin typeface="Arial"/>
              </a:rPr>
              <a:t>Что не получается</a:t>
            </a:r>
          </a:p>
        </p:txBody>
      </p:sp>
      <p:sp>
        <p:nvSpPr>
          <p:cNvPr id="9" name="TextBox 8"/>
          <p:cNvSpPr txBox="1"/>
          <p:nvPr/>
        </p:nvSpPr>
        <p:spPr>
          <a:xfrm>
            <a:off x="6415887" y="1846650"/>
            <a:ext cx="5108295" cy="2441885"/>
          </a:xfrm>
          <a:prstGeom prst="rect">
            <a:avLst/>
          </a:prstGeom>
          <a:noFill/>
        </p:spPr>
        <p:txBody>
          <a:bodyPr wrap="square" lIns="0" rIns="0" tIns="0" bIns="0" anchor="t">
            <a:spAutoFit/>
          </a:bodyPr>
          <a:lstStyle/>
          <a:p>
            <a:pPr algn="l">
              <a:lnSpc>
                <a:spcPct val="126000"/>
              </a:lnSpc>
            </a:pPr>
            <a:r>
              <a:rPr sz="1450" b="0" i="0">
                <a:solidFill>
                  <a:srgbClr val="21295C"/>
                </a:solidFill>
                <a:latin typeface="Arial"/>
              </a:rPr>
              <a:t>• сохранить независимость</a:t>
            </a:r>
          </a:p>
          <a:p>
            <a:pPr algn="l">
              <a:lnSpc>
                <a:spcPct val="126000"/>
              </a:lnSpc>
            </a:pPr>
            <a:r>
              <a:rPr sz="1450" b="0" i="0">
                <a:solidFill>
                  <a:srgbClr val="21295C"/>
                </a:solidFill>
                <a:latin typeface="Arial"/>
              </a:rPr>
              <a:t>• подсказать избирательно</a:t>
            </a:r>
          </a:p>
          <a:p>
            <a:pPr algn="l">
              <a:lnSpc>
                <a:spcPct val="126000"/>
              </a:lnSpc>
            </a:pPr>
            <a:r>
              <a:rPr sz="1450" b="0" i="0">
                <a:solidFill>
                  <a:srgbClr val="21295C"/>
                </a:solidFill>
                <a:latin typeface="Arial"/>
              </a:rPr>
              <a:t>• объяснить без вреда</a:t>
            </a:r>
          </a:p>
          <a:p>
            <a:pPr algn="l">
              <a:lnSpc>
                <a:spcPct val="126000"/>
              </a:lnSpc>
            </a:pPr>
            <a:r>
              <a:rPr sz="1450" b="0" i="0">
                <a:solidFill>
                  <a:srgbClr val="21295C"/>
                </a:solidFill>
                <a:latin typeface="Arial"/>
              </a:rPr>
              <a:t>• удержать своё преимущество</a:t>
            </a:r>
          </a:p>
        </p:txBody>
      </p:sp>
      <p:sp>
        <p:nvSpPr>
          <p:cNvPr id="10" name="Rounded Rectangle 9"/>
          <p:cNvSpPr/>
          <p:nvPr/>
        </p:nvSpPr>
        <p:spPr>
          <a:xfrm>
            <a:off x="374904" y="4535424"/>
            <a:ext cx="11441887" cy="957342"/>
          </a:xfrm>
          <a:prstGeom prst="roundRect">
            <a:avLst>
              <a:gd name="adj" fmla="val 25000"/>
            </a:avLst>
          </a:prstGeom>
          <a:solidFill>
            <a:srgbClr val="F4F7FA"/>
          </a:solidFill>
          <a:ln w="19050">
            <a:solidFill>
              <a:srgbClr val="1C7293"/>
            </a:solidFill>
          </a:ln>
          <a:effectLst/>
        </p:spPr>
        <p:txBody>
          <a:bodyPr rtlCol="0" anchor="ctr"/>
          <a:lstStyle/>
          <a:p>
            <a:pPr algn="ctr"/>
          </a:p>
        </p:txBody>
      </p:sp>
      <p:sp>
        <p:nvSpPr>
          <p:cNvPr id="11" name="TextBox 10"/>
          <p:cNvSpPr txBox="1"/>
          <p:nvPr/>
        </p:nvSpPr>
        <p:spPr>
          <a:xfrm>
            <a:off x="539496" y="4626864"/>
            <a:ext cx="11112703" cy="1609343"/>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Стало с работой:</a:t>
            </a:r>
            <a:r>
              <a:rPr sz="1500" b="0" i="0">
                <a:solidFill>
                  <a:srgbClr val="21295C"/>
                </a:solidFill>
                <a:latin typeface="Arial"/>
              </a:rPr>
              <a:t> нагрузка упала · цена ошибки сместилась · сменился исполнитель · исполнитель тот же, но стал хуже.</a:t>
            </a:r>
          </a:p>
          <a:p>
            <a:pPr algn="l">
              <a:lnSpc>
                <a:spcPct val="126000"/>
              </a:lnSpc>
              <a:spcBef>
                <a:spcPts val="700"/>
              </a:spcBef>
            </a:pPr>
            <a:r>
              <a:rPr sz="1500" b="0" i="0">
                <a:solidFill>
                  <a:srgbClr val="21295C"/>
                </a:solidFill>
                <a:latin typeface="Arial"/>
              </a:rPr>
              <a:t/>
            </a:r>
            <a:r>
              <a:rPr sz="1500" b="1" i="0">
                <a:solidFill>
                  <a:srgbClr val="21295C"/>
                </a:solidFill>
                <a:latin typeface="Arial"/>
              </a:rPr>
              <a:t>Ступень участия нигде не записана. Неназначенная сползает к подписи не глядя.</a:t>
            </a:r>
          </a:p>
        </p:txBody>
      </p:sp>
      <p:sp>
        <p:nvSpPr>
          <p:cNvPr id="12" name="Rectangle 11"/>
          <p:cNvSpPr/>
          <p:nvPr/>
        </p:nvSpPr>
        <p:spPr>
          <a:xfrm>
            <a:off x="502920" y="888090"/>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Rectangle 2"/>
          <p:cNvSpPr/>
          <p:nvPr/>
        </p:nvSpPr>
        <p:spPr>
          <a:xfrm>
            <a:off x="0" y="0"/>
            <a:ext cx="155448" cy="6858000"/>
          </a:xfrm>
          <a:prstGeom prst="rect">
            <a:avLst/>
          </a:prstGeom>
          <a:solidFill>
            <a:srgbClr val="065A82"/>
          </a:solidFill>
          <a:ln>
            <a:noFill/>
          </a:ln>
          <a:effectLst/>
        </p:spPr>
        <p:txBody>
          <a:bodyPr rtlCol="0" anchor="ctr"/>
          <a:lstStyle/>
          <a:p>
            <a:pPr algn="ctr"/>
          </a:p>
        </p:txBody>
      </p:sp>
      <p:sp>
        <p:nvSpPr>
          <p:cNvPr id="4" name="Rounded Rectangle 3"/>
          <p:cNvSpPr/>
          <p:nvPr/>
        </p:nvSpPr>
        <p:spPr>
          <a:xfrm>
            <a:off x="7543800" y="914400"/>
            <a:ext cx="4144975" cy="3177311"/>
          </a:xfrm>
          <a:prstGeom prst="roundRect">
            <a:avLst>
              <a:gd name="adj" fmla="val 9593"/>
            </a:avLst>
          </a:prstGeom>
          <a:solidFill>
            <a:srgbClr val="F4F7FA"/>
          </a:solidFill>
          <a:ln w="19050">
            <a:solidFill>
              <a:srgbClr val="1C7293"/>
            </a:solidFill>
          </a:ln>
          <a:effectLst/>
        </p:spPr>
        <p:txBody>
          <a:bodyPr rtlCol="0" anchor="ctr"/>
          <a:lstStyle/>
          <a:p>
            <a:pPr algn="ctr"/>
          </a:p>
        </p:txBody>
      </p:sp>
      <p:pic>
        <p:nvPicPr>
          <p:cNvPr id="5" name="Picture 4" descr="s52-sestrinskiy-post.jpg"/>
          <p:cNvPicPr>
            <a:picLocks noChangeAspect="1"/>
          </p:cNvPicPr>
          <p:nvPr/>
        </p:nvPicPr>
        <p:blipFill>
          <a:blip r:embed="rId2"/>
          <a:stretch>
            <a:fillRect/>
          </a:stretch>
        </p:blipFill>
        <p:spPr>
          <a:xfrm>
            <a:off x="7680960" y="1051560"/>
            <a:ext cx="3870655" cy="2902991"/>
          </a:xfrm>
          <a:prstGeom prst="rect">
            <a:avLst/>
          </a:prstGeom>
        </p:spPr>
      </p:pic>
      <p:sp>
        <p:nvSpPr>
          <p:cNvPr id="6" name="TextBox 5"/>
          <p:cNvSpPr txBox="1"/>
          <p:nvPr/>
        </p:nvSpPr>
        <p:spPr>
          <a:xfrm>
            <a:off x="704088" y="960120"/>
            <a:ext cx="6675120" cy="950909"/>
          </a:xfrm>
          <a:prstGeom prst="rect">
            <a:avLst/>
          </a:prstGeom>
          <a:noFill/>
        </p:spPr>
        <p:txBody>
          <a:bodyPr wrap="square" lIns="0" rIns="0" tIns="0" bIns="0" anchor="t">
            <a:spAutoFit/>
          </a:bodyPr>
          <a:lstStyle/>
          <a:p>
            <a:pPr algn="l">
              <a:lnSpc>
                <a:spcPct val="110000"/>
              </a:lnSpc>
            </a:pPr>
            <a:r>
              <a:rPr sz="2750" b="1" i="0">
                <a:solidFill>
                  <a:srgbClr val="21295C"/>
                </a:solidFill>
                <a:latin typeface="Arial"/>
              </a:rPr>
              <a:t>4. Динамическое наблюдение и клинические тревоги</a:t>
            </a:r>
          </a:p>
        </p:txBody>
      </p:sp>
      <p:sp>
        <p:nvSpPr>
          <p:cNvPr id="7" name="Rectangle 6"/>
          <p:cNvSpPr/>
          <p:nvPr/>
        </p:nvSpPr>
        <p:spPr>
          <a:xfrm>
            <a:off x="704088" y="2002469"/>
            <a:ext cx="1188720" cy="59436"/>
          </a:xfrm>
          <a:prstGeom prst="rect">
            <a:avLst/>
          </a:prstGeom>
          <a:solidFill>
            <a:srgbClr val="F0AB00"/>
          </a:solidFill>
          <a:ln>
            <a:noFill/>
          </a:ln>
          <a:effectLst/>
        </p:spPr>
        <p:txBody>
          <a:bodyPr rtlCol="0" anchor="ctr"/>
          <a:lstStyle/>
          <a:p>
            <a:pPr algn="ctr"/>
          </a:p>
        </p:txBody>
      </p:sp>
      <p:sp>
        <p:nvSpPr>
          <p:cNvPr id="8" name="TextBox 7"/>
          <p:cNvSpPr txBox="1"/>
          <p:nvPr/>
        </p:nvSpPr>
        <p:spPr>
          <a:xfrm>
            <a:off x="704088" y="2276789"/>
            <a:ext cx="6473952" cy="942848"/>
          </a:xfrm>
          <a:prstGeom prst="rect">
            <a:avLst/>
          </a:prstGeom>
          <a:noFill/>
        </p:spPr>
        <p:txBody>
          <a:bodyPr wrap="square" lIns="0" rIns="0" tIns="0" bIns="0" anchor="t">
            <a:spAutoFit/>
          </a:bodyPr>
          <a:lstStyle/>
          <a:p>
            <a:pPr algn="l">
              <a:lnSpc>
                <a:spcPct val="124000"/>
              </a:lnSpc>
            </a:pPr>
            <a:r>
              <a:rPr sz="1550" b="1" i="0">
                <a:solidFill>
                  <a:srgbClr val="21295C"/>
                </a:solidFill>
                <a:latin typeface="Arial"/>
              </a:rPr>
              <a:t>Кто заметит ухудшение.</a:t>
            </a:r>
            <a:r>
              <a:rPr sz="1550" b="0" i="0">
                <a:solidFill>
                  <a:srgbClr val="21295C"/>
                </a:solidFill>
                <a:latin typeface="Arial"/>
              </a:rPr>
              <a:t> Решение принято, лечение назначено. Дальше состояние меняется за часы — и кто-то должен заметить перемену раньше, чем она станет очевидной.</a:t>
            </a:r>
          </a:p>
        </p:txBody>
      </p:sp>
      <p:sp>
        <p:nvSpPr>
          <p:cNvPr id="9" name="TextBox 8"/>
          <p:cNvSpPr txBox="1"/>
          <p:nvPr/>
        </p:nvSpPr>
        <p:spPr>
          <a:xfrm>
            <a:off x="704088" y="3347654"/>
            <a:ext cx="6473952" cy="640757"/>
          </a:xfrm>
          <a:prstGeom prst="rect">
            <a:avLst/>
          </a:prstGeom>
          <a:noFill/>
        </p:spPr>
        <p:txBody>
          <a:bodyPr wrap="square" lIns="0" rIns="0" tIns="0" bIns="0" anchor="t">
            <a:spAutoFit/>
          </a:bodyPr>
          <a:lstStyle/>
          <a:p>
            <a:pPr algn="l">
              <a:lnSpc>
                <a:spcPct val="124000"/>
              </a:lnSpc>
            </a:pPr>
            <a:r>
              <a:rPr sz="1550" b="1" i="0">
                <a:solidFill>
                  <a:srgbClr val="21295C"/>
                </a:solidFill>
                <a:latin typeface="Arial"/>
              </a:rPr>
              <a:t>Пример 1: модель раннего предупреждения</a:t>
            </a:r>
            <a:r>
              <a:rPr sz="1550" b="0" i="0">
                <a:solidFill>
                  <a:srgbClr val="21295C"/>
                </a:solidFill>
                <a:latin typeface="Arial"/>
              </a:rPr>
              <a:t> — один на весь раздел.</a:t>
            </a:r>
          </a:p>
        </p:txBody>
      </p:sp>
      <p:sp>
        <p:nvSpPr>
          <p:cNvPr id="10" name="TextBox 9"/>
          <p:cNvSpPr txBox="1"/>
          <p:nvPr/>
        </p:nvSpPr>
        <p:spPr>
          <a:xfrm>
            <a:off x="704088" y="4116427"/>
            <a:ext cx="6473952" cy="942848"/>
          </a:xfrm>
          <a:prstGeom prst="rect">
            <a:avLst/>
          </a:prstGeom>
          <a:noFill/>
        </p:spPr>
        <p:txBody>
          <a:bodyPr wrap="square" lIns="0" rIns="0" tIns="0" bIns="0" anchor="t">
            <a:spAutoFit/>
          </a:bodyPr>
          <a:lstStyle/>
          <a:p>
            <a:pPr algn="l">
              <a:lnSpc>
                <a:spcPct val="124000"/>
              </a:lnSpc>
            </a:pPr>
            <a:r>
              <a:rPr sz="1550" b="0" i="0">
                <a:solidFill>
                  <a:srgbClr val="21295C"/>
                </a:solidFill>
                <a:latin typeface="Arial"/>
              </a:rPr>
              <a:t>До него — данные и решение стадии · работа участников · классический режим · цена обеих ошибок · счёт обоих режимов в одной единице.</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Наблюдение: данные, способы, решение</a:t>
            </a:r>
          </a:p>
        </p:txBody>
      </p:sp>
      <p:sp>
        <p:nvSpPr>
          <p:cNvPr id="4" name="Rounded Rectangle 3"/>
          <p:cNvSpPr/>
          <p:nvPr/>
        </p:nvSpPr>
        <p:spPr>
          <a:xfrm>
            <a:off x="374904" y="1243584"/>
            <a:ext cx="11441887" cy="2145586"/>
          </a:xfrm>
          <a:prstGeom prst="roundRect">
            <a:avLst>
              <a:gd name="adj" fmla="val 14205"/>
            </a:avLst>
          </a:prstGeom>
          <a:solidFill>
            <a:srgbClr val="F4F7FA"/>
          </a:solidFill>
          <a:ln w="19050">
            <a:solidFill>
              <a:srgbClr val="1C7293"/>
            </a:solidFill>
          </a:ln>
          <a:effectLst/>
        </p:spPr>
        <p:txBody>
          <a:bodyPr rtlCol="0" anchor="ctr"/>
          <a:lstStyle/>
          <a:p>
            <a:pPr algn="ctr"/>
          </a:p>
        </p:txBody>
      </p:sp>
      <p:sp>
        <p:nvSpPr>
          <p:cNvPr id="5" name="TextBox 4"/>
          <p:cNvSpPr txBox="1"/>
          <p:nvPr/>
        </p:nvSpPr>
        <p:spPr>
          <a:xfrm>
            <a:off x="539496" y="1335024"/>
            <a:ext cx="5373471" cy="4901184"/>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Данные стадии — дорожка повторных измерений:</a:t>
            </a:r>
            <a:r>
              <a:rPr sz="1500" b="0" i="0">
                <a:solidFill>
                  <a:srgbClr val="21295C"/>
                </a:solidFill>
                <a:latin typeface="Arial"/>
              </a:rPr>
              <a:t> дыхание · пульс · давление · температура · сознание · насыщение крови кислородом.</a:t>
            </a:r>
          </a:p>
          <a:p>
            <a:pPr algn="l">
              <a:lnSpc>
                <a:spcPct val="126000"/>
              </a:lnSpc>
              <a:spcBef>
                <a:spcPts val="700"/>
              </a:spcBef>
            </a:pPr>
            <a:r>
              <a:rPr sz="1500" b="0" i="0">
                <a:solidFill>
                  <a:srgbClr val="21295C"/>
                </a:solidFill>
                <a:latin typeface="Arial"/>
              </a:rPr>
              <a:t/>
            </a:r>
            <a:r>
              <a:rPr sz="1500" b="1" i="0">
                <a:solidFill>
                  <a:srgbClr val="21295C"/>
                </a:solidFill>
                <a:latin typeface="Arial"/>
              </a:rPr>
              <a:t>Вопрос один:</a:t>
            </a:r>
            <a:r>
              <a:rPr sz="1500" b="0" i="0">
                <a:solidFill>
                  <a:srgbClr val="21295C"/>
                </a:solidFill>
                <a:latin typeface="Arial"/>
              </a:rPr>
              <a:t> вмешиваться сейчас или на следующем обходе. Читают, куда дорожка идёт. Одна точка ответа не даёт.</a:t>
            </a:r>
          </a:p>
        </p:txBody>
      </p:sp>
      <p:sp>
        <p:nvSpPr>
          <p:cNvPr id="6" name="TextBox 5"/>
          <p:cNvSpPr txBox="1"/>
          <p:nvPr/>
        </p:nvSpPr>
        <p:spPr>
          <a:xfrm>
            <a:off x="6278727" y="1335024"/>
            <a:ext cx="5373471" cy="4901184"/>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Решение стадии — эскалация:</a:t>
            </a:r>
            <a:r>
              <a:rPr sz="1500" b="0" i="0">
                <a:solidFill>
                  <a:srgbClr val="21295C"/>
                </a:solidFill>
                <a:latin typeface="Arial"/>
              </a:rPr>
              <a:t> звать дежурного врача, участить измерения, переводить в реанимацию.</a:t>
            </a:r>
          </a:p>
          <a:p>
            <a:pPr algn="l">
              <a:lnSpc>
                <a:spcPct val="126000"/>
              </a:lnSpc>
              <a:spcBef>
                <a:spcPts val="700"/>
              </a:spcBef>
            </a:pPr>
            <a:r>
              <a:rPr sz="1500" b="0" i="0">
                <a:solidFill>
                  <a:srgbClr val="21295C"/>
                </a:solidFill>
                <a:latin typeface="Arial"/>
              </a:rPr>
              <a:t/>
            </a:r>
            <a:r>
              <a:rPr sz="1500" b="1" i="0">
                <a:solidFill>
                  <a:srgbClr val="21295C"/>
                </a:solidFill>
                <a:latin typeface="Arial"/>
              </a:rPr>
              <a:t>Почему после диагноза:</a:t>
            </a:r>
            <a:r>
              <a:rPr sz="1500" b="0" i="0">
                <a:solidFill>
                  <a:srgbClr val="21295C"/>
                </a:solidFill>
                <a:latin typeface="Arial"/>
              </a:rPr>
              <a:t> диагноз ставят однажды и подписывают — состояние переоценивают каждые несколько часов, и каждая переоценка отдельная возможность пройти мимо.</a:t>
            </a:r>
          </a:p>
        </p:txBody>
      </p:sp>
      <p:sp>
        <p:nvSpPr>
          <p:cNvPr id="7" name="Rectangle 6"/>
          <p:cNvSpPr/>
          <p:nvPr/>
        </p:nvSpPr>
        <p:spPr>
          <a:xfrm>
            <a:off x="6091275" y="1335024"/>
            <a:ext cx="9144" cy="1871266"/>
          </a:xfrm>
          <a:prstGeom prst="rect">
            <a:avLst/>
          </a:prstGeom>
          <a:solidFill>
            <a:srgbClr val="D9E2EC"/>
          </a:solidFill>
          <a:ln>
            <a:noFill/>
          </a:ln>
          <a:effectLst/>
        </p:spPr>
        <p:txBody>
          <a:bodyPr rtlCol="0" anchor="ctr"/>
          <a:lstStyle/>
          <a:p>
            <a:pPr algn="ctr"/>
          </a:p>
        </p:txBody>
      </p:sp>
      <p:sp>
        <p:nvSpPr>
          <p:cNvPr id="8" name="Rectangle 7"/>
          <p:cNvSpPr/>
          <p:nvPr/>
        </p:nvSpPr>
        <p:spPr>
          <a:xfrm>
            <a:off x="502920" y="888090"/>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Что делают участники на стадии наблюдения</a:t>
            </a:r>
          </a:p>
        </p:txBody>
      </p:sp>
      <p:sp>
        <p:nvSpPr>
          <p:cNvPr id="4" name="Rounded Rectangle 3"/>
          <p:cNvSpPr/>
          <p:nvPr/>
        </p:nvSpPr>
        <p:spPr>
          <a:xfrm>
            <a:off x="502920" y="1335024"/>
            <a:ext cx="3389223" cy="1165753"/>
          </a:xfrm>
          <a:prstGeom prst="roundRect">
            <a:avLst>
              <a:gd name="adj" fmla="val 25000"/>
            </a:avLst>
          </a:prstGeom>
          <a:solidFill>
            <a:srgbClr val="FFFFFF"/>
          </a:solidFill>
          <a:ln w="25400">
            <a:solidFill>
              <a:srgbClr val="F0AB00"/>
            </a:solidFill>
          </a:ln>
          <a:effectLst/>
        </p:spPr>
        <p:txBody>
          <a:bodyPr rtlCol="0" anchor="ctr"/>
          <a:lstStyle/>
          <a:p>
            <a:pPr algn="ctr"/>
          </a:p>
        </p:txBody>
      </p:sp>
      <p:sp>
        <p:nvSpPr>
          <p:cNvPr id="5" name="TextBox 4"/>
          <p:cNvSpPr txBox="1"/>
          <p:nvPr/>
        </p:nvSpPr>
        <p:spPr>
          <a:xfrm>
            <a:off x="640080" y="1472184"/>
            <a:ext cx="3114903"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ДОРОЖКА У ОДНОЙ ПОСТЕЛИ</a:t>
            </a:r>
          </a:p>
        </p:txBody>
      </p:sp>
      <p:sp>
        <p:nvSpPr>
          <p:cNvPr id="6" name="TextBox 5"/>
          <p:cNvSpPr txBox="1"/>
          <p:nvPr/>
        </p:nvSpPr>
        <p:spPr>
          <a:xfrm>
            <a:off x="640080" y="1725375"/>
            <a:ext cx="3114903"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78 → 92 → 104</a:t>
            </a:r>
          </a:p>
        </p:txBody>
      </p:sp>
      <p:sp>
        <p:nvSpPr>
          <p:cNvPr id="7" name="TextBox 6"/>
          <p:cNvSpPr txBox="1"/>
          <p:nvPr/>
        </p:nvSpPr>
        <p:spPr>
          <a:xfrm>
            <a:off x="640080" y="2152374"/>
            <a:ext cx="3114903"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пульс при падающем давлении</a:t>
            </a:r>
          </a:p>
        </p:txBody>
      </p:sp>
      <p:sp>
        <p:nvSpPr>
          <p:cNvPr id="8" name="Rounded Rectangle 7"/>
          <p:cNvSpPr/>
          <p:nvPr/>
        </p:nvSpPr>
        <p:spPr>
          <a:xfrm>
            <a:off x="4056735" y="1335024"/>
            <a:ext cx="3389223" cy="1165753"/>
          </a:xfrm>
          <a:prstGeom prst="roundRect">
            <a:avLst>
              <a:gd name="adj" fmla="val 25000"/>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4193895" y="1472184"/>
            <a:ext cx="3114903"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ИЗ ШЕСТИ ДЕЙСТВИЙ МОДЕЛЬ ЗАНЯЛА</a:t>
            </a:r>
          </a:p>
        </p:txBody>
      </p:sp>
      <p:sp>
        <p:nvSpPr>
          <p:cNvPr id="10" name="TextBox 9"/>
          <p:cNvSpPr txBox="1"/>
          <p:nvPr/>
        </p:nvSpPr>
        <p:spPr>
          <a:xfrm>
            <a:off x="4193895" y="1725375"/>
            <a:ext cx="3114903"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три</a:t>
            </a:r>
          </a:p>
        </p:txBody>
      </p:sp>
      <p:sp>
        <p:nvSpPr>
          <p:cNvPr id="11" name="TextBox 10"/>
          <p:cNvSpPr txBox="1"/>
          <p:nvPr/>
        </p:nvSpPr>
        <p:spPr>
          <a:xfrm>
            <a:off x="4193895" y="2152374"/>
            <a:ext cx="3114903"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измерение, запись, передача</a:t>
            </a:r>
          </a:p>
        </p:txBody>
      </p:sp>
      <p:sp>
        <p:nvSpPr>
          <p:cNvPr id="12" name="Rounded Rectangle 11"/>
          <p:cNvSpPr/>
          <p:nvPr/>
        </p:nvSpPr>
        <p:spPr>
          <a:xfrm>
            <a:off x="374904" y="3993641"/>
            <a:ext cx="11441887" cy="2242566"/>
          </a:xfrm>
          <a:prstGeom prst="roundRect">
            <a:avLst>
              <a:gd name="adj" fmla="val 13591"/>
            </a:avLst>
          </a:prstGeom>
          <a:solidFill>
            <a:srgbClr val="F4F7FA"/>
          </a:solidFill>
          <a:ln w="19050">
            <a:solidFill>
              <a:srgbClr val="1C7293"/>
            </a:solidFill>
          </a:ln>
          <a:effectLst/>
        </p:spPr>
        <p:txBody>
          <a:bodyPr rtlCol="0" anchor="ctr"/>
          <a:lstStyle/>
          <a:p>
            <a:pPr algn="ctr"/>
          </a:p>
        </p:txBody>
      </p:sp>
      <p:sp>
        <p:nvSpPr>
          <p:cNvPr id="13" name="TextBox 12"/>
          <p:cNvSpPr txBox="1"/>
          <p:nvPr/>
        </p:nvSpPr>
        <p:spPr>
          <a:xfrm>
            <a:off x="539496" y="4085081"/>
            <a:ext cx="11112703" cy="2151126"/>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Половина третьего ночи, тридцать коек: две сестры и дежурный врач на несколько отделений. Пара минут у постели, бланк в ногах кровати.</a:t>
            </a:r>
          </a:p>
          <a:p>
            <a:pPr algn="l">
              <a:lnSpc>
                <a:spcPct val="126000"/>
              </a:lnSpc>
              <a:spcBef>
                <a:spcPts val="700"/>
              </a:spcBef>
            </a:pPr>
            <a:r>
              <a:rPr sz="1500" b="0" i="0">
                <a:solidFill>
                  <a:srgbClr val="21295C"/>
                </a:solidFill>
                <a:latin typeface="Arial"/>
              </a:rPr>
              <a:t/>
            </a:r>
            <a:r>
              <a:rPr sz="1500" b="1" i="0">
                <a:solidFill>
                  <a:srgbClr val="21295C"/>
                </a:solidFill>
                <a:latin typeface="Arial"/>
              </a:rPr>
              <a:t>Новый шаг — разобрать тревогу и отклонить её.</a:t>
            </a:r>
            <a:r>
              <a:rPr sz="1500" b="0" i="0">
                <a:solidFill>
                  <a:srgbClr val="21295C"/>
                </a:solidFill>
                <a:latin typeface="Arial"/>
              </a:rPr>
              <a:t> Решает тот, кто видит запись.</a:t>
            </a:r>
          </a:p>
          <a:p>
            <a:pPr algn="l">
              <a:lnSpc>
                <a:spcPct val="126000"/>
              </a:lnSpc>
              <a:spcBef>
                <a:spcPts val="700"/>
              </a:spcBef>
            </a:pPr>
            <a:r>
              <a:rPr sz="1500" b="0" i="0">
                <a:solidFill>
                  <a:srgbClr val="21295C"/>
                </a:solidFill>
                <a:latin typeface="Arial"/>
              </a:rPr>
              <a:t/>
            </a:r>
            <a:r>
              <a:rPr sz="1500" b="1" i="0">
                <a:solidFill>
                  <a:srgbClr val="21295C"/>
                </a:solidFill>
                <a:latin typeface="Arial"/>
              </a:rPr>
              <a:t>Женщины с письмом в этой палате нет: за ней не наблюдает никто.</a:t>
            </a:r>
          </a:p>
        </p:txBody>
      </p:sp>
      <p:sp>
        <p:nvSpPr>
          <p:cNvPr id="14" name="Rounded Rectangle 13"/>
          <p:cNvSpPr/>
          <p:nvPr/>
        </p:nvSpPr>
        <p:spPr>
          <a:xfrm>
            <a:off x="7756855" y="1335024"/>
            <a:ext cx="3931920" cy="2658618"/>
          </a:xfrm>
          <a:prstGeom prst="roundRect">
            <a:avLst>
              <a:gd name="adj" fmla="val 11464"/>
            </a:avLst>
          </a:prstGeom>
          <a:solidFill>
            <a:srgbClr val="F4F7FA"/>
          </a:solidFill>
          <a:ln w="19050">
            <a:solidFill>
              <a:srgbClr val="1C7293"/>
            </a:solidFill>
          </a:ln>
          <a:effectLst/>
        </p:spPr>
        <p:txBody>
          <a:bodyPr rtlCol="0" anchor="ctr"/>
          <a:lstStyle/>
          <a:p>
            <a:pPr algn="ctr"/>
          </a:p>
        </p:txBody>
      </p:sp>
      <p:pic>
        <p:nvPicPr>
          <p:cNvPr id="15" name="Picture 14" descr="s53-obkhod-u-posteli-s-blankom.jpg"/>
          <p:cNvPicPr>
            <a:picLocks noChangeAspect="1"/>
          </p:cNvPicPr>
          <p:nvPr/>
        </p:nvPicPr>
        <p:blipFill>
          <a:blip r:embed="rId2"/>
          <a:stretch>
            <a:fillRect/>
          </a:stretch>
        </p:blipFill>
        <p:spPr>
          <a:xfrm>
            <a:off x="7894015" y="1472184"/>
            <a:ext cx="3657600" cy="2384298"/>
          </a:xfrm>
          <a:prstGeom prst="rect">
            <a:avLst/>
          </a:prstGeom>
        </p:spPr>
      </p:pic>
      <p:sp>
        <p:nvSpPr>
          <p:cNvPr id="16" name="Rectangle 15"/>
          <p:cNvSpPr/>
          <p:nvPr/>
        </p:nvSpPr>
        <p:spPr>
          <a:xfrm>
            <a:off x="502920" y="888090"/>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Без модели: шкала с назначенными весами</a:t>
            </a:r>
          </a:p>
        </p:txBody>
      </p:sp>
      <p:sp>
        <p:nvSpPr>
          <p:cNvPr id="4" name="Rounded Rectangle 3"/>
          <p:cNvSpPr/>
          <p:nvPr/>
        </p:nvSpPr>
        <p:spPr>
          <a:xfrm>
            <a:off x="502920" y="1335024"/>
            <a:ext cx="1530019"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5" name="TextBox 4"/>
          <p:cNvSpPr txBox="1"/>
          <p:nvPr/>
        </p:nvSpPr>
        <p:spPr>
          <a:xfrm>
            <a:off x="585216" y="1380744"/>
            <a:ext cx="1365427"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баллы за отклонение</a:t>
            </a:r>
          </a:p>
        </p:txBody>
      </p:sp>
      <p:sp>
        <p:nvSpPr>
          <p:cNvPr id="6" name="Right Arrow 5"/>
          <p:cNvSpPr/>
          <p:nvPr/>
        </p:nvSpPr>
        <p:spPr>
          <a:xfrm>
            <a:off x="2078659" y="1622964"/>
            <a:ext cx="182880" cy="137160"/>
          </a:xfrm>
          <a:prstGeom prst="rightArrow">
            <a:avLst/>
          </a:prstGeom>
          <a:solidFill>
            <a:srgbClr val="1C7293"/>
          </a:solidFill>
          <a:ln>
            <a:noFill/>
          </a:ln>
          <a:effectLst/>
        </p:spPr>
        <p:txBody>
          <a:bodyPr rtlCol="0" anchor="ctr"/>
          <a:lstStyle/>
          <a:p>
            <a:pPr algn="ctr"/>
          </a:p>
        </p:txBody>
      </p:sp>
      <p:sp>
        <p:nvSpPr>
          <p:cNvPr id="7" name="Rounded Rectangle 6"/>
          <p:cNvSpPr/>
          <p:nvPr/>
        </p:nvSpPr>
        <p:spPr>
          <a:xfrm>
            <a:off x="2307259" y="1335024"/>
            <a:ext cx="1530019"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8" name="TextBox 7"/>
          <p:cNvSpPr txBox="1"/>
          <p:nvPr/>
        </p:nvSpPr>
        <p:spPr>
          <a:xfrm>
            <a:off x="2389555" y="1380744"/>
            <a:ext cx="1365427"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сумма</a:t>
            </a:r>
          </a:p>
        </p:txBody>
      </p:sp>
      <p:sp>
        <p:nvSpPr>
          <p:cNvPr id="9" name="Right Arrow 8"/>
          <p:cNvSpPr/>
          <p:nvPr/>
        </p:nvSpPr>
        <p:spPr>
          <a:xfrm>
            <a:off x="3882999" y="1622964"/>
            <a:ext cx="182880" cy="137160"/>
          </a:xfrm>
          <a:prstGeom prst="rightArrow">
            <a:avLst/>
          </a:prstGeom>
          <a:solidFill>
            <a:srgbClr val="1C7293"/>
          </a:solidFill>
          <a:ln>
            <a:noFill/>
          </a:ln>
          <a:effectLst/>
        </p:spPr>
        <p:txBody>
          <a:bodyPr rtlCol="0" anchor="ctr"/>
          <a:lstStyle/>
          <a:p>
            <a:pPr algn="ctr"/>
          </a:p>
        </p:txBody>
      </p:sp>
      <p:sp>
        <p:nvSpPr>
          <p:cNvPr id="10" name="Rounded Rectangle 9"/>
          <p:cNvSpPr/>
          <p:nvPr/>
        </p:nvSpPr>
        <p:spPr>
          <a:xfrm>
            <a:off x="4111599" y="1335024"/>
            <a:ext cx="1530019"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1" name="TextBox 10"/>
          <p:cNvSpPr txBox="1"/>
          <p:nvPr/>
        </p:nvSpPr>
        <p:spPr>
          <a:xfrm>
            <a:off x="4193895" y="1380744"/>
            <a:ext cx="1365427"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порог</a:t>
            </a:r>
          </a:p>
        </p:txBody>
      </p:sp>
      <p:sp>
        <p:nvSpPr>
          <p:cNvPr id="12" name="Right Arrow 11"/>
          <p:cNvSpPr/>
          <p:nvPr/>
        </p:nvSpPr>
        <p:spPr>
          <a:xfrm>
            <a:off x="5687339" y="1622964"/>
            <a:ext cx="182880" cy="137160"/>
          </a:xfrm>
          <a:prstGeom prst="rightArrow">
            <a:avLst/>
          </a:prstGeom>
          <a:solidFill>
            <a:srgbClr val="1C7293"/>
          </a:solidFill>
          <a:ln>
            <a:noFill/>
          </a:ln>
          <a:effectLst/>
        </p:spPr>
        <p:txBody>
          <a:bodyPr rtlCol="0" anchor="ctr"/>
          <a:lstStyle/>
          <a:p>
            <a:pPr algn="ctr"/>
          </a:p>
        </p:txBody>
      </p:sp>
      <p:sp>
        <p:nvSpPr>
          <p:cNvPr id="13" name="Rounded Rectangle 12"/>
          <p:cNvSpPr/>
          <p:nvPr/>
        </p:nvSpPr>
        <p:spPr>
          <a:xfrm>
            <a:off x="5915939" y="1335024"/>
            <a:ext cx="1530019"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4" name="TextBox 13"/>
          <p:cNvSpPr txBox="1"/>
          <p:nvPr/>
        </p:nvSpPr>
        <p:spPr>
          <a:xfrm>
            <a:off x="5998235" y="1380744"/>
            <a:ext cx="1365427"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назначенное действие</a:t>
            </a:r>
          </a:p>
        </p:txBody>
      </p:sp>
      <p:sp>
        <p:nvSpPr>
          <p:cNvPr id="15" name="TextBox 14"/>
          <p:cNvSpPr txBox="1"/>
          <p:nvPr/>
        </p:nvSpPr>
        <p:spPr>
          <a:xfrm>
            <a:off x="502920" y="2084641"/>
            <a:ext cx="6943039"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Устройство шкалы</a:t>
            </a:r>
          </a:p>
        </p:txBody>
      </p:sp>
      <p:sp>
        <p:nvSpPr>
          <p:cNvPr id="16" name="Rounded Rectangle 15"/>
          <p:cNvSpPr/>
          <p:nvPr/>
        </p:nvSpPr>
        <p:spPr>
          <a:xfrm>
            <a:off x="502920" y="2478765"/>
            <a:ext cx="3316071" cy="2986504"/>
          </a:xfrm>
          <a:prstGeom prst="roundRect">
            <a:avLst>
              <a:gd name="adj" fmla="val 10205"/>
            </a:avLst>
          </a:prstGeom>
          <a:solidFill>
            <a:srgbClr val="F4F7FA"/>
          </a:solidFill>
          <a:ln w="19050">
            <a:solidFill>
              <a:srgbClr val="1C7293"/>
            </a:solidFill>
          </a:ln>
          <a:effectLst/>
        </p:spPr>
        <p:txBody>
          <a:bodyPr rtlCol="0" anchor="ctr"/>
          <a:lstStyle/>
          <a:p>
            <a:pPr algn="ctr"/>
          </a:p>
        </p:txBody>
      </p:sp>
      <p:sp>
        <p:nvSpPr>
          <p:cNvPr id="17" name="TextBox 16"/>
          <p:cNvSpPr txBox="1"/>
          <p:nvPr/>
        </p:nvSpPr>
        <p:spPr>
          <a:xfrm>
            <a:off x="667512" y="2634213"/>
            <a:ext cx="2986887" cy="246450"/>
          </a:xfrm>
          <a:prstGeom prst="rect">
            <a:avLst/>
          </a:prstGeom>
          <a:noFill/>
        </p:spPr>
        <p:txBody>
          <a:bodyPr wrap="square" lIns="0" rIns="0" tIns="0" bIns="0" anchor="t">
            <a:spAutoFit/>
          </a:bodyPr>
          <a:lstStyle/>
          <a:p>
            <a:pPr algn="l">
              <a:lnSpc>
                <a:spcPct val="112000"/>
              </a:lnSpc>
            </a:pPr>
            <a:r>
              <a:rPr sz="1400" b="1" i="0">
                <a:solidFill>
                  <a:srgbClr val="065A82"/>
                </a:solidFill>
                <a:latin typeface="Arial"/>
              </a:rPr>
              <a:t>Что шкала даёт</a:t>
            </a:r>
          </a:p>
        </p:txBody>
      </p:sp>
      <p:sp>
        <p:nvSpPr>
          <p:cNvPr id="18" name="TextBox 17"/>
          <p:cNvSpPr txBox="1"/>
          <p:nvPr/>
        </p:nvSpPr>
        <p:spPr>
          <a:xfrm>
            <a:off x="667512" y="2990391"/>
            <a:ext cx="2986887" cy="2319430"/>
          </a:xfrm>
          <a:prstGeom prst="rect">
            <a:avLst/>
          </a:prstGeom>
          <a:noFill/>
        </p:spPr>
        <p:txBody>
          <a:bodyPr wrap="square" lIns="0" rIns="0" tIns="0" bIns="0" anchor="t">
            <a:spAutoFit/>
          </a:bodyPr>
          <a:lstStyle/>
          <a:p>
            <a:pPr algn="l">
              <a:lnSpc>
                <a:spcPct val="126000"/>
              </a:lnSpc>
            </a:pPr>
            <a:r>
              <a:rPr sz="1450" b="0" i="0">
                <a:solidFill>
                  <a:srgbClr val="21295C"/>
                </a:solidFill>
                <a:latin typeface="Arial"/>
              </a:rPr>
              <a:t>• веса назначила комиссия, они напечатаны</a:t>
            </a:r>
          </a:p>
          <a:p>
            <a:pPr algn="l">
              <a:lnSpc>
                <a:spcPct val="126000"/>
              </a:lnSpc>
            </a:pPr>
            <a:r>
              <a:rPr sz="1450" b="0" i="0">
                <a:solidFill>
                  <a:srgbClr val="21295C"/>
                </a:solidFill>
                <a:latin typeface="Arial"/>
              </a:rPr>
              <a:t>• видно, откуда взялись три балла</a:t>
            </a:r>
          </a:p>
          <a:p>
            <a:pPr algn="l">
              <a:lnSpc>
                <a:spcPct val="126000"/>
              </a:lnSpc>
            </a:pPr>
            <a:r>
              <a:rPr sz="1450" b="0" i="0">
                <a:solidFill>
                  <a:srgbClr val="21295C"/>
                </a:solidFill>
                <a:latin typeface="Arial"/>
              </a:rPr>
              <a:t>• ошибку правят новой редакцией</a:t>
            </a:r>
          </a:p>
        </p:txBody>
      </p:sp>
      <p:sp>
        <p:nvSpPr>
          <p:cNvPr id="19" name="Rounded Rectangle 18"/>
          <p:cNvSpPr/>
          <p:nvPr/>
        </p:nvSpPr>
        <p:spPr>
          <a:xfrm>
            <a:off x="4129887" y="2478765"/>
            <a:ext cx="3316071" cy="2986504"/>
          </a:xfrm>
          <a:prstGeom prst="roundRect">
            <a:avLst>
              <a:gd name="adj" fmla="val 10205"/>
            </a:avLst>
          </a:prstGeom>
          <a:solidFill>
            <a:srgbClr val="FFFFFF"/>
          </a:solidFill>
          <a:ln w="19050">
            <a:solidFill>
              <a:srgbClr val="028090"/>
            </a:solidFill>
          </a:ln>
          <a:effectLst/>
        </p:spPr>
        <p:txBody>
          <a:bodyPr rtlCol="0" anchor="ctr"/>
          <a:lstStyle/>
          <a:p>
            <a:pPr algn="ctr"/>
          </a:p>
        </p:txBody>
      </p:sp>
      <p:sp>
        <p:nvSpPr>
          <p:cNvPr id="20" name="TextBox 19"/>
          <p:cNvSpPr txBox="1"/>
          <p:nvPr/>
        </p:nvSpPr>
        <p:spPr>
          <a:xfrm>
            <a:off x="4294479" y="2634213"/>
            <a:ext cx="2986887" cy="492901"/>
          </a:xfrm>
          <a:prstGeom prst="rect">
            <a:avLst/>
          </a:prstGeom>
          <a:noFill/>
        </p:spPr>
        <p:txBody>
          <a:bodyPr wrap="square" lIns="0" rIns="0" tIns="0" bIns="0" anchor="t">
            <a:spAutoFit/>
          </a:bodyPr>
          <a:lstStyle/>
          <a:p>
            <a:pPr algn="l">
              <a:lnSpc>
                <a:spcPct val="112000"/>
              </a:lnSpc>
            </a:pPr>
            <a:r>
              <a:rPr sz="1400" b="1" i="0">
                <a:solidFill>
                  <a:srgbClr val="028090"/>
                </a:solidFill>
                <a:latin typeface="Arial"/>
              </a:rPr>
              <a:t>Чего не даёт — в это модель целилась</a:t>
            </a:r>
          </a:p>
        </p:txBody>
      </p:sp>
      <p:sp>
        <p:nvSpPr>
          <p:cNvPr id="21" name="TextBox 20"/>
          <p:cNvSpPr txBox="1"/>
          <p:nvPr/>
        </p:nvSpPr>
        <p:spPr>
          <a:xfrm>
            <a:off x="4294479" y="3236842"/>
            <a:ext cx="2986887" cy="2072979"/>
          </a:xfrm>
          <a:prstGeom prst="rect">
            <a:avLst/>
          </a:prstGeom>
          <a:noFill/>
        </p:spPr>
        <p:txBody>
          <a:bodyPr wrap="square" lIns="0" rIns="0" tIns="0" bIns="0" anchor="t">
            <a:spAutoFit/>
          </a:bodyPr>
          <a:lstStyle/>
          <a:p>
            <a:pPr algn="l">
              <a:lnSpc>
                <a:spcPct val="126000"/>
              </a:lnSpc>
            </a:pPr>
            <a:r>
              <a:rPr sz="1450" b="0" i="0">
                <a:solidFill>
                  <a:srgbClr val="21295C"/>
                </a:solidFill>
                <a:latin typeface="Arial"/>
              </a:rPr>
              <a:t>• медленна: баллы растут после отклонения</a:t>
            </a:r>
          </a:p>
          <a:p>
            <a:pPr algn="l">
              <a:lnSpc>
                <a:spcPct val="126000"/>
              </a:lnSpc>
            </a:pPr>
            <a:r>
              <a:rPr sz="1450" b="0" i="0">
                <a:solidFill>
                  <a:srgbClr val="21295C"/>
                </a:solidFill>
                <a:latin typeface="Arial"/>
              </a:rPr>
              <a:t>• груба: один порог на все возрасты</a:t>
            </a:r>
          </a:p>
          <a:p>
            <a:pPr algn="l">
              <a:lnSpc>
                <a:spcPct val="126000"/>
              </a:lnSpc>
            </a:pPr>
            <a:r>
              <a:rPr sz="1450" b="0" i="0">
                <a:solidFill>
                  <a:srgbClr val="21295C"/>
                </a:solidFill>
                <a:latin typeface="Arial"/>
              </a:rPr>
              <a:t>• знает шесть величин, снятых сейчас</a:t>
            </a:r>
          </a:p>
        </p:txBody>
      </p:sp>
      <p:sp>
        <p:nvSpPr>
          <p:cNvPr id="22" name="Rounded Rectangle 21"/>
          <p:cNvSpPr/>
          <p:nvPr/>
        </p:nvSpPr>
        <p:spPr>
          <a:xfrm>
            <a:off x="374904" y="5556710"/>
            <a:ext cx="11441887" cy="571381"/>
          </a:xfrm>
          <a:prstGeom prst="roundRect">
            <a:avLst>
              <a:gd name="adj" fmla="val 25000"/>
            </a:avLst>
          </a:prstGeom>
          <a:solidFill>
            <a:srgbClr val="F4F7FA"/>
          </a:solidFill>
          <a:ln w="19050">
            <a:solidFill>
              <a:srgbClr val="1C7293"/>
            </a:solidFill>
          </a:ln>
          <a:effectLst/>
        </p:spPr>
        <p:txBody>
          <a:bodyPr rtlCol="0" anchor="ctr"/>
          <a:lstStyle/>
          <a:p>
            <a:pPr algn="ctr"/>
          </a:p>
        </p:txBody>
      </p:sp>
      <p:sp>
        <p:nvSpPr>
          <p:cNvPr id="23" name="TextBox 22"/>
          <p:cNvSpPr txBox="1"/>
          <p:nvPr/>
        </p:nvSpPr>
        <p:spPr>
          <a:xfrm>
            <a:off x="539496" y="5648150"/>
            <a:ext cx="11112703" cy="588057"/>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Шкала — классический режим этой стадии: дальше модель сравнивается именно с ней.</a:t>
            </a:r>
          </a:p>
        </p:txBody>
      </p:sp>
      <p:sp>
        <p:nvSpPr>
          <p:cNvPr id="24" name="Rounded Rectangle 23"/>
          <p:cNvSpPr/>
          <p:nvPr/>
        </p:nvSpPr>
        <p:spPr>
          <a:xfrm>
            <a:off x="7756855" y="1335024"/>
            <a:ext cx="3931920" cy="2643767"/>
          </a:xfrm>
          <a:prstGeom prst="roundRect">
            <a:avLst>
              <a:gd name="adj" fmla="val 11529"/>
            </a:avLst>
          </a:prstGeom>
          <a:solidFill>
            <a:srgbClr val="F4F7FA"/>
          </a:solidFill>
          <a:ln w="19050">
            <a:solidFill>
              <a:srgbClr val="1C7293"/>
            </a:solidFill>
          </a:ln>
          <a:effectLst/>
        </p:spPr>
        <p:txBody>
          <a:bodyPr rtlCol="0" anchor="ctr"/>
          <a:lstStyle/>
          <a:p>
            <a:pPr algn="ctr"/>
          </a:p>
        </p:txBody>
      </p:sp>
      <p:pic>
        <p:nvPicPr>
          <p:cNvPr id="25" name="Picture 24" descr="s54-shkala-NEWS2-poroga-po-polosam.jpg"/>
          <p:cNvPicPr>
            <a:picLocks noChangeAspect="1"/>
          </p:cNvPicPr>
          <p:nvPr/>
        </p:nvPicPr>
        <p:blipFill>
          <a:blip r:embed="rId2"/>
          <a:stretch>
            <a:fillRect/>
          </a:stretch>
        </p:blipFill>
        <p:spPr>
          <a:xfrm>
            <a:off x="7894015" y="1472184"/>
            <a:ext cx="3657600" cy="2369447"/>
          </a:xfrm>
          <a:prstGeom prst="rect">
            <a:avLst/>
          </a:prstGeom>
        </p:spPr>
      </p:pic>
      <p:sp>
        <p:nvSpPr>
          <p:cNvPr id="26" name="Rectangle 25"/>
          <p:cNvSpPr/>
          <p:nvPr/>
        </p:nvSpPr>
        <p:spPr>
          <a:xfrm>
            <a:off x="502920" y="888090"/>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Цена двух ошибок дежурной смены</a:t>
            </a:r>
          </a:p>
        </p:txBody>
      </p:sp>
      <p:sp>
        <p:nvSpPr>
          <p:cNvPr id="4" name="Rounded Rectangle 3"/>
          <p:cNvSpPr/>
          <p:nvPr/>
        </p:nvSpPr>
        <p:spPr>
          <a:xfrm>
            <a:off x="502920" y="1335024"/>
            <a:ext cx="3316071" cy="3108960"/>
          </a:xfrm>
          <a:prstGeom prst="roundRect">
            <a:avLst>
              <a:gd name="adj" fmla="val 9803"/>
            </a:avLst>
          </a:prstGeom>
          <a:solidFill>
            <a:srgbClr val="F4F7FA"/>
          </a:solidFill>
          <a:ln w="19050">
            <a:solidFill>
              <a:srgbClr val="1C7293"/>
            </a:solidFill>
          </a:ln>
          <a:effectLst/>
        </p:spPr>
        <p:txBody>
          <a:bodyPr rtlCol="0" anchor="ctr"/>
          <a:lstStyle/>
          <a:p>
            <a:pPr algn="ctr"/>
          </a:p>
        </p:txBody>
      </p:sp>
      <p:sp>
        <p:nvSpPr>
          <p:cNvPr id="5" name="TextBox 4"/>
          <p:cNvSpPr txBox="1"/>
          <p:nvPr/>
        </p:nvSpPr>
        <p:spPr>
          <a:xfrm>
            <a:off x="667512" y="1490472"/>
            <a:ext cx="2986887" cy="246450"/>
          </a:xfrm>
          <a:prstGeom prst="rect">
            <a:avLst/>
          </a:prstGeom>
          <a:noFill/>
        </p:spPr>
        <p:txBody>
          <a:bodyPr wrap="square" lIns="0" rIns="0" tIns="0" bIns="0" anchor="t">
            <a:spAutoFit/>
          </a:bodyPr>
          <a:lstStyle/>
          <a:p>
            <a:pPr algn="l">
              <a:lnSpc>
                <a:spcPct val="112000"/>
              </a:lnSpc>
            </a:pPr>
            <a:r>
              <a:rPr sz="1400" b="1" i="0">
                <a:solidFill>
                  <a:srgbClr val="065A82"/>
                </a:solidFill>
                <a:latin typeface="Arial"/>
              </a:rPr>
              <a:t>Пропустить ухудшение</a:t>
            </a:r>
          </a:p>
        </p:txBody>
      </p:sp>
      <p:sp>
        <p:nvSpPr>
          <p:cNvPr id="6" name="TextBox 5"/>
          <p:cNvSpPr txBox="1"/>
          <p:nvPr/>
        </p:nvSpPr>
        <p:spPr>
          <a:xfrm>
            <a:off x="667512" y="1846650"/>
            <a:ext cx="2986887" cy="2441885"/>
          </a:xfrm>
          <a:prstGeom prst="rect">
            <a:avLst/>
          </a:prstGeom>
          <a:noFill/>
        </p:spPr>
        <p:txBody>
          <a:bodyPr wrap="square" lIns="0" rIns="0" tIns="0" bIns="0" anchor="t">
            <a:spAutoFit/>
          </a:bodyPr>
          <a:lstStyle/>
          <a:p>
            <a:pPr algn="l">
              <a:lnSpc>
                <a:spcPct val="126000"/>
              </a:lnSpc>
            </a:pPr>
            <a:r>
              <a:rPr sz="1450" b="0" i="0">
                <a:solidFill>
                  <a:srgbClr val="21295C"/>
                </a:solidFill>
                <a:latin typeface="Arial"/>
              </a:rPr>
              <a:t>• часы задержки: капельница или реанимация</a:t>
            </a:r>
          </a:p>
          <a:p>
            <a:pPr algn="l">
              <a:lnSpc>
                <a:spcPct val="126000"/>
              </a:lnSpc>
            </a:pPr>
            <a:r>
              <a:rPr sz="1450" b="0" i="0">
                <a:solidFill>
                  <a:srgbClr val="21295C"/>
                </a:solidFill>
                <a:latin typeface="Arial"/>
              </a:rPr>
              <a:t>• ведущая причина внутрибольничной смерти</a:t>
            </a:r>
          </a:p>
          <a:p>
            <a:pPr algn="l">
              <a:lnSpc>
                <a:spcPct val="126000"/>
              </a:lnSpc>
            </a:pPr>
            <a:r>
              <a:rPr sz="1450" b="0" i="0">
                <a:solidFill>
                  <a:srgbClr val="21295C"/>
                </a:solidFill>
                <a:latin typeface="Arial"/>
              </a:rPr>
              <a:t>• считается не в деньгах</a:t>
            </a:r>
          </a:p>
        </p:txBody>
      </p:sp>
      <p:sp>
        <p:nvSpPr>
          <p:cNvPr id="7" name="Rounded Rectangle 6"/>
          <p:cNvSpPr/>
          <p:nvPr/>
        </p:nvSpPr>
        <p:spPr>
          <a:xfrm>
            <a:off x="4129887" y="1335024"/>
            <a:ext cx="3316071" cy="3108960"/>
          </a:xfrm>
          <a:prstGeom prst="roundRect">
            <a:avLst>
              <a:gd name="adj" fmla="val 9803"/>
            </a:avLst>
          </a:prstGeom>
          <a:solidFill>
            <a:srgbClr val="FFFFFF"/>
          </a:solidFill>
          <a:ln w="19050">
            <a:solidFill>
              <a:srgbClr val="028090"/>
            </a:solidFill>
          </a:ln>
          <a:effectLst/>
        </p:spPr>
        <p:txBody>
          <a:bodyPr rtlCol="0" anchor="ctr"/>
          <a:lstStyle/>
          <a:p>
            <a:pPr algn="ctr"/>
          </a:p>
        </p:txBody>
      </p:sp>
      <p:sp>
        <p:nvSpPr>
          <p:cNvPr id="8" name="TextBox 7"/>
          <p:cNvSpPr txBox="1"/>
          <p:nvPr/>
        </p:nvSpPr>
        <p:spPr>
          <a:xfrm>
            <a:off x="4294479" y="1490472"/>
            <a:ext cx="2986887" cy="246450"/>
          </a:xfrm>
          <a:prstGeom prst="rect">
            <a:avLst/>
          </a:prstGeom>
          <a:noFill/>
        </p:spPr>
        <p:txBody>
          <a:bodyPr wrap="square" lIns="0" rIns="0" tIns="0" bIns="0" anchor="t">
            <a:spAutoFit/>
          </a:bodyPr>
          <a:lstStyle/>
          <a:p>
            <a:pPr algn="l">
              <a:lnSpc>
                <a:spcPct val="112000"/>
              </a:lnSpc>
            </a:pPr>
            <a:r>
              <a:rPr sz="1400" b="1" i="0">
                <a:solidFill>
                  <a:srgbClr val="028090"/>
                </a:solidFill>
                <a:latin typeface="Arial"/>
              </a:rPr>
              <a:t>Поднять ложную тревогу</a:t>
            </a:r>
          </a:p>
        </p:txBody>
      </p:sp>
      <p:sp>
        <p:nvSpPr>
          <p:cNvPr id="9" name="TextBox 8"/>
          <p:cNvSpPr txBox="1"/>
          <p:nvPr/>
        </p:nvSpPr>
        <p:spPr>
          <a:xfrm>
            <a:off x="4294479" y="1846650"/>
            <a:ext cx="2986887" cy="2441885"/>
          </a:xfrm>
          <a:prstGeom prst="rect">
            <a:avLst/>
          </a:prstGeom>
          <a:noFill/>
        </p:spPr>
        <p:txBody>
          <a:bodyPr wrap="square" lIns="0" rIns="0" tIns="0" bIns="0" anchor="t">
            <a:spAutoFit/>
          </a:bodyPr>
          <a:lstStyle/>
          <a:p>
            <a:pPr algn="l">
              <a:lnSpc>
                <a:spcPct val="126000"/>
              </a:lnSpc>
            </a:pPr>
            <a:r>
              <a:rPr sz="1450" b="0" i="0">
                <a:solidFill>
                  <a:srgbClr val="21295C"/>
                </a:solidFill>
                <a:latin typeface="Arial"/>
              </a:rPr>
              <a:t>• анализы «чтобы исключить»</a:t>
            </a:r>
          </a:p>
          <a:p>
            <a:pPr algn="l">
              <a:lnSpc>
                <a:spcPct val="126000"/>
              </a:lnSpc>
            </a:pPr>
            <a:r>
              <a:rPr sz="1450" b="0" i="0">
                <a:solidFill>
                  <a:srgbClr val="21295C"/>
                </a:solidFill>
                <a:latin typeface="Arial"/>
              </a:rPr>
              <a:t>• антибиотик «на всякий случай» — устойчивость</a:t>
            </a:r>
          </a:p>
          <a:p>
            <a:pPr algn="l">
              <a:lnSpc>
                <a:spcPct val="126000"/>
              </a:lnSpc>
            </a:pPr>
            <a:r>
              <a:rPr sz="1450" b="0" i="0">
                <a:solidFill>
                  <a:srgbClr val="21295C"/>
                </a:solidFill>
                <a:latin typeface="Arial"/>
              </a:rPr>
              <a:t>• время, снятое с другого пациента</a:t>
            </a:r>
          </a:p>
          <a:p>
            <a:pPr algn="l">
              <a:lnSpc>
                <a:spcPct val="126000"/>
              </a:lnSpc>
            </a:pPr>
            <a:r>
              <a:rPr sz="1450" b="0" i="0">
                <a:solidFill>
                  <a:srgbClr val="21295C"/>
                </a:solidFill>
                <a:latin typeface="Arial"/>
              </a:rPr>
              <a:t>• через сотню повторений — закрывать не читая</a:t>
            </a:r>
          </a:p>
        </p:txBody>
      </p:sp>
      <p:sp>
        <p:nvSpPr>
          <p:cNvPr id="10" name="Rounded Rectangle 9"/>
          <p:cNvSpPr/>
          <p:nvPr/>
        </p:nvSpPr>
        <p:spPr>
          <a:xfrm>
            <a:off x="374904" y="4535424"/>
            <a:ext cx="11441887" cy="957342"/>
          </a:xfrm>
          <a:prstGeom prst="roundRect">
            <a:avLst>
              <a:gd name="adj" fmla="val 25000"/>
            </a:avLst>
          </a:prstGeom>
          <a:solidFill>
            <a:srgbClr val="F4F7FA"/>
          </a:solidFill>
          <a:ln w="19050">
            <a:solidFill>
              <a:srgbClr val="1C7293"/>
            </a:solidFill>
          </a:ln>
          <a:effectLst/>
        </p:spPr>
        <p:txBody>
          <a:bodyPr rtlCol="0" anchor="ctr"/>
          <a:lstStyle/>
          <a:p>
            <a:pPr algn="ctr"/>
          </a:p>
        </p:txBody>
      </p:sp>
      <p:sp>
        <p:nvSpPr>
          <p:cNvPr id="11" name="TextBox 10"/>
          <p:cNvSpPr txBox="1"/>
          <p:nvPr/>
        </p:nvSpPr>
        <p:spPr>
          <a:xfrm>
            <a:off x="539496" y="4626864"/>
            <a:ext cx="11112703" cy="1609343"/>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Обе ошибки платит одна дежурная смена, и выбор между ними делается по многу раз за ночь.</a:t>
            </a:r>
          </a:p>
          <a:p>
            <a:pPr algn="l">
              <a:lnSpc>
                <a:spcPct val="126000"/>
              </a:lnSpc>
              <a:spcBef>
                <a:spcPts val="700"/>
              </a:spcBef>
            </a:pPr>
            <a:r>
              <a:rPr sz="1500" b="0" i="0">
                <a:solidFill>
                  <a:srgbClr val="21295C"/>
                </a:solidFill>
                <a:latin typeface="Arial"/>
              </a:rPr>
              <a:t/>
            </a:r>
            <a:r>
              <a:rPr sz="1500" b="1" i="0">
                <a:solidFill>
                  <a:srgbClr val="21295C"/>
                </a:solidFill>
                <a:latin typeface="Arial"/>
              </a:rPr>
              <a:t>Какую долю оповещений вы закрываете, не читая?</a:t>
            </a:r>
          </a:p>
        </p:txBody>
      </p:sp>
      <p:sp>
        <p:nvSpPr>
          <p:cNvPr id="12" name="Rounded Rectangle 11"/>
          <p:cNvSpPr/>
          <p:nvPr/>
        </p:nvSpPr>
        <p:spPr>
          <a:xfrm>
            <a:off x="7756855" y="1335024"/>
            <a:ext cx="3931920" cy="2712719"/>
          </a:xfrm>
          <a:prstGeom prst="roundRect">
            <a:avLst>
              <a:gd name="adj" fmla="val 11235"/>
            </a:avLst>
          </a:prstGeom>
          <a:solidFill>
            <a:srgbClr val="F4F7FA"/>
          </a:solidFill>
          <a:ln w="19050">
            <a:solidFill>
              <a:srgbClr val="1C7293"/>
            </a:solidFill>
          </a:ln>
          <a:effectLst/>
        </p:spPr>
        <p:txBody>
          <a:bodyPr rtlCol="0" anchor="ctr"/>
          <a:lstStyle/>
          <a:p>
            <a:pPr algn="ctr"/>
          </a:p>
        </p:txBody>
      </p:sp>
      <p:pic>
        <p:nvPicPr>
          <p:cNvPr id="13" name="Picture 12" descr="s55-monitor-u-posteli.jpg"/>
          <p:cNvPicPr>
            <a:picLocks noChangeAspect="1"/>
          </p:cNvPicPr>
          <p:nvPr/>
        </p:nvPicPr>
        <p:blipFill>
          <a:blip r:embed="rId2"/>
          <a:stretch>
            <a:fillRect/>
          </a:stretch>
        </p:blipFill>
        <p:spPr>
          <a:xfrm>
            <a:off x="7894015" y="1472184"/>
            <a:ext cx="3657600" cy="2438400"/>
          </a:xfrm>
          <a:prstGeom prst="rect">
            <a:avLst/>
          </a:prstGeom>
        </p:spPr>
      </p:pic>
      <p:sp>
        <p:nvSpPr>
          <p:cNvPr id="14" name="Rectangle 13"/>
          <p:cNvSpPr/>
          <p:nvPr/>
        </p:nvSpPr>
        <p:spPr>
          <a:xfrm>
            <a:off x="502920" y="888090"/>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Оба классических режима в одной единице — до всякой модели</a:t>
            </a:r>
          </a:p>
        </p:txBody>
      </p:sp>
      <p:sp>
        <p:nvSpPr>
          <p:cNvPr id="4" name="Rounded Rectangle 3"/>
          <p:cNvSpPr/>
          <p:nvPr/>
        </p:nvSpPr>
        <p:spPr>
          <a:xfrm>
            <a:off x="502920" y="1335024"/>
            <a:ext cx="11185855" cy="1165753"/>
          </a:xfrm>
          <a:prstGeom prst="roundRect">
            <a:avLst>
              <a:gd name="adj" fmla="val 25000"/>
            </a:avLst>
          </a:prstGeom>
          <a:solidFill>
            <a:srgbClr val="FFFFFF"/>
          </a:solidFill>
          <a:ln w="25400">
            <a:solidFill>
              <a:srgbClr val="F0AB00"/>
            </a:solidFill>
          </a:ln>
          <a:effectLst/>
        </p:spPr>
        <p:txBody>
          <a:bodyPr rtlCol="0" anchor="ctr"/>
          <a:lstStyle/>
          <a:p>
            <a:pPr algn="ctr"/>
          </a:p>
        </p:txBody>
      </p:sp>
      <p:sp>
        <p:nvSpPr>
          <p:cNvPr id="5" name="TextBox 4"/>
          <p:cNvSpPr txBox="1"/>
          <p:nvPr/>
        </p:nvSpPr>
        <p:spPr>
          <a:xfrm>
            <a:off x="640080" y="1472184"/>
            <a:ext cx="10911535"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ТРЕВОГИ ПРИКРОВАТНОГО ПРИБОРА — ЛОЖНЫЕ</a:t>
            </a:r>
          </a:p>
        </p:txBody>
      </p:sp>
      <p:sp>
        <p:nvSpPr>
          <p:cNvPr id="6" name="TextBox 5"/>
          <p:cNvSpPr txBox="1"/>
          <p:nvPr/>
        </p:nvSpPr>
        <p:spPr>
          <a:xfrm>
            <a:off x="640080" y="1725375"/>
            <a:ext cx="10911535"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88,8 из ста</a:t>
            </a:r>
          </a:p>
        </p:txBody>
      </p:sp>
      <p:sp>
        <p:nvSpPr>
          <p:cNvPr id="7" name="TextBox 6"/>
          <p:cNvSpPr txBox="1"/>
          <p:nvPr/>
        </p:nvSpPr>
        <p:spPr>
          <a:xfrm>
            <a:off x="640080" y="2152374"/>
            <a:ext cx="10911535"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ДРУГАЯ база: прибор у постели, порог выставлен рукой; обученной модели в приборе нет</a:t>
            </a:r>
          </a:p>
        </p:txBody>
      </p:sp>
      <p:sp>
        <p:nvSpPr>
          <p:cNvPr id="8" name="Rectangle 7"/>
          <p:cNvSpPr/>
          <p:nvPr/>
        </p:nvSpPr>
        <p:spPr>
          <a:xfrm>
            <a:off x="754380" y="3354632"/>
            <a:ext cx="10682935" cy="50292"/>
          </a:xfrm>
          <a:prstGeom prst="rect">
            <a:avLst/>
          </a:prstGeom>
          <a:solidFill>
            <a:srgbClr val="1C7293"/>
          </a:solidFill>
          <a:ln>
            <a:noFill/>
          </a:ln>
          <a:effectLst/>
        </p:spPr>
        <p:txBody>
          <a:bodyPr rtlCol="0" anchor="ctr"/>
          <a:lstStyle/>
          <a:p>
            <a:pPr algn="ctr"/>
          </a:p>
        </p:txBody>
      </p:sp>
      <p:sp>
        <p:nvSpPr>
          <p:cNvPr id="9" name="TextBox 8"/>
          <p:cNvSpPr txBox="1"/>
          <p:nvPr/>
        </p:nvSpPr>
        <p:spPr>
          <a:xfrm>
            <a:off x="388620" y="3441500"/>
            <a:ext cx="731520" cy="219456"/>
          </a:xfrm>
          <a:prstGeom prst="rect">
            <a:avLst/>
          </a:prstGeom>
          <a:noFill/>
        </p:spPr>
        <p:txBody>
          <a:bodyPr wrap="square" lIns="0" rIns="0" tIns="0" bIns="0" anchor="t">
            <a:spAutoFit/>
          </a:bodyPr>
          <a:lstStyle/>
          <a:p>
            <a:pPr algn="ctr">
              <a:lnSpc>
                <a:spcPct val="100000"/>
              </a:lnSpc>
            </a:pPr>
            <a:r>
              <a:rPr sz="1200" b="0" i="0">
                <a:solidFill>
                  <a:srgbClr val="556070"/>
                </a:solidFill>
                <a:latin typeface="Arial"/>
              </a:rPr>
              <a:t>5</a:t>
            </a:r>
          </a:p>
        </p:txBody>
      </p:sp>
      <p:sp>
        <p:nvSpPr>
          <p:cNvPr id="10" name="TextBox 9"/>
          <p:cNvSpPr txBox="1"/>
          <p:nvPr/>
        </p:nvSpPr>
        <p:spPr>
          <a:xfrm>
            <a:off x="11071555" y="3441500"/>
            <a:ext cx="731520" cy="219456"/>
          </a:xfrm>
          <a:prstGeom prst="rect">
            <a:avLst/>
          </a:prstGeom>
          <a:noFill/>
        </p:spPr>
        <p:txBody>
          <a:bodyPr wrap="square" lIns="0" rIns="0" tIns="0" bIns="0" anchor="t">
            <a:spAutoFit/>
          </a:bodyPr>
          <a:lstStyle/>
          <a:p>
            <a:pPr algn="ctr">
              <a:lnSpc>
                <a:spcPct val="100000"/>
              </a:lnSpc>
            </a:pPr>
            <a:r>
              <a:rPr sz="1200" b="0" i="0">
                <a:solidFill>
                  <a:srgbClr val="556070"/>
                </a:solidFill>
                <a:latin typeface="Arial"/>
              </a:rPr>
              <a:t>20</a:t>
            </a:r>
          </a:p>
        </p:txBody>
      </p:sp>
      <p:sp>
        <p:nvSpPr>
          <p:cNvPr id="11" name="Rectangle 10"/>
          <p:cNvSpPr/>
          <p:nvPr/>
        </p:nvSpPr>
        <p:spPr>
          <a:xfrm>
            <a:off x="836676" y="3274165"/>
            <a:ext cx="37033" cy="211226"/>
          </a:xfrm>
          <a:prstGeom prst="rect">
            <a:avLst/>
          </a:prstGeom>
          <a:solidFill>
            <a:srgbClr val="FFFFFF"/>
          </a:solidFill>
          <a:ln>
            <a:noFill/>
          </a:ln>
          <a:effectLst/>
        </p:spPr>
        <p:txBody>
          <a:bodyPr rtlCol="0" anchor="ctr"/>
          <a:lstStyle/>
          <a:p>
            <a:pPr algn="ctr"/>
          </a:p>
        </p:txBody>
      </p:sp>
      <p:sp>
        <p:nvSpPr>
          <p:cNvPr id="12" name="Rectangle 11"/>
          <p:cNvSpPr/>
          <p:nvPr/>
        </p:nvSpPr>
        <p:spPr>
          <a:xfrm>
            <a:off x="910742" y="3274165"/>
            <a:ext cx="37033" cy="211226"/>
          </a:xfrm>
          <a:prstGeom prst="rect">
            <a:avLst/>
          </a:prstGeom>
          <a:solidFill>
            <a:srgbClr val="FFFFFF"/>
          </a:solidFill>
          <a:ln>
            <a:noFill/>
          </a:ln>
          <a:effectLst/>
        </p:spPr>
        <p:txBody>
          <a:bodyPr rtlCol="0" anchor="ctr"/>
          <a:lstStyle/>
          <a:p>
            <a:pPr algn="ctr"/>
          </a:p>
        </p:txBody>
      </p:sp>
      <p:sp>
        <p:nvSpPr>
          <p:cNvPr id="13" name="Rectangle 12"/>
          <p:cNvSpPr/>
          <p:nvPr/>
        </p:nvSpPr>
        <p:spPr>
          <a:xfrm>
            <a:off x="3016697" y="3190040"/>
            <a:ext cx="50292" cy="164592"/>
          </a:xfrm>
          <a:prstGeom prst="rect">
            <a:avLst/>
          </a:prstGeom>
          <a:solidFill>
            <a:srgbClr val="F0AB00"/>
          </a:solidFill>
          <a:ln>
            <a:noFill/>
          </a:ln>
          <a:effectLst/>
        </p:spPr>
        <p:txBody>
          <a:bodyPr rtlCol="0" anchor="ctr"/>
          <a:lstStyle/>
          <a:p>
            <a:pPr algn="ctr"/>
          </a:p>
        </p:txBody>
      </p:sp>
      <p:sp>
        <p:nvSpPr>
          <p:cNvPr id="14" name="TextBox 13"/>
          <p:cNvSpPr txBox="1"/>
          <p:nvPr/>
        </p:nvSpPr>
        <p:spPr>
          <a:xfrm>
            <a:off x="1177533" y="2683657"/>
            <a:ext cx="3728618" cy="414942"/>
          </a:xfrm>
          <a:prstGeom prst="rect">
            <a:avLst/>
          </a:prstGeom>
          <a:noFill/>
        </p:spPr>
        <p:txBody>
          <a:bodyPr wrap="square" lIns="0" rIns="0" tIns="0" bIns="0" anchor="b">
            <a:spAutoFit/>
          </a:bodyPr>
          <a:lstStyle/>
          <a:p>
            <a:pPr algn="ctr">
              <a:lnSpc>
                <a:spcPct val="110000"/>
              </a:lnSpc>
            </a:pPr>
            <a:r>
              <a:rPr sz="1200" b="0" i="0">
                <a:solidFill>
                  <a:srgbClr val="21295C"/>
                </a:solidFill>
                <a:latin typeface="Arial"/>
              </a:rPr>
              <a:t>8</a:t>
            </a:r>
          </a:p>
          <a:p>
            <a:pPr algn="ctr">
              <a:lnSpc>
                <a:spcPct val="110000"/>
              </a:lnSpc>
            </a:pPr>
            <a:r>
              <a:rPr sz="1200" b="0" i="0">
                <a:solidFill>
                  <a:srgbClr val="21295C"/>
                </a:solidFill>
                <a:latin typeface="Arial"/>
              </a:rPr>
              <a:t>Шкала раннего предупреждения</a:t>
            </a:r>
          </a:p>
        </p:txBody>
      </p:sp>
      <p:sp>
        <p:nvSpPr>
          <p:cNvPr id="15" name="Rectangle 14"/>
          <p:cNvSpPr/>
          <p:nvPr/>
        </p:nvSpPr>
        <p:spPr>
          <a:xfrm>
            <a:off x="5731367" y="3404924"/>
            <a:ext cx="50292" cy="164592"/>
          </a:xfrm>
          <a:prstGeom prst="rect">
            <a:avLst/>
          </a:prstGeom>
          <a:solidFill>
            <a:srgbClr val="065A82"/>
          </a:solidFill>
          <a:ln>
            <a:noFill/>
          </a:ln>
          <a:effectLst/>
        </p:spPr>
        <p:txBody>
          <a:bodyPr rtlCol="0" anchor="ctr"/>
          <a:lstStyle/>
          <a:p>
            <a:pPr algn="ctr"/>
          </a:p>
        </p:txBody>
      </p:sp>
      <p:sp>
        <p:nvSpPr>
          <p:cNvPr id="16" name="TextBox 15"/>
          <p:cNvSpPr txBox="1"/>
          <p:nvPr/>
        </p:nvSpPr>
        <p:spPr>
          <a:xfrm>
            <a:off x="3892204" y="3660956"/>
            <a:ext cx="3728618" cy="414942"/>
          </a:xfrm>
          <a:prstGeom prst="rect">
            <a:avLst/>
          </a:prstGeom>
          <a:noFill/>
        </p:spPr>
        <p:txBody>
          <a:bodyPr wrap="square" lIns="0" rIns="0" tIns="0" bIns="0" anchor="t">
            <a:spAutoFit/>
          </a:bodyPr>
          <a:lstStyle/>
          <a:p>
            <a:pPr algn="ctr">
              <a:lnSpc>
                <a:spcPct val="110000"/>
              </a:lnSpc>
            </a:pPr>
            <a:r>
              <a:rPr sz="1200" b="0" i="0">
                <a:solidFill>
                  <a:srgbClr val="21295C"/>
                </a:solidFill>
                <a:latin typeface="Arial"/>
              </a:rPr>
              <a:t>12</a:t>
            </a:r>
          </a:p>
          <a:p>
            <a:pPr algn="ctr">
              <a:lnSpc>
                <a:spcPct val="110000"/>
              </a:lnSpc>
            </a:pPr>
            <a:r>
              <a:rPr sz="1200" b="0" i="0">
                <a:solidFill>
                  <a:srgbClr val="21295C"/>
                </a:solidFill>
                <a:latin typeface="Arial"/>
              </a:rPr>
              <a:t>Вторая</a:t>
            </a:r>
          </a:p>
        </p:txBody>
      </p:sp>
      <p:sp>
        <p:nvSpPr>
          <p:cNvPr id="17" name="Rectangle 16"/>
          <p:cNvSpPr/>
          <p:nvPr/>
        </p:nvSpPr>
        <p:spPr>
          <a:xfrm>
            <a:off x="9803373" y="3190040"/>
            <a:ext cx="50292" cy="164592"/>
          </a:xfrm>
          <a:prstGeom prst="rect">
            <a:avLst/>
          </a:prstGeom>
          <a:solidFill>
            <a:srgbClr val="065A82"/>
          </a:solidFill>
          <a:ln>
            <a:noFill/>
          </a:ln>
          <a:effectLst/>
        </p:spPr>
        <p:txBody>
          <a:bodyPr rtlCol="0" anchor="ctr"/>
          <a:lstStyle/>
          <a:p>
            <a:pPr algn="ctr"/>
          </a:p>
        </p:txBody>
      </p:sp>
      <p:sp>
        <p:nvSpPr>
          <p:cNvPr id="18" name="TextBox 17"/>
          <p:cNvSpPr txBox="1"/>
          <p:nvPr/>
        </p:nvSpPr>
        <p:spPr>
          <a:xfrm>
            <a:off x="7964210" y="2683657"/>
            <a:ext cx="3728618" cy="414942"/>
          </a:xfrm>
          <a:prstGeom prst="rect">
            <a:avLst/>
          </a:prstGeom>
          <a:noFill/>
        </p:spPr>
        <p:txBody>
          <a:bodyPr wrap="square" lIns="0" rIns="0" tIns="0" bIns="0" anchor="b">
            <a:spAutoFit/>
          </a:bodyPr>
          <a:lstStyle/>
          <a:p>
            <a:pPr algn="ctr">
              <a:lnSpc>
                <a:spcPct val="110000"/>
              </a:lnSpc>
            </a:pPr>
            <a:r>
              <a:rPr sz="1200" b="0" i="0">
                <a:solidFill>
                  <a:srgbClr val="21295C"/>
                </a:solidFill>
                <a:latin typeface="Arial"/>
              </a:rPr>
              <a:t>18</a:t>
            </a:r>
          </a:p>
          <a:p>
            <a:pPr algn="ctr">
              <a:lnSpc>
                <a:spcPct val="110000"/>
              </a:lnSpc>
            </a:pPr>
            <a:r>
              <a:rPr sz="1200" b="0" i="0">
                <a:solidFill>
                  <a:srgbClr val="21295C"/>
                </a:solidFill>
                <a:latin typeface="Arial"/>
              </a:rPr>
              <a:t>Третья</a:t>
            </a:r>
          </a:p>
        </p:txBody>
      </p:sp>
      <p:sp>
        <p:nvSpPr>
          <p:cNvPr id="19" name="TextBox 18"/>
          <p:cNvSpPr txBox="1"/>
          <p:nvPr/>
        </p:nvSpPr>
        <p:spPr>
          <a:xfrm>
            <a:off x="502920" y="4185626"/>
            <a:ext cx="11185855" cy="219456"/>
          </a:xfrm>
          <a:prstGeom prst="rect">
            <a:avLst/>
          </a:prstGeom>
          <a:noFill/>
        </p:spPr>
        <p:txBody>
          <a:bodyPr wrap="square" lIns="0" rIns="0" tIns="0" bIns="0" anchor="t">
            <a:spAutoFit/>
          </a:bodyPr>
          <a:lstStyle/>
          <a:p>
            <a:pPr algn="ctr">
              <a:lnSpc>
                <a:spcPct val="100000"/>
              </a:lnSpc>
            </a:pPr>
            <a:r>
              <a:rPr sz="1200" b="1" i="0">
                <a:solidFill>
                  <a:srgbClr val="065A82"/>
                </a:solidFill>
                <a:latin typeface="Arial"/>
              </a:rPr>
              <a:t>подтверждается тревог из ста · 45 776 пациентов; сепсис у 3,3 из ста — одна выборка на все три</a:t>
            </a:r>
          </a:p>
        </p:txBody>
      </p:sp>
      <p:sp>
        <p:nvSpPr>
          <p:cNvPr id="20" name="Rounded Rectangle 19"/>
          <p:cNvSpPr/>
          <p:nvPr/>
        </p:nvSpPr>
        <p:spPr>
          <a:xfrm>
            <a:off x="374904" y="4496522"/>
            <a:ext cx="11441887" cy="1739685"/>
          </a:xfrm>
          <a:prstGeom prst="roundRect">
            <a:avLst>
              <a:gd name="adj" fmla="val 17520"/>
            </a:avLst>
          </a:prstGeom>
          <a:solidFill>
            <a:srgbClr val="F4F7FA"/>
          </a:solidFill>
          <a:ln w="19050">
            <a:solidFill>
              <a:srgbClr val="1C7293"/>
            </a:solidFill>
          </a:ln>
          <a:effectLst/>
        </p:spPr>
        <p:txBody>
          <a:bodyPr rtlCol="0" anchor="ctr"/>
          <a:lstStyle/>
          <a:p>
            <a:pPr algn="ctr"/>
          </a:p>
        </p:txBody>
      </p:sp>
      <p:sp>
        <p:nvSpPr>
          <p:cNvPr id="21" name="TextBox 20"/>
          <p:cNvSpPr txBox="1"/>
          <p:nvPr/>
        </p:nvSpPr>
        <p:spPr>
          <a:xfrm>
            <a:off x="539496" y="4587962"/>
            <a:ext cx="5373471" cy="1648245"/>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Ни один классический режим не был бесплатным.</a:t>
            </a:r>
          </a:p>
          <a:p>
            <a:pPr algn="l">
              <a:lnSpc>
                <a:spcPct val="126000"/>
              </a:lnSpc>
              <a:spcBef>
                <a:spcPts val="700"/>
              </a:spcBef>
            </a:pPr>
            <a:r>
              <a:rPr sz="1500" b="0" i="0">
                <a:solidFill>
                  <a:srgbClr val="21295C"/>
                </a:solidFill>
                <a:latin typeface="Arial"/>
              </a:rPr>
              <a:t/>
            </a:r>
            <a:r>
              <a:rPr sz="1500" b="0" i="0">
                <a:solidFill>
                  <a:srgbClr val="21295C"/>
                </a:solidFill>
                <a:latin typeface="Arial"/>
              </a:rPr>
              <a:t>• у шкалы подтверждаются 8 тревог из ста — остальные 92 сделаны впустую, до всякого машинного обучения</a:t>
            </a:r>
          </a:p>
        </p:txBody>
      </p:sp>
      <p:sp>
        <p:nvSpPr>
          <p:cNvPr id="22" name="TextBox 21"/>
          <p:cNvSpPr txBox="1"/>
          <p:nvPr/>
        </p:nvSpPr>
        <p:spPr>
          <a:xfrm>
            <a:off x="6278727" y="4587962"/>
            <a:ext cx="5373471" cy="1648245"/>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 прибор у постели решает другую задачу: порог там выставлен рукой. </a:t>
            </a:r>
            <a:r>
              <a:rPr sz="1500" b="1" i="0">
                <a:solidFill>
                  <a:srgbClr val="21295C"/>
                </a:solidFill>
                <a:latin typeface="Arial"/>
              </a:rPr>
              <a:t>Доли прибора и шкалы не складываются</a:t>
            </a:r>
          </a:p>
          <a:p>
            <a:pPr algn="l">
              <a:lnSpc>
                <a:spcPct val="126000"/>
              </a:lnSpc>
              <a:spcBef>
                <a:spcPts val="700"/>
              </a:spcBef>
            </a:pPr>
            <a:r>
              <a:rPr sz="1500" b="0" i="0">
                <a:solidFill>
                  <a:srgbClr val="21295C"/>
                </a:solidFill>
                <a:latin typeface="Arial"/>
              </a:rPr>
              <a:t/>
            </a:r>
            <a:r>
              <a:rPr sz="1500" b="1" i="0">
                <a:solidFill>
                  <a:srgbClr val="21295C"/>
                </a:solidFill>
                <a:latin typeface="Arial"/>
              </a:rPr>
              <a:t>Сравнивать модель надо с этими числами. Нуля в этом сравнении нет.</a:t>
            </a:r>
          </a:p>
        </p:txBody>
      </p:sp>
      <p:sp>
        <p:nvSpPr>
          <p:cNvPr id="23" name="Rectangle 22"/>
          <p:cNvSpPr/>
          <p:nvPr/>
        </p:nvSpPr>
        <p:spPr>
          <a:xfrm>
            <a:off x="6091275" y="4587962"/>
            <a:ext cx="9144" cy="1574205"/>
          </a:xfrm>
          <a:prstGeom prst="rect">
            <a:avLst/>
          </a:prstGeom>
          <a:solidFill>
            <a:srgbClr val="D9E2EC"/>
          </a:solidFill>
          <a:ln>
            <a:noFill/>
          </a:ln>
          <a:effectLst/>
        </p:spPr>
        <p:txBody>
          <a:bodyPr rtlCol="0" anchor="ctr"/>
          <a:lstStyle/>
          <a:p>
            <a:pPr algn="ctr"/>
          </a:p>
        </p:txBody>
      </p:sp>
      <p:sp>
        <p:nvSpPr>
          <p:cNvPr id="24" name="Rectangle 23"/>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25" name="TextBox 24"/>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Сравнение балльных шкал, JAMIA Open 2021</a:t>
            </a:r>
            <a:r>
              <a:rPr sz="1200" b="0" i="1">
                <a:solidFill>
                  <a:srgbClr val="1C7293"/>
                </a:solidFill>
                <a:latin typeface="Arial"/>
              </a:rPr>
              <a:t> · </a:t>
            </a:r>
            <a:r>
              <a:rPr sz="1200" b="0" i="1" u="sng">
                <a:solidFill>
                  <a:srgbClr val="065A82"/>
                </a:solidFill>
                <a:latin typeface="Arial"/>
                <a:hlinkClick r:id="rId3"/>
              </a:rPr>
              <a:t>Drew и соавт., PLoS One 2014</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Пример 1: модель раннего предупреждения</a:t>
            </a:r>
          </a:p>
        </p:txBody>
      </p:sp>
      <p:sp>
        <p:nvSpPr>
          <p:cNvPr id="4" name="Rounded Rectangle 3"/>
          <p:cNvSpPr/>
          <p:nvPr/>
        </p:nvSpPr>
        <p:spPr>
          <a:xfrm>
            <a:off x="502920" y="1335024"/>
            <a:ext cx="3618890" cy="1165753"/>
          </a:xfrm>
          <a:prstGeom prst="roundRect">
            <a:avLst>
              <a:gd name="adj" fmla="val 25000"/>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ЗАЯВЛЕНО РАЗРАБОТЧИКОМ</a:t>
            </a:r>
          </a:p>
        </p:txBody>
      </p:sp>
      <p:sp>
        <p:nvSpPr>
          <p:cNvPr id="6" name="TextBox 5"/>
          <p:cNvSpPr txBox="1"/>
          <p:nvPr/>
        </p:nvSpPr>
        <p:spPr>
          <a:xfrm>
            <a:off x="640080" y="1725375"/>
            <a:ext cx="3344570"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0,76–0,83 · 0,83–0,86</a:t>
            </a:r>
          </a:p>
        </p:txBody>
      </p:sp>
      <p:sp>
        <p:nvSpPr>
          <p:cNvPr id="7" name="TextBox 6"/>
          <p:cNvSpPr txBox="1"/>
          <p:nvPr/>
        </p:nvSpPr>
        <p:spPr>
          <a:xfrm>
            <a:off x="640080" y="2152374"/>
            <a:ext cx="3344570"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две версии, два заявления</a:t>
            </a:r>
          </a:p>
        </p:txBody>
      </p:sp>
      <p:sp>
        <p:nvSpPr>
          <p:cNvPr id="8" name="Rounded Rectangle 7"/>
          <p:cNvSpPr/>
          <p:nvPr/>
        </p:nvSpPr>
        <p:spPr>
          <a:xfrm>
            <a:off x="4286402" y="1335024"/>
            <a:ext cx="3618890" cy="1165753"/>
          </a:xfrm>
          <a:prstGeom prst="roundRect">
            <a:avLst>
              <a:gd name="adj" fmla="val 25000"/>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4423562"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ИЗМЕРЕНО НЕЗАВИСИМОЙ ПРОВЕРКОЙ</a:t>
            </a:r>
          </a:p>
        </p:txBody>
      </p:sp>
      <p:sp>
        <p:nvSpPr>
          <p:cNvPr id="10" name="TextBox 9"/>
          <p:cNvSpPr txBox="1"/>
          <p:nvPr/>
        </p:nvSpPr>
        <p:spPr>
          <a:xfrm>
            <a:off x="4423562" y="1725375"/>
            <a:ext cx="3344570"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0,63</a:t>
            </a:r>
          </a:p>
        </p:txBody>
      </p:sp>
      <p:sp>
        <p:nvSpPr>
          <p:cNvPr id="11" name="TextBox 10"/>
          <p:cNvSpPr txBox="1"/>
          <p:nvPr/>
        </p:nvSpPr>
        <p:spPr>
          <a:xfrm>
            <a:off x="4423562" y="2152374"/>
            <a:ext cx="3344570"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38 455 госпитализаций; сепсис у 6,6 из ста</a:t>
            </a:r>
          </a:p>
        </p:txBody>
      </p:sp>
      <p:sp>
        <p:nvSpPr>
          <p:cNvPr id="12" name="Rounded Rectangle 11"/>
          <p:cNvSpPr/>
          <p:nvPr/>
        </p:nvSpPr>
        <p:spPr>
          <a:xfrm>
            <a:off x="8069884" y="1335024"/>
            <a:ext cx="3618890" cy="1165753"/>
          </a:xfrm>
          <a:prstGeom prst="roundRect">
            <a:avLst>
              <a:gd name="adj" fmla="val 25000"/>
            </a:avLst>
          </a:prstGeom>
          <a:solidFill>
            <a:srgbClr val="FFFFFF"/>
          </a:solidFill>
          <a:ln w="25400">
            <a:solidFill>
              <a:srgbClr val="F0AB00"/>
            </a:solidFill>
          </a:ln>
          <a:effectLst/>
        </p:spPr>
        <p:txBody>
          <a:bodyPr rtlCol="0" anchor="ctr"/>
          <a:lstStyle/>
          <a:p>
            <a:pPr algn="ctr"/>
          </a:p>
        </p:txBody>
      </p:sp>
      <p:sp>
        <p:nvSpPr>
          <p:cNvPr id="13" name="TextBox 12"/>
          <p:cNvSpPr txBox="1"/>
          <p:nvPr/>
        </p:nvSpPr>
        <p:spPr>
          <a:xfrm>
            <a:off x="8207044"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ПОЙМАНО СЛУЧАЕВ СЕПСИСА</a:t>
            </a:r>
          </a:p>
        </p:txBody>
      </p:sp>
      <p:sp>
        <p:nvSpPr>
          <p:cNvPr id="14" name="TextBox 13"/>
          <p:cNvSpPr txBox="1"/>
          <p:nvPr/>
        </p:nvSpPr>
        <p:spPr>
          <a:xfrm>
            <a:off x="8207044" y="1725375"/>
            <a:ext cx="3344570"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33 из ста</a:t>
            </a:r>
          </a:p>
        </p:txBody>
      </p:sp>
      <p:sp>
        <p:nvSpPr>
          <p:cNvPr id="15" name="TextBox 14"/>
          <p:cNvSpPr txBox="1"/>
          <p:nvPr/>
        </p:nvSpPr>
        <p:spPr>
          <a:xfrm>
            <a:off x="8207044" y="2152374"/>
            <a:ext cx="3344570"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не выявлено 1 709 из 2 552</a:t>
            </a:r>
          </a:p>
        </p:txBody>
      </p:sp>
      <p:sp>
        <p:nvSpPr>
          <p:cNvPr id="16" name="Rounded Rectangle 15"/>
          <p:cNvSpPr/>
          <p:nvPr/>
        </p:nvSpPr>
        <p:spPr>
          <a:xfrm>
            <a:off x="374904" y="2592217"/>
            <a:ext cx="11441887" cy="2739709"/>
          </a:xfrm>
          <a:prstGeom prst="roundRect">
            <a:avLst>
              <a:gd name="adj" fmla="val 11125"/>
            </a:avLst>
          </a:prstGeom>
          <a:solidFill>
            <a:srgbClr val="F4F7FA"/>
          </a:solidFill>
          <a:ln w="19050">
            <a:solidFill>
              <a:srgbClr val="1C7293"/>
            </a:solidFill>
          </a:ln>
          <a:effectLst/>
        </p:spPr>
        <p:txBody>
          <a:bodyPr rtlCol="0" anchor="ctr"/>
          <a:lstStyle/>
          <a:p>
            <a:pPr algn="ctr"/>
          </a:p>
        </p:txBody>
      </p:sp>
      <p:sp>
        <p:nvSpPr>
          <p:cNvPr id="17" name="TextBox 16"/>
          <p:cNvSpPr txBox="1"/>
          <p:nvPr/>
        </p:nvSpPr>
        <p:spPr>
          <a:xfrm>
            <a:off x="539496" y="2683657"/>
            <a:ext cx="5373471" cy="3552550"/>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Изделие — модель сепсиса Epic</a:t>
            </a:r>
            <a:r>
              <a:rPr sz="1500" b="0" i="0">
                <a:solidFill>
                  <a:srgbClr val="21295C"/>
                </a:solidFill>
                <a:latin typeface="Arial"/>
              </a:rPr>
              <a:t>, встроенная в медицинскую карту. Вход — показатели и записи карты, читаемые непрерывно; выход — балл риска и тревога с набором назначений в один щелчок.</a:t>
            </a:r>
          </a:p>
          <a:p>
            <a:pPr algn="l">
              <a:lnSpc>
                <a:spcPct val="126000"/>
              </a:lnSpc>
              <a:spcBef>
                <a:spcPts val="700"/>
              </a:spcBef>
            </a:pPr>
            <a:r>
              <a:rPr sz="1500" b="0" i="0">
                <a:solidFill>
                  <a:srgbClr val="21295C"/>
                </a:solidFill>
                <a:latin typeface="Arial"/>
              </a:rPr>
              <a:t/>
            </a:r>
            <a:r>
              <a:rPr sz="1500" b="1" i="0">
                <a:solidFill>
                  <a:srgbClr val="21295C"/>
                </a:solidFill>
                <a:latin typeface="Arial"/>
              </a:rPr>
              <a:t>Разница между 0,76 и 0,63 — это разница в пригодности:</a:t>
            </a:r>
            <a:r>
              <a:rPr sz="1500" b="0" i="0">
                <a:solidFill>
                  <a:srgbClr val="21295C"/>
                </a:solidFill>
                <a:latin typeface="Arial"/>
              </a:rPr>
              <a:t> на 0,76 можно опереться при настройке порога, при 0,63 неприемлем либо поток тревог, либо чувствительность.</a:t>
            </a:r>
          </a:p>
        </p:txBody>
      </p:sp>
      <p:sp>
        <p:nvSpPr>
          <p:cNvPr id="18" name="TextBox 17"/>
          <p:cNvSpPr txBox="1"/>
          <p:nvPr/>
        </p:nvSpPr>
        <p:spPr>
          <a:xfrm>
            <a:off x="6278727" y="2683657"/>
            <a:ext cx="5373471" cy="3552550"/>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Класс модели — штрафованная логистическая регрессия:</a:t>
            </a:r>
            <a:r>
              <a:rPr sz="1500" b="0" i="0">
                <a:solidFill>
                  <a:srgbClr val="21295C"/>
                </a:solidFill>
                <a:latin typeface="Arial"/>
              </a:rPr>
              <a:t> обученная статистика, глубокой сети здесь нет. </a:t>
            </a:r>
            <a:r>
              <a:rPr sz="1500" b="0" i="1">
                <a:solidFill>
                  <a:srgbClr val="21295C"/>
                </a:solidFill>
                <a:latin typeface="Arial"/>
              </a:rPr>
              <a:t>Прогноз на структурированных данных.</a:t>
            </a:r>
          </a:p>
          <a:p>
            <a:pPr algn="l">
              <a:lnSpc>
                <a:spcPct val="126000"/>
              </a:lnSpc>
              <a:spcBef>
                <a:spcPts val="700"/>
              </a:spcBef>
            </a:pPr>
            <a:r>
              <a:rPr sz="1200" b="0" i="0">
                <a:solidFill>
                  <a:srgbClr val="21295C"/>
                </a:solidFill>
                <a:latin typeface="Arial"/>
              </a:rPr>
              <a:t/>
            </a:r>
            <a:r>
              <a:rPr sz="1200" b="0" i="1">
                <a:solidFill>
                  <a:srgbClr val="1C7293"/>
                </a:solidFill>
                <a:latin typeface="Arial"/>
              </a:rPr>
              <a:t>Ретроспективная когорта одной системы: 38 455 госпитализаций.</a:t>
            </a:r>
          </a:p>
        </p:txBody>
      </p:sp>
      <p:sp>
        <p:nvSpPr>
          <p:cNvPr id="19" name="Rectangle 18"/>
          <p:cNvSpPr/>
          <p:nvPr/>
        </p:nvSpPr>
        <p:spPr>
          <a:xfrm>
            <a:off x="6091275" y="2683657"/>
            <a:ext cx="9144" cy="2465389"/>
          </a:xfrm>
          <a:prstGeom prst="rect">
            <a:avLst/>
          </a:prstGeom>
          <a:solidFill>
            <a:srgbClr val="D9E2EC"/>
          </a:solidFill>
          <a:ln>
            <a:noFill/>
          </a:ln>
          <a:effectLst/>
        </p:spPr>
        <p:txBody>
          <a:bodyPr rtlCol="0" anchor="ctr"/>
          <a:lstStyle/>
          <a:p>
            <a:pPr algn="ctr"/>
          </a:p>
        </p:txBody>
      </p:sp>
      <p:sp>
        <p:nvSpPr>
          <p:cNvPr id="20" name="Rectangle 19"/>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21" name="TextBox 20"/>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Wong, Otles и соавт., JAMA Internal Medicine 2021</a:t>
            </a:r>
            <a:r>
              <a:rPr sz="1200" b="0" i="1">
                <a:solidFill>
                  <a:srgbClr val="1C7293"/>
                </a:solidFill>
                <a:latin typeface="Arial"/>
              </a:rPr>
              <a:t> · </a:t>
            </a:r>
            <a:r>
              <a:rPr sz="1200" b="0" i="1" u="sng">
                <a:solidFill>
                  <a:srgbClr val="065A82"/>
                </a:solidFill>
                <a:latin typeface="Arial"/>
                <a:hlinkClick r:id="rId3"/>
              </a:rPr>
              <a:t>заявление по второй версии</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500" b="1" i="0">
                <a:solidFill>
                  <a:srgbClr val="21295C"/>
                </a:solidFill>
                <a:latin typeface="Arial"/>
              </a:rPr>
              <a:t>Пример 1, арифметика: восемнадцать тревог на сто госпитализаций</a:t>
            </a:r>
          </a:p>
        </p:txBody>
      </p:sp>
      <p:sp>
        <p:nvSpPr>
          <p:cNvPr id="4" name="Rounded Rectangle 3"/>
          <p:cNvSpPr/>
          <p:nvPr/>
        </p:nvSpPr>
        <p:spPr>
          <a:xfrm>
            <a:off x="502920" y="1335024"/>
            <a:ext cx="3618890" cy="1556177"/>
          </a:xfrm>
          <a:prstGeom prst="roundRect">
            <a:avLst>
              <a:gd name="adj" fmla="val 19586"/>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ТРЕВОГА ПРИХОДИТ НА</a:t>
            </a:r>
          </a:p>
        </p:txBody>
      </p:sp>
      <p:sp>
        <p:nvSpPr>
          <p:cNvPr id="6" name="TextBox 5"/>
          <p:cNvSpPr txBox="1"/>
          <p:nvPr/>
        </p:nvSpPr>
        <p:spPr>
          <a:xfrm>
            <a:off x="640080" y="1725375"/>
            <a:ext cx="3344570"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18 из ста госпитализаций</a:t>
            </a:r>
          </a:p>
        </p:txBody>
      </p:sp>
      <p:sp>
        <p:nvSpPr>
          <p:cNvPr id="7" name="TextBox 6"/>
          <p:cNvSpPr txBox="1"/>
          <p:nvPr/>
        </p:nvSpPr>
        <p:spPr>
          <a:xfrm>
            <a:off x="640080" y="2542797"/>
            <a:ext cx="3344570"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6 971 тревога на 38 455</a:t>
            </a:r>
          </a:p>
        </p:txBody>
      </p:sp>
      <p:sp>
        <p:nvSpPr>
          <p:cNvPr id="8" name="Rounded Rectangle 7"/>
          <p:cNvSpPr/>
          <p:nvPr/>
        </p:nvSpPr>
        <p:spPr>
          <a:xfrm>
            <a:off x="4286402" y="1335024"/>
            <a:ext cx="3618890" cy="1556177"/>
          </a:xfrm>
          <a:prstGeom prst="roundRect">
            <a:avLst>
              <a:gd name="adj" fmla="val 19586"/>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4423562" y="1472184"/>
            <a:ext cx="3344570"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ПОДТВЕРЖДАЕТСЯ ИЗ ПОДНЯТЫХ ТРЕВОГ</a:t>
            </a:r>
          </a:p>
        </p:txBody>
      </p:sp>
      <p:sp>
        <p:nvSpPr>
          <p:cNvPr id="10" name="TextBox 9"/>
          <p:cNvSpPr txBox="1"/>
          <p:nvPr/>
        </p:nvSpPr>
        <p:spPr>
          <a:xfrm>
            <a:off x="4423562" y="1932846"/>
            <a:ext cx="3344570"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12 из ста</a:t>
            </a:r>
          </a:p>
        </p:txBody>
      </p:sp>
      <p:sp>
        <p:nvSpPr>
          <p:cNvPr id="11" name="TextBox 10"/>
          <p:cNvSpPr txBox="1"/>
          <p:nvPr/>
        </p:nvSpPr>
        <p:spPr>
          <a:xfrm>
            <a:off x="4423562" y="2359845"/>
            <a:ext cx="3344570"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знаменатель другой — сами тревоги</a:t>
            </a:r>
          </a:p>
        </p:txBody>
      </p:sp>
      <p:sp>
        <p:nvSpPr>
          <p:cNvPr id="12" name="Rounded Rectangle 11"/>
          <p:cNvSpPr/>
          <p:nvPr/>
        </p:nvSpPr>
        <p:spPr>
          <a:xfrm>
            <a:off x="8069884" y="1335024"/>
            <a:ext cx="3618890" cy="1556177"/>
          </a:xfrm>
          <a:prstGeom prst="roundRect">
            <a:avLst>
              <a:gd name="adj" fmla="val 19586"/>
            </a:avLst>
          </a:prstGeom>
          <a:solidFill>
            <a:srgbClr val="FFFFFF"/>
          </a:solidFill>
          <a:ln w="25400">
            <a:solidFill>
              <a:srgbClr val="F0AB00"/>
            </a:solidFill>
          </a:ln>
          <a:effectLst/>
        </p:spPr>
        <p:txBody>
          <a:bodyPr rtlCol="0" anchor="ctr"/>
          <a:lstStyle/>
          <a:p>
            <a:pPr algn="ctr"/>
          </a:p>
        </p:txBody>
      </p:sp>
      <p:sp>
        <p:nvSpPr>
          <p:cNvPr id="13" name="TextBox 12"/>
          <p:cNvSpPr txBox="1"/>
          <p:nvPr/>
        </p:nvSpPr>
        <p:spPr>
          <a:xfrm>
            <a:off x="8207044"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ЧТОБЫ НАЙТИ ОДИН СЛУЧАЙ, РАЗОБРАТЬ</a:t>
            </a:r>
          </a:p>
        </p:txBody>
      </p:sp>
      <p:sp>
        <p:nvSpPr>
          <p:cNvPr id="14" name="TextBox 13"/>
          <p:cNvSpPr txBox="1"/>
          <p:nvPr/>
        </p:nvSpPr>
        <p:spPr>
          <a:xfrm>
            <a:off x="8207044" y="1725375"/>
            <a:ext cx="3344570"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восемь тревог</a:t>
            </a:r>
          </a:p>
        </p:txBody>
      </p:sp>
      <p:sp>
        <p:nvSpPr>
          <p:cNvPr id="15" name="TextBox 14"/>
          <p:cNvSpPr txBox="1"/>
          <p:nvPr/>
        </p:nvSpPr>
        <p:spPr>
          <a:xfrm>
            <a:off x="8207044" y="2152374"/>
            <a:ext cx="3344570"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прежние пятнадцать отозваны эрратой</a:t>
            </a:r>
          </a:p>
        </p:txBody>
      </p:sp>
      <p:sp>
        <p:nvSpPr>
          <p:cNvPr id="16" name="TextBox 15"/>
          <p:cNvSpPr txBox="1"/>
          <p:nvPr/>
        </p:nvSpPr>
        <p:spPr>
          <a:xfrm>
            <a:off x="502920" y="3110657"/>
            <a:ext cx="1307592" cy="402240"/>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Поток</a:t>
            </a:r>
          </a:p>
        </p:txBody>
      </p:sp>
      <p:sp>
        <p:nvSpPr>
          <p:cNvPr id="17" name="Rounded Rectangle 16"/>
          <p:cNvSpPr/>
          <p:nvPr/>
        </p:nvSpPr>
        <p:spPr>
          <a:xfrm>
            <a:off x="1920240" y="3074081"/>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8" name="TextBox 17"/>
          <p:cNvSpPr txBox="1"/>
          <p:nvPr/>
        </p:nvSpPr>
        <p:spPr>
          <a:xfrm>
            <a:off x="2002536" y="3119801"/>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1 000 госпитализаций</a:t>
            </a:r>
          </a:p>
        </p:txBody>
      </p:sp>
      <p:sp>
        <p:nvSpPr>
          <p:cNvPr id="19" name="Right Arrow 18"/>
          <p:cNvSpPr/>
          <p:nvPr/>
        </p:nvSpPr>
        <p:spPr>
          <a:xfrm>
            <a:off x="5039258" y="3243197"/>
            <a:ext cx="182880" cy="137160"/>
          </a:xfrm>
          <a:prstGeom prst="rightArrow">
            <a:avLst/>
          </a:prstGeom>
          <a:solidFill>
            <a:srgbClr val="1C7293"/>
          </a:solidFill>
          <a:ln>
            <a:noFill/>
          </a:ln>
          <a:effectLst/>
        </p:spPr>
        <p:txBody>
          <a:bodyPr rtlCol="0" anchor="ctr"/>
          <a:lstStyle/>
          <a:p>
            <a:pPr algn="ctr"/>
          </a:p>
        </p:txBody>
      </p:sp>
      <p:sp>
        <p:nvSpPr>
          <p:cNvPr id="20" name="Rounded Rectangle 19"/>
          <p:cNvSpPr/>
          <p:nvPr/>
        </p:nvSpPr>
        <p:spPr>
          <a:xfrm>
            <a:off x="5267858" y="3074081"/>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1" name="TextBox 20"/>
          <p:cNvSpPr txBox="1"/>
          <p:nvPr/>
        </p:nvSpPr>
        <p:spPr>
          <a:xfrm>
            <a:off x="5350154" y="3119801"/>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около 181 тревоги</a:t>
            </a:r>
          </a:p>
        </p:txBody>
      </p:sp>
      <p:sp>
        <p:nvSpPr>
          <p:cNvPr id="22" name="Right Arrow 21"/>
          <p:cNvSpPr/>
          <p:nvPr/>
        </p:nvSpPr>
        <p:spPr>
          <a:xfrm>
            <a:off x="8386876" y="3243197"/>
            <a:ext cx="182880" cy="137160"/>
          </a:xfrm>
          <a:prstGeom prst="rightArrow">
            <a:avLst/>
          </a:prstGeom>
          <a:solidFill>
            <a:srgbClr val="1C7293"/>
          </a:solidFill>
          <a:ln>
            <a:noFill/>
          </a:ln>
          <a:effectLst/>
        </p:spPr>
        <p:txBody>
          <a:bodyPr rtlCol="0" anchor="ctr"/>
          <a:lstStyle/>
          <a:p>
            <a:pPr algn="ctr"/>
          </a:p>
        </p:txBody>
      </p:sp>
      <p:sp>
        <p:nvSpPr>
          <p:cNvPr id="23" name="Rounded Rectangle 22"/>
          <p:cNvSpPr/>
          <p:nvPr/>
        </p:nvSpPr>
        <p:spPr>
          <a:xfrm>
            <a:off x="8615476" y="3074081"/>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4" name="TextBox 23"/>
          <p:cNvSpPr txBox="1"/>
          <p:nvPr/>
        </p:nvSpPr>
        <p:spPr>
          <a:xfrm>
            <a:off x="8697772" y="3119801"/>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22 подтверждённых случая</a:t>
            </a:r>
          </a:p>
        </p:txBody>
      </p:sp>
      <p:sp>
        <p:nvSpPr>
          <p:cNvPr id="25" name="TextBox 24"/>
          <p:cNvSpPr txBox="1"/>
          <p:nvPr/>
        </p:nvSpPr>
        <p:spPr>
          <a:xfrm>
            <a:off x="502920" y="3586050"/>
            <a:ext cx="11185855"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Путь одной тревоги</a:t>
            </a:r>
          </a:p>
        </p:txBody>
      </p:sp>
      <p:sp>
        <p:nvSpPr>
          <p:cNvPr id="26" name="Rounded Rectangle 25"/>
          <p:cNvSpPr/>
          <p:nvPr/>
        </p:nvSpPr>
        <p:spPr>
          <a:xfrm>
            <a:off x="374904" y="3888733"/>
            <a:ext cx="11441887" cy="2145586"/>
          </a:xfrm>
          <a:prstGeom prst="roundRect">
            <a:avLst>
              <a:gd name="adj" fmla="val 14205"/>
            </a:avLst>
          </a:prstGeom>
          <a:solidFill>
            <a:srgbClr val="F4F7FA"/>
          </a:solidFill>
          <a:ln w="19050">
            <a:solidFill>
              <a:srgbClr val="1C7293"/>
            </a:solidFill>
          </a:ln>
          <a:effectLst/>
        </p:spPr>
        <p:txBody>
          <a:bodyPr rtlCol="0" anchor="ctr"/>
          <a:lstStyle/>
          <a:p>
            <a:pPr algn="ctr"/>
          </a:p>
        </p:txBody>
      </p:sp>
      <p:sp>
        <p:nvSpPr>
          <p:cNvPr id="27" name="TextBox 26"/>
          <p:cNvSpPr txBox="1"/>
          <p:nvPr/>
        </p:nvSpPr>
        <p:spPr>
          <a:xfrm>
            <a:off x="539496" y="3980173"/>
            <a:ext cx="5373471" cy="2256034"/>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Шкалу, которую заменила модель, считали руками:</a:t>
            </a:r>
            <a:r>
              <a:rPr sz="1500" b="0" i="0">
                <a:solidFill>
                  <a:srgbClr val="21295C"/>
                </a:solidFill>
                <a:latin typeface="Arial"/>
              </a:rPr>
              <a:t> баллы по таблице, сумма, порог. Тревогу разбирает дежурная смена: смотрит пациента, отклоняет или принимает назначения.</a:t>
            </a:r>
          </a:p>
          <a:p>
            <a:pPr algn="l">
              <a:lnSpc>
                <a:spcPct val="126000"/>
              </a:lnSpc>
              <a:spcBef>
                <a:spcPts val="700"/>
              </a:spcBef>
            </a:pPr>
            <a:r>
              <a:rPr sz="1500" b="0" i="0">
                <a:solidFill>
                  <a:srgbClr val="21295C"/>
                </a:solidFill>
                <a:latin typeface="Arial"/>
              </a:rPr>
              <a:t/>
            </a:r>
            <a:r>
              <a:rPr sz="1500" b="0" i="0">
                <a:solidFill>
                  <a:srgbClr val="21295C"/>
                </a:solidFill>
                <a:latin typeface="Arial"/>
              </a:rPr>
              <a:t>18 — доля </a:t>
            </a:r>
            <a:r>
              <a:rPr sz="1500" b="1" i="0">
                <a:solidFill>
                  <a:srgbClr val="21295C"/>
                </a:solidFill>
                <a:latin typeface="Arial"/>
              </a:rPr>
              <a:t>госпитализаций</a:t>
            </a:r>
            <a:r>
              <a:rPr sz="1500" b="0" i="0">
                <a:solidFill>
                  <a:srgbClr val="21295C"/>
                </a:solidFill>
                <a:latin typeface="Arial"/>
              </a:rPr>
              <a:t>, 12 — </a:t>
            </a:r>
            <a:r>
              <a:rPr sz="1500" b="1" i="0">
                <a:solidFill>
                  <a:srgbClr val="21295C"/>
                </a:solidFill>
                <a:latin typeface="Arial"/>
              </a:rPr>
              <a:t>поднятых тревог</a:t>
            </a:r>
            <a:r>
              <a:rPr sz="1500" b="0" i="0">
                <a:solidFill>
                  <a:srgbClr val="21295C"/>
                </a:solidFill>
                <a:latin typeface="Arial"/>
              </a:rPr>
              <a:t>; путать нельзя.</a:t>
            </a:r>
          </a:p>
        </p:txBody>
      </p:sp>
      <p:sp>
        <p:nvSpPr>
          <p:cNvPr id="28" name="TextBox 27"/>
          <p:cNvSpPr txBox="1"/>
          <p:nvPr/>
        </p:nvSpPr>
        <p:spPr>
          <a:xfrm>
            <a:off x="6278727" y="3980173"/>
            <a:ext cx="5373471" cy="2256034"/>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Шкала подтверждалась 8 тревогами из ста, 92 поднимала впустую. Другая того же сравнения — 18. </a:t>
            </a:r>
            <a:r>
              <a:rPr sz="1500" b="1" i="0">
                <a:solidFill>
                  <a:srgbClr val="21295C"/>
                </a:solidFill>
                <a:latin typeface="Arial"/>
              </a:rPr>
              <a:t>Модель из этой полосы не вышла.</a:t>
            </a:r>
          </a:p>
          <a:p>
            <a:pPr algn="l">
              <a:lnSpc>
                <a:spcPct val="126000"/>
              </a:lnSpc>
              <a:spcBef>
                <a:spcPts val="700"/>
              </a:spcBef>
            </a:pPr>
            <a:r>
              <a:rPr sz="1500" b="0" i="0">
                <a:solidFill>
                  <a:srgbClr val="21295C"/>
                </a:solidFill>
                <a:latin typeface="Arial"/>
              </a:rPr>
              <a:t/>
            </a:r>
            <a:r>
              <a:rPr sz="1500" b="0" i="0">
                <a:solidFill>
                  <a:srgbClr val="21295C"/>
                </a:solidFill>
                <a:latin typeface="Arial"/>
              </a:rPr>
              <a:t>Населения разные: сравнивается порядок величины. </a:t>
            </a:r>
            <a:r>
              <a:rPr sz="1500" b="1" i="0">
                <a:solidFill>
                  <a:srgbClr val="21295C"/>
                </a:solidFill>
                <a:latin typeface="Arial"/>
              </a:rPr>
              <a:t>Превосходства это сравнение не устанавливает.</a:t>
            </a:r>
          </a:p>
        </p:txBody>
      </p:sp>
      <p:sp>
        <p:nvSpPr>
          <p:cNvPr id="29" name="Rectangle 28"/>
          <p:cNvSpPr/>
          <p:nvPr/>
        </p:nvSpPr>
        <p:spPr>
          <a:xfrm>
            <a:off x="6091275" y="3980173"/>
            <a:ext cx="9144" cy="1871266"/>
          </a:xfrm>
          <a:prstGeom prst="rect">
            <a:avLst/>
          </a:prstGeom>
          <a:solidFill>
            <a:srgbClr val="D9E2EC"/>
          </a:solidFill>
          <a:ln>
            <a:noFill/>
          </a:ln>
          <a:effectLst/>
        </p:spPr>
        <p:txBody>
          <a:bodyPr rtlCol="0" anchor="ctr"/>
          <a:lstStyle/>
          <a:p>
            <a:pPr algn="ctr"/>
          </a:p>
        </p:txBody>
      </p:sp>
      <p:sp>
        <p:nvSpPr>
          <p:cNvPr id="30" name="Rectangle 29"/>
          <p:cNvSpPr/>
          <p:nvPr/>
        </p:nvSpPr>
        <p:spPr>
          <a:xfrm>
            <a:off x="502920" y="854141"/>
            <a:ext cx="960120" cy="50292"/>
          </a:xfrm>
          <a:prstGeom prst="rect">
            <a:avLst/>
          </a:prstGeom>
          <a:solidFill>
            <a:srgbClr val="F0AB00"/>
          </a:solidFill>
          <a:ln>
            <a:noFill/>
          </a:ln>
          <a:effectLst/>
        </p:spPr>
        <p:txBody>
          <a:bodyPr rtlCol="0" anchor="ctr"/>
          <a:lstStyle/>
          <a:p>
            <a:pPr algn="ctr"/>
          </a:p>
        </p:txBody>
      </p:sp>
      <p:sp>
        <p:nvSpPr>
          <p:cNvPr id="31" name="TextBox 30"/>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Wong, Otles и соавт., JAMA Internal Medicine 2021, с эрратой того же журнала</a:t>
            </a:r>
            <a:r>
              <a:rPr sz="1200" b="0" i="1">
                <a:solidFill>
                  <a:srgbClr val="1C7293"/>
                </a:solidFill>
                <a:latin typeface="Arial"/>
              </a:rPr>
              <a:t> · </a:t>
            </a:r>
            <a:r>
              <a:rPr sz="1200" b="0" i="1" u="sng">
                <a:solidFill>
                  <a:srgbClr val="065A82"/>
                </a:solidFill>
                <a:latin typeface="Arial"/>
                <a:hlinkClick r:id="rId3"/>
              </a:rPr>
              <a:t>сравнение балльных шкал, JAMIA Open 2021</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Пример 1, вторая проверка: другие авторы и больницы</a:t>
            </a:r>
          </a:p>
        </p:txBody>
      </p:sp>
      <p:sp>
        <p:nvSpPr>
          <p:cNvPr id="4" name="Rounded Rectangle 3"/>
          <p:cNvSpPr/>
          <p:nvPr/>
        </p:nvSpPr>
        <p:spPr>
          <a:xfrm>
            <a:off x="502920" y="1335024"/>
            <a:ext cx="2204618" cy="2182363"/>
          </a:xfrm>
          <a:prstGeom prst="roundRect">
            <a:avLst>
              <a:gd name="adj" fmla="val 13966"/>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1930298"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ПОЙМАНО СЛУЧАЕВ СЕПСИСА</a:t>
            </a:r>
          </a:p>
        </p:txBody>
      </p:sp>
      <p:sp>
        <p:nvSpPr>
          <p:cNvPr id="6" name="TextBox 5"/>
          <p:cNvSpPr txBox="1"/>
          <p:nvPr/>
        </p:nvSpPr>
        <p:spPr>
          <a:xfrm>
            <a:off x="640080" y="1932846"/>
            <a:ext cx="1930298"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14,7 из ста</a:t>
            </a:r>
          </a:p>
        </p:txBody>
      </p:sp>
      <p:sp>
        <p:nvSpPr>
          <p:cNvPr id="7" name="TextBox 6"/>
          <p:cNvSpPr txBox="1"/>
          <p:nvPr/>
        </p:nvSpPr>
        <p:spPr>
          <a:xfrm>
            <a:off x="640080" y="2359845"/>
            <a:ext cx="1930298"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окно шесть часов</a:t>
            </a:r>
          </a:p>
        </p:txBody>
      </p:sp>
      <p:sp>
        <p:nvSpPr>
          <p:cNvPr id="8" name="Rounded Rectangle 7"/>
          <p:cNvSpPr/>
          <p:nvPr/>
        </p:nvSpPr>
        <p:spPr>
          <a:xfrm>
            <a:off x="2872130" y="1335024"/>
            <a:ext cx="2204618" cy="2182363"/>
          </a:xfrm>
          <a:prstGeom prst="roundRect">
            <a:avLst>
              <a:gd name="adj" fmla="val 13966"/>
            </a:avLst>
          </a:prstGeom>
          <a:solidFill>
            <a:srgbClr val="FFFFFF"/>
          </a:solidFill>
          <a:ln w="25400">
            <a:solidFill>
              <a:srgbClr val="F0AB00"/>
            </a:solidFill>
          </a:ln>
          <a:effectLst/>
        </p:spPr>
        <p:txBody>
          <a:bodyPr rtlCol="0" anchor="ctr"/>
          <a:lstStyle/>
          <a:p>
            <a:pPr algn="ctr"/>
          </a:p>
        </p:txBody>
      </p:sp>
      <p:sp>
        <p:nvSpPr>
          <p:cNvPr id="9" name="TextBox 8"/>
          <p:cNvSpPr txBox="1"/>
          <p:nvPr/>
        </p:nvSpPr>
        <p:spPr>
          <a:xfrm>
            <a:off x="3009290" y="1472184"/>
            <a:ext cx="1930298" cy="668133"/>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ОПЕРЕЖЕНИЕ КЛИНИЧЕСКОГО РЕШЕНИЯ</a:t>
            </a:r>
          </a:p>
        </p:txBody>
      </p:sp>
      <p:sp>
        <p:nvSpPr>
          <p:cNvPr id="10" name="TextBox 9"/>
          <p:cNvSpPr txBox="1"/>
          <p:nvPr/>
        </p:nvSpPr>
        <p:spPr>
          <a:xfrm>
            <a:off x="3009290" y="2140317"/>
            <a:ext cx="1930298"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ноль минут</a:t>
            </a:r>
          </a:p>
        </p:txBody>
      </p:sp>
      <p:sp>
        <p:nvSpPr>
          <p:cNvPr id="11" name="TextBox 10"/>
          <p:cNvSpPr txBox="1"/>
          <p:nvPr/>
        </p:nvSpPr>
        <p:spPr>
          <a:xfrm>
            <a:off x="3009290" y="2567316"/>
            <a:ext cx="1930298"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медианное</a:t>
            </a:r>
          </a:p>
        </p:txBody>
      </p:sp>
      <p:sp>
        <p:nvSpPr>
          <p:cNvPr id="12" name="Rounded Rectangle 11"/>
          <p:cNvSpPr/>
          <p:nvPr/>
        </p:nvSpPr>
        <p:spPr>
          <a:xfrm>
            <a:off x="5241340" y="1335024"/>
            <a:ext cx="2204618" cy="2182363"/>
          </a:xfrm>
          <a:prstGeom prst="roundRect">
            <a:avLst>
              <a:gd name="adj" fmla="val 13966"/>
            </a:avLst>
          </a:prstGeom>
          <a:solidFill>
            <a:srgbClr val="F4F7FA"/>
          </a:solidFill>
          <a:ln w="15240">
            <a:solidFill>
              <a:srgbClr val="1C7293"/>
            </a:solidFill>
          </a:ln>
          <a:effectLst/>
        </p:spPr>
        <p:txBody>
          <a:bodyPr rtlCol="0" anchor="ctr"/>
          <a:lstStyle/>
          <a:p>
            <a:pPr algn="ctr"/>
          </a:p>
        </p:txBody>
      </p:sp>
      <p:sp>
        <p:nvSpPr>
          <p:cNvPr id="13" name="TextBox 12"/>
          <p:cNvSpPr txBox="1"/>
          <p:nvPr/>
        </p:nvSpPr>
        <p:spPr>
          <a:xfrm>
            <a:off x="5378500" y="1472184"/>
            <a:ext cx="1930298" cy="668133"/>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ДЕЙСТВУЮЩАЯ ВЕРСИЯ: РАЗЛИЧЕНИЕ · ПОДТВЕРЖДЕНИЕ</a:t>
            </a:r>
          </a:p>
        </p:txBody>
      </p:sp>
      <p:sp>
        <p:nvSpPr>
          <p:cNvPr id="14" name="TextBox 13"/>
          <p:cNvSpPr txBox="1"/>
          <p:nvPr/>
        </p:nvSpPr>
        <p:spPr>
          <a:xfrm>
            <a:off x="5378500" y="2140317"/>
            <a:ext cx="1930298"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0,82–0,92 · 0,13–0,26</a:t>
            </a:r>
          </a:p>
        </p:txBody>
      </p:sp>
      <p:sp>
        <p:nvSpPr>
          <p:cNvPr id="15" name="TextBox 14"/>
          <p:cNvSpPr txBox="1"/>
          <p:nvPr/>
        </p:nvSpPr>
        <p:spPr>
          <a:xfrm>
            <a:off x="5378500" y="2957740"/>
            <a:ext cx="1930298"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227 091 госпитализация, четыре системы</a:t>
            </a:r>
          </a:p>
        </p:txBody>
      </p:sp>
      <p:sp>
        <p:nvSpPr>
          <p:cNvPr id="16" name="Rounded Rectangle 15"/>
          <p:cNvSpPr/>
          <p:nvPr/>
        </p:nvSpPr>
        <p:spPr>
          <a:xfrm>
            <a:off x="374904" y="4296099"/>
            <a:ext cx="11441887" cy="1940108"/>
          </a:xfrm>
          <a:prstGeom prst="roundRect">
            <a:avLst>
              <a:gd name="adj" fmla="val 15710"/>
            </a:avLst>
          </a:prstGeom>
          <a:solidFill>
            <a:srgbClr val="F4F7FA"/>
          </a:solidFill>
          <a:ln w="19050">
            <a:solidFill>
              <a:srgbClr val="1C7293"/>
            </a:solidFill>
          </a:ln>
          <a:effectLst/>
        </p:spPr>
        <p:txBody>
          <a:bodyPr rtlCol="0" anchor="ctr"/>
          <a:lstStyle/>
          <a:p>
            <a:pPr algn="ctr"/>
          </a:p>
        </p:txBody>
      </p:sp>
      <p:sp>
        <p:nvSpPr>
          <p:cNvPr id="17" name="TextBox 16"/>
          <p:cNvSpPr txBox="1"/>
          <p:nvPr/>
        </p:nvSpPr>
        <p:spPr>
          <a:xfrm>
            <a:off x="539496" y="4387539"/>
            <a:ext cx="11112703" cy="1848668"/>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В приёмном отделении сепсис распознаёт врач: осматривает, заказывает анализы, начинает лечение. </a:t>
            </a:r>
            <a:r>
              <a:rPr sz="1500" b="1" i="0">
                <a:solidFill>
                  <a:srgbClr val="21295C"/>
                </a:solidFill>
                <a:latin typeface="Arial"/>
              </a:rPr>
              <a:t>Проверка сверяла время тревоги со временем этого решения</a:t>
            </a:r>
            <a:r>
              <a:rPr sz="1500" b="0" i="0">
                <a:solidFill>
                  <a:srgbClr val="21295C"/>
                </a:solidFill>
                <a:latin typeface="Arial"/>
              </a:rPr>
              <a:t> — 145 885 обращений двух отделений, 2023 год.</a:t>
            </a:r>
          </a:p>
          <a:p>
            <a:pPr algn="l">
              <a:lnSpc>
                <a:spcPct val="126000"/>
              </a:lnSpc>
              <a:spcBef>
                <a:spcPts val="700"/>
              </a:spcBef>
            </a:pPr>
            <a:r>
              <a:rPr sz="1500" b="0" i="0">
                <a:solidFill>
                  <a:srgbClr val="21295C"/>
                </a:solidFill>
                <a:latin typeface="Arial"/>
              </a:rPr>
              <a:t/>
            </a:r>
            <a:r>
              <a:rPr sz="1500" b="1" i="0">
                <a:solidFill>
                  <a:srgbClr val="21295C"/>
                </a:solidFill>
                <a:latin typeface="Arial"/>
              </a:rPr>
              <a:t>Вывод авторов дословно: «добавляет мало к тому, что врачи и так делают».</a:t>
            </a:r>
          </a:p>
          <a:p>
            <a:pPr algn="l">
              <a:lnSpc>
                <a:spcPct val="126000"/>
              </a:lnSpc>
              <a:spcBef>
                <a:spcPts val="700"/>
              </a:spcBef>
            </a:pPr>
            <a:r>
              <a:rPr sz="1500" b="0" i="0">
                <a:solidFill>
                  <a:srgbClr val="21295C"/>
                </a:solidFill>
                <a:latin typeface="Arial"/>
              </a:rPr>
              <a:t/>
            </a:r>
            <a:r>
              <a:rPr sz="1500" b="0" i="0">
                <a:solidFill>
                  <a:srgbClr val="21295C"/>
                </a:solidFill>
                <a:latin typeface="Arial"/>
              </a:rPr>
              <a:t>У действующей версии различение выросло, подтверждение осталось низким.</a:t>
            </a:r>
          </a:p>
          <a:p>
            <a:pPr algn="l">
              <a:lnSpc>
                <a:spcPct val="126000"/>
              </a:lnSpc>
              <a:spcBef>
                <a:spcPts val="700"/>
              </a:spcBef>
            </a:pPr>
            <a:r>
              <a:rPr sz="1200" b="0" i="0">
                <a:solidFill>
                  <a:srgbClr val="21295C"/>
                </a:solidFill>
                <a:latin typeface="Arial"/>
              </a:rPr>
              <a:t/>
            </a:r>
            <a:r>
              <a:rPr sz="1200" b="0" i="1">
                <a:solidFill>
                  <a:srgbClr val="1C7293"/>
                </a:solidFill>
                <a:latin typeface="Arial"/>
              </a:rPr>
              <a:t>Проспективная многоцентровая проверка: 227 091 госпитализация, четыре системы.</a:t>
            </a:r>
          </a:p>
        </p:txBody>
      </p:sp>
      <p:sp>
        <p:nvSpPr>
          <p:cNvPr id="18" name="Rounded Rectangle 17"/>
          <p:cNvSpPr/>
          <p:nvPr/>
        </p:nvSpPr>
        <p:spPr>
          <a:xfrm>
            <a:off x="7756855" y="1335024"/>
            <a:ext cx="3931920" cy="2961075"/>
          </a:xfrm>
          <a:prstGeom prst="roundRect">
            <a:avLst>
              <a:gd name="adj" fmla="val 10293"/>
            </a:avLst>
          </a:prstGeom>
          <a:solidFill>
            <a:srgbClr val="F4F7FA"/>
          </a:solidFill>
          <a:ln w="19050">
            <a:solidFill>
              <a:srgbClr val="1C7293"/>
            </a:solidFill>
          </a:ln>
          <a:effectLst/>
        </p:spPr>
        <p:txBody>
          <a:bodyPr rtlCol="0" anchor="ctr"/>
          <a:lstStyle/>
          <a:p>
            <a:pPr algn="ctr"/>
          </a:p>
        </p:txBody>
      </p:sp>
      <p:pic>
        <p:nvPicPr>
          <p:cNvPr id="19" name="Picture 18" descr="s59-stranitsa-publikatsii-2024.png"/>
          <p:cNvPicPr>
            <a:picLocks noChangeAspect="1"/>
          </p:cNvPicPr>
          <p:nvPr/>
        </p:nvPicPr>
        <p:blipFill>
          <a:blip r:embed="rId2"/>
          <a:stretch>
            <a:fillRect/>
          </a:stretch>
        </p:blipFill>
        <p:spPr>
          <a:xfrm>
            <a:off x="7894015" y="1472184"/>
            <a:ext cx="3657600" cy="2686755"/>
          </a:xfrm>
          <a:prstGeom prst="rect">
            <a:avLst/>
          </a:prstGeom>
        </p:spPr>
      </p:pic>
      <p:sp>
        <p:nvSpPr>
          <p:cNvPr id="20" name="Rectangle 19"/>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21" name="TextBox 20"/>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3"/>
              </a:rPr>
              <a:t>Ostermayer и соавт., JAMIA Open 2024</a:t>
            </a:r>
            <a:r>
              <a:rPr sz="1200" b="0" i="1">
                <a:solidFill>
                  <a:srgbClr val="1C7293"/>
                </a:solidFill>
                <a:latin typeface="Arial"/>
              </a:rPr>
              <a:t> · </a:t>
            </a:r>
            <a:r>
              <a:rPr sz="1200" b="0" i="1" u="sng">
                <a:solidFill>
                  <a:srgbClr val="065A82"/>
                </a:solidFill>
                <a:latin typeface="Arial"/>
                <a:hlinkClick r:id="rId4"/>
              </a:rPr>
              <a:t>JAMA Network Open 2026</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Пример 1, цена: внимание расходуется там же, только больше</a:t>
            </a:r>
          </a:p>
        </p:txBody>
      </p:sp>
      <p:sp>
        <p:nvSpPr>
          <p:cNvPr id="4" name="Rounded Rectangle 3"/>
          <p:cNvSpPr/>
          <p:nvPr/>
        </p:nvSpPr>
        <p:spPr>
          <a:xfrm>
            <a:off x="502920" y="1335024"/>
            <a:ext cx="2673019" cy="2186135"/>
          </a:xfrm>
          <a:prstGeom prst="roundRect">
            <a:avLst>
              <a:gd name="adj" fmla="val 13942"/>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ДАЛО</a:t>
            </a:r>
          </a:p>
        </p:txBody>
      </p:sp>
      <p:sp>
        <p:nvSpPr>
          <p:cNvPr id="6" name="TextBox 5"/>
          <p:cNvSpPr txBox="1"/>
          <p:nvPr/>
        </p:nvSpPr>
        <p:spPr>
          <a:xfrm>
            <a:off x="640080" y="1725375"/>
            <a:ext cx="2398699" cy="1207845"/>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оповещение работает без человека</a:t>
            </a:r>
          </a:p>
        </p:txBody>
      </p:sp>
      <p:sp>
        <p:nvSpPr>
          <p:cNvPr id="7" name="Rounded Rectangle 6"/>
          <p:cNvSpPr/>
          <p:nvPr/>
        </p:nvSpPr>
        <p:spPr>
          <a:xfrm>
            <a:off x="3340531" y="1335024"/>
            <a:ext cx="2673019" cy="2186135"/>
          </a:xfrm>
          <a:prstGeom prst="roundRect">
            <a:avLst>
              <a:gd name="adj" fmla="val 13942"/>
            </a:avLst>
          </a:prstGeom>
          <a:solidFill>
            <a:srgbClr val="F4F7FA"/>
          </a:solidFill>
          <a:ln w="15240">
            <a:solidFill>
              <a:srgbClr val="1C7293"/>
            </a:solidFill>
          </a:ln>
          <a:effectLst/>
        </p:spPr>
        <p:txBody>
          <a:bodyPr rtlCol="0" anchor="ctr"/>
          <a:lstStyle/>
          <a:p>
            <a:pPr algn="ctr"/>
          </a:p>
        </p:txBody>
      </p:sp>
      <p:sp>
        <p:nvSpPr>
          <p:cNvPr id="8" name="TextBox 7"/>
          <p:cNvSpPr txBox="1"/>
          <p:nvPr/>
        </p:nvSpPr>
        <p:spPr>
          <a:xfrm>
            <a:off x="3477691"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ПОТРЕБОВАЛО</a:t>
            </a:r>
          </a:p>
        </p:txBody>
      </p:sp>
      <p:sp>
        <p:nvSpPr>
          <p:cNvPr id="9" name="TextBox 8"/>
          <p:cNvSpPr txBox="1"/>
          <p:nvPr/>
        </p:nvSpPr>
        <p:spPr>
          <a:xfrm>
            <a:off x="3477691" y="1725375"/>
            <a:ext cx="2398699" cy="953221"/>
          </a:xfrm>
          <a:prstGeom prst="rect">
            <a:avLst/>
          </a:prstGeom>
          <a:noFill/>
        </p:spPr>
        <p:txBody>
          <a:bodyPr wrap="square" lIns="0" rIns="0" tIns="0" bIns="0" anchor="t">
            <a:spAutoFit/>
          </a:bodyPr>
          <a:lstStyle/>
          <a:p>
            <a:pPr algn="l">
              <a:lnSpc>
                <a:spcPct val="108000"/>
              </a:lnSpc>
            </a:pPr>
            <a:r>
              <a:rPr sz="1800" b="1" i="0">
                <a:solidFill>
                  <a:srgbClr val="21295C"/>
                </a:solidFill>
                <a:latin typeface="Arial"/>
              </a:rPr>
              <a:t>разбор тревоги — статья рабочего времени, со штатом</a:t>
            </a:r>
          </a:p>
        </p:txBody>
      </p:sp>
      <p:sp>
        <p:nvSpPr>
          <p:cNvPr id="10" name="Rounded Rectangle 9"/>
          <p:cNvSpPr/>
          <p:nvPr/>
        </p:nvSpPr>
        <p:spPr>
          <a:xfrm>
            <a:off x="6178143" y="1335024"/>
            <a:ext cx="2673019" cy="2186135"/>
          </a:xfrm>
          <a:prstGeom prst="roundRect">
            <a:avLst>
              <a:gd name="adj" fmla="val 13942"/>
            </a:avLst>
          </a:prstGeom>
          <a:solidFill>
            <a:srgbClr val="F4F7FA"/>
          </a:solidFill>
          <a:ln w="15240">
            <a:solidFill>
              <a:srgbClr val="1C7293"/>
            </a:solidFill>
          </a:ln>
          <a:effectLst/>
        </p:spPr>
        <p:txBody>
          <a:bodyPr rtlCol="0" anchor="ctr"/>
          <a:lstStyle/>
          <a:p>
            <a:pPr algn="ctr"/>
          </a:p>
        </p:txBody>
      </p:sp>
      <p:sp>
        <p:nvSpPr>
          <p:cNvPr id="11" name="TextBox 10"/>
          <p:cNvSpPr txBox="1"/>
          <p:nvPr/>
        </p:nvSpPr>
        <p:spPr>
          <a:xfrm>
            <a:off x="6315303" y="1472184"/>
            <a:ext cx="2398699"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ПОТОК ТРЕВОГ ЗА ЭПИДЕМИЮ</a:t>
            </a:r>
          </a:p>
        </p:txBody>
      </p:sp>
      <p:sp>
        <p:nvSpPr>
          <p:cNvPr id="12" name="TextBox 11"/>
          <p:cNvSpPr txBox="1"/>
          <p:nvPr/>
        </p:nvSpPr>
        <p:spPr>
          <a:xfrm>
            <a:off x="6315303" y="1932846"/>
            <a:ext cx="2398699"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953 → 1 363 в сутки</a:t>
            </a:r>
          </a:p>
        </p:txBody>
      </p:sp>
      <p:sp>
        <p:nvSpPr>
          <p:cNvPr id="13" name="TextBox 12"/>
          <p:cNvSpPr txBox="1"/>
          <p:nvPr/>
        </p:nvSpPr>
        <p:spPr>
          <a:xfrm>
            <a:off x="6315303" y="2750268"/>
            <a:ext cx="2398699"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знаменатель другой, 24 больницы; загрузка упала: 10 159 → 6 634</a:t>
            </a:r>
          </a:p>
        </p:txBody>
      </p:sp>
      <p:sp>
        <p:nvSpPr>
          <p:cNvPr id="14" name="Rounded Rectangle 13"/>
          <p:cNvSpPr/>
          <p:nvPr/>
        </p:nvSpPr>
        <p:spPr>
          <a:xfrm>
            <a:off x="9015755" y="1335024"/>
            <a:ext cx="2673019" cy="2186135"/>
          </a:xfrm>
          <a:prstGeom prst="roundRect">
            <a:avLst>
              <a:gd name="adj" fmla="val 13942"/>
            </a:avLst>
          </a:prstGeom>
          <a:solidFill>
            <a:srgbClr val="FFFFFF"/>
          </a:solidFill>
          <a:ln w="25400">
            <a:solidFill>
              <a:srgbClr val="F0AB00"/>
            </a:solidFill>
          </a:ln>
          <a:effectLst/>
        </p:spPr>
        <p:txBody>
          <a:bodyPr rtlCol="0" anchor="ctr"/>
          <a:lstStyle/>
          <a:p>
            <a:pPr algn="ctr"/>
          </a:p>
        </p:txBody>
      </p:sp>
      <p:sp>
        <p:nvSpPr>
          <p:cNvPr id="15" name="TextBox 14"/>
          <p:cNvSpPr txBox="1"/>
          <p:nvPr/>
        </p:nvSpPr>
        <p:spPr>
          <a:xfrm>
            <a:off x="9152915"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В СУММЕ</a:t>
            </a:r>
          </a:p>
        </p:txBody>
      </p:sp>
      <p:sp>
        <p:nvSpPr>
          <p:cNvPr id="16" name="TextBox 15"/>
          <p:cNvSpPr txBox="1"/>
          <p:nvPr/>
        </p:nvSpPr>
        <p:spPr>
          <a:xfrm>
            <a:off x="9152915" y="1725375"/>
            <a:ext cx="2398699" cy="1207845"/>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внимание там же, только больше</a:t>
            </a:r>
          </a:p>
        </p:txBody>
      </p:sp>
      <p:sp>
        <p:nvSpPr>
          <p:cNvPr id="17" name="TextBox 16"/>
          <p:cNvSpPr txBox="1"/>
          <p:nvPr/>
        </p:nvSpPr>
        <p:spPr>
          <a:xfrm>
            <a:off x="502920" y="3740615"/>
            <a:ext cx="1307592" cy="402240"/>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До</a:t>
            </a:r>
          </a:p>
        </p:txBody>
      </p:sp>
      <p:sp>
        <p:nvSpPr>
          <p:cNvPr id="18" name="Rounded Rectangle 17"/>
          <p:cNvSpPr/>
          <p:nvPr/>
        </p:nvSpPr>
        <p:spPr>
          <a:xfrm>
            <a:off x="1920240" y="3704039"/>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9" name="TextBox 18"/>
          <p:cNvSpPr txBox="1"/>
          <p:nvPr/>
        </p:nvSpPr>
        <p:spPr>
          <a:xfrm>
            <a:off x="2002536" y="3749759"/>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обход по расписанию</a:t>
            </a:r>
          </a:p>
        </p:txBody>
      </p:sp>
      <p:sp>
        <p:nvSpPr>
          <p:cNvPr id="20" name="Right Arrow 19"/>
          <p:cNvSpPr/>
          <p:nvPr/>
        </p:nvSpPr>
        <p:spPr>
          <a:xfrm>
            <a:off x="5039258" y="3873155"/>
            <a:ext cx="182880" cy="137160"/>
          </a:xfrm>
          <a:prstGeom prst="rightArrow">
            <a:avLst/>
          </a:prstGeom>
          <a:solidFill>
            <a:srgbClr val="1C7293"/>
          </a:solidFill>
          <a:ln>
            <a:noFill/>
          </a:ln>
          <a:effectLst/>
        </p:spPr>
        <p:txBody>
          <a:bodyPr rtlCol="0" anchor="ctr"/>
          <a:lstStyle/>
          <a:p>
            <a:pPr algn="ctr"/>
          </a:p>
        </p:txBody>
      </p:sp>
      <p:sp>
        <p:nvSpPr>
          <p:cNvPr id="21" name="Rounded Rectangle 20"/>
          <p:cNvSpPr/>
          <p:nvPr/>
        </p:nvSpPr>
        <p:spPr>
          <a:xfrm>
            <a:off x="5267858" y="3704039"/>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2" name="TextBox 21"/>
          <p:cNvSpPr txBox="1"/>
          <p:nvPr/>
        </p:nvSpPr>
        <p:spPr>
          <a:xfrm>
            <a:off x="5350154" y="3749759"/>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балл по таблице</a:t>
            </a:r>
          </a:p>
        </p:txBody>
      </p:sp>
      <p:sp>
        <p:nvSpPr>
          <p:cNvPr id="23" name="Right Arrow 22"/>
          <p:cNvSpPr/>
          <p:nvPr/>
        </p:nvSpPr>
        <p:spPr>
          <a:xfrm>
            <a:off x="8386876" y="3873155"/>
            <a:ext cx="182880" cy="137160"/>
          </a:xfrm>
          <a:prstGeom prst="rightArrow">
            <a:avLst/>
          </a:prstGeom>
          <a:solidFill>
            <a:srgbClr val="1C7293"/>
          </a:solidFill>
          <a:ln>
            <a:noFill/>
          </a:ln>
          <a:effectLst/>
        </p:spPr>
        <p:txBody>
          <a:bodyPr rtlCol="0" anchor="ctr"/>
          <a:lstStyle/>
          <a:p>
            <a:pPr algn="ctr"/>
          </a:p>
        </p:txBody>
      </p:sp>
      <p:sp>
        <p:nvSpPr>
          <p:cNvPr id="24" name="Rounded Rectangle 23"/>
          <p:cNvSpPr/>
          <p:nvPr/>
        </p:nvSpPr>
        <p:spPr>
          <a:xfrm>
            <a:off x="8615476" y="3704039"/>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5" name="TextBox 24"/>
          <p:cNvSpPr txBox="1"/>
          <p:nvPr/>
        </p:nvSpPr>
        <p:spPr>
          <a:xfrm>
            <a:off x="8697772" y="3749759"/>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звать врача или нет</a:t>
            </a:r>
          </a:p>
        </p:txBody>
      </p:sp>
      <p:sp>
        <p:nvSpPr>
          <p:cNvPr id="26" name="TextBox 25"/>
          <p:cNvSpPr txBox="1"/>
          <p:nvPr/>
        </p:nvSpPr>
        <p:spPr>
          <a:xfrm>
            <a:off x="502920" y="4362312"/>
            <a:ext cx="1307592" cy="402240"/>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После</a:t>
            </a:r>
          </a:p>
        </p:txBody>
      </p:sp>
      <p:sp>
        <p:nvSpPr>
          <p:cNvPr id="27" name="Rounded Rectangle 26"/>
          <p:cNvSpPr/>
          <p:nvPr/>
        </p:nvSpPr>
        <p:spPr>
          <a:xfrm>
            <a:off x="1920240" y="4325736"/>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8" name="TextBox 27"/>
          <p:cNvSpPr txBox="1"/>
          <p:nvPr/>
        </p:nvSpPr>
        <p:spPr>
          <a:xfrm>
            <a:off x="2002536" y="4371456"/>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карта считает непрерывно</a:t>
            </a:r>
          </a:p>
        </p:txBody>
      </p:sp>
      <p:sp>
        <p:nvSpPr>
          <p:cNvPr id="29" name="Right Arrow 28"/>
          <p:cNvSpPr/>
          <p:nvPr/>
        </p:nvSpPr>
        <p:spPr>
          <a:xfrm>
            <a:off x="5039258" y="4494852"/>
            <a:ext cx="182880" cy="137160"/>
          </a:xfrm>
          <a:prstGeom prst="rightArrow">
            <a:avLst/>
          </a:prstGeom>
          <a:solidFill>
            <a:srgbClr val="1C7293"/>
          </a:solidFill>
          <a:ln>
            <a:noFill/>
          </a:ln>
          <a:effectLst/>
        </p:spPr>
        <p:txBody>
          <a:bodyPr rtlCol="0" anchor="ctr"/>
          <a:lstStyle/>
          <a:p>
            <a:pPr algn="ctr"/>
          </a:p>
        </p:txBody>
      </p:sp>
      <p:sp>
        <p:nvSpPr>
          <p:cNvPr id="30" name="Rounded Rectangle 29"/>
          <p:cNvSpPr/>
          <p:nvPr/>
        </p:nvSpPr>
        <p:spPr>
          <a:xfrm>
            <a:off x="5267858" y="4325736"/>
            <a:ext cx="3073298" cy="475392"/>
          </a:xfrm>
          <a:prstGeom prst="roundRect">
            <a:avLst>
              <a:gd name="adj" fmla="val 25000"/>
            </a:avLst>
          </a:prstGeom>
          <a:solidFill>
            <a:srgbClr val="FFFFFF"/>
          </a:solidFill>
          <a:ln w="25400">
            <a:solidFill>
              <a:srgbClr val="F0AB00"/>
            </a:solidFill>
          </a:ln>
          <a:effectLst/>
        </p:spPr>
        <p:txBody>
          <a:bodyPr rtlCol="0" anchor="ctr"/>
          <a:lstStyle/>
          <a:p>
            <a:pPr algn="ctr"/>
          </a:p>
        </p:txBody>
      </p:sp>
      <p:sp>
        <p:nvSpPr>
          <p:cNvPr id="31" name="TextBox 30"/>
          <p:cNvSpPr txBox="1"/>
          <p:nvPr/>
        </p:nvSpPr>
        <p:spPr>
          <a:xfrm>
            <a:off x="5350154" y="4371456"/>
            <a:ext cx="2908706" cy="383952"/>
          </a:xfrm>
          <a:prstGeom prst="rect">
            <a:avLst/>
          </a:prstGeom>
          <a:noFill/>
        </p:spPr>
        <p:txBody>
          <a:bodyPr wrap="square" lIns="0" rIns="0" tIns="0" bIns="0" anchor="ctr">
            <a:spAutoFit/>
          </a:bodyPr>
          <a:lstStyle/>
          <a:p>
            <a:pPr algn="ctr">
              <a:lnSpc>
                <a:spcPct val="112000"/>
              </a:lnSpc>
            </a:pPr>
            <a:r>
              <a:rPr sz="1350" b="1" i="0">
                <a:solidFill>
                  <a:srgbClr val="21295C"/>
                </a:solidFill>
                <a:latin typeface="Arial"/>
              </a:rPr>
              <a:t>тревога модели</a:t>
            </a:r>
          </a:p>
        </p:txBody>
      </p:sp>
      <p:sp>
        <p:nvSpPr>
          <p:cNvPr id="32" name="Right Arrow 31"/>
          <p:cNvSpPr/>
          <p:nvPr/>
        </p:nvSpPr>
        <p:spPr>
          <a:xfrm>
            <a:off x="8386876" y="4494852"/>
            <a:ext cx="182880" cy="137160"/>
          </a:xfrm>
          <a:prstGeom prst="rightArrow">
            <a:avLst/>
          </a:prstGeom>
          <a:solidFill>
            <a:srgbClr val="1C7293"/>
          </a:solidFill>
          <a:ln>
            <a:noFill/>
          </a:ln>
          <a:effectLst/>
        </p:spPr>
        <p:txBody>
          <a:bodyPr rtlCol="0" anchor="ctr"/>
          <a:lstStyle/>
          <a:p>
            <a:pPr algn="ctr"/>
          </a:p>
        </p:txBody>
      </p:sp>
      <p:sp>
        <p:nvSpPr>
          <p:cNvPr id="33" name="Rounded Rectangle 32"/>
          <p:cNvSpPr/>
          <p:nvPr/>
        </p:nvSpPr>
        <p:spPr>
          <a:xfrm>
            <a:off x="8615476" y="4325736"/>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34" name="TextBox 33"/>
          <p:cNvSpPr txBox="1"/>
          <p:nvPr/>
        </p:nvSpPr>
        <p:spPr>
          <a:xfrm>
            <a:off x="8697772" y="4371456"/>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разбор и отклонение</a:t>
            </a:r>
          </a:p>
        </p:txBody>
      </p:sp>
      <p:sp>
        <p:nvSpPr>
          <p:cNvPr id="35" name="TextBox 34"/>
          <p:cNvSpPr txBox="1"/>
          <p:nvPr/>
        </p:nvSpPr>
        <p:spPr>
          <a:xfrm>
            <a:off x="502920" y="4837705"/>
            <a:ext cx="11185855"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Оповещение появилось без человека; разбор тревоги стал новым шагом той же смены</a:t>
            </a:r>
          </a:p>
        </p:txBody>
      </p:sp>
      <p:sp>
        <p:nvSpPr>
          <p:cNvPr id="36" name="Rounded Rectangle 35"/>
          <p:cNvSpPr/>
          <p:nvPr/>
        </p:nvSpPr>
        <p:spPr>
          <a:xfrm>
            <a:off x="374904" y="5140388"/>
            <a:ext cx="11441887" cy="1095819"/>
          </a:xfrm>
          <a:prstGeom prst="roundRect">
            <a:avLst>
              <a:gd name="adj" fmla="val 25000"/>
            </a:avLst>
          </a:prstGeom>
          <a:solidFill>
            <a:srgbClr val="F4F7FA"/>
          </a:solidFill>
          <a:ln w="19050">
            <a:solidFill>
              <a:srgbClr val="1C7293"/>
            </a:solidFill>
          </a:ln>
          <a:effectLst/>
        </p:spPr>
        <p:txBody>
          <a:bodyPr rtlCol="0" anchor="ctr"/>
          <a:lstStyle/>
          <a:p>
            <a:pPr algn="ctr"/>
          </a:p>
        </p:txBody>
      </p:sp>
      <p:sp>
        <p:nvSpPr>
          <p:cNvPr id="37" name="TextBox 36"/>
          <p:cNvSpPr txBox="1"/>
          <p:nvPr/>
        </p:nvSpPr>
        <p:spPr>
          <a:xfrm>
            <a:off x="539496" y="5231828"/>
            <a:ext cx="11112703" cy="1004379"/>
          </a:xfrm>
          <a:prstGeom prst="rect">
            <a:avLst/>
          </a:prstGeom>
          <a:noFill/>
        </p:spPr>
        <p:txBody>
          <a:bodyPr wrap="square" lIns="0" rIns="0" tIns="0" bIns="0" anchor="t">
            <a:spAutoFit/>
          </a:bodyPr>
          <a:lstStyle/>
          <a:p>
            <a:pPr algn="l">
              <a:lnSpc>
                <a:spcPct val="126000"/>
              </a:lnSpc>
            </a:pPr>
            <a:r>
              <a:rPr sz="1350" b="0" i="0">
                <a:solidFill>
                  <a:srgbClr val="21295C"/>
                </a:solidFill>
                <a:latin typeface="Arial"/>
              </a:rPr>
              <a:t>Форма </a:t>
            </a:r>
            <a:r>
              <a:rPr sz="1350" b="1" i="0">
                <a:solidFill>
                  <a:srgbClr val="21295C"/>
                </a:solidFill>
                <a:latin typeface="Arial"/>
              </a:rPr>
              <a:t>«нагрузка выросла на том же месте»</a:t>
            </a:r>
            <a:r>
              <a:rPr sz="1350" b="0" i="0">
                <a:solidFill>
                  <a:srgbClr val="21295C"/>
                </a:solidFill>
                <a:latin typeface="Arial"/>
              </a:rPr>
              <a:t> — та же смена у той же постели читает и отклоняет тревоги.</a:t>
            </a:r>
          </a:p>
          <a:p>
            <a:pPr algn="l">
              <a:lnSpc>
                <a:spcPct val="126000"/>
              </a:lnSpc>
              <a:spcBef>
                <a:spcPts val="700"/>
              </a:spcBef>
            </a:pPr>
            <a:r>
              <a:rPr sz="1350" b="0" i="0">
                <a:solidFill>
                  <a:srgbClr val="21295C"/>
                </a:solidFill>
                <a:latin typeface="Arial"/>
              </a:rPr>
              <a:t/>
            </a:r>
            <a:r>
              <a:rPr sz="1350" b="0" i="0">
                <a:solidFill>
                  <a:srgbClr val="21295C"/>
                </a:solidFill>
                <a:latin typeface="Arial"/>
              </a:rPr>
              <a:t>Форма </a:t>
            </a:r>
            <a:r>
              <a:rPr sz="1350" b="1" i="0">
                <a:solidFill>
                  <a:srgbClr val="21295C"/>
                </a:solidFill>
                <a:latin typeface="Arial"/>
              </a:rPr>
              <a:t>«шаг появился»</a:t>
            </a:r>
            <a:r>
              <a:rPr sz="1350" b="0" i="0">
                <a:solidFill>
                  <a:srgbClr val="21295C"/>
                </a:solidFill>
                <a:latin typeface="Arial"/>
              </a:rPr>
              <a:t> — отклонять тревогу раньше было нечего: шкала считала порог сама.</a:t>
            </a:r>
          </a:p>
          <a:p>
            <a:pPr algn="l">
              <a:lnSpc>
                <a:spcPct val="126000"/>
              </a:lnSpc>
              <a:spcBef>
                <a:spcPts val="700"/>
              </a:spcBef>
            </a:pPr>
            <a:r>
              <a:rPr sz="1350" b="0" i="0">
                <a:solidFill>
                  <a:srgbClr val="21295C"/>
                </a:solidFill>
                <a:latin typeface="Arial"/>
              </a:rPr>
              <a:t/>
            </a:r>
            <a:r>
              <a:rPr sz="1350" b="0" i="0">
                <a:solidFill>
                  <a:srgbClr val="21295C"/>
                </a:solidFill>
                <a:latin typeface="Arial"/>
              </a:rPr>
              <a:t>Доля пациентов с тревогой: </a:t>
            </a:r>
            <a:r>
              <a:rPr sz="1350" b="1" i="0">
                <a:solidFill>
                  <a:srgbClr val="21295C"/>
                </a:solidFill>
                <a:latin typeface="Arial"/>
              </a:rPr>
              <a:t>9 → 21 из ста</a:t>
            </a:r>
            <a:r>
              <a:rPr sz="1350" b="0" i="0">
                <a:solidFill>
                  <a:srgbClr val="21295C"/>
                </a:solidFill>
                <a:latin typeface="Arial"/>
              </a:rPr>
              <a:t>. </a:t>
            </a:r>
            <a:r>
              <a:rPr sz="1350" b="1" i="0">
                <a:solidFill>
                  <a:srgbClr val="21295C"/>
                </a:solidFill>
                <a:latin typeface="Arial"/>
              </a:rPr>
              <a:t>Распределение входов сдвинулось, порог остался на месте.</a:t>
            </a:r>
          </a:p>
        </p:txBody>
      </p:sp>
      <p:sp>
        <p:nvSpPr>
          <p:cNvPr id="38" name="Rectangle 37"/>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39" name="TextBox 38"/>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Wong A. и соавт., JAMA Network Open 2021</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Наблюдение: тревога без базы не предупреждает</a:t>
            </a:r>
          </a:p>
        </p:txBody>
      </p:sp>
      <p:sp>
        <p:nvSpPr>
          <p:cNvPr id="4" name="Rounded Rectangle 3"/>
          <p:cNvSpPr/>
          <p:nvPr/>
        </p:nvSpPr>
        <p:spPr>
          <a:xfrm>
            <a:off x="374904" y="1243584"/>
            <a:ext cx="11441887" cy="1848525"/>
          </a:xfrm>
          <a:prstGeom prst="roundRect">
            <a:avLst>
              <a:gd name="adj" fmla="val 16488"/>
            </a:avLst>
          </a:prstGeom>
          <a:solidFill>
            <a:srgbClr val="F4F7FA"/>
          </a:solidFill>
          <a:ln w="19050">
            <a:solidFill>
              <a:srgbClr val="1C7293"/>
            </a:solidFill>
          </a:ln>
          <a:effectLst/>
        </p:spPr>
        <p:txBody>
          <a:bodyPr rtlCol="0" anchor="ctr"/>
          <a:lstStyle/>
          <a:p>
            <a:pPr algn="ctr"/>
          </a:p>
        </p:txBody>
      </p:sp>
      <p:sp>
        <p:nvSpPr>
          <p:cNvPr id="5" name="TextBox 4"/>
          <p:cNvSpPr txBox="1"/>
          <p:nvPr/>
        </p:nvSpPr>
        <p:spPr>
          <a:xfrm>
            <a:off x="539496" y="1335024"/>
            <a:ext cx="5373471" cy="4901184"/>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Получается:</a:t>
            </a:r>
            <a:r>
              <a:rPr sz="1500" b="0" i="0">
                <a:solidFill>
                  <a:srgbClr val="21295C"/>
                </a:solidFill>
                <a:latin typeface="Arial"/>
              </a:rPr>
              <a:t> балл считается непрерывно по всей больнице. Подтверждается </a:t>
            </a:r>
            <a:r>
              <a:rPr sz="1500" b="1" i="0">
                <a:solidFill>
                  <a:srgbClr val="21295C"/>
                </a:solidFill>
                <a:latin typeface="Arial"/>
              </a:rPr>
              <a:t>12 тревог из ста против 8 и 18</a:t>
            </a:r>
            <a:r>
              <a:rPr sz="1500" b="0" i="0">
                <a:solidFill>
                  <a:srgbClr val="21295C"/>
                </a:solidFill>
                <a:latin typeface="Arial"/>
              </a:rPr>
              <a:t> у сменённых шкал.</a:t>
            </a:r>
          </a:p>
          <a:p>
            <a:pPr algn="l">
              <a:lnSpc>
                <a:spcPct val="126000"/>
              </a:lnSpc>
              <a:spcBef>
                <a:spcPts val="700"/>
              </a:spcBef>
            </a:pPr>
            <a:r>
              <a:rPr sz="1500" b="0" i="0">
                <a:solidFill>
                  <a:srgbClr val="21295C"/>
                </a:solidFill>
                <a:latin typeface="Arial"/>
              </a:rPr>
              <a:t/>
            </a:r>
            <a:r>
              <a:rPr sz="1500" b="1" i="0">
                <a:solidFill>
                  <a:srgbClr val="21295C"/>
                </a:solidFill>
                <a:latin typeface="Arial"/>
              </a:rPr>
              <a:t>Не получается:</a:t>
            </a:r>
            <a:r>
              <a:rPr sz="1500" b="0" i="0">
                <a:solidFill>
                  <a:srgbClr val="21295C"/>
                </a:solidFill>
                <a:latin typeface="Arial"/>
              </a:rPr>
              <a:t> назначить себе порог · опередить врача — </a:t>
            </a:r>
            <a:r>
              <a:rPr sz="1500" b="1" i="0">
                <a:solidFill>
                  <a:srgbClr val="21295C"/>
                </a:solidFill>
                <a:latin typeface="Arial"/>
              </a:rPr>
              <a:t>ноль минут</a:t>
            </a:r>
            <a:r>
              <a:rPr sz="1500" b="0" i="0">
                <a:solidFill>
                  <a:srgbClr val="21295C"/>
                </a:solidFill>
                <a:latin typeface="Arial"/>
              </a:rPr>
              <a:t> · замолчать на сдвинувшемся потоке.</a:t>
            </a:r>
          </a:p>
        </p:txBody>
      </p:sp>
      <p:sp>
        <p:nvSpPr>
          <p:cNvPr id="6" name="TextBox 5"/>
          <p:cNvSpPr txBox="1"/>
          <p:nvPr/>
        </p:nvSpPr>
        <p:spPr>
          <a:xfrm>
            <a:off x="6278727" y="1335024"/>
            <a:ext cx="5373471" cy="4901184"/>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С работой:</a:t>
            </a:r>
            <a:r>
              <a:rPr sz="1500" b="0" i="0">
                <a:solidFill>
                  <a:srgbClr val="21295C"/>
                </a:solidFill>
                <a:latin typeface="Arial"/>
              </a:rPr>
              <a:t> нагрузка выросла там же, появился шаг разбора тревоги. </a:t>
            </a:r>
            <a:r>
              <a:rPr sz="1500" b="1" i="0">
                <a:solidFill>
                  <a:srgbClr val="21295C"/>
                </a:solidFill>
                <a:latin typeface="Arial"/>
              </a:rPr>
              <a:t>Не измерено: что стало со сменой.</a:t>
            </a:r>
          </a:p>
          <a:p>
            <a:pPr algn="l">
              <a:lnSpc>
                <a:spcPct val="126000"/>
              </a:lnSpc>
              <a:spcBef>
                <a:spcPts val="700"/>
              </a:spcBef>
            </a:pPr>
            <a:r>
              <a:rPr sz="1500" b="0" i="0">
                <a:solidFill>
                  <a:srgbClr val="21295C"/>
                </a:solidFill>
                <a:latin typeface="Arial"/>
              </a:rPr>
              <a:t/>
            </a:r>
            <a:r>
              <a:rPr sz="1500" b="1" i="0">
                <a:solidFill>
                  <a:srgbClr val="21295C"/>
                </a:solidFill>
                <a:latin typeface="Arial"/>
              </a:rPr>
              <a:t>Держат это</a:t>
            </a:r>
            <a:r>
              <a:rPr sz="1500" b="0" i="0">
                <a:solidFill>
                  <a:srgbClr val="21295C"/>
                </a:solidFill>
                <a:latin typeface="Arial"/>
              </a:rPr>
              <a:t> проверка доли подтверждения на своём потоке, назначенный разбор, порог под распространённость.</a:t>
            </a:r>
          </a:p>
        </p:txBody>
      </p:sp>
      <p:sp>
        <p:nvSpPr>
          <p:cNvPr id="7" name="Rectangle 6"/>
          <p:cNvSpPr/>
          <p:nvPr/>
        </p:nvSpPr>
        <p:spPr>
          <a:xfrm>
            <a:off x="6091275" y="1335024"/>
            <a:ext cx="9144" cy="1574205"/>
          </a:xfrm>
          <a:prstGeom prst="rect">
            <a:avLst/>
          </a:prstGeom>
          <a:solidFill>
            <a:srgbClr val="D9E2EC"/>
          </a:solidFill>
          <a:ln>
            <a:noFill/>
          </a:ln>
          <a:effectLst/>
        </p:spPr>
        <p:txBody>
          <a:bodyPr rtlCol="0" anchor="ctr"/>
          <a:lstStyle/>
          <a:p>
            <a:pPr algn="ctr"/>
          </a:p>
        </p:txBody>
      </p:sp>
      <p:sp>
        <p:nvSpPr>
          <p:cNvPr id="8" name="Rectangle 7"/>
          <p:cNvSpPr/>
          <p:nvPr/>
        </p:nvSpPr>
        <p:spPr>
          <a:xfrm>
            <a:off x="502920" y="888090"/>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Rectangle 2"/>
          <p:cNvSpPr/>
          <p:nvPr/>
        </p:nvSpPr>
        <p:spPr>
          <a:xfrm>
            <a:off x="0" y="0"/>
            <a:ext cx="155448" cy="6858000"/>
          </a:xfrm>
          <a:prstGeom prst="rect">
            <a:avLst/>
          </a:prstGeom>
          <a:solidFill>
            <a:srgbClr val="065A82"/>
          </a:solidFill>
          <a:ln>
            <a:noFill/>
          </a:ln>
          <a:effectLst/>
        </p:spPr>
        <p:txBody>
          <a:bodyPr rtlCol="0" anchor="ctr"/>
          <a:lstStyle/>
          <a:p>
            <a:pPr algn="ctr"/>
          </a:p>
        </p:txBody>
      </p:sp>
      <p:sp>
        <p:nvSpPr>
          <p:cNvPr id="4" name="TextBox 3"/>
          <p:cNvSpPr txBox="1"/>
          <p:nvPr/>
        </p:nvSpPr>
        <p:spPr>
          <a:xfrm>
            <a:off x="704088" y="960120"/>
            <a:ext cx="11185855" cy="518678"/>
          </a:xfrm>
          <a:prstGeom prst="rect">
            <a:avLst/>
          </a:prstGeom>
          <a:noFill/>
        </p:spPr>
        <p:txBody>
          <a:bodyPr wrap="square" lIns="0" rIns="0" tIns="0" bIns="0" anchor="t">
            <a:spAutoFit/>
          </a:bodyPr>
          <a:lstStyle/>
          <a:p>
            <a:pPr algn="l">
              <a:lnSpc>
                <a:spcPct val="110000"/>
              </a:lnSpc>
            </a:pPr>
            <a:r>
              <a:rPr sz="3000" b="1" i="0">
                <a:solidFill>
                  <a:srgbClr val="21295C"/>
                </a:solidFill>
                <a:latin typeface="Arial"/>
              </a:rPr>
              <a:t>5. Ведение медицинской документации</a:t>
            </a:r>
          </a:p>
        </p:txBody>
      </p:sp>
      <p:sp>
        <p:nvSpPr>
          <p:cNvPr id="5" name="Rectangle 4"/>
          <p:cNvSpPr/>
          <p:nvPr/>
        </p:nvSpPr>
        <p:spPr>
          <a:xfrm>
            <a:off x="704088" y="1570238"/>
            <a:ext cx="1188720" cy="59436"/>
          </a:xfrm>
          <a:prstGeom prst="rect">
            <a:avLst/>
          </a:prstGeom>
          <a:solidFill>
            <a:srgbClr val="F0AB00"/>
          </a:solidFill>
          <a:ln>
            <a:noFill/>
          </a:ln>
          <a:effectLst/>
        </p:spPr>
        <p:txBody>
          <a:bodyPr rtlCol="0" anchor="ctr"/>
          <a:lstStyle/>
          <a:p>
            <a:pPr algn="ctr"/>
          </a:p>
        </p:txBody>
      </p:sp>
      <p:sp>
        <p:nvSpPr>
          <p:cNvPr id="6" name="TextBox 5"/>
          <p:cNvSpPr txBox="1"/>
          <p:nvPr/>
        </p:nvSpPr>
        <p:spPr>
          <a:xfrm>
            <a:off x="704088" y="1844558"/>
            <a:ext cx="10984687" cy="640757"/>
          </a:xfrm>
          <a:prstGeom prst="rect">
            <a:avLst/>
          </a:prstGeom>
          <a:noFill/>
        </p:spPr>
        <p:txBody>
          <a:bodyPr wrap="square" lIns="0" rIns="0" tIns="0" bIns="0" anchor="t">
            <a:spAutoFit/>
          </a:bodyPr>
          <a:lstStyle/>
          <a:p>
            <a:pPr algn="l">
              <a:lnSpc>
                <a:spcPct val="124000"/>
              </a:lnSpc>
            </a:pPr>
            <a:r>
              <a:rPr sz="1550" b="1" i="0">
                <a:solidFill>
                  <a:srgbClr val="21295C"/>
                </a:solidFill>
                <a:latin typeface="Arial"/>
              </a:rPr>
              <a:t>Наблюдение искало ухудшение в цифрах. Здесь то же решение уезжает в текст,</a:t>
            </a:r>
            <a:r>
              <a:rPr sz="1550" b="0" i="0">
                <a:solidFill>
                  <a:srgbClr val="21295C"/>
                </a:solidFill>
                <a:latin typeface="Arial"/>
              </a:rPr>
              <a:t> и прочтёт его через месяц тот, кто пациента не видел.</a:t>
            </a:r>
          </a:p>
        </p:txBody>
      </p:sp>
      <p:sp>
        <p:nvSpPr>
          <p:cNvPr id="7" name="TextBox 6"/>
          <p:cNvSpPr txBox="1"/>
          <p:nvPr/>
        </p:nvSpPr>
        <p:spPr>
          <a:xfrm>
            <a:off x="704088" y="2613331"/>
            <a:ext cx="10984687" cy="338666"/>
          </a:xfrm>
          <a:prstGeom prst="rect">
            <a:avLst/>
          </a:prstGeom>
          <a:noFill/>
        </p:spPr>
        <p:txBody>
          <a:bodyPr wrap="square" lIns="0" rIns="0" tIns="0" bIns="0" anchor="t">
            <a:spAutoFit/>
          </a:bodyPr>
          <a:lstStyle/>
          <a:p>
            <a:pPr algn="l">
              <a:lnSpc>
                <a:spcPct val="124000"/>
              </a:lnSpc>
            </a:pPr>
            <a:r>
              <a:rPr sz="1550" b="0" i="0">
                <a:solidFill>
                  <a:srgbClr val="21295C"/>
                </a:solidFill>
                <a:latin typeface="Arial"/>
              </a:rPr>
              <a:t>• </a:t>
            </a:r>
            <a:r>
              <a:rPr sz="1550" b="1" i="0">
                <a:solidFill>
                  <a:srgbClr val="21295C"/>
                </a:solidFill>
                <a:latin typeface="Arial"/>
              </a:rPr>
              <a:t>запись приёма</a:t>
            </a:r>
            <a:r>
              <a:rPr sz="1550" b="0" i="0">
                <a:solidFill>
                  <a:srgbClr val="21295C"/>
                </a:solidFill>
                <a:latin typeface="Arial"/>
              </a:rPr>
              <a:t> — её читают сам пациент и следующий врач</a:t>
            </a:r>
          </a:p>
        </p:txBody>
      </p:sp>
      <p:sp>
        <p:nvSpPr>
          <p:cNvPr id="8" name="TextBox 7"/>
          <p:cNvSpPr txBox="1"/>
          <p:nvPr/>
        </p:nvSpPr>
        <p:spPr>
          <a:xfrm>
            <a:off x="704088" y="3080014"/>
            <a:ext cx="10984687" cy="338666"/>
          </a:xfrm>
          <a:prstGeom prst="rect">
            <a:avLst/>
          </a:prstGeom>
          <a:noFill/>
        </p:spPr>
        <p:txBody>
          <a:bodyPr wrap="square" lIns="0" rIns="0" tIns="0" bIns="0" anchor="t">
            <a:spAutoFit/>
          </a:bodyPr>
          <a:lstStyle/>
          <a:p>
            <a:pPr algn="l">
              <a:lnSpc>
                <a:spcPct val="124000"/>
              </a:lnSpc>
            </a:pPr>
            <a:r>
              <a:rPr sz="1550" b="0" i="0">
                <a:solidFill>
                  <a:srgbClr val="21295C"/>
                </a:solidFill>
                <a:latin typeface="Arial"/>
              </a:rPr>
              <a:t>• </a:t>
            </a:r>
            <a:r>
              <a:rPr sz="1550" b="1" i="0">
                <a:solidFill>
                  <a:srgbClr val="21295C"/>
                </a:solidFill>
                <a:latin typeface="Arial"/>
              </a:rPr>
              <a:t>выписной эпикриз</a:t>
            </a:r>
            <a:r>
              <a:rPr sz="1550" b="0" i="0">
                <a:solidFill>
                  <a:srgbClr val="21295C"/>
                </a:solidFill>
                <a:latin typeface="Arial"/>
              </a:rPr>
              <a:t> — его читают участковый врач, следующий стационар, страховщик</a:t>
            </a:r>
          </a:p>
        </p:txBody>
      </p:sp>
      <p:sp>
        <p:nvSpPr>
          <p:cNvPr id="9" name="TextBox 8"/>
          <p:cNvSpPr txBox="1"/>
          <p:nvPr/>
        </p:nvSpPr>
        <p:spPr>
          <a:xfrm>
            <a:off x="704088" y="3546697"/>
            <a:ext cx="10984687" cy="338666"/>
          </a:xfrm>
          <a:prstGeom prst="rect">
            <a:avLst/>
          </a:prstGeom>
          <a:noFill/>
        </p:spPr>
        <p:txBody>
          <a:bodyPr wrap="square" lIns="0" rIns="0" tIns="0" bIns="0" anchor="t">
            <a:spAutoFit/>
          </a:bodyPr>
          <a:lstStyle/>
          <a:p>
            <a:pPr algn="l">
              <a:lnSpc>
                <a:spcPct val="124000"/>
              </a:lnSpc>
            </a:pPr>
            <a:r>
              <a:rPr sz="1550" b="0" i="0">
                <a:solidFill>
                  <a:srgbClr val="21295C"/>
                </a:solidFill>
                <a:latin typeface="Arial"/>
              </a:rPr>
              <a:t>По порядку: </a:t>
            </a:r>
            <a:r>
              <a:rPr sz="1550" b="1" i="0">
                <a:solidFill>
                  <a:srgbClr val="21295C"/>
                </a:solidFill>
                <a:latin typeface="Arial"/>
              </a:rPr>
              <a:t>Пример 1: автоматическая запись приёма</a:t>
            </a:r>
            <a:r>
              <a:rPr sz="1550" b="0" i="0">
                <a:solidFill>
                  <a:srgbClr val="21295C"/>
                </a:solidFill>
                <a:latin typeface="Arial"/>
              </a:rPr>
              <a:t> · </a:t>
            </a:r>
            <a:r>
              <a:rPr sz="1550" b="1" i="0">
                <a:solidFill>
                  <a:srgbClr val="21295C"/>
                </a:solidFill>
                <a:latin typeface="Arial"/>
              </a:rPr>
              <a:t>Пример 2: выписной эпикриз</a:t>
            </a:r>
          </a:p>
        </p:txBody>
      </p:sp>
      <p:sp>
        <p:nvSpPr>
          <p:cNvPr id="10" name="TextBox 9"/>
          <p:cNvSpPr txBox="1"/>
          <p:nvPr/>
        </p:nvSpPr>
        <p:spPr>
          <a:xfrm>
            <a:off x="704088" y="4013379"/>
            <a:ext cx="11185855" cy="215015"/>
          </a:xfrm>
          <a:prstGeom prst="rect">
            <a:avLst/>
          </a:prstGeom>
          <a:noFill/>
        </p:spPr>
        <p:txBody>
          <a:bodyPr wrap="square" lIns="0" rIns="0" tIns="0" bIns="0" anchor="t">
            <a:spAutoFit/>
          </a:bodyPr>
          <a:lstStyle/>
          <a:p>
            <a:pPr algn="l">
              <a:lnSpc>
                <a:spcPct val="114000"/>
              </a:lnSpc>
            </a:pPr>
            <a:r>
              <a:rPr sz="1200" b="0" i="1">
                <a:solidFill>
                  <a:srgbClr val="1C7293"/>
                </a:solidFill>
                <a:latin typeface="Arial"/>
              </a:rPr>
              <a:t>Пропуск в записи и отсутствие события выглядят для читателя одинаково.</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Запись: данные, способы, решение</a:t>
            </a:r>
          </a:p>
        </p:txBody>
      </p:sp>
      <p:sp>
        <p:nvSpPr>
          <p:cNvPr id="4" name="Rounded Rectangle 3"/>
          <p:cNvSpPr/>
          <p:nvPr/>
        </p:nvSpPr>
        <p:spPr>
          <a:xfrm>
            <a:off x="502920" y="1335024"/>
            <a:ext cx="5510631" cy="1165753"/>
          </a:xfrm>
          <a:prstGeom prst="roundRect">
            <a:avLst>
              <a:gd name="adj" fmla="val 25000"/>
            </a:avLst>
          </a:prstGeom>
          <a:solidFill>
            <a:srgbClr val="FFFFFF"/>
          </a:solidFill>
          <a:ln w="25400">
            <a:solidFill>
              <a:srgbClr val="F0AB00"/>
            </a:solidFill>
          </a:ln>
          <a:effectLst/>
        </p:spPr>
        <p:txBody>
          <a:bodyPr rtlCol="0" anchor="ctr"/>
          <a:lstStyle/>
          <a:p>
            <a:pPr algn="ctr"/>
          </a:p>
        </p:txBody>
      </p:sp>
      <p:sp>
        <p:nvSpPr>
          <p:cNvPr id="5" name="TextBox 4"/>
          <p:cNvSpPr txBox="1"/>
          <p:nvPr/>
        </p:nvSpPr>
        <p:spPr>
          <a:xfrm>
            <a:off x="640080" y="1472184"/>
            <a:ext cx="5236311"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НАБРАНО РУКАМИ</a:t>
            </a:r>
          </a:p>
        </p:txBody>
      </p:sp>
      <p:sp>
        <p:nvSpPr>
          <p:cNvPr id="6" name="TextBox 5"/>
          <p:cNvSpPr txBox="1"/>
          <p:nvPr/>
        </p:nvSpPr>
        <p:spPr>
          <a:xfrm>
            <a:off x="640080" y="1725375"/>
            <a:ext cx="5236311"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18 % знаков заметки</a:t>
            </a:r>
          </a:p>
        </p:txBody>
      </p:sp>
      <p:sp>
        <p:nvSpPr>
          <p:cNvPr id="7" name="TextBox 6"/>
          <p:cNvSpPr txBox="1"/>
          <p:nvPr/>
        </p:nvSpPr>
        <p:spPr>
          <a:xfrm>
            <a:off x="640080" y="2152374"/>
            <a:ext cx="5236311"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23 630 заметок, 460 авторов</a:t>
            </a:r>
          </a:p>
        </p:txBody>
      </p:sp>
      <p:sp>
        <p:nvSpPr>
          <p:cNvPr id="8" name="Rounded Rectangle 7"/>
          <p:cNvSpPr/>
          <p:nvPr/>
        </p:nvSpPr>
        <p:spPr>
          <a:xfrm>
            <a:off x="6178143" y="1335024"/>
            <a:ext cx="5510631" cy="1165753"/>
          </a:xfrm>
          <a:prstGeom prst="roundRect">
            <a:avLst>
              <a:gd name="adj" fmla="val 25000"/>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6315303" y="1472184"/>
            <a:ext cx="5236311"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ПЕРЕНЕСЕНО · ПОДСТАВЛЕНО СИСТЕМОЙ — В ДОЛЕ ЗНАКОВ</a:t>
            </a:r>
          </a:p>
        </p:txBody>
      </p:sp>
      <p:sp>
        <p:nvSpPr>
          <p:cNvPr id="10" name="TextBox 9"/>
          <p:cNvSpPr txBox="1"/>
          <p:nvPr/>
        </p:nvSpPr>
        <p:spPr>
          <a:xfrm>
            <a:off x="6315303" y="1725375"/>
            <a:ext cx="5236311"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46 % · 36 %</a:t>
            </a:r>
          </a:p>
        </p:txBody>
      </p:sp>
      <p:sp>
        <p:nvSpPr>
          <p:cNvPr id="11" name="TextBox 10"/>
          <p:cNvSpPr txBox="1"/>
          <p:nvPr/>
        </p:nvSpPr>
        <p:spPr>
          <a:xfrm>
            <a:off x="6315303" y="2152374"/>
            <a:ext cx="5236311"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та же выборка; у ординаторов перенос 51,4 %</a:t>
            </a:r>
          </a:p>
        </p:txBody>
      </p:sp>
      <p:sp>
        <p:nvSpPr>
          <p:cNvPr id="12" name="Rounded Rectangle 11"/>
          <p:cNvSpPr/>
          <p:nvPr/>
        </p:nvSpPr>
        <p:spPr>
          <a:xfrm>
            <a:off x="374904" y="2592217"/>
            <a:ext cx="11441887" cy="1254403"/>
          </a:xfrm>
          <a:prstGeom prst="roundRect">
            <a:avLst>
              <a:gd name="adj" fmla="val 24298"/>
            </a:avLst>
          </a:prstGeom>
          <a:solidFill>
            <a:srgbClr val="F4F7FA"/>
          </a:solidFill>
          <a:ln w="19050">
            <a:solidFill>
              <a:srgbClr val="1C7293"/>
            </a:solidFill>
          </a:ln>
          <a:effectLst/>
        </p:spPr>
        <p:txBody>
          <a:bodyPr rtlCol="0" anchor="ctr"/>
          <a:lstStyle/>
          <a:p>
            <a:pPr algn="ctr"/>
          </a:p>
        </p:txBody>
      </p:sp>
      <p:sp>
        <p:nvSpPr>
          <p:cNvPr id="13" name="TextBox 12"/>
          <p:cNvSpPr txBox="1"/>
          <p:nvPr/>
        </p:nvSpPr>
        <p:spPr>
          <a:xfrm>
            <a:off x="539496" y="2683657"/>
            <a:ext cx="5373471" cy="3552550"/>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Данные стадии — всё собранное раньше, положенное в текст.</a:t>
            </a:r>
          </a:p>
          <a:p>
            <a:pPr algn="l">
              <a:lnSpc>
                <a:spcPct val="126000"/>
              </a:lnSpc>
              <a:spcBef>
                <a:spcPts val="700"/>
              </a:spcBef>
            </a:pPr>
            <a:r>
              <a:rPr sz="1500" b="0" i="0">
                <a:solidFill>
                  <a:srgbClr val="21295C"/>
                </a:solidFill>
                <a:latin typeface="Arial"/>
              </a:rPr>
              <a:t/>
            </a:r>
            <a:r>
              <a:rPr sz="1500" b="1" i="0">
                <a:solidFill>
                  <a:srgbClr val="21295C"/>
                </a:solidFill>
                <a:latin typeface="Arial"/>
              </a:rPr>
              <a:t>Руками врач пишет меньшую часть заметки.</a:t>
            </a:r>
          </a:p>
        </p:txBody>
      </p:sp>
      <p:sp>
        <p:nvSpPr>
          <p:cNvPr id="14" name="TextBox 13"/>
          <p:cNvSpPr txBox="1"/>
          <p:nvPr/>
        </p:nvSpPr>
        <p:spPr>
          <a:xfrm>
            <a:off x="6278727" y="2683657"/>
            <a:ext cx="5373471" cy="3552550"/>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Решение — что попадёт в документ, по которому назначат потом; читает его другой человек, со своим вопросом.</a:t>
            </a:r>
          </a:p>
        </p:txBody>
      </p:sp>
      <p:sp>
        <p:nvSpPr>
          <p:cNvPr id="15" name="Rectangle 14"/>
          <p:cNvSpPr/>
          <p:nvPr/>
        </p:nvSpPr>
        <p:spPr>
          <a:xfrm>
            <a:off x="6091275" y="2683657"/>
            <a:ext cx="9144" cy="980083"/>
          </a:xfrm>
          <a:prstGeom prst="rect">
            <a:avLst/>
          </a:prstGeom>
          <a:solidFill>
            <a:srgbClr val="D9E2EC"/>
          </a:solidFill>
          <a:ln>
            <a:noFill/>
          </a:ln>
          <a:effectLst/>
        </p:spPr>
        <p:txBody>
          <a:bodyPr rtlCol="0" anchor="ctr"/>
          <a:lstStyle/>
          <a:p>
            <a:pPr algn="ctr"/>
          </a:p>
        </p:txBody>
      </p:sp>
      <p:sp>
        <p:nvSpPr>
          <p:cNvPr id="16" name="Rectangle 15"/>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17" name="TextBox 16"/>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Wang и соавт., JAMA Internal Medicine 2017</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Без модели: четыре режима письма, посчитанные по-разному</a:t>
            </a:r>
          </a:p>
        </p:txBody>
      </p:sp>
      <p:sp>
        <p:nvSpPr>
          <p:cNvPr id="4" name="Rounded Rectangle 3"/>
          <p:cNvSpPr/>
          <p:nvPr/>
        </p:nvSpPr>
        <p:spPr>
          <a:xfrm>
            <a:off x="502920" y="1335024"/>
            <a:ext cx="2673019" cy="1974891"/>
          </a:xfrm>
          <a:prstGeom prst="roundRect">
            <a:avLst>
              <a:gd name="adj" fmla="val 15433"/>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2398699"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ВРАЧ ПИШЕТ САМ — В МИНУТАХ НА ЗАМЕТКУ</a:t>
            </a:r>
          </a:p>
        </p:txBody>
      </p:sp>
      <p:sp>
        <p:nvSpPr>
          <p:cNvPr id="6" name="TextBox 5"/>
          <p:cNvSpPr txBox="1"/>
          <p:nvPr/>
        </p:nvSpPr>
        <p:spPr>
          <a:xfrm>
            <a:off x="640080" y="1932846"/>
            <a:ext cx="2398699"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4 мин 22 с → 4 мин 04 с</a:t>
            </a:r>
          </a:p>
        </p:txBody>
      </p:sp>
      <p:sp>
        <p:nvSpPr>
          <p:cNvPr id="7" name="TextBox 6"/>
          <p:cNvSpPr txBox="1"/>
          <p:nvPr/>
        </p:nvSpPr>
        <p:spPr>
          <a:xfrm>
            <a:off x="640080" y="2750268"/>
            <a:ext cx="2398699"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контрольная группа; дрейф 18 секунд</a:t>
            </a:r>
          </a:p>
        </p:txBody>
      </p:sp>
      <p:sp>
        <p:nvSpPr>
          <p:cNvPr id="8" name="Rounded Rectangle 7"/>
          <p:cNvSpPr/>
          <p:nvPr/>
        </p:nvSpPr>
        <p:spPr>
          <a:xfrm>
            <a:off x="3340531" y="1335024"/>
            <a:ext cx="2673019" cy="1974891"/>
          </a:xfrm>
          <a:prstGeom prst="roundRect">
            <a:avLst>
              <a:gd name="adj" fmla="val 15433"/>
            </a:avLst>
          </a:prstGeom>
          <a:solidFill>
            <a:srgbClr val="FFFFFF"/>
          </a:solidFill>
          <a:ln w="25400">
            <a:solidFill>
              <a:srgbClr val="F0AB00"/>
            </a:solidFill>
          </a:ln>
          <a:effectLst/>
        </p:spPr>
        <p:txBody>
          <a:bodyPr rtlCol="0" anchor="ctr"/>
          <a:lstStyle/>
          <a:p>
            <a:pPr algn="ctr"/>
          </a:p>
        </p:txBody>
      </p:sp>
      <p:sp>
        <p:nvSpPr>
          <p:cNvPr id="9" name="TextBox 8"/>
          <p:cNvSpPr txBox="1"/>
          <p:nvPr/>
        </p:nvSpPr>
        <p:spPr>
          <a:xfrm>
            <a:off x="3477691" y="1472184"/>
            <a:ext cx="2398699"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ПЕРЕНОС ПРЕЖНЕЙ ЗАПИСИ — В ДОЛЕ ТЕКСТА</a:t>
            </a:r>
          </a:p>
        </p:txBody>
      </p:sp>
      <p:sp>
        <p:nvSpPr>
          <p:cNvPr id="10" name="TextBox 9"/>
          <p:cNvSpPr txBox="1"/>
          <p:nvPr/>
        </p:nvSpPr>
        <p:spPr>
          <a:xfrm>
            <a:off x="3477691" y="1932846"/>
            <a:ext cx="2398699" cy="817422"/>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50,1 % слов карты</a:t>
            </a:r>
          </a:p>
        </p:txBody>
      </p:sp>
      <p:sp>
        <p:nvSpPr>
          <p:cNvPr id="11" name="TextBox 10"/>
          <p:cNvSpPr txBox="1"/>
          <p:nvPr/>
        </p:nvSpPr>
        <p:spPr>
          <a:xfrm>
            <a:off x="3477691" y="2750268"/>
            <a:ext cx="2398699"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104 млн заметок; 33,0 % в 2015 → 54,2 % в 2020</a:t>
            </a:r>
          </a:p>
        </p:txBody>
      </p:sp>
      <p:sp>
        <p:nvSpPr>
          <p:cNvPr id="12" name="Rounded Rectangle 11"/>
          <p:cNvSpPr/>
          <p:nvPr/>
        </p:nvSpPr>
        <p:spPr>
          <a:xfrm>
            <a:off x="6178143" y="1335024"/>
            <a:ext cx="2673019" cy="1974891"/>
          </a:xfrm>
          <a:prstGeom prst="roundRect">
            <a:avLst>
              <a:gd name="adj" fmla="val 15433"/>
            </a:avLst>
          </a:prstGeom>
          <a:solidFill>
            <a:srgbClr val="F4F7FA"/>
          </a:solidFill>
          <a:ln w="15240">
            <a:solidFill>
              <a:srgbClr val="1C7293"/>
            </a:solidFill>
          </a:ln>
          <a:effectLst/>
        </p:spPr>
        <p:txBody>
          <a:bodyPr rtlCol="0" anchor="ctr"/>
          <a:lstStyle/>
          <a:p>
            <a:pPr algn="ctr"/>
          </a:p>
        </p:txBody>
      </p:sp>
      <p:sp>
        <p:nvSpPr>
          <p:cNvPr id="13" name="TextBox 12"/>
          <p:cNvSpPr txBox="1"/>
          <p:nvPr/>
        </p:nvSpPr>
        <p:spPr>
          <a:xfrm>
            <a:off x="6315303"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ЖИВОЙ ПИСЕЦ — БЕЗ ЧИСЛА</a:t>
            </a:r>
          </a:p>
        </p:txBody>
      </p:sp>
      <p:sp>
        <p:nvSpPr>
          <p:cNvPr id="14" name="TextBox 13"/>
          <p:cNvSpPr txBox="1"/>
          <p:nvPr/>
        </p:nvSpPr>
        <p:spPr>
          <a:xfrm>
            <a:off x="6315303" y="1725375"/>
            <a:ext cx="2398699" cy="1207845"/>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плечом испытания не был</a:t>
            </a:r>
          </a:p>
        </p:txBody>
      </p:sp>
      <p:sp>
        <p:nvSpPr>
          <p:cNvPr id="15" name="Rounded Rectangle 14"/>
          <p:cNvSpPr/>
          <p:nvPr/>
        </p:nvSpPr>
        <p:spPr>
          <a:xfrm>
            <a:off x="9015755" y="1335024"/>
            <a:ext cx="2673019" cy="1974891"/>
          </a:xfrm>
          <a:prstGeom prst="roundRect">
            <a:avLst>
              <a:gd name="adj" fmla="val 15433"/>
            </a:avLst>
          </a:prstGeom>
          <a:solidFill>
            <a:srgbClr val="F4F7FA"/>
          </a:solidFill>
          <a:ln w="15240">
            <a:solidFill>
              <a:srgbClr val="1C7293"/>
            </a:solidFill>
          </a:ln>
          <a:effectLst/>
        </p:spPr>
        <p:txBody>
          <a:bodyPr rtlCol="0" anchor="ctr"/>
          <a:lstStyle/>
          <a:p>
            <a:pPr algn="ctr"/>
          </a:p>
        </p:txBody>
      </p:sp>
      <p:sp>
        <p:nvSpPr>
          <p:cNvPr id="16" name="TextBox 15"/>
          <p:cNvSpPr txBox="1"/>
          <p:nvPr/>
        </p:nvSpPr>
        <p:spPr>
          <a:xfrm>
            <a:off x="9152915" y="1472184"/>
            <a:ext cx="2398699"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ЧЕРНОВИК ОРДИНАТОРА — БЕЗ ЧИСЛА</a:t>
            </a:r>
          </a:p>
        </p:txBody>
      </p:sp>
      <p:sp>
        <p:nvSpPr>
          <p:cNvPr id="17" name="TextBox 16"/>
          <p:cNvSpPr txBox="1"/>
          <p:nvPr/>
        </p:nvSpPr>
        <p:spPr>
          <a:xfrm>
            <a:off x="9152915" y="1932846"/>
            <a:ext cx="2398699" cy="1182383"/>
          </a:xfrm>
          <a:prstGeom prst="rect">
            <a:avLst/>
          </a:prstGeom>
          <a:noFill/>
        </p:spPr>
        <p:txBody>
          <a:bodyPr wrap="square" lIns="0" rIns="0" tIns="0" bIns="0" anchor="t">
            <a:spAutoFit/>
          </a:bodyPr>
          <a:lstStyle/>
          <a:p>
            <a:pPr algn="l">
              <a:lnSpc>
                <a:spcPct val="108000"/>
              </a:lnSpc>
            </a:pPr>
            <a:r>
              <a:rPr sz="2250" b="1" i="0">
                <a:solidFill>
                  <a:srgbClr val="21295C"/>
                </a:solidFill>
                <a:latin typeface="Arial"/>
              </a:rPr>
              <a:t>сравнение брало документ лечащего</a:t>
            </a:r>
          </a:p>
        </p:txBody>
      </p:sp>
      <p:sp>
        <p:nvSpPr>
          <p:cNvPr id="18" name="Rounded Rectangle 17"/>
          <p:cNvSpPr/>
          <p:nvPr/>
        </p:nvSpPr>
        <p:spPr>
          <a:xfrm>
            <a:off x="374904" y="3401355"/>
            <a:ext cx="11441887" cy="1551464"/>
          </a:xfrm>
          <a:prstGeom prst="roundRect">
            <a:avLst>
              <a:gd name="adj" fmla="val 19645"/>
            </a:avLst>
          </a:prstGeom>
          <a:solidFill>
            <a:srgbClr val="F4F7FA"/>
          </a:solidFill>
          <a:ln w="19050">
            <a:solidFill>
              <a:srgbClr val="1C7293"/>
            </a:solidFill>
          </a:ln>
          <a:effectLst/>
        </p:spPr>
        <p:txBody>
          <a:bodyPr rtlCol="0" anchor="ctr"/>
          <a:lstStyle/>
          <a:p>
            <a:pPr algn="ctr"/>
          </a:p>
        </p:txBody>
      </p:sp>
      <p:sp>
        <p:nvSpPr>
          <p:cNvPr id="19" name="TextBox 18"/>
          <p:cNvSpPr txBox="1"/>
          <p:nvPr/>
        </p:nvSpPr>
        <p:spPr>
          <a:xfrm>
            <a:off x="539496" y="3492795"/>
            <a:ext cx="5373471" cy="2743412"/>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Половина слов карты уже была написана об этом же пациенте раньше</a:t>
            </a:r>
            <a:r>
              <a:rPr sz="1500" b="0" i="0">
                <a:solidFill>
                  <a:srgbClr val="21295C"/>
                </a:solidFill>
                <a:latin typeface="Arial"/>
              </a:rPr>
              <a:t> — доля </a:t>
            </a:r>
            <a:r>
              <a:rPr sz="1500" b="1" i="0">
                <a:solidFill>
                  <a:srgbClr val="21295C"/>
                </a:solidFill>
                <a:latin typeface="Arial"/>
              </a:rPr>
              <a:t>текста</a:t>
            </a:r>
            <a:r>
              <a:rPr sz="1500" b="0" i="0">
                <a:solidFill>
                  <a:srgbClr val="21295C"/>
                </a:solidFill>
                <a:latin typeface="Arial"/>
              </a:rPr>
              <a:t>, единица — слово. Слышится «половина записей скопирована»; измерено «половина написанного уже было написано».</a:t>
            </a:r>
          </a:p>
        </p:txBody>
      </p:sp>
      <p:sp>
        <p:nvSpPr>
          <p:cNvPr id="20" name="TextBox 19"/>
          <p:cNvSpPr txBox="1"/>
          <p:nvPr/>
        </p:nvSpPr>
        <p:spPr>
          <a:xfrm>
            <a:off x="6278727" y="3492795"/>
            <a:ext cx="5373471" cy="2743412"/>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Цена ошибки переноса:</a:t>
            </a:r>
            <a:r>
              <a:rPr sz="1500" b="0" i="0">
                <a:solidFill>
                  <a:srgbClr val="21295C"/>
                </a:solidFill>
                <a:latin typeface="Arial"/>
              </a:rPr>
              <a:t> 2,6 процента из 190 диагностических ошибок на 212 165 приёмов.</a:t>
            </a:r>
          </a:p>
          <a:p>
            <a:pPr algn="l">
              <a:lnSpc>
                <a:spcPct val="126000"/>
              </a:lnSpc>
              <a:spcBef>
                <a:spcPts val="700"/>
              </a:spcBef>
            </a:pPr>
            <a:r>
              <a:rPr sz="1500" b="0" i="0">
                <a:solidFill>
                  <a:srgbClr val="21295C"/>
                </a:solidFill>
                <a:latin typeface="Arial"/>
              </a:rPr>
              <a:t/>
            </a:r>
            <a:r>
              <a:rPr sz="1500" b="1" i="0">
                <a:solidFill>
                  <a:srgbClr val="21295C"/>
                </a:solidFill>
                <a:latin typeface="Arial"/>
              </a:rPr>
              <a:t>В одну бухгалтерию эти величины не складываются.</a:t>
            </a:r>
            <a:r>
              <a:rPr sz="1500" b="0" i="0">
                <a:solidFill>
                  <a:srgbClr val="21295C"/>
                </a:solidFill>
                <a:latin typeface="Arial"/>
              </a:rPr>
              <a:t> Пробелы оставил замер.</a:t>
            </a:r>
          </a:p>
        </p:txBody>
      </p:sp>
      <p:sp>
        <p:nvSpPr>
          <p:cNvPr id="21" name="Rectangle 20"/>
          <p:cNvSpPr/>
          <p:nvPr/>
        </p:nvSpPr>
        <p:spPr>
          <a:xfrm>
            <a:off x="6091275" y="3492795"/>
            <a:ext cx="9144" cy="1277144"/>
          </a:xfrm>
          <a:prstGeom prst="rect">
            <a:avLst/>
          </a:prstGeom>
          <a:solidFill>
            <a:srgbClr val="D9E2EC"/>
          </a:solidFill>
          <a:ln>
            <a:noFill/>
          </a:ln>
          <a:effectLst/>
        </p:spPr>
        <p:txBody>
          <a:bodyPr rtlCol="0" anchor="ctr"/>
          <a:lstStyle/>
          <a:p>
            <a:pPr algn="ctr"/>
          </a:p>
        </p:txBody>
      </p:sp>
      <p:sp>
        <p:nvSpPr>
          <p:cNvPr id="22" name="Rectangle 21"/>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23" name="TextBox 22"/>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Steinkamp и соавт., JAMA Network Open 2022</a:t>
            </a:r>
            <a:r>
              <a:rPr sz="1200" b="0" i="1">
                <a:solidFill>
                  <a:srgbClr val="1C7293"/>
                </a:solidFill>
                <a:latin typeface="Arial"/>
              </a:rPr>
              <a:t> · </a:t>
            </a:r>
            <a:r>
              <a:rPr sz="1200" b="0" i="1" u="sng">
                <a:solidFill>
                  <a:srgbClr val="065A82"/>
                </a:solidFill>
                <a:latin typeface="Arial"/>
                <a:hlinkClick r:id="rId3"/>
              </a:rPr>
              <a:t>Tsou и соавт., Applied Clinical Informatics 2017</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Что делают участники на стадии записи</a:t>
            </a:r>
          </a:p>
        </p:txBody>
      </p:sp>
      <p:sp>
        <p:nvSpPr>
          <p:cNvPr id="4" name="Rounded Rectangle 3"/>
          <p:cNvSpPr/>
          <p:nvPr/>
        </p:nvSpPr>
        <p:spPr>
          <a:xfrm>
            <a:off x="502920" y="1335024"/>
            <a:ext cx="11185855" cy="1165753"/>
          </a:xfrm>
          <a:prstGeom prst="roundRect">
            <a:avLst>
              <a:gd name="adj" fmla="val 25000"/>
            </a:avLst>
          </a:prstGeom>
          <a:solidFill>
            <a:srgbClr val="FFFFFF"/>
          </a:solidFill>
          <a:ln w="25400">
            <a:solidFill>
              <a:srgbClr val="F0AB00"/>
            </a:solidFill>
          </a:ln>
          <a:effectLst/>
        </p:spPr>
        <p:txBody>
          <a:bodyPr rtlCol="0" anchor="ctr"/>
          <a:lstStyle/>
          <a:p>
            <a:pPr algn="ctr"/>
          </a:p>
        </p:txBody>
      </p:sp>
      <p:sp>
        <p:nvSpPr>
          <p:cNvPr id="5" name="TextBox 4"/>
          <p:cNvSpPr txBox="1"/>
          <p:nvPr/>
        </p:nvSpPr>
        <p:spPr>
          <a:xfrm>
            <a:off x="640080" y="1472184"/>
            <a:ext cx="10911535"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ИЗ ШЕСТИ ДЕЙСТВИЙ МОДЕЛЬ ЗАНЯЛА</a:t>
            </a:r>
          </a:p>
        </p:txBody>
      </p:sp>
      <p:sp>
        <p:nvSpPr>
          <p:cNvPr id="6" name="TextBox 5"/>
          <p:cNvSpPr txBox="1"/>
          <p:nvPr/>
        </p:nvSpPr>
        <p:spPr>
          <a:xfrm>
            <a:off x="640080" y="1725375"/>
            <a:ext cx="10911535"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два</a:t>
            </a:r>
          </a:p>
        </p:txBody>
      </p:sp>
      <p:sp>
        <p:nvSpPr>
          <p:cNvPr id="7" name="TextBox 6"/>
          <p:cNvSpPr txBox="1"/>
          <p:nvPr/>
        </p:nvSpPr>
        <p:spPr>
          <a:xfrm>
            <a:off x="640080" y="2152374"/>
            <a:ext cx="10911535"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и один шаг убрала</a:t>
            </a:r>
          </a:p>
        </p:txBody>
      </p:sp>
      <p:sp>
        <p:nvSpPr>
          <p:cNvPr id="8" name="Rounded Rectangle 7"/>
          <p:cNvSpPr/>
          <p:nvPr/>
        </p:nvSpPr>
        <p:spPr>
          <a:xfrm>
            <a:off x="374904" y="2592217"/>
            <a:ext cx="11441887" cy="2234486"/>
          </a:xfrm>
          <a:prstGeom prst="roundRect">
            <a:avLst>
              <a:gd name="adj" fmla="val 13640"/>
            </a:avLst>
          </a:prstGeom>
          <a:solidFill>
            <a:srgbClr val="F4F7FA"/>
          </a:solidFill>
          <a:ln w="19050">
            <a:solidFill>
              <a:srgbClr val="1C7293"/>
            </a:solidFill>
          </a:ln>
          <a:effectLst/>
        </p:spPr>
        <p:txBody>
          <a:bodyPr rtlCol="0" anchor="ctr"/>
          <a:lstStyle/>
          <a:p>
            <a:pPr algn="ctr"/>
          </a:p>
        </p:txBody>
      </p:sp>
      <p:sp>
        <p:nvSpPr>
          <p:cNvPr id="9" name="TextBox 8"/>
          <p:cNvSpPr txBox="1"/>
          <p:nvPr/>
        </p:nvSpPr>
        <p:spPr>
          <a:xfrm>
            <a:off x="539496" y="2683657"/>
            <a:ext cx="5373471" cy="3552550"/>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Приём на двенадцать минут: врач назначает — и держит структуру записи в голове.</a:t>
            </a:r>
          </a:p>
          <a:p>
            <a:pPr algn="l">
              <a:lnSpc>
                <a:spcPct val="126000"/>
              </a:lnSpc>
              <a:spcBef>
                <a:spcPts val="700"/>
              </a:spcBef>
            </a:pPr>
            <a:r>
              <a:rPr sz="1500" b="0" i="0">
                <a:solidFill>
                  <a:srgbClr val="21295C"/>
                </a:solidFill>
                <a:latin typeface="Arial"/>
              </a:rPr>
              <a:t/>
            </a:r>
            <a:r>
              <a:rPr sz="1500" b="1" i="0">
                <a:solidFill>
                  <a:srgbClr val="21295C"/>
                </a:solidFill>
                <a:latin typeface="Arial"/>
              </a:rPr>
              <a:t>Решает по записи тот, кто пациента не видел: пропуск и отсутствие события для него одинаковы.</a:t>
            </a:r>
          </a:p>
          <a:p>
            <a:pPr algn="l">
              <a:lnSpc>
                <a:spcPct val="126000"/>
              </a:lnSpc>
              <a:spcBef>
                <a:spcPts val="700"/>
              </a:spcBef>
            </a:pPr>
            <a:r>
              <a:rPr sz="1500" b="0" i="0">
                <a:solidFill>
                  <a:srgbClr val="21295C"/>
                </a:solidFill>
                <a:latin typeface="Arial"/>
              </a:rPr>
              <a:t/>
            </a:r>
            <a:r>
              <a:rPr sz="1500" b="0" i="0">
                <a:solidFill>
                  <a:srgbClr val="21295C"/>
                </a:solidFill>
                <a:latin typeface="Arial"/>
              </a:rPr>
              <a:t>• </a:t>
            </a:r>
            <a:r>
              <a:rPr sz="1500" b="1" i="0">
                <a:solidFill>
                  <a:srgbClr val="21295C"/>
                </a:solidFill>
                <a:latin typeface="Arial"/>
              </a:rPr>
              <a:t>записать меньше, чем было</a:t>
            </a:r>
            <a:r>
              <a:rPr sz="1500" b="0" i="0">
                <a:solidFill>
                  <a:srgbClr val="21295C"/>
                </a:solidFill>
                <a:latin typeface="Arial"/>
              </a:rPr>
              <a:t> — назначат заново проверенное</a:t>
            </a:r>
          </a:p>
        </p:txBody>
      </p:sp>
      <p:sp>
        <p:nvSpPr>
          <p:cNvPr id="10" name="TextBox 9"/>
          <p:cNvSpPr txBox="1"/>
          <p:nvPr/>
        </p:nvSpPr>
        <p:spPr>
          <a:xfrm>
            <a:off x="6278727" y="2683657"/>
            <a:ext cx="5373471" cy="3552550"/>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 </a:t>
            </a:r>
            <a:r>
              <a:rPr sz="1500" b="1" i="0">
                <a:solidFill>
                  <a:srgbClr val="21295C"/>
                </a:solidFill>
                <a:latin typeface="Arial"/>
              </a:rPr>
              <a:t>записать то, чего не было</a:t>
            </a:r>
            <a:r>
              <a:rPr sz="1500" b="0" i="0">
                <a:solidFill>
                  <a:srgbClr val="21295C"/>
                </a:solidFill>
                <a:latin typeface="Arial"/>
              </a:rPr>
              <a:t> — назначат по ложному основанию</a:t>
            </a:r>
          </a:p>
          <a:p>
            <a:pPr algn="l">
              <a:lnSpc>
                <a:spcPct val="126000"/>
              </a:lnSpc>
              <a:spcBef>
                <a:spcPts val="700"/>
              </a:spcBef>
            </a:pPr>
            <a:r>
              <a:rPr sz="1500" b="0" i="0">
                <a:solidFill>
                  <a:srgbClr val="21295C"/>
                </a:solidFill>
                <a:latin typeface="Arial"/>
              </a:rPr>
              <a:t/>
            </a:r>
            <a:r>
              <a:rPr sz="1500" b="1" i="0">
                <a:solidFill>
                  <a:srgbClr val="21295C"/>
                </a:solidFill>
                <a:latin typeface="Arial"/>
              </a:rPr>
              <a:t>Заключение о женщине с письмом читает другой человек, через два года.</a:t>
            </a:r>
          </a:p>
        </p:txBody>
      </p:sp>
      <p:sp>
        <p:nvSpPr>
          <p:cNvPr id="11" name="Rectangle 10"/>
          <p:cNvSpPr/>
          <p:nvPr/>
        </p:nvSpPr>
        <p:spPr>
          <a:xfrm>
            <a:off x="6091275" y="2683657"/>
            <a:ext cx="9144" cy="1960166"/>
          </a:xfrm>
          <a:prstGeom prst="rect">
            <a:avLst/>
          </a:prstGeom>
          <a:solidFill>
            <a:srgbClr val="D9E2EC"/>
          </a:solidFill>
          <a:ln>
            <a:noFill/>
          </a:ln>
          <a:effectLst/>
        </p:spPr>
        <p:txBody>
          <a:bodyPr rtlCol="0" anchor="ctr"/>
          <a:lstStyle/>
          <a:p>
            <a:pPr algn="ctr"/>
          </a:p>
        </p:txBody>
      </p:sp>
      <p:sp>
        <p:nvSpPr>
          <p:cNvPr id="12" name="Rectangle 11"/>
          <p:cNvSpPr/>
          <p:nvPr/>
        </p:nvSpPr>
        <p:spPr>
          <a:xfrm>
            <a:off x="502920" y="888090"/>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Пример 1: автоматическая запись приёма</a:t>
            </a:r>
          </a:p>
        </p:txBody>
      </p:sp>
      <p:sp>
        <p:nvSpPr>
          <p:cNvPr id="4" name="Rounded Rectangle 3"/>
          <p:cNvSpPr/>
          <p:nvPr/>
        </p:nvSpPr>
        <p:spPr>
          <a:xfrm>
            <a:off x="502920" y="1335024"/>
            <a:ext cx="2673019" cy="1763648"/>
          </a:xfrm>
          <a:prstGeom prst="roundRect">
            <a:avLst>
              <a:gd name="adj" fmla="val 17282"/>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2398699"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ЗАЯВЛЕНО, МЕТОДИКА НЕ РАСКРЫТА</a:t>
            </a:r>
          </a:p>
        </p:txBody>
      </p:sp>
      <p:sp>
        <p:nvSpPr>
          <p:cNvPr id="6" name="TextBox 5"/>
          <p:cNvSpPr txBox="1"/>
          <p:nvPr/>
        </p:nvSpPr>
        <p:spPr>
          <a:xfrm>
            <a:off x="640080" y="1932846"/>
            <a:ext cx="2398699"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15 791 час на 63 000 приёмов</a:t>
            </a:r>
          </a:p>
        </p:txBody>
      </p:sp>
      <p:sp>
        <p:nvSpPr>
          <p:cNvPr id="7" name="TextBox 6"/>
          <p:cNvSpPr txBox="1"/>
          <p:nvPr/>
        </p:nvSpPr>
        <p:spPr>
          <a:xfrm>
            <a:off x="640080" y="2750268"/>
            <a:ext cx="2398699"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четверть часа на приём</a:t>
            </a:r>
          </a:p>
        </p:txBody>
      </p:sp>
      <p:sp>
        <p:nvSpPr>
          <p:cNvPr id="8" name="Rounded Rectangle 7"/>
          <p:cNvSpPr/>
          <p:nvPr/>
        </p:nvSpPr>
        <p:spPr>
          <a:xfrm>
            <a:off x="3340531" y="1335024"/>
            <a:ext cx="2673019" cy="1763648"/>
          </a:xfrm>
          <a:prstGeom prst="roundRect">
            <a:avLst>
              <a:gd name="adj" fmla="val 17282"/>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3477691" y="1472184"/>
            <a:ext cx="2398699"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ИЗМЕРЕНО — ПЕРВЫЙ ИНСТРУМЕНТ</a:t>
            </a:r>
          </a:p>
        </p:txBody>
      </p:sp>
      <p:sp>
        <p:nvSpPr>
          <p:cNvPr id="10" name="TextBox 9"/>
          <p:cNvSpPr txBox="1"/>
          <p:nvPr/>
        </p:nvSpPr>
        <p:spPr>
          <a:xfrm>
            <a:off x="3477691" y="1932846"/>
            <a:ext cx="2398699" cy="800447"/>
          </a:xfrm>
          <a:prstGeom prst="rect">
            <a:avLst/>
          </a:prstGeom>
          <a:noFill/>
        </p:spPr>
        <p:txBody>
          <a:bodyPr wrap="square" lIns="0" rIns="0" tIns="0" bIns="0" anchor="t">
            <a:spAutoFit/>
          </a:bodyPr>
          <a:lstStyle/>
          <a:p>
            <a:pPr algn="l">
              <a:lnSpc>
                <a:spcPct val="108000"/>
              </a:lnSpc>
            </a:pPr>
            <a:r>
              <a:rPr sz="2250" b="1" i="0">
                <a:solidFill>
                  <a:srgbClr val="21295C"/>
                </a:solidFill>
                <a:latin typeface="Arial"/>
              </a:rPr>
              <a:t>время в заметке ниже на 9,5 %</a:t>
            </a:r>
          </a:p>
        </p:txBody>
      </p:sp>
      <p:sp>
        <p:nvSpPr>
          <p:cNvPr id="11" name="Rounded Rectangle 10"/>
          <p:cNvSpPr/>
          <p:nvPr/>
        </p:nvSpPr>
        <p:spPr>
          <a:xfrm>
            <a:off x="6178143" y="1335024"/>
            <a:ext cx="2673019" cy="1763648"/>
          </a:xfrm>
          <a:prstGeom prst="roundRect">
            <a:avLst>
              <a:gd name="adj" fmla="val 17282"/>
            </a:avLst>
          </a:prstGeom>
          <a:solidFill>
            <a:srgbClr val="F4F7FA"/>
          </a:solidFill>
          <a:ln w="15240">
            <a:solidFill>
              <a:srgbClr val="1C7293"/>
            </a:solidFill>
          </a:ln>
          <a:effectLst/>
        </p:spPr>
        <p:txBody>
          <a:bodyPr rtlCol="0" anchor="ctr"/>
          <a:lstStyle/>
          <a:p>
            <a:pPr algn="ctr"/>
          </a:p>
        </p:txBody>
      </p:sp>
      <p:sp>
        <p:nvSpPr>
          <p:cNvPr id="12" name="TextBox 11"/>
          <p:cNvSpPr txBox="1"/>
          <p:nvPr/>
        </p:nvSpPr>
        <p:spPr>
          <a:xfrm>
            <a:off x="6315303"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ИЗМЕРЕНО — ВТОРОЙ</a:t>
            </a:r>
          </a:p>
        </p:txBody>
      </p:sp>
      <p:sp>
        <p:nvSpPr>
          <p:cNvPr id="13" name="TextBox 12"/>
          <p:cNvSpPr txBox="1"/>
          <p:nvPr/>
        </p:nvSpPr>
        <p:spPr>
          <a:xfrm>
            <a:off x="6315303" y="1725375"/>
            <a:ext cx="2398699"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значимого изменения нет</a:t>
            </a:r>
          </a:p>
        </p:txBody>
      </p:sp>
      <p:sp>
        <p:nvSpPr>
          <p:cNvPr id="14" name="Rounded Rectangle 13"/>
          <p:cNvSpPr/>
          <p:nvPr/>
        </p:nvSpPr>
        <p:spPr>
          <a:xfrm>
            <a:off x="9015755" y="1335024"/>
            <a:ext cx="2673019" cy="1763648"/>
          </a:xfrm>
          <a:prstGeom prst="roundRect">
            <a:avLst>
              <a:gd name="adj" fmla="val 17282"/>
            </a:avLst>
          </a:prstGeom>
          <a:solidFill>
            <a:srgbClr val="FFFFFF"/>
          </a:solidFill>
          <a:ln w="25400">
            <a:solidFill>
              <a:srgbClr val="F0AB00"/>
            </a:solidFill>
          </a:ln>
          <a:effectLst/>
        </p:spPr>
        <p:txBody>
          <a:bodyPr rtlCol="0" anchor="ctr"/>
          <a:lstStyle/>
          <a:p>
            <a:pPr algn="ctr"/>
          </a:p>
        </p:txBody>
      </p:sp>
      <p:sp>
        <p:nvSpPr>
          <p:cNvPr id="15" name="TextBox 14"/>
          <p:cNvSpPr txBox="1"/>
          <p:nvPr/>
        </p:nvSpPr>
        <p:spPr>
          <a:xfrm>
            <a:off x="9152915"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АКТИВНОЕ ВРЕМЯ ПРАВКИ</a:t>
            </a:r>
          </a:p>
        </p:txBody>
      </p:sp>
      <p:sp>
        <p:nvSpPr>
          <p:cNvPr id="16" name="TextBox 15"/>
          <p:cNvSpPr txBox="1"/>
          <p:nvPr/>
        </p:nvSpPr>
        <p:spPr>
          <a:xfrm>
            <a:off x="9152915" y="1725375"/>
            <a:ext cx="2398699"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не изменилось</a:t>
            </a:r>
          </a:p>
        </p:txBody>
      </p:sp>
      <p:sp>
        <p:nvSpPr>
          <p:cNvPr id="17" name="Rounded Rectangle 16"/>
          <p:cNvSpPr/>
          <p:nvPr/>
        </p:nvSpPr>
        <p:spPr>
          <a:xfrm>
            <a:off x="374904" y="3190112"/>
            <a:ext cx="11441887" cy="3046095"/>
          </a:xfrm>
          <a:prstGeom prst="roundRect">
            <a:avLst>
              <a:gd name="adj" fmla="val 10006"/>
            </a:avLst>
          </a:prstGeom>
          <a:solidFill>
            <a:srgbClr val="F4F7FA"/>
          </a:solidFill>
          <a:ln w="19050">
            <a:solidFill>
              <a:srgbClr val="1C7293"/>
            </a:solidFill>
          </a:ln>
          <a:effectLst/>
        </p:spPr>
        <p:txBody>
          <a:bodyPr rtlCol="0" anchor="ctr"/>
          <a:lstStyle/>
          <a:p>
            <a:pPr algn="ctr"/>
          </a:p>
        </p:txBody>
      </p:sp>
      <p:sp>
        <p:nvSpPr>
          <p:cNvPr id="18" name="TextBox 17"/>
          <p:cNvSpPr txBox="1"/>
          <p:nvPr/>
        </p:nvSpPr>
        <p:spPr>
          <a:xfrm>
            <a:off x="539496" y="3281552"/>
            <a:ext cx="5373471" cy="2954655"/>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Заметку врач набирал между приёмами и в конце дня</a:t>
            </a:r>
            <a:r>
              <a:rPr sz="1500" b="0" i="0">
                <a:solidFill>
                  <a:srgbClr val="21295C"/>
                </a:solidFill>
                <a:latin typeface="Arial"/>
              </a:rPr>
              <a:t> — «домашняя работа с картой». Подписывал сам.</a:t>
            </a:r>
          </a:p>
          <a:p>
            <a:pPr algn="l">
              <a:lnSpc>
                <a:spcPct val="126000"/>
              </a:lnSpc>
              <a:spcBef>
                <a:spcPts val="700"/>
              </a:spcBef>
            </a:pPr>
            <a:r>
              <a:rPr sz="1500" b="0" i="0">
                <a:solidFill>
                  <a:srgbClr val="21295C"/>
                </a:solidFill>
                <a:latin typeface="Arial"/>
              </a:rPr>
              <a:t/>
            </a:r>
            <a:r>
              <a:rPr sz="1500" b="1" i="0">
                <a:solidFill>
                  <a:srgbClr val="21295C"/>
                </a:solidFill>
                <a:latin typeface="Arial"/>
              </a:rPr>
              <a:t>Устроено.</a:t>
            </a:r>
            <a:r>
              <a:rPr sz="1500" b="0" i="0">
                <a:solidFill>
                  <a:srgbClr val="21295C"/>
                </a:solidFill>
                <a:latin typeface="Arial"/>
              </a:rPr>
              <a:t> Вход — звук приёма, выход — черновик под вычитку. Режим занимают Abridge, Dragon Copilot, Nabla, Heidi; </a:t>
            </a:r>
            <a:r>
              <a:rPr sz="1500" b="1" i="0">
                <a:solidFill>
                  <a:srgbClr val="21295C"/>
                </a:solidFill>
                <a:latin typeface="Arial"/>
              </a:rPr>
              <a:t>имён своих инструментов препринт не печатает.</a:t>
            </a:r>
          </a:p>
        </p:txBody>
      </p:sp>
      <p:sp>
        <p:nvSpPr>
          <p:cNvPr id="19" name="TextBox 18"/>
          <p:cNvSpPr txBox="1"/>
          <p:nvPr/>
        </p:nvSpPr>
        <p:spPr>
          <a:xfrm>
            <a:off x="6278727" y="3281552"/>
            <a:ext cx="5373471" cy="2954655"/>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Заявление и замер считают разные величины:</a:t>
            </a:r>
            <a:r>
              <a:rPr sz="1500" b="0" i="0">
                <a:solidFill>
                  <a:srgbClr val="21295C"/>
                </a:solidFill>
                <a:latin typeface="Arial"/>
              </a:rPr>
              <a:t> четверть часа не укладывается в четыре минуты над заметкой. </a:t>
            </a:r>
            <a:r>
              <a:rPr sz="1500" b="1" i="0">
                <a:solidFill>
                  <a:srgbClr val="21295C"/>
                </a:solidFill>
                <a:latin typeface="Arial"/>
              </a:rPr>
              <a:t>Число без названной методики счёта утверждением о мире не является.</a:t>
            </a:r>
          </a:p>
          <a:p>
            <a:pPr algn="l">
              <a:lnSpc>
                <a:spcPct val="126000"/>
              </a:lnSpc>
              <a:spcBef>
                <a:spcPts val="700"/>
              </a:spcBef>
            </a:pPr>
            <a:r>
              <a:rPr sz="1500" b="0" i="0">
                <a:solidFill>
                  <a:srgbClr val="21295C"/>
                </a:solidFill>
                <a:latin typeface="Arial"/>
              </a:rPr>
              <a:t/>
            </a:r>
            <a:r>
              <a:rPr sz="1500" b="1" i="0">
                <a:solidFill>
                  <a:srgbClr val="21295C"/>
                </a:solidFill>
                <a:latin typeface="Arial"/>
              </a:rPr>
              <a:t>Два продукта режима, один дизайн — один результат значимый, другой нулевой:</a:t>
            </a:r>
            <a:r>
              <a:rPr sz="1500" b="0" i="0">
                <a:solidFill>
                  <a:srgbClr val="21295C"/>
                </a:solidFill>
                <a:latin typeface="Arial"/>
              </a:rPr>
              <a:t> эффект принадлежит реализации, не классу инструмента.</a:t>
            </a:r>
          </a:p>
          <a:p>
            <a:pPr algn="l">
              <a:lnSpc>
                <a:spcPct val="126000"/>
              </a:lnSpc>
              <a:spcBef>
                <a:spcPts val="700"/>
              </a:spcBef>
            </a:pPr>
            <a:r>
              <a:rPr sz="1500" b="0" i="0">
                <a:solidFill>
                  <a:srgbClr val="21295C"/>
                </a:solidFill>
                <a:latin typeface="Arial"/>
              </a:rPr>
              <a:t/>
            </a:r>
            <a:r>
              <a:rPr sz="1500" b="1" i="0">
                <a:solidFill>
                  <a:srgbClr val="21295C"/>
                </a:solidFill>
                <a:latin typeface="Arial"/>
              </a:rPr>
              <a:t>Кто из вас прочитывает автоматический протокол встречи построчно, прежде чем разослать?</a:t>
            </a:r>
          </a:p>
        </p:txBody>
      </p:sp>
      <p:sp>
        <p:nvSpPr>
          <p:cNvPr id="20" name="Rectangle 19"/>
          <p:cNvSpPr/>
          <p:nvPr/>
        </p:nvSpPr>
        <p:spPr>
          <a:xfrm>
            <a:off x="6091275" y="3281552"/>
            <a:ext cx="9144" cy="2851350"/>
          </a:xfrm>
          <a:prstGeom prst="rect">
            <a:avLst/>
          </a:prstGeom>
          <a:solidFill>
            <a:srgbClr val="D9E2EC"/>
          </a:solidFill>
          <a:ln>
            <a:noFill/>
          </a:ln>
          <a:effectLst/>
        </p:spPr>
        <p:txBody>
          <a:bodyPr rtlCol="0" anchor="ctr"/>
          <a:lstStyle/>
          <a:p>
            <a:pPr algn="ctr"/>
          </a:p>
        </p:txBody>
      </p:sp>
      <p:sp>
        <p:nvSpPr>
          <p:cNvPr id="21" name="Rectangle 20"/>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22" name="TextBox 21"/>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трёхрукое рандомизированное испытание, препринт medRxiv 2025, рецензирования не проходил</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Пример 1, цена: набор сократился, вычитка появилась</a:t>
            </a:r>
          </a:p>
        </p:txBody>
      </p:sp>
      <p:sp>
        <p:nvSpPr>
          <p:cNvPr id="4" name="Rounded Rectangle 3"/>
          <p:cNvSpPr/>
          <p:nvPr/>
        </p:nvSpPr>
        <p:spPr>
          <a:xfrm>
            <a:off x="502920" y="1335024"/>
            <a:ext cx="2673019" cy="1735356"/>
          </a:xfrm>
          <a:prstGeom prst="roundRect">
            <a:avLst>
              <a:gd name="adj" fmla="val 17564"/>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ДАЛО</a:t>
            </a:r>
          </a:p>
        </p:txBody>
      </p:sp>
      <p:sp>
        <p:nvSpPr>
          <p:cNvPr id="6" name="TextBox 5"/>
          <p:cNvSpPr txBox="1"/>
          <p:nvPr/>
        </p:nvSpPr>
        <p:spPr>
          <a:xfrm>
            <a:off x="640080" y="1725375"/>
            <a:ext cx="2398699"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заметка раньше, усталость ниже</a:t>
            </a:r>
          </a:p>
        </p:txBody>
      </p:sp>
      <p:sp>
        <p:nvSpPr>
          <p:cNvPr id="7" name="Rounded Rectangle 6"/>
          <p:cNvSpPr/>
          <p:nvPr/>
        </p:nvSpPr>
        <p:spPr>
          <a:xfrm>
            <a:off x="3340531" y="1335024"/>
            <a:ext cx="2673019" cy="1735356"/>
          </a:xfrm>
          <a:prstGeom prst="roundRect">
            <a:avLst>
              <a:gd name="adj" fmla="val 17564"/>
            </a:avLst>
          </a:prstGeom>
          <a:solidFill>
            <a:srgbClr val="F4F7FA"/>
          </a:solidFill>
          <a:ln w="15240">
            <a:solidFill>
              <a:srgbClr val="1C7293"/>
            </a:solidFill>
          </a:ln>
          <a:effectLst/>
        </p:spPr>
        <p:txBody>
          <a:bodyPr rtlCol="0" anchor="ctr"/>
          <a:lstStyle/>
          <a:p>
            <a:pPr algn="ctr"/>
          </a:p>
        </p:txBody>
      </p:sp>
      <p:sp>
        <p:nvSpPr>
          <p:cNvPr id="8" name="TextBox 7"/>
          <p:cNvSpPr txBox="1"/>
          <p:nvPr/>
        </p:nvSpPr>
        <p:spPr>
          <a:xfrm>
            <a:off x="3477691"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ПОТРЕБОВАЛО</a:t>
            </a:r>
          </a:p>
        </p:txBody>
      </p:sp>
      <p:sp>
        <p:nvSpPr>
          <p:cNvPr id="9" name="TextBox 8"/>
          <p:cNvSpPr txBox="1"/>
          <p:nvPr/>
        </p:nvSpPr>
        <p:spPr>
          <a:xfrm>
            <a:off x="3477691" y="1725375"/>
            <a:ext cx="2398699" cy="1055071"/>
          </a:xfrm>
          <a:prstGeom prst="rect">
            <a:avLst/>
          </a:prstGeom>
          <a:noFill/>
        </p:spPr>
        <p:txBody>
          <a:bodyPr wrap="square" lIns="0" rIns="0" tIns="0" bIns="0" anchor="t">
            <a:spAutoFit/>
          </a:bodyPr>
          <a:lstStyle/>
          <a:p>
            <a:pPr algn="l">
              <a:lnSpc>
                <a:spcPct val="108000"/>
              </a:lnSpc>
            </a:pPr>
            <a:r>
              <a:rPr sz="2000" b="1" i="0">
                <a:solidFill>
                  <a:srgbClr val="21295C"/>
                </a:solidFill>
                <a:latin typeface="Arial"/>
              </a:rPr>
              <a:t>вычитку каждого черновика и службу со штатом</a:t>
            </a:r>
          </a:p>
        </p:txBody>
      </p:sp>
      <p:sp>
        <p:nvSpPr>
          <p:cNvPr id="10" name="Rounded Rectangle 9"/>
          <p:cNvSpPr/>
          <p:nvPr/>
        </p:nvSpPr>
        <p:spPr>
          <a:xfrm>
            <a:off x="6178143" y="1335024"/>
            <a:ext cx="2673019" cy="1735356"/>
          </a:xfrm>
          <a:prstGeom prst="roundRect">
            <a:avLst>
              <a:gd name="adj" fmla="val 17564"/>
            </a:avLst>
          </a:prstGeom>
          <a:solidFill>
            <a:srgbClr val="F4F7FA"/>
          </a:solidFill>
          <a:ln w="15240">
            <a:solidFill>
              <a:srgbClr val="1C7293"/>
            </a:solidFill>
          </a:ln>
          <a:effectLst/>
        </p:spPr>
        <p:txBody>
          <a:bodyPr rtlCol="0" anchor="ctr"/>
          <a:lstStyle/>
          <a:p>
            <a:pPr algn="ctr"/>
          </a:p>
        </p:txBody>
      </p:sp>
      <p:sp>
        <p:nvSpPr>
          <p:cNvPr id="11" name="TextBox 10"/>
          <p:cNvSpPr txBox="1"/>
          <p:nvPr/>
        </p:nvSpPr>
        <p:spPr>
          <a:xfrm>
            <a:off x="6315303"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ЗАВИСИТ ОТ ДНЯ ЗАМЕРА</a:t>
            </a:r>
          </a:p>
        </p:txBody>
      </p:sp>
      <p:sp>
        <p:nvSpPr>
          <p:cNvPr id="12" name="TextBox 11"/>
          <p:cNvSpPr txBox="1"/>
          <p:nvPr/>
        </p:nvSpPr>
        <p:spPr>
          <a:xfrm>
            <a:off x="6315303" y="1725375"/>
            <a:ext cx="2398699"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7 → 16 из ста</a:t>
            </a:r>
          </a:p>
        </p:txBody>
      </p:sp>
      <p:sp>
        <p:nvSpPr>
          <p:cNvPr id="13" name="TextBox 12"/>
          <p:cNvSpPr txBox="1"/>
          <p:nvPr/>
        </p:nvSpPr>
        <p:spPr>
          <a:xfrm>
            <a:off x="6315303" y="2152374"/>
            <a:ext cx="2398699"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наблюдательное; день внедрения → сто пятидесятый</a:t>
            </a:r>
          </a:p>
        </p:txBody>
      </p:sp>
      <p:sp>
        <p:nvSpPr>
          <p:cNvPr id="14" name="Rounded Rectangle 13"/>
          <p:cNvSpPr/>
          <p:nvPr/>
        </p:nvSpPr>
        <p:spPr>
          <a:xfrm>
            <a:off x="9015755" y="1335024"/>
            <a:ext cx="2673019" cy="1735356"/>
          </a:xfrm>
          <a:prstGeom prst="roundRect">
            <a:avLst>
              <a:gd name="adj" fmla="val 17564"/>
            </a:avLst>
          </a:prstGeom>
          <a:solidFill>
            <a:srgbClr val="FFFFFF"/>
          </a:solidFill>
          <a:ln w="25400">
            <a:solidFill>
              <a:srgbClr val="F0AB00"/>
            </a:solidFill>
          </a:ln>
          <a:effectLst/>
        </p:spPr>
        <p:txBody>
          <a:bodyPr rtlCol="0" anchor="ctr"/>
          <a:lstStyle/>
          <a:p>
            <a:pPr algn="ctr"/>
          </a:p>
        </p:txBody>
      </p:sp>
      <p:sp>
        <p:nvSpPr>
          <p:cNvPr id="15" name="TextBox 14"/>
          <p:cNvSpPr txBox="1"/>
          <p:nvPr/>
        </p:nvSpPr>
        <p:spPr>
          <a:xfrm>
            <a:off x="9152915"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В СУММЕ</a:t>
            </a:r>
          </a:p>
        </p:txBody>
      </p:sp>
      <p:sp>
        <p:nvSpPr>
          <p:cNvPr id="16" name="TextBox 15"/>
          <p:cNvSpPr txBox="1"/>
          <p:nvPr/>
        </p:nvSpPr>
        <p:spPr>
          <a:xfrm>
            <a:off x="9152915" y="1725375"/>
            <a:ext cx="2398699" cy="1207845"/>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набор сократился, правка та же</a:t>
            </a:r>
          </a:p>
        </p:txBody>
      </p:sp>
      <p:sp>
        <p:nvSpPr>
          <p:cNvPr id="17" name="TextBox 16"/>
          <p:cNvSpPr txBox="1"/>
          <p:nvPr/>
        </p:nvSpPr>
        <p:spPr>
          <a:xfrm>
            <a:off x="502920" y="3289836"/>
            <a:ext cx="1307592" cy="438912"/>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Было</a:t>
            </a:r>
          </a:p>
        </p:txBody>
      </p:sp>
      <p:sp>
        <p:nvSpPr>
          <p:cNvPr id="18" name="Rounded Rectangle 17"/>
          <p:cNvSpPr/>
          <p:nvPr/>
        </p:nvSpPr>
        <p:spPr>
          <a:xfrm>
            <a:off x="2011680" y="3253260"/>
            <a:ext cx="9677095" cy="512064"/>
          </a:xfrm>
          <a:prstGeom prst="roundRect">
            <a:avLst>
              <a:gd name="adj" fmla="val 25000"/>
            </a:avLst>
          </a:prstGeom>
          <a:solidFill>
            <a:srgbClr val="F4F7FA"/>
          </a:solidFill>
          <a:ln w="15240">
            <a:solidFill>
              <a:srgbClr val="1C7293"/>
            </a:solidFill>
          </a:ln>
          <a:effectLst/>
        </p:spPr>
        <p:txBody>
          <a:bodyPr rtlCol="0" anchor="ctr"/>
          <a:lstStyle/>
          <a:p>
            <a:pPr algn="ctr"/>
          </a:p>
        </p:txBody>
      </p:sp>
      <p:sp>
        <p:nvSpPr>
          <p:cNvPr id="19" name="Rounded Rectangle 18"/>
          <p:cNvSpPr/>
          <p:nvPr/>
        </p:nvSpPr>
        <p:spPr>
          <a:xfrm>
            <a:off x="2103120" y="3280692"/>
            <a:ext cx="2099233" cy="457200"/>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20" name="TextBox 19"/>
          <p:cNvSpPr txBox="1"/>
          <p:nvPr/>
        </p:nvSpPr>
        <p:spPr>
          <a:xfrm>
            <a:off x="2185416" y="3326412"/>
            <a:ext cx="1934641" cy="365760"/>
          </a:xfrm>
          <a:prstGeom prst="rect">
            <a:avLst/>
          </a:prstGeom>
          <a:noFill/>
        </p:spPr>
        <p:txBody>
          <a:bodyPr wrap="square" lIns="0" rIns="0" tIns="0" bIns="0" anchor="ctr">
            <a:spAutoFit/>
          </a:bodyPr>
          <a:lstStyle/>
          <a:p>
            <a:pPr algn="ctr">
              <a:lnSpc>
                <a:spcPct val="110000"/>
              </a:lnSpc>
            </a:pPr>
            <a:r>
              <a:rPr sz="1350" b="0" i="0">
                <a:solidFill>
                  <a:srgbClr val="21295C"/>
                </a:solidFill>
                <a:latin typeface="Arial"/>
              </a:rPr>
              <a:t>набор текста</a:t>
            </a:r>
          </a:p>
        </p:txBody>
      </p:sp>
      <p:sp>
        <p:nvSpPr>
          <p:cNvPr id="21" name="Right Arrow 20"/>
          <p:cNvSpPr/>
          <p:nvPr/>
        </p:nvSpPr>
        <p:spPr>
          <a:xfrm>
            <a:off x="4248073" y="3440712"/>
            <a:ext cx="182880" cy="137160"/>
          </a:xfrm>
          <a:prstGeom prst="rightArrow">
            <a:avLst/>
          </a:prstGeom>
          <a:solidFill>
            <a:srgbClr val="1C7293"/>
          </a:solidFill>
          <a:ln>
            <a:noFill/>
          </a:ln>
          <a:effectLst/>
        </p:spPr>
        <p:txBody>
          <a:bodyPr rtlCol="0" anchor="ctr"/>
          <a:lstStyle/>
          <a:p>
            <a:pPr algn="ctr"/>
          </a:p>
        </p:txBody>
      </p:sp>
      <p:sp>
        <p:nvSpPr>
          <p:cNvPr id="22" name="Rounded Rectangle 21"/>
          <p:cNvSpPr/>
          <p:nvPr/>
        </p:nvSpPr>
        <p:spPr>
          <a:xfrm>
            <a:off x="4568113" y="3280692"/>
            <a:ext cx="2099233" cy="457200"/>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23" name="TextBox 22"/>
          <p:cNvSpPr txBox="1"/>
          <p:nvPr/>
        </p:nvSpPr>
        <p:spPr>
          <a:xfrm>
            <a:off x="4650409" y="3326412"/>
            <a:ext cx="1934641" cy="365760"/>
          </a:xfrm>
          <a:prstGeom prst="rect">
            <a:avLst/>
          </a:prstGeom>
          <a:noFill/>
        </p:spPr>
        <p:txBody>
          <a:bodyPr wrap="square" lIns="0" rIns="0" tIns="0" bIns="0" anchor="ctr">
            <a:spAutoFit/>
          </a:bodyPr>
          <a:lstStyle/>
          <a:p>
            <a:pPr algn="ctr">
              <a:lnSpc>
                <a:spcPct val="110000"/>
              </a:lnSpc>
            </a:pPr>
            <a:r>
              <a:rPr sz="1350" b="0" i="0">
                <a:solidFill>
                  <a:srgbClr val="21295C"/>
                </a:solidFill>
                <a:latin typeface="Arial"/>
              </a:rPr>
              <a:t>подпись</a:t>
            </a:r>
          </a:p>
        </p:txBody>
      </p:sp>
      <p:sp>
        <p:nvSpPr>
          <p:cNvPr id="24" name="TextBox 23"/>
          <p:cNvSpPr txBox="1"/>
          <p:nvPr/>
        </p:nvSpPr>
        <p:spPr>
          <a:xfrm>
            <a:off x="502920" y="3911628"/>
            <a:ext cx="1307592" cy="438912"/>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Стало</a:t>
            </a:r>
          </a:p>
        </p:txBody>
      </p:sp>
      <p:sp>
        <p:nvSpPr>
          <p:cNvPr id="25" name="Rounded Rectangle 24"/>
          <p:cNvSpPr/>
          <p:nvPr/>
        </p:nvSpPr>
        <p:spPr>
          <a:xfrm>
            <a:off x="2011680" y="3875052"/>
            <a:ext cx="9677095" cy="512064"/>
          </a:xfrm>
          <a:prstGeom prst="roundRect">
            <a:avLst>
              <a:gd name="adj" fmla="val 25000"/>
            </a:avLst>
          </a:prstGeom>
          <a:solidFill>
            <a:srgbClr val="F4F7FA"/>
          </a:solidFill>
          <a:ln w="15240">
            <a:solidFill>
              <a:srgbClr val="1C7293"/>
            </a:solidFill>
          </a:ln>
          <a:effectLst/>
        </p:spPr>
        <p:txBody>
          <a:bodyPr rtlCol="0" anchor="ctr"/>
          <a:lstStyle/>
          <a:p>
            <a:pPr algn="ctr"/>
          </a:p>
        </p:txBody>
      </p:sp>
      <p:sp>
        <p:nvSpPr>
          <p:cNvPr id="26" name="Rounded Rectangle 25"/>
          <p:cNvSpPr/>
          <p:nvPr/>
        </p:nvSpPr>
        <p:spPr>
          <a:xfrm>
            <a:off x="2103120" y="3902484"/>
            <a:ext cx="2099233" cy="457200"/>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27" name="TextBox 26"/>
          <p:cNvSpPr txBox="1"/>
          <p:nvPr/>
        </p:nvSpPr>
        <p:spPr>
          <a:xfrm>
            <a:off x="2185416" y="3948204"/>
            <a:ext cx="1934641" cy="365760"/>
          </a:xfrm>
          <a:prstGeom prst="rect">
            <a:avLst/>
          </a:prstGeom>
          <a:noFill/>
        </p:spPr>
        <p:txBody>
          <a:bodyPr wrap="square" lIns="0" rIns="0" tIns="0" bIns="0" anchor="ctr">
            <a:spAutoFit/>
          </a:bodyPr>
          <a:lstStyle/>
          <a:p>
            <a:pPr algn="ctr">
              <a:lnSpc>
                <a:spcPct val="110000"/>
              </a:lnSpc>
            </a:pPr>
            <a:r>
              <a:rPr sz="1350" b="0" i="0">
                <a:solidFill>
                  <a:srgbClr val="21295C"/>
                </a:solidFill>
                <a:latin typeface="Arial"/>
              </a:rPr>
              <a:t>разговор</a:t>
            </a:r>
          </a:p>
        </p:txBody>
      </p:sp>
      <p:sp>
        <p:nvSpPr>
          <p:cNvPr id="28" name="Right Arrow 27"/>
          <p:cNvSpPr/>
          <p:nvPr/>
        </p:nvSpPr>
        <p:spPr>
          <a:xfrm>
            <a:off x="4248073" y="4062504"/>
            <a:ext cx="182880" cy="137160"/>
          </a:xfrm>
          <a:prstGeom prst="rightArrow">
            <a:avLst/>
          </a:prstGeom>
          <a:solidFill>
            <a:srgbClr val="1C7293"/>
          </a:solidFill>
          <a:ln>
            <a:noFill/>
          </a:ln>
          <a:effectLst/>
        </p:spPr>
        <p:txBody>
          <a:bodyPr rtlCol="0" anchor="ctr"/>
          <a:lstStyle/>
          <a:p>
            <a:pPr algn="ctr"/>
          </a:p>
        </p:txBody>
      </p:sp>
      <p:sp>
        <p:nvSpPr>
          <p:cNvPr id="29" name="Rounded Rectangle 28"/>
          <p:cNvSpPr/>
          <p:nvPr/>
        </p:nvSpPr>
        <p:spPr>
          <a:xfrm>
            <a:off x="4568113" y="3902484"/>
            <a:ext cx="2099233" cy="457200"/>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30" name="TextBox 29"/>
          <p:cNvSpPr txBox="1"/>
          <p:nvPr/>
        </p:nvSpPr>
        <p:spPr>
          <a:xfrm>
            <a:off x="4650409" y="3948204"/>
            <a:ext cx="1934641" cy="365760"/>
          </a:xfrm>
          <a:prstGeom prst="rect">
            <a:avLst/>
          </a:prstGeom>
          <a:noFill/>
        </p:spPr>
        <p:txBody>
          <a:bodyPr wrap="square" lIns="0" rIns="0" tIns="0" bIns="0" anchor="ctr">
            <a:spAutoFit/>
          </a:bodyPr>
          <a:lstStyle/>
          <a:p>
            <a:pPr algn="ctr">
              <a:lnSpc>
                <a:spcPct val="110000"/>
              </a:lnSpc>
            </a:pPr>
            <a:r>
              <a:rPr sz="1350" b="0" i="0">
                <a:solidFill>
                  <a:srgbClr val="21295C"/>
                </a:solidFill>
                <a:latin typeface="Arial"/>
              </a:rPr>
              <a:t>черновик</a:t>
            </a:r>
          </a:p>
        </p:txBody>
      </p:sp>
      <p:sp>
        <p:nvSpPr>
          <p:cNvPr id="31" name="Right Arrow 30"/>
          <p:cNvSpPr/>
          <p:nvPr/>
        </p:nvSpPr>
        <p:spPr>
          <a:xfrm>
            <a:off x="6713067" y="4062504"/>
            <a:ext cx="182880" cy="137160"/>
          </a:xfrm>
          <a:prstGeom prst="rightArrow">
            <a:avLst/>
          </a:prstGeom>
          <a:solidFill>
            <a:srgbClr val="1C7293"/>
          </a:solidFill>
          <a:ln>
            <a:noFill/>
          </a:ln>
          <a:effectLst/>
        </p:spPr>
        <p:txBody>
          <a:bodyPr rtlCol="0" anchor="ctr"/>
          <a:lstStyle/>
          <a:p>
            <a:pPr algn="ctr"/>
          </a:p>
        </p:txBody>
      </p:sp>
      <p:sp>
        <p:nvSpPr>
          <p:cNvPr id="32" name="Rounded Rectangle 31"/>
          <p:cNvSpPr/>
          <p:nvPr/>
        </p:nvSpPr>
        <p:spPr>
          <a:xfrm>
            <a:off x="7033107" y="3902484"/>
            <a:ext cx="2099233" cy="457200"/>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33" name="TextBox 32"/>
          <p:cNvSpPr txBox="1"/>
          <p:nvPr/>
        </p:nvSpPr>
        <p:spPr>
          <a:xfrm>
            <a:off x="7115403" y="3948204"/>
            <a:ext cx="1934641" cy="365760"/>
          </a:xfrm>
          <a:prstGeom prst="rect">
            <a:avLst/>
          </a:prstGeom>
          <a:noFill/>
        </p:spPr>
        <p:txBody>
          <a:bodyPr wrap="square" lIns="0" rIns="0" tIns="0" bIns="0" anchor="ctr">
            <a:spAutoFit/>
          </a:bodyPr>
          <a:lstStyle/>
          <a:p>
            <a:pPr algn="ctr">
              <a:lnSpc>
                <a:spcPct val="110000"/>
              </a:lnSpc>
            </a:pPr>
            <a:r>
              <a:rPr sz="1350" b="0" i="0">
                <a:solidFill>
                  <a:srgbClr val="21295C"/>
                </a:solidFill>
                <a:latin typeface="Arial"/>
              </a:rPr>
              <a:t>вычитка</a:t>
            </a:r>
          </a:p>
        </p:txBody>
      </p:sp>
      <p:sp>
        <p:nvSpPr>
          <p:cNvPr id="34" name="Right Arrow 33"/>
          <p:cNvSpPr/>
          <p:nvPr/>
        </p:nvSpPr>
        <p:spPr>
          <a:xfrm>
            <a:off x="9178061" y="4062504"/>
            <a:ext cx="182880" cy="137160"/>
          </a:xfrm>
          <a:prstGeom prst="rightArrow">
            <a:avLst/>
          </a:prstGeom>
          <a:solidFill>
            <a:srgbClr val="1C7293"/>
          </a:solidFill>
          <a:ln>
            <a:noFill/>
          </a:ln>
          <a:effectLst/>
        </p:spPr>
        <p:txBody>
          <a:bodyPr rtlCol="0" anchor="ctr"/>
          <a:lstStyle/>
          <a:p>
            <a:pPr algn="ctr"/>
          </a:p>
        </p:txBody>
      </p:sp>
      <p:sp>
        <p:nvSpPr>
          <p:cNvPr id="35" name="Rounded Rectangle 34"/>
          <p:cNvSpPr/>
          <p:nvPr/>
        </p:nvSpPr>
        <p:spPr>
          <a:xfrm>
            <a:off x="9498101" y="3902484"/>
            <a:ext cx="2099233" cy="457200"/>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36" name="TextBox 35"/>
          <p:cNvSpPr txBox="1"/>
          <p:nvPr/>
        </p:nvSpPr>
        <p:spPr>
          <a:xfrm>
            <a:off x="9580397" y="3948204"/>
            <a:ext cx="1934641" cy="365760"/>
          </a:xfrm>
          <a:prstGeom prst="rect">
            <a:avLst/>
          </a:prstGeom>
          <a:noFill/>
        </p:spPr>
        <p:txBody>
          <a:bodyPr wrap="square" lIns="0" rIns="0" tIns="0" bIns="0" anchor="ctr">
            <a:spAutoFit/>
          </a:bodyPr>
          <a:lstStyle/>
          <a:p>
            <a:pPr algn="ctr">
              <a:lnSpc>
                <a:spcPct val="110000"/>
              </a:lnSpc>
            </a:pPr>
            <a:r>
              <a:rPr sz="1350" b="0" i="0">
                <a:solidFill>
                  <a:srgbClr val="21295C"/>
                </a:solidFill>
                <a:latin typeface="Arial"/>
              </a:rPr>
              <a:t>подпись</a:t>
            </a:r>
          </a:p>
        </p:txBody>
      </p:sp>
      <p:sp>
        <p:nvSpPr>
          <p:cNvPr id="37" name="TextBox 36"/>
          <p:cNvSpPr txBox="1"/>
          <p:nvPr/>
        </p:nvSpPr>
        <p:spPr>
          <a:xfrm>
            <a:off x="502920" y="4533420"/>
            <a:ext cx="1307592" cy="594826"/>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Поверх, другой рукой</a:t>
            </a:r>
          </a:p>
        </p:txBody>
      </p:sp>
      <p:sp>
        <p:nvSpPr>
          <p:cNvPr id="38" name="Rounded Rectangle 37"/>
          <p:cNvSpPr/>
          <p:nvPr/>
        </p:nvSpPr>
        <p:spPr>
          <a:xfrm>
            <a:off x="2011680" y="4496844"/>
            <a:ext cx="9677095" cy="667978"/>
          </a:xfrm>
          <a:prstGeom prst="roundRect">
            <a:avLst>
              <a:gd name="adj" fmla="val 25000"/>
            </a:avLst>
          </a:prstGeom>
          <a:solidFill>
            <a:srgbClr val="F4F7FA"/>
          </a:solidFill>
          <a:ln w="15240">
            <a:solidFill>
              <a:srgbClr val="1C7293"/>
            </a:solidFill>
          </a:ln>
          <a:effectLst/>
        </p:spPr>
        <p:txBody>
          <a:bodyPr rtlCol="0" anchor="ctr"/>
          <a:lstStyle/>
          <a:p>
            <a:pPr algn="ctr"/>
          </a:p>
        </p:txBody>
      </p:sp>
      <p:sp>
        <p:nvSpPr>
          <p:cNvPr id="39" name="Rounded Rectangle 38"/>
          <p:cNvSpPr/>
          <p:nvPr/>
        </p:nvSpPr>
        <p:spPr>
          <a:xfrm>
            <a:off x="2103120" y="4524276"/>
            <a:ext cx="2099233" cy="613114"/>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40" name="TextBox 39"/>
          <p:cNvSpPr txBox="1"/>
          <p:nvPr/>
        </p:nvSpPr>
        <p:spPr>
          <a:xfrm>
            <a:off x="2185416" y="4569996"/>
            <a:ext cx="1934641" cy="521674"/>
          </a:xfrm>
          <a:prstGeom prst="rect">
            <a:avLst/>
          </a:prstGeom>
          <a:noFill/>
        </p:spPr>
        <p:txBody>
          <a:bodyPr wrap="square" lIns="0" rIns="0" tIns="0" bIns="0" anchor="ctr">
            <a:spAutoFit/>
          </a:bodyPr>
          <a:lstStyle/>
          <a:p>
            <a:pPr algn="ctr">
              <a:lnSpc>
                <a:spcPct val="110000"/>
              </a:lnSpc>
            </a:pPr>
            <a:r>
              <a:rPr sz="1350" b="0" i="0">
                <a:solidFill>
                  <a:srgbClr val="21295C"/>
                </a:solidFill>
                <a:latin typeface="Arial"/>
              </a:rPr>
              <a:t>выборочный контроль заметок</a:t>
            </a:r>
          </a:p>
        </p:txBody>
      </p:sp>
      <p:sp>
        <p:nvSpPr>
          <p:cNvPr id="41" name="TextBox 40"/>
          <p:cNvSpPr txBox="1"/>
          <p:nvPr/>
        </p:nvSpPr>
        <p:spPr>
          <a:xfrm>
            <a:off x="502920" y="5237975"/>
            <a:ext cx="11185855" cy="215015"/>
          </a:xfrm>
          <a:prstGeom prst="rect">
            <a:avLst/>
          </a:prstGeom>
          <a:noFill/>
        </p:spPr>
        <p:txBody>
          <a:bodyPr wrap="square" lIns="0" rIns="0" tIns="0" bIns="0" anchor="t">
            <a:spAutoFit/>
          </a:bodyPr>
          <a:lstStyle/>
          <a:p>
            <a:pPr algn="l">
              <a:lnSpc>
                <a:spcPct val="114000"/>
              </a:lnSpc>
            </a:pPr>
            <a:r>
              <a:rPr sz="1200" b="0" i="1">
                <a:solidFill>
                  <a:srgbClr val="1C7293"/>
                </a:solidFill>
                <a:latin typeface="Arial"/>
              </a:rPr>
              <a:t>Две дорожки врача — и третья строка: операция, которую делает не он</a:t>
            </a:r>
          </a:p>
        </p:txBody>
      </p:sp>
      <p:sp>
        <p:nvSpPr>
          <p:cNvPr id="42" name="Rounded Rectangle 41"/>
          <p:cNvSpPr/>
          <p:nvPr/>
        </p:nvSpPr>
        <p:spPr>
          <a:xfrm>
            <a:off x="374904" y="5544430"/>
            <a:ext cx="11441887" cy="691777"/>
          </a:xfrm>
          <a:prstGeom prst="roundRect">
            <a:avLst>
              <a:gd name="adj" fmla="val 25000"/>
            </a:avLst>
          </a:prstGeom>
          <a:solidFill>
            <a:srgbClr val="F4F7FA"/>
          </a:solidFill>
          <a:ln w="19050">
            <a:solidFill>
              <a:srgbClr val="1C7293"/>
            </a:solidFill>
          </a:ln>
          <a:effectLst/>
        </p:spPr>
        <p:txBody>
          <a:bodyPr rtlCol="0" anchor="ctr"/>
          <a:lstStyle/>
          <a:p>
            <a:pPr algn="ctr"/>
          </a:p>
        </p:txBody>
      </p:sp>
      <p:sp>
        <p:nvSpPr>
          <p:cNvPr id="43" name="TextBox 42"/>
          <p:cNvSpPr txBox="1"/>
          <p:nvPr/>
        </p:nvSpPr>
        <p:spPr>
          <a:xfrm>
            <a:off x="539496" y="5635870"/>
            <a:ext cx="11112703" cy="600337"/>
          </a:xfrm>
          <a:prstGeom prst="rect">
            <a:avLst/>
          </a:prstGeom>
          <a:noFill/>
        </p:spPr>
        <p:txBody>
          <a:bodyPr wrap="square" lIns="0" rIns="0" tIns="0" bIns="0" anchor="t">
            <a:spAutoFit/>
          </a:bodyPr>
          <a:lstStyle/>
          <a:p>
            <a:pPr algn="l">
              <a:lnSpc>
                <a:spcPct val="126000"/>
              </a:lnSpc>
            </a:pPr>
            <a:r>
              <a:rPr sz="1250" b="1" i="0">
                <a:solidFill>
                  <a:srgbClr val="21295C"/>
                </a:solidFill>
                <a:latin typeface="Arial"/>
              </a:rPr>
              <a:t>Структуру записи врач держал в голове при пациенте, набирал текст после приёма, подписывал своё.</a:t>
            </a:r>
            <a:r>
              <a:rPr sz="1250" b="0" i="0">
                <a:solidFill>
                  <a:srgbClr val="21295C"/>
                </a:solidFill>
                <a:latin typeface="Arial"/>
              </a:rPr>
              <a:t> Теперь вычитывает чужое.</a:t>
            </a:r>
          </a:p>
          <a:p>
            <a:pPr algn="l">
              <a:lnSpc>
                <a:spcPct val="126000"/>
              </a:lnSpc>
              <a:spcBef>
                <a:spcPts val="700"/>
              </a:spcBef>
            </a:pPr>
            <a:r>
              <a:rPr sz="1250" b="0" i="0">
                <a:solidFill>
                  <a:srgbClr val="21295C"/>
                </a:solidFill>
                <a:latin typeface="Arial"/>
              </a:rPr>
              <a:t/>
            </a:r>
            <a:r>
              <a:rPr sz="1250" b="1" i="0">
                <a:solidFill>
                  <a:srgbClr val="21295C"/>
                </a:solidFill>
                <a:latin typeface="Arial"/>
              </a:rPr>
              <a:t>Пятую операцию делает не врач:</a:t>
            </a:r>
            <a:r>
              <a:rPr sz="1250" b="0" i="0">
                <a:solidFill>
                  <a:srgbClr val="21295C"/>
                </a:solidFill>
                <a:latin typeface="Arial"/>
              </a:rPr>
              <a:t> служба со своим штатом.</a:t>
            </a:r>
          </a:p>
        </p:txBody>
      </p:sp>
      <p:sp>
        <p:nvSpPr>
          <p:cNvPr id="44" name="Rectangle 43"/>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45" name="TextBox 44"/>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Отчёт службы контроля качества заметок одной клиники</a:t>
            </a:r>
            <a:r>
              <a:rPr sz="1200" b="0" i="1">
                <a:solidFill>
                  <a:srgbClr val="1C7293"/>
                </a:solidFill>
                <a:latin typeface="Arial"/>
              </a:rPr>
              <a:t> · </a:t>
            </a:r>
            <a:r>
              <a:rPr sz="1200" b="0" i="1" u="sng">
                <a:solidFill>
                  <a:srgbClr val="065A82"/>
                </a:solidFill>
                <a:latin typeface="Arial"/>
                <a:hlinkClick r:id="rId2"/>
              </a:rPr>
              <a:t>трёхрукое рандомизированное испытание, препринт medRxiv 2025</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Пример 2: выписной эпикриз</a:t>
            </a:r>
          </a:p>
        </p:txBody>
      </p:sp>
      <p:sp>
        <p:nvSpPr>
          <p:cNvPr id="4" name="Rounded Rectangle 3"/>
          <p:cNvSpPr/>
          <p:nvPr/>
        </p:nvSpPr>
        <p:spPr>
          <a:xfrm>
            <a:off x="502920" y="1335024"/>
            <a:ext cx="3618890" cy="1165753"/>
          </a:xfrm>
          <a:prstGeom prst="roundRect">
            <a:avLst>
              <a:gd name="adj" fmla="val 25000"/>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ПОЛНОТА: ЧЕЛОВЕК → МОДЕЛЬ</a:t>
            </a:r>
          </a:p>
        </p:txBody>
      </p:sp>
      <p:sp>
        <p:nvSpPr>
          <p:cNvPr id="6" name="TextBox 5"/>
          <p:cNvSpPr txBox="1"/>
          <p:nvPr/>
        </p:nvSpPr>
        <p:spPr>
          <a:xfrm>
            <a:off x="640080" y="1725375"/>
            <a:ext cx="3344570"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4,13 → 3,72</a:t>
            </a:r>
          </a:p>
        </p:txBody>
      </p:sp>
      <p:sp>
        <p:nvSpPr>
          <p:cNvPr id="7" name="TextBox 6"/>
          <p:cNvSpPr txBox="1"/>
          <p:nvPr/>
        </p:nvSpPr>
        <p:spPr>
          <a:xfrm>
            <a:off x="640080" y="2152374"/>
            <a:ext cx="3344570"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пятибалльная шкала</a:t>
            </a:r>
          </a:p>
        </p:txBody>
      </p:sp>
      <p:sp>
        <p:nvSpPr>
          <p:cNvPr id="8" name="Rounded Rectangle 7"/>
          <p:cNvSpPr/>
          <p:nvPr/>
        </p:nvSpPr>
        <p:spPr>
          <a:xfrm>
            <a:off x="4286402" y="1335024"/>
            <a:ext cx="3618890" cy="1165753"/>
          </a:xfrm>
          <a:prstGeom prst="roundRect">
            <a:avLst>
              <a:gd name="adj" fmla="val 25000"/>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4423562"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УНИКАЛЬНЫХ ОШИБОК НА ДОКУМЕНТ</a:t>
            </a:r>
          </a:p>
        </p:txBody>
      </p:sp>
      <p:sp>
        <p:nvSpPr>
          <p:cNvPr id="10" name="TextBox 9"/>
          <p:cNvSpPr txBox="1"/>
          <p:nvPr/>
        </p:nvSpPr>
        <p:spPr>
          <a:xfrm>
            <a:off x="4423562" y="1725375"/>
            <a:ext cx="3344570"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1,82 → 2,91</a:t>
            </a:r>
          </a:p>
        </p:txBody>
      </p:sp>
      <p:sp>
        <p:nvSpPr>
          <p:cNvPr id="11" name="TextBox 10"/>
          <p:cNvSpPr txBox="1"/>
          <p:nvPr/>
        </p:nvSpPr>
        <p:spPr>
          <a:xfrm>
            <a:off x="4423562" y="2152374"/>
            <a:ext cx="3344570"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человек → модель</a:t>
            </a:r>
          </a:p>
        </p:txBody>
      </p:sp>
      <p:sp>
        <p:nvSpPr>
          <p:cNvPr id="12" name="Rounded Rectangle 11"/>
          <p:cNvSpPr/>
          <p:nvPr/>
        </p:nvSpPr>
        <p:spPr>
          <a:xfrm>
            <a:off x="8069884" y="1335024"/>
            <a:ext cx="3618890" cy="1165753"/>
          </a:xfrm>
          <a:prstGeom prst="roundRect">
            <a:avLst>
              <a:gd name="adj" fmla="val 25000"/>
            </a:avLst>
          </a:prstGeom>
          <a:solidFill>
            <a:srgbClr val="FFFFFF"/>
          </a:solidFill>
          <a:ln w="25400">
            <a:solidFill>
              <a:srgbClr val="F0AB00"/>
            </a:solidFill>
          </a:ln>
          <a:effectLst/>
        </p:spPr>
        <p:txBody>
          <a:bodyPr rtlCol="0" anchor="ctr"/>
          <a:lstStyle/>
          <a:p>
            <a:pPr algn="ctr"/>
          </a:p>
        </p:txBody>
      </p:sp>
      <p:sp>
        <p:nvSpPr>
          <p:cNvPr id="13" name="TextBox 12"/>
          <p:cNvSpPr txBox="1"/>
          <p:nvPr/>
        </p:nvSpPr>
        <p:spPr>
          <a:xfrm>
            <a:off x="8207044"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ПОТЕНЦИАЛ ВРЕДА ОДНОЙ ОШИБКИ</a:t>
            </a:r>
          </a:p>
        </p:txBody>
      </p:sp>
      <p:sp>
        <p:nvSpPr>
          <p:cNvPr id="14" name="TextBox 13"/>
          <p:cNvSpPr txBox="1"/>
          <p:nvPr/>
        </p:nvSpPr>
        <p:spPr>
          <a:xfrm>
            <a:off x="8207044" y="1725375"/>
            <a:ext cx="3344570"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1,34 → 1,35</a:t>
            </a:r>
          </a:p>
        </p:txBody>
      </p:sp>
      <p:sp>
        <p:nvSpPr>
          <p:cNvPr id="15" name="TextBox 14"/>
          <p:cNvSpPr txBox="1"/>
          <p:nvPr/>
        </p:nvSpPr>
        <p:spPr>
          <a:xfrm>
            <a:off x="8207044" y="2152374"/>
            <a:ext cx="3344570"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из семи; не различаются</a:t>
            </a:r>
          </a:p>
        </p:txBody>
      </p:sp>
      <p:sp>
        <p:nvSpPr>
          <p:cNvPr id="16" name="Rounded Rectangle 15"/>
          <p:cNvSpPr/>
          <p:nvPr/>
        </p:nvSpPr>
        <p:spPr>
          <a:xfrm>
            <a:off x="374904" y="2592217"/>
            <a:ext cx="11441887" cy="2739709"/>
          </a:xfrm>
          <a:prstGeom prst="roundRect">
            <a:avLst>
              <a:gd name="adj" fmla="val 11125"/>
            </a:avLst>
          </a:prstGeom>
          <a:solidFill>
            <a:srgbClr val="F4F7FA"/>
          </a:solidFill>
          <a:ln w="19050">
            <a:solidFill>
              <a:srgbClr val="1C7293"/>
            </a:solidFill>
          </a:ln>
          <a:effectLst/>
        </p:spPr>
        <p:txBody>
          <a:bodyPr rtlCol="0" anchor="ctr"/>
          <a:lstStyle/>
          <a:p>
            <a:pPr algn="ctr"/>
          </a:p>
        </p:txBody>
      </p:sp>
      <p:sp>
        <p:nvSpPr>
          <p:cNvPr id="17" name="TextBox 16"/>
          <p:cNvSpPr txBox="1"/>
          <p:nvPr/>
        </p:nvSpPr>
        <p:spPr>
          <a:xfrm>
            <a:off x="539496" y="2683657"/>
            <a:ext cx="5373471" cy="3552550"/>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Модель собирает выписной документ; врач вычитывает и подписывает. </a:t>
            </a:r>
            <a:r>
              <a:rPr sz="1500" b="1" i="0">
                <a:solidFill>
                  <a:srgbClr val="21295C"/>
                </a:solidFill>
                <a:latin typeface="Arial"/>
              </a:rPr>
              <a:t>Вход — история болезни и дневниковые записи, выход — черновик повествовательной части; ни имени модели, ни обучающих данных работа не называет.</a:t>
            </a:r>
            <a:r>
              <a:rPr sz="1500" b="0" i="0">
                <a:solidFill>
                  <a:srgbClr val="21295C"/>
                </a:solidFill>
                <a:latin typeface="Arial"/>
              </a:rPr>
              <a:t> </a:t>
            </a:r>
            <a:r>
              <a:rPr sz="1500" b="0" i="1">
                <a:solidFill>
                  <a:srgbClr val="21295C"/>
                </a:solidFill>
                <a:latin typeface="Arial"/>
              </a:rPr>
              <a:t>Генерация на тексте.</a:t>
            </a:r>
          </a:p>
          <a:p>
            <a:pPr algn="l">
              <a:lnSpc>
                <a:spcPct val="126000"/>
              </a:lnSpc>
              <a:spcBef>
                <a:spcPts val="700"/>
              </a:spcBef>
            </a:pPr>
            <a:r>
              <a:rPr sz="1500" b="0" i="0">
                <a:solidFill>
                  <a:srgbClr val="21295C"/>
                </a:solidFill>
                <a:latin typeface="Arial"/>
              </a:rPr>
              <a:t/>
            </a:r>
            <a:r>
              <a:rPr sz="1500" b="1" i="0">
                <a:solidFill>
                  <a:srgbClr val="21295C"/>
                </a:solidFill>
                <a:latin typeface="Arial"/>
              </a:rPr>
              <a:t>Как измерено.</a:t>
            </a:r>
            <a:r>
              <a:rPr sz="1500" b="0" i="0">
                <a:solidFill>
                  <a:srgbClr val="21295C"/>
                </a:solidFill>
                <a:latin typeface="Arial"/>
              </a:rPr>
              <a:t> Сто госпитализаций, 22 врача-рецензента, каждый документ смотрели двое — и ни один не знал, где машинный текст.</a:t>
            </a:r>
          </a:p>
        </p:txBody>
      </p:sp>
      <p:sp>
        <p:nvSpPr>
          <p:cNvPr id="18" name="TextBox 17"/>
          <p:cNvSpPr txBox="1"/>
          <p:nvPr/>
        </p:nvSpPr>
        <p:spPr>
          <a:xfrm>
            <a:off x="6278727" y="2683657"/>
            <a:ext cx="5373471" cy="3552550"/>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 </a:t>
            </a:r>
            <a:r>
              <a:rPr sz="1500" b="1" i="0">
                <a:solidFill>
                  <a:srgbClr val="21295C"/>
                </a:solidFill>
                <a:latin typeface="Arial"/>
              </a:rPr>
              <a:t>общее качество сопоставимо</a:t>
            </a:r>
            <a:r>
              <a:rPr sz="1500" b="0" i="0">
                <a:solidFill>
                  <a:srgbClr val="21295C"/>
                </a:solidFill>
                <a:latin typeface="Arial"/>
              </a:rPr>
              <a:t> — 3,67 против 3,77</a:t>
            </a:r>
          </a:p>
          <a:p>
            <a:pPr algn="l">
              <a:lnSpc>
                <a:spcPct val="126000"/>
              </a:lnSpc>
              <a:spcBef>
                <a:spcPts val="700"/>
              </a:spcBef>
            </a:pPr>
            <a:r>
              <a:rPr sz="1500" b="0" i="0">
                <a:solidFill>
                  <a:srgbClr val="21295C"/>
                </a:solidFill>
                <a:latin typeface="Arial"/>
              </a:rPr>
              <a:t/>
            </a:r>
            <a:r>
              <a:rPr sz="1500" b="0" i="0">
                <a:solidFill>
                  <a:srgbClr val="21295C"/>
                </a:solidFill>
                <a:latin typeface="Arial"/>
              </a:rPr>
              <a:t>• </a:t>
            </a:r>
            <a:r>
              <a:rPr sz="1500" b="1" i="0">
                <a:solidFill>
                  <a:srgbClr val="21295C"/>
                </a:solidFill>
                <a:latin typeface="Arial"/>
              </a:rPr>
              <a:t>короче и связнее — и при этом менее полон</a:t>
            </a:r>
          </a:p>
          <a:p>
            <a:pPr algn="l">
              <a:lnSpc>
                <a:spcPct val="126000"/>
              </a:lnSpc>
              <a:spcBef>
                <a:spcPts val="700"/>
              </a:spcBef>
            </a:pPr>
            <a:r>
              <a:rPr sz="1500" b="0" i="0">
                <a:solidFill>
                  <a:srgbClr val="21295C"/>
                </a:solidFill>
                <a:latin typeface="Arial"/>
              </a:rPr>
              <a:t/>
            </a:r>
            <a:r>
              <a:rPr sz="1500" b="0" i="0">
                <a:solidFill>
                  <a:srgbClr val="21295C"/>
                </a:solidFill>
                <a:latin typeface="Arial"/>
              </a:rPr>
              <a:t>• </a:t>
            </a:r>
            <a:r>
              <a:rPr sz="1500" b="1" i="0">
                <a:solidFill>
                  <a:srgbClr val="21295C"/>
                </a:solidFill>
                <a:latin typeface="Arial"/>
              </a:rPr>
              <a:t>ошибок больше, каждая не страшнее</a:t>
            </a:r>
          </a:p>
          <a:p>
            <a:pPr algn="l">
              <a:lnSpc>
                <a:spcPct val="126000"/>
              </a:lnSpc>
              <a:spcBef>
                <a:spcPts val="700"/>
              </a:spcBef>
            </a:pPr>
            <a:r>
              <a:rPr sz="1500" b="0" i="0">
                <a:solidFill>
                  <a:srgbClr val="21295C"/>
                </a:solidFill>
                <a:latin typeface="Arial"/>
              </a:rPr>
              <a:t/>
            </a:r>
            <a:r>
              <a:rPr sz="1500" b="1" i="0">
                <a:solidFill>
                  <a:srgbClr val="21295C"/>
                </a:solidFill>
                <a:latin typeface="Arial"/>
              </a:rPr>
              <a:t>Сместилась цена ошибки:</a:t>
            </a:r>
            <a:r>
              <a:rPr sz="1500" b="0" i="0">
                <a:solidFill>
                  <a:srgbClr val="21295C"/>
                </a:solidFill>
                <a:latin typeface="Arial"/>
              </a:rPr>
              <a:t> пишет тот же человек, а стоит пропущенная строка другого.</a:t>
            </a:r>
          </a:p>
          <a:p>
            <a:pPr algn="l">
              <a:lnSpc>
                <a:spcPct val="126000"/>
              </a:lnSpc>
              <a:spcBef>
                <a:spcPts val="700"/>
              </a:spcBef>
            </a:pPr>
            <a:r>
              <a:rPr sz="1200" b="0" i="0">
                <a:solidFill>
                  <a:srgbClr val="21295C"/>
                </a:solidFill>
                <a:latin typeface="Arial"/>
              </a:rPr>
              <a:t/>
            </a:r>
            <a:r>
              <a:rPr sz="1200" b="0" i="1">
                <a:solidFill>
                  <a:srgbClr val="1C7293"/>
                </a:solidFill>
                <a:latin typeface="Arial"/>
              </a:rPr>
              <a:t>Слепое сравнение 100 госпитализаций, 22 рецензента.</a:t>
            </a:r>
          </a:p>
        </p:txBody>
      </p:sp>
      <p:sp>
        <p:nvSpPr>
          <p:cNvPr id="19" name="Rectangle 18"/>
          <p:cNvSpPr/>
          <p:nvPr/>
        </p:nvSpPr>
        <p:spPr>
          <a:xfrm>
            <a:off x="6091275" y="2683657"/>
            <a:ext cx="9144" cy="2465389"/>
          </a:xfrm>
          <a:prstGeom prst="rect">
            <a:avLst/>
          </a:prstGeom>
          <a:solidFill>
            <a:srgbClr val="D9E2EC"/>
          </a:solidFill>
          <a:ln>
            <a:noFill/>
          </a:ln>
          <a:effectLst/>
        </p:spPr>
        <p:txBody>
          <a:bodyPr rtlCol="0" anchor="ctr"/>
          <a:lstStyle/>
          <a:p>
            <a:pPr algn="ctr"/>
          </a:p>
        </p:txBody>
      </p:sp>
      <p:sp>
        <p:nvSpPr>
          <p:cNvPr id="20" name="Rectangle 19"/>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21" name="TextBox 20"/>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Слепое сравнение ста госпитализаций, JAMA Internal Medicine 2025</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Пример 2, цена: вычитка другого рода</a:t>
            </a:r>
          </a:p>
        </p:txBody>
      </p:sp>
      <p:sp>
        <p:nvSpPr>
          <p:cNvPr id="4" name="Rounded Rectangle 3"/>
          <p:cNvSpPr/>
          <p:nvPr/>
        </p:nvSpPr>
        <p:spPr>
          <a:xfrm>
            <a:off x="502920" y="1335024"/>
            <a:ext cx="2673019" cy="1974891"/>
          </a:xfrm>
          <a:prstGeom prst="roundRect">
            <a:avLst>
              <a:gd name="adj" fmla="val 15433"/>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2398699"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МАШИННОЕ СОДЕРЖАНИЕ ИСПОЛЬЗОВАЛИ</a:t>
            </a:r>
          </a:p>
        </p:txBody>
      </p:sp>
      <p:sp>
        <p:nvSpPr>
          <p:cNvPr id="6" name="TextBox 5"/>
          <p:cNvSpPr txBox="1"/>
          <p:nvPr/>
        </p:nvSpPr>
        <p:spPr>
          <a:xfrm>
            <a:off x="640080" y="1932846"/>
            <a:ext cx="2398699"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в 219 выписках из 384</a:t>
            </a:r>
          </a:p>
        </p:txBody>
      </p:sp>
      <p:sp>
        <p:nvSpPr>
          <p:cNvPr id="7" name="TextBox 6"/>
          <p:cNvSpPr txBox="1"/>
          <p:nvPr/>
        </p:nvSpPr>
        <p:spPr>
          <a:xfrm>
            <a:off x="640080" y="2750268"/>
            <a:ext cx="2398699"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единица — выписки; сводок было 1 274</a:t>
            </a:r>
          </a:p>
        </p:txBody>
      </p:sp>
      <p:sp>
        <p:nvSpPr>
          <p:cNvPr id="8" name="Rounded Rectangle 7"/>
          <p:cNvSpPr/>
          <p:nvPr/>
        </p:nvSpPr>
        <p:spPr>
          <a:xfrm>
            <a:off x="3340531" y="1335024"/>
            <a:ext cx="2673019" cy="1974891"/>
          </a:xfrm>
          <a:prstGeom prst="roundRect">
            <a:avLst>
              <a:gd name="adj" fmla="val 15433"/>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3477691"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НА СОТНЕ СВОДОК</a:t>
            </a:r>
          </a:p>
        </p:txBody>
      </p:sp>
      <p:sp>
        <p:nvSpPr>
          <p:cNvPr id="10" name="TextBox 9"/>
          <p:cNvSpPr txBox="1"/>
          <p:nvPr/>
        </p:nvSpPr>
        <p:spPr>
          <a:xfrm>
            <a:off x="3477691" y="1725375"/>
            <a:ext cx="2398699" cy="528848"/>
          </a:xfrm>
          <a:prstGeom prst="rect">
            <a:avLst/>
          </a:prstGeom>
          <a:noFill/>
        </p:spPr>
        <p:txBody>
          <a:bodyPr wrap="square" lIns="0" rIns="0" tIns="0" bIns="0" anchor="t">
            <a:spAutoFit/>
          </a:bodyPr>
          <a:lstStyle/>
          <a:p>
            <a:pPr algn="l">
              <a:lnSpc>
                <a:spcPct val="108000"/>
              </a:lnSpc>
            </a:pPr>
            <a:r>
              <a:rPr sz="1450" b="1" i="0">
                <a:solidFill>
                  <a:srgbClr val="21295C"/>
                </a:solidFill>
                <a:latin typeface="Arial"/>
              </a:rPr>
              <a:t>25 пропусков · 20 неточностей · 2 выдумки</a:t>
            </a:r>
          </a:p>
        </p:txBody>
      </p:sp>
      <p:sp>
        <p:nvSpPr>
          <p:cNvPr id="11" name="Rounded Rectangle 10"/>
          <p:cNvSpPr/>
          <p:nvPr/>
        </p:nvSpPr>
        <p:spPr>
          <a:xfrm>
            <a:off x="6178143" y="1335024"/>
            <a:ext cx="2673019" cy="1974891"/>
          </a:xfrm>
          <a:prstGeom prst="roundRect">
            <a:avLst>
              <a:gd name="adj" fmla="val 15433"/>
            </a:avLst>
          </a:prstGeom>
          <a:solidFill>
            <a:srgbClr val="F4F7FA"/>
          </a:solidFill>
          <a:ln w="15240">
            <a:solidFill>
              <a:srgbClr val="1C7293"/>
            </a:solidFill>
          </a:ln>
          <a:effectLst/>
        </p:spPr>
        <p:txBody>
          <a:bodyPr rtlCol="0" anchor="ctr"/>
          <a:lstStyle/>
          <a:p>
            <a:pPr algn="ctr"/>
          </a:p>
        </p:txBody>
      </p:sp>
      <p:sp>
        <p:nvSpPr>
          <p:cNvPr id="12" name="TextBox 11"/>
          <p:cNvSpPr txBox="1"/>
          <p:nvPr/>
        </p:nvSpPr>
        <p:spPr>
          <a:xfrm>
            <a:off x="6315303" y="1472184"/>
            <a:ext cx="2398699"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ИЗ СТА НЕПРАВЛЕНЫХ СВОДОК</a:t>
            </a:r>
          </a:p>
        </p:txBody>
      </p:sp>
      <p:sp>
        <p:nvSpPr>
          <p:cNvPr id="13" name="TextBox 12"/>
          <p:cNvSpPr txBox="1"/>
          <p:nvPr/>
        </p:nvSpPr>
        <p:spPr>
          <a:xfrm>
            <a:off x="6315303" y="1932846"/>
            <a:ext cx="2398699" cy="715572"/>
          </a:xfrm>
          <a:prstGeom prst="rect">
            <a:avLst/>
          </a:prstGeom>
          <a:noFill/>
        </p:spPr>
        <p:txBody>
          <a:bodyPr wrap="square" lIns="0" rIns="0" tIns="0" bIns="0" anchor="t">
            <a:spAutoFit/>
          </a:bodyPr>
          <a:lstStyle/>
          <a:p>
            <a:pPr algn="l">
              <a:lnSpc>
                <a:spcPct val="108000"/>
              </a:lnSpc>
            </a:pPr>
            <a:r>
              <a:rPr sz="2000" b="1" i="0">
                <a:solidFill>
                  <a:srgbClr val="21295C"/>
                </a:solidFill>
                <a:latin typeface="Arial"/>
              </a:rPr>
              <a:t>88 без потенциала вреда</a:t>
            </a:r>
          </a:p>
        </p:txBody>
      </p:sp>
      <p:sp>
        <p:nvSpPr>
          <p:cNvPr id="14" name="TextBox 13"/>
          <p:cNvSpPr txBox="1"/>
          <p:nvPr/>
        </p:nvSpPr>
        <p:spPr>
          <a:xfrm>
            <a:off x="6315303" y="2648419"/>
            <a:ext cx="2398699"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1 умеренный · 0 тяжёлого</a:t>
            </a:r>
          </a:p>
        </p:txBody>
      </p:sp>
      <p:sp>
        <p:nvSpPr>
          <p:cNvPr id="15" name="Rounded Rectangle 14"/>
          <p:cNvSpPr/>
          <p:nvPr/>
        </p:nvSpPr>
        <p:spPr>
          <a:xfrm>
            <a:off x="9015755" y="1335024"/>
            <a:ext cx="2673019" cy="1974891"/>
          </a:xfrm>
          <a:prstGeom prst="roundRect">
            <a:avLst>
              <a:gd name="adj" fmla="val 15433"/>
            </a:avLst>
          </a:prstGeom>
          <a:solidFill>
            <a:srgbClr val="FFFFFF"/>
          </a:solidFill>
          <a:ln w="25400">
            <a:solidFill>
              <a:srgbClr val="F0AB00"/>
            </a:solidFill>
          </a:ln>
          <a:effectLst/>
        </p:spPr>
        <p:txBody>
          <a:bodyPr rtlCol="0" anchor="ctr"/>
          <a:lstStyle/>
          <a:p>
            <a:pPr algn="ctr"/>
          </a:p>
        </p:txBody>
      </p:sp>
      <p:sp>
        <p:nvSpPr>
          <p:cNvPr id="16" name="TextBox 15"/>
          <p:cNvSpPr txBox="1"/>
          <p:nvPr/>
        </p:nvSpPr>
        <p:spPr>
          <a:xfrm>
            <a:off x="9152915"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ТРОЙКА ИЗ ПЕРЕСКАЗОВ</a:t>
            </a:r>
          </a:p>
        </p:txBody>
      </p:sp>
      <p:sp>
        <p:nvSpPr>
          <p:cNvPr id="17" name="TextBox 16"/>
          <p:cNvSpPr txBox="1"/>
          <p:nvPr/>
        </p:nvSpPr>
        <p:spPr>
          <a:xfrm>
            <a:off x="9152915" y="1725375"/>
            <a:ext cx="2398699" cy="817422"/>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ни в одной из трёх работ</a:t>
            </a:r>
          </a:p>
        </p:txBody>
      </p:sp>
      <p:sp>
        <p:nvSpPr>
          <p:cNvPr id="18" name="Rounded Rectangle 17"/>
          <p:cNvSpPr/>
          <p:nvPr/>
        </p:nvSpPr>
        <p:spPr>
          <a:xfrm>
            <a:off x="374904" y="3401355"/>
            <a:ext cx="11441887" cy="2442647"/>
          </a:xfrm>
          <a:prstGeom prst="roundRect">
            <a:avLst>
              <a:gd name="adj" fmla="val 12478"/>
            </a:avLst>
          </a:prstGeom>
          <a:solidFill>
            <a:srgbClr val="F4F7FA"/>
          </a:solidFill>
          <a:ln w="19050">
            <a:solidFill>
              <a:srgbClr val="1C7293"/>
            </a:solidFill>
          </a:ln>
          <a:effectLst/>
        </p:spPr>
        <p:txBody>
          <a:bodyPr rtlCol="0" anchor="ctr"/>
          <a:lstStyle/>
          <a:p>
            <a:pPr algn="ctr"/>
          </a:p>
        </p:txBody>
      </p:sp>
      <p:sp>
        <p:nvSpPr>
          <p:cNvPr id="19" name="TextBox 18"/>
          <p:cNvSpPr txBox="1"/>
          <p:nvPr/>
        </p:nvSpPr>
        <p:spPr>
          <a:xfrm>
            <a:off x="539496" y="3492795"/>
            <a:ext cx="5373471" cy="2743412"/>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Эпикриз при выписке писал и подписывал лечащий врач</a:t>
            </a:r>
            <a:r>
              <a:rPr sz="1500" b="0" i="0">
                <a:solidFill>
                  <a:srgbClr val="21295C"/>
                </a:solidFill>
                <a:latin typeface="Arial"/>
              </a:rPr>
              <a:t>; в учебных клиниках черновик готовил ординатор под его подпись — режим без числа.</a:t>
            </a:r>
          </a:p>
          <a:p>
            <a:pPr algn="l">
              <a:lnSpc>
                <a:spcPct val="126000"/>
              </a:lnSpc>
              <a:spcBef>
                <a:spcPts val="700"/>
              </a:spcBef>
            </a:pPr>
            <a:r>
              <a:rPr sz="1500" b="0" i="0">
                <a:solidFill>
                  <a:srgbClr val="21295C"/>
                </a:solidFill>
                <a:latin typeface="Arial"/>
              </a:rPr>
              <a:t/>
            </a:r>
            <a:r>
              <a:rPr sz="1500" b="1" i="0">
                <a:solidFill>
                  <a:srgbClr val="21295C"/>
                </a:solidFill>
                <a:latin typeface="Arial"/>
              </a:rPr>
              <a:t>Вычитка не исчезла — сменила предмет.</a:t>
            </a:r>
            <a:r>
              <a:rPr sz="1500" b="0" i="0">
                <a:solidFill>
                  <a:srgbClr val="21295C"/>
                </a:solidFill>
                <a:latin typeface="Arial"/>
              </a:rPr>
              <a:t> Прежний глаз настроен на опечатку. Искать надо связное, уместное по стилю утверждение, которого в истории болезни не было. </a:t>
            </a:r>
            <a:r>
              <a:rPr sz="1500" b="1" i="0">
                <a:solidFill>
                  <a:srgbClr val="21295C"/>
                </a:solidFill>
                <a:latin typeface="Arial"/>
              </a:rPr>
              <a:t>Этому чтению никто не учит.</a:t>
            </a:r>
          </a:p>
        </p:txBody>
      </p:sp>
      <p:sp>
        <p:nvSpPr>
          <p:cNvPr id="20" name="TextBox 19"/>
          <p:cNvSpPr txBox="1"/>
          <p:nvPr/>
        </p:nvSpPr>
        <p:spPr>
          <a:xfrm>
            <a:off x="6278727" y="3492795"/>
            <a:ext cx="5373471" cy="2743412"/>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Работа существует — это ничего не подтверждает. Ссылка проверяется по тому, считает ли она ровно эту величину.</a:t>
            </a:r>
            <a:r>
              <a:rPr sz="1500" b="0" i="0">
                <a:solidFill>
                  <a:srgbClr val="21295C"/>
                </a:solidFill>
                <a:latin typeface="Arial"/>
              </a:rPr>
              <a:t> Не считает ни одна из трёх.</a:t>
            </a:r>
          </a:p>
          <a:p>
            <a:pPr algn="l">
              <a:lnSpc>
                <a:spcPct val="126000"/>
              </a:lnSpc>
              <a:spcBef>
                <a:spcPts val="700"/>
              </a:spcBef>
            </a:pPr>
            <a:r>
              <a:rPr sz="1200" b="0" i="0">
                <a:solidFill>
                  <a:srgbClr val="21295C"/>
                </a:solidFill>
                <a:latin typeface="Arial"/>
              </a:rPr>
              <a:t/>
            </a:r>
            <a:r>
              <a:rPr sz="1200" b="0" i="1">
                <a:solidFill>
                  <a:srgbClr val="1C7293"/>
                </a:solidFill>
                <a:latin typeface="Arial"/>
              </a:rPr>
              <a:t>Проспективный пилот и слепое сравнение — две разные работы.</a:t>
            </a:r>
          </a:p>
        </p:txBody>
      </p:sp>
      <p:sp>
        <p:nvSpPr>
          <p:cNvPr id="21" name="Rectangle 20"/>
          <p:cNvSpPr/>
          <p:nvPr/>
        </p:nvSpPr>
        <p:spPr>
          <a:xfrm>
            <a:off x="6091275" y="3492795"/>
            <a:ext cx="9144" cy="2168327"/>
          </a:xfrm>
          <a:prstGeom prst="rect">
            <a:avLst/>
          </a:prstGeom>
          <a:solidFill>
            <a:srgbClr val="D9E2EC"/>
          </a:solidFill>
          <a:ln>
            <a:noFill/>
          </a:ln>
          <a:effectLst/>
        </p:spPr>
        <p:txBody>
          <a:bodyPr rtlCol="0" anchor="ctr"/>
          <a:lstStyle/>
          <a:p>
            <a:pPr algn="ctr"/>
          </a:p>
        </p:txBody>
      </p:sp>
      <p:sp>
        <p:nvSpPr>
          <p:cNvPr id="22" name="Rectangle 21"/>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23" name="TextBox 22"/>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Проспективный пилот, JAMA Network Open 2026</a:t>
            </a:r>
            <a:r>
              <a:rPr sz="1200" b="0" i="1">
                <a:solidFill>
                  <a:srgbClr val="1C7293"/>
                </a:solidFill>
                <a:latin typeface="Arial"/>
              </a:rPr>
              <a:t> · </a:t>
            </a:r>
            <a:r>
              <a:rPr sz="1200" b="0" i="1" u="sng">
                <a:solidFill>
                  <a:srgbClr val="065A82"/>
                </a:solidFill>
                <a:latin typeface="Arial"/>
                <a:hlinkClick r:id="rId3"/>
              </a:rPr>
              <a:t>слепое сравнение, JAMA Internal Medicine 2025</a:t>
            </a:r>
            <a:r>
              <a:rPr sz="1200" b="0" i="1">
                <a:solidFill>
                  <a:srgbClr val="1C7293"/>
                </a:solidFill>
                <a:latin typeface="Arial"/>
              </a:rPr>
              <a:t> · </a:t>
            </a:r>
            <a:r>
              <a:rPr sz="1200" b="0" i="1" u="sng">
                <a:solidFill>
                  <a:srgbClr val="065A82"/>
                </a:solidFill>
                <a:latin typeface="Arial"/>
                <a:hlinkClick r:id="rId4"/>
              </a:rPr>
              <a:t>Cureus 2026</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566459"/>
          </a:xfrm>
          <a:prstGeom prst="rect">
            <a:avLst/>
          </a:prstGeom>
          <a:noFill/>
        </p:spPr>
        <p:txBody>
          <a:bodyPr wrap="square" lIns="0" rIns="0" tIns="0" bIns="0" anchor="t">
            <a:spAutoFit/>
          </a:bodyPr>
          <a:lstStyle/>
          <a:p>
            <a:pPr algn="l">
              <a:lnSpc>
                <a:spcPct val="106000"/>
              </a:lnSpc>
            </a:pPr>
            <a:r>
              <a:rPr sz="3400" b="1" i="0">
                <a:solidFill>
                  <a:srgbClr val="21295C"/>
                </a:solidFill>
                <a:latin typeface="Arial"/>
              </a:rPr>
              <a:t>9,5 % времени в заметке</a:t>
            </a:r>
          </a:p>
        </p:txBody>
      </p:sp>
      <p:sp>
        <p:nvSpPr>
          <p:cNvPr id="4" name="TextBox 3"/>
          <p:cNvSpPr txBox="1"/>
          <p:nvPr/>
        </p:nvSpPr>
        <p:spPr>
          <a:xfrm>
            <a:off x="502920" y="977939"/>
            <a:ext cx="11185855" cy="268769"/>
          </a:xfrm>
          <a:prstGeom prst="rect">
            <a:avLst/>
          </a:prstGeom>
          <a:noFill/>
        </p:spPr>
        <p:txBody>
          <a:bodyPr wrap="square" lIns="0" rIns="0" tIns="0" bIns="0" anchor="t">
            <a:spAutoFit/>
          </a:bodyPr>
          <a:lstStyle/>
          <a:p>
            <a:pPr algn="l">
              <a:lnSpc>
                <a:spcPct val="114000"/>
              </a:lnSpc>
            </a:pPr>
            <a:r>
              <a:rPr sz="1500" b="0" i="0">
                <a:solidFill>
                  <a:srgbClr val="065A82"/>
                </a:solidFill>
                <a:latin typeface="Arial"/>
              </a:rPr>
              <a:t>Ведение документации: вся измеренная экономия стадии</a:t>
            </a:r>
          </a:p>
        </p:txBody>
      </p:sp>
      <p:sp>
        <p:nvSpPr>
          <p:cNvPr id="5" name="Rounded Rectangle 4"/>
          <p:cNvSpPr/>
          <p:nvPr/>
        </p:nvSpPr>
        <p:spPr>
          <a:xfrm>
            <a:off x="374904" y="1379297"/>
            <a:ext cx="11441887" cy="2234486"/>
          </a:xfrm>
          <a:prstGeom prst="roundRect">
            <a:avLst>
              <a:gd name="adj" fmla="val 13640"/>
            </a:avLst>
          </a:prstGeom>
          <a:solidFill>
            <a:srgbClr val="F4F7FA"/>
          </a:solidFill>
          <a:ln w="19050">
            <a:solidFill>
              <a:srgbClr val="1C7293"/>
            </a:solidFill>
          </a:ln>
          <a:effectLst/>
        </p:spPr>
        <p:txBody>
          <a:bodyPr rtlCol="0" anchor="ctr"/>
          <a:lstStyle/>
          <a:p>
            <a:pPr algn="ctr"/>
          </a:p>
        </p:txBody>
      </p:sp>
      <p:sp>
        <p:nvSpPr>
          <p:cNvPr id="6" name="TextBox 5"/>
          <p:cNvSpPr txBox="1"/>
          <p:nvPr/>
        </p:nvSpPr>
        <p:spPr>
          <a:xfrm>
            <a:off x="539496" y="1470737"/>
            <a:ext cx="5373471" cy="4765470"/>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Это у одного инструмента из двух:</a:t>
            </a:r>
            <a:r>
              <a:rPr sz="1500" b="0" i="0">
                <a:solidFill>
                  <a:srgbClr val="21295C"/>
                </a:solidFill>
                <a:latin typeface="Arial"/>
              </a:rPr>
              <a:t> у второго экономии нет. </a:t>
            </a:r>
            <a:r>
              <a:rPr sz="1500" b="1" i="0">
                <a:solidFill>
                  <a:srgbClr val="21295C"/>
                </a:solidFill>
                <a:latin typeface="Arial"/>
              </a:rPr>
              <a:t>Активное время правки не сдвинулось ни у одного.</a:t>
            </a:r>
          </a:p>
          <a:p>
            <a:pPr algn="l">
              <a:lnSpc>
                <a:spcPct val="126000"/>
              </a:lnSpc>
              <a:spcBef>
                <a:spcPts val="700"/>
              </a:spcBef>
            </a:pPr>
            <a:r>
              <a:rPr sz="1500" b="0" i="0">
                <a:solidFill>
                  <a:srgbClr val="21295C"/>
                </a:solidFill>
                <a:latin typeface="Arial"/>
              </a:rPr>
              <a:t/>
            </a:r>
            <a:r>
              <a:rPr sz="1500" b="0" i="0">
                <a:solidFill>
                  <a:srgbClr val="21295C"/>
                </a:solidFill>
                <a:latin typeface="Arial"/>
              </a:rPr>
              <a:t>• </a:t>
            </a:r>
            <a:r>
              <a:rPr sz="1500" b="1" i="0">
                <a:solidFill>
                  <a:srgbClr val="21295C"/>
                </a:solidFill>
                <a:latin typeface="Arial"/>
              </a:rPr>
              <a:t>нагрузка переехала</a:t>
            </a:r>
            <a:r>
              <a:rPr sz="1500" b="0" i="0">
                <a:solidFill>
                  <a:srgbClr val="21295C"/>
                </a:solidFill>
                <a:latin typeface="Arial"/>
              </a:rPr>
              <a:t> с набора на вычитку</a:t>
            </a:r>
          </a:p>
          <a:p>
            <a:pPr algn="l">
              <a:lnSpc>
                <a:spcPct val="126000"/>
              </a:lnSpc>
              <a:spcBef>
                <a:spcPts val="700"/>
              </a:spcBef>
            </a:pPr>
            <a:r>
              <a:rPr sz="1500" b="0" i="0">
                <a:solidFill>
                  <a:srgbClr val="21295C"/>
                </a:solidFill>
                <a:latin typeface="Arial"/>
              </a:rPr>
              <a:t/>
            </a:r>
            <a:r>
              <a:rPr sz="1500" b="0" i="0">
                <a:solidFill>
                  <a:srgbClr val="21295C"/>
                </a:solidFill>
                <a:latin typeface="Arial"/>
              </a:rPr>
              <a:t>• </a:t>
            </a:r>
            <a:r>
              <a:rPr sz="1500" b="1" i="0">
                <a:solidFill>
                  <a:srgbClr val="21295C"/>
                </a:solidFill>
                <a:latin typeface="Arial"/>
              </a:rPr>
              <a:t>появился шаг</a:t>
            </a:r>
            <a:r>
              <a:rPr sz="1500" b="0" i="0">
                <a:solidFill>
                  <a:srgbClr val="21295C"/>
                </a:solidFill>
                <a:latin typeface="Arial"/>
              </a:rPr>
              <a:t> — выборочный контроль заметок со штатом</a:t>
            </a:r>
          </a:p>
        </p:txBody>
      </p:sp>
      <p:sp>
        <p:nvSpPr>
          <p:cNvPr id="7" name="TextBox 6"/>
          <p:cNvSpPr txBox="1"/>
          <p:nvPr/>
        </p:nvSpPr>
        <p:spPr>
          <a:xfrm>
            <a:off x="6278727" y="1470737"/>
            <a:ext cx="5373471" cy="4765470"/>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 </a:t>
            </a:r>
            <a:r>
              <a:rPr sz="1500" b="1" i="0">
                <a:solidFill>
                  <a:srgbClr val="21295C"/>
                </a:solidFill>
                <a:latin typeface="Arial"/>
              </a:rPr>
              <a:t>15 791 заявленный час</a:t>
            </a:r>
            <a:r>
              <a:rPr sz="1500" b="0" i="0">
                <a:solidFill>
                  <a:srgbClr val="21295C"/>
                </a:solidFill>
                <a:latin typeface="Arial"/>
              </a:rPr>
              <a:t> подтвердить нельзя: методики счёта нет</a:t>
            </a:r>
          </a:p>
          <a:p>
            <a:pPr algn="l">
              <a:lnSpc>
                <a:spcPct val="126000"/>
              </a:lnSpc>
              <a:spcBef>
                <a:spcPts val="700"/>
              </a:spcBef>
            </a:pPr>
            <a:r>
              <a:rPr sz="1500" b="0" i="0">
                <a:solidFill>
                  <a:srgbClr val="21295C"/>
                </a:solidFill>
                <a:latin typeface="Arial"/>
              </a:rPr>
              <a:t/>
            </a:r>
            <a:r>
              <a:rPr sz="1500" b="0" i="0">
                <a:solidFill>
                  <a:srgbClr val="21295C"/>
                </a:solidFill>
                <a:latin typeface="Arial"/>
              </a:rPr>
              <a:t>• </a:t>
            </a:r>
            <a:r>
              <a:rPr sz="1500" b="1" i="0">
                <a:solidFill>
                  <a:srgbClr val="21295C"/>
                </a:solidFill>
                <a:latin typeface="Arial"/>
              </a:rPr>
              <a:t>полнее не пишет</a:t>
            </a:r>
            <a:r>
              <a:rPr sz="1500" b="0" i="0">
                <a:solidFill>
                  <a:srgbClr val="21295C"/>
                </a:solidFill>
                <a:latin typeface="Arial"/>
              </a:rPr>
              <a:t> — 3,72 против 4,13, ошибок 2,91 против 1,82</a:t>
            </a:r>
          </a:p>
          <a:p>
            <a:pPr algn="l">
              <a:lnSpc>
                <a:spcPct val="126000"/>
              </a:lnSpc>
              <a:spcBef>
                <a:spcPts val="700"/>
              </a:spcBef>
            </a:pPr>
            <a:r>
              <a:rPr sz="1500" b="0" i="0">
                <a:solidFill>
                  <a:srgbClr val="21295C"/>
                </a:solidFill>
                <a:latin typeface="Arial"/>
              </a:rPr>
              <a:t/>
            </a:r>
            <a:r>
              <a:rPr sz="1500" b="1" i="0">
                <a:solidFill>
                  <a:srgbClr val="21295C"/>
                </a:solidFill>
                <a:latin typeface="Arial"/>
              </a:rPr>
              <a:t>Держат это вычитка и подпись. Вычитке другого рода не учат нигде.</a:t>
            </a:r>
          </a:p>
        </p:txBody>
      </p:sp>
      <p:sp>
        <p:nvSpPr>
          <p:cNvPr id="8" name="Rectangle 7"/>
          <p:cNvSpPr/>
          <p:nvPr/>
        </p:nvSpPr>
        <p:spPr>
          <a:xfrm>
            <a:off x="6091275" y="1470737"/>
            <a:ext cx="9144" cy="1960166"/>
          </a:xfrm>
          <a:prstGeom prst="rect">
            <a:avLst/>
          </a:prstGeom>
          <a:solidFill>
            <a:srgbClr val="D9E2EC"/>
          </a:solidFill>
          <a:ln>
            <a:noFill/>
          </a:ln>
          <a:effectLst/>
        </p:spPr>
        <p:txBody>
          <a:bodyPr rtlCol="0" anchor="ctr"/>
          <a:lstStyle/>
          <a:p>
            <a:pPr algn="ctr"/>
          </a:p>
        </p:txBody>
      </p:sp>
      <p:sp>
        <p:nvSpPr>
          <p:cNvPr id="9" name="Rectangle 8"/>
          <p:cNvSpPr/>
          <p:nvPr/>
        </p:nvSpPr>
        <p:spPr>
          <a:xfrm>
            <a:off x="502920" y="1310717"/>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Rectangle 2"/>
          <p:cNvSpPr/>
          <p:nvPr/>
        </p:nvSpPr>
        <p:spPr>
          <a:xfrm>
            <a:off x="0" y="0"/>
            <a:ext cx="155448" cy="6858000"/>
          </a:xfrm>
          <a:prstGeom prst="rect">
            <a:avLst/>
          </a:prstGeom>
          <a:solidFill>
            <a:srgbClr val="065A82"/>
          </a:solidFill>
          <a:ln>
            <a:noFill/>
          </a:ln>
          <a:effectLst/>
        </p:spPr>
        <p:txBody>
          <a:bodyPr rtlCol="0" anchor="ctr"/>
          <a:lstStyle/>
          <a:p>
            <a:pPr algn="ctr"/>
          </a:p>
        </p:txBody>
      </p:sp>
      <p:sp>
        <p:nvSpPr>
          <p:cNvPr id="4" name="TextBox 3"/>
          <p:cNvSpPr txBox="1"/>
          <p:nvPr/>
        </p:nvSpPr>
        <p:spPr>
          <a:xfrm>
            <a:off x="704088" y="960120"/>
            <a:ext cx="11185855" cy="518678"/>
          </a:xfrm>
          <a:prstGeom prst="rect">
            <a:avLst/>
          </a:prstGeom>
          <a:noFill/>
        </p:spPr>
        <p:txBody>
          <a:bodyPr wrap="square" lIns="0" rIns="0" tIns="0" bIns="0" anchor="t">
            <a:spAutoFit/>
          </a:bodyPr>
          <a:lstStyle/>
          <a:p>
            <a:pPr algn="l">
              <a:lnSpc>
                <a:spcPct val="110000"/>
              </a:lnSpc>
            </a:pPr>
            <a:r>
              <a:rPr sz="3000" b="1" i="0">
                <a:solidFill>
                  <a:srgbClr val="21295C"/>
                </a:solidFill>
                <a:latin typeface="Arial"/>
              </a:rPr>
              <a:t>6. Допуск, надзор и ответственность</a:t>
            </a:r>
          </a:p>
        </p:txBody>
      </p:sp>
      <p:sp>
        <p:nvSpPr>
          <p:cNvPr id="5" name="Rectangle 4"/>
          <p:cNvSpPr/>
          <p:nvPr/>
        </p:nvSpPr>
        <p:spPr>
          <a:xfrm>
            <a:off x="704088" y="1570238"/>
            <a:ext cx="1188720" cy="59436"/>
          </a:xfrm>
          <a:prstGeom prst="rect">
            <a:avLst/>
          </a:prstGeom>
          <a:solidFill>
            <a:srgbClr val="F0AB00"/>
          </a:solidFill>
          <a:ln>
            <a:noFill/>
          </a:ln>
          <a:effectLst/>
        </p:spPr>
        <p:txBody>
          <a:bodyPr rtlCol="0" anchor="ctr"/>
          <a:lstStyle/>
          <a:p>
            <a:pPr algn="ctr"/>
          </a:p>
        </p:txBody>
      </p:sp>
      <p:sp>
        <p:nvSpPr>
          <p:cNvPr id="6" name="TextBox 5"/>
          <p:cNvSpPr txBox="1"/>
          <p:nvPr/>
        </p:nvSpPr>
        <p:spPr>
          <a:xfrm>
            <a:off x="704088" y="1844558"/>
            <a:ext cx="10984687" cy="338666"/>
          </a:xfrm>
          <a:prstGeom prst="rect">
            <a:avLst/>
          </a:prstGeom>
          <a:noFill/>
        </p:spPr>
        <p:txBody>
          <a:bodyPr wrap="square" lIns="0" rIns="0" tIns="0" bIns="0" anchor="t">
            <a:spAutoFit/>
          </a:bodyPr>
          <a:lstStyle/>
          <a:p>
            <a:pPr algn="l">
              <a:lnSpc>
                <a:spcPct val="124000"/>
              </a:lnSpc>
            </a:pPr>
            <a:r>
              <a:rPr sz="1550" b="1" i="0">
                <a:solidFill>
                  <a:srgbClr val="21295C"/>
                </a:solidFill>
                <a:latin typeface="Arial"/>
              </a:rPr>
              <a:t>Подпись, процедура, норматив — чем удерживают цену ошибки.</a:t>
            </a:r>
          </a:p>
        </p:txBody>
      </p:sp>
      <p:sp>
        <p:nvSpPr>
          <p:cNvPr id="7" name="TextBox 6"/>
          <p:cNvSpPr txBox="1"/>
          <p:nvPr/>
        </p:nvSpPr>
        <p:spPr>
          <a:xfrm>
            <a:off x="704088" y="2311240"/>
            <a:ext cx="10984687" cy="338666"/>
          </a:xfrm>
          <a:prstGeom prst="rect">
            <a:avLst/>
          </a:prstGeom>
          <a:noFill/>
        </p:spPr>
        <p:txBody>
          <a:bodyPr wrap="square" lIns="0" rIns="0" tIns="0" bIns="0" anchor="t">
            <a:spAutoFit/>
          </a:bodyPr>
          <a:lstStyle/>
          <a:p>
            <a:pPr algn="l">
              <a:lnSpc>
                <a:spcPct val="124000"/>
              </a:lnSpc>
            </a:pPr>
            <a:r>
              <a:rPr sz="1550" b="0" i="0">
                <a:solidFill>
                  <a:srgbClr val="21295C"/>
                </a:solidFill>
                <a:latin typeface="Arial"/>
              </a:rPr>
              <a:t>Прошлый раздел кончился подписью. Этот — про то, что она значит.</a:t>
            </a:r>
          </a:p>
        </p:txBody>
      </p:sp>
      <p:sp>
        <p:nvSpPr>
          <p:cNvPr id="8" name="TextBox 7"/>
          <p:cNvSpPr txBox="1"/>
          <p:nvPr/>
        </p:nvSpPr>
        <p:spPr>
          <a:xfrm>
            <a:off x="704088" y="2777923"/>
            <a:ext cx="10984687" cy="338666"/>
          </a:xfrm>
          <a:prstGeom prst="rect">
            <a:avLst/>
          </a:prstGeom>
          <a:noFill/>
        </p:spPr>
        <p:txBody>
          <a:bodyPr wrap="square" lIns="0" rIns="0" tIns="0" bIns="0" anchor="t">
            <a:spAutoFit/>
          </a:bodyPr>
          <a:lstStyle/>
          <a:p>
            <a:pPr algn="l">
              <a:lnSpc>
                <a:spcPct val="124000"/>
              </a:lnSpc>
            </a:pPr>
            <a:r>
              <a:rPr sz="1550" b="1" i="0">
                <a:solidFill>
                  <a:srgbClr val="21295C"/>
                </a:solidFill>
                <a:latin typeface="Arial"/>
              </a:rPr>
              <a:t>2 примера · 1 обзор надзора после допуска · 1 определение подходящего человека</a:t>
            </a:r>
          </a:p>
        </p:txBody>
      </p:sp>
      <p:sp>
        <p:nvSpPr>
          <p:cNvPr id="9" name="TextBox 8"/>
          <p:cNvSpPr txBox="1"/>
          <p:nvPr/>
        </p:nvSpPr>
        <p:spPr>
          <a:xfrm>
            <a:off x="704088" y="3244606"/>
            <a:ext cx="10984687" cy="640757"/>
          </a:xfrm>
          <a:prstGeom prst="rect">
            <a:avLst/>
          </a:prstGeom>
          <a:noFill/>
        </p:spPr>
        <p:txBody>
          <a:bodyPr wrap="square" lIns="0" rIns="0" tIns="0" bIns="0" anchor="t">
            <a:spAutoFit/>
          </a:bodyPr>
          <a:lstStyle/>
          <a:p>
            <a:pPr algn="l">
              <a:lnSpc>
                <a:spcPct val="124000"/>
              </a:lnSpc>
            </a:pPr>
            <a:r>
              <a:rPr sz="1550" b="0" i="0">
                <a:solidFill>
                  <a:srgbClr val="21295C"/>
                </a:solidFill>
                <a:latin typeface="Arial"/>
              </a:rPr>
              <a:t>По порядку: </a:t>
            </a:r>
            <a:r>
              <a:rPr sz="1550" b="1" i="0">
                <a:solidFill>
                  <a:srgbClr val="21295C"/>
                </a:solidFill>
                <a:latin typeface="Arial"/>
              </a:rPr>
              <a:t>Пример 1: склонность доверять автомату и её цена</a:t>
            </a:r>
            <a:r>
              <a:rPr sz="1550" b="0" i="0">
                <a:solidFill>
                  <a:srgbClr val="21295C"/>
                </a:solidFill>
                <a:latin typeface="Arial"/>
              </a:rPr>
              <a:t> · </a:t>
            </a:r>
            <a:r>
              <a:rPr sz="1550" b="1" i="0">
                <a:solidFill>
                  <a:srgbClr val="21295C"/>
                </a:solidFill>
                <a:latin typeface="Arial"/>
              </a:rPr>
              <a:t>Пример 2</a:t>
            </a:r>
            <a:r>
              <a:rPr sz="1550" b="0" i="0">
                <a:solidFill>
                  <a:srgbClr val="21295C"/>
                </a:solidFill>
                <a:latin typeface="Arial"/>
              </a:rPr>
              <a:t> в двух частях — </a:t>
            </a:r>
            <a:r>
              <a:rPr sz="1550" b="1" i="0">
                <a:solidFill>
                  <a:srgbClr val="21295C"/>
                </a:solidFill>
                <a:latin typeface="Arial"/>
              </a:rPr>
              <a:t>с конца: норма есть, а проверки нет</a:t>
            </a:r>
            <a:r>
              <a:rPr sz="1550" b="0" i="0">
                <a:solidFill>
                  <a:srgbClr val="21295C"/>
                </a:solidFill>
                <a:latin typeface="Arial"/>
              </a:rPr>
              <a:t>, затем </a:t>
            </a:r>
            <a:r>
              <a:rPr sz="1550" b="1" i="0">
                <a:solidFill>
                  <a:srgbClr val="21295C"/>
                </a:solidFill>
                <a:latin typeface="Arial"/>
              </a:rPr>
              <a:t>двойное чтение в минутах труда</a:t>
            </a:r>
          </a:p>
        </p:txBody>
      </p:sp>
      <p:sp>
        <p:nvSpPr>
          <p:cNvPr id="10" name="TextBox 9"/>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Регламент (ЕС) 2024/1689</a:t>
            </a:r>
            <a:r>
              <a:rPr sz="1200" b="0" i="1">
                <a:solidFill>
                  <a:srgbClr val="1C7293"/>
                </a:solidFill>
                <a:latin typeface="Arial"/>
              </a:rPr>
              <a:t> · </a:t>
            </a:r>
            <a:r>
              <a:rPr sz="1200" b="0" i="1" u="sng">
                <a:solidFill>
                  <a:srgbClr val="065A82"/>
                </a:solidFill>
                <a:latin typeface="Arial"/>
                <a:hlinkClick r:id="rId3"/>
              </a:rPr>
              <a:t>JAMA Network Open 2025</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Допуск и надзор: данные, вопрос, решение</a:t>
            </a:r>
          </a:p>
        </p:txBody>
      </p:sp>
      <p:sp>
        <p:nvSpPr>
          <p:cNvPr id="4" name="Rounded Rectangle 3"/>
          <p:cNvSpPr/>
          <p:nvPr/>
        </p:nvSpPr>
        <p:spPr>
          <a:xfrm>
            <a:off x="374904" y="1243584"/>
            <a:ext cx="11441887" cy="4992624"/>
          </a:xfrm>
          <a:prstGeom prst="roundRect">
            <a:avLst>
              <a:gd name="adj" fmla="val 6105"/>
            </a:avLst>
          </a:prstGeom>
          <a:solidFill>
            <a:srgbClr val="F4F7FA"/>
          </a:solidFill>
          <a:ln w="19050">
            <a:solidFill>
              <a:srgbClr val="1C7293"/>
            </a:solidFill>
          </a:ln>
          <a:effectLst/>
        </p:spPr>
        <p:txBody>
          <a:bodyPr rtlCol="0" anchor="ctr"/>
          <a:lstStyle/>
          <a:p>
            <a:pPr algn="ctr"/>
          </a:p>
        </p:txBody>
      </p:sp>
      <p:sp>
        <p:nvSpPr>
          <p:cNvPr id="5" name="TextBox 4"/>
          <p:cNvSpPr txBox="1"/>
          <p:nvPr/>
        </p:nvSpPr>
        <p:spPr>
          <a:xfrm>
            <a:off x="539496" y="1335024"/>
            <a:ext cx="6869887" cy="2713482"/>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Стадия не измеряет человека — она читает записанное:</a:t>
            </a:r>
            <a:r>
              <a:rPr sz="1500" b="0" i="0">
                <a:solidFill>
                  <a:srgbClr val="21295C"/>
                </a:solidFill>
                <a:latin typeface="Arial"/>
              </a:rPr>
              <a:t> заключение с подписью · согласие · материалы разбора · документацию допуска изделия.</a:t>
            </a:r>
          </a:p>
          <a:p>
            <a:pPr algn="l">
              <a:lnSpc>
                <a:spcPct val="126000"/>
              </a:lnSpc>
              <a:spcBef>
                <a:spcPts val="700"/>
              </a:spcBef>
            </a:pPr>
            <a:r>
              <a:rPr sz="1500" b="0" i="0">
                <a:solidFill>
                  <a:srgbClr val="21295C"/>
                </a:solidFill>
                <a:latin typeface="Arial"/>
              </a:rPr>
              <a:t/>
            </a:r>
            <a:r>
              <a:rPr sz="1500" b="1" i="0">
                <a:solidFill>
                  <a:srgbClr val="21295C"/>
                </a:solidFill>
                <a:latin typeface="Arial"/>
              </a:rPr>
              <a:t>Вопрос один:</a:t>
            </a:r>
            <a:r>
              <a:rPr sz="1500" b="0" i="0">
                <a:solidFill>
                  <a:srgbClr val="21295C"/>
                </a:solidFill>
                <a:latin typeface="Arial"/>
              </a:rPr>
              <a:t> кто отвечает за принятое и выдержит ли порядок проверку исходом.</a:t>
            </a:r>
          </a:p>
          <a:p>
            <a:pPr algn="l">
              <a:lnSpc>
                <a:spcPct val="126000"/>
              </a:lnSpc>
              <a:spcBef>
                <a:spcPts val="700"/>
              </a:spcBef>
            </a:pPr>
            <a:r>
              <a:rPr sz="1500" b="0" i="0">
                <a:solidFill>
                  <a:srgbClr val="21295C"/>
                </a:solidFill>
                <a:latin typeface="Arial"/>
              </a:rPr>
              <a:t/>
            </a:r>
            <a:r>
              <a:rPr sz="1500" b="1" i="0">
                <a:solidFill>
                  <a:srgbClr val="21295C"/>
                </a:solidFill>
                <a:latin typeface="Arial"/>
              </a:rPr>
              <a:t>Решение двойное:</a:t>
            </a:r>
            <a:r>
              <a:rPr sz="1500" b="0" i="0">
                <a:solidFill>
                  <a:srgbClr val="21295C"/>
                </a:solidFill>
                <a:latin typeface="Arial"/>
              </a:rPr>
              <a:t> кто отвечает — и что меняется в порядке после расхождения.</a:t>
            </a:r>
          </a:p>
        </p:txBody>
      </p:sp>
      <p:sp>
        <p:nvSpPr>
          <p:cNvPr id="6" name="TextBox 5"/>
          <p:cNvSpPr txBox="1"/>
          <p:nvPr/>
        </p:nvSpPr>
        <p:spPr>
          <a:xfrm>
            <a:off x="539496" y="4139946"/>
            <a:ext cx="11112703" cy="2096262"/>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Стадия идёт поперёк всех сразу:</a:t>
            </a:r>
            <a:r>
              <a:rPr sz="1500" b="0" i="0">
                <a:solidFill>
                  <a:srgbClr val="21295C"/>
                </a:solidFill>
                <a:latin typeface="Arial"/>
              </a:rPr>
              <a:t> подпись — на каждой, согласие — до вмешательства, разбор — после исхода, допуск — над всем циклом.</a:t>
            </a:r>
          </a:p>
        </p:txBody>
      </p:sp>
      <p:sp>
        <p:nvSpPr>
          <p:cNvPr id="7" name="Rounded Rectangle 6"/>
          <p:cNvSpPr/>
          <p:nvPr/>
        </p:nvSpPr>
        <p:spPr>
          <a:xfrm>
            <a:off x="7756855" y="1335024"/>
            <a:ext cx="3931920" cy="2713482"/>
          </a:xfrm>
          <a:prstGeom prst="roundRect">
            <a:avLst>
              <a:gd name="adj" fmla="val 11232"/>
            </a:avLst>
          </a:prstGeom>
          <a:solidFill>
            <a:srgbClr val="F4F7FA"/>
          </a:solidFill>
          <a:ln w="19050">
            <a:solidFill>
              <a:srgbClr val="1C7293"/>
            </a:solidFill>
          </a:ln>
          <a:effectLst/>
        </p:spPr>
        <p:txBody>
          <a:bodyPr rtlCol="0" anchor="ctr"/>
          <a:lstStyle/>
          <a:p>
            <a:pPr algn="ctr"/>
          </a:p>
        </p:txBody>
      </p:sp>
      <p:pic>
        <p:nvPicPr>
          <p:cNvPr id="8" name="Picture 7" descr="s65a-zapisannoe-kotoroe-chitaet-stadiya.jpg"/>
          <p:cNvPicPr>
            <a:picLocks noChangeAspect="1"/>
          </p:cNvPicPr>
          <p:nvPr/>
        </p:nvPicPr>
        <p:blipFill>
          <a:blip r:embed="rId2"/>
          <a:stretch>
            <a:fillRect/>
          </a:stretch>
        </p:blipFill>
        <p:spPr>
          <a:xfrm>
            <a:off x="7894015" y="1472184"/>
            <a:ext cx="3657600" cy="2439162"/>
          </a:xfrm>
          <a:prstGeom prst="rect">
            <a:avLst/>
          </a:prstGeom>
        </p:spPr>
      </p:pic>
      <p:sp>
        <p:nvSpPr>
          <p:cNvPr id="9" name="Rectangle 8"/>
          <p:cNvSpPr/>
          <p:nvPr/>
        </p:nvSpPr>
        <p:spPr>
          <a:xfrm>
            <a:off x="502920" y="888090"/>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Одна комната, один случай</a:t>
            </a:r>
          </a:p>
        </p:txBody>
      </p:sp>
      <p:sp>
        <p:nvSpPr>
          <p:cNvPr id="4" name="TextBox 3"/>
          <p:cNvSpPr txBox="1"/>
          <p:nvPr/>
        </p:nvSpPr>
        <p:spPr>
          <a:xfrm>
            <a:off x="502920" y="1371600"/>
            <a:ext cx="1307592" cy="828231"/>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Руками людей</a:t>
            </a:r>
          </a:p>
        </p:txBody>
      </p:sp>
      <p:sp>
        <p:nvSpPr>
          <p:cNvPr id="5" name="Rounded Rectangle 4"/>
          <p:cNvSpPr/>
          <p:nvPr/>
        </p:nvSpPr>
        <p:spPr>
          <a:xfrm>
            <a:off x="2011680" y="1335024"/>
            <a:ext cx="9677095" cy="901383"/>
          </a:xfrm>
          <a:prstGeom prst="roundRect">
            <a:avLst>
              <a:gd name="adj" fmla="val 25000"/>
            </a:avLst>
          </a:prstGeom>
          <a:solidFill>
            <a:srgbClr val="F4F7FA"/>
          </a:solidFill>
          <a:ln w="15240">
            <a:solidFill>
              <a:srgbClr val="1C7293"/>
            </a:solidFill>
          </a:ln>
          <a:effectLst/>
        </p:spPr>
        <p:txBody>
          <a:bodyPr rtlCol="0" anchor="ctr"/>
          <a:lstStyle/>
          <a:p>
            <a:pPr algn="ctr"/>
          </a:p>
        </p:txBody>
      </p:sp>
      <p:sp>
        <p:nvSpPr>
          <p:cNvPr id="6" name="Rounded Rectangle 5"/>
          <p:cNvSpPr/>
          <p:nvPr/>
        </p:nvSpPr>
        <p:spPr>
          <a:xfrm>
            <a:off x="2103120" y="1362456"/>
            <a:ext cx="2304973" cy="846519"/>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7" name="TextBox 6"/>
          <p:cNvSpPr txBox="1"/>
          <p:nvPr/>
        </p:nvSpPr>
        <p:spPr>
          <a:xfrm>
            <a:off x="2185416" y="1408176"/>
            <a:ext cx="2140381" cy="755079"/>
          </a:xfrm>
          <a:prstGeom prst="rect">
            <a:avLst/>
          </a:prstGeom>
          <a:noFill/>
        </p:spPr>
        <p:txBody>
          <a:bodyPr wrap="square" lIns="0" rIns="0" tIns="0" bIns="0" anchor="ctr">
            <a:spAutoFit/>
          </a:bodyPr>
          <a:lstStyle/>
          <a:p>
            <a:pPr algn="ctr">
              <a:lnSpc>
                <a:spcPct val="110000"/>
              </a:lnSpc>
            </a:pPr>
            <a:r>
              <a:rPr sz="1350" b="0" i="0">
                <a:solidFill>
                  <a:srgbClr val="21295C"/>
                </a:solidFill>
                <a:latin typeface="Arial"/>
              </a:rPr>
              <a:t>Подписать заключение</a:t>
            </a:r>
          </a:p>
        </p:txBody>
      </p:sp>
      <p:sp>
        <p:nvSpPr>
          <p:cNvPr id="8" name="Rounded Rectangle 7"/>
          <p:cNvSpPr/>
          <p:nvPr/>
        </p:nvSpPr>
        <p:spPr>
          <a:xfrm>
            <a:off x="4499533" y="1362456"/>
            <a:ext cx="2304973" cy="846519"/>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9" name="TextBox 8"/>
          <p:cNvSpPr txBox="1"/>
          <p:nvPr/>
        </p:nvSpPr>
        <p:spPr>
          <a:xfrm>
            <a:off x="4581829" y="1408176"/>
            <a:ext cx="2140381" cy="755079"/>
          </a:xfrm>
          <a:prstGeom prst="rect">
            <a:avLst/>
          </a:prstGeom>
          <a:noFill/>
        </p:spPr>
        <p:txBody>
          <a:bodyPr wrap="square" lIns="0" rIns="0" tIns="0" bIns="0" anchor="ctr">
            <a:spAutoFit/>
          </a:bodyPr>
          <a:lstStyle/>
          <a:p>
            <a:pPr algn="ctr">
              <a:lnSpc>
                <a:spcPct val="110000"/>
              </a:lnSpc>
            </a:pPr>
            <a:r>
              <a:rPr sz="1350" b="0" i="0">
                <a:solidFill>
                  <a:srgbClr val="21295C"/>
                </a:solidFill>
                <a:latin typeface="Arial"/>
              </a:rPr>
              <a:t>Взять согласие</a:t>
            </a:r>
          </a:p>
        </p:txBody>
      </p:sp>
      <p:sp>
        <p:nvSpPr>
          <p:cNvPr id="10" name="Rounded Rectangle 9"/>
          <p:cNvSpPr/>
          <p:nvPr/>
        </p:nvSpPr>
        <p:spPr>
          <a:xfrm>
            <a:off x="6895947" y="1362456"/>
            <a:ext cx="2304973" cy="846519"/>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11" name="TextBox 10"/>
          <p:cNvSpPr txBox="1"/>
          <p:nvPr/>
        </p:nvSpPr>
        <p:spPr>
          <a:xfrm>
            <a:off x="6978243" y="1408176"/>
            <a:ext cx="2140381" cy="755079"/>
          </a:xfrm>
          <a:prstGeom prst="rect">
            <a:avLst/>
          </a:prstGeom>
          <a:noFill/>
        </p:spPr>
        <p:txBody>
          <a:bodyPr wrap="square" lIns="0" rIns="0" tIns="0" bIns="0" anchor="ctr">
            <a:spAutoFit/>
          </a:bodyPr>
          <a:lstStyle/>
          <a:p>
            <a:pPr algn="ctr">
              <a:lnSpc>
                <a:spcPct val="110000"/>
              </a:lnSpc>
            </a:pPr>
            <a:r>
              <a:rPr sz="1350" b="0" i="0">
                <a:solidFill>
                  <a:srgbClr val="21295C"/>
                </a:solidFill>
                <a:latin typeface="Arial"/>
              </a:rPr>
              <a:t>Прочесть вторым независимо</a:t>
            </a:r>
          </a:p>
        </p:txBody>
      </p:sp>
      <p:sp>
        <p:nvSpPr>
          <p:cNvPr id="12" name="Rounded Rectangle 11"/>
          <p:cNvSpPr/>
          <p:nvPr/>
        </p:nvSpPr>
        <p:spPr>
          <a:xfrm>
            <a:off x="9292361" y="1362456"/>
            <a:ext cx="2304973" cy="846519"/>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13" name="TextBox 12"/>
          <p:cNvSpPr txBox="1"/>
          <p:nvPr/>
        </p:nvSpPr>
        <p:spPr>
          <a:xfrm>
            <a:off x="9374657" y="1408176"/>
            <a:ext cx="2140381" cy="755079"/>
          </a:xfrm>
          <a:prstGeom prst="rect">
            <a:avLst/>
          </a:prstGeom>
          <a:noFill/>
        </p:spPr>
        <p:txBody>
          <a:bodyPr wrap="square" lIns="0" rIns="0" tIns="0" bIns="0" anchor="ctr">
            <a:spAutoFit/>
          </a:bodyPr>
          <a:lstStyle/>
          <a:p>
            <a:pPr algn="ctr">
              <a:lnSpc>
                <a:spcPct val="110000"/>
              </a:lnSpc>
            </a:pPr>
            <a:r>
              <a:rPr sz="1350" b="0" i="0">
                <a:solidFill>
                  <a:srgbClr val="21295C"/>
                </a:solidFill>
                <a:latin typeface="Arial"/>
              </a:rPr>
              <a:t>Разрешить расхождение арбитражем</a:t>
            </a:r>
          </a:p>
        </p:txBody>
      </p:sp>
      <p:sp>
        <p:nvSpPr>
          <p:cNvPr id="14" name="TextBox 13"/>
          <p:cNvSpPr txBox="1"/>
          <p:nvPr/>
        </p:nvSpPr>
        <p:spPr>
          <a:xfrm>
            <a:off x="502920" y="2382711"/>
            <a:ext cx="1307592" cy="438912"/>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Ими же</a:t>
            </a:r>
          </a:p>
        </p:txBody>
      </p:sp>
      <p:sp>
        <p:nvSpPr>
          <p:cNvPr id="15" name="Rounded Rectangle 14"/>
          <p:cNvSpPr/>
          <p:nvPr/>
        </p:nvSpPr>
        <p:spPr>
          <a:xfrm>
            <a:off x="2011680" y="2346135"/>
            <a:ext cx="9677095" cy="512064"/>
          </a:xfrm>
          <a:prstGeom prst="roundRect">
            <a:avLst>
              <a:gd name="adj" fmla="val 25000"/>
            </a:avLst>
          </a:prstGeom>
          <a:solidFill>
            <a:srgbClr val="F4F7FA"/>
          </a:solidFill>
          <a:ln w="15240">
            <a:solidFill>
              <a:srgbClr val="1C7293"/>
            </a:solidFill>
          </a:ln>
          <a:effectLst/>
        </p:spPr>
        <p:txBody>
          <a:bodyPr rtlCol="0" anchor="ctr"/>
          <a:lstStyle/>
          <a:p>
            <a:pPr algn="ctr"/>
          </a:p>
        </p:txBody>
      </p:sp>
      <p:sp>
        <p:nvSpPr>
          <p:cNvPr id="16" name="Rounded Rectangle 15"/>
          <p:cNvSpPr/>
          <p:nvPr/>
        </p:nvSpPr>
        <p:spPr>
          <a:xfrm>
            <a:off x="2103120" y="2373567"/>
            <a:ext cx="2304973" cy="457200"/>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17" name="TextBox 16"/>
          <p:cNvSpPr txBox="1"/>
          <p:nvPr/>
        </p:nvSpPr>
        <p:spPr>
          <a:xfrm>
            <a:off x="2185416" y="2419287"/>
            <a:ext cx="2140381" cy="365760"/>
          </a:xfrm>
          <a:prstGeom prst="rect">
            <a:avLst/>
          </a:prstGeom>
          <a:noFill/>
        </p:spPr>
        <p:txBody>
          <a:bodyPr wrap="square" lIns="0" rIns="0" tIns="0" bIns="0" anchor="ctr">
            <a:spAutoFit/>
          </a:bodyPr>
          <a:lstStyle/>
          <a:p>
            <a:pPr algn="ctr">
              <a:lnSpc>
                <a:spcPct val="110000"/>
              </a:lnSpc>
            </a:pPr>
            <a:r>
              <a:rPr sz="1350" b="0" i="0">
                <a:solidFill>
                  <a:srgbClr val="21295C"/>
                </a:solidFill>
                <a:latin typeface="Arial"/>
              </a:rPr>
              <a:t>Собрать комиссию</a:t>
            </a:r>
          </a:p>
        </p:txBody>
      </p:sp>
      <p:sp>
        <p:nvSpPr>
          <p:cNvPr id="18" name="Rounded Rectangle 17"/>
          <p:cNvSpPr/>
          <p:nvPr/>
        </p:nvSpPr>
        <p:spPr>
          <a:xfrm>
            <a:off x="4499533" y="2373567"/>
            <a:ext cx="2304973" cy="457200"/>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19" name="TextBox 18"/>
          <p:cNvSpPr txBox="1"/>
          <p:nvPr/>
        </p:nvSpPr>
        <p:spPr>
          <a:xfrm>
            <a:off x="4581829" y="2419287"/>
            <a:ext cx="2140381" cy="365760"/>
          </a:xfrm>
          <a:prstGeom prst="rect">
            <a:avLst/>
          </a:prstGeom>
          <a:noFill/>
        </p:spPr>
        <p:txBody>
          <a:bodyPr wrap="square" lIns="0" rIns="0" tIns="0" bIns="0" anchor="ctr">
            <a:spAutoFit/>
          </a:bodyPr>
          <a:lstStyle/>
          <a:p>
            <a:pPr algn="ctr">
              <a:lnSpc>
                <a:spcPct val="110000"/>
              </a:lnSpc>
            </a:pPr>
            <a:r>
              <a:rPr sz="1350" b="0" i="0">
                <a:solidFill>
                  <a:srgbClr val="21295C"/>
                </a:solidFill>
                <a:latin typeface="Arial"/>
              </a:rPr>
              <a:t>Сверить с порядком</a:t>
            </a:r>
          </a:p>
        </p:txBody>
      </p:sp>
      <p:sp>
        <p:nvSpPr>
          <p:cNvPr id="20" name="Rounded Rectangle 19"/>
          <p:cNvSpPr/>
          <p:nvPr/>
        </p:nvSpPr>
        <p:spPr>
          <a:xfrm>
            <a:off x="6895947" y="2373567"/>
            <a:ext cx="2304973" cy="457200"/>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21" name="TextBox 20"/>
          <p:cNvSpPr txBox="1"/>
          <p:nvPr/>
        </p:nvSpPr>
        <p:spPr>
          <a:xfrm>
            <a:off x="6978243" y="2419287"/>
            <a:ext cx="2140381" cy="365760"/>
          </a:xfrm>
          <a:prstGeom prst="rect">
            <a:avLst/>
          </a:prstGeom>
          <a:noFill/>
        </p:spPr>
        <p:txBody>
          <a:bodyPr wrap="square" lIns="0" rIns="0" tIns="0" bIns="0" anchor="ctr">
            <a:spAutoFit/>
          </a:bodyPr>
          <a:lstStyle/>
          <a:p>
            <a:pPr algn="ctr">
              <a:lnSpc>
                <a:spcPct val="110000"/>
              </a:lnSpc>
            </a:pPr>
            <a:r>
              <a:rPr sz="1350" b="0" i="0">
                <a:solidFill>
                  <a:srgbClr val="21295C"/>
                </a:solidFill>
                <a:latin typeface="Arial"/>
              </a:rPr>
              <a:t>Поправить порядок</a:t>
            </a:r>
          </a:p>
        </p:txBody>
      </p:sp>
      <p:sp>
        <p:nvSpPr>
          <p:cNvPr id="22" name="TextBox 21"/>
          <p:cNvSpPr txBox="1"/>
          <p:nvPr/>
        </p:nvSpPr>
        <p:spPr>
          <a:xfrm>
            <a:off x="502920" y="3004503"/>
            <a:ext cx="1307592" cy="1081422"/>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С моделью</a:t>
            </a:r>
          </a:p>
        </p:txBody>
      </p:sp>
      <p:sp>
        <p:nvSpPr>
          <p:cNvPr id="23" name="Rounded Rectangle 22"/>
          <p:cNvSpPr/>
          <p:nvPr/>
        </p:nvSpPr>
        <p:spPr>
          <a:xfrm>
            <a:off x="2103120" y="2995359"/>
            <a:ext cx="2304973" cy="846519"/>
          </a:xfrm>
          <a:prstGeom prst="roundRect">
            <a:avLst>
              <a:gd name="adj" fmla="val 25000"/>
            </a:avLst>
          </a:prstGeom>
          <a:solidFill>
            <a:srgbClr val="FFFFFF"/>
          </a:solidFill>
          <a:ln w="12700">
            <a:solidFill>
              <a:srgbClr val="D9E2EC"/>
            </a:solidFill>
          </a:ln>
          <a:effectLst/>
        </p:spPr>
        <p:txBody>
          <a:bodyPr rtlCol="0" anchor="ctr"/>
          <a:lstStyle/>
          <a:p>
            <a:pPr algn="ctr"/>
          </a:p>
        </p:txBody>
      </p:sp>
      <p:sp>
        <p:nvSpPr>
          <p:cNvPr id="24" name="Rounded Rectangle 23"/>
          <p:cNvSpPr/>
          <p:nvPr/>
        </p:nvSpPr>
        <p:spPr>
          <a:xfrm>
            <a:off x="4499533" y="2995359"/>
            <a:ext cx="2304973" cy="846519"/>
          </a:xfrm>
          <a:prstGeom prst="roundRect">
            <a:avLst>
              <a:gd name="adj" fmla="val 25000"/>
            </a:avLst>
          </a:prstGeom>
          <a:solidFill>
            <a:srgbClr val="FFFFFF"/>
          </a:solidFill>
          <a:ln w="12700">
            <a:solidFill>
              <a:srgbClr val="D9E2EC"/>
            </a:solidFill>
          </a:ln>
          <a:effectLst/>
        </p:spPr>
        <p:txBody>
          <a:bodyPr rtlCol="0" anchor="ctr"/>
          <a:lstStyle/>
          <a:p>
            <a:pPr algn="ctr"/>
          </a:p>
        </p:txBody>
      </p:sp>
      <p:sp>
        <p:nvSpPr>
          <p:cNvPr id="25" name="Rounded Rectangle 24"/>
          <p:cNvSpPr/>
          <p:nvPr/>
        </p:nvSpPr>
        <p:spPr>
          <a:xfrm>
            <a:off x="6895947" y="2995359"/>
            <a:ext cx="2304973" cy="846519"/>
          </a:xfrm>
          <a:prstGeom prst="roundRect">
            <a:avLst>
              <a:gd name="adj" fmla="val 25000"/>
            </a:avLst>
          </a:prstGeom>
          <a:solidFill>
            <a:srgbClr val="FFFFFF"/>
          </a:solidFill>
          <a:ln w="12700">
            <a:solidFill>
              <a:srgbClr val="D9E2EC"/>
            </a:solidFill>
          </a:ln>
          <a:effectLst/>
        </p:spPr>
        <p:txBody>
          <a:bodyPr rtlCol="0" anchor="ctr"/>
          <a:lstStyle/>
          <a:p>
            <a:pPr algn="ctr"/>
          </a:p>
        </p:txBody>
      </p:sp>
      <p:sp>
        <p:nvSpPr>
          <p:cNvPr id="26" name="Rounded Rectangle 25"/>
          <p:cNvSpPr/>
          <p:nvPr/>
        </p:nvSpPr>
        <p:spPr>
          <a:xfrm>
            <a:off x="9292361" y="2995359"/>
            <a:ext cx="2304973" cy="846519"/>
          </a:xfrm>
          <a:prstGeom prst="roundRect">
            <a:avLst>
              <a:gd name="adj" fmla="val 25000"/>
            </a:avLst>
          </a:prstGeom>
          <a:solidFill>
            <a:srgbClr val="FFFFFF"/>
          </a:solidFill>
          <a:ln w="12700">
            <a:solidFill>
              <a:srgbClr val="D9E2EC"/>
            </a:solidFill>
          </a:ln>
          <a:effectLst/>
        </p:spPr>
        <p:txBody>
          <a:bodyPr rtlCol="0" anchor="ctr"/>
          <a:lstStyle/>
          <a:p>
            <a:pPr algn="ctr"/>
          </a:p>
        </p:txBody>
      </p:sp>
      <p:sp>
        <p:nvSpPr>
          <p:cNvPr id="27" name="TextBox 26"/>
          <p:cNvSpPr txBox="1"/>
          <p:nvPr/>
        </p:nvSpPr>
        <p:spPr>
          <a:xfrm>
            <a:off x="2103120" y="3887599"/>
            <a:ext cx="9494215" cy="207471"/>
          </a:xfrm>
          <a:prstGeom prst="rect">
            <a:avLst/>
          </a:prstGeom>
          <a:noFill/>
        </p:spPr>
        <p:txBody>
          <a:bodyPr wrap="square" lIns="0" rIns="0" tIns="0" bIns="0" anchor="t">
            <a:spAutoFit/>
          </a:bodyPr>
          <a:lstStyle/>
          <a:p>
            <a:pPr algn="ctr">
              <a:lnSpc>
                <a:spcPct val="110000"/>
              </a:lnSpc>
            </a:pPr>
            <a:r>
              <a:rPr sz="1200" b="1" i="0">
                <a:solidFill>
                  <a:srgbClr val="065A82"/>
                </a:solidFill>
                <a:latin typeface="Arial"/>
              </a:rPr>
              <a:t>ни одного действия из семи</a:t>
            </a:r>
          </a:p>
        </p:txBody>
      </p:sp>
      <p:sp>
        <p:nvSpPr>
          <p:cNvPr id="28" name="Rounded Rectangle 27"/>
          <p:cNvSpPr/>
          <p:nvPr/>
        </p:nvSpPr>
        <p:spPr>
          <a:xfrm>
            <a:off x="374904" y="4213942"/>
            <a:ext cx="11441887" cy="1848525"/>
          </a:xfrm>
          <a:prstGeom prst="roundRect">
            <a:avLst>
              <a:gd name="adj" fmla="val 16488"/>
            </a:avLst>
          </a:prstGeom>
          <a:solidFill>
            <a:srgbClr val="F4F7FA"/>
          </a:solidFill>
          <a:ln w="19050">
            <a:solidFill>
              <a:srgbClr val="1C7293"/>
            </a:solidFill>
          </a:ln>
          <a:effectLst/>
        </p:spPr>
        <p:txBody>
          <a:bodyPr rtlCol="0" anchor="ctr"/>
          <a:lstStyle/>
          <a:p>
            <a:pPr algn="ctr"/>
          </a:p>
        </p:txBody>
      </p:sp>
      <p:sp>
        <p:nvSpPr>
          <p:cNvPr id="29" name="TextBox 28"/>
          <p:cNvSpPr txBox="1"/>
          <p:nvPr/>
        </p:nvSpPr>
        <p:spPr>
          <a:xfrm>
            <a:off x="539496" y="4305382"/>
            <a:ext cx="5373471" cy="1930825"/>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Четверг, кабинет заместителя главного врача. Комиссию собрали по одному случаю: пациентку выписали через четыре дня, через сутки она вернулась с осложнением. За столом шестеро, двое с лечащим врачом вместе не работают.</a:t>
            </a:r>
          </a:p>
        </p:txBody>
      </p:sp>
      <p:sp>
        <p:nvSpPr>
          <p:cNvPr id="30" name="TextBox 29"/>
          <p:cNvSpPr txBox="1"/>
          <p:nvPr/>
        </p:nvSpPr>
        <p:spPr>
          <a:xfrm>
            <a:off x="6278727" y="4305382"/>
            <a:ext cx="5373471" cy="1930825"/>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Один вопрос:</a:t>
            </a:r>
            <a:r>
              <a:rPr sz="1500" b="0" i="0">
                <a:solidFill>
                  <a:srgbClr val="21295C"/>
                </a:solidFill>
                <a:latin typeface="Arial"/>
              </a:rPr>
              <a:t> соответствовали ли действия врача утверждённым порядкам. Вопроса «пользовался ли он моделью» в списке нет.</a:t>
            </a:r>
          </a:p>
          <a:p>
            <a:pPr algn="l">
              <a:lnSpc>
                <a:spcPct val="126000"/>
              </a:lnSpc>
              <a:spcBef>
                <a:spcPts val="700"/>
              </a:spcBef>
            </a:pPr>
            <a:r>
              <a:rPr sz="1500" b="0" i="0">
                <a:solidFill>
                  <a:srgbClr val="21295C"/>
                </a:solidFill>
                <a:latin typeface="Arial"/>
              </a:rPr>
              <a:t/>
            </a:r>
            <a:r>
              <a:rPr sz="1500" b="1" i="0">
                <a:solidFill>
                  <a:srgbClr val="21295C"/>
                </a:solidFill>
                <a:latin typeface="Arial"/>
              </a:rPr>
              <a:t>Подписать ей нечем.</a:t>
            </a:r>
            <a:r>
              <a:rPr sz="1500" b="0" i="0">
                <a:solidFill>
                  <a:srgbClr val="21295C"/>
                </a:solidFill>
                <a:latin typeface="Arial"/>
              </a:rPr>
              <a:t> Норма добавила человеку восьмое — мочь возразить и остановить.</a:t>
            </a:r>
          </a:p>
        </p:txBody>
      </p:sp>
      <p:sp>
        <p:nvSpPr>
          <p:cNvPr id="31" name="Rectangle 30"/>
          <p:cNvSpPr/>
          <p:nvPr/>
        </p:nvSpPr>
        <p:spPr>
          <a:xfrm>
            <a:off x="6091275" y="4305382"/>
            <a:ext cx="9144" cy="1574205"/>
          </a:xfrm>
          <a:prstGeom prst="rect">
            <a:avLst/>
          </a:prstGeom>
          <a:solidFill>
            <a:srgbClr val="D9E2EC"/>
          </a:solidFill>
          <a:ln>
            <a:noFill/>
          </a:ln>
          <a:effectLst/>
        </p:spPr>
        <p:txBody>
          <a:bodyPr rtlCol="0" anchor="ctr"/>
          <a:lstStyle/>
          <a:p>
            <a:pPr algn="ctr"/>
          </a:p>
        </p:txBody>
      </p:sp>
      <p:sp>
        <p:nvSpPr>
          <p:cNvPr id="32" name="Rectangle 31"/>
          <p:cNvSpPr/>
          <p:nvPr/>
        </p:nvSpPr>
        <p:spPr>
          <a:xfrm>
            <a:off x="502920" y="888090"/>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Пример 1: склонность доверять автомату и её цена</a:t>
            </a:r>
          </a:p>
        </p:txBody>
      </p:sp>
      <p:sp>
        <p:nvSpPr>
          <p:cNvPr id="4" name="Rounded Rectangle 3"/>
          <p:cNvSpPr/>
          <p:nvPr/>
        </p:nvSpPr>
        <p:spPr>
          <a:xfrm>
            <a:off x="502920" y="1335024"/>
            <a:ext cx="3618890" cy="1978664"/>
          </a:xfrm>
          <a:prstGeom prst="roundRect">
            <a:avLst>
              <a:gd name="adj" fmla="val 15404"/>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ТОЧНОСТЬ БЕЗ МОДЕЛИ → С МОДЕЛЬЮ</a:t>
            </a:r>
          </a:p>
        </p:txBody>
      </p:sp>
      <p:sp>
        <p:nvSpPr>
          <p:cNvPr id="6" name="TextBox 5"/>
          <p:cNvSpPr txBox="1"/>
          <p:nvPr/>
        </p:nvSpPr>
        <p:spPr>
          <a:xfrm>
            <a:off x="640080" y="1725375"/>
            <a:ext cx="3344570"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87,2 → 96,4 верного заключения из ста</a:t>
            </a:r>
          </a:p>
        </p:txBody>
      </p:sp>
      <p:sp>
        <p:nvSpPr>
          <p:cNvPr id="7" name="TextBox 6"/>
          <p:cNvSpPr txBox="1"/>
          <p:nvPr/>
        </p:nvSpPr>
        <p:spPr>
          <a:xfrm>
            <a:off x="640080" y="2542797"/>
            <a:ext cx="3344570"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доля верных заключений, не чувствительность; 40 клиницистов, 8000 прочтений; против одного читателя</a:t>
            </a:r>
          </a:p>
        </p:txBody>
      </p:sp>
      <p:sp>
        <p:nvSpPr>
          <p:cNvPr id="8" name="Rounded Rectangle 7"/>
          <p:cNvSpPr/>
          <p:nvPr/>
        </p:nvSpPr>
        <p:spPr>
          <a:xfrm>
            <a:off x="4286402" y="1335024"/>
            <a:ext cx="3618890" cy="1978664"/>
          </a:xfrm>
          <a:prstGeom prst="roundRect">
            <a:avLst>
              <a:gd name="adj" fmla="val 15404"/>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4423562" y="1472184"/>
            <a:ext cx="3344570"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ОСТАТОЧНЫЕ ОШИБКИ ОТ ДОВЕРИЯ АВТОМАТУ</a:t>
            </a:r>
          </a:p>
        </p:txBody>
      </p:sp>
      <p:sp>
        <p:nvSpPr>
          <p:cNvPr id="10" name="TextBox 9"/>
          <p:cNvSpPr txBox="1"/>
          <p:nvPr/>
        </p:nvSpPr>
        <p:spPr>
          <a:xfrm>
            <a:off x="4423562" y="1932846"/>
            <a:ext cx="3344570"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45,5 из ста ошибок</a:t>
            </a:r>
          </a:p>
        </p:txBody>
      </p:sp>
      <p:sp>
        <p:nvSpPr>
          <p:cNvPr id="11" name="TextBox 10"/>
          <p:cNvSpPr txBox="1"/>
          <p:nvPr/>
        </p:nvSpPr>
        <p:spPr>
          <a:xfrm>
            <a:off x="4423562" y="2359845"/>
            <a:ext cx="3344570"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от ошибок раунда с подсказкой, не от всех прочтений; стаж не защищает</a:t>
            </a:r>
          </a:p>
        </p:txBody>
      </p:sp>
      <p:sp>
        <p:nvSpPr>
          <p:cNvPr id="12" name="Rounded Rectangle 11"/>
          <p:cNvSpPr/>
          <p:nvPr/>
        </p:nvSpPr>
        <p:spPr>
          <a:xfrm>
            <a:off x="8069884" y="1335024"/>
            <a:ext cx="3618890" cy="1978664"/>
          </a:xfrm>
          <a:prstGeom prst="roundRect">
            <a:avLst>
              <a:gd name="adj" fmla="val 15404"/>
            </a:avLst>
          </a:prstGeom>
          <a:solidFill>
            <a:srgbClr val="FFFFFF"/>
          </a:solidFill>
          <a:ln w="25400">
            <a:solidFill>
              <a:srgbClr val="F0AB00"/>
            </a:solidFill>
          </a:ln>
          <a:effectLst/>
        </p:spPr>
        <p:txBody>
          <a:bodyPr rtlCol="0" anchor="ctr"/>
          <a:lstStyle/>
          <a:p>
            <a:pPr algn="ctr"/>
          </a:p>
        </p:txBody>
      </p:sp>
      <p:sp>
        <p:nvSpPr>
          <p:cNvPr id="13" name="TextBox 12"/>
          <p:cNvSpPr txBox="1"/>
          <p:nvPr/>
        </p:nvSpPr>
        <p:spPr>
          <a:xfrm>
            <a:off x="8207044"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ЛЕКАРСТВО — СКРЫВАТЬ ПОДСКАЗКУ</a:t>
            </a:r>
          </a:p>
        </p:txBody>
      </p:sp>
      <p:sp>
        <p:nvSpPr>
          <p:cNvPr id="14" name="TextBox 13"/>
          <p:cNvSpPr txBox="1"/>
          <p:nvPr/>
        </p:nvSpPr>
        <p:spPr>
          <a:xfrm>
            <a:off x="8207044" y="1725375"/>
            <a:ext cx="3344570" cy="817422"/>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−41,7 процента, расчётом</a:t>
            </a:r>
          </a:p>
        </p:txBody>
      </p:sp>
      <p:sp>
        <p:nvSpPr>
          <p:cNvPr id="15" name="TextBox 14"/>
          <p:cNvSpPr txBox="1"/>
          <p:nvPr/>
        </p:nvSpPr>
        <p:spPr>
          <a:xfrm>
            <a:off x="8207044" y="2542797"/>
            <a:ext cx="3344570"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расчёт по двум собранным раундам; раунда с живыми врачами не было</a:t>
            </a:r>
          </a:p>
        </p:txBody>
      </p:sp>
      <p:sp>
        <p:nvSpPr>
          <p:cNvPr id="16" name="Rounded Rectangle 15"/>
          <p:cNvSpPr/>
          <p:nvPr/>
        </p:nvSpPr>
        <p:spPr>
          <a:xfrm>
            <a:off x="374904" y="3405128"/>
            <a:ext cx="11441887" cy="2531547"/>
          </a:xfrm>
          <a:prstGeom prst="roundRect">
            <a:avLst>
              <a:gd name="adj" fmla="val 12040"/>
            </a:avLst>
          </a:prstGeom>
          <a:solidFill>
            <a:srgbClr val="F4F7FA"/>
          </a:solidFill>
          <a:ln w="19050">
            <a:solidFill>
              <a:srgbClr val="1C7293"/>
            </a:solidFill>
          </a:ln>
          <a:effectLst/>
        </p:spPr>
        <p:txBody>
          <a:bodyPr rtlCol="0" anchor="ctr"/>
          <a:lstStyle/>
          <a:p>
            <a:pPr algn="ctr"/>
          </a:p>
        </p:txBody>
      </p:sp>
      <p:sp>
        <p:nvSpPr>
          <p:cNvPr id="17" name="TextBox 16"/>
          <p:cNvSpPr txBox="1"/>
          <p:nvPr/>
        </p:nvSpPr>
        <p:spPr>
          <a:xfrm>
            <a:off x="539496" y="3496568"/>
            <a:ext cx="5373471" cy="2739639"/>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Что делали.</a:t>
            </a:r>
            <a:r>
              <a:rPr sz="1500" b="0" i="0">
                <a:solidFill>
                  <a:srgbClr val="21295C"/>
                </a:solidFill>
                <a:latin typeface="Arial"/>
              </a:rPr>
              <a:t> Сорок клиницистов читали МР-снимки колена на разрыв передней крестообразной связки — каждый снимок дважды: сам и с подсказкой модели.</a:t>
            </a:r>
          </a:p>
          <a:p>
            <a:pPr algn="l">
              <a:lnSpc>
                <a:spcPct val="126000"/>
              </a:lnSpc>
              <a:spcBef>
                <a:spcPts val="700"/>
              </a:spcBef>
            </a:pPr>
            <a:r>
              <a:rPr sz="1500" b="0" i="0">
                <a:solidFill>
                  <a:srgbClr val="21295C"/>
                </a:solidFill>
                <a:latin typeface="Arial"/>
              </a:rPr>
              <a:t/>
            </a:r>
            <a:r>
              <a:rPr sz="1500" b="1" i="0">
                <a:solidFill>
                  <a:srgbClr val="21295C"/>
                </a:solidFill>
                <a:latin typeface="Arial"/>
              </a:rPr>
              <a:t>Дало:</a:t>
            </a:r>
            <a:r>
              <a:rPr sz="1500" b="0" i="0">
                <a:solidFill>
                  <a:srgbClr val="21295C"/>
                </a:solidFill>
                <a:latin typeface="Arial"/>
              </a:rPr>
              <a:t> девять пунктов точности. </a:t>
            </a:r>
            <a:r>
              <a:rPr sz="1500" b="1" i="0">
                <a:solidFill>
                  <a:srgbClr val="21295C"/>
                </a:solidFill>
                <a:latin typeface="Arial"/>
              </a:rPr>
              <a:t>Потребовало:</a:t>
            </a:r>
            <a:r>
              <a:rPr sz="1500" b="0" i="0">
                <a:solidFill>
                  <a:srgbClr val="21295C"/>
                </a:solidFill>
                <a:latin typeface="Arial"/>
              </a:rPr>
              <a:t> почти половина оставшихся ошибок идёт от той же склонности — выигрыш и вред из одного места.</a:t>
            </a:r>
          </a:p>
        </p:txBody>
      </p:sp>
      <p:sp>
        <p:nvSpPr>
          <p:cNvPr id="18" name="TextBox 17"/>
          <p:cNvSpPr txBox="1"/>
          <p:nvPr/>
        </p:nvSpPr>
        <p:spPr>
          <a:xfrm>
            <a:off x="6278727" y="3496568"/>
            <a:ext cx="5373471" cy="2739639"/>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Модель на этом месте:</a:t>
            </a:r>
            <a:r>
              <a:rPr sz="1500" b="0" i="0">
                <a:solidFill>
                  <a:srgbClr val="21295C"/>
                </a:solidFill>
                <a:latin typeface="Arial"/>
              </a:rPr>
              <a:t> то же заключение, выданное до решения врача. </a:t>
            </a:r>
            <a:r>
              <a:rPr sz="1500" b="0" i="1">
                <a:solidFill>
                  <a:srgbClr val="21295C"/>
                </a:solidFill>
                <a:latin typeface="Arial"/>
              </a:rPr>
              <a:t>Классификация на изображении.</a:t>
            </a:r>
          </a:p>
          <a:p>
            <a:pPr algn="l">
              <a:lnSpc>
                <a:spcPct val="126000"/>
              </a:lnSpc>
              <a:spcBef>
                <a:spcPts val="700"/>
              </a:spcBef>
            </a:pPr>
            <a:r>
              <a:rPr sz="1500" b="0" i="0">
                <a:solidFill>
                  <a:srgbClr val="21295C"/>
                </a:solidFill>
                <a:latin typeface="Arial"/>
              </a:rPr>
              <a:t/>
            </a:r>
            <a:r>
              <a:rPr sz="1500" b="1" i="0">
                <a:solidFill>
                  <a:srgbClr val="21295C"/>
                </a:solidFill>
                <a:latin typeface="Arial"/>
              </a:rPr>
              <a:t>Формы словаря у лекарства нет — её присваивают измерению, не расчёту.</a:t>
            </a:r>
          </a:p>
          <a:p>
            <a:pPr algn="l">
              <a:lnSpc>
                <a:spcPct val="126000"/>
              </a:lnSpc>
              <a:spcBef>
                <a:spcPts val="700"/>
              </a:spcBef>
            </a:pPr>
            <a:r>
              <a:rPr sz="1500" b="0" i="0">
                <a:solidFill>
                  <a:srgbClr val="21295C"/>
                </a:solidFill>
                <a:latin typeface="Arial"/>
              </a:rPr>
              <a:t/>
            </a:r>
            <a:r>
              <a:rPr sz="1500" b="0" i="1">
                <a:solidFill>
                  <a:srgbClr val="21295C"/>
                </a:solidFill>
                <a:latin typeface="Arial"/>
              </a:rPr>
              <a:t>Для контраста:</a:t>
            </a:r>
            <a:r>
              <a:rPr sz="1500" b="0" i="0">
                <a:solidFill>
                  <a:srgbClr val="21295C"/>
                </a:solidFill>
                <a:latin typeface="Arial"/>
              </a:rPr>
              <a:t> график смен медсестёр 32,0 → 6,0 часа, обученной модели внутри нет: где цена промаха мала, дорогая процедура не окупается.</a:t>
            </a:r>
          </a:p>
        </p:txBody>
      </p:sp>
      <p:sp>
        <p:nvSpPr>
          <p:cNvPr id="19" name="Rectangle 18"/>
          <p:cNvSpPr/>
          <p:nvPr/>
        </p:nvSpPr>
        <p:spPr>
          <a:xfrm>
            <a:off x="6091275" y="3496568"/>
            <a:ext cx="9144" cy="2257227"/>
          </a:xfrm>
          <a:prstGeom prst="rect">
            <a:avLst/>
          </a:prstGeom>
          <a:solidFill>
            <a:srgbClr val="D9E2EC"/>
          </a:solidFill>
          <a:ln>
            <a:noFill/>
          </a:ln>
          <a:effectLst/>
        </p:spPr>
        <p:txBody>
          <a:bodyPr rtlCol="0" anchor="ctr"/>
          <a:lstStyle/>
          <a:p>
            <a:pPr algn="ctr"/>
          </a:p>
        </p:txBody>
      </p:sp>
      <p:sp>
        <p:nvSpPr>
          <p:cNvPr id="20" name="Rectangle 19"/>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21" name="TextBox 20"/>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Wang и соавт., JAMIA 2023</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Пример 2, с конца: норма есть, а проверки нет</a:t>
            </a:r>
          </a:p>
        </p:txBody>
      </p:sp>
      <p:sp>
        <p:nvSpPr>
          <p:cNvPr id="4" name="Rounded Rectangle 3"/>
          <p:cNvSpPr/>
          <p:nvPr/>
        </p:nvSpPr>
        <p:spPr>
          <a:xfrm>
            <a:off x="502920" y="1335024"/>
            <a:ext cx="5510631" cy="1376997"/>
          </a:xfrm>
          <a:prstGeom prst="roundRect">
            <a:avLst>
              <a:gd name="adj" fmla="val 22135"/>
            </a:avLst>
          </a:prstGeom>
          <a:solidFill>
            <a:srgbClr val="FFFFFF"/>
          </a:solidFill>
          <a:ln w="25400">
            <a:solidFill>
              <a:srgbClr val="F0AB00"/>
            </a:solidFill>
          </a:ln>
          <a:effectLst/>
        </p:spPr>
        <p:txBody>
          <a:bodyPr rtlCol="0" anchor="ctr"/>
          <a:lstStyle/>
          <a:p>
            <a:pPr algn="ctr"/>
          </a:p>
        </p:txBody>
      </p:sp>
      <p:sp>
        <p:nvSpPr>
          <p:cNvPr id="5" name="TextBox 4"/>
          <p:cNvSpPr txBox="1"/>
          <p:nvPr/>
        </p:nvSpPr>
        <p:spPr>
          <a:xfrm>
            <a:off x="640080" y="1472184"/>
            <a:ext cx="5236311"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ТЕСТИРОВАНИЕ С ЧЕЛОВЕКОМ В КОНТУРЕ</a:t>
            </a:r>
          </a:p>
        </p:txBody>
      </p:sp>
      <p:sp>
        <p:nvSpPr>
          <p:cNvPr id="6" name="TextBox 5"/>
          <p:cNvSpPr txBox="1"/>
          <p:nvPr/>
        </p:nvSpPr>
        <p:spPr>
          <a:xfrm>
            <a:off x="640080" y="1725375"/>
            <a:ext cx="5236311"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56 из 717</a:t>
            </a:r>
          </a:p>
        </p:txBody>
      </p:sp>
      <p:sp>
        <p:nvSpPr>
          <p:cNvPr id="7" name="TextBox 6"/>
          <p:cNvSpPr txBox="1"/>
          <p:nvPr/>
        </p:nvSpPr>
        <p:spPr>
          <a:xfrm>
            <a:off x="640080" y="2152374"/>
            <a:ext cx="5236311"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8 из ста радиологических изделий, июнь 2024; проспективное — 33, любое клиническое — 208, все от 717</a:t>
            </a:r>
          </a:p>
        </p:txBody>
      </p:sp>
      <p:sp>
        <p:nvSpPr>
          <p:cNvPr id="8" name="Rounded Rectangle 7"/>
          <p:cNvSpPr/>
          <p:nvPr/>
        </p:nvSpPr>
        <p:spPr>
          <a:xfrm>
            <a:off x="6178143" y="1335024"/>
            <a:ext cx="5510631" cy="1376997"/>
          </a:xfrm>
          <a:prstGeom prst="roundRect">
            <a:avLst>
              <a:gd name="adj" fmla="val 22135"/>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6315303" y="1472184"/>
            <a:ext cx="5236311"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ДОПУЩЕНЫ ПО ПОДОБИЮ</a:t>
            </a:r>
          </a:p>
        </p:txBody>
      </p:sp>
      <p:sp>
        <p:nvSpPr>
          <p:cNvPr id="10" name="TextBox 9"/>
          <p:cNvSpPr txBox="1"/>
          <p:nvPr/>
        </p:nvSpPr>
        <p:spPr>
          <a:xfrm>
            <a:off x="6315303" y="1725375"/>
            <a:ext cx="5236311"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924 из 950</a:t>
            </a:r>
          </a:p>
        </p:txBody>
      </p:sp>
      <p:sp>
        <p:nvSpPr>
          <p:cNvPr id="11" name="TextBox 10"/>
          <p:cNvSpPr txBox="1"/>
          <p:nvPr/>
        </p:nvSpPr>
        <p:spPr>
          <a:xfrm>
            <a:off x="6315303" y="2152374"/>
            <a:ext cx="5236311"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97 из ста; свой знаменатель и срез</a:t>
            </a:r>
          </a:p>
        </p:txBody>
      </p:sp>
      <p:sp>
        <p:nvSpPr>
          <p:cNvPr id="12" name="Rounded Rectangle 11"/>
          <p:cNvSpPr/>
          <p:nvPr/>
        </p:nvSpPr>
        <p:spPr>
          <a:xfrm>
            <a:off x="374904" y="2803461"/>
            <a:ext cx="11441887" cy="3214570"/>
          </a:xfrm>
          <a:prstGeom prst="roundRect">
            <a:avLst>
              <a:gd name="adj" fmla="val 9481"/>
            </a:avLst>
          </a:prstGeom>
          <a:solidFill>
            <a:srgbClr val="F4F7FA"/>
          </a:solidFill>
          <a:ln w="19050">
            <a:solidFill>
              <a:srgbClr val="1C7293"/>
            </a:solidFill>
          </a:ln>
          <a:effectLst/>
        </p:spPr>
        <p:txBody>
          <a:bodyPr rtlCol="0" anchor="ctr"/>
          <a:lstStyle/>
          <a:p>
            <a:pPr algn="ctr"/>
          </a:p>
        </p:txBody>
      </p:sp>
      <p:sp>
        <p:nvSpPr>
          <p:cNvPr id="13" name="TextBox 12"/>
          <p:cNvSpPr txBox="1"/>
          <p:nvPr/>
        </p:nvSpPr>
        <p:spPr>
          <a:xfrm>
            <a:off x="539496" y="2894901"/>
            <a:ext cx="5373471" cy="3341306"/>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Что делали.</a:t>
            </a:r>
            <a:r>
              <a:rPr sz="1500" b="0" i="0">
                <a:solidFill>
                  <a:srgbClr val="21295C"/>
                </a:solidFill>
                <a:latin typeface="Arial"/>
              </a:rPr>
              <a:t> Производитель подаёт регулятору документацию, тот по ней допускает изделие в работу. Обзор прочёл её по 717 радиологическим изделиям: было ли испытание с человеком в контуре.</a:t>
            </a:r>
          </a:p>
          <a:p>
            <a:pPr algn="l">
              <a:lnSpc>
                <a:spcPct val="126000"/>
              </a:lnSpc>
              <a:spcBef>
                <a:spcPts val="700"/>
              </a:spcBef>
            </a:pPr>
            <a:r>
              <a:rPr sz="1500" b="0" i="0">
                <a:solidFill>
                  <a:srgbClr val="21295C"/>
                </a:solidFill>
                <a:latin typeface="Arial"/>
              </a:rPr>
              <a:t/>
            </a:r>
            <a:r>
              <a:rPr sz="1500" b="1" i="0">
                <a:solidFill>
                  <a:srgbClr val="21295C"/>
                </a:solidFill>
                <a:latin typeface="Arial"/>
              </a:rPr>
              <a:t>С конца: сначала чем кончился, счёт — следом.</a:t>
            </a:r>
          </a:p>
          <a:p>
            <a:pPr algn="l">
              <a:lnSpc>
                <a:spcPct val="126000"/>
              </a:lnSpc>
              <a:spcBef>
                <a:spcPts val="700"/>
              </a:spcBef>
            </a:pPr>
            <a:r>
              <a:rPr sz="1500" b="0" i="0">
                <a:solidFill>
                  <a:srgbClr val="21295C"/>
                </a:solidFill>
                <a:latin typeface="Arial"/>
              </a:rPr>
              <a:t/>
            </a:r>
            <a:r>
              <a:rPr sz="1500" b="0" i="0">
                <a:solidFill>
                  <a:srgbClr val="21295C"/>
                </a:solidFill>
                <a:latin typeface="Arial"/>
              </a:rPr>
              <a:t>Регулятор требует: человек остаётся финальным звеном. </a:t>
            </a:r>
            <a:r>
              <a:rPr sz="1500" b="0" i="1">
                <a:solidFill>
                  <a:srgbClr val="21295C"/>
                </a:solidFill>
                <a:latin typeface="Arial"/>
              </a:rPr>
              <a:t>Статья 14 (ЕС 2024/1689): понять ограничения, не поддаться доверию автомату, истолковать вывод, не согласиться, остановить.</a:t>
            </a:r>
          </a:p>
        </p:txBody>
      </p:sp>
      <p:sp>
        <p:nvSpPr>
          <p:cNvPr id="14" name="TextBox 13"/>
          <p:cNvSpPr txBox="1"/>
          <p:nvPr/>
        </p:nvSpPr>
        <p:spPr>
          <a:xfrm>
            <a:off x="6278727" y="2894901"/>
            <a:ext cx="5373471" cy="3341306"/>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Норма требует способности вмешаться. Присутствие этого не даёт.</a:t>
            </a:r>
          </a:p>
          <a:p>
            <a:pPr algn="l">
              <a:lnSpc>
                <a:spcPct val="126000"/>
              </a:lnSpc>
              <a:spcBef>
                <a:spcPts val="700"/>
              </a:spcBef>
            </a:pPr>
            <a:r>
              <a:rPr sz="1500" b="0" i="0">
                <a:solidFill>
                  <a:srgbClr val="21295C"/>
                </a:solidFill>
                <a:latin typeface="Arial"/>
              </a:rPr>
              <a:t/>
            </a:r>
            <a:r>
              <a:rPr sz="1500" b="1" i="0">
                <a:solidFill>
                  <a:srgbClr val="21295C"/>
                </a:solidFill>
                <a:latin typeface="Arial"/>
              </a:rPr>
              <a:t>Другой стороной: у 661 изделия из 717 такой проверки при допуске не было.</a:t>
            </a:r>
          </a:p>
          <a:p>
            <a:pPr algn="l">
              <a:lnSpc>
                <a:spcPct val="126000"/>
              </a:lnSpc>
              <a:spcBef>
                <a:spcPts val="700"/>
              </a:spcBef>
            </a:pPr>
            <a:r>
              <a:rPr sz="1500" b="0" i="0">
                <a:solidFill>
                  <a:srgbClr val="21295C"/>
                </a:solidFill>
                <a:latin typeface="Arial"/>
              </a:rPr>
              <a:t/>
            </a:r>
            <a:r>
              <a:rPr sz="1500" b="1" i="0">
                <a:solidFill>
                  <a:srgbClr val="21295C"/>
                </a:solidFill>
                <a:latin typeface="Arial"/>
              </a:rPr>
              <a:t>Предмет счёта — процедуры допуска: имён перепись не печатает.</a:t>
            </a:r>
          </a:p>
          <a:p>
            <a:pPr algn="l">
              <a:lnSpc>
                <a:spcPct val="126000"/>
              </a:lnSpc>
              <a:spcBef>
                <a:spcPts val="700"/>
              </a:spcBef>
            </a:pPr>
            <a:r>
              <a:rPr sz="1500" b="0" i="0">
                <a:solidFill>
                  <a:srgbClr val="21295C"/>
                </a:solidFill>
                <a:latin typeface="Arial"/>
              </a:rPr>
              <a:t/>
            </a:r>
            <a:r>
              <a:rPr sz="1500" b="1" i="0">
                <a:solidFill>
                  <a:srgbClr val="21295C"/>
                </a:solidFill>
                <a:latin typeface="Arial"/>
              </a:rPr>
              <a:t>Где в вашем контуре нужна подпись под тем, что решил автомат, — и проверял ли кто-нибудь, что вы успеваете это прочитать?</a:t>
            </a:r>
          </a:p>
        </p:txBody>
      </p:sp>
      <p:sp>
        <p:nvSpPr>
          <p:cNvPr id="15" name="Rectangle 14"/>
          <p:cNvSpPr/>
          <p:nvPr/>
        </p:nvSpPr>
        <p:spPr>
          <a:xfrm>
            <a:off x="6091275" y="2894901"/>
            <a:ext cx="9144" cy="2940250"/>
          </a:xfrm>
          <a:prstGeom prst="rect">
            <a:avLst/>
          </a:prstGeom>
          <a:solidFill>
            <a:srgbClr val="D9E2EC"/>
          </a:solidFill>
          <a:ln>
            <a:noFill/>
          </a:ln>
          <a:effectLst/>
        </p:spPr>
        <p:txBody>
          <a:bodyPr rtlCol="0" anchor="ctr"/>
          <a:lstStyle/>
          <a:p>
            <a:pPr algn="ctr"/>
          </a:p>
        </p:txBody>
      </p:sp>
      <p:sp>
        <p:nvSpPr>
          <p:cNvPr id="16" name="Rectangle 15"/>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17" name="TextBox 16"/>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Обзор документации регуляторов, JAMA Network Open 2025</a:t>
            </a:r>
            <a:r>
              <a:rPr sz="1200" b="0" i="1">
                <a:solidFill>
                  <a:srgbClr val="1C7293"/>
                </a:solidFill>
                <a:latin typeface="Arial"/>
              </a:rPr>
              <a:t> · </a:t>
            </a:r>
            <a:r>
              <a:rPr sz="1200" b="0" i="1" u="sng">
                <a:solidFill>
                  <a:srgbClr val="065A82"/>
                </a:solidFill>
                <a:latin typeface="Arial"/>
                <a:hlinkClick r:id="rId3"/>
              </a:rPr>
              <a:t>Регламент (ЕС) 2024/1689</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Пример 2: двойное чтение в минутах труда</a:t>
            </a:r>
          </a:p>
        </p:txBody>
      </p:sp>
      <p:sp>
        <p:nvSpPr>
          <p:cNvPr id="4" name="Rounded Rectangle 3"/>
          <p:cNvSpPr/>
          <p:nvPr/>
        </p:nvSpPr>
        <p:spPr>
          <a:xfrm>
            <a:off x="502920" y="1335024"/>
            <a:ext cx="3618890" cy="1978664"/>
          </a:xfrm>
          <a:prstGeom prst="roundRect">
            <a:avLst>
              <a:gd name="adj" fmla="val 15404"/>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ДВОЕ ЛЮДЕЙ → ОДИН С МОДЕЛЬЮ</a:t>
            </a:r>
          </a:p>
        </p:txBody>
      </p:sp>
      <p:sp>
        <p:nvSpPr>
          <p:cNvPr id="6" name="TextBox 5"/>
          <p:cNvSpPr txBox="1"/>
          <p:nvPr/>
        </p:nvSpPr>
        <p:spPr>
          <a:xfrm>
            <a:off x="640080" y="1725375"/>
            <a:ext cx="3344570"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73,8 → 80,5 из ста раков</a:t>
            </a:r>
          </a:p>
        </p:txBody>
      </p:sp>
      <p:sp>
        <p:nvSpPr>
          <p:cNvPr id="7" name="TextBox 6"/>
          <p:cNvSpPr txBox="1"/>
          <p:nvPr/>
        </p:nvSpPr>
        <p:spPr>
          <a:xfrm>
            <a:off x="640080" y="2542797"/>
            <a:ext cx="3344570"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чувствительность — доля найденного среди больных, не среди обследованных; та же программа</a:t>
            </a:r>
          </a:p>
        </p:txBody>
      </p:sp>
      <p:sp>
        <p:nvSpPr>
          <p:cNvPr id="8" name="Rounded Rectangle 7"/>
          <p:cNvSpPr/>
          <p:nvPr/>
        </p:nvSpPr>
        <p:spPr>
          <a:xfrm>
            <a:off x="4286402" y="1335024"/>
            <a:ext cx="3618890" cy="1978664"/>
          </a:xfrm>
          <a:prstGeom prst="roundRect">
            <a:avLst>
              <a:gd name="adj" fmla="val 15404"/>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4423562" y="1472184"/>
            <a:ext cx="3344570"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ЧТЕНИЕ МАММОГРАММЫ → РАЗБОР РАСХОЖДЕНИЯ</a:t>
            </a:r>
          </a:p>
        </p:txBody>
      </p:sp>
      <p:sp>
        <p:nvSpPr>
          <p:cNvPr id="10" name="TextBox 9"/>
          <p:cNvSpPr txBox="1"/>
          <p:nvPr/>
        </p:nvSpPr>
        <p:spPr>
          <a:xfrm>
            <a:off x="4423562" y="1932846"/>
            <a:ext cx="3344570"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48 секунд → 2 мин 12 с</a:t>
            </a:r>
          </a:p>
        </p:txBody>
      </p:sp>
      <p:sp>
        <p:nvSpPr>
          <p:cNvPr id="11" name="TextBox 10"/>
          <p:cNvSpPr txBox="1"/>
          <p:nvPr/>
        </p:nvSpPr>
        <p:spPr>
          <a:xfrm>
            <a:off x="4423562" y="2359845"/>
            <a:ext cx="3344570"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в 4,6 раза дольше по медианам, в 2,75 по средним; база — 441 276 прочтений, 16 центров</a:t>
            </a:r>
          </a:p>
        </p:txBody>
      </p:sp>
      <p:sp>
        <p:nvSpPr>
          <p:cNvPr id="12" name="Rounded Rectangle 11"/>
          <p:cNvSpPr/>
          <p:nvPr/>
        </p:nvSpPr>
        <p:spPr>
          <a:xfrm>
            <a:off x="8069884" y="1335024"/>
            <a:ext cx="3618890" cy="1978664"/>
          </a:xfrm>
          <a:prstGeom prst="roundRect">
            <a:avLst>
              <a:gd name="adj" fmla="val 15404"/>
            </a:avLst>
          </a:prstGeom>
          <a:solidFill>
            <a:srgbClr val="FFFFFF"/>
          </a:solidFill>
          <a:ln w="25400">
            <a:solidFill>
              <a:srgbClr val="F0AB00"/>
            </a:solidFill>
          </a:ln>
          <a:effectLst/>
        </p:spPr>
        <p:txBody>
          <a:bodyPr rtlCol="0" anchor="ctr"/>
          <a:lstStyle/>
          <a:p>
            <a:pPr algn="ctr"/>
          </a:p>
        </p:txBody>
      </p:sp>
      <p:sp>
        <p:nvSpPr>
          <p:cNvPr id="13" name="TextBox 12"/>
          <p:cNvSpPr txBox="1"/>
          <p:nvPr/>
        </p:nvSpPr>
        <p:spPr>
          <a:xfrm>
            <a:off x="8207044" y="1472184"/>
            <a:ext cx="3344570"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ОБЪЁМ АРБИТРАЖА ПРИ ВДВОЕ МЕНЬШЕМ ЧИСЛЕ ЧТЕНИЙ</a:t>
            </a:r>
          </a:p>
        </p:txBody>
      </p:sp>
      <p:sp>
        <p:nvSpPr>
          <p:cNvPr id="14" name="TextBox 13"/>
          <p:cNvSpPr txBox="1"/>
          <p:nvPr/>
        </p:nvSpPr>
        <p:spPr>
          <a:xfrm>
            <a:off x="8207044" y="1932846"/>
            <a:ext cx="3344570"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+53 процента</a:t>
            </a:r>
          </a:p>
        </p:txBody>
      </p:sp>
      <p:sp>
        <p:nvSpPr>
          <p:cNvPr id="15" name="TextBox 14"/>
          <p:cNvSpPr txBox="1"/>
          <p:nvPr/>
        </p:nvSpPr>
        <p:spPr>
          <a:xfrm>
            <a:off x="8207044" y="2359845"/>
            <a:ext cx="3344570"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от 22 до 142 между двумя центрами</a:t>
            </a:r>
          </a:p>
        </p:txBody>
      </p:sp>
      <p:sp>
        <p:nvSpPr>
          <p:cNvPr id="16" name="Rounded Rectangle 15"/>
          <p:cNvSpPr/>
          <p:nvPr/>
        </p:nvSpPr>
        <p:spPr>
          <a:xfrm>
            <a:off x="374904" y="3405128"/>
            <a:ext cx="11441887" cy="2531547"/>
          </a:xfrm>
          <a:prstGeom prst="roundRect">
            <a:avLst>
              <a:gd name="adj" fmla="val 12040"/>
            </a:avLst>
          </a:prstGeom>
          <a:solidFill>
            <a:srgbClr val="F4F7FA"/>
          </a:solidFill>
          <a:ln w="19050">
            <a:solidFill>
              <a:srgbClr val="1C7293"/>
            </a:solidFill>
          </a:ln>
          <a:effectLst/>
        </p:spPr>
        <p:txBody>
          <a:bodyPr rtlCol="0" anchor="ctr"/>
          <a:lstStyle/>
          <a:p>
            <a:pPr algn="ctr"/>
          </a:p>
        </p:txBody>
      </p:sp>
      <p:sp>
        <p:nvSpPr>
          <p:cNvPr id="17" name="TextBox 16"/>
          <p:cNvSpPr txBox="1"/>
          <p:nvPr/>
        </p:nvSpPr>
        <p:spPr>
          <a:xfrm>
            <a:off x="539496" y="3496568"/>
            <a:ext cx="5373471" cy="2739639"/>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Что делали.</a:t>
            </a:r>
            <a:r>
              <a:rPr sz="1500" b="0" i="0">
                <a:solidFill>
                  <a:srgbClr val="21295C"/>
                </a:solidFill>
                <a:latin typeface="Arial"/>
              </a:rPr>
              <a:t> Каждую маммограмму читали двое независимо, расхождение разбирал третий. Потом место второго читателя заняла модель.</a:t>
            </a:r>
          </a:p>
          <a:p>
            <a:pPr algn="l">
              <a:lnSpc>
                <a:spcPct val="126000"/>
              </a:lnSpc>
              <a:spcBef>
                <a:spcPts val="700"/>
              </a:spcBef>
            </a:pPr>
            <a:r>
              <a:rPr sz="1500" b="0" i="0">
                <a:solidFill>
                  <a:srgbClr val="21295C"/>
                </a:solidFill>
                <a:latin typeface="Arial"/>
              </a:rPr>
              <a:t/>
            </a:r>
            <a:r>
              <a:rPr sz="1500" b="1" i="0">
                <a:solidFill>
                  <a:srgbClr val="21295C"/>
                </a:solidFill>
                <a:latin typeface="Arial"/>
              </a:rPr>
              <a:t>Цена обеих ошибок у подписи.</a:t>
            </a:r>
            <a:r>
              <a:rPr sz="1500" b="0" i="0">
                <a:solidFill>
                  <a:srgbClr val="21295C"/>
                </a:solidFill>
                <a:latin typeface="Arial"/>
              </a:rPr>
              <a:t> И пропущенный диагноз, и лишнее вмешательство: подпись человеческая, платит исходом пациент.</a:t>
            </a:r>
          </a:p>
        </p:txBody>
      </p:sp>
      <p:sp>
        <p:nvSpPr>
          <p:cNvPr id="18" name="TextBox 17"/>
          <p:cNvSpPr txBox="1"/>
          <p:nvPr/>
        </p:nvSpPr>
        <p:spPr>
          <a:xfrm>
            <a:off x="6278727" y="3496568"/>
            <a:ext cx="5373471" cy="2739639"/>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Классических режимов два.</a:t>
            </a:r>
            <a:r>
              <a:rPr sz="1500" b="0" i="0">
                <a:solidFill>
                  <a:srgbClr val="21295C"/>
                </a:solidFill>
                <a:latin typeface="Arial"/>
              </a:rPr>
              <a:t> Один читатель без арбитража — назван, своего числа не имеет. Двое с арбитражем — посчитаны, сразу в двух единицах.</a:t>
            </a:r>
          </a:p>
          <a:p>
            <a:pPr algn="l">
              <a:lnSpc>
                <a:spcPct val="126000"/>
              </a:lnSpc>
              <a:spcBef>
                <a:spcPts val="700"/>
              </a:spcBef>
            </a:pPr>
            <a:r>
              <a:rPr sz="1500" b="0" i="0">
                <a:solidFill>
                  <a:srgbClr val="21295C"/>
                </a:solidFill>
                <a:latin typeface="Arial"/>
              </a:rPr>
              <a:t/>
            </a:r>
            <a:r>
              <a:rPr sz="1500" b="1" i="0">
                <a:solidFill>
                  <a:srgbClr val="21295C"/>
                </a:solidFill>
                <a:latin typeface="Arial"/>
              </a:rPr>
              <a:t>Другой стороной: двойное чтение не находит 26,2 рака из ста, с моделью — 19,5.</a:t>
            </a:r>
          </a:p>
          <a:p>
            <a:pPr algn="l">
              <a:lnSpc>
                <a:spcPct val="126000"/>
              </a:lnSpc>
              <a:spcBef>
                <a:spcPts val="700"/>
              </a:spcBef>
            </a:pPr>
            <a:r>
              <a:rPr sz="1500" b="0" i="0">
                <a:solidFill>
                  <a:srgbClr val="21295C"/>
                </a:solidFill>
                <a:latin typeface="Arial"/>
              </a:rPr>
              <a:t/>
            </a:r>
            <a:r>
              <a:rPr sz="1500" b="1" i="0">
                <a:solidFill>
                  <a:srgbClr val="21295C"/>
                </a:solidFill>
                <a:latin typeface="Arial"/>
              </a:rPr>
              <a:t>Экономия на одном шаге не обязана компенсировать рост другого.</a:t>
            </a:r>
          </a:p>
        </p:txBody>
      </p:sp>
      <p:sp>
        <p:nvSpPr>
          <p:cNvPr id="19" name="Rectangle 18"/>
          <p:cNvSpPr/>
          <p:nvPr/>
        </p:nvSpPr>
        <p:spPr>
          <a:xfrm>
            <a:off x="6091275" y="3496568"/>
            <a:ext cx="9144" cy="2257227"/>
          </a:xfrm>
          <a:prstGeom prst="rect">
            <a:avLst/>
          </a:prstGeom>
          <a:solidFill>
            <a:srgbClr val="D9E2EC"/>
          </a:solidFill>
          <a:ln>
            <a:noFill/>
          </a:ln>
          <a:effectLst/>
        </p:spPr>
        <p:txBody>
          <a:bodyPr rtlCol="0" anchor="ctr"/>
          <a:lstStyle/>
          <a:p>
            <a:pPr algn="ctr"/>
          </a:p>
        </p:txBody>
      </p:sp>
      <p:sp>
        <p:nvSpPr>
          <p:cNvPr id="20" name="Rectangle 19"/>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21" name="TextBox 20"/>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Hovda, Holen, Hofvind, European Radiology 2026</a:t>
            </a:r>
            <a:r>
              <a:rPr sz="1200" b="0" i="1">
                <a:solidFill>
                  <a:srgbClr val="1C7293"/>
                </a:solidFill>
                <a:latin typeface="Arial"/>
              </a:rPr>
              <a:t> · </a:t>
            </a:r>
            <a:r>
              <a:rPr sz="1200" b="0" i="1" u="sng">
                <a:solidFill>
                  <a:srgbClr val="065A82"/>
                </a:solidFill>
                <a:latin typeface="Arial"/>
                <a:hlinkClick r:id="rId3"/>
              </a:rPr>
              <a:t>Warren и соавт., Nature Cancer 2026</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500" b="1" i="0">
                <a:solidFill>
                  <a:srgbClr val="21295C"/>
                </a:solidFill>
                <a:latin typeface="Arial"/>
              </a:rPr>
              <a:t>Четыре участника: контроль у одного, ответственность у другого</a:t>
            </a:r>
          </a:p>
        </p:txBody>
      </p:sp>
      <p:sp>
        <p:nvSpPr>
          <p:cNvPr id="4" name="Rounded Rectangle 3"/>
          <p:cNvSpPr/>
          <p:nvPr/>
        </p:nvSpPr>
        <p:spPr>
          <a:xfrm>
            <a:off x="502920" y="1335024"/>
            <a:ext cx="2686735" cy="1188339"/>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5" name="TextBox 4"/>
          <p:cNvSpPr txBox="1"/>
          <p:nvPr/>
        </p:nvSpPr>
        <p:spPr>
          <a:xfrm>
            <a:off x="585216" y="1380744"/>
            <a:ext cx="2522143" cy="1096899"/>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Разработчик</a:t>
            </a:r>
          </a:p>
          <a:p>
            <a:pPr algn="ctr">
              <a:lnSpc>
                <a:spcPct val="112000"/>
              </a:lnSpc>
            </a:pPr>
            <a:r>
              <a:rPr sz="1350" b="0" i="0">
                <a:solidFill>
                  <a:srgbClr val="21295C"/>
                </a:solidFill>
                <a:latin typeface="Arial"/>
              </a:rPr>
              <a:t>данные, устройство, обновления → соответствие назначению</a:t>
            </a:r>
          </a:p>
        </p:txBody>
      </p:sp>
      <p:sp>
        <p:nvSpPr>
          <p:cNvPr id="6" name="Rounded Rectangle 5"/>
          <p:cNvSpPr/>
          <p:nvPr/>
        </p:nvSpPr>
        <p:spPr>
          <a:xfrm>
            <a:off x="3335959" y="1335024"/>
            <a:ext cx="2686735" cy="1188339"/>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7" name="TextBox 6"/>
          <p:cNvSpPr txBox="1"/>
          <p:nvPr/>
        </p:nvSpPr>
        <p:spPr>
          <a:xfrm>
            <a:off x="3418255" y="1380744"/>
            <a:ext cx="2522143" cy="1096899"/>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Врач</a:t>
            </a:r>
          </a:p>
          <a:p>
            <a:pPr algn="ctr">
              <a:lnSpc>
                <a:spcPct val="112000"/>
              </a:lnSpc>
            </a:pPr>
            <a:r>
              <a:rPr sz="1350" b="0" i="0">
                <a:solidFill>
                  <a:srgbClr val="21295C"/>
                </a:solidFill>
                <a:latin typeface="Arial"/>
              </a:rPr>
              <a:t>решение по одному человеку → это решение целиком</a:t>
            </a:r>
          </a:p>
        </p:txBody>
      </p:sp>
      <p:sp>
        <p:nvSpPr>
          <p:cNvPr id="8" name="Rounded Rectangle 7"/>
          <p:cNvSpPr/>
          <p:nvPr/>
        </p:nvSpPr>
        <p:spPr>
          <a:xfrm>
            <a:off x="6168999" y="1335024"/>
            <a:ext cx="2686735" cy="1188339"/>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9" name="TextBox 8"/>
          <p:cNvSpPr txBox="1"/>
          <p:nvPr/>
        </p:nvSpPr>
        <p:spPr>
          <a:xfrm>
            <a:off x="6251295" y="1380744"/>
            <a:ext cx="2522143" cy="1096899"/>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Больница</a:t>
            </a:r>
          </a:p>
          <a:p>
            <a:pPr algn="ctr">
              <a:lnSpc>
                <a:spcPct val="112000"/>
              </a:lnSpc>
            </a:pPr>
            <a:r>
              <a:rPr sz="1350" b="0" i="0">
                <a:solidFill>
                  <a:srgbClr val="21295C"/>
                </a:solidFill>
                <a:latin typeface="Arial"/>
              </a:rPr>
              <a:t>закупка, обучение, порядок → организация работы</a:t>
            </a:r>
          </a:p>
        </p:txBody>
      </p:sp>
      <p:sp>
        <p:nvSpPr>
          <p:cNvPr id="10" name="Rounded Rectangle 9"/>
          <p:cNvSpPr/>
          <p:nvPr/>
        </p:nvSpPr>
        <p:spPr>
          <a:xfrm>
            <a:off x="9002039" y="1335024"/>
            <a:ext cx="2686735" cy="1188339"/>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1" name="TextBox 10"/>
          <p:cNvSpPr txBox="1"/>
          <p:nvPr/>
        </p:nvSpPr>
        <p:spPr>
          <a:xfrm>
            <a:off x="9084335" y="1380744"/>
            <a:ext cx="2522143" cy="1096899"/>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Регулятор</a:t>
            </a:r>
          </a:p>
          <a:p>
            <a:pPr algn="ctr">
              <a:lnSpc>
                <a:spcPct val="112000"/>
              </a:lnSpc>
            </a:pPr>
            <a:r>
              <a:rPr sz="1350" b="0" i="0">
                <a:solidFill>
                  <a:srgbClr val="21295C"/>
                </a:solidFill>
                <a:latin typeface="Arial"/>
              </a:rPr>
              <a:t>допуск и надзор → рамка</a:t>
            </a:r>
          </a:p>
        </p:txBody>
      </p:sp>
      <p:sp>
        <p:nvSpPr>
          <p:cNvPr id="12" name="TextBox 11"/>
          <p:cNvSpPr txBox="1"/>
          <p:nvPr/>
        </p:nvSpPr>
        <p:spPr>
          <a:xfrm>
            <a:off x="502920" y="2559939"/>
            <a:ext cx="11185855"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Контролирует → отвечает. Шов проходит по подписи врача</a:t>
            </a:r>
          </a:p>
        </p:txBody>
      </p:sp>
      <p:sp>
        <p:nvSpPr>
          <p:cNvPr id="13" name="Rounded Rectangle 12"/>
          <p:cNvSpPr/>
          <p:nvPr/>
        </p:nvSpPr>
        <p:spPr>
          <a:xfrm>
            <a:off x="374904" y="2862623"/>
            <a:ext cx="11441887" cy="2056686"/>
          </a:xfrm>
          <a:prstGeom prst="roundRect">
            <a:avLst>
              <a:gd name="adj" fmla="val 14819"/>
            </a:avLst>
          </a:prstGeom>
          <a:solidFill>
            <a:srgbClr val="F4F7FA"/>
          </a:solidFill>
          <a:ln w="19050">
            <a:solidFill>
              <a:srgbClr val="1C7293"/>
            </a:solidFill>
          </a:ln>
          <a:effectLst/>
        </p:spPr>
        <p:txBody>
          <a:bodyPr rtlCol="0" anchor="ctr"/>
          <a:lstStyle/>
          <a:p>
            <a:pPr algn="ctr"/>
          </a:p>
        </p:txBody>
      </p:sp>
      <p:sp>
        <p:nvSpPr>
          <p:cNvPr id="14" name="TextBox 13"/>
          <p:cNvSpPr txBox="1"/>
          <p:nvPr/>
        </p:nvSpPr>
        <p:spPr>
          <a:xfrm>
            <a:off x="539496" y="2954063"/>
            <a:ext cx="5373471" cy="3282144"/>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Измерено, во что обходится несогласие.</a:t>
            </a:r>
            <a:r>
              <a:rPr sz="1500" b="0" i="0">
                <a:solidFill>
                  <a:srgbClr val="21295C"/>
                </a:solidFill>
                <a:latin typeface="Arial"/>
              </a:rPr>
              <a:t> Врача, принявшего подсказку в пользу стандартного лечения, оценивают разумнее отвергнувшего. Так судят и присяжные, и — отдельной выборкой — </a:t>
            </a:r>
            <a:r>
              <a:rPr sz="1500" b="1" i="0">
                <a:solidFill>
                  <a:srgbClr val="21295C"/>
                </a:solidFill>
                <a:latin typeface="Arial"/>
              </a:rPr>
              <a:t>248 немецких врачей</a:t>
            </a:r>
            <a:r>
              <a:rPr sz="1500" b="0" i="0">
                <a:solidFill>
                  <a:srgbClr val="21295C"/>
                </a:solidFill>
                <a:latin typeface="Arial"/>
              </a:rPr>
              <a:t>, та сторона, которой порядок и поручает разбор. При нестандартной рекомендации разницы нет.</a:t>
            </a:r>
          </a:p>
        </p:txBody>
      </p:sp>
      <p:sp>
        <p:nvSpPr>
          <p:cNvPr id="15" name="TextBox 14"/>
          <p:cNvSpPr txBox="1"/>
          <p:nvPr/>
        </p:nvSpPr>
        <p:spPr>
          <a:xfrm>
            <a:off x="6278727" y="2954063"/>
            <a:ext cx="5373471" cy="3282144"/>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Отсюда четвёртая ступень:</a:t>
            </a:r>
            <a:r>
              <a:rPr sz="1500" b="0" i="0">
                <a:solidFill>
                  <a:srgbClr val="21295C"/>
                </a:solidFill>
                <a:latin typeface="Arial"/>
              </a:rPr>
              <a:t> подписать не глядя — дешёвый ход в заданном порядке.</a:t>
            </a:r>
          </a:p>
          <a:p>
            <a:pPr algn="l">
              <a:lnSpc>
                <a:spcPct val="126000"/>
              </a:lnSpc>
              <a:spcBef>
                <a:spcPts val="700"/>
              </a:spcBef>
            </a:pPr>
            <a:r>
              <a:rPr sz="1500" b="0" i="0">
                <a:solidFill>
                  <a:srgbClr val="21295C"/>
                </a:solidFill>
                <a:latin typeface="Arial"/>
              </a:rPr>
              <a:t/>
            </a:r>
            <a:r>
              <a:rPr sz="1500" b="1" i="0">
                <a:solidFill>
                  <a:srgbClr val="21295C"/>
                </a:solidFill>
                <a:latin typeface="Arial"/>
              </a:rPr>
              <a:t>Ответственность по шву передана, проверка способности её нести — нет: 56 из 717 радиологических изделий, июнь 2024.</a:t>
            </a:r>
          </a:p>
        </p:txBody>
      </p:sp>
      <p:sp>
        <p:nvSpPr>
          <p:cNvPr id="16" name="Rectangle 15"/>
          <p:cNvSpPr/>
          <p:nvPr/>
        </p:nvSpPr>
        <p:spPr>
          <a:xfrm>
            <a:off x="6091275" y="2954063"/>
            <a:ext cx="9144" cy="1782366"/>
          </a:xfrm>
          <a:prstGeom prst="rect">
            <a:avLst/>
          </a:prstGeom>
          <a:solidFill>
            <a:srgbClr val="D9E2EC"/>
          </a:solidFill>
          <a:ln>
            <a:noFill/>
          </a:ln>
          <a:effectLst/>
        </p:spPr>
        <p:txBody>
          <a:bodyPr rtlCol="0" anchor="ctr"/>
          <a:lstStyle/>
          <a:p>
            <a:pPr algn="ctr"/>
          </a:p>
        </p:txBody>
      </p:sp>
      <p:sp>
        <p:nvSpPr>
          <p:cNvPr id="17" name="Rectangle 16"/>
          <p:cNvSpPr/>
          <p:nvPr/>
        </p:nvSpPr>
        <p:spPr>
          <a:xfrm>
            <a:off x="502920" y="854141"/>
            <a:ext cx="960120" cy="50292"/>
          </a:xfrm>
          <a:prstGeom prst="rect">
            <a:avLst/>
          </a:prstGeom>
          <a:solidFill>
            <a:srgbClr val="F0AB00"/>
          </a:solidFill>
          <a:ln>
            <a:noFill/>
          </a:ln>
          <a:effectLst/>
        </p:spPr>
        <p:txBody>
          <a:bodyPr rtlCol="0" anchor="ctr"/>
          <a:lstStyle/>
          <a:p>
            <a:pPr algn="ctr"/>
          </a:p>
        </p:txBody>
      </p:sp>
      <p:sp>
        <p:nvSpPr>
          <p:cNvPr id="18" name="TextBox 17"/>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Tacconelli и соавт., Journal of Nuclear Medicine 2026</a:t>
            </a:r>
            <a:r>
              <a:rPr sz="1200" b="0" i="1">
                <a:solidFill>
                  <a:srgbClr val="1C7293"/>
                </a:solidFill>
                <a:latin typeface="Arial"/>
              </a:rPr>
              <a:t> · </a:t>
            </a:r>
            <a:r>
              <a:rPr sz="1200" b="0" i="1" u="sng">
                <a:solidFill>
                  <a:srgbClr val="065A82"/>
                </a:solidFill>
                <a:latin typeface="Arial"/>
                <a:hlinkClick r:id="rId3"/>
              </a:rPr>
              <a:t>Tobia и соавт., там же 2021</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Кого норматив считает подходящим человеком</a:t>
            </a:r>
          </a:p>
        </p:txBody>
      </p:sp>
      <p:sp>
        <p:nvSpPr>
          <p:cNvPr id="4" name="Rounded Rectangle 3"/>
          <p:cNvSpPr/>
          <p:nvPr/>
        </p:nvSpPr>
        <p:spPr>
          <a:xfrm>
            <a:off x="502920" y="1335024"/>
            <a:ext cx="5510631" cy="1556177"/>
          </a:xfrm>
          <a:prstGeom prst="roundRect">
            <a:avLst>
              <a:gd name="adj" fmla="val 19586"/>
            </a:avLst>
          </a:prstGeom>
          <a:solidFill>
            <a:srgbClr val="FFFFFF"/>
          </a:solidFill>
          <a:ln w="25400">
            <a:solidFill>
              <a:srgbClr val="F0AB00"/>
            </a:solidFill>
          </a:ln>
          <a:effectLst/>
        </p:spPr>
        <p:txBody>
          <a:bodyPr rtlCol="0" anchor="ctr"/>
          <a:lstStyle/>
          <a:p>
            <a:pPr algn="ctr"/>
          </a:p>
        </p:txBody>
      </p:sp>
      <p:sp>
        <p:nvSpPr>
          <p:cNvPr id="5" name="TextBox 4"/>
          <p:cNvSpPr txBox="1"/>
          <p:nvPr/>
        </p:nvSpPr>
        <p:spPr>
          <a:xfrm>
            <a:off x="640080" y="1472184"/>
            <a:ext cx="5236311"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ПОДХОДЯЩИЙ ЧЕЛОВЕК — ДОСЛОВНО, ПУНКТ 1(G)</a:t>
            </a:r>
          </a:p>
        </p:txBody>
      </p:sp>
      <p:sp>
        <p:nvSpPr>
          <p:cNvPr id="6" name="TextBox 5"/>
          <p:cNvSpPr txBox="1"/>
          <p:nvPr/>
        </p:nvSpPr>
        <p:spPr>
          <a:xfrm>
            <a:off x="640080" y="1725375"/>
            <a:ext cx="5236311" cy="817422"/>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тот, кто сделает это сам, без модели</a:t>
            </a:r>
          </a:p>
        </p:txBody>
      </p:sp>
      <p:sp>
        <p:nvSpPr>
          <p:cNvPr id="7" name="TextBox 6"/>
          <p:cNvSpPr txBox="1"/>
          <p:nvPr/>
        </p:nvSpPr>
        <p:spPr>
          <a:xfrm>
            <a:off x="640080" y="2542797"/>
            <a:ext cx="5236311"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лицензированный врач, пункт 1(g)</a:t>
            </a:r>
          </a:p>
        </p:txBody>
      </p:sp>
      <p:sp>
        <p:nvSpPr>
          <p:cNvPr id="8" name="Rounded Rectangle 7"/>
          <p:cNvSpPr/>
          <p:nvPr/>
        </p:nvSpPr>
        <p:spPr>
          <a:xfrm>
            <a:off x="6178143" y="1335024"/>
            <a:ext cx="5510631" cy="1556177"/>
          </a:xfrm>
          <a:prstGeom prst="roundRect">
            <a:avLst>
              <a:gd name="adj" fmla="val 19586"/>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6315303" y="1472184"/>
            <a:ext cx="5236311"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ПОРОГ, СРОК И СПОСОБ ПРОВЕРКИ</a:t>
            </a:r>
          </a:p>
        </p:txBody>
      </p:sp>
      <p:sp>
        <p:nvSpPr>
          <p:cNvPr id="10" name="TextBox 9"/>
          <p:cNvSpPr txBox="1"/>
          <p:nvPr/>
        </p:nvSpPr>
        <p:spPr>
          <a:xfrm>
            <a:off x="6315303" y="1725375"/>
            <a:ext cx="5236311"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в документе не названы</a:t>
            </a:r>
          </a:p>
        </p:txBody>
      </p:sp>
      <p:sp>
        <p:nvSpPr>
          <p:cNvPr id="11" name="TextBox 10"/>
          <p:cNvSpPr txBox="1"/>
          <p:nvPr/>
        </p:nvSpPr>
        <p:spPr>
          <a:xfrm>
            <a:off x="6315303" y="2152374"/>
            <a:ext cx="5236311"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ни доли, ни периодичности, ни процедуры</a:t>
            </a:r>
          </a:p>
        </p:txBody>
      </p:sp>
      <p:sp>
        <p:nvSpPr>
          <p:cNvPr id="12" name="Rounded Rectangle 11"/>
          <p:cNvSpPr/>
          <p:nvPr/>
        </p:nvSpPr>
        <p:spPr>
          <a:xfrm>
            <a:off x="374904" y="2982641"/>
            <a:ext cx="11441887" cy="1254403"/>
          </a:xfrm>
          <a:prstGeom prst="roundRect">
            <a:avLst>
              <a:gd name="adj" fmla="val 24298"/>
            </a:avLst>
          </a:prstGeom>
          <a:solidFill>
            <a:srgbClr val="F4F7FA"/>
          </a:solidFill>
          <a:ln w="19050">
            <a:solidFill>
              <a:srgbClr val="1C7293"/>
            </a:solidFill>
          </a:ln>
          <a:effectLst/>
        </p:spPr>
        <p:txBody>
          <a:bodyPr rtlCol="0" anchor="ctr"/>
          <a:lstStyle/>
          <a:p>
            <a:pPr algn="ctr"/>
          </a:p>
        </p:txBody>
      </p:sp>
      <p:sp>
        <p:nvSpPr>
          <p:cNvPr id="13" name="TextBox 12"/>
          <p:cNvSpPr txBox="1"/>
          <p:nvPr/>
        </p:nvSpPr>
        <p:spPr>
          <a:xfrm>
            <a:off x="539496" y="3074081"/>
            <a:ext cx="11112703" cy="3162126"/>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Как только врач перестаёт уметь без подсказки, точка вмешательства перестаёт ею быть — и схема на подписи не выполняет норму.</a:t>
            </a:r>
          </a:p>
          <a:p>
            <a:pPr algn="l">
              <a:lnSpc>
                <a:spcPct val="126000"/>
              </a:lnSpc>
              <a:spcBef>
                <a:spcPts val="700"/>
              </a:spcBef>
            </a:pPr>
            <a:r>
              <a:rPr sz="1500" b="0" i="0">
                <a:solidFill>
                  <a:srgbClr val="21295C"/>
                </a:solidFill>
                <a:latin typeface="Arial"/>
              </a:rPr>
              <a:t/>
            </a:r>
            <a:r>
              <a:rPr sz="1500" b="1" i="0">
                <a:solidFill>
                  <a:srgbClr val="21295C"/>
                </a:solidFill>
                <a:latin typeface="Arial"/>
              </a:rPr>
              <a:t>Износ навыка — условие законности.</a:t>
            </a:r>
          </a:p>
        </p:txBody>
      </p:sp>
      <p:sp>
        <p:nvSpPr>
          <p:cNvPr id="14" name="Rectangle 13"/>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15" name="TextBox 14"/>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Политика Американской медицинской ассоциации, пункт 1(g), 2024</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1900" b="1" i="0">
                <a:solidFill>
                  <a:srgbClr val="21295C"/>
                </a:solidFill>
                <a:latin typeface="Arial"/>
              </a:rPr>
              <a:t>Модель меняется после допуска: 43,4 процента отзывных событий — в первый год</a:t>
            </a:r>
          </a:p>
        </p:txBody>
      </p:sp>
      <p:sp>
        <p:nvSpPr>
          <p:cNvPr id="4" name="Rounded Rectangle 3"/>
          <p:cNvSpPr/>
          <p:nvPr/>
        </p:nvSpPr>
        <p:spPr>
          <a:xfrm>
            <a:off x="502920" y="1335024"/>
            <a:ext cx="11185855" cy="1165753"/>
          </a:xfrm>
          <a:prstGeom prst="roundRect">
            <a:avLst>
              <a:gd name="adj" fmla="val 25000"/>
            </a:avLst>
          </a:prstGeom>
          <a:solidFill>
            <a:srgbClr val="FFFFFF"/>
          </a:solidFill>
          <a:ln w="25400">
            <a:solidFill>
              <a:srgbClr val="F0AB00"/>
            </a:solidFill>
          </a:ln>
          <a:effectLst/>
        </p:spPr>
        <p:txBody>
          <a:bodyPr rtlCol="0" anchor="ctr"/>
          <a:lstStyle/>
          <a:p>
            <a:pPr algn="ctr"/>
          </a:p>
        </p:txBody>
      </p:sp>
      <p:sp>
        <p:nvSpPr>
          <p:cNvPr id="5" name="TextBox 4"/>
          <p:cNvSpPr txBox="1"/>
          <p:nvPr/>
        </p:nvSpPr>
        <p:spPr>
          <a:xfrm>
            <a:off x="640080" y="1472184"/>
            <a:ext cx="10911535"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В ПЕРВЫЙ ГОД ПОСЛЕ ДОПУСКА</a:t>
            </a:r>
          </a:p>
        </p:txBody>
      </p:sp>
      <p:sp>
        <p:nvSpPr>
          <p:cNvPr id="6" name="TextBox 5"/>
          <p:cNvSpPr txBox="1"/>
          <p:nvPr/>
        </p:nvSpPr>
        <p:spPr>
          <a:xfrm>
            <a:off x="640080" y="1725375"/>
            <a:ext cx="10911535"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43,4 процента отзывных событий</a:t>
            </a:r>
          </a:p>
        </p:txBody>
      </p:sp>
      <p:sp>
        <p:nvSpPr>
          <p:cNvPr id="7" name="TextBox 6"/>
          <p:cNvSpPr txBox="1"/>
          <p:nvPr/>
        </p:nvSpPr>
        <p:spPr>
          <a:xfrm>
            <a:off x="640080" y="2152374"/>
            <a:ext cx="10911535"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79 событий из 182 — у 60 изделий, отозванных из 950 допущенных; 108 событий не разрешены; срез ноябрь 2024</a:t>
            </a:r>
          </a:p>
        </p:txBody>
      </p:sp>
      <p:sp>
        <p:nvSpPr>
          <p:cNvPr id="8" name="TextBox 7"/>
          <p:cNvSpPr txBox="1"/>
          <p:nvPr/>
        </p:nvSpPr>
        <p:spPr>
          <a:xfrm>
            <a:off x="502920" y="2720233"/>
            <a:ext cx="1307592" cy="639889"/>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Механизмы</a:t>
            </a:r>
          </a:p>
        </p:txBody>
      </p:sp>
      <p:sp>
        <p:nvSpPr>
          <p:cNvPr id="9" name="Rounded Rectangle 8"/>
          <p:cNvSpPr/>
          <p:nvPr/>
        </p:nvSpPr>
        <p:spPr>
          <a:xfrm>
            <a:off x="1920240" y="2683657"/>
            <a:ext cx="3158642"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0" name="TextBox 9"/>
          <p:cNvSpPr txBox="1"/>
          <p:nvPr/>
        </p:nvSpPr>
        <p:spPr>
          <a:xfrm>
            <a:off x="2002536" y="2729377"/>
            <a:ext cx="2994050"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План изменений модели, утверждённый заранее</a:t>
            </a:r>
          </a:p>
        </p:txBody>
      </p:sp>
      <p:sp>
        <p:nvSpPr>
          <p:cNvPr id="11" name="Rounded Rectangle 10"/>
          <p:cNvSpPr/>
          <p:nvPr/>
        </p:nvSpPr>
        <p:spPr>
          <a:xfrm>
            <a:off x="5225186" y="2683657"/>
            <a:ext cx="3158642"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2" name="TextBox 11"/>
          <p:cNvSpPr txBox="1"/>
          <p:nvPr/>
        </p:nvSpPr>
        <p:spPr>
          <a:xfrm>
            <a:off x="5307482" y="2729377"/>
            <a:ext cx="2994050"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Передача данных о работе регулятору</a:t>
            </a:r>
          </a:p>
        </p:txBody>
      </p:sp>
      <p:sp>
        <p:nvSpPr>
          <p:cNvPr id="13" name="Rounded Rectangle 12"/>
          <p:cNvSpPr/>
          <p:nvPr/>
        </p:nvSpPr>
        <p:spPr>
          <a:xfrm>
            <a:off x="8530132" y="2683657"/>
            <a:ext cx="3158642"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4" name="TextBox 13"/>
          <p:cNvSpPr txBox="1"/>
          <p:nvPr/>
        </p:nvSpPr>
        <p:spPr>
          <a:xfrm>
            <a:off x="8612428" y="2729377"/>
            <a:ext cx="2994050"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Перенесённые сроки: 2 декабря 2027 · 2 августа 2028</a:t>
            </a:r>
          </a:p>
        </p:txBody>
      </p:sp>
      <p:sp>
        <p:nvSpPr>
          <p:cNvPr id="15" name="TextBox 14"/>
          <p:cNvSpPr txBox="1"/>
          <p:nvPr/>
        </p:nvSpPr>
        <p:spPr>
          <a:xfrm>
            <a:off x="502920" y="3433275"/>
            <a:ext cx="11185855"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Три механизма надзора действуют одновременно, один из другого не следует</a:t>
            </a:r>
          </a:p>
        </p:txBody>
      </p:sp>
      <p:sp>
        <p:nvSpPr>
          <p:cNvPr id="16" name="Rounded Rectangle 15"/>
          <p:cNvSpPr/>
          <p:nvPr/>
        </p:nvSpPr>
        <p:spPr>
          <a:xfrm>
            <a:off x="374904" y="3735959"/>
            <a:ext cx="11441887" cy="1194991"/>
          </a:xfrm>
          <a:prstGeom prst="roundRect">
            <a:avLst>
              <a:gd name="adj" fmla="val 25000"/>
            </a:avLst>
          </a:prstGeom>
          <a:solidFill>
            <a:srgbClr val="F4F7FA"/>
          </a:solidFill>
          <a:ln w="19050">
            <a:solidFill>
              <a:srgbClr val="1C7293"/>
            </a:solidFill>
          </a:ln>
          <a:effectLst/>
        </p:spPr>
        <p:txBody>
          <a:bodyPr rtlCol="0" anchor="ctr"/>
          <a:lstStyle/>
          <a:p>
            <a:pPr algn="ctr"/>
          </a:p>
        </p:txBody>
      </p:sp>
      <p:sp>
        <p:nvSpPr>
          <p:cNvPr id="17" name="TextBox 16"/>
          <p:cNvSpPr txBox="1"/>
          <p:nvPr/>
        </p:nvSpPr>
        <p:spPr>
          <a:xfrm>
            <a:off x="539496" y="3827399"/>
            <a:ext cx="5373471" cy="2408808"/>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У модели есть свойство, которого нет у скальпеля: она меняется после того, как её допустили.</a:t>
            </a:r>
          </a:p>
        </p:txBody>
      </p:sp>
      <p:sp>
        <p:nvSpPr>
          <p:cNvPr id="18" name="TextBox 17"/>
          <p:cNvSpPr txBox="1"/>
          <p:nvPr/>
        </p:nvSpPr>
        <p:spPr>
          <a:xfrm>
            <a:off x="6278727" y="3827399"/>
            <a:ext cx="5373471" cy="2408808"/>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Измеренное последствие — ранний отзыв: проверка, не состоявшаяся до допуска, состоялась после.</a:t>
            </a:r>
          </a:p>
          <a:p>
            <a:pPr algn="l">
              <a:lnSpc>
                <a:spcPct val="126000"/>
              </a:lnSpc>
              <a:spcBef>
                <a:spcPts val="700"/>
              </a:spcBef>
            </a:pPr>
            <a:r>
              <a:rPr sz="1200" b="0" i="0">
                <a:solidFill>
                  <a:srgbClr val="21295C"/>
                </a:solidFill>
                <a:latin typeface="Arial"/>
              </a:rPr>
              <a:t/>
            </a:r>
            <a:r>
              <a:rPr sz="1200" b="0" i="1">
                <a:solidFill>
                  <a:srgbClr val="1C7293"/>
                </a:solidFill>
                <a:latin typeface="Arial"/>
              </a:rPr>
              <a:t>Формы словаря здесь нет: это обзор надзорных механизмов.</a:t>
            </a:r>
          </a:p>
        </p:txBody>
      </p:sp>
      <p:sp>
        <p:nvSpPr>
          <p:cNvPr id="19" name="Rectangle 18"/>
          <p:cNvSpPr/>
          <p:nvPr/>
        </p:nvSpPr>
        <p:spPr>
          <a:xfrm>
            <a:off x="6091275" y="3827399"/>
            <a:ext cx="9144" cy="920671"/>
          </a:xfrm>
          <a:prstGeom prst="rect">
            <a:avLst/>
          </a:prstGeom>
          <a:solidFill>
            <a:srgbClr val="D9E2EC"/>
          </a:solidFill>
          <a:ln>
            <a:noFill/>
          </a:ln>
          <a:effectLst/>
        </p:spPr>
        <p:txBody>
          <a:bodyPr rtlCol="0" anchor="ctr"/>
          <a:lstStyle/>
          <a:p>
            <a:pPr algn="ctr"/>
          </a:p>
        </p:txBody>
      </p:sp>
      <p:sp>
        <p:nvSpPr>
          <p:cNvPr id="20" name="Rectangle 19"/>
          <p:cNvSpPr/>
          <p:nvPr/>
        </p:nvSpPr>
        <p:spPr>
          <a:xfrm>
            <a:off x="502920" y="752291"/>
            <a:ext cx="960120" cy="50292"/>
          </a:xfrm>
          <a:prstGeom prst="rect">
            <a:avLst/>
          </a:prstGeom>
          <a:solidFill>
            <a:srgbClr val="F0AB00"/>
          </a:solidFill>
          <a:ln>
            <a:noFill/>
          </a:ln>
          <a:effectLst/>
        </p:spPr>
        <p:txBody>
          <a:bodyPr rtlCol="0" anchor="ctr"/>
          <a:lstStyle/>
          <a:p>
            <a:pPr algn="ctr"/>
          </a:p>
        </p:txBody>
      </p:sp>
      <p:sp>
        <p:nvSpPr>
          <p:cNvPr id="21" name="TextBox 20"/>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Руководство регулятора США, 2024</a:t>
            </a:r>
            <a:r>
              <a:rPr sz="1200" b="0" i="1">
                <a:solidFill>
                  <a:srgbClr val="1C7293"/>
                </a:solidFill>
                <a:latin typeface="Arial"/>
              </a:rPr>
              <a:t> · </a:t>
            </a:r>
            <a:r>
              <a:rPr sz="1200" b="0" i="1" u="sng">
                <a:solidFill>
                  <a:srgbClr val="065A82"/>
                </a:solidFill>
                <a:latin typeface="Arial"/>
                <a:hlinkClick r:id="rId3"/>
              </a:rPr>
              <a:t>приказ Росздравнадзора № 4472</a:t>
            </a:r>
            <a:r>
              <a:rPr sz="1200" b="0" i="1">
                <a:solidFill>
                  <a:srgbClr val="1C7293"/>
                </a:solidFill>
                <a:latin typeface="Arial"/>
              </a:rPr>
              <a:t> · </a:t>
            </a:r>
            <a:r>
              <a:rPr sz="1200" b="0" i="1" u="sng">
                <a:solidFill>
                  <a:srgbClr val="065A82"/>
                </a:solidFill>
                <a:latin typeface="Arial"/>
                <a:hlinkClick r:id="rId4"/>
              </a:rPr>
              <a:t>Регламент (ЕС) 2024/1689</a:t>
            </a:r>
            <a:r>
              <a:rPr sz="1200" b="0" i="1">
                <a:solidFill>
                  <a:srgbClr val="1C7293"/>
                </a:solidFill>
                <a:latin typeface="Arial"/>
              </a:rPr>
              <a:t> · </a:t>
            </a:r>
            <a:r>
              <a:rPr sz="1200" b="0" i="1" u="sng">
                <a:solidFill>
                  <a:srgbClr val="065A82"/>
                </a:solidFill>
                <a:latin typeface="Arial"/>
                <a:hlinkClick r:id="rId5"/>
              </a:rPr>
              <a:t>Lee и соавт., JAMA Health Forum 2025</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100" b="1" i="0">
                <a:solidFill>
                  <a:srgbClr val="21295C"/>
                </a:solidFill>
                <a:latin typeface="Arial"/>
              </a:rPr>
              <a:t>Где за подписью ничего нет, цена ошибки переезжает на того, кто не подписывал</a:t>
            </a:r>
          </a:p>
        </p:txBody>
      </p:sp>
      <p:sp>
        <p:nvSpPr>
          <p:cNvPr id="4" name="Rounded Rectangle 3"/>
          <p:cNvSpPr/>
          <p:nvPr/>
        </p:nvSpPr>
        <p:spPr>
          <a:xfrm>
            <a:off x="374904" y="1243584"/>
            <a:ext cx="11441887" cy="3570170"/>
          </a:xfrm>
          <a:prstGeom prst="roundRect">
            <a:avLst>
              <a:gd name="adj" fmla="val 8537"/>
            </a:avLst>
          </a:prstGeom>
          <a:solidFill>
            <a:srgbClr val="F4F7FA"/>
          </a:solidFill>
          <a:ln w="19050">
            <a:solidFill>
              <a:srgbClr val="1C7293"/>
            </a:solidFill>
          </a:ln>
          <a:effectLst/>
        </p:spPr>
        <p:txBody>
          <a:bodyPr rtlCol="0" anchor="ctr"/>
          <a:lstStyle/>
          <a:p>
            <a:pPr algn="ctr"/>
          </a:p>
        </p:txBody>
      </p:sp>
      <p:sp>
        <p:nvSpPr>
          <p:cNvPr id="5" name="TextBox 4"/>
          <p:cNvSpPr txBox="1"/>
          <p:nvPr/>
        </p:nvSpPr>
        <p:spPr>
          <a:xfrm>
            <a:off x="539496" y="1335024"/>
            <a:ext cx="5373471" cy="4901184"/>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Что получается</a:t>
            </a:r>
          </a:p>
          <a:p>
            <a:pPr algn="l">
              <a:lnSpc>
                <a:spcPct val="126000"/>
              </a:lnSpc>
              <a:spcBef>
                <a:spcPts val="700"/>
              </a:spcBef>
            </a:pPr>
            <a:r>
              <a:rPr sz="1500" b="0" i="0">
                <a:solidFill>
                  <a:srgbClr val="21295C"/>
                </a:solidFill>
                <a:latin typeface="Arial"/>
              </a:rPr>
              <a:t/>
            </a:r>
            <a:r>
              <a:rPr sz="1500" b="0" i="0">
                <a:solidFill>
                  <a:srgbClr val="21295C"/>
                </a:solidFill>
                <a:latin typeface="Arial"/>
              </a:rPr>
              <a:t>• 87,2 → 96,4 из ста — против одного читателя</a:t>
            </a:r>
          </a:p>
          <a:p>
            <a:pPr algn="l">
              <a:lnSpc>
                <a:spcPct val="126000"/>
              </a:lnSpc>
              <a:spcBef>
                <a:spcPts val="700"/>
              </a:spcBef>
            </a:pPr>
            <a:r>
              <a:rPr sz="1500" b="0" i="0">
                <a:solidFill>
                  <a:srgbClr val="21295C"/>
                </a:solidFill>
                <a:latin typeface="Arial"/>
              </a:rPr>
              <a:t/>
            </a:r>
            <a:r>
              <a:rPr sz="1500" b="0" i="0">
                <a:solidFill>
                  <a:srgbClr val="21295C"/>
                </a:solidFill>
                <a:latin typeface="Arial"/>
              </a:rPr>
              <a:t>• Первичных чтений вдвое меньше: 48 с против 2 мин 12 с</a:t>
            </a:r>
          </a:p>
          <a:p>
            <a:pPr algn="l">
              <a:lnSpc>
                <a:spcPct val="126000"/>
              </a:lnSpc>
              <a:spcBef>
                <a:spcPts val="700"/>
              </a:spcBef>
            </a:pPr>
            <a:r>
              <a:rPr sz="1500" b="0" i="0">
                <a:solidFill>
                  <a:srgbClr val="21295C"/>
                </a:solidFill>
                <a:latin typeface="Arial"/>
              </a:rPr>
              <a:t/>
            </a:r>
            <a:r>
              <a:rPr sz="1500" b="0" i="0">
                <a:solidFill>
                  <a:srgbClr val="21295C"/>
                </a:solidFill>
                <a:latin typeface="Arial"/>
              </a:rPr>
              <a:t>• Требование названо: понять, возразить, остановить</a:t>
            </a:r>
          </a:p>
          <a:p>
            <a:pPr algn="l">
              <a:lnSpc>
                <a:spcPct val="126000"/>
              </a:lnSpc>
              <a:spcBef>
                <a:spcPts val="700"/>
              </a:spcBef>
            </a:pPr>
            <a:r>
              <a:rPr sz="1500" b="0" i="0">
                <a:solidFill>
                  <a:srgbClr val="21295C"/>
                </a:solidFill>
                <a:latin typeface="Arial"/>
              </a:rPr>
              <a:t/>
            </a:r>
            <a:r>
              <a:rPr sz="1500" b="1" i="0">
                <a:solidFill>
                  <a:srgbClr val="21295C"/>
                </a:solidFill>
                <a:latin typeface="Arial"/>
              </a:rPr>
              <a:t>Что не получается</a:t>
            </a:r>
          </a:p>
          <a:p>
            <a:pPr algn="l">
              <a:lnSpc>
                <a:spcPct val="126000"/>
              </a:lnSpc>
              <a:spcBef>
                <a:spcPts val="700"/>
              </a:spcBef>
            </a:pPr>
            <a:r>
              <a:rPr sz="1500" b="0" i="0">
                <a:solidFill>
                  <a:srgbClr val="21295C"/>
                </a:solidFill>
                <a:latin typeface="Arial"/>
              </a:rPr>
              <a:t/>
            </a:r>
            <a:r>
              <a:rPr sz="1500" b="0" i="0">
                <a:solidFill>
                  <a:srgbClr val="21295C"/>
                </a:solidFill>
                <a:latin typeface="Arial"/>
              </a:rPr>
              <a:t>• Удержать независимость при одной подсказке на двоих</a:t>
            </a:r>
          </a:p>
          <a:p>
            <a:pPr algn="l">
              <a:lnSpc>
                <a:spcPct val="126000"/>
              </a:lnSpc>
              <a:spcBef>
                <a:spcPts val="700"/>
              </a:spcBef>
            </a:pPr>
            <a:r>
              <a:rPr sz="1500" b="0" i="0">
                <a:solidFill>
                  <a:srgbClr val="21295C"/>
                </a:solidFill>
                <a:latin typeface="Arial"/>
              </a:rPr>
              <a:t/>
            </a:r>
            <a:r>
              <a:rPr sz="1500" b="0" i="0">
                <a:solidFill>
                  <a:srgbClr val="21295C"/>
                </a:solidFill>
                <a:latin typeface="Arial"/>
              </a:rPr>
              <a:t>• Избавиться от арбитража: +53 %, от 22 до 142</a:t>
            </a:r>
          </a:p>
          <a:p>
            <a:pPr algn="l">
              <a:lnSpc>
                <a:spcPct val="126000"/>
              </a:lnSpc>
              <a:spcBef>
                <a:spcPts val="700"/>
              </a:spcBef>
            </a:pPr>
            <a:r>
              <a:rPr sz="1500" b="0" i="0">
                <a:solidFill>
                  <a:srgbClr val="21295C"/>
                </a:solidFill>
                <a:latin typeface="Arial"/>
              </a:rPr>
              <a:t/>
            </a:r>
            <a:r>
              <a:rPr sz="1500" b="0" i="0">
                <a:solidFill>
                  <a:srgbClr val="21295C"/>
                </a:solidFill>
                <a:latin typeface="Arial"/>
              </a:rPr>
              <a:t>• Проверить способность возразить: 56 из 717 радиологических изделий, июнь 2024</a:t>
            </a:r>
          </a:p>
        </p:txBody>
      </p:sp>
      <p:sp>
        <p:nvSpPr>
          <p:cNvPr id="6" name="TextBox 5"/>
          <p:cNvSpPr txBox="1"/>
          <p:nvPr/>
        </p:nvSpPr>
        <p:spPr>
          <a:xfrm>
            <a:off x="6278727" y="1335024"/>
            <a:ext cx="5373471" cy="4901184"/>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Что стало с работой</a:t>
            </a:r>
          </a:p>
          <a:p>
            <a:pPr algn="l">
              <a:lnSpc>
                <a:spcPct val="126000"/>
              </a:lnSpc>
              <a:spcBef>
                <a:spcPts val="700"/>
              </a:spcBef>
            </a:pPr>
            <a:r>
              <a:rPr sz="1500" b="0" i="0">
                <a:solidFill>
                  <a:srgbClr val="21295C"/>
                </a:solidFill>
                <a:latin typeface="Arial"/>
              </a:rPr>
              <a:t/>
            </a:r>
            <a:r>
              <a:rPr sz="1500" b="0" i="0">
                <a:solidFill>
                  <a:srgbClr val="21295C"/>
                </a:solidFill>
                <a:latin typeface="Arial"/>
              </a:rPr>
              <a:t>• Сместилась цена ошибки: подпись человеческая, основание извне</a:t>
            </a:r>
          </a:p>
          <a:p>
            <a:pPr algn="l">
              <a:lnSpc>
                <a:spcPct val="126000"/>
              </a:lnSpc>
              <a:spcBef>
                <a:spcPts val="700"/>
              </a:spcBef>
            </a:pPr>
            <a:r>
              <a:rPr sz="1500" b="0" i="0">
                <a:solidFill>
                  <a:srgbClr val="21295C"/>
                </a:solidFill>
                <a:latin typeface="Arial"/>
              </a:rPr>
              <a:t/>
            </a:r>
            <a:r>
              <a:rPr sz="1500" b="0" i="0">
                <a:solidFill>
                  <a:srgbClr val="21295C"/>
                </a:solidFill>
                <a:latin typeface="Arial"/>
              </a:rPr>
              <a:t>• Нагрузка выросла там же — арбитраж</a:t>
            </a:r>
          </a:p>
          <a:p>
            <a:pPr algn="l">
              <a:lnSpc>
                <a:spcPct val="126000"/>
              </a:lnSpc>
              <a:spcBef>
                <a:spcPts val="700"/>
              </a:spcBef>
            </a:pPr>
            <a:r>
              <a:rPr sz="1500" b="0" i="0">
                <a:solidFill>
                  <a:srgbClr val="21295C"/>
                </a:solidFill>
                <a:latin typeface="Arial"/>
              </a:rPr>
              <a:t/>
            </a:r>
            <a:r>
              <a:rPr sz="1500" b="0" i="0">
                <a:solidFill>
                  <a:srgbClr val="21295C"/>
                </a:solidFill>
                <a:latin typeface="Arial"/>
              </a:rPr>
              <a:t>• 45,5 из ста оставшихся ошибок — доверие автомату</a:t>
            </a:r>
          </a:p>
          <a:p>
            <a:pPr algn="l">
              <a:lnSpc>
                <a:spcPct val="126000"/>
              </a:lnSpc>
              <a:spcBef>
                <a:spcPts val="700"/>
              </a:spcBef>
            </a:pPr>
            <a:r>
              <a:rPr sz="1500" b="0" i="0">
                <a:solidFill>
                  <a:srgbClr val="21295C"/>
                </a:solidFill>
                <a:latin typeface="Arial"/>
              </a:rPr>
              <a:t/>
            </a:r>
            <a:r>
              <a:rPr sz="1500" b="1" i="0">
                <a:solidFill>
                  <a:srgbClr val="21295C"/>
                </a:solidFill>
                <a:latin typeface="Arial"/>
              </a:rPr>
              <a:t>Что это держит</a:t>
            </a:r>
          </a:p>
          <a:p>
            <a:pPr algn="l">
              <a:lnSpc>
                <a:spcPct val="126000"/>
              </a:lnSpc>
              <a:spcBef>
                <a:spcPts val="700"/>
              </a:spcBef>
            </a:pPr>
            <a:r>
              <a:rPr sz="1500" b="0" i="0">
                <a:solidFill>
                  <a:srgbClr val="21295C"/>
                </a:solidFill>
                <a:latin typeface="Arial"/>
              </a:rPr>
              <a:t/>
            </a:r>
            <a:r>
              <a:rPr sz="1500" b="0" i="0">
                <a:solidFill>
                  <a:srgbClr val="21295C"/>
                </a:solidFill>
                <a:latin typeface="Arial"/>
              </a:rPr>
              <a:t>• Права подписи у модели нет</a:t>
            </a:r>
          </a:p>
          <a:p>
            <a:pPr algn="l">
              <a:lnSpc>
                <a:spcPct val="126000"/>
              </a:lnSpc>
              <a:spcBef>
                <a:spcPts val="700"/>
              </a:spcBef>
            </a:pPr>
            <a:r>
              <a:rPr sz="1500" b="0" i="0">
                <a:solidFill>
                  <a:srgbClr val="21295C"/>
                </a:solidFill>
                <a:latin typeface="Arial"/>
              </a:rPr>
              <a:t/>
            </a:r>
            <a:r>
              <a:rPr sz="1500" b="0" i="0">
                <a:solidFill>
                  <a:srgbClr val="21295C"/>
                </a:solidFill>
                <a:latin typeface="Arial"/>
              </a:rPr>
              <a:t>• Двойное чтение, где второго не заменили</a:t>
            </a:r>
          </a:p>
          <a:p>
            <a:pPr algn="l">
              <a:lnSpc>
                <a:spcPct val="126000"/>
              </a:lnSpc>
              <a:spcBef>
                <a:spcPts val="700"/>
              </a:spcBef>
            </a:pPr>
            <a:r>
              <a:rPr sz="1500" b="0" i="0">
                <a:solidFill>
                  <a:srgbClr val="21295C"/>
                </a:solidFill>
                <a:latin typeface="Arial"/>
              </a:rPr>
              <a:t/>
            </a:r>
            <a:r>
              <a:rPr sz="1500" b="0" i="0">
                <a:solidFill>
                  <a:srgbClr val="21295C"/>
                </a:solidFill>
                <a:latin typeface="Arial"/>
              </a:rPr>
              <a:t>• Разбор случая и правка порядка</a:t>
            </a:r>
          </a:p>
        </p:txBody>
      </p:sp>
      <p:sp>
        <p:nvSpPr>
          <p:cNvPr id="7" name="Rectangle 6"/>
          <p:cNvSpPr/>
          <p:nvPr/>
        </p:nvSpPr>
        <p:spPr>
          <a:xfrm>
            <a:off x="6091275" y="1335024"/>
            <a:ext cx="9144" cy="3295850"/>
          </a:xfrm>
          <a:prstGeom prst="rect">
            <a:avLst/>
          </a:prstGeom>
          <a:solidFill>
            <a:srgbClr val="D9E2EC"/>
          </a:solidFill>
          <a:ln>
            <a:noFill/>
          </a:ln>
          <a:effectLst/>
        </p:spPr>
        <p:txBody>
          <a:bodyPr rtlCol="0" anchor="ctr"/>
          <a:lstStyle/>
          <a:p>
            <a:pPr algn="ctr"/>
          </a:p>
        </p:txBody>
      </p:sp>
      <p:sp>
        <p:nvSpPr>
          <p:cNvPr id="8" name="Rectangle 7"/>
          <p:cNvSpPr/>
          <p:nvPr/>
        </p:nvSpPr>
        <p:spPr>
          <a:xfrm>
            <a:off x="502920" y="786241"/>
            <a:ext cx="960120" cy="50292"/>
          </a:xfrm>
          <a:prstGeom prst="rect">
            <a:avLst/>
          </a:prstGeom>
          <a:solidFill>
            <a:srgbClr val="F0AB00"/>
          </a:solidFill>
          <a:ln>
            <a:noFill/>
          </a:ln>
          <a:effectLst/>
        </p:spPr>
        <p:txBody>
          <a:bodyPr rtlCol="0" anchor="ctr"/>
          <a:lstStyle/>
          <a:p>
            <a:pPr algn="ctr"/>
          </a:p>
        </p:txBody>
      </p:sp>
      <p:sp>
        <p:nvSpPr>
          <p:cNvPr id="9" name="TextBox 8"/>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JAMA Network Open 2025</a:t>
            </a:r>
            <a:r>
              <a:rPr sz="1200" b="0" i="1">
                <a:solidFill>
                  <a:srgbClr val="1C7293"/>
                </a:solidFill>
                <a:latin typeface="Arial"/>
              </a:rPr>
              <a:t> · </a:t>
            </a:r>
            <a:r>
              <a:rPr sz="1200" b="0" i="1" u="sng">
                <a:solidFill>
                  <a:srgbClr val="065A82"/>
                </a:solidFill>
                <a:latin typeface="Arial"/>
                <a:hlinkClick r:id="rId3"/>
              </a:rPr>
              <a:t>European Radiology 2026</a:t>
            </a:r>
            <a:r>
              <a:rPr sz="1200" b="0" i="1">
                <a:solidFill>
                  <a:srgbClr val="1C7293"/>
                </a:solidFill>
                <a:latin typeface="Arial"/>
              </a:rPr>
              <a:t> · </a:t>
            </a:r>
            <a:r>
              <a:rPr sz="1200" b="0" i="1" u="sng">
                <a:solidFill>
                  <a:srgbClr val="065A82"/>
                </a:solidFill>
                <a:latin typeface="Arial"/>
                <a:hlinkClick r:id="rId4"/>
              </a:rPr>
              <a:t>JAMIA 2023</a:t>
            </a:r>
            <a:r>
              <a:rPr sz="1200" b="0" i="1">
                <a:solidFill>
                  <a:srgbClr val="1C7293"/>
                </a:solidFill>
                <a:latin typeface="Arial"/>
              </a:rPr>
              <a:t> · </a:t>
            </a:r>
            <a:r>
              <a:rPr sz="1200" b="0" i="1" u="sng">
                <a:solidFill>
                  <a:srgbClr val="065A82"/>
                </a:solidFill>
                <a:latin typeface="Arial"/>
                <a:hlinkClick r:id="rId5"/>
              </a:rPr>
              <a:t>Регламент (ЕС) 2024/1689</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Rectangle 2"/>
          <p:cNvSpPr/>
          <p:nvPr/>
        </p:nvSpPr>
        <p:spPr>
          <a:xfrm>
            <a:off x="0" y="0"/>
            <a:ext cx="155448" cy="6858000"/>
          </a:xfrm>
          <a:prstGeom prst="rect">
            <a:avLst/>
          </a:prstGeom>
          <a:solidFill>
            <a:srgbClr val="065A82"/>
          </a:solidFill>
          <a:ln>
            <a:noFill/>
          </a:ln>
          <a:effectLst/>
        </p:spPr>
        <p:txBody>
          <a:bodyPr rtlCol="0" anchor="ctr"/>
          <a:lstStyle/>
          <a:p>
            <a:pPr algn="ctr"/>
          </a:p>
        </p:txBody>
      </p:sp>
      <p:sp>
        <p:nvSpPr>
          <p:cNvPr id="4" name="Rounded Rectangle 3"/>
          <p:cNvSpPr/>
          <p:nvPr/>
        </p:nvSpPr>
        <p:spPr>
          <a:xfrm>
            <a:off x="7543800" y="914400"/>
            <a:ext cx="4144975" cy="3177311"/>
          </a:xfrm>
          <a:prstGeom prst="roundRect">
            <a:avLst>
              <a:gd name="adj" fmla="val 9593"/>
            </a:avLst>
          </a:prstGeom>
          <a:solidFill>
            <a:srgbClr val="F4F7FA"/>
          </a:solidFill>
          <a:ln w="19050">
            <a:solidFill>
              <a:srgbClr val="1C7293"/>
            </a:solidFill>
          </a:ln>
          <a:effectLst/>
        </p:spPr>
        <p:txBody>
          <a:bodyPr rtlCol="0" anchor="ctr"/>
          <a:lstStyle/>
          <a:p>
            <a:pPr algn="ctr"/>
          </a:p>
        </p:txBody>
      </p:sp>
      <p:pic>
        <p:nvPicPr>
          <p:cNvPr id="5" name="Picture 4" descr="s88-endoskopicheskiy-kabinet.jpg"/>
          <p:cNvPicPr>
            <a:picLocks noChangeAspect="1"/>
          </p:cNvPicPr>
          <p:nvPr/>
        </p:nvPicPr>
        <p:blipFill>
          <a:blip r:embed="rId2"/>
          <a:stretch>
            <a:fillRect/>
          </a:stretch>
        </p:blipFill>
        <p:spPr>
          <a:xfrm>
            <a:off x="7680960" y="1051560"/>
            <a:ext cx="3870655" cy="2902991"/>
          </a:xfrm>
          <a:prstGeom prst="rect">
            <a:avLst/>
          </a:prstGeom>
        </p:spPr>
      </p:pic>
      <p:sp>
        <p:nvSpPr>
          <p:cNvPr id="6" name="TextBox 5"/>
          <p:cNvSpPr txBox="1"/>
          <p:nvPr/>
        </p:nvSpPr>
        <p:spPr>
          <a:xfrm>
            <a:off x="704088" y="960120"/>
            <a:ext cx="6675120" cy="950909"/>
          </a:xfrm>
          <a:prstGeom prst="rect">
            <a:avLst/>
          </a:prstGeom>
          <a:noFill/>
        </p:spPr>
        <p:txBody>
          <a:bodyPr wrap="square" lIns="0" rIns="0" tIns="0" bIns="0" anchor="t">
            <a:spAutoFit/>
          </a:bodyPr>
          <a:lstStyle/>
          <a:p>
            <a:pPr algn="l">
              <a:lnSpc>
                <a:spcPct val="110000"/>
              </a:lnSpc>
            </a:pPr>
            <a:r>
              <a:rPr sz="2750" b="1" i="0">
                <a:solidFill>
                  <a:srgbClr val="21295C"/>
                </a:solidFill>
                <a:latin typeface="Arial"/>
              </a:rPr>
              <a:t>7. Профессиональная квалификация: поддержание и износ</a:t>
            </a:r>
          </a:p>
        </p:txBody>
      </p:sp>
      <p:sp>
        <p:nvSpPr>
          <p:cNvPr id="7" name="Rectangle 6"/>
          <p:cNvSpPr/>
          <p:nvPr/>
        </p:nvSpPr>
        <p:spPr>
          <a:xfrm>
            <a:off x="704088" y="2002469"/>
            <a:ext cx="1188720" cy="59436"/>
          </a:xfrm>
          <a:prstGeom prst="rect">
            <a:avLst/>
          </a:prstGeom>
          <a:solidFill>
            <a:srgbClr val="F0AB00"/>
          </a:solidFill>
          <a:ln>
            <a:noFill/>
          </a:ln>
          <a:effectLst/>
        </p:spPr>
        <p:txBody>
          <a:bodyPr rtlCol="0" anchor="ctr"/>
          <a:lstStyle/>
          <a:p>
            <a:pPr algn="ctr"/>
          </a:p>
        </p:txBody>
      </p:sp>
      <p:sp>
        <p:nvSpPr>
          <p:cNvPr id="8" name="TextBox 7"/>
          <p:cNvSpPr txBox="1"/>
          <p:nvPr/>
        </p:nvSpPr>
        <p:spPr>
          <a:xfrm>
            <a:off x="704088" y="2276789"/>
            <a:ext cx="6473952" cy="640757"/>
          </a:xfrm>
          <a:prstGeom prst="rect">
            <a:avLst/>
          </a:prstGeom>
          <a:noFill/>
        </p:spPr>
        <p:txBody>
          <a:bodyPr wrap="square" lIns="0" rIns="0" tIns="0" bIns="0" anchor="t">
            <a:spAutoFit/>
          </a:bodyPr>
          <a:lstStyle/>
          <a:p>
            <a:pPr algn="l">
              <a:lnSpc>
                <a:spcPct val="124000"/>
              </a:lnSpc>
            </a:pPr>
            <a:r>
              <a:rPr sz="1550" b="1" i="0">
                <a:solidFill>
                  <a:srgbClr val="21295C"/>
                </a:solidFill>
                <a:latin typeface="Arial"/>
              </a:rPr>
              <a:t>Что стало с теми, кто решает.</a:t>
            </a:r>
            <a:r>
              <a:rPr sz="1550" b="0" i="0">
                <a:solidFill>
                  <a:srgbClr val="21295C"/>
                </a:solidFill>
                <a:latin typeface="Arial"/>
              </a:rPr>
              <a:t> Лекция мерила работу. Что стало с человеком внутри неё — не сказал ни один замер.</a:t>
            </a:r>
          </a:p>
        </p:txBody>
      </p:sp>
      <p:sp>
        <p:nvSpPr>
          <p:cNvPr id="9" name="TextBox 8"/>
          <p:cNvSpPr txBox="1"/>
          <p:nvPr/>
        </p:nvSpPr>
        <p:spPr>
          <a:xfrm>
            <a:off x="704088" y="3045563"/>
            <a:ext cx="6473952" cy="640757"/>
          </a:xfrm>
          <a:prstGeom prst="rect">
            <a:avLst/>
          </a:prstGeom>
          <a:noFill/>
        </p:spPr>
        <p:txBody>
          <a:bodyPr wrap="square" lIns="0" rIns="0" tIns="0" bIns="0" anchor="t">
            <a:spAutoFit/>
          </a:bodyPr>
          <a:lstStyle/>
          <a:p>
            <a:pPr algn="l">
              <a:lnSpc>
                <a:spcPct val="124000"/>
              </a:lnSpc>
            </a:pPr>
            <a:r>
              <a:rPr sz="1550" b="1" i="0">
                <a:solidFill>
                  <a:srgbClr val="21295C"/>
                </a:solidFill>
                <a:latin typeface="Arial"/>
              </a:rPr>
              <a:t>1 пример · 2 классических режима с числами · 1 плоскость без примера</a:t>
            </a:r>
          </a:p>
        </p:txBody>
      </p:sp>
      <p:sp>
        <p:nvSpPr>
          <p:cNvPr id="10" name="TextBox 9"/>
          <p:cNvSpPr txBox="1"/>
          <p:nvPr/>
        </p:nvSpPr>
        <p:spPr>
          <a:xfrm>
            <a:off x="704088" y="3814336"/>
            <a:ext cx="6473952" cy="640757"/>
          </a:xfrm>
          <a:prstGeom prst="rect">
            <a:avLst/>
          </a:prstGeom>
          <a:noFill/>
        </p:spPr>
        <p:txBody>
          <a:bodyPr wrap="square" lIns="0" rIns="0" tIns="0" bIns="0" anchor="t">
            <a:spAutoFit/>
          </a:bodyPr>
          <a:lstStyle/>
          <a:p>
            <a:pPr algn="l">
              <a:lnSpc>
                <a:spcPct val="124000"/>
              </a:lnSpc>
            </a:pPr>
            <a:r>
              <a:rPr sz="1550" b="0" i="0">
                <a:solidFill>
                  <a:srgbClr val="21295C"/>
                </a:solidFill>
                <a:latin typeface="Arial"/>
              </a:rPr>
              <a:t>Случай один, и он единственный, снятый на реальной работе: </a:t>
            </a:r>
            <a:r>
              <a:rPr sz="1550" b="1" i="0">
                <a:solidFill>
                  <a:srgbClr val="21295C"/>
                </a:solidFill>
                <a:latin typeface="Arial"/>
              </a:rPr>
              <a:t>Пример 1: доля упала без помощника</a:t>
            </a:r>
          </a:p>
        </p:txBody>
      </p:sp>
      <p:sp>
        <p:nvSpPr>
          <p:cNvPr id="11" name="TextBox 10"/>
          <p:cNvSpPr txBox="1"/>
          <p:nvPr/>
        </p:nvSpPr>
        <p:spPr>
          <a:xfrm>
            <a:off x="704088" y="4583110"/>
            <a:ext cx="6473952" cy="640757"/>
          </a:xfrm>
          <a:prstGeom prst="rect">
            <a:avLst/>
          </a:prstGeom>
          <a:noFill/>
        </p:spPr>
        <p:txBody>
          <a:bodyPr wrap="square" lIns="0" rIns="0" tIns="0" bIns="0" anchor="t">
            <a:spAutoFit/>
          </a:bodyPr>
          <a:lstStyle/>
          <a:p>
            <a:pPr algn="l">
              <a:lnSpc>
                <a:spcPct val="124000"/>
              </a:lnSpc>
            </a:pPr>
            <a:r>
              <a:rPr sz="1550" b="0" i="0">
                <a:solidFill>
                  <a:srgbClr val="21295C"/>
                </a:solidFill>
                <a:latin typeface="Arial"/>
              </a:rPr>
              <a:t>Рядом — плоскость без примера: </a:t>
            </a:r>
            <a:r>
              <a:rPr sz="1550" b="1" i="0">
                <a:solidFill>
                  <a:srgbClr val="21295C"/>
                </a:solidFill>
                <a:latin typeface="Arial"/>
              </a:rPr>
              <a:t>чего про доверие не измерено</a:t>
            </a:r>
            <a:r>
              <a:rPr sz="1550" b="0" i="0">
                <a:solidFill>
                  <a:srgbClr val="21295C"/>
                </a:solidFill>
                <a:latin typeface="Arial"/>
              </a:rPr>
              <a:t> и </a:t>
            </a:r>
            <a:r>
              <a:rPr sz="1550" b="1" i="0">
                <a:solidFill>
                  <a:srgbClr val="21295C"/>
                </a:solidFill>
                <a:latin typeface="Arial"/>
              </a:rPr>
              <a:t>единственный чертёж темы — с пустыми осями</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Квалификация: что замеряют и чем</a:t>
            </a:r>
          </a:p>
        </p:txBody>
      </p:sp>
      <p:sp>
        <p:nvSpPr>
          <p:cNvPr id="4" name="Rounded Rectangle 3"/>
          <p:cNvSpPr/>
          <p:nvPr/>
        </p:nvSpPr>
        <p:spPr>
          <a:xfrm>
            <a:off x="374904" y="1243584"/>
            <a:ext cx="11441887" cy="4992624"/>
          </a:xfrm>
          <a:prstGeom prst="roundRect">
            <a:avLst>
              <a:gd name="adj" fmla="val 6105"/>
            </a:avLst>
          </a:prstGeom>
          <a:solidFill>
            <a:srgbClr val="F4F7FA"/>
          </a:solidFill>
          <a:ln w="19050">
            <a:solidFill>
              <a:srgbClr val="1C7293"/>
            </a:solidFill>
          </a:ln>
          <a:effectLst/>
        </p:spPr>
        <p:txBody>
          <a:bodyPr rtlCol="0" anchor="ctr"/>
          <a:lstStyle/>
          <a:p>
            <a:pPr algn="ctr"/>
          </a:p>
        </p:txBody>
      </p:sp>
      <p:sp>
        <p:nvSpPr>
          <p:cNvPr id="5" name="TextBox 4"/>
          <p:cNvSpPr txBox="1"/>
          <p:nvPr/>
        </p:nvSpPr>
        <p:spPr>
          <a:xfrm>
            <a:off x="539496" y="1335024"/>
            <a:ext cx="6869887" cy="2886891"/>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Замер поперёк цикла, по самому исполнителю: в форме ли он.</a:t>
            </a:r>
            <a:r>
              <a:rPr sz="1500" b="0" i="0">
                <a:solidFill>
                  <a:srgbClr val="21295C"/>
                </a:solidFill>
                <a:latin typeface="Arial"/>
              </a:rPr>
              <a:t> Навык расходуется молча.</a:t>
            </a:r>
          </a:p>
          <a:p>
            <a:pPr algn="l">
              <a:lnSpc>
                <a:spcPct val="126000"/>
              </a:lnSpc>
              <a:spcBef>
                <a:spcPts val="700"/>
              </a:spcBef>
            </a:pPr>
            <a:r>
              <a:rPr sz="1500" b="0" i="0">
                <a:solidFill>
                  <a:srgbClr val="21295C"/>
                </a:solidFill>
                <a:latin typeface="Arial"/>
              </a:rPr>
              <a:t/>
            </a:r>
            <a:r>
              <a:rPr sz="1500" b="1" i="0">
                <a:solidFill>
                  <a:srgbClr val="21295C"/>
                </a:solidFill>
                <a:latin typeface="Arial"/>
              </a:rPr>
              <a:t>Две внешние числовые проверки устроены по-разному:</a:t>
            </a:r>
            <a:r>
              <a:rPr sz="1500" b="0" i="0">
                <a:solidFill>
                  <a:srgbClr val="21295C"/>
                </a:solidFill>
                <a:latin typeface="Arial"/>
              </a:rPr>
              <a:t> доля обнаружения снимается с потока, старанием её не поднять; время выведения — дисциплина по таймеру.</a:t>
            </a:r>
          </a:p>
          <a:p>
            <a:pPr algn="l">
              <a:lnSpc>
                <a:spcPct val="126000"/>
              </a:lnSpc>
              <a:spcBef>
                <a:spcPts val="700"/>
              </a:spcBef>
            </a:pPr>
            <a:r>
              <a:rPr sz="1500" b="0" i="0">
                <a:solidFill>
                  <a:srgbClr val="21295C"/>
                </a:solidFill>
                <a:latin typeface="Arial"/>
              </a:rPr>
              <a:t/>
            </a:r>
            <a:r>
              <a:rPr sz="1500" b="1" i="0">
                <a:solidFill>
                  <a:srgbClr val="21295C"/>
                </a:solidFill>
                <a:latin typeface="Arial"/>
              </a:rPr>
              <a:t>Решение:</a:t>
            </a:r>
            <a:r>
              <a:rPr sz="1500" b="0" i="0">
                <a:solidFill>
                  <a:srgbClr val="21295C"/>
                </a:solidFill>
                <a:latin typeface="Arial"/>
              </a:rPr>
              <a:t> допускать, сузить допуск, приостановить, не продлить — единственное за лекцию не о пациенте.</a:t>
            </a:r>
          </a:p>
        </p:txBody>
      </p:sp>
      <p:sp>
        <p:nvSpPr>
          <p:cNvPr id="6" name="TextBox 5"/>
          <p:cNvSpPr txBox="1"/>
          <p:nvPr/>
        </p:nvSpPr>
        <p:spPr>
          <a:xfrm>
            <a:off x="539496" y="4313355"/>
            <a:ext cx="11112703" cy="1922852"/>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У кого в работе есть внешняя числовая проверка собственной формы — и кто её считает?</a:t>
            </a:r>
          </a:p>
        </p:txBody>
      </p:sp>
      <p:sp>
        <p:nvSpPr>
          <p:cNvPr id="7" name="Rounded Rectangle 6"/>
          <p:cNvSpPr/>
          <p:nvPr/>
        </p:nvSpPr>
        <p:spPr>
          <a:xfrm>
            <a:off x="7756855" y="1335024"/>
            <a:ext cx="3931920" cy="2886891"/>
          </a:xfrm>
          <a:prstGeom prst="roundRect">
            <a:avLst>
              <a:gd name="adj" fmla="val 10558"/>
            </a:avLst>
          </a:prstGeom>
          <a:solidFill>
            <a:srgbClr val="F4F7FA"/>
          </a:solidFill>
          <a:ln w="19050">
            <a:solidFill>
              <a:srgbClr val="1C7293"/>
            </a:solidFill>
          </a:ln>
          <a:effectLst/>
        </p:spPr>
        <p:txBody>
          <a:bodyPr rtlCol="0" anchor="ctr"/>
          <a:lstStyle/>
          <a:p>
            <a:pPr algn="ctr"/>
          </a:p>
        </p:txBody>
      </p:sp>
      <p:pic>
        <p:nvPicPr>
          <p:cNvPr id="8" name="Picture 7" descr="s89-standart-pokazateley-kolonoskopii.png"/>
          <p:cNvPicPr>
            <a:picLocks noChangeAspect="1"/>
          </p:cNvPicPr>
          <p:nvPr/>
        </p:nvPicPr>
        <p:blipFill>
          <a:blip r:embed="rId2"/>
          <a:stretch>
            <a:fillRect/>
          </a:stretch>
        </p:blipFill>
        <p:spPr>
          <a:xfrm>
            <a:off x="7894015" y="1472184"/>
            <a:ext cx="3657600" cy="2612571"/>
          </a:xfrm>
          <a:prstGeom prst="rect">
            <a:avLst/>
          </a:prstGeom>
        </p:spPr>
      </p:pic>
      <p:sp>
        <p:nvSpPr>
          <p:cNvPr id="9" name="Rectangle 8"/>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10" name="TextBox 9"/>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3"/>
              </a:rPr>
              <a:t>Рекомендации профессионального общества, Gastrointestinal Endoscopy 2015</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Чем держат форму и куда встала модель</a:t>
            </a:r>
          </a:p>
        </p:txBody>
      </p:sp>
      <p:sp>
        <p:nvSpPr>
          <p:cNvPr id="4" name="Rounded Rectangle 3"/>
          <p:cNvSpPr/>
          <p:nvPr/>
        </p:nvSpPr>
        <p:spPr>
          <a:xfrm>
            <a:off x="374904" y="1243584"/>
            <a:ext cx="11441887" cy="2442647"/>
          </a:xfrm>
          <a:prstGeom prst="roundRect">
            <a:avLst>
              <a:gd name="adj" fmla="val 12478"/>
            </a:avLst>
          </a:prstGeom>
          <a:solidFill>
            <a:srgbClr val="F4F7FA"/>
          </a:solidFill>
          <a:ln w="19050">
            <a:solidFill>
              <a:srgbClr val="1C7293"/>
            </a:solidFill>
          </a:ln>
          <a:effectLst/>
        </p:spPr>
        <p:txBody>
          <a:bodyPr rtlCol="0" anchor="ctr"/>
          <a:lstStyle/>
          <a:p>
            <a:pPr algn="ctr"/>
          </a:p>
        </p:txBody>
      </p:sp>
      <p:sp>
        <p:nvSpPr>
          <p:cNvPr id="5" name="TextBox 4"/>
          <p:cNvSpPr txBox="1"/>
          <p:nvPr/>
        </p:nvSpPr>
        <p:spPr>
          <a:xfrm>
            <a:off x="539496" y="1335024"/>
            <a:ext cx="5373471" cy="4901184"/>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Три опоры:</a:t>
            </a:r>
            <a:r>
              <a:rPr sz="1500" b="0" i="0">
                <a:solidFill>
                  <a:srgbClr val="21295C"/>
                </a:solidFill>
                <a:latin typeface="Arial"/>
              </a:rPr>
              <a:t> объём практики, аккредитация, повторная сертификация. </a:t>
            </a:r>
            <a:r>
              <a:rPr sz="1500" b="1" i="0">
                <a:solidFill>
                  <a:srgbClr val="21295C"/>
                </a:solidFill>
                <a:latin typeface="Arial"/>
              </a:rPr>
              <a:t>Ни одна не спрашивает человека.</a:t>
            </a:r>
          </a:p>
        </p:txBody>
      </p:sp>
      <p:sp>
        <p:nvSpPr>
          <p:cNvPr id="6" name="TextBox 5"/>
          <p:cNvSpPr txBox="1"/>
          <p:nvPr/>
        </p:nvSpPr>
        <p:spPr>
          <a:xfrm>
            <a:off x="6278727" y="1335024"/>
            <a:ext cx="5373471" cy="4901184"/>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Врач вернулся после года без процедур.</a:t>
            </a:r>
            <a:r>
              <a:rPr sz="1500" b="0" i="0">
                <a:solidFill>
                  <a:srgbClr val="21295C"/>
                </a:solidFill>
                <a:latin typeface="Arial"/>
              </a:rPr>
              <a:t> Отзывать допуск было не за что. Первая процедура идёт иначе: прибор медленнее, рука дольше ищет угол, складку он проходит мимо. Осложнений нет, протокол написан, </a:t>
            </a:r>
            <a:r>
              <a:rPr sz="1500" b="1" i="0">
                <a:solidFill>
                  <a:srgbClr val="21295C"/>
                </a:solidFill>
                <a:latin typeface="Arial"/>
              </a:rPr>
              <a:t>и он этого не знает.</a:t>
            </a:r>
          </a:p>
          <a:p>
            <a:pPr algn="l">
              <a:lnSpc>
                <a:spcPct val="126000"/>
              </a:lnSpc>
              <a:spcBef>
                <a:spcPts val="700"/>
              </a:spcBef>
            </a:pPr>
            <a:r>
              <a:rPr sz="1500" b="0" i="0">
                <a:solidFill>
                  <a:srgbClr val="21295C"/>
                </a:solidFill>
                <a:latin typeface="Arial"/>
              </a:rPr>
              <a:t/>
            </a:r>
            <a:r>
              <a:rPr sz="1500" b="1" i="0">
                <a:solidFill>
                  <a:srgbClr val="21295C"/>
                </a:solidFill>
                <a:latin typeface="Arial"/>
              </a:rPr>
              <a:t>Модель заняла одно действие из восьми</a:t>
            </a:r>
            <a:r>
              <a:rPr sz="1500" b="0" i="0">
                <a:solidFill>
                  <a:srgbClr val="21295C"/>
                </a:solidFill>
                <a:latin typeface="Arial"/>
              </a:rPr>
              <a:t> — осмотр при выведении. </a:t>
            </a:r>
            <a:r>
              <a:rPr sz="1500" b="1" i="0">
                <a:solidFill>
                  <a:srgbClr val="21295C"/>
                </a:solidFill>
                <a:latin typeface="Arial"/>
              </a:rPr>
              <a:t>Добавилось одно: доверять ли рамке.</a:t>
            </a:r>
          </a:p>
        </p:txBody>
      </p:sp>
      <p:sp>
        <p:nvSpPr>
          <p:cNvPr id="7" name="Rectangle 6"/>
          <p:cNvSpPr/>
          <p:nvPr/>
        </p:nvSpPr>
        <p:spPr>
          <a:xfrm>
            <a:off x="6091275" y="1335024"/>
            <a:ext cx="9144" cy="2168327"/>
          </a:xfrm>
          <a:prstGeom prst="rect">
            <a:avLst/>
          </a:prstGeom>
          <a:solidFill>
            <a:srgbClr val="D9E2EC"/>
          </a:solidFill>
          <a:ln>
            <a:noFill/>
          </a:ln>
          <a:effectLst/>
        </p:spPr>
        <p:txBody>
          <a:bodyPr rtlCol="0" anchor="ctr"/>
          <a:lstStyle/>
          <a:p>
            <a:pPr algn="ctr"/>
          </a:p>
        </p:txBody>
      </p:sp>
      <p:sp>
        <p:nvSpPr>
          <p:cNvPr id="8" name="Rectangle 7"/>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9" name="TextBox 8"/>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Рекомендации профессионального общества, Gastrointestinal Endoscopy 2015</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500" b="1" i="0">
                <a:solidFill>
                  <a:srgbClr val="21295C"/>
                </a:solidFill>
                <a:latin typeface="Arial"/>
              </a:rPr>
              <a:t>Цена обеих ошибок и оба классических режима — до всякой модели</a:t>
            </a:r>
          </a:p>
        </p:txBody>
      </p:sp>
      <p:sp>
        <p:nvSpPr>
          <p:cNvPr id="4" name="Rounded Rectangle 3"/>
          <p:cNvSpPr/>
          <p:nvPr/>
        </p:nvSpPr>
        <p:spPr>
          <a:xfrm>
            <a:off x="502920" y="1335024"/>
            <a:ext cx="1772335" cy="2252148"/>
          </a:xfrm>
          <a:prstGeom prst="roundRect">
            <a:avLst>
              <a:gd name="adj" fmla="val 17197"/>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1498015"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ПРОПУСТИТЬ ОБРАЗОВАНИЕ</a:t>
            </a:r>
          </a:p>
        </p:txBody>
      </p:sp>
      <p:sp>
        <p:nvSpPr>
          <p:cNvPr id="6" name="TextBox 5"/>
          <p:cNvSpPr txBox="1"/>
          <p:nvPr/>
        </p:nvSpPr>
        <p:spPr>
          <a:xfrm>
            <a:off x="640080" y="1932846"/>
            <a:ext cx="1498015" cy="825909"/>
          </a:xfrm>
          <a:prstGeom prst="rect">
            <a:avLst/>
          </a:prstGeom>
          <a:noFill/>
        </p:spPr>
        <p:txBody>
          <a:bodyPr wrap="square" lIns="0" rIns="0" tIns="0" bIns="0" anchor="t">
            <a:spAutoFit/>
          </a:bodyPr>
          <a:lstStyle/>
          <a:p>
            <a:pPr algn="l">
              <a:lnSpc>
                <a:spcPct val="108000"/>
              </a:lnSpc>
            </a:pPr>
            <a:r>
              <a:rPr sz="1550" b="1" i="0">
                <a:solidFill>
                  <a:srgbClr val="21295C"/>
                </a:solidFill>
                <a:latin typeface="Arial"/>
              </a:rPr>
              <a:t>остаётся до следующего обследования</a:t>
            </a:r>
          </a:p>
        </p:txBody>
      </p:sp>
      <p:sp>
        <p:nvSpPr>
          <p:cNvPr id="7" name="Rounded Rectangle 6"/>
          <p:cNvSpPr/>
          <p:nvPr/>
        </p:nvSpPr>
        <p:spPr>
          <a:xfrm>
            <a:off x="2439847" y="1335024"/>
            <a:ext cx="1772335" cy="2252148"/>
          </a:xfrm>
          <a:prstGeom prst="roundRect">
            <a:avLst>
              <a:gd name="adj" fmla="val 17197"/>
            </a:avLst>
          </a:prstGeom>
          <a:solidFill>
            <a:srgbClr val="FFFFFF"/>
          </a:solidFill>
          <a:ln w="25400">
            <a:solidFill>
              <a:srgbClr val="F0AB00"/>
            </a:solidFill>
          </a:ln>
          <a:effectLst/>
        </p:spPr>
        <p:txBody>
          <a:bodyPr rtlCol="0" anchor="ctr"/>
          <a:lstStyle/>
          <a:p>
            <a:pPr algn="ctr"/>
          </a:p>
        </p:txBody>
      </p:sp>
      <p:sp>
        <p:nvSpPr>
          <p:cNvPr id="8" name="TextBox 7"/>
          <p:cNvSpPr txBox="1"/>
          <p:nvPr/>
        </p:nvSpPr>
        <p:spPr>
          <a:xfrm>
            <a:off x="2577007" y="1472184"/>
            <a:ext cx="1498015"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УВИДЕТЬ ЛИШНЕЕ</a:t>
            </a:r>
          </a:p>
        </p:txBody>
      </p:sp>
      <p:sp>
        <p:nvSpPr>
          <p:cNvPr id="9" name="TextBox 8"/>
          <p:cNvSpPr txBox="1"/>
          <p:nvPr/>
        </p:nvSpPr>
        <p:spPr>
          <a:xfrm>
            <a:off x="2577007" y="1725375"/>
            <a:ext cx="1498015" cy="698597"/>
          </a:xfrm>
          <a:prstGeom prst="rect">
            <a:avLst/>
          </a:prstGeom>
          <a:noFill/>
        </p:spPr>
        <p:txBody>
          <a:bodyPr wrap="square" lIns="0" rIns="0" tIns="0" bIns="0" anchor="t">
            <a:spAutoFit/>
          </a:bodyPr>
          <a:lstStyle/>
          <a:p>
            <a:pPr algn="l">
              <a:lnSpc>
                <a:spcPct val="108000"/>
              </a:lnSpc>
            </a:pPr>
            <a:r>
              <a:rPr sz="1300" b="1" i="0">
                <a:solidFill>
                  <a:srgbClr val="1C7293"/>
                </a:solidFill>
                <a:latin typeface="Arial"/>
              </a:rPr>
              <a:t>снятие, кровотечение, повторный визит</a:t>
            </a:r>
          </a:p>
        </p:txBody>
      </p:sp>
      <p:sp>
        <p:nvSpPr>
          <p:cNvPr id="10" name="Rounded Rectangle 9"/>
          <p:cNvSpPr/>
          <p:nvPr/>
        </p:nvSpPr>
        <p:spPr>
          <a:xfrm>
            <a:off x="4376775" y="1335024"/>
            <a:ext cx="1772335" cy="2252148"/>
          </a:xfrm>
          <a:prstGeom prst="roundRect">
            <a:avLst>
              <a:gd name="adj" fmla="val 17197"/>
            </a:avLst>
          </a:prstGeom>
          <a:solidFill>
            <a:srgbClr val="F4F7FA"/>
          </a:solidFill>
          <a:ln w="15240">
            <a:solidFill>
              <a:srgbClr val="1C7293"/>
            </a:solidFill>
          </a:ln>
          <a:effectLst/>
        </p:spPr>
        <p:txBody>
          <a:bodyPr rtlCol="0" anchor="ctr"/>
          <a:lstStyle/>
          <a:p>
            <a:pPr algn="ctr"/>
          </a:p>
        </p:txBody>
      </p:sp>
      <p:sp>
        <p:nvSpPr>
          <p:cNvPr id="11" name="TextBox 10"/>
          <p:cNvSpPr txBox="1"/>
          <p:nvPr/>
        </p:nvSpPr>
        <p:spPr>
          <a:xfrm>
            <a:off x="4513935" y="1472184"/>
            <a:ext cx="1498015"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ДИСЦИПЛИНА ОСМОТРА</a:t>
            </a:r>
          </a:p>
        </p:txBody>
      </p:sp>
      <p:sp>
        <p:nvSpPr>
          <p:cNvPr id="12" name="TextBox 11"/>
          <p:cNvSpPr txBox="1"/>
          <p:nvPr/>
        </p:nvSpPr>
        <p:spPr>
          <a:xfrm>
            <a:off x="4513935" y="1932846"/>
            <a:ext cx="1498015" cy="460949"/>
          </a:xfrm>
          <a:prstGeom prst="rect">
            <a:avLst/>
          </a:prstGeom>
          <a:noFill/>
        </p:spPr>
        <p:txBody>
          <a:bodyPr wrap="square" lIns="0" rIns="0" tIns="0" bIns="0" anchor="t">
            <a:spAutoFit/>
          </a:bodyPr>
          <a:lstStyle/>
          <a:p>
            <a:pPr algn="l">
              <a:lnSpc>
                <a:spcPct val="108000"/>
              </a:lnSpc>
            </a:pPr>
            <a:r>
              <a:rPr sz="1250" b="1" i="0">
                <a:solidFill>
                  <a:srgbClr val="21295C"/>
                </a:solidFill>
                <a:latin typeface="Arial"/>
              </a:rPr>
              <a:t>27,1 → 36,6 процедуры из ста</a:t>
            </a:r>
          </a:p>
        </p:txBody>
      </p:sp>
      <p:sp>
        <p:nvSpPr>
          <p:cNvPr id="13" name="TextBox 12"/>
          <p:cNvSpPr txBox="1"/>
          <p:nvPr/>
        </p:nvSpPr>
        <p:spPr>
          <a:xfrm>
            <a:off x="4513935" y="2393795"/>
            <a:ext cx="1498015" cy="1056217"/>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доля процедур с находкой аденомы, не доля пациентов; 1 027 пациентов, рандомизированное</a:t>
            </a:r>
          </a:p>
        </p:txBody>
      </p:sp>
      <p:sp>
        <p:nvSpPr>
          <p:cNvPr id="14" name="Rounded Rectangle 13"/>
          <p:cNvSpPr/>
          <p:nvPr/>
        </p:nvSpPr>
        <p:spPr>
          <a:xfrm>
            <a:off x="6313703" y="1335024"/>
            <a:ext cx="1772335" cy="2252148"/>
          </a:xfrm>
          <a:prstGeom prst="roundRect">
            <a:avLst>
              <a:gd name="adj" fmla="val 17197"/>
            </a:avLst>
          </a:prstGeom>
          <a:solidFill>
            <a:srgbClr val="F4F7FA"/>
          </a:solidFill>
          <a:ln w="15240">
            <a:solidFill>
              <a:srgbClr val="1C7293"/>
            </a:solidFill>
          </a:ln>
          <a:effectLst/>
        </p:spPr>
        <p:txBody>
          <a:bodyPr rtlCol="0" anchor="ctr"/>
          <a:lstStyle/>
          <a:p>
            <a:pPr algn="ctr"/>
          </a:p>
        </p:txBody>
      </p:sp>
      <p:sp>
        <p:nvSpPr>
          <p:cNvPr id="15" name="TextBox 14"/>
          <p:cNvSpPr txBox="1"/>
          <p:nvPr/>
        </p:nvSpPr>
        <p:spPr>
          <a:xfrm>
            <a:off x="6450863" y="1472184"/>
            <a:ext cx="1498015"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ВТОРОЙ НАБЛЮДАТЕЛЬ</a:t>
            </a:r>
          </a:p>
        </p:txBody>
      </p:sp>
      <p:sp>
        <p:nvSpPr>
          <p:cNvPr id="16" name="TextBox 15"/>
          <p:cNvSpPr txBox="1"/>
          <p:nvPr/>
        </p:nvSpPr>
        <p:spPr>
          <a:xfrm>
            <a:off x="6450863" y="1932846"/>
            <a:ext cx="1498015" cy="460949"/>
          </a:xfrm>
          <a:prstGeom prst="rect">
            <a:avLst/>
          </a:prstGeom>
          <a:noFill/>
        </p:spPr>
        <p:txBody>
          <a:bodyPr wrap="square" lIns="0" rIns="0" tIns="0" bIns="0" anchor="t">
            <a:spAutoFit/>
          </a:bodyPr>
          <a:lstStyle/>
          <a:p>
            <a:pPr algn="l">
              <a:lnSpc>
                <a:spcPct val="108000"/>
              </a:lnSpc>
            </a:pPr>
            <a:r>
              <a:rPr sz="1250" b="1" i="0">
                <a:solidFill>
                  <a:srgbClr val="21295C"/>
                </a:solidFill>
                <a:latin typeface="Arial"/>
              </a:rPr>
              <a:t>39,3 → 45,7 процедуры из ста</a:t>
            </a:r>
          </a:p>
        </p:txBody>
      </p:sp>
      <p:sp>
        <p:nvSpPr>
          <p:cNvPr id="17" name="TextBox 16"/>
          <p:cNvSpPr txBox="1"/>
          <p:nvPr/>
        </p:nvSpPr>
        <p:spPr>
          <a:xfrm>
            <a:off x="6450863" y="2393795"/>
            <a:ext cx="1498015"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1 676 пациентов, три испытания вместе</a:t>
            </a:r>
          </a:p>
        </p:txBody>
      </p:sp>
      <p:sp>
        <p:nvSpPr>
          <p:cNvPr id="18" name="Rounded Rectangle 17"/>
          <p:cNvSpPr/>
          <p:nvPr/>
        </p:nvSpPr>
        <p:spPr>
          <a:xfrm>
            <a:off x="374904" y="3678612"/>
            <a:ext cx="11441887" cy="1640364"/>
          </a:xfrm>
          <a:prstGeom prst="roundRect">
            <a:avLst>
              <a:gd name="adj" fmla="val 18581"/>
            </a:avLst>
          </a:prstGeom>
          <a:solidFill>
            <a:srgbClr val="F4F7FA"/>
          </a:solidFill>
          <a:ln w="19050">
            <a:solidFill>
              <a:srgbClr val="1C7293"/>
            </a:solidFill>
          </a:ln>
          <a:effectLst/>
        </p:spPr>
        <p:txBody>
          <a:bodyPr rtlCol="0" anchor="ctr"/>
          <a:lstStyle/>
          <a:p>
            <a:pPr algn="ctr"/>
          </a:p>
        </p:txBody>
      </p:sp>
      <p:sp>
        <p:nvSpPr>
          <p:cNvPr id="19" name="TextBox 18"/>
          <p:cNvSpPr txBox="1"/>
          <p:nvPr/>
        </p:nvSpPr>
        <p:spPr>
          <a:xfrm>
            <a:off x="539496" y="3770052"/>
            <a:ext cx="11112703" cy="2466155"/>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Обратная связь приходит через годы — поэтому плохой осмотр не чувствуется плохим.</a:t>
            </a:r>
          </a:p>
          <a:p>
            <a:pPr algn="l">
              <a:lnSpc>
                <a:spcPct val="126000"/>
              </a:lnSpc>
              <a:spcBef>
                <a:spcPts val="700"/>
              </a:spcBef>
            </a:pPr>
            <a:r>
              <a:rPr sz="1500" b="0" i="0">
                <a:solidFill>
                  <a:srgbClr val="21295C"/>
                </a:solidFill>
                <a:latin typeface="Arial"/>
              </a:rPr>
              <a:t/>
            </a:r>
            <a:r>
              <a:rPr sz="1500" b="1" i="0">
                <a:solidFill>
                  <a:srgbClr val="21295C"/>
                </a:solidFill>
                <a:latin typeface="Arial"/>
              </a:rPr>
              <a:t>Оба классических режима посчитаны в доле обнаружения, и оба дают прирост того же порядка, что помощник, или больше.</a:t>
            </a:r>
            <a:r>
              <a:rPr sz="1500" b="0" i="0">
                <a:solidFill>
                  <a:srgbClr val="21295C"/>
                </a:solidFill>
                <a:latin typeface="Arial"/>
              </a:rPr>
              <a:t> </a:t>
            </a:r>
            <a:r>
              <a:rPr sz="1500" b="0" i="1">
                <a:solidFill>
                  <a:srgbClr val="21295C"/>
                </a:solidFill>
                <a:latin typeface="Arial"/>
              </a:rPr>
              <a:t>Базы разные: 27,1 и 39,3 — приросты между собой не сравниваются.</a:t>
            </a:r>
          </a:p>
          <a:p>
            <a:pPr algn="l">
              <a:lnSpc>
                <a:spcPct val="126000"/>
              </a:lnSpc>
              <a:spcBef>
                <a:spcPts val="700"/>
              </a:spcBef>
            </a:pPr>
            <a:r>
              <a:rPr sz="1500" b="0" i="0">
                <a:solidFill>
                  <a:srgbClr val="21295C"/>
                </a:solidFill>
                <a:latin typeface="Arial"/>
              </a:rPr>
              <a:t/>
            </a:r>
            <a:r>
              <a:rPr sz="1500" b="1" i="0">
                <a:solidFill>
                  <a:srgbClr val="21295C"/>
                </a:solidFill>
                <a:latin typeface="Arial"/>
              </a:rPr>
              <a:t>Другой стороной: после удлинения осмотра без находки остаются 63,4 процедуры из ста — почти две из трёх.</a:t>
            </a:r>
          </a:p>
        </p:txBody>
      </p:sp>
      <p:sp>
        <p:nvSpPr>
          <p:cNvPr id="20" name="Rounded Rectangle 19"/>
          <p:cNvSpPr/>
          <p:nvPr/>
        </p:nvSpPr>
        <p:spPr>
          <a:xfrm>
            <a:off x="8396935" y="1335024"/>
            <a:ext cx="3291840" cy="1966340"/>
          </a:xfrm>
          <a:prstGeom prst="roundRect">
            <a:avLst>
              <a:gd name="adj" fmla="val 15500"/>
            </a:avLst>
          </a:prstGeom>
          <a:solidFill>
            <a:srgbClr val="F4F7FA"/>
          </a:solidFill>
          <a:ln w="19050">
            <a:solidFill>
              <a:srgbClr val="1C7293"/>
            </a:solidFill>
          </a:ln>
          <a:effectLst/>
        </p:spPr>
        <p:txBody>
          <a:bodyPr rtlCol="0" anchor="ctr"/>
          <a:lstStyle/>
          <a:p>
            <a:pPr algn="ctr"/>
          </a:p>
        </p:txBody>
      </p:sp>
      <p:pic>
        <p:nvPicPr>
          <p:cNvPr id="21" name="Picture 20" descr="s90-ekran-protsedury-panel-b.jpg"/>
          <p:cNvPicPr>
            <a:picLocks noChangeAspect="1"/>
          </p:cNvPicPr>
          <p:nvPr/>
        </p:nvPicPr>
        <p:blipFill>
          <a:blip r:embed="rId2"/>
          <a:stretch>
            <a:fillRect/>
          </a:stretch>
        </p:blipFill>
        <p:spPr>
          <a:xfrm>
            <a:off x="8534095" y="1472184"/>
            <a:ext cx="3017520" cy="1692020"/>
          </a:xfrm>
          <a:prstGeom prst="rect">
            <a:avLst/>
          </a:prstGeom>
        </p:spPr>
      </p:pic>
      <p:sp>
        <p:nvSpPr>
          <p:cNvPr id="22" name="Rectangle 21"/>
          <p:cNvSpPr/>
          <p:nvPr/>
        </p:nvSpPr>
        <p:spPr>
          <a:xfrm>
            <a:off x="502920" y="854141"/>
            <a:ext cx="960120" cy="50292"/>
          </a:xfrm>
          <a:prstGeom prst="rect">
            <a:avLst/>
          </a:prstGeom>
          <a:solidFill>
            <a:srgbClr val="F0AB00"/>
          </a:solidFill>
          <a:ln>
            <a:noFill/>
          </a:ln>
          <a:effectLst/>
        </p:spPr>
        <p:txBody>
          <a:bodyPr rtlCol="0" anchor="ctr"/>
          <a:lstStyle/>
          <a:p>
            <a:pPr algn="ctr"/>
          </a:p>
        </p:txBody>
      </p:sp>
      <p:sp>
        <p:nvSpPr>
          <p:cNvPr id="23" name="TextBox 22"/>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3"/>
              </a:rPr>
              <a:t>Kader и соавт., npj Digital Medicine 2025, CC BY 4.0, панель b</a:t>
            </a:r>
            <a:r>
              <a:rPr sz="1200" b="0" i="1">
                <a:solidFill>
                  <a:srgbClr val="1C7293"/>
                </a:solidFill>
                <a:latin typeface="Arial"/>
              </a:rPr>
              <a:t> · </a:t>
            </a:r>
            <a:r>
              <a:rPr sz="1200" b="0" i="1" u="sng">
                <a:solidFill>
                  <a:srgbClr val="065A82"/>
                </a:solidFill>
                <a:latin typeface="Arial"/>
                <a:hlinkClick r:id="rId4"/>
              </a:rPr>
              <a:t>Zhao и соавт., Clinical Gastroenterology and Hepatology 2022</a:t>
            </a:r>
            <a:r>
              <a:rPr sz="1200" b="0" i="1">
                <a:solidFill>
                  <a:srgbClr val="1C7293"/>
                </a:solidFill>
                <a:latin typeface="Arial"/>
              </a:rPr>
              <a:t> · </a:t>
            </a:r>
            <a:r>
              <a:rPr sz="1200" b="0" i="1" u="sng">
                <a:solidFill>
                  <a:srgbClr val="065A82"/>
                </a:solidFill>
                <a:latin typeface="Arial"/>
                <a:hlinkClick r:id="rId5"/>
              </a:rPr>
              <a:t>Lei и соавт., International Journal of Colorectal Disease 2024</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Пример 1: доля упала без помощника</a:t>
            </a:r>
          </a:p>
        </p:txBody>
      </p:sp>
      <p:sp>
        <p:nvSpPr>
          <p:cNvPr id="4" name="Rounded Rectangle 3"/>
          <p:cNvSpPr/>
          <p:nvPr/>
        </p:nvSpPr>
        <p:spPr>
          <a:xfrm>
            <a:off x="502920" y="1335024"/>
            <a:ext cx="3618890" cy="1767420"/>
          </a:xfrm>
          <a:prstGeom prst="roundRect">
            <a:avLst>
              <a:gd name="adj" fmla="val 17245"/>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БЕЗ ПОМОЩНИКА</a:t>
            </a:r>
          </a:p>
        </p:txBody>
      </p:sp>
      <p:sp>
        <p:nvSpPr>
          <p:cNvPr id="6" name="TextBox 5"/>
          <p:cNvSpPr txBox="1"/>
          <p:nvPr/>
        </p:nvSpPr>
        <p:spPr>
          <a:xfrm>
            <a:off x="640080" y="1725375"/>
            <a:ext cx="3344570"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28,4 → 22,4 процедуры из ста</a:t>
            </a:r>
          </a:p>
        </p:txBody>
      </p:sp>
      <p:sp>
        <p:nvSpPr>
          <p:cNvPr id="7" name="TextBox 6"/>
          <p:cNvSpPr txBox="1"/>
          <p:nvPr/>
        </p:nvSpPr>
        <p:spPr>
          <a:xfrm>
            <a:off x="640080" y="2542797"/>
            <a:ext cx="3344570"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226 находок на 795 процедур против 145 на 648</a:t>
            </a:r>
          </a:p>
        </p:txBody>
      </p:sp>
      <p:sp>
        <p:nvSpPr>
          <p:cNvPr id="8" name="Rounded Rectangle 7"/>
          <p:cNvSpPr/>
          <p:nvPr/>
        </p:nvSpPr>
        <p:spPr>
          <a:xfrm>
            <a:off x="4286402" y="1335024"/>
            <a:ext cx="3618890" cy="1767420"/>
          </a:xfrm>
          <a:prstGeom prst="roundRect">
            <a:avLst>
              <a:gd name="adj" fmla="val 17245"/>
            </a:avLst>
          </a:prstGeom>
          <a:solidFill>
            <a:srgbClr val="FFFFFF"/>
          </a:solidFill>
          <a:ln w="25400">
            <a:solidFill>
              <a:srgbClr val="F0AB00"/>
            </a:solidFill>
          </a:ln>
          <a:effectLst/>
        </p:spPr>
        <p:txBody>
          <a:bodyPr rtlCol="0" anchor="ctr"/>
          <a:lstStyle/>
          <a:p>
            <a:pPr algn="ctr"/>
          </a:p>
        </p:txBody>
      </p:sp>
      <p:sp>
        <p:nvSpPr>
          <p:cNvPr id="9" name="TextBox 8"/>
          <p:cNvSpPr txBox="1"/>
          <p:nvPr/>
        </p:nvSpPr>
        <p:spPr>
          <a:xfrm>
            <a:off x="4423562"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ПРИВЕЛО</a:t>
            </a:r>
          </a:p>
        </p:txBody>
      </p:sp>
      <p:sp>
        <p:nvSpPr>
          <p:cNvPr id="10" name="TextBox 9"/>
          <p:cNvSpPr txBox="1"/>
          <p:nvPr/>
        </p:nvSpPr>
        <p:spPr>
          <a:xfrm>
            <a:off x="4423562" y="1725375"/>
            <a:ext cx="3344570" cy="817422"/>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минус 6,0 процентного пункта</a:t>
            </a:r>
          </a:p>
        </p:txBody>
      </p:sp>
      <p:sp>
        <p:nvSpPr>
          <p:cNvPr id="11" name="TextBox 10"/>
          <p:cNvSpPr txBox="1"/>
          <p:nvPr/>
        </p:nvSpPr>
        <p:spPr>
          <a:xfrm>
            <a:off x="4423562" y="2542797"/>
            <a:ext cx="3344570"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19 врачей, средний стаж 28 лет</a:t>
            </a:r>
          </a:p>
        </p:txBody>
      </p:sp>
      <p:sp>
        <p:nvSpPr>
          <p:cNvPr id="12" name="Rounded Rectangle 11"/>
          <p:cNvSpPr/>
          <p:nvPr/>
        </p:nvSpPr>
        <p:spPr>
          <a:xfrm>
            <a:off x="8069884" y="1335024"/>
            <a:ext cx="3618890" cy="1767420"/>
          </a:xfrm>
          <a:prstGeom prst="roundRect">
            <a:avLst>
              <a:gd name="adj" fmla="val 17245"/>
            </a:avLst>
          </a:prstGeom>
          <a:solidFill>
            <a:srgbClr val="F4F7FA"/>
          </a:solidFill>
          <a:ln w="15240">
            <a:solidFill>
              <a:srgbClr val="1C7293"/>
            </a:solidFill>
          </a:ln>
          <a:effectLst/>
        </p:spPr>
        <p:txBody>
          <a:bodyPr rtlCol="0" anchor="ctr"/>
          <a:lstStyle/>
          <a:p>
            <a:pPr algn="ctr"/>
          </a:p>
        </p:txBody>
      </p:sp>
      <p:sp>
        <p:nvSpPr>
          <p:cNvPr id="13" name="TextBox 12"/>
          <p:cNvSpPr txBox="1"/>
          <p:nvPr/>
        </p:nvSpPr>
        <p:spPr>
          <a:xfrm>
            <a:off x="8207044" y="1472184"/>
            <a:ext cx="3344570"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ПЕРЕНОС ИЗ УЧЁБЫ: ПРАКТИКА И ЭКЗАМЕН</a:t>
            </a:r>
          </a:p>
        </p:txBody>
      </p:sp>
      <p:sp>
        <p:nvSpPr>
          <p:cNvPr id="14" name="TextBox 13"/>
          <p:cNvSpPr txBox="1"/>
          <p:nvPr/>
        </p:nvSpPr>
        <p:spPr>
          <a:xfrm>
            <a:off x="8207044" y="1932846"/>
            <a:ext cx="3344570"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плюс 48 % → минус 17 % к контролю</a:t>
            </a:r>
          </a:p>
        </p:txBody>
      </p:sp>
      <p:sp>
        <p:nvSpPr>
          <p:cNvPr id="15" name="TextBox 14"/>
          <p:cNvSpPr txBox="1"/>
          <p:nvPr/>
        </p:nvSpPr>
        <p:spPr>
          <a:xfrm>
            <a:off x="8207044" y="2750268"/>
            <a:ext cx="3344570"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школьники, рандомизированное</a:t>
            </a:r>
          </a:p>
        </p:txBody>
      </p:sp>
      <p:sp>
        <p:nvSpPr>
          <p:cNvPr id="16" name="Rounded Rectangle 15"/>
          <p:cNvSpPr/>
          <p:nvPr/>
        </p:nvSpPr>
        <p:spPr>
          <a:xfrm>
            <a:off x="374904" y="3193884"/>
            <a:ext cx="11441887" cy="3042323"/>
          </a:xfrm>
          <a:prstGeom prst="roundRect">
            <a:avLst>
              <a:gd name="adj" fmla="val 10018"/>
            </a:avLst>
          </a:prstGeom>
          <a:solidFill>
            <a:srgbClr val="F4F7FA"/>
          </a:solidFill>
          <a:ln w="19050">
            <a:solidFill>
              <a:srgbClr val="1C7293"/>
            </a:solidFill>
          </a:ln>
          <a:effectLst/>
        </p:spPr>
        <p:txBody>
          <a:bodyPr rtlCol="0" anchor="ctr"/>
          <a:lstStyle/>
          <a:p>
            <a:pPr algn="ctr"/>
          </a:p>
        </p:txBody>
      </p:sp>
      <p:sp>
        <p:nvSpPr>
          <p:cNvPr id="17" name="TextBox 16"/>
          <p:cNvSpPr txBox="1"/>
          <p:nvPr/>
        </p:nvSpPr>
        <p:spPr>
          <a:xfrm>
            <a:off x="539496" y="3285324"/>
            <a:ext cx="5373471" cy="2950883"/>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Что делали.</a:t>
            </a:r>
            <a:r>
              <a:rPr sz="1500" b="0" i="0">
                <a:solidFill>
                  <a:srgbClr val="21295C"/>
                </a:solidFill>
                <a:latin typeface="Arial"/>
              </a:rPr>
              <a:t> Эндоскопист ведёт колоноскопию и ищет образования глазами на видео. В четырёх центрах ему дали помощника — тот подсвечивает находку рамкой. Потом сравнили процедуры тех же врачей </a:t>
            </a:r>
            <a:r>
              <a:rPr sz="1500" b="1" i="0">
                <a:solidFill>
                  <a:srgbClr val="21295C"/>
                </a:solidFill>
                <a:latin typeface="Arial"/>
              </a:rPr>
              <a:t>без</a:t>
            </a:r>
            <a:r>
              <a:rPr sz="1500" b="0" i="0">
                <a:solidFill>
                  <a:srgbClr val="21295C"/>
                </a:solidFill>
                <a:latin typeface="Arial"/>
              </a:rPr>
              <a:t> него.</a:t>
            </a:r>
          </a:p>
          <a:p>
            <a:pPr algn="l">
              <a:lnSpc>
                <a:spcPct val="126000"/>
              </a:lnSpc>
              <a:spcBef>
                <a:spcPts val="700"/>
              </a:spcBef>
            </a:pPr>
            <a:r>
              <a:rPr sz="1500" b="0" i="0">
                <a:solidFill>
                  <a:srgbClr val="21295C"/>
                </a:solidFill>
                <a:latin typeface="Arial"/>
              </a:rPr>
              <a:t/>
            </a:r>
            <a:r>
              <a:rPr sz="1500" b="1" i="0">
                <a:solidFill>
                  <a:srgbClr val="21295C"/>
                </a:solidFill>
                <a:latin typeface="Arial"/>
              </a:rPr>
              <a:t>Другой стороной: без находки были 71,6 процедуры из ста, стали 77,6 — больше трёх из четырёх.</a:t>
            </a:r>
          </a:p>
          <a:p>
            <a:pPr algn="l">
              <a:lnSpc>
                <a:spcPct val="126000"/>
              </a:lnSpc>
              <a:spcBef>
                <a:spcPts val="700"/>
              </a:spcBef>
            </a:pPr>
            <a:r>
              <a:rPr sz="1500" b="0" i="0">
                <a:solidFill>
                  <a:srgbClr val="21295C"/>
                </a:solidFill>
                <a:latin typeface="Arial"/>
              </a:rPr>
              <a:t/>
            </a:r>
            <a:r>
              <a:rPr sz="1500" b="1" i="0">
                <a:solidFill>
                  <a:srgbClr val="21295C"/>
                </a:solidFill>
                <a:latin typeface="Arial"/>
              </a:rPr>
              <a:t>Дало:</a:t>
            </a:r>
            <a:r>
              <a:rPr sz="1500" b="0" i="0">
                <a:solidFill>
                  <a:srgbClr val="21295C"/>
                </a:solidFill>
                <a:latin typeface="Arial"/>
              </a:rPr>
              <a:t> находят больше. </a:t>
            </a:r>
            <a:r>
              <a:rPr sz="1500" b="1" i="0">
                <a:solidFill>
                  <a:srgbClr val="21295C"/>
                </a:solidFill>
                <a:latin typeface="Arial"/>
              </a:rPr>
              <a:t>Потребовало:</a:t>
            </a:r>
            <a:r>
              <a:rPr sz="1500" b="0" i="0">
                <a:solidFill>
                  <a:srgbClr val="21295C"/>
                </a:solidFill>
                <a:latin typeface="Arial"/>
              </a:rPr>
              <a:t> умения искать самому. </a:t>
            </a:r>
            <a:r>
              <a:rPr sz="1500" b="1" i="0">
                <a:solidFill>
                  <a:srgbClr val="21295C"/>
                </a:solidFill>
                <a:latin typeface="Arial"/>
              </a:rPr>
              <a:t>Исполнитель тот же, но стал хуже:</a:t>
            </a:r>
            <a:r>
              <a:rPr sz="1500" b="0" i="0">
                <a:solidFill>
                  <a:srgbClr val="21295C"/>
                </a:solidFill>
                <a:latin typeface="Arial"/>
              </a:rPr>
              <a:t> место, объём и рука прежние.</a:t>
            </a:r>
          </a:p>
        </p:txBody>
      </p:sp>
      <p:sp>
        <p:nvSpPr>
          <p:cNvPr id="18" name="TextBox 17"/>
          <p:cNvSpPr txBox="1"/>
          <p:nvPr/>
        </p:nvSpPr>
        <p:spPr>
          <a:xfrm>
            <a:off x="6278727" y="3285324"/>
            <a:ext cx="5373471" cy="2950883"/>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Как устроено:</a:t>
            </a:r>
            <a:r>
              <a:rPr sz="1500" b="0" i="0">
                <a:solidFill>
                  <a:srgbClr val="21295C"/>
                </a:solidFill>
                <a:latin typeface="Arial"/>
              </a:rPr>
              <a:t> вход поток кадров, выход рамка в ту же секунду. </a:t>
            </a:r>
            <a:r>
              <a:rPr sz="1500" b="1" i="0">
                <a:solidFill>
                  <a:srgbClr val="21295C"/>
                </a:solidFill>
                <a:latin typeface="Arial"/>
              </a:rPr>
              <a:t>Имени системы публикация не называет</a:t>
            </a:r>
            <a:r>
              <a:rPr sz="1500" b="0" i="0">
                <a:solidFill>
                  <a:srgbClr val="21295C"/>
                </a:solidFill>
                <a:latin typeface="Arial"/>
              </a:rPr>
              <a:t>, режим занимают GI Genius · CAD EYE · ENDO-AID CADe.</a:t>
            </a:r>
          </a:p>
          <a:p>
            <a:pPr algn="l">
              <a:lnSpc>
                <a:spcPct val="126000"/>
              </a:lnSpc>
              <a:spcBef>
                <a:spcPts val="700"/>
              </a:spcBef>
            </a:pPr>
            <a:r>
              <a:rPr sz="1500" b="0" i="0">
                <a:solidFill>
                  <a:srgbClr val="21295C"/>
                </a:solidFill>
                <a:latin typeface="Arial"/>
              </a:rPr>
              <a:t/>
            </a:r>
            <a:r>
              <a:rPr sz="1500" b="1" i="0">
                <a:solidFill>
                  <a:srgbClr val="21295C"/>
                </a:solidFill>
                <a:latin typeface="Arial"/>
              </a:rPr>
              <a:t>Сила свидетельства:</a:t>
            </a:r>
            <a:r>
              <a:rPr sz="1500" b="0" i="0">
                <a:solidFill>
                  <a:srgbClr val="21295C"/>
                </a:solidFill>
                <a:latin typeface="Arial"/>
              </a:rPr>
              <a:t> ретроспективное наблюдательное, не воспроизводилось, причинности не доказывает. </a:t>
            </a:r>
            <a:r>
              <a:rPr sz="1500" b="1" i="0">
                <a:solidFill>
                  <a:srgbClr val="21295C"/>
                </a:solidFill>
                <a:latin typeface="Arial"/>
              </a:rPr>
              <a:t>Спор открыт:</a:t>
            </a:r>
            <a:r>
              <a:rPr sz="1500" b="0" i="0">
                <a:solidFill>
                  <a:srgbClr val="21295C"/>
                </a:solidFill>
                <a:latin typeface="Arial"/>
              </a:rPr>
              <a:t> исправление и три письма.</a:t>
            </a:r>
          </a:p>
        </p:txBody>
      </p:sp>
      <p:sp>
        <p:nvSpPr>
          <p:cNvPr id="19" name="Rectangle 18"/>
          <p:cNvSpPr/>
          <p:nvPr/>
        </p:nvSpPr>
        <p:spPr>
          <a:xfrm>
            <a:off x="6091275" y="3285324"/>
            <a:ext cx="9144" cy="2851350"/>
          </a:xfrm>
          <a:prstGeom prst="rect">
            <a:avLst/>
          </a:prstGeom>
          <a:solidFill>
            <a:srgbClr val="D9E2EC"/>
          </a:solidFill>
          <a:ln>
            <a:noFill/>
          </a:ln>
          <a:effectLst/>
        </p:spPr>
        <p:txBody>
          <a:bodyPr rtlCol="0" anchor="ctr"/>
          <a:lstStyle/>
          <a:p>
            <a:pPr algn="ctr"/>
          </a:p>
        </p:txBody>
      </p:sp>
      <p:sp>
        <p:nvSpPr>
          <p:cNvPr id="20" name="Rectangle 19"/>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21" name="TextBox 20"/>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Budzyń и соавт., Lancet Gastroenterology &amp; Hepatology 2025</a:t>
            </a:r>
            <a:r>
              <a:rPr sz="1200" b="0" i="1">
                <a:solidFill>
                  <a:srgbClr val="1C7293"/>
                </a:solidFill>
                <a:latin typeface="Arial"/>
              </a:rPr>
              <a:t> · </a:t>
            </a:r>
            <a:r>
              <a:rPr sz="1200" b="0" i="1" u="sng">
                <a:solidFill>
                  <a:srgbClr val="065A82"/>
                </a:solidFill>
                <a:latin typeface="Arial"/>
                <a:hlinkClick r:id="rId3"/>
              </a:rPr>
              <a:t>Bastani и соавт., PNAS 2025</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Чего про доверие не измерено</a:t>
            </a:r>
          </a:p>
        </p:txBody>
      </p:sp>
      <p:sp>
        <p:nvSpPr>
          <p:cNvPr id="4" name="Rounded Rectangle 3"/>
          <p:cNvSpPr/>
          <p:nvPr/>
        </p:nvSpPr>
        <p:spPr>
          <a:xfrm>
            <a:off x="502920" y="1335024"/>
            <a:ext cx="5510631" cy="1165753"/>
          </a:xfrm>
          <a:prstGeom prst="roundRect">
            <a:avLst>
              <a:gd name="adj" fmla="val 25000"/>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5236311"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ОБРЫВ ДОВЕРИЯ ПОСЛЕ ОШИБКИ И ЗА МЕСЯЦЫ РАБОТЫ</a:t>
            </a:r>
          </a:p>
        </p:txBody>
      </p:sp>
      <p:sp>
        <p:nvSpPr>
          <p:cNvPr id="6" name="TextBox 5"/>
          <p:cNvSpPr txBox="1"/>
          <p:nvPr/>
        </p:nvSpPr>
        <p:spPr>
          <a:xfrm>
            <a:off x="640080" y="1725375"/>
            <a:ext cx="5236311"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не измерено ни у кого</a:t>
            </a:r>
          </a:p>
        </p:txBody>
      </p:sp>
      <p:sp>
        <p:nvSpPr>
          <p:cNvPr id="7" name="Rounded Rectangle 6"/>
          <p:cNvSpPr/>
          <p:nvPr/>
        </p:nvSpPr>
        <p:spPr>
          <a:xfrm>
            <a:off x="6178143" y="1335024"/>
            <a:ext cx="5510631" cy="1165753"/>
          </a:xfrm>
          <a:prstGeom prst="roundRect">
            <a:avLst>
              <a:gd name="adj" fmla="val 25000"/>
            </a:avLst>
          </a:prstGeom>
          <a:solidFill>
            <a:srgbClr val="FFFFFF"/>
          </a:solidFill>
          <a:ln w="25400">
            <a:solidFill>
              <a:srgbClr val="F0AB00"/>
            </a:solidFill>
          </a:ln>
          <a:effectLst/>
        </p:spPr>
        <p:txBody>
          <a:bodyPr rtlCol="0" anchor="ctr"/>
          <a:lstStyle/>
          <a:p>
            <a:pPr algn="ctr"/>
          </a:p>
        </p:txBody>
      </p:sp>
      <p:sp>
        <p:nvSpPr>
          <p:cNvPr id="8" name="TextBox 7"/>
          <p:cNvSpPr txBox="1"/>
          <p:nvPr/>
        </p:nvSpPr>
        <p:spPr>
          <a:xfrm>
            <a:off x="6315303" y="1472184"/>
            <a:ext cx="5236311"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ОТКАЗ РАБОТАТЬ БЕЗ ПОМОЩНИКА</a:t>
            </a:r>
          </a:p>
        </p:txBody>
      </p:sp>
      <p:sp>
        <p:nvSpPr>
          <p:cNvPr id="9" name="TextBox 8"/>
          <p:cNvSpPr txBox="1"/>
          <p:nvPr/>
        </p:nvSpPr>
        <p:spPr>
          <a:xfrm>
            <a:off x="6315303" y="1725375"/>
            <a:ext cx="5236311"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30–50 из ста разработчиков</a:t>
            </a:r>
          </a:p>
        </p:txBody>
      </p:sp>
      <p:sp>
        <p:nvSpPr>
          <p:cNvPr id="10" name="TextBox 9"/>
          <p:cNvSpPr txBox="1"/>
          <p:nvPr/>
        </p:nvSpPr>
        <p:spPr>
          <a:xfrm>
            <a:off x="6315303" y="2152374"/>
            <a:ext cx="5236311"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опрос, телеметрии нет</a:t>
            </a:r>
          </a:p>
        </p:txBody>
      </p:sp>
      <p:sp>
        <p:nvSpPr>
          <p:cNvPr id="11" name="Rounded Rectangle 10"/>
          <p:cNvSpPr/>
          <p:nvPr/>
        </p:nvSpPr>
        <p:spPr>
          <a:xfrm>
            <a:off x="374904" y="2592217"/>
            <a:ext cx="11441887" cy="2234486"/>
          </a:xfrm>
          <a:prstGeom prst="roundRect">
            <a:avLst>
              <a:gd name="adj" fmla="val 13640"/>
            </a:avLst>
          </a:prstGeom>
          <a:solidFill>
            <a:srgbClr val="F4F7FA"/>
          </a:solidFill>
          <a:ln w="19050">
            <a:solidFill>
              <a:srgbClr val="1C7293"/>
            </a:solidFill>
          </a:ln>
          <a:effectLst/>
        </p:spPr>
        <p:txBody>
          <a:bodyPr rtlCol="0" anchor="ctr"/>
          <a:lstStyle/>
          <a:p>
            <a:pPr algn="ctr"/>
          </a:p>
        </p:txBody>
      </p:sp>
      <p:sp>
        <p:nvSpPr>
          <p:cNvPr id="12" name="TextBox 11"/>
          <p:cNvSpPr txBox="1"/>
          <p:nvPr/>
        </p:nvSpPr>
        <p:spPr>
          <a:xfrm>
            <a:off x="539496" y="2683657"/>
            <a:ext cx="5373471" cy="3552550"/>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От чего человек отказывается, видно. Что он думает о доверии, нет.</a:t>
            </a:r>
          </a:p>
          <a:p>
            <a:pPr algn="l">
              <a:lnSpc>
                <a:spcPct val="126000"/>
              </a:lnSpc>
              <a:spcBef>
                <a:spcPts val="700"/>
              </a:spcBef>
            </a:pPr>
            <a:r>
              <a:rPr sz="1500" b="0" i="0">
                <a:solidFill>
                  <a:srgbClr val="21295C"/>
                </a:solidFill>
                <a:latin typeface="Arial"/>
              </a:rPr>
              <a:t/>
            </a:r>
            <a:r>
              <a:rPr sz="1500" b="1" i="0">
                <a:solidFill>
                  <a:srgbClr val="21295C"/>
                </a:solidFill>
                <a:latin typeface="Arial"/>
              </a:rPr>
              <a:t>«Измерения нет» и «измерено, что эффекта нет» — разные утверждения; здесь первое.</a:t>
            </a:r>
          </a:p>
          <a:p>
            <a:pPr algn="l">
              <a:lnSpc>
                <a:spcPct val="126000"/>
              </a:lnSpc>
              <a:spcBef>
                <a:spcPts val="700"/>
              </a:spcBef>
            </a:pPr>
            <a:r>
              <a:rPr sz="1500" b="0" i="0">
                <a:solidFill>
                  <a:srgbClr val="21295C"/>
                </a:solidFill>
                <a:latin typeface="Arial"/>
              </a:rPr>
              <a:t/>
            </a:r>
            <a:r>
              <a:rPr sz="1500" b="1" i="0">
                <a:solidFill>
                  <a:srgbClr val="21295C"/>
                </a:solidFill>
                <a:latin typeface="Arial"/>
              </a:rPr>
              <a:t>Средство одно:</a:t>
            </a:r>
            <a:r>
              <a:rPr sz="1500" b="0" i="0">
                <a:solidFill>
                  <a:srgbClr val="21295C"/>
                </a:solidFill>
                <a:latin typeface="Arial"/>
              </a:rPr>
              <a:t> дают немного поправить прогноз — и после ошибки модель не бросают. </a:t>
            </a:r>
            <a:r>
              <a:rPr sz="1500" b="0" i="1">
                <a:solidFill>
                  <a:srgbClr val="21295C"/>
                </a:solidFill>
                <a:latin typeface="Arial"/>
              </a:rPr>
              <a:t>Найдено вне медицины.</a:t>
            </a:r>
          </a:p>
        </p:txBody>
      </p:sp>
      <p:sp>
        <p:nvSpPr>
          <p:cNvPr id="13" name="TextBox 12"/>
          <p:cNvSpPr txBox="1"/>
          <p:nvPr/>
        </p:nvSpPr>
        <p:spPr>
          <a:xfrm>
            <a:off x="6278727" y="2683657"/>
            <a:ext cx="5373471" cy="3552550"/>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Того, кто читает снимок женщины с письмом, без помощника не измерял никто.</a:t>
            </a:r>
          </a:p>
        </p:txBody>
      </p:sp>
      <p:sp>
        <p:nvSpPr>
          <p:cNvPr id="14" name="Rectangle 13"/>
          <p:cNvSpPr/>
          <p:nvPr/>
        </p:nvSpPr>
        <p:spPr>
          <a:xfrm>
            <a:off x="6091275" y="2683657"/>
            <a:ext cx="9144" cy="1960166"/>
          </a:xfrm>
          <a:prstGeom prst="rect">
            <a:avLst/>
          </a:prstGeom>
          <a:solidFill>
            <a:srgbClr val="D9E2EC"/>
          </a:solidFill>
          <a:ln>
            <a:noFill/>
          </a:ln>
          <a:effectLst/>
        </p:spPr>
        <p:txBody>
          <a:bodyPr rtlCol="0" anchor="ctr"/>
          <a:lstStyle/>
          <a:p>
            <a:pPr algn="ctr"/>
          </a:p>
        </p:txBody>
      </p:sp>
      <p:sp>
        <p:nvSpPr>
          <p:cNvPr id="15" name="Rectangle 14"/>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16" name="TextBox 15"/>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METR, замер производительности разработчиков, 2026</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Единственный чертёж темы — с пустыми осями</a:t>
            </a:r>
          </a:p>
        </p:txBody>
      </p:sp>
      <p:sp>
        <p:nvSpPr>
          <p:cNvPr id="4" name="Rounded Rectangle 3"/>
          <p:cNvSpPr/>
          <p:nvPr/>
        </p:nvSpPr>
        <p:spPr>
          <a:xfrm>
            <a:off x="502920" y="1335024"/>
            <a:ext cx="3603993" cy="1165753"/>
          </a:xfrm>
          <a:prstGeom prst="roundRect">
            <a:avLst>
              <a:gd name="adj" fmla="val 25000"/>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3329673"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ИЗНОС НАВЫКА В СИЛЛАБУСАХ</a:t>
            </a:r>
          </a:p>
        </p:txBody>
      </p:sp>
      <p:sp>
        <p:nvSpPr>
          <p:cNvPr id="6" name="TextBox 5"/>
          <p:cNvSpPr txBox="1"/>
          <p:nvPr/>
        </p:nvSpPr>
        <p:spPr>
          <a:xfrm>
            <a:off x="640080" y="1725375"/>
            <a:ext cx="3329673"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0 вхождений</a:t>
            </a:r>
          </a:p>
        </p:txBody>
      </p:sp>
      <p:sp>
        <p:nvSpPr>
          <p:cNvPr id="7" name="TextBox 6"/>
          <p:cNvSpPr txBox="1"/>
          <p:nvPr/>
        </p:nvSpPr>
        <p:spPr>
          <a:xfrm>
            <a:off x="640080" y="2152374"/>
            <a:ext cx="3329673"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сплошной счёт, 6 196 слов</a:t>
            </a:r>
          </a:p>
        </p:txBody>
      </p:sp>
      <p:sp>
        <p:nvSpPr>
          <p:cNvPr id="8" name="Rounded Rectangle 7"/>
          <p:cNvSpPr/>
          <p:nvPr/>
        </p:nvSpPr>
        <p:spPr>
          <a:xfrm>
            <a:off x="4271505" y="1335024"/>
            <a:ext cx="3603993" cy="1165753"/>
          </a:xfrm>
          <a:prstGeom prst="roundRect">
            <a:avLst>
              <a:gd name="adj" fmla="val 25000"/>
            </a:avLst>
          </a:prstGeom>
          <a:solidFill>
            <a:srgbClr val="FFFFFF"/>
          </a:solidFill>
          <a:ln w="25400">
            <a:solidFill>
              <a:srgbClr val="F0AB00"/>
            </a:solidFill>
          </a:ln>
          <a:effectLst/>
        </p:spPr>
        <p:txBody>
          <a:bodyPr rtlCol="0" anchor="ctr"/>
          <a:lstStyle/>
          <a:p>
            <a:pPr algn="ctr"/>
          </a:p>
        </p:txBody>
      </p:sp>
      <p:sp>
        <p:nvSpPr>
          <p:cNvPr id="9" name="TextBox 8"/>
          <p:cNvSpPr txBox="1"/>
          <p:nvPr/>
        </p:nvSpPr>
        <p:spPr>
          <a:xfrm>
            <a:off x="4408665" y="1472184"/>
            <a:ext cx="3329673"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ПРОГРАММА ПО ИИ: НА ЭТУ ТЕМУ</a:t>
            </a:r>
          </a:p>
        </p:txBody>
      </p:sp>
      <p:sp>
        <p:nvSpPr>
          <p:cNvPr id="10" name="TextBox 9"/>
          <p:cNvSpPr txBox="1"/>
          <p:nvPr/>
        </p:nvSpPr>
        <p:spPr>
          <a:xfrm>
            <a:off x="4408665" y="1725375"/>
            <a:ext cx="3329673"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5 из 60 часов</a:t>
            </a:r>
          </a:p>
        </p:txBody>
      </p:sp>
      <p:sp>
        <p:nvSpPr>
          <p:cNvPr id="11" name="TextBox 10"/>
          <p:cNvSpPr txBox="1"/>
          <p:nvPr/>
        </p:nvSpPr>
        <p:spPr>
          <a:xfrm>
            <a:off x="4408665" y="2152374"/>
            <a:ext cx="3329673"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одно видео, 0,15 процента</a:t>
            </a:r>
          </a:p>
        </p:txBody>
      </p:sp>
      <p:sp>
        <p:nvSpPr>
          <p:cNvPr id="12" name="Rounded Rectangle 11"/>
          <p:cNvSpPr/>
          <p:nvPr/>
        </p:nvSpPr>
        <p:spPr>
          <a:xfrm>
            <a:off x="374904" y="4443983"/>
            <a:ext cx="11441887" cy="1792224"/>
          </a:xfrm>
          <a:prstGeom prst="roundRect">
            <a:avLst>
              <a:gd name="adj" fmla="val 17006"/>
            </a:avLst>
          </a:prstGeom>
          <a:solidFill>
            <a:srgbClr val="F4F7FA"/>
          </a:solidFill>
          <a:ln w="19050">
            <a:solidFill>
              <a:srgbClr val="1C7293"/>
            </a:solidFill>
          </a:ln>
          <a:effectLst/>
        </p:spPr>
        <p:txBody>
          <a:bodyPr rtlCol="0" anchor="ctr"/>
          <a:lstStyle/>
          <a:p>
            <a:pPr algn="ctr"/>
          </a:p>
        </p:txBody>
      </p:sp>
      <p:sp>
        <p:nvSpPr>
          <p:cNvPr id="13" name="TextBox 12"/>
          <p:cNvSpPr txBox="1"/>
          <p:nvPr/>
        </p:nvSpPr>
        <p:spPr>
          <a:xfrm>
            <a:off x="539496" y="4535423"/>
            <a:ext cx="11112703" cy="1700784"/>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Отчёт государственного органа образования:</a:t>
            </a:r>
            <a:r>
              <a:rPr sz="1500" b="0" i="0">
                <a:solidFill>
                  <a:srgbClr val="21295C"/>
                </a:solidFill>
                <a:latin typeface="Arial"/>
              </a:rPr>
              <a:t> оси подписаны, поле под ними пустое. Назвать оси было чем, данные под них нечем.</a:t>
            </a:r>
          </a:p>
          <a:p>
            <a:pPr algn="l">
              <a:lnSpc>
                <a:spcPct val="126000"/>
              </a:lnSpc>
              <a:spcBef>
                <a:spcPts val="700"/>
              </a:spcBef>
            </a:pPr>
            <a:r>
              <a:rPr sz="1500" b="0" i="0">
                <a:solidFill>
                  <a:srgbClr val="21295C"/>
                </a:solidFill>
                <a:latin typeface="Arial"/>
              </a:rPr>
              <a:t/>
            </a:r>
            <a:r>
              <a:rPr sz="1500" b="1" i="0">
                <a:solidFill>
                  <a:srgbClr val="21295C"/>
                </a:solidFill>
                <a:latin typeface="Arial"/>
              </a:rPr>
              <a:t>Механизм описан подробно и без величин:</a:t>
            </a:r>
            <a:r>
              <a:rPr sz="1500" b="0" i="0">
                <a:solidFill>
                  <a:srgbClr val="21295C"/>
                </a:solidFill>
                <a:latin typeface="Arial"/>
              </a:rPr>
              <a:t> недополученные прочтения, деградация умений, самоуспокоение.</a:t>
            </a:r>
          </a:p>
          <a:p>
            <a:pPr algn="l">
              <a:lnSpc>
                <a:spcPct val="126000"/>
              </a:lnSpc>
              <a:spcBef>
                <a:spcPts val="700"/>
              </a:spcBef>
            </a:pPr>
            <a:r>
              <a:rPr sz="1500" b="0" i="0">
                <a:solidFill>
                  <a:srgbClr val="21295C"/>
                </a:solidFill>
                <a:latin typeface="Arial"/>
              </a:rPr>
              <a:t/>
            </a:r>
            <a:r>
              <a:rPr sz="1500" b="1" i="0">
                <a:solidFill>
                  <a:srgbClr val="21295C"/>
                </a:solidFill>
                <a:latin typeface="Arial"/>
              </a:rPr>
              <a:t>Работ в указателе больше тысячи, в обучение не пришло ни одной величины.</a:t>
            </a:r>
          </a:p>
        </p:txBody>
      </p:sp>
      <p:sp>
        <p:nvSpPr>
          <p:cNvPr id="14" name="Rounded Rectangle 13"/>
          <p:cNvSpPr/>
          <p:nvPr/>
        </p:nvSpPr>
        <p:spPr>
          <a:xfrm>
            <a:off x="8186395" y="1335024"/>
            <a:ext cx="3502379" cy="3108960"/>
          </a:xfrm>
          <a:prstGeom prst="roundRect">
            <a:avLst>
              <a:gd name="adj" fmla="val 9803"/>
            </a:avLst>
          </a:prstGeom>
          <a:solidFill>
            <a:srgbClr val="F4F7FA"/>
          </a:solidFill>
          <a:ln w="19050">
            <a:solidFill>
              <a:srgbClr val="1C7293"/>
            </a:solidFill>
          </a:ln>
          <a:effectLst/>
        </p:spPr>
        <p:txBody>
          <a:bodyPr rtlCol="0" anchor="ctr"/>
          <a:lstStyle/>
          <a:p>
            <a:pPr algn="ctr"/>
          </a:p>
        </p:txBody>
      </p:sp>
      <p:pic>
        <p:nvPicPr>
          <p:cNvPr id="15" name="Picture 14" descr="s73ha-pustye-osi-otchet-HEE-2022.png"/>
          <p:cNvPicPr>
            <a:picLocks noChangeAspect="1"/>
          </p:cNvPicPr>
          <p:nvPr/>
        </p:nvPicPr>
        <p:blipFill>
          <a:blip r:embed="rId2"/>
          <a:stretch>
            <a:fillRect/>
          </a:stretch>
        </p:blipFill>
        <p:spPr>
          <a:xfrm>
            <a:off x="8323555" y="1472184"/>
            <a:ext cx="3228059" cy="2834640"/>
          </a:xfrm>
          <a:prstGeom prst="rect">
            <a:avLst/>
          </a:prstGeom>
        </p:spPr>
      </p:pic>
      <p:sp>
        <p:nvSpPr>
          <p:cNvPr id="16" name="Rectangle 15"/>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17" name="TextBox 16"/>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3"/>
              </a:rPr>
              <a:t>Health Education England и NHS AI Lab, 2022</a:t>
            </a:r>
            <a:r>
              <a:rPr sz="1200" b="0" i="1">
                <a:solidFill>
                  <a:srgbClr val="1C7293"/>
                </a:solidFill>
                <a:latin typeface="Arial"/>
              </a:rPr>
              <a:t> · </a:t>
            </a:r>
            <a:r>
              <a:rPr sz="1200" b="0" i="1" u="sng">
                <a:solidFill>
                  <a:srgbClr val="065A82"/>
                </a:solidFill>
                <a:latin typeface="Arial"/>
                <a:hlinkClick r:id="rId4"/>
              </a:rPr>
              <a:t>AAPM, ACR, RSNA, SIIM, 2025</a:t>
            </a: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Квалификация: исполнитель тот же, но стал хуже</a:t>
            </a:r>
          </a:p>
        </p:txBody>
      </p:sp>
      <p:sp>
        <p:nvSpPr>
          <p:cNvPr id="4" name="Rounded Rectangle 3"/>
          <p:cNvSpPr/>
          <p:nvPr/>
        </p:nvSpPr>
        <p:spPr>
          <a:xfrm>
            <a:off x="502920" y="1335024"/>
            <a:ext cx="11185855" cy="1165753"/>
          </a:xfrm>
          <a:prstGeom prst="roundRect">
            <a:avLst>
              <a:gd name="adj" fmla="val 25000"/>
            </a:avLst>
          </a:prstGeom>
          <a:solidFill>
            <a:srgbClr val="FFFFFF"/>
          </a:solidFill>
          <a:ln w="25400">
            <a:solidFill>
              <a:srgbClr val="F0AB00"/>
            </a:solidFill>
          </a:ln>
          <a:effectLst/>
        </p:spPr>
        <p:txBody>
          <a:bodyPr rtlCol="0" anchor="ctr"/>
          <a:lstStyle/>
          <a:p>
            <a:pPr algn="ctr"/>
          </a:p>
        </p:txBody>
      </p:sp>
      <p:sp>
        <p:nvSpPr>
          <p:cNvPr id="5" name="TextBox 4"/>
          <p:cNvSpPr txBox="1"/>
          <p:nvPr/>
        </p:nvSpPr>
        <p:spPr>
          <a:xfrm>
            <a:off x="640080" y="1472184"/>
            <a:ext cx="10911535"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БЕЗ ПОМОЩНИКА</a:t>
            </a:r>
          </a:p>
        </p:txBody>
      </p:sp>
      <p:sp>
        <p:nvSpPr>
          <p:cNvPr id="6" name="TextBox 5"/>
          <p:cNvSpPr txBox="1"/>
          <p:nvPr/>
        </p:nvSpPr>
        <p:spPr>
          <a:xfrm>
            <a:off x="640080" y="1725375"/>
            <a:ext cx="10911535"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28,4 → 22,4 из ста</a:t>
            </a:r>
          </a:p>
        </p:txBody>
      </p:sp>
      <p:sp>
        <p:nvSpPr>
          <p:cNvPr id="7" name="TextBox 6"/>
          <p:cNvSpPr txBox="1"/>
          <p:nvPr/>
        </p:nvSpPr>
        <p:spPr>
          <a:xfrm>
            <a:off x="640080" y="2152374"/>
            <a:ext cx="10911535"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те же врачи</a:t>
            </a:r>
          </a:p>
        </p:txBody>
      </p:sp>
      <p:sp>
        <p:nvSpPr>
          <p:cNvPr id="8" name="Rounded Rectangle 7"/>
          <p:cNvSpPr/>
          <p:nvPr/>
        </p:nvSpPr>
        <p:spPr>
          <a:xfrm>
            <a:off x="374904" y="2592217"/>
            <a:ext cx="11441887" cy="2145586"/>
          </a:xfrm>
          <a:prstGeom prst="roundRect">
            <a:avLst>
              <a:gd name="adj" fmla="val 14205"/>
            </a:avLst>
          </a:prstGeom>
          <a:solidFill>
            <a:srgbClr val="F4F7FA"/>
          </a:solidFill>
          <a:ln w="19050">
            <a:solidFill>
              <a:srgbClr val="1C7293"/>
            </a:solidFill>
          </a:ln>
          <a:effectLst/>
        </p:spPr>
        <p:txBody>
          <a:bodyPr rtlCol="0" anchor="ctr"/>
          <a:lstStyle/>
          <a:p>
            <a:pPr algn="ctr"/>
          </a:p>
        </p:txBody>
      </p:sp>
      <p:sp>
        <p:nvSpPr>
          <p:cNvPr id="9" name="TextBox 8"/>
          <p:cNvSpPr txBox="1"/>
          <p:nvPr/>
        </p:nvSpPr>
        <p:spPr>
          <a:xfrm>
            <a:off x="539496" y="2683657"/>
            <a:ext cx="5373471" cy="3552550"/>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Другой стороной: ничего не находят в 77,6 процедуры из ста.</a:t>
            </a:r>
          </a:p>
          <a:p>
            <a:pPr algn="l">
              <a:lnSpc>
                <a:spcPct val="126000"/>
              </a:lnSpc>
              <a:spcBef>
                <a:spcPts val="700"/>
              </a:spcBef>
            </a:pPr>
            <a:r>
              <a:rPr sz="1500" b="0" i="0">
                <a:solidFill>
                  <a:srgbClr val="21295C"/>
                </a:solidFill>
                <a:latin typeface="Arial"/>
              </a:rPr>
              <a:t/>
            </a:r>
            <a:r>
              <a:rPr sz="1500" b="1" i="0">
                <a:solidFill>
                  <a:srgbClr val="21295C"/>
                </a:solidFill>
                <a:latin typeface="Arial"/>
              </a:rPr>
              <a:t>Получается:</a:t>
            </a:r>
            <a:r>
              <a:rPr sz="1500" b="0" i="0">
                <a:solidFill>
                  <a:srgbClr val="21295C"/>
                </a:solidFill>
                <a:latin typeface="Arial"/>
              </a:rPr>
              <a:t> находят больше, пока помощник включён; считают его показатели — долю обнаружения и время выведения.</a:t>
            </a:r>
          </a:p>
        </p:txBody>
      </p:sp>
      <p:sp>
        <p:nvSpPr>
          <p:cNvPr id="10" name="TextBox 9"/>
          <p:cNvSpPr txBox="1"/>
          <p:nvPr/>
        </p:nvSpPr>
        <p:spPr>
          <a:xfrm>
            <a:off x="6278727" y="2683657"/>
            <a:ext cx="5373471" cy="3552550"/>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Не получается:</a:t>
            </a:r>
            <a:r>
              <a:rPr sz="1500" b="0" i="0">
                <a:solidFill>
                  <a:srgbClr val="21295C"/>
                </a:solidFill>
                <a:latin typeface="Arial"/>
              </a:rPr>
              <a:t> поддерживать навык (измерено обратное), дать знать о пропуске внутри процедуры, измерить доверие за месяцы работы.</a:t>
            </a:r>
          </a:p>
          <a:p>
            <a:pPr algn="l">
              <a:lnSpc>
                <a:spcPct val="126000"/>
              </a:lnSpc>
              <a:spcBef>
                <a:spcPts val="700"/>
              </a:spcBef>
            </a:pPr>
            <a:r>
              <a:rPr sz="1500" b="0" i="0">
                <a:solidFill>
                  <a:srgbClr val="21295C"/>
                </a:solidFill>
                <a:latin typeface="Arial"/>
              </a:rPr>
              <a:t/>
            </a:r>
            <a:r>
              <a:rPr sz="1500" b="1" i="0">
                <a:solidFill>
                  <a:srgbClr val="21295C"/>
                </a:solidFill>
                <a:latin typeface="Arial"/>
              </a:rPr>
              <a:t>Появился шаг:</a:t>
            </a:r>
            <a:r>
              <a:rPr sz="1500" b="0" i="0">
                <a:solidFill>
                  <a:srgbClr val="21295C"/>
                </a:solidFill>
                <a:latin typeface="Arial"/>
              </a:rPr>
              <a:t> целевой арбитраж. </a:t>
            </a:r>
            <a:r>
              <a:rPr sz="1500" b="1" i="0">
                <a:solidFill>
                  <a:srgbClr val="21295C"/>
                </a:solidFill>
                <a:latin typeface="Arial"/>
              </a:rPr>
              <a:t>Врача без помощника не измеряет ни одна процедура ни в одной юрисдикции.</a:t>
            </a:r>
          </a:p>
        </p:txBody>
      </p:sp>
      <p:sp>
        <p:nvSpPr>
          <p:cNvPr id="11" name="Rectangle 10"/>
          <p:cNvSpPr/>
          <p:nvPr/>
        </p:nvSpPr>
        <p:spPr>
          <a:xfrm>
            <a:off x="6091275" y="2683657"/>
            <a:ext cx="9144" cy="1871266"/>
          </a:xfrm>
          <a:prstGeom prst="rect">
            <a:avLst/>
          </a:prstGeom>
          <a:solidFill>
            <a:srgbClr val="D9E2EC"/>
          </a:solidFill>
          <a:ln>
            <a:noFill/>
          </a:ln>
          <a:effectLst/>
        </p:spPr>
        <p:txBody>
          <a:bodyPr rtlCol="0" anchor="ctr"/>
          <a:lstStyle/>
          <a:p>
            <a:pPr algn="ctr"/>
          </a:p>
        </p:txBody>
      </p:sp>
      <p:sp>
        <p:nvSpPr>
          <p:cNvPr id="12" name="Rectangle 11"/>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13" name="TextBox 12"/>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Budzyń и соавт., Lancet Gastroenterology &amp; Hepatology 2025</a:t>
            </a: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Место раздела в сетке: вне окна</a:t>
            </a:r>
          </a:p>
        </p:txBody>
      </p:sp>
      <p:sp>
        <p:nvSpPr>
          <p:cNvPr id="4" name="Rounded Rectangle 3"/>
          <p:cNvSpPr/>
          <p:nvPr/>
        </p:nvSpPr>
        <p:spPr>
          <a:xfrm>
            <a:off x="502920" y="1335024"/>
            <a:ext cx="2673019" cy="1165753"/>
          </a:xfrm>
          <a:prstGeom prst="roundRect">
            <a:avLst>
              <a:gd name="adj" fmla="val 25000"/>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КЛЕТОК В ОКНЕ</a:t>
            </a:r>
          </a:p>
        </p:txBody>
      </p:sp>
      <p:sp>
        <p:nvSpPr>
          <p:cNvPr id="6" name="TextBox 5"/>
          <p:cNvSpPr txBox="1"/>
          <p:nvPr/>
        </p:nvSpPr>
        <p:spPr>
          <a:xfrm>
            <a:off x="640080" y="1725375"/>
            <a:ext cx="2398699"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12 из 42</a:t>
            </a:r>
          </a:p>
        </p:txBody>
      </p:sp>
      <p:sp>
        <p:nvSpPr>
          <p:cNvPr id="7" name="TextBox 6"/>
          <p:cNvSpPr txBox="1"/>
          <p:nvPr/>
        </p:nvSpPr>
        <p:spPr>
          <a:xfrm>
            <a:off x="640080" y="2152374"/>
            <a:ext cx="2398699"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счёт по своей карте</a:t>
            </a:r>
          </a:p>
        </p:txBody>
      </p:sp>
      <p:sp>
        <p:nvSpPr>
          <p:cNvPr id="8" name="Rounded Rectangle 7"/>
          <p:cNvSpPr/>
          <p:nvPr/>
        </p:nvSpPr>
        <p:spPr>
          <a:xfrm>
            <a:off x="3340531" y="1335024"/>
            <a:ext cx="2673019" cy="1165753"/>
          </a:xfrm>
          <a:prstGeom prst="roundRect">
            <a:avLst>
              <a:gd name="adj" fmla="val 25000"/>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3477691"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ЗАНЯТО ЗА СЕМЬ РАЗДЕЛОВ</a:t>
            </a:r>
          </a:p>
        </p:txBody>
      </p:sp>
      <p:sp>
        <p:nvSpPr>
          <p:cNvPr id="10" name="TextBox 9"/>
          <p:cNvSpPr txBox="1"/>
          <p:nvPr/>
        </p:nvSpPr>
        <p:spPr>
          <a:xfrm>
            <a:off x="3477691" y="1725375"/>
            <a:ext cx="2398699"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4</a:t>
            </a:r>
          </a:p>
        </p:txBody>
      </p:sp>
      <p:sp>
        <p:nvSpPr>
          <p:cNvPr id="11" name="Rounded Rectangle 10"/>
          <p:cNvSpPr/>
          <p:nvPr/>
        </p:nvSpPr>
        <p:spPr>
          <a:xfrm>
            <a:off x="6178143" y="1335024"/>
            <a:ext cx="2673019" cy="1165753"/>
          </a:xfrm>
          <a:prstGeom prst="roundRect">
            <a:avLst>
              <a:gd name="adj" fmla="val 25000"/>
            </a:avLst>
          </a:prstGeom>
          <a:solidFill>
            <a:srgbClr val="FFFFFF"/>
          </a:solidFill>
          <a:ln w="25400">
            <a:solidFill>
              <a:srgbClr val="F0AB00"/>
            </a:solidFill>
          </a:ln>
          <a:effectLst/>
        </p:spPr>
        <p:txBody>
          <a:bodyPr rtlCol="0" anchor="ctr"/>
          <a:lstStyle/>
          <a:p>
            <a:pPr algn="ctr"/>
          </a:p>
        </p:txBody>
      </p:sp>
      <p:sp>
        <p:nvSpPr>
          <p:cNvPr id="12" name="TextBox 11"/>
          <p:cNvSpPr txBox="1"/>
          <p:nvPr/>
        </p:nvSpPr>
        <p:spPr>
          <a:xfrm>
            <a:off x="6315303"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РАЗДЕЛ ПРИБАВИЛ</a:t>
            </a:r>
          </a:p>
        </p:txBody>
      </p:sp>
      <p:sp>
        <p:nvSpPr>
          <p:cNvPr id="13" name="TextBox 12"/>
          <p:cNvSpPr txBox="1"/>
          <p:nvPr/>
        </p:nvSpPr>
        <p:spPr>
          <a:xfrm>
            <a:off x="6315303" y="1725375"/>
            <a:ext cx="2398699"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ни одной</a:t>
            </a:r>
          </a:p>
        </p:txBody>
      </p:sp>
      <p:sp>
        <p:nvSpPr>
          <p:cNvPr id="14" name="TextBox 13"/>
          <p:cNvSpPr txBox="1"/>
          <p:nvPr/>
        </p:nvSpPr>
        <p:spPr>
          <a:xfrm>
            <a:off x="6315303" y="2152374"/>
            <a:ext cx="2398699"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пятый подряд</a:t>
            </a:r>
          </a:p>
        </p:txBody>
      </p:sp>
      <p:sp>
        <p:nvSpPr>
          <p:cNvPr id="15" name="Rounded Rectangle 14"/>
          <p:cNvSpPr/>
          <p:nvPr/>
        </p:nvSpPr>
        <p:spPr>
          <a:xfrm>
            <a:off x="9015755" y="1335024"/>
            <a:ext cx="2673019" cy="1165753"/>
          </a:xfrm>
          <a:prstGeom prst="roundRect">
            <a:avLst>
              <a:gd name="adj" fmla="val 25000"/>
            </a:avLst>
          </a:prstGeom>
          <a:solidFill>
            <a:srgbClr val="F4F7FA"/>
          </a:solidFill>
          <a:ln w="15240">
            <a:solidFill>
              <a:srgbClr val="1C7293"/>
            </a:solidFill>
          </a:ln>
          <a:effectLst/>
        </p:spPr>
        <p:txBody>
          <a:bodyPr rtlCol="0" anchor="ctr"/>
          <a:lstStyle/>
          <a:p>
            <a:pPr algn="ctr"/>
          </a:p>
        </p:txBody>
      </p:sp>
      <p:sp>
        <p:nvSpPr>
          <p:cNvPr id="16" name="TextBox 15"/>
          <p:cNvSpPr txBox="1"/>
          <p:nvPr/>
        </p:nvSpPr>
        <p:spPr>
          <a:xfrm>
            <a:off x="9152915"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ПУСТЫ С РАЗДЕЛА 2</a:t>
            </a:r>
          </a:p>
        </p:txBody>
      </p:sp>
      <p:sp>
        <p:nvSpPr>
          <p:cNvPr id="17" name="TextBox 16"/>
          <p:cNvSpPr txBox="1"/>
          <p:nvPr/>
        </p:nvSpPr>
        <p:spPr>
          <a:xfrm>
            <a:off x="9152915" y="1725375"/>
            <a:ext cx="2398699"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8 клеток</a:t>
            </a:r>
          </a:p>
        </p:txBody>
      </p:sp>
      <p:sp>
        <p:nvSpPr>
          <p:cNvPr id="18" name="Rounded Rectangle 17"/>
          <p:cNvSpPr/>
          <p:nvPr/>
        </p:nvSpPr>
        <p:spPr>
          <a:xfrm>
            <a:off x="374904" y="2592217"/>
            <a:ext cx="11441887" cy="2234486"/>
          </a:xfrm>
          <a:prstGeom prst="roundRect">
            <a:avLst>
              <a:gd name="adj" fmla="val 13640"/>
            </a:avLst>
          </a:prstGeom>
          <a:solidFill>
            <a:srgbClr val="F4F7FA"/>
          </a:solidFill>
          <a:ln w="19050">
            <a:solidFill>
              <a:srgbClr val="1C7293"/>
            </a:solidFill>
          </a:ln>
          <a:effectLst/>
        </p:spPr>
        <p:txBody>
          <a:bodyPr rtlCol="0" anchor="ctr"/>
          <a:lstStyle/>
          <a:p>
            <a:pPr algn="ctr"/>
          </a:p>
        </p:txBody>
      </p:sp>
      <p:sp>
        <p:nvSpPr>
          <p:cNvPr id="19" name="TextBox 18"/>
          <p:cNvSpPr txBox="1"/>
          <p:nvPr/>
        </p:nvSpPr>
        <p:spPr>
          <a:xfrm>
            <a:off x="539496" y="2683657"/>
            <a:ext cx="5373471" cy="3552550"/>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Клетка раздела лежит вне окна: это распознавание на видео</a:t>
            </a:r>
            <a:r>
              <a:rPr sz="1500" b="0" i="0">
                <a:solidFill>
                  <a:srgbClr val="21295C"/>
                </a:solidFill>
                <a:latin typeface="Arial"/>
              </a:rPr>
              <a:t> — подсветка на живом потоке кадров. Столбца «видео» в окне нет, и дописывать его нельзя: окно объявлено на входе.</a:t>
            </a:r>
          </a:p>
          <a:p>
            <a:pPr algn="l">
              <a:lnSpc>
                <a:spcPct val="126000"/>
              </a:lnSpc>
              <a:spcBef>
                <a:spcPts val="700"/>
              </a:spcBef>
            </a:pPr>
            <a:r>
              <a:rPr sz="1500" b="0" i="0">
                <a:solidFill>
                  <a:srgbClr val="21295C"/>
                </a:solidFill>
                <a:latin typeface="Arial"/>
              </a:rPr>
              <a:t/>
            </a:r>
            <a:r>
              <a:rPr sz="1500" b="1" i="0">
                <a:solidFill>
                  <a:srgbClr val="21295C"/>
                </a:solidFill>
                <a:latin typeface="Arial"/>
              </a:rPr>
              <a:t>Доверие клетки не получает вовсе:</a:t>
            </a:r>
            <a:r>
              <a:rPr sz="1500" b="0" i="0">
                <a:solidFill>
                  <a:srgbClr val="21295C"/>
                </a:solidFill>
                <a:latin typeface="Arial"/>
              </a:rPr>
              <a:t> режима работы в нём нет.</a:t>
            </a:r>
          </a:p>
        </p:txBody>
      </p:sp>
      <p:sp>
        <p:nvSpPr>
          <p:cNvPr id="20" name="TextBox 19"/>
          <p:cNvSpPr txBox="1"/>
          <p:nvPr/>
        </p:nvSpPr>
        <p:spPr>
          <a:xfrm>
            <a:off x="6278727" y="2683657"/>
            <a:ext cx="5373471" cy="3552550"/>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 </a:t>
            </a:r>
            <a:r>
              <a:rPr sz="1500" b="1" i="0">
                <a:solidFill>
                  <a:srgbClr val="21295C"/>
                </a:solidFill>
                <a:latin typeface="Arial"/>
              </a:rPr>
              <a:t>подсветка на видео</a:t>
            </a:r>
            <a:r>
              <a:rPr sz="1500" b="0" i="0">
                <a:solidFill>
                  <a:srgbClr val="21295C"/>
                </a:solidFill>
                <a:latin typeface="Arial"/>
              </a:rPr>
              <a:t> — GI Genius · CAD EYE · ENDO-AID CADe</a:t>
            </a:r>
          </a:p>
          <a:p>
            <a:pPr algn="l">
              <a:lnSpc>
                <a:spcPct val="126000"/>
              </a:lnSpc>
              <a:spcBef>
                <a:spcPts val="700"/>
              </a:spcBef>
            </a:pPr>
            <a:r>
              <a:rPr sz="1500" b="0" i="0">
                <a:solidFill>
                  <a:srgbClr val="21295C"/>
                </a:solidFill>
                <a:latin typeface="Arial"/>
              </a:rPr>
              <a:t/>
            </a:r>
            <a:r>
              <a:rPr sz="1500" b="0" i="0">
                <a:solidFill>
                  <a:srgbClr val="21295C"/>
                </a:solidFill>
                <a:latin typeface="Arial"/>
              </a:rPr>
              <a:t>• </a:t>
            </a:r>
            <a:r>
              <a:rPr sz="1500" b="1" i="0">
                <a:solidFill>
                  <a:srgbClr val="21295C"/>
                </a:solidFill>
                <a:latin typeface="Arial"/>
              </a:rPr>
              <a:t>второй читатель на снимке</a:t>
            </a:r>
            <a:r>
              <a:rPr sz="1500" b="0" i="0">
                <a:solidFill>
                  <a:srgbClr val="21295C"/>
                </a:solidFill>
                <a:latin typeface="Arial"/>
              </a:rPr>
              <a:t> — Transpara · Lunit INSIGHT · iCAD ProFound</a:t>
            </a:r>
          </a:p>
          <a:p>
            <a:pPr algn="l">
              <a:lnSpc>
                <a:spcPct val="126000"/>
              </a:lnSpc>
              <a:spcBef>
                <a:spcPts val="700"/>
              </a:spcBef>
            </a:pPr>
            <a:r>
              <a:rPr sz="1500" b="0" i="0">
                <a:solidFill>
                  <a:srgbClr val="21295C"/>
                </a:solidFill>
                <a:latin typeface="Arial"/>
              </a:rPr>
              <a:t/>
            </a:r>
            <a:r>
              <a:rPr sz="1500" b="1" i="0">
                <a:solidFill>
                  <a:srgbClr val="21295C"/>
                </a:solidFill>
                <a:latin typeface="Arial"/>
              </a:rPr>
              <a:t>Разница в последствиях: у подсветки человек остаётся и решает, со второго места его снимают.</a:t>
            </a:r>
          </a:p>
        </p:txBody>
      </p:sp>
      <p:sp>
        <p:nvSpPr>
          <p:cNvPr id="21" name="Rectangle 20"/>
          <p:cNvSpPr/>
          <p:nvPr/>
        </p:nvSpPr>
        <p:spPr>
          <a:xfrm>
            <a:off x="6091275" y="2683657"/>
            <a:ext cx="9144" cy="1960166"/>
          </a:xfrm>
          <a:prstGeom prst="rect">
            <a:avLst/>
          </a:prstGeom>
          <a:solidFill>
            <a:srgbClr val="D9E2EC"/>
          </a:solidFill>
          <a:ln>
            <a:noFill/>
          </a:ln>
          <a:effectLst/>
        </p:spPr>
        <p:txBody>
          <a:bodyPr rtlCol="0" anchor="ctr"/>
          <a:lstStyle/>
          <a:p>
            <a:pPr algn="ctr"/>
          </a:p>
        </p:txBody>
      </p:sp>
      <p:sp>
        <p:nvSpPr>
          <p:cNvPr id="22" name="Rectangle 21"/>
          <p:cNvSpPr/>
          <p:nvPr/>
        </p:nvSpPr>
        <p:spPr>
          <a:xfrm>
            <a:off x="502920" y="888090"/>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Rectangle 2"/>
          <p:cNvSpPr/>
          <p:nvPr/>
        </p:nvSpPr>
        <p:spPr>
          <a:xfrm>
            <a:off x="0" y="0"/>
            <a:ext cx="155448" cy="6858000"/>
          </a:xfrm>
          <a:prstGeom prst="rect">
            <a:avLst/>
          </a:prstGeom>
          <a:solidFill>
            <a:srgbClr val="065A82"/>
          </a:solidFill>
          <a:ln>
            <a:noFill/>
          </a:ln>
          <a:effectLst/>
        </p:spPr>
        <p:txBody>
          <a:bodyPr rtlCol="0" anchor="ctr"/>
          <a:lstStyle/>
          <a:p>
            <a:pPr algn="ctr"/>
          </a:p>
        </p:txBody>
      </p:sp>
      <p:sp>
        <p:nvSpPr>
          <p:cNvPr id="4" name="Rounded Rectangle 3"/>
          <p:cNvSpPr/>
          <p:nvPr/>
        </p:nvSpPr>
        <p:spPr>
          <a:xfrm>
            <a:off x="7543800" y="914400"/>
            <a:ext cx="4144975" cy="3177311"/>
          </a:xfrm>
          <a:prstGeom prst="roundRect">
            <a:avLst>
              <a:gd name="adj" fmla="val 9593"/>
            </a:avLst>
          </a:prstGeom>
          <a:solidFill>
            <a:srgbClr val="F4F7FA"/>
          </a:solidFill>
          <a:ln w="19050">
            <a:solidFill>
              <a:srgbClr val="1C7293"/>
            </a:solidFill>
          </a:ln>
          <a:effectLst/>
        </p:spPr>
        <p:txBody>
          <a:bodyPr rtlCol="0" anchor="ctr"/>
          <a:lstStyle/>
          <a:p>
            <a:pPr algn="ctr"/>
          </a:p>
        </p:txBody>
      </p:sp>
      <p:pic>
        <p:nvPicPr>
          <p:cNvPr id="5" name="Picture 4" descr="s74-khimik-u-vytyazhnogo-shkafa.jpg"/>
          <p:cNvPicPr>
            <a:picLocks noChangeAspect="1"/>
          </p:cNvPicPr>
          <p:nvPr/>
        </p:nvPicPr>
        <p:blipFill>
          <a:blip r:embed="rId2"/>
          <a:stretch>
            <a:fillRect/>
          </a:stretch>
        </p:blipFill>
        <p:spPr>
          <a:xfrm>
            <a:off x="7680960" y="1051560"/>
            <a:ext cx="3870655" cy="2902991"/>
          </a:xfrm>
          <a:prstGeom prst="rect">
            <a:avLst/>
          </a:prstGeom>
        </p:spPr>
      </p:pic>
      <p:sp>
        <p:nvSpPr>
          <p:cNvPr id="6" name="TextBox 5"/>
          <p:cNvSpPr txBox="1"/>
          <p:nvPr/>
        </p:nvSpPr>
        <p:spPr>
          <a:xfrm>
            <a:off x="704088" y="960120"/>
            <a:ext cx="6675120" cy="475454"/>
          </a:xfrm>
          <a:prstGeom prst="rect">
            <a:avLst/>
          </a:prstGeom>
          <a:noFill/>
        </p:spPr>
        <p:txBody>
          <a:bodyPr wrap="square" lIns="0" rIns="0" tIns="0" bIns="0" anchor="t">
            <a:spAutoFit/>
          </a:bodyPr>
          <a:lstStyle/>
          <a:p>
            <a:pPr algn="l">
              <a:lnSpc>
                <a:spcPct val="110000"/>
              </a:lnSpc>
            </a:pPr>
            <a:r>
              <a:rPr sz="2750" b="1" i="0">
                <a:solidFill>
                  <a:srgbClr val="21295C"/>
                </a:solidFill>
                <a:latin typeface="Arial"/>
              </a:rPr>
              <a:t>8. Разработка лекарственных средств</a:t>
            </a:r>
          </a:p>
        </p:txBody>
      </p:sp>
      <p:sp>
        <p:nvSpPr>
          <p:cNvPr id="7" name="Rectangle 6"/>
          <p:cNvSpPr/>
          <p:nvPr/>
        </p:nvSpPr>
        <p:spPr>
          <a:xfrm>
            <a:off x="704088" y="1527014"/>
            <a:ext cx="1188720" cy="59436"/>
          </a:xfrm>
          <a:prstGeom prst="rect">
            <a:avLst/>
          </a:prstGeom>
          <a:solidFill>
            <a:srgbClr val="F0AB00"/>
          </a:solidFill>
          <a:ln>
            <a:noFill/>
          </a:ln>
          <a:effectLst/>
        </p:spPr>
        <p:txBody>
          <a:bodyPr rtlCol="0" anchor="ctr"/>
          <a:lstStyle/>
          <a:p>
            <a:pPr algn="ctr"/>
          </a:p>
        </p:txBody>
      </p:sp>
      <p:sp>
        <p:nvSpPr>
          <p:cNvPr id="8" name="TextBox 7"/>
          <p:cNvSpPr txBox="1"/>
          <p:nvPr/>
        </p:nvSpPr>
        <p:spPr>
          <a:xfrm>
            <a:off x="704088" y="1801334"/>
            <a:ext cx="6473952" cy="1244938"/>
          </a:xfrm>
          <a:prstGeom prst="rect">
            <a:avLst/>
          </a:prstGeom>
          <a:noFill/>
        </p:spPr>
        <p:txBody>
          <a:bodyPr wrap="square" lIns="0" rIns="0" tIns="0" bIns="0" anchor="t">
            <a:spAutoFit/>
          </a:bodyPr>
          <a:lstStyle/>
          <a:p>
            <a:pPr algn="l">
              <a:lnSpc>
                <a:spcPct val="124000"/>
              </a:lnSpc>
            </a:pPr>
            <a:r>
              <a:rPr sz="1550" b="1" i="0">
                <a:solidFill>
                  <a:srgbClr val="21295C"/>
                </a:solidFill>
                <a:latin typeface="Arial"/>
              </a:rPr>
              <a:t>Удешевили начало — где узкое место.</a:t>
            </a:r>
            <a:r>
              <a:rPr sz="1550" b="0" i="0">
                <a:solidFill>
                  <a:srgbClr val="21295C"/>
                </a:solidFill>
                <a:latin typeface="Arial"/>
              </a:rPr>
              <a:t> Прошлый раздел кончился человеком, который стал хуже. Здесь меняется масштаб: ранний шаг разработки подешевел многократно, а узкое место дальше по пути — ни на сколько.</a:t>
            </a:r>
          </a:p>
        </p:txBody>
      </p:sp>
      <p:sp>
        <p:nvSpPr>
          <p:cNvPr id="9" name="TextBox 8"/>
          <p:cNvSpPr txBox="1"/>
          <p:nvPr/>
        </p:nvSpPr>
        <p:spPr>
          <a:xfrm>
            <a:off x="704088" y="3174289"/>
            <a:ext cx="6473952" cy="942848"/>
          </a:xfrm>
          <a:prstGeom prst="rect">
            <a:avLst/>
          </a:prstGeom>
          <a:noFill/>
        </p:spPr>
        <p:txBody>
          <a:bodyPr wrap="square" lIns="0" rIns="0" tIns="0" bIns="0" anchor="t">
            <a:spAutoFit/>
          </a:bodyPr>
          <a:lstStyle/>
          <a:p>
            <a:pPr algn="l">
              <a:lnSpc>
                <a:spcPct val="124000"/>
              </a:lnSpc>
            </a:pPr>
            <a:r>
              <a:rPr sz="1550" b="1" i="0">
                <a:solidFill>
                  <a:srgbClr val="21295C"/>
                </a:solidFill>
                <a:latin typeface="Arial"/>
              </a:rPr>
              <a:t>1 пример подробно · 2 коротко, с числом и базой.</a:t>
            </a:r>
            <a:r>
              <a:rPr sz="1550" b="0" i="0">
                <a:solidFill>
                  <a:srgbClr val="21295C"/>
                </a:solidFill>
                <a:latin typeface="Arial"/>
              </a:rPr>
              <a:t> Подробно — </a:t>
            </a:r>
            <a:r>
              <a:rPr sz="1550" b="1" i="0">
                <a:solidFill>
                  <a:srgbClr val="21295C"/>
                </a:solidFill>
                <a:latin typeface="Arial"/>
              </a:rPr>
              <a:t>Пример 1: отказ от своего обещания и минус 180 мест</a:t>
            </a:r>
            <a:r>
              <a:rPr sz="1550" b="0" i="0">
                <a:solidFill>
                  <a:srgbClr val="21295C"/>
                </a:solidFill>
                <a:latin typeface="Arial"/>
              </a:rPr>
              <a:t>; два коротких — в итоге раздела.</a:t>
            </a:r>
          </a:p>
        </p:txBody>
      </p:sp>
      <p:sp>
        <p:nvSpPr>
          <p:cNvPr id="10" name="TextBox 9"/>
          <p:cNvSpPr txBox="1"/>
          <p:nvPr/>
        </p:nvSpPr>
        <p:spPr>
          <a:xfrm>
            <a:off x="704088" y="4245154"/>
            <a:ext cx="6473952" cy="338666"/>
          </a:xfrm>
          <a:prstGeom prst="rect">
            <a:avLst/>
          </a:prstGeom>
          <a:noFill/>
        </p:spPr>
        <p:txBody>
          <a:bodyPr wrap="square" lIns="0" rIns="0" tIns="0" bIns="0" anchor="t">
            <a:spAutoFit/>
          </a:bodyPr>
          <a:lstStyle/>
          <a:p>
            <a:pPr algn="l">
              <a:lnSpc>
                <a:spcPct val="124000"/>
              </a:lnSpc>
            </a:pPr>
            <a:r>
              <a:rPr sz="1550" b="1" i="0">
                <a:solidFill>
                  <a:srgbClr val="21295C"/>
                </a:solidFill>
                <a:latin typeface="Arial"/>
              </a:rPr>
              <a:t>Здесь платит не человек:</a:t>
            </a:r>
            <a:r>
              <a:rPr sz="1550" b="0" i="0">
                <a:solidFill>
                  <a:srgbClr val="21295C"/>
                </a:solidFill>
                <a:latin typeface="Arial"/>
              </a:rPr>
              <a:t> решают о веществе.</a:t>
            </a:r>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Разработка лекарства: что делают и какая у стадии база</a:t>
            </a:r>
          </a:p>
        </p:txBody>
      </p:sp>
      <p:sp>
        <p:nvSpPr>
          <p:cNvPr id="4" name="Rounded Rectangle 3"/>
          <p:cNvSpPr/>
          <p:nvPr/>
        </p:nvSpPr>
        <p:spPr>
          <a:xfrm>
            <a:off x="502920" y="1335024"/>
            <a:ext cx="6943039" cy="1165753"/>
          </a:xfrm>
          <a:prstGeom prst="roundRect">
            <a:avLst>
              <a:gd name="adj" fmla="val 25000"/>
            </a:avLst>
          </a:prstGeom>
          <a:solidFill>
            <a:srgbClr val="FFFFFF"/>
          </a:solidFill>
          <a:ln w="25400">
            <a:solidFill>
              <a:srgbClr val="F0AB00"/>
            </a:solidFill>
          </a:ln>
          <a:effectLst/>
        </p:spPr>
        <p:txBody>
          <a:bodyPr rtlCol="0" anchor="ctr"/>
          <a:lstStyle/>
          <a:p>
            <a:pPr algn="ctr"/>
          </a:p>
        </p:txBody>
      </p:sp>
      <p:sp>
        <p:nvSpPr>
          <p:cNvPr id="5" name="TextBox 4"/>
          <p:cNvSpPr txBox="1"/>
          <p:nvPr/>
        </p:nvSpPr>
        <p:spPr>
          <a:xfrm>
            <a:off x="640080" y="1472184"/>
            <a:ext cx="666871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ЗНАМЕНАТЕЛЬ</a:t>
            </a:r>
          </a:p>
        </p:txBody>
      </p:sp>
      <p:sp>
        <p:nvSpPr>
          <p:cNvPr id="6" name="TextBox 5"/>
          <p:cNvSpPr txBox="1"/>
          <p:nvPr/>
        </p:nvSpPr>
        <p:spPr>
          <a:xfrm>
            <a:off x="640080" y="1725375"/>
            <a:ext cx="6668719"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12 728 переходов, 9 704 программы</a:t>
            </a:r>
          </a:p>
        </p:txBody>
      </p:sp>
      <p:sp>
        <p:nvSpPr>
          <p:cNvPr id="7" name="TextBox 6"/>
          <p:cNvSpPr txBox="1"/>
          <p:nvPr/>
        </p:nvSpPr>
        <p:spPr>
          <a:xfrm>
            <a:off x="640080" y="2152374"/>
            <a:ext cx="6668719"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1 779 компаний, 2011–2020</a:t>
            </a:r>
          </a:p>
        </p:txBody>
      </p:sp>
      <p:sp>
        <p:nvSpPr>
          <p:cNvPr id="8" name="Rounded Rectangle 7"/>
          <p:cNvSpPr/>
          <p:nvPr/>
        </p:nvSpPr>
        <p:spPr>
          <a:xfrm>
            <a:off x="502920" y="2683657"/>
            <a:ext cx="2241194" cy="93240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9" name="TextBox 8"/>
          <p:cNvSpPr txBox="1"/>
          <p:nvPr/>
        </p:nvSpPr>
        <p:spPr>
          <a:xfrm>
            <a:off x="594360" y="2729377"/>
            <a:ext cx="2058314" cy="840962"/>
          </a:xfrm>
          <a:prstGeom prst="rect">
            <a:avLst/>
          </a:prstGeom>
          <a:noFill/>
        </p:spPr>
        <p:txBody>
          <a:bodyPr wrap="square" lIns="0" rIns="0" tIns="0" bIns="0" anchor="ctr">
            <a:spAutoFit/>
          </a:bodyPr>
          <a:lstStyle/>
          <a:p>
            <a:pPr algn="ctr">
              <a:lnSpc>
                <a:spcPct val="112000"/>
              </a:lnSpc>
            </a:pPr>
            <a:r>
              <a:rPr sz="1350" b="1" i="0">
                <a:solidFill>
                  <a:srgbClr val="21295C"/>
                </a:solidFill>
                <a:latin typeface="Arial"/>
              </a:rPr>
              <a:t>Фаза I → фаза II</a:t>
            </a:r>
          </a:p>
          <a:p>
            <a:pPr algn="ctr">
              <a:lnSpc>
                <a:spcPct val="112000"/>
              </a:lnSpc>
            </a:pPr>
            <a:r>
              <a:rPr sz="1350" b="0" i="0">
                <a:solidFill>
                  <a:srgbClr val="21295C"/>
                </a:solidFill>
                <a:latin typeface="Arial"/>
              </a:rPr>
              <a:t>52,0 % · из 4 414</a:t>
            </a:r>
          </a:p>
        </p:txBody>
      </p:sp>
      <p:sp>
        <p:nvSpPr>
          <p:cNvPr id="10" name="Rounded Rectangle 9"/>
          <p:cNvSpPr/>
          <p:nvPr/>
        </p:nvSpPr>
        <p:spPr>
          <a:xfrm>
            <a:off x="2853842" y="2884825"/>
            <a:ext cx="2241194" cy="93240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1" name="TextBox 10"/>
          <p:cNvSpPr txBox="1"/>
          <p:nvPr/>
        </p:nvSpPr>
        <p:spPr>
          <a:xfrm>
            <a:off x="2945282" y="2930545"/>
            <a:ext cx="2058314" cy="840962"/>
          </a:xfrm>
          <a:prstGeom prst="rect">
            <a:avLst/>
          </a:prstGeom>
          <a:noFill/>
        </p:spPr>
        <p:txBody>
          <a:bodyPr wrap="square" lIns="0" rIns="0" tIns="0" bIns="0" anchor="ctr">
            <a:spAutoFit/>
          </a:bodyPr>
          <a:lstStyle/>
          <a:p>
            <a:pPr algn="ctr">
              <a:lnSpc>
                <a:spcPct val="112000"/>
              </a:lnSpc>
            </a:pPr>
            <a:r>
              <a:rPr sz="1350" b="1" i="0">
                <a:solidFill>
                  <a:srgbClr val="21295C"/>
                </a:solidFill>
                <a:latin typeface="Arial"/>
              </a:rPr>
              <a:t>Фаза II → фаза III</a:t>
            </a:r>
          </a:p>
          <a:p>
            <a:pPr algn="ctr">
              <a:lnSpc>
                <a:spcPct val="112000"/>
              </a:lnSpc>
            </a:pPr>
            <a:r>
              <a:rPr sz="1350" b="0" i="0">
                <a:solidFill>
                  <a:srgbClr val="21295C"/>
                </a:solidFill>
                <a:latin typeface="Arial"/>
              </a:rPr>
              <a:t>28,9 % · из 4 933</a:t>
            </a:r>
          </a:p>
        </p:txBody>
      </p:sp>
      <p:sp>
        <p:nvSpPr>
          <p:cNvPr id="12" name="Rounded Rectangle 11"/>
          <p:cNvSpPr/>
          <p:nvPr/>
        </p:nvSpPr>
        <p:spPr>
          <a:xfrm>
            <a:off x="5204764" y="3085993"/>
            <a:ext cx="2241194" cy="932402"/>
          </a:xfrm>
          <a:prstGeom prst="roundRect">
            <a:avLst>
              <a:gd name="adj" fmla="val 25000"/>
            </a:avLst>
          </a:prstGeom>
          <a:solidFill>
            <a:srgbClr val="FFFFFF"/>
          </a:solidFill>
          <a:ln w="25400">
            <a:solidFill>
              <a:srgbClr val="F0AB00"/>
            </a:solidFill>
          </a:ln>
          <a:effectLst/>
        </p:spPr>
        <p:txBody>
          <a:bodyPr rtlCol="0" anchor="ctr"/>
          <a:lstStyle/>
          <a:p>
            <a:pPr algn="ctr"/>
          </a:p>
        </p:txBody>
      </p:sp>
      <p:sp>
        <p:nvSpPr>
          <p:cNvPr id="13" name="TextBox 12"/>
          <p:cNvSpPr txBox="1"/>
          <p:nvPr/>
        </p:nvSpPr>
        <p:spPr>
          <a:xfrm>
            <a:off x="5296204" y="3131713"/>
            <a:ext cx="2058314" cy="840962"/>
          </a:xfrm>
          <a:prstGeom prst="rect">
            <a:avLst/>
          </a:prstGeom>
          <a:noFill/>
        </p:spPr>
        <p:txBody>
          <a:bodyPr wrap="square" lIns="0" rIns="0" tIns="0" bIns="0" anchor="ctr">
            <a:spAutoFit/>
          </a:bodyPr>
          <a:lstStyle/>
          <a:p>
            <a:pPr algn="ctr">
              <a:lnSpc>
                <a:spcPct val="112000"/>
              </a:lnSpc>
            </a:pPr>
            <a:r>
              <a:rPr sz="1350" b="1" i="0">
                <a:solidFill>
                  <a:srgbClr val="21295C"/>
                </a:solidFill>
                <a:latin typeface="Arial"/>
              </a:rPr>
              <a:t>Фаза I → одобрение</a:t>
            </a:r>
          </a:p>
          <a:p>
            <a:pPr algn="ctr">
              <a:lnSpc>
                <a:spcPct val="112000"/>
              </a:lnSpc>
            </a:pPr>
            <a:r>
              <a:rPr sz="1350" b="0" i="0">
                <a:solidFill>
                  <a:srgbClr val="21295C"/>
                </a:solidFill>
                <a:latin typeface="Arial"/>
              </a:rPr>
              <a:t>7,9 % · одна из тринадцати</a:t>
            </a:r>
          </a:p>
        </p:txBody>
      </p:sp>
      <p:sp>
        <p:nvSpPr>
          <p:cNvPr id="14" name="Rounded Rectangle 13"/>
          <p:cNvSpPr/>
          <p:nvPr/>
        </p:nvSpPr>
        <p:spPr>
          <a:xfrm>
            <a:off x="374904" y="4109836"/>
            <a:ext cx="11441887" cy="2126371"/>
          </a:xfrm>
          <a:prstGeom prst="roundRect">
            <a:avLst>
              <a:gd name="adj" fmla="val 14334"/>
            </a:avLst>
          </a:prstGeom>
          <a:solidFill>
            <a:srgbClr val="F4F7FA"/>
          </a:solidFill>
          <a:ln w="19050">
            <a:solidFill>
              <a:srgbClr val="1C7293"/>
            </a:solidFill>
          </a:ln>
          <a:effectLst/>
        </p:spPr>
        <p:txBody>
          <a:bodyPr rtlCol="0" anchor="ctr"/>
          <a:lstStyle/>
          <a:p>
            <a:pPr algn="ctr"/>
          </a:p>
        </p:txBody>
      </p:sp>
      <p:sp>
        <p:nvSpPr>
          <p:cNvPr id="15" name="TextBox 14"/>
          <p:cNvSpPr txBox="1"/>
          <p:nvPr/>
        </p:nvSpPr>
        <p:spPr>
          <a:xfrm>
            <a:off x="539496" y="4201276"/>
            <a:ext cx="11112703" cy="2034931"/>
          </a:xfrm>
          <a:prstGeom prst="rect">
            <a:avLst/>
          </a:prstGeom>
          <a:noFill/>
        </p:spPr>
        <p:txBody>
          <a:bodyPr wrap="square" lIns="0" rIns="0" tIns="0" bIns="0" anchor="t">
            <a:spAutoFit/>
          </a:bodyPr>
          <a:lstStyle/>
          <a:p>
            <a:pPr algn="l">
              <a:lnSpc>
                <a:spcPct val="126000"/>
              </a:lnSpc>
            </a:pPr>
            <a:r>
              <a:rPr sz="1450" b="1" i="0">
                <a:solidFill>
                  <a:srgbClr val="21295C"/>
                </a:solidFill>
                <a:latin typeface="Arial"/>
              </a:rPr>
              <a:t>Стадия стоит вверх по течению: здесь появляется то, что потом назначают.</a:t>
            </a:r>
            <a:r>
              <a:rPr sz="1450" b="0" i="0">
                <a:solidFill>
                  <a:srgbClr val="21295C"/>
                </a:solidFill>
                <a:latin typeface="Arial"/>
              </a:rPr>
              <a:t> Данные о веществе.</a:t>
            </a:r>
          </a:p>
          <a:p>
            <a:pPr algn="l">
              <a:lnSpc>
                <a:spcPct val="126000"/>
              </a:lnSpc>
              <a:spcBef>
                <a:spcPts val="700"/>
              </a:spcBef>
            </a:pPr>
            <a:r>
              <a:rPr sz="1450" b="0" i="0">
                <a:solidFill>
                  <a:srgbClr val="21295C"/>
                </a:solidFill>
                <a:latin typeface="Arial"/>
              </a:rPr>
              <a:t/>
            </a:r>
            <a:r>
              <a:rPr sz="1450" b="0" i="0">
                <a:solidFill>
                  <a:srgbClr val="21295C"/>
                </a:solidFill>
                <a:latin typeface="Arial"/>
              </a:rPr>
              <a:t>Химик ставит реакцию, получает миллиграммы. Через полгода порошок едет в виварий. Через год координатор пишет наблюдения по одному добровольцу. </a:t>
            </a:r>
            <a:r>
              <a:rPr sz="1450" b="1" i="0">
                <a:solidFill>
                  <a:srgbClr val="21295C"/>
                </a:solidFill>
                <a:latin typeface="Arial"/>
              </a:rPr>
              <a:t>Три человека, три места, одно вещество, два года.</a:t>
            </a:r>
          </a:p>
          <a:p>
            <a:pPr algn="l">
              <a:lnSpc>
                <a:spcPct val="126000"/>
              </a:lnSpc>
              <a:spcBef>
                <a:spcPts val="700"/>
              </a:spcBef>
            </a:pPr>
            <a:r>
              <a:rPr sz="1450" b="0" i="0">
                <a:solidFill>
                  <a:srgbClr val="21295C"/>
                </a:solidFill>
                <a:latin typeface="Arial"/>
              </a:rPr>
              <a:t/>
            </a:r>
            <a:r>
              <a:rPr sz="1450" b="1" i="0">
                <a:solidFill>
                  <a:srgbClr val="21295C"/>
                </a:solidFill>
                <a:latin typeface="Arial"/>
              </a:rPr>
              <a:t>Решение на каждом шаге:</a:t>
            </a:r>
            <a:r>
              <a:rPr sz="1450" b="0" i="0">
                <a:solidFill>
                  <a:srgbClr val="21295C"/>
                </a:solidFill>
                <a:latin typeface="Arial"/>
              </a:rPr>
              <a:t> вести или закрыть. </a:t>
            </a:r>
            <a:r>
              <a:rPr sz="1450" b="1" i="0">
                <a:solidFill>
                  <a:srgbClr val="21295C"/>
                </a:solidFill>
                <a:latin typeface="Arial"/>
              </a:rPr>
              <a:t>Считающий шаг один и он в начале;</a:t>
            </a:r>
            <a:r>
              <a:rPr sz="1450" b="0" i="0">
                <a:solidFill>
                  <a:srgbClr val="21295C"/>
                </a:solidFill>
                <a:latin typeface="Arial"/>
              </a:rPr>
              <a:t> остальной путь делают руками, и дешевле он не стал.</a:t>
            </a:r>
          </a:p>
          <a:p>
            <a:pPr algn="l">
              <a:lnSpc>
                <a:spcPct val="126000"/>
              </a:lnSpc>
              <a:spcBef>
                <a:spcPts val="700"/>
              </a:spcBef>
            </a:pPr>
            <a:r>
              <a:rPr sz="1450" b="0" i="0">
                <a:solidFill>
                  <a:srgbClr val="21295C"/>
                </a:solidFill>
                <a:latin typeface="Arial"/>
              </a:rPr>
              <a:t/>
            </a:r>
            <a:r>
              <a:rPr sz="1450" b="1" i="0">
                <a:solidFill>
                  <a:srgbClr val="21295C"/>
                </a:solidFill>
                <a:latin typeface="Arial"/>
              </a:rPr>
              <a:t>«Перешли» и «завершили» — две разные дроби:</a:t>
            </a:r>
            <a:r>
              <a:rPr sz="1450" b="0" i="0">
                <a:solidFill>
                  <a:srgbClr val="21295C"/>
                </a:solidFill>
                <a:latin typeface="Arial"/>
              </a:rPr>
              <a:t> живые активы в базу не попадают.</a:t>
            </a:r>
          </a:p>
        </p:txBody>
      </p:sp>
      <p:sp>
        <p:nvSpPr>
          <p:cNvPr id="16" name="Rounded Rectangle 15"/>
          <p:cNvSpPr/>
          <p:nvPr/>
        </p:nvSpPr>
        <p:spPr>
          <a:xfrm>
            <a:off x="7756855" y="1335024"/>
            <a:ext cx="3931920" cy="2712719"/>
          </a:xfrm>
          <a:prstGeom prst="roundRect">
            <a:avLst>
              <a:gd name="adj" fmla="val 11235"/>
            </a:avLst>
          </a:prstGeom>
          <a:solidFill>
            <a:srgbClr val="F4F7FA"/>
          </a:solidFill>
          <a:ln w="19050">
            <a:solidFill>
              <a:srgbClr val="1C7293"/>
            </a:solidFill>
          </a:ln>
          <a:effectLst/>
        </p:spPr>
        <p:txBody>
          <a:bodyPr rtlCol="0" anchor="ctr"/>
          <a:lstStyle/>
          <a:p>
            <a:pPr algn="ctr"/>
          </a:p>
        </p:txBody>
      </p:sp>
      <p:pic>
        <p:nvPicPr>
          <p:cNvPr id="17" name="Picture 16" descr="s75-kletki-vivariya-proverka.jpg"/>
          <p:cNvPicPr>
            <a:picLocks noChangeAspect="1"/>
          </p:cNvPicPr>
          <p:nvPr/>
        </p:nvPicPr>
        <p:blipFill>
          <a:blip r:embed="rId2"/>
          <a:stretch>
            <a:fillRect/>
          </a:stretch>
        </p:blipFill>
        <p:spPr>
          <a:xfrm>
            <a:off x="7894015" y="1472184"/>
            <a:ext cx="3657600" cy="2438400"/>
          </a:xfrm>
          <a:prstGeom prst="rect">
            <a:avLst/>
          </a:prstGeom>
        </p:spPr>
      </p:pic>
      <p:sp>
        <p:nvSpPr>
          <p:cNvPr id="18" name="Rectangle 17"/>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19" name="TextBox 18"/>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3"/>
              </a:rPr>
              <a:t>BIO, QLS и Informa, Clinical Development Success Rates 2011–2020</a:t>
            </a:r>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Без модели: цена обеих ошибок и два режима</a:t>
            </a:r>
          </a:p>
        </p:txBody>
      </p:sp>
      <p:sp>
        <p:nvSpPr>
          <p:cNvPr id="4" name="Rounded Rectangle 3"/>
          <p:cNvSpPr/>
          <p:nvPr/>
        </p:nvSpPr>
        <p:spPr>
          <a:xfrm>
            <a:off x="502920" y="1335024"/>
            <a:ext cx="5510631" cy="1165753"/>
          </a:xfrm>
          <a:prstGeom prst="roundRect">
            <a:avLst>
              <a:gd name="adj" fmla="val 25000"/>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5236311"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ДОВЕСТИ НЕГОДНУЮ МОЛЕКУЛУ ДО ФАЗЫ I</a:t>
            </a:r>
          </a:p>
        </p:txBody>
      </p:sp>
      <p:sp>
        <p:nvSpPr>
          <p:cNvPr id="6" name="TextBox 5"/>
          <p:cNvSpPr txBox="1"/>
          <p:nvPr/>
        </p:nvSpPr>
        <p:spPr>
          <a:xfrm>
            <a:off x="640080" y="1725375"/>
            <a:ext cx="5236311"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месяцы работы центра</a:t>
            </a:r>
          </a:p>
        </p:txBody>
      </p:sp>
      <p:sp>
        <p:nvSpPr>
          <p:cNvPr id="7" name="TextBox 6"/>
          <p:cNvSpPr txBox="1"/>
          <p:nvPr/>
        </p:nvSpPr>
        <p:spPr>
          <a:xfrm>
            <a:off x="640080" y="2152374"/>
            <a:ext cx="5236311"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здоровые добровольцы под дозой</a:t>
            </a:r>
          </a:p>
        </p:txBody>
      </p:sp>
      <p:sp>
        <p:nvSpPr>
          <p:cNvPr id="8" name="Rounded Rectangle 7"/>
          <p:cNvSpPr/>
          <p:nvPr/>
        </p:nvSpPr>
        <p:spPr>
          <a:xfrm>
            <a:off x="6178143" y="1335024"/>
            <a:ext cx="5510631" cy="1165753"/>
          </a:xfrm>
          <a:prstGeom prst="roundRect">
            <a:avLst>
              <a:gd name="adj" fmla="val 25000"/>
            </a:avLst>
          </a:prstGeom>
          <a:solidFill>
            <a:srgbClr val="FFFFFF"/>
          </a:solidFill>
          <a:ln w="25400">
            <a:solidFill>
              <a:srgbClr val="F0AB00"/>
            </a:solidFill>
          </a:ln>
          <a:effectLst/>
        </p:spPr>
        <p:txBody>
          <a:bodyPr rtlCol="0" anchor="ctr"/>
          <a:lstStyle/>
          <a:p>
            <a:pPr algn="ctr"/>
          </a:p>
        </p:txBody>
      </p:sp>
      <p:sp>
        <p:nvSpPr>
          <p:cNvPr id="9" name="TextBox 8"/>
          <p:cNvSpPr txBox="1"/>
          <p:nvPr/>
        </p:nvSpPr>
        <p:spPr>
          <a:xfrm>
            <a:off x="6315303" y="1472184"/>
            <a:ext cx="5236311"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ОТБРОСИТЬ ГОДНУЮ МОЛЕКУЛУ</a:t>
            </a:r>
          </a:p>
        </p:txBody>
      </p:sp>
      <p:sp>
        <p:nvSpPr>
          <p:cNvPr id="10" name="TextBox 9"/>
          <p:cNvSpPr txBox="1"/>
          <p:nvPr/>
        </p:nvSpPr>
        <p:spPr>
          <a:xfrm>
            <a:off x="6315303" y="1725375"/>
            <a:ext cx="5236311"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терапии не будет</a:t>
            </a:r>
          </a:p>
        </p:txBody>
      </p:sp>
      <p:sp>
        <p:nvSpPr>
          <p:cNvPr id="11" name="TextBox 10"/>
          <p:cNvSpPr txBox="1"/>
          <p:nvPr/>
        </p:nvSpPr>
        <p:spPr>
          <a:xfrm>
            <a:off x="6315303" y="2152374"/>
            <a:ext cx="5236311"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эксперимента не было</a:t>
            </a:r>
          </a:p>
        </p:txBody>
      </p:sp>
      <p:sp>
        <p:nvSpPr>
          <p:cNvPr id="12" name="Rounded Rectangle 11"/>
          <p:cNvSpPr/>
          <p:nvPr/>
        </p:nvSpPr>
        <p:spPr>
          <a:xfrm>
            <a:off x="374904" y="2592217"/>
            <a:ext cx="11441887" cy="3125670"/>
          </a:xfrm>
          <a:prstGeom prst="roundRect">
            <a:avLst>
              <a:gd name="adj" fmla="val 9751"/>
            </a:avLst>
          </a:prstGeom>
          <a:solidFill>
            <a:srgbClr val="F4F7FA"/>
          </a:solidFill>
          <a:ln w="19050">
            <a:solidFill>
              <a:srgbClr val="1C7293"/>
            </a:solidFill>
          </a:ln>
          <a:effectLst/>
        </p:spPr>
        <p:txBody>
          <a:bodyPr rtlCol="0" anchor="ctr"/>
          <a:lstStyle/>
          <a:p>
            <a:pPr algn="ctr"/>
          </a:p>
        </p:txBody>
      </p:sp>
      <p:sp>
        <p:nvSpPr>
          <p:cNvPr id="13" name="TextBox 12"/>
          <p:cNvSpPr txBox="1"/>
          <p:nvPr/>
        </p:nvSpPr>
        <p:spPr>
          <a:xfrm>
            <a:off x="539496" y="2683657"/>
            <a:ext cx="5373471" cy="3552550"/>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Счёт у обоих режимов один и тот же:</a:t>
            </a:r>
            <a:r>
              <a:rPr sz="1500" b="0" i="0">
                <a:solidFill>
                  <a:srgbClr val="21295C"/>
                </a:solidFill>
                <a:latin typeface="Arial"/>
              </a:rPr>
              <a:t> различия между ними числом не предъявил ни один источник.</a:t>
            </a:r>
          </a:p>
          <a:p>
            <a:pPr algn="l">
              <a:lnSpc>
                <a:spcPct val="126000"/>
              </a:lnSpc>
              <a:spcBef>
                <a:spcPts val="700"/>
              </a:spcBef>
            </a:pPr>
            <a:r>
              <a:rPr sz="1500" b="0" i="0">
                <a:solidFill>
                  <a:srgbClr val="21295C"/>
                </a:solidFill>
                <a:latin typeface="Arial"/>
              </a:rPr>
              <a:t/>
            </a:r>
            <a:r>
              <a:rPr sz="1500" b="1" i="0">
                <a:solidFill>
                  <a:srgbClr val="21295C"/>
                </a:solidFill>
                <a:latin typeface="Arial"/>
              </a:rPr>
              <a:t>Вести всё синтезированное</a:t>
            </a:r>
            <a:r>
              <a:rPr sz="1500" b="0" i="0">
                <a:solidFill>
                  <a:srgbClr val="21295C"/>
                </a:solidFill>
                <a:latin typeface="Arial"/>
              </a:rPr>
              <a:t> — платит первой фазой за пустышку, и ошибку видно. </a:t>
            </a:r>
            <a:r>
              <a:rPr sz="1500" b="1" i="0">
                <a:solidFill>
                  <a:srgbClr val="21295C"/>
                </a:solidFill>
                <a:latin typeface="Arial"/>
              </a:rPr>
              <a:t>Вести только прошедшее экспертный отбор</a:t>
            </a:r>
            <a:r>
              <a:rPr sz="1500" b="0" i="0">
                <a:solidFill>
                  <a:srgbClr val="21295C"/>
                </a:solidFill>
                <a:latin typeface="Arial"/>
              </a:rPr>
              <a:t> — платит отброшенными молекулами, и сколько их, не знает никто.</a:t>
            </a:r>
          </a:p>
        </p:txBody>
      </p:sp>
      <p:sp>
        <p:nvSpPr>
          <p:cNvPr id="14" name="TextBox 13"/>
          <p:cNvSpPr txBox="1"/>
          <p:nvPr/>
        </p:nvSpPr>
        <p:spPr>
          <a:xfrm>
            <a:off x="6278727" y="2683657"/>
            <a:ext cx="5373471" cy="3552550"/>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Экспертный отбор</a:t>
            </a:r>
            <a:r>
              <a:rPr sz="1500" b="0" i="0">
                <a:solidFill>
                  <a:srgbClr val="21295C"/>
                </a:solidFill>
                <a:latin typeface="Arial"/>
              </a:rPr>
              <a:t> — совет химиков, биологов и токсикологов: опыт и литература, протокола нет, повторяемость не замерял никто.</a:t>
            </a:r>
          </a:p>
          <a:p>
            <a:pPr algn="l">
              <a:lnSpc>
                <a:spcPct val="126000"/>
              </a:lnSpc>
              <a:spcBef>
                <a:spcPts val="700"/>
              </a:spcBef>
            </a:pPr>
            <a:r>
              <a:rPr sz="1500" b="0" i="0">
                <a:solidFill>
                  <a:srgbClr val="21295C"/>
                </a:solidFill>
                <a:latin typeface="Arial"/>
              </a:rPr>
              <a:t/>
            </a:r>
            <a:r>
              <a:rPr sz="1500" b="1" i="0">
                <a:solidFill>
                  <a:srgbClr val="21295C"/>
                </a:solidFill>
                <a:latin typeface="Arial"/>
              </a:rPr>
              <a:t>На шаге поиска молекулы числа есть и проверяемы:</a:t>
            </a:r>
            <a:r>
              <a:rPr sz="1500" b="0" i="0">
                <a:solidFill>
                  <a:srgbClr val="21295C"/>
                </a:solidFill>
                <a:latin typeface="Arial"/>
              </a:rPr>
              <a:t> перебор библиотеки 1–3 млн соединений, попадания 1–2 процента.</a:t>
            </a:r>
          </a:p>
          <a:p>
            <a:pPr algn="l">
              <a:lnSpc>
                <a:spcPct val="126000"/>
              </a:lnSpc>
              <a:spcBef>
                <a:spcPts val="700"/>
              </a:spcBef>
            </a:pPr>
            <a:r>
              <a:rPr sz="1500" b="0" i="0">
                <a:solidFill>
                  <a:srgbClr val="21295C"/>
                </a:solidFill>
                <a:latin typeface="Arial"/>
              </a:rPr>
              <a:t/>
            </a:r>
            <a:r>
              <a:rPr sz="1500" b="1" i="0">
                <a:solidFill>
                  <a:srgbClr val="21295C"/>
                </a:solidFill>
                <a:latin typeface="Arial"/>
              </a:rPr>
              <a:t>Пока сравнения с этой базой нет, «модель ускорила разработку» говорит только про тот шаг, где её применили.</a:t>
            </a:r>
          </a:p>
        </p:txBody>
      </p:sp>
      <p:sp>
        <p:nvSpPr>
          <p:cNvPr id="15" name="Rectangle 14"/>
          <p:cNvSpPr/>
          <p:nvPr/>
        </p:nvSpPr>
        <p:spPr>
          <a:xfrm>
            <a:off x="6091275" y="2683657"/>
            <a:ext cx="9144" cy="2851350"/>
          </a:xfrm>
          <a:prstGeom prst="rect">
            <a:avLst/>
          </a:prstGeom>
          <a:solidFill>
            <a:srgbClr val="D9E2EC"/>
          </a:solidFill>
          <a:ln>
            <a:noFill/>
          </a:ln>
          <a:effectLst/>
        </p:spPr>
        <p:txBody>
          <a:bodyPr rtlCol="0" anchor="ctr"/>
          <a:lstStyle/>
          <a:p>
            <a:pPr algn="ctr"/>
          </a:p>
        </p:txBody>
      </p:sp>
      <p:sp>
        <p:nvSpPr>
          <p:cNvPr id="16" name="Rectangle 15"/>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17" name="TextBox 16"/>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BIO, QLS и Informa, Clinical Development Success Rates 2011–2020</a:t>
            </a:r>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Пример 1: отказ от своего обещания и минус 180 мест</a:t>
            </a:r>
          </a:p>
        </p:txBody>
      </p:sp>
      <p:sp>
        <p:nvSpPr>
          <p:cNvPr id="4" name="Rounded Rectangle 3"/>
          <p:cNvSpPr/>
          <p:nvPr/>
        </p:nvSpPr>
        <p:spPr>
          <a:xfrm>
            <a:off x="502920" y="1335024"/>
            <a:ext cx="1818055" cy="1873042"/>
          </a:xfrm>
          <a:prstGeom prst="roundRect">
            <a:avLst>
              <a:gd name="adj" fmla="val 16765"/>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1543735"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ФАЗА IIA</a:t>
            </a:r>
          </a:p>
        </p:txBody>
      </p:sp>
      <p:sp>
        <p:nvSpPr>
          <p:cNvPr id="6" name="TextBox 5"/>
          <p:cNvSpPr txBox="1"/>
          <p:nvPr/>
        </p:nvSpPr>
        <p:spPr>
          <a:xfrm>
            <a:off x="640080" y="1725375"/>
            <a:ext cx="1543735" cy="732547"/>
          </a:xfrm>
          <a:prstGeom prst="rect">
            <a:avLst/>
          </a:prstGeom>
          <a:noFill/>
        </p:spPr>
        <p:txBody>
          <a:bodyPr wrap="square" lIns="0" rIns="0" tIns="0" bIns="0" anchor="t">
            <a:spAutoFit/>
          </a:bodyPr>
          <a:lstStyle/>
          <a:p>
            <a:pPr algn="l">
              <a:lnSpc>
                <a:spcPct val="108000"/>
              </a:lnSpc>
            </a:pPr>
            <a:r>
              <a:rPr sz="2050" b="1" i="0">
                <a:solidFill>
                  <a:srgbClr val="21295C"/>
                </a:solidFill>
                <a:latin typeface="Arial"/>
              </a:rPr>
              <a:t>91 пациент, 28 дней</a:t>
            </a:r>
          </a:p>
        </p:txBody>
      </p:sp>
      <p:sp>
        <p:nvSpPr>
          <p:cNvPr id="7" name="TextBox 6"/>
          <p:cNvSpPr txBox="1"/>
          <p:nvPr/>
        </p:nvSpPr>
        <p:spPr>
          <a:xfrm>
            <a:off x="640080" y="2457923"/>
            <a:ext cx="1543735"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рандомизированное, двойное слепое</a:t>
            </a:r>
          </a:p>
        </p:txBody>
      </p:sp>
      <p:sp>
        <p:nvSpPr>
          <p:cNvPr id="8" name="Rounded Rectangle 7"/>
          <p:cNvSpPr/>
          <p:nvPr/>
        </p:nvSpPr>
        <p:spPr>
          <a:xfrm>
            <a:off x="2485567" y="1335024"/>
            <a:ext cx="1818055" cy="1873042"/>
          </a:xfrm>
          <a:prstGeom prst="roundRect">
            <a:avLst>
              <a:gd name="adj" fmla="val 16765"/>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2622727" y="1472184"/>
            <a:ext cx="1543735"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ТОЧКИ ЭФФЕКТИВНОСТИ</a:t>
            </a:r>
          </a:p>
        </p:txBody>
      </p:sp>
      <p:sp>
        <p:nvSpPr>
          <p:cNvPr id="10" name="TextBox 9"/>
          <p:cNvSpPr txBox="1"/>
          <p:nvPr/>
        </p:nvSpPr>
        <p:spPr>
          <a:xfrm>
            <a:off x="2622727" y="1932846"/>
            <a:ext cx="1543735" cy="715572"/>
          </a:xfrm>
          <a:prstGeom prst="rect">
            <a:avLst/>
          </a:prstGeom>
          <a:noFill/>
        </p:spPr>
        <p:txBody>
          <a:bodyPr wrap="square" lIns="0" rIns="0" tIns="0" bIns="0" anchor="t">
            <a:spAutoFit/>
          </a:bodyPr>
          <a:lstStyle/>
          <a:p>
            <a:pPr algn="l">
              <a:lnSpc>
                <a:spcPct val="108000"/>
              </a:lnSpc>
            </a:pPr>
            <a:r>
              <a:rPr sz="2000" b="1" i="0">
                <a:solidFill>
                  <a:srgbClr val="21295C"/>
                </a:solidFill>
                <a:latin typeface="Arial"/>
              </a:rPr>
              <a:t>не достигнуты</a:t>
            </a:r>
          </a:p>
        </p:txBody>
      </p:sp>
      <p:sp>
        <p:nvSpPr>
          <p:cNvPr id="11" name="TextBox 10"/>
          <p:cNvSpPr txBox="1"/>
          <p:nvPr/>
        </p:nvSpPr>
        <p:spPr>
          <a:xfrm>
            <a:off x="2622727" y="2648419"/>
            <a:ext cx="1543735"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плацебо не превзойдено</a:t>
            </a:r>
          </a:p>
        </p:txBody>
      </p:sp>
      <p:sp>
        <p:nvSpPr>
          <p:cNvPr id="12" name="Rounded Rectangle 11"/>
          <p:cNvSpPr/>
          <p:nvPr/>
        </p:nvSpPr>
        <p:spPr>
          <a:xfrm>
            <a:off x="4468215" y="1335024"/>
            <a:ext cx="1818055" cy="1873042"/>
          </a:xfrm>
          <a:prstGeom prst="roundRect">
            <a:avLst>
              <a:gd name="adj" fmla="val 16765"/>
            </a:avLst>
          </a:prstGeom>
          <a:solidFill>
            <a:srgbClr val="F4F7FA"/>
          </a:solidFill>
          <a:ln w="15240">
            <a:solidFill>
              <a:srgbClr val="1C7293"/>
            </a:solidFill>
          </a:ln>
          <a:effectLst/>
        </p:spPr>
        <p:txBody>
          <a:bodyPr rtlCol="0" anchor="ctr"/>
          <a:lstStyle/>
          <a:p>
            <a:pPr algn="ctr"/>
          </a:p>
        </p:txBody>
      </p:sp>
      <p:sp>
        <p:nvSpPr>
          <p:cNvPr id="13" name="TextBox 12"/>
          <p:cNvSpPr txBox="1"/>
          <p:nvPr/>
        </p:nvSpPr>
        <p:spPr>
          <a:xfrm>
            <a:off x="4605375" y="1472184"/>
            <a:ext cx="1543735"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БАЗА ОТРАСЛИ</a:t>
            </a:r>
          </a:p>
        </p:txBody>
      </p:sp>
      <p:sp>
        <p:nvSpPr>
          <p:cNvPr id="14" name="TextBox 13"/>
          <p:cNvSpPr txBox="1"/>
          <p:nvPr/>
        </p:nvSpPr>
        <p:spPr>
          <a:xfrm>
            <a:off x="4605375" y="1725375"/>
            <a:ext cx="1543735" cy="528848"/>
          </a:xfrm>
          <a:prstGeom prst="rect">
            <a:avLst/>
          </a:prstGeom>
          <a:noFill/>
        </p:spPr>
        <p:txBody>
          <a:bodyPr wrap="square" lIns="0" rIns="0" tIns="0" bIns="0" anchor="t">
            <a:spAutoFit/>
          </a:bodyPr>
          <a:lstStyle/>
          <a:p>
            <a:pPr algn="l">
              <a:lnSpc>
                <a:spcPct val="108000"/>
              </a:lnSpc>
            </a:pPr>
            <a:r>
              <a:rPr sz="1450" b="1" i="0">
                <a:solidFill>
                  <a:srgbClr val="21295C"/>
                </a:solidFill>
                <a:latin typeface="Arial"/>
              </a:rPr>
              <a:t>28,9 % перехода фазы II</a:t>
            </a:r>
          </a:p>
        </p:txBody>
      </p:sp>
      <p:sp>
        <p:nvSpPr>
          <p:cNvPr id="15" name="TextBox 14"/>
          <p:cNvSpPr txBox="1"/>
          <p:nvPr/>
        </p:nvSpPr>
        <p:spPr>
          <a:xfrm>
            <a:off x="4605375" y="2254223"/>
            <a:ext cx="1543735"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норма воронки</a:t>
            </a:r>
          </a:p>
        </p:txBody>
      </p:sp>
      <p:sp>
        <p:nvSpPr>
          <p:cNvPr id="16" name="Rounded Rectangle 15"/>
          <p:cNvSpPr/>
          <p:nvPr/>
        </p:nvSpPr>
        <p:spPr>
          <a:xfrm>
            <a:off x="6450863" y="1335024"/>
            <a:ext cx="1818055" cy="1873042"/>
          </a:xfrm>
          <a:prstGeom prst="roundRect">
            <a:avLst>
              <a:gd name="adj" fmla="val 16765"/>
            </a:avLst>
          </a:prstGeom>
          <a:solidFill>
            <a:srgbClr val="FFFFFF"/>
          </a:solidFill>
          <a:ln w="25400">
            <a:solidFill>
              <a:srgbClr val="F0AB00"/>
            </a:solidFill>
          </a:ln>
          <a:effectLst/>
        </p:spPr>
        <p:txBody>
          <a:bodyPr rtlCol="0" anchor="ctr"/>
          <a:lstStyle/>
          <a:p>
            <a:pPr algn="ctr"/>
          </a:p>
        </p:txBody>
      </p:sp>
      <p:sp>
        <p:nvSpPr>
          <p:cNvPr id="17" name="TextBox 16"/>
          <p:cNvSpPr txBox="1"/>
          <p:nvPr/>
        </p:nvSpPr>
        <p:spPr>
          <a:xfrm>
            <a:off x="6588023" y="1472184"/>
            <a:ext cx="1543735"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ЗАПЛАТИЛИ</a:t>
            </a:r>
          </a:p>
        </p:txBody>
      </p:sp>
      <p:sp>
        <p:nvSpPr>
          <p:cNvPr id="18" name="TextBox 17"/>
          <p:cNvSpPr txBox="1"/>
          <p:nvPr/>
        </p:nvSpPr>
        <p:spPr>
          <a:xfrm>
            <a:off x="6588023" y="1725375"/>
            <a:ext cx="1543735" cy="647673"/>
          </a:xfrm>
          <a:prstGeom prst="rect">
            <a:avLst/>
          </a:prstGeom>
          <a:noFill/>
        </p:spPr>
        <p:txBody>
          <a:bodyPr wrap="square" lIns="0" rIns="0" tIns="0" bIns="0" anchor="t">
            <a:spAutoFit/>
          </a:bodyPr>
          <a:lstStyle/>
          <a:p>
            <a:pPr algn="l">
              <a:lnSpc>
                <a:spcPct val="108000"/>
              </a:lnSpc>
            </a:pPr>
            <a:r>
              <a:rPr sz="1200" b="1" i="0">
                <a:solidFill>
                  <a:srgbClr val="1C7293"/>
                </a:solidFill>
                <a:latin typeface="Arial"/>
              </a:rPr>
              <a:t>минус 180 мест, затем минус 30 % штата</a:t>
            </a:r>
          </a:p>
        </p:txBody>
      </p:sp>
      <p:sp>
        <p:nvSpPr>
          <p:cNvPr id="19" name="Rounded Rectangle 18"/>
          <p:cNvSpPr/>
          <p:nvPr/>
        </p:nvSpPr>
        <p:spPr>
          <a:xfrm>
            <a:off x="374904" y="3671655"/>
            <a:ext cx="11441887" cy="2564552"/>
          </a:xfrm>
          <a:prstGeom prst="roundRect">
            <a:avLst>
              <a:gd name="adj" fmla="val 11885"/>
            </a:avLst>
          </a:prstGeom>
          <a:solidFill>
            <a:srgbClr val="F4F7FA"/>
          </a:solidFill>
          <a:ln w="19050">
            <a:solidFill>
              <a:srgbClr val="1C7293"/>
            </a:solidFill>
          </a:ln>
          <a:effectLst/>
        </p:spPr>
        <p:txBody>
          <a:bodyPr rtlCol="0" anchor="ctr"/>
          <a:lstStyle/>
          <a:p>
            <a:pPr algn="ctr"/>
          </a:p>
        </p:txBody>
      </p:sp>
      <p:sp>
        <p:nvSpPr>
          <p:cNvPr id="20" name="TextBox 19"/>
          <p:cNvSpPr txBox="1"/>
          <p:nvPr/>
        </p:nvSpPr>
        <p:spPr>
          <a:xfrm>
            <a:off x="539496" y="3763095"/>
            <a:ext cx="11112703" cy="2473112"/>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Что делали.</a:t>
            </a:r>
            <a:r>
              <a:rPr sz="1500" b="0" i="0">
                <a:solidFill>
                  <a:srgbClr val="21295C"/>
                </a:solidFill>
                <a:latin typeface="Arial"/>
              </a:rPr>
              <a:t> Искали молекулу под мишень по графу связей «мишень — болезнь — препарат» и довели её до испытания на людях: мазали кожу пациентам с экземой, вслепую и против плацебо.</a:t>
            </a:r>
          </a:p>
          <a:p>
            <a:pPr algn="l">
              <a:lnSpc>
                <a:spcPct val="126000"/>
              </a:lnSpc>
              <a:spcBef>
                <a:spcPts val="700"/>
              </a:spcBef>
            </a:pPr>
            <a:r>
              <a:rPr sz="1500" b="0" i="0">
                <a:solidFill>
                  <a:srgbClr val="21295C"/>
                </a:solidFill>
                <a:latin typeface="Arial"/>
              </a:rPr>
              <a:t/>
            </a:r>
            <a:r>
              <a:rPr sz="1500" b="0" i="1">
                <a:solidFill>
                  <a:srgbClr val="21295C"/>
                </a:solidFill>
                <a:latin typeface="Arial"/>
              </a:rPr>
              <a:t>Прогноз на структурированных данных.</a:t>
            </a:r>
            <a:r>
              <a:rPr sz="1500" b="0" i="0">
                <a:solidFill>
                  <a:srgbClr val="21295C"/>
                </a:solidFill>
                <a:latin typeface="Arial"/>
              </a:rPr>
              <a:t> </a:t>
            </a:r>
            <a:r>
              <a:rPr sz="1500" b="1" i="0">
                <a:solidFill>
                  <a:srgbClr val="21295C"/>
                </a:solidFill>
                <a:latin typeface="Arial"/>
              </a:rPr>
              <a:t>Ни компании, ни молекулы, ни данных обучения источники не называют.</a:t>
            </a:r>
            <a:r>
              <a:rPr sz="1500" b="0" i="0">
                <a:solidFill>
                  <a:srgbClr val="21295C"/>
                </a:solidFill>
                <a:latin typeface="Arial"/>
              </a:rPr>
              <a:t> Разница выяснилась только на людях.</a:t>
            </a:r>
          </a:p>
          <a:p>
            <a:pPr algn="l">
              <a:lnSpc>
                <a:spcPct val="126000"/>
              </a:lnSpc>
              <a:spcBef>
                <a:spcPts val="700"/>
              </a:spcBef>
            </a:pPr>
            <a:r>
              <a:rPr sz="1500" b="0" i="0">
                <a:solidFill>
                  <a:srgbClr val="21295C"/>
                </a:solidFill>
                <a:latin typeface="Arial"/>
              </a:rPr>
              <a:t/>
            </a:r>
            <a:r>
              <a:rPr sz="1500" b="1" i="0">
                <a:solidFill>
                  <a:srgbClr val="21295C"/>
                </a:solidFill>
                <a:latin typeface="Arial"/>
              </a:rPr>
              <a:t>Переехал порядок работ, и на масштабе модели бизнеса. Дало</a:t>
            </a:r>
            <a:r>
              <a:rPr sz="1500" b="0" i="0">
                <a:solidFill>
                  <a:srgbClr val="21295C"/>
                </a:solidFill>
                <a:latin typeface="Arial"/>
              </a:rPr>
              <a:t> программу до второй фазы · </a:t>
            </a:r>
            <a:r>
              <a:rPr sz="1500" b="1" i="0">
                <a:solidFill>
                  <a:srgbClr val="21295C"/>
                </a:solidFill>
                <a:latin typeface="Arial"/>
              </a:rPr>
              <a:t>потребовало</a:t>
            </a:r>
            <a:r>
              <a:rPr sz="1500" b="0" i="0">
                <a:solidFill>
                  <a:srgbClr val="21295C"/>
                </a:solidFill>
                <a:latin typeface="Arial"/>
              </a:rPr>
              <a:t> успеха там, где отрасль даёт меньше трети · </a:t>
            </a:r>
            <a:r>
              <a:rPr sz="1500" b="1" i="0">
                <a:solidFill>
                  <a:srgbClr val="21295C"/>
                </a:solidFill>
                <a:latin typeface="Arial"/>
              </a:rPr>
              <a:t>в сумме</a:t>
            </a:r>
            <a:r>
              <a:rPr sz="1500" b="0" i="0">
                <a:solidFill>
                  <a:srgbClr val="21295C"/>
                </a:solidFill>
                <a:latin typeface="Arial"/>
              </a:rPr>
              <a:t> две волны сокращений.</a:t>
            </a:r>
          </a:p>
        </p:txBody>
      </p:sp>
      <p:sp>
        <p:nvSpPr>
          <p:cNvPr id="21" name="Rounded Rectangle 20"/>
          <p:cNvSpPr/>
          <p:nvPr/>
        </p:nvSpPr>
        <p:spPr>
          <a:xfrm>
            <a:off x="8579815" y="1335024"/>
            <a:ext cx="3108960" cy="2336631"/>
          </a:xfrm>
          <a:prstGeom prst="roundRect">
            <a:avLst>
              <a:gd name="adj" fmla="val 13044"/>
            </a:avLst>
          </a:prstGeom>
          <a:solidFill>
            <a:srgbClr val="F4F7FA"/>
          </a:solidFill>
          <a:ln w="19050">
            <a:solidFill>
              <a:srgbClr val="1C7293"/>
            </a:solidFill>
          </a:ln>
          <a:effectLst/>
        </p:spPr>
        <p:txBody>
          <a:bodyPr rtlCol="0" anchor="ctr"/>
          <a:lstStyle/>
          <a:p>
            <a:pPr algn="ctr"/>
          </a:p>
        </p:txBody>
      </p:sp>
      <p:pic>
        <p:nvPicPr>
          <p:cNvPr id="22" name="Picture 21" descr="s75-dobrovolec-i-koordinator.jpg"/>
          <p:cNvPicPr>
            <a:picLocks noChangeAspect="1"/>
          </p:cNvPicPr>
          <p:nvPr/>
        </p:nvPicPr>
        <p:blipFill>
          <a:blip r:embed="rId2"/>
          <a:stretch>
            <a:fillRect/>
          </a:stretch>
        </p:blipFill>
        <p:spPr>
          <a:xfrm>
            <a:off x="8716975" y="1472184"/>
            <a:ext cx="2834639" cy="2062311"/>
          </a:xfrm>
          <a:prstGeom prst="rect">
            <a:avLst/>
          </a:prstGeom>
        </p:spPr>
      </p:pic>
      <p:sp>
        <p:nvSpPr>
          <p:cNvPr id="23" name="Rectangle 22"/>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24" name="TextBox 23"/>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Сообщение компании о фазе IIa, 2023</a:t>
            </a:r>
            <a:r>
              <a:rPr sz="1200" b="0" i="1">
                <a:solidFill>
                  <a:srgbClr val="1C7293"/>
                </a:solidFill>
                <a:latin typeface="Arial"/>
              </a:rPr>
              <a:t> · </a:t>
            </a:r>
            <a:r>
              <a:rPr sz="1200" b="0" i="1">
                <a:solidFill>
                  <a:srgbClr val="1C7293"/>
                </a:solidFill>
                <a:latin typeface="Arial"/>
              </a:rPr>
              <a:t>отраслевая журналистика, 2023–2024</a:t>
            </a:r>
            <a:r>
              <a:rPr sz="1200" b="0" i="1">
                <a:solidFill>
                  <a:srgbClr val="1C7293"/>
                </a:solidFill>
                <a:latin typeface="Arial"/>
              </a:rPr>
              <a:t> · </a:t>
            </a:r>
            <a:r>
              <a:rPr sz="1200" b="0" i="1" u="sng">
                <a:solidFill>
                  <a:srgbClr val="065A82"/>
                </a:solidFill>
                <a:latin typeface="Arial"/>
                <a:hlinkClick r:id="rId3"/>
              </a:rPr>
              <a:t>BIO, QLS и Informa, Clinical Development Success Rates 2011–2020</a:t>
            </a:r>
          </a:p>
        </p:txBody>
      </p: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Разработка лекарства: начало подешевело, одобрений ноль</a:t>
            </a:r>
          </a:p>
        </p:txBody>
      </p:sp>
      <p:sp>
        <p:nvSpPr>
          <p:cNvPr id="4" name="Rounded Rectangle 3"/>
          <p:cNvSpPr/>
          <p:nvPr/>
        </p:nvSpPr>
        <p:spPr>
          <a:xfrm>
            <a:off x="374904" y="1243584"/>
            <a:ext cx="11441887" cy="2531547"/>
          </a:xfrm>
          <a:prstGeom prst="roundRect">
            <a:avLst>
              <a:gd name="adj" fmla="val 12040"/>
            </a:avLst>
          </a:prstGeom>
          <a:solidFill>
            <a:srgbClr val="F4F7FA"/>
          </a:solidFill>
          <a:ln w="19050">
            <a:solidFill>
              <a:srgbClr val="1C7293"/>
            </a:solidFill>
          </a:ln>
          <a:effectLst/>
        </p:spPr>
        <p:txBody>
          <a:bodyPr rtlCol="0" anchor="ctr"/>
          <a:lstStyle/>
          <a:p>
            <a:pPr algn="ctr"/>
          </a:p>
        </p:txBody>
      </p:sp>
      <p:sp>
        <p:nvSpPr>
          <p:cNvPr id="5" name="TextBox 4"/>
          <p:cNvSpPr txBox="1"/>
          <p:nvPr/>
        </p:nvSpPr>
        <p:spPr>
          <a:xfrm>
            <a:off x="539496" y="1335024"/>
            <a:ext cx="5373471" cy="4901184"/>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Получается:</a:t>
            </a:r>
            <a:r>
              <a:rPr sz="1500" b="0" i="0">
                <a:solidFill>
                  <a:srgbClr val="21295C"/>
                </a:solidFill>
                <a:latin typeface="Arial"/>
              </a:rPr>
              <a:t> срезать физический перебор расчётом; первая фаза чаще базы — </a:t>
            </a:r>
            <a:r>
              <a:rPr sz="1500" b="1" i="0">
                <a:solidFill>
                  <a:srgbClr val="21295C"/>
                </a:solidFill>
                <a:latin typeface="Arial"/>
              </a:rPr>
              <a:t>80–90 из ста</a:t>
            </a:r>
            <a:r>
              <a:rPr sz="1500" b="0" i="0">
                <a:solidFill>
                  <a:srgbClr val="21295C"/>
                </a:solidFill>
                <a:latin typeface="Arial"/>
              </a:rPr>
              <a:t> против </a:t>
            </a:r>
            <a:r>
              <a:rPr sz="1500" b="1" i="0">
                <a:solidFill>
                  <a:srgbClr val="21295C"/>
                </a:solidFill>
                <a:latin typeface="Arial"/>
              </a:rPr>
              <a:t>52,0</a:t>
            </a:r>
            <a:r>
              <a:rPr sz="1500" b="0" i="0">
                <a:solidFill>
                  <a:srgbClr val="21295C"/>
                </a:solidFill>
                <a:latin typeface="Arial"/>
              </a:rPr>
              <a:t>.</a:t>
            </a:r>
          </a:p>
          <a:p>
            <a:pPr algn="l">
              <a:lnSpc>
                <a:spcPct val="126000"/>
              </a:lnSpc>
              <a:spcBef>
                <a:spcPts val="700"/>
              </a:spcBef>
            </a:pPr>
            <a:r>
              <a:rPr sz="1500" b="0" i="0">
                <a:solidFill>
                  <a:srgbClr val="21295C"/>
                </a:solidFill>
                <a:latin typeface="Arial"/>
              </a:rPr>
              <a:t/>
            </a:r>
            <a:r>
              <a:rPr sz="1500" b="1" i="0">
                <a:solidFill>
                  <a:srgbClr val="21295C"/>
                </a:solidFill>
                <a:latin typeface="Arial"/>
              </a:rPr>
              <a:t>Не получается:</a:t>
            </a:r>
            <a:r>
              <a:rPr sz="1500" b="0" i="0">
                <a:solidFill>
                  <a:srgbClr val="21295C"/>
                </a:solidFill>
                <a:latin typeface="Arial"/>
              </a:rPr>
              <a:t> вторая фаза — около </a:t>
            </a:r>
            <a:r>
              <a:rPr sz="1500" b="1" i="0">
                <a:solidFill>
                  <a:srgbClr val="21295C"/>
                </a:solidFill>
                <a:latin typeface="Arial"/>
              </a:rPr>
              <a:t>40</a:t>
            </a:r>
            <a:r>
              <a:rPr sz="1500" b="0" i="0">
                <a:solidFill>
                  <a:srgbClr val="21295C"/>
                </a:solidFill>
                <a:latin typeface="Arial"/>
              </a:rPr>
              <a:t> против базы </a:t>
            </a:r>
            <a:r>
              <a:rPr sz="1500" b="1" i="0">
                <a:solidFill>
                  <a:srgbClr val="21295C"/>
                </a:solidFill>
                <a:latin typeface="Arial"/>
              </a:rPr>
              <a:t>28,9</a:t>
            </a:r>
            <a:r>
              <a:rPr sz="1500" b="0" i="0">
                <a:solidFill>
                  <a:srgbClr val="21295C"/>
                </a:solidFill>
                <a:latin typeface="Arial"/>
              </a:rPr>
              <a:t>; одобрений за десять лет категории </a:t>
            </a:r>
            <a:r>
              <a:rPr sz="1500" b="1" i="0">
                <a:solidFill>
                  <a:srgbClr val="21295C"/>
                </a:solidFill>
                <a:latin typeface="Arial"/>
              </a:rPr>
              <a:t>0</a:t>
            </a:r>
            <a:r>
              <a:rPr sz="1500" b="0" i="0">
                <a:solidFill>
                  <a:srgbClr val="21295C"/>
                </a:solidFill>
                <a:latin typeface="Arial"/>
              </a:rPr>
              <a:t> при 75 и 117 активах; четыре работы на людях — задачи для модели там нет.</a:t>
            </a:r>
          </a:p>
        </p:txBody>
      </p:sp>
      <p:sp>
        <p:nvSpPr>
          <p:cNvPr id="6" name="TextBox 5"/>
          <p:cNvSpPr txBox="1"/>
          <p:nvPr/>
        </p:nvSpPr>
        <p:spPr>
          <a:xfrm>
            <a:off x="6278727" y="1335024"/>
            <a:ext cx="5373471" cy="4901184"/>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Стало с работой:</a:t>
            </a:r>
            <a:r>
              <a:rPr sz="1500" b="0" i="0">
                <a:solidFill>
                  <a:srgbClr val="21295C"/>
                </a:solidFill>
                <a:latin typeface="Arial"/>
              </a:rPr>
              <a:t> нагрузка переехала, объём на том же месте упал, порядок работ изменился у бизнеса.</a:t>
            </a:r>
          </a:p>
          <a:p>
            <a:pPr algn="l">
              <a:lnSpc>
                <a:spcPct val="126000"/>
              </a:lnSpc>
              <a:spcBef>
                <a:spcPts val="700"/>
              </a:spcBef>
            </a:pPr>
            <a:r>
              <a:rPr sz="1500" b="0" i="0">
                <a:solidFill>
                  <a:srgbClr val="21295C"/>
                </a:solidFill>
                <a:latin typeface="Arial"/>
              </a:rPr>
              <a:t/>
            </a:r>
            <a:r>
              <a:rPr sz="1500" b="1" i="0">
                <a:solidFill>
                  <a:srgbClr val="21295C"/>
                </a:solidFill>
                <a:latin typeface="Arial"/>
              </a:rPr>
              <a:t>Держат это</a:t>
            </a:r>
            <a:r>
              <a:rPr sz="1500" b="0" i="0">
                <a:solidFill>
                  <a:srgbClr val="21295C"/>
                </a:solidFill>
                <a:latin typeface="Arial"/>
              </a:rPr>
              <a:t> физиология и протокол: доклиника и три фазы. </a:t>
            </a:r>
            <a:r>
              <a:rPr sz="1500" b="1" i="0">
                <a:solidFill>
                  <a:srgbClr val="21295C"/>
                </a:solidFill>
                <a:latin typeface="Arial"/>
              </a:rPr>
              <a:t>«Шаг исчез» не подтверждается</a:t>
            </a:r>
            <a:r>
              <a:rPr sz="1500" b="0" i="0">
                <a:solidFill>
                  <a:srgbClr val="21295C"/>
                </a:solidFill>
                <a:latin typeface="Arial"/>
              </a:rPr>
              <a:t> — депозиты держат </a:t>
            </a:r>
            <a:r>
              <a:rPr sz="1500" b="1" i="0">
                <a:solidFill>
                  <a:srgbClr val="21295C"/>
                </a:solidFill>
                <a:latin typeface="Arial"/>
              </a:rPr>
              <a:t>9–10 тысяч в год</a:t>
            </a:r>
            <a:r>
              <a:rPr sz="1500" b="0" i="0">
                <a:solidFill>
                  <a:srgbClr val="21295C"/>
                </a:solidFill>
                <a:latin typeface="Arial"/>
              </a:rPr>
              <a:t> с 2015 года.</a:t>
            </a:r>
          </a:p>
          <a:p>
            <a:pPr algn="l">
              <a:lnSpc>
                <a:spcPct val="126000"/>
              </a:lnSpc>
              <a:spcBef>
                <a:spcPts val="700"/>
              </a:spcBef>
            </a:pPr>
            <a:r>
              <a:rPr sz="1500" b="0" i="0">
                <a:solidFill>
                  <a:srgbClr val="21295C"/>
                </a:solidFill>
                <a:latin typeface="Arial"/>
              </a:rPr>
              <a:t/>
            </a:r>
            <a:r>
              <a:rPr sz="1500" b="1" i="0">
                <a:solidFill>
                  <a:srgbClr val="21295C"/>
                </a:solidFill>
                <a:latin typeface="Arial"/>
              </a:rPr>
              <a:t>У кого на работе есть шаг, который подешевел в разы, — и стало ли от этого быстрее всё остальное?</a:t>
            </a:r>
          </a:p>
        </p:txBody>
      </p:sp>
      <p:sp>
        <p:nvSpPr>
          <p:cNvPr id="7" name="Rectangle 6"/>
          <p:cNvSpPr/>
          <p:nvPr/>
        </p:nvSpPr>
        <p:spPr>
          <a:xfrm>
            <a:off x="6091275" y="1335024"/>
            <a:ext cx="9144" cy="2257227"/>
          </a:xfrm>
          <a:prstGeom prst="rect">
            <a:avLst/>
          </a:prstGeom>
          <a:solidFill>
            <a:srgbClr val="D9E2EC"/>
          </a:solidFill>
          <a:ln>
            <a:noFill/>
          </a:ln>
          <a:effectLst/>
        </p:spPr>
        <p:txBody>
          <a:bodyPr rtlCol="0" anchor="ctr"/>
          <a:lstStyle/>
          <a:p>
            <a:pPr algn="ctr"/>
          </a:p>
        </p:txBody>
      </p:sp>
      <p:sp>
        <p:nvSpPr>
          <p:cNvPr id="8" name="Rectangle 7"/>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9" name="TextBox 8"/>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Haque и соавт., J Clin Oncol 2026</a:t>
            </a:r>
            <a:r>
              <a:rPr sz="1200" b="0" i="1">
                <a:solidFill>
                  <a:srgbClr val="1C7293"/>
                </a:solidFill>
                <a:latin typeface="Arial"/>
              </a:rPr>
              <a:t> · </a:t>
            </a:r>
            <a:r>
              <a:rPr sz="1200" b="0" i="1" u="sng">
                <a:solidFill>
                  <a:srgbClr val="065A82"/>
                </a:solidFill>
                <a:latin typeface="Arial"/>
                <a:hlinkClick r:id="rId3"/>
              </a:rPr>
              <a:t>Jayatunga и соавт., Drug Discovery Today 2024</a:t>
            </a:r>
            <a:r>
              <a:rPr sz="1200" b="0" i="1">
                <a:solidFill>
                  <a:srgbClr val="1C7293"/>
                </a:solidFill>
                <a:latin typeface="Arial"/>
              </a:rPr>
              <a:t> · </a:t>
            </a:r>
            <a:r>
              <a:rPr sz="1200" b="0" i="1" u="sng">
                <a:solidFill>
                  <a:srgbClr val="065A82"/>
                </a:solidFill>
                <a:latin typeface="Arial"/>
                <a:hlinkClick r:id="rId4"/>
              </a:rPr>
              <a:t>BIO, QLS и Informa, Clinical Development Success Rates 2011–2020</a:t>
            </a:r>
          </a:p>
        </p:txBody>
      </p:sp>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Rectangle 2"/>
          <p:cNvSpPr/>
          <p:nvPr/>
        </p:nvSpPr>
        <p:spPr>
          <a:xfrm>
            <a:off x="0" y="0"/>
            <a:ext cx="155448" cy="6858000"/>
          </a:xfrm>
          <a:prstGeom prst="rect">
            <a:avLst/>
          </a:prstGeom>
          <a:solidFill>
            <a:srgbClr val="065A82"/>
          </a:solidFill>
          <a:ln>
            <a:noFill/>
          </a:ln>
          <a:effectLst/>
        </p:spPr>
        <p:txBody>
          <a:bodyPr rtlCol="0" anchor="ctr"/>
          <a:lstStyle/>
          <a:p>
            <a:pPr algn="ctr"/>
          </a:p>
        </p:txBody>
      </p:sp>
      <p:sp>
        <p:nvSpPr>
          <p:cNvPr id="4" name="TextBox 3"/>
          <p:cNvSpPr txBox="1"/>
          <p:nvPr/>
        </p:nvSpPr>
        <p:spPr>
          <a:xfrm>
            <a:off x="704088" y="960120"/>
            <a:ext cx="11185855" cy="518678"/>
          </a:xfrm>
          <a:prstGeom prst="rect">
            <a:avLst/>
          </a:prstGeom>
          <a:noFill/>
        </p:spPr>
        <p:txBody>
          <a:bodyPr wrap="square" lIns="0" rIns="0" tIns="0" bIns="0" anchor="t">
            <a:spAutoFit/>
          </a:bodyPr>
          <a:lstStyle/>
          <a:p>
            <a:pPr algn="l">
              <a:lnSpc>
                <a:spcPct val="110000"/>
              </a:lnSpc>
            </a:pPr>
            <a:r>
              <a:rPr sz="3000" b="1" i="0">
                <a:solidFill>
                  <a:srgbClr val="21295C"/>
                </a:solidFill>
                <a:latin typeface="Arial"/>
              </a:rPr>
              <a:t>9. Сборка</a:t>
            </a:r>
          </a:p>
        </p:txBody>
      </p:sp>
      <p:sp>
        <p:nvSpPr>
          <p:cNvPr id="5" name="Rectangle 4"/>
          <p:cNvSpPr/>
          <p:nvPr/>
        </p:nvSpPr>
        <p:spPr>
          <a:xfrm>
            <a:off x="704088" y="1570238"/>
            <a:ext cx="1188720" cy="59436"/>
          </a:xfrm>
          <a:prstGeom prst="rect">
            <a:avLst/>
          </a:prstGeom>
          <a:solidFill>
            <a:srgbClr val="F0AB00"/>
          </a:solidFill>
          <a:ln>
            <a:noFill/>
          </a:ln>
          <a:effectLst/>
        </p:spPr>
        <p:txBody>
          <a:bodyPr rtlCol="0" anchor="ctr"/>
          <a:lstStyle/>
          <a:p>
            <a:pPr algn="ctr"/>
          </a:p>
        </p:txBody>
      </p:sp>
      <p:sp>
        <p:nvSpPr>
          <p:cNvPr id="6" name="TextBox 5"/>
          <p:cNvSpPr txBox="1"/>
          <p:nvPr/>
        </p:nvSpPr>
        <p:spPr>
          <a:xfrm>
            <a:off x="704088" y="1844558"/>
            <a:ext cx="10984687" cy="338666"/>
          </a:xfrm>
          <a:prstGeom prst="rect">
            <a:avLst/>
          </a:prstGeom>
          <a:noFill/>
        </p:spPr>
        <p:txBody>
          <a:bodyPr wrap="square" lIns="0" rIns="0" tIns="0" bIns="0" anchor="t">
            <a:spAutoFit/>
          </a:bodyPr>
          <a:lstStyle/>
          <a:p>
            <a:pPr algn="l">
              <a:lnSpc>
                <a:spcPct val="124000"/>
              </a:lnSpc>
            </a:pPr>
            <a:r>
              <a:rPr sz="1550" b="0" i="0">
                <a:solidFill>
                  <a:srgbClr val="21295C"/>
                </a:solidFill>
                <a:latin typeface="Arial"/>
              </a:rPr>
              <a:t>Лекция разбирала случаи по одному. Здесь они складываются в счёт: каждый итог отвечает на свой вопрос.</a:t>
            </a:r>
          </a:p>
        </p:txBody>
      </p:sp>
      <p:sp>
        <p:nvSpPr>
          <p:cNvPr id="7" name="TextBox 6"/>
          <p:cNvSpPr txBox="1"/>
          <p:nvPr/>
        </p:nvSpPr>
        <p:spPr>
          <a:xfrm>
            <a:off x="704088" y="2311240"/>
            <a:ext cx="10984687" cy="942848"/>
          </a:xfrm>
          <a:prstGeom prst="rect">
            <a:avLst/>
          </a:prstGeom>
          <a:noFill/>
        </p:spPr>
        <p:txBody>
          <a:bodyPr wrap="square" lIns="0" rIns="0" tIns="0" bIns="0" anchor="t">
            <a:spAutoFit/>
          </a:bodyPr>
          <a:lstStyle/>
          <a:p>
            <a:pPr algn="l">
              <a:lnSpc>
                <a:spcPct val="124000"/>
              </a:lnSpc>
            </a:pPr>
            <a:r>
              <a:rPr sz="1550" b="0" i="0">
                <a:solidFill>
                  <a:srgbClr val="21295C"/>
                </a:solidFill>
                <a:latin typeface="Arial"/>
              </a:rPr>
              <a:t>1. </a:t>
            </a:r>
            <a:r>
              <a:rPr sz="1550" b="1" i="0">
                <a:solidFill>
                  <a:srgbClr val="21295C"/>
                </a:solidFill>
                <a:latin typeface="Arial"/>
              </a:rPr>
              <a:t>Девять форм целиком</a:t>
            </a:r>
            <a:r>
              <a:rPr sz="1550" b="0" i="0">
                <a:solidFill>
                  <a:srgbClr val="21295C"/>
                </a:solidFill>
                <a:latin typeface="Arial"/>
              </a:rPr>
              <a:t> — что сделалось с работой 2. </a:t>
            </a:r>
            <a:r>
              <a:rPr sz="1550" b="1" i="0">
                <a:solidFill>
                  <a:srgbClr val="21295C"/>
                </a:solidFill>
                <a:latin typeface="Arial"/>
              </a:rPr>
              <a:t>Выигрыш приписан не тому</a:t>
            </a:r>
            <a:r>
              <a:rPr sz="1550" b="0" i="0">
                <a:solidFill>
                  <a:srgbClr val="21295C"/>
                </a:solidFill>
                <a:latin typeface="Arial"/>
              </a:rPr>
              <a:t> — чей это результат 3. </a:t>
            </a:r>
            <a:r>
              <a:rPr sz="1550" b="1" i="0">
                <a:solidFill>
                  <a:srgbClr val="21295C"/>
                </a:solidFill>
                <a:latin typeface="Arial"/>
              </a:rPr>
              <a:t>Итог карты</a:t>
            </a:r>
            <a:r>
              <a:rPr sz="1550" b="0" i="0">
                <a:solidFill>
                  <a:srgbClr val="21295C"/>
                </a:solidFill>
                <a:latin typeface="Arial"/>
              </a:rPr>
              <a:t> — где это на сетке курса и чем там держат цену ошибки 4. </a:t>
            </a:r>
            <a:r>
              <a:rPr sz="1550" b="1" i="0">
                <a:solidFill>
                  <a:srgbClr val="21295C"/>
                </a:solidFill>
                <a:latin typeface="Arial"/>
              </a:rPr>
              <a:t>Чем заплатили</a:t>
            </a:r>
            <a:r>
              <a:rPr sz="1550" b="0" i="0">
                <a:solidFill>
                  <a:srgbClr val="21295C"/>
                </a:solidFill>
                <a:latin typeface="Arial"/>
              </a:rPr>
              <a:t> — внимание, навык, подпись и арбитраж поимённо 5. </a:t>
            </a:r>
            <a:r>
              <a:rPr sz="1550" b="1" i="0">
                <a:solidFill>
                  <a:srgbClr val="21295C"/>
                </a:solidFill>
                <a:latin typeface="Arial"/>
              </a:rPr>
              <a:t>Четыре разных ответа на один вопрос</a:t>
            </a:r>
            <a:r>
              <a:rPr sz="1550" b="0" i="0">
                <a:solidFill>
                  <a:srgbClr val="21295C"/>
                </a:solidFill>
                <a:latin typeface="Arial"/>
              </a:rPr>
              <a:t> — что теперь делает человек</a:t>
            </a:r>
          </a:p>
        </p:txBody>
      </p:sp>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Девять форм целиком: что сделалось с работой</a:t>
            </a:r>
          </a:p>
        </p:txBody>
      </p:sp>
      <p:sp>
        <p:nvSpPr>
          <p:cNvPr id="4" name="Rounded Rectangle 3"/>
          <p:cNvSpPr/>
          <p:nvPr/>
        </p:nvSpPr>
        <p:spPr>
          <a:xfrm>
            <a:off x="374904" y="1243584"/>
            <a:ext cx="11441887" cy="4992624"/>
          </a:xfrm>
          <a:prstGeom prst="roundRect">
            <a:avLst>
              <a:gd name="adj" fmla="val 6105"/>
            </a:avLst>
          </a:prstGeom>
          <a:solidFill>
            <a:srgbClr val="F4F7FA"/>
          </a:solidFill>
          <a:ln w="19050">
            <a:solidFill>
              <a:srgbClr val="1C7293"/>
            </a:solidFill>
          </a:ln>
          <a:effectLst/>
        </p:spPr>
        <p:txBody>
          <a:bodyPr rtlCol="0" anchor="ctr"/>
          <a:lstStyle/>
          <a:p>
            <a:pPr algn="ctr"/>
          </a:p>
        </p:txBody>
      </p:sp>
      <p:sp>
        <p:nvSpPr>
          <p:cNvPr id="5" name="Rectangle 4"/>
          <p:cNvSpPr/>
          <p:nvPr/>
        </p:nvSpPr>
        <p:spPr>
          <a:xfrm>
            <a:off x="539496" y="1335024"/>
            <a:ext cx="664242" cy="401612"/>
          </a:xfrm>
          <a:prstGeom prst="rect">
            <a:avLst/>
          </a:prstGeom>
          <a:solidFill>
            <a:srgbClr val="065A82"/>
          </a:solidFill>
          <a:ln>
            <a:noFill/>
          </a:ln>
          <a:effectLst/>
        </p:spPr>
        <p:txBody>
          <a:bodyPr rtlCol="0" anchor="ctr"/>
          <a:lstStyle/>
          <a:p>
            <a:pPr algn="ctr"/>
          </a:p>
        </p:txBody>
      </p:sp>
      <p:sp>
        <p:nvSpPr>
          <p:cNvPr id="6" name="TextBox 5"/>
          <p:cNvSpPr txBox="1"/>
          <p:nvPr/>
        </p:nvSpPr>
        <p:spPr>
          <a:xfrm>
            <a:off x="685800" y="1335024"/>
            <a:ext cx="371634" cy="401612"/>
          </a:xfrm>
          <a:prstGeom prst="rect">
            <a:avLst/>
          </a:prstGeom>
          <a:noFill/>
        </p:spPr>
        <p:txBody>
          <a:bodyPr wrap="square" lIns="0" rIns="0" tIns="0" bIns="0" anchor="ctr">
            <a:spAutoFit/>
          </a:bodyPr>
          <a:lstStyle/>
          <a:p>
            <a:pPr algn="l">
              <a:lnSpc>
                <a:spcPct val="116000"/>
              </a:lnSpc>
            </a:pPr>
            <a:r>
              <a:rPr sz="1300" b="1" i="0">
                <a:solidFill>
                  <a:srgbClr val="FFFFFF"/>
                </a:solidFill>
                <a:latin typeface="Arial"/>
              </a:rPr>
              <a:t/>
            </a:r>
          </a:p>
        </p:txBody>
      </p:sp>
      <p:sp>
        <p:nvSpPr>
          <p:cNvPr id="7" name="Rectangle 6"/>
          <p:cNvSpPr/>
          <p:nvPr/>
        </p:nvSpPr>
        <p:spPr>
          <a:xfrm>
            <a:off x="1203738" y="1335024"/>
            <a:ext cx="3766078" cy="401612"/>
          </a:xfrm>
          <a:prstGeom prst="rect">
            <a:avLst/>
          </a:prstGeom>
          <a:solidFill>
            <a:srgbClr val="065A82"/>
          </a:solidFill>
          <a:ln>
            <a:noFill/>
          </a:ln>
          <a:effectLst/>
        </p:spPr>
        <p:txBody>
          <a:bodyPr rtlCol="0" anchor="ctr"/>
          <a:lstStyle/>
          <a:p>
            <a:pPr algn="ctr"/>
          </a:p>
        </p:txBody>
      </p:sp>
      <p:sp>
        <p:nvSpPr>
          <p:cNvPr id="8" name="TextBox 7"/>
          <p:cNvSpPr txBox="1"/>
          <p:nvPr/>
        </p:nvSpPr>
        <p:spPr>
          <a:xfrm>
            <a:off x="1350042" y="1335024"/>
            <a:ext cx="3473470" cy="401612"/>
          </a:xfrm>
          <a:prstGeom prst="rect">
            <a:avLst/>
          </a:prstGeom>
          <a:noFill/>
        </p:spPr>
        <p:txBody>
          <a:bodyPr wrap="square" lIns="0" rIns="0" tIns="0" bIns="0" anchor="ctr">
            <a:spAutoFit/>
          </a:bodyPr>
          <a:lstStyle/>
          <a:p>
            <a:pPr algn="l">
              <a:lnSpc>
                <a:spcPct val="116000"/>
              </a:lnSpc>
            </a:pPr>
            <a:r>
              <a:rPr sz="1300" b="1" i="0">
                <a:solidFill>
                  <a:srgbClr val="FFFFFF"/>
                </a:solidFill>
                <a:latin typeface="Arial"/>
              </a:rPr>
              <a:t>форма</a:t>
            </a:r>
          </a:p>
        </p:txBody>
      </p:sp>
      <p:sp>
        <p:nvSpPr>
          <p:cNvPr id="9" name="Rectangle 8"/>
          <p:cNvSpPr/>
          <p:nvPr/>
        </p:nvSpPr>
        <p:spPr>
          <a:xfrm>
            <a:off x="4969816" y="1335024"/>
            <a:ext cx="1653997" cy="401612"/>
          </a:xfrm>
          <a:prstGeom prst="rect">
            <a:avLst/>
          </a:prstGeom>
          <a:solidFill>
            <a:srgbClr val="065A82"/>
          </a:solidFill>
          <a:ln>
            <a:noFill/>
          </a:ln>
          <a:effectLst/>
        </p:spPr>
        <p:txBody>
          <a:bodyPr rtlCol="0" anchor="ctr"/>
          <a:lstStyle/>
          <a:p>
            <a:pPr algn="ctr"/>
          </a:p>
        </p:txBody>
      </p:sp>
      <p:sp>
        <p:nvSpPr>
          <p:cNvPr id="10" name="TextBox 9"/>
          <p:cNvSpPr txBox="1"/>
          <p:nvPr/>
        </p:nvSpPr>
        <p:spPr>
          <a:xfrm>
            <a:off x="5116120" y="1335024"/>
            <a:ext cx="1361389" cy="401612"/>
          </a:xfrm>
          <a:prstGeom prst="rect">
            <a:avLst/>
          </a:prstGeom>
          <a:noFill/>
        </p:spPr>
        <p:txBody>
          <a:bodyPr wrap="square" lIns="0" rIns="0" tIns="0" bIns="0" anchor="ctr">
            <a:spAutoFit/>
          </a:bodyPr>
          <a:lstStyle/>
          <a:p>
            <a:pPr algn="l">
              <a:lnSpc>
                <a:spcPct val="116000"/>
              </a:lnSpc>
            </a:pPr>
            <a:r>
              <a:rPr sz="1300" b="1" i="0">
                <a:solidFill>
                  <a:srgbClr val="FFFFFF"/>
                </a:solidFill>
                <a:latin typeface="Arial"/>
              </a:rPr>
              <a:t>мерит</a:t>
            </a:r>
          </a:p>
        </p:txBody>
      </p:sp>
      <p:sp>
        <p:nvSpPr>
          <p:cNvPr id="11" name="Rectangle 10"/>
          <p:cNvSpPr/>
          <p:nvPr/>
        </p:nvSpPr>
        <p:spPr>
          <a:xfrm>
            <a:off x="6623814" y="1335024"/>
            <a:ext cx="5028384" cy="401612"/>
          </a:xfrm>
          <a:prstGeom prst="rect">
            <a:avLst/>
          </a:prstGeom>
          <a:solidFill>
            <a:srgbClr val="065A82"/>
          </a:solidFill>
          <a:ln>
            <a:noFill/>
          </a:ln>
          <a:effectLst/>
        </p:spPr>
        <p:txBody>
          <a:bodyPr rtlCol="0" anchor="ctr"/>
          <a:lstStyle/>
          <a:p>
            <a:pPr algn="ctr"/>
          </a:p>
        </p:txBody>
      </p:sp>
      <p:sp>
        <p:nvSpPr>
          <p:cNvPr id="12" name="TextBox 11"/>
          <p:cNvSpPr txBox="1"/>
          <p:nvPr/>
        </p:nvSpPr>
        <p:spPr>
          <a:xfrm>
            <a:off x="6770118" y="1335024"/>
            <a:ext cx="4735776" cy="401612"/>
          </a:xfrm>
          <a:prstGeom prst="rect">
            <a:avLst/>
          </a:prstGeom>
          <a:noFill/>
        </p:spPr>
        <p:txBody>
          <a:bodyPr wrap="square" lIns="0" rIns="0" tIns="0" bIns="0" anchor="ctr">
            <a:spAutoFit/>
          </a:bodyPr>
          <a:lstStyle/>
          <a:p>
            <a:pPr algn="l">
              <a:lnSpc>
                <a:spcPct val="116000"/>
              </a:lnSpc>
            </a:pPr>
            <a:r>
              <a:rPr sz="1300" b="1" i="0">
                <a:solidFill>
                  <a:srgbClr val="FFFFFF"/>
                </a:solidFill>
                <a:latin typeface="Arial"/>
              </a:rPr>
              <a:t>счёт за лекцию</a:t>
            </a:r>
          </a:p>
        </p:txBody>
      </p:sp>
      <p:sp>
        <p:nvSpPr>
          <p:cNvPr id="13" name="Rectangle 12"/>
          <p:cNvSpPr/>
          <p:nvPr/>
        </p:nvSpPr>
        <p:spPr>
          <a:xfrm>
            <a:off x="539496" y="1736636"/>
            <a:ext cx="664242" cy="401612"/>
          </a:xfrm>
          <a:prstGeom prst="rect">
            <a:avLst/>
          </a:prstGeom>
          <a:solidFill>
            <a:srgbClr val="FFFFFF"/>
          </a:solidFill>
          <a:ln w="12700">
            <a:solidFill>
              <a:srgbClr val="D9E2EC"/>
            </a:solidFill>
          </a:ln>
          <a:effectLst/>
        </p:spPr>
        <p:txBody>
          <a:bodyPr rtlCol="0" anchor="ctr"/>
          <a:lstStyle/>
          <a:p>
            <a:pPr algn="ctr"/>
          </a:p>
        </p:txBody>
      </p:sp>
      <p:sp>
        <p:nvSpPr>
          <p:cNvPr id="14" name="TextBox 13"/>
          <p:cNvSpPr txBox="1"/>
          <p:nvPr/>
        </p:nvSpPr>
        <p:spPr>
          <a:xfrm>
            <a:off x="685800" y="1736636"/>
            <a:ext cx="371634" cy="401612"/>
          </a:xfrm>
          <a:prstGeom prst="rect">
            <a:avLst/>
          </a:prstGeom>
          <a:noFill/>
        </p:spPr>
        <p:txBody>
          <a:bodyPr wrap="square" lIns="0" rIns="0" tIns="0" bIns="0" anchor="ctr">
            <a:spAutoFit/>
          </a:bodyPr>
          <a:lstStyle/>
          <a:p>
            <a:pPr algn="l">
              <a:lnSpc>
                <a:spcPct val="116000"/>
              </a:lnSpc>
            </a:pPr>
            <a:r>
              <a:rPr sz="1300" b="1" i="0">
                <a:solidFill>
                  <a:srgbClr val="21295C"/>
                </a:solidFill>
                <a:latin typeface="Arial"/>
              </a:rPr>
              <a:t>1</a:t>
            </a:r>
          </a:p>
        </p:txBody>
      </p:sp>
      <p:sp>
        <p:nvSpPr>
          <p:cNvPr id="15" name="Rectangle 14"/>
          <p:cNvSpPr/>
          <p:nvPr/>
        </p:nvSpPr>
        <p:spPr>
          <a:xfrm>
            <a:off x="1203738" y="1736636"/>
            <a:ext cx="3766078" cy="401612"/>
          </a:xfrm>
          <a:prstGeom prst="rect">
            <a:avLst/>
          </a:prstGeom>
          <a:solidFill>
            <a:srgbClr val="FFFFFF"/>
          </a:solidFill>
          <a:ln w="12700">
            <a:solidFill>
              <a:srgbClr val="D9E2EC"/>
            </a:solidFill>
          </a:ln>
          <a:effectLst/>
        </p:spPr>
        <p:txBody>
          <a:bodyPr rtlCol="0" anchor="ctr"/>
          <a:lstStyle/>
          <a:p>
            <a:pPr algn="ctr"/>
          </a:p>
        </p:txBody>
      </p:sp>
      <p:sp>
        <p:nvSpPr>
          <p:cNvPr id="16" name="TextBox 15"/>
          <p:cNvSpPr txBox="1"/>
          <p:nvPr/>
        </p:nvSpPr>
        <p:spPr>
          <a:xfrm>
            <a:off x="1350042" y="1736636"/>
            <a:ext cx="3473470" cy="401612"/>
          </a:xfrm>
          <a:prstGeom prst="rect">
            <a:avLst/>
          </a:prstGeom>
          <a:noFill/>
        </p:spPr>
        <p:txBody>
          <a:bodyPr wrap="square" lIns="0" rIns="0" tIns="0" bIns="0" anchor="ctr">
            <a:spAutoFit/>
          </a:bodyPr>
          <a:lstStyle/>
          <a:p>
            <a:pPr algn="l">
              <a:lnSpc>
                <a:spcPct val="116000"/>
              </a:lnSpc>
            </a:pPr>
            <a:r>
              <a:rPr sz="1300" b="0" i="0">
                <a:solidFill>
                  <a:srgbClr val="21295C"/>
                </a:solidFill>
                <a:latin typeface="Arial"/>
              </a:rPr>
              <a:t>Нагрузка переехала на другой шаг</a:t>
            </a:r>
          </a:p>
        </p:txBody>
      </p:sp>
      <p:sp>
        <p:nvSpPr>
          <p:cNvPr id="17" name="Rectangle 16"/>
          <p:cNvSpPr/>
          <p:nvPr/>
        </p:nvSpPr>
        <p:spPr>
          <a:xfrm>
            <a:off x="4969816" y="1736636"/>
            <a:ext cx="1653997" cy="401612"/>
          </a:xfrm>
          <a:prstGeom prst="rect">
            <a:avLst/>
          </a:prstGeom>
          <a:solidFill>
            <a:srgbClr val="FFFFFF"/>
          </a:solidFill>
          <a:ln w="12700">
            <a:solidFill>
              <a:srgbClr val="D9E2EC"/>
            </a:solidFill>
          </a:ln>
          <a:effectLst/>
        </p:spPr>
        <p:txBody>
          <a:bodyPr rtlCol="0" anchor="ctr"/>
          <a:lstStyle/>
          <a:p>
            <a:pPr algn="ctr"/>
          </a:p>
        </p:txBody>
      </p:sp>
      <p:sp>
        <p:nvSpPr>
          <p:cNvPr id="18" name="TextBox 17"/>
          <p:cNvSpPr txBox="1"/>
          <p:nvPr/>
        </p:nvSpPr>
        <p:spPr>
          <a:xfrm>
            <a:off x="5116120" y="1736636"/>
            <a:ext cx="1361389" cy="401612"/>
          </a:xfrm>
          <a:prstGeom prst="rect">
            <a:avLst/>
          </a:prstGeom>
          <a:noFill/>
        </p:spPr>
        <p:txBody>
          <a:bodyPr wrap="square" lIns="0" rIns="0" tIns="0" bIns="0" anchor="ctr">
            <a:spAutoFit/>
          </a:bodyPr>
          <a:lstStyle/>
          <a:p>
            <a:pPr algn="l">
              <a:lnSpc>
                <a:spcPct val="116000"/>
              </a:lnSpc>
            </a:pPr>
            <a:r>
              <a:rPr sz="1300" b="0" i="0">
                <a:solidFill>
                  <a:srgbClr val="21295C"/>
                </a:solidFill>
                <a:latin typeface="Arial"/>
              </a:rPr>
              <a:t>место</a:t>
            </a:r>
          </a:p>
        </p:txBody>
      </p:sp>
      <p:sp>
        <p:nvSpPr>
          <p:cNvPr id="19" name="Rectangle 18"/>
          <p:cNvSpPr/>
          <p:nvPr/>
        </p:nvSpPr>
        <p:spPr>
          <a:xfrm>
            <a:off x="6623814" y="1736636"/>
            <a:ext cx="5028384" cy="401612"/>
          </a:xfrm>
          <a:prstGeom prst="rect">
            <a:avLst/>
          </a:prstGeom>
          <a:solidFill>
            <a:srgbClr val="FFFFFF"/>
          </a:solidFill>
          <a:ln w="12700">
            <a:solidFill>
              <a:srgbClr val="D9E2EC"/>
            </a:solidFill>
          </a:ln>
          <a:effectLst/>
        </p:spPr>
        <p:txBody>
          <a:bodyPr rtlCol="0" anchor="ctr"/>
          <a:lstStyle/>
          <a:p>
            <a:pPr algn="ctr"/>
          </a:p>
        </p:txBody>
      </p:sp>
      <p:sp>
        <p:nvSpPr>
          <p:cNvPr id="20" name="TextBox 19"/>
          <p:cNvSpPr txBox="1"/>
          <p:nvPr/>
        </p:nvSpPr>
        <p:spPr>
          <a:xfrm>
            <a:off x="6770118" y="1736636"/>
            <a:ext cx="4735776" cy="401612"/>
          </a:xfrm>
          <a:prstGeom prst="rect">
            <a:avLst/>
          </a:prstGeom>
          <a:noFill/>
        </p:spPr>
        <p:txBody>
          <a:bodyPr wrap="square" lIns="0" rIns="0" tIns="0" bIns="0" anchor="ctr">
            <a:spAutoFit/>
          </a:bodyPr>
          <a:lstStyle/>
          <a:p>
            <a:pPr algn="l">
              <a:lnSpc>
                <a:spcPct val="116000"/>
              </a:lnSpc>
            </a:pPr>
            <a:r>
              <a:rPr sz="1300" b="0" i="0">
                <a:solidFill>
                  <a:srgbClr val="21295C"/>
                </a:solidFill>
                <a:latin typeface="Arial"/>
              </a:rPr>
              <a:t>одобрений регулятора </a:t>
            </a:r>
            <a:r>
              <a:rPr sz="1300" b="1" i="0">
                <a:solidFill>
                  <a:srgbClr val="21295C"/>
                </a:solidFill>
                <a:latin typeface="Arial"/>
              </a:rPr>
              <a:t>ноль</a:t>
            </a:r>
          </a:p>
        </p:txBody>
      </p:sp>
      <p:sp>
        <p:nvSpPr>
          <p:cNvPr id="21" name="Rectangle 20"/>
          <p:cNvSpPr/>
          <p:nvPr/>
        </p:nvSpPr>
        <p:spPr>
          <a:xfrm>
            <a:off x="539496" y="2138248"/>
            <a:ext cx="664242" cy="401612"/>
          </a:xfrm>
          <a:prstGeom prst="rect">
            <a:avLst/>
          </a:prstGeom>
          <a:solidFill>
            <a:srgbClr val="F4F7FA"/>
          </a:solidFill>
          <a:ln w="12700">
            <a:solidFill>
              <a:srgbClr val="D9E2EC"/>
            </a:solidFill>
          </a:ln>
          <a:effectLst/>
        </p:spPr>
        <p:txBody>
          <a:bodyPr rtlCol="0" anchor="ctr"/>
          <a:lstStyle/>
          <a:p>
            <a:pPr algn="ctr"/>
          </a:p>
        </p:txBody>
      </p:sp>
      <p:sp>
        <p:nvSpPr>
          <p:cNvPr id="22" name="TextBox 21"/>
          <p:cNvSpPr txBox="1"/>
          <p:nvPr/>
        </p:nvSpPr>
        <p:spPr>
          <a:xfrm>
            <a:off x="685800" y="2138248"/>
            <a:ext cx="371634" cy="401612"/>
          </a:xfrm>
          <a:prstGeom prst="rect">
            <a:avLst/>
          </a:prstGeom>
          <a:noFill/>
        </p:spPr>
        <p:txBody>
          <a:bodyPr wrap="square" lIns="0" rIns="0" tIns="0" bIns="0" anchor="ctr">
            <a:spAutoFit/>
          </a:bodyPr>
          <a:lstStyle/>
          <a:p>
            <a:pPr algn="l">
              <a:lnSpc>
                <a:spcPct val="116000"/>
              </a:lnSpc>
            </a:pPr>
            <a:r>
              <a:rPr sz="1300" b="1" i="0">
                <a:solidFill>
                  <a:srgbClr val="21295C"/>
                </a:solidFill>
                <a:latin typeface="Arial"/>
              </a:rPr>
              <a:t>2</a:t>
            </a:r>
          </a:p>
        </p:txBody>
      </p:sp>
      <p:sp>
        <p:nvSpPr>
          <p:cNvPr id="23" name="Rectangle 22"/>
          <p:cNvSpPr/>
          <p:nvPr/>
        </p:nvSpPr>
        <p:spPr>
          <a:xfrm>
            <a:off x="1203738" y="2138248"/>
            <a:ext cx="3766078" cy="401612"/>
          </a:xfrm>
          <a:prstGeom prst="rect">
            <a:avLst/>
          </a:prstGeom>
          <a:solidFill>
            <a:srgbClr val="F4F7FA"/>
          </a:solidFill>
          <a:ln w="12700">
            <a:solidFill>
              <a:srgbClr val="D9E2EC"/>
            </a:solidFill>
          </a:ln>
          <a:effectLst/>
        </p:spPr>
        <p:txBody>
          <a:bodyPr rtlCol="0" anchor="ctr"/>
          <a:lstStyle/>
          <a:p>
            <a:pPr algn="ctr"/>
          </a:p>
        </p:txBody>
      </p:sp>
      <p:sp>
        <p:nvSpPr>
          <p:cNvPr id="24" name="TextBox 23"/>
          <p:cNvSpPr txBox="1"/>
          <p:nvPr/>
        </p:nvSpPr>
        <p:spPr>
          <a:xfrm>
            <a:off x="1350042" y="2138248"/>
            <a:ext cx="3473470" cy="401612"/>
          </a:xfrm>
          <a:prstGeom prst="rect">
            <a:avLst/>
          </a:prstGeom>
          <a:noFill/>
        </p:spPr>
        <p:txBody>
          <a:bodyPr wrap="square" lIns="0" rIns="0" tIns="0" bIns="0" anchor="ctr">
            <a:spAutoFit/>
          </a:bodyPr>
          <a:lstStyle/>
          <a:p>
            <a:pPr algn="l">
              <a:lnSpc>
                <a:spcPct val="116000"/>
              </a:lnSpc>
            </a:pPr>
            <a:r>
              <a:rPr sz="1300" b="0" i="0">
                <a:solidFill>
                  <a:srgbClr val="21295C"/>
                </a:solidFill>
                <a:latin typeface="Arial"/>
              </a:rPr>
              <a:t>Шаг исчез совсем</a:t>
            </a:r>
          </a:p>
        </p:txBody>
      </p:sp>
      <p:sp>
        <p:nvSpPr>
          <p:cNvPr id="25" name="Rectangle 24"/>
          <p:cNvSpPr/>
          <p:nvPr/>
        </p:nvSpPr>
        <p:spPr>
          <a:xfrm>
            <a:off x="4969816" y="2138248"/>
            <a:ext cx="1653997" cy="401612"/>
          </a:xfrm>
          <a:prstGeom prst="rect">
            <a:avLst/>
          </a:prstGeom>
          <a:solidFill>
            <a:srgbClr val="F4F7FA"/>
          </a:solidFill>
          <a:ln w="12700">
            <a:solidFill>
              <a:srgbClr val="D9E2EC"/>
            </a:solidFill>
          </a:ln>
          <a:effectLst/>
        </p:spPr>
        <p:txBody>
          <a:bodyPr rtlCol="0" anchor="ctr"/>
          <a:lstStyle/>
          <a:p>
            <a:pPr algn="ctr"/>
          </a:p>
        </p:txBody>
      </p:sp>
      <p:sp>
        <p:nvSpPr>
          <p:cNvPr id="26" name="TextBox 25"/>
          <p:cNvSpPr txBox="1"/>
          <p:nvPr/>
        </p:nvSpPr>
        <p:spPr>
          <a:xfrm>
            <a:off x="5116120" y="2138248"/>
            <a:ext cx="1361389" cy="401612"/>
          </a:xfrm>
          <a:prstGeom prst="rect">
            <a:avLst/>
          </a:prstGeom>
          <a:noFill/>
        </p:spPr>
        <p:txBody>
          <a:bodyPr wrap="square" lIns="0" rIns="0" tIns="0" bIns="0" anchor="ctr">
            <a:spAutoFit/>
          </a:bodyPr>
          <a:lstStyle/>
          <a:p>
            <a:pPr algn="l">
              <a:lnSpc>
                <a:spcPct val="116000"/>
              </a:lnSpc>
            </a:pPr>
            <a:r>
              <a:rPr sz="1300" b="0" i="0">
                <a:solidFill>
                  <a:srgbClr val="21295C"/>
                </a:solidFill>
                <a:latin typeface="Arial"/>
              </a:rPr>
              <a:t>место</a:t>
            </a:r>
          </a:p>
        </p:txBody>
      </p:sp>
      <p:sp>
        <p:nvSpPr>
          <p:cNvPr id="27" name="Rectangle 26"/>
          <p:cNvSpPr/>
          <p:nvPr/>
        </p:nvSpPr>
        <p:spPr>
          <a:xfrm>
            <a:off x="6623814" y="2138248"/>
            <a:ext cx="5028384" cy="401612"/>
          </a:xfrm>
          <a:prstGeom prst="rect">
            <a:avLst/>
          </a:prstGeom>
          <a:solidFill>
            <a:srgbClr val="F4F7FA"/>
          </a:solidFill>
          <a:ln w="12700">
            <a:solidFill>
              <a:srgbClr val="D9E2EC"/>
            </a:solidFill>
          </a:ln>
          <a:effectLst/>
        </p:spPr>
        <p:txBody>
          <a:bodyPr rtlCol="0" anchor="ctr"/>
          <a:lstStyle/>
          <a:p>
            <a:pPr algn="ctr"/>
          </a:p>
        </p:txBody>
      </p:sp>
      <p:sp>
        <p:nvSpPr>
          <p:cNvPr id="28" name="TextBox 27"/>
          <p:cNvSpPr txBox="1"/>
          <p:nvPr/>
        </p:nvSpPr>
        <p:spPr>
          <a:xfrm>
            <a:off x="6770118" y="2138248"/>
            <a:ext cx="4735776" cy="401612"/>
          </a:xfrm>
          <a:prstGeom prst="rect">
            <a:avLst/>
          </a:prstGeom>
          <a:noFill/>
        </p:spPr>
        <p:txBody>
          <a:bodyPr wrap="square" lIns="0" rIns="0" tIns="0" bIns="0" anchor="ctr">
            <a:spAutoFit/>
          </a:bodyPr>
          <a:lstStyle/>
          <a:p>
            <a:pPr algn="l">
              <a:lnSpc>
                <a:spcPct val="116000"/>
              </a:lnSpc>
            </a:pPr>
            <a:r>
              <a:rPr sz="1300" b="1" i="0">
                <a:solidFill>
                  <a:srgbClr val="21295C"/>
                </a:solidFill>
                <a:latin typeface="Arial"/>
              </a:rPr>
              <a:t>случая не встретилось</a:t>
            </a:r>
          </a:p>
        </p:txBody>
      </p:sp>
      <p:sp>
        <p:nvSpPr>
          <p:cNvPr id="29" name="Rectangle 28"/>
          <p:cNvSpPr/>
          <p:nvPr/>
        </p:nvSpPr>
        <p:spPr>
          <a:xfrm>
            <a:off x="539496" y="2539860"/>
            <a:ext cx="664242" cy="401612"/>
          </a:xfrm>
          <a:prstGeom prst="rect">
            <a:avLst/>
          </a:prstGeom>
          <a:solidFill>
            <a:srgbClr val="FFFFFF"/>
          </a:solidFill>
          <a:ln w="12700">
            <a:solidFill>
              <a:srgbClr val="D9E2EC"/>
            </a:solidFill>
          </a:ln>
          <a:effectLst/>
        </p:spPr>
        <p:txBody>
          <a:bodyPr rtlCol="0" anchor="ctr"/>
          <a:lstStyle/>
          <a:p>
            <a:pPr algn="ctr"/>
          </a:p>
        </p:txBody>
      </p:sp>
      <p:sp>
        <p:nvSpPr>
          <p:cNvPr id="30" name="TextBox 29"/>
          <p:cNvSpPr txBox="1"/>
          <p:nvPr/>
        </p:nvSpPr>
        <p:spPr>
          <a:xfrm>
            <a:off x="685800" y="2539860"/>
            <a:ext cx="371634" cy="401612"/>
          </a:xfrm>
          <a:prstGeom prst="rect">
            <a:avLst/>
          </a:prstGeom>
          <a:noFill/>
        </p:spPr>
        <p:txBody>
          <a:bodyPr wrap="square" lIns="0" rIns="0" tIns="0" bIns="0" anchor="ctr">
            <a:spAutoFit/>
          </a:bodyPr>
          <a:lstStyle/>
          <a:p>
            <a:pPr algn="l">
              <a:lnSpc>
                <a:spcPct val="116000"/>
              </a:lnSpc>
            </a:pPr>
            <a:r>
              <a:rPr sz="1300" b="1" i="0">
                <a:solidFill>
                  <a:srgbClr val="21295C"/>
                </a:solidFill>
                <a:latin typeface="Arial"/>
              </a:rPr>
              <a:t>3</a:t>
            </a:r>
          </a:p>
        </p:txBody>
      </p:sp>
      <p:sp>
        <p:nvSpPr>
          <p:cNvPr id="31" name="Rectangle 30"/>
          <p:cNvSpPr/>
          <p:nvPr/>
        </p:nvSpPr>
        <p:spPr>
          <a:xfrm>
            <a:off x="1203738" y="2539860"/>
            <a:ext cx="3766078" cy="401612"/>
          </a:xfrm>
          <a:prstGeom prst="rect">
            <a:avLst/>
          </a:prstGeom>
          <a:solidFill>
            <a:srgbClr val="FFFFFF"/>
          </a:solidFill>
          <a:ln w="12700">
            <a:solidFill>
              <a:srgbClr val="D9E2EC"/>
            </a:solidFill>
          </a:ln>
          <a:effectLst/>
        </p:spPr>
        <p:txBody>
          <a:bodyPr rtlCol="0" anchor="ctr"/>
          <a:lstStyle/>
          <a:p>
            <a:pPr algn="ctr"/>
          </a:p>
        </p:txBody>
      </p:sp>
      <p:sp>
        <p:nvSpPr>
          <p:cNvPr id="32" name="TextBox 31"/>
          <p:cNvSpPr txBox="1"/>
          <p:nvPr/>
        </p:nvSpPr>
        <p:spPr>
          <a:xfrm>
            <a:off x="1350042" y="2539860"/>
            <a:ext cx="3473470" cy="401612"/>
          </a:xfrm>
          <a:prstGeom prst="rect">
            <a:avLst/>
          </a:prstGeom>
          <a:noFill/>
        </p:spPr>
        <p:txBody>
          <a:bodyPr wrap="square" lIns="0" rIns="0" tIns="0" bIns="0" anchor="ctr">
            <a:spAutoFit/>
          </a:bodyPr>
          <a:lstStyle/>
          <a:p>
            <a:pPr algn="l">
              <a:lnSpc>
                <a:spcPct val="116000"/>
              </a:lnSpc>
            </a:pPr>
            <a:r>
              <a:rPr sz="1300" b="0" i="0">
                <a:solidFill>
                  <a:srgbClr val="21295C"/>
                </a:solidFill>
                <a:latin typeface="Arial"/>
              </a:rPr>
              <a:t>Шаг появился</a:t>
            </a:r>
          </a:p>
        </p:txBody>
      </p:sp>
      <p:sp>
        <p:nvSpPr>
          <p:cNvPr id="33" name="Rectangle 32"/>
          <p:cNvSpPr/>
          <p:nvPr/>
        </p:nvSpPr>
        <p:spPr>
          <a:xfrm>
            <a:off x="4969816" y="2539860"/>
            <a:ext cx="1653997" cy="401612"/>
          </a:xfrm>
          <a:prstGeom prst="rect">
            <a:avLst/>
          </a:prstGeom>
          <a:solidFill>
            <a:srgbClr val="FFFFFF"/>
          </a:solidFill>
          <a:ln w="12700">
            <a:solidFill>
              <a:srgbClr val="D9E2EC"/>
            </a:solidFill>
          </a:ln>
          <a:effectLst/>
        </p:spPr>
        <p:txBody>
          <a:bodyPr rtlCol="0" anchor="ctr"/>
          <a:lstStyle/>
          <a:p>
            <a:pPr algn="ctr"/>
          </a:p>
        </p:txBody>
      </p:sp>
      <p:sp>
        <p:nvSpPr>
          <p:cNvPr id="34" name="TextBox 33"/>
          <p:cNvSpPr txBox="1"/>
          <p:nvPr/>
        </p:nvSpPr>
        <p:spPr>
          <a:xfrm>
            <a:off x="5116120" y="2539860"/>
            <a:ext cx="1361389" cy="401612"/>
          </a:xfrm>
          <a:prstGeom prst="rect">
            <a:avLst/>
          </a:prstGeom>
          <a:noFill/>
        </p:spPr>
        <p:txBody>
          <a:bodyPr wrap="square" lIns="0" rIns="0" tIns="0" bIns="0" anchor="ctr">
            <a:spAutoFit/>
          </a:bodyPr>
          <a:lstStyle/>
          <a:p>
            <a:pPr algn="l">
              <a:lnSpc>
                <a:spcPct val="116000"/>
              </a:lnSpc>
            </a:pPr>
            <a:r>
              <a:rPr sz="1300" b="0" i="0">
                <a:solidFill>
                  <a:srgbClr val="21295C"/>
                </a:solidFill>
                <a:latin typeface="Arial"/>
              </a:rPr>
              <a:t>место</a:t>
            </a:r>
          </a:p>
        </p:txBody>
      </p:sp>
      <p:sp>
        <p:nvSpPr>
          <p:cNvPr id="35" name="Rectangle 34"/>
          <p:cNvSpPr/>
          <p:nvPr/>
        </p:nvSpPr>
        <p:spPr>
          <a:xfrm>
            <a:off x="6623814" y="2539860"/>
            <a:ext cx="5028384" cy="401612"/>
          </a:xfrm>
          <a:prstGeom prst="rect">
            <a:avLst/>
          </a:prstGeom>
          <a:solidFill>
            <a:srgbClr val="FFFFFF"/>
          </a:solidFill>
          <a:ln w="12700">
            <a:solidFill>
              <a:srgbClr val="D9E2EC"/>
            </a:solidFill>
          </a:ln>
          <a:effectLst/>
        </p:spPr>
        <p:txBody>
          <a:bodyPr rtlCol="0" anchor="ctr"/>
          <a:lstStyle/>
          <a:p>
            <a:pPr algn="ctr"/>
          </a:p>
        </p:txBody>
      </p:sp>
      <p:sp>
        <p:nvSpPr>
          <p:cNvPr id="36" name="TextBox 35"/>
          <p:cNvSpPr txBox="1"/>
          <p:nvPr/>
        </p:nvSpPr>
        <p:spPr>
          <a:xfrm>
            <a:off x="6770118" y="2539860"/>
            <a:ext cx="4735776" cy="401612"/>
          </a:xfrm>
          <a:prstGeom prst="rect">
            <a:avLst/>
          </a:prstGeom>
          <a:noFill/>
        </p:spPr>
        <p:txBody>
          <a:bodyPr wrap="square" lIns="0" rIns="0" tIns="0" bIns="0" anchor="ctr">
            <a:spAutoFit/>
          </a:bodyPr>
          <a:lstStyle/>
          <a:p>
            <a:pPr algn="l">
              <a:lnSpc>
                <a:spcPct val="116000"/>
              </a:lnSpc>
            </a:pPr>
            <a:r>
              <a:rPr sz="1300" b="0" i="0">
                <a:solidFill>
                  <a:srgbClr val="21295C"/>
                </a:solidFill>
                <a:latin typeface="Arial"/>
              </a:rPr>
              <a:t>разбор расхождений </a:t>
            </a:r>
            <a:r>
              <a:rPr sz="1300" b="1" i="0">
                <a:solidFill>
                  <a:srgbClr val="21295C"/>
                </a:solidFill>
                <a:latin typeface="Arial"/>
              </a:rPr>
              <a:t>+53 %</a:t>
            </a:r>
          </a:p>
        </p:txBody>
      </p:sp>
      <p:sp>
        <p:nvSpPr>
          <p:cNvPr id="37" name="Rectangle 36"/>
          <p:cNvSpPr/>
          <p:nvPr/>
        </p:nvSpPr>
        <p:spPr>
          <a:xfrm>
            <a:off x="539496" y="2941472"/>
            <a:ext cx="664242" cy="401612"/>
          </a:xfrm>
          <a:prstGeom prst="rect">
            <a:avLst/>
          </a:prstGeom>
          <a:solidFill>
            <a:srgbClr val="F4F7FA"/>
          </a:solidFill>
          <a:ln w="12700">
            <a:solidFill>
              <a:srgbClr val="D9E2EC"/>
            </a:solidFill>
          </a:ln>
          <a:effectLst/>
        </p:spPr>
        <p:txBody>
          <a:bodyPr rtlCol="0" anchor="ctr"/>
          <a:lstStyle/>
          <a:p>
            <a:pPr algn="ctr"/>
          </a:p>
        </p:txBody>
      </p:sp>
      <p:sp>
        <p:nvSpPr>
          <p:cNvPr id="38" name="TextBox 37"/>
          <p:cNvSpPr txBox="1"/>
          <p:nvPr/>
        </p:nvSpPr>
        <p:spPr>
          <a:xfrm>
            <a:off x="685800" y="2941472"/>
            <a:ext cx="371634" cy="401612"/>
          </a:xfrm>
          <a:prstGeom prst="rect">
            <a:avLst/>
          </a:prstGeom>
          <a:noFill/>
        </p:spPr>
        <p:txBody>
          <a:bodyPr wrap="square" lIns="0" rIns="0" tIns="0" bIns="0" anchor="ctr">
            <a:spAutoFit/>
          </a:bodyPr>
          <a:lstStyle/>
          <a:p>
            <a:pPr algn="l">
              <a:lnSpc>
                <a:spcPct val="116000"/>
              </a:lnSpc>
            </a:pPr>
            <a:r>
              <a:rPr sz="1300" b="1" i="0">
                <a:solidFill>
                  <a:srgbClr val="21295C"/>
                </a:solidFill>
                <a:latin typeface="Arial"/>
              </a:rPr>
              <a:t>4</a:t>
            </a:r>
          </a:p>
        </p:txBody>
      </p:sp>
      <p:sp>
        <p:nvSpPr>
          <p:cNvPr id="39" name="Rectangle 38"/>
          <p:cNvSpPr/>
          <p:nvPr/>
        </p:nvSpPr>
        <p:spPr>
          <a:xfrm>
            <a:off x="1203738" y="2941472"/>
            <a:ext cx="3766078" cy="401612"/>
          </a:xfrm>
          <a:prstGeom prst="rect">
            <a:avLst/>
          </a:prstGeom>
          <a:solidFill>
            <a:srgbClr val="F4F7FA"/>
          </a:solidFill>
          <a:ln w="12700">
            <a:solidFill>
              <a:srgbClr val="D9E2EC"/>
            </a:solidFill>
          </a:ln>
          <a:effectLst/>
        </p:spPr>
        <p:txBody>
          <a:bodyPr rtlCol="0" anchor="ctr"/>
          <a:lstStyle/>
          <a:p>
            <a:pPr algn="ctr"/>
          </a:p>
        </p:txBody>
      </p:sp>
      <p:sp>
        <p:nvSpPr>
          <p:cNvPr id="40" name="TextBox 39"/>
          <p:cNvSpPr txBox="1"/>
          <p:nvPr/>
        </p:nvSpPr>
        <p:spPr>
          <a:xfrm>
            <a:off x="1350042" y="2941472"/>
            <a:ext cx="3473470" cy="401612"/>
          </a:xfrm>
          <a:prstGeom prst="rect">
            <a:avLst/>
          </a:prstGeom>
          <a:noFill/>
        </p:spPr>
        <p:txBody>
          <a:bodyPr wrap="square" lIns="0" rIns="0" tIns="0" bIns="0" anchor="ctr">
            <a:spAutoFit/>
          </a:bodyPr>
          <a:lstStyle/>
          <a:p>
            <a:pPr algn="l">
              <a:lnSpc>
                <a:spcPct val="116000"/>
              </a:lnSpc>
            </a:pPr>
            <a:r>
              <a:rPr sz="1300" b="0" i="0">
                <a:solidFill>
                  <a:srgbClr val="21295C"/>
                </a:solidFill>
                <a:latin typeface="Arial"/>
              </a:rPr>
              <a:t>Нагрузка выросла на том же месте</a:t>
            </a:r>
          </a:p>
        </p:txBody>
      </p:sp>
      <p:sp>
        <p:nvSpPr>
          <p:cNvPr id="41" name="Rectangle 40"/>
          <p:cNvSpPr/>
          <p:nvPr/>
        </p:nvSpPr>
        <p:spPr>
          <a:xfrm>
            <a:off x="4969816" y="2941472"/>
            <a:ext cx="1653997" cy="401612"/>
          </a:xfrm>
          <a:prstGeom prst="rect">
            <a:avLst/>
          </a:prstGeom>
          <a:solidFill>
            <a:srgbClr val="F4F7FA"/>
          </a:solidFill>
          <a:ln w="12700">
            <a:solidFill>
              <a:srgbClr val="D9E2EC"/>
            </a:solidFill>
          </a:ln>
          <a:effectLst/>
        </p:spPr>
        <p:txBody>
          <a:bodyPr rtlCol="0" anchor="ctr"/>
          <a:lstStyle/>
          <a:p>
            <a:pPr algn="ctr"/>
          </a:p>
        </p:txBody>
      </p:sp>
      <p:sp>
        <p:nvSpPr>
          <p:cNvPr id="42" name="TextBox 41"/>
          <p:cNvSpPr txBox="1"/>
          <p:nvPr/>
        </p:nvSpPr>
        <p:spPr>
          <a:xfrm>
            <a:off x="5116120" y="2941472"/>
            <a:ext cx="1361389" cy="401612"/>
          </a:xfrm>
          <a:prstGeom prst="rect">
            <a:avLst/>
          </a:prstGeom>
          <a:noFill/>
        </p:spPr>
        <p:txBody>
          <a:bodyPr wrap="square" lIns="0" rIns="0" tIns="0" bIns="0" anchor="ctr">
            <a:spAutoFit/>
          </a:bodyPr>
          <a:lstStyle/>
          <a:p>
            <a:pPr algn="l">
              <a:lnSpc>
                <a:spcPct val="116000"/>
              </a:lnSpc>
            </a:pPr>
            <a:r>
              <a:rPr sz="1300" b="0" i="0">
                <a:solidFill>
                  <a:srgbClr val="21295C"/>
                </a:solidFill>
                <a:latin typeface="Arial"/>
              </a:rPr>
              <a:t>объём</a:t>
            </a:r>
          </a:p>
        </p:txBody>
      </p:sp>
      <p:sp>
        <p:nvSpPr>
          <p:cNvPr id="43" name="Rectangle 42"/>
          <p:cNvSpPr/>
          <p:nvPr/>
        </p:nvSpPr>
        <p:spPr>
          <a:xfrm>
            <a:off x="6623814" y="2941472"/>
            <a:ext cx="5028384" cy="401612"/>
          </a:xfrm>
          <a:prstGeom prst="rect">
            <a:avLst/>
          </a:prstGeom>
          <a:solidFill>
            <a:srgbClr val="F4F7FA"/>
          </a:solidFill>
          <a:ln w="12700">
            <a:solidFill>
              <a:srgbClr val="D9E2EC"/>
            </a:solidFill>
          </a:ln>
          <a:effectLst/>
        </p:spPr>
        <p:txBody>
          <a:bodyPr rtlCol="0" anchor="ctr"/>
          <a:lstStyle/>
          <a:p>
            <a:pPr algn="ctr"/>
          </a:p>
        </p:txBody>
      </p:sp>
      <p:sp>
        <p:nvSpPr>
          <p:cNvPr id="44" name="TextBox 43"/>
          <p:cNvSpPr txBox="1"/>
          <p:nvPr/>
        </p:nvSpPr>
        <p:spPr>
          <a:xfrm>
            <a:off x="6770118" y="2941472"/>
            <a:ext cx="4735776" cy="401612"/>
          </a:xfrm>
          <a:prstGeom prst="rect">
            <a:avLst/>
          </a:prstGeom>
          <a:noFill/>
        </p:spPr>
        <p:txBody>
          <a:bodyPr wrap="square" lIns="0" rIns="0" tIns="0" bIns="0" anchor="ctr">
            <a:spAutoFit/>
          </a:bodyPr>
          <a:lstStyle/>
          <a:p>
            <a:pPr algn="l">
              <a:lnSpc>
                <a:spcPct val="116000"/>
              </a:lnSpc>
            </a:pPr>
            <a:r>
              <a:rPr sz="1300" b="0" i="0">
                <a:solidFill>
                  <a:srgbClr val="21295C"/>
                </a:solidFill>
                <a:latin typeface="Arial"/>
              </a:rPr>
              <a:t>тревога часто, подтверждается редко</a:t>
            </a:r>
          </a:p>
        </p:txBody>
      </p:sp>
      <p:sp>
        <p:nvSpPr>
          <p:cNvPr id="45" name="Rectangle 44"/>
          <p:cNvSpPr/>
          <p:nvPr/>
        </p:nvSpPr>
        <p:spPr>
          <a:xfrm>
            <a:off x="539496" y="3343085"/>
            <a:ext cx="664242" cy="401612"/>
          </a:xfrm>
          <a:prstGeom prst="rect">
            <a:avLst/>
          </a:prstGeom>
          <a:solidFill>
            <a:srgbClr val="FFFFFF"/>
          </a:solidFill>
          <a:ln w="12700">
            <a:solidFill>
              <a:srgbClr val="D9E2EC"/>
            </a:solidFill>
          </a:ln>
          <a:effectLst/>
        </p:spPr>
        <p:txBody>
          <a:bodyPr rtlCol="0" anchor="ctr"/>
          <a:lstStyle/>
          <a:p>
            <a:pPr algn="ctr"/>
          </a:p>
        </p:txBody>
      </p:sp>
      <p:sp>
        <p:nvSpPr>
          <p:cNvPr id="46" name="TextBox 45"/>
          <p:cNvSpPr txBox="1"/>
          <p:nvPr/>
        </p:nvSpPr>
        <p:spPr>
          <a:xfrm>
            <a:off x="685800" y="3343085"/>
            <a:ext cx="371634" cy="401612"/>
          </a:xfrm>
          <a:prstGeom prst="rect">
            <a:avLst/>
          </a:prstGeom>
          <a:noFill/>
        </p:spPr>
        <p:txBody>
          <a:bodyPr wrap="square" lIns="0" rIns="0" tIns="0" bIns="0" anchor="ctr">
            <a:spAutoFit/>
          </a:bodyPr>
          <a:lstStyle/>
          <a:p>
            <a:pPr algn="l">
              <a:lnSpc>
                <a:spcPct val="116000"/>
              </a:lnSpc>
            </a:pPr>
            <a:r>
              <a:rPr sz="1300" b="1" i="0">
                <a:solidFill>
                  <a:srgbClr val="21295C"/>
                </a:solidFill>
                <a:latin typeface="Arial"/>
              </a:rPr>
              <a:t>4а</a:t>
            </a:r>
          </a:p>
        </p:txBody>
      </p:sp>
      <p:sp>
        <p:nvSpPr>
          <p:cNvPr id="47" name="Rectangle 46"/>
          <p:cNvSpPr/>
          <p:nvPr/>
        </p:nvSpPr>
        <p:spPr>
          <a:xfrm>
            <a:off x="1203738" y="3343085"/>
            <a:ext cx="3766078" cy="401612"/>
          </a:xfrm>
          <a:prstGeom prst="rect">
            <a:avLst/>
          </a:prstGeom>
          <a:solidFill>
            <a:srgbClr val="FFFFFF"/>
          </a:solidFill>
          <a:ln w="12700">
            <a:solidFill>
              <a:srgbClr val="D9E2EC"/>
            </a:solidFill>
          </a:ln>
          <a:effectLst/>
        </p:spPr>
        <p:txBody>
          <a:bodyPr rtlCol="0" anchor="ctr"/>
          <a:lstStyle/>
          <a:p>
            <a:pPr algn="ctr"/>
          </a:p>
        </p:txBody>
      </p:sp>
      <p:sp>
        <p:nvSpPr>
          <p:cNvPr id="48" name="TextBox 47"/>
          <p:cNvSpPr txBox="1"/>
          <p:nvPr/>
        </p:nvSpPr>
        <p:spPr>
          <a:xfrm>
            <a:off x="1350042" y="3343085"/>
            <a:ext cx="3473470" cy="401612"/>
          </a:xfrm>
          <a:prstGeom prst="rect">
            <a:avLst/>
          </a:prstGeom>
          <a:noFill/>
        </p:spPr>
        <p:txBody>
          <a:bodyPr wrap="square" lIns="0" rIns="0" tIns="0" bIns="0" anchor="ctr">
            <a:spAutoFit/>
          </a:bodyPr>
          <a:lstStyle/>
          <a:p>
            <a:pPr algn="l">
              <a:lnSpc>
                <a:spcPct val="116000"/>
              </a:lnSpc>
            </a:pPr>
            <a:r>
              <a:rPr sz="1300" b="0" i="0">
                <a:solidFill>
                  <a:srgbClr val="21295C"/>
                </a:solidFill>
                <a:latin typeface="Arial"/>
              </a:rPr>
              <a:t>Нагрузка на том же месте упала</a:t>
            </a:r>
          </a:p>
        </p:txBody>
      </p:sp>
      <p:sp>
        <p:nvSpPr>
          <p:cNvPr id="49" name="Rectangle 48"/>
          <p:cNvSpPr/>
          <p:nvPr/>
        </p:nvSpPr>
        <p:spPr>
          <a:xfrm>
            <a:off x="4969816" y="3343085"/>
            <a:ext cx="1653997" cy="401612"/>
          </a:xfrm>
          <a:prstGeom prst="rect">
            <a:avLst/>
          </a:prstGeom>
          <a:solidFill>
            <a:srgbClr val="FFFFFF"/>
          </a:solidFill>
          <a:ln w="12700">
            <a:solidFill>
              <a:srgbClr val="D9E2EC"/>
            </a:solidFill>
          </a:ln>
          <a:effectLst/>
        </p:spPr>
        <p:txBody>
          <a:bodyPr rtlCol="0" anchor="ctr"/>
          <a:lstStyle/>
          <a:p>
            <a:pPr algn="ctr"/>
          </a:p>
        </p:txBody>
      </p:sp>
      <p:sp>
        <p:nvSpPr>
          <p:cNvPr id="50" name="TextBox 49"/>
          <p:cNvSpPr txBox="1"/>
          <p:nvPr/>
        </p:nvSpPr>
        <p:spPr>
          <a:xfrm>
            <a:off x="5116120" y="3343085"/>
            <a:ext cx="1361389" cy="401612"/>
          </a:xfrm>
          <a:prstGeom prst="rect">
            <a:avLst/>
          </a:prstGeom>
          <a:noFill/>
        </p:spPr>
        <p:txBody>
          <a:bodyPr wrap="square" lIns="0" rIns="0" tIns="0" bIns="0" anchor="ctr">
            <a:spAutoFit/>
          </a:bodyPr>
          <a:lstStyle/>
          <a:p>
            <a:pPr algn="l">
              <a:lnSpc>
                <a:spcPct val="116000"/>
              </a:lnSpc>
            </a:pPr>
            <a:r>
              <a:rPr sz="1300" b="0" i="0">
                <a:solidFill>
                  <a:srgbClr val="21295C"/>
                </a:solidFill>
                <a:latin typeface="Arial"/>
              </a:rPr>
              <a:t>объём</a:t>
            </a:r>
          </a:p>
        </p:txBody>
      </p:sp>
      <p:sp>
        <p:nvSpPr>
          <p:cNvPr id="51" name="Rectangle 50"/>
          <p:cNvSpPr/>
          <p:nvPr/>
        </p:nvSpPr>
        <p:spPr>
          <a:xfrm>
            <a:off x="6623814" y="3343085"/>
            <a:ext cx="5028384" cy="401612"/>
          </a:xfrm>
          <a:prstGeom prst="rect">
            <a:avLst/>
          </a:prstGeom>
          <a:solidFill>
            <a:srgbClr val="FFFFFF"/>
          </a:solidFill>
          <a:ln w="12700">
            <a:solidFill>
              <a:srgbClr val="D9E2EC"/>
            </a:solidFill>
          </a:ln>
          <a:effectLst/>
        </p:spPr>
        <p:txBody>
          <a:bodyPr rtlCol="0" anchor="ctr"/>
          <a:lstStyle/>
          <a:p>
            <a:pPr algn="ctr"/>
          </a:p>
        </p:txBody>
      </p:sp>
      <p:sp>
        <p:nvSpPr>
          <p:cNvPr id="52" name="TextBox 51"/>
          <p:cNvSpPr txBox="1"/>
          <p:nvPr/>
        </p:nvSpPr>
        <p:spPr>
          <a:xfrm>
            <a:off x="6770118" y="3343085"/>
            <a:ext cx="4735776" cy="401612"/>
          </a:xfrm>
          <a:prstGeom prst="rect">
            <a:avLst/>
          </a:prstGeom>
          <a:noFill/>
        </p:spPr>
        <p:txBody>
          <a:bodyPr wrap="square" lIns="0" rIns="0" tIns="0" bIns="0" anchor="ctr">
            <a:spAutoFit/>
          </a:bodyPr>
          <a:lstStyle/>
          <a:p>
            <a:pPr algn="l">
              <a:lnSpc>
                <a:spcPct val="116000"/>
              </a:lnSpc>
            </a:pPr>
            <a:r>
              <a:rPr sz="1300" b="0" i="0">
                <a:solidFill>
                  <a:srgbClr val="21295C"/>
                </a:solidFill>
                <a:latin typeface="Arial"/>
              </a:rPr>
              <a:t>чтение ниже </a:t>
            </a:r>
            <a:r>
              <a:rPr sz="1300" b="1" i="0">
                <a:solidFill>
                  <a:srgbClr val="21295C"/>
                </a:solidFill>
                <a:latin typeface="Arial"/>
              </a:rPr>
              <a:t>на 44,3 %</a:t>
            </a:r>
          </a:p>
        </p:txBody>
      </p:sp>
      <p:sp>
        <p:nvSpPr>
          <p:cNvPr id="53" name="Rectangle 52"/>
          <p:cNvSpPr/>
          <p:nvPr/>
        </p:nvSpPr>
        <p:spPr>
          <a:xfrm>
            <a:off x="539496" y="3744697"/>
            <a:ext cx="664242" cy="401612"/>
          </a:xfrm>
          <a:prstGeom prst="rect">
            <a:avLst/>
          </a:prstGeom>
          <a:solidFill>
            <a:srgbClr val="F4F7FA"/>
          </a:solidFill>
          <a:ln w="12700">
            <a:solidFill>
              <a:srgbClr val="D9E2EC"/>
            </a:solidFill>
          </a:ln>
          <a:effectLst/>
        </p:spPr>
        <p:txBody>
          <a:bodyPr rtlCol="0" anchor="ctr"/>
          <a:lstStyle/>
          <a:p>
            <a:pPr algn="ctr"/>
          </a:p>
        </p:txBody>
      </p:sp>
      <p:sp>
        <p:nvSpPr>
          <p:cNvPr id="54" name="TextBox 53"/>
          <p:cNvSpPr txBox="1"/>
          <p:nvPr/>
        </p:nvSpPr>
        <p:spPr>
          <a:xfrm>
            <a:off x="685800" y="3744697"/>
            <a:ext cx="371634" cy="401612"/>
          </a:xfrm>
          <a:prstGeom prst="rect">
            <a:avLst/>
          </a:prstGeom>
          <a:noFill/>
        </p:spPr>
        <p:txBody>
          <a:bodyPr wrap="square" lIns="0" rIns="0" tIns="0" bIns="0" anchor="ctr">
            <a:spAutoFit/>
          </a:bodyPr>
          <a:lstStyle/>
          <a:p>
            <a:pPr algn="l">
              <a:lnSpc>
                <a:spcPct val="116000"/>
              </a:lnSpc>
            </a:pPr>
            <a:r>
              <a:rPr sz="1300" b="1" i="0">
                <a:solidFill>
                  <a:srgbClr val="21295C"/>
                </a:solidFill>
                <a:latin typeface="Arial"/>
              </a:rPr>
              <a:t>5</a:t>
            </a:r>
          </a:p>
        </p:txBody>
      </p:sp>
      <p:sp>
        <p:nvSpPr>
          <p:cNvPr id="55" name="Rectangle 54"/>
          <p:cNvSpPr/>
          <p:nvPr/>
        </p:nvSpPr>
        <p:spPr>
          <a:xfrm>
            <a:off x="1203738" y="3744697"/>
            <a:ext cx="3766078" cy="401612"/>
          </a:xfrm>
          <a:prstGeom prst="rect">
            <a:avLst/>
          </a:prstGeom>
          <a:solidFill>
            <a:srgbClr val="F4F7FA"/>
          </a:solidFill>
          <a:ln w="12700">
            <a:solidFill>
              <a:srgbClr val="D9E2EC"/>
            </a:solidFill>
          </a:ln>
          <a:effectLst/>
        </p:spPr>
        <p:txBody>
          <a:bodyPr rtlCol="0" anchor="ctr"/>
          <a:lstStyle/>
          <a:p>
            <a:pPr algn="ctr"/>
          </a:p>
        </p:txBody>
      </p:sp>
      <p:sp>
        <p:nvSpPr>
          <p:cNvPr id="56" name="TextBox 55"/>
          <p:cNvSpPr txBox="1"/>
          <p:nvPr/>
        </p:nvSpPr>
        <p:spPr>
          <a:xfrm>
            <a:off x="1350042" y="3744697"/>
            <a:ext cx="3473470" cy="401612"/>
          </a:xfrm>
          <a:prstGeom prst="rect">
            <a:avLst/>
          </a:prstGeom>
          <a:noFill/>
        </p:spPr>
        <p:txBody>
          <a:bodyPr wrap="square" lIns="0" rIns="0" tIns="0" bIns="0" anchor="ctr">
            <a:spAutoFit/>
          </a:bodyPr>
          <a:lstStyle/>
          <a:p>
            <a:pPr algn="l">
              <a:lnSpc>
                <a:spcPct val="116000"/>
              </a:lnSpc>
            </a:pPr>
            <a:r>
              <a:rPr sz="1300" b="0" i="0">
                <a:solidFill>
                  <a:srgbClr val="21295C"/>
                </a:solidFill>
                <a:latin typeface="Arial"/>
              </a:rPr>
              <a:t>Сменился исполнитель</a:t>
            </a:r>
          </a:p>
        </p:txBody>
      </p:sp>
      <p:sp>
        <p:nvSpPr>
          <p:cNvPr id="57" name="Rectangle 56"/>
          <p:cNvSpPr/>
          <p:nvPr/>
        </p:nvSpPr>
        <p:spPr>
          <a:xfrm>
            <a:off x="4969816" y="3744697"/>
            <a:ext cx="1653997" cy="401612"/>
          </a:xfrm>
          <a:prstGeom prst="rect">
            <a:avLst/>
          </a:prstGeom>
          <a:solidFill>
            <a:srgbClr val="F4F7FA"/>
          </a:solidFill>
          <a:ln w="12700">
            <a:solidFill>
              <a:srgbClr val="D9E2EC"/>
            </a:solidFill>
          </a:ln>
          <a:effectLst/>
        </p:spPr>
        <p:txBody>
          <a:bodyPr rtlCol="0" anchor="ctr"/>
          <a:lstStyle/>
          <a:p>
            <a:pPr algn="ctr"/>
          </a:p>
        </p:txBody>
      </p:sp>
      <p:sp>
        <p:nvSpPr>
          <p:cNvPr id="58" name="TextBox 57"/>
          <p:cNvSpPr txBox="1"/>
          <p:nvPr/>
        </p:nvSpPr>
        <p:spPr>
          <a:xfrm>
            <a:off x="5116120" y="3744697"/>
            <a:ext cx="1361389" cy="401612"/>
          </a:xfrm>
          <a:prstGeom prst="rect">
            <a:avLst/>
          </a:prstGeom>
          <a:noFill/>
        </p:spPr>
        <p:txBody>
          <a:bodyPr wrap="square" lIns="0" rIns="0" tIns="0" bIns="0" anchor="ctr">
            <a:spAutoFit/>
          </a:bodyPr>
          <a:lstStyle/>
          <a:p>
            <a:pPr algn="l">
              <a:lnSpc>
                <a:spcPct val="116000"/>
              </a:lnSpc>
            </a:pPr>
            <a:r>
              <a:rPr sz="1300" b="0" i="0">
                <a:solidFill>
                  <a:srgbClr val="21295C"/>
                </a:solidFill>
                <a:latin typeface="Arial"/>
              </a:rPr>
              <a:t>рука</a:t>
            </a:r>
          </a:p>
        </p:txBody>
      </p:sp>
      <p:sp>
        <p:nvSpPr>
          <p:cNvPr id="59" name="Rectangle 58"/>
          <p:cNvSpPr/>
          <p:nvPr/>
        </p:nvSpPr>
        <p:spPr>
          <a:xfrm>
            <a:off x="6623814" y="3744697"/>
            <a:ext cx="5028384" cy="401612"/>
          </a:xfrm>
          <a:prstGeom prst="rect">
            <a:avLst/>
          </a:prstGeom>
          <a:solidFill>
            <a:srgbClr val="F4F7FA"/>
          </a:solidFill>
          <a:ln w="12700">
            <a:solidFill>
              <a:srgbClr val="D9E2EC"/>
            </a:solidFill>
          </a:ln>
          <a:effectLst/>
        </p:spPr>
        <p:txBody>
          <a:bodyPr rtlCol="0" anchor="ctr"/>
          <a:lstStyle/>
          <a:p>
            <a:pPr algn="ctr"/>
          </a:p>
        </p:txBody>
      </p:sp>
      <p:sp>
        <p:nvSpPr>
          <p:cNvPr id="60" name="TextBox 59"/>
          <p:cNvSpPr txBox="1"/>
          <p:nvPr/>
        </p:nvSpPr>
        <p:spPr>
          <a:xfrm>
            <a:off x="6770118" y="3744697"/>
            <a:ext cx="4735776" cy="401612"/>
          </a:xfrm>
          <a:prstGeom prst="rect">
            <a:avLst/>
          </a:prstGeom>
          <a:noFill/>
        </p:spPr>
        <p:txBody>
          <a:bodyPr wrap="square" lIns="0" rIns="0" tIns="0" bIns="0" anchor="ctr">
            <a:spAutoFit/>
          </a:bodyPr>
          <a:lstStyle/>
          <a:p>
            <a:pPr algn="l">
              <a:lnSpc>
                <a:spcPct val="116000"/>
              </a:lnSpc>
            </a:pPr>
            <a:r>
              <a:rPr sz="1300" b="0" i="0">
                <a:solidFill>
                  <a:srgbClr val="21295C"/>
                </a:solidFill>
                <a:latin typeface="Arial"/>
              </a:rPr>
              <a:t>явка </a:t>
            </a:r>
            <a:r>
              <a:rPr sz="1300" b="1" i="0">
                <a:solidFill>
                  <a:srgbClr val="21295C"/>
                </a:solidFill>
                <a:latin typeface="Arial"/>
              </a:rPr>
              <a:t>22 → 100</a:t>
            </a:r>
            <a:r>
              <a:rPr sz="1300" b="0" i="0">
                <a:solidFill>
                  <a:srgbClr val="21295C"/>
                </a:solidFill>
                <a:latin typeface="Arial"/>
              </a:rPr>
              <a:t> из ста</a:t>
            </a:r>
          </a:p>
        </p:txBody>
      </p:sp>
      <p:sp>
        <p:nvSpPr>
          <p:cNvPr id="61" name="Rectangle 60"/>
          <p:cNvSpPr/>
          <p:nvPr/>
        </p:nvSpPr>
        <p:spPr>
          <a:xfrm>
            <a:off x="539496" y="4146309"/>
            <a:ext cx="664242" cy="401612"/>
          </a:xfrm>
          <a:prstGeom prst="rect">
            <a:avLst/>
          </a:prstGeom>
          <a:solidFill>
            <a:srgbClr val="FFFFFF"/>
          </a:solidFill>
          <a:ln w="12700">
            <a:solidFill>
              <a:srgbClr val="D9E2EC"/>
            </a:solidFill>
          </a:ln>
          <a:effectLst/>
        </p:spPr>
        <p:txBody>
          <a:bodyPr rtlCol="0" anchor="ctr"/>
          <a:lstStyle/>
          <a:p>
            <a:pPr algn="ctr"/>
          </a:p>
        </p:txBody>
      </p:sp>
      <p:sp>
        <p:nvSpPr>
          <p:cNvPr id="62" name="TextBox 61"/>
          <p:cNvSpPr txBox="1"/>
          <p:nvPr/>
        </p:nvSpPr>
        <p:spPr>
          <a:xfrm>
            <a:off x="685800" y="4146309"/>
            <a:ext cx="371634" cy="401612"/>
          </a:xfrm>
          <a:prstGeom prst="rect">
            <a:avLst/>
          </a:prstGeom>
          <a:noFill/>
        </p:spPr>
        <p:txBody>
          <a:bodyPr wrap="square" lIns="0" rIns="0" tIns="0" bIns="0" anchor="ctr">
            <a:spAutoFit/>
          </a:bodyPr>
          <a:lstStyle/>
          <a:p>
            <a:pPr algn="l">
              <a:lnSpc>
                <a:spcPct val="116000"/>
              </a:lnSpc>
            </a:pPr>
            <a:r>
              <a:rPr sz="1300" b="1" i="0">
                <a:solidFill>
                  <a:srgbClr val="21295C"/>
                </a:solidFill>
                <a:latin typeface="Arial"/>
              </a:rPr>
              <a:t>6</a:t>
            </a:r>
          </a:p>
        </p:txBody>
      </p:sp>
      <p:sp>
        <p:nvSpPr>
          <p:cNvPr id="63" name="Rectangle 62"/>
          <p:cNvSpPr/>
          <p:nvPr/>
        </p:nvSpPr>
        <p:spPr>
          <a:xfrm>
            <a:off x="1203738" y="4146309"/>
            <a:ext cx="3766078" cy="401612"/>
          </a:xfrm>
          <a:prstGeom prst="rect">
            <a:avLst/>
          </a:prstGeom>
          <a:solidFill>
            <a:srgbClr val="FFFFFF"/>
          </a:solidFill>
          <a:ln w="12700">
            <a:solidFill>
              <a:srgbClr val="D9E2EC"/>
            </a:solidFill>
          </a:ln>
          <a:effectLst/>
        </p:spPr>
        <p:txBody>
          <a:bodyPr rtlCol="0" anchor="ctr"/>
          <a:lstStyle/>
          <a:p>
            <a:pPr algn="ctr"/>
          </a:p>
        </p:txBody>
      </p:sp>
      <p:sp>
        <p:nvSpPr>
          <p:cNvPr id="64" name="TextBox 63"/>
          <p:cNvSpPr txBox="1"/>
          <p:nvPr/>
        </p:nvSpPr>
        <p:spPr>
          <a:xfrm>
            <a:off x="1350042" y="4146309"/>
            <a:ext cx="3473470" cy="401612"/>
          </a:xfrm>
          <a:prstGeom prst="rect">
            <a:avLst/>
          </a:prstGeom>
          <a:noFill/>
        </p:spPr>
        <p:txBody>
          <a:bodyPr wrap="square" lIns="0" rIns="0" tIns="0" bIns="0" anchor="ctr">
            <a:spAutoFit/>
          </a:bodyPr>
          <a:lstStyle/>
          <a:p>
            <a:pPr algn="l">
              <a:lnSpc>
                <a:spcPct val="116000"/>
              </a:lnSpc>
            </a:pPr>
            <a:r>
              <a:rPr sz="1300" b="0" i="0">
                <a:solidFill>
                  <a:srgbClr val="21295C"/>
                </a:solidFill>
                <a:latin typeface="Arial"/>
              </a:rPr>
              <a:t>Изменился порядок работ</a:t>
            </a:r>
          </a:p>
        </p:txBody>
      </p:sp>
      <p:sp>
        <p:nvSpPr>
          <p:cNvPr id="65" name="Rectangle 64"/>
          <p:cNvSpPr/>
          <p:nvPr/>
        </p:nvSpPr>
        <p:spPr>
          <a:xfrm>
            <a:off x="4969816" y="4146309"/>
            <a:ext cx="1653997" cy="401612"/>
          </a:xfrm>
          <a:prstGeom prst="rect">
            <a:avLst/>
          </a:prstGeom>
          <a:solidFill>
            <a:srgbClr val="FFFFFF"/>
          </a:solidFill>
          <a:ln w="12700">
            <a:solidFill>
              <a:srgbClr val="D9E2EC"/>
            </a:solidFill>
          </a:ln>
          <a:effectLst/>
        </p:spPr>
        <p:txBody>
          <a:bodyPr rtlCol="0" anchor="ctr"/>
          <a:lstStyle/>
          <a:p>
            <a:pPr algn="ctr"/>
          </a:p>
        </p:txBody>
      </p:sp>
      <p:sp>
        <p:nvSpPr>
          <p:cNvPr id="66" name="TextBox 65"/>
          <p:cNvSpPr txBox="1"/>
          <p:nvPr/>
        </p:nvSpPr>
        <p:spPr>
          <a:xfrm>
            <a:off x="5116120" y="4146309"/>
            <a:ext cx="1361389" cy="401612"/>
          </a:xfrm>
          <a:prstGeom prst="rect">
            <a:avLst/>
          </a:prstGeom>
          <a:noFill/>
        </p:spPr>
        <p:txBody>
          <a:bodyPr wrap="square" lIns="0" rIns="0" tIns="0" bIns="0" anchor="ctr">
            <a:spAutoFit/>
          </a:bodyPr>
          <a:lstStyle/>
          <a:p>
            <a:pPr algn="l">
              <a:lnSpc>
                <a:spcPct val="116000"/>
              </a:lnSpc>
            </a:pPr>
            <a:r>
              <a:rPr sz="1300" b="0" i="0">
                <a:solidFill>
                  <a:srgbClr val="21295C"/>
                </a:solidFill>
                <a:latin typeface="Arial"/>
              </a:rPr>
              <a:t>порядок</a:t>
            </a:r>
          </a:p>
        </p:txBody>
      </p:sp>
      <p:sp>
        <p:nvSpPr>
          <p:cNvPr id="67" name="Rectangle 66"/>
          <p:cNvSpPr/>
          <p:nvPr/>
        </p:nvSpPr>
        <p:spPr>
          <a:xfrm>
            <a:off x="6623814" y="4146309"/>
            <a:ext cx="5028384" cy="401612"/>
          </a:xfrm>
          <a:prstGeom prst="rect">
            <a:avLst/>
          </a:prstGeom>
          <a:solidFill>
            <a:srgbClr val="FFFFFF"/>
          </a:solidFill>
          <a:ln w="12700">
            <a:solidFill>
              <a:srgbClr val="D9E2EC"/>
            </a:solidFill>
          </a:ln>
          <a:effectLst/>
        </p:spPr>
        <p:txBody>
          <a:bodyPr rtlCol="0" anchor="ctr"/>
          <a:lstStyle/>
          <a:p>
            <a:pPr algn="ctr"/>
          </a:p>
        </p:txBody>
      </p:sp>
      <p:sp>
        <p:nvSpPr>
          <p:cNvPr id="68" name="TextBox 67"/>
          <p:cNvSpPr txBox="1"/>
          <p:nvPr/>
        </p:nvSpPr>
        <p:spPr>
          <a:xfrm>
            <a:off x="6770118" y="4146309"/>
            <a:ext cx="4735776" cy="401612"/>
          </a:xfrm>
          <a:prstGeom prst="rect">
            <a:avLst/>
          </a:prstGeom>
          <a:noFill/>
        </p:spPr>
        <p:txBody>
          <a:bodyPr wrap="square" lIns="0" rIns="0" tIns="0" bIns="0" anchor="ctr">
            <a:spAutoFit/>
          </a:bodyPr>
          <a:lstStyle/>
          <a:p>
            <a:pPr algn="l">
              <a:lnSpc>
                <a:spcPct val="116000"/>
              </a:lnSpc>
            </a:pPr>
            <a:r>
              <a:rPr sz="1300" b="1" i="0">
                <a:solidFill>
                  <a:srgbClr val="21295C"/>
                </a:solidFill>
                <a:latin typeface="Arial"/>
              </a:rPr>
              <a:t>счёта нет</a:t>
            </a:r>
          </a:p>
        </p:txBody>
      </p:sp>
      <p:sp>
        <p:nvSpPr>
          <p:cNvPr id="69" name="Rectangle 68"/>
          <p:cNvSpPr/>
          <p:nvPr/>
        </p:nvSpPr>
        <p:spPr>
          <a:xfrm>
            <a:off x="539496" y="4547921"/>
            <a:ext cx="664242" cy="401612"/>
          </a:xfrm>
          <a:prstGeom prst="rect">
            <a:avLst/>
          </a:prstGeom>
          <a:solidFill>
            <a:srgbClr val="F4F7FA"/>
          </a:solidFill>
          <a:ln w="12700">
            <a:solidFill>
              <a:srgbClr val="D9E2EC"/>
            </a:solidFill>
          </a:ln>
          <a:effectLst/>
        </p:spPr>
        <p:txBody>
          <a:bodyPr rtlCol="0" anchor="ctr"/>
          <a:lstStyle/>
          <a:p>
            <a:pPr algn="ctr"/>
          </a:p>
        </p:txBody>
      </p:sp>
      <p:sp>
        <p:nvSpPr>
          <p:cNvPr id="70" name="TextBox 69"/>
          <p:cNvSpPr txBox="1"/>
          <p:nvPr/>
        </p:nvSpPr>
        <p:spPr>
          <a:xfrm>
            <a:off x="685800" y="4547921"/>
            <a:ext cx="371634" cy="401612"/>
          </a:xfrm>
          <a:prstGeom prst="rect">
            <a:avLst/>
          </a:prstGeom>
          <a:noFill/>
        </p:spPr>
        <p:txBody>
          <a:bodyPr wrap="square" lIns="0" rIns="0" tIns="0" bIns="0" anchor="ctr">
            <a:spAutoFit/>
          </a:bodyPr>
          <a:lstStyle/>
          <a:p>
            <a:pPr algn="l">
              <a:lnSpc>
                <a:spcPct val="116000"/>
              </a:lnSpc>
            </a:pPr>
            <a:r>
              <a:rPr sz="1300" b="1" i="0">
                <a:solidFill>
                  <a:srgbClr val="21295C"/>
                </a:solidFill>
                <a:latin typeface="Arial"/>
              </a:rPr>
              <a:t>7</a:t>
            </a:r>
          </a:p>
        </p:txBody>
      </p:sp>
      <p:sp>
        <p:nvSpPr>
          <p:cNvPr id="71" name="Rectangle 70"/>
          <p:cNvSpPr/>
          <p:nvPr/>
        </p:nvSpPr>
        <p:spPr>
          <a:xfrm>
            <a:off x="1203738" y="4547921"/>
            <a:ext cx="3766078" cy="401612"/>
          </a:xfrm>
          <a:prstGeom prst="rect">
            <a:avLst/>
          </a:prstGeom>
          <a:solidFill>
            <a:srgbClr val="F4F7FA"/>
          </a:solidFill>
          <a:ln w="12700">
            <a:solidFill>
              <a:srgbClr val="D9E2EC"/>
            </a:solidFill>
          </a:ln>
          <a:effectLst/>
        </p:spPr>
        <p:txBody>
          <a:bodyPr rtlCol="0" anchor="ctr"/>
          <a:lstStyle/>
          <a:p>
            <a:pPr algn="ctr"/>
          </a:p>
        </p:txBody>
      </p:sp>
      <p:sp>
        <p:nvSpPr>
          <p:cNvPr id="72" name="TextBox 71"/>
          <p:cNvSpPr txBox="1"/>
          <p:nvPr/>
        </p:nvSpPr>
        <p:spPr>
          <a:xfrm>
            <a:off x="1350042" y="4547921"/>
            <a:ext cx="3473470" cy="401612"/>
          </a:xfrm>
          <a:prstGeom prst="rect">
            <a:avLst/>
          </a:prstGeom>
          <a:noFill/>
        </p:spPr>
        <p:txBody>
          <a:bodyPr wrap="square" lIns="0" rIns="0" tIns="0" bIns="0" anchor="ctr">
            <a:spAutoFit/>
          </a:bodyPr>
          <a:lstStyle/>
          <a:p>
            <a:pPr algn="l">
              <a:lnSpc>
                <a:spcPct val="116000"/>
              </a:lnSpc>
            </a:pPr>
            <a:r>
              <a:rPr sz="1300" b="0" i="0">
                <a:solidFill>
                  <a:srgbClr val="21295C"/>
                </a:solidFill>
                <a:latin typeface="Arial"/>
              </a:rPr>
              <a:t>Сместилась цена ошибки</a:t>
            </a:r>
          </a:p>
        </p:txBody>
      </p:sp>
      <p:sp>
        <p:nvSpPr>
          <p:cNvPr id="73" name="Rectangle 72"/>
          <p:cNvSpPr/>
          <p:nvPr/>
        </p:nvSpPr>
        <p:spPr>
          <a:xfrm>
            <a:off x="4969816" y="4547921"/>
            <a:ext cx="1653997" cy="401612"/>
          </a:xfrm>
          <a:prstGeom prst="rect">
            <a:avLst/>
          </a:prstGeom>
          <a:solidFill>
            <a:srgbClr val="F4F7FA"/>
          </a:solidFill>
          <a:ln w="12700">
            <a:solidFill>
              <a:srgbClr val="D9E2EC"/>
            </a:solidFill>
          </a:ln>
          <a:effectLst/>
        </p:spPr>
        <p:txBody>
          <a:bodyPr rtlCol="0" anchor="ctr"/>
          <a:lstStyle/>
          <a:p>
            <a:pPr algn="ctr"/>
          </a:p>
        </p:txBody>
      </p:sp>
      <p:sp>
        <p:nvSpPr>
          <p:cNvPr id="74" name="TextBox 73"/>
          <p:cNvSpPr txBox="1"/>
          <p:nvPr/>
        </p:nvSpPr>
        <p:spPr>
          <a:xfrm>
            <a:off x="5116120" y="4547921"/>
            <a:ext cx="1361389" cy="401612"/>
          </a:xfrm>
          <a:prstGeom prst="rect">
            <a:avLst/>
          </a:prstGeom>
          <a:noFill/>
        </p:spPr>
        <p:txBody>
          <a:bodyPr wrap="square" lIns="0" rIns="0" tIns="0" bIns="0" anchor="ctr">
            <a:spAutoFit/>
          </a:bodyPr>
          <a:lstStyle/>
          <a:p>
            <a:pPr algn="l">
              <a:lnSpc>
                <a:spcPct val="116000"/>
              </a:lnSpc>
            </a:pPr>
            <a:r>
              <a:rPr sz="1300" b="0" i="0">
                <a:solidFill>
                  <a:srgbClr val="21295C"/>
                </a:solidFill>
                <a:latin typeface="Arial"/>
              </a:rPr>
              <a:t>цена ошибки</a:t>
            </a:r>
          </a:p>
        </p:txBody>
      </p:sp>
      <p:sp>
        <p:nvSpPr>
          <p:cNvPr id="75" name="Rectangle 74"/>
          <p:cNvSpPr/>
          <p:nvPr/>
        </p:nvSpPr>
        <p:spPr>
          <a:xfrm>
            <a:off x="6623814" y="4547921"/>
            <a:ext cx="5028384" cy="401612"/>
          </a:xfrm>
          <a:prstGeom prst="rect">
            <a:avLst/>
          </a:prstGeom>
          <a:solidFill>
            <a:srgbClr val="F4F7FA"/>
          </a:solidFill>
          <a:ln w="12700">
            <a:solidFill>
              <a:srgbClr val="D9E2EC"/>
            </a:solidFill>
          </a:ln>
          <a:effectLst/>
        </p:spPr>
        <p:txBody>
          <a:bodyPr rtlCol="0" anchor="ctr"/>
          <a:lstStyle/>
          <a:p>
            <a:pPr algn="ctr"/>
          </a:p>
        </p:txBody>
      </p:sp>
      <p:sp>
        <p:nvSpPr>
          <p:cNvPr id="76" name="TextBox 75"/>
          <p:cNvSpPr txBox="1"/>
          <p:nvPr/>
        </p:nvSpPr>
        <p:spPr>
          <a:xfrm>
            <a:off x="6770118" y="4547921"/>
            <a:ext cx="4735776" cy="401612"/>
          </a:xfrm>
          <a:prstGeom prst="rect">
            <a:avLst/>
          </a:prstGeom>
          <a:noFill/>
        </p:spPr>
        <p:txBody>
          <a:bodyPr wrap="square" lIns="0" rIns="0" tIns="0" bIns="0" anchor="ctr">
            <a:spAutoFit/>
          </a:bodyPr>
          <a:lstStyle/>
          <a:p>
            <a:pPr algn="l">
              <a:lnSpc>
                <a:spcPct val="116000"/>
              </a:lnSpc>
            </a:pPr>
            <a:r>
              <a:rPr sz="1300" b="0" i="0">
                <a:solidFill>
                  <a:srgbClr val="21295C"/>
                </a:solidFill>
                <a:latin typeface="Arial"/>
              </a:rPr>
              <a:t>вмешаться способны </a:t>
            </a:r>
            <a:r>
              <a:rPr sz="1300" b="1" i="0">
                <a:solidFill>
                  <a:srgbClr val="21295C"/>
                </a:solidFill>
                <a:latin typeface="Arial"/>
              </a:rPr>
              <a:t>56 из 717</a:t>
            </a:r>
            <a:r>
              <a:rPr sz="1300" b="0" i="0">
                <a:solidFill>
                  <a:srgbClr val="21295C"/>
                </a:solidFill>
                <a:latin typeface="Arial"/>
              </a:rPr>
              <a:t> радиологических</a:t>
            </a:r>
          </a:p>
        </p:txBody>
      </p:sp>
      <p:sp>
        <p:nvSpPr>
          <p:cNvPr id="77" name="Rectangle 76"/>
          <p:cNvSpPr/>
          <p:nvPr/>
        </p:nvSpPr>
        <p:spPr>
          <a:xfrm>
            <a:off x="539496" y="4949533"/>
            <a:ext cx="664242" cy="401612"/>
          </a:xfrm>
          <a:prstGeom prst="rect">
            <a:avLst/>
          </a:prstGeom>
          <a:solidFill>
            <a:srgbClr val="FFFFFF"/>
          </a:solidFill>
          <a:ln w="12700">
            <a:solidFill>
              <a:srgbClr val="D9E2EC"/>
            </a:solidFill>
          </a:ln>
          <a:effectLst/>
        </p:spPr>
        <p:txBody>
          <a:bodyPr rtlCol="0" anchor="ctr"/>
          <a:lstStyle/>
          <a:p>
            <a:pPr algn="ctr"/>
          </a:p>
        </p:txBody>
      </p:sp>
      <p:sp>
        <p:nvSpPr>
          <p:cNvPr id="78" name="TextBox 77"/>
          <p:cNvSpPr txBox="1"/>
          <p:nvPr/>
        </p:nvSpPr>
        <p:spPr>
          <a:xfrm>
            <a:off x="685800" y="4949533"/>
            <a:ext cx="371634" cy="401612"/>
          </a:xfrm>
          <a:prstGeom prst="rect">
            <a:avLst/>
          </a:prstGeom>
          <a:noFill/>
        </p:spPr>
        <p:txBody>
          <a:bodyPr wrap="square" lIns="0" rIns="0" tIns="0" bIns="0" anchor="ctr">
            <a:spAutoFit/>
          </a:bodyPr>
          <a:lstStyle/>
          <a:p>
            <a:pPr algn="l">
              <a:lnSpc>
                <a:spcPct val="116000"/>
              </a:lnSpc>
            </a:pPr>
            <a:r>
              <a:rPr sz="1300" b="1" i="0">
                <a:solidFill>
                  <a:srgbClr val="21295C"/>
                </a:solidFill>
                <a:latin typeface="Arial"/>
              </a:rPr>
              <a:t>8</a:t>
            </a:r>
          </a:p>
        </p:txBody>
      </p:sp>
      <p:sp>
        <p:nvSpPr>
          <p:cNvPr id="79" name="Rectangle 78"/>
          <p:cNvSpPr/>
          <p:nvPr/>
        </p:nvSpPr>
        <p:spPr>
          <a:xfrm>
            <a:off x="1203738" y="4949533"/>
            <a:ext cx="3766078" cy="401612"/>
          </a:xfrm>
          <a:prstGeom prst="rect">
            <a:avLst/>
          </a:prstGeom>
          <a:solidFill>
            <a:srgbClr val="FFFFFF"/>
          </a:solidFill>
          <a:ln w="12700">
            <a:solidFill>
              <a:srgbClr val="D9E2EC"/>
            </a:solidFill>
          </a:ln>
          <a:effectLst/>
        </p:spPr>
        <p:txBody>
          <a:bodyPr rtlCol="0" anchor="ctr"/>
          <a:lstStyle/>
          <a:p>
            <a:pPr algn="ctr"/>
          </a:p>
        </p:txBody>
      </p:sp>
      <p:sp>
        <p:nvSpPr>
          <p:cNvPr id="80" name="TextBox 79"/>
          <p:cNvSpPr txBox="1"/>
          <p:nvPr/>
        </p:nvSpPr>
        <p:spPr>
          <a:xfrm>
            <a:off x="1350042" y="4949533"/>
            <a:ext cx="3473470" cy="401612"/>
          </a:xfrm>
          <a:prstGeom prst="rect">
            <a:avLst/>
          </a:prstGeom>
          <a:noFill/>
        </p:spPr>
        <p:txBody>
          <a:bodyPr wrap="square" lIns="0" rIns="0" tIns="0" bIns="0" anchor="ctr">
            <a:spAutoFit/>
          </a:bodyPr>
          <a:lstStyle/>
          <a:p>
            <a:pPr algn="l">
              <a:lnSpc>
                <a:spcPct val="116000"/>
              </a:lnSpc>
            </a:pPr>
            <a:r>
              <a:rPr sz="1300" b="0" i="0">
                <a:solidFill>
                  <a:srgbClr val="21295C"/>
                </a:solidFill>
                <a:latin typeface="Arial"/>
              </a:rPr>
              <a:t>Исполнитель тот же, но стал хуже</a:t>
            </a:r>
          </a:p>
        </p:txBody>
      </p:sp>
      <p:sp>
        <p:nvSpPr>
          <p:cNvPr id="81" name="Rectangle 80"/>
          <p:cNvSpPr/>
          <p:nvPr/>
        </p:nvSpPr>
        <p:spPr>
          <a:xfrm>
            <a:off x="4969816" y="4949533"/>
            <a:ext cx="1653997" cy="401612"/>
          </a:xfrm>
          <a:prstGeom prst="rect">
            <a:avLst/>
          </a:prstGeom>
          <a:solidFill>
            <a:srgbClr val="FFFFFF"/>
          </a:solidFill>
          <a:ln w="12700">
            <a:solidFill>
              <a:srgbClr val="D9E2EC"/>
            </a:solidFill>
          </a:ln>
          <a:effectLst/>
        </p:spPr>
        <p:txBody>
          <a:bodyPr rtlCol="0" anchor="ctr"/>
          <a:lstStyle/>
          <a:p>
            <a:pPr algn="ctr"/>
          </a:p>
        </p:txBody>
      </p:sp>
      <p:sp>
        <p:nvSpPr>
          <p:cNvPr id="82" name="TextBox 81"/>
          <p:cNvSpPr txBox="1"/>
          <p:nvPr/>
        </p:nvSpPr>
        <p:spPr>
          <a:xfrm>
            <a:off x="5116120" y="4949533"/>
            <a:ext cx="1361389" cy="401612"/>
          </a:xfrm>
          <a:prstGeom prst="rect">
            <a:avLst/>
          </a:prstGeom>
          <a:noFill/>
        </p:spPr>
        <p:txBody>
          <a:bodyPr wrap="square" lIns="0" rIns="0" tIns="0" bIns="0" anchor="ctr">
            <a:spAutoFit/>
          </a:bodyPr>
          <a:lstStyle/>
          <a:p>
            <a:pPr algn="l">
              <a:lnSpc>
                <a:spcPct val="116000"/>
              </a:lnSpc>
            </a:pPr>
            <a:r>
              <a:rPr sz="1300" b="0" i="0">
                <a:solidFill>
                  <a:srgbClr val="21295C"/>
                </a:solidFill>
                <a:latin typeface="Arial"/>
              </a:rPr>
              <a:t>рука</a:t>
            </a:r>
          </a:p>
        </p:txBody>
      </p:sp>
      <p:sp>
        <p:nvSpPr>
          <p:cNvPr id="83" name="Rectangle 82"/>
          <p:cNvSpPr/>
          <p:nvPr/>
        </p:nvSpPr>
        <p:spPr>
          <a:xfrm>
            <a:off x="6623814" y="4949533"/>
            <a:ext cx="5028384" cy="401612"/>
          </a:xfrm>
          <a:prstGeom prst="rect">
            <a:avLst/>
          </a:prstGeom>
          <a:solidFill>
            <a:srgbClr val="FFFFFF"/>
          </a:solidFill>
          <a:ln w="12700">
            <a:solidFill>
              <a:srgbClr val="D9E2EC"/>
            </a:solidFill>
          </a:ln>
          <a:effectLst/>
        </p:spPr>
        <p:txBody>
          <a:bodyPr rtlCol="0" anchor="ctr"/>
          <a:lstStyle/>
          <a:p>
            <a:pPr algn="ctr"/>
          </a:p>
        </p:txBody>
      </p:sp>
      <p:sp>
        <p:nvSpPr>
          <p:cNvPr id="84" name="TextBox 83"/>
          <p:cNvSpPr txBox="1"/>
          <p:nvPr/>
        </p:nvSpPr>
        <p:spPr>
          <a:xfrm>
            <a:off x="6770118" y="4949533"/>
            <a:ext cx="4735776" cy="401612"/>
          </a:xfrm>
          <a:prstGeom prst="rect">
            <a:avLst/>
          </a:prstGeom>
          <a:noFill/>
        </p:spPr>
        <p:txBody>
          <a:bodyPr wrap="square" lIns="0" rIns="0" tIns="0" bIns="0" anchor="ctr">
            <a:spAutoFit/>
          </a:bodyPr>
          <a:lstStyle/>
          <a:p>
            <a:pPr algn="l">
              <a:lnSpc>
                <a:spcPct val="116000"/>
              </a:lnSpc>
            </a:pPr>
            <a:r>
              <a:rPr sz="1300" b="1" i="0">
                <a:solidFill>
                  <a:srgbClr val="21295C"/>
                </a:solidFill>
                <a:latin typeface="Arial"/>
              </a:rPr>
              <a:t>28,4 → 22,4</a:t>
            </a:r>
            <a:r>
              <a:rPr sz="1300" b="0" i="0">
                <a:solidFill>
                  <a:srgbClr val="21295C"/>
                </a:solidFill>
                <a:latin typeface="Arial"/>
              </a:rPr>
              <a:t> из ста</a:t>
            </a:r>
          </a:p>
        </p:txBody>
      </p:sp>
      <p:sp>
        <p:nvSpPr>
          <p:cNvPr id="85" name="Rectangle 84"/>
          <p:cNvSpPr/>
          <p:nvPr/>
        </p:nvSpPr>
        <p:spPr>
          <a:xfrm>
            <a:off x="539496" y="5351146"/>
            <a:ext cx="664242" cy="401612"/>
          </a:xfrm>
          <a:prstGeom prst="rect">
            <a:avLst/>
          </a:prstGeom>
          <a:solidFill>
            <a:srgbClr val="F4F7FA"/>
          </a:solidFill>
          <a:ln w="12700">
            <a:solidFill>
              <a:srgbClr val="D9E2EC"/>
            </a:solidFill>
          </a:ln>
          <a:effectLst/>
        </p:spPr>
        <p:txBody>
          <a:bodyPr rtlCol="0" anchor="ctr"/>
          <a:lstStyle/>
          <a:p>
            <a:pPr algn="ctr"/>
          </a:p>
        </p:txBody>
      </p:sp>
      <p:sp>
        <p:nvSpPr>
          <p:cNvPr id="86" name="TextBox 85"/>
          <p:cNvSpPr txBox="1"/>
          <p:nvPr/>
        </p:nvSpPr>
        <p:spPr>
          <a:xfrm>
            <a:off x="685800" y="5351146"/>
            <a:ext cx="371634" cy="401612"/>
          </a:xfrm>
          <a:prstGeom prst="rect">
            <a:avLst/>
          </a:prstGeom>
          <a:noFill/>
        </p:spPr>
        <p:txBody>
          <a:bodyPr wrap="square" lIns="0" rIns="0" tIns="0" bIns="0" anchor="ctr">
            <a:spAutoFit/>
          </a:bodyPr>
          <a:lstStyle/>
          <a:p>
            <a:pPr algn="l">
              <a:lnSpc>
                <a:spcPct val="116000"/>
              </a:lnSpc>
            </a:pPr>
            <a:r>
              <a:rPr sz="1300" b="0" i="0">
                <a:solidFill>
                  <a:srgbClr val="21295C"/>
                </a:solidFill>
                <a:latin typeface="Arial"/>
              </a:rPr>
              <a:t>8а</a:t>
            </a:r>
          </a:p>
        </p:txBody>
      </p:sp>
      <p:sp>
        <p:nvSpPr>
          <p:cNvPr id="87" name="Rectangle 86"/>
          <p:cNvSpPr/>
          <p:nvPr/>
        </p:nvSpPr>
        <p:spPr>
          <a:xfrm>
            <a:off x="1203738" y="5351146"/>
            <a:ext cx="3766078" cy="401612"/>
          </a:xfrm>
          <a:prstGeom prst="rect">
            <a:avLst/>
          </a:prstGeom>
          <a:solidFill>
            <a:srgbClr val="F4F7FA"/>
          </a:solidFill>
          <a:ln w="12700">
            <a:solidFill>
              <a:srgbClr val="D9E2EC"/>
            </a:solidFill>
          </a:ln>
          <a:effectLst/>
        </p:spPr>
        <p:txBody>
          <a:bodyPr rtlCol="0" anchor="ctr"/>
          <a:lstStyle/>
          <a:p>
            <a:pPr algn="ctr"/>
          </a:p>
        </p:txBody>
      </p:sp>
      <p:sp>
        <p:nvSpPr>
          <p:cNvPr id="88" name="TextBox 87"/>
          <p:cNvSpPr txBox="1"/>
          <p:nvPr/>
        </p:nvSpPr>
        <p:spPr>
          <a:xfrm>
            <a:off x="1350042" y="5351146"/>
            <a:ext cx="3473470" cy="401612"/>
          </a:xfrm>
          <a:prstGeom prst="rect">
            <a:avLst/>
          </a:prstGeom>
          <a:noFill/>
        </p:spPr>
        <p:txBody>
          <a:bodyPr wrap="square" lIns="0" rIns="0" tIns="0" bIns="0" anchor="ctr">
            <a:spAutoFit/>
          </a:bodyPr>
          <a:lstStyle/>
          <a:p>
            <a:pPr algn="l">
              <a:lnSpc>
                <a:spcPct val="116000"/>
              </a:lnSpc>
            </a:pPr>
            <a:r>
              <a:rPr sz="1300" b="0" i="1">
                <a:solidFill>
                  <a:srgbClr val="21295C"/>
                </a:solidFill>
                <a:latin typeface="Arial"/>
              </a:rPr>
              <a:t>Исполнитель тот же, но стал лучше</a:t>
            </a:r>
          </a:p>
        </p:txBody>
      </p:sp>
      <p:sp>
        <p:nvSpPr>
          <p:cNvPr id="89" name="Rectangle 88"/>
          <p:cNvSpPr/>
          <p:nvPr/>
        </p:nvSpPr>
        <p:spPr>
          <a:xfrm>
            <a:off x="4969816" y="5351146"/>
            <a:ext cx="1653997" cy="401612"/>
          </a:xfrm>
          <a:prstGeom prst="rect">
            <a:avLst/>
          </a:prstGeom>
          <a:solidFill>
            <a:srgbClr val="F4F7FA"/>
          </a:solidFill>
          <a:ln w="12700">
            <a:solidFill>
              <a:srgbClr val="D9E2EC"/>
            </a:solidFill>
          </a:ln>
          <a:effectLst/>
        </p:spPr>
        <p:txBody>
          <a:bodyPr rtlCol="0" anchor="ctr"/>
          <a:lstStyle/>
          <a:p>
            <a:pPr algn="ctr"/>
          </a:p>
        </p:txBody>
      </p:sp>
      <p:sp>
        <p:nvSpPr>
          <p:cNvPr id="90" name="TextBox 89"/>
          <p:cNvSpPr txBox="1"/>
          <p:nvPr/>
        </p:nvSpPr>
        <p:spPr>
          <a:xfrm>
            <a:off x="5116120" y="5351146"/>
            <a:ext cx="1361389" cy="401612"/>
          </a:xfrm>
          <a:prstGeom prst="rect">
            <a:avLst/>
          </a:prstGeom>
          <a:noFill/>
        </p:spPr>
        <p:txBody>
          <a:bodyPr wrap="square" lIns="0" rIns="0" tIns="0" bIns="0" anchor="ctr">
            <a:spAutoFit/>
          </a:bodyPr>
          <a:lstStyle/>
          <a:p>
            <a:pPr algn="l">
              <a:lnSpc>
                <a:spcPct val="116000"/>
              </a:lnSpc>
            </a:pPr>
            <a:r>
              <a:rPr sz="1300" b="0" i="1">
                <a:solidFill>
                  <a:srgbClr val="21295C"/>
                </a:solidFill>
                <a:latin typeface="Arial"/>
              </a:rPr>
              <a:t>рука</a:t>
            </a:r>
          </a:p>
        </p:txBody>
      </p:sp>
      <p:sp>
        <p:nvSpPr>
          <p:cNvPr id="91" name="Rectangle 90"/>
          <p:cNvSpPr/>
          <p:nvPr/>
        </p:nvSpPr>
        <p:spPr>
          <a:xfrm>
            <a:off x="6623814" y="5351146"/>
            <a:ext cx="5028384" cy="401612"/>
          </a:xfrm>
          <a:prstGeom prst="rect">
            <a:avLst/>
          </a:prstGeom>
          <a:solidFill>
            <a:srgbClr val="F4F7FA"/>
          </a:solidFill>
          <a:ln w="12700">
            <a:solidFill>
              <a:srgbClr val="D9E2EC"/>
            </a:solidFill>
          </a:ln>
          <a:effectLst/>
        </p:spPr>
        <p:txBody>
          <a:bodyPr rtlCol="0" anchor="ctr"/>
          <a:lstStyle/>
          <a:p>
            <a:pPr algn="ctr"/>
          </a:p>
        </p:txBody>
      </p:sp>
      <p:sp>
        <p:nvSpPr>
          <p:cNvPr id="92" name="TextBox 91"/>
          <p:cNvSpPr txBox="1"/>
          <p:nvPr/>
        </p:nvSpPr>
        <p:spPr>
          <a:xfrm>
            <a:off x="6770118" y="5351146"/>
            <a:ext cx="4735776" cy="401612"/>
          </a:xfrm>
          <a:prstGeom prst="rect">
            <a:avLst/>
          </a:prstGeom>
          <a:noFill/>
        </p:spPr>
        <p:txBody>
          <a:bodyPr wrap="square" lIns="0" rIns="0" tIns="0" bIns="0" anchor="ctr">
            <a:spAutoFit/>
          </a:bodyPr>
          <a:lstStyle/>
          <a:p>
            <a:pPr algn="l">
              <a:lnSpc>
                <a:spcPct val="116000"/>
              </a:lnSpc>
            </a:pPr>
            <a:r>
              <a:rPr sz="1300" b="0" i="1">
                <a:solidFill>
                  <a:srgbClr val="21295C"/>
                </a:solidFill>
                <a:latin typeface="Arial"/>
              </a:rPr>
              <a:t>измерения нет</a:t>
            </a:r>
          </a:p>
        </p:txBody>
      </p:sp>
      <p:sp>
        <p:nvSpPr>
          <p:cNvPr id="93" name="TextBox 92"/>
          <p:cNvSpPr txBox="1"/>
          <p:nvPr/>
        </p:nvSpPr>
        <p:spPr>
          <a:xfrm>
            <a:off x="539496" y="5899062"/>
            <a:ext cx="11112703" cy="272856"/>
          </a:xfrm>
          <a:prstGeom prst="rect">
            <a:avLst/>
          </a:prstGeom>
          <a:noFill/>
        </p:spPr>
        <p:txBody>
          <a:bodyPr wrap="square" lIns="0" rIns="0" tIns="0" bIns="0" anchor="t">
            <a:spAutoFit/>
          </a:bodyPr>
          <a:lstStyle/>
          <a:p>
            <a:pPr algn="l">
              <a:lnSpc>
                <a:spcPct val="124000"/>
              </a:lnSpc>
            </a:pPr>
            <a:r>
              <a:rPr sz="1400" b="1" i="0">
                <a:solidFill>
                  <a:srgbClr val="21295C"/>
                </a:solidFill>
                <a:latin typeface="Arial"/>
              </a:rPr>
              <a:t>Семь форм из девяти со счётом. Какая из девяти встречалась у вас на работе?</a:t>
            </a:r>
          </a:p>
        </p:txBody>
      </p:sp>
      <p:sp>
        <p:nvSpPr>
          <p:cNvPr id="94" name="Rectangle 93"/>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95" name="TextBox 94"/>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счёт собран по разборам лекции — работы названы в заметках</a:t>
            </a:r>
          </a:p>
        </p:txBody>
      </p:sp>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Выигрыш приписан не тому: восемь раз за лекцию</a:t>
            </a:r>
          </a:p>
        </p:txBody>
      </p:sp>
      <p:sp>
        <p:nvSpPr>
          <p:cNvPr id="4" name="Rounded Rectangle 3"/>
          <p:cNvSpPr/>
          <p:nvPr/>
        </p:nvSpPr>
        <p:spPr>
          <a:xfrm>
            <a:off x="502920" y="1335024"/>
            <a:ext cx="5510631" cy="1165753"/>
          </a:xfrm>
          <a:prstGeom prst="roundRect">
            <a:avLst>
              <a:gd name="adj" fmla="val 25000"/>
            </a:avLst>
          </a:prstGeom>
          <a:solidFill>
            <a:srgbClr val="FFFFFF"/>
          </a:solidFill>
          <a:ln w="25400">
            <a:solidFill>
              <a:srgbClr val="F0AB00"/>
            </a:solidFill>
          </a:ln>
          <a:effectLst/>
        </p:spPr>
        <p:txBody>
          <a:bodyPr rtlCol="0" anchor="ctr"/>
          <a:lstStyle/>
          <a:p>
            <a:pPr algn="ctr"/>
          </a:p>
        </p:txBody>
      </p:sp>
      <p:sp>
        <p:nvSpPr>
          <p:cNvPr id="5" name="TextBox 4"/>
          <p:cNvSpPr txBox="1"/>
          <p:nvPr/>
        </p:nvSpPr>
        <p:spPr>
          <a:xfrm>
            <a:off x="640080" y="1472184"/>
            <a:ext cx="5236311"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ПОДТВЕРЖДЕНО ПРИМЕРОМ</a:t>
            </a:r>
          </a:p>
        </p:txBody>
      </p:sp>
      <p:sp>
        <p:nvSpPr>
          <p:cNvPr id="6" name="TextBox 5"/>
          <p:cNvSpPr txBox="1"/>
          <p:nvPr/>
        </p:nvSpPr>
        <p:spPr>
          <a:xfrm>
            <a:off x="640080" y="1725375"/>
            <a:ext cx="5236311"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8 из 15 номинаций</a:t>
            </a:r>
          </a:p>
        </p:txBody>
      </p:sp>
      <p:sp>
        <p:nvSpPr>
          <p:cNvPr id="7" name="TextBox 6"/>
          <p:cNvSpPr txBox="1"/>
          <p:nvPr/>
        </p:nvSpPr>
        <p:spPr>
          <a:xfrm>
            <a:off x="640080" y="2152374"/>
            <a:ext cx="5236311"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пример показан залу</a:t>
            </a:r>
          </a:p>
        </p:txBody>
      </p:sp>
      <p:sp>
        <p:nvSpPr>
          <p:cNvPr id="8" name="Rounded Rectangle 7"/>
          <p:cNvSpPr/>
          <p:nvPr/>
        </p:nvSpPr>
        <p:spPr>
          <a:xfrm>
            <a:off x="6178143" y="1335024"/>
            <a:ext cx="5510631" cy="1165753"/>
          </a:xfrm>
          <a:prstGeom prst="roundRect">
            <a:avLst>
              <a:gd name="adj" fmla="val 25000"/>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6315303" y="1472184"/>
            <a:ext cx="5236311"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ОСТАЛОСЬ В ГЛАВЕ</a:t>
            </a:r>
          </a:p>
        </p:txBody>
      </p:sp>
      <p:sp>
        <p:nvSpPr>
          <p:cNvPr id="10" name="TextBox 9"/>
          <p:cNvSpPr txBox="1"/>
          <p:nvPr/>
        </p:nvSpPr>
        <p:spPr>
          <a:xfrm>
            <a:off x="6315303" y="1725375"/>
            <a:ext cx="5236311"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семь</a:t>
            </a:r>
          </a:p>
        </p:txBody>
      </p:sp>
      <p:sp>
        <p:nvSpPr>
          <p:cNvPr id="11" name="TextBox 10"/>
          <p:cNvSpPr txBox="1"/>
          <p:nvPr/>
        </p:nvSpPr>
        <p:spPr>
          <a:xfrm>
            <a:off x="6315303" y="2152374"/>
            <a:ext cx="5236311"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четыре не показаны, три условно</a:t>
            </a:r>
          </a:p>
        </p:txBody>
      </p:sp>
      <p:sp>
        <p:nvSpPr>
          <p:cNvPr id="12" name="Rounded Rectangle 11"/>
          <p:cNvSpPr/>
          <p:nvPr/>
        </p:nvSpPr>
        <p:spPr>
          <a:xfrm>
            <a:off x="374904" y="2592217"/>
            <a:ext cx="11441887" cy="3333831"/>
          </a:xfrm>
          <a:prstGeom prst="roundRect">
            <a:avLst>
              <a:gd name="adj" fmla="val 9142"/>
            </a:avLst>
          </a:prstGeom>
          <a:solidFill>
            <a:srgbClr val="F4F7FA"/>
          </a:solidFill>
          <a:ln w="19050">
            <a:solidFill>
              <a:srgbClr val="1C7293"/>
            </a:solidFill>
          </a:ln>
          <a:effectLst/>
        </p:spPr>
        <p:txBody>
          <a:bodyPr rtlCol="0" anchor="ctr"/>
          <a:lstStyle/>
          <a:p>
            <a:pPr algn="ctr"/>
          </a:p>
        </p:txBody>
      </p:sp>
      <p:sp>
        <p:nvSpPr>
          <p:cNvPr id="13" name="TextBox 12"/>
          <p:cNvSpPr txBox="1"/>
          <p:nvPr/>
        </p:nvSpPr>
        <p:spPr>
          <a:xfrm>
            <a:off x="539496" y="2683657"/>
            <a:ext cx="5373471" cy="3552550"/>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Ниже — девять из этих пятнадцати, названные вслух.</a:t>
            </a:r>
          </a:p>
          <a:p>
            <a:pPr algn="l">
              <a:lnSpc>
                <a:spcPct val="126000"/>
              </a:lnSpc>
              <a:spcBef>
                <a:spcPts val="700"/>
              </a:spcBef>
            </a:pPr>
            <a:r>
              <a:rPr sz="1500" b="0" i="0">
                <a:solidFill>
                  <a:srgbClr val="21295C"/>
                </a:solidFill>
                <a:latin typeface="Arial"/>
              </a:rPr>
              <a:t/>
            </a:r>
            <a:r>
              <a:rPr sz="1500" b="1" i="0">
                <a:solidFill>
                  <a:srgbClr val="21295C"/>
                </a:solidFill>
                <a:latin typeface="Arial"/>
              </a:rPr>
              <a:t>Копаешь — а модели нет.</a:t>
            </a:r>
            <a:r>
              <a:rPr sz="1500" b="0" i="0">
                <a:solidFill>
                  <a:srgbClr val="21295C"/>
                </a:solidFill>
                <a:latin typeface="Arial"/>
              </a:rPr>
              <a:t> Сортировка обращений оказалась деревом «если-то»; прибор, измеряющий насыщение крови кислородом, смещён до модели; тревога кардиомонитора — порог на приборе. </a:t>
            </a:r>
            <a:r>
              <a:rPr sz="1500" b="1" i="0">
                <a:solidFill>
                  <a:srgbClr val="21295C"/>
                </a:solidFill>
                <a:latin typeface="Arial"/>
              </a:rPr>
              <a:t>Убери модель, механизм продолжит работать.</a:t>
            </a:r>
          </a:p>
        </p:txBody>
      </p:sp>
      <p:sp>
        <p:nvSpPr>
          <p:cNvPr id="14" name="TextBox 13"/>
          <p:cNvSpPr txBox="1"/>
          <p:nvPr/>
        </p:nvSpPr>
        <p:spPr>
          <a:xfrm>
            <a:off x="6278727" y="2683657"/>
            <a:ext cx="5373471" cy="3552550"/>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Копаешь — а выигрыш не там.</a:t>
            </a:r>
            <a:r>
              <a:rPr sz="1500" b="0" i="0">
                <a:solidFill>
                  <a:srgbClr val="21295C"/>
                </a:solidFill>
                <a:latin typeface="Arial"/>
              </a:rPr>
              <a:t> Снижение смертности принадлежит новой роли, не качеству прогноза; «ИИ изобрёл лекарство» — расчёту физики связывания; «миллионы исследований» — объёму, знаменателя нет. </a:t>
            </a:r>
            <a:r>
              <a:rPr sz="1500" b="1" i="0">
                <a:solidFill>
                  <a:srgbClr val="21295C"/>
                </a:solidFill>
                <a:latin typeface="Arial"/>
              </a:rPr>
              <a:t>Спроси, от чего посчитан эффект.</a:t>
            </a:r>
          </a:p>
          <a:p>
            <a:pPr algn="l">
              <a:lnSpc>
                <a:spcPct val="126000"/>
              </a:lnSpc>
              <a:spcBef>
                <a:spcPts val="700"/>
              </a:spcBef>
            </a:pPr>
            <a:r>
              <a:rPr sz="1500" b="0" i="0">
                <a:solidFill>
                  <a:srgbClr val="21295C"/>
                </a:solidFill>
                <a:latin typeface="Arial"/>
              </a:rPr>
              <a:t/>
            </a:r>
            <a:r>
              <a:rPr sz="1500" b="1" i="0">
                <a:solidFill>
                  <a:srgbClr val="21295C"/>
                </a:solidFill>
                <a:latin typeface="Arial"/>
              </a:rPr>
              <a:t>Копаешь — а числа выросли при пересказе.</a:t>
            </a:r>
            <a:r>
              <a:rPr sz="1500" b="0" i="0">
                <a:solidFill>
                  <a:srgbClr val="21295C"/>
                </a:solidFill>
                <a:latin typeface="Arial"/>
              </a:rPr>
              <a:t> Обзор перепутал шесть первоисточников из семи; «три секунды на описание» — время модели, не врача; «экономия двойного чтения» взята из вымышленного сценария. </a:t>
            </a:r>
            <a:r>
              <a:rPr sz="1500" b="1" i="0">
                <a:solidFill>
                  <a:srgbClr val="21295C"/>
                </a:solidFill>
                <a:latin typeface="Arial"/>
              </a:rPr>
              <a:t>Открой первоисточник.</a:t>
            </a:r>
          </a:p>
        </p:txBody>
      </p:sp>
      <p:sp>
        <p:nvSpPr>
          <p:cNvPr id="15" name="Rectangle 14"/>
          <p:cNvSpPr/>
          <p:nvPr/>
        </p:nvSpPr>
        <p:spPr>
          <a:xfrm>
            <a:off x="6091275" y="2683657"/>
            <a:ext cx="9144" cy="3059511"/>
          </a:xfrm>
          <a:prstGeom prst="rect">
            <a:avLst/>
          </a:prstGeom>
          <a:solidFill>
            <a:srgbClr val="D9E2EC"/>
          </a:solidFill>
          <a:ln>
            <a:noFill/>
          </a:ln>
          <a:effectLst/>
        </p:spPr>
        <p:txBody>
          <a:bodyPr rtlCol="0" anchor="ctr"/>
          <a:lstStyle/>
          <a:p>
            <a:pPr algn="ctr"/>
          </a:p>
        </p:txBody>
      </p:sp>
      <p:sp>
        <p:nvSpPr>
          <p:cNvPr id="16" name="Rectangle 15"/>
          <p:cNvSpPr/>
          <p:nvPr/>
        </p:nvSpPr>
        <p:spPr>
          <a:xfrm>
            <a:off x="502920" y="888090"/>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9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Итог карты: четыре клетки заняты, восемь пусты</a:t>
            </a:r>
          </a:p>
        </p:txBody>
      </p:sp>
      <p:sp>
        <p:nvSpPr>
          <p:cNvPr id="4" name="Rounded Rectangle 3"/>
          <p:cNvSpPr/>
          <p:nvPr/>
        </p:nvSpPr>
        <p:spPr>
          <a:xfrm>
            <a:off x="374904" y="1243584"/>
            <a:ext cx="11441887" cy="4938092"/>
          </a:xfrm>
          <a:prstGeom prst="roundRect">
            <a:avLst>
              <a:gd name="adj" fmla="val 6172"/>
            </a:avLst>
          </a:prstGeom>
          <a:solidFill>
            <a:srgbClr val="F4F7FA"/>
          </a:solidFill>
          <a:ln w="19050">
            <a:solidFill>
              <a:srgbClr val="1C7293"/>
            </a:solidFill>
          </a:ln>
          <a:effectLst/>
        </p:spPr>
        <p:txBody>
          <a:bodyPr rtlCol="0" anchor="ctr"/>
          <a:lstStyle/>
          <a:p>
            <a:pPr algn="ctr"/>
          </a:p>
        </p:txBody>
      </p:sp>
      <p:sp>
        <p:nvSpPr>
          <p:cNvPr id="5" name="Rectangle 4"/>
          <p:cNvSpPr/>
          <p:nvPr/>
        </p:nvSpPr>
        <p:spPr>
          <a:xfrm>
            <a:off x="539496" y="1335024"/>
            <a:ext cx="1910148" cy="392496"/>
          </a:xfrm>
          <a:prstGeom prst="rect">
            <a:avLst/>
          </a:prstGeom>
          <a:solidFill>
            <a:srgbClr val="065A82"/>
          </a:solidFill>
          <a:ln>
            <a:noFill/>
          </a:ln>
          <a:effectLst/>
        </p:spPr>
        <p:txBody>
          <a:bodyPr rtlCol="0" anchor="ctr"/>
          <a:lstStyle/>
          <a:p>
            <a:pPr algn="ctr"/>
          </a:p>
        </p:txBody>
      </p:sp>
      <p:sp>
        <p:nvSpPr>
          <p:cNvPr id="6" name="TextBox 5"/>
          <p:cNvSpPr txBox="1"/>
          <p:nvPr/>
        </p:nvSpPr>
        <p:spPr>
          <a:xfrm>
            <a:off x="685800" y="1335024"/>
            <a:ext cx="1617540" cy="392496"/>
          </a:xfrm>
          <a:prstGeom prst="rect">
            <a:avLst/>
          </a:prstGeom>
          <a:noFill/>
        </p:spPr>
        <p:txBody>
          <a:bodyPr wrap="square" lIns="0" rIns="0" tIns="0" bIns="0" anchor="ctr">
            <a:spAutoFit/>
          </a:bodyPr>
          <a:lstStyle/>
          <a:p>
            <a:pPr algn="l">
              <a:lnSpc>
                <a:spcPct val="116000"/>
              </a:lnSpc>
            </a:pPr>
            <a:r>
              <a:rPr sz="1250" b="1" i="0">
                <a:solidFill>
                  <a:srgbClr val="FFFFFF"/>
                </a:solidFill>
                <a:latin typeface="Arial"/>
              </a:rPr>
              <a:t/>
            </a:r>
          </a:p>
        </p:txBody>
      </p:sp>
      <p:sp>
        <p:nvSpPr>
          <p:cNvPr id="7" name="Rectangle 6"/>
          <p:cNvSpPr/>
          <p:nvPr/>
        </p:nvSpPr>
        <p:spPr>
          <a:xfrm>
            <a:off x="2449644" y="1335024"/>
            <a:ext cx="2855503" cy="392496"/>
          </a:xfrm>
          <a:prstGeom prst="rect">
            <a:avLst/>
          </a:prstGeom>
          <a:solidFill>
            <a:srgbClr val="065A82"/>
          </a:solidFill>
          <a:ln>
            <a:noFill/>
          </a:ln>
          <a:effectLst/>
        </p:spPr>
        <p:txBody>
          <a:bodyPr rtlCol="0" anchor="ctr"/>
          <a:lstStyle/>
          <a:p>
            <a:pPr algn="ctr"/>
          </a:p>
        </p:txBody>
      </p:sp>
      <p:sp>
        <p:nvSpPr>
          <p:cNvPr id="8" name="TextBox 7"/>
          <p:cNvSpPr txBox="1"/>
          <p:nvPr/>
        </p:nvSpPr>
        <p:spPr>
          <a:xfrm>
            <a:off x="2595948" y="1335024"/>
            <a:ext cx="2562895" cy="392496"/>
          </a:xfrm>
          <a:prstGeom prst="rect">
            <a:avLst/>
          </a:prstGeom>
          <a:noFill/>
        </p:spPr>
        <p:txBody>
          <a:bodyPr wrap="square" lIns="0" rIns="0" tIns="0" bIns="0" anchor="ctr">
            <a:spAutoFit/>
          </a:bodyPr>
          <a:lstStyle/>
          <a:p>
            <a:pPr algn="l">
              <a:lnSpc>
                <a:spcPct val="116000"/>
              </a:lnSpc>
            </a:pPr>
            <a:r>
              <a:rPr sz="1250" b="1" i="0">
                <a:solidFill>
                  <a:srgbClr val="FFFFFF"/>
                </a:solidFill>
                <a:latin typeface="Arial"/>
              </a:rPr>
              <a:t>текст</a:t>
            </a:r>
          </a:p>
        </p:txBody>
      </p:sp>
      <p:sp>
        <p:nvSpPr>
          <p:cNvPr id="9" name="Rectangle 8"/>
          <p:cNvSpPr/>
          <p:nvPr/>
        </p:nvSpPr>
        <p:spPr>
          <a:xfrm>
            <a:off x="5305147" y="1335024"/>
            <a:ext cx="2950511" cy="392496"/>
          </a:xfrm>
          <a:prstGeom prst="rect">
            <a:avLst/>
          </a:prstGeom>
          <a:solidFill>
            <a:srgbClr val="065A82"/>
          </a:solidFill>
          <a:ln>
            <a:noFill/>
          </a:ln>
          <a:effectLst/>
        </p:spPr>
        <p:txBody>
          <a:bodyPr rtlCol="0" anchor="ctr"/>
          <a:lstStyle/>
          <a:p>
            <a:pPr algn="ctr"/>
          </a:p>
        </p:txBody>
      </p:sp>
      <p:sp>
        <p:nvSpPr>
          <p:cNvPr id="10" name="TextBox 9"/>
          <p:cNvSpPr txBox="1"/>
          <p:nvPr/>
        </p:nvSpPr>
        <p:spPr>
          <a:xfrm>
            <a:off x="5451451" y="1335024"/>
            <a:ext cx="2657903" cy="392496"/>
          </a:xfrm>
          <a:prstGeom prst="rect">
            <a:avLst/>
          </a:prstGeom>
          <a:noFill/>
        </p:spPr>
        <p:txBody>
          <a:bodyPr wrap="square" lIns="0" rIns="0" tIns="0" bIns="0" anchor="ctr">
            <a:spAutoFit/>
          </a:bodyPr>
          <a:lstStyle/>
          <a:p>
            <a:pPr algn="l">
              <a:lnSpc>
                <a:spcPct val="116000"/>
              </a:lnSpc>
            </a:pPr>
            <a:r>
              <a:rPr sz="1250" b="1" i="0">
                <a:solidFill>
                  <a:srgbClr val="FFFFFF"/>
                </a:solidFill>
                <a:latin typeface="Arial"/>
              </a:rPr>
              <a:t>изображение</a:t>
            </a:r>
          </a:p>
        </p:txBody>
      </p:sp>
      <p:sp>
        <p:nvSpPr>
          <p:cNvPr id="11" name="Rectangle 10"/>
          <p:cNvSpPr/>
          <p:nvPr/>
        </p:nvSpPr>
        <p:spPr>
          <a:xfrm>
            <a:off x="8255659" y="1335024"/>
            <a:ext cx="3396539" cy="392496"/>
          </a:xfrm>
          <a:prstGeom prst="rect">
            <a:avLst/>
          </a:prstGeom>
          <a:solidFill>
            <a:srgbClr val="065A82"/>
          </a:solidFill>
          <a:ln>
            <a:noFill/>
          </a:ln>
          <a:effectLst/>
        </p:spPr>
        <p:txBody>
          <a:bodyPr rtlCol="0" anchor="ctr"/>
          <a:lstStyle/>
          <a:p>
            <a:pPr algn="ctr"/>
          </a:p>
        </p:txBody>
      </p:sp>
      <p:sp>
        <p:nvSpPr>
          <p:cNvPr id="12" name="TextBox 11"/>
          <p:cNvSpPr txBox="1"/>
          <p:nvPr/>
        </p:nvSpPr>
        <p:spPr>
          <a:xfrm>
            <a:off x="8401963" y="1335024"/>
            <a:ext cx="3103931" cy="392496"/>
          </a:xfrm>
          <a:prstGeom prst="rect">
            <a:avLst/>
          </a:prstGeom>
          <a:noFill/>
        </p:spPr>
        <p:txBody>
          <a:bodyPr wrap="square" lIns="0" rIns="0" tIns="0" bIns="0" anchor="ctr">
            <a:spAutoFit/>
          </a:bodyPr>
          <a:lstStyle/>
          <a:p>
            <a:pPr algn="l">
              <a:lnSpc>
                <a:spcPct val="116000"/>
              </a:lnSpc>
            </a:pPr>
            <a:r>
              <a:rPr sz="1250" b="1" i="0">
                <a:solidFill>
                  <a:srgbClr val="FFFFFF"/>
                </a:solidFill>
                <a:latin typeface="Arial"/>
              </a:rPr>
              <a:t>структурированные данные</a:t>
            </a:r>
          </a:p>
        </p:txBody>
      </p:sp>
      <p:sp>
        <p:nvSpPr>
          <p:cNvPr id="13" name="Rectangle 12"/>
          <p:cNvSpPr/>
          <p:nvPr/>
        </p:nvSpPr>
        <p:spPr>
          <a:xfrm>
            <a:off x="539496" y="1727520"/>
            <a:ext cx="1910148" cy="620400"/>
          </a:xfrm>
          <a:prstGeom prst="rect">
            <a:avLst/>
          </a:prstGeom>
          <a:solidFill>
            <a:srgbClr val="FFFFFF"/>
          </a:solidFill>
          <a:ln w="12700">
            <a:solidFill>
              <a:srgbClr val="D9E2EC"/>
            </a:solidFill>
          </a:ln>
          <a:effectLst/>
        </p:spPr>
        <p:txBody>
          <a:bodyPr rtlCol="0" anchor="ctr"/>
          <a:lstStyle/>
          <a:p>
            <a:pPr algn="ctr"/>
          </a:p>
        </p:txBody>
      </p:sp>
      <p:sp>
        <p:nvSpPr>
          <p:cNvPr id="14" name="TextBox 13"/>
          <p:cNvSpPr txBox="1"/>
          <p:nvPr/>
        </p:nvSpPr>
        <p:spPr>
          <a:xfrm>
            <a:off x="685800" y="1727520"/>
            <a:ext cx="1617540" cy="620400"/>
          </a:xfrm>
          <a:prstGeom prst="rect">
            <a:avLst/>
          </a:prstGeom>
          <a:noFill/>
        </p:spPr>
        <p:txBody>
          <a:bodyPr wrap="square" lIns="0" rIns="0" tIns="0" bIns="0" anchor="ctr">
            <a:spAutoFit/>
          </a:bodyPr>
          <a:lstStyle/>
          <a:p>
            <a:pPr algn="l">
              <a:lnSpc>
                <a:spcPct val="116000"/>
              </a:lnSpc>
            </a:pPr>
            <a:r>
              <a:rPr sz="1250" b="0" i="0">
                <a:solidFill>
                  <a:srgbClr val="21295C"/>
                </a:solidFill>
                <a:latin typeface="Arial"/>
              </a:rPr>
              <a:t>классификация</a:t>
            </a:r>
          </a:p>
        </p:txBody>
      </p:sp>
      <p:sp>
        <p:nvSpPr>
          <p:cNvPr id="15" name="Rectangle 14"/>
          <p:cNvSpPr/>
          <p:nvPr/>
        </p:nvSpPr>
        <p:spPr>
          <a:xfrm>
            <a:off x="2449644" y="1727520"/>
            <a:ext cx="2855503" cy="620400"/>
          </a:xfrm>
          <a:prstGeom prst="rect">
            <a:avLst/>
          </a:prstGeom>
          <a:solidFill>
            <a:srgbClr val="FFFFFF"/>
          </a:solidFill>
          <a:ln w="12700">
            <a:solidFill>
              <a:srgbClr val="D9E2EC"/>
            </a:solidFill>
          </a:ln>
          <a:effectLst/>
        </p:spPr>
        <p:txBody>
          <a:bodyPr rtlCol="0" anchor="ctr"/>
          <a:lstStyle/>
          <a:p>
            <a:pPr algn="ctr"/>
          </a:p>
        </p:txBody>
      </p:sp>
      <p:sp>
        <p:nvSpPr>
          <p:cNvPr id="16" name="TextBox 15"/>
          <p:cNvSpPr txBox="1"/>
          <p:nvPr/>
        </p:nvSpPr>
        <p:spPr>
          <a:xfrm>
            <a:off x="2595948" y="1727520"/>
            <a:ext cx="2562895" cy="620400"/>
          </a:xfrm>
          <a:prstGeom prst="rect">
            <a:avLst/>
          </a:prstGeom>
          <a:noFill/>
        </p:spPr>
        <p:txBody>
          <a:bodyPr wrap="square" lIns="0" rIns="0" tIns="0" bIns="0" anchor="ctr">
            <a:spAutoFit/>
          </a:bodyPr>
          <a:lstStyle/>
          <a:p>
            <a:pPr algn="l">
              <a:lnSpc>
                <a:spcPct val="116000"/>
              </a:lnSpc>
            </a:pPr>
            <a:r>
              <a:rPr sz="1250" b="0" i="0">
                <a:solidFill>
                  <a:srgbClr val="21295C"/>
                </a:solidFill>
                <a:latin typeface="Arial"/>
              </a:rPr>
              <a:t>—</a:t>
            </a:r>
          </a:p>
        </p:txBody>
      </p:sp>
      <p:sp>
        <p:nvSpPr>
          <p:cNvPr id="17" name="Rectangle 16"/>
          <p:cNvSpPr/>
          <p:nvPr/>
        </p:nvSpPr>
        <p:spPr>
          <a:xfrm>
            <a:off x="5305147" y="1727520"/>
            <a:ext cx="2950511" cy="620400"/>
          </a:xfrm>
          <a:prstGeom prst="rect">
            <a:avLst/>
          </a:prstGeom>
          <a:solidFill>
            <a:srgbClr val="FFFFFF"/>
          </a:solidFill>
          <a:ln w="12700">
            <a:solidFill>
              <a:srgbClr val="D9E2EC"/>
            </a:solidFill>
          </a:ln>
          <a:effectLst/>
        </p:spPr>
        <p:txBody>
          <a:bodyPr rtlCol="0" anchor="ctr"/>
          <a:lstStyle/>
          <a:p>
            <a:pPr algn="ctr"/>
          </a:p>
        </p:txBody>
      </p:sp>
      <p:sp>
        <p:nvSpPr>
          <p:cNvPr id="18" name="TextBox 17"/>
          <p:cNvSpPr txBox="1"/>
          <p:nvPr/>
        </p:nvSpPr>
        <p:spPr>
          <a:xfrm>
            <a:off x="5451451" y="1727520"/>
            <a:ext cx="2657903" cy="620400"/>
          </a:xfrm>
          <a:prstGeom prst="rect">
            <a:avLst/>
          </a:prstGeom>
          <a:noFill/>
        </p:spPr>
        <p:txBody>
          <a:bodyPr wrap="square" lIns="0" rIns="0" tIns="0" bIns="0" anchor="ctr">
            <a:spAutoFit/>
          </a:bodyPr>
          <a:lstStyle/>
          <a:p>
            <a:pPr algn="l">
              <a:lnSpc>
                <a:spcPct val="116000"/>
              </a:lnSpc>
            </a:pPr>
            <a:r>
              <a:rPr sz="1250" b="0" i="0">
                <a:solidFill>
                  <a:srgbClr val="21295C"/>
                </a:solidFill>
                <a:latin typeface="Arial"/>
              </a:rPr>
              <a:t>скрининг · диагностика · диагноз</a:t>
            </a:r>
          </a:p>
        </p:txBody>
      </p:sp>
      <p:sp>
        <p:nvSpPr>
          <p:cNvPr id="19" name="Rectangle 18"/>
          <p:cNvSpPr/>
          <p:nvPr/>
        </p:nvSpPr>
        <p:spPr>
          <a:xfrm>
            <a:off x="8255659" y="1727520"/>
            <a:ext cx="3396539" cy="620400"/>
          </a:xfrm>
          <a:prstGeom prst="rect">
            <a:avLst/>
          </a:prstGeom>
          <a:solidFill>
            <a:srgbClr val="FFFFFF"/>
          </a:solidFill>
          <a:ln w="12700">
            <a:solidFill>
              <a:srgbClr val="D9E2EC"/>
            </a:solidFill>
          </a:ln>
          <a:effectLst/>
        </p:spPr>
        <p:txBody>
          <a:bodyPr rtlCol="0" anchor="ctr"/>
          <a:lstStyle/>
          <a:p>
            <a:pPr algn="ctr"/>
          </a:p>
        </p:txBody>
      </p:sp>
      <p:sp>
        <p:nvSpPr>
          <p:cNvPr id="20" name="TextBox 19"/>
          <p:cNvSpPr txBox="1"/>
          <p:nvPr/>
        </p:nvSpPr>
        <p:spPr>
          <a:xfrm>
            <a:off x="8401963" y="1727520"/>
            <a:ext cx="3103931" cy="620400"/>
          </a:xfrm>
          <a:prstGeom prst="rect">
            <a:avLst/>
          </a:prstGeom>
          <a:noFill/>
        </p:spPr>
        <p:txBody>
          <a:bodyPr wrap="square" lIns="0" rIns="0" tIns="0" bIns="0" anchor="ctr">
            <a:spAutoFit/>
          </a:bodyPr>
          <a:lstStyle/>
          <a:p>
            <a:pPr algn="l">
              <a:lnSpc>
                <a:spcPct val="116000"/>
              </a:lnSpc>
            </a:pPr>
            <a:r>
              <a:rPr sz="1250" b="0" i="0">
                <a:solidFill>
                  <a:srgbClr val="21295C"/>
                </a:solidFill>
                <a:latin typeface="Arial"/>
              </a:rPr>
              <a:t>—</a:t>
            </a:r>
          </a:p>
        </p:txBody>
      </p:sp>
      <p:sp>
        <p:nvSpPr>
          <p:cNvPr id="21" name="Rectangle 20"/>
          <p:cNvSpPr/>
          <p:nvPr/>
        </p:nvSpPr>
        <p:spPr>
          <a:xfrm>
            <a:off x="539496" y="2347920"/>
            <a:ext cx="1910148" cy="392496"/>
          </a:xfrm>
          <a:prstGeom prst="rect">
            <a:avLst/>
          </a:prstGeom>
          <a:solidFill>
            <a:srgbClr val="F4F7FA"/>
          </a:solidFill>
          <a:ln w="12700">
            <a:solidFill>
              <a:srgbClr val="D9E2EC"/>
            </a:solidFill>
          </a:ln>
          <a:effectLst/>
        </p:spPr>
        <p:txBody>
          <a:bodyPr rtlCol="0" anchor="ctr"/>
          <a:lstStyle/>
          <a:p>
            <a:pPr algn="ctr"/>
          </a:p>
        </p:txBody>
      </p:sp>
      <p:sp>
        <p:nvSpPr>
          <p:cNvPr id="22" name="TextBox 21"/>
          <p:cNvSpPr txBox="1"/>
          <p:nvPr/>
        </p:nvSpPr>
        <p:spPr>
          <a:xfrm>
            <a:off x="685800" y="2347920"/>
            <a:ext cx="1617540" cy="392496"/>
          </a:xfrm>
          <a:prstGeom prst="rect">
            <a:avLst/>
          </a:prstGeom>
          <a:noFill/>
        </p:spPr>
        <p:txBody>
          <a:bodyPr wrap="square" lIns="0" rIns="0" tIns="0" bIns="0" anchor="ctr">
            <a:spAutoFit/>
          </a:bodyPr>
          <a:lstStyle/>
          <a:p>
            <a:pPr algn="l">
              <a:lnSpc>
                <a:spcPct val="116000"/>
              </a:lnSpc>
            </a:pPr>
            <a:r>
              <a:rPr sz="1250" b="0" i="0">
                <a:solidFill>
                  <a:srgbClr val="21295C"/>
                </a:solidFill>
                <a:latin typeface="Arial"/>
              </a:rPr>
              <a:t>распознавание</a:t>
            </a:r>
          </a:p>
        </p:txBody>
      </p:sp>
      <p:sp>
        <p:nvSpPr>
          <p:cNvPr id="23" name="Rectangle 22"/>
          <p:cNvSpPr/>
          <p:nvPr/>
        </p:nvSpPr>
        <p:spPr>
          <a:xfrm>
            <a:off x="2449644" y="2347920"/>
            <a:ext cx="2855503" cy="392496"/>
          </a:xfrm>
          <a:prstGeom prst="rect">
            <a:avLst/>
          </a:prstGeom>
          <a:solidFill>
            <a:srgbClr val="F4F7FA"/>
          </a:solidFill>
          <a:ln w="12700">
            <a:solidFill>
              <a:srgbClr val="D9E2EC"/>
            </a:solidFill>
          </a:ln>
          <a:effectLst/>
        </p:spPr>
        <p:txBody>
          <a:bodyPr rtlCol="0" anchor="ctr"/>
          <a:lstStyle/>
          <a:p>
            <a:pPr algn="ctr"/>
          </a:p>
        </p:txBody>
      </p:sp>
      <p:sp>
        <p:nvSpPr>
          <p:cNvPr id="24" name="TextBox 23"/>
          <p:cNvSpPr txBox="1"/>
          <p:nvPr/>
        </p:nvSpPr>
        <p:spPr>
          <a:xfrm>
            <a:off x="2595948" y="2347920"/>
            <a:ext cx="2562895" cy="392496"/>
          </a:xfrm>
          <a:prstGeom prst="rect">
            <a:avLst/>
          </a:prstGeom>
          <a:noFill/>
        </p:spPr>
        <p:txBody>
          <a:bodyPr wrap="square" lIns="0" rIns="0" tIns="0" bIns="0" anchor="ctr">
            <a:spAutoFit/>
          </a:bodyPr>
          <a:lstStyle/>
          <a:p>
            <a:pPr algn="l">
              <a:lnSpc>
                <a:spcPct val="116000"/>
              </a:lnSpc>
            </a:pPr>
            <a:r>
              <a:rPr sz="1250" b="0" i="0">
                <a:solidFill>
                  <a:srgbClr val="21295C"/>
                </a:solidFill>
                <a:latin typeface="Arial"/>
              </a:rPr>
              <a:t>—</a:t>
            </a:r>
          </a:p>
        </p:txBody>
      </p:sp>
      <p:sp>
        <p:nvSpPr>
          <p:cNvPr id="25" name="Rectangle 24"/>
          <p:cNvSpPr/>
          <p:nvPr/>
        </p:nvSpPr>
        <p:spPr>
          <a:xfrm>
            <a:off x="5305147" y="2347920"/>
            <a:ext cx="2950511" cy="392496"/>
          </a:xfrm>
          <a:prstGeom prst="rect">
            <a:avLst/>
          </a:prstGeom>
          <a:solidFill>
            <a:srgbClr val="F4F7FA"/>
          </a:solidFill>
          <a:ln w="12700">
            <a:solidFill>
              <a:srgbClr val="D9E2EC"/>
            </a:solidFill>
          </a:ln>
          <a:effectLst/>
        </p:spPr>
        <p:txBody>
          <a:bodyPr rtlCol="0" anchor="ctr"/>
          <a:lstStyle/>
          <a:p>
            <a:pPr algn="ctr"/>
          </a:p>
        </p:txBody>
      </p:sp>
      <p:sp>
        <p:nvSpPr>
          <p:cNvPr id="26" name="TextBox 25"/>
          <p:cNvSpPr txBox="1"/>
          <p:nvPr/>
        </p:nvSpPr>
        <p:spPr>
          <a:xfrm>
            <a:off x="5451451" y="2347920"/>
            <a:ext cx="2657903" cy="392496"/>
          </a:xfrm>
          <a:prstGeom prst="rect">
            <a:avLst/>
          </a:prstGeom>
          <a:noFill/>
        </p:spPr>
        <p:txBody>
          <a:bodyPr wrap="square" lIns="0" rIns="0" tIns="0" bIns="0" anchor="ctr">
            <a:spAutoFit/>
          </a:bodyPr>
          <a:lstStyle/>
          <a:p>
            <a:pPr algn="l">
              <a:lnSpc>
                <a:spcPct val="116000"/>
              </a:lnSpc>
            </a:pPr>
            <a:r>
              <a:rPr sz="1250" b="0" i="0">
                <a:solidFill>
                  <a:srgbClr val="21295C"/>
                </a:solidFill>
                <a:latin typeface="Arial"/>
              </a:rPr>
              <a:t>скрининг · диагноз · надзор</a:t>
            </a:r>
          </a:p>
        </p:txBody>
      </p:sp>
      <p:sp>
        <p:nvSpPr>
          <p:cNvPr id="27" name="Rectangle 26"/>
          <p:cNvSpPr/>
          <p:nvPr/>
        </p:nvSpPr>
        <p:spPr>
          <a:xfrm>
            <a:off x="8255659" y="2347920"/>
            <a:ext cx="3396539" cy="392496"/>
          </a:xfrm>
          <a:prstGeom prst="rect">
            <a:avLst/>
          </a:prstGeom>
          <a:solidFill>
            <a:srgbClr val="F4F7FA"/>
          </a:solidFill>
          <a:ln w="12700">
            <a:solidFill>
              <a:srgbClr val="D9E2EC"/>
            </a:solidFill>
          </a:ln>
          <a:effectLst/>
        </p:spPr>
        <p:txBody>
          <a:bodyPr rtlCol="0" anchor="ctr"/>
          <a:lstStyle/>
          <a:p>
            <a:pPr algn="ctr"/>
          </a:p>
        </p:txBody>
      </p:sp>
      <p:sp>
        <p:nvSpPr>
          <p:cNvPr id="28" name="TextBox 27"/>
          <p:cNvSpPr txBox="1"/>
          <p:nvPr/>
        </p:nvSpPr>
        <p:spPr>
          <a:xfrm>
            <a:off x="8401963" y="2347920"/>
            <a:ext cx="3103931" cy="392496"/>
          </a:xfrm>
          <a:prstGeom prst="rect">
            <a:avLst/>
          </a:prstGeom>
          <a:noFill/>
        </p:spPr>
        <p:txBody>
          <a:bodyPr wrap="square" lIns="0" rIns="0" tIns="0" bIns="0" anchor="ctr">
            <a:spAutoFit/>
          </a:bodyPr>
          <a:lstStyle/>
          <a:p>
            <a:pPr algn="l">
              <a:lnSpc>
                <a:spcPct val="116000"/>
              </a:lnSpc>
            </a:pPr>
            <a:r>
              <a:rPr sz="1250" b="0" i="0">
                <a:solidFill>
                  <a:srgbClr val="21295C"/>
                </a:solidFill>
                <a:latin typeface="Arial"/>
              </a:rPr>
              <a:t>—</a:t>
            </a:r>
          </a:p>
        </p:txBody>
      </p:sp>
      <p:sp>
        <p:nvSpPr>
          <p:cNvPr id="29" name="Rectangle 28"/>
          <p:cNvSpPr/>
          <p:nvPr/>
        </p:nvSpPr>
        <p:spPr>
          <a:xfrm>
            <a:off x="539496" y="2740416"/>
            <a:ext cx="1910148" cy="620400"/>
          </a:xfrm>
          <a:prstGeom prst="rect">
            <a:avLst/>
          </a:prstGeom>
          <a:solidFill>
            <a:srgbClr val="FFFFFF"/>
          </a:solidFill>
          <a:ln w="12700">
            <a:solidFill>
              <a:srgbClr val="D9E2EC"/>
            </a:solidFill>
          </a:ln>
          <a:effectLst/>
        </p:spPr>
        <p:txBody>
          <a:bodyPr rtlCol="0" anchor="ctr"/>
          <a:lstStyle/>
          <a:p>
            <a:pPr algn="ctr"/>
          </a:p>
        </p:txBody>
      </p:sp>
      <p:sp>
        <p:nvSpPr>
          <p:cNvPr id="30" name="TextBox 29"/>
          <p:cNvSpPr txBox="1"/>
          <p:nvPr/>
        </p:nvSpPr>
        <p:spPr>
          <a:xfrm>
            <a:off x="685800" y="2740416"/>
            <a:ext cx="1617540" cy="620400"/>
          </a:xfrm>
          <a:prstGeom prst="rect">
            <a:avLst/>
          </a:prstGeom>
          <a:noFill/>
        </p:spPr>
        <p:txBody>
          <a:bodyPr wrap="square" lIns="0" rIns="0" tIns="0" bIns="0" anchor="ctr">
            <a:spAutoFit/>
          </a:bodyPr>
          <a:lstStyle/>
          <a:p>
            <a:pPr algn="l">
              <a:lnSpc>
                <a:spcPct val="116000"/>
              </a:lnSpc>
            </a:pPr>
            <a:r>
              <a:rPr sz="1250" b="0" i="0">
                <a:solidFill>
                  <a:srgbClr val="21295C"/>
                </a:solidFill>
                <a:latin typeface="Arial"/>
              </a:rPr>
              <a:t>поиск с генерацией</a:t>
            </a:r>
          </a:p>
        </p:txBody>
      </p:sp>
      <p:sp>
        <p:nvSpPr>
          <p:cNvPr id="31" name="Rectangle 30"/>
          <p:cNvSpPr/>
          <p:nvPr/>
        </p:nvSpPr>
        <p:spPr>
          <a:xfrm>
            <a:off x="2449644" y="2740416"/>
            <a:ext cx="2855503" cy="620400"/>
          </a:xfrm>
          <a:prstGeom prst="rect">
            <a:avLst/>
          </a:prstGeom>
          <a:solidFill>
            <a:srgbClr val="FFFFFF"/>
          </a:solidFill>
          <a:ln w="12700">
            <a:solidFill>
              <a:srgbClr val="D9E2EC"/>
            </a:solidFill>
          </a:ln>
          <a:effectLst/>
        </p:spPr>
        <p:txBody>
          <a:bodyPr rtlCol="0" anchor="ctr"/>
          <a:lstStyle/>
          <a:p>
            <a:pPr algn="ctr"/>
          </a:p>
        </p:txBody>
      </p:sp>
      <p:sp>
        <p:nvSpPr>
          <p:cNvPr id="32" name="TextBox 31"/>
          <p:cNvSpPr txBox="1"/>
          <p:nvPr/>
        </p:nvSpPr>
        <p:spPr>
          <a:xfrm>
            <a:off x="2595948" y="2740416"/>
            <a:ext cx="2562895" cy="620400"/>
          </a:xfrm>
          <a:prstGeom prst="rect">
            <a:avLst/>
          </a:prstGeom>
          <a:noFill/>
        </p:spPr>
        <p:txBody>
          <a:bodyPr wrap="square" lIns="0" rIns="0" tIns="0" bIns="0" anchor="ctr">
            <a:spAutoFit/>
          </a:bodyPr>
          <a:lstStyle/>
          <a:p>
            <a:pPr algn="l">
              <a:lnSpc>
                <a:spcPct val="116000"/>
              </a:lnSpc>
            </a:pPr>
            <a:r>
              <a:rPr sz="1250" b="0" i="0">
                <a:solidFill>
                  <a:srgbClr val="21295C"/>
                </a:solidFill>
                <a:latin typeface="Arial"/>
              </a:rPr>
              <a:t>скрининг · диагноз · документы</a:t>
            </a:r>
          </a:p>
        </p:txBody>
      </p:sp>
      <p:sp>
        <p:nvSpPr>
          <p:cNvPr id="33" name="Rectangle 32"/>
          <p:cNvSpPr/>
          <p:nvPr/>
        </p:nvSpPr>
        <p:spPr>
          <a:xfrm>
            <a:off x="5305147" y="2740416"/>
            <a:ext cx="2950511" cy="620400"/>
          </a:xfrm>
          <a:prstGeom prst="rect">
            <a:avLst/>
          </a:prstGeom>
          <a:solidFill>
            <a:srgbClr val="FFFFFF"/>
          </a:solidFill>
          <a:ln w="12700">
            <a:solidFill>
              <a:srgbClr val="D9E2EC"/>
            </a:solidFill>
          </a:ln>
          <a:effectLst/>
        </p:spPr>
        <p:txBody>
          <a:bodyPr rtlCol="0" anchor="ctr"/>
          <a:lstStyle/>
          <a:p>
            <a:pPr algn="ctr"/>
          </a:p>
        </p:txBody>
      </p:sp>
      <p:sp>
        <p:nvSpPr>
          <p:cNvPr id="34" name="TextBox 33"/>
          <p:cNvSpPr txBox="1"/>
          <p:nvPr/>
        </p:nvSpPr>
        <p:spPr>
          <a:xfrm>
            <a:off x="5451451" y="2740416"/>
            <a:ext cx="2657903" cy="620400"/>
          </a:xfrm>
          <a:prstGeom prst="rect">
            <a:avLst/>
          </a:prstGeom>
          <a:noFill/>
        </p:spPr>
        <p:txBody>
          <a:bodyPr wrap="square" lIns="0" rIns="0" tIns="0" bIns="0" anchor="ctr">
            <a:spAutoFit/>
          </a:bodyPr>
          <a:lstStyle/>
          <a:p>
            <a:pPr algn="l">
              <a:lnSpc>
                <a:spcPct val="116000"/>
              </a:lnSpc>
            </a:pPr>
            <a:r>
              <a:rPr sz="1250" b="0" i="0">
                <a:solidFill>
                  <a:srgbClr val="21295C"/>
                </a:solidFill>
                <a:latin typeface="Arial"/>
              </a:rPr>
              <a:t>—</a:t>
            </a:r>
          </a:p>
        </p:txBody>
      </p:sp>
      <p:sp>
        <p:nvSpPr>
          <p:cNvPr id="35" name="Rectangle 34"/>
          <p:cNvSpPr/>
          <p:nvPr/>
        </p:nvSpPr>
        <p:spPr>
          <a:xfrm>
            <a:off x="8255659" y="2740416"/>
            <a:ext cx="3396539" cy="620400"/>
          </a:xfrm>
          <a:prstGeom prst="rect">
            <a:avLst/>
          </a:prstGeom>
          <a:solidFill>
            <a:srgbClr val="FFFFFF"/>
          </a:solidFill>
          <a:ln w="12700">
            <a:solidFill>
              <a:srgbClr val="D9E2EC"/>
            </a:solidFill>
          </a:ln>
          <a:effectLst/>
        </p:spPr>
        <p:txBody>
          <a:bodyPr rtlCol="0" anchor="ctr"/>
          <a:lstStyle/>
          <a:p>
            <a:pPr algn="ctr"/>
          </a:p>
        </p:txBody>
      </p:sp>
      <p:sp>
        <p:nvSpPr>
          <p:cNvPr id="36" name="TextBox 35"/>
          <p:cNvSpPr txBox="1"/>
          <p:nvPr/>
        </p:nvSpPr>
        <p:spPr>
          <a:xfrm>
            <a:off x="8401963" y="2740416"/>
            <a:ext cx="3103931" cy="620400"/>
          </a:xfrm>
          <a:prstGeom prst="rect">
            <a:avLst/>
          </a:prstGeom>
          <a:noFill/>
        </p:spPr>
        <p:txBody>
          <a:bodyPr wrap="square" lIns="0" rIns="0" tIns="0" bIns="0" anchor="ctr">
            <a:spAutoFit/>
          </a:bodyPr>
          <a:lstStyle/>
          <a:p>
            <a:pPr algn="l">
              <a:lnSpc>
                <a:spcPct val="116000"/>
              </a:lnSpc>
            </a:pPr>
            <a:r>
              <a:rPr sz="1250" b="0" i="0">
                <a:solidFill>
                  <a:srgbClr val="21295C"/>
                </a:solidFill>
                <a:latin typeface="Arial"/>
              </a:rPr>
              <a:t>—</a:t>
            </a:r>
          </a:p>
        </p:txBody>
      </p:sp>
      <p:sp>
        <p:nvSpPr>
          <p:cNvPr id="37" name="Rectangle 36"/>
          <p:cNvSpPr/>
          <p:nvPr/>
        </p:nvSpPr>
        <p:spPr>
          <a:xfrm>
            <a:off x="539496" y="3360816"/>
            <a:ext cx="1910148" cy="620400"/>
          </a:xfrm>
          <a:prstGeom prst="rect">
            <a:avLst/>
          </a:prstGeom>
          <a:solidFill>
            <a:srgbClr val="F4F7FA"/>
          </a:solidFill>
          <a:ln w="12700">
            <a:solidFill>
              <a:srgbClr val="D9E2EC"/>
            </a:solidFill>
          </a:ln>
          <a:effectLst/>
        </p:spPr>
        <p:txBody>
          <a:bodyPr rtlCol="0" anchor="ctr"/>
          <a:lstStyle/>
          <a:p>
            <a:pPr algn="ctr"/>
          </a:p>
        </p:txBody>
      </p:sp>
      <p:sp>
        <p:nvSpPr>
          <p:cNvPr id="38" name="TextBox 37"/>
          <p:cNvSpPr txBox="1"/>
          <p:nvPr/>
        </p:nvSpPr>
        <p:spPr>
          <a:xfrm>
            <a:off x="685800" y="3360816"/>
            <a:ext cx="1617540" cy="620400"/>
          </a:xfrm>
          <a:prstGeom prst="rect">
            <a:avLst/>
          </a:prstGeom>
          <a:noFill/>
        </p:spPr>
        <p:txBody>
          <a:bodyPr wrap="square" lIns="0" rIns="0" tIns="0" bIns="0" anchor="ctr">
            <a:spAutoFit/>
          </a:bodyPr>
          <a:lstStyle/>
          <a:p>
            <a:pPr algn="l">
              <a:lnSpc>
                <a:spcPct val="116000"/>
              </a:lnSpc>
            </a:pPr>
            <a:r>
              <a:rPr sz="1250" b="0" i="0">
                <a:solidFill>
                  <a:srgbClr val="21295C"/>
                </a:solidFill>
                <a:latin typeface="Arial"/>
              </a:rPr>
              <a:t>прогноз</a:t>
            </a:r>
          </a:p>
        </p:txBody>
      </p:sp>
      <p:sp>
        <p:nvSpPr>
          <p:cNvPr id="39" name="Rectangle 38"/>
          <p:cNvSpPr/>
          <p:nvPr/>
        </p:nvSpPr>
        <p:spPr>
          <a:xfrm>
            <a:off x="2449644" y="3360816"/>
            <a:ext cx="2855503" cy="620400"/>
          </a:xfrm>
          <a:prstGeom prst="rect">
            <a:avLst/>
          </a:prstGeom>
          <a:solidFill>
            <a:srgbClr val="F4F7FA"/>
          </a:solidFill>
          <a:ln w="12700">
            <a:solidFill>
              <a:srgbClr val="D9E2EC"/>
            </a:solidFill>
          </a:ln>
          <a:effectLst/>
        </p:spPr>
        <p:txBody>
          <a:bodyPr rtlCol="0" anchor="ctr"/>
          <a:lstStyle/>
          <a:p>
            <a:pPr algn="ctr"/>
          </a:p>
        </p:txBody>
      </p:sp>
      <p:sp>
        <p:nvSpPr>
          <p:cNvPr id="40" name="TextBox 39"/>
          <p:cNvSpPr txBox="1"/>
          <p:nvPr/>
        </p:nvSpPr>
        <p:spPr>
          <a:xfrm>
            <a:off x="2595948" y="3360816"/>
            <a:ext cx="2562895" cy="620400"/>
          </a:xfrm>
          <a:prstGeom prst="rect">
            <a:avLst/>
          </a:prstGeom>
          <a:noFill/>
        </p:spPr>
        <p:txBody>
          <a:bodyPr wrap="square" lIns="0" rIns="0" tIns="0" bIns="0" anchor="ctr">
            <a:spAutoFit/>
          </a:bodyPr>
          <a:lstStyle/>
          <a:p>
            <a:pPr algn="l">
              <a:lnSpc>
                <a:spcPct val="116000"/>
              </a:lnSpc>
            </a:pPr>
            <a:r>
              <a:rPr sz="1250" b="0" i="0">
                <a:solidFill>
                  <a:srgbClr val="21295C"/>
                </a:solidFill>
                <a:latin typeface="Arial"/>
              </a:rPr>
              <a:t>—</a:t>
            </a:r>
          </a:p>
        </p:txBody>
      </p:sp>
      <p:sp>
        <p:nvSpPr>
          <p:cNvPr id="41" name="Rectangle 40"/>
          <p:cNvSpPr/>
          <p:nvPr/>
        </p:nvSpPr>
        <p:spPr>
          <a:xfrm>
            <a:off x="5305147" y="3360816"/>
            <a:ext cx="2950511" cy="620400"/>
          </a:xfrm>
          <a:prstGeom prst="rect">
            <a:avLst/>
          </a:prstGeom>
          <a:solidFill>
            <a:srgbClr val="F4F7FA"/>
          </a:solidFill>
          <a:ln w="12700">
            <a:solidFill>
              <a:srgbClr val="D9E2EC"/>
            </a:solidFill>
          </a:ln>
          <a:effectLst/>
        </p:spPr>
        <p:txBody>
          <a:bodyPr rtlCol="0" anchor="ctr"/>
          <a:lstStyle/>
          <a:p>
            <a:pPr algn="ctr"/>
          </a:p>
        </p:txBody>
      </p:sp>
      <p:sp>
        <p:nvSpPr>
          <p:cNvPr id="42" name="TextBox 41"/>
          <p:cNvSpPr txBox="1"/>
          <p:nvPr/>
        </p:nvSpPr>
        <p:spPr>
          <a:xfrm>
            <a:off x="5451451" y="3360816"/>
            <a:ext cx="2657903" cy="620400"/>
          </a:xfrm>
          <a:prstGeom prst="rect">
            <a:avLst/>
          </a:prstGeom>
          <a:noFill/>
        </p:spPr>
        <p:txBody>
          <a:bodyPr wrap="square" lIns="0" rIns="0" tIns="0" bIns="0" anchor="ctr">
            <a:spAutoFit/>
          </a:bodyPr>
          <a:lstStyle/>
          <a:p>
            <a:pPr algn="l">
              <a:lnSpc>
                <a:spcPct val="116000"/>
              </a:lnSpc>
            </a:pPr>
            <a:r>
              <a:rPr sz="1250" b="0" i="0">
                <a:solidFill>
                  <a:srgbClr val="21295C"/>
                </a:solidFill>
                <a:latin typeface="Arial"/>
              </a:rPr>
              <a:t>—</a:t>
            </a:r>
          </a:p>
        </p:txBody>
      </p:sp>
      <p:sp>
        <p:nvSpPr>
          <p:cNvPr id="43" name="Rectangle 42"/>
          <p:cNvSpPr/>
          <p:nvPr/>
        </p:nvSpPr>
        <p:spPr>
          <a:xfrm>
            <a:off x="8255659" y="3360816"/>
            <a:ext cx="3396539" cy="620400"/>
          </a:xfrm>
          <a:prstGeom prst="rect">
            <a:avLst/>
          </a:prstGeom>
          <a:solidFill>
            <a:srgbClr val="F4F7FA"/>
          </a:solidFill>
          <a:ln w="12700">
            <a:solidFill>
              <a:srgbClr val="D9E2EC"/>
            </a:solidFill>
          </a:ln>
          <a:effectLst/>
        </p:spPr>
        <p:txBody>
          <a:bodyPr rtlCol="0" anchor="ctr"/>
          <a:lstStyle/>
          <a:p>
            <a:pPr algn="ctr"/>
          </a:p>
        </p:txBody>
      </p:sp>
      <p:sp>
        <p:nvSpPr>
          <p:cNvPr id="44" name="TextBox 43"/>
          <p:cNvSpPr txBox="1"/>
          <p:nvPr/>
        </p:nvSpPr>
        <p:spPr>
          <a:xfrm>
            <a:off x="8401963" y="3360816"/>
            <a:ext cx="3103931" cy="620400"/>
          </a:xfrm>
          <a:prstGeom prst="rect">
            <a:avLst/>
          </a:prstGeom>
          <a:noFill/>
        </p:spPr>
        <p:txBody>
          <a:bodyPr wrap="square" lIns="0" rIns="0" tIns="0" bIns="0" anchor="ctr">
            <a:spAutoFit/>
          </a:bodyPr>
          <a:lstStyle/>
          <a:p>
            <a:pPr algn="l">
              <a:lnSpc>
                <a:spcPct val="116000"/>
              </a:lnSpc>
            </a:pPr>
            <a:r>
              <a:rPr sz="1250" b="0" i="0">
                <a:solidFill>
                  <a:srgbClr val="21295C"/>
                </a:solidFill>
                <a:latin typeface="Arial"/>
              </a:rPr>
              <a:t>диагностика · наблюдение · лекарство</a:t>
            </a:r>
          </a:p>
        </p:txBody>
      </p:sp>
      <p:sp>
        <p:nvSpPr>
          <p:cNvPr id="45" name="TextBox 44"/>
          <p:cNvSpPr txBox="1"/>
          <p:nvPr/>
        </p:nvSpPr>
        <p:spPr>
          <a:xfrm>
            <a:off x="539496" y="4127520"/>
            <a:ext cx="11112703" cy="526222"/>
          </a:xfrm>
          <a:prstGeom prst="rect">
            <a:avLst/>
          </a:prstGeom>
          <a:noFill/>
        </p:spPr>
        <p:txBody>
          <a:bodyPr wrap="square" lIns="0" rIns="0" tIns="0" bIns="0" anchor="t">
            <a:spAutoFit/>
          </a:bodyPr>
          <a:lstStyle/>
          <a:p>
            <a:pPr algn="l">
              <a:lnSpc>
                <a:spcPct val="124000"/>
              </a:lnSpc>
            </a:pPr>
            <a:r>
              <a:rPr sz="1350" b="1" i="0">
                <a:solidFill>
                  <a:srgbClr val="21295C"/>
                </a:solidFill>
                <a:latin typeface="Arial"/>
              </a:rPr>
              <a:t>Занято 4 клетки из 12; в восемь за восемь разделов не зашёл никто.</a:t>
            </a:r>
            <a:r>
              <a:rPr sz="1300" b="0" i="0">
                <a:solidFill>
                  <a:srgbClr val="21295C"/>
                </a:solidFill>
                <a:latin typeface="Arial"/>
              </a:rPr>
              <a:t> Вне окна ещё три места: генерация структуры, распознавание на видео, сигнал прибора, где модели нет вовсе.</a:t>
            </a:r>
          </a:p>
        </p:txBody>
      </p:sp>
      <p:sp>
        <p:nvSpPr>
          <p:cNvPr id="46" name="TextBox 45"/>
          <p:cNvSpPr txBox="1"/>
          <p:nvPr/>
        </p:nvSpPr>
        <p:spPr>
          <a:xfrm>
            <a:off x="539496" y="4800046"/>
            <a:ext cx="11112703" cy="526222"/>
          </a:xfrm>
          <a:prstGeom prst="rect">
            <a:avLst/>
          </a:prstGeom>
          <a:noFill/>
        </p:spPr>
        <p:txBody>
          <a:bodyPr wrap="square" lIns="0" rIns="0" tIns="0" bIns="0" anchor="t">
            <a:spAutoFit/>
          </a:bodyPr>
          <a:lstStyle/>
          <a:p>
            <a:pPr algn="l">
              <a:lnSpc>
                <a:spcPct val="124000"/>
              </a:lnSpc>
            </a:pPr>
            <a:r>
              <a:rPr sz="1350" b="1" i="0">
                <a:solidFill>
                  <a:srgbClr val="21295C"/>
                </a:solidFill>
                <a:latin typeface="Arial"/>
              </a:rPr>
              <a:t>Клетки те же, что в инженерии, а процедуры удержания разные, и ни одна не совпадает:</a:t>
            </a:r>
            <a:r>
              <a:rPr sz="1300" b="0" i="0">
                <a:solidFill>
                  <a:srgbClr val="21295C"/>
                </a:solidFill>
                <a:latin typeface="Arial"/>
              </a:rPr>
              <a:t> на изображении двойное чтение и арбитраж; на прогнозе разбор ложных тревог как рабочее время; на тексте вычитка и подпись; на структуре фазы испытаний.</a:t>
            </a:r>
          </a:p>
        </p:txBody>
      </p:sp>
      <p:sp>
        <p:nvSpPr>
          <p:cNvPr id="47" name="TextBox 46"/>
          <p:cNvSpPr txBox="1"/>
          <p:nvPr/>
        </p:nvSpPr>
        <p:spPr>
          <a:xfrm>
            <a:off x="539496" y="5472573"/>
            <a:ext cx="11112703" cy="526222"/>
          </a:xfrm>
          <a:prstGeom prst="rect">
            <a:avLst/>
          </a:prstGeom>
          <a:noFill/>
        </p:spPr>
        <p:txBody>
          <a:bodyPr wrap="square" lIns="0" rIns="0" tIns="0" bIns="0" anchor="t">
            <a:spAutoFit/>
          </a:bodyPr>
          <a:lstStyle/>
          <a:p>
            <a:pPr algn="l">
              <a:lnSpc>
                <a:spcPct val="124000"/>
              </a:lnSpc>
            </a:pPr>
            <a:r>
              <a:rPr sz="1350" b="1" i="0">
                <a:solidFill>
                  <a:srgbClr val="21295C"/>
                </a:solidFill>
                <a:latin typeface="Arial"/>
              </a:rPr>
              <a:t>Чем позже проверка, тем дольше живёт ошибка:</a:t>
            </a:r>
            <a:r>
              <a:rPr sz="1300" b="0" i="0">
                <a:solidFill>
                  <a:srgbClr val="21295C"/>
                </a:solidFill>
                <a:latin typeface="Arial"/>
              </a:rPr>
              <a:t> изображение — внутри смены, структура — во второй фазе, через годы. </a:t>
            </a:r>
            <a:r>
              <a:rPr sz="1350" b="1" i="0">
                <a:solidFill>
                  <a:srgbClr val="21295C"/>
                </a:solidFill>
                <a:latin typeface="Arial"/>
              </a:rPr>
              <a:t>А результат исполнителя без инструмента не держится ничем.</a:t>
            </a:r>
          </a:p>
        </p:txBody>
      </p:sp>
      <p:sp>
        <p:nvSpPr>
          <p:cNvPr id="48" name="Rectangle 47"/>
          <p:cNvSpPr/>
          <p:nvPr/>
        </p:nvSpPr>
        <p:spPr>
          <a:xfrm>
            <a:off x="502920" y="888090"/>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9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Чем заплатили: внимание, навык, подпись, арбитраж</a:t>
            </a:r>
          </a:p>
        </p:txBody>
      </p:sp>
      <p:sp>
        <p:nvSpPr>
          <p:cNvPr id="4" name="Rounded Rectangle 3"/>
          <p:cNvSpPr/>
          <p:nvPr/>
        </p:nvSpPr>
        <p:spPr>
          <a:xfrm>
            <a:off x="374904" y="1243584"/>
            <a:ext cx="11441887" cy="4992624"/>
          </a:xfrm>
          <a:prstGeom prst="roundRect">
            <a:avLst>
              <a:gd name="adj" fmla="val 6105"/>
            </a:avLst>
          </a:prstGeom>
          <a:solidFill>
            <a:srgbClr val="F4F7FA"/>
          </a:solidFill>
          <a:ln w="19050">
            <a:solidFill>
              <a:srgbClr val="1C7293"/>
            </a:solidFill>
          </a:ln>
          <a:effectLst/>
        </p:spPr>
        <p:txBody>
          <a:bodyPr rtlCol="0" anchor="ctr"/>
          <a:lstStyle/>
          <a:p>
            <a:pPr algn="ctr"/>
          </a:p>
        </p:txBody>
      </p:sp>
      <p:sp>
        <p:nvSpPr>
          <p:cNvPr id="5" name="TextBox 4"/>
          <p:cNvSpPr txBox="1"/>
          <p:nvPr/>
        </p:nvSpPr>
        <p:spPr>
          <a:xfrm>
            <a:off x="539496" y="1335024"/>
            <a:ext cx="11112703" cy="302090"/>
          </a:xfrm>
          <a:prstGeom prst="rect">
            <a:avLst/>
          </a:prstGeom>
          <a:noFill/>
        </p:spPr>
        <p:txBody>
          <a:bodyPr wrap="square" lIns="0" rIns="0" tIns="0" bIns="0" anchor="t">
            <a:spAutoFit/>
          </a:bodyPr>
          <a:lstStyle/>
          <a:p>
            <a:pPr algn="l">
              <a:lnSpc>
                <a:spcPct val="124000"/>
              </a:lnSpc>
            </a:pPr>
            <a:r>
              <a:rPr sz="1550" b="1" i="0">
                <a:solidFill>
                  <a:srgbClr val="21295C"/>
                </a:solidFill>
                <a:latin typeface="Arial"/>
              </a:rPr>
              <a:t>Четыре платежа из начала — поимённо, с измерением и разрядом под каждым.</a:t>
            </a:r>
          </a:p>
        </p:txBody>
      </p:sp>
      <p:sp>
        <p:nvSpPr>
          <p:cNvPr id="6" name="Rectangle 5"/>
          <p:cNvSpPr/>
          <p:nvPr/>
        </p:nvSpPr>
        <p:spPr>
          <a:xfrm>
            <a:off x="539496" y="1783418"/>
            <a:ext cx="1322827" cy="428960"/>
          </a:xfrm>
          <a:prstGeom prst="rect">
            <a:avLst/>
          </a:prstGeom>
          <a:solidFill>
            <a:srgbClr val="065A82"/>
          </a:solidFill>
          <a:ln>
            <a:noFill/>
          </a:ln>
          <a:effectLst/>
        </p:spPr>
        <p:txBody>
          <a:bodyPr rtlCol="0" anchor="ctr"/>
          <a:lstStyle/>
          <a:p>
            <a:pPr algn="ctr"/>
          </a:p>
        </p:txBody>
      </p:sp>
      <p:sp>
        <p:nvSpPr>
          <p:cNvPr id="7" name="TextBox 6"/>
          <p:cNvSpPr txBox="1"/>
          <p:nvPr/>
        </p:nvSpPr>
        <p:spPr>
          <a:xfrm>
            <a:off x="685800" y="1783418"/>
            <a:ext cx="1030219" cy="428960"/>
          </a:xfrm>
          <a:prstGeom prst="rect">
            <a:avLst/>
          </a:prstGeom>
          <a:noFill/>
        </p:spPr>
        <p:txBody>
          <a:bodyPr wrap="square" lIns="0" rIns="0" tIns="0" bIns="0" anchor="ctr">
            <a:spAutoFit/>
          </a:bodyPr>
          <a:lstStyle/>
          <a:p>
            <a:pPr algn="l">
              <a:lnSpc>
                <a:spcPct val="116000"/>
              </a:lnSpc>
            </a:pPr>
            <a:r>
              <a:rPr sz="1450" b="1" i="0">
                <a:solidFill>
                  <a:srgbClr val="FFFFFF"/>
                </a:solidFill>
                <a:latin typeface="Arial"/>
              </a:rPr>
              <a:t>платёж</a:t>
            </a:r>
          </a:p>
        </p:txBody>
      </p:sp>
      <p:sp>
        <p:nvSpPr>
          <p:cNvPr id="8" name="Rectangle 7"/>
          <p:cNvSpPr/>
          <p:nvPr/>
        </p:nvSpPr>
        <p:spPr>
          <a:xfrm>
            <a:off x="1862323" y="1783418"/>
            <a:ext cx="6704198" cy="428960"/>
          </a:xfrm>
          <a:prstGeom prst="rect">
            <a:avLst/>
          </a:prstGeom>
          <a:solidFill>
            <a:srgbClr val="065A82"/>
          </a:solidFill>
          <a:ln>
            <a:noFill/>
          </a:ln>
          <a:effectLst/>
        </p:spPr>
        <p:txBody>
          <a:bodyPr rtlCol="0" anchor="ctr"/>
          <a:lstStyle/>
          <a:p>
            <a:pPr algn="ctr"/>
          </a:p>
        </p:txBody>
      </p:sp>
      <p:sp>
        <p:nvSpPr>
          <p:cNvPr id="9" name="TextBox 8"/>
          <p:cNvSpPr txBox="1"/>
          <p:nvPr/>
        </p:nvSpPr>
        <p:spPr>
          <a:xfrm>
            <a:off x="2008627" y="1783418"/>
            <a:ext cx="6411590" cy="428960"/>
          </a:xfrm>
          <a:prstGeom prst="rect">
            <a:avLst/>
          </a:prstGeom>
          <a:noFill/>
        </p:spPr>
        <p:txBody>
          <a:bodyPr wrap="square" lIns="0" rIns="0" tIns="0" bIns="0" anchor="ctr">
            <a:spAutoFit/>
          </a:bodyPr>
          <a:lstStyle/>
          <a:p>
            <a:pPr algn="l">
              <a:lnSpc>
                <a:spcPct val="116000"/>
              </a:lnSpc>
            </a:pPr>
            <a:r>
              <a:rPr sz="1450" b="1" i="0">
                <a:solidFill>
                  <a:srgbClr val="FFFFFF"/>
                </a:solidFill>
                <a:latin typeface="Arial"/>
              </a:rPr>
              <a:t>чем заплачено</a:t>
            </a:r>
          </a:p>
        </p:txBody>
      </p:sp>
      <p:sp>
        <p:nvSpPr>
          <p:cNvPr id="10" name="Rectangle 9"/>
          <p:cNvSpPr/>
          <p:nvPr/>
        </p:nvSpPr>
        <p:spPr>
          <a:xfrm>
            <a:off x="8566521" y="1783418"/>
            <a:ext cx="3085677" cy="428960"/>
          </a:xfrm>
          <a:prstGeom prst="rect">
            <a:avLst/>
          </a:prstGeom>
          <a:solidFill>
            <a:srgbClr val="065A82"/>
          </a:solidFill>
          <a:ln>
            <a:noFill/>
          </a:ln>
          <a:effectLst/>
        </p:spPr>
        <p:txBody>
          <a:bodyPr rtlCol="0" anchor="ctr"/>
          <a:lstStyle/>
          <a:p>
            <a:pPr algn="ctr"/>
          </a:p>
        </p:txBody>
      </p:sp>
      <p:sp>
        <p:nvSpPr>
          <p:cNvPr id="11" name="TextBox 10"/>
          <p:cNvSpPr txBox="1"/>
          <p:nvPr/>
        </p:nvSpPr>
        <p:spPr>
          <a:xfrm>
            <a:off x="8712825" y="1783418"/>
            <a:ext cx="2793069" cy="428960"/>
          </a:xfrm>
          <a:prstGeom prst="rect">
            <a:avLst/>
          </a:prstGeom>
          <a:noFill/>
        </p:spPr>
        <p:txBody>
          <a:bodyPr wrap="square" lIns="0" rIns="0" tIns="0" bIns="0" anchor="ctr">
            <a:spAutoFit/>
          </a:bodyPr>
          <a:lstStyle/>
          <a:p>
            <a:pPr algn="l">
              <a:lnSpc>
                <a:spcPct val="116000"/>
              </a:lnSpc>
            </a:pPr>
            <a:r>
              <a:rPr sz="1450" b="1" i="0">
                <a:solidFill>
                  <a:srgbClr val="FFFFFF"/>
                </a:solidFill>
                <a:latin typeface="Arial"/>
              </a:rPr>
              <a:t>разряд</a:t>
            </a:r>
          </a:p>
        </p:txBody>
      </p:sp>
      <p:sp>
        <p:nvSpPr>
          <p:cNvPr id="12" name="Rectangle 11"/>
          <p:cNvSpPr/>
          <p:nvPr/>
        </p:nvSpPr>
        <p:spPr>
          <a:xfrm>
            <a:off x="539496" y="2212379"/>
            <a:ext cx="1322827" cy="693329"/>
          </a:xfrm>
          <a:prstGeom prst="rect">
            <a:avLst/>
          </a:prstGeom>
          <a:solidFill>
            <a:srgbClr val="FFFFFF"/>
          </a:solidFill>
          <a:ln w="12700">
            <a:solidFill>
              <a:srgbClr val="D9E2EC"/>
            </a:solidFill>
          </a:ln>
          <a:effectLst/>
        </p:spPr>
        <p:txBody>
          <a:bodyPr rtlCol="0" anchor="ctr"/>
          <a:lstStyle/>
          <a:p>
            <a:pPr algn="ctr"/>
          </a:p>
        </p:txBody>
      </p:sp>
      <p:sp>
        <p:nvSpPr>
          <p:cNvPr id="13" name="TextBox 12"/>
          <p:cNvSpPr txBox="1"/>
          <p:nvPr/>
        </p:nvSpPr>
        <p:spPr>
          <a:xfrm>
            <a:off x="685800" y="2212379"/>
            <a:ext cx="1030219" cy="693329"/>
          </a:xfrm>
          <a:prstGeom prst="rect">
            <a:avLst/>
          </a:prstGeom>
          <a:noFill/>
        </p:spPr>
        <p:txBody>
          <a:bodyPr wrap="square" lIns="0" rIns="0" tIns="0" bIns="0" anchor="ctr">
            <a:spAutoFit/>
          </a:bodyPr>
          <a:lstStyle/>
          <a:p>
            <a:pPr algn="l">
              <a:lnSpc>
                <a:spcPct val="116000"/>
              </a:lnSpc>
            </a:pPr>
            <a:r>
              <a:rPr sz="1450" b="1" i="0">
                <a:solidFill>
                  <a:srgbClr val="21295C"/>
                </a:solidFill>
                <a:latin typeface="Arial"/>
              </a:rPr>
              <a:t>Внимание</a:t>
            </a:r>
          </a:p>
        </p:txBody>
      </p:sp>
      <p:sp>
        <p:nvSpPr>
          <p:cNvPr id="14" name="Rectangle 13"/>
          <p:cNvSpPr/>
          <p:nvPr/>
        </p:nvSpPr>
        <p:spPr>
          <a:xfrm>
            <a:off x="1862323" y="2212379"/>
            <a:ext cx="6704198" cy="693329"/>
          </a:xfrm>
          <a:prstGeom prst="rect">
            <a:avLst/>
          </a:prstGeom>
          <a:solidFill>
            <a:srgbClr val="FFFFFF"/>
          </a:solidFill>
          <a:ln w="12700">
            <a:solidFill>
              <a:srgbClr val="D9E2EC"/>
            </a:solidFill>
          </a:ln>
          <a:effectLst/>
        </p:spPr>
        <p:txBody>
          <a:bodyPr rtlCol="0" anchor="ctr"/>
          <a:lstStyle/>
          <a:p>
            <a:pPr algn="ctr"/>
          </a:p>
        </p:txBody>
      </p:sp>
      <p:sp>
        <p:nvSpPr>
          <p:cNvPr id="15" name="TextBox 14"/>
          <p:cNvSpPr txBox="1"/>
          <p:nvPr/>
        </p:nvSpPr>
        <p:spPr>
          <a:xfrm>
            <a:off x="2008627" y="2212379"/>
            <a:ext cx="6411590" cy="693329"/>
          </a:xfrm>
          <a:prstGeom prst="rect">
            <a:avLst/>
          </a:prstGeom>
          <a:noFill/>
        </p:spPr>
        <p:txBody>
          <a:bodyPr wrap="square" lIns="0" rIns="0" tIns="0" bIns="0" anchor="ctr">
            <a:spAutoFit/>
          </a:bodyPr>
          <a:lstStyle/>
          <a:p>
            <a:pPr algn="l">
              <a:lnSpc>
                <a:spcPct val="116000"/>
              </a:lnSpc>
            </a:pPr>
            <a:r>
              <a:rPr sz="1450" b="0" i="0">
                <a:solidFill>
                  <a:srgbClr val="21295C"/>
                </a:solidFill>
                <a:latin typeface="Arial"/>
              </a:rPr>
              <a:t>охват снимка 11,1 → 9,5 % площади, разница значима; цена сужения 32 пункта, 71 → 39</a:t>
            </a:r>
          </a:p>
        </p:txBody>
      </p:sp>
      <p:sp>
        <p:nvSpPr>
          <p:cNvPr id="16" name="Rectangle 15"/>
          <p:cNvSpPr/>
          <p:nvPr/>
        </p:nvSpPr>
        <p:spPr>
          <a:xfrm>
            <a:off x="8566521" y="2212379"/>
            <a:ext cx="3085677" cy="693329"/>
          </a:xfrm>
          <a:prstGeom prst="rect">
            <a:avLst/>
          </a:prstGeom>
          <a:solidFill>
            <a:srgbClr val="FFFFFF"/>
          </a:solidFill>
          <a:ln w="12700">
            <a:solidFill>
              <a:srgbClr val="D9E2EC"/>
            </a:solidFill>
          </a:ln>
          <a:effectLst/>
        </p:spPr>
        <p:txBody>
          <a:bodyPr rtlCol="0" anchor="ctr"/>
          <a:lstStyle/>
          <a:p>
            <a:pPr algn="ctr"/>
          </a:p>
        </p:txBody>
      </p:sp>
      <p:sp>
        <p:nvSpPr>
          <p:cNvPr id="17" name="TextBox 16"/>
          <p:cNvSpPr txBox="1"/>
          <p:nvPr/>
        </p:nvSpPr>
        <p:spPr>
          <a:xfrm>
            <a:off x="8712825" y="2212379"/>
            <a:ext cx="2793069" cy="693329"/>
          </a:xfrm>
          <a:prstGeom prst="rect">
            <a:avLst/>
          </a:prstGeom>
          <a:noFill/>
        </p:spPr>
        <p:txBody>
          <a:bodyPr wrap="square" lIns="0" rIns="0" tIns="0" bIns="0" anchor="ctr">
            <a:spAutoFit/>
          </a:bodyPr>
          <a:lstStyle/>
          <a:p>
            <a:pPr algn="l">
              <a:lnSpc>
                <a:spcPct val="116000"/>
              </a:lnSpc>
            </a:pPr>
            <a:r>
              <a:rPr sz="1450" b="0" i="0">
                <a:solidFill>
                  <a:srgbClr val="21295C"/>
                </a:solidFill>
                <a:latin typeface="Arial"/>
              </a:rPr>
              <a:t>лабораторный замер взгляда</a:t>
            </a:r>
          </a:p>
        </p:txBody>
      </p:sp>
      <p:sp>
        <p:nvSpPr>
          <p:cNvPr id="18" name="Rectangle 17"/>
          <p:cNvSpPr/>
          <p:nvPr/>
        </p:nvSpPr>
        <p:spPr>
          <a:xfrm>
            <a:off x="539496" y="2905708"/>
            <a:ext cx="1322827" cy="693329"/>
          </a:xfrm>
          <a:prstGeom prst="rect">
            <a:avLst/>
          </a:prstGeom>
          <a:solidFill>
            <a:srgbClr val="F4F7FA"/>
          </a:solidFill>
          <a:ln w="12700">
            <a:solidFill>
              <a:srgbClr val="D9E2EC"/>
            </a:solidFill>
          </a:ln>
          <a:effectLst/>
        </p:spPr>
        <p:txBody>
          <a:bodyPr rtlCol="0" anchor="ctr"/>
          <a:lstStyle/>
          <a:p>
            <a:pPr algn="ctr"/>
          </a:p>
        </p:txBody>
      </p:sp>
      <p:sp>
        <p:nvSpPr>
          <p:cNvPr id="19" name="TextBox 18"/>
          <p:cNvSpPr txBox="1"/>
          <p:nvPr/>
        </p:nvSpPr>
        <p:spPr>
          <a:xfrm>
            <a:off x="685800" y="2905708"/>
            <a:ext cx="1030219" cy="693329"/>
          </a:xfrm>
          <a:prstGeom prst="rect">
            <a:avLst/>
          </a:prstGeom>
          <a:noFill/>
        </p:spPr>
        <p:txBody>
          <a:bodyPr wrap="square" lIns="0" rIns="0" tIns="0" bIns="0" anchor="ctr">
            <a:spAutoFit/>
          </a:bodyPr>
          <a:lstStyle/>
          <a:p>
            <a:pPr algn="l">
              <a:lnSpc>
                <a:spcPct val="116000"/>
              </a:lnSpc>
            </a:pPr>
            <a:r>
              <a:rPr sz="1450" b="1" i="0">
                <a:solidFill>
                  <a:srgbClr val="21295C"/>
                </a:solidFill>
                <a:latin typeface="Arial"/>
              </a:rPr>
              <a:t>Навык</a:t>
            </a:r>
          </a:p>
        </p:txBody>
      </p:sp>
      <p:sp>
        <p:nvSpPr>
          <p:cNvPr id="20" name="Rectangle 19"/>
          <p:cNvSpPr/>
          <p:nvPr/>
        </p:nvSpPr>
        <p:spPr>
          <a:xfrm>
            <a:off x="1862323" y="2905708"/>
            <a:ext cx="6704198" cy="693329"/>
          </a:xfrm>
          <a:prstGeom prst="rect">
            <a:avLst/>
          </a:prstGeom>
          <a:solidFill>
            <a:srgbClr val="F4F7FA"/>
          </a:solidFill>
          <a:ln w="12700">
            <a:solidFill>
              <a:srgbClr val="D9E2EC"/>
            </a:solidFill>
          </a:ln>
          <a:effectLst/>
        </p:spPr>
        <p:txBody>
          <a:bodyPr rtlCol="0" anchor="ctr"/>
          <a:lstStyle/>
          <a:p>
            <a:pPr algn="ctr"/>
          </a:p>
        </p:txBody>
      </p:sp>
      <p:sp>
        <p:nvSpPr>
          <p:cNvPr id="21" name="TextBox 20"/>
          <p:cNvSpPr txBox="1"/>
          <p:nvPr/>
        </p:nvSpPr>
        <p:spPr>
          <a:xfrm>
            <a:off x="2008627" y="2905708"/>
            <a:ext cx="6411590" cy="693329"/>
          </a:xfrm>
          <a:prstGeom prst="rect">
            <a:avLst/>
          </a:prstGeom>
          <a:noFill/>
        </p:spPr>
        <p:txBody>
          <a:bodyPr wrap="square" lIns="0" rIns="0" tIns="0" bIns="0" anchor="ctr">
            <a:spAutoFit/>
          </a:bodyPr>
          <a:lstStyle/>
          <a:p>
            <a:pPr algn="l">
              <a:lnSpc>
                <a:spcPct val="116000"/>
              </a:lnSpc>
            </a:pPr>
            <a:r>
              <a:rPr sz="1450" b="0" i="0">
                <a:solidFill>
                  <a:srgbClr val="21295C"/>
                </a:solidFill>
                <a:latin typeface="Arial"/>
              </a:rPr>
              <a:t>28,4 → 22,4 из ста у тех же девятнадцати врачей</a:t>
            </a:r>
          </a:p>
        </p:txBody>
      </p:sp>
      <p:sp>
        <p:nvSpPr>
          <p:cNvPr id="22" name="Rectangle 21"/>
          <p:cNvSpPr/>
          <p:nvPr/>
        </p:nvSpPr>
        <p:spPr>
          <a:xfrm>
            <a:off x="8566521" y="2905708"/>
            <a:ext cx="3085677" cy="693329"/>
          </a:xfrm>
          <a:prstGeom prst="rect">
            <a:avLst/>
          </a:prstGeom>
          <a:solidFill>
            <a:srgbClr val="F4F7FA"/>
          </a:solidFill>
          <a:ln w="12700">
            <a:solidFill>
              <a:srgbClr val="D9E2EC"/>
            </a:solidFill>
          </a:ln>
          <a:effectLst/>
        </p:spPr>
        <p:txBody>
          <a:bodyPr rtlCol="0" anchor="ctr"/>
          <a:lstStyle/>
          <a:p>
            <a:pPr algn="ctr"/>
          </a:p>
        </p:txBody>
      </p:sp>
      <p:sp>
        <p:nvSpPr>
          <p:cNvPr id="23" name="TextBox 22"/>
          <p:cNvSpPr txBox="1"/>
          <p:nvPr/>
        </p:nvSpPr>
        <p:spPr>
          <a:xfrm>
            <a:off x="8712825" y="2905708"/>
            <a:ext cx="2793069" cy="693329"/>
          </a:xfrm>
          <a:prstGeom prst="rect">
            <a:avLst/>
          </a:prstGeom>
          <a:noFill/>
        </p:spPr>
        <p:txBody>
          <a:bodyPr wrap="square" lIns="0" rIns="0" tIns="0" bIns="0" anchor="ctr">
            <a:spAutoFit/>
          </a:bodyPr>
          <a:lstStyle/>
          <a:p>
            <a:pPr algn="l">
              <a:lnSpc>
                <a:spcPct val="116000"/>
              </a:lnSpc>
            </a:pPr>
            <a:r>
              <a:rPr sz="1450" b="0" i="0">
                <a:solidFill>
                  <a:srgbClr val="21295C"/>
                </a:solidFill>
                <a:latin typeface="Arial"/>
              </a:rPr>
              <a:t>наблюдательное, однажды и спорно</a:t>
            </a:r>
          </a:p>
        </p:txBody>
      </p:sp>
      <p:sp>
        <p:nvSpPr>
          <p:cNvPr id="24" name="Rectangle 23"/>
          <p:cNvSpPr/>
          <p:nvPr/>
        </p:nvSpPr>
        <p:spPr>
          <a:xfrm>
            <a:off x="539496" y="3599038"/>
            <a:ext cx="1322827" cy="693329"/>
          </a:xfrm>
          <a:prstGeom prst="rect">
            <a:avLst/>
          </a:prstGeom>
          <a:solidFill>
            <a:srgbClr val="FFFFFF"/>
          </a:solidFill>
          <a:ln w="12700">
            <a:solidFill>
              <a:srgbClr val="D9E2EC"/>
            </a:solidFill>
          </a:ln>
          <a:effectLst/>
        </p:spPr>
        <p:txBody>
          <a:bodyPr rtlCol="0" anchor="ctr"/>
          <a:lstStyle/>
          <a:p>
            <a:pPr algn="ctr"/>
          </a:p>
        </p:txBody>
      </p:sp>
      <p:sp>
        <p:nvSpPr>
          <p:cNvPr id="25" name="TextBox 24"/>
          <p:cNvSpPr txBox="1"/>
          <p:nvPr/>
        </p:nvSpPr>
        <p:spPr>
          <a:xfrm>
            <a:off x="685800" y="3599038"/>
            <a:ext cx="1030219" cy="693329"/>
          </a:xfrm>
          <a:prstGeom prst="rect">
            <a:avLst/>
          </a:prstGeom>
          <a:noFill/>
        </p:spPr>
        <p:txBody>
          <a:bodyPr wrap="square" lIns="0" rIns="0" tIns="0" bIns="0" anchor="ctr">
            <a:spAutoFit/>
          </a:bodyPr>
          <a:lstStyle/>
          <a:p>
            <a:pPr algn="l">
              <a:lnSpc>
                <a:spcPct val="116000"/>
              </a:lnSpc>
            </a:pPr>
            <a:r>
              <a:rPr sz="1450" b="1" i="0">
                <a:solidFill>
                  <a:srgbClr val="21295C"/>
                </a:solidFill>
                <a:latin typeface="Arial"/>
              </a:rPr>
              <a:t>Подпись</a:t>
            </a:r>
          </a:p>
        </p:txBody>
      </p:sp>
      <p:sp>
        <p:nvSpPr>
          <p:cNvPr id="26" name="Rectangle 25"/>
          <p:cNvSpPr/>
          <p:nvPr/>
        </p:nvSpPr>
        <p:spPr>
          <a:xfrm>
            <a:off x="1862323" y="3599038"/>
            <a:ext cx="6704198" cy="693329"/>
          </a:xfrm>
          <a:prstGeom prst="rect">
            <a:avLst/>
          </a:prstGeom>
          <a:solidFill>
            <a:srgbClr val="FFFFFF"/>
          </a:solidFill>
          <a:ln w="12700">
            <a:solidFill>
              <a:srgbClr val="D9E2EC"/>
            </a:solidFill>
          </a:ln>
          <a:effectLst/>
        </p:spPr>
        <p:txBody>
          <a:bodyPr rtlCol="0" anchor="ctr"/>
          <a:lstStyle/>
          <a:p>
            <a:pPr algn="ctr"/>
          </a:p>
        </p:txBody>
      </p:sp>
      <p:sp>
        <p:nvSpPr>
          <p:cNvPr id="27" name="TextBox 26"/>
          <p:cNvSpPr txBox="1"/>
          <p:nvPr/>
        </p:nvSpPr>
        <p:spPr>
          <a:xfrm>
            <a:off x="2008627" y="3599038"/>
            <a:ext cx="6411590" cy="693329"/>
          </a:xfrm>
          <a:prstGeom prst="rect">
            <a:avLst/>
          </a:prstGeom>
          <a:noFill/>
        </p:spPr>
        <p:txBody>
          <a:bodyPr wrap="square" lIns="0" rIns="0" tIns="0" bIns="0" anchor="ctr">
            <a:spAutoFit/>
          </a:bodyPr>
          <a:lstStyle/>
          <a:p>
            <a:pPr algn="l">
              <a:lnSpc>
                <a:spcPct val="116000"/>
              </a:lnSpc>
            </a:pPr>
            <a:r>
              <a:rPr sz="1450" b="0" i="0">
                <a:solidFill>
                  <a:srgbClr val="21295C"/>
                </a:solidFill>
                <a:latin typeface="Arial"/>
              </a:rPr>
              <a:t>56 из 717; девять машинных эпикризов из одиннадцати с ошибкой</a:t>
            </a:r>
          </a:p>
        </p:txBody>
      </p:sp>
      <p:sp>
        <p:nvSpPr>
          <p:cNvPr id="28" name="Rectangle 27"/>
          <p:cNvSpPr/>
          <p:nvPr/>
        </p:nvSpPr>
        <p:spPr>
          <a:xfrm>
            <a:off x="8566521" y="3599038"/>
            <a:ext cx="3085677" cy="693329"/>
          </a:xfrm>
          <a:prstGeom prst="rect">
            <a:avLst/>
          </a:prstGeom>
          <a:solidFill>
            <a:srgbClr val="FFFFFF"/>
          </a:solidFill>
          <a:ln w="12700">
            <a:solidFill>
              <a:srgbClr val="D9E2EC"/>
            </a:solidFill>
          </a:ln>
          <a:effectLst/>
        </p:spPr>
        <p:txBody>
          <a:bodyPr rtlCol="0" anchor="ctr"/>
          <a:lstStyle/>
          <a:p>
            <a:pPr algn="ctr"/>
          </a:p>
        </p:txBody>
      </p:sp>
      <p:sp>
        <p:nvSpPr>
          <p:cNvPr id="29" name="TextBox 28"/>
          <p:cNvSpPr txBox="1"/>
          <p:nvPr/>
        </p:nvSpPr>
        <p:spPr>
          <a:xfrm>
            <a:off x="8712825" y="3599038"/>
            <a:ext cx="2793069" cy="693329"/>
          </a:xfrm>
          <a:prstGeom prst="rect">
            <a:avLst/>
          </a:prstGeom>
          <a:noFill/>
        </p:spPr>
        <p:txBody>
          <a:bodyPr wrap="square" lIns="0" rIns="0" tIns="0" bIns="0" anchor="ctr">
            <a:spAutoFit/>
          </a:bodyPr>
          <a:lstStyle/>
          <a:p>
            <a:pPr algn="l">
              <a:lnSpc>
                <a:spcPct val="116000"/>
              </a:lnSpc>
            </a:pPr>
            <a:r>
              <a:rPr sz="1450" b="0" i="0">
                <a:solidFill>
                  <a:srgbClr val="21295C"/>
                </a:solidFill>
                <a:latin typeface="Arial"/>
              </a:rPr>
              <a:t>перепись изделий; качество заметок</a:t>
            </a:r>
          </a:p>
        </p:txBody>
      </p:sp>
      <p:sp>
        <p:nvSpPr>
          <p:cNvPr id="30" name="Rectangle 29"/>
          <p:cNvSpPr/>
          <p:nvPr/>
        </p:nvSpPr>
        <p:spPr>
          <a:xfrm>
            <a:off x="539496" y="4292367"/>
            <a:ext cx="1322827" cy="693329"/>
          </a:xfrm>
          <a:prstGeom prst="rect">
            <a:avLst/>
          </a:prstGeom>
          <a:solidFill>
            <a:srgbClr val="F4F7FA"/>
          </a:solidFill>
          <a:ln w="12700">
            <a:solidFill>
              <a:srgbClr val="D9E2EC"/>
            </a:solidFill>
          </a:ln>
          <a:effectLst/>
        </p:spPr>
        <p:txBody>
          <a:bodyPr rtlCol="0" anchor="ctr"/>
          <a:lstStyle/>
          <a:p>
            <a:pPr algn="ctr"/>
          </a:p>
        </p:txBody>
      </p:sp>
      <p:sp>
        <p:nvSpPr>
          <p:cNvPr id="31" name="TextBox 30"/>
          <p:cNvSpPr txBox="1"/>
          <p:nvPr/>
        </p:nvSpPr>
        <p:spPr>
          <a:xfrm>
            <a:off x="685800" y="4292367"/>
            <a:ext cx="1030219" cy="693329"/>
          </a:xfrm>
          <a:prstGeom prst="rect">
            <a:avLst/>
          </a:prstGeom>
          <a:noFill/>
        </p:spPr>
        <p:txBody>
          <a:bodyPr wrap="square" lIns="0" rIns="0" tIns="0" bIns="0" anchor="ctr">
            <a:spAutoFit/>
          </a:bodyPr>
          <a:lstStyle/>
          <a:p>
            <a:pPr algn="l">
              <a:lnSpc>
                <a:spcPct val="116000"/>
              </a:lnSpc>
            </a:pPr>
            <a:r>
              <a:rPr sz="1450" b="1" i="0">
                <a:solidFill>
                  <a:srgbClr val="21295C"/>
                </a:solidFill>
                <a:latin typeface="Arial"/>
              </a:rPr>
              <a:t>Арбитраж</a:t>
            </a:r>
          </a:p>
        </p:txBody>
      </p:sp>
      <p:sp>
        <p:nvSpPr>
          <p:cNvPr id="32" name="Rectangle 31"/>
          <p:cNvSpPr/>
          <p:nvPr/>
        </p:nvSpPr>
        <p:spPr>
          <a:xfrm>
            <a:off x="1862323" y="4292367"/>
            <a:ext cx="6704198" cy="693329"/>
          </a:xfrm>
          <a:prstGeom prst="rect">
            <a:avLst/>
          </a:prstGeom>
          <a:solidFill>
            <a:srgbClr val="F4F7FA"/>
          </a:solidFill>
          <a:ln w="12700">
            <a:solidFill>
              <a:srgbClr val="D9E2EC"/>
            </a:solidFill>
          </a:ln>
          <a:effectLst/>
        </p:spPr>
        <p:txBody>
          <a:bodyPr rtlCol="0" anchor="ctr"/>
          <a:lstStyle/>
          <a:p>
            <a:pPr algn="ctr"/>
          </a:p>
        </p:txBody>
      </p:sp>
      <p:sp>
        <p:nvSpPr>
          <p:cNvPr id="33" name="TextBox 32"/>
          <p:cNvSpPr txBox="1"/>
          <p:nvPr/>
        </p:nvSpPr>
        <p:spPr>
          <a:xfrm>
            <a:off x="2008627" y="4292367"/>
            <a:ext cx="6411590" cy="693329"/>
          </a:xfrm>
          <a:prstGeom prst="rect">
            <a:avLst/>
          </a:prstGeom>
          <a:noFill/>
        </p:spPr>
        <p:txBody>
          <a:bodyPr wrap="square" lIns="0" rIns="0" tIns="0" bIns="0" anchor="ctr">
            <a:spAutoFit/>
          </a:bodyPr>
          <a:lstStyle/>
          <a:p>
            <a:pPr algn="l">
              <a:lnSpc>
                <a:spcPct val="116000"/>
              </a:lnSpc>
            </a:pPr>
            <a:r>
              <a:rPr sz="1450" b="0" i="0">
                <a:solidFill>
                  <a:srgbClr val="21295C"/>
                </a:solidFill>
                <a:latin typeface="Arial"/>
              </a:rPr>
              <a:t>2 мин 12 с против 48 с; объём +53 % (разброс 22–142)</a:t>
            </a:r>
          </a:p>
        </p:txBody>
      </p:sp>
      <p:sp>
        <p:nvSpPr>
          <p:cNvPr id="34" name="Rectangle 33"/>
          <p:cNvSpPr/>
          <p:nvPr/>
        </p:nvSpPr>
        <p:spPr>
          <a:xfrm>
            <a:off x="8566521" y="4292367"/>
            <a:ext cx="3085677" cy="693329"/>
          </a:xfrm>
          <a:prstGeom prst="rect">
            <a:avLst/>
          </a:prstGeom>
          <a:solidFill>
            <a:srgbClr val="F4F7FA"/>
          </a:solidFill>
          <a:ln w="12700">
            <a:solidFill>
              <a:srgbClr val="D9E2EC"/>
            </a:solidFill>
          </a:ln>
          <a:effectLst/>
        </p:spPr>
        <p:txBody>
          <a:bodyPr rtlCol="0" anchor="ctr"/>
          <a:lstStyle/>
          <a:p>
            <a:pPr algn="ctr"/>
          </a:p>
        </p:txBody>
      </p:sp>
      <p:sp>
        <p:nvSpPr>
          <p:cNvPr id="35" name="TextBox 34"/>
          <p:cNvSpPr txBox="1"/>
          <p:nvPr/>
        </p:nvSpPr>
        <p:spPr>
          <a:xfrm>
            <a:off x="8712825" y="4292367"/>
            <a:ext cx="2793069" cy="693329"/>
          </a:xfrm>
          <a:prstGeom prst="rect">
            <a:avLst/>
          </a:prstGeom>
          <a:noFill/>
        </p:spPr>
        <p:txBody>
          <a:bodyPr wrap="square" lIns="0" rIns="0" tIns="0" bIns="0" anchor="ctr">
            <a:spAutoFit/>
          </a:bodyPr>
          <a:lstStyle/>
          <a:p>
            <a:pPr algn="l">
              <a:lnSpc>
                <a:spcPct val="116000"/>
              </a:lnSpc>
            </a:pPr>
            <a:r>
              <a:rPr sz="1450" b="0" i="0">
                <a:solidFill>
                  <a:srgbClr val="21295C"/>
                </a:solidFill>
                <a:latin typeface="Arial"/>
              </a:rPr>
              <a:t>записи рабочего времени программы</a:t>
            </a:r>
          </a:p>
        </p:txBody>
      </p:sp>
      <p:sp>
        <p:nvSpPr>
          <p:cNvPr id="36" name="TextBox 35"/>
          <p:cNvSpPr txBox="1"/>
          <p:nvPr/>
        </p:nvSpPr>
        <p:spPr>
          <a:xfrm>
            <a:off x="539496" y="5132000"/>
            <a:ext cx="11112703" cy="604181"/>
          </a:xfrm>
          <a:prstGeom prst="rect">
            <a:avLst/>
          </a:prstGeom>
          <a:noFill/>
        </p:spPr>
        <p:txBody>
          <a:bodyPr wrap="square" lIns="0" rIns="0" tIns="0" bIns="0" anchor="t">
            <a:spAutoFit/>
          </a:bodyPr>
          <a:lstStyle/>
          <a:p>
            <a:pPr algn="l">
              <a:lnSpc>
                <a:spcPct val="124000"/>
              </a:lnSpc>
            </a:pPr>
            <a:r>
              <a:rPr sz="1550" b="1" i="0">
                <a:solidFill>
                  <a:srgbClr val="21295C"/>
                </a:solidFill>
                <a:latin typeface="Arial"/>
              </a:rPr>
              <a:t>Оплачены неровно:</a:t>
            </a:r>
            <a:r>
              <a:rPr sz="1500" b="0" i="0">
                <a:solidFill>
                  <a:srgbClr val="21295C"/>
                </a:solidFill>
                <a:latin typeface="Arial"/>
              </a:rPr>
              <a:t> внимание и арбитраж — крупные выборки; навык — одно спорное наблюдение, подпись — доля процедур, не исход пациента.</a:t>
            </a:r>
          </a:p>
        </p:txBody>
      </p:sp>
      <p:sp>
        <p:nvSpPr>
          <p:cNvPr id="37" name="TextBox 36"/>
          <p:cNvSpPr txBox="1"/>
          <p:nvPr/>
        </p:nvSpPr>
        <p:spPr>
          <a:xfrm>
            <a:off x="539496" y="5882486"/>
            <a:ext cx="11112703" cy="302090"/>
          </a:xfrm>
          <a:prstGeom prst="rect">
            <a:avLst/>
          </a:prstGeom>
          <a:noFill/>
        </p:spPr>
        <p:txBody>
          <a:bodyPr wrap="square" lIns="0" rIns="0" tIns="0" bIns="0" anchor="t">
            <a:spAutoFit/>
          </a:bodyPr>
          <a:lstStyle/>
          <a:p>
            <a:pPr algn="l">
              <a:lnSpc>
                <a:spcPct val="124000"/>
              </a:lnSpc>
            </a:pPr>
            <a:r>
              <a:rPr sz="1550" b="1" i="0">
                <a:solidFill>
                  <a:srgbClr val="21295C"/>
                </a:solidFill>
                <a:latin typeface="Arial"/>
              </a:rPr>
              <a:t>Разделы 2 и 9 не платят ничем из четырёх:</a:t>
            </a:r>
            <a:r>
              <a:rPr sz="1500" b="0" i="0">
                <a:solidFill>
                  <a:srgbClr val="21295C"/>
                </a:solidFill>
                <a:latin typeface="Arial"/>
              </a:rPr>
              <a:t> рядом с моделью там никто не работает.</a:t>
            </a:r>
          </a:p>
        </p:txBody>
      </p:sp>
      <p:sp>
        <p:nvSpPr>
          <p:cNvPr id="38" name="Rectangle 37"/>
          <p:cNvSpPr/>
          <p:nvPr/>
        </p:nvSpPr>
        <p:spPr>
          <a:xfrm>
            <a:off x="502920" y="888090"/>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9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Четыре разных ответа на один вопрос</a:t>
            </a:r>
          </a:p>
        </p:txBody>
      </p:sp>
      <p:sp>
        <p:nvSpPr>
          <p:cNvPr id="4" name="Rounded Rectangle 3"/>
          <p:cNvSpPr/>
          <p:nvPr/>
        </p:nvSpPr>
        <p:spPr>
          <a:xfrm>
            <a:off x="502920" y="1335024"/>
            <a:ext cx="11185855" cy="1165753"/>
          </a:xfrm>
          <a:prstGeom prst="roundRect">
            <a:avLst>
              <a:gd name="adj" fmla="val 25000"/>
            </a:avLst>
          </a:prstGeom>
          <a:solidFill>
            <a:srgbClr val="FFFFFF"/>
          </a:solidFill>
          <a:ln w="25400">
            <a:solidFill>
              <a:srgbClr val="F0AB00"/>
            </a:solidFill>
          </a:ln>
          <a:effectLst/>
        </p:spPr>
        <p:txBody>
          <a:bodyPr rtlCol="0" anchor="ctr"/>
          <a:lstStyle/>
          <a:p>
            <a:pPr algn="ctr"/>
          </a:p>
        </p:txBody>
      </p:sp>
      <p:sp>
        <p:nvSpPr>
          <p:cNvPr id="5" name="TextBox 4"/>
          <p:cNvSpPr txBox="1"/>
          <p:nvPr/>
        </p:nvSpPr>
        <p:spPr>
          <a:xfrm>
            <a:off x="640080" y="1472184"/>
            <a:ext cx="10911535"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ЧЕТВЁРТАЯ СТУПЕНЬ, ОНА ЖЕ ЧАСТАЯ</a:t>
            </a:r>
          </a:p>
        </p:txBody>
      </p:sp>
      <p:sp>
        <p:nvSpPr>
          <p:cNvPr id="6" name="TextBox 5"/>
          <p:cNvSpPr txBox="1"/>
          <p:nvPr/>
        </p:nvSpPr>
        <p:spPr>
          <a:xfrm>
            <a:off x="640080" y="1725375"/>
            <a:ext cx="10911535"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счёт секунд — около двух</a:t>
            </a:r>
          </a:p>
        </p:txBody>
      </p:sp>
      <p:sp>
        <p:nvSpPr>
          <p:cNvPr id="7" name="TextBox 6"/>
          <p:cNvSpPr txBox="1"/>
          <p:nvPr/>
        </p:nvSpPr>
        <p:spPr>
          <a:xfrm>
            <a:off x="640080" y="2152374"/>
            <a:ext cx="10911535"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медиана, вне медицины</a:t>
            </a:r>
          </a:p>
        </p:txBody>
      </p:sp>
      <p:sp>
        <p:nvSpPr>
          <p:cNvPr id="8" name="Rounded Rectangle 7"/>
          <p:cNvSpPr/>
          <p:nvPr/>
        </p:nvSpPr>
        <p:spPr>
          <a:xfrm>
            <a:off x="374904" y="2592217"/>
            <a:ext cx="11441887" cy="2828609"/>
          </a:xfrm>
          <a:prstGeom prst="roundRect">
            <a:avLst>
              <a:gd name="adj" fmla="val 10775"/>
            </a:avLst>
          </a:prstGeom>
          <a:solidFill>
            <a:srgbClr val="F4F7FA"/>
          </a:solidFill>
          <a:ln w="19050">
            <a:solidFill>
              <a:srgbClr val="1C7293"/>
            </a:solidFill>
          </a:ln>
          <a:effectLst/>
        </p:spPr>
        <p:txBody>
          <a:bodyPr rtlCol="0" anchor="ctr"/>
          <a:lstStyle/>
          <a:p>
            <a:pPr algn="ctr"/>
          </a:p>
        </p:txBody>
      </p:sp>
      <p:sp>
        <p:nvSpPr>
          <p:cNvPr id="9" name="TextBox 8"/>
          <p:cNvSpPr txBox="1"/>
          <p:nvPr/>
        </p:nvSpPr>
        <p:spPr>
          <a:xfrm>
            <a:off x="539496" y="2683657"/>
            <a:ext cx="5373471" cy="3552550"/>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Модель посмотрела первой. Что теперь делает человек — и кто это измерял?</a:t>
            </a:r>
          </a:p>
          <a:p>
            <a:pPr algn="l">
              <a:lnSpc>
                <a:spcPct val="126000"/>
              </a:lnSpc>
              <a:spcBef>
                <a:spcPts val="700"/>
              </a:spcBef>
            </a:pPr>
            <a:r>
              <a:rPr sz="1500" b="0" i="0">
                <a:solidFill>
                  <a:srgbClr val="21295C"/>
                </a:solidFill>
                <a:latin typeface="Arial"/>
              </a:rPr>
              <a:t/>
            </a:r>
            <a:r>
              <a:rPr sz="1500" b="0" i="0">
                <a:solidFill>
                  <a:srgbClr val="21295C"/>
                </a:solidFill>
                <a:latin typeface="Arial"/>
              </a:rPr>
              <a:t>• </a:t>
            </a:r>
            <a:r>
              <a:rPr sz="1500" b="1" i="0">
                <a:solidFill>
                  <a:srgbClr val="21295C"/>
                </a:solidFill>
                <a:latin typeface="Arial"/>
              </a:rPr>
              <a:t>Смотрит первым</a:t>
            </a:r>
            <a:r>
              <a:rPr sz="1500" b="0" i="0">
                <a:solidFill>
                  <a:srgbClr val="21295C"/>
                </a:solidFill>
                <a:latin typeface="Arial"/>
              </a:rPr>
              <a:t> — читает сам, модель даёт второе мнение, расхождение идёт в арбитраж. </a:t>
            </a:r>
            <a:r>
              <a:rPr sz="1500" b="0" i="1">
                <a:solidFill>
                  <a:srgbClr val="21295C"/>
                </a:solidFill>
                <a:latin typeface="Arial"/>
              </a:rPr>
              <a:t>Рандомизированное испытание.</a:t>
            </a:r>
          </a:p>
          <a:p>
            <a:pPr algn="l">
              <a:lnSpc>
                <a:spcPct val="126000"/>
              </a:lnSpc>
              <a:spcBef>
                <a:spcPts val="700"/>
              </a:spcBef>
            </a:pPr>
            <a:r>
              <a:rPr sz="1500" b="0" i="0">
                <a:solidFill>
                  <a:srgbClr val="21295C"/>
                </a:solidFill>
                <a:latin typeface="Arial"/>
              </a:rPr>
              <a:t/>
            </a:r>
            <a:r>
              <a:rPr sz="1500" b="0" i="0">
                <a:solidFill>
                  <a:srgbClr val="21295C"/>
                </a:solidFill>
                <a:latin typeface="Arial"/>
              </a:rPr>
              <a:t>• </a:t>
            </a:r>
            <a:r>
              <a:rPr sz="1500" b="1" i="0">
                <a:solidFill>
                  <a:srgbClr val="21295C"/>
                </a:solidFill>
                <a:latin typeface="Arial"/>
              </a:rPr>
              <a:t>Смотрит вторым</a:t>
            </a:r>
            <a:r>
              <a:rPr sz="1500" b="0" i="0">
                <a:solidFill>
                  <a:srgbClr val="21295C"/>
                </a:solidFill>
                <a:latin typeface="Arial"/>
              </a:rPr>
              <a:t> — читает после модели: внимание сужается, верное решение меняется на неверное. </a:t>
            </a:r>
            <a:r>
              <a:rPr sz="1500" b="0" i="1">
                <a:solidFill>
                  <a:srgbClr val="21295C"/>
                </a:solidFill>
                <a:latin typeface="Arial"/>
              </a:rPr>
              <a:t>Замер взгляда и обзор.</a:t>
            </a:r>
          </a:p>
        </p:txBody>
      </p:sp>
      <p:sp>
        <p:nvSpPr>
          <p:cNvPr id="10" name="TextBox 9"/>
          <p:cNvSpPr txBox="1"/>
          <p:nvPr/>
        </p:nvSpPr>
        <p:spPr>
          <a:xfrm>
            <a:off x="6278727" y="2683657"/>
            <a:ext cx="5373471" cy="3552550"/>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 </a:t>
            </a:r>
            <a:r>
              <a:rPr sz="1500" b="1" i="0">
                <a:solidFill>
                  <a:srgbClr val="21295C"/>
                </a:solidFill>
                <a:latin typeface="Arial"/>
              </a:rPr>
              <a:t>Смотрит только спорное</a:t>
            </a:r>
            <a:r>
              <a:rPr sz="1500" b="0" i="0">
                <a:solidFill>
                  <a:srgbClr val="21295C"/>
                </a:solidFill>
                <a:latin typeface="Arial"/>
              </a:rPr>
              <a:t> — разбирает отмеченное, остальное проходит мимо. </a:t>
            </a:r>
            <a:r>
              <a:rPr sz="1500" b="0" i="1">
                <a:solidFill>
                  <a:srgbClr val="21295C"/>
                </a:solidFill>
                <a:latin typeface="Arial"/>
              </a:rPr>
              <a:t>Обзор отклонений.</a:t>
            </a:r>
          </a:p>
          <a:p>
            <a:pPr algn="l">
              <a:lnSpc>
                <a:spcPct val="126000"/>
              </a:lnSpc>
              <a:spcBef>
                <a:spcPts val="700"/>
              </a:spcBef>
            </a:pPr>
            <a:r>
              <a:rPr sz="1500" b="0" i="0">
                <a:solidFill>
                  <a:srgbClr val="21295C"/>
                </a:solidFill>
                <a:latin typeface="Arial"/>
              </a:rPr>
              <a:t/>
            </a:r>
            <a:r>
              <a:rPr sz="1500" b="0" i="0">
                <a:solidFill>
                  <a:srgbClr val="21295C"/>
                </a:solidFill>
                <a:latin typeface="Arial"/>
              </a:rPr>
              <a:t>• </a:t>
            </a:r>
            <a:r>
              <a:rPr sz="1500" b="1" i="0">
                <a:solidFill>
                  <a:srgbClr val="21295C"/>
                </a:solidFill>
                <a:latin typeface="Arial"/>
              </a:rPr>
              <a:t>Подписывает не глядя</a:t>
            </a:r>
            <a:r>
              <a:rPr sz="1500" b="0" i="0">
                <a:solidFill>
                  <a:srgbClr val="21295C"/>
                </a:solidFill>
                <a:latin typeface="Arial"/>
              </a:rPr>
              <a:t> — подпись есть, чтения нет, и ход дешёвый: </a:t>
            </a:r>
            <a:r>
              <a:rPr sz="1500" b="1" i="0">
                <a:solidFill>
                  <a:srgbClr val="21295C"/>
                </a:solidFill>
                <a:latin typeface="Arial"/>
              </a:rPr>
              <a:t>согласие с подсказкой при разборе случая оценивают выше отказа.</a:t>
            </a:r>
          </a:p>
          <a:p>
            <a:pPr algn="l">
              <a:lnSpc>
                <a:spcPct val="126000"/>
              </a:lnSpc>
              <a:spcBef>
                <a:spcPts val="700"/>
              </a:spcBef>
            </a:pPr>
            <a:r>
              <a:rPr sz="1500" b="0" i="0">
                <a:solidFill>
                  <a:srgbClr val="21295C"/>
                </a:solidFill>
                <a:latin typeface="Arial"/>
              </a:rPr>
              <a:t/>
            </a:r>
            <a:r>
              <a:rPr sz="1500" b="1" i="0">
                <a:solidFill>
                  <a:srgbClr val="21295C"/>
                </a:solidFill>
                <a:latin typeface="Arial"/>
              </a:rPr>
              <a:t>Чем формальнее участие, тем слабее свидетельство:</a:t>
            </a:r>
            <a:r>
              <a:rPr sz="1500" b="0" i="0">
                <a:solidFill>
                  <a:srgbClr val="21295C"/>
                </a:solidFill>
                <a:latin typeface="Arial"/>
              </a:rPr>
              <a:t> про четвёртую ступень, она же частая, известно меньше всего. </a:t>
            </a:r>
            <a:r>
              <a:rPr sz="1500" b="1" i="0">
                <a:solidFill>
                  <a:srgbClr val="21295C"/>
                </a:solidFill>
                <a:latin typeface="Arial"/>
              </a:rPr>
              <a:t>Исхода пациента нет ни у одного примера ядра.</a:t>
            </a:r>
          </a:p>
        </p:txBody>
      </p:sp>
      <p:sp>
        <p:nvSpPr>
          <p:cNvPr id="11" name="Rectangle 10"/>
          <p:cNvSpPr/>
          <p:nvPr/>
        </p:nvSpPr>
        <p:spPr>
          <a:xfrm>
            <a:off x="6091275" y="2683657"/>
            <a:ext cx="9144" cy="2554289"/>
          </a:xfrm>
          <a:prstGeom prst="rect">
            <a:avLst/>
          </a:prstGeom>
          <a:solidFill>
            <a:srgbClr val="D9E2EC"/>
          </a:solidFill>
          <a:ln>
            <a:noFill/>
          </a:ln>
          <a:effectLst/>
        </p:spPr>
        <p:txBody>
          <a:bodyPr rtlCol="0" anchor="ctr"/>
          <a:lstStyle/>
          <a:p>
            <a:pPr algn="ctr"/>
          </a:p>
        </p:txBody>
      </p:sp>
      <p:sp>
        <p:nvSpPr>
          <p:cNvPr id="12" name="Rectangle 11"/>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13" name="TextBox 12"/>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Tacconelli и соавт., Journal of Nuclear Medicine 2026</a:t>
            </a:r>
          </a:p>
        </p:txBody>
      </p:sp>
    </p:spTree>
  </p:cSld>
  <p:clrMapOvr>
    <a:masterClrMapping/>
  </p:clrMapOvr>
</p:sld>
</file>

<file path=ppt/slides/slide9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Rectangle 2"/>
          <p:cNvSpPr/>
          <p:nvPr/>
        </p:nvSpPr>
        <p:spPr>
          <a:xfrm>
            <a:off x="0" y="0"/>
            <a:ext cx="155448" cy="6858000"/>
          </a:xfrm>
          <a:prstGeom prst="rect">
            <a:avLst/>
          </a:prstGeom>
          <a:solidFill>
            <a:srgbClr val="065A82"/>
          </a:solidFill>
          <a:ln>
            <a:noFill/>
          </a:ln>
          <a:effectLst/>
        </p:spPr>
        <p:txBody>
          <a:bodyPr rtlCol="0" anchor="ctr"/>
          <a:lstStyle/>
          <a:p>
            <a:pPr algn="ctr"/>
          </a:p>
        </p:txBody>
      </p:sp>
      <p:sp>
        <p:nvSpPr>
          <p:cNvPr id="4" name="TextBox 3"/>
          <p:cNvSpPr txBox="1"/>
          <p:nvPr/>
        </p:nvSpPr>
        <p:spPr>
          <a:xfrm>
            <a:off x="704088" y="960120"/>
            <a:ext cx="11185855" cy="518678"/>
          </a:xfrm>
          <a:prstGeom prst="rect">
            <a:avLst/>
          </a:prstGeom>
          <a:noFill/>
        </p:spPr>
        <p:txBody>
          <a:bodyPr wrap="square" lIns="0" rIns="0" tIns="0" bIns="0" anchor="t">
            <a:spAutoFit/>
          </a:bodyPr>
          <a:lstStyle/>
          <a:p>
            <a:pPr algn="l">
              <a:lnSpc>
                <a:spcPct val="110000"/>
              </a:lnSpc>
            </a:pPr>
            <a:r>
              <a:rPr sz="3000" b="1" i="0">
                <a:solidFill>
                  <a:srgbClr val="21295C"/>
                </a:solidFill>
                <a:latin typeface="Arial"/>
              </a:rPr>
              <a:t>10. Закрытие</a:t>
            </a:r>
          </a:p>
        </p:txBody>
      </p:sp>
      <p:sp>
        <p:nvSpPr>
          <p:cNvPr id="5" name="Rectangle 4"/>
          <p:cNvSpPr/>
          <p:nvPr/>
        </p:nvSpPr>
        <p:spPr>
          <a:xfrm>
            <a:off x="704088" y="1570238"/>
            <a:ext cx="1188720" cy="59436"/>
          </a:xfrm>
          <a:prstGeom prst="rect">
            <a:avLst/>
          </a:prstGeom>
          <a:solidFill>
            <a:srgbClr val="F0AB00"/>
          </a:solidFill>
          <a:ln>
            <a:noFill/>
          </a:ln>
          <a:effectLst/>
        </p:spPr>
        <p:txBody>
          <a:bodyPr rtlCol="0" anchor="ctr"/>
          <a:lstStyle/>
          <a:p>
            <a:pPr algn="ctr"/>
          </a:p>
        </p:txBody>
      </p:sp>
      <p:sp>
        <p:nvSpPr>
          <p:cNvPr id="6" name="TextBox 5"/>
          <p:cNvSpPr txBox="1"/>
          <p:nvPr/>
        </p:nvSpPr>
        <p:spPr>
          <a:xfrm>
            <a:off x="704088" y="1844558"/>
            <a:ext cx="10984687" cy="338666"/>
          </a:xfrm>
          <a:prstGeom prst="rect">
            <a:avLst/>
          </a:prstGeom>
          <a:noFill/>
        </p:spPr>
        <p:txBody>
          <a:bodyPr wrap="square" lIns="0" rIns="0" tIns="0" bIns="0" anchor="t">
            <a:spAutoFit/>
          </a:bodyPr>
          <a:lstStyle/>
          <a:p>
            <a:pPr algn="l">
              <a:lnSpc>
                <a:spcPct val="124000"/>
              </a:lnSpc>
            </a:pPr>
            <a:r>
              <a:rPr sz="1550" b="0" i="0">
                <a:solidFill>
                  <a:srgbClr val="21295C"/>
                </a:solidFill>
                <a:latin typeface="Arial"/>
              </a:rPr>
              <a:t>Обязательство было заявлено в начале. Здесь оно возвращается — заработанным, со счётом по каждой опоре.</a:t>
            </a:r>
          </a:p>
        </p:txBody>
      </p:sp>
      <p:sp>
        <p:nvSpPr>
          <p:cNvPr id="7" name="TextBox 6"/>
          <p:cNvSpPr txBox="1"/>
          <p:nvPr/>
        </p:nvSpPr>
        <p:spPr>
          <a:xfrm>
            <a:off x="704088" y="2311240"/>
            <a:ext cx="10984687" cy="640757"/>
          </a:xfrm>
          <a:prstGeom prst="rect">
            <a:avLst/>
          </a:prstGeom>
          <a:noFill/>
        </p:spPr>
        <p:txBody>
          <a:bodyPr wrap="square" lIns="0" rIns="0" tIns="0" bIns="0" anchor="t">
            <a:spAutoFit/>
          </a:bodyPr>
          <a:lstStyle/>
          <a:p>
            <a:pPr algn="l">
              <a:lnSpc>
                <a:spcPct val="124000"/>
              </a:lnSpc>
            </a:pPr>
            <a:r>
              <a:rPr sz="1550" b="0" i="0">
                <a:solidFill>
                  <a:srgbClr val="21295C"/>
                </a:solidFill>
                <a:latin typeface="Arial"/>
              </a:rPr>
              <a:t>По порядку: 1. </a:t>
            </a:r>
            <a:r>
              <a:rPr sz="1550" b="1" i="0">
                <a:solidFill>
                  <a:srgbClr val="21295C"/>
                </a:solidFill>
                <a:latin typeface="Arial"/>
              </a:rPr>
              <a:t>Почему подписывает человек — и чем это подтверждено</a:t>
            </a:r>
            <a:r>
              <a:rPr sz="1550" b="0" i="0">
                <a:solidFill>
                  <a:srgbClr val="21295C"/>
                </a:solidFill>
                <a:latin typeface="Arial"/>
              </a:rPr>
              <a:t> · 2. </a:t>
            </a:r>
            <a:r>
              <a:rPr sz="1550" b="1" i="0">
                <a:solidFill>
                  <a:srgbClr val="21295C"/>
                </a:solidFill>
                <a:latin typeface="Arial"/>
              </a:rPr>
              <a:t>Изделие отзовут. Решения этого года останутся</a:t>
            </a:r>
            <a:r>
              <a:rPr sz="1550" b="0" i="0">
                <a:solidFill>
                  <a:srgbClr val="21295C"/>
                </a:solidFill>
                <a:latin typeface="Arial"/>
              </a:rPr>
              <a:t> · 3. </a:t>
            </a:r>
            <a:r>
              <a:rPr sz="1550" b="1" i="0">
                <a:solidFill>
                  <a:srgbClr val="21295C"/>
                </a:solidFill>
                <a:latin typeface="Arial"/>
              </a:rPr>
              <a:t>Три проверки для любой отрасли — и вопрос</a:t>
            </a:r>
          </a:p>
        </p:txBody>
      </p:sp>
    </p:spTree>
  </p:cSld>
  <p:clrMapOvr>
    <a:masterClrMapping/>
  </p:clrMapOvr>
</p:sld>
</file>

<file path=ppt/slides/slide9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Почему подписывает человек — и чем это подтверждено</a:t>
            </a:r>
          </a:p>
        </p:txBody>
      </p:sp>
      <p:sp>
        <p:nvSpPr>
          <p:cNvPr id="4" name="Rounded Rectangle 3"/>
          <p:cNvSpPr/>
          <p:nvPr/>
        </p:nvSpPr>
        <p:spPr>
          <a:xfrm>
            <a:off x="502920" y="1335024"/>
            <a:ext cx="3618890" cy="1556177"/>
          </a:xfrm>
          <a:prstGeom prst="roundRect">
            <a:avLst>
              <a:gd name="adj" fmla="val 19586"/>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ПРАВО ПОДПИСИ</a:t>
            </a:r>
          </a:p>
        </p:txBody>
      </p:sp>
      <p:sp>
        <p:nvSpPr>
          <p:cNvPr id="6" name="TextBox 5"/>
          <p:cNvSpPr txBox="1"/>
          <p:nvPr/>
        </p:nvSpPr>
        <p:spPr>
          <a:xfrm>
            <a:off x="640080" y="1725375"/>
            <a:ext cx="3344570"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вмешаться способны 56 изделий из 717</a:t>
            </a:r>
          </a:p>
        </p:txBody>
      </p:sp>
      <p:sp>
        <p:nvSpPr>
          <p:cNvPr id="7" name="TextBox 6"/>
          <p:cNvSpPr txBox="1"/>
          <p:nvPr/>
        </p:nvSpPr>
        <p:spPr>
          <a:xfrm>
            <a:off x="640080" y="2542797"/>
            <a:ext cx="3344570"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радиологические, июнь 2024</a:t>
            </a:r>
          </a:p>
        </p:txBody>
      </p:sp>
      <p:sp>
        <p:nvSpPr>
          <p:cNvPr id="8" name="Rounded Rectangle 7"/>
          <p:cNvSpPr/>
          <p:nvPr/>
        </p:nvSpPr>
        <p:spPr>
          <a:xfrm>
            <a:off x="4286402" y="1335024"/>
            <a:ext cx="3618890" cy="1556177"/>
          </a:xfrm>
          <a:prstGeom prst="roundRect">
            <a:avLst>
              <a:gd name="adj" fmla="val 19586"/>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4423562"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ОШИБАЕТСЯ ИНАЧЕ</a:t>
            </a:r>
          </a:p>
        </p:txBody>
      </p:sp>
      <p:sp>
        <p:nvSpPr>
          <p:cNvPr id="10" name="TextBox 9"/>
          <p:cNvSpPr txBox="1"/>
          <p:nvPr/>
        </p:nvSpPr>
        <p:spPr>
          <a:xfrm>
            <a:off x="4423562" y="1725375"/>
            <a:ext cx="3344570"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перекрытие ошибок не измерено</a:t>
            </a:r>
          </a:p>
        </p:txBody>
      </p:sp>
      <p:sp>
        <p:nvSpPr>
          <p:cNvPr id="11" name="TextBox 10"/>
          <p:cNvSpPr txBox="1"/>
          <p:nvPr/>
        </p:nvSpPr>
        <p:spPr>
          <a:xfrm>
            <a:off x="4423562" y="2542797"/>
            <a:ext cx="3344570"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механизм есть, величины нет</a:t>
            </a:r>
          </a:p>
        </p:txBody>
      </p:sp>
      <p:sp>
        <p:nvSpPr>
          <p:cNvPr id="12" name="Rounded Rectangle 11"/>
          <p:cNvSpPr/>
          <p:nvPr/>
        </p:nvSpPr>
        <p:spPr>
          <a:xfrm>
            <a:off x="8069884" y="1335024"/>
            <a:ext cx="3618890" cy="1556177"/>
          </a:xfrm>
          <a:prstGeom prst="roundRect">
            <a:avLst>
              <a:gd name="adj" fmla="val 19586"/>
            </a:avLst>
          </a:prstGeom>
          <a:solidFill>
            <a:srgbClr val="FFFFFF"/>
          </a:solidFill>
          <a:ln w="25400">
            <a:solidFill>
              <a:srgbClr val="F0AB00"/>
            </a:solidFill>
          </a:ln>
          <a:effectLst/>
        </p:spPr>
        <p:txBody>
          <a:bodyPr rtlCol="0" anchor="ctr"/>
          <a:lstStyle/>
          <a:p>
            <a:pPr algn="ctr"/>
          </a:p>
        </p:txBody>
      </p:sp>
      <p:sp>
        <p:nvSpPr>
          <p:cNvPr id="13" name="TextBox 12"/>
          <p:cNvSpPr txBox="1"/>
          <p:nvPr/>
        </p:nvSpPr>
        <p:spPr>
          <a:xfrm>
            <a:off x="8207044"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ОТМЕНИТЬ НЕЛЬЗЯ</a:t>
            </a:r>
          </a:p>
        </p:txBody>
      </p:sp>
      <p:sp>
        <p:nvSpPr>
          <p:cNvPr id="14" name="TextBox 13"/>
          <p:cNvSpPr txBox="1"/>
          <p:nvPr/>
        </p:nvSpPr>
        <p:spPr>
          <a:xfrm>
            <a:off x="8207044" y="1725375"/>
            <a:ext cx="3344570" cy="817422"/>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процедуру не переделать</a:t>
            </a:r>
          </a:p>
        </p:txBody>
      </p:sp>
      <p:sp>
        <p:nvSpPr>
          <p:cNvPr id="15" name="TextBox 14"/>
          <p:cNvSpPr txBox="1"/>
          <p:nvPr/>
        </p:nvSpPr>
        <p:spPr>
          <a:xfrm>
            <a:off x="8207044" y="2542797"/>
            <a:ext cx="3344570"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решения до отзыва не отзываются</a:t>
            </a:r>
          </a:p>
        </p:txBody>
      </p:sp>
      <p:sp>
        <p:nvSpPr>
          <p:cNvPr id="16" name="Rounded Rectangle 15"/>
          <p:cNvSpPr/>
          <p:nvPr/>
        </p:nvSpPr>
        <p:spPr>
          <a:xfrm>
            <a:off x="374904" y="2982641"/>
            <a:ext cx="11441887" cy="2234486"/>
          </a:xfrm>
          <a:prstGeom prst="roundRect">
            <a:avLst>
              <a:gd name="adj" fmla="val 13640"/>
            </a:avLst>
          </a:prstGeom>
          <a:solidFill>
            <a:srgbClr val="F4F7FA"/>
          </a:solidFill>
          <a:ln w="19050">
            <a:solidFill>
              <a:srgbClr val="1C7293"/>
            </a:solidFill>
          </a:ln>
          <a:effectLst/>
        </p:spPr>
        <p:txBody>
          <a:bodyPr rtlCol="0" anchor="ctr"/>
          <a:lstStyle/>
          <a:p>
            <a:pPr algn="ctr"/>
          </a:p>
        </p:txBody>
      </p:sp>
      <p:sp>
        <p:nvSpPr>
          <p:cNvPr id="17" name="TextBox 16"/>
          <p:cNvSpPr txBox="1"/>
          <p:nvPr/>
        </p:nvSpPr>
        <p:spPr>
          <a:xfrm>
            <a:off x="539496" y="3074081"/>
            <a:ext cx="5373471" cy="3162126"/>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Участие человека обязательно, и не потому, что он точнее</a:t>
            </a:r>
            <a:r>
              <a:rPr sz="1500" b="0" i="0">
                <a:solidFill>
                  <a:srgbClr val="21295C"/>
                </a:solidFill>
                <a:latin typeface="Arial"/>
              </a:rPr>
              <a:t> — измерено, что часто он не точнее. Три основания, у каждого свой разряд:</a:t>
            </a:r>
          </a:p>
          <a:p>
            <a:pPr algn="l">
              <a:lnSpc>
                <a:spcPct val="126000"/>
              </a:lnSpc>
              <a:spcBef>
                <a:spcPts val="700"/>
              </a:spcBef>
            </a:pPr>
            <a:r>
              <a:rPr sz="1500" b="0" i="0">
                <a:solidFill>
                  <a:srgbClr val="21295C"/>
                </a:solidFill>
                <a:latin typeface="Arial"/>
              </a:rPr>
              <a:t/>
            </a:r>
            <a:r>
              <a:rPr sz="1500" b="0" i="0">
                <a:solidFill>
                  <a:srgbClr val="21295C"/>
                </a:solidFill>
                <a:latin typeface="Arial"/>
              </a:rPr>
              <a:t>• при разборе случая комиссия оценивает действия человека; вопроса о модели в этой процедуре нет</a:t>
            </a:r>
          </a:p>
        </p:txBody>
      </p:sp>
      <p:sp>
        <p:nvSpPr>
          <p:cNvPr id="18" name="TextBox 17"/>
          <p:cNvSpPr txBox="1"/>
          <p:nvPr/>
        </p:nvSpPr>
        <p:spPr>
          <a:xfrm>
            <a:off x="6278727" y="3074081"/>
            <a:ext cx="5373471" cy="3162126"/>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 на 106 опытах знак выигрыша пары зависит от того, какая сторона сильнее; величины у опоры нет</a:t>
            </a:r>
          </a:p>
          <a:p>
            <a:pPr algn="l">
              <a:lnSpc>
                <a:spcPct val="126000"/>
              </a:lnSpc>
              <a:spcBef>
                <a:spcPts val="700"/>
              </a:spcBef>
            </a:pPr>
            <a:r>
              <a:rPr sz="1500" b="0" i="0">
                <a:solidFill>
                  <a:srgbClr val="21295C"/>
                </a:solidFill>
                <a:latin typeface="Arial"/>
              </a:rPr>
              <a:t/>
            </a:r>
            <a:r>
              <a:rPr sz="1500" b="0" i="0">
                <a:solidFill>
                  <a:srgbClr val="21295C"/>
                </a:solidFill>
                <a:latin typeface="Arial"/>
              </a:rPr>
              <a:t>• операцию не отменить задним числом, год наблюдения не переиграть</a:t>
            </a:r>
          </a:p>
          <a:p>
            <a:pPr algn="l">
              <a:lnSpc>
                <a:spcPct val="126000"/>
              </a:lnSpc>
              <a:spcBef>
                <a:spcPts val="700"/>
              </a:spcBef>
            </a:pPr>
            <a:r>
              <a:rPr sz="1500" b="0" i="0">
                <a:solidFill>
                  <a:srgbClr val="21295C"/>
                </a:solidFill>
                <a:latin typeface="Arial"/>
              </a:rPr>
              <a:t/>
            </a:r>
            <a:r>
              <a:rPr sz="1500" b="1" i="0">
                <a:solidFill>
                  <a:srgbClr val="21295C"/>
                </a:solidFill>
                <a:latin typeface="Arial"/>
              </a:rPr>
              <a:t>Норма сформулирована как способность вмешаться — присутствие её не исполняет.</a:t>
            </a:r>
          </a:p>
        </p:txBody>
      </p:sp>
      <p:sp>
        <p:nvSpPr>
          <p:cNvPr id="19" name="Rectangle 18"/>
          <p:cNvSpPr/>
          <p:nvPr/>
        </p:nvSpPr>
        <p:spPr>
          <a:xfrm>
            <a:off x="6091275" y="3074081"/>
            <a:ext cx="9144" cy="1960166"/>
          </a:xfrm>
          <a:prstGeom prst="rect">
            <a:avLst/>
          </a:prstGeom>
          <a:solidFill>
            <a:srgbClr val="D9E2EC"/>
          </a:solidFill>
          <a:ln>
            <a:noFill/>
          </a:ln>
          <a:effectLst/>
        </p:spPr>
        <p:txBody>
          <a:bodyPr rtlCol="0" anchor="ctr"/>
          <a:lstStyle/>
          <a:p>
            <a:pPr algn="ctr"/>
          </a:p>
        </p:txBody>
      </p:sp>
      <p:sp>
        <p:nvSpPr>
          <p:cNvPr id="20" name="Rectangle 19"/>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21" name="TextBox 20"/>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Lee и соавт., JAMA Health Forum 2025</a:t>
            </a:r>
            <a:r>
              <a:rPr sz="1200" b="0" i="1">
                <a:solidFill>
                  <a:srgbClr val="1C7293"/>
                </a:solidFill>
                <a:latin typeface="Arial"/>
              </a:rPr>
              <a:t> · </a:t>
            </a:r>
            <a:r>
              <a:rPr sz="1200" b="0" i="1" u="sng">
                <a:solidFill>
                  <a:srgbClr val="065A82"/>
                </a:solidFill>
                <a:latin typeface="Arial"/>
                <a:hlinkClick r:id="rId3"/>
              </a:rPr>
              <a:t>JAMA Network Open 2025, срез июнь 2024</a:t>
            </a:r>
            <a:r>
              <a:rPr sz="1200" b="0" i="1">
                <a:solidFill>
                  <a:srgbClr val="1C7293"/>
                </a:solidFill>
                <a:latin typeface="Arial"/>
              </a:rPr>
              <a:t> · </a:t>
            </a:r>
            <a:r>
              <a:rPr sz="1200" b="0" i="1" u="sng">
                <a:solidFill>
                  <a:srgbClr val="065A82"/>
                </a:solidFill>
                <a:latin typeface="Arial"/>
                <a:hlinkClick r:id="rId4"/>
              </a:rPr>
              <a:t>Регламент (ЕС) 2024/1689, статья 14</a:t>
            </a:r>
          </a:p>
        </p:txBody>
      </p:sp>
    </p:spTree>
  </p:cSld>
  <p:clrMapOvr>
    <a:masterClrMapping/>
  </p:clrMapOvr>
</p:sld>
</file>

<file path=ppt/slides/slide10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Rounded Rectangle 2"/>
          <p:cNvSpPr/>
          <p:nvPr/>
        </p:nvSpPr>
        <p:spPr>
          <a:xfrm>
            <a:off x="4666183" y="91440"/>
            <a:ext cx="7022592" cy="4933053"/>
          </a:xfrm>
          <a:prstGeom prst="roundRect">
            <a:avLst>
              <a:gd name="adj" fmla="val 6178"/>
            </a:avLst>
          </a:prstGeom>
          <a:solidFill>
            <a:srgbClr val="F4F7FA"/>
          </a:solidFill>
          <a:ln w="19050">
            <a:solidFill>
              <a:srgbClr val="1C7293"/>
            </a:solidFill>
          </a:ln>
          <a:effectLst/>
        </p:spPr>
        <p:txBody>
          <a:bodyPr rtlCol="0" anchor="ctr"/>
          <a:lstStyle/>
          <a:p>
            <a:pPr algn="ctr"/>
          </a:p>
        </p:txBody>
      </p:sp>
      <p:pic>
        <p:nvPicPr>
          <p:cNvPr id="4" name="Picture 3" descr="s105-hero-uvedomlenie-ob-otzyve-izdeliya-verkh.png"/>
          <p:cNvPicPr>
            <a:picLocks noChangeAspect="1"/>
          </p:cNvPicPr>
          <p:nvPr/>
        </p:nvPicPr>
        <p:blipFill>
          <a:blip r:embed="rId2"/>
          <a:stretch>
            <a:fillRect/>
          </a:stretch>
        </p:blipFill>
        <p:spPr>
          <a:xfrm>
            <a:off x="4711903" y="137160"/>
            <a:ext cx="6931152" cy="4841613"/>
          </a:xfrm>
          <a:prstGeom prst="rect">
            <a:avLst/>
          </a:prstGeom>
        </p:spPr>
      </p:pic>
      <p:sp>
        <p:nvSpPr>
          <p:cNvPr id="5" name="TextBox 4"/>
          <p:cNvSpPr txBox="1"/>
          <p:nvPr/>
        </p:nvSpPr>
        <p:spPr>
          <a:xfrm>
            <a:off x="502920" y="365760"/>
            <a:ext cx="3852367" cy="841248"/>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Изделие отзовут. Решения этого года останутся.</a:t>
            </a:r>
          </a:p>
        </p:txBody>
      </p:sp>
      <p:sp>
        <p:nvSpPr>
          <p:cNvPr id="6" name="Rounded Rectangle 5"/>
          <p:cNvSpPr/>
          <p:nvPr/>
        </p:nvSpPr>
        <p:spPr>
          <a:xfrm>
            <a:off x="502920" y="1370634"/>
            <a:ext cx="3852367" cy="3439166"/>
          </a:xfrm>
          <a:prstGeom prst="roundRect">
            <a:avLst>
              <a:gd name="adj" fmla="val 8862"/>
            </a:avLst>
          </a:prstGeom>
          <a:solidFill>
            <a:srgbClr val="F4F7FA"/>
          </a:solidFill>
          <a:ln w="19050">
            <a:solidFill>
              <a:srgbClr val="1C7293"/>
            </a:solidFill>
          </a:ln>
          <a:effectLst/>
        </p:spPr>
        <p:txBody>
          <a:bodyPr rtlCol="0" anchor="ctr"/>
          <a:lstStyle/>
          <a:p>
            <a:pPr algn="ctr"/>
          </a:p>
        </p:txBody>
      </p:sp>
      <p:sp>
        <p:nvSpPr>
          <p:cNvPr id="7" name="TextBox 6"/>
          <p:cNvSpPr txBox="1"/>
          <p:nvPr/>
        </p:nvSpPr>
        <p:spPr>
          <a:xfrm>
            <a:off x="777240" y="1644954"/>
            <a:ext cx="3303727" cy="1298581"/>
          </a:xfrm>
          <a:prstGeom prst="rect">
            <a:avLst/>
          </a:prstGeom>
          <a:noFill/>
        </p:spPr>
        <p:txBody>
          <a:bodyPr wrap="square" lIns="0" rIns="0" tIns="0" bIns="0" anchor="t">
            <a:spAutoFit/>
          </a:bodyPr>
          <a:lstStyle/>
          <a:p>
            <a:pPr algn="ctr">
              <a:lnSpc>
                <a:spcPct val="102000"/>
              </a:lnSpc>
            </a:pPr>
            <a:r>
              <a:rPr sz="8100" b="1" i="0">
                <a:solidFill>
                  <a:srgbClr val="21295C"/>
                </a:solidFill>
                <a:latin typeface="Arial"/>
              </a:rPr>
              <a:t>43,4 %</a:t>
            </a:r>
          </a:p>
        </p:txBody>
      </p:sp>
      <p:sp>
        <p:nvSpPr>
          <p:cNvPr id="8" name="Rectangle 7"/>
          <p:cNvSpPr/>
          <p:nvPr/>
        </p:nvSpPr>
        <p:spPr>
          <a:xfrm>
            <a:off x="1697583" y="3162991"/>
            <a:ext cx="1463040" cy="68580"/>
          </a:xfrm>
          <a:prstGeom prst="rect">
            <a:avLst/>
          </a:prstGeom>
          <a:solidFill>
            <a:srgbClr val="F0AB00"/>
          </a:solidFill>
          <a:ln>
            <a:noFill/>
          </a:ln>
          <a:effectLst/>
        </p:spPr>
        <p:txBody>
          <a:bodyPr rtlCol="0" anchor="ctr"/>
          <a:lstStyle/>
          <a:p>
            <a:pPr algn="ctr"/>
          </a:p>
        </p:txBody>
      </p:sp>
      <p:sp>
        <p:nvSpPr>
          <p:cNvPr id="9" name="TextBox 8"/>
          <p:cNvSpPr txBox="1"/>
          <p:nvPr/>
        </p:nvSpPr>
        <p:spPr>
          <a:xfrm>
            <a:off x="777240" y="3341299"/>
            <a:ext cx="3303727" cy="583434"/>
          </a:xfrm>
          <a:prstGeom prst="rect">
            <a:avLst/>
          </a:prstGeom>
          <a:noFill/>
        </p:spPr>
        <p:txBody>
          <a:bodyPr wrap="square" lIns="0" rIns="0" tIns="0" bIns="0" anchor="t">
            <a:spAutoFit/>
          </a:bodyPr>
          <a:lstStyle/>
          <a:p>
            <a:pPr algn="ctr">
              <a:lnSpc>
                <a:spcPct val="116000"/>
              </a:lnSpc>
            </a:pPr>
            <a:r>
              <a:rPr sz="1600" b="1" i="0">
                <a:solidFill>
                  <a:srgbClr val="065A82"/>
                </a:solidFill>
                <a:latin typeface="Arial"/>
              </a:rPr>
              <a:t>отзывных событий — в первые 12 месяцев после допуска</a:t>
            </a:r>
          </a:p>
        </p:txBody>
      </p:sp>
      <p:sp>
        <p:nvSpPr>
          <p:cNvPr id="10" name="TextBox 9"/>
          <p:cNvSpPr txBox="1"/>
          <p:nvPr/>
        </p:nvSpPr>
        <p:spPr>
          <a:xfrm>
            <a:off x="777240" y="4016174"/>
            <a:ext cx="3303727" cy="519306"/>
          </a:xfrm>
          <a:prstGeom prst="rect">
            <a:avLst/>
          </a:prstGeom>
          <a:noFill/>
        </p:spPr>
        <p:txBody>
          <a:bodyPr wrap="square" lIns="0" rIns="0" tIns="0" bIns="0" anchor="t">
            <a:spAutoFit/>
          </a:bodyPr>
          <a:lstStyle/>
          <a:p>
            <a:pPr algn="ctr">
              <a:lnSpc>
                <a:spcPct val="118000"/>
              </a:lnSpc>
            </a:pPr>
            <a:r>
              <a:rPr sz="1400" b="0" i="0">
                <a:solidFill>
                  <a:srgbClr val="21295C"/>
                </a:solidFill>
                <a:latin typeface="Arial"/>
              </a:rPr>
              <a:t>79 событий из 182 — у 60 изделий, отозванных из 950 допущенных</a:t>
            </a:r>
          </a:p>
        </p:txBody>
      </p:sp>
      <p:sp>
        <p:nvSpPr>
          <p:cNvPr id="11" name="Rounded Rectangle 10"/>
          <p:cNvSpPr/>
          <p:nvPr/>
        </p:nvSpPr>
        <p:spPr>
          <a:xfrm>
            <a:off x="374904" y="4987917"/>
            <a:ext cx="11441887" cy="1248290"/>
          </a:xfrm>
          <a:prstGeom prst="roundRect">
            <a:avLst>
              <a:gd name="adj" fmla="val 24417"/>
            </a:avLst>
          </a:prstGeom>
          <a:solidFill>
            <a:srgbClr val="F4F7FA"/>
          </a:solidFill>
          <a:ln w="19050">
            <a:solidFill>
              <a:srgbClr val="1C7293"/>
            </a:solidFill>
          </a:ln>
          <a:effectLst/>
        </p:spPr>
        <p:txBody>
          <a:bodyPr rtlCol="0" anchor="ctr"/>
          <a:lstStyle/>
          <a:p>
            <a:pPr algn="ctr"/>
          </a:p>
        </p:txBody>
      </p:sp>
      <p:sp>
        <p:nvSpPr>
          <p:cNvPr id="12" name="TextBox 11"/>
          <p:cNvSpPr txBox="1"/>
          <p:nvPr/>
        </p:nvSpPr>
        <p:spPr>
          <a:xfrm>
            <a:off x="539496" y="5079357"/>
            <a:ext cx="11112703" cy="1156850"/>
          </a:xfrm>
          <a:prstGeom prst="rect">
            <a:avLst/>
          </a:prstGeom>
          <a:noFill/>
        </p:spPr>
        <p:txBody>
          <a:bodyPr wrap="square" lIns="0" rIns="0" tIns="0" bIns="0" anchor="t">
            <a:spAutoFit/>
          </a:bodyPr>
          <a:lstStyle/>
          <a:p>
            <a:pPr algn="l">
              <a:lnSpc>
                <a:spcPct val="126000"/>
              </a:lnSpc>
            </a:pPr>
            <a:r>
              <a:rPr sz="1200" b="0" i="0">
                <a:solidFill>
                  <a:srgbClr val="21295C"/>
                </a:solidFill>
                <a:latin typeface="Arial"/>
              </a:rPr>
              <a:t>«В медицине всё необратимо» — утверждение шире замера. Отзыв существует и посчитан; решения, принятые по устройству за год его работы, не отзываются вместе с ним.</a:t>
            </a:r>
          </a:p>
          <a:p>
            <a:pPr algn="l">
              <a:lnSpc>
                <a:spcPct val="126000"/>
              </a:lnSpc>
              <a:spcBef>
                <a:spcPts val="700"/>
              </a:spcBef>
            </a:pPr>
            <a:r>
              <a:rPr sz="1200" b="0" i="0">
                <a:solidFill>
                  <a:srgbClr val="21295C"/>
                </a:solidFill>
                <a:latin typeface="Arial"/>
              </a:rPr>
              <a:t/>
            </a:r>
            <a:r>
              <a:rPr sz="1200" b="1" i="0">
                <a:solidFill>
                  <a:srgbClr val="21295C"/>
                </a:solidFill>
                <a:latin typeface="Arial"/>
              </a:rPr>
              <a:t>Чем кончилось для женщины с письмом, не измерил никто.</a:t>
            </a:r>
            <a:r>
              <a:rPr sz="1200" b="0" i="0">
                <a:solidFill>
                  <a:srgbClr val="21295C"/>
                </a:solidFill>
                <a:latin typeface="Arial"/>
              </a:rPr>
              <a:t> Тот же вопрос к своему контуру: что в нём отзывается, а что остаётся.</a:t>
            </a:r>
          </a:p>
          <a:p>
            <a:pPr algn="l">
              <a:lnSpc>
                <a:spcPct val="126000"/>
              </a:lnSpc>
              <a:spcBef>
                <a:spcPts val="700"/>
              </a:spcBef>
            </a:pPr>
            <a:r>
              <a:rPr sz="1200" b="0" i="0">
                <a:solidFill>
                  <a:srgbClr val="21295C"/>
                </a:solidFill>
                <a:latin typeface="Arial"/>
              </a:rPr>
              <a:t/>
            </a:r>
            <a:r>
              <a:rPr sz="1200" b="1" i="0">
                <a:solidFill>
                  <a:srgbClr val="21295C"/>
                </a:solidFill>
                <a:latin typeface="Arial"/>
              </a:rPr>
              <a:t>Дальше — отрасль, где ошибку почти всегда можно отменить:</a:t>
            </a:r>
            <a:r>
              <a:rPr sz="1200" b="0" i="0">
                <a:solidFill>
                  <a:srgbClr val="21295C"/>
                </a:solidFill>
                <a:latin typeface="Arial"/>
              </a:rPr>
              <a:t> спор там о принадлежности результата, цена ошибки почти не звучит.</a:t>
            </a:r>
          </a:p>
        </p:txBody>
      </p:sp>
      <p:sp>
        <p:nvSpPr>
          <p:cNvPr id="13" name="Rectangle 12"/>
          <p:cNvSpPr/>
          <p:nvPr/>
        </p:nvSpPr>
        <p:spPr>
          <a:xfrm>
            <a:off x="502920" y="1210614"/>
            <a:ext cx="960120" cy="50292"/>
          </a:xfrm>
          <a:prstGeom prst="rect">
            <a:avLst/>
          </a:prstGeom>
          <a:solidFill>
            <a:srgbClr val="F0AB00"/>
          </a:solidFill>
          <a:ln>
            <a:noFill/>
          </a:ln>
          <a:effectLst/>
        </p:spPr>
        <p:txBody>
          <a:bodyPr rtlCol="0" anchor="ctr"/>
          <a:lstStyle/>
          <a:p>
            <a:pPr algn="ctr"/>
          </a:p>
        </p:txBody>
      </p:sp>
      <p:sp>
        <p:nvSpPr>
          <p:cNvPr id="14" name="TextBox 13"/>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3"/>
              </a:rPr>
              <a:t>Lee и соавт., JAMA Health Forum 2025, срез ноябрь 2024</a:t>
            </a:r>
            <a:r>
              <a:rPr sz="1200" b="0" i="1">
                <a:solidFill>
                  <a:srgbClr val="1C7293"/>
                </a:solidFill>
                <a:latin typeface="Arial"/>
              </a:rPr>
              <a:t> · </a:t>
            </a:r>
            <a:r>
              <a:rPr sz="1200" b="0" i="1">
                <a:solidFill>
                  <a:srgbClr val="1C7293"/>
                </a:solidFill>
                <a:latin typeface="Arial"/>
              </a:rPr>
              <a:t>База отзывов изделий FDA, запись Z-2111-2021, октябрь 2026</a:t>
            </a:r>
          </a:p>
        </p:txBody>
      </p:sp>
    </p:spTree>
  </p:cSld>
  <p:clrMapOvr>
    <a:masterClrMapping/>
  </p:clrMapOvr>
</p:sld>
</file>

<file path=ppt/slides/slide10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Три проверки для любой отрасли — и вопрос</a:t>
            </a:r>
          </a:p>
        </p:txBody>
      </p:sp>
      <p:sp>
        <p:nvSpPr>
          <p:cNvPr id="4" name="Rounded Rectangle 3"/>
          <p:cNvSpPr/>
          <p:nvPr/>
        </p:nvSpPr>
        <p:spPr>
          <a:xfrm>
            <a:off x="374904" y="1243584"/>
            <a:ext cx="11441887" cy="4992624"/>
          </a:xfrm>
          <a:prstGeom prst="roundRect">
            <a:avLst>
              <a:gd name="adj" fmla="val 6105"/>
            </a:avLst>
          </a:prstGeom>
          <a:solidFill>
            <a:srgbClr val="F4F7FA"/>
          </a:solidFill>
          <a:ln w="19050">
            <a:solidFill>
              <a:srgbClr val="1C7293"/>
            </a:solidFill>
          </a:ln>
          <a:effectLst/>
        </p:spPr>
        <p:txBody>
          <a:bodyPr rtlCol="0" anchor="ctr"/>
          <a:lstStyle/>
          <a:p>
            <a:pPr algn="ctr"/>
          </a:p>
        </p:txBody>
      </p:sp>
      <p:sp>
        <p:nvSpPr>
          <p:cNvPr id="5" name="TextBox 4"/>
          <p:cNvSpPr txBox="1"/>
          <p:nvPr/>
        </p:nvSpPr>
        <p:spPr>
          <a:xfrm>
            <a:off x="539496" y="1335024"/>
            <a:ext cx="6869887" cy="2712719"/>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Есть ли независимый источник истины, кроме объяснения модели?</a:t>
            </a:r>
            <a:r>
              <a:rPr sz="1500" b="0" i="0">
                <a:solidFill>
                  <a:srgbClr val="21295C"/>
                </a:solidFill>
                <a:latin typeface="Arial"/>
              </a:rPr>
              <a:t> Другой прибор, другой анализ, другой человек или сам предмет. Проверка по самообъяснению — не проверка.</a:t>
            </a:r>
          </a:p>
          <a:p>
            <a:pPr algn="l">
              <a:lnSpc>
                <a:spcPct val="126000"/>
              </a:lnSpc>
              <a:spcBef>
                <a:spcPts val="700"/>
              </a:spcBef>
            </a:pPr>
            <a:r>
              <a:rPr sz="1500" b="0" i="0">
                <a:solidFill>
                  <a:srgbClr val="21295C"/>
                </a:solidFill>
                <a:latin typeface="Arial"/>
              </a:rPr>
              <a:t/>
            </a:r>
            <a:r>
              <a:rPr sz="1500" b="1" i="0">
                <a:solidFill>
                  <a:srgbClr val="21295C"/>
                </a:solidFill>
                <a:latin typeface="Arial"/>
              </a:rPr>
              <a:t>Измерено ли, что он возражает — и что возражает верно?</a:t>
            </a:r>
            <a:r>
              <a:rPr sz="1500" b="0" i="0">
                <a:solidFill>
                  <a:srgbClr val="21295C"/>
                </a:solidFill>
                <a:latin typeface="Arial"/>
              </a:rPr>
              <a:t> Две считаемые доли. Не измерена ни одна — «человек проверяет» не отличается от «человек подписывает».</a:t>
            </a:r>
          </a:p>
        </p:txBody>
      </p:sp>
      <p:sp>
        <p:nvSpPr>
          <p:cNvPr id="6" name="TextBox 5"/>
          <p:cNvSpPr txBox="1"/>
          <p:nvPr/>
        </p:nvSpPr>
        <p:spPr>
          <a:xfrm>
            <a:off x="539496" y="4139183"/>
            <a:ext cx="11112703" cy="2097024"/>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Успевает ли он физически?</a:t>
            </a:r>
            <a:r>
              <a:rPr sz="1500" b="0" i="0">
                <a:solidFill>
                  <a:srgbClr val="21295C"/>
                </a:solidFill>
                <a:latin typeface="Arial"/>
              </a:rPr>
              <a:t> Секунды на решение против объёма чтения. Медиана проверки подсказки — </a:t>
            </a:r>
            <a:r>
              <a:rPr sz="1500" b="1" i="0">
                <a:solidFill>
                  <a:srgbClr val="21295C"/>
                </a:solidFill>
                <a:latin typeface="Arial"/>
              </a:rPr>
              <a:t>около двух секунд</a:t>
            </a:r>
            <a:r>
              <a:rPr sz="1500" b="0" i="0">
                <a:solidFill>
                  <a:srgbClr val="21295C"/>
                </a:solidFill>
                <a:latin typeface="Arial"/>
              </a:rPr>
              <a:t>; принятое без проверки правится потом в </a:t>
            </a:r>
            <a:r>
              <a:rPr sz="1500" b="1" i="0">
                <a:solidFill>
                  <a:srgbClr val="21295C"/>
                </a:solidFill>
                <a:latin typeface="Arial"/>
              </a:rPr>
              <a:t>53 % случаев против 18</a:t>
            </a:r>
            <a:r>
              <a:rPr sz="1500" b="0" i="0">
                <a:solidFill>
                  <a:srgbClr val="21295C"/>
                </a:solidFill>
                <a:latin typeface="Arial"/>
              </a:rPr>
              <a:t>.</a:t>
            </a:r>
          </a:p>
          <a:p>
            <a:pPr algn="l">
              <a:lnSpc>
                <a:spcPct val="126000"/>
              </a:lnSpc>
              <a:spcBef>
                <a:spcPts val="700"/>
              </a:spcBef>
            </a:pPr>
            <a:r>
              <a:rPr sz="1500" b="0" i="0">
                <a:solidFill>
                  <a:srgbClr val="21295C"/>
                </a:solidFill>
                <a:latin typeface="Arial"/>
              </a:rPr>
              <a:t/>
            </a:r>
            <a:r>
              <a:rPr sz="1500" b="1" i="0">
                <a:solidFill>
                  <a:srgbClr val="21295C"/>
                </a:solidFill>
                <a:latin typeface="Arial"/>
              </a:rPr>
              <a:t>Если бы вы завтра ставили модель в свой контур — какую одну проверку сделали бы обязательной до включения?</a:t>
            </a:r>
          </a:p>
        </p:txBody>
      </p:sp>
      <p:sp>
        <p:nvSpPr>
          <p:cNvPr id="7" name="Rounded Rectangle 6"/>
          <p:cNvSpPr/>
          <p:nvPr/>
        </p:nvSpPr>
        <p:spPr>
          <a:xfrm>
            <a:off x="7756855" y="1335024"/>
            <a:ext cx="3931920" cy="2712719"/>
          </a:xfrm>
          <a:prstGeom prst="roundRect">
            <a:avLst>
              <a:gd name="adj" fmla="val 11235"/>
            </a:avLst>
          </a:prstGeom>
          <a:solidFill>
            <a:srgbClr val="F4F7FA"/>
          </a:solidFill>
          <a:ln w="19050">
            <a:solidFill>
              <a:srgbClr val="1C7293"/>
            </a:solidFill>
          </a:ln>
          <a:effectLst/>
        </p:spPr>
        <p:txBody>
          <a:bodyPr rtlCol="0" anchor="ctr"/>
          <a:lstStyle/>
          <a:p>
            <a:pPr algn="ctr"/>
          </a:p>
        </p:txBody>
      </p:sp>
      <p:pic>
        <p:nvPicPr>
          <p:cNvPr id="8" name="Picture 7" descr="s106-dvoe-chitayut-s-ekrana.jpg"/>
          <p:cNvPicPr>
            <a:picLocks noChangeAspect="1"/>
          </p:cNvPicPr>
          <p:nvPr/>
        </p:nvPicPr>
        <p:blipFill>
          <a:blip r:embed="rId2"/>
          <a:stretch>
            <a:fillRect/>
          </a:stretch>
        </p:blipFill>
        <p:spPr>
          <a:xfrm>
            <a:off x="7894015" y="1472184"/>
            <a:ext cx="3657600" cy="2438400"/>
          </a:xfrm>
          <a:prstGeom prst="rect">
            <a:avLst/>
          </a:prstGeom>
        </p:spPr>
      </p:pic>
      <p:sp>
        <p:nvSpPr>
          <p:cNvPr id="9" name="Rectangle 8"/>
          <p:cNvSpPr/>
          <p:nvPr/>
        </p:nvSpPr>
        <p:spPr>
          <a:xfrm>
            <a:off x="502920" y="888090"/>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