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hyperlink" Target="https://github.com/tellina-study/AI-usage-lessons/blob/main/library/lectures/lec-07/rework/research/15-rabota-vladeltsa-iskazheniya.md" TargetMode="Externa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hyperlink" Target="https://github.com/tellina-study/AI-usage-lessons/blob/main/library/lectures/lec-07/rework/research/15-rabota-vladeltsa-iskazheniya.md" TargetMode="External"/><Relationship Id="rId4" Type="http://schemas.openxmlformats.org/officeDocument/2006/relationships/hyperlink" Target="https://github.com/tellina-study/AI-usage-lessons/blob/main/library/lectures/lec-07/rework/research/10b-ii-ispolzovanie-i-effekt.md" TargetMode="Externa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hyperlink" Target="https://github.com/tellina-study/AI-usage-lessons/blob/main/library/lectures/lec-07/rework/research/16-doverie-patsienta-k-modeli.md" TargetMode="Externa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Этот кадр нужен ровно затем, чтобы следующие два не слиплись в один. Про влияние ИИ на человека обычно говорят одним словом «человек», и получается каша: в одну кучу идут врач, который принимает решение, и пациент, который это решение принимает или не принимает. Это разные люди, разные механизмы и, что важнее для нас, разные замеры — их мерили разными способами, на разных выборках, и складывать их результаты между собой нельзя.</a:t>
            </a:r>
          </a:p>
          <a:p>
            <a:r>
              <a:t/>
            </a:r>
          </a:p>
          <a:p>
            <a:r>
              <a:t>Схема говорит одну вещь. До модели в приёме две стороны: врач принимает решение, пациент его получает. С моделью сторон по-прежнему две, но между ними появляется третий участник, и он влияет на обе. Это не «инструмент у врача в руках» — пациент тоже знает или не знает, что модель участвовала, и от этого меняется его поведение. Поэтому модель стоит в схеме не сбоку, а в самой цепочке.</a:t>
            </a:r>
          </a:p>
          <a:p>
            <a:r>
              <a:t/>
            </a:r>
          </a:p>
          <a:p>
            <a:r>
              <a:t>Со стороны врача меняется, как он принимает решение. Три вещи: на что он смотрит, чему верит и что умеет без помощника. На что смотрит — это буквально про движение глаза, и это измерено. Чему верит — про то, принимает ли он подсказку, когда она неверна, и это тоже измерено, причём на больших группах. Что умеет без помощника — про то, что остаётся, когда инструмент выключили, и это единственная из трёх вещей, измеренная не в лаборатории, а в живой работе.</a:t>
            </a:r>
          </a:p>
          <a:p>
            <a:r>
              <a:t/>
            </a:r>
          </a:p>
          <a:p>
            <a:r>
              <a:t>Со стороны пациента меняется другое: согласен ли он. Кому доверяет — врачу, который пользуется моделью, или врачу, который от неё отказался. Что просит перепроверить — и в какую сторону просит, потому что просьба несимметрична. От чего отказывается — и здесь выясняется, что отказ направлен не на модель вообще, а на модель, оставленную без человека.</a:t>
            </a:r>
          </a:p>
          <a:p>
            <a:r>
              <a:t/>
            </a:r>
          </a:p>
          <a:p>
            <a:r>
              <a:t>Почему разбирать порознь. Соблазн свести всё в одну картину велик, и он обманывает. У врача мерили поведение на задаче: читает снимок, ставит заключение, находит или пропускает. У пациента мерили согласие: выберет ли он такой приём, попросит ли перепроверку, доверяет ли врачу после того, как ему сказали про модель. Это разные предметы. Фраза «ИИ влияет на человека» их объединяет и тем самым врёт: влияние на того, кто решает, и влияние на того, кто с решением соглашается, — это два разных влияния, и они даже направлены в разные стороны. Врач модели доверяет слишком сильно; пациент — слишком слабо. Если произнести это одной фразой, получится бессмыслица, а порознь — два измеренных факта.</a:t>
            </a:r>
          </a:p>
          <a:p>
            <a:r>
              <a:t/>
            </a:r>
          </a:p>
          <a:p>
            <a:r>
              <a:t>И последнее, что стоит сказать здесь, а не на следующих кадрах. Ни один из замеров, которые будут дальше, не доходит до исхода пациента. Мерили работу врача и мерили согласие пациента; что стало со здоровьем человека на столе — не мерил никто из тех, на кого мы ссылаемся. Это честная граница всего блока, и назвать её лучше на входе, чем оправдываться на выходе.</a:t>
            </a:r>
          </a:p>
          <a:p>
            <a:r>
              <a:t/>
            </a:r>
          </a:p>
          <a:p>
            <a:r>
              <a:t>Ещё одно различие, которое стоит назвать здесь, потому что дальше оно будет мешать. Влияние на врача измеряли почти всегда в лаборатории: собирали набор случаев, нарочно портили часть подсказок, смотрели, что человек сделает. Влияние на пациента измеряли опросом и описанием случая: спрашивали, что он выберет, если. Ни то ни другое не есть наблюдение живой практики, и у обоих способов своя слабость. У лабораторного замера доля испорченных подсказок куда выше, чем в жизни, — значит и провал там резче. У опроса человек отвечает про воображаемую ситуацию, а не про ту, в которой ему страшно. Когда дальше прозвучат резкие числа, эту оговорку надо держать в уме: они верно показывают направление и завышают величину.</a:t>
            </a:r>
          </a:p>
          <a:p>
            <a:r>
              <a:t/>
            </a:r>
          </a:p>
          <a:p>
            <a:r>
              <a:t>**У кого в работе рядом встал инструмент, который меняет не результат, а то, как вы к нему приходите?**</a:t>
            </a:r>
          </a:p>
          <a:p>
            <a:r>
              <a:t/>
            </a:r>
          </a:p>
          <a:p>
            <a:r>
              <a:t>**Источники.** Полная запись — </a:t>
            </a:r>
            <a:r>
              <a:rPr u="sng">
                <a:solidFill>
                  <a:srgbClr val="065A82"/>
                </a:solidFill>
                <a:hlinkClick r:id="rId3"/>
              </a:rPr>
              <a:t>разбор работы об искажениях при взаимодействии человек — модель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Рамка этого кадра — не наша. Три механизма предложены работой об искажениях при взаимодействии человек — модель, и медицинские замеры всей этой лекции ложатся на два из трёх как частный случай. Произносить это надо прямо: механизмы проверены в трёх областях на двух с лишним тысячах человек совокупно, значит медицина не особая. Возражение «у врачей так, потому что медицина» на одном медицинском замере не снимается, а на трёх областях снимается.</a:t>
            </a:r>
          </a:p>
          <a:p>
            <a:r>
              <a:t/>
            </a:r>
          </a:p>
          <a:p>
            <a:r>
              <a:t>Первая строка — единственная с контрольной ветвью, и поэтому она головная. Люди классифицировали выражение лиц в наборах по двенадцать; их ответы отдали свёрточной сети, та усилила исходное смещение, и рядом с ней работала новая группа людей. Доля смещённых ответов у этой группы выросла с сорока девяти и девяти десятых до пятидесяти шести и трёх десятых из ста. Контрольная ветвь устроена так же, только вместо модели — другие люди: там доля не изменилась, пятьдесят и шесть десятых против пятидесяти одного с половиной, различия нет. Вот это и есть содержание механизма: усиливает не согласие с чужим мнением вообще, усиливает именно модель. И усиление растёт: в первом блоке взаимодействия смещённых ответов было пятьдесят и семь десятых из ста, в последнем — шестьдесят один и четыре. Снежный ком, и он измерен, а не назван.</a:t>
            </a:r>
          </a:p>
          <a:p>
            <a:r>
              <a:t/>
            </a:r>
          </a:p>
          <a:p>
            <a:r>
              <a:t>Вторую строку надо произнести вместе с тем единственным приёмом, который якорение снимает, иначе кадр учит бессилию. Семьсот семьдесят пять менеджеров в двух опытах оценивали работу сотрудников после подсказки, и оценки стягивались к подсказке. Величину работа в реферате не печатает, и ставить сюда похожее число из другого опыта нельзя. Зато та же работа называет своим вторым вкладом приём, который якорение снимает: потребовать от человека рассмотреть противоположное. Это не то же, что предупредить. Предупреждение — сообщение, которое человек принимает к сведению и продолжает делать как делал; рассмотрение противоположного — действие, которое он обязан выполнить. Разница между сообщением и действием и есть практический вывод. И тонкость: источник подсказки взаимодействовал с величиной якоря — при высоком якоре человек и модель давали разные оценки, при низком разницы не было. Значит «модель влияет сильнее человека» верно не всегда, и это говорит сама работа.</a:t>
            </a:r>
          </a:p>
          <a:p>
            <a:r>
              <a:t/>
            </a:r>
          </a:p>
          <a:p>
            <a:r>
              <a:t>Третья строка — наследование, и у неё самый аккуратный замер из трёх: шестьсот шестьдесят шесть участников проходили тест критического мышления БЕЗ доступа к модели, и связь частоты пользования с результатом оказалась отрицательной и значимой. Коэффициента не называю: полный текст закрыт по всем маршрутам, включая ссылку, которую обещает указатель открытого доступа. Рядом там же две вещи, о которых спрашивают: чем моложе участник, тем сильнее опора на модель и ниже результат; а образование связано с результатом независимо от пользования. Два других замера этого же механизма: пятьдесят четыре человека писали эссе с моделью и без под замером токов мозга, и снижение сохранялось в сессиях без модели; шестьдесят семь человек оценивали правдивость новостей, и разговор с моделью веру в дезинформацию снижал, а устойчивого навыка различения не оставлял.</a:t>
            </a:r>
          </a:p>
          <a:p>
            <a:r>
              <a:t/>
            </a:r>
          </a:p>
          <a:p>
            <a:r>
              <a:t>Четвёртая и пятая строки — те же второй и третий механизмы, снятые в медицине. Двести двадцать читателей снимков грудной клетки: при верной подсказке доля верных заключений девяносто два и восемь десятых, при заведомо неверной — двадцать три и шесть. Это якорение в чистом виде, и падение здесь больше, чем прибавка от верной подсказки. Доля процедур с найденным предраковым образованием: в процедурах БЕЗ помощника она упала с двадцати восьми и четырёх десятых до двадцати двух и четырёх — двести двадцать шесть находок из семисот девяноста пяти процедур до внедрения, сто сорок пять из шестисот сорока восьми после. Разряд у этой строки слабее остальных: ретроспективное наблюдательное, окна по три месяца, повторения нет, и причинности авторы не утверждают. Врачей было девятнадцать — шестнадцать гастроэнтерологов и три хирурга; числа этого нет в реферате самой работы, оно из разбора рецензируемого журнального клуба, то есть источник второго разряда. Оттуда же возражение, которое надо произнести вместе с падением: среднее число находок на процедуру изменилось незначимо — ноль пятьдесят четыре против ноль сорока трёх, — и по продвинутым находкам разницы нет вовсе. То есть упала доля процедур с находкой, а не количество найденного.</a:t>
            </a:r>
          </a:p>
          <a:p>
            <a:r>
              <a:t/>
            </a:r>
          </a:p>
          <a:p>
            <a:r>
              <a:t>Последняя подпись отвечает на вопрос, который зал задаёт сам: почему этого не видно изнутри. В той же первой работе участников спросили, насколько на них повлиял каждый алгоритм, и они назвали смещающий менее влиятельным, чем точный, — то есть ровно наоборот. А без всякой модели человек своё смещение правит сам: доля падала с пятидесяти шести и семи десятых до пятидесяти одного и девяти по ходу опыта. Способность к самокоррекции у него есть; рядом с моделью она не работает. И честная половина того же замера: точный алгоритм точность участников поднимал. Кадр не говорит, что модель вредна — он говорит, куда смотреть.</a:t>
            </a:r>
          </a:p>
          <a:p>
            <a:r>
              <a:t/>
            </a:r>
          </a:p>
          <a:p>
            <a:r>
              <a:t>**Источники.** Полная запись — </a:t>
            </a:r>
            <a:r>
              <a:rPr u="sng">
                <a:solidFill>
                  <a:srgbClr val="065A82"/>
                </a:solidFill>
                <a:hlinkClick r:id="rId3"/>
              </a:rPr>
              <a:t>разбор работы владельца об искажениях</a:t>
            </a:r>
            <a:r>
              <a:t> (рамка трёх механизмов и все 18 источников) и </a:t>
            </a:r>
            <a:r>
              <a:rPr u="sng">
                <a:solidFill>
                  <a:srgbClr val="065A82"/>
                </a:solidFill>
                <a:hlinkClick r:id="rId4"/>
              </a:rPr>
              <a:t>свод медицинских замеров</a:t>
            </a:r>
            <a:r>
              <a:t>. Числа первой строки и последней подписи сняты из полного текста Glickman и Sharot, Nature Human Behaviour 2025, PMID 39695250; четвёртой — Prinster и соавт., Radiology 2024;313(2), опыт с имитированной подсказкой; пятой — Budzyń и соавт., PMID 40816301.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врача мерили поведение на задаче. У пациента мерят согласие — чем он отвечает на сам факт, что в его случае участвовала модель. И первое для зала: согласие это не одно число. Пациент принимает модель помощником и отвергает исполнителем, причём обе величины сняты на одних и тех же людях.</a:t>
            </a:r>
          </a:p>
          <a:p>
            <a:r>
              <a:t/>
            </a:r>
          </a:p>
          <a:p>
            <a:r>
              <a:t>Замер, который прямее остальных. Тысяча семьсот шестьдесят два взрослых, представительных для населения Соединённых Штатов, случайно разделены на четыре группы по признаку пользования ИИ. Профиль врача у всех один. Шкала пятиступенчатая, приведённая к отрезку от нуля до единицы; лестница вышла ровная: шестьдесят три сотых, пятьдесят, тридцать четыре, тридцать. Раскрытие стоит пациенту двадцати пунктов доверия от середины шкалы. И менее ожидаемое: прямой отказ от ИИ приносит врачу тринадцать пунктов сверх того, что он имеет, когда об ИИ не сказано вовсе. Молчание — не нейтральная позиция, а уже проигрышная относительно заявленного отказа.</a:t>
            </a:r>
          </a:p>
          <a:p>
            <a:r>
              <a:t/>
            </a:r>
          </a:p>
          <a:p>
            <a:r>
              <a:t>Вторая и третья строки сняты на одной выборке и читаются вместе. Пятьсот восемнадцать женщин, пришедших на снимок молочной железы. Модель единственным читателем согласились принять двадцать три человека; вторым читателем — триста шестьдесят восемь из тех же пятисот восемнадцати. Разница в шестнадцать раз: пациент против не модели, а её одиночества. Третья строка показывает, что согласие несимметрично. Трёмстам пятидесяти девяти участницам задали оба вопроса: тревогу подняла модель — пусть посмотрит врач? триста девятнадцать да. Вызвал врач — пусть посмотрит модель? сто восемьдесят четыре. Перепроверка просится вверх и почти не просится вниз.</a:t>
            </a:r>
          </a:p>
          <a:p>
            <a:r>
              <a:t/>
            </a:r>
          </a:p>
          <a:p>
            <a:r>
              <a:t>Четвёртая строка про то, чем согласие двигается на самом деле. Двести сорок восемь взрослых с диабетом первого типа: пора на ежегодный осмотр глаз, доступна самостоятельная модель вместо направления к специалисту. Снятие доплаты в пятьдесят долларов подняло выбор модели с сорока трёх до восьмидесяти одного из ста, почти вдвое, а кто за неё платит — страховщик или разработчик, — на выбор не повлияло. Рядом то, что деньгами не сдвинулось: выбравшие модель хотели перепроверки у специалиста заметно сильнее обратного, и хотели её даже при нормальном результате. Произносить это надо парой: цена согласие покупает, доверия не покупает.</a:t>
            </a:r>
          </a:p>
          <a:p>
            <a:r>
              <a:t/>
            </a:r>
          </a:p>
          <a:p>
            <a:r>
              <a:t>Пятая строка — противоположный знак, и его надо назвать честно. Сорок пять человек с онкологическим диагнозом оценивали ответы на вопросы о болезни: четыре ответа на вопрос, три машинных и один врачебный, перемешанные и без подписи. Сочувствие в машинном ответе они оценили в четыре целых одиннадцать сотых из пяти, во врачебном — в две целых одну сотую. Строка говорит не то, что машина сочувствует: человек, не знающий авторства, выбирает машинный текст, а знающий — снижает доверие к врачу за один факт пользования. В одну фразу эти две строки не складываются: выборки и вопросы разные, и у пятой сорок пять участников, почти все старше шестидесяти пяти.</a:t>
            </a:r>
          </a:p>
          <a:p>
            <a:r>
              <a:t/>
            </a:r>
          </a:p>
          <a:p>
            <a:r>
              <a:t>Про новизну. Сто два взрослых курильщика пять недель разговаривали с чат-ботом поддержки отказа от курения, удовлетворённость замерялась каждую неделю. Кривая ровно та, которую новизна и даёт: три целых четыре десятых на входе, три целых семь на первой неделе — вершина, — и три целых ноль к пятой. Причину авторы называют предположительно, и на исход вмешательства падение не повлияло. И прямо скажу, чего нет: замера затухания доверия пациента к медицинской модели во времени не нашлось ни одного. Всё, что есть рядом, — срез по частоте собственного пользования ИИ в работе о раскрытии: у тех, кто пользуется часто, разрыв доверия меньше. Это срез, а не наблюдение во времени.</a:t>
            </a:r>
          </a:p>
          <a:p>
            <a:r>
              <a:t/>
            </a:r>
          </a:p>
          <a:p>
            <a:r>
              <a:t>Про возраст и образование, потому что спрашивают именно об этом. В работе о раскрытии падение доверия оказалось одинаковым по возрасту, полу, образованию и политическим взглядам: отказ широкий, а не свойство группы, — и это снимает удобное «не привыкли старшие». Одобрение модели в принципе у образованных выше, отношение шансов около двух, но это другой вопрос и другие люди.</a:t>
            </a:r>
          </a:p>
          <a:p>
            <a:r>
              <a:t/>
            </a:r>
          </a:p>
          <a:p>
            <a:r>
              <a:t>И последнее, прикладное. Три тысячи взрослых выбирали между описаниями приёма; цена двух признаков названа числом: присутствие врача поднимает вероятность выбора на восемнадцать пунктов, уровень модели выше специалиста — на тридцать два. Вот и ответ, чем лечить недоверие: качеством модели и человеком, оставленным в контуре. Объяснения и кампании в этом замере не участвовали.</a:t>
            </a:r>
          </a:p>
          <a:p>
            <a:r>
              <a:t/>
            </a:r>
          </a:p>
          <a:p>
            <a:r>
              <a:t>**Источники.** Полная запись всех шести замеров с выборками, интервалами и разрядом — </a:t>
            </a:r>
            <a:r>
              <a:rPr u="sng">
                <a:solidFill>
                  <a:srgbClr val="065A82"/>
                </a:solidFill>
                <a:hlinkClick r:id="rId3"/>
              </a:rPr>
              <a:t>свод доверия пациента к модели</a:t>
            </a:r>
            <a:r>
              <a:t>. Там же §8 — две пары, которые намеренно не собраны, и §9 — чего не нашлось.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hyperlink" Target="https://github.com/tellina-study/AI-usage-lessons/blob/main/library/lectures/lec-07/rework/research/15-rabota-vladeltsa-iskazheniya.md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llina-study/AI-usage-lessons/blob/main/library/lectures/lec-07/rework/research/15-rabota-vladeltsa-iskazheniya.md" TargetMode="External"/><Relationship Id="rId3" Type="http://schemas.openxmlformats.org/officeDocument/2006/relationships/hyperlink" Target="https://github.com/tellina-study/AI-usage-lessons/blob/main/library/lectures/lec-07/rework/research/10b-ii-ispolzovanie-i-effekt.md" TargetMode="Externa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llina-study/AI-usage-lessons/blob/main/library/lectures/lec-07/rework/research/16-doverie-patsienta-k-modeli.md" TargetMode="Externa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Две стороны приёма: врач и пациент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43747" y="1335024"/>
            <a:ext cx="3019832" cy="2651760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35-vrach-chitaet-s-ekran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339" y="1499616"/>
            <a:ext cx="2690648" cy="1901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08339" y="3419856"/>
            <a:ext cx="2690648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Врач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7916" y="1335024"/>
            <a:ext cx="3020228" cy="2651760"/>
          </a:xfrm>
          <a:prstGeom prst="roundRect">
            <a:avLst>
              <a:gd name="adj" fmla="val 11494"/>
            </a:avLst>
          </a:prstGeom>
          <a:solidFill>
            <a:srgbClr val="FFFFFF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" name="Picture 7" descr="dve-storony-pacient-landsca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508" y="1499616"/>
            <a:ext cx="2691044" cy="19019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92508" y="3419856"/>
            <a:ext cx="2691044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Пациент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06240"/>
            <a:ext cx="1307592" cy="40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Без модели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4169664"/>
            <a:ext cx="3073298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02536" y="4215384"/>
            <a:ext cx="2908706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Врач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039258" y="4338780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67858" y="4169664"/>
            <a:ext cx="3073298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50154" y="4215384"/>
            <a:ext cx="2908706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Решение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386876" y="4338780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615476" y="4169664"/>
            <a:ext cx="3073298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97772" y="4215384"/>
            <a:ext cx="2908706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Пациент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827936"/>
            <a:ext cx="1307592" cy="402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С моделью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920240" y="4791360"/>
            <a:ext cx="2236393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02536" y="4837080"/>
            <a:ext cx="2071801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Врач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202353" y="4960477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30953" y="4791360"/>
            <a:ext cx="2236393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3249" y="4837080"/>
            <a:ext cx="2071801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Модель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713067" y="4960477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1667" y="4791360"/>
            <a:ext cx="2236393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3963" y="4837080"/>
            <a:ext cx="2071801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Решение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223781" y="4960477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452381" y="4791360"/>
            <a:ext cx="2236393" cy="47539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34677" y="4837080"/>
            <a:ext cx="2071801" cy="383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Пациент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303329"/>
            <a:ext cx="11185855" cy="211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Модель встаёт не рядом с приёмом, а внутри него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4904" y="5606013"/>
            <a:ext cx="11441887" cy="630194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6" y="5697453"/>
            <a:ext cx="11112703" cy="5387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У приёма две стороны: у врача мерили поведение на задаче, у пациента — согласие с решением, и это разные предметы измерения.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3459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 u="sng">
                <a:solidFill>
                  <a:srgbClr val="065A82"/>
                </a:solidFill>
                <a:latin typeface="Arial"/>
                <a:hlinkClick r:id="rId4"/>
              </a:rPr>
              <a:t>Полная запись источников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Влияние на врача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11185855" cy="653546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1002975" cy="241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Якорение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5788"/>
            <a:ext cx="11002975" cy="20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Заключение врача сдвигается к подсказке модели, даже заведомо неверной: 23,6 против 92,8 из ста, 220 врачей.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80010"/>
            <a:ext cx="11185855" cy="653546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71450"/>
            <a:ext cx="11002975" cy="241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Сужение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40774"/>
            <a:ext cx="11002975" cy="20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Там, где модель молчит, взгляд врача реже задерживается — пропущено 61 против 29 из ста, 10 врачей.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24996"/>
            <a:ext cx="11185855" cy="653546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16436"/>
            <a:ext cx="11002975" cy="241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Износ навыка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85760"/>
            <a:ext cx="11002975" cy="20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Привыкнув к модели, врач без неё находит меньше: 22,4 против 28,4 из ста, 1 443 процедуры.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9982"/>
            <a:ext cx="11185855" cy="653546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661422"/>
            <a:ext cx="11002975" cy="241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Поток тревог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30746"/>
            <a:ext cx="11002975" cy="20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Модель шлёт тревоги потоком, и врач отклоняет почти все подряд — 90 из ста, из высшей тяжести лишь 0,5.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14968"/>
            <a:ext cx="11185855" cy="653546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406408"/>
            <a:ext cx="11002975" cy="241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Несогласие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75732"/>
            <a:ext cx="11002975" cy="20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Расхождение с моделью разбирают отдельным шагом: 3 449 арбитражей без модели против 5 283 с ней, на 50 000 женщин.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059954"/>
            <a:ext cx="11185855" cy="653546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5151394"/>
            <a:ext cx="11002975" cy="241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Поправка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420718"/>
            <a:ext cx="11002975" cy="20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Здесь наоборот: врач переписывает заключение модели, если находит ошибку — 31 из ста, 159 630 кардиограмм.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" y="5804940"/>
            <a:ext cx="11441887" cy="431267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5896380"/>
            <a:ext cx="11112703" cy="3398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Предупредить не помогает — помогают только действия человека во время работы с моделью или после неё.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3459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 u="sng">
                <a:solidFill>
                  <a:srgbClr val="065A82"/>
                </a:solidFill>
                <a:latin typeface="Arial"/>
                <a:hlinkClick r:id="rId2"/>
              </a:rPr>
              <a:t>Полная запись источников</a:t>
            </a:r>
            <a:r>
              <a:rPr sz="1200" b="0" i="1">
                <a:solidFill>
                  <a:srgbClr val="1C7293"/>
                </a:solidFill>
                <a:latin typeface="Arial"/>
              </a:rPr>
              <a:t> · </a:t>
            </a:r>
            <a:r>
              <a:rPr sz="1200" b="0" i="1" u="sng">
                <a:solidFill>
                  <a:srgbClr val="065A82"/>
                </a:solidFill>
                <a:latin typeface="Arial"/>
                <a:hlinkClick r:id="rId3"/>
              </a:rPr>
              <a:t>медицинские замеры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Влияние на пациента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11185855" cy="691896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26464"/>
            <a:ext cx="11002975" cy="241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Раскрытие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5788"/>
            <a:ext cx="11002975" cy="239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Когда пациенту говорят, что врач пользуется моделью, доверие к врачу падает: 0,30 против 0,63 у 1 762 взрослых.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18360"/>
            <a:ext cx="11185855" cy="691896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209800"/>
            <a:ext cx="11002975" cy="241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Одиночество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9125"/>
            <a:ext cx="11002975" cy="239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Модель как единственного читателя снимка почти не принимают, а как второе мнение — охотно: 23 против 368 из 518.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01697"/>
            <a:ext cx="11185855" cy="691896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993137"/>
            <a:ext cx="11002975" cy="241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Асимметрия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62462"/>
            <a:ext cx="11002975" cy="239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Если тревогу поднимает модель — 319 из 359 просят проверки врача; если тревогу поднимает врач — лишь 184 из 359 просят проверки модели.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685034"/>
            <a:ext cx="11185855" cy="691896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776474"/>
            <a:ext cx="11002975" cy="241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Цена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045799"/>
            <a:ext cx="11002975" cy="239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Когда осмотр моделью бесплатен, её выбирают заметно чаще — 81 против 43 из ста, 248 взрослых.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468371"/>
            <a:ext cx="11185855" cy="691896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559811"/>
            <a:ext cx="11002975" cy="2418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Безымянность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829135"/>
            <a:ext cx="11002975" cy="239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Без подписи автора ответ модели кажется более сочувственным, чем ответ врача: 4,11 против 2,01 из пяти, 45 человек.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" y="5251708"/>
            <a:ext cx="11441887" cy="938562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5343148"/>
            <a:ext cx="11112703" cy="893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Пациент принимает модель помощником и отвергает исполнителем.</a:t>
            </a:r>
          </a:p>
          <a:p>
            <a:pPr algn="l">
              <a:lnSpc>
                <a:spcPct val="118000"/>
              </a:lnSpc>
              <a:spcBef>
                <a:spcPts val="600"/>
              </a:spcBef>
            </a:pPr>
            <a:r>
              <a:rPr sz="1400" b="0" i="0">
                <a:solidFill>
                  <a:srgbClr val="21295C"/>
                </a:solidFill>
                <a:latin typeface="Arial"/>
              </a:rPr>
              <a:t/>
            </a:r>
            <a:r>
              <a:rPr sz="1400" b="1" i="0">
                <a:solidFill>
                  <a:srgbClr val="21295C"/>
                </a:solidFill>
                <a:latin typeface="Arial"/>
              </a:rPr>
              <a:t>Возраст и образование этого не объясняют. Затухания доверия во времени не измерено нигде.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345936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 u="sng">
                <a:solidFill>
                  <a:srgbClr val="065A82"/>
                </a:solidFill>
                <a:latin typeface="Arial"/>
                <a:hlinkClick r:id="rId2"/>
              </a:rPr>
              <a:t>Полная запись источников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