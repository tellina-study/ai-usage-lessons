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Relationship Id="rId3" Type="http://schemas.openxmlformats.org/officeDocument/2006/relationships/hyperlink" Target="https://github.com/tellina-study/AI-usage-lessons/blob/main/library/lectures/lec-07/rework/research/15-rabota-vladeltsa-iskazheniya.md" TargetMode="External"/><Relationship Id="rId4" Type="http://schemas.openxmlformats.org/officeDocument/2006/relationships/hyperlink" Target="https://github.com/tellina-study/AI-usage-lessons/blob/main/library/lectures/lec-07/rework/research/10b-ii-ispolzovanie-i-effekt.md" TargetMode="Externa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Relationship Id="rId3" Type="http://schemas.openxmlformats.org/officeDocument/2006/relationships/hyperlink" Target="https://github.com/tellina-study/AI-usage-lessons/blob/main/library/lectures/lec-07/rework/research/16-doverie-patsienta-k-modeli.md" TargetMode="Externa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Рамка этого кадра — не наша. Три механизма предложены работой об искажениях при взаимодействии человек — модель, и медицинские замеры всей этой лекции ложатся на два из трёх как частный случай. Произносить это надо прямо: механизмы проверены в трёх областях на двух с лишним тысячах человек совокупно, значит медицина не особая. Возражение «у врачей так, потому что медицина» на одном медицинском замере не снимается, а на трёх областях снимается.</a:t>
            </a:r>
          </a:p>
          <a:p>
            <a:r>
              <a:t/>
            </a:r>
          </a:p>
          <a:p>
            <a:r>
              <a:t>Первая строка — единственная с контрольной ветвью, и поэтому она головная. Люди классифицировали выражение лиц в наборах по двенадцать; их ответы отдали свёрточной сети, та усилила исходное смещение, и рядом с ней работала новая группа людей. Доля смещённых ответов у этой группы выросла с сорока девяти и девяти десятых до пятидесяти шести и трёх десятых из ста. Контрольная ветвь устроена так же, только вместо модели — другие люди: там доля не изменилась, пятьдесят и шесть десятых против пятидесяти одного с половиной, различия нет. Вот это и есть содержание механизма: усиливает не согласие с чужим мнением вообще, усиливает именно модель. И усиление растёт: в первом блоке взаимодействия смещённых ответов было пятьдесят и семь десятых из ста, в последнем — шестьдесят один и четыре. Снежный ком, и он измерен, а не назван.</a:t>
            </a:r>
          </a:p>
          <a:p>
            <a:r>
              <a:t/>
            </a:r>
          </a:p>
          <a:p>
            <a:r>
              <a:t>Вторую строку надо произнести вместе с её рычагом, иначе кадр учит бессилию. Семьсот семьдесят пять менеджеров в двух опытах оценивали работу сотрудников после подсказки, и оценки стягивались к подсказке. Величину работа в реферате не печатает, и ставить сюда похожее число из другого опыта нельзя. Зато та же работа называет своим вторым вкладом приём, который якорение снимает: потребовать от человека рассмотреть противоположное. Это не то же, что предупредить. Предупреждение — сообщение, которое человек принимает к сведению и продолжает делать как делал; рассмотрение противоположного — действие, которое он обязан выполнить. Разница между сообщением и действием и есть практический вывод. И тонкость: источник подсказки взаимодействовал с величиной якоря — при высоком якоре человек и модель давали разные оценки, при низком разницы не было. Значит «модель влияет сильнее человека» верно не всегда, и это говорит сама работа.</a:t>
            </a:r>
          </a:p>
          <a:p>
            <a:r>
              <a:t/>
            </a:r>
          </a:p>
          <a:p>
            <a:r>
              <a:t>Третья строка — наследование, и у неё самый аккуратный замер из трёх: шестьсот шестьдесят шесть участников проходили тест критического мышления БЕЗ доступа к модели, и связь частоты пользования с результатом оказалась отрицательной и значимой. Коэффициента не называю: полный текст закрыт по всем маршрутам, включая ссылку, которую обещает указатель открытого доступа. Рядом там же две вещи, о которых спрашивают: чем моложе участник, тем сильнее опора на модель и ниже результат; а образование связано с результатом независимо от пользования. Два других замера этого же механизма: пятьдесят четыре человека писали эссе с моделью и без под замером токов мозга, и снижение сохранялось в сессиях без модели; шестьдесят семь человек оценивали правдивость новостей, и разговор с моделью веру в дезинформацию снижал, а устойчивого навыка различения не оставлял.</a:t>
            </a:r>
          </a:p>
          <a:p>
            <a:r>
              <a:t/>
            </a:r>
          </a:p>
          <a:p>
            <a:r>
              <a:t>Четвёртая и пятая строки — те же второй и третий механизмы, снятые в медицине. Двести двадцать читателей снимков грудной клетки: при верной подсказке доля верных заключений девяносто два и восемь десятых, при заведомо неверной — двадцать три и шесть. Это якорение в чистом виде, и падение здесь больше, чем прибавка от верной подсказки. Доля процедур с найденным предраковым образованием: в процедурах БЕЗ помощника она упала с двадцати восьми и четырёх десятых до двадцати двух и четырёх — двести двадцать шесть находок из семисот девяноста пяти процедур до внедрения, сто сорок пять из шестисот сорока восьми после. Разряд у этой строки слабее остальных: ретроспективное наблюдательное, окна по три месяца, повторения нет, и причинности авторы не утверждают. Врачей было девятнадцать — шестнадцать гастроэнтерологов и три хирурга; числа этого нет в реферате самой работы, оно из разбора рецензируемого журнального клуба, то есть источник второго разряда. Оттуда же возражение, которое надо произнести вместе с падением: среднее число находок на процедуру изменилось незначимо — ноль пятьдесят четыре против ноль сорока трёх, — и по продвинутым находкам разницы нет вовсе. То есть упала доля процедур с находкой, а не количество найденного.</a:t>
            </a:r>
          </a:p>
          <a:p>
            <a:r>
              <a:t/>
            </a:r>
          </a:p>
          <a:p>
            <a:r>
              <a:t>Последняя подпись отвечает на вопрос, который зал задаёт сам: почему этого не видно изнутри. В той же первой работе участников спросили, насколько на них повлиял каждый алгоритм, и они назвали смещающий менее влиятельным, чем точный, — то есть ровно наоборот. А без всякой модели человек своё смещение правит сам: доля падала с пятидесяти шести и семи десятых до пятидесяти одного и девяти по ходу опыта. Способность к самокоррекции у него есть; рядом с моделью она не работает. И честная половина того же замера: точный алгоритм точность участников поднимал. Кадр не говорит, что модель вредна — он говорит, куда смотреть.</a:t>
            </a:r>
          </a:p>
          <a:p>
            <a:r>
              <a:t/>
            </a:r>
          </a:p>
          <a:p>
            <a:r>
              <a:t>**Источники.** Полная запись — </a:t>
            </a:r>
            <a:r>
              <a:rPr u="sng">
                <a:solidFill>
                  <a:srgbClr val="065A82"/>
                </a:solidFill>
                <a:hlinkClick r:id="rId3"/>
              </a:rPr>
              <a:t>разбор работы владельца об искажениях</a:t>
            </a:r>
            <a:r>
              <a:t> (рамка трёх механизмов и все 18 источников) и </a:t>
            </a:r>
            <a:r>
              <a:rPr u="sng">
                <a:solidFill>
                  <a:srgbClr val="065A82"/>
                </a:solidFill>
                <a:hlinkClick r:id="rId4"/>
              </a:rPr>
              <a:t>свод медицинских замеров</a:t>
            </a:r>
            <a:r>
              <a:t>. Числа первой строки и последней подписи сняты из полного текста Glickman и Sharot, Nature Human Behaviour 2025, PMID 39695250; четвёртой — Prinster и соавт., Radiology 2024;313(2), опыт с имитированной подсказкой; пятой — Budzyń и соавт., PMID 40816301.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 врача мерили поведение на задаче. У пациента мерят согласие — чем он отвечает на сам факт, что в его случае участвовала модель. И первое для зала: согласие это не одно число. Пациент принимает модель помощником и отвергает исполнителем, причём обе величины сняты на одних и тех же людях.</a:t>
            </a:r>
          </a:p>
          <a:p>
            <a:r>
              <a:t/>
            </a:r>
          </a:p>
          <a:p>
            <a:r>
              <a:t>Замер, который прямее остальных. Тысяча семьсот шестьдесят два взрослых, представительных для населения Соединённых Штатов, случайно разделены на четыре группы по признаку пользования ИИ. Профиль врача у всех один. Шкала пятиступенчатая, приведённая к отрезку от нуля до единицы; лестница вышла ровная: шестьдесят три сотых, пятьдесят, тридцать четыре, тридцать. Раскрытие стоит пациенту двадцати пунктов доверия от середины шкалы. И менее ожидаемое: прямой отказ от ИИ приносит врачу тринадцать пунктов сверх того, что он имеет, когда об ИИ не сказано вовсе. Молчание — не нейтральная позиция, а уже проигрышная относительно заявленного отказа.</a:t>
            </a:r>
          </a:p>
          <a:p>
            <a:r>
              <a:t/>
            </a:r>
          </a:p>
          <a:p>
            <a:r>
              <a:t>Вторая и третья строки сняты на одной выборке и читаются вместе. Пятьсот восемнадцать женщин, пришедших на снимок молочной железы. Модель единственным читателем согласились принять двадцать три человека; вторым читателем — триста шестьдесят восемь из тех же пятисот восемнадцати. Разница в шестнадцать раз: пациент против не модели, а её одиночества. Третья строка показывает, что согласие несимметрично. Трёмстам пятидесяти девяти участницам задали оба вопроса: тревогу подняла модель — пусть посмотрит врач? триста девятнадцать да. Вызвал врач — пусть посмотрит модель? сто восемьдесят четыре. Перепроверка просится вверх и почти не просится вниз.</a:t>
            </a:r>
          </a:p>
          <a:p>
            <a:r>
              <a:t/>
            </a:r>
          </a:p>
          <a:p>
            <a:r>
              <a:t>Четвёртая строка про то, чем согласие двигается на самом деле. Двести сорок восемь взрослых с диабетом первого типа: пора на ежегодный осмотр глаз, доступна самостоятельная модель вместо направления к специалисту. Снятие доплаты в пятьдесят долларов подняло выбор модели с сорока трёх до восьмидесяти одного из ста, почти вдвое, а кто за неё платит — страховщик или разработчик, — на выбор не повлияло. Рядом то, что деньгами не сдвинулось: выбравшие модель хотели перепроверки у специалиста заметно сильнее обратного, и хотели её даже при нормальном результате. Произносить это надо парой: цена согласие покупает, доверия не покупает.</a:t>
            </a:r>
          </a:p>
          <a:p>
            <a:r>
              <a:t/>
            </a:r>
          </a:p>
          <a:p>
            <a:r>
              <a:t>Пятая строка — противоположный знак, и его надо назвать честно. Сорок пять человек с онкологическим диагнозом оценивали ответы на вопросы о болезни: четыре ответа на вопрос, три машинных и один врачебный, перемешанные и без подписи. Сочувствие в машинном ответе они оценили в четыре целых одиннадцать сотых из пяти, во врачебном — в две целых одну сотую. Строка говорит не то, что машина сочувствует: человек, не знающий авторства, выбирает машинный текст, а знающий — снижает доверие к врачу за один факт пользования. В одну фразу эти две строки не складываются: выборки и вопросы разные, и у пятой сорок пять участников, почти все старше шестидесяти пяти.</a:t>
            </a:r>
          </a:p>
          <a:p>
            <a:r>
              <a:t/>
            </a:r>
          </a:p>
          <a:p>
            <a:r>
              <a:t>Про новизну. Сто два взрослых курильщика пять недель разговаривали с чат-ботом поддержки отказа от курения, удовлетворённость замерялась каждую неделю. Кривая ровно та, которую новизна и даёт: три целых четыре десятых на входе, три целых семь на первой неделе — вершина, — и три целых ноль к пятой. Причину авторы называют предположительно, и на исход вмешательства падение не повлияло. И прямо скажу, чего нет: замера затухания доверия пациента к медицинской модели во времени не нашлось ни одного. Всё, что есть рядом, — срез по частоте собственного пользования ИИ в работе о раскрытии: у тех, кто пользуется часто, разрыв доверия меньше. Это срез, а не наблюдение во времени.</a:t>
            </a:r>
          </a:p>
          <a:p>
            <a:r>
              <a:t/>
            </a:r>
          </a:p>
          <a:p>
            <a:r>
              <a:t>Про возраст и образование, потому что спрашивают именно об этом. В работе о раскрытии падение доверия оказалось одинаковым по возрасту, полу, образованию и политическим взглядам: отказ широкий, а не свойство группы, — и это снимает удобное «не привыкли старшие». Одобрение модели в принципе у образованных выше, отношение шансов около двух, но это другой вопрос и другие люди.</a:t>
            </a:r>
          </a:p>
          <a:p>
            <a:r>
              <a:t/>
            </a:r>
          </a:p>
          <a:p>
            <a:r>
              <a:t>И последнее, прикладное. Три тысячи взрослых выбирали между описаниями приёма; цена двух признаков названа числом: присутствие врача поднимает вероятность выбора на восемнадцать пунктов, уровень модели выше специалиста — на тридцать два. Вот и ответ, чем лечить недоверие: качеством модели и человеком, оставленным в контуре. Объяснения и кампании в этом замере не участвовали.</a:t>
            </a:r>
          </a:p>
          <a:p>
            <a:r>
              <a:t/>
            </a:r>
          </a:p>
          <a:p>
            <a:r>
              <a:t>**Источники.** Полная запись всех шести замеров с выборками, интервалами и разрядом — </a:t>
            </a:r>
            <a:r>
              <a:rPr u="sng">
                <a:solidFill>
                  <a:srgbClr val="065A82"/>
                </a:solidFill>
                <a:hlinkClick r:id="rId3"/>
              </a:rPr>
              <a:t>свод доверия пациента к модели</a:t>
            </a:r>
            <a:r>
              <a:t>. Там же §8 — две пары, которые намеренно не собраны, и §9 — чего не нашлось.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llina-study/AI-usage-lessons/blob/main/library/lectures/lec-07/rework/research/15-rabota-vladeltsa-iskazheniya.md" TargetMode="External"/><Relationship Id="rId3" Type="http://schemas.openxmlformats.org/officeDocument/2006/relationships/hyperlink" Target="https://github.com/tellina-study/AI-usage-lessons/blob/main/library/lectures/lec-07/rework/research/10b-ii-ispolzovanie-i-effekt.md" TargetMode="Externa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llina-study/AI-usage-lessons/blob/main/library/lectures/lec-07/rework/research/16-doverie-patsienta-k-modeli.md" TargetMode="Externa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 i="0">
                <a:solidFill>
                  <a:srgbClr val="21295C"/>
                </a:solidFill>
                <a:latin typeface="Arial"/>
              </a:rPr>
              <a:t>Три механизма искажений человек — модель: усиление, якорение, наследование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4904" y="1243584"/>
            <a:ext cx="11441887" cy="4992624"/>
          </a:xfrm>
          <a:prstGeom prst="roundRect">
            <a:avLst>
              <a:gd name="adj" fmla="val 6105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9496" y="1335024"/>
            <a:ext cx="11112703" cy="263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21295C"/>
                </a:solidFill>
                <a:latin typeface="Arial"/>
              </a:rPr>
              <a:t>Три механизма, проверенных в медицине, менеджменте и образовании. Все три держатся после окончания работы с моделью.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9496" y="1744439"/>
            <a:ext cx="2151657" cy="392496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44439"/>
            <a:ext cx="1859049" cy="392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механизм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1153" y="1744439"/>
            <a:ext cx="5620471" cy="392496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7457" y="1744439"/>
            <a:ext cx="5327863" cy="392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было → стало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11625" y="1744439"/>
            <a:ext cx="3340574" cy="392496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7929" y="1744439"/>
            <a:ext cx="3047966" cy="392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знаменатель и разряд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6" y="2136935"/>
            <a:ext cx="2151657" cy="62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136935"/>
            <a:ext cx="1859049" cy="62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1" i="0">
                <a:solidFill>
                  <a:srgbClr val="21295C"/>
                </a:solidFill>
                <a:latin typeface="Arial"/>
              </a:rPr>
              <a:t>Усиление предубеждений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1153" y="2136935"/>
            <a:ext cx="5620471" cy="62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7457" y="2136935"/>
            <a:ext cx="5327863" cy="62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21295C"/>
                </a:solidFill>
                <a:latin typeface="Arial"/>
              </a:rPr>
              <a:t>смещённых ответов из ста: с человеком </a:t>
            </a:r>
            <a:r>
              <a:rPr sz="1250" b="1" i="0">
                <a:solidFill>
                  <a:srgbClr val="21295C"/>
                </a:solidFill>
                <a:latin typeface="Arial"/>
              </a:rPr>
              <a:t>50,6 → 51,5</a:t>
            </a:r>
            <a:r>
              <a:rPr sz="1250" b="0" i="0">
                <a:solidFill>
                  <a:srgbClr val="21295C"/>
                </a:solidFill>
                <a:latin typeface="Arial"/>
              </a:rPr>
              <a:t>, с моделью </a:t>
            </a:r>
            <a:r>
              <a:rPr sz="1250" b="1" i="0">
                <a:solidFill>
                  <a:srgbClr val="21295C"/>
                </a:solidFill>
                <a:latin typeface="Arial"/>
              </a:rPr>
              <a:t>49,9 → 56,3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11625" y="2136935"/>
            <a:ext cx="3340574" cy="62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7929" y="2136935"/>
            <a:ext cx="3047966" cy="62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21295C"/>
                </a:solidFill>
                <a:latin typeface="Arial"/>
              </a:rPr>
              <a:t>1 401 участник; с человеком роста нет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9496" y="2757335"/>
            <a:ext cx="2151657" cy="392496"/>
          </a:xfrm>
          <a:prstGeom prst="rect">
            <a:avLst/>
          </a:prstGeom>
          <a:solidFill>
            <a:srgbClr val="F4F7FA"/>
          </a:solidFill>
          <a:ln w="12700">
            <a:solidFill>
              <a:srgbClr val="D9E2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757335"/>
            <a:ext cx="1859049" cy="392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1" i="0">
                <a:solidFill>
                  <a:srgbClr val="21295C"/>
                </a:solidFill>
                <a:latin typeface="Arial"/>
              </a:rPr>
              <a:t>Якорение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91153" y="2757335"/>
            <a:ext cx="5620471" cy="392496"/>
          </a:xfrm>
          <a:prstGeom prst="rect">
            <a:avLst/>
          </a:prstGeom>
          <a:solidFill>
            <a:srgbClr val="F4F7FA"/>
          </a:solidFill>
          <a:ln w="12700">
            <a:solidFill>
              <a:srgbClr val="D9E2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7457" y="2757335"/>
            <a:ext cx="5327863" cy="392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21295C"/>
                </a:solidFill>
                <a:latin typeface="Arial"/>
              </a:rPr>
              <a:t>оценки стягиваются к подсказке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11625" y="2757335"/>
            <a:ext cx="3340574" cy="392496"/>
          </a:xfrm>
          <a:prstGeom prst="rect">
            <a:avLst/>
          </a:prstGeom>
          <a:solidFill>
            <a:srgbClr val="F4F7FA"/>
          </a:solidFill>
          <a:ln w="12700">
            <a:solidFill>
              <a:srgbClr val="D9E2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57929" y="2757335"/>
            <a:ext cx="3047966" cy="392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21295C"/>
                </a:solidFill>
                <a:latin typeface="Arial"/>
              </a:rPr>
              <a:t>775 менеджеров; величины нет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9496" y="3149831"/>
            <a:ext cx="2151657" cy="62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149831"/>
            <a:ext cx="1859049" cy="62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1" i="0">
                <a:solidFill>
                  <a:srgbClr val="21295C"/>
                </a:solidFill>
                <a:latin typeface="Arial"/>
              </a:rPr>
              <a:t>Наследование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91153" y="3149831"/>
            <a:ext cx="5620471" cy="62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37457" y="3149831"/>
            <a:ext cx="5327863" cy="62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21295C"/>
                </a:solidFill>
                <a:latin typeface="Arial"/>
              </a:rPr>
              <a:t>критическое мышление ниже при частом пользовании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11625" y="3149831"/>
            <a:ext cx="3340574" cy="62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7929" y="3149831"/>
            <a:ext cx="3047966" cy="62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21295C"/>
                </a:solidFill>
                <a:latin typeface="Arial"/>
              </a:rPr>
              <a:t>666 участников, тест </a:t>
            </a:r>
            <a:r>
              <a:rPr sz="1250" b="1" i="0">
                <a:solidFill>
                  <a:srgbClr val="21295C"/>
                </a:solidFill>
                <a:latin typeface="Arial"/>
              </a:rPr>
              <a:t>без</a:t>
            </a:r>
            <a:r>
              <a:rPr sz="1250" b="0" i="0">
                <a:solidFill>
                  <a:srgbClr val="21295C"/>
                </a:solidFill>
                <a:latin typeface="Arial"/>
              </a:rPr>
              <a:t> доступа к модели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9496" y="3770231"/>
            <a:ext cx="2151657" cy="392496"/>
          </a:xfrm>
          <a:prstGeom prst="rect">
            <a:avLst/>
          </a:prstGeom>
          <a:solidFill>
            <a:srgbClr val="F4F7FA"/>
          </a:solidFill>
          <a:ln w="12700">
            <a:solidFill>
              <a:srgbClr val="D9E2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3770231"/>
            <a:ext cx="1859049" cy="392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1" i="0">
                <a:solidFill>
                  <a:srgbClr val="21295C"/>
                </a:solidFill>
                <a:latin typeface="Arial"/>
              </a:rPr>
              <a:t>Якорение у врача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91153" y="3770231"/>
            <a:ext cx="5620471" cy="392496"/>
          </a:xfrm>
          <a:prstGeom prst="rect">
            <a:avLst/>
          </a:prstGeom>
          <a:solidFill>
            <a:srgbClr val="F4F7FA"/>
          </a:solidFill>
          <a:ln w="12700">
            <a:solidFill>
              <a:srgbClr val="D9E2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7457" y="3770231"/>
            <a:ext cx="5327863" cy="392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21295C"/>
                </a:solidFill>
                <a:latin typeface="Arial"/>
              </a:rPr>
              <a:t>верных заключений при неверной подсказке </a:t>
            </a:r>
            <a:r>
              <a:rPr sz="1250" b="1" i="0">
                <a:solidFill>
                  <a:srgbClr val="21295C"/>
                </a:solidFill>
                <a:latin typeface="Arial"/>
              </a:rPr>
              <a:t>92,8 → 23,6</a:t>
            </a:r>
            <a:r>
              <a:rPr sz="1250" b="0" i="0">
                <a:solidFill>
                  <a:srgbClr val="21295C"/>
                </a:solidFill>
                <a:latin typeface="Arial"/>
              </a:rPr>
              <a:t> из ста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11625" y="3770231"/>
            <a:ext cx="3340574" cy="392496"/>
          </a:xfrm>
          <a:prstGeom prst="rect">
            <a:avLst/>
          </a:prstGeom>
          <a:solidFill>
            <a:srgbClr val="F4F7FA"/>
          </a:solidFill>
          <a:ln w="12700">
            <a:solidFill>
              <a:srgbClr val="D9E2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57929" y="3770231"/>
            <a:ext cx="3047966" cy="392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21295C"/>
                </a:solidFill>
                <a:latin typeface="Arial"/>
              </a:rPr>
              <a:t>220 читателей снимков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9496" y="4162727"/>
            <a:ext cx="2151657" cy="62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162727"/>
            <a:ext cx="1859049" cy="62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1" i="0">
                <a:solidFill>
                  <a:srgbClr val="21295C"/>
                </a:solidFill>
                <a:latin typeface="Arial"/>
              </a:rPr>
              <a:t>Наследование у врача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91153" y="4162727"/>
            <a:ext cx="5620471" cy="62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37457" y="4162727"/>
            <a:ext cx="5327863" cy="62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21295C"/>
                </a:solidFill>
                <a:latin typeface="Arial"/>
              </a:rPr>
              <a:t>предраковых находок </a:t>
            </a:r>
            <a:r>
              <a:rPr sz="1250" b="1" i="0">
                <a:solidFill>
                  <a:srgbClr val="21295C"/>
                </a:solidFill>
                <a:latin typeface="Arial"/>
              </a:rPr>
              <a:t>без</a:t>
            </a:r>
            <a:r>
              <a:rPr sz="1250" b="0" i="0">
                <a:solidFill>
                  <a:srgbClr val="21295C"/>
                </a:solidFill>
                <a:latin typeface="Arial"/>
              </a:rPr>
              <a:t> помощника </a:t>
            </a:r>
            <a:r>
              <a:rPr sz="1250" b="1" i="0">
                <a:solidFill>
                  <a:srgbClr val="21295C"/>
                </a:solidFill>
                <a:latin typeface="Arial"/>
              </a:rPr>
              <a:t>28,4 → 22,4</a:t>
            </a:r>
            <a:r>
              <a:rPr sz="1250" b="0" i="0">
                <a:solidFill>
                  <a:srgbClr val="21295C"/>
                </a:solidFill>
                <a:latin typeface="Arial"/>
              </a:rPr>
              <a:t> из ста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11625" y="4162727"/>
            <a:ext cx="3340574" cy="62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57929" y="4162727"/>
            <a:ext cx="3047966" cy="62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21295C"/>
                </a:solidFill>
                <a:latin typeface="Arial"/>
              </a:rPr>
              <a:t>226 из 795, затем 145 из 648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9496" y="4929431"/>
            <a:ext cx="11112703" cy="5262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21295C"/>
                </a:solidFill>
                <a:latin typeface="Arial"/>
              </a:rPr>
              <a:t>Рычаг назван той же работой:</a:t>
            </a:r>
            <a:r>
              <a:rPr sz="1300" b="0" i="0">
                <a:solidFill>
                  <a:srgbClr val="21295C"/>
                </a:solidFill>
                <a:latin typeface="Arial"/>
              </a:rPr>
              <a:t> предупредить не помогает, а потребовать рассмотреть противоположное — помогает. Те же 775 менеджеров.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9496" y="5601958"/>
            <a:ext cx="11112703" cy="5262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21295C"/>
                </a:solidFill>
                <a:latin typeface="Arial"/>
              </a:rPr>
              <a:t>Своего смещения человек не видит:</a:t>
            </a:r>
            <a:r>
              <a:rPr sz="1300" b="0" i="0">
                <a:solidFill>
                  <a:srgbClr val="21295C"/>
                </a:solidFill>
                <a:latin typeface="Arial"/>
              </a:rPr>
              <a:t> смещающую модель участники назвали менее влиятельной, чем точную. Без модели они правили себя сами — </a:t>
            </a:r>
            <a:r>
              <a:rPr sz="1350" b="1" i="0">
                <a:solidFill>
                  <a:srgbClr val="21295C"/>
                </a:solidFill>
                <a:latin typeface="Arial"/>
              </a:rPr>
              <a:t>56,7 → 51,9</a:t>
            </a:r>
            <a:r>
              <a:rPr sz="1300" b="0" i="0">
                <a:solidFill>
                  <a:srgbClr val="21295C"/>
                </a:solidFill>
                <a:latin typeface="Arial"/>
              </a:rPr>
              <a:t> из ста; с моделью доля росла до </a:t>
            </a:r>
            <a:r>
              <a:rPr sz="1350" b="1" i="0">
                <a:solidFill>
                  <a:srgbClr val="21295C"/>
                </a:solidFill>
                <a:latin typeface="Arial"/>
              </a:rPr>
              <a:t>61,4</a:t>
            </a:r>
            <a:r>
              <a:rPr sz="1300" b="0" i="0">
                <a:solidFill>
                  <a:srgbClr val="21295C"/>
                </a:solidFill>
                <a:latin typeface="Arial"/>
              </a:rPr>
              <a:t>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786241"/>
            <a:ext cx="960120" cy="50292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6345936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 u="sng">
                <a:solidFill>
                  <a:srgbClr val="065A82"/>
                </a:solidFill>
                <a:latin typeface="Arial"/>
                <a:hlinkClick r:id="rId2"/>
              </a:rPr>
              <a:t>Полная запись источников</a:t>
            </a:r>
            <a:r>
              <a:rPr sz="1200" b="0" i="1">
                <a:solidFill>
                  <a:srgbClr val="1C7293"/>
                </a:solidFill>
                <a:latin typeface="Arial"/>
              </a:rPr>
              <a:t> · </a:t>
            </a:r>
            <a:r>
              <a:rPr sz="1200" b="0" i="1" u="sng">
                <a:solidFill>
                  <a:srgbClr val="065A82"/>
                </a:solidFill>
                <a:latin typeface="Arial"/>
                <a:hlinkClick r:id="rId3"/>
              </a:rPr>
              <a:t>медицинские замеры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21295C"/>
                </a:solidFill>
                <a:latin typeface="Arial"/>
              </a:rPr>
              <a:t>Влияние ИИ на пациента: доверие, раскрытие, перепроверка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4904" y="1243584"/>
            <a:ext cx="11441887" cy="4530068"/>
          </a:xfrm>
          <a:prstGeom prst="roundRect">
            <a:avLst>
              <a:gd name="adj" fmla="val 6728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9496" y="1335024"/>
            <a:ext cx="11112703" cy="263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21295C"/>
                </a:solidFill>
                <a:latin typeface="Arial"/>
              </a:rPr>
              <a:t>Каждая строка — пара внутри одной выборки. Между собой строки в пару не складываются.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9496" y="1744439"/>
            <a:ext cx="2931329" cy="392496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44439"/>
            <a:ext cx="2638721" cy="392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что измерено в пациенте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0825" y="1744439"/>
            <a:ext cx="5107478" cy="392496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7129" y="1744439"/>
            <a:ext cx="4814870" cy="392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было → стало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78304" y="1744439"/>
            <a:ext cx="3073895" cy="392496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24608" y="1744439"/>
            <a:ext cx="2781287" cy="392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знаменатель и разряд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6" y="2136935"/>
            <a:ext cx="2931329" cy="39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136935"/>
            <a:ext cx="2638721" cy="392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1" i="0">
                <a:solidFill>
                  <a:srgbClr val="21295C"/>
                </a:solidFill>
                <a:latin typeface="Arial"/>
              </a:rPr>
              <a:t>Раскрытие роняет доверие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0825" y="2136935"/>
            <a:ext cx="5107478" cy="39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7129" y="2136935"/>
            <a:ext cx="4814870" cy="392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1" i="0">
                <a:solidFill>
                  <a:srgbClr val="21295C"/>
                </a:solidFill>
                <a:latin typeface="Arial"/>
              </a:rPr>
              <a:t>0,63 → 0,50 → 0,34 → 0,30</a:t>
            </a:r>
            <a:r>
              <a:rPr sz="1250" b="0" i="0">
                <a:solidFill>
                  <a:srgbClr val="21295C"/>
                </a:solidFill>
                <a:latin typeface="Arial"/>
              </a:rPr>
              <a:t> из единицы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78304" y="2136935"/>
            <a:ext cx="3073895" cy="39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24608" y="2136935"/>
            <a:ext cx="2781287" cy="392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21295C"/>
                </a:solidFill>
                <a:latin typeface="Arial"/>
              </a:rPr>
              <a:t>1 762 взрослых, четыре группы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9496" y="2529431"/>
            <a:ext cx="2931329" cy="392496"/>
          </a:xfrm>
          <a:prstGeom prst="rect">
            <a:avLst/>
          </a:prstGeom>
          <a:solidFill>
            <a:srgbClr val="F4F7FA"/>
          </a:solidFill>
          <a:ln w="12700">
            <a:solidFill>
              <a:srgbClr val="D9E2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529431"/>
            <a:ext cx="2638721" cy="392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1" i="0">
                <a:solidFill>
                  <a:srgbClr val="21295C"/>
                </a:solidFill>
                <a:latin typeface="Arial"/>
              </a:rPr>
              <a:t>Одним читателем не берут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0825" y="2529431"/>
            <a:ext cx="5107478" cy="392496"/>
          </a:xfrm>
          <a:prstGeom prst="rect">
            <a:avLst/>
          </a:prstGeom>
          <a:solidFill>
            <a:srgbClr val="F4F7FA"/>
          </a:solidFill>
          <a:ln w="12700">
            <a:solidFill>
              <a:srgbClr val="D9E2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7129" y="2529431"/>
            <a:ext cx="4814870" cy="392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21295C"/>
                </a:solidFill>
                <a:latin typeface="Arial"/>
              </a:rPr>
              <a:t>единственным </a:t>
            </a:r>
            <a:r>
              <a:rPr sz="1250" b="1" i="0">
                <a:solidFill>
                  <a:srgbClr val="21295C"/>
                </a:solidFill>
                <a:latin typeface="Arial"/>
              </a:rPr>
              <a:t>23 из 518</a:t>
            </a:r>
            <a:r>
              <a:rPr sz="1250" b="0" i="0">
                <a:solidFill>
                  <a:srgbClr val="21295C"/>
                </a:solidFill>
                <a:latin typeface="Arial"/>
              </a:rPr>
              <a:t>, вторым </a:t>
            </a:r>
            <a:r>
              <a:rPr sz="1250" b="1" i="0">
                <a:solidFill>
                  <a:srgbClr val="21295C"/>
                </a:solidFill>
                <a:latin typeface="Arial"/>
              </a:rPr>
              <a:t>368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78304" y="2529431"/>
            <a:ext cx="3073895" cy="392496"/>
          </a:xfrm>
          <a:prstGeom prst="rect">
            <a:avLst/>
          </a:prstGeom>
          <a:solidFill>
            <a:srgbClr val="F4F7FA"/>
          </a:solidFill>
          <a:ln w="12700">
            <a:solidFill>
              <a:srgbClr val="D9E2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24608" y="2529431"/>
            <a:ext cx="2781287" cy="392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21295C"/>
                </a:solidFill>
                <a:latin typeface="Arial"/>
              </a:rPr>
              <a:t>скрининг молочной железы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9496" y="2921927"/>
            <a:ext cx="2931329" cy="39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2921927"/>
            <a:ext cx="2638721" cy="392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1" i="0">
                <a:solidFill>
                  <a:srgbClr val="21295C"/>
                </a:solidFill>
                <a:latin typeface="Arial"/>
              </a:rPr>
              <a:t>Перепроверку просят вверх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0825" y="2921927"/>
            <a:ext cx="5107478" cy="39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17129" y="2921927"/>
            <a:ext cx="4814870" cy="392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21295C"/>
                </a:solidFill>
                <a:latin typeface="Arial"/>
              </a:rPr>
              <a:t>после тревоги модели к врачу — </a:t>
            </a:r>
            <a:r>
              <a:rPr sz="1250" b="1" i="0">
                <a:solidFill>
                  <a:srgbClr val="21295C"/>
                </a:solidFill>
                <a:latin typeface="Arial"/>
              </a:rPr>
              <a:t>319 из 359</a:t>
            </a:r>
            <a:r>
              <a:rPr sz="1250" b="0" i="0">
                <a:solidFill>
                  <a:srgbClr val="21295C"/>
                </a:solidFill>
                <a:latin typeface="Arial"/>
              </a:rPr>
              <a:t>; обратно — </a:t>
            </a:r>
            <a:r>
              <a:rPr sz="1250" b="1" i="0">
                <a:solidFill>
                  <a:srgbClr val="21295C"/>
                </a:solidFill>
                <a:latin typeface="Arial"/>
              </a:rPr>
              <a:t>184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78304" y="2921927"/>
            <a:ext cx="3073895" cy="39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24608" y="2921927"/>
            <a:ext cx="2781287" cy="392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21295C"/>
                </a:solidFill>
                <a:latin typeface="Arial"/>
              </a:rPr>
              <a:t>оба вопроса каждой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9496" y="3314423"/>
            <a:ext cx="2931329" cy="392496"/>
          </a:xfrm>
          <a:prstGeom prst="rect">
            <a:avLst/>
          </a:prstGeom>
          <a:solidFill>
            <a:srgbClr val="F4F7FA"/>
          </a:solidFill>
          <a:ln w="12700">
            <a:solidFill>
              <a:srgbClr val="D9E2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3314423"/>
            <a:ext cx="2638721" cy="392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1" i="0">
                <a:solidFill>
                  <a:srgbClr val="21295C"/>
                </a:solidFill>
                <a:latin typeface="Arial"/>
              </a:rPr>
              <a:t>Доплата двигает выбор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70825" y="3314423"/>
            <a:ext cx="5107478" cy="392496"/>
          </a:xfrm>
          <a:prstGeom prst="rect">
            <a:avLst/>
          </a:prstGeom>
          <a:solidFill>
            <a:srgbClr val="F4F7FA"/>
          </a:solidFill>
          <a:ln w="12700">
            <a:solidFill>
              <a:srgbClr val="D9E2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17129" y="3314423"/>
            <a:ext cx="4814870" cy="392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21295C"/>
                </a:solidFill>
                <a:latin typeface="Arial"/>
              </a:rPr>
              <a:t>выбор модели </a:t>
            </a:r>
            <a:r>
              <a:rPr sz="1250" b="1" i="0">
                <a:solidFill>
                  <a:srgbClr val="21295C"/>
                </a:solidFill>
                <a:latin typeface="Arial"/>
              </a:rPr>
              <a:t>43 → 81</a:t>
            </a:r>
            <a:r>
              <a:rPr sz="1250" b="0" i="0">
                <a:solidFill>
                  <a:srgbClr val="21295C"/>
                </a:solidFill>
                <a:latin typeface="Arial"/>
              </a:rPr>
              <a:t> из ста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78304" y="3314423"/>
            <a:ext cx="3073895" cy="392496"/>
          </a:xfrm>
          <a:prstGeom prst="rect">
            <a:avLst/>
          </a:prstGeom>
          <a:solidFill>
            <a:srgbClr val="F4F7FA"/>
          </a:solidFill>
          <a:ln w="12700">
            <a:solidFill>
              <a:srgbClr val="D9E2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24608" y="3314423"/>
            <a:ext cx="2781287" cy="392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21295C"/>
                </a:solidFill>
                <a:latin typeface="Arial"/>
              </a:rPr>
              <a:t>248 взрослых, 50 долларов снято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9496" y="3706919"/>
            <a:ext cx="2931329" cy="39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3706919"/>
            <a:ext cx="2638721" cy="392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1" i="0">
                <a:solidFill>
                  <a:srgbClr val="21295C"/>
                </a:solidFill>
                <a:latin typeface="Arial"/>
              </a:rPr>
              <a:t>Без подписи выбирают машину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70825" y="3706919"/>
            <a:ext cx="5107478" cy="39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17129" y="3706919"/>
            <a:ext cx="4814870" cy="392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21295C"/>
                </a:solidFill>
                <a:latin typeface="Arial"/>
              </a:rPr>
              <a:t>сочувствие: врач </a:t>
            </a:r>
            <a:r>
              <a:rPr sz="1250" b="1" i="0">
                <a:solidFill>
                  <a:srgbClr val="21295C"/>
                </a:solidFill>
                <a:latin typeface="Arial"/>
              </a:rPr>
              <a:t>2,01</a:t>
            </a:r>
            <a:r>
              <a:rPr sz="1250" b="0" i="0">
                <a:solidFill>
                  <a:srgbClr val="21295C"/>
                </a:solidFill>
                <a:latin typeface="Arial"/>
              </a:rPr>
              <a:t>, машина </a:t>
            </a:r>
            <a:r>
              <a:rPr sz="1250" b="1" i="0">
                <a:solidFill>
                  <a:srgbClr val="21295C"/>
                </a:solidFill>
                <a:latin typeface="Arial"/>
              </a:rPr>
              <a:t>4,11</a:t>
            </a:r>
            <a:r>
              <a:rPr sz="1250" b="0" i="0">
                <a:solidFill>
                  <a:srgbClr val="21295C"/>
                </a:solidFill>
                <a:latin typeface="Arial"/>
              </a:rPr>
              <a:t> из пяти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78304" y="3706919"/>
            <a:ext cx="3073895" cy="39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24608" y="3706919"/>
            <a:ext cx="2781287" cy="392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21295C"/>
                </a:solidFill>
                <a:latin typeface="Arial"/>
              </a:rPr>
              <a:t>45 человек, текст ответа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9496" y="4245719"/>
            <a:ext cx="11112703" cy="263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21295C"/>
                </a:solidFill>
                <a:latin typeface="Arial"/>
              </a:rPr>
              <a:t>Четыре группы первой строки:</a:t>
            </a:r>
            <a:r>
              <a:rPr sz="1300" b="0" i="0">
                <a:solidFill>
                  <a:srgbClr val="21295C"/>
                </a:solidFill>
                <a:latin typeface="Arial"/>
              </a:rPr>
              <a:t> врач прямо отказался от ИИ · об ИИ не сказано · пользуется умеренно · пользуется широко.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9496" y="4655134"/>
            <a:ext cx="11112703" cy="263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21295C"/>
                </a:solidFill>
                <a:latin typeface="Arial"/>
              </a:rPr>
              <a:t>Возраст и образование отказа не объясняют:</a:t>
            </a:r>
            <a:r>
              <a:rPr sz="1300" b="0" i="0">
                <a:solidFill>
                  <a:srgbClr val="21295C"/>
                </a:solidFill>
                <a:latin typeface="Arial"/>
              </a:rPr>
              <a:t> падение одинаково по возрасту, полу и образованию у тех же 1 762 человек.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9496" y="5064550"/>
            <a:ext cx="11112703" cy="5262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21295C"/>
                </a:solidFill>
                <a:latin typeface="Arial"/>
              </a:rPr>
              <a:t>Затухания доверия к медицинской модели во времени не измерено нигде.</a:t>
            </a:r>
            <a:r>
              <a:rPr sz="1300" b="0" i="0">
                <a:solidFill>
                  <a:srgbClr val="21295C"/>
                </a:solidFill>
                <a:latin typeface="Arial"/>
              </a:rPr>
              <a:t> Новизна измерена на чат-боте отказа от курения: удовлетворённость </a:t>
            </a:r>
            <a:r>
              <a:rPr sz="1350" b="1" i="0">
                <a:solidFill>
                  <a:srgbClr val="21295C"/>
                </a:solidFill>
                <a:latin typeface="Arial"/>
              </a:rPr>
              <a:t>3,69 → 2,97</a:t>
            </a:r>
            <a:r>
              <a:rPr sz="1300" b="0" i="0">
                <a:solidFill>
                  <a:srgbClr val="21295C"/>
                </a:solidFill>
                <a:latin typeface="Arial"/>
              </a:rPr>
              <a:t> из пяти за пять недель, 102 участника.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888090"/>
            <a:ext cx="960120" cy="50292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6345936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 u="sng">
                <a:solidFill>
                  <a:srgbClr val="065A82"/>
                </a:solidFill>
                <a:latin typeface="Arial"/>
                <a:hlinkClick r:id="rId2"/>
              </a:rPr>
              <a:t>Полная запись источников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