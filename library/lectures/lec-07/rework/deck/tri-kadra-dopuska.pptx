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hyperlink" Target="https://rg.ru/documents/2014/04/23/minzdrav-dok.html" TargetMode="External"/><Relationship Id="rId4" Type="http://schemas.openxmlformats.org/officeDocument/2006/relationships/hyperlink" Target="https://polimertest.ru/gallery/gallery-Prikaz_ot_30_08_21_N_885n_.pdf" TargetMode="External"/><Relationship Id="rId5" Type="http://schemas.openxmlformats.org/officeDocument/2006/relationships/hyperlink" Target="https://pravo.ppt.ru/kodeks/nk/st-333.32.2" TargetMode="External"/><Relationship Id="rId6" Type="http://schemas.openxmlformats.org/officeDocument/2006/relationships/hyperlink" Target="https://www.zakonrf.info/postanovlenie-pravitelstvo-rf-1684-30112024/" TargetMode="External"/><Relationship Id="rId7" Type="http://schemas.openxmlformats.org/officeDocument/2006/relationships/hyperlink" Target="https://www.fda.gov/media/158308/download" TargetMode="External"/><Relationship Id="rId8" Type="http://schemas.openxmlformats.org/officeDocument/2006/relationships/hyperlink" Target="https://www.vniiimt.ru/uslugi/ekspertiza/ekspertiza-dlya-gosudarstvennoy-registratsii-meditsinskikh-izdeliy/" TargetMode="Externa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hyperlink" Target="https://www.fda.gov/medical-devices/software-medical-device-samd/artificial-intelligence-and-machine-learning-aiml-enabled-medical-devices" TargetMode="External"/><Relationship Id="rId4" Type="http://schemas.openxmlformats.org/officeDocument/2006/relationships/hyperlink" Target="https://www.etnews.com/20260410000195" TargetMode="External"/><Relationship Id="rId5" Type="http://schemas.openxmlformats.org/officeDocument/2006/relationships/hyperlink" Target="https://www.dataeconomy.co.kr/news/articleView.html?idxno=42899" TargetMode="External"/><Relationship Id="rId6" Type="http://schemas.openxmlformats.org/officeDocument/2006/relationships/hyperlink" Target="https://medinform.jmir.org/2026/1/e85538" TargetMode="External"/><Relationship Id="rId7" Type="http://schemas.openxmlformats.org/officeDocument/2006/relationships/hyperlink" Target="https://www.jfmda.gr.jp/wp/wp-content/uploads/2026/01/Final-Study-Report-for-Review-of-SaMD-utilizing-AI_English.pdf" TargetMode="External"/><Relationship Id="rId8" Type="http://schemas.openxmlformats.org/officeDocument/2006/relationships/hyperlink" Target="https://webiomed.ru/novosti/sistema-webiomed-stala-pervoi-rossiiskoi-razrabotkoi-v-oblasti-iskusstvennogo-intellekta/" TargetMode="Externa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hyperlink" Target="https://www.ama-assn.org/press-center/ama-press-releases/ama-ai-usage-among-doctors-doubles-confidence-technology-grows" TargetMode="External"/><Relationship Id="rId4" Type="http://schemas.openxmlformats.org/officeDocument/2006/relationships/hyperlink" Target="https://www.doximity.com/reports/state-of-ai-medicine-report/2026" TargetMode="External"/><Relationship Id="rId5" Type="http://schemas.openxmlformats.org/officeDocument/2006/relationships/hyperlink" Target="https://www.ncbi.nlm.nih.gov/pmc/articles/PMC11458846/" TargetMode="External"/><Relationship Id="rId6" Type="http://schemas.openxmlformats.org/officeDocument/2006/relationships/hyperlink" Target="https://www.auntminnieeurope.com/imaging-informatics/artificial-intelligence/article/15828872/rcr-census-ai-underused-for-admin-tasks-that-cut-workload" TargetMode="External"/><Relationship Id="rId7" Type="http://schemas.openxmlformats.org/officeDocument/2006/relationships/hyperlink" Target="https://www.vshouz.ru/news/analitika/wcs-20706/" TargetMode="External"/><Relationship Id="rId8" Type="http://schemas.openxmlformats.org/officeDocument/2006/relationships/hyperlink" Target="https://www.medtechdive.com/news/aidoc-raises-150m-to-advance-clinical-ai-foundation-model/819042/" TargetMode="External"/><Relationship Id="rId9" Type="http://schemas.openxmlformats.org/officeDocument/2006/relationships/hyperlink" Target="https://www.businesswire.com/news/home/20260728323403/en/A-Decade-of-Increasing-Access-to-Life-Saving-Treatments-Viz.ai-Celebrates-10-Years-2000-Hospitals-and-230-Million-Patients" TargetMode="External"/><Relationship Id="rId10" Type="http://schemas.openxmlformats.org/officeDocument/2006/relationships/hyperlink" Target="https://readmymri.com/blog/how-many-medical-imaging-scans-are-done-per-year" TargetMode="External"/><Relationship Id="rId11" Type="http://schemas.openxmlformats.org/officeDocument/2006/relationships/hyperlink" Target="https://www.kff.org/medicare/medicare-advantage-2025-spotlight-a-first-look-at-plan-offerings/" TargetMode="External"/><Relationship Id="rId12" Type="http://schemas.openxmlformats.org/officeDocument/2006/relationships/hyperlink" Target="https://radiologybusiness.com/topics/artificial-intelligence/radiology-dominates-fda-cleared-ai-reimbursement-lags-far-behind" TargetMode="External"/><Relationship Id="rId13" Type="http://schemas.openxmlformats.org/officeDocument/2006/relationships/hyperlink" Target="https://www.dataeconomy.co.kr/news/articleView.html?idxno=42899" TargetMode="Externa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Допуск изделия — вопрос, который инженер в медицинском проекте слышит раньше вопроса о точности модели. Пока изделие не допущено, применить его к человеку нельзя при любой точности. После допуска точность до следующего изменения изделия никто не пересматривает. Поэтому порядок допуска входит в инженерное задание наравне с выбором модели.</a:t>
            </a:r>
          </a:p>
          <a:p>
            <a:r>
              <a:t/>
            </a:r>
          </a:p>
          <a:p>
            <a:r>
              <a:t>Начнём с американской стороны, потому что через неё прошло больше изделий с машинным обучением, чем через любую другую. Все медизделия в США разделены на три класса по риску для человека: класс I — бинты и ручной инструмент, класс II — инфузионные насосы и большинство диагностических систем, класс III — то, что поддерживает или замещает жизненно важную функцию: кардиостимуляторы, искусственные клапаны. Класс присвоен типу изделия, и таких типов у регулятора тысячи. Класс определяет, какой порядок допуска обязателен, и в этом смысле решение о пути принято задолго до того, как разработчик написал первую строку.</a:t>
            </a:r>
          </a:p>
          <a:p>
            <a:r>
              <a:t/>
            </a:r>
          </a:p>
          <a:p>
            <a:r>
              <a:t>Обычный порядок для класса II называется 510(k) — по номеру статьи закона. Производитель не доказывает безопасность и эффективность с нуля. Он доказывает, что его изделие существенно похоже на уже легально продающееся — на предшественника. Сравнивают назначение и технические характеристики, иногда стендовые данные, изредка минимальные клинические. Проспективных клинических испытаний этот путь почти никогда не требует, и долгосрочного исхода у человека тоже. Целевой срок рассмотрения — около 124 дней, и это общее время, которое регулятор делит с заявителем, а не время работы экспертов. Полный цикл — PMA — требует собственных клинических данных, полного досье производства, у значимых заявок ещё и публичного заседания внешней панели; целевой срок около 285 дней. Между этими двумя путями есть третий, De Novo: он придуман для изделия умеренного риска, у которого предшественника нет, и после него изделие само становится предшественником для чужих будущих заявок.</a:t>
            </a:r>
          </a:p>
          <a:p>
            <a:r>
              <a:t/>
            </a:r>
          </a:p>
          <a:p>
            <a:r>
              <a:t>Отдельно стоит назвать то, что в схеме не поместилось: часть изделий не проходит никакого предпродажного рассмотрения. Среди типов изделий класса I освобождены около 89,7%, среди типов класса II — около 13,3%. Освобождение снимает рассмотрение, но не снимает регистрацию производства, требования к системе качества, маркировку и отчётность о нежелательных явлениях.</a:t>
            </a:r>
          </a:p>
          <a:p>
            <a:r>
              <a:t/>
            </a:r>
          </a:p>
          <a:p>
            <a:r>
              <a:t>Российский порядок устроен иначе на обоих концах. Классов четыре — 1, 2а, 2б и 3, — и назначаются они по длительности применения и инвазивности, а не по назначению изделия: два изделия одного назначения могут получить разные классы. Форм оценки соответствия три. Технические испытания проводит аккредитованная лаборатория, регламентный срок — 30 рабочих дней. Токсикологические исследования обязательны при всех классах, включая первый. Клинические испытания требуют отдельного разрешения Росздравнадзора и бывают в двух формах, и это место стоит прочесть по тексту приказа. Пункт 37 перечисляет, когда нужны испытания с участием человека: новый вид изделия; применение новых сложных, уникальных или специальных методов; случай, когда анализ и оценка клинических данных эффективность и безопасность не подтвердили. Дальше дословно: «В остальных случаях клинические испытания медицинских изделий проводятся в форме анализа и оценки клинических данных». Ворота здесь — новизна изделия или метода. Класса риска в самом пункте нет вовсе, и наличия зарегистрированного аналога тоже: слова «аналог» в этом пункте нет ни в одном из трёх поднятых текстов — официальной публикации приказа № 2н 2014 года, его зеркале и документе Минюста по приказу № 885н 2021 года.</a:t>
            </a:r>
          </a:p>
          <a:p>
            <a:r>
              <a:t/>
            </a:r>
          </a:p>
          <a:p>
            <a:r>
              <a:t>И последняя ступень, которой у американского короткого пути нет совсем: государственная экспертиза качества, эффективности и безопасности. Её проводит ВНИИИМТ, и только по заданию Росздравнадзора, а не по заявлению производителя. Основание регистрации сформулировано через союз «и»: результаты испытаний и экспертиза. Это два параллельно обязательных основания, и класс риска определяет объём экспертизы, а не её необходимость. Регламентные сроки по сводным источникам — до 20 рабочих дней на экспертизу качества, эффективности и безопасности и до 10 на экспертизу клинических данных; на практике, когда в деле есть клинические испытания, проходит до полугода, потому что длительность самих испытаний не регламентирована.</a:t>
            </a:r>
          </a:p>
          <a:p>
            <a:r>
              <a:t/>
            </a:r>
          </a:p>
          <a:p>
            <a:r>
              <a:t>Цена вопроса в деньгах: за рассмотрение по короткому пути в США обычный заявитель платит 26 067 долларов, за полный цикл — 579 272; малому бизнесу в обеих графах вчетверо меньше. Российская пошлина за экспертизу привязана к классу: 72, 104, 136 и 184 тысячи рублей, плюс 11 тысяч за выдачу удостоверения. Те же суммы кодекс устанавливает и для союзной регистрации — разница между национальным и союзным треком не в тарифе.</a:t>
            </a:r>
          </a:p>
          <a:p>
            <a:r>
              <a:t/>
            </a:r>
          </a:p>
          <a:p>
            <a:r>
              <a:t>Две оговорки на день чтения. Приказ № 885н сменяется с 1 сентября 2026 года приказом № 421н; по сводкам основания для испытаний с участием человека там сформулированы тем же способом, но полный текст стоит взять напрямую. Американские пошлины взяты из отраслевых сводок тарифной сетки, а не из акта регулятора, и за год они выросли на 7,1% — у обеих категорий.</a:t>
            </a:r>
          </a:p>
          <a:p>
            <a:r>
              <a:t/>
            </a:r>
          </a:p>
          <a:p>
            <a:r>
              <a:t>**Источники.** </a:t>
            </a:r>
            <a:r>
              <a:rPr u="sng">
                <a:solidFill>
                  <a:srgbClr val="065A82"/>
                </a:solidFill>
                <a:hlinkClick r:id="rId3"/>
              </a:rPr>
              <a:t>Приказ Минздрава № 2н от 09.01.2014, официальная публикация «Российской газеты»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4"/>
              </a:rPr>
              <a:t>приказ № 885н от 30.08.2021, документ Минюста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5"/>
              </a:rPr>
              <a:t>НК РФ ст. 333.32.2, редакция от 01.10.2026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6"/>
              </a:rPr>
              <a:t>постановление Правительства № 1684 от 30.11.2024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7"/>
              </a:rPr>
              <a:t>FDA, MDUFA Performance Goals FY2023–2027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8"/>
              </a:rPr>
              <a:t>ВНИИИМТ об экспертизе для государственной регистрации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Числа сняты с таблицы регулятора напрямую, прямым чтением страницы, а не взяты из отраслевой сводки — это важно, потому что сводки по этому предмету расходятся между собой на сотни изделий. В списке FDA на 17 октября 2026 года — 1 614 изделий с ИИ или машинным обучением. Знаменатель дальше везде этот, и его стоит произнести один раз громко: все доли ниже считаны от 1 614.</a:t>
            </a:r>
          </a:p>
          <a:p>
            <a:r>
              <a:t/>
            </a:r>
          </a:p>
          <a:p>
            <a:r>
              <a:t>Путей три, и доли между ними распределены крайне неравномерно. По короткому пути, через похожесть на предшественник, прошли 1 553 изделия — 96,2%. Новый класс через De Novo получили 40 — 2,5%. Полный цикл с собственными клиническими испытаниями прошли 21 изделие — 1,3%. Для сравнения: по всем медизделиям за историю системы доля полного цикла около 1,87%, то есть у изделий с ИИ она даже ниже средней. Практический смысл этой дроби такой: типовая модель попадает в клинику, доказав похожесть на уже допущенное изделие, а исход у пациентов при этом никто не измерял.</a:t>
            </a:r>
          </a:p>
          <a:p>
            <a:r>
              <a:t/>
            </a:r>
          </a:p>
          <a:p>
            <a:r>
              <a:t>Структура по специальностям объясняет, что такое «ИИ в медицине» на самом деле. Радиология — 1 230 изделий, 76,2%. Кардиология — 154, это 9,5%. Неврология — 73, 4,5%. Дальше идут анестезиология, гастроэнтерология, гематология, патология, офтальмология, хирургия и клиническая химия — у каждой от 9 до 30 изделий. Психиатрии в списке нет ни одного изделия за всю историю. То есть ИИ в медицине на 2026 год — это преимущественно работа с изображениями, и остальные специальности вместе не дают и четверти.</a:t>
            </a:r>
          </a:p>
          <a:p>
            <a:r>
              <a:t/>
            </a:r>
          </a:p>
          <a:p>
            <a:r>
              <a:t>Теперь про динамику, и здесь надо разделить два счёта, которые легко перепутать. Весь массив изделий с ИИ растёт быстро: 6 изделий в 2014 году, 335 в 2025-м, то есть каждое десятое новое медизделие в США в 2025 году — с ИИ, против двух на тысячу в 2015-м. Но если убрать короткий путь и оставить только изделия, допущенные без ссылки на предшественник, картина другая: накопленным счётом их было 7 к 2010 году и 56 к концу 2025-го. Плюс 49 за шестнадцать лет, в среднем по 3,1 изделия в год. Эта линия почти горизонтальна: 7 в 2021 году, 2 в 2022-м, 7 в 2023-м, 10 в 2024-м, 6 в 2025-м — ни одного признака ускорения.</a:t>
            </a:r>
          </a:p>
          <a:p>
            <a:r>
              <a:t/>
            </a:r>
          </a:p>
          <a:p>
            <a:r>
              <a:t>Рядом — противофакт, без которого рост массива читается неверно. Весь поток новых решений о допуске медизделий в США за десять лет вырос в 1,07 раза, то есть остался на месте: около 3 063 решений в 2015 году и около 3 265 в 2025-м. Изделия с ИИ не замещали собой что-то другое, они прибавлялись сверху.</a:t>
            </a:r>
          </a:p>
          <a:p>
            <a:r>
              <a:t/>
            </a:r>
          </a:p>
          <a:p>
            <a:r>
              <a:t>Страновой перечень требует отдельной оговорки, и она важнее самих цифр. Каждая строка считана по собственному признаку новизны, потому что единого международного определения «реально нового изделия» не существует. Корея: 88 изделий из 549 кумулятивно на первый квартал 2026 года, признак — добровольный инновационный статус, который регулятор присваивает сам; на 51,7 миллиона населения выходит 1,70. Если взять другой корейский признак — прошло ли изделие возмещение по страховке, — остаётся 49 из 549, и показатель падает до 0,95. Два честных числа по одной стране, разные критерии. Китай: 118 изделий из 154 прошли собственное клиническое испытание как путь допуска, по классу высокого риска отдельно — 116 из 123; на 1 409 миллионов населения это 0,08. Япония: около 14 из 51, и это экстраполяция общей доли по всем программным медизделиям на подмножество с ИИ, а не прямой подсчёт. США: 61 из 1 614 на 342 миллиона населения — 0,18.</a:t>
            </a:r>
          </a:p>
          <a:p>
            <a:r>
              <a:t/>
            </a:r>
          </a:p>
          <a:p>
            <a:r>
              <a:t>Российская строка стоит на другом признаке, и это надо сказать залу прямо. Росздравнадзор не публикует разбивку «сколько изделий прошли испытания с участием человека, а сколько оценку по документам», поэтому в числителе стоят все 57 зарегистрированных изделий, а на 146 миллионов населения это даёт 0,39. Признак новизны к ним не применён — его нечем применить. Достоверно известно про первые два российских изделия 2020 года, Webiomed и Botkin.AI: аналогов в реестре у них не было, и оба прошли полноценные клинические испытания с участием пациентов. К 2026 году в реестре накопилось больше десяти продуктов анализа медицинских изображений, и для новых заявок той же товарной категории доказательная база по документам уже существует. Значит, строка 0,39 сравнима с остальными по способу счёта только условно, и приравнивать 57 российских изделий к 57 «реально новым» в американском смысле неверно.</a:t>
            </a:r>
          </a:p>
          <a:p>
            <a:r>
              <a:t/>
            </a:r>
          </a:p>
          <a:p>
            <a:r>
              <a:t>**Источники.** </a:t>
            </a:r>
            <a:r>
              <a:rPr u="sng">
                <a:solidFill>
                  <a:srgbClr val="065A82"/>
                </a:solidFill>
                <a:hlinkClick r:id="rId3"/>
              </a:rPr>
              <a:t>FDA, AI/ML-Enabled Medical Devices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4"/>
              </a:rPr>
              <a:t>Корея, кумулятивный счёт 549, отраслевой дайджест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5"/>
              </a:rPr>
              <a:t>Корея, возмещение 49 из 549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6"/>
              </a:rPr>
              <a:t>Китай, пути клинической оценки, JMIR Medical Informatics 2026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7"/>
              </a:rPr>
              <a:t>Япония, итоговый отчёт по программным медизделиям с ИИ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8"/>
              </a:rPr>
              <a:t>Webiomed, первое российское изделие с 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 этого места речь шла о том, сколько изделий допущено. Допуск — ещё не применение, и счётчики тут разные: допущено, установлено, используется, обработано случаев за год. Каждое число дальше подписано, какой это счётчик, потому что их постоянно складывают между собой, и получается величина, которой никто не измерял.</a:t>
            </a:r>
          </a:p>
          <a:p>
            <a:r>
              <a:t/>
            </a:r>
          </a:p>
          <a:p>
            <a:r>
              <a:t>Сколько врачей пользуется. По США есть ряд, снятый одной методикой: 38 процентов в опросе 2023 года, 66 процентов в опросе ноября 2024-го. Знаменатель — практикующие врачи США, и он сам не сходится к одному числу: перепись лицензий даёт 1 082 тысячи, ассоциация медицинских колледжей — 1 032 тысячи, независимая оценка 2025 года — около 1,11 миллиона. Берём 1,1 миллиона как рабочее среднее; расхождение в восемь процентов порядок величины не меняет. В абсолюте это рост примерно с 410 до 720 тысяч врачей за год. Рядом стоит второй, более строгий счёт — опрос профессиональной сети Doximity, зима 2025–2026: 63 процента по той же базе. Разрыв между счётами не ошибка: один считает любое профессиональное обращение к ИИ, включая разовое, другой — регулярную работу в клиническом процессе. Оба числа честные.</a:t>
            </a:r>
          </a:p>
          <a:p>
            <a:r>
              <a:t/>
            </a:r>
          </a:p>
          <a:p>
            <a:r>
              <a:t>По Европе прямого общеврачебного опроса нет, есть два косвенных замера. Европейское общество радиологии, опрос 2024 года: 47,9 процента респондентов применяют ИИ в практике, и здесь важен знаменатель — ответили 572 человека из 28 тысяч приглашённых, то есть это самоотбор, а не случайная выборка. Британская перепись рентгенологических отделений 2025 года: ИИ хотя бы в одном применении есть в 75 процентах отделений, но счётчик здесь отделение, а не врач. Там же любопытный разворот: снижение нагрузки от ИИ-черновика отчёта отмечают 24 процента отделений, рост нагрузки — 37 процентов, и ещё 56 процентов изменений не видят.</a:t>
            </a:r>
          </a:p>
          <a:p>
            <a:r>
              <a:t/>
            </a:r>
          </a:p>
          <a:p>
            <a:r>
              <a:t>По России единого ежегодного опроса одной методикой нет вовсе, и это свойство самих данных. Есть разовые: больше половины врачей хотя бы раз работали с нейросетями, регулярно применяют 15–25 процентов. Знаменатель — 771,7 тысячи врачей в 2025 году, причём ряд по годам не монотонный; Минздрав отдельно называет 614 тысяч врачей в государственных организациях, то есть более узкую корзину. На диапазоне доли это 115–190 тысяч человек, и это оценка по доле, не прямой замер абсолюта.</a:t>
            </a:r>
          </a:p>
          <a:p>
            <a:r>
              <a:t/>
            </a:r>
          </a:p>
          <a:p>
            <a:r>
              <a:t>Сколько случаев проходит через модель. Складываем только непересекающиеся именованные развёртывания: Aidoc — 60 миллионов случаев в год, Qure.ai — 7 миллионов обследований на туберкулёз за один финансовый год, Annalise в британской системе — 2,8 миллиона рентгенограмм в год на сорока с лишним трастах, московская платформа — около 16 миллионов исследований по отчёту 2026 года, цифровой помощник врача от СберМедИИ — 30 миллионов сводок о состоянии, решения об оплате в Medicare Advantage — 53 миллиона. Сумма — 169–178 миллионов в год. Viz.ai в эту сумму не включён намеренно: он стоит в тех же американских больницах, что и Aidoc, и сложение задвоило бы часть одних и тех же снимков. Собственное число Viz.ai назову отдельно: две тысячи больниц и 230 миллионов человек в зоне покрытия — это охват территории обслуживания, не случаи за год, .</a:t>
            </a:r>
          </a:p>
          <a:p>
            <a:r>
              <a:t/>
            </a:r>
          </a:p>
          <a:p>
            <a:r>
              <a:t>Доля от общего потока. Мировой объём диагностической визуализации — 3,6–4,2 миллиарда процедур в год: рентген больше 2,5 миллиарда, ультразвук больше 500 миллионов, компьютерная томография около 375 миллионов, магнитно-резонансная — 100–150 миллионов. Если взять только диагностические категории из суммы выше, около 86 миллионов, выходит 2–2,4 процента мирового потока. Это пол счёта: в нём нет Китая, где больше 1 200 больниц высшего уровня применяют ИИ-диагностику, но объём потока через них не раскрыт; нет большей части автоматической записи приёмов — в этой категории около шестидесяти компаний и ни одного отраслевого итога; нет Кореи и Японии.</a:t>
            </a:r>
          </a:p>
          <a:p>
            <a:r>
              <a:t/>
            </a:r>
          </a:p>
          <a:p>
            <a:r>
              <a:t>И категория, которая затрагивает больше людей разом, чем любая диагностическая платформа: административная. 53 миллиона решений о предварительной авторизации оплаты за 2024 год при 34,1 миллиона застрахованных в Medicare Advantage — это 1,55 решения на человека в год. Не все они прошли алгоритмическую проверку в равной мере, но порядок величины понятен: ИИ в медицине не сводится к диагнозу.</a:t>
            </a:r>
          </a:p>
          <a:p>
            <a:r>
              <a:t/>
            </a:r>
          </a:p>
          <a:p>
            <a:r>
              <a:t>Последние два числа — про разрыв между допуском и оплатой, и он везде измеряется порядком величины, а не процентами. США: 1 614 одобренных алгоритмов, код оплаты хоть какой-то есть у 26, постоянный с гарантированной оплатой — у трёх. Корея: 549 допущенных, возмещение получили 49, то есть 500 изделий допущены и остались вне страховки. Германия: постоянно или предварительно оплачиваются 56–59 цифровых приложений, но знаменателя поданных заявок в открытых источниках нет. Франция: три устройства телемониторинга получили возмещение, и все мобильные приложения отклонены — для целого класса это ноль. Германскую и французскую строки я называю без доли намеренно: знаменателя у них не опубликовано, и доля от неизвестного знаменателя ничего не измеряет.</a:t>
            </a:r>
          </a:p>
          <a:p>
            <a:r>
              <a:t/>
            </a:r>
          </a:p>
          <a:p>
            <a:r>
              <a:t>**Источники.** </a:t>
            </a:r>
            <a:r>
              <a:rPr u="sng">
                <a:solidFill>
                  <a:srgbClr val="065A82"/>
                </a:solidFill>
                <a:hlinkClick r:id="rId3"/>
              </a:rPr>
              <a:t>AMA, использование ИИ врачами США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4"/>
              </a:rPr>
              <a:t>Doximity, State of AI in Medicine 2026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5"/>
              </a:rPr>
              <a:t>Европейское общество радиологии, опрос 2024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6"/>
              </a:rPr>
              <a:t>Британская перепись отделений, 2025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7"/>
              </a:rPr>
              <a:t>Россия, обзор опросов врачей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8"/>
              </a:rPr>
              <a:t>Aidoc, 60 миллионов случаев в год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9"/>
              </a:rPr>
              <a:t>Viz.ai, две тысячи больниц и 230 миллионов человек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10"/>
              </a:rPr>
              <a:t>Мировой поток визуализации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11"/>
              </a:rPr>
              <a:t>Medicare Advantage, застрахованные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12"/>
              </a:rPr>
              <a:t>Оплата изделий с ИИ в США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13"/>
              </a:rPr>
              <a:t>Корея, возмещение 49 из 549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llina-study/AI-usage-lessons/blob/main/library/lectures/lec-07/rework/research/09a-dopusk-usa-puti-i-doli.md" TargetMode="External"/><Relationship Id="rId3" Type="http://schemas.openxmlformats.org/officeDocument/2006/relationships/hyperlink" Target="https://github.com/tellina-study/AI-usage-lessons/blob/main/library/lectures/lec-07/rework/research/09b-dopusk-rossiya.md" TargetMode="External"/><Relationship Id="rId4" Type="http://schemas.openxmlformats.org/officeDocument/2006/relationships/hyperlink" Target="https://github.com/tellina-study/AI-usage-lessons/blob/main/library/lectures/lec-07/rework/research/12-korotkiy-put-v-rf-razbor.md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ithub.com/tellina-study/AI-usage-lessons/blob/main/library/lectures/lec-07/rework/research/10-II-FDA-PERVICHNYY-SCHET.md" TargetMode="External"/><Relationship Id="rId4" Type="http://schemas.openxmlformats.org/officeDocument/2006/relationships/hyperlink" Target="https://github.com/tellina-study/AI-usage-lessons/blob/main/library/lectures/lec-07/rework/research/11-dinamika-po-stranam-realno-novye.md" TargetMode="External"/><Relationship Id="rId5" Type="http://schemas.openxmlformats.org/officeDocument/2006/relationships/hyperlink" Target="https://github.com/tellina-study/AI-usage-lessons/blob/main/library/lectures/lec-07/rework/research/13-koreya-kitay-proverka.md" TargetMode="Externa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tellina-study/AI-usage-lessons/blob/main/library/lectures/lec-07/rework/research/14-vnedrenie-agregaty.md" TargetMode="External"/><Relationship Id="rId4" Type="http://schemas.openxmlformats.org/officeDocument/2006/relationships/hyperlink" Target="https://github.com/tellina-study/AI-usage-lessons/blob/main/library/lectures/lec-07/rework/research/10b-ii-ispolzovanie-i-effekt.md" TargetMode="Externa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Механизмы допуска медицинского изделия: США и Россия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5510631" cy="1376997"/>
          </a:xfrm>
          <a:prstGeom prst="roundRect">
            <a:avLst>
              <a:gd name="adj" fmla="val 22135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5236311" cy="25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ПОШЛИНА ЗА РАССМОТРЕНИЕ, США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25375"/>
            <a:ext cx="5236311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26 067 · 579 272 доллара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52374"/>
            <a:ext cx="5236311" cy="211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короткий путь · полный цикл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8143" y="1335024"/>
            <a:ext cx="5510631" cy="1376997"/>
          </a:xfrm>
          <a:prstGeom prst="roundRect">
            <a:avLst>
              <a:gd name="adj" fmla="val 22135"/>
            </a:avLst>
          </a:prstGeom>
          <a:solidFill>
            <a:srgbClr val="FFFFFF"/>
          </a:solidFill>
          <a:ln w="25400">
            <a:solidFill>
              <a:srgbClr val="F0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5303" y="1472184"/>
            <a:ext cx="5236311" cy="25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РЕГИСТРАЦИЯ В РОССИИ ЦЕЛИКОМ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5303" y="1725375"/>
            <a:ext cx="5236311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C7293"/>
                </a:solidFill>
                <a:latin typeface="Arial"/>
              </a:rPr>
              <a:t>0,6–3 млн рублей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5303" y="2152374"/>
            <a:ext cx="5236311" cy="422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класс 1 → класс 3; госпошлина 72–184 тысячи — её часть. Оценка регистратора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31477"/>
            <a:ext cx="1307592" cy="402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США, короткий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2894901"/>
            <a:ext cx="3073298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02536" y="2940621"/>
            <a:ext cx="2908706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Заявка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39258" y="3064017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67858" y="2894901"/>
            <a:ext cx="3073298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0154" y="2940621"/>
            <a:ext cx="2908706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Похож на предшественник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386876" y="3064017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15476" y="2894901"/>
            <a:ext cx="3073298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7772" y="2940621"/>
            <a:ext cx="2908706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Допуск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53174"/>
            <a:ext cx="1307592" cy="402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США, полный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3516598"/>
            <a:ext cx="2236393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02536" y="3562318"/>
            <a:ext cx="2071801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Заявка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202353" y="3685714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30953" y="3516598"/>
            <a:ext cx="2236393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3249" y="3562318"/>
            <a:ext cx="2071801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Испытания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713067" y="3685714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41667" y="3516598"/>
            <a:ext cx="2236393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3963" y="3562318"/>
            <a:ext cx="2071801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Экспертиза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223781" y="3685714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52381" y="3516598"/>
            <a:ext cx="2236393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34677" y="3562318"/>
            <a:ext cx="2071801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Допуск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174871"/>
            <a:ext cx="1307592" cy="402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Россия, все классы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4138295"/>
            <a:ext cx="2236393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02536" y="4184015"/>
            <a:ext cx="2071801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Испытания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202353" y="4307411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30953" y="4138295"/>
            <a:ext cx="2236393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13249" y="4184015"/>
            <a:ext cx="2071801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Токсикология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6713067" y="4307411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941667" y="4138295"/>
            <a:ext cx="2236393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3963" y="4184015"/>
            <a:ext cx="2071801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Клинические данные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9223781" y="4307411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452381" y="4138295"/>
            <a:ext cx="2236393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34677" y="4184015"/>
            <a:ext cx="2071801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Экспертиза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650264"/>
            <a:ext cx="11185855" cy="211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Полный американский порядок близок к российскому; короткого пути в России нет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4904" y="4952947"/>
            <a:ext cx="11441887" cy="1165285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5044387"/>
            <a:ext cx="11112703" cy="1191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Без регистрационного удостоверения изделие нельзя ни применить на человеке, ни купить за бюджетные деньги.</a:t>
            </a:r>
            <a:r>
              <a:rPr sz="1350" b="0" i="0">
                <a:solidFill>
                  <a:srgbClr val="21295C"/>
                </a:solidFill>
                <a:latin typeface="Arial"/>
              </a:rPr>
              <a:t> Допуск — ворота и в клинику, и в закупку.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</a:pPr>
            <a:r>
              <a:rPr sz="1350" b="0" i="0">
                <a:solidFill>
                  <a:srgbClr val="21295C"/>
                </a:solidFill>
                <a:latin typeface="Arial"/>
              </a:rPr>
              <a:t/>
            </a:r>
            <a:r>
              <a:rPr sz="1350" b="1" i="0">
                <a:solidFill>
                  <a:srgbClr val="21295C"/>
                </a:solidFill>
                <a:latin typeface="Arial"/>
              </a:rPr>
              <a:t>Короткий путь — заявление о похожести на уже допущенное изделие:</a:t>
            </a:r>
            <a:r>
              <a:rPr sz="1350" b="0" i="0">
                <a:solidFill>
                  <a:srgbClr val="21295C"/>
                </a:solidFill>
                <a:latin typeface="Arial"/>
              </a:rPr>
              <a:t> им идут 97,5 новых решений из ста, полным циклом — 1,04.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888090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3459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Полная запись источников в репозитории курса</a:t>
            </a:r>
            <a:r>
              <a:rPr sz="1200" b="0" i="1">
                <a:solidFill>
                  <a:srgbClr val="1C7293"/>
                </a:solidFill>
                <a:latin typeface="Arial"/>
              </a:rPr>
              <a:t> · </a:t>
            </a:r>
            <a:r>
              <a:rPr sz="1200" b="0" i="1" u="sng">
                <a:solidFill>
                  <a:srgbClr val="065A82"/>
                </a:solidFill>
                <a:latin typeface="Arial"/>
                <a:hlinkClick r:id="rId2"/>
              </a:rPr>
              <a:t>допуск в США, ступени и доли</a:t>
            </a:r>
            <a:r>
              <a:rPr sz="1200" b="0" i="1">
                <a:solidFill>
                  <a:srgbClr val="1C7293"/>
                </a:solidFill>
                <a:latin typeface="Arial"/>
              </a:rPr>
              <a:t> · </a:t>
            </a:r>
            <a:r>
              <a:rPr sz="1200" b="0" i="1" u="sng">
                <a:solidFill>
                  <a:srgbClr val="065A82"/>
                </a:solidFill>
                <a:latin typeface="Arial"/>
                <a:hlinkClick r:id="rId3"/>
              </a:rPr>
              <a:t>допуск в России</a:t>
            </a:r>
            <a:r>
              <a:rPr sz="1200" b="0" i="1">
                <a:solidFill>
                  <a:srgbClr val="1C7293"/>
                </a:solidFill>
                <a:latin typeface="Arial"/>
              </a:rPr>
              <a:t> · </a:t>
            </a:r>
            <a:r>
              <a:rPr sz="1200" b="0" i="1" u="sng">
                <a:solidFill>
                  <a:srgbClr val="065A82"/>
                </a:solidFill>
                <a:latin typeface="Arial"/>
                <a:hlinkClick r:id="rId4"/>
              </a:rPr>
              <a:t>короткий путь в России, разбор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Изделия с ИИ: счёт и пути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7847" y="1335024"/>
            <a:ext cx="11176000" cy="27432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0Xb-strany-i-dinami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472184"/>
            <a:ext cx="10058400" cy="2468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261104"/>
            <a:ext cx="3618890" cy="1165753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398264"/>
            <a:ext cx="3344570" cy="25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КОРОТКОЙ ДОРОГОЙ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51455"/>
            <a:ext cx="3344570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1 553 из 1 614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8454"/>
            <a:ext cx="3344570" cy="211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по похожести на предшественник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6402" y="4261104"/>
            <a:ext cx="3618890" cy="1165753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3562" y="4398264"/>
            <a:ext cx="3344570" cy="25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ПОЛНЫМ ЦИКЛОМ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3562" y="4651455"/>
            <a:ext cx="3344570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21 из 1 614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3562" y="5078454"/>
            <a:ext cx="3344570" cy="211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с собственными клиническими испытаниями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9884" y="4261104"/>
            <a:ext cx="3618890" cy="116575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F0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7044" y="4398264"/>
            <a:ext cx="3344570" cy="25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РАДИОЛОГИЯ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7044" y="4651455"/>
            <a:ext cx="3344570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C7293"/>
                </a:solidFill>
                <a:latin typeface="Arial"/>
              </a:rPr>
              <a:t>1 230 из 1 614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7044" y="5078454"/>
            <a:ext cx="3344570" cy="211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психиатрии ноль за всю историю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4" y="5518297"/>
            <a:ext cx="11441887" cy="579009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5609737"/>
            <a:ext cx="11112703" cy="626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Российская строка считана по всему реестру, остальные — по признаку новизны.</a:t>
            </a:r>
            <a:r>
              <a:rPr sz="1400" b="0" i="0">
                <a:solidFill>
                  <a:srgbClr val="21295C"/>
                </a:solidFill>
                <a:latin typeface="Arial"/>
              </a:rPr>
              <a:t> Один столбец собран из двух разных счётов.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888090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3459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Полная запись источников в репозитории курса</a:t>
            </a:r>
            <a:r>
              <a:rPr sz="1200" b="0" i="1">
                <a:solidFill>
                  <a:srgbClr val="1C7293"/>
                </a:solidFill>
                <a:latin typeface="Arial"/>
              </a:rPr>
              <a:t> · </a:t>
            </a:r>
            <a:r>
              <a:rPr sz="1200" b="0" i="1" u="sng">
                <a:solidFill>
                  <a:srgbClr val="065A82"/>
                </a:solidFill>
                <a:latin typeface="Arial"/>
                <a:hlinkClick r:id="rId3"/>
              </a:rPr>
              <a:t>счёт по таблице FDA</a:t>
            </a:r>
            <a:r>
              <a:rPr sz="1200" b="0" i="1">
                <a:solidFill>
                  <a:srgbClr val="1C7293"/>
                </a:solidFill>
                <a:latin typeface="Arial"/>
              </a:rPr>
              <a:t> · </a:t>
            </a:r>
            <a:r>
              <a:rPr sz="1200" b="0" i="1" u="sng">
                <a:solidFill>
                  <a:srgbClr val="065A82"/>
                </a:solidFill>
                <a:latin typeface="Arial"/>
                <a:hlinkClick r:id="rId4"/>
              </a:rPr>
              <a:t>страновой разрез</a:t>
            </a:r>
            <a:r>
              <a:rPr sz="1200" b="0" i="1">
                <a:solidFill>
                  <a:srgbClr val="1C7293"/>
                </a:solidFill>
                <a:latin typeface="Arial"/>
              </a:rPr>
              <a:t> · </a:t>
            </a:r>
            <a:r>
              <a:rPr sz="1200" b="0" i="1" u="sng">
                <a:solidFill>
                  <a:srgbClr val="065A82"/>
                </a:solidFill>
                <a:latin typeface="Arial"/>
                <a:hlinkClick r:id="rId5"/>
              </a:rPr>
              <a:t>проверка Кореи и Китая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Применение ИИ: врачи и поток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7847" y="1335024"/>
            <a:ext cx="11176000" cy="27432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0Xc-potok-za-g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472184"/>
            <a:ext cx="10058400" cy="2468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261104"/>
            <a:ext cx="3618890" cy="1376997"/>
          </a:xfrm>
          <a:prstGeom prst="roundRect">
            <a:avLst>
              <a:gd name="adj" fmla="val 22135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398264"/>
            <a:ext cx="3344570" cy="25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ВРАЧИ США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51455"/>
            <a:ext cx="3344570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38% → 66%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8454"/>
            <a:ext cx="3344570" cy="211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из 1,1 млн практикующих, 2023 и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6402" y="4261104"/>
            <a:ext cx="3618890" cy="1376997"/>
          </a:xfrm>
          <a:prstGeom prst="roundRect">
            <a:avLst>
              <a:gd name="adj" fmla="val 22135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3562" y="4398264"/>
            <a:ext cx="3344570" cy="25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ДОПУЩЕНО И ОПЛАЧИВАЕТСЯ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3562" y="4651455"/>
            <a:ext cx="3344570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3 из 1 614 · 49 из 549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3562" y="5078454"/>
            <a:ext cx="3344570" cy="422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постоянные коды оплаты, США · возмещение, Корея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9884" y="4261104"/>
            <a:ext cx="3618890" cy="1376997"/>
          </a:xfrm>
          <a:prstGeom prst="roundRect">
            <a:avLst>
              <a:gd name="adj" fmla="val 22135"/>
            </a:avLst>
          </a:prstGeom>
          <a:solidFill>
            <a:srgbClr val="FFFFFF"/>
          </a:solidFill>
          <a:ln w="25400">
            <a:solidFill>
              <a:srgbClr val="F0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7044" y="4398264"/>
            <a:ext cx="3344570" cy="25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ЛЮДИ В ЗОНЕ ПОКРЫТИЯ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7044" y="4651455"/>
            <a:ext cx="3344570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C7293"/>
                </a:solidFill>
                <a:latin typeface="Arial"/>
              </a:rPr>
              <a:t>230 млн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7044" y="5078454"/>
            <a:ext cx="3344570" cy="211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Viz.ai, 2 000 больниц; охват, не случаи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4" y="5729541"/>
            <a:ext cx="11441887" cy="506666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5820981"/>
            <a:ext cx="11112703" cy="4152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Врачи мира: 3 млн из 13–15 млн. Россия: 15–25% из 770 тысяч.</a:t>
            </a:r>
            <a:r>
              <a:rPr sz="1400" b="0" i="0">
                <a:solidFill>
                  <a:srgbClr val="21295C"/>
                </a:solidFill>
                <a:latin typeface="Arial"/>
              </a:rPr>
              <a:t> У кого в контуре стоит модель — и кто разбирает её отказы?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888090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3459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Полная запись источников в репозитории курса</a:t>
            </a:r>
            <a:r>
              <a:rPr sz="1200" b="0" i="1">
                <a:solidFill>
                  <a:srgbClr val="1C7293"/>
                </a:solidFill>
                <a:latin typeface="Arial"/>
              </a:rPr>
              <a:t> · </a:t>
            </a:r>
            <a:r>
              <a:rPr sz="1200" b="0" i="1" u="sng">
                <a:solidFill>
                  <a:srgbClr val="065A82"/>
                </a:solidFill>
                <a:latin typeface="Arial"/>
                <a:hlinkClick r:id="rId3"/>
              </a:rPr>
              <a:t>агрегаты внедрения</a:t>
            </a:r>
            <a:r>
              <a:rPr sz="1200" b="0" i="1">
                <a:solidFill>
                  <a:srgbClr val="1C7293"/>
                </a:solidFill>
                <a:latin typeface="Arial"/>
              </a:rPr>
              <a:t> · </a:t>
            </a:r>
            <a:r>
              <a:rPr sz="1200" b="0" i="1" u="sng">
                <a:solidFill>
                  <a:srgbClr val="065A82"/>
                </a:solidFill>
                <a:latin typeface="Arial"/>
                <a:hlinkClick r:id="rId4"/>
              </a:rPr>
              <a:t>использование и эффект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