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england.nhs.uk/rightcare/wp-content/uploads/sites/2/2024/11/DID-Annual-Statistical-Release-2023-24.pdf" TargetMode="External"/><Relationship Id="rId4" Type="http://schemas.openxmlformats.org/officeDocument/2006/relationships/hyperlink" Target="https://www.gov.uk/government/news/ai-to-speed-up-cancer-diagnosis-for-millions-of-nhs-patients" TargetMode="External"/><Relationship Id="rId5" Type="http://schemas.openxmlformats.org/officeDocument/2006/relationships/hyperlink" Target="https://doi.org/10.17816/DD641703"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www.fda.gov/medical-devices/software-medical-device-samd/artificial-intelligence-and-machine-learning-aiml-enabled-medical-devices" TargetMode="External"/><Relationship Id="rId4" Type="http://schemas.openxmlformats.org/officeDocument/2006/relationships/hyperlink" Target="https://rg.ru/documents/2014/04/23/minzdrav-dok.html" TargetMode="External"/><Relationship Id="rId5" Type="http://schemas.openxmlformats.org/officeDocument/2006/relationships/hyperlink" Target="https://polimertest.ru/gallery/gallery-Prikaz_ot_30_08_21_N_885n_.pdf" TargetMode="External"/><Relationship Id="rId6" Type="http://schemas.openxmlformats.org/officeDocument/2006/relationships/hyperlink" Target="https://pravo.ppt.ru/kodeks/nk/st-333.32.2" TargetMode="External"/><Relationship Id="rId7" Type="http://schemas.openxmlformats.org/officeDocument/2006/relationships/hyperlink" Target="https://www.fda.gov/media/158308/download" TargetMode="External"/><Relationship Id="rId8" Type="http://schemas.openxmlformats.org/officeDocument/2006/relationships/hyperlink" Target="https://www.etnews.com/20260410000195" TargetMode="External"/><Relationship Id="rId9" Type="http://schemas.openxmlformats.org/officeDocument/2006/relationships/hyperlink" Target="https://www.dataeconomy.co.kr/news/articleView.html?idxno=42899" TargetMode="External"/><Relationship Id="rId10" Type="http://schemas.openxmlformats.org/officeDocument/2006/relationships/hyperlink" Target="https://medinform.jmir.org/2026/1/e85538" TargetMode="External"/><Relationship Id="rId11" Type="http://schemas.openxmlformats.org/officeDocument/2006/relationships/hyperlink" Target="https://webiomed.ru/novosti/sistema-webiomed-stala-pervoi-rossiiskoi-razrabotkoi-v-oblasti-iskusstvennogo-intellekta/"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www.ama-assn.org/press-center/ama-press-releases/ama-ai-usage-among-doctors-doubles-confidence-technology-grows" TargetMode="External"/><Relationship Id="rId4" Type="http://schemas.openxmlformats.org/officeDocument/2006/relationships/hyperlink" Target="https://www.doximity.com/reports/state-of-ai-medicine-report/2026" TargetMode="External"/><Relationship Id="rId5" Type="http://schemas.openxmlformats.org/officeDocument/2006/relationships/hyperlink" Target="https://www.ncbi.nlm.nih.gov/pmc/articles/PMC11458846/" TargetMode="External"/><Relationship Id="rId6" Type="http://schemas.openxmlformats.org/officeDocument/2006/relationships/hyperlink" Target="https://www.auntminnieeurope.com/imaging-informatics/artificial-intelligence/article/15828872/rcr-census-ai-underused-for-admin-tasks-that-cut-workload" TargetMode="External"/><Relationship Id="rId7" Type="http://schemas.openxmlformats.org/officeDocument/2006/relationships/hyperlink" Target="https://www.vshouz.ru/news/analitika/wcs-20706/" TargetMode="External"/><Relationship Id="rId8" Type="http://schemas.openxmlformats.org/officeDocument/2006/relationships/hyperlink" Target="https://www.medtechdive.com/news/aidoc-raises-150m-to-advance-clinical-ai-foundation-model/819042/" TargetMode="External"/><Relationship Id="rId9" Type="http://schemas.openxmlformats.org/officeDocument/2006/relationships/hyperlink" Target="https://www.businesswire.com/news/home/20260728323403/en/A-Decade-of-Increasing-Access-to-Life-Saving-Treatments-Viz.ai-Celebrates-10-Years-2000-Hospitals-and-230-Million-Patients" TargetMode="External"/><Relationship Id="rId10" Type="http://schemas.openxmlformats.org/officeDocument/2006/relationships/hyperlink" Target="https://readmymri.com/blog/how-many-medical-imaging-scans-are-done-per-year" TargetMode="External"/><Relationship Id="rId11" Type="http://schemas.openxmlformats.org/officeDocument/2006/relationships/hyperlink" Target="https://www.kff.org/medicare/medicare-advantage-2025-spotlight-a-first-look-at-plan-offerings/" TargetMode="External"/><Relationship Id="rId12" Type="http://schemas.openxmlformats.org/officeDocument/2006/relationships/hyperlink" Target="https://radiologybusiness.com/topics/artificial-intelligence/radiology-dominates-fda-cleared-ai-reimbursement-lags-far-behind" TargetMode="External"/><Relationship Id="rId13" Type="http://schemas.openxmlformats.org/officeDocument/2006/relationships/hyperlink" Target="https://www.dataeconomy.co.kr/news/articleView.html?idxno=42899"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github.com/tellina-study/AI-usage-lessons/blob/main/library/lectures/lec-07/rework/research/15-rabota-vladeltsa-iskazheniya.md" TargetMode="External"/><Relationship Id="rId4" Type="http://schemas.openxmlformats.org/officeDocument/2006/relationships/hyperlink" Target="https://github.com/tellina-study/AI-usage-lessons/blob/main/library/lectures/lec-07/rework/research/10b-ii-ispolzovanie-i-effekt.md" TargetMode="External"/><Relationship Id="rId5" Type="http://schemas.openxmlformats.org/officeDocument/2006/relationships/hyperlink" Target="https://github.com/tellina-study/AI-usage-lessons/blob/main/library/lectures/lec-07/rework/research/16-doverie-patsienta-k-modeli.md"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01/jamanetworkopen.2024.40969" TargetMode="External"/><Relationship Id="rId4" Type="http://schemas.openxmlformats.org/officeDocument/2006/relationships/hyperlink" Target="https://commons.wikimedia.org/wiki/File:Clinical_Trial_Volunteer_Signs_Informed_Consent_Form_%2845116548901%29.jpg"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pressroom.cancer.org/2025-lung-cancer-data" TargetMode="External"/><Relationship Id="rId4" Type="http://schemas.openxmlformats.org/officeDocument/2006/relationships/hyperlink" Target="https://digital.nhs.uk/data-and-information/publications/statistical/cervical-screening-annual/england-2023-24" TargetMode="External"/><Relationship Id="rId5" Type="http://schemas.openxmlformats.org/officeDocument/2006/relationships/hyperlink" Target="https://www.rivm.nl/sites/default/files/2026-01/monitor-2024-cervical-cancer-screening.pdf" TargetMode="External"/><Relationship Id="rId6" Type="http://schemas.openxmlformats.org/officeDocument/2006/relationships/hyperlink" Target="https://www.rivm.nl/sites/default/files/2026-01/monitor-2024-colorectal-cancer-screening.pdf" TargetMode="External"/><Relationship Id="rId7" Type="http://schemas.openxmlformats.org/officeDocument/2006/relationships/hyperlink" Target="https://www.aihw.gov.au/reports/cancer-screening/ncsp-monitoring-report-2025/contents/summary" TargetMode="External"/><Relationship Id="rId8" Type="http://schemas.openxmlformats.org/officeDocument/2006/relationships/hyperlink" Target="https://www.uspreventiveservicestaskforce.org/uspstf/recommendation/prostate-cancer-screening" TargetMode="External"/><Relationship Id="rId9" Type="http://schemas.openxmlformats.org/officeDocument/2006/relationships/hyperlink" Target="https://cancercentrum.se/download/18.7ef8e06c1966b5e0eb8c615/1745839347877/swedish-opt-guidelines-2025.pdf" TargetMode="External"/><Relationship Id="rId10" Type="http://schemas.openxmlformats.org/officeDocument/2006/relationships/hyperlink" Target="https://www.cybernet.co.jp/documents/pdf/news/press/2024/240216E.pdf" TargetMode="External"/><Relationship Id="rId11" Type="http://schemas.openxmlformats.org/officeDocument/2006/relationships/hyperlink" Target="https://eurohealthobservatory.who.int/monitors/pace/case-studies/pace/pace-croatia-2025/croatia-implements-nationwide-lung-cancer-screening-programme-to-address-high-burden-of-disease" TargetMode="External"/><Relationship Id="rId12" Type="http://schemas.openxmlformats.org/officeDocument/2006/relationships/hyperlink" Target="https://www.thelancet.com/journals/lanwpc/article/PIIS2666-6065(26"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16/S1470-2045%2823%2900298-X" TargetMode="External"/><Relationship Id="rId4" Type="http://schemas.openxmlformats.org/officeDocument/2006/relationships/hyperlink" Target="https://doi.org/10.1016/S0140-6736%2825%2902464-X" TargetMode="External"/><Relationship Id="rId5" Type="http://schemas.openxmlformats.org/officeDocument/2006/relationships/hyperlink" Target="https://doi.org/10.1038/s41591-024-03408-6"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38/s43018-026-01128-z" TargetMode="External"/><Relationship Id="rId4" Type="http://schemas.openxmlformats.org/officeDocument/2006/relationships/hyperlink" Target="https://doi.org/10.1007/s00330-025-12273-x" TargetMode="External"/><Relationship Id="rId5" Type="http://schemas.openxmlformats.org/officeDocument/2006/relationships/hyperlink" Target="https://doi.org/10.1148/radiol.242566" TargetMode="External"/><Relationship Id="rId6" Type="http://schemas.openxmlformats.org/officeDocument/2006/relationships/hyperlink" Target="https://doi.org/10.1038/s41591-024-03408-6"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arxiv.org/pdf/1606.02041"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38/s41467-023-44676-z" TargetMode="External"/><Relationship Id="rId4" Type="http://schemas.openxmlformats.org/officeDocument/2006/relationships/hyperlink" Target="https://www.accessdata.fda.gov/cdrh_docs/pdf18/DEN180001.pdf"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www.accessdata.fda.gov/cdrh_docs/pdf18/DEN180001.pdf"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pmc.ncbi.nlm.nih.gov/articles/PMC12864748/" TargetMode="External"/><Relationship Id="rId4" Type="http://schemas.openxmlformats.org/officeDocument/2006/relationships/hyperlink" Target="https://www.accessdata.fda.gov/cdrh_docs/pdf21/K213037.pd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3390/diagnostics15070822"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3390/diagnostics15070822"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38/s42256-021-00307-0"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arxiv.org/abs/1711.05225"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7816/DD641703" TargetMode="External"/><Relationship Id="rId4" Type="http://schemas.openxmlformats.org/officeDocument/2006/relationships/hyperlink" Target="https://www.england.nhs.uk/rightcare/wp-content/uploads/sites/2/2024/11/DID-Annual-Statistical-Release-2023-24.pdf" TargetMode="External"/><Relationship Id="rId5" Type="http://schemas.openxmlformats.org/officeDocument/2006/relationships/hyperlink" Target="https://www.gov.uk/government/news/ai-to-speed-up-cancer-diagnosis-for-millions-of-nhs-patient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7816/DD641703"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7816/DD641703"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17816/DD641703"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3390/jcm14165700"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1145/3313831.3376718" TargetMode="External"/><Relationship Id="rId4" Type="http://schemas.openxmlformats.org/officeDocument/2006/relationships/hyperlink" Target="https://pmc.ncbi.nlm.nih.gov/articles/PMC10832120/"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1126/sciadv.abq6147" TargetMode="External"/><Relationship Id="rId4" Type="http://schemas.openxmlformats.org/officeDocument/2006/relationships/hyperlink" Target="https://doi.org/10.1111/j.1365-2133.2008.08713.x"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1126/sciadv.abq6147"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126/science.aax2342"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56/NEJMc2029240"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056/AIoa2501001" TargetMode="External"/><Relationship Id="rId4" Type="http://schemas.openxmlformats.org/officeDocument/2006/relationships/hyperlink" Target="https://arxiv.org/abs/2210.14306"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016/j.acra.2024.03.013" TargetMode="External"/><Relationship Id="rId4" Type="http://schemas.openxmlformats.org/officeDocument/2006/relationships/hyperlink" Target="https://doi.org/10.1016/j.jacr.2024.10.021"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038/s41746-020-0232-8" TargetMode="External"/><Relationship Id="rId4" Type="http://schemas.openxmlformats.org/officeDocument/2006/relationships/hyperlink" Target="https://doi.org/10.1136/amiajnl-2011-000089"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16/S0140-6736%2825%2902464-X" TargetMode="External"/><Relationship Id="rId4" Type="http://schemas.openxmlformats.org/officeDocument/2006/relationships/hyperlink" Target="https://doi.org/10.1148/radiol.242566"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 Id="rId3" Type="http://schemas.openxmlformats.org/officeDocument/2006/relationships/hyperlink" Target="https://doi.org/10.1016/j.jelectrocard.2018.08.007"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 Id="rId3" Type="http://schemas.openxmlformats.org/officeDocument/2006/relationships/hyperlink" Target="https://doi.org/10.1016/j.jelectrocard.2018.08.007" TargetMode="External"/><Relationship Id="rId4" Type="http://schemas.openxmlformats.org/officeDocument/2006/relationships/hyperlink" Target="https://doi.org/10.1038/s41591-024-02850-w" TargetMode="External"/><Relationship Id="rId5" Type="http://schemas.openxmlformats.org/officeDocument/2006/relationships/hyperlink" Target="https://arxiv.org/abs/2102.09692" TargetMode="External"/><Relationship Id="rId6" Type="http://schemas.openxmlformats.org/officeDocument/2006/relationships/hyperlink" Target="https://doi.org/10.1037/xge0000033"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 Id="rId3" Type="http://schemas.openxmlformats.org/officeDocument/2006/relationships/hyperlink" Target="https://doi.org/10.1038/s41562-024-02024-1" TargetMode="External"/><Relationship Id="rId4" Type="http://schemas.openxmlformats.org/officeDocument/2006/relationships/hyperlink" Target="https://arxiv.org/abs/2405.06087"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b062" TargetMode="External"/><Relationship Id="rId5" Type="http://schemas.openxmlformats.org/officeDocument/2006/relationships/hyperlink" Target="https://doi.org/10.1093/jamiaopen/ooae133" TargetMode="External"/><Relationship Id="rId6" Type="http://schemas.openxmlformats.org/officeDocument/2006/relationships/hyperlink" Target="https://doi.org/10.1001/jamanetworkopen.2026.0181" TargetMode="External"/><Relationship Id="rId7" Type="http://schemas.openxmlformats.org/officeDocument/2006/relationships/hyperlink" Target="https://doi.org/10.1001/jamanetworkopen.2021.35286"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 Id="rId3" Type="http://schemas.openxmlformats.org/officeDocument/2006/relationships/hyperlink" Target="https://doi.org/10.1001/jamainternmed.2021.2626" TargetMode="External"/><Relationship Id="rId4" Type="http://schemas.openxmlformats.org/officeDocument/2006/relationships/hyperlink" Target="https://doi.org/10.1093/jamiaopen/ooae133" TargetMode="External"/><Relationship Id="rId5" Type="http://schemas.openxmlformats.org/officeDocument/2006/relationships/hyperlink" Target="https://doi.org/10.1001/jamanetworkopen.2021.35286"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www.ijcai.org/proceedings/2025/1098.pdf"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 Id="rId3" Type="http://schemas.openxmlformats.org/officeDocument/2006/relationships/hyperlink" Target="https://www.ijcai.org/proceedings/2025/1098.pdf"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doi.org/10.1001/jamainternmed.2017.1548"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 Id="rId3" Type="http://schemas.openxmlformats.org/officeDocument/2006/relationships/hyperlink" Target="https://doi.org/10.4338/ACI-2016-09-R-0150" TargetMode="External"/><Relationship Id="rId4" Type="http://schemas.openxmlformats.org/officeDocument/2006/relationships/hyperlink" Target="https://doi.org/10.1001/jamanetworkopen.2022.33348"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 Id="rId5" Type="http://schemas.openxmlformats.org/officeDocument/2006/relationships/hyperlink" Target="https://doi.org/10.7326/M18-0139" TargetMode="External"/><Relationship Id="rId6" Type="http://schemas.openxmlformats.org/officeDocument/2006/relationships/hyperlink" Target="https://www.epicresearch.org/articles/two-years-after-coding-changes-sought-to-decrease-documentation-notes-remain-bloated/" TargetMode="External"/><Relationship Id="rId7" Type="http://schemas.openxmlformats.org/officeDocument/2006/relationships/hyperlink" Target="https://www.consultant.ru/document/cons_doc_LAW_429359/"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hyperlink" Target="https://www.medrxiv.org/content/10.1101/2025.07.10.25331333" TargetMode="External"/><Relationship Id="rId4" Type="http://schemas.openxmlformats.org/officeDocument/2006/relationships/hyperlink" Target="https://clinicaltrials.gov/study/NCT06792890"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 Id="rId3" Type="http://schemas.openxmlformats.org/officeDocument/2006/relationships/hyperlink" Target="https://www.medrxiv.org/content/10.1101/2025.07.10.25331333"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 Id="rId3" Type="http://schemas.openxmlformats.org/officeDocument/2006/relationships/hyperlink" Target="https://doi.org/10.1001/jamainternmed.2025.0821"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 Id="rId3" Type="http://schemas.openxmlformats.org/officeDocument/2006/relationships/hyperlink" Target="https://doi.org/10.1001/jamanetworkopen.2026.16556" TargetMode="External"/><Relationship Id="rId4" Type="http://schemas.openxmlformats.org/officeDocument/2006/relationships/hyperlink" Target="https://doi.org/10.1001/jamainternmed.2025.0821" TargetMode="External"/><Relationship Id="rId5" Type="http://schemas.openxmlformats.org/officeDocument/2006/relationships/hyperlink" Target="https://doi.org/10.7759/cureus.109247"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 Id="rId3" Type="http://schemas.openxmlformats.org/officeDocument/2006/relationships/hyperlink" Target="https://doi.org/10.17816/DD321420" TargetMode="External"/><Relationship Id="rId4" Type="http://schemas.openxmlformats.org/officeDocument/2006/relationships/hyperlink" Target="https://www.mos.ru/news/item/118060073/"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 Id="rId3" Type="http://schemas.openxmlformats.org/officeDocument/2006/relationships/hyperlink" Target="https://doi.org/10.17816/DD321420" TargetMode="External"/><Relationship Id="rId4" Type="http://schemas.openxmlformats.org/officeDocument/2006/relationships/hyperlink" Target="https://niioz.ru/moskovskaya-meditsina/zhurnal-moskovskaya-meditsina/luchshie-praktiki/funktsiya-raspoznavaniya-rechi-dlya-opisaniya-issledovaniy-v-endoskopicheskikh-tsentrakh/"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 Id="rId3" Type="http://schemas.openxmlformats.org/officeDocument/2006/relationships/hyperlink" Target="https://www.gov.uk/government/publications/ambient-voice-technology-enabled-products/ambient-voice-technology-enabled-products" TargetMode="External"/><Relationship Id="rId4" Type="http://schemas.openxmlformats.org/officeDocument/2006/relationships/hyperlink" Target="https://sbermed.ai/our-algorithms/top-3"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 Id="rId3" Type="http://schemas.openxmlformats.org/officeDocument/2006/relationships/hyperlink" Target="https://doi.org/10.1016/j.gie.2014.07.058"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 Id="rId3" Type="http://schemas.openxmlformats.org/officeDocument/2006/relationships/hyperlink" Target="https://doi.org/10.1016/j.gie.2014.07.058" TargetMode="Externa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 Id="rId3" Type="http://schemas.openxmlformats.org/officeDocument/2006/relationships/hyperlink" Target="https://doi.org/10.1016/j.cgh.2020.11.019" TargetMode="External"/><Relationship Id="rId4" Type="http://schemas.openxmlformats.org/officeDocument/2006/relationships/hyperlink" Target="https://doi.org/10.1155/2016/7631981" TargetMode="External"/><Relationship Id="rId5" Type="http://schemas.openxmlformats.org/officeDocument/2006/relationships/hyperlink" Target="https://doi.org/10.1007/s00384-023-04585-5"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 Id="rId3" Type="http://schemas.openxmlformats.org/officeDocument/2006/relationships/hyperlink" Target="https://doi.org/10.1016/S2468-1253%2825%2900133-5" TargetMode="External"/><Relationship Id="rId4" Type="http://schemas.openxmlformats.org/officeDocument/2006/relationships/hyperlink" Target="https://doi.org/10.1016/S2468-1253%2825%2900294-8" TargetMode="External"/><Relationship Id="rId5" Type="http://schemas.openxmlformats.org/officeDocument/2006/relationships/hyperlink" Target="https://doi.org/10.1073/pnas.2422633122" TargetMode="Externa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 Id="rId3" Type="http://schemas.openxmlformats.org/officeDocument/2006/relationships/hyperlink" Target="https://doi.org/10.33878/2073-7556-2025-24-3-12-21" TargetMode="Externa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 Id="rId3" Type="http://schemas.openxmlformats.org/officeDocument/2006/relationships/hyperlink" Target="https://doi.org/10.1016/S2468-1253%2825%2900133-5" TargetMode="Externa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 Id="rId3" Type="http://schemas.openxmlformats.org/officeDocument/2006/relationships/hyperlink" Target="https://www.medrxiv.org/content/10.1101/2025.07.10.25331333" TargetMode="External"/><Relationship Id="rId4" Type="http://schemas.openxmlformats.org/officeDocument/2006/relationships/hyperlink" Target="https://doi.org/10.1038/s43018-026-01128-z" TargetMode="External"/><Relationship Id="rId5" Type="http://schemas.openxmlformats.org/officeDocument/2006/relationships/hyperlink" Target="https://doi.org/10.1007/s00330-025-12273-x" TargetMode="External"/><Relationship Id="rId6" Type="http://schemas.openxmlformats.org/officeDocument/2006/relationships/hyperlink" Target="https://doi.org/10.1001/jamainternmed.2021.2626" TargetMode="External"/><Relationship Id="rId7" Type="http://schemas.openxmlformats.org/officeDocument/2006/relationships/hyperlink" Target="https://doi.org/10.1148/radiol.252590" TargetMode="External"/><Relationship Id="rId8" Type="http://schemas.openxmlformats.org/officeDocument/2006/relationships/hyperlink" Target="https://doi.org/10.1148/radiol.243688" TargetMode="External"/><Relationship Id="rId9" Type="http://schemas.openxmlformats.org/officeDocument/2006/relationships/hyperlink" Target="https://doi.org/10.1038/s41467-023-44676-z" TargetMode="External"/><Relationship Id="rId10" Type="http://schemas.openxmlformats.org/officeDocument/2006/relationships/hyperlink" Target="https://doi.org/10.1016/S1470-2045%2823%2900298-X" TargetMode="External"/><Relationship Id="rId11" Type="http://schemas.openxmlformats.org/officeDocument/2006/relationships/hyperlink" Target="https://doi.org/10.1126/sciadv.abq6147" TargetMode="External"/><Relationship Id="rId12" Type="http://schemas.openxmlformats.org/officeDocument/2006/relationships/hyperlink" Target="https://doi.org/10.1126/science.aax2342" TargetMode="External"/><Relationship Id="rId13" Type="http://schemas.openxmlformats.org/officeDocument/2006/relationships/hyperlink" Target="https://doi.org/10.1016/S2468-1253%2825%2900133-5" TargetMode="External"/><Relationship Id="rId14" Type="http://schemas.openxmlformats.org/officeDocument/2006/relationships/hyperlink" Target="https://pubmed.ncbi.nlm.nih.gov/37314698/" TargetMode="External"/><Relationship Id="rId15" Type="http://schemas.openxmlformats.org/officeDocument/2006/relationships/hyperlink" Target="https://doi.org/10.33878/2073-7556-2025-24-3-12-21" TargetMode="Externa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 Id="rId3" Type="http://schemas.openxmlformats.org/officeDocument/2006/relationships/hyperlink" Target="https://doi.org/10.1016/S0140-6736%2825%2902464-X" TargetMode="Externa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 Id="rId3" Type="http://schemas.openxmlformats.org/officeDocument/2006/relationships/hyperlink" Target="https://doi.org/10.2967/jnumed.126.272292" TargetMode="External"/><Relationship Id="rId4" Type="http://schemas.openxmlformats.org/officeDocument/2006/relationships/hyperlink" Target="https://eur-lex.europa.eu/eli/reg/2024/1689/oj" TargetMode="External"/><Relationship Id="rId5" Type="http://schemas.openxmlformats.org/officeDocument/2006/relationships/hyperlink" Target="https://doi.org/10.1001/jamahealthforum.2025.3172" TargetMode="External"/><Relationship Id="rId6" Type="http://schemas.openxmlformats.org/officeDocument/2006/relationships/hyperlink" Target="https://doi.org/10.1001/jamanetworkopen.2025.42338" TargetMode="Externa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 Id="rId3" Type="http://schemas.openxmlformats.org/officeDocument/2006/relationships/hyperlink" Target="https://doi.org/10.1001/jamahealthforum.2025.3172" TargetMode="Externa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 Id="rId3" Type="http://schemas.openxmlformats.org/officeDocument/2006/relationships/hyperlink" Target="https://commons.wikimedia.org/wiki/File:Radiologist_interpreting_MRI.jpg" TargetMode="External"/><Relationship Id="rId4" Type="http://schemas.openxmlformats.org/officeDocument/2006/relationships/hyperlink" Target="https://creativecommons.org/licenses/by/4.0"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Чем эта лекция отличается от прошлой по предмету: там накопленное считалось в изделиях, здесь — в людях. Партию бракованных деталей отзывают; принятое клиническое решение отозвать нельзя, даже когда ошибку нашли сразу после. Это меняет саму постановку вопроса о цене ошибки, и курс идёт в медицину вторым не случайно — чтобы цена отказа стала видна по контрасту.</a:t>
            </a:r>
          </a:p>
          <a:p>
            <a:r>
              <a:t/>
            </a:r>
          </a:p>
          <a:p>
            <a:r>
              <a:t>Что значит «процедура удерживает цену ошибки»: двойное чтение снимка, второе мнение коллеги, консилиум при спорном случае, информированное согласие перед вмешательством — ни одно из этих устройств не придумано ради искусственного интеллекта. Все они существовали задолго до него и решали одну задачу: чтобы ошибка одного человека не стала окончательным решением без проверки. Модель входит в уже сложившуюся процедуру; своей она не строит. Поэтому и вопрос лекции — о самой процедуре и о человеке внутри неё: что с ними происходит, когда рядом появляется участник, который не устаёт, не сомневается и не просит паузы.</a:t>
            </a:r>
          </a:p>
          <a:p>
            <a:r>
              <a:t/>
            </a:r>
          </a:p>
          <a:p>
            <a:r>
              <a:t>Почему именно медицина идёт после машиностроения: предмет тот же — та же пара вопросов «что стоит пропуск» и «что стоит ложная тревога», то же устройство разбора через цену обеих ошибок. Граница допустимого риска при этом проведена в другом месте, и увидеть её можно по контрасту с уже разобранной отраслью; абстрактное рассуждение её не показывает.</a:t>
            </a:r>
          </a:p>
          <a:p>
            <a:r>
              <a:t/>
            </a:r>
          </a:p>
          <a:p>
            <a:r>
              <a:t>Что стоит унести, даже если к концу лекции забудутся все числа: спрашивать надо предметно: что именно в каждом конкретном случае делает человек после того, как модель уже посмотрела. Ответом на этот вопрос лекция и занята, случай за случаем. Оценок инструментам она не выставляет — предъявляет то, что инструмент сделал с работой вокруг себя.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первое число вечера, и стоит оно здесь не чтобы впечатлить, а чтобы снять вопрос «а это вообще уже происходит». Происходит. В Англии за год, закончившийся в марте 2024 года, выполнено 8 194 405 рентгенограмм грудной клетки — по всем направлениям, не только по онкологическим подозрениям. Обученная модель прочитала из этого потока около 2,8 миллиона снимков. Иначе говоря, примерно каждый третий снимок грудной клетки в стране открывает сначала не человек.</a:t>
            </a:r>
          </a:p>
          <a:p>
            <a:r>
              <a:t/>
            </a:r>
          </a:p>
          <a:p>
            <a:r>
              <a:t>Числитель и знаменатель приходят из разных рук, и это стоит знать прежде, чем произносить долю. 8,19 миллиона — официальная статистика службы здравоохранения, годовой отчёт по диагностической визуализации, таблица с опубликованной методикой счёта. 2,8 миллиона называет разработчик инструмента. Государство своего числителя не даёт вовсе: оно говорит о другом — инструмент работает примерно в половине трастов Англии, и четыре миллиона человек получили быстрее либо диагноз, либо снятие подозрения.</a:t>
            </a:r>
          </a:p>
          <a:p>
            <a:r>
              <a:t/>
            </a:r>
          </a:p>
          <a:p>
            <a:r>
              <a:t>И у самого знаменателя есть вторая официальная версия. Правительственное сообщение о том же самом развёртывании называет «свыше семи миллионов рентгенограмм грудной клетки в год». Расхождение между двумя государственными числами — больше миллиона снимков, и доля от этого ходит между тридцатью четырьмя и сорока из ста. На кадре стоит та пара, у которой знаменатель опубликован таблицей; вторую я называю вслух, потому что зал имеет право знать, что официальных знаменателей два. Подробнее эти две базы разобраны в разговоре об инструментальной диагностике — там же про то, почему доля трастов и доля снимков совпадать не обязаны: траст может быть подключён и присылать малую часть своего потока.</a:t>
            </a:r>
          </a:p>
          <a:p>
            <a:r>
              <a:t/>
            </a:r>
          </a:p>
          <a:p>
            <a:r>
              <a:t>Дальше весь вечер идёт об одном: что в этой картине делает человек. Снимок прочитан, и прочитан не им. Вопрос не в том, точна ли модель — на него в каждом разборе будет своё число со своей базой. Вопрос в том, что происходит с процедурой, которая до сих пор удерживала цену ошибки: с двойным чтением снимка двумя независимыми, со вторым мнением коллеги, с арбитражем на расхождении, с подписью под заключением, с разбором случая после исхода. Ни одно из этих устройств не придумано ради машинного чтения и не придумано против него; все они существуют потому, что один человек ошибается, и процедура знает это заранее.</a:t>
            </a:r>
          </a:p>
          <a:p>
            <a:r>
              <a:t/>
            </a:r>
          </a:p>
          <a:p>
            <a:r>
              <a:t>Одно предупреждение, которое лучше произнести здесь, чем оправдываться к концу. Большое число само по себе не говорит ни о пользе, ни о вреде. Два с лишним миллиона прочитанных снимков — это не «модель спасла два миллиона человек» и не «два миллиона человек остались без врача». Это объём, и только объём. Что именно изменилось у врача, у пациента и у отделения, объём не сообщает — он сообщает, что отвечать на этот вопрос пора.</a:t>
            </a:r>
          </a:p>
          <a:p>
            <a:r>
              <a:t/>
            </a:r>
          </a:p>
          <a:p>
            <a:r>
              <a:t>Россия в той же картине, и её числа стоит назвать рядом. Московские сервисы лучевой диагностики накопленным итогом разобрали больше восемнадцати миллионов исследований, около 1,4 миллиона в месяц, и примерно восемьдесят процентов из них приходят из регионов. Доли от всероссийского потока здесь нет ни у кого: числа снимков в год по стране не публикует никто, а оценка «около четверти» ходит по сообщениям должностных лиц без знаменателя. Оценка от несуществующего знаменателя не оценка, поэтому первой на кадре стоит Англия: у неё в наличии обе половины дроби.</a:t>
            </a:r>
          </a:p>
          <a:p>
            <a:r>
              <a:t/>
            </a:r>
          </a:p>
          <a:p>
            <a:r>
              <a:t>Если зал спросит про Соединённые Штаты — числа этого вида там не публикуют совсем. Публикуют две другие величины: сколько изделий с обученной моделью допущено за всю историю и какая доля врачей говорит, что моделью пользуется. Обе к доле прочитанного потока отношения не имеют, и складывать их с английской долей нельзя.</a:t>
            </a:r>
          </a:p>
          <a:p>
            <a:r>
              <a:t/>
            </a:r>
          </a:p>
          <a:p>
            <a:r>
              <a:t>Что унести с этого кадра: отрасль уже живёт так. Вопрос вечера — не «придёт ли модель», а что теперь делает человек и кто это измерял.</a:t>
            </a:r>
          </a:p>
          <a:p>
            <a:r>
              <a:t/>
            </a:r>
          </a:p>
          <a:p>
            <a:r>
              <a:t>**Источники.** </a:t>
            </a:r>
            <a:r>
              <a:rPr u="sng">
                <a:solidFill>
                  <a:srgbClr val="065A82"/>
                </a:solidFill>
                <a:hlinkClick r:id="rId3"/>
              </a:rPr>
              <a:t>NHS England, Diagnostic Imaging Dataset Annual Statistical Release 2023/24, таблица 6</a:t>
            </a:r>
            <a:r>
              <a:t> · </a:t>
            </a:r>
            <a:r>
              <a:rPr u="sng">
                <a:solidFill>
                  <a:srgbClr val="065A82"/>
                </a:solidFill>
                <a:hlinkClick r:id="rId4"/>
              </a:rPr>
              <a:t>сообщение правительства Великобритании, 10.06.2026</a:t>
            </a:r>
            <a:r>
              <a:t> · </a:t>
            </a:r>
            <a:r>
              <a:rPr u="sng">
                <a:solidFill>
                  <a:srgbClr val="065A82"/>
                </a:solidFill>
                <a:hlinkClick r:id="rId5"/>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смотреть, что обученная модель делает в медицине, стоит увидеть предмет целиком: какие стадии у цикла оказания помощи существуют, что на каждой делают и какое решение о человеке каждая принимает. Названия здесь взяты те, которыми стадии называются в отрасли. Это сделано нарочно: инженер, пришедший в медицинский проект, услышит в нём именно эти слова, и разговор начнётся с них.</a:t>
            </a:r>
          </a:p>
          <a:p>
            <a:r>
              <a:t/>
            </a:r>
          </a:p>
          <a:p>
            <a:r>
              <a:t>Первая полоса — пока решают. **Первичный скрининг и отбор на обследование** решает один вопрос: звать ли этого человека смотреть вообще. Скрининг — это обследование людей без жалоб, по формальному признаку, чаще всего по возрасту и интервалу с прошлого обследования. **Инструментальная и лабораторная диагностика** отвечает на другой вопрос: что про человека измерено и с какой точностью. **Постановка диагноза** собирает жалобы, осмотр и результаты исследований вместе и отвечает, какая болезнь объясняет наблюдаемое и какую проверку назначить следующей.</a:t>
            </a:r>
          </a:p>
          <a:p>
            <a:r>
              <a:t/>
            </a:r>
          </a:p>
          <a:p>
            <a:r>
              <a:t>Вторая полоса — решили и лечат. **Назначение терапии и подбор дозы** отвечает, чем лечить, сколько и кого можно не лечить; доза уточняется по измерениям, и подбор этот повторяют много раз, пока показатель не уляжется в целевые границы. **Хирургическое вмешательство и интраоперационный мониторинг** решает, оперировать ли, каким доступом и что делать на столе, когда картина оказалась не той, которую ожидали.</a:t>
            </a:r>
          </a:p>
          <a:p>
            <a:r>
              <a:t/>
            </a:r>
          </a:p>
          <a:p>
            <a:r>
              <a:t>Третья полоса — после решения. **Динамическое наблюдение и клинические тревоги** отвечает на повторяющийся вопрос: вмешиваться сейчас или на следующем обходе. Читается здесь направление дорожки измерений: пульс сам по себе говорит мало, пульс, растущий при падающем давлении, говорит много. **Ведение медицинской документации** отвечает на вопрос о следующем читателе: что должен узнать тот, кого при приёме не было и кто будет принимать решение по записи.</a:t>
            </a:r>
          </a:p>
          <a:p>
            <a:r>
              <a:t/>
            </a:r>
          </a:p>
          <a:p>
            <a:r>
              <a:t>Две стадии в этот ряд не ложатся, и выстраивать их в ряд было бы подменой. **Допуск, надзор и ответственность** — это процедура, которая стоит вокруг всех стадий сразу: подпись под заключением как юридический акт, информированное согласие, разбор случая после исхода, допуск изделия к применению и надзор за ним после допуска. Решение, которое принимает эта стадия, звучит так: кто отвечает за сделанное и что меняется в порядке работы, когда разбор нашёл расхождение. Отдельным шагом цикла её не поставить. **Профессиональная квалификация: поддержание и износ** — это замер по самому человеку: держится ли он в форме. Профессия не спрашивает об этом врача, она считает за него — объёмом практики, аккредитацией и повторной сертификацией. Шаг работы такого замера не показывает вовсе.</a:t>
            </a:r>
          </a:p>
          <a:p>
            <a:r>
              <a:t/>
            </a:r>
          </a:p>
          <a:p>
            <a:r>
              <a:t>И ещё одна стадия стоит до начала всего цикла. **Разработка лекарственных средств** отвечает на вопрос, откуда вообще берётся то, что на стадии назначения назначают: мишень в организме, молекула, которая на неё действует, доклиника на культурах клеток и животных, затем фазы испытаний на людях.</a:t>
            </a:r>
          </a:p>
          <a:p>
            <a:r>
              <a:t/>
            </a:r>
          </a:p>
          <a:p>
            <a:r>
              <a:t>Теперь о порядке, потому что он не декоративный и не удобство изложения. Порядок первых стадий держат три опоры, и каждую можно проверить.</a:t>
            </a:r>
          </a:p>
          <a:p>
            <a:r>
              <a:t/>
            </a:r>
          </a:p>
          <a:p>
            <a:r>
              <a:t>**Кого позвали.** Смотреть можно только того, кто попал в поле зрения. Человека, которого не позвали, не видит ни одна система, какой бы точной она ни была. Поэтому решение о том, кого звать, принимается раньше всех остальных и определяет, кто вообще станет предметом последующих решений.</a:t>
            </a:r>
          </a:p>
          <a:p>
            <a:r>
              <a:t/>
            </a:r>
          </a:p>
          <a:p>
            <a:r>
              <a:t>**На какой группе считали.** Группу, на которой посчитаны свойства измерения, собирает стадия отбора. Доли, которыми описывают любую систему «болен или нет», считаются на разных группах людей: одна — на тех, у кого болезнь есть, другая — на тех, у кого её нет. Доля верных тревог среди всех поднятых тревог зависит от того, насколько болезнь распространена в обследованной группе, и свойством прибора эта доля не является вовсе. Одна и та же система в поголовном обследовании и в профильном отделении положит врачу на стол совершенно разную картину.</a:t>
            </a:r>
          </a:p>
          <a:p>
            <a:r>
              <a:t/>
            </a:r>
          </a:p>
          <a:p>
            <a:r>
              <a:t>**Порог «болен».** Точку, за которой система объявляет «болен», выбирает протокол под цену исхода — под ту цену, которая назначена до всякой точности: что хуже, пропустить находку или позвать лишнего. Выбор этот сделан раньше разработчика, и разработчик его не отменяет.</a:t>
            </a:r>
          </a:p>
          <a:p>
            <a:r>
              <a:t/>
            </a:r>
          </a:p>
          <a:p>
            <a:r>
              <a:t>Дальше порядок держится тем же способом. Решать можно только по измеренному. Наблюдать имеет смысл только после того, как решение принято. Читать запись можно только после того, как её сделали. Перестановки, при которой это работает, нет ни одной.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Допуск изделия — вопрос, который инженер в медицинском проекте слышит раньше вопроса о точности модели. Пока изделие не допущено, применить его к человеку нельзя при любой точности; после допуска точность до следующего изменения изделия никто не пересматривает.</a:t>
            </a:r>
          </a:p>
          <a:p>
            <a:r>
              <a:t/>
            </a:r>
          </a:p>
          <a:p>
            <a:r>
              <a:t>Начнём с американской стороны, потому что через неё прошло больше изделий с машинным обучением, чем через любую другую. Изделия разделены там на три класса по риску для человека; класс присвоен типу изделия и он же определяет обязательный порядок допуска — путь выбран задолго до того, как разработчик написал первую строку. Короткой дорогой производитель не доказывает безопасность и эффективность с нуля: он доказывает, что его изделие существенно похоже на уже легально продающееся. Сравнивают назначение и технические характеристики, иногда стендовые данные, изредка минимальные клинические; проспективных испытаний этот путь почти никогда не требует, и долгосрочного исхода у человека тоже. Полный цикл требует собственных клинических данных и полного досье производства, у значимых заявок — ещё и публичного заседания внешней панели.</a:t>
            </a:r>
          </a:p>
          <a:p>
            <a:r>
              <a:t/>
            </a:r>
          </a:p>
          <a:p>
            <a:r>
              <a:t>Российский порядок устроен иначе на обоих концах. Классов четыре, и назначаются они по длительности применения и инвазивности, а не по назначению: два изделия одного назначения могут получить разные классы. Токсикологические исследования обязательны при всех классах, включая первый. Клинические испытания бывают в двух формах, и это место стоит прочесть по тексту приказа: испытания с участием человека нужны, когда изделие нового вида, когда применены новые сложные или уникальные методы и когда анализ клинических данных эффективность и безопасность не подтвердил. Дальше дословно: «В остальных случаях клинические испытания медицинских изделий проводятся в форме анализа и оценки клинических данных». Ворота здесь — новизна изделия или метода; класса риска в самом пункте нет вовсе, и наличия зарегистрированного аналога тоже. И последняя ступень, которой у короткого американского пути нет совсем: государственная экспертиза качества, эффективности и безопасности, по заданию надзорной службы, а не по заявлению производителя. Основание регистрации сформулировано через союз «и»: результаты испытаний и экспертиза.</a:t>
            </a:r>
          </a:p>
          <a:p>
            <a:r>
              <a:t/>
            </a:r>
          </a:p>
          <a:p>
            <a:r>
              <a:t>Цена вопроса в деньгах. За рассмотрение по короткому пути в США заявитель платит 26 067 долларов, за полный цикл — 579 272. Российская пошлина за экспертизу привязана к классу: от 72 до 184 тысяч рублей плюс 11 тысяч за выдачу удостоверения. Сумма на кадре, от 0,6 до 3 миллионов, — не пошлина, а полная стоимость регистрации «под ключ»: оценка регистраторов-посредников, в которую пошлина входит лишь частью, остальное — лаборатория, токсикологи и подготовка досье.</a:t>
            </a:r>
          </a:p>
          <a:p>
            <a:r>
              <a:t/>
            </a:r>
          </a:p>
          <a:p>
            <a:r>
              <a:t>Теперь счёт изделий, и числа сняты с таблицы регулятора прямым чтением страницы, а не из отраслевой сводки: сводки по этому предмету расходятся между собой на сотни изделий. В списке на 17 октября 2026 года — 1 614 изделий с обученной моделью, и все доли дальше считаны от этого числа. Короткой дорогой прошли 1 553 — 96,2%. Новый класс без предшественника получили 40. Полный цикл с собственными клиническими испытаниями прошли 21 изделие — 1,3%, при том что по всем медизделиям за историю системы доля полного цикла около 1,87%: у изделий с моделью она даже ниже средней. Практический смысл этой дроби такой: типовая модель попадает в клинику, доказав похожесть на уже допущенное изделие, а исход у пациентов при этом никто не измерял. Структура по специальностям объясняет, что такое «ИИ в медицине» на самом деле: радиология — 1 230 изделий, 76,2%; кардиология — 154; неврология — 73; у остальных от 9 до 30 каждая. Психиатрии в списке нет ни одного изделия за всю историю.</a:t>
            </a:r>
          </a:p>
          <a:p>
            <a:r>
              <a:t/>
            </a:r>
          </a:p>
          <a:p>
            <a:r>
              <a:t>И про динамику, где легко перепутать два счёта. Весь массив растёт быстро: 6 изделий в 2014 году, 335 в 2025-м, то есть каждое десятое новое медизделие в США в 2025 году — с обученной моделью, против двух на тысячу в 2015-м. Но если убрать короткий путь и оставить только изделия, допущенные без ссылки на предшественник, линия другая: 7 накопленным счётом к 2010 году и 56 к концу 2025-го. Плюс 49 за шестнадцать лет, в среднем 3,1 в год, и по годам эта линия не растёт: 7 · 2 · 7 · 10 · 6. Рядом противофакт, без которого рост массива читается неверно: весь поток новых решений о допуске медизделий в США за десять лет вырос в 1,07 раза, то есть остался на месте — около 3 063 решений в 2015 году и 3 265 в 2025-м. Изделия с моделью не замещали собой что-то другое, они прибавлялись сверху.</a:t>
            </a:r>
          </a:p>
          <a:p>
            <a:r>
              <a:t/>
            </a:r>
          </a:p>
          <a:p>
            <a:r>
              <a:t>Если спросят про сравнение стран — оно существует, и я назову его голосом, потому что честно поставить его на кадр нельзя: каждая страна считает «по-настоящему новое изделие» по собственному признаку. Корея — 88 из 549 по добровольному инновационному статусу, 1,70 на миллион жителей; по другому корейскому признаку, прошло ли изделие возмещение по страховке, остаётся 49 из 549 и показатель падает до 0,95. Китай — 118 из 154, 0,08 на миллион. Япония — около 14 из 51, и это пересчёт общей доли, а не прямой счёт. США — 61 из 1 614, то есть 0,18. Россия: разбивки «сколько прошли испытания с участием человека» надзорная служба не публикует, поэтому в числителе стоят все 57 зарегистрированных изделий и выходит 0,39 — строка считана по всему реестру, а не по новизне, и сравнима с остальными только условно. Достоверно известно про первые два российских изделия 2020 года: аналогов в реестре у них не было, и оба прошли полноценные клинические испытания с участием пациентов.</a:t>
            </a:r>
          </a:p>
          <a:p>
            <a:r>
              <a:t/>
            </a:r>
          </a:p>
          <a:p>
            <a:r>
              <a:t>**Источники.** </a:t>
            </a:r>
            <a:r>
              <a:rPr u="sng">
                <a:solidFill>
                  <a:srgbClr val="065A82"/>
                </a:solidFill>
                <a:hlinkClick r:id="rId3"/>
              </a:rPr>
              <a:t>FDA, AI/ML-Enabled Medical Devices</a:t>
            </a:r>
            <a:r>
              <a:t> · </a:t>
            </a:r>
            <a:r>
              <a:rPr u="sng">
                <a:solidFill>
                  <a:srgbClr val="065A82"/>
                </a:solidFill>
                <a:hlinkClick r:id="rId4"/>
              </a:rPr>
              <a:t>приказ Минздрава № 2н, публикация «Российской газеты»</a:t>
            </a:r>
            <a:r>
              <a:t> · </a:t>
            </a:r>
            <a:r>
              <a:rPr u="sng">
                <a:solidFill>
                  <a:srgbClr val="065A82"/>
                </a:solidFill>
                <a:hlinkClick r:id="rId5"/>
              </a:rPr>
              <a:t>приказ № 885н, документ Минюста</a:t>
            </a:r>
            <a:r>
              <a:t> · </a:t>
            </a:r>
            <a:r>
              <a:rPr u="sng">
                <a:solidFill>
                  <a:srgbClr val="065A82"/>
                </a:solidFill>
                <a:hlinkClick r:id="rId6"/>
              </a:rPr>
              <a:t>НК РФ ст. 333.32.2</a:t>
            </a:r>
            <a:r>
              <a:t> · </a:t>
            </a:r>
            <a:r>
              <a:rPr u="sng">
                <a:solidFill>
                  <a:srgbClr val="065A82"/>
                </a:solidFill>
                <a:hlinkClick r:id="rId7"/>
              </a:rPr>
              <a:t>FDA, MDUFA Performance Goals</a:t>
            </a:r>
            <a:r>
              <a:t> · </a:t>
            </a:r>
            <a:r>
              <a:rPr u="sng">
                <a:solidFill>
                  <a:srgbClr val="065A82"/>
                </a:solidFill>
                <a:hlinkClick r:id="rId8"/>
              </a:rPr>
              <a:t>Корея, счёт 549</a:t>
            </a:r>
            <a:r>
              <a:t> · </a:t>
            </a:r>
            <a:r>
              <a:rPr u="sng">
                <a:solidFill>
                  <a:srgbClr val="065A82"/>
                </a:solidFill>
                <a:hlinkClick r:id="rId9"/>
              </a:rPr>
              <a:t>Корея, возмещение 49 из 549</a:t>
            </a:r>
            <a:r>
              <a:t> · </a:t>
            </a:r>
            <a:r>
              <a:rPr u="sng">
                <a:solidFill>
                  <a:srgbClr val="065A82"/>
                </a:solidFill>
                <a:hlinkClick r:id="rId10"/>
              </a:rPr>
              <a:t>Китай, пути клинической оценки</a:t>
            </a:r>
            <a:r>
              <a:t> · </a:t>
            </a:r>
            <a:r>
              <a:rPr u="sng">
                <a:solidFill>
                  <a:srgbClr val="065A82"/>
                </a:solidFill>
                <a:hlinkClick r:id="rId11"/>
              </a:rPr>
              <a:t>Webiomed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этого места речь шла о том, сколько изделий допущено. Допуск — ещё не применение, и счётчики тут разные: допущено, установлено, используется, обработано случаев за год. Каждое число дальше подписано, какой это счётчик, потому что их постоянно складывают между собой, и получается величина, которой никто не измерял.</a:t>
            </a:r>
          </a:p>
          <a:p>
            <a:r>
              <a:t/>
            </a:r>
          </a:p>
          <a:p>
            <a:r>
              <a:t>Сколько врачей пользуется. По США есть ряд, снятый одной методикой: 38 процентов в опросе 2023 года, 66 процентов в опросе ноября 2024-го. Знаменатель — практикующие врачи США, и он сам не сходится к одному числу: перепись лицензий даёт 1 082 тысячи, ассоциация медицинских колледжей — 1 032 тысячи, независимая оценка 2025 года — около 1,11 миллиона. Берём 1,1 миллиона как рабочее среднее; расхождение в восемь процентов порядок величины не меняет. В абсолюте это рост примерно с 410 до 720 тысяч врачей за год. Рядом стоит второй, более строгий счёт — опрос профессиональной сети Doximity, зима 2025–2026: 63 процента по той же базе. Разрыв между счётами не ошибка: один считает любое профессиональное обращение к ИИ, включая разовое, другой — регулярную работу в клиническом процессе. Оба числа честные.</a:t>
            </a:r>
          </a:p>
          <a:p>
            <a:r>
              <a:t/>
            </a:r>
          </a:p>
          <a:p>
            <a:r>
              <a:t>По Европе прямого общеврачебного опроса нет, есть два косвенных замера. Европейское общество радиологии, опрос 2024 года: 47,9 процента респондентов применяют ИИ в практике, и здесь важен знаменатель — ответили 572 человека из 28 тысяч приглашённых, то есть это самоотбор, а не случайная выборка. Британская перепись рентгенологических отделений 2025 года: ИИ хотя бы в одном применении есть в 75 процентах отделений, но счётчик здесь отделение, а не врач. Там же любопытный разворот: снижение нагрузки от ИИ-черновика отчёта отмечают 24 процента отделений, рост нагрузки — 37 процентов, и ещё 56 процентов изменений не видят.</a:t>
            </a:r>
          </a:p>
          <a:p>
            <a:r>
              <a:t/>
            </a:r>
          </a:p>
          <a:p>
            <a:r>
              <a:t>По России единого ежегодного опроса одной методикой нет вовсе, и это свойство самих данных. Есть разовые: больше половины врачей хотя бы раз работали с нейросетями, регулярно применяют 15–25 процентов. Знаменатель — 771,7 тысячи врачей в 2025 году, причём ряд по годам не монотонный; Минздрав отдельно называет 614 тысяч врачей в государственных организациях, то есть более узкую корзину. На диапазоне доли это 115–190 тысяч человек, и это оценка по доле, не прямой замер абсолюта.</a:t>
            </a:r>
          </a:p>
          <a:p>
            <a:r>
              <a:t/>
            </a:r>
          </a:p>
          <a:p>
            <a:r>
              <a:t>Сколько случаев проходит через модель. Эти развёртывания — разные категории работы, и это важно сказать до чисел. Aidoc — 60 миллионов случаев диагностического триажа в год, Qure.ai — 7 миллионов обследований на туберкулёз за один финансовый год, Annalise в британской системе — 2,8 миллиона рентгенограмм в год на сорока с лишним трастах, московская платформа — 16 миллионов исследований по отчёту 2026 года (более ранний отчёт того же года — 9–10 миллионов, методика не раскрыта ни там, ни там). Эти четыре — одна категория, диагностическая визуализация, и только их можно честно сложить: 60 плюс 7 плюс 2,8 плюс 16 — 85,8, то есть 79–86 миллионов исследований в год с учётом вилки московской платформы. Дальше — две категории другого типа работы, и в эту сумму они не входят: цифровой помощник врача от СберМедИИ — 30 миллионов сводок о состоянии, это документация, не диагноз; решения об оплате в Medicare Advantage — 53 миллиона, это административное решение. Сложить все шесть в одно число значило бы то, от чего предупреждает глава скрининга этой лекции: одна и та же фраза «проходит через модель» здесь означает разные процедуры без общей единицы. Viz.ai в диагностическую сумму не включён по другой причине: он стоит в тех же американских больницах, что и Aidoc, и сложение задвоило бы часть одних и тех же снимков. Собственное число Viz.ai назову отдельно: две тысячи больниц и 230 миллионов человек в зоне покрытия — это охват территории обслуживания, не случаи за год.</a:t>
            </a:r>
          </a:p>
          <a:p>
            <a:r>
              <a:t/>
            </a:r>
          </a:p>
          <a:p>
            <a:r>
              <a:t>Доля от общего потока. Мировой объём диагностической визуализации — 3,6–4,2 миллиарда процедур в год: рентген больше 2,5 миллиарда, ультразвук больше 500 миллионов, компьютерная томография около 375 миллионов, магнитно-резонансная — 100–150 миллионов. Против него диагностическая подсумма — 79–86 миллионов — это 1,9–2,4 процента мирового потока. Это пол счёта: в нём нет Китая, где больше 1 200 больниц высшего уровня применяют ИИ-диагностику, но объём потока через них не раскрыт; нет большей части автоматической записи приёмов — в этой категории около шестидесяти компаний и ни одного отраслевого итога; нет Кореи и Японии.</a:t>
            </a:r>
          </a:p>
          <a:p>
            <a:r>
              <a:t/>
            </a:r>
          </a:p>
          <a:p>
            <a:r>
              <a:t>И категория, которая затрагивает больше людей разом, чем любая диагностическая платформа: административная. 53 миллиона решений о предварительной авторизации оплаты за 2024 год при 34,1 миллиона застрахованных в Medicare Advantage — это 1,55 решения на человека в год. Не все они прошли алгоритмическую проверку в равной мере, но порядок величины понятен: ИИ в медицине не сводится к диагнозу.</a:t>
            </a:r>
          </a:p>
          <a:p>
            <a:r>
              <a:t/>
            </a:r>
          </a:p>
          <a:p>
            <a:r>
              <a:t>Последние два числа — про разрыв между допуском и оплатой, и он везде измеряется порядком величины, а не процентами. США: 1 614 одобренных алгоритмов, код оплаты хоть какой-то есть у 26, постоянный с гарантированной оплатой — у трёх. Корея: 549 допущенных, возмещение получили 49, то есть 500 изделий допущены и остались вне страховки. Германия: постоянно или предварительно оплачиваются 56–59 цифровых приложений, но знаменателя поданных заявок в открытых источниках нет. Франция: три устройства телемониторинга получили возмещение, и все мобильные приложения отклонены — для целого класса это ноль. Германскую и французскую строки я называю без доли намеренно: знаменателя у них не опубликовано, и доля от неизвестного знаменателя ничего не измеряет.</a:t>
            </a:r>
          </a:p>
          <a:p>
            <a:r>
              <a:t/>
            </a:r>
          </a:p>
          <a:p>
            <a:r>
              <a:t>**Источники.** </a:t>
            </a:r>
            <a:r>
              <a:rPr u="sng">
                <a:solidFill>
                  <a:srgbClr val="065A82"/>
                </a:solidFill>
                <a:hlinkClick r:id="rId3"/>
              </a:rPr>
              <a:t>AMA, использование ИИ врачами США</a:t>
            </a:r>
            <a:r>
              <a:t> · </a:t>
            </a:r>
            <a:r>
              <a:rPr u="sng">
                <a:solidFill>
                  <a:srgbClr val="065A82"/>
                </a:solidFill>
                <a:hlinkClick r:id="rId4"/>
              </a:rPr>
              <a:t>Doximity, State of AI in Medicine 2026</a:t>
            </a:r>
            <a:r>
              <a:t> · </a:t>
            </a:r>
            <a:r>
              <a:rPr u="sng">
                <a:solidFill>
                  <a:srgbClr val="065A82"/>
                </a:solidFill>
                <a:hlinkClick r:id="rId5"/>
              </a:rPr>
              <a:t>Европейское общество радиологии, опрос 2024</a:t>
            </a:r>
            <a:r>
              <a:t> · </a:t>
            </a:r>
            <a:r>
              <a:rPr u="sng">
                <a:solidFill>
                  <a:srgbClr val="065A82"/>
                </a:solidFill>
                <a:hlinkClick r:id="rId6"/>
              </a:rPr>
              <a:t>Британская перепись отделений, 2025</a:t>
            </a:r>
            <a:r>
              <a:t> · </a:t>
            </a:r>
            <a:r>
              <a:rPr u="sng">
                <a:solidFill>
                  <a:srgbClr val="065A82"/>
                </a:solidFill>
                <a:hlinkClick r:id="rId7"/>
              </a:rPr>
              <a:t>Россия, обзор опросов врачей</a:t>
            </a:r>
            <a:r>
              <a:t> · </a:t>
            </a:r>
            <a:r>
              <a:rPr u="sng">
                <a:solidFill>
                  <a:srgbClr val="065A82"/>
                </a:solidFill>
                <a:hlinkClick r:id="rId8"/>
              </a:rPr>
              <a:t>Aidoc, 60 миллионов случаев в год</a:t>
            </a:r>
            <a:r>
              <a:t> · </a:t>
            </a:r>
            <a:r>
              <a:rPr u="sng">
                <a:solidFill>
                  <a:srgbClr val="065A82"/>
                </a:solidFill>
                <a:hlinkClick r:id="rId9"/>
              </a:rPr>
              <a:t>Viz.ai, две тысячи больниц и 230 миллионов человек</a:t>
            </a:r>
            <a:r>
              <a:t> · </a:t>
            </a:r>
            <a:r>
              <a:rPr u="sng">
                <a:solidFill>
                  <a:srgbClr val="065A82"/>
                </a:solidFill>
                <a:hlinkClick r:id="rId10"/>
              </a:rPr>
              <a:t>Мировой поток визуализации</a:t>
            </a:r>
            <a:r>
              <a:t> · </a:t>
            </a:r>
            <a:r>
              <a:rPr u="sng">
                <a:solidFill>
                  <a:srgbClr val="065A82"/>
                </a:solidFill>
                <a:hlinkClick r:id="rId11"/>
              </a:rPr>
              <a:t>Medicare Advantage, застрахованные</a:t>
            </a:r>
            <a:r>
              <a:t> · </a:t>
            </a:r>
            <a:r>
              <a:rPr u="sng">
                <a:solidFill>
                  <a:srgbClr val="065A82"/>
                </a:solidFill>
                <a:hlinkClick r:id="rId12"/>
              </a:rPr>
              <a:t>Оплата изделий с ИИ в США</a:t>
            </a:r>
            <a:r>
              <a:t> · </a:t>
            </a:r>
            <a:r>
              <a:rPr u="sng">
                <a:solidFill>
                  <a:srgbClr val="065A82"/>
                </a:solidFill>
                <a:hlinkClick r:id="rId13"/>
              </a:rPr>
              <a:t>Корея, возмещение 49 из 549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стоит сказать, глядя на два снимка: модель встаёт не рядом с приёмом, а внутри него — между врачом и решением, — и пациент об этом знает или не знает, и от этого его поведение тоже меняется. Поэтому сторон две, и мерили их разными способами: у врача — поведение на задаче, у пациента — согласие с решением. Складывать эти два замера между собой нельзя.</a:t>
            </a:r>
          </a:p>
          <a:p>
            <a:r>
              <a:t/>
            </a:r>
          </a:p>
          <a:p>
            <a:r>
              <a:t>Этот кадр выдаёт словарь, которым дальше размечен весь вечер. Имён шесть, чисел под ними сейчас нет намеренно: каждое число будет предъявлено там, где механизм встречается впервые, со своей выборкой и своей базой, а в сводах разделов отсчитано — какие из шести раздел встретил. Назвать имена заранее нужно затем, чтобы к моменту встречи механизм был узнан, а не объяснён с нуля посреди разбора.</a:t>
            </a:r>
          </a:p>
          <a:p>
            <a:r>
              <a:t/>
            </a:r>
          </a:p>
          <a:p>
            <a:r>
              <a:t>Рамка этих механизмов не наша. Три из них предложены работой об искажениях при взаимодействии человека и модели, проверены в трёх разных областях на двух с лишним тысячах человек совокупно, и медицинские замеры всей лекции ложатся на два из трёх как частный случай. Произносить это стоит прямо: медицина здесь не особая, и возражение «у врачей так, потому что медицина» снимается не одним медицинским замером, а тем, что те же механизмы измерены вне медицины.</a:t>
            </a:r>
          </a:p>
          <a:p>
            <a:r>
              <a:t/>
            </a:r>
          </a:p>
          <a:p>
            <a:r>
              <a:t>Головная из трёх — усиление предубеждения, и она единственная с контрольной ветвью. Люди размечали выражения лиц, их ответы отдали свёрточной сети, та усилила исходное смещение, и рядом с ней работала новая группа людей: доля смещённых ответов у неё выросла с 49,9 до 56,3 из ста. В контрольной ветви вместо модели были другие люди — там доля не изменилась: 50,6 против 51,5, различия нет. Усиливает не согласие с чужим мнением вообще, усиливает именно модель. И усиление растёт по ходу работы: в первом блоке 50,7 из ста, в последнем 61,4. Вторая — якорение: 775 менеджеров оценивали работу сотрудников после подсказки, и оценки стягивались к ней. Величину та работа не печатает, и подставлять похожее число из другого опыта нельзя. Зато она называет приём, который якорение снимает: потребовать рассмотреть противоположное. Это не то же, что предупредить: предупреждение — сообщение, которое принимают к сведению и продолжают делать как делали, а рассмотрение противоположного — действие, которое обязаны выполнить. Третья — наследование: 666 участников проходили тест критического мышления без доступа к модели, и связь частоты пользования с результатом оказалась отрицательной и значимой.</a:t>
            </a:r>
          </a:p>
          <a:p>
            <a:r>
              <a:t/>
            </a:r>
          </a:p>
          <a:p>
            <a:r>
              <a:t>Почему этого не видно изнутри — вопрос, который зал задаёт сам. В той же первой работе участников спросили, насколько на них повлиял каждый алгоритм, и смещающий они назвали менее влиятельным, чем точный, то есть ровно наоборот. А без всякой модели человек своё смещение правит сам: по ходу опыта доля смещённых ответов падала с 56,7 до 51,9. Способность к самокоррекции у него есть; рядом с моделью она не работает. И честная половина того же замера: точный алгоритм точность участников поднимал. Кадр не говорит, что модель вредна, — он говорит, куда смотреть.</a:t>
            </a:r>
          </a:p>
          <a:p>
            <a:r>
              <a:t/>
            </a:r>
          </a:p>
          <a:p>
            <a:r>
              <a:t>Теперь вторая сторона, пациент, и эти замеры я назову голосом, потому что отдельного разбора у них в этот вечер не будет. У врача меряли поведение на задаче: читает, заключает, находит или пропускает. У пациента меряют согласие — чем он отвечает на сам факт, что в его случае участвовала модель. И первое: согласие это не одно число. Раскрытие — 1 762 взрослых, представительных для населения Соединённых Штатов: когда пациенту говорят, что врач пользуется моделью, доверие к врачу падает с 0,63 до 0,30 по приведённой шкале, и прямой отказ врача от модели приносит ему 13 пунктов сверх того, что он имеет, когда об этом не сказано вовсе. Одиночество — 518 женщин, пришедших на снимок молочной железы: модель единственным читателем согласились принять 23 человека, вторым читателем — 368 из тех же 518, разница в шестнадцать раз. Пациент против не модели, а её одиночества. Асимметрия — 359 участниц, оба вопроса: тревогу подняла модель, пусть посмотрит врач — 319 да; вызвал врач, пусть посмотрит модель — 184. Перепроверка просится вверх и почти не просится вниз. Цена — 248 взрослых с диабетом первого типа: снятие доплаты в пятьдесят долларов подняло выбор осмотра моделью с 43 до 81 из ста, и при этом перепроверку у специалиста выбравшие хотели сильнее прежнего. Цена согласие покупает, доверия не покупает. Безымянность — 45 человек с онкологическим диагнозом оценивали перемешанные и неподписанные ответы: сочувствие в машинном они оценили в 4,11 из пяти, во врачебном — в 2,01. Складывать эти пять между собой нельзя: выборки и вопросы разные.</a:t>
            </a:r>
          </a:p>
          <a:p>
            <a:r>
              <a:t/>
            </a:r>
          </a:p>
          <a:p>
            <a:r>
              <a:t>И общая граница всего блока, которую лучше назвать на входе, чем оправдываться на выходе: ни один из этих замеров не доходит до исхода пациента. Меряли работу врача и меряли согласие пациента; что стало со здоровьем человека, не мерил никто из тех, на кого мы ссылаемся. Отдельно: влияние на врача измеряли почти всегда в лаборатории, где доля нарочно испорченных подсказок выше, чем в жизни, а влияние на пациента — опросом про воображаемую ситуацию. Направление оба способа показывают верно, величину завышают.</a:t>
            </a:r>
          </a:p>
          <a:p>
            <a:r>
              <a:t/>
            </a:r>
          </a:p>
          <a:p>
            <a:r>
              <a:t>**Шесть имён перед вами. Какое из шести, по-вашему, окажется самым дорогим для врача — и какое для пациента?**</a:t>
            </a:r>
          </a:p>
          <a:p>
            <a:r>
              <a:t/>
            </a:r>
          </a:p>
          <a:p>
            <a:r>
              <a:t>**Источники.** Полная запись — </a:t>
            </a:r>
            <a:r>
              <a:rPr u="sng">
                <a:solidFill>
                  <a:srgbClr val="065A82"/>
                </a:solidFill>
                <a:hlinkClick r:id="rId3"/>
              </a:rPr>
              <a:t>разбор работы об искажениях при взаимодействии человек — модель</a:t>
            </a:r>
            <a:r>
              <a:t> (рамка трёх механизмов и все 18 источников) · </a:t>
            </a:r>
            <a:r>
              <a:rPr u="sng">
                <a:solidFill>
                  <a:srgbClr val="065A82"/>
                </a:solidFill>
                <a:hlinkClick r:id="rId4"/>
              </a:rPr>
              <a:t>свод медицинских замеров</a:t>
            </a:r>
            <a:r>
              <a:t> · </a:t>
            </a:r>
            <a:r>
              <a:rPr u="sng">
                <a:solidFill>
                  <a:srgbClr val="065A82"/>
                </a:solidFill>
                <a:hlinkClick r:id="rId5"/>
              </a:rPr>
              <a:t>свод доверия пациента к модели</a:t>
            </a:r>
            <a:r>
              <a:t> — там же названы две пары, которые намеренно не собраны, и перечислено то, чего не нашлось вовсе.</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Вся работа ниже существовала до всякой автоматики и существует сейчас в том же виде. Модель входит в этот сложившийся порядок; своего она не строит, и потому разговор о ней начинается с устройства самого порядка.</a:t>
            </a:r>
          </a:p>
          <a:p>
            <a:r>
              <a:t/>
            </a:r>
          </a:p>
          <a:p>
            <a:r>
              <a:t>Коротко о том, откуда вообще берутся данные о человеке, потому что способов шесть и дают они разное. Приём у врача даёт жалобы, анамнез и осмотр — то, что человек рассказал, и то, что врач увидел руками. Инструментальное исследование даёт величины, снятые прибором: обзорный снимок, томограмма, эндоскопия. Лабораторный анализ даёт показатели крови, мочи, ткани, посева — и у части из них свой срок, который никуда не денется: посев мокроты идёт три недели. Удалённое исследование устроено так, что человека снимают в одном месте, а изображение читает специалист в другом; на этом держится лучевая диагностика там, где своего рентгенолога нет. Разбор уже имеющихся документов карты нового измерения не добавляет вовсе — он извлекает из записанного и сам становится источником решений. И шестой способ, за двадцать лет ставший массовым: измерения, которые пациент снимает сам, — монитор глюкозы, домашний тонометр, дневник симптомов. Этими же шестью способами данные получают и там, где рядом работает модель: способ получить она не меняет, меняется то, кто и как по полученному решает.</a:t>
            </a:r>
          </a:p>
          <a:p>
            <a:r>
              <a:t/>
            </a:r>
          </a:p>
          <a:p>
            <a:r>
              <a:t>Теперь классические режимы, и называть их надо по именам: сравнивать модель придётся именно с ними, а модель, сравнённая с пустым местом, выигрывает всегда, и выигрыш этот ничего не значит.</a:t>
            </a:r>
          </a:p>
          <a:p>
            <a:r>
              <a:t/>
            </a:r>
          </a:p>
          <a:p>
            <a:r>
              <a:t>На отборе работает двойное чтение. Снимок читают двое, и слово «независимо» здесь несущее: второй не видит заключения первого. Как только он его видит, два мнения перестают быть двумя — второй начинает отвечать на вопрос «согласен ли я», а это другая задача и другая доля ошибок. Выигрыш двойному чтению даёт несовпадение ошибок: пропуски двух людей приходятся на разные снимки. Расхождение разрешает арбитраж — третий читатель, подключаемый только на расхождении и не писавший ни одного из двух заключений. На диагностике работает пара долей: из всех, у кого болезнь есть, какую долю система назвала больными, и из всех, у кого её нет, какую долю не стала пугать. Эти две доли считаются на разных группах людей и всегда называются парой, потому что движутся вместе: сдвинь порог — одна вырастет, другая упадёт. Поэтому их приводят для одного порога, и порог выбирает протокол под цену исхода. На постановке диагноза работает дифференциальный диагноз: выписать болезни, способные объяснить наблюдаемое, и назначить проверку, которая их между собой различит; порядок проверок — отдельное решение, потому что часть из них сама опасна или дорога. Рядом стоят второе мнение, консилиум и клинические рекомендации. На наблюдении работает шкала раннего предупреждения: каждая измеренная величина получает баллы за отклонение от нормы, баллы складываются, сумма сравнивается с порогом, порог назначает действие. Два её свойства стоит назвать вслух: баллы передаются между сменами, а суждение «мне кажется, он сдал» не передаётся; и веса в таблице назначены людьми и опубликованы. На документации работает структура записи — жалобы, анамнез, осмотр, диагноз, план, — вычитка и подпись. И поверх всего стоит надзор: разбор случая после исхода и изменение порядка работы по его итогам.</a:t>
            </a:r>
          </a:p>
          <a:p>
            <a:r>
              <a:t/>
            </a:r>
          </a:p>
          <a:p>
            <a:r>
              <a:t>Общее у всех этих режимов одно, и его стоит забрать с собой в любую отрасль. Каждый существует потому, что один человек ошибается, и процедура знает это заранее. Процедура не делает людей внимательнее — она устроена так, чтобы ошибка одного была поймана до того, как стала необратимой, или разобрана после того, как стала.</a:t>
            </a:r>
          </a:p>
          <a:p>
            <a:r>
              <a:t/>
            </a:r>
          </a:p>
          <a:p>
            <a:r>
              <a:t>Лестница на кадре — признак, по которому разложены все разборы вечера: кто смотрит первым. Смотрит первым — человек читает данные сам, модель подключается после него или не подключается вовсе; это и есть классический режим, с которым модель сравнивают. Смотрит вторым — первый проход сделан моделью, человек читает её результат и подтверждает либо отклоняет. Смотрит только спорное — человек подключается там, где модель и второй источник не сошлись; остального потока он не видит. Подписывает не глядя — формально требование выполнено, подпись стоит, фактически участия нет. Шкала не ранжирует ступени по качеству: на каждой есть и выигрыш, и своя слепота. Но разница между первой ступенью и четвёртой больше, чем между двумя моделями: спор о том, чья модель точнее, идёт внутри одной ячейки, а переход со «смотрит первым» на «подписывает не глядя» меняет саму процедуру.</a:t>
            </a:r>
          </a:p>
          <a:p>
            <a:r>
              <a:t/>
            </a:r>
          </a:p>
          <a:p>
            <a:r>
              <a:t>Почему подписывает человек, а не модель — три причины, и точности среди них нет: измерено, что часто он не точнее, и опора, стоящая на его точности, рассыпалась бы на первом же разборе. Право подписи выдано ему: ни в одной из рассмотренных стран модель права подписи не имеет, а при разборе случая оценивают действия человека. Ошибается он иначе: выигрыш паре даёт несовпадение ошибок, а не превосходство одной из сторон. Отменить принятое решение нельзя: изделие отзывают, и отзывают по-настоящему, а решения, принятые по нему до отзыва, остаются.</a:t>
            </a:r>
          </a:p>
          <a:p>
            <a:r>
              <a:t/>
            </a:r>
          </a:p>
          <a:p>
            <a:r>
              <a:t>И три проверки, которые годятся не только в медицине; к ним вечер вернётся в конце. Первая: если вывод проверяют по самообъяснению модели — это не проверка, объяснение построено той же системой и согласовано с выводом по устройству. Вторая: нужны две доли сразу — доля отклонённых подсказок и доля верных отклонений; без второй первая не подтверждает ничего, отклонять можно всё подряд. Третья: успевает ли человек физически — секунды на решение против объёма потока; у этого вопроса бывает ответ «нет», и дальше он будет назван числом. Контур, не прошедший эти три, и есть четвёртая ступень: подпись стоит, участия за ней нет.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 число я называю здесь и буду называть ещё трижды за вечер, потому что оно меряет четвёртый платёж — тот, который выглядит самым безобидным. Арбитраж дороже прежнего чтения, это разберём на скрининге; а вот сколько стоит сама проверка подсказки, измерено — одна целая девяносто девять сотых секунды по медиане. Базу назову сразу, потому что без неё число звучит сильнее, чем оно есть: замер лабораторный и снят он вне медицины — двадцать один программист, тысяча девяносто шесть показанных подсказок ассистента кода, поведенческая телеметрия. Это время, которое человек держит подсказку на экране ДО решения её принять. Рядом в той же работе есть вторая медиана, шесть целых сорок восемь сотых секунды, и путать их нельзя: она досчитывает проверку уже ПОСЛЕ принятия. На вопрос «успевает ли человек прочитать прежде, чем подписал» отвечает первая. Переносится это на врача по аналогии, и аналогию я называю аналогией.</a:t>
            </a:r>
          </a:p>
          <a:p>
            <a:r>
              <a:t/>
            </a:r>
          </a:p>
          <a:p>
            <a:r>
              <a:t>Чтение медицинских данных стало стоить три секунды и ноль рублей — против 48 секунд человеческого чтения в среднем и 25 по медиане. Единицы у этих двух величин разные: снимок грудной клетки и маммограмма читаются по-разному, поэтому сравнение годится только на разряд величины, и именно так оно на кадре и названо. Инструмент открывается в браузере, вычисление идёт на том же ноутбуке, снимок не уходит на сервер, барьера входа нет вообще. Дальше читается то, что у этого удешевления на другом конце, и адресов платежа четыре.</a:t>
            </a:r>
          </a:p>
          <a:p>
            <a:r>
              <a:t/>
            </a:r>
          </a:p>
          <a:p>
            <a:r>
              <a:t>Тройка на полосе плашек — это один замер, и назвать его надо целиком. Пятьдесят практикующих врачей читали письменные описания реальных случаев — жалобы, анамнез, уже готовые результаты исследований, — по пять случаев на врача и строили рассуждение: гипотезы, обоснование, какие проверки назначить. Оценивали их слепо по шкале структурированного рассуждения, и рандомизированы были два человеческих состояния: врач как обычно — семьдесят четыре из ста, врач поверх модели — семьдесят шесть. Разница в два пункта статистически незначима: p равно нулю целых шестидесяти сотым, то есть такая разница свободно получается случайно, и прибавкой её называть нельзя. Прогон модели в одиночку — девяносто два — рандомизированной ветвью не был и стоит ниже по силе свидетельства. Отсюда короткая формула, которой читается вся лекция: куплено девяносто два, работает семьдесят шесть, и в отчётности этой разницы нет. Причину нулевого результата испытание называет само: подсказка приходила в готовом виде, и никто не учил врачей, как её спрашивать и когда ей не верить. Инструмент выдали, процедуру работы с ним — нет.</a:t>
            </a:r>
          </a:p>
          <a:p>
            <a:r>
              <a:t/>
            </a:r>
          </a:p>
          <a:p>
            <a:r>
              <a:t>Внимание. Человек смотрит после модели, и его зрительный поиск сужается — это измерено движением глаз, причём в обе стороны: при верной подсказке охват снимка падает, и качество чтения при этом растёт; при подсказке, пропустившей находку, охват падает так же, а качество чтения обваливается.</a:t>
            </a:r>
          </a:p>
          <a:p>
            <a:r>
              <a:t/>
            </a:r>
          </a:p>
          <a:p>
            <a:r>
              <a:t>Навык. Человек перестаёт делать сам то, что делал годами. Измерено это отключением помощника: доля обнаружения в процедурах без него у тех, кто к нему привык, оказалась ниже, чем до его появления. Состав свидетельства здесь слабее остальных трёх, и его стоит назвать составом: на реальной работе следствие измерено один раз и спорно, то же явление измерено случайным распределением в учёбе, повторения на реальной работе нет ни одного.</a:t>
            </a:r>
          </a:p>
          <a:p>
            <a:r>
              <a:t/>
            </a:r>
          </a:p>
          <a:p>
            <a:r>
              <a:t>Подпись. Человек подтверждает решение, которого не читал. Требование, чтобы человек оставался последним звеном, у регулятора записано; проверку же этого требования нашли у 56 радиологических изделий из 717 — у восьми процентов.</a:t>
            </a:r>
          </a:p>
          <a:p>
            <a:r>
              <a:t/>
            </a:r>
          </a:p>
          <a:p>
            <a:r>
              <a:t>Арбитраж. Разбор одного расхождения дороже прежнего чтения: снимок занимает 48 секунд в среднем при медиане 25 — разбор расхождения — две минуты двенадцать секунд, то есть пять чтений. И когда первичных человеческих чтений стало вдвое меньше, объём арбитража вырос больше чем наполовину.</a:t>
            </a:r>
          </a:p>
          <a:p>
            <a:r>
              <a:t/>
            </a:r>
          </a:p>
          <a:p>
            <a:r>
              <a:t>Половина этой оси курсу знакома с прошлой лекции: подешевел шаг — платят на другом. Своё здесь одно, и ради него ось и объявлена — адрес платежа. Платят тем шагом, который делает человек, — ни деньгами, ни вычислительным временем.</a:t>
            </a:r>
          </a:p>
          <a:p>
            <a:r>
              <a:t/>
            </a:r>
          </a:p>
          <a:p>
            <a:r>
              <a:t>Теперь о том, как эти четыре слова живут дальше, потому что услышать их один раз мало. Словарь форм влияния на процесс курсу знаком с прошлой лекции, и девять его имён держат почти каждый разбор, который пойдёт дальше: «нагрузка переехала на другой шаг», «сменился исполнитель», «сместилась цена ошибки». Четыре адреса платежа этот словарь не отменяют и не повторяют — они отвечают на другой вопрос об одном и том же случае. Форма говорит, что сделалось с работой: где она теперь стоит, сколько её, чья рука её делает, чем кончается ошибка. Адрес говорит, на каком человеческом шаге это сделалось: смотрит он вторым, перестал ли делать сам, подписал ли непрочитанное, разбирает ли расхождение.</a:t>
            </a:r>
          </a:p>
          <a:p>
            <a:r>
              <a:t/>
            </a:r>
          </a:p>
          <a:p>
            <a:r>
              <a:t>Отсюда порядок, по которому идёт каждый разбор дальше. Каждый кончается формой — или названным отказом её присвоить, и отказ этот такой же вердикт, как имя. В сборке формы сводятся обратно к четырём адресам, и сводятся счётом: по каждому адресу стоит измерение с названным разрядом. Держать в голове надо обе половины: формой измеряется работа, адресом измеряется человек. Смешивать их нельзя: работа переезжает так, что ни один человеческий шаг этого не чувствует, и человек платит там, где работа осталась на месте.</a:t>
            </a:r>
          </a:p>
          <a:p>
            <a:r>
              <a:t/>
            </a:r>
          </a:p>
          <a:p>
            <a:r>
              <a:t>**Источники.** </a:t>
            </a:r>
            <a:r>
              <a:rPr u="sng">
                <a:solidFill>
                  <a:srgbClr val="065A82"/>
                </a:solidFill>
                <a:hlinkClick r:id="rId3"/>
              </a:rPr>
              <a:t>Goh E. и соавт., JAMA Network Open 2024;7(10):e2440969, 28 октября 2024</a:t>
            </a:r>
            <a:r>
              <a:t> · </a:t>
            </a:r>
            <a:r>
              <a:rPr u="sng">
                <a:solidFill>
                  <a:srgbClr val="065A82"/>
                </a:solidFill>
                <a:hlinkClick r:id="rId4"/>
              </a:rPr>
              <a:t>снимок: NIAID, Викисклад, CC BY 2.0</a:t>
            </a:r>
          </a:p>
          <a:p>
            <a:r>
              <a:t/>
            </a:r>
          </a:p>
          <a:p>
            <a:r>
              <a:t>И ещё одно, что произносится здесь, а на кадре больше не стоит (#293, Этап D — оговорка снята ради кегля тела): у переезда работы девять форм, и весь перечень будет предъявлен на первом разборе.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Вход кончился осью и словарём: удешевили чтение данных, а платят вниманием, навыком, подписью и арбитражем; девять форм переезда выданы до первого употребления, чтобы дальше к ним возвращаться одним словом. И кончился он вопросом, который теперь будет задаваться на каждой стадии: модель посмотрела первой — что теперь делает человек и кто это измерял. Здесь этот вопрос задаётся впервые, и задаётся он на самой первой стадии пути, потому что раньше неё нет ничего: смотреть можно только того, кого позвали. Женщина с письмом по возрасту, с которой началась лекция, стоит ровно здесь — её позвали, и дальше разбирается, кто и как решает, кого звать и кого смотреть внимательнее.</a:t>
            </a:r>
          </a:p>
          <a:p>
            <a:r>
              <a:t/>
            </a:r>
          </a:p>
          <a:p>
            <a:r>
              <a:t>Состав раздела: четыре разбора одной работы с четырёх разных сторон, и один из них — провал: чат-бот первой линии, единственный случай лекции, где проверка «уберите модель» ответила «сервис продолжит работать». Каждый из трёх занимает больше одного кадра: у первого отдельно считается цена арбитража, у второго — устройство, у третьего и то и другое.</a:t>
            </a:r>
          </a:p>
          <a:p>
            <a:r>
              <a:t/>
            </a:r>
          </a:p>
          <a:p>
            <a:r>
              <a:t>Дальше лекция разбирает решения о человеке, который уже попал в поле зрения, а здесь решается, попадёт ли он вообще — и это решение принимается до всякого диагноза, часто без врача и всегда без участия самого пациента в момент, когда оно принимается.</a:t>
            </a:r>
          </a:p>
          <a:p>
            <a:r>
              <a:t/>
            </a:r>
          </a:p>
          <a:p>
            <a:r>
              <a:t>Четыре разбора показывают одну работу с четырёх сторон. Шведская программа встала внутри уже действующего канала по списку приглашений и решала не «направить или нет», а «кому достанется второе человеческое чтение»; разбирается она через то, что измерило рандомизированное испытание, и через то, что оно не измеряло вовсе — устройство самого арбитража и асимметрию доверия находке, отдельным следующим кадром. Чат-бот первой линии встал на входе в поток обращений и решал, кого направить; разбирается он через то, что предъявили публично, и через то, что удешевлённый вход сделал с экономикой канала. Глазное дно на приёме — случай, где выигрыш измерен не точностью чтения, а явкой: 22 из ста против ста из ста. Числа и базы — на самих кадрах.</a:t>
            </a:r>
          </a:p>
          <a:p>
            <a:r>
              <a:t/>
            </a:r>
          </a:p>
          <a:p>
            <a:r>
              <a:t>Общее между тремя разборами — не тема и не отрасль, а то, что все три показывают: отбор решает не только «кого лечить», но прежде — «кого вообще стоит заметить», и ошибка на этом шаге не видна там, где её обычно ищут, потому что она случается раньше любого диагноза и любого измерения точности.</a:t>
            </a:r>
          </a:p>
          <a:p>
            <a:r>
              <a:t/>
            </a:r>
          </a:p>
          <a:p>
            <a:r>
              <a:t>Снимок рядом — техник ставит человека к маммографу: та самая минута, в которую приглашение по возрасту превращается в процедуру. Женщина с письмом стоит сейчас именно здесь: решение о ней принято не ею и не врачом, а программой — по году рождения. Работа отбора выглядит так: не драматично, а буднично, и в этой будничности она чаще всего и остаётся незамеченной.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открывается описанием стадии, потому что иначе непонятно, во что инструмент вмешивается. Названа стадия тем именем, которым её называет отрасль: первичный скрининг и отбор на обследование. Инженер, пришедший в медицинский проект, услышит в нём именно эти слова, и разговор начнётся с них.</a:t>
            </a:r>
          </a:p>
          <a:p>
            <a:r>
              <a:t/>
            </a:r>
          </a:p>
          <a:p>
            <a:r>
              <a:t>Скрининг — обследование людей, у которых нет жалоб, по признаку принадлежности к группе: возраст, пол, профессия, предшествующий диагноз. Польза скрининга держится на одном допущении: находка, сделанная раньше жалобы, меняет исход. Если болезнь при раннем обнаружении лечится так же, как при позднем, скрининг остаётся чистой стоимостью плюс вред от ложных вызовов.</a:t>
            </a:r>
          </a:p>
          <a:p>
            <a:r>
              <a:t/>
            </a:r>
          </a:p>
          <a:p>
            <a:r>
              <a:t>Данные о человеке на этой стадии скудные, и это её главное свойство. Возраст. Пол. Интервал с прошлого обследования. Иногда анкета или одна жалоба, с которой человек пришёл сам. Ничего из того, что обычно называют медицинскими данными, здесь ещё нет: ни снимка, ни анализа, ни осмотра. Вопрос, который на этих данных решают, тоже один: звать ли этого человека смотреть вообще.</a:t>
            </a:r>
          </a:p>
          <a:p>
            <a:r>
              <a:t/>
            </a:r>
          </a:p>
          <a:p>
            <a:r>
              <a:t>Способов получить эти данные четыре, и дают они разное. Приглашение по реестру населения — случай, когда данных о человеке ещё нет и его зовут по формальному признаку: год рождения, пол, интервал. Обращение самого человека с жалобой устроено обратным ходом: он пришёл, потому что что-то почувствовал, и дальше его ведёт симптом; вероятность болезни у него на входе совсем другая, и в следующем разделе от этой вероятности будет зависеть смысл любого положительного результата. Направление от другого врача приносит вместе с человеком чужую гипотезу. Разбор уже имеющихся документов карты нового измерения не добавляет вовсе — он извлекает из того, что записано, и сам становится источником решения.</a:t>
            </a:r>
          </a:p>
          <a:p>
            <a:r>
              <a:t/>
            </a:r>
          </a:p>
          <a:p>
            <a:r>
              <a:t>Решение, которое принимает стадия, звучит коротко: попадёт человек в поле зрения или не попадёт. За решением следует либо обследование, либо ничего — до следующего интервала или до того дня, когда человек почувствует сам.</a:t>
            </a:r>
          </a:p>
          <a:p>
            <a:r>
              <a:t/>
            </a:r>
          </a:p>
          <a:p>
            <a:r>
              <a:t>Теперь о том, почему эта стадия стоит первой, потому что порядок здесь не удобство изложения. Опор три, и каждую можно проверить. Первая — кого позвали: смотреть можно только того, кто попал в поле зрения, и человека, которого не позвали, не видит ни одна система, какой бы точной она ни была. Вторая — на какой группе считали: группу, на которой посчитаны свойства любого измерения, собирает именно эта стадия, и доля верных тревог среди всех поднятых зависит от того, насколько болезнь распространена в собранной группе. Третья — где стоит порог «болен»: точку, за которой система объявляет «болен», назначает протокол под цену исхода, и цена эта назначена до всякой точности — тем, кто решил, что хуже, пропустить находку или позвать лишнего. Все три опоры лежат на этой стадии, и потому переставить её некуда.</a:t>
            </a:r>
          </a:p>
          <a:p>
            <a:r>
              <a:t/>
            </a:r>
          </a:p>
          <a:p>
            <a:r>
              <a:t>И последнее до разборов — как это решение принимают без всякой обученной модели. Называть эту работу надо по именам, потому что сравнивать модель придётся именно с ней: модель, сравнённая с пустым местом, выигрывает всегда, и выигрыш этот ничего не значит. Порядка работы здесь три. Первый — звать всех по возрасту и интервалу: работает программа, человек в решении не участвует. Второй — ждать жалобу: не делать ничего, пока человек не придёт сам. Третий — сортировать уже обратившийся поток по тяжести: кого смотреть сегодня, а кого через две недели; классический инструмент этой сортировки — пять категорий тяжести, которые присваивает медсестра по протоколу, и каждой категории назначено нормативное время до осмотра врачом. Классическими режимами отбора, посчитанными в одной цене, из этих трёх работают два — первые два; их числа, база и оговорки стоят в этом разделе отдельным кадром. Третий порядок считают иначе и в другой единице. Внутри скринингового чтения стоят ещё два режима, придуманных до всякой автоматики: двойное чтение, где снимок читают двое, не видя заключения друг друга, и арбитраж — третий читатель, подключаемый только на расхождении.</a:t>
            </a:r>
          </a:p>
          <a:p>
            <a:r>
              <a:t/>
            </a:r>
          </a:p>
          <a:p>
            <a:r>
              <a:t>Ошибка этого шага не видна там, где её обычно ищут: она случается раньше любого диагноза и любого замера точности.</a:t>
            </a:r>
          </a:p>
          <a:p>
            <a:r>
              <a:t/>
            </a:r>
          </a:p>
          <a:p>
            <a:r>
              <a:t>Профессия — четвёртый признак группы наряду с возрастом, полом и прежним диагнозом: по ней зовут на профосмотры, и это тот же скрининг без жалоб. За решением стадии следует либо обследование, либо ничего — до следующего интервала или до того дня, когда человек почувствует сам. Порог, назначенный документом, — это возраст, с которого зовут, интервал между приглашениями и критерий отзыва на дообследование.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названа, и теперь по шагам: из каких действий она сложена и кто каждое делает. Женщина с письмом, с которой началась лекция, пришла — и дальше про неё решает устройство, в котором она не участвует ни на одном шаге. На слайде семь действий этого устройства названы одной строкой, здесь — каждое.</a:t>
            </a:r>
          </a:p>
          <a:p>
            <a:r>
              <a:t/>
            </a:r>
          </a:p>
          <a:p>
            <a:r>
              <a:t>Назначить порог. Возраст, с которого зовут, и интервал между приглашениями записаны в документе органа здравоохранения. Их назначает не разработчик и не врач у монитора, а тот, кто решил, что хуже — пропустить или позвать лишнего.</a:t>
            </a:r>
          </a:p>
          <a:p>
            <a:r>
              <a:t/>
            </a:r>
          </a:p>
          <a:p>
            <a:r>
              <a:t>Позвать по списку. Письмо приходит человеку, который ни на что не жаловался: его выбрал признак группы — возраст, пол, профессия, прежний диагноз.</a:t>
            </a:r>
          </a:p>
          <a:p>
            <a:r>
              <a:t/>
            </a:r>
          </a:p>
          <a:p>
            <a:r>
              <a:t>Снять исследование. Снимок делает лаборант, и это отдельная квалификация, отдельное рабочее место и отдельная очередь.</a:t>
            </a:r>
          </a:p>
          <a:p>
            <a:r>
              <a:t/>
            </a:r>
          </a:p>
          <a:p>
            <a:r>
              <a:t>Прочесть двумя. Двойное чтение придумано до всякой автоматики и ради одного: чтобы ошибка одного человека не стала решением. Выигрыш даёт несовпадение ошибок — пропуски двух людей приходятся на разные снимки, и держится это на том, что второй не видит заключения первого.</a:t>
            </a:r>
          </a:p>
          <a:p>
            <a:r>
              <a:t/>
            </a:r>
          </a:p>
          <a:p>
            <a:r>
              <a:t>Разрешить расхождение. Третий читатель подключается только там, где двое разошлись, и разрешать расхождение должен тот, кто обоих заключений не писал.</a:t>
            </a:r>
          </a:p>
          <a:p>
            <a:r>
              <a:t/>
            </a:r>
          </a:p>
          <a:p>
            <a:r>
              <a:t>Сообщить исход. Письмо «норма» либо звонок с приглашением на дообследование — и недели ожидания между ними.</a:t>
            </a:r>
          </a:p>
          <a:p>
            <a:r>
              <a:t/>
            </a:r>
          </a:p>
          <a:p>
            <a:r>
              <a:t>Отсортировать пришедших без приглашения. Здесь решают, кого смотреть сегодня, а кого через две недели. Вошедшего в приёмное отделение относят к одной из пяти категорий тяжести: медсестра задаёт несколько вопросов, снимает несколько величин и сверяет с таблицей. Каждой категории назначено нормативное время до осмотра врачом. Недооценка — человек с развивающимся инфарктом сидит в очереди; переоценка — занят ресурс, которого не хватило кому-то другому. Обе ошибки платит одна смена.</a:t>
            </a:r>
          </a:p>
          <a:p>
            <a:r>
              <a:t/>
            </a:r>
          </a:p>
          <a:p>
            <a:r>
              <a:t>Теперь то же поле с моделью, и сказать надо точно, на каком шаге она включается в каждом из разборов этого раздела — иначе примеры и стадия живут двумя слоями. Третий ряд схемы называет это именами.</a:t>
            </a:r>
          </a:p>
          <a:p>
            <a:r>
              <a:t/>
            </a:r>
          </a:p>
          <a:p>
            <a:r>
              <a:t>Шаг «прочесть двоим» — шведская программа скрининга. Первое чтение остаётся человеческим, мимо радиолога не проходит ни одно исследование; модель ставит снимку оценку риска и по ней решает, нужно ли этому исследованию второе независимое чтение. Вторым читателем она не работает: для большинства потока шаг второго чтения просто снят.</a:t>
            </a:r>
          </a:p>
          <a:p>
            <a:r>
              <a:t/>
            </a:r>
          </a:p>
          <a:p>
            <a:r>
              <a:t>Шаг «сообщить исход» — съёмка глазного дна без офтальмолога. Там модель включается сразу после съёмки и берёт на себя и чтение, и исход: «направить или нет» выносится на месте, меньше чем за минуту, а шага арбитража в этом порядке нет вовсе.</a:t>
            </a:r>
          </a:p>
          <a:p>
            <a:r>
              <a:t/>
            </a:r>
          </a:p>
          <a:p>
            <a:r>
              <a:t>Шаг «отсортировать поток» — чат-бот первой линии. И здесь важная оговорка, которую схема сказать не может: чат-бот стоит на другом входе стадии. По списку туда никого не зовут — люди приходят сами, с жалобой, и место, которое занимает модель, прежде занимала телефонная линия сортировки с оператором по протоколу. Единого конвейера у стадии нет, и это не придирка: цена ошибки на безжалобном и жалобном входах разная, а устройство шага — то же.</a:t>
            </a:r>
          </a:p>
          <a:p>
            <a:r>
              <a:t/>
            </a:r>
          </a:p>
          <a:p>
            <a:r>
              <a:t>Чего модель не занимает. Порог она не назначает: за ним стоит цена обеих ошибок и подпись под ней. Приглашение, съёмку и арбитраж она не трогает. И один шаг она добавляет — добыть годный снимок: у специалиста такой операции не существовало, он компенсировал условия съёмки сам.</a:t>
            </a:r>
          </a:p>
          <a:p>
            <a:r>
              <a:t/>
            </a:r>
          </a:p>
          <a:p>
            <a:r>
              <a:t>За «нет» не следует ничего, и нигде не записано: события, которого не было, в карте нет. Эта строка с кадра снята по месту, но произносится обязательно — на ней держится вопрос, которым кадр кончается.</a:t>
            </a:r>
          </a:p>
          <a:p>
            <a:r>
              <a:t/>
            </a:r>
          </a:p>
          <a:p>
            <a:r>
              <a:t>И свойство этой шкалы, которое встретится ещё не раз: веса в ней назначены людьми и опубликованы. Обученная модель на том же месте выдаёт тот же выход — категорию или приоритет — и весов своих не предъявляет. Сравнение с ней становится возможным только по результату.</a:t>
            </a:r>
          </a:p>
          <a:p>
            <a:r>
              <a:t/>
            </a:r>
          </a:p>
          <a:p>
            <a:r>
              <a:t>Путь той женщины внутри этого устройства выглядит так: снимок делает лаборант; читают двое рентгенологов, которые её не видели и между собой о ней не говорят; разошлись — снимок уходит третьему; через несколько недель приходит письмо «норма» либо звонок на дообследование. Ни на одном из этих шагов её не спрашивают.</a:t>
            </a:r>
          </a:p>
          <a:p>
            <a:r>
              <a:t/>
            </a:r>
          </a:p>
          <a:p>
            <a:r>
              <a:t>Женщина с письмом, с которой началась лекция, пришла — и дальше вокруг неё работает устройство, в котором она не участвует ни на одном шаге: снимок делает лаборант, читают двое рентгенологов, которые её не видели и между собой о ней не говорят, разошлись — снимок уходит третьему, через несколько недель приходит письмо «норма» либо звонок на дообследование.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программы, которые до этого места в лекции не звучали: лёгкое, шейка матки, колоректальный рак и простата. У каждой свой ответ на вопрос, кого вообще позовут, и свой ответ на вопрос, участвует ли в отборе обученная модель. Диаграмма разложена по странам, а не по программам, нарочно: вопрос, с которым инженер приходит в такой проект, звучит «как устроено здесь», а не «где в мире выше процент».</a:t>
            </a:r>
          </a:p>
          <a:p>
            <a:r>
              <a:t/>
            </a:r>
          </a:p>
          <a:p>
            <a:r>
              <a:t>Доли считаются от разных оснований — приглашённых, явившихся или всей целевой группы по регистру, — и знаменатель стоит подписью у конца каждого столбца, рядом с числом. Сложить их в один рейтинг нельзя, и диаграмма этого не предлагает: внутри страны столбцы стоят в одном и том же порядке программ, поэтому глаз сравнивает страну со страной по одной и той же полосе.</a:t>
            </a:r>
          </a:p>
          <a:p>
            <a:r>
              <a:t/>
            </a:r>
          </a:p>
          <a:p>
            <a:r>
              <a:t>Скрининг лёгкого — ежегодный низкодозный КТ людям из группы риска по курению. В США соответствуют критериям 12,8 миллиона человек, а проходят скрининг 18,7 процента из них — рост с 4,5 процента в 2022 году, почти вчетверо за два года, при всё ещё низком абсолютном охвате. В Нидерландах национальной программы нет вовсе — и это при том, что именно нидерландско-бельгийское испытание NELSON больше десяти лет назад доказало снижение смертности от такого скрининга. Доказанная эффективность метода и построенная программа — две разные вещи, и разрыв между ними здесь превышает десятилетие. Зато в Польше и Хорватии модель встроена прямо в архитектуру национальной программы с самого начала, а не надстроена поверх неё поставщиком: Хорватия с 2020 года — первая страна Евросоюза с полностью интегрированным скринингом лёгкого. Знаменателя целевой группы источники для обеих стран не называют, поэтому на диаграмме охвата их нет: факт внедрения модели есть, числа охвата, которое можно с чем-нибудь сравнить, нет.</a:t>
            </a:r>
          </a:p>
          <a:p>
            <a:r>
              <a:t/>
            </a:r>
          </a:p>
          <a:p>
            <a:r>
              <a:t>Шейка матки даёт зеркальную картину. Охват здесь отлажен десятилетиями и везде выше: Швеция 83–85 процентов, Великобритания 68,8 из 16,5 миллиона, Австралия 74,2 и снижается, Нидерланды 54,4. Модель при этом нигде не встроена в саму программу — только в отдельные коммерческие лабораторные системы (Hologic в США, Techcyte в Австрии) и в необязательную рекомендацию профессиональной ассоциации в Великобритании.</a:t>
            </a:r>
          </a:p>
          <a:p>
            <a:r>
              <a:t/>
            </a:r>
          </a:p>
          <a:p>
            <a:r>
              <a:t>Колоректальный рак — сильнейший случай участия модели в этом блоке. Нидерланды держат один из самых высоких охватов в мире, 67,1 процента, полтора миллиона человек на домашнем тесте кала; заметно выше охвата той же страны на шейке матки в тот же год — явка зависит от типа теста, домашний против визита, а не только от общей культуры скрининга. США держат 63,5–67,4 процента по двум замерам 2023 года. Япония даёт устойчивый разрыв между мужчинами и женщинами: 49,1 против 42,8 процента; на диаграмме это один столбец, а подпись у его конца называет обе исходные цифры, не среднее. А с февраля 2024 года Япония платит отдельную страховую надбавку именно за программный ИИ-компонент колоноскопии — EndoBRAIN-EYE, первый в мире случай, когда оплачивают не прибор вообще, а именно его модельную часть. Условие сужает круг: надбавка положена только эндоскописту со стажем не менее пяти лет. К началу 2025 года систему развернули 43 процента университетских и 28 процентов региональных больниц; абсолютного числа таких больниц источники не дают, и это я называю пробелом, а не достраиваю оценкой.</a:t>
            </a:r>
          </a:p>
          <a:p>
            <a:r>
              <a:t/>
            </a:r>
          </a:p>
          <a:p>
            <a:r>
              <a:t>Две страны на диаграмму не попали, и это стоит назвать вслух, а не умолчать: Корея на скрининге лёгкого держит 51,2–58,6 процента по двум замерам 2023 года, Австралия на шейке матки — 74,2 и снижается. Обе несут по одному столбцу, и обе программы на диаграмме уже показаны другими странами; полоса кадра держит пять групп так, чтобы подписи оставались читаемыми, а не семь. Отдельно — корейский колоректальный охват отсутствует по другой причине, и она содержательная: доступная цифра 74,4 процента считает охват шестью видами скрининга совместно, а не колоректальным отдельно. Поставить её в колоректальный столбец значило бы подставить чужой знаменатель — ровно та склейка, которую разбирает весь этот раздел.</a:t>
            </a:r>
          </a:p>
          <a:p>
            <a:r>
              <a:t/>
            </a:r>
          </a:p>
          <a:p>
            <a:r>
              <a:t>Простата — случай, где вопрос про модель не стоит первым. Действующая рекомендация профильной рабочей группы США с 2018 года: решение о ПСА-тесте для мужчин 55–69 лет индивидуальное, после разговора с врачом; вне этого коридора, включая 70 лет и старше, популяционный скрининг не рекомендован вовсе. Это не пробел измерения, а согласованная позиция регуляторов: рак простаты у многих мужчин растёт настолько медленно, что при жизни никогда не проявился бы, а цена гипердиагностики — операция или лучевая терапия с недержанием и нарушением эрекции — для таких случаев перевешивает пользу находки. Подтверждённое исключение одно, и оно на диаграмме стоит: Швеция с 2020 года организует приглашение по регистру для мужчин 50–74 лет в шестнадцати регионах из двадцати одного, 256 тысяч приглашённых, участие 43 процента. Программа при этом организована вокруг ПСА-теста, а не вокруг модели; узкий пилот чтения МРТ моделью внутри неё отдельным числом не измерен.</a:t>
            </a:r>
          </a:p>
          <a:p>
            <a:r>
              <a:t/>
            </a:r>
          </a:p>
          <a:p>
            <a:r>
              <a:t>И последнее, самое важное на этом кадре. Эффект самого ИИ-компонента на исход пациента — находку болезни раньше, смертность — источники не измеряют ни в одной из этих стран. Измерено участие, охват целевой группы или факт оплаты, то есть то, что произошло с организацией, а не то, что это меняет для человека. Отсюда прямой вопрос поставщику: если он говорит «внедрено», спрашивайте, во что именно — в архитектуру программы или поверх неё отдельным слоем, — платит ли кто-нибудь за это отдельно, и есть ли вообще измерение эффекта, или дело ограничилось регуляторным допуском.</a:t>
            </a:r>
          </a:p>
          <a:p>
            <a:r>
              <a:t/>
            </a:r>
          </a:p>
          <a:p>
            <a:r>
              <a:t>**Источники.** </a:t>
            </a:r>
            <a:r>
              <a:rPr u="sng">
                <a:solidFill>
                  <a:srgbClr val="065A82"/>
                </a:solidFill>
                <a:hlinkClick r:id="rId3"/>
              </a:rPr>
              <a:t>Американское онкологическое общество — охват скрининга лёгкого в США, 2025</a:t>
            </a:r>
            <a:r>
              <a:t> · </a:t>
            </a:r>
            <a:r>
              <a:rPr u="sng">
                <a:solidFill>
                  <a:srgbClr val="065A82"/>
                </a:solidFill>
                <a:hlinkClick r:id="rId4"/>
              </a:rPr>
              <a:t>Национальная служба здравоохранения Англии — скрининг шейки матки, 2023–24</a:t>
            </a:r>
            <a:r>
              <a:t> · </a:t>
            </a:r>
            <a:r>
              <a:rPr u="sng">
                <a:solidFill>
                  <a:srgbClr val="065A82"/>
                </a:solidFill>
                <a:hlinkClick r:id="rId5"/>
              </a:rPr>
              <a:t>Институт здравоохранения Нидерландов — мониторинг скрининга шейки матки, 2024</a:t>
            </a:r>
            <a:r>
              <a:t> · </a:t>
            </a:r>
            <a:r>
              <a:rPr u="sng">
                <a:solidFill>
                  <a:srgbClr val="065A82"/>
                </a:solidFill>
                <a:hlinkClick r:id="rId6"/>
              </a:rPr>
              <a:t>Институт здравоохранения Нидерландов — мониторинг колоректального скрининга, 2024</a:t>
            </a:r>
            <a:r>
              <a:t> · </a:t>
            </a:r>
            <a:r>
              <a:rPr u="sng">
                <a:solidFill>
                  <a:srgbClr val="065A82"/>
                </a:solidFill>
                <a:hlinkClick r:id="rId7"/>
              </a:rPr>
              <a:t>Австралийский институт здоровья — отчёт о программах скрининга, 2025</a:t>
            </a:r>
            <a:r>
              <a:t> · </a:t>
            </a:r>
            <a:r>
              <a:rPr u="sng">
                <a:solidFill>
                  <a:srgbClr val="065A82"/>
                </a:solidFill>
                <a:hlinkClick r:id="rId8"/>
              </a:rPr>
              <a:t>Рабочая группа профилактических служб США — скрининг рака простаты</a:t>
            </a:r>
            <a:r>
              <a:t> · </a:t>
            </a:r>
            <a:r>
              <a:rPr u="sng">
                <a:solidFill>
                  <a:srgbClr val="065A82"/>
                </a:solidFill>
                <a:hlinkClick r:id="rId9"/>
              </a:rPr>
              <a:t>Шведская организованная программа тестирования на рак простаты, руководство 2025</a:t>
            </a:r>
            <a:r>
              <a:t> · </a:t>
            </a:r>
            <a:r>
              <a:rPr u="sng">
                <a:solidFill>
                  <a:srgbClr val="065A82"/>
                </a:solidFill>
                <a:hlinkClick r:id="rId10"/>
              </a:rPr>
              <a:t>Cybernet — страховая надбавка за EndoBRAIN-EYE, февраль 2024</a:t>
            </a:r>
            <a:r>
              <a:t> · </a:t>
            </a:r>
            <a:r>
              <a:rPr u="sng">
                <a:solidFill>
                  <a:srgbClr val="065A82"/>
                </a:solidFill>
                <a:hlinkClick r:id="rId11"/>
              </a:rPr>
              <a:t>Европейская обсерватория ВОЗ — национальный скрининг лёгкого в Хорватии, 2025</a:t>
            </a:r>
            <a:r>
              <a:t> · </a:t>
            </a:r>
            <a:r>
              <a:rPr u="sng">
                <a:solidFill>
                  <a:srgbClr val="065A82"/>
                </a:solidFill>
                <a:hlinkClick r:id="rId12"/>
              </a:rPr>
              <a:t>Lancet Western Pacific — скрининг лёгкого в Польше</a:t>
            </a:r>
            <a:r>
              <a:t>00066-0/fulltext)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Мост с предыдущего кадра произносится первой фразой, и он короткий. Мы только что видели, что у одной страны программа есть, а у другой её нет, и что отсутствие — это решение, а не пробел в данных. Тем же решением назначен и порог внутри программы: кого зовут, с какого возраста и как часто. То есть и сама программа, и её порог приходят из одного места — из документа, а не из прибора.</a:t>
            </a:r>
          </a:p>
          <a:p>
            <a:r>
              <a:t/>
            </a:r>
          </a:p>
          <a:p>
            <a:r>
              <a:t>И одно историческое основание под это, которого на кадре нет. Вопрос «когда скрининг вообще оправдан» формализован Всемирной организацией здравоохранения в 1968 году: Джеймс Уилсон и Гуннар Юнгнер сформулировали десять критериев, которые действуют до сих пор. У болезни должна быть распознаваемая ранняя стадия; должно существовать признанное лечение и мощности его провести; тест должен быть приемлем для населения; сам скрининг должен быть постоянным процессом, а не разовой кампанией. Ни один из этих десяти критериев не говорит о точности алгоритма — все десять написаны за десятилетия до первой обученной модели. Это и есть урок, который держит весь вечер: вопрос «оправдан ли скрининг» не сводится к вопросу «насколько точна модель внутри него», и первый был поставлен и решён задолго до второго. Откуда сама идея осматривать человека без жалоб: в двадцатые годы в США на одного врача приходилось около восьмисот человек, и осмотреть каждого было физически нечем; что скрытая болезнь есть у огромной доли людей, выглядящих здоровыми, показали призывные комиссии двух мировых войн — у сорока семи из ста двух с лишним миллионов призванных в Первую мировую нашли ни разу не поставленный до того диагноз; а первая организованная программа на целый город — массовая флюорография Глазго весной 1957 года, семьсот пятнадцать тысяч человек за пять недель, семьдесят шесть из ста взрослых города.</a:t>
            </a:r>
          </a:p>
          <a:p>
            <a:r>
              <a:t/>
            </a:r>
          </a:p>
          <a:p>
            <a:r>
              <a:t>Порог вмешательства — это документ. Возраст, с которого зовут. Интервал между приглашениями. Критерий, по которому человека отзывают на дообследование. Всё это записано в документе органа здравоохранения, и записано задолго до того, как кто-нибудь измерил точность какого-нибудь прибора. Разработчик модели порога не назначает; врач у монитора порога не назначает; его назначает тот, кто решил, что хуже — пропустить или позвать лишнего. С этого и начинается разбор любого случая: пока не названа цена обеих ошибок, никакая точность не читается.</a:t>
            </a:r>
          </a:p>
          <a:p>
            <a:r>
              <a:t/>
            </a:r>
          </a:p>
          <a:p>
            <a:r>
              <a:t>Цена пропуска в первом режиме считается долей рака, найденного между двумя приглашениями: программа его не поймала, поймал симптом. Единица честная, потому что считается она на тех же людях, которых программа смотрела, — один и семьдесят шесть сотых случая на тысячу обследованных за два года наблюдения. У этого числа есть вторая половина — столько же в плече с моделью, — и предъявляется она там, где разбирают чтение снимка, вместе с оговоркой о значимости: без неё улучшение читается сильнее, чем измерено.</a:t>
            </a:r>
          </a:p>
          <a:p>
            <a:r>
              <a:t/>
            </a:r>
          </a:p>
          <a:p>
            <a:r>
              <a:t>Цена ложного вызова — два человека из ста обследованных вызваны повторно. За этим стоит повторный снимок, иногда биопсия и несколько недель, которые человек живёт с открытым вопросом. Последнее в отчёты не ставят, и это тоже цена — её платит не программа и не поставщик, а тот, кого позвали.</a:t>
            </a:r>
          </a:p>
          <a:p>
            <a:r>
              <a:t/>
            </a:r>
          </a:p>
          <a:p>
            <a:r>
              <a:t>База у этих чисел одна, и называть её надо вместе с ними: контрольная группа шведской рандомизированной программы скрининга, пятьдесят две тысячи восемьсот семьдесят две женщины, двойное чтение без всякой модели, наблюдение два года. Сколько в этом порядке работы находят: пять случаев с десятой на тысячу обследованных — это число посчитано на другой, меньшей выборке той же программы, восьмидесяти тысячах тридцати трёх распределённых женщинах, и подписано ею на кадре отдельно. Дальше, на кадре с моделью, обе эти величины пойдут в тех же единицах, и сравнивать их можно будет прямо. Распределение по группам случайное, исходы написаны заранее — сильнее этого в лекции не будет ничего, и именно поэтому контрольная группа годится как точка отсчёта для всего остального.</a:t>
            </a:r>
          </a:p>
          <a:p>
            <a:r>
              <a:t/>
            </a:r>
          </a:p>
          <a:p>
            <a:r>
              <a:t>Второй классический режим — не делать ничего и ждать, пока человек придёт сам. Считать его труднее первого, потому что нулём он не работает: тот, кого не позвали, всё равно однажды придёт — позже и с другой стадией. Значит сравнивать надо не «нашли или не нашли», а когда нашли. Единственный момент, когда этот режим измеряли случайным распределением, — время, когда скрининг только вводили. Мальмёское испытание набирало участниц с середины семидесятых по середину восьмидесятых и распределяло приглашение случайно: две группы отличались ровно тем, позвали человека или нет. Доля стадии II и выше среди найденных случаев составила девяносто один случай из ста пятидесяти девяти в группе без приглашения — пятьдесят семь из ста — против шестидесяти двух из ста шестидесяти в приглашённой, то есть тридцати девяти из ста.</a:t>
            </a:r>
          </a:p>
          <a:p>
            <a:r>
              <a:t/>
            </a:r>
          </a:p>
          <a:p>
            <a:r>
              <a:t>Оговорка, без которой второе число нельзя употреблять. Испытание шло почти полвека назад: другой прибор, другое лечение, другая эпоха. Это измерение режима, а не свойств аппаратуры, и переносить его на сегодняшнюю технику нельзя. Складывать его с числами шведской программы тоже нельзя: две разные программы и две разные эпохи, и вместе они дают только одно — две стороны цены, назначенные до всякой модели. Сегодня такое сравнение не поставить вовсе, потому что программу не отменяют ради замера. Воспроизведение: по направлению эффекта — многократно, разными программами разных стран; по величине — нет, и от эпохи величина зависит сильно.</a:t>
            </a:r>
          </a:p>
          <a:p>
            <a:r>
              <a:t/>
            </a:r>
          </a:p>
          <a:p>
            <a:r>
              <a:t>Главное, что стоит унести с этого кадра: обе цены и оба режима назначены и посчитаны до всякой модели и без всякой модели. Когда дальше кто-то скажет «система снижает число пропусков на столько-то процентов», первый вопрос будет не про проценты, а про то, какую из двух цен эта система должна была уменьшать, кто это решил и с каким именно «раньше» её сравнили.</a:t>
            </a:r>
          </a:p>
          <a:p>
            <a:r>
              <a:t/>
            </a:r>
          </a:p>
          <a:p>
            <a:r>
              <a:t>Та женщина, которой пришло письмо, попала под первый режим целиком. В решении позвать её нет ни одного её собственного признака: ни жалобы, ни находки, ни наследственности — только год рождения и интервал, записанные в документе. Это стоит произнести вслух, потому что дальше лекция будет считать, что с её случаем делает модель, а первое решение о ней принято без неё и до всякой модели. Порог — тоже решение, и подпись под ним стоит у организатора программы, а не у читателя снимка.</a:t>
            </a:r>
          </a:p>
          <a:p>
            <a:r>
              <a:t/>
            </a:r>
          </a:p>
          <a:p>
            <a:r>
              <a:t>Две оговорки, снятые с кадра, но обязательные к произнесению. Первая: два числа режимов взяты с разных программ и разных эпох — вместе они дают не сумму, а две стороны цены, назначенной до всякой модели. Вторая: доля поздних стадий среди найденных не зависит от того, сколько случаев нашли, — только от того, когда их нашли; поэтому она и годится для сравнения двух порядков работы, тогда как «сколько нашли» сравнивало бы заодно охват, мощность программы и численность групп.</a:t>
            </a:r>
          </a:p>
          <a:p>
            <a:r>
              <a:t/>
            </a:r>
          </a:p>
          <a:p>
            <a:r>
              <a:t>О чём спросить поставщика прямо на этом кадре: он сравнивает «с тем, как было раньше» — спрашивайте, какое именно «раньше» он посчитал.</a:t>
            </a:r>
          </a:p>
          <a:p>
            <a:r>
              <a:t/>
            </a:r>
          </a:p>
          <a:p>
            <a:r>
              <a:t>Единицы плашек названы полностью: ложный вызов — два человека из ста обследованных, повторно вызванные в контрольном плече шведской программы, где снимок читали двое людей без всякой модели и наблюдение шло два года. Поздние стадии — доля стадии II и выше среди найденных случаев в Мальмёском испытании, которое распределяло приглашение случайно.</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Шведская программа поставила испытание со случайным распределением: одно плечо читало снимки по-прежнему — двое людей с арбитражем на расхождении, — во втором модель ставила снимку оценку риска по десятибалльной шкале и по ней рассортировала поток: при оценке от одного до девяти второе независимое чтение не выполняется вовсе, при десяти остаётся двойное. Первое чтение осталось человеческим: радиолог читает случай сам и выдаёт своё заключение, мимо него не проходит ни одно исследование, — а второго независимого заключения большинство обследованных уже не получает. Исходы написаны заранее. Вторым читателем модель при этом не работала, и назвать это надо точно: шаг второго чтения для большинства потока снят — отсюда и падение объёма на 44,3 процента, а не вдвое.</a:t>
            </a:r>
          </a:p>
          <a:p>
            <a:r>
              <a:t/>
            </a:r>
          </a:p>
          <a:p>
            <a:r>
              <a:t>Публикаций у программы две, и выборки у них разные: промежуточный анализ безопасности на восьмидесяти тысячах распределённых женщин и итоговый на ста шести тысячах. Числа из них в один список складывать нельзя: объём человеческого чтения принадлежит промежуточному анализу, а пара 74 и 81 из ста женщин с раком — итоговому. Доля не напуганных здоровых в обоих плечах одинакова, 98,5 из ста. И третья пара, которая на кадре не стоит: найдено 6,1 против 5,1 на тысячу обследованных в промежуточном анализе, p равно нулю целым пятидесяти двум тысячным, то есть значимости не достигла, — поэтому на экран её не вынесли, а произносится она с этой оговоркой. Поставленное под чужую выборку число становится другим утверждением.</a:t>
            </a:r>
          </a:p>
          <a:p>
            <a:r>
              <a:t/>
            </a:r>
          </a:p>
          <a:p>
            <a:r>
              <a:t>Ответ этого разбора на вопрос раздела: большинство обследованных второго независимого человека больше не получает. Двойное чтение как механизм несовпадения ошибок заменено одним человеческим чтением поверх модели плюс арбитраж — и цена лежит здесь, в устройстве процедуры, а не в точности прибора. И стадия здесь по-прежнему своя: модель не ставит диагноз и не читает за человека, она решает, кого прочтут дважды, — то есть отбирает, как и вся эта стадия.</a:t>
            </a:r>
          </a:p>
          <a:p>
            <a:r>
              <a:t/>
            </a:r>
          </a:p>
          <a:p>
            <a:r>
              <a:t>Германская программа стоит для контраста, и доверия ей меньше, чем шведской: это наблюдательное внедрение, применять модель каждый радиолог решал сам, распределения по группам не было. Поэтому направление подтверждено, а величину приписывать модели нельзя. Устройство работы опубликовано — двойное чтение с поддержкой модели против обычного двойного чтения, то есть второго читателя в Германии не заменяли. Отсюда вывод, которого одно внедрение дать не может: фраза «внедрили модель в скрининг» означает две разные процедуры, и вопрос «выросло ли выявление» ни о чём не говорит, пока не назван порядок работы, внутри которого оно выросло.</a:t>
            </a:r>
          </a:p>
          <a:p>
            <a:r>
              <a:t/>
            </a:r>
          </a:p>
          <a:p>
            <a:r>
              <a:t>А вот где охват сообщают, а устройство работы — нет: отечественная платформа лучевой диагностики. Больше шестнадцати миллионов исследований в семидесяти пяти регионах, методика подсчёта не раскрыта; сколько всего лучевых исследований делается в стране за год, не опубликовано — значит доля охвата не вычисляется. Независимого протокола сравнения с врачом без модели в открытом доступе нет. Это утверждение об одном источнике, и на скрининговые программы оно не распространяется.</a:t>
            </a:r>
          </a:p>
          <a:p>
            <a:r>
              <a:t/>
            </a:r>
          </a:p>
          <a:p>
            <a:r>
              <a:t>Устройство системы названо на кадре ровно в том объёме, в каком его называют публикации: на вход идёт цифровая маммограмма, на выходе — оценка риска и место исследования в очереди чтения. На чём система обучена, не публикует ни одна из трёх программ, и собственного имени у неё в этих работах тоже нет — сказано «коммерчески доступная система». Режим занимают Transpara, Lunit INSIGHT MMG и iCAD ProFound; какая именно стояла в шведской программе, из опубликованного не следует, и подставлять имя по догадке нельзя. Это стоит произнести вслух: разбор, который нельзя перепроверить по имени изделия, проверяется только по устройству процедуры — и именно поэтому процедура здесь и разбирается.</a:t>
            </a:r>
          </a:p>
          <a:p>
            <a:r>
              <a:t/>
            </a:r>
          </a:p>
          <a:p>
            <a:r>
              <a:t>Уровни значимости с кадра сняты, и назвать их надо здесь, иначе они потеряются вовсе. Пара 74 и 81 из ста: чувствительность 80,5 процента при интервале от 76,4 до 84,2 против 73,8 при интервале от 68,9 до 78,3, уровень значимости 0,031 — различие устойчиво. Пара 5,1 и 6,1 на тысячу: отношение частот 1,2 при интервале от 1,0 до 1,5, уровень 0,052 — значимости не достигла, и нижняя граница интервала упирается в единицу. Разница между этими двумя парами и есть то, ради чего они стоят рядом.</a:t>
            </a:r>
          </a:p>
          <a:p>
            <a:r>
              <a:t/>
            </a:r>
          </a:p>
          <a:p>
            <a:r>
              <a:t>Два числа кадра стоят на разных выборках, и складывать их в один список нельзя: объём человеческого чтения принадлежит промежуточному анализу безопасности, пара 74 и 81 из ста женщин с раком — итоговому. Поставленное под чужую выборку число становится другим утверждением. На чём обучена система, не публикует ни одна из трёх программ, и какая именно из названных стояла в шведской — из опубликованного не следует; подставлять имя по догадке нельзя.</a:t>
            </a:r>
          </a:p>
          <a:p>
            <a:r>
              <a:t/>
            </a:r>
          </a:p>
          <a:p>
            <a:r>
              <a:t>**Источники.** </a:t>
            </a:r>
            <a:r>
              <a:rPr u="sng">
                <a:solidFill>
                  <a:srgbClr val="065A82"/>
                </a:solidFill>
                <a:hlinkClick r:id="rId3"/>
              </a:rPr>
              <a:t>MASAI, анализ безопасности, Lancet Oncology 2023</a:t>
            </a:r>
            <a:r>
              <a:t> · </a:t>
            </a:r>
            <a:r>
              <a:rPr u="sng">
                <a:solidFill>
                  <a:srgbClr val="065A82"/>
                </a:solidFill>
                <a:hlinkClick r:id="rId4"/>
              </a:rPr>
              <a:t>MASAI, итоговый анализ, The Lancet 2026</a:t>
            </a:r>
            <a:r>
              <a:t> · </a:t>
            </a:r>
            <a:r>
              <a:rPr u="sng">
                <a:solidFill>
                  <a:srgbClr val="065A82"/>
                </a:solidFill>
                <a:hlinkClick r:id="rId5"/>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Назову по имени то, что здесь происходит с человеком: это когнитивное искажение. Пятое из шести, предъявленных на входе вечера, и называется оно несогласием. Входной кадр показывал его числами ровно этой британской работы — 3 449 арбитражей без модели против 5 283 с ней на тех же 50 000 женщин.</a:t>
            </a:r>
          </a:p>
          <a:p>
            <a:r>
              <a:t/>
            </a:r>
          </a:p>
          <a:p>
            <a:r>
              <a:t>Шведское испытание, с которого начался этот разбор, измерило, что стало с объёмом и точностью чтения. Это испытание не измерило, что происходит с самим шагом арбитража, который модель не снимает, а меняет по составу, — это сделало отдельное британское исследование, не шведское, и путать два испытания нельзя.</a:t>
            </a:r>
          </a:p>
          <a:p>
            <a:r>
              <a:t/>
            </a:r>
          </a:p>
          <a:p>
            <a:r>
              <a:t>Два центра Национальной службы здравоохранения Англии, 50 000 женщин, модель вторым читателем. Без модели на арбитраж уходило 3,9 процента чтений в одном центре и 11,3 процента в другом; с моделью вторым читателем — 9,4 процента и 13,8 процента: рост на 142 процента в первом центре и на 22 процента во втором. Разброс между центрами — не шум измерения, а разница протокола: первый центр разбирает на арбитраже только случаи расхождения по отзыву, второй — все случаи отзыва вообще, и этот выбор протокола определяет итоговую нагрузку не меньше, чем сама модель. Отдельное норвежское измерение на 441 276 случаях посчитало это в секундах: одно первичное чтение маммограммы занимает в среднем 48 секунд (медиана 25), а разбор одного расхождения на арбитраже — 2 минуты 12 секунд (медиана 1 минута 55 секунд). Один арбитраж по времени равен примерно пяти первичным чтениям. Это прямой ответ на вопрос «что делает человек после модели»: не просматривает подсказку мимоходом, а выполняет операцию, которая по времени стоит как пять обычных.</a:t>
            </a:r>
          </a:p>
          <a:p>
            <a:r>
              <a:t/>
            </a:r>
          </a:p>
          <a:p>
            <a:r>
              <a:t>У этого нового шага — измеренная асимметрия доверия, и она разворачивает привычный сюжет. Отдельное шведское рандомизированное предрегистрированное испытание на 54 991 женщине (исследование ScreenTrustCAD) ставило находку любого из трёх независимых чтений — двух радиологов и модели — в один и тот же шаг консенсусного обсуждения и мерило, что происходит с находкой каждого источника. Находка одного радиолога в одиночку уходила в консенсус-разбор в 14,2 процента случаев (263 из 1858) при точности подтверждения 3,4 процента (9 из 263); находка модели в одиночку уходила в разбор лишь в 4,6 процента случаев (86 из 1886) — но её точность подтверждения была 22 процента (19 из 86), то есть более чем в шесть раз выше. Люди систематически перепроверяют находку коллеги чаще, чем находку модели, при том что находка модели оказывается точнее в разы. Это первое прямое измерение именно такой, недостаточной, стороны доверия — весь остальной материал курса о доверии говорит про чрезмерное доверие человека к модели; здесь измерено обратное, у профессионалов, на выборке почти в 55 тысяч женщин. И это не те 80,5 против 73,8 процента, которыми измерена находка рака, — там речь о доле найденного рака среди имевшегося на выборке 105 934 женщин, здесь — о доле находок, уходящих в повторный разбор, на другой выборке 54 991 женщина. Два числа легко спутать именно потому, что оба про «модель и доверие», и разводить их нужно явно.</a:t>
            </a:r>
          </a:p>
          <a:p>
            <a:r>
              <a:t/>
            </a:r>
          </a:p>
          <a:p>
            <a:r>
              <a:t>Германская программа стоит для контраста. Выявление выросло — 6,7 против 5,7 на 1000 у 463 094 обследованных женщин, — но устройство работы здесь другое, и названо оно в первой фразе резюме публикации: сравнивали двойное чтение с поддержкой модели против обычного двойного чтения. Сказать это числом, а не общей фразой: модель заменила ноль процентов человеческих чтений — оба радиолога продолжали читать все случаи без исключения. Авторы той же публикации отдельно пересчитали другой, невнедрённый сценарий: если бы случаи, которые модель отнесла к норме, человек вообще не читал, нагрузка упала бы на 56,7 процента. Эта цифра — не наблюдение, а гипотетический пересчёт на тех же данных, и сами авторы называют его именно так. Конфликт интересов здесь называется прямо, не эвфемизмом: исследование профинансировано производителем системы (Vara), и часть соавторов — его сотрудники. Разрыв между 0 процентов замены (что произошло) и 56,7 процента (что посчитали бы при другом устройстве работы) на одной и той же базе данных — это одновременно инженерная деталь и разбор завышенного заявления, выданного за измерение.</a:t>
            </a:r>
          </a:p>
          <a:p>
            <a:r>
              <a:t/>
            </a:r>
          </a:p>
          <a:p>
            <a:r>
              <a:t>И последнее — честно названный пробел, а не домысленный. Ни для шведской модели (Transpara, разработчик ScreenPoint Medical), ни для германской (Vara) источники не раскрывают ни объём и состав обучающей выборки, ни частоту переобучения после внедрения, ни протокол мониторинга дрейфа на реальном потоке. В обоих случаях это коммерческая модель закрытого вендора, и степень раскрытия здесь ниже, чем у случая глазного дна дальше в этом разделе, где хотя бы порядок величины обучающей выборки и один конкретный регуляторный документ об обновлении нашлись. Разница между «пробел, названный прямо» и «пробел, о который никто не спросил» — та же, которую этот курс уже требует не терять.</a:t>
            </a:r>
          </a:p>
          <a:p>
            <a:r>
              <a:t/>
            </a:r>
          </a:p>
          <a:p>
            <a:r>
              <a:t>**Источники.** </a:t>
            </a:r>
            <a:r>
              <a:rPr u="sng">
                <a:solidFill>
                  <a:srgbClr val="065A82"/>
                </a:solidFill>
                <a:hlinkClick r:id="rId3"/>
              </a:rPr>
              <a:t>Warren и соавт., «Impact of using artificial intelligence as a second reader in breast screening including arbitration», Nature Cancer 2026</a:t>
            </a:r>
            <a:r>
              <a:t> · </a:t>
            </a:r>
            <a:r>
              <a:rPr u="sng">
                <a:solidFill>
                  <a:srgbClr val="065A82"/>
                </a:solidFill>
                <a:hlinkClick r:id="rId4"/>
              </a:rPr>
              <a:t>Hovda, Holen, Hofvind, European Radiology 2026</a:t>
            </a:r>
            <a:r>
              <a:t> · </a:t>
            </a:r>
            <a:r>
              <a:rPr u="sng">
                <a:solidFill>
                  <a:srgbClr val="065A82"/>
                </a:solidFill>
                <a:hlinkClick r:id="rId5"/>
              </a:rPr>
              <a:t>Dembrower, Crippa, Eklund, Strand, «ScreenTrustCAD», Radiology 2025</a:t>
            </a:r>
            <a:r>
              <a:t> · </a:t>
            </a:r>
            <a:r>
              <a:rPr u="sng">
                <a:solidFill>
                  <a:srgbClr val="065A82"/>
                </a:solidFill>
                <a:hlinkClick r:id="rId6"/>
              </a:rPr>
              <a:t>Eisemann и соавт., PRAIM, Nature Medicine 2025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в сортировке обращений: пропустить того, кому помощь нужна сейчас, — цена в исходе; занять приём тем, кому он не нужен, — цена во времени врача и в чьём-то отложенном визите. Третья цена, которую обычно не считают вовсе: сортировка стоит денег тому, кто её содержит, и устройство оплаты решает, выживет ли она.</a:t>
            </a:r>
          </a:p>
          <a:p>
            <a:r>
              <a:t/>
            </a:r>
          </a:p>
          <a:p>
            <a:r>
              <a:t>Что предъявили. В июне 2018 года публично заявили, что приложение набрало восемьдесят один процент против семидесяти двух на экзаменационных вопросах для начинающих врачей — против среднего результата живых врачей. Коллегия врачей общей практики публично назвала эти заявления сомнительными.</a:t>
            </a:r>
          </a:p>
          <a:p>
            <a:r>
              <a:t/>
            </a:r>
          </a:p>
          <a:p>
            <a:r>
              <a:t>Изделие и сервис называются своими именами: приложение — Babylon, сервис первой линии на его основе — «GP at Hand». На вход подавалась жалоба свободным текстом, на выходе был маршрут «куда вам сейчас». А вот на чём обучено — неизвестно, и неизвестность эта содержательная. О внутреннем устройстве говорили двое, и это разные люди с разным правом голоса — свести их в одно «он же» значит ошибиться в том самом, чему учит этот раздел. Хью Харви работал в компании в 2016–2017 годах главой регуляторных вопросов по клиническому ИИ: по его публичному заявлению, обучать было нечего, внутри стояло дерево решений «если — то» в обычной таблице. Дэвид Уоткинс — врач общей практики, в компании никогда не работавший: он с февраля 2017 года документировал пропуски и писал о них регулятору, доведя претензии до «критического» уровня к 2018-му. Первое — слова человека изнутри про устройство; второе — письма человека снаружи про поведение системы. Ни то, ни другое не проверка, и выдать любое за установленный факт значило бы сделать то, за что случай и разбирают. Порознь они разбираются дальше, вместе с тем, что опубликовала сама компания.</a:t>
            </a:r>
          </a:p>
          <a:p>
            <a:r>
              <a:t/>
            </a:r>
          </a:p>
          <a:p>
            <a:r>
              <a:t>Слова участника — не последнее, что нашлось об устройстве бота: у самой компании есть собственная техническая публикация, и верить ей можно иначе — её я разбираю отдельно, чтобы два разных свидетельства не слиплись в один факт. Масштаб пилота для контекста: с национальной службой здравоохранения он начался в январе 2017 года и был доступен примерно 1,2 миллиона жителей северного Лондона; один случай в чате занимал около двух минут.</a:t>
            </a:r>
          </a:p>
          <a:p>
            <a:r>
              <a:t/>
            </a:r>
          </a:p>
          <a:p>
            <a:r>
              <a:t>Почему экзаменационная метрика не читается как основание. Вопрос экзамена приходит сформулированным и содержит нужные признаки. Живое обращение приходит без формулировки: человек говорит «мне плохо», а «загрудинная боль с иррадиацией в левую руку» он не произносит. Экзаменационная метрика измеряет работу с готовой формулировкой — ровно ту часть задачи, которой в открытом потоке нет. И правильное сравнение существовало и было проигнорировано: за год до демонстрации независимое сопоставление трёх приложений на тех же задачах поставило это приложение на последнее место — типовые болезни оно распознавало хуже всех.</a:t>
            </a:r>
          </a:p>
          <a:p>
            <a:r>
              <a:t/>
            </a:r>
          </a:p>
          <a:p>
            <a:r>
              <a:t>Теперь вторая половина случая — цена, и классический режим здесь посчитан в деньгах. Практика получает от национальной службы около ста пятидесяти пяти фунтов на зарегистрированного человека в год, и эта сумма не зависит от числа обращений. Классическая частота обращений — четыре раза в год у людей от двадцати пяти до сорока четырёх и три с четвертью у людей от пятнадцати до двадцати четырёх. База выбрана эта, а не среднее по стране: больше восьмидесяти процентов списка сервиса были младше сорока, и среднее разницу бы занизило. В сервисе обращений стало четыре и три десятых на человека в год.</a:t>
            </a:r>
          </a:p>
          <a:p>
            <a:r>
              <a:t/>
            </a:r>
          </a:p>
          <a:p>
            <a:r>
              <a:t>Дальше арифметика проводится делением, и в ней вся соль. Сверху — фиксированная сумма за человека в год. Снизу — выросшее число обращений. Каждое следующее обращение бесплатно для пациента и оплачивается тем же платежом, поделённым на большее число обращений. Нагрузка переехала с сортировки на приём, и платить за это стало некому. Двигатель переезда стоит назвать отдельно: доступность канала, а не качество модели. Вход стал мгновенным и бесплатным, и обращений стало больше.</a:t>
            </a:r>
          </a:p>
          <a:p>
            <a:r>
              <a:t/>
            </a:r>
          </a:p>
          <a:p>
            <a:r>
              <a:t>Что получили и чего это потребовало. Получили круглосуточную сортировку и низкий порог обращения. Потребовало: экономику в минус на каждом пациенте, более десяти миллионов фунтов дополнительных расходов заказчика услуги за год при списке около сорока девяти тысяч человек и задокументированный случай, когда симптомы, похожие на инфаркт, не были распознаны. В сумме: оценка на выходе через слияние — четыре с лишним миллиарда долларов, банкротство в августе 2023 года, активы проданы за пятьсот тысяч фунтов.</a:t>
            </a:r>
          </a:p>
          <a:p>
            <a:r>
              <a:t/>
            </a:r>
          </a:p>
          <a:p>
            <a:r>
              <a:t>Оговорки к числам кадра. Возрасты взяты не средние по стране — причина названа выше. Частота обращений в сервисе — оценка независимого отчёта по двенадцати месяцам данных, причём личные обращения посчитаны по единственному месяцу, который дали посчитать; это оценка с продолжением тренда, и отчёт сам это пишет. Последняя плашка несёт две разные величины в разных валютах, а не одну в двух точках времени, и стрелки между ними нет именно поэтому: оценка компании считалась в долларах при слиянии, выручка от продажи активов — в фунтах при банкротстве, и в части сообщений та же сумма названа как 620 тысяч долларов.</a:t>
            </a:r>
          </a:p>
          <a:p>
            <a:r>
              <a:t/>
            </a:r>
          </a:p>
          <a:p>
            <a:r>
              <a:t>Чего эти числа не доказывают: был ли рост обращений непокрытой потребностью или спросом, который создал сам сервис, — отчёт честно говорит, что не знает. Плохо ли сортировало само дерево решений, данных тоже нет: здесь измерена перестройка экономики канала, а не качество сортировки.</a:t>
            </a:r>
          </a:p>
          <a:p>
            <a:r>
              <a:t/>
            </a:r>
          </a:p>
          <a:p>
            <a:r>
              <a:t>Случай всё равно взят: это провал условия, и цена заявления о модели там, где модели не было, — его содержание. Урок — проверяемый критерий: демонстрационная метрика не служит основанием для допуска в открытый поток, и спрашивать надо, на каком материале она получена.</a:t>
            </a:r>
          </a:p>
          <a:p>
            <a:r>
              <a:t/>
            </a:r>
          </a:p>
          <a:p>
            <a:r>
              <a:t>Редкое от частого в открытом потоке этот режим не отличает. Запись приёма под диктовку в нём принимается — её разбирает раздел о ведении документации; сортировка обращения после этого случая — нет.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 том, как бот устроен внутри, говорили трое, и первое, что надо сделать, — развести их. Хью Харви работал в компании главой регуляторных вопросов по клиническому ИИ в 2016–2017 годах; его публичное заявление — что внутри «ИИ-алгоритма» стояло дерево решений «если — то» в обычной таблице — это слова человека изнутри о внутреннем устройстве. Дэвид Уоткинс в компании не работал никогда: врач общей практики, он с февраля 2017 года документировал пропуски распознавания и направлял их регулятору, доведя претензии до «критического» уровня к 2018 году — это свидетельство со стороны и о поведении системы, а не о её внутренностях. Свести их в одно «он же» — ошибка атрибуции, и она дважды стояла в черновиках этой самой главы; раздел, который учит спрашивать, откуда взялось утверждение, обязан быть точен в том, кто его сделал. Третье свидетельство — собственная техническая публикация компании 2016 года, и верить ей можно иначе: не независимая проверка, но и не пересказ одного человека. У самой компании есть собственная техническая публикация 2016 года, и верить ей можно иначе: это не независимая проверка, но и не пересказ одного бывшего сотрудника, а то, что компания сама опубликовала о своей архитектуре. Путать эти два свидетельства нельзя: дерево решений «если — то» — слова участника; то, что описано ниже, — опубликованная архитектура.</a:t>
            </a:r>
          </a:p>
          <a:p>
            <a:r>
              <a:t/>
            </a:r>
          </a:p>
          <a:p>
            <a:r>
              <a:t>Публикация описывает систему как вероятностную графовую модель первичной медицинской помощи: направленный ациклический граф, в котором заболевания и симптомы связаны априорными вероятностями и условными зависимостями. Структуру графа — какие узлы с какими связаны — строят и проверяют врачи-эксперты, а не инженеры-одиночки. Это уже не дерево решений «если — то» в таблице, о котором говорил участник; это вероятностная модель с собственной структурой.</a:t>
            </a:r>
          </a:p>
          <a:p>
            <a:r>
              <a:t/>
            </a:r>
          </a:p>
          <a:p>
            <a:r>
              <a:t>Но поверх вероятностной части стоит отдельный механизм, и его нельзя путать с самим графом. Для определённого списка «красных флагов» — заданных сочетаний симптомов — триаж-решение не выводится вероятностным рассуждением вовсе, а принудительно задаётся правилом: такое сочетание ведёт прямо к «вызвать скорую» независимо от того, что в этот момент показывает вероятностная часть. И отдельно от обеих частей публикация называет нейросеть, но её роль там одна: она ускоряет вычисление по вероятностной модели, а не заменяет его и не принимает решение сама. Из трёх компонентов — граф, жёсткие правила, нейросеть — обученная модель, принимающая решение, не стоит ни в одном.</a:t>
            </a:r>
          </a:p>
          <a:p>
            <a:r>
              <a:t/>
            </a:r>
          </a:p>
          <a:p>
            <a:r>
              <a:t>Отсюда прямой вывод, и он стоит утверждением, а не оговоркой о нехватке материала: системного дизайна обученной модели, принимающей решение, — того, что требует от инженерного случая любой другой разбор этой лекции, — здесь не было вовсе. Это не пробел поиска: это и есть честный ответ на вопрос «как устроена инженерия» для этого случая.</a:t>
            </a:r>
          </a:p>
          <a:p>
            <a:r>
              <a:t/>
            </a:r>
          </a:p>
          <a:p>
            <a:r>
              <a:t>На выходе система выдавала не бинарное «да/нет», а один из шести взаимоисключающих вариантов: вызов скорой, обращение в неотложную помощь, срочный визит к врачу, визит без срочности, обращение в аптеку, самопомощь. Шесть исходов, а не два, — и это тоже часть устройства, не деталь оформления: чем больше различимых исходов на выходе, тем больше точек, в которых правило или граф может ошибиться по-разному.</a:t>
            </a:r>
          </a:p>
          <a:p>
            <a:r>
              <a:t/>
            </a:r>
          </a:p>
          <a:p>
            <a:r>
              <a:t>Контур обратной связи — кто и как часто переписывает правила графа, что происходит конкретно после зафиксированной ошибки — не описан как процесс ни в одном найденном источнике, включая саму эту публикацию компании. Там стоит только общая фраза про «итеративное экспертное ревью»: без частоты, без привязки к конкретным зафиксированным случаям, без ответа на вопрос, обновили ли правило именно после пропущенного инфаркта, о котором шла речь на предыдущем кадре, и если да — как быстро. Разница между «пробел, названный прямо» и «пробел, о который никто не спросил» — та же, которую этот курс уже требует не терять: пустое место, которое не назвали, читатель не отличит от пустого места, которое не искали.</a:t>
            </a:r>
          </a:p>
          <a:p>
            <a:r>
              <a:t/>
            </a:r>
          </a:p>
          <a:p>
            <a:r>
              <a:t>Доверия к разным звеньям этого разбора разное количество, и это стоит сказать явно, раз источники у них тоже разные. Подушевая сумма и частота обращений, которыми посчитана цена, — официальная статистика и независимый отчёт об оценке: им верить можно. Экзаменационное сравнение и независимый тест годом раньше взяты из пересказов, первичные публикации не открыты. Заявление про дерево решений — слова участника, и это самое слабое из перечисленного. Архитектура графа и правил — собственная техническая публикация компании: весомее слов одного участника, но слабее независимой проверки, потому что компания описывает свою же систему. Факты банкротства и суммы сделки, которыми разбор заканчивается, — открытые документы и деловая пресса.</a:t>
            </a:r>
          </a:p>
          <a:p>
            <a:r>
              <a:t/>
            </a:r>
          </a:p>
          <a:p>
            <a:r>
              <a:t>**Источники.** </a:t>
            </a:r>
            <a:r>
              <a:rPr u="sng">
                <a:solidFill>
                  <a:srgbClr val="065A82"/>
                </a:solidFill>
                <a:hlinkClick r:id="rId3"/>
              </a:rPr>
              <a:t>Middleton и соавт., «Sorting out symptoms», arXiv:1606.02041, 2016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до всякой точности. Пропустить поражение глазного дна у человека с диабетом — значит дойти до потери зрения: до поздних стадий оно бессимптомно, человек ничего не чувствует и потому не приходит. Лишнее направление стоит визита к специалисту, которого в районе может не быть. И третья величина, решающая всё: теряют на неявке. Тест, до которого человек не дошёл, имеет нулевую чувствительность, какой бы она ни была в лаборатории.</a:t>
            </a:r>
          </a:p>
          <a:p>
            <a:r>
              <a:t/>
            </a:r>
          </a:p>
          <a:p>
            <a:r>
              <a:t>Оба классических режима посчитаны в одной единице — в явке. Первый: раз в год человек с диабетом идёт к офтальмологу, тот сам снимает и читает; до теста доходят двадцать два человека из ста. Отдельный визит к отдельному специалисту в отдельный день, часто в другом городе, притом что человек ничего не чувствует, — режим теряет людей по дороге. Второй режим называть неприятно, и распространён он шире: не обследовать вовсе. Явка у него ноль, и получена она определением, а не измерением. Так устроено наблюдение там, где офтальмолога в районе нет.</a:t>
            </a:r>
          </a:p>
          <a:p>
            <a:r>
              <a:t/>
            </a:r>
          </a:p>
          <a:p>
            <a:r>
              <a:t>Модель против этих режимов. Снимок делает медсестра или техник первичного звена, решение «направить или нет» выдаётся на месте меньше чем за минуту, без офтальмолога — доходят сто из ста. База: испытание со случайным распределением, подростки от восьми до двадцати одного года с диабетом, восемьдесят один человек против восьмидесяти трёх, один прибор. Чувствительность прибора здесь не произносится: распространённости поражения в этих выборках в источниках нет, а точность без группы и распространённости не читается.</a:t>
            </a:r>
          </a:p>
          <a:p>
            <a:r>
              <a:t/>
            </a:r>
          </a:p>
          <a:p>
            <a:r>
              <a:t>Второй шаг того же пути посчитан внутри того же испытания: из двадцати пяти человек, у кого результат оказался отклонением, до офтальмолога дошли шестнадцать — шестьдесят четыре из ста против двадцати двух в контроле. Критерий, который разбор оставляет: автономия переносит ответственность, но не отменяет работу — перекладывает её на другой шаг и другого человека. Если этот шаг не посчитали, внедрение считается дешевле, чем есть.</a:t>
            </a:r>
          </a:p>
          <a:p>
            <a:r>
              <a:t/>
            </a:r>
          </a:p>
          <a:p>
            <a:r>
              <a:t>Про устройство прибора стоит сказать и то, что известно, и то, что нет. Вход — два снимка глазного дна, снятые медсестрой или техником в кабинете первичного звена; выход — метка «направить или нет», выданная на месте меньше чем за минуту; обучена система на порядка 25 000 полных обследований (University of Iowa и проект EyeCheck) — первоисточник этого числа полным текстом не вскрылся, и точнее, чем «порядка», оно здесь не утверждается. Имени прибора, который работал в этом испытании, публикация не называет. Имена у режима есть, и они проверяемы: первое в истории разрешение на автономную диагностику без интерпретации врачом выдано в 2018 году системе IDx-DR, которая сегодня называется LumineticsCore; ретроспективный поток на сто одну тысячу визитов, о котором речь дальше, снят на приборе EyeArt.</a:t>
            </a:r>
          </a:p>
          <a:p>
            <a:r>
              <a:t/>
            </a:r>
          </a:p>
          <a:p>
            <a:r>
              <a:t>Второй классический режим называть неприятно, и распространён он шире первого: не обследовать вовсе. Явка у него ноль, и получена она определением, а не измерением. Так устроено наблюдение там, где офтальмолога в районе нет. На кадре он не стоит, но произносится обязательно — иначе выигрыш в явке читается только против визита к специалисту, а он получен и против ничего.</a:t>
            </a:r>
          </a:p>
          <a:p>
            <a:r>
              <a:t/>
            </a:r>
          </a:p>
          <a:p>
            <a:r>
              <a:t>Чувствительность прибора здесь не произносится намеренно: распространённости поражения в этих выборках в источниках нет, а точность без группы и распространённости не читается. Критерий, который разбор оставляет: автономия переносит ответственность, но не отменяет работу — перекладывает её на другой шаг и другого человека. Если этот шаг не посчитали, внедрение считается дешевле, чем есть.</a:t>
            </a:r>
          </a:p>
          <a:p>
            <a:r>
              <a:t/>
            </a:r>
          </a:p>
          <a:p>
            <a:r>
              <a:t>Порядка 25 000 — осторожная оценка, не точное число: первоисточник не вскрылся полным текстом, и выдавать её за более точную в пересказе нельзя. На кадре этой строки нет, но произносится она обязательно: разбор, в котором обучающая выборка названа лишь порядком величины, обязан сказать это прямо, а не округлить до определённости, которой не было.</a:t>
            </a:r>
          </a:p>
          <a:p>
            <a:r>
              <a:t/>
            </a:r>
          </a:p>
          <a:p>
            <a:r>
              <a:t>**Источники.** </a:t>
            </a:r>
            <a:r>
              <a:rPr u="sng">
                <a:solidFill>
                  <a:srgbClr val="065A82"/>
                </a:solidFill>
                <a:hlinkClick r:id="rId3"/>
              </a:rPr>
              <a:t>Wolf и соавт., Nature Communications 2024</a:t>
            </a:r>
          </a:p>
          <a:p>
            <a:r>
              <a:t/>
            </a:r>
          </a:p>
          <a:p>
            <a:r>
              <a:t>Ведущая форма изменения здесь — сменился исполнитель. Решение «направить или нет» перешло от офтальмолога к допущенному регулятором устройству целиком, и вместе с решением сместилась ответственность за пропуск: прежде она лежала на решении врача, теперь — на изделии. Это единственный случай всей лекции, где исполнитель сменился по документу: первое разрешение на автономную диагностику без интерпретации врачом выдано в 2018 году. Производная форма — появился шаг, которого не было: добиться годного снимка. У офтальмолога такой операции не существовало, потому что условия съёмки он компенсировал сам, на месте.</a:t>
            </a:r>
          </a:p>
          <a:p>
            <a:r>
              <a:t/>
            </a:r>
          </a:p>
          <a:p>
            <a:r>
              <a:t>Сколько стоит этот новый шаг, измерено — но на другом материале, и это надо называть вслух. На зрелом потоке у прибора другого производителя и у взрослых пациентов пять процентов снимков негодны по качеству: счёт идёт на сто одну тысячу визитов в четырёхстах с лишним клиниках, и семьдесят пять с лишним процентов потока специалист не видит вовсе. С явкой двадцать два против ста эти числа в одну бухгалтерию не складываются: две разные программы, два разных прибора, две разные возрастные группы. Сложить их в одну пару «дало — потребовало» означало бы ровно ту склейку выборок, которую эта лекция разбирает.</a:t>
            </a:r>
          </a:p>
          <a:p>
            <a:r>
              <a:t/>
            </a:r>
          </a:p>
          <a:p>
            <a:r>
              <a:t>Что стало с офтальмологом. Он видит примерно пятую часть потока, и это та часть, которую отобрала модель. Прежде именно специалист решал, что нормально; теперь нормальное к нему не приходит — и проверить, что оно действительно было нормальным, он не может. Это и есть переезд, названный точно: работа не исчезла, она перешла к другому исполнителю, а вместе с ней перешла и возможность её проверить.</a:t>
            </a:r>
          </a:p>
          <a:p>
            <a:r>
              <a:t/>
            </a:r>
          </a:p>
          <a:p>
            <a:r>
              <a:t>Чем этот случай отличается от шведского скрининга, где тоже «внедрили модель»: там модель распределяла снимки, а заключение оставалось за человеком — сменился порядок работы. Здесь заключение выдаёт устройство — сменился исполнитель. Одними словами эти два внедрения описывать нельзя, хотя описывают.</a:t>
            </a:r>
          </a:p>
          <a:p>
            <a:r>
              <a:t/>
            </a:r>
          </a:p>
          <a:p>
            <a:r>
              <a:t>Критерий, который этот разбор оставляет и который переносится дальше: автономия переносит ответственность и не отменяет работу — она перекладывает её на другой шаг и на другого человека. Если этот шаг не посчитали, внедрение считается дешевле, чем оно есть. Здесь его посчитали, и потому разбор годен: до специалиста доведены 64 процента, а не сто.</a:t>
            </a:r>
          </a:p>
          <a:p>
            <a:r>
              <a:t/>
            </a:r>
          </a:p>
          <a:p>
            <a:r>
              <a:t>Скажу целиком, насколько этому можно верить, чтобы выигрыш не прозвучал крупнее, чем он измерен: распределение по группам случайное — сильнее этого свидетельства не бывает, — но выборка мала, один прибор и узкая возрастная группа. Воспроизведения нет ни одного.</a:t>
            </a:r>
          </a:p>
          <a:p>
            <a:r>
              <a:t/>
            </a:r>
          </a:p>
          <a:p>
            <a:r>
              <a:t>Почему три числа отказного потока нельзя сложить с явкой в одну пару «дало — потребовало»: это две разные программы, два разных прибора и две разные возрастные группы. Сложить их означало бы ровно ту склейку выборок, которую эта лекция разбирает. Поэтому отказной поток стоит на кадре отдельным блоком с явной оговоркой, а не внутри счёта выигрыша.</a:t>
            </a:r>
          </a:p>
          <a:p>
            <a:r>
              <a:t/>
            </a:r>
          </a:p>
          <a:p>
            <a:r>
              <a:t>Про единицу отказного потока: пять снимков из ста негодны по качеству — это зрелый поток у прибора другого производителя и у взрослых пациентов, тогда как явка 22 против 100 измерена на подростках и другим прибором. Поэтому числа и стоят отдельным блоком с оговоркой. И про семьдесят пять процентов: именно столько потока специалист не видит вовсе — это и есть переезд решения, названный в единицах работы, а не в словах.</a:t>
            </a:r>
          </a:p>
          <a:p>
            <a:r>
              <a:t/>
            </a:r>
          </a:p>
          <a:p>
            <a:r>
              <a:t>**Источники.** </a:t>
            </a:r>
            <a:r>
              <a:rPr u="sng">
                <a:solidFill>
                  <a:srgbClr val="065A82"/>
                </a:solidFill>
                <a:hlinkClick r:id="rId4"/>
              </a:rPr>
              <a:t>решение регулятора США DEN180001, 2018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Ведущая форма изменения здесь — сменился исполнитель. Решение «направить или нет» перешло от офтальмолога к допущенному регулятором устройству целиком, и вместе с решением сместилась ответственность за пропуск: прежде она лежала на решении врача, теперь — на изделии. Это единственный случай всей лекции, где исполнитель сменился по документу: первое разрешение на автономную диагностику без интерпретации врачом выдано в 2018 году. Производная форма — появился шаг, которого не было: добиться годного снимка. У офтальмолога такой операции не существовало, потому что условия съёмки он компенсировал сам, на месте.</a:t>
            </a:r>
          </a:p>
          <a:p>
            <a:r>
              <a:t/>
            </a:r>
          </a:p>
          <a:p>
            <a:r>
              <a:t>Сколько стоит этот новый шаг, измерено — но на другом материале, и это надо называть вслух. На зрелом потоке у прибора другого производителя и у взрослых пациентов девять десятых процента снимков негодны по качеству — девятьсот десять из ста одной тысячи семисот десяти визитов, прошедших валидацию, в четырёхстах с лишним клиниках, и семьдесят пять с лишним процентов потока специалист не видит вовсе. С явкой двадцать два против ста эти числа в одну бухгалтерию не складываются: две разные программы, два разных прибора, две разные возрастные группы. Сложить их в одну пару «дало — потребовало» означало бы ровно ту склейку выборок, которую эта лекция разбирает. Поэтому отказной поток и стоит отдельным кадром с явной оговоркой, а не внутри счёта выигрыша.</a:t>
            </a:r>
          </a:p>
          <a:p>
            <a:r>
              <a:t/>
            </a:r>
          </a:p>
          <a:p>
            <a:r>
              <a:t>Что стало с офтальмологом. Он видит примерно пятую часть потока, и это та часть, которую отобрала модель. Прежде именно специалист решал, что нормально; теперь нормальное к нему не приходит — и проверить, что оно действительно было нормальным, он не может. Это и есть переезд, названный точно: работа не исчезла, она перешла к другому исполнителю, а вместе с ней перешла и возможность её проверить. Семьдесят пять процентов — это и есть размер переезда, названный в единицах работы, а не в словах.</a:t>
            </a:r>
          </a:p>
          <a:p>
            <a:r>
              <a:t/>
            </a:r>
          </a:p>
          <a:p>
            <a:r>
              <a:t>Про единицу отказного потока стоит сказать отдельно, потому что её легко прочесть крупнее, чем она есть. Пять снимков из ста негодны по качеству — это зрелый поток, прибор другого производителя и взрослые пациенты, тогда как явка двадцать два против ста измерена на подростках и другим прибором. Числа верны оба; неверно было бы поставить их в один счёт.</a:t>
            </a:r>
          </a:p>
          <a:p>
            <a:r>
              <a:t/>
            </a:r>
          </a:p>
          <a:p>
            <a:r>
              <a:t>Чем этот случай отличается от шведского скрининга, где тоже «внедрили модель»: там модель делила поток, а заключение по каждому исследованию оставалось за человеком — сменился порядок работы. Здесь заключение выдаёт устройство — сменился исполнитель. Одними словами эти два внедрения описывать нельзя, хотя описывают.</a:t>
            </a:r>
          </a:p>
          <a:p>
            <a:r>
              <a:t/>
            </a:r>
          </a:p>
          <a:p>
            <a:r>
              <a:t>Критерий, который этот разбор оставляет и который переносится дальше: автономия переносит ответственность и не отменяет работу — она перекладывает её на другой шаг и на другого человека. Если этот шаг не посчитали, внедрение считается дешевле, чем оно есть. Здесь его посчитали, и потому разбор годен: до специалиста доведены шестьдесят четыре процента, а не сто.</a:t>
            </a:r>
          </a:p>
          <a:p>
            <a:r>
              <a:t/>
            </a:r>
          </a:p>
          <a:p>
            <a:r>
              <a:t>Сила свидетельства назову целиком, чтобы выигрыш не прозвучал крупнее, чем он измерен: рандомизированное испытание — верхняя ступень лестницы, — но малая выборка, один прибор и узкая возрастная группа. Воспроизведения нет ни одного. А числа этого кадра пришли вовсе не из испытания: это ретроспективный счёт по записям клиник, и равнять его с рандомизированной явкой нельзя.</a:t>
            </a:r>
          </a:p>
          <a:p>
            <a:r>
              <a:t/>
            </a:r>
          </a:p>
          <a:p>
            <a:r>
              <a:t>**Источники.** </a:t>
            </a:r>
            <a:r>
              <a:rPr u="sng">
                <a:solidFill>
                  <a:srgbClr val="065A82"/>
                </a:solidFill>
                <a:hlinkClick r:id="rId3"/>
              </a:rPr>
              <a:t>решение регулятора США DEN180001, 2018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Отказной поток EyeArt измерен на другом материале — другой прибор и другая программа, названные на прошлом кадре с явной оговоркой о несводимости. Дальше — что известно про обучение самого устройства IDx-DR/LumineticsCore, как его обновляют после допуска, и что показало отдельное измерение на новой выборке.</a:t>
            </a:r>
          </a:p>
          <a:p>
            <a:r>
              <a:t/>
            </a:r>
          </a:p>
          <a:p>
            <a:r>
              <a:t>Германское исследование в третичном диабетическом стационаре (Карлсбург, 2020–2021, 875 пациентов, средний возраст 52 года, диапазон от 8 до 92 лет) проверило тот же прибор, IDx-DR, что дал пивотальные 87,2 и 90,7 процента чувствительности и специфичности на выборке регистрации. На этой германской выборке 26,1 процента снимков система сама отметила непригодными для анализа — против 96,1 процента пригодных на пивоте. Это не доказательство дрейфа во времени: германская выборка — стационарные, более пожилые и более тяжёлые диабетики, с большей вероятностью катаракты и суженного зрачка, а не целевое первичное звено США, под которое устройство получило допуск в 2018 году. Верно читать это как измерение чувствительности результата к составу обследуемых, не как ухудшение прибора с годами.</a:t>
            </a:r>
          </a:p>
          <a:p>
            <a:r>
              <a:t/>
            </a:r>
          </a:p>
          <a:p>
            <a:r>
              <a:t>Чувствительность на этой же германской выборке оказалась разной по тяжести поражения, а не единым числом: 94,4 процента при тяжёлой форме диабетической ретинопатии — близко к пивотальным цифрам — и только 60,9 процента при умеренной форме. Точное совпадение с заключением офтальмолога по градации тяжести — всего 54,2 процента случаев. Разброс настолько широк, что одного числа чувствительности для этого прибора попросту не существует: оно привязано к тому, кого именно обследуют.</a:t>
            </a:r>
          </a:p>
          <a:p>
            <a:r>
              <a:t/>
            </a:r>
          </a:p>
          <a:p>
            <a:r>
              <a:t>В том же исследовании нашёлся отдельный и сильный эффект — обучение оператора камере, не изменение алгоритма: доля непригодных снимков у одного и того же исследователя упала с 46,9 процента в первый день работы с камерой до 0 процентов на четвёртый день практики. Решение модели здесь не менялось вовсе — менялась рука человека, который держит камеру.</a:t>
            </a:r>
          </a:p>
          <a:p>
            <a:r>
              <a:t/>
            </a:r>
          </a:p>
          <a:p>
            <a:r>
              <a:t>Допуск 2018 года не фиксирует устройство навечно. При регистрации согласован протокол контроля изменений: технические правки, способные повлиять на частоту ложных срабатываний, требуют нового уведомления регулятора до внедрения, а не тихого обновления. Конкретный пример отработки этого механизма — заявка 510(k) номер K213037, обновившая классификатор качества изображения с версии 2.1.1 до 2.3.0. Полный текст заявки не вскрылся читаемым текстом при прямом обращении к документу, но сам факт подачи и номер документа подтверждены на сайте регулятора — это ровно второе из трёх состояний пробела: искали добросовестно, нашли документ, но не его содержание.</a:t>
            </a:r>
          </a:p>
          <a:p>
            <a:r>
              <a:t/>
            </a:r>
          </a:p>
          <a:p>
            <a:r>
              <a:t>У прибора другого производителя, EyeArt — того самого, что дал отказной поток и семьдесят пять с лишним процентов потока на прошлом кадре, — архитектура устроена иначе, судя по патентным документам: две свёрточные сети на общих слоях, одна сегментирует структуры сетчатки, вторая оценивает качество самого снимка. Отказ по качеству здесь не отдельный фильтр перед диагностикой, а встроен в тот же механизм, что ставит находку. Деталей обучающей выборки для сертифицированной версии прибора источники не раскрывают — есть только смежный валидационный массив другого происхождения, и равнять его с обучающим набором нельзя.</a:t>
            </a:r>
          </a:p>
          <a:p>
            <a:r>
              <a:t/>
            </a:r>
          </a:p>
          <a:p>
            <a:r>
              <a:t>Пять вопросов инженерной глубины для этого случая закрываются неравномерно, и это стоит сказать прямо: вход-выход и порог закрыты полностью (два кадра назад), обучение — лишь порядком величины, обновление — фактом механизма без содержания самой правки, а дрейф — вовсе не этим же прибором на той же популяции, а чужой выборкой того же устройства. Разница между «закрыто» и «закрыто частично» здесь не повод снимать разбор — она и есть честный ответ на вопрос, который большинство материалов о медицинском ИИ не задают вовсе.</a:t>
            </a:r>
          </a:p>
          <a:p>
            <a:r>
              <a:t/>
            </a:r>
          </a:p>
          <a:p>
            <a:r>
              <a:t>**Источники.** </a:t>
            </a:r>
            <a:r>
              <a:rPr u="sng">
                <a:solidFill>
                  <a:srgbClr val="065A82"/>
                </a:solidFill>
                <a:hlinkClick r:id="rId3"/>
              </a:rPr>
              <a:t>Scientific Reports / PMC12864748, «Real-world performance of the AI diagnostic system IDx-DR in the diagnosis of diabetic retinopathy and its main confounders», 2026</a:t>
            </a:r>
            <a:r>
              <a:t> · </a:t>
            </a:r>
            <a:r>
              <a:rPr u="sng">
                <a:solidFill>
                  <a:srgbClr val="065A82"/>
                </a:solidFill>
                <a:hlinkClick r:id="rId4"/>
              </a:rPr>
              <a:t>FDA 510(k) K213037, accessdata.fda.gov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разбор — первый российский в разделе, и взят он не ради географии. Он единственный в деке, где видно, как модель допускают к массовому потоку и что с ней делают после допуска; три предыдущих разбора этой работы не делают, а у шведского порядка на предыдущем кадре про обучение и дрейф не сказано вообще ничего — источники молчат.</a:t>
            </a:r>
          </a:p>
          <a:p>
            <a:r>
              <a:t/>
            </a:r>
          </a:p>
          <a:p>
            <a:r>
              <a:t>Начну с того, что за случай. Москва, маммографический скрининг, часть городского опыта по компьютерному зрению в лучевой диагностике, который идёт с двухтысячного двадцатого года. За время этого опыта пятьдесят две разные модели обработали почти четырнадцать миллионов исследований — это рамка, в которой стоит наш случай, а сам случай один: модель «Цельс Маммография» на маммографическом потоке города.</a:t>
            </a:r>
          </a:p>
          <a:p>
            <a:r>
              <a:t/>
            </a:r>
          </a:p>
          <a:p>
            <a:r>
              <a:t>Теперь самое важное про механику, и именно здесь этот пример расходится со шведским. В шведской программе модель отбирает — ставит снимку оценку риска и по ней решает, выполнять ли второе человеческое чтение; заключение по каждому снимку всё равно выдаёт человек. Здесь устроено иначе: модель читает снимок первой, врач читает вторым, и замысел городского опыта назван прямо — заменить второго радиолога зарегистрированным медицинским изделием. Это один слот, и два разных способа его занять. Одна стадия, разные механики, поэтому это два разбора, а не один.</a:t>
            </a:r>
          </a:p>
          <a:p>
            <a:r>
              <a:t/>
            </a:r>
          </a:p>
          <a:p>
            <a:r>
              <a:t>Про устройство — то, чего зал до сих пор ни на одном кадре этого раздела не получил. Вход — стандартная маммограмма в четырёх снимках: две проекции на каждую грудь. Выход — не категория и не слово, а число от нуля до единицы на каждую грудь: вероятность признаков рака. Внутри — свёрточная сеть обнаружения Faster R-CNN с остовом ResNet-50; обучена она на трёх тысячах шестистах сорока одном снимке. Задержитесь на этой паре чисел: обучающая выборка — три с половиной тысячи снимков, проверочный поток — пятьсот девяносто три тысячи двести шестьдесят одно исследование. Отношение почти один к ста шестидесяти. Это не упрёк разработчику, это свойство задачи: разметить снимок с подтверждённым гистологией исходом дорого, и столько, сколько проходит через город за год, разметить нельзя.</a:t>
            </a:r>
          </a:p>
          <a:p>
            <a:r>
              <a:t/>
            </a:r>
          </a:p>
          <a:p>
            <a:r>
              <a:t>Цену обеих ошибок назову в тех же единицах, в которых её уже посчитал шведский порядок, потому что складывать разные единицы здесь нельзя. Пропустить рак — это интервальный рак: он придёт сам, позже и стадией крупнее, и у шведов это одна целая семьдесят шесть сотых случая на тысячу обследованных. Поднять ложную тревогу — это вызов женщины на второй снимок, у шведов две из ста. А теперь цена, которую меряет именно наш случай, и она другого рода: на входе в проверку у модели чувствительность ноль целых шестьдесят две сотых. Переведу: из ста признаков рака на наборе, где их искали, модель не нашла тридцать восемь. И с этой чувствительностью у неё уже было регистрационное удостоверение Росздравнадзора и европейский знак соответствия — оба получены в двадцать первом году, до того, как городская проверка началась. Вот это и есть главный урок кадра: регистрация изделия и работоспособность изделия — два разных факта, и первый не влечёт второго.</a:t>
            </a:r>
          </a:p>
          <a:p>
            <a:r>
              <a:t/>
            </a:r>
          </a:p>
          <a:p>
            <a:r>
              <a:t>Два классических режима, с которыми надо сравнивать, у нас уже посчитаны: двойное чтение двумя врачами с третьим на расхождении — тот самый порядок, который модель здесь и замещает, — и одно чтение одним врачом, которое шире распространено и которое нулём не работает. А теперь то, что я обязан сказать честно и чего многие пересказы этой работы не говорят: сравнения «модель вместо второго врача против двух врачей» по исходам в ней нет. Авторы не собирали ни выявляемость, ни долю вызовов, ни интервальные раки — и называют это собственным ограничением, в тексте, своими словами. Значит у этого случая нет измеренного выигрыша по исходам, и приписывать его модели мы не станем. Что в нём измерено — на следующем кадре; измерено там много, но измерено другое.</a:t>
            </a:r>
          </a:p>
          <a:p>
            <a:r>
              <a:t/>
            </a:r>
          </a:p>
          <a:p>
            <a:r>
              <a:t>**Источники.** </a:t>
            </a:r>
            <a:r>
              <a:rPr u="sng">
                <a:solidFill>
                  <a:srgbClr val="065A82"/>
                </a:solidFill>
                <a:hlinkClick r:id="rId3"/>
              </a:rPr>
              <a:t>Васильев, Румянцев, Владзимирский и соавт., Diagnostics 2025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то, ради чего этот разбор здесь стоит: что с моделью делали после регистрации и до того, как город начал платить за её работу из страховых денег. Весь круг занял два года и девять месяцев.</a:t>
            </a:r>
          </a:p>
          <a:p>
            <a:r>
              <a:t/>
            </a:r>
          </a:p>
          <a:p>
            <a:r>
              <a:t>Первая проверка — функциональная, и она останавливает модель на двух пунктах, ни один из которых не про точность. Первое: в выходном документе и в дополнительной серии снимков не было пометки «только для исследовательских целей». Второе, и его стоит запомнить: находку модель подсвечивала цветом — а маммографические мониторы монохромные, и на них цветную подсветку не различить. Модель могла быть сколь угодно точной; её ответ физически не читался на том оборудовании, которое стоит в кабинете. Это и есть инженерная работа, которой не заменишь ни одной метрикой: пока кто-то не сел за реальный монитор, этого не видно.</a:t>
            </a:r>
          </a:p>
          <a:p>
            <a:r>
              <a:t/>
            </a:r>
          </a:p>
          <a:p>
            <a:r>
              <a:t>Вторая проверка — калибровочная, на сотне исследований с подтверждённой разметкой, и здесь модель не прошла по площади под кривой: напомню шкалу, ноль пять десятых — монетка, единица — без промаха. Порог был назначен ноль восемьдесят одна сотая, и взят он не с потолка: это нижняя граница доверительного интервала, который на той же задаче даёт сам радиолог. То есть требование сформулировано так: будь не хуже худшего правдоподобного человека. Модель дала ноль семьдесят три сотых и была отправлена обратно.</a:t>
            </a:r>
          </a:p>
          <a:p>
            <a:r>
              <a:t/>
            </a:r>
          </a:p>
          <a:p>
            <a:r>
              <a:t>Что разработчик переписал за следующий месяц — список стоит произнести, потому что он отвечает на вопрос «а что вообще делают, когда модель не прошла». Расширили обучающий набор. Доработали предобработку снимка. Добавили отдельный канал с подбором окна яркости и выравниванием гистограммы. Завели голову, которая оценивает качество входного изображения. Сменили остов сети с ResNet-50 на ResNeSt. Заменили грубое приведение области к размеру на точное. Поменяли функцию активации. После этого площадь под кривой стала ноль восемьдесят одна — ровно порог, не выше, — и модель пустили в поток. Дальше было ещё два пересмотра: на девятом месяце добавили класс фиброзно-кистозных изменений и разметку по международной шкале описания молочной железы, причём добавили по прямой просьбе радиологов; на пятнадцатом — ещё два класса находок, оценку качества снимка и деление на квадранты, а сеть перевели на другую архитектуру. К четвёртой версии площадь под кривой дошла до ноль девяносто четырёх сотых, а перед допуском к оплате была пятая калибровка, и на ней показатель оказался чуть ниже пика. Пересматривают не только вверх.</a:t>
            </a:r>
          </a:p>
          <a:p>
            <a:r>
              <a:t/>
            </a:r>
          </a:p>
          <a:p>
            <a:r>
              <a:t>Технические отказы — отдельная история и, пожалуй, самая полезная для инженера. Они упали с девяти процентов до одного, и это настоящее улучшение устойчивости. Но посмотрите на состав: большая часть отказов — это не разобранный целиком снимок, когда модель обработала один, два или три кадра из четырёх, и причины названы прямо — неверная настройка маммографа, параметры исследования, выставленные техником, и сбои самого городского архива. То есть значительная доля того, что в отчёте числится дефектом модели, дефектом модели не является. Без этого разбора цифра «отказы упали в девять раз» читалась бы как заслуга сети.</a:t>
            </a:r>
          </a:p>
          <a:p>
            <a:r>
              <a:t/>
            </a:r>
          </a:p>
          <a:p>
            <a:r>
              <a:t>И два нюанса, которые меняют надёжность всего, что я назвал; оба стоят на кадре. Первый: точность считана на ста исследованиях калибровочного набора — не на пятистах девяноста трёх тысячах. Поток такого размера мерил отказы, согласие врача и экспертную оценку, а не точность; авторы называют это ограничением сами. Второй: в проспективной части эталоном служило заключение врача — того самого, которого модель замещает. Такой мерой модель не может оказаться лучше человека даже теоретически, а общий промах обоих не виден вовсе. Добавлю третий, помельче: клинический обзор вёл один врач-эксперт за раз, и на пятнадцатом месяце он сменился — то есть сам измерительный прибор посреди замера поменялся, и авторы это оговаривают.</a:t>
            </a:r>
          </a:p>
          <a:p>
            <a:r>
              <a:t/>
            </a:r>
          </a:p>
          <a:p>
            <a:r>
              <a:t>Что переехало. Решение «годен ли выход модели» переехало от разработчика к городскому тестировщику: требования к выходу опубликованы, калибровка обязательна, отчёт уходит разработчику каждый месяц. А у врача появился шаг, которого не было: тридцать три радиолога за время наблюдения нажали кнопку «не согласен» тысячу семьсот сорок пять раз из восьми тысяч четырёхсот шести ответов — каждый пятый раз. Это «Несогласие», пятый из шести механизмов, которые мы назвали на входе: расхождение с моделью разбирают отдельным шагом, и шаг этот оплачивается рабочим временем. В январе двадцать третьего года город ввёл отдельную оплачиваемую услугу — описание и интерпретация маммографии с применением модели. Два года девять месяцев от начала проверки до тарифа.</a:t>
            </a:r>
          </a:p>
          <a:p>
            <a:r>
              <a:t/>
            </a:r>
          </a:p>
          <a:p>
            <a:r>
              <a:t>**Источники.** </a:t>
            </a:r>
            <a:r>
              <a:rPr u="sng">
                <a:solidFill>
                  <a:srgbClr val="065A82"/>
                </a:solidFill>
                <a:hlinkClick r:id="rId3"/>
              </a:rPr>
              <a:t>Васильев, Румянцев, Владзимирский и соавт., Diagnostics 2025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вопросам, которые будут задаваться на каждой. Числа стоят на разборах, откуда эти обобщения взяты.</a:t>
            </a:r>
          </a:p>
          <a:p>
            <a:r>
              <a:t/>
            </a:r>
          </a:p>
          <a:p>
            <a:r>
              <a:t>Что получается. Выигрыш в обоих разборах измерен доступом — тем, сколько людей дошло до обследования и сколько снимков прочёл второй человек. Берут его двумя способами: снимают объём человеческого чтения там, где процедура уже плотная, и дотягиваются до тех, кто иначе не придёт. Второй способ в этом разделе сильнее, и причина простая: тест, до которого человек не дошёл, имеет нулевую чувствительность. Точности модель здесь не прибавила ни в одном разборе.</a:t>
            </a:r>
          </a:p>
          <a:p>
            <a:r>
              <a:t/>
            </a:r>
          </a:p>
          <a:p>
            <a:r>
              <a:t>Что не получается. Три границы, и ни одна не про качество модели. Порог модель не назначает: что хуже — пропустить или позвать лишнего — решает тот, кто это подписывает. В открытом потоке обращений выигрыша не дал ни один разбор, а единственная состоявшаяся попытка кончилась банкротством. И за годность снимка автономное чтение не отвечает: добывать её приходится человеку без профильной подготовки. И одна граница, которую легко расширить не по делу: охват публикуют, а устройство работы — нет. Так бывает, но по стране это не делится: отечественная платформа лучевой диагностики публикует охват без устройства, и ровно на ней же, на московском маммографическом разборе, устройство раскрыто полнее, чем в любом другом случае этого раздела, — архитектура, объём обучающей выборки, происхождение порога, состав отказов. Шведская и германская программы скрининга устройство публикуют обе, а про обучение и дрейф не говорят ни одна. Значит делится это не по стране, а по тому, кто именно отчитывается: платформа отчитывается охватом, проверка изделия — устройством.</a:t>
            </a:r>
          </a:p>
          <a:p>
            <a:r>
              <a:t/>
            </a:r>
          </a:p>
          <a:p>
            <a:r>
              <a:t>Что стало с работой. Две формы, названные по словарю. На сервисе первой линии нагрузка переехала на другой шаг — с сортировки на приём, — и платить за переехавшую нагрузку оказалось некому. На автономном скрининге глазного дна сменился исполнитель: решение целиком перешло к допущенному устройству, и производной формой появился шаг, которого не было. Третье следствие не форма, а свойство процедуры: второго независимого человека большинство обследованных больше не получает.</a:t>
            </a:r>
          </a:p>
          <a:p>
            <a:r>
              <a:t/>
            </a:r>
          </a:p>
          <a:p>
            <a:r>
              <a:t>Что это держит. Порог вмешательства, записанный документом задолго до всякого прибора. Двойное чтение и арбитраж при расхождении — там, где второго читателя не заменили. И то, чего нет: процедуры, которая проверяла бы отсеянное фильтром. Ответ на вопрос «кто разбирает то, что он отфильтровал» чаще всего «никто», и это не упущение одной организации, а пустое место в самом порядке работы.</a:t>
            </a:r>
          </a:p>
          <a:p>
            <a:r>
              <a:t/>
            </a:r>
          </a:p>
          <a:p>
            <a:r>
              <a:t>Что уходит дальше — и обобщать это одной фразой нельзя, хотя соблазн велик. Там, где модель решает вместо человека, её «норма» ему действительно не достаётся: чат-бот отвечает «идти незачем» сам, а на съёмке глазного дна решение выносится на месте, без офтальмолога. А в обеих программах скрининга человек прочёл КАЖДОЕ исследование, и смещение там другое: он читает, видя оценку модели, а снято второе независимое чтение — то есть смещён не состав потока, а устройство чтения. Ошибку отбора в первом случае обнаруживает только следующий виток, другой человек в другой день; во втором её ищут на расхождении. Поэтому следующий раздел и начинается с того, что вообще значит «измерили».</a:t>
            </a:r>
          </a:p>
          <a:p>
            <a:r>
              <a:t/>
            </a:r>
          </a:p>
          <a:p>
            <a:r>
              <a:t>И один механизм из тех шести, что названы на входе, этот раздел встретил по-настоящему: «Несогласие». На московском маммографическом потоке тридцать три радиолога нажали «не согласен» тысячу семьсот сорок пять раз из восьми тысяч четырёхсот шести ответов — каждый пятый раз, — и разбор каждого такого расхождения оплачивается рабочим временем, которого до модели на этом шаге не тратили.</a:t>
            </a:r>
          </a:p>
          <a:p>
            <a:r>
              <a:t/>
            </a:r>
          </a:p>
          <a:p>
            <a:r>
              <a:t>Третье следствие переезда — не форма словаря, а свойство процедуры: второго независимого человека большинство обследованных больше не получает. А ответ на вопрос «кто разбирает то, что фильтр отсеял» чаще всего «никто», и это не упущение одной организации, а пустое место в самом порядке работы.</a:t>
            </a:r>
          </a:p>
          <a:p>
            <a:r>
              <a:t/>
            </a:r>
          </a:p>
          <a:p>
            <a:r>
              <a:t>Что держит эту нагрузку, с кадра снято и произносится: порог вмешательства, записанный документом задолго до всякого прибора, и двойное чтение с арбитражем при расхождении — там, где второго читателя не заменили. В открытом потоке обращений выигрыша не дал ни один разбор, а единственная состоявшаяся попытка кончилась банкротством.</a:t>
            </a:r>
          </a:p>
          <a:p>
            <a:r>
              <a:t/>
            </a:r>
          </a:p>
          <a:p>
            <a:r>
              <a:t>Выигрыш этого раздела взят двумя способами, и второй сильнее: тест, до которого человек не дошёл, имеет нулевую чувствительность, какой бы она ни была в лаборатории. Поэтому явка здесь — не организационная мелочь, а то, чем измеряется польза модели на этой стадии.</a:t>
            </a:r>
          </a:p>
          <a:p>
            <a:r>
              <a:t/>
            </a:r>
          </a:p>
          <a:p>
            <a:r>
              <a:t>И счёт по сетке курса, который дальше будет расти от раздела к разделу: на этом шаге занято три ячейки из сорока двух, и ни одна не про лечение. Разницу между ними стоит заметить сразу: режим, который принимает решение, принимается туго, а режимы, которые оформляют уже принятое, расходятся быстро. Сортировка обращения словами после разобранного случая стоит на месте; автономное решение без врача допущено единицами и только там, где вопрос бинарный; а модель вторым читателем растёт шире всех — потому что не отменяет ни одной подписи.</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только что назвал две свои формы — нагрузка переехала на другой шаг и сменился исполнитель. Вот перечень, из которого они взяты. Каждый разбор дальше кончается названной формой — или названным отказом её присвоить, и отказ такой же вердикт, как имя. Чисел в словаре нет намеренно: счёт под каждой формой соберётся из разборов, и к концу разговора под семью формами из девяти будет стоять измеренная величина, а под двумя измерений не будет.</a:t>
            </a:r>
          </a:p>
          <a:p>
            <a:r>
              <a:t/>
            </a:r>
          </a:p>
          <a:p>
            <a:r>
              <a:t>Словарь форм пришёл из прошлой лекции и там же доказал, зачем он нужен. Привычный образ — «нагрузка уехала вправо» — врёт сразу в нескольких направлениях. Он описывает один случай из девяти возможных и молча подставляет его вместо остальных восьми. Работа может переехать на другой шаг, целиком сохранившись в объёме. Может удвоиться, оставшись там же, где была. Может исчезнуть, и это самый редкий из случаев. Может появиться впервые — такой работы раньше не делал никто. Может достаться другой руке при том же месте и том же объёме. Может остаться точно такой же, а измениться только последствие промаха. И может остаться совсем такой же во всём, кроме состояния руки, которая её делает. Девять строк нужны ровно затем, чтобы эти случаи не слиплись в один.</a:t>
            </a:r>
          </a:p>
          <a:p>
            <a:r>
              <a:t/>
            </a:r>
          </a:p>
          <a:p>
            <a:r>
              <a:t>Делится словарь по вопросу, который к нему задан. Первые пять форм мерят место и объём: где работа теперь стоит и сколько её стало. Четвёртая и четыре-а — пара с противоположными знаками на одном месте: нагрузка либо выросла, либо упала, и обе половины встречаются по-настоящему, иногда на одном и том же измерении. Следующие четыре мерят руку, порядок, последствие промаха и состояние самой руки. Разделение это не формальное: именно на последней форме держится самое неудобное наблюдение лекции — исполнитель остался тот же, место то же, объём тот же, а результат стал хуже.</a:t>
            </a:r>
          </a:p>
          <a:p>
            <a:r>
              <a:t/>
            </a:r>
          </a:p>
          <a:p>
            <a:r>
              <a:t>Восьмая форма заведена этой темой, и до неё словаря с такой осью не было. Её легко спутать с двумя соседними, поэтому различение стоит запомнить сразу. В пятой форме сменилась рука: работу делает другой. В четыре-а упал объём: работы стало меньше. В восьмой рука и объём те же, упало качество того, что эта рука находит. Быстрая проверка — вопрос о том, из чего считается доля. У четыре-а доли нет вовсе, там считается абсолютный объём работы. У восьмой доля есть, и считается она из того же: те же случаи, те же люди, другая доля находок.</a:t>
            </a:r>
          </a:p>
          <a:p>
            <a:r>
              <a:t/>
            </a:r>
          </a:p>
          <a:p>
            <a:r>
              <a:t>Строка восемь-а держится пустой намеренно, и пустой её надо и читать. Обратный случай — исполнитель тот же, и стал лучше без помощника рядом — звучит так же правдоподобно, как восьмой, и измерения под ним нет ни одного. Номер под него зарезервирован, имя названо, счёта нет. Замазать эту пустую строку похожим случаем нельзя: любой случай, где человек стал лучше, пока помощник включён, мерит другое — он мерит пару, а не руку.</a:t>
            </a:r>
          </a:p>
          <a:p>
            <a:r>
              <a:t/>
            </a:r>
          </a:p>
          <a:p>
            <a:r>
              <a:t>Теперь про то, чем словарь форм не является. Он не отвечает на вопрос, хорошо это или плохо. Форма только называет, что произошло с работой; выигрыш это или цена, решается отдельно, числом и базой. Переезд нагрузки на другой шаг бывает чистым выигрышем, когда на новом шаге её меньше, и бывает чистой ценой, когда на новом шаге за неё некому платить. То же с падением объёма на том же месте: один и тот же замер зрительного поиска показывает и выигрыш, и цену, в зависимости от того, верной была подсказка или нет.</a:t>
            </a:r>
          </a:p>
          <a:p>
            <a:r>
              <a:t/>
            </a:r>
          </a:p>
          <a:p>
            <a:r>
              <a:t>И последнее, ради чего словарь выдаётся именно здесь, в начале. Рядом с ним работает вторая разметка — четыре адреса платежа: внимание, навык, подпись, арбитраж. Эти две вещи отвечают на разные вопросы об одном и том же случае, и путать их нельзя. Форма говорит, что сделалось с работой: где она теперь, сколько её, чья рука её делает, чем кончается промах. Адрес говорит, на каком человеческом шаге это сделалось: смотрит человек вторым, перестал ли делать сам, подписал ли непрочитанное, разбирает ли расхождение. Работа умеет переезжать так, что ни один человеческий шаг этого не чувствует, — и человек умеет платить там, где работа осталась ровно на месте.</a:t>
            </a:r>
          </a:p>
          <a:p>
            <a:r>
              <a:t/>
            </a:r>
          </a:p>
          <a:p>
            <a:r>
              <a:t>И различение, которое с кадра снято, потому что оно уже прозвучало на оси и повторять его экраном незачем: форма говорит, что сделалось с работой, а адрес платежа — на каком человеческом шаге это сделалось. Девять имён отвечают на первый вопрос, четыре адреса — на второй, и смешивать их нельзя: работа переезжает так, что ни один человеческий шаг этого не чувствует, и человек платит там, где работа осталась на месте.</a:t>
            </a:r>
          </a:p>
          <a:p>
            <a:r>
              <a:t/>
            </a:r>
          </a:p>
          <a:p>
            <a:r>
              <a:t>**Где каждую форму встретили — колонка «кейс и блок», снятая с кадра (#293, Этап D, П6-б.4: «укрупнение с переносом колонки „кейс и блок“ в заметки»). Произносится по ходу таблицы:**</a:t>
            </a:r>
          </a:p>
          <a:p>
            <a:r>
              <a:t/>
            </a:r>
          </a:p>
          <a:p>
            <a:r>
              <a:t>- **нагрузка переехала на другой шаг** — чат-бот первой линии · **Отбор**</a:t>
            </a:r>
          </a:p>
          <a:p>
            <a:r>
              <a:t>- **шаг исчез совсем** — прочерк · **Сборка**</a:t>
            </a:r>
          </a:p>
          <a:p>
            <a:r>
              <a:t>- **шаг появился** — шведский скрининг · **Отбор**</a:t>
            </a:r>
          </a:p>
          <a:p>
            <a:r>
              <a:t>- **нагрузка выросла на том же месте** — раннее предупреждение · **Наблюдение**</a:t>
            </a:r>
          </a:p>
          <a:p>
            <a:r>
              <a:t>- **нагрузка на том же месте упала** — шведский скрининг · **Отбор**</a:t>
            </a:r>
          </a:p>
          <a:p>
            <a:r>
              <a:t>- **сменился исполнитель** — глазное дно · **Отбор**</a:t>
            </a:r>
          </a:p>
          <a:p>
            <a:r>
              <a:t>- **изменился порядок работ** — отказ от обещания · **Лекарства**</a:t>
            </a:r>
          </a:p>
          <a:p>
            <a:r>
              <a:t>- **сместилась цена ошибки** — норма без проверки · **Надзор**</a:t>
            </a:r>
          </a:p>
          <a:p>
            <a:r>
              <a:t>- **исполнитель тот же, но стал хуже** — доля упала · **Квалификация**</a:t>
            </a:r>
          </a:p>
          <a:p>
            <a:r>
              <a:t>- ***исполнитель тот же, но стал лучше*** — *номер держим пустым*</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кадре оставлено имя стадии, одна её несущая мысль с числами и перечень пяти разборов; остальное отсюда проговаривается. Стадия стоит второй по месту в работе. В первом разделе решали, кого вообще позвать смотреть; здесь человек уже в поле зрения, и про него снимают данные — делают снимок, берут анализ, подключают прибор, нагружают по протоколу и смотрят, как меняется измеряемое. В отрасли эта стадия так и называется: инструментальная и лабораторная диагностика. Термин раскладывается на две половины по тому, откуда взялось измерение. Инструментальная — то, что сняли прибором с самого человека. Лабораторная — то, что измерили в пробе, взятой у человека и унесённой в лабораторию. Дело у обеих половин одно: превратить состояние человека в величину, которую можно записать, передать и прочесть в другом месте и в другое время.</a:t>
            </a:r>
          </a:p>
          <a:p>
            <a:r>
              <a:t/>
            </a:r>
          </a:p>
          <a:p>
            <a:r>
              <a:t>Границу с третьим разделом стоит провести сразу, потому что без неё оба раздела сливаются, как они и были слиты в прежней редакции этой деки. Здесь стадия производит величины. Вывод о болезни по этим величинам сделают в следующем разделе, и сделает его другой человек. Поэтому всё, что будет на этих кадрах, — про то, годится ли измерение и что оно означает, а не про то, какой диагноз из него следует.</a:t>
            </a:r>
          </a:p>
          <a:p>
            <a:r>
              <a:t/>
            </a:r>
          </a:p>
          <a:p>
            <a:r>
              <a:t>Теперь мысль, которую трудно удержать при чтении рекламных материалов, и ради неё этот раздел в лекции стоит. Любая доля — чувствительность, специфичность, точность — посчитана на конкретной группе людей, и при переносе на другую группу она перестаёт означать то же самое. Числа на кадре это и показывают: одна система с одним порогом срабатывания даёт восемь верных тревог из ста в поголовном потоке и семьдесят девять из ста в профильном отделении. Внутри системы при этом не меняется ни одна строка — меняется только доля больных в группе, а назначил её тот, кто решил, кого звать на обследование. Полный счёт в людях разберём через кадр.</a:t>
            </a:r>
          </a:p>
          <a:p>
            <a:r>
              <a:t/>
            </a:r>
          </a:p>
          <a:p>
            <a:r>
              <a:t>Отсюда и порядок раздела: сначала то, во что ИИ вмешивается, потом вмешательство. Сперва из чего сделана работа стадии — какие на ней действия, кто назначает порог, кто решает, годно ли измерение. Потом отдельным кадром классический режим, который делается без всякой модели: контроль годности снимка. Потом обзор по странам — какой объём снимков и анализов внутри обычного потока направлений проходит через обученную модель. И только после этого пять разборов, и первые два из них отечественные.</a:t>
            </a:r>
          </a:p>
          <a:p>
            <a:r>
              <a:t/>
            </a:r>
          </a:p>
          <a:p>
            <a:r>
              <a:t>Назвать их стоит здесь, чтобы потом узнавать слайд по уже сказанному имени. Каждый из пяти выйдет на экран ровно под этим заголовком.</a:t>
            </a:r>
          </a:p>
          <a:p>
            <a:r>
              <a:t/>
            </a:r>
          </a:p>
          <a:p>
            <a:r>
              <a:t>Москва, профилактические снимки — единственный разбор лекции, где автономное применение модели не провалилось и где его цену посчитали числом. Чувствительность выставили на единицу, специфичность объявили незначимой, и больше половины профилактического потока перестал читать человек: 315 491 снимок из 575 549. Цена — 290 клинически значимых пропусков и то, что в обычной работе их никто бы не нашёл.</a:t>
            </a:r>
          </a:p>
          <a:p>
            <a:r>
              <a:t/>
            </a:r>
          </a:p>
          <a:p>
            <a:r>
              <a:t>Москва, кровоизлияние в череп — тот же город, тот же круг зарегистрированных изделий, обратный ответ. На 3 409 томограммах головы модель одна подняла 293 ложные тревоги против четырёх у врача. Это единственный разбор раздела, где провалилось само чтение, а не место, набор или цель.</a:t>
            </a:r>
          </a:p>
          <a:p>
            <a:r>
              <a:t/>
            </a:r>
          </a:p>
          <a:p>
            <a:r>
              <a:t>Остальные три берут своё место, где можно провалиться, не ошибившись в чтении.</a:t>
            </a:r>
          </a:p>
          <a:p>
            <a:r>
              <a:t/>
            </a:r>
          </a:p>
          <a:p>
            <a:r>
              <a:t>Таиланд — провал развёртывания. Автономное чтение снимков глазного дна в одиннадцати клиниках отклоняет по качеству двадцать один снимок из ста, и обе причины про место съёмки, а не про модель: освещение в кабинете и медленная связь.</a:t>
            </a:r>
          </a:p>
          <a:p>
            <a:r>
              <a:t/>
            </a:r>
          </a:p>
          <a:p>
            <a:r>
              <a:t>Кожа и состав набора — провал состава обучающих данных. Три модели теряют от девяти до пятнадцати пунктов площади под кривой на тёмных тонах кожи, которых в обучающих наборах было мало. Это единственный разбор лекции, где предметом стал сам обучающий набор, а не алгоритм, развёртывание или цель. И единственный, где исправление измерено: дообучение на представительном наборе разрыв снимает, а три алгоритмических метода против смещения его не сняли.</a:t>
            </a:r>
          </a:p>
          <a:p>
            <a:r>
              <a:t/>
            </a:r>
          </a:p>
          <a:p>
            <a:r>
              <a:t>Отбор в программу повышенного внимания — провал определения цели. Целевой переменной взяли будущие расходы на лечение, а решение принималось о болезни, и расходы отражают обращаемость, которая у разных групп при одинаковом здоровье разная.</a:t>
            </a:r>
          </a:p>
          <a:p>
            <a:r>
              <a:t/>
            </a:r>
          </a:p>
          <a:p>
            <a:r>
              <a:t>Два упоминания идут с числом и разборами не становятся: систематический обзор работ по снимкам при ковидной пневмонии — из двух тысяч двухсот двенадцати работ отобрали шестьдесят две, и ни одна не годна для клиники, — и смещение прибора насыщения крови кислородом, в котором обученной модели нет вовсе.</a:t>
            </a:r>
          </a:p>
          <a:p>
            <a:r>
              <a:t/>
            </a:r>
          </a:p>
          <a:p>
            <a:r>
              <a:t>Чего в разделе нет и почему. Нет сравнения моделей между собой: это не обзор рынка. Нет лабораторных показателей точности в отрыве от группы — по тому же правилу раздела. И нет ни одного случая, где провалилось бы само чтение: такого среди разобранных не оказалось, и вывод раздела говорит об этом прямо.</a:t>
            </a:r>
          </a:p>
          <a:p>
            <a:r>
              <a:t/>
            </a:r>
          </a:p>
          <a:p>
            <a:r>
              <a:t>Снимок рядом — настоящее рабочее место, где снимают данные. Разговор про доли начинается отсюда: сначала кто-то ставит человека к прибору.</a:t>
            </a:r>
          </a:p>
          <a:p>
            <a:r>
              <a:t/>
            </a:r>
          </a:p>
          <a:p>
            <a:r>
              <a:t>Про женщину с письмом — её линия идёт через всю лекцию, и в этом разделе она стоит в самом неудобном месте. Она пришла без жалоб, по возрасту, то есть ровно в поголовном потоке, где больных около одного на сотню. Значит все доли, которые ей кто-нибудь назовёт, посчитаны не на её группе, а доля верных тревог на её группе — худшая из возможных. Кадр со счётом двух групп к этому и ведёт, и там её имя произносится прямо.</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называется инструментальной и лабораторной диагностикой, и этим именем её называет отрасль. Человек на ней уже в поле зрения: предыдущая стадия решила, что его смотрят. Теперь про него снимают величины — делают снимок, берут анализ, подключают прибор, записывают измерение в карту.</a:t>
            </a:r>
          </a:p>
          <a:p>
            <a:r>
              <a:t/>
            </a:r>
          </a:p>
          <a:p>
            <a:r>
              <a:t>Данные здесь другого рода, чем на отборе. Там были год рождения и интервал; здесь — изображение, сигнал прибора, показатель крови, мочи, ткани или посева. И вопросов на этих данных решают два, а не один. Первый — что измеренные величины означают. Второй, который в рекламных материалах не встречается никогда, — годятся ли эти величины к чтению вообще.</a:t>
            </a:r>
          </a:p>
          <a:p>
            <a:r>
              <a:t/>
            </a:r>
          </a:p>
          <a:p>
            <a:r>
              <a:t>Способов получить такие данные четыре, и назвать их надо все, потому что дальше разборы разойдутся по ним. Инструментальное исследование даёт величины, снятые прибором: обзорный снимок, томограмма, эндоскопия. Лабораторный анализ даёт показатели крови, мочи, ткани, посева — и у части из них свой срок, который никуда не денется: тот самый посев мокроты идёт три недели. Функциональная проба снимает величины под нагрузкой, то есть добавляет к измерению условие, в котором оно снято. Удалённое исследование устроено так, что человека снимают в одном месте, а читает изображение специалист в другом; это не экзотика — на этом держится лучевая диагностика в районах, где своего рентгенолога нет.</a:t>
            </a:r>
          </a:p>
          <a:p>
            <a:r>
              <a:t/>
            </a:r>
          </a:p>
          <a:p>
            <a:r>
              <a:t>Решение, которое принимает стадия, звучит так: что про человека измерено и с какой точностью. Дальше следует интерпретация — чтение измеренного и заключение по нему, и это работа следующей стадии.</a:t>
            </a:r>
          </a:p>
          <a:p>
            <a:r>
              <a:t/>
            </a:r>
          </a:p>
          <a:p>
            <a:r>
              <a:t>Теперь почему эта стадия стоит после отбора, а не до него. Точность измерения описывают двумя долями, и считают их на разных группах: чувствительность берёт только больных, специфичность только здоровых. Обе называются парой и всегда для одного порога, а порог выбирает протокол под цену исхода — и выбран он раньше, чем разработчик приступил к работе. Врачу же на приёме достаётся третья доля, верных тревог среди всех поднятых, и зависит она от того, сколько больных в обследованной группе. Группу собрала предыдущая стадия. Поэтому порядок принудительный: знаменатель приходит из отбора, и до него у измерения нет смысла, который можно прочесть. Во что это обходится, следующий кадр считает в людях.</a:t>
            </a:r>
          </a:p>
          <a:p>
            <a:r>
              <a:t/>
            </a:r>
          </a:p>
          <a:p>
            <a:r>
              <a:t>И как это решение принимают без всякой модели — классическими режимами, по именам. Контроль годности исследования: человек смотрит на полученное измерение и решает, можно ли его читать или надо переснять, а правило, по которому он решает, написано в инструкции кабинета, не в приборе. Чтение измерения специалистом при названном пороге срабатывания: порог объявления «болен» задан протоколом, и читающий работает на этом пороге, своего не назначая. Первому из них отдан следующий кадр целиком — и отдан потому, что именно на нём, а не на чтении, провалился третий из пяти разборов этого раздела, тайский.</a:t>
            </a:r>
          </a:p>
          <a:p>
            <a:r>
              <a:t/>
            </a:r>
          </a:p>
          <a:p>
            <a:r>
              <a:t>И то же поле с моделью, названное до разборов. Из шести действий обученная модель заняла два: чтение измерения целиком, без специалиста, и сообщение результата — где вместо величины на стол приходит один балл и отбор по порогу. Порог она не назначает, переснять не умеет, годность входа остаётся человеку без профильной подготовки, а пересчёт под свою распространённость делает тот, кто применяет. Один шаг она добавляет — повторный визит тем, чьё измерение не прошло по качеству. Выигрыш же её здесь в постоянстве: десятитысячный кадр читается так же, как первый.</a:t>
            </a:r>
          </a:p>
          <a:p>
            <a:r>
              <a:t/>
            </a:r>
          </a:p>
          <a:p>
            <a:r>
              <a:t>Систематический обзор работ по ковидной пневмонии отобрал из двух тысяч двухсот двенадцати публикаций шестьдесят две и не нашёл среди них ни одной, пригодной для клиники. Доли считали все; группу, на которой они посчитаны, почти никто. Оговорка обязательна: это вывод о качестве исследовательских работ, про внедрённые системы он не говорит ничего. Упоминание это разбором не становится — цены обеих ошибок в числах у него нет, счёта против классического режима тоже.</a:t>
            </a:r>
          </a:p>
          <a:p>
            <a:r>
              <a:t/>
            </a:r>
          </a:p>
          <a:p>
            <a:r>
              <a:t>И вопрос залу, который стоит задать здесь, а не в конце, — он же игра на один ход. Вам называют «точность девяносто четыре процента». Я беру одну и ту же систему с одним и тем же порогом срабатывания и применяю её к двум группам по десять тысяч человек, отличающимся ТОЛЬКО долей больных среди них. Внутри системы не меняется ни одна строка. Вопрос: насколько разойдётся доля верных тревог между этими двумя группами? Во сколько раз — в полтора, вдвое, вдесятеро? Прошу назвать число вслух или одним словом в чат. Следующий кадр это считает, и разница там почти десятикратная; зал обычно называет полтора-два. Вопрос задаётся именно здесь, до разбора: названное число зал запоминает и потом сверяет сам, а услышанное готовым — нет.</a:t>
            </a:r>
          </a:p>
          <a:p>
            <a:r>
              <a:t/>
            </a:r>
          </a:p>
          <a:p>
            <a:r>
              <a:t>И последнее, что стоит произнести до разборов. Два действия, которые заняла модель, — не самые трудные из шести. Трудные остались людям: назначить порог под цену ошибки и решить, годно ли измерение. Это общий сюжет всей лекции, и в этом разделе он виден отчётливее всего.</a:t>
            </a:r>
          </a:p>
          <a:p>
            <a:r>
              <a:t/>
            </a:r>
          </a:p>
          <a:p>
            <a:r>
              <a:t>**Источники.** </a:t>
            </a:r>
            <a:r>
              <a:rPr u="sng">
                <a:solidFill>
                  <a:srgbClr val="065A82"/>
                </a:solidFill>
                <a:hlinkClick r:id="rId3"/>
              </a:rPr>
              <a:t>Roberts и соавт., Nature Machine Intelligence 2021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Счёт здесь короткий, и группа сделает его быстрее, чем я проговорю. Возьмём одну систему с одним порогом срабатывания: она ловит 94 больных из ста и напрасно пугает 11 здоровых из ста. Эти два числа — иллюстрация методики, взятая из опубликованного порога срабатывания модели чтения снимков грудной клетки; характеристикой конкретного изделия они не служат, и ни одно решение о закупке на них опирать нельзя.</a:t>
            </a:r>
          </a:p>
          <a:p>
            <a:r>
              <a:t/>
            </a:r>
          </a:p>
          <a:p>
            <a:r>
              <a:t>Применим её в двух группах, которые отличаются ровно одним — долей больных среди обследованных.</a:t>
            </a:r>
          </a:p>
          <a:p>
            <a:r>
              <a:t/>
            </a:r>
          </a:p>
          <a:p>
            <a:r>
              <a:t>Поголовный поток: десять тысяч человек подряд, болезнь у одного из ста, то есть у 100 из 10 000. Верных тревог 94, ложных 1 089, всего 1 183. Профильное отделение: те же десять тысяч, но сюда людей уже отобрали по жалобе или направлению, болезнь у тридцати из ста, то есть у 3 000. Верных 2 820, ложных 770, всего 3 590.</a:t>
            </a:r>
          </a:p>
          <a:p>
            <a:r>
              <a:t/>
            </a:r>
          </a:p>
          <a:p>
            <a:r>
              <a:t>Теперь то, ради чего счёт и ведётся. Врач на приёме чувствительности не видит вовсе — он видит, какая доля пришедших к нему тревог оказалась болезнью. В первом случае это 94 из 1 183, то есть 8 из ста. Во втором 2 820 из 3 590, то есть 79 из ста. Разница почти десятикратная, и внутри системы при этом не изменилась ни одна строка: менялась только группа, а долю больных в ней назначил тот, кто решил, кого звать на обследование, — не разработчик. Это решение об отборе, принятое за всех ещё до того, как кто-нибудь посмотрел на точность.</a:t>
            </a:r>
          </a:p>
          <a:p>
            <a:r>
              <a:t/>
            </a:r>
          </a:p>
          <a:p>
            <a:r>
              <a:t>У доли два имени, потому что в двух профессиях она называется по-разному. Инженеру она знакома как точность по положительному классу. В клинических работах она стоит под именем прогностической ценности положительного результата, и зависит от распространённости — доли больных в обследованной группе. Распространённость свойством прибора не служит.</a:t>
            </a:r>
          </a:p>
          <a:p>
            <a:r>
              <a:t/>
            </a:r>
          </a:p>
          <a:p>
            <a:r>
              <a:t>Что это значит для врача. Объяснять пациенту одну ложную тревогу из десяти и девять ложных из десяти — две разные профессии, и разговоры эти устроены по-разному. Что это значит для инженера. Перенос системы из профильного отделения в поголовное обследование меняет смысл выхода: один и тот же сигнал «болен» в первом случае почти достоверная находка, во втором — повод для дообследования, которое в девяти случаях из десяти кончится словом «норма».</a:t>
            </a:r>
          </a:p>
          <a:p>
            <a:r>
              <a:t/>
            </a:r>
          </a:p>
          <a:p>
            <a:r>
              <a:t>И отсюда три способа поднять долю верных тревог, ни один из которых не состоит в улучшении модели. Поднять порог: ложных тревог станет меньше, пропущенных больных больше, и обменный курс здесь назначает цена обеих ошибок. Изменить группу: обследовать тех, у кого болезнь встречается чаще. Поставить второй, подтверждающий тест и объявлять «болен» только по двум — именно так устроены две ступени скрининговых программ: первая настроена на то, чтобы не пропустить, её выход не диагноз, а приглашение на дообследование, и доля верных тревог на ней низкая по устройству. Программа, в которой первая ступень объявляет диагноз, теряет вторую ступень целиком.</a:t>
            </a:r>
          </a:p>
          <a:p>
            <a:r>
              <a:t/>
            </a:r>
          </a:p>
          <a:p>
            <a:r>
              <a:t>Отсюда и правило, которое раздел выдаёт всей лекции: заявленная точность без названной группы и названной распространённости не читается. Правильная пара вопросов к любому заявлению о точности звучит так: какие две доли и на какой группе; и какова распространённость там, где вы собираетесь это применять.</a:t>
            </a:r>
          </a:p>
          <a:p>
            <a:r>
              <a:t/>
            </a:r>
          </a:p>
          <a:p>
            <a:r>
              <a:t>Одно уточнение словоупотребления, которое это правило делает заметным. «Выявляется шесть случаев на тысячу обследованных» и «распространённость шесть на тысячу» — разные утверждения. Первое говорит о результате работы программы на обследованной группе, второе — о свойстве населения. Подмена первого вторым встречается в пересказах постоянно и ломает весь счёт, потому что в знаменатель подставляется величина, которую никто не измерял.</a:t>
            </a:r>
          </a:p>
          <a:p>
            <a:r>
              <a:t/>
            </a:r>
          </a:p>
          <a:p>
            <a:r>
              <a:t>Теперь о женщине с письмом, потому что эта арифметика про неё. Она пришла без жалоб, по возрасту, и стоит в том самом поголовном потоке, где больных около одного на сотню. Значит доля верных тревог на её группе — левая, восемь из ста, а не правая. Если ей позвонят и пригласят на дообследование, восемь шансов из ста, что находка подтвердится, и девяносто два — что это ложная тревога, и каждый из этих девяноста двух человек проживёт свои недели с открытым вопросом. Ни одна строка внутри системы при этом не меняется.</a:t>
            </a:r>
          </a:p>
          <a:p>
            <a:r>
              <a:t/>
            </a:r>
          </a:p>
          <a:p>
            <a:r>
              <a:t>**Источники.** </a:t>
            </a:r>
            <a:r>
              <a:rPr u="sng">
                <a:solidFill>
                  <a:srgbClr val="065A82"/>
                </a:solidFill>
                <a:hlinkClick r:id="rId3"/>
              </a:rPr>
              <a:t>Rajpurkar и соавт., CheXNet 2017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называет классический режим — так же, как стадия требований в инженерной лекции предъявляет «требование, которое можно нарушить» прежде всякого инструмента. Номера «Пример N» он не носит: цены обеих ошибок в числах у него нет, счёта против модели тоже, и быть их здесь не должно. Он описывает работу, которая делается без всякой модели.</a:t>
            </a:r>
          </a:p>
          <a:p>
            <a:r>
              <a:t/>
            </a:r>
          </a:p>
          <a:p>
            <a:r>
              <a:t>Кабинет флюорографии районной поликлиники. Техник ставит пациента к аппарату, снимает, смотрит на экран и решает: годится или переснять. Решает он по тому, что видно на кадре, — положение пациента, захват объёма, наличие артефактов, видимость того, что должно быть видно. Это правило живёт в инструкции кабинета и в глазах того, кто снимал; в самом приборе его нет вовсе. Схема на кадре и есть эти три шага, и больше в классическом режиме ничего нет.</a:t>
            </a:r>
          </a:p>
          <a:p>
            <a:r>
              <a:t/>
            </a:r>
          </a:p>
          <a:p>
            <a:r>
              <a:t>Единица счёта у этой работы своя, и назвать её надо здесь, пока режим ещё классический: одно решение о годности на один снимок, принятое на месте и почти никогда не записанное. Записи не остаётся — значит и посчитать потом, сколько снимков переснимали, по документам нельзя. Именно поэтому в разборе, который идёт следом, доля негодных снимков оказалась неожиданной для всех: в классическом порядке её никто не мерил, потому что мерить было нечего.</a:t>
            </a:r>
          </a:p>
          <a:p>
            <a:r>
              <a:t/>
            </a:r>
          </a:p>
          <a:p>
            <a:r>
              <a:t>Если негодный снимок уйдёт на чтение, читать будут артефакт — и читающий об этом может не узнать, потому что пациента он не видел. Диагноз поставят по тому, что видно, а не по тому, что было на самом деле. Заметить подмену, кроме техника, некому: обратная связь к нему не возвращается, и до пересмотра случая никто обычно и не узнаёт, что снимок был негодным.</a:t>
            </a:r>
          </a:p>
          <a:p>
            <a:r>
              <a:t/>
            </a:r>
          </a:p>
          <a:p>
            <a:r>
              <a:t>Отсюда общее утверждение, которое стоит произнести прежде всякого разбора: до всякого чтения кто-то решает, пригодно ли измерение, и решает это человек. Контроль годности — процедура, и свойством прибора он не становится.</a:t>
            </a:r>
          </a:p>
          <a:p>
            <a:r>
              <a:t/>
            </a:r>
          </a:p>
          <a:p>
            <a:r>
              <a:t>У этой работы есть объём, и объём этот меряется. Техник переснимает, пациент переодевается второй раз, очередь стоит. В разборе, который идёт следом, эта работа посчитана прямо: при автономном чтении снимков глазного дна в одиннадцати клиниках по качеству отклонили 393 снимка из 1 838 — то есть 21 из каждых ста за первые полгода.</a:t>
            </a:r>
          </a:p>
          <a:p>
            <a:r>
              <a:t/>
            </a:r>
          </a:p>
          <a:p>
            <a:r>
              <a:t>И вот где сцена перестаёт быть бытовой. Пока чтение делает человек, годность остаётся внутренним делом кабинета: не понравилось — переснял. Когда чтение становится автономным и выполняется на месте, годность превращается в условие, от которого зависит результат: переснять некому, и посмотреть на заключение специалисту тоже некому. Из трёх режимов чтения — двойное чтение, арбитраж и контроль годности — из них этот раздел разбирает только третий; первые два придут позже, вместе с человеком, который читает рядом с моделью, и там же будут посчитаны.</a:t>
            </a:r>
          </a:p>
          <a:p>
            <a:r>
              <a:t/>
            </a:r>
          </a:p>
          <a:p>
            <a:r>
              <a:t>Стоит сказать, почему этот кадр вообще отдельный, а не строка в описании стадии. Из трёх классических режимов чтения — двойное чтение, арбитраж, контроль годности — этот раздел разбирает один, и именно его потому, что именно этот режим первый же разбор застанет изменившимся. Двойное чтение и арбитраж придут в следующем разделе, вместе с человеком, который читает рядом с моделью, и там же будут посчитаны в числах. Здесь они только названы.</a:t>
            </a:r>
          </a:p>
          <a:p>
            <a:r>
              <a:t/>
            </a:r>
          </a:p>
          <a:p>
            <a:r>
              <a:t>Вопрос залу, который здесь уместен, — предсказание на развилке этого кадра. С моделью решение о годности снимка раздваивается: негодный она отклоняет сама, и тогда человеку достаётся повторный визит; не отклонит — читает то, что ей дали. Спрашиваю: какая из двух ошибок этой развилки обойдётся системе дороже — отклонить годный снимок или прочитать негодный? И прошу обосновать одной фразой. Правильного ответа «вообще» нет: он зависит от того, кто платит за повторный визит и кто отвечает за пропущенную болезнь, — и в этом весь смысл вопроса. Разные ответы в зале и есть материал для следующего шага: цена ошибки назначается до всякой точности, и назначает её не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этого кадра задан так, чтобы на него можно было ответить числом одного вида, и основание выбрано не для удобства. Из каждых ста снимков грудной клетки, которые в стране делают, сколько прочитала обученная модель. Любое другое сопоставление стран по этому вопросу оказывается склейкой выборок — ровно той ошибкой, которую весь раздел учит ловить, и было бы странно совершить её на кадре, который к разборам ведёт.</a:t>
            </a:r>
          </a:p>
          <a:p>
            <a:r>
              <a:t/>
            </a:r>
          </a:p>
          <a:p>
            <a:r>
              <a:t>Москва, профилактический поток: пятьдесят пять из ста. Точнее — 54,8 процента: модель получила 575 549 профилактических снимков грудной клетки за пять месяцев 2024 года и 315 491 из них отнесла к норме, после чего их не читал ни один человек. Это доля на названной выборке, с опубликованной методикой и названным порогом срабатывания. Разбор самого случая идёт следующим кадром, и число оттуда же.</a:t>
            </a:r>
          </a:p>
          <a:p>
            <a:r>
              <a:t/>
            </a:r>
          </a:p>
          <a:p>
            <a:r>
              <a:t>Англия, рентген грудной клетки: тридцать четыре из ста. Числитель здесь — 2,8 миллиона снимков в год, то же число, что открывало вечер; тогда оно стояло одно во весь экран, и я говорил, что это объём и только объём. Сейчас мы его делим, и вот тут стоит остановиться, потому что доля зависит от знаменателя сильнее, чем кажется на слух. Сами эти 2,8 миллиона — слова разработчика инструмента, не государства. Знаменатель взят не у него, а из официальной статистики службы здравоохранения: за год к марту 2024 года в Англии выполнено 8 194 405 рентгенограмм грудной клетки по всем направлениям. Деление даёт 34 из ста.</a:t>
            </a:r>
          </a:p>
          <a:p>
            <a:r>
              <a:t/>
            </a:r>
          </a:p>
          <a:p>
            <a:r>
              <a:t>Но правительственное сообщение о том же самом развёртывании в той же публикации называет собственный знаменатель — свыше семи миллионов рентгенограмм грудной клетки в год. С ним тот же числитель даёт сорок из ста. Два официальных знаменателя на один вопрос, расхождение больше миллиона снимков, разброс доли в шесть пунктов. Это названо здесь вслух, а не выбрано молча одно из двух: кадр, который учит читать знаменатель, не вправе свой собственный спрятать.</a:t>
            </a:r>
          </a:p>
          <a:p>
            <a:r>
              <a:t/>
            </a:r>
          </a:p>
          <a:p>
            <a:r>
              <a:t>Стоит отдельно назвать, кто какое число произносит, потому что это разные разряды свидетельства. Числитель 2,8 миллиона — заинтересованная сторона. Правительство числителя не даёт вовсе: оно называет долю трастов — инструмент работает в половине трастов Англии — и число людей, четыре миллиона, получивших быстрее диагноз или снятие подозрения. Доля трастов и доля снимков совпадать не обязаны: траст может быть подключён и присылать малую часть своего потока.</a:t>
            </a:r>
          </a:p>
          <a:p>
            <a:r>
              <a:t/>
            </a:r>
          </a:p>
          <a:p>
            <a:r>
              <a:t>Теперь США, и тут на кадре стоит не число, а пробел, названный словами. Доли снимков, прочитанных моделью, США не публикует. Публикуется другое: кумулятивно 1 430 авторизаций изделий с обученной моделью на конец 2025 года, 76,5 процента из них в радиологии. Это доля изделий в реестре допусков за тридцать лет, а не доля потока за год.</a:t>
            </a:r>
          </a:p>
          <a:p>
            <a:r>
              <a:t/>
            </a:r>
          </a:p>
          <a:p>
            <a:r>
              <a:t>Есть и второе американское число, и соблазн поставить его рядом силён именно потому, что оно похоже: по опросу профессионального объединения радиологов тридцать четыре процента опрошенных врачей применяют модель в практике. Рядом с английскими тридцатью четырьмя из ста снимков оно стоять не может — там доля снимков, здесь доля врачей. Врач, применяющий модель, может пропускать через неё один снимок из двадцати. Поставить эти два числа на одну ось значило бы совершить подмену знаменателя прямо на кадре, и совпадение первых двух цифр сделало бы её незаметной.</a:t>
            </a:r>
          </a:p>
          <a:p>
            <a:r>
              <a:t/>
            </a:r>
          </a:p>
          <a:p>
            <a:r>
              <a:t>И что остаётся по России целиком, помимо московской выборки. Московские сервисы расшифровывают 1,4 миллиона исследований в месяц, около восьмидесяти процентов из них приходит из регионов; накопленным итогом свыше восемнадцати миллионов исследований, 75 регионов, около двух с половиной тысяч медицинских организаций. Мэрия оценивает этот поток как четверть всех снимков, которые выполняются в России. Знаменателя к этой оценке не публикует никто — ни числа снимков в год по стране, ни правила, по которому в него что-то включают. Поэтому на ось она не поставлена: там стоит только то, у чего знаменатель назван числом.</a:t>
            </a:r>
          </a:p>
          <a:p>
            <a:r>
              <a:t/>
            </a:r>
          </a:p>
          <a:p>
            <a:r>
              <a:t>Три разряда свидетельства на одном кадре, и читать их как один ряд нельзя. Московская доля — рецензируемое проспективное исследование с опубликованной выборкой. Английская — числитель от заинтересованной стороны, знаменатель из государственной статистики, и само государство даёт второй. Оценка «четверти» — заявление должностного лица без знаменателя.</a:t>
            </a:r>
          </a:p>
          <a:p>
            <a:r>
              <a:t/>
            </a:r>
          </a:p>
          <a:p>
            <a:r>
              <a:t>Дальше идут разборы, и первые два из них отечественные: один про то, как на этом самом московском потоке модель отправили работать без человека, второй — про задачу в том же городе, где её работать без человека не пустили.</a:t>
            </a:r>
          </a:p>
          <a:p>
            <a:r>
              <a:t/>
            </a:r>
          </a:p>
          <a:p>
            <a:r>
              <a:t>**Источники.** </a:t>
            </a:r>
            <a:r>
              <a:rPr u="sng">
                <a:solidFill>
                  <a:srgbClr val="065A82"/>
                </a:solidFill>
                <a:hlinkClick r:id="rId3"/>
              </a:rPr>
              <a:t>Васильев и соавт., *Digital Diagnostics* 2025;6(1):5–22</a:t>
            </a:r>
            <a:r>
              <a:t> · </a:t>
            </a:r>
            <a:r>
              <a:rPr u="sng">
                <a:solidFill>
                  <a:srgbClr val="065A82"/>
                </a:solidFill>
                <a:hlinkClick r:id="rId4"/>
              </a:rPr>
              <a:t>NHS England, Diagnostic Imaging Dataset 2023/24, таблица 6</a:t>
            </a:r>
            <a:r>
              <a:t> · </a:t>
            </a:r>
            <a:r>
              <a:rPr u="sng">
                <a:solidFill>
                  <a:srgbClr val="065A82"/>
                </a:solidFill>
                <a:hlinkClick r:id="rId5"/>
              </a:rPr>
              <a:t>сообщение правительства Великобритании, 10.06.2026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Предыдущий кадр кончился тем, что доли прочитанного потока у Англии две, а у Соединённых Штатов её нет вовсе. У Москвы она есть, посчитана на опубликованной выборке, и вот она.</a:t>
            </a:r>
          </a:p>
          <a:p>
            <a:r>
              <a:t/>
            </a:r>
          </a:p>
          <a:p>
            <a:r>
              <a:t>Пятьдесят пять снимков из ста. Точнее — пятьдесят четыре и восемь десятых процента: с мая по сентябрь двадцать четвёртого года модель получила пятьсот семьдесят пять тысяч пятьсот сорок девять профилактических снимков грудной клетки, флюорограмм и рентгенограмм, и триста пятнадцать тысяч четыреста девяносто один из них отнесла к норме. Заключение по ним ушло прямо в электронную карту. Ни один врач этих снимков не открывал.</a:t>
            </a:r>
          </a:p>
          <a:p>
            <a:r>
              <a:t/>
            </a:r>
          </a:p>
          <a:p>
            <a:r>
              <a:t>Произнесу знаменатель отдельно, потому что без него число читается не так. Пятьсот семьдесят пять тысяч — это не весь лучевой поток города и не все снимки грудной клетки. Это профилактический поток: снимки, которые делают здоровым людям по плану, а не по жалобе. Отправлено в систему было шестьсот сорок две тысячи шестьсот восемьдесят одно исследование, в анализ вошли пятьсот семьдесят пять с половиной тысяч. На потоке по жалобе доля была бы другой, и сравнивать их нельзя.</a:t>
            </a:r>
          </a:p>
          <a:p>
            <a:r>
              <a:t/>
            </a:r>
          </a:p>
          <a:p>
            <a:r>
              <a:t>И сразу разграничение, без которого удар превращается в лозунг. Пятьдесят пять из ста — это объём, и только объём. Он не говорит ни что это хорошо, ни что это плохо. Он говорит, что решение «этот снимок человек не увидит» принимается в городе триста пятнадцать тысяч раз за пять месяцев, то есть примерно две тысячи раз в день, и принимает его не человек. Что за это заплачено — следующий кадр, и платёж там посчитан: двести девяносто клинически значимых пропусков и минус сорок три и семь десятых процента расходов по тарифам.</a:t>
            </a:r>
          </a:p>
          <a:p>
            <a:r>
              <a:t/>
            </a:r>
          </a:p>
          <a:p>
            <a:r>
              <a:t>Почему это ударом, а не строкой в разборе. Весь вечер держится на одном вопросе: что делает человек после модели. На третьей ступени участия — «смотрит только спорное» — ответ оказывается буквальным: на половине потока он не делает ничего, потому что до него эта половина не доходит. Число стоит отдельным кадром затем, чтобы зал услышал его прежде, чем начнёт разбираться в пороге срабатывания и в тарифах: сначала масштаб решения, потом его устройство.</a:t>
            </a:r>
          </a:p>
          <a:p>
            <a:r>
              <a:t/>
            </a:r>
          </a:p>
          <a:p>
            <a:r>
              <a:t>Одно замечание про сам приём, если кто-нибудь спросит, почему так настроили. Чувствительность выставлена на единицу сознательно: тревога поднимается на всём, что хоть немного похоже на отклонение, а специфичность объявлена незначимой. Это и есть то, из-за чего сорок пять снимков из ста уходят человеку, а пятьдесят пять — нет. Разбор этого решения — на следующем кадре; здесь важно только, что порог срабатывания здесь не настройка по умолчанию, а принятое и записанное решение.</a:t>
            </a:r>
          </a:p>
          <a:p>
            <a:r>
              <a:t/>
            </a:r>
          </a:p>
          <a:p>
            <a:r>
              <a:t>**Источники.** </a:t>
            </a:r>
            <a:r>
              <a:rPr u="sng">
                <a:solidFill>
                  <a:srgbClr val="065A82"/>
                </a:solidFill>
                <a:hlinkClick r:id="rId3"/>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Начать стоит с цены обеих ошибок, потому что из неё выведено всё инженерное решение этого случая. Профилактический снимок грудной клетки делают человеку без жалоб. Пропущенный инфильтрат на таком снимке — это туберкулёз или опухоль, которые заметят на следующем круге, через год, и цена пропуска меряется стадией, на которой болезнь застанут. Лишняя тревога на профилактическом снимке дешевле несопоставимо: человека позовут на уточняющее исследование. Асимметрия здесь предельная, и ровно она назначила порог срабатывания.</a:t>
            </a:r>
          </a:p>
          <a:p>
            <a:r>
              <a:t/>
            </a:r>
          </a:p>
          <a:p>
            <a:r>
              <a:t>Классические режимы, посчитанные в той же единице. Первый: рентгенолог читает каждый профилактический снимок. Доля клинически значимых пропусков у человека на рентгенограмме грудной клетки — три-четыре процента, и число это взято у того же центра, который вёл исследование, на выборке 8 815 снимков и 403 специалистах. Второй режим — двойное чтение, два рентгенолога на один профилактический снимок. В массовом потоке он не применяется, и не из-за методики: читающих не хватает на одно чтение. Деньги у первого режима тоже названы, и названы тарифом обязательного медицинского страхования: чтение одной профилактической флюорограммы человеком — 132 рубля 98 копеек.</a:t>
            </a:r>
          </a:p>
          <a:p>
            <a:r>
              <a:t/>
            </a:r>
          </a:p>
          <a:p>
            <a:r>
              <a:t>Теперь модель против этих режимов, и устройство здесь важнее результата. Порог срабатывания выставили так: чувствительность 1,0 при доверительном интервале от единицы до единицы, специфичность признана незначимой. Это инженерное решение, а не свойство модели. При такой настройке система обязана поднять тревогу на всём, что хоть отчасти похоже на отклонение, и платит за это тем, что в «не норму» уходит почти половина потока.</a:t>
            </a:r>
          </a:p>
          <a:p>
            <a:r>
              <a:t/>
            </a:r>
          </a:p>
          <a:p>
            <a:r>
              <a:t>Дальше поток делится надвое. Снимки, отнесённые к «не норме», уходят рентгенологу референс-центра — их 260 058, сорок пять из ста. Снимки, отнесённые к норме, не читает никто: заключение модели уходит прямо в электронную карту. Их 315 491, пятьдесят пять из ста, и это весь выигрыш случая целиком.</a:t>
            </a:r>
          </a:p>
          <a:p>
            <a:r>
              <a:t/>
            </a:r>
          </a:p>
          <a:p>
            <a:r>
              <a:t>Проверили его так, как в обычной работе не проверяют и проверять не будут. Все 315 491 «нормы» перечитали рентгенологи федеральной академии — организации, не участвовавшей в развёртывании. Они подняли 942 подозрения. Торакальный рентгенолог подтвердил 411 из них, а остальные 531 оказались ложными тревогами самого проверяющего врача — и это число стоит задержать в голове: проверяющий человек ошибался здесь чаще, чем проверяемая машина. Из 411 подтверждённых 290 клинически значимые, 121 нет.</a:t>
            </a:r>
          </a:p>
          <a:p>
            <a:r>
              <a:t/>
            </a:r>
          </a:p>
          <a:p>
            <a:r>
              <a:t>Итог в одной строке: 290 клинически значимых пропусков на 575 549 снимков, то есть пять на десять тысяч, при доверительном интервале от четырёх до шести на десять тысяч. Сортировка верна в 99,95 процента случаев.</a:t>
            </a:r>
          </a:p>
          <a:p>
            <a:r>
              <a:t/>
            </a:r>
          </a:p>
          <a:p>
            <a:r>
              <a:t>Сравнивать эти пять на десять тысяч с человеческими тремя-четырьмя процентами прямо нельзя, и сказать это надо вслух, потому что сравнение само просится и выглядит разгромным. Человеческая доля посчитана на всём потоке, где есть и трудные снимки. Доля модели — только на том подмножестве, которое она сама отобрала как лёгкое. Одного знаменателя у этих двух чисел нет, и разница в шестьдесят раз из них не следует.</a:t>
            </a:r>
          </a:p>
          <a:p>
            <a:r>
              <a:t/>
            </a:r>
          </a:p>
          <a:p>
            <a:r>
              <a:t>Что именно пропущено, стоит назвать поимённо. Инфильтрат или консолидация — 188 случаев из 290. Участок затемнения — 78. Расширенное средостение — девять, выпот в полости — пять, нарушение целости костной пластины — три, ателектаз — три, диссеминация — два, полость — два. Две первые позиции дают девяносто два процента всех клинически значимых пропусков, и это ровно те находки, ради которых профилактический снимок и делают.</a:t>
            </a:r>
          </a:p>
          <a:p>
            <a:r>
              <a:t/>
            </a:r>
          </a:p>
          <a:p>
            <a:r>
              <a:t>Цену этого выигрыша — деньги, нормативную правку и исчезнувший слой проверки — разбирает следующий кадр.</a:t>
            </a:r>
          </a:p>
          <a:p>
            <a:r>
              <a:t/>
            </a:r>
          </a:p>
          <a:p>
            <a:r>
              <a:t>**Источники.** </a:t>
            </a:r>
            <a:r>
              <a:rPr u="sng">
                <a:solidFill>
                  <a:srgbClr val="065A82"/>
                </a:solidFill>
                <a:hlinkClick r:id="rId3"/>
              </a:rPr>
              <a:t>Васильев и соавт., *Digital Diagnostics* 2025;6(1):5–22</a:t>
            </a:r>
          </a:p>
          <a:p>
            <a:r>
              <a:t/>
            </a:r>
          </a:p>
          <a:p>
            <a:r>
              <a:t>Что означает выставленная чувствительность, если спросят (#293, Этап D — строка снята с кадра ради кегля тела): тревога поднимается на всём, что отчасти похоже на отклонение.</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Первое, что переехало, — исчез слой, который ловил ошибку. В обычной работе ни один из 290 пропусков не нашёл бы никто. Их нашли только потому, что протокол исследования требовал перечитать людьми все 315 491 «нормы». Когда исследование кончится, этого слоя не будет, а доля пропусков останется прежней. Иначе говоря: число, которым мы только что хвалили модель, получено средствами, которых в её штатной работе нет.</a:t>
            </a:r>
          </a:p>
          <a:p>
            <a:r>
              <a:t/>
            </a:r>
          </a:p>
          <a:p>
            <a:r>
              <a:t>Второе: чтение стало дороже штучно. Тариф на чтение флюорограммы, отнесённой к «не норме», — 155 рублей 62 копейки против 132 рублей 98 копеек за прежнее сплошное чтение. Рентгенограмма — 157 рублей 56 копеек. Подорожал каждый снимок, который человек всё-таки читает. Автономное заключение модели при этом стоит 6 рублей 90 копеек за флюорограмму и 8 рублей 80 копеек за рентгенограмму — в двадцать с лишним раз дешевле человеческого чтения.</a:t>
            </a:r>
          </a:p>
          <a:p>
            <a:r>
              <a:t/>
            </a:r>
          </a:p>
          <a:p>
            <a:r>
              <a:t>Поэтому арифметика экономии выглядит именно так, как выглядит. За пять месяцев расходы по тарифам составили 43 миллиона 89 тысяч рублей против 76 миллионов 537 тысяч по модели расходов прежнего режима — минус сорок три и семь десятых процента, экономия 33 миллиона 448 тысяч. И берётся она не из того, что читать стало дешевле: читать стало дороже. Берётся она из того, что больше половины потока не читает никто.</a:t>
            </a:r>
          </a:p>
          <a:p>
            <a:r>
              <a:t/>
            </a:r>
          </a:p>
          <a:p>
            <a:r>
              <a:t>Третье: прежде работы потребовалась правка нормативной базы. В тарифное соглашение программы обязательного медицинского страхования на 2024 год внесли четыре новые услуги. Без этой правки модель работать не могла вовсе — платить за её заключение было нечем. Это стоит заметить инженеру: техническая готовность системы и возможность её включить здесь оказались разными вещами, и вторая решалась не в технической плоскости.</a:t>
            </a:r>
          </a:p>
          <a:p>
            <a:r>
              <a:t/>
            </a:r>
          </a:p>
          <a:p>
            <a:r>
              <a:t>Четвёртое: нагрузка пропусков легла неравномерно. Половина потока — люди от восемнадцати до сорока четырёх лет, 155 898 человек из 315 491, и доля пропусков у них наибольшая: двенадцать на десять тысяч против семи в старших группах. У мужчин отношение шансов клинически значимого расхождения 1,32 при интервале от 1,04 до 1,66. Средняя доля по потоку — пять на десять тысяч — ни одной из этих групп не описывает.</a:t>
            </a:r>
          </a:p>
          <a:p>
            <a:r>
              <a:t/>
            </a:r>
          </a:p>
          <a:p>
            <a:r>
              <a:t>Пара, которой закрывается разбор. Дало: 33 миллиона 448 тысяч рублей за пять месяцев и половину потока, снятую с рентгенолога. Потребовало: 290 пропущенных клинически значимых находок, из которых в обычном режиме работы не будет найдена ни одна.</a:t>
            </a:r>
          </a:p>
          <a:p>
            <a:r>
              <a:t/>
            </a:r>
          </a:p>
          <a:p>
            <a:r>
              <a:t>И урок целиком, потому что это первый случай раздела, где автономное применение модели не провалилось. Устроено оно честно: задача узкая — сортировка на «норму» и «не норму», а не диагноз; порог срабатывания выставлен под асимметрию цены; выигрыш посчитан против названного классического режима в его собственных рублях; цена названа числом и адресом. И он же показывает, на чём это держится: доля пропусков известна ровно потому, что её мерили, а в штатной работе мерить её нечем.</a:t>
            </a:r>
          </a:p>
          <a:p>
            <a:r>
              <a:t/>
            </a:r>
          </a:p>
          <a:p>
            <a:r>
              <a:t>**Источники.** </a:t>
            </a:r>
            <a:r>
              <a:rPr u="sng">
                <a:solidFill>
                  <a:srgbClr val="065A82"/>
                </a:solidFill>
                <a:hlinkClick r:id="rId3"/>
              </a:rPr>
              <a:t>Васильев и соавт., *Digital Diagnostics* 2025;6(1):5–22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здесь другого порядка, чем на профилактическом потоке, и из этого всё остальное. Кровоизлияние в полость черепа — состояние, при котором счёт идёт на минуты: от того, насколько быстро его увидят на томограмме, зависит, доживёт человек до вмешательства или нет. Пропуск здесь не отложенная на год стадия, а смерть или необратимое поражение. Но и ложная тревога здесь не бесплатная: это развёрнутая экстренная бригада и место в операционной, занятое напрасно. Главное же — времени на то, чтобы спокойно проверить тревогу, в этом пути нет.</a:t>
            </a:r>
          </a:p>
          <a:p>
            <a:r>
              <a:t/>
            </a:r>
          </a:p>
          <a:p>
            <a:r>
              <a:t>Классический режим: рентгенолог читает томограмму головы сам. В этом исследовании он и взят за точку сравнения — но взят в особом виде, и вид надо назвать прежде чисел. Врачу был доступен результат модели как вспомогательный. Отдельного измерения «врач без подсказки» в работе нет. Значит, что именно дала подсказка, это исследование не измеряет; оно измеряет другое — модель одну против врача с подсказкой.</a:t>
            </a:r>
          </a:p>
          <a:p>
            <a:r>
              <a:t/>
            </a:r>
          </a:p>
          <a:p>
            <a:r>
              <a:t>Выборка: 3 409 томограмм головы, из них 1 101 с кровоизлиянием, тридцать два из ста. Шестьдесят семь медицинских организаций Москвы, набор с апреля 2022 по декабрь 2024 года. Сравнивались три зарегистрированных сервиса с заключением врача.</a:t>
            </a:r>
          </a:p>
          <a:p>
            <a:r>
              <a:t/>
            </a:r>
          </a:p>
          <a:p>
            <a:r>
              <a:t>Врач с подсказкой превзошёл модель по всем показателям, и по долям разница выглядит умеренной. Из ста больных находит девяносто девять против девяноста шести. Из ста здоровых не пугает девяносто девять и восемь десятых против восьмидесяти семи и четырёх. Вторая пара и есть вся история, но в долях она не читается — читается она в случаях. На одной и той же выборке модель подняла 293 ложные тревоги, врач — четыре. В семьдесят три раза больше.</a:t>
            </a:r>
          </a:p>
          <a:p>
            <a:r>
              <a:t/>
            </a:r>
          </a:p>
          <a:p>
            <a:r>
              <a:t>Главное наблюдение разбора, и ради него он здесь стоит: пропуски не совпали ни в одном случае. Все сорок пять кровоизлияний, пропущенных моделью, нашёл врач. Все двенадцать, пропущенных врачом, нашла модель. Согласие двух методов — восемьдесят девять и шесть десятых процента.</a:t>
            </a:r>
          </a:p>
          <a:p>
            <a:r>
              <a:t/>
            </a:r>
          </a:p>
          <a:p>
            <a:r>
              <a:t>Что из этого переехало. Автономный режим здесь не рассматривается вовсе: 293 ложные тревоги на 3 409 исследований означают, что каждая двенадцатая томограмма пошла бы в экстренный путь напрасно, а в экстренном пути напрасный вызов стоит дороже, чем очередь. Взаимодополняемость пропусков переводит модель из первого читателя во второго — её ценность не в том, что она читает лучше, а в том, что она ошибается в других местах. И за это приходит работа разбирать 293 ложные тревоги, причём делает её тот же врач, которому модель помогает.</a:t>
            </a:r>
          </a:p>
          <a:p>
            <a:r>
              <a:t/>
            </a:r>
          </a:p>
          <a:p>
            <a:r>
              <a:t>Пара, которой закрывается разбор. Дало: двенадцать кровоизлияний, которые врач пропустил, а модель увидела. Потребовало: двести восемьдесят девять лишних разборов на те же 3 409 исследований.</a:t>
            </a:r>
          </a:p>
          <a:p>
            <a:r>
              <a:t/>
            </a:r>
          </a:p>
          <a:p>
            <a:r>
              <a:t>И урок, ради которого эти два отечественных разбора стоят рядом. Задача та же — чтение снимка обученной моделью. Город тот же, круг изделий тот же, надзор тот же. Вывод обратный: там модель отправили работать без человека и измерили, во что это обошлось; здесь авторы прямо пишут, что место модели — второй читатель, а не первый. Отличает эти два случая не качество моделей, а цена ложной тревоги и наличие времени. На профилактическом потоке ложная тревога стоит одного уточняющего исследования, и время есть. В экстренном пути она стоит развёрнутой бригады, и времени нет. Из одного и того же свойства модели — поднимать тревогу щедро — в одной задаче получается разрешение работать без человека, в другой запрет на него.</a:t>
            </a:r>
          </a:p>
          <a:p>
            <a:r>
              <a:t/>
            </a:r>
          </a:p>
          <a:p>
            <a:r>
              <a:t>И последнее, что этот разбор добавляет разделу: это единственный из пяти, где провалилось само чтение. Не место, не состав обучающего набора, не определение цели — чтение.</a:t>
            </a:r>
          </a:p>
          <a:p>
            <a:r>
              <a:t/>
            </a:r>
          </a:p>
          <a:p>
            <a:r>
              <a:t>**Источники.** </a:t>
            </a:r>
            <a:r>
              <a:rPr u="sng">
                <a:solidFill>
                  <a:srgbClr val="065A82"/>
                </a:solidFill>
                <a:hlinkClick r:id="rId3"/>
              </a:rPr>
              <a:t>Хоружая и соавт., *Journal of Clinical Medicine* 2025;14(16):5700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считается здесь в исходах и в визитах, а не в деньгах. Пропущенное поражение глазного дна у человека с диабетом — это необратимая потеря зрения: до поздних стадий оно бессимптомно, человек ничего не чувствует и сам не приходит. Ложная тревога — направление к офтальмологу, которого в районе может не быть вовсе, и очередь, в которой стоят те, кому направление нужно. Денежных оценок для этой страны в открытых источниках нет, а американские сюда не переносятся, поэтому цена названа исходом и визитом.</a:t>
            </a:r>
          </a:p>
          <a:p>
            <a:r>
              <a:t/>
            </a:r>
          </a:p>
          <a:p>
            <a:r>
              <a:t>Классический режим произносится словами и без числа: раз в год человек с диабетом идёт на приём к офтальмологу, тот сам снимает и сам читает. Своего счёта этого режима на той же тайской выборке в источнике нет, и подставлять сюда явку из другого испытания — другая страна, другая возрастная группа — значило бы склеить две выборки в одну. Второй классический режим в этой задаче просто отсутствует: двойного чтения снимков глазного дна в первичном звене не бывает, читать их там некому вовсе, и это сказано здесь, а не замолчано.</a:t>
            </a:r>
          </a:p>
          <a:p>
            <a:r>
              <a:t/>
            </a:r>
          </a:p>
          <a:p>
            <a:r>
              <a:t>Модель против этого режима: автономное чтение двух снимков глазного дна прямо в кабинете первичного звена, результат меньше чем за минуту, без офтальмолога. Вход — два снимка, выход — та же метка, что поставил бы специалист. Обучена она на лабораторном наборе из снимков, прошедших отбор по качеству, и вот здесь лежит весь разбор: в поле этот отбор делает человек, которому правила не назвали. Имени системы оценка не называет — назвать его нечем, и это отказ, а не пропуск.</a:t>
            </a:r>
          </a:p>
          <a:p>
            <a:r>
              <a:t/>
            </a:r>
          </a:p>
          <a:p>
            <a:r>
              <a:t>Пятый вопрос чек-листа инженерной глубины — обучение, обновление, дрейф — для этой конкретной инсталляции закрывается честным отказом, и это полноправный ответ, не оговорка о нехватке материала. Об объёме и составе обучающей выборки, о частоте переобучения после развёртывания в Таиланде и о протоколе мониторинга дрейфа источник молчит вовсе. Причина не в том, что поиск оборвался: Beede и соавторы пишут наблюдательное исследование внедрения — оно описывает место и его проблемы, а не инженерию модели, и требовать от него того, чего такой жанр публикации не даёт, значит путать пробел поиска с природой источника.</a:t>
            </a:r>
          </a:p>
          <a:p>
            <a:r>
              <a:t/>
            </a:r>
          </a:p>
          <a:p>
            <a:r>
              <a:t>И вот что показало поле. За первые полгода развёртывания в одиннадцати клиниках по качеству отклонён 21 снимок из ста — 393 из 1 838 сделанных. Причины названы и обе про место, а не про модель: освещение в кабинете, где снимали, и медленная связь, из-за которой снимок не успевал уйти на обработку. Ни одна из двух на лабораторном наборе не видна.</a:t>
            </a:r>
          </a:p>
          <a:p>
            <a:r>
              <a:t/>
            </a:r>
          </a:p>
          <a:p>
            <a:r>
              <a:t>Два числа рядом стоять не должны, и это стоит произнести прямо: 21 из ста — доля негодных снимков, а не доля неявки. Явку мерил другой разбор, на другой выборке и в другой стране.</a:t>
            </a:r>
          </a:p>
          <a:p>
            <a:r>
              <a:t/>
            </a:r>
          </a:p>
          <a:p>
            <a:r>
              <a:t>Лабораторная точность модели-предшественника опубликована, и в этом разборе она не произносится — по тому самому правилу раздела: у неё нет ни названной группы, ни названной распространённости. Правило применяется к числу, которое разбору было бы выгодно.</a:t>
            </a:r>
          </a:p>
          <a:p>
            <a:r>
              <a:t/>
            </a:r>
          </a:p>
          <a:p>
            <a:r>
              <a:t>Теперь то, что переехало в работе, и это ведущее изменение случая. Нагрузка выросла на том же месте. Место и рука те же — техник первичного звена, та же камера, — а объём работы больше: у него появилась работа добиться годного снимка. У офтальмолога такой операции не было вовсе, потому что он компенсировал условия съёмки сам: подправил положение, переснял, посмотрел собственными глазами на результат. Рядом появился шаг, которого в классическом порядке не существовало: повторный визит для тех, чей снимок не прошёл. Это 21 человек из каждых ста обследованных, и каждому из них нужно прийти второй раз.</a:t>
            </a:r>
          </a:p>
          <a:p>
            <a:r>
              <a:t/>
            </a:r>
          </a:p>
          <a:p>
            <a:r>
              <a:t>Пара, которой разбор закрывается. Дало: результат в кабинете первичного звена, без направления и без ожидания специалиста. Потребовало: годного снимка в условиях, под которые систему не проверяли. В сумме: на старте развёртывания результат оказался хуже лабораторного замера, и разница объясняется устройством места, а не устройством модели.</a:t>
            </a:r>
          </a:p>
          <a:p>
            <a:r>
              <a:t/>
            </a:r>
          </a:p>
          <a:p>
            <a:r>
              <a:t>Урок, который стоит унести с этого разбора целиком. Провалилось развёртывание — чтение сработало. Модель приехала готовой, место под неё — нет, и ровно это место никто не измерял до внедрения. Ни одно из двух названных изменений не про модель: оба про место.</a:t>
            </a:r>
          </a:p>
          <a:p>
            <a:r>
              <a:t/>
            </a:r>
          </a:p>
          <a:p>
            <a:r>
              <a:t>И честная оговорка о силе свидетельства. Это полевое наблюдательное исследование внедрения: одиннадцать клиник, первые полгода. Измерено однажды, прямого повторения нет — и это произносится рядом с числом, а не вместо него.</a:t>
            </a:r>
          </a:p>
          <a:p>
            <a:r>
              <a:t/>
            </a:r>
          </a:p>
          <a:p>
            <a:r>
              <a:t>**Источники.** </a:t>
            </a:r>
            <a:r>
              <a:rPr u="sng">
                <a:solidFill>
                  <a:srgbClr val="065A82"/>
                </a:solidFill>
                <a:hlinkClick r:id="rId3"/>
              </a:rPr>
              <a:t>Beede и соавт., CHI 2020</a:t>
            </a:r>
            <a:r>
              <a:t> · иллюстрация — </a:t>
            </a:r>
            <a:r>
              <a:rPr u="sng">
                <a:solidFill>
                  <a:srgbClr val="065A82"/>
                </a:solidFill>
                <a:hlinkClick r:id="rId4"/>
              </a:rPr>
              <a:t>Skevas и соавт., BMC Ophthalmology 2024, рис. 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стадией. Пропущенное злокачественное образование кожи — лечение на поздней стадии, а не на ранней; единого числа выживаемости по группам, посчитанного на одной когорте за один период, в открытых сводках нет, поэтому цена названа стадией, а не процентом. Лишняя тревога — биопсия, рубец и месяцы ожидания результата.</a:t>
            </a:r>
          </a:p>
          <a:p>
            <a:r>
              <a:t/>
            </a:r>
          </a:p>
          <a:p>
            <a:r>
              <a:t>Оба классических режима взяты из одной работы и одной методологии: метаанализ прямого сравнения показал, что осмотр невооружённым глазом находит восемьдесят шесть больных из ста при специфичности семьдесят семь, а дермоскопия у обученного специалиста — девяносто один при специфичности семьдесят четыре. Свежий обзор по той же задаче даёт для осмотра другие числа, а сводной оценки дермоскопии не даёт вовсе из-за разнородности работ; две методологии рядом не ставятся, иначе сравнение пойдёт между методиками подсчёта, а не между режимами.</a:t>
            </a:r>
          </a:p>
          <a:p>
            <a:r>
              <a:t/>
            </a:r>
          </a:p>
          <a:p>
            <a:r>
              <a:t>Модель против этих режимов. На наборе из шестисот пятидесяти шести изображений, каждое с подтверждённой биопсией, три модели дают площадь под кривой на тёмных тонах кожи на девять-пятнадцать пунктов ниже, чем на светлых. Состав набора назван поимённо: двести восемь светлых тонов, двести сорок один средних, двести семь самых тёмных. Знаменатель приличный, и говорить о «нескольких примерах» здесь нельзя.</a:t>
            </a:r>
          </a:p>
          <a:p>
            <a:r>
              <a:t/>
            </a:r>
          </a:p>
          <a:p>
            <a:r>
              <a:t>Устроено это так: на входе снимок кожного образования, на выходе оценка «показать врачу или нет». Обучающие наборы у трёх моделей свои, и тёмных тонов в них мало — в этом весь разбор, и это единственный случай в лекции, где предметом стал состав обучающих данных, а не алгоритм, развёртывание или выбор цели. Имён самих моделей публикация не даёт; названа проверочная выборка — DDI, и по ней работу можно найти.</a:t>
            </a:r>
          </a:p>
          <a:p>
            <a:r>
              <a:t/>
            </a:r>
          </a:p>
          <a:p>
            <a:r>
              <a:t>Одну ходовую цифру разбор произносить отказывается, и отказ стоит произнести вслух. Формулировка «на тёмной коже чувствительность падает на двадцать-тридцать процентов» в публикации не найдена, источник её не опознаётся. Ближайшее измеренное выглядит иначе и относится к одной из трёх моделей: шестьдесят девять больных из ста на светлых тонах против двадцати трёх на тёмных. Правило раздела применяется к числу, которое разбору было бы выгодно, — и именно поэтому применяется.</a:t>
            </a:r>
          </a:p>
          <a:p>
            <a:r>
              <a:t/>
            </a:r>
          </a:p>
          <a:p>
            <a:r>
              <a:t>Единица замера названа точно: это пункты площади под кривой, мера различения больного и здорового, а не доля найденных больных. Подменять одно другим нельзя — величины разной природы, и разрыв в пунктах площади не переводится в проценты пропущенных. Если кто-нибудь в зале переведёт его в проценты, он получит число, которого никто не мерил.</a:t>
            </a:r>
          </a:p>
          <a:p>
            <a:r>
              <a:t/>
            </a:r>
          </a:p>
          <a:p>
            <a:r>
              <a:t>И про силу свидетельства, прежде чем идти к цене. Это проверка на отобранном корпусе с биопсийным подтверждением, а не полевое наблюдение внедрения: про то, как эти модели ведут себя в настоящем кабинете, работа не говорит ничего. Знаменатель назван, состав назван, единица названа — и этим её ценность исчерпывается. Переносить вывод на конкретное изделие нельзя: моделей три, и ни одна не поименована.</a:t>
            </a:r>
          </a:p>
          <a:p>
            <a:r>
              <a:t/>
            </a:r>
          </a:p>
          <a:p>
            <a:r>
              <a:t>По-человечески случай устроен так. Идти ли с этим образованием к врачу — вопрос, который человек задаёт себе сам, и до всякой модели решали его тремя способами: посмотреть глазом, посмотреть через дермоскоп у специалиста и сфотографировать телефоном, отдав снимок модели. Получилось вот что: модель работает, и работает неодинаково для разных людей — причём разница лежит не в алгоритме, а в том, из чьих снимков её учили. Это классификация изображений, и в этом месте курса она уже знакома; новое здесь не устройство модели, а то, что предметом разбора стал её обучающий набор.</a:t>
            </a:r>
          </a:p>
          <a:p>
            <a:r>
              <a:t/>
            </a:r>
          </a:p>
          <a:p>
            <a:r>
              <a:t>**Источники.** </a:t>
            </a:r>
            <a:r>
              <a:rPr u="sng">
                <a:solidFill>
                  <a:srgbClr val="065A82"/>
                </a:solidFill>
                <a:hlinkClick r:id="rId3"/>
              </a:rPr>
              <a:t>Daneshjou и соавт., Science Advances 2022</a:t>
            </a:r>
            <a:r>
              <a:t> · </a:t>
            </a:r>
            <a:r>
              <a:rPr u="sng">
                <a:solidFill>
                  <a:srgbClr val="065A82"/>
                </a:solidFill>
                <a:hlinkClick r:id="rId4"/>
              </a:rPr>
              <a:t>Vestergaard и соавт., British Journal of Dermatology 2008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здесь одна, и она называется прямо: сместилась цена ошибки. Место то же и исполнитель тот же, а то, во что обходится ошибка, распределилось иначе — по разным людям по-разному. Средняя точность по набору остаётся приличной, и отчёт о внедрении с одним числом покажет благополучие. Платит подгруппа, изображений которой в обучающем наборе было мало, и в среднюю её вклад тонет по построению: она меньшая часть набора.</a:t>
            </a:r>
          </a:p>
          <a:p>
            <a:r>
              <a:t/>
            </a:r>
          </a:p>
          <a:p>
            <a:r>
              <a:t>Исправление в этом разборе измерено, и это редкий случай — обычно про смещение говорят, не проверяя лечения. Дообучение на представительном наборе разрыв снимает и даже переворачивает. Три алгоритмических метода борьбы со смещением значимо его не уменьшили. Вывод отсюда неудобный для инженерного вкуса: чинит разрыв сбор и разметка — та часть работы, которую чаще всего отдают на сторону и считают черновой. Модель его не чинит.</a:t>
            </a:r>
          </a:p>
          <a:p>
            <a:r>
              <a:t/>
            </a:r>
          </a:p>
          <a:p>
            <a:r>
              <a:t>Что из этого стоит унести инженеру. Состав обучающего набора — не черновая работа и не то, что отдают стажёру: здесь он оказался единственным, что лечит измеренный разрыв, причём три метода, созданных именно для борьбы со смещением, его не вылечили. Это неудобный вывод, и он проверяемый — проверка лежит в той же работе, рядом с самим разрывом.</a:t>
            </a:r>
          </a:p>
          <a:p>
            <a:r>
              <a:t/>
            </a:r>
          </a:p>
          <a:p>
            <a:r>
              <a:t>Пара, которой закрывается разбор. Дало: постоянную оценку кожного образования там, где дерматолога нет, — доступ, а не точность. Потребовало: набора, который повторяет состав тех, на ком система будет работать, и знания этого состава заранее. В сумме: средняя держится, цена ошибки переехала на подгруппу, и заметить это по средней нельзя.</a:t>
            </a:r>
          </a:p>
          <a:p>
            <a:r>
              <a:t/>
            </a:r>
          </a:p>
          <a:p>
            <a:r>
              <a:t>И строка, которая несёт весь разбор. Разрыв по тону кожи измерен у модели, а у классических методов не измерен вовсе: по тону кожи точность не разбивает ни метаанализ прямого сравнения, ни обзоры. Значит сказать «модель хуже человека на этой подгруппе» не с чем, и утверждать это было бы ровно тем, за что разбор и взят. Верное утверждение другое и проверяемое: у модели разрыв измерен и назван, у человека не измерен никем, и отсутствие замера — не свидетельство равенства.</a:t>
            </a:r>
          </a:p>
          <a:p>
            <a:r>
              <a:t/>
            </a:r>
          </a:p>
          <a:p>
            <a:r>
              <a:t>Это стоит задержать на секунду, потому что обратное слышится чаще. Из того, что у классического осмотра разрыв по тону кожи не измерен, не следует, что у него разрыва нет: следует только, что никто не смотрел. Разница между «измерено и равно нулю» и «не измерено» — это и есть разница между свидетельством и его отсутствием, и путать их в обе стороны одинаково неправильно.</a:t>
            </a:r>
          </a:p>
          <a:p>
            <a:r>
              <a:t/>
            </a:r>
          </a:p>
          <a:p>
            <a:r>
              <a:t>Отсюда рабочий вопрос к любому поставщику: на ком посчитана ваша средняя и какие подгруппы в этой средней растворились. Вопрос этот стоит задавать до покупки, а не после внедрения, потому что после внедрения средняя будет единственным числом в отчёте — и будет выглядеть хорошо.</a:t>
            </a:r>
          </a:p>
          <a:p>
            <a:r>
              <a:t/>
            </a:r>
          </a:p>
          <a:p>
            <a:r>
              <a:t>И про то, как эта цена выглядит в отчёте. Если бы такую систему внедрили и измерили одним числом — средней точностью по всем снимкам, — отчёт показал бы ровное благополучие, и показал бы его честно: средняя действительно держится. Увидеть сместившуюся цену можно только разбив замер по подгруппам, то есть зная заранее, по каким именно подгруппам разбивать. В этой работе разбивали по тону кожи; какая подгруппа окажется существенной в следующей задаче, из самой модели не следует никак, и назвать её должен тот, кто знает предмет.</a:t>
            </a:r>
          </a:p>
          <a:p>
            <a:r>
              <a:t/>
            </a:r>
          </a:p>
          <a:p>
            <a:r>
              <a:t>**Источники.** </a:t>
            </a:r>
            <a:r>
              <a:rPr u="sng">
                <a:solidFill>
                  <a:srgbClr val="065A82"/>
                </a:solidFill>
                <a:hlinkClick r:id="rId3"/>
              </a:rPr>
              <a:t>Daneshjou и соавт., Science Advances 2022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Речь о программе повышенного внимания: больница выделяет ограниченное число мест для людей, за которыми нужно присматривать плотнее обычного. Цена обеих ошибок считается местами. Не попал тот, кому программа нужна, — болезнь развивается без присмотра, и узнают об этом на госпитализации. Попал тот, кому не нужна, — потрачено место и время координатора, то есть кто-то третий не попал.</a:t>
            </a:r>
          </a:p>
          <a:p>
            <a:r>
              <a:t/>
            </a:r>
          </a:p>
          <a:p>
            <a:r>
              <a:t>Оба классических режима посчитаны на одной выборке. При отборе решением лечащего врача доля рассматриваемой группы среди фактически отобранных — 19,2 из ста. При отборе одним баллом по прогнозу расходов — 17,2 из ста. Два числа близки, различаются только ярлыком режима, и потому подряд они не произносятся.</a:t>
            </a:r>
          </a:p>
          <a:p>
            <a:r>
              <a:t/>
            </a:r>
          </a:p>
          <a:p>
            <a:r>
              <a:t>Ограничение этого счёта надо назвать вслух, и оно существенное: врач, отбиравший пациентов, уже видел балл — выше порога ему приходила подсказка. Значит посчитан отбор врачом, у которого балл под рукой; отбора, не видевшего балла, в публикации нет вовсе. Сравнение поэтому идёт не между «человеком» и «моделью», а между двумя режимами, в одном из которых человек работает с подсказкой.</a:t>
            </a:r>
          </a:p>
          <a:p>
            <a:r>
              <a:t/>
            </a:r>
          </a:p>
          <a:p>
            <a:r>
              <a:t>Модель против этих режимов. Система считает каждому пациенту один балл, отбор идёт по порогу, а целевой переменной взяты будущие расходы на лечение. Результат: при равном балле у одной группы болезней оказалось на 26 процентов больше. То есть чтобы попасть в программу, им нужно было быть болезненнее при той же оценке риска. База названа целиком: 49 618 пациентов одной академической больницы, 100 009 пациенто-лет, 2013–2015 годы. Знаменатель относится к одной больнице, и выводы о величине перекоса относятся к нему, а не к отрасли.</a:t>
            </a:r>
          </a:p>
          <a:p>
            <a:r>
              <a:t/>
            </a:r>
          </a:p>
          <a:p>
            <a:r>
              <a:t>Устроено это так: на входе записи карты и данные о расходах, на выходе один балл на человека и отбор по порогу. Имени у промышленного алгоритма публикация не даёт — и это отказ назвать, а не пропуск: авторы разбирают систему, которую не вправе поименовать.</a:t>
            </a:r>
          </a:p>
          <a:p>
            <a:r>
              <a:t/>
            </a:r>
          </a:p>
          <a:p>
            <a:r>
              <a:t>Механизм стоит разобрать медленно: выбор целевой переменной был инженерно разумным и поучителен именно поэтому. Расходы есть у всех пациентов, они числовые, не требуют разметки и действительно связаны с болезнью. Но расходы отражают обращаемость — сколько человек пользовался медициной, — а обращаемость у разных групп населения разная при одинаковом состоянии здоровья. Ошибка не в модели и не в данных по отдельности: никто не записал, что решение считает целью, и ею стало то, что было в данных.</a:t>
            </a:r>
          </a:p>
          <a:p>
            <a:r>
              <a:t/>
            </a:r>
          </a:p>
          <a:p>
            <a:r>
              <a:t>Авторы посчитали, что было бы, если убрать разрыв в здоровье на границе отбора: доля этой группы пациентов среди отобранных поднялась бы с наблюдаемых 17,7 до 46,5 из ста. Произносить это надо условным наклонением, иначе упражнение выдаётся за внедрённое исправление. Устроен расчёт так: на границе более здорового пациента заменяют более больным, пока разрыв не исчезнет, и смотрят, какой состав получится. Внедрения за этим нет, переобучения тоже.</a:t>
            </a:r>
          </a:p>
          <a:p>
            <a:r>
              <a:t/>
            </a:r>
          </a:p>
          <a:p>
            <a:r>
              <a:t>Настоящее переобучение авторы тоже сделали, и оно слабее расчёта. Их предсказатель на числе активных хронических состояний даёт в группе высшего риска 26,7 из ста против 14,1 у их же предсказателя расходов, обученного на тех же данных. А наблюдаемая доля 17,7 принадлежит промышленному алгоритму, который авторы разбирают, — это третья модель, и вычитать одно из другого нельзя: такой разности в первоисточнике нет. Урок точнее: смена целевой переменной двигает состав отобранных и всё равно не доходит до 46,5.</a:t>
            </a:r>
          </a:p>
          <a:p>
            <a:r>
              <a:t/>
            </a:r>
          </a:p>
          <a:p>
            <a:r>
              <a:t>Что переехало. Сменился исполнитель: отбор делал лечащий врач, стал делать один балл. И сместилась цена ошибки — на группу, у которой при равном балле больше болезней. Пара, которой закрывается разбор: дало последовательный отбор там, где ручной непоследователен; потребовало совпадения расходов с болезнью, которого нет; в сумме для одной группы отбор стал хуже прежнего, а исправление до сих пор только посчитано.</a:t>
            </a:r>
          </a:p>
          <a:p>
            <a:r>
              <a:t/>
            </a:r>
          </a:p>
          <a:p>
            <a:r>
              <a:t>Про масштаб и его знаменатель — отдельно, потому что два числа тут легко сложить неправильно. Модели этого класса применяются, по оценке отрасли, примерно к 200 миллионам человек в год. Это оценка охвата, а не выборка измерения: перекос измерен на 49 618 пациентах одной больницы, и выводы о его величине относятся к этому знаменателю, а не к двумстам миллионам. Числа эти стоят в разных единицах и складывать их нельзя — на кадре поэтому стоит только второе.</a:t>
            </a:r>
          </a:p>
          <a:p>
            <a:r>
              <a:t/>
            </a:r>
          </a:p>
          <a:p>
            <a:r>
              <a:t>И то, что стоит сказать инженеру прямо. Целевую переменную в этой задаче выбирали не из лени: расходы есть у каждого пациента, они числовые, не требуют разметки и действительно коррелируют с болезнью. Любой из сидящих в зале выбрал бы её же при тех же данных и том же сроке. Ошибка лежит не в выборе, а в том, что никто не записал, что система считает своей целью, — и потому никто не проверил, совпадает ли она с целью решения. Процедуры такой проверки в порядке работы нет, и об этом говорит вывод раздела.</a:t>
            </a:r>
          </a:p>
          <a:p>
            <a:r>
              <a:t/>
            </a:r>
          </a:p>
          <a:p>
            <a:r>
              <a:t>И последнее, о пределах урока. Измерено это на одной академической больнице за три года, на 49 618 пациентах. Вывод о механизме — выбор целевой переменной двигает состав отобранных — переносится; конкретная величина перекоса не переносится никуда, и произносить её как отраслевую нельзя.</a:t>
            </a:r>
          </a:p>
          <a:p>
            <a:r>
              <a:t/>
            </a:r>
          </a:p>
          <a:p>
            <a:r>
              <a:t>**Источники.** </a:t>
            </a:r>
            <a:r>
              <a:rPr u="sng">
                <a:solidFill>
                  <a:srgbClr val="065A82"/>
                </a:solidFill>
                <a:hlinkClick r:id="rId3"/>
              </a:rPr>
              <a:t>Obermeyer и соавт., Science 2019</a:t>
            </a:r>
          </a:p>
          <a:p>
            <a:r>
              <a:t/>
            </a:r>
          </a:p>
          <a:p>
            <a:r>
              <a:t>Что именно решали (#293, Этап D — строка сокращена на кадре ради кегля тела): кого позвать на усиленное наблюдение.</a:t>
            </a:r>
          </a:p>
          <a:p>
            <a:r>
              <a:t/>
            </a:r>
          </a:p>
          <a:p>
            <a:r>
              <a:t>И про сам инструмент (#293, Этап D — строка снята с кадра ради кегля тела): имени алгоритму публикация не даёт.</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Польза настоящая, измеримая, и специалист её возьмёт: постоянство чтения и разгрузка потока. Система читает десятитысячный снимок как первый, а у разбора расхождений появляется воспроизводимая сторона — переспросить машину можно, вчерашнего себя нельзя.</a:t>
            </a:r>
          </a:p>
          <a:p>
            <a:r>
              <a:t/>
            </a:r>
          </a:p>
          <a:p>
            <a:r>
              <a:t>Граница одна, и она та же, с которой раздел начинался. Доли посчитаны на группе, и вместе с группой меняется смысл выхода. Один и тот же сигнал «болен» означает в поголовном потоке и в профильном отделении разные вещи, и разница между ними почти десятикратная — восемь из ста против семидесяти девяти.</a:t>
            </a:r>
          </a:p>
          <a:p>
            <a:r>
              <a:t/>
            </a:r>
          </a:p>
          <a:p>
            <a:r>
              <a:t>Риск сформулируем так, чтобы он запоминался. Вход измеряет прибор. Набор собирает человек. Цель задаёт переменная. Ошибиться можно в трёх местах, не ошибившись в модели, — и три разбора раздела ровно такие: в чтении глазного дна провалилось развёртывание, в оценке кожи состав обучающего набора, в отборе в программу определение цели. Ни в одном из этих трёх не провалилось само чтение, и подтвердилось другое — что место под модель, данные для неё и её цель никто не измерял до внедрения.</a:t>
            </a:r>
          </a:p>
          <a:p>
            <a:r>
              <a:t/>
            </a:r>
          </a:p>
          <a:p>
            <a:r>
              <a:t>А два отечественных разбора добавляют то, чего в первых трёх нет. В задаче о кровоизлиянии в череп модель одна дала 293 ложные тревоги против четырёх у врача на тех же 3 409 томограммах и пропустила сорок пять кровоизлияний: здесь провалилось именно чтение. И рядом — тот же город, тот же круг изделий, профилактический поток, где та же самая щедрость на тревоги оказалась выигрышем: больше половины снимков перестал читать человек, и это сэкономило 33 миллиона рублей за пять месяцев. Из одного и того же свойства модели в одной задаче вышло разрешение работать без человека, в другой — запрет на него. Различает их цена ложной тревоги и наличие времени: на профилактическом потоке напрасная тревога стоит одного уточняющего исследования, в экстренном пути — развёрнутой бригады, и проверять её некогда. Это и есть то, что инженеру стоит унести с раздела вместо вопроса «хороша ли модель».</a:t>
            </a:r>
          </a:p>
          <a:p>
            <a:r>
              <a:t/>
            </a:r>
          </a:p>
          <a:p>
            <a:r>
              <a:t>Что стало с работой. Нагрузка выросла на том же месте: у техника первичного звена появилась работа добиться годного снимка, которой у офтальмолога не было, потому что тот компенсировал условия съёмки сам. Появился шаг: повторный визит для тех, чей снимок не прошёл. Сменился исполнитель: отбор в программу делал лечащий врач, стал делать один балл. И сместилась цена ошибки — дважды, с разными механизмами: в разборе про кожу её сдвинул состав обучающих данных, в разборе про отбор — выбор целевой переменной.</a:t>
            </a:r>
          </a:p>
          <a:p>
            <a:r>
              <a:t/>
            </a:r>
          </a:p>
          <a:p>
            <a:r>
              <a:t>Чем эту нагрузку держат. Порог срабатывания, назначенный под цену обеих ошибок протоколом, а не разработчиком. Контроль годности измерения — процедура, написанная в инструкции кабинета. И пересчёт доли под свою распространённость перед тем, как чужое число применять у себя. Прочерк здесь один, и он набран полужирным не для красоты: цель системы не проверяет никто. Ни одна из трёх процедур не спрашивает, что именно алгоритм считает своей целью, — а в третьем разборе именно это и подвело.</a:t>
            </a:r>
          </a:p>
          <a:p>
            <a:r>
              <a:t/>
            </a:r>
          </a:p>
          <a:p>
            <a:r>
              <a:t>И одно обнадёживающее наблюдение, которое стоит произнести, потому что раздел иначе читается безнадёжно. Единственное исправление, измеренное в этом разделе, пришло из состава данных: дообучение на представительном наборе разрыв по тону кожи сняло и даже перевернуло, а три названных алгоритмических метода борьбы со смещением его значимо не уменьшили. Это та часть работы, которая действительно находится в руках инженера, — не выбор метода, а сбор и разметка.</a:t>
            </a:r>
          </a:p>
          <a:p>
            <a:r>
              <a:t/>
            </a:r>
          </a:p>
          <a:p>
            <a:r>
              <a:t>Теперь про клетки сетки курса, занятые этой стадией, — их четыре, и четвёртая самая интересная. Классификация на изображении: автономное чтение глазного дна и оценка кожного образования, причём оба класса устройств минуют специалиста и оба дают только сортировку «показать врачу или нет». Распознавание на изображении: детекция и сортировка потока на рентгене и томографии — это то, чем заняты платформы из обзора по странам. Прогноз на структурированных данных: счёт риска внутри медицинской карты, и покупает его администрация или плательщик, то есть решение о том, кого взять под присмотр, принимается там, где считают деньги. А четвёртая клетка — измерение и сигнал прибора — занята без всякой обученной модели: смещение прибора насыщения крови приходит до неё. Сетка целиком соберётся в итогах, по всем разделам сразу.</a:t>
            </a:r>
          </a:p>
          <a:p>
            <a:r>
              <a:t/>
            </a:r>
          </a:p>
          <a:p>
            <a:r>
              <a:t>Дальше по циклу всё, что раздел прочитал, попадает к человеку, который примет решение и подпишется под ним. Что происходит с этим человеком — предмет следующего раздела.</a:t>
            </a:r>
          </a:p>
          <a:p>
            <a:r>
              <a:t/>
            </a:r>
          </a:p>
          <a:p>
            <a:r>
              <a:t>Связка к плашкам, которая теперь произносится, а не стоит на кадре (#293, Этап D — строка снята ради кегля тела; оба числа стоят плашками прямо над ней): так провалились три из пяти, а в четвёртом месте, самом чтении, провалился пятый.</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 то, что от раздела стоит унести, если не уносить больше ничего. Он короткий намеренно: пять вопросов, и каждый уже оплачен разобранным случаем, так что ни один не повиснет общим советом.</a:t>
            </a:r>
          </a:p>
          <a:p>
            <a:r>
              <a:t/>
            </a:r>
          </a:p>
          <a:p>
            <a:r>
              <a:t>Формулировка такая. Прежде чем спрашивать про точность, спросите: на какой группе посчитаны доли; чем измерен вход; из чего собран обучающий набор; что система считает своей целью; и во что обходится её ложная тревога.</a:t>
            </a:r>
          </a:p>
          <a:p>
            <a:r>
              <a:t/>
            </a:r>
          </a:p>
          <a:p>
            <a:r>
              <a:t>Первый вопрос — про группу, и он прошит через весь раздел. Мы начали с того, что одна и та же система даёт восемь верных тревог из ста и семьдесят девять из ста, и разницу назначает не прибор, а тот, кто решил, кого обследовать. Но у этого вопроса есть и вторая, менее очевидная половина, и её сорвал Таиланд. Лабораторный набор, на котором измеряли точность чтения, собран из снимков, уже прошедших отбор по качеству. В поле отбор тоже есть — его делает человек, которому никто не сказал, по какому правилу он отбирает. То есть группа, на которой посчитаны доли, и группа, на которой система работает, различались не диагнозами, а качеством входа, и этого никто не измерил до внедрения.</a:t>
            </a:r>
          </a:p>
          <a:p>
            <a:r>
              <a:t/>
            </a:r>
          </a:p>
          <a:p>
            <a:r>
              <a:t>Второй — чем измерен вход. Это самый дешёвый из четырёх вопросов и самый редко задаваемый. «На каких данных обучали» спрашивают часто; «чем получена каждая величина в этих данных» — почти никогда, хотя отвечает на это документация прибора, а не исследование. Прибор, определяющий насыщение крови кислородом по поглощению света в тканях, стоит здесь как доказательство, что смещение бывает до всякого обучения: расхождение с прямым анализом крови 11,7 процента измерений у пациентов с тёмной кожей против 3,6 у светлокожих. Знаменатели называю, потому что без них число не читается: восемьдесят восемь расхождений из семисот сорока девяти измерений против девяноста девяти из двух тысяч семисот семидесяти восьми. Это одна названная когорта одной работы; многоцентровая когорта той же статьи даёт другие числа, и рядом с этими они не произносятся — два набора из одной работы читаются как одна выборка и склеиваются.</a:t>
            </a:r>
          </a:p>
          <a:p>
            <a:r>
              <a:t/>
            </a:r>
          </a:p>
          <a:p>
            <a:r>
              <a:t>Направление смещения здесь важнее величины, и произносить его надо вслух. Прибор показывает ВЫШЕ, чем даёт анализ крови, — значит опасное снижение насыщения он пропускает чаще, то есть ошибка идёт в сторону «всё в порядке». И это не предположение исследователей, а признанная проблема измерения, закреплённая двумя документами: предупреждение регулятора США от 19 февраля 2021 года и проект руководства от 6 января 2025 года с требованием испытывать такие приборы на разных тонах кожи. Обученной модели в приборе нет вовсе — это оптика и арифметика по поглощению света, придуманные задолго до всякого машинного обучения. Система, которая берёт насыщение крови на вход — а его берут системы раннего предупреждения, с одной такой мы встретились в следующем разделе, — смещение наследует: не создаёт, не усиливает по своей вине, а получает уже смещённое число и работает с ним как с измерением. Сила свидетельства: проспективное сравнение с прямым анализом крови, направление подтверждено независимо и закреплено документом регулятора, — высокая.</a:t>
            </a:r>
          </a:p>
          <a:p>
            <a:r>
              <a:t/>
            </a:r>
          </a:p>
          <a:p>
            <a:r>
              <a:t>Отсюда вывод, который легко упустить, споря о справедливости алгоритмов: проверять надо не только модель, но и то, чем измерен её вход.</a:t>
            </a:r>
          </a:p>
          <a:p>
            <a:r>
              <a:t/>
            </a:r>
          </a:p>
          <a:p>
            <a:r>
              <a:t>Третий — из чего собран обучающий набор. Разбор про кожу: три модели теряют от девяти до пятнадцати пунктов площади под кривой на тёмных тонах, которых в наборах было мало. И здесь же единственная хорошая новость раздела: это чинится сбором и разметкой, а не выбором метода. Дообучение на представительном наборе разрыв сняло; три алгоритмических метода против смещения не сняли.</a:t>
            </a:r>
          </a:p>
          <a:p>
            <a:r>
              <a:t/>
            </a:r>
          </a:p>
          <a:p>
            <a:r>
              <a:t>Четвёртый — что система считает своей целью. Отбор в программу повышенного внимания: целевой переменной взяли будущие расходы на лечение, потому что они есть у всех, они числовые, они не требуют разметки и они связаны с болезнью. А отражают они обращаемость, которая при одинаковом здоровье у разных групп разная. Никто не записал, что именно решение считает своей целью, и целью стало то, что было в данных.</a:t>
            </a:r>
          </a:p>
          <a:p>
            <a:r>
              <a:t/>
            </a:r>
          </a:p>
          <a:p>
            <a:r>
              <a:t>Теперь про счёт, потому что он у этого кадра честный, а не круглый. Вопросов четыре, а внедрений в разделе три — и соблазн сказать «каждый вопрос сорвал по внедрению» надо погасить. Три вопроса сорвали по внедрению: группа — Таиланд, набор — кожу, цель — отбор в программу. Четвёртый, про вход, не сорвал ни одного, потому что у пульсоксиметра обученной модели нет вовсе: там нечему было внедряться. И именно это делает его в четвёрке самым полезным — он единственный проверяет то, что лежит до модели и переживёт любую её замену.</a:t>
            </a:r>
          </a:p>
          <a:p>
            <a:r>
              <a:t/>
            </a:r>
          </a:p>
          <a:p>
            <a:r>
              <a:t>Если спросят, почему вопрос о точности поставлен пятым и нужен ли он вообще. Нужен, но он производный: ответ на него читается только после первых двух. Заявленная точность без названной группы и названной распространённости не читается — это правило раздел выдаёт всей лекции, и оно же объясняет, почему порядок вопросов такой, а не обратный.</a:t>
            </a:r>
          </a:p>
          <a:p>
            <a:r>
              <a:t/>
            </a:r>
          </a:p>
          <a:p>
            <a:r>
              <a:t>Пятый — во что обходится ложная тревога и есть ли время её проверить. Этот вопрос в разделе появился последним и оказался тем, который решает вопрос об автономии. Два московских случая стоят рядом не для равновесия: город один, надзор один, круг зарегистрированных изделий один. На профилактическом потоке модель настроили поднимать тревогу щедро — и отправили работать без человека, потому что напрасная тревога стоит там одного уточняющего исследования, а время есть. На экстренных томограммах головы та же щедрость дала 293 ложные тревоги против четырёх у врача, и авторы прямо пишут: место модели — второй читатель, не первый. Напрасная тревога стоит там развёрнутой бригады, и проверять её некогда. Качество моделей эти два случая не различает.</a:t>
            </a:r>
          </a:p>
          <a:p>
            <a:r>
              <a:t/>
            </a:r>
          </a:p>
          <a:p>
            <a:r>
              <a:t>**Источники.** </a:t>
            </a:r>
            <a:r>
              <a:rPr u="sng">
                <a:solidFill>
                  <a:srgbClr val="065A82"/>
                </a:solidFill>
                <a:hlinkClick r:id="rId3"/>
              </a:rPr>
              <a:t>Sjoding и соавт., New England Journal of Medicine 2020</a:t>
            </a:r>
            <a:r>
              <a:t> — расхождение прибора насыщения крови с прямым анализом. Адреса остальных четырёх вопросов — на кадрах их разборов.</a:t>
            </a:r>
          </a:p>
          <a:p>
            <a:r>
              <a:t/>
            </a:r>
          </a:p>
          <a:p>
            <a:r>
              <a:t>И вопрос в зал на этом кадре такой, предсказанием. Пять вопросов перед вами, и за каждым стоит разобранный сегодня случай. Прошу назвать, какой из пяти, по-вашему, срывает внедрение чаще остальных, — и сказать одной фразой почему. Ответ, к которому придём: три первых сорвали по внедрению, четвёртый сломал само измерение, пятый решает, можно ли убрать человека вовсе, — то есть дороже всех обходится не точность, а порог срабатывания и то, кто разбирает ложные тревоги. Зал обычно называет состав обучающего набора; он третий по счёту и не первый по цене.</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переходит через ту же границу, что отделила второй раздел от первого, только с другой стороны: данные уже измерены и прочитаны системой, но заключение подписывает человек. Подсказка встаёт рядом со снимком, и вопрос раздела в том, что человек после этого смотрит — сам снимок, подсказку или уже привычку доверять экрану. В отрасли стадия называется постановкой диагноза, и решает она один вопрос: чем объясняется найденное. Решение её — назвать болезнь и подписаться под этим именем.</a:t>
            </a:r>
          </a:p>
          <a:p>
            <a:r>
              <a:t/>
            </a:r>
          </a:p>
          <a:p>
            <a:r>
              <a:t>Без обученной модели стадию держат три режима, и все три стоят отдельными кадрами дальше. Чтение одним специалистом с подписью. Двойное независимое чтение, где двое смотрят порознь и не знают мнения друг друга. И арбитраж — третий, который разбирает расхождение. Независимость здесь не вежливость, а условие: как только у двоих появляется общий источник подсказки, второе мнение перестаёт быть вторым, и измеренные доли расхождения это показывают.</a:t>
            </a:r>
          </a:p>
          <a:p>
            <a:r>
              <a:t/>
            </a:r>
          </a:p>
          <a:p>
            <a:r>
              <a:t>Шесть разборов идут по возрастанию того, что именно измерено, и назвать их стоит здесь, чтобы потом узнавать слайд по уже сказанному имени.</a:t>
            </a:r>
          </a:p>
          <a:p>
            <a:r>
              <a:t/>
            </a:r>
          </a:p>
          <a:p>
            <a:r>
              <a:t>Первый — замер взгляда. Тот же читатель на тех же маммограммах, и там, где подсказка молчала, он пропускает вдвое больше раков; видно это в движении глаза — ложная подсказка сузила зрительный поиск. На том же кадре стоит та же величина с обратным знаком: в другой программе, где разметку читатель запрашивает сам, пропущенных раков стало меньше. Обе половины на одном кадре нарочно: без второй первый разбор читается как провал, а не как измерение механизма, и знак эффекта задаёт не подсказка сама по себе, а её правота.</a:t>
            </a:r>
          </a:p>
          <a:p>
            <a:r>
              <a:t/>
            </a:r>
          </a:p>
          <a:p>
            <a:r>
              <a:t>Второй — патологи читают срезы. То же устройство эффекта, перенесённое со взгляда на решение: одна и та же подсказка поднимает шансы верного ответа вчетверо, когда модель права, и роняет вчетверо, когда неправа, а на группе в целом прибавка незначима. Отчёт с одним числом показал бы здесь «эффекта нет» — и это самое полезное, что раздел может сказать про усреднение.</a:t>
            </a:r>
          </a:p>
          <a:p>
            <a:r>
              <a:t/>
            </a:r>
          </a:p>
          <a:p>
            <a:r>
              <a:t>Третий — шведское испытание. Единственное в разделе испытание со случайным распределением и предрегистрированными исходами, и единственный разбор, где пара вышла сильнее обеих сторон: одно человеческое чтение поверх модели с арбитражем на расхождениях против двойного человеческого чтения, причём человеческого чтения вдвое меньше.</a:t>
            </a:r>
          </a:p>
          <a:p>
            <a:r>
              <a:t/>
            </a:r>
          </a:p>
          <a:p>
            <a:r>
              <a:t>Четвёртый — хирурги оценивают риск. Тот разбор, который был обещан в прошлой лекции. На трёх исходах из четырёх пара точнее хирурга одного, а на септическом шоке — единственном, где у человека было своё преимущество, — она ушла ниже и человека, и модели.</a:t>
            </a:r>
          </a:p>
          <a:p>
            <a:r>
              <a:t/>
            </a:r>
          </a:p>
          <a:p>
            <a:r>
              <a:t>Третий и четвёртый стоят рядом нарочно: инструмент один, а результаты противоположны, и расходится у них не модель, а устройство процедуры — сохранена ли независимость двух мнений и в каком порядке предъявлена подсказка.</a:t>
            </a:r>
          </a:p>
          <a:p>
            <a:r>
              <a:t/>
            </a:r>
          </a:p>
          <a:p>
            <a:r>
              <a:t>Пятый — модель раннего предупреждения о сепсисе, и он единственный в разделе, где решение принимается непрерывно, а не по одному случаю. Пришёл он из стадии непрерывного наблюдения, которая в этой лекции самостоятельным разделом не идёт, поэтому на дивайдере он назван по своей работе, а не по месту в цикле. Держится разбор на двух базах, которые нельзя путать: тревога приходит на восемнадцать госпитализаций из ста, а подтверждается двенадцать из ста поднятых тревог. Чтобы найти один случай, смена разбирает восемь тревог. Классический режим тут не ноль, а балльная шкала, которую считали руками, и подтверждалась она восемь из ста против двенадцати у модели — из этой полосы модель не вышла.</a:t>
            </a:r>
          </a:p>
          <a:p>
            <a:r>
              <a:t/>
            </a:r>
          </a:p>
          <a:p>
            <a:r>
              <a:t>Между разборами стоят два кадра без номера, и номера у них нет по делу, а не по забывчивости. Кардиограмма с неверной машинной расшифровкой отвечает на вопрос, по какому признаку откалибровано доверие, и цены обеих ошибок не назначает. Обзор ста шести опытов собирает правило из чужих измерений: где пара сильнее человека и где слабее модели. Ни тот, ни другой по форме подробного разбора не проходит, и выдавать их за разборы значило бы задваивать счёт.</a:t>
            </a:r>
          </a:p>
          <a:p>
            <a:r>
              <a:t/>
            </a:r>
          </a:p>
          <a:p>
            <a:r>
              <a:t>Раздел держит одну линию, и её стоит назвать до разборов. Пара «человек плюс модель» не равна ни человеку, ни модели в отдельности, и какая сторона перевесит, заранее сказать нельзя — это измеряют. Обычно же измеряют что угодно, кроме этого: точность модели отдельно, удовлетворённость врача отдельно, а третью величину, ради которой пара и собиралась, не считает никто.</a:t>
            </a:r>
          </a:p>
          <a:p>
            <a:r>
              <a:t/>
            </a:r>
          </a:p>
          <a:p>
            <a:r>
              <a:t>Сетка «задача × вид данных» в разделах не рисуется — она собирается один раз, в сборке, по всем разделам сразу.</a:t>
            </a:r>
          </a:p>
          <a:p>
            <a:r>
              <a:t/>
            </a:r>
          </a:p>
          <a:p>
            <a:r>
              <a:t>Снимок рядом — настоящее рабочее место чтения: врач за двумя мониторами, на обоих срезы компьютерной томографии, диктофон в руке.</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названа, и теперь по шагам. Действий на ней семь: собрать данные, выписать объясняющие болезни, назначить различающую проверку, вычеркнуть опровергнутое, прочесть вторым независимо, разрешить расхождение третьим, подписать заключение. На схеме стоят первые четыре — те, что сужают список; пятое, шестое и седьмое идут уже после него и разбираются на следующем кадре. Здесь — существенное о каждом из семи.</a:t>
            </a:r>
          </a:p>
          <a:p>
            <a:r>
              <a:t/>
            </a:r>
          </a:p>
          <a:p>
            <a:r>
              <a:t>Собрать данные. Жалобы, осмотр, то, что уже измерено на предыдущей стадии. Это всё, что у врача есть на входе.</a:t>
            </a:r>
          </a:p>
          <a:p>
            <a:r>
              <a:t/>
            </a:r>
          </a:p>
          <a:p>
            <a:r>
              <a:t>Выписать список. Болезни, способные объяснить наблюдаемое: затяжной бронхит стоит первым как частая причина, туберкулёз — потому что картина классическая и пропустить его дорого, лимфома — те же два признака, прочитанные иначе, аутоиммунное поражение — реже, но ложится сюда же.</a:t>
            </a:r>
          </a:p>
          <a:p>
            <a:r>
              <a:t/>
            </a:r>
          </a:p>
          <a:p>
            <a:r>
              <a:t>Назначить различающую проверку. Снимок и анализ крови идут первыми не случайно: сначала то, что стоит мало и отсекает много. Клиническая версия перебора гипотез жёстче инженерной в одном — часть проверок сама опасна или дорога, поэтому порядок проверок становится отдельным решением, которое приходится обосновывать.</a:t>
            </a:r>
          </a:p>
          <a:p>
            <a:r>
              <a:t/>
            </a:r>
          </a:p>
          <a:p>
            <a:r>
              <a:t>Вычеркнуть опровергнутое. Бронхит снят снимком: изменений в верхней доле при бронхите не бывает. Аутоиммунное снято спокойными воспалительными показателями. Осталось два диагноза, которые по снимку не различаются, и решает их посев мокроты — три недели ожидания, часть цены, которую платит пациент.</a:t>
            </a:r>
          </a:p>
          <a:p>
            <a:r>
              <a:t/>
            </a:r>
          </a:p>
          <a:p>
            <a:r>
              <a:t>Прочесть вторым, независимо. 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Разрешить расхождение. Третий читатель видит оба заключения и включается только там, где двое разошлись.</a:t>
            </a:r>
          </a:p>
          <a:p>
            <a:r>
              <a:t/>
            </a:r>
          </a:p>
          <a:p>
            <a:r>
              <a:t>Подписать заключение. Подпись — то место, где ответственность становится именной.</a:t>
            </a:r>
          </a:p>
          <a:p>
            <a:r>
              <a:t/>
            </a:r>
          </a:p>
          <a:p>
            <a:r>
              <a:t>Выбрать неверно из списка — ошибка, которую заметят: придёт результат проверки и не совпадёт с ожиданием. Не вписать в список то, что должно было там стоять, — ошибка без следа: проверки никто не назначит, случай уйдёт с другим диагнозом и вернётся через год.</a:t>
            </a:r>
          </a:p>
          <a:p>
            <a:r>
              <a:t/>
            </a:r>
          </a:p>
          <a:p>
            <a:r>
              <a:t>И то же поле с моделью, названное до разборов. Из семи действий обученная модель заняла три. Второе — подсказка правит состав списка, добавляя строку, которой у усталого врача не появилось бы, или убирая ту, которая должна была там стоять. Пятое — вторым независимым читателем становится она. Седьмое — подпись, и на четвёртой ступени участия она ставится не глядя. Один шаг добавляется — решить, верить ли подсказке, и операции этой у врача прежде не было вовсе. Три места, где она не работает, названы именами того, что ломается: независимость — подсказка видна до собственного вывода, и ошибка модели у всех читателей одна, то есть удваивается вместо усреднения; избирательность — не поверить именно там, где модель ошиблась, не смогла ни одна группа; объяснимость — упрощённое объяснение неверной рекомендации роняет результат ниже работы вообще без модели.</a:t>
            </a:r>
          </a:p>
          <a:p>
            <a:r>
              <a:t/>
            </a:r>
          </a:p>
          <a:p>
            <a:r>
              <a:t>Вопрос залу, пока список на экране. Какую свою гипотезу вы не записали — и как узнали, что её не хватало? Ответ ждём короткий, в одну фразу: чаще всего узнают так же, как в клинике, — по тому, что пришёл результат, которого никто не ждал, потому что проверки на незаписанное не назначают. Кто-то назовёт разбор аварии, кто-то — отладку, в которой причина оказалась вне списка рассматриваемых. Это тот же механизм, и он здесь нужен затем, чтобы второй ряд схемы читался не как улучшение, а как смена места ошибки: модель правит состав списка, то есть вмешивается ровно в то действие, промах на котором не оставляет следа.</a:t>
            </a:r>
          </a:p>
          <a:p>
            <a:r>
              <a:t/>
            </a:r>
          </a:p>
          <a:p>
            <a:r>
              <a:t>И последнее, ради чего стоит задержаться на втором ряду схемы. Из семи действий обученная модель заняла три — состав списка, второе чтение, подпись, — и четвёртое добавила сама: решить, верить ли подсказке. Этой операции у врача прежде не было вовсе, ей не учат, и на неё не отводят времени в нормативе приёма. Весь остаток раздела измеряет именно её: чем кончается попытка человека отличить верную подсказку от неверной. Три места, где она не работает, названы по имени того, что ломается. Независимость — подсказка видна до собственного вывода, и ошибка модели у всех читателей одна, то есть удваивается вместо усреднения. Избирательность — не поверить именно там, где модель ошиблась, не смогла ни одна группа из тех, что мы разберём. Объяснимость — упрощённое объяснение неверной рекомендации роняет результат ниже работы вообще без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Второе мнение — заключение по тому же случаю, сделанное тем, кто не видел первого. Вся работа этого определения держится на второй половине.</a:t>
            </a:r>
          </a:p>
          <a:p>
            <a:r>
              <a:t/>
            </a:r>
          </a:p>
          <a:p>
            <a:r>
              <a:t>Существует устройство потому, что одиночное чтение пропускает, и пропускает у любого читателя: внимание ограниченно, снимок большой, признак бывает мелким и стоит там, где его не ждали. Полезным второе мнение делает одно наблюдение: пропуски двух читателей не совпадают. Первый не заметил уплотнение, потому что отвлёкся на кальцинаты в центре; второй отвлёкся на другое. Если бы оба систематически не видели одно и то же, второй читатель не добавлял бы ничего, кроме стоимости. Выигрыш двойного чтения создаётся несовпадением ошибок и ничем больше — силу первого читателя он не удваивает.</a:t>
            </a:r>
          </a:p>
          <a:p>
            <a:r>
              <a:t/>
            </a:r>
          </a:p>
          <a:p>
            <a:r>
              <a:t>Независимость делается руками организации: отдельная очередь чтения, скрытое поле заключения, иногда отдельная смена или учреждение. На добросовестность читателя она не опирается. Проверяемый признак один — мог ли второй читатель физически увидеть первое заключение в момент чтения; ответ дают права доступа; регламент здесь не доказательство. Перегородка стоит денег, и её убирают первой, когда ищут, на чём сэкономить. Формальная независимость выглядит так же и работает иначе: доля расхождений падает, и руководство читает это как рост согласованности.</a:t>
            </a:r>
          </a:p>
          <a:p>
            <a:r>
              <a:t/>
            </a:r>
          </a:p>
          <a:p>
            <a:r>
              <a:t>Арбитраж — третий читатель, который видит оба заключения и включается там, где два первых не совпали. Объём его работы задан числом разногласий, то есть считается заранее и управляется порогом. Консилиум устроен иначе: несколько специалистов обсуждают случай, видя мнения друг друга, и независимость здесь утрачена сознательно — ценность в обмене доводами. Поэтому консилиумом поток в скрининге не читают.</a:t>
            </a:r>
          </a:p>
          <a:p>
            <a:r>
              <a:t/>
            </a:r>
          </a:p>
          <a:p>
            <a:r>
              <a:t>Подсказка модели ломает независимость с двух сторон. Она видна до того, как сложилось собственное мнение. И она одна и та же для всех читателей: пропуск обученной системы у всех один, поэтому её ошибка на двух читателях удваивается; усреднения, ради которого второго читателя и заводили, не происходит. Отсюда вывод, на котором держится раздел: «добавим второе мнение от модели» и «добавим второго врача» — разные изменения процесса, хотя на схеме выглядят одним блоком.</a:t>
            </a:r>
          </a:p>
          <a:p>
            <a:r>
              <a:t/>
            </a:r>
          </a:p>
          <a:p>
            <a:r>
              <a:t>И одно измерение, которого лекция не берёт, — названное вслух, потому что иначе не видно, как работает её собственное правило. Про якорение в обратную сторону, то есть про то, как врачебный текст двигает машину, есть величина: совпадение модели с поданным ей врачебным рассуждением растёт с 65,8 до 93,5 процента. Величина эта по предмету драгоценная — она бьёт ровно в независимость второго мнения с машинной стороны, — но измерена она в препринте, где живых врачей ноль: врачебное рассуждение в нём имитировано другими моделями. Лекция, которая считает силу свидетельства своим правилом, такое число со сцены не произносит: на этом месте честнее сказать, что измерения нет.</a:t>
            </a:r>
          </a:p>
          <a:p>
            <a:r>
              <a:t/>
            </a:r>
          </a:p>
          <a:p>
            <a:r>
              <a:t>Для женщины с письмом перегородка между двумя читателями и есть то, чем держится её программа: выигрыш двойного чтения берётся из несовпадения ошибок двух людей, а несовпадение бывает только у тех, кто друг друга не видел. Подсказку модели видят оба, и перегородка перестаёт быть свойством процедуры: оба читателя отвечают теперь на вопрос «согласен ли я», а это другая задача и другая доля ошибок. Арбитраж третьим читателем остаётся, но разбирать ему приходится расхождение двух мнений, у которых был общий источник.</a:t>
            </a:r>
          </a:p>
          <a:p>
            <a:r>
              <a:t/>
            </a:r>
          </a:p>
          <a:p>
            <a:r>
              <a:t>И одна проверка, которую стоит назвать вслух, пока схема на экране. Перегородка на ней — не правило поведения, а устройство: проверяемый признак один — мог ли второй читатель физически увидеть первое заключение в момент чтения. Ответ дают права доступа, и регламент здесь не доказательство. Поэтому «добавим второе мнение от модели» и «добавим второго врача» — два разных изменения процесса, хотя на схеме рисуются одним блоком.</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число на четвёртой ступени, которого теперь нет на кадре: медиана проверки там — 1,99 секунды, и это время ДО того, как решение принять; вторая медиана работы в том же замере — 6,48 секунды. Произносится это вместе со ступенью, а не вместо неё: на экране ступень показана формой, число живёт в речи.</a:t>
            </a:r>
          </a:p>
          <a:p>
            <a:r>
              <a:t/>
            </a:r>
          </a:p>
          <a:p>
            <a:r>
              <a:t>Формула «человек в контуре» отвечает на вопрос, которого никто не задавал: она говорит, что человек присутствует, и ничего не говорит о том, что он делает. Четыре ступени разводят это по тому, что человек успевает увидеть. Читающий первым видит случай и собственный вывод делает до того, как узнает машинный: ступень дороже всех по времени и сохраняет независимость. Читающий вторым видит случай вместе с готовым выводом — независимость утрачена по построению, выигрыш в скорости есть. Читающий только спорное видит выборку, отобранную моделью, и то, что отобрано ошибочно, до него не доходит никогда. Подписывающий не глядя видит только текст заключения.</a:t>
            </a:r>
          </a:p>
          <a:p>
            <a:r>
              <a:t/>
            </a:r>
          </a:p>
          <a:p>
            <a:r>
              <a:t>У четвёртой ступени есть измеренная величина, и найдена она за пределами медицины: двадцать один программист, 1 096 обработанных подсказок ассистента кода, поведенческая телеметрия. Медиана времени над подсказкой до решения её принять — 1,99 секунды. В той же работе есть вторая медиана, и путать их нельзя: если досчитать проверку уже после принятия подсказки, выходит 6,48 секунды, то есть больше половины всей проверки приходится на время, когда решение уже принято. На вопрос «успевает ли человек прочитать прежде, чем подписал» отвечает первая величина. Существеннее другое: подсказка, принятая без предварительной проверки, позже требовала правки с вероятностью 0,53, проверенная до принятия — 0,18. Медицины в этой выборке нет, и перенос на врача держится на аналогии.</a:t>
            </a:r>
          </a:p>
          <a:p>
            <a:r>
              <a:t/>
            </a:r>
          </a:p>
          <a:p>
            <a:r>
              <a:t>Медицинское измерение рядом — про то, что обучение ступень не повышает. База сравнения здесь — работа с верными рекомендациями модели; работы вовсе без подсказки в испытании нет: те же 44 врача — по двадцать два в плече, по шесть клинических задач каждому, то есть 264 прочтения, а не 264 случая — дают 84,9 из ста при верных рекомендациях модели и 73,3, когда часть рекомендаций намеренно неверна; неверные давались в трёх задачах из шести. Поправленная разница — минус 14,0 пункта при интервале от −18,9 до −9,1: знак у точки тот же, что у интервала, и произносить его надо, иначе число читается как прибавка. Сила свидетельства высокая — рецензируемое рандомизированное испытание, не препринт, — выборка маленькая, страна одна, и одно другого не отменяет. Интервал от −18,9 до −9,1 оставляем как есть и не правим: у двух опубликованных версий этой работы границы расходятся, обе центрированы на минус 14,0, и менять границы без чтения журнальной версии мы права не имеем. Человек, прошедший двадцатичасовой курс, остался на той ступени, на которой стоял: курс не делает его читателем, который умеет выборочно не поверить.</a:t>
            </a:r>
          </a:p>
          <a:p>
            <a:r>
              <a:t/>
            </a:r>
          </a:p>
          <a:p>
            <a:r>
              <a:t>И последнее про четвёртую ступень, без чего она читается упрёком. Подписать не глядя — поведение, у которого есть измеренная выгода, и выгода эта создана не интерфейсом, а порядком, в котором случай разбирают после исхода. Врача, который принял машинную подсказку в пользу стандартного лечения, при разборе оценивают как более разумного, чем того, кто подсказку отверг; при нестандартной рекомендации разницы нет. Значит ступень держится не на лени: не согласиться и ошибиться дороже, чем подписать. Само измерение и его оговорки предъявляются в разделе о допуске, надзоре и ответственности — там, где разбираются подпись, процедура и норматив; здесь оно названо затем, чтобы лестница не выглядела шкалой добросовестности.</a:t>
            </a:r>
          </a:p>
          <a:p>
            <a:r>
              <a:t/>
            </a:r>
          </a:p>
          <a:p>
            <a:r>
              <a:t>И сразу оговорка, без которой лестница врёт. Ступень называет, что человек успевает увидеть, и больше ничего: ранжировать разборы по качеству она не умеет, и различать их тоже. Дальше в этом разделе встретятся два разбора на одной и той же ступени «смотрит первым» с противоположными результатами — в одном пара не отличилась от человека без модели и осталась ниже самой модели, в другом вышла сильнее обеих сторон. Различает их устройство процедуры: сохранена ли независимость двух мнений и кому назначен арбитраж при расхождении. Ступень у них одна. А разбор, где пара оказалась ниже и модели, и человека по отдельности, стоит на другой ступени — «смотрит вторым»: подсказку там показали до того, как человек составил собственное мнение.</a:t>
            </a:r>
          </a:p>
          <a:p>
            <a:r>
              <a:t/>
            </a:r>
          </a:p>
          <a:p>
            <a:r>
              <a:t>**Источники.** </a:t>
            </a:r>
            <a:r>
              <a:rPr u="sng">
                <a:solidFill>
                  <a:srgbClr val="065A82"/>
                </a:solidFill>
                <a:hlinkClick r:id="rId3"/>
              </a:rPr>
              <a:t>Qazi I. A., Ali A., Khawaja A. U. и соавт., Automation Bias in Large Language Model–Assisted Diagnostic Reasoning among Physicians Trained in AI Literacy — A Randomized Clinical Trial, NEJM AI 2026;3(5), 23.04.2026, DOI 10.1056/AIoa2501001</a:t>
            </a:r>
            <a:r>
              <a:t>; препринт medRxiv 10.1101/2025.08.23.25334280 · </a:t>
            </a:r>
            <a:r>
              <a:rPr u="sng">
                <a:solidFill>
                  <a:srgbClr val="065A82"/>
                </a:solidFill>
                <a:hlinkClick r:id="rId4"/>
              </a:rPr>
              <a:t>Mozannar и соавт., Reading Between the Lines, CHI 2024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Назову по имени то, что здесь происходит с человеком: это когнитивное искажение. Второе из шести, предъявленных на входе вечера, и называется оно сужением. Входной кадр показывал его той же парой долей, которая стоит сейчас на плашках, — 61 пропуск против 29 из ста у тех же десяти читателей.</a:t>
            </a:r>
          </a:p>
          <a:p>
            <a:r>
              <a:t/>
            </a:r>
          </a:p>
          <a:p>
            <a:r>
              <a:t>Это один из четырёх замеров, которыми закрывается обещание прошлой лекции, и по механизму он самый наглядный: здесь видно не только, насколько изменился результат, но и через что он изменился.</a:t>
            </a:r>
          </a:p>
          <a:p>
            <a:r>
              <a:t/>
            </a:r>
          </a:p>
          <a:p>
            <a:r>
              <a:t>Устройство первого опыта. Десять радиологов читают один и тот же набор из шестидесяти случаев дважды: сначала без подсказок, через шесть недель — с подсказками, нарочно ошибавшимися в обе стороны. Набор обогащён раками до половины, и это надо держать в уме: в живой программе рак встречается у единиц на тысячу.</a:t>
            </a:r>
          </a:p>
          <a:p>
            <a:r>
              <a:t/>
            </a:r>
          </a:p>
          <a:p>
            <a:r>
              <a:t>База — медианная чувствительность того же читателя на тех же случаях без подсказки: 71 из ста, то есть 29 пропущенных раков на сто имевшихся. На четырнадцати случаях, где подсказка молчала, пропущенных стало 61 из ста — вдвое больше, и различие устойчиво. Цена этого числа не абстрактна: пропущенный рак означает лечение позже и хуже.</a:t>
            </a:r>
          </a:p>
          <a:p>
            <a:r>
              <a:t/>
            </a:r>
          </a:p>
          <a:p>
            <a:r>
              <a:t>Вторая половина того же измерения показывает перелом знака внутри одной работы: на четырнадцати случаях с ложноположительной подсказкой специфичность читателя выросла — с 21 до 39 из ста. То есть ошибка подсказки не просто вредна; знак эффекта задаёт то, в какую сторону она ошиблась.</a:t>
            </a:r>
          </a:p>
          <a:p>
            <a:r>
              <a:t/>
            </a:r>
          </a:p>
          <a:p>
            <a:r>
              <a:t>Как именно это произошло — измерено, а не предположено. На поражениях, которые модель пропустила, взгляд читателя задерживался заметно реже. Ложная подсказка сузила зрительный поиск. Переубеждения словами не было: читателю никто не доказывал, что поражения нет, — его глаз просто реже останавливался там, где отметки не стояло. Это и есть самое неудобное в разборе: эффект лежит ниже уровня, на котором человек может себя проконтролировать усилием воли.</a:t>
            </a:r>
          </a:p>
          <a:p>
            <a:r>
              <a:t/>
            </a:r>
          </a:p>
          <a:p>
            <a:r>
              <a:t>Устройство второго опыта и почему он стоит на том же кадре. Двенадцать радиологов программы скрининга из десяти учреждений, стаж от 4 до 32 лет при медиане 12. Сто пятьдесят исследований, тоже дважды, но с допущенной системой — Transpara 2.1.0 производства ScreenPoint Medical. Здесь результат противоположный: пропущенных раков стало меньше, 115 из 900 прочтений против 165. Прибавка 5,6 пункта при интервале от минус 0,3 до плюс 11,4 — значимости нет, и об этом надо сказать прямо; время чтения при этом не изменилось.</a:t>
            </a:r>
          </a:p>
          <a:p>
            <a:r>
              <a:t/>
            </a:r>
          </a:p>
          <a:p>
            <a:r>
              <a:t>Площадь под кривой выросла с 0,93 до 0,97: плюс 0,03 при интервале от 0,02 до 0,05, и выросла она у всех двенадцати читателей без исключения.</a:t>
            </a:r>
          </a:p>
          <a:p>
            <a:r>
              <a:t/>
            </a:r>
          </a:p>
          <a:p>
            <a:r>
              <a:t>Отдельно — число, которое стоит на оси лекции. Модель одна дала 0,99 при интервале от 0,97 до 1,00, то есть выше пары «читатель с системой». Авторы говорят это прямо, и прятать такое мы не станем: в этом опыте человек рядом с моделью не улучшил её, а ухудшил.</a:t>
            </a:r>
          </a:p>
          <a:p>
            <a:r>
              <a:t/>
            </a:r>
          </a:p>
          <a:p>
            <a:r>
              <a:t>Фокусировка измерена и здесь: охват площади снимка фиксациями взгляда упал с 11,1 до 9,5 из ста, а время фиксации в области поражения выросло с 4,4 до 5,4 секунды. То же сужение поиска, что и в первом опыте, — но с другим исходом.</a:t>
            </a:r>
          </a:p>
          <a:p>
            <a:r>
              <a:t/>
            </a:r>
          </a:p>
          <a:p>
            <a:r>
              <a:t>Почему знаки разошлись, и это единственное содержательное объяснение, какое есть. У первой работы отметка выводится вместе со снимком, то есть до того, как у читателя сложилось собственное мнение. У второй разметку читатель запрашивает сам, уже посмотрев. Порядок предъявления — не оформление, а управляемый параметр с измеренной ценой.</a:t>
            </a:r>
          </a:p>
          <a:p>
            <a:r>
              <a:t/>
            </a:r>
          </a:p>
          <a:p>
            <a:r>
              <a:t>Про словарь форм. Нагрузка на том же месте упала: место то же, исполнитель тот же, объём работы ниже. Но знак этой формы задаёт правота подсказки — при ложной подсказке та же форма оказывается ценой, а не выигрышем, потому что пропуск модели становится пропуском читателя.</a:t>
            </a:r>
          </a:p>
          <a:p>
            <a:r>
              <a:t/>
            </a:r>
          </a:p>
          <a:p>
            <a:r>
              <a:t>Сила свидетельства названа вместе с числами. Первая работа — читатель против себя, по механизму сильная, по выборке читателей средняя: их десять, и обобщение на всю профессию отсюда не делается. Вторая — двенадцать читателей из десяти учреждений, то есть шире по местам, но тоже не популяционная. Оба набора обогащены раками; ScreenPoint Medical предоставил испытанную систему, и это названо в самой публикации.</a:t>
            </a:r>
          </a:p>
          <a:p>
            <a:r>
              <a:t/>
            </a:r>
          </a:p>
          <a:p>
            <a:r>
              <a:t>Ступень участия в первом опыте — «смотрит вторым»: подсказку выводят на экран вместе со случаем, то есть до того, как у читателя сложилось собственное мнение. Во втором он смотрит первым и запрашивает подсказку сам. Это разные ступени, и именно они, а не модель, разводят результаты.</a:t>
            </a:r>
          </a:p>
          <a:p>
            <a:r>
              <a:t/>
            </a:r>
          </a:p>
          <a:p>
            <a:r>
              <a:t>Вопрос в зал, короткий, и это предсказание по самому замеру. Взгляд читателя замерили дважды: сам и с подсказкой. Площадь осмотренного снимка с подсказкой упала с одиннадцати и одной десятой до девяти с половиной из ста, а в отмеченном месте взгляд задержался дольше — с четырёх и четырёх десятых до пяти и четырёх десятых секунды. Спрашиваю: что при этом случилось с теми случаями, где подсказка МОЛЧАЛА, — пропусков стало столько же, меньше или больше? И во сколько раз? Прошу назвать до того, как я покажу. Число стоит строкой ниже на этом же кадре, и закрыть его ладонью на секунду стоит: предсказание «столько же» звучит в зале чаще всего, а пропущенных раков там становится вдвое больше.</a:t>
            </a:r>
          </a:p>
          <a:p>
            <a:r>
              <a:t/>
            </a:r>
          </a:p>
          <a:p>
            <a:r>
              <a:t>**Источники.** </a:t>
            </a:r>
            <a:r>
              <a:rPr u="sng">
                <a:solidFill>
                  <a:srgbClr val="065A82"/>
                </a:solidFill>
                <a:hlinkClick r:id="rId3"/>
              </a:rPr>
              <a:t>Taib A., Partridge G., Phillips P., Chen Y. и соавт., Automation Bias in Action: Eye Tracking of Humans Reading Screening Mammograms with and without AI Prompts, 2024</a:t>
            </a:r>
            <a:r>
              <a:t> · </a:t>
            </a:r>
            <a:r>
              <a:rPr u="sng">
                <a:solidFill>
                  <a:srgbClr val="065A82"/>
                </a:solidFill>
                <a:hlinkClick r:id="rId4"/>
              </a:rPr>
              <a:t>Gommers J. J. J., Sechopoulos I., Broeders M. J. M. и соавт., Radiologists' Performance and Visual Search Patterns When Reading Screening Mammograms with Artificial Intelligence Support, 2025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предыдущих измерения показали, что подсказка меняет работу глаза. Это показывает то же на уровне решения.</a:t>
            </a:r>
          </a:p>
          <a:p>
            <a:r>
              <a:t/>
            </a:r>
          </a:p>
          <a:p>
            <a:r>
              <a:t>Уровни значимости произносятся с кадра снятыми, но произносятся. По группе в целом прибавка пары к патологу значимости не достигла: отношение шансов 1,281 при p равном 0,184 — именно это и даёт «эффекта нет» в отчёте с одним числом. А оба четырёхкратных сдвига значимы надёжно: отношение шансов 4,289 при верной подсказке (интервал от 2,360 до 7,794) и 0,253 при неверной, p меньше одной тысячной в обе стороны. Пара читается вместе: на группе эффекта нет, а в каждую сторону он вчетверо.</a:t>
            </a:r>
          </a:p>
          <a:p>
            <a:r>
              <a:t/>
            </a:r>
          </a:p>
          <a:p>
            <a:r>
              <a:t>Устройство опыта, от которого зависит отметка ступени. Одиннадцать патологов разного опыта — трое субспециалистов по желудочно-кишечному тракту, трое специалистов других профилей, трое резидентов и двое, чей профиль не определён, — различают два вида опухоли печени по оцифрованным срезам. Набор — восемьдесят срезов; точность самой модели на независимом тестовом наборе ноль целых восемьсот сорок две тысячных. Один и тот же патолог читал тот же набор дважды в разных сессиях: половина случаев с подсказкой, половина без, с перевёрнутым распределением во второй сессии и отмывочным периодом не меньше двух недель. Сравнение идёт между сессиями: первый и второй взгляд на один случай тут не сравниваются.</a:t>
            </a:r>
          </a:p>
          <a:p>
            <a:r>
              <a:t/>
            </a:r>
          </a:p>
          <a:p>
            <a:r>
              <a:t>База — чтение среза без подсказки. Когда подсказка верна, шансы верного ответа вырастают примерно вчетверо; когда неверна — падают примерно во столько же. Работало это на всех уровнях опыта и на случаях любой сложности одинаково: субспециалист по профилю защищён не был, и это существеннее самой величины.</a:t>
            </a:r>
          </a:p>
          <a:p>
            <a:r>
              <a:t/>
            </a:r>
          </a:p>
          <a:p>
            <a:r>
              <a:t>Как читать «вчетверо», чтобы не ошибиться порядком. Шансы — отношение вероятности верного ответа к вероятности неверного. Если без подсказки патолог отвечал верно в восьми случаях из десяти, выросшие вчетверо шансы дают около девяноста четырёх из ста, а упавшие вчетверо уводят примерно к пятидесяти. Симметрия в шансах даёт асимметрию в долях, потому что у высокой точности есть куда падать и почти некуда расти.</a:t>
            </a:r>
          </a:p>
          <a:p>
            <a:r>
              <a:t/>
            </a:r>
          </a:p>
          <a:p>
            <a:r>
              <a:t>Второй классический режим — второе мнение субспециалиста — назван и не посчитан: на этом наборе его не измеряли, и подставлять число из другой работы было бы той самой склейкой выборок.</a:t>
            </a:r>
          </a:p>
          <a:p>
            <a:r>
              <a:t>Средняя прибавка и знакопеременность — одно наблюдение, прочитанное с двух сторон, и получены они на одной выборке. На группе в целом, без разделения случаев на те, где модель права, и те, где неправа, прибавка значимости не достигает. Это и есть цена разбора, и она организационная по природе, клиники в ней нет: отчёт о внедрении, в котором стоит одно число, показал бы отсутствие эффекта ровно там, где эффект был четырёхкратным в обе стороны. Решение по такому отчёту принимается одно — «работает примерно как раньше, оставим», — и принимается оно вслепую.</a:t>
            </a:r>
          </a:p>
          <a:p>
            <a:r>
              <a:t/>
            </a:r>
          </a:p>
          <a:p>
            <a:r>
              <a:t>Что переехало. Форма одна: сместилась цена ошибки. Шаги, объём работы и исполнители остались те же — патолог смотрит тот же срез то же время. Изменилось последствие: ошибка модели стала ошибкой врача, потому что подпись под заключением ставит он. Перенос измерен в обе стороны, и это редкость: обычно измеряют только убыток либо только прибавку.</a:t>
            </a:r>
          </a:p>
          <a:p>
            <a:r>
              <a:t/>
            </a:r>
          </a:p>
          <a:p>
            <a:r>
              <a:t>Пара, которой закрывается разбор, читается прямо с плашек. Дало — прибавку при верной подсказке. Потребовало — равной потери при неверной. В сумме — средняя та же, разброс вырос. Для процедуры это худший исход из возможных: средняя повода вмешаться не даёт; разброс при этом означает, что часть пациентов получила решение хуже прежнего.</a:t>
            </a:r>
          </a:p>
          <a:p>
            <a:r>
              <a:t/>
            </a:r>
          </a:p>
          <a:p>
            <a:r>
              <a:t>Рядом, другим жанром и слабее по силе свидетельства, стоит сводка систем поддержки врачебных решений: неверная подсказка повышает риск неверного решения на двадцать шесть процентов, обзор включил семьдесят четыре исследования из тринадцати тысяч восьмисот двадцати одного просмотренного. Подпись к обзору обязательна: в той совокупности много систем, работающих на правилах, а обученных моделей среди них часть. Поэтому число идёт упоминанием; доводом оно здесь не работает.</a:t>
            </a:r>
          </a:p>
          <a:p>
            <a:r>
              <a:t/>
            </a:r>
          </a:p>
          <a:p>
            <a:r>
              <a:t>**Источники.** Обучающего набора работа тоже не печатает. </a:t>
            </a:r>
            <a:r>
              <a:rPr u="sng">
                <a:solidFill>
                  <a:srgbClr val="065A82"/>
                </a:solidFill>
                <a:hlinkClick r:id="rId3"/>
              </a:rPr>
              <a:t>Kiani A. и соавт., Impact of a deep learning assistant on the histopathologic classification of liver cancer, npj Digital Medicine 2020, PMC7044422</a:t>
            </a:r>
            <a:r>
              <a:t>. Устройство опыта: одиннадцать патологов разного опыта — трое субспециалистов по желудочно-кишечному тракту, трое специалистов других профилей, трое резидентов и двое с неопределённым профилем; восемьдесят срезов, два чтения, перевёрнутое распределение подсказок во второй сессии, отмывочный период не меньше двух недель. Упоминание, снятое с кадра как слабейшее по силе свидетельства: </a:t>
            </a:r>
            <a:r>
              <a:rPr u="sng">
                <a:solidFill>
                  <a:srgbClr val="065A82"/>
                </a:solidFill>
                <a:hlinkClick r:id="rId4"/>
              </a:rPr>
              <a:t>Goddard K., Roudsari A., Wyatt J., Automation bias: a systematic review of frequency, effect mediators, and mitigators, JAMIA 2012;19(1):121–127</a:t>
            </a:r>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Назову по имени то, что здесь происходит с человеком: это когнитивное искажение. Пятое из шести, предъявленных на входе вечера, и называется оно несогласием — второй раз за вечер, в другой стране и в другом испытании, а шаг тот же: расхождение разбирают отдельно.</a:t>
            </a:r>
          </a:p>
          <a:p>
            <a:r>
              <a:t/>
            </a:r>
          </a:p>
          <a:p>
            <a:r>
              <a:t>Силу свидетельства надо назвать первым делом: рандомизированное исследование национальной программы скрининга, 105 934 женщины распределены случайно, четыре площадки, набор с апреля 2021 по декабрь 2022, исходы предрегистрированы. Девятнадцать человек исключены из анализа; вошли 53 043 в плечо с моделью и 52 872 в контроль. Дизайн одно-слепой, на не-меньшую эффективность. Это единственное измерение раздела, где измерен исход пациента; в остальных мерили точность чтения, взгляд или балл рассуждения.</a:t>
            </a:r>
          </a:p>
          <a:p>
            <a:r>
              <a:t/>
            </a:r>
          </a:p>
          <a:p>
            <a:r>
              <a:t>Что сравнивалось. Контрольное плечо работало классическим двойным чтением: два независимых радиолога, арбитраж третьего на расхождении, чувствительность 73,8 из ста при интервале от 68,9 до 78,3 — это база; у плеча с моделью 80,5 при интервале от 76,4 до 84,2, и различие устойчиво, p равно 0,031. Уровень значимости с кадра снят, а произнести его стоит: это единственное из трёх чисел испытания, где различие доказано, — у интервальных раков показана не-худшесть, а объём чтения посчитан на другой выборке. Плечо с моделью: модель читает поток, один радиолог читает сам, расхождение между ними разбирает арбитр; чувствительность 80,5 при интервале от 76,4 до 84,2, и прибавка значима. Специфичность в двух плечах одинакова — 98,5 из ста здоровых. То есть заменён второй читатель, а независимость и арбитраж сохранены и переустроены под нового участника.</a:t>
            </a:r>
          </a:p>
          <a:p>
            <a:r>
              <a:t/>
            </a:r>
          </a:p>
          <a:p>
            <a:r>
              <a:t>Арбитраж и порог. Модель выставляет оценку подозрительности, радиолог — своё заключение, при расхождении случай уходит арбитру, который видит оба. Нагрузка арбитра задана долей расхождений, а та — порогом: сдвиг порога в сторону подозрительности растит и число расхождений, и число отзывов на дообследование. В классическом двойном чтении порог тоже был, но его назначала практика каждого читателя, где он не записан и не настраивается; переход к модели сделал его явным параметром, который теперь кто-то обязан держать. Второй классический режим — одиночное чтение без арбитража, которым работают программы без ресурса на второго читателя, — в испытании не воспроизводился: сравнивали против сильного.</a:t>
            </a:r>
          </a:p>
          <a:p>
            <a:r>
              <a:t/>
            </a:r>
          </a:p>
          <a:p>
            <a:r>
              <a:t>Устройство инструмента названо так же точно и так же неполно, как в прошлом разборе: вход — маммограмма, выход — оценка подозрительности, по которой ставится порог. На чём система обучена и как часто обновляется после развёртывания, публикация не раскрывает — и это не пробел поиска, а природа отчёта об испытании.</a:t>
            </a:r>
          </a:p>
          <a:p>
            <a:r>
              <a:t/>
            </a:r>
          </a:p>
          <a:p>
            <a:r>
              <a:t>Ступень читающего врача — «смотрит первым»: каждое исследование он видит сам и выдаёт собственное заключение, чужого ему не показывают. Арбитр смотрит только спорное, и назначено это устройством программы. Тип задачи — распознавание на изображении. На чём система обучена, программа не публикует: проверить чужое заявление по имени изделия здесь нельзя, а выигрыш кадра всё равно принадлежит не прибору, а устройству процедуры вокруг него.</a:t>
            </a:r>
          </a:p>
          <a:p>
            <a:r>
              <a:t/>
            </a:r>
          </a:p>
          <a:p>
            <a:r>
              <a:t>Про интервальные раки — болезнь, найденную между обследованиями, — надо сказать точно. В плече двойного чтения 1,76 на 1000 обследованных, с моделью 1,55: это 93 случая из 52 872 против 82 из 53 043. Отношение частот 0,88 при интервале от 0,65 до 1,18 — интервал пересекает единицу, значимости нет, и дизайном испытания была заявлена не-худшесть. Читать 1,55 против 1,76 как доказанное улучшение нельзя. Доказано другое, и оно сильное: чувствительность выше значимо, исход не ухудшился, состав пропущенного сдвинулся в менее опасную сторону — инвазивных на 16 процентов меньше (75 против 89), крупных, стадии T2 и выше, на 21 процент меньше (38 против 48), агрессивных подтипов на 27 процентов меньше (43 против 59).</a:t>
            </a:r>
          </a:p>
          <a:p>
            <a:r>
              <a:t/>
            </a:r>
          </a:p>
          <a:p>
            <a:r>
              <a:t>Обратный сюжет измерен в другой программе, у профессионалов. Там каждое исследование читают три независимых источника — два радиолога и система; положительная находка любого уходит на обсуждение консенсуса, куда попало 5 489 случаев из 54 991, и отозвано оттуда 1 348. Одиночную находку системы отзывали в 4,6 случая из ста (86 из 1 886), находку радиолога — в 14,2 (263 из 1 858), то есть втрое чаще. При этом находка системы подтверждалась раком в 22 процентах (19 из 86), радиолога — в 3,4 (9 из 263), то есть была точнее в шесть с лишним раз. Почти равные знаменатели важны: сравниваются сопоставимые потоки находок; большой группы против маленькой здесь нет.</a:t>
            </a:r>
          </a:p>
          <a:p>
            <a:r>
              <a:t/>
            </a:r>
          </a:p>
          <a:p>
            <a:r>
              <a:t>И почему этот замер разворачивает весь раздел, а не дополняет его. Четыре предыдущих измерения показывали одно и то же устройство ошибки: человек верит подсказке больше, чем следует, и платит за это внимательностью, шансами верного ответа или напрасно потраченным доступом к инструменту. Здесь то же организационное доверие сломано в обратную сторону: источник, который подтверждался раком в шесть с лишним раз чаще, отзывали втрое реже. Значит, правило раздела не «люди слишком доверяют машине» — это половина измеренного. Правило в том, что доверие к источнику находки назначается устройством процедуры, а не точностью источника, и калибруется оно независимо от неё — в обе стороны. Вывод не сглаживать: модель и её точность в этом замере исправны, сломалось то, что вокруг неё построили.</a:t>
            </a:r>
          </a:p>
          <a:p>
            <a:r>
              <a:t/>
            </a:r>
          </a:p>
          <a:p>
            <a:r>
              <a:t>**Источники.** </a:t>
            </a:r>
            <a:r>
              <a:rPr u="sng">
                <a:solidFill>
                  <a:srgbClr val="065A82"/>
                </a:solidFill>
                <a:hlinkClick r:id="rId3"/>
              </a:rPr>
              <a:t>MASAI, итоговый анализ, The Lancet 2026</a:t>
            </a:r>
            <a:r>
              <a:t> · </a:t>
            </a:r>
            <a:r>
              <a:rPr u="sng">
                <a:solidFill>
                  <a:srgbClr val="065A82"/>
                </a:solidFill>
                <a:hlinkClick r:id="rId4"/>
              </a:rPr>
              <a:t>Dembrower и соавт., Radiology 2025, ScreenTrustCAD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я не рассказываю, а разыгрываю, и на него уходит минута вместо обычных тридцати секунд. Сначала постановка, потом вопрос, потом пауза — и только на следующем кадре числа.</a:t>
            </a:r>
          </a:p>
          <a:p>
            <a:r>
              <a:t/>
            </a:r>
          </a:p>
          <a:p>
            <a:r>
              <a:t>Постановка. Тридцать читателей, девять тысяч прочтений электрокардиограмм: сто кардиограмм, каждую каждый читатель проходил трижды — без расшифровки, с одной расшифровкой, половина которых неверна, и с несколькими вариантами диагноза. Девять тысяч — это повторные измерения на тридцати читателях; независимыми наблюдениями они не являются, и ограничение это называют сами авторы. Групп две по пятнадцать человек: стажёры кардиологии и стажёры других специальностей. Порядок чтения важен и стоит на схеме: расшифровка приходит ДО собственного решения читателя, а не после.</a:t>
            </a:r>
          </a:p>
          <a:p>
            <a:r>
              <a:t/>
            </a:r>
          </a:p>
          <a:p>
            <a:r>
              <a:t>База. При верной машинной расшифровке обе группы читают почти одинаково — восемьдесят четыре и восемьдесят шесть сотых из ста у кардиологов, восемьдесят шесть и тридцать восемь сотых у остальных. Полтора пункта разницы. Это и есть та точка, от которой считается всё дальнейшее, и произнести её надо отчётливо: база падения — ВЕРНАЯ расшифровка, а не чтение вовсе без подсказки. Столбца «без всякой расшифровки» по группам работа не печатает, достраивать его нечем, и сравнения с чистым чтением у нас нет.</a:t>
            </a:r>
          </a:p>
          <a:p>
            <a:r>
              <a:t/>
            </a:r>
          </a:p>
          <a:p>
            <a:r>
              <a:t>Теперь вопрос, и задаю я его дважды, потому что в нём две половины. Первая: насколько упадут эти числа, когда расшифровка неверна? Назовите порядок — на пять пунктов, на пятнадцать, вдвое? Вторая, и она интереснее: у кого падение будет глубже — у стажёров кардиологии или у стажёров других специальностей? Отвечать можно вслух или одним словом в чат: «кардиологи» или «остальные».</a:t>
            </a:r>
          </a:p>
          <a:p>
            <a:r>
              <a:t/>
            </a:r>
          </a:p>
          <a:p>
            <a:r>
              <a:t>Чего я жду и почему вопрос стоит задавать. Ходовое допущение здесь — что выигрывают и проигрывают от подсказки примерно поровну, а если кто-то и проваливается глубже, то человек с меньшей подготовкой; вторая половина этого допущения как раз верна, и зал обычно её угадывает. А вот первую половину — глубину — зал почти всегда недооценивает: называют пять-десять пунктов. Настоящее число на следующем кадре, и разрыв между названным и настоящим и есть то, ради чего остановка стоит минуты.</a:t>
            </a:r>
          </a:p>
          <a:p>
            <a:r>
              <a:t/>
            </a:r>
          </a:p>
          <a:p>
            <a:r>
              <a:t>Если зал молчит, я называю обе половины сам как варианты и прошу поднять руку: «падение меньше пятнадцати пунктов» против «падение вдвое». Молчание на закрытом вопросе с двумя вариантами собирается почти всегда, а на открытом — почти никогда.</a:t>
            </a:r>
          </a:p>
          <a:p>
            <a:r>
              <a:t/>
            </a:r>
          </a:p>
          <a:p>
            <a:r>
              <a:t>И одна оговорка, которую стоит произнести до вскрытия, чтобы потом она не выглядела оправданием. Стаж у групп НЕ одинаковый — тридцать шесть плюс-минус одиннадцать месяцев против двадцати восьми плюс-минус тринадцати. Различает их действительно специальность, и авторы строят вывод именно на ней, но сказать «стаж у них одинаковый» значило бы сказать неправду, и прежняя редакция этого кадра говорила именно так.</a:t>
            </a:r>
          </a:p>
          <a:p>
            <a:r>
              <a:t/>
            </a:r>
          </a:p>
          <a:p>
            <a:r>
              <a:t>**Источники.** </a:t>
            </a:r>
            <a:r>
              <a:rPr u="sng">
                <a:solidFill>
                  <a:srgbClr val="065A82"/>
                </a:solidFill>
                <a:hlinkClick r:id="rId3"/>
              </a:rPr>
              <a:t>Bond и соавт., Journal of Electrocardiology 2018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ответ на обе половины вопроса, в том порядке, в котором их задавали. Глубина: падение не на пять и не на пятнадцать пунктов, а вдвое. У стажёров кардиологии точность падает с восьмидесяти четырёх и восьмидесяти шести сотых до сорока одного и шестидесяти шести сотых из ста — на сорок три и двадцать сотых пункта. У стажёров других специальностей с восьмидесяти шести и тридцати восьми сотых до двадцати семи и сорока трёх сотых — на пятьдесят восемь и девяносто пять сотых. Оба падения значимы, p меньше одной тысячной. Кто глубже: менее экспертная группа, и зал это обычно угадывает.</a:t>
            </a:r>
          </a:p>
          <a:p>
            <a:r>
              <a:t/>
            </a:r>
          </a:p>
          <a:p>
            <a:r>
              <a:t>Несущий вывод этой работы авторы высказывают сами, и высказывают дважды: менее экспертные читатели затронуты СИЛЬНЕЕ. Разница потерь — пятнадцать и семьдесят пять сотых пункта в пользу экспертной группы, и соглашается она с неверной расшифровкой реже: тридцать и семьдесят семь сотых против сорока двух и тридцати одной сотой из ста по медианам. То есть специальность защищает, и защищает измеримо, — просто не спасает: падают обе группы, и обе вдвое. Произносить это надо именно в таком порядке, потому что обратный порядок даёт обратный вывод, и ровно эту ошибку кадр нёс до правки: подпись «различает специальность» снимала экспертную ось, которую авторы называют несущей.</a:t>
            </a:r>
          </a:p>
          <a:p>
            <a:r>
              <a:t/>
            </a:r>
          </a:p>
          <a:p>
            <a:r>
              <a:t>Назову по имени то, что здесь происходит с человеком: это когнитивное искажение. Первое из шести, предъявленных на входе вечера, и называется оно якорением — заключение сдвигается к подсказке, даже заведомо неверной. Входной кадр показывал его на снимках грудной клетки: двадцать три и шесть десятых против девяноста двух и восьми десятых из ста у двухсот двадцати читателей; здесь тот же механизм снят на кардиограмме.</a:t>
            </a:r>
          </a:p>
          <a:p>
            <a:r>
              <a:t/>
            </a:r>
          </a:p>
          <a:p>
            <a:r>
              <a:t>Рядом с этим, не вместо этого: связь между уверенностью читателя и его правотой ослабевает у обеих групп. Из падения точности можно выйти процедурой перепроверки; из сломанной калибровки нельзя, потому что человек не знает, какие случаи на перепроверку отправлять. Ставить это выше групповой разницы, как делала прежняя редакция кадра, нельзя: калибровка — вторая находка работы, а не её главная.</a:t>
            </a:r>
          </a:p>
          <a:p>
            <a:r>
              <a:t/>
            </a:r>
          </a:p>
          <a:p>
            <a:r>
              <a:t>Что НЕ спасает — и это другая величина, с кадра снятая именно поэтому. Сто сорок радиологов, пятнадцать задач по рентгенограмме грудной клетки: стаж, субспециализация и знакомство с инструментами не предсказывают, кому помощь модели поможет, а кому повредит; ходовое допущение, что выигрывают слабые читатели, опровергнуто. Предсказывает наличие ошибок модели. Числа у величины нет сознательно: её содержание и есть отсутствие связи. Но мерила эта работа, что предсказывает ПОЛЬЗУ от подсказки, а кардиограммы мерили ГЛУБИНУ ПРОВАЛА на ошибке — это два разных вопроса, и конфликта между источниками нет. Свернуть их в один вывод «стаж не помогает» и значило бы получить вывод, обратный тому, что печатают авторы кардиограмм.</a:t>
            </a:r>
          </a:p>
          <a:p>
            <a:r>
              <a:t/>
            </a:r>
          </a:p>
          <a:p>
            <a:r>
              <a:t>Где потолок, если спросят «а можно ли это починить подачей». Сто девяносто девять участников краудплатформы, задача про состав питания — не клиническая и без ставок; точность подсказки имитирована на уровне семидесяти пяти процентов, модели не обучали. Принудительные приёмы подачи — не показывать подсказку, пока не запросят; сначала своё решение, потом подсказка; задержка перед показом — снизили согласие с неверной подсказкой с шестидесяти четырёх до сорока восьми из ста. Посчитана пара на одной задаче набора; на общей метрике по всем задачам сдвиг значимости не достиг. Обе половины держатся вместе: шестнадцать пунктов — настоящее улучшение, и при нём почти половина согласий остаётся. Цена измерена тем же опытом: хуже оценивали именно те интерфейсы, которые сильнее снижали опору. Разбивки по экспертности в этой работе нет вовсе, поэтому под матрицу выше её числа не встают, и ставить их туда нельзя.</a:t>
            </a:r>
          </a:p>
          <a:p>
            <a:r>
              <a:t/>
            </a:r>
          </a:p>
          <a:p>
            <a:r>
              <a:t>И общий смысл этой пары кадров, ради которого она стоит именно здесь, после трёх разборов подсказки. Во всех трёх человек либо верил подсказке больше, чем следовало, либо не получал от неё ничего, — и ни в одном случае дело не было в том, что он мало знает. Экспертность в счёт входит, и входит измеримо: она уменьшает и глубину провала, и частоту согласия с неверной подсказкой. Говорить «опыт не помогает» нельзя; верное утверждение — «опыта не хватает». Отсюда и потолок: переустроить подачу можно, и это даёт значимые шестнадцать пунктов, но почти половина согласий с неверной подсказкой остаётся при самой сильной из опробованных мер. Значит «научим людей не доверять слепо» — не мера процесса, а пожелание; мерой становится только то, что меняет порядок предъявления и распределение ответственности.</a:t>
            </a:r>
          </a:p>
          <a:p>
            <a:r>
              <a:t/>
            </a:r>
          </a:p>
          <a:p>
            <a:r>
              <a:t>**Источники.** </a:t>
            </a:r>
            <a:r>
              <a:rPr u="sng">
                <a:solidFill>
                  <a:srgbClr val="065A82"/>
                </a:solidFill>
                <a:hlinkClick r:id="rId3"/>
              </a:rPr>
              <a:t>Bond и соавт., Journal of Electrocardiology 2018</a:t>
            </a:r>
            <a:r>
              <a:t> · </a:t>
            </a:r>
            <a:r>
              <a:rPr u="sng">
                <a:solidFill>
                  <a:srgbClr val="065A82"/>
                </a:solidFill>
                <a:hlinkClick r:id="rId4"/>
              </a:rPr>
              <a:t>Yu и соавт., Nature Medicine 2024</a:t>
            </a:r>
            <a:r>
              <a:t> · </a:t>
            </a:r>
            <a:r>
              <a:rPr u="sng">
                <a:solidFill>
                  <a:srgbClr val="065A82"/>
                </a:solidFill>
                <a:hlinkClick r:id="rId5"/>
              </a:rPr>
              <a:t>Buçinca и соавт., To Trust or to Think, CSCW 2021</a:t>
            </a:r>
            <a:r>
              <a:t> · </a:t>
            </a:r>
            <a:r>
              <a:rPr u="sng">
                <a:solidFill>
                  <a:srgbClr val="065A82"/>
                </a:solidFill>
                <a:hlinkClick r:id="rId6"/>
              </a:rPr>
              <a:t>Dietvorst и соавт., Algorithm Aversion, 2015</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Зал только что видел три разбора и три разных исхода: падение чувствительности на замере взгляда, оба знака сразу в патологии и выигрыш на контрольной линии. Отдельное испытание, как бы ярко в нём ни было измерено, остаётся отдельным случаем, и три отдельных случая правилом тоже не становятся. Чтобы говорить о правиле, нужен обзор, и он есть: предрегистрированный обзор с мета-анализом, 74 работы из 5 126 просмотренных, 106 уникальных опытов, 370 размеров эффекта, публикации с января 2020 по июнь 2023. Критерий включения решает здесь всё: опыт брали только тогда, когда измерены все три величины — человек один, модель одна и пара. Без третьей величины сравнивать пару не с чем, и ровно поэтому большинство отчётов о внедрении на этот вопрос не отвечают.</a:t>
            </a:r>
          </a:p>
          <a:p>
            <a:r>
              <a:t/>
            </a:r>
          </a:p>
          <a:p>
            <a:r>
              <a:t>Размер эффекта — мера «насколько сдвинулось», выраженная в долях разброса самих данных. Она нужна там, где надо сложить сто шесть опытов с разными шкалами: один мерил долю верных ответов, другой балл эксперта, третий время. Читаются такие числа по двум признакам: знак и то, лежит ли интервал целиком по одну сторону от нуля. Интервал от −0,71 до −0,37 отрицателен целиком — значит при повторении опытов эффект останется отрицательным. Третий знак после запятой смысла не несёт: содержательно здесь «около половины разброса вниз» против «около половины разброса вверх».</a:t>
            </a:r>
          </a:p>
          <a:p>
            <a:r>
              <a:t/>
            </a:r>
          </a:p>
          <a:p>
            <a:r>
              <a:t>Оговорку надо произносить каждый раз вместе с числом. Головное число свода −0,23 при интервале от −0,39 до −0,07 считается против лучшей из двух сторон; человек тут не база. Именно от него минус 0,54 и читается как часть опытов, а не как итог — и прежняя редакция кадра головного числа не несла вовсе, из-за чего часть опытов выглядело результатом всей работы.</a:t>
            </a:r>
          </a:p>
          <a:p>
            <a:r>
              <a:t/>
            </a:r>
          </a:p>
          <a:p>
            <a:r>
              <a:t>Дальше — различение, на котором легко соскользнуть, и кадр на нём соскальзывал. У работы есть ДВЕ величины «пара против человека одного», и они посчитаны на разных основаниях. Первая — по всему обзору: 0,64 при интервале от 0,53 до 0,74, статистика с девяноста восемью степенями свободы. Вторая — на том же части опытов, где модель сильнее человека: 0,74 при интервале от 0,63 до 0,85, сто четыре степени свободы, то есть ровно те же опыты, на которых считали минус 0,54. Мысль кадра — «пара лучше человека и хуже сильнейшего» — произносится ВТОРОЙ парой, минус 0,54 и 0,74, потому что обе её половины стоят на одном части опытов и на сравнимых степенях свободы. Поставить рядом с минус 0,54 число 0,64, как делала прежняя редакция, значит свести два разных вопроса на двух разных частях опытов в один вывод, и зал прочтёт их как две половины одного замера.</a:t>
            </a:r>
          </a:p>
          <a:p>
            <a:r>
              <a:t/>
            </a:r>
          </a:p>
          <a:p>
            <a:r>
              <a:t>Обратное часть опытов называется тоже: там, где сильнее человек, пара лучше обеих сторон — 0,46 при интервале от 0,28 до 0,66. Прочтение «пара человека и модели работает плохо» эти данные не поддерживают. Верная формулировка одна: пара обычно лучше человека и хуже сильнейшего из двух.</a:t>
            </a:r>
          </a:p>
          <a:p>
            <a:r>
              <a:t/>
            </a:r>
          </a:p>
          <a:p>
            <a:r>
              <a:t>Чего обзор не говорит. Он не про исходы пациентов, разнородность внутри высокая, и медицинских работ там часть. Форма из словаря здесь не определяется: за сводом нет внедрённого процесса — ни места, ни объёма, ни исполнителя, — и подгонять под ближайшую форму нечем. Правило отсюда короткое: сначала измерь, кто сильнее по отдельности, потом решай, кто решает.</a:t>
            </a:r>
          </a:p>
          <a:p>
            <a:r>
              <a:t/>
            </a:r>
          </a:p>
          <a:p>
            <a:r>
              <a:t>**Источники.** </a:t>
            </a:r>
            <a:r>
              <a:rPr u="sng">
                <a:solidFill>
                  <a:srgbClr val="065A82"/>
                </a:solidFill>
                <a:hlinkClick r:id="rId3"/>
              </a:rPr>
              <a:t>Vaccaro, Almaatouq, Malone, Nature Human Behaviour 2024</a:t>
            </a:r>
            <a:r>
              <a:t> · </a:t>
            </a:r>
            <a:r>
              <a:rPr u="sng">
                <a:solidFill>
                  <a:srgbClr val="065A82"/>
                </a:solidFill>
                <a:hlinkClick r:id="rId4"/>
              </a:rPr>
              <a:t>препринт той же работы, открытый доступ</a:t>
            </a:r>
          </a:p>
          <a:p>
            <a:r>
              <a:t/>
            </a:r>
          </a:p>
          <a:p>
            <a:r>
              <a:t>Что из этого произносится, а на кадре снято. Первое: по отдельному испытанию правило не строится — вот оно, собранное из ста шести опытов предрегистрированным мета-анализом, и это другая сила свидетельства, чем у любого из четырёх разборов до него. Второе: после этого кадра вопрос «помогает ли ИИ» читается иначе — как вопрос о том, кто в этой паре сильнее на этой задаче, и он проверяем, в отличие от исходного. Третье: правило не привязано к модальности — оно собрано на опытах с текстом, изображениями и табличными данными сразу, и именно поэтому его можно унести с лекции и приложить к своей работе.</a:t>
            </a:r>
          </a:p>
          <a:p>
            <a:r>
              <a:t/>
            </a:r>
          </a:p>
          <a:p>
            <a:r>
              <a:t>И последнее, без чего кадр читается как приговор паре. Пара не наследует силу сильнейшей стороны — но человека одного она обходит, и обходит устойчиво: на том же части опытов 0,74 при интервале от 0,63 до 0,85, по всему обзору 0,64 при интервале от 0,53 до 0,74, оба целиком выше нуля. То есть вопрос не в том, брать ли модель в работу, а в том, против какой стороны считать выигрыш. Сравнение с человеком без модели даёт одну картину, сравнение с сильнейшей из сторон — другую, и подменять второе первым умеет почти любой отчёт о внедрении.</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Задача, в которую мы входим, устроена иначе, чем чтение снимка. Больного привозят по экстренным показаниям, и в ближайшие часы надо решить: везти его в операционную сейчас или не везти. Решение принимает хирург, и принимает он его по тому, что видит — по виду больного, по его возрасту, по тому, чем он болел раньше, по анализам, взятым час назад. Времени на консилиум нет, второго мнения часто нет тоже.</a:t>
            </a:r>
          </a:p>
          <a:p>
            <a:r>
              <a:t/>
            </a:r>
          </a:p>
          <a:p>
            <a:r>
              <a:t>Цена обеих ошибок называется здесь до всякой точности, и половины её несопоставимы по измеримости — это надо сказать прежде любого числа. Недооценить риск означает повезти больного в операционную как рядовой случай: без приготовленного места в реанимации, без переливания наготове, без разговора с семьёй о том, что может быть дальше. Осложнение в таком случае считают на тридцатый день, и считают его хорошо: национальная база контроля качества хирургии собирает именно эти исходы. Переоценить риск означает отложить операцию или не делать её вовсе — и человек умирает от того, чего не сделали. Этой половины в тридцатидневном счёте не видно вообще: больного не оперировали, сравнивать не с чем, и узнать, что операция его бы спасла, невозможно, потому что опыта не было. Половину, которой нет в числах, называют прямо и не заменяют оценкой.</a:t>
            </a:r>
          </a:p>
          <a:p>
            <a:r>
              <a:t/>
            </a:r>
          </a:p>
          <a:p>
            <a:r>
              <a:t>Классических режимов на этом месте не один, а два вида, и посчитаны оба. Первый — формальные шкалы риска, которыми пользуются до всякого машинного обучения: шкала физического состояния больного, шкала экстренной хирургии, открытый онлайн-калькулятор. Все три посчитаны на той же проверочной выборке, что и модель, той же мерой, и это редкость: обычно новую систему сравнивают с опубликованным чужим числом или не сравнивают ни с чем. Три шкалы дают от 0,8743 до 0,8975, модель на той же выборке — 0,9162. Выигрыш, то есть от 0,019 до 0,042, различим и не разителен, и произносить его надо именно так, а не словами «модель точнее шкал».</a:t>
            </a:r>
          </a:p>
          <a:p>
            <a:r>
              <a:t/>
            </a:r>
          </a:p>
          <a:p>
            <a:r>
              <a:t>Второй вид классического режима — чутьё хирурга без всякой шкалы, и устроен этот опыт так. Тридцать хирургов экстренной помощи распределены жребием на две группы по пятнадцать: одни оценивают риск по письменному описанию случая сами, другие — после знакомства с калькулятором POTTER. Сто пятьдесят случаев, исходы прослежены вперёд на тридцать дней. Больного при этом не осматривал никто из них: работали по описанию, и это ограничение надо называть вслух, а не прятать. Сам калькулятор — дерево решений, не нейросеть, обучен на 382 960 случаях; на входе от четырёх до одиннадцати ответов о больном, на выходе вероятности пяти исходов за тридцать дней. Повторения этого замера нет.</a:t>
            </a:r>
          </a:p>
          <a:p>
            <a:r>
              <a:t/>
            </a:r>
          </a:p>
          <a:p>
            <a:r>
              <a:t>Здесь нужна оговорка о выборках, иначе два ряда чисел слипнутся в один. Три шкалы и модель посчитаны на проверочной выборке 2014 года — это десятки тысяч случаев из той же национальной базы. Хирургов мерили на других ста пятидесяти случаях, прослеженных вперёд тридцать дней. Два ряда стоят рядом как два классических режима одной задачи и в одну бухгалтерию не складываются: сравнивать 0,9162 с 0,820 напрямую нельзя.</a:t>
            </a:r>
          </a:p>
          <a:p>
            <a:r>
              <a:t/>
            </a:r>
          </a:p>
          <a:p>
            <a:r>
              <a:t>Результат по трём исходам из пяти лёг так, как внедрение и обещает: по смертности, по кровотечению и по пневмонии хирурги с подсказкой стали точнее хирургов без неё. На этом большинство отчётов о внедрении и заканчивается, и именно поэтому стоит назвать остальные два.</a:t>
            </a:r>
          </a:p>
          <a:p>
            <a:r>
              <a:t/>
            </a:r>
          </a:p>
          <a:p>
            <a:r>
              <a:t>Четвёртый исход — зависимость от аппарата. Это место, где перевес модели над человеком был наибольшим из пяти: 0,928 против 0,833. Правило, которое лекция только что собрала из ста шести опытов, предсказывает здесь выигрыш пары, и выигрыша нет: 0,834 против 0,833, то есть ровно ноль. Опустить эту строку, оставив четыре удобные, означало бы показать опыт чистой демонстрацией правила.</a:t>
            </a:r>
          </a:p>
          <a:p>
            <a:r>
              <a:t/>
            </a:r>
          </a:p>
          <a:p>
            <a:r>
              <a:t>Пятый исход — септический шок, и это главное число лекции. Здесь человек был точнее модели: 0,820 против 0,816. Разница крошечная, и важна она не величиной, а направлением — это единственное место задачи, где у хирурга было собственное преимущество. Хирург, увидевший подсказку, дал 0,712. Он ушёл не просто ниже модели — он ушёл ниже самого себя, на единственном исходе, где ему не нужна была помощь. Пара оказалась хуже и модели в одиночку, и человека в одиночку, и это надо назвать именно так, а не «пара не улучшила результат».</a:t>
            </a:r>
          </a:p>
          <a:p>
            <a:r>
              <a:t/>
            </a:r>
          </a:p>
          <a:p>
            <a:r>
              <a:t>Что из этого переехало, по словарю. Форма восьмая: исполнитель тот же, но стал хуже. Проверки её выполняются буквально. Место то же — оценка риска делается там же. Объём тот же — те же сто пятьдесят случаев. Рука та же — оценку даёт хирург, и порядок работ не менялся. Изменилось состояние руки: хирург перестал опираться на собственное преимущество там, где оно у него было. Рядом стоит пятая форма — часть оценки риска переехала с опыта хирурга на экран, — но несущая здесь восьмая, потому что мерится не место работы, а качество того, что рука находит.</a:t>
            </a:r>
          </a:p>
          <a:p>
            <a:r>
              <a:t/>
            </a:r>
          </a:p>
          <a:p>
            <a:r>
              <a:t>Две оговорки, которые произносятся здесь, а на кадре больше не стоят (#293, Этап D — сняты ради кегля тела; первая из них к тому же дословно повторяла подпись схемы этого же кадра): больного не осматривал никто — хирурги работали по письменным описаниям случаев; повторения замера нет.</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замера, которые прозвучали в этом разделе, отвечают на один и тот же вопрос, и собрать их надо вслух, иначе они останутся четырьмя разными числами в четырёх разных местах. Вопрос был задан в прошлый раз: бывает ли так, что добавление человека к машине делает результат хуже, и бывает ли это у профессиональных медиков. Ответ — да, и он измерен четыре раза с разной стороны.</a:t>
            </a:r>
          </a:p>
          <a:p>
            <a:r>
              <a:t/>
            </a:r>
          </a:p>
          <a:p>
            <a:r>
              <a:t>Первый замер сильнее остальных по устройству опыта. Тридцать хирургов экстренной помощи разведены по группам жребием, сто пятьдесят случаев прослежены вперёд тридцать дней, обе человеческие группы и модель измерены на одних и тех же случаях. По септическому шоку — единственному исходу, где человек был точнее машины, — пара дала 0,712 против 0,816 у модели в одиночку и 0,820 у хирурга в одиночку. Это прямое измерение обещанного: пара ниже каждой из сторон.</a:t>
            </a:r>
          </a:p>
          <a:p>
            <a:r>
              <a:t/>
            </a:r>
          </a:p>
          <a:p>
            <a:r>
              <a:t>Второй замер — тройка, с которой лекция начиналась. Пятьдесят практикующих врачей, рандомизированы два человеческих условия: врач с обычными справочниками дал 74 из ста, врач поверх модели — 76, и разница эта незначима. Прогон модели в одиночку, 92, равноправной случайной ветвью не был и стоит ниже по силе свидетельства, чем остальные. Задания здесь — составленные описания случаев, осмотра нет, исходов пациентов никто не проверял. То есть замер слабее первого по двум признакам сразу, и назвать их надо оба.</a:t>
            </a:r>
          </a:p>
          <a:p>
            <a:r>
              <a:t/>
            </a:r>
          </a:p>
          <a:p>
            <a:r>
              <a:t>Третий замер — не отдельный опыт, а обзор ста шести. Предрегистрированный обзор с мета-анализом собрал семьдесят четыре работы, и критерий включения там решает всё: опыт брали только тогда, когда измерены все три величины — человек один, модель одна и пара. Там, где модель сильнее человека, пара хуже модели: минус 0,54 размера эффекта при интервале от минус 0,71 до минус 0,37, то есть отрицательном целиком, — и на том же самом части опытов пара лучше человека одного на 0,74 при интервале от 0,63 до 0,85. Обе половины называются вместе, иначе строка таблицы читается приговором. Головное число всего свода — минус 0,23 при интервале от минус 0,39 до минус 0,07, и от него минус 0,54 читается как часть опытов. Обзор строже каждого отдельного случая по дизайну и шире по предмету: медицинских работ внутри него часть, исходов пациентов он не касается, опыты разной природы.</a:t>
            </a:r>
          </a:p>
          <a:p>
            <a:r>
              <a:t/>
            </a:r>
          </a:p>
          <a:p>
            <a:r>
              <a:t>Четвёртый замер отвечает не «сколько», а «через что». Десять читателей национальной программы скрининга прочитали один и тот же набор из шестидесяти случаев дважды — сначала без подсказок, через шесть недель с подсказками. На случаях, где подсказка пропустила находку, чувствительность того же читателя упала с 71 из ста до 39. Сравнивается человек с самим собой, и этим снят разброс между людьми, который в чтении снимков велик. Слабая сторона названа там же: читателей десять, и обобщать на профессию по десяти нельзя.</a:t>
            </a:r>
          </a:p>
          <a:p>
            <a:r>
              <a:t/>
            </a:r>
          </a:p>
          <a:p>
            <a:r>
              <a:t>Теперь вывод, один на четыре. Пара человека и модели не наследует силу сильнейшей стороны. Это не то же самое, что «пара работает плохо»: человека без модели пара обычно обходит, и у этого есть своё число — размер эффекта 0,64 при интервале от 0,53 до 0,74 по всему обзору (на части опытов «модель сильнее» это 0,74). Формулировка, которую данные поддерживают, звучит так: пара обычно лучше человека и хуже сильнейшего из двух. Отсюда и практическое правило: прежде чем решать, кто решает, надо измерить, кто из двоих сильнее на этой конкретной задаче.</a:t>
            </a:r>
          </a:p>
          <a:p>
            <a:r>
              <a:t/>
            </a:r>
          </a:p>
          <a:p>
            <a:r>
              <a:t>И честная оговорка, которая относится ко всем четырём сразу, — произнести её надо точно, потому что прежняя редакция кадра произносила её неверно. Говорить «исход пациента не измерен ни в одном из четырёх» нельзя: у хирургов первичный исход заявлен прямо — сто пятьдесят больных, тридцать дней проспективного наблюдения, — и кадр хирургов сам говорит, что осложнение считают на тридцатый день. Утверждение об отсутствии было нашим собственным, и проверено оно по заявленному первичному исходу каждой из четырёх работ так же, как мы проверяем чужие числа.</a:t>
            </a:r>
          </a:p>
          <a:p>
            <a:r>
              <a:t/>
            </a:r>
          </a:p>
          <a:p>
            <a:r>
              <a:t>Верная формулировка держится, а мысль остаётся той же: ни в одном из четырёх решение человека не дошло до больного. У хирургов описания случаев составлены по уже случившимся поступлениям, оценки участников в лечение не входили, исходы служат эталоном, по которому считают точность этих оценок. У врачей с языковой моделью больных в опыте нет вовсе — задания составленные. Обзор не про исходы по своему предмету. Замер взгляда мерил точность, время чтения и поведение взгляда. То есть измерено, как человек смотрит и как он меняет верное решение на неверное, — и не измерено, что стало с больным из-за того, что человек стал хуже смотреть. Разница между «исход не измерен» и «решение не дошло до больного» не придирка: первое ложно и проверяемо ложно, второе верно и есть собственно вывод.</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с устройства, потому что без него дальше нечего обсуждать. Балльная шкала раннего предупреждения — это таблица, по которой каждая измеренная у постели величина получает баллы за отклонение от нормы: частота дыхания от двенадцати до двадцати даёт ноль, от двадцати одного до двадцати четырёх — два, двадцать пять и выше — три. Баллы складываются, сумма попадает в полосу, полоса назначает действие: продолжать наблюдение, участить измерения и позвать дежурного врача, вызвать реанимационную бригаду немедленно. Веса в этой таблице расставила согласительная комиссия профессионального общества и напечатала на карте, которая лежит в отделении. Отсюда свойство, которого у модели нет: ошибка шкалы разбирается как ошибка документа — собирается комиссия, правит таблицу, выпускает новую редакцию, и всякий, кто не согласен, знает, кому возражать и по какому пункту.</a:t>
            </a:r>
          </a:p>
          <a:p>
            <a:r>
              <a:t/>
            </a:r>
          </a:p>
          <a:p>
            <a:r>
              <a:t>Цену обеих ошибок называю до всяких чисел, и на кадре она стоит двумя плашками. Пропустить ухудшение: сепсис — ведущая причина внутрибольничной смерти, и счёт тут идёт на часы до реанимации, а не на деньги. Поднять ложную тревогу: антибиотик «на всякий случай», время, снятое с другого пациента, и — через сотню таких тревог — привычка закрывать оповещение не читая. Обе ошибки платит одна и та же дежурная смена, и выбор между ними делается по многу раз за ночь.</a:t>
            </a:r>
          </a:p>
          <a:p>
            <a:r>
              <a:t/>
            </a:r>
          </a:p>
          <a:p>
            <a:r>
              <a:t>Теперь числа, и первым — то, с чем модель сравнивают. У шкалы подтверждаются восемь тревог из ста: остальные девяносто две подняты впустую, и это цена классического режима до всякого машинного обучения. Замер сделан на сорока пяти тысячах семистах семидесяти шести пациентах, сепсис у трёх и трёх десятых из ста, одна выборка на все три шкалы разом; у двух других шкал того же замера — двенадцать и восемнадцать. Рядом в литературе ходит число восемьдесят восемь и восемь десятых — доля ложных тревог прикроватного монитора, — и складывать его с нашими нельзя: там прибор у постели, порог выставлен рукой, обученной модели внутри нет вовсе. Это другая задача и другая база; говорю об этом здесь, чтобы на кадре не стояло двух долей, которые зал сложит.</a:t>
            </a:r>
          </a:p>
          <a:p>
            <a:r>
              <a:t/>
            </a:r>
          </a:p>
          <a:p>
            <a:r>
              <a:t>Что заявлял разработчик и что намерила независимая проверка. По первой версии модели заявлена площадь под кривой от 0,76 до 0,83. Внешняя проверка на 38 455 госпитализациях намерила 0,63 — это различение чуть лучше монетки. Поймано моделью 33 случая сепсиса из ста: не выявлено 1 709 из 2 552. Разработчик после этого выпустил новую версию, и важно здесь не то, что первая оказалась хуже заявленного, а то, что узнали об этом извне: внутренней проверки, которая показала бы то же самое, не было.</a:t>
            </a:r>
          </a:p>
          <a:p>
            <a:r>
              <a:t/>
            </a:r>
          </a:p>
          <a:p>
            <a:r>
              <a:t>Два знаменателя на кадре разные, и путать их нельзя — это главное место, где такие разборы врут. Восемнадцать из ста — это доля госпитализаций, на которые пришла хотя бы одна тревога: шесть тысяч девятьсот семьдесят одна тревога на тридцать восемь тысяч четыреста пятьдесят пять госпитализаций. Двенадцать из ста — доля уже поднятых тревог, которые подтвердились. Считано от разного. Отсюда арифметика, которую стоит произнести медленно: чтобы найти один случай сепсиса, дежурная смена разбирает восемь тревог. Прежняя редакция этого разбора называла пятнадцать — число отозвано эрратой того же журнала, и я называю это вслух, потому что лекция про то, как числа живут в пересказах дольше, чем в первоисточниках.</a:t>
            </a:r>
          </a:p>
          <a:p>
            <a:r>
              <a:t/>
            </a:r>
          </a:p>
          <a:p>
            <a:r>
              <a:t>Вторая проверка, другими авторами и в других больницах, добавляет то, чего первая не меряла, — время. В приёмном отделении сепсис распознаёт врач: осматривает, заказывает анализы, начинает лечение. Проверка сверила время тревоги со временем этого решения на ста сорока пяти тысячах восьмистах восьмидесяти пяти обращениях двух отделений за две тысячи двадцать третий год. Медианное опережение — ноль минут; примерно в половине случаев врачи вели сепсис до того, как модель подала голос. Вывод авторов дословно: «добавляет мало к тому, что врачи и так делают». У действующей версии, проверенной проспективно на двухстах двадцати семи тысячах девяноста одной госпитализации в четырёх системах, различение выросло до полосы от нуля целых восьмидесяти двух до нуля целых девяноста двух, а подтверждение осталось низким — от тринадцати до двадцати шести из ста.</a:t>
            </a:r>
          </a:p>
          <a:p>
            <a:r>
              <a:t/>
            </a:r>
          </a:p>
          <a:p>
            <a:r>
              <a:t>Что переехало. Оповещение появилось и работает без участия человека — круглосуточно, по всем пациентам сразу, по данным, которые уже лежат в карте в машинном виде. Это настоящий выигрыш, и специалист его возьмёт. Но разбор и отклонение тревоги стали отдельной статьёй рабочего времени, которой до внедрения не существовало, а в отдельных больницах у этого шага появился штат. Форма словаря здесь четвёртая — нагрузка выросла на том же месте: место то же, рука та же, вырос объём чтения и отклонения. И форма «шаг появился» — про сам разбор тревоги: у шкалы отклонять было нечего, порог она считала сама.</a:t>
            </a:r>
          </a:p>
          <a:p>
            <a:r>
              <a:t/>
            </a:r>
          </a:p>
          <a:p>
            <a:r>
              <a:t>**Источники.** </a:t>
            </a:r>
            <a:r>
              <a:rPr u="sng">
                <a:solidFill>
                  <a:srgbClr val="065A82"/>
                </a:solidFill>
                <a:hlinkClick r:id="rId3"/>
              </a:rPr>
              <a:t>Wong, Otles и соавт., JAMA Internal Medicine 2021, с эрратой</a:t>
            </a:r>
            <a:r>
              <a:t> · </a:t>
            </a:r>
            <a:r>
              <a:rPr u="sng">
                <a:solidFill>
                  <a:srgbClr val="065A82"/>
                </a:solidFill>
                <a:hlinkClick r:id="rId4"/>
              </a:rPr>
              <a:t>сравнение балльных шкал, JAMIA Open 2021</a:t>
            </a:r>
            <a:r>
              <a:t> · </a:t>
            </a:r>
            <a:r>
              <a:rPr u="sng">
                <a:solidFill>
                  <a:srgbClr val="065A82"/>
                </a:solidFill>
                <a:hlinkClick r:id="rId5"/>
              </a:rPr>
              <a:t>Ostermayer и соавт., JAMIA Open 2024</a:t>
            </a:r>
            <a:r>
              <a:t> · </a:t>
            </a:r>
            <a:r>
              <a:rPr u="sng">
                <a:solidFill>
                  <a:srgbClr val="065A82"/>
                </a:solidFill>
                <a:hlinkClick r:id="rId6"/>
              </a:rPr>
              <a:t>проспективная проверка действующей версии, JAMA Network Open 2026</a:t>
            </a:r>
            <a:r>
              <a:t> · </a:t>
            </a:r>
            <a:r>
              <a:rPr u="sng">
                <a:solidFill>
                  <a:srgbClr val="065A82"/>
                </a:solidFill>
                <a:hlinkClick r:id="rId7"/>
              </a:rPr>
              <a:t>объём тревог за эпидемию, JAMA Network Open 2021</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Назову по имени то, что здесь происходит с человеком: это когнитивное искажение. Четвёртое из шести, предъявленных на входе вечера, и называется оно потоком тревог: модель шлёт их подряд, и врач отклоняет почти все, включая те, что отклонять нельзя. Насколько почти все — измерено, и не на этой системе, а на целом их классе: систематический обзор 2024 года по тревогам о лекарственных взаимодействиях даёт среднюю долю отклонения 90 из ста при доверительном интервале от 85 до 95, с разбросом по отдельным работам от 55 до 98; в одном десятицентровом исследовании из 16 011 тревог отклонено 95,7 из ста. И самое неприятное число этого ряда: среди отклонений тревог максимальной тяжести уместными постфактум признаны 0,5 из ста. Читать это надо осторожно и в обе стороны: система откалибрована так, что большинство тревог избыточны, и высокая доля отклонения — отчасти разумное приспособление, а не только усталость; оба объяснения живут в литературе рядом.</a:t>
            </a:r>
          </a:p>
          <a:p>
            <a:r>
              <a:t/>
            </a:r>
          </a:p>
          <a:p>
            <a:r>
              <a:t>Этот кадр — вторая половина разбора: первый сказал, что это за изделие и с чем его сравнивают, этот считает, во что оно обошлось.</a:t>
            </a:r>
          </a:p>
          <a:p>
            <a:r>
              <a:t/>
            </a:r>
          </a:p>
          <a:p>
            <a:r>
              <a:t>Два знаменателя на кадре разные, и путать их нельзя — это главное место, где такие разборы врут. Восемнадцать из ста — доля госпитализаций, на которые пришла хотя бы одна тревога: шесть тысяч девятьсот семьдесят одна тревога на тридцать восемь тысяч четыреста пятьдесят пять госпитализаций. Двенадцать из ста — доля уже поднятых тревог, которые подтвердились. Считано от разного, и если сложить эти два числа в одну мысль, получится неправда.</a:t>
            </a:r>
          </a:p>
          <a:p>
            <a:r>
              <a:t/>
            </a:r>
          </a:p>
          <a:p>
            <a:r>
              <a:t>Отсюда арифметика, которую стоит произнести медленно: чтобы найти один случай сепсиса, дежурная смена разбирает восемь тревог. На тысячу госпитализаций это примерно сто восемьдесят одна тревога и двадцать два подтверждённых случая. Прежняя редакция этого разбора называла пятнадцать тревог на случай — число отозвано эрратой того же журнала, и я называю это вслух, потому что лекция ровно про то, как числа живут в пересказах дольше, чем в первоисточниках.</a:t>
            </a:r>
          </a:p>
          <a:p>
            <a:r>
              <a:t/>
            </a:r>
          </a:p>
          <a:p>
            <a:r>
              <a:t>Сравнение, ради которого всё считалось. У шкалы подтверждается восемь из ста, у модели — двенадцать. Модель из полосы классического режима не вышла. Населения в двух работах разные, поэтому сравнивается порядок величины, а не превосходство; утверждать превосходство нельзя. И обратное тоже неверно: модель не провалилась — она встала примерно туда же, где уже стояла шкала, стоившая несопоставимо дешевле. Вот это «примерно туда же» и есть результат разбора.</a:t>
            </a:r>
          </a:p>
          <a:p>
            <a:r>
              <a:t/>
            </a:r>
          </a:p>
          <a:p>
            <a:r>
              <a:t>Вторая проверка, другими авторами и в других больницах, добавляет то, чего первая не меряла, — время. В приёмном отделении сепсис распознаёт врач: осматривает, заказывает анализы, начинает лечение. Проверка сверила время тревоги со временем этого решения на ста сорока пяти тысячах восьмистах восьмидесяти пяти обращениях двух отделений за две тысячи двадцать третий год. Медианное опережение — ноль минут; примерно в половине случаев врачи вели сепсис до того, как модель подала голос. Вывод авторов дословно: «добавляет мало к тому, что врачи и так делают». У действующей версии, проверенной проспективно на двухстах двадцати семи тысячах девяноста одной госпитализации в четырёх системах, различение выросло до полосы от нуля целых восьмидесяти двух до нуля целых девяноста двух, а подтверждение осталось низким — от тринадцати до двадцати шести из ста. Сила свидетельства у этих проверок разная, и это надо называть: первая ретроспективная, вторая проспективная и многоцентровая.</a:t>
            </a:r>
          </a:p>
          <a:p>
            <a:r>
              <a:t/>
            </a:r>
          </a:p>
          <a:p>
            <a:r>
              <a:t>Что переехало. Оповещение появилось и работает без участия человека — круглосуточно, по всем пациентам сразу, по данным, которые уже лежат в карте в машинном виде. Это настоящий выигрыш, и специалист его возьмёт: ни одна балльная шкала не пересчитывается по всей больнице каждые пятнадцать минут. Но разбор и отклонение тревоги стали отдельной статьёй рабочего времени, которой до внедрения не существовало, а в отдельных больницах у этого шага появился штат. Форма словаря здесь четвёртая — нагрузка выросла на том же месте: место то же, рука та же, вырос объём чтения и отклонения. Форма «шаг появился» — про сам разбор тревоги: у шкалы отклонять было нечего, порог она считала сама. А формы «исполнитель тот же, но стал хуже» в этом разборе нет, и это проверено: качество работы дежурной смены до внедрения и после него никто не измерял, а выдумать такое измерение нельзя так же, как выдумать число.</a:t>
            </a:r>
          </a:p>
          <a:p>
            <a:r>
              <a:t/>
            </a:r>
          </a:p>
          <a:p>
            <a:r>
              <a:t>И последнее число, которое читается только с базой; оно стоит на кадре парой, и пару надо произнести целиком. В двадцати четырёх больницах за время вирусной эпидемии суточный поток тревог вырос с девятисот пятидесяти трёх до тысячи трёхсот шестидесяти трёх — на сорок три процента. Само по себе это ничего не значит: больных больше, тревог больше. Но загрузка за тот же период упала с десяти тысяч ста пятидесяти девяти до шести тысяч шестисот тридцати четырёх пациентов, то есть на треть. Значит на каждого пациента тревог стало не на сорок три процента больше, а вдвое с лишним: доля пациентов с тревогой выросла с девяти до двадцати одного из ста.</a:t>
            </a:r>
          </a:p>
          <a:p>
            <a:r>
              <a:t/>
            </a:r>
          </a:p>
          <a:p>
            <a:r>
              <a:t>Вот что произошло: распределение входов сдвинулось — другие пациенты, другая болезнь, — а порог остался на месте, потому что порог никто не пересчитывал. Модель не сломалась и не переобучилась; она продолжала считать то же, что считала всегда, на изменившемся потоке. Переносимое за пределы медицины почти без правок: в момент, когда поток меняется сильнее всего, инструмент врёт больше всего, и именно в этот момент у организации меньше всего рук на пересчёт порога.</a:t>
            </a:r>
          </a:p>
          <a:p>
            <a:r>
              <a:t/>
            </a:r>
          </a:p>
          <a:p>
            <a:r>
              <a:t>**Источники.** </a:t>
            </a:r>
            <a:r>
              <a:rPr u="sng">
                <a:solidFill>
                  <a:srgbClr val="065A82"/>
                </a:solidFill>
                <a:hlinkClick r:id="rId3"/>
              </a:rPr>
              <a:t>Wong, Otles и соавт., JAMA Internal Medicine 2021, с эрратой</a:t>
            </a:r>
            <a:r>
              <a:t> · </a:t>
            </a:r>
            <a:r>
              <a:rPr u="sng">
                <a:solidFill>
                  <a:srgbClr val="065A82"/>
                </a:solidFill>
                <a:hlinkClick r:id="rId4"/>
              </a:rPr>
              <a:t>Ostermayer и соавт., JAMIA Open 2024</a:t>
            </a:r>
            <a:r>
              <a:t> · </a:t>
            </a:r>
            <a:r>
              <a:rPr u="sng">
                <a:solidFill>
                  <a:srgbClr val="065A82"/>
                </a:solidFill>
                <a:hlinkClick r:id="rId5"/>
              </a:rPr>
              <a:t>объём тревог за эпидемию, JAMA Network Open 2021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Шестой разбор раздела и первый российский в нём. Все пять предыдущих мерили подсказку на одном исследовании: снимок, срез, кардиограмма, балл риска. Здесь модель читает медкарту целиком — и ставит не предварительный диагноз, а заключительный.</a:t>
            </a:r>
          </a:p>
          <a:p>
            <a:r>
              <a:t/>
            </a:r>
          </a:p>
          <a:p>
            <a:r>
              <a:t>Что за случай. Москва, приём терапевта или врача общей практики в городской поликлинике. Система называется AIDA; она встроена в городскую систему поддержки врачебных решений и работает поверх той же электронной медкарты, в которой врач и так сидит. Важное уточнение, чтобы не путать два изделия: раньше в Москве работал сервис, предлагавший три наиболее вероятных предварительных диагноза по жалобам, записанным при обращении. AIDA — следующая работа той же линии, и предмет у неё другой: не предварительный диагноз по жалобе, а заключительный диагноз по всей истории. Для нашей стадии это и есть нужный случай: раздел про то, как по собранным величинам выносят заключение.</a:t>
            </a:r>
          </a:p>
          <a:p>
            <a:r>
              <a:t/>
            </a:r>
          </a:p>
          <a:p>
            <a:r>
              <a:t>Устройство. Вход — не одно поле, а вся карта в текстовом виде: жалобы, анамнез, данные осмотра, результаты лаборатории, протоколы и заключения инструментальных исследований, история ранее выставленных кодов. Выход — один код международной классификации болезней плюс оценка собственной неуверенности. Внутри — языковая модель Longformer, то есть преобразователь с разреженным вниманием, который держит последовательность до восьми тысяч ста девяноста двух токенов; сначала её обучили предсказывать замаскированные слова на неструктурированных врачебных записях, потом донастроили предсказывать код. Обучающий набор — полтора миллиона обезличенных карт городской системы, из них миллион триста пятьдесят тысяч на обучение и сто тридцать три тысячи на проверку. Метками служили диагнозы, подтверждённые лабораторией или инструментально и помеченные в карте как заключительные.</a:t>
            </a:r>
          </a:p>
          <a:p>
            <a:r>
              <a:t/>
            </a:r>
          </a:p>
          <a:p>
            <a:r>
              <a:t>Две инженерные подробности оттуда же, обе поучительные. Первая: когда в текст подавали полные результаты лаборатории, точность ПАДАЛА — длинная выдача анализов вытесняла из окна старую историю, и модель теряла долгие тренды. Поэтому анализы подают только отклонившиеся от нормы. Вторая: добавление временных промежутков между приёмами, которое кажется очевидно полезным, измеримого улучшения не дало вовсе; рост и вес — тоже. Перебор признаков здесь мерили, а не угадывали, и самыми весомыми оказались жалобы и анамнез, а не лаборатория.</a:t>
            </a:r>
          </a:p>
          <a:p>
            <a:r>
              <a:t/>
            </a:r>
          </a:p>
          <a:p>
            <a:r>
              <a:t>Набор кодов — отдельная история про то, как задача сужается под практику. Сначала взяли двести пятьдесят шесть самых частых диагнозов. Расширили до пятисот семидесяти одного, и этот набор покрывал девяносто пять обращений из ста, кроме акушерства, онкологии и профосмотров. Потом СОКРАТИЛИ до трёхсот шестидесяти трёх, выбросив коды, которые терапевт не ставит, которых нет в клинических руководствах или которые не годятся как заключительные. То есть набор правили не ради метрики, а под то, что на этом месте вообще бывает заключительным диагнозом.</a:t>
            </a:r>
          </a:p>
          <a:p>
            <a:r>
              <a:t/>
            </a:r>
          </a:p>
          <a:p>
            <a:r>
              <a:t>Теперь классический режим, с которым сравнивают. Он здесь один и он измерен: врач решает сам. На наборе размеченных случаев врач даёт девяносто одну целую семь десятых верных из ста. Второго режима — второго мнения коллеги — на приёме в поликлинике просто нет: в разборе второго мнения мы уже говорили, чем оно держится, а на пятнадцатиминутном приёме держать его нечем. Это не пробел замера, это свойство стадии, и я называю его прямо.</a:t>
            </a:r>
          </a:p>
          <a:p>
            <a:r>
              <a:t/>
            </a:r>
          </a:p>
          <a:p>
            <a:r>
              <a:t>И главное число кадра, из-за которого разбор того стоит. Модель даёт восемьдесят семь целых семь десятых против девяносто одной целой семи десятых у врача. Модель ХУЖЕ врача на четыре пункта — и внедрена. Авторы не прячут это и не оправдывают: они пишут, что модель работает как средство проверки и страховки, чтобы ни одна существенная подробность карты не осталась незамеченной. Это важно разделить: аргумент «модель точнее человека» здесь не прозвучал ни разу, а три миллиона рекомендаций за первый год всё равно сделаны. Основание внедрения другое — не точность, а полнота просмотра.</a:t>
            </a:r>
          </a:p>
          <a:p>
            <a:r>
              <a:t/>
            </a:r>
          </a:p>
          <a:p>
            <a:r>
              <a:t>И последнее на этом кадре: модель умеет молчать. Она выдаёт код с оценкой неуверенности — сначала это был просто максимум выходного распределения, потом поставили отдельную модель оценки неуверенности, — и если неуверенность выше порога, ответа нет вовсе, а на экране появляется сообщение, что данных карты недостаточно; отдельно есть предупреждение «особо сложный случай». Отсюда разрыв в числах, который иначе выглядит потерей: пять миллионов запросов за первый год и три миллиона рекомендаций. Два миллиона раз модель отказалась отвечать. Авторы пишут, что именно этот отказ и поднимает доверие врачей к инструменту, — то есть умение молчать здесь часть изделия, а не его недоработка.</a:t>
            </a:r>
          </a:p>
          <a:p>
            <a:r>
              <a:t/>
            </a:r>
          </a:p>
          <a:p>
            <a:r>
              <a:t>**Источники.** </a:t>
            </a:r>
            <a:r>
              <a:rPr u="sng">
                <a:solidFill>
                  <a:srgbClr val="065A82"/>
                </a:solidFill>
                <a:hlinkClick r:id="rId3"/>
              </a:rPr>
              <a:t>Умеренков, Нестеров, Шапошников и соавт., IJCAI-25, с. 9880–9886</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 про то место, которое в разборах подсказки почти всегда пропускают, а оно и есть единственное, где подсказка вообще на что-то влияет.</a:t>
            </a:r>
          </a:p>
          <a:p>
            <a:r>
              <a:t/>
            </a:r>
          </a:p>
          <a:p>
            <a:r>
              <a:t>Набор, на котором всё посчитано: три тысячи пятьсот обезличенных случаев, выгруженных из той же городской системы, но ПОСЛЕ того, как обучающий набор был закрыт, — чтобы обучающие случаи не протекли в проверочные. Каждый случай независимо смотрели трое опытных врачей, видя всю историю; эталоном считался диагноз, на котором сошлись хотя бы двое.</a:t>
            </a:r>
          </a:p>
          <a:p>
            <a:r>
              <a:t/>
            </a:r>
          </a:p>
          <a:p>
            <a:r>
              <a:t>И вот первая вещь, которую стоит произнести медленно, потому что она про саму меру, а не про модель. Все трое сошлись в шестидесяти семи с половиной случаях из ста. Двое из трёх — в двадцати семи с половиной. А в пяти случаях из ста — это сто шестьдесят восемь случаев из трёх тысяч пятисот — трое опытных врачей, глядя на полную историю одного человека, не сошлись ВОВСЕ: три разных диагноза на один случай. Запомните это, когда в следующий раз услышите про точность диагностической модели: та линия, относительно которой её меряют, сама дрожит. Там, где эталон собирается голосованием двух из трёх, «точность» означает «совпадение с большинством», а не «правильность».</a:t>
            </a:r>
          </a:p>
          <a:p>
            <a:r>
              <a:t/>
            </a:r>
          </a:p>
          <a:p>
            <a:r>
              <a:t>Теперь главное число вечера для этого раздела, и я разложу его на три подмножества одного набора. Первое: случаи, где врач и модель дали одно и то же, — две тысячи шестьсот тридцать пять, то есть три четверти набора. Там верны оба практически всегда: девяносто девять из ста. Решать там нечего, подсказка там не нужна, и именно эти случаи дают основную часть красивой общей цифры. Второе: случаи, где врач и модель РАСОШЛИСЬ, — шестьсот девяносто семь, почти ровно пятая часть. И вот здесь: врач прав в шестидесяти четырёх случаях из ста, модель — в сорока пяти. Произнесу вывод прямо, он того стоит: в той пятой части случаев, где подсказка только и могла бы что-то изменить, не надёжен НИ ОДИН из двоих. Врач прав меньше чем в двух третях, модель — меньше чем в половине. Правило «слушай врача» там даёт треть ошибок, правило «слушай модель» — больше половины.</a:t>
            </a:r>
          </a:p>
          <a:p>
            <a:r>
              <a:t/>
            </a:r>
          </a:p>
          <a:p>
            <a:r>
              <a:t>Третье подмножество добивает картину. Возьмите те девятьсот шестьдесят пять случаев, где трое экспертов сошлись не полностью, то есть объективно трудные. Там обваливаются оба сразу: врач с девяноста семи до семидесяти восьми, модель с девяноста четырёх до семидесяти двух. Падают они вместе и примерно на одинаковую величину. Значит модель не трудна там, где трудно ей, — она трудна там, где трудно человеку, и ошибки у них коррелированы. Для пары это худший возможный расклад: страховка, которая отказывает одновременно со страхуемым, страховкой не является.</a:t>
            </a:r>
          </a:p>
          <a:p>
            <a:r>
              <a:t/>
            </a:r>
          </a:p>
          <a:p>
            <a:r>
              <a:t>И нюанс про сами проценты, который стоит на кадре. Восемьдесят семь целых семь десятых и девяносто одна целая семь десятых получены счётом, в котором синонимичный код классификации зачтён как верный — то есть та же болезнь, записанная другим кодом, считается попаданием. Строгим счётом, код в код: врач девяносто ровно, модель восемьдесят шесть целых одна десятая. Разница небольшая, но направление важно: заголовочная цифра — всегда более щедрая из двух, и спрашивать, какая именно считалась, надо до того, как её повторять.</a:t>
            </a:r>
          </a:p>
          <a:p>
            <a:r>
              <a:t/>
            </a:r>
          </a:p>
          <a:p>
            <a:r>
              <a:t>Что переехало. Три вещи, и ни одна не про точность. Первое: подсказка приходит ДО решения врача и стоит выше него на экране — не рядом, не по запросу, а наверху. Мы называли это механизмом на входе, и имя у него есть: якорение. Заключение сдвигается к подсказке, даже когда подсказка неверна, и порядок предъявления — управляемый параметр, который здесь выставлен в самую рискованную позицию. Второе: у врача появился шаг, которого не было в его работе, — решить, верить ли предложенному коду; в пятой части случаев этот шаг действительно совершается, и мы только что видели, чем он кончается. Третье, и это из опросов самих авторов: больше всего инструмент пригодился молодым специалистам — они с ним увереннее. Разрыв по стажу мы уже встречали на кардиограмме с неверной машинной расшифровкой; здесь он проступает с другой стороны, и честно сказать, что опросы эти качественные, числа у них нет.</a:t>
            </a:r>
          </a:p>
          <a:p>
            <a:r>
              <a:t/>
            </a:r>
          </a:p>
          <a:p>
            <a:r>
              <a:t>**Источники.** </a:t>
            </a:r>
            <a:r>
              <a:rPr u="sng">
                <a:solidFill>
                  <a:srgbClr val="065A82"/>
                </a:solidFill>
                <a:hlinkClick r:id="rId3"/>
              </a:rPr>
              <a:t>Умеренков, Нестеров, Шапошников и соавт., IJCAI-25, табл. 5, с. 9882</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стадию по четырём шапкам кадра. На кадре от каждой осталось по три пункта, остальное проговаривается здесь.</a:t>
            </a:r>
          </a:p>
          <a:p>
            <a:r>
              <a:t/>
            </a:r>
          </a:p>
          <a:p>
            <a:r>
              <a:t>Что получается. Второй взгляд на поток, который человеку не прочесть целиком: модель читает всё и не теряет чувствительность в пятницу вечером. Напоминание о редком диагнозе работает тем же механизмом, которым подсказка и вредит, — она дополняет состав списка, и строка, которой у усталого врача не появилось бы, появляется. И одно устройство процедуры, где пара измеренно сильнее обеих сторон: чувствительность восемьдесят с половиной против семидесяти трёх и восьми при одинаковой специфичности.</a:t>
            </a:r>
          </a:p>
          <a:p>
            <a:r>
              <a:t/>
            </a:r>
          </a:p>
          <a:p>
            <a:r>
              <a:t>Что не получается. Независимость теряется потому, что так устроен интерфейс; внимательность врача тут не причина. Избирательности не хватает процедуры: инструмента, позволяющего отличить верную подсказку от неверной, не получила ни одна группа, и ни одна с задачей не справилась. Объяснимость имеет измеренную цену: упрощённое объяснение неверной рекомендации роняет выбор ниже той линии, которую тот же врач даёт без модели вообще.</a:t>
            </a:r>
          </a:p>
          <a:p>
            <a:r>
              <a:t/>
            </a:r>
          </a:p>
          <a:p>
            <a:r>
              <a:t>Что стало с работой. Нагрузка на том же месте упала — у замера взгляда это было ценой, у обратного знака выигрышем; значит форма знака не несёт, знак задаёт правота подсказки. Сместилась цена ошибки: пропуск модели стал пропуском читателя, и подпись под ним ставит человек. Сменился исполнитель: вторым читателем стала модель, и падение объёма человеческого чтения — следствие этой смены; отдельным достижением оно не является.</a:t>
            </a:r>
          </a:p>
          <a:p>
            <a:r>
              <a:t/>
            </a:r>
          </a:p>
          <a:p>
            <a:r>
              <a:t>Что это держит. Порядок предъявления подсказки — управляемый параметр с измеренной ценой: интерфейс, показывающий отметку вместе со снимком, покупает скорость дорого. Арбитраж третьим читателем там, где человек и модель разошлись. И то, что нигде не записано: ступень участия человека. Неназначенная, под нагрузкой она сползает к подписи не глядя.</a:t>
            </a:r>
          </a:p>
          <a:p>
            <a:r>
              <a:t/>
            </a:r>
          </a:p>
          <a:p>
            <a:r>
              <a:t>И механизм входа, который этот раздел встретил сильнее всех остальных: «Якорение». Московский шестой разбор ставит подсказку модели НАВЕРХ рабочего экрана до того, как врач решил, — то есть выставляет порядок предъявления в самую рискованную позицию, какая на этой стадии возможна. Там же измерено, чем это кончается в единственном месте, где подсказка на что-то влияет: в той пятой части случаев, где врач и модель расходятся, прав ни один — врач в шестидесяти четырёх случаях из ста, модель в сорока пяти.</a:t>
            </a:r>
          </a:p>
          <a:p>
            <a:r>
              <a:t/>
            </a:r>
          </a:p>
          <a:p>
            <a:r>
              <a:t>Связку надо произнести: в разборе, где результат упал, и в контрольной линии, где он вырос, работала одна и та же система одного производителя.</a:t>
            </a:r>
          </a:p>
          <a:p>
            <a:r>
              <a:t/>
            </a:r>
          </a:p>
          <a:p>
            <a:r>
              <a:t>Число под строкой об объяснимости стоит назвать, потому что оно против интуиции. В опыте на виньетках с выбором антидепрессанта неверная рекомендация, поданная с упрощённым объяснением, уронила долю верных выборов с 35,7 до 26,2 из ста — то есть ниже той, что получалась вообще без всякой модели. Объяснение не помогло отличить плохой совет от хорошего; оно помогло плохому совету пройти.</a:t>
            </a:r>
          </a:p>
          <a:p>
            <a:r>
              <a:t/>
            </a:r>
          </a:p>
          <a:p>
            <a:r>
              <a:t>И то, чем эта нагрузка держится, — произносим, на кадре этого нет. Держат её две вещи: порядок предъявления подсказки, у которого есть измеренная цена, и арбитраж третьим читателем — но только там, где человек и модель разошлись. Числа к четырём формам словаря не повторяем: каждое стояло на своём разборе, и повтор здесь сделал бы из вывода конспект раздела. Один и тот же инструмент уронил результат в одном разборе и поднял в контрольной линии — разошлось у них устройство процедуры, и это и есть вывод стадии.</a:t>
            </a:r>
          </a:p>
          <a:p>
            <a:r>
              <a:t/>
            </a:r>
          </a:p>
          <a:p>
            <a:r>
              <a:t>Как произносить четыре формы словаря, стоящие строкой. Нагрузка на том же месте упала — у замера взгляда, и знак этой формы задаёт правота подсказки: то же падение объёма осмотра в зеркальной работе оказалось выигрышем. Сместилась цена ошибки — пропуск модели стал пропуском читателя, подписанным человеком. Сменился исполнитель — вторым читателем стала модель, и объём человеческого чтения упал следом, как следствие смены, а не как самостоятельная цель. Исполнитель тот же, но стал хуже — у хирурга на септическом шоке при той же работе просело собственное преимущество; этой формы в словаре до раздела не было, её пришлось завести.</a:t>
            </a:r>
          </a:p>
          <a:p>
            <a:r>
              <a:t/>
            </a:r>
          </a:p>
          <a:p>
            <a:r>
              <a:t>И про полужирную строку. Ступень участия человека не записана нигде: ни в регламенте программы, ни в инструкции к изделию, ни в должностной инструкции читателя. Незаписанная ступень не остаётся нейтральной — она сползает вниз, к подписи не глядя, потому что это самый дешёвый способ закрыть требование «решение принимает человек». Счёт за это предъявляется в разделе о допуске, надзоре и ответственности, и предъявляется он не интерфейсу, а тому, кто ступень не назначил.</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Наблюдение искало ухудшение в цифрах; эта работа устроена иначе. Решение по ней принимает не прибор и не дежурная смена, а человек, который читает документ позже, иногда через месяцы, и не видел пациента лично. Качество записи для него — не стиль, а единственный канал, через который к нему попадает чужое решение.</a:t>
            </a:r>
          </a:p>
          <a:p>
            <a:r>
              <a:t/>
            </a:r>
          </a:p>
          <a:p>
            <a:r>
              <a:t>Классических режимов этой работы четыре: врач набирает текст руками сразу после приёма; переносит прежнюю запись в новую, правя изменившееся; диктует живому писцу; либо правит черновик ординатора под свою подпись. Посчитаны из четырёх два, и в разных единицах — письмо врача в минутах на заметку, перенос в доле текста карты; у живого писца и у черновика ординатора числа в наших работах нет, и причина у каждого названа на месте. Модель входит в неё с двух сторон. Первая — запись самого приёма: инструмент слушает разговор и отдаёт черновик заметки, врач вычитывает и подписывает. Вторая — запись исхода госпитализации целиком: модель собирает выписной документ по истории болезни, врач снова вычитывает и подписывает, и дальше по этому документу назначают лечение в другом месте.</a:t>
            </a:r>
          </a:p>
          <a:p>
            <a:r>
              <a:t/>
            </a:r>
          </a:p>
          <a:p>
            <a:r>
              <a:t>Оба разбора держатся одной и той же формой. Классический режим посчитан отдельно от заявленного эффекта модели; измеренный эффект — рандомизированным испытанием или слепым сравнением, а не самоотчётом тех, кто сам выбрал инструмент; и у каждого названа пара — что стало возможно и чего это потребовало.</a:t>
            </a:r>
          </a:p>
          <a:p>
            <a:r>
              <a:t/>
            </a:r>
          </a:p>
          <a:p>
            <a:r>
              <a:t>Разбор записи приёма показывает, как заявленная экономия времени и измеренный результат — две разные величины, посчитанные в разных единицах. Разбор выписного эпикриза идёт дальше: счёт ошибок у модели и у человека сопоставим, но устройство ошибки другое — не опечатка, а правдоподобно звучащая подробность, которой не было в истории. Прежний навык вычитки «как после коллеги» на этот документ не переносится.</a:t>
            </a:r>
          </a:p>
          <a:p>
            <a:r>
              <a:t/>
            </a:r>
          </a:p>
          <a:p>
            <a:r>
              <a:t>Раздел заканчивается документом, а документ в медицине почти всегда стоит под чьей-то подписью. Это и есть мост к следующему разделу: чем вообще удерживают цену ошибки, если решение уже принято и записано.</a:t>
            </a:r>
          </a:p>
          <a:p>
            <a:r>
              <a:t/>
            </a:r>
          </a:p>
          <a:p>
            <a:r>
              <a:t>Скажу сразу, чем этот раздел устроен иначе предыдущего. На наблюдении предмет был числовой: дорожка величин, балл, порог. Здесь предмет — текст, и проверить его нечем, кроме чтения. У балла есть порог, у записи порога нет: нельзя сказать «эта запись на семьдесят процентов полная» и принять решение по этому числу.</a:t>
            </a:r>
          </a:p>
          <a:p>
            <a:r>
              <a:t/>
            </a:r>
          </a:p>
          <a:p>
            <a:r>
              <a:t>Два читателя этого раздела разные, и цена ошибки у них разная. Запись приёма читают сам пациент и следующий врач — ошибка стоит повторного обследования или неверного продолжения лечения. Выписной эпикриз читают участковый врач, следующий стационар и страховщик — ошибка стоит назначения в другом учреждении, где спросить автора уже не у кого. Поэтому в разделе два разбора, а не один: один инструмент, две стадии, две разные цены.</a:t>
            </a:r>
          </a:p>
          <a:p>
            <a:r>
              <a:t/>
            </a:r>
          </a:p>
          <a:p>
            <a:r>
              <a:t>И одно свойство, которое надо держать в голове весь раздел, потому что оно объясняет обе цены. Пропуск в записи и отсутствие события выглядят для читателя одинаково. Если в документе не написано, что пациенту давали препарат, читатель не может отличить «не давали» от «дали и не записали». Никакая внимательность чтения этого не исправляет: различения просто нет в документе. Из этого следует вещь, неочевидная для инженера: полнота записи здесь важнее её краткости, и всякий инструмент, который делает документ короче, надо проверять именно на этом.</a:t>
            </a:r>
          </a:p>
          <a:p>
            <a:r>
              <a:t/>
            </a:r>
          </a:p>
          <a:p>
            <a:r>
              <a:t>Последнее про порядок двух разборов. Запись приёма идёт первой потому, что на ней есть настоящая рандомизация — самое сильное свидетельство во всей лекции, и начинать стадию стоит с него. Выписной эпикриз идёт вторым потому, что он тяжелее: по нему назначают в другом учреждении, и устройство ошибки там другое — не опечатка, а правдоподобно звучащая подробность, которой в истории болезни не было. Прежний навык вычитки «как после коллеги» на такой документ не переносится, и это и будет главной находкой раздела.</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Предыдущая стадия оставила после себя дорожку измерений, тревоги и то, что по ним сделали. Дальше работает уже не дорожка, а документ — и ведение медицинской документации поэтому отдельная работа врача, с отдельной формой, своими сроками и своей ответственностью за содержание. Заполненная карта служит сразу тремя вещами: источником сведений для следующего врача, предметом экспертизы качества помощи и основным доказательством при разборе случая.</a:t>
            </a:r>
          </a:p>
          <a:p>
            <a:r>
              <a:t/>
            </a:r>
          </a:p>
          <a:p>
            <a:r>
              <a:t>Данные этой стадии — всё, что собрали стадии до неё, положенное в текст. Жалобы и анамнез с приёма, найденное при осмотре, числа исследований, сформулированный диагноз, назначение, дорожка повторных измерений. Своего измерения стадия не добавляет ни одного; она переводит собранное в форму, которую можно передать.</a:t>
            </a:r>
          </a:p>
          <a:p>
            <a:r>
              <a:t/>
            </a:r>
          </a:p>
          <a:p>
            <a:r>
              <a:t>Вопрос, который на этих данных решают, один, и он не про архив: что должен узнать следующий читатель, которого при приёме не было. Запись делают не для хранения и не для проверяющего — её делают для человека, который будет действовать по ней, не видев пациента.</a:t>
            </a:r>
          </a:p>
          <a:p>
            <a:r>
              <a:t/>
            </a:r>
          </a:p>
          <a:p>
            <a:r>
              <a:t>Теперь о способах, которыми запись получается, и здесь стоит задержаться, потому что устроено это обратно тому, как стадию обычно представляют. Пять способов стоят на кадре перечнем; пройду по каждому. В современной карте они работают вместе, в одном документе. Перечень этот — про то, откуда в заметке берутся знаки; режимы письма, которые пойдут дальше, — про то, кто кладёт текст в документ. Две разные оси. Набор руками во время приёма — врач печатает, пока говорит с пациентом. Набор после приёма — между пациентами или в конце дня, та самая домашняя работа с картой. Диктовка — речь, которую расшифровывают в текст, человеком или распознаванием речи. Автоподстановка — содержание, которое система сама втягивает в заметку из структурированных полей: список препаратов, результаты анализов, показатели мониторинга. И перенос предыдущей записи — прежняя заметка переходит в новую, целиком или блоками, с правкой изменившегося.</a:t>
            </a:r>
          </a:p>
          <a:p>
            <a:r>
              <a:t/>
            </a:r>
          </a:p>
          <a:p>
            <a:r>
              <a:t>Пропорцию между ними измерили построчно, и она на экране плашками. Электронная карта крупного медицинского центра считает происхождение каждого знака подписанной заметки: набран он руками, подставлен системой или перенесён. По двадцати трём с половиной тысячам заметок четырёхсот шестидесяти авторов вышло так: восемнадцать процентов знаков набрано руками, сорок шесть перенесено, тридцать шесть подставлено системой. У ординаторов доля ручного набора ещё ниже, а доля переноса выше — одиннадцать и восемь против пятидесяти одного и четырёх.</a:t>
            </a:r>
          </a:p>
          <a:p>
            <a:r>
              <a:t/>
            </a:r>
          </a:p>
          <a:p>
            <a:r>
              <a:t>Единица здесь — знаки, и держать её надо твёрдо: дальше встретится доля переноса в пятьдесят целых одна десятая процента, и это доля СЛОВ у другой работы с другой выборкой. Сорок шесть и пятьдесят один — не одно и то же число, измеренное дважды.</a:t>
            </a:r>
          </a:p>
          <a:p>
            <a:r>
              <a:t/>
            </a:r>
          </a:p>
          <a:p>
            <a:r>
              <a:t>Читать эту пропорцию надо прямо: руками врач пишет меньшую часть заметки. Четыре знака из пяти приходят из прежнего текста либо из полей карты. И отсюда первое, что надо знать про потолок любого инструмента, обещающего снять набор текста: он попадает в те самые восемнадцать процентов. Про силу этого свидетельства стоит сказать здесь же — это одноцентровое поперечное измерение по журналу самой карты, то есть замер поведения, снятый машиной, и обобщаемость на другие учреждения и другие системы карт не проверена.</a:t>
            </a:r>
          </a:p>
          <a:p>
            <a:r>
              <a:t/>
            </a:r>
          </a:p>
          <a:p>
            <a:r>
              <a:t>Формы документа на этой стадии разные, и работа в них неодинаковая: запись приёма в карте, дневниковая запись в стационаре, выписной эпикриз — итоговый документ о госпитализации, по которому дальше работает следующий врач, — и направление к специалисту. Способ и форма — разные вещи: одну и ту же форму можно набрать руками, надиктовать или перенести.</a:t>
            </a:r>
          </a:p>
          <a:p>
            <a:r>
              <a:t/>
            </a:r>
          </a:p>
          <a:p>
            <a:r>
              <a:t>Дальше — читатели, и их я называю голосом: на кадре им места нет. У записи их пять, и каждый по ней действует. Участковый врач через месяц: по записи он поймёт, что уже проверяли, что исключили и чем лечили. Следующий стационар при повторной госпитализации: выписной документ там основной источник сведений о прошлом разе. Другой специалист того же учреждения, которому пациента направили. Экспертная комиссия при разборе случая: она читает запись и решает, соответствовали ли действия врача утверждённым порядкам, и доказательством служит именно запись. И сам пациент, который вправе получить копию.</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в записи и отсутствие события выглядят для него одинаково, и различить их ему нечем.</a:t>
            </a:r>
          </a:p>
          <a:p>
            <a:r>
              <a:t/>
            </a:r>
          </a:p>
          <a:p>
            <a:r>
              <a:t>Решение, которое стадия принимает, звучит просто и весит много: что попадёт в документ, по которому примут решение потом. Документ запускает действия — по записи назначают и отменяют, по эпикризу принимают в следующем учреждении, по направлению ставят в очередь, по содержанию карты экспертиза оценивает соответствие порядку.</a:t>
            </a:r>
          </a:p>
          <a:p>
            <a:r>
              <a:t/>
            </a:r>
          </a:p>
          <a:p>
            <a:r>
              <a:t>И почему стадия стоит здесь, после наблюдения. Ответ прямой: запись читают после того, как её сделали. Но важнее вторая половина — читает её другой человек, и вопрос у него свой. Наблюдение решало «вмешиваться сейчас или на обходе» по дорожке, которую вело само. Здесь решает тот, у кого дорожки нет, есть только текст, и качество этого текста для него не стиль, а единственный канал, по которому чужое решение к нему попадает.</a:t>
            </a:r>
          </a:p>
          <a:p>
            <a:r>
              <a:t/>
            </a:r>
          </a:p>
          <a:p>
            <a:r>
              <a:t>**Источник.** </a:t>
            </a:r>
            <a:r>
              <a:rPr u="sng">
                <a:solidFill>
                  <a:srgbClr val="065A82"/>
                </a:solidFill>
                <a:hlinkClick r:id="rId3"/>
              </a:rPr>
              <a:t>Wang, Khanna, Najafi, JAMA Internal Medicine 2017</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Дивайдер назвал две формы документа, и дальше весь раздел ходит между ними. Разложу обе по шагам прежде, чем говорить про инструменты: без этого непонятно, во что именно потом вмешивается модель.</a:t>
            </a:r>
          </a:p>
          <a:p>
            <a:r>
              <a:t/>
            </a:r>
          </a:p>
          <a:p>
            <a:r>
              <a:t>Запись приёма делают так. Пока пациент рассказывает, врач держит в голове структуру будущего текста: что из сказанного пойдёт в жалобы, что в анамнез, что в найденное при осмотре. Это первое действие, и оно идёт параллельно живому разговору — в этом вся его тяжесть. Второе действие — набрать запись; чаще после приёма, между пациентами или к концу дня, а что не успели, уезжает домой. Третье — вычитать и подписать. Подпись здесь не формальность: с этой минуты текст становится тем, по чему будут действовать другие, и тем, что предъявят при разборе случая.</a:t>
            </a:r>
          </a:p>
          <a:p>
            <a:r>
              <a:t/>
            </a:r>
          </a:p>
          <a:p>
            <a:r>
              <a:t>Выписной эпикриз устроен иначе, и разницу стоит произнести отчётливо. Слушать там нечего: пациент давно в палате, а источник — дневниковые записи за всю госпитализацию, результаты исследований, лист назначений. Первое действие — собрать из этого итог: что было, что делали, чем кончилось, с чем выписан и что делать дальше. Второе — передать документ читателю, которого в госпитализации не было вовсе. Третье — предъявить при разборе случая, если он будет.</a:t>
            </a:r>
          </a:p>
          <a:p>
            <a:r>
              <a:t/>
            </a:r>
          </a:p>
          <a:p>
            <a:r>
              <a:t>Шесть действий, по три на форму. Запомните это деление: дальше в разделе окажется, что модель встала не в произвольные места, а в одно и то же место обеих цепочек — в то, где текст набирают или собирают. Держать структуру в голове, вычитывать и подписывать остаётся человеку в обоих случаях, и предъявлять при разборе — тоже ему.</a:t>
            </a:r>
          </a:p>
          <a:p>
            <a:r>
              <a:t/>
            </a:r>
          </a:p>
          <a:p>
            <a:r>
              <a:t>И одно, что надо сказать здесь же, иначе дальше это прозвучит придиркой. У этих двух форм разные читатели и разная цена ошибки. Запись приёма читают сам пациент и следующий врач той же поликлиники — ошибка стоит повторного обследования или неверного продолжения лечения, и спросить автора ещё можно. Выписной эпикриз читают в другом учреждении, где автора нет: по нему назначают лечение, и спросить некого. Поэтому в разделе два разбора, а не один, и второй тяжелее первого.</a:t>
            </a:r>
          </a:p>
          <a:p>
            <a:r>
              <a:t/>
            </a:r>
          </a:p>
          <a:p>
            <a:r>
              <a:t>Теперь то, что в схеме не нарисовано, а произнести надо. Эти шесть действий не равны по тяжести, и тяжелее всех первое. Держать структуру будущего текста в голове во время живого разговора — работа, которую никто не видит и которую не засчитывают во время приёма. Пациент рассказывает, врач слушает и одновременно раскладывает услышанное по будущим полям: это в жалобы, это в анамнез, это в объективный статус. Если не разложить сейчас, вечером придётся вспоминать, а вспоминают хуже, чем слышат.</a:t>
            </a:r>
          </a:p>
          <a:p>
            <a:r>
              <a:t/>
            </a:r>
          </a:p>
          <a:p>
            <a:r>
              <a:t>Второе, что стоит сказать про запись приёма: набирают её чаще не при пациенте, и у этого есть цена. Между набором и разговором проходит время — иногда весь приёмный день, — и всё, что в этот промежуток забылось, в документ уже не попадёт. Отсюда, кстати, и берётся соблазн перенести прошлую запись целиком: перенос не требует помнить.</a:t>
            </a:r>
          </a:p>
          <a:p>
            <a:r>
              <a:t/>
            </a:r>
          </a:p>
          <a:p>
            <a:r>
              <a:t>Про выписной эпикриз добавлю ещё одно. Он собирается не из разговора, а из того, что уже написано: дневники, назначения, результаты исследований, протоколы вмешательств. То есть это работа с чужим текстом ещё до всякой модели — врач читает написанное за всю госпитализацию, в том числе написанное коллегами, и сводит в один документ. Запомните это: когда дальше мы скажем, что модель собирает эпикриз по карте, она делает ровно ту работу, которая и раньше была работой с текстом, а не с пациентом.</a:t>
            </a:r>
          </a:p>
          <a:p>
            <a:r>
              <a:t/>
            </a:r>
          </a:p>
          <a:p>
            <a:r>
              <a:t>И последнее, служебное, но важное для счёта. Шестое действие — предъявить при разборе случая — случается не всегда, и именно поэтому о нём забывают, когда оценивают, сколько стоит запись. А цена её оказывается видна только там: документ, в котором действие не записано, при разборе означает, что действия не было.</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разбирать, кто и чем теперь пишет запись, стоит сказать, зачем её вообще пишут. Вопрос кажется наивным, и ответ на него обычно дают неверный: «для отчётности», «для проверяющего», «чтобы было». Если бы дело было в этом, раздел не стоил бы и пяти минут.</a:t>
            </a:r>
          </a:p>
          <a:p>
            <a:r>
              <a:t/>
            </a:r>
          </a:p>
          <a:p>
            <a:r>
              <a:t>На экране — страница журнала случаев лазарета Филадельфийского работного дома, тысяча восемьсот девятнадцатый год. Джон Бартоломью, двадцать семь лет, диабет. Дальше рукой врача: страдает около восемнадцати месяцев, причины не знает, до болезни был крепок и полон, выделяет три-четыре кварты воды в день, почти вылечился в августе у деревенского врача строгой мясной диетой и железистыми пилюлями, после переохлаждения и усталости болезнь вернулась. Пульс несколько возбуждён, слабость в пояснице, спит хорошо, сильно потерял в теле. Назначено. Следующая запись — на другой день: подействовало, чувствует облегчение, моча густо окрашена, количество не уменьшилось, пульс как вчера.</a:t>
            </a:r>
          </a:p>
          <a:p>
            <a:r>
              <a:t/>
            </a:r>
          </a:p>
          <a:p>
            <a:r>
              <a:t>Посмотрите, что здесь есть. Имя и возраст. Диагноз. Давность. Что было раньше и чем лечили. Что нашли при осмотре. Что назначили. И отдельной датой — что из этого вышло. Это ровно те поля, которые сегодня стоят в унифицированной форме и которые мы с вами только что разложили по шагам. Двести лет, другая страна, другая медицина, перо вместо клавиатуры — устройство записи то же.</a:t>
            </a:r>
          </a:p>
          <a:p>
            <a:r>
              <a:t/>
            </a:r>
          </a:p>
          <a:p>
            <a:r>
              <a:t>Почему оно то же? Потому что задача у записи одна и она не менялась. Решение о человеке принимает один, а действовать по нему будет другой — через неделю, через год, в другом месте. Врач уйдёт в отпуск, сменит работу, забудет этот приём среди тысячи других. Пациент придёт снова, и перед ним будет сидеть человек, который его не видел. Единственное, что переходит между этими двумя людьми, — текст. Не память, не впечатление, не разговор. Текст.</a:t>
            </a:r>
          </a:p>
          <a:p>
            <a:r>
              <a:t/>
            </a:r>
          </a:p>
          <a:p>
            <a:r>
              <a:t>Отсюда и всё остальное в разделе. Если запись — единственный канал, то её полнота важнее её краткости, и всякий инструмент, который делает документ короче, надо проверять именно на этом. Если по записи действуют, то ошибка в ней стоит не замечания, а действия. И если текст пишет теперь не тот, кто говорил с пациентом, — это и есть то изменение, ради которого раздел существует.</a:t>
            </a:r>
          </a:p>
          <a:p>
            <a:r>
              <a:t/>
            </a:r>
          </a:p>
          <a:p>
            <a:r>
              <a:t>Одно уточнение, чтобы не было впечатления, будто ничего не изменилось. Изменилось: в тысяча восемьсот девятнадцатом состав записи держался привычкой врача и школой, в которой он учился. Сегодня унифицированные формы и порядок их ведения заданы приказом Министерства здравоохранения, и это уже не вопрос вкуса пишущего. Дальше в разделе мы увидим, что из этого следует для инструмента: модели есть куда класть текст, но места, куда его класть, назначены не ею.</a:t>
            </a:r>
          </a:p>
          <a:p>
            <a:r>
              <a:t/>
            </a:r>
          </a:p>
          <a:p>
            <a:r>
              <a:t>Скажу ещё, чего на этой странице нет, — это не менее любопытно. Нет единиц измерения, кроме кварт воды в день. Нет шкал, нет баллов, нет порога. Решение, которое принял этот врач, записано словами, и проверить его можно только прочитав. Эта особенность стадии останется с нами до конца раздела: у балла есть порог, у записи порога нет. Нельзя сказать «эта запись полна на семьдесят процентов» и принять по такому числу решение. Из этого прямо следует, почему оценить машинный документ так трудно: мерить нечем, кроме чтения человеком, — и дальше мы увидим, что все замеры раздела упираются именно в это.</a:t>
            </a:r>
          </a:p>
          <a:p>
            <a:r>
              <a:t/>
            </a:r>
          </a:p>
          <a:p>
            <a:r>
              <a:t>И одно замечание для тех, кто работает в ИТ и привык к другому порядку. Запись здесь — не журнал событий и не лог. Лог пишут для того, кто будет разбирать сбой, и пишут его машинно, полно и без разбора. Медицинская запись пишется человеком и для человека, который будет действовать, и потому содержит не всё, а отобранное — то, что пишущий счёл существенным. Отбор и есть содержание работы. Инструмент, который снимает с человека набор текста, отбор с него не снимает.</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Единицы двух посчитанных режимов в одну бухгалтерию не складываются, и это я говорю голосом, а не ставлю на кадр: по времени модель сравнивается с письмом врача, с переносом она сходится по другому вопросу. Форма разбора требует предъявить классический режим прежде модели и посчитать его в той же цене. На этой стадии режимов четыре, посчитаны из них два и в разных единицах, а у двух названного числа нет вовсе — разобрать это надо по одному, иначе дальше мы сравним модель с пустым местом, а такое сравнение модель выигрывает всегда и не значит ничего.</a:t>
            </a:r>
          </a:p>
          <a:p>
            <a:r>
              <a:t/>
            </a:r>
          </a:p>
          <a:p>
            <a:r>
              <a:t>Сразу уточню, перечень чего это. Режимы — про то, кто кладёт текст в документ. Пять способов, которые я называл, — про другое: откуда в заметке берутся знаки. Две разные оси, и перенос прежней записи стоит в обеих законно.</a:t>
            </a:r>
          </a:p>
          <a:p>
            <a:r>
              <a:t/>
            </a:r>
          </a:p>
          <a:p>
            <a:r>
              <a:t>Первый режим — врач пишет сам. Он посчитан внутри самого рандомизированного испытания: у испытания есть контрольная группа, писавшая заметки как раньше, и время в заметке у неё — четыре минуты двадцать две секунды. Это база всех сравнений раздела по времени. У режима есть и собственный дрейф, и плашка несёт его парой: за период наблюдения время в контрольной группе само упало до четырёх минут четырёх секунд. Восемнадцать секунд — величина мелкая, смысл её большой: всякое «стало быстрее» надо считать против этого дрейфа, иначе восемнадцать секунд хода времени запишутся в заслугу инструменту. Про силу этого числа скажу сразу: препринт, рецензирования не проходил.</a:t>
            </a:r>
          </a:p>
          <a:p>
            <a:r>
              <a:t/>
            </a:r>
          </a:p>
          <a:p>
            <a:r>
              <a:t>Второй режим — перенос предыдущей записи: прежняя заметка переходит в новую, целиком или блоками, с правкой изменившегося. Его долго держали за дурную привычку отдельных врачей; измерение показало, что это основной путь появления текста в карте.</a:t>
            </a:r>
          </a:p>
          <a:p>
            <a:r>
              <a:t/>
            </a:r>
          </a:p>
          <a:p>
            <a:r>
              <a:t>Сплошной разбор карт одной крупной системы здравоохранения за шесть лет — сто четыре миллиона заметок о почти двух миллионах пациентов — нашёл, что половина всего текста карты, пятьдесят целых одна десятая процента слов, дословно повторяет написанное об этом же пациенте раньше. Единицу здесь надо произнести отчётливо: это доля слов, а не доля записей, — то есть не «половина заметок скопирована», а «половина написанного уже было написано». Доля растёт по годам: тридцать три процента у заметок пятнадцатого года, пятьдесят четыре у заметок двадцатого.</a:t>
            </a:r>
          </a:p>
          <a:p>
            <a:r>
              <a:t/>
            </a:r>
          </a:p>
          <a:p>
            <a:r>
              <a:t>И одна строка, без которой зал услышит противоречие там, где его нет: пятьдесят целых одна десятая — доля СЛОВ карты, сорок шесть — доля ЗНАКОВ в заметке. Разные единицы, разные выборки: числа не спорят и не складываются.</a:t>
            </a:r>
          </a:p>
          <a:p>
            <a:r>
              <a:t/>
            </a:r>
          </a:p>
          <a:p>
            <a:r>
              <a:t>Про силу числа скажу вслух, как делаем со всяким числом лекции: рецензированное измерение сплошной выборки одной системы, счёт воспроизводим по описанию метода. Слабая сторона названа самими авторами: признаком служит дословное совпадение, то есть перенос с переписыванием счёт не видит вовсе, и доля скорее занижена.</a:t>
            </a:r>
          </a:p>
          <a:p>
            <a:r>
              <a:t/>
            </a:r>
          </a:p>
          <a:p>
            <a:r>
              <a:t>У этого режима измерена и цена ошибки. На диагностических ошибках первичного звена: из двухсот двенадцати тысяч приёмов за год в двух крупных городских центрах отобрали случаи, где за приёмом в течение двух недель последовала незапланированная помощь, и врачи-рецензенты нашли сто девяносто диагностических ошибок. Вклад ошибок переноса — два и шесть десятых процента всех найденных. Здесь нужна оговорка об атрибуции, и она обязательна: полный текст первичной работы открыть не удалось, числа прочитаны в систематическом обзоре, который её цитирует, и до сверки по первоисточнику атрибуция идёт через обзор явно.</a:t>
            </a:r>
          </a:p>
          <a:p>
            <a:r>
              <a:t/>
            </a:r>
          </a:p>
          <a:p>
            <a:r>
              <a:t>Механизм этой ошибки показан случаем, и показан он прежде доли намеренно: доля говорит про частоту и ничего про устройство. У пациента на химиотерапии с ранее перенесённой тромбоэмболией лёгочной артерии запись о назначении гепарина для профилактики попала в поступательную заметку. Сам гепарин назначен не был. При переводе в другое отделение эта запись переносилась пять дней подряд, и все, кто её читал, считали профилактику выполняемой — запись была единственным, по чему это проверяли. Вскоре после выписки у пациента развилась тромбоэмболия лёгочной артерии с повторной госпитализацией.</a:t>
            </a:r>
          </a:p>
          <a:p>
            <a:r>
              <a:t/>
            </a:r>
          </a:p>
          <a:p>
            <a:r>
              <a:t>Разряд этого свидетельства назову сразу, чтобы случай не читался как замер: это отдельное сообщение об одном случае, самое слабое свидетельство из возможных. Оно показывает устройство ошибки и ничего не говорит о её частоте — частоту держат два числа под ним, половина слов карты и два и шесть десятых процента найденных диагностических ошибок. Порядок именно такой: сначала видно, как ошибка устроена, потом — как часто она встречается. Обратный порядок даёт доли, за которыми зал не видит ни одного человека.</a:t>
            </a:r>
          </a:p>
          <a:p>
            <a:r>
              <a:t/>
            </a:r>
          </a:p>
          <a:p>
            <a:r>
              <a:t>Третий режим — живой медицинский писец: человек на приёме, в кабинете или удалённо по связи, пишущий запись за врача, пока тот говорит с пациентом. Это не экзотика: у режима есть рынок, стоимость приёма и собственная литература об экономии врачебного времени. Он назван и не посчитан, и причину пробела надо назвать здесь, чтобы разбор не сошёл за полный: плечом рандомизированного испытания этот режим не был, а взять его стоимость из другой работы значило бы складывать две разные выборки. Пробел принадлежит замеру, а не задаче.</a:t>
            </a:r>
          </a:p>
          <a:p>
            <a:r>
              <a:t/>
            </a:r>
          </a:p>
          <a:p>
            <a:r>
              <a:t>Четвёртый режим работает только на выписном документе: черновик пишет ординатор, подписывает лечащий врач. Он тоже назван и тоже без числа, и причина у него своя, названная: слепое сравнение ста госпитализаций, к которому раздел придёт вторым разбором, брало документ лечащего врача, а не ординатора. Значит про этот режим слепое сравнение не говорит ничего, и подставить сюда его числа нельзя.</a:t>
            </a:r>
          </a:p>
          <a:p>
            <a:r>
              <a:t/>
            </a:r>
          </a:p>
          <a:p>
            <a:r>
              <a:t>И последнее, что надо унести с этого кадра. Со вторым режимом модель сходится не по времени, а по вопросу, который для раздела окажется несущим: что делается с достоверностью записи, когда в документе стоит правдоподобный текст, которого в этом приёме никто не произносил.</a:t>
            </a:r>
          </a:p>
          <a:p>
            <a:r>
              <a:t/>
            </a:r>
          </a:p>
          <a:p>
            <a:r>
              <a:t>**Источники.** </a:t>
            </a:r>
            <a:r>
              <a:rPr u="sng">
                <a:solidFill>
                  <a:srgbClr val="065A82"/>
                </a:solidFill>
                <a:hlinkClick r:id="rId3"/>
              </a:rPr>
              <a:t>Tsou и соавт., Applied Clinical Informatics 2017</a:t>
            </a:r>
            <a:r>
              <a:t> — обзор, по которому идут и случай с гепарином, и числа 7,4 · 35,7 · 2,6 · </a:t>
            </a:r>
            <a:r>
              <a:rPr u="sng">
                <a:solidFill>
                  <a:srgbClr val="065A82"/>
                </a:solidFill>
                <a:hlinkClick r:id="rId4"/>
              </a:rPr>
              <a:t>Steinkamp и соавт., JAMA Network Open 2022</a:t>
            </a:r>
            <a:r>
              <a:t> — доля дословно перенесённых слов карты</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работу стадии прежде, чем говорить про инструменты. Приём на двенадцать минут: пациент рассказывает, врач спрашивает, смотрит, назначает — и параллельно держит в голове структуру будущей записи. После приёма, а то и к концу дня, эта структура набирается в карту; что не успели — домашняя работа с картой вечером.</a:t>
            </a:r>
          </a:p>
          <a:p>
            <a:r>
              <a:t/>
            </a:r>
          </a:p>
          <a:p>
            <a:r>
              <a:t>Шесть действий стадии стоят на кадре перечнем, и по каждому добавлю, чем оно занято. Держать структуру в голове — во время живого разговора. Набрать запись — после приёма, а то и к концу дня. Вычитать и подписать. Собрать выписной документ по госпитализации целиком. Передать его читателю. Предъявить при разборе случая.</a:t>
            </a:r>
          </a:p>
          <a:p>
            <a:r>
              <a:t/>
            </a:r>
          </a:p>
          <a:p>
            <a:r>
              <a:t>Запись делают не для архива, и это первое, что надо произнести. У неё есть читатели, и каждый по ней действует: участковый врач через месяц, следующий стационар при повторной госпитализации, другой специалист в том же учреждении, комиссия при разборе случая и сам пациент, который вправе получить копию.</a:t>
            </a:r>
          </a:p>
          <a:p>
            <a:r>
              <a:t/>
            </a:r>
          </a:p>
          <a:p>
            <a:r>
              <a:t>И сразу замер, который показывает, насколько сильно читатель задаёт эту работу. Трое врачей, внедрявших одну и ту же систему электронной карты в больницах США и за их пределами, взяли данные самого поставщика и посчитали длину амбулаторной заметки. Американская оказалась вчетверо длиннее: больше шести тысяч знаков против примерно тысячи двухсот у специалистов вне США — при одном и том же поставщике карты, тех же полях и тех же инструментах вставки. Различие не может быть различием продукта, продукт один; авторы называют причину прямо — документация вне США короче, потому что в неё кладут только клинически существенное, а американская заметка раздута тем, что служит ещё и платёжным и контрольным документом. Разряд называю честно: это редакционная статья, а не исследование с методом, числа предоставлены поставщиком, выборка и способ счёта не раскрыты — направление она показывает, величину заявляет. Второе число оттуда же и отдельной выборкой: в двадцать первом году в США поправили правила оплаты приёма ровно затем, чтобы снять с врача документирование, нужное только для счёта; через три года по миллиарду семистам миллионам заметок средняя длина не упала, а выросла на восемь целых одну десятую процента, тогда как время на одну заметку упало на одиннадцать целых одну десятую. Пишут быстрее, а не короче; длину снизили только те учреждения, которые снизили употребление подстановки и копирования. Два этих ряда в одну бухгалтерию не складываются — разные выборки и разные годы. И Россия: состав записи у нас не оставлен на усмотрение учреждения, унифицированные формы и порядок их ведения утверждены приказом Министерства здравоохранения, а проверяет запись экспертиза качества медицинской помощи — она смотрит на соответствие порядкам, а не выставляет счёт по объёму текста. Это другой механизм давления на длину, чем американский. Сопоставимого замера длины заметки по России нет: ни публикации со счётом знаков, ни ведомственной статистики, — и говорю это прямо, чтобы следующий, кто откроет вопрос, не подставил сюда похожее американское число.</a:t>
            </a:r>
          </a:p>
          <a:p>
            <a:r>
              <a:t/>
            </a:r>
          </a:p>
          <a:p>
            <a:r>
              <a:t>**Вопрос залу** — про их собственную работу: у кого есть документ, который вы пишете не для коллеги, а для проверяющего, и насколько он длиннее того, что нужно по делу?</a:t>
            </a:r>
          </a:p>
          <a:p>
            <a:r>
              <a:t/>
            </a:r>
          </a:p>
          <a:p>
            <a:r>
              <a:t>Отсюда свойство стадии, определяющее цену ошибки: решение по записи принимает тот, кто пациента не видел. Врач, читающий чужую запись, не может отличить «этого не было» от «этого не записали». Пропуск и отсутствие события выглядят для него одинаково, и никакая аккуратность чтения этого не исправляет — различения просто нет в документе.</a:t>
            </a:r>
          </a:p>
          <a:p>
            <a:r>
              <a:t/>
            </a:r>
          </a:p>
          <a:p>
            <a:r>
              <a:t>Цена обеих ошибок называется до всяких чисел. Записать меньше, чем было, — следующий читатель назначит заново уже проверенное, а при разборе случая действие, которое врач совершил, окажется недоказанным. Записать то, чего не было, — назначат по ложному основанию. Платит обе ошибки человек, который в этом приёме не участвовал.</a:t>
            </a:r>
          </a:p>
          <a:p>
            <a:r>
              <a:t/>
            </a:r>
          </a:p>
          <a:p>
            <a:r>
              <a:t>Классические режимы письма я уже предъявил и здесь не пересчитываю. Коротко, одной связкой, чтобы счёт не плыл: режимов четыре; посчитаны два — письмо врача в минутах на заметку и перенос прежней записи в доле текста карты, пятьдесят целых одна десятая процента слов; живой писец и черновик ординатора под подпись лечащего названы, своих чисел не имеют, и причина у каждого названа там же. Единицы двух посчитанных в одну бухгалтерию не складываются: по времени модель сравнивается с письмом врача, с переносом она сходится по другому вопросу — что делается с достоверностью записи, когда правдоподобный текст в документе никто в этом приёме не произносил.</a:t>
            </a:r>
          </a:p>
          <a:p>
            <a:r>
              <a:t/>
            </a:r>
          </a:p>
          <a:p>
            <a:r>
              <a:t>И число, которое надо держать при всяком «стало быстрее»: в контрольной группе время в заметке само упало с четырёх минут двадцати двух секунд до четырёх минут четырёх. Восемнадцать секунд принадлежат ходу времени и практике, а не инструменту.</a:t>
            </a:r>
          </a:p>
          <a:p>
            <a:r>
              <a:t/>
            </a:r>
          </a:p>
          <a:p>
            <a:r>
              <a:t>Теперь то же поле с моделью. Из шести действий обученная модель заняла два: набор записи — черновик готов к концу приёма — и сборку выписного документа по карте целиком. Первое действие с человека снято: структуру будущей записи во время живого разговора держит теперь инструмент, и это единственное место лекции, где шаг у человека действительно убрали. Убрали не бесплатно — взамен появился новый, и он тяжелее, чем выглядит: вычитать чужой текст и найти в нём то, чего не было. Три места, где модель не работает: снять обязанность вычитки она не может, подпись остаётся человеческой; сократить активное время правки не выходит — набор упал, правка осталась прежней; и отличить правдоподобное от записанного без привязки каждой строки к месту в карте-источнике она не умеет.</a:t>
            </a:r>
          </a:p>
          <a:p>
            <a:r>
              <a:t/>
            </a:r>
          </a:p>
          <a:p>
            <a:r>
              <a:t>Запись про женщину с письмом — это заключение по её снимку и строка исхода, которая уйдёт ей письмом. Читает это заключение не она: его читает другой человек, через два года, когда её позовут снова, и вопрос у него будет свой — изменилось ли что-нибудь. Поэтому полнота записи здесь стоит дороже краткости.</a:t>
            </a:r>
          </a:p>
          <a:p>
            <a:r>
              <a:t/>
            </a:r>
          </a:p>
          <a:p>
            <a:r>
              <a:t>**Источники.** </a:t>
            </a:r>
            <a:r>
              <a:rPr u="sng">
                <a:solidFill>
                  <a:srgbClr val="065A82"/>
                </a:solidFill>
                <a:hlinkClick r:id="rId3"/>
              </a:rPr>
              <a:t>трёхрукое рандомизированное испытание, препринт medRxiv 2025.07.10.25331333, рецензирования не проходил</a:t>
            </a:r>
            <a:r>
              <a:t> · </a:t>
            </a:r>
            <a:r>
              <a:rPr u="sng">
                <a:solidFill>
                  <a:srgbClr val="065A82"/>
                </a:solidFill>
                <a:hlinkClick r:id="rId4"/>
              </a:rPr>
              <a:t>регистрация испытания NCT06792890</a:t>
            </a:r>
            <a:r>
              <a:t> · </a:t>
            </a:r>
            <a:r>
              <a:rPr u="sng">
                <a:solidFill>
                  <a:srgbClr val="065A82"/>
                </a:solidFill>
                <a:hlinkClick r:id="rId5"/>
              </a:rPr>
              <a:t>Downing, Bates, Longhurst, Annals of Internal Medicine 2018 — длина заметки в США и вне США</a:t>
            </a:r>
            <a:r>
              <a:t> · </a:t>
            </a:r>
            <a:r>
              <a:rPr u="sng">
                <a:solidFill>
                  <a:srgbClr val="065A82"/>
                </a:solidFill>
                <a:hlinkClick r:id="rId6"/>
              </a:rPr>
              <a:t>Epic Research, 1,7 млрд заметок, 2023 — длина после правки правил оплаты</a:t>
            </a:r>
            <a:r>
              <a:t> · </a:t>
            </a:r>
            <a:r>
              <a:rPr u="sng">
                <a:solidFill>
                  <a:srgbClr val="065A82"/>
                </a:solidFill>
                <a:hlinkClick r:id="rId7"/>
              </a:rPr>
              <a:t>приказ Минздрава России от 05.08.2022 № 530н</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заявления. Крупная система здравоохранения сообщила об экономии 15 791 часа на 63 000 приёмов за десять недель работы инструмента автоматической записи приёма. Методика счёта не раскрыта.</a:t>
            </a:r>
          </a:p>
          <a:p>
            <a:r>
              <a:t/>
            </a:r>
          </a:p>
          <a:p>
            <a:r>
              <a:t>Поищем базу своими руками, вслух. 15 791 час на 63 000 приёмов — это около четверти часа на приём. Теперь вспомним, в чём измерено время заметки: в минутах и секундах, порядка четырёх минут. Пятнадцать минут экономии на приёме не укладываются в четыре минуты работы над заметкой — экономить больше, чем вся операция стоила, нельзя. Значит заявление посчитано в другой величине, скорее всего во времени, проведённом в карте вообще, и сопоставить его с измеренным результатом невозможно.</a:t>
            </a:r>
          </a:p>
          <a:p>
            <a:r>
              <a:t/>
            </a:r>
          </a:p>
          <a:p>
            <a:r>
              <a:t>Отсюда формулировка, которую стоит унести из лекции целиком: число без названной методики счёта не проверяется и не опровергается — оно не является утверждением о мире. Это не придирка к величине. Пятнадцать тысяч часов могут быть правдой; беда в том, что и доказать, и опровергнуть их нечем, а в презентации поставщика они стоят рядом с измеренными числами тем же кеглем.</a:t>
            </a:r>
          </a:p>
          <a:p>
            <a:r>
              <a:t/>
            </a:r>
          </a:p>
          <a:p>
            <a:r>
              <a:t>Теперь измеренное, и силу свидетельства назову прежде числа: это препринт, рецензирования он не проходил, регистрация испытания NCT06792890. Испытание с настоящей рандомизацией и тремя равными группами разбирает 238 амбулаторных врачей четырнадцати специальностей: два коммерческих инструмента и обычная практика. У первого инструмента время в заметке снизилось на 9,5 процента относительно контрольной группы, у второго значимых изменений нет. По шкалам самочувствия подействовали оба — общий балл профессионального самочувствия вырос на 2,76 на шкале от десяти до пятидесяти — и между двумя инструментами по этим шкалам разницы нет.</a:t>
            </a:r>
          </a:p>
          <a:p>
            <a:r>
              <a:t/>
            </a:r>
          </a:p>
          <a:p>
            <a:r>
              <a:t>Важна и база самой контрольной группы: там время в заметке за период наблюдения само снизилось с четырёх минут двадцати двух секунд до четырёх минут четырёх секунд. Восемнадцать секунд без всякого инструмента — это практика и ход времени, и всякое «стало быстрее» считают против этой величины, а не против нуля.</a:t>
            </a:r>
          </a:p>
          <a:p>
            <a:r>
              <a:t/>
            </a:r>
          </a:p>
          <a:p>
            <a:r>
              <a:t>В многоцентровом наблюдении приёмных отделений заметка завершалась раньше, пациенты чаще отмечали, что их слушали, нагрузка на внимание падала — а активное время правки заметки не изменилось. Сократился набор текста, правка осталась прежней. Это и стоит на кадре золотой плашкой: из всех чисел разбора именно это самое неудобное для продажи и самое полезное для планирования.</a:t>
            </a:r>
          </a:p>
          <a:p>
            <a:r>
              <a:t/>
            </a:r>
          </a:p>
          <a:p>
            <a:r>
              <a:t>Отсюда вывод сильнее обоих чисел: один дизайн, одно население врачей, два продукта одного режима — и один результат значимый, другой нулевой. Измеренный эффект принадлежит реализации, а не классу инструмента, и фраза «мы внедрили автоматическую запись приёма» сведений о результате не содержит.</a:t>
            </a:r>
          </a:p>
          <a:p>
            <a:r>
              <a:t/>
            </a:r>
          </a:p>
          <a:p>
            <a:r>
              <a:t>Про устройство надо сказать и то, чего в испытании нет. Вход — звук приёма, выход — черновик заметки, который врач вычитывает и подписывает; на чём обучены оба инструмента, препринт не раскрывает. Имён у них в испытании тоже нет: они названы «первым» и «вторым», и это ограничение работы, а не нашего пересказа — проверить, какой именно продукт дал значимый результат, по этой публикации нельзя. Имена у режима известны, и я их называю, чтобы режим можно было узнать: Abridge, Dragon Copilot, Nabla, Heidi. Типом задачи это генерация на тексте.</a:t>
            </a:r>
          </a:p>
          <a:p>
            <a:r>
              <a:t/>
            </a:r>
          </a:p>
          <a:p>
            <a:r>
              <a:t>Вопрос залу — про их собственную работу: кто прочитывает автоматический протокол встречи построчно перед тем, как разослать. У многих в зале такой протокол уже пишется сам, и ответ «просматриваю по диагонали» и есть та самая вычитка, которой здесь меряют цену.</a:t>
            </a:r>
          </a:p>
          <a:p>
            <a:r>
              <a:t/>
            </a:r>
          </a:p>
          <a:p>
            <a:r>
              <a:t>**Источники.** </a:t>
            </a:r>
            <a:r>
              <a:rPr u="sng">
                <a:solidFill>
                  <a:srgbClr val="065A82"/>
                </a:solidFill>
                <a:hlinkClick r:id="rId3"/>
              </a:rPr>
              <a:t>трёхрукое рандомизированное испытание, препринт medRxiv 2025.07.10.25331333</a:t>
            </a:r>
            <a:r>
              <a:t> · </a:t>
            </a:r>
            <a:r>
              <a:rPr u="sng">
                <a:solidFill>
                  <a:srgbClr val="065A82"/>
                </a:solidFill>
                <a:hlinkClick r:id="rId4"/>
              </a:rPr>
              <a:t>регистрация испытания NCT06792890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Только что мы смотрели зарубежный замер: рандомизация, контрольная группа, минус девять с половиной процентов времени в заметке. Теперь та же задача у нас, и смотреть на неё надо парой с предыдущим разбором — это один и тот же инструмент, но другое развёртывание и доказательство другой силы.</a:t>
            </a:r>
          </a:p>
          <a:p>
            <a:r>
              <a:t/>
            </a:r>
          </a:p>
          <a:p>
            <a:r>
              <a:t>Что сделано. Московский голосовой помощник работает в фоне во время приёма: расшифровывает разговор врача и пациента и сам вносит в протокол жалобы, анамнез, диагнозы, рекомендации — то, что прозвучало вслух. В конце консультации врач видит готовый документ, проверяет, правит при необходимости и подписывает. Обучен на обезличенных данных реальных приёмов, чтобы распознавать медицинскую терминологию; данные и расшифровки идут по защищённым каналам городской медицинской системы.</a:t>
            </a:r>
          </a:p>
          <a:p>
            <a:r>
              <a:t/>
            </a:r>
          </a:p>
          <a:p>
            <a:r>
              <a:t>Про масштаб. Начали с неврологов, и там сервис уже у всех взрослых городских поликлиник. С сентября двадцать шестого — у всех участковых врачей, больше трёх тысяч специалистов. Участковый приём для этой задачи заметно тяжелее неврологического, и город это называет сам: люди приходят с самыми разными жалобами, нередко с несколькими болезнями и длинной историей, и сервис должен не просто распознать речь, а разложить услышанное по разделам протокола. Доработка шла летом, с замечаниями самих врачей.</a:t>
            </a:r>
          </a:p>
          <a:p>
            <a:r>
              <a:t/>
            </a:r>
          </a:p>
          <a:p>
            <a:r>
              <a:t>Теперь к числам, и здесь надо быть аккуратным, потому что соблазн прочитать их как замер велик. Качество подготовленных протоколов эксперты оценили в четыре целых восемь десятых балла из пяти — и в первой публикации сказано важное: столько же, сколько если бы протокол заполнял человек. Это единственное число раздела, где отечественный результат прямо сопоставлен с человеческим режимом, и его стоит запомнить рядом с зарубежным разбором выписного эпикриза, где слепое сравнение дало по полноте не «столько же», а хуже: три целых семьдесят две сотых против четырёх целых тринадцати сотых. Два результата расходятся, и расходятся они не страной, а способом замера: там двадцать два рецензента читали документы вслепую, не зная, где машинный текст, здесь — экспертная оценка без объявленного ослепления и без опубликованного протокола.</a:t>
            </a:r>
          </a:p>
          <a:p>
            <a:r>
              <a:t/>
            </a:r>
          </a:p>
          <a:p>
            <a:r>
              <a:t>Дальше — два числа, у которых нет базы, и я называю это прямо. Первое: время сосредоточенного внимания врача к пациенту выросло более чем вдвое. Вдвое от чего — не сказано: исходной величины в минутах в публикациях нет. Второе: на заполнение протоколов у врачей уходит от трети до половины времени приёма. Это оценка руководителя направления компании-поставщика, а не замер с секундомером, и она описывает «до», а не результат. Сравните с отечественным разбором, который будет дальше: там хронометраж семи поликлиник дал десять минут пятнадцать секунд клавиатурой против восьми минут двух секунд распознаванием речи — обе величины в одной единице. Вот как выглядит число с базой, и вот как выглядит число без неё.</a:t>
            </a:r>
          </a:p>
          <a:p>
            <a:r>
              <a:t/>
            </a:r>
          </a:p>
          <a:p>
            <a:r>
              <a:t>Что я искал и не нашёл. Публикации с минутным замером по этому московскому сервису — ни в рецензируемых журналах, ни в ведомственных отчётах; источники по нему на сегодня это сообщения городского департамента здравоохранения. Пишу это как факт раздела: пробел принадлежит замеру, а не внедрению, и подставлять сюда минуты из зарубежного испытания нельзя — там другой язык, другой протокол приёма и другой инструмент.</a:t>
            </a:r>
          </a:p>
          <a:p>
            <a:r>
              <a:t/>
            </a:r>
          </a:p>
          <a:p>
            <a:r>
              <a:t>И вывод, ради которого кадр стоит рядом с предыдущим. Масштаб внедрения и сила доказательства — разные вещи, и растут они врозь. Зарубежное испытание охватило двести тридцать восемь врачей и дало настоящую рандомизацию; московское развёртывание охватило больше трёх тысяч и дало экспертную оценку. Инженеру, который будет выбирать такой инструмент, придётся решать, что для него весит больше: что им уже пользуется весь город — или что эффект от него кем-то измерен против контрольной группы.</a:t>
            </a:r>
          </a:p>
          <a:p>
            <a:r>
              <a:t/>
            </a:r>
          </a:p>
          <a:p>
            <a:r>
              <a:t>**Вопрос залу.** Протоколы оценивали эксперты, без слепого сравнения и контрольной группы. В какую сторону такая оценка сдвинет результат — и почему? Напишите в чат одним словом.</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Было: держать структуру документа в голове во время разговора и набирать текст после приёма. Стало: говорить свободно, а затем вычитывать чужой текст. Объём работы сопоставим, место сменилось — это форма «нагрузка переехала на другой шаг», и здесь она именно переезд, а не исчезновение.</a:t>
            </a:r>
          </a:p>
          <a:p>
            <a:r>
              <a:t/>
            </a:r>
          </a:p>
          <a:p>
            <a:r>
              <a:t>Пятую операцию делает не врач, и на схеме она стоит отдельной третьей строкой именно поэтому. В отчёте одной клиники постоянная служба контроля качества заметок прочитала свыше 3 600 отзывов врачей и собрала 1 252 анкеты — со своим постоянным штатом. Операции «выборочно прочитать машинные черновики и собрать отзывы» в прежнем процессе не было просто потому, что не было машинных черновиков. Это форма «шаг появился», и у неё есть измеримая стоимость: штат. Инженеру тут стоит задержаться: эта стоимость не попадает ни в одно сравнение времени заметки, потому что её платит другое подразделение.</a:t>
            </a:r>
          </a:p>
          <a:p>
            <a:r>
              <a:t/>
            </a:r>
          </a:p>
          <a:p>
            <a:r>
              <a:t>Одно наблюдение выглядит противоречием и им не является: усталость ниже, а активное время правки то же. Сняли не время — сняли необходимость держать структуру документа в голове во время разговора с человеком. Это настоящий выигрыш, он измерен; он просто измерен в другой величине, чем та, в которой его продают. И это ровно тот случай, когда честный ответ «инструмент помог» и честный ответ «время не сэкономил» — оба верны одновременно.</a:t>
            </a:r>
          </a:p>
          <a:p>
            <a:r>
              <a:t/>
            </a:r>
          </a:p>
          <a:p>
            <a:r>
              <a:t>Величина эффекта к тому же зависит от того, когда измерять. Продольное сравнение до и после с контролем даёт снижение времени записи на 7 из ста в день внедрения и до 16 из ста к сто пятидесятому дню. Отсюда сразу две осторожности, и они направлены в противоположные стороны. Быстрый пробный запуск недооценивает: измерив эффект в первую неделю, можно не увидеть того, что появится к пятому месяцу, и отвергнуть работающий инструмент. И обратная: часть прироста к сто пятидесятому дню — привыкание человека, а разделить привыкание и свойство инструмента наблюдательным сравнением нельзя. Значит у вопроса «сколько даёт инструмент» нет одного ответа без указания дня замера, и поставщик, называющий одно число, называет свой любимый день.</a:t>
            </a:r>
          </a:p>
          <a:p>
            <a:r>
              <a:t/>
            </a:r>
          </a:p>
          <a:p>
            <a:r>
              <a:t>У второго инструмента того же испытания изменений во времени не было вовсе, при том же дизайне и на том же населении врачей. Значит измеренный эффект принадлежит не режиму работы как таковому, а конкретной реализации.</a:t>
            </a:r>
          </a:p>
          <a:p>
            <a:r>
              <a:t/>
            </a:r>
          </a:p>
          <a:p>
            <a:r>
              <a:t>Прочитаю схему построчно, потому что в ней вся мысль кадра. Верхняя строка — как было: набрать текст, подписать. Два шага, оба делает врач. Средняя — как стало: поговорить, получить черновик, вычитать, подписать. Четыре шага, все четыре тоже делает врач. Уже отсюда видно, что операций стало больше, а не меньше, — хотя одна из них, набор, исчезла.</a:t>
            </a:r>
          </a:p>
          <a:p>
            <a:r>
              <a:t/>
            </a:r>
          </a:p>
          <a:p>
            <a:r>
              <a:t>Третья строка стоит отдельно, и она тут самая важная. Выборочный контроль заметок делает не врач. Это новое подразделение с новым штатом, и в сравнениях времени заметки его работа не учитывается вовсе — потому что считают время врача, а платит за контроль организация. Инженеру стоит унести это как правило: когда операция переезжает из одних рук в другие, экономия считается по первым рукам, а расход появляется у вторых, и в одном отчёте эти две величины почти никогда не встречаются.</a:t>
            </a:r>
          </a:p>
          <a:p>
            <a:r>
              <a:t/>
            </a:r>
          </a:p>
          <a:p>
            <a:r>
              <a:t>Пара «дало — потребовало — в сумме» читается по плашкам слева направо. Дало: заметка раньше, усталость ниже. Потребовало: вычитку каждого черновика и службу со штатом. В сумме: набор сократился, правка та же. Ни одна из трёх плашек не отменяет двух других, и честный ответ на вопрос «помог ли инструмент» состоит из всех трёх сразу.</a:t>
            </a:r>
          </a:p>
          <a:p>
            <a:r>
              <a:t/>
            </a:r>
          </a:p>
          <a:p>
            <a:r>
              <a:t>Две формы словаря названы здесь по именам. «Нагрузка переехала на другой шаг» — про набор и вычитку. «Шаг появился» — про выборочный контроль. Третьей формы, «исполнитель тот же, но стал хуже», в этом разборе нет, и выдумывать её я не буду: качество вычитки до внедрения и после никто не измерял.</a:t>
            </a:r>
          </a:p>
          <a:p>
            <a:r>
              <a:t/>
            </a:r>
          </a:p>
          <a:p>
            <a:r>
              <a:t>**Источники.** </a:t>
            </a:r>
            <a:r>
              <a:rPr u="sng">
                <a:solidFill>
                  <a:srgbClr val="065A82"/>
                </a:solidFill>
                <a:hlinkClick r:id="rId3"/>
              </a:rPr>
              <a:t>трёхрукое рандомизированное испытание, препринт medRxiv 2025.07.10.25331333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разбор раздела — тот же инструмент на другом документе, и документ этот тяжелее: по выписному эпикризу назначают лечение в другом месте.</a:t>
            </a:r>
          </a:p>
          <a:p>
            <a:r>
              <a:t/>
            </a:r>
          </a:p>
          <a:p>
            <a:r>
              <a:t>Классические режимы назову прежде измеренного. Из четырёх режимов стадии на этом документе работают два. Врач пишет эпикриз сам — этот режим посчитан, и он база всех сравнений работы. Черновик ординатора под подпись лечащего — назван и не посчитан: слепое сравнение брало документ лечащего врача, а не ординатора, и подставить сюда число из другой работы нельзя. Двух остальных режимов стадии здесь нет: живой писец пишет запись приёма, не эпикриз, а перенос прежней записи на итоговый документ госпитализации не переносится.</a:t>
            </a:r>
          </a:p>
          <a:p>
            <a:r>
              <a:t/>
            </a:r>
          </a:p>
          <a:p>
            <a:r>
              <a:t>Как измерено — это главное в разборе, и устройство замера стоит произнести медленно. Сто госпитализаций длиной от трёх до шести дней. Двадцать два лечащих врача-рецензента. Каждый документ смотрели двое независимо, и ни один из рецензентов не знал, где машинный текст, а где человеческий. Слепота здесь не формальность: самоотчёт врачей, которые сами выбрали инструмент, — свидетельство совсем другой силы, и на нём держится большая часть восторженных публикаций про эту стадию.</a:t>
            </a:r>
          </a:p>
          <a:p>
            <a:r>
              <a:t/>
            </a:r>
          </a:p>
          <a:p>
            <a:r>
              <a:t>Теперь числа. Общее качество сопоставимо: 3,67 у врачей против 3,77 у модели — у модели чуть выше. Документ модели короче и связнее. И при этом он менее полон: полнота 4,13 у человека против 3,72 у модели. Уникальных ошибок на документ 1,82 у человека против 2,91 у модели — ошибок у модели больше. А потенциал вреда одной ошибки 1,34 против 1,35 по шкале от нуля до семи: обе оценки низкие и между собой не различаются.</a:t>
            </a:r>
          </a:p>
          <a:p>
            <a:r>
              <a:t/>
            </a:r>
          </a:p>
          <a:p>
            <a:r>
              <a:t>Прочитать эту четвёрку чисел надо целиком, иначе выйдет любая из двух неправд. Сказать «модель пишет лучше» можно, опираясь на общее качество. Сказать «модель пишет опасно» можно, опираясь на счёт ошибок. Верно же третье: документ модели готов раньше, читается легче, содержит меньше нужного и больше лишнего, и ни одна отдельная его ошибка не страшнее человеческой.</a:t>
            </a:r>
          </a:p>
          <a:p>
            <a:r>
              <a:t/>
            </a:r>
          </a:p>
          <a:p>
            <a:r>
              <a:t>Как это устроено: вход — история болезни и дневниковые записи госпитализации, выход — черновик повествовательной части документа. Ни имени модели, ни состава обучающих данных работа не называет, и это я говорю вслух как ограничение публикации — а не умалчиваю, чтобы разбор выглядел полнее.</a:t>
            </a:r>
          </a:p>
          <a:p>
            <a:r>
              <a:t/>
            </a:r>
          </a:p>
          <a:p>
            <a:r>
              <a:t>И то, что переехало. Шаги и исполнители на кадре те же: собрали, вычитали, подписали. Сместилась цена ошибки. Пишет документ один человек, а стоит пропущенная строка другого — того, кто будет назначать по этому документу через месяц в другом учреждении. Это и есть форма словаря, названная здесь по имени, и она самая неприятная из всех: никто из участников не чувствует ухудшения, потому что ухудшение наступает не у него.</a:t>
            </a:r>
          </a:p>
          <a:p>
            <a:r>
              <a:t/>
            </a:r>
          </a:p>
          <a:p>
            <a:r>
              <a:t>Зачем нужна слепота замера, стоит сказать отдельно. Почти вся восторженная литература про эту стадию держится на самоотчётах врачей, которые сами выбрали инструмент и сами оценили результат. Такой отчёт измеряет удовлетворённость выбором, а не качество документа. Здесь устройство другое: документы обезличены, рецензент не знает, какой из них машинный, и каждый документ смотрят двое независимо. Это дороже и медленнее, и именно поэтому таких работ мало.</a:t>
            </a:r>
          </a:p>
          <a:p>
            <a:r>
              <a:t/>
            </a:r>
          </a:p>
          <a:p>
            <a:r>
              <a:t>Отдельно про то, чего работа не говорит, — и это надо произнести, а не обойти. Ни имени модели, ни состава её обучающих данных публикация не называет. Значит повторить замер на своём документе нельзя, и перенести результат на другой продукт того же режима тоже нельзя: мы видели на предыдущем разборе, что два продукта одного режима дали разный результат при одном дизайне испытания.</a:t>
            </a:r>
          </a:p>
          <a:p>
            <a:r>
              <a:t/>
            </a:r>
          </a:p>
          <a:p>
            <a:r>
              <a:t>И последнее, что уходит дальше по пути. Документ собран, вычитан и подписан. Подпись стоит человеческая, а основание решения пришло извне — из текста, который человек не писал. Что эта подпись значит и кто проверяет, что подписавший способен возразить машине, — следующий раздел целиком.</a:t>
            </a:r>
          </a:p>
          <a:p>
            <a:r>
              <a:t/>
            </a:r>
          </a:p>
          <a:p>
            <a:r>
              <a:t>**Источники.** </a:t>
            </a:r>
            <a:r>
              <a:rPr u="sng">
                <a:solidFill>
                  <a:srgbClr val="065A82"/>
                </a:solidFill>
                <a:hlinkClick r:id="rId3"/>
              </a:rPr>
              <a:t>слепое сравнение ста госпитализаций, JAMA Internal Medicine 2025, DOI 10.1001/jamainternmed.2025.0821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Назову по имени то, что здесь происходит с человеком: это когнитивное искажение. Шестое из шести, предъявленных на входе вечера, и называется оно поправкой — единственное из шести, работающее в нашу пользу: здесь врач правит заключение модели, когда находит в нём ошибку. Величина у поправки есть, и снята она в другой области, на кардиограммах: из 159 630 реальных записей одной американской клиники за 2011–2023 годы врач правил машинное заключение в 31,3 случаях из ста. То есть почти в каждом третьем — и это самый прямой из имеющихся ответов на вопрос, работает ли человек в контуре по-настоящему. Рядом, у той же группы работ, стоит обратная сторона: подсказку, принятую без проверки, потом правят в 53 случаях из ста против 18, если её проверили сразу. Поправка существует; она просто происходит позже, чем нужно.</a:t>
            </a:r>
          </a:p>
          <a:p>
            <a:r>
              <a:t/>
            </a:r>
          </a:p>
          <a:p>
            <a:r>
              <a:t>Четвёртый шаг разбора — назвать, что переехало. Переехала здесь вычитка, и переехала она не в другое место, а в другой предмет.</a:t>
            </a:r>
          </a:p>
          <a:p>
            <a:r>
              <a:t/>
            </a:r>
          </a:p>
          <a:p>
            <a:r>
              <a:t>Прежний навык вычитки собран под человеческую ошибку. Глаз настроен на опечатку, на оборванную фразу, на пропущенный раздел — на то, что оставляет после себя уставший человек в конце смены. Машинная ошибка устроена иначе: это связное, уместное по стилю утверждение, которого в истории болезни не было. Искать его прежним навыком нельзя, и учить этому новому чтению пока никто не учит — ни в ординатуре, ни на курсах повышения квалификации, ни инструкцией к самому инструменту.</a:t>
            </a:r>
          </a:p>
          <a:p>
            <a:r>
              <a:t/>
            </a:r>
          </a:p>
          <a:p>
            <a:r>
              <a:t>Сколько этой вычитки на самом деле делается, измерено проспективно. На триста восемьдесят четыре выписки система выдала тысячу двести семьдесят четыре сводки; машинное содержание врачи использовали в двухстах девятнадцати случаях — пятьдесят семь из ста. Единицу тут надо держать твёрдо, и плашка её называет: пятьдесят семь из ста — это доля ВЫПИСОК, а не доля выданных сводок. Сводок было втрое больше, чем выписок, и если взять их знаменателем, то же событие даст семнадцать из ста. Одно и то же наблюдение, два законных числа, разные знаменатели — и оба можно напечатать, не соврав.</a:t>
            </a:r>
          </a:p>
          <a:p>
            <a:r>
              <a:t/>
            </a:r>
          </a:p>
          <a:p>
            <a:r>
              <a:t>На сотне сводок нашлись пропуски в двадцати пяти, неточности в двадцати, выдумки в двух. А из ста неотредактированных сводок восемьдесят восемь признаны не несущими потенциала вреда, одна — способной причинить умеренный вред, случаев тяжёлого вреда нет. Определения тут другие, чем в слепом сравнении, и складывать два набора в один список нельзя.</a:t>
            </a:r>
          </a:p>
          <a:p>
            <a:r>
              <a:t/>
            </a:r>
          </a:p>
          <a:p>
            <a:r>
              <a:t>Теперь про тройку, и это самая переносимая часть раздела. По этому случаю в обзорах ходит тройка аккуратных чисел со ссылкой на «исследование ста эпикризов». Построчное чтение трёх доступных первоисточников её не даёт: ни одна работа не считает в тех определениях, в которых её пересказывают. Числа, которые удобно звучат, живут в пересказах дольше, чем в первоисточниках.</a:t>
            </a:r>
          </a:p>
          <a:p>
            <a:r>
              <a:t/>
            </a:r>
          </a:p>
          <a:p>
            <a:r>
              <a:t>Практический вывод для инженера звучит одинаково в любой отрасли, и он стоит на кадре отдельной строкой. Когда в обзоре стоит число со ссылкой на работу, ссылка проверяется не на существование работы, а на то, считает ли работа ровно эту величину в ровно этих определениях. Здесь она не считает, и три числа держались только тем, что никто не открывал первоисточник. Пересказ — свидетельство слабее исследования даже тогда, когда числа у них совпадают.</a:t>
            </a:r>
          </a:p>
          <a:p>
            <a:r>
              <a:t/>
            </a:r>
          </a:p>
          <a:p>
            <a:r>
              <a:t>И последнее, про третий источник. Одноцентровое сравнение «до и после» в реабилитационном отделении опубликовано в журнале с авторским взносом и минимальным рецензированием. Я его называю, а не прячу: свидетельство слабое, и выводы на нём одном не строятся — но проверить тройку он помог ровно так же, как две сильные работы.</a:t>
            </a:r>
          </a:p>
          <a:p>
            <a:r>
              <a:t/>
            </a:r>
          </a:p>
          <a:p>
            <a:r>
              <a:t>Про конфликт интересов скажу вслух, хотя на кадре его теперь нет. Он раскрыт в самих публикациях: часть авторов работает в компании-производителе модели либо имеет на неё патент. Раскрытый конфликт не делает работу негодной — он делает её работой, которую читают внимательнее, и прежде всего смотрят, кто выбирал, что считать успехом. Нераскрытый конфликт хуже раскрытого именно этим: его нельзя учесть при чтении.</a:t>
            </a:r>
          </a:p>
          <a:p>
            <a:r>
              <a:t/>
            </a:r>
          </a:p>
          <a:p>
            <a:r>
              <a:t>**Источники.** </a:t>
            </a:r>
            <a:r>
              <a:rPr u="sng">
                <a:solidFill>
                  <a:srgbClr val="065A82"/>
                </a:solidFill>
                <a:hlinkClick r:id="rId3"/>
              </a:rPr>
              <a:t>проспективный пилот, JAMA Network Open 2026</a:t>
            </a:r>
            <a:r>
              <a:t> · </a:t>
            </a:r>
            <a:r>
              <a:rPr u="sng">
                <a:solidFill>
                  <a:srgbClr val="065A82"/>
                </a:solidFill>
                <a:hlinkClick r:id="rId4"/>
              </a:rPr>
              <a:t>слепое сравнение ста госпитализаций, JAMA Internal Medicine 2025</a:t>
            </a:r>
            <a:r>
              <a:t> · </a:t>
            </a:r>
            <a:r>
              <a:rPr u="sng">
                <a:solidFill>
                  <a:srgbClr val="065A82"/>
                </a:solidFill>
                <a:hlinkClick r:id="rId5"/>
              </a:rPr>
              <a:t>одноцентровое сравнение, Cureus 2026 — журнал с авторским взносом и минимальным рецензированием</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разбор раздела — отечественный, и взят он сюда по двум причинам. Первая: это единственный случай во всём разделе, где классический режим и режим с моделью посчитаны в одной и той же единице, на одних и тех же врачах, на одной и той же работе. Вторая: он показывает то, чего не показывает ни один другой разбор вечера, — как одна и та же технология сорок лет не работала, а потом начала.</a:t>
            </a:r>
          </a:p>
          <a:p>
            <a:r>
              <a:t/>
            </a:r>
          </a:p>
          <a:p>
            <a:r>
              <a:t>Начну с провала, а не с выигрыша, и это сознательный разворот формы. В тысяча девятьсот восемьдесят первом году сравнили клавиатурный и голосовой ввод на шестидесяти протоколах лучевых исследований. Объём протокола от способа заполнения не зависел — значит и сложность описываемых исследований была схожей. А длительность заполнения голосом превышала клавиатурную в четыре раза, и протоколы, заполненные голосом, содержали в среднем двенадцать ошибок распознавания, тогда как набранные на клавиатуре не содержали ни одной. Системы того времени не подавляли внешний шум, и врачебная речь распознавалась плохо. Запомните эту пару чисел: вчетверо дольше и двенадцать ошибок на документ. Та же задача, та же отрасль, тот же тип инструмента — и ответ противоположный нынешнему.</a:t>
            </a:r>
          </a:p>
          <a:p>
            <a:r>
              <a:t/>
            </a:r>
          </a:p>
          <a:p>
            <a:r>
              <a:t>Теперь нынешний замер. Первое исследование эффективности распознавания речи в отделениях лучевой диагностики провели в двадцатом году на базе семи городских поликлиник Департамента здравоохранения Москвы, на системе голосового ввода Voice2Med группы компаний ЦРТ — тогда ещё версии с точностью распознавания девяносто три процента. Сравнивали скорость заполнения документации клавиатурой и распознаванием речи; врачи-рентгенологи заполняли протоколы компьютерных и магнитно-резонансных томографических исследований. Хронометраж дал следующее: среднее время описания одного исследования клавиатурой — десять минут пятнадцать секунд, распознаванием речи — восемь минут две секунды.</a:t>
            </a:r>
          </a:p>
          <a:p>
            <a:r>
              <a:t/>
            </a:r>
          </a:p>
          <a:p>
            <a:r>
              <a:t>Вычтем сами, вслух: две минуты тринадцать секунд, то есть двадцать один и шесть десятых процента от базы. Держите в голове, что база здесь названа, и назвать её было можно — в отличие от половины чисел, которые нам показывают про эту стадию. Департамент здравоохранения Москвы к январю двадцать третьего года сообщил о более чем двухстах десяти тысячах заполненных голосом протоколов лучевых исследований и о сокращении времени подготовки «более чем на двадцать процентов». Обратите внимание на редкую вещь: ведомственная цифра и независимый хронометраж сошлись. Это не всегда так — в этом же разделе мы видели заявление в пятнадцать тысяч часов, которое не сходится ни с чем.</a:t>
            </a:r>
          </a:p>
          <a:p>
            <a:r>
              <a:t/>
            </a:r>
          </a:p>
          <a:p>
            <a:r>
              <a:t>Про устройство. Вход — речь врача через гарнитуру во время или сразу после исследования. Выход — текст, который автоматически переносится в открытый протокол медицинской информационной системы; врач его правит и подписывает. На чём обучено: словарь медицинских терминов построен на двух с половиной миллионах протоколов рентгенологических исследований, и точность распознавания медицинской терминологии на русском языке выросла с девяноста трёх процентов до девяноста восьми. Тип задачи — распознавание, модальность — звук. Это другая клетка сетки курса, чем два предыдущих разбора: там была генерация на тексте, здесь распознавание на звуке. Модель не решает, что попадёт в документ, и ничего не предлагает — она переводит речь в знаки.</a:t>
            </a:r>
          </a:p>
          <a:p>
            <a:r>
              <a:t/>
            </a:r>
          </a:p>
          <a:p>
            <a:r>
              <a:t>Теперь про классический режим, которого у нас в разделе не хватало, и отечественный материал его закрывает. Живой писец — третий режим письма — в нашем разборе назван и не посчитан. В отечественном здравоохранении его ближайший родственник, диктофонные центры, внедрять пробовали, однако научных исследований их эффективности в открытом доступе нет, а самих центров в современной отечественной системе не осталось. Авторы обзора делают из этого осторожный вывод: применение оказалось нецелесообразным. Это честный отказ от внедрения, и он ценнее ещё одного случая успеха: режим существовал, его попробовали и оставили, и замера нам после этого никто не оставил.</a:t>
            </a:r>
          </a:p>
          <a:p>
            <a:r>
              <a:t/>
            </a:r>
          </a:p>
          <a:p>
            <a:r>
              <a:t>**Источники.** </a:t>
            </a:r>
            <a:r>
              <a:rPr u="sng">
                <a:solidFill>
                  <a:srgbClr val="065A82"/>
                </a:solidFill>
                <a:hlinkClick r:id="rId3"/>
              </a:rPr>
              <a:t>Кудрявцев Н.Д., Бардасова К.А., Хоружая А.Н. Технология распознавания речи в лучевой диагностике // Digital Diagnostics. 2023;4(2):185–195</a:t>
            </a:r>
            <a:r>
              <a:t> · </a:t>
            </a:r>
            <a:r>
              <a:rPr u="sng">
                <a:solidFill>
                  <a:srgbClr val="065A82"/>
                </a:solidFill>
                <a:hlinkClick r:id="rId4"/>
              </a:rPr>
              <a:t>статистика Департамента здравоохранения Москвы, 7 января 2023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Четвёртый и пятый шаги разбора: что переехало и чем за выигрыш заплатили. Начну с того, что принято считать мелочью, а для инженера это и есть содержание.</a:t>
            </a:r>
          </a:p>
          <a:p>
            <a:r>
              <a:t/>
            </a:r>
          </a:p>
          <a:p>
            <a:r>
              <a:t>Окончания слов. Это не придирка к качеству продукта, а свойство русского языка, названное разработчиками как отдельная задача: системе приходится выбирать падеж и число там, где английская речь этого выбора не требует. Для документа это важнее, чем кажется: «образование в правом лёгком» и «образования в правых лёгких» различаются ровно окончаниями, и ошибка здесь не выглядит ошибкой — она выглядит текстом.</a:t>
            </a:r>
          </a:p>
          <a:p>
            <a:r>
              <a:t/>
            </a:r>
          </a:p>
          <a:p>
            <a:r>
              <a:t>Чужая речь. Врачи отмечали ситуации, когда система распознавала не их. В кабинете лучевой диагностики говорят трое: врач, пациент и персонал. Инструмент, который кладёт в документ произнесённое не автором, создаёт ровно тот дефект, которым занят весь раздел, — правдоподобный текст, которого в этом исследовании никто не имел в виду.</a:t>
            </a:r>
          </a:p>
          <a:p>
            <a:r>
              <a:t/>
            </a:r>
          </a:p>
          <a:p>
            <a:r>
              <a:t>Шум и микрофон. На качество распознавания негативно влияют работа диагностического оборудования и разговор медицинского персонала с пациентом или с коллегами, а также некачественные устройства записи звука. Запомните это как правило переноса: у инструмента, который слушает, часть результата лежит не в модели, а в железе за три тысячи рублей и в акустике помещения. Ни то, ни другое в публикации про модель обычно не описано.</a:t>
            </a:r>
          </a:p>
          <a:p>
            <a:r>
              <a:t/>
            </a:r>
          </a:p>
          <a:p>
            <a:r>
              <a:t>Возраст и приверженность. Молодые специалисты открыты к технологии больше, и охотнее других её берут врачи тридцати-сорока лет. Это тоже цена: инструмент, эффект которого зависит от того, кто им пользуется, нельзя внедрить распоряжением и получить средний результат публикации.</a:t>
            </a:r>
          </a:p>
          <a:p>
            <a:r>
              <a:t/>
            </a:r>
          </a:p>
          <a:p>
            <a:r>
              <a:t>Теперь про число, которое легко принять за замер. Опрос врачей-рентгенологов двадцать второго года показал, что шестьдесят два и восемь десятых процента респондентов отмечают повышение эффективности своей работы при использовании распознавания речи. Произнесу это медленно: шестьдесят два процента — это доля тех, кто так считает. Не доля сэкономленного времени и не доля протоколов, заполненных быстрее. Согласие с инструментом и выигрыш от инструмента — две разные величины, и первая всегда выше второй, потому что в неё входит облегчение, которое человек чувствует, даже когда секундомер его не видит. Замер времени у нас есть отдельно, тот самый хронометраж, и он даёт двадцать один процент, а не шестьдесят два.</a:t>
            </a:r>
          </a:p>
          <a:p>
            <a:r>
              <a:t/>
            </a:r>
          </a:p>
          <a:p>
            <a:r>
              <a:t>И второе отечественное внедрение, ради которого стоит задержаться на одну минуту. В двадцать втором году в двух московских эндоскопических центрах — Боткинской больницы и больницы Буянова, где делают от ста восьмидесяти до двухсот с лишним исследований в день каждый, — внедрили ту же технологию для описания эндоскопических исследований. Провели хронометраж среднего времени заполнения протоколов до и после внедрения и получили снижение в среднем на двадцать семь процентов, при качестве распознавания свыше девяноста семи процентов и полном удовлетворении врачей.</a:t>
            </a:r>
          </a:p>
          <a:p>
            <a:r>
              <a:t/>
            </a:r>
          </a:p>
          <a:p>
            <a:r>
              <a:t>А теперь то, чего в этой публикации нет, и это ровно наш курс. Сколько минут занимало заполнение протокола ДО внедрения — не опубликовано. Названа только доля. Двадцать семь процентов от десяти минут и двадцать семь процентов от двух минут — это разные вещи для планирования, и выбрать между ними по этой публикации нельзя. Сравните с предыдущим кадром: там названы и десять минут пятнадцать секунд, и восемь минут две секунды, и долю можно посчитать самому. Здесь посчитать нечего. Это не повод отбросить внедрение — оно настоящее, на настоящем потоке; это повод знать, что доля без своей базы не переносится на другую больницу.</a:t>
            </a:r>
          </a:p>
          <a:p>
            <a:r>
              <a:t/>
            </a:r>
          </a:p>
          <a:p>
            <a:r>
              <a:t>Вопрос залу здесь устроен игрой, и ответ на него — пробел, а не число. Я называю заявленное: минус двадцать семь процентов времени протокола во втором внедрении, два эндоскопических центра, сто восемьдесят — двести исследований в день на центр. И прошу назвать вслух, от скольких минут это считается: от десяти? от двух? Пусть прозвучит хоть одна догадка. После этого вскрываю: исходного времени не опубликовано вовсе. Названа только доля. Двадцать семь процентов от десяти минут и двадцать семь процентов от двух — это разные вещи для расписания приёма, и выбрать между ними по публикации нельзя. Зал в этот момент обычно уже назвал своё число — и это ровно то, что делает с таким сообщением всякий читатель: достраивает базу сам, не замечая, что достроил.</a:t>
            </a:r>
          </a:p>
          <a:p>
            <a:r>
              <a:t/>
            </a:r>
          </a:p>
          <a:p>
            <a:r>
              <a:t>**Источники.** </a:t>
            </a:r>
            <a:r>
              <a:rPr u="sng">
                <a:solidFill>
                  <a:srgbClr val="065A82"/>
                </a:solidFill>
                <a:hlinkClick r:id="rId3"/>
              </a:rPr>
              <a:t>Кудрявцев Н.Д., Бардасова К.А., Хоружая А.Н. Технология распознавания речи в лучевой диагностике // Digital Diagnostics. 2023;4(2):185–195</a:t>
            </a:r>
            <a:r>
              <a:t> · </a:t>
            </a:r>
            <a:r>
              <a:rPr u="sng">
                <a:solidFill>
                  <a:srgbClr val="065A82"/>
                </a:solidFill>
                <a:hlinkClick r:id="rId4"/>
              </a:rPr>
              <a:t>НИИОЗММ ДЗМ, «Московская медицина»: функция распознавания речи в эндоскопических центрах, 2022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на который отвечает этот кадр, задан был прямо: где системы — в том числе наши, — которые прямо по ходу приёма, из речи, выдают не заметку, а рекомендацию или диагноз. Ответ короткий: за рубежом такой класс есть, в России его нет, и ни у кого в мире точность самого предложения независимо не измерена.</a:t>
            </a:r>
          </a:p>
          <a:p>
            <a:r>
              <a:t/>
            </a:r>
          </a:p>
          <a:p>
            <a:r>
              <a:t>Сначала про то, где такая система вообще стоит. Шесть действий стадии записи, которые мы разбирали, такую систему не содержат ни одним пунктом. Вход у неё здесь, на ведении записи: она слушает живой приём. А выход — на постановке диагноза, то есть там, где лекция уже побывала. Эта система стоит между двумя стадиями сразу. Инструмент, который не ложится в порядок стадий, — обычное дело: средство появляется позже, чем сложилась работа, и единственная честная реакция — сказать, между чем и чем он встал.</a:t>
            </a:r>
          </a:p>
          <a:p>
            <a:r>
              <a:t/>
            </a:r>
          </a:p>
          <a:p>
            <a:r>
              <a:t>Теперь главное, ради чего кадр и стоит в лекции про подпись. Британский регулятор в июле две тысячи двадцать шестого года провёл границу медицинского изделия ровно по тому месту, вокруг которого построена вся эта лекция, — по подписи. Транскрипция разговора, пересказ, черновик письма, предложение кода под проверку врача — это документация, изделием продукт от этого не становится. А вот предложение диагноза или лечения — становится, и становится даже тогда, когда предложение идёт под обязательную проверку врача. Вчитайтесь в это второй раз: проверка врачом не делает категорию мягче. Регулятор говорит, что подписываемое врачом предложение диагноза — это изделие, которое надо регистрировать, со всем, что за регистрацией следует.</a:t>
            </a:r>
          </a:p>
          <a:p>
            <a:r>
              <a:t/>
            </a:r>
          </a:p>
          <a:p>
            <a:r>
              <a:t>Для инженера здесь переносимый урок, и он не про медицину. Граница ответственности прошла не по технологии — модель в обоих случаях одна и та же, — а по тому, что именно продукт кладёт человеку под подпись. Код под подпись и диагноз под подпись различает не устройство системы, а цена ошибки за ней. Это ровно то, что лекция повторяет весь вечер: класс модели ничего не решает, решает процедура вокруг человека.</a:t>
            </a:r>
          </a:p>
          <a:p>
            <a:r>
              <a:t/>
            </a:r>
          </a:p>
          <a:p>
            <a:r>
              <a:t>Про отдельную оговорку, которой нет ни в одном источнике, а произнести её надо. Единственная отечественная система, близкая к предмету вопроса, — московская ТОП-3, она предлагает три предварительных диагноза и зарегистрирована как медицинское изделие. Два обстоятельства. Первое: жалобы в неё врач набирает руками, голосового входа у неё нет, то есть к вопросу «по надиктовке» она отношения не имеет. Второе важнее. Её публичное число — сорок шесть процентов при одном предложенном диагнозе и шестьдесят восемь при выборе из трёх — это доля случаев, когда врач **согласился** с подсказкой. Согласие и точность — разные величины, и разница тут не академическая: если врач и модель ошибаются одинаково, согласие будет высоким, а оба будут неправы. Метрика этого не покажет вовсе. Проверенного эталона, против которого считалась бы точность, в публикациях нет; есть совпадение двух мнений, одно из которых эта же система и формировала.</a:t>
            </a:r>
          </a:p>
          <a:p>
            <a:r>
              <a:t/>
            </a:r>
          </a:p>
          <a:p>
            <a:r>
              <a:t>И счёт, который стоит плашками. Шестнадцать зарубежных систем проверено поимённо; четырнадцать из них заявляют, что выдают сверх заметки — коды, назначения, подсказки, предположительный диагноз. Разрешений регулятора именно на выдачу клинического предложения из речи нет ни у одной. Независимых рецензируемых замеров точности этого предложения — ноль; то, что выдают за замеры, меряет другое: у одной системы испытание считает биллинговые коды как следствие лучшей заметки, у двух других — время, потраченное на заметку, и это то самое испытание на двухстах тридцати восьми врачах, с которого раздел начинался. Отечественных имён с голосовым входом проверено тринадцать, и систем класса «речь сразу в клиническое предложение» среди них нет ни одной: голос у нас даёт только текст, а диагноз предлагается по тексту карты, который врач набрал руками. Две линии существуют и не соединены.</a:t>
            </a:r>
          </a:p>
          <a:p>
            <a:r>
              <a:t/>
            </a:r>
          </a:p>
          <a:p>
            <a:r>
              <a:t>Что из этого следует практически. Если вам показывают систему, которая слушает приём и выдаёт предположение, первый вопрос не про точность, а про то, что она кладёт под подпись и зарегистрирована ли она для этого. Второй — чем измерена: согласием с врачом или точностью против проверенного диагноза. Разница между этими двумя вопросами и есть разница между документацией и медицинским изделием.</a:t>
            </a:r>
          </a:p>
          <a:p>
            <a:r>
              <a:t/>
            </a:r>
          </a:p>
          <a:p>
            <a:r>
              <a:t>**Источники.** </a:t>
            </a:r>
            <a:r>
              <a:rPr u="sng">
                <a:solidFill>
                  <a:srgbClr val="065A82"/>
                </a:solidFill>
                <a:hlinkClick r:id="rId3"/>
              </a:rPr>
              <a:t>Британская рамка по системам фоновой записи речи, 29 июля 2026, разделы 5.1–5.2</a:t>
            </a:r>
            <a:r>
              <a:t> · </a:t>
            </a:r>
            <a:r>
              <a:rPr u="sng">
                <a:solidFill>
                  <a:srgbClr val="065A82"/>
                </a:solidFill>
                <a:hlinkClick r:id="rId4"/>
              </a:rPr>
              <a:t>ТОП-3, страница изготовителя</a:t>
            </a:r>
            <a:r>
              <a:t> — числа 46 % и 68 % опубликованы сообщением Правительства Москвы 14 июля 2021 года.</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Вывод стадии я подаю одним числом, а не двумя колонками, и это сознательный сбой ритма: восемь однотипных сводов подряд зал начинает предсказывать, а это число предсказать нельзя.</a:t>
            </a:r>
          </a:p>
          <a:p>
            <a:r>
              <a:t/>
            </a:r>
          </a:p>
          <a:p>
            <a:r>
              <a:t>И счёт стадии, чтобы он сошёлся с тем, что я называл по ходу: классических режимов письма было четыре, посчитаны из них два и в разных единицах — письмо врача в минутах на заметку, перенос прежней записи в доле текста карты. Из шести действий стадии модель заняла два и одно убрала. Разборов в разделе три: запись приёма, выписной эпикриз и отечественный голосовой ввод протокола. Девять с половиной процентов — это про первый из четырёх режимов и ни про какой другой, и считаны они против контрольной группы, а не против нуля.</a:t>
            </a:r>
          </a:p>
          <a:p>
            <a:r>
              <a:t/>
            </a:r>
          </a:p>
          <a:p>
            <a:r>
              <a:t>Девять с половиной процентов — вся измеренная экономия стадии у зарубежного инструмента автоматической записи приёма. Не «до тридцати процентов», как говорят на конференциях, не пятнадцать тысяч часов, как сообщила система здравоохранения: девять с половиной процентов времени в заметке, в рандомизированном испытании, у одного инструмента из двух. У второго, того же режима и того же дизайна испытания, экономии нет вовсе — и это первое, что надо сказать вслед за числом, иначе число прочтётся как свойство режима.</a:t>
            </a:r>
          </a:p>
          <a:p>
            <a:r>
              <a:t/>
            </a:r>
          </a:p>
          <a:p>
            <a:r>
              <a:t>Активное время правки не сдвинулось ни у одного из двух. Заметка готова к концу приёма, а не к концу дня, и структуру документа больше не надо держать в голове при живом человеке — это настоящий выигрыш, измеренный в другой величине, чем та, в которой его продают.</a:t>
            </a:r>
          </a:p>
          <a:p>
            <a:r>
              <a:t/>
            </a:r>
          </a:p>
          <a:p>
            <a:r>
              <a:t>Что стало с работой. Нагрузка переехала с набора текста на вычитку чужого — форма словаря называется и здесь подходит буквально. Появился шаг: выборочный контроль заметок, у которого есть собственный штат. И сместилась цена ошибки: опечатка видна, правдоподобная подробность не видна никак.</a:t>
            </a:r>
          </a:p>
          <a:p>
            <a:r>
              <a:t/>
            </a:r>
          </a:p>
          <a:p>
            <a:r>
              <a:t>Про заявленную экономию. Пятнадцать тысяч семьсот девяносто один час на шестьдесят три тысячи приёмов — без раскрытой методики счёта. Подтвердить нельзя, опровергнуть нельзя; четверть часа на приём не укладывается в четыре минуты работы над заметкой, значит считали другую величину. Такое число не ставят рядом с измеренными — оно другой природы.</a:t>
            </a:r>
          </a:p>
          <a:p>
            <a:r>
              <a:t/>
            </a:r>
          </a:p>
          <a:p>
            <a:r>
              <a:t>Полнее человека документ не пишет, и это измерено слепым сравнением: полнота 3,72 против 4,13, уникальных ошибок 2,91 против 1,82. При этом потенциал вреда одной ошибки одинаков. Документ выходит быстрее, читается легче и содержит меньше нужного.</a:t>
            </a:r>
          </a:p>
          <a:p>
            <a:r>
              <a:t/>
            </a:r>
          </a:p>
          <a:p>
            <a:r>
              <a:t>Что это держит. Вычитка и подпись врача — больше ничего, и это важно: никакого технического механизма проверки здесь не появилось. А рядом — названное прямо: вычитке другого рода, той, где ищут связное утверждение без основания в карте, никто не учит. Процедура опирается на навык, которого нет в программе подготовки.</a:t>
            </a:r>
          </a:p>
          <a:p>
            <a:r>
              <a:t/>
            </a:r>
          </a:p>
          <a:p>
            <a:r>
              <a:t>Типов задачи на стадии два, и их стоит различить: генерация на тексте — на входе речь приёма и поля карты, на выходе черновик записи; и распознавание на звуке — отечественный голосовой ввод, где на выходе текст того, что врач произнёс, и ничего сверх него. Черновик под вычитку работает именно здесь, и попадает он в те самые восемнадцать процентов знаков, которые врач набирает руками. Решение, что попадёт в документ, и проверка, что попавшее там действительно было, машине не передаются.</a:t>
            </a:r>
          </a:p>
          <a:p>
            <a:r>
              <a:t/>
            </a:r>
          </a:p>
          <a:p>
            <a:r>
              <a:t>Дальше по этому документу назначают — и когда что-то произойдёт, разбирать будут подпись. Это и есть мост в следующий раздел: он про саму подпись, про то, что она значит и кто проверяет, что подписавший способен возразить машине.</a:t>
            </a:r>
          </a:p>
          <a:p>
            <a:r>
              <a:t/>
            </a:r>
          </a:p>
          <a:p>
            <a:r>
              <a:t>И одно замечание про саму форму этого кадра, потому что оно переносимое. Все прочие своды лекции устроены четырьмя шапками: что получается, что не получается, что стало с работой, что это держит. Здесь вместо них одно число, набранное крупно. Сделано это не для разнообразия: когда одна и та же форма повторяется шесть раз, зал начинает предсказывать экран и перестаёт читать. Сбой ритма возвращает внимание ровно в той точке, где у раздела есть одно число, которое стоит запомнить вместо всего остального.</a:t>
            </a:r>
          </a:p>
          <a:p>
            <a:r>
              <a:t/>
            </a:r>
          </a:p>
          <a:p>
            <a:r>
              <a:t>Почему именно девять с половиной процентов, а не любое другое число раздела. Это единственная величина, полученная настоящей рандомизацией: три равные группы, случайное распределение, контроль. Все остальные числа раздела либо наблюдательные, либо заявленные, либо измеренные в другой величине. Когда в следующий раз услышите про эту стадию число в десятки процентов, первым вопросом будет не «откуда», а «был ли контроль».</a:t>
            </a:r>
          </a:p>
          <a:p>
            <a:r>
              <a:t/>
            </a:r>
          </a:p>
          <a:p>
            <a:r>
              <a:t>И чего в этом выводе сознательно нет. Нет вывода «инструмент не нужен»: он снял настоящую нагрузку, и это измерено по шкалам самочувствия. Нет и вывода «инструмент работает»: активное время правки не сдвинулось, документ стал менее полон. Раздел кончается тем, что обе эти вещи верны одновременно, и выбирать между ними придётся тому, кто подписывает.</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стоит сразу за разделом о том, чем удерживают, не по случайности порядка, а потому что отвечает на вопрос, который все предыдущие разделы оставили открытым. Прошлый раздел кончился подписью, за которой может не стоять ничего: цена ошибки переезжает на того, кто её не подписывал. Эта же мысль здесь поворачивается на человека целиком: есть ещё один шаг, которого никто не трогал, — сам человек, который решает. Работу измеряли всю лекцию: поток тревог, документ, снимок. Ни один из этих замеров не говорит, что происходит с тем, кто внутри этой работы остаётся решающим звеном.</a:t>
            </a:r>
          </a:p>
          <a:p>
            <a:r>
              <a:t/>
            </a:r>
          </a:p>
          <a:p>
            <a:r>
              <a:t>Раздел отличается от общего разговора о влиянии техники на людей тем, что в нём есть числа, снятые на реальной работе, а не домыслы о будущем или общие тревоги. Чисел мало, и именно поэтому они дорогие: прямое измерение деквалификации на реальной клинической работе случилось один раз, и повторения у него нет. Первый разбор снят на разработчиках, не в клинике, и он рандомизированный — сильнее по устройству, но перенести его величину на врачей нельзя. Раздел называет оба эти ограничения прямо, не прячет и не смягчает.</a:t>
            </a:r>
          </a:p>
          <a:p>
            <a:r>
              <a:t/>
            </a:r>
          </a:p>
          <a:p>
            <a:r>
              <a:t>Разборов в разделе три, и каждый делает работу, которой не делают два других. Первым идёт рандомизированный опыт на разработчиках: он меряет ровно вторую половину пары — результат без помощника — и меряет её жребием, то есть тем способом, которого нет ни у одного клинического разбора раздела. Стоит он первым по двум причинам: даёт мерку разряда свидетельства прежде, чем ею мерить, и снят на той работе, которой занят сам зал. Клинической эта работа при этом не является, и путать два разряда нельзя. Вторым — доля обнаружения, измеренная у тех же врачей до появления помощника и после периода работы с ним: единственное прямое свидетельство износа на реальной клинической работе. Третьим — российское испытание ArtInCol: ту же величину на той же процедуре оно меряет сильнее по разряду свидетельства, но периода наблюдения после снятия помощника у него нет. Плоскость «чего про доверие не измерено» и чертёж с пустыми осями стояли здесь отдельными кадрами и сняты владельцем; сказать, что доверие не измерено, всё равно стоит — но голосом, на своде раздела, а не кадром. Новые роли и шаги, появившиеся, когда часть решения стала доверяться модели, собраны в своде вместе с остальным.</a:t>
            </a:r>
          </a:p>
          <a:p>
            <a:r>
              <a:t/>
            </a:r>
          </a:p>
          <a:p>
            <a:r>
              <a:t>Поэтому стадия эта и стоит последней из содержательных: она доводит до конца ту самую мысль, с которой вечер начался, и доводит тем же приёмом, которым лекция читает чужие числа, — называя, что измерено, а что нет.</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Стадия эта устроена иначе всех прежних, и различение надо поставить первым. Все предыдущие разделы мерили работу: поток тревог, документ, снимок, процедуру вокруг подписи. Здесь предмет замера — сам исполнитель, и вопрос к нему один: держится ли он в форме. Инженер привык считать квалификацию выданной: диплом получен, допуск оформлен, сертификат на руках. В медицине она устроена иначе, и это несущее для всего раздела: врачебный навык — расходуемое.</a:t>
            </a:r>
          </a:p>
          <a:p>
            <a:r>
              <a:t/>
            </a:r>
          </a:p>
          <a:p>
            <a:r>
              <a:t>Теперь о том, какие данные о человеке на этой стадии получают и чем. Способов четыре, и все четыре работают на обычном потоке, без отдельного испытания.</a:t>
            </a:r>
          </a:p>
          <a:p>
            <a:r>
              <a:t/>
            </a:r>
          </a:p>
          <a:p>
            <a:r>
              <a:t>Аудит решений по выполненной работе — это доля обнаружения, и о ней отдельно ниже. Счёт объёма практики берётся из журнала выполненных работ: навык ручной процедуры поддерживается её выполнением, и снаружи это проверяется одной величиной — сколько раз человек её выполнил. Минимальное число в год назначают профессиональные общества, и ниже него специалист считается выпавшим из формы.</a:t>
            </a:r>
          </a:p>
          <a:p>
            <a:r>
              <a:t/>
            </a:r>
          </a:p>
          <a:p>
            <a:r>
              <a:t>Доля обнаружения считается из обычных протоколов, без всякого отдельного испытания, — и это редкое свойство: профессия получает проверку состояния отдельного исполнителя прямо из его повседневной работы, не устраивая ему экзамена. Устроена доля хитро. Это доля процедур, в которых врач нашёл хотя бы одно предраковое образование, от всех его процедур скрининга, и получить её старанием, волей или аккуратностью в описании нельзя: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доля обнаружения измеряет поведение, а не отчётность о нём.</a:t>
            </a:r>
          </a:p>
          <a:p>
            <a:r>
              <a:t/>
            </a:r>
          </a:p>
          <a:p>
            <a:r>
              <a:t>Время выведения прибора засекается таймером: осмотр делается при выведении эндоскопа, чем медленнее выводят, тем больше успевают увидеть, а нижнюю границу назначили рекомендации. Четвёртый способ — периодическое подтверждение: оно собирает и накопленную учёбу, и накопленную практику, потому что между двумя подтверждениями состояние специалиста меняется в обе стороны. А разбор случая в эти четыре не входит: он приходит уже ПОСЛЕ исхода, то есть проверяет состоявшуюся ошибку, а молчаливый расход навыка до него не доходит. Пятого способа — испытания с выключенным помощником — нет ни в одной юрисдикции.</a:t>
            </a:r>
          </a:p>
          <a:p>
            <a:r>
              <a:t/>
            </a:r>
          </a:p>
          <a:p>
            <a:r>
              <a:t>Какое решение стадия принимает. Допускать · сузить допуск до части процедур · приостановить · не продлить. За этим решением стоит всё, что было раньше: человек либо продолжает решать на прежних стадиях — звать на обследование, читать измерение, ставить диагноз, подписывать, — либо нет. И это единственная стадия вечера, у которой решение принимается не о пациенте.</a:t>
            </a:r>
          </a:p>
          <a:p>
            <a:r>
              <a:t/>
            </a:r>
          </a:p>
          <a:p>
            <a:r>
              <a:t>И почему замер этой стадии снимают с человека целиком, по всем стадиям сразу; шагом внутри цикла он не ставится. Прошлый раздел кончился подписью, за которой может не стоять ничего: цена ошибки переезжает на того, кто её не подписывал. Здесь та же мысль поворачивается на человека целиком. Тот, кто подписывает, — единственный, кого за вечер не измерил ни один замер: работу мерили всю лекцию, а того, кто внутри этой работы остаётся решающим звеном, не мерил никто. Поставить это шагом в ряд с отбором, диагностикой и наблюдением нельзя: шаг работы такого замера не показывает вовсе, и выстроить девять стадий в один ряд значило бы сделать вид, что они однородны.</a:t>
            </a:r>
          </a:p>
          <a:p>
            <a:r>
              <a:t/>
            </a:r>
          </a:p>
          <a:p>
            <a:r>
              <a:t>Одна оговорка про порядок, которую стоит произнести здесь же. Стадия стоит в вечере последней из содержательных не потому, что она менее важна, а потому, что измерить износ человека можно только после того, как показано, чем он был занят и чем его удерживали. Поставь её раньше — и мерить будет нечего.</a:t>
            </a:r>
          </a:p>
          <a:p>
            <a:r>
              <a:t/>
            </a:r>
          </a:p>
          <a:p>
            <a:r>
              <a:t>**Источники.** </a:t>
            </a:r>
            <a:r>
              <a:rPr u="sng">
                <a:solidFill>
                  <a:srgbClr val="065A82"/>
                </a:solidFill>
                <a:hlinkClick r:id="rId3"/>
              </a:rPr>
              <a:t>показатели качества колоноскопии, Gastrointestinal Endoscopy 2015</a:t>
            </a:r>
          </a:p>
          <a:p>
            <a:r>
              <a:t/>
            </a:r>
          </a:p>
          <a:p>
            <a:r>
              <a:t>И то же поле с моделью, названное до разбора. Из восьми действий обученная модель заняла одно — осмотр при выведении, где на участке изображения в реальном времени появляется рамка. Один шаг добавился: решить, доверять ли этой рамке. Подготовка, введение прибора, складка, снятие найденного, гистология, протокол и счёт показателей остались людям и профессии. И три места, где модель не работает, названы именами того, чего нет: поддержать навык она не может — измерено прямо обратное; показать врачу, чего он не увидел бы без подсветки, внутри процедуры нечем; и измерить его же результат без помощника не умеет ни она, ни какая-либо процедура ни в одной юрисдикции. Направление же развития инструмента стоит отметить сразу: от обнаружения он движется к характеристике найденного и дальше к автоматическому счёту показателей самого врача — то есть становится ещё и измерителем того, кто им пользуется.</a:t>
            </a:r>
          </a:p>
          <a:p>
            <a:r>
              <a:t/>
            </a:r>
          </a:p>
          <a:p>
            <a:r>
              <a:t>Восемь действий стадии, с кадра они сняты в эту заметку и называются вслух по порядку: подготовить пациента · ввести прибор до слепой кишки · осматривать при выведении · заглянуть за складку · снять найденное · отправить на гистологию · записать протокол · посчитать показатели самого врача. Семь первых делает человек руками, восьмое профессия делает за него по опубликованным рекомендациям — и это единственное место стадии, где форму конкретного врача меряет кто-то, кроме него самого.</a:t>
            </a:r>
          </a:p>
          <a:p>
            <a:r>
              <a:t/>
            </a:r>
          </a:p>
          <a:p>
            <a:r>
              <a:t>Два показателя, которыми эта внешняя проверка устроена, стоит назвать отдельно, потому что устроены они по-разному. Доля обнаружения — доля процедур, в которых найдено хотя бы одно образование; величина эта снимается с потока и стараться её поднять напрямую нельзя: она либо есть в работе, либо её нет. Время выведения прибора — величина дисциплинарная: нижняя граница ей назначена рекомендациями, и соблюдение проверяется по таймеру. Первая меряет результат, вторая — поведение, и подменять одну другой нельзя, хотя на практике подменяют: время держать проще.</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картиной, и стоит она первой намеренно: опоры, о которых дальше, устроены именно так из-за неё. Врач вернулся после года без процедур: административная должность, долгая болезнь, отпуск по уходу за ребёнком, перевод в другое отделение. Диплом тот же, сертификат действующий, допуск не отзывали — отзывать его было не за что. Первая процедура идёт иначе. Прибор продвигается медленнее. Рука дольше ищет угол, под которым проходится изгиб. Складку, за которую надо заглянуть, врач проходит мимо.</a:t>
            </a:r>
          </a:p>
          <a:p>
            <a:r>
              <a:t/>
            </a:r>
          </a:p>
          <a:p>
            <a:r>
              <a:t>И вот то, ради чего картина здесь стоит: он сам этого не знает. Процедура прошла без осложнений, протокол написан, пациент отпущен домой. Обратной связи нет и не будет: образование, которое не увидели, остаётся в человеке до следующего обследования, а оно через годы. Плохой осмотр выглядит ровно как хороший осмотр, в котором ничего не нашли. Отсюда и устройство трёх опор: самочувствие специалиста — негодный прибор для измерения его формы.</a:t>
            </a:r>
          </a:p>
          <a:p>
            <a:r>
              <a:t/>
            </a:r>
          </a:p>
          <a:p>
            <a:r>
              <a:t>Залу картина знакома с другой стороны. Навык, которым год не пользовались, теряется — это знает каждый, кто возвращался к языку или к предметной области после перерыва. Различие в одном. В инженерной работе о потере навыка сообщает ближайшая сборка, тест или обзор кода, в тот же день; здесь ближайший прибор, которым о ней узнают, — следующий визит того же пациента, через годы и к другому врачу.</a:t>
            </a:r>
          </a:p>
          <a:p>
            <a:r>
              <a:t/>
            </a:r>
          </a:p>
          <a:p>
            <a:r>
              <a:t>Теперь опоры — как это решение принимают без всякой модели. Их три, работают они одновременно, и ни одна не спрашивает самого человека.</a:t>
            </a:r>
          </a:p>
          <a:p>
            <a:r>
              <a:t/>
            </a:r>
          </a:p>
          <a:p>
            <a:r>
              <a:t>Объём практики: профессиональные общества назначают минимальное число процедур в год, ниже которого специалист считается выпавшим из формы. Аккредитация: допуск выдаётся к одному виду деятельности, выдаётся организацией, которая за эту деятельность отвечает, и привязан к рабочему месту и к процедуре — его можно сузить, приостановить, не продлить. Повторная сертификация: квалификация подтверждается периодически, и подтверждение предполагает и накопленную учёбу, и накопленную практику, потому что между двумя подтверждениями состояние специалиста меняется, причём в обе стороны.</a:t>
            </a:r>
          </a:p>
          <a:p>
            <a:r>
              <a:t/>
            </a:r>
          </a:p>
          <a:p>
            <a:r>
              <a:t>Три опоры отвечают на один вопрос — держится ли человек в форме, — и ни одна не обращается к нему самому. Профессия не спрашивает врача, в форме ли он: она считает за него, долей обнаружения и временем выведения прибора.</a:t>
            </a:r>
          </a:p>
          <a:p>
            <a:r>
              <a:t/>
            </a:r>
          </a:p>
          <a:p>
            <a:r>
              <a:t>Теперь как это устроено в России, потому что залу это ближе любых зарубежных рекомендаций. Периодическая аккредитация специалиста проходится раз в пять лет, порядок назначен приказом Минздрава от двадцать восьмого октября двадцать второго года под номером семьсот девять «н». Требуется набрать сто сорок четыре часа повышения квалификации — одним курсом или несколькими, либо не менее семидесяти двух часов повышения квалификации плюс неформальное образование, учтённое на портале непрерывного медицинского образования, — и сдать портфолио: отчёт о профессиональной деятельности за эти пять лет со сведениями об образовании и стаже.</a:t>
            </a:r>
          </a:p>
          <a:p>
            <a:r>
              <a:t/>
            </a:r>
          </a:p>
          <a:p>
            <a:r>
              <a:t>И вот что из этого следует, и формулировать надо точно. Сказать «результат работы в России не смотрят» было бы сильнее, чем верно: отчёт о профессиональной деятельности портфолио как раз требует, и он содержит результаты работы по выполняемой трудовой функции. Верно другое: отчёт этот специалист составляет сам. Числового порога по результату — такого, который считали бы за него и по которому допуск бы не продлили, — в требованиях нет: ни доли находок, ни времени выведения прибора. То есть внешней числовой проверки собственной формы — той самой, вокруг которой построен весь раздел, — у российского эндоскописта в обязательном порядке нет.</a:t>
            </a:r>
          </a:p>
          <a:p>
            <a:r>
              <a:t/>
            </a:r>
          </a:p>
          <a:p>
            <a:r>
              <a:t>Прежняя редакция кадра говорила «результат работы — нет»: утверждение сильнее, чем держит источник, — тот самый класс ошибки, который мы разбираем у поставщиков. Доля обнаружения у нас считается там, где её считают по собственному решению центра, а не потому, что её спрашивает аккредитация. Значит у российского эндоскописта в обязательном порядке нет ровно того прибора, которого не хватило врачу из картины, с которой кадр начался: узнать о падении ему неоткуда.</a:t>
            </a:r>
          </a:p>
          <a:p>
            <a:r>
              <a:t/>
            </a:r>
          </a:p>
          <a:p>
            <a:r>
              <a:t>Теперь о самом поле работы, чтобы видеть, во что вмешивается модель. Осмотр складывается из восьми действий. Подготовить пациента. Ввести прибор до слепой кишки. Осматривать при выведении. Заглянуть за складку. Снять найденное. Отправить на гистологию. Записать протокол. Посчитать показатели самого врача. Семь первых делает человек руками; восьмое делает за него профессия, по опубликованным рекомендациям, и сам он в этом счёте не участвует.</a:t>
            </a:r>
          </a:p>
          <a:p>
            <a:r>
              <a:t/>
            </a:r>
          </a:p>
          <a:p>
            <a:r>
              <a:t>Из этих восьми обученная модель заняла одно — осмотр при выведении, где на участке изображения в реальном времени появляется рамка. И один шаг добавился: решить, доверять ли этой рамке. Подготовка, введение прибора, складка, снятие найденного, гистология, протокол и счёт показателей остались людям и профессии.</a:t>
            </a:r>
          </a:p>
          <a:p>
            <a:r>
              <a:t/>
            </a:r>
          </a:p>
          <a:p>
            <a:r>
              <a:t>И три места, где модель не работает, названы именами того, чего нет. Поддержать навык она не может — измерено прямо обратное, и это разбор следующего кадра. Показать врачу, чего он не увидел бы без подсветки, внутри процедуры нечем. Измерить его же результат без помощника не умеет ни она, ни какая-либо процедура ни в одной юрисдикции. Направление же развития инструмента стоит отметить сразу: от обнаружения он движется к характеристике найденного и дальше к автоматическому счёту показателей самого врача — то есть становится ещё и измерителем того, кто им пользуется.</a:t>
            </a:r>
          </a:p>
          <a:p>
            <a:r>
              <a:t/>
            </a:r>
          </a:p>
          <a:p>
            <a:r>
              <a:t>Вопрос залу в этой стадии задаётся один, и он предсказание, а не опрос: из четырёх способов замера, названных прошлым кадром, один меряет результат работы, а три — поведение и объём. Прошу назвать, какой именно меряет результат, и сказать, почему его проще всего подменить временем выведения прибора. Ответ: доля обнаружения; подменяют её потому, что время держать проще, а долю старанием не поднять. Второго вопроса в этой стадии нет намеренно: два вопроса подряд зал читает как риторику и не отвечает ни на один.</a:t>
            </a:r>
          </a:p>
          <a:p>
            <a:r>
              <a:t/>
            </a:r>
          </a:p>
          <a:p>
            <a:r>
              <a:t>**Источники.** </a:t>
            </a:r>
            <a:r>
              <a:rPr u="sng">
                <a:solidFill>
                  <a:srgbClr val="065A82"/>
                </a:solidFill>
                <a:hlinkClick r:id="rId3"/>
              </a:rPr>
              <a:t>показатели качества колоноскопии, Gastrointestinal Endoscopy 2015</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разбор стоит первым, и место у него выбрано, а не досталось. Два следующих сняты в клинике, и каждый из них оставляет свою дыру: польская работа измерит ровно то, что нам нужно — результат тех же врачей без помощника, — но она наблюдательная, смотрели назад по архиву, и причинности авторы не утверждают; российское испытание устроено сильнее по разряду свидетельства, оно рандомизированное, но периода наблюдения после снятия помощника у него нет вовсе, и авторы говорят это сами. То есть одна работа будет мерить нужное слабым способом, другая — сильным способом не то. Здесь вторая половина пары измерена жребием, и это единственное место раздела, где так. Мерку, которой зал будет читать оба клинических разбора, он получает прежде, чем ею мерить, — за этим кадр и вынесен вперёд.</a:t>
            </a:r>
          </a:p>
          <a:p>
            <a:r>
              <a:t/>
            </a:r>
          </a:p>
          <a:p>
            <a:r>
              <a:t>Вторая причина ставить его первым, и она важнее. Он снят на той работе, которой занят сам зал. Про врачей всегда можно сказать: у них своя специфика, у нас не так. Про младших инженеров, пишущих на незнакомой библиотеке, так сказать нельзя — это ровно то, чем половина аудитории занималась на этой неделе. Раздел про то, что стало с человеком, который решает, и начинается он с человека, который сидит в зале.</a:t>
            </a:r>
          </a:p>
          <a:p>
            <a:r>
              <a:t/>
            </a:r>
          </a:p>
          <a:p>
            <a:r>
              <a:t>И сразу различение, которое нельзя проглотить. Польская работа, которая будет следующей, мерила ИЗНОС: те же девятнадцать врачей были в форме и стали хуже. Здесь мерится ФОРМИРОВАНИЕ: библиотеки не знал никто, и вопрос стоял так — сложился ли навык вообще. Восьмую форму словаря, «исполнитель тот же, но стал хуже», присваивать нельзя: тот же исполнитель здесь ни с чем не сравнивается. Формы у такого случая в словаре нет, и назвать отказ честнее, чем подогнать.</a:t>
            </a:r>
          </a:p>
          <a:p>
            <a:r>
              <a:t/>
            </a:r>
          </a:p>
          <a:p>
            <a:r>
              <a:t>Устройство опыта. Пятьдесят два участника, преимущественно младшие инженеры; каждый пишет на этом языке не меньше года, с ИИ-помощью знаком, а вот с конкретной библиотекой асинхронного программирования не знаком — и это существенно, потому что мерится именно формирование нового навыка, а не работа с уже имеющимся. Задача: написать две возможности на этой библиотеке. Распределили жребием: половине дали ИИ-помощника, половине нет. Сразу после работы всех проверили без помощника, четырьмя типами заданий: найти ошибку в коде, прочесть чужой код, написать код, объяснить понятие.</a:t>
            </a:r>
          </a:p>
          <a:p>
            <a:r>
              <a:t/>
            </a:r>
          </a:p>
          <a:p>
            <a:r>
              <a:t>Результат. Группа, писавшая руками, дала шестьдесят семь верных из ста; группа с помощником — пятьдесят. Размер эффекта по Коэну ноль целых семьсот тридцать восемь при значимости ноль целых одна сотая. Это около двух оценок разницы — такую видно на экзамене. Разрыв шире на заданиях «найди ошибку» — и вот это стоит задержать: именно поиск ошибки в чужом коде та работа, которую помощник забирает первой и которую потом не на чем тренировать. Выигрыша по времени при этом нет: группа с помощником закончила примерно на две минуты раньше, различие незначимо. То есть заплатили пониманием и не купили скорость.</a:t>
            </a:r>
          </a:p>
          <a:p>
            <a:r>
              <a:t/>
            </a:r>
          </a:p>
          <a:p>
            <a:r>
              <a:t>Теперь то, ради чего этот случай ценнее двух следующих: он называет не только расход, но и способ его не платить. Авторы разобрали, как именно люди обращались с помощником, и опознали шесть способов. Три из них усвоение сохраняют. Те, кто спрашивал только про понятия, а ошибки разбирал сам, — семь человек, — держались на уровне выше шестидесяти пяти из ста. Те, кто просил код вместе с объяснением, — трое, — тоже. А те, кто отдавал задачу помощнику целиком, — четверо, — были быстрее всех и ниже сорока из ста. Числа тут маленькие, и подавать их как измеренную закономерность нельзя; подавать как направление — можно, потому что оно совпадает с тем, что мы уже видели на школьниках: там ограничители снимали эффект, здесь его снимает способ обращения. В обоих случаях лечится устройство доступа, а не количество практики.</a:t>
            </a:r>
          </a:p>
          <a:p>
            <a:r>
              <a:t/>
            </a:r>
          </a:p>
          <a:p>
            <a:r>
              <a:t>Ограничения называю по самим авторам. Выборка мала. Проверялось немедленное понимание сразу после работы, а не навык через месяцы — то есть долгого горизонта у этого замера нет, в отличие от польской работы, где между окнами прошло три месяца. Работа только с кодом. И сравнения с помощью живого человека — наставника, коллеги — нет вовсе, а это важное отсутствие: мы не знаем, даёт ли такой же эффект любая подсказка или именно подсказка модели.</a:t>
            </a:r>
          </a:p>
          <a:p>
            <a:r>
              <a:t/>
            </a:r>
          </a:p>
          <a:p>
            <a:r>
              <a:t>И последняя строка кадра, которая задаёт рамку всему разделу, если произнести её как следует. Та же потеря навыка случается без всякой обученной модели. В Великобритании цитология перешла на первичное тестирование на вирус папилломы человека — это лабораторный анализ, никакой модели там нет. Поток случаев на чтение упал на восемьдесят-восемьдесят пять из ста, лаборатории свели с сорока пяти центров до восьми, и сам обзор называет следствие прямо: учить стало не на чем. Вывод отсюда несущий, и он ровно против лёгкого прочтения всего раздела, который только начался. Навык расходует переданный объём работы, а не обученная модель как таковая. Обвинять в деквалификации именно ИИ было бы ошибкой того же разряда, что приписывать модели выигрыш классического режима, — а этой ошибкой лекция занимается весь вечер у других. Значит и правильный вопрос звучит так: сколько работы мы у человека забрали и где он теперь её берёт. С этим вопросом и пойдём к врачам.</a:t>
            </a:r>
          </a:p>
          <a:p>
            <a:r>
              <a:t/>
            </a:r>
          </a:p>
          <a:p>
            <a:r>
              <a:t>Разряд свидетельства у цитологического упоминания надо назвать: это сводный обзор деквалификации, а не первоисточник самой программы. Там же, в том же обзоре, лежат ещё два числа, которые стоит произнести голосом: в опытах с чтением через веб более тридцати из ста участников отказались от собственного верного заключения под неверной подсказкой модели в условиях нехватки времени; и в опыте с двадцатью семью рентгенологами неверные подсказки повышали долю ложных вызовов до плюс двенадцати процентных пунктов, в том числе у опытных. Оба числа взяты из обзора, а не из полных текстов самих опытов, — так их и надо называть. И у того же обзора есть своя ошибка, ровно нашего предмета: польскую работу, которая идёт следующей, он называет рандомизированным многоцентровым испытанием, тогда как она наблюдательная. Рецензируемый обзор перепутал разряд свидетельства. Лучшей иллюстрации того, зачем мы весь вечер смотрим на устройство замера, а не на слово «измерено», у нас сегодня не будет.</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Цена обеих ошибок называется здесь до всякой точности, и первое, что надо понять про эту стадию: обратная связь приходит через годы. Пропущенное образование остаётся в человеке до следующего обследования — так и возникает болезнь, найденная между обследованиями. Увидеть лишнее стоит снятия, иногда кровотечения, гистологии и повторного визита. Несимметричность этих двух цен назначил не врач и не модель: её назначил орган здравоохранения, когда решал, кого и с какой периодичностью звать на обследование.</a:t>
            </a:r>
          </a:p>
          <a:p>
            <a:r>
              <a:t/>
            </a:r>
          </a:p>
          <a:p>
            <a:r>
              <a:t>Про единицу, в которой считает весь раздел, и это надо произнести один раз здесь. Величина, которой профессия меряет эндоскописта, называется долей обнаружения аденом: это доля процедур скрининга, в которых врач нашёл хотя бы одно предраковое образование, от всех его процедур скрининга. На кадрах раздела она переведена в число процедур из тысячи — так её можно складывать и сравнивать вслух, не путая с долей пациентов. Двести семьдесят одна процедура из тысячи с находкой означает: в остальных семистах двадцати девяти не нашли ничего, и часть этих «ничего» — не отсутствие аденомы, а непойманная аденома. Устроена доля хитро, и в этом её сила: образование, за которым надо заглянуть под складку, попадает в знаменатель независимо от того, заглянул врач или нет, а в числитель — только если заглянул. Поэтому она измеряет поведение, а не отчётность о нём, и поднять её старанием в описании нельзя.</a:t>
            </a:r>
          </a:p>
          <a:p>
            <a:r>
              <a:t/>
            </a:r>
          </a:p>
          <a:p>
            <a:r>
              <a:t>Почему это место устроено опаснее остальных. В инженерной работе о промахе сообщает ближайшая сборка или проверка, в тот же день. Здесь ближайший измеритель — следующий визит того же пациента, через годы и к другому врачу. Плохо выполненный осмотр не чувствуется плохим ни в ту минуту, ни через месяц, и собственного сигнала о падении у человека нет вовсе. Поэтому дисциплину за него и считают процедурой — сам он узнать не может.</a:t>
            </a:r>
          </a:p>
          <a:p>
            <a:r>
              <a:t/>
            </a:r>
          </a:p>
          <a:p>
            <a:r>
              <a:t>Теперь второй шаг формы разбора, тот, на пропуске которого разборы и теряются. Модель, сравнённая с пустым местом, выигрывает всегда, и выигрыш этот ничего не значит: там, куда приходит помощник, уже работали два порядка, и оба измерены в той же единице.</a:t>
            </a:r>
          </a:p>
          <a:p>
            <a:r>
              <a:t/>
            </a:r>
          </a:p>
          <a:p>
            <a:r>
              <a:t>Режим первый — дисциплина времени осмотра. Время выведения прибора удлинили с шести минут до девяти. Рандомизированное испытание, тысяча двадцать семь пациентов, пятьсот четырнадцать против пятисот тринадцати, время засекали по таймеру: процедур с находкой стало триста шестьдесят шесть из тысячи против двухсот семидесяти одной, то есть доля обнаружения выросла с двадцати семи целых одной десятой до тридцати шести целых шести десятых процента при уровне значимости ноль целых одна тысячная. Отдельное наблюдение даёт и ручку к режиму: каждая дополнительная минута выведения прибавляет около шести процентов к шансам найти аденому, измерено в окне от шести до тринадцати минут.</a:t>
            </a:r>
          </a:p>
          <a:p>
            <a:r>
              <a:t/>
            </a:r>
          </a:p>
          <a:p>
            <a:r>
              <a:t>Режим второй — второй наблюдатель в кабинете: на тот же экран, кроме врача, смотрит медицинская сестра. Сводный разбор трёх рандомизированных испытаний на тысяче шестистах семидесяти шести пациентах: с трёхсот девяноста трёх процедур из тысячи до четырёхсот пятидесяти семи, то есть с тридцати девяти целых трёх десятых до сорока пяти целых семи десятых процента, относительный риск один и шестнадцать при интервале от одного и четырёх до одного и трёх. Второй сводный разбор, на одиннадцати испытаниях и восьми тысячах двухстах семидесяти восьми пациентах, даёт один и пятнадцать от одного и пяти до одного и двадцати шести. Оговорка самих авторов обзора называется вместе с числом: все включённые испытания несут высокий риск систематической ошибки, а выигрыша по обнаружению полипов и по продвинутым находкам в том же обзоре нет вовсе. И оговорка своя: часть эффекта может быть эффектом наблюдения за наблюдающим, и отделить одно от другого эти испытания не могли.</a:t>
            </a:r>
          </a:p>
          <a:p>
            <a:r>
              <a:t/>
            </a:r>
          </a:p>
          <a:p>
            <a:r>
              <a:t>Оговорка о базах, снятая с кадра в эту заметку, и произносить её надо. Исходные доли у двух режимов разные — двести семьдесят одна процедура из тысячи у первого и триста девяносто три у второго, разные популяции и разные центры, — поэтому два прироста между собой не сравниваются. Каждый сравнивается с приростом от помощника в своей работе, а не друг с другом; складывать плюс девяносто пять и плюс шестьдесят четыре в «плюс сто пятьдесят девять» нельзя ни в каком виде.</a:t>
            </a:r>
          </a:p>
          <a:p>
            <a:r>
              <a:t/>
            </a:r>
          </a:p>
          <a:p>
            <a:r>
              <a:t>Вывод, ради которого шаг стоит отдельно: оба классических режима дают прирост того же порядка, что помощник, или больше, и ни один из них не бесплатен — первый стоит трёх минут времени врача на каждой процедуре, второй присутствия второго человека.</a:t>
            </a:r>
          </a:p>
          <a:p>
            <a:r>
              <a:t/>
            </a:r>
          </a:p>
          <a:p>
            <a:r>
              <a:t>А расхода навыка у этих двух режимов не измерял никто, и произносить это надо именно так: измерения нет. Сказать «они навык не расходуют» значило бы утверждать больше, чем измерено — ровно то, за что эта лекция разбирает поставщиков.</a:t>
            </a:r>
          </a:p>
          <a:p>
            <a:r>
              <a:t/>
            </a:r>
          </a:p>
          <a:p>
            <a:r>
              <a:t>**Источники.** </a:t>
            </a:r>
            <a:r>
              <a:rPr u="sng">
                <a:solidFill>
                  <a:srgbClr val="065A82"/>
                </a:solidFill>
                <a:hlinkClick r:id="rId3"/>
              </a:rPr>
              <a:t>Zhao и соавт., Clinical Gastroenterology and Hepatology 2022</a:t>
            </a:r>
            <a:r>
              <a:t> · </a:t>
            </a:r>
            <a:r>
              <a:rPr u="sng">
                <a:solidFill>
                  <a:srgbClr val="065A82"/>
                </a:solidFill>
                <a:hlinkClick r:id="rId4"/>
              </a:rPr>
              <a:t>Xu и соавт., Gastroenterology Research and Practice 2016</a:t>
            </a:r>
            <a:r>
              <a:t> · </a:t>
            </a:r>
            <a:r>
              <a:rPr u="sng">
                <a:solidFill>
                  <a:srgbClr val="065A82"/>
                </a:solidFill>
                <a:hlinkClick r:id="rId5"/>
              </a:rPr>
              <a:t>Lei и соавт., International Journal of Colorectal Disease 2024</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стоит между классикой раздела и первым разбором с моделью, и стоит он здесь не для широты взгляда. Прошлый кадр показал два порядка работы, которые повышают долю процедур с находкой без всякой модели: удлинить выведение прибора и посадить рядом второго наблюдателя. Естественный следующий вопрос — а кто вообще эту долю считает и что бывает человеку, у которого она низкая. Ответ на него различается по странам настолько сильно, что из одной юрисдикции другую не угадать, и это тот редкий случай, когда по странам расходится сам порядок работы. Продукт, который его исполняет, здесь ни при чём.</a:t>
            </a:r>
          </a:p>
          <a:p>
            <a:r>
              <a:t/>
            </a:r>
          </a:p>
          <a:p>
            <a:r>
              <a:t>Начнём с того, где величина входит в допуск буквально. В Великобритании рекомендации профессионального общества по обучению и аттестации в колоноскопии назначают пороги по выполненной работе, усреднённые за три месяца: достижение слепой кишки без посторонней помощи выше девяноста из ста процедур, осмотр на развороте в прямой кишке выше девяноста, извлечение найденного выше девяноста, недовольных процедурой меньше десяти из ста — и доля процедур с находкой пятнадцать из ста и выше как минимальный стандарт обучающегося. Рядом стоит объём: минимум двести восемьдесят колоноскопий до аттестации, или двести, если есть аттестация по сигмоидоскопии, и не меньше пятнадцати процедур за последние три месяца. После аттестации рекомендация — не менее ста колоноскопий в год, желательный уровень сто пятьдесят. И самое существенное: без аттестации человека не допускают работать в скрининговой программе. То есть результат его работы, посчитанный за него по его же протоколам, прямо решает, пустят его к этой работе или нет.</a:t>
            </a:r>
          </a:p>
          <a:p>
            <a:r>
              <a:t/>
            </a:r>
          </a:p>
          <a:p>
            <a:r>
              <a:t>Теперь США, и здесь находка, которую стоит произнести медленно. Тот же показатель у них есть и назначен: целевой уровень доли обнаружения аденом — тридцать пять из ста, и в своём документе профессия помечает его как показатель исхода, а не процесса, то есть как самый сильный разряд. Собирается он отраслевым реестром, в котором накоплено свыше десяти миллионов колоноскопий. Казалось бы, основание для допуска готово. И в том же документе написано дословно, что включённые показатели и целевые уровни не отражают ни стандарта оказания помощи, ни требований к допуску, ни стандартов обучения, и применять любой из показателей этого документа таким образом — неверное его использование. Профессия сама запретила делать свой же измеренный показатель условием допуска. Держится допуск другим: сто очков непрерывного образования за пять лет плюс экзамен знаний. А отнятие права выполнять процедуру тот же документ называет крайней мерой, а не обычным исходом замера.</a:t>
            </a:r>
          </a:p>
          <a:p>
            <a:r>
              <a:t/>
            </a:r>
          </a:p>
          <a:p>
            <a:r>
              <a:t>Почему это важно для всей лекции целиком. У нас весь вечер идёт разговор о том, что измеренное число сильнее мнения. Здесь мы видим обратный случай, и он не глупость: профессия, у которой есть десять миллионов измеренных процедур, отказывается превращать это число в административное решение — потому что показатель считался для улучшения работы; наказывать им не собирались, и у него есть известные искажения, которые при переводе в допуск начнут управлять поведением. Это ровно тот тип суждения, которому курс и учит: число годно под то решение, для которого его собрали.</a:t>
            </a:r>
          </a:p>
          <a:p>
            <a:r>
              <a:t/>
            </a:r>
          </a:p>
          <a:p>
            <a:r>
              <a:t>И Россия. Периодическая аккредитация специалиста проходится раз в пять лет, порядок назначен приказом Минздрава от двадцать восьмого октября двадцать второго года под номером семьсот девять «н». Требуется сто сорок четыре часа повышения квалификации суммарно — одним курсом, несколькими, либо не менее семидесяти двух часов курсов плюс учёт на портале непрерывного медицинского образования. Второй раздел портфолио — отчёт о профессиональной деятельности, и он содержит результаты работы по выполняемой трудовой функции. Произносить это надо точно, потому что здесь сама собой просится лёгкая и неверная формулировка «результат работы не смотрят». Верная звучит иначе: отчёт о работе специалист составляет сам. Числового порога по результату — такого, который считали бы за него и по которому допуск бы не продлили, — в требованиях нет: ни доли находок, ни времени выведения прибора. Доля обнаружения у нас считается там, где её считает по собственному решению сам центр; аккредитация её не спрашивает.</a:t>
            </a:r>
          </a:p>
          <a:p>
            <a:r>
              <a:t/>
            </a:r>
          </a:p>
          <a:p>
            <a:r>
              <a:t>И последняя строка кадра, ради которой он частью и заведён. Мы искали целенаправленно юрисдикцию, где измеренный результат врача после периода работы с подсветкой входил бы в продление допуска. Искали по рекомендациям обществ Великобритании и США, по положению об аккредитации в России и по сводному обзору деквалификации. Не нашли ни в одной из трёх. Это не пробел нашего поиска, который кто-то закроет вечером: показатель для такого замера у профессии есть, а процедуры нет нигде. Так что когда через два кадра мы увидим измеренное падение доли у тех же врачей, держите в голове: узнать об этом падении в обычной работе врачу неоткуда, и ни один порядок допуска в этих трёх странах его не поймает.</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Сила свидетельства и состав спора, снятые с кадра в эту заметку, и произносятся они целиком. Исследование ретроспективное наблюдательное, не рандомизированное; причинности оно не доказывает, и авторы этого не утверждают. Окна короткие, регион один, система помощника одна, повторения нет ни одного. Вокруг работы опубликованы исправление, три письма в редакцию и ответ авторов — спор открыт, и это надо сказать залу прямо, а не прятать за словом «измерено». Возражений по существу три: вторичные исходы не просели (среднее число аденом на процедуру 0,54 против 0,43, продвинутых 0,062 против 0,063, оба незначимо); время выведения прибора в работе не измеряли вовсе, то есть у находки отсутствует поведенческое звено, которое сделало бы её проверяемой; и нагрузка за тот же период почти удвоилась — с семисот девяноста пяти процедур до тысячи трёхсот восьмидесяти двух.</a:t>
            </a:r>
          </a:p>
          <a:p>
            <a:r>
              <a:t/>
            </a:r>
          </a:p>
          <a:p>
            <a:r>
              <a:t/>
            </a:r>
          </a:p>
          <a:p>
            <a:r>
              <a:t>Назову по имени то, что здесь происходит с человеком: это когнитивное искажение. Третье из шести, предъявленных на входе вечера, и называется оно износом навыка. Входной кадр показывал его той же парой долей, которая стоит сейчас на плашках. Якорения — первого из шести — здесь нет вовсе: смотрят процедуры БЕЗ помощника, где подсказки нет и якориться не на чем. Якорение работает, пока модель рядом; износ виден, когда её убрали.</a:t>
            </a:r>
          </a:p>
          <a:p>
            <a:r>
              <a:t/>
            </a:r>
          </a:p>
          <a:p>
            <a:r>
              <a:t>Замысел разбора в том, где именно смотрели. В четырёх центрах внедрили помощника, подсвечивающего образование на видео в реальном времени, а затем посмотрели не на процедуры с ним, а на процедуры без него, выполненные теми же врачами: расход навыка виден только там, где инструмента нет.</a:t>
            </a:r>
          </a:p>
          <a:p>
            <a:r>
              <a:t/>
            </a:r>
          </a:p>
          <a:p>
            <a:r>
              <a:t>Состав. Девятнадцать эндоскопистов — шестнадцать гастроэнтерологов и три хирурга, у каждого больше двух тысяч выполненных колоноскопий, средний стаж 28 лет. Два окна по три месяца, помощник внедрён между ними. В основное сравнение вошли 1 443 процедуры без помощника: 795 в раннем окне и 648 в позднем. Это не ординаторы и не новички, и в этом половина силы наблюдения: просело у людей, которые два десятка лет свою форму держали.</a:t>
            </a:r>
          </a:p>
          <a:p>
            <a:r>
              <a:t/>
            </a:r>
          </a:p>
          <a:p>
            <a:r>
              <a:t>Результат. Доля обнаружения в процедурах без помощника — 28,4 процента до внедрения, это 226 находок на 795 процедур, и 22,4 процента после, 145 находок на 648. Абсолютная разница минус 6,0 процентного пункта при интервале от минус 10,5 до минус 1,6 и значимости 0,0089. В многофакторной модели работа рядом с помощником даёт отношение шансов 0,69 при интервале от 0,53 до 0,89; возраст пациента от шестидесяти лет даёт в той же модели 3,60 — то есть предсказывает выявляемость заметно сильнее. Кратность между этими двумя величинами не произносится: деление отношения больше единицы на отношение меньше единицы ничего не сравнивает. Шесть пунктов лежат в том же диапазоне, где живут эффекты состава пациентов, и это задаёт масштаб находки, не отменяя её.</a:t>
            </a:r>
          </a:p>
          <a:p>
            <a:r>
              <a:t/>
            </a:r>
          </a:p>
          <a:p>
            <a:r>
              <a:t>Оговорка про знаменатель, без которой число 795 читается не тем, чем является. В раннем окне помощника в центрах ещё не было, поэтому 795 означает одновременно «процедур без помощника» и «процедур всего»; в позднем окне они расходятся — без помощника 648, всего 1 382. Сравнение 226 на 795 против 145 на 648 сделано честно, по одной графе, а рост общей нагрузки объясняет часть падения не хуже, чем износ навыка. Именно сюда и бьют три письма в редакцию.</a:t>
            </a:r>
          </a:p>
          <a:p>
            <a:r>
              <a:t/>
            </a:r>
          </a:p>
          <a:p>
            <a:r>
              <a:t>Устройство помощника: вход — поток кадров во время процедуры, выход — рамка на подозрительном участке в ту же секунду. Имени своей системы публикация не называет, и на чём обучены системы этого класса, производители не публикуют. Имена у режима есть и проверяемы: GI Genius от Medtronic, CAD EYE от Fujifilm, ENDO-AID CADe от Olympus; разница между ними в сводных сравнениях мала, и это важнее имён. Российская система этого же класса разобрана следом, и у неё обучающий архив назван.</a:t>
            </a:r>
          </a:p>
          <a:p>
            <a:r>
              <a:t/>
            </a:r>
          </a:p>
          <a:p>
            <a:r>
              <a:t>Теперь пара, ради которой прежде стоял отдельный кадр. Дало: с включённым помощником врачи находят больше, и прирост доли обнаружения в рандомизированных испытаниях измерен и повторён многократно. Потребовало: умения искать самому. Расход виден за три месяца и у врачей со средним стажем двадцать восемь лет; речь о натренированном навыке, который поддерживается объёмом выполнения, — старательность здесь ни при чём, и падение шло ровно по центрам, а не у отдельных врачей. В сумме: помощник повышает результат, пока включён, и это состояние не бесплатно. Счёта в одной валюте — сколько прибавил включённый помощник против того, сколько убыло в выключенном состоянии, — не сделал никто, и выдавать его за измеренный нельзя.</a:t>
            </a:r>
          </a:p>
          <a:p>
            <a:r>
              <a:t/>
            </a:r>
          </a:p>
          <a:p>
            <a:r>
              <a:t>Форма восьмая словаря: исполнитель тот же, но стал хуже. Место работы, объём, порядок шагов и рука прежние; изменилось состояние самой руки. Соседние две формы выглядят подходящими, и обе проверку не проходят. Пятая требует, чтобы сменилась рука, а здесь сравнение построено внутри тех же девятнадцати врачей. Четыре-а говорит про объём операции, а здесь объём процедур тот же, упала доля находок; назвать это падением объёма значит подменить единицу измерения. Направление названо вниз осознанно: измерен один знак, а обратный случай стоит в словаре пустым номером восемь-а — имя у него есть, измерения нет ни одного.</a:t>
            </a:r>
          </a:p>
          <a:p>
            <a:r>
              <a:t/>
            </a:r>
          </a:p>
          <a:p>
            <a:r>
              <a:t>То же явление измерено рандомизированно, но в учёбе: около тысячи старшеклассников, математика, три группы. Практика со свободным доступом к модели дала плюс 48 процентов к контролю, с учительскими ограничителями плюс 127; экзамен без модели у свободной группы оказался на 17 процентов хуже контроля, у группы с ограничителями — примерно на уровне контроля. То есть измерено не только падение, но и средство против него, и средство это — устройство доступа, а не количество практики. Повторением клинической находки это не является: другая работа, другие люди, другая задача. Совпадение знака — довод в пользу того, что механизм общий, и не довод в пользу того, что величина переносится.</a:t>
            </a:r>
          </a:p>
          <a:p>
            <a:r>
              <a:t/>
            </a:r>
          </a:p>
          <a:p>
            <a:r>
              <a:t>**Источники.** </a:t>
            </a:r>
            <a:r>
              <a:rPr u="sng">
                <a:solidFill>
                  <a:srgbClr val="065A82"/>
                </a:solidFill>
                <a:hlinkClick r:id="rId3"/>
              </a:rPr>
              <a:t>Budzyń и соавт., Lancet Gastroenterology &amp; Hepatology 2025</a:t>
            </a:r>
            <a:r>
              <a:t> · </a:t>
            </a:r>
            <a:r>
              <a:rPr u="sng">
                <a:solidFill>
                  <a:srgbClr val="065A82"/>
                </a:solidFill>
                <a:hlinkClick r:id="rId4"/>
              </a:rPr>
              <a:t>опубликованное исправление к той же работе, 2025;10(11):e12, и три письма с ответом авторов, 2025;10(12):1060–1062</a:t>
            </a:r>
            <a:r>
              <a:t> · </a:t>
            </a:r>
            <a:r>
              <a:rPr u="sng">
                <a:solidFill>
                  <a:srgbClr val="065A82"/>
                </a:solidFill>
                <a:hlinkClick r:id="rId5"/>
              </a:rPr>
              <a:t>Bastani и соавт., PNAS 2025</a:t>
            </a:r>
            <a:r>
              <a:t> · основная работа: 2025;10(10):896–903</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разбор стоит здесь по двум причинам, и первую надо назвать прямо. Весь предыдущий кадр держится на одной польской работе — наблюдательной, оспоренной и не воспроизведённой. Рядом с ней существует российское испытание той же величины на той же процедуре, и устроено оно сильнее: это многоцентровое рандомизированное исследование. Его результат не отменяет польскую находку и не повторяет её — они меряют разные вещи, и это второе, что надо сказать залу.</a:t>
            </a:r>
          </a:p>
          <a:p>
            <a:r>
              <a:t/>
            </a:r>
          </a:p>
          <a:p>
            <a:r>
              <a:t>Состав. Август–декабрь две тысячи двадцать четвёртого года, четыре медицинских учреждения: Национальный медицинский исследовательский центр колопроктологии имени Рыжих, Боткинская больница, Российский национальный исследовательский медицинский университет имени Пирогова в Москве и Республиканский клинический онкологический диспансер в Уфе. Тысяча сто двадцать восемь пациентов, распределённых жребием: пятьсот сорок семь на колоноскопию без помощника и пятьсот восемьдесят один с ним.</a:t>
            </a:r>
          </a:p>
          <a:p>
            <a:r>
              <a:t/>
            </a:r>
          </a:p>
          <a:p>
            <a:r>
              <a:t>Результат в той же единице, которой считает весь раздел. Процедур с находкой стало четыреста семьдесят две из тысячи против четырёхсот тринадцати — то есть доля обнаружения аденом сорок семь целых две десятых процента против сорока одного и трёх, величина эффекта пять целых девять десятых процента при значимости ноль целых сорок восемь тысячных. Среднее число найденных аденом на процедуру — ноль целых девяносто семь сотых против ноль целых семьдесят девять, и это различие надёжнее основного: значимость ноль целых одна сотая.</a:t>
            </a:r>
          </a:p>
          <a:p>
            <a:r>
              <a:t/>
            </a:r>
          </a:p>
          <a:p>
            <a:r>
              <a:t>Теперь то, чего у польского разбора не было вовсе, и ради чего этот кадр особенно нужен инженерной аудитории: устройство названо целиком. Система вендор-нейтральная, с регистрационным удостоверением Росздравнадзора, подключается к стандартному эндоскопическому оборудованию. На входе — видеопоток во время процедуры, он идёт в компактный промышленный компьютер рядом со стойкой. На выходе — рамка детекции на мониторе, в реальном времени, на участках, где вероятность образования высока. Обучена на архивах самого центра колопроктологии, размеченных эндоскопистами его отдела эндоскопической диагностики и хирургии. Прототип до доработок давал точность восемьдесят три целых две десятых процента и чувствительность семьдесят семь целых две десятых на тестовой выборке.</a:t>
            </a:r>
          </a:p>
          <a:p>
            <a:r>
              <a:t/>
            </a:r>
          </a:p>
          <a:p>
            <a:r>
              <a:t>И цена внимания, названная числом, — то, чего в большинстве публикаций вообще не ищут. Среднее число ложных срабатываний составило одно целое двадцать три сотых на каждое исследование. Замерено это на тридцати пяти случайно отобранных колоноскопиях, и срабатыванием считали появление рамки не короче трёх секунд. Больше одного раза за процедуру врач переводит внимание на место, где ничего нет. Это и есть ответ на вопрос, который зал задаёт про свою работу: внедрённая модель в контуре приёмки всегда имеет такую величину, и если поставщик её не называет — её не замеряли.</a:t>
            </a:r>
          </a:p>
          <a:p>
            <a:r>
              <a:t/>
            </a:r>
          </a:p>
          <a:p>
            <a:r>
              <a:t>Ограничения называются по самой статье, а не придумываются. Ослепления в исследовании не было: эндоскописты знали, что работают с помощником и что их результаты сравнивают, и авторы прямо называют это возможным источником предвзятости. Из окончательного расчёта исключены один центр и пять эндоскопистов разных учреждений за нарушение протокола — завышение критериев включения и, как следствие, аномально высокие доли обнаружения. Оборудование было экспертного класса, персонал подготовленный, и авторы отдельно замечают, что в регионах с ограниченными ресурсами внедрение столкнётся с недостатком технической поддержки и обученного персонала.</a:t>
            </a:r>
          </a:p>
          <a:p>
            <a:r>
              <a:t/>
            </a:r>
          </a:p>
          <a:p>
            <a:r>
              <a:t>И для оси этого раздела — пробел, названный там, где он есть. У испытания нет периода наблюдения: авторы говорят это сами, отдельной строкой в ограничениях. То есть российская работа измерила ровно половину пары — что помощник даёт, пока включён, — и не измерила вторую: что становится с теми же врачами, когда его выключают. Польская работа мерила именно вторую половину и была слабее по силе доказательства. Ни одного клинического исследования, которое замерило бы обе половины на одной выборке, нет ни в России, ни где-либо ещё; жребием вторая половина измерена только на работе разработчиков, с которой раздел начался, — и клиническим тот замер не является. Вот это и есть честный ответ на вопрос «а что у нас»: прирост замерен лучше, чем у них, а расход не замерен вовсе.</a:t>
            </a:r>
          </a:p>
          <a:p>
            <a:r>
              <a:t/>
            </a:r>
          </a:p>
          <a:p>
            <a:r>
              <a:t>И строка кадра про страну — её надо произнести обеими половинами, иначе выйдет либо похвальба, либо попрёк. Первая: развёрнутый в России радиологический ИИ-проект крупнейший в мире по заявленным числам. Вторая: замер того, что это внедрение сделало с навыком врачей, мы искали — по публикациям программ внедрения, профильным журналам и отчётам об эксплуатации — и не нашли ни одного. Масштаб внедрения и масштаб измерения последствий — две разные вещи, и первое о втором не говорит ничего.</a:t>
            </a:r>
          </a:p>
          <a:p>
            <a:r>
              <a:t/>
            </a:r>
          </a:p>
          <a:p>
            <a:r>
              <a:t>И одно замечание про время выведения прибора, потому что оно закрывает второе возражение к польской работе. Здесь эту величину замерили: медиана девять минут против восьми, различие незначимо. То есть в российском испытании прирост не объясняется тем, что с помощником стали выводить прибор медленнее. У польской работы этого замера не было, и именно поэтому её находку нельзя проверить до конца.</a:t>
            </a:r>
          </a:p>
          <a:p>
            <a:r>
              <a:t/>
            </a:r>
          </a:p>
          <a:p>
            <a:r>
              <a:t>И последний шаг разбора — что переехало. Форм здесь две, и обе надо произнести.</a:t>
            </a:r>
          </a:p>
          <a:p>
            <a:r>
              <a:t/>
            </a:r>
          </a:p>
          <a:p>
            <a:r>
              <a:t>Сменился исполнитель: часть поиска на этом месте делает теперь допущенное устройство — удостоверение Росздравнадзора, на вход видеопоток, на выходе система сама отмечает участки. Это тот случай, который словарь отводит от польской работы и оставляет за включённым состоянием контура. Счёт у формы — четыреста тринадцать процедур с находкой из тысячи против четырёхсот семидесяти двух.</a:t>
            </a:r>
          </a:p>
          <a:p>
            <a:r>
              <a:t/>
            </a:r>
          </a:p>
          <a:p>
            <a:r>
              <a:t>И нагрузка выросла на том же месте: каждая подсказка стоит секунд внимания тому же врачу на том же рабочем месте, и секунды посчитаны — одна целая двадцать три сотых ложного срабатывания на исследование там, где без системы их ноль.</a:t>
            </a:r>
          </a:p>
          <a:p>
            <a:r>
              <a:t/>
            </a:r>
          </a:p>
          <a:p>
            <a:r>
              <a:t>Почему здесь не «шаг появился», хотя эта форма просится первой. Новый шаг имел бы свою цену во времени: там, где она в лекции посчитана, разбор расхождения стоил двух минут двенадцати секунд против сорока восьми секунд чтения. Здесь время осмотра замерено и не изменилось — медиана девять минут против восьми, значимости нет. Значит рамка попадает внутрь уже существующего шага, новой операции не создавая. Форму отвергли по замеру, и сказать это залу стоит прямо.</a:t>
            </a:r>
          </a:p>
          <a:p>
            <a:r>
              <a:t/>
            </a:r>
          </a:p>
          <a:p>
            <a:r>
              <a:t>**Источники.** </a:t>
            </a:r>
            <a:r>
              <a:rPr u="sng">
                <a:solidFill>
                  <a:srgbClr val="065A82"/>
                </a:solidFill>
                <a:hlinkClick r:id="rId3"/>
              </a:rPr>
              <a:t>Ачкасов, Шелыгин и соавт., Колопроктология 2025; 24(3):12–21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стоит перед сводом, и стоит так потому, что без него свод говорил бы про весь класс инструмента то, что верно только для одной его половины. Оба клинических разбора раздела — и польский, и российский — сняты на одном режиме: подсветка на видео во время процедуры. Режимов у этого класса два, и они дают разные последствия для человека. Если это не развести сейчас, зал унесёт с лекции вывод «ИИ расходует навык», а верный вывод другой и сложнее.</a:t>
            </a:r>
          </a:p>
          <a:p>
            <a:r>
              <a:t/>
            </a:r>
          </a:p>
          <a:p>
            <a:r>
              <a:t>Первый режим — подсветка на видео. Врач ведёт процедуру сам, рамка появляется на участке изображения в реальном времени, и он решает, доверять ей или нет. Место работы остаётся за человеком целиком: он вводит прибор, выводит его, заглядывает за складку, снимает найденное. Инструмент не занял ни одного из этих действий, он добавил подсказку к одному из них. И вот ровно на этом месте расход навыка измерен: у тех же девятнадцати врачей в процедурах без помощника доля упала с двухсот восьмидесяти четырёх находок на тысячу процедур до двухсот двадцати четырёх, за три месяца. Это и есть разбор, который мы только что прошли.</a:t>
            </a:r>
          </a:p>
          <a:p>
            <a:r>
              <a:t/>
            </a:r>
          </a:p>
          <a:p>
            <a:r>
              <a:t>Второй режим — второй читатель. Снимок уже сделан, его читает человек, и программа требует, чтобы читали двое независимо. Модель встаёт на место второго читателя и выдаёт своё заключение. Здесь человека с места снимают совсем, и это не фигура речи: в шведской программе объём человеческого чтения оказался ниже на сорок четыре и три десятых процента — это промежуточный анализ безопасности, восемьдесят тысяч тридцать три обследованных. Больше сорока процентов работы, которую раньше делали люди, люди делать перестали.</a:t>
            </a:r>
          </a:p>
          <a:p>
            <a:r>
              <a:t/>
            </a:r>
          </a:p>
          <a:p>
            <a:r>
              <a:t>И теперь то, ради чего кадр стоит отдельно от свода. Расход навыка на втором месте не измерен — и измерен быть не может. Не потому, что никто не взялся, и не потому, что замер трудный: мерить там некого. Человека, который читал бы вторым и чей навык можно было бы сравнить «до» и «после», на этом месте больше нет. Это важно отличать от всех прочих пробелов, которые мы сегодня называли. Те пробелы — свойство нашего знания: процедуры нет, но её можно завести. Этот — свойство принятого решения: пока место занято моделью, замерять нечего, и никакая будущая работа этого не исправит.</a:t>
            </a:r>
          </a:p>
          <a:p>
            <a:r>
              <a:t/>
            </a:r>
          </a:p>
          <a:p>
            <a:r>
              <a:t>Отсюда и формулировка, которую стоит произнести дословно: навык расходуется там, где человек формально остался. Пока он на месте и работу продолжает делать он, объём его собственной практики тихо падает, и падение это можно поймать — польская работа его и поймала. Там, где его сняли, падать уже нечему, и беспокоиться об износе бессмысленно: беспокоиться надо о другом, о том, кто будет читать, если модель завтра отзовут, и откуда возьмутся люди, которых не на чем было учить. Этот вопрос мы уже видели сегодня в цитологии: поток упал, центры свели с сорока пяти до восьми, учить стало не на чем, и никакой модели в той истории не было вовсе.</a:t>
            </a:r>
          </a:p>
          <a:p>
            <a:r>
              <a:t/>
            </a:r>
          </a:p>
          <a:p>
            <a:r>
              <a:t>Отдельно про то, чего этот кадр не утверждает. Он не говорит, что второй режим лучше или безопаснее. Он говорит, что цена у двух режимов разная по природе, и измеряется она разными величинами: у первого — долей находок у того же человека, у второго — тем, сколько людей осталось в профессии и чему их учат. Сравнивать эти две цены одним числом нельзя, и попытка такого сравнения была бы ровно тем, за что мы весь вечер разбираем чужие работы.</a:t>
            </a:r>
          </a:p>
          <a:p>
            <a:r>
              <a:t/>
            </a:r>
          </a:p>
          <a:p>
            <a:r>
              <a:t>И последнее, перед сводом стадии. Дальше мы соберём стадию целиком — что получается, чего не получается, что из этого переносится на инженерную работу вообще, — и различение двух режимов там уже не повторяется: оно сделано здесь, и свод на него опирается.</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 перенос на зал, и это та часть стадии, которая касается слушателей прямо. То же явление измерено рандомизированно, но не в клинике, а в учёбе: полевое исследование примерно на тысяче старшеклассников, математика, три группы — контроль, свободный доступ к модели и модель с учительскими ограничителями, которая подсказывает вместо ответа. Во время практики свободный доступ дал плюс сорок восемь процентов к контролю, модель с ограничителями плюс сто двадцать семь. А на экзамене без доступа к модели группа свободного доступа оказалась на семнадцать процентов хуже контроля, группа с ограничителями — примерно на уровне контроля. Читается это так: практика с неограниченным помощником создаёт видимость обучения. И тут же измерено средство: ограничители эффект снимают, то есть лечится это устройством доступа, а не количеством практики.</a:t>
            </a:r>
          </a:p>
          <a:p>
            <a:r>
              <a:t/>
            </a:r>
          </a:p>
          <a:p>
            <a:r>
              <a:t>Рядом, в том же жанре переноса, рандомизированный опыт на двухстах шестнадцати членах шахматных клубов: свободный доступ к помощи дал плюс тридцать процентов прироста против плюс шестидесяти четырёх там, где момент подсказки выбирала система, и свободная группа сыграла на двадцать четыре процента меньше тренировочных партий. Цену платит право самому решать, когда попросить помощь. Это рабочий документ, не рецензированная публикация, и произносить это надо вместе с числом.</a:t>
            </a:r>
          </a:p>
          <a:p>
            <a:r>
              <a:t/>
            </a:r>
          </a:p>
          <a:p>
            <a:r>
              <a:t>И честный противовес, без которого ось превращается в проповедь: в рандомизированном эксперименте с шестьюдесятью девятью новичками, учившимися с помощником и сдававшими тест без него через неделю, деквалификация не подтвердилась. Сила средняя, подростки, задачи начального уровня, горизонт неделя. Назвать это опровержением клинической находки нельзя — как нельзя назвать и школьный опыт её повторением: другая работа, другие люди, другая задача. Совпадение знака в одну сторону и расхождение в другую означают ровно то, что означают: механизм похож, величина не переносится, и горизонт измерения решает исход.</a:t>
            </a:r>
          </a:p>
          <a:p>
            <a:r>
              <a:t/>
            </a:r>
          </a:p>
          <a:p>
            <a:r>
              <a:t>И то, чего нет совсем. Повторения клинической находки на реальной работе нет, и пробел этот назван числом: двадцать две отдельные попытки поиска — восемнадцать формулировок запроса и четыре целевых обращения к страницам; число про поиск, о предмете оно не говорит ничего. Продольного измерения навыка у тех, кто учился сразу с помощником и другой работы не знал, не существует вовсе. Про людей в этой аудитории данных нет ни у кого — ни о просевшем навыке, ни о сохранившемся. Клиническая находка эту пустоту не заполняет: она снята на специалистах с без малого тридцатилетним стажем, который у слушателя ещё впереди.</a:t>
            </a:r>
          </a:p>
          <a:p>
            <a:r>
              <a:t/>
            </a:r>
          </a:p>
          <a:p>
            <a:r>
              <a:t/>
            </a:r>
          </a:p>
          <a:p>
            <a:r>
              <a:t>Соберём стадию по тем же четырём вопросам и закончим своими пробелами.</a:t>
            </a:r>
          </a:p>
          <a:p>
            <a:r>
              <a:t/>
            </a:r>
          </a:p>
          <a:p>
            <a:r>
              <a:t>Что получается. С включённым помощником находят больше: прирост измерен в рандомизированных испытаниях и повторён многократно, и скрыть эту половину значило бы сделать то, за что разбирались поставщики, только в обратную сторону.</a:t>
            </a:r>
          </a:p>
          <a:p>
            <a:r>
              <a:t/>
            </a:r>
          </a:p>
          <a:p>
            <a:r>
              <a:t>Что не получается. Поддерживать навык — здесь измерено прямо обратное. Дать врачу обратную связь о пропуске — внутри процедуры её нет, и именно поэтому расход молчалив. Измерить доверие за месяцы реальной работы не смог никто: всё, что есть, снято в один сеанс.</a:t>
            </a:r>
          </a:p>
          <a:p>
            <a:r>
              <a:t/>
            </a:r>
          </a:p>
          <a:p>
            <a:r>
              <a:t>Что стало с работой. Две формы по словарю. Исполнитель тот же, но стал хуже: место, объём, порядок шагов и рука прежние, изменилось состояние руки. И шаг появился — дважды: посредник, переводящий вывод модели на язык, которому поверит врач, и целевой арбитраж расхождения.</a:t>
            </a:r>
          </a:p>
          <a:p>
            <a:r>
              <a:t/>
            </a:r>
          </a:p>
          <a:p>
            <a:r>
              <a:t>Что это держит. Доля обнаружения и время выведения — обе величины снимаются в обычной работе. И честно названное пустое место: процедуры, которая измеряла бы результат врача без помощника, нет ни в одной юрисдикции.</a:t>
            </a:r>
          </a:p>
          <a:p>
            <a:r>
              <a:t/>
            </a:r>
          </a:p>
          <a:p>
            <a:r>
              <a:t>Практическое следствие одно, и оно переносится за пределы медицины: ставя помощника в контур, измерять надо и результат с ним, и результат без него, и не однажды. Показатель для такого замера у профессии есть, а процедуры нет — и требовать от одного наблюдательного исследования большего, чем оно весит, была бы та же ошибка, что требовать работы от заявленной точности без знаменателя.</a:t>
            </a:r>
          </a:p>
          <a:p>
            <a:r>
              <a:t/>
            </a:r>
          </a:p>
          <a:p>
            <a:r>
              <a:t>**Источники.** </a:t>
            </a:r>
            <a:r>
              <a:rPr u="sng">
                <a:solidFill>
                  <a:srgbClr val="065A82"/>
                </a:solidFill>
                <a:hlinkClick r:id="rId3"/>
              </a:rPr>
              <a:t>Budzyń и соавт., Lancet Gastroenterology &amp; Hepatology 2025</a:t>
            </a:r>
          </a:p>
          <a:p>
            <a:r>
              <a:t/>
            </a:r>
          </a:p>
          <a:p>
            <a:r>
              <a:t>Про поток решения — то, что изменилось в нём помимо находок. Появилась роль посредника: модель выдаёт вывод, а человек переводит его на язык, которому поверит врач, и роль эта новая для отделения. Рядом измеренная зависимость, которую надо произносить вместе с её слабостью: доверие к выводу выше у тех, кто работает с моделью руками, — точечные оценки есть, статистической значимости нет. Рутинная перепроверка каждого случая при этом ушла, а на её место встал целевой арбитраж расхождения, то есть структура защиты от ошибки сменилась целиком, а не сократилась.</a:t>
            </a:r>
          </a:p>
          <a:p>
            <a:r>
              <a:t/>
            </a:r>
          </a:p>
          <a:p>
            <a:r>
              <a:t>Про смену структуры защиты от ошибки, свёрнутую на кадре в одну строку. Рутинная перепроверка каждого случая и целевой арбитраж расхождения — это не одно и то же дешевле, а разные устройства защиты: первая ловит ошибку равномерно и дёшево на единицу, второй ловит только там, где две стороны разошлись, и каждый разбор дороже чтения. Переход от первой ко второму меняет не объём работы, а то, какие ошибки вообще попадают в поле зрения проверки.</a:t>
            </a:r>
          </a:p>
          <a:p>
            <a:r>
              <a:t/>
            </a:r>
          </a:p>
          <a:p>
            <a:r>
              <a:t>И переход к сборке вечера: дальше идут девять форм словаря целиком, счёт приписок, накопительная карта и поимённый ответ на вопрос, с которого вечер начался.</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раздел не добавляет ни одного нового случая и ровно одно новое число — счёт того, сколько раз выигрыш оказался приписан не обученной модели. Остальное уже предъявлено, каждое со своей базой, и задача раздела — сложить предъявленное так, чтобы из суммы читалось то, чего не видно в отдельном случае.</a:t>
            </a:r>
          </a:p>
          <a:p>
            <a:r>
              <a:t/>
            </a:r>
          </a:p>
          <a:p>
            <a:r>
              <a:t>Порядок четырёх сводов здесь несущий, и его стоит объявить вслух. Четыре подряд — уже много, поэтому они идут разными формами: таблица форм словаря, полоса плашек, карта задач и видов данных, ведомость платежа. Причина не в красоте: прошлый круг этого раздела шёл подряд пятью однотипными сводами, и зал переставал смотреть с третьего. Скажу честно и то, что эту развёрстку портит: три формы из четырёх — табличные, и разводит их только устройство граф, а не сам жанр. Это цена сокращения хвоста вечера, и я предпочла её десяти минутам ведомостей перед финалом.</a:t>
            </a:r>
          </a:p>
          <a:p>
            <a:r>
              <a:t/>
            </a:r>
          </a:p>
          <a:p>
            <a:r>
              <a:t>Первый отвечает, что сделалось с работой: девять форм словаря, именами они стояли в начале вечера, здесь под каждой стоит счёт. Семь форм из девяти несут число, две стоят прочерком, и оба прочерка я называю прочерками.</a:t>
            </a:r>
          </a:p>
          <a:p>
            <a:r>
              <a:t/>
            </a:r>
          </a:p>
          <a:p>
            <a:r>
              <a:t>Второй отвечает, чей это результат, и он единственный несёт новое число. Из двадцати одного подробного разбора в тринадцати заявленный выигрыш или заявленная вина принадлежат не обученной модели: в двух её в механизме нет вовсе, в семи результат принадлежит порогу, составу данных, заданной цели, реализации или объёму, в четырёх число сменило предмет по дороге от первоисточника к пересказу. Там же отдельной строкой — семь российских разборов из тех же двадцати одного.</a:t>
            </a:r>
          </a:p>
          <a:p>
            <a:r>
              <a:t/>
            </a:r>
          </a:p>
          <a:p>
            <a:r>
              <a:t>Третий кладёт всё разобранное на сетку курса и тут же режет её поперёк: не по стадиям, а по типам задач, потому что один тип проходит через несколько стадий, а в одном разделе типов несколько. Главное там — не занятые клетки, а восемь пустых из двенадцати, три места за краем окна и один раздел, который в окне не занимает ничего.</a:t>
            </a:r>
          </a:p>
          <a:p>
            <a:r>
              <a:t/>
            </a:r>
          </a:p>
          <a:p>
            <a:r>
              <a:t>Четвёртый отвечает, чем заплачено, и это единственное место вечера, где четыре адреса оси названы вместе, с измерением под каждым. Им же закрывается нить, открытая на входе шестью именами искажений: встретились все шесть, а механизмом из введения назван за весь вечер ровно один.</a:t>
            </a:r>
          </a:p>
          <a:p>
            <a:r>
              <a:t/>
            </a:r>
          </a:p>
          <a:p>
            <a:r>
              <a:t>И шов вперёд, который надо произнести, а не проглотить: ответа на вопрос, с которого вечер начался, в этом разделе нет — он стоит первым кадром закрытия, сразу за этими четырьмя, и там же закрывается линия женщины с письмом.</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Словарь на экране целиком и со счётом — именами он выдавался в начале, без чисел, и с тех пор держал каждый разбор. Пользовались мы им весь разговор: на каждом разборе вместо образа «нагрузка уехала вправо» стояла названная форма с числом. Образ врёт там, где работа не переехала, а удвоилась, исчезла или осталась на месте и просела в качестве, — и девять строк нужны ровно затем, чтобы эти случаи не слиплись в один.</a:t>
            </a:r>
          </a:p>
          <a:p>
            <a:r>
              <a:t/>
            </a:r>
          </a:p>
          <a:p>
            <a:r>
              <a:t>Делится словарь по вопросу. Первые пять мерят место и объём работы: где она теперь и сколько её. Вторые четыре мерят руку, время, последствие ошибки и состояние самой руки: кто делает работу, когда и чем платит за промах. Разделение это объявлено на оси в начале и здесь только подтверждается: форма отвечает, что сделалось с работой, адрес — на каком человеческом шаге это сделалось.</a:t>
            </a:r>
          </a:p>
          <a:p>
            <a:r>
              <a:t/>
            </a:r>
          </a:p>
          <a:p>
            <a:r>
              <a:t>Пройдём по несущим строкам. Нагрузка переехала на другой шаг — запись приёма: время в заметке упало на девять с половиной процентов против контрольной группы, а активное время правки не изменилось ни у одного из двух инструментов. То есть набор стал короче, а вычитка осталась ровно та же — работа переехала с набора на чтение чужого текста, и это самый ясный случай первой формы в вечере.</a:t>
            </a:r>
          </a:p>
          <a:p>
            <a:r>
              <a:t/>
            </a:r>
          </a:p>
          <a:p>
            <a:r>
              <a:t>Шаг появился — разбор расхождения при замене второго читателя моделью, и это сильнейшая строка словаря. Два центра Национальной службы здравоохранения Англии, пятьдесят тысяч женщин: без модели на арбитраж уходило три целых девять десятых процента чтений в одном центре и одиннадцать целых три десятых в другом, с моделью — девять целых четыре десятых и тринадцать целых восемь десятых. Почти втрое в первом и на четверть во втором, и разброс этот — не шум, а разница протокола. Рядом норвежское измерение на четырёхстах сорока одной тысяче случаев: одно первичное чтение сорок восемь секунд, разбор расхождения две минуты двенадцать, то есть один арбитраж по времени равен примерно пяти чтениям.</a:t>
            </a:r>
          </a:p>
          <a:p>
            <a:r>
              <a:t/>
            </a:r>
          </a:p>
          <a:p>
            <a:r>
              <a:t>Исполнитель сменился — тут две опоры. Первая: съёмка глазного дна на приёме вместо визита к офтальмологу, явка выросла с двадцати двух из ста до ста. Вторая, отечественная: российский помощник на колоноскопии берёт на себя часть поиска, и процедур с находкой становится четыреста семьдесят две из тысячи против четырёхсот тринадцати. Тот же случай несёт вторую опору четвёртой формы: одна целая двадцать три сотых ложного срабатывания на исследование там, где их было ноль, — нагрузка выросла у того же врача на том же месте. Первая опора четвёртой формы — модель сепсиса: тревога приходит на восемнадцать госпитализаций из ста, подтверждается двенадцать из ста поднятых тревог, и считано это от разного.</a:t>
            </a:r>
          </a:p>
          <a:p>
            <a:r>
              <a:t/>
            </a:r>
          </a:p>
          <a:p>
            <a:r>
              <a:t>Нагрузка на том же месте упала — объём человеческого чтения в шведской программе ниже на сорок четыре с лишним процента при большем числе найденных раков, восемьдесят тысяч женщин. Обратная сторона той же формы — сужение зрительного поиска при ложной подсказке: объём работы упал, и это оказалось ценой, а не выигрышем.</a:t>
            </a:r>
          </a:p>
          <a:p>
            <a:r>
              <a:t/>
            </a:r>
          </a:p>
          <a:p>
            <a:r>
              <a:t>Сместилась цена ошибки — две опоры, и обе про подгруппу. На тёмной коже три модели различают больного и здорового хуже на девять-пятнадцать пунктов из ста, и лечит это состав набора, а не алгоритм. При равном балле отбора у чернокожих пациентов хронических болезней больше на двадцать шесть из ста — балл назвал одинаково здоровыми людей, здоровье которых различается. Средняя по выборке в обоих случаях осталась приличной; платит подгруппа.</a:t>
            </a:r>
          </a:p>
          <a:p>
            <a:r>
              <a:t/>
            </a:r>
          </a:p>
          <a:p>
            <a:r>
              <a:t>Исполнитель тот же, но стал хуже — две опоры, и обе прозвучали. Хирурги с подсказкой модели на септическом шоке: ноль целых семьсот двенадцать против ноль целых восемьсот двадцать без подсказки. И единственный замер износа на реальной клинической работе: у тех же девятнадцати врачей процедур с находкой стало двести двадцать четыре из тысячи против двухсот восьмидесяти четырёх, минус шестьдесят находок на тысячу.</a:t>
            </a:r>
          </a:p>
          <a:p>
            <a:r>
              <a:t/>
            </a:r>
          </a:p>
          <a:p>
            <a:r>
              <a:t>Теперь про две формы без счёта, и замазывать их похожим случаем запрещено. Отмены шага без появления нового предмета за эту лекцию не встретилось ни разу: три кандидата проверены, и у каждого взамен появился новый шаг. Второй человеческий читатель ушёл с рабочего места, но взамен появился шаг — решать, нужно ли этому исследованию второе чтение. Рутинная перепроверка каждого случая ушла, а на её место пришёл разбор расхождения, посчитанный в минутах. Набор текста сократился, а вычитка чужого черновика появилась. Утверждать из этого «модель не убирает шаги» нельзя: такое утверждение шире любого замера лекции. У формы, мерящей порядок работ, счёта нет по другой причине: порядок в разборах переставлялся — например, кто читает первым, человек или модель, — но посчитан как порядок он не был ни в одном случае.</a:t>
            </a:r>
          </a:p>
          <a:p>
            <a:r>
              <a:t/>
            </a:r>
          </a:p>
          <a:p>
            <a:r>
              <a:t>И различение, на котором держится восьмая форма, потому что без него её спутают с соседними. В пятой форме сменилась рука; здесь сравнение построено внутри тех же девятнадцати врачей, и смену исполнителя измерение прямо исключает. В форме четыре-а упал объём операции; здесь объём тот же, упала доля находок, то есть единицы измерения разные. Быстрая проверка — вопрос о знаменателе: у формы четыре-а его нет вовсе, там абсолютный объём; у восьмой он есть и не менялся. Пятая и восьмая стоят на одном разборе, и это не противоречие: у колоноскопии с помощником два состояния контура — пока помощник включён, часть поиска делает модель, а когда выключен, та же рука находит меньше, чем находила до его появления.</a:t>
            </a:r>
          </a:p>
          <a:p>
            <a:r>
              <a:t/>
            </a:r>
          </a:p>
          <a:p>
            <a:r>
              <a:t>Вопрос залу стоит задать и дождаться ответа: номер формы из собственной работы называется за несколько секунд, а названный номер потом держит весь остаток разговора.</a:t>
            </a:r>
          </a:p>
          <a:p>
            <a:r>
              <a:t/>
            </a:r>
          </a:p>
          <a:p>
            <a:r>
              <a:t>**Источники — по формам, которые несут счёт.** Форма 1, время заметки: </a:t>
            </a:r>
            <a:r>
              <a:rPr u="sng">
                <a:solidFill>
                  <a:srgbClr val="065A82"/>
                </a:solidFill>
                <a:hlinkClick r:id="rId3"/>
              </a:rPr>
              <a:t>трёхрукое рандомизированное испытание, препринт medRxiv 2025</a:t>
            </a:r>
            <a:r>
              <a:t>. Форма 3, доля чтений на арбитраж и разбор расхождения в минутах труда: </a:t>
            </a:r>
            <a:r>
              <a:rPr u="sng">
                <a:solidFill>
                  <a:srgbClr val="065A82"/>
                </a:solidFill>
                <a:hlinkClick r:id="rId4"/>
              </a:rPr>
              <a:t>Уоррен и соавт., Nature Cancer 2026</a:t>
            </a:r>
            <a:r>
              <a:t> и </a:t>
            </a:r>
            <a:r>
              <a:rPr u="sng">
                <a:solidFill>
                  <a:srgbClr val="065A82"/>
                </a:solidFill>
                <a:hlinkClick r:id="rId5"/>
              </a:rPr>
              <a:t>Hovda, Holen, Hofvind, European Radiology 2026</a:t>
            </a:r>
            <a:r>
              <a:t>. Форма 4, тревога часто и подтверждается редко: </a:t>
            </a:r>
            <a:r>
              <a:rPr u="sng">
                <a:solidFill>
                  <a:srgbClr val="065A82"/>
                </a:solidFill>
                <a:hlinkClick r:id="rId6"/>
              </a:rPr>
              <a:t>Wong, Otles и соавт., JAMA Internal Medicine 2021, с эрратой того же журнала</a:t>
            </a:r>
            <a:r>
              <a:t>. Форма 4а, две реализации с обратными знаками: </a:t>
            </a:r>
            <a:r>
              <a:rPr u="sng">
                <a:solidFill>
                  <a:srgbClr val="065A82"/>
                </a:solidFill>
                <a:hlinkClick r:id="rId7"/>
              </a:rPr>
              <a:t>Taib и соавт., Radiology 2026</a:t>
            </a:r>
            <a:r>
              <a:t> и </a:t>
            </a:r>
            <a:r>
              <a:rPr u="sng">
                <a:solidFill>
                  <a:srgbClr val="065A82"/>
                </a:solidFill>
                <a:hlinkClick r:id="rId8"/>
              </a:rPr>
              <a:t>Gommers и соавт., Radiology 2025</a:t>
            </a:r>
            <a:r>
              <a:t>. Форма 5, явка и объём чтения: </a:t>
            </a:r>
            <a:r>
              <a:rPr u="sng">
                <a:solidFill>
                  <a:srgbClr val="065A82"/>
                </a:solidFill>
                <a:hlinkClick r:id="rId9"/>
              </a:rPr>
              <a:t>Wolf и соавт., Nature Communications 2024</a:t>
            </a:r>
            <a:r>
              <a:t> и </a:t>
            </a:r>
            <a:r>
              <a:rPr u="sng">
                <a:solidFill>
                  <a:srgbClr val="065A82"/>
                </a:solidFill>
                <a:hlinkClick r:id="rId10"/>
              </a:rPr>
              <a:t>анализ безопасности MASAI, Lancet Oncology 2023</a:t>
            </a:r>
            <a:r>
              <a:t>. Форма 7, обе опоры: </a:t>
            </a:r>
            <a:r>
              <a:rPr u="sng">
                <a:solidFill>
                  <a:srgbClr val="065A82"/>
                </a:solidFill>
                <a:hlinkClick r:id="rId11"/>
              </a:rPr>
              <a:t>Daneshjou и соавт., Science Advances 2022</a:t>
            </a:r>
            <a:r>
              <a:t> и </a:t>
            </a:r>
            <a:r>
              <a:rPr u="sng">
                <a:solidFill>
                  <a:srgbClr val="065A82"/>
                </a:solidFill>
                <a:hlinkClick r:id="rId12"/>
              </a:rPr>
              <a:t>Obermeyer и соавт., Science 2019</a:t>
            </a:r>
            <a:r>
              <a:t>. Форма 8, обе опоры: </a:t>
            </a:r>
            <a:r>
              <a:rPr u="sng">
                <a:solidFill>
                  <a:srgbClr val="065A82"/>
                </a:solidFill>
                <a:hlinkClick r:id="rId13"/>
              </a:rPr>
              <a:t>Budzyń и соавт., Lancet Gastroenterology &amp; Hepatology 2025</a:t>
            </a:r>
            <a:r>
              <a:t> и </a:t>
            </a:r>
            <a:r>
              <a:rPr u="sng">
                <a:solidFill>
                  <a:srgbClr val="065A82"/>
                </a:solidFill>
                <a:hlinkClick r:id="rId14"/>
              </a:rPr>
              <a:t>модель против чутья хирурга, Journal of Trauma 2023</a:t>
            </a:r>
            <a:r>
              <a:t>. Формы 4 и 5, вторая опора у обеих: </a:t>
            </a:r>
            <a:r>
              <a:rPr u="sng">
                <a:solidFill>
                  <a:srgbClr val="065A82"/>
                </a:solidFill>
                <a:hlinkClick r:id="rId15"/>
              </a:rPr>
              <a:t>Ачкасов, Шелыгин и соавт., Колопроктология 2025; 24(3):12–21</a:t>
            </a:r>
            <a:r>
              <a:t>. Формы 2 и 6 источника не имеют по существу: у первой случая не встретилось, у второй счёта нет, и сказано это на кадре прямо.</a:t>
            </a:r>
          </a:p>
          <a:p>
            <a:r>
              <a:t/>
            </a:r>
          </a:p>
          <a:p>
            <a:r>
              <a:t>**Что каждая форма мерит — колонка «мерит», снятая с кадра (#293, Этап D, П6-б.4: таблица на одиннадцать строк укрупнена переносом второстепенной колонки в заметки). Произносится по ходу таблицы:**</a:t>
            </a:r>
          </a:p>
          <a:p>
            <a:r>
              <a:t/>
            </a:r>
          </a:p>
          <a:p>
            <a:r>
              <a:t>- **Нагрузка переехала на другой шаг** — место</a:t>
            </a:r>
          </a:p>
          <a:p>
            <a:r>
              <a:t>- **Шаг исчез совсем** — место</a:t>
            </a:r>
          </a:p>
          <a:p>
            <a:r>
              <a:t>- **Шаг появился** — место</a:t>
            </a:r>
          </a:p>
          <a:p>
            <a:r>
              <a:t>- **Нагрузка выросла на том же месте** — объём</a:t>
            </a:r>
          </a:p>
          <a:p>
            <a:r>
              <a:t>- **Нагрузка на том же месте упала** — объём</a:t>
            </a:r>
          </a:p>
          <a:p>
            <a:r>
              <a:t>- **Сменился исполнитель** — рука</a:t>
            </a:r>
          </a:p>
          <a:p>
            <a:r>
              <a:t>- ***Изменился порядок работ*** — *порядок*</a:t>
            </a:r>
          </a:p>
          <a:p>
            <a:r>
              <a:t>- **Сместилась цена ошибки** — цена ошибки</a:t>
            </a:r>
          </a:p>
          <a:p>
            <a:r>
              <a:t>- **Исполнитель тот же, но стал хуже** — рука</a:t>
            </a:r>
          </a:p>
          <a:p>
            <a:r>
              <a:t>- ***Исполнитель тот же, но стал лучше*** — *рука*</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 единственное новое число вечера, и оно про нас самих, а не про чужую работу. Все остальные числа лекции уже предъявлены, каждое со своей базой; здесь складывается то, чего не видно ни в одном отдельном случае: как часто, разбирая внедрение модели, мы доходили до механизма и обнаруживали, что выигрыш или вина принадлежат чему-то другому.</a:t>
            </a:r>
          </a:p>
          <a:p>
            <a:r>
              <a:t/>
            </a:r>
          </a:p>
          <a:p>
            <a:r>
              <a:t>Знаменатель назову прямо, потому что его можно проверить. Двадцать один — это подробные разборы, те, что дивайдер каждого раздела называет по именам: четыре в скрининге, пять в инструментальной диагностике, шесть в постановке диагноза, три в документации, три в квалификации. Кадр «Пример такой-то, цена» или «Пример такой-то, устройство» — часть своего разбора, а не отдельный случай, иначе знаменатель задвоился бы. Тринадцать — это те разборы, где на экране стояло, чему именно принадлежит результат. Проверяется это открытием кадра: находите строку про механизм и сверяете её с тем, что я сейчас говорю.</a:t>
            </a:r>
          </a:p>
          <a:p>
            <a:r>
              <a:t/>
            </a:r>
          </a:p>
          <a:p>
            <a:r>
              <a:t>Первая графа самая простая и самая неприятная. Модели в механизме нет вовсе, а разговор о ней идёт. Сортировка обращений первой линии: экзамен восемьдесят один против семидесяти двух у врачей, инвестиций больше миллиарда, оценка четыре с лишним миллиарда — а внутри, по словам человека, который отвечал там за регуляторные вопросы, дерево решений «если — то» в таблице. Проверка здесь одна и работает всегда: уберите обученную модель. Если механизм продолжает работать, значит он и работал без неё. Второй случай той же графы тоньше и ближе к залу: износ навыка. Мы привыкли считать, что навык расходует модель, — а в цитологии Великобритании поток на чтение упал на восемьдесят-восемьдесят пять из ста после перехода на другой лабораторный тест, и центров осталось восемь из сорока пяти. Навык расходует переданный объём работы. Модель — лишь один из способов его передать, и далеко не самый мощный.</a:t>
            </a:r>
          </a:p>
          <a:p>
            <a:r>
              <a:t/>
            </a:r>
          </a:p>
          <a:p>
            <a:r>
              <a:t>Вторая графа самая населённая, семь разборов из двадцати одного, и в ней модель есть. Результат при этом принадлежит не ей. Экономия в московской сортировке профилактических снимков пришла не из того, что чтение подешевело: один снимок у человека стал дороже, а экономия целиком из тех пятидесяти пяти снимков из ста, которых не читает никто. Разрыв в точности на тёмной коже принадлежит составу обучающего набора. Несправедливость отбора в программу повышенного внимания принадлежит заданной цели: модель обучали предсказывать расходы, а решение принимали о болезни. Знак эффекта подсказки радиологу принадлежит порядку её предъявления — та же величина, другой порядок, обратный знак. Эффект автоматической записи приёма принадлежит реализации, а не классу инструментов: из двух инструментов в одном испытании у второго изменений не было вовсе. И класс модели сепсиса — штрафованная логистическая регрессия, а не глубокая сеть, которую в ней предполагают.</a:t>
            </a:r>
          </a:p>
          <a:p>
            <a:r>
              <a:t/>
            </a:r>
          </a:p>
          <a:p>
            <a:r>
              <a:t>Третья графа — про тех, кто пересказывает, и для инженера она самая практичная. Здесь первоисточник часто аккуратен, а ошибка рождается по дороге. Пятьдесят шесть целых семь десятых процента сэкономленной нагрузки двойного чтения — это пересчёт по сценарию, который сами авторы назвали вымышленным, а в реально внедрённой практике модель не заменила ни одного человеческого чтения, то есть ноль. Шестьдесят два целых восемь десятых процента в отечественном голосовом вводе — доля врачей, которые так считают, а не измеренное время. «Эффекта нет» у патологов — результат отчёта с одним числом, когда на группе прибавка незначима, а в обе стороны эффект вчетверо. Масштаб внедрения, крупнейший в мире по заявленным числам, подан как доказательство качества, тогда как замера последствий нет.</a:t>
            </a:r>
          </a:p>
          <a:p>
            <a:r>
              <a:t/>
            </a:r>
          </a:p>
          <a:p>
            <a:r>
              <a:t>Про семь отечественных разборов скажу отдельно, потому что это та практика, в которую часть зала может завтра попасть руками. Москва дважды: полмиллиона профилактических снимков с автономной сортировкой и три с половиной тысячи томограмм головы, где автономию как раз не дали. Протокол приёма, который заполняет голосовой помощник, и голосовой ввод протокола лучевого исследования. И колоноскопический помощник, испытанный жребием на тысяче с лишним пациентов в Москве и Уфе. Два добавились последними: модель на месте второго читателя маммограмм в скрининге и модель, предлагающая заключительный диагноз по медкарте. По разделам они лежат неровно, и это я тоже называю: в двух разделах отечественных разборов по два, в трёх по одному, и без отечественного разбора не осталось ни одного раздела.</a:t>
            </a:r>
          </a:p>
          <a:p>
            <a:r>
              <a:t/>
            </a:r>
          </a:p>
          <a:p>
            <a:r>
              <a:t>И про три строки, которые до экрана не доехали. Называю их не из аккуратности, а потому что это и есть мера того, сколько линии потеряно при сокращении лекции. Сильнейшая — рецензируемый обзор по теме деквалификации, который перепутал шесть из семи своих собственных первоисточников: восемь ординаторов стали тридцатью двумя, тысяча четыреста сорок три колоноскопии стали «более двадцати трёх тысяч», наблюдательное исследование названо рандомизированным. Цена этой строки в разряде источника: это рецензируемый обзор, и он врёт о своих же источниках, то есть ошибка живёт выше блога — там, где читатель обычно уже не проверяет. Вторая — «время описания исследования сократилось с двадцати минут до трёх секунд»: три секунды на подготовку заключения врачом физически невозможны, это, по всей видимости, время работы модели, поданное как время работы врача. Третья — «модель раннего предупреждения снизила смертность», где эффект принадлежит новой роли в процессе, отдельной медсестре быстрого реагирования, а не качеству модели.</a:t>
            </a:r>
          </a:p>
          <a:p>
            <a:r>
              <a:t/>
            </a:r>
          </a:p>
          <a:p>
            <a:r>
              <a:t>Приём, который зал уносит, стоит произнести дважды — здесь и на последнем кадре. У любого заявленного эффекта спрашивайте, от чего он посчитан. У любого пересказанного — открывайте первоисточник. Это две разные проверки, и вторая дешевле, чем кажется: в трёх случаях из четырёх в третьей графе хватило открыть сам источник и сверить выборку.</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выводов стадий вы уже слышали, каждый на своём месте. Этот кадр режет тот же материал поперёк: не по стадиям, а по типам задач, и смысл реза в том, что один тип задачи проходит через несколько стадий, а один раздел несёт несколько типов. Распознавание на изображении встречалось нам и в скрининге, и в инструментальной диагностике, и в постановке диагноза; прогноз на структурированных данных — в диагностике и при постановке диагноза. Если смотреть по стадиям, кажется, что у каждой стадии своя история. Если смотреть по типам, видно другое: граница между «работает» и «не работает» у одного типа задачи везде одна и та же, независимо от стадии.</a:t>
            </a:r>
          </a:p>
          <a:p>
            <a:r>
              <a:t/>
            </a:r>
          </a:p>
          <a:p>
            <a:r>
              <a:t>Про саму таблицу и её счёт. Двенадцать клеток — это окно курсовой сетки из сорока двух: четыре строки задач на три вида данных. Поиск и генерация сведены в окне одной строкой, планирования в нём нет, и четырёх видов данных — звука, видео, кода и смешанных комбинаций — тоже. Окно взято ровно под то, что лекция разбирает в клинике, и считать по нему проще: двенадцать клеток пересчитываются глазами за несколько секунд, сорок две — нет. Проверить мой счёт можно прямо с экрана: в каждой строке назван ровно один вид данных, строк четыре, значит занятых клеток четыре, а пустых восемь.</a:t>
            </a:r>
          </a:p>
          <a:p>
            <a:r>
              <a:t/>
            </a:r>
          </a:p>
          <a:p>
            <a:r>
              <a:t>Восемь пустых клеток — такое же содержание, как четыре занятых, и это надо сказать вслух. Классификации и распознавания на тексте в лекции нет вовсе; поиска и генерации на изображении и на структурированных данных нет; прогноза на тексте и на изображении нет. Там либо инструмента такого класса в клинике нет, либо он есть, но цену ошибки в нём никто не удерживает процедурой — а раз процедуры нет, то и разбирать нечего. Честная пустая клетка лучше выдуманной занятой.</a:t>
            </a:r>
          </a:p>
          <a:p>
            <a:r>
              <a:t/>
            </a:r>
          </a:p>
          <a:p>
            <a:r>
              <a:t>Имена разборов внутри занятых клеток — ответ на вопрос, зачем курс держит сетку. Инструменты пяти разделов уложились в четыре клетки. Классификация на изображении занята дважды: скринингом, где снимают глазное дно, и инструментальной диагностикой, где оценивают кожное образование. Распознавание на изображении трижды: скрининг с маммограммой, диагностика с сортировкой потока на рентгене и томографии, постановка диагноза с замером взгляда над той же маммограммой. Поиск и генерация на тексте трижды: сортировка обращения до приёма, чтение описаний случаев языковой моделью и запись приёма с выписным эпикризом. Прогноз на структурированных данных дважды: отбор в программу повышенного внимания и модель раннего предупреждения о сепсисе. Класс модели разделы не различает; различают их цена промаха и процедура вокруг человека.</a:t>
            </a:r>
          </a:p>
          <a:p>
            <a:r>
              <a:t/>
            </a:r>
          </a:p>
          <a:p>
            <a:r>
              <a:t>Теперь по строкам таблицы, с числами. Распознавание на изображении работает фильтром потока: решить, что отметить и кого прочесть дважды, оно умеет — шведская программа измерила это жребием на сотне с лишним тысяч женщин, московская сортировка на полумиллионе снимков. Чего оно не даёт — основания снять чтение, и это читается в московском случае с арифметикой на экране: один снимок у человека стал дороже, а тридцать три миллиона экономии пришли целиком из тех пятидесяти пяти снимков из ста, которых не читает никто. Экономия приходит из непрочитанного, а не из точности.</a:t>
            </a:r>
          </a:p>
          <a:p>
            <a:r>
              <a:t/>
            </a:r>
          </a:p>
          <a:p>
            <a:r>
              <a:t>Классификация на изображении работает там, где снимок стандартизован и вопрос годности решён до модели. Съёмка глазного дна на приёме это показала: явка выросла с двадцати двух из ста до ста. Но ровно там же стоит и граница — в поле годность снимка решает человек без правила, и отказной поток никто не смотрит. А второй случай того же типа, кожные образования, показывает вторую границу: средняя по проверочному набору осталась приличной, а платит подгруппа, которой в обучающем наборе было мало.</a:t>
            </a:r>
          </a:p>
          <a:p>
            <a:r>
              <a:t/>
            </a:r>
          </a:p>
          <a:p>
            <a:r>
              <a:t>Поиск и генерация на тексте работает черновиком к концу приёма, и один шаг она действительно убрала — структуру документа больше не надо держать в голове при живом человеке. Полнее человека она не пишет: в слепом сравнении ста госпитализаций машинный эпикриз вышел короче и связнее, но менее полным. И цена здесь смещается: пишет тот же, а платит читатель — тот, кто откроет документ через месяц, не видев пациента.</a:t>
            </a:r>
          </a:p>
          <a:p>
            <a:r>
              <a:t/>
            </a:r>
          </a:p>
          <a:p>
            <a:r>
              <a:t>Прогноз на структурированных данных работает сигналом рядом со шкалой, а не вместо неё. Это надо произносить именно так, потому что сравнение с нулём здесь даёт неверную картину: шкала подтверждалась восемью тревогами из ста, модель двенадцатью, и из этой полосы она не вышла. Решением прогноз не работает, и причина инженерная: цель задаёт переменная, на которой учили, а порог задаёт документ. Отбор в программу повышенного внимания — самый ясный случай: модель обучали предсказывать расходы, а решение принимали о болезни. И отдельно про то, почему именно эта клетка населена: структурированные данные там уже собраны кем-то до модели — выписанные назначения, показатели у койки, счета за лечение. Модель приходит туда, где цифры уже лежат, и это наблюдение переносится за пределы медицины почти без правок.</a:t>
            </a:r>
          </a:p>
          <a:p>
            <a:r>
              <a:t/>
            </a:r>
          </a:p>
          <a:p>
            <a:r>
              <a:t>Три места вне окна назову словами, потому что иначе они читаются как недосмотр отбора. Распознавание речи — два отечественных разбора раздела документации: протокол приёма, который заполняет голосовой помощник, и голосовой ввод протокола лучевого исследования. Работает оно набором текста вместо клавиатуры, и сорок лет до этого та же технология клавиатуре проигрывала: в восемьдесят первом году голосовой ввод шёл вчетверо дольше и давал двенадцать ошибок против нуля. Не работает — на окончаниях слов и на чужой речи в кабинете, когда в записи оказывается не только врач; и времени здесь никто не измерил — шестьдесят два с лишним процента это доля врачей, которые считают, что стало быстрее, а не измеренное время. Распознавание на видео — подсветка в реальном времени у тех, кто решает: польское испытание и отечественный ArtInCol. И измерение с сигналом прибора, где обученной модели нет вовсе: смещение прибора насыщения крови приходит до всякой модели, а система, принимающая его показания на вход, наследует смещение молча. Пустым это место назвать нельзя, занятым моделью тоже.</a:t>
            </a:r>
          </a:p>
          <a:p>
            <a:r>
              <a:t/>
            </a:r>
          </a:p>
          <a:p>
            <a:r>
              <a:t>Отдельно про раздел квалификации, потому что в окне его нет, и это надо сказать самому, не дожидаясь вопроса. Помощник, обводящий находку рамкой во время процедуры, работает на видео в реальном времени — а видео в двенадцать показанных клеток не входит. Из этого не следует, что раздел выпадает из сетки курса: в полной сетке из сорока двух клеток его место есть, оно просто за краем окна. Следует другое, и оно содержательно: единственный раздел вечера, который мерил не работу, а человека внутри неё, работает с тем видом данных, которого в нашем окне нет. Совпадение это или нет, я не знаю и утверждать не буду.</a:t>
            </a:r>
          </a:p>
          <a:p>
            <a:r>
              <a:t/>
            </a:r>
          </a:p>
          <a:p>
            <a:r>
              <a:t>Третий слой этой таблицы — чем в каждой клетке удерживают цену ошибки, и его я проговорю, потому что на кадре ему места нет. Процедуры у четырёх клеток разные, и ни одна не совпадает с другой. На распознавании изображения держат двойное чтение, арбитраж на расхождении и пересчёт доли верных тревог под местную распространённость. На классификации изображения держат годность входа, решённую до модели: система, которая сама отклоняет негодный снимок, и повторный визит через год для тех, у кого всё чисто. На прогнозе — разбор ложных тревог, посчитанный как рабочее время, и заранее утверждённый план изменений модели. На тексте — вычитка и подпись врача, разбор случая и границы заявленного назначения. Отсюда правило, которое читается по порядку этих строк: чем позже в процедуре стоит проверка, тем дольше живёт ошибка. На изображении её поймают внутри смены, на тексте — при подписи, на прогнозе — при следующем срезе переданных регулятору данных. А износ руки не поймают нигде: обзор допуска по трём странам показал, что процедуры, которая измеряла бы врача без помощника, нет ни в Великобритании, где результат работы входит в допуск числом, ни в США, где тот же показатель есть и допуском объявлен не быть, ни в России, где считают часы учёбы. Писать сюда «переаттестация» нельзя — такой процедуры нет ни в одной юрисдикции.</a:t>
            </a:r>
          </a:p>
          <a:p>
            <a:r>
              <a:t/>
            </a:r>
          </a:p>
          <a:p>
            <a:r>
              <a:t>И вывод, который стоит сказать вслух, потому что он переносится за пределы медицины почти без правок. Посмотрите на правую графу целиком: ни одна её строка не про качество модели. Годность входа, состав обучающих данных, заданная цель, назначенный порог, кто читает документ потом — это всё инженерная работа вокруг модели, и именно она решает, сработает внедрение или нет. Качество модели в этом списке не упоминается ни разу.</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ведомость отвечает на другой вопрос, чем словарь форм тремя кадрами раньше. Словарь говорит, куда переехала работа. Ведомость говорит, что стало с тем, кто её делает, и чем именно каждая строка держится. И она — единственное место вечера, где четыре адреса оси названы вместе: на входе это было обещанием, здесь под каждым словом стоит измерение с названным разрядом. Порядок строк тот же, в котором адреса объявлены на входе, и это не случайность: обещание и отчёт по нему читаются в одном порядке.</a:t>
            </a:r>
          </a:p>
          <a:p>
            <a:r>
              <a:t/>
            </a:r>
          </a:p>
          <a:p>
            <a:r>
              <a:t>Внимание. Зрительный поиск сужается при неверной подсказке: охват площади снимка фиксациями взгляда падает с одиннадцати с лишним до девяти с половиной процентов, а в людях это читается так — там, где подсказка молчала, пропущенных раков стало шестьдесят один из ста имевшихся против двадцати девяти. Знаменатель называю вместе с числом: подгруппа в четырнадцать случаев, и значимость есть. Разряд — лабораторное чтение с замером взгляда, воспроизведённое по направлению, причём в другой специальности прочтение вышло обратным, и это надо произносить вслух. Рядом вторая величина того же адреса: верное решение меняется на неверное под влиянием совета — систематический обзор. Обе про то, куда смотрит человек, а не про то, что он думает.</a:t>
            </a:r>
          </a:p>
          <a:p>
            <a:r>
              <a:t/>
            </a:r>
          </a:p>
          <a:p>
            <a:r>
              <a:t>Навык. Техника падает в работе без помощника после привыкания: с двухсот восьмидесяти четырёх процедур с находкой на тысячу до двухсот двадцати четырёх — минус шестьдесят находок на тысячу, у тех же девятнадцати врачей, наблюдательное исследование, повторения нет ни одного. Разряд называю прямо: причинности эта работа не доказывает, и авторы её не утверждают. Это самая слабая строка ведомости и при этом единственный замер износа на реальной клинической работе — обе половины произносятся вместе.</a:t>
            </a:r>
          </a:p>
          <a:p>
            <a:r>
              <a:t/>
            </a:r>
          </a:p>
          <a:p>
            <a:r>
              <a:t>Подпись. Девять машинных выписных эпикризов из одиннадцати несли хотя бы одну ошибку, и из девятнадцати выдумок крупных десять; измерено слепым сравнением ста госпитализаций, каждый документ читали двое. Что в этой строке дорого — не трудность поставить подпись, а цена отказа от неё: врача, принявшего подсказку в пользу стандартного лечения, при разборе случая оценивают как более разумного, чем отвергнувшего её, и так оценивают не только присяжные, но и двести сорок восемь немецких врачей, то есть та сторона, которую порядок и назначает разбирать. При нестандартной рекомендации разницы нет, и это проверено на равнозначность.</a:t>
            </a:r>
          </a:p>
          <a:p>
            <a:r>
              <a:t/>
            </a:r>
          </a:p>
          <a:p>
            <a:r>
              <a:t>Арбитраж, и здесь надо сказать, что изменилось с прошлого круга, потому что я сама объявляла по этому адресу прочерк. Тогда разбор арбитража жил в разделе надзора, раздел был изъят, и чужое число я подставлять отказалась: у шведского испытания арбитражная величина есть, но она меряет долю дошедших до арбитража случаев, а не цену арбитража, и подстановка была бы ровно тем, что эта лекция учит ловить. Теперь подставлять ничего не надо — своё измерение появилось в разделе скрининга. Два центра Национальной службы здравоохранения Англии, пятьдесят тысяч женщин: без модели на арбитраж уходило три целых девять десятых процента чтений в одном центре и одиннадцать целых три десятых в другом, с моделью вторым читателем — девять целых четыре десятых и тринадцать целых восемь десятых. То есть рост почти втрое в первом центре и на четверть во втором, и разброс этот не шум измерения, а разница протокола: первый центр разбирает только расхождения по отзыву, второй — все отзывы вообще. И отдельное норвежское измерение на четырёхстах сорока одной тысяче случаев посчитало это в секундах: одно первичное чтение занимает в среднем сорок восемь секунд, разбор одного расхождения — две минуты двенадцать. Один арбитраж по времени равен примерно пяти обычным чтениям. Это и есть прямой ответ на вопрос вечера: человек после модели не просматривает подсказку мимоходом, а выполняет операцию, которая стоит как пять его прежних.</a:t>
            </a:r>
          </a:p>
          <a:p>
            <a:r>
              <a:t/>
            </a:r>
          </a:p>
          <a:p>
            <a:r>
              <a:t>Про неровность оплаты. Читать ведомость надо по третьей графе, а не по второй: величина без разряда вводит в заблуждение сильнее, чем отсутствие величины. У арбитража два независимых испытания и самые крупные выборки вечера. У внимания — лабораторный замер на подгруппе в четырнадцать случаев. У навыка — одно наблюдательное исследование, которое никто не повторил. У подписи — доля документов с ошибкой, и что из этих ошибок случилось с больными, не проверил никто. Четыре строки одной таблицы, и доверие к ним разное в разы.</a:t>
            </a:r>
          </a:p>
          <a:p>
            <a:r>
              <a:t/>
            </a:r>
          </a:p>
          <a:p>
            <a:r>
              <a:t>Кто платит, и здесь вывод перевернулся против прошлого круга. Раньше в ведомости стояло, что скрининг не платит ничем: человек прочёл там каждое исследование. Теперь скрининг платит, и платит самым обеспеченным числом вечера — арбитражем. А не платит ничем из четырёх инструментальная диагностика, и это не пробел ведомости: её цена измерена и велика — двести девяносто пропущенных клинически значимых находок на полумиллионе снимков, — но лежит она в плоскости исхода, а не в плоскости человека, который решает. Четыре адреса оси мерят, что стало с решающим; пропущенная находка мерит, что стало с больным. Складывать их в одну графу нельзя.</a:t>
            </a:r>
          </a:p>
          <a:p>
            <a:r>
              <a:t/>
            </a:r>
          </a:p>
          <a:p>
            <a:r>
              <a:t>Плоскость, которой в четырёх адресах нет вовсе, — доверие и согласие. Объяснение повышает согласие и не повышает качество решения, полевой опыт. Запись приёма пишется быстрее, а вычитка остаётся — рандомизированное вместе с замером рабочего времени. Строка эта мерит отдельное, и своего адреса в четвёрке у неё нет; называю это прямо, чтобы ведомость не выглядела полной там, где она неполна.</a:t>
            </a:r>
          </a:p>
          <a:p>
            <a:r>
              <a:t/>
            </a:r>
          </a:p>
          <a:p>
            <a:r>
              <a:t>И последняя строка, без которой ведомость врёт в одну сторону: читалась бы как перечень одних потерь. Разная структура ошибок человека и модели даёт выигрыш пары — сводный замер на ста шести опытах, где знак эффекта переворачивается в зависимости от того, какая сторона сильнее на задаче, и оба интервала лежат целиком по одну сторону нуля. У строки есть направление и нет величины: долей взаимного перекрытия ошибок не измерено. Такие числа в обороте есть, но сверку по первоисточнику они не прошли, и подставить их значило бы сделать ровно то, за что лекция разбирает поставщиков.</a:t>
            </a:r>
          </a:p>
          <a:p>
            <a:r>
              <a:t/>
            </a:r>
          </a:p>
          <a:p>
            <a:r>
              <a:t>Значимости по ведомости произносятся здесь, на экране их нет: просмотренная площадь снимка сузилась при p равном 0,004, а падение в людях — при p равном 0,002. Оба числа из лабораторного замера взгляда; у падения доли обнаружения в разделе о навыке своей значимости в работе не приведено, и выдавать её за измеренную нельзя.</a:t>
            </a:r>
          </a:p>
          <a:p>
            <a:r>
              <a:t/>
            </a:r>
          </a:p>
          <a:p>
            <a:r>
              <a:t>И последней строкой ведомость закрывает нить, которую вечер открыл шестью именами. Рамка та была не наша: она из работы об искажениях при взаимодействии человека с языковой моделью, и медицинские замеры всей лекции ложатся на неё как частный случай. Теперь я возвращаюсь к тем же шести и говорю, что с каждым стало. Встретились все шесть — и это первое, что надо сказать, потому что рамка могла оказаться и пустой; не оказалась, под каждым именем в лекции стоит измеренный случай. Якорение мы видели трижды: патологи со подсказкой на срезах, стажёры с машинной расшифровкой кардиограммы — сорок два у кардиологов и двадцать семь у остальных специальностей при неверной расшифровке против восьмидесяти пяти при верной, — и хирурги, оценивающие риск после знакомства с моделью. Сужение — один лабораторный замер взгляда, он в первой строке ведомости. Износ навыка — третья строка. Поток тревог встречался чаще всех, трижды и в трёх разделах: сорок пять снимков из ста в «не норму» в московской сортировке, восемнадцать тревог на сто госпитализаций у модели сепсиса, одна целая двадцать три сотых ложного срабатывания на исследование у отечественного помощника на колоноскопии. Несогласие — четвёртая строка. Поправка — третья, и это единственное имя шестёрки с обратным знаком: врач правит заключение модели, когда находит ошибку, но вычитка не исчезла, а сменила предмет — искать теперь надо связное утверждение, которого в истории болезни не было.</a:t>
            </a:r>
          </a:p>
          <a:p>
            <a:r>
              <a:t/>
            </a:r>
          </a:p>
          <a:p>
            <a:r>
              <a:t>Второе про ту же строку, менее приятное и более важное. Механизмом из введения за весь вечер назван ровно один — износ навыка, и назван он на одном кадре в разделе квалификации. Остальные пять прошли вечер безымянными: материал был, термин не ехал с ним рядом. Это, строго говоря, не потерянная линия — линия, которая шла неназванной, и для зала разница огромная: безымянный механизм не складывается в рамку, он остаётся отдельным неприятным случаем. И ещё одно, чего на кадре нет: поток тревог своей графы платежа не получил не по недосмотру ведомости, а потому что платит он не вниманием, навыком, подписью или арбитражем, а рабочим временем живого человека, которого до инструмента в расписании не было. Это пятая плоскость, и четвёрка адресов её не держит.</a:t>
            </a:r>
          </a:p>
          <a:p>
            <a:r>
              <a:t/>
            </a:r>
          </a:p>
          <a:p>
            <a:r>
              <a:t>Про сторону пациента скажу прямо, потому что молчание здесь читалось бы как «там всё в порядке». Стадии согласия пациента в этой лекции нет вовсе: вечер шёл по стадиям, на которых решают о человеке, и ни одна из них не мерила того, о ком решают. Что известно по этой стороне и в лекцию не вошло: доверие падает, когда пациенту говорят, что врач пользуется моделью; модель как единственного читателя он почти не принимает, а как второе мнение — охотно; тревогу модели он просит проверить у врача чаще, чем наоборот; бесплатный осмотр моделью выбирает заметно чаще; без подписи автора ответ модели кажется ему сочувственнее ответа врача. Из всего этого через пять разделов повторилась одна асимметрия доверия, и то в зеркальном виде и на радиологах, а не на пациентах: находку радиолога перепроверяют втрое чаще, чем находку модели, хотя подтверждается она вшестеро реже. Пробел называю пробелом: лекция мерила решение о человеке и почти не мерила того, о ком решают.</a:t>
            </a:r>
          </a:p>
          <a:p>
            <a:r>
              <a:t/>
            </a:r>
          </a:p>
          <a:p>
            <a:r>
              <a:t>И закрываю нить той же фразой, которой кадр во входе её открыл, потому что за вечер она не изменилась, а только набрала оснований. Предупредить не помогает: предупреждение — сообщение, которое человек принимает к сведению и продолжает делать как делал. Помогают действия — рассмотреть противоположное прежде, чем согласиться; арбитраж, у которого есть время в расписании; процедура, которая мерит исполнителя без инструмента. Из этих трёх в лекции измерено первое, второе посчитано в минутах, а третьего не существует ни в одной юрисдикции.</a:t>
            </a:r>
          </a:p>
          <a:p>
            <a:r>
              <a:t/>
            </a:r>
          </a:p>
          <a:p>
            <a:r>
              <a:t>**Источники.** Адреса измерений — на разборах соответствующих разделов; тома, страницы и адреса работ стоят в подвалах тех кадров.</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я останавливаюсь на несколько секунд, и остановка эта содержательная, а не для дыхания. Четыре свода, которые только что прошли, считали вечер: девять форм переезда работы, тринадцать приписок из двадцати одного разбора, карта задач и видов данных, ведомость четырёх платежей. Все четыре отвечают на вопрос «что произошло с работой». Прежде чем отвечать на вопрос, с которого вечер начался, надо назвать вслух, какого ответа у нас нет.</a:t>
            </a:r>
          </a:p>
          <a:p>
            <a:r>
              <a:t/>
            </a:r>
          </a:p>
          <a:p>
            <a:r>
              <a:t>Вот он. Почти всё, что сегодня измерялось, измеряло поведение человека: куда смотрит взгляд и сколько времени он держится в нужной области, какую долю площади снимка радиолог обошёл, сколько находок врач сделал без помощника, что он подписал и за сколько секунд, насколько сошлось его заключение с машинным. Это настоящие измерения, снятые настоящими методами, и половина из них рандомизированные. Но предмет у них один — работа, а не человек, ради которого работа делается.</a:t>
            </a:r>
          </a:p>
          <a:p>
            <a:r>
              <a:t/>
            </a:r>
          </a:p>
          <a:p>
            <a:r>
              <a:t>Теперь оговорка, и она на кадре, а не в голосе, потому что без неё фраза выше была бы ровно тем завышением, которое мы весь вечер ловим у поставщиков. До ступени «что это сделало с больным» за вечер дошли два разбора, и первым — шведское испытание скрининга: сто пять тысяч девятьсот тридцать четыре женщины, исходы предрегистрированы. Результат этого дохождения надо произнести целиком, а не наполовину. Интервальных раков — тех, что находятся между двумя обследованиями, то есть тех, которые программа пропустила, — один и пятьдесят пять сотых на тысячу против одной и семидесяти шести сотых. Отношение частот ноль целых восемьдесят восемь сотых, доверительный интервал от шестидесяти пяти сотых до одной целой восемнадцати сотых. Интервал накрывает единицу. Значит показано не улучшение, а не-худшесть: режим с моделью не хуже прежнего, и большего это испытание не говорит.</a:t>
            </a:r>
          </a:p>
          <a:p>
            <a:r>
              <a:t/>
            </a:r>
          </a:p>
          <a:p>
            <a:r>
              <a:t>Второй — разбор хирургов, и он тоже заявлял первичный исход — сто пятьдесят больных, тридцать дней проспективного наблюдения. Его итог стоял на своём кадре: на трёх исходах из четырёх пара точнее хирурга, на септическом шоке проиграла там, где человек был сильнее. То есть ступень исхода он взял, а вывод на ней получил неоднозначный.</a:t>
            </a:r>
          </a:p>
          <a:p>
            <a:r>
              <a:t/>
            </a:r>
          </a:p>
          <a:p>
            <a:r>
              <a:t>Почему эта пауза стоит именно здесь, перед ответом. Ответ, который сейчас прозвучит, устроен как четыре ступени участия и три основания подписи. Все семь кусков этого ответа говорят про человека: что он успевает увидеть и чем держится требование, чтобы он вообще стоял в контуре. Ни один не говорит, что от этого изменилось для больного. Зал имеет право знать границу ответа прежде ответа, а не после него.</a:t>
            </a:r>
          </a:p>
          <a:p>
            <a:r>
              <a:t/>
            </a:r>
          </a:p>
          <a:p>
            <a:r>
              <a:t>И последнее, чего эта пауза не означает. Она не означает, что измерения вечера ничего не стоят: промежуточная величина — нормальная ступень замера, и градация, которой мы пользовались весь вечер, ставит её третьей из четырёх, а не нулевой. Она означает другое: всякий раз, когда поставщик говорит «модель улучшает исходы», вопрос к нему тот же, что мы задали себе на этом кадре — на какой ступени это измерено и накрывает ли интервал единицу.</a:t>
            </a:r>
          </a:p>
          <a:p>
            <a:r>
              <a:t/>
            </a:r>
          </a:p>
          <a:p>
            <a:r>
              <a:t>**Источники.** </a:t>
            </a:r>
            <a:r>
              <a:rPr u="sng">
                <a:solidFill>
                  <a:srgbClr val="065A82"/>
                </a:solidFill>
                <a:hlinkClick r:id="rId3"/>
              </a:rPr>
              <a:t>Итоговый анализ MASAI, The Lancet 2026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Закрытие устроено как сверка, а не как объявление. Фраза про участие человека прозвучала на входе обязательством лекции; здесь она возвращается заработанной, и доказывать её заново не нужно — нужно предъявить ведомость: сначала по ступеням, потом по основаниям.</a:t>
            </a:r>
          </a:p>
          <a:p>
            <a:r>
              <a:t/>
            </a:r>
          </a:p>
          <a:p>
            <a:r>
              <a:t>Про женщину с письмом, которой закрывается лестница ступеней. Она появилась на входе в первый раздел — позвали её по одному признаку, году рождения, ни одного её собственного, — и дальше шла с нами весь вечер: арифметика точности на двух группах по десять тысяч человек считалась про неё, перегородка между двумя независимыми читателями держала именно её программу, заключение по её снимку и строка исхода, которая уйдёт ей письмом, — это документы четвёртого раздела. Здесь её линия закрывается тем, что собирает весь вечер в одну мысль: четыре ступени участия — это не четыре разных контура в четырёх разных больницах. Это четыре позиции, через которые проходит одно решение об одном человеке, пока оно идёт по стадиям. На скрининге над её случаем стоял человек, читающий первым. На постановке диагноза — человек, читающий после подсказки. На профилактическом снимке лёгких — человек, который увидел бы только отмеченное моделью, а пятьдесят пять снимков из ста не читает никто. На выписке — подпись под машинным черновиком. Ступень при этом не назначал никто: она получилась такой, какой получилась, из устройства каждой процедуры.</a:t>
            </a:r>
          </a:p>
          <a:p>
            <a:r>
              <a:t/>
            </a:r>
          </a:p>
          <a:p>
            <a:r>
              <a:t>Третья ступень опаснее, чем выглядит: то, что модель не отметила, до человека не доходит никогда, и узнать о пропущенном он может только из другого источника — следующего обследования, жалобы, разбора после исхода. В московской сортировке профилактических снимков это посчитано прямо: двести девяносто клинически значимых находок нашлись только потому, что в рамках исследования все «нормы» перечитали люди, а в штатной работе такого слоя не будет. Проверить свою третью ступень можно одним вопросом к контуру: что происходит с тем, чего фильтр не показал, и кто это считает.</a:t>
            </a:r>
          </a:p>
          <a:p>
            <a:r>
              <a:t/>
            </a:r>
          </a:p>
          <a:p>
            <a:r>
              <a:t>Про силу свидетельства у четвёртой ступени, сжатую на плашке до «медиана, замер вне медицины». Медиана времени над подсказкой до её принятия — около двух секунд, и снята она на программистах с ассистентом кода, то есть вне медицины; перенос назван переносом и за клиническое измерение не выдаётся. Принятое без предварительной проверки правится потом в пятидесяти трёх процентах случаев против восемнадцати. Первая ступень, для сравнения, стоит на рандомизированном испытании программы скрининга со ста пятью тысячами женщин. Разряд падает ровно по мере того, как участие формальнее.</a:t>
            </a:r>
          </a:p>
          <a:p>
            <a:r>
              <a:t/>
            </a:r>
          </a:p>
          <a:p>
            <a:r>
              <a:t>Отдельно — про то, чего в деке больше нет, и это надо сказать, а не обойти. Почему четвёртая ступень самая частая, объясняло третье свидетельство: врача, принявшего подсказку в пользу стандартного лечения, при разборе случая оценивают как более разумного, чем отвергнувшего её, — и так оценивают не только присяжные, но и двести сорок восемь немецких врачей, то есть та сторона, которую порядок и назначает разбирать. При нестандартной рекомендации разницы нет, и это проверено на равнозначность. Этот разбор стоял в разделе надзора, раздел изъят из лекции, и ни на одном кадре деки его теперь нет. Произнести его стоит голосом, назвав прямо: это не измерение этой лекции, а материал, который из неё вышел.</a:t>
            </a:r>
          </a:p>
          <a:p>
            <a:r>
              <a:t/>
            </a:r>
          </a:p>
          <a:p>
            <a:r>
              <a:t>И одно следствие, которое стоит произнести прежде перехода к основаниям. Если самая частая ступень — та, на которой подпись есть, а чтения нет, и если отказ от согласия с подсказкой при разборе случая обходится дороже самого согласия, то формальное требование участия человека отменяет себя само. Оно требует способности возразить и одновременно делает возражение самым дорогим из доступных ходов. Чинится это не призывом и не обучением — обучение, как показал отдельный замер, ступень не повышает, — а изменением того порядка, в котором случай разбирают после исхода: пока разбор вознаграждает согласие, контур будет сползать на четвёртую ступень при любых инструкциях. Четвёртая ступень не чья-то вина: она следствие устройства процедуры и переделывается процедурой. Если у подтверждения нет времени в расписании, подпись стоит, а чтения нет.</a:t>
            </a:r>
          </a:p>
          <a:p>
            <a:r>
              <a:t/>
            </a:r>
          </a:p>
          <a:p>
            <a:r>
              <a:t>Четыре ступени описывают процедуру, а не автономию: новой лестницы здесь не вводится, сводная таблица лестниц стоит в финальной лекции.</a:t>
            </a:r>
          </a:p>
          <a:p>
            <a:r>
              <a:t/>
            </a:r>
          </a:p>
          <a:p>
            <a:r>
              <a:t>Теперь три основания, и каждое предъявляется своей ведомостью.</a:t>
            </a:r>
          </a:p>
          <a:p>
            <a:r>
              <a:t/>
            </a:r>
          </a:p>
          <a:p>
            <a:r>
              <a:t>Право подписи выдано человеку. При разборе случая комиссия оценивает действия человека, и вопроса о модели в этой процедуре нет вовсе. И измерено, как редко проверяют, способен ли человек этим правом воспользоваться: способность вмешаться проверена у 56 радиологических изделий из 717, срез июнь 2024 года — проверена именно способность вмешаться, а не наличие человека рядом. Спрашивают при этом именно с него, и это не то же самое, что «он важнее».</a:t>
            </a:r>
          </a:p>
          <a:p>
            <a:r>
              <a:t/>
            </a:r>
          </a:p>
          <a:p>
            <a:r>
              <a:t>Ошибается иначе. У этого основания величины нет, и сказать это надо той же строкой, которой всю лекцию требовалась база у чужих чисел: доли взаимного перекрытия ошибок человека и модели не измерены. Такие измерения существуют, но их числа сверку по первоисточнику не прошли, и подставить их здесь значило бы сделать в ведомости ровно то, за что лекция разбирает поставщиков. Держится основание механизмом и структурой: на 106 опытах пара работает хуже самой модели там, где сильнее модель, и лучше обеих сторон там, где сильнее человек, и оба интервала лежат целиком по одну сторону нуля. Рядом измеренная асимметрия отклонений: более точные находки модели отклоняли чаще, чем менее точные свои. Вместе это подтверждает направление — ошибки человека и модели лежат на разных случаях — и не подтверждает величину. Основанию этого достаточно: оно утверждает, что ошибки расходятся, а на скольких случаях — не измерено.</a:t>
            </a:r>
          </a:p>
          <a:p>
            <a:r>
              <a:t/>
            </a:r>
          </a:p>
          <a:p>
            <a:r>
              <a:t>Отменить нельзя. Операцию не отменить задним числом, год наблюдения не переиграть, процедуры, проведённые упавшей рукой, уже проведены. Изделие при этом отзывают, и это посчитано: из 950 допущенных изделий с моделью отзывались 60, на них 182 отзывных события, и 43,4 процента отзывов приходятся на первый год; срез ноябрь 2024. Решения, принятые по изделию за этот год, вместе с ним не отзываются — об этом следующий кадр. Два знаменателя рядом — 717 и 950 — приходят из двух разных работ при разных срезах, поэтому у каждого числа стоит своя дата.</a:t>
            </a:r>
          </a:p>
          <a:p>
            <a:r>
              <a:t/>
            </a:r>
          </a:p>
          <a:p>
            <a:r>
              <a:t>Ведомость не добавляет ни одного основания и ни одной проверки: оснований три и проверок три, они заявлены на входе, и четвёртое основание в закрытии означало бы, что обещание было неполным.</a:t>
            </a:r>
          </a:p>
          <a:p>
            <a:r>
              <a:t/>
            </a:r>
          </a:p>
          <a:p>
            <a:r>
              <a:t>И про саму норму: она сформулирована как способность вмешаться, а не как присутствие, и смотреть каждое решение она не требует. Присутствие человека рядом с контуром её не исполняет — именно поэтому «у нас человек в контуре» само по себе не говорит ничего, пока не названа ступень.</a:t>
            </a:r>
          </a:p>
          <a:p>
            <a:r>
              <a:t/>
            </a:r>
          </a:p>
          <a:p>
            <a:r>
              <a:t>Про последнюю строку кадра — ту, что про ступени, а не про всю лекцию, и разница здесь существенная. Про вечер целиком говорить «исхода пациента нет ни у одного разбора» нельзя: шведское испытание скрининга до этой ступени дошло, и разбор хирургов тоже, — об этом стоял кадр-пауза перед нынешним. А вот ни одна из четырёх СТУПЕНЕЙ участия до неё не доведена. Измерено поведение — куда смотрит глаз, что подписывает человек, сколько находок он делает без помощника. Что из этого случилось с больным, не проверил никто. Это не упрёк исследователям: такой замер стоит лет. Но разряд своего замера лекция требует называть вслух от себя так же, как от поставщиков. И ровно поэтому женщина с письмом уходит из вечера без исхода: мы знаем, кто стоял над её случаем на каждой стадии, и не знаем, чем для неё всё кончилось.</a:t>
            </a:r>
          </a:p>
          <a:p>
            <a:r>
              <a:t/>
            </a:r>
          </a:p>
          <a:p>
            <a:r>
              <a:t>**Источники.** </a:t>
            </a:r>
            <a:r>
              <a:rPr u="sng">
                <a:solidFill>
                  <a:srgbClr val="065A82"/>
                </a:solidFill>
                <a:hlinkClick r:id="rId3"/>
              </a:rPr>
              <a:t>Tacconelli и соавт., J Nucl Med 2026</a:t>
            </a:r>
            <a:r>
              <a:t> · </a:t>
            </a:r>
            <a:r>
              <a:rPr u="sng">
                <a:solidFill>
                  <a:srgbClr val="065A82"/>
                </a:solidFill>
                <a:hlinkClick r:id="rId4"/>
              </a:rPr>
              <a:t>Регламент (ЕС) 2024/1689, статья 14</a:t>
            </a:r>
            <a:r>
              <a:t> · </a:t>
            </a:r>
            <a:r>
              <a:rPr u="sng">
                <a:solidFill>
                  <a:srgbClr val="065A82"/>
                </a:solidFill>
                <a:hlinkClick r:id="rId5"/>
              </a:rPr>
              <a:t>Lee и соавт., JAMA Health Forum 2025, отзывы изделий</a:t>
            </a:r>
            <a:r>
              <a:t> · </a:t>
            </a:r>
            <a:r>
              <a:rPr u="sng">
                <a:solidFill>
                  <a:srgbClr val="065A82"/>
                </a:solidFill>
                <a:hlinkClick r:id="rId6"/>
              </a:rPr>
              <a:t>обзор поданной регуляторам документации, JAMA Network Open 2025</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Прошлая лекция закончилась фразой, произнесённой залу: партию можно отозвать, решение о человеке отозвать нельзя. Эта лекция тезис отработала измеренным материалом — тезис подтверждается, и к нему есть поправка, которая делает его сильнее.</a:t>
            </a:r>
          </a:p>
          <a:p>
            <a:r>
              <a:t/>
            </a:r>
          </a:p>
          <a:p>
            <a:r>
              <a:t>Первая половина подтверждается буквально и даже шире, чем произносилась: отзывается не только партия деталей, но и изделие с обученной моделью внутри. Счёт, который это подтверждал, стоял в разделе надзора и снят вместе с ним; здесь остаётся сама проверяемая половина — отзывают именно изделие с обученной моделью внутри, и запись о таком отзыве лежит на кадре.</a:t>
            </a:r>
          </a:p>
          <a:p>
            <a:r>
              <a:t/>
            </a:r>
          </a:p>
          <a:p>
            <a:r>
              <a:t>Вторая половина подтверждается двумя разборами лекции. Решения, принятые по изделию до его отзыва: отзывом изделия они не отзываются. Техника, упавшая в процедурах без помощника, — те процедуры уже проведены, и переделать их нельзя.</a:t>
            </a:r>
          </a:p>
          <a:p>
            <a:r>
              <a:t/>
            </a:r>
          </a:p>
          <a:p>
            <a:r>
              <a:t>Поправка, которую стоит произнести: отзыв существует, работает и посчитан. Изделие отзывается — необратимы решения, принятые по нему до отзыва. Сорок три процента отзывов приходятся на первый год работы изделия, и решения этого года остаются. Формулировка «в медицине всё необратимо» шире замера, и проверить её нечем. Формулировка «между обратимостью изделия и необратимостью решения есть разрыв, и он измерен» проверяема, и её можно приложить к своему рабочему контуру: спросить, что в нём отзывается, а что остаётся после отзыва.</a:t>
            </a:r>
          </a:p>
          <a:p>
            <a:r>
              <a:t/>
            </a:r>
          </a:p>
          <a:p>
            <a:r>
              <a:t>И честная оговорка про охват: оба оставшихся разбора лежат внутри медицинского контура, где решение принимал тот, кто за него отвечает. Третий, в котором необратимость касалась решения о лечении конкретного человека, принятого не врачом, снят решением владельца курса вместе с изъятой темой, и усиливать опору взамен нечем. Дальше курс идёт в отрасль, где ошибку почти всегда можно отменить, и спор там о принадлежности результата, а не о цене ошибки: смена вопроса и есть переход.</a:t>
            </a:r>
          </a:p>
          <a:p>
            <a:r>
              <a:t/>
            </a:r>
          </a:p>
          <a:p>
            <a:r>
              <a:t>И про женщину, с которой вечер начался. Чем кончилось для неё, не измерил никто: замеров долгосрочного исхода человека после решения, принятого с участием модели, не нашлось ни одного — ни в её программе, ни в любой другой. Там, где должен стоять шестой шаг пути, пусто, и это было объявлено в начале. Это и есть разница между отзывом изделия и решением о человеке: первое посчитано, второе даже не прослежено.</a:t>
            </a:r>
          </a:p>
          <a:p>
            <a:r>
              <a:t/>
            </a:r>
          </a:p>
          <a:p>
            <a:r>
              <a:t>**Источники.** </a:t>
            </a:r>
            <a:r>
              <a:rPr u="sng">
                <a:solidFill>
                  <a:srgbClr val="065A82"/>
                </a:solidFill>
                <a:hlinkClick r:id="rId3"/>
              </a:rPr>
              <a:t>Lee и соавт., JAMA Health Forum 2025, отзывы изделий</a:t>
            </a:r>
          </a:p>
          <a:p>
            <a:r>
              <a:t/>
            </a:r>
          </a:p>
          <a:p>
            <a:r>
              <a:t>Числа этого замера на кадре больше нет: разбор надзора, который его считал и разводил его знаменатели, снят вместе со своим разделом. Если захочется произнести долю вслух — она была долей СОБЫТИЙ отзыва, а не долей изделий, и путать их нельзя; но предъявить её кадром сейчас нечем, и выдавать за показанное не надо.</a:t>
            </a:r>
          </a:p>
          <a:p>
            <a:r>
              <a:t/>
            </a:r>
          </a:p>
          <a:p>
            <a:r>
              <a:t>«В медицине всё необратимо» — утверждение шире любого замера, и проверять его надо так же, как чужие. Отзыв существует как процедура, и запись регулятора о нём стоит прямо на кадре: устройство из обращения вывести можно. Необратимо другое — решения, принятые по этому устройству за год его работы. Они вместе с ним не отзываются, их никто не пересматривает, и человека, которому по ним что-то сделали, об отзыве обычно не извещают.</a:t>
            </a:r>
          </a:p>
          <a:p>
            <a:r>
              <a:t/>
            </a:r>
          </a:p>
          <a:p>
            <a:r>
              <a:t>Поэтому вопрос к своему контуру ставится именно так: что в нём отзывается, а что остаётся. Отозвать можно изделие и партию; отменить нельзя решение, принятое до отзыва, и уже проведённую процедуру.</a:t>
            </a:r>
          </a:p>
          <a:p>
            <a:r>
              <a:t/>
            </a:r>
          </a:p>
          <a:p>
            <a:r>
              <a:t>И переход к следующей лекции. Дальше идёт отрасль, где ошибку почти всегда можно отменить: откатить версию, переписать код, вернуть данные из резервной копии. Спор там идёт о принадлежности результата — кто автор, чей труд, чьи права, — а цена ошибки в нём почти не звучит. Сопоставление это стоит произнести прямо: не «там проще», а «там другая несимметричность, и она делает другие вещи дорогими».</a:t>
            </a:r>
          </a:p>
          <a:p>
            <a:r>
              <a:t/>
            </a:r>
          </a:p>
          <a:p>
            <a:r>
              <a:t>И оговорка, которая теперь произносится, а на кадре не стоит (#293, Этап D — снята ради кегля тела): как часто это случается, считал разбор, снятый вместе с разделом надзора.</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строки на кадре — это и есть то, что лекция оставляет в руках. Каждая проверяема на конкретной системе, и каждая уже была применена сегодня на разборе, а здесь только названа своим именем.</a:t>
            </a:r>
          </a:p>
          <a:p>
            <a:r>
              <a:t/>
            </a:r>
          </a:p>
          <a:p>
            <a:r>
              <a:t>Первая проверка отделяет проверку от её видимости. Если единственное, по чему человек сверяет вывод модели, — это объяснение самой модели, то проверки нет: объяснение покупает согласие и не покупает качество, и это измерено. Упрощённое объяснение неверной рекомендации уронило точность выбора ниже той, которую тот же человек даёт без всякой модели. Независимый источник истины — это другой прибор, другой анализ, другой человек или сам предмет; самообъяснение в этот список не входит.</a:t>
            </a:r>
          </a:p>
          <a:p>
            <a:r>
              <a:t/>
            </a:r>
          </a:p>
          <a:p>
            <a:r>
              <a:t>Вторая проверка превращает слово «контроль» в величину. У любого контура, где человек подтверждает решение модели, есть две считаемые доли: как часто он возражает и как часто возражает правильно. Если ни одна из них не измерена, утверждение «человек проверяет» ничем не отличается от утверждения «человек подписывает». В разборах лекции это различие было видно дважды. Там, где подсказка приходила раньше собственного вывода, человек возражал реже и хуже. Там, где процедуру перестроили и человек смотрел только расхождения, возражение стало отдельной работой — и её объём оказалось возможно посчитать.</a:t>
            </a:r>
          </a:p>
          <a:p>
            <a:r>
              <a:t/>
            </a:r>
          </a:p>
          <a:p>
            <a:r>
              <a:t>Третья проверка — про физику, не про старательность. У проверки есть длительность, и она сравнивается с объёмом, который надо прочитать, чтобы проверка состоялась. Измеренная медиана проверки подсказки — около двух секунд; за это время подсказку прочесть нельзя, и принятое без предварительной проверки правится потом в 53 процентах случаев против 18. Замер сделан вне медицины, на программистах с ассистентом кода, и перенос назван переносом. Отсюда вывод, который переносится на любую отрасль: требование «человек подтверждает» выполнимо только тогда, когда у подтверждения есть время в расписании. Если его нет, подпись стоит, а чтения нет, и переделывается это процедурой, не внимательностью.</a:t>
            </a:r>
          </a:p>
          <a:p>
            <a:r>
              <a:t/>
            </a:r>
          </a:p>
          <a:p>
            <a:r>
              <a:t>Отдельным свидетельством, другого предмета и другого знаменателя, рядом с третьей проверкой стоит перепись допущенных изделий: способность человека вмешаться проверена у 56 радиологических изделий из 717, срез июнь 2024 года. Та же мысль с другой стороны — норма требует возможности вмешаться и не требует, чтобы вмешательство кто-нибудь посчитал.</a:t>
            </a:r>
          </a:p>
          <a:p>
            <a:r>
              <a:t/>
            </a:r>
          </a:p>
          <a:p>
            <a:r>
              <a:t>Вопрос задан про собственный рабочий контур слушателя и не про медицину: медицинского опыта он не требует, а автоматический элемент, решающий что-то за человека, есть сегодня почти в каждом рабочем контуре. Ответ ждём вслух; если зал молчит, называется первая проверка и задаётся прямой вопрос — у кого в контуре независимый источник истины есть, а у кого единственным источником служит экран.</a:t>
            </a:r>
          </a:p>
          <a:p>
            <a:r>
              <a:t/>
            </a:r>
          </a:p>
          <a:p>
            <a:r>
              <a:t>На снимке двое читают серию с рабочей станции. Кадр ничего не доказывает и ни одного числа лекции не подтверждает: он стоит здесь затем, чтобы вопрос задавался не пустой рамке, а сцене, в которой человек смотрит на вывод машины.</a:t>
            </a:r>
          </a:p>
          <a:p>
            <a:r>
              <a:t/>
            </a:r>
          </a:p>
          <a:p>
            <a:r>
              <a:t>Эти три проверки не про медицину, и произносить их надо именно так: любая из них прикладывается к контуру в банке, на производстве и в разработке программ — везде, где вывод модели читает человек и подписывается под результатом.</a:t>
            </a:r>
          </a:p>
          <a:p>
            <a:r>
              <a:t/>
            </a:r>
          </a:p>
          <a:p>
            <a:r>
              <a:t>Первая проверка — про независимый источник истины. Объяснение модели источником истины не является: оно порождено тем же механизмом, что и сам вывод, и согласуется с ним по построению. Независимым будет другой прибор, другой анализ, другой человек или сам предмет. Контур, в котором проверить вывод можно только объяснением к нему, замкнут сам на себя.</a:t>
            </a:r>
          </a:p>
          <a:p>
            <a:r>
              <a:t/>
            </a:r>
          </a:p>
          <a:p>
            <a:r>
              <a:t>Вторая — про две считаемые доли. Как часто человек возражает и как часто он возражает верно. Если не измерена ни одна, то «человек проверяет» не отличается от «человек подписывает» никаким наблюдаемым признаком, и спорить тут не о чем.</a:t>
            </a:r>
          </a:p>
          <a:p>
            <a:r>
              <a:t/>
            </a:r>
          </a:p>
          <a:p>
            <a:r>
              <a:t>Третья — про физику времени. Секунды на решение против объёма, который надо прочитать. Медиана проверки подсказки — около двух секунд, и принятое без предварительной проверки правится потом в 53 процентах случаев против 18. Если у подтверждения нет времени в расписании, подпись будет, а чтения не будет, и никакая инструкция этого не изменит.</a:t>
            </a:r>
          </a:p>
          <a:p>
            <a:r>
              <a:t/>
            </a:r>
          </a:p>
          <a:p>
            <a:r>
              <a:t>Вопрос залу задать и дождаться ответа: какую одну проверку вы бы сделали обязательной до включения модели в свой контур. Ответ называется за несколько секунд, и он почти всегда оказывается одной из этих трёх.</a:t>
            </a:r>
          </a:p>
          <a:p>
            <a:r>
              <a:t/>
            </a:r>
          </a:p>
          <a:p>
            <a:r>
              <a:t>**Иллюстрация.** Двое читают серию снимков с рабочей станции — </a:t>
            </a:r>
            <a:r>
              <a:rPr u="sng">
                <a:solidFill>
                  <a:srgbClr val="065A82"/>
                </a:solidFill>
                <a:hlinkClick r:id="rId3"/>
              </a:rPr>
              <a:t>Викисклад</a:t>
            </a:r>
            <a:r>
              <a:t>, The Medical Futurist, 2017, </a:t>
            </a:r>
            <a:r>
              <a:rPr u="sng">
                <a:solidFill>
                  <a:srgbClr val="065A82"/>
                </a:solidFill>
                <a:hlinkClick r:id="rId4"/>
              </a:rPr>
              <a:t>CC BY 4.0</a:t>
            </a:r>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llina-study/AI-usage-lessons/blob/main/library/lectures/lec-07/rework/research/09a-dopusk-usa-puti-i-doli.md" TargetMode="External"/><Relationship Id="rId3" Type="http://schemas.openxmlformats.org/officeDocument/2006/relationships/hyperlink" Target="https://github.com/tellina-study/AI-usage-lessons/blob/main/library/lectures/lec-07/rework/research/09b-dopusk-rossiya.md"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ellina-study/AI-usage-lessons/blob/main/library/lectures/lec-07/rework/research/14-vnedrenie-agregaty.md" TargetMode="External"/><Relationship Id="rId4" Type="http://schemas.openxmlformats.org/officeDocument/2006/relationships/hyperlink" Target="https://github.com/tellina-study/AI-usage-lessons/blob/main/library/lectures/lec-07/rework/research/10b-ii-ispolzovanie-i-effekt.md"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hyperlink" Target="https://github.com/tellina-study/AI-usage-lessons/blob/main/library/lectures/lec-07/rework/research/15-rabota-vladeltsa-iskazheniya.md"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hyperlink" Target="https://doi.org/10.1001/jamanetworkopen.2024.40969"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www.gov.uk/guidance/breast-screening-programme-overview"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018-026-01128-z"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467-023-44676-z"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accessdata.fda.gov/cdrh_docs/pdf18/DEN180001.pdf"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mc.ncbi.nlm.nih.gov/articles/PMC12864748/"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diagnostics15070822"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diagnostics15070822"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hyperlink" Target="https://doi.org/10.1038/s42256-021-00307-0"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1711.05225"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doi.org/10.17816/DD641703" TargetMode="External"/><Relationship Id="rId4" Type="http://schemas.openxmlformats.org/officeDocument/2006/relationships/hyperlink" Target="https://www.england.nhs.uk/rightcare/wp-content/uploads/sites/2/2024/11/DID-Annual-Statistical-Release-2023-24.pdf" TargetMode="External"/><Relationship Id="rId5" Type="http://schemas.openxmlformats.org/officeDocument/2006/relationships/hyperlink" Target="https://www.gov.uk/government/news/ai-to-speed-up-cancer-diagnosis-for-millions-of-nhs-patients" TargetMode="Externa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641703" TargetMode="Externa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jcm14165700" TargetMode="Externa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5/3313831.3376718"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hyperlink" Target="https://doi.org/10.1111/j.1365-2133.2008.08713.x"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adv.abq6147"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26/science.aax2342"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NEJMc2029240" TargetMode="Externa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hyperlink" Target="https://doi.org/10.1136/bmjqs-2013-002627" TargetMode="Externa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4.40969" TargetMode="Externa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56/AIoa2501001" TargetMode="External"/><Relationship Id="rId3" Type="http://schemas.openxmlformats.org/officeDocument/2006/relationships/hyperlink" Target="https://arxiv.org/abs/2210.14306" TargetMode="Externa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48/radiol.252590" TargetMode="External"/><Relationship Id="rId3" Type="http://schemas.openxmlformats.org/officeDocument/2006/relationships/hyperlink" Target="https://doi.org/10.1148/radiol.243688"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746-020-0232-8" TargetMode="Externa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0140-6736%2825%2902464-X" TargetMode="External"/><Relationship Id="rId3" Type="http://schemas.openxmlformats.org/officeDocument/2006/relationships/hyperlink" Target="https://doi.org/10.1016/S1470-2045%2823%2900298-X" TargetMode="External"/><Relationship Id="rId4" Type="http://schemas.openxmlformats.org/officeDocument/2006/relationships/hyperlink" Target="https://doi.org/10.1148/radiol.242566" TargetMode="Externa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2457/" TargetMode="Externa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2457/" TargetMode="External"/><Relationship Id="rId3" Type="http://schemas.openxmlformats.org/officeDocument/2006/relationships/hyperlink" Target="https://arxiv.org/abs/2102.09692" TargetMode="External"/><Relationship Id="rId4" Type="http://schemas.openxmlformats.org/officeDocument/2006/relationships/hyperlink" Target="https://doi.org/10.1038/s41591-024-02850-w" TargetMode="Externa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1562-024-02024-1" TargetMode="Externa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0124479/" TargetMode="External"/><Relationship Id="rId3" Type="http://schemas.openxmlformats.org/officeDocument/2006/relationships/hyperlink" Target="https://pubmed.ncbi.nlm.nih.gov/37314698/" TargetMode="External"/><Relationship Id="rId4" Type="http://schemas.openxmlformats.org/officeDocument/2006/relationships/hyperlink" Target="https://doi.org/10.1038/s41746-026-02545-1" TargetMode="Externa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7314698/" TargetMode="External"/><Relationship Id="rId3" Type="http://schemas.openxmlformats.org/officeDocument/2006/relationships/hyperlink" Target="https://doi.org/10.1001/jamanetworkopen.2024.40969" TargetMode="External"/><Relationship Id="rId4" Type="http://schemas.openxmlformats.org/officeDocument/2006/relationships/hyperlink" Target="https://doi.org/10.1038/s41562-024-02024-1" TargetMode="External"/><Relationship Id="rId5" Type="http://schemas.openxmlformats.org/officeDocument/2006/relationships/hyperlink" Target="https://doi.org/10.1148/radiol.252590" TargetMode="External"/><Relationship Id="rId6"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b062" TargetMode="External"/><Relationship Id="rId4" Type="http://schemas.openxmlformats.org/officeDocument/2006/relationships/hyperlink" Target="https://doi.org/10.1093/jamiaopen/ooae133" TargetMode="External"/><Relationship Id="rId5" Type="http://schemas.openxmlformats.org/officeDocument/2006/relationships/hyperlink" Target="https://doi.org/10.1001/jamanetworkopen.2026.0181" TargetMode="Externa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1.2626" TargetMode="External"/><Relationship Id="rId3" Type="http://schemas.openxmlformats.org/officeDocument/2006/relationships/hyperlink" Target="https://doi.org/10.1093/jamiaopen/ooae133" TargetMode="External"/><Relationship Id="rId4" Type="http://schemas.openxmlformats.org/officeDocument/2006/relationships/hyperlink" Target="https://doi.org/10.1001/jamanetworkopen.2021.35286" TargetMode="Externa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jcai.org/proceedings/2025/1098.pdf" TargetMode="Externa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jcai.org/proceedings/2025/1098.pdf" TargetMode="Externa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17.1548" TargetMode="Externa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hyperlink" Target="https://www.consultant.ru/document/cons_doc_LAW_429359/" TargetMode="Externa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4338/ACI-2016-09-R-0150" TargetMode="External"/><Relationship Id="rId3" Type="http://schemas.openxmlformats.org/officeDocument/2006/relationships/hyperlink" Target="https://doi.org/10.1001/jamanetworkopen.2022.33348" TargetMode="Externa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s.ru/news/item/175489073/" TargetMode="External"/><Relationship Id="rId3" Type="http://schemas.openxmlformats.org/officeDocument/2006/relationships/hyperlink" Target="https://www.mos.ru/news/item/171864073/" TargetMode="Externa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drxiv.org/content/10.1101/2025.07.10.25331333" TargetMode="Externa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internmed.2025.0821" TargetMode="Externa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1/jamanetworkopen.2026.16556" TargetMode="External"/><Relationship Id="rId3" Type="http://schemas.openxmlformats.org/officeDocument/2006/relationships/hyperlink" Target="https://doi.org/10.7759/cureus.109247" TargetMode="Externa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321420" TargetMode="External"/><Relationship Id="rId3" Type="http://schemas.openxmlformats.org/officeDocument/2006/relationships/hyperlink" Target="https://www.mos.ru/news/item/118060073/" TargetMode="Externa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7816/DD321420" TargetMode="External"/><Relationship Id="rId3" Type="http://schemas.openxmlformats.org/officeDocument/2006/relationships/hyperlink" Target="https://niioz.ru/moskovskaya-meditsina/zhurnal-moskovskaya-meditsina/luchshie-praktiki/funktsiya-raspoznavaniya-rechi-dlya-opisaniya-issledovaniy-v-endoskopicheskikh-tsentrakh/" TargetMode="Externa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gov.uk/government/publications/ambient-voice-technology-enabled-products/ambient-voice-technology-enabled-products" TargetMode="External"/><Relationship Id="rId3" Type="http://schemas.openxmlformats.org/officeDocument/2006/relationships/hyperlink" Target="https://sbermed.ai/our-algorithms/top-3" TargetMode="Externa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doi.org/10.1016/j.gie.2014.07.058" TargetMode="Externa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gie.2014.07.058" TargetMode="Externa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601.20245" TargetMode="External"/><Relationship Id="rId3" Type="http://schemas.openxmlformats.org/officeDocument/2006/relationships/hyperlink" Target="https://doi.org/10.1016/j.esmorw.2026.100693" TargetMode="Externa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cgh.2020.11.019" TargetMode="External"/><Relationship Id="rId3" Type="http://schemas.openxmlformats.org/officeDocument/2006/relationships/hyperlink" Target="https://doi.org/10.1007/s00384-023-04585-5" TargetMode="Externa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136/flgastro-2022-102260" TargetMode="Externa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73/pnas.2422633122" TargetMode="Externa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878/2073-7556-2025-24-3-12-21" TargetMode="Externa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hyperlink" Target="https://doi.org/10.1016/S1470-2045%2823%2900298-X" TargetMode="Externa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S2468-1253%2825%2900133-5" TargetMode="Externa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2967/jnumed.126.272292" TargetMode="External"/><Relationship Id="rId3" Type="http://schemas.openxmlformats.org/officeDocument/2006/relationships/hyperlink" Target="https://eur-lex.europa.eu/eli/reg/2024/1689/oj" TargetMode="External"/><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doi.org/10.1001/jamahealthforum.2025.3172" TargetMode="Externa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9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01-hero-chtenie-mammogrammy.jpg"/>
          <p:cNvPicPr>
            <a:picLocks noChangeAspect="1"/>
          </p:cNvPicPr>
          <p:nvPr/>
        </p:nvPicPr>
        <p:blipFill>
          <a:blip r:embed="rId2"/>
          <a:srcRect l="23631" r="23631"/>
          <a:stretch>
            <a:fillRect/>
          </a:stretch>
        </p:blipFill>
        <p:spPr>
          <a:xfrm>
            <a:off x="6766560" y="0"/>
            <a:ext cx="5425135" cy="6858000"/>
          </a:xfrm>
          <a:prstGeom prst="rect">
            <a:avLst/>
          </a:prstGeom>
        </p:spPr>
      </p:pic>
      <p:sp>
        <p:nvSpPr>
          <p:cNvPr id="4" name="TextBox 3"/>
          <p:cNvSpPr txBox="1"/>
          <p:nvPr/>
        </p:nvSpPr>
        <p:spPr>
          <a:xfrm>
            <a:off x="502920" y="1005840"/>
            <a:ext cx="5952744" cy="1937767"/>
          </a:xfrm>
          <a:prstGeom prst="rect">
            <a:avLst/>
          </a:prstGeom>
          <a:noFill/>
        </p:spPr>
        <p:txBody>
          <a:bodyPr wrap="square" lIns="0" rIns="0" tIns="0" bIns="0" anchor="t">
            <a:spAutoFit/>
          </a:bodyPr>
          <a:lstStyle/>
          <a:p>
            <a:pPr algn="l">
              <a:lnSpc>
                <a:spcPct val="112000"/>
              </a:lnSpc>
            </a:pPr>
            <a:r>
              <a:rPr sz="3600" b="0" i="0">
                <a:solidFill>
                  <a:srgbClr val="21295C"/>
                </a:solidFill>
                <a:latin typeface="Arial"/>
              </a:rPr>
              <a:t>Решение о человеке: кто смотрит, кто подписывает, кто платит</a:t>
            </a:r>
          </a:p>
        </p:txBody>
      </p:sp>
      <p:sp>
        <p:nvSpPr>
          <p:cNvPr id="5" name="TextBox 4"/>
          <p:cNvSpPr txBox="1"/>
          <p:nvPr/>
        </p:nvSpPr>
        <p:spPr>
          <a:xfrm>
            <a:off x="502920" y="3089911"/>
            <a:ext cx="5952744" cy="670306"/>
          </a:xfrm>
          <a:prstGeom prst="rect">
            <a:avLst/>
          </a:prstGeom>
          <a:noFill/>
        </p:spPr>
        <p:txBody>
          <a:bodyPr wrap="square" lIns="0" rIns="0" tIns="0" bIns="0" anchor="t">
            <a:spAutoFit/>
          </a:bodyPr>
          <a:lstStyle/>
          <a:p>
            <a:pPr algn="l">
              <a:lnSpc>
                <a:spcPct val="112000"/>
              </a:lnSpc>
            </a:pPr>
            <a:r>
              <a:rPr sz="3600" b="0" i="0">
                <a:solidFill>
                  <a:srgbClr val="21295C"/>
                </a:solidFill>
                <a:latin typeface="Arial"/>
              </a:rPr>
              <a:t>Лекция 7</a:t>
            </a:r>
          </a:p>
        </p:txBody>
      </p:sp>
      <p:sp>
        <p:nvSpPr>
          <p:cNvPr id="6" name="TextBox 5"/>
          <p:cNvSpPr txBox="1"/>
          <p:nvPr/>
        </p:nvSpPr>
        <p:spPr>
          <a:xfrm>
            <a:off x="502920" y="3906521"/>
            <a:ext cx="5952744" cy="715572"/>
          </a:xfrm>
          <a:prstGeom prst="rect">
            <a:avLst/>
          </a:prstGeom>
          <a:noFill/>
        </p:spPr>
        <p:txBody>
          <a:bodyPr wrap="square" lIns="0" rIns="0" tIns="0" bIns="0" anchor="t">
            <a:spAutoFit/>
          </a:bodyPr>
          <a:lstStyle/>
          <a:p>
            <a:pPr algn="l">
              <a:lnSpc>
                <a:spcPct val="120000"/>
              </a:lnSpc>
            </a:pPr>
            <a:r>
              <a:rPr sz="1800" b="0" i="0">
                <a:solidFill>
                  <a:srgbClr val="065A82"/>
                </a:solidFill>
                <a:latin typeface="Arial"/>
              </a:rPr>
              <a:t>Сегодня чей-то снимок прочтут раньше, чем на него посмотрит человек.</a:t>
            </a:r>
          </a:p>
        </p:txBody>
      </p:sp>
      <p:sp>
        <p:nvSpPr>
          <p:cNvPr id="7" name="Rectangle 6"/>
          <p:cNvSpPr/>
          <p:nvPr/>
        </p:nvSpPr>
        <p:spPr>
          <a:xfrm>
            <a:off x="502920" y="621792"/>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txBody>
          <a:bodyPr rtlCol="0" anchor="ctr"/>
          <a:lstStyle/>
          <a:p>
            <a:pPr algn="ctr"/>
          </a:p>
        </p:txBody>
      </p:sp>
      <p:sp>
        <p:nvSpPr>
          <p:cNvPr id="3" name="TextBox 2"/>
          <p:cNvSpPr txBox="1"/>
          <p:nvPr/>
        </p:nvSpPr>
        <p:spPr>
          <a:xfrm>
            <a:off x="502920" y="365760"/>
            <a:ext cx="11185855" cy="484099"/>
          </a:xfrm>
          <a:prstGeom prst="rect">
            <a:avLst/>
          </a:prstGeom>
          <a:noFill/>
        </p:spPr>
        <p:txBody>
          <a:bodyPr wrap="square" lIns="0" rIns="0" tIns="0" bIns="0" anchor="t">
            <a:spAutoFit/>
          </a:bodyPr>
          <a:lstStyle/>
          <a:p>
            <a:pPr algn="l">
              <a:lnSpc>
                <a:spcPct val="110000"/>
              </a:lnSpc>
            </a:pPr>
            <a:r>
              <a:rPr sz="2800" b="1" i="0">
                <a:solidFill>
                  <a:srgbClr val="FFFFFF"/>
                </a:solidFill>
                <a:latin typeface="Arial"/>
              </a:rPr>
              <a:t>Чтение рентгенограмм грудной клетки в Англии</a:t>
            </a:r>
          </a:p>
        </p:txBody>
      </p:sp>
      <p:sp>
        <p:nvSpPr>
          <p:cNvPr id="4" name="Rounded Rectangle 3"/>
          <p:cNvSpPr/>
          <p:nvPr/>
        </p:nvSpPr>
        <p:spPr>
          <a:xfrm>
            <a:off x="502920" y="1754362"/>
            <a:ext cx="11185855" cy="3888237"/>
          </a:xfrm>
          <a:prstGeom prst="roundRect">
            <a:avLst>
              <a:gd name="adj" fmla="val 7839"/>
            </a:avLst>
          </a:prstGeom>
          <a:solidFill>
            <a:srgbClr val="21295C"/>
          </a:solidFill>
          <a:ln w="19050">
            <a:solidFill>
              <a:srgbClr val="21295C"/>
            </a:solidFill>
          </a:ln>
          <a:effectLst/>
        </p:spPr>
        <p:txBody>
          <a:bodyPr rtlCol="0" anchor="ctr"/>
          <a:lstStyle/>
          <a:p>
            <a:pPr algn="ctr"/>
          </a:p>
        </p:txBody>
      </p:sp>
      <p:sp>
        <p:nvSpPr>
          <p:cNvPr id="5" name="TextBox 4"/>
          <p:cNvSpPr txBox="1"/>
          <p:nvPr/>
        </p:nvSpPr>
        <p:spPr>
          <a:xfrm>
            <a:off x="905256" y="2156698"/>
            <a:ext cx="10381183" cy="1923824"/>
          </a:xfrm>
          <a:prstGeom prst="rect">
            <a:avLst/>
          </a:prstGeom>
          <a:noFill/>
        </p:spPr>
        <p:txBody>
          <a:bodyPr wrap="square" lIns="0" rIns="0" tIns="0" bIns="0" anchor="t">
            <a:spAutoFit/>
          </a:bodyPr>
          <a:lstStyle/>
          <a:p>
            <a:pPr algn="ctr">
              <a:lnSpc>
                <a:spcPct val="102000"/>
              </a:lnSpc>
            </a:pPr>
            <a:r>
              <a:rPr sz="12000" b="1" i="0">
                <a:solidFill>
                  <a:srgbClr val="F0AB00"/>
                </a:solidFill>
                <a:latin typeface="Arial"/>
              </a:rPr>
              <a:t>2,8 млн</a:t>
            </a:r>
          </a:p>
        </p:txBody>
      </p:sp>
      <p:sp>
        <p:nvSpPr>
          <p:cNvPr id="6" name="Rectangle 5"/>
          <p:cNvSpPr/>
          <p:nvPr/>
        </p:nvSpPr>
        <p:spPr>
          <a:xfrm>
            <a:off x="5090007" y="4299979"/>
            <a:ext cx="2011680" cy="77724"/>
          </a:xfrm>
          <a:prstGeom prst="rect">
            <a:avLst/>
          </a:prstGeom>
          <a:solidFill>
            <a:srgbClr val="FFFFFF"/>
          </a:solidFill>
          <a:ln>
            <a:noFill/>
          </a:ln>
          <a:effectLst/>
        </p:spPr>
        <p:txBody>
          <a:bodyPr rtlCol="0" anchor="ctr"/>
          <a:lstStyle/>
          <a:p>
            <a:pPr algn="ctr"/>
          </a:p>
        </p:txBody>
      </p:sp>
      <p:sp>
        <p:nvSpPr>
          <p:cNvPr id="7" name="TextBox 6"/>
          <p:cNvSpPr txBox="1"/>
          <p:nvPr/>
        </p:nvSpPr>
        <p:spPr>
          <a:xfrm>
            <a:off x="905256" y="4487431"/>
            <a:ext cx="10381183" cy="364646"/>
          </a:xfrm>
          <a:prstGeom prst="rect">
            <a:avLst/>
          </a:prstGeom>
          <a:noFill/>
        </p:spPr>
        <p:txBody>
          <a:bodyPr wrap="square" lIns="0" rIns="0" tIns="0" bIns="0" anchor="t">
            <a:spAutoFit/>
          </a:bodyPr>
          <a:lstStyle/>
          <a:p>
            <a:pPr algn="ctr">
              <a:lnSpc>
                <a:spcPct val="116000"/>
              </a:lnSpc>
            </a:pPr>
            <a:r>
              <a:rPr sz="2000" b="1" i="0">
                <a:solidFill>
                  <a:srgbClr val="FFFFFF"/>
                </a:solidFill>
                <a:latin typeface="Arial"/>
              </a:rPr>
              <a:t>рентгенограмм грудной клетки за год прочитала модель</a:t>
            </a:r>
          </a:p>
        </p:txBody>
      </p:sp>
      <p:sp>
        <p:nvSpPr>
          <p:cNvPr id="8" name="TextBox 7"/>
          <p:cNvSpPr txBox="1"/>
          <p:nvPr/>
        </p:nvSpPr>
        <p:spPr>
          <a:xfrm>
            <a:off x="905256" y="4943517"/>
            <a:ext cx="10381183" cy="296746"/>
          </a:xfrm>
          <a:prstGeom prst="rect">
            <a:avLst/>
          </a:prstGeom>
          <a:noFill/>
        </p:spPr>
        <p:txBody>
          <a:bodyPr wrap="square" lIns="0" rIns="0" tIns="0" bIns="0" anchor="t">
            <a:spAutoFit/>
          </a:bodyPr>
          <a:lstStyle/>
          <a:p>
            <a:pPr algn="ctr">
              <a:lnSpc>
                <a:spcPct val="118000"/>
              </a:lnSpc>
            </a:pPr>
            <a:r>
              <a:rPr sz="1600" b="0" i="0">
                <a:solidFill>
                  <a:srgbClr val="FFFFFF"/>
                </a:solidFill>
                <a:latin typeface="Arial"/>
              </a:rPr>
              <a:t>из 8,19 млн, выполненных в Англии за год к марту 2024 года</a:t>
            </a: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FFFFFF"/>
                </a:solidFill>
                <a:latin typeface="Arial"/>
              </a:rPr>
              <a:t>NHS England, Diagnostic Imaging Dataset Annual Statistical Release 2023/24, таблица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Цикл оказания помощи: девять стадий и решение каждой</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Пока решают</a:t>
            </a:r>
          </a:p>
        </p:txBody>
      </p:sp>
      <p:sp>
        <p:nvSpPr>
          <p:cNvPr id="5" name="Rounded Rectangle 4"/>
          <p:cNvSpPr/>
          <p:nvPr/>
        </p:nvSpPr>
        <p:spPr>
          <a:xfrm>
            <a:off x="1920240"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Первичный скрининг и отбор на обследование</a:t>
            </a:r>
          </a:p>
          <a:p>
            <a:pPr algn="ctr">
              <a:lnSpc>
                <a:spcPct val="112000"/>
              </a:lnSpc>
            </a:pPr>
            <a:r>
              <a:rPr sz="1350" b="0" i="0">
                <a:solidFill>
                  <a:srgbClr val="21295C"/>
                </a:solidFill>
                <a:latin typeface="Arial"/>
              </a:rPr>
              <a:t>звать ли смотреть</a:t>
            </a:r>
          </a:p>
        </p:txBody>
      </p:sp>
      <p:sp>
        <p:nvSpPr>
          <p:cNvPr id="7" name="Right Arrow 6"/>
          <p:cNvSpPr/>
          <p:nvPr/>
        </p:nvSpPr>
        <p:spPr>
          <a:xfrm>
            <a:off x="5039258"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Инструментальная и лабораторная диагностика</a:t>
            </a:r>
          </a:p>
          <a:p>
            <a:pPr algn="ctr">
              <a:lnSpc>
                <a:spcPct val="112000"/>
              </a:lnSpc>
            </a:pPr>
            <a:r>
              <a:rPr sz="1350" b="0" i="0">
                <a:solidFill>
                  <a:srgbClr val="21295C"/>
                </a:solidFill>
                <a:latin typeface="Arial"/>
              </a:rPr>
              <a:t>что измерено</a:t>
            </a:r>
          </a:p>
        </p:txBody>
      </p:sp>
      <p:sp>
        <p:nvSpPr>
          <p:cNvPr id="10" name="Right Arrow 9"/>
          <p:cNvSpPr/>
          <p:nvPr/>
        </p:nvSpPr>
        <p:spPr>
          <a:xfrm>
            <a:off x="8386876"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Постановка диагноза</a:t>
            </a:r>
          </a:p>
          <a:p>
            <a:pPr algn="ctr">
              <a:lnSpc>
                <a:spcPct val="112000"/>
              </a:lnSpc>
            </a:pPr>
            <a:r>
              <a:rPr sz="1350" b="0" i="0">
                <a:solidFill>
                  <a:srgbClr val="21295C"/>
                </a:solidFill>
                <a:latin typeface="Arial"/>
              </a:rPr>
              <a:t>чем объясняется найденное</a:t>
            </a:r>
          </a:p>
        </p:txBody>
      </p:sp>
      <p:sp>
        <p:nvSpPr>
          <p:cNvPr id="13" name="TextBox 12"/>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Решили и лечат</a:t>
            </a:r>
          </a:p>
        </p:txBody>
      </p:sp>
      <p:sp>
        <p:nvSpPr>
          <p:cNvPr id="14" name="Rounded Rectangle 13"/>
          <p:cNvSpPr/>
          <p:nvPr/>
        </p:nvSpPr>
        <p:spPr>
          <a:xfrm>
            <a:off x="1920240" y="2432018"/>
            <a:ext cx="481111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477738"/>
            <a:ext cx="464652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Назначение терапии и подбор дозы</a:t>
            </a:r>
          </a:p>
          <a:p>
            <a:pPr algn="ctr">
              <a:lnSpc>
                <a:spcPct val="112000"/>
              </a:lnSpc>
            </a:pPr>
            <a:r>
              <a:rPr sz="1350" b="0" i="0">
                <a:solidFill>
                  <a:srgbClr val="21295C"/>
                </a:solidFill>
                <a:latin typeface="Arial"/>
              </a:rPr>
              <a:t>чем лечить и сколько</a:t>
            </a:r>
          </a:p>
        </p:txBody>
      </p:sp>
      <p:sp>
        <p:nvSpPr>
          <p:cNvPr id="16" name="Rounded Rectangle 15"/>
          <p:cNvSpPr/>
          <p:nvPr/>
        </p:nvSpPr>
        <p:spPr>
          <a:xfrm>
            <a:off x="6877659" y="2432018"/>
            <a:ext cx="4811115"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6959955" y="2477738"/>
            <a:ext cx="4646523"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Хирургическое вмешательство и интраоперационный мониторинг</a:t>
            </a:r>
          </a:p>
          <a:p>
            <a:pPr algn="ctr">
              <a:lnSpc>
                <a:spcPct val="112000"/>
              </a:lnSpc>
            </a:pPr>
            <a:r>
              <a:rPr sz="1350" b="0" i="0">
                <a:solidFill>
                  <a:srgbClr val="21295C"/>
                </a:solidFill>
                <a:latin typeface="Arial"/>
              </a:rPr>
              <a:t>оперировать ли и как</a:t>
            </a:r>
          </a:p>
        </p:txBody>
      </p:sp>
      <p:sp>
        <p:nvSpPr>
          <p:cNvPr id="18" name="TextBox 17"/>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решения</a:t>
            </a:r>
          </a:p>
        </p:txBody>
      </p:sp>
      <p:sp>
        <p:nvSpPr>
          <p:cNvPr id="19" name="Rounded Rectangle 18"/>
          <p:cNvSpPr/>
          <p:nvPr/>
        </p:nvSpPr>
        <p:spPr>
          <a:xfrm>
            <a:off x="1920240"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Динамическое наблюдение и клинические тревоги</a:t>
            </a:r>
          </a:p>
          <a:p>
            <a:pPr algn="ctr">
              <a:lnSpc>
                <a:spcPct val="112000"/>
              </a:lnSpc>
            </a:pPr>
            <a:r>
              <a:rPr sz="1350" b="0" i="0">
                <a:solidFill>
                  <a:srgbClr val="21295C"/>
                </a:solidFill>
                <a:latin typeface="Arial"/>
              </a:rPr>
              <a:t>сейчас или на обходе</a:t>
            </a:r>
          </a:p>
        </p:txBody>
      </p:sp>
      <p:sp>
        <p:nvSpPr>
          <p:cNvPr id="21" name="Right Arrow 20"/>
          <p:cNvSpPr/>
          <p:nvPr/>
        </p:nvSpPr>
        <p:spPr>
          <a:xfrm>
            <a:off x="6713067" y="3935778"/>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529013"/>
            <a:ext cx="47471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574733"/>
            <a:ext cx="45825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Ведение медицинской документации</a:t>
            </a:r>
          </a:p>
          <a:p>
            <a:pPr algn="ctr">
              <a:lnSpc>
                <a:spcPct val="112000"/>
              </a:lnSpc>
            </a:pPr>
            <a:r>
              <a:rPr sz="1350" b="0" i="0">
                <a:solidFill>
                  <a:srgbClr val="21295C"/>
                </a:solidFill>
                <a:latin typeface="Arial"/>
              </a:rPr>
              <a:t>что узнает следующий</a:t>
            </a:r>
          </a:p>
        </p:txBody>
      </p:sp>
      <p:sp>
        <p:nvSpPr>
          <p:cNvPr id="24" name="Rounded Rectangle 23"/>
          <p:cNvSpPr/>
          <p:nvPr/>
        </p:nvSpPr>
        <p:spPr>
          <a:xfrm>
            <a:off x="374904" y="4571144"/>
            <a:ext cx="11441887" cy="1665063"/>
          </a:xfrm>
          <a:prstGeom prst="roundRect">
            <a:avLst>
              <a:gd name="adj" fmla="val 18305"/>
            </a:avLst>
          </a:prstGeom>
          <a:solidFill>
            <a:srgbClr val="F4F7FA"/>
          </a:solidFill>
          <a:ln w="19050">
            <a:solidFill>
              <a:srgbClr val="1C7293"/>
            </a:solidFill>
          </a:ln>
          <a:effectLst/>
        </p:spPr>
        <p:txBody>
          <a:bodyPr rtlCol="0" anchor="ctr"/>
          <a:lstStyle/>
          <a:p>
            <a:pPr algn="ctr"/>
          </a:p>
        </p:txBody>
      </p:sp>
      <p:sp>
        <p:nvSpPr>
          <p:cNvPr id="25" name="TextBox 24"/>
          <p:cNvSpPr txBox="1"/>
          <p:nvPr/>
        </p:nvSpPr>
        <p:spPr>
          <a:xfrm>
            <a:off x="539496" y="4662584"/>
            <a:ext cx="5373471" cy="157362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Вокруг всех стадий сразу — ещё две:</a:t>
            </a:r>
            <a:r>
              <a:rPr sz="1250" b="0" i="0">
                <a:solidFill>
                  <a:srgbClr val="21295C"/>
                </a:solidFill>
                <a:latin typeface="Arial"/>
              </a:rPr>
              <a:t> допуск, надзор и ответственность — кто отвечает; профессиональная квалификация — держится ли человек в форме. </a:t>
            </a:r>
            <a:r>
              <a:rPr sz="1250" b="1" i="0">
                <a:solidFill>
                  <a:srgbClr val="21295C"/>
                </a:solidFill>
                <a:latin typeface="Arial"/>
              </a:rPr>
              <a:t>До начала цикла:</a:t>
            </a:r>
            <a:r>
              <a:rPr sz="1250" b="0" i="0">
                <a:solidFill>
                  <a:srgbClr val="21295C"/>
                </a:solidFill>
                <a:latin typeface="Arial"/>
              </a:rPr>
              <a:t> разработка лекарств.</a:t>
            </a:r>
          </a:p>
          <a:p>
            <a:pPr algn="l">
              <a:lnSpc>
                <a:spcPct val="126000"/>
              </a:lnSpc>
              <a:spcBef>
                <a:spcPts val="720"/>
              </a:spcBef>
            </a:pPr>
            <a:r>
              <a:rPr sz="1250" b="0" i="0">
                <a:solidFill>
                  <a:srgbClr val="21295C"/>
                </a:solidFill>
                <a:latin typeface="Arial"/>
              </a:rPr>
              <a:t/>
            </a:r>
            <a:r>
              <a:rPr sz="1250" b="1" i="0">
                <a:solidFill>
                  <a:srgbClr val="21295C"/>
                </a:solidFill>
                <a:latin typeface="Arial"/>
              </a:rPr>
              <a:t>Порядок первых стадий держат три опоры:</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Кого позвали.</a:t>
            </a:r>
            <a:r>
              <a:rPr sz="1250" b="0" i="0">
                <a:solidFill>
                  <a:srgbClr val="21295C"/>
                </a:solidFill>
                <a:latin typeface="Arial"/>
              </a:rPr>
              <a:t> Смотреть можно только того, кого позвали.</a:t>
            </a:r>
          </a:p>
        </p:txBody>
      </p:sp>
      <p:sp>
        <p:nvSpPr>
          <p:cNvPr id="26" name="TextBox 25"/>
          <p:cNvSpPr txBox="1"/>
          <p:nvPr/>
        </p:nvSpPr>
        <p:spPr>
          <a:xfrm>
            <a:off x="6278727" y="4662584"/>
            <a:ext cx="5373471" cy="1573623"/>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a:t>
            </a:r>
            <a:r>
              <a:rPr sz="1250" b="1" i="0">
                <a:solidFill>
                  <a:srgbClr val="21295C"/>
                </a:solidFill>
                <a:latin typeface="Arial"/>
              </a:rPr>
              <a:t>На какой группе считали.</a:t>
            </a:r>
            <a:r>
              <a:rPr sz="1250" b="0" i="0">
                <a:solidFill>
                  <a:srgbClr val="21295C"/>
                </a:solidFill>
                <a:latin typeface="Arial"/>
              </a:rPr>
              <a:t> Доли считаются в группе, которую собрал отбор.</a:t>
            </a:r>
          </a:p>
          <a:p>
            <a:pPr algn="l">
              <a:lnSpc>
                <a:spcPct val="126000"/>
              </a:lnSpc>
              <a:spcBef>
                <a:spcPts val="360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Порог «болен».</a:t>
            </a:r>
            <a:r>
              <a:rPr sz="1250" b="0" i="0">
                <a:solidFill>
                  <a:srgbClr val="21295C"/>
                </a:solidFill>
                <a:latin typeface="Arial"/>
              </a:rPr>
              <a:t> Его назначает протокол под цену исхода, а не разработчик.</a:t>
            </a:r>
          </a:p>
        </p:txBody>
      </p:sp>
      <p:sp>
        <p:nvSpPr>
          <p:cNvPr id="27" name="Rectangle 26"/>
          <p:cNvSpPr/>
          <p:nvPr/>
        </p:nvSpPr>
        <p:spPr>
          <a:xfrm>
            <a:off x="6091275" y="4662584"/>
            <a:ext cx="9144" cy="1447403"/>
          </a:xfrm>
          <a:prstGeom prst="rect">
            <a:avLst/>
          </a:prstGeom>
          <a:solidFill>
            <a:srgbClr val="D9E2EC"/>
          </a:solidFill>
          <a:ln>
            <a:noFill/>
          </a:ln>
          <a:effectLst/>
        </p:spPr>
        <p:txBody>
          <a:bodyPr rtlCol="0" anchor="ctr"/>
          <a:lstStyle/>
          <a:p>
            <a:pPr algn="ctr"/>
          </a:p>
        </p:txBody>
      </p:sp>
      <p:sp>
        <p:nvSpPr>
          <p:cNvPr id="28" name="Rectangle 2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Допуск изделия с обученной моделью: пути и счёт</a:t>
            </a:r>
          </a:p>
        </p:txBody>
      </p:sp>
      <p:sp>
        <p:nvSpPr>
          <p:cNvPr id="4" name="Rounded Rectangle 3"/>
          <p:cNvSpPr/>
          <p:nvPr/>
        </p:nvSpPr>
        <p:spPr>
          <a:xfrm>
            <a:off x="502920" y="133502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КОРОТКОЙ ДОРОГОЙ</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1 553 из 1 614</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похожести на уже допущенное изделие</a:t>
            </a:r>
          </a:p>
        </p:txBody>
      </p:sp>
      <p:sp>
        <p:nvSpPr>
          <p:cNvPr id="8" name="Rounded Rectangle 7"/>
          <p:cNvSpPr/>
          <p:nvPr/>
        </p:nvSpPr>
        <p:spPr>
          <a:xfrm>
            <a:off x="4286402" y="133502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ПОЛНЫМ ЦИКЛОМ</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 из 1 614</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 собственными клиническими испытаниями</a:t>
            </a:r>
          </a:p>
        </p:txBody>
      </p:sp>
      <p:sp>
        <p:nvSpPr>
          <p:cNvPr id="12" name="Rounded Rectangle 11"/>
          <p:cNvSpPr/>
          <p:nvPr/>
        </p:nvSpPr>
        <p:spPr>
          <a:xfrm>
            <a:off x="8069884" y="1335024"/>
            <a:ext cx="3618890"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РЕГИСТРАЦИЯ В РОССИИ ЦЕЛИКОМ</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0,6–3 млн рублей</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 1 → класс 3</a:t>
            </a:r>
          </a:p>
        </p:txBody>
      </p:sp>
      <p:sp>
        <p:nvSpPr>
          <p:cNvPr id="16" name="TextBox 15"/>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короткий</a:t>
            </a:r>
          </a:p>
        </p:txBody>
      </p:sp>
      <p:sp>
        <p:nvSpPr>
          <p:cNvPr id="17" name="Rounded Rectangle 16"/>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Заявка</a:t>
            </a:r>
          </a:p>
        </p:txBody>
      </p:sp>
      <p:sp>
        <p:nvSpPr>
          <p:cNvPr id="19" name="Right Arrow 18"/>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Похож на предшественник</a:t>
            </a:r>
          </a:p>
        </p:txBody>
      </p:sp>
      <p:sp>
        <p:nvSpPr>
          <p:cNvPr id="22" name="Right Arrow 21"/>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a:t>
            </a:r>
          </a:p>
        </p:txBody>
      </p:sp>
      <p:sp>
        <p:nvSpPr>
          <p:cNvPr id="25" name="TextBox 24"/>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США, полный</a:t>
            </a:r>
          </a:p>
        </p:txBody>
      </p:sp>
      <p:sp>
        <p:nvSpPr>
          <p:cNvPr id="26" name="Rounded Rectangle 25"/>
          <p:cNvSpPr/>
          <p:nvPr/>
        </p:nvSpPr>
        <p:spPr>
          <a:xfrm>
            <a:off x="1920240"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Заявка</a:t>
            </a:r>
          </a:p>
        </p:txBody>
      </p:sp>
      <p:sp>
        <p:nvSpPr>
          <p:cNvPr id="28" name="Right Arrow 27"/>
          <p:cNvSpPr/>
          <p:nvPr/>
        </p:nvSpPr>
        <p:spPr>
          <a:xfrm>
            <a:off x="4202353" y="3474471"/>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4513249"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Испытания</a:t>
            </a:r>
          </a:p>
        </p:txBody>
      </p:sp>
      <p:sp>
        <p:nvSpPr>
          <p:cNvPr id="31" name="Right Arrow 30"/>
          <p:cNvSpPr/>
          <p:nvPr/>
        </p:nvSpPr>
        <p:spPr>
          <a:xfrm>
            <a:off x="6713067" y="347447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Экспертиза</a:t>
            </a:r>
          </a:p>
        </p:txBody>
      </p:sp>
      <p:sp>
        <p:nvSpPr>
          <p:cNvPr id="34" name="Right Arrow 33"/>
          <p:cNvSpPr/>
          <p:nvPr/>
        </p:nvSpPr>
        <p:spPr>
          <a:xfrm>
            <a:off x="9223781" y="347447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330535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335107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a:t>
            </a:r>
          </a:p>
        </p:txBody>
      </p:sp>
      <p:sp>
        <p:nvSpPr>
          <p:cNvPr id="37" name="TextBox 36"/>
          <p:cNvSpPr txBox="1"/>
          <p:nvPr/>
        </p:nvSpPr>
        <p:spPr>
          <a:xfrm>
            <a:off x="502920" y="396362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Россия, все классы</a:t>
            </a:r>
          </a:p>
        </p:txBody>
      </p:sp>
      <p:sp>
        <p:nvSpPr>
          <p:cNvPr id="38" name="Rounded Rectangle 37"/>
          <p:cNvSpPr/>
          <p:nvPr/>
        </p:nvSpPr>
        <p:spPr>
          <a:xfrm>
            <a:off x="1920240"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2002536"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Испытания</a:t>
            </a:r>
          </a:p>
        </p:txBody>
      </p:sp>
      <p:sp>
        <p:nvSpPr>
          <p:cNvPr id="40" name="Right Arrow 39"/>
          <p:cNvSpPr/>
          <p:nvPr/>
        </p:nvSpPr>
        <p:spPr>
          <a:xfrm>
            <a:off x="4202353" y="4096168"/>
            <a:ext cx="182880" cy="137160"/>
          </a:xfrm>
          <a:prstGeom prst="rightArrow">
            <a:avLst/>
          </a:prstGeom>
          <a:solidFill>
            <a:srgbClr val="1C7293"/>
          </a:solidFill>
          <a:ln>
            <a:noFill/>
          </a:ln>
          <a:effectLst/>
        </p:spPr>
        <p:txBody>
          <a:bodyPr rtlCol="0" anchor="ctr"/>
          <a:lstStyle/>
          <a:p>
            <a:pPr algn="ctr"/>
          </a:p>
        </p:txBody>
      </p:sp>
      <p:sp>
        <p:nvSpPr>
          <p:cNvPr id="41" name="Rounded Rectangle 40"/>
          <p:cNvSpPr/>
          <p:nvPr/>
        </p:nvSpPr>
        <p:spPr>
          <a:xfrm>
            <a:off x="4430953"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2" name="TextBox 41"/>
          <p:cNvSpPr txBox="1"/>
          <p:nvPr/>
        </p:nvSpPr>
        <p:spPr>
          <a:xfrm>
            <a:off x="4513249"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Токсикология</a:t>
            </a:r>
          </a:p>
        </p:txBody>
      </p:sp>
      <p:sp>
        <p:nvSpPr>
          <p:cNvPr id="43" name="Right Arrow 42"/>
          <p:cNvSpPr/>
          <p:nvPr/>
        </p:nvSpPr>
        <p:spPr>
          <a:xfrm>
            <a:off x="6713067" y="4096168"/>
            <a:ext cx="182880" cy="137160"/>
          </a:xfrm>
          <a:prstGeom prst="rightArrow">
            <a:avLst/>
          </a:prstGeom>
          <a:solidFill>
            <a:srgbClr val="1C7293"/>
          </a:solidFill>
          <a:ln>
            <a:noFill/>
          </a:ln>
          <a:effectLst/>
        </p:spPr>
        <p:txBody>
          <a:bodyPr rtlCol="0" anchor="ctr"/>
          <a:lstStyle/>
          <a:p>
            <a:pPr algn="ctr"/>
          </a:p>
        </p:txBody>
      </p:sp>
      <p:sp>
        <p:nvSpPr>
          <p:cNvPr id="44" name="Rounded Rectangle 43"/>
          <p:cNvSpPr/>
          <p:nvPr/>
        </p:nvSpPr>
        <p:spPr>
          <a:xfrm>
            <a:off x="6941667"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5" name="TextBox 44"/>
          <p:cNvSpPr txBox="1"/>
          <p:nvPr/>
        </p:nvSpPr>
        <p:spPr>
          <a:xfrm>
            <a:off x="7023963"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Клинические данные</a:t>
            </a:r>
          </a:p>
        </p:txBody>
      </p:sp>
      <p:sp>
        <p:nvSpPr>
          <p:cNvPr id="46" name="Right Arrow 45"/>
          <p:cNvSpPr/>
          <p:nvPr/>
        </p:nvSpPr>
        <p:spPr>
          <a:xfrm>
            <a:off x="9223781" y="4096168"/>
            <a:ext cx="182880" cy="137160"/>
          </a:xfrm>
          <a:prstGeom prst="rightArrow">
            <a:avLst/>
          </a:prstGeom>
          <a:solidFill>
            <a:srgbClr val="1C7293"/>
          </a:solidFill>
          <a:ln>
            <a:noFill/>
          </a:ln>
          <a:effectLst/>
        </p:spPr>
        <p:txBody>
          <a:bodyPr rtlCol="0" anchor="ctr"/>
          <a:lstStyle/>
          <a:p>
            <a:pPr algn="ctr"/>
          </a:p>
        </p:txBody>
      </p:sp>
      <p:sp>
        <p:nvSpPr>
          <p:cNvPr id="47" name="Rounded Rectangle 46"/>
          <p:cNvSpPr/>
          <p:nvPr/>
        </p:nvSpPr>
        <p:spPr>
          <a:xfrm>
            <a:off x="9452381" y="392705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8" name="TextBox 47"/>
          <p:cNvSpPr txBox="1"/>
          <p:nvPr/>
        </p:nvSpPr>
        <p:spPr>
          <a:xfrm>
            <a:off x="9534677" y="397277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Экспертиза</a:t>
            </a:r>
          </a:p>
        </p:txBody>
      </p:sp>
      <p:sp>
        <p:nvSpPr>
          <p:cNvPr id="49" name="TextBox 48"/>
          <p:cNvSpPr txBox="1"/>
          <p:nvPr/>
        </p:nvSpPr>
        <p:spPr>
          <a:xfrm>
            <a:off x="502920" y="443902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Полный американский порядок близок к российскому; короткого пути в России нет</a:t>
            </a:r>
          </a:p>
        </p:txBody>
      </p:sp>
      <p:sp>
        <p:nvSpPr>
          <p:cNvPr id="50" name="Rounded Rectangle 49"/>
          <p:cNvSpPr/>
          <p:nvPr/>
        </p:nvSpPr>
        <p:spPr>
          <a:xfrm>
            <a:off x="374904" y="4741704"/>
            <a:ext cx="11441887" cy="121581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51" name="TextBox 50"/>
          <p:cNvSpPr txBox="1"/>
          <p:nvPr/>
        </p:nvSpPr>
        <p:spPr>
          <a:xfrm>
            <a:off x="539496" y="4833144"/>
            <a:ext cx="11112703" cy="1403063"/>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Без регистрационного удостоверения изделие нельзя ни применить на человеке, ни купить за бюджетные деньги.</a:t>
            </a:r>
          </a:p>
          <a:p>
            <a:pPr algn="l">
              <a:lnSpc>
                <a:spcPct val="118000"/>
              </a:lnSpc>
              <a:spcBef>
                <a:spcPts val="600"/>
              </a:spcBef>
            </a:pPr>
            <a:r>
              <a:rPr sz="1400" b="0" i="0">
                <a:solidFill>
                  <a:srgbClr val="21295C"/>
                </a:solidFill>
                <a:latin typeface="Arial"/>
              </a:rPr>
              <a:t/>
            </a:r>
            <a:r>
              <a:rPr sz="1400" b="1" i="0">
                <a:solidFill>
                  <a:srgbClr val="21295C"/>
                </a:solidFill>
                <a:latin typeface="Arial"/>
              </a:rPr>
              <a:t>По-настоящему новых изделий прибавляется 3,1 в год:</a:t>
            </a:r>
            <a:r>
              <a:rPr sz="1400" b="0" i="0">
                <a:solidFill>
                  <a:srgbClr val="21295C"/>
                </a:solidFill>
                <a:latin typeface="Arial"/>
              </a:rPr>
              <a:t> 56 к концу 2025 года против 7 к 2010-му. Остальной прирост идёт через похожесть на предшественник.</a:t>
            </a:r>
          </a:p>
        </p:txBody>
      </p:sp>
      <p:sp>
        <p:nvSpPr>
          <p:cNvPr id="52" name="Rectangle 5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3" name="TextBox 5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Полная запись источников в репозитории курса</a:t>
            </a:r>
            <a:r>
              <a:rPr sz="1200" b="0" i="1">
                <a:solidFill>
                  <a:srgbClr val="1C7293"/>
                </a:solidFill>
                <a:latin typeface="Arial"/>
              </a:rPr>
              <a:t> · </a:t>
            </a:r>
            <a:r>
              <a:rPr sz="1200" b="0" i="1" u="sng">
                <a:solidFill>
                  <a:srgbClr val="065A82"/>
                </a:solidFill>
                <a:latin typeface="Arial"/>
                <a:hlinkClick r:id="rId2"/>
              </a:rPr>
              <a:t>допуск в США, ступени и доли</a:t>
            </a:r>
            <a:r>
              <a:rPr sz="1200" b="0" i="1">
                <a:solidFill>
                  <a:srgbClr val="1C7293"/>
                </a:solidFill>
                <a:latin typeface="Arial"/>
              </a:rPr>
              <a:t> · </a:t>
            </a:r>
            <a:r>
              <a:rPr sz="1200" b="0" i="1" u="sng">
                <a:solidFill>
                  <a:srgbClr val="065A82"/>
                </a:solidFill>
                <a:latin typeface="Arial"/>
                <a:hlinkClick r:id="rId3"/>
              </a:rPr>
              <a:t>допуск в России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Применение модели: врачи и поток исследований</a:t>
            </a:r>
          </a:p>
        </p:txBody>
      </p:sp>
      <p:pic>
        <p:nvPicPr>
          <p:cNvPr id="4" name="Picture 3" descr="s0Xc-potok-za-god.png"/>
          <p:cNvPicPr>
            <a:picLocks noChangeAspect="1"/>
          </p:cNvPicPr>
          <p:nvPr/>
        </p:nvPicPr>
        <p:blipFill>
          <a:blip r:embed="rId2"/>
          <a:stretch>
            <a:fillRect/>
          </a:stretch>
        </p:blipFill>
        <p:spPr>
          <a:xfrm>
            <a:off x="507847" y="1335024"/>
            <a:ext cx="11176000" cy="2743200"/>
          </a:xfrm>
          <a:prstGeom prst="rect">
            <a:avLst/>
          </a:prstGeom>
        </p:spPr>
      </p:pic>
      <p:sp>
        <p:nvSpPr>
          <p:cNvPr id="5" name="Rounded Rectangle 4"/>
          <p:cNvSpPr/>
          <p:nvPr/>
        </p:nvSpPr>
        <p:spPr>
          <a:xfrm>
            <a:off x="502920" y="426110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6" name="TextBox 5"/>
          <p:cNvSpPr txBox="1"/>
          <p:nvPr/>
        </p:nvSpPr>
        <p:spPr>
          <a:xfrm>
            <a:off x="640080"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ВРАЧИ США</a:t>
            </a:r>
          </a:p>
        </p:txBody>
      </p:sp>
      <p:sp>
        <p:nvSpPr>
          <p:cNvPr id="7" name="TextBox 6"/>
          <p:cNvSpPr txBox="1"/>
          <p:nvPr/>
        </p:nvSpPr>
        <p:spPr>
          <a:xfrm>
            <a:off x="640080"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38% → 66%</a:t>
            </a:r>
          </a:p>
        </p:txBody>
      </p:sp>
      <p:sp>
        <p:nvSpPr>
          <p:cNvPr id="8" name="TextBox 7"/>
          <p:cNvSpPr txBox="1"/>
          <p:nvPr/>
        </p:nvSpPr>
        <p:spPr>
          <a:xfrm>
            <a:off x="640080"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1,1 млн практикующих, 2023 и 2024</a:t>
            </a:r>
          </a:p>
        </p:txBody>
      </p:sp>
      <p:sp>
        <p:nvSpPr>
          <p:cNvPr id="9" name="Rounded Rectangle 8"/>
          <p:cNvSpPr/>
          <p:nvPr/>
        </p:nvSpPr>
        <p:spPr>
          <a:xfrm>
            <a:off x="4286402" y="426110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0" name="TextBox 9"/>
          <p:cNvSpPr txBox="1"/>
          <p:nvPr/>
        </p:nvSpPr>
        <p:spPr>
          <a:xfrm>
            <a:off x="4423562"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ДОПУЩЕНО И ОПЛАЧИВАЕТСЯ</a:t>
            </a:r>
          </a:p>
        </p:txBody>
      </p:sp>
      <p:sp>
        <p:nvSpPr>
          <p:cNvPr id="11" name="TextBox 10"/>
          <p:cNvSpPr txBox="1"/>
          <p:nvPr/>
        </p:nvSpPr>
        <p:spPr>
          <a:xfrm>
            <a:off x="4423562"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 из 1 614 · 49 из 549</a:t>
            </a:r>
          </a:p>
        </p:txBody>
      </p:sp>
      <p:sp>
        <p:nvSpPr>
          <p:cNvPr id="12" name="TextBox 11"/>
          <p:cNvSpPr txBox="1"/>
          <p:nvPr/>
        </p:nvSpPr>
        <p:spPr>
          <a:xfrm>
            <a:off x="4423562" y="507845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постоянные коды оплаты, США · возмещение, Корея</a:t>
            </a:r>
          </a:p>
        </p:txBody>
      </p:sp>
      <p:sp>
        <p:nvSpPr>
          <p:cNvPr id="13" name="Rounded Rectangle 12"/>
          <p:cNvSpPr/>
          <p:nvPr/>
        </p:nvSpPr>
        <p:spPr>
          <a:xfrm>
            <a:off x="8069884" y="426110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4" name="TextBox 13"/>
          <p:cNvSpPr txBox="1"/>
          <p:nvPr/>
        </p:nvSpPr>
        <p:spPr>
          <a:xfrm>
            <a:off x="8207044"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ЛЮДИ В ЗОНЕ ПОКРЫТИЯ</a:t>
            </a:r>
          </a:p>
        </p:txBody>
      </p:sp>
      <p:sp>
        <p:nvSpPr>
          <p:cNvPr id="15" name="TextBox 14"/>
          <p:cNvSpPr txBox="1"/>
          <p:nvPr/>
        </p:nvSpPr>
        <p:spPr>
          <a:xfrm>
            <a:off x="8207044" y="465145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230 млн</a:t>
            </a:r>
          </a:p>
        </p:txBody>
      </p:sp>
      <p:sp>
        <p:nvSpPr>
          <p:cNvPr id="16" name="TextBox 15"/>
          <p:cNvSpPr txBox="1"/>
          <p:nvPr/>
        </p:nvSpPr>
        <p:spPr>
          <a:xfrm>
            <a:off x="8207044"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Viz.ai, 2 000 больниц; охват, не случаи</a:t>
            </a:r>
          </a:p>
        </p:txBody>
      </p:sp>
      <p:sp>
        <p:nvSpPr>
          <p:cNvPr id="17" name="Rounded Rectangle 16"/>
          <p:cNvSpPr/>
          <p:nvPr/>
        </p:nvSpPr>
        <p:spPr>
          <a:xfrm>
            <a:off x="374904" y="5729541"/>
            <a:ext cx="11441887" cy="5066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5820981"/>
            <a:ext cx="11112703" cy="415226"/>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Врачи мира: 3 млн из 13–15 млн. Россия: 15–25% из 770 тысяч.</a:t>
            </a:r>
            <a:r>
              <a:rPr sz="1400" b="0" i="0">
                <a:solidFill>
                  <a:srgbClr val="21295C"/>
                </a:solidFill>
                <a:latin typeface="Arial"/>
              </a:rPr>
              <a:t> У кого в контуре стоит модель — и кто разбирает её отказы?</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Полная запись источников в репозитории курса</a:t>
            </a:r>
            <a:r>
              <a:rPr sz="1200" b="0" i="1">
                <a:solidFill>
                  <a:srgbClr val="1C7293"/>
                </a:solidFill>
                <a:latin typeface="Arial"/>
              </a:rPr>
              <a:t> · </a:t>
            </a:r>
            <a:r>
              <a:rPr sz="1200" b="0" i="1" u="sng">
                <a:solidFill>
                  <a:srgbClr val="065A82"/>
                </a:solidFill>
                <a:latin typeface="Arial"/>
                <a:hlinkClick r:id="rId3"/>
              </a:rPr>
              <a:t>агрегаты внедрения</a:t>
            </a:r>
            <a:r>
              <a:rPr sz="1200" b="0" i="1">
                <a:solidFill>
                  <a:srgbClr val="1C7293"/>
                </a:solidFill>
                <a:latin typeface="Arial"/>
              </a:rPr>
              <a:t> · </a:t>
            </a:r>
            <a:r>
              <a:rPr sz="1200" b="0" i="1" u="sng">
                <a:solidFill>
                  <a:srgbClr val="065A82"/>
                </a:solidFill>
                <a:latin typeface="Arial"/>
                <a:hlinkClick r:id="rId4"/>
              </a:rPr>
              <a:t>использование и эффект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Шесть искажений входа: имена</a:t>
            </a:r>
          </a:p>
        </p:txBody>
      </p:sp>
      <p:sp>
        <p:nvSpPr>
          <p:cNvPr id="4" name="Rounded Rectangle 3"/>
          <p:cNvSpPr/>
          <p:nvPr/>
        </p:nvSpPr>
        <p:spPr>
          <a:xfrm>
            <a:off x="1743747" y="1335024"/>
            <a:ext cx="3019832" cy="2651760"/>
          </a:xfrm>
          <a:prstGeom prst="roundRect">
            <a:avLst>
              <a:gd name="adj" fmla="val 11494"/>
            </a:avLst>
          </a:prstGeom>
          <a:solidFill>
            <a:srgbClr val="FFFFFF"/>
          </a:solidFill>
          <a:ln w="19050">
            <a:solidFill>
              <a:srgbClr val="1C7293"/>
            </a:solidFill>
          </a:ln>
          <a:effectLst/>
        </p:spPr>
        <p:txBody>
          <a:bodyPr rtlCol="0" anchor="ctr"/>
          <a:lstStyle/>
          <a:p>
            <a:pPr algn="ctr"/>
          </a:p>
        </p:txBody>
      </p:sp>
      <p:pic>
        <p:nvPicPr>
          <p:cNvPr id="5" name="Picture 4" descr="s35-vrach-chitaet-s-ekrana.jpg"/>
          <p:cNvPicPr>
            <a:picLocks noChangeAspect="1"/>
          </p:cNvPicPr>
          <p:nvPr/>
        </p:nvPicPr>
        <p:blipFill>
          <a:blip r:embed="rId2"/>
          <a:stretch>
            <a:fillRect/>
          </a:stretch>
        </p:blipFill>
        <p:spPr>
          <a:xfrm>
            <a:off x="1908339" y="1499616"/>
            <a:ext cx="2690648" cy="1901952"/>
          </a:xfrm>
          <a:prstGeom prst="rect">
            <a:avLst/>
          </a:prstGeom>
        </p:spPr>
      </p:pic>
      <p:sp>
        <p:nvSpPr>
          <p:cNvPr id="6" name="TextBox 5"/>
          <p:cNvSpPr txBox="1"/>
          <p:nvPr/>
        </p:nvSpPr>
        <p:spPr>
          <a:xfrm>
            <a:off x="1908339" y="3419856"/>
            <a:ext cx="2690648" cy="420623"/>
          </a:xfrm>
          <a:prstGeom prst="rect">
            <a:avLst/>
          </a:prstGeom>
          <a:noFill/>
        </p:spPr>
        <p:txBody>
          <a:bodyPr wrap="square" lIns="0" rIns="0" tIns="0" bIns="0" anchor="t">
            <a:spAutoFit/>
          </a:bodyPr>
          <a:lstStyle/>
          <a:p>
            <a:pPr algn="ctr">
              <a:lnSpc>
                <a:spcPct val="112000"/>
              </a:lnSpc>
            </a:pPr>
            <a:r>
              <a:rPr sz="1200" b="0" i="1">
                <a:solidFill>
                  <a:srgbClr val="1C7293"/>
                </a:solidFill>
                <a:latin typeface="Arial"/>
              </a:rPr>
              <a:t>Врач</a:t>
            </a:r>
          </a:p>
        </p:txBody>
      </p:sp>
      <p:sp>
        <p:nvSpPr>
          <p:cNvPr id="7" name="Rounded Rectangle 6"/>
          <p:cNvSpPr/>
          <p:nvPr/>
        </p:nvSpPr>
        <p:spPr>
          <a:xfrm>
            <a:off x="7427916" y="1335024"/>
            <a:ext cx="3020228" cy="2651760"/>
          </a:xfrm>
          <a:prstGeom prst="roundRect">
            <a:avLst>
              <a:gd name="adj" fmla="val 11494"/>
            </a:avLst>
          </a:prstGeom>
          <a:solidFill>
            <a:srgbClr val="FFFFFF"/>
          </a:solidFill>
          <a:ln w="19050">
            <a:solidFill>
              <a:srgbClr val="1C7293"/>
            </a:solidFill>
          </a:ln>
          <a:effectLst/>
        </p:spPr>
        <p:txBody>
          <a:bodyPr rtlCol="0" anchor="ctr"/>
          <a:lstStyle/>
          <a:p>
            <a:pPr algn="ctr"/>
          </a:p>
        </p:txBody>
      </p:sp>
      <p:pic>
        <p:nvPicPr>
          <p:cNvPr id="8" name="Picture 7" descr="dve-storony-pacient-landscape.jpg"/>
          <p:cNvPicPr>
            <a:picLocks noChangeAspect="1"/>
          </p:cNvPicPr>
          <p:nvPr/>
        </p:nvPicPr>
        <p:blipFill>
          <a:blip r:embed="rId3"/>
          <a:stretch>
            <a:fillRect/>
          </a:stretch>
        </p:blipFill>
        <p:spPr>
          <a:xfrm>
            <a:off x="7592508" y="1499616"/>
            <a:ext cx="2691044" cy="1901952"/>
          </a:xfrm>
          <a:prstGeom prst="rect">
            <a:avLst/>
          </a:prstGeom>
        </p:spPr>
      </p:pic>
      <p:sp>
        <p:nvSpPr>
          <p:cNvPr id="9" name="TextBox 8"/>
          <p:cNvSpPr txBox="1"/>
          <p:nvPr/>
        </p:nvSpPr>
        <p:spPr>
          <a:xfrm>
            <a:off x="7592508" y="3419856"/>
            <a:ext cx="2691044" cy="420623"/>
          </a:xfrm>
          <a:prstGeom prst="rect">
            <a:avLst/>
          </a:prstGeom>
          <a:noFill/>
        </p:spPr>
        <p:txBody>
          <a:bodyPr wrap="square" lIns="0" rIns="0" tIns="0" bIns="0" anchor="t">
            <a:spAutoFit/>
          </a:bodyPr>
          <a:lstStyle/>
          <a:p>
            <a:pPr algn="ctr">
              <a:lnSpc>
                <a:spcPct val="112000"/>
              </a:lnSpc>
            </a:pPr>
            <a:r>
              <a:rPr sz="1200" b="0" i="1">
                <a:solidFill>
                  <a:srgbClr val="1C7293"/>
                </a:solidFill>
                <a:latin typeface="Arial"/>
              </a:rPr>
              <a:t>Пациент</a:t>
            </a:r>
          </a:p>
        </p:txBody>
      </p:sp>
      <p:sp>
        <p:nvSpPr>
          <p:cNvPr id="10" name="Rounded Rectangle 9"/>
          <p:cNvSpPr/>
          <p:nvPr/>
        </p:nvSpPr>
        <p:spPr>
          <a:xfrm>
            <a:off x="374904" y="4078224"/>
            <a:ext cx="11441887" cy="2157984"/>
          </a:xfrm>
          <a:prstGeom prst="roundRect">
            <a:avLst>
              <a:gd name="adj" fmla="val 14124"/>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169664"/>
            <a:ext cx="11112703" cy="2066543"/>
          </a:xfrm>
          <a:prstGeom prst="rect">
            <a:avLst/>
          </a:prstGeom>
          <a:noFill/>
        </p:spPr>
        <p:txBody>
          <a:bodyPr wrap="square" lIns="0" rIns="0" tIns="0" bIns="0" anchor="t">
            <a:spAutoFit/>
          </a:bodyPr>
          <a:lstStyle/>
          <a:p>
            <a:pPr algn="l">
              <a:lnSpc>
                <a:spcPct val="118000"/>
              </a:lnSpc>
            </a:pPr>
            <a:r>
              <a:rPr sz="1400" b="0" i="0">
                <a:solidFill>
                  <a:srgbClr val="21295C"/>
                </a:solidFill>
                <a:latin typeface="Arial"/>
              </a:rPr>
              <a:t>• </a:t>
            </a:r>
            <a:r>
              <a:rPr sz="1400" b="1" i="0">
                <a:solidFill>
                  <a:srgbClr val="21295C"/>
                </a:solidFill>
                <a:latin typeface="Arial"/>
              </a:rPr>
              <a:t>Якорение.</a:t>
            </a:r>
            <a:r>
              <a:rPr sz="1400" b="0" i="0">
                <a:solidFill>
                  <a:srgbClr val="21295C"/>
                </a:solidFill>
                <a:latin typeface="Arial"/>
              </a:rPr>
              <a:t> Заключение сдвигается к подсказке модели, даже заведомо неверной.</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Сужение.</a:t>
            </a:r>
            <a:r>
              <a:rPr sz="1400" b="0" i="0">
                <a:solidFill>
                  <a:srgbClr val="21295C"/>
                </a:solidFill>
                <a:latin typeface="Arial"/>
              </a:rPr>
              <a:t> Где модель молчит, взгляд не задерживается.</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Износ навыка.</a:t>
            </a:r>
            <a:r>
              <a:rPr sz="1400" b="0" i="0">
                <a:solidFill>
                  <a:srgbClr val="21295C"/>
                </a:solidFill>
                <a:latin typeface="Arial"/>
              </a:rPr>
              <a:t> Привыкнув к модели, без неё находят меньше.</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Поток тревог.</a:t>
            </a:r>
            <a:r>
              <a:rPr sz="1400" b="0" i="0">
                <a:solidFill>
                  <a:srgbClr val="21295C"/>
                </a:solidFill>
                <a:latin typeface="Arial"/>
              </a:rPr>
              <a:t> Тревоги идут подряд, и отклонять их начинают подряд.</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Несогласие.</a:t>
            </a:r>
            <a:r>
              <a:rPr sz="1400" b="0" i="0">
                <a:solidFill>
                  <a:srgbClr val="21295C"/>
                </a:solidFill>
                <a:latin typeface="Arial"/>
              </a:rPr>
              <a:t> Расхождение с моделью разбирают отдельным шагом, и шаг этот новый.</a:t>
            </a:r>
          </a:p>
          <a:p>
            <a:pPr algn="l">
              <a:lnSpc>
                <a:spcPct val="118000"/>
              </a:lnSpc>
              <a:spcBef>
                <a:spcPts val="600"/>
              </a:spcBef>
            </a:pPr>
            <a:r>
              <a:rPr sz="1400" b="0" i="0">
                <a:solidFill>
                  <a:srgbClr val="21295C"/>
                </a:solidFill>
                <a:latin typeface="Arial"/>
              </a:rPr>
              <a:t/>
            </a:r>
            <a:r>
              <a:rPr sz="1400" b="0" i="0">
                <a:solidFill>
                  <a:srgbClr val="21295C"/>
                </a:solidFill>
                <a:latin typeface="Arial"/>
              </a:rPr>
              <a:t>• </a:t>
            </a:r>
            <a:r>
              <a:rPr sz="1400" b="1" i="0">
                <a:solidFill>
                  <a:srgbClr val="21295C"/>
                </a:solidFill>
                <a:latin typeface="Arial"/>
              </a:rPr>
              <a:t>Поправка.</a:t>
            </a:r>
            <a:r>
              <a:rPr sz="1400" b="0" i="0">
                <a:solidFill>
                  <a:srgbClr val="21295C"/>
                </a:solidFill>
                <a:latin typeface="Arial"/>
              </a:rPr>
              <a:t> Единственный в нашу пользу: врач правит заключение модели, найдя ошибку.</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4"/>
              </a:rPr>
              <a:t>Полная запись источников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решают без модели и четыре ступени участия человека</a:t>
            </a:r>
          </a:p>
        </p:txBody>
      </p:sp>
      <p:sp>
        <p:nvSpPr>
          <p:cNvPr id="4" name="TextBox 3"/>
          <p:cNvSpPr txBox="1"/>
          <p:nvPr/>
        </p:nvSpPr>
        <p:spPr>
          <a:xfrm>
            <a:off x="502920" y="1335024"/>
            <a:ext cx="11185855" cy="237744"/>
          </a:xfrm>
          <a:prstGeom prst="rect">
            <a:avLst/>
          </a:prstGeom>
          <a:noFill/>
        </p:spPr>
        <p:txBody>
          <a:bodyPr wrap="square" lIns="0" rIns="0" tIns="0" bIns="0" anchor="t">
            <a:spAutoFit/>
          </a:bodyPr>
          <a:lstStyle/>
          <a:p>
            <a:pPr algn="l">
              <a:lnSpc>
                <a:spcPct val="110000"/>
              </a:lnSpc>
            </a:pPr>
            <a:r>
              <a:rPr sz="1200" b="0" i="1">
                <a:solidFill>
                  <a:srgbClr val="065A82"/>
                </a:solidFill>
                <a:latin typeface="Arial"/>
              </a:rPr>
              <a:t>участие человека — вниз по ступеням</a:t>
            </a:r>
          </a:p>
        </p:txBody>
      </p:sp>
      <p:sp>
        <p:nvSpPr>
          <p:cNvPr id="5" name="Rounded Rectangle 4"/>
          <p:cNvSpPr/>
          <p:nvPr/>
        </p:nvSpPr>
        <p:spPr>
          <a:xfrm>
            <a:off x="502920" y="1664207"/>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594360" y="1709928"/>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первым</a:t>
            </a:r>
          </a:p>
        </p:txBody>
      </p:sp>
      <p:sp>
        <p:nvSpPr>
          <p:cNvPr id="7" name="Rounded Rectangle 6"/>
          <p:cNvSpPr/>
          <p:nvPr/>
        </p:nvSpPr>
        <p:spPr>
          <a:xfrm>
            <a:off x="3326815" y="1865376"/>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18255" y="1911095"/>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вторым</a:t>
            </a:r>
          </a:p>
        </p:txBody>
      </p:sp>
      <p:sp>
        <p:nvSpPr>
          <p:cNvPr id="9" name="Rounded Rectangle 8"/>
          <p:cNvSpPr/>
          <p:nvPr/>
        </p:nvSpPr>
        <p:spPr>
          <a:xfrm>
            <a:off x="6150711" y="2066543"/>
            <a:ext cx="2714167" cy="658368"/>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242151" y="2112263"/>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только спорное</a:t>
            </a:r>
          </a:p>
        </p:txBody>
      </p:sp>
      <p:sp>
        <p:nvSpPr>
          <p:cNvPr id="11" name="Rounded Rectangle 10"/>
          <p:cNvSpPr/>
          <p:nvPr/>
        </p:nvSpPr>
        <p:spPr>
          <a:xfrm>
            <a:off x="8974607" y="2267712"/>
            <a:ext cx="2714167" cy="658368"/>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9066047" y="2313432"/>
            <a:ext cx="2531287" cy="566928"/>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Подписывает не глядя</a:t>
            </a:r>
          </a:p>
        </p:txBody>
      </p:sp>
      <p:sp>
        <p:nvSpPr>
          <p:cNvPr id="13" name="TextBox 12"/>
          <p:cNvSpPr txBox="1"/>
          <p:nvPr/>
        </p:nvSpPr>
        <p:spPr>
          <a:xfrm>
            <a:off x="502920" y="2999232"/>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требование регулятора исполнено на всех четырёх</a:t>
            </a:r>
          </a:p>
        </p:txBody>
      </p:sp>
      <p:sp>
        <p:nvSpPr>
          <p:cNvPr id="14" name="Rounded Rectangle 13"/>
          <p:cNvSpPr/>
          <p:nvPr/>
        </p:nvSpPr>
        <p:spPr>
          <a:xfrm>
            <a:off x="374904" y="3305687"/>
            <a:ext cx="11441887" cy="2930520"/>
          </a:xfrm>
          <a:prstGeom prst="roundRect">
            <a:avLst>
              <a:gd name="adj" fmla="val 104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3397127"/>
            <a:ext cx="5373471" cy="2839080"/>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Требование регулятора: человек — последнее звено.</a:t>
            </a:r>
            <a:r>
              <a:rPr sz="1350" b="0" i="0">
                <a:solidFill>
                  <a:srgbClr val="21295C"/>
                </a:solidFill>
                <a:latin typeface="Arial"/>
              </a:rPr>
              <a:t> Европейская норма говорит точнее: он обязан сохранять способность не согласиться и отменить. Присутствия при каждом решении она не требует.</a:t>
            </a:r>
          </a:p>
          <a:p>
            <a:pPr algn="l">
              <a:lnSpc>
                <a:spcPct val="126000"/>
              </a:lnSpc>
              <a:spcBef>
                <a:spcPts val="720"/>
              </a:spcBef>
            </a:pPr>
            <a:r>
              <a:rPr sz="1350" b="0" i="0">
                <a:solidFill>
                  <a:srgbClr val="21295C"/>
                </a:solidFill>
                <a:latin typeface="Arial"/>
              </a:rPr>
              <a:t/>
            </a:r>
            <a:r>
              <a:rPr sz="1350" b="1" i="0">
                <a:solidFill>
                  <a:srgbClr val="21295C"/>
                </a:solidFill>
                <a:latin typeface="Arial"/>
              </a:rPr>
              <a:t>Как решают без модели — классические режимы по именам:</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Отбор</a:t>
            </a:r>
            <a:r>
              <a:rPr sz="1350" b="0" i="0">
                <a:solidFill>
                  <a:srgbClr val="21295C"/>
                </a:solidFill>
                <a:latin typeface="Arial"/>
              </a:rPr>
              <a:t> — двойное чтение двумя независимыми, арбитраж третьим на расхождении.</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Диагностика</a:t>
            </a:r>
            <a:r>
              <a:rPr sz="1350" b="0" i="0">
                <a:solidFill>
                  <a:srgbClr val="21295C"/>
                </a:solidFill>
                <a:latin typeface="Arial"/>
              </a:rPr>
              <a:t> — две доли сразу: сколько нашли из больных и скольких не напугали из здоровых, обе при пороге протокола.</a:t>
            </a:r>
          </a:p>
        </p:txBody>
      </p:sp>
      <p:sp>
        <p:nvSpPr>
          <p:cNvPr id="16" name="TextBox 15"/>
          <p:cNvSpPr txBox="1"/>
          <p:nvPr/>
        </p:nvSpPr>
        <p:spPr>
          <a:xfrm>
            <a:off x="6278727" y="3397127"/>
            <a:ext cx="5373471" cy="2839080"/>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a:t>
            </a:r>
            <a:r>
              <a:rPr sz="1350" b="1" i="0">
                <a:solidFill>
                  <a:srgbClr val="21295C"/>
                </a:solidFill>
                <a:latin typeface="Arial"/>
              </a:rPr>
              <a:t>Диагноз</a:t>
            </a:r>
            <a:r>
              <a:rPr sz="1350" b="0" i="0">
                <a:solidFill>
                  <a:srgbClr val="21295C"/>
                </a:solidFill>
                <a:latin typeface="Arial"/>
              </a:rPr>
              <a:t> — выписать объясняющее, назначить различающую проверку; второе мнение, консилиум.</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Наблюдение</a:t>
            </a:r>
            <a:r>
              <a:rPr sz="1350" b="0" i="0">
                <a:solidFill>
                  <a:srgbClr val="21295C"/>
                </a:solidFill>
                <a:latin typeface="Arial"/>
              </a:rPr>
              <a:t> — шкала раннего предупреждения: баллы, сумма, порог эскалации.</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Документация</a:t>
            </a:r>
            <a:r>
              <a:rPr sz="1350" b="0" i="0">
                <a:solidFill>
                  <a:srgbClr val="21295C"/>
                </a:solidFill>
                <a:latin typeface="Arial"/>
              </a:rPr>
              <a:t> — структура записи, вычитка, подпись, выписной эпикриз.</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Надзор</a:t>
            </a:r>
            <a:r>
              <a:rPr sz="1350" b="0" i="0">
                <a:solidFill>
                  <a:srgbClr val="21295C"/>
                </a:solidFill>
                <a:latin typeface="Arial"/>
              </a:rPr>
              <a:t> — разбор случая после исхода и изменение порядка работы.</a:t>
            </a:r>
          </a:p>
        </p:txBody>
      </p:sp>
      <p:sp>
        <p:nvSpPr>
          <p:cNvPr id="17" name="Rectangle 16"/>
          <p:cNvSpPr/>
          <p:nvPr/>
        </p:nvSpPr>
        <p:spPr>
          <a:xfrm>
            <a:off x="6091275" y="3397127"/>
            <a:ext cx="9144" cy="2680515"/>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работы системы человек–ИИ: 50 врачей читают описания случаев</a:t>
            </a:r>
          </a:p>
        </p:txBody>
      </p:sp>
      <p:sp>
        <p:nvSpPr>
          <p:cNvPr id="4" name="Rectangle 3"/>
          <p:cNvSpPr/>
          <p:nvPr/>
        </p:nvSpPr>
        <p:spPr>
          <a:xfrm>
            <a:off x="754380" y="2005998"/>
            <a:ext cx="6440119" cy="50292"/>
          </a:xfrm>
          <a:prstGeom prst="rect">
            <a:avLst/>
          </a:prstGeom>
          <a:solidFill>
            <a:srgbClr val="1C7293"/>
          </a:solidFill>
          <a:ln>
            <a:noFill/>
          </a:ln>
          <a:effectLst/>
        </p:spPr>
        <p:txBody>
          <a:bodyPr rtlCol="0" anchor="ctr"/>
          <a:lstStyle/>
          <a:p>
            <a:pPr algn="ctr"/>
          </a:p>
        </p:txBody>
      </p:sp>
      <p:sp>
        <p:nvSpPr>
          <p:cNvPr id="5" name="TextBox 4"/>
          <p:cNvSpPr txBox="1"/>
          <p:nvPr/>
        </p:nvSpPr>
        <p:spPr>
          <a:xfrm>
            <a:off x="388620"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70</a:t>
            </a:r>
          </a:p>
        </p:txBody>
      </p:sp>
      <p:sp>
        <p:nvSpPr>
          <p:cNvPr id="6" name="TextBox 5"/>
          <p:cNvSpPr txBox="1"/>
          <p:nvPr/>
        </p:nvSpPr>
        <p:spPr>
          <a:xfrm>
            <a:off x="6828739" y="2092866"/>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100</a:t>
            </a:r>
          </a:p>
        </p:txBody>
      </p:sp>
      <p:sp>
        <p:nvSpPr>
          <p:cNvPr id="7" name="Rectangle 6"/>
          <p:cNvSpPr/>
          <p:nvPr/>
        </p:nvSpPr>
        <p:spPr>
          <a:xfrm>
            <a:off x="836676" y="1925531"/>
            <a:ext cx="37033" cy="211226"/>
          </a:xfrm>
          <a:prstGeom prst="rect">
            <a:avLst/>
          </a:prstGeom>
          <a:solidFill>
            <a:srgbClr val="FFFFFF"/>
          </a:solidFill>
          <a:ln>
            <a:noFill/>
          </a:ln>
          <a:effectLst/>
        </p:spPr>
        <p:txBody>
          <a:bodyPr rtlCol="0" anchor="ctr"/>
          <a:lstStyle/>
          <a:p>
            <a:pPr algn="ctr"/>
          </a:p>
        </p:txBody>
      </p:sp>
      <p:sp>
        <p:nvSpPr>
          <p:cNvPr id="8" name="Rectangle 7"/>
          <p:cNvSpPr/>
          <p:nvPr/>
        </p:nvSpPr>
        <p:spPr>
          <a:xfrm>
            <a:off x="910742" y="1925531"/>
            <a:ext cx="37033" cy="211226"/>
          </a:xfrm>
          <a:prstGeom prst="rect">
            <a:avLst/>
          </a:prstGeom>
          <a:solidFill>
            <a:srgbClr val="FFFFFF"/>
          </a:solidFill>
          <a:ln>
            <a:noFill/>
          </a:ln>
          <a:effectLst/>
        </p:spPr>
        <p:txBody>
          <a:bodyPr rtlCol="0" anchor="ctr"/>
          <a:lstStyle/>
          <a:p>
            <a:pPr algn="ctr"/>
          </a:p>
        </p:txBody>
      </p:sp>
      <p:sp>
        <p:nvSpPr>
          <p:cNvPr id="9" name="Rectangle 8"/>
          <p:cNvSpPr/>
          <p:nvPr/>
        </p:nvSpPr>
        <p:spPr>
          <a:xfrm>
            <a:off x="5334640" y="1841406"/>
            <a:ext cx="50292" cy="164592"/>
          </a:xfrm>
          <a:prstGeom prst="rect">
            <a:avLst/>
          </a:prstGeom>
          <a:solidFill>
            <a:srgbClr val="065A82"/>
          </a:solidFill>
          <a:ln>
            <a:noFill/>
          </a:ln>
          <a:effectLst/>
        </p:spPr>
        <p:txBody>
          <a:bodyPr rtlCol="0" anchor="ctr"/>
          <a:lstStyle/>
          <a:p>
            <a:pPr algn="ctr"/>
          </a:p>
        </p:txBody>
      </p:sp>
      <p:sp>
        <p:nvSpPr>
          <p:cNvPr id="10" name="TextBox 9"/>
          <p:cNvSpPr txBox="1"/>
          <p:nvPr/>
        </p:nvSpPr>
        <p:spPr>
          <a:xfrm>
            <a:off x="4202612" y="1335024"/>
            <a:ext cx="2314346"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92</a:t>
            </a:r>
          </a:p>
          <a:p>
            <a:pPr algn="ctr">
              <a:lnSpc>
                <a:spcPct val="110000"/>
              </a:lnSpc>
            </a:pPr>
            <a:r>
              <a:rPr sz="1200" b="0" i="0">
                <a:solidFill>
                  <a:srgbClr val="21295C"/>
                </a:solidFill>
                <a:latin typeface="Arial"/>
              </a:rPr>
              <a:t>Модель одна</a:t>
            </a:r>
          </a:p>
        </p:txBody>
      </p:sp>
      <p:sp>
        <p:nvSpPr>
          <p:cNvPr id="11" name="Rectangle 10"/>
          <p:cNvSpPr/>
          <p:nvPr/>
        </p:nvSpPr>
        <p:spPr>
          <a:xfrm>
            <a:off x="1772320" y="1841406"/>
            <a:ext cx="50292" cy="164592"/>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40293" y="1335024"/>
            <a:ext cx="2314346" cy="414942"/>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74</a:t>
            </a:r>
          </a:p>
          <a:p>
            <a:pPr algn="ctr">
              <a:lnSpc>
                <a:spcPct val="110000"/>
              </a:lnSpc>
            </a:pPr>
            <a:r>
              <a:rPr sz="1200" b="0" i="0">
                <a:solidFill>
                  <a:srgbClr val="21295C"/>
                </a:solidFill>
                <a:latin typeface="Arial"/>
              </a:rPr>
              <a:t>Человек один</a:t>
            </a:r>
          </a:p>
        </p:txBody>
      </p:sp>
      <p:sp>
        <p:nvSpPr>
          <p:cNvPr id="13" name="Rectangle 12"/>
          <p:cNvSpPr/>
          <p:nvPr/>
        </p:nvSpPr>
        <p:spPr>
          <a:xfrm>
            <a:off x="2168133" y="2056290"/>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1036106" y="2312322"/>
            <a:ext cx="2314346" cy="414942"/>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76</a:t>
            </a:r>
          </a:p>
          <a:p>
            <a:pPr algn="ctr">
              <a:lnSpc>
                <a:spcPct val="110000"/>
              </a:lnSpc>
            </a:pPr>
            <a:r>
              <a:rPr sz="1200" b="0" i="0">
                <a:solidFill>
                  <a:srgbClr val="21295C"/>
                </a:solidFill>
                <a:latin typeface="Arial"/>
              </a:rPr>
              <a:t>Человек поверх модели</a:t>
            </a:r>
          </a:p>
        </p:txBody>
      </p:sp>
      <p:sp>
        <p:nvSpPr>
          <p:cNvPr id="15" name="TextBox 14"/>
          <p:cNvSpPr txBox="1"/>
          <p:nvPr/>
        </p:nvSpPr>
        <p:spPr>
          <a:xfrm>
            <a:off x="502920" y="2836993"/>
            <a:ext cx="6943039"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медианный балл структурированного рассуждения, % от максимума</a:t>
            </a:r>
          </a:p>
        </p:txBody>
      </p:sp>
      <p:sp>
        <p:nvSpPr>
          <p:cNvPr id="16" name="TextBox 15"/>
          <p:cNvSpPr txBox="1"/>
          <p:nvPr/>
        </p:nvSpPr>
        <p:spPr>
          <a:xfrm>
            <a:off x="502920" y="3129601"/>
            <a:ext cx="6943039"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разница пары с одиноким человеком — 2 пункта, незначима</a:t>
            </a:r>
          </a:p>
        </p:txBody>
      </p:sp>
      <p:sp>
        <p:nvSpPr>
          <p:cNvPr id="17" name="Rounded Rectangle 16"/>
          <p:cNvSpPr/>
          <p:nvPr/>
        </p:nvSpPr>
        <p:spPr>
          <a:xfrm>
            <a:off x="374904" y="3436056"/>
            <a:ext cx="11441887" cy="2800151"/>
          </a:xfrm>
          <a:prstGeom prst="roundRect">
            <a:avLst>
              <a:gd name="adj" fmla="val 1088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3527496"/>
            <a:ext cx="11112703" cy="2708711"/>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Три секунды и ноль рублей против 48 секунд человеческого чтения.</a:t>
            </a:r>
            <a:r>
              <a:rPr sz="1450" b="0" i="0">
                <a:solidFill>
                  <a:srgbClr val="21295C"/>
                </a:solidFill>
                <a:latin typeface="Arial"/>
              </a:rPr>
              <a:t> </a:t>
            </a:r>
            <a:r>
              <a:rPr sz="1450" b="0" i="1">
                <a:solidFill>
                  <a:srgbClr val="21295C"/>
                </a:solidFill>
                <a:latin typeface="Arial"/>
              </a:rPr>
              <a:t>Единицы разные — сравнение на разряд.</a:t>
            </a:r>
          </a:p>
          <a:p>
            <a:pPr algn="l">
              <a:lnSpc>
                <a:spcPct val="126000"/>
              </a:lnSpc>
              <a:spcBef>
                <a:spcPts val="720"/>
              </a:spcBef>
            </a:pPr>
            <a:r>
              <a:rPr sz="1450" b="0" i="0">
                <a:solidFill>
                  <a:srgbClr val="21295C"/>
                </a:solidFill>
                <a:latin typeface="Arial"/>
              </a:rPr>
              <a:t/>
            </a:r>
            <a:r>
              <a:rPr sz="1450" b="1" i="0">
                <a:solidFill>
                  <a:srgbClr val="21295C"/>
                </a:solidFill>
                <a:latin typeface="Arial"/>
              </a:rPr>
              <a:t>Как мерили.</a:t>
            </a:r>
            <a:r>
              <a:rPr sz="1450" b="0" i="0">
                <a:solidFill>
                  <a:srgbClr val="21295C"/>
                </a:solidFill>
                <a:latin typeface="Arial"/>
              </a:rPr>
              <a:t> Пятьдесят практикующих врачей читали по пять описаний реальных случаев и строили рассуждение: гипотезы, обоснование, какие проверки назначить. Оценивали слепо по шкале структурированного рассуждения. Два человеческих состояния разведены жребием; «модель одна» в жребий не входила.</a:t>
            </a:r>
          </a:p>
          <a:p>
            <a:pPr algn="l">
              <a:lnSpc>
                <a:spcPct val="126000"/>
              </a:lnSpc>
              <a:spcBef>
                <a:spcPts val="720"/>
              </a:spcBef>
            </a:pPr>
            <a:r>
              <a:rPr sz="1450" b="0" i="0">
                <a:solidFill>
                  <a:srgbClr val="21295C"/>
                </a:solidFill>
                <a:latin typeface="Arial"/>
              </a:rPr>
              <a:t/>
            </a:r>
            <a:r>
              <a:rPr sz="1450" b="1" i="0">
                <a:solidFill>
                  <a:srgbClr val="21295C"/>
                </a:solidFill>
                <a:latin typeface="Arial"/>
              </a:rPr>
              <a:t>Удешевили чтение данных — платят шагом, который делает человек.</a:t>
            </a:r>
          </a:p>
          <a:p>
            <a:pPr algn="l">
              <a:lnSpc>
                <a:spcPct val="126000"/>
              </a:lnSpc>
              <a:spcBef>
                <a:spcPts val="720"/>
              </a:spcBef>
            </a:pPr>
            <a:r>
              <a:rPr sz="1450" b="0" i="0">
                <a:solidFill>
                  <a:srgbClr val="21295C"/>
                </a:solidFill>
                <a:latin typeface="Arial"/>
              </a:rPr>
              <a:t/>
            </a:r>
            <a:r>
              <a:rPr sz="1450" b="1" i="0">
                <a:solidFill>
                  <a:srgbClr val="21295C"/>
                </a:solidFill>
                <a:latin typeface="Arial"/>
              </a:rPr>
              <a:t>Чем платят:</a:t>
            </a:r>
            <a:r>
              <a:rPr sz="1450" b="0" i="0">
                <a:solidFill>
                  <a:srgbClr val="21295C"/>
                </a:solidFill>
                <a:latin typeface="Arial"/>
              </a:rPr>
              <a:t> внимание — смотрит после модели · навык — перестаёт делать сам · подпись — ставят не читая · </a:t>
            </a:r>
            <a:r>
              <a:rPr sz="1450" b="1" i="0">
                <a:solidFill>
                  <a:srgbClr val="21295C"/>
                </a:solidFill>
                <a:latin typeface="Arial"/>
              </a:rPr>
              <a:t>арбитраж — дороже прежнего чтения</a:t>
            </a:r>
            <a:r>
              <a:rPr sz="1450" b="0" i="0">
                <a:solidFill>
                  <a:srgbClr val="21295C"/>
                </a:solidFill>
                <a:latin typeface="Arial"/>
              </a:rPr>
              <a:t>. А сама проверка подсказки замерена: </a:t>
            </a:r>
            <a:r>
              <a:rPr sz="1450" b="1" i="0">
                <a:solidFill>
                  <a:srgbClr val="21295C"/>
                </a:solidFill>
                <a:latin typeface="Arial"/>
              </a:rPr>
              <a:t>1,99 секунды</a:t>
            </a:r>
            <a:r>
              <a:rPr sz="1450" b="0" i="0">
                <a:solidFill>
                  <a:srgbClr val="21295C"/>
                </a:solidFill>
                <a:latin typeface="Arial"/>
              </a:rPr>
              <a:t> по медиане.</a:t>
            </a:r>
          </a:p>
          <a:p>
            <a:pPr algn="l">
              <a:lnSpc>
                <a:spcPct val="126000"/>
              </a:lnSpc>
              <a:spcBef>
                <a:spcPts val="720"/>
              </a:spcBef>
            </a:pPr>
            <a:r>
              <a:rPr sz="1450" b="0" i="0">
                <a:solidFill>
                  <a:srgbClr val="21295C"/>
                </a:solidFill>
                <a:latin typeface="Arial"/>
              </a:rPr>
              <a:t/>
            </a:r>
            <a:r>
              <a:rPr sz="1450" b="1" i="0">
                <a:solidFill>
                  <a:srgbClr val="21295C"/>
                </a:solidFill>
                <a:latin typeface="Arial"/>
              </a:rPr>
              <a:t>Модель посмотрела первой. Что теперь делает человек — и кто это измерял?</a:t>
            </a:r>
          </a:p>
        </p:txBody>
      </p:sp>
      <p:sp>
        <p:nvSpPr>
          <p:cNvPr id="19" name="Rounded Rectangle 18"/>
          <p:cNvSpPr/>
          <p:nvPr/>
        </p:nvSpPr>
        <p:spPr>
          <a:xfrm>
            <a:off x="7756855" y="1335024"/>
            <a:ext cx="3931920" cy="1823085"/>
          </a:xfrm>
          <a:prstGeom prst="roundRect">
            <a:avLst>
              <a:gd name="adj" fmla="val 16718"/>
            </a:avLst>
          </a:prstGeom>
          <a:solidFill>
            <a:srgbClr val="F4F7FA"/>
          </a:solidFill>
          <a:ln w="19050">
            <a:solidFill>
              <a:srgbClr val="1C7293"/>
            </a:solidFill>
          </a:ln>
          <a:effectLst/>
        </p:spPr>
        <p:txBody>
          <a:bodyPr rtlCol="0" anchor="ctr"/>
          <a:lstStyle/>
          <a:p>
            <a:pPr algn="ctr"/>
          </a:p>
        </p:txBody>
      </p:sp>
      <p:pic>
        <p:nvPicPr>
          <p:cNvPr id="20" name="Picture 19" descr="s05-podpis-pod-soglasiem.jpg"/>
          <p:cNvPicPr>
            <a:picLocks noChangeAspect="1"/>
          </p:cNvPicPr>
          <p:nvPr/>
        </p:nvPicPr>
        <p:blipFill>
          <a:blip r:embed="rId2"/>
          <a:stretch>
            <a:fillRect/>
          </a:stretch>
        </p:blipFill>
        <p:spPr>
          <a:xfrm>
            <a:off x="7894015" y="1472184"/>
            <a:ext cx="3657600" cy="1548765"/>
          </a:xfrm>
          <a:prstGeom prst="rect">
            <a:avLst/>
          </a:prstGeom>
        </p:spPr>
      </p:pic>
      <p:sp>
        <p:nvSpPr>
          <p:cNvPr id="21" name="Rectangle 20"/>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2" name="TextBox 2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Goh и соавт., JAMA Network Open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26-tekhnik-stavit-cheloveka-k-priboru.jpg"/>
          <p:cNvPicPr>
            <a:picLocks noChangeAspect="1"/>
          </p:cNvPicPr>
          <p:nvPr/>
        </p:nvPicPr>
        <p:blipFill>
          <a:blip r:embed="rId2"/>
          <a:srcRect l="26206" r="26206"/>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1. Первичный скрининг и отбор на обследование</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96113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Кого вообще смотреть.</a:t>
            </a:r>
            <a:r>
              <a:rPr sz="1550" b="0" i="0">
                <a:solidFill>
                  <a:srgbClr val="21295C"/>
                </a:solidFill>
                <a:latin typeface="Arial"/>
              </a:rPr>
              <a:t> Скрининг — обследование людей без жалоб, по формальному признаку. Прежде чем кого-то лечить, кто-то решает, кого вообще посмотреть.</a:t>
            </a:r>
          </a:p>
        </p:txBody>
      </p:sp>
      <p:sp>
        <p:nvSpPr>
          <p:cNvPr id="8" name="TextBox 7"/>
          <p:cNvSpPr txBox="1"/>
          <p:nvPr/>
        </p:nvSpPr>
        <p:spPr>
          <a:xfrm>
            <a:off x="704088" y="3365942"/>
            <a:ext cx="6483096"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a:t>
            </a:r>
          </a:p>
        </p:txBody>
      </p:sp>
      <p:sp>
        <p:nvSpPr>
          <p:cNvPr id="9" name="TextBox 8"/>
          <p:cNvSpPr txBox="1"/>
          <p:nvPr/>
        </p:nvSpPr>
        <p:spPr>
          <a:xfrm>
            <a:off x="704088" y="3850912"/>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1, без модели: шведская программа зовёт по возрасту</a:t>
            </a:r>
          </a:p>
        </p:txBody>
      </p:sp>
      <p:sp>
        <p:nvSpPr>
          <p:cNvPr id="10" name="TextBox 9"/>
          <p:cNvSpPr txBox="1"/>
          <p:nvPr/>
        </p:nvSpPr>
        <p:spPr>
          <a:xfrm>
            <a:off x="704088" y="4335883"/>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2: чат-бот первой линии вместо звонка в практику</a:t>
            </a:r>
          </a:p>
        </p:txBody>
      </p:sp>
      <p:sp>
        <p:nvSpPr>
          <p:cNvPr id="11" name="TextBox 10"/>
          <p:cNvSpPr txBox="1"/>
          <p:nvPr/>
        </p:nvSpPr>
        <p:spPr>
          <a:xfrm>
            <a:off x="704088" y="4820854"/>
            <a:ext cx="6483096" cy="356954"/>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3: глазное дно снимают на приёме</a:t>
            </a:r>
          </a:p>
        </p:txBody>
      </p:sp>
      <p:sp>
        <p:nvSpPr>
          <p:cNvPr id="12" name="TextBox 11"/>
          <p:cNvSpPr txBox="1"/>
          <p:nvPr/>
        </p:nvSpPr>
        <p:spPr>
          <a:xfrm>
            <a:off x="704088" y="5305825"/>
            <a:ext cx="6483096" cy="659045"/>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4: Москва, Россия — модель на месте второго читателя маммограмм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Первичный скрининг: что это за стадия</a:t>
            </a:r>
          </a:p>
        </p:txBody>
      </p:sp>
      <p:sp>
        <p:nvSpPr>
          <p:cNvPr id="4" name="Rounded Rectangle 3"/>
          <p:cNvSpPr/>
          <p:nvPr/>
        </p:nvSpPr>
        <p:spPr>
          <a:xfrm>
            <a:off x="594360" y="1362456"/>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5" name="TextBox 4"/>
          <p:cNvSpPr txBox="1"/>
          <p:nvPr/>
        </p:nvSpPr>
        <p:spPr>
          <a:xfrm>
            <a:off x="676656" y="1408176"/>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Реестр населения</a:t>
            </a:r>
          </a:p>
        </p:txBody>
      </p:sp>
      <p:sp>
        <p:nvSpPr>
          <p:cNvPr id="6" name="Rounded Rectangle 5"/>
          <p:cNvSpPr/>
          <p:nvPr/>
        </p:nvSpPr>
        <p:spPr>
          <a:xfrm>
            <a:off x="594360" y="1984248"/>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7" name="TextBox 6"/>
          <p:cNvSpPr txBox="1"/>
          <p:nvPr/>
        </p:nvSpPr>
        <p:spPr>
          <a:xfrm>
            <a:off x="676656" y="2029967"/>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Жалоба</a:t>
            </a:r>
          </a:p>
        </p:txBody>
      </p:sp>
      <p:sp>
        <p:nvSpPr>
          <p:cNvPr id="8" name="Rounded Rectangle 7"/>
          <p:cNvSpPr/>
          <p:nvPr/>
        </p:nvSpPr>
        <p:spPr>
          <a:xfrm>
            <a:off x="594360" y="2606040"/>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9" name="TextBox 8"/>
          <p:cNvSpPr txBox="1"/>
          <p:nvPr/>
        </p:nvSpPr>
        <p:spPr>
          <a:xfrm>
            <a:off x="676656" y="2651760"/>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Направление врача</a:t>
            </a:r>
          </a:p>
        </p:txBody>
      </p:sp>
      <p:sp>
        <p:nvSpPr>
          <p:cNvPr id="10" name="Rounded Rectangle 9"/>
          <p:cNvSpPr/>
          <p:nvPr/>
        </p:nvSpPr>
        <p:spPr>
          <a:xfrm>
            <a:off x="594360" y="3227832"/>
            <a:ext cx="947592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1" name="TextBox 10"/>
          <p:cNvSpPr txBox="1"/>
          <p:nvPr/>
        </p:nvSpPr>
        <p:spPr>
          <a:xfrm>
            <a:off x="676656" y="3273551"/>
            <a:ext cx="931133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Разбор карты</a:t>
            </a:r>
          </a:p>
        </p:txBody>
      </p:sp>
      <p:sp>
        <p:nvSpPr>
          <p:cNvPr id="12" name="Rounded Rectangle 11"/>
          <p:cNvSpPr/>
          <p:nvPr/>
        </p:nvSpPr>
        <p:spPr>
          <a:xfrm>
            <a:off x="10362895" y="1335024"/>
            <a:ext cx="1325880" cy="2377440"/>
          </a:xfrm>
          <a:prstGeom prst="roundRect">
            <a:avLst>
              <a:gd name="adj" fmla="val 22988"/>
            </a:avLst>
          </a:prstGeom>
          <a:solidFill>
            <a:srgbClr val="FFFFFF"/>
          </a:solidFill>
          <a:ln w="19050">
            <a:solidFill>
              <a:srgbClr val="028090"/>
            </a:solidFill>
          </a:ln>
          <a:effectLst/>
        </p:spPr>
        <p:txBody>
          <a:bodyPr rtlCol="0" anchor="ctr"/>
          <a:lstStyle/>
          <a:p>
            <a:pPr algn="ctr"/>
          </a:p>
        </p:txBody>
      </p:sp>
      <p:sp>
        <p:nvSpPr>
          <p:cNvPr id="13" name="TextBox 12"/>
          <p:cNvSpPr txBox="1"/>
          <p:nvPr/>
        </p:nvSpPr>
        <p:spPr>
          <a:xfrm>
            <a:off x="10436047" y="1380744"/>
            <a:ext cx="1179576" cy="2286000"/>
          </a:xfrm>
          <a:prstGeom prst="rect">
            <a:avLst/>
          </a:prstGeom>
          <a:noFill/>
        </p:spPr>
        <p:txBody>
          <a:bodyPr wrap="square" lIns="0" rIns="0" tIns="0" bIns="0" anchor="ctr">
            <a:spAutoFit/>
          </a:bodyPr>
          <a:lstStyle/>
          <a:p>
            <a:pPr algn="ctr">
              <a:lnSpc>
                <a:spcPct val="110000"/>
              </a:lnSpc>
            </a:pPr>
            <a:r>
              <a:rPr sz="1200" b="1" i="0">
                <a:solidFill>
                  <a:srgbClr val="028090"/>
                </a:solidFill>
                <a:latin typeface="Arial"/>
              </a:rPr>
              <a:t>Попал в скрининг</a:t>
            </a:r>
          </a:p>
        </p:txBody>
      </p:sp>
      <p:sp>
        <p:nvSpPr>
          <p:cNvPr id="14" name="Rectangle 13"/>
          <p:cNvSpPr/>
          <p:nvPr/>
        </p:nvSpPr>
        <p:spPr>
          <a:xfrm>
            <a:off x="10161727" y="1575054"/>
            <a:ext cx="201168" cy="32004"/>
          </a:xfrm>
          <a:prstGeom prst="rect">
            <a:avLst/>
          </a:prstGeom>
          <a:solidFill>
            <a:srgbClr val="1C7293"/>
          </a:solidFill>
          <a:ln>
            <a:noFill/>
          </a:ln>
          <a:effectLst/>
        </p:spPr>
        <p:txBody>
          <a:bodyPr rtlCol="0" anchor="ctr"/>
          <a:lstStyle/>
          <a:p>
            <a:pPr algn="ctr"/>
          </a:p>
        </p:txBody>
      </p:sp>
      <p:sp>
        <p:nvSpPr>
          <p:cNvPr id="15" name="Rectangle 14"/>
          <p:cNvSpPr/>
          <p:nvPr/>
        </p:nvSpPr>
        <p:spPr>
          <a:xfrm>
            <a:off x="10161727" y="2196846"/>
            <a:ext cx="201168" cy="32004"/>
          </a:xfrm>
          <a:prstGeom prst="rect">
            <a:avLst/>
          </a:prstGeom>
          <a:solidFill>
            <a:srgbClr val="1C7293"/>
          </a:solidFill>
          <a:ln>
            <a:noFill/>
          </a:ln>
          <a:effectLst/>
        </p:spPr>
        <p:txBody>
          <a:bodyPr rtlCol="0" anchor="ctr"/>
          <a:lstStyle/>
          <a:p>
            <a:pPr algn="ctr"/>
          </a:p>
        </p:txBody>
      </p:sp>
      <p:sp>
        <p:nvSpPr>
          <p:cNvPr id="16" name="Rectangle 15"/>
          <p:cNvSpPr/>
          <p:nvPr/>
        </p:nvSpPr>
        <p:spPr>
          <a:xfrm>
            <a:off x="10161727" y="2818638"/>
            <a:ext cx="201168" cy="32004"/>
          </a:xfrm>
          <a:prstGeom prst="rect">
            <a:avLst/>
          </a:prstGeom>
          <a:solidFill>
            <a:srgbClr val="1C7293"/>
          </a:solidFill>
          <a:ln>
            <a:noFill/>
          </a:ln>
          <a:effectLst/>
        </p:spPr>
        <p:txBody>
          <a:bodyPr rtlCol="0" anchor="ctr"/>
          <a:lstStyle/>
          <a:p>
            <a:pPr algn="ctr"/>
          </a:p>
        </p:txBody>
      </p:sp>
      <p:sp>
        <p:nvSpPr>
          <p:cNvPr id="17" name="Rectangle 16"/>
          <p:cNvSpPr/>
          <p:nvPr/>
        </p:nvSpPr>
        <p:spPr>
          <a:xfrm>
            <a:off x="10161727" y="3440430"/>
            <a:ext cx="201168" cy="32004"/>
          </a:xfrm>
          <a:prstGeom prst="rect">
            <a:avLst/>
          </a:prstGeom>
          <a:solidFill>
            <a:srgbClr val="1C7293"/>
          </a:solidFill>
          <a:ln>
            <a:noFill/>
          </a:ln>
          <a:effectLst/>
        </p:spPr>
        <p:txBody>
          <a:bodyPr rtlCol="0" anchor="ctr"/>
          <a:lstStyle/>
          <a:p>
            <a:pPr algn="ctr"/>
          </a:p>
        </p:txBody>
      </p:sp>
      <p:sp>
        <p:nvSpPr>
          <p:cNvPr id="18" name="TextBox 17"/>
          <p:cNvSpPr txBox="1"/>
          <p:nvPr/>
        </p:nvSpPr>
        <p:spPr>
          <a:xfrm>
            <a:off x="502920" y="3785616"/>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Четыре входа, ни один не следует из другого</a:t>
            </a:r>
          </a:p>
        </p:txBody>
      </p:sp>
      <p:sp>
        <p:nvSpPr>
          <p:cNvPr id="19" name="Rounded Rectangle 18"/>
          <p:cNvSpPr/>
          <p:nvPr/>
        </p:nvSpPr>
        <p:spPr>
          <a:xfrm>
            <a:off x="374904" y="409207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4183511"/>
            <a:ext cx="5373471" cy="205269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 Известно скудно: возраст · пол · интервал</a:t>
            </a:r>
          </a:p>
          <a:p>
            <a:pPr algn="l">
              <a:lnSpc>
                <a:spcPct val="126000"/>
              </a:lnSpc>
              <a:spcBef>
                <a:spcPts val="3600"/>
              </a:spcBef>
            </a:pPr>
            <a:r>
              <a:rPr sz="1500" b="0" i="0">
                <a:solidFill>
                  <a:srgbClr val="21295C"/>
                </a:solidFill>
                <a:latin typeface="Arial"/>
              </a:rPr>
              <a:t/>
            </a:r>
            <a:r>
              <a:rPr sz="1500" b="0" i="0">
                <a:solidFill>
                  <a:srgbClr val="21295C"/>
                </a:solidFill>
                <a:latin typeface="Arial"/>
              </a:rPr>
              <a:t>• Вопрос один: звать ли смотреть. Дальше — обследование либо ничего</a:t>
            </a:r>
          </a:p>
        </p:txBody>
      </p:sp>
      <p:sp>
        <p:nvSpPr>
          <p:cNvPr id="21" name="TextBox 20"/>
          <p:cNvSpPr txBox="1"/>
          <p:nvPr/>
        </p:nvSpPr>
        <p:spPr>
          <a:xfrm>
            <a:off x="6278727" y="4183511"/>
            <a:ext cx="5373471" cy="20526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Почему стадия первая.</a:t>
            </a:r>
            <a:r>
              <a:rPr sz="1500" b="0" i="0">
                <a:solidFill>
                  <a:srgbClr val="21295C"/>
                </a:solidFill>
                <a:latin typeface="Arial"/>
              </a:rPr>
              <a:t> Непозванного не видит никто; порог назначен документом раньше замера точности.</a:t>
            </a:r>
          </a:p>
          <a:p>
            <a:pPr algn="l">
              <a:lnSpc>
                <a:spcPct val="126000"/>
              </a:lnSpc>
              <a:spcBef>
                <a:spcPts val="3600"/>
              </a:spcBef>
            </a:pPr>
            <a:r>
              <a:rPr sz="1500" b="0" i="0">
                <a:solidFill>
                  <a:srgbClr val="21295C"/>
                </a:solidFill>
                <a:latin typeface="Arial"/>
              </a:rPr>
              <a:t/>
            </a:r>
            <a:r>
              <a:rPr sz="1500" b="1" i="0">
                <a:solidFill>
                  <a:srgbClr val="21295C"/>
                </a:solidFill>
                <a:latin typeface="Arial"/>
              </a:rPr>
              <a:t>Без модели порядка три:</a:t>
            </a:r>
            <a:r>
              <a:rPr sz="1500" b="0" i="0">
                <a:solidFill>
                  <a:srgbClr val="21295C"/>
                </a:solidFill>
                <a:latin typeface="Arial"/>
              </a:rPr>
              <a:t> звать по возрасту · ждать жалобу · сортировать уже пришедших по тяжести.</a:t>
            </a:r>
          </a:p>
        </p:txBody>
      </p:sp>
      <p:sp>
        <p:nvSpPr>
          <p:cNvPr id="22" name="Rectangle 21"/>
          <p:cNvSpPr/>
          <p:nvPr/>
        </p:nvSpPr>
        <p:spPr>
          <a:xfrm>
            <a:off x="6091275" y="4183511"/>
            <a:ext cx="9144" cy="1645444"/>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Семь действий стадии скрининга — и три, на которых включается модель</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5" name="Rounded Rectangle 4"/>
          <p:cNvSpPr/>
          <p:nvPr/>
        </p:nvSpPr>
        <p:spPr>
          <a:xfrm>
            <a:off x="1920240"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Назначить порог</a:t>
            </a:r>
          </a:p>
        </p:txBody>
      </p:sp>
      <p:sp>
        <p:nvSpPr>
          <p:cNvPr id="7" name="Right Arrow 6"/>
          <p:cNvSpPr/>
          <p:nvPr/>
        </p:nvSpPr>
        <p:spPr>
          <a:xfrm>
            <a:off x="3347389"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57598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65828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Позвать по списку</a:t>
            </a:r>
          </a:p>
        </p:txBody>
      </p:sp>
      <p:sp>
        <p:nvSpPr>
          <p:cNvPr id="10" name="Right Arrow 9"/>
          <p:cNvSpPr/>
          <p:nvPr/>
        </p:nvSpPr>
        <p:spPr>
          <a:xfrm>
            <a:off x="5003139"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523173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31403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Снять снимок</a:t>
            </a:r>
          </a:p>
        </p:txBody>
      </p:sp>
      <p:sp>
        <p:nvSpPr>
          <p:cNvPr id="13" name="Right Arrow 12"/>
          <p:cNvSpPr/>
          <p:nvPr/>
        </p:nvSpPr>
        <p:spPr>
          <a:xfrm>
            <a:off x="6658889"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887489" y="1335024"/>
            <a:ext cx="1381429"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969785" y="1380744"/>
            <a:ext cx="1216837"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Прочесть двоим</a:t>
            </a:r>
          </a:p>
        </p:txBody>
      </p:sp>
      <p:sp>
        <p:nvSpPr>
          <p:cNvPr id="16" name="TextBox 15"/>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 дальше</a:t>
            </a:r>
          </a:p>
        </p:txBody>
      </p:sp>
      <p:sp>
        <p:nvSpPr>
          <p:cNvPr id="17" name="Rounded Rectangle 16"/>
          <p:cNvSpPr/>
          <p:nvPr/>
        </p:nvSpPr>
        <p:spPr>
          <a:xfrm>
            <a:off x="1920240"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a:t>
            </a:r>
          </a:p>
        </p:txBody>
      </p:sp>
      <p:sp>
        <p:nvSpPr>
          <p:cNvPr id="19" name="Right Arrow 18"/>
          <p:cNvSpPr/>
          <p:nvPr/>
        </p:nvSpPr>
        <p:spPr>
          <a:xfrm>
            <a:off x="3899306" y="28387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127906"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210202"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Сообщить исход</a:t>
            </a:r>
          </a:p>
        </p:txBody>
      </p:sp>
      <p:sp>
        <p:nvSpPr>
          <p:cNvPr id="22" name="Right Arrow 21"/>
          <p:cNvSpPr/>
          <p:nvPr/>
        </p:nvSpPr>
        <p:spPr>
          <a:xfrm>
            <a:off x="6106972" y="28387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335572" y="2432018"/>
            <a:ext cx="1933346"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417868" y="2477738"/>
            <a:ext cx="1768754"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Отсортировать поток</a:t>
            </a:r>
          </a:p>
        </p:txBody>
      </p:sp>
      <p:sp>
        <p:nvSpPr>
          <p:cNvPr id="25" name="TextBox 24"/>
          <p:cNvSpPr txBox="1"/>
          <p:nvPr/>
        </p:nvSpPr>
        <p:spPr>
          <a:xfrm>
            <a:off x="502920" y="3565589"/>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Где включается модель</a:t>
            </a:r>
          </a:p>
        </p:txBody>
      </p:sp>
      <p:sp>
        <p:nvSpPr>
          <p:cNvPr id="26" name="Rounded Rectangle 25"/>
          <p:cNvSpPr/>
          <p:nvPr/>
        </p:nvSpPr>
        <p:spPr>
          <a:xfrm>
            <a:off x="1920240"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Прочесть двоим</a:t>
            </a:r>
          </a:p>
          <a:p>
            <a:pPr algn="ctr">
              <a:lnSpc>
                <a:spcPct val="112000"/>
              </a:lnSpc>
            </a:pPr>
            <a:r>
              <a:rPr sz="1350" b="0" i="0">
                <a:solidFill>
                  <a:srgbClr val="21295C"/>
                </a:solidFill>
                <a:latin typeface="Arial"/>
              </a:rPr>
              <a:t>шведская программа</a:t>
            </a:r>
          </a:p>
        </p:txBody>
      </p:sp>
      <p:sp>
        <p:nvSpPr>
          <p:cNvPr id="28" name="Rounded Rectangle 27"/>
          <p:cNvSpPr/>
          <p:nvPr/>
        </p:nvSpPr>
        <p:spPr>
          <a:xfrm>
            <a:off x="4085234"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4167530"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Сообщить исход</a:t>
            </a:r>
          </a:p>
          <a:p>
            <a:pPr algn="ctr">
              <a:lnSpc>
                <a:spcPct val="112000"/>
              </a:lnSpc>
            </a:pPr>
            <a:r>
              <a:rPr sz="1350" b="0" i="0">
                <a:solidFill>
                  <a:srgbClr val="21295C"/>
                </a:solidFill>
                <a:latin typeface="Arial"/>
              </a:rPr>
              <a:t>глазное дно на приёме</a:t>
            </a:r>
          </a:p>
        </p:txBody>
      </p:sp>
      <p:sp>
        <p:nvSpPr>
          <p:cNvPr id="30" name="Rounded Rectangle 29"/>
          <p:cNvSpPr/>
          <p:nvPr/>
        </p:nvSpPr>
        <p:spPr>
          <a:xfrm>
            <a:off x="6250228" y="3529013"/>
            <a:ext cx="2018690"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6332524" y="3574733"/>
            <a:ext cx="1854098"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Отсортировать поток</a:t>
            </a:r>
          </a:p>
          <a:p>
            <a:pPr algn="ctr">
              <a:lnSpc>
                <a:spcPct val="112000"/>
              </a:lnSpc>
            </a:pPr>
            <a:r>
              <a:rPr sz="1350" b="0" i="0">
                <a:solidFill>
                  <a:srgbClr val="21295C"/>
                </a:solidFill>
                <a:latin typeface="Arial"/>
              </a:rPr>
              <a:t>чат-бот первой линии</a:t>
            </a:r>
          </a:p>
        </p:txBody>
      </p:sp>
      <p:sp>
        <p:nvSpPr>
          <p:cNvPr id="32" name="TextBox 31"/>
          <p:cNvSpPr txBox="1"/>
          <p:nvPr/>
        </p:nvSpPr>
        <p:spPr>
          <a:xfrm>
            <a:off x="502920" y="4516280"/>
            <a:ext cx="77659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Семь действий стадии — и три шага, на которых включается модель</a:t>
            </a:r>
          </a:p>
        </p:txBody>
      </p:sp>
      <p:sp>
        <p:nvSpPr>
          <p:cNvPr id="33" name="Rounded Rectangle 32"/>
          <p:cNvSpPr/>
          <p:nvPr/>
        </p:nvSpPr>
        <p:spPr>
          <a:xfrm>
            <a:off x="374904" y="4818963"/>
            <a:ext cx="11441887" cy="1417244"/>
          </a:xfrm>
          <a:prstGeom prst="roundRect">
            <a:avLst>
              <a:gd name="adj" fmla="val 21506"/>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4910403"/>
            <a:ext cx="11112703" cy="1325804"/>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Письмо, с которого началась лекция, вышло отсюда: программа берёт список жителей, отбирает по возрасту и полу и рассылает приглашения. Человек не обращался — его позвали.</a:t>
            </a:r>
          </a:p>
          <a:p>
            <a:pPr algn="l">
              <a:lnSpc>
                <a:spcPct val="126000"/>
              </a:lnSpc>
              <a:spcBef>
                <a:spcPts val="720"/>
              </a:spcBef>
            </a:pPr>
            <a:r>
              <a:rPr sz="1400" b="0" i="0">
                <a:solidFill>
                  <a:srgbClr val="21295C"/>
                </a:solidFill>
                <a:latin typeface="Arial"/>
              </a:rPr>
              <a:t/>
            </a:r>
            <a:r>
              <a:rPr sz="1400" b="1" i="0">
                <a:solidFill>
                  <a:srgbClr val="21295C"/>
                </a:solidFill>
                <a:latin typeface="Arial"/>
              </a:rPr>
              <a:t>Порог, приглашение, съёмка и арбитраж остались людям. Новый шаг — добыть годный снимок.</a:t>
            </a:r>
          </a:p>
          <a:p>
            <a:pPr algn="l">
              <a:lnSpc>
                <a:spcPct val="126000"/>
              </a:lnSpc>
              <a:spcBef>
                <a:spcPts val="720"/>
              </a:spcBef>
            </a:pPr>
            <a:r>
              <a:rPr sz="1400" b="0" i="0">
                <a:solidFill>
                  <a:srgbClr val="21295C"/>
                </a:solidFill>
                <a:latin typeface="Arial"/>
              </a:rPr>
              <a:t/>
            </a:r>
            <a:r>
              <a:rPr sz="1400" b="1" i="0">
                <a:solidFill>
                  <a:srgbClr val="21295C"/>
                </a:solidFill>
                <a:latin typeface="Arial"/>
              </a:rPr>
              <a:t>У кого в рабочем контуре стоит автоматический фильтр — и кто разбирает отфильтрованное?</a:t>
            </a:r>
          </a:p>
        </p:txBody>
      </p:sp>
      <p:sp>
        <p:nvSpPr>
          <p:cNvPr id="35" name="Rounded Rectangle 34"/>
          <p:cNvSpPr/>
          <p:nvPr/>
        </p:nvSpPr>
        <p:spPr>
          <a:xfrm>
            <a:off x="8579815" y="1335024"/>
            <a:ext cx="3108960" cy="2977878"/>
          </a:xfrm>
          <a:prstGeom prst="roundRect">
            <a:avLst>
              <a:gd name="adj" fmla="val 10235"/>
            </a:avLst>
          </a:prstGeom>
          <a:solidFill>
            <a:srgbClr val="F4F7FA"/>
          </a:solidFill>
          <a:ln w="19050">
            <a:solidFill>
              <a:srgbClr val="1C7293"/>
            </a:solidFill>
          </a:ln>
          <a:effectLst/>
        </p:spPr>
        <p:txBody>
          <a:bodyPr rtlCol="0" anchor="ctr"/>
          <a:lstStyle/>
          <a:p>
            <a:pPr algn="ctr"/>
          </a:p>
        </p:txBody>
      </p:sp>
      <p:pic>
        <p:nvPicPr>
          <p:cNvPr id="36" name="Picture 35" descr="s12-stranitsa-programmy-kogo-zovut.png"/>
          <p:cNvPicPr>
            <a:picLocks noChangeAspect="1"/>
          </p:cNvPicPr>
          <p:nvPr/>
        </p:nvPicPr>
        <p:blipFill>
          <a:blip r:embed="rId2"/>
          <a:stretch>
            <a:fillRect/>
          </a:stretch>
        </p:blipFill>
        <p:spPr>
          <a:xfrm>
            <a:off x="8716975" y="1472184"/>
            <a:ext cx="2834640" cy="2703558"/>
          </a:xfrm>
          <a:prstGeom prst="rect">
            <a:avLst/>
          </a:prstGeom>
        </p:spPr>
      </p:pic>
      <p:sp>
        <p:nvSpPr>
          <p:cNvPr id="37" name="Rectangle 36"/>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Программа скрининга NHS England, GOV.UK, снято 13 октября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Скрининговые программы по странам и участие модели</a:t>
            </a:r>
          </a:p>
        </p:txBody>
      </p:sp>
      <p:pic>
        <p:nvPicPr>
          <p:cNvPr id="4" name="Picture 3" descr="s12a-ohvat-po-stranam.png"/>
          <p:cNvPicPr>
            <a:picLocks noChangeAspect="1"/>
          </p:cNvPicPr>
          <p:nvPr/>
        </p:nvPicPr>
        <p:blipFill>
          <a:blip r:embed="rId2"/>
          <a:stretch>
            <a:fillRect/>
          </a:stretch>
        </p:blipFill>
        <p:spPr>
          <a:xfrm>
            <a:off x="507847" y="1335024"/>
            <a:ext cx="11176000" cy="2743200"/>
          </a:xfrm>
          <a:prstGeom prst="rect">
            <a:avLst/>
          </a:prstGeom>
        </p:spPr>
      </p:pic>
      <p:sp>
        <p:nvSpPr>
          <p:cNvPr id="5" name="Rounded Rectangle 4"/>
          <p:cNvSpPr/>
          <p:nvPr/>
        </p:nvSpPr>
        <p:spPr>
          <a:xfrm>
            <a:off x="502920"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6" name="TextBox 5"/>
          <p:cNvSpPr txBox="1"/>
          <p:nvPr/>
        </p:nvSpPr>
        <p:spPr>
          <a:xfrm>
            <a:off x="640080"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В АРХИТЕКТУРЕ</a:t>
            </a:r>
          </a:p>
        </p:txBody>
      </p:sp>
      <p:sp>
        <p:nvSpPr>
          <p:cNvPr id="7" name="TextBox 6"/>
          <p:cNvSpPr txBox="1"/>
          <p:nvPr/>
        </p:nvSpPr>
        <p:spPr>
          <a:xfrm>
            <a:off x="640080"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Польша · Хорватия</a:t>
            </a:r>
          </a:p>
        </p:txBody>
      </p:sp>
      <p:sp>
        <p:nvSpPr>
          <p:cNvPr id="8" name="TextBox 7"/>
          <p:cNvSpPr txBox="1"/>
          <p:nvPr/>
        </p:nvSpPr>
        <p:spPr>
          <a:xfrm>
            <a:off x="640080"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лёгкое, с 2020; охвата источники не дают</a:t>
            </a:r>
          </a:p>
        </p:txBody>
      </p:sp>
      <p:sp>
        <p:nvSpPr>
          <p:cNvPr id="9" name="Rounded Rectangle 8"/>
          <p:cNvSpPr/>
          <p:nvPr/>
        </p:nvSpPr>
        <p:spPr>
          <a:xfrm>
            <a:off x="4286402" y="4261104"/>
            <a:ext cx="3618890"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0" name="TextBox 9"/>
          <p:cNvSpPr txBox="1"/>
          <p:nvPr/>
        </p:nvSpPr>
        <p:spPr>
          <a:xfrm>
            <a:off x="4423562"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С ОТДЕЛЬНОЙ ОПЛАТОЙ</a:t>
            </a:r>
          </a:p>
        </p:txBody>
      </p:sp>
      <p:sp>
        <p:nvSpPr>
          <p:cNvPr id="11" name="TextBox 10"/>
          <p:cNvSpPr txBox="1"/>
          <p:nvPr/>
        </p:nvSpPr>
        <p:spPr>
          <a:xfrm>
            <a:off x="4423562" y="465145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Япония, с 2024</a:t>
            </a:r>
          </a:p>
        </p:txBody>
      </p:sp>
      <p:sp>
        <p:nvSpPr>
          <p:cNvPr id="12" name="TextBox 11"/>
          <p:cNvSpPr txBox="1"/>
          <p:nvPr/>
        </p:nvSpPr>
        <p:spPr>
          <a:xfrm>
            <a:off x="4423562"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колоректальный: 43% и 28% больниц</a:t>
            </a:r>
          </a:p>
        </p:txBody>
      </p:sp>
      <p:sp>
        <p:nvSpPr>
          <p:cNvPr id="13" name="Rounded Rectangle 12"/>
          <p:cNvSpPr/>
          <p:nvPr/>
        </p:nvSpPr>
        <p:spPr>
          <a:xfrm>
            <a:off x="8069884" y="4261104"/>
            <a:ext cx="3618890"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TextBox 13"/>
          <p:cNvSpPr txBox="1"/>
          <p:nvPr/>
        </p:nvSpPr>
        <p:spPr>
          <a:xfrm>
            <a:off x="8207044" y="439826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ЭФФЕКТ НА ИСХОД ПАЦИЕНТА</a:t>
            </a:r>
          </a:p>
        </p:txBody>
      </p:sp>
      <p:sp>
        <p:nvSpPr>
          <p:cNvPr id="15" name="TextBox 14"/>
          <p:cNvSpPr txBox="1"/>
          <p:nvPr/>
        </p:nvSpPr>
        <p:spPr>
          <a:xfrm>
            <a:off x="8207044" y="465145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нигде</a:t>
            </a:r>
          </a:p>
        </p:txBody>
      </p:sp>
      <p:sp>
        <p:nvSpPr>
          <p:cNvPr id="16" name="TextBox 15"/>
          <p:cNvSpPr txBox="1"/>
          <p:nvPr/>
        </p:nvSpPr>
        <p:spPr>
          <a:xfrm>
            <a:off x="8207044" y="507845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измерены участие, охват, оплата</a:t>
            </a:r>
          </a:p>
        </p:txBody>
      </p:sp>
      <p:sp>
        <p:nvSpPr>
          <p:cNvPr id="17" name="Rounded Rectangle 16"/>
          <p:cNvSpPr/>
          <p:nvPr/>
        </p:nvSpPr>
        <p:spPr>
          <a:xfrm>
            <a:off x="374904" y="5518297"/>
            <a:ext cx="11441887" cy="71791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5609737"/>
            <a:ext cx="11112703" cy="626470"/>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Строка — страна, столбец — её программа.</a:t>
            </a:r>
            <a:r>
              <a:rPr sz="1400" b="0" i="0">
                <a:solidFill>
                  <a:srgbClr val="21295C"/>
                </a:solidFill>
                <a:latin typeface="Arial"/>
              </a:rPr>
              <a:t> Где столбца нет, там нет и программы: простата в США, лёгкое в Нидерландах — оба раза решение, а не пробел в данных.</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Национальные отчёты по программам скрининга, 2022–2025 — десять источников перечислены в заметках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без модели: шведская программа зовёт по возрасту</a:t>
            </a:r>
          </a:p>
        </p:txBody>
      </p:sp>
      <p:sp>
        <p:nvSpPr>
          <p:cNvPr id="4" name="Rounded Rectangle 3"/>
          <p:cNvSpPr/>
          <p:nvPr/>
        </p:nvSpPr>
        <p:spPr>
          <a:xfrm>
            <a:off x="502920"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НАШЛИ НА ОБСЛЕДОВАНИИ</a:t>
            </a:r>
          </a:p>
        </p:txBody>
      </p:sp>
      <p:sp>
        <p:nvSpPr>
          <p:cNvPr id="6" name="TextBox 5"/>
          <p:cNvSpPr txBox="1"/>
          <p:nvPr/>
        </p:nvSpPr>
        <p:spPr>
          <a:xfrm>
            <a:off x="640080"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5,1 на 1000</a:t>
            </a:r>
          </a:p>
        </p:txBody>
      </p:sp>
      <p:sp>
        <p:nvSpPr>
          <p:cNvPr id="7" name="TextBox 6"/>
          <p:cNvSpPr txBox="1"/>
          <p:nvPr/>
        </p:nvSpPr>
        <p:spPr>
          <a:xfrm>
            <a:off x="640080"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Швеция, 80 033 женщины, двойное чтение</a:t>
            </a:r>
          </a:p>
        </p:txBody>
      </p:sp>
      <p:sp>
        <p:nvSpPr>
          <p:cNvPr id="8" name="Rounded Rectangle 7"/>
          <p:cNvSpPr/>
          <p:nvPr/>
        </p:nvSpPr>
        <p:spPr>
          <a:xfrm>
            <a:off x="3340531" y="1335024"/>
            <a:ext cx="2673019"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ПРОПУСТИЛА ПРОГРАММА, НАШЁЛ СИМПТОМ</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1,76 на 1000 за два года</a:t>
            </a:r>
          </a:p>
        </p:txBody>
      </p:sp>
      <p:sp>
        <p:nvSpPr>
          <p:cNvPr id="11" name="TextBox 10"/>
          <p:cNvSpPr txBox="1"/>
          <p:nvPr/>
        </p:nvSpPr>
        <p:spPr>
          <a:xfrm>
            <a:off x="3477691"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контрольное плечо, 52 872 женщины</a:t>
            </a:r>
          </a:p>
        </p:txBody>
      </p:sp>
      <p:sp>
        <p:nvSpPr>
          <p:cNvPr id="12" name="Rounded Rectangle 11"/>
          <p:cNvSpPr/>
          <p:nvPr/>
        </p:nvSpPr>
        <p:spPr>
          <a:xfrm>
            <a:off x="6178143"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ПОЗВАЛИ ЗРЯ: ВТОРОЙ СНИМОК</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 из ста</a:t>
            </a:r>
          </a:p>
        </p:txBody>
      </p:sp>
      <p:sp>
        <p:nvSpPr>
          <p:cNvPr id="15" name="TextBox 14"/>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повторный снимок, иногда биопсия</a:t>
            </a:r>
          </a:p>
        </p:txBody>
      </p:sp>
      <p:sp>
        <p:nvSpPr>
          <p:cNvPr id="16" name="Rounded Rectangle 15"/>
          <p:cNvSpPr/>
          <p:nvPr/>
        </p:nvSpPr>
        <p:spPr>
          <a:xfrm>
            <a:off x="9015755" y="1335024"/>
            <a:ext cx="2673019"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ЖДУТ ЖАЛОБУ: ПОЗДНЯЯ СТАДИЯ У НАЙДЕННЫХ</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57 → 39 из ста</a:t>
            </a:r>
          </a:p>
        </p:txBody>
      </p:sp>
      <p:sp>
        <p:nvSpPr>
          <p:cNvPr id="19" name="TextBox 18"/>
          <p:cNvSpPr txBox="1"/>
          <p:nvPr/>
        </p:nvSpPr>
        <p:spPr>
          <a:xfrm>
            <a:off x="9152915"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Мальмё, 1976–1986, приглашение по жребию</a:t>
            </a:r>
          </a:p>
        </p:txBody>
      </p:sp>
      <p:sp>
        <p:nvSpPr>
          <p:cNvPr id="20" name="Rounded Rectangle 19"/>
          <p:cNvSpPr/>
          <p:nvPr/>
        </p:nvSpPr>
        <p:spPr>
          <a:xfrm>
            <a:off x="374904" y="3492795"/>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584235"/>
            <a:ext cx="5373471"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Зовут всех по возрасту и интервалу.</a:t>
            </a:r>
            <a:r>
              <a:rPr sz="1500" b="0" i="0">
                <a:solidFill>
                  <a:srgbClr val="21295C"/>
                </a:solidFill>
                <a:latin typeface="Arial"/>
              </a:rPr>
              <a:t> Приглашение шлёт программа, снимок читают двое, расхождение разбирает третий. Модели здесь нет.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Ждут жалобу — второй порядок, и он шире распространён.</a:t>
            </a:r>
            <a:r>
              <a:rPr sz="1500" b="0" i="0">
                <a:solidFill>
                  <a:srgbClr val="21295C"/>
                </a:solidFill>
                <a:latin typeface="Arial"/>
              </a:rPr>
              <a:t> Нулём он не работает: непозванный придёт сам, позже и стадией крупнее.</a:t>
            </a:r>
          </a:p>
        </p:txBody>
      </p:sp>
      <p:sp>
        <p:nvSpPr>
          <p:cNvPr id="22" name="TextBox 21"/>
          <p:cNvSpPr txBox="1"/>
          <p:nvPr/>
        </p:nvSpPr>
        <p:spPr>
          <a:xfrm>
            <a:off x="6278727" y="3584235"/>
            <a:ext cx="5373471"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Порог — это документ:</a:t>
            </a:r>
            <a:r>
              <a:rPr sz="1500" b="0" i="0">
                <a:solidFill>
                  <a:srgbClr val="21295C"/>
                </a:solidFill>
                <a:latin typeface="Arial"/>
              </a:rPr>
              <a:t> возраст и интервал назначены раньше, чем кто-нибудь измерил точность прибора, — и назначены тем же решением, которым назначено, быть ли программе вообще.</a:t>
            </a:r>
          </a:p>
          <a:p>
            <a:pPr algn="l">
              <a:lnSpc>
                <a:spcPct val="126000"/>
              </a:lnSpc>
              <a:spcBef>
                <a:spcPts val="3600"/>
              </a:spcBef>
            </a:pPr>
            <a:r>
              <a:rPr sz="1500" b="0" i="0">
                <a:solidFill>
                  <a:srgbClr val="21295C"/>
                </a:solidFill>
                <a:latin typeface="Arial"/>
              </a:rPr>
              <a:t/>
            </a:r>
            <a:r>
              <a:rPr sz="1500" b="1" i="0">
                <a:solidFill>
                  <a:srgbClr val="21295C"/>
                </a:solidFill>
                <a:latin typeface="Arial"/>
              </a:rPr>
              <a:t>Женщину с письмом позвал первый порядок: только год рождения, ни одного её собственного признака.</a:t>
            </a:r>
          </a:p>
        </p:txBody>
      </p:sp>
      <p:sp>
        <p:nvSpPr>
          <p:cNvPr id="23" name="Rectangle 22"/>
          <p:cNvSpPr/>
          <p:nvPr/>
        </p:nvSpPr>
        <p:spPr>
          <a:xfrm>
            <a:off x="6091275" y="3584235"/>
            <a:ext cx="9144" cy="2239566"/>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Шведская программа, контрольное плечо</a:t>
            </a:r>
            <a:r>
              <a:rPr sz="1200" b="0" i="1">
                <a:solidFill>
                  <a:srgbClr val="1C7293"/>
                </a:solidFill>
                <a:latin typeface="Arial"/>
              </a:rPr>
              <a:t> · </a:t>
            </a:r>
            <a:r>
              <a:rPr sz="1200" b="0" i="1">
                <a:solidFill>
                  <a:srgbClr val="1C7293"/>
                </a:solidFill>
                <a:latin typeface="Arial"/>
              </a:rPr>
              <a:t>Мальмёское испытание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с моделью: кому достаётся второе чтение</a:t>
            </a:r>
          </a:p>
        </p:txBody>
      </p:sp>
      <p:sp>
        <p:nvSpPr>
          <p:cNvPr id="4" name="Rounded Rectangle 3"/>
          <p:cNvSpPr/>
          <p:nvPr/>
        </p:nvSpPr>
        <p:spPr>
          <a:xfrm>
            <a:off x="502920" y="1335024"/>
            <a:ext cx="3618890"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ЖЕНЩИН С РАКОМ — НАШЛИ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74 → 81</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105 934 женщины, жребием на два плеча</a:t>
            </a:r>
          </a:p>
        </p:txBody>
      </p:sp>
      <p:sp>
        <p:nvSpPr>
          <p:cNvPr id="8" name="Rounded Rectangle 7"/>
          <p:cNvSpPr/>
          <p:nvPr/>
        </p:nvSpPr>
        <p:spPr>
          <a:xfrm>
            <a:off x="4286402"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ПОЗВАЛИ ЗРЯ: ВТОРОЙ СНИМОК</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 → 2,2 из ста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80 033 женщины той же программы</a:t>
            </a:r>
          </a:p>
        </p:txBody>
      </p:sp>
      <p:sp>
        <p:nvSpPr>
          <p:cNvPr id="12" name="Rounded Rectangle 11"/>
          <p:cNvSpPr/>
          <p:nvPr/>
        </p:nvSpPr>
        <p:spPr>
          <a:xfrm>
            <a:off x="8069884"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ВТОРОГО ЧЕЛОВЕЧЕСКОГО ЧТЕНИЯ МЕНЬШЕ</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на 44,3 процента</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 же 80 033 женщины</a:t>
            </a:r>
          </a:p>
        </p:txBody>
      </p:sp>
      <p:sp>
        <p:nvSpPr>
          <p:cNvPr id="16" name="Rounded Rectangle 15"/>
          <p:cNvSpPr/>
          <p:nvPr/>
        </p:nvSpPr>
        <p:spPr>
          <a:xfrm>
            <a:off x="374904" y="3165449"/>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56889"/>
            <a:ext cx="5373471" cy="2979318"/>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Та же программа и то же приглашение. Изменилось одно.</a:t>
            </a:r>
          </a:p>
          <a:p>
            <a:pPr algn="l">
              <a:lnSpc>
                <a:spcPct val="126000"/>
              </a:lnSpc>
              <a:spcBef>
                <a:spcPts val="3600"/>
              </a:spcBef>
            </a:pPr>
            <a:r>
              <a:rPr sz="1500" b="0" i="0">
                <a:solidFill>
                  <a:srgbClr val="21295C"/>
                </a:solidFill>
                <a:latin typeface="Arial"/>
              </a:rPr>
              <a:t/>
            </a:r>
            <a:r>
              <a:rPr sz="1500" b="1" i="0">
                <a:solidFill>
                  <a:srgbClr val="21295C"/>
                </a:solidFill>
                <a:latin typeface="Arial"/>
              </a:rPr>
              <a:t>Что делали.</a:t>
            </a:r>
            <a:r>
              <a:rPr sz="1500" b="0" i="0">
                <a:solidFill>
                  <a:srgbClr val="21295C"/>
                </a:solidFill>
                <a:latin typeface="Arial"/>
              </a:rPr>
              <a:t> Женщин распределяли жребием. Одно плечо — двое читателей и третий на расхождении. Другое — радиолог читает первым и заключение выдаёт сам, а модель ставит снимку оценку риска от 1 до 10: при 1–9 второго чтения нет, при 10 остаётся двойное.</a:t>
            </a:r>
          </a:p>
        </p:txBody>
      </p:sp>
      <p:sp>
        <p:nvSpPr>
          <p:cNvPr id="18" name="TextBox 17"/>
          <p:cNvSpPr txBox="1"/>
          <p:nvPr/>
        </p:nvSpPr>
        <p:spPr>
          <a:xfrm>
            <a:off x="6278727" y="3256889"/>
            <a:ext cx="5373471" cy="297931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Заключение выдаёт человек. Модель отбирает, кого прочтут дважды.</a:t>
            </a:r>
          </a:p>
          <a:p>
            <a:pPr algn="l">
              <a:lnSpc>
                <a:spcPct val="126000"/>
              </a:lnSpc>
              <a:spcBef>
                <a:spcPts val="3600"/>
              </a:spcBef>
            </a:pPr>
            <a:r>
              <a:rPr sz="1500" b="0" i="0">
                <a:solidFill>
                  <a:srgbClr val="21295C"/>
                </a:solidFill>
                <a:latin typeface="Arial"/>
              </a:rPr>
              <a:t/>
            </a:r>
            <a:r>
              <a:rPr sz="1500" b="1" i="0">
                <a:solidFill>
                  <a:srgbClr val="21295C"/>
                </a:solidFill>
                <a:latin typeface="Arial"/>
              </a:rPr>
              <a:t>Устроено:</a:t>
            </a:r>
            <a:r>
              <a:rPr sz="1500" b="0" i="0">
                <a:solidFill>
                  <a:srgbClr val="21295C"/>
                </a:solidFill>
                <a:latin typeface="Arial"/>
              </a:rPr>
              <a:t> вход — маммограмма, выход — оценка риска. Имени системы публикации не дают; режим занимают Transpara, Lunit INSIGHT MMG, iCAD ProFound. </a:t>
            </a:r>
            <a:r>
              <a:rPr sz="1500" b="0" i="1">
                <a:solidFill>
                  <a:srgbClr val="21295C"/>
                </a:solidFill>
                <a:latin typeface="Arial"/>
              </a:rPr>
              <a:t>Распознавание изображений.</a:t>
            </a:r>
          </a:p>
        </p:txBody>
      </p:sp>
      <p:sp>
        <p:nvSpPr>
          <p:cNvPr id="19" name="Rectangle 18"/>
          <p:cNvSpPr/>
          <p:nvPr/>
        </p:nvSpPr>
        <p:spPr>
          <a:xfrm>
            <a:off x="6091275" y="3256889"/>
            <a:ext cx="9144" cy="2239566"/>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Шведская программа, итоговый анализ</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арбитраж и доверие находке</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ЧТЕНИЙ УШЛО НА АРБИТРАЖ</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вдвое и впятеро больше</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центра, 50 000 женщин: 3,9→9,4 и 11,3→13,8</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ОДИН АРБИТРАЖ ПО ВРЕМЕНИ</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как пять чтений</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48 секунд против 2 минут 12; 441 276 случаев</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НАХОДКА ПОДТВЕРДИЛАСЬ: РАДИОЛОГ → МОДЕЛЬ</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 → 22 из ста</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54 991 женщина</a:t>
            </a:r>
          </a:p>
        </p:txBody>
      </p:sp>
      <p:sp>
        <p:nvSpPr>
          <p:cNvPr id="16" name="TextBox 15"/>
          <p:cNvSpPr txBox="1"/>
          <p:nvPr/>
        </p:nvSpPr>
        <p:spPr>
          <a:xfrm>
            <a:off x="502920" y="33219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Два радиолога читают</a:t>
            </a:r>
          </a:p>
        </p:txBody>
      </p:sp>
      <p:sp>
        <p:nvSpPr>
          <p:cNvPr id="19" name="Right Arrow 18"/>
          <p:cNvSpPr/>
          <p:nvPr/>
        </p:nvSpPr>
        <p:spPr>
          <a:xfrm>
            <a:off x="5039258" y="345444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на отзыве</a:t>
            </a:r>
          </a:p>
        </p:txBody>
      </p:sp>
      <p:sp>
        <p:nvSpPr>
          <p:cNvPr id="22" name="Right Arrow 21"/>
          <p:cNvSpPr/>
          <p:nvPr/>
        </p:nvSpPr>
        <p:spPr>
          <a:xfrm>
            <a:off x="8386876" y="345444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53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310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 третий читатель</a:t>
            </a:r>
          </a:p>
        </p:txBody>
      </p:sp>
      <p:sp>
        <p:nvSpPr>
          <p:cNvPr id="25" name="TextBox 24"/>
          <p:cNvSpPr txBox="1"/>
          <p:nvPr/>
        </p:nvSpPr>
        <p:spPr>
          <a:xfrm>
            <a:off x="502920" y="394359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390702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2002536" y="395274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Радиолог и модель читают</a:t>
            </a:r>
          </a:p>
        </p:txBody>
      </p:sp>
      <p:sp>
        <p:nvSpPr>
          <p:cNvPr id="28" name="Right Arrow 27"/>
          <p:cNvSpPr/>
          <p:nvPr/>
        </p:nvSpPr>
        <p:spPr>
          <a:xfrm>
            <a:off x="5039258" y="4076137"/>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702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95274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Расхождений больше</a:t>
            </a:r>
          </a:p>
        </p:txBody>
      </p:sp>
      <p:sp>
        <p:nvSpPr>
          <p:cNvPr id="31" name="Right Arrow 30"/>
          <p:cNvSpPr/>
          <p:nvPr/>
        </p:nvSpPr>
        <p:spPr>
          <a:xfrm>
            <a:off x="8386876" y="4076137"/>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702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5274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Арбитраж: дольше, чаще</a:t>
            </a:r>
          </a:p>
        </p:txBody>
      </p:sp>
      <p:sp>
        <p:nvSpPr>
          <p:cNvPr id="34" name="Rounded Rectangle 33"/>
          <p:cNvSpPr/>
          <p:nvPr/>
        </p:nvSpPr>
        <p:spPr>
          <a:xfrm>
            <a:off x="374904" y="4473854"/>
            <a:ext cx="11441887" cy="1762353"/>
          </a:xfrm>
          <a:prstGeom prst="roundRect">
            <a:avLst>
              <a:gd name="adj" fmla="val 17295"/>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565294"/>
            <a:ext cx="5373471" cy="1670913"/>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Британское испытание посчитало цену несогласия, пятого из шести искажений входа:</a:t>
            </a:r>
            <a:r>
              <a:rPr sz="1300" b="0" i="0">
                <a:solidFill>
                  <a:srgbClr val="21295C"/>
                </a:solidFill>
                <a:latin typeface="Arial"/>
              </a:rPr>
              <a:t> расхождений больше, и каждое разбирает третий читатель.</a:t>
            </a:r>
          </a:p>
          <a:p>
            <a:pPr algn="l">
              <a:lnSpc>
                <a:spcPct val="126000"/>
              </a:lnSpc>
              <a:spcBef>
                <a:spcPts val="720"/>
              </a:spcBef>
            </a:pPr>
            <a:r>
              <a:rPr sz="1300" b="0" i="0">
                <a:solidFill>
                  <a:srgbClr val="21295C"/>
                </a:solidFill>
                <a:latin typeface="Arial"/>
              </a:rPr>
              <a:t/>
            </a:r>
            <a:r>
              <a:rPr sz="1300" b="1" i="0">
                <a:solidFill>
                  <a:srgbClr val="21295C"/>
                </a:solidFill>
                <a:latin typeface="Arial"/>
              </a:rPr>
              <a:t>Доверие разведено наоборот.</a:t>
            </a:r>
            <a:r>
              <a:rPr sz="1300" b="0" i="0">
                <a:solidFill>
                  <a:srgbClr val="21295C"/>
                </a:solidFill>
                <a:latin typeface="Arial"/>
              </a:rPr>
              <a:t> Находку радиолога перепроверяют втрое чаще находки модели, хотя подтверждается она вшестеро реже.</a:t>
            </a:r>
          </a:p>
        </p:txBody>
      </p:sp>
      <p:sp>
        <p:nvSpPr>
          <p:cNvPr id="36" name="TextBox 35"/>
          <p:cNvSpPr txBox="1"/>
          <p:nvPr/>
        </p:nvSpPr>
        <p:spPr>
          <a:xfrm>
            <a:off x="6278727" y="4565294"/>
            <a:ext cx="5373471" cy="1670913"/>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Германия не заменила ни одного человеческого чтения;</a:t>
            </a:r>
            <a:r>
              <a:rPr sz="1300" b="0" i="0">
                <a:solidFill>
                  <a:srgbClr val="21295C"/>
                </a:solidFill>
                <a:latin typeface="Arial"/>
              </a:rPr>
              <a:t> 56,7 из ста — пересчёт, а не замер.</a:t>
            </a:r>
          </a:p>
          <a:p>
            <a:pPr algn="l">
              <a:lnSpc>
                <a:spcPct val="126000"/>
              </a:lnSpc>
              <a:spcBef>
                <a:spcPts val="3600"/>
              </a:spcBef>
            </a:pPr>
            <a:r>
              <a:rPr sz="1300" b="0" i="0">
                <a:solidFill>
                  <a:srgbClr val="21295C"/>
                </a:solidFill>
                <a:latin typeface="Arial"/>
              </a:rPr>
              <a:t/>
            </a:r>
            <a:r>
              <a:rPr sz="1300" b="1" i="0">
                <a:solidFill>
                  <a:srgbClr val="21295C"/>
                </a:solidFill>
                <a:latin typeface="Arial"/>
              </a:rPr>
              <a:t>Обучение, обновление и дрейф источники не раскрывают.</a:t>
            </a:r>
          </a:p>
        </p:txBody>
      </p:sp>
      <p:sp>
        <p:nvSpPr>
          <p:cNvPr id="37" name="Rectangle 36"/>
          <p:cNvSpPr/>
          <p:nvPr/>
        </p:nvSpPr>
        <p:spPr>
          <a:xfrm>
            <a:off x="6091275" y="4565294"/>
            <a:ext cx="9144" cy="1636157"/>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Уоррен и соавт., Nature Cancer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чат-бот первой линии вместо звонка в практику</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ДОПЛАТИЛ ЗАКАЗЧИК ЗА ГОД</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10,5 млн фунтов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список 49 тысяч; весь платёж за него — 7,6 млн</a:t>
            </a:r>
          </a:p>
        </p:txBody>
      </p:sp>
      <p:sp>
        <p:nvSpPr>
          <p:cNvPr id="8" name="TextBox 7"/>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9" name="Rounded Rectangle 8"/>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Жалоба</a:t>
            </a:r>
          </a:p>
        </p:txBody>
      </p:sp>
      <p:sp>
        <p:nvSpPr>
          <p:cNvPr id="11" name="Right Arrow 10"/>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Звонок в практику</a:t>
            </a:r>
          </a:p>
        </p:txBody>
      </p:sp>
      <p:sp>
        <p:nvSpPr>
          <p:cNvPr id="14" name="Right Arrow 13"/>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Приём по сортировке</a:t>
            </a:r>
          </a:p>
        </p:txBody>
      </p:sp>
      <p:sp>
        <p:nvSpPr>
          <p:cNvPr id="17" name="TextBox 16"/>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18" name="Rounded Rectangle 17"/>
          <p:cNvSpPr/>
          <p:nvPr/>
        </p:nvSpPr>
        <p:spPr>
          <a:xfrm>
            <a:off x="1920240" y="3305354"/>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9" name="TextBox 18"/>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Жалоба в приложении</a:t>
            </a:r>
          </a:p>
        </p:txBody>
      </p:sp>
      <p:sp>
        <p:nvSpPr>
          <p:cNvPr id="20" name="Right Arrow 19"/>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Маршрут выдаёт модель</a:t>
            </a:r>
          </a:p>
        </p:txBody>
      </p:sp>
      <p:sp>
        <p:nvSpPr>
          <p:cNvPr id="23" name="Right Arrow 22"/>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Обращений 4,0 → 4,3</a:t>
            </a:r>
          </a:p>
        </p:txBody>
      </p:sp>
      <p:sp>
        <p:nvSpPr>
          <p:cNvPr id="26" name="TextBox 25"/>
          <p:cNvSpPr txBox="1"/>
          <p:nvPr/>
        </p:nvSpPr>
        <p:spPr>
          <a:xfrm>
            <a:off x="502920" y="381732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Платят практике 155 фунтов за человека в год, от числа обращений — нет</a:t>
            </a:r>
          </a:p>
        </p:txBody>
      </p:sp>
      <p:sp>
        <p:nvSpPr>
          <p:cNvPr id="27" name="Rounded Rectangle 26"/>
          <p:cNvSpPr/>
          <p:nvPr/>
        </p:nvSpPr>
        <p:spPr>
          <a:xfrm>
            <a:off x="374904" y="4120007"/>
            <a:ext cx="11441887" cy="2116200"/>
          </a:xfrm>
          <a:prstGeom prst="roundRect">
            <a:avLst>
              <a:gd name="adj" fmla="val 14403"/>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4211447"/>
            <a:ext cx="5373471" cy="20247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за случай.</a:t>
            </a:r>
            <a:r>
              <a:rPr sz="1500" b="0" i="0">
                <a:solidFill>
                  <a:srgbClr val="21295C"/>
                </a:solidFill>
                <a:latin typeface="Arial"/>
              </a:rPr>
              <a:t> Сервис первой линии в Англии: человек описывает жалобу, маршрут выдаёт модель. Второй классический порядок — телефонная линия сортировки, назван и не посчитан.</a:t>
            </a:r>
          </a:p>
          <a:p>
            <a:pPr algn="l">
              <a:lnSpc>
                <a:spcPct val="126000"/>
              </a:lnSpc>
              <a:spcBef>
                <a:spcPts val="720"/>
              </a:spcBef>
            </a:pPr>
            <a:r>
              <a:rPr sz="1500" b="0" i="0">
                <a:solidFill>
                  <a:srgbClr val="21295C"/>
                </a:solidFill>
                <a:latin typeface="Arial"/>
              </a:rPr>
              <a:t/>
            </a:r>
            <a:r>
              <a:rPr sz="1500" b="1" i="0">
                <a:solidFill>
                  <a:srgbClr val="21295C"/>
                </a:solidFill>
                <a:latin typeface="Arial"/>
              </a:rPr>
              <a:t>Цена обеих ошибок:</a:t>
            </a:r>
            <a:r>
              <a:rPr sz="1500" b="0" i="0">
                <a:solidFill>
                  <a:srgbClr val="21295C"/>
                </a:solidFill>
                <a:latin typeface="Arial"/>
              </a:rPr>
              <a:t> пропустить того, кому нужно сейчас · занять приём · цена канала.</a:t>
            </a:r>
          </a:p>
        </p:txBody>
      </p:sp>
      <p:sp>
        <p:nvSpPr>
          <p:cNvPr id="29" name="TextBox 28"/>
          <p:cNvSpPr txBox="1"/>
          <p:nvPr/>
        </p:nvSpPr>
        <p:spPr>
          <a:xfrm>
            <a:off x="6278727" y="4211447"/>
            <a:ext cx="5373471" cy="20247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Экзамен: 81 у приложения против 72 у врачей.</a:t>
            </a:r>
            <a:r>
              <a:rPr sz="1500" b="0" i="0">
                <a:solidFill>
                  <a:srgbClr val="21295C"/>
                </a:solidFill>
                <a:latin typeface="Arial"/>
              </a:rPr>
              <a:t> Этим обосновали выход в открытый поток; качества сортировки не измерил никто.</a:t>
            </a:r>
          </a:p>
          <a:p>
            <a:pPr algn="l">
              <a:lnSpc>
                <a:spcPct val="126000"/>
              </a:lnSpc>
              <a:spcBef>
                <a:spcPts val="72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круглосуточную сортировку · </a:t>
            </a:r>
            <a:r>
              <a:rPr sz="1500" b="1" i="0">
                <a:solidFill>
                  <a:srgbClr val="21295C"/>
                </a:solidFill>
                <a:latin typeface="Arial"/>
              </a:rPr>
              <a:t>потребовало</a:t>
            </a:r>
            <a:r>
              <a:rPr sz="1500" b="0" i="0">
                <a:solidFill>
                  <a:srgbClr val="21295C"/>
                </a:solidFill>
                <a:latin typeface="Arial"/>
              </a:rPr>
              <a:t> минус на каждом пациенте · </a:t>
            </a:r>
            <a:r>
              <a:rPr sz="1500" b="1" i="0">
                <a:solidFill>
                  <a:srgbClr val="21295C"/>
                </a:solidFill>
                <a:latin typeface="Arial"/>
              </a:rPr>
              <a:t>в сумме хуже</a:t>
            </a:r>
            <a:r>
              <a:rPr sz="1500" b="0" i="0">
                <a:solidFill>
                  <a:srgbClr val="21295C"/>
                </a:solidFill>
                <a:latin typeface="Arial"/>
              </a:rPr>
              <a:t>: банкротство 2023.</a:t>
            </a:r>
          </a:p>
        </p:txBody>
      </p:sp>
      <p:sp>
        <p:nvSpPr>
          <p:cNvPr id="30" name="Rectangle 29"/>
          <p:cNvSpPr/>
          <p:nvPr/>
        </p:nvSpPr>
        <p:spPr>
          <a:xfrm>
            <a:off x="6091275" y="4211447"/>
            <a:ext cx="9144" cy="1873806"/>
          </a:xfrm>
          <a:prstGeom prst="rect">
            <a:avLst/>
          </a:prstGeom>
          <a:solidFill>
            <a:srgbClr val="D9E2EC"/>
          </a:solidFill>
          <a:ln>
            <a:noFill/>
          </a:ln>
          <a:effectLst/>
        </p:spPr>
        <p:txBody>
          <a:bodyPr rtlCol="0" anchor="ctr"/>
          <a:lstStyle/>
          <a:p>
            <a:pPr algn="ct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Коллегия врачей, 2018</a:t>
            </a:r>
            <a:r>
              <a:rPr sz="1200" b="0" i="1">
                <a:solidFill>
                  <a:srgbClr val="1C7293"/>
                </a:solidFill>
                <a:latin typeface="Arial"/>
              </a:rPr>
              <a:t> · </a:t>
            </a:r>
            <a:r>
              <a:rPr sz="1200" b="0" i="1">
                <a:solidFill>
                  <a:srgbClr val="1C7293"/>
                </a:solidFill>
                <a:latin typeface="Arial"/>
              </a:rPr>
              <a:t>независимая оценка сервиса, 2019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устройство: кто что сказал про внутренности Babylon</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ВЫХОД РЕШЕНИЯ — ОДИН ИЗ</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 вариантов</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«вызвать скорую» до «справитесь сами»</a:t>
            </a:r>
          </a:p>
        </p:txBody>
      </p:sp>
      <p:sp>
        <p:nvSpPr>
          <p:cNvPr id="8" name="TextBox 7"/>
          <p:cNvSpPr txBox="1"/>
          <p:nvPr/>
        </p:nvSpPr>
        <p:spPr>
          <a:xfrm>
            <a:off x="502920" y="272023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Обычный путь</a:t>
            </a:r>
          </a:p>
        </p:txBody>
      </p:sp>
      <p:sp>
        <p:nvSpPr>
          <p:cNvPr id="9" name="Rounded Rectangle 8"/>
          <p:cNvSpPr/>
          <p:nvPr/>
        </p:nvSpPr>
        <p:spPr>
          <a:xfrm>
            <a:off x="1920240" y="2683657"/>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2729377"/>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Симптомы на входе</a:t>
            </a:r>
          </a:p>
        </p:txBody>
      </p:sp>
      <p:sp>
        <p:nvSpPr>
          <p:cNvPr id="11" name="Right Arrow 10"/>
          <p:cNvSpPr/>
          <p:nvPr/>
        </p:nvSpPr>
        <p:spPr>
          <a:xfrm>
            <a:off x="5039258" y="2971598"/>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5267858" y="2683657"/>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350154" y="2729377"/>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Граф считает — нейросеть быстрее</a:t>
            </a:r>
          </a:p>
        </p:txBody>
      </p:sp>
      <p:sp>
        <p:nvSpPr>
          <p:cNvPr id="14" name="Right Arrow 13"/>
          <p:cNvSpPr/>
          <p:nvPr/>
        </p:nvSpPr>
        <p:spPr>
          <a:xfrm>
            <a:off x="8386876" y="297159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8615476" y="2683657"/>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8697772" y="2729377"/>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Один из исходов на выходе</a:t>
            </a:r>
          </a:p>
        </p:txBody>
      </p:sp>
      <p:sp>
        <p:nvSpPr>
          <p:cNvPr id="17" name="TextBox 16"/>
          <p:cNvSpPr txBox="1"/>
          <p:nvPr/>
        </p:nvSpPr>
        <p:spPr>
          <a:xfrm>
            <a:off x="502920" y="357957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Красный флаг</a:t>
            </a:r>
          </a:p>
        </p:txBody>
      </p:sp>
      <p:sp>
        <p:nvSpPr>
          <p:cNvPr id="18" name="Rounded Rectangle 17"/>
          <p:cNvSpPr/>
          <p:nvPr/>
        </p:nvSpPr>
        <p:spPr>
          <a:xfrm>
            <a:off x="1920240"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2002536"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Симптомы на входе</a:t>
            </a:r>
          </a:p>
        </p:txBody>
      </p:sp>
      <p:sp>
        <p:nvSpPr>
          <p:cNvPr id="20" name="Right Arrow 19"/>
          <p:cNvSpPr/>
          <p:nvPr/>
        </p:nvSpPr>
        <p:spPr>
          <a:xfrm>
            <a:off x="5039258" y="3830944"/>
            <a:ext cx="182880" cy="137160"/>
          </a:xfrm>
          <a:prstGeom prst="rightArrow">
            <a:avLst/>
          </a:prstGeom>
          <a:solidFill>
            <a:srgbClr val="1C7293"/>
          </a:solidFill>
          <a:ln>
            <a:noFill/>
          </a:ln>
          <a:effectLst/>
        </p:spPr>
        <p:txBody>
          <a:bodyPr rtlCol="0" anchor="ctr"/>
          <a:lstStyle/>
          <a:p>
            <a:pPr algn="ctr"/>
          </a:p>
        </p:txBody>
      </p:sp>
      <p:sp>
        <p:nvSpPr>
          <p:cNvPr id="21" name="Rounded Rectangle 20"/>
          <p:cNvSpPr/>
          <p:nvPr/>
        </p:nvSpPr>
        <p:spPr>
          <a:xfrm>
            <a:off x="5267858"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5350154"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Правило — минуя граф</a:t>
            </a:r>
          </a:p>
        </p:txBody>
      </p:sp>
      <p:sp>
        <p:nvSpPr>
          <p:cNvPr id="23" name="Right Arrow 22"/>
          <p:cNvSpPr/>
          <p:nvPr/>
        </p:nvSpPr>
        <p:spPr>
          <a:xfrm>
            <a:off x="8386876" y="3830944"/>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8615476" y="354300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8697772" y="358872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Всегда: скорая</a:t>
            </a:r>
          </a:p>
        </p:txBody>
      </p:sp>
      <p:sp>
        <p:nvSpPr>
          <p:cNvPr id="26" name="TextBox 25"/>
          <p:cNvSpPr txBox="1"/>
          <p:nvPr/>
        </p:nvSpPr>
        <p:spPr>
          <a:xfrm>
            <a:off x="502920" y="429262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Красный флаг обходит граф целиком</a:t>
            </a:r>
          </a:p>
        </p:txBody>
      </p:sp>
      <p:sp>
        <p:nvSpPr>
          <p:cNvPr id="27" name="Rounded Rectangle 26"/>
          <p:cNvSpPr/>
          <p:nvPr/>
        </p:nvSpPr>
        <p:spPr>
          <a:xfrm>
            <a:off x="374904" y="4595305"/>
            <a:ext cx="11441887" cy="1640902"/>
          </a:xfrm>
          <a:prstGeom prst="roundRect">
            <a:avLst>
              <a:gd name="adj" fmla="val 18575"/>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4686745"/>
            <a:ext cx="11112703" cy="154946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Говорили трое, и это не один источник.</a:t>
            </a:r>
            <a:r>
              <a:rPr sz="1350" b="0" i="0">
                <a:solidFill>
                  <a:srgbClr val="21295C"/>
                </a:solidFill>
                <a:latin typeface="Arial"/>
              </a:rPr>
              <a:t> </a:t>
            </a:r>
            <a:r>
              <a:rPr sz="1350" b="1" i="0">
                <a:solidFill>
                  <a:srgbClr val="21295C"/>
                </a:solidFill>
                <a:latin typeface="Arial"/>
              </a:rPr>
              <a:t>Хью Харви</a:t>
            </a:r>
            <a:r>
              <a:rPr sz="1350" b="0" i="0">
                <a:solidFill>
                  <a:srgbClr val="21295C"/>
                </a:solidFill>
                <a:latin typeface="Arial"/>
              </a:rPr>
              <a:t>, глава регуляторных вопросов компании в 2016–2017: внутри дерево «если — то» в таблице. </a:t>
            </a:r>
            <a:r>
              <a:rPr sz="1350" b="1" i="0">
                <a:solidFill>
                  <a:srgbClr val="21295C"/>
                </a:solidFill>
                <a:latin typeface="Arial"/>
              </a:rPr>
              <a:t>Дэвид Уоткинс</a:t>
            </a:r>
            <a:r>
              <a:rPr sz="1350" b="0" i="0">
                <a:solidFill>
                  <a:srgbClr val="21295C"/>
                </a:solidFill>
                <a:latin typeface="Arial"/>
              </a:rPr>
              <a:t>, врач со стороны: с 2017 года писал регулятору о пропусках. </a:t>
            </a:r>
            <a:r>
              <a:rPr sz="1350" b="1" i="0">
                <a:solidFill>
                  <a:srgbClr val="21295C"/>
                </a:solidFill>
                <a:latin typeface="Arial"/>
              </a:rPr>
              <a:t>Сама компания</a:t>
            </a:r>
            <a:r>
              <a:rPr sz="1350" b="0" i="0">
                <a:solidFill>
                  <a:srgbClr val="21295C"/>
                </a:solidFill>
                <a:latin typeface="Arial"/>
              </a:rPr>
              <a:t>, публикация 2016 года: граф вероятностей и правила для красных флагов поверх него — на схеме.</a:t>
            </a:r>
          </a:p>
          <a:p>
            <a:pPr algn="l">
              <a:lnSpc>
                <a:spcPct val="126000"/>
              </a:lnSpc>
              <a:spcBef>
                <a:spcPts val="720"/>
              </a:spcBef>
            </a:pPr>
            <a:r>
              <a:rPr sz="1350" b="0" i="0">
                <a:solidFill>
                  <a:srgbClr val="21295C"/>
                </a:solidFill>
                <a:latin typeface="Arial"/>
              </a:rPr>
              <a:t/>
            </a:r>
            <a:r>
              <a:rPr sz="1350" b="1" i="0">
                <a:solidFill>
                  <a:srgbClr val="21295C"/>
                </a:solidFill>
                <a:latin typeface="Arial"/>
              </a:rPr>
              <a:t>Слова изнутри · письма снаружи · собственная публикация. Независимой проверки нет ни одной.</a:t>
            </a:r>
          </a:p>
          <a:p>
            <a:pPr algn="l">
              <a:lnSpc>
                <a:spcPct val="126000"/>
              </a:lnSpc>
              <a:spcBef>
                <a:spcPts val="720"/>
              </a:spcBef>
            </a:pPr>
            <a:r>
              <a:rPr sz="1350" b="0" i="0">
                <a:solidFill>
                  <a:srgbClr val="21295C"/>
                </a:solidFill>
                <a:latin typeface="Arial"/>
              </a:rPr>
              <a:t/>
            </a:r>
            <a:r>
              <a:rPr sz="1350" b="1" i="0">
                <a:solidFill>
                  <a:srgbClr val="21295C"/>
                </a:solidFill>
                <a:latin typeface="Arial"/>
              </a:rPr>
              <a:t>Обученной модели, принимающей решение, здесь не было вовсе.</a:t>
            </a: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Middleton и соавт., arXiv:1606.02041, 2016 — публикация самой компании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глазное дно снимают на приёме</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ШАГ 1 — ДОШЛИ ДО ОБСЛЕДОВАНИЯ</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22 → 100 из ста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81 против 83, жребием</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ШАГ 2 — ДОШЛИ ДО ОФТАЛЬМОЛОГА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16 человек из 25</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64 из ста; в контроле — те же 22</a:t>
            </a:r>
          </a:p>
        </p:txBody>
      </p:sp>
      <p:sp>
        <p:nvSpPr>
          <p:cNvPr id="12" name="TextBox 11"/>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a:t>
            </a:r>
          </a:p>
        </p:txBody>
      </p:sp>
      <p:sp>
        <p:nvSpPr>
          <p:cNvPr id="15" name="Right Arrow 14"/>
          <p:cNvSpPr/>
          <p:nvPr/>
        </p:nvSpPr>
        <p:spPr>
          <a:xfrm>
            <a:off x="5039258" y="2852774"/>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Ожидание визита</a:t>
            </a:r>
          </a:p>
        </p:txBody>
      </p:sp>
      <p:sp>
        <p:nvSpPr>
          <p:cNvPr id="18" name="Right Arrow 17"/>
          <p:cNvSpPr/>
          <p:nvPr/>
        </p:nvSpPr>
        <p:spPr>
          <a:xfrm>
            <a:off x="8386876" y="2852774"/>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268365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272937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 специалистом</a:t>
            </a:r>
          </a:p>
        </p:txBody>
      </p:sp>
      <p:sp>
        <p:nvSpPr>
          <p:cNvPr id="21" name="TextBox 20"/>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у медсестры</a:t>
            </a:r>
          </a:p>
        </p:txBody>
      </p:sp>
      <p:sp>
        <p:nvSpPr>
          <p:cNvPr id="24" name="Right Arrow 23"/>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Автономное чтение</a:t>
            </a:r>
          </a:p>
        </p:txBody>
      </p:sp>
      <p:sp>
        <p:nvSpPr>
          <p:cNvPr id="27" name="Right Arrow 26"/>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на месте</a:t>
            </a:r>
          </a:p>
        </p:txBody>
      </p:sp>
      <p:sp>
        <p:nvSpPr>
          <p:cNvPr id="30" name="Rounded Rectangle 29"/>
          <p:cNvSpPr/>
          <p:nvPr/>
        </p:nvSpPr>
        <p:spPr>
          <a:xfrm>
            <a:off x="374904" y="3872187"/>
            <a:ext cx="11441887" cy="2148126"/>
          </a:xfrm>
          <a:prstGeom prst="roundRect">
            <a:avLst>
              <a:gd name="adj" fmla="val 14189"/>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за случай.</a:t>
            </a:r>
            <a:r>
              <a:rPr sz="1500" b="0" i="0">
                <a:solidFill>
                  <a:srgbClr val="21295C"/>
                </a:solidFill>
                <a:latin typeface="Arial"/>
              </a:rPr>
              <a:t> Подростки 8–21 года с диабетом: раз в год их проверяют на осложнение — поражение глазного дна. Это проверка группы риска, не скрининг здоровых.</a:t>
            </a:r>
          </a:p>
        </p:txBody>
      </p:sp>
      <p:sp>
        <p:nvSpPr>
          <p:cNvPr id="32" name="TextBox 31"/>
          <p:cNvSpPr txBox="1"/>
          <p:nvPr/>
        </p:nvSpPr>
        <p:spPr>
          <a:xfrm>
            <a:off x="6278727"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Цена обеих ошибок:</a:t>
            </a:r>
            <a:r>
              <a:rPr sz="1500" b="0" i="0">
                <a:solidFill>
                  <a:srgbClr val="21295C"/>
                </a:solidFill>
                <a:latin typeface="Arial"/>
              </a:rPr>
              <a:t> пропустить — бессимптомно до потери зрения · позвать зря — визит к специалисту, которого в районе может не быть · и теряют на неявке.</a:t>
            </a:r>
          </a:p>
          <a:p>
            <a:pPr algn="l">
              <a:lnSpc>
                <a:spcPct val="126000"/>
              </a:lnSpc>
              <a:spcBef>
                <a:spcPts val="720"/>
              </a:spcBef>
            </a:pPr>
            <a:r>
              <a:rPr sz="1500" b="0" i="0">
                <a:solidFill>
                  <a:srgbClr val="21295C"/>
                </a:solidFill>
                <a:latin typeface="Arial"/>
              </a:rPr>
              <a:t/>
            </a:r>
            <a:r>
              <a:rPr sz="1500" b="1" i="0">
                <a:solidFill>
                  <a:srgbClr val="21295C"/>
                </a:solidFill>
                <a:latin typeface="Arial"/>
              </a:rPr>
              <a:t>Оба классических порядка посчитаны в явке:</a:t>
            </a:r>
            <a:r>
              <a:rPr sz="1500" b="0" i="0">
                <a:solidFill>
                  <a:srgbClr val="21295C"/>
                </a:solidFill>
                <a:latin typeface="Arial"/>
              </a:rPr>
              <a:t> к офтальмологу раз в год — 22 из ста · не обследовать — ноль.</a:t>
            </a:r>
          </a:p>
        </p:txBody>
      </p:sp>
      <p:sp>
        <p:nvSpPr>
          <p:cNvPr id="33" name="Rectangle 32"/>
          <p:cNvSpPr/>
          <p:nvPr/>
        </p:nvSpPr>
        <p:spPr>
          <a:xfrm>
            <a:off x="6091275" y="3963627"/>
            <a:ext cx="9144" cy="1873806"/>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Wolf и соавторы, Nature Communications 2024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отказной поток и новый шаг</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НЕГОДНЫ ПО КАЧЕСТВУ</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0,9 из ста</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910 из 101 710 визитов, 404 клиники, взрослые</a:t>
            </a:r>
          </a:p>
        </p:txBody>
      </p:sp>
      <p:sp>
        <p:nvSpPr>
          <p:cNvPr id="8" name="Rounded Rectangle 7"/>
          <p:cNvSpPr/>
          <p:nvPr/>
        </p:nvSpPr>
        <p:spPr>
          <a:xfrm>
            <a:off x="6178143"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ПОТОК, КОТОРОГО СПЕЦИАЛИСТ НЕ ВИДИТ ВОВСЕ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75,7 из ста</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прежде нормальное приходило к нему и он мог его проверить</a:t>
            </a:r>
          </a:p>
        </p:txBody>
      </p:sp>
      <p:sp>
        <p:nvSpPr>
          <p:cNvPr id="12" name="TextBox 11"/>
          <p:cNvSpPr txBox="1"/>
          <p:nvPr/>
        </p:nvSpPr>
        <p:spPr>
          <a:xfrm>
            <a:off x="502920" y="272023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3" name="Rounded Rectangle 12"/>
          <p:cNvSpPr/>
          <p:nvPr/>
        </p:nvSpPr>
        <p:spPr>
          <a:xfrm>
            <a:off x="1920240" y="268365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272937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Офтальмолог читает</a:t>
            </a:r>
          </a:p>
        </p:txBody>
      </p:sp>
      <p:sp>
        <p:nvSpPr>
          <p:cNvPr id="15" name="Right Arrow 14"/>
          <p:cNvSpPr/>
          <p:nvPr/>
        </p:nvSpPr>
        <p:spPr>
          <a:xfrm>
            <a:off x="6713067" y="2852774"/>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6941667" y="2683657"/>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7023963" y="2729377"/>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Он же отвечает</a:t>
            </a:r>
          </a:p>
        </p:txBody>
      </p:sp>
      <p:sp>
        <p:nvSpPr>
          <p:cNvPr id="18" name="TextBox 17"/>
          <p:cNvSpPr txBox="1"/>
          <p:nvPr/>
        </p:nvSpPr>
        <p:spPr>
          <a:xfrm>
            <a:off x="502920" y="334193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19" name="Rounded Rectangle 18"/>
          <p:cNvSpPr/>
          <p:nvPr/>
        </p:nvSpPr>
        <p:spPr>
          <a:xfrm>
            <a:off x="1920240" y="3305354"/>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0" name="TextBox 19"/>
          <p:cNvSpPr txBox="1"/>
          <p:nvPr/>
        </p:nvSpPr>
        <p:spPr>
          <a:xfrm>
            <a:off x="2002536" y="3351074"/>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Устройство читает</a:t>
            </a:r>
          </a:p>
        </p:txBody>
      </p:sp>
      <p:sp>
        <p:nvSpPr>
          <p:cNvPr id="21" name="Right Arrow 20"/>
          <p:cNvSpPr/>
          <p:nvPr/>
        </p:nvSpPr>
        <p:spPr>
          <a:xfrm>
            <a:off x="5039258" y="3474471"/>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5267858"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5350154"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Ответственность на изделии</a:t>
            </a:r>
          </a:p>
        </p:txBody>
      </p:sp>
      <p:sp>
        <p:nvSpPr>
          <p:cNvPr id="24" name="Right Arrow 23"/>
          <p:cNvSpPr/>
          <p:nvPr/>
        </p:nvSpPr>
        <p:spPr>
          <a:xfrm>
            <a:off x="8386876" y="347447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8615476" y="330535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8697772" y="335107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Новый шаг: годный снимок</a:t>
            </a:r>
          </a:p>
        </p:txBody>
      </p:sp>
      <p:sp>
        <p:nvSpPr>
          <p:cNvPr id="27" name="Rounded Rectangle 26"/>
          <p:cNvSpPr/>
          <p:nvPr/>
        </p:nvSpPr>
        <p:spPr>
          <a:xfrm>
            <a:off x="374904" y="3872187"/>
            <a:ext cx="11441887" cy="2364020"/>
          </a:xfrm>
          <a:prstGeom prst="roundRect">
            <a:avLst>
              <a:gd name="adj" fmla="val 12893"/>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3963627"/>
            <a:ext cx="5373471" cy="2272580"/>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Съёмка на приёме дала явку. Теперь — чего это стоило и кому.</a:t>
            </a:r>
          </a:p>
          <a:p>
            <a:pPr algn="l">
              <a:lnSpc>
                <a:spcPct val="126000"/>
              </a:lnSpc>
              <a:spcBef>
                <a:spcPts val="3600"/>
              </a:spcBef>
            </a:pPr>
            <a:r>
              <a:rPr sz="1500" b="0" i="0">
                <a:solidFill>
                  <a:srgbClr val="21295C"/>
                </a:solidFill>
                <a:latin typeface="Arial"/>
              </a:rPr>
              <a:t/>
            </a:r>
            <a:r>
              <a:rPr sz="1500" b="1" i="0">
                <a:solidFill>
                  <a:srgbClr val="21295C"/>
                </a:solidFill>
                <a:latin typeface="Arial"/>
              </a:rPr>
              <a:t>Исполнитель сменился по документу</a:t>
            </a:r>
            <a:r>
              <a:rPr sz="1500" b="0" i="0">
                <a:solidFill>
                  <a:srgbClr val="21295C"/>
                </a:solidFill>
                <a:latin typeface="Arial"/>
              </a:rPr>
              <a:t> — единственный такой случай в лекции: ответственность за пропуск переехала с врача на изделие.</a:t>
            </a:r>
          </a:p>
        </p:txBody>
      </p:sp>
      <p:sp>
        <p:nvSpPr>
          <p:cNvPr id="29" name="TextBox 28"/>
          <p:cNvSpPr txBox="1"/>
          <p:nvPr/>
        </p:nvSpPr>
        <p:spPr>
          <a:xfrm>
            <a:off x="6278727" y="3963627"/>
            <a:ext cx="5373471" cy="227258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Нового шага у офтальмолога не было:</a:t>
            </a:r>
            <a:r>
              <a:rPr sz="1500" b="0" i="0">
                <a:solidFill>
                  <a:srgbClr val="21295C"/>
                </a:solidFill>
                <a:latin typeface="Arial"/>
              </a:rPr>
              <a:t> условия съёмки он поправлял сам.</a:t>
            </a:r>
          </a:p>
          <a:p>
            <a:pPr algn="l">
              <a:lnSpc>
                <a:spcPct val="126000"/>
              </a:lnSpc>
              <a:spcBef>
                <a:spcPts val="720"/>
              </a:spcBef>
            </a:pPr>
            <a:r>
              <a:rPr sz="1500" b="0" i="0">
                <a:solidFill>
                  <a:srgbClr val="21295C"/>
                </a:solidFill>
                <a:latin typeface="Arial"/>
              </a:rPr>
              <a:t/>
            </a:r>
            <a:r>
              <a:rPr sz="1500" b="1" i="0">
                <a:solidFill>
                  <a:srgbClr val="21295C"/>
                </a:solidFill>
                <a:latin typeface="Arial"/>
              </a:rPr>
              <a:t>Оба числа — с другой программы и другого прибора, на взрослых.</a:t>
            </a:r>
          </a:p>
          <a:p>
            <a:pPr algn="l">
              <a:lnSpc>
                <a:spcPct val="126000"/>
              </a:lnSpc>
              <a:spcBef>
                <a:spcPts val="720"/>
              </a:spcBef>
            </a:pPr>
            <a:r>
              <a:rPr sz="1500" b="0" i="0">
                <a:solidFill>
                  <a:srgbClr val="21295C"/>
                </a:solidFill>
                <a:latin typeface="Arial"/>
              </a:rPr>
              <a:t/>
            </a:r>
            <a:r>
              <a:rPr sz="1500" b="1" i="0">
                <a:solidFill>
                  <a:srgbClr val="21295C"/>
                </a:solidFill>
                <a:latin typeface="Arial"/>
              </a:rPr>
              <a:t>дало</a:t>
            </a:r>
            <a:r>
              <a:rPr sz="1500" b="0" i="0">
                <a:solidFill>
                  <a:srgbClr val="21295C"/>
                </a:solidFill>
                <a:latin typeface="Arial"/>
              </a:rPr>
              <a:t> доступ на месте · </a:t>
            </a:r>
            <a:r>
              <a:rPr sz="1500" b="1" i="0">
                <a:solidFill>
                  <a:srgbClr val="21295C"/>
                </a:solidFill>
                <a:latin typeface="Arial"/>
              </a:rPr>
              <a:t>потребовало</a:t>
            </a:r>
            <a:r>
              <a:rPr sz="1500" b="0" i="0">
                <a:solidFill>
                  <a:srgbClr val="21295C"/>
                </a:solidFill>
                <a:latin typeface="Arial"/>
              </a:rPr>
              <a:t> новый шаг и поток, которого никто не смотрит · </a:t>
            </a:r>
            <a:r>
              <a:rPr sz="1500" b="1" i="0">
                <a:solidFill>
                  <a:srgbClr val="21295C"/>
                </a:solidFill>
                <a:latin typeface="Arial"/>
              </a:rPr>
              <a:t>в сумме</a:t>
            </a:r>
            <a:r>
              <a:rPr sz="1500" b="0" i="0">
                <a:solidFill>
                  <a:srgbClr val="21295C"/>
                </a:solidFill>
                <a:latin typeface="Arial"/>
              </a:rPr>
              <a:t>: доступ ценой отказного потока.</a:t>
            </a:r>
          </a:p>
        </p:txBody>
      </p:sp>
      <p:sp>
        <p:nvSpPr>
          <p:cNvPr id="30" name="Rectangle 29"/>
          <p:cNvSpPr/>
          <p:nvPr/>
        </p:nvSpPr>
        <p:spPr>
          <a:xfrm>
            <a:off x="6091275" y="3963627"/>
            <a:ext cx="9144" cy="2262307"/>
          </a:xfrm>
          <a:prstGeom prst="rect">
            <a:avLst/>
          </a:prstGeom>
          <a:solidFill>
            <a:srgbClr val="D9E2EC"/>
          </a:solidFill>
          <a:ln>
            <a:noFill/>
          </a:ln>
          <a:effectLst/>
        </p:spPr>
        <p:txBody>
          <a:bodyPr rtlCol="0" anchor="ctr"/>
          <a:lstStyle/>
          <a:p>
            <a:pPr algn="ctr"/>
          </a:p>
        </p:txBody>
      </p:sp>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Решение регулятора США DEN180001,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3, устройство: обучение, обновление и другая популяция</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НЕПРИГОДНЫХ СНИМКОВ В СТАЦИОНАРЕ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26 из ста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875 пациентов, тот же прибор, другая популяция</a:t>
            </a:r>
          </a:p>
        </p:txBody>
      </p:sp>
      <p:sp>
        <p:nvSpPr>
          <p:cNvPr id="8" name="Rounded Rectangle 7"/>
          <p:cNvSpPr/>
          <p:nvPr/>
        </p:nvSpPr>
        <p:spPr>
          <a:xfrm>
            <a:off x="4286402"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НАХОДИТ: ТЯЖЁЛАЯ → УМЕРЕННАЯ ФОРМА</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94 → 61 из ста</a:t>
            </a:r>
          </a:p>
        </p:txBody>
      </p:sp>
      <p:sp>
        <p:nvSpPr>
          <p:cNvPr id="11" name="TextBox 10"/>
          <p:cNvSpPr txBox="1"/>
          <p:nvPr/>
        </p:nvSpPr>
        <p:spPr>
          <a:xfrm>
            <a:off x="4423562"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допуске тот же прибор дал 87 и 91</a:t>
            </a:r>
          </a:p>
        </p:txBody>
      </p:sp>
      <p:sp>
        <p:nvSpPr>
          <p:cNvPr id="12" name="Rounded Rectangle 11"/>
          <p:cNvSpPr/>
          <p:nvPr/>
        </p:nvSpPr>
        <p:spPr>
          <a:xfrm>
            <a:off x="8069884"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БРАК СНИМКОВ: ДЕНЬ 1 → ДЕНЬ 4</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47 → 0 из ста</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оператор</a:t>
            </a:r>
          </a:p>
        </p:txBody>
      </p:sp>
      <p:sp>
        <p:nvSpPr>
          <p:cNvPr id="16" name="TextBox 15"/>
          <p:cNvSpPr txBox="1"/>
          <p:nvPr/>
        </p:nvSpPr>
        <p:spPr>
          <a:xfrm>
            <a:off x="502920" y="29314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 допуска</a:t>
            </a:r>
          </a:p>
        </p:txBody>
      </p:sp>
      <p:sp>
        <p:nvSpPr>
          <p:cNvPr id="17" name="Rounded Rectangle 16"/>
          <p:cNvSpPr/>
          <p:nvPr/>
        </p:nvSpPr>
        <p:spPr>
          <a:xfrm>
            <a:off x="1920240"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≈25 000 обследований</a:t>
            </a:r>
          </a:p>
        </p:txBody>
      </p:sp>
      <p:sp>
        <p:nvSpPr>
          <p:cNvPr id="19" name="Right Arrow 18"/>
          <p:cNvSpPr/>
          <p:nvPr/>
        </p:nvSpPr>
        <p:spPr>
          <a:xfrm>
            <a:off x="5039258" y="306401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9490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294062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Обучение модели</a:t>
            </a:r>
          </a:p>
        </p:txBody>
      </p:sp>
      <p:sp>
        <p:nvSpPr>
          <p:cNvPr id="22" name="Right Arrow 21"/>
          <p:cNvSpPr/>
          <p:nvPr/>
        </p:nvSpPr>
        <p:spPr>
          <a:xfrm>
            <a:off x="8386876" y="306401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Допуск регулятора, 2018</a:t>
            </a:r>
          </a:p>
        </p:txBody>
      </p:sp>
      <p:sp>
        <p:nvSpPr>
          <p:cNvPr id="25" name="TextBox 24"/>
          <p:cNvSpPr txBox="1"/>
          <p:nvPr/>
        </p:nvSpPr>
        <p:spPr>
          <a:xfrm>
            <a:off x="502920" y="355317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допуска</a:t>
            </a:r>
          </a:p>
        </p:txBody>
      </p:sp>
      <p:sp>
        <p:nvSpPr>
          <p:cNvPr id="26" name="Rounded Rectangle 25"/>
          <p:cNvSpPr/>
          <p:nvPr/>
        </p:nvSpPr>
        <p:spPr>
          <a:xfrm>
            <a:off x="1920240"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Другая популяция</a:t>
            </a:r>
          </a:p>
        </p:txBody>
      </p:sp>
      <p:sp>
        <p:nvSpPr>
          <p:cNvPr id="28" name="Right Arrow 27"/>
          <p:cNvSpPr/>
          <p:nvPr/>
        </p:nvSpPr>
        <p:spPr>
          <a:xfrm>
            <a:off x="5039258" y="368571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Находит хуже, бракует чаще</a:t>
            </a:r>
          </a:p>
        </p:txBody>
      </p:sp>
      <p:sp>
        <p:nvSpPr>
          <p:cNvPr id="31" name="Right Arrow 30"/>
          <p:cNvSpPr/>
          <p:nvPr/>
        </p:nvSpPr>
        <p:spPr>
          <a:xfrm>
            <a:off x="8386876" y="368571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Обновление протокола</a:t>
            </a:r>
          </a:p>
        </p:txBody>
      </p:sp>
      <p:sp>
        <p:nvSpPr>
          <p:cNvPr id="34" name="Rounded Rectangle 33"/>
          <p:cNvSpPr/>
          <p:nvPr/>
        </p:nvSpPr>
        <p:spPr>
          <a:xfrm>
            <a:off x="374904" y="408343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174871"/>
            <a:ext cx="5373471" cy="206133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Устроено:</a:t>
            </a:r>
            <a:r>
              <a:rPr sz="1500" b="0" i="0">
                <a:solidFill>
                  <a:srgbClr val="21295C"/>
                </a:solidFill>
                <a:latin typeface="Arial"/>
              </a:rPr>
              <a:t> вход — два снимка глазного дна; выход — один из трёх исходов: направить к офтальмологу · норма с повтором через год · снимок негоден. Первым в 2018-м допущен IDx-DR (ныне LumineticsCore). </a:t>
            </a:r>
            <a:r>
              <a:rPr sz="1500" b="0" i="1">
                <a:solidFill>
                  <a:srgbClr val="21295C"/>
                </a:solidFill>
                <a:latin typeface="Arial"/>
              </a:rPr>
              <a:t>Классификация на изображении.</a:t>
            </a:r>
          </a:p>
        </p:txBody>
      </p:sp>
      <p:sp>
        <p:nvSpPr>
          <p:cNvPr id="36" name="TextBox 35"/>
          <p:cNvSpPr txBox="1"/>
          <p:nvPr/>
        </p:nvSpPr>
        <p:spPr>
          <a:xfrm>
            <a:off x="6278727" y="4174871"/>
            <a:ext cx="5373471" cy="206133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Допуск устройство не замораживает:</a:t>
            </a:r>
            <a:r>
              <a:rPr sz="1500" b="0" i="0">
                <a:solidFill>
                  <a:srgbClr val="21295C"/>
                </a:solidFill>
                <a:latin typeface="Arial"/>
              </a:rPr>
              <a:t> классификатор качества обновляли заявкой.</a:t>
            </a:r>
          </a:p>
          <a:p>
            <a:pPr algn="l">
              <a:lnSpc>
                <a:spcPct val="126000"/>
              </a:lnSpc>
              <a:spcBef>
                <a:spcPts val="3600"/>
              </a:spcBef>
            </a:pPr>
            <a:r>
              <a:rPr sz="1500" b="0" i="0">
                <a:solidFill>
                  <a:srgbClr val="21295C"/>
                </a:solidFill>
                <a:latin typeface="Arial"/>
              </a:rPr>
              <a:t/>
            </a:r>
            <a:r>
              <a:rPr sz="1500" b="1" i="0">
                <a:solidFill>
                  <a:srgbClr val="21295C"/>
                </a:solidFill>
                <a:latin typeface="Arial"/>
              </a:rPr>
              <a:t>Это два разных эффекта:</a:t>
            </a:r>
            <a:r>
              <a:rPr sz="1500" b="0" i="0">
                <a:solidFill>
                  <a:srgbClr val="21295C"/>
                </a:solidFill>
                <a:latin typeface="Arial"/>
              </a:rPr>
              <a:t> тяжесть болезни против навыка держать камеру.</a:t>
            </a:r>
          </a:p>
        </p:txBody>
      </p:sp>
      <p:sp>
        <p:nvSpPr>
          <p:cNvPr id="37" name="Rectangle 36"/>
          <p:cNvSpPr/>
          <p:nvPr/>
        </p:nvSpPr>
        <p:spPr>
          <a:xfrm>
            <a:off x="6091275" y="4174871"/>
            <a:ext cx="9144" cy="1645444"/>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Германское исследование IDx-DR, 2026</a:t>
            </a:r>
            <a:r>
              <a:rPr sz="1200" b="0" i="1">
                <a:solidFill>
                  <a:srgbClr val="1C7293"/>
                </a:solidFill>
                <a:latin typeface="Arial"/>
              </a:rPr>
              <a:t> · </a:t>
            </a:r>
            <a:r>
              <a:rPr sz="1200" b="0" i="1">
                <a:solidFill>
                  <a:srgbClr val="1C7293"/>
                </a:solidFill>
                <a:latin typeface="Arial"/>
              </a:rPr>
              <a:t>заявка K213037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4: Москва, Россия — модель на месте второго читателя маммограмм</a:t>
            </a:r>
          </a:p>
        </p:txBody>
      </p:sp>
      <p:sp>
        <p:nvSpPr>
          <p:cNvPr id="4" name="Rounded Rectangle 3"/>
          <p:cNvSpPr/>
          <p:nvPr/>
        </p:nvSpPr>
        <p:spPr>
          <a:xfrm>
            <a:off x="502920" y="1335024"/>
            <a:ext cx="3618890" cy="1610874"/>
          </a:xfrm>
          <a:prstGeom prst="roundRect">
            <a:avLst>
              <a:gd name="adj" fmla="val 1892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ПРОВЕРКИ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593 261 исследование</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112 организаций Москвы, 10 производителей аппаратов, 2021–2022</a:t>
            </a:r>
          </a:p>
        </p:txBody>
      </p:sp>
      <p:sp>
        <p:nvSpPr>
          <p:cNvPr id="8" name="Rounded Rectangle 7"/>
          <p:cNvSpPr/>
          <p:nvPr/>
        </p:nvSpPr>
        <p:spPr>
          <a:xfrm>
            <a:off x="4286402" y="1335024"/>
            <a:ext cx="3618890" cy="1610874"/>
          </a:xfrm>
          <a:prstGeom prst="roundRect">
            <a:avLst>
              <a:gd name="adj" fmla="val 1892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ЧУВСТВИТЕЛЬНОСТЬ: ВХОД → ВЫХОД</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0,62 → 0,85</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это 38 признаков рака из ста, не найденных</a:t>
            </a:r>
          </a:p>
        </p:txBody>
      </p:sp>
      <p:sp>
        <p:nvSpPr>
          <p:cNvPr id="12" name="Rounded Rectangle 11"/>
          <p:cNvSpPr/>
          <p:nvPr/>
        </p:nvSpPr>
        <p:spPr>
          <a:xfrm>
            <a:off x="8069884" y="1335024"/>
            <a:ext cx="3618890" cy="1610874"/>
          </a:xfrm>
          <a:prstGeom prst="roundRect">
            <a:avLst>
              <a:gd name="adj" fmla="val 1892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РЕГИСТРАЦИЯ СТОЯЛА РАНЬШЕ ПРОВЕРКИ</a:t>
            </a:r>
          </a:p>
        </p:txBody>
      </p:sp>
      <p:sp>
        <p:nvSpPr>
          <p:cNvPr id="14" name="TextBox 13"/>
          <p:cNvSpPr txBox="1"/>
          <p:nvPr/>
        </p:nvSpPr>
        <p:spPr>
          <a:xfrm>
            <a:off x="8207044" y="1932846"/>
            <a:ext cx="3344570" cy="664648"/>
          </a:xfrm>
          <a:prstGeom prst="rect">
            <a:avLst/>
          </a:prstGeom>
          <a:noFill/>
        </p:spPr>
        <p:txBody>
          <a:bodyPr wrap="square" lIns="0" rIns="0" tIns="0" bIns="0" anchor="t">
            <a:spAutoFit/>
          </a:bodyPr>
          <a:lstStyle/>
          <a:p>
            <a:pPr algn="l">
              <a:lnSpc>
                <a:spcPct val="108000"/>
              </a:lnSpc>
            </a:pPr>
            <a:r>
              <a:rPr sz="1850" b="1" i="0">
                <a:solidFill>
                  <a:srgbClr val="1C7293"/>
                </a:solidFill>
                <a:latin typeface="Arial"/>
              </a:rPr>
              <a:t>2021 — удостоверение Росздравнадзора и знак CE</a:t>
            </a:r>
          </a:p>
        </p:txBody>
      </p:sp>
      <p:sp>
        <p:nvSpPr>
          <p:cNvPr id="15" name="TextBox 14"/>
          <p:cNvSpPr txBox="1"/>
          <p:nvPr/>
        </p:nvSpPr>
        <p:spPr>
          <a:xfrm>
            <a:off x="8207044" y="259749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версию с чувствительностью 0,62</a:t>
            </a:r>
          </a:p>
        </p:txBody>
      </p:sp>
      <p:sp>
        <p:nvSpPr>
          <p:cNvPr id="16" name="TextBox 15"/>
          <p:cNvSpPr txBox="1"/>
          <p:nvPr/>
        </p:nvSpPr>
        <p:spPr>
          <a:xfrm>
            <a:off x="502920" y="3165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Двойное чтение</a:t>
            </a:r>
          </a:p>
        </p:txBody>
      </p:sp>
      <p:sp>
        <p:nvSpPr>
          <p:cNvPr id="17" name="Rounded Rectangle 16"/>
          <p:cNvSpPr/>
          <p:nvPr/>
        </p:nvSpPr>
        <p:spPr>
          <a:xfrm>
            <a:off x="1920240"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19" name="Right Arrow 18"/>
          <p:cNvSpPr/>
          <p:nvPr/>
        </p:nvSpPr>
        <p:spPr>
          <a:xfrm>
            <a:off x="4202353" y="329789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первый врач</a:t>
            </a:r>
          </a:p>
        </p:txBody>
      </p:sp>
      <p:sp>
        <p:nvSpPr>
          <p:cNvPr id="22" name="Right Arrow 21"/>
          <p:cNvSpPr/>
          <p:nvPr/>
        </p:nvSpPr>
        <p:spPr>
          <a:xfrm>
            <a:off x="6713067" y="329789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второй врач</a:t>
            </a:r>
          </a:p>
        </p:txBody>
      </p:sp>
      <p:sp>
        <p:nvSpPr>
          <p:cNvPr id="25" name="Right Arrow 24"/>
          <p:cNvSpPr/>
          <p:nvPr/>
        </p:nvSpPr>
        <p:spPr>
          <a:xfrm>
            <a:off x="9223781" y="3297894"/>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128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174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третий на расхождении</a:t>
            </a:r>
          </a:p>
        </p:txBody>
      </p:sp>
      <p:sp>
        <p:nvSpPr>
          <p:cNvPr id="28" name="TextBox 27"/>
          <p:cNvSpPr txBox="1"/>
          <p:nvPr/>
        </p:nvSpPr>
        <p:spPr>
          <a:xfrm>
            <a:off x="502920" y="378705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Москва, с моделью</a:t>
            </a:r>
          </a:p>
        </p:txBody>
      </p:sp>
      <p:sp>
        <p:nvSpPr>
          <p:cNvPr id="29" name="Rounded Rectangle 28"/>
          <p:cNvSpPr/>
          <p:nvPr/>
        </p:nvSpPr>
        <p:spPr>
          <a:xfrm>
            <a:off x="1920240"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31" name="Right Arrow 30"/>
          <p:cNvSpPr/>
          <p:nvPr/>
        </p:nvSpPr>
        <p:spPr>
          <a:xfrm>
            <a:off x="4202353" y="391959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375047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379619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читает первой</a:t>
            </a:r>
          </a:p>
        </p:txBody>
      </p:sp>
      <p:sp>
        <p:nvSpPr>
          <p:cNvPr id="34" name="Right Arrow 33"/>
          <p:cNvSpPr/>
          <p:nvPr/>
        </p:nvSpPr>
        <p:spPr>
          <a:xfrm>
            <a:off x="6713067" y="391959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читает вторым</a:t>
            </a:r>
          </a:p>
        </p:txBody>
      </p:sp>
      <p:sp>
        <p:nvSpPr>
          <p:cNvPr id="37" name="Right Arrow 36"/>
          <p:cNvSpPr/>
          <p:nvPr/>
        </p:nvSpPr>
        <p:spPr>
          <a:xfrm>
            <a:off x="9223781" y="3919591"/>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37504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37961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 врача</a:t>
            </a:r>
          </a:p>
        </p:txBody>
      </p:sp>
      <p:sp>
        <p:nvSpPr>
          <p:cNvPr id="40" name="TextBox 39"/>
          <p:cNvSpPr txBox="1"/>
          <p:nvPr/>
        </p:nvSpPr>
        <p:spPr>
          <a:xfrm>
            <a:off x="502920" y="426244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Модель встала на место второго читателя, не рядом с первым</a:t>
            </a:r>
          </a:p>
        </p:txBody>
      </p:sp>
      <p:sp>
        <p:nvSpPr>
          <p:cNvPr id="41" name="Rounded Rectangle 40"/>
          <p:cNvSpPr/>
          <p:nvPr/>
        </p:nvSpPr>
        <p:spPr>
          <a:xfrm>
            <a:off x="374904" y="4565127"/>
            <a:ext cx="11441887" cy="1671080"/>
          </a:xfrm>
          <a:prstGeom prst="roundRect">
            <a:avLst>
              <a:gd name="adj" fmla="val 18239"/>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4656567"/>
            <a:ext cx="11112703" cy="157964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за случай.</a:t>
            </a:r>
            <a:r>
              <a:rPr sz="1400" b="0" i="0">
                <a:solidFill>
                  <a:srgbClr val="21295C"/>
                </a:solidFill>
                <a:latin typeface="Arial"/>
              </a:rPr>
              <a:t> Москва, маммографический скрининг. Модель читает снимок первой, врач — вторым. </a:t>
            </a:r>
            <a:r>
              <a:rPr sz="1400" b="0" i="1">
                <a:solidFill>
                  <a:srgbClr val="21295C"/>
                </a:solidFill>
                <a:latin typeface="Arial"/>
              </a:rPr>
              <a:t>Изделие — «Цельс Маммография».</a:t>
            </a:r>
          </a:p>
          <a:p>
            <a:pPr algn="l">
              <a:lnSpc>
                <a:spcPct val="126000"/>
              </a:lnSpc>
              <a:spcBef>
                <a:spcPts val="720"/>
              </a:spcBef>
            </a:pPr>
            <a:r>
              <a:rPr sz="1400" b="0" i="0">
                <a:solidFill>
                  <a:srgbClr val="21295C"/>
                </a:solidFill>
                <a:latin typeface="Arial"/>
              </a:rPr>
              <a:t/>
            </a:r>
            <a:r>
              <a:rPr sz="1400" b="1" i="0">
                <a:solidFill>
                  <a:srgbClr val="21295C"/>
                </a:solidFill>
                <a:latin typeface="Arial"/>
              </a:rPr>
              <a:t>Устроено:</a:t>
            </a:r>
            <a:r>
              <a:rPr sz="1400" b="0" i="0">
                <a:solidFill>
                  <a:srgbClr val="21295C"/>
                </a:solidFill>
                <a:latin typeface="Arial"/>
              </a:rPr>
              <a:t> вход — маммограмма в четырёх проекциях, выход — число от 0 до 1 на каждую грудь. Faster R-CNN с остовом ResNet-50, обучена на 3 641 снимке. </a:t>
            </a:r>
            <a:r>
              <a:rPr sz="1400" b="0" i="1">
                <a:solidFill>
                  <a:srgbClr val="21295C"/>
                </a:solidFill>
                <a:latin typeface="Arial"/>
              </a:rPr>
              <a:t>Распознавание изображений.</a:t>
            </a:r>
          </a:p>
          <a:p>
            <a:pPr algn="l">
              <a:lnSpc>
                <a:spcPct val="126000"/>
              </a:lnSpc>
              <a:spcBef>
                <a:spcPts val="720"/>
              </a:spcBef>
            </a:pPr>
            <a:r>
              <a:rPr sz="1400" b="0" i="0">
                <a:solidFill>
                  <a:srgbClr val="21295C"/>
                </a:solidFill>
                <a:latin typeface="Arial"/>
              </a:rPr>
              <a:t/>
            </a:r>
            <a:r>
              <a:rPr sz="1400" b="1" i="0">
                <a:solidFill>
                  <a:srgbClr val="21295C"/>
                </a:solidFill>
                <a:latin typeface="Arial"/>
              </a:rPr>
              <a:t>Выигрыша по исходам нет:</a:t>
            </a:r>
            <a:r>
              <a:rPr sz="1400" b="0" i="0">
                <a:solidFill>
                  <a:srgbClr val="21295C"/>
                </a:solidFill>
                <a:latin typeface="Arial"/>
              </a:rPr>
              <a:t> выявляемость, вызовы и интервальные раки не собирали — так говорят сами авторы.</a:t>
            </a:r>
          </a:p>
        </p:txBody>
      </p:sp>
      <p:sp>
        <p:nvSpPr>
          <p:cNvPr id="43" name="Rectangle 4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Румянцев, Владзимирский и соавт., Diagnostics 2025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4, допуск: два года девять месяцев до оплаты по страховке</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ТЕХНИЧЕСКИЕ ОТКАЗЫ</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 → 1 из ста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большая часть — не модель: настройка аппарата, параметры техника, сбои архива</a:t>
            </a:r>
          </a:p>
        </p:txBody>
      </p:sp>
      <p:sp>
        <p:nvSpPr>
          <p:cNvPr id="8" name="Rounded Rectangle 7"/>
          <p:cNvSpPr/>
          <p:nvPr/>
        </p:nvSpPr>
        <p:spPr>
          <a:xfrm>
            <a:off x="4286402"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ЧЕМ МЕРИЛИ ТОЧНОСТЬ</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100 исследований, не 593 261</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эталон — заключение того же врача, которого модель замещает: выше него она измерена быть не может</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НЕ СОГЛАСИЛСЯ С МОДЕЛЬЮ</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1 745 раз из 8 406</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33 радиолога; это «Несогласие» — пятый механизм кадра входа</a:t>
            </a:r>
          </a:p>
        </p:txBody>
      </p:sp>
      <p:sp>
        <p:nvSpPr>
          <p:cNvPr id="16" name="TextBox 15"/>
          <p:cNvSpPr txBox="1"/>
          <p:nvPr/>
        </p:nvSpPr>
        <p:spPr>
          <a:xfrm>
            <a:off x="502920" y="353314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Проверка</a:t>
            </a:r>
          </a:p>
        </p:txBody>
      </p:sp>
      <p:sp>
        <p:nvSpPr>
          <p:cNvPr id="17" name="Rounded Rectangle 16"/>
          <p:cNvSpPr/>
          <p:nvPr/>
        </p:nvSpPr>
        <p:spPr>
          <a:xfrm>
            <a:off x="1920240"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требования к выходу</a:t>
            </a:r>
          </a:p>
        </p:txBody>
      </p:sp>
      <p:sp>
        <p:nvSpPr>
          <p:cNvPr id="19" name="Right Arrow 18"/>
          <p:cNvSpPr/>
          <p:nvPr/>
        </p:nvSpPr>
        <p:spPr>
          <a:xfrm>
            <a:off x="4202353" y="378450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калибровка на 100</a:t>
            </a:r>
          </a:p>
        </p:txBody>
      </p:sp>
      <p:sp>
        <p:nvSpPr>
          <p:cNvPr id="22" name="Right Arrow 21"/>
          <p:cNvSpPr/>
          <p:nvPr/>
        </p:nvSpPr>
        <p:spPr>
          <a:xfrm>
            <a:off x="6713067" y="378450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поток и отказы</a:t>
            </a:r>
          </a:p>
        </p:txBody>
      </p:sp>
      <p:sp>
        <p:nvSpPr>
          <p:cNvPr id="25" name="Right Arrow 24"/>
          <p:cNvSpPr/>
          <p:nvPr/>
        </p:nvSpPr>
        <p:spPr>
          <a:xfrm>
            <a:off x="9223781" y="378450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обзор врачом-экспертом</a:t>
            </a:r>
          </a:p>
        </p:txBody>
      </p:sp>
      <p:sp>
        <p:nvSpPr>
          <p:cNvPr id="28" name="TextBox 27"/>
          <p:cNvSpPr txBox="1"/>
          <p:nvPr/>
        </p:nvSpPr>
        <p:spPr>
          <a:xfrm>
            <a:off x="502920" y="439248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Ответ</a:t>
            </a:r>
          </a:p>
        </p:txBody>
      </p:sp>
      <p:sp>
        <p:nvSpPr>
          <p:cNvPr id="29" name="Rounded Rectangle 28"/>
          <p:cNvSpPr/>
          <p:nvPr/>
        </p:nvSpPr>
        <p:spPr>
          <a:xfrm>
            <a:off x="1920240"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отчёт разработчику</a:t>
            </a:r>
          </a:p>
        </p:txBody>
      </p:sp>
      <p:sp>
        <p:nvSpPr>
          <p:cNvPr id="31" name="Right Arrow 30"/>
          <p:cNvSpPr/>
          <p:nvPr/>
        </p:nvSpPr>
        <p:spPr>
          <a:xfrm>
            <a:off x="4202353" y="464385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35591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440163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новая версия модели</a:t>
            </a:r>
          </a:p>
        </p:txBody>
      </p:sp>
      <p:sp>
        <p:nvSpPr>
          <p:cNvPr id="34" name="Right Arrow 33"/>
          <p:cNvSpPr/>
          <p:nvPr/>
        </p:nvSpPr>
        <p:spPr>
          <a:xfrm>
            <a:off x="6713067" y="464385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повторная калибровка</a:t>
            </a:r>
          </a:p>
        </p:txBody>
      </p:sp>
      <p:sp>
        <p:nvSpPr>
          <p:cNvPr id="37" name="Right Arrow 36"/>
          <p:cNvSpPr/>
          <p:nvPr/>
        </p:nvSpPr>
        <p:spPr>
          <a:xfrm>
            <a:off x="9223781" y="464385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оплата по страховке</a:t>
            </a:r>
          </a:p>
        </p:txBody>
      </p:sp>
      <p:sp>
        <p:nvSpPr>
          <p:cNvPr id="40" name="TextBox 39"/>
          <p:cNvSpPr txBox="1"/>
          <p:nvPr/>
        </p:nvSpPr>
        <p:spPr>
          <a:xfrm>
            <a:off x="502920" y="51055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Круг пересмотра: отчёт уходит разработчику каждый месяц</a:t>
            </a:r>
          </a:p>
        </p:txBody>
      </p:sp>
      <p:sp>
        <p:nvSpPr>
          <p:cNvPr id="41" name="Rounded Rectangle 40"/>
          <p:cNvSpPr/>
          <p:nvPr/>
        </p:nvSpPr>
        <p:spPr>
          <a:xfrm>
            <a:off x="374904" y="5408215"/>
            <a:ext cx="11441887" cy="8279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499655"/>
            <a:ext cx="11112703" cy="736552"/>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Две первые придирки — не про точность:</a:t>
            </a:r>
            <a:r>
              <a:rPr sz="1100" b="0" i="0">
                <a:solidFill>
                  <a:srgbClr val="21295C"/>
                </a:solidFill>
                <a:latin typeface="Arial"/>
              </a:rPr>
              <a:t> находку подсвечивали цветом, а маммографические мониторы монохромные.</a:t>
            </a:r>
          </a:p>
          <a:p>
            <a:pPr algn="l">
              <a:lnSpc>
                <a:spcPct val="126000"/>
              </a:lnSpc>
              <a:spcBef>
                <a:spcPts val="1440"/>
              </a:spcBef>
            </a:pPr>
            <a:r>
              <a:rPr sz="1100" b="0" i="0">
                <a:solidFill>
                  <a:srgbClr val="21295C"/>
                </a:solidFill>
                <a:latin typeface="Arial"/>
              </a:rPr>
              <a:t/>
            </a:r>
            <a:r>
              <a:rPr sz="1100" b="1" i="0">
                <a:solidFill>
                  <a:srgbClr val="21295C"/>
                </a:solidFill>
                <a:latin typeface="Arial"/>
              </a:rPr>
              <a:t>Площадь под кривой 0,73 → 0,81 → 0,94.</a:t>
            </a:r>
            <a:r>
              <a:rPr sz="1100" b="0" i="0">
                <a:solidFill>
                  <a:srgbClr val="21295C"/>
                </a:solidFill>
                <a:latin typeface="Arial"/>
              </a:rPr>
              <a:t> </a:t>
            </a:r>
            <a:r>
              <a:rPr sz="1100" b="0" i="1">
                <a:solidFill>
                  <a:srgbClr val="21295C"/>
                </a:solidFill>
                <a:latin typeface="Arial"/>
              </a:rPr>
              <a:t>Шкала: 0,5 — монетка, 1,0 — без промаха. Порог 0,81 — нижняя граница доверительного интервала самого радиолога.</a:t>
            </a:r>
          </a:p>
        </p:txBody>
      </p:sp>
      <p:sp>
        <p:nvSpPr>
          <p:cNvPr id="43" name="Rectangle 42"/>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Румянцев, Владзимирский и соавт., Diagnostics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Вывод раздела: выигрыш в доступе, точности модель не прибавила</a:t>
            </a:r>
          </a:p>
        </p:txBody>
      </p:sp>
      <p:sp>
        <p:nvSpPr>
          <p:cNvPr id="4" name="Rounded Rectangle 3"/>
          <p:cNvSpPr/>
          <p:nvPr/>
        </p:nvSpPr>
        <p:spPr>
          <a:xfrm>
            <a:off x="374904" y="1700784"/>
            <a:ext cx="11441887" cy="3862270"/>
          </a:xfrm>
          <a:prstGeom prst="roundRect">
            <a:avLst>
              <a:gd name="adj" fmla="val 7891"/>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792224"/>
            <a:ext cx="5373471" cy="44439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дотянуться до тех, кто иначе не придёт — </a:t>
            </a:r>
            <a:r>
              <a:rPr sz="1500" b="1" i="0">
                <a:solidFill>
                  <a:srgbClr val="21295C"/>
                </a:solidFill>
                <a:latin typeface="Arial"/>
              </a:rPr>
              <a:t>22 → 100 из ста</a:t>
            </a:r>
            <a:r>
              <a:rPr sz="1500" b="0" i="0">
                <a:solidFill>
                  <a:srgbClr val="21295C"/>
                </a:solidFill>
                <a:latin typeface="Arial"/>
              </a:rPr>
              <a:t> · снять объём чтения там, где процедура плотная — </a:t>
            </a:r>
            <a:r>
              <a:rPr sz="1500" b="1" i="0">
                <a:solidFill>
                  <a:srgbClr val="21295C"/>
                </a:solidFill>
                <a:latin typeface="Arial"/>
              </a:rPr>
              <a:t>второго чтения на 44,3 процента меньше</a:t>
            </a:r>
            <a:r>
              <a:rPr sz="1500" b="0" i="0">
                <a:solidFill>
                  <a:srgbClr val="21295C"/>
                </a:solidFill>
                <a:latin typeface="Arial"/>
              </a:rPr>
              <a:t>.</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назначить порог — за ним подпись · открытый поток — единственная состоявшаяся попытка кончилась банкротством · отвечать за годность снимка.</a:t>
            </a:r>
          </a:p>
        </p:txBody>
      </p:sp>
      <p:sp>
        <p:nvSpPr>
          <p:cNvPr id="6" name="TextBox 5"/>
          <p:cNvSpPr txBox="1"/>
          <p:nvPr/>
        </p:nvSpPr>
        <p:spPr>
          <a:xfrm>
            <a:off x="6278727" y="1792224"/>
            <a:ext cx="5373471" cy="44439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 работой:</a:t>
            </a:r>
            <a:r>
              <a:rPr sz="1500" b="0" i="0">
                <a:solidFill>
                  <a:srgbClr val="21295C"/>
                </a:solidFill>
                <a:latin typeface="Arial"/>
              </a:rPr>
              <a:t> нагрузка переехала с сортировки на приём, и платить за неё стало некому · сменился исполнитель, и появился шаг — добыть годный снимок.</a:t>
            </a:r>
          </a:p>
          <a:p>
            <a:pPr algn="l">
              <a:lnSpc>
                <a:spcPct val="126000"/>
              </a:lnSpc>
              <a:spcBef>
                <a:spcPts val="3600"/>
              </a:spcBef>
            </a:pPr>
            <a:r>
              <a:rPr sz="1500" b="0" i="0">
                <a:solidFill>
                  <a:srgbClr val="21295C"/>
                </a:solidFill>
                <a:latin typeface="Arial"/>
              </a:rPr>
              <a:t/>
            </a:r>
            <a:r>
              <a:rPr sz="1500" b="1" i="0">
                <a:solidFill>
                  <a:srgbClr val="21295C"/>
                </a:solidFill>
                <a:latin typeface="Arial"/>
              </a:rPr>
              <a:t>Отсеянное фильтром не проверяет ни одна процедура. В скрининге человек прочёл каждое исследование; где решала модель — её «норма» до него не дошла.</a:t>
            </a:r>
          </a:p>
          <a:p>
            <a:pPr algn="l">
              <a:lnSpc>
                <a:spcPct val="126000"/>
              </a:lnSpc>
              <a:spcBef>
                <a:spcPts val="360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несогласие:</a:t>
            </a:r>
            <a:r>
              <a:rPr sz="1500" b="0" i="0">
                <a:solidFill>
                  <a:srgbClr val="21295C"/>
                </a:solidFill>
                <a:latin typeface="Arial"/>
              </a:rPr>
              <a:t> арбитраж вырос вдвое и впятеро, и один разбор по времени равен пяти чтениям.</a:t>
            </a:r>
          </a:p>
        </p:txBody>
      </p:sp>
      <p:sp>
        <p:nvSpPr>
          <p:cNvPr id="7" name="Rectangle 6"/>
          <p:cNvSpPr/>
          <p:nvPr/>
        </p:nvSpPr>
        <p:spPr>
          <a:xfrm>
            <a:off x="6091275" y="1792224"/>
            <a:ext cx="9144" cy="3587950"/>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541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Девять форм переезда: чем каждая выглядит в примере</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748680" cy="43807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456072"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
            </a:r>
          </a:p>
        </p:txBody>
      </p:sp>
      <p:sp>
        <p:nvSpPr>
          <p:cNvPr id="7" name="Rectangle 6"/>
          <p:cNvSpPr/>
          <p:nvPr/>
        </p:nvSpPr>
        <p:spPr>
          <a:xfrm>
            <a:off x="1288176" y="1335024"/>
            <a:ext cx="4572986" cy="438076"/>
          </a:xfrm>
          <a:prstGeom prst="rect">
            <a:avLst/>
          </a:prstGeom>
          <a:solidFill>
            <a:srgbClr val="065A82"/>
          </a:solidFill>
          <a:ln>
            <a:noFill/>
          </a:ln>
          <a:effectLst/>
        </p:spPr>
        <p:txBody>
          <a:bodyPr rtlCol="0" anchor="ctr"/>
          <a:lstStyle/>
          <a:p>
            <a:pPr algn="ctr"/>
          </a:p>
        </p:txBody>
      </p:sp>
      <p:sp>
        <p:nvSpPr>
          <p:cNvPr id="8" name="TextBox 7"/>
          <p:cNvSpPr txBox="1"/>
          <p:nvPr/>
        </p:nvSpPr>
        <p:spPr>
          <a:xfrm>
            <a:off x="1434480" y="1335024"/>
            <a:ext cx="4280378"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форма</a:t>
            </a:r>
          </a:p>
        </p:txBody>
      </p:sp>
      <p:sp>
        <p:nvSpPr>
          <p:cNvPr id="9" name="Rectangle 8"/>
          <p:cNvSpPr/>
          <p:nvPr/>
        </p:nvSpPr>
        <p:spPr>
          <a:xfrm>
            <a:off x="5861162" y="1335024"/>
            <a:ext cx="5791036" cy="438076"/>
          </a:xfrm>
          <a:prstGeom prst="rect">
            <a:avLst/>
          </a:prstGeom>
          <a:solidFill>
            <a:srgbClr val="065A82"/>
          </a:solidFill>
          <a:ln>
            <a:noFill/>
          </a:ln>
          <a:effectLst/>
        </p:spPr>
        <p:txBody>
          <a:bodyPr rtlCol="0" anchor="ctr"/>
          <a:lstStyle/>
          <a:p>
            <a:pPr algn="ctr"/>
          </a:p>
        </p:txBody>
      </p:sp>
      <p:sp>
        <p:nvSpPr>
          <p:cNvPr id="10" name="TextBox 9"/>
          <p:cNvSpPr txBox="1"/>
          <p:nvPr/>
        </p:nvSpPr>
        <p:spPr>
          <a:xfrm>
            <a:off x="6007466" y="1335024"/>
            <a:ext cx="5498428"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чем выглядит в примере</a:t>
            </a:r>
          </a:p>
        </p:txBody>
      </p:sp>
      <p:sp>
        <p:nvSpPr>
          <p:cNvPr id="11" name="Rectangle 10"/>
          <p:cNvSpPr/>
          <p:nvPr/>
        </p:nvSpPr>
        <p:spPr>
          <a:xfrm>
            <a:off x="539496" y="1773100"/>
            <a:ext cx="748680" cy="438076"/>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73100"/>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1</a:t>
            </a:r>
          </a:p>
        </p:txBody>
      </p:sp>
      <p:sp>
        <p:nvSpPr>
          <p:cNvPr id="13" name="Rectangle 12"/>
          <p:cNvSpPr/>
          <p:nvPr/>
        </p:nvSpPr>
        <p:spPr>
          <a:xfrm>
            <a:off x="1288176" y="1773100"/>
            <a:ext cx="4572986" cy="43807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1434480" y="1773100"/>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переехала на другой шаг</a:t>
            </a:r>
          </a:p>
        </p:txBody>
      </p:sp>
      <p:sp>
        <p:nvSpPr>
          <p:cNvPr id="15" name="Rectangle 14"/>
          <p:cNvSpPr/>
          <p:nvPr/>
        </p:nvSpPr>
        <p:spPr>
          <a:xfrm>
            <a:off x="5861162" y="1773100"/>
            <a:ext cx="5791036" cy="43807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6007466" y="1773100"/>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сортировка ушла на приём — платить некому</a:t>
            </a:r>
          </a:p>
        </p:txBody>
      </p:sp>
      <p:sp>
        <p:nvSpPr>
          <p:cNvPr id="17" name="Rectangle 16"/>
          <p:cNvSpPr/>
          <p:nvPr/>
        </p:nvSpPr>
        <p:spPr>
          <a:xfrm>
            <a:off x="539496" y="2211177"/>
            <a:ext cx="748680" cy="438076"/>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211177"/>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2</a:t>
            </a:r>
          </a:p>
        </p:txBody>
      </p:sp>
      <p:sp>
        <p:nvSpPr>
          <p:cNvPr id="19" name="Rectangle 18"/>
          <p:cNvSpPr/>
          <p:nvPr/>
        </p:nvSpPr>
        <p:spPr>
          <a:xfrm>
            <a:off x="1288176" y="2211177"/>
            <a:ext cx="4572986" cy="438076"/>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1434480" y="2211177"/>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шаг исчез совсем</a:t>
            </a:r>
          </a:p>
        </p:txBody>
      </p:sp>
      <p:sp>
        <p:nvSpPr>
          <p:cNvPr id="21" name="Rectangle 20"/>
          <p:cNvSpPr/>
          <p:nvPr/>
        </p:nvSpPr>
        <p:spPr>
          <a:xfrm>
            <a:off x="5861162" y="2211177"/>
            <a:ext cx="5791036" cy="438076"/>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6007466" y="2211177"/>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кандидат проверен и отпал</a:t>
            </a:r>
          </a:p>
        </p:txBody>
      </p:sp>
      <p:sp>
        <p:nvSpPr>
          <p:cNvPr id="23" name="Rectangle 22"/>
          <p:cNvSpPr/>
          <p:nvPr/>
        </p:nvSpPr>
        <p:spPr>
          <a:xfrm>
            <a:off x="539496" y="2649254"/>
            <a:ext cx="748680" cy="438076"/>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2649254"/>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3</a:t>
            </a:r>
          </a:p>
        </p:txBody>
      </p:sp>
      <p:sp>
        <p:nvSpPr>
          <p:cNvPr id="25" name="Rectangle 24"/>
          <p:cNvSpPr/>
          <p:nvPr/>
        </p:nvSpPr>
        <p:spPr>
          <a:xfrm>
            <a:off x="1288176" y="2649254"/>
            <a:ext cx="4572986" cy="438076"/>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1434480" y="2649254"/>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шаг появился</a:t>
            </a:r>
          </a:p>
        </p:txBody>
      </p:sp>
      <p:sp>
        <p:nvSpPr>
          <p:cNvPr id="27" name="Rectangle 26"/>
          <p:cNvSpPr/>
          <p:nvPr/>
        </p:nvSpPr>
        <p:spPr>
          <a:xfrm>
            <a:off x="5861162" y="2649254"/>
            <a:ext cx="5791036" cy="43807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6007466" y="2649254"/>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решение, кому нужно второе чтение</a:t>
            </a:r>
          </a:p>
        </p:txBody>
      </p:sp>
      <p:sp>
        <p:nvSpPr>
          <p:cNvPr id="29" name="Rectangle 28"/>
          <p:cNvSpPr/>
          <p:nvPr/>
        </p:nvSpPr>
        <p:spPr>
          <a:xfrm>
            <a:off x="539496" y="3087331"/>
            <a:ext cx="748680" cy="438076"/>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3087331"/>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4</a:t>
            </a:r>
          </a:p>
        </p:txBody>
      </p:sp>
      <p:sp>
        <p:nvSpPr>
          <p:cNvPr id="31" name="Rectangle 30"/>
          <p:cNvSpPr/>
          <p:nvPr/>
        </p:nvSpPr>
        <p:spPr>
          <a:xfrm>
            <a:off x="1288176" y="3087331"/>
            <a:ext cx="4572986" cy="438076"/>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1434480" y="3087331"/>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выросла на том же месте</a:t>
            </a:r>
          </a:p>
        </p:txBody>
      </p:sp>
      <p:sp>
        <p:nvSpPr>
          <p:cNvPr id="33" name="Rectangle 32"/>
          <p:cNvSpPr/>
          <p:nvPr/>
        </p:nvSpPr>
        <p:spPr>
          <a:xfrm>
            <a:off x="5861162" y="3087331"/>
            <a:ext cx="5791036" cy="438076"/>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6007466" y="3087331"/>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тревога часто, подтверждается редко</a:t>
            </a:r>
          </a:p>
        </p:txBody>
      </p:sp>
      <p:sp>
        <p:nvSpPr>
          <p:cNvPr id="35" name="Rectangle 34"/>
          <p:cNvSpPr/>
          <p:nvPr/>
        </p:nvSpPr>
        <p:spPr>
          <a:xfrm>
            <a:off x="539496" y="3525408"/>
            <a:ext cx="748680" cy="438076"/>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525408"/>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4а</a:t>
            </a:r>
          </a:p>
        </p:txBody>
      </p:sp>
      <p:sp>
        <p:nvSpPr>
          <p:cNvPr id="37" name="Rectangle 36"/>
          <p:cNvSpPr/>
          <p:nvPr/>
        </p:nvSpPr>
        <p:spPr>
          <a:xfrm>
            <a:off x="1288176" y="3525408"/>
            <a:ext cx="4572986" cy="438076"/>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434480" y="3525408"/>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нагрузка на том же месте упала</a:t>
            </a:r>
          </a:p>
        </p:txBody>
      </p:sp>
      <p:sp>
        <p:nvSpPr>
          <p:cNvPr id="39" name="Rectangle 38"/>
          <p:cNvSpPr/>
          <p:nvPr/>
        </p:nvSpPr>
        <p:spPr>
          <a:xfrm>
            <a:off x="5861162" y="3525408"/>
            <a:ext cx="5791036" cy="438076"/>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6007466" y="3525408"/>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тот же поток, работы меньше</a:t>
            </a:r>
          </a:p>
        </p:txBody>
      </p:sp>
      <p:sp>
        <p:nvSpPr>
          <p:cNvPr id="41" name="Rectangle 40"/>
          <p:cNvSpPr/>
          <p:nvPr/>
        </p:nvSpPr>
        <p:spPr>
          <a:xfrm>
            <a:off x="539496" y="3963485"/>
            <a:ext cx="748680" cy="438076"/>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85800" y="3963485"/>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5</a:t>
            </a:r>
          </a:p>
        </p:txBody>
      </p:sp>
      <p:sp>
        <p:nvSpPr>
          <p:cNvPr id="43" name="Rectangle 42"/>
          <p:cNvSpPr/>
          <p:nvPr/>
        </p:nvSpPr>
        <p:spPr>
          <a:xfrm>
            <a:off x="1288176" y="3963485"/>
            <a:ext cx="4572986" cy="438076"/>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1434480" y="3963485"/>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сменился исполнитель</a:t>
            </a:r>
          </a:p>
        </p:txBody>
      </p:sp>
      <p:sp>
        <p:nvSpPr>
          <p:cNvPr id="45" name="Rectangle 44"/>
          <p:cNvSpPr/>
          <p:nvPr/>
        </p:nvSpPr>
        <p:spPr>
          <a:xfrm>
            <a:off x="5861162" y="3963485"/>
            <a:ext cx="5791036" cy="438076"/>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6007466" y="3963485"/>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«направить или нет» выдаёт устройство</a:t>
            </a:r>
          </a:p>
        </p:txBody>
      </p:sp>
      <p:sp>
        <p:nvSpPr>
          <p:cNvPr id="47" name="Rectangle 46"/>
          <p:cNvSpPr/>
          <p:nvPr/>
        </p:nvSpPr>
        <p:spPr>
          <a:xfrm>
            <a:off x="539496" y="4401561"/>
            <a:ext cx="748680" cy="438076"/>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685800" y="4401561"/>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6</a:t>
            </a:r>
          </a:p>
        </p:txBody>
      </p:sp>
      <p:sp>
        <p:nvSpPr>
          <p:cNvPr id="49" name="Rectangle 48"/>
          <p:cNvSpPr/>
          <p:nvPr/>
        </p:nvSpPr>
        <p:spPr>
          <a:xfrm>
            <a:off x="1288176" y="4401561"/>
            <a:ext cx="4572986" cy="438076"/>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1434480" y="4401561"/>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изменился порядок работ</a:t>
            </a:r>
          </a:p>
        </p:txBody>
      </p:sp>
      <p:sp>
        <p:nvSpPr>
          <p:cNvPr id="51" name="Rectangle 50"/>
          <p:cNvSpPr/>
          <p:nvPr/>
        </p:nvSpPr>
        <p:spPr>
          <a:xfrm>
            <a:off x="5861162" y="4401561"/>
            <a:ext cx="5791036" cy="438076"/>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6007466" y="4401561"/>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переставлен, но не посчитан</a:t>
            </a:r>
          </a:p>
        </p:txBody>
      </p:sp>
      <p:sp>
        <p:nvSpPr>
          <p:cNvPr id="53" name="Rectangle 52"/>
          <p:cNvSpPr/>
          <p:nvPr/>
        </p:nvSpPr>
        <p:spPr>
          <a:xfrm>
            <a:off x="539496" y="4839638"/>
            <a:ext cx="748680" cy="438076"/>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685800" y="4839638"/>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7</a:t>
            </a:r>
          </a:p>
        </p:txBody>
      </p:sp>
      <p:sp>
        <p:nvSpPr>
          <p:cNvPr id="55" name="Rectangle 54"/>
          <p:cNvSpPr/>
          <p:nvPr/>
        </p:nvSpPr>
        <p:spPr>
          <a:xfrm>
            <a:off x="1288176" y="4839638"/>
            <a:ext cx="4572986" cy="438076"/>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1434480" y="4839638"/>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сместилась цена ошибки</a:t>
            </a:r>
          </a:p>
        </p:txBody>
      </p:sp>
      <p:sp>
        <p:nvSpPr>
          <p:cNvPr id="57" name="Rectangle 56"/>
          <p:cNvSpPr/>
          <p:nvPr/>
        </p:nvSpPr>
        <p:spPr>
          <a:xfrm>
            <a:off x="5861162" y="4839638"/>
            <a:ext cx="5791036" cy="438076"/>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6007466" y="4839638"/>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ошибка модели — ошибка подписавшего</a:t>
            </a:r>
          </a:p>
        </p:txBody>
      </p:sp>
      <p:sp>
        <p:nvSpPr>
          <p:cNvPr id="59" name="Rectangle 58"/>
          <p:cNvSpPr/>
          <p:nvPr/>
        </p:nvSpPr>
        <p:spPr>
          <a:xfrm>
            <a:off x="539496" y="5277715"/>
            <a:ext cx="748680" cy="438076"/>
          </a:xfrm>
          <a:prstGeom prst="rect">
            <a:avLst/>
          </a:prstGeom>
          <a:solidFill>
            <a:srgbClr val="FFFFFF"/>
          </a:solidFill>
          <a:ln w="12700">
            <a:solidFill>
              <a:srgbClr val="D9E2EC"/>
            </a:solidFill>
          </a:ln>
          <a:effectLst/>
        </p:spPr>
        <p:txBody>
          <a:bodyPr rtlCol="0" anchor="ctr"/>
          <a:lstStyle/>
          <a:p>
            <a:pPr algn="ctr"/>
          </a:p>
        </p:txBody>
      </p:sp>
      <p:sp>
        <p:nvSpPr>
          <p:cNvPr id="60" name="TextBox 59"/>
          <p:cNvSpPr txBox="1"/>
          <p:nvPr/>
        </p:nvSpPr>
        <p:spPr>
          <a:xfrm>
            <a:off x="685800" y="5277715"/>
            <a:ext cx="456072" cy="43807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8</a:t>
            </a:r>
          </a:p>
        </p:txBody>
      </p:sp>
      <p:sp>
        <p:nvSpPr>
          <p:cNvPr id="61" name="Rectangle 60"/>
          <p:cNvSpPr/>
          <p:nvPr/>
        </p:nvSpPr>
        <p:spPr>
          <a:xfrm>
            <a:off x="1288176" y="5277715"/>
            <a:ext cx="4572986" cy="438076"/>
          </a:xfrm>
          <a:prstGeom prst="rect">
            <a:avLst/>
          </a:prstGeom>
          <a:solidFill>
            <a:srgbClr val="FFFFFF"/>
          </a:solidFill>
          <a:ln w="12700">
            <a:solidFill>
              <a:srgbClr val="D9E2EC"/>
            </a:solidFill>
          </a:ln>
          <a:effectLst/>
        </p:spPr>
        <p:txBody>
          <a:bodyPr rtlCol="0" anchor="ctr"/>
          <a:lstStyle/>
          <a:p>
            <a:pPr algn="ctr"/>
          </a:p>
        </p:txBody>
      </p:sp>
      <p:sp>
        <p:nvSpPr>
          <p:cNvPr id="62" name="TextBox 61"/>
          <p:cNvSpPr txBox="1"/>
          <p:nvPr/>
        </p:nvSpPr>
        <p:spPr>
          <a:xfrm>
            <a:off x="1434480" y="5277715"/>
            <a:ext cx="428037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исполнитель тот же, но стал хуже</a:t>
            </a:r>
          </a:p>
        </p:txBody>
      </p:sp>
      <p:sp>
        <p:nvSpPr>
          <p:cNvPr id="63" name="Rectangle 62"/>
          <p:cNvSpPr/>
          <p:nvPr/>
        </p:nvSpPr>
        <p:spPr>
          <a:xfrm>
            <a:off x="5861162" y="5277715"/>
            <a:ext cx="5791036" cy="438076"/>
          </a:xfrm>
          <a:prstGeom prst="rect">
            <a:avLst/>
          </a:prstGeom>
          <a:solidFill>
            <a:srgbClr val="FFFFFF"/>
          </a:solidFill>
          <a:ln w="12700">
            <a:solidFill>
              <a:srgbClr val="D9E2EC"/>
            </a:solidFill>
          </a:ln>
          <a:effectLst/>
        </p:spPr>
        <p:txBody>
          <a:bodyPr rtlCol="0" anchor="ctr"/>
          <a:lstStyle/>
          <a:p>
            <a:pPr algn="ctr"/>
          </a:p>
        </p:txBody>
      </p:sp>
      <p:sp>
        <p:nvSpPr>
          <p:cNvPr id="64" name="TextBox 63"/>
          <p:cNvSpPr txBox="1"/>
          <p:nvPr/>
        </p:nvSpPr>
        <p:spPr>
          <a:xfrm>
            <a:off x="6007466" y="5277715"/>
            <a:ext cx="5498428"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без помощника находят меньше</a:t>
            </a:r>
          </a:p>
        </p:txBody>
      </p:sp>
      <p:sp>
        <p:nvSpPr>
          <p:cNvPr id="65" name="Rectangle 64"/>
          <p:cNvSpPr/>
          <p:nvPr/>
        </p:nvSpPr>
        <p:spPr>
          <a:xfrm>
            <a:off x="539496" y="5715792"/>
            <a:ext cx="748680" cy="438076"/>
          </a:xfrm>
          <a:prstGeom prst="rect">
            <a:avLst/>
          </a:prstGeom>
          <a:solidFill>
            <a:srgbClr val="F4F7FA"/>
          </a:solidFill>
          <a:ln w="12700">
            <a:solidFill>
              <a:srgbClr val="D9E2EC"/>
            </a:solidFill>
          </a:ln>
          <a:effectLst/>
        </p:spPr>
        <p:txBody>
          <a:bodyPr rtlCol="0" anchor="ctr"/>
          <a:lstStyle/>
          <a:p>
            <a:pPr algn="ctr"/>
          </a:p>
        </p:txBody>
      </p:sp>
      <p:sp>
        <p:nvSpPr>
          <p:cNvPr id="66" name="TextBox 65"/>
          <p:cNvSpPr txBox="1"/>
          <p:nvPr/>
        </p:nvSpPr>
        <p:spPr>
          <a:xfrm>
            <a:off x="685800" y="5715792"/>
            <a:ext cx="456072" cy="43807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8а</a:t>
            </a:r>
          </a:p>
        </p:txBody>
      </p:sp>
      <p:sp>
        <p:nvSpPr>
          <p:cNvPr id="67" name="Rectangle 66"/>
          <p:cNvSpPr/>
          <p:nvPr/>
        </p:nvSpPr>
        <p:spPr>
          <a:xfrm>
            <a:off x="1288176" y="5715792"/>
            <a:ext cx="4572986" cy="438076"/>
          </a:xfrm>
          <a:prstGeom prst="rect">
            <a:avLst/>
          </a:prstGeom>
          <a:solidFill>
            <a:srgbClr val="F4F7FA"/>
          </a:solidFill>
          <a:ln w="12700">
            <a:solidFill>
              <a:srgbClr val="D9E2EC"/>
            </a:solidFill>
          </a:ln>
          <a:effectLst/>
        </p:spPr>
        <p:txBody>
          <a:bodyPr rtlCol="0" anchor="ctr"/>
          <a:lstStyle/>
          <a:p>
            <a:pPr algn="ctr"/>
          </a:p>
        </p:txBody>
      </p:sp>
      <p:sp>
        <p:nvSpPr>
          <p:cNvPr id="68" name="TextBox 67"/>
          <p:cNvSpPr txBox="1"/>
          <p:nvPr/>
        </p:nvSpPr>
        <p:spPr>
          <a:xfrm>
            <a:off x="1434480" y="5715792"/>
            <a:ext cx="4280378" cy="438076"/>
          </a:xfrm>
          <a:prstGeom prst="rect">
            <a:avLst/>
          </a:prstGeom>
          <a:noFill/>
        </p:spPr>
        <p:txBody>
          <a:bodyPr wrap="square" lIns="0" rIns="0" tIns="0" bIns="0" anchor="ctr">
            <a:spAutoFit/>
          </a:bodyPr>
          <a:lstStyle/>
          <a:p>
            <a:pPr algn="l">
              <a:lnSpc>
                <a:spcPct val="116000"/>
              </a:lnSpc>
            </a:pPr>
            <a:r>
              <a:rPr sz="1500" b="0" i="1">
                <a:solidFill>
                  <a:srgbClr val="21295C"/>
                </a:solidFill>
                <a:latin typeface="Arial"/>
              </a:rPr>
              <a:t>исполнитель тот же, но стал лучше</a:t>
            </a:r>
          </a:p>
        </p:txBody>
      </p:sp>
      <p:sp>
        <p:nvSpPr>
          <p:cNvPr id="69" name="Rectangle 68"/>
          <p:cNvSpPr/>
          <p:nvPr/>
        </p:nvSpPr>
        <p:spPr>
          <a:xfrm>
            <a:off x="5861162" y="5715792"/>
            <a:ext cx="5791036" cy="438076"/>
          </a:xfrm>
          <a:prstGeom prst="rect">
            <a:avLst/>
          </a:prstGeom>
          <a:solidFill>
            <a:srgbClr val="F4F7FA"/>
          </a:solidFill>
          <a:ln w="12700">
            <a:solidFill>
              <a:srgbClr val="D9E2EC"/>
            </a:solidFill>
          </a:ln>
          <a:effectLst/>
        </p:spPr>
        <p:txBody>
          <a:bodyPr rtlCol="0" anchor="ctr"/>
          <a:lstStyle/>
          <a:p>
            <a:pPr algn="ctr"/>
          </a:p>
        </p:txBody>
      </p:sp>
      <p:sp>
        <p:nvSpPr>
          <p:cNvPr id="70" name="TextBox 69"/>
          <p:cNvSpPr txBox="1"/>
          <p:nvPr/>
        </p:nvSpPr>
        <p:spPr>
          <a:xfrm>
            <a:off x="6007466" y="5715792"/>
            <a:ext cx="5498428" cy="438076"/>
          </a:xfrm>
          <a:prstGeom prst="rect">
            <a:avLst/>
          </a:prstGeom>
          <a:noFill/>
        </p:spPr>
        <p:txBody>
          <a:bodyPr wrap="square" lIns="0" rIns="0" tIns="0" bIns="0" anchor="ctr">
            <a:spAutoFit/>
          </a:bodyPr>
          <a:lstStyle/>
          <a:p>
            <a:pPr algn="l">
              <a:lnSpc>
                <a:spcPct val="116000"/>
              </a:lnSpc>
            </a:pPr>
            <a:r>
              <a:rPr sz="1500" b="0" i="1">
                <a:solidFill>
                  <a:srgbClr val="21295C"/>
                </a:solidFill>
                <a:latin typeface="Arial"/>
              </a:rPr>
              <a:t>измерений нет</a:t>
            </a:r>
          </a:p>
        </p:txBody>
      </p:sp>
      <p:sp>
        <p:nvSpPr>
          <p:cNvPr id="71" name="Rectangle 7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22-rentgenkabinet-pacient-u-pribora.jpg"/>
          <p:cNvPicPr>
            <a:picLocks noChangeAspect="1"/>
          </p:cNvPicPr>
          <p:nvPr/>
        </p:nvPicPr>
        <p:blipFill>
          <a:blip r:embed="rId2"/>
          <a:srcRect l="14051" r="14051"/>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2. Инструментальная и лабораторная диагностика</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814963"/>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В скрининге решали, кого посмотреть. Здесь человека измеряют прибором и превращают его состояние в величину, которую прочтут в другом месте и в другое время.</a:t>
            </a:r>
          </a:p>
        </p:txBody>
      </p:sp>
      <p:sp>
        <p:nvSpPr>
          <p:cNvPr id="8" name="TextBox 7"/>
          <p:cNvSpPr txBox="1"/>
          <p:nvPr/>
        </p:nvSpPr>
        <p:spPr>
          <a:xfrm>
            <a:off x="704088" y="3219769"/>
            <a:ext cx="6483096" cy="308230"/>
          </a:xfrm>
          <a:prstGeom prst="rect">
            <a:avLst/>
          </a:prstGeom>
          <a:noFill/>
        </p:spPr>
        <p:txBody>
          <a:bodyPr wrap="square" lIns="0" rIns="0" tIns="0" bIns="0" anchor="t">
            <a:spAutoFit/>
          </a:bodyPr>
          <a:lstStyle/>
          <a:p>
            <a:pPr algn="l">
              <a:lnSpc>
                <a:spcPct val="124000"/>
              </a:lnSpc>
            </a:pPr>
            <a:r>
              <a:rPr sz="1300" b="0" i="0">
                <a:solidFill>
                  <a:srgbClr val="21295C"/>
                </a:solidFill>
                <a:latin typeface="Arial"/>
              </a:rPr>
              <a:t>По порядку:</a:t>
            </a:r>
          </a:p>
        </p:txBody>
      </p:sp>
      <p:sp>
        <p:nvSpPr>
          <p:cNvPr id="9" name="TextBox 8"/>
          <p:cNvSpPr txBox="1"/>
          <p:nvPr/>
        </p:nvSpPr>
        <p:spPr>
          <a:xfrm>
            <a:off x="704088" y="3656015"/>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1: Москва — профилактические снимки, которые не читает человек</a:t>
            </a:r>
          </a:p>
        </p:txBody>
      </p:sp>
      <p:sp>
        <p:nvSpPr>
          <p:cNvPr id="10" name="TextBox 9"/>
          <p:cNvSpPr txBox="1"/>
          <p:nvPr/>
        </p:nvSpPr>
        <p:spPr>
          <a:xfrm>
            <a:off x="704088" y="4092262"/>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2: Москва — кровоизлияние в череп, где автономию не дали</a:t>
            </a:r>
          </a:p>
        </p:txBody>
      </p:sp>
      <p:sp>
        <p:nvSpPr>
          <p:cNvPr id="11" name="TextBox 10"/>
          <p:cNvSpPr txBox="1"/>
          <p:nvPr/>
        </p:nvSpPr>
        <p:spPr>
          <a:xfrm>
            <a:off x="704088" y="4528508"/>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3: Таиланд — чтение глазного дна в кабинете первичного звена</a:t>
            </a:r>
          </a:p>
        </p:txBody>
      </p:sp>
      <p:sp>
        <p:nvSpPr>
          <p:cNvPr id="12" name="TextBox 11"/>
          <p:cNvSpPr txBox="1"/>
          <p:nvPr/>
        </p:nvSpPr>
        <p:spPr>
          <a:xfrm>
            <a:off x="704088" y="4964754"/>
            <a:ext cx="6483096" cy="308230"/>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4: кожа и состав набора</a:t>
            </a:r>
          </a:p>
        </p:txBody>
      </p:sp>
      <p:sp>
        <p:nvSpPr>
          <p:cNvPr id="13" name="TextBox 12"/>
          <p:cNvSpPr txBox="1"/>
          <p:nvPr/>
        </p:nvSpPr>
        <p:spPr>
          <a:xfrm>
            <a:off x="704088" y="5401001"/>
            <a:ext cx="6483096" cy="56159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Пример 5: отбор в программу повышенного внимания — балл вместо решения врача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Исследование: шесть действий стадии и два, которые заняла модель</a:t>
            </a:r>
          </a:p>
        </p:txBody>
      </p:sp>
      <p:sp>
        <p:nvSpPr>
          <p:cNvPr id="4" name="TextBox 3"/>
          <p:cNvSpPr txBox="1"/>
          <p:nvPr/>
        </p:nvSpPr>
        <p:spPr>
          <a:xfrm>
            <a:off x="502920" y="1371600"/>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Человек — четыре</a:t>
            </a:r>
          </a:p>
        </p:txBody>
      </p:sp>
      <p:sp>
        <p:nvSpPr>
          <p:cNvPr id="5" name="Rounded Rectangle 4"/>
          <p:cNvSpPr/>
          <p:nvPr/>
        </p:nvSpPr>
        <p:spPr>
          <a:xfrm>
            <a:off x="1920240"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назначить порог</a:t>
            </a:r>
          </a:p>
        </p:txBody>
      </p:sp>
      <p:sp>
        <p:nvSpPr>
          <p:cNvPr id="7" name="Right Arrow 6"/>
          <p:cNvSpPr/>
          <p:nvPr/>
        </p:nvSpPr>
        <p:spPr>
          <a:xfrm>
            <a:off x="3141649" y="1702181"/>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37024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45254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снять измерение</a:t>
            </a:r>
          </a:p>
        </p:txBody>
      </p:sp>
      <p:sp>
        <p:nvSpPr>
          <p:cNvPr id="10" name="Right Arrow 9"/>
          <p:cNvSpPr/>
          <p:nvPr/>
        </p:nvSpPr>
        <p:spPr>
          <a:xfrm>
            <a:off x="4591659" y="1702181"/>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482025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490255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решить, годно ли</a:t>
            </a:r>
          </a:p>
        </p:txBody>
      </p:sp>
      <p:sp>
        <p:nvSpPr>
          <p:cNvPr id="13" name="Right Arrow 12"/>
          <p:cNvSpPr/>
          <p:nvPr/>
        </p:nvSpPr>
        <p:spPr>
          <a:xfrm>
            <a:off x="6041669" y="1702181"/>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6270269" y="1335024"/>
            <a:ext cx="117568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6352565" y="1380744"/>
            <a:ext cx="101109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пересчитать под свою группу</a:t>
            </a:r>
          </a:p>
        </p:txBody>
      </p:sp>
      <p:sp>
        <p:nvSpPr>
          <p:cNvPr id="16" name="TextBox 15"/>
          <p:cNvSpPr txBox="1"/>
          <p:nvPr/>
        </p:nvSpPr>
        <p:spPr>
          <a:xfrm>
            <a:off x="502920" y="2389378"/>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Модель — два</a:t>
            </a:r>
          </a:p>
        </p:txBody>
      </p:sp>
      <p:sp>
        <p:nvSpPr>
          <p:cNvPr id="17" name="Rounded Rectangle 16"/>
          <p:cNvSpPr/>
          <p:nvPr/>
        </p:nvSpPr>
        <p:spPr>
          <a:xfrm>
            <a:off x="1920240" y="2352802"/>
            <a:ext cx="2689707"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398522"/>
            <a:ext cx="2525115"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прочесть измерение</a:t>
            </a:r>
          </a:p>
        </p:txBody>
      </p:sp>
      <p:sp>
        <p:nvSpPr>
          <p:cNvPr id="19" name="Rounded Rectangle 18"/>
          <p:cNvSpPr/>
          <p:nvPr/>
        </p:nvSpPr>
        <p:spPr>
          <a:xfrm>
            <a:off x="4756251" y="2352802"/>
            <a:ext cx="2689707"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838547" y="2398522"/>
            <a:ext cx="2525115"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сообщить результат</a:t>
            </a:r>
          </a:p>
        </p:txBody>
      </p:sp>
      <p:sp>
        <p:nvSpPr>
          <p:cNvPr id="21" name="TextBox 20"/>
          <p:cNvSpPr txBox="1"/>
          <p:nvPr/>
        </p:nvSpPr>
        <p:spPr>
          <a:xfrm>
            <a:off x="502920" y="3260852"/>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действий стадии; модель заняла два</a:t>
            </a:r>
          </a:p>
        </p:txBody>
      </p:sp>
      <p:sp>
        <p:nvSpPr>
          <p:cNvPr id="22" name="Rounded Rectangle 21"/>
          <p:cNvSpPr/>
          <p:nvPr/>
        </p:nvSpPr>
        <p:spPr>
          <a:xfrm>
            <a:off x="374904" y="3563536"/>
            <a:ext cx="7199071" cy="2672671"/>
          </a:xfrm>
          <a:prstGeom prst="roundRect">
            <a:avLst>
              <a:gd name="adj" fmla="val 11404"/>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3654976"/>
            <a:ext cx="6869887" cy="258123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Четыре способа снять величину, и заменять один другим нельзя:</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Инструментальное исследование</a:t>
            </a:r>
            <a:r>
              <a:rPr sz="1250" b="0" i="0">
                <a:solidFill>
                  <a:srgbClr val="21295C"/>
                </a:solidFill>
                <a:latin typeface="Arial"/>
              </a:rPr>
              <a:t> — прибор работает по самому человеку</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Лабораторный анализ</a:t>
            </a:r>
            <a:r>
              <a:rPr sz="1250" b="0" i="0">
                <a:solidFill>
                  <a:srgbClr val="21295C"/>
                </a:solidFill>
                <a:latin typeface="Arial"/>
              </a:rPr>
              <a:t> — человека рядом уже нет, переснять по месту невозможно</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Функциональная проба</a:t>
            </a:r>
            <a:r>
              <a:rPr sz="1250" b="0" i="0">
                <a:solidFill>
                  <a:srgbClr val="21295C"/>
                </a:solidFill>
                <a:latin typeface="Arial"/>
              </a:rPr>
              <a:t> — протокол нагрузки входит в условия измерения</a:t>
            </a:r>
          </a:p>
          <a:p>
            <a:pPr algn="l">
              <a:lnSpc>
                <a:spcPct val="126000"/>
              </a:lnSpc>
              <a:spcBef>
                <a:spcPts val="720"/>
              </a:spcBef>
            </a:pPr>
            <a:r>
              <a:rPr sz="1250" b="0" i="0">
                <a:solidFill>
                  <a:srgbClr val="21295C"/>
                </a:solidFill>
                <a:latin typeface="Arial"/>
              </a:rPr>
              <a:t/>
            </a:r>
            <a:r>
              <a:rPr sz="1250" b="0" i="0">
                <a:solidFill>
                  <a:srgbClr val="21295C"/>
                </a:solidFill>
                <a:latin typeface="Arial"/>
              </a:rPr>
              <a:t>• </a:t>
            </a:r>
            <a:r>
              <a:rPr sz="1250" b="1" i="0">
                <a:solidFill>
                  <a:srgbClr val="21295C"/>
                </a:solidFill>
                <a:latin typeface="Arial"/>
              </a:rPr>
              <a:t>Удалённое исследование</a:t>
            </a:r>
            <a:r>
              <a:rPr sz="1250" b="0" i="0">
                <a:solidFill>
                  <a:srgbClr val="21295C"/>
                </a:solidFill>
                <a:latin typeface="Arial"/>
              </a:rPr>
              <a:t> — читающий пациента не видел</a:t>
            </a:r>
          </a:p>
          <a:p>
            <a:pPr algn="l">
              <a:lnSpc>
                <a:spcPct val="126000"/>
              </a:lnSpc>
              <a:spcBef>
                <a:spcPts val="720"/>
              </a:spcBef>
            </a:pPr>
            <a:r>
              <a:rPr sz="1250" b="0" i="0">
                <a:solidFill>
                  <a:srgbClr val="21295C"/>
                </a:solidFill>
                <a:latin typeface="Arial"/>
              </a:rPr>
              <a:t/>
            </a:r>
            <a:r>
              <a:rPr sz="1250" b="1" i="0">
                <a:solidFill>
                  <a:srgbClr val="21295C"/>
                </a:solidFill>
                <a:latin typeface="Arial"/>
              </a:rPr>
              <a:t>Модель заняла два действия из шести, и не самые трудные.</a:t>
            </a:r>
            <a:r>
              <a:rPr sz="1250" b="0" i="0">
                <a:solidFill>
                  <a:srgbClr val="21295C"/>
                </a:solidFill>
                <a:latin typeface="Arial"/>
              </a:rPr>
              <a:t> Порог под цену ошибки не назначает, переснять не умеет, годность входа оставляет человеку.</a:t>
            </a:r>
          </a:p>
          <a:p>
            <a:pPr algn="l">
              <a:lnSpc>
                <a:spcPct val="126000"/>
              </a:lnSpc>
              <a:spcBef>
                <a:spcPts val="720"/>
              </a:spcBef>
            </a:pPr>
            <a:r>
              <a:rPr sz="1250" b="0" i="0">
                <a:solidFill>
                  <a:srgbClr val="21295C"/>
                </a:solidFill>
                <a:latin typeface="Arial"/>
              </a:rPr>
              <a:t/>
            </a:r>
            <a:r>
              <a:rPr sz="1250" b="1" i="0">
                <a:solidFill>
                  <a:srgbClr val="21295C"/>
                </a:solidFill>
                <a:latin typeface="Arial"/>
              </a:rPr>
              <a:t>Вам называют «точность 94 процента». На какой группе она посчитана?</a:t>
            </a:r>
          </a:p>
        </p:txBody>
      </p:sp>
      <p:sp>
        <p:nvSpPr>
          <p:cNvPr id="24" name="Rounded Rectangle 23"/>
          <p:cNvSpPr/>
          <p:nvPr/>
        </p:nvSpPr>
        <p:spPr>
          <a:xfrm>
            <a:off x="7756855" y="1335024"/>
            <a:ext cx="3931920" cy="2819102"/>
          </a:xfrm>
          <a:prstGeom prst="roundRect">
            <a:avLst>
              <a:gd name="adj" fmla="val 10811"/>
            </a:avLst>
          </a:prstGeom>
          <a:solidFill>
            <a:srgbClr val="F4F7FA"/>
          </a:solidFill>
          <a:ln w="19050">
            <a:solidFill>
              <a:srgbClr val="1C7293"/>
            </a:solidFill>
          </a:ln>
          <a:effectLst/>
        </p:spPr>
        <p:txBody>
          <a:bodyPr rtlCol="0" anchor="ctr"/>
          <a:lstStyle/>
          <a:p>
            <a:pPr algn="ctr"/>
          </a:p>
        </p:txBody>
      </p:sp>
      <p:pic>
        <p:nvPicPr>
          <p:cNvPr id="25" name="Picture 24" descr="s23-laborant-za-pultom-reshaet-o-godnosti.jpg"/>
          <p:cNvPicPr>
            <a:picLocks noChangeAspect="1"/>
          </p:cNvPicPr>
          <p:nvPr/>
        </p:nvPicPr>
        <p:blipFill>
          <a:blip r:embed="rId2"/>
          <a:stretch>
            <a:fillRect/>
          </a:stretch>
        </p:blipFill>
        <p:spPr>
          <a:xfrm>
            <a:off x="7894015" y="1472184"/>
            <a:ext cx="3657600" cy="2544782"/>
          </a:xfrm>
          <a:prstGeom prst="rect">
            <a:avLst/>
          </a:prstGeom>
        </p:spPr>
      </p:pic>
      <p:sp>
        <p:nvSpPr>
          <p:cNvPr id="26" name="Rectangle 2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7" name="TextBox 2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Roberts и соавт., Nature Machine Intelligence 2021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Как считают точность: один порог срабатывания на двух группах по десять тысяч</a:t>
            </a:r>
          </a:p>
        </p:txBody>
      </p:sp>
      <p:sp>
        <p:nvSpPr>
          <p:cNvPr id="4" name="Rounded Rectangle 3"/>
          <p:cNvSpPr/>
          <p:nvPr/>
        </p:nvSpPr>
        <p:spPr>
          <a:xfrm>
            <a:off x="502920" y="1335024"/>
            <a:ext cx="5510631"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СТА БОЛЬНЫХ НАХОДИТ · НА СТА ЗДОРОВЫХ ПУГАЕТ НАПРАСНО</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94 · 11</a:t>
            </a:r>
          </a:p>
        </p:txBody>
      </p:sp>
      <p:sp>
        <p:nvSpPr>
          <p:cNvPr id="7" name="TextBox 6"/>
          <p:cNvSpPr txBox="1"/>
          <p:nvPr/>
        </p:nvSpPr>
        <p:spPr>
          <a:xfrm>
            <a:off x="640080"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опубликованная настройка, применённая к обеим группам без изменений</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ТРЕВОГ ОКАЗАЛИСЬ БОЛЕЗНЬЮ: ПОТОК → ОТДЕЛЕНИЕ</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8 → 79</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94 из 1 183 против 2 820 из 3 590; две группы по 10 000 человек</a:t>
            </a:r>
          </a:p>
        </p:txBody>
      </p:sp>
      <p:sp>
        <p:nvSpPr>
          <p:cNvPr id="12" name="TextBox 11"/>
          <p:cNvSpPr txBox="1"/>
          <p:nvPr/>
        </p:nvSpPr>
        <p:spPr>
          <a:xfrm>
            <a:off x="502920" y="313894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Поголовный поток</a:t>
            </a:r>
          </a:p>
        </p:txBody>
      </p:sp>
      <p:sp>
        <p:nvSpPr>
          <p:cNvPr id="13" name="Rounded Rectangle 12"/>
          <p:cNvSpPr/>
          <p:nvPr/>
        </p:nvSpPr>
        <p:spPr>
          <a:xfrm>
            <a:off x="1920240"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больных 1 из ста</a:t>
            </a:r>
          </a:p>
        </p:txBody>
      </p:sp>
      <p:sp>
        <p:nvSpPr>
          <p:cNvPr id="15" name="Right Arrow 14"/>
          <p:cNvSpPr/>
          <p:nvPr/>
        </p:nvSpPr>
        <p:spPr>
          <a:xfrm>
            <a:off x="5039258" y="3271489"/>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 1 183</a:t>
            </a:r>
          </a:p>
        </p:txBody>
      </p:sp>
      <p:sp>
        <p:nvSpPr>
          <p:cNvPr id="18" name="Right Arrow 17"/>
          <p:cNvSpPr/>
          <p:nvPr/>
        </p:nvSpPr>
        <p:spPr>
          <a:xfrm>
            <a:off x="8386876" y="327148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верных 8 из ста</a:t>
            </a:r>
          </a:p>
        </p:txBody>
      </p:sp>
      <p:sp>
        <p:nvSpPr>
          <p:cNvPr id="21" name="TextBox 20"/>
          <p:cNvSpPr txBox="1"/>
          <p:nvPr/>
        </p:nvSpPr>
        <p:spPr>
          <a:xfrm>
            <a:off x="502920" y="376064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Профильное отделение</a:t>
            </a:r>
          </a:p>
        </p:txBody>
      </p:sp>
      <p:sp>
        <p:nvSpPr>
          <p:cNvPr id="22" name="Rounded Rectangle 21"/>
          <p:cNvSpPr/>
          <p:nvPr/>
        </p:nvSpPr>
        <p:spPr>
          <a:xfrm>
            <a:off x="1920240"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больных 30 из ста</a:t>
            </a:r>
          </a:p>
        </p:txBody>
      </p:sp>
      <p:sp>
        <p:nvSpPr>
          <p:cNvPr id="24" name="Right Arrow 23"/>
          <p:cNvSpPr/>
          <p:nvPr/>
        </p:nvSpPr>
        <p:spPr>
          <a:xfrm>
            <a:off x="5039258" y="3893186"/>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350154"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 3 590</a:t>
            </a:r>
          </a:p>
        </p:txBody>
      </p:sp>
      <p:sp>
        <p:nvSpPr>
          <p:cNvPr id="27" name="Right Arrow 26"/>
          <p:cNvSpPr/>
          <p:nvPr/>
        </p:nvSpPr>
        <p:spPr>
          <a:xfrm>
            <a:off x="8386876" y="389318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72406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76978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верных 79 из ста</a:t>
            </a:r>
          </a:p>
        </p:txBody>
      </p:sp>
      <p:sp>
        <p:nvSpPr>
          <p:cNvPr id="30" name="TextBox 29"/>
          <p:cNvSpPr txBox="1"/>
          <p:nvPr/>
        </p:nvSpPr>
        <p:spPr>
          <a:xfrm>
            <a:off x="502920" y="423603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Система одна, порог срабатывания один; различается доля больных в группе</a:t>
            </a:r>
          </a:p>
        </p:txBody>
      </p:sp>
      <p:sp>
        <p:nvSpPr>
          <p:cNvPr id="31" name="Rounded Rectangle 30"/>
          <p:cNvSpPr/>
          <p:nvPr/>
        </p:nvSpPr>
        <p:spPr>
          <a:xfrm>
            <a:off x="374904" y="4538721"/>
            <a:ext cx="11441887" cy="1697486"/>
          </a:xfrm>
          <a:prstGeom prst="roundRect">
            <a:avLst>
              <a:gd name="adj" fmla="val 17955"/>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630161"/>
            <a:ext cx="11112703" cy="160604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Свойства величины считают на группе.</a:t>
            </a:r>
            <a:r>
              <a:rPr sz="1300" b="0" i="0">
                <a:solidFill>
                  <a:srgbClr val="21295C"/>
                </a:solidFill>
                <a:latin typeface="Arial"/>
              </a:rPr>
              <a:t> Один </a:t>
            </a:r>
            <a:r>
              <a:rPr sz="1300" b="1" i="0">
                <a:solidFill>
                  <a:srgbClr val="21295C"/>
                </a:solidFill>
                <a:latin typeface="Arial"/>
              </a:rPr>
              <a:t>порог срабатывания</a:t>
            </a:r>
            <a:r>
              <a:rPr sz="1300" b="0" i="0">
                <a:solidFill>
                  <a:srgbClr val="21295C"/>
                </a:solidFill>
                <a:latin typeface="Arial"/>
              </a:rPr>
              <a:t> — то значение, за которым система объявляет «болен», — применили к двум группам по десять тысяч человек, отличающимся только долей больных.</a:t>
            </a:r>
          </a:p>
          <a:p>
            <a:pPr algn="l">
              <a:lnSpc>
                <a:spcPct val="126000"/>
              </a:lnSpc>
              <a:spcBef>
                <a:spcPts val="720"/>
              </a:spcBef>
            </a:pPr>
            <a:r>
              <a:rPr sz="1300" b="0" i="0">
                <a:solidFill>
                  <a:srgbClr val="21295C"/>
                </a:solidFill>
                <a:latin typeface="Arial"/>
              </a:rPr>
              <a:t/>
            </a:r>
            <a:r>
              <a:rPr sz="1300" b="1" i="0">
                <a:solidFill>
                  <a:srgbClr val="21295C"/>
                </a:solidFill>
                <a:latin typeface="Arial"/>
              </a:rPr>
              <a:t>Разница почти десятикратная, а внутри системы не изменилась ни одна строка.</a:t>
            </a:r>
            <a:r>
              <a:rPr sz="1300" b="0" i="0">
                <a:solidFill>
                  <a:srgbClr val="21295C"/>
                </a:solidFill>
                <a:latin typeface="Arial"/>
              </a:rPr>
              <a:t> У этой доли есть имя — </a:t>
            </a:r>
            <a:r>
              <a:rPr sz="1300" b="1" i="0">
                <a:solidFill>
                  <a:srgbClr val="21295C"/>
                </a:solidFill>
                <a:latin typeface="Arial"/>
              </a:rPr>
              <a:t>прогностическая ценность положительного результата</a:t>
            </a:r>
            <a:r>
              <a:rPr sz="1300" b="0" i="0">
                <a:solidFill>
                  <a:srgbClr val="21295C"/>
                </a:solidFill>
                <a:latin typeface="Arial"/>
              </a:rPr>
              <a:t>: какая часть тревог оказалась болезнью. Врач на приёме видит именно её, а не чувствительность.</a:t>
            </a:r>
          </a:p>
          <a:p>
            <a:pPr algn="l">
              <a:lnSpc>
                <a:spcPct val="126000"/>
              </a:lnSpc>
              <a:spcBef>
                <a:spcPts val="720"/>
              </a:spcBef>
            </a:pPr>
            <a:r>
              <a:rPr sz="1300" b="0" i="0">
                <a:solidFill>
                  <a:srgbClr val="21295C"/>
                </a:solidFill>
                <a:latin typeface="Arial"/>
              </a:rPr>
              <a:t/>
            </a:r>
            <a:r>
              <a:rPr sz="1300" b="1" i="0">
                <a:solidFill>
                  <a:srgbClr val="21295C"/>
                </a:solidFill>
                <a:latin typeface="Arial"/>
              </a:rPr>
              <a:t>Женщина с письмом стоит в поголовном потоке: у неё 8 из ста.</a:t>
            </a:r>
          </a:p>
        </p:txBody>
      </p:sp>
      <p:sp>
        <p:nvSpPr>
          <p:cNvPr id="33" name="Rectangle 3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Rajpurkar и соавт., CheXNet 2017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Классический режим: годность снимка решает техник у аппарата</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5" name="Rounded Rectangle 4"/>
          <p:cNvSpPr/>
          <p:nvPr/>
        </p:nvSpPr>
        <p:spPr>
          <a:xfrm>
            <a:off x="1920240"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сделать снимок</a:t>
            </a:r>
          </a:p>
        </p:txBody>
      </p:sp>
      <p:sp>
        <p:nvSpPr>
          <p:cNvPr id="7" name="Right Arrow 6"/>
          <p:cNvSpPr/>
          <p:nvPr/>
        </p:nvSpPr>
        <p:spPr>
          <a:xfrm>
            <a:off x="5039258"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посмотреть на экран</a:t>
            </a:r>
          </a:p>
        </p:txBody>
      </p:sp>
      <p:sp>
        <p:nvSpPr>
          <p:cNvPr id="10" name="Right Arrow 9"/>
          <p:cNvSpPr/>
          <p:nvPr/>
        </p:nvSpPr>
        <p:spPr>
          <a:xfrm>
            <a:off x="8386876"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годится или переснять</a:t>
            </a:r>
          </a:p>
        </p:txBody>
      </p:sp>
      <p:sp>
        <p:nvSpPr>
          <p:cNvPr id="13" name="TextBox 12"/>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14" name="Rounded Rectangle 13"/>
          <p:cNvSpPr/>
          <p:nvPr/>
        </p:nvSpPr>
        <p:spPr>
          <a:xfrm>
            <a:off x="1920240"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сделать снимок</a:t>
            </a:r>
          </a:p>
        </p:txBody>
      </p:sp>
      <p:sp>
        <p:nvSpPr>
          <p:cNvPr id="16" name="Right Arrow 15"/>
          <p:cNvSpPr/>
          <p:nvPr/>
        </p:nvSpPr>
        <p:spPr>
          <a:xfrm>
            <a:off x="5039258" y="2482310"/>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система сама отклоняет негодный</a:t>
            </a:r>
          </a:p>
        </p:txBody>
      </p:sp>
      <p:sp>
        <p:nvSpPr>
          <p:cNvPr id="19" name="Right Arrow 18"/>
          <p:cNvSpPr/>
          <p:nvPr/>
        </p:nvSpPr>
        <p:spPr>
          <a:xfrm>
            <a:off x="8386876" y="248231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повторный визит</a:t>
            </a:r>
          </a:p>
        </p:txBody>
      </p:sp>
      <p:sp>
        <p:nvSpPr>
          <p:cNvPr id="22" name="TextBox 21"/>
          <p:cNvSpPr txBox="1"/>
          <p:nvPr/>
        </p:nvSpPr>
        <p:spPr>
          <a:xfrm>
            <a:off x="502920" y="29439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о годности снимка: без модели и с моделью</a:t>
            </a:r>
          </a:p>
        </p:txBody>
      </p:sp>
      <p:sp>
        <p:nvSpPr>
          <p:cNvPr id="23" name="Rounded Rectangle 22"/>
          <p:cNvSpPr/>
          <p:nvPr/>
        </p:nvSpPr>
        <p:spPr>
          <a:xfrm>
            <a:off x="374904" y="3338111"/>
            <a:ext cx="11441887" cy="2628067"/>
          </a:xfrm>
          <a:prstGeom prst="roundRect">
            <a:avLst>
              <a:gd name="adj" fmla="val 11597"/>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429551"/>
            <a:ext cx="11112703" cy="2806656"/>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Классический режим стадии — </a:t>
            </a:r>
            <a:r>
              <a:rPr sz="1500" b="1" i="0">
                <a:solidFill>
                  <a:srgbClr val="21295C"/>
                </a:solidFill>
                <a:latin typeface="Arial"/>
              </a:rPr>
              <a:t>контроль годности измерения.</a:t>
            </a:r>
          </a:p>
          <a:p>
            <a:pPr algn="l">
              <a:lnSpc>
                <a:spcPct val="126000"/>
              </a:lnSpc>
              <a:spcBef>
                <a:spcPts val="720"/>
              </a:spcBef>
            </a:pPr>
            <a:r>
              <a:rPr sz="1500" b="0" i="0">
                <a:solidFill>
                  <a:srgbClr val="21295C"/>
                </a:solidFill>
                <a:latin typeface="Arial"/>
              </a:rPr>
              <a:t/>
            </a:r>
            <a:r>
              <a:rPr sz="1500" b="1" i="0">
                <a:solidFill>
                  <a:srgbClr val="21295C"/>
                </a:solidFill>
                <a:latin typeface="Arial"/>
              </a:rPr>
              <a:t>По какому правилу решает техник:</a:t>
            </a:r>
            <a:r>
              <a:rPr sz="1500" b="0" i="0">
                <a:solidFill>
                  <a:srgbClr val="21295C"/>
                </a:solidFill>
                <a:latin typeface="Arial"/>
              </a:rPr>
              <a:t> инструкция кабинета и видимое качество кадра. В приборе этого правила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Чем это кончается, если негодный снимок уйдёт на чтение:</a:t>
            </a:r>
            <a:r>
              <a:rPr sz="1500" b="0" i="0">
                <a:solidFill>
                  <a:srgbClr val="21295C"/>
                </a:solidFill>
                <a:latin typeface="Arial"/>
              </a:rPr>
              <a:t> заключение поставят по тому, что видно, — и дальше по цепочке идут неверный диагноз, повторное исследование, потерянные недели и лечение, начатое не вовремя. </a:t>
            </a:r>
            <a:r>
              <a:rPr sz="1500" b="1" i="0">
                <a:solidFill>
                  <a:srgbClr val="21295C"/>
                </a:solidFill>
                <a:latin typeface="Arial"/>
              </a:rPr>
              <a:t>Заметит это никто,</a:t>
            </a:r>
            <a:r>
              <a:rPr sz="1500" b="0" i="0">
                <a:solidFill>
                  <a:srgbClr val="21295C"/>
                </a:solidFill>
                <a:latin typeface="Arial"/>
              </a:rPr>
              <a:t> пока не понадобится пересмотр.</a:t>
            </a:r>
          </a:p>
          <a:p>
            <a:pPr algn="l">
              <a:lnSpc>
                <a:spcPct val="126000"/>
              </a:lnSpc>
              <a:spcBef>
                <a:spcPts val="720"/>
              </a:spcBef>
            </a:pPr>
            <a:r>
              <a:rPr sz="1500" b="0" i="0">
                <a:solidFill>
                  <a:srgbClr val="21295C"/>
                </a:solidFill>
                <a:latin typeface="Arial"/>
              </a:rPr>
              <a:t/>
            </a:r>
            <a:r>
              <a:rPr sz="1500" b="1" i="0">
                <a:solidFill>
                  <a:srgbClr val="21295C"/>
                </a:solidFill>
                <a:latin typeface="Arial"/>
              </a:rPr>
              <a:t>С моделью развилка не исчезает, а раздваивается:</a:t>
            </a:r>
            <a:r>
              <a:rPr sz="1500" b="0" i="0">
                <a:solidFill>
                  <a:srgbClr val="21295C"/>
                </a:solidFill>
                <a:latin typeface="Arial"/>
              </a:rPr>
              <a:t> негодный снимок она отклоняет сама — и тогда человеку достаётся повторный визит; не отклонит — читает то, что ей дали.</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Сколько потока читает модель: одно основание на три страны</a:t>
            </a:r>
          </a:p>
        </p:txBody>
      </p:sp>
      <p:pic>
        <p:nvPicPr>
          <p:cNvPr id="4" name="Picture 3" descr="s27-dolya-potoka-cherez-model.png"/>
          <p:cNvPicPr>
            <a:picLocks noChangeAspect="1"/>
          </p:cNvPicPr>
          <p:nvPr/>
        </p:nvPicPr>
        <p:blipFill>
          <a:blip r:embed="rId2"/>
          <a:stretch>
            <a:fillRect/>
          </a:stretch>
        </p:blipFill>
        <p:spPr>
          <a:xfrm>
            <a:off x="502920" y="1335024"/>
            <a:ext cx="11185855" cy="2621684"/>
          </a:xfrm>
          <a:prstGeom prst="rect">
            <a:avLst/>
          </a:prstGeom>
        </p:spPr>
      </p:pic>
      <p:sp>
        <p:nvSpPr>
          <p:cNvPr id="5" name="Rounded Rectangle 4"/>
          <p:cNvSpPr/>
          <p:nvPr/>
        </p:nvSpPr>
        <p:spPr>
          <a:xfrm>
            <a:off x="374904" y="4048148"/>
            <a:ext cx="11441887" cy="2188059"/>
          </a:xfrm>
          <a:prstGeom prst="roundRect">
            <a:avLst>
              <a:gd name="adj" fmla="val 13930"/>
            </a:avLst>
          </a:prstGeom>
          <a:solidFill>
            <a:srgbClr val="F4F7FA"/>
          </a:solidFill>
          <a:ln w="19050">
            <a:solidFill>
              <a:srgbClr val="1C7293"/>
            </a:solidFill>
          </a:ln>
          <a:effectLst/>
        </p:spPr>
        <p:txBody>
          <a:bodyPr rtlCol="0" anchor="ctr"/>
          <a:lstStyle/>
          <a:p>
            <a:pPr algn="ctr"/>
          </a:p>
        </p:txBody>
      </p:sp>
      <p:sp>
        <p:nvSpPr>
          <p:cNvPr id="6" name="TextBox 5"/>
          <p:cNvSpPr txBox="1"/>
          <p:nvPr/>
        </p:nvSpPr>
        <p:spPr>
          <a:xfrm>
            <a:off x="539496" y="4139588"/>
            <a:ext cx="11112703" cy="2096619"/>
          </a:xfrm>
          <a:prstGeom prst="rect">
            <a:avLst/>
          </a:prstGeom>
          <a:noFill/>
        </p:spPr>
        <p:txBody>
          <a:bodyPr wrap="square" lIns="0" rIns="0" tIns="0" bIns="0" anchor="t">
            <a:spAutoFit/>
          </a:bodyPr>
          <a:lstStyle/>
          <a:p>
            <a:pPr algn="l">
              <a:lnSpc>
                <a:spcPct val="118000"/>
              </a:lnSpc>
            </a:pPr>
            <a:r>
              <a:rPr sz="1400" b="1" i="0">
                <a:solidFill>
                  <a:srgbClr val="21295C"/>
                </a:solidFill>
                <a:latin typeface="Arial"/>
              </a:rPr>
              <a:t>Годность каждого снимка решил человек у прибора — теперь о самом потоке.</a:t>
            </a:r>
            <a:r>
              <a:rPr sz="1400" b="0" i="0">
                <a:solidFill>
                  <a:srgbClr val="21295C"/>
                </a:solidFill>
                <a:latin typeface="Arial"/>
              </a:rPr>
              <a:t> Вопрос один: из ста снимков грудной клетки, которые в стране делают, сколько прочитала модель. Любое другое сравнение стран здесь — склейка выборок.</a:t>
            </a:r>
          </a:p>
          <a:p>
            <a:pPr algn="l">
              <a:lnSpc>
                <a:spcPct val="118000"/>
              </a:lnSpc>
              <a:spcBef>
                <a:spcPts val="600"/>
              </a:spcBef>
            </a:pPr>
            <a:r>
              <a:rPr sz="1400" b="0" i="0">
                <a:solidFill>
                  <a:srgbClr val="21295C"/>
                </a:solidFill>
                <a:latin typeface="Arial"/>
              </a:rPr>
              <a:t/>
            </a:r>
            <a:r>
              <a:rPr sz="1400" b="1" i="0">
                <a:solidFill>
                  <a:srgbClr val="21295C"/>
                </a:solidFill>
                <a:latin typeface="Arial"/>
              </a:rPr>
              <a:t>У английской доли два официальных знаменателя.</a:t>
            </a:r>
            <a:r>
              <a:rPr sz="1400" b="0" i="0">
                <a:solidFill>
                  <a:srgbClr val="21295C"/>
                </a:solidFill>
                <a:latin typeface="Arial"/>
              </a:rPr>
              <a:t> Числитель 2,8 млн называет разработчик. Статистика службы здравоохранения даёт 8,19 млн рентгенограмм — выходит 34 из ста; государственное сообщение называет «свыше 7 миллионов» — те же 2,8 млн дают 40 из ста.</a:t>
            </a:r>
          </a:p>
          <a:p>
            <a:pPr algn="l">
              <a:lnSpc>
                <a:spcPct val="118000"/>
              </a:lnSpc>
              <a:spcBef>
                <a:spcPts val="600"/>
              </a:spcBef>
            </a:pPr>
            <a:r>
              <a:rPr sz="1400" b="0" i="0">
                <a:solidFill>
                  <a:srgbClr val="21295C"/>
                </a:solidFill>
                <a:latin typeface="Arial"/>
              </a:rPr>
              <a:t/>
            </a:r>
            <a:r>
              <a:rPr sz="1400" b="1" i="0">
                <a:solidFill>
                  <a:srgbClr val="21295C"/>
                </a:solidFill>
                <a:latin typeface="Arial"/>
              </a:rPr>
              <a:t>У США числа этого вида нет.</a:t>
            </a:r>
            <a:r>
              <a:rPr sz="1400" b="0" i="0">
                <a:solidFill>
                  <a:srgbClr val="21295C"/>
                </a:solidFill>
                <a:latin typeface="Arial"/>
              </a:rPr>
              <a:t> Публикуют долю изделий в реестре (76,5 из 1 430 за тридцать лет) и долю врачей, применяющих модель (34 по опросу). Второе похоже на английское до совпадения цифр и меряет другое.</a:t>
            </a:r>
          </a:p>
        </p:txBody>
      </p:sp>
      <p:sp>
        <p:nvSpPr>
          <p:cNvPr id="7" name="Rectangle 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8" name="TextBox 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Васильев и соавт., Digital Diagnostics 2025;6(1):5–22</a:t>
            </a:r>
            <a:r>
              <a:rPr sz="1200" b="0" i="1">
                <a:solidFill>
                  <a:srgbClr val="1C7293"/>
                </a:solidFill>
                <a:latin typeface="Arial"/>
              </a:rPr>
              <a:t> · </a:t>
            </a:r>
            <a:r>
              <a:rPr sz="1200" b="0" i="1" u="sng">
                <a:solidFill>
                  <a:srgbClr val="065A82"/>
                </a:solidFill>
                <a:latin typeface="Arial"/>
                <a:hlinkClick r:id="rId4"/>
              </a:rPr>
              <a:t>NHS England, Diagnostic Imaging Dataset 2023/24</a:t>
            </a:r>
            <a:r>
              <a:rPr sz="1200" b="0" i="1">
                <a:solidFill>
                  <a:srgbClr val="1C7293"/>
                </a:solidFill>
                <a:latin typeface="Arial"/>
              </a:rPr>
              <a:t> · </a:t>
            </a:r>
            <a:r>
              <a:rPr sz="1200" b="0" i="1" u="sng">
                <a:solidFill>
                  <a:srgbClr val="065A82"/>
                </a:solidFill>
                <a:latin typeface="Arial"/>
                <a:hlinkClick r:id="rId5"/>
              </a:rPr>
              <a:t>сообщение правительства Великобритании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968199"/>
          </a:xfrm>
          <a:prstGeom prst="rect">
            <a:avLst/>
          </a:prstGeom>
          <a:noFill/>
        </p:spPr>
        <p:txBody>
          <a:bodyPr wrap="square" lIns="0" rIns="0" tIns="0" bIns="0" anchor="t">
            <a:spAutoFit/>
          </a:bodyPr>
          <a:lstStyle/>
          <a:p>
            <a:pPr algn="l">
              <a:lnSpc>
                <a:spcPct val="110000"/>
              </a:lnSpc>
            </a:pPr>
            <a:r>
              <a:rPr sz="2800" b="1" i="0">
                <a:solidFill>
                  <a:srgbClr val="21295C"/>
                </a:solidFill>
                <a:latin typeface="Arial"/>
              </a:rPr>
              <a:t>Москва, профилактический поток: сколько снимков не открывает человек</a:t>
            </a:r>
          </a:p>
        </p:txBody>
      </p:sp>
      <p:sp>
        <p:nvSpPr>
          <p:cNvPr id="4" name="Rounded Rectangle 3"/>
          <p:cNvSpPr/>
          <p:nvPr/>
        </p:nvSpPr>
        <p:spPr>
          <a:xfrm>
            <a:off x="502920" y="1843184"/>
            <a:ext cx="11185855" cy="4194693"/>
          </a:xfrm>
          <a:prstGeom prst="roundRect">
            <a:avLst>
              <a:gd name="adj" fmla="val 7266"/>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905256" y="2245520"/>
            <a:ext cx="10381183" cy="1923824"/>
          </a:xfrm>
          <a:prstGeom prst="rect">
            <a:avLst/>
          </a:prstGeom>
          <a:noFill/>
        </p:spPr>
        <p:txBody>
          <a:bodyPr wrap="square" lIns="0" rIns="0" tIns="0" bIns="0" anchor="t">
            <a:spAutoFit/>
          </a:bodyPr>
          <a:lstStyle/>
          <a:p>
            <a:pPr algn="ctr">
              <a:lnSpc>
                <a:spcPct val="102000"/>
              </a:lnSpc>
            </a:pPr>
            <a:r>
              <a:rPr sz="12000" b="1" i="0">
                <a:solidFill>
                  <a:srgbClr val="21295C"/>
                </a:solidFill>
                <a:latin typeface="Arial"/>
              </a:rPr>
              <a:t>55 из ста</a:t>
            </a:r>
          </a:p>
        </p:txBody>
      </p:sp>
      <p:sp>
        <p:nvSpPr>
          <p:cNvPr id="6" name="Rectangle 5"/>
          <p:cNvSpPr/>
          <p:nvPr/>
        </p:nvSpPr>
        <p:spPr>
          <a:xfrm>
            <a:off x="5090007" y="4388801"/>
            <a:ext cx="2011680" cy="77724"/>
          </a:xfrm>
          <a:prstGeom prst="rect">
            <a:avLst/>
          </a:prstGeom>
          <a:solidFill>
            <a:srgbClr val="F0AB00"/>
          </a:solidFill>
          <a:ln>
            <a:noFill/>
          </a:ln>
          <a:effectLst/>
        </p:spPr>
        <p:txBody>
          <a:bodyPr rtlCol="0" anchor="ctr"/>
          <a:lstStyle/>
          <a:p>
            <a:pPr algn="ctr"/>
          </a:p>
        </p:txBody>
      </p:sp>
      <p:sp>
        <p:nvSpPr>
          <p:cNvPr id="7" name="TextBox 6"/>
          <p:cNvSpPr txBox="1"/>
          <p:nvPr/>
        </p:nvSpPr>
        <p:spPr>
          <a:xfrm>
            <a:off x="905256" y="4576253"/>
            <a:ext cx="10381183" cy="364646"/>
          </a:xfrm>
          <a:prstGeom prst="rect">
            <a:avLst/>
          </a:prstGeom>
          <a:noFill/>
        </p:spPr>
        <p:txBody>
          <a:bodyPr wrap="square" lIns="0" rIns="0" tIns="0" bIns="0" anchor="t">
            <a:spAutoFit/>
          </a:bodyPr>
          <a:lstStyle/>
          <a:p>
            <a:pPr algn="ctr">
              <a:lnSpc>
                <a:spcPct val="116000"/>
              </a:lnSpc>
            </a:pPr>
            <a:r>
              <a:rPr sz="2000" b="1" i="0">
                <a:solidFill>
                  <a:srgbClr val="065A82"/>
                </a:solidFill>
                <a:latin typeface="Arial"/>
              </a:rPr>
              <a:t>профилактических снимков грудной клетки не открывает ни один врач</a:t>
            </a:r>
          </a:p>
        </p:txBody>
      </p:sp>
      <p:sp>
        <p:nvSpPr>
          <p:cNvPr id="8" name="TextBox 7"/>
          <p:cNvSpPr txBox="1"/>
          <p:nvPr/>
        </p:nvSpPr>
        <p:spPr>
          <a:xfrm>
            <a:off x="905256" y="5032339"/>
            <a:ext cx="10381183" cy="296746"/>
          </a:xfrm>
          <a:prstGeom prst="rect">
            <a:avLst/>
          </a:prstGeom>
          <a:noFill/>
        </p:spPr>
        <p:txBody>
          <a:bodyPr wrap="square" lIns="0" rIns="0" tIns="0" bIns="0" anchor="t">
            <a:spAutoFit/>
          </a:bodyPr>
          <a:lstStyle/>
          <a:p>
            <a:pPr algn="ctr">
              <a:lnSpc>
                <a:spcPct val="118000"/>
              </a:lnSpc>
            </a:pPr>
            <a:r>
              <a:rPr sz="1600" b="0" i="0">
                <a:solidFill>
                  <a:srgbClr val="21295C"/>
                </a:solidFill>
                <a:latin typeface="Arial"/>
              </a:rPr>
              <a:t>315 491 из 575 549 за пять месяцев 2024 года, Москва</a:t>
            </a:r>
          </a:p>
        </p:txBody>
      </p:sp>
      <p:sp>
        <p:nvSpPr>
          <p:cNvPr id="9" name="TextBox 8"/>
          <p:cNvSpPr txBox="1"/>
          <p:nvPr/>
        </p:nvSpPr>
        <p:spPr>
          <a:xfrm>
            <a:off x="905256" y="5420526"/>
            <a:ext cx="10381183" cy="215015"/>
          </a:xfrm>
          <a:prstGeom prst="rect">
            <a:avLst/>
          </a:prstGeom>
          <a:noFill/>
        </p:spPr>
        <p:txBody>
          <a:bodyPr wrap="square" lIns="0" rIns="0" tIns="0" bIns="0" anchor="t">
            <a:spAutoFit/>
          </a:bodyPr>
          <a:lstStyle/>
          <a:p>
            <a:pPr algn="ctr">
              <a:lnSpc>
                <a:spcPct val="114000"/>
              </a:lnSpc>
            </a:pPr>
            <a:r>
              <a:rPr sz="1200" b="0" i="1">
                <a:solidFill>
                  <a:srgbClr val="1C7293"/>
                </a:solidFill>
                <a:latin typeface="Arial"/>
              </a:rPr>
              <a:t>заключение модели уходит прямо в электронную карту</a:t>
            </a: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1: Москва — профилактические снимки, которые не читает человек</a:t>
            </a:r>
          </a:p>
        </p:txBody>
      </p:sp>
      <p:sp>
        <p:nvSpPr>
          <p:cNvPr id="4" name="Rounded Rectangle 3"/>
          <p:cNvSpPr/>
          <p:nvPr/>
        </p:nvSpPr>
        <p:spPr>
          <a:xfrm>
            <a:off x="502920" y="1335024"/>
            <a:ext cx="5510631"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5236311"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болезнь находят на год позже · лишнее уточняющее исследование</a:t>
            </a:r>
          </a:p>
        </p:txBody>
      </p:sp>
      <p:sp>
        <p:nvSpPr>
          <p:cNvPr id="7" name="TextBox 6"/>
          <p:cNvSpPr txBox="1"/>
          <p:nvPr/>
        </p:nvSpPr>
        <p:spPr>
          <a:xfrm>
            <a:off x="640080" y="29332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асимметрия предельная — из неё и выведен порог срабатывания</a:t>
            </a:r>
          </a:p>
        </p:txBody>
      </p:sp>
      <p:sp>
        <p:nvSpPr>
          <p:cNvPr id="8" name="Rounded Rectangle 7"/>
          <p:cNvSpPr/>
          <p:nvPr/>
        </p:nvSpPr>
        <p:spPr>
          <a:xfrm>
            <a:off x="6178143" y="1335024"/>
            <a:ext cx="5510631"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КЛИНИЧЕСКИ ЗНАЧИМЫХ ПРОПУСКОВ</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 на 10 тысяч снимков</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290 из 575 549 — это 0,05 процента; у человека на том же виде снимка 3–4 процента, но на другом потоке</a:t>
            </a:r>
          </a:p>
        </p:txBody>
      </p:sp>
      <p:sp>
        <p:nvSpPr>
          <p:cNvPr id="12" name="TextBox 11"/>
          <p:cNvSpPr txBox="1"/>
          <p:nvPr/>
        </p:nvSpPr>
        <p:spPr>
          <a:xfrm>
            <a:off x="502920" y="350108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15" name="Right Arrow 14"/>
          <p:cNvSpPr/>
          <p:nvPr/>
        </p:nvSpPr>
        <p:spPr>
          <a:xfrm>
            <a:off x="5039258" y="3752445"/>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рентгенолог читает каждый</a:t>
            </a:r>
          </a:p>
        </p:txBody>
      </p:sp>
      <p:sp>
        <p:nvSpPr>
          <p:cNvPr id="18" name="Right Arrow 17"/>
          <p:cNvSpPr/>
          <p:nvPr/>
        </p:nvSpPr>
        <p:spPr>
          <a:xfrm>
            <a:off x="8386876" y="3752445"/>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46450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51022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 в карту</a:t>
            </a:r>
          </a:p>
        </p:txBody>
      </p:sp>
      <p:sp>
        <p:nvSpPr>
          <p:cNvPr id="21" name="TextBox 20"/>
          <p:cNvSpPr txBox="1"/>
          <p:nvPr/>
        </p:nvSpPr>
        <p:spPr>
          <a:xfrm>
            <a:off x="502920" y="436042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432385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36957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24" name="Right Arrow 23"/>
          <p:cNvSpPr/>
          <p:nvPr/>
        </p:nvSpPr>
        <p:spPr>
          <a:xfrm>
            <a:off x="5039258" y="4611791"/>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4323850"/>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4369570"/>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сортировка: норма или нет</a:t>
            </a:r>
          </a:p>
        </p:txBody>
      </p:sp>
      <p:sp>
        <p:nvSpPr>
          <p:cNvPr id="27" name="Right Arrow 26"/>
          <p:cNvSpPr/>
          <p:nvPr/>
        </p:nvSpPr>
        <p:spPr>
          <a:xfrm>
            <a:off x="8386876" y="4611791"/>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4323850"/>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4369570"/>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норма → в карту без врача · не норма → рентгенолог</a:t>
            </a:r>
          </a:p>
        </p:txBody>
      </p:sp>
      <p:sp>
        <p:nvSpPr>
          <p:cNvPr id="30" name="Rounded Rectangle 29"/>
          <p:cNvSpPr/>
          <p:nvPr/>
        </p:nvSpPr>
        <p:spPr>
          <a:xfrm>
            <a:off x="374904" y="5128331"/>
            <a:ext cx="11441887" cy="110787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219771"/>
            <a:ext cx="5373471" cy="1016436"/>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Как получились эти 55 из ста.</a:t>
            </a:r>
            <a:r>
              <a:rPr sz="1150" b="0" i="0">
                <a:solidFill>
                  <a:srgbClr val="21295C"/>
                </a:solidFill>
                <a:latin typeface="Arial"/>
              </a:rPr>
              <a:t> Снимки грудной клетки, Москва, май — сентябрь 2024: 575 549 флюорограмм и рентгенограмм, три сервиса.</a:t>
            </a:r>
          </a:p>
        </p:txBody>
      </p:sp>
      <p:sp>
        <p:nvSpPr>
          <p:cNvPr id="32" name="TextBox 31"/>
          <p:cNvSpPr txBox="1"/>
          <p:nvPr/>
        </p:nvSpPr>
        <p:spPr>
          <a:xfrm>
            <a:off x="6278727" y="5219771"/>
            <a:ext cx="5373471" cy="1016436"/>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Устроено так.</a:t>
            </a:r>
            <a:r>
              <a:rPr sz="1150" b="0" i="0">
                <a:solidFill>
                  <a:srgbClr val="21295C"/>
                </a:solidFill>
                <a:latin typeface="Arial"/>
              </a:rPr>
              <a:t> Чувствительность выставили </a:t>
            </a:r>
            <a:r>
              <a:rPr sz="1150" b="1" i="0">
                <a:solidFill>
                  <a:srgbClr val="21295C"/>
                </a:solidFill>
                <a:latin typeface="Arial"/>
              </a:rPr>
              <a:t>1,0</a:t>
            </a:r>
            <a:r>
              <a:rPr sz="1150" b="0" i="0">
                <a:solidFill>
                  <a:srgbClr val="21295C"/>
                </a:solidFill>
                <a:latin typeface="Arial"/>
              </a:rPr>
              <a:t>, специфичность объявили </a:t>
            </a:r>
            <a:r>
              <a:rPr sz="1150" b="1" i="0">
                <a:solidFill>
                  <a:srgbClr val="21295C"/>
                </a:solidFill>
                <a:latin typeface="Arial"/>
              </a:rPr>
              <a:t>незначимой</a:t>
            </a:r>
            <a:r>
              <a:rPr sz="1150" b="0" i="0">
                <a:solidFill>
                  <a:srgbClr val="21295C"/>
                </a:solidFill>
                <a:latin typeface="Arial"/>
              </a:rPr>
              <a:t>. В «не норму» уходит 45 снимков из ста — их читает рентгенолог. Остальные уходят в карту без него.</a:t>
            </a:r>
          </a:p>
          <a:p>
            <a:pPr algn="l">
              <a:lnSpc>
                <a:spcPct val="126000"/>
              </a:lnSpc>
              <a:spcBef>
                <a:spcPts val="720"/>
              </a:spcBef>
            </a:pPr>
            <a:r>
              <a:rPr sz="1150" b="0" i="0">
                <a:solidFill>
                  <a:srgbClr val="21295C"/>
                </a:solidFill>
                <a:latin typeface="Arial"/>
              </a:rPr>
              <a:t/>
            </a:r>
            <a:r>
              <a:rPr sz="1150" b="1" i="0">
                <a:solidFill>
                  <a:srgbClr val="21295C"/>
                </a:solidFill>
                <a:latin typeface="Arial"/>
              </a:rPr>
              <a:t>Что пропущено:</a:t>
            </a:r>
            <a:r>
              <a:rPr sz="1150" b="0" i="0">
                <a:solidFill>
                  <a:srgbClr val="21295C"/>
                </a:solidFill>
                <a:latin typeface="Arial"/>
              </a:rPr>
              <a:t> инфильтрат или затемнение — 266 из 290 случаев.</a:t>
            </a:r>
          </a:p>
        </p:txBody>
      </p:sp>
      <p:sp>
        <p:nvSpPr>
          <p:cNvPr id="33" name="Rectangle 32"/>
          <p:cNvSpPr/>
          <p:nvPr/>
        </p:nvSpPr>
        <p:spPr>
          <a:xfrm>
            <a:off x="6091275" y="5219771"/>
            <a:ext cx="9144" cy="1002427"/>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1, цена: дешевле стало только потому, что половину не читает никто</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ЧТЕНИЕ ОДНОГО СНИМКА ЧЕЛОВЕКОМ: БЫЛО → СТАЛО</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132,98 → 155,62 руб.</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подорожало на каждом читаемом снимке; заключение модели — 6,9 руб.</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 ПЯТЬ МЕСЯЦЕВ: БЕЗ МОДЕЛИ → С МОДЕЛЬЮ</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76,5 → 43,1 млн руб.</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−43,7 процента, экономия 33,4 млн руб. по тарифам ОМС</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ПОЛОВИНА ПОТОКА — ЛЮДИ 18–44 ЛЕТ, И ПРОПУСКОВ У НИХ БОЛЬШЕ</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 против 7 на 10 тысяч</a:t>
            </a:r>
          </a:p>
        </p:txBody>
      </p:sp>
      <p:sp>
        <p:nvSpPr>
          <p:cNvPr id="15" name="TextBox 14"/>
          <p:cNvSpPr txBox="1"/>
          <p:nvPr/>
        </p:nvSpPr>
        <p:spPr>
          <a:xfrm>
            <a:off x="8207044"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155 898 из 315 491 «норм»</a:t>
            </a:r>
          </a:p>
        </p:txBody>
      </p:sp>
      <p:sp>
        <p:nvSpPr>
          <p:cNvPr id="16" name="TextBox 15"/>
          <p:cNvSpPr txBox="1"/>
          <p:nvPr/>
        </p:nvSpPr>
        <p:spPr>
          <a:xfrm>
            <a:off x="502920" y="3318128"/>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Откуда экономия</a:t>
            </a:r>
          </a:p>
        </p:txBody>
      </p:sp>
      <p:sp>
        <p:nvSpPr>
          <p:cNvPr id="17" name="Rounded Rectangle 16"/>
          <p:cNvSpPr/>
          <p:nvPr/>
        </p:nvSpPr>
        <p:spPr>
          <a:xfrm>
            <a:off x="1920240"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45 из ста читает врач — дороже прежнего</a:t>
            </a:r>
          </a:p>
        </p:txBody>
      </p:sp>
      <p:sp>
        <p:nvSpPr>
          <p:cNvPr id="19" name="Right Arrow 18"/>
          <p:cNvSpPr/>
          <p:nvPr/>
        </p:nvSpPr>
        <p:spPr>
          <a:xfrm>
            <a:off x="5039258" y="356949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55 из ста не читает никто</a:t>
            </a:r>
          </a:p>
        </p:txBody>
      </p:sp>
      <p:sp>
        <p:nvSpPr>
          <p:cNvPr id="22" name="Right Arrow 21"/>
          <p:cNvSpPr/>
          <p:nvPr/>
        </p:nvSpPr>
        <p:spPr>
          <a:xfrm>
            <a:off x="8386876" y="356949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 сумме −43,7%</a:t>
            </a:r>
          </a:p>
        </p:txBody>
      </p:sp>
      <p:sp>
        <p:nvSpPr>
          <p:cNvPr id="25" name="TextBox 24"/>
          <p:cNvSpPr txBox="1"/>
          <p:nvPr/>
        </p:nvSpPr>
        <p:spPr>
          <a:xfrm>
            <a:off x="502920" y="417747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пришлось сделать до</a:t>
            </a:r>
          </a:p>
        </p:txBody>
      </p:sp>
      <p:sp>
        <p:nvSpPr>
          <p:cNvPr id="26" name="Rounded Rectangle 25"/>
          <p:cNvSpPr/>
          <p:nvPr/>
        </p:nvSpPr>
        <p:spPr>
          <a:xfrm>
            <a:off x="1920240"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тарифного соглашения ОМС</a:t>
            </a:r>
          </a:p>
        </p:txBody>
      </p:sp>
      <p:sp>
        <p:nvSpPr>
          <p:cNvPr id="28" name="Right Arrow 27"/>
          <p:cNvSpPr/>
          <p:nvPr/>
        </p:nvSpPr>
        <p:spPr>
          <a:xfrm>
            <a:off x="5039258" y="442883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четыре новые услуги</a:t>
            </a:r>
          </a:p>
        </p:txBody>
      </p:sp>
      <p:sp>
        <p:nvSpPr>
          <p:cNvPr id="31" name="Right Arrow 30"/>
          <p:cNvSpPr/>
          <p:nvPr/>
        </p:nvSpPr>
        <p:spPr>
          <a:xfrm>
            <a:off x="8386876" y="442883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140898"/>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186618"/>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без неё платить за заключение модели нечем</a:t>
            </a:r>
          </a:p>
        </p:txBody>
      </p:sp>
      <p:sp>
        <p:nvSpPr>
          <p:cNvPr id="34" name="Rounded Rectangle 33"/>
          <p:cNvSpPr/>
          <p:nvPr/>
        </p:nvSpPr>
        <p:spPr>
          <a:xfrm>
            <a:off x="374904" y="4945380"/>
            <a:ext cx="11441887" cy="1290828"/>
          </a:xfrm>
          <a:prstGeom prst="roundRect">
            <a:avLst>
              <a:gd name="adj" fmla="val 23612"/>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036820"/>
            <a:ext cx="5373471" cy="1199388"/>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Выигрыш не в том, что чтение подешевело.</a:t>
            </a:r>
            <a:r>
              <a:rPr sz="1100" b="0" i="0">
                <a:solidFill>
                  <a:srgbClr val="21295C"/>
                </a:solidFill>
                <a:latin typeface="Arial"/>
              </a:rPr>
              <a:t> Один снимок у человека стал </a:t>
            </a:r>
            <a:r>
              <a:rPr sz="1100" b="1" i="0">
                <a:solidFill>
                  <a:srgbClr val="21295C"/>
                </a:solidFill>
                <a:latin typeface="Arial"/>
              </a:rPr>
              <a:t>дороже</a:t>
            </a:r>
            <a:r>
              <a:rPr sz="1100" b="0" i="0">
                <a:solidFill>
                  <a:srgbClr val="21295C"/>
                </a:solidFill>
                <a:latin typeface="Arial"/>
              </a:rPr>
              <a:t>: 155,62 руб. против 132,98. Экономия — целиком из тех 55 снимков из ста, которых не читает никто.</a:t>
            </a:r>
          </a:p>
        </p:txBody>
      </p:sp>
      <p:sp>
        <p:nvSpPr>
          <p:cNvPr id="36" name="TextBox 35"/>
          <p:cNvSpPr txBox="1"/>
          <p:nvPr/>
        </p:nvSpPr>
        <p:spPr>
          <a:xfrm>
            <a:off x="6278727" y="5036820"/>
            <a:ext cx="5373471" cy="1199388"/>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Слоя, который нашёл 290 пропусков, в штатной работе не будет:</a:t>
            </a:r>
            <a:r>
              <a:rPr sz="1100" b="0" i="0">
                <a:solidFill>
                  <a:srgbClr val="21295C"/>
                </a:solidFill>
                <a:latin typeface="Arial"/>
              </a:rPr>
              <a:t> все «нормы» перечитали люди по протоколу исследования. Доля останется, способ её увидеть — нет.</a:t>
            </a:r>
          </a:p>
          <a:p>
            <a:pPr algn="l">
              <a:lnSpc>
                <a:spcPct val="126000"/>
              </a:lnSpc>
              <a:spcBef>
                <a:spcPts val="720"/>
              </a:spcBef>
            </a:pPr>
            <a:r>
              <a:rPr sz="1100" b="0" i="0">
                <a:solidFill>
                  <a:srgbClr val="21295C"/>
                </a:solidFill>
                <a:latin typeface="Arial"/>
              </a:rPr>
              <a:t/>
            </a:r>
            <a:r>
              <a:rPr sz="1100" b="1" i="0">
                <a:solidFill>
                  <a:srgbClr val="21295C"/>
                </a:solidFill>
                <a:latin typeface="Arial"/>
              </a:rPr>
              <a:t>Дало:</a:t>
            </a:r>
            <a:r>
              <a:rPr sz="1100" b="0" i="0">
                <a:solidFill>
                  <a:srgbClr val="21295C"/>
                </a:solidFill>
                <a:latin typeface="Arial"/>
              </a:rPr>
              <a:t> −33,4 млн руб. за пять месяцев. </a:t>
            </a:r>
            <a:r>
              <a:rPr sz="1100" b="1" i="0">
                <a:solidFill>
                  <a:srgbClr val="21295C"/>
                </a:solidFill>
                <a:latin typeface="Arial"/>
              </a:rPr>
              <a:t>Потребовало:</a:t>
            </a:r>
            <a:r>
              <a:rPr sz="1100" b="0" i="0">
                <a:solidFill>
                  <a:srgbClr val="21295C"/>
                </a:solidFill>
                <a:latin typeface="Arial"/>
              </a:rPr>
              <a:t> 290 пропущенных находок и правку тарифного соглашения прежде работы.</a:t>
            </a:r>
          </a:p>
        </p:txBody>
      </p:sp>
      <p:sp>
        <p:nvSpPr>
          <p:cNvPr id="37" name="Rectangle 36"/>
          <p:cNvSpPr/>
          <p:nvPr/>
        </p:nvSpPr>
        <p:spPr>
          <a:xfrm>
            <a:off x="6091275" y="5036820"/>
            <a:ext cx="9144" cy="1180664"/>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Васильев и соавт., Digital Diagnostics 2025;6(1):5–22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2: Москва — кровоизлияние в череп, где автономию не дали</a:t>
            </a:r>
          </a:p>
        </p:txBody>
      </p:sp>
      <p:sp>
        <p:nvSpPr>
          <p:cNvPr id="4" name="Rounded Rectangle 3"/>
          <p:cNvSpPr/>
          <p:nvPr/>
        </p:nvSpPr>
        <p:spPr>
          <a:xfrm>
            <a:off x="502920" y="1335024"/>
            <a:ext cx="3618890" cy="2005069"/>
          </a:xfrm>
          <a:prstGeom prst="roundRect">
            <a:avLst>
              <a:gd name="adj" fmla="val 1520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3344570" cy="1055071"/>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смерть или необратимое поражение · напрасно развёрнутая бригада</a:t>
            </a:r>
          </a:p>
        </p:txBody>
      </p:sp>
      <p:sp>
        <p:nvSpPr>
          <p:cNvPr id="7" name="TextBox 6"/>
          <p:cNvSpPr txBox="1"/>
          <p:nvPr/>
        </p:nvSpPr>
        <p:spPr>
          <a:xfrm>
            <a:off x="640080" y="2780446"/>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идёт на минуты — времени на проверку тревоги нет</a:t>
            </a:r>
          </a:p>
        </p:txBody>
      </p:sp>
      <p:sp>
        <p:nvSpPr>
          <p:cNvPr id="8" name="Rounded Rectangle 7"/>
          <p:cNvSpPr/>
          <p:nvPr/>
        </p:nvSpPr>
        <p:spPr>
          <a:xfrm>
            <a:off x="4286402" y="1335024"/>
            <a:ext cx="3618890" cy="2005069"/>
          </a:xfrm>
          <a:prstGeom prst="roundRect">
            <a:avLst>
              <a:gd name="adj" fmla="val 15201"/>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ЛОЖНЫХ ТРЕВОГ НА 3 409 ТОМОГРАММАХ: МОДЕЛЬ ОДНА → ВРАЧ</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293 → 4</a:t>
            </a:r>
          </a:p>
        </p:txBody>
      </p:sp>
      <p:sp>
        <p:nvSpPr>
          <p:cNvPr id="11" name="TextBox 10"/>
          <p:cNvSpPr txBox="1"/>
          <p:nvPr/>
        </p:nvSpPr>
        <p:spPr>
          <a:xfrm>
            <a:off x="4423562" y="2359845"/>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73 раза больше; каждая двенадцатая томограмма пошла бы в экстренный путь напрасно</a:t>
            </a:r>
          </a:p>
        </p:txBody>
      </p:sp>
      <p:sp>
        <p:nvSpPr>
          <p:cNvPr id="12" name="Rounded Rectangle 11"/>
          <p:cNvSpPr/>
          <p:nvPr/>
        </p:nvSpPr>
        <p:spPr>
          <a:xfrm>
            <a:off x="8069884" y="1335024"/>
            <a:ext cx="3618890" cy="2005069"/>
          </a:xfrm>
          <a:prstGeom prst="roundRect">
            <a:avLst>
              <a:gd name="adj" fmla="val 1520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ПРОПУСКИ НЕ СОВПАЛИ НИ РАЗУ</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45 и 12</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все 45, пропущенные моделью, нашёл врач; все 12, пропущенные врачом, нашла модель</a:t>
            </a:r>
          </a:p>
        </p:txBody>
      </p:sp>
      <p:sp>
        <p:nvSpPr>
          <p:cNvPr id="16" name="TextBox 15"/>
          <p:cNvSpPr txBox="1"/>
          <p:nvPr/>
        </p:nvSpPr>
        <p:spPr>
          <a:xfrm>
            <a:off x="502920" y="355954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предлагали</a:t>
            </a:r>
          </a:p>
        </p:txBody>
      </p:sp>
      <p:sp>
        <p:nvSpPr>
          <p:cNvPr id="17" name="Rounded Rectangle 16"/>
          <p:cNvSpPr/>
          <p:nvPr/>
        </p:nvSpPr>
        <p:spPr>
          <a:xfrm>
            <a:off x="1920240" y="352297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6869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томограмма</a:t>
            </a:r>
          </a:p>
        </p:txBody>
      </p:sp>
      <p:sp>
        <p:nvSpPr>
          <p:cNvPr id="19" name="Right Arrow 18"/>
          <p:cNvSpPr/>
          <p:nvPr/>
        </p:nvSpPr>
        <p:spPr>
          <a:xfrm>
            <a:off x="5039258" y="381091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522973"/>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568693"/>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читает одна</a:t>
            </a:r>
          </a:p>
        </p:txBody>
      </p:sp>
      <p:sp>
        <p:nvSpPr>
          <p:cNvPr id="22" name="Right Arrow 21"/>
          <p:cNvSpPr/>
          <p:nvPr/>
        </p:nvSpPr>
        <p:spPr>
          <a:xfrm>
            <a:off x="8386876" y="381091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522973"/>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568693"/>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экстренный путь</a:t>
            </a:r>
          </a:p>
        </p:txBody>
      </p:sp>
      <p:sp>
        <p:nvSpPr>
          <p:cNvPr id="25" name="TextBox 24"/>
          <p:cNvSpPr txBox="1"/>
          <p:nvPr/>
        </p:nvSpPr>
        <p:spPr>
          <a:xfrm>
            <a:off x="502920" y="441889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вышло по замеру</a:t>
            </a:r>
          </a:p>
        </p:txBody>
      </p:sp>
      <p:sp>
        <p:nvSpPr>
          <p:cNvPr id="26" name="Rounded Rectangle 25"/>
          <p:cNvSpPr/>
          <p:nvPr/>
        </p:nvSpPr>
        <p:spPr>
          <a:xfrm>
            <a:off x="1920240" y="438231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42803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томограмма</a:t>
            </a:r>
          </a:p>
        </p:txBody>
      </p:sp>
      <p:sp>
        <p:nvSpPr>
          <p:cNvPr id="28" name="Right Arrow 27"/>
          <p:cNvSpPr/>
          <p:nvPr/>
        </p:nvSpPr>
        <p:spPr>
          <a:xfrm>
            <a:off x="5039258" y="4670260"/>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4382319"/>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4428039"/>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отмечает подозрение</a:t>
            </a:r>
          </a:p>
        </p:txBody>
      </p:sp>
      <p:sp>
        <p:nvSpPr>
          <p:cNvPr id="31" name="Right Arrow 30"/>
          <p:cNvSpPr/>
          <p:nvPr/>
        </p:nvSpPr>
        <p:spPr>
          <a:xfrm>
            <a:off x="8386876" y="4670260"/>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438231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442803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 и остаётся первым читателем</a:t>
            </a:r>
          </a:p>
        </p:txBody>
      </p:sp>
      <p:sp>
        <p:nvSpPr>
          <p:cNvPr id="34" name="Rounded Rectangle 33"/>
          <p:cNvSpPr/>
          <p:nvPr/>
        </p:nvSpPr>
        <p:spPr>
          <a:xfrm>
            <a:off x="374904" y="5186801"/>
            <a:ext cx="11441887" cy="104940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78241"/>
            <a:ext cx="11112703" cy="9579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Та же Москва, тот же круг сервисов — обратный ответ.</a:t>
            </a:r>
            <a:r>
              <a:rPr sz="1300" b="0" i="0">
                <a:solidFill>
                  <a:srgbClr val="21295C"/>
                </a:solidFill>
                <a:latin typeface="Arial"/>
              </a:rPr>
              <a:t> 3 409 томограмм головы, 67 клиник, 2022–2024; кровоизлияние у 1 101 человека.</a:t>
            </a:r>
          </a:p>
          <a:p>
            <a:pPr algn="l">
              <a:lnSpc>
                <a:spcPct val="126000"/>
              </a:lnSpc>
              <a:spcBef>
                <a:spcPts val="720"/>
              </a:spcBef>
            </a:pPr>
            <a:r>
              <a:rPr sz="1300" b="0" i="0">
                <a:solidFill>
                  <a:srgbClr val="21295C"/>
                </a:solidFill>
                <a:latin typeface="Arial"/>
              </a:rPr>
              <a:t/>
            </a:r>
            <a:r>
              <a:rPr sz="1300" b="1" i="0">
                <a:solidFill>
                  <a:srgbClr val="21295C"/>
                </a:solidFill>
                <a:latin typeface="Arial"/>
              </a:rPr>
              <a:t>Читается не по долям, а по счёту.</a:t>
            </a:r>
            <a:r>
              <a:rPr sz="1300" b="0" i="0">
                <a:solidFill>
                  <a:srgbClr val="21295C"/>
                </a:solidFill>
                <a:latin typeface="Arial"/>
              </a:rPr>
              <a:t> Из ста больных модель находит 96, врач 99. Ложных тревог: </a:t>
            </a:r>
            <a:r>
              <a:rPr sz="1300" b="1" i="0">
                <a:solidFill>
                  <a:srgbClr val="21295C"/>
                </a:solidFill>
                <a:latin typeface="Arial"/>
              </a:rPr>
              <a:t>293 против 4</a:t>
            </a:r>
            <a:r>
              <a:rPr sz="1300" b="0" i="0">
                <a:solidFill>
                  <a:srgbClr val="21295C"/>
                </a:solidFill>
                <a:latin typeface="Arial"/>
              </a:rPr>
              <a:t>.</a:t>
            </a:r>
          </a:p>
          <a:p>
            <a:pPr algn="l">
              <a:lnSpc>
                <a:spcPct val="126000"/>
              </a:lnSpc>
              <a:spcBef>
                <a:spcPts val="720"/>
              </a:spcBef>
            </a:pPr>
            <a:r>
              <a:rPr sz="1300" b="0" i="0">
                <a:solidFill>
                  <a:srgbClr val="21295C"/>
                </a:solidFill>
                <a:latin typeface="Arial"/>
              </a:rPr>
              <a:t/>
            </a:r>
            <a:r>
              <a:rPr sz="1300" b="1" i="0">
                <a:solidFill>
                  <a:srgbClr val="21295C"/>
                </a:solidFill>
                <a:latin typeface="Arial"/>
              </a:rPr>
              <a:t>Оговорка.</a:t>
            </a:r>
            <a:r>
              <a:rPr sz="1300" b="0" i="0">
                <a:solidFill>
                  <a:srgbClr val="21295C"/>
                </a:solidFill>
                <a:latin typeface="Arial"/>
              </a:rPr>
              <a:t> Врач здесь работал </a:t>
            </a:r>
            <a:r>
              <a:rPr sz="1300" b="1" i="0">
                <a:solidFill>
                  <a:srgbClr val="21295C"/>
                </a:solidFill>
                <a:latin typeface="Arial"/>
              </a:rPr>
              <a:t>с подсказкой модели</a:t>
            </a:r>
            <a:r>
              <a:rPr sz="1300" b="0" i="0">
                <a:solidFill>
                  <a:srgbClr val="21295C"/>
                </a:solidFill>
                <a:latin typeface="Arial"/>
              </a:rPr>
              <a:t>; измерения «врач без подсказки» в работе нет.</a:t>
            </a:r>
          </a:p>
        </p:txBody>
      </p:sp>
      <p:sp>
        <p:nvSpPr>
          <p:cNvPr id="36" name="Rectangle 3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Хоружая и соавт., Journal of Clinical Medicine 2025;14(16):5700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3: Таиланд — чтение глазного дна в кабинете первичного звена</a:t>
            </a:r>
          </a:p>
        </p:txBody>
      </p:sp>
      <p:sp>
        <p:nvSpPr>
          <p:cNvPr id="4" name="Rounded Rectangle 3"/>
          <p:cNvSpPr/>
          <p:nvPr/>
        </p:nvSpPr>
        <p:spPr>
          <a:xfrm>
            <a:off x="502920" y="1335024"/>
            <a:ext cx="5510631"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5236311"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потеря зрения · визит к офтальмологу, которого нет</a:t>
            </a:r>
          </a:p>
        </p:txBody>
      </p:sp>
      <p:sp>
        <p:nvSpPr>
          <p:cNvPr id="7" name="TextBox 6"/>
          <p:cNvSpPr txBox="1"/>
          <p:nvPr/>
        </p:nvSpPr>
        <p:spPr>
          <a:xfrm>
            <a:off x="640080" y="2542797"/>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денежных оценок для этой страны нет</a:t>
            </a:r>
          </a:p>
        </p:txBody>
      </p:sp>
      <p:sp>
        <p:nvSpPr>
          <p:cNvPr id="8" name="Rounded Rectangle 7"/>
          <p:cNvSpPr/>
          <p:nvPr/>
        </p:nvSpPr>
        <p:spPr>
          <a:xfrm>
            <a:off x="6178143" y="1335024"/>
            <a:ext cx="5510631"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СНИМОК ОТКЛОНЁН ПО КАЧЕСТВУ → ПОВТОРНЫЙ ВИЗИТ</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21 из ста</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393 из 1 838 за первые полгода</a:t>
            </a:r>
          </a:p>
        </p:txBody>
      </p:sp>
      <p:sp>
        <p:nvSpPr>
          <p:cNvPr id="12" name="TextBox 11"/>
          <p:cNvSpPr txBox="1"/>
          <p:nvPr/>
        </p:nvSpPr>
        <p:spPr>
          <a:xfrm>
            <a:off x="502920" y="3110657"/>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3" name="Rounded Rectangle 12"/>
          <p:cNvSpPr/>
          <p:nvPr/>
        </p:nvSpPr>
        <p:spPr>
          <a:xfrm>
            <a:off x="1920240"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 к специалисту</a:t>
            </a:r>
          </a:p>
        </p:txBody>
      </p:sp>
      <p:sp>
        <p:nvSpPr>
          <p:cNvPr id="15" name="Right Arrow 14"/>
          <p:cNvSpPr/>
          <p:nvPr/>
        </p:nvSpPr>
        <p:spPr>
          <a:xfrm>
            <a:off x="5039258" y="3362022"/>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ожидание визита</a:t>
            </a:r>
          </a:p>
        </p:txBody>
      </p:sp>
      <p:sp>
        <p:nvSpPr>
          <p:cNvPr id="18" name="Right Arrow 17"/>
          <p:cNvSpPr/>
          <p:nvPr/>
        </p:nvSpPr>
        <p:spPr>
          <a:xfrm>
            <a:off x="8386876" y="3362022"/>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074081"/>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19801"/>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 специалистом</a:t>
            </a:r>
          </a:p>
        </p:txBody>
      </p:sp>
      <p:sp>
        <p:nvSpPr>
          <p:cNvPr id="21" name="TextBox 20"/>
          <p:cNvSpPr txBox="1"/>
          <p:nvPr/>
        </p:nvSpPr>
        <p:spPr>
          <a:xfrm>
            <a:off x="502920" y="3970002"/>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3933426"/>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979146"/>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у медсестры/техника</a:t>
            </a:r>
          </a:p>
        </p:txBody>
      </p:sp>
      <p:sp>
        <p:nvSpPr>
          <p:cNvPr id="24" name="Right Arrow 23"/>
          <p:cNvSpPr/>
          <p:nvPr/>
        </p:nvSpPr>
        <p:spPr>
          <a:xfrm>
            <a:off x="5039258" y="4221367"/>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3933426"/>
            <a:ext cx="3073298"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3979146"/>
            <a:ext cx="2908706"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автономное чтение</a:t>
            </a:r>
          </a:p>
        </p:txBody>
      </p:sp>
      <p:sp>
        <p:nvSpPr>
          <p:cNvPr id="27" name="Right Arrow 26"/>
          <p:cNvSpPr/>
          <p:nvPr/>
        </p:nvSpPr>
        <p:spPr>
          <a:xfrm>
            <a:off x="8386876" y="4221367"/>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3933426"/>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3979146"/>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направление / отрицательно / отказ по качеству</a:t>
            </a:r>
          </a:p>
        </p:txBody>
      </p:sp>
      <p:sp>
        <p:nvSpPr>
          <p:cNvPr id="30" name="Rounded Rectangle 29"/>
          <p:cNvSpPr/>
          <p:nvPr/>
        </p:nvSpPr>
        <p:spPr>
          <a:xfrm>
            <a:off x="374904" y="4737908"/>
            <a:ext cx="11441887" cy="1498299"/>
          </a:xfrm>
          <a:prstGeom prst="roundRect">
            <a:avLst>
              <a:gd name="adj" fmla="val 20343"/>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4829348"/>
            <a:ext cx="5373471" cy="140685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Чтение глазного дна в кабинете первичного звена.</a:t>
            </a:r>
            <a:r>
              <a:rPr sz="1200" b="0" i="0">
                <a:solidFill>
                  <a:srgbClr val="21295C"/>
                </a:solidFill>
                <a:latin typeface="Arial"/>
              </a:rPr>
              <a:t> Полгода, одиннадцать клиник Таиланда: медсёстры и техники снимали, система читала на месте меньше минуты и сама отклоняла негодное.</a:t>
            </a:r>
          </a:p>
        </p:txBody>
      </p:sp>
      <p:sp>
        <p:nvSpPr>
          <p:cNvPr id="32" name="TextBox 31"/>
          <p:cNvSpPr txBox="1"/>
          <p:nvPr/>
        </p:nvSpPr>
        <p:spPr>
          <a:xfrm>
            <a:off x="6278727" y="4829348"/>
            <a:ext cx="5373471" cy="140685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Устроено.</a:t>
            </a:r>
            <a:r>
              <a:rPr sz="1200" b="0" i="0">
                <a:solidFill>
                  <a:srgbClr val="21295C"/>
                </a:solidFill>
                <a:latin typeface="Arial"/>
              </a:rPr>
              <a:t> Обучено на отобранных по качеству снимках; в поле отбор делает человек без правила. Имени системы не называют. </a:t>
            </a:r>
            <a:r>
              <a:rPr sz="1200" b="1" i="0">
                <a:solidFill>
                  <a:srgbClr val="21295C"/>
                </a:solidFill>
                <a:latin typeface="Arial"/>
              </a:rPr>
              <a:t>Причины отказов:</a:t>
            </a:r>
            <a:r>
              <a:rPr sz="1200" b="0" i="0">
                <a:solidFill>
                  <a:srgbClr val="21295C"/>
                </a:solidFill>
                <a:latin typeface="Arial"/>
              </a:rPr>
              <a:t> освещение, медленная связь.</a:t>
            </a:r>
          </a:p>
          <a:p>
            <a:pPr algn="l">
              <a:lnSpc>
                <a:spcPct val="126000"/>
              </a:lnSpc>
              <a:spcBef>
                <a:spcPts val="720"/>
              </a:spcBef>
            </a:pPr>
            <a:r>
              <a:rPr sz="1200" b="0" i="0">
                <a:solidFill>
                  <a:srgbClr val="21295C"/>
                </a:solidFill>
                <a:latin typeface="Arial"/>
              </a:rPr>
              <a:t/>
            </a:r>
            <a:r>
              <a:rPr sz="1200" b="1" i="0">
                <a:solidFill>
                  <a:srgbClr val="21295C"/>
                </a:solidFill>
                <a:latin typeface="Arial"/>
              </a:rPr>
              <a:t>Провалилось развёртывание, чтение сработало.</a:t>
            </a:r>
            <a:r>
              <a:rPr sz="1200" b="0" i="0">
                <a:solidFill>
                  <a:srgbClr val="21295C"/>
                </a:solidFill>
                <a:latin typeface="Arial"/>
              </a:rPr>
              <a:t> </a:t>
            </a:r>
            <a:r>
              <a:rPr sz="1200" b="0" i="1">
                <a:solidFill>
                  <a:srgbClr val="21295C"/>
                </a:solidFill>
                <a:latin typeface="Arial"/>
              </a:rPr>
              <a:t>Полевое наблюдение, измерено однажды; сопоставляются порядки, не выборки.</a:t>
            </a:r>
          </a:p>
        </p:txBody>
      </p:sp>
      <p:sp>
        <p:nvSpPr>
          <p:cNvPr id="33" name="Rectangle 32"/>
          <p:cNvSpPr/>
          <p:nvPr/>
        </p:nvSpPr>
        <p:spPr>
          <a:xfrm>
            <a:off x="6091275" y="4829348"/>
            <a:ext cx="9144" cy="1279684"/>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Beede и соавт., CHI 2020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кожа и состав набора</a:t>
            </a:r>
          </a:p>
        </p:txBody>
      </p:sp>
      <p:sp>
        <p:nvSpPr>
          <p:cNvPr id="4" name="Rounded Rectangle 3"/>
          <p:cNvSpPr/>
          <p:nvPr/>
        </p:nvSpPr>
        <p:spPr>
          <a:xfrm>
            <a:off x="502920" y="1335024"/>
            <a:ext cx="3618890" cy="2214426"/>
          </a:xfrm>
          <a:prstGeom prst="roundRect">
            <a:avLst>
              <a:gd name="adj" fmla="val 137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лечение на поздней стадии · биопсия и рубец</a:t>
            </a:r>
          </a:p>
        </p:txBody>
      </p:sp>
      <p:sp>
        <p:nvSpPr>
          <p:cNvPr id="7" name="Rounded Rectangle 6"/>
          <p:cNvSpPr/>
          <p:nvPr/>
        </p:nvSpPr>
        <p:spPr>
          <a:xfrm>
            <a:off x="4286402" y="1335024"/>
            <a:ext cx="3618890" cy="2214426"/>
          </a:xfrm>
          <a:prstGeom prst="roundRect">
            <a:avLst>
              <a:gd name="adj" fmla="val 137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БОЛЬНЫХ НАХОДЯТ: ГЛАЗОМ → ЧЕРЕЗ ЛУПУ С ПОДСВЕТКОЙ</a:t>
            </a:r>
          </a:p>
        </p:txBody>
      </p:sp>
      <p:sp>
        <p:nvSpPr>
          <p:cNvPr id="9" name="TextBox 8"/>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86 → 91</a:t>
            </a:r>
          </a:p>
        </p:txBody>
      </p:sp>
      <p:sp>
        <p:nvSpPr>
          <p:cNvPr id="10" name="TextBox 9"/>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ста здоровых пугают напрасно 23 → 26; один метаанализ</a:t>
            </a:r>
          </a:p>
        </p:txBody>
      </p:sp>
      <p:sp>
        <p:nvSpPr>
          <p:cNvPr id="11" name="Rounded Rectangle 10"/>
          <p:cNvSpPr/>
          <p:nvPr/>
        </p:nvSpPr>
        <p:spPr>
          <a:xfrm>
            <a:off x="8069884" y="1335024"/>
            <a:ext cx="3618890" cy="2214426"/>
          </a:xfrm>
          <a:prstGeom prst="roundRect">
            <a:avLst>
              <a:gd name="adj" fmla="val 13764"/>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8207044"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НАСКОЛЬКО ХУЖЕ МОДЕЛЬ РАЗЛИЧАЕТ БОЛЬНОГО И ЗДОРОВОГО НА ТЁМНОЙ КОЖЕ</a:t>
            </a:r>
          </a:p>
        </p:txBody>
      </p:sp>
      <p:sp>
        <p:nvSpPr>
          <p:cNvPr id="13" name="TextBox 12"/>
          <p:cNvSpPr txBox="1"/>
          <p:nvPr/>
        </p:nvSpPr>
        <p:spPr>
          <a:xfrm>
            <a:off x="8207044" y="2140317"/>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9–15 из 100</a:t>
            </a:r>
          </a:p>
        </p:txBody>
      </p:sp>
      <p:sp>
        <p:nvSpPr>
          <p:cNvPr id="14" name="TextBox 13"/>
          <p:cNvSpPr txBox="1"/>
          <p:nvPr/>
        </p:nvSpPr>
        <p:spPr>
          <a:xfrm>
            <a:off x="8207044" y="2567316"/>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50 — монетка, 100 — без промаха. Три модели, 656 изображений с подтверждённым диагнозом: 208 светлых · 241 средних · 207 тёмных</a:t>
            </a:r>
          </a:p>
        </p:txBody>
      </p:sp>
      <p:sp>
        <p:nvSpPr>
          <p:cNvPr id="15" name="TextBox 14"/>
          <p:cNvSpPr txBox="1"/>
          <p:nvPr/>
        </p:nvSpPr>
        <p:spPr>
          <a:xfrm>
            <a:off x="502920" y="376890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6" name="Rounded Rectangle 15"/>
          <p:cNvSpPr/>
          <p:nvPr/>
        </p:nvSpPr>
        <p:spPr>
          <a:xfrm>
            <a:off x="1920240" y="373233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77805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осмотр глазом / дермоскопия</a:t>
            </a:r>
          </a:p>
        </p:txBody>
      </p:sp>
      <p:sp>
        <p:nvSpPr>
          <p:cNvPr id="18" name="Right Arrow 17"/>
          <p:cNvSpPr/>
          <p:nvPr/>
        </p:nvSpPr>
        <p:spPr>
          <a:xfrm>
            <a:off x="6713067" y="3901447"/>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6941667" y="3732330"/>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7023963" y="3778050"/>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к врачу или нет</a:t>
            </a:r>
          </a:p>
        </p:txBody>
      </p:sp>
      <p:sp>
        <p:nvSpPr>
          <p:cNvPr id="21" name="TextBox 20"/>
          <p:cNvSpPr txBox="1"/>
          <p:nvPr/>
        </p:nvSpPr>
        <p:spPr>
          <a:xfrm>
            <a:off x="502920" y="439060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2" name="Rounded Rectangle 21"/>
          <p:cNvSpPr/>
          <p:nvPr/>
        </p:nvSpPr>
        <p:spPr>
          <a:xfrm>
            <a:off x="1920240" y="435402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39974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телефоном/камерой</a:t>
            </a:r>
          </a:p>
        </p:txBody>
      </p:sp>
      <p:sp>
        <p:nvSpPr>
          <p:cNvPr id="24" name="Right Arrow 23"/>
          <p:cNvSpPr/>
          <p:nvPr/>
        </p:nvSpPr>
        <p:spPr>
          <a:xfrm>
            <a:off x="5039258" y="4523144"/>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5267858" y="4354027"/>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6" name="TextBox 25"/>
          <p:cNvSpPr txBox="1"/>
          <p:nvPr/>
        </p:nvSpPr>
        <p:spPr>
          <a:xfrm>
            <a:off x="5350154" y="4399747"/>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a:t>
            </a:r>
          </a:p>
        </p:txBody>
      </p:sp>
      <p:sp>
        <p:nvSpPr>
          <p:cNvPr id="27" name="Right Arrow 26"/>
          <p:cNvSpPr/>
          <p:nvPr/>
        </p:nvSpPr>
        <p:spPr>
          <a:xfrm>
            <a:off x="8386876" y="452314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8615476" y="435402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8697772" y="439974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показать врачу или нет</a:t>
            </a:r>
          </a:p>
        </p:txBody>
      </p:sp>
      <p:sp>
        <p:nvSpPr>
          <p:cNvPr id="30" name="Rounded Rectangle 29"/>
          <p:cNvSpPr/>
          <p:nvPr/>
        </p:nvSpPr>
        <p:spPr>
          <a:xfrm>
            <a:off x="374904" y="4920860"/>
            <a:ext cx="11441887" cy="1315347"/>
          </a:xfrm>
          <a:prstGeom prst="roundRect">
            <a:avLst>
              <a:gd name="adj" fmla="val 23172"/>
            </a:avLst>
          </a:prstGeom>
          <a:solidFill>
            <a:srgbClr val="F4F7FA"/>
          </a:solidFill>
          <a:ln w="19050">
            <a:solidFill>
              <a:srgbClr val="1C7293"/>
            </a:solidFill>
          </a:ln>
          <a:effectLst/>
        </p:spPr>
        <p:txBody>
          <a:bodyPr rtlCol="0" anchor="ctr"/>
          <a:lstStyle/>
          <a:p>
            <a:pPr algn="ctr"/>
          </a:p>
        </p:txBody>
      </p:sp>
      <p:sp>
        <p:nvSpPr>
          <p:cNvPr id="31" name="TextBox 30"/>
          <p:cNvSpPr txBox="1"/>
          <p:nvPr/>
        </p:nvSpPr>
        <p:spPr>
          <a:xfrm>
            <a:off x="539496" y="5012300"/>
            <a:ext cx="5373471" cy="122390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делали до модели.</a:t>
            </a:r>
            <a:r>
              <a:rPr sz="1400" b="0" i="0">
                <a:solidFill>
                  <a:srgbClr val="21295C"/>
                </a:solidFill>
                <a:latin typeface="Arial"/>
              </a:rPr>
              <a:t> Человек находит на коже образование и хочет знать, идти ли к врачу. Смотрел врач глазом, обученный специалист — через дермоскоп.</a:t>
            </a:r>
          </a:p>
        </p:txBody>
      </p:sp>
      <p:sp>
        <p:nvSpPr>
          <p:cNvPr id="32" name="TextBox 31"/>
          <p:cNvSpPr txBox="1"/>
          <p:nvPr/>
        </p:nvSpPr>
        <p:spPr>
          <a:xfrm>
            <a:off x="6278727" y="5012300"/>
            <a:ext cx="5373471" cy="1223907"/>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Устроено.</a:t>
            </a:r>
            <a:r>
              <a:rPr sz="1400" b="0" i="0">
                <a:solidFill>
                  <a:srgbClr val="21295C"/>
                </a:solidFill>
                <a:latin typeface="Arial"/>
              </a:rPr>
              <a:t> Три модели на одном проверочном наборе, светлые тона против тёмных. Наборы у трёх свои, тёмных тонов в них мало — в этом дело. </a:t>
            </a:r>
            <a:r>
              <a:rPr sz="1400" b="0" i="1">
                <a:solidFill>
                  <a:srgbClr val="21295C"/>
                </a:solidFill>
                <a:latin typeface="Arial"/>
              </a:rPr>
              <a:t>Классификация на изображении.</a:t>
            </a:r>
          </a:p>
          <a:p>
            <a:pPr algn="l">
              <a:lnSpc>
                <a:spcPct val="126000"/>
              </a:lnSpc>
              <a:spcBef>
                <a:spcPts val="720"/>
              </a:spcBef>
            </a:pPr>
            <a:r>
              <a:rPr sz="1150" b="0" i="0">
                <a:solidFill>
                  <a:srgbClr val="21295C"/>
                </a:solidFill>
                <a:latin typeface="Arial"/>
              </a:rPr>
              <a:t/>
            </a:r>
            <a:r>
              <a:rPr sz="1150" b="0" i="1">
                <a:solidFill>
                  <a:srgbClr val="1C7293"/>
                </a:solidFill>
                <a:latin typeface="Arial"/>
              </a:rPr>
              <a:t>Классические режимы — из одного метаанализа прямого сравнения.</a:t>
            </a:r>
          </a:p>
        </p:txBody>
      </p:sp>
      <p:sp>
        <p:nvSpPr>
          <p:cNvPr id="33" name="Rectangle 32"/>
          <p:cNvSpPr/>
          <p:nvPr/>
        </p:nvSpPr>
        <p:spPr>
          <a:xfrm>
            <a:off x="6091275" y="5012300"/>
            <a:ext cx="9144" cy="1150958"/>
          </a:xfrm>
          <a:prstGeom prst="rect">
            <a:avLst/>
          </a:prstGeom>
          <a:solidFill>
            <a:srgbClr val="D9E2EC"/>
          </a:solidFill>
          <a:ln>
            <a:noFill/>
          </a:ln>
          <a:effectLst/>
        </p:spPr>
        <p:txBody>
          <a:bodyPr rtlCol="0" anchor="ctr"/>
          <a:lstStyle/>
          <a:p>
            <a:pPr algn="ctr"/>
          </a:p>
        </p:txBody>
      </p:sp>
      <p:sp>
        <p:nvSpPr>
          <p:cNvPr id="34" name="Rectangle 3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5" name="TextBox 3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Daneshjou и соавт., Science Advances 2022</a:t>
            </a:r>
            <a:r>
              <a:rPr sz="1200" b="0" i="1">
                <a:solidFill>
                  <a:srgbClr val="1C7293"/>
                </a:solidFill>
                <a:latin typeface="Arial"/>
              </a:rPr>
              <a:t> · </a:t>
            </a:r>
            <a:r>
              <a:rPr sz="1200" b="0" i="1" u="sng">
                <a:solidFill>
                  <a:srgbClr val="065A82"/>
                </a:solidFill>
                <a:latin typeface="Arial"/>
                <a:hlinkClick r:id="rId3"/>
              </a:rPr>
              <a:t>Vestergaard и соавт., British Journal of Dermatology 2008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4, цена: разрыв лечит состав данных</a:t>
            </a:r>
          </a:p>
        </p:txBody>
      </p:sp>
      <p:sp>
        <p:nvSpPr>
          <p:cNvPr id="4" name="Rounded Rectangle 3"/>
          <p:cNvSpPr/>
          <p:nvPr/>
        </p:nvSpPr>
        <p:spPr>
          <a:xfrm>
            <a:off x="502920"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ДОУЧИЛИ НА НАБОРЕ, ГДЕ ТЁМНЫХ ТОНОВ ПОРОВНУ</a:t>
            </a:r>
          </a:p>
        </p:txBody>
      </p:sp>
      <p:sp>
        <p:nvSpPr>
          <p:cNvPr id="6" name="TextBox 5"/>
          <p:cNvSpPr txBox="1"/>
          <p:nvPr/>
        </p:nvSpPr>
        <p:spPr>
          <a:xfrm>
            <a:off x="640080" y="1932846"/>
            <a:ext cx="2398699" cy="749522"/>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светлые 73 · тёмные 76 из 100</a:t>
            </a:r>
          </a:p>
        </p:txBody>
      </p:sp>
      <p:sp>
        <p:nvSpPr>
          <p:cNvPr id="7" name="TextBox 6"/>
          <p:cNvSpPr txBox="1"/>
          <p:nvPr/>
        </p:nvSpPr>
        <p:spPr>
          <a:xfrm>
            <a:off x="640080" y="2682369"/>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не исчез, а перевернулся; лечит сбор и разметка, не алгоритм</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ТРИ АЛГОРИТМИЧЕСКИХ МЕТОДА ПРОТИВ СМЕЩЕНИЯ</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разрыв не уменьшили</a:t>
            </a:r>
          </a:p>
        </p:txBody>
      </p:sp>
      <p:sp>
        <p:nvSpPr>
          <p:cNvPr id="11" name="TextBox 10"/>
          <p:cNvSpPr txBox="1"/>
          <p:nvPr/>
        </p:nvSpPr>
        <p:spPr>
          <a:xfrm>
            <a:off x="3477691"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работа, те же данные</a:t>
            </a:r>
          </a:p>
        </p:txBody>
      </p:sp>
      <p:sp>
        <p:nvSpPr>
          <p:cNvPr id="12" name="Rounded Rectangle 11"/>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КЛАССИЧЕСКИХ МЕТОДОВ РАЗРЫВ</a:t>
            </a:r>
          </a:p>
        </p:txBody>
      </p:sp>
      <p:sp>
        <p:nvSpPr>
          <p:cNvPr id="14" name="TextBox 13"/>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вовсе</a:t>
            </a:r>
          </a:p>
        </p:txBody>
      </p:sp>
      <p:sp>
        <p:nvSpPr>
          <p:cNvPr id="15" name="TextBox 14"/>
          <p:cNvSpPr txBox="1"/>
          <p:nvPr/>
        </p:nvSpPr>
        <p:spPr>
          <a:xfrm>
            <a:off x="6315303"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тону кожи точность не разбивает ни метаанализ, ни обзоры</a:t>
            </a:r>
          </a:p>
        </p:txBody>
      </p:sp>
      <p:sp>
        <p:nvSpPr>
          <p:cNvPr id="16" name="Rounded Rectangle 15"/>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 → ПОТРЕБОВАЛО</a:t>
            </a:r>
          </a:p>
        </p:txBody>
      </p:sp>
      <p:sp>
        <p:nvSpPr>
          <p:cNvPr id="18" name="TextBox 17"/>
          <p:cNvSpPr txBox="1"/>
          <p:nvPr/>
        </p:nvSpPr>
        <p:spPr>
          <a:xfrm>
            <a:off x="9152915" y="1725375"/>
            <a:ext cx="2398699" cy="673135"/>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оценку там, где дерматолога нет → набор под состав тех, на ком работает</a:t>
            </a:r>
          </a:p>
        </p:txBody>
      </p:sp>
      <p:sp>
        <p:nvSpPr>
          <p:cNvPr id="19" name="TextBox 18"/>
          <p:cNvSpPr txBox="1"/>
          <p:nvPr/>
        </p:nvSpPr>
        <p:spPr>
          <a:xfrm>
            <a:off x="9152915" y="239851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сумме: средняя держится, цена — на подгруппе</a:t>
            </a:r>
          </a:p>
        </p:txBody>
      </p:sp>
      <p:sp>
        <p:nvSpPr>
          <p:cNvPr id="20" name="TextBox 19"/>
          <p:cNvSpPr txBox="1"/>
          <p:nvPr/>
        </p:nvSpPr>
        <p:spPr>
          <a:xfrm>
            <a:off x="502920" y="374061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Коррекция алгоритмом</a:t>
            </a:r>
          </a:p>
        </p:txBody>
      </p:sp>
      <p:sp>
        <p:nvSpPr>
          <p:cNvPr id="21" name="Rounded Rectangle 20"/>
          <p:cNvSpPr/>
          <p:nvPr/>
        </p:nvSpPr>
        <p:spPr>
          <a:xfrm>
            <a:off x="1920240" y="3704039"/>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749759"/>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алгоритмическая коррекция</a:t>
            </a:r>
          </a:p>
        </p:txBody>
      </p:sp>
      <p:sp>
        <p:nvSpPr>
          <p:cNvPr id="23" name="Right Arrow 22"/>
          <p:cNvSpPr/>
          <p:nvPr/>
        </p:nvSpPr>
        <p:spPr>
          <a:xfrm>
            <a:off x="6713067" y="3873155"/>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6941667" y="3704039"/>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7023963" y="3749759"/>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разрыв не уменьшился</a:t>
            </a:r>
          </a:p>
        </p:txBody>
      </p:sp>
      <p:sp>
        <p:nvSpPr>
          <p:cNvPr id="26" name="TextBox 25"/>
          <p:cNvSpPr txBox="1"/>
          <p:nvPr/>
        </p:nvSpPr>
        <p:spPr>
          <a:xfrm>
            <a:off x="502920" y="4362312"/>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Состав данных</a:t>
            </a:r>
          </a:p>
        </p:txBody>
      </p:sp>
      <p:sp>
        <p:nvSpPr>
          <p:cNvPr id="27" name="Rounded Rectangle 26"/>
          <p:cNvSpPr/>
          <p:nvPr/>
        </p:nvSpPr>
        <p:spPr>
          <a:xfrm>
            <a:off x="1920240" y="4325736"/>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2002536" y="4371456"/>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дообучение на представительном наборе</a:t>
            </a:r>
          </a:p>
        </p:txBody>
      </p:sp>
      <p:sp>
        <p:nvSpPr>
          <p:cNvPr id="29" name="Right Arrow 28"/>
          <p:cNvSpPr/>
          <p:nvPr/>
        </p:nvSpPr>
        <p:spPr>
          <a:xfrm>
            <a:off x="6713067" y="4494852"/>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6941667" y="4325736"/>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7023963" y="4371456"/>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разрыв снят</a:t>
            </a:r>
          </a:p>
        </p:txBody>
      </p:sp>
      <p:sp>
        <p:nvSpPr>
          <p:cNvPr id="32" name="TextBox 31"/>
          <p:cNvSpPr txBox="1"/>
          <p:nvPr/>
        </p:nvSpPr>
        <p:spPr>
          <a:xfrm>
            <a:off x="502920" y="483770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двух путей против смещения сработал один, и это не выбор метода</a:t>
            </a:r>
          </a:p>
        </p:txBody>
      </p:sp>
      <p:sp>
        <p:nvSpPr>
          <p:cNvPr id="33" name="Rounded Rectangle 32"/>
          <p:cNvSpPr/>
          <p:nvPr/>
        </p:nvSpPr>
        <p:spPr>
          <a:xfrm>
            <a:off x="374904" y="5140388"/>
            <a:ext cx="11441887" cy="1095819"/>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4" name="TextBox 33"/>
          <p:cNvSpPr txBox="1"/>
          <p:nvPr/>
        </p:nvSpPr>
        <p:spPr>
          <a:xfrm>
            <a:off x="539496" y="5231828"/>
            <a:ext cx="5373471" cy="10043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Что переехало.</a:t>
            </a:r>
            <a:r>
              <a:rPr sz="1500" b="0" i="0">
                <a:solidFill>
                  <a:srgbClr val="21295C"/>
                </a:solidFill>
                <a:latin typeface="Arial"/>
              </a:rPr>
              <a:t> Сместилась цена ошибки: средняя по набору осталась приличной, а платит подгруппа, которой в обучающем наборе было мало.</a:t>
            </a:r>
          </a:p>
        </p:txBody>
      </p:sp>
      <p:sp>
        <p:nvSpPr>
          <p:cNvPr id="35" name="TextBox 34"/>
          <p:cNvSpPr txBox="1"/>
          <p:nvPr/>
        </p:nvSpPr>
        <p:spPr>
          <a:xfrm>
            <a:off x="6278727" y="5231828"/>
            <a:ext cx="5373471" cy="100437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Отсутствие замера равенства не доказывает.</a:t>
            </a:r>
          </a:p>
          <a:p>
            <a:pPr algn="l">
              <a:lnSpc>
                <a:spcPct val="126000"/>
              </a:lnSpc>
              <a:spcBef>
                <a:spcPts val="720"/>
              </a:spcBef>
            </a:pPr>
            <a:r>
              <a:rPr sz="1200" b="0" i="0">
                <a:solidFill>
                  <a:srgbClr val="21295C"/>
                </a:solidFill>
                <a:latin typeface="Arial"/>
              </a:rPr>
              <a:t/>
            </a:r>
            <a:r>
              <a:rPr sz="1200" b="0" i="1">
                <a:solidFill>
                  <a:srgbClr val="1C7293"/>
                </a:solidFill>
                <a:latin typeface="Arial"/>
              </a:rPr>
              <a:t>Исправление измерено в той же работе; в настоящем кабинете — ни одну из трёх.</a:t>
            </a:r>
          </a:p>
        </p:txBody>
      </p:sp>
      <p:sp>
        <p:nvSpPr>
          <p:cNvPr id="36" name="Rectangle 35"/>
          <p:cNvSpPr/>
          <p:nvPr/>
        </p:nvSpPr>
        <p:spPr>
          <a:xfrm>
            <a:off x="6091275" y="5231828"/>
            <a:ext cx="9144" cy="891183"/>
          </a:xfrm>
          <a:prstGeom prst="rect">
            <a:avLst/>
          </a:prstGeom>
          <a:solidFill>
            <a:srgbClr val="D9E2EC"/>
          </a:solidFill>
          <a:ln>
            <a:noFill/>
          </a:ln>
          <a:effectLst/>
        </p:spPr>
        <p:txBody>
          <a:bodyPr rtlCol="0" anchor="ctr"/>
          <a:lstStyle/>
          <a:p>
            <a:pPr algn="ctr"/>
          </a:p>
        </p:txBody>
      </p:sp>
      <p:sp>
        <p:nvSpPr>
          <p:cNvPr id="37" name="Rectangle 3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Daneshjou и соавт., Science Advances 2022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Пример 5: отбор в программу повышенного внимания — балл вместо решения врача</a:t>
            </a:r>
          </a:p>
        </p:txBody>
      </p:sp>
      <p:sp>
        <p:nvSpPr>
          <p:cNvPr id="4" name="Rounded Rectangle 3"/>
          <p:cNvSpPr/>
          <p:nvPr/>
        </p:nvSpPr>
        <p:spPr>
          <a:xfrm>
            <a:off x="502920" y="1335024"/>
            <a:ext cx="2673019" cy="2421898"/>
          </a:xfrm>
          <a:prstGeom prst="roundRect">
            <a:avLst>
              <a:gd name="adj" fmla="val 1258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ОБЕИХ ОШИБОК</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болезнь без присмотра · занятое место</a:t>
            </a:r>
          </a:p>
        </p:txBody>
      </p:sp>
      <p:sp>
        <p:nvSpPr>
          <p:cNvPr id="7" name="TextBox 6"/>
          <p:cNvSpPr txBox="1"/>
          <p:nvPr/>
        </p:nvSpPr>
        <p:spPr>
          <a:xfrm>
            <a:off x="640080"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координатора — кто-то третий не попал</a:t>
            </a:r>
          </a:p>
        </p:txBody>
      </p:sp>
      <p:sp>
        <p:nvSpPr>
          <p:cNvPr id="8" name="Rounded Rectangle 7"/>
          <p:cNvSpPr/>
          <p:nvPr/>
        </p:nvSpPr>
        <p:spPr>
          <a:xfrm>
            <a:off x="3340531" y="1335024"/>
            <a:ext cx="2673019" cy="2421898"/>
          </a:xfrm>
          <a:prstGeom prst="roundRect">
            <a:avLst>
              <a:gd name="adj" fmla="val 1258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ЧЕРНОКОЖИХ СРЕДИ ОТОБРАННЫХ: РЕШАЛ ВРАЧ → РЕШАЛ БАЛЛ</a:t>
            </a:r>
          </a:p>
        </p:txBody>
      </p:sp>
      <p:sp>
        <p:nvSpPr>
          <p:cNvPr id="10" name="TextBox 9"/>
          <p:cNvSpPr txBox="1"/>
          <p:nvPr/>
        </p:nvSpPr>
        <p:spPr>
          <a:xfrm>
            <a:off x="3477691"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19 → 17 из ста</a:t>
            </a:r>
          </a:p>
        </p:txBody>
      </p:sp>
      <p:sp>
        <p:nvSpPr>
          <p:cNvPr id="11" name="TextBox 10"/>
          <p:cNvSpPr txBox="1"/>
          <p:nvPr/>
        </p:nvSpPr>
        <p:spPr>
          <a:xfrm>
            <a:off x="3477691" y="2567316"/>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49 618 пациентов одной больницы, 2013–2015; одна выборка, оба режима на ней</a:t>
            </a:r>
          </a:p>
        </p:txBody>
      </p:sp>
      <p:sp>
        <p:nvSpPr>
          <p:cNvPr id="12" name="Rounded Rectangle 11"/>
          <p:cNvSpPr/>
          <p:nvPr/>
        </p:nvSpPr>
        <p:spPr>
          <a:xfrm>
            <a:off x="6178143" y="1335024"/>
            <a:ext cx="2673019" cy="2421898"/>
          </a:xfrm>
          <a:prstGeom prst="roundRect">
            <a:avLst>
              <a:gd name="adj" fmla="val 1258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 ОДИНАКОВОМ БАЛЛЕ У ЧЕРНОКОЖИХ ХРОНИЧЕСКИХ БОЛЕЗНЕЙ БОЛЬШЕ, ЧЕМ У БЕЛЫХ</a:t>
            </a:r>
          </a:p>
        </p:txBody>
      </p:sp>
      <p:sp>
        <p:nvSpPr>
          <p:cNvPr id="14" name="TextBox 13"/>
          <p:cNvSpPr txBox="1"/>
          <p:nvPr/>
        </p:nvSpPr>
        <p:spPr>
          <a:xfrm>
            <a:off x="6315303" y="2347789"/>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 26 из ста</a:t>
            </a:r>
          </a:p>
        </p:txBody>
      </p:sp>
      <p:sp>
        <p:nvSpPr>
          <p:cNvPr id="15" name="TextBox 14"/>
          <p:cNvSpPr txBox="1"/>
          <p:nvPr/>
        </p:nvSpPr>
        <p:spPr>
          <a:xfrm>
            <a:off x="6315303" y="2774788"/>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балл назвал одинаково здоровыми людей, здоровье которых различается; 100 009 пациенто-лет</a:t>
            </a:r>
          </a:p>
        </p:txBody>
      </p:sp>
      <p:sp>
        <p:nvSpPr>
          <p:cNvPr id="16" name="Rounded Rectangle 15"/>
          <p:cNvSpPr/>
          <p:nvPr/>
        </p:nvSpPr>
        <p:spPr>
          <a:xfrm>
            <a:off x="9015755" y="1335024"/>
            <a:ext cx="2673019" cy="2421898"/>
          </a:xfrm>
          <a:prstGeom prst="roundRect">
            <a:avLst>
              <a:gd name="adj" fmla="val 1258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ЕСЛИ БЫ БАЛЛ СЧИТАЛ БОЛЕЗНЬ, А НЕ РАСХОДЫ: ТА ЖЕ ДОЛЯ</a:t>
            </a:r>
          </a:p>
        </p:txBody>
      </p:sp>
      <p:sp>
        <p:nvSpPr>
          <p:cNvPr id="18" name="TextBox 17"/>
          <p:cNvSpPr txBox="1"/>
          <p:nvPr/>
        </p:nvSpPr>
        <p:spPr>
          <a:xfrm>
            <a:off x="9152915" y="2140317"/>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18 → 47 из ста</a:t>
            </a:r>
          </a:p>
        </p:txBody>
      </p:sp>
      <p:sp>
        <p:nvSpPr>
          <p:cNvPr id="19" name="TextBox 18"/>
          <p:cNvSpPr txBox="1"/>
          <p:nvPr/>
        </p:nvSpPr>
        <p:spPr>
          <a:xfrm>
            <a:off x="9152915" y="2567316"/>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расчёт авторов на тех же данных (17,7 → 46,5); это выкладка, а не внедрение — такого развёртывания не было</a:t>
            </a:r>
          </a:p>
        </p:txBody>
      </p:sp>
      <p:sp>
        <p:nvSpPr>
          <p:cNvPr id="20" name="TextBox 19"/>
          <p:cNvSpPr txBox="1"/>
          <p:nvPr/>
        </p:nvSpPr>
        <p:spPr>
          <a:xfrm>
            <a:off x="502920" y="397637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Врач (видел балл)</a:t>
            </a:r>
          </a:p>
        </p:txBody>
      </p:sp>
      <p:sp>
        <p:nvSpPr>
          <p:cNvPr id="21" name="Rounded Rectangle 20"/>
          <p:cNvSpPr/>
          <p:nvPr/>
        </p:nvSpPr>
        <p:spPr>
          <a:xfrm>
            <a:off x="1920240"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пациента</a:t>
            </a:r>
          </a:p>
        </p:txBody>
      </p:sp>
      <p:sp>
        <p:nvSpPr>
          <p:cNvPr id="23" name="Right Arrow 22"/>
          <p:cNvSpPr/>
          <p:nvPr/>
        </p:nvSpPr>
        <p:spPr>
          <a:xfrm>
            <a:off x="5039258" y="4108918"/>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5267858"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5350154"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подсказка: балл</a:t>
            </a:r>
          </a:p>
        </p:txBody>
      </p:sp>
      <p:sp>
        <p:nvSpPr>
          <p:cNvPr id="26" name="Right Arrow 25"/>
          <p:cNvSpPr/>
          <p:nvPr/>
        </p:nvSpPr>
        <p:spPr>
          <a:xfrm>
            <a:off x="8386876" y="4108918"/>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8615476" y="393980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8697772" y="398552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врача</a:t>
            </a:r>
          </a:p>
        </p:txBody>
      </p:sp>
      <p:sp>
        <p:nvSpPr>
          <p:cNvPr id="29" name="TextBox 28"/>
          <p:cNvSpPr txBox="1"/>
          <p:nvPr/>
        </p:nvSpPr>
        <p:spPr>
          <a:xfrm>
            <a:off x="502920" y="459807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Один балл</a:t>
            </a:r>
          </a:p>
        </p:txBody>
      </p:sp>
      <p:sp>
        <p:nvSpPr>
          <p:cNvPr id="30" name="Rounded Rectangle 29"/>
          <p:cNvSpPr/>
          <p:nvPr/>
        </p:nvSpPr>
        <p:spPr>
          <a:xfrm>
            <a:off x="1920240" y="456149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460721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 расходы</a:t>
            </a:r>
          </a:p>
        </p:txBody>
      </p:sp>
      <p:sp>
        <p:nvSpPr>
          <p:cNvPr id="32" name="Right Arrow 31"/>
          <p:cNvSpPr/>
          <p:nvPr/>
        </p:nvSpPr>
        <p:spPr>
          <a:xfrm>
            <a:off x="5039258" y="4730615"/>
            <a:ext cx="182880" cy="137160"/>
          </a:xfrm>
          <a:prstGeom prst="rightArrow">
            <a:avLst/>
          </a:prstGeom>
          <a:solidFill>
            <a:srgbClr val="1C7293"/>
          </a:solidFill>
          <a:ln>
            <a:noFill/>
          </a:ln>
          <a:effectLst/>
        </p:spPr>
        <p:txBody>
          <a:bodyPr rtlCol="0" anchor="ctr"/>
          <a:lstStyle/>
          <a:p>
            <a:pPr algn="ctr"/>
          </a:p>
        </p:txBody>
      </p:sp>
      <p:sp>
        <p:nvSpPr>
          <p:cNvPr id="33" name="Rounded Rectangle 32"/>
          <p:cNvSpPr/>
          <p:nvPr/>
        </p:nvSpPr>
        <p:spPr>
          <a:xfrm>
            <a:off x="5267858" y="456149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4" name="TextBox 33"/>
          <p:cNvSpPr txBox="1"/>
          <p:nvPr/>
        </p:nvSpPr>
        <p:spPr>
          <a:xfrm>
            <a:off x="5350154" y="460721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прогноз расходов</a:t>
            </a:r>
          </a:p>
        </p:txBody>
      </p:sp>
      <p:sp>
        <p:nvSpPr>
          <p:cNvPr id="35" name="Right Arrow 34"/>
          <p:cNvSpPr/>
          <p:nvPr/>
        </p:nvSpPr>
        <p:spPr>
          <a:xfrm>
            <a:off x="8386876" y="4730615"/>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8615476" y="456149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7" name="TextBox 36"/>
          <p:cNvSpPr txBox="1"/>
          <p:nvPr/>
        </p:nvSpPr>
        <p:spPr>
          <a:xfrm>
            <a:off x="8697772" y="460721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отбор по порогу</a:t>
            </a:r>
          </a:p>
        </p:txBody>
      </p:sp>
      <p:sp>
        <p:nvSpPr>
          <p:cNvPr id="38" name="Rounded Rectangle 37"/>
          <p:cNvSpPr/>
          <p:nvPr/>
        </p:nvSpPr>
        <p:spPr>
          <a:xfrm>
            <a:off x="374904" y="5128331"/>
            <a:ext cx="11441887" cy="110787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219771"/>
            <a:ext cx="5373471" cy="101643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Отбор в программу повышенного внимания.</a:t>
            </a:r>
            <a:r>
              <a:rPr sz="1250" b="0" i="0">
                <a:solidFill>
                  <a:srgbClr val="21295C"/>
                </a:solidFill>
                <a:latin typeface="Arial"/>
              </a:rPr>
              <a:t> Решал врач — стало решать одно число. </a:t>
            </a:r>
            <a:r>
              <a:rPr sz="1250" b="1" i="0">
                <a:solidFill>
                  <a:srgbClr val="21295C"/>
                </a:solidFill>
                <a:latin typeface="Arial"/>
              </a:rPr>
              <a:t>Обучено оно предсказывать будущие расходы на лечение</a:t>
            </a:r>
            <a:r>
              <a:rPr sz="1250" b="0" i="0">
                <a:solidFill>
                  <a:srgbClr val="21295C"/>
                </a:solidFill>
                <a:latin typeface="Arial"/>
              </a:rPr>
              <a:t>, а решение принималось о болезни: расходы отражают обращаемость, а она при одинаковом здоровье у групп разная.</a:t>
            </a:r>
          </a:p>
        </p:txBody>
      </p:sp>
      <p:sp>
        <p:nvSpPr>
          <p:cNvPr id="40" name="TextBox 39"/>
          <p:cNvSpPr txBox="1"/>
          <p:nvPr/>
        </p:nvSpPr>
        <p:spPr>
          <a:xfrm>
            <a:off x="6278727" y="5219771"/>
            <a:ext cx="5373471" cy="101643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Устроено.</a:t>
            </a:r>
            <a:r>
              <a:rPr sz="1250" b="0" i="0">
                <a:solidFill>
                  <a:srgbClr val="21295C"/>
                </a:solidFill>
                <a:latin typeface="Arial"/>
              </a:rPr>
              <a:t> </a:t>
            </a:r>
            <a:r>
              <a:rPr sz="1250" b="0" i="1">
                <a:solidFill>
                  <a:srgbClr val="21295C"/>
                </a:solidFill>
                <a:latin typeface="Arial"/>
              </a:rPr>
              <a:t>Прогноз на структурированных данных.</a:t>
            </a:r>
          </a:p>
          <a:p>
            <a:pPr algn="l">
              <a:lnSpc>
                <a:spcPct val="126000"/>
              </a:lnSpc>
              <a:spcBef>
                <a:spcPts val="720"/>
              </a:spcBef>
            </a:pPr>
            <a:r>
              <a:rPr sz="1250" b="0" i="0">
                <a:solidFill>
                  <a:srgbClr val="21295C"/>
                </a:solidFill>
                <a:latin typeface="Arial"/>
              </a:rPr>
              <a:t/>
            </a:r>
            <a:r>
              <a:rPr sz="1250" b="1" i="0">
                <a:solidFill>
                  <a:srgbClr val="21295C"/>
                </a:solidFill>
                <a:latin typeface="Arial"/>
              </a:rPr>
              <a:t>Переехала цена ошибки</a:t>
            </a:r>
            <a:r>
              <a:rPr sz="1250" b="0" i="0">
                <a:solidFill>
                  <a:srgbClr val="21295C"/>
                </a:solidFill>
                <a:latin typeface="Arial"/>
              </a:rPr>
              <a:t> — на группу, где при равном балле болезней больше. </a:t>
            </a:r>
            <a:r>
              <a:rPr sz="1250" b="1" i="0">
                <a:solidFill>
                  <a:srgbClr val="21295C"/>
                </a:solidFill>
                <a:latin typeface="Arial"/>
              </a:rPr>
              <a:t>Эффекта на деньги и здоровье работа не измеряла.</a:t>
            </a:r>
          </a:p>
        </p:txBody>
      </p:sp>
      <p:sp>
        <p:nvSpPr>
          <p:cNvPr id="41" name="Rectangle 40"/>
          <p:cNvSpPr/>
          <p:nvPr/>
        </p:nvSpPr>
        <p:spPr>
          <a:xfrm>
            <a:off x="6091275" y="5219771"/>
            <a:ext cx="9144" cy="990203"/>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Obermeyer и соавт., Science 2019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чтение провалилось один раз из пяти</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ПРОВАЛИЛИСЬ МЕСТО, НАБОР И ЦЕЛЬ</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 из 5</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Таиланд · кожа · отбор в программу</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ЧТЕНИЕ ПРОВАЛИЛОСЬ КАК ЧТЕНИЕ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 из 5</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кровоизлияние: 293 ложные тревоги против 4 на 3 409 томограммах</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АВТОНОМИЮ ДАЛИ И ЗАПРЕТИЛИ В ОДНОМ ГОРОДЕ</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решила цена тревоги</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профилактика — уточняющее исследование · экстренный путь — бригада</a:t>
            </a:r>
          </a:p>
        </p:txBody>
      </p:sp>
      <p:sp>
        <p:nvSpPr>
          <p:cNvPr id="16" name="Rounded Rectangle 15"/>
          <p:cNvSpPr/>
          <p:nvPr/>
        </p:nvSpPr>
        <p:spPr>
          <a:xfrm>
            <a:off x="502920" y="3102372"/>
            <a:ext cx="5437479" cy="1417320"/>
          </a:xfrm>
          <a:prstGeom prst="roundRect">
            <a:avLst>
              <a:gd name="adj" fmla="val 2150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257820"/>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получается</a:t>
            </a:r>
          </a:p>
        </p:txBody>
      </p:sp>
      <p:sp>
        <p:nvSpPr>
          <p:cNvPr id="18" name="TextBox 17"/>
          <p:cNvSpPr txBox="1"/>
          <p:nvPr/>
        </p:nvSpPr>
        <p:spPr>
          <a:xfrm>
            <a:off x="667512" y="3613999"/>
            <a:ext cx="5108295" cy="75024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постоянство: десятитысячный снимок как первый</a:t>
            </a:r>
          </a:p>
          <a:p>
            <a:pPr algn="l">
              <a:lnSpc>
                <a:spcPct val="126000"/>
              </a:lnSpc>
            </a:pPr>
            <a:r>
              <a:rPr sz="1250" b="0" i="0">
                <a:solidFill>
                  <a:srgbClr val="21295C"/>
                </a:solidFill>
                <a:latin typeface="Arial"/>
              </a:rPr>
              <a:t>• поток: «норма» не занимает специалиста</a:t>
            </a:r>
          </a:p>
          <a:p>
            <a:pPr algn="l">
              <a:lnSpc>
                <a:spcPct val="126000"/>
              </a:lnSpc>
            </a:pPr>
            <a:r>
              <a:rPr sz="1250" b="0" i="0">
                <a:solidFill>
                  <a:srgbClr val="21295C"/>
                </a:solidFill>
                <a:latin typeface="Arial"/>
              </a:rPr>
              <a:t>• воспроизводимость: расхождение можно разобрать</a:t>
            </a:r>
          </a:p>
        </p:txBody>
      </p:sp>
      <p:sp>
        <p:nvSpPr>
          <p:cNvPr id="19" name="Rounded Rectangle 18"/>
          <p:cNvSpPr/>
          <p:nvPr/>
        </p:nvSpPr>
        <p:spPr>
          <a:xfrm>
            <a:off x="6251295" y="3102372"/>
            <a:ext cx="5437479" cy="1417320"/>
          </a:xfrm>
          <a:prstGeom prst="roundRect">
            <a:avLst>
              <a:gd name="adj" fmla="val 21505"/>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257820"/>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получается</a:t>
            </a:r>
          </a:p>
        </p:txBody>
      </p:sp>
      <p:sp>
        <p:nvSpPr>
          <p:cNvPr id="21" name="TextBox 20"/>
          <p:cNvSpPr txBox="1"/>
          <p:nvPr/>
        </p:nvSpPr>
        <p:spPr>
          <a:xfrm>
            <a:off x="6415887" y="3613999"/>
            <a:ext cx="5108295" cy="750245"/>
          </a:xfrm>
          <a:prstGeom prst="rect">
            <a:avLst/>
          </a:prstGeom>
          <a:noFill/>
        </p:spPr>
        <p:txBody>
          <a:bodyPr wrap="square" lIns="0" rIns="0" tIns="0" bIns="0" anchor="t">
            <a:spAutoFit/>
          </a:bodyPr>
          <a:lstStyle/>
          <a:p>
            <a:pPr algn="l">
              <a:lnSpc>
                <a:spcPct val="126000"/>
              </a:lnSpc>
            </a:pPr>
            <a:r>
              <a:rPr sz="1250" b="0" i="0">
                <a:solidFill>
                  <a:srgbClr val="21295C"/>
                </a:solidFill>
                <a:latin typeface="Arial"/>
              </a:rPr>
              <a:t>• назначить порог срабатывания: за ним цена обеих ошибок</a:t>
            </a:r>
          </a:p>
          <a:p>
            <a:pPr algn="l">
              <a:lnSpc>
                <a:spcPct val="126000"/>
              </a:lnSpc>
            </a:pPr>
            <a:r>
              <a:rPr sz="1250" b="0" i="0">
                <a:solidFill>
                  <a:srgbClr val="21295C"/>
                </a:solidFill>
                <a:latin typeface="Arial"/>
              </a:rPr>
              <a:t>• переснять: годность измерения осталась человеку</a:t>
            </a:r>
          </a:p>
          <a:p>
            <a:pPr algn="l">
              <a:lnSpc>
                <a:spcPct val="126000"/>
              </a:lnSpc>
            </a:pPr>
            <a:r>
              <a:rPr sz="1250" b="0" i="0">
                <a:solidFill>
                  <a:srgbClr val="21295C"/>
                </a:solidFill>
                <a:latin typeface="Arial"/>
              </a:rPr>
              <a:t>• увидеть, что смещён сам вход: этого не умеет ни одна процедура</a:t>
            </a:r>
          </a:p>
        </p:txBody>
      </p:sp>
      <p:sp>
        <p:nvSpPr>
          <p:cNvPr id="22" name="Rounded Rectangle 21"/>
          <p:cNvSpPr/>
          <p:nvPr/>
        </p:nvSpPr>
        <p:spPr>
          <a:xfrm>
            <a:off x="374904" y="4611132"/>
            <a:ext cx="11441887" cy="1625075"/>
          </a:xfrm>
          <a:prstGeom prst="roundRect">
            <a:avLst>
              <a:gd name="adj" fmla="val 18756"/>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4702572"/>
            <a:ext cx="11112703" cy="1533635"/>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Ошибиться можно в трёх местах, не ошибившись в модели:</a:t>
            </a:r>
            <a:r>
              <a:rPr sz="1200" b="0" i="0">
                <a:solidFill>
                  <a:srgbClr val="21295C"/>
                </a:solidFill>
                <a:latin typeface="Arial"/>
              </a:rPr>
              <a:t> вход измеряет прибор, набор собирает человек, цель задаёт переменная.</a:t>
            </a:r>
          </a:p>
          <a:p>
            <a:pPr algn="l">
              <a:lnSpc>
                <a:spcPct val="126000"/>
              </a:lnSpc>
              <a:spcBef>
                <a:spcPts val="720"/>
              </a:spcBef>
            </a:pPr>
            <a:r>
              <a:rPr sz="1200" b="0" i="0">
                <a:solidFill>
                  <a:srgbClr val="21295C"/>
                </a:solidFill>
                <a:latin typeface="Arial"/>
              </a:rPr>
              <a:t/>
            </a:r>
            <a:r>
              <a:rPr sz="1200" b="1" i="0">
                <a:solidFill>
                  <a:srgbClr val="21295C"/>
                </a:solidFill>
                <a:latin typeface="Arial"/>
              </a:rPr>
              <a:t>Автономию решает цена ложной тревоги, не качество модели.</a:t>
            </a:r>
          </a:p>
          <a:p>
            <a:pPr algn="l">
              <a:lnSpc>
                <a:spcPct val="126000"/>
              </a:lnSpc>
              <a:spcBef>
                <a:spcPts val="720"/>
              </a:spcBef>
            </a:pPr>
            <a:r>
              <a:rPr sz="1200" b="0" i="0">
                <a:solidFill>
                  <a:srgbClr val="21295C"/>
                </a:solidFill>
                <a:latin typeface="Arial"/>
              </a:rPr>
              <a:t/>
            </a:r>
            <a:r>
              <a:rPr sz="1200" b="1" i="0">
                <a:solidFill>
                  <a:srgbClr val="21295C"/>
                </a:solidFill>
                <a:latin typeface="Arial"/>
              </a:rPr>
              <a:t>Где модель стоит.</a:t>
            </a:r>
            <a:r>
              <a:rPr sz="1200" b="0" i="0">
                <a:solidFill>
                  <a:srgbClr val="21295C"/>
                </a:solidFill>
                <a:latin typeface="Arial"/>
              </a:rPr>
              <a:t> </a:t>
            </a:r>
            <a:r>
              <a:rPr sz="1200" b="0" i="1">
                <a:solidFill>
                  <a:srgbClr val="21295C"/>
                </a:solidFill>
                <a:latin typeface="Arial"/>
              </a:rPr>
              <a:t>Классификация на изображении</a:t>
            </a:r>
            <a:r>
              <a:rPr sz="1200" b="0" i="0">
                <a:solidFill>
                  <a:srgbClr val="21295C"/>
                </a:solidFill>
                <a:latin typeface="Arial"/>
              </a:rPr>
              <a:t> — глазное дно, кожное образование. </a:t>
            </a:r>
            <a:r>
              <a:rPr sz="1200" b="0" i="1">
                <a:solidFill>
                  <a:srgbClr val="21295C"/>
                </a:solidFill>
                <a:latin typeface="Arial"/>
              </a:rPr>
              <a:t>Распознавание на изображении</a:t>
            </a:r>
            <a:r>
              <a:rPr sz="1200" b="0" i="0">
                <a:solidFill>
                  <a:srgbClr val="21295C"/>
                </a:solidFill>
                <a:latin typeface="Arial"/>
              </a:rPr>
              <a:t> — сортировка потока на рентгене и томографии. </a:t>
            </a:r>
            <a:r>
              <a:rPr sz="1200" b="0" i="1">
                <a:solidFill>
                  <a:srgbClr val="21295C"/>
                </a:solidFill>
                <a:latin typeface="Arial"/>
              </a:rPr>
              <a:t>Прогноз на структурированных данных</a:t>
            </a:r>
            <a:r>
              <a:rPr sz="1200" b="0" i="0">
                <a:solidFill>
                  <a:srgbClr val="21295C"/>
                </a:solidFill>
                <a:latin typeface="Arial"/>
              </a:rPr>
              <a:t> — счёт риска в карте. </a:t>
            </a:r>
            <a:r>
              <a:rPr sz="1200" b="0" i="1">
                <a:solidFill>
                  <a:srgbClr val="21295C"/>
                </a:solidFill>
                <a:latin typeface="Arial"/>
              </a:rPr>
              <a:t>Измерение · сигнал прибора</a:t>
            </a:r>
            <a:r>
              <a:rPr sz="1200" b="0" i="0">
                <a:solidFill>
                  <a:srgbClr val="21295C"/>
                </a:solidFill>
                <a:latin typeface="Arial"/>
              </a:rPr>
              <a:t> — </a:t>
            </a:r>
            <a:r>
              <a:rPr sz="1200" b="1" i="0">
                <a:solidFill>
                  <a:srgbClr val="21295C"/>
                </a:solidFill>
                <a:latin typeface="Arial"/>
              </a:rPr>
              <a:t>модели нет, а смещение есть.</a:t>
            </a:r>
          </a:p>
          <a:p>
            <a:pPr algn="l">
              <a:lnSpc>
                <a:spcPct val="126000"/>
              </a:lnSpc>
              <a:spcBef>
                <a:spcPts val="720"/>
              </a:spcBef>
            </a:pPr>
            <a:r>
              <a:rPr sz="1200" b="0" i="0">
                <a:solidFill>
                  <a:srgbClr val="21295C"/>
                </a:solidFill>
                <a:latin typeface="Arial"/>
              </a:rPr>
              <a:t/>
            </a:r>
            <a:r>
              <a:rPr sz="1200" b="1" i="0">
                <a:solidFill>
                  <a:srgbClr val="21295C"/>
                </a:solidFill>
                <a:latin typeface="Arial"/>
              </a:rPr>
              <a:t>Из шести искажений входа раздел не встретил ни одного: поток читает модель одна.</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Пять вопросов, которые задают до вопроса о точности</a:t>
            </a:r>
          </a:p>
        </p:txBody>
      </p:sp>
      <p:sp>
        <p:nvSpPr>
          <p:cNvPr id="4" name="Rounded Rectangle 3"/>
          <p:cNvSpPr/>
          <p:nvPr/>
        </p:nvSpPr>
        <p:spPr>
          <a:xfrm>
            <a:off x="502920"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ВОПРОСОВ ДО ВОПРОСА О ТОЧНОСТИ</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пять</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каждый оплачен разобранным случаем</a:t>
            </a:r>
          </a:p>
        </p:txBody>
      </p:sp>
      <p:sp>
        <p:nvSpPr>
          <p:cNvPr id="8" name="Rounded Rectangle 7"/>
          <p:cNvSpPr/>
          <p:nvPr/>
        </p:nvSpPr>
        <p:spPr>
          <a:xfrm>
            <a:off x="4286402" y="1335024"/>
            <a:ext cx="3618890" cy="1373225"/>
          </a:xfrm>
          <a:prstGeom prst="roundRect">
            <a:avLst>
              <a:gd name="adj" fmla="val 2219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СОРВАЛИ ВНЕДРЕНИЕ</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 из 5</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Таиланд · кожа · отбор в программу</a:t>
            </a:r>
          </a:p>
        </p:txBody>
      </p:sp>
      <p:sp>
        <p:nvSpPr>
          <p:cNvPr id="12" name="Rounded Rectangle 11"/>
          <p:cNvSpPr/>
          <p:nvPr/>
        </p:nvSpPr>
        <p:spPr>
          <a:xfrm>
            <a:off x="8069884" y="1335024"/>
            <a:ext cx="3618890" cy="1373225"/>
          </a:xfrm>
          <a:prstGeom prst="roundRect">
            <a:avLst>
              <a:gd name="adj" fmla="val 2219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ЧЕТВЁРТЫЙ СОРВАЛ ИЗМЕРЕНИЕ, ПЯТЫЙ РЕШИЛ ВОПРОС ОБ АВТОНОМИИ</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прибор · цена тревоги</a:t>
            </a:r>
          </a:p>
        </p:txBody>
      </p:sp>
      <p:sp>
        <p:nvSpPr>
          <p:cNvPr id="15" name="TextBox 14"/>
          <p:cNvSpPr txBox="1"/>
          <p:nvPr/>
        </p:nvSpPr>
        <p:spPr>
          <a:xfrm>
            <a:off x="8207044"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тревоги развела два московских случая</a:t>
            </a:r>
          </a:p>
        </p:txBody>
      </p:sp>
      <p:sp>
        <p:nvSpPr>
          <p:cNvPr id="16" name="Rounded Rectangle 15"/>
          <p:cNvSpPr/>
          <p:nvPr/>
        </p:nvSpPr>
        <p:spPr>
          <a:xfrm>
            <a:off x="374904" y="2799689"/>
            <a:ext cx="11441887" cy="3436518"/>
          </a:xfrm>
          <a:prstGeom prst="roundRect">
            <a:avLst>
              <a:gd name="adj" fmla="val 886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91129"/>
            <a:ext cx="5373471" cy="3345078"/>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«Какая у неё точность» — вопрос шестой. Пять идут раньше.</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На какой группе посчитаны доли?</a:t>
            </a:r>
            <a:r>
              <a:rPr sz="1350" b="0" i="0">
                <a:solidFill>
                  <a:srgbClr val="21295C"/>
                </a:solidFill>
                <a:latin typeface="Arial"/>
              </a:rPr>
              <a:t> Набор собрали из снимков, прошедших отбор по качеству; в поле отбор делает человек без правила — </a:t>
            </a:r>
            <a:r>
              <a:rPr sz="1350" b="0" i="1">
                <a:solidFill>
                  <a:srgbClr val="21295C"/>
                </a:solidFill>
                <a:latin typeface="Arial"/>
              </a:rPr>
              <a:t>Таиланд</a:t>
            </a:r>
            <a:r>
              <a:rPr sz="1350" b="0" i="0">
                <a:solidFill>
                  <a:srgbClr val="21295C"/>
                </a:solidFill>
                <a:latin typeface="Arial"/>
              </a:rPr>
              <a:t>.</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Чем измерен вход?</a:t>
            </a:r>
            <a:r>
              <a:rPr sz="1350" b="0" i="0">
                <a:solidFill>
                  <a:srgbClr val="21295C"/>
                </a:solidFill>
                <a:latin typeface="Arial"/>
              </a:rPr>
              <a:t> Прибор показал норму, а анализ — кислородное голодание: </a:t>
            </a:r>
            <a:r>
              <a:rPr sz="1350" b="1" i="0">
                <a:solidFill>
                  <a:srgbClr val="21295C"/>
                </a:solidFill>
                <a:latin typeface="Arial"/>
              </a:rPr>
              <a:t>12 раз из ста против 4</a:t>
            </a:r>
            <a:r>
              <a:rPr sz="1350" b="0" i="0">
                <a:solidFill>
                  <a:srgbClr val="21295C"/>
                </a:solidFill>
                <a:latin typeface="Arial"/>
              </a:rPr>
              <a:t>. Обученной модели в приборе нет.</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Из чего собран обучающий набор?</a:t>
            </a:r>
            <a:r>
              <a:rPr sz="1350" b="0" i="0">
                <a:solidFill>
                  <a:srgbClr val="21295C"/>
                </a:solidFill>
                <a:latin typeface="Arial"/>
              </a:rPr>
              <a:t> Тёмных тонов в наборах было мало: на тёмной коже модель различает больного и здорового </a:t>
            </a:r>
            <a:r>
              <a:rPr sz="1350" b="1" i="0">
                <a:solidFill>
                  <a:srgbClr val="21295C"/>
                </a:solidFill>
                <a:latin typeface="Arial"/>
              </a:rPr>
              <a:t>на 9–15 из 100 хуже</a:t>
            </a:r>
            <a:r>
              <a:rPr sz="1350" b="0" i="0">
                <a:solidFill>
                  <a:srgbClr val="21295C"/>
                </a:solidFill>
                <a:latin typeface="Arial"/>
              </a:rPr>
              <a:t> (100 — без промаха, 50 — монетка) — </a:t>
            </a:r>
            <a:r>
              <a:rPr sz="1350" b="0" i="1">
                <a:solidFill>
                  <a:srgbClr val="21295C"/>
                </a:solidFill>
                <a:latin typeface="Arial"/>
              </a:rPr>
              <a:t>кожа</a:t>
            </a:r>
            <a:r>
              <a:rPr sz="1350" b="0" i="0">
                <a:solidFill>
                  <a:srgbClr val="21295C"/>
                </a:solidFill>
                <a:latin typeface="Arial"/>
              </a:rPr>
              <a:t>.</a:t>
            </a:r>
          </a:p>
        </p:txBody>
      </p:sp>
      <p:sp>
        <p:nvSpPr>
          <p:cNvPr id="18" name="TextBox 17"/>
          <p:cNvSpPr txBox="1"/>
          <p:nvPr/>
        </p:nvSpPr>
        <p:spPr>
          <a:xfrm>
            <a:off x="6278727" y="2891129"/>
            <a:ext cx="5373471" cy="3345078"/>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a:t>
            </a:r>
            <a:r>
              <a:rPr sz="1350" b="1" i="0">
                <a:solidFill>
                  <a:srgbClr val="21295C"/>
                </a:solidFill>
                <a:latin typeface="Arial"/>
              </a:rPr>
              <a:t>Что система считает своей целью?</a:t>
            </a:r>
            <a:r>
              <a:rPr sz="1350" b="0" i="0">
                <a:solidFill>
                  <a:srgbClr val="21295C"/>
                </a:solidFill>
                <a:latin typeface="Arial"/>
              </a:rPr>
              <a:t> Обучена на будущих расходах, решение принималось о болезни — </a:t>
            </a:r>
            <a:r>
              <a:rPr sz="1350" b="0" i="1">
                <a:solidFill>
                  <a:srgbClr val="21295C"/>
                </a:solidFill>
                <a:latin typeface="Arial"/>
              </a:rPr>
              <a:t>отбор в программу</a:t>
            </a:r>
            <a:r>
              <a:rPr sz="1350" b="0" i="0">
                <a:solidFill>
                  <a:srgbClr val="21295C"/>
                </a:solidFill>
                <a:latin typeface="Arial"/>
              </a:rPr>
              <a:t>.</a:t>
            </a:r>
          </a:p>
          <a:p>
            <a:pPr algn="l">
              <a:lnSpc>
                <a:spcPct val="126000"/>
              </a:lnSpc>
              <a:spcBef>
                <a:spcPts val="720"/>
              </a:spcBef>
            </a:pPr>
            <a:r>
              <a:rPr sz="1350" b="0" i="0">
                <a:solidFill>
                  <a:srgbClr val="21295C"/>
                </a:solidFill>
                <a:latin typeface="Arial"/>
              </a:rPr>
              <a:t/>
            </a:r>
            <a:r>
              <a:rPr sz="1350" b="0" i="0">
                <a:solidFill>
                  <a:srgbClr val="21295C"/>
                </a:solidFill>
                <a:latin typeface="Arial"/>
              </a:rPr>
              <a:t>• </a:t>
            </a:r>
            <a:r>
              <a:rPr sz="1350" b="1" i="0">
                <a:solidFill>
                  <a:srgbClr val="21295C"/>
                </a:solidFill>
                <a:latin typeface="Arial"/>
              </a:rPr>
              <a:t>Во что обходится ложная тревога и есть ли время её проверить?</a:t>
            </a:r>
            <a:r>
              <a:rPr sz="1350" b="0" i="0">
                <a:solidFill>
                  <a:srgbClr val="21295C"/>
                </a:solidFill>
                <a:latin typeface="Arial"/>
              </a:rPr>
              <a:t> Один город: на профилактике автономию </a:t>
            </a:r>
            <a:r>
              <a:rPr sz="1350" b="1" i="0">
                <a:solidFill>
                  <a:srgbClr val="21295C"/>
                </a:solidFill>
                <a:latin typeface="Arial"/>
              </a:rPr>
              <a:t>дали</a:t>
            </a:r>
            <a:r>
              <a:rPr sz="1350" b="0" i="0">
                <a:solidFill>
                  <a:srgbClr val="21295C"/>
                </a:solidFill>
                <a:latin typeface="Arial"/>
              </a:rPr>
              <a:t>, на экстренных томограммах </a:t>
            </a:r>
            <a:r>
              <a:rPr sz="1350" b="1" i="0">
                <a:solidFill>
                  <a:srgbClr val="21295C"/>
                </a:solidFill>
                <a:latin typeface="Arial"/>
              </a:rPr>
              <a:t>запретили</a:t>
            </a:r>
            <a:r>
              <a:rPr sz="1350" b="0" i="0">
                <a:solidFill>
                  <a:srgbClr val="21295C"/>
                </a:solidFill>
                <a:latin typeface="Arial"/>
              </a:rPr>
              <a:t> — </a:t>
            </a:r>
            <a:r>
              <a:rPr sz="1350" b="1" i="0">
                <a:solidFill>
                  <a:srgbClr val="21295C"/>
                </a:solidFill>
                <a:latin typeface="Arial"/>
              </a:rPr>
              <a:t>293 ложные тревоги против 4</a:t>
            </a:r>
            <a:r>
              <a:rPr sz="1350" b="0" i="0">
                <a:solidFill>
                  <a:srgbClr val="21295C"/>
                </a:solidFill>
                <a:latin typeface="Arial"/>
              </a:rPr>
              <a:t> у врача.</a:t>
            </a:r>
          </a:p>
          <a:p>
            <a:pPr algn="l">
              <a:lnSpc>
                <a:spcPct val="126000"/>
              </a:lnSpc>
              <a:spcBef>
                <a:spcPts val="720"/>
              </a:spcBef>
            </a:pPr>
            <a:r>
              <a:rPr sz="1350" b="0" i="0">
                <a:solidFill>
                  <a:srgbClr val="21295C"/>
                </a:solidFill>
                <a:latin typeface="Arial"/>
              </a:rPr>
              <a:t/>
            </a:r>
            <a:r>
              <a:rPr sz="1350" b="1" i="0">
                <a:solidFill>
                  <a:srgbClr val="21295C"/>
                </a:solidFill>
                <a:latin typeface="Arial"/>
              </a:rPr>
              <a:t>Три сорвали по внедрению. Четвёртый — само измерение. Пятый решает, можно ли убрать человека.</a:t>
            </a:r>
          </a:p>
        </p:txBody>
      </p:sp>
      <p:sp>
        <p:nvSpPr>
          <p:cNvPr id="19" name="Rectangle 18"/>
          <p:cNvSpPr/>
          <p:nvPr/>
        </p:nvSpPr>
        <p:spPr>
          <a:xfrm>
            <a:off x="6091275" y="2891129"/>
            <a:ext cx="9144" cy="3215225"/>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Sjoding и соавт., New England Journal of Medicine 2020</a:t>
            </a:r>
            <a:r>
              <a:rPr sz="1200" b="0" i="1">
                <a:solidFill>
                  <a:srgbClr val="1C7293"/>
                </a:solidFill>
                <a:latin typeface="Arial"/>
              </a:rPr>
              <a:t> · </a:t>
            </a:r>
            <a:r>
              <a:rPr sz="1200" b="0" i="1">
                <a:solidFill>
                  <a:srgbClr val="1C7293"/>
                </a:solidFill>
                <a:latin typeface="Arial"/>
              </a:rPr>
              <a:t>предупреждение регулятора США 19.02.2021, проект руководства 06.01.2025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35-vrach-chitaet-s-ekrana.jpg"/>
          <p:cNvPicPr>
            <a:picLocks noChangeAspect="1"/>
          </p:cNvPicPr>
          <p:nvPr/>
        </p:nvPicPr>
        <p:blipFill>
          <a:blip r:embed="rId2"/>
          <a:srcRect l="25811" r="25811"/>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3. Постановка диагноза</a:t>
            </a:r>
          </a:p>
        </p:txBody>
      </p:sp>
      <p:sp>
        <p:nvSpPr>
          <p:cNvPr id="6" name="Rectangle 5"/>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1844558"/>
            <a:ext cx="6483096" cy="756494"/>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Там стадия производила величины — здесь по ним выносят заключение, и подпись ставит человек.</a:t>
            </a:r>
            <a:r>
              <a:rPr sz="1200" b="0" i="0">
                <a:solidFill>
                  <a:srgbClr val="21295C"/>
                </a:solidFill>
                <a:latin typeface="Arial"/>
              </a:rPr>
              <a:t> Читает он теперь не только снимок, но и подсказку рядом: от порядка их предъявления зависит результат.</a:t>
            </a:r>
          </a:p>
        </p:txBody>
      </p:sp>
      <p:sp>
        <p:nvSpPr>
          <p:cNvPr id="8" name="TextBox 7"/>
          <p:cNvSpPr txBox="1"/>
          <p:nvPr/>
        </p:nvSpPr>
        <p:spPr>
          <a:xfrm>
            <a:off x="704088" y="2729068"/>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По порядку:</a:t>
            </a:r>
          </a:p>
        </p:txBody>
      </p:sp>
      <p:sp>
        <p:nvSpPr>
          <p:cNvPr id="9" name="TextBox 8"/>
          <p:cNvSpPr txBox="1"/>
          <p:nvPr/>
        </p:nvSpPr>
        <p:spPr>
          <a:xfrm>
            <a:off x="704088" y="3145824"/>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1: замер взгляда — при ложной и при верной подсказке</a:t>
            </a:r>
          </a:p>
        </p:txBody>
      </p:sp>
      <p:sp>
        <p:nvSpPr>
          <p:cNvPr id="10" name="TextBox 9"/>
          <p:cNvSpPr txBox="1"/>
          <p:nvPr/>
        </p:nvSpPr>
        <p:spPr>
          <a:xfrm>
            <a:off x="704088" y="3562581"/>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2: патологи читают срезы — с подсказкой и без</a:t>
            </a:r>
          </a:p>
        </p:txBody>
      </p:sp>
      <p:sp>
        <p:nvSpPr>
          <p:cNvPr id="11" name="TextBox 10"/>
          <p:cNvSpPr txBox="1"/>
          <p:nvPr/>
        </p:nvSpPr>
        <p:spPr>
          <a:xfrm>
            <a:off x="704088" y="3979338"/>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3: шведское испытание — второе человеческое чтение заменено моделью</a:t>
            </a:r>
          </a:p>
        </p:txBody>
      </p:sp>
      <p:sp>
        <p:nvSpPr>
          <p:cNvPr id="12" name="TextBox 11"/>
          <p:cNvSpPr txBox="1"/>
          <p:nvPr/>
        </p:nvSpPr>
        <p:spPr>
          <a:xfrm>
            <a:off x="704088" y="4396095"/>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4: хирурги оценивают риск — сами и после знакомства с моделью</a:t>
            </a:r>
          </a:p>
        </p:txBody>
      </p:sp>
      <p:sp>
        <p:nvSpPr>
          <p:cNvPr id="13" name="TextBox 12"/>
          <p:cNvSpPr txBox="1"/>
          <p:nvPr/>
        </p:nvSpPr>
        <p:spPr>
          <a:xfrm>
            <a:off x="704088" y="4812851"/>
            <a:ext cx="6483096" cy="522617"/>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и, уже из непрерывного наблюдения, </a:t>
            </a:r>
            <a:r>
              <a:rPr sz="1200" b="1" i="0">
                <a:solidFill>
                  <a:srgbClr val="21295C"/>
                </a:solidFill>
                <a:latin typeface="Arial"/>
              </a:rPr>
              <a:t>Пример 5: модель раннего предупреждения о сепсисе</a:t>
            </a:r>
          </a:p>
        </p:txBody>
      </p:sp>
      <p:sp>
        <p:nvSpPr>
          <p:cNvPr id="14" name="TextBox 13"/>
          <p:cNvSpPr txBox="1"/>
          <p:nvPr/>
        </p:nvSpPr>
        <p:spPr>
          <a:xfrm>
            <a:off x="704088" y="5463485"/>
            <a:ext cx="6483096" cy="522617"/>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6: Москва, Россия — модель предлагает заключительный диагноз по медкарте</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Постановка диагноза: семь действий стадии и три, на которых стоит модель</a:t>
            </a:r>
          </a:p>
        </p:txBody>
      </p:sp>
      <p:sp>
        <p:nvSpPr>
          <p:cNvPr id="4" name="Rounded Rectangle 3"/>
          <p:cNvSpPr/>
          <p:nvPr/>
        </p:nvSpPr>
        <p:spPr>
          <a:xfrm>
            <a:off x="502920" y="1335024"/>
            <a:ext cx="6943039"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666871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ЧАСТОТА ДИАГНОСТИЧЕСКОЙ ОШИБКИ: АМБУЛАТОРНЫЙ ПРИЁМ ВЗРОСЛОГО</a:t>
            </a:r>
          </a:p>
        </p:txBody>
      </p:sp>
      <p:sp>
        <p:nvSpPr>
          <p:cNvPr id="6" name="TextBox 5"/>
          <p:cNvSpPr txBox="1"/>
          <p:nvPr/>
        </p:nvSpPr>
        <p:spPr>
          <a:xfrm>
            <a:off x="640080" y="1725375"/>
            <a:ext cx="666871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5,08 приёма из ста</a:t>
            </a:r>
          </a:p>
        </p:txBody>
      </p:sp>
      <p:sp>
        <p:nvSpPr>
          <p:cNvPr id="7" name="TextBox 6"/>
          <p:cNvSpPr txBox="1"/>
          <p:nvPr/>
        </p:nvSpPr>
        <p:spPr>
          <a:xfrm>
            <a:off x="640080" y="2152374"/>
            <a:ext cx="666871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выявляли триггером — необычный возврат пациента, ненормальный результат без дообследования; поэтому сосчитана часть ошибок; саму долю перенесли на взрослое население США; авторы называют это занижением: частота может быть заметно выше пяти процентов</a:t>
            </a:r>
          </a:p>
        </p:txBody>
      </p:sp>
      <p:sp>
        <p:nvSpPr>
          <p:cNvPr id="8" name="TextBox 7"/>
          <p:cNvSpPr txBox="1"/>
          <p:nvPr/>
        </p:nvSpPr>
        <p:spPr>
          <a:xfrm>
            <a:off x="502920" y="3353964"/>
            <a:ext cx="1307592" cy="60468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Ход работы</a:t>
            </a:r>
          </a:p>
        </p:txBody>
      </p:sp>
      <p:sp>
        <p:nvSpPr>
          <p:cNvPr id="9" name="Rounded Rectangle 8"/>
          <p:cNvSpPr/>
          <p:nvPr/>
        </p:nvSpPr>
        <p:spPr>
          <a:xfrm>
            <a:off x="1920240"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2002536"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собрать данные</a:t>
            </a:r>
          </a:p>
        </p:txBody>
      </p:sp>
      <p:sp>
        <p:nvSpPr>
          <p:cNvPr id="11" name="Right Arrow 10"/>
          <p:cNvSpPr/>
          <p:nvPr/>
        </p:nvSpPr>
        <p:spPr>
          <a:xfrm>
            <a:off x="3141649" y="3587725"/>
            <a:ext cx="182880" cy="137160"/>
          </a:xfrm>
          <a:prstGeom prst="rightArrow">
            <a:avLst/>
          </a:prstGeom>
          <a:solidFill>
            <a:srgbClr val="1C7293"/>
          </a:solidFill>
          <a:ln>
            <a:noFill/>
          </a:ln>
          <a:effectLst/>
        </p:spPr>
        <p:txBody>
          <a:bodyPr rtlCol="0" anchor="ctr"/>
          <a:lstStyle/>
          <a:p>
            <a:pPr algn="ctr"/>
          </a:p>
        </p:txBody>
      </p:sp>
      <p:sp>
        <p:nvSpPr>
          <p:cNvPr id="12" name="Rounded Rectangle 11"/>
          <p:cNvSpPr/>
          <p:nvPr/>
        </p:nvSpPr>
        <p:spPr>
          <a:xfrm>
            <a:off x="337024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345254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выписать болезни</a:t>
            </a:r>
          </a:p>
        </p:txBody>
      </p:sp>
      <p:sp>
        <p:nvSpPr>
          <p:cNvPr id="14" name="Right Arrow 13"/>
          <p:cNvSpPr/>
          <p:nvPr/>
        </p:nvSpPr>
        <p:spPr>
          <a:xfrm>
            <a:off x="4591659" y="3587725"/>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482025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490255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назначить проверку</a:t>
            </a:r>
          </a:p>
        </p:txBody>
      </p:sp>
      <p:sp>
        <p:nvSpPr>
          <p:cNvPr id="17" name="Right Arrow 16"/>
          <p:cNvSpPr/>
          <p:nvPr/>
        </p:nvSpPr>
        <p:spPr>
          <a:xfrm>
            <a:off x="6041669" y="3587725"/>
            <a:ext cx="182880" cy="137160"/>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6270269" y="3317388"/>
            <a:ext cx="1175689"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9" name="TextBox 18"/>
          <p:cNvSpPr txBox="1"/>
          <p:nvPr/>
        </p:nvSpPr>
        <p:spPr>
          <a:xfrm>
            <a:off x="6352565" y="3363108"/>
            <a:ext cx="1011097"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вычеркнуть лишнее</a:t>
            </a:r>
          </a:p>
        </p:txBody>
      </p:sp>
      <p:sp>
        <p:nvSpPr>
          <p:cNvPr id="20" name="TextBox 19"/>
          <p:cNvSpPr txBox="1"/>
          <p:nvPr/>
        </p:nvSpPr>
        <p:spPr>
          <a:xfrm>
            <a:off x="502920" y="4178102"/>
            <a:ext cx="1307592" cy="60468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Заняла модель</a:t>
            </a:r>
          </a:p>
        </p:txBody>
      </p:sp>
      <p:sp>
        <p:nvSpPr>
          <p:cNvPr id="21" name="Rounded Rectangle 20"/>
          <p:cNvSpPr/>
          <p:nvPr/>
        </p:nvSpPr>
        <p:spPr>
          <a:xfrm>
            <a:off x="1920240"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состав списка</a:t>
            </a:r>
          </a:p>
        </p:txBody>
      </p:sp>
      <p:sp>
        <p:nvSpPr>
          <p:cNvPr id="23" name="Rounded Rectangle 22"/>
          <p:cNvSpPr/>
          <p:nvPr/>
        </p:nvSpPr>
        <p:spPr>
          <a:xfrm>
            <a:off x="3810914"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3893210"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второе чтение</a:t>
            </a:r>
          </a:p>
        </p:txBody>
      </p:sp>
      <p:sp>
        <p:nvSpPr>
          <p:cNvPr id="25" name="Rounded Rectangle 24"/>
          <p:cNvSpPr/>
          <p:nvPr/>
        </p:nvSpPr>
        <p:spPr>
          <a:xfrm>
            <a:off x="5701588" y="4141526"/>
            <a:ext cx="1744370" cy="67783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5783884" y="4187246"/>
            <a:ext cx="1579778" cy="586394"/>
          </a:xfrm>
          <a:prstGeom prst="rect">
            <a:avLst/>
          </a:prstGeom>
          <a:noFill/>
        </p:spPr>
        <p:txBody>
          <a:bodyPr wrap="square" lIns="0" rIns="0" tIns="0" bIns="0" anchor="ctr">
            <a:spAutoFit/>
          </a:bodyPr>
          <a:lstStyle/>
          <a:p>
            <a:pPr algn="ctr">
              <a:lnSpc>
                <a:spcPct val="112000"/>
              </a:lnSpc>
            </a:pPr>
            <a:r>
              <a:rPr sz="1250" b="0" i="0">
                <a:solidFill>
                  <a:srgbClr val="21295C"/>
                </a:solidFill>
                <a:latin typeface="Arial"/>
              </a:rPr>
              <a:t>подпись</a:t>
            </a:r>
          </a:p>
        </p:txBody>
      </p:sp>
      <p:sp>
        <p:nvSpPr>
          <p:cNvPr id="27" name="TextBox 26"/>
          <p:cNvSpPr txBox="1"/>
          <p:nvPr/>
        </p:nvSpPr>
        <p:spPr>
          <a:xfrm>
            <a:off x="502920" y="4855937"/>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Как сужается список: стадия сразу за исследованием</a:t>
            </a:r>
          </a:p>
        </p:txBody>
      </p:sp>
      <p:sp>
        <p:nvSpPr>
          <p:cNvPr id="28" name="Rounded Rectangle 27"/>
          <p:cNvSpPr/>
          <p:nvPr/>
        </p:nvSpPr>
        <p:spPr>
          <a:xfrm>
            <a:off x="374904" y="5158620"/>
            <a:ext cx="11441887" cy="107758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5250060"/>
            <a:ext cx="11112703" cy="986147"/>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Один приём:</a:t>
            </a:r>
            <a:r>
              <a:rPr sz="1350" b="0" i="0">
                <a:solidFill>
                  <a:srgbClr val="21295C"/>
                </a:solidFill>
                <a:latin typeface="Arial"/>
              </a:rPr>
              <a:t> кашель три недели, вечерняя температура, минус четыре килограмма. Из четырёх болезней снимок и анализ крови вычеркнули две — остались две, неразличимые по снимку.</a:t>
            </a:r>
          </a:p>
          <a:p>
            <a:pPr algn="l">
              <a:lnSpc>
                <a:spcPct val="126000"/>
              </a:lnSpc>
              <a:spcBef>
                <a:spcPts val="720"/>
              </a:spcBef>
            </a:pPr>
            <a:r>
              <a:rPr sz="1350" b="0" i="0">
                <a:solidFill>
                  <a:srgbClr val="21295C"/>
                </a:solidFill>
                <a:latin typeface="Arial"/>
              </a:rPr>
              <a:t/>
            </a:r>
            <a:r>
              <a:rPr sz="1350" b="1" i="0">
                <a:solidFill>
                  <a:srgbClr val="21295C"/>
                </a:solidFill>
                <a:latin typeface="Arial"/>
              </a:rPr>
              <a:t>Модель стоит на трёх из семи действий:</a:t>
            </a:r>
            <a:r>
              <a:rPr sz="1350" b="0" i="0">
                <a:solidFill>
                  <a:srgbClr val="21295C"/>
                </a:solidFill>
                <a:latin typeface="Arial"/>
              </a:rPr>
              <a:t> состав списка, второе чтение, подпись. </a:t>
            </a:r>
            <a:r>
              <a:rPr sz="1350" b="1" i="0">
                <a:solidFill>
                  <a:srgbClr val="21295C"/>
                </a:solidFill>
                <a:latin typeface="Arial"/>
              </a:rPr>
              <a:t>И добавила одно — решить, верить ли подсказке.</a:t>
            </a:r>
          </a:p>
        </p:txBody>
      </p:sp>
      <p:sp>
        <p:nvSpPr>
          <p:cNvPr id="30" name="Rounded Rectangle 29"/>
          <p:cNvSpPr/>
          <p:nvPr/>
        </p:nvSpPr>
        <p:spPr>
          <a:xfrm>
            <a:off x="7756855" y="1335024"/>
            <a:ext cx="3931920" cy="2658618"/>
          </a:xfrm>
          <a:prstGeom prst="roundRect">
            <a:avLst>
              <a:gd name="adj" fmla="val 11464"/>
            </a:avLst>
          </a:prstGeom>
          <a:solidFill>
            <a:srgbClr val="F4F7FA"/>
          </a:solidFill>
          <a:ln w="19050">
            <a:solidFill>
              <a:srgbClr val="1C7293"/>
            </a:solidFill>
          </a:ln>
          <a:effectLst/>
        </p:spPr>
        <p:txBody>
          <a:bodyPr rtlCol="0" anchor="ctr"/>
          <a:lstStyle/>
          <a:p>
            <a:pPr algn="ctr"/>
          </a:p>
        </p:txBody>
      </p:sp>
      <p:pic>
        <p:nvPicPr>
          <p:cNvPr id="31" name="Picture 30" descr="s35a-priem-vrach-slushaet-rasskaz.jpg"/>
          <p:cNvPicPr>
            <a:picLocks noChangeAspect="1"/>
          </p:cNvPicPr>
          <p:nvPr/>
        </p:nvPicPr>
        <p:blipFill>
          <a:blip r:embed="rId2"/>
          <a:stretch>
            <a:fillRect/>
          </a:stretch>
        </p:blipFill>
        <p:spPr>
          <a:xfrm>
            <a:off x="7894015" y="1472184"/>
            <a:ext cx="3657600" cy="2384298"/>
          </a:xfrm>
          <a:prstGeom prst="rect">
            <a:avLst/>
          </a:prstGeom>
        </p:spPr>
      </p:pic>
      <p:sp>
        <p:nvSpPr>
          <p:cNvPr id="32" name="Rectangle 3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3" name="TextBox 3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Singh и соавт., BMJ Quality &amp; Safety 2014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Второе мнение: чем оно держится и когда перестаёт быть вторым</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Независимо</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первое чтение</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второе не видит первого</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разошлись — решает третий</a:t>
            </a:r>
          </a:p>
        </p:txBody>
      </p:sp>
      <p:sp>
        <p:nvSpPr>
          <p:cNvPr id="13" name="TextBox 12"/>
          <p:cNvSpPr txBox="1"/>
          <p:nvPr/>
        </p:nvSpPr>
        <p:spPr>
          <a:xfrm>
            <a:off x="502920" y="199329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Уже нет</a:t>
            </a:r>
          </a:p>
        </p:txBody>
      </p:sp>
      <p:sp>
        <p:nvSpPr>
          <p:cNvPr id="14" name="Rounded Rectangle 13"/>
          <p:cNvSpPr/>
          <p:nvPr/>
        </p:nvSpPr>
        <p:spPr>
          <a:xfrm>
            <a:off x="1920240"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подсказка на экране</a:t>
            </a:r>
          </a:p>
        </p:txBody>
      </p:sp>
      <p:sp>
        <p:nvSpPr>
          <p:cNvPr id="16" name="Right Arrow 15"/>
          <p:cNvSpPr/>
          <p:nvPr/>
        </p:nvSpPr>
        <p:spPr>
          <a:xfrm>
            <a:off x="5039258" y="2125837"/>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одно чтение поверх неё</a:t>
            </a:r>
          </a:p>
        </p:txBody>
      </p:sp>
      <p:sp>
        <p:nvSpPr>
          <p:cNvPr id="19" name="Right Arrow 18"/>
          <p:cNvSpPr/>
          <p:nvPr/>
        </p:nvSpPr>
        <p:spPr>
          <a:xfrm>
            <a:off x="8386876" y="212583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195672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00244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расходиться не с чем</a:t>
            </a:r>
          </a:p>
        </p:txBody>
      </p:sp>
      <p:sp>
        <p:nvSpPr>
          <p:cNvPr id="22" name="TextBox 21"/>
          <p:cNvSpPr txBox="1"/>
          <p:nvPr/>
        </p:nvSpPr>
        <p:spPr>
          <a:xfrm>
            <a:off x="502920" y="246868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мнения: когда они независимы и когда уже нет</a:t>
            </a:r>
          </a:p>
        </p:txBody>
      </p:sp>
      <p:sp>
        <p:nvSpPr>
          <p:cNvPr id="23" name="Rounded Rectangle 22"/>
          <p:cNvSpPr/>
          <p:nvPr/>
        </p:nvSpPr>
        <p:spPr>
          <a:xfrm>
            <a:off x="374904" y="3137133"/>
            <a:ext cx="11441887" cy="2513886"/>
          </a:xfrm>
          <a:prstGeom prst="roundRect">
            <a:avLst>
              <a:gd name="adj" fmla="val 12124"/>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228573"/>
            <a:ext cx="5373471" cy="300763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Держится независимостью:</a:t>
            </a:r>
            <a:r>
              <a:rPr sz="1500" b="0" i="0">
                <a:solidFill>
                  <a:srgbClr val="21295C"/>
                </a:solidFill>
                <a:latin typeface="Arial"/>
              </a:rPr>
              <a:t> второму читателю закрывают доступ к первому заключению, а расхождение разбирает третий.</a:t>
            </a:r>
          </a:p>
          <a:p>
            <a:pPr algn="l">
              <a:lnSpc>
                <a:spcPct val="126000"/>
              </a:lnSpc>
              <a:spcBef>
                <a:spcPts val="3600"/>
              </a:spcBef>
            </a:pPr>
            <a:r>
              <a:rPr sz="1500" b="0" i="0">
                <a:solidFill>
                  <a:srgbClr val="21295C"/>
                </a:solidFill>
                <a:latin typeface="Arial"/>
              </a:rPr>
              <a:t/>
            </a:r>
            <a:r>
              <a:rPr sz="1500" b="1" i="0">
                <a:solidFill>
                  <a:srgbClr val="21295C"/>
                </a:solidFill>
                <a:latin typeface="Arial"/>
              </a:rPr>
              <a:t>Второе мнение от модели, подсказавшей первое, — уже не второе:</a:t>
            </a:r>
            <a:r>
              <a:rPr sz="1500" b="0" i="0">
                <a:solidFill>
                  <a:srgbClr val="21295C"/>
                </a:solidFill>
                <a:latin typeface="Arial"/>
              </a:rPr>
              <a:t> ошибка общая и удваивается вместо усреднения.</a:t>
            </a:r>
          </a:p>
        </p:txBody>
      </p:sp>
      <p:sp>
        <p:nvSpPr>
          <p:cNvPr id="25" name="TextBox 24"/>
          <p:cNvSpPr txBox="1"/>
          <p:nvPr/>
        </p:nvSpPr>
        <p:spPr>
          <a:xfrm>
            <a:off x="6278727" y="3228573"/>
            <a:ext cx="5373471" cy="300763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Порядок предъявления измерен.</a:t>
            </a:r>
            <a:r>
              <a:rPr sz="1500" b="0" i="0">
                <a:solidFill>
                  <a:srgbClr val="21295C"/>
                </a:solidFill>
                <a:latin typeface="Arial"/>
              </a:rPr>
              <a:t> Подсказка до того, как человек составил своё мнение, против подсказки после — </a:t>
            </a:r>
            <a:r>
              <a:rPr sz="1500" b="1" i="0">
                <a:solidFill>
                  <a:srgbClr val="21295C"/>
                </a:solidFill>
                <a:latin typeface="Arial"/>
              </a:rPr>
              <a:t>8,9 пункта</a:t>
            </a:r>
            <a:r>
              <a:rPr sz="1500" b="0" i="0">
                <a:solidFill>
                  <a:srgbClr val="21295C"/>
                </a:solidFill>
                <a:latin typeface="Arial"/>
              </a:rPr>
              <a:t> по решениям к действию. </a:t>
            </a:r>
            <a:r>
              <a:rPr sz="1500" b="0" i="1">
                <a:solidFill>
                  <a:srgbClr val="21295C"/>
                </a:solidFill>
                <a:latin typeface="Arial"/>
              </a:rPr>
              <a:t>70 врачей, 254 случая.</a:t>
            </a:r>
          </a:p>
          <a:p>
            <a:pPr algn="l">
              <a:lnSpc>
                <a:spcPct val="126000"/>
              </a:lnSpc>
              <a:spcBef>
                <a:spcPts val="3600"/>
              </a:spcBef>
            </a:pPr>
            <a:r>
              <a:rPr sz="1500" b="0" i="0">
                <a:solidFill>
                  <a:srgbClr val="21295C"/>
                </a:solidFill>
                <a:latin typeface="Arial"/>
              </a:rPr>
              <a:t/>
            </a:r>
            <a:r>
              <a:rPr sz="1500" b="1" i="0">
                <a:solidFill>
                  <a:srgbClr val="21295C"/>
                </a:solidFill>
                <a:latin typeface="Arial"/>
              </a:rPr>
              <a:t>Кто из вас просил у модели второе мнение по решению, которое принял сам? Что сделали, когда она не согласилась?</a:t>
            </a:r>
          </a:p>
        </p:txBody>
      </p:sp>
      <p:sp>
        <p:nvSpPr>
          <p:cNvPr id="26" name="Rectangle 25"/>
          <p:cNvSpPr/>
          <p:nvPr/>
        </p:nvSpPr>
        <p:spPr>
          <a:xfrm>
            <a:off x="6091275" y="3228573"/>
            <a:ext cx="9144" cy="2239566"/>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Goh и соавт., продолжение того же испытания</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участия</a:t>
            </a:r>
          </a:p>
        </p:txBody>
      </p:sp>
      <p:sp>
        <p:nvSpPr>
          <p:cNvPr id="4" name="TextBox 3"/>
          <p:cNvSpPr txBox="1"/>
          <p:nvPr/>
        </p:nvSpPr>
        <p:spPr>
          <a:xfrm>
            <a:off x="502920" y="1335024"/>
            <a:ext cx="11185855" cy="237744"/>
          </a:xfrm>
          <a:prstGeom prst="rect">
            <a:avLst/>
          </a:prstGeom>
          <a:noFill/>
        </p:spPr>
        <p:txBody>
          <a:bodyPr wrap="square" lIns="0" rIns="0" tIns="0" bIns="0" anchor="t">
            <a:spAutoFit/>
          </a:bodyPr>
          <a:lstStyle/>
          <a:p>
            <a:pPr algn="l">
              <a:lnSpc>
                <a:spcPct val="110000"/>
              </a:lnSpc>
            </a:pPr>
            <a:r>
              <a:rPr sz="1200" b="0" i="1">
                <a:solidFill>
                  <a:srgbClr val="065A82"/>
                </a:solidFill>
                <a:latin typeface="Arial"/>
              </a:rPr>
              <a:t>участие человека — вниз по ступеням</a:t>
            </a:r>
          </a:p>
        </p:txBody>
      </p:sp>
      <p:sp>
        <p:nvSpPr>
          <p:cNvPr id="5" name="Rounded Rectangle 4"/>
          <p:cNvSpPr/>
          <p:nvPr/>
        </p:nvSpPr>
        <p:spPr>
          <a:xfrm>
            <a:off x="502920" y="1664207"/>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594360" y="1709928"/>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первым</a:t>
            </a:r>
          </a:p>
          <a:p>
            <a:pPr algn="ctr">
              <a:lnSpc>
                <a:spcPct val="112000"/>
              </a:lnSpc>
            </a:pPr>
            <a:r>
              <a:rPr sz="1350" b="0" i="0">
                <a:solidFill>
                  <a:srgbClr val="21295C"/>
                </a:solidFill>
                <a:latin typeface="Arial"/>
              </a:rPr>
              <a:t>видит случай</a:t>
            </a:r>
          </a:p>
        </p:txBody>
      </p:sp>
      <p:sp>
        <p:nvSpPr>
          <p:cNvPr id="7" name="Rounded Rectangle 6"/>
          <p:cNvSpPr/>
          <p:nvPr/>
        </p:nvSpPr>
        <p:spPr>
          <a:xfrm>
            <a:off x="3326815" y="1865376"/>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3418255" y="1911095"/>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вторым</a:t>
            </a:r>
          </a:p>
          <a:p>
            <a:pPr algn="ctr">
              <a:lnSpc>
                <a:spcPct val="112000"/>
              </a:lnSpc>
            </a:pPr>
            <a:r>
              <a:rPr sz="1350" b="0" i="0">
                <a:solidFill>
                  <a:srgbClr val="21295C"/>
                </a:solidFill>
                <a:latin typeface="Arial"/>
              </a:rPr>
              <a:t>видит случай и готовый вывод</a:t>
            </a:r>
          </a:p>
        </p:txBody>
      </p:sp>
      <p:sp>
        <p:nvSpPr>
          <p:cNvPr id="9" name="Rounded Rectangle 8"/>
          <p:cNvSpPr/>
          <p:nvPr/>
        </p:nvSpPr>
        <p:spPr>
          <a:xfrm>
            <a:off x="6150711" y="2066543"/>
            <a:ext cx="2714167" cy="93240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0" name="TextBox 9"/>
          <p:cNvSpPr txBox="1"/>
          <p:nvPr/>
        </p:nvSpPr>
        <p:spPr>
          <a:xfrm>
            <a:off x="6242151" y="2112263"/>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Смотрит только спорное</a:t>
            </a:r>
          </a:p>
          <a:p>
            <a:pPr algn="ctr">
              <a:lnSpc>
                <a:spcPct val="112000"/>
              </a:lnSpc>
            </a:pPr>
            <a:r>
              <a:rPr sz="1350" b="0" i="0">
                <a:solidFill>
                  <a:srgbClr val="21295C"/>
                </a:solidFill>
                <a:latin typeface="Arial"/>
              </a:rPr>
              <a:t>видит выборку, которую отобрала модель</a:t>
            </a:r>
          </a:p>
        </p:txBody>
      </p:sp>
      <p:sp>
        <p:nvSpPr>
          <p:cNvPr id="11" name="Rounded Rectangle 10"/>
          <p:cNvSpPr/>
          <p:nvPr/>
        </p:nvSpPr>
        <p:spPr>
          <a:xfrm>
            <a:off x="8974607" y="2267712"/>
            <a:ext cx="2714167" cy="93240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9066047" y="2313432"/>
            <a:ext cx="2531287" cy="84096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Подписывает не глядя</a:t>
            </a:r>
          </a:p>
          <a:p>
            <a:pPr algn="ctr">
              <a:lnSpc>
                <a:spcPct val="112000"/>
              </a:lnSpc>
            </a:pPr>
            <a:r>
              <a:rPr sz="1350" b="0" i="0">
                <a:solidFill>
                  <a:srgbClr val="21295C"/>
                </a:solidFill>
                <a:latin typeface="Arial"/>
              </a:rPr>
              <a:t>видит только текст</a:t>
            </a:r>
          </a:p>
        </p:txBody>
      </p:sp>
      <p:sp>
        <p:nvSpPr>
          <p:cNvPr id="13" name="Rounded Rectangle 12"/>
          <p:cNvSpPr/>
          <p:nvPr/>
        </p:nvSpPr>
        <p:spPr>
          <a:xfrm>
            <a:off x="374904" y="3291554"/>
            <a:ext cx="11441887" cy="2742249"/>
          </a:xfrm>
          <a:prstGeom prst="roundRect">
            <a:avLst>
              <a:gd name="adj" fmla="val 11114"/>
            </a:avLst>
          </a:prstGeom>
          <a:solidFill>
            <a:srgbClr val="F4F7FA"/>
          </a:solidFill>
          <a:ln w="19050">
            <a:solidFill>
              <a:srgbClr val="1C7293"/>
            </a:solidFill>
          </a:ln>
          <a:effectLst/>
        </p:spPr>
        <p:txBody>
          <a:bodyPr rtlCol="0" anchor="ctr"/>
          <a:lstStyle/>
          <a:p>
            <a:pPr algn="ctr"/>
          </a:p>
        </p:txBody>
      </p:sp>
      <p:sp>
        <p:nvSpPr>
          <p:cNvPr id="14" name="TextBox 13"/>
          <p:cNvSpPr txBox="1"/>
          <p:nvPr/>
        </p:nvSpPr>
        <p:spPr>
          <a:xfrm>
            <a:off x="539496" y="3382994"/>
            <a:ext cx="5373471" cy="285321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 второй ступени стоят и выигрыш, и три провала.</a:t>
            </a:r>
            <a:r>
              <a:rPr sz="1500" b="0" i="0">
                <a:solidFill>
                  <a:srgbClr val="21295C"/>
                </a:solidFill>
                <a:latin typeface="Arial"/>
              </a:rPr>
              <a:t> Замер взгляда, патологи, хирурги — и шведское испытание, где человек остаётся первым читателем, а модель вторым: ступень одна, исходы противоположные. Расходится у них </a:t>
            </a:r>
            <a:r>
              <a:rPr sz="1500" b="1" i="0">
                <a:solidFill>
                  <a:srgbClr val="21295C"/>
                </a:solidFill>
                <a:latin typeface="Arial"/>
              </a:rPr>
              <a:t>устройство процедуры</a:t>
            </a:r>
            <a:r>
              <a:rPr sz="1500" b="0" i="0">
                <a:solidFill>
                  <a:srgbClr val="21295C"/>
                </a:solidFill>
                <a:latin typeface="Arial"/>
              </a:rPr>
              <a:t> — сохранена ли независимость двух мнений и кто разбирает расхождение.</a:t>
            </a:r>
          </a:p>
        </p:txBody>
      </p:sp>
      <p:sp>
        <p:nvSpPr>
          <p:cNvPr id="15" name="TextBox 14"/>
          <p:cNvSpPr txBox="1"/>
          <p:nvPr/>
        </p:nvSpPr>
        <p:spPr>
          <a:xfrm>
            <a:off x="6278727" y="3382994"/>
            <a:ext cx="5373471" cy="285321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Обучение на ступень выше не передвигает:</a:t>
            </a:r>
            <a:r>
              <a:rPr sz="1500" b="0" i="0">
                <a:solidFill>
                  <a:srgbClr val="21295C"/>
                </a:solidFill>
                <a:latin typeface="Arial"/>
              </a:rPr>
              <a:t> 44 обученных врача читали по шесть клинических задач — доля верных рассуждений на 264 прочтениях </a:t>
            </a:r>
            <a:r>
              <a:rPr sz="1500" b="1" i="0">
                <a:solidFill>
                  <a:srgbClr val="21295C"/>
                </a:solidFill>
                <a:latin typeface="Arial"/>
              </a:rPr>
              <a:t>84,9 → 73,3 из ста</a:t>
            </a:r>
            <a:r>
              <a:rPr sz="1500" b="0" i="0">
                <a:solidFill>
                  <a:srgbClr val="21295C"/>
                </a:solidFill>
                <a:latin typeface="Arial"/>
              </a:rPr>
              <a:t>, когда часть рекомендаций неверна.</a:t>
            </a:r>
          </a:p>
          <a:p>
            <a:pPr algn="l">
              <a:lnSpc>
                <a:spcPct val="126000"/>
              </a:lnSpc>
              <a:spcBef>
                <a:spcPts val="720"/>
              </a:spcBef>
            </a:pPr>
            <a:r>
              <a:rPr sz="1500" b="0" i="0">
                <a:solidFill>
                  <a:srgbClr val="21295C"/>
                </a:solidFill>
                <a:latin typeface="Arial"/>
              </a:rPr>
              <a:t/>
            </a:r>
            <a:r>
              <a:rPr sz="1500" b="1" i="0">
                <a:solidFill>
                  <a:srgbClr val="21295C"/>
                </a:solidFill>
                <a:latin typeface="Arial"/>
              </a:rPr>
              <a:t>Риск третьей ступени:</a:t>
            </a:r>
            <a:r>
              <a:rPr sz="1500" b="0" i="0">
                <a:solidFill>
                  <a:srgbClr val="21295C"/>
                </a:solidFill>
                <a:latin typeface="Arial"/>
              </a:rPr>
              <a:t> человек не знает, что модель отсеяла. </a:t>
            </a:r>
            <a:r>
              <a:rPr sz="1500" b="1" i="0">
                <a:solidFill>
                  <a:srgbClr val="21295C"/>
                </a:solidFill>
                <a:latin typeface="Arial"/>
              </a:rPr>
              <a:t>Четвёртой</a:t>
            </a:r>
            <a:r>
              <a:rPr sz="1500" b="0" i="0">
                <a:solidFill>
                  <a:srgbClr val="21295C"/>
                </a:solidFill>
                <a:latin typeface="Arial"/>
              </a:rPr>
              <a:t> — формальное требование «человек проверил» выполняется за </a:t>
            </a:r>
            <a:r>
              <a:rPr sz="1500" b="1" i="0">
                <a:solidFill>
                  <a:srgbClr val="21295C"/>
                </a:solidFill>
                <a:latin typeface="Arial"/>
              </a:rPr>
              <a:t>1,99 секунды</a:t>
            </a:r>
            <a:r>
              <a:rPr sz="1500" b="0" i="0">
                <a:solidFill>
                  <a:srgbClr val="21295C"/>
                </a:solidFill>
                <a:latin typeface="Arial"/>
              </a:rPr>
              <a:t> по медиане: за это время подсказку прочесть нельзя.</a:t>
            </a:r>
          </a:p>
        </p:txBody>
      </p:sp>
      <p:sp>
        <p:nvSpPr>
          <p:cNvPr id="16" name="Rectangle 15"/>
          <p:cNvSpPr/>
          <p:nvPr/>
        </p:nvSpPr>
        <p:spPr>
          <a:xfrm>
            <a:off x="6091275" y="3382994"/>
            <a:ext cx="9144" cy="2467929"/>
          </a:xfrm>
          <a:prstGeom prst="rect">
            <a:avLst/>
          </a:prstGeom>
          <a:solidFill>
            <a:srgbClr val="D9E2EC"/>
          </a:solidFill>
          <a:ln>
            <a:noFill/>
          </a:ln>
          <a:effectLst/>
        </p:spPr>
        <p:txBody>
          <a:bodyPr rtlCol="0" anchor="ctr"/>
          <a:lstStyle/>
          <a:p>
            <a:pPr algn="ctr"/>
          </a:p>
        </p:txBody>
      </p:sp>
      <p:sp>
        <p:nvSpPr>
          <p:cNvPr id="17" name="Rectangle 1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8" name="TextBox 1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Qazi I. A. и соавт., NEJM AI 2026</a:t>
            </a:r>
            <a:r>
              <a:rPr sz="1200" b="0" i="1">
                <a:solidFill>
                  <a:srgbClr val="1C7293"/>
                </a:solidFill>
                <a:latin typeface="Arial"/>
              </a:rPr>
              <a:t> · </a:t>
            </a:r>
            <a:r>
              <a:rPr sz="1200" b="0" i="1" u="sng">
                <a:solidFill>
                  <a:srgbClr val="065A82"/>
                </a:solidFill>
                <a:latin typeface="Arial"/>
                <a:hlinkClick r:id="rId3"/>
              </a:rPr>
              <a:t>Mozannar и соавт., CHI 2024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замер взгляда — при ложной и при верной подсказке</a:t>
            </a:r>
          </a:p>
        </p:txBody>
      </p:sp>
      <p:sp>
        <p:nvSpPr>
          <p:cNvPr id="4" name="Rounded Rectangle 3"/>
          <p:cNvSpPr/>
          <p:nvPr/>
        </p:nvSpPr>
        <p:spPr>
          <a:xfrm>
            <a:off x="502920"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ПРИ ЛОЖНОЙ ПОДСКАЗКЕ: БЕЗ → С</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29 → 61 из ста имевшихся</a:t>
            </a:r>
          </a:p>
        </p:txBody>
      </p:sp>
      <p:sp>
        <p:nvSpPr>
          <p:cNvPr id="7" name="TextBox 6"/>
          <p:cNvSpPr txBox="1"/>
          <p:nvPr/>
        </p:nvSpPr>
        <p:spPr>
          <a:xfrm>
            <a:off x="640080"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14 случаев, где подсказка молчала; значимо. Цена — лечение позже и хуже</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КОГДА РАЗМЕТКУ ЗАПРАШИВАЛИ САМИ: БЕЗ → С</a:t>
            </a:r>
          </a:p>
        </p:txBody>
      </p:sp>
      <p:sp>
        <p:nvSpPr>
          <p:cNvPr id="10" name="TextBox 9"/>
          <p:cNvSpPr txBox="1"/>
          <p:nvPr/>
        </p:nvSpPr>
        <p:spPr>
          <a:xfrm>
            <a:off x="6315303" y="1932846"/>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165 → 115 из 900 прочтений</a:t>
            </a:r>
          </a:p>
        </p:txBody>
      </p:sp>
      <p:sp>
        <p:nvSpPr>
          <p:cNvPr id="11" name="TextBox 10"/>
          <p:cNvSpPr txBox="1"/>
          <p:nvPr/>
        </p:nvSpPr>
        <p:spPr>
          <a:xfrm>
            <a:off x="6315303"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75 случаев с раком на режим; прибавка 5,6 пункта при интервале −0,3…+11,4 — значимости нет. Время чтения не изменилось</a:t>
            </a:r>
          </a:p>
        </p:txBody>
      </p:sp>
      <p:sp>
        <p:nvSpPr>
          <p:cNvPr id="12" name="TextBox 11"/>
          <p:cNvSpPr txBox="1"/>
          <p:nvPr/>
        </p:nvSpPr>
        <p:spPr>
          <a:xfrm>
            <a:off x="502920" y="313894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Отметка со снимком</a:t>
            </a:r>
          </a:p>
        </p:txBody>
      </p:sp>
      <p:sp>
        <p:nvSpPr>
          <p:cNvPr id="13" name="Rounded Rectangle 12"/>
          <p:cNvSpPr/>
          <p:nvPr/>
        </p:nvSpPr>
        <p:spPr>
          <a:xfrm>
            <a:off x="1920240"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4" name="TextBox 13"/>
          <p:cNvSpPr txBox="1"/>
          <p:nvPr/>
        </p:nvSpPr>
        <p:spPr>
          <a:xfrm>
            <a:off x="2002536"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с отметкой</a:t>
            </a:r>
          </a:p>
        </p:txBody>
      </p:sp>
      <p:sp>
        <p:nvSpPr>
          <p:cNvPr id="15" name="Right Arrow 14"/>
          <p:cNvSpPr/>
          <p:nvPr/>
        </p:nvSpPr>
        <p:spPr>
          <a:xfrm>
            <a:off x="5039258" y="3271489"/>
            <a:ext cx="182880" cy="137160"/>
          </a:xfrm>
          <a:prstGeom prst="rightArrow">
            <a:avLst/>
          </a:prstGeom>
          <a:solidFill>
            <a:srgbClr val="1C7293"/>
          </a:solidFill>
          <a:ln>
            <a:noFill/>
          </a:ln>
          <a:effectLst/>
        </p:spPr>
        <p:txBody>
          <a:bodyPr rtlCol="0" anchor="ctr"/>
          <a:lstStyle/>
          <a:p>
            <a:pPr algn="ctr"/>
          </a:p>
        </p:txBody>
      </p:sp>
      <p:sp>
        <p:nvSpPr>
          <p:cNvPr id="16" name="Rounded Rectangle 15"/>
          <p:cNvSpPr/>
          <p:nvPr/>
        </p:nvSpPr>
        <p:spPr>
          <a:xfrm>
            <a:off x="5267858"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5350154"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a:t>
            </a:r>
          </a:p>
        </p:txBody>
      </p:sp>
      <p:sp>
        <p:nvSpPr>
          <p:cNvPr id="18" name="Right Arrow 17"/>
          <p:cNvSpPr/>
          <p:nvPr/>
        </p:nvSpPr>
        <p:spPr>
          <a:xfrm>
            <a:off x="8386876" y="327148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8615476" y="310237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8697772" y="314809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a:t>
            </a:r>
          </a:p>
        </p:txBody>
      </p:sp>
      <p:sp>
        <p:nvSpPr>
          <p:cNvPr id="21" name="TextBox 20"/>
          <p:cNvSpPr txBox="1"/>
          <p:nvPr/>
        </p:nvSpPr>
        <p:spPr>
          <a:xfrm>
            <a:off x="502920" y="376064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Разметка по запросу</a:t>
            </a:r>
          </a:p>
        </p:txBody>
      </p:sp>
      <p:sp>
        <p:nvSpPr>
          <p:cNvPr id="22" name="Rounded Rectangle 21"/>
          <p:cNvSpPr/>
          <p:nvPr/>
        </p:nvSpPr>
        <p:spPr>
          <a:xfrm>
            <a:off x="1920240"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a:t>
            </a:r>
          </a:p>
        </p:txBody>
      </p:sp>
      <p:sp>
        <p:nvSpPr>
          <p:cNvPr id="24" name="Right Arrow 23"/>
          <p:cNvSpPr/>
          <p:nvPr/>
        </p:nvSpPr>
        <p:spPr>
          <a:xfrm>
            <a:off x="4202353" y="3893186"/>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4430953"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4513249"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чтение</a:t>
            </a:r>
          </a:p>
        </p:txBody>
      </p:sp>
      <p:sp>
        <p:nvSpPr>
          <p:cNvPr id="27" name="Right Arrow 26"/>
          <p:cNvSpPr/>
          <p:nvPr/>
        </p:nvSpPr>
        <p:spPr>
          <a:xfrm>
            <a:off x="6713067" y="389318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запрос разметки</a:t>
            </a:r>
          </a:p>
        </p:txBody>
      </p:sp>
      <p:sp>
        <p:nvSpPr>
          <p:cNvPr id="30" name="Right Arrow 29"/>
          <p:cNvSpPr/>
          <p:nvPr/>
        </p:nvSpPr>
        <p:spPr>
          <a:xfrm>
            <a:off x="9223781" y="389318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9452381" y="372406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9534677" y="376978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a:t>
            </a:r>
          </a:p>
        </p:txBody>
      </p:sp>
      <p:sp>
        <p:nvSpPr>
          <p:cNvPr id="33" name="TextBox 32"/>
          <p:cNvSpPr txBox="1"/>
          <p:nvPr/>
        </p:nvSpPr>
        <p:spPr>
          <a:xfrm>
            <a:off x="502920" y="423603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Разошлись опыты порядком предъявления подсказки</a:t>
            </a:r>
          </a:p>
        </p:txBody>
      </p:sp>
      <p:sp>
        <p:nvSpPr>
          <p:cNvPr id="34" name="Rounded Rectangle 33"/>
          <p:cNvSpPr/>
          <p:nvPr/>
        </p:nvSpPr>
        <p:spPr>
          <a:xfrm>
            <a:off x="374904" y="4538721"/>
            <a:ext cx="11441887" cy="1697486"/>
          </a:xfrm>
          <a:prstGeom prst="roundRect">
            <a:avLst>
              <a:gd name="adj" fmla="val 17955"/>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4630161"/>
            <a:ext cx="11112703" cy="1606046"/>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Два замера одной величины.</a:t>
            </a:r>
            <a:r>
              <a:rPr sz="1100" b="0" i="0">
                <a:solidFill>
                  <a:srgbClr val="21295C"/>
                </a:solidFill>
                <a:latin typeface="Arial"/>
              </a:rPr>
              <a:t> 10 радиологов прочли 60 маммограмм дважды: сами и с подсказкой, нарочно ошибавшейся в обе стороны. 12 радиологов другой программы: 150 исследований тоже дважды, с допущенной системой.</a:t>
            </a:r>
          </a:p>
          <a:p>
            <a:pPr algn="l">
              <a:lnSpc>
                <a:spcPct val="126000"/>
              </a:lnSpc>
              <a:spcBef>
                <a:spcPts val="720"/>
              </a:spcBef>
            </a:pPr>
            <a:r>
              <a:rPr sz="1100" b="0" i="0">
                <a:solidFill>
                  <a:srgbClr val="21295C"/>
                </a:solidFill>
                <a:latin typeface="Arial"/>
              </a:rPr>
              <a:t/>
            </a:r>
            <a:r>
              <a:rPr sz="1100" b="1" i="0">
                <a:solidFill>
                  <a:srgbClr val="21295C"/>
                </a:solidFill>
                <a:latin typeface="Arial"/>
              </a:rPr>
              <a:t>Другой порядок предъявления — обратный знак.</a:t>
            </a:r>
          </a:p>
          <a:p>
            <a:pPr algn="l">
              <a:lnSpc>
                <a:spcPct val="126000"/>
              </a:lnSpc>
              <a:spcBef>
                <a:spcPts val="720"/>
              </a:spcBef>
            </a:pPr>
            <a:r>
              <a:rPr sz="1100" b="0" i="0">
                <a:solidFill>
                  <a:srgbClr val="21295C"/>
                </a:solidFill>
                <a:latin typeface="Arial"/>
              </a:rPr>
              <a:t/>
            </a:r>
            <a:r>
              <a:rPr sz="1100" b="1" i="0">
                <a:solidFill>
                  <a:srgbClr val="21295C"/>
                </a:solidFill>
                <a:latin typeface="Arial"/>
              </a:rPr>
              <a:t>Устроено.</a:t>
            </a:r>
            <a:r>
              <a:rPr sz="1100" b="0" i="0">
                <a:solidFill>
                  <a:srgbClr val="21295C"/>
                </a:solidFill>
                <a:latin typeface="Arial"/>
              </a:rPr>
              <a:t> Вход — маммограмма, выход — оценка подозрительности области. Изделие называет вторая работа: </a:t>
            </a:r>
            <a:r>
              <a:rPr sz="1100" b="1" i="0">
                <a:solidFill>
                  <a:srgbClr val="21295C"/>
                </a:solidFill>
                <a:latin typeface="Arial"/>
              </a:rPr>
              <a:t>Transpara 2.1.0, ScreenPoint Medical.</a:t>
            </a:r>
            <a:r>
              <a:rPr sz="1100" b="0" i="0">
                <a:solidFill>
                  <a:srgbClr val="21295C"/>
                </a:solidFill>
                <a:latin typeface="Arial"/>
              </a:rPr>
              <a:t> </a:t>
            </a:r>
            <a:r>
              <a:rPr sz="1100" b="1" i="0">
                <a:solidFill>
                  <a:srgbClr val="21295C"/>
                </a:solidFill>
                <a:latin typeface="Arial"/>
              </a:rPr>
              <a:t>Фокусировка:</a:t>
            </a:r>
            <a:r>
              <a:rPr sz="1100" b="0" i="0">
                <a:solidFill>
                  <a:srgbClr val="21295C"/>
                </a:solidFill>
                <a:latin typeface="Arial"/>
              </a:rPr>
              <a:t> осмотрено 11,1 → 9,5 из ста площади снимка, в нужном месте дольше — 4,4 → 5,4 секунды.</a:t>
            </a:r>
          </a:p>
          <a:p>
            <a:pPr algn="l">
              <a:lnSpc>
                <a:spcPct val="126000"/>
              </a:lnSpc>
              <a:spcBef>
                <a:spcPts val="720"/>
              </a:spcBef>
            </a:pPr>
            <a:r>
              <a:rPr sz="1100" b="0" i="0">
                <a:solidFill>
                  <a:srgbClr val="21295C"/>
                </a:solidFill>
                <a:latin typeface="Arial"/>
              </a:rPr>
              <a:t/>
            </a:r>
            <a:r>
              <a:rPr sz="1100" b="1" i="0">
                <a:solidFill>
                  <a:srgbClr val="21295C"/>
                </a:solidFill>
                <a:latin typeface="Arial"/>
              </a:rPr>
              <a:t>Это сужение — второе из шести искажений с входа вечера:</a:t>
            </a:r>
            <a:r>
              <a:rPr sz="1100" b="0" i="0">
                <a:solidFill>
                  <a:srgbClr val="21295C"/>
                </a:solidFill>
                <a:latin typeface="Arial"/>
              </a:rPr>
              <a:t> где модель молчит, взгляд не задерживается, и пропуск модели становится пропуском читателя.</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Taib и соавт., Radiology 2026</a:t>
            </a:r>
            <a:r>
              <a:rPr sz="1200" b="0" i="1">
                <a:solidFill>
                  <a:srgbClr val="1C7293"/>
                </a:solidFill>
                <a:latin typeface="Arial"/>
              </a:rPr>
              <a:t> · </a:t>
            </a:r>
            <a:r>
              <a:rPr sz="1200" b="0" i="1" u="sng">
                <a:solidFill>
                  <a:srgbClr val="065A82"/>
                </a:solidFill>
                <a:latin typeface="Arial"/>
                <a:hlinkClick r:id="rId3"/>
              </a:rPr>
              <a:t>Gommers и соавт., Radiology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патологи читают срезы — с подсказкой и без</a:t>
            </a:r>
          </a:p>
        </p:txBody>
      </p:sp>
      <p:sp>
        <p:nvSpPr>
          <p:cNvPr id="4" name="Rounded Rectangle 3"/>
          <p:cNvSpPr/>
          <p:nvPr/>
        </p:nvSpPr>
        <p:spPr>
          <a:xfrm>
            <a:off x="502920" y="1335024"/>
            <a:ext cx="3618890" cy="2218199"/>
          </a:xfrm>
          <a:prstGeom prst="roundRect">
            <a:avLst>
              <a:gd name="adj" fmla="val 1374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ВЕРНЫХ ЗАКЛЮЧЕНИЙ: МОДЕЛЬ ОДНА · ПАТОЛОГ САМ · ПАРА</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0,842 · 0,898 · 0,914</a:t>
            </a:r>
          </a:p>
        </p:txBody>
      </p:sp>
      <p:sp>
        <p:nvSpPr>
          <p:cNvPr id="7" name="TextBox 6"/>
          <p:cNvSpPr txBox="1"/>
          <p:nvPr/>
        </p:nvSpPr>
        <p:spPr>
          <a:xfrm>
            <a:off x="640080" y="2359845"/>
            <a:ext cx="3344570"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интервалы 0,875–0,916 у патолога и 0,893–0,930 у пары; прибавка пары к патологу на группе НЕ устойчива — отношение шансов 1,281. Точность модели — на своём независимом наборе</a:t>
            </a:r>
          </a:p>
        </p:txBody>
      </p:sp>
      <p:sp>
        <p:nvSpPr>
          <p:cNvPr id="8" name="Rounded Rectangle 7"/>
          <p:cNvSpPr/>
          <p:nvPr/>
        </p:nvSpPr>
        <p:spPr>
          <a:xfrm>
            <a:off x="4286402" y="1335024"/>
            <a:ext cx="3618890" cy="2218199"/>
          </a:xfrm>
          <a:prstGeom prst="roundRect">
            <a:avLst>
              <a:gd name="adj" fmla="val 1374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ТА ЖЕ ПАРА В РАЗРЕЗЕ ПРАВОТЫ ПОДСКАЗКИ: ВЕРНАЯ → НЕВЕРНАЯ</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≈0,94 → ≈0,50</a:t>
            </a:r>
          </a:p>
        </p:txBody>
      </p:sp>
      <p:sp>
        <p:nvSpPr>
          <p:cNvPr id="11" name="TextBox 10"/>
          <p:cNvSpPr txBox="1"/>
          <p:nvPr/>
        </p:nvSpPr>
        <p:spPr>
          <a:xfrm>
            <a:off x="4423562" y="2359845"/>
            <a:ext cx="3344570"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пересчёт из отношений шансов 4,289 и 0,253, устойчивых в обе стороны, от базы восемь верных из десяти: работа печатает шансы, доли иллюстративны</a:t>
            </a:r>
          </a:p>
        </p:txBody>
      </p:sp>
      <p:sp>
        <p:nvSpPr>
          <p:cNvPr id="12" name="Rounded Rectangle 11"/>
          <p:cNvSpPr/>
          <p:nvPr/>
        </p:nvSpPr>
        <p:spPr>
          <a:xfrm>
            <a:off x="8069884" y="1335024"/>
            <a:ext cx="3618890" cy="2218199"/>
          </a:xfrm>
          <a:prstGeom prst="roundRect">
            <a:avLst>
              <a:gd name="adj" fmla="val 1374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средняя та же, разброс вырос</a:t>
            </a:r>
          </a:p>
        </p:txBody>
      </p:sp>
      <p:sp>
        <p:nvSpPr>
          <p:cNvPr id="15" name="TextBox 14"/>
          <p:cNvSpPr txBox="1"/>
          <p:nvPr/>
        </p:nvSpPr>
        <p:spPr>
          <a:xfrm>
            <a:off x="502920" y="377267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6" name="Rounded Rectangle 15"/>
          <p:cNvSpPr/>
          <p:nvPr/>
        </p:nvSpPr>
        <p:spPr>
          <a:xfrm>
            <a:off x="1920240"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срез на экране</a:t>
            </a:r>
          </a:p>
        </p:txBody>
      </p:sp>
      <p:sp>
        <p:nvSpPr>
          <p:cNvPr id="18" name="Right Arrow 17"/>
          <p:cNvSpPr/>
          <p:nvPr/>
        </p:nvSpPr>
        <p:spPr>
          <a:xfrm>
            <a:off x="5039258" y="3905219"/>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267858"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350154"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патолог решает</a:t>
            </a:r>
          </a:p>
        </p:txBody>
      </p:sp>
      <p:sp>
        <p:nvSpPr>
          <p:cNvPr id="21" name="Right Arrow 20"/>
          <p:cNvSpPr/>
          <p:nvPr/>
        </p:nvSpPr>
        <p:spPr>
          <a:xfrm>
            <a:off x="8386876" y="390521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15476" y="3736103"/>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8697772" y="3781823"/>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24" name="TextBox 23"/>
          <p:cNvSpPr txBox="1"/>
          <p:nvPr/>
        </p:nvSpPr>
        <p:spPr>
          <a:xfrm>
            <a:off x="502920" y="439437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5" name="Rounded Rectangle 24"/>
          <p:cNvSpPr/>
          <p:nvPr/>
        </p:nvSpPr>
        <p:spPr>
          <a:xfrm>
            <a:off x="1920240"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срез на экране</a:t>
            </a:r>
          </a:p>
        </p:txBody>
      </p:sp>
      <p:sp>
        <p:nvSpPr>
          <p:cNvPr id="27" name="Right Arrow 26"/>
          <p:cNvSpPr/>
          <p:nvPr/>
        </p:nvSpPr>
        <p:spPr>
          <a:xfrm>
            <a:off x="4202353" y="452691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4430953" y="4357799"/>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9" name="TextBox 28"/>
          <p:cNvSpPr txBox="1"/>
          <p:nvPr/>
        </p:nvSpPr>
        <p:spPr>
          <a:xfrm>
            <a:off x="4513249" y="4403519"/>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подсказка модели</a:t>
            </a:r>
          </a:p>
        </p:txBody>
      </p:sp>
      <p:sp>
        <p:nvSpPr>
          <p:cNvPr id="30" name="Right Arrow 29"/>
          <p:cNvSpPr/>
          <p:nvPr/>
        </p:nvSpPr>
        <p:spPr>
          <a:xfrm>
            <a:off x="6713067" y="45269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патолог решает</a:t>
            </a:r>
          </a:p>
        </p:txBody>
      </p:sp>
      <p:sp>
        <p:nvSpPr>
          <p:cNvPr id="33" name="Right Arrow 32"/>
          <p:cNvSpPr/>
          <p:nvPr/>
        </p:nvSpPr>
        <p:spPr>
          <a:xfrm>
            <a:off x="9223781" y="4526916"/>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9452381" y="435779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5" name="TextBox 34"/>
          <p:cNvSpPr txBox="1"/>
          <p:nvPr/>
        </p:nvSpPr>
        <p:spPr>
          <a:xfrm>
            <a:off x="9534677" y="440351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6" name="TextBox 35"/>
          <p:cNvSpPr txBox="1"/>
          <p:nvPr/>
        </p:nvSpPr>
        <p:spPr>
          <a:xfrm>
            <a:off x="502920" y="486976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Половина случаев с подсказкой, половина без; подпись в обоих случаях за патологом</a:t>
            </a:r>
          </a:p>
        </p:txBody>
      </p:sp>
      <p:sp>
        <p:nvSpPr>
          <p:cNvPr id="37" name="Rounded Rectangle 36"/>
          <p:cNvSpPr/>
          <p:nvPr/>
        </p:nvSpPr>
        <p:spPr>
          <a:xfrm>
            <a:off x="374904" y="5172452"/>
            <a:ext cx="11441887" cy="10637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8" name="TextBox 37"/>
          <p:cNvSpPr txBox="1"/>
          <p:nvPr/>
        </p:nvSpPr>
        <p:spPr>
          <a:xfrm>
            <a:off x="539496" y="5263892"/>
            <a:ext cx="5373471" cy="97231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11 патологов разного опыта</a:t>
            </a:r>
            <a:r>
              <a:rPr sz="1100" b="0" i="0">
                <a:solidFill>
                  <a:srgbClr val="21295C"/>
                </a:solidFill>
                <a:latin typeface="Arial"/>
              </a:rPr>
              <a:t> различали два вида рака печени по 80 оцифрованным срезам. </a:t>
            </a:r>
            <a:r>
              <a:rPr sz="1100" b="1" i="0">
                <a:solidFill>
                  <a:srgbClr val="21295C"/>
                </a:solidFill>
                <a:latin typeface="Arial"/>
              </a:rPr>
              <a:t>Цена ошибки обоюдна:</a:t>
            </a:r>
            <a:r>
              <a:rPr sz="1100" b="0" i="0">
                <a:solidFill>
                  <a:srgbClr val="21295C"/>
                </a:solidFill>
                <a:latin typeface="Arial"/>
              </a:rPr>
              <a:t> спутать два вида опухоли — другое лечение; перепроверка — время специалиста.</a:t>
            </a:r>
          </a:p>
        </p:txBody>
      </p:sp>
      <p:sp>
        <p:nvSpPr>
          <p:cNvPr id="39" name="TextBox 38"/>
          <p:cNvSpPr txBox="1"/>
          <p:nvPr/>
        </p:nvSpPr>
        <p:spPr>
          <a:xfrm>
            <a:off x="6278727" y="5263892"/>
            <a:ext cx="5373471" cy="972315"/>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Здесь патолог сильнее модели, и пара выше обеих сторон.</a:t>
            </a:r>
            <a:r>
              <a:rPr sz="1100" b="0" i="0">
                <a:solidFill>
                  <a:srgbClr val="21295C"/>
                </a:solidFill>
                <a:latin typeface="Arial"/>
              </a:rPr>
              <a:t> Ошибка модели при этом становится ошибкой врача: подпись ставит он.</a:t>
            </a:r>
          </a:p>
          <a:p>
            <a:pPr algn="l">
              <a:lnSpc>
                <a:spcPct val="126000"/>
              </a:lnSpc>
              <a:spcBef>
                <a:spcPts val="720"/>
              </a:spcBef>
            </a:pPr>
            <a:r>
              <a:rPr sz="1100" b="0" i="0">
                <a:solidFill>
                  <a:srgbClr val="21295C"/>
                </a:solidFill>
                <a:latin typeface="Arial"/>
              </a:rPr>
              <a:t/>
            </a:r>
            <a:r>
              <a:rPr sz="1100" b="1" i="0">
                <a:solidFill>
                  <a:srgbClr val="21295C"/>
                </a:solidFill>
                <a:latin typeface="Arial"/>
              </a:rPr>
              <a:t>«Эффекта нет» в отчёте с одним числом:</a:t>
            </a:r>
            <a:r>
              <a:rPr sz="1100" b="0" i="0">
                <a:solidFill>
                  <a:srgbClr val="21295C"/>
                </a:solidFill>
                <a:latin typeface="Arial"/>
              </a:rPr>
              <a:t> на группе прибавка незначима, хотя в обе стороны эффект вчетверо.</a:t>
            </a:r>
          </a:p>
        </p:txBody>
      </p:sp>
      <p:sp>
        <p:nvSpPr>
          <p:cNvPr id="40" name="Rectangle 39"/>
          <p:cNvSpPr/>
          <p:nvPr/>
        </p:nvSpPr>
        <p:spPr>
          <a:xfrm>
            <a:off x="6091275" y="5263892"/>
            <a:ext cx="9144" cy="962819"/>
          </a:xfrm>
          <a:prstGeom prst="rect">
            <a:avLst/>
          </a:prstGeom>
          <a:solidFill>
            <a:srgbClr val="D9E2EC"/>
          </a:solidFill>
          <a:ln>
            <a:noFill/>
          </a:ln>
          <a:effectLst/>
        </p:spPr>
        <p:txBody>
          <a:bodyPr rtlCol="0" anchor="ctr"/>
          <a:lstStyle/>
          <a:p>
            <a:pPr algn="ctr"/>
          </a:p>
        </p:txBody>
      </p:sp>
      <p:sp>
        <p:nvSpPr>
          <p:cNvPr id="41" name="Rectangle 4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2" name="TextBox 4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Kiani и соавт., npj Digital Medicine 2020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Пример 3: шведское испытание — второе человеческое чтение заменено моделью</a:t>
            </a:r>
          </a:p>
        </p:txBody>
      </p:sp>
      <p:sp>
        <p:nvSpPr>
          <p:cNvPr id="4" name="Rounded Rectangle 3"/>
          <p:cNvSpPr/>
          <p:nvPr/>
        </p:nvSpPr>
        <p:spPr>
          <a:xfrm>
            <a:off x="502920"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ПРОПУЩЕННЫХ РАКОВ: ДВОЙНОЕ ЧТЕНИЕ → ЧЕЛОВЕК С МОДЕЛЬЮ И АРБИТРОМ</a:t>
            </a:r>
          </a:p>
        </p:txBody>
      </p:sp>
      <p:sp>
        <p:nvSpPr>
          <p:cNvPr id="6" name="TextBox 5"/>
          <p:cNvSpPr txBox="1"/>
          <p:nvPr/>
        </p:nvSpPr>
        <p:spPr>
          <a:xfrm>
            <a:off x="640080" y="2140317"/>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26 → 20 из ста имевшихся</a:t>
            </a:r>
          </a:p>
        </p:txBody>
      </p:sp>
      <p:sp>
        <p:nvSpPr>
          <p:cNvPr id="7" name="TextBox 6"/>
          <p:cNvSpPr txBox="1"/>
          <p:nvPr/>
        </p:nvSpPr>
        <p:spPr>
          <a:xfrm>
            <a:off x="640080" y="2957740"/>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рандомизированное испытание, 105 934 женщины; различие устойчиво</a:t>
            </a:r>
          </a:p>
        </p:txBody>
      </p:sp>
      <p:sp>
        <p:nvSpPr>
          <p:cNvPr id="8" name="Rounded Rectangle 7"/>
          <p:cNvSpPr/>
          <p:nvPr/>
        </p:nvSpPr>
        <p:spPr>
          <a:xfrm>
            <a:off x="4286402"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ИНТЕРВАЛЬНЫЕ РАКИ НА 1000 ОБСЛЕДОВАННЫХ: ДВОЙНОЕ ЧТЕНИЕ → С МОДЕЛЬЮ</a:t>
            </a:r>
          </a:p>
        </p:txBody>
      </p:sp>
      <p:sp>
        <p:nvSpPr>
          <p:cNvPr id="10" name="TextBox 9"/>
          <p:cNvSpPr txBox="1"/>
          <p:nvPr/>
        </p:nvSpPr>
        <p:spPr>
          <a:xfrm>
            <a:off x="4423562" y="2140317"/>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1,76 → 1,55</a:t>
            </a:r>
          </a:p>
        </p:txBody>
      </p:sp>
      <p:sp>
        <p:nvSpPr>
          <p:cNvPr id="11" name="TextBox 10"/>
          <p:cNvSpPr txBox="1"/>
          <p:nvPr/>
        </p:nvSpPr>
        <p:spPr>
          <a:xfrm>
            <a:off x="4423562" y="2567316"/>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93 из 52 872 против 82 из 53 043. Улучшение НЕ доказано: отношение 0,88 при интервале 0,65–1,18 — не-худшесть</a:t>
            </a:r>
          </a:p>
        </p:txBody>
      </p:sp>
      <p:sp>
        <p:nvSpPr>
          <p:cNvPr id="12" name="Rounded Rectangle 11"/>
          <p:cNvSpPr/>
          <p:nvPr/>
        </p:nvSpPr>
        <p:spPr>
          <a:xfrm>
            <a:off x="8069884" y="1335024"/>
            <a:ext cx="3618890"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ОБЪЁМ ЧЕЛОВЕЧЕСКОГО ЧТЕНИЯ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ниже на 44,3 процента</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 двойное чтение, два человеческих прочтения на снимок; промежуточный анализ, 80 033 обследованных</a:t>
            </a:r>
          </a:p>
        </p:txBody>
      </p:sp>
      <p:sp>
        <p:nvSpPr>
          <p:cNvPr id="16" name="TextBox 15"/>
          <p:cNvSpPr txBox="1"/>
          <p:nvPr/>
        </p:nvSpPr>
        <p:spPr>
          <a:xfrm>
            <a:off x="502920" y="373684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Двойное чтение</a:t>
            </a:r>
          </a:p>
        </p:txBody>
      </p:sp>
      <p:sp>
        <p:nvSpPr>
          <p:cNvPr id="17" name="Rounded Rectangle 16"/>
          <p:cNvSpPr/>
          <p:nvPr/>
        </p:nvSpPr>
        <p:spPr>
          <a:xfrm>
            <a:off x="1920240"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два радиолога порознь</a:t>
            </a:r>
          </a:p>
        </p:txBody>
      </p:sp>
      <p:sp>
        <p:nvSpPr>
          <p:cNvPr id="19" name="Right Arrow 18"/>
          <p:cNvSpPr/>
          <p:nvPr/>
        </p:nvSpPr>
        <p:spPr>
          <a:xfrm>
            <a:off x="5039258" y="386938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сводят</a:t>
            </a:r>
          </a:p>
        </p:txBody>
      </p:sp>
      <p:sp>
        <p:nvSpPr>
          <p:cNvPr id="22" name="Right Arrow 21"/>
          <p:cNvSpPr/>
          <p:nvPr/>
        </p:nvSpPr>
        <p:spPr>
          <a:xfrm>
            <a:off x="8386876" y="386938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a:t>
            </a:r>
          </a:p>
        </p:txBody>
      </p:sp>
      <p:sp>
        <p:nvSpPr>
          <p:cNvPr id="25" name="TextBox 24"/>
          <p:cNvSpPr txBox="1"/>
          <p:nvPr/>
        </p:nvSpPr>
        <p:spPr>
          <a:xfrm>
            <a:off x="502920" y="43585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Второе чтение — модель</a:t>
            </a:r>
          </a:p>
        </p:txBody>
      </p:sp>
      <p:sp>
        <p:nvSpPr>
          <p:cNvPr id="26" name="Rounded Rectangle 25"/>
          <p:cNvSpPr/>
          <p:nvPr/>
        </p:nvSpPr>
        <p:spPr>
          <a:xfrm>
            <a:off x="1920240"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радиолог первым</a:t>
            </a:r>
          </a:p>
        </p:txBody>
      </p:sp>
      <p:sp>
        <p:nvSpPr>
          <p:cNvPr id="28" name="Right Arrow 27"/>
          <p:cNvSpPr/>
          <p:nvPr/>
        </p:nvSpPr>
        <p:spPr>
          <a:xfrm>
            <a:off x="4202353" y="4491080"/>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432196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36768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вторым</a:t>
            </a:r>
          </a:p>
        </p:txBody>
      </p:sp>
      <p:sp>
        <p:nvSpPr>
          <p:cNvPr id="31" name="Right Arrow 30"/>
          <p:cNvSpPr/>
          <p:nvPr/>
        </p:nvSpPr>
        <p:spPr>
          <a:xfrm>
            <a:off x="6713067" y="4491080"/>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расхождение — третий</a:t>
            </a:r>
          </a:p>
        </p:txBody>
      </p:sp>
      <p:sp>
        <p:nvSpPr>
          <p:cNvPr id="34" name="Right Arrow 33"/>
          <p:cNvSpPr/>
          <p:nvPr/>
        </p:nvSpPr>
        <p:spPr>
          <a:xfrm>
            <a:off x="9223781" y="4491080"/>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43219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3676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a:t>
            </a:r>
          </a:p>
        </p:txBody>
      </p:sp>
      <p:sp>
        <p:nvSpPr>
          <p:cNvPr id="37" name="TextBox 36"/>
          <p:cNvSpPr txBox="1"/>
          <p:nvPr/>
        </p:nvSpPr>
        <p:spPr>
          <a:xfrm>
            <a:off x="502920" y="483393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 арбитру уходит только расхождение, а не весь поток</a:t>
            </a:r>
          </a:p>
        </p:txBody>
      </p:sp>
      <p:sp>
        <p:nvSpPr>
          <p:cNvPr id="38" name="Rounded Rectangle 37"/>
          <p:cNvSpPr/>
          <p:nvPr/>
        </p:nvSpPr>
        <p:spPr>
          <a:xfrm>
            <a:off x="374904" y="5136616"/>
            <a:ext cx="11441887" cy="109959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105 934 женщины шведской программы распределены жребием между двумя порядками чтения.</a:t>
            </a:r>
            <a:r>
              <a:rPr sz="1150" b="0" i="0">
                <a:solidFill>
                  <a:srgbClr val="21295C"/>
                </a:solidFill>
                <a:latin typeface="Arial"/>
              </a:rPr>
              <a:t> Человеческого чтения во втором меньше: к арбитру уходит только расхождение.</a:t>
            </a:r>
          </a:p>
        </p:txBody>
      </p:sp>
      <p:sp>
        <p:nvSpPr>
          <p:cNvPr id="40" name="TextBox 39"/>
          <p:cNvSpPr txBox="1"/>
          <p:nvPr/>
        </p:nvSpPr>
        <p:spPr>
          <a:xfrm>
            <a:off x="6278727"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Модель одну это испытание не измеряло,</a:t>
            </a:r>
            <a:r>
              <a:rPr sz="1150" b="0" i="0">
                <a:solidFill>
                  <a:srgbClr val="21295C"/>
                </a:solidFill>
                <a:latin typeface="Arial"/>
              </a:rPr>
              <a:t> и одиночного чтения без арбитража тоже нет: сравнивали против сильного режима.</a:t>
            </a:r>
          </a:p>
          <a:p>
            <a:pPr algn="l">
              <a:lnSpc>
                <a:spcPct val="126000"/>
              </a:lnSpc>
              <a:spcBef>
                <a:spcPts val="720"/>
              </a:spcBef>
            </a:pPr>
            <a:r>
              <a:rPr sz="1150" b="0" i="0">
                <a:solidFill>
                  <a:srgbClr val="21295C"/>
                </a:solidFill>
                <a:latin typeface="Arial"/>
              </a:rPr>
              <a:t/>
            </a:r>
            <a:r>
              <a:rPr sz="1150" b="1" i="0">
                <a:solidFill>
                  <a:srgbClr val="21295C"/>
                </a:solidFill>
                <a:latin typeface="Arial"/>
              </a:rPr>
              <a:t>Несогласие, пятое искажение входа, стало новой работой; повторных вызовов не стало ни больше, ни меньше.</a:t>
            </a:r>
          </a:p>
        </p:txBody>
      </p:sp>
      <p:sp>
        <p:nvSpPr>
          <p:cNvPr id="41" name="Rectangle 40"/>
          <p:cNvSpPr/>
          <p:nvPr/>
        </p:nvSpPr>
        <p:spPr>
          <a:xfrm>
            <a:off x="6091275" y="5228056"/>
            <a:ext cx="9144" cy="1002427"/>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Итоговый анализ MASAI, The Lancet 2026</a:t>
            </a:r>
            <a:r>
              <a:rPr sz="1200" b="0" i="1">
                <a:solidFill>
                  <a:srgbClr val="1C7293"/>
                </a:solidFill>
                <a:latin typeface="Arial"/>
              </a:rPr>
              <a:t> · </a:t>
            </a:r>
            <a:r>
              <a:rPr sz="1200" b="0" i="1" u="sng">
                <a:solidFill>
                  <a:srgbClr val="065A82"/>
                </a:solidFill>
                <a:latin typeface="Arial"/>
                <a:hlinkClick r:id="rId3"/>
              </a:rPr>
              <a:t>анализ безопасности, Lancet Oncology 2023</a:t>
            </a:r>
            <a:r>
              <a:rPr sz="1200" b="0" i="1">
                <a:solidFill>
                  <a:srgbClr val="1C7293"/>
                </a:solidFill>
                <a:latin typeface="Arial"/>
              </a:rPr>
              <a:t> · </a:t>
            </a:r>
            <a:r>
              <a:rPr sz="1200" b="0" i="1" u="sng">
                <a:solidFill>
                  <a:srgbClr val="065A82"/>
                </a:solidFill>
                <a:latin typeface="Arial"/>
                <a:hlinkClick r:id="rId4"/>
              </a:rPr>
              <a:t>Dembrower и соавт., Radiology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Кардиограмма с машинной расшифровкой: что будет, когда расшифровка неверна</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Как читали</a:t>
            </a:r>
          </a:p>
        </p:txBody>
      </p:sp>
      <p:sp>
        <p:nvSpPr>
          <p:cNvPr id="5" name="Rounded Rectangle 4"/>
          <p:cNvSpPr/>
          <p:nvPr/>
        </p:nvSpPr>
        <p:spPr>
          <a:xfrm>
            <a:off x="1920240"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кардиограмма с расшифровкой</a:t>
            </a:r>
          </a:p>
        </p:txBody>
      </p:sp>
      <p:sp>
        <p:nvSpPr>
          <p:cNvPr id="7" name="Right Arrow 6"/>
          <p:cNvSpPr/>
          <p:nvPr/>
        </p:nvSpPr>
        <p:spPr>
          <a:xfrm>
            <a:off x="5039258"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стажёр читает</a:t>
            </a:r>
          </a:p>
        </p:txBody>
      </p:sp>
      <p:sp>
        <p:nvSpPr>
          <p:cNvPr id="10" name="Right Arrow 9"/>
          <p:cNvSpPr/>
          <p:nvPr/>
        </p:nvSpPr>
        <p:spPr>
          <a:xfrm>
            <a:off x="8386876"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заключение</a:t>
            </a:r>
          </a:p>
        </p:txBody>
      </p:sp>
      <p:sp>
        <p:nvSpPr>
          <p:cNvPr id="13" name="TextBox 12"/>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Расшифровка приходит до собственного решения; чтения без неё работа не измеряла</a:t>
            </a:r>
          </a:p>
        </p:txBody>
      </p:sp>
      <p:sp>
        <p:nvSpPr>
          <p:cNvPr id="14" name="Rounded Rectangle 13"/>
          <p:cNvSpPr/>
          <p:nvPr/>
        </p:nvSpPr>
        <p:spPr>
          <a:xfrm>
            <a:off x="374904" y="2881196"/>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2972636"/>
            <a:ext cx="5373471" cy="326357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30 стажёров читали по сто кардиограмм, каждую трижды:</a:t>
            </a:r>
            <a:r>
              <a:rPr sz="1500" b="0" i="0">
                <a:solidFill>
                  <a:srgbClr val="21295C"/>
                </a:solidFill>
                <a:latin typeface="Arial"/>
              </a:rPr>
              <a:t> без расшифровки · с одной машинной расшифровкой, половина которых неверна · с несколькими вариантами диагноза. По 15 в каждой группе — стажёры кардиологии и стажёры других специальностей.</a:t>
            </a:r>
          </a:p>
        </p:txBody>
      </p:sp>
      <p:sp>
        <p:nvSpPr>
          <p:cNvPr id="16" name="TextBox 15"/>
          <p:cNvSpPr txBox="1"/>
          <p:nvPr/>
        </p:nvSpPr>
        <p:spPr>
          <a:xfrm>
            <a:off x="6278727" y="2972636"/>
            <a:ext cx="5373471" cy="326357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При ВЕРНОЙ расшифровке обе группы читают почти одинаково:</a:t>
            </a:r>
            <a:r>
              <a:rPr sz="1500" b="0" i="0">
                <a:solidFill>
                  <a:srgbClr val="21295C"/>
                </a:solidFill>
                <a:latin typeface="Arial"/>
              </a:rPr>
              <a:t> 84,86 из ста у кардиологов, 86,38 у остальных.</a:t>
            </a:r>
          </a:p>
          <a:p>
            <a:pPr algn="l">
              <a:lnSpc>
                <a:spcPct val="126000"/>
              </a:lnSpc>
              <a:spcBef>
                <a:spcPts val="3600"/>
              </a:spcBef>
            </a:pPr>
            <a:r>
              <a:rPr sz="1500" b="0" i="0">
                <a:solidFill>
                  <a:srgbClr val="21295C"/>
                </a:solidFill>
                <a:latin typeface="Arial"/>
              </a:rPr>
              <a:t/>
            </a:r>
            <a:r>
              <a:rPr sz="1500" b="1" i="0">
                <a:solidFill>
                  <a:srgbClr val="21295C"/>
                </a:solidFill>
                <a:latin typeface="Arial"/>
              </a:rPr>
              <a:t>Вопрос: что станет с этими двумя числами, когда расшифровка неверна — и у кого падение будет глубже?</a:t>
            </a:r>
          </a:p>
        </p:txBody>
      </p:sp>
      <p:sp>
        <p:nvSpPr>
          <p:cNvPr id="17" name="Rectangle 16"/>
          <p:cNvSpPr/>
          <p:nvPr/>
        </p:nvSpPr>
        <p:spPr>
          <a:xfrm>
            <a:off x="6091275" y="2972636"/>
            <a:ext cx="9144" cy="1942505"/>
          </a:xfrm>
          <a:prstGeom prst="rect">
            <a:avLst/>
          </a:prstGeom>
          <a:solidFill>
            <a:srgbClr val="D9E2EC"/>
          </a:solidFill>
          <a:ln>
            <a:noFill/>
          </a:ln>
          <a:effectLst/>
        </p:spPr>
        <p:txBody>
          <a:bodyPr rtlCol="0" anchor="ctr"/>
          <a:lstStyle/>
          <a:p>
            <a:pPr algn="ctr"/>
          </a:p>
        </p:txBody>
      </p:sp>
      <p:sp>
        <p:nvSpPr>
          <p:cNvPr id="18" name="Rectangle 1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Bond и соавт., Journal of Electrocardiology 2018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Вскрытие: обе группы падают вдвое, менее экспертная — глубже</a:t>
            </a:r>
          </a:p>
        </p:txBody>
      </p:sp>
      <p:sp>
        <p:nvSpPr>
          <p:cNvPr id="4" name="Rounded Rectangle 3"/>
          <p:cNvSpPr/>
          <p:nvPr/>
        </p:nvSpPr>
        <p:spPr>
          <a:xfrm>
            <a:off x="502920"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ПОТЕРЯ ТОЧНОСТИ НА НЕВЕРНОЙ РАСШИФРОВКЕ: КАРДИОЛОГИ → ДРУГИЕ СПЕЦИАЛЬНОСТИ</a:t>
            </a:r>
          </a:p>
        </p:txBody>
      </p:sp>
      <p:sp>
        <p:nvSpPr>
          <p:cNvPr id="6" name="TextBox 5"/>
          <p:cNvSpPr txBox="1"/>
          <p:nvPr/>
        </p:nvSpPr>
        <p:spPr>
          <a:xfrm>
            <a:off x="640080" y="1932846"/>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−43,20 → −58,95 пункта</a:t>
            </a:r>
          </a:p>
        </p:txBody>
      </p:sp>
      <p:sp>
        <p:nvSpPr>
          <p:cNvPr id="7" name="TextBox 6"/>
          <p:cNvSpPr txBox="1"/>
          <p:nvPr/>
        </p:nvSpPr>
        <p:spPr>
          <a:xfrm>
            <a:off x="640080" y="2359845"/>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различие устойчиво в обеих группах; менее экспертная теряет на 15,75 пункта больше — вывод авторов, высказанный дважды</a:t>
            </a:r>
          </a:p>
        </p:txBody>
      </p:sp>
      <p:sp>
        <p:nvSpPr>
          <p:cNvPr id="8" name="Rounded Rectangle 7"/>
          <p:cNvSpPr/>
          <p:nvPr/>
        </p:nvSpPr>
        <p:spPr>
          <a:xfrm>
            <a:off x="6178143" y="1335024"/>
            <a:ext cx="5510631"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СОГЛАШАЛИСЬ С НЕВЕРНОЙ РАСШИФРОВКОЙ</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30,77 против 42,31 из ста</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медианы по тем же двум группам, в том же порядке: менее экспертная соглашается чаще</a:t>
            </a:r>
          </a:p>
        </p:txBody>
      </p:sp>
      <p:sp>
        <p:nvSpPr>
          <p:cNvPr id="12" name="Rounded Rectangle 11"/>
          <p:cNvSpPr/>
          <p:nvPr/>
        </p:nvSpPr>
        <p:spPr>
          <a:xfrm>
            <a:off x="374904" y="3010932"/>
            <a:ext cx="11441887" cy="2986414"/>
          </a:xfrm>
          <a:prstGeom prst="roundRect">
            <a:avLst>
              <a:gd name="adj" fmla="val 10206"/>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102372"/>
            <a:ext cx="11112703" cy="341070"/>
          </a:xfrm>
          <a:prstGeom prst="rect">
            <a:avLst/>
          </a:prstGeom>
          <a:noFill/>
        </p:spPr>
        <p:txBody>
          <a:bodyPr wrap="square" lIns="0" rIns="0" tIns="0" bIns="0" anchor="t">
            <a:spAutoFit/>
          </a:bodyPr>
          <a:lstStyle/>
          <a:p>
            <a:pPr algn="l">
              <a:lnSpc>
                <a:spcPct val="124000"/>
              </a:lnSpc>
            </a:pPr>
            <a:r>
              <a:rPr sz="1750" b="1" i="0">
                <a:solidFill>
                  <a:srgbClr val="21295C"/>
                </a:solidFill>
                <a:latin typeface="Arial"/>
              </a:rPr>
              <a:t>Глубже упали стажёры других специальностей — те, у кого подготовки по этому чтению меньше.</a:t>
            </a:r>
          </a:p>
        </p:txBody>
      </p:sp>
      <p:sp>
        <p:nvSpPr>
          <p:cNvPr id="14" name="Rectangle 13"/>
          <p:cNvSpPr/>
          <p:nvPr/>
        </p:nvSpPr>
        <p:spPr>
          <a:xfrm>
            <a:off x="539496" y="3589746"/>
            <a:ext cx="6377221" cy="465425"/>
          </a:xfrm>
          <a:prstGeom prst="rect">
            <a:avLst/>
          </a:prstGeom>
          <a:solidFill>
            <a:srgbClr val="065A82"/>
          </a:solidFill>
          <a:ln>
            <a:noFill/>
          </a:ln>
          <a:effectLst/>
        </p:spPr>
        <p:txBody>
          <a:bodyPr rtlCol="0" anchor="ctr"/>
          <a:lstStyle/>
          <a:p>
            <a:pPr algn="ctr"/>
          </a:p>
        </p:txBody>
      </p:sp>
      <p:sp>
        <p:nvSpPr>
          <p:cNvPr id="15" name="TextBox 14"/>
          <p:cNvSpPr txBox="1"/>
          <p:nvPr/>
        </p:nvSpPr>
        <p:spPr>
          <a:xfrm>
            <a:off x="685800" y="3589746"/>
            <a:ext cx="6084613"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точность заключения, из ста</a:t>
            </a:r>
          </a:p>
        </p:txBody>
      </p:sp>
      <p:sp>
        <p:nvSpPr>
          <p:cNvPr id="16" name="Rectangle 15"/>
          <p:cNvSpPr/>
          <p:nvPr/>
        </p:nvSpPr>
        <p:spPr>
          <a:xfrm>
            <a:off x="6916717" y="3589746"/>
            <a:ext cx="2139298" cy="465425"/>
          </a:xfrm>
          <a:prstGeom prst="rect">
            <a:avLst/>
          </a:prstGeom>
          <a:solidFill>
            <a:srgbClr val="065A82"/>
          </a:solidFill>
          <a:ln>
            <a:noFill/>
          </a:ln>
          <a:effectLst/>
        </p:spPr>
        <p:txBody>
          <a:bodyPr rtlCol="0" anchor="ctr"/>
          <a:lstStyle/>
          <a:p>
            <a:pPr algn="ctr"/>
          </a:p>
        </p:txBody>
      </p:sp>
      <p:sp>
        <p:nvSpPr>
          <p:cNvPr id="17" name="TextBox 16"/>
          <p:cNvSpPr txBox="1"/>
          <p:nvPr/>
        </p:nvSpPr>
        <p:spPr>
          <a:xfrm>
            <a:off x="7063021" y="3589746"/>
            <a:ext cx="1846690"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верная</a:t>
            </a:r>
          </a:p>
        </p:txBody>
      </p:sp>
      <p:sp>
        <p:nvSpPr>
          <p:cNvPr id="18" name="Rectangle 17"/>
          <p:cNvSpPr/>
          <p:nvPr/>
        </p:nvSpPr>
        <p:spPr>
          <a:xfrm>
            <a:off x="9056015" y="3589746"/>
            <a:ext cx="2596183" cy="465425"/>
          </a:xfrm>
          <a:prstGeom prst="rect">
            <a:avLst/>
          </a:prstGeom>
          <a:solidFill>
            <a:srgbClr val="065A82"/>
          </a:solidFill>
          <a:ln>
            <a:noFill/>
          </a:ln>
          <a:effectLst/>
        </p:spPr>
        <p:txBody>
          <a:bodyPr rtlCol="0" anchor="ctr"/>
          <a:lstStyle/>
          <a:p>
            <a:pPr algn="ctr"/>
          </a:p>
        </p:txBody>
      </p:sp>
      <p:sp>
        <p:nvSpPr>
          <p:cNvPr id="19" name="TextBox 18"/>
          <p:cNvSpPr txBox="1"/>
          <p:nvPr/>
        </p:nvSpPr>
        <p:spPr>
          <a:xfrm>
            <a:off x="9202319" y="3589746"/>
            <a:ext cx="2303575" cy="465425"/>
          </a:xfrm>
          <a:prstGeom prst="rect">
            <a:avLst/>
          </a:prstGeom>
          <a:noFill/>
        </p:spPr>
        <p:txBody>
          <a:bodyPr wrap="square" lIns="0" rIns="0" tIns="0" bIns="0" anchor="ctr">
            <a:spAutoFit/>
          </a:bodyPr>
          <a:lstStyle/>
          <a:p>
            <a:pPr algn="l">
              <a:lnSpc>
                <a:spcPct val="116000"/>
              </a:lnSpc>
            </a:pPr>
            <a:r>
              <a:rPr sz="1650" b="1" i="0">
                <a:solidFill>
                  <a:srgbClr val="FFFFFF"/>
                </a:solidFill>
                <a:latin typeface="Arial"/>
              </a:rPr>
              <a:t>неверная</a:t>
            </a:r>
          </a:p>
        </p:txBody>
      </p:sp>
      <p:sp>
        <p:nvSpPr>
          <p:cNvPr id="20" name="Rectangle 19"/>
          <p:cNvSpPr/>
          <p:nvPr/>
        </p:nvSpPr>
        <p:spPr>
          <a:xfrm>
            <a:off x="539496" y="4055172"/>
            <a:ext cx="6377221" cy="465425"/>
          </a:xfrm>
          <a:prstGeom prst="rect">
            <a:avLst/>
          </a:prstGeom>
          <a:solidFill>
            <a:srgbClr val="FFFFFF"/>
          </a:solidFill>
          <a:ln w="12700">
            <a:solidFill>
              <a:srgbClr val="D9E2EC"/>
            </a:solidFill>
          </a:ln>
          <a:effectLst/>
        </p:spPr>
        <p:txBody>
          <a:bodyPr rtlCol="0" anchor="ctr"/>
          <a:lstStyle/>
          <a:p>
            <a:pPr algn="ctr"/>
          </a:p>
        </p:txBody>
      </p:sp>
      <p:sp>
        <p:nvSpPr>
          <p:cNvPr id="21" name="TextBox 20"/>
          <p:cNvSpPr txBox="1"/>
          <p:nvPr/>
        </p:nvSpPr>
        <p:spPr>
          <a:xfrm>
            <a:off x="685800" y="4055172"/>
            <a:ext cx="6084613"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стажёры кардиологии</a:t>
            </a:r>
          </a:p>
        </p:txBody>
      </p:sp>
      <p:sp>
        <p:nvSpPr>
          <p:cNvPr id="22" name="Rectangle 21"/>
          <p:cNvSpPr/>
          <p:nvPr/>
        </p:nvSpPr>
        <p:spPr>
          <a:xfrm>
            <a:off x="6916717" y="4055172"/>
            <a:ext cx="2139298" cy="465425"/>
          </a:xfrm>
          <a:prstGeom prst="rect">
            <a:avLst/>
          </a:prstGeom>
          <a:solidFill>
            <a:srgbClr val="FFFFFF"/>
          </a:solidFill>
          <a:ln w="12700">
            <a:solidFill>
              <a:srgbClr val="D9E2EC"/>
            </a:solidFill>
          </a:ln>
          <a:effectLst/>
        </p:spPr>
        <p:txBody>
          <a:bodyPr rtlCol="0" anchor="ctr"/>
          <a:lstStyle/>
          <a:p>
            <a:pPr algn="ctr"/>
          </a:p>
        </p:txBody>
      </p:sp>
      <p:sp>
        <p:nvSpPr>
          <p:cNvPr id="23" name="TextBox 22"/>
          <p:cNvSpPr txBox="1"/>
          <p:nvPr/>
        </p:nvSpPr>
        <p:spPr>
          <a:xfrm>
            <a:off x="7063021" y="4055172"/>
            <a:ext cx="1846690"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84,86</a:t>
            </a:r>
          </a:p>
        </p:txBody>
      </p:sp>
      <p:sp>
        <p:nvSpPr>
          <p:cNvPr id="24" name="Rectangle 23"/>
          <p:cNvSpPr/>
          <p:nvPr/>
        </p:nvSpPr>
        <p:spPr>
          <a:xfrm>
            <a:off x="9056015" y="4055172"/>
            <a:ext cx="2596183" cy="465425"/>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9202319" y="4055172"/>
            <a:ext cx="2303575" cy="465425"/>
          </a:xfrm>
          <a:prstGeom prst="rect">
            <a:avLst/>
          </a:prstGeom>
          <a:noFill/>
        </p:spPr>
        <p:txBody>
          <a:bodyPr wrap="square" lIns="0" rIns="0" tIns="0" bIns="0" anchor="ctr">
            <a:spAutoFit/>
          </a:bodyPr>
          <a:lstStyle/>
          <a:p>
            <a:pPr algn="l">
              <a:lnSpc>
                <a:spcPct val="116000"/>
              </a:lnSpc>
            </a:pPr>
            <a:r>
              <a:rPr sz="1650" b="1" i="0">
                <a:solidFill>
                  <a:srgbClr val="21295C"/>
                </a:solidFill>
                <a:latin typeface="Arial"/>
              </a:rPr>
              <a:t>41,66</a:t>
            </a:r>
          </a:p>
        </p:txBody>
      </p:sp>
      <p:sp>
        <p:nvSpPr>
          <p:cNvPr id="26" name="Rectangle 25"/>
          <p:cNvSpPr/>
          <p:nvPr/>
        </p:nvSpPr>
        <p:spPr>
          <a:xfrm>
            <a:off x="539496" y="4520597"/>
            <a:ext cx="6377221" cy="465425"/>
          </a:xfrm>
          <a:prstGeom prst="rect">
            <a:avLst/>
          </a:prstGeom>
          <a:solidFill>
            <a:srgbClr val="F4F7FA"/>
          </a:solidFill>
          <a:ln w="12700">
            <a:solidFill>
              <a:srgbClr val="D9E2EC"/>
            </a:solidFill>
          </a:ln>
          <a:effectLst/>
        </p:spPr>
        <p:txBody>
          <a:bodyPr rtlCol="0" anchor="ctr"/>
          <a:lstStyle/>
          <a:p>
            <a:pPr algn="ctr"/>
          </a:p>
        </p:txBody>
      </p:sp>
      <p:sp>
        <p:nvSpPr>
          <p:cNvPr id="27" name="TextBox 26"/>
          <p:cNvSpPr txBox="1"/>
          <p:nvPr/>
        </p:nvSpPr>
        <p:spPr>
          <a:xfrm>
            <a:off x="685800" y="4520597"/>
            <a:ext cx="6084613"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другие специальности</a:t>
            </a:r>
          </a:p>
        </p:txBody>
      </p:sp>
      <p:sp>
        <p:nvSpPr>
          <p:cNvPr id="28" name="Rectangle 27"/>
          <p:cNvSpPr/>
          <p:nvPr/>
        </p:nvSpPr>
        <p:spPr>
          <a:xfrm>
            <a:off x="6916717" y="4520597"/>
            <a:ext cx="2139298" cy="465425"/>
          </a:xfrm>
          <a:prstGeom prst="rect">
            <a:avLst/>
          </a:prstGeom>
          <a:solidFill>
            <a:srgbClr val="F4F7FA"/>
          </a:solidFill>
          <a:ln w="12700">
            <a:solidFill>
              <a:srgbClr val="D9E2EC"/>
            </a:solidFill>
          </a:ln>
          <a:effectLst/>
        </p:spPr>
        <p:txBody>
          <a:bodyPr rtlCol="0" anchor="ctr"/>
          <a:lstStyle/>
          <a:p>
            <a:pPr algn="ctr"/>
          </a:p>
        </p:txBody>
      </p:sp>
      <p:sp>
        <p:nvSpPr>
          <p:cNvPr id="29" name="TextBox 28"/>
          <p:cNvSpPr txBox="1"/>
          <p:nvPr/>
        </p:nvSpPr>
        <p:spPr>
          <a:xfrm>
            <a:off x="7063021" y="4520597"/>
            <a:ext cx="1846690" cy="465425"/>
          </a:xfrm>
          <a:prstGeom prst="rect">
            <a:avLst/>
          </a:prstGeom>
          <a:noFill/>
        </p:spPr>
        <p:txBody>
          <a:bodyPr wrap="square" lIns="0" rIns="0" tIns="0" bIns="0" anchor="ctr">
            <a:spAutoFit/>
          </a:bodyPr>
          <a:lstStyle/>
          <a:p>
            <a:pPr algn="l">
              <a:lnSpc>
                <a:spcPct val="116000"/>
              </a:lnSpc>
            </a:pPr>
            <a:r>
              <a:rPr sz="1650" b="0" i="0">
                <a:solidFill>
                  <a:srgbClr val="21295C"/>
                </a:solidFill>
                <a:latin typeface="Arial"/>
              </a:rPr>
              <a:t>86,38</a:t>
            </a:r>
          </a:p>
        </p:txBody>
      </p:sp>
      <p:sp>
        <p:nvSpPr>
          <p:cNvPr id="30" name="Rectangle 29"/>
          <p:cNvSpPr/>
          <p:nvPr/>
        </p:nvSpPr>
        <p:spPr>
          <a:xfrm>
            <a:off x="9056015" y="4520597"/>
            <a:ext cx="2596183" cy="465425"/>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9202319" y="4520597"/>
            <a:ext cx="2303575" cy="465425"/>
          </a:xfrm>
          <a:prstGeom prst="rect">
            <a:avLst/>
          </a:prstGeom>
          <a:noFill/>
        </p:spPr>
        <p:txBody>
          <a:bodyPr wrap="square" lIns="0" rIns="0" tIns="0" bIns="0" anchor="ctr">
            <a:spAutoFit/>
          </a:bodyPr>
          <a:lstStyle/>
          <a:p>
            <a:pPr algn="l">
              <a:lnSpc>
                <a:spcPct val="116000"/>
              </a:lnSpc>
            </a:pPr>
            <a:r>
              <a:rPr sz="1650" b="1" i="0">
                <a:solidFill>
                  <a:srgbClr val="21295C"/>
                </a:solidFill>
                <a:latin typeface="Arial"/>
              </a:rPr>
              <a:t>27,43</a:t>
            </a:r>
          </a:p>
        </p:txBody>
      </p:sp>
      <p:sp>
        <p:nvSpPr>
          <p:cNvPr id="32" name="TextBox 31"/>
          <p:cNvSpPr txBox="1"/>
          <p:nvPr/>
        </p:nvSpPr>
        <p:spPr>
          <a:xfrm>
            <a:off x="539496" y="5132326"/>
            <a:ext cx="11112703" cy="682140"/>
          </a:xfrm>
          <a:prstGeom prst="rect">
            <a:avLst/>
          </a:prstGeom>
          <a:noFill/>
        </p:spPr>
        <p:txBody>
          <a:bodyPr wrap="square" lIns="0" rIns="0" tIns="0" bIns="0" anchor="t">
            <a:spAutoFit/>
          </a:bodyPr>
          <a:lstStyle/>
          <a:p>
            <a:pPr algn="l">
              <a:lnSpc>
                <a:spcPct val="124000"/>
              </a:lnSpc>
            </a:pPr>
            <a:r>
              <a:rPr sz="1750" b="1" i="0">
                <a:solidFill>
                  <a:srgbClr val="21295C"/>
                </a:solidFill>
                <a:latin typeface="Arial"/>
              </a:rPr>
              <a:t>Якорение, первое из шести искажений входа.</a:t>
            </a:r>
            <a:r>
              <a:rPr sz="1700" b="0" i="0">
                <a:solidFill>
                  <a:srgbClr val="21295C"/>
                </a:solidFill>
                <a:latin typeface="Arial"/>
              </a:rPr>
              <a:t> Специальность защищает, но не спасает: падают обе, вдвое.</a:t>
            </a:r>
          </a:p>
        </p:txBody>
      </p:sp>
      <p:sp>
        <p:nvSpPr>
          <p:cNvPr id="33" name="Rectangle 32"/>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Bond и соавт., Journal of Electrocardiology 2018</a:t>
            </a:r>
            <a:r>
              <a:rPr sz="1200" b="0" i="1">
                <a:solidFill>
                  <a:srgbClr val="1C7293"/>
                </a:solidFill>
                <a:latin typeface="Arial"/>
              </a:rPr>
              <a:t> · </a:t>
            </a:r>
            <a:r>
              <a:rPr sz="1200" b="0" i="1" u="sng">
                <a:solidFill>
                  <a:srgbClr val="065A82"/>
                </a:solidFill>
                <a:latin typeface="Arial"/>
                <a:hlinkClick r:id="rId3"/>
              </a:rPr>
              <a:t>Buçinca и соавт., CSCW 2021</a:t>
            </a:r>
            <a:r>
              <a:rPr sz="1200" b="0" i="1">
                <a:solidFill>
                  <a:srgbClr val="1C7293"/>
                </a:solidFill>
                <a:latin typeface="Arial"/>
              </a:rPr>
              <a:t> · </a:t>
            </a:r>
            <a:r>
              <a:rPr sz="1200" b="0" i="1" u="sng">
                <a:solidFill>
                  <a:srgbClr val="065A82"/>
                </a:solidFill>
                <a:latin typeface="Arial"/>
                <a:hlinkClick r:id="rId4"/>
              </a:rPr>
              <a:t>Yu и соавт., Nature Medicine 2024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Обзор 106 опытов: где пара сильнее человека и где слабее модели</a:t>
            </a:r>
          </a:p>
        </p:txBody>
      </p:sp>
      <p:sp>
        <p:nvSpPr>
          <p:cNvPr id="4" name="Rectangle 3"/>
          <p:cNvSpPr/>
          <p:nvPr/>
        </p:nvSpPr>
        <p:spPr>
          <a:xfrm>
            <a:off x="754380" y="2213469"/>
            <a:ext cx="10682935" cy="50292"/>
          </a:xfrm>
          <a:prstGeom prst="rect">
            <a:avLst/>
          </a:prstGeom>
          <a:solidFill>
            <a:srgbClr val="1C7293"/>
          </a:solidFill>
          <a:ln>
            <a:noFill/>
          </a:ln>
          <a:effectLst/>
        </p:spPr>
        <p:txBody>
          <a:bodyPr rtlCol="0" anchor="ctr"/>
          <a:lstStyle/>
          <a:p>
            <a:pPr algn="ctr"/>
          </a:p>
        </p:txBody>
      </p:sp>
      <p:sp>
        <p:nvSpPr>
          <p:cNvPr id="5" name="Rectangle 4"/>
          <p:cNvSpPr/>
          <p:nvPr/>
        </p:nvSpPr>
        <p:spPr>
          <a:xfrm>
            <a:off x="6070701" y="1957437"/>
            <a:ext cx="50292" cy="562356"/>
          </a:xfrm>
          <a:prstGeom prst="rect">
            <a:avLst/>
          </a:prstGeom>
          <a:solidFill>
            <a:srgbClr val="556070"/>
          </a:solidFill>
          <a:ln>
            <a:noFill/>
          </a:ln>
          <a:effectLst/>
        </p:spPr>
        <p:txBody>
          <a:bodyPr rtlCol="0" anchor="ctr"/>
          <a:lstStyle/>
          <a:p>
            <a:pPr algn="ctr"/>
          </a:p>
        </p:txBody>
      </p:sp>
      <p:sp>
        <p:nvSpPr>
          <p:cNvPr id="6" name="TextBox 5"/>
          <p:cNvSpPr txBox="1"/>
          <p:nvPr/>
        </p:nvSpPr>
        <p:spPr>
          <a:xfrm>
            <a:off x="5775807" y="2487789"/>
            <a:ext cx="640080" cy="201168"/>
          </a:xfrm>
          <a:prstGeom prst="rect">
            <a:avLst/>
          </a:prstGeom>
          <a:noFill/>
        </p:spPr>
        <p:txBody>
          <a:bodyPr wrap="square" lIns="0" rIns="0" tIns="0" bIns="0" anchor="t">
            <a:spAutoFit/>
          </a:bodyPr>
          <a:lstStyle/>
          <a:p>
            <a:pPr algn="ctr">
              <a:lnSpc>
                <a:spcPct val="100000"/>
              </a:lnSpc>
            </a:pPr>
            <a:r>
              <a:rPr sz="1200" b="0" i="1">
                <a:solidFill>
                  <a:srgbClr val="556070"/>
                </a:solidFill>
                <a:latin typeface="Arial"/>
              </a:rPr>
              <a:t>ноль</a:t>
            </a:r>
          </a:p>
        </p:txBody>
      </p:sp>
      <p:sp>
        <p:nvSpPr>
          <p:cNvPr id="7" name="TextBox 6"/>
          <p:cNvSpPr txBox="1"/>
          <p:nvPr/>
        </p:nvSpPr>
        <p:spPr>
          <a:xfrm>
            <a:off x="388620" y="230033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a:t>
            </a:r>
          </a:p>
        </p:txBody>
      </p:sp>
      <p:sp>
        <p:nvSpPr>
          <p:cNvPr id="8" name="TextBox 7"/>
          <p:cNvSpPr txBox="1"/>
          <p:nvPr/>
        </p:nvSpPr>
        <p:spPr>
          <a:xfrm>
            <a:off x="11071555" y="2300337"/>
            <a:ext cx="731520" cy="219456"/>
          </a:xfrm>
          <a:prstGeom prst="rect">
            <a:avLst/>
          </a:prstGeom>
          <a:noFill/>
        </p:spPr>
        <p:txBody>
          <a:bodyPr wrap="square" lIns="0" rIns="0" tIns="0" bIns="0" anchor="t">
            <a:spAutoFit/>
          </a:bodyPr>
          <a:lstStyle/>
          <a:p>
            <a:pPr algn="ctr">
              <a:lnSpc>
                <a:spcPct val="100000"/>
              </a:lnSpc>
            </a:pPr>
            <a:r>
              <a:rPr sz="1200" b="0" i="0">
                <a:solidFill>
                  <a:srgbClr val="556070"/>
                </a:solidFill>
                <a:latin typeface="Arial"/>
              </a:rPr>
              <a:t>2</a:t>
            </a:r>
          </a:p>
        </p:txBody>
      </p:sp>
      <p:sp>
        <p:nvSpPr>
          <p:cNvPr id="9" name="Rectangle 8"/>
          <p:cNvSpPr/>
          <p:nvPr/>
        </p:nvSpPr>
        <p:spPr>
          <a:xfrm>
            <a:off x="4288894" y="2204325"/>
            <a:ext cx="865301" cy="68580"/>
          </a:xfrm>
          <a:prstGeom prst="rect">
            <a:avLst/>
          </a:prstGeom>
          <a:solidFill>
            <a:srgbClr val="028090"/>
          </a:solidFill>
          <a:ln>
            <a:noFill/>
          </a:ln>
          <a:effectLst/>
        </p:spPr>
        <p:txBody>
          <a:bodyPr rtlCol="0" anchor="ctr"/>
          <a:lstStyle/>
          <a:p>
            <a:pPr algn="ctr"/>
          </a:p>
        </p:txBody>
      </p:sp>
      <p:sp>
        <p:nvSpPr>
          <p:cNvPr id="10" name="Rectangle 9"/>
          <p:cNvSpPr/>
          <p:nvPr/>
        </p:nvSpPr>
        <p:spPr>
          <a:xfrm>
            <a:off x="4696399" y="2048877"/>
            <a:ext cx="50292" cy="164592"/>
          </a:xfrm>
          <a:prstGeom prst="rect">
            <a:avLst/>
          </a:prstGeom>
          <a:solidFill>
            <a:srgbClr val="065A82"/>
          </a:solidFill>
          <a:ln>
            <a:noFill/>
          </a:ln>
          <a:effectLst/>
        </p:spPr>
        <p:txBody>
          <a:bodyPr rtlCol="0" anchor="ctr"/>
          <a:lstStyle/>
          <a:p>
            <a:pPr algn="ctr"/>
          </a:p>
        </p:txBody>
      </p:sp>
      <p:sp>
        <p:nvSpPr>
          <p:cNvPr id="11" name="TextBox 10"/>
          <p:cNvSpPr txBox="1"/>
          <p:nvPr/>
        </p:nvSpPr>
        <p:spPr>
          <a:xfrm>
            <a:off x="3323313" y="1335024"/>
            <a:ext cx="2796463" cy="622413"/>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−0,54</a:t>
            </a:r>
          </a:p>
          <a:p>
            <a:pPr algn="ctr">
              <a:lnSpc>
                <a:spcPct val="110000"/>
              </a:lnSpc>
            </a:pPr>
            <a:r>
              <a:rPr sz="1200" b="0" i="0">
                <a:solidFill>
                  <a:srgbClr val="21295C"/>
                </a:solidFill>
                <a:latin typeface="Arial"/>
              </a:rPr>
              <a:t>Где модель сильнее: пара хуже модели</a:t>
            </a:r>
          </a:p>
        </p:txBody>
      </p:sp>
      <p:sp>
        <p:nvSpPr>
          <p:cNvPr id="12" name="Rectangle 11"/>
          <p:cNvSpPr/>
          <p:nvPr/>
        </p:nvSpPr>
        <p:spPr>
          <a:xfrm>
            <a:off x="5103296" y="2204325"/>
            <a:ext cx="814401" cy="68580"/>
          </a:xfrm>
          <a:prstGeom prst="rect">
            <a:avLst/>
          </a:prstGeom>
          <a:solidFill>
            <a:srgbClr val="028090"/>
          </a:solidFill>
          <a:ln>
            <a:noFill/>
          </a:ln>
          <a:effectLst/>
        </p:spPr>
        <p:txBody>
          <a:bodyPr rtlCol="0" anchor="ctr"/>
          <a:lstStyle/>
          <a:p>
            <a:pPr algn="ctr"/>
          </a:p>
        </p:txBody>
      </p:sp>
      <p:sp>
        <p:nvSpPr>
          <p:cNvPr id="13" name="Rectangle 12"/>
          <p:cNvSpPr/>
          <p:nvPr/>
        </p:nvSpPr>
        <p:spPr>
          <a:xfrm>
            <a:off x="5485350" y="2263761"/>
            <a:ext cx="50292" cy="164592"/>
          </a:xfrm>
          <a:prstGeom prst="rect">
            <a:avLst/>
          </a:prstGeom>
          <a:solidFill>
            <a:srgbClr val="F0AB00"/>
          </a:solidFill>
          <a:ln>
            <a:noFill/>
          </a:ln>
          <a:effectLst/>
        </p:spPr>
        <p:txBody>
          <a:bodyPr rtlCol="0" anchor="ctr"/>
          <a:lstStyle/>
          <a:p>
            <a:pPr algn="ctr"/>
          </a:p>
        </p:txBody>
      </p:sp>
      <p:sp>
        <p:nvSpPr>
          <p:cNvPr id="14" name="TextBox 13"/>
          <p:cNvSpPr txBox="1"/>
          <p:nvPr/>
        </p:nvSpPr>
        <p:spPr>
          <a:xfrm>
            <a:off x="4112264" y="2519793"/>
            <a:ext cx="2796463" cy="622413"/>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−0,23</a:t>
            </a:r>
          </a:p>
          <a:p>
            <a:pPr algn="ctr">
              <a:lnSpc>
                <a:spcPct val="110000"/>
              </a:lnSpc>
            </a:pPr>
            <a:r>
              <a:rPr sz="1200" b="0" i="0">
                <a:solidFill>
                  <a:srgbClr val="21295C"/>
                </a:solidFill>
                <a:latin typeface="Arial"/>
              </a:rPr>
              <a:t>Головное число всего свода</a:t>
            </a:r>
          </a:p>
        </p:txBody>
      </p:sp>
      <p:sp>
        <p:nvSpPr>
          <p:cNvPr id="15" name="Rectangle 14"/>
          <p:cNvSpPr/>
          <p:nvPr/>
        </p:nvSpPr>
        <p:spPr>
          <a:xfrm>
            <a:off x="6808448" y="2204325"/>
            <a:ext cx="967101" cy="68580"/>
          </a:xfrm>
          <a:prstGeom prst="rect">
            <a:avLst/>
          </a:prstGeom>
          <a:solidFill>
            <a:srgbClr val="028090"/>
          </a:solidFill>
          <a:ln>
            <a:noFill/>
          </a:ln>
          <a:effectLst/>
        </p:spPr>
        <p:txBody>
          <a:bodyPr rtlCol="0" anchor="ctr"/>
          <a:lstStyle/>
          <a:p>
            <a:pPr algn="ctr"/>
          </a:p>
        </p:txBody>
      </p:sp>
      <p:sp>
        <p:nvSpPr>
          <p:cNvPr id="16" name="Rectangle 15"/>
          <p:cNvSpPr/>
          <p:nvPr/>
        </p:nvSpPr>
        <p:spPr>
          <a:xfrm>
            <a:off x="7241403" y="2048877"/>
            <a:ext cx="50292" cy="164592"/>
          </a:xfrm>
          <a:prstGeom prst="rect">
            <a:avLst/>
          </a:prstGeom>
          <a:solidFill>
            <a:srgbClr val="065A82"/>
          </a:solidFill>
          <a:ln>
            <a:noFill/>
          </a:ln>
          <a:effectLst/>
        </p:spPr>
        <p:txBody>
          <a:bodyPr rtlCol="0" anchor="ctr"/>
          <a:lstStyle/>
          <a:p>
            <a:pPr algn="ctr"/>
          </a:p>
        </p:txBody>
      </p:sp>
      <p:sp>
        <p:nvSpPr>
          <p:cNvPr id="17" name="TextBox 16"/>
          <p:cNvSpPr txBox="1"/>
          <p:nvPr/>
        </p:nvSpPr>
        <p:spPr>
          <a:xfrm>
            <a:off x="5868317" y="1335024"/>
            <a:ext cx="2796463" cy="622413"/>
          </a:xfrm>
          <a:prstGeom prst="rect">
            <a:avLst/>
          </a:prstGeom>
          <a:noFill/>
        </p:spPr>
        <p:txBody>
          <a:bodyPr wrap="square" lIns="0" rIns="0" tIns="0" bIns="0" anchor="b">
            <a:spAutoFit/>
          </a:bodyPr>
          <a:lstStyle/>
          <a:p>
            <a:pPr algn="ctr">
              <a:lnSpc>
                <a:spcPct val="110000"/>
              </a:lnSpc>
            </a:pPr>
            <a:r>
              <a:rPr sz="1200" b="0" i="0">
                <a:solidFill>
                  <a:srgbClr val="21295C"/>
                </a:solidFill>
                <a:latin typeface="Arial"/>
              </a:rPr>
              <a:t>+0,46</a:t>
            </a:r>
          </a:p>
          <a:p>
            <a:pPr algn="ctr">
              <a:lnSpc>
                <a:spcPct val="110000"/>
              </a:lnSpc>
            </a:pPr>
            <a:r>
              <a:rPr sz="1200" b="0" i="0">
                <a:solidFill>
                  <a:srgbClr val="21295C"/>
                </a:solidFill>
                <a:latin typeface="Arial"/>
              </a:rPr>
              <a:t>Где сильнее человек: пара лучше обеих сторон</a:t>
            </a:r>
          </a:p>
        </p:txBody>
      </p:sp>
      <p:sp>
        <p:nvSpPr>
          <p:cNvPr id="18" name="Rectangle 17"/>
          <p:cNvSpPr/>
          <p:nvPr/>
        </p:nvSpPr>
        <p:spPr>
          <a:xfrm>
            <a:off x="7699199" y="2204325"/>
            <a:ext cx="559900" cy="68580"/>
          </a:xfrm>
          <a:prstGeom prst="rect">
            <a:avLst/>
          </a:prstGeom>
          <a:solidFill>
            <a:srgbClr val="028090"/>
          </a:solidFill>
          <a:ln>
            <a:noFill/>
          </a:ln>
          <a:effectLst/>
        </p:spPr>
        <p:txBody>
          <a:bodyPr rtlCol="0" anchor="ctr"/>
          <a:lstStyle/>
          <a:p>
            <a:pPr algn="ctr"/>
          </a:p>
        </p:txBody>
      </p:sp>
      <p:sp>
        <p:nvSpPr>
          <p:cNvPr id="19" name="Rectangle 18"/>
          <p:cNvSpPr/>
          <p:nvPr/>
        </p:nvSpPr>
        <p:spPr>
          <a:xfrm>
            <a:off x="7954004" y="2263761"/>
            <a:ext cx="50292" cy="1645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6580918" y="2519793"/>
            <a:ext cx="2796463" cy="622413"/>
          </a:xfrm>
          <a:prstGeom prst="rect">
            <a:avLst/>
          </a:prstGeom>
          <a:noFill/>
        </p:spPr>
        <p:txBody>
          <a:bodyPr wrap="square" lIns="0" rIns="0" tIns="0" bIns="0" anchor="t">
            <a:spAutoFit/>
          </a:bodyPr>
          <a:lstStyle/>
          <a:p>
            <a:pPr algn="ctr">
              <a:lnSpc>
                <a:spcPct val="110000"/>
              </a:lnSpc>
            </a:pPr>
            <a:r>
              <a:rPr sz="1200" b="0" i="0">
                <a:solidFill>
                  <a:srgbClr val="21295C"/>
                </a:solidFill>
                <a:latin typeface="Arial"/>
              </a:rPr>
              <a:t>+0,74</a:t>
            </a:r>
          </a:p>
          <a:p>
            <a:pPr algn="ctr">
              <a:lnSpc>
                <a:spcPct val="110000"/>
              </a:lnSpc>
            </a:pPr>
            <a:r>
              <a:rPr sz="1200" b="0" i="0">
                <a:solidFill>
                  <a:srgbClr val="21295C"/>
                </a:solidFill>
                <a:latin typeface="Arial"/>
              </a:rPr>
              <a:t>Там же, где модель сильнее: пара лучше человека одного</a:t>
            </a:r>
          </a:p>
        </p:txBody>
      </p:sp>
      <p:sp>
        <p:nvSpPr>
          <p:cNvPr id="21" name="TextBox 20"/>
          <p:cNvSpPr txBox="1"/>
          <p:nvPr/>
        </p:nvSpPr>
        <p:spPr>
          <a:xfrm>
            <a:off x="502920" y="3251935"/>
            <a:ext cx="11185855" cy="219456"/>
          </a:xfrm>
          <a:prstGeom prst="rect">
            <a:avLst/>
          </a:prstGeom>
          <a:noFill/>
        </p:spPr>
        <p:txBody>
          <a:bodyPr wrap="square" lIns="0" rIns="0" tIns="0" bIns="0" anchor="t">
            <a:spAutoFit/>
          </a:bodyPr>
          <a:lstStyle/>
          <a:p>
            <a:pPr algn="ctr">
              <a:lnSpc>
                <a:spcPct val="100000"/>
              </a:lnSpc>
            </a:pPr>
            <a:r>
              <a:rPr sz="1200" b="1" i="0">
                <a:solidFill>
                  <a:srgbClr val="065A82"/>
                </a:solidFill>
                <a:latin typeface="Arial"/>
              </a:rPr>
              <a:t>размер эффекта в долях разброса · 74 работы · 106 опытов · 370 размеров эффекта из 5 126 просмотренных</a:t>
            </a:r>
          </a:p>
        </p:txBody>
      </p:sp>
      <p:sp>
        <p:nvSpPr>
          <p:cNvPr id="22" name="TextBox 21"/>
          <p:cNvSpPr txBox="1"/>
          <p:nvPr/>
        </p:nvSpPr>
        <p:spPr>
          <a:xfrm>
            <a:off x="502920" y="3544543"/>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ни один из четырёх интервалов нуля не накрывает</a:t>
            </a:r>
          </a:p>
        </p:txBody>
      </p:sp>
      <p:sp>
        <p:nvSpPr>
          <p:cNvPr id="23" name="Rounded Rectangle 22"/>
          <p:cNvSpPr/>
          <p:nvPr/>
        </p:nvSpPr>
        <p:spPr>
          <a:xfrm>
            <a:off x="374904" y="3850999"/>
            <a:ext cx="11441887" cy="2326363"/>
          </a:xfrm>
          <a:prstGeom prst="roundRect">
            <a:avLst>
              <a:gd name="adj" fmla="val 13101"/>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942439"/>
            <a:ext cx="5373471" cy="22937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Предрегистрированный обзор с мета-анализом.</a:t>
            </a:r>
            <a:r>
              <a:rPr sz="1500" b="0" i="0">
                <a:solidFill>
                  <a:srgbClr val="21295C"/>
                </a:solidFill>
                <a:latin typeface="Arial"/>
              </a:rPr>
              <a:t> Брали только тот опыт, где измерены все три величины: человек один, модель одна и пара.</a:t>
            </a:r>
          </a:p>
          <a:p>
            <a:pPr algn="l">
              <a:lnSpc>
                <a:spcPct val="126000"/>
              </a:lnSpc>
              <a:spcBef>
                <a:spcPts val="720"/>
              </a:spcBef>
            </a:pPr>
            <a:r>
              <a:rPr sz="1500" b="0" i="0">
                <a:solidFill>
                  <a:srgbClr val="21295C"/>
                </a:solidFill>
                <a:latin typeface="Arial"/>
              </a:rPr>
              <a:t/>
            </a:r>
            <a:r>
              <a:rPr sz="1500" b="1" i="0">
                <a:solidFill>
                  <a:srgbClr val="21295C"/>
                </a:solidFill>
                <a:latin typeface="Arial"/>
              </a:rPr>
              <a:t>Головное число свода — минус 0,23:</a:t>
            </a:r>
            <a:r>
              <a:rPr sz="1500" b="0" i="0">
                <a:solidFill>
                  <a:srgbClr val="21295C"/>
                </a:solidFill>
                <a:latin typeface="Arial"/>
              </a:rPr>
              <a:t> в среднем пара хуже сильнейшей из сторон. От него обе половины свода читаются как части, а не как итог.</a:t>
            </a:r>
          </a:p>
        </p:txBody>
      </p:sp>
      <p:sp>
        <p:nvSpPr>
          <p:cNvPr id="25" name="TextBox 24"/>
          <p:cNvSpPr txBox="1"/>
          <p:nvPr/>
        </p:nvSpPr>
        <p:spPr>
          <a:xfrm>
            <a:off x="6278727" y="3942439"/>
            <a:ext cx="5373471" cy="22937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Там, где модель сильнее человека, обе величины считаны на одних и тех же опытах:</a:t>
            </a:r>
            <a:r>
              <a:rPr sz="1500" b="0" i="0">
                <a:solidFill>
                  <a:srgbClr val="21295C"/>
                </a:solidFill>
                <a:latin typeface="Arial"/>
              </a:rPr>
              <a:t> пара хуже модели на 0,54 и при этом лучше человека одного на 0,74. Обе разом — и есть правило: пара обходит слабейшую сторону и не догоняет сильнейшую.</a:t>
            </a:r>
          </a:p>
          <a:p>
            <a:pPr algn="l">
              <a:lnSpc>
                <a:spcPct val="126000"/>
              </a:lnSpc>
              <a:spcBef>
                <a:spcPts val="720"/>
              </a:spcBef>
            </a:pPr>
            <a:r>
              <a:rPr sz="1200" b="0" i="0">
                <a:solidFill>
                  <a:srgbClr val="21295C"/>
                </a:solidFill>
                <a:latin typeface="Arial"/>
              </a:rPr>
              <a:t/>
            </a:r>
            <a:r>
              <a:rPr sz="1200" b="0" i="1">
                <a:solidFill>
                  <a:srgbClr val="1C7293"/>
                </a:solidFill>
                <a:latin typeface="Arial"/>
              </a:rPr>
              <a:t>По всему своду пара обходит человека одного на 0,64 — но это другая база и другие опыты, рядом с минус 0,54 это число не ставится.</a:t>
            </a:r>
          </a:p>
        </p:txBody>
      </p:sp>
      <p:sp>
        <p:nvSpPr>
          <p:cNvPr id="26" name="Rectangle 25"/>
          <p:cNvSpPr/>
          <p:nvPr/>
        </p:nvSpPr>
        <p:spPr>
          <a:xfrm>
            <a:off x="6091275" y="3942439"/>
            <a:ext cx="9144" cy="2052043"/>
          </a:xfrm>
          <a:prstGeom prst="rect">
            <a:avLst/>
          </a:prstGeom>
          <a:solidFill>
            <a:srgbClr val="D9E2EC"/>
          </a:solidFill>
          <a:ln>
            <a:noFill/>
          </a:ln>
          <a:effectLst/>
        </p:spPr>
        <p:txBody>
          <a:bodyPr rtlCol="0" anchor="ctr"/>
          <a:lstStyle/>
          <a:p>
            <a:pPr algn="ctr"/>
          </a:p>
        </p:txBody>
      </p:sp>
      <p:sp>
        <p:nvSpPr>
          <p:cNvPr id="27" name="Rectangle 2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Vaccaro, Almaatouq, Malone, Nature Human Behaviour 2024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4: хирурги оценивают риск — сами и после знакомства с моделью</a:t>
            </a:r>
          </a:p>
        </p:txBody>
      </p:sp>
      <p:sp>
        <p:nvSpPr>
          <p:cNvPr id="4" name="Rounded Rectangle 3"/>
          <p:cNvSpPr/>
          <p:nvPr/>
        </p:nvSpPr>
        <p:spPr>
          <a:xfrm>
            <a:off x="502920" y="1335024"/>
            <a:ext cx="3618890" cy="1965461"/>
          </a:xfrm>
          <a:prstGeom prst="roundRect">
            <a:avLst>
              <a:gd name="adj" fmla="val 15507"/>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НЕДООЦЕНИТЬ РИСК</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оперируют как рядовой случай</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без реанимации и без разговора с семьёй</a:t>
            </a:r>
          </a:p>
        </p:txBody>
      </p:sp>
      <p:sp>
        <p:nvSpPr>
          <p:cNvPr id="8" name="Rounded Rectangle 7"/>
          <p:cNvSpPr/>
          <p:nvPr/>
        </p:nvSpPr>
        <p:spPr>
          <a:xfrm>
            <a:off x="4286402" y="1335024"/>
            <a:ext cx="3618890" cy="1965461"/>
          </a:xfrm>
          <a:prstGeom prst="roundRect">
            <a:avLst>
              <a:gd name="adj" fmla="val 15507"/>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ПЕРЕОЦЕНИТЬ РИСК</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операцию отложат или отменят</a:t>
            </a:r>
          </a:p>
        </p:txBody>
      </p:sp>
      <p:sp>
        <p:nvSpPr>
          <p:cNvPr id="11" name="TextBox 10"/>
          <p:cNvSpPr txBox="1"/>
          <p:nvPr/>
        </p:nvSpPr>
        <p:spPr>
          <a:xfrm>
            <a:off x="4423562"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тридцатидневном счёте её не видно: не оперировали — сравнивать не с чем</a:t>
            </a:r>
          </a:p>
        </p:txBody>
      </p:sp>
      <p:sp>
        <p:nvSpPr>
          <p:cNvPr id="12" name="Rounded Rectangle 11"/>
          <p:cNvSpPr/>
          <p:nvPr/>
        </p:nvSpPr>
        <p:spPr>
          <a:xfrm>
            <a:off x="8069884" y="1335024"/>
            <a:ext cx="3618890" cy="1965461"/>
          </a:xfrm>
          <a:prstGeom prst="roundRect">
            <a:avLst>
              <a:gd name="adj" fmla="val 15507"/>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ПЛОЩАДЬ ПОД КРИВОЙ, ХИРУРГ САМ → С POTTER</a:t>
            </a:r>
          </a:p>
        </p:txBody>
      </p:sp>
      <p:sp>
        <p:nvSpPr>
          <p:cNvPr id="14" name="TextBox 13"/>
          <p:cNvSpPr txBox="1"/>
          <p:nvPr/>
        </p:nvSpPr>
        <p:spPr>
          <a:xfrm>
            <a:off x="8207044" y="1932846"/>
            <a:ext cx="3344570" cy="596748"/>
          </a:xfrm>
          <a:prstGeom prst="rect">
            <a:avLst/>
          </a:prstGeom>
          <a:noFill/>
        </p:spPr>
        <p:txBody>
          <a:bodyPr wrap="square" lIns="0" rIns="0" tIns="0" bIns="0" anchor="t">
            <a:spAutoFit/>
          </a:bodyPr>
          <a:lstStyle/>
          <a:p>
            <a:pPr algn="l">
              <a:lnSpc>
                <a:spcPct val="108000"/>
              </a:lnSpc>
            </a:pPr>
            <a:r>
              <a:rPr sz="1650" b="1" i="0">
                <a:solidFill>
                  <a:srgbClr val="1C7293"/>
                </a:solidFill>
                <a:latin typeface="Arial"/>
              </a:rPr>
              <a:t>смертность 0,841 → 0,870 · септический шок 0,820 → 0,712</a:t>
            </a:r>
          </a:p>
        </p:txBody>
      </p:sp>
      <p:sp>
        <p:nvSpPr>
          <p:cNvPr id="15" name="TextBox 14"/>
          <p:cNvSpPr txBox="1"/>
          <p:nvPr/>
        </p:nvSpPr>
        <p:spPr>
          <a:xfrm>
            <a:off x="8207044" y="252959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пневмония 0,753 → 0,803: на трёх исходах из четырёх пара точнее хирурга одного. Шкала: 0,5 — монетка, 1,0 — без промаха</a:t>
            </a:r>
          </a:p>
        </p:txBody>
      </p:sp>
      <p:sp>
        <p:nvSpPr>
          <p:cNvPr id="16" name="TextBox 15"/>
          <p:cNvSpPr txBox="1"/>
          <p:nvPr/>
        </p:nvSpPr>
        <p:spPr>
          <a:xfrm>
            <a:off x="502920" y="3519941"/>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Хирург сам</a:t>
            </a:r>
          </a:p>
        </p:txBody>
      </p:sp>
      <p:sp>
        <p:nvSpPr>
          <p:cNvPr id="17" name="Rounded Rectangle 16"/>
          <p:cNvSpPr/>
          <p:nvPr/>
        </p:nvSpPr>
        <p:spPr>
          <a:xfrm>
            <a:off x="1920240"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письменное описание случая</a:t>
            </a:r>
          </a:p>
        </p:txBody>
      </p:sp>
      <p:sp>
        <p:nvSpPr>
          <p:cNvPr id="19" name="Right Arrow 18"/>
          <p:cNvSpPr/>
          <p:nvPr/>
        </p:nvSpPr>
        <p:spPr>
          <a:xfrm>
            <a:off x="5039258" y="3652481"/>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 риска</a:t>
            </a:r>
          </a:p>
        </p:txBody>
      </p:sp>
      <p:sp>
        <p:nvSpPr>
          <p:cNvPr id="22" name="Right Arrow 21"/>
          <p:cNvSpPr/>
          <p:nvPr/>
        </p:nvSpPr>
        <p:spPr>
          <a:xfrm>
            <a:off x="8386876" y="3652481"/>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483365"/>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529085"/>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пять исходов</a:t>
            </a:r>
          </a:p>
        </p:txBody>
      </p:sp>
      <p:sp>
        <p:nvSpPr>
          <p:cNvPr id="25" name="TextBox 24"/>
          <p:cNvSpPr txBox="1"/>
          <p:nvPr/>
        </p:nvSpPr>
        <p:spPr>
          <a:xfrm>
            <a:off x="502920" y="414163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Хирург после модели</a:t>
            </a:r>
          </a:p>
        </p:txBody>
      </p:sp>
      <p:sp>
        <p:nvSpPr>
          <p:cNvPr id="26" name="Rounded Rectangle 25"/>
          <p:cNvSpPr/>
          <p:nvPr/>
        </p:nvSpPr>
        <p:spPr>
          <a:xfrm>
            <a:off x="1920240"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описание случая</a:t>
            </a:r>
          </a:p>
        </p:txBody>
      </p:sp>
      <p:sp>
        <p:nvSpPr>
          <p:cNvPr id="28" name="Right Arrow 27"/>
          <p:cNvSpPr/>
          <p:nvPr/>
        </p:nvSpPr>
        <p:spPr>
          <a:xfrm>
            <a:off x="4202353" y="4274178"/>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4105062"/>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150782"/>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POTTER: 4–11 ответов</a:t>
            </a:r>
          </a:p>
        </p:txBody>
      </p:sp>
      <p:sp>
        <p:nvSpPr>
          <p:cNvPr id="31" name="Right Arrow 30"/>
          <p:cNvSpPr/>
          <p:nvPr/>
        </p:nvSpPr>
        <p:spPr>
          <a:xfrm>
            <a:off x="6713067" y="4274178"/>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оценка риска</a:t>
            </a:r>
          </a:p>
        </p:txBody>
      </p:sp>
      <p:sp>
        <p:nvSpPr>
          <p:cNvPr id="34" name="Right Arrow 33"/>
          <p:cNvSpPr/>
          <p:nvPr/>
        </p:nvSpPr>
        <p:spPr>
          <a:xfrm>
            <a:off x="9223781" y="4274178"/>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4105062"/>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150782"/>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пять исходов</a:t>
            </a:r>
          </a:p>
        </p:txBody>
      </p:sp>
      <p:sp>
        <p:nvSpPr>
          <p:cNvPr id="37" name="TextBox 36"/>
          <p:cNvSpPr txBox="1"/>
          <p:nvPr/>
        </p:nvSpPr>
        <p:spPr>
          <a:xfrm>
            <a:off x="502920" y="46170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Жребием на две группы по 15; больного не осматривал никто</a:t>
            </a:r>
          </a:p>
        </p:txBody>
      </p:sp>
      <p:sp>
        <p:nvSpPr>
          <p:cNvPr id="38" name="Rounded Rectangle 37"/>
          <p:cNvSpPr/>
          <p:nvPr/>
        </p:nvSpPr>
        <p:spPr>
          <a:xfrm>
            <a:off x="374904" y="4919714"/>
            <a:ext cx="11441887" cy="1316493"/>
          </a:xfrm>
          <a:prstGeom prst="roundRect">
            <a:avLst>
              <a:gd name="adj" fmla="val 23152"/>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011154"/>
            <a:ext cx="11112703" cy="1225053"/>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30 хирургов оценивали риск по 150 письменным описаниям случаев;</a:t>
            </a:r>
            <a:r>
              <a:rPr sz="1250" b="0" i="0">
                <a:solidFill>
                  <a:srgbClr val="21295C"/>
                </a:solidFill>
                <a:latin typeface="Arial"/>
              </a:rPr>
              <a:t> исходы прослежены вперёд 30 дней.</a:t>
            </a:r>
          </a:p>
          <a:p>
            <a:pPr algn="l">
              <a:lnSpc>
                <a:spcPct val="126000"/>
              </a:lnSpc>
              <a:spcBef>
                <a:spcPts val="720"/>
              </a:spcBef>
            </a:pPr>
            <a:r>
              <a:rPr sz="1250" b="0" i="0">
                <a:solidFill>
                  <a:srgbClr val="21295C"/>
                </a:solidFill>
                <a:latin typeface="Arial"/>
              </a:rPr>
              <a:t/>
            </a:r>
            <a:r>
              <a:rPr sz="1250" b="1" i="0">
                <a:solidFill>
                  <a:srgbClr val="21295C"/>
                </a:solidFill>
                <a:latin typeface="Arial"/>
              </a:rPr>
              <a:t>На септическом шоке пара ниже и хирурга, и модели:</a:t>
            </a:r>
            <a:r>
              <a:rPr sz="1250" b="0" i="0">
                <a:solidFill>
                  <a:srgbClr val="21295C"/>
                </a:solidFill>
                <a:latin typeface="Arial"/>
              </a:rPr>
              <a:t> та одна дала 0,816. </a:t>
            </a:r>
            <a:r>
              <a:rPr sz="1250" b="1" i="0">
                <a:solidFill>
                  <a:srgbClr val="21295C"/>
                </a:solidFill>
                <a:latin typeface="Arial"/>
              </a:rPr>
              <a:t>Второй классический режим — шкалы риска,</a:t>
            </a:r>
            <a:r>
              <a:rPr sz="1250" b="0" i="0">
                <a:solidFill>
                  <a:srgbClr val="21295C"/>
                </a:solidFill>
                <a:latin typeface="Arial"/>
              </a:rPr>
              <a:t> другая выборка: 0,874–0,898 против модели 0,916.</a:t>
            </a:r>
          </a:p>
          <a:p>
            <a:pPr algn="l">
              <a:lnSpc>
                <a:spcPct val="126000"/>
              </a:lnSpc>
              <a:spcBef>
                <a:spcPts val="720"/>
              </a:spcBef>
            </a:pPr>
            <a:r>
              <a:rPr sz="1250" b="0" i="0">
                <a:solidFill>
                  <a:srgbClr val="21295C"/>
                </a:solidFill>
                <a:latin typeface="Arial"/>
              </a:rPr>
              <a:t/>
            </a:r>
            <a:r>
              <a:rPr sz="1250" b="1" i="0">
                <a:solidFill>
                  <a:srgbClr val="21295C"/>
                </a:solidFill>
                <a:latin typeface="Arial"/>
              </a:rPr>
              <a:t>Исполнитель тот же, но стал хуже. Ступень — смотрит вторым.</a:t>
            </a:r>
            <a:r>
              <a:rPr sz="1250" b="0" i="0">
                <a:solidFill>
                  <a:srgbClr val="21295C"/>
                </a:solidFill>
                <a:latin typeface="Arial"/>
              </a:rPr>
              <a:t> Где перевес модели наибольший, пара не прибавила вовсе: </a:t>
            </a:r>
            <a:r>
              <a:rPr sz="1250" b="1" i="0">
                <a:solidFill>
                  <a:srgbClr val="21295C"/>
                </a:solidFill>
                <a:latin typeface="Arial"/>
              </a:rPr>
              <a:t>0,834 против 0,833.</a:t>
            </a:r>
          </a:p>
        </p:txBody>
      </p:sp>
      <p:sp>
        <p:nvSpPr>
          <p:cNvPr id="40" name="Rectangle 3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41" name="TextBox 4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Бертсимас и соавт., Annals of Surgery 2018</a:t>
            </a:r>
            <a:r>
              <a:rPr sz="1200" b="0" i="1">
                <a:solidFill>
                  <a:srgbClr val="1C7293"/>
                </a:solidFill>
                <a:latin typeface="Arial"/>
              </a:rPr>
              <a:t> · </a:t>
            </a:r>
            <a:r>
              <a:rPr sz="1200" b="0" i="1" u="sng">
                <a:solidFill>
                  <a:srgbClr val="065A82"/>
                </a:solidFill>
                <a:latin typeface="Arial"/>
                <a:hlinkClick r:id="rId3"/>
              </a:rPr>
              <a:t>модель против чутья хирурга, Journal of Trauma 2023</a:t>
            </a:r>
            <a:r>
              <a:rPr sz="1200" b="0" i="1">
                <a:solidFill>
                  <a:srgbClr val="1C7293"/>
                </a:solidFill>
                <a:latin typeface="Arial"/>
              </a:rPr>
              <a:t> · </a:t>
            </a:r>
            <a:r>
              <a:rPr sz="1200" b="0" i="1" u="sng">
                <a:solidFill>
                  <a:srgbClr val="065A82"/>
                </a:solidFill>
                <a:latin typeface="Arial"/>
                <a:hlinkClick r:id="rId4"/>
              </a:rPr>
              <a:t>Эверетт и соавт., npj Digital Medicine 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Ответ собран: четыре случая, четыре эффекта, один вывод</a:t>
            </a:r>
          </a:p>
        </p:txBody>
      </p:sp>
      <p:sp>
        <p:nvSpPr>
          <p:cNvPr id="4" name="Rounded Rectangle 3"/>
          <p:cNvSpPr/>
          <p:nvPr/>
        </p:nvSpPr>
        <p:spPr>
          <a:xfrm>
            <a:off x="374904" y="1243584"/>
            <a:ext cx="11441887" cy="4875588"/>
          </a:xfrm>
          <a:prstGeom prst="roundRect">
            <a:avLst>
              <a:gd name="adj" fmla="val 6251"/>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3184048" cy="438076"/>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891440"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случай</a:t>
            </a:r>
          </a:p>
        </p:txBody>
      </p:sp>
      <p:sp>
        <p:nvSpPr>
          <p:cNvPr id="7" name="Rectangle 6"/>
          <p:cNvSpPr/>
          <p:nvPr/>
        </p:nvSpPr>
        <p:spPr>
          <a:xfrm>
            <a:off x="3723544" y="1335024"/>
            <a:ext cx="5476860" cy="438076"/>
          </a:xfrm>
          <a:prstGeom prst="rect">
            <a:avLst/>
          </a:prstGeom>
          <a:solidFill>
            <a:srgbClr val="065A82"/>
          </a:solidFill>
          <a:ln>
            <a:noFill/>
          </a:ln>
          <a:effectLst/>
        </p:spPr>
        <p:txBody>
          <a:bodyPr rtlCol="0" anchor="ctr"/>
          <a:lstStyle/>
          <a:p>
            <a:pPr algn="ctr"/>
          </a:p>
        </p:txBody>
      </p:sp>
      <p:sp>
        <p:nvSpPr>
          <p:cNvPr id="8" name="TextBox 7"/>
          <p:cNvSpPr txBox="1"/>
          <p:nvPr/>
        </p:nvSpPr>
        <p:spPr>
          <a:xfrm>
            <a:off x="3869848" y="1335024"/>
            <a:ext cx="5184252"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эффект</a:t>
            </a:r>
          </a:p>
        </p:txBody>
      </p:sp>
      <p:sp>
        <p:nvSpPr>
          <p:cNvPr id="9" name="Rectangle 8"/>
          <p:cNvSpPr/>
          <p:nvPr/>
        </p:nvSpPr>
        <p:spPr>
          <a:xfrm>
            <a:off x="9200405" y="1335024"/>
            <a:ext cx="2451794" cy="438076"/>
          </a:xfrm>
          <a:prstGeom prst="rect">
            <a:avLst/>
          </a:prstGeom>
          <a:solidFill>
            <a:srgbClr val="065A82"/>
          </a:solidFill>
          <a:ln>
            <a:noFill/>
          </a:ln>
          <a:effectLst/>
        </p:spPr>
        <p:txBody>
          <a:bodyPr rtlCol="0" anchor="ctr"/>
          <a:lstStyle/>
          <a:p>
            <a:pPr algn="ctr"/>
          </a:p>
        </p:txBody>
      </p:sp>
      <p:sp>
        <p:nvSpPr>
          <p:cNvPr id="10" name="TextBox 9"/>
          <p:cNvSpPr txBox="1"/>
          <p:nvPr/>
        </p:nvSpPr>
        <p:spPr>
          <a:xfrm>
            <a:off x="9346709" y="1335024"/>
            <a:ext cx="2159186" cy="438076"/>
          </a:xfrm>
          <a:prstGeom prst="rect">
            <a:avLst/>
          </a:prstGeom>
          <a:noFill/>
        </p:spPr>
        <p:txBody>
          <a:bodyPr wrap="square" lIns="0" rIns="0" tIns="0" bIns="0" anchor="ctr">
            <a:spAutoFit/>
          </a:bodyPr>
          <a:lstStyle/>
          <a:p>
            <a:pPr algn="l">
              <a:lnSpc>
                <a:spcPct val="116000"/>
              </a:lnSpc>
            </a:pPr>
            <a:r>
              <a:rPr sz="1500" b="1" i="0">
                <a:solidFill>
                  <a:srgbClr val="FFFFFF"/>
                </a:solidFill>
                <a:latin typeface="Arial"/>
              </a:rPr>
              <a:t>вывод</a:t>
            </a:r>
          </a:p>
        </p:txBody>
      </p:sp>
      <p:sp>
        <p:nvSpPr>
          <p:cNvPr id="11" name="Rectangle 10"/>
          <p:cNvSpPr/>
          <p:nvPr/>
        </p:nvSpPr>
        <p:spPr>
          <a:xfrm>
            <a:off x="539496" y="1773100"/>
            <a:ext cx="3184048" cy="985046"/>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73100"/>
            <a:ext cx="2891440" cy="98504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Хирурги и POTTER.</a:t>
            </a:r>
            <a:r>
              <a:rPr sz="1500" b="0" i="0">
                <a:solidFill>
                  <a:srgbClr val="21295C"/>
                </a:solidFill>
                <a:latin typeface="Arial"/>
              </a:rPr>
              <a:t> 30 хирургов, 150 случаев, жребием</a:t>
            </a:r>
          </a:p>
        </p:txBody>
      </p:sp>
      <p:sp>
        <p:nvSpPr>
          <p:cNvPr id="13" name="Rectangle 12"/>
          <p:cNvSpPr/>
          <p:nvPr/>
        </p:nvSpPr>
        <p:spPr>
          <a:xfrm>
            <a:off x="3723544" y="1773100"/>
            <a:ext cx="5476860" cy="985046"/>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3869848" y="1773100"/>
            <a:ext cx="5184252"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на трёх исходах из четырёх пара точнее хирурга; на септическом шоке </a:t>
            </a:r>
            <a:r>
              <a:rPr sz="1500" b="1" i="0">
                <a:solidFill>
                  <a:srgbClr val="21295C"/>
                </a:solidFill>
                <a:latin typeface="Arial"/>
              </a:rPr>
              <a:t>0,712</a:t>
            </a:r>
            <a:r>
              <a:rPr sz="1500" b="0" i="0">
                <a:solidFill>
                  <a:srgbClr val="21295C"/>
                </a:solidFill>
                <a:latin typeface="Arial"/>
              </a:rPr>
              <a:t> против 0,820 и 0,816</a:t>
            </a:r>
          </a:p>
        </p:txBody>
      </p:sp>
      <p:sp>
        <p:nvSpPr>
          <p:cNvPr id="15" name="Rectangle 14"/>
          <p:cNvSpPr/>
          <p:nvPr/>
        </p:nvSpPr>
        <p:spPr>
          <a:xfrm>
            <a:off x="9200405" y="1773100"/>
            <a:ext cx="2451794" cy="985046"/>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9346709" y="1773100"/>
            <a:ext cx="2159186"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проиграла там, где человек был сильнее</a:t>
            </a:r>
          </a:p>
        </p:txBody>
      </p:sp>
      <p:sp>
        <p:nvSpPr>
          <p:cNvPr id="17" name="Rectangle 16"/>
          <p:cNvSpPr/>
          <p:nvPr/>
        </p:nvSpPr>
        <p:spPr>
          <a:xfrm>
            <a:off x="539496" y="2758147"/>
            <a:ext cx="3184048" cy="711561"/>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758147"/>
            <a:ext cx="2891440" cy="711561"/>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Врачи с языковой моделью.</a:t>
            </a:r>
            <a:r>
              <a:rPr sz="1500" b="0" i="0">
                <a:solidFill>
                  <a:srgbClr val="21295C"/>
                </a:solidFill>
                <a:latin typeface="Arial"/>
              </a:rPr>
              <a:t> 50 врачей, жребием</a:t>
            </a:r>
          </a:p>
        </p:txBody>
      </p:sp>
      <p:sp>
        <p:nvSpPr>
          <p:cNvPr id="19" name="Rectangle 18"/>
          <p:cNvSpPr/>
          <p:nvPr/>
        </p:nvSpPr>
        <p:spPr>
          <a:xfrm>
            <a:off x="3723544" y="2758147"/>
            <a:ext cx="5476860" cy="711561"/>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3869848" y="2758147"/>
            <a:ext cx="5184252"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балл рассуждения </a:t>
            </a:r>
            <a:r>
              <a:rPr sz="1500" b="1" i="0">
                <a:solidFill>
                  <a:srgbClr val="21295C"/>
                </a:solidFill>
                <a:latin typeface="Arial"/>
              </a:rPr>
              <a:t>76 против 74</a:t>
            </a:r>
            <a:r>
              <a:rPr sz="1500" b="0" i="0">
                <a:solidFill>
                  <a:srgbClr val="21295C"/>
                </a:solidFill>
                <a:latin typeface="Arial"/>
              </a:rPr>
              <a:t>: разница 2 пункта, интервал −4…8</a:t>
            </a:r>
          </a:p>
        </p:txBody>
      </p:sp>
      <p:sp>
        <p:nvSpPr>
          <p:cNvPr id="21" name="Rectangle 20"/>
          <p:cNvSpPr/>
          <p:nvPr/>
        </p:nvSpPr>
        <p:spPr>
          <a:xfrm>
            <a:off x="9200405" y="2758147"/>
            <a:ext cx="2451794" cy="711561"/>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9346709" y="2758147"/>
            <a:ext cx="2159186"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от справочника не отличима</a:t>
            </a:r>
          </a:p>
        </p:txBody>
      </p:sp>
      <p:sp>
        <p:nvSpPr>
          <p:cNvPr id="23" name="Rectangle 22"/>
          <p:cNvSpPr/>
          <p:nvPr/>
        </p:nvSpPr>
        <p:spPr>
          <a:xfrm>
            <a:off x="539496" y="3469709"/>
            <a:ext cx="3184048" cy="985046"/>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3469709"/>
            <a:ext cx="2891440" cy="985046"/>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Обзор с мета-анализом.</a:t>
            </a:r>
            <a:r>
              <a:rPr sz="1500" b="0" i="0">
                <a:solidFill>
                  <a:srgbClr val="21295C"/>
                </a:solidFill>
                <a:latin typeface="Arial"/>
              </a:rPr>
              <a:t> 74 работы, 106 опытов</a:t>
            </a:r>
          </a:p>
        </p:txBody>
      </p:sp>
      <p:sp>
        <p:nvSpPr>
          <p:cNvPr id="25" name="Rectangle 24"/>
          <p:cNvSpPr/>
          <p:nvPr/>
        </p:nvSpPr>
        <p:spPr>
          <a:xfrm>
            <a:off x="3723544" y="3469709"/>
            <a:ext cx="5476860" cy="985046"/>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3869848" y="3469709"/>
            <a:ext cx="5184252"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где модель сильнее — пара хуже модели на </a:t>
            </a:r>
            <a:r>
              <a:rPr sz="1500" b="1" i="0">
                <a:solidFill>
                  <a:srgbClr val="21295C"/>
                </a:solidFill>
                <a:latin typeface="Arial"/>
              </a:rPr>
              <a:t>0,54</a:t>
            </a:r>
            <a:r>
              <a:rPr sz="1500" b="0" i="0">
                <a:solidFill>
                  <a:srgbClr val="21295C"/>
                </a:solidFill>
                <a:latin typeface="Arial"/>
              </a:rPr>
              <a:t>, лучше человека на 0,74; по всему обзору −0,23</a:t>
            </a:r>
          </a:p>
        </p:txBody>
      </p:sp>
      <p:sp>
        <p:nvSpPr>
          <p:cNvPr id="27" name="Rectangle 26"/>
          <p:cNvSpPr/>
          <p:nvPr/>
        </p:nvSpPr>
        <p:spPr>
          <a:xfrm>
            <a:off x="9200405" y="3469709"/>
            <a:ext cx="2451794" cy="985046"/>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9346709" y="3469709"/>
            <a:ext cx="2159186" cy="985046"/>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счёт идёт против сильнейшей стороны</a:t>
            </a:r>
          </a:p>
        </p:txBody>
      </p:sp>
      <p:sp>
        <p:nvSpPr>
          <p:cNvPr id="29" name="Rectangle 28"/>
          <p:cNvSpPr/>
          <p:nvPr/>
        </p:nvSpPr>
        <p:spPr>
          <a:xfrm>
            <a:off x="539496" y="4454755"/>
            <a:ext cx="3184048" cy="711561"/>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4454755"/>
            <a:ext cx="2891440" cy="711561"/>
          </a:xfrm>
          <a:prstGeom prst="rect">
            <a:avLst/>
          </a:prstGeom>
          <a:noFill/>
        </p:spPr>
        <p:txBody>
          <a:bodyPr wrap="square" lIns="0" rIns="0" tIns="0" bIns="0" anchor="ctr">
            <a:spAutoFit/>
          </a:bodyPr>
          <a:lstStyle/>
          <a:p>
            <a:pPr algn="l">
              <a:lnSpc>
                <a:spcPct val="116000"/>
              </a:lnSpc>
            </a:pPr>
            <a:r>
              <a:rPr sz="1500" b="1" i="0">
                <a:solidFill>
                  <a:srgbClr val="21295C"/>
                </a:solidFill>
                <a:latin typeface="Arial"/>
              </a:rPr>
              <a:t>Замер взгляда.</a:t>
            </a:r>
            <a:r>
              <a:rPr sz="1500" b="0" i="0">
                <a:solidFill>
                  <a:srgbClr val="21295C"/>
                </a:solidFill>
                <a:latin typeface="Arial"/>
              </a:rPr>
              <a:t> 10 читателей, против себя</a:t>
            </a:r>
          </a:p>
        </p:txBody>
      </p:sp>
      <p:sp>
        <p:nvSpPr>
          <p:cNvPr id="31" name="Rectangle 30"/>
          <p:cNvSpPr/>
          <p:nvPr/>
        </p:nvSpPr>
        <p:spPr>
          <a:xfrm>
            <a:off x="3723544" y="4454755"/>
            <a:ext cx="5476860" cy="711561"/>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3869848" y="4454755"/>
            <a:ext cx="5184252"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где подсказка молчала (14 случаев) — пропущенных раков </a:t>
            </a:r>
            <a:r>
              <a:rPr sz="1500" b="1" i="0">
                <a:solidFill>
                  <a:srgbClr val="21295C"/>
                </a:solidFill>
                <a:latin typeface="Arial"/>
              </a:rPr>
              <a:t>29 → 61</a:t>
            </a:r>
            <a:r>
              <a:rPr sz="1500" b="0" i="0">
                <a:solidFill>
                  <a:srgbClr val="21295C"/>
                </a:solidFill>
                <a:latin typeface="Arial"/>
              </a:rPr>
              <a:t> из ста</a:t>
            </a:r>
          </a:p>
        </p:txBody>
      </p:sp>
      <p:sp>
        <p:nvSpPr>
          <p:cNvPr id="33" name="Rectangle 32"/>
          <p:cNvSpPr/>
          <p:nvPr/>
        </p:nvSpPr>
        <p:spPr>
          <a:xfrm>
            <a:off x="9200405" y="4454755"/>
            <a:ext cx="2451794" cy="711561"/>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9346709" y="4454755"/>
            <a:ext cx="2159186" cy="711561"/>
          </a:xfrm>
          <a:prstGeom prst="rect">
            <a:avLst/>
          </a:prstGeom>
          <a:noFill/>
        </p:spPr>
        <p:txBody>
          <a:bodyPr wrap="square" lIns="0" rIns="0" tIns="0" bIns="0" anchor="ctr">
            <a:spAutoFit/>
          </a:bodyPr>
          <a:lstStyle/>
          <a:p>
            <a:pPr algn="l">
              <a:lnSpc>
                <a:spcPct val="116000"/>
              </a:lnSpc>
            </a:pPr>
            <a:r>
              <a:rPr sz="1500" b="0" i="0">
                <a:solidFill>
                  <a:srgbClr val="21295C"/>
                </a:solidFill>
                <a:latin typeface="Arial"/>
              </a:rPr>
              <a:t>знак задаёт правота подсказки</a:t>
            </a:r>
          </a:p>
        </p:txBody>
      </p:sp>
      <p:sp>
        <p:nvSpPr>
          <p:cNvPr id="35" name="TextBox 34"/>
          <p:cNvSpPr txBox="1"/>
          <p:nvPr/>
        </p:nvSpPr>
        <p:spPr>
          <a:xfrm>
            <a:off x="539496" y="5312621"/>
            <a:ext cx="11112703" cy="623671"/>
          </a:xfrm>
          <a:prstGeom prst="rect">
            <a:avLst/>
          </a:prstGeom>
          <a:noFill/>
        </p:spPr>
        <p:txBody>
          <a:bodyPr wrap="square" lIns="0" rIns="0" tIns="0" bIns="0" anchor="t">
            <a:spAutoFit/>
          </a:bodyPr>
          <a:lstStyle/>
          <a:p>
            <a:pPr algn="l">
              <a:lnSpc>
                <a:spcPct val="124000"/>
              </a:lnSpc>
            </a:pPr>
            <a:r>
              <a:rPr sz="1600" b="1" i="0">
                <a:solidFill>
                  <a:srgbClr val="21295C"/>
                </a:solidFill>
                <a:latin typeface="Arial"/>
              </a:rPr>
              <a:t>Ни в одном из четырёх решение человека не дошло до больного.</a:t>
            </a:r>
            <a:r>
              <a:rPr sz="1550" b="0" i="0">
                <a:solidFill>
                  <a:srgbClr val="21295C"/>
                </a:solidFill>
                <a:latin typeface="Arial"/>
              </a:rPr>
              <a:t> Исходы служат эталоном для счёта точности, а не последствием подсказки.</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хирурги: Journal of Trauma 2023</a:t>
            </a:r>
            <a:r>
              <a:rPr sz="1200" b="0" i="1">
                <a:solidFill>
                  <a:srgbClr val="1C7293"/>
                </a:solidFill>
                <a:latin typeface="Arial"/>
              </a:rPr>
              <a:t> · </a:t>
            </a:r>
            <a:r>
              <a:rPr sz="1200" b="0" i="1" u="sng">
                <a:solidFill>
                  <a:srgbClr val="065A82"/>
                </a:solidFill>
                <a:latin typeface="Arial"/>
                <a:hlinkClick r:id="rId3"/>
              </a:rPr>
              <a:t>врачи с языковой моделью: JAMA Network Open 2024</a:t>
            </a:r>
            <a:r>
              <a:rPr sz="1200" b="0" i="1">
                <a:solidFill>
                  <a:srgbClr val="1C7293"/>
                </a:solidFill>
                <a:latin typeface="Arial"/>
              </a:rPr>
              <a:t> · </a:t>
            </a:r>
            <a:r>
              <a:rPr sz="1200" b="0" i="1" u="sng">
                <a:solidFill>
                  <a:srgbClr val="065A82"/>
                </a:solidFill>
                <a:latin typeface="Arial"/>
                <a:hlinkClick r:id="rId4"/>
              </a:rPr>
              <a:t>свод: Nature Human Behaviour 2024</a:t>
            </a:r>
            <a:r>
              <a:rPr sz="1200" b="0" i="1">
                <a:solidFill>
                  <a:srgbClr val="1C7293"/>
                </a:solidFill>
                <a:latin typeface="Arial"/>
              </a:rPr>
              <a:t> · </a:t>
            </a:r>
            <a:r>
              <a:rPr sz="1200" b="0" i="1" u="sng">
                <a:solidFill>
                  <a:srgbClr val="065A82"/>
                </a:solidFill>
                <a:latin typeface="Arial"/>
                <a:hlinkClick r:id="rId5"/>
              </a:rPr>
              <a:t>взгляд: Radiology 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5: модель раннего предупреждения о сепсисе</a:t>
            </a:r>
          </a:p>
        </p:txBody>
      </p:sp>
      <p:sp>
        <p:nvSpPr>
          <p:cNvPr id="4" name="Rounded Rectangle 3"/>
          <p:cNvSpPr/>
          <p:nvPr/>
        </p:nvSpPr>
        <p:spPr>
          <a:xfrm>
            <a:off x="502920"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ПРОПУСКА</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часы до реанимации</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в деньгах</a:t>
            </a:r>
          </a:p>
        </p:txBody>
      </p:sp>
      <p:sp>
        <p:nvSpPr>
          <p:cNvPr id="8" name="Rounded Rectangle 7"/>
          <p:cNvSpPr/>
          <p:nvPr/>
        </p:nvSpPr>
        <p:spPr>
          <a:xfrm>
            <a:off x="3340531"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ЛОЖНОЙ ТРЕВОГИ</a:t>
            </a:r>
          </a:p>
        </p:txBody>
      </p:sp>
      <p:sp>
        <p:nvSpPr>
          <p:cNvPr id="10" name="TextBox 9"/>
          <p:cNvSpPr txBox="1"/>
          <p:nvPr/>
        </p:nvSpPr>
        <p:spPr>
          <a:xfrm>
            <a:off x="3477691"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через сотню — закрывать не читая</a:t>
            </a:r>
          </a:p>
        </p:txBody>
      </p:sp>
      <p:sp>
        <p:nvSpPr>
          <p:cNvPr id="11" name="TextBox 10"/>
          <p:cNvSpPr txBox="1"/>
          <p:nvPr/>
        </p:nvSpPr>
        <p:spPr>
          <a:xfrm>
            <a:off x="3477691" y="293322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время, снятое с другого пациента</a:t>
            </a:r>
          </a:p>
        </p:txBody>
      </p:sp>
      <p:sp>
        <p:nvSpPr>
          <p:cNvPr id="12" name="Rounded Rectangle 11"/>
          <p:cNvSpPr/>
          <p:nvPr/>
        </p:nvSpPr>
        <p:spPr>
          <a:xfrm>
            <a:off x="6178143" y="1335024"/>
            <a:ext cx="2673019"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ПОДТВЕРЖДАЕТСЯ ИЗ ПОДНЯТЫХ ТРЕВОГ: ШКАЛА → МОДЕЛЬ</a:t>
            </a:r>
          </a:p>
        </p:txBody>
      </p:sp>
      <p:sp>
        <p:nvSpPr>
          <p:cNvPr id="14" name="TextBox 13"/>
          <p:cNvSpPr txBox="1"/>
          <p:nvPr/>
        </p:nvSpPr>
        <p:spPr>
          <a:xfrm>
            <a:off x="6315303" y="2140317"/>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8 → 12 из ста</a:t>
            </a:r>
          </a:p>
        </p:txBody>
      </p:sp>
      <p:sp>
        <p:nvSpPr>
          <p:cNvPr id="15" name="TextBox 14"/>
          <p:cNvSpPr txBox="1"/>
          <p:nvPr/>
        </p:nvSpPr>
        <p:spPr>
          <a:xfrm>
            <a:off x="6315303" y="2567316"/>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45 776 пациентов, сепсис 3,3 из ста · модель: 38 455 госпитализаций, 6,6 из ста</a:t>
            </a:r>
          </a:p>
        </p:txBody>
      </p:sp>
      <p:sp>
        <p:nvSpPr>
          <p:cNvPr id="16" name="Rounded Rectangle 15"/>
          <p:cNvSpPr/>
          <p:nvPr/>
        </p:nvSpPr>
        <p:spPr>
          <a:xfrm>
            <a:off x="9015755" y="1335024"/>
            <a:ext cx="2673019"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 ИЗМЕРЕНО НЕЗАВИСИМОЙ ПРОВЕРКОЙ</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0,76–0,83 → 0,63</a:t>
            </a:r>
          </a:p>
        </p:txBody>
      </p:sp>
      <p:sp>
        <p:nvSpPr>
          <p:cNvPr id="19" name="TextBox 18"/>
          <p:cNvSpPr txBox="1"/>
          <p:nvPr/>
        </p:nvSpPr>
        <p:spPr>
          <a:xfrm>
            <a:off x="9152915" y="2359845"/>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площадь под кривой: 0,5 монетка, 1,0 без промаха. Поймано 33 случая из ста — не выявлено 1 709 из 2 552</a:t>
            </a:r>
          </a:p>
        </p:txBody>
      </p:sp>
      <p:sp>
        <p:nvSpPr>
          <p:cNvPr id="20" name="TextBox 19"/>
          <p:cNvSpPr txBox="1"/>
          <p:nvPr/>
        </p:nvSpPr>
        <p:spPr>
          <a:xfrm>
            <a:off x="502920" y="371232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Шкала руками</a:t>
            </a:r>
          </a:p>
        </p:txBody>
      </p:sp>
      <p:sp>
        <p:nvSpPr>
          <p:cNvPr id="21" name="Rounded Rectangle 20"/>
          <p:cNvSpPr/>
          <p:nvPr/>
        </p:nvSpPr>
        <p:spPr>
          <a:xfrm>
            <a:off x="1920240"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баллы по таблице</a:t>
            </a:r>
          </a:p>
        </p:txBody>
      </p:sp>
      <p:sp>
        <p:nvSpPr>
          <p:cNvPr id="23" name="Right Arrow 22"/>
          <p:cNvSpPr/>
          <p:nvPr/>
        </p:nvSpPr>
        <p:spPr>
          <a:xfrm>
            <a:off x="4202353" y="3963688"/>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сумма</a:t>
            </a:r>
          </a:p>
        </p:txBody>
      </p:sp>
      <p:sp>
        <p:nvSpPr>
          <p:cNvPr id="26" name="Right Arrow 25"/>
          <p:cNvSpPr/>
          <p:nvPr/>
        </p:nvSpPr>
        <p:spPr>
          <a:xfrm>
            <a:off x="6713067" y="3963688"/>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a:t>
            </a:r>
          </a:p>
        </p:txBody>
      </p:sp>
      <p:sp>
        <p:nvSpPr>
          <p:cNvPr id="29" name="Right Arrow 28"/>
          <p:cNvSpPr/>
          <p:nvPr/>
        </p:nvSpPr>
        <p:spPr>
          <a:xfrm>
            <a:off x="9223781" y="3963688"/>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назначенное действие</a:t>
            </a:r>
          </a:p>
        </p:txBody>
      </p:sp>
      <p:sp>
        <p:nvSpPr>
          <p:cNvPr id="32" name="TextBox 31"/>
          <p:cNvSpPr txBox="1"/>
          <p:nvPr/>
        </p:nvSpPr>
        <p:spPr>
          <a:xfrm>
            <a:off x="502920" y="457166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Модель в карте</a:t>
            </a:r>
          </a:p>
        </p:txBody>
      </p:sp>
      <p:sp>
        <p:nvSpPr>
          <p:cNvPr id="33" name="Rounded Rectangle 32"/>
          <p:cNvSpPr/>
          <p:nvPr/>
        </p:nvSpPr>
        <p:spPr>
          <a:xfrm>
            <a:off x="1920240"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показатели и записи непрерывно</a:t>
            </a:r>
          </a:p>
        </p:txBody>
      </p:sp>
      <p:sp>
        <p:nvSpPr>
          <p:cNvPr id="35" name="Right Arrow 34"/>
          <p:cNvSpPr/>
          <p:nvPr/>
        </p:nvSpPr>
        <p:spPr>
          <a:xfrm>
            <a:off x="4202353" y="4823034"/>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453509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7" name="TextBox 36"/>
          <p:cNvSpPr txBox="1"/>
          <p:nvPr/>
        </p:nvSpPr>
        <p:spPr>
          <a:xfrm>
            <a:off x="4513249" y="458081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балл риска</a:t>
            </a:r>
          </a:p>
        </p:txBody>
      </p:sp>
      <p:sp>
        <p:nvSpPr>
          <p:cNvPr id="38" name="Right Arrow 37"/>
          <p:cNvSpPr/>
          <p:nvPr/>
        </p:nvSpPr>
        <p:spPr>
          <a:xfrm>
            <a:off x="6713067" y="4823034"/>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тревога с назначениями</a:t>
            </a:r>
          </a:p>
        </p:txBody>
      </p:sp>
      <p:sp>
        <p:nvSpPr>
          <p:cNvPr id="41" name="Right Arrow 40"/>
          <p:cNvSpPr/>
          <p:nvPr/>
        </p:nvSpPr>
        <p:spPr>
          <a:xfrm>
            <a:off x="9223781" y="4823034"/>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смена разбирает</a:t>
            </a:r>
          </a:p>
        </p:txBody>
      </p:sp>
      <p:sp>
        <p:nvSpPr>
          <p:cNvPr id="44" name="TextBox 43"/>
          <p:cNvSpPr txBox="1"/>
          <p:nvPr/>
        </p:nvSpPr>
        <p:spPr>
          <a:xfrm>
            <a:off x="502920" y="528471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Классический режим — не ноль, а шкала, которую считали руками</a:t>
            </a:r>
          </a:p>
        </p:txBody>
      </p:sp>
      <p:sp>
        <p:nvSpPr>
          <p:cNvPr id="45" name="Rounded Rectangle 44"/>
          <p:cNvSpPr/>
          <p:nvPr/>
        </p:nvSpPr>
        <p:spPr>
          <a:xfrm>
            <a:off x="374904" y="5587394"/>
            <a:ext cx="11441887" cy="64881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6" name="TextBox 45"/>
          <p:cNvSpPr txBox="1"/>
          <p:nvPr/>
        </p:nvSpPr>
        <p:spPr>
          <a:xfrm>
            <a:off x="539496" y="5678834"/>
            <a:ext cx="11112703" cy="557373"/>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Модель сепсиса Epic</a:t>
            </a:r>
            <a:r>
              <a:rPr sz="1150" b="0" i="0">
                <a:solidFill>
                  <a:srgbClr val="21295C"/>
                </a:solidFill>
                <a:latin typeface="Arial"/>
              </a:rPr>
              <a:t> в медицинской карте. </a:t>
            </a:r>
            <a:r>
              <a:rPr sz="1150" b="0" i="1">
                <a:solidFill>
                  <a:srgbClr val="21295C"/>
                </a:solidFill>
                <a:latin typeface="Arial"/>
              </a:rPr>
              <a:t>Прогноз на структурированных данных: штрафованная логистическая регрессия, глубокой сети нет.</a:t>
            </a:r>
          </a:p>
          <a:p>
            <a:pPr algn="l">
              <a:lnSpc>
                <a:spcPct val="126000"/>
              </a:lnSpc>
              <a:spcBef>
                <a:spcPts val="720"/>
              </a:spcBef>
            </a:pPr>
            <a:r>
              <a:rPr sz="1150" b="0" i="0">
                <a:solidFill>
                  <a:srgbClr val="21295C"/>
                </a:solidFill>
                <a:latin typeface="Arial"/>
              </a:rPr>
              <a:t/>
            </a:r>
            <a:r>
              <a:rPr sz="1150" b="1" i="0">
                <a:solidFill>
                  <a:srgbClr val="21295C"/>
                </a:solidFill>
                <a:latin typeface="Arial"/>
              </a:rPr>
              <a:t>Сравнивать надо со шкалой, а не с нулём.</a:t>
            </a:r>
            <a:r>
              <a:rPr sz="1150" b="0" i="0">
                <a:solidFill>
                  <a:srgbClr val="21295C"/>
                </a:solidFill>
                <a:latin typeface="Arial"/>
              </a:rPr>
              <a:t> </a:t>
            </a:r>
            <a:r>
              <a:rPr sz="1150" b="0" i="1">
                <a:solidFill>
                  <a:srgbClr val="21295C"/>
                </a:solidFill>
                <a:latin typeface="Arial"/>
              </a:rPr>
              <a:t>Ретроспективно, 27 697 пациентов.</a:t>
            </a:r>
          </a:p>
        </p:txBody>
      </p:sp>
      <p:sp>
        <p:nvSpPr>
          <p:cNvPr id="47" name="Rectangle 4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8" name="TextBox 4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с эрратой того же журнала</a:t>
            </a:r>
            <a:r>
              <a:rPr sz="1200" b="0" i="1">
                <a:solidFill>
                  <a:srgbClr val="1C7293"/>
                </a:solidFill>
                <a:latin typeface="Arial"/>
              </a:rPr>
              <a:t> · </a:t>
            </a:r>
            <a:r>
              <a:rPr sz="1200" b="0" i="1" u="sng">
                <a:solidFill>
                  <a:srgbClr val="065A82"/>
                </a:solidFill>
                <a:latin typeface="Arial"/>
                <a:hlinkClick r:id="rId3"/>
              </a:rPr>
              <a:t>сравнение балльных шкал, JAMIA Open 2021</a:t>
            </a:r>
            <a:r>
              <a:rPr sz="1200" b="0" i="1">
                <a:solidFill>
                  <a:srgbClr val="1C7293"/>
                </a:solidFill>
                <a:latin typeface="Arial"/>
              </a:rPr>
              <a:t> · </a:t>
            </a:r>
            <a:r>
              <a:rPr sz="1200" b="0" i="1" u="sng">
                <a:solidFill>
                  <a:srgbClr val="065A82"/>
                </a:solidFill>
                <a:latin typeface="Arial"/>
                <a:hlinkClick r:id="rId4"/>
              </a:rPr>
              <a:t>Ostermayer и соавт., JAMIA Open 2024</a:t>
            </a:r>
            <a:r>
              <a:rPr sz="1200" b="0" i="1">
                <a:solidFill>
                  <a:srgbClr val="1C7293"/>
                </a:solidFill>
                <a:latin typeface="Arial"/>
              </a:rPr>
              <a:t> · </a:t>
            </a:r>
            <a:r>
              <a:rPr sz="1200" b="0" i="1" u="sng">
                <a:solidFill>
                  <a:srgbClr val="065A82"/>
                </a:solidFill>
                <a:latin typeface="Arial"/>
                <a:hlinkClick r:id="rId5"/>
              </a:rPr>
              <a:t>заявление по второй версии и проспективная проверка</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5, цена: восемнадцать тревог на сто госпитализаций</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ЧТОБЫ НАЙТИ ОДИН СЛУЧАЙ, РАЗОБРАТЬ</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восемь тревог</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прежние пятнадцать отозваны эрратой того же журнала</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ВТОРАЯ ПРОВЕРКА, ДРУГИЕ АВТОРЫ И БОЛЬНИЦЫ</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опережение — ноль минут</a:t>
            </a:r>
          </a:p>
        </p:txBody>
      </p:sp>
      <p:sp>
        <p:nvSpPr>
          <p:cNvPr id="11" name="TextBox 10"/>
          <p:cNvSpPr txBox="1"/>
          <p:nvPr/>
        </p:nvSpPr>
        <p:spPr>
          <a:xfrm>
            <a:off x="4423562"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медианное; 145 885 обращений, 2023 год</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ПАЦИЕНТОВ С ТРЕВОГОЙ ЗА ЭПИДЕМИЮ</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 → 21 из ста</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другая база — 24 больницы: поток 953 → 1 363 при загрузке 10 159 → 6 634</a:t>
            </a:r>
          </a:p>
        </p:txBody>
      </p:sp>
      <p:sp>
        <p:nvSpPr>
          <p:cNvPr id="16" name="TextBox 15"/>
          <p:cNvSpPr txBox="1"/>
          <p:nvPr/>
        </p:nvSpPr>
        <p:spPr>
          <a:xfrm>
            <a:off x="502920" y="331812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a:t>
            </a:r>
          </a:p>
        </p:txBody>
      </p:sp>
      <p:sp>
        <p:nvSpPr>
          <p:cNvPr id="17" name="Rounded Rectangle 16"/>
          <p:cNvSpPr/>
          <p:nvPr/>
        </p:nvSpPr>
        <p:spPr>
          <a:xfrm>
            <a:off x="1920240"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обход по расписанию</a:t>
            </a:r>
          </a:p>
        </p:txBody>
      </p:sp>
      <p:sp>
        <p:nvSpPr>
          <p:cNvPr id="19" name="Right Arrow 18"/>
          <p:cNvSpPr/>
          <p:nvPr/>
        </p:nvSpPr>
        <p:spPr>
          <a:xfrm>
            <a:off x="5039258" y="345066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балл по таблице</a:t>
            </a:r>
          </a:p>
        </p:txBody>
      </p:sp>
      <p:sp>
        <p:nvSpPr>
          <p:cNvPr id="22" name="Right Arrow 21"/>
          <p:cNvSpPr/>
          <p:nvPr/>
        </p:nvSpPr>
        <p:spPr>
          <a:xfrm>
            <a:off x="8386876" y="345066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звать врача или нет</a:t>
            </a:r>
          </a:p>
        </p:txBody>
      </p:sp>
      <p:sp>
        <p:nvSpPr>
          <p:cNvPr id="25" name="TextBox 24"/>
          <p:cNvSpPr txBox="1"/>
          <p:nvPr/>
        </p:nvSpPr>
        <p:spPr>
          <a:xfrm>
            <a:off x="502920" y="393982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a:t>
            </a:r>
          </a:p>
        </p:txBody>
      </p:sp>
      <p:sp>
        <p:nvSpPr>
          <p:cNvPr id="26" name="Rounded Rectangle 25"/>
          <p:cNvSpPr/>
          <p:nvPr/>
        </p:nvSpPr>
        <p:spPr>
          <a:xfrm>
            <a:off x="1920240"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считает непрерывно</a:t>
            </a:r>
          </a:p>
        </p:txBody>
      </p:sp>
      <p:sp>
        <p:nvSpPr>
          <p:cNvPr id="28" name="Right Arrow 27"/>
          <p:cNvSpPr/>
          <p:nvPr/>
        </p:nvSpPr>
        <p:spPr>
          <a:xfrm>
            <a:off x="5039258" y="4072365"/>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324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394896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тревога модели</a:t>
            </a:r>
          </a:p>
        </p:txBody>
      </p:sp>
      <p:sp>
        <p:nvSpPr>
          <p:cNvPr id="31" name="Right Arrow 30"/>
          <p:cNvSpPr/>
          <p:nvPr/>
        </p:nvSpPr>
        <p:spPr>
          <a:xfrm>
            <a:off x="8386876" y="407236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разбор и отклонение</a:t>
            </a:r>
          </a:p>
        </p:txBody>
      </p:sp>
      <p:sp>
        <p:nvSpPr>
          <p:cNvPr id="34" name="TextBox 33"/>
          <p:cNvSpPr txBox="1"/>
          <p:nvPr/>
        </p:nvSpPr>
        <p:spPr>
          <a:xfrm>
            <a:off x="502920" y="441521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Разбор тревоги — новый шаг той же смены</a:t>
            </a:r>
          </a:p>
        </p:txBody>
      </p:sp>
      <p:sp>
        <p:nvSpPr>
          <p:cNvPr id="35" name="Rounded Rectangle 34"/>
          <p:cNvSpPr/>
          <p:nvPr/>
        </p:nvSpPr>
        <p:spPr>
          <a:xfrm>
            <a:off x="374904" y="4717901"/>
            <a:ext cx="11441887" cy="1518306"/>
          </a:xfrm>
          <a:prstGeom prst="roundRect">
            <a:avLst>
              <a:gd name="adj" fmla="val 20075"/>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809341"/>
            <a:ext cx="5373471" cy="14268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Тревога приходит на 18 госпитализаций из ста; подтверждается 12 из ста поднятых тревог</a:t>
            </a:r>
            <a:r>
              <a:rPr sz="1300" b="0" i="0">
                <a:solidFill>
                  <a:srgbClr val="21295C"/>
                </a:solidFill>
                <a:latin typeface="Arial"/>
              </a:rPr>
              <a:t>: считано от разного, путать нельзя.</a:t>
            </a:r>
          </a:p>
          <a:p>
            <a:pPr algn="l">
              <a:lnSpc>
                <a:spcPct val="126000"/>
              </a:lnSpc>
              <a:spcBef>
                <a:spcPts val="720"/>
              </a:spcBef>
            </a:pPr>
            <a:r>
              <a:rPr sz="1300" b="0" i="0">
                <a:solidFill>
                  <a:srgbClr val="21295C"/>
                </a:solidFill>
                <a:latin typeface="Arial"/>
              </a:rPr>
              <a:t/>
            </a:r>
            <a:r>
              <a:rPr sz="1300" b="1" i="0">
                <a:solidFill>
                  <a:srgbClr val="21295C"/>
                </a:solidFill>
                <a:latin typeface="Arial"/>
              </a:rPr>
              <a:t>Шкала подтверждалась 8 из ста, модель — 12: из полосы не вышла.</a:t>
            </a:r>
            <a:r>
              <a:rPr sz="1300" b="0" i="0">
                <a:solidFill>
                  <a:srgbClr val="21295C"/>
                </a:solidFill>
                <a:latin typeface="Arial"/>
              </a:rPr>
              <a:t> Населения разные: сравнивается порядок величины, превосходства не устанавливает.</a:t>
            </a:r>
          </a:p>
        </p:txBody>
      </p:sp>
      <p:sp>
        <p:nvSpPr>
          <p:cNvPr id="37" name="TextBox 36"/>
          <p:cNvSpPr txBox="1"/>
          <p:nvPr/>
        </p:nvSpPr>
        <p:spPr>
          <a:xfrm>
            <a:off x="6278727" y="4809341"/>
            <a:ext cx="5373471" cy="1426866"/>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Дословно: «добавляет мало к тому, что врачи и так делают».</a:t>
            </a:r>
          </a:p>
          <a:p>
            <a:pPr algn="l">
              <a:lnSpc>
                <a:spcPct val="126000"/>
              </a:lnSpc>
              <a:spcBef>
                <a:spcPts val="720"/>
              </a:spcBef>
            </a:pPr>
            <a:r>
              <a:rPr sz="1300" b="0" i="0">
                <a:solidFill>
                  <a:srgbClr val="21295C"/>
                </a:solidFill>
                <a:latin typeface="Arial"/>
              </a:rPr>
              <a:t/>
            </a:r>
            <a:r>
              <a:rPr sz="1300" b="1" i="0">
                <a:solidFill>
                  <a:srgbClr val="21295C"/>
                </a:solidFill>
                <a:latin typeface="Arial"/>
              </a:rPr>
              <a:t>Что переехало:</a:t>
            </a:r>
            <a:r>
              <a:rPr sz="1300" b="0" i="0">
                <a:solidFill>
                  <a:srgbClr val="21295C"/>
                </a:solidFill>
                <a:latin typeface="Arial"/>
              </a:rPr>
              <a:t> нагрузка выросла на том же месте; </a:t>
            </a:r>
            <a:r>
              <a:rPr sz="1300" b="1" i="0">
                <a:solidFill>
                  <a:srgbClr val="21295C"/>
                </a:solidFill>
                <a:latin typeface="Arial"/>
              </a:rPr>
              <a:t>появился шаг</a:t>
            </a:r>
            <a:r>
              <a:rPr sz="1300" b="0" i="0">
                <a:solidFill>
                  <a:srgbClr val="21295C"/>
                </a:solidFill>
                <a:latin typeface="Arial"/>
              </a:rPr>
              <a:t> — у шкалы отклонять было нечего, порог считала сама. </a:t>
            </a:r>
            <a:r>
              <a:rPr sz="1300" b="1" i="0">
                <a:solidFill>
                  <a:srgbClr val="21295C"/>
                </a:solidFill>
                <a:latin typeface="Arial"/>
              </a:rPr>
              <a:t>Распределение входов сдвинулось, порог остался. Поток тревог, четвёртое искажение входа.</a:t>
            </a:r>
          </a:p>
        </p:txBody>
      </p:sp>
      <p:sp>
        <p:nvSpPr>
          <p:cNvPr id="38" name="Rectangle 37"/>
          <p:cNvSpPr/>
          <p:nvPr/>
        </p:nvSpPr>
        <p:spPr>
          <a:xfrm>
            <a:off x="6091275" y="4809341"/>
            <a:ext cx="9144" cy="1378704"/>
          </a:xfrm>
          <a:prstGeom prst="rect">
            <a:avLst/>
          </a:prstGeom>
          <a:solidFill>
            <a:srgbClr val="D9E2EC"/>
          </a:solidFill>
          <a:ln>
            <a:noFill/>
          </a:ln>
          <a:effectLst/>
        </p:spPr>
        <p:txBody>
          <a:bodyPr rtlCol="0" anchor="ctr"/>
          <a:lstStyle/>
          <a:p>
            <a:pPr algn="ct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Wong, Otles и соавт., JAMA Internal Medicine 2021, с эрратой того же журнала</a:t>
            </a:r>
            <a:r>
              <a:rPr sz="1200" b="0" i="1">
                <a:solidFill>
                  <a:srgbClr val="1C7293"/>
                </a:solidFill>
                <a:latin typeface="Arial"/>
              </a:rPr>
              <a:t> · </a:t>
            </a:r>
            <a:r>
              <a:rPr sz="1200" b="0" i="1" u="sng">
                <a:solidFill>
                  <a:srgbClr val="065A82"/>
                </a:solidFill>
                <a:latin typeface="Arial"/>
                <a:hlinkClick r:id="rId3"/>
              </a:rPr>
              <a:t>Ostermayer и соавт., JAMIA Open 2024</a:t>
            </a:r>
            <a:r>
              <a:rPr sz="1200" b="0" i="1">
                <a:solidFill>
                  <a:srgbClr val="1C7293"/>
                </a:solidFill>
                <a:latin typeface="Arial"/>
              </a:rPr>
              <a:t> · </a:t>
            </a:r>
            <a:r>
              <a:rPr sz="1200" b="0" i="1" u="sng">
                <a:solidFill>
                  <a:srgbClr val="065A82"/>
                </a:solidFill>
                <a:latin typeface="Arial"/>
                <a:hlinkClick r:id="rId4"/>
              </a:rPr>
              <a:t>объём тревог за эпидемию</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Пример 6: Москва, Россия — модель предлагает заключительный диагноз по медкарте</a:t>
            </a:r>
          </a:p>
        </p:txBody>
      </p:sp>
      <p:sp>
        <p:nvSpPr>
          <p:cNvPr id="4" name="Rounded Rectangle 3"/>
          <p:cNvSpPr/>
          <p:nvPr/>
        </p:nvSpPr>
        <p:spPr>
          <a:xfrm>
            <a:off x="502920"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ВРАЧ САМ → МОДЕЛЬ</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91,7 → 87,7 верных из ста</a:t>
            </a:r>
          </a:p>
        </p:txBody>
      </p:sp>
      <p:sp>
        <p:nvSpPr>
          <p:cNvPr id="7" name="TextBox 6"/>
          <p:cNvSpPr txBox="1"/>
          <p:nvPr/>
        </p:nvSpPr>
        <p:spPr>
          <a:xfrm>
            <a:off x="640080"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3 332 случая: модель на четыре пункта ХУЖЕ врача и внедрена как страховка от просмотра</a:t>
            </a:r>
          </a:p>
        </p:txBody>
      </p:sp>
      <p:sp>
        <p:nvSpPr>
          <p:cNvPr id="8" name="Rounded Rectangle 7"/>
          <p:cNvSpPr/>
          <p:nvPr/>
        </p:nvSpPr>
        <p:spPr>
          <a:xfrm>
            <a:off x="4286402"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НАБОР КОДОВ</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256 → 571 → 363</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571 покрывал 95 обращений из ста; сократили, убрав коды, которые терапевт не ставит</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МОДЕЛЬ УМЕЕТ МОЛЧАТЬ</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млн запросов → 3 млн ответов</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выше порога неуверенности ответа нет</a:t>
            </a:r>
          </a:p>
        </p:txBody>
      </p:sp>
      <p:sp>
        <p:nvSpPr>
          <p:cNvPr id="16" name="TextBox 15"/>
          <p:cNvSpPr txBox="1"/>
          <p:nvPr/>
        </p:nvSpPr>
        <p:spPr>
          <a:xfrm>
            <a:off x="502920" y="353314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Врач сам</a:t>
            </a:r>
          </a:p>
        </p:txBody>
      </p:sp>
      <p:sp>
        <p:nvSpPr>
          <p:cNvPr id="17" name="Rounded Rectangle 16"/>
          <p:cNvSpPr/>
          <p:nvPr/>
        </p:nvSpPr>
        <p:spPr>
          <a:xfrm>
            <a:off x="1920240"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жалобы и осмотр</a:t>
            </a:r>
          </a:p>
        </p:txBody>
      </p:sp>
      <p:sp>
        <p:nvSpPr>
          <p:cNvPr id="19" name="Right Arrow 18"/>
          <p:cNvSpPr/>
          <p:nvPr/>
        </p:nvSpPr>
        <p:spPr>
          <a:xfrm>
            <a:off x="4202353" y="366568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собирает список</a:t>
            </a:r>
          </a:p>
        </p:txBody>
      </p:sp>
      <p:sp>
        <p:nvSpPr>
          <p:cNvPr id="22" name="Right Arrow 21"/>
          <p:cNvSpPr/>
          <p:nvPr/>
        </p:nvSpPr>
        <p:spPr>
          <a:xfrm>
            <a:off x="6713067" y="3665684"/>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выбирает</a:t>
            </a:r>
          </a:p>
        </p:txBody>
      </p:sp>
      <p:sp>
        <p:nvSpPr>
          <p:cNvPr id="25" name="Right Arrow 24"/>
          <p:cNvSpPr/>
          <p:nvPr/>
        </p:nvSpPr>
        <p:spPr>
          <a:xfrm>
            <a:off x="9223781" y="3665684"/>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28" name="TextBox 27"/>
          <p:cNvSpPr txBox="1"/>
          <p:nvPr/>
        </p:nvSpPr>
        <p:spPr>
          <a:xfrm>
            <a:off x="502920" y="41548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Москва, с моделью</a:t>
            </a:r>
          </a:p>
        </p:txBody>
      </p:sp>
      <p:sp>
        <p:nvSpPr>
          <p:cNvPr id="29" name="Rounded Rectangle 28"/>
          <p:cNvSpPr/>
          <p:nvPr/>
        </p:nvSpPr>
        <p:spPr>
          <a:xfrm>
            <a:off x="1920240"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целиком</a:t>
            </a:r>
          </a:p>
        </p:txBody>
      </p:sp>
      <p:sp>
        <p:nvSpPr>
          <p:cNvPr id="31" name="Right Arrow 30"/>
          <p:cNvSpPr/>
          <p:nvPr/>
        </p:nvSpPr>
        <p:spPr>
          <a:xfrm>
            <a:off x="4202353" y="4287381"/>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11826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416398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предлагает код</a:t>
            </a:r>
          </a:p>
        </p:txBody>
      </p:sp>
      <p:sp>
        <p:nvSpPr>
          <p:cNvPr id="34" name="Right Arrow 33"/>
          <p:cNvSpPr/>
          <p:nvPr/>
        </p:nvSpPr>
        <p:spPr>
          <a:xfrm>
            <a:off x="6713067" y="4287381"/>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верить ли</a:t>
            </a:r>
          </a:p>
        </p:txBody>
      </p:sp>
      <p:sp>
        <p:nvSpPr>
          <p:cNvPr id="37" name="Right Arrow 36"/>
          <p:cNvSpPr/>
          <p:nvPr/>
        </p:nvSpPr>
        <p:spPr>
          <a:xfrm>
            <a:off x="9223781" y="4287381"/>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11826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16398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40" name="TextBox 39"/>
          <p:cNvSpPr txBox="1"/>
          <p:nvPr/>
        </p:nvSpPr>
        <p:spPr>
          <a:xfrm>
            <a:off x="502920" y="463023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Подсказка приходит ДО решения врача и стоит выше него на экране</a:t>
            </a:r>
          </a:p>
        </p:txBody>
      </p:sp>
      <p:sp>
        <p:nvSpPr>
          <p:cNvPr id="41" name="Rounded Rectangle 40"/>
          <p:cNvSpPr/>
          <p:nvPr/>
        </p:nvSpPr>
        <p:spPr>
          <a:xfrm>
            <a:off x="374904" y="4932917"/>
            <a:ext cx="11441887" cy="1303290"/>
          </a:xfrm>
          <a:prstGeom prst="roundRect">
            <a:avLst>
              <a:gd name="adj" fmla="val 23386"/>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024357"/>
            <a:ext cx="11112703" cy="1211850"/>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Что за случай.</a:t>
            </a:r>
            <a:r>
              <a:rPr sz="1400" b="0" i="0">
                <a:solidFill>
                  <a:srgbClr val="21295C"/>
                </a:solidFill>
                <a:latin typeface="Arial"/>
              </a:rPr>
              <a:t> Москва, приём терапевта. Модель читает медкарту целиком и до решения врача предлагает заключительный диагноз кодом. </a:t>
            </a:r>
            <a:r>
              <a:rPr sz="1400" b="0" i="1">
                <a:solidFill>
                  <a:srgbClr val="21295C"/>
                </a:solidFill>
                <a:latin typeface="Arial"/>
              </a:rPr>
              <a:t>Изделие — AIDA.</a:t>
            </a:r>
          </a:p>
          <a:p>
            <a:pPr algn="l">
              <a:lnSpc>
                <a:spcPct val="126000"/>
              </a:lnSpc>
              <a:spcBef>
                <a:spcPts val="720"/>
              </a:spcBef>
            </a:pPr>
            <a:r>
              <a:rPr sz="1400" b="0" i="0">
                <a:solidFill>
                  <a:srgbClr val="21295C"/>
                </a:solidFill>
                <a:latin typeface="Arial"/>
              </a:rPr>
              <a:t/>
            </a:r>
            <a:r>
              <a:rPr sz="1400" b="1" i="0">
                <a:solidFill>
                  <a:srgbClr val="21295C"/>
                </a:solidFill>
                <a:latin typeface="Arial"/>
              </a:rPr>
              <a:t>Устроено:</a:t>
            </a:r>
            <a:r>
              <a:rPr sz="1400" b="0" i="0">
                <a:solidFill>
                  <a:srgbClr val="21295C"/>
                </a:solidFill>
                <a:latin typeface="Arial"/>
              </a:rPr>
              <a:t> вход — вся карта: жалобы, анамнез, осмотр, лаборатория, протоколы, история кодов. Выход — один код с оценкой неуверенности. Longformer до 8 192 токенов, 1,5 млн карт. </a:t>
            </a:r>
            <a:r>
              <a:rPr sz="1400" b="0" i="1">
                <a:solidFill>
                  <a:srgbClr val="21295C"/>
                </a:solidFill>
                <a:latin typeface="Arial"/>
              </a:rPr>
              <a:t>Обработка текста.</a:t>
            </a:r>
          </a:p>
        </p:txBody>
      </p:sp>
      <p:sp>
        <p:nvSpPr>
          <p:cNvPr id="43" name="Rectangle 42"/>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Умеренков, Нестеров, Шапошников и соавт., IJCAI-25, трек «ИИ для общественного блага», с. 9880–9886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6, цена: где врач и модель расходятся</a:t>
            </a:r>
          </a:p>
        </p:txBody>
      </p:sp>
      <p:sp>
        <p:nvSpPr>
          <p:cNvPr id="4" name="Rounded Rectangle 3"/>
          <p:cNvSpPr/>
          <p:nvPr/>
        </p:nvSpPr>
        <p:spPr>
          <a:xfrm>
            <a:off x="502920"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СОГЛАСНЫ — 2 635 СЛУЧАЕВ</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99 верных из ста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лёгкая часть набора: решать нечего</a:t>
            </a:r>
          </a:p>
        </p:txBody>
      </p:sp>
      <p:sp>
        <p:nvSpPr>
          <p:cNvPr id="8" name="Rounded Rectangle 7"/>
          <p:cNvSpPr/>
          <p:nvPr/>
        </p:nvSpPr>
        <p:spPr>
          <a:xfrm>
            <a:off x="4286402" y="1335024"/>
            <a:ext cx="3618890" cy="1978664"/>
          </a:xfrm>
          <a:prstGeom prst="roundRect">
            <a:avLst>
              <a:gd name="adj" fmla="val 1540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РАСХОДЯТСЯ — 697 СЛУЧАЕВ</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врач 64 → модель 45 из ста</a:t>
            </a:r>
          </a:p>
        </p:txBody>
      </p:sp>
      <p:sp>
        <p:nvSpPr>
          <p:cNvPr id="11" name="TextBox 10"/>
          <p:cNvSpPr txBox="1"/>
          <p:nvPr/>
        </p:nvSpPr>
        <p:spPr>
          <a:xfrm>
            <a:off x="4423562" y="2542797"/>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одном случае из пяти не надёжен никто: врач меньше чем в двух третях, модель меньше чем в половине</a:t>
            </a:r>
          </a:p>
        </p:txBody>
      </p:sp>
      <p:sp>
        <p:nvSpPr>
          <p:cNvPr id="12" name="Rounded Rectangle 11"/>
          <p:cNvSpPr/>
          <p:nvPr/>
        </p:nvSpPr>
        <p:spPr>
          <a:xfrm>
            <a:off x="8069884" y="1335024"/>
            <a:ext cx="3618890"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ТРОЕ ЭКСПЕРТОВ НЕ СОШЛИСЬ ПОЛНОСТЬЮ — 965 СЛУЧАЕВ</a:t>
            </a:r>
          </a:p>
        </p:txBody>
      </p:sp>
      <p:sp>
        <p:nvSpPr>
          <p:cNvPr id="14" name="TextBox 13"/>
          <p:cNvSpPr txBox="1"/>
          <p:nvPr/>
        </p:nvSpPr>
        <p:spPr>
          <a:xfrm>
            <a:off x="8207044"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врач 78,2 → модель 72</a:t>
            </a:r>
          </a:p>
        </p:txBody>
      </p:sp>
      <p:sp>
        <p:nvSpPr>
          <p:cNvPr id="15" name="TextBox 14"/>
          <p:cNvSpPr txBox="1"/>
          <p:nvPr/>
        </p:nvSpPr>
        <p:spPr>
          <a:xfrm>
            <a:off x="8207044"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проваливаются оба сразу, на двадцать пунктов</a:t>
            </a:r>
          </a:p>
        </p:txBody>
      </p:sp>
      <p:sp>
        <p:nvSpPr>
          <p:cNvPr id="16" name="TextBox 15"/>
          <p:cNvSpPr txBox="1"/>
          <p:nvPr/>
        </p:nvSpPr>
        <p:spPr>
          <a:xfrm>
            <a:off x="502920" y="353314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Согласны — 2 635</a:t>
            </a:r>
          </a:p>
        </p:txBody>
      </p:sp>
      <p:sp>
        <p:nvSpPr>
          <p:cNvPr id="17" name="Rounded Rectangle 16"/>
          <p:cNvSpPr/>
          <p:nvPr/>
        </p:nvSpPr>
        <p:spPr>
          <a:xfrm>
            <a:off x="1920240" y="3496568"/>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8" name="TextBox 17"/>
          <p:cNvSpPr txBox="1"/>
          <p:nvPr/>
        </p:nvSpPr>
        <p:spPr>
          <a:xfrm>
            <a:off x="2002536" y="3542288"/>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предложила код</a:t>
            </a:r>
          </a:p>
        </p:txBody>
      </p:sp>
      <p:sp>
        <p:nvSpPr>
          <p:cNvPr id="19" name="Right Arrow 18"/>
          <p:cNvSpPr/>
          <p:nvPr/>
        </p:nvSpPr>
        <p:spPr>
          <a:xfrm>
            <a:off x="4202353" y="378450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согласен</a:t>
            </a:r>
          </a:p>
        </p:txBody>
      </p:sp>
      <p:sp>
        <p:nvSpPr>
          <p:cNvPr id="22" name="Right Arrow 21"/>
          <p:cNvSpPr/>
          <p:nvPr/>
        </p:nvSpPr>
        <p:spPr>
          <a:xfrm>
            <a:off x="6713067" y="378450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код в карту</a:t>
            </a:r>
          </a:p>
        </p:txBody>
      </p:sp>
      <p:sp>
        <p:nvSpPr>
          <p:cNvPr id="25" name="Right Arrow 24"/>
          <p:cNvSpPr/>
          <p:nvPr/>
        </p:nvSpPr>
        <p:spPr>
          <a:xfrm>
            <a:off x="9223781" y="378450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49656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54228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проверять нечего</a:t>
            </a:r>
          </a:p>
        </p:txBody>
      </p:sp>
      <p:sp>
        <p:nvSpPr>
          <p:cNvPr id="28" name="TextBox 27"/>
          <p:cNvSpPr txBox="1"/>
          <p:nvPr/>
        </p:nvSpPr>
        <p:spPr>
          <a:xfrm>
            <a:off x="502920" y="439248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Расходятся — 697</a:t>
            </a:r>
          </a:p>
        </p:txBody>
      </p:sp>
      <p:sp>
        <p:nvSpPr>
          <p:cNvPr id="29" name="Rounded Rectangle 28"/>
          <p:cNvSpPr/>
          <p:nvPr/>
        </p:nvSpPr>
        <p:spPr>
          <a:xfrm>
            <a:off x="1920240" y="4355913"/>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2002536" y="4401633"/>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предложила код</a:t>
            </a:r>
          </a:p>
        </p:txBody>
      </p:sp>
      <p:sp>
        <p:nvSpPr>
          <p:cNvPr id="31" name="Right Arrow 30"/>
          <p:cNvSpPr/>
          <p:nvPr/>
        </p:nvSpPr>
        <p:spPr>
          <a:xfrm>
            <a:off x="4202353" y="464385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4513249"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не согласен</a:t>
            </a:r>
          </a:p>
        </p:txBody>
      </p:sp>
      <p:sp>
        <p:nvSpPr>
          <p:cNvPr id="34" name="Right Arrow 33"/>
          <p:cNvSpPr/>
          <p:nvPr/>
        </p:nvSpPr>
        <p:spPr>
          <a:xfrm>
            <a:off x="6713067" y="464385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ставит свой код</a:t>
            </a:r>
          </a:p>
        </p:txBody>
      </p:sp>
      <p:sp>
        <p:nvSpPr>
          <p:cNvPr id="37" name="Right Arrow 36"/>
          <p:cNvSpPr/>
          <p:nvPr/>
        </p:nvSpPr>
        <p:spPr>
          <a:xfrm>
            <a:off x="9223781" y="464385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35591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40163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арбитра нет</a:t>
            </a:r>
          </a:p>
        </p:txBody>
      </p:sp>
      <p:sp>
        <p:nvSpPr>
          <p:cNvPr id="40" name="TextBox 39"/>
          <p:cNvSpPr txBox="1"/>
          <p:nvPr/>
        </p:nvSpPr>
        <p:spPr>
          <a:xfrm>
            <a:off x="502920" y="510553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Расхождение разбирает тот же врач — третьего читателя на этой стадии нет</a:t>
            </a:r>
          </a:p>
        </p:txBody>
      </p:sp>
      <p:sp>
        <p:nvSpPr>
          <p:cNvPr id="41" name="Rounded Rectangle 40"/>
          <p:cNvSpPr/>
          <p:nvPr/>
        </p:nvSpPr>
        <p:spPr>
          <a:xfrm>
            <a:off x="374904" y="5408215"/>
            <a:ext cx="11441887" cy="82799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499655"/>
            <a:ext cx="11112703" cy="73655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Где согласны — верны оба и решать нечего. Вся цена в пятой части случаев, где расходятся.</a:t>
            </a:r>
          </a:p>
          <a:p>
            <a:pPr algn="l">
              <a:lnSpc>
                <a:spcPct val="126000"/>
              </a:lnSpc>
              <a:spcBef>
                <a:spcPts val="720"/>
              </a:spcBef>
            </a:pPr>
            <a:r>
              <a:rPr sz="1500" b="0" i="0">
                <a:solidFill>
                  <a:srgbClr val="21295C"/>
                </a:solidFill>
                <a:latin typeface="Arial"/>
              </a:rPr>
              <a:t/>
            </a:r>
            <a:r>
              <a:rPr sz="1500" b="1" i="0">
                <a:solidFill>
                  <a:srgbClr val="21295C"/>
                </a:solidFill>
                <a:latin typeface="Arial"/>
              </a:rPr>
              <a:t>Эталон сам нестабилен:</a:t>
            </a:r>
            <a:r>
              <a:rPr sz="1500" b="0" i="0">
                <a:solidFill>
                  <a:srgbClr val="21295C"/>
                </a:solidFill>
                <a:latin typeface="Arial"/>
              </a:rPr>
              <a:t> на 168 случаях из 3 500 трое опытных врачей не сошлись вовсе.</a:t>
            </a:r>
          </a:p>
        </p:txBody>
      </p:sp>
      <p:sp>
        <p:nvSpPr>
          <p:cNvPr id="43" name="Rectangle 4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4" name="TextBox 4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Умеренков, Нестеров, Шапошников и соавт., IJCAI-25, табл. 5, с. 9882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инструмент один, исходы противоположные</a:t>
            </a:r>
          </a:p>
        </p:txBody>
      </p:sp>
      <p:sp>
        <p:nvSpPr>
          <p:cNvPr id="4" name="Rounded Rectangle 3"/>
          <p:cNvSpPr/>
          <p:nvPr/>
        </p:nvSpPr>
        <p:spPr>
          <a:xfrm>
            <a:off x="502920" y="1335024"/>
            <a:ext cx="5437479" cy="2623525"/>
          </a:xfrm>
          <a:prstGeom prst="roundRect">
            <a:avLst>
              <a:gd name="adj" fmla="val 11617"/>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получается</a:t>
            </a:r>
          </a:p>
        </p:txBody>
      </p:sp>
      <p:sp>
        <p:nvSpPr>
          <p:cNvPr id="6" name="TextBox 5"/>
          <p:cNvSpPr txBox="1"/>
          <p:nvPr/>
        </p:nvSpPr>
        <p:spPr>
          <a:xfrm>
            <a:off x="667512" y="1846650"/>
            <a:ext cx="5108295" cy="195645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второй взгляд на поток целиком</a:t>
            </a:r>
          </a:p>
          <a:p>
            <a:pPr algn="l">
              <a:lnSpc>
                <a:spcPct val="126000"/>
              </a:lnSpc>
            </a:pPr>
            <a:r>
              <a:rPr sz="1450" b="0" i="0">
                <a:solidFill>
                  <a:srgbClr val="21295C"/>
                </a:solidFill>
                <a:latin typeface="Arial"/>
              </a:rPr>
              <a:t>• напоминание о редком диагнозе</a:t>
            </a:r>
          </a:p>
          <a:p>
            <a:pPr algn="l">
              <a:lnSpc>
                <a:spcPct val="126000"/>
              </a:lnSpc>
            </a:pPr>
            <a:r>
              <a:rPr sz="1450" b="0" i="0">
                <a:solidFill>
                  <a:srgbClr val="21295C"/>
                </a:solidFill>
                <a:latin typeface="Arial"/>
              </a:rPr>
              <a:t>• пара сильнее обеих сторон — при одном устройстве процедуры</a:t>
            </a:r>
          </a:p>
          <a:p>
            <a:pPr algn="l">
              <a:lnSpc>
                <a:spcPct val="126000"/>
              </a:lnSpc>
            </a:pPr>
            <a:r>
              <a:rPr sz="1450" b="0" i="0">
                <a:solidFill>
                  <a:srgbClr val="21295C"/>
                </a:solidFill>
                <a:latin typeface="Arial"/>
              </a:rPr>
              <a:t>• арбитраж только на расхождениях: весь поток к нему не идёт</a:t>
            </a:r>
          </a:p>
        </p:txBody>
      </p:sp>
      <p:sp>
        <p:nvSpPr>
          <p:cNvPr id="7" name="Rounded Rectangle 6"/>
          <p:cNvSpPr/>
          <p:nvPr/>
        </p:nvSpPr>
        <p:spPr>
          <a:xfrm>
            <a:off x="6251295" y="1335024"/>
            <a:ext cx="5437479" cy="2623525"/>
          </a:xfrm>
          <a:prstGeom prst="roundRect">
            <a:avLst>
              <a:gd name="adj" fmla="val 11617"/>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получается</a:t>
            </a:r>
          </a:p>
        </p:txBody>
      </p:sp>
      <p:sp>
        <p:nvSpPr>
          <p:cNvPr id="9" name="TextBox 8"/>
          <p:cNvSpPr txBox="1"/>
          <p:nvPr/>
        </p:nvSpPr>
        <p:spPr>
          <a:xfrm>
            <a:off x="6415887" y="1846650"/>
            <a:ext cx="5108295" cy="195645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сохранить независимость двух мнений</a:t>
            </a:r>
          </a:p>
          <a:p>
            <a:pPr algn="l">
              <a:lnSpc>
                <a:spcPct val="126000"/>
              </a:lnSpc>
            </a:pPr>
            <a:r>
              <a:rPr sz="1450" b="0" i="0">
                <a:solidFill>
                  <a:srgbClr val="21295C"/>
                </a:solidFill>
                <a:latin typeface="Arial"/>
              </a:rPr>
              <a:t>• удержать преимущество там, где человек сильнее</a:t>
            </a:r>
          </a:p>
          <a:p>
            <a:pPr algn="l">
              <a:lnSpc>
                <a:spcPct val="126000"/>
              </a:lnSpc>
            </a:pPr>
            <a:r>
              <a:rPr sz="1450" b="0" i="0">
                <a:solidFill>
                  <a:srgbClr val="21295C"/>
                </a:solidFill>
                <a:latin typeface="Arial"/>
              </a:rPr>
              <a:t>• заметить, что распределение входов сдвинулось</a:t>
            </a:r>
          </a:p>
          <a:p>
            <a:pPr algn="l">
              <a:lnSpc>
                <a:spcPct val="126000"/>
              </a:lnSpc>
            </a:pPr>
            <a:r>
              <a:rPr sz="1450" b="0" i="0">
                <a:solidFill>
                  <a:srgbClr val="21295C"/>
                </a:solidFill>
                <a:latin typeface="Arial"/>
              </a:rPr>
              <a:t>• назначить ступень участия: её не записывает никто</a:t>
            </a:r>
          </a:p>
        </p:txBody>
      </p:sp>
      <p:sp>
        <p:nvSpPr>
          <p:cNvPr id="10" name="Rounded Rectangle 9"/>
          <p:cNvSpPr/>
          <p:nvPr/>
        </p:nvSpPr>
        <p:spPr>
          <a:xfrm>
            <a:off x="374904" y="4049989"/>
            <a:ext cx="11441887" cy="2186218"/>
          </a:xfrm>
          <a:prstGeom prst="roundRect">
            <a:avLst>
              <a:gd name="adj" fmla="val 13941"/>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141429"/>
            <a:ext cx="11112703" cy="209477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Шесть разборов стадии дали противоположные исходы при одном инструменте.</a:t>
            </a:r>
            <a:r>
              <a:rPr sz="1300" b="0" i="0">
                <a:solidFill>
                  <a:srgbClr val="21295C"/>
                </a:solidFill>
                <a:latin typeface="Arial"/>
              </a:rPr>
              <a:t> Шведское испытание: одно человеческое чтение поверх модели сильнее двойного. Хирурги: та же пара ниже обоих. Расходится устройство процедуры: сохранена ли независимость мнений и порядок предъявления подсказки.</a:t>
            </a:r>
          </a:p>
          <a:p>
            <a:pPr algn="l">
              <a:lnSpc>
                <a:spcPct val="126000"/>
              </a:lnSpc>
              <a:spcBef>
                <a:spcPts val="720"/>
              </a:spcBef>
            </a:pPr>
            <a:r>
              <a:rPr sz="1300" b="0" i="0">
                <a:solidFill>
                  <a:srgbClr val="21295C"/>
                </a:solidFill>
                <a:latin typeface="Arial"/>
              </a:rPr>
              <a:t/>
            </a:r>
            <a:r>
              <a:rPr sz="1300" b="1" i="0">
                <a:solidFill>
                  <a:srgbClr val="21295C"/>
                </a:solidFill>
                <a:latin typeface="Arial"/>
              </a:rPr>
              <a:t>Держат это</a:t>
            </a:r>
            <a:r>
              <a:rPr sz="1300" b="0" i="0">
                <a:solidFill>
                  <a:srgbClr val="21295C"/>
                </a:solidFill>
                <a:latin typeface="Arial"/>
              </a:rPr>
              <a:t> порог под цену обеих ошибок и арбитраж на расхождениях.</a:t>
            </a:r>
          </a:p>
          <a:p>
            <a:pPr algn="l">
              <a:lnSpc>
                <a:spcPct val="126000"/>
              </a:lnSpc>
              <a:spcBef>
                <a:spcPts val="720"/>
              </a:spcBef>
            </a:pPr>
            <a:r>
              <a:rPr sz="1300" b="0" i="0">
                <a:solidFill>
                  <a:srgbClr val="21295C"/>
                </a:solidFill>
                <a:latin typeface="Arial"/>
              </a:rPr>
              <a:t/>
            </a:r>
            <a:r>
              <a:rPr sz="1300" b="1" i="0">
                <a:solidFill>
                  <a:srgbClr val="21295C"/>
                </a:solidFill>
                <a:latin typeface="Arial"/>
              </a:rPr>
              <a:t>Ступень участия нигде не записана. Неназначенная сползает к подписи не глядя.</a:t>
            </a:r>
          </a:p>
          <a:p>
            <a:pPr algn="l">
              <a:lnSpc>
                <a:spcPct val="126000"/>
              </a:lnSpc>
              <a:spcBef>
                <a:spcPts val="720"/>
              </a:spcBef>
            </a:pPr>
            <a:r>
              <a:rPr sz="1300" b="0" i="0">
                <a:solidFill>
                  <a:srgbClr val="21295C"/>
                </a:solidFill>
                <a:latin typeface="Arial"/>
              </a:rPr>
              <a:t/>
            </a:r>
            <a:r>
              <a:rPr sz="1300" b="1" i="0">
                <a:solidFill>
                  <a:srgbClr val="21295C"/>
                </a:solidFill>
                <a:latin typeface="Arial"/>
              </a:rPr>
              <a:t>Из шести искажений входа раздел встретил четыре:</a:t>
            </a:r>
            <a:r>
              <a:rPr sz="1300" b="0" i="0">
                <a:solidFill>
                  <a:srgbClr val="21295C"/>
                </a:solidFill>
                <a:latin typeface="Arial"/>
              </a:rPr>
              <a:t> якорение на неверной расшифровке · сужение · поток тревог · несогласие штатным шагом.</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60b-kartoteka-zapisey-patsientov.jpg"/>
          <p:cNvPicPr>
            <a:picLocks noChangeAspect="1"/>
          </p:cNvPicPr>
          <p:nvPr/>
        </p:nvPicPr>
        <p:blipFill>
          <a:blip r:embed="rId2"/>
          <a:srcRect l="27180" r="27180"/>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50909"/>
          </a:xfrm>
          <a:prstGeom prst="rect">
            <a:avLst/>
          </a:prstGeom>
          <a:noFill/>
        </p:spPr>
        <p:txBody>
          <a:bodyPr wrap="square" lIns="0" rIns="0" tIns="0" bIns="0" anchor="t">
            <a:spAutoFit/>
          </a:bodyPr>
          <a:lstStyle/>
          <a:p>
            <a:pPr algn="l">
              <a:lnSpc>
                <a:spcPct val="110000"/>
              </a:lnSpc>
            </a:pPr>
            <a:r>
              <a:rPr sz="2750" b="1" i="0">
                <a:solidFill>
                  <a:srgbClr val="21295C"/>
                </a:solidFill>
                <a:latin typeface="Arial"/>
              </a:rPr>
              <a:t>4. Ведение медицинской документации</a:t>
            </a:r>
          </a:p>
        </p:txBody>
      </p:sp>
      <p:sp>
        <p:nvSpPr>
          <p:cNvPr id="6" name="Rectangle 5"/>
          <p:cNvSpPr/>
          <p:nvPr/>
        </p:nvSpPr>
        <p:spPr>
          <a:xfrm>
            <a:off x="704088" y="2002469"/>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76789"/>
            <a:ext cx="6483096" cy="756494"/>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Наблюдение искало ухудшение в цифрах. Здесь решение уезжает в текст,</a:t>
            </a:r>
            <a:r>
              <a:rPr sz="1200" b="0" i="0">
                <a:solidFill>
                  <a:srgbClr val="21295C"/>
                </a:solidFill>
                <a:latin typeface="Arial"/>
              </a:rPr>
              <a:t> и прочтёт его тот, кто пациента не видел. </a:t>
            </a:r>
            <a:r>
              <a:rPr sz="1200" b="1" i="0">
                <a:solidFill>
                  <a:srgbClr val="21295C"/>
                </a:solidFill>
                <a:latin typeface="Arial"/>
              </a:rPr>
              <a:t>Пропуск в записи и отсутствие события для него одинаковы.</a:t>
            </a:r>
          </a:p>
        </p:txBody>
      </p:sp>
      <p:sp>
        <p:nvSpPr>
          <p:cNvPr id="8" name="TextBox 7"/>
          <p:cNvSpPr txBox="1"/>
          <p:nvPr/>
        </p:nvSpPr>
        <p:spPr>
          <a:xfrm>
            <a:off x="704088" y="3161300"/>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 </a:t>
            </a:r>
            <a:r>
              <a:rPr sz="1200" b="1" i="0">
                <a:solidFill>
                  <a:srgbClr val="21295C"/>
                </a:solidFill>
                <a:latin typeface="Arial"/>
              </a:rPr>
              <a:t>запись приёма</a:t>
            </a:r>
            <a:r>
              <a:rPr sz="1200" b="0" i="0">
                <a:solidFill>
                  <a:srgbClr val="21295C"/>
                </a:solidFill>
                <a:latin typeface="Arial"/>
              </a:rPr>
              <a:t> — её читают сам пациент и следующий врач</a:t>
            </a:r>
          </a:p>
        </p:txBody>
      </p:sp>
      <p:sp>
        <p:nvSpPr>
          <p:cNvPr id="9" name="TextBox 8"/>
          <p:cNvSpPr txBox="1"/>
          <p:nvPr/>
        </p:nvSpPr>
        <p:spPr>
          <a:xfrm>
            <a:off x="704088" y="3578056"/>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 </a:t>
            </a:r>
            <a:r>
              <a:rPr sz="1200" b="1" i="0">
                <a:solidFill>
                  <a:srgbClr val="21295C"/>
                </a:solidFill>
                <a:latin typeface="Arial"/>
              </a:rPr>
              <a:t>выписной эпикриз</a:t>
            </a:r>
            <a:r>
              <a:rPr sz="1200" b="0" i="0">
                <a:solidFill>
                  <a:srgbClr val="21295C"/>
                </a:solidFill>
                <a:latin typeface="Arial"/>
              </a:rPr>
              <a:t> — его читают участковый врач, следующий стационар, страховщик</a:t>
            </a:r>
          </a:p>
        </p:txBody>
      </p:sp>
      <p:sp>
        <p:nvSpPr>
          <p:cNvPr id="10" name="TextBox 9"/>
          <p:cNvSpPr txBox="1"/>
          <p:nvPr/>
        </p:nvSpPr>
        <p:spPr>
          <a:xfrm>
            <a:off x="704088" y="3994813"/>
            <a:ext cx="6483096" cy="288740"/>
          </a:xfrm>
          <a:prstGeom prst="rect">
            <a:avLst/>
          </a:prstGeom>
          <a:noFill/>
        </p:spPr>
        <p:txBody>
          <a:bodyPr wrap="square" lIns="0" rIns="0" tIns="0" bIns="0" anchor="t">
            <a:spAutoFit/>
          </a:bodyPr>
          <a:lstStyle/>
          <a:p>
            <a:pPr algn="l">
              <a:lnSpc>
                <a:spcPct val="124000"/>
              </a:lnSpc>
            </a:pPr>
            <a:r>
              <a:rPr sz="1200" b="0" i="0">
                <a:solidFill>
                  <a:srgbClr val="21295C"/>
                </a:solidFill>
                <a:latin typeface="Arial"/>
              </a:rPr>
              <a:t>По порядку, и первым — случай:</a:t>
            </a:r>
          </a:p>
        </p:txBody>
      </p:sp>
      <p:sp>
        <p:nvSpPr>
          <p:cNvPr id="11" name="TextBox 10"/>
          <p:cNvSpPr txBox="1"/>
          <p:nvPr/>
        </p:nvSpPr>
        <p:spPr>
          <a:xfrm>
            <a:off x="704088" y="4411570"/>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Перенос прежней записи: случай с гепарином и четыре режима письма</a:t>
            </a:r>
          </a:p>
        </p:txBody>
      </p:sp>
      <p:sp>
        <p:nvSpPr>
          <p:cNvPr id="12" name="TextBox 11"/>
          <p:cNvSpPr txBox="1"/>
          <p:nvPr/>
        </p:nvSpPr>
        <p:spPr>
          <a:xfrm>
            <a:off x="704088" y="4828326"/>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1: автоматическая запись приёма</a:t>
            </a:r>
          </a:p>
        </p:txBody>
      </p:sp>
      <p:sp>
        <p:nvSpPr>
          <p:cNvPr id="13" name="TextBox 12"/>
          <p:cNvSpPr txBox="1"/>
          <p:nvPr/>
        </p:nvSpPr>
        <p:spPr>
          <a:xfrm>
            <a:off x="704088" y="5245083"/>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2: выписной эпикриз</a:t>
            </a:r>
          </a:p>
        </p:txBody>
      </p:sp>
      <p:sp>
        <p:nvSpPr>
          <p:cNvPr id="14" name="TextBox 13"/>
          <p:cNvSpPr txBox="1"/>
          <p:nvPr/>
        </p:nvSpPr>
        <p:spPr>
          <a:xfrm>
            <a:off x="704088" y="5661840"/>
            <a:ext cx="6483096" cy="288740"/>
          </a:xfrm>
          <a:prstGeom prst="rect">
            <a:avLst/>
          </a:prstGeom>
          <a:noFill/>
        </p:spPr>
        <p:txBody>
          <a:bodyPr wrap="square" lIns="0" rIns="0" tIns="0" bIns="0" anchor="t">
            <a:spAutoFit/>
          </a:bodyPr>
          <a:lstStyle/>
          <a:p>
            <a:pPr algn="l">
              <a:lnSpc>
                <a:spcPct val="124000"/>
              </a:lnSpc>
            </a:pPr>
            <a:r>
              <a:rPr sz="1200" b="1" i="0">
                <a:solidFill>
                  <a:srgbClr val="21295C"/>
                </a:solidFill>
                <a:latin typeface="Arial"/>
              </a:rPr>
              <a:t>Пример 3: голосовой ввод протокола лучевого исследования</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Запись: данные, вопрос, решение</a:t>
            </a:r>
          </a:p>
        </p:txBody>
      </p:sp>
      <p:sp>
        <p:nvSpPr>
          <p:cNvPr id="4" name="Rounded Rectangle 3"/>
          <p:cNvSpPr/>
          <p:nvPr/>
        </p:nvSpPr>
        <p:spPr>
          <a:xfrm>
            <a:off x="502920" y="1335024"/>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НАБРАНО РУКАМИ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18 % знаков заметки</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23 630 заметок, 460 авторов одного центра</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ПЕРЕНЕСЕНО · ПОДСТАВЛЕНО СИСТЕМОЙ — В ДОЛЕ ЗНАКОВ</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46 % · 36 %</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выборка; у ординаторов перенос 51,4 %</a:t>
            </a:r>
          </a:p>
        </p:txBody>
      </p:sp>
      <p:sp>
        <p:nvSpPr>
          <p:cNvPr id="12" name="Rounded Rectangle 11"/>
          <p:cNvSpPr/>
          <p:nvPr/>
        </p:nvSpPr>
        <p:spPr>
          <a:xfrm>
            <a:off x="374904" y="3232297"/>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23737"/>
            <a:ext cx="5373471" cy="29124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Данные стадии — всё собранное раньше, положенное в текст.</a:t>
            </a:r>
            <a:r>
              <a:rPr sz="1500" b="0" i="0">
                <a:solidFill>
                  <a:srgbClr val="21295C"/>
                </a:solidFill>
                <a:latin typeface="Arial"/>
              </a:rPr>
              <a:t> Своего измерения стадия не добавляет.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Пять способов получить запись:</a:t>
            </a:r>
            <a:r>
              <a:rPr sz="1500" b="0" i="0">
                <a:solidFill>
                  <a:srgbClr val="21295C"/>
                </a:solidFill>
                <a:latin typeface="Arial"/>
              </a:rPr>
              <a:t> набор руками при пациенте · набор после приёма · диктовка · автоподстановка из полей карты · перенос прежней записи.</a:t>
            </a:r>
          </a:p>
        </p:txBody>
      </p:sp>
      <p:sp>
        <p:nvSpPr>
          <p:cNvPr id="14" name="TextBox 13"/>
          <p:cNvSpPr txBox="1"/>
          <p:nvPr/>
        </p:nvSpPr>
        <p:spPr>
          <a:xfrm>
            <a:off x="6278727" y="3323737"/>
            <a:ext cx="5373471" cy="291247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стадии — что попадёт в документ, по которому назначат потом.</a:t>
            </a:r>
            <a:r>
              <a:rPr sz="1500" b="0" i="0">
                <a:solidFill>
                  <a:srgbClr val="21295C"/>
                </a:solidFill>
                <a:latin typeface="Arial"/>
              </a:rPr>
              <a:t> Стоит она после наблюдения: запись читают позже, и читает её другой человек со своим вопросом.</a:t>
            </a:r>
          </a:p>
        </p:txBody>
      </p:sp>
      <p:sp>
        <p:nvSpPr>
          <p:cNvPr id="15" name="Rectangle 14"/>
          <p:cNvSpPr/>
          <p:nvPr/>
        </p:nvSpPr>
        <p:spPr>
          <a:xfrm>
            <a:off x="6091275" y="3323737"/>
            <a:ext cx="9144" cy="1942505"/>
          </a:xfrm>
          <a:prstGeom prst="rect">
            <a:avLst/>
          </a:prstGeom>
          <a:solidFill>
            <a:srgbClr val="D9E2EC"/>
          </a:solidFill>
          <a:ln>
            <a:noFill/>
          </a:ln>
          <a:effectLst/>
        </p:spPr>
        <p:txBody>
          <a:bodyPr rtlCol="0" anchor="ctr"/>
          <a:lstStyle/>
          <a:p>
            <a:pPr algn="ctr"/>
          </a:p>
        </p:txBody>
      </p:sp>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Wang и соавт., JAMA Internal Medicine 2017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делают на стадии: запись приёма и выписной эпикриз</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Запись приёма</a:t>
            </a:r>
          </a:p>
        </p:txBody>
      </p:sp>
      <p:sp>
        <p:nvSpPr>
          <p:cNvPr id="5" name="Rounded Rectangle 4"/>
          <p:cNvSpPr/>
          <p:nvPr/>
        </p:nvSpPr>
        <p:spPr>
          <a:xfrm>
            <a:off x="1920240"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Держать структуру</a:t>
            </a:r>
          </a:p>
          <a:p>
            <a:pPr algn="ctr">
              <a:lnSpc>
                <a:spcPct val="112000"/>
              </a:lnSpc>
            </a:pPr>
            <a:r>
              <a:rPr sz="1350" b="0" i="0">
                <a:solidFill>
                  <a:srgbClr val="21295C"/>
                </a:solidFill>
                <a:latin typeface="Arial"/>
              </a:rPr>
              <a:t>в голове при разговоре</a:t>
            </a:r>
          </a:p>
        </p:txBody>
      </p:sp>
      <p:sp>
        <p:nvSpPr>
          <p:cNvPr id="7" name="Right Arrow 6"/>
          <p:cNvSpPr/>
          <p:nvPr/>
        </p:nvSpPr>
        <p:spPr>
          <a:xfrm>
            <a:off x="5039258"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5267858"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5350154"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Набрать запись</a:t>
            </a:r>
          </a:p>
          <a:p>
            <a:pPr algn="ctr">
              <a:lnSpc>
                <a:spcPct val="112000"/>
              </a:lnSpc>
            </a:pPr>
            <a:r>
              <a:rPr sz="1350" b="0" i="0">
                <a:solidFill>
                  <a:srgbClr val="21295C"/>
                </a:solidFill>
                <a:latin typeface="Arial"/>
              </a:rPr>
              <a:t>после приёма</a:t>
            </a:r>
          </a:p>
        </p:txBody>
      </p:sp>
      <p:sp>
        <p:nvSpPr>
          <p:cNvPr id="10" name="Right Arrow 9"/>
          <p:cNvSpPr/>
          <p:nvPr/>
        </p:nvSpPr>
        <p:spPr>
          <a:xfrm>
            <a:off x="8386876"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8615476" y="1335024"/>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8697772" y="1380744"/>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Вычитать</a:t>
            </a:r>
          </a:p>
          <a:p>
            <a:pPr algn="ctr">
              <a:lnSpc>
                <a:spcPct val="112000"/>
              </a:lnSpc>
            </a:pPr>
            <a:r>
              <a:rPr sz="1350" b="0" i="0">
                <a:solidFill>
                  <a:srgbClr val="21295C"/>
                </a:solidFill>
                <a:latin typeface="Arial"/>
              </a:rPr>
              <a:t>и подписать</a:t>
            </a:r>
          </a:p>
        </p:txBody>
      </p:sp>
      <p:sp>
        <p:nvSpPr>
          <p:cNvPr id="13" name="TextBox 12"/>
          <p:cNvSpPr txBox="1"/>
          <p:nvPr/>
        </p:nvSpPr>
        <p:spPr>
          <a:xfrm>
            <a:off x="502920" y="22309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Выписной эпикриз</a:t>
            </a:r>
          </a:p>
        </p:txBody>
      </p:sp>
      <p:sp>
        <p:nvSpPr>
          <p:cNvPr id="14" name="Rounded Rectangle 13"/>
          <p:cNvSpPr/>
          <p:nvPr/>
        </p:nvSpPr>
        <p:spPr>
          <a:xfrm>
            <a:off x="1920240"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Собрать итог</a:t>
            </a:r>
          </a:p>
          <a:p>
            <a:pPr algn="ctr">
              <a:lnSpc>
                <a:spcPct val="112000"/>
              </a:lnSpc>
            </a:pPr>
            <a:r>
              <a:rPr sz="1350" b="0" i="0">
                <a:solidFill>
                  <a:srgbClr val="21295C"/>
                </a:solidFill>
                <a:latin typeface="Arial"/>
              </a:rPr>
              <a:t>из дневников</a:t>
            </a:r>
          </a:p>
        </p:txBody>
      </p:sp>
      <p:sp>
        <p:nvSpPr>
          <p:cNvPr id="16" name="Right Arrow 15"/>
          <p:cNvSpPr/>
          <p:nvPr/>
        </p:nvSpPr>
        <p:spPr>
          <a:xfrm>
            <a:off x="5039258" y="2482310"/>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5267858"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5350154"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Передать документ</a:t>
            </a:r>
          </a:p>
          <a:p>
            <a:pPr algn="ctr">
              <a:lnSpc>
                <a:spcPct val="112000"/>
              </a:lnSpc>
            </a:pPr>
            <a:r>
              <a:rPr sz="1350" b="0" i="0">
                <a:solidFill>
                  <a:srgbClr val="21295C"/>
                </a:solidFill>
                <a:latin typeface="Arial"/>
              </a:rPr>
              <a:t>следующему врачу</a:t>
            </a:r>
          </a:p>
        </p:txBody>
      </p:sp>
      <p:sp>
        <p:nvSpPr>
          <p:cNvPr id="19" name="Right Arrow 18"/>
          <p:cNvSpPr/>
          <p:nvPr/>
        </p:nvSpPr>
        <p:spPr>
          <a:xfrm>
            <a:off x="8386876" y="248231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8615476" y="2194369"/>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8697772" y="2240089"/>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Предъявить</a:t>
            </a:r>
          </a:p>
          <a:p>
            <a:pPr algn="ctr">
              <a:lnSpc>
                <a:spcPct val="112000"/>
              </a:lnSpc>
            </a:pPr>
            <a:r>
              <a:rPr sz="1350" b="0" i="0">
                <a:solidFill>
                  <a:srgbClr val="21295C"/>
                </a:solidFill>
                <a:latin typeface="Arial"/>
              </a:rPr>
              <a:t>при разборе случая</a:t>
            </a:r>
          </a:p>
        </p:txBody>
      </p:sp>
      <p:sp>
        <p:nvSpPr>
          <p:cNvPr id="22" name="TextBox 21"/>
          <p:cNvSpPr txBox="1"/>
          <p:nvPr/>
        </p:nvSpPr>
        <p:spPr>
          <a:xfrm>
            <a:off x="502920" y="29439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Шесть действий стадии, по три на каждую форму документа</a:t>
            </a:r>
          </a:p>
        </p:txBody>
      </p:sp>
      <p:sp>
        <p:nvSpPr>
          <p:cNvPr id="23" name="Rounded Rectangle 22"/>
          <p:cNvSpPr/>
          <p:nvPr/>
        </p:nvSpPr>
        <p:spPr>
          <a:xfrm>
            <a:off x="374904" y="3703871"/>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3795311"/>
            <a:ext cx="11112703" cy="24408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Запись приёма.</a:t>
            </a:r>
            <a:r>
              <a:rPr sz="1500" b="0" i="0">
                <a:solidFill>
                  <a:srgbClr val="21295C"/>
                </a:solidFill>
                <a:latin typeface="Arial"/>
              </a:rPr>
              <a:t> Слушают разговор; в текст кладут жалобы, найденное при осмотре, диагноз и назначение. Читают её сам пациент и следующий врач.</a:t>
            </a:r>
          </a:p>
          <a:p>
            <a:pPr algn="l">
              <a:lnSpc>
                <a:spcPct val="126000"/>
              </a:lnSpc>
              <a:spcBef>
                <a:spcPts val="3600"/>
              </a:spcBef>
            </a:pPr>
            <a:r>
              <a:rPr sz="1500" b="0" i="0">
                <a:solidFill>
                  <a:srgbClr val="21295C"/>
                </a:solidFill>
                <a:latin typeface="Arial"/>
              </a:rPr>
              <a:t/>
            </a:r>
            <a:r>
              <a:rPr sz="1500" b="1" i="0">
                <a:solidFill>
                  <a:srgbClr val="21295C"/>
                </a:solidFill>
                <a:latin typeface="Arial"/>
              </a:rPr>
              <a:t>Выписной эпикриз.</a:t>
            </a:r>
            <a:r>
              <a:rPr sz="1500" b="0" i="0">
                <a:solidFill>
                  <a:srgbClr val="21295C"/>
                </a:solidFill>
                <a:latin typeface="Arial"/>
              </a:rPr>
              <a:t> Слушать нечего — собирают из дневников всю госпитализацию. Читают его участковый врач, следующий стационар и страховщик.</a:t>
            </a:r>
          </a:p>
        </p:txBody>
      </p:sp>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Зачем вообще ведут медицинскую документацию</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8123278" cy="310895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Решение о человеке живёт дольше того, кто его принял.</a:t>
            </a:r>
            <a:r>
              <a:rPr sz="1500" b="0" i="0">
                <a:solidFill>
                  <a:srgbClr val="21295C"/>
                </a:solidFill>
                <a:latin typeface="Arial"/>
              </a:rPr>
              <a:t> Врач уйдёт в отпуск, сменит место, забудет; пациент придёт через год в другое учреждение. Единственное, что переходит между ними, — текст.</a:t>
            </a:r>
          </a:p>
          <a:p>
            <a:pPr algn="l">
              <a:lnSpc>
                <a:spcPct val="126000"/>
              </a:lnSpc>
              <a:spcBef>
                <a:spcPts val="720"/>
              </a:spcBef>
            </a:pPr>
            <a:r>
              <a:rPr sz="1500" b="0" i="0">
                <a:solidFill>
                  <a:srgbClr val="21295C"/>
                </a:solidFill>
                <a:latin typeface="Arial"/>
              </a:rPr>
              <a:t/>
            </a:r>
            <a:r>
              <a:rPr sz="1500" b="1" i="0">
                <a:solidFill>
                  <a:srgbClr val="21295C"/>
                </a:solidFill>
                <a:latin typeface="Arial"/>
              </a:rPr>
              <a:t>Журнал случаев, 1819 год.</a:t>
            </a:r>
            <a:r>
              <a:rPr sz="1500" b="0" i="0">
                <a:solidFill>
                  <a:srgbClr val="21295C"/>
                </a:solidFill>
                <a:latin typeface="Arial"/>
              </a:rPr>
              <a:t> Имя, возраст, диагноз, давность жалобы, что назначено, запись на следующий день.</a:t>
            </a:r>
          </a:p>
        </p:txBody>
      </p:sp>
      <p:sp>
        <p:nvSpPr>
          <p:cNvPr id="6" name="TextBox 5"/>
          <p:cNvSpPr txBox="1"/>
          <p:nvPr/>
        </p:nvSpPr>
        <p:spPr>
          <a:xfrm>
            <a:off x="539496" y="4535423"/>
            <a:ext cx="11112703" cy="17007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Двести лет спустя это те же поля</a:t>
            </a:r>
            <a:r>
              <a:rPr sz="1500" b="0" i="0">
                <a:solidFill>
                  <a:srgbClr val="21295C"/>
                </a:solidFill>
                <a:latin typeface="Arial"/>
              </a:rPr>
              <a:t> — только теперь их состав и порядок ведения заданы приказом, а не привычкой врача.</a:t>
            </a:r>
          </a:p>
        </p:txBody>
      </p:sp>
      <p:sp>
        <p:nvSpPr>
          <p:cNvPr id="7" name="Rounded Rectangle 6"/>
          <p:cNvSpPr/>
          <p:nvPr/>
        </p:nvSpPr>
        <p:spPr>
          <a:xfrm>
            <a:off x="9010246" y="1335024"/>
            <a:ext cx="2678529" cy="3108960"/>
          </a:xfrm>
          <a:prstGeom prst="roundRect">
            <a:avLst>
              <a:gd name="adj" fmla="val 11379"/>
            </a:avLst>
          </a:prstGeom>
          <a:solidFill>
            <a:srgbClr val="F4F7FA"/>
          </a:solidFill>
          <a:ln w="19050">
            <a:solidFill>
              <a:srgbClr val="1C7293"/>
            </a:solidFill>
          </a:ln>
          <a:effectLst/>
        </p:spPr>
        <p:txBody>
          <a:bodyPr rtlCol="0" anchor="ctr"/>
          <a:lstStyle/>
          <a:p>
            <a:pPr algn="ctr"/>
          </a:p>
        </p:txBody>
      </p:sp>
      <p:pic>
        <p:nvPicPr>
          <p:cNvPr id="8" name="Picture 7" descr="s60bab-zapis-1819.jpg"/>
          <p:cNvPicPr>
            <a:picLocks noChangeAspect="1"/>
          </p:cNvPicPr>
          <p:nvPr/>
        </p:nvPicPr>
        <p:blipFill>
          <a:blip r:embed="rId2"/>
          <a:stretch>
            <a:fillRect/>
          </a:stretch>
        </p:blipFill>
        <p:spPr>
          <a:xfrm>
            <a:off x="9147406" y="1472184"/>
            <a:ext cx="2404209" cy="2834640"/>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Журнал случаев лазарета Филадельфийского работного дома, 1819–1820, Wellcome Collection L0016766</a:t>
            </a:r>
            <a:r>
              <a:rPr sz="1200" b="0" i="1">
                <a:solidFill>
                  <a:srgbClr val="1C7293"/>
                </a:solidFill>
                <a:latin typeface="Arial"/>
              </a:rPr>
              <a:t> · </a:t>
            </a:r>
            <a:r>
              <a:rPr sz="1200" b="0" i="1" u="sng">
                <a:solidFill>
                  <a:srgbClr val="065A82"/>
                </a:solidFill>
                <a:latin typeface="Arial"/>
                <a:hlinkClick r:id="rId3"/>
              </a:rPr>
              <a:t>приказ Минздрава России от 05.08.2022 № 530н</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Перенос прежней записи: случай с гепарином и четыре режима письма</a:t>
            </a:r>
          </a:p>
        </p:txBody>
      </p:sp>
      <p:sp>
        <p:nvSpPr>
          <p:cNvPr id="4" name="Rounded Rectangle 3"/>
          <p:cNvSpPr/>
          <p:nvPr/>
        </p:nvSpPr>
        <p:spPr>
          <a:xfrm>
            <a:off x="502920" y="1335024"/>
            <a:ext cx="11185855" cy="1887366"/>
          </a:xfrm>
          <a:prstGeom prst="roundRect">
            <a:avLst>
              <a:gd name="adj" fmla="val 16149"/>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49224" y="1481328"/>
            <a:ext cx="10893247" cy="230104"/>
          </a:xfrm>
          <a:prstGeom prst="rect">
            <a:avLst/>
          </a:prstGeom>
          <a:noFill/>
        </p:spPr>
        <p:txBody>
          <a:bodyPr wrap="square" lIns="0" rIns="0" tIns="0" bIns="0" anchor="t">
            <a:spAutoFit/>
          </a:bodyPr>
          <a:lstStyle/>
          <a:p>
            <a:pPr algn="l">
              <a:lnSpc>
                <a:spcPct val="122000"/>
              </a:lnSpc>
            </a:pPr>
            <a:r>
              <a:rPr sz="1200" b="1" i="0">
                <a:solidFill>
                  <a:srgbClr val="065A82"/>
                </a:solidFill>
                <a:latin typeface="Arial"/>
              </a:rPr>
              <a:t>Пациент на химиотерапии: запись о профилактике гепарином</a:t>
            </a:r>
          </a:p>
        </p:txBody>
      </p:sp>
      <p:sp>
        <p:nvSpPr>
          <p:cNvPr id="6" name="Rectangle 5"/>
          <p:cNvSpPr/>
          <p:nvPr/>
        </p:nvSpPr>
        <p:spPr>
          <a:xfrm>
            <a:off x="2088489" y="1834876"/>
            <a:ext cx="20116" cy="1032634"/>
          </a:xfrm>
          <a:prstGeom prst="rect">
            <a:avLst/>
          </a:prstGeom>
          <a:solidFill>
            <a:srgbClr val="D9E2EC"/>
          </a:solidFill>
          <a:ln>
            <a:noFill/>
          </a:ln>
          <a:effectLst/>
        </p:spPr>
        <p:txBody>
          <a:bodyPr rtlCol="0" anchor="ctr"/>
          <a:lstStyle/>
          <a:p>
            <a:pPr algn="ctr"/>
          </a:p>
        </p:txBody>
      </p:sp>
      <p:sp>
        <p:nvSpPr>
          <p:cNvPr id="7" name="TextBox 6"/>
          <p:cNvSpPr txBox="1"/>
          <p:nvPr/>
        </p:nvSpPr>
        <p:spPr>
          <a:xfrm>
            <a:off x="649224" y="1784584"/>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День 1</a:t>
            </a:r>
          </a:p>
        </p:txBody>
      </p:sp>
      <p:sp>
        <p:nvSpPr>
          <p:cNvPr id="8" name="Rectangle 7"/>
          <p:cNvSpPr/>
          <p:nvPr/>
        </p:nvSpPr>
        <p:spPr>
          <a:xfrm>
            <a:off x="2048256" y="1784584"/>
            <a:ext cx="100584" cy="100584"/>
          </a:xfrm>
          <a:prstGeom prst="rect">
            <a:avLst/>
          </a:prstGeom>
          <a:solidFill>
            <a:srgbClr val="1C7293"/>
          </a:solidFill>
          <a:ln>
            <a:noFill/>
          </a:ln>
          <a:effectLst/>
        </p:spPr>
        <p:txBody>
          <a:bodyPr rtlCol="0" anchor="ctr"/>
          <a:lstStyle/>
          <a:p>
            <a:pPr algn="ctr"/>
          </a:p>
        </p:txBody>
      </p:sp>
      <p:sp>
        <p:nvSpPr>
          <p:cNvPr id="9" name="TextBox 8"/>
          <p:cNvSpPr txBox="1"/>
          <p:nvPr/>
        </p:nvSpPr>
        <p:spPr>
          <a:xfrm>
            <a:off x="2313432" y="1784584"/>
            <a:ext cx="9247327" cy="295443"/>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Запись о профилактике гепарином попадает в поступательную заметку. </a:t>
            </a:r>
            <a:r>
              <a:rPr sz="1350" b="1" i="0">
                <a:solidFill>
                  <a:srgbClr val="21295C"/>
                </a:solidFill>
                <a:latin typeface="Arial"/>
              </a:rPr>
              <a:t>Сам гепарин не назначен.</a:t>
            </a:r>
          </a:p>
        </p:txBody>
      </p:sp>
      <p:sp>
        <p:nvSpPr>
          <p:cNvPr id="10" name="TextBox 9"/>
          <p:cNvSpPr txBox="1"/>
          <p:nvPr/>
        </p:nvSpPr>
        <p:spPr>
          <a:xfrm>
            <a:off x="649224" y="2171468"/>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Дни 2–5</a:t>
            </a:r>
          </a:p>
        </p:txBody>
      </p:sp>
      <p:sp>
        <p:nvSpPr>
          <p:cNvPr id="11" name="Rectangle 10"/>
          <p:cNvSpPr/>
          <p:nvPr/>
        </p:nvSpPr>
        <p:spPr>
          <a:xfrm>
            <a:off x="2048256" y="2171468"/>
            <a:ext cx="100584" cy="100584"/>
          </a:xfrm>
          <a:prstGeom prst="rect">
            <a:avLst/>
          </a:prstGeom>
          <a:solidFill>
            <a:srgbClr val="1C7293"/>
          </a:solidFill>
          <a:ln>
            <a:noFill/>
          </a:ln>
          <a:effectLst/>
        </p:spPr>
        <p:txBody>
          <a:bodyPr rtlCol="0" anchor="ctr"/>
          <a:lstStyle/>
          <a:p>
            <a:pPr algn="ctr"/>
          </a:p>
        </p:txBody>
      </p:sp>
      <p:sp>
        <p:nvSpPr>
          <p:cNvPr id="12" name="TextBox 11"/>
          <p:cNvSpPr txBox="1"/>
          <p:nvPr/>
        </p:nvSpPr>
        <p:spPr>
          <a:xfrm>
            <a:off x="2313432" y="2171468"/>
            <a:ext cx="9247327" cy="554311"/>
          </a:xfrm>
          <a:prstGeom prst="rect">
            <a:avLst/>
          </a:prstGeom>
          <a:noFill/>
        </p:spPr>
        <p:txBody>
          <a:bodyPr wrap="square" lIns="0" rIns="0" tIns="0" bIns="0" anchor="t">
            <a:spAutoFit/>
          </a:bodyPr>
          <a:lstStyle/>
          <a:p>
            <a:pPr algn="l">
              <a:lnSpc>
                <a:spcPct val="122000"/>
              </a:lnSpc>
            </a:pPr>
            <a:r>
              <a:rPr sz="1350" b="0" i="0">
                <a:solidFill>
                  <a:srgbClr val="21295C"/>
                </a:solidFill>
                <a:latin typeface="Arial"/>
              </a:rPr>
              <a:t>При переводе в другое отделение запись переносится из заметки в заметку. Каждый читавший считает профилактику выполняемой.</a:t>
            </a:r>
          </a:p>
        </p:txBody>
      </p:sp>
      <p:sp>
        <p:nvSpPr>
          <p:cNvPr id="13" name="TextBox 12"/>
          <p:cNvSpPr txBox="1"/>
          <p:nvPr/>
        </p:nvSpPr>
        <p:spPr>
          <a:xfrm>
            <a:off x="649224" y="2817219"/>
            <a:ext cx="1335024" cy="230104"/>
          </a:xfrm>
          <a:prstGeom prst="rect">
            <a:avLst/>
          </a:prstGeom>
          <a:noFill/>
        </p:spPr>
        <p:txBody>
          <a:bodyPr wrap="square" lIns="0" rIns="0" tIns="0" bIns="0" anchor="t">
            <a:spAutoFit/>
          </a:bodyPr>
          <a:lstStyle/>
          <a:p>
            <a:pPr algn="r">
              <a:lnSpc>
                <a:spcPct val="122000"/>
              </a:lnSpc>
            </a:pPr>
            <a:r>
              <a:rPr sz="1200" b="1" i="0">
                <a:solidFill>
                  <a:srgbClr val="065A82"/>
                </a:solidFill>
                <a:latin typeface="Arial"/>
              </a:rPr>
              <a:t>После выписки</a:t>
            </a:r>
          </a:p>
        </p:txBody>
      </p:sp>
      <p:sp>
        <p:nvSpPr>
          <p:cNvPr id="14" name="Rectangle 13"/>
          <p:cNvSpPr/>
          <p:nvPr/>
        </p:nvSpPr>
        <p:spPr>
          <a:xfrm>
            <a:off x="2048256" y="2817219"/>
            <a:ext cx="100584" cy="100584"/>
          </a:xfrm>
          <a:prstGeom prst="rect">
            <a:avLst/>
          </a:prstGeom>
          <a:solidFill>
            <a:srgbClr val="F0AB00"/>
          </a:solidFill>
          <a:ln>
            <a:noFill/>
          </a:ln>
          <a:effectLst/>
        </p:spPr>
        <p:txBody>
          <a:bodyPr rtlCol="0" anchor="ctr"/>
          <a:lstStyle/>
          <a:p>
            <a:pPr algn="ctr"/>
          </a:p>
        </p:txBody>
      </p:sp>
      <p:sp>
        <p:nvSpPr>
          <p:cNvPr id="15" name="TextBox 14"/>
          <p:cNvSpPr txBox="1"/>
          <p:nvPr/>
        </p:nvSpPr>
        <p:spPr>
          <a:xfrm>
            <a:off x="2313432" y="2817219"/>
            <a:ext cx="9247327" cy="295443"/>
          </a:xfrm>
          <a:prstGeom prst="rect">
            <a:avLst/>
          </a:prstGeom>
          <a:noFill/>
        </p:spPr>
        <p:txBody>
          <a:bodyPr wrap="square" lIns="0" rIns="0" tIns="0" bIns="0" anchor="t">
            <a:spAutoFit/>
          </a:bodyPr>
          <a:lstStyle/>
          <a:p>
            <a:pPr algn="l">
              <a:lnSpc>
                <a:spcPct val="122000"/>
              </a:lnSpc>
            </a:pPr>
            <a:r>
              <a:rPr sz="1350" b="1" i="0">
                <a:solidFill>
                  <a:srgbClr val="21295C"/>
                </a:solidFill>
                <a:latin typeface="Arial"/>
              </a:rPr>
              <a:t>Тромбоэмболия лёгочной артерии, повторная госпитализация.</a:t>
            </a:r>
          </a:p>
        </p:txBody>
      </p:sp>
      <p:sp>
        <p:nvSpPr>
          <p:cNvPr id="16" name="Rounded Rectangle 15"/>
          <p:cNvSpPr/>
          <p:nvPr/>
        </p:nvSpPr>
        <p:spPr>
          <a:xfrm>
            <a:off x="502920" y="3405270"/>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40080" y="3542430"/>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ПЕРЕНЕСЕНО ДОСЛОВНО — В ДОЛЕ СЛОВ КАРТЫ</a:t>
            </a:r>
          </a:p>
        </p:txBody>
      </p:sp>
      <p:sp>
        <p:nvSpPr>
          <p:cNvPr id="18" name="TextBox 17"/>
          <p:cNvSpPr txBox="1"/>
          <p:nvPr/>
        </p:nvSpPr>
        <p:spPr>
          <a:xfrm>
            <a:off x="640080" y="37956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50,1 %</a:t>
            </a:r>
          </a:p>
        </p:txBody>
      </p:sp>
      <p:sp>
        <p:nvSpPr>
          <p:cNvPr id="19" name="TextBox 18"/>
          <p:cNvSpPr txBox="1"/>
          <p:nvPr/>
        </p:nvSpPr>
        <p:spPr>
          <a:xfrm>
            <a:off x="640080" y="4222621"/>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104 млн заметок о 2 млн пациентов</a:t>
            </a:r>
          </a:p>
        </p:txBody>
      </p:sp>
      <p:sp>
        <p:nvSpPr>
          <p:cNvPr id="20" name="Rounded Rectangle 19"/>
          <p:cNvSpPr/>
          <p:nvPr/>
        </p:nvSpPr>
        <p:spPr>
          <a:xfrm>
            <a:off x="6178143" y="3405270"/>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1" name="TextBox 20"/>
          <p:cNvSpPr txBox="1"/>
          <p:nvPr/>
        </p:nvSpPr>
        <p:spPr>
          <a:xfrm>
            <a:off x="6315303" y="3542430"/>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ВКЛАД ОШИБОК ПЕРЕНОСА</a:t>
            </a:r>
          </a:p>
        </p:txBody>
      </p:sp>
      <p:sp>
        <p:nvSpPr>
          <p:cNvPr id="22" name="TextBox 21"/>
          <p:cNvSpPr txBox="1"/>
          <p:nvPr/>
        </p:nvSpPr>
        <p:spPr>
          <a:xfrm>
            <a:off x="6315303" y="37956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2,6 % из 190 ошибок</a:t>
            </a:r>
          </a:p>
        </p:txBody>
      </p:sp>
      <p:sp>
        <p:nvSpPr>
          <p:cNvPr id="23" name="TextBox 22"/>
          <p:cNvSpPr txBox="1"/>
          <p:nvPr/>
        </p:nvSpPr>
        <p:spPr>
          <a:xfrm>
            <a:off x="6315303" y="4222621"/>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190 на 212 165 приёмов</a:t>
            </a:r>
          </a:p>
        </p:txBody>
      </p:sp>
      <p:sp>
        <p:nvSpPr>
          <p:cNvPr id="24" name="TextBox 23"/>
          <p:cNvSpPr txBox="1"/>
          <p:nvPr/>
        </p:nvSpPr>
        <p:spPr>
          <a:xfrm>
            <a:off x="502920" y="479048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Посчитаны</a:t>
            </a:r>
          </a:p>
        </p:txBody>
      </p:sp>
      <p:sp>
        <p:nvSpPr>
          <p:cNvPr id="25" name="Rounded Rectangle 24"/>
          <p:cNvSpPr/>
          <p:nvPr/>
        </p:nvSpPr>
        <p:spPr>
          <a:xfrm>
            <a:off x="1920240" y="4753904"/>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799624"/>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пишет сам — минуты на заметку</a:t>
            </a:r>
          </a:p>
        </p:txBody>
      </p:sp>
      <p:sp>
        <p:nvSpPr>
          <p:cNvPr id="27" name="Rounded Rectangle 26"/>
          <p:cNvSpPr/>
          <p:nvPr/>
        </p:nvSpPr>
        <p:spPr>
          <a:xfrm>
            <a:off x="6877659" y="4753904"/>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6959955" y="4799624"/>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Перенос прежней записи — доля слов карты</a:t>
            </a:r>
          </a:p>
        </p:txBody>
      </p:sp>
      <p:sp>
        <p:nvSpPr>
          <p:cNvPr id="29" name="TextBox 28"/>
          <p:cNvSpPr txBox="1"/>
          <p:nvPr/>
        </p:nvSpPr>
        <p:spPr>
          <a:xfrm>
            <a:off x="502920" y="54121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Названы без числа</a:t>
            </a:r>
          </a:p>
        </p:txBody>
      </p:sp>
      <p:sp>
        <p:nvSpPr>
          <p:cNvPr id="30" name="Rounded Rectangle 29"/>
          <p:cNvSpPr/>
          <p:nvPr/>
        </p:nvSpPr>
        <p:spPr>
          <a:xfrm>
            <a:off x="1920240" y="5375601"/>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2002536" y="5421321"/>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Живой писец</a:t>
            </a:r>
          </a:p>
        </p:txBody>
      </p:sp>
      <p:sp>
        <p:nvSpPr>
          <p:cNvPr id="32" name="Rounded Rectangle 31"/>
          <p:cNvSpPr/>
          <p:nvPr/>
        </p:nvSpPr>
        <p:spPr>
          <a:xfrm>
            <a:off x="6877659" y="5375601"/>
            <a:ext cx="4811115"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6959955" y="5421321"/>
            <a:ext cx="4646523"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Черновик ординатора</a:t>
            </a:r>
          </a:p>
        </p:txBody>
      </p:sp>
      <p:sp>
        <p:nvSpPr>
          <p:cNvPr id="34" name="TextBox 33"/>
          <p:cNvSpPr txBox="1"/>
          <p:nvPr/>
        </p:nvSpPr>
        <p:spPr>
          <a:xfrm>
            <a:off x="502920" y="588757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режима письма: кто кладёт текст в документ</a:t>
            </a:r>
          </a:p>
        </p:txBody>
      </p:sp>
      <p:sp>
        <p:nvSpPr>
          <p:cNvPr id="35" name="Rectangle 34"/>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36" name="TextBox 3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Tsou и соавт., Applied Clinical Informatics 2017</a:t>
            </a:r>
            <a:r>
              <a:rPr sz="1200" b="0" i="1">
                <a:solidFill>
                  <a:srgbClr val="1C7293"/>
                </a:solidFill>
                <a:latin typeface="Arial"/>
              </a:rPr>
              <a:t> · </a:t>
            </a:r>
            <a:r>
              <a:rPr sz="1200" b="0" i="1" u="sng">
                <a:solidFill>
                  <a:srgbClr val="065A82"/>
                </a:solidFill>
                <a:latin typeface="Arial"/>
                <a:hlinkClick r:id="rId3"/>
              </a:rPr>
              <a:t>Steinkamp и соавт., JAMA Network Open 2022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модель заняла на стадии записи и чего не может</a:t>
            </a:r>
          </a:p>
        </p:txBody>
      </p:sp>
      <p:sp>
        <p:nvSpPr>
          <p:cNvPr id="4" name="Rounded Rectangle 3"/>
          <p:cNvSpPr/>
          <p:nvPr/>
        </p:nvSpPr>
        <p:spPr>
          <a:xfrm>
            <a:off x="502920" y="1335024"/>
            <a:ext cx="11185855"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091153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ШЕСТИ ДЕЙСТВИЙ МОДЕЛЬ ЗАНЯЛА</a:t>
            </a:r>
          </a:p>
        </p:txBody>
      </p:sp>
      <p:sp>
        <p:nvSpPr>
          <p:cNvPr id="6" name="TextBox 5"/>
          <p:cNvSpPr txBox="1"/>
          <p:nvPr/>
        </p:nvSpPr>
        <p:spPr>
          <a:xfrm>
            <a:off x="640080" y="1725375"/>
            <a:ext cx="1091153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два</a:t>
            </a:r>
          </a:p>
        </p:txBody>
      </p:sp>
      <p:sp>
        <p:nvSpPr>
          <p:cNvPr id="7" name="TextBox 6"/>
          <p:cNvSpPr txBox="1"/>
          <p:nvPr/>
        </p:nvSpPr>
        <p:spPr>
          <a:xfrm>
            <a:off x="640080" y="2152374"/>
            <a:ext cx="1091153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набор и сборку документа; убрала — держать структуру в голове</a:t>
            </a:r>
          </a:p>
        </p:txBody>
      </p:sp>
      <p:sp>
        <p:nvSpPr>
          <p:cNvPr id="8" name="Rounded Rectangle 7"/>
          <p:cNvSpPr/>
          <p:nvPr/>
        </p:nvSpPr>
        <p:spPr>
          <a:xfrm>
            <a:off x="374904" y="2866537"/>
            <a:ext cx="11441887" cy="2971086"/>
          </a:xfrm>
          <a:prstGeom prst="roundRect">
            <a:avLst>
              <a:gd name="adj" fmla="val 10258"/>
            </a:avLst>
          </a:prstGeom>
          <a:solidFill>
            <a:srgbClr val="F4F7FA"/>
          </a:solidFill>
          <a:ln w="19050">
            <a:solidFill>
              <a:srgbClr val="1C7293"/>
            </a:solidFill>
          </a:ln>
          <a:effectLst/>
        </p:spPr>
        <p:txBody>
          <a:bodyPr rtlCol="0" anchor="ctr"/>
          <a:lstStyle/>
          <a:p>
            <a:pPr algn="ctr"/>
          </a:p>
        </p:txBody>
      </p:sp>
      <p:sp>
        <p:nvSpPr>
          <p:cNvPr id="9" name="TextBox 8"/>
          <p:cNvSpPr txBox="1"/>
          <p:nvPr/>
        </p:nvSpPr>
        <p:spPr>
          <a:xfrm>
            <a:off x="539496" y="2957977"/>
            <a:ext cx="5373471" cy="32782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Работает:</a:t>
            </a:r>
            <a:r>
              <a:rPr sz="1500" b="0" i="0">
                <a:solidFill>
                  <a:srgbClr val="21295C"/>
                </a:solidFill>
                <a:latin typeface="Arial"/>
              </a:rPr>
              <a:t> набор записи и сборка выписного документа. Держать структуру в голове при живом разговоре с человека снято — единственное место лекции, где шаг у него действительно убрали.</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работает в трёх местах:</a:t>
            </a:r>
            <a:r>
              <a:rPr sz="1500" b="0" i="0">
                <a:solidFill>
                  <a:srgbClr val="21295C"/>
                </a:solidFill>
                <a:latin typeface="Arial"/>
              </a:rPr>
              <a:t> снять обязанность вычитки · сократить активное время правки · отличить правдоподобное от записанного.</a:t>
            </a:r>
          </a:p>
        </p:txBody>
      </p:sp>
      <p:sp>
        <p:nvSpPr>
          <p:cNvPr id="10" name="TextBox 9"/>
          <p:cNvSpPr txBox="1"/>
          <p:nvPr/>
        </p:nvSpPr>
        <p:spPr>
          <a:xfrm>
            <a:off x="6278727" y="2957977"/>
            <a:ext cx="5373471" cy="327823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Решает по записи тот, кто пациента не видел: пропуск и отсутствие события для него одинаковы.</a:t>
            </a:r>
          </a:p>
          <a:p>
            <a:pPr algn="l">
              <a:lnSpc>
                <a:spcPct val="126000"/>
              </a:lnSpc>
              <a:spcBef>
                <a:spcPts val="36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записать меньше, чем было</a:t>
            </a:r>
            <a:r>
              <a:rPr sz="1500" b="0" i="0">
                <a:solidFill>
                  <a:srgbClr val="21295C"/>
                </a:solidFill>
                <a:latin typeface="Arial"/>
              </a:rPr>
              <a:t> — назначат заново проверенное</a:t>
            </a:r>
          </a:p>
          <a:p>
            <a:pPr algn="l">
              <a:lnSpc>
                <a:spcPct val="126000"/>
              </a:lnSpc>
              <a:spcBef>
                <a:spcPts val="3600"/>
              </a:spcBef>
            </a:pPr>
            <a:r>
              <a:rPr sz="1500" b="0" i="0">
                <a:solidFill>
                  <a:srgbClr val="21295C"/>
                </a:solidFill>
                <a:latin typeface="Arial"/>
              </a:rPr>
              <a:t/>
            </a:r>
            <a:r>
              <a:rPr sz="1500" b="0" i="0">
                <a:solidFill>
                  <a:srgbClr val="21295C"/>
                </a:solidFill>
                <a:latin typeface="Arial"/>
              </a:rPr>
              <a:t>• </a:t>
            </a:r>
            <a:r>
              <a:rPr sz="1500" b="1" i="0">
                <a:solidFill>
                  <a:srgbClr val="21295C"/>
                </a:solidFill>
                <a:latin typeface="Arial"/>
              </a:rPr>
              <a:t>записать то, чего не было</a:t>
            </a:r>
            <a:r>
              <a:rPr sz="1500" b="0" i="0">
                <a:solidFill>
                  <a:srgbClr val="21295C"/>
                </a:solidFill>
                <a:latin typeface="Arial"/>
              </a:rPr>
              <a:t> — назначат по ложному основанию</a:t>
            </a:r>
          </a:p>
        </p:txBody>
      </p:sp>
      <p:sp>
        <p:nvSpPr>
          <p:cNvPr id="11" name="Rectangle 10"/>
          <p:cNvSpPr/>
          <p:nvPr/>
        </p:nvSpPr>
        <p:spPr>
          <a:xfrm>
            <a:off x="6091275" y="2957977"/>
            <a:ext cx="9144" cy="2696766"/>
          </a:xfrm>
          <a:prstGeom prst="rect">
            <a:avLst/>
          </a:prstGeom>
          <a:solidFill>
            <a:srgbClr val="D9E2EC"/>
          </a:solidFill>
          <a:ln>
            <a:noFill/>
          </a:ln>
          <a:effectLst/>
        </p:spPr>
        <p:txBody>
          <a:bodyPr rtlCol="0" anchor="ctr"/>
          <a:lstStyle/>
          <a:p>
            <a:pPr algn="ct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автоматическая запись приёма</a:t>
            </a:r>
          </a:p>
        </p:txBody>
      </p:sp>
      <p:sp>
        <p:nvSpPr>
          <p:cNvPr id="4" name="Rounded Rectangle 3"/>
          <p:cNvSpPr/>
          <p:nvPr/>
        </p:nvSpPr>
        <p:spPr>
          <a:xfrm>
            <a:off x="502920"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ВРАЧ ПИШЕТ САМ</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 мин 22 с на заметку</a:t>
            </a:r>
          </a:p>
        </p:txBody>
      </p:sp>
      <p:sp>
        <p:nvSpPr>
          <p:cNvPr id="7" name="TextBox 6"/>
          <p:cNvSpPr txBox="1"/>
          <p:nvPr/>
        </p:nvSpPr>
        <p:spPr>
          <a:xfrm>
            <a:off x="640080" y="2542797"/>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контрольная группа; свой дрейф — 18 секунд</a:t>
            </a:r>
          </a:p>
        </p:txBody>
      </p:sp>
      <p:sp>
        <p:nvSpPr>
          <p:cNvPr id="8" name="Rounded Rectangle 7"/>
          <p:cNvSpPr/>
          <p:nvPr/>
        </p:nvSpPr>
        <p:spPr>
          <a:xfrm>
            <a:off x="3340531"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477691"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ПЕРВЫЙ ИНСТРУМЕНТ ПРОТИВ КОНТРОЛЬНОЙ ГРУППЫ</a:t>
            </a:r>
          </a:p>
        </p:txBody>
      </p:sp>
      <p:sp>
        <p:nvSpPr>
          <p:cNvPr id="10" name="TextBox 9"/>
          <p:cNvSpPr txBox="1"/>
          <p:nvPr/>
        </p:nvSpPr>
        <p:spPr>
          <a:xfrm>
            <a:off x="3477691" y="2140317"/>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−9,5 % времени в заметке</a:t>
            </a:r>
          </a:p>
        </p:txBody>
      </p:sp>
      <p:sp>
        <p:nvSpPr>
          <p:cNvPr id="11" name="Rounded Rectangle 10"/>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АКТИВНОЕ ВРЕМЯ ПРАВКИ</a:t>
            </a:r>
          </a:p>
        </p:txBody>
      </p:sp>
      <p:sp>
        <p:nvSpPr>
          <p:cNvPr id="13" name="TextBox 12"/>
          <p:cNvSpPr txBox="1"/>
          <p:nvPr/>
        </p:nvSpPr>
        <p:spPr>
          <a:xfrm>
            <a:off x="6315303"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изменилось ни у одного</a:t>
            </a:r>
          </a:p>
        </p:txBody>
      </p:sp>
      <p:sp>
        <p:nvSpPr>
          <p:cNvPr id="14" name="Rounded Rectangle 13"/>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ПОСТАВЩИКОМ, МЕТОДИКИ НЕТ</a:t>
            </a:r>
          </a:p>
        </p:txBody>
      </p:sp>
      <p:sp>
        <p:nvSpPr>
          <p:cNvPr id="16" name="TextBox 15"/>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15 791 час на 63 000 приёмов</a:t>
            </a:r>
          </a:p>
        </p:txBody>
      </p:sp>
      <p:sp>
        <p:nvSpPr>
          <p:cNvPr id="17" name="TextBox 16"/>
          <p:cNvSpPr txBox="1"/>
          <p:nvPr/>
        </p:nvSpPr>
        <p:spPr>
          <a:xfrm>
            <a:off x="9152915"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четверть часа на приём — в четыре минуты не укладывается</a:t>
            </a:r>
          </a:p>
        </p:txBody>
      </p:sp>
      <p:sp>
        <p:nvSpPr>
          <p:cNvPr id="18" name="TextBox 17"/>
          <p:cNvSpPr txBox="1"/>
          <p:nvPr/>
        </p:nvSpPr>
        <p:spPr>
          <a:xfrm>
            <a:off x="502920" y="374061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9" name="Rounded Rectangle 18"/>
          <p:cNvSpPr/>
          <p:nvPr/>
        </p:nvSpPr>
        <p:spPr>
          <a:xfrm>
            <a:off x="1920240"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21" name="Right Arrow 20"/>
          <p:cNvSpPr/>
          <p:nvPr/>
        </p:nvSpPr>
        <p:spPr>
          <a:xfrm>
            <a:off x="4202353" y="3873155"/>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430953"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4513249"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Структура — в голове</a:t>
            </a:r>
          </a:p>
        </p:txBody>
      </p:sp>
      <p:sp>
        <p:nvSpPr>
          <p:cNvPr id="24" name="Right Arrow 23"/>
          <p:cNvSpPr/>
          <p:nvPr/>
        </p:nvSpPr>
        <p:spPr>
          <a:xfrm>
            <a:off x="6713067" y="3873155"/>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6941667"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7023963"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набирает сам</a:t>
            </a:r>
          </a:p>
        </p:txBody>
      </p:sp>
      <p:sp>
        <p:nvSpPr>
          <p:cNvPr id="27" name="Right Arrow 26"/>
          <p:cNvSpPr/>
          <p:nvPr/>
        </p:nvSpPr>
        <p:spPr>
          <a:xfrm>
            <a:off x="9223781" y="3873155"/>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9452381" y="3704039"/>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9534677" y="3749759"/>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0" name="TextBox 29"/>
          <p:cNvSpPr txBox="1"/>
          <p:nvPr/>
        </p:nvSpPr>
        <p:spPr>
          <a:xfrm>
            <a:off x="502920" y="4362312"/>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31" name="Rounded Rectangle 30"/>
          <p:cNvSpPr/>
          <p:nvPr/>
        </p:nvSpPr>
        <p:spPr>
          <a:xfrm>
            <a:off x="1920240"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2002536"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Звук приёма</a:t>
            </a:r>
          </a:p>
        </p:txBody>
      </p:sp>
      <p:sp>
        <p:nvSpPr>
          <p:cNvPr id="33" name="Right Arrow 32"/>
          <p:cNvSpPr/>
          <p:nvPr/>
        </p:nvSpPr>
        <p:spPr>
          <a:xfrm>
            <a:off x="4202353" y="4494852"/>
            <a:ext cx="182880" cy="137160"/>
          </a:xfrm>
          <a:prstGeom prst="rightArrow">
            <a:avLst/>
          </a:prstGeom>
          <a:solidFill>
            <a:srgbClr val="1C7293"/>
          </a:solidFill>
          <a:ln>
            <a:noFill/>
          </a:ln>
          <a:effectLst/>
        </p:spPr>
        <p:txBody>
          <a:bodyPr rtlCol="0" anchor="ctr"/>
          <a:lstStyle/>
          <a:p>
            <a:pPr algn="ctr"/>
          </a:p>
        </p:txBody>
      </p:sp>
      <p:sp>
        <p:nvSpPr>
          <p:cNvPr id="34" name="Rounded Rectangle 33"/>
          <p:cNvSpPr/>
          <p:nvPr/>
        </p:nvSpPr>
        <p:spPr>
          <a:xfrm>
            <a:off x="4430953" y="4325736"/>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5" name="TextBox 34"/>
          <p:cNvSpPr txBox="1"/>
          <p:nvPr/>
        </p:nvSpPr>
        <p:spPr>
          <a:xfrm>
            <a:off x="4513249" y="4371456"/>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даёт черновик</a:t>
            </a:r>
          </a:p>
        </p:txBody>
      </p:sp>
      <p:sp>
        <p:nvSpPr>
          <p:cNvPr id="36" name="Right Arrow 35"/>
          <p:cNvSpPr/>
          <p:nvPr/>
        </p:nvSpPr>
        <p:spPr>
          <a:xfrm>
            <a:off x="6713067" y="4494852"/>
            <a:ext cx="182880" cy="137160"/>
          </a:xfrm>
          <a:prstGeom prst="rightArrow">
            <a:avLst/>
          </a:prstGeom>
          <a:solidFill>
            <a:srgbClr val="1C7293"/>
          </a:solidFill>
          <a:ln>
            <a:noFill/>
          </a:ln>
          <a:effectLst/>
        </p:spPr>
        <p:txBody>
          <a:bodyPr rtlCol="0" anchor="ctr"/>
          <a:lstStyle/>
          <a:p>
            <a:pPr algn="ctr"/>
          </a:p>
        </p:txBody>
      </p:sp>
      <p:sp>
        <p:nvSpPr>
          <p:cNvPr id="37" name="Rounded Rectangle 36"/>
          <p:cNvSpPr/>
          <p:nvPr/>
        </p:nvSpPr>
        <p:spPr>
          <a:xfrm>
            <a:off x="6941667"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8" name="TextBox 37"/>
          <p:cNvSpPr txBox="1"/>
          <p:nvPr/>
        </p:nvSpPr>
        <p:spPr>
          <a:xfrm>
            <a:off x="7023963"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чужого</a:t>
            </a:r>
          </a:p>
        </p:txBody>
      </p:sp>
      <p:sp>
        <p:nvSpPr>
          <p:cNvPr id="39" name="Right Arrow 38"/>
          <p:cNvSpPr/>
          <p:nvPr/>
        </p:nvSpPr>
        <p:spPr>
          <a:xfrm>
            <a:off x="9223781" y="4494852"/>
            <a:ext cx="182880" cy="137160"/>
          </a:xfrm>
          <a:prstGeom prst="rightArrow">
            <a:avLst/>
          </a:prstGeom>
          <a:solidFill>
            <a:srgbClr val="1C7293"/>
          </a:solidFill>
          <a:ln>
            <a:noFill/>
          </a:ln>
          <a:effectLst/>
        </p:spPr>
        <p:txBody>
          <a:bodyPr rtlCol="0" anchor="ctr"/>
          <a:lstStyle/>
          <a:p>
            <a:pPr algn="ctr"/>
          </a:p>
        </p:txBody>
      </p:sp>
      <p:sp>
        <p:nvSpPr>
          <p:cNvPr id="40" name="Rounded Rectangle 39"/>
          <p:cNvSpPr/>
          <p:nvPr/>
        </p:nvSpPr>
        <p:spPr>
          <a:xfrm>
            <a:off x="9452381" y="4325736"/>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1" name="TextBox 40"/>
          <p:cNvSpPr txBox="1"/>
          <p:nvPr/>
        </p:nvSpPr>
        <p:spPr>
          <a:xfrm>
            <a:off x="9534677" y="4371456"/>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42" name="TextBox 41"/>
          <p:cNvSpPr txBox="1"/>
          <p:nvPr/>
        </p:nvSpPr>
        <p:spPr>
          <a:xfrm>
            <a:off x="502920" y="4837705"/>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приём двумя порядками: сверху без модели, снизу с ней</a:t>
            </a:r>
          </a:p>
        </p:txBody>
      </p:sp>
      <p:sp>
        <p:nvSpPr>
          <p:cNvPr id="43" name="Rounded Rectangle 42"/>
          <p:cNvSpPr/>
          <p:nvPr/>
        </p:nvSpPr>
        <p:spPr>
          <a:xfrm>
            <a:off x="374904" y="5140388"/>
            <a:ext cx="11441887" cy="107870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4" name="TextBox 43"/>
          <p:cNvSpPr txBox="1"/>
          <p:nvPr/>
        </p:nvSpPr>
        <p:spPr>
          <a:xfrm>
            <a:off x="539496" y="5231828"/>
            <a:ext cx="11112703" cy="100437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Первым на эту стадию пришёл инструмент, набирающий саму запись.</a:t>
            </a:r>
            <a:r>
              <a:rPr sz="1200" b="0" i="0">
                <a:solidFill>
                  <a:srgbClr val="21295C"/>
                </a:solidFill>
                <a:latin typeface="Arial"/>
              </a:rPr>
              <a:t> </a:t>
            </a:r>
            <a:r>
              <a:rPr sz="1200" b="0" i="1">
                <a:solidFill>
                  <a:srgbClr val="21295C"/>
                </a:solidFill>
                <a:latin typeface="Arial"/>
              </a:rPr>
              <a:t>Генерация на тексте: на входе звук приёма, на выходе черновик заметки.</a:t>
            </a:r>
          </a:p>
          <a:p>
            <a:pPr algn="l">
              <a:lnSpc>
                <a:spcPct val="126000"/>
              </a:lnSpc>
              <a:spcBef>
                <a:spcPts val="720"/>
              </a:spcBef>
            </a:pPr>
            <a:r>
              <a:rPr sz="1200" b="0" i="0">
                <a:solidFill>
                  <a:srgbClr val="21295C"/>
                </a:solidFill>
                <a:latin typeface="Arial"/>
              </a:rPr>
              <a:t/>
            </a:r>
            <a:r>
              <a:rPr sz="1200" b="1" i="0">
                <a:solidFill>
                  <a:srgbClr val="21295C"/>
                </a:solidFill>
                <a:latin typeface="Arial"/>
              </a:rPr>
              <a:t>Как измерено.</a:t>
            </a:r>
            <a:r>
              <a:rPr sz="1200" b="0" i="0">
                <a:solidFill>
                  <a:srgbClr val="21295C"/>
                </a:solidFill>
                <a:latin typeface="Arial"/>
              </a:rPr>
              <a:t> 238 врачей, три равные группы: два инструмента и обычная практика. </a:t>
            </a:r>
            <a:r>
              <a:rPr sz="1200" b="1" i="0">
                <a:solidFill>
                  <a:srgbClr val="21295C"/>
                </a:solidFill>
                <a:latin typeface="Arial"/>
              </a:rPr>
              <a:t>У второго изменений нет</a:t>
            </a:r>
            <a:r>
              <a:rPr sz="1200" b="0" i="0">
                <a:solidFill>
                  <a:srgbClr val="21295C"/>
                </a:solidFill>
                <a:latin typeface="Arial"/>
              </a:rPr>
              <a:t> — эффект принадлежит реализации, не классу.</a:t>
            </a: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Трёхрукое рандомизированное испытание, препринт medRxiv 2025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Пример 1, Россия: протокол приёма заполняет голосовой помощник</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УЧАСТКОВЫЕ ВРАЧИ МОСКВЫ С ПОМОЩНИКОМ</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больше 3 000</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все взрослые городские поликлиники, с сентября 2026</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КАЧЕСТВО ПРОТОКОЛА ПО ОЦЕНКЕ ЭКСПЕРТОВ</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4,8 из 5</a:t>
            </a:r>
          </a:p>
        </p:txBody>
      </p:sp>
      <p:sp>
        <p:nvSpPr>
          <p:cNvPr id="11" name="TextBox 10"/>
          <p:cNvSpPr txBox="1"/>
          <p:nvPr/>
        </p:nvSpPr>
        <p:spPr>
          <a:xfrm>
            <a:off x="4423562"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столько же, сколько у заполненного человеком</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ВНИМАНИЕ ВРАЧА К ПАЦИЕНТУ</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выросло вдвое</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 неврологов; от какой величины — не названо</a:t>
            </a:r>
          </a:p>
        </p:txBody>
      </p:sp>
      <p:sp>
        <p:nvSpPr>
          <p:cNvPr id="16" name="TextBox 15"/>
          <p:cNvSpPr txBox="1"/>
          <p:nvPr/>
        </p:nvSpPr>
        <p:spPr>
          <a:xfrm>
            <a:off x="502920" y="3138948"/>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19" name="Right Arrow 18"/>
          <p:cNvSpPr/>
          <p:nvPr/>
        </p:nvSpPr>
        <p:spPr>
          <a:xfrm>
            <a:off x="5039258" y="3390313"/>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350154"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печатает сам</a:t>
            </a:r>
          </a:p>
        </p:txBody>
      </p:sp>
      <p:sp>
        <p:nvSpPr>
          <p:cNvPr id="22" name="Right Arrow 21"/>
          <p:cNvSpPr/>
          <p:nvPr/>
        </p:nvSpPr>
        <p:spPr>
          <a:xfrm>
            <a:off x="8386876" y="3390313"/>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102372"/>
            <a:ext cx="3073298"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148092"/>
            <a:ext cx="2908706"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25" name="TextBox 24"/>
          <p:cNvSpPr txBox="1"/>
          <p:nvPr/>
        </p:nvSpPr>
        <p:spPr>
          <a:xfrm>
            <a:off x="502920" y="3998294"/>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6" name="Rounded Rectangle 25"/>
          <p:cNvSpPr/>
          <p:nvPr/>
        </p:nvSpPr>
        <p:spPr>
          <a:xfrm>
            <a:off x="1920240"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Разговор</a:t>
            </a:r>
          </a:p>
        </p:txBody>
      </p:sp>
      <p:sp>
        <p:nvSpPr>
          <p:cNvPr id="28" name="Right Arrow 27"/>
          <p:cNvSpPr/>
          <p:nvPr/>
        </p:nvSpPr>
        <p:spPr>
          <a:xfrm>
            <a:off x="4202353" y="424965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430953" y="3961718"/>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4513249" y="4007438"/>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Помощник раскладывает по полям</a:t>
            </a:r>
          </a:p>
        </p:txBody>
      </p:sp>
      <p:sp>
        <p:nvSpPr>
          <p:cNvPr id="31" name="Right Arrow 30"/>
          <p:cNvSpPr/>
          <p:nvPr/>
        </p:nvSpPr>
        <p:spPr>
          <a:xfrm>
            <a:off x="6713067" y="424965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6941667"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7023963"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проверяет и правит</a:t>
            </a:r>
          </a:p>
        </p:txBody>
      </p:sp>
      <p:sp>
        <p:nvSpPr>
          <p:cNvPr id="34" name="Right Arrow 33"/>
          <p:cNvSpPr/>
          <p:nvPr/>
        </p:nvSpPr>
        <p:spPr>
          <a:xfrm>
            <a:off x="9223781" y="4249659"/>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52381" y="3961718"/>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9534677" y="4007438"/>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7" name="TextBox 36"/>
          <p:cNvSpPr txBox="1"/>
          <p:nvPr/>
        </p:nvSpPr>
        <p:spPr>
          <a:xfrm>
            <a:off x="502920" y="471133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приём двумя порядками — отечественное развёртывание</a:t>
            </a:r>
          </a:p>
        </p:txBody>
      </p:sp>
      <p:sp>
        <p:nvSpPr>
          <p:cNvPr id="38" name="Rounded Rectangle 37"/>
          <p:cNvSpPr/>
          <p:nvPr/>
        </p:nvSpPr>
        <p:spPr>
          <a:xfrm>
            <a:off x="374904" y="5014019"/>
            <a:ext cx="11441887" cy="1222188"/>
          </a:xfrm>
          <a:prstGeom prst="roundRect">
            <a:avLst>
              <a:gd name="adj" fmla="val 24938"/>
            </a:avLst>
          </a:prstGeom>
          <a:solidFill>
            <a:srgbClr val="F4F7FA"/>
          </a:solidFill>
          <a:ln w="19050">
            <a:solidFill>
              <a:srgbClr val="1C7293"/>
            </a:solidFill>
          </a:ln>
          <a:effectLst/>
        </p:spPr>
        <p:txBody>
          <a:bodyPr rtlCol="0" anchor="ctr"/>
          <a:lstStyle/>
          <a:p>
            <a:pPr algn="ctr"/>
          </a:p>
        </p:txBody>
      </p:sp>
      <p:sp>
        <p:nvSpPr>
          <p:cNvPr id="39" name="TextBox 38"/>
          <p:cNvSpPr txBox="1"/>
          <p:nvPr/>
        </p:nvSpPr>
        <p:spPr>
          <a:xfrm>
            <a:off x="539496" y="5105459"/>
            <a:ext cx="5373471" cy="1130748"/>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Распознавание на звуке: на входе разговор приёма, на выходе поля протокола.</a:t>
            </a:r>
          </a:p>
        </p:txBody>
      </p:sp>
      <p:sp>
        <p:nvSpPr>
          <p:cNvPr id="40" name="TextBox 39"/>
          <p:cNvSpPr txBox="1"/>
          <p:nvPr/>
        </p:nvSpPr>
        <p:spPr>
          <a:xfrm>
            <a:off x="6278727" y="5105459"/>
            <a:ext cx="5373471" cy="113074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Как измерено.</a:t>
            </a:r>
            <a:r>
              <a:rPr sz="1500" b="0" i="0">
                <a:solidFill>
                  <a:srgbClr val="21295C"/>
                </a:solidFill>
                <a:latin typeface="Arial"/>
              </a:rPr>
              <a:t> Экспертная оценка готовых протоколов. Слепого сравнения и контрольной группы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Обучен на обезличенных записях реальных приёмов.</a:t>
            </a:r>
          </a:p>
        </p:txBody>
      </p:sp>
      <p:sp>
        <p:nvSpPr>
          <p:cNvPr id="41" name="Rectangle 40"/>
          <p:cNvSpPr/>
          <p:nvPr/>
        </p:nvSpPr>
        <p:spPr>
          <a:xfrm>
            <a:off x="6091275" y="5105459"/>
            <a:ext cx="9144" cy="982623"/>
          </a:xfrm>
          <a:prstGeom prst="rect">
            <a:avLst/>
          </a:prstGeom>
          <a:solidFill>
            <a:srgbClr val="D9E2EC"/>
          </a:solidFill>
          <a:ln>
            <a:noFill/>
          </a:ln>
          <a:effectLst/>
        </p:spPr>
        <p:txBody>
          <a:bodyPr rtlCol="0" anchor="ctr"/>
          <a:lstStyle/>
          <a:p>
            <a:pPr algn="ctr"/>
          </a:p>
        </p:txBody>
      </p:sp>
      <p:sp>
        <p:nvSpPr>
          <p:cNvPr id="42" name="Rectangle 41"/>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43" name="TextBox 4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Департамент здравоохранения Москвы, 09.09.2026</a:t>
            </a:r>
            <a:r>
              <a:rPr sz="1200" b="0" i="1">
                <a:solidFill>
                  <a:srgbClr val="1C7293"/>
                </a:solidFill>
                <a:latin typeface="Arial"/>
              </a:rPr>
              <a:t> · </a:t>
            </a:r>
            <a:r>
              <a:rPr sz="1200" b="0" i="1" u="sng">
                <a:solidFill>
                  <a:srgbClr val="065A82"/>
                </a:solidFill>
                <a:latin typeface="Arial"/>
                <a:hlinkClick r:id="rId3"/>
              </a:rPr>
              <a:t>Департамент здравоохранения Москвы, 25.06.2026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цена: набор сократился, вычитка появилась</a:t>
            </a:r>
          </a:p>
        </p:txBody>
      </p:sp>
      <p:sp>
        <p:nvSpPr>
          <p:cNvPr id="4" name="Rounded Rectangle 3"/>
          <p:cNvSpPr/>
          <p:nvPr/>
        </p:nvSpPr>
        <p:spPr>
          <a:xfrm>
            <a:off x="502920"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ДАЛО</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заметка раньше, усталость ниже</a:t>
            </a:r>
          </a:p>
        </p:txBody>
      </p:sp>
      <p:sp>
        <p:nvSpPr>
          <p:cNvPr id="7" name="Rounded Rectangle 6"/>
          <p:cNvSpPr/>
          <p:nvPr/>
        </p:nvSpPr>
        <p:spPr>
          <a:xfrm>
            <a:off x="3340531"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ПОТРЕБОВАЛО</a:t>
            </a:r>
          </a:p>
        </p:txBody>
      </p:sp>
      <p:sp>
        <p:nvSpPr>
          <p:cNvPr id="9" name="TextBox 8"/>
          <p:cNvSpPr txBox="1"/>
          <p:nvPr/>
        </p:nvSpPr>
        <p:spPr>
          <a:xfrm>
            <a:off x="3477691" y="1725375"/>
            <a:ext cx="2398699" cy="1055071"/>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вычитку каждого черновика и службу со штатом</a:t>
            </a:r>
          </a:p>
        </p:txBody>
      </p:sp>
      <p:sp>
        <p:nvSpPr>
          <p:cNvPr id="10" name="Rounded Rectangle 9"/>
          <p:cNvSpPr/>
          <p:nvPr/>
        </p:nvSpPr>
        <p:spPr>
          <a:xfrm>
            <a:off x="6178143" y="1335024"/>
            <a:ext cx="2673019" cy="1735356"/>
          </a:xfrm>
          <a:prstGeom prst="roundRect">
            <a:avLst>
              <a:gd name="adj" fmla="val 17564"/>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ЗАВИСИТ ОТ ДНЯ ЗАМЕРА</a:t>
            </a:r>
          </a:p>
        </p:txBody>
      </p:sp>
      <p:sp>
        <p:nvSpPr>
          <p:cNvPr id="12" name="TextBox 11"/>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 → 16 из ста</a:t>
            </a:r>
          </a:p>
        </p:txBody>
      </p:sp>
      <p:sp>
        <p:nvSpPr>
          <p:cNvPr id="13" name="TextBox 12"/>
          <p:cNvSpPr txBox="1"/>
          <p:nvPr/>
        </p:nvSpPr>
        <p:spPr>
          <a:xfrm>
            <a:off x="6315303"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наблюдательное; день внедрения → сто пятидесятый</a:t>
            </a:r>
          </a:p>
        </p:txBody>
      </p:sp>
      <p:sp>
        <p:nvSpPr>
          <p:cNvPr id="14" name="Rounded Rectangle 13"/>
          <p:cNvSpPr/>
          <p:nvPr/>
        </p:nvSpPr>
        <p:spPr>
          <a:xfrm>
            <a:off x="9015755" y="1335024"/>
            <a:ext cx="2673019" cy="1735356"/>
          </a:xfrm>
          <a:prstGeom prst="roundRect">
            <a:avLst>
              <a:gd name="adj" fmla="val 17564"/>
            </a:avLst>
          </a:prstGeom>
          <a:solidFill>
            <a:srgbClr val="FFFFFF"/>
          </a:solidFill>
          <a:ln w="25400">
            <a:solidFill>
              <a:srgbClr val="F0AB00"/>
            </a:solidFill>
          </a:ln>
          <a:effectLst/>
        </p:spPr>
        <p:txBody>
          <a:bodyPr rtlCol="0" anchor="ctr"/>
          <a:lstStyle/>
          <a:p>
            <a:pPr algn="ctr"/>
          </a:p>
        </p:txBody>
      </p:sp>
      <p:sp>
        <p:nvSpPr>
          <p:cNvPr id="15" name="TextBox 14"/>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СУММЕ</a:t>
            </a:r>
          </a:p>
        </p:txBody>
      </p:sp>
      <p:sp>
        <p:nvSpPr>
          <p:cNvPr id="16" name="TextBox 15"/>
          <p:cNvSpPr txBox="1"/>
          <p:nvPr/>
        </p:nvSpPr>
        <p:spPr>
          <a:xfrm>
            <a:off x="9152915" y="1725375"/>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набор сократился, правка та же</a:t>
            </a:r>
          </a:p>
        </p:txBody>
      </p:sp>
      <p:sp>
        <p:nvSpPr>
          <p:cNvPr id="17" name="TextBox 16"/>
          <p:cNvSpPr txBox="1"/>
          <p:nvPr/>
        </p:nvSpPr>
        <p:spPr>
          <a:xfrm>
            <a:off x="502920" y="3289836"/>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8" name="Rounded Rectangle 17"/>
          <p:cNvSpPr/>
          <p:nvPr/>
        </p:nvSpPr>
        <p:spPr>
          <a:xfrm>
            <a:off x="2011680" y="3253260"/>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9" name="Rounded Rectangle 18"/>
          <p:cNvSpPr/>
          <p:nvPr/>
        </p:nvSpPr>
        <p:spPr>
          <a:xfrm>
            <a:off x="2103120" y="3280692"/>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0" name="TextBox 19"/>
          <p:cNvSpPr txBox="1"/>
          <p:nvPr/>
        </p:nvSpPr>
        <p:spPr>
          <a:xfrm>
            <a:off x="2185416" y="3326412"/>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набор текста</a:t>
            </a:r>
          </a:p>
        </p:txBody>
      </p:sp>
      <p:sp>
        <p:nvSpPr>
          <p:cNvPr id="21" name="Right Arrow 20"/>
          <p:cNvSpPr/>
          <p:nvPr/>
        </p:nvSpPr>
        <p:spPr>
          <a:xfrm>
            <a:off x="4248073" y="3440712"/>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4568113" y="3280692"/>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4650409" y="3326412"/>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подпись</a:t>
            </a:r>
          </a:p>
        </p:txBody>
      </p:sp>
      <p:sp>
        <p:nvSpPr>
          <p:cNvPr id="24" name="TextBox 23"/>
          <p:cNvSpPr txBox="1"/>
          <p:nvPr/>
        </p:nvSpPr>
        <p:spPr>
          <a:xfrm>
            <a:off x="502920" y="3911628"/>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Стало</a:t>
            </a:r>
          </a:p>
        </p:txBody>
      </p:sp>
      <p:sp>
        <p:nvSpPr>
          <p:cNvPr id="25" name="Rounded Rectangle 24"/>
          <p:cNvSpPr/>
          <p:nvPr/>
        </p:nvSpPr>
        <p:spPr>
          <a:xfrm>
            <a:off x="2011680" y="3875052"/>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6" name="Rounded Rectangle 25"/>
          <p:cNvSpPr/>
          <p:nvPr/>
        </p:nvSpPr>
        <p:spPr>
          <a:xfrm>
            <a:off x="2103120"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7" name="TextBox 26"/>
          <p:cNvSpPr txBox="1"/>
          <p:nvPr/>
        </p:nvSpPr>
        <p:spPr>
          <a:xfrm>
            <a:off x="2185416"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разговор</a:t>
            </a:r>
          </a:p>
        </p:txBody>
      </p:sp>
      <p:sp>
        <p:nvSpPr>
          <p:cNvPr id="28" name="Right Arrow 27"/>
          <p:cNvSpPr/>
          <p:nvPr/>
        </p:nvSpPr>
        <p:spPr>
          <a:xfrm>
            <a:off x="4248073" y="406250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4568113"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0" name="TextBox 29"/>
          <p:cNvSpPr txBox="1"/>
          <p:nvPr/>
        </p:nvSpPr>
        <p:spPr>
          <a:xfrm>
            <a:off x="4650409"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черновик</a:t>
            </a:r>
          </a:p>
        </p:txBody>
      </p:sp>
      <p:sp>
        <p:nvSpPr>
          <p:cNvPr id="31" name="Right Arrow 30"/>
          <p:cNvSpPr/>
          <p:nvPr/>
        </p:nvSpPr>
        <p:spPr>
          <a:xfrm>
            <a:off x="6713067" y="406250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7033107"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3" name="TextBox 32"/>
          <p:cNvSpPr txBox="1"/>
          <p:nvPr/>
        </p:nvSpPr>
        <p:spPr>
          <a:xfrm>
            <a:off x="7115403"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вычитка</a:t>
            </a:r>
          </a:p>
        </p:txBody>
      </p:sp>
      <p:sp>
        <p:nvSpPr>
          <p:cNvPr id="34" name="Right Arrow 33"/>
          <p:cNvSpPr/>
          <p:nvPr/>
        </p:nvSpPr>
        <p:spPr>
          <a:xfrm>
            <a:off x="9178061" y="406250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9498101" y="3902484"/>
            <a:ext cx="2099233"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36" name="TextBox 35"/>
          <p:cNvSpPr txBox="1"/>
          <p:nvPr/>
        </p:nvSpPr>
        <p:spPr>
          <a:xfrm>
            <a:off x="9580397" y="3948204"/>
            <a:ext cx="1934641"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подпись</a:t>
            </a:r>
          </a:p>
        </p:txBody>
      </p:sp>
      <p:sp>
        <p:nvSpPr>
          <p:cNvPr id="37" name="TextBox 36"/>
          <p:cNvSpPr txBox="1"/>
          <p:nvPr/>
        </p:nvSpPr>
        <p:spPr>
          <a:xfrm>
            <a:off x="502920" y="4533420"/>
            <a:ext cx="1307592" cy="594826"/>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Поверх, другой рукой</a:t>
            </a:r>
          </a:p>
        </p:txBody>
      </p:sp>
      <p:sp>
        <p:nvSpPr>
          <p:cNvPr id="38" name="Rounded Rectangle 37"/>
          <p:cNvSpPr/>
          <p:nvPr/>
        </p:nvSpPr>
        <p:spPr>
          <a:xfrm>
            <a:off x="2011680" y="4496844"/>
            <a:ext cx="9677095" cy="667978"/>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39" name="Rounded Rectangle 38"/>
          <p:cNvSpPr/>
          <p:nvPr/>
        </p:nvSpPr>
        <p:spPr>
          <a:xfrm>
            <a:off x="2103120" y="4524276"/>
            <a:ext cx="2099233" cy="613114"/>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40" name="TextBox 39"/>
          <p:cNvSpPr txBox="1"/>
          <p:nvPr/>
        </p:nvSpPr>
        <p:spPr>
          <a:xfrm>
            <a:off x="2185416" y="4569996"/>
            <a:ext cx="1934641" cy="521674"/>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выборочный контроль заметок</a:t>
            </a:r>
          </a:p>
        </p:txBody>
      </p:sp>
      <p:sp>
        <p:nvSpPr>
          <p:cNvPr id="41" name="TextBox 40"/>
          <p:cNvSpPr txBox="1"/>
          <p:nvPr/>
        </p:nvSpPr>
        <p:spPr>
          <a:xfrm>
            <a:off x="502920" y="5237975"/>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Две дорожки врача — и третья строка: операция, которую делает не он</a:t>
            </a:r>
          </a:p>
        </p:txBody>
      </p:sp>
      <p:sp>
        <p:nvSpPr>
          <p:cNvPr id="42" name="Rounded Rectangle 41"/>
          <p:cNvSpPr/>
          <p:nvPr/>
        </p:nvSpPr>
        <p:spPr>
          <a:xfrm>
            <a:off x="374904" y="5544430"/>
            <a:ext cx="11441887" cy="69177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3" name="TextBox 42"/>
          <p:cNvSpPr txBox="1"/>
          <p:nvPr/>
        </p:nvSpPr>
        <p:spPr>
          <a:xfrm>
            <a:off x="539496" y="5635870"/>
            <a:ext cx="11112703" cy="600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Структуру записи врач держал в голове при пациенте, набирал текст после приёма, подписывал своё.</a:t>
            </a:r>
            <a:r>
              <a:rPr sz="1250" b="0" i="0">
                <a:solidFill>
                  <a:srgbClr val="21295C"/>
                </a:solidFill>
                <a:latin typeface="Arial"/>
              </a:rPr>
              <a:t> Теперь вычитывает чужое.</a:t>
            </a:r>
          </a:p>
          <a:p>
            <a:pPr algn="l">
              <a:lnSpc>
                <a:spcPct val="126000"/>
              </a:lnSpc>
              <a:spcBef>
                <a:spcPts val="720"/>
              </a:spcBef>
            </a:pPr>
            <a:r>
              <a:rPr sz="1250" b="0" i="0">
                <a:solidFill>
                  <a:srgbClr val="21295C"/>
                </a:solidFill>
                <a:latin typeface="Arial"/>
              </a:rPr>
              <a:t/>
            </a:r>
            <a:r>
              <a:rPr sz="1250" b="1" i="0">
                <a:solidFill>
                  <a:srgbClr val="21295C"/>
                </a:solidFill>
                <a:latin typeface="Arial"/>
              </a:rPr>
              <a:t>Штат службы контроля — из неопубликованного отчёта клиники: своего адреса у числа нет.</a:t>
            </a:r>
          </a:p>
        </p:txBody>
      </p:sp>
      <p:sp>
        <p:nvSpPr>
          <p:cNvPr id="44" name="Rectangle 4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5" name="TextBox 4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Отчёт службы контроля качества заметок одной клиники</a:t>
            </a:r>
            <a:r>
              <a:rPr sz="1200" b="0" i="1">
                <a:solidFill>
                  <a:srgbClr val="1C7293"/>
                </a:solidFill>
                <a:latin typeface="Arial"/>
              </a:rPr>
              <a:t> · </a:t>
            </a:r>
            <a:r>
              <a:rPr sz="1200" b="0" i="1" u="sng">
                <a:solidFill>
                  <a:srgbClr val="065A82"/>
                </a:solidFill>
                <a:latin typeface="Arial"/>
                <a:hlinkClick r:id="rId2"/>
              </a:rPr>
              <a:t>трёхрукое рандомизированное испытание, препринт medRxiv 2025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выписной эпикриз</a:t>
            </a:r>
          </a:p>
        </p:txBody>
      </p:sp>
      <p:sp>
        <p:nvSpPr>
          <p:cNvPr id="4" name="Rounded Rectangle 3"/>
          <p:cNvSpPr/>
          <p:nvPr/>
        </p:nvSpPr>
        <p:spPr>
          <a:xfrm>
            <a:off x="502920" y="1335024"/>
            <a:ext cx="2673019" cy="1678773"/>
          </a:xfrm>
          <a:prstGeom prst="roundRect">
            <a:avLst>
              <a:gd name="adj" fmla="val 1815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ХОТЯ БЫ ОДНА ОШИБКА В ДОКУМЕНТЕ</a:t>
            </a:r>
          </a:p>
        </p:txBody>
      </p:sp>
      <p:sp>
        <p:nvSpPr>
          <p:cNvPr id="6" name="TextBox 5"/>
          <p:cNvSpPr txBox="1"/>
          <p:nvPr/>
        </p:nvSpPr>
        <p:spPr>
          <a:xfrm>
            <a:off x="640080" y="1932846"/>
            <a:ext cx="2398699" cy="732547"/>
          </a:xfrm>
          <a:prstGeom prst="rect">
            <a:avLst/>
          </a:prstGeom>
          <a:noFill/>
        </p:spPr>
        <p:txBody>
          <a:bodyPr wrap="square" lIns="0" rIns="0" tIns="0" bIns="0" anchor="t">
            <a:spAutoFit/>
          </a:bodyPr>
          <a:lstStyle/>
          <a:p>
            <a:pPr algn="l">
              <a:lnSpc>
                <a:spcPct val="108000"/>
              </a:lnSpc>
            </a:pPr>
            <a:r>
              <a:rPr sz="2050" b="1" i="0">
                <a:solidFill>
                  <a:srgbClr val="1C7293"/>
                </a:solidFill>
                <a:latin typeface="Arial"/>
              </a:rPr>
              <a:t>9 из 11 машинных эпикризов</a:t>
            </a:r>
          </a:p>
        </p:txBody>
      </p:sp>
      <p:sp>
        <p:nvSpPr>
          <p:cNvPr id="7" name="TextBox 6"/>
          <p:cNvSpPr txBox="1"/>
          <p:nvPr/>
        </p:nvSpPr>
        <p:spPr>
          <a:xfrm>
            <a:off x="640080" y="2665394"/>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19 выдумок крупных 10</a:t>
            </a:r>
          </a:p>
        </p:txBody>
      </p:sp>
      <p:sp>
        <p:nvSpPr>
          <p:cNvPr id="8" name="Rounded Rectangle 7"/>
          <p:cNvSpPr/>
          <p:nvPr/>
        </p:nvSpPr>
        <p:spPr>
          <a:xfrm>
            <a:off x="3340531"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ПОЛНОТА: ЧЕЛОВЕК → МОДЕЛЬ</a:t>
            </a:r>
          </a:p>
        </p:txBody>
      </p:sp>
      <p:sp>
        <p:nvSpPr>
          <p:cNvPr id="10" name="TextBox 9"/>
          <p:cNvSpPr txBox="1"/>
          <p:nvPr/>
        </p:nvSpPr>
        <p:spPr>
          <a:xfrm>
            <a:off x="3477691"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11" name="TextBox 10"/>
          <p:cNvSpPr txBox="1"/>
          <p:nvPr/>
        </p:nvSpPr>
        <p:spPr>
          <a:xfrm>
            <a:off x="3477691"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пятибалльная шкала рецензентов</a:t>
            </a:r>
          </a:p>
        </p:txBody>
      </p:sp>
      <p:sp>
        <p:nvSpPr>
          <p:cNvPr id="12" name="Rounded Rectangle 11"/>
          <p:cNvSpPr/>
          <p:nvPr/>
        </p:nvSpPr>
        <p:spPr>
          <a:xfrm>
            <a:off x="6178143"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УНИКАЛЬНЫХ ОШИБОК НА ДОКУМЕНТ</a:t>
            </a:r>
          </a:p>
        </p:txBody>
      </p:sp>
      <p:sp>
        <p:nvSpPr>
          <p:cNvPr id="14" name="TextBox 13"/>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1,82 → 2,91</a:t>
            </a:r>
          </a:p>
        </p:txBody>
      </p:sp>
      <p:sp>
        <p:nvSpPr>
          <p:cNvPr id="15" name="TextBox 14"/>
          <p:cNvSpPr txBox="1"/>
          <p:nvPr/>
        </p:nvSpPr>
        <p:spPr>
          <a:xfrm>
            <a:off x="6315303"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человек → модель</a:t>
            </a:r>
          </a:p>
        </p:txBody>
      </p:sp>
      <p:sp>
        <p:nvSpPr>
          <p:cNvPr id="16" name="Rounded Rectangle 15"/>
          <p:cNvSpPr/>
          <p:nvPr/>
        </p:nvSpPr>
        <p:spPr>
          <a:xfrm>
            <a:off x="9015755" y="1335024"/>
            <a:ext cx="2673019" cy="1678773"/>
          </a:xfrm>
          <a:prstGeom prst="roundRect">
            <a:avLst>
              <a:gd name="adj" fmla="val 18156"/>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ПОТЕНЦИАЛ ВРЕДА ОДНОЙ ОШИБКИ</a:t>
            </a:r>
          </a:p>
        </p:txBody>
      </p:sp>
      <p:sp>
        <p:nvSpPr>
          <p:cNvPr id="18" name="TextBox 17"/>
          <p:cNvSpPr txBox="1"/>
          <p:nvPr/>
        </p:nvSpPr>
        <p:spPr>
          <a:xfrm>
            <a:off x="9152915"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1,34 → 1,35</a:t>
            </a:r>
          </a:p>
        </p:txBody>
      </p:sp>
      <p:sp>
        <p:nvSpPr>
          <p:cNvPr id="19" name="TextBox 18"/>
          <p:cNvSpPr txBox="1"/>
          <p:nvPr/>
        </p:nvSpPr>
        <p:spPr>
          <a:xfrm>
            <a:off x="9152915" y="2359845"/>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из семи; не различаются</a:t>
            </a:r>
          </a:p>
        </p:txBody>
      </p:sp>
      <p:sp>
        <p:nvSpPr>
          <p:cNvPr id="20" name="TextBox 19"/>
          <p:cNvSpPr txBox="1"/>
          <p:nvPr/>
        </p:nvSpPr>
        <p:spPr>
          <a:xfrm>
            <a:off x="502920" y="323325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21" name="Rounded Rectangle 20"/>
          <p:cNvSpPr/>
          <p:nvPr/>
        </p:nvSpPr>
        <p:spPr>
          <a:xfrm>
            <a:off x="1920240"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2002536"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История и дневники</a:t>
            </a:r>
          </a:p>
        </p:txBody>
      </p:sp>
      <p:sp>
        <p:nvSpPr>
          <p:cNvPr id="23" name="Right Arrow 22"/>
          <p:cNvSpPr/>
          <p:nvPr/>
        </p:nvSpPr>
        <p:spPr>
          <a:xfrm>
            <a:off x="4202353" y="3365794"/>
            <a:ext cx="182880" cy="137160"/>
          </a:xfrm>
          <a:prstGeom prst="rightArrow">
            <a:avLst/>
          </a:prstGeom>
          <a:solidFill>
            <a:srgbClr val="1C7293"/>
          </a:solidFill>
          <a:ln>
            <a:noFill/>
          </a:ln>
          <a:effectLst/>
        </p:spPr>
        <p:txBody>
          <a:bodyPr rtlCol="0" anchor="ctr"/>
          <a:lstStyle/>
          <a:p>
            <a:pPr algn="ctr"/>
          </a:p>
        </p:txBody>
      </p:sp>
      <p:sp>
        <p:nvSpPr>
          <p:cNvPr id="24" name="Rounded Rectangle 23"/>
          <p:cNvSpPr/>
          <p:nvPr/>
        </p:nvSpPr>
        <p:spPr>
          <a:xfrm>
            <a:off x="4430953"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513249"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собирает сам</a:t>
            </a:r>
          </a:p>
        </p:txBody>
      </p:sp>
      <p:sp>
        <p:nvSpPr>
          <p:cNvPr id="26" name="Right Arrow 25"/>
          <p:cNvSpPr/>
          <p:nvPr/>
        </p:nvSpPr>
        <p:spPr>
          <a:xfrm>
            <a:off x="6713067" y="3365794"/>
            <a:ext cx="182880" cy="137160"/>
          </a:xfrm>
          <a:prstGeom prst="rightArrow">
            <a:avLst/>
          </a:prstGeom>
          <a:solidFill>
            <a:srgbClr val="1C7293"/>
          </a:solidFill>
          <a:ln>
            <a:noFill/>
          </a:ln>
          <a:effectLst/>
        </p:spPr>
        <p:txBody>
          <a:bodyPr rtlCol="0" anchor="ctr"/>
          <a:lstStyle/>
          <a:p>
            <a:pPr algn="ctr"/>
          </a:p>
        </p:txBody>
      </p:sp>
      <p:sp>
        <p:nvSpPr>
          <p:cNvPr id="27" name="Rounded Rectangle 26"/>
          <p:cNvSpPr/>
          <p:nvPr/>
        </p:nvSpPr>
        <p:spPr>
          <a:xfrm>
            <a:off x="6941667"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8" name="TextBox 27"/>
          <p:cNvSpPr txBox="1"/>
          <p:nvPr/>
        </p:nvSpPr>
        <p:spPr>
          <a:xfrm>
            <a:off x="7023963"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своего</a:t>
            </a:r>
          </a:p>
        </p:txBody>
      </p:sp>
      <p:sp>
        <p:nvSpPr>
          <p:cNvPr id="29" name="Right Arrow 28"/>
          <p:cNvSpPr/>
          <p:nvPr/>
        </p:nvSpPr>
        <p:spPr>
          <a:xfrm>
            <a:off x="9223781" y="3365794"/>
            <a:ext cx="182880" cy="137160"/>
          </a:xfrm>
          <a:prstGeom prst="rightArrow">
            <a:avLst/>
          </a:prstGeom>
          <a:solidFill>
            <a:srgbClr val="1C7293"/>
          </a:solidFill>
          <a:ln>
            <a:noFill/>
          </a:ln>
          <a:effectLst/>
        </p:spPr>
        <p:txBody>
          <a:bodyPr rtlCol="0" anchor="ctr"/>
          <a:lstStyle/>
          <a:p>
            <a:pPr algn="ctr"/>
          </a:p>
        </p:txBody>
      </p:sp>
      <p:sp>
        <p:nvSpPr>
          <p:cNvPr id="30" name="Rounded Rectangle 29"/>
          <p:cNvSpPr/>
          <p:nvPr/>
        </p:nvSpPr>
        <p:spPr>
          <a:xfrm>
            <a:off x="9452381" y="3196677"/>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1" name="TextBox 30"/>
          <p:cNvSpPr txBox="1"/>
          <p:nvPr/>
        </p:nvSpPr>
        <p:spPr>
          <a:xfrm>
            <a:off x="9534677" y="3242397"/>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 лечащего</a:t>
            </a:r>
          </a:p>
        </p:txBody>
      </p:sp>
      <p:sp>
        <p:nvSpPr>
          <p:cNvPr id="32" name="TextBox 31"/>
          <p:cNvSpPr txBox="1"/>
          <p:nvPr/>
        </p:nvSpPr>
        <p:spPr>
          <a:xfrm>
            <a:off x="502920" y="385495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33" name="Rounded Rectangle 32"/>
          <p:cNvSpPr/>
          <p:nvPr/>
        </p:nvSpPr>
        <p:spPr>
          <a:xfrm>
            <a:off x="1920240"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4" name="TextBox 33"/>
          <p:cNvSpPr txBox="1"/>
          <p:nvPr/>
        </p:nvSpPr>
        <p:spPr>
          <a:xfrm>
            <a:off x="2002536"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История и дневники</a:t>
            </a:r>
          </a:p>
        </p:txBody>
      </p:sp>
      <p:sp>
        <p:nvSpPr>
          <p:cNvPr id="35" name="Right Arrow 34"/>
          <p:cNvSpPr/>
          <p:nvPr/>
        </p:nvSpPr>
        <p:spPr>
          <a:xfrm>
            <a:off x="4202353" y="3987491"/>
            <a:ext cx="182880" cy="137160"/>
          </a:xfrm>
          <a:prstGeom prst="rightArrow">
            <a:avLst/>
          </a:prstGeom>
          <a:solidFill>
            <a:srgbClr val="1C7293"/>
          </a:solidFill>
          <a:ln>
            <a:noFill/>
          </a:ln>
          <a:effectLst/>
        </p:spPr>
        <p:txBody>
          <a:bodyPr rtlCol="0" anchor="ctr"/>
          <a:lstStyle/>
          <a:p>
            <a:pPr algn="ctr"/>
          </a:p>
        </p:txBody>
      </p:sp>
      <p:sp>
        <p:nvSpPr>
          <p:cNvPr id="36" name="Rounded Rectangle 35"/>
          <p:cNvSpPr/>
          <p:nvPr/>
        </p:nvSpPr>
        <p:spPr>
          <a:xfrm>
            <a:off x="4430953" y="3818374"/>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7" name="TextBox 36"/>
          <p:cNvSpPr txBox="1"/>
          <p:nvPr/>
        </p:nvSpPr>
        <p:spPr>
          <a:xfrm>
            <a:off x="4513249" y="3864094"/>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собирает</a:t>
            </a:r>
          </a:p>
        </p:txBody>
      </p:sp>
      <p:sp>
        <p:nvSpPr>
          <p:cNvPr id="38" name="Right Arrow 37"/>
          <p:cNvSpPr/>
          <p:nvPr/>
        </p:nvSpPr>
        <p:spPr>
          <a:xfrm>
            <a:off x="6713067" y="3987491"/>
            <a:ext cx="182880" cy="137160"/>
          </a:xfrm>
          <a:prstGeom prst="rightArrow">
            <a:avLst/>
          </a:prstGeom>
          <a:solidFill>
            <a:srgbClr val="1C7293"/>
          </a:solidFill>
          <a:ln>
            <a:noFill/>
          </a:ln>
          <a:effectLst/>
        </p:spPr>
        <p:txBody>
          <a:bodyPr rtlCol="0" anchor="ctr"/>
          <a:lstStyle/>
          <a:p>
            <a:pPr algn="ctr"/>
          </a:p>
        </p:txBody>
      </p:sp>
      <p:sp>
        <p:nvSpPr>
          <p:cNvPr id="39" name="Rounded Rectangle 38"/>
          <p:cNvSpPr/>
          <p:nvPr/>
        </p:nvSpPr>
        <p:spPr>
          <a:xfrm>
            <a:off x="6941667"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0" name="TextBox 39"/>
          <p:cNvSpPr txBox="1"/>
          <p:nvPr/>
        </p:nvSpPr>
        <p:spPr>
          <a:xfrm>
            <a:off x="7023963"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Вычитка чужого</a:t>
            </a:r>
          </a:p>
        </p:txBody>
      </p:sp>
      <p:sp>
        <p:nvSpPr>
          <p:cNvPr id="41" name="Right Arrow 40"/>
          <p:cNvSpPr/>
          <p:nvPr/>
        </p:nvSpPr>
        <p:spPr>
          <a:xfrm>
            <a:off x="9223781" y="3987491"/>
            <a:ext cx="182880" cy="137160"/>
          </a:xfrm>
          <a:prstGeom prst="rightArrow">
            <a:avLst/>
          </a:prstGeom>
          <a:solidFill>
            <a:srgbClr val="1C7293"/>
          </a:solidFill>
          <a:ln>
            <a:noFill/>
          </a:ln>
          <a:effectLst/>
        </p:spPr>
        <p:txBody>
          <a:bodyPr rtlCol="0" anchor="ctr"/>
          <a:lstStyle/>
          <a:p>
            <a:pPr algn="ctr"/>
          </a:p>
        </p:txBody>
      </p:sp>
      <p:sp>
        <p:nvSpPr>
          <p:cNvPr id="42" name="Rounded Rectangle 41"/>
          <p:cNvSpPr/>
          <p:nvPr/>
        </p:nvSpPr>
        <p:spPr>
          <a:xfrm>
            <a:off x="9452381" y="381837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43" name="TextBox 42"/>
          <p:cNvSpPr txBox="1"/>
          <p:nvPr/>
        </p:nvSpPr>
        <p:spPr>
          <a:xfrm>
            <a:off x="9534677" y="386409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 лечащего</a:t>
            </a:r>
          </a:p>
        </p:txBody>
      </p:sp>
      <p:sp>
        <p:nvSpPr>
          <p:cNvPr id="44" name="TextBox 43"/>
          <p:cNvSpPr txBox="1"/>
          <p:nvPr/>
        </p:nvSpPr>
        <p:spPr>
          <a:xfrm>
            <a:off x="502920" y="4330343"/>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Сборка выписного документа двумя порядками</a:t>
            </a:r>
          </a:p>
        </p:txBody>
      </p:sp>
      <p:sp>
        <p:nvSpPr>
          <p:cNvPr id="45" name="Rounded Rectangle 44"/>
          <p:cNvSpPr/>
          <p:nvPr/>
        </p:nvSpPr>
        <p:spPr>
          <a:xfrm>
            <a:off x="374904" y="4633027"/>
            <a:ext cx="11441887" cy="1554004"/>
          </a:xfrm>
          <a:prstGeom prst="roundRect">
            <a:avLst>
              <a:gd name="adj" fmla="val 19613"/>
            </a:avLst>
          </a:prstGeom>
          <a:solidFill>
            <a:srgbClr val="F4F7FA"/>
          </a:solidFill>
          <a:ln w="19050">
            <a:solidFill>
              <a:srgbClr val="1C7293"/>
            </a:solidFill>
          </a:ln>
          <a:effectLst/>
        </p:spPr>
        <p:txBody>
          <a:bodyPr rtlCol="0" anchor="ctr"/>
          <a:lstStyle/>
          <a:p>
            <a:pPr algn="ctr"/>
          </a:p>
        </p:txBody>
      </p:sp>
      <p:sp>
        <p:nvSpPr>
          <p:cNvPr id="46" name="TextBox 45"/>
          <p:cNvSpPr txBox="1"/>
          <p:nvPr/>
        </p:nvSpPr>
        <p:spPr>
          <a:xfrm>
            <a:off x="539496" y="4724467"/>
            <a:ext cx="5373471" cy="1511740"/>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Генерация на тексте: на входе история болезни, на выходе черновик повествовательной части.</a:t>
            </a:r>
          </a:p>
          <a:p>
            <a:pPr algn="l">
              <a:lnSpc>
                <a:spcPct val="126000"/>
              </a:lnSpc>
              <a:spcBef>
                <a:spcPts val="720"/>
              </a:spcBef>
            </a:pPr>
            <a:r>
              <a:rPr sz="1500" b="0" i="0">
                <a:solidFill>
                  <a:srgbClr val="21295C"/>
                </a:solidFill>
                <a:latin typeface="Arial"/>
              </a:rPr>
              <a:t/>
            </a:r>
            <a:r>
              <a:rPr sz="1500" b="1" i="0">
                <a:solidFill>
                  <a:srgbClr val="21295C"/>
                </a:solidFill>
                <a:latin typeface="Arial"/>
              </a:rPr>
              <a:t>Как измерено.</a:t>
            </a:r>
            <a:r>
              <a:rPr sz="1500" b="0" i="0">
                <a:solidFill>
                  <a:srgbClr val="21295C"/>
                </a:solidFill>
                <a:latin typeface="Arial"/>
              </a:rPr>
              <a:t> Сто госпитализаций, 22 рецензента: каждый документ читали двое вслепую.</a:t>
            </a:r>
          </a:p>
        </p:txBody>
      </p:sp>
      <p:sp>
        <p:nvSpPr>
          <p:cNvPr id="47" name="TextBox 46"/>
          <p:cNvSpPr txBox="1"/>
          <p:nvPr/>
        </p:nvSpPr>
        <p:spPr>
          <a:xfrm>
            <a:off x="6278727" y="4724467"/>
            <a:ext cx="5373471" cy="151174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Короче и связнее, но менее полон.</a:t>
            </a:r>
            <a:r>
              <a:rPr sz="1500" b="0" i="0">
                <a:solidFill>
                  <a:srgbClr val="21295C"/>
                </a:solidFill>
                <a:latin typeface="Arial"/>
              </a:rPr>
              <a:t> Ни имени модели, ни обучающих данных работа не называет.</a:t>
            </a:r>
          </a:p>
          <a:p>
            <a:pPr algn="l">
              <a:lnSpc>
                <a:spcPct val="126000"/>
              </a:lnSpc>
              <a:spcBef>
                <a:spcPts val="720"/>
              </a:spcBef>
            </a:pPr>
            <a:r>
              <a:rPr sz="1500" b="0" i="0">
                <a:solidFill>
                  <a:srgbClr val="21295C"/>
                </a:solidFill>
                <a:latin typeface="Arial"/>
              </a:rPr>
              <a:t/>
            </a:r>
            <a:r>
              <a:rPr sz="1500" b="1" i="0">
                <a:solidFill>
                  <a:srgbClr val="21295C"/>
                </a:solidFill>
                <a:latin typeface="Arial"/>
              </a:rPr>
              <a:t>Цена ошибки сместилась:</a:t>
            </a:r>
            <a:r>
              <a:rPr sz="1500" b="0" i="0">
                <a:solidFill>
                  <a:srgbClr val="21295C"/>
                </a:solidFill>
                <a:latin typeface="Arial"/>
              </a:rPr>
              <a:t> пишет тот же, а платит читатель.</a:t>
            </a:r>
          </a:p>
        </p:txBody>
      </p:sp>
      <p:sp>
        <p:nvSpPr>
          <p:cNvPr id="48" name="Rectangle 47"/>
          <p:cNvSpPr/>
          <p:nvPr/>
        </p:nvSpPr>
        <p:spPr>
          <a:xfrm>
            <a:off x="6091275" y="4724467"/>
            <a:ext cx="9144" cy="1279684"/>
          </a:xfrm>
          <a:prstGeom prst="rect">
            <a:avLst/>
          </a:prstGeom>
          <a:solidFill>
            <a:srgbClr val="D9E2EC"/>
          </a:solidFill>
          <a:ln>
            <a:noFill/>
          </a:ln>
          <a:effectLst/>
        </p:spPr>
        <p:txBody>
          <a:bodyPr rtlCol="0" anchor="ctr"/>
          <a:lstStyle/>
          <a:p>
            <a:pPr algn="ctr"/>
          </a:p>
        </p:txBody>
      </p:sp>
      <p:sp>
        <p:nvSpPr>
          <p:cNvPr id="49" name="Rectangle 4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50" name="TextBox 4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Слепое сравнение ста госпитализаций, JAMA Internal Medicine 2025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цена: вычитка другого рода</a:t>
            </a:r>
          </a:p>
        </p:txBody>
      </p:sp>
      <p:sp>
        <p:nvSpPr>
          <p:cNvPr id="4" name="Rounded Rectangle 3"/>
          <p:cNvSpPr/>
          <p:nvPr/>
        </p:nvSpPr>
        <p:spPr>
          <a:xfrm>
            <a:off x="502920"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МАШИННОЕ СОДЕРЖАНИЕ ИСПОЛЬЗОВАЛИ</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 219 выписках из 384</a:t>
            </a:r>
          </a:p>
        </p:txBody>
      </p:sp>
      <p:sp>
        <p:nvSpPr>
          <p:cNvPr id="7" name="TextBox 6"/>
          <p:cNvSpPr txBox="1"/>
          <p:nvPr/>
        </p:nvSpPr>
        <p:spPr>
          <a:xfrm>
            <a:off x="640080"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сводок было 1 274</a:t>
            </a:r>
          </a:p>
        </p:txBody>
      </p:sp>
      <p:sp>
        <p:nvSpPr>
          <p:cNvPr id="8" name="Rounded Rectangle 7"/>
          <p:cNvSpPr/>
          <p:nvPr/>
        </p:nvSpPr>
        <p:spPr>
          <a:xfrm>
            <a:off x="3340531"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СОТНЕ СВОДОК</a:t>
            </a:r>
          </a:p>
        </p:txBody>
      </p:sp>
      <p:sp>
        <p:nvSpPr>
          <p:cNvPr id="10" name="TextBox 9"/>
          <p:cNvSpPr txBox="1"/>
          <p:nvPr/>
        </p:nvSpPr>
        <p:spPr>
          <a:xfrm>
            <a:off x="3477691" y="1725375"/>
            <a:ext cx="239869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25 пропусков · 20 неточностей · 2 выдумки</a:t>
            </a:r>
          </a:p>
        </p:txBody>
      </p:sp>
      <p:sp>
        <p:nvSpPr>
          <p:cNvPr id="11" name="Rounded Rectangle 10"/>
          <p:cNvSpPr/>
          <p:nvPr/>
        </p:nvSpPr>
        <p:spPr>
          <a:xfrm>
            <a:off x="6178143" y="1335024"/>
            <a:ext cx="2673019" cy="2150299"/>
          </a:xfrm>
          <a:prstGeom prst="roundRect">
            <a:avLst>
              <a:gd name="adj" fmla="val 1417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СТА НЕПРАВЛЕНЫХ СВОДОК</a:t>
            </a:r>
          </a:p>
        </p:txBody>
      </p:sp>
      <p:sp>
        <p:nvSpPr>
          <p:cNvPr id="13" name="TextBox 12"/>
          <p:cNvSpPr txBox="1"/>
          <p:nvPr/>
        </p:nvSpPr>
        <p:spPr>
          <a:xfrm>
            <a:off x="6315303" y="1932846"/>
            <a:ext cx="2398699" cy="715572"/>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88 без потенциала вреда</a:t>
            </a:r>
          </a:p>
        </p:txBody>
      </p:sp>
      <p:sp>
        <p:nvSpPr>
          <p:cNvPr id="14" name="TextBox 13"/>
          <p:cNvSpPr txBox="1"/>
          <p:nvPr/>
        </p:nvSpPr>
        <p:spPr>
          <a:xfrm>
            <a:off x="6315303" y="2648419"/>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умеренный · 0 тяжёлого</a:t>
            </a:r>
          </a:p>
        </p:txBody>
      </p:sp>
      <p:sp>
        <p:nvSpPr>
          <p:cNvPr id="15" name="Rounded Rectangle 14"/>
          <p:cNvSpPr/>
          <p:nvPr/>
        </p:nvSpPr>
        <p:spPr>
          <a:xfrm>
            <a:off x="9015755" y="1335024"/>
            <a:ext cx="2673019" cy="2150299"/>
          </a:xfrm>
          <a:prstGeom prst="roundRect">
            <a:avLst>
              <a:gd name="adj" fmla="val 14174"/>
            </a:avLst>
          </a:prstGeom>
          <a:solidFill>
            <a:srgbClr val="FFFFFF"/>
          </a:solidFill>
          <a:ln w="25400">
            <a:solidFill>
              <a:srgbClr val="F0AB00"/>
            </a:solidFill>
          </a:ln>
          <a:effectLst/>
        </p:spPr>
        <p:txBody>
          <a:bodyPr rtlCol="0" anchor="ctr"/>
          <a:lstStyle/>
          <a:p>
            <a:pPr algn="ctr"/>
          </a:p>
        </p:txBody>
      </p:sp>
      <p:sp>
        <p:nvSpPr>
          <p:cNvPr id="16" name="TextBox 15"/>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ТРОЙКА ЧИСЕЛ О ВРЕДЕ, КОТОРУЮ ЦИТИРУЮТ ОБЗОРЫ</a:t>
            </a:r>
          </a:p>
        </p:txBody>
      </p:sp>
      <p:sp>
        <p:nvSpPr>
          <p:cNvPr id="17" name="TextBox 16"/>
          <p:cNvSpPr txBox="1"/>
          <p:nvPr/>
        </p:nvSpPr>
        <p:spPr>
          <a:xfrm>
            <a:off x="9152915" y="2140317"/>
            <a:ext cx="2398699"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ни в одной из трёх работ не посчитана</a:t>
            </a:r>
          </a:p>
        </p:txBody>
      </p:sp>
      <p:sp>
        <p:nvSpPr>
          <p:cNvPr id="18" name="TextBox 17"/>
          <p:cNvSpPr txBox="1"/>
          <p:nvPr/>
        </p:nvSpPr>
        <p:spPr>
          <a:xfrm>
            <a:off x="502920" y="3704779"/>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Ночью</a:t>
            </a:r>
          </a:p>
        </p:txBody>
      </p:sp>
      <p:sp>
        <p:nvSpPr>
          <p:cNvPr id="19" name="Rounded Rectangle 18"/>
          <p:cNvSpPr/>
          <p:nvPr/>
        </p:nvSpPr>
        <p:spPr>
          <a:xfrm>
            <a:off x="1920240" y="36682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139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Карта и дневники</a:t>
            </a:r>
          </a:p>
        </p:txBody>
      </p:sp>
      <p:sp>
        <p:nvSpPr>
          <p:cNvPr id="21" name="Right Arrow 20"/>
          <p:cNvSpPr/>
          <p:nvPr/>
        </p:nvSpPr>
        <p:spPr>
          <a:xfrm>
            <a:off x="6713067" y="3837319"/>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668203"/>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713923"/>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собирает сводку</a:t>
            </a:r>
          </a:p>
        </p:txBody>
      </p:sp>
      <p:sp>
        <p:nvSpPr>
          <p:cNvPr id="24" name="TextBox 23"/>
          <p:cNvSpPr txBox="1"/>
          <p:nvPr/>
        </p:nvSpPr>
        <p:spPr>
          <a:xfrm>
            <a:off x="502920" y="4326476"/>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Днём</a:t>
            </a:r>
          </a:p>
        </p:txBody>
      </p:sp>
      <p:sp>
        <p:nvSpPr>
          <p:cNvPr id="25" name="Rounded Rectangle 24"/>
          <p:cNvSpPr/>
          <p:nvPr/>
        </p:nvSpPr>
        <p:spPr>
          <a:xfrm>
            <a:off x="1920240"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читает по желанию</a:t>
            </a:r>
          </a:p>
        </p:txBody>
      </p:sp>
      <p:sp>
        <p:nvSpPr>
          <p:cNvPr id="27" name="Right Arrow 26"/>
          <p:cNvSpPr/>
          <p:nvPr/>
        </p:nvSpPr>
        <p:spPr>
          <a:xfrm>
            <a:off x="5039258" y="4459016"/>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5267858"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5350154"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Ищет, чего не было</a:t>
            </a:r>
          </a:p>
        </p:txBody>
      </p:sp>
      <p:sp>
        <p:nvSpPr>
          <p:cNvPr id="30" name="Right Arrow 29"/>
          <p:cNvSpPr/>
          <p:nvPr/>
        </p:nvSpPr>
        <p:spPr>
          <a:xfrm>
            <a:off x="8386876" y="4459016"/>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8615476" y="4289900"/>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8697772" y="4335620"/>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Подпись</a:t>
            </a:r>
          </a:p>
        </p:txBody>
      </p:sp>
      <p:sp>
        <p:nvSpPr>
          <p:cNvPr id="33" name="TextBox 32"/>
          <p:cNvSpPr txBox="1"/>
          <p:nvPr/>
        </p:nvSpPr>
        <p:spPr>
          <a:xfrm>
            <a:off x="502920" y="4801869"/>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вычитка и что она ищет</a:t>
            </a:r>
          </a:p>
        </p:txBody>
      </p:sp>
      <p:sp>
        <p:nvSpPr>
          <p:cNvPr id="34" name="Rounded Rectangle 33"/>
          <p:cNvSpPr/>
          <p:nvPr/>
        </p:nvSpPr>
        <p:spPr>
          <a:xfrm>
            <a:off x="374904" y="5104552"/>
            <a:ext cx="11441887" cy="1131655"/>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195992"/>
            <a:ext cx="11112703" cy="104021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Эпикриз писал и подписывал лечащий врач</a:t>
            </a:r>
            <a:r>
              <a:rPr sz="1500" b="0" i="0">
                <a:solidFill>
                  <a:srgbClr val="21295C"/>
                </a:solidFill>
                <a:latin typeface="Arial"/>
              </a:rPr>
              <a:t>; в учебных клиниках черновик готовил ординатор — режим без числа.</a:t>
            </a:r>
          </a:p>
          <a:p>
            <a:pPr algn="l">
              <a:lnSpc>
                <a:spcPct val="126000"/>
              </a:lnSpc>
              <a:spcBef>
                <a:spcPts val="720"/>
              </a:spcBef>
            </a:pPr>
            <a:r>
              <a:rPr sz="1500" b="0" i="0">
                <a:solidFill>
                  <a:srgbClr val="21295C"/>
                </a:solidFill>
                <a:latin typeface="Arial"/>
              </a:rPr>
              <a:t/>
            </a:r>
            <a:r>
              <a:rPr sz="1500" b="1" i="0">
                <a:solidFill>
                  <a:srgbClr val="21295C"/>
                </a:solidFill>
                <a:latin typeface="Arial"/>
              </a:rPr>
              <a:t>Поправка, шестое искажение входа, работает в нашу пользу.</a:t>
            </a:r>
            <a:r>
              <a:rPr sz="1500" b="0" i="0">
                <a:solidFill>
                  <a:srgbClr val="21295C"/>
                </a:solidFill>
                <a:latin typeface="Arial"/>
              </a:rPr>
              <a:t> Вычитка сменила предмет: глаз настроен на опечатку, искать надо утверждение, которого в истории болезни не было. </a:t>
            </a:r>
            <a:r>
              <a:rPr sz="1500" b="1" i="0">
                <a:solidFill>
                  <a:srgbClr val="21295C"/>
                </a:solidFill>
                <a:latin typeface="Arial"/>
              </a:rPr>
              <a:t>Этому чтению никто не учит.</a:t>
            </a: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Проспективный пилот, JAMA Network Open 2026</a:t>
            </a:r>
            <a:r>
              <a:rPr sz="1200" b="0" i="1">
                <a:solidFill>
                  <a:srgbClr val="1C7293"/>
                </a:solidFill>
                <a:latin typeface="Arial"/>
              </a:rPr>
              <a:t> · </a:t>
            </a:r>
            <a:r>
              <a:rPr sz="1200" b="0" i="1" u="sng">
                <a:solidFill>
                  <a:srgbClr val="065A82"/>
                </a:solidFill>
                <a:latin typeface="Arial"/>
                <a:hlinkClick r:id="rId3"/>
              </a:rPr>
              <a:t>Cureus 2026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голосовой ввод протокола лучевого исследования</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БАЗА: КЛАВИАТУРНЫЙ ВВОД</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мин 15 с на исследование</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одно описание КТ или МРТ</a:t>
            </a:r>
          </a:p>
        </p:txBody>
      </p:sp>
      <p:sp>
        <p:nvSpPr>
          <p:cNvPr id="8" name="Rounded Rectangle 7"/>
          <p:cNvSpPr/>
          <p:nvPr/>
        </p:nvSpPr>
        <p:spPr>
          <a:xfrm>
            <a:off x="4286402"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РАСПОЗНАВАНИЕ РЕЧИ, ТОТ ЖЕ ЗАМЕР</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8 мин 2 с</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 мин 13 с, 21,6 % от базы</a:t>
            </a:r>
          </a:p>
        </p:txBody>
      </p:sp>
      <p:sp>
        <p:nvSpPr>
          <p:cNvPr id="12" name="Rounded Rectangle 11"/>
          <p:cNvSpPr/>
          <p:nvPr/>
        </p:nvSpPr>
        <p:spPr>
          <a:xfrm>
            <a:off x="8069884"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МАСШТАБ К ЯНВАРЮ 2023</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210 тыс. протоколов</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словарь обучен на 2,5 млн протоколов</a:t>
            </a:r>
          </a:p>
        </p:txBody>
      </p:sp>
      <p:sp>
        <p:nvSpPr>
          <p:cNvPr id="16" name="TextBox 15"/>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Без модели</a:t>
            </a:r>
          </a:p>
        </p:txBody>
      </p:sp>
      <p:sp>
        <p:nvSpPr>
          <p:cNvPr id="17" name="Rounded Rectangle 16"/>
          <p:cNvSpPr/>
          <p:nvPr/>
        </p:nvSpPr>
        <p:spPr>
          <a:xfrm>
            <a:off x="1920240"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на экране</a:t>
            </a:r>
          </a:p>
        </p:txBody>
      </p:sp>
      <p:sp>
        <p:nvSpPr>
          <p:cNvPr id="19" name="Right Arrow 18"/>
          <p:cNvSpPr/>
          <p:nvPr/>
        </p:nvSpPr>
        <p:spPr>
          <a:xfrm>
            <a:off x="4202353" y="324319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Набор на клавиатуре</a:t>
            </a:r>
          </a:p>
        </p:txBody>
      </p:sp>
      <p:sp>
        <p:nvSpPr>
          <p:cNvPr id="22" name="Right Arrow 21"/>
          <p:cNvSpPr/>
          <p:nvPr/>
        </p:nvSpPr>
        <p:spPr>
          <a:xfrm>
            <a:off x="6713067" y="324319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и подпись</a:t>
            </a:r>
          </a:p>
        </p:txBody>
      </p:sp>
      <p:sp>
        <p:nvSpPr>
          <p:cNvPr id="25" name="Right Arrow 24"/>
          <p:cNvSpPr/>
          <p:nvPr/>
        </p:nvSpPr>
        <p:spPr>
          <a:xfrm>
            <a:off x="9223781" y="3243197"/>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074081"/>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119801"/>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Протокол в карте</a:t>
            </a:r>
          </a:p>
        </p:txBody>
      </p:sp>
      <p:sp>
        <p:nvSpPr>
          <p:cNvPr id="28" name="TextBox 27"/>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моделью</a:t>
            </a:r>
          </a:p>
        </p:txBody>
      </p:sp>
      <p:sp>
        <p:nvSpPr>
          <p:cNvPr id="29" name="Rounded Rectangle 28"/>
          <p:cNvSpPr/>
          <p:nvPr/>
        </p:nvSpPr>
        <p:spPr>
          <a:xfrm>
            <a:off x="1920240"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Речь в гарнитуру</a:t>
            </a:r>
          </a:p>
        </p:txBody>
      </p:sp>
      <p:sp>
        <p:nvSpPr>
          <p:cNvPr id="31" name="Right Arrow 30"/>
          <p:cNvSpPr/>
          <p:nvPr/>
        </p:nvSpPr>
        <p:spPr>
          <a:xfrm>
            <a:off x="4202353" y="386489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3695778"/>
            <a:ext cx="2236393"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3" name="TextBox 32"/>
          <p:cNvSpPr txBox="1"/>
          <p:nvPr/>
        </p:nvSpPr>
        <p:spPr>
          <a:xfrm>
            <a:off x="4513249" y="3741498"/>
            <a:ext cx="2071801"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Модель распознаёт</a:t>
            </a:r>
          </a:p>
        </p:txBody>
      </p:sp>
      <p:sp>
        <p:nvSpPr>
          <p:cNvPr id="34" name="Right Arrow 33"/>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Правка и подпись</a:t>
            </a:r>
          </a:p>
        </p:txBody>
      </p:sp>
      <p:sp>
        <p:nvSpPr>
          <p:cNvPr id="37" name="Right Arrow 36"/>
          <p:cNvSpPr/>
          <p:nvPr/>
        </p:nvSpPr>
        <p:spPr>
          <a:xfrm>
            <a:off x="9223781" y="386489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3695778"/>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3741498"/>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Протокол в карте</a:t>
            </a:r>
          </a:p>
        </p:txBody>
      </p:sp>
      <p:sp>
        <p:nvSpPr>
          <p:cNvPr id="40" name="TextBox 39"/>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Описание одного исследования двумя порядками</a:t>
            </a:r>
          </a:p>
        </p:txBody>
      </p:sp>
      <p:sp>
        <p:nvSpPr>
          <p:cNvPr id="41" name="Rounded Rectangle 40"/>
          <p:cNvSpPr/>
          <p:nvPr/>
        </p:nvSpPr>
        <p:spPr>
          <a:xfrm>
            <a:off x="374904" y="4510430"/>
            <a:ext cx="11441887" cy="1725777"/>
          </a:xfrm>
          <a:prstGeom prst="roundRect">
            <a:avLst>
              <a:gd name="adj" fmla="val 17661"/>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4601870"/>
            <a:ext cx="5373471" cy="1634337"/>
          </a:xfrm>
          <a:prstGeom prst="rect">
            <a:avLst/>
          </a:prstGeom>
          <a:noFill/>
        </p:spPr>
        <p:txBody>
          <a:bodyPr wrap="square" lIns="0" rIns="0" tIns="0" bIns="0" anchor="t">
            <a:spAutoFit/>
          </a:bodyPr>
          <a:lstStyle/>
          <a:p>
            <a:pPr algn="l">
              <a:lnSpc>
                <a:spcPct val="126000"/>
              </a:lnSpc>
            </a:pPr>
            <a:r>
              <a:rPr sz="1200" b="0" i="1">
                <a:solidFill>
                  <a:srgbClr val="1C7293"/>
                </a:solidFill>
                <a:latin typeface="Arial"/>
              </a:rPr>
              <a:t>Распознавание на звуке: на входе речь врача, на выходе текст протокола.</a:t>
            </a:r>
          </a:p>
          <a:p>
            <a:pPr algn="l">
              <a:lnSpc>
                <a:spcPct val="126000"/>
              </a:lnSpc>
              <a:spcBef>
                <a:spcPts val="720"/>
              </a:spcBef>
            </a:pPr>
            <a:r>
              <a:rPr sz="1500" b="0" i="0">
                <a:solidFill>
                  <a:srgbClr val="21295C"/>
                </a:solidFill>
                <a:latin typeface="Arial"/>
              </a:rPr>
              <a:t/>
            </a:r>
            <a:r>
              <a:rPr sz="1500" b="1" i="0">
                <a:solidFill>
                  <a:srgbClr val="21295C"/>
                </a:solidFill>
                <a:latin typeface="Arial"/>
              </a:rPr>
              <a:t>Сорок лет эта технология проигрывала клавиатуре:</a:t>
            </a:r>
            <a:r>
              <a:rPr sz="1500" b="0" i="0">
                <a:solidFill>
                  <a:srgbClr val="21295C"/>
                </a:solidFill>
                <a:latin typeface="Arial"/>
              </a:rPr>
              <a:t> в 1981 году голосовой ввод шёл вчетверо дольше и давал 12 ошибок против нуля.</a:t>
            </a:r>
          </a:p>
        </p:txBody>
      </p:sp>
      <p:sp>
        <p:nvSpPr>
          <p:cNvPr id="43" name="TextBox 42"/>
          <p:cNvSpPr txBox="1"/>
          <p:nvPr/>
        </p:nvSpPr>
        <p:spPr>
          <a:xfrm>
            <a:off x="6278727" y="4601870"/>
            <a:ext cx="5373471" cy="163433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Как измерено.</a:t>
            </a:r>
            <a:r>
              <a:rPr sz="1500" b="0" i="0">
                <a:solidFill>
                  <a:srgbClr val="21295C"/>
                </a:solidFill>
                <a:latin typeface="Arial"/>
              </a:rPr>
              <a:t> Рентгенологи семи поликлиник описывали исследования двумя способами, время — по секундомеру.</a:t>
            </a:r>
          </a:p>
        </p:txBody>
      </p:sp>
      <p:sp>
        <p:nvSpPr>
          <p:cNvPr id="44" name="Rectangle 43"/>
          <p:cNvSpPr/>
          <p:nvPr/>
        </p:nvSpPr>
        <p:spPr>
          <a:xfrm>
            <a:off x="6091275" y="4601870"/>
            <a:ext cx="9144" cy="1457921"/>
          </a:xfrm>
          <a:prstGeom prst="rect">
            <a:avLst/>
          </a:prstGeom>
          <a:solidFill>
            <a:srgbClr val="D9E2EC"/>
          </a:solidFill>
          <a:ln>
            <a:noFill/>
          </a:ln>
          <a:effectLst/>
        </p:spPr>
        <p:txBody>
          <a:bodyPr rtlCol="0" anchor="ctr"/>
          <a:lstStyle/>
          <a:p>
            <a:pPr algn="ctr"/>
          </a:p>
        </p:txBody>
      </p:sp>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Кудрявцев и соавт., Digital Diagnostics 2023</a:t>
            </a:r>
            <a:r>
              <a:rPr sz="1200" b="0" i="1">
                <a:solidFill>
                  <a:srgbClr val="1C7293"/>
                </a:solidFill>
                <a:latin typeface="Arial"/>
              </a:rPr>
              <a:t> · </a:t>
            </a:r>
            <a:r>
              <a:rPr sz="1200" b="0" i="1" u="sng">
                <a:solidFill>
                  <a:srgbClr val="065A82"/>
                </a:solidFill>
                <a:latin typeface="Arial"/>
                <a:hlinkClick r:id="rId3"/>
              </a:rPr>
              <a:t>ДЗМ 07.01.2023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цена: окончания слов, чужая речь и число без базы</a:t>
            </a:r>
          </a:p>
        </p:txBody>
      </p:sp>
      <p:sp>
        <p:nvSpPr>
          <p:cNvPr id="4" name="Rounded Rectangle 3"/>
          <p:cNvSpPr/>
          <p:nvPr/>
        </p:nvSpPr>
        <p:spPr>
          <a:xfrm>
            <a:off x="502920" y="1335024"/>
            <a:ext cx="5510631"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ОТМЕЧАЮТ РОСТ СВОЕЙ ЭФФЕКТИВНОСТИ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62,8 % опрошенных</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опрос рентгенологов 2022; самоотчёт, не замер времени</a:t>
            </a:r>
          </a:p>
        </p:txBody>
      </p:sp>
      <p:sp>
        <p:nvSpPr>
          <p:cNvPr id="8" name="Rounded Rectangle 7"/>
          <p:cNvSpPr/>
          <p:nvPr/>
        </p:nvSpPr>
        <p:spPr>
          <a:xfrm>
            <a:off x="6178143" y="1335024"/>
            <a:ext cx="5510631"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ВТОРОЕ ВНЕДРЕНИЕ: ДВА ЭНДОСКОПИЧЕСКИХ ЦЕНТРА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−27 % времени протокола</a:t>
            </a:r>
          </a:p>
        </p:txBody>
      </p:sp>
      <p:sp>
        <p:nvSpPr>
          <p:cNvPr id="11" name="TextBox 10"/>
          <p:cNvSpPr txBox="1"/>
          <p:nvPr/>
        </p:nvSpPr>
        <p:spPr>
          <a:xfrm>
            <a:off x="6315303" y="2152374"/>
            <a:ext cx="5236311"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180–200 исследований в день на центр; СКОЛЬКО БЫЛО МИНУТ — не опубликовано</a:t>
            </a:r>
          </a:p>
        </p:txBody>
      </p:sp>
      <p:sp>
        <p:nvSpPr>
          <p:cNvPr id="12" name="TextBox 11"/>
          <p:cNvSpPr txBox="1"/>
          <p:nvPr/>
        </p:nvSpPr>
        <p:spPr>
          <a:xfrm>
            <a:off x="502920" y="2931477"/>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сказано</a:t>
            </a:r>
          </a:p>
        </p:txBody>
      </p:sp>
      <p:sp>
        <p:nvSpPr>
          <p:cNvPr id="13" name="Rounded Rectangle 12"/>
          <p:cNvSpPr/>
          <p:nvPr/>
        </p:nvSpPr>
        <p:spPr>
          <a:xfrm>
            <a:off x="2011680" y="2894901"/>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4" name="Rounded Rectangle 13"/>
          <p:cNvSpPr/>
          <p:nvPr/>
        </p:nvSpPr>
        <p:spPr>
          <a:xfrm>
            <a:off x="2103120" y="2922333"/>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5" name="TextBox 14"/>
          <p:cNvSpPr txBox="1"/>
          <p:nvPr/>
        </p:nvSpPr>
        <p:spPr>
          <a:xfrm>
            <a:off x="2185416" y="2968053"/>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окончания слов</a:t>
            </a:r>
          </a:p>
        </p:txBody>
      </p:sp>
      <p:sp>
        <p:nvSpPr>
          <p:cNvPr id="16" name="Rounded Rectangle 15"/>
          <p:cNvSpPr/>
          <p:nvPr/>
        </p:nvSpPr>
        <p:spPr>
          <a:xfrm>
            <a:off x="6895947" y="2922333"/>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17" name="TextBox 16"/>
          <p:cNvSpPr txBox="1"/>
          <p:nvPr/>
        </p:nvSpPr>
        <p:spPr>
          <a:xfrm>
            <a:off x="6978243" y="2968053"/>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чужая речь в кабинете</a:t>
            </a:r>
          </a:p>
        </p:txBody>
      </p:sp>
      <p:sp>
        <p:nvSpPr>
          <p:cNvPr id="18" name="TextBox 17"/>
          <p:cNvSpPr txBox="1"/>
          <p:nvPr/>
        </p:nvSpPr>
        <p:spPr>
          <a:xfrm>
            <a:off x="502920" y="3553269"/>
            <a:ext cx="1307592" cy="43891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Чем записано</a:t>
            </a:r>
          </a:p>
        </p:txBody>
      </p:sp>
      <p:sp>
        <p:nvSpPr>
          <p:cNvPr id="19" name="Rounded Rectangle 18"/>
          <p:cNvSpPr/>
          <p:nvPr/>
        </p:nvSpPr>
        <p:spPr>
          <a:xfrm>
            <a:off x="2011680" y="3516693"/>
            <a:ext cx="9677095" cy="512064"/>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20" name="Rounded Rectangle 19"/>
          <p:cNvSpPr/>
          <p:nvPr/>
        </p:nvSpPr>
        <p:spPr>
          <a:xfrm>
            <a:off x="2103120" y="3544125"/>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1" name="TextBox 20"/>
          <p:cNvSpPr txBox="1"/>
          <p:nvPr/>
        </p:nvSpPr>
        <p:spPr>
          <a:xfrm>
            <a:off x="2185416" y="3589845"/>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шум оборудования</a:t>
            </a:r>
          </a:p>
        </p:txBody>
      </p:sp>
      <p:sp>
        <p:nvSpPr>
          <p:cNvPr id="22" name="Rounded Rectangle 21"/>
          <p:cNvSpPr/>
          <p:nvPr/>
        </p:nvSpPr>
        <p:spPr>
          <a:xfrm>
            <a:off x="6895947" y="3544125"/>
            <a:ext cx="4701387" cy="457200"/>
          </a:xfrm>
          <a:prstGeom prst="roundRect">
            <a:avLst>
              <a:gd name="adj" fmla="val 25000"/>
            </a:avLst>
          </a:prstGeom>
          <a:solidFill>
            <a:srgbClr val="FFFFFF"/>
          </a:solidFill>
          <a:ln w="16510">
            <a:solidFill>
              <a:srgbClr val="1C7293"/>
            </a:solidFill>
          </a:ln>
          <a:effectLst/>
        </p:spPr>
        <p:txBody>
          <a:bodyPr rtlCol="0" anchor="ctr"/>
          <a:lstStyle/>
          <a:p>
            <a:pPr algn="ctr"/>
          </a:p>
        </p:txBody>
      </p:sp>
      <p:sp>
        <p:nvSpPr>
          <p:cNvPr id="23" name="TextBox 22"/>
          <p:cNvSpPr txBox="1"/>
          <p:nvPr/>
        </p:nvSpPr>
        <p:spPr>
          <a:xfrm>
            <a:off x="6978243" y="3589845"/>
            <a:ext cx="4536795" cy="365760"/>
          </a:xfrm>
          <a:prstGeom prst="rect">
            <a:avLst/>
          </a:prstGeom>
          <a:noFill/>
        </p:spPr>
        <p:txBody>
          <a:bodyPr wrap="square" lIns="0" rIns="0" tIns="0" bIns="0" anchor="ctr">
            <a:spAutoFit/>
          </a:bodyPr>
          <a:lstStyle/>
          <a:p>
            <a:pPr algn="ctr">
              <a:lnSpc>
                <a:spcPct val="110000"/>
              </a:lnSpc>
            </a:pPr>
            <a:r>
              <a:rPr sz="1350" b="0" i="0">
                <a:solidFill>
                  <a:srgbClr val="21295C"/>
                </a:solidFill>
                <a:latin typeface="Arial"/>
              </a:rPr>
              <a:t>дешёвый микрофон</a:t>
            </a:r>
          </a:p>
        </p:txBody>
      </p:sp>
      <p:sp>
        <p:nvSpPr>
          <p:cNvPr id="24" name="TextBox 23"/>
          <p:cNvSpPr txBox="1"/>
          <p:nvPr/>
        </p:nvSpPr>
        <p:spPr>
          <a:xfrm>
            <a:off x="502920" y="4101909"/>
            <a:ext cx="11185855" cy="215015"/>
          </a:xfrm>
          <a:prstGeom prst="rect">
            <a:avLst/>
          </a:prstGeom>
          <a:noFill/>
        </p:spPr>
        <p:txBody>
          <a:bodyPr wrap="square" lIns="0" rIns="0" tIns="0" bIns="0" anchor="t">
            <a:spAutoFit/>
          </a:bodyPr>
          <a:lstStyle/>
          <a:p>
            <a:pPr algn="l">
              <a:lnSpc>
                <a:spcPct val="114000"/>
              </a:lnSpc>
            </a:pPr>
            <a:r>
              <a:rPr sz="1200" b="0" i="1">
                <a:solidFill>
                  <a:srgbClr val="1C7293"/>
                </a:solidFill>
                <a:latin typeface="Arial"/>
              </a:rPr>
              <a:t>Два независимых источника порчи результата — и ни один не в модели</a:t>
            </a:r>
          </a:p>
        </p:txBody>
      </p:sp>
      <p:sp>
        <p:nvSpPr>
          <p:cNvPr id="25" name="Rounded Rectangle 24"/>
          <p:cNvSpPr/>
          <p:nvPr/>
        </p:nvSpPr>
        <p:spPr>
          <a:xfrm>
            <a:off x="374904" y="4408365"/>
            <a:ext cx="11441887" cy="1622703"/>
          </a:xfrm>
          <a:prstGeom prst="roundRect">
            <a:avLst>
              <a:gd name="adj" fmla="val 18783"/>
            </a:avLst>
          </a:prstGeom>
          <a:solidFill>
            <a:srgbClr val="F4F7FA"/>
          </a:solidFill>
          <a:ln w="19050">
            <a:solidFill>
              <a:srgbClr val="1C7293"/>
            </a:solidFill>
          </a:ln>
          <a:effectLst/>
        </p:spPr>
        <p:txBody>
          <a:bodyPr rtlCol="0" anchor="ctr"/>
          <a:lstStyle/>
          <a:p>
            <a:pPr algn="ctr"/>
          </a:p>
        </p:txBody>
      </p:sp>
      <p:sp>
        <p:nvSpPr>
          <p:cNvPr id="26" name="TextBox 25"/>
          <p:cNvSpPr txBox="1"/>
          <p:nvPr/>
        </p:nvSpPr>
        <p:spPr>
          <a:xfrm>
            <a:off x="539496" y="4499805"/>
            <a:ext cx="5373471" cy="173640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Охотнее всех берут инструмент врачи 30–40 лет.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62,8 процента — доля врачей, которые ТАК СЧИТАЮТ, а не измеренное время.</a:t>
            </a:r>
          </a:p>
        </p:txBody>
      </p:sp>
      <p:sp>
        <p:nvSpPr>
          <p:cNvPr id="27" name="TextBox 26"/>
          <p:cNvSpPr txBox="1"/>
          <p:nvPr/>
        </p:nvSpPr>
        <p:spPr>
          <a:xfrm>
            <a:off x="6278727" y="4499805"/>
            <a:ext cx="5373471" cy="173640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Второе внедрение заявляет −27 % времени протокола. От скольких минут? Назовите вслух — и сверим с тем, что опубликовано.</a:t>
            </a:r>
          </a:p>
        </p:txBody>
      </p:sp>
      <p:sp>
        <p:nvSpPr>
          <p:cNvPr id="28" name="Rectangle 27"/>
          <p:cNvSpPr/>
          <p:nvPr/>
        </p:nvSpPr>
        <p:spPr>
          <a:xfrm>
            <a:off x="6091275" y="4499805"/>
            <a:ext cx="9144" cy="1348383"/>
          </a:xfrm>
          <a:prstGeom prst="rect">
            <a:avLst/>
          </a:prstGeom>
          <a:solidFill>
            <a:srgbClr val="D9E2EC"/>
          </a:solidFill>
          <a:ln>
            <a:noFill/>
          </a:ln>
          <a:effectLst/>
        </p:spPr>
        <p:txBody>
          <a:bodyPr rtlCol="0" anchor="ctr"/>
          <a:lstStyle/>
          <a:p>
            <a:pPr algn="ctr"/>
          </a:p>
        </p:txBody>
      </p:sp>
      <p:sp>
        <p:nvSpPr>
          <p:cNvPr id="29" name="Rectangle 2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0" name="TextBox 2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Кудрявцев, Бардасова, Хоружая, Digital Diagnostics 2023;4(2)</a:t>
            </a:r>
            <a:r>
              <a:rPr sz="1200" b="0" i="1">
                <a:solidFill>
                  <a:srgbClr val="1C7293"/>
                </a:solidFill>
                <a:latin typeface="Arial"/>
              </a:rPr>
              <a:t> · </a:t>
            </a:r>
            <a:r>
              <a:rPr sz="1200" b="0" i="1" u="sng">
                <a:solidFill>
                  <a:srgbClr val="065A82"/>
                </a:solidFill>
                <a:latin typeface="Arial"/>
                <a:hlinkClick r:id="rId3"/>
              </a:rPr>
              <a:t>НИИОЗММ ДЗМ, «Московская медицина», эндоскопические центры, 2022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Надиктовка, которая предлагает диагноз: допуск и замеры</a:t>
            </a:r>
          </a:p>
        </p:txBody>
      </p:sp>
      <p:sp>
        <p:nvSpPr>
          <p:cNvPr id="4" name="Rounded Rectangle 3"/>
          <p:cNvSpPr/>
          <p:nvPr/>
        </p:nvSpPr>
        <p:spPr>
          <a:xfrm>
            <a:off x="502920" y="1335024"/>
            <a:ext cx="3618890"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ПРОВЕРЕНО ЗАРУБЕЖНЫХ СИСТЕМ</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16</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разрешений на предложение из речи — ноль; независимых замеров точности — ноль</a:t>
            </a:r>
          </a:p>
        </p:txBody>
      </p:sp>
      <p:sp>
        <p:nvSpPr>
          <p:cNvPr id="8" name="Rounded Rectangle 7"/>
          <p:cNvSpPr/>
          <p:nvPr/>
        </p:nvSpPr>
        <p:spPr>
          <a:xfrm>
            <a:off x="4286402"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ПРОВЕРЕНО ОТЕЧЕСТВЕННЫХ ИМЁН С ГОЛОСОВЫМ ВХОДОМ</a:t>
            </a:r>
          </a:p>
        </p:txBody>
      </p:sp>
      <p:sp>
        <p:nvSpPr>
          <p:cNvPr id="10" name="TextBox 9"/>
          <p:cNvSpPr txBox="1"/>
          <p:nvPr/>
        </p:nvSpPr>
        <p:spPr>
          <a:xfrm>
            <a:off x="4423562"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a:t>
            </a:r>
          </a:p>
        </p:txBody>
      </p:sp>
      <p:sp>
        <p:nvSpPr>
          <p:cNvPr id="11" name="TextBox 10"/>
          <p:cNvSpPr txBox="1"/>
          <p:nvPr/>
        </p:nvSpPr>
        <p:spPr>
          <a:xfrm>
            <a:off x="4423562" y="2359845"/>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систем «речь → предложение» нет ни одной</a:t>
            </a:r>
          </a:p>
        </p:txBody>
      </p:sp>
      <p:sp>
        <p:nvSpPr>
          <p:cNvPr id="12" name="Rounded Rectangle 11"/>
          <p:cNvSpPr/>
          <p:nvPr/>
        </p:nvSpPr>
        <p:spPr>
          <a:xfrm>
            <a:off x="8069884" y="1335024"/>
            <a:ext cx="3618890"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МОСКОВСКАЯ ТОП-3: СОГЛАСИЕ ВРАЧА С ПОДСКАЗКОЙ</a:t>
            </a:r>
          </a:p>
        </p:txBody>
      </p:sp>
      <p:sp>
        <p:nvSpPr>
          <p:cNvPr id="14" name="TextBox 13"/>
          <p:cNvSpPr txBox="1"/>
          <p:nvPr/>
        </p:nvSpPr>
        <p:spPr>
          <a:xfrm>
            <a:off x="8207044"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46 % · 68 %</a:t>
            </a:r>
          </a:p>
        </p:txBody>
      </p:sp>
      <p:sp>
        <p:nvSpPr>
          <p:cNvPr id="15" name="TextBox 14"/>
          <p:cNvSpPr txBox="1"/>
          <p:nvPr/>
        </p:nvSpPr>
        <p:spPr>
          <a:xfrm>
            <a:off x="8207044"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одном диагнозе и при выборе из трёх; голосового входа у неё нет</a:t>
            </a:r>
          </a:p>
        </p:txBody>
      </p:sp>
      <p:sp>
        <p:nvSpPr>
          <p:cNvPr id="16" name="Rounded Rectangle 15"/>
          <p:cNvSpPr/>
          <p:nvPr/>
        </p:nvSpPr>
        <p:spPr>
          <a:xfrm>
            <a:off x="374904" y="3559572"/>
            <a:ext cx="11441887" cy="1919764"/>
          </a:xfrm>
          <a:prstGeom prst="roundRect">
            <a:avLst>
              <a:gd name="adj" fmla="val 15876"/>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651012"/>
            <a:ext cx="5373471" cy="258519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Граница медизделия проведена по подписи.</a:t>
            </a:r>
            <a:r>
              <a:rPr sz="1500" b="0" i="0">
                <a:solidFill>
                  <a:srgbClr val="21295C"/>
                </a:solidFill>
                <a:latin typeface="Arial"/>
              </a:rPr>
              <a:t> Предложить </a:t>
            </a:r>
            <a:r>
              <a:rPr sz="1500" b="1" i="0">
                <a:solidFill>
                  <a:srgbClr val="21295C"/>
                </a:solidFill>
                <a:latin typeface="Arial"/>
              </a:rPr>
              <a:t>код</a:t>
            </a:r>
            <a:r>
              <a:rPr sz="1500" b="0" i="0">
                <a:solidFill>
                  <a:srgbClr val="21295C"/>
                </a:solidFill>
                <a:latin typeface="Arial"/>
              </a:rPr>
              <a:t> под проверку врача — документация. Предложить </a:t>
            </a:r>
            <a:r>
              <a:rPr sz="1500" b="1" i="0">
                <a:solidFill>
                  <a:srgbClr val="21295C"/>
                </a:solidFill>
                <a:latin typeface="Arial"/>
              </a:rPr>
              <a:t>диагноз</a:t>
            </a:r>
            <a:r>
              <a:rPr sz="1500" b="0" i="0">
                <a:solidFill>
                  <a:srgbClr val="21295C"/>
                </a:solidFill>
                <a:latin typeface="Arial"/>
              </a:rPr>
              <a:t> под проверку врача — </a:t>
            </a:r>
            <a:r>
              <a:rPr sz="1500" b="1" i="0">
                <a:solidFill>
                  <a:srgbClr val="21295C"/>
                </a:solidFill>
                <a:latin typeface="Arial"/>
              </a:rPr>
              <a:t>уже медизделие</a:t>
            </a:r>
            <a:r>
              <a:rPr sz="1500" b="0" i="0">
                <a:solidFill>
                  <a:srgbClr val="21295C"/>
                </a:solidFill>
                <a:latin typeface="Arial"/>
              </a:rPr>
              <a:t>, даже когда проверка обязательна.</a:t>
            </a:r>
          </a:p>
        </p:txBody>
      </p:sp>
      <p:sp>
        <p:nvSpPr>
          <p:cNvPr id="18" name="TextBox 17"/>
          <p:cNvSpPr txBox="1"/>
          <p:nvPr/>
        </p:nvSpPr>
        <p:spPr>
          <a:xfrm>
            <a:off x="6278727" y="3651012"/>
            <a:ext cx="5373471" cy="258519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Делают это сейчас Glass Health и Corti</a:t>
            </a:r>
            <a:r>
              <a:rPr sz="1500" b="0" i="0">
                <a:solidFill>
                  <a:srgbClr val="21295C"/>
                </a:solidFill>
                <a:latin typeface="Arial"/>
              </a:rPr>
              <a:t> — достраивают предположительный диагноз по ходу живой речи. </a:t>
            </a:r>
            <a:r>
              <a:rPr sz="1500" b="0" i="1">
                <a:solidFill>
                  <a:srgbClr val="21295C"/>
                </a:solidFill>
                <a:latin typeface="Arial"/>
              </a:rPr>
              <a:t>Замеров точности нет ни у одной.</a:t>
            </a:r>
          </a:p>
          <a:p>
            <a:pPr algn="l">
              <a:lnSpc>
                <a:spcPct val="126000"/>
              </a:lnSpc>
              <a:spcBef>
                <a:spcPts val="3600"/>
              </a:spcBef>
            </a:pPr>
            <a:r>
              <a:rPr sz="1500" b="0" i="0">
                <a:solidFill>
                  <a:srgbClr val="21295C"/>
                </a:solidFill>
                <a:latin typeface="Arial"/>
              </a:rPr>
              <a:t/>
            </a:r>
            <a:r>
              <a:rPr sz="1500" b="1" i="0">
                <a:solidFill>
                  <a:srgbClr val="21295C"/>
                </a:solidFill>
                <a:latin typeface="Arial"/>
              </a:rPr>
              <a:t>46 % — согласие врача с подсказкой, а не её точность.</a:t>
            </a:r>
          </a:p>
        </p:txBody>
      </p:sp>
      <p:sp>
        <p:nvSpPr>
          <p:cNvPr id="19" name="Rectangle 18"/>
          <p:cNvSpPr/>
          <p:nvPr/>
        </p:nvSpPr>
        <p:spPr>
          <a:xfrm>
            <a:off x="6091275" y="3651012"/>
            <a:ext cx="9144" cy="1645444"/>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Британская рамка по системам фоновой записи речи, 29.07.2026</a:t>
            </a:r>
            <a:r>
              <a:rPr sz="1200" b="0" i="1">
                <a:solidFill>
                  <a:srgbClr val="1C7293"/>
                </a:solidFill>
                <a:latin typeface="Arial"/>
              </a:rPr>
              <a:t> · </a:t>
            </a:r>
            <a:r>
              <a:rPr sz="1200" b="0" i="1" u="sng">
                <a:solidFill>
                  <a:srgbClr val="065A82"/>
                </a:solidFill>
                <a:latin typeface="Arial"/>
                <a:hlinkClick r:id="rId3"/>
              </a:rPr>
              <a:t>ТОП-3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Вывод раздела: что получается, что не получается, куда переехала нагрузка</a:t>
            </a:r>
          </a:p>
        </p:txBody>
      </p:sp>
      <p:sp>
        <p:nvSpPr>
          <p:cNvPr id="4" name="Rounded Rectangle 3"/>
          <p:cNvSpPr/>
          <p:nvPr/>
        </p:nvSpPr>
        <p:spPr>
          <a:xfrm>
            <a:off x="502920"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ВСЯ ИЗМЕРЕННАЯ ЭКОНОМИЯ СТАДИИ</a:t>
            </a:r>
          </a:p>
        </p:txBody>
      </p:sp>
      <p:sp>
        <p:nvSpPr>
          <p:cNvPr id="6" name="TextBox 5"/>
          <p:cNvSpPr txBox="1"/>
          <p:nvPr/>
        </p:nvSpPr>
        <p:spPr>
          <a:xfrm>
            <a:off x="640080" y="1932846"/>
            <a:ext cx="239869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9,5 % времени в заметке</a:t>
            </a:r>
          </a:p>
        </p:txBody>
      </p:sp>
      <p:sp>
        <p:nvSpPr>
          <p:cNvPr id="7" name="TextBox 6"/>
          <p:cNvSpPr txBox="1"/>
          <p:nvPr/>
        </p:nvSpPr>
        <p:spPr>
          <a:xfrm>
            <a:off x="640080"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против контрольной группы, 4 мин 22 с; у второго инструмента её нет</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АКТИВНОЕ ВРЕМЯ ПРАВКИ</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сдвинулось ни у одного</a:t>
            </a:r>
          </a:p>
        </p:txBody>
      </p:sp>
      <p:sp>
        <p:nvSpPr>
          <p:cNvPr id="11" name="Rounded Rectangle 10"/>
          <p:cNvSpPr/>
          <p:nvPr/>
        </p:nvSpPr>
        <p:spPr>
          <a:xfrm>
            <a:off x="6178143"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ПОЛНОТА ДОКУМЕНТА: ЧЕЛОВЕК → МОДЕЛЬ</a:t>
            </a:r>
          </a:p>
        </p:txBody>
      </p:sp>
      <p:sp>
        <p:nvSpPr>
          <p:cNvPr id="13" name="TextBox 12"/>
          <p:cNvSpPr txBox="1"/>
          <p:nvPr/>
        </p:nvSpPr>
        <p:spPr>
          <a:xfrm>
            <a:off x="6315303" y="1932846"/>
            <a:ext cx="239869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 3,72</a:t>
            </a:r>
          </a:p>
        </p:txBody>
      </p:sp>
      <p:sp>
        <p:nvSpPr>
          <p:cNvPr id="14" name="TextBox 13"/>
          <p:cNvSpPr txBox="1"/>
          <p:nvPr/>
        </p:nvSpPr>
        <p:spPr>
          <a:xfrm>
            <a:off x="6315303" y="2359845"/>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слепое сравнение ста госпитализаций</a:t>
            </a:r>
          </a:p>
        </p:txBody>
      </p:sp>
      <p:sp>
        <p:nvSpPr>
          <p:cNvPr id="15" name="Rounded Rectangle 14"/>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6" name="TextBox 15"/>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ОТЕЧЕСТВЕННЫЙ ХРОНОМЕТРАЖ ПРОТОКОЛА</a:t>
            </a:r>
          </a:p>
        </p:txBody>
      </p:sp>
      <p:sp>
        <p:nvSpPr>
          <p:cNvPr id="17" name="TextBox 16"/>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мин 15 с → 8 мин 2 с</a:t>
            </a:r>
          </a:p>
        </p:txBody>
      </p:sp>
      <p:sp>
        <p:nvSpPr>
          <p:cNvPr id="18" name="TextBox 17"/>
          <p:cNvSpPr txBox="1"/>
          <p:nvPr/>
        </p:nvSpPr>
        <p:spPr>
          <a:xfrm>
            <a:off x="9152915" y="2750268"/>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клавиатура против речи</a:t>
            </a:r>
          </a:p>
        </p:txBody>
      </p:sp>
      <p:sp>
        <p:nvSpPr>
          <p:cNvPr id="19" name="Rounded Rectangle 18"/>
          <p:cNvSpPr/>
          <p:nvPr/>
        </p:nvSpPr>
        <p:spPr>
          <a:xfrm>
            <a:off x="374904" y="3704039"/>
            <a:ext cx="11441887" cy="2216825"/>
          </a:xfrm>
          <a:prstGeom prst="roundRect">
            <a:avLst>
              <a:gd name="adj" fmla="val 13749"/>
            </a:avLst>
          </a:prstGeom>
          <a:solidFill>
            <a:srgbClr val="F4F7FA"/>
          </a:solidFill>
          <a:ln w="19050">
            <a:solidFill>
              <a:srgbClr val="1C7293"/>
            </a:solidFill>
          </a:ln>
          <a:effectLst/>
        </p:spPr>
        <p:txBody>
          <a:bodyPr rtlCol="0" anchor="ctr"/>
          <a:lstStyle/>
          <a:p>
            <a:pPr algn="ctr"/>
          </a:p>
        </p:txBody>
      </p:sp>
      <p:sp>
        <p:nvSpPr>
          <p:cNvPr id="20" name="TextBox 19"/>
          <p:cNvSpPr txBox="1"/>
          <p:nvPr/>
        </p:nvSpPr>
        <p:spPr>
          <a:xfrm>
            <a:off x="539496" y="3795479"/>
            <a:ext cx="5373471" cy="244072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Черновик готов к концу приёма; структуру больше не надо держать в голове при живом человеке — единственный убранный шаг.</a:t>
            </a:r>
          </a:p>
          <a:p>
            <a:pPr algn="l">
              <a:lnSpc>
                <a:spcPct val="126000"/>
              </a:lnSpc>
              <a:spcBef>
                <a:spcPts val="360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Полнее человека модель не пишет. Заявленные 15 791 час подтвердить нечем.</a:t>
            </a:r>
          </a:p>
        </p:txBody>
      </p:sp>
      <p:sp>
        <p:nvSpPr>
          <p:cNvPr id="21" name="TextBox 20"/>
          <p:cNvSpPr txBox="1"/>
          <p:nvPr/>
        </p:nvSpPr>
        <p:spPr>
          <a:xfrm>
            <a:off x="6278727" y="3795479"/>
            <a:ext cx="5373471" cy="244072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Нагрузка переехала</a:t>
            </a:r>
            <a:r>
              <a:rPr sz="1500" b="0" i="0">
                <a:solidFill>
                  <a:srgbClr val="21295C"/>
                </a:solidFill>
                <a:latin typeface="Arial"/>
              </a:rPr>
              <a:t> с набора на вычитку чужого; появился выборочный контроль заметок со штатом. Дальше по циклу — чем эту вычитку удерживают: </a:t>
            </a:r>
            <a:r>
              <a:rPr sz="1500" b="1" i="0">
                <a:solidFill>
                  <a:srgbClr val="21295C"/>
                </a:solidFill>
                <a:latin typeface="Arial"/>
              </a:rPr>
              <a:t>подпись.</a:t>
            </a:r>
          </a:p>
          <a:p>
            <a:pPr algn="l">
              <a:lnSpc>
                <a:spcPct val="126000"/>
              </a:lnSpc>
              <a:spcBef>
                <a:spcPts val="720"/>
              </a:spcBef>
            </a:pPr>
            <a:r>
              <a:rPr sz="1200" b="0" i="0">
                <a:solidFill>
                  <a:srgbClr val="21295C"/>
                </a:solidFill>
                <a:latin typeface="Arial"/>
              </a:rPr>
              <a:t/>
            </a:r>
            <a:r>
              <a:rPr sz="1200" b="0" i="1">
                <a:solidFill>
                  <a:srgbClr val="1C7293"/>
                </a:solidFill>
                <a:latin typeface="Arial"/>
              </a:rPr>
              <a:t>Вычитке другого рода не учат нигде.</a:t>
            </a:r>
          </a:p>
          <a:p>
            <a:pPr algn="l">
              <a:lnSpc>
                <a:spcPct val="126000"/>
              </a:lnSpc>
              <a:spcBef>
                <a:spcPts val="72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поправку: врач правит машинное.</a:t>
            </a:r>
          </a:p>
        </p:txBody>
      </p:sp>
      <p:sp>
        <p:nvSpPr>
          <p:cNvPr id="22" name="Rectangle 21"/>
          <p:cNvSpPr/>
          <p:nvPr/>
        </p:nvSpPr>
        <p:spPr>
          <a:xfrm>
            <a:off x="6091275" y="3795479"/>
            <a:ext cx="9144" cy="1942505"/>
          </a:xfrm>
          <a:prstGeom prst="rect">
            <a:avLst/>
          </a:prstGeom>
          <a:solidFill>
            <a:srgbClr val="D9E2EC"/>
          </a:solidFill>
          <a:ln>
            <a:noFill/>
          </a:ln>
          <a:effectLst/>
        </p:spPr>
        <p:txBody>
          <a:bodyPr rtlCol="0" anchor="ctr"/>
          <a:lstStyle/>
          <a:p>
            <a:pPr algn="ctr"/>
          </a:p>
        </p:txBody>
      </p:sp>
      <p:sp>
        <p:nvSpPr>
          <p:cNvPr id="23" name="Rectangle 22"/>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s88-endoskopicheskiy-kabinet.jpg"/>
          <p:cNvPicPr>
            <a:picLocks noChangeAspect="1"/>
          </p:cNvPicPr>
          <p:nvPr/>
        </p:nvPicPr>
        <p:blipFill>
          <a:blip r:embed="rId2"/>
          <a:srcRect l="24335" r="24335"/>
          <a:stretch>
            <a:fillRect/>
          </a:stretch>
        </p:blipFill>
        <p:spPr>
          <a:xfrm>
            <a:off x="7498079" y="0"/>
            <a:ext cx="4693615" cy="6858000"/>
          </a:xfrm>
          <a:prstGeom prst="rect">
            <a:avLst/>
          </a:prstGeom>
        </p:spPr>
      </p:pic>
      <p:sp>
        <p:nvSpPr>
          <p:cNvPr id="4" name="Rectangle 3"/>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5" name="TextBox 4"/>
          <p:cNvSpPr txBox="1"/>
          <p:nvPr/>
        </p:nvSpPr>
        <p:spPr>
          <a:xfrm>
            <a:off x="704088" y="960120"/>
            <a:ext cx="6483096" cy="933620"/>
          </a:xfrm>
          <a:prstGeom prst="rect">
            <a:avLst/>
          </a:prstGeom>
          <a:noFill/>
        </p:spPr>
        <p:txBody>
          <a:bodyPr wrap="square" lIns="0" rIns="0" tIns="0" bIns="0" anchor="t">
            <a:spAutoFit/>
          </a:bodyPr>
          <a:lstStyle/>
          <a:p>
            <a:pPr algn="l">
              <a:lnSpc>
                <a:spcPct val="110000"/>
              </a:lnSpc>
            </a:pPr>
            <a:r>
              <a:rPr sz="2700" b="1" i="0">
                <a:solidFill>
                  <a:srgbClr val="21295C"/>
                </a:solidFill>
                <a:latin typeface="Arial"/>
              </a:rPr>
              <a:t>5. Профессиональная квалификация: поддержание и износ</a:t>
            </a:r>
          </a:p>
        </p:txBody>
      </p:sp>
      <p:sp>
        <p:nvSpPr>
          <p:cNvPr id="6" name="Rectangle 5"/>
          <p:cNvSpPr/>
          <p:nvPr/>
        </p:nvSpPr>
        <p:spPr>
          <a:xfrm>
            <a:off x="704088" y="1985180"/>
            <a:ext cx="1188720" cy="59436"/>
          </a:xfrm>
          <a:prstGeom prst="rect">
            <a:avLst/>
          </a:prstGeom>
          <a:solidFill>
            <a:srgbClr val="F0AB00"/>
          </a:solidFill>
          <a:ln>
            <a:noFill/>
          </a:ln>
          <a:effectLst/>
        </p:spPr>
        <p:txBody>
          <a:bodyPr rtlCol="0" anchor="ctr"/>
          <a:lstStyle/>
          <a:p>
            <a:pPr algn="ctr"/>
          </a:p>
        </p:txBody>
      </p:sp>
      <p:sp>
        <p:nvSpPr>
          <p:cNvPr id="7" name="TextBox 6"/>
          <p:cNvSpPr txBox="1"/>
          <p:nvPr/>
        </p:nvSpPr>
        <p:spPr>
          <a:xfrm>
            <a:off x="704088" y="2259500"/>
            <a:ext cx="6483096" cy="96113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Что стало с теми, кто решает.</a:t>
            </a:r>
            <a:r>
              <a:rPr sz="1550" b="0" i="0">
                <a:solidFill>
                  <a:srgbClr val="21295C"/>
                </a:solidFill>
                <a:latin typeface="Arial"/>
              </a:rPr>
              <a:t> Лекция мерила работу. Что стало с человеком внутри неё, говорят три замера — и у каждого своя слабость.</a:t>
            </a:r>
          </a:p>
        </p:txBody>
      </p:sp>
      <p:sp>
        <p:nvSpPr>
          <p:cNvPr id="8" name="TextBox 7"/>
          <p:cNvSpPr txBox="1"/>
          <p:nvPr/>
        </p:nvSpPr>
        <p:spPr>
          <a:xfrm>
            <a:off x="704088" y="3348652"/>
            <a:ext cx="6483096" cy="659045"/>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3 разбора · 2 классических режима с числами · обзор допуска по трём странам</a:t>
            </a:r>
          </a:p>
        </p:txBody>
      </p:sp>
      <p:sp>
        <p:nvSpPr>
          <p:cNvPr id="9" name="TextBox 8"/>
          <p:cNvSpPr txBox="1"/>
          <p:nvPr/>
        </p:nvSpPr>
        <p:spPr>
          <a:xfrm>
            <a:off x="704088" y="4135714"/>
            <a:ext cx="6483096" cy="186740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Пример 1: разработчики на незнакомой библиотеке</a:t>
            </a:r>
            <a:r>
              <a:rPr sz="1550" b="0" i="0">
                <a:solidFill>
                  <a:srgbClr val="21295C"/>
                </a:solidFill>
                <a:latin typeface="Arial"/>
              </a:rPr>
              <a:t> — вторая половина пары, измеренная жребием, и снята она не в клинике. </a:t>
            </a:r>
            <a:r>
              <a:rPr sz="1550" b="1" i="0">
                <a:solidFill>
                  <a:srgbClr val="21295C"/>
                </a:solidFill>
                <a:latin typeface="Arial"/>
              </a:rPr>
              <a:t>Пример 2: доля упала без помощника</a:t>
            </a:r>
            <a:r>
              <a:rPr sz="1550" b="0" i="0">
                <a:solidFill>
                  <a:srgbClr val="21295C"/>
                </a:solidFill>
                <a:latin typeface="Arial"/>
              </a:rPr>
              <a:t> — единственный замер износа на реальной клинической работе. </a:t>
            </a:r>
            <a:r>
              <a:rPr sz="1550" b="1" i="0">
                <a:solidFill>
                  <a:srgbClr val="21295C"/>
                </a:solidFill>
                <a:latin typeface="Arial"/>
              </a:rPr>
              <a:t>Пример 3: ArtInCol, Россия — помощник на той же процедуре</a:t>
            </a:r>
            <a:r>
              <a:rPr sz="1550" b="0" i="0">
                <a:solidFill>
                  <a:srgbClr val="21295C"/>
                </a:solidFill>
                <a:latin typeface="Arial"/>
              </a:rPr>
              <a:t> — та же величина, испытание сильнее, расход не мерен.</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Квалификация: что замеряют и чем</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6869887" cy="2886891"/>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Здесь измеряют самого исполнителя: в форме ли он.</a:t>
            </a:r>
            <a:r>
              <a:rPr sz="1350" b="0" i="0">
                <a:solidFill>
                  <a:srgbClr val="21295C"/>
                </a:solidFill>
                <a:latin typeface="Arial"/>
              </a:rPr>
              <a:t> Навык расходуется молча.</a:t>
            </a:r>
          </a:p>
          <a:p>
            <a:pPr algn="l">
              <a:lnSpc>
                <a:spcPct val="126000"/>
              </a:lnSpc>
              <a:spcBef>
                <a:spcPts val="720"/>
              </a:spcBef>
            </a:pPr>
            <a:r>
              <a:rPr sz="1350" b="0" i="0">
                <a:solidFill>
                  <a:srgbClr val="21295C"/>
                </a:solidFill>
                <a:latin typeface="Arial"/>
              </a:rPr>
              <a:t/>
            </a:r>
            <a:r>
              <a:rPr sz="1350" b="1" i="0">
                <a:solidFill>
                  <a:srgbClr val="21295C"/>
                </a:solidFill>
                <a:latin typeface="Arial"/>
              </a:rPr>
              <a:t>Аденома — предраковое утолщение слизистой: снятая сегодня, она не станет раком через годы.</a:t>
            </a:r>
          </a:p>
          <a:p>
            <a:pPr algn="l">
              <a:lnSpc>
                <a:spcPct val="126000"/>
              </a:lnSpc>
              <a:spcBef>
                <a:spcPts val="720"/>
              </a:spcBef>
            </a:pPr>
            <a:r>
              <a:rPr sz="1350" b="0" i="0">
                <a:solidFill>
                  <a:srgbClr val="21295C"/>
                </a:solidFill>
                <a:latin typeface="Arial"/>
              </a:rPr>
              <a:t/>
            </a:r>
            <a:r>
              <a:rPr sz="1350" b="1" i="0">
                <a:solidFill>
                  <a:srgbClr val="21295C"/>
                </a:solidFill>
                <a:latin typeface="Arial"/>
              </a:rPr>
              <a:t>Данные берут четырьмя способами, и все работают на обычном потоке:</a:t>
            </a:r>
            <a:r>
              <a:rPr sz="1350" b="0" i="0">
                <a:solidFill>
                  <a:srgbClr val="21295C"/>
                </a:solidFill>
                <a:latin typeface="Arial"/>
              </a:rPr>
              <a:t> аудит решений по работе — доля процедур с находкой · замер времени по таймеру · счёт процедур за год · периодическое подтверждение. </a:t>
            </a:r>
            <a:r>
              <a:rPr sz="1350" b="1" i="0">
                <a:solidFill>
                  <a:srgbClr val="21295C"/>
                </a:solidFill>
                <a:latin typeface="Arial"/>
              </a:rPr>
              <a:t>Разбор случая приходит после исхода и в счёт не входит.</a:t>
            </a:r>
          </a:p>
          <a:p>
            <a:pPr algn="l">
              <a:lnSpc>
                <a:spcPct val="126000"/>
              </a:lnSpc>
              <a:spcBef>
                <a:spcPts val="720"/>
              </a:spcBef>
            </a:pPr>
            <a:r>
              <a:rPr sz="1350" b="0" i="0">
                <a:solidFill>
                  <a:srgbClr val="21295C"/>
                </a:solidFill>
                <a:latin typeface="Arial"/>
              </a:rPr>
              <a:t/>
            </a:r>
            <a:r>
              <a:rPr sz="1350" b="1" i="0">
                <a:solidFill>
                  <a:srgbClr val="21295C"/>
                </a:solidFill>
                <a:latin typeface="Arial"/>
              </a:rPr>
              <a:t>Долю находок не поднять старанием:</a:t>
            </a:r>
            <a:r>
              <a:rPr sz="1350" b="0" i="0">
                <a:solidFill>
                  <a:srgbClr val="21295C"/>
                </a:solidFill>
                <a:latin typeface="Arial"/>
              </a:rPr>
              <a:t> аденома попадает в знаменатель и тогда, когда врач за складку не заглянул. Время осмотра — дисциплина, держать проще.</a:t>
            </a:r>
          </a:p>
        </p:txBody>
      </p:sp>
      <p:sp>
        <p:nvSpPr>
          <p:cNvPr id="6" name="TextBox 5"/>
          <p:cNvSpPr txBox="1"/>
          <p:nvPr/>
        </p:nvSpPr>
        <p:spPr>
          <a:xfrm>
            <a:off x="539496" y="4313355"/>
            <a:ext cx="11112703" cy="1922852"/>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Решение:</a:t>
            </a:r>
            <a:r>
              <a:rPr sz="1350" b="0" i="0">
                <a:solidFill>
                  <a:srgbClr val="21295C"/>
                </a:solidFill>
                <a:latin typeface="Arial"/>
              </a:rPr>
              <a:t> допускать, сузить допуск, приостановить, не продлить.</a:t>
            </a:r>
          </a:p>
          <a:p>
            <a:pPr algn="l">
              <a:lnSpc>
                <a:spcPct val="126000"/>
              </a:lnSpc>
              <a:spcBef>
                <a:spcPts val="720"/>
              </a:spcBef>
            </a:pPr>
            <a:r>
              <a:rPr sz="1350" b="0" i="0">
                <a:solidFill>
                  <a:srgbClr val="21295C"/>
                </a:solidFill>
                <a:latin typeface="Arial"/>
              </a:rPr>
              <a:t/>
            </a:r>
            <a:r>
              <a:rPr sz="1350" b="1" i="0">
                <a:solidFill>
                  <a:srgbClr val="21295C"/>
                </a:solidFill>
                <a:latin typeface="Arial"/>
              </a:rPr>
              <a:t>Почему стадия стоит здесь:</a:t>
            </a:r>
            <a:r>
              <a:rPr sz="1350" b="0" i="0">
                <a:solidFill>
                  <a:srgbClr val="21295C"/>
                </a:solidFill>
                <a:latin typeface="Arial"/>
              </a:rPr>
              <a:t> износ копится по всем стадиям сразу — собрать его можно, только когда все они прошли.</a:t>
            </a:r>
          </a:p>
          <a:p>
            <a:pPr algn="l">
              <a:lnSpc>
                <a:spcPct val="126000"/>
              </a:lnSpc>
              <a:spcBef>
                <a:spcPts val="720"/>
              </a:spcBef>
            </a:pPr>
            <a:r>
              <a:rPr sz="1350" b="0" i="0">
                <a:solidFill>
                  <a:srgbClr val="21295C"/>
                </a:solidFill>
                <a:latin typeface="Arial"/>
              </a:rPr>
              <a:t/>
            </a:r>
            <a:r>
              <a:rPr sz="1350" b="1" i="0">
                <a:solidFill>
                  <a:srgbClr val="21295C"/>
                </a:solidFill>
                <a:latin typeface="Arial"/>
              </a:rPr>
              <a:t>Из четырёх способов один меряет результат, остальные — поведение и объём. Какой именно — и почему подменять его двумя другими проще всего?</a:t>
            </a:r>
          </a:p>
        </p:txBody>
      </p:sp>
      <p:sp>
        <p:nvSpPr>
          <p:cNvPr id="7" name="Rounded Rectangle 6"/>
          <p:cNvSpPr/>
          <p:nvPr/>
        </p:nvSpPr>
        <p:spPr>
          <a:xfrm>
            <a:off x="7756855" y="1335024"/>
            <a:ext cx="3931920" cy="2886891"/>
          </a:xfrm>
          <a:prstGeom prst="roundRect">
            <a:avLst>
              <a:gd name="adj" fmla="val 10558"/>
            </a:avLst>
          </a:prstGeom>
          <a:solidFill>
            <a:srgbClr val="F4F7FA"/>
          </a:solidFill>
          <a:ln w="19050">
            <a:solidFill>
              <a:srgbClr val="1C7293"/>
            </a:solidFill>
          </a:ln>
          <a:effectLst/>
        </p:spPr>
        <p:txBody>
          <a:bodyPr rtlCol="0" anchor="ctr"/>
          <a:lstStyle/>
          <a:p>
            <a:pPr algn="ctr"/>
          </a:p>
        </p:txBody>
      </p:sp>
      <p:pic>
        <p:nvPicPr>
          <p:cNvPr id="8" name="Picture 7" descr="s89-standart-pokazateley-kolonoskopii.png"/>
          <p:cNvPicPr>
            <a:picLocks noChangeAspect="1"/>
          </p:cNvPicPr>
          <p:nvPr/>
        </p:nvPicPr>
        <p:blipFill>
          <a:blip r:embed="rId2"/>
          <a:stretch>
            <a:fillRect/>
          </a:stretch>
        </p:blipFill>
        <p:spPr>
          <a:xfrm>
            <a:off x="7894015" y="1472184"/>
            <a:ext cx="3657600" cy="2612571"/>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0" name="TextBox 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снимке — стандарт BCSP-S14 «Scope withdrawal time» национальной программы скрининга рака кишечника, GOV.UK</a:t>
            </a:r>
            <a:r>
              <a:rPr sz="1200" b="0" i="1">
                <a:solidFill>
                  <a:srgbClr val="1C7293"/>
                </a:solidFill>
                <a:latin typeface="Arial"/>
              </a:rPr>
              <a:t> · </a:t>
            </a:r>
            <a:r>
              <a:rPr sz="1200" b="0" i="1" u="sng">
                <a:solidFill>
                  <a:srgbClr val="065A82"/>
                </a:solidFill>
                <a:latin typeface="Arial"/>
                <a:hlinkClick r:id="rId3"/>
              </a:rPr>
              <a:t>показатели качества колоноскопии, Gastrointestinal Endoscopy 2015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Врач вернулся после года: чем держат форму и куда встала модель</a:t>
            </a:r>
          </a:p>
        </p:txBody>
      </p:sp>
      <p:sp>
        <p:nvSpPr>
          <p:cNvPr id="4" name="Rounded Rectangle 3"/>
          <p:cNvSpPr/>
          <p:nvPr/>
        </p:nvSpPr>
        <p:spPr>
          <a:xfrm>
            <a:off x="374904" y="1609343"/>
            <a:ext cx="11441887" cy="4159331"/>
          </a:xfrm>
          <a:prstGeom prst="roundRect">
            <a:avLst>
              <a:gd name="adj" fmla="val 732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700784"/>
            <a:ext cx="5373471" cy="45354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Врач вернулся после года без процедур</a:t>
            </a:r>
            <a:r>
              <a:rPr sz="1500" b="0" i="0">
                <a:solidFill>
                  <a:srgbClr val="21295C"/>
                </a:solidFill>
                <a:latin typeface="Arial"/>
              </a:rPr>
              <a:t> — административная должность, болезнь, отпуск по уходу. Диплом тот же, допуск не отзывали: отзывать было не за что.</a:t>
            </a:r>
          </a:p>
          <a:p>
            <a:pPr algn="l">
              <a:lnSpc>
                <a:spcPct val="126000"/>
              </a:lnSpc>
              <a:spcBef>
                <a:spcPts val="3600"/>
              </a:spcBef>
            </a:pPr>
            <a:r>
              <a:rPr sz="1500" b="0" i="0">
                <a:solidFill>
                  <a:srgbClr val="21295C"/>
                </a:solidFill>
                <a:latin typeface="Arial"/>
              </a:rPr>
              <a:t/>
            </a:r>
            <a:r>
              <a:rPr sz="1500" b="1" i="0">
                <a:solidFill>
                  <a:srgbClr val="21295C"/>
                </a:solidFill>
                <a:latin typeface="Arial"/>
              </a:rPr>
              <a:t>Первая процедура идёт иначе:</a:t>
            </a:r>
            <a:r>
              <a:rPr sz="1500" b="0" i="0">
                <a:solidFill>
                  <a:srgbClr val="21295C"/>
                </a:solidFill>
                <a:latin typeface="Arial"/>
              </a:rPr>
              <a:t> прибор медленнее, рука дольше ищет угол, складку он проходит мимо. Осложнений нет, протокол написан, </a:t>
            </a:r>
            <a:r>
              <a:rPr sz="1500" b="1" i="0">
                <a:solidFill>
                  <a:srgbClr val="21295C"/>
                </a:solidFill>
                <a:latin typeface="Arial"/>
              </a:rPr>
              <a:t>и он этого не знает.</a:t>
            </a:r>
            <a:r>
              <a:rPr sz="1500" b="0" i="0">
                <a:solidFill>
                  <a:srgbClr val="21295C"/>
                </a:solidFill>
                <a:latin typeface="Arial"/>
              </a:rPr>
              <a:t> Плохой осмотр выглядит ровно как хороший осмотр, в котором ничего не нашли.</a:t>
            </a:r>
          </a:p>
        </p:txBody>
      </p:sp>
      <p:sp>
        <p:nvSpPr>
          <p:cNvPr id="6" name="TextBox 5"/>
          <p:cNvSpPr txBox="1"/>
          <p:nvPr/>
        </p:nvSpPr>
        <p:spPr>
          <a:xfrm>
            <a:off x="6278727" y="1700784"/>
            <a:ext cx="5373471" cy="45354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Поэтому форму держат три опоры, и ни одна не спрашивает человека:</a:t>
            </a:r>
            <a:r>
              <a:rPr sz="1500" b="0" i="0">
                <a:solidFill>
                  <a:srgbClr val="21295C"/>
                </a:solidFill>
                <a:latin typeface="Arial"/>
              </a:rPr>
              <a:t> объём практики за год, допуск от организации, периодическое подтверждение.</a:t>
            </a:r>
          </a:p>
          <a:p>
            <a:pPr algn="l">
              <a:lnSpc>
                <a:spcPct val="126000"/>
              </a:lnSpc>
              <a:spcBef>
                <a:spcPts val="3600"/>
              </a:spcBef>
            </a:pPr>
            <a:r>
              <a:rPr sz="1500" b="0" i="0">
                <a:solidFill>
                  <a:srgbClr val="21295C"/>
                </a:solidFill>
                <a:latin typeface="Arial"/>
              </a:rPr>
              <a:t/>
            </a:r>
            <a:r>
              <a:rPr sz="1500" b="1" i="0">
                <a:solidFill>
                  <a:srgbClr val="21295C"/>
                </a:solidFill>
                <a:latin typeface="Arial"/>
              </a:rPr>
              <a:t>Россия:</a:t>
            </a:r>
            <a:r>
              <a:rPr sz="1500" b="0" i="0">
                <a:solidFill>
                  <a:srgbClr val="21295C"/>
                </a:solidFill>
                <a:latin typeface="Arial"/>
              </a:rPr>
              <a:t> периодическая аккредитация раз в пять лет — 144 часа учёбы плюс портфолио. </a:t>
            </a:r>
            <a:r>
              <a:rPr sz="1500" b="1" i="0">
                <a:solidFill>
                  <a:srgbClr val="21295C"/>
                </a:solidFill>
                <a:latin typeface="Arial"/>
              </a:rPr>
              <a:t>Отчёт о работе специалист пишет сам. Числового порога по результату — ни доли находок, ни времени выведения прибора — в требованиях нет.</a:t>
            </a:r>
          </a:p>
          <a:p>
            <a:pPr algn="l">
              <a:lnSpc>
                <a:spcPct val="126000"/>
              </a:lnSpc>
              <a:spcBef>
                <a:spcPts val="3600"/>
              </a:spcBef>
            </a:pPr>
            <a:r>
              <a:rPr sz="1500" b="0" i="0">
                <a:solidFill>
                  <a:srgbClr val="21295C"/>
                </a:solidFill>
                <a:latin typeface="Arial"/>
              </a:rPr>
              <a:t/>
            </a:r>
            <a:r>
              <a:rPr sz="1500" b="1" i="0">
                <a:solidFill>
                  <a:srgbClr val="21295C"/>
                </a:solidFill>
                <a:latin typeface="Arial"/>
              </a:rPr>
              <a:t>Модель заняла одно действие из восьми</a:t>
            </a:r>
            <a:r>
              <a:rPr sz="1500" b="0" i="0">
                <a:solidFill>
                  <a:srgbClr val="21295C"/>
                </a:solidFill>
                <a:latin typeface="Arial"/>
              </a:rPr>
              <a:t> — осмотр при выведении. </a:t>
            </a:r>
            <a:r>
              <a:rPr sz="1500" b="1" i="0">
                <a:solidFill>
                  <a:srgbClr val="21295C"/>
                </a:solidFill>
                <a:latin typeface="Arial"/>
              </a:rPr>
              <a:t>Добавилось одно: доверять ли рамке.</a:t>
            </a:r>
          </a:p>
        </p:txBody>
      </p:sp>
      <p:sp>
        <p:nvSpPr>
          <p:cNvPr id="7" name="Rectangle 6"/>
          <p:cNvSpPr/>
          <p:nvPr/>
        </p:nvSpPr>
        <p:spPr>
          <a:xfrm>
            <a:off x="6091275" y="1700784"/>
            <a:ext cx="9144" cy="3885011"/>
          </a:xfrm>
          <a:prstGeom prst="rect">
            <a:avLst/>
          </a:prstGeom>
          <a:solidFill>
            <a:srgbClr val="D9E2EC"/>
          </a:solidFill>
          <a:ln>
            <a:noFill/>
          </a:ln>
          <a:effectLst/>
        </p:spPr>
        <p:txBody>
          <a:bodyPr rtlCol="0" anchor="ctr"/>
          <a:lstStyle/>
          <a:p>
            <a:pPr algn="ctr"/>
          </a:p>
        </p:txBody>
      </p:sp>
      <p:sp>
        <p:nvSpPr>
          <p:cNvPr id="8" name="Rectangle 7"/>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Рекомендации профессионального общества, Gastrointestinal Endoscopy 2015</a:t>
            </a:r>
            <a:r>
              <a:rPr sz="1200" b="0" i="1">
                <a:solidFill>
                  <a:srgbClr val="1C7293"/>
                </a:solidFill>
                <a:latin typeface="Arial"/>
              </a:rPr>
              <a:t> · </a:t>
            </a:r>
            <a:r>
              <a:rPr sz="1200" b="0" i="1">
                <a:solidFill>
                  <a:srgbClr val="1C7293"/>
                </a:solidFill>
                <a:latin typeface="Arial"/>
              </a:rPr>
              <a:t>Приказ Минздрава России от 28.10.2022 № 709н «Об утверждении Положения об аккредитации специалистов»</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1: разработчики на незнакомой библиотеке</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ПИСАЛИ РУКАМИ: ВЕРНЫХ НА ПРОВЕРКЕ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67 из ста</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шире на заданиях «найди ошибку»</a:t>
            </a:r>
          </a:p>
        </p:txBody>
      </p:sp>
      <p:sp>
        <p:nvSpPr>
          <p:cNvPr id="8" name="Rounded Rectangle 7"/>
          <p:cNvSpPr/>
          <p:nvPr/>
        </p:nvSpPr>
        <p:spPr>
          <a:xfrm>
            <a:off x="4286402"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ПОМОЩНИКОМ: ТА ЖЕ ПРОВЕРКА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 из ста</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размер эффекта 0,738, значимость 0,01; по времени выигрыша нет</a:t>
            </a:r>
          </a:p>
        </p:txBody>
      </p:sp>
      <p:sp>
        <p:nvSpPr>
          <p:cNvPr id="12" name="Rounded Rectangle 11"/>
          <p:cNvSpPr/>
          <p:nvPr/>
        </p:nvSpPr>
        <p:spPr>
          <a:xfrm>
            <a:off x="8069884"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СПРАШИВАЛИ ЛИШЬ ПРО ПОНЯТИЯ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выше 65 из ста</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 человек; кто отдавал задачу целиком — четверо — ниже 40 из ста</a:t>
            </a:r>
          </a:p>
        </p:txBody>
      </p:sp>
      <p:sp>
        <p:nvSpPr>
          <p:cNvPr id="16" name="TextBox 15"/>
          <p:cNvSpPr txBox="1"/>
          <p:nvPr/>
        </p:nvSpPr>
        <p:spPr>
          <a:xfrm>
            <a:off x="502920" y="293147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Половина жребием</a:t>
            </a:r>
          </a:p>
        </p:txBody>
      </p:sp>
      <p:sp>
        <p:nvSpPr>
          <p:cNvPr id="17" name="Rounded Rectangle 16"/>
          <p:cNvSpPr/>
          <p:nvPr/>
        </p:nvSpPr>
        <p:spPr>
          <a:xfrm>
            <a:off x="1920240"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задача на незнакомой библиотеке</a:t>
            </a:r>
          </a:p>
        </p:txBody>
      </p:sp>
      <p:sp>
        <p:nvSpPr>
          <p:cNvPr id="19" name="Right Arrow 18"/>
          <p:cNvSpPr/>
          <p:nvPr/>
        </p:nvSpPr>
        <p:spPr>
          <a:xfrm>
            <a:off x="5039258" y="306401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289490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294062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помощник рядом</a:t>
            </a:r>
          </a:p>
        </p:txBody>
      </p:sp>
      <p:sp>
        <p:nvSpPr>
          <p:cNvPr id="22" name="Right Arrow 21"/>
          <p:cNvSpPr/>
          <p:nvPr/>
        </p:nvSpPr>
        <p:spPr>
          <a:xfrm>
            <a:off x="8386876" y="306401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289490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294062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проверка без него</a:t>
            </a:r>
          </a:p>
        </p:txBody>
      </p:sp>
      <p:sp>
        <p:nvSpPr>
          <p:cNvPr id="25" name="TextBox 24"/>
          <p:cNvSpPr txBox="1"/>
          <p:nvPr/>
        </p:nvSpPr>
        <p:spPr>
          <a:xfrm>
            <a:off x="502920" y="355317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Вторая половина</a:t>
            </a:r>
          </a:p>
        </p:txBody>
      </p:sp>
      <p:sp>
        <p:nvSpPr>
          <p:cNvPr id="26" name="Rounded Rectangle 25"/>
          <p:cNvSpPr/>
          <p:nvPr/>
        </p:nvSpPr>
        <p:spPr>
          <a:xfrm>
            <a:off x="1920240"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 же задача</a:t>
            </a:r>
          </a:p>
        </p:txBody>
      </p:sp>
      <p:sp>
        <p:nvSpPr>
          <p:cNvPr id="28" name="Right Arrow 27"/>
          <p:cNvSpPr/>
          <p:nvPr/>
        </p:nvSpPr>
        <p:spPr>
          <a:xfrm>
            <a:off x="5039258" y="368571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5350154"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документация и свой разбор</a:t>
            </a:r>
          </a:p>
        </p:txBody>
      </p:sp>
      <p:sp>
        <p:nvSpPr>
          <p:cNvPr id="31" name="Right Arrow 30"/>
          <p:cNvSpPr/>
          <p:nvPr/>
        </p:nvSpPr>
        <p:spPr>
          <a:xfrm>
            <a:off x="8386876" y="368571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516598"/>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562318"/>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 же проверка</a:t>
            </a:r>
          </a:p>
        </p:txBody>
      </p:sp>
      <p:sp>
        <p:nvSpPr>
          <p:cNvPr id="34" name="TextBox 33"/>
          <p:cNvSpPr txBox="1"/>
          <p:nvPr/>
        </p:nvSpPr>
        <p:spPr>
          <a:xfrm>
            <a:off x="502920" y="402856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Что с чем сравнивали</a:t>
            </a:r>
          </a:p>
        </p:txBody>
      </p:sp>
      <p:sp>
        <p:nvSpPr>
          <p:cNvPr id="35" name="Rounded Rectangle 34"/>
          <p:cNvSpPr/>
          <p:nvPr/>
        </p:nvSpPr>
        <p:spPr>
          <a:xfrm>
            <a:off x="374904" y="4331250"/>
            <a:ext cx="11441887" cy="1904957"/>
          </a:xfrm>
          <a:prstGeom prst="roundRect">
            <a:avLst>
              <a:gd name="adj" fmla="val 16000"/>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422690"/>
            <a:ext cx="5373471" cy="1813517"/>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Навык расходуется молча — и у того, у кого он ещё не сложился, тоже.</a:t>
            </a:r>
            <a:r>
              <a:rPr sz="1150" b="0" i="0">
                <a:solidFill>
                  <a:srgbClr val="21295C"/>
                </a:solidFill>
                <a:latin typeface="Arial"/>
              </a:rPr>
              <a:t> Что делали: 52 участника — младшие инженеры, незнакомые с библиотекой асинхронного программирования, — распределили жребием: половина с помощником, половина руками. Проверяли всех без помощника.</a:t>
            </a:r>
          </a:p>
          <a:p>
            <a:pPr algn="l">
              <a:lnSpc>
                <a:spcPct val="126000"/>
              </a:lnSpc>
              <a:spcBef>
                <a:spcPts val="720"/>
              </a:spcBef>
            </a:pPr>
            <a:r>
              <a:rPr sz="1150" b="0" i="0">
                <a:solidFill>
                  <a:srgbClr val="21295C"/>
                </a:solidFill>
                <a:latin typeface="Arial"/>
              </a:rPr>
              <a:t/>
            </a:r>
            <a:r>
              <a:rPr sz="1150" b="1" i="0">
                <a:solidFill>
                  <a:srgbClr val="21295C"/>
                </a:solidFill>
                <a:latin typeface="Arial"/>
              </a:rPr>
              <a:t>Предмет замера здесь — программирование, а не медицина.</a:t>
            </a:r>
            <a:r>
              <a:rPr sz="1150" b="0" i="0">
                <a:solidFill>
                  <a:srgbClr val="21295C"/>
                </a:solidFill>
                <a:latin typeface="Arial"/>
              </a:rPr>
              <a:t> Вторая половина пары — результат без помощника — измерена жребием: у двух врачебных разборов дальше так её не измерит ни один.</a:t>
            </a:r>
          </a:p>
        </p:txBody>
      </p:sp>
      <p:sp>
        <p:nvSpPr>
          <p:cNvPr id="37" name="TextBox 36"/>
          <p:cNvSpPr txBox="1"/>
          <p:nvPr/>
        </p:nvSpPr>
        <p:spPr>
          <a:xfrm>
            <a:off x="6278727" y="4422690"/>
            <a:ext cx="5373471" cy="1813517"/>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Здесь измерен несложившийся навык:</a:t>
            </a:r>
            <a:r>
              <a:rPr sz="1150" b="0" i="0">
                <a:solidFill>
                  <a:srgbClr val="21295C"/>
                </a:solidFill>
                <a:latin typeface="Arial"/>
              </a:rPr>
              <a:t> библиотеки не знал никто, износу взяться неоткуда; формы словаря такому случаю нет.</a:t>
            </a:r>
          </a:p>
          <a:p>
            <a:pPr algn="l">
              <a:lnSpc>
                <a:spcPct val="126000"/>
              </a:lnSpc>
              <a:spcBef>
                <a:spcPts val="720"/>
              </a:spcBef>
            </a:pPr>
            <a:r>
              <a:rPr sz="1150" b="0" i="0">
                <a:solidFill>
                  <a:srgbClr val="21295C"/>
                </a:solidFill>
                <a:latin typeface="Arial"/>
              </a:rPr>
              <a:t/>
            </a:r>
            <a:r>
              <a:rPr sz="1150" b="1" i="0">
                <a:solidFill>
                  <a:srgbClr val="21295C"/>
                </a:solidFill>
                <a:latin typeface="Arial"/>
              </a:rPr>
              <a:t>Тот же расход бывает и без модели.</a:t>
            </a:r>
            <a:r>
              <a:rPr sz="1150" b="0" i="0">
                <a:solidFill>
                  <a:srgbClr val="21295C"/>
                </a:solidFill>
                <a:latin typeface="Arial"/>
              </a:rPr>
              <a:t> В цитологии Великобритании поток на чтение упал на 80–85 из ста после перехода на тест на вирус папилломы, центров осталось 8 из 45. </a:t>
            </a:r>
            <a:r>
              <a:rPr sz="1150" b="1" i="0">
                <a:solidFill>
                  <a:srgbClr val="21295C"/>
                </a:solidFill>
                <a:latin typeface="Arial"/>
              </a:rPr>
              <a:t>Навык расходует переданный объём работы, а не модель.</a:t>
            </a:r>
          </a:p>
        </p:txBody>
      </p:sp>
      <p:sp>
        <p:nvSpPr>
          <p:cNvPr id="38" name="Rectangle 37"/>
          <p:cNvSpPr/>
          <p:nvPr/>
        </p:nvSpPr>
        <p:spPr>
          <a:xfrm>
            <a:off x="6091275" y="4422690"/>
            <a:ext cx="9144" cy="1685668"/>
          </a:xfrm>
          <a:prstGeom prst="rect">
            <a:avLst/>
          </a:prstGeom>
          <a:solidFill>
            <a:srgbClr val="D9E2EC"/>
          </a:solidFill>
          <a:ln>
            <a:noFill/>
          </a:ln>
          <a:effectLst/>
        </p:spPr>
        <p:txBody>
          <a:bodyPr rtlCol="0" anchor="ctr"/>
          <a:lstStyle/>
          <a:p>
            <a:pPr algn="ct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Shen и Tamkin, arXiv:2601.20245, 2026</a:t>
            </a:r>
            <a:r>
              <a:rPr sz="1200" b="0" i="1">
                <a:solidFill>
                  <a:srgbClr val="1C7293"/>
                </a:solidFill>
                <a:latin typeface="Arial"/>
              </a:rPr>
              <a:t> · </a:t>
            </a:r>
            <a:r>
              <a:rPr sz="1200" b="0" i="1" u="sng">
                <a:solidFill>
                  <a:srgbClr val="065A82"/>
                </a:solidFill>
                <a:latin typeface="Arial"/>
                <a:hlinkClick r:id="rId3"/>
              </a:rPr>
              <a:t>Heudel и соавт., ESMO Real World Data and Digital Oncology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Осмотр при выведении прибора: цена промаха и два порядка работы без модели</a:t>
            </a:r>
          </a:p>
        </p:txBody>
      </p:sp>
      <p:sp>
        <p:nvSpPr>
          <p:cNvPr id="4" name="Rounded Rectangle 3"/>
          <p:cNvSpPr/>
          <p:nvPr/>
        </p:nvSpPr>
        <p:spPr>
          <a:xfrm>
            <a:off x="502920"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ПРОПУСТИТЬ АДЕНОМУ</a:t>
            </a:r>
          </a:p>
        </p:txBody>
      </p:sp>
      <p:sp>
        <p:nvSpPr>
          <p:cNvPr id="6" name="TextBox 5"/>
          <p:cNvSpPr txBox="1"/>
          <p:nvPr/>
        </p:nvSpPr>
        <p:spPr>
          <a:xfrm>
            <a:off x="640080" y="1725375"/>
            <a:ext cx="2398699"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останется в человеке до следующего обследования</a:t>
            </a:r>
          </a:p>
        </p:txBody>
      </p:sp>
      <p:sp>
        <p:nvSpPr>
          <p:cNvPr id="7" name="Rounded Rectangle 6"/>
          <p:cNvSpPr/>
          <p:nvPr/>
        </p:nvSpPr>
        <p:spPr>
          <a:xfrm>
            <a:off x="3340531" y="1335024"/>
            <a:ext cx="2673019" cy="2182363"/>
          </a:xfrm>
          <a:prstGeom prst="roundRect">
            <a:avLst>
              <a:gd name="adj" fmla="val 13966"/>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УВИДЕТЬ ЛИШНЕЕ</a:t>
            </a:r>
          </a:p>
        </p:txBody>
      </p:sp>
      <p:sp>
        <p:nvSpPr>
          <p:cNvPr id="9" name="TextBox 8"/>
          <p:cNvSpPr txBox="1"/>
          <p:nvPr/>
        </p:nvSpPr>
        <p:spPr>
          <a:xfrm>
            <a:off x="3477691" y="1725375"/>
            <a:ext cx="2398699" cy="1105996"/>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снятие, кровотечение, повторный визит</a:t>
            </a:r>
          </a:p>
        </p:txBody>
      </p:sp>
      <p:sp>
        <p:nvSpPr>
          <p:cNvPr id="10" name="Rounded Rectangle 9"/>
          <p:cNvSpPr/>
          <p:nvPr/>
        </p:nvSpPr>
        <p:spPr>
          <a:xfrm>
            <a:off x="6178143"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315303"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ПРОЦЕДУР С НАХОДКОЙ: ПРИБОР ВЫВОДЯТ ДОЛЬШЕ</a:t>
            </a:r>
          </a:p>
        </p:txBody>
      </p:sp>
      <p:sp>
        <p:nvSpPr>
          <p:cNvPr id="12" name="TextBox 11"/>
          <p:cNvSpPr txBox="1"/>
          <p:nvPr/>
        </p:nvSpPr>
        <p:spPr>
          <a:xfrm>
            <a:off x="6315303"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271 → 366 из тысячи</a:t>
            </a:r>
          </a:p>
        </p:txBody>
      </p:sp>
      <p:sp>
        <p:nvSpPr>
          <p:cNvPr id="13" name="TextBox 12"/>
          <p:cNvSpPr txBox="1"/>
          <p:nvPr/>
        </p:nvSpPr>
        <p:spPr>
          <a:xfrm>
            <a:off x="6315303"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1 027 пациентов, жребием; девять минут вместо шести</a:t>
            </a:r>
          </a:p>
        </p:txBody>
      </p:sp>
      <p:sp>
        <p:nvSpPr>
          <p:cNvPr id="14" name="Rounded Rectangle 13"/>
          <p:cNvSpPr/>
          <p:nvPr/>
        </p:nvSpPr>
        <p:spPr>
          <a:xfrm>
            <a:off x="9015755" y="1335024"/>
            <a:ext cx="2673019" cy="2182363"/>
          </a:xfrm>
          <a:prstGeom prst="roundRect">
            <a:avLst>
              <a:gd name="adj" fmla="val 13966"/>
            </a:avLst>
          </a:prstGeom>
          <a:solidFill>
            <a:srgbClr val="F4F7FA"/>
          </a:solidFill>
          <a:ln w="15240">
            <a:solidFill>
              <a:srgbClr val="1C7293"/>
            </a:solidFill>
          </a:ln>
          <a:effectLst/>
        </p:spPr>
        <p:txBody>
          <a:bodyPr rtlCol="0" anchor="ctr"/>
          <a:lstStyle/>
          <a:p>
            <a:pPr algn="ctr"/>
          </a:p>
        </p:txBody>
      </p:sp>
      <p:sp>
        <p:nvSpPr>
          <p:cNvPr id="15" name="TextBox 14"/>
          <p:cNvSpPr txBox="1"/>
          <p:nvPr/>
        </p:nvSpPr>
        <p:spPr>
          <a:xfrm>
            <a:off x="9152915" y="1472184"/>
            <a:ext cx="239869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ПРОЦЕДУР С НАХОДКОЙ: НА ЭКРАН СМОТРИТ И МЕДСЕСТРА</a:t>
            </a:r>
          </a:p>
        </p:txBody>
      </p:sp>
      <p:sp>
        <p:nvSpPr>
          <p:cNvPr id="16" name="TextBox 15"/>
          <p:cNvSpPr txBox="1"/>
          <p:nvPr/>
        </p:nvSpPr>
        <p:spPr>
          <a:xfrm>
            <a:off x="9152915" y="2140317"/>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393 → 457 из тысячи</a:t>
            </a:r>
          </a:p>
        </p:txBody>
      </p:sp>
      <p:sp>
        <p:nvSpPr>
          <p:cNvPr id="17" name="TextBox 16"/>
          <p:cNvSpPr txBox="1"/>
          <p:nvPr/>
        </p:nvSpPr>
        <p:spPr>
          <a:xfrm>
            <a:off x="9152915" y="2957740"/>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1 676 пациентов, свод трёх испытаний</a:t>
            </a:r>
          </a:p>
        </p:txBody>
      </p:sp>
      <p:sp>
        <p:nvSpPr>
          <p:cNvPr id="18" name="TextBox 17"/>
          <p:cNvSpPr txBox="1"/>
          <p:nvPr/>
        </p:nvSpPr>
        <p:spPr>
          <a:xfrm>
            <a:off x="502920" y="3736843"/>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Обычный порядок</a:t>
            </a:r>
          </a:p>
        </p:txBody>
      </p:sp>
      <p:sp>
        <p:nvSpPr>
          <p:cNvPr id="19" name="Rounded Rectangle 18"/>
          <p:cNvSpPr/>
          <p:nvPr/>
        </p:nvSpPr>
        <p:spPr>
          <a:xfrm>
            <a:off x="1920240"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2002536"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ввести прибор</a:t>
            </a:r>
          </a:p>
        </p:txBody>
      </p:sp>
      <p:sp>
        <p:nvSpPr>
          <p:cNvPr id="21" name="Right Arrow 20"/>
          <p:cNvSpPr/>
          <p:nvPr/>
        </p:nvSpPr>
        <p:spPr>
          <a:xfrm>
            <a:off x="5039258" y="3869383"/>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5267858"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5350154"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осматривать при выведении</a:t>
            </a:r>
          </a:p>
        </p:txBody>
      </p:sp>
      <p:sp>
        <p:nvSpPr>
          <p:cNvPr id="24" name="Right Arrow 23"/>
          <p:cNvSpPr/>
          <p:nvPr/>
        </p:nvSpPr>
        <p:spPr>
          <a:xfrm>
            <a:off x="8386876" y="3869383"/>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8615476" y="3700267"/>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8697772" y="3745987"/>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заглянуть за складку</a:t>
            </a:r>
          </a:p>
        </p:txBody>
      </p:sp>
      <p:sp>
        <p:nvSpPr>
          <p:cNvPr id="27" name="TextBox 26"/>
          <p:cNvSpPr txBox="1"/>
          <p:nvPr/>
        </p:nvSpPr>
        <p:spPr>
          <a:xfrm>
            <a:off x="502920" y="435854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Два места вмешательства</a:t>
            </a:r>
          </a:p>
        </p:txBody>
      </p:sp>
      <p:sp>
        <p:nvSpPr>
          <p:cNvPr id="28" name="Rounded Rectangle 27"/>
          <p:cNvSpPr/>
          <p:nvPr/>
        </p:nvSpPr>
        <p:spPr>
          <a:xfrm>
            <a:off x="1920240" y="432196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2002536" y="436768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таймер: не шесть минут, а девять</a:t>
            </a:r>
          </a:p>
        </p:txBody>
      </p:sp>
      <p:sp>
        <p:nvSpPr>
          <p:cNvPr id="30" name="Right Arrow 29"/>
          <p:cNvSpPr/>
          <p:nvPr/>
        </p:nvSpPr>
        <p:spPr>
          <a:xfrm>
            <a:off x="6713067" y="4491080"/>
            <a:ext cx="182880" cy="137160"/>
          </a:xfrm>
          <a:prstGeom prst="rightArrow">
            <a:avLst/>
          </a:prstGeom>
          <a:solidFill>
            <a:srgbClr val="1C7293"/>
          </a:solidFill>
          <a:ln>
            <a:noFill/>
          </a:ln>
          <a:effectLst/>
        </p:spPr>
        <p:txBody>
          <a:bodyPr rtlCol="0" anchor="ctr"/>
          <a:lstStyle/>
          <a:p>
            <a:pPr algn="ctr"/>
          </a:p>
        </p:txBody>
      </p:sp>
      <p:sp>
        <p:nvSpPr>
          <p:cNvPr id="31" name="Rounded Rectangle 30"/>
          <p:cNvSpPr/>
          <p:nvPr/>
        </p:nvSpPr>
        <p:spPr>
          <a:xfrm>
            <a:off x="6941667" y="4321964"/>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2" name="TextBox 31"/>
          <p:cNvSpPr txBox="1"/>
          <p:nvPr/>
        </p:nvSpPr>
        <p:spPr>
          <a:xfrm>
            <a:off x="7023963" y="4367684"/>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 экран смотрит и медсестра</a:t>
            </a:r>
          </a:p>
        </p:txBody>
      </p:sp>
      <p:sp>
        <p:nvSpPr>
          <p:cNvPr id="33" name="TextBox 32"/>
          <p:cNvSpPr txBox="1"/>
          <p:nvPr/>
        </p:nvSpPr>
        <p:spPr>
          <a:xfrm>
            <a:off x="502920" y="483393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вмешиваются без модели</a:t>
            </a:r>
          </a:p>
        </p:txBody>
      </p:sp>
      <p:sp>
        <p:nvSpPr>
          <p:cNvPr id="34" name="Rounded Rectangle 33"/>
          <p:cNvSpPr/>
          <p:nvPr/>
        </p:nvSpPr>
        <p:spPr>
          <a:xfrm>
            <a:off x="374904" y="5136616"/>
            <a:ext cx="11441887" cy="1099591"/>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5" name="TextBox 34"/>
          <p:cNvSpPr txBox="1"/>
          <p:nvPr/>
        </p:nvSpPr>
        <p:spPr>
          <a:xfrm>
            <a:off x="539496"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У врачей та же проверка начинается с цены промаха. Плохой осмотр выглядит как хороший, в котором ничего не нашли</a:t>
            </a:r>
            <a:r>
              <a:rPr sz="1150" b="0" i="0">
                <a:solidFill>
                  <a:srgbClr val="21295C"/>
                </a:solidFill>
                <a:latin typeface="Arial"/>
              </a:rPr>
              <a:t> — своего сигнала у врача нет.</a:t>
            </a:r>
          </a:p>
        </p:txBody>
      </p:sp>
      <p:sp>
        <p:nvSpPr>
          <p:cNvPr id="36" name="TextBox 35"/>
          <p:cNvSpPr txBox="1"/>
          <p:nvPr/>
        </p:nvSpPr>
        <p:spPr>
          <a:xfrm>
            <a:off x="6278727" y="5228056"/>
            <a:ext cx="5373471" cy="1008151"/>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Оба прироста — того же порядка, что у помощника, или больше, и не бесплатны:</a:t>
            </a:r>
            <a:r>
              <a:rPr sz="1150" b="0" i="0">
                <a:solidFill>
                  <a:srgbClr val="21295C"/>
                </a:solidFill>
                <a:latin typeface="Arial"/>
              </a:rPr>
              <a:t> три минуты врача на процедуру и второй человек в кабинете.</a:t>
            </a:r>
          </a:p>
          <a:p>
            <a:pPr algn="l">
              <a:lnSpc>
                <a:spcPct val="126000"/>
              </a:lnSpc>
              <a:spcBef>
                <a:spcPts val="720"/>
              </a:spcBef>
            </a:pPr>
            <a:r>
              <a:rPr sz="1150" b="0" i="0">
                <a:solidFill>
                  <a:srgbClr val="21295C"/>
                </a:solidFill>
                <a:latin typeface="Arial"/>
              </a:rPr>
              <a:t/>
            </a:r>
            <a:r>
              <a:rPr sz="1150" b="1" i="0">
                <a:solidFill>
                  <a:srgbClr val="21295C"/>
                </a:solidFill>
                <a:latin typeface="Arial"/>
              </a:rPr>
              <a:t>Базы разные:</a:t>
            </a:r>
            <a:r>
              <a:rPr sz="1150" b="0" i="0">
                <a:solidFill>
                  <a:srgbClr val="21295C"/>
                </a:solidFill>
                <a:latin typeface="Arial"/>
              </a:rPr>
              <a:t> 271 из тысячи у первого порядка, 393 у второго — другие больницы и пациенты. Приросты не складываются.</a:t>
            </a:r>
          </a:p>
        </p:txBody>
      </p:sp>
      <p:sp>
        <p:nvSpPr>
          <p:cNvPr id="37" name="Rectangle 36"/>
          <p:cNvSpPr/>
          <p:nvPr/>
        </p:nvSpPr>
        <p:spPr>
          <a:xfrm>
            <a:off x="6091275" y="5228056"/>
            <a:ext cx="9144" cy="1002427"/>
          </a:xfrm>
          <a:prstGeom prst="rect">
            <a:avLst/>
          </a:prstGeom>
          <a:solidFill>
            <a:srgbClr val="D9E2EC"/>
          </a:solidFill>
          <a:ln>
            <a:noFill/>
          </a:ln>
          <a:effectLst/>
        </p:spPr>
        <p:txBody>
          <a:bodyPr rtlCol="0" anchor="ctr"/>
          <a:lstStyle/>
          <a:p>
            <a:pPr algn="ct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9" name="TextBox 3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Zhao и соавт., Clinical Gastroenterology and Hepatology 2022</a:t>
            </a:r>
            <a:r>
              <a:rPr sz="1200" b="0" i="1">
                <a:solidFill>
                  <a:srgbClr val="1C7293"/>
                </a:solidFill>
                <a:latin typeface="Arial"/>
              </a:rPr>
              <a:t> · </a:t>
            </a:r>
            <a:r>
              <a:rPr sz="1200" b="0" i="1" u="sng">
                <a:solidFill>
                  <a:srgbClr val="065A82"/>
                </a:solidFill>
                <a:latin typeface="Arial"/>
                <a:hlinkClick r:id="rId3"/>
              </a:rPr>
              <a:t>Lei и соавт., International Journal of Colorectal Disease 2024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Входит ли измеренный результат работы врача в его допуск: Великобритания, США, Россия</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ВЕЛИКОБРИТАНИЯ: ПОРОГ ВХОДИТ В ДОПУСК</a:t>
            </a:r>
          </a:p>
        </p:txBody>
      </p:sp>
      <p:sp>
        <p:nvSpPr>
          <p:cNvPr id="6" name="TextBox 5"/>
          <p:cNvSpPr txBox="1"/>
          <p:nvPr/>
        </p:nvSpPr>
        <p:spPr>
          <a:xfrm>
            <a:off x="640080" y="1932846"/>
            <a:ext cx="3344570"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15 процедур с находкой из ста и выше</a:t>
            </a:r>
          </a:p>
        </p:txBody>
      </p:sp>
      <p:sp>
        <p:nvSpPr>
          <p:cNvPr id="7" name="TextBox 6"/>
          <p:cNvSpPr txBox="1"/>
          <p:nvPr/>
        </p:nvSpPr>
        <p:spPr>
          <a:xfrm>
            <a:off x="640080" y="268236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минимальный стандарт; 280 колоноскопий до аттестации, 100 в год после</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США: ТА ЖЕ ВЕЛИЧИНА, ДОПУСКОМ БЫТЬ ЗАПРЕЩЕНО</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целевой уровень 35 из ста</a:t>
            </a:r>
          </a:p>
        </p:txBody>
      </p:sp>
      <p:sp>
        <p:nvSpPr>
          <p:cNvPr id="11" name="TextBox 10"/>
          <p:cNvSpPr txBox="1"/>
          <p:nvPr/>
        </p:nvSpPr>
        <p:spPr>
          <a:xfrm>
            <a:off x="4423562"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реестр профессии собрал свыше 10 млн колоноскопий</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РОССИЯ: ОТЧЁТ О РАБОТЕ ПИШЕТ САМ СПЕЦИАЛИСТ</a:t>
            </a:r>
          </a:p>
        </p:txBody>
      </p:sp>
      <p:sp>
        <p:nvSpPr>
          <p:cNvPr id="14" name="TextBox 13"/>
          <p:cNvSpPr txBox="1"/>
          <p:nvPr/>
        </p:nvSpPr>
        <p:spPr>
          <a:xfrm>
            <a:off x="8207044" y="1932846"/>
            <a:ext cx="3344570" cy="715572"/>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порога по результату нет · 144 часа учёбы за 5 лет</a:t>
            </a:r>
          </a:p>
        </p:txBody>
      </p:sp>
      <p:sp>
        <p:nvSpPr>
          <p:cNvPr id="15" name="TextBox 14"/>
          <p:cNvSpPr txBox="1"/>
          <p:nvPr/>
        </p:nvSpPr>
        <p:spPr>
          <a:xfrm>
            <a:off x="8207044" y="264841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 доли находок, ни времени выведения прибора</a:t>
            </a:r>
          </a:p>
        </p:txBody>
      </p:sp>
      <p:sp>
        <p:nvSpPr>
          <p:cNvPr id="16" name="Rounded Rectangle 15"/>
          <p:cNvSpPr/>
          <p:nvPr/>
        </p:nvSpPr>
        <p:spPr>
          <a:xfrm>
            <a:off x="374904" y="3492795"/>
            <a:ext cx="11441887" cy="2536627"/>
          </a:xfrm>
          <a:prstGeom prst="roundRect">
            <a:avLst>
              <a:gd name="adj" fmla="val 1201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584235"/>
            <a:ext cx="11112703" cy="265197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Оба порядка с прошлого кадра измерены долей процедур с находкой. Она же лежит в основании допуска.</a:t>
            </a:r>
          </a:p>
          <a:p>
            <a:pPr algn="l">
              <a:lnSpc>
                <a:spcPct val="126000"/>
              </a:lnSpc>
              <a:spcBef>
                <a:spcPts val="720"/>
              </a:spcBef>
            </a:pPr>
            <a:r>
              <a:rPr sz="1500" b="0" i="0">
                <a:solidFill>
                  <a:srgbClr val="21295C"/>
                </a:solidFill>
                <a:latin typeface="Arial"/>
              </a:rPr>
              <a:t/>
            </a:r>
            <a:r>
              <a:rPr sz="1500" b="1" i="0">
                <a:solidFill>
                  <a:srgbClr val="21295C"/>
                </a:solidFill>
                <a:latin typeface="Arial"/>
              </a:rPr>
              <a:t>Величина одна на три страны; расходится последствие.</a:t>
            </a:r>
            <a:r>
              <a:rPr sz="1500" b="0" i="0">
                <a:solidFill>
                  <a:srgbClr val="21295C"/>
                </a:solidFill>
                <a:latin typeface="Arial"/>
              </a:rPr>
              <a:t> В Великобритании по ней допускают к работе в скрининге. В США тот же документ, что назначил целевой уровень, называет применение своих показателей как условия допуска неверным использованием. В России отчёт о работе требуется, но пишет его сам специалист: порога, который считали бы за него, нет.</a:t>
            </a:r>
          </a:p>
          <a:p>
            <a:pPr algn="l">
              <a:lnSpc>
                <a:spcPct val="126000"/>
              </a:lnSpc>
              <a:spcBef>
                <a:spcPts val="720"/>
              </a:spcBef>
            </a:pPr>
            <a:r>
              <a:rPr sz="1500" b="0" i="0">
                <a:solidFill>
                  <a:srgbClr val="21295C"/>
                </a:solidFill>
                <a:latin typeface="Arial"/>
              </a:rPr>
              <a:t/>
            </a:r>
            <a:r>
              <a:rPr sz="1500" b="1" i="0">
                <a:solidFill>
                  <a:srgbClr val="21295C"/>
                </a:solidFill>
                <a:latin typeface="Arial"/>
              </a:rPr>
              <a:t>Искали и не нашли ни в одной из трёх:</a:t>
            </a:r>
            <a:r>
              <a:rPr sz="1500" b="0" i="0">
                <a:solidFill>
                  <a:srgbClr val="21295C"/>
                </a:solidFill>
                <a:latin typeface="Arial"/>
              </a:rPr>
              <a:t> продления допуска, в которое входил бы измеренный результат врача </a:t>
            </a:r>
            <a:r>
              <a:rPr sz="1500" b="1" i="0">
                <a:solidFill>
                  <a:srgbClr val="21295C"/>
                </a:solidFill>
                <a:latin typeface="Arial"/>
              </a:rPr>
              <a:t>после периода работы с подсветкой</a:t>
            </a:r>
            <a:r>
              <a:rPr sz="1500" b="0" i="0">
                <a:solidFill>
                  <a:srgbClr val="21295C"/>
                </a:solidFill>
                <a:latin typeface="Arial"/>
              </a:rPr>
              <a:t>.</a:t>
            </a:r>
          </a:p>
        </p:txBody>
      </p:sp>
      <p:sp>
        <p:nvSpPr>
          <p:cNvPr id="18" name="Rectangle 1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19" name="TextBox 1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Siau и соавт., Frontline Gastroenterology 2023</a:t>
            </a:r>
            <a:r>
              <a:rPr sz="1200" b="0" i="1">
                <a:solidFill>
                  <a:srgbClr val="1C7293"/>
                </a:solidFill>
                <a:latin typeface="Arial"/>
              </a:rPr>
              <a:t> · </a:t>
            </a:r>
            <a:r>
              <a:rPr sz="1200" b="0" i="1">
                <a:solidFill>
                  <a:srgbClr val="1C7293"/>
                </a:solidFill>
                <a:latin typeface="Arial"/>
              </a:rPr>
              <a:t>ASGE/ACG, Gastrointestinal Endoscopy 2024;100(3)</a:t>
            </a:r>
            <a:r>
              <a:rPr sz="1200" b="0" i="1">
                <a:solidFill>
                  <a:srgbClr val="1C7293"/>
                </a:solidFill>
                <a:latin typeface="Arial"/>
              </a:rPr>
              <a:t> · </a:t>
            </a:r>
            <a:r>
              <a:rPr sz="1200" b="0" i="1">
                <a:solidFill>
                  <a:srgbClr val="1C7293"/>
                </a:solidFill>
                <a:latin typeface="Arial"/>
              </a:rPr>
              <a:t>приказ Минздрава № 709н</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2: доля упала без помощника</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БЫЛО ДО ПОМОЩНИКА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284 процедуры с находкой из тысячи</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226 на 795</a:t>
            </a:r>
          </a:p>
        </p:txBody>
      </p:sp>
      <p:sp>
        <p:nvSpPr>
          <p:cNvPr id="8" name="Rounded Rectangle 7"/>
          <p:cNvSpPr/>
          <p:nvPr/>
        </p:nvSpPr>
        <p:spPr>
          <a:xfrm>
            <a:off x="4286402"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СТАЛО ЧЕРЕЗ ТРИ МЕСЯЦА</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224 из тысячи</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145 на 648</a:t>
            </a:r>
          </a:p>
        </p:txBody>
      </p:sp>
      <p:sp>
        <p:nvSpPr>
          <p:cNvPr id="12" name="Rounded Rectangle 11"/>
          <p:cNvSpPr/>
          <p:nvPr/>
        </p:nvSpPr>
        <p:spPr>
          <a:xfrm>
            <a:off x="8069884"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ПРИВЕЛО</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минус 60 находок на тысячу</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19 врачей, стаж 28 лет</a:t>
            </a:r>
          </a:p>
        </p:txBody>
      </p:sp>
      <p:sp>
        <p:nvSpPr>
          <p:cNvPr id="16" name="TextBox 15"/>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 помощником</a:t>
            </a:r>
          </a:p>
        </p:txBody>
      </p:sp>
      <p:sp>
        <p:nvSpPr>
          <p:cNvPr id="17" name="Rounded Rectangle 16"/>
          <p:cNvSpPr/>
          <p:nvPr/>
        </p:nvSpPr>
        <p:spPr>
          <a:xfrm>
            <a:off x="1920240"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поток кадров</a:t>
            </a:r>
          </a:p>
        </p:txBody>
      </p:sp>
      <p:sp>
        <p:nvSpPr>
          <p:cNvPr id="19" name="Right Arrow 18"/>
          <p:cNvSpPr/>
          <p:nvPr/>
        </p:nvSpPr>
        <p:spPr>
          <a:xfrm>
            <a:off x="5039258" y="324319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07408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11980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участке</a:t>
            </a:r>
          </a:p>
        </p:txBody>
      </p:sp>
      <p:sp>
        <p:nvSpPr>
          <p:cNvPr id="22" name="Right Arrow 21"/>
          <p:cNvSpPr/>
          <p:nvPr/>
        </p:nvSpPr>
        <p:spPr>
          <a:xfrm>
            <a:off x="8386876" y="324319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решает сам</a:t>
            </a:r>
          </a:p>
        </p:txBody>
      </p:sp>
      <p:sp>
        <p:nvSpPr>
          <p:cNvPr id="25" name="TextBox 24"/>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замерили</a:t>
            </a:r>
          </a:p>
        </p:txBody>
      </p:sp>
      <p:sp>
        <p:nvSpPr>
          <p:cNvPr id="26" name="Rounded Rectangle 25"/>
          <p:cNvSpPr/>
          <p:nvPr/>
        </p:nvSpPr>
        <p:spPr>
          <a:xfrm>
            <a:off x="1920240"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те же врачи</a:t>
            </a:r>
          </a:p>
        </p:txBody>
      </p:sp>
      <p:sp>
        <p:nvSpPr>
          <p:cNvPr id="28" name="Right Arrow 27"/>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6941667"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7023963"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процедуры БЕЗ помощника</a:t>
            </a:r>
          </a:p>
        </p:txBody>
      </p:sp>
      <p:sp>
        <p:nvSpPr>
          <p:cNvPr id="31" name="TextBox 30"/>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помощник и где замерили врача без него</a:t>
            </a:r>
          </a:p>
        </p:txBody>
      </p:sp>
      <p:sp>
        <p:nvSpPr>
          <p:cNvPr id="32" name="Rounded Rectangle 31"/>
          <p:cNvSpPr/>
          <p:nvPr/>
        </p:nvSpPr>
        <p:spPr>
          <a:xfrm>
            <a:off x="374904" y="4510430"/>
            <a:ext cx="11441887" cy="1725777"/>
          </a:xfrm>
          <a:prstGeom prst="roundRect">
            <a:avLst>
              <a:gd name="adj" fmla="val 17661"/>
            </a:avLst>
          </a:prstGeom>
          <a:solidFill>
            <a:srgbClr val="F4F7FA"/>
          </a:solidFill>
          <a:ln w="19050">
            <a:solidFill>
              <a:srgbClr val="1C7293"/>
            </a:solidFill>
          </a:ln>
          <a:effectLst/>
        </p:spPr>
        <p:txBody>
          <a:bodyPr rtlCol="0" anchor="ctr"/>
          <a:lstStyle/>
          <a:p>
            <a:pPr algn="ctr"/>
          </a:p>
        </p:txBody>
      </p:sp>
      <p:sp>
        <p:nvSpPr>
          <p:cNvPr id="33" name="TextBox 32"/>
          <p:cNvSpPr txBox="1"/>
          <p:nvPr/>
        </p:nvSpPr>
        <p:spPr>
          <a:xfrm>
            <a:off x="539496" y="4601870"/>
            <a:ext cx="5373471"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делали.</a:t>
            </a:r>
            <a:r>
              <a:rPr sz="1250" b="0" i="0">
                <a:solidFill>
                  <a:srgbClr val="21295C"/>
                </a:solidFill>
                <a:latin typeface="Arial"/>
              </a:rPr>
              <a:t> В четырёх центрах Польши эндоскопистам дали помощника, обводящего находку рамкой. Через три месяца сравнили процедуры тех же врачей </a:t>
            </a:r>
            <a:r>
              <a:rPr sz="1250" b="1" i="0">
                <a:solidFill>
                  <a:srgbClr val="21295C"/>
                </a:solidFill>
                <a:latin typeface="Arial"/>
              </a:rPr>
              <a:t>без</a:t>
            </a:r>
            <a:r>
              <a:rPr sz="1250" b="0" i="0">
                <a:solidFill>
                  <a:srgbClr val="21295C"/>
                </a:solidFill>
                <a:latin typeface="Arial"/>
              </a:rPr>
              <a:t> него.</a:t>
            </a:r>
          </a:p>
          <a:p>
            <a:pPr algn="l">
              <a:lnSpc>
                <a:spcPct val="126000"/>
              </a:lnSpc>
              <a:spcBef>
                <a:spcPts val="720"/>
              </a:spcBef>
            </a:pPr>
            <a:r>
              <a:rPr sz="1250" b="0" i="0">
                <a:solidFill>
                  <a:srgbClr val="21295C"/>
                </a:solidFill>
                <a:latin typeface="Arial"/>
              </a:rPr>
              <a:t/>
            </a:r>
            <a:r>
              <a:rPr sz="1250" b="1" i="0">
                <a:solidFill>
                  <a:srgbClr val="21295C"/>
                </a:solidFill>
                <a:latin typeface="Arial"/>
              </a:rPr>
              <a:t>Это когнитивное искажение — износ навыка, третье из шести, предъявленных на входе вечера.</a:t>
            </a:r>
            <a:r>
              <a:rPr sz="1250" b="0" i="0">
                <a:solidFill>
                  <a:srgbClr val="21295C"/>
                </a:solidFill>
                <a:latin typeface="Arial"/>
              </a:rPr>
              <a:t> У человека оно проявляется так: те же врачи, без помощника, находят меньше.</a:t>
            </a:r>
          </a:p>
        </p:txBody>
      </p:sp>
      <p:sp>
        <p:nvSpPr>
          <p:cNvPr id="34" name="TextBox 33"/>
          <p:cNvSpPr txBox="1"/>
          <p:nvPr/>
        </p:nvSpPr>
        <p:spPr>
          <a:xfrm>
            <a:off x="6278727" y="4601870"/>
            <a:ext cx="5373471"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Дало:</a:t>
            </a:r>
            <a:r>
              <a:rPr sz="1250" b="0" i="0">
                <a:solidFill>
                  <a:srgbClr val="21295C"/>
                </a:solidFill>
                <a:latin typeface="Arial"/>
              </a:rPr>
              <a:t> находят больше, пока включён. </a:t>
            </a:r>
            <a:r>
              <a:rPr sz="1250" b="1" i="0">
                <a:solidFill>
                  <a:srgbClr val="21295C"/>
                </a:solidFill>
                <a:latin typeface="Arial"/>
              </a:rPr>
              <a:t>Потребовало:</a:t>
            </a:r>
            <a:r>
              <a:rPr sz="1250" b="0" i="0">
                <a:solidFill>
                  <a:srgbClr val="21295C"/>
                </a:solidFill>
                <a:latin typeface="Arial"/>
              </a:rPr>
              <a:t> умения искать самому. </a:t>
            </a:r>
            <a:r>
              <a:rPr sz="1250" b="1" i="0">
                <a:solidFill>
                  <a:srgbClr val="21295C"/>
                </a:solidFill>
                <a:latin typeface="Arial"/>
              </a:rPr>
              <a:t>В сумме:</a:t>
            </a:r>
            <a:r>
              <a:rPr sz="1250" b="0" i="0">
                <a:solidFill>
                  <a:srgbClr val="21295C"/>
                </a:solidFill>
                <a:latin typeface="Arial"/>
              </a:rPr>
              <a:t> исполнитель тот же — место, объём и рука прежние, — но стал хуже.</a:t>
            </a:r>
          </a:p>
          <a:p>
            <a:pPr algn="l">
              <a:lnSpc>
                <a:spcPct val="126000"/>
              </a:lnSpc>
              <a:spcBef>
                <a:spcPts val="3600"/>
              </a:spcBef>
            </a:pPr>
            <a:r>
              <a:rPr sz="1250" b="0" i="0">
                <a:solidFill>
                  <a:srgbClr val="21295C"/>
                </a:solidFill>
                <a:latin typeface="Arial"/>
              </a:rPr>
              <a:t/>
            </a:r>
            <a:r>
              <a:rPr sz="1250" b="1" i="0">
                <a:solidFill>
                  <a:srgbClr val="21295C"/>
                </a:solidFill>
                <a:latin typeface="Arial"/>
              </a:rPr>
              <a:t>Имени своей системы публикация не называет.</a:t>
            </a:r>
          </a:p>
        </p:txBody>
      </p:sp>
      <p:sp>
        <p:nvSpPr>
          <p:cNvPr id="35" name="Rectangle 34"/>
          <p:cNvSpPr/>
          <p:nvPr/>
        </p:nvSpPr>
        <p:spPr>
          <a:xfrm>
            <a:off x="6091275" y="4601870"/>
            <a:ext cx="9144" cy="1576745"/>
          </a:xfrm>
          <a:prstGeom prst="rect">
            <a:avLst/>
          </a:prstGeom>
          <a:solidFill>
            <a:srgbClr val="D9E2EC"/>
          </a:solidFill>
          <a:ln>
            <a:noFill/>
          </a:ln>
          <a:effectLst/>
        </p:spPr>
        <p:txBody>
          <a:bodyPr rtlCol="0" anchor="ctr"/>
          <a:lstStyle/>
          <a:p>
            <a:pPr algn="ctr"/>
          </a:p>
        </p:txBody>
      </p:sp>
      <p:sp>
        <p:nvSpPr>
          <p:cNvPr id="36" name="Rectangle 35"/>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7" name="TextBox 3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r>
              <a:rPr sz="1200" b="0" i="1">
                <a:solidFill>
                  <a:srgbClr val="1C7293"/>
                </a:solidFill>
                <a:latin typeface="Arial"/>
              </a:rPr>
              <a:t> · </a:t>
            </a:r>
            <a:r>
              <a:rPr sz="1200" b="0" i="1" u="sng">
                <a:solidFill>
                  <a:srgbClr val="065A82"/>
                </a:solidFill>
                <a:latin typeface="Arial"/>
                <a:hlinkClick r:id="rId3"/>
              </a:rPr>
              <a:t>Bastani и соавт., PNAS 2025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Пример 3: ArtInCol, Россия — помощник на той же процедуре</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БЕЗ ПОМОЩНИКА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413 процедуры с находкой из тысячи</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547 пациентов</a:t>
            </a:r>
          </a:p>
        </p:txBody>
      </p:sp>
      <p:sp>
        <p:nvSpPr>
          <p:cNvPr id="8" name="Rounded Rectangle 7"/>
          <p:cNvSpPr/>
          <p:nvPr/>
        </p:nvSpPr>
        <p:spPr>
          <a:xfrm>
            <a:off x="4286402"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 РОССИЙСКИМ ПОМОЩНИКОМ</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472 процедуры из тысячи</a:t>
            </a:r>
          </a:p>
        </p:txBody>
      </p:sp>
      <p:sp>
        <p:nvSpPr>
          <p:cNvPr id="11" name="TextBox 10"/>
          <p:cNvSpPr txBox="1"/>
          <p:nvPr/>
        </p:nvSpPr>
        <p:spPr>
          <a:xfrm>
            <a:off x="4423562"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581 пациент</a:t>
            </a:r>
          </a:p>
        </p:txBody>
      </p:sp>
      <p:sp>
        <p:nvSpPr>
          <p:cNvPr id="12" name="Rounded Rectangle 11"/>
          <p:cNvSpPr/>
          <p:nvPr/>
        </p:nvSpPr>
        <p:spPr>
          <a:xfrm>
            <a:off x="8069884"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ЧЕГО У ИСПЫТАНИЯ НЕТ</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замера после снятия помощника</a:t>
            </a:r>
          </a:p>
        </p:txBody>
      </p:sp>
      <p:sp>
        <p:nvSpPr>
          <p:cNvPr id="15" name="TextBox 14"/>
          <p:cNvSpPr txBox="1"/>
          <p:nvPr/>
        </p:nvSpPr>
        <p:spPr>
          <a:xfrm>
            <a:off x="502920" y="3110657"/>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Устройство</a:t>
            </a:r>
          </a:p>
        </p:txBody>
      </p:sp>
      <p:sp>
        <p:nvSpPr>
          <p:cNvPr id="16" name="Rounded Rectangle 15"/>
          <p:cNvSpPr/>
          <p:nvPr/>
        </p:nvSpPr>
        <p:spPr>
          <a:xfrm>
            <a:off x="1920240"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видеопоток с прибора</a:t>
            </a:r>
          </a:p>
        </p:txBody>
      </p:sp>
      <p:sp>
        <p:nvSpPr>
          <p:cNvPr id="18" name="Right Arrow 17"/>
          <p:cNvSpPr/>
          <p:nvPr/>
        </p:nvSpPr>
        <p:spPr>
          <a:xfrm>
            <a:off x="5039258" y="3243197"/>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5267858" y="3074081"/>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5350154" y="3119801"/>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компьютер у стойки</a:t>
            </a:r>
          </a:p>
        </p:txBody>
      </p:sp>
      <p:sp>
        <p:nvSpPr>
          <p:cNvPr id="21" name="Right Arrow 20"/>
          <p:cNvSpPr/>
          <p:nvPr/>
        </p:nvSpPr>
        <p:spPr>
          <a:xfrm>
            <a:off x="8386876" y="3243197"/>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8615476" y="3074081"/>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3" name="TextBox 22"/>
          <p:cNvSpPr txBox="1"/>
          <p:nvPr/>
        </p:nvSpPr>
        <p:spPr>
          <a:xfrm>
            <a:off x="8697772" y="3119801"/>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мониторе</a:t>
            </a:r>
          </a:p>
        </p:txBody>
      </p:sp>
      <p:sp>
        <p:nvSpPr>
          <p:cNvPr id="24" name="TextBox 23"/>
          <p:cNvSpPr txBox="1"/>
          <p:nvPr/>
        </p:nvSpPr>
        <p:spPr>
          <a:xfrm>
            <a:off x="502920" y="3732354"/>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Обучено на</a:t>
            </a:r>
          </a:p>
        </p:txBody>
      </p:sp>
      <p:sp>
        <p:nvSpPr>
          <p:cNvPr id="25" name="Rounded Rectangle 24"/>
          <p:cNvSpPr/>
          <p:nvPr/>
        </p:nvSpPr>
        <p:spPr>
          <a:xfrm>
            <a:off x="1920240"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2002536"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архиве НМИЦ колопроктологии</a:t>
            </a:r>
          </a:p>
        </p:txBody>
      </p:sp>
      <p:sp>
        <p:nvSpPr>
          <p:cNvPr id="27" name="Right Arrow 26"/>
          <p:cNvSpPr/>
          <p:nvPr/>
        </p:nvSpPr>
        <p:spPr>
          <a:xfrm>
            <a:off x="6713067" y="3864894"/>
            <a:ext cx="182880" cy="137160"/>
          </a:xfrm>
          <a:prstGeom prst="rightArrow">
            <a:avLst/>
          </a:prstGeom>
          <a:solidFill>
            <a:srgbClr val="1C7293"/>
          </a:solidFill>
          <a:ln>
            <a:noFill/>
          </a:ln>
          <a:effectLst/>
        </p:spPr>
        <p:txBody>
          <a:bodyPr rtlCol="0" anchor="ctr"/>
          <a:lstStyle/>
          <a:p>
            <a:pPr algn="ctr"/>
          </a:p>
        </p:txBody>
      </p:sp>
      <p:sp>
        <p:nvSpPr>
          <p:cNvPr id="28" name="Rounded Rectangle 27"/>
          <p:cNvSpPr/>
          <p:nvPr/>
        </p:nvSpPr>
        <p:spPr>
          <a:xfrm>
            <a:off x="6941667" y="3695778"/>
            <a:ext cx="4747107"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9" name="TextBox 28"/>
          <p:cNvSpPr txBox="1"/>
          <p:nvPr/>
        </p:nvSpPr>
        <p:spPr>
          <a:xfrm>
            <a:off x="7023963" y="3741498"/>
            <a:ext cx="4582515"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разметке его эндоскопистов</a:t>
            </a:r>
          </a:p>
        </p:txBody>
      </p:sp>
      <p:sp>
        <p:nvSpPr>
          <p:cNvPr id="30" name="TextBox 29"/>
          <p:cNvSpPr txBox="1"/>
          <p:nvPr/>
        </p:nvSpPr>
        <p:spPr>
          <a:xfrm>
            <a:off x="502920" y="4207746"/>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Где стоит система в потоке</a:t>
            </a:r>
          </a:p>
        </p:txBody>
      </p:sp>
      <p:sp>
        <p:nvSpPr>
          <p:cNvPr id="31" name="Rounded Rectangle 30"/>
          <p:cNvSpPr/>
          <p:nvPr/>
        </p:nvSpPr>
        <p:spPr>
          <a:xfrm>
            <a:off x="374904" y="4510430"/>
            <a:ext cx="11441887" cy="1694954"/>
          </a:xfrm>
          <a:prstGeom prst="roundRect">
            <a:avLst>
              <a:gd name="adj" fmla="val 17982"/>
            </a:avLst>
          </a:prstGeom>
          <a:solidFill>
            <a:srgbClr val="F4F7FA"/>
          </a:solidFill>
          <a:ln w="19050">
            <a:solidFill>
              <a:srgbClr val="1C7293"/>
            </a:solidFill>
          </a:ln>
          <a:effectLst/>
        </p:spPr>
        <p:txBody>
          <a:bodyPr rtlCol="0" anchor="ctr"/>
          <a:lstStyle/>
          <a:p>
            <a:pPr algn="ctr"/>
          </a:p>
        </p:txBody>
      </p:sp>
      <p:sp>
        <p:nvSpPr>
          <p:cNvPr id="32" name="TextBox 31"/>
          <p:cNvSpPr txBox="1"/>
          <p:nvPr/>
        </p:nvSpPr>
        <p:spPr>
          <a:xfrm>
            <a:off x="539496" y="4601870"/>
            <a:ext cx="11112703" cy="1634337"/>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Что делали.</a:t>
            </a:r>
            <a:r>
              <a:rPr sz="1250" b="0" i="0">
                <a:solidFill>
                  <a:srgbClr val="21295C"/>
                </a:solidFill>
                <a:latin typeface="Arial"/>
              </a:rPr>
              <a:t> В четырёх учреждениях России — Москва и Уфа — 1 128 пациентов разделили жребием: колоноскопия как обычно и с российским помощником, обводящим участок рамкой.</a:t>
            </a:r>
          </a:p>
          <a:p>
            <a:pPr algn="l">
              <a:lnSpc>
                <a:spcPct val="126000"/>
              </a:lnSpc>
              <a:spcBef>
                <a:spcPts val="720"/>
              </a:spcBef>
            </a:pPr>
            <a:r>
              <a:rPr sz="1250" b="0" i="0">
                <a:solidFill>
                  <a:srgbClr val="21295C"/>
                </a:solidFill>
                <a:latin typeface="Arial"/>
              </a:rPr>
              <a:t/>
            </a:r>
            <a:r>
              <a:rPr sz="1250" b="1" i="0">
                <a:solidFill>
                  <a:srgbClr val="21295C"/>
                </a:solidFill>
                <a:latin typeface="Arial"/>
              </a:rPr>
              <a:t>Две формы словаря.</a:t>
            </a:r>
            <a:r>
              <a:rPr sz="1250" b="0" i="0">
                <a:solidFill>
                  <a:srgbClr val="21295C"/>
                </a:solidFill>
                <a:latin typeface="Arial"/>
              </a:rPr>
              <a:t> Сменился исполнитель: часть поиска делает допущенное устройство. Нагрузка выросла на том же месте: 1,23 ложного срабатывания на исследование там, где их было ноль, — столько раз врач смотрит на пустое место.</a:t>
            </a:r>
          </a:p>
          <a:p>
            <a:pPr algn="l">
              <a:lnSpc>
                <a:spcPct val="126000"/>
              </a:lnSpc>
              <a:spcBef>
                <a:spcPts val="720"/>
              </a:spcBef>
            </a:pPr>
            <a:r>
              <a:rPr sz="1250" b="0" i="0">
                <a:solidFill>
                  <a:srgbClr val="21295C"/>
                </a:solidFill>
                <a:latin typeface="Arial"/>
              </a:rPr>
              <a:t/>
            </a:r>
            <a:r>
              <a:rPr sz="1250" b="1" i="0">
                <a:solidFill>
                  <a:srgbClr val="21295C"/>
                </a:solidFill>
                <a:latin typeface="Arial"/>
              </a:rPr>
              <a:t>Внедрение в России крупнейшее в мире по заявленным числам, а замера последствий нет:</a:t>
            </a:r>
            <a:r>
              <a:rPr sz="1250" b="0" i="0">
                <a:solidFill>
                  <a:srgbClr val="21295C"/>
                </a:solidFill>
                <a:latin typeface="Arial"/>
              </a:rPr>
              <a:t> врача после снятия помощника здесь не мерили.</a:t>
            </a:r>
          </a:p>
        </p:txBody>
      </p:sp>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Ачкасов С.И., Шелыгин Ю.А. и соавт. Эффективность системы искусственного интеллекта ArtInCol в диагностике новообразований при колоноскопии: результаты многоцентрового рандомизированного исследования. Колопроктология, 2025; 24(3):12–21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Два режима одного класса: где человек остаётся и где его снимают</a:t>
            </a:r>
          </a:p>
        </p:txBody>
      </p:sp>
      <p:sp>
        <p:nvSpPr>
          <p:cNvPr id="4" name="Rounded Rectangle 3"/>
          <p:cNvSpPr/>
          <p:nvPr/>
        </p:nvSpPr>
        <p:spPr>
          <a:xfrm>
            <a:off x="502920" y="1335024"/>
            <a:ext cx="3618890" cy="1763648"/>
          </a:xfrm>
          <a:prstGeom prst="roundRect">
            <a:avLst>
              <a:gd name="adj" fmla="val 1728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ПОДСВЕТКА: МЕСТО ОСТАЛОСЬ ЗА ЧЕЛОВЕКОМ, РАСХОД ИЗМЕРЕН</a:t>
            </a:r>
          </a:p>
        </p:txBody>
      </p:sp>
      <p:sp>
        <p:nvSpPr>
          <p:cNvPr id="6" name="TextBox 5"/>
          <p:cNvSpPr txBox="1"/>
          <p:nvPr/>
        </p:nvSpPr>
        <p:spPr>
          <a:xfrm>
            <a:off x="640080" y="1932846"/>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284 → 224 находки на тысячу</a:t>
            </a:r>
          </a:p>
        </p:txBody>
      </p:sp>
      <p:sp>
        <p:nvSpPr>
          <p:cNvPr id="7" name="TextBox 6"/>
          <p:cNvSpPr txBox="1"/>
          <p:nvPr/>
        </p:nvSpPr>
        <p:spPr>
          <a:xfrm>
            <a:off x="640080"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 же 19 врачей, процедуры без помощника</a:t>
            </a:r>
          </a:p>
        </p:txBody>
      </p:sp>
      <p:sp>
        <p:nvSpPr>
          <p:cNvPr id="8" name="Rounded Rectangle 7"/>
          <p:cNvSpPr/>
          <p:nvPr/>
        </p:nvSpPr>
        <p:spPr>
          <a:xfrm>
            <a:off x="4286402"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ВТОРОЙ ЧИТАТЕЛЬ: ЧЕЛОВЕКА С МЕСТА СНЯЛИ</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человеческого чтения ниже на 44,3 процента</a:t>
            </a:r>
          </a:p>
        </p:txBody>
      </p:sp>
      <p:sp>
        <p:nvSpPr>
          <p:cNvPr id="11" name="TextBox 10"/>
          <p:cNvSpPr txBox="1"/>
          <p:nvPr/>
        </p:nvSpPr>
        <p:spPr>
          <a:xfrm>
            <a:off x="4423562" y="2750268"/>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шведская программа, 80 033 обследованных</a:t>
            </a:r>
          </a:p>
        </p:txBody>
      </p:sp>
      <p:sp>
        <p:nvSpPr>
          <p:cNvPr id="12" name="Rounded Rectangle 11"/>
          <p:cNvSpPr/>
          <p:nvPr/>
        </p:nvSpPr>
        <p:spPr>
          <a:xfrm>
            <a:off x="8069884" y="1335024"/>
            <a:ext cx="3618890" cy="1763648"/>
          </a:xfrm>
          <a:prstGeom prst="roundRect">
            <a:avLst>
              <a:gd name="adj" fmla="val 1728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РАСХОД У СНЯТОГО МЕСТА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измерен и измерен быть не может</a:t>
            </a:r>
          </a:p>
        </p:txBody>
      </p:sp>
      <p:sp>
        <p:nvSpPr>
          <p:cNvPr id="15" name="TextBox 14"/>
          <p:cNvSpPr txBox="1"/>
          <p:nvPr/>
        </p:nvSpPr>
        <p:spPr>
          <a:xfrm>
            <a:off x="8207044"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мерить некого</a:t>
            </a:r>
          </a:p>
        </p:txBody>
      </p:sp>
      <p:sp>
        <p:nvSpPr>
          <p:cNvPr id="16" name="TextBox 15"/>
          <p:cNvSpPr txBox="1"/>
          <p:nvPr/>
        </p:nvSpPr>
        <p:spPr>
          <a:xfrm>
            <a:off x="502920" y="331812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Подсветка на видео</a:t>
            </a:r>
          </a:p>
        </p:txBody>
      </p:sp>
      <p:sp>
        <p:nvSpPr>
          <p:cNvPr id="17" name="Rounded Rectangle 16"/>
          <p:cNvSpPr/>
          <p:nvPr/>
        </p:nvSpPr>
        <p:spPr>
          <a:xfrm>
            <a:off x="1920240"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врач ведёт процедуру</a:t>
            </a:r>
          </a:p>
        </p:txBody>
      </p:sp>
      <p:sp>
        <p:nvSpPr>
          <p:cNvPr id="19" name="Right Arrow 18"/>
          <p:cNvSpPr/>
          <p:nvPr/>
        </p:nvSpPr>
        <p:spPr>
          <a:xfrm>
            <a:off x="5039258" y="345066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267858" y="3281552"/>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1" name="TextBox 20"/>
          <p:cNvSpPr txBox="1"/>
          <p:nvPr/>
        </p:nvSpPr>
        <p:spPr>
          <a:xfrm>
            <a:off x="5350154" y="3327272"/>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рамка на участке</a:t>
            </a:r>
          </a:p>
        </p:txBody>
      </p:sp>
      <p:sp>
        <p:nvSpPr>
          <p:cNvPr id="22" name="Right Arrow 21"/>
          <p:cNvSpPr/>
          <p:nvPr/>
        </p:nvSpPr>
        <p:spPr>
          <a:xfrm>
            <a:off x="8386876" y="345066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8615476" y="3281552"/>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8697772" y="3327272"/>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смотрит и решает сам</a:t>
            </a:r>
          </a:p>
        </p:txBody>
      </p:sp>
      <p:sp>
        <p:nvSpPr>
          <p:cNvPr id="25" name="TextBox 24"/>
          <p:cNvSpPr txBox="1"/>
          <p:nvPr/>
        </p:nvSpPr>
        <p:spPr>
          <a:xfrm>
            <a:off x="502920" y="3939825"/>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Второй читатель снимка</a:t>
            </a:r>
          </a:p>
        </p:txBody>
      </p:sp>
      <p:sp>
        <p:nvSpPr>
          <p:cNvPr id="26" name="Rounded Rectangle 25"/>
          <p:cNvSpPr/>
          <p:nvPr/>
        </p:nvSpPr>
        <p:spPr>
          <a:xfrm>
            <a:off x="1920240"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2002536"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снимок готов</a:t>
            </a:r>
          </a:p>
        </p:txBody>
      </p:sp>
      <p:sp>
        <p:nvSpPr>
          <p:cNvPr id="28" name="Right Arrow 27"/>
          <p:cNvSpPr/>
          <p:nvPr/>
        </p:nvSpPr>
        <p:spPr>
          <a:xfrm>
            <a:off x="5039258" y="4072365"/>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5267858" y="3903249"/>
            <a:ext cx="3073298"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30" name="TextBox 29"/>
          <p:cNvSpPr txBox="1"/>
          <p:nvPr/>
        </p:nvSpPr>
        <p:spPr>
          <a:xfrm>
            <a:off x="5350154" y="3948969"/>
            <a:ext cx="2908706"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заключение модели</a:t>
            </a:r>
          </a:p>
        </p:txBody>
      </p:sp>
      <p:sp>
        <p:nvSpPr>
          <p:cNvPr id="31" name="Right Arrow 30"/>
          <p:cNvSpPr/>
          <p:nvPr/>
        </p:nvSpPr>
        <p:spPr>
          <a:xfrm>
            <a:off x="8386876" y="407236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8615476" y="3903249"/>
            <a:ext cx="3073298"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8697772" y="3948969"/>
            <a:ext cx="2908706"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второго человека нет</a:t>
            </a:r>
          </a:p>
        </p:txBody>
      </p:sp>
      <p:sp>
        <p:nvSpPr>
          <p:cNvPr id="34" name="TextBox 33"/>
          <p:cNvSpPr txBox="1"/>
          <p:nvPr/>
        </p:nvSpPr>
        <p:spPr>
          <a:xfrm>
            <a:off x="502920" y="4415218"/>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режима, и что остаётся человеку</a:t>
            </a:r>
          </a:p>
        </p:txBody>
      </p:sp>
      <p:sp>
        <p:nvSpPr>
          <p:cNvPr id="35" name="Rounded Rectangle 34"/>
          <p:cNvSpPr/>
          <p:nvPr/>
        </p:nvSpPr>
        <p:spPr>
          <a:xfrm>
            <a:off x="374904" y="4717901"/>
            <a:ext cx="11441887" cy="1518306"/>
          </a:xfrm>
          <a:prstGeom prst="roundRect">
            <a:avLst>
              <a:gd name="adj" fmla="val 20075"/>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4809341"/>
            <a:ext cx="11112703" cy="142686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Оба клинических разбора раздела сняты на одном режиме — подсветке. Режимов два, и разница не в точности.</a:t>
            </a:r>
          </a:p>
          <a:p>
            <a:pPr algn="l">
              <a:lnSpc>
                <a:spcPct val="126000"/>
              </a:lnSpc>
              <a:spcBef>
                <a:spcPts val="720"/>
              </a:spcBef>
            </a:pPr>
            <a:r>
              <a:rPr sz="1250" b="0" i="0">
                <a:solidFill>
                  <a:srgbClr val="21295C"/>
                </a:solidFill>
                <a:latin typeface="Arial"/>
              </a:rPr>
              <a:t/>
            </a:r>
            <a:r>
              <a:rPr sz="1250" b="1" i="0">
                <a:solidFill>
                  <a:srgbClr val="21295C"/>
                </a:solidFill>
                <a:latin typeface="Arial"/>
              </a:rPr>
              <a:t>Подсветка на видео:</a:t>
            </a:r>
            <a:r>
              <a:rPr sz="1250" b="0" i="0">
                <a:solidFill>
                  <a:srgbClr val="21295C"/>
                </a:solidFill>
                <a:latin typeface="Arial"/>
              </a:rPr>
              <a:t> врач ведёт процедуру, рамка появляется на участке, место остаётся за ним — и расход на этом месте измерен. </a:t>
            </a:r>
            <a:r>
              <a:rPr sz="1250" b="1" i="0">
                <a:solidFill>
                  <a:srgbClr val="21295C"/>
                </a:solidFill>
                <a:latin typeface="Arial"/>
              </a:rPr>
              <a:t>Второй читатель снимка:</a:t>
            </a:r>
            <a:r>
              <a:rPr sz="1250" b="0" i="0">
                <a:solidFill>
                  <a:srgbClr val="21295C"/>
                </a:solidFill>
                <a:latin typeface="Arial"/>
              </a:rPr>
              <a:t> модель встаёт на место второго человека, и человека с этого места снимают совсем.</a:t>
            </a:r>
          </a:p>
          <a:p>
            <a:pPr algn="l">
              <a:lnSpc>
                <a:spcPct val="126000"/>
              </a:lnSpc>
              <a:spcBef>
                <a:spcPts val="720"/>
              </a:spcBef>
            </a:pPr>
            <a:r>
              <a:rPr sz="1250" b="0" i="0">
                <a:solidFill>
                  <a:srgbClr val="21295C"/>
                </a:solidFill>
                <a:latin typeface="Arial"/>
              </a:rPr>
              <a:t/>
            </a:r>
            <a:r>
              <a:rPr sz="1250" b="1" i="0">
                <a:solidFill>
                  <a:srgbClr val="21295C"/>
                </a:solidFill>
                <a:latin typeface="Arial"/>
              </a:rPr>
              <a:t>Навык расходуется там, где человек формально остался.</a:t>
            </a:r>
            <a:r>
              <a:rPr sz="1250" b="0" i="0">
                <a:solidFill>
                  <a:srgbClr val="21295C"/>
                </a:solidFill>
                <a:latin typeface="Arial"/>
              </a:rPr>
              <a:t> Там, где его сняли, расход не измерить. Это свойство самого решения, и будущим замером оно не закрывается.</a:t>
            </a:r>
          </a:p>
        </p:txBody>
      </p:sp>
      <p:sp>
        <p:nvSpPr>
          <p:cNvPr id="37" name="Rectangle 36"/>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8" name="TextBox 3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r>
              <a:rPr sz="1200" b="0" i="1">
                <a:solidFill>
                  <a:srgbClr val="1C7293"/>
                </a:solidFill>
                <a:latin typeface="Arial"/>
              </a:rPr>
              <a:t> · </a:t>
            </a:r>
            <a:r>
              <a:rPr sz="1200" b="0" i="1" u="sng">
                <a:solidFill>
                  <a:srgbClr val="065A82"/>
                </a:solidFill>
                <a:latin typeface="Arial"/>
                <a:hlinkClick r:id="rId3"/>
              </a:rPr>
              <a:t>анализ безопасности MASAI, Lancet Oncology 2023</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Свод стадии: что получается, что нет и что из этого про вас</a:t>
            </a:r>
          </a:p>
        </p:txBody>
      </p:sp>
      <p:sp>
        <p:nvSpPr>
          <p:cNvPr id="4" name="Rounded Rectangle 3"/>
          <p:cNvSpPr/>
          <p:nvPr/>
        </p:nvSpPr>
        <p:spPr>
          <a:xfrm>
            <a:off x="502920" y="1335024"/>
            <a:ext cx="3618890" cy="1597671"/>
          </a:xfrm>
          <a:prstGeom prst="roundRect">
            <a:avLst>
              <a:gd name="adj" fmla="val 19077"/>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 ВРАЧЕЙ</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284 → 224 находки на тысячу процедур</a:t>
            </a:r>
          </a:p>
        </p:txBody>
      </p:sp>
      <p:sp>
        <p:nvSpPr>
          <p:cNvPr id="7" name="TextBox 6"/>
          <p:cNvSpPr txBox="1"/>
          <p:nvPr/>
        </p:nvSpPr>
        <p:spPr>
          <a:xfrm>
            <a:off x="640080"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наблюдательно, однажды</a:t>
            </a:r>
          </a:p>
        </p:txBody>
      </p:sp>
      <p:sp>
        <p:nvSpPr>
          <p:cNvPr id="8" name="Rounded Rectangle 7"/>
          <p:cNvSpPr/>
          <p:nvPr/>
        </p:nvSpPr>
        <p:spPr>
          <a:xfrm>
            <a:off x="4286402" y="1335024"/>
            <a:ext cx="3618890" cy="1597671"/>
          </a:xfrm>
          <a:prstGeom prst="roundRect">
            <a:avLst>
              <a:gd name="adj" fmla="val 19077"/>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 УЧЁБЕ, ЖРЕБИЕМ</a:t>
            </a:r>
          </a:p>
        </p:txBody>
      </p:sp>
      <p:sp>
        <p:nvSpPr>
          <p:cNvPr id="10" name="TextBox 9"/>
          <p:cNvSpPr txBox="1"/>
          <p:nvPr/>
        </p:nvSpPr>
        <p:spPr>
          <a:xfrm>
            <a:off x="4423562" y="1725375"/>
            <a:ext cx="3344570"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экзамен без модели на 17 % ниже контроля</a:t>
            </a:r>
          </a:p>
        </p:txBody>
      </p:sp>
      <p:sp>
        <p:nvSpPr>
          <p:cNvPr id="11" name="TextBox 10"/>
          <p:cNvSpPr txBox="1"/>
          <p:nvPr/>
        </p:nvSpPr>
        <p:spPr>
          <a:xfrm>
            <a:off x="4423562" y="2525822"/>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около 1 000 школьников</a:t>
            </a:r>
          </a:p>
        </p:txBody>
      </p:sp>
      <p:sp>
        <p:nvSpPr>
          <p:cNvPr id="12" name="Rounded Rectangle 11"/>
          <p:cNvSpPr/>
          <p:nvPr/>
        </p:nvSpPr>
        <p:spPr>
          <a:xfrm>
            <a:off x="8069884" y="1335024"/>
            <a:ext cx="3618890" cy="1597671"/>
          </a:xfrm>
          <a:prstGeom prst="roundRect">
            <a:avLst>
              <a:gd name="adj" fmla="val 19077"/>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ПРОТИВОВЕС БЕЗ СВОЕГО ЧИСЛА</a:t>
            </a:r>
          </a:p>
        </p:txBody>
      </p:sp>
      <p:sp>
        <p:nvSpPr>
          <p:cNvPr id="14" name="TextBox 13"/>
          <p:cNvSpPr txBox="1"/>
          <p:nvPr/>
        </p:nvSpPr>
        <p:spPr>
          <a:xfrm>
            <a:off x="8207044" y="1725375"/>
            <a:ext cx="3344570"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у 69 новичков через неделю расход не подтвердился</a:t>
            </a:r>
          </a:p>
        </p:txBody>
      </p:sp>
      <p:sp>
        <p:nvSpPr>
          <p:cNvPr id="15" name="TextBox 14"/>
          <p:cNvSpPr txBox="1"/>
          <p:nvPr/>
        </p:nvSpPr>
        <p:spPr>
          <a:xfrm>
            <a:off x="8207044" y="237304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горизонт неделя; размера этого «не подтвердился» источник не называет</a:t>
            </a:r>
          </a:p>
        </p:txBody>
      </p:sp>
      <p:sp>
        <p:nvSpPr>
          <p:cNvPr id="16" name="Rounded Rectangle 15"/>
          <p:cNvSpPr/>
          <p:nvPr/>
        </p:nvSpPr>
        <p:spPr>
          <a:xfrm>
            <a:off x="374904" y="3024135"/>
            <a:ext cx="11441887" cy="3085267"/>
          </a:xfrm>
          <a:prstGeom prst="roundRect">
            <a:avLst>
              <a:gd name="adj" fmla="val 987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15575"/>
            <a:ext cx="5373471" cy="31206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Получается:</a:t>
            </a:r>
            <a:r>
              <a:rPr sz="1500" b="0" i="0">
                <a:solidFill>
                  <a:srgbClr val="21295C"/>
                </a:solidFill>
                <a:latin typeface="Arial"/>
              </a:rPr>
              <a:t> находят больше, пока включён; измерено жребием и повторено.</a:t>
            </a:r>
          </a:p>
          <a:p>
            <a:pPr algn="l">
              <a:lnSpc>
                <a:spcPct val="126000"/>
              </a:lnSpc>
              <a:spcBef>
                <a:spcPts val="2880"/>
              </a:spcBef>
            </a:pPr>
            <a:r>
              <a:rPr sz="1500" b="0" i="0">
                <a:solidFill>
                  <a:srgbClr val="21295C"/>
                </a:solidFill>
                <a:latin typeface="Arial"/>
              </a:rPr>
              <a:t/>
            </a:r>
            <a:r>
              <a:rPr sz="1500" b="1" i="0">
                <a:solidFill>
                  <a:srgbClr val="21295C"/>
                </a:solidFill>
                <a:latin typeface="Arial"/>
              </a:rPr>
              <a:t>Не получается:</a:t>
            </a:r>
            <a:r>
              <a:rPr sz="1500" b="0" i="0">
                <a:solidFill>
                  <a:srgbClr val="21295C"/>
                </a:solidFill>
                <a:latin typeface="Arial"/>
              </a:rPr>
              <a:t> сказать врачу о пропуске в процедуре · измерить доверие за месяцы.</a:t>
            </a:r>
          </a:p>
          <a:p>
            <a:pPr algn="l">
              <a:lnSpc>
                <a:spcPct val="126000"/>
              </a:lnSpc>
              <a:spcBef>
                <a:spcPts val="2880"/>
              </a:spcBef>
            </a:pPr>
            <a:r>
              <a:rPr sz="1500" b="0" i="0">
                <a:solidFill>
                  <a:srgbClr val="21295C"/>
                </a:solidFill>
                <a:latin typeface="Arial"/>
              </a:rPr>
              <a:t/>
            </a:r>
            <a:r>
              <a:rPr sz="1500" b="1" i="0">
                <a:solidFill>
                  <a:srgbClr val="21295C"/>
                </a:solidFill>
                <a:latin typeface="Arial"/>
              </a:rPr>
              <a:t>Появился шаг:</a:t>
            </a:r>
            <a:r>
              <a:rPr sz="1500" b="0" i="0">
                <a:solidFill>
                  <a:srgbClr val="21295C"/>
                </a:solidFill>
                <a:latin typeface="Arial"/>
              </a:rPr>
              <a:t> разбирать расхождение врача и модели. Перепроверку потока сменил целевой арбитраж: защита сменилась целиком.</a:t>
            </a:r>
          </a:p>
        </p:txBody>
      </p:sp>
      <p:sp>
        <p:nvSpPr>
          <p:cNvPr id="18" name="TextBox 17"/>
          <p:cNvSpPr txBox="1"/>
          <p:nvPr/>
        </p:nvSpPr>
        <p:spPr>
          <a:xfrm>
            <a:off x="6278727" y="3115575"/>
            <a:ext cx="5373471" cy="31206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Врача без помощника не измеряет ни одна процедура ни в одной стране.</a:t>
            </a:r>
          </a:p>
          <a:p>
            <a:pPr algn="l">
              <a:lnSpc>
                <a:spcPct val="126000"/>
              </a:lnSpc>
              <a:spcBef>
                <a:spcPts val="2880"/>
              </a:spcBef>
            </a:pPr>
            <a:r>
              <a:rPr sz="1500" b="0" i="0">
                <a:solidFill>
                  <a:srgbClr val="21295C"/>
                </a:solidFill>
                <a:latin typeface="Arial"/>
              </a:rPr>
              <a:t/>
            </a:r>
            <a:r>
              <a:rPr sz="1500" b="1" i="0">
                <a:solidFill>
                  <a:srgbClr val="21295C"/>
                </a:solidFill>
                <a:latin typeface="Arial"/>
              </a:rPr>
              <a:t>Про вас:</a:t>
            </a:r>
            <a:r>
              <a:rPr sz="1500" b="0" i="0">
                <a:solidFill>
                  <a:srgbClr val="21295C"/>
                </a:solidFill>
                <a:latin typeface="Arial"/>
              </a:rPr>
              <a:t> неограниченный помощник создаёт видимость обучения: в работе выше, на проверке ниже. Лечится устройством доступа, не объёмом практики.</a:t>
            </a:r>
          </a:p>
          <a:p>
            <a:pPr algn="l">
              <a:lnSpc>
                <a:spcPct val="126000"/>
              </a:lnSpc>
              <a:spcBef>
                <a:spcPts val="2880"/>
              </a:spcBef>
            </a:pPr>
            <a:r>
              <a:rPr sz="1500" b="0" i="0">
                <a:solidFill>
                  <a:srgbClr val="21295C"/>
                </a:solidFill>
                <a:latin typeface="Arial"/>
              </a:rPr>
              <a:t/>
            </a:r>
            <a:r>
              <a:rPr sz="1500" b="1" i="0">
                <a:solidFill>
                  <a:srgbClr val="21295C"/>
                </a:solidFill>
                <a:latin typeface="Arial"/>
              </a:rPr>
              <a:t>Из шести искажений входа раздел встретил одно — износ навыка: минус 60 находок на тысячу.</a:t>
            </a:r>
          </a:p>
        </p:txBody>
      </p:sp>
      <p:sp>
        <p:nvSpPr>
          <p:cNvPr id="19" name="Rectangle 18"/>
          <p:cNvSpPr/>
          <p:nvPr/>
        </p:nvSpPr>
        <p:spPr>
          <a:xfrm>
            <a:off x="6091275" y="3115575"/>
            <a:ext cx="9144" cy="281094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Budzyń и соавт., Lancet Gastroenterology &amp; Hepatology 2025</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TextBox 3"/>
          <p:cNvSpPr txBox="1"/>
          <p:nvPr/>
        </p:nvSpPr>
        <p:spPr>
          <a:xfrm>
            <a:off x="704088" y="960120"/>
            <a:ext cx="10984687"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Итоги</a:t>
            </a:r>
          </a:p>
        </p:txBody>
      </p:sp>
      <p:sp>
        <p:nvSpPr>
          <p:cNvPr id="5" name="Rectangle 4"/>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6" name="TextBox 5"/>
          <p:cNvSpPr txBox="1"/>
          <p:nvPr/>
        </p:nvSpPr>
        <p:spPr>
          <a:xfrm>
            <a:off x="704088" y="1844558"/>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Лекция разбирала случаи по одному. Здесь они складываются в счёт: каждый итог отвечает на свой вопрос.</a:t>
            </a:r>
          </a:p>
        </p:txBody>
      </p:sp>
      <p:sp>
        <p:nvSpPr>
          <p:cNvPr id="7" name="TextBox 6"/>
          <p:cNvSpPr txBox="1"/>
          <p:nvPr/>
        </p:nvSpPr>
        <p:spPr>
          <a:xfrm>
            <a:off x="704088" y="2329528"/>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Девять форм целиком: что сделалось с работой</a:t>
            </a:r>
          </a:p>
        </p:txBody>
      </p:sp>
      <p:sp>
        <p:nvSpPr>
          <p:cNvPr id="8" name="TextBox 7"/>
          <p:cNvSpPr txBox="1"/>
          <p:nvPr/>
        </p:nvSpPr>
        <p:spPr>
          <a:xfrm>
            <a:off x="704088" y="2814499"/>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2. </a:t>
            </a:r>
            <a:r>
              <a:rPr sz="1550" b="1" i="0">
                <a:solidFill>
                  <a:srgbClr val="21295C"/>
                </a:solidFill>
                <a:latin typeface="Arial"/>
              </a:rPr>
              <a:t>Счёт приписок: в тринадцати случаях из двадцати одного выигрыш не у модели</a:t>
            </a:r>
          </a:p>
        </p:txBody>
      </p:sp>
      <p:sp>
        <p:nvSpPr>
          <p:cNvPr id="9" name="TextBox 8"/>
          <p:cNvSpPr txBox="1"/>
          <p:nvPr/>
        </p:nvSpPr>
        <p:spPr>
          <a:xfrm>
            <a:off x="704088" y="3299470"/>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3. </a:t>
            </a:r>
            <a:r>
              <a:rPr sz="1550" b="1" i="0">
                <a:solidFill>
                  <a:srgbClr val="21295C"/>
                </a:solidFill>
                <a:latin typeface="Arial"/>
              </a:rPr>
              <a:t>Карта задач и видов данных: четыре клетки из двенадцати, и что в них работает</a:t>
            </a:r>
          </a:p>
        </p:txBody>
      </p:sp>
      <p:sp>
        <p:nvSpPr>
          <p:cNvPr id="10" name="TextBox 9"/>
          <p:cNvSpPr txBox="1"/>
          <p:nvPr/>
        </p:nvSpPr>
        <p:spPr>
          <a:xfrm>
            <a:off x="704088" y="3784441"/>
            <a:ext cx="10984687" cy="356954"/>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4. </a:t>
            </a:r>
            <a:r>
              <a:rPr sz="1550" b="1" i="0">
                <a:solidFill>
                  <a:srgbClr val="21295C"/>
                </a:solidFill>
                <a:latin typeface="Arial"/>
              </a:rPr>
              <a:t>Чем заплатили: внимание, навык, подпись, арбитраж</a:t>
            </a:r>
          </a:p>
        </p:txBody>
      </p:sp>
      <p:sp>
        <p:nvSpPr>
          <p:cNvPr id="11" name="TextBox 10"/>
          <p:cNvSpPr txBox="1"/>
          <p:nvPr/>
        </p:nvSpPr>
        <p:spPr>
          <a:xfrm>
            <a:off x="704088" y="4269411"/>
            <a:ext cx="10984687" cy="961136"/>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Новое число здесь одно — счёт приписок.</a:t>
            </a:r>
            <a:r>
              <a:rPr sz="1550" b="0" i="0">
                <a:solidFill>
                  <a:srgbClr val="21295C"/>
                </a:solidFill>
                <a:latin typeface="Arial"/>
              </a:rPr>
              <a:t> Ни одного нового случая раздел не добавляет: остальное уже предъявлено, каждое со своей базой, и складывается здесь так, чтобы из суммы читалось то, чего не видно в отдельном случае.</a:t>
            </a:r>
          </a:p>
        </p:txBody>
      </p:sp>
      <p:sp>
        <p:nvSpPr>
          <p:cNvPr id="12" name="TextBox 11"/>
          <p:cNvSpPr txBox="1"/>
          <p:nvPr/>
        </p:nvSpPr>
        <p:spPr>
          <a:xfrm>
            <a:off x="704088" y="5358564"/>
            <a:ext cx="10984687" cy="659045"/>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Ответа на вопрос, с которого вечер начался, здесь нет: закрытие открывается одной строкой о том, чего вечер не измерил, и отвечает следующим кадром.</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Девять форм целиком: что сделалось с работой</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693924" cy="383379"/>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401316"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
            </a:r>
          </a:p>
        </p:txBody>
      </p:sp>
      <p:sp>
        <p:nvSpPr>
          <p:cNvPr id="7" name="Rectangle 6"/>
          <p:cNvSpPr/>
          <p:nvPr/>
        </p:nvSpPr>
        <p:spPr>
          <a:xfrm>
            <a:off x="1233420" y="1335024"/>
            <a:ext cx="3758996" cy="383379"/>
          </a:xfrm>
          <a:prstGeom prst="rect">
            <a:avLst/>
          </a:prstGeom>
          <a:solidFill>
            <a:srgbClr val="065A82"/>
          </a:solidFill>
          <a:ln>
            <a:noFill/>
          </a:ln>
          <a:effectLst/>
        </p:spPr>
        <p:txBody>
          <a:bodyPr rtlCol="0" anchor="ctr"/>
          <a:lstStyle/>
          <a:p>
            <a:pPr algn="ctr"/>
          </a:p>
        </p:txBody>
      </p:sp>
      <p:sp>
        <p:nvSpPr>
          <p:cNvPr id="8" name="TextBox 7"/>
          <p:cNvSpPr txBox="1"/>
          <p:nvPr/>
        </p:nvSpPr>
        <p:spPr>
          <a:xfrm>
            <a:off x="1379724" y="1335024"/>
            <a:ext cx="3466388"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форма</a:t>
            </a:r>
          </a:p>
        </p:txBody>
      </p:sp>
      <p:sp>
        <p:nvSpPr>
          <p:cNvPr id="9" name="Rectangle 8"/>
          <p:cNvSpPr/>
          <p:nvPr/>
        </p:nvSpPr>
        <p:spPr>
          <a:xfrm>
            <a:off x="4992416" y="1335024"/>
            <a:ext cx="6659782" cy="383379"/>
          </a:xfrm>
          <a:prstGeom prst="rect">
            <a:avLst/>
          </a:prstGeom>
          <a:solidFill>
            <a:srgbClr val="065A82"/>
          </a:solidFill>
          <a:ln>
            <a:noFill/>
          </a:ln>
          <a:effectLst/>
        </p:spPr>
        <p:txBody>
          <a:bodyPr rtlCol="0" anchor="ctr"/>
          <a:lstStyle/>
          <a:p>
            <a:pPr algn="ctr"/>
          </a:p>
        </p:txBody>
      </p:sp>
      <p:sp>
        <p:nvSpPr>
          <p:cNvPr id="10" name="TextBox 9"/>
          <p:cNvSpPr txBox="1"/>
          <p:nvPr/>
        </p:nvSpPr>
        <p:spPr>
          <a:xfrm>
            <a:off x="5138720" y="1335024"/>
            <a:ext cx="6367174"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счёт</a:t>
            </a:r>
          </a:p>
        </p:txBody>
      </p:sp>
      <p:sp>
        <p:nvSpPr>
          <p:cNvPr id="11" name="Rectangle 10"/>
          <p:cNvSpPr/>
          <p:nvPr/>
        </p:nvSpPr>
        <p:spPr>
          <a:xfrm>
            <a:off x="539496" y="1718403"/>
            <a:ext cx="693924" cy="383379"/>
          </a:xfrm>
          <a:prstGeom prst="rect">
            <a:avLst/>
          </a:prstGeom>
          <a:solidFill>
            <a:srgbClr val="FFFFFF"/>
          </a:solidFill>
          <a:ln w="12700">
            <a:solidFill>
              <a:srgbClr val="D9E2EC"/>
            </a:solidFill>
          </a:ln>
          <a:effectLst/>
        </p:spPr>
        <p:txBody>
          <a:bodyPr rtlCol="0" anchor="ctr"/>
          <a:lstStyle/>
          <a:p>
            <a:pPr algn="ctr"/>
          </a:p>
        </p:txBody>
      </p:sp>
      <p:sp>
        <p:nvSpPr>
          <p:cNvPr id="12" name="TextBox 11"/>
          <p:cNvSpPr txBox="1"/>
          <p:nvPr/>
        </p:nvSpPr>
        <p:spPr>
          <a:xfrm>
            <a:off x="685800" y="171840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1</a:t>
            </a:r>
          </a:p>
        </p:txBody>
      </p:sp>
      <p:sp>
        <p:nvSpPr>
          <p:cNvPr id="13" name="Rectangle 12"/>
          <p:cNvSpPr/>
          <p:nvPr/>
        </p:nvSpPr>
        <p:spPr>
          <a:xfrm>
            <a:off x="1233420" y="1718403"/>
            <a:ext cx="3758996" cy="383379"/>
          </a:xfrm>
          <a:prstGeom prst="rect">
            <a:avLst/>
          </a:prstGeom>
          <a:solidFill>
            <a:srgbClr val="FFFFFF"/>
          </a:solidFill>
          <a:ln w="12700">
            <a:solidFill>
              <a:srgbClr val="D9E2EC"/>
            </a:solidFill>
          </a:ln>
          <a:effectLst/>
        </p:spPr>
        <p:txBody>
          <a:bodyPr rtlCol="0" anchor="ctr"/>
          <a:lstStyle/>
          <a:p>
            <a:pPr algn="ctr"/>
          </a:p>
        </p:txBody>
      </p:sp>
      <p:sp>
        <p:nvSpPr>
          <p:cNvPr id="14" name="TextBox 13"/>
          <p:cNvSpPr txBox="1"/>
          <p:nvPr/>
        </p:nvSpPr>
        <p:spPr>
          <a:xfrm>
            <a:off x="1379724" y="171840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переехала на другой шаг</a:t>
            </a:r>
          </a:p>
        </p:txBody>
      </p:sp>
      <p:sp>
        <p:nvSpPr>
          <p:cNvPr id="15" name="Rectangle 14"/>
          <p:cNvSpPr/>
          <p:nvPr/>
        </p:nvSpPr>
        <p:spPr>
          <a:xfrm>
            <a:off x="4992416" y="1718403"/>
            <a:ext cx="6659782" cy="383379"/>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5138720" y="171840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время заметки </a:t>
            </a:r>
            <a:r>
              <a:rPr sz="1200" b="1" i="0">
                <a:solidFill>
                  <a:srgbClr val="21295C"/>
                </a:solidFill>
                <a:latin typeface="Arial"/>
              </a:rPr>
              <a:t>−9,5 %</a:t>
            </a:r>
            <a:r>
              <a:rPr sz="1200" b="0" i="0">
                <a:solidFill>
                  <a:srgbClr val="21295C"/>
                </a:solidFill>
                <a:latin typeface="Arial"/>
              </a:rPr>
              <a:t> к контролю, правка не изменилась</a:t>
            </a:r>
          </a:p>
        </p:txBody>
      </p:sp>
      <p:sp>
        <p:nvSpPr>
          <p:cNvPr id="17" name="Rectangle 16"/>
          <p:cNvSpPr/>
          <p:nvPr/>
        </p:nvSpPr>
        <p:spPr>
          <a:xfrm>
            <a:off x="539496" y="2101783"/>
            <a:ext cx="693924" cy="383379"/>
          </a:xfrm>
          <a:prstGeom prst="rect">
            <a:avLst/>
          </a:prstGeom>
          <a:solidFill>
            <a:srgbClr val="F4F7FA"/>
          </a:solidFill>
          <a:ln w="12700">
            <a:solidFill>
              <a:srgbClr val="D9E2EC"/>
            </a:solidFill>
          </a:ln>
          <a:effectLst/>
        </p:spPr>
        <p:txBody>
          <a:bodyPr rtlCol="0" anchor="ctr"/>
          <a:lstStyle/>
          <a:p>
            <a:pPr algn="ctr"/>
          </a:p>
        </p:txBody>
      </p:sp>
      <p:sp>
        <p:nvSpPr>
          <p:cNvPr id="18" name="TextBox 17"/>
          <p:cNvSpPr txBox="1"/>
          <p:nvPr/>
        </p:nvSpPr>
        <p:spPr>
          <a:xfrm>
            <a:off x="685800" y="210178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2</a:t>
            </a:r>
          </a:p>
        </p:txBody>
      </p:sp>
      <p:sp>
        <p:nvSpPr>
          <p:cNvPr id="19" name="Rectangle 18"/>
          <p:cNvSpPr/>
          <p:nvPr/>
        </p:nvSpPr>
        <p:spPr>
          <a:xfrm>
            <a:off x="1233420" y="2101783"/>
            <a:ext cx="3758996" cy="383379"/>
          </a:xfrm>
          <a:prstGeom prst="rect">
            <a:avLst/>
          </a:prstGeom>
          <a:solidFill>
            <a:srgbClr val="F4F7FA"/>
          </a:solidFill>
          <a:ln w="12700">
            <a:solidFill>
              <a:srgbClr val="D9E2EC"/>
            </a:solidFill>
          </a:ln>
          <a:effectLst/>
        </p:spPr>
        <p:txBody>
          <a:bodyPr rtlCol="0" anchor="ctr"/>
          <a:lstStyle/>
          <a:p>
            <a:pPr algn="ctr"/>
          </a:p>
        </p:txBody>
      </p:sp>
      <p:sp>
        <p:nvSpPr>
          <p:cNvPr id="20" name="TextBox 19"/>
          <p:cNvSpPr txBox="1"/>
          <p:nvPr/>
        </p:nvSpPr>
        <p:spPr>
          <a:xfrm>
            <a:off x="1379724" y="210178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Шаг исчез совсем</a:t>
            </a:r>
          </a:p>
        </p:txBody>
      </p:sp>
      <p:sp>
        <p:nvSpPr>
          <p:cNvPr id="21" name="Rectangle 20"/>
          <p:cNvSpPr/>
          <p:nvPr/>
        </p:nvSpPr>
        <p:spPr>
          <a:xfrm>
            <a:off x="4992416" y="2101783"/>
            <a:ext cx="6659782" cy="383379"/>
          </a:xfrm>
          <a:prstGeom prst="rect">
            <a:avLst/>
          </a:prstGeom>
          <a:solidFill>
            <a:srgbClr val="F4F7FA"/>
          </a:solidFill>
          <a:ln w="12700">
            <a:solidFill>
              <a:srgbClr val="D9E2EC"/>
            </a:solidFill>
          </a:ln>
          <a:effectLst/>
        </p:spPr>
        <p:txBody>
          <a:bodyPr rtlCol="0" anchor="ctr"/>
          <a:lstStyle/>
          <a:p>
            <a:pPr algn="ctr"/>
          </a:p>
        </p:txBody>
      </p:sp>
      <p:sp>
        <p:nvSpPr>
          <p:cNvPr id="22" name="TextBox 21"/>
          <p:cNvSpPr txBox="1"/>
          <p:nvPr/>
        </p:nvSpPr>
        <p:spPr>
          <a:xfrm>
            <a:off x="5138720" y="210178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случая не встретилось</a:t>
            </a:r>
          </a:p>
        </p:txBody>
      </p:sp>
      <p:sp>
        <p:nvSpPr>
          <p:cNvPr id="23" name="Rectangle 22"/>
          <p:cNvSpPr/>
          <p:nvPr/>
        </p:nvSpPr>
        <p:spPr>
          <a:xfrm>
            <a:off x="539496" y="2485163"/>
            <a:ext cx="693924" cy="383379"/>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685800" y="248516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3</a:t>
            </a:r>
          </a:p>
        </p:txBody>
      </p:sp>
      <p:sp>
        <p:nvSpPr>
          <p:cNvPr id="25" name="Rectangle 24"/>
          <p:cNvSpPr/>
          <p:nvPr/>
        </p:nvSpPr>
        <p:spPr>
          <a:xfrm>
            <a:off x="1233420" y="2485163"/>
            <a:ext cx="3758996" cy="383379"/>
          </a:xfrm>
          <a:prstGeom prst="rect">
            <a:avLst/>
          </a:prstGeom>
          <a:solidFill>
            <a:srgbClr val="FFFFFF"/>
          </a:solidFill>
          <a:ln w="12700">
            <a:solidFill>
              <a:srgbClr val="D9E2EC"/>
            </a:solidFill>
          </a:ln>
          <a:effectLst/>
        </p:spPr>
        <p:txBody>
          <a:bodyPr rtlCol="0" anchor="ctr"/>
          <a:lstStyle/>
          <a:p>
            <a:pPr algn="ctr"/>
          </a:p>
        </p:txBody>
      </p:sp>
      <p:sp>
        <p:nvSpPr>
          <p:cNvPr id="26" name="TextBox 25"/>
          <p:cNvSpPr txBox="1"/>
          <p:nvPr/>
        </p:nvSpPr>
        <p:spPr>
          <a:xfrm>
            <a:off x="1379724" y="248516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Шаг появился</a:t>
            </a:r>
          </a:p>
        </p:txBody>
      </p:sp>
      <p:sp>
        <p:nvSpPr>
          <p:cNvPr id="27" name="Rectangle 26"/>
          <p:cNvSpPr/>
          <p:nvPr/>
        </p:nvSpPr>
        <p:spPr>
          <a:xfrm>
            <a:off x="4992416" y="2485163"/>
            <a:ext cx="6659782" cy="383379"/>
          </a:xfrm>
          <a:prstGeom prst="rect">
            <a:avLst/>
          </a:prstGeom>
          <a:solidFill>
            <a:srgbClr val="FFFFFF"/>
          </a:solidFill>
          <a:ln w="12700">
            <a:solidFill>
              <a:srgbClr val="D9E2EC"/>
            </a:solidFill>
          </a:ln>
          <a:effectLst/>
        </p:spPr>
        <p:txBody>
          <a:bodyPr rtlCol="0" anchor="ctr"/>
          <a:lstStyle/>
          <a:p>
            <a:pPr algn="ctr"/>
          </a:p>
        </p:txBody>
      </p:sp>
      <p:sp>
        <p:nvSpPr>
          <p:cNvPr id="28" name="TextBox 27"/>
          <p:cNvSpPr txBox="1"/>
          <p:nvPr/>
        </p:nvSpPr>
        <p:spPr>
          <a:xfrm>
            <a:off x="5138720" y="248516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 арбитраж </a:t>
            </a:r>
            <a:r>
              <a:rPr sz="1200" b="1" i="0">
                <a:solidFill>
                  <a:srgbClr val="21295C"/>
                </a:solidFill>
                <a:latin typeface="Arial"/>
              </a:rPr>
              <a:t>3,9 → 9,4</a:t>
            </a:r>
            <a:r>
              <a:rPr sz="1200" b="0" i="0">
                <a:solidFill>
                  <a:srgbClr val="21295C"/>
                </a:solidFill>
                <a:latin typeface="Arial"/>
              </a:rPr>
              <a:t> и </a:t>
            </a:r>
            <a:r>
              <a:rPr sz="1200" b="1" i="0">
                <a:solidFill>
                  <a:srgbClr val="21295C"/>
                </a:solidFill>
                <a:latin typeface="Arial"/>
              </a:rPr>
              <a:t>11,3 → 13,8</a:t>
            </a:r>
            <a:r>
              <a:rPr sz="1200" b="0" i="0">
                <a:solidFill>
                  <a:srgbClr val="21295C"/>
                </a:solidFill>
                <a:latin typeface="Arial"/>
              </a:rPr>
              <a:t> из ста чтений</a:t>
            </a:r>
          </a:p>
        </p:txBody>
      </p:sp>
      <p:sp>
        <p:nvSpPr>
          <p:cNvPr id="29" name="Rectangle 28"/>
          <p:cNvSpPr/>
          <p:nvPr/>
        </p:nvSpPr>
        <p:spPr>
          <a:xfrm>
            <a:off x="539496" y="2868543"/>
            <a:ext cx="693924" cy="383379"/>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685800" y="286854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4</a:t>
            </a:r>
          </a:p>
        </p:txBody>
      </p:sp>
      <p:sp>
        <p:nvSpPr>
          <p:cNvPr id="31" name="Rectangle 30"/>
          <p:cNvSpPr/>
          <p:nvPr/>
        </p:nvSpPr>
        <p:spPr>
          <a:xfrm>
            <a:off x="1233420" y="2868543"/>
            <a:ext cx="3758996" cy="383379"/>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1379724" y="286854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выросла на том же месте</a:t>
            </a:r>
          </a:p>
        </p:txBody>
      </p:sp>
      <p:sp>
        <p:nvSpPr>
          <p:cNvPr id="33" name="Rectangle 32"/>
          <p:cNvSpPr/>
          <p:nvPr/>
        </p:nvSpPr>
        <p:spPr>
          <a:xfrm>
            <a:off x="4992416" y="2868543"/>
            <a:ext cx="6659782" cy="383379"/>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5138720" y="286854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18</a:t>
            </a:r>
            <a:r>
              <a:rPr sz="1200" b="0" i="0">
                <a:solidFill>
                  <a:srgbClr val="21295C"/>
                </a:solidFill>
                <a:latin typeface="Arial"/>
              </a:rPr>
              <a:t> тревог на сто госпитализаций · </a:t>
            </a:r>
            <a:r>
              <a:rPr sz="1200" b="1" i="0">
                <a:solidFill>
                  <a:srgbClr val="21295C"/>
                </a:solidFill>
                <a:latin typeface="Arial"/>
              </a:rPr>
              <a:t>1,23</a:t>
            </a:r>
            <a:r>
              <a:rPr sz="1200" b="0" i="0">
                <a:solidFill>
                  <a:srgbClr val="21295C"/>
                </a:solidFill>
                <a:latin typeface="Arial"/>
              </a:rPr>
              <a:t> впустую на исследование</a:t>
            </a:r>
          </a:p>
        </p:txBody>
      </p:sp>
      <p:sp>
        <p:nvSpPr>
          <p:cNvPr id="35" name="Rectangle 34"/>
          <p:cNvSpPr/>
          <p:nvPr/>
        </p:nvSpPr>
        <p:spPr>
          <a:xfrm>
            <a:off x="539496" y="3251923"/>
            <a:ext cx="693924" cy="383379"/>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25192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4а</a:t>
            </a:r>
          </a:p>
        </p:txBody>
      </p:sp>
      <p:sp>
        <p:nvSpPr>
          <p:cNvPr id="37" name="Rectangle 36"/>
          <p:cNvSpPr/>
          <p:nvPr/>
        </p:nvSpPr>
        <p:spPr>
          <a:xfrm>
            <a:off x="1233420" y="3251923"/>
            <a:ext cx="3758996" cy="383379"/>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379724" y="325192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Нагрузка на том же месте упала</a:t>
            </a:r>
          </a:p>
        </p:txBody>
      </p:sp>
      <p:sp>
        <p:nvSpPr>
          <p:cNvPr id="39" name="Rectangle 38"/>
          <p:cNvSpPr/>
          <p:nvPr/>
        </p:nvSpPr>
        <p:spPr>
          <a:xfrm>
            <a:off x="4992416" y="3251923"/>
            <a:ext cx="6659782" cy="383379"/>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5138720" y="325192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чтение ниже </a:t>
            </a:r>
            <a:r>
              <a:rPr sz="1200" b="1" i="0">
                <a:solidFill>
                  <a:srgbClr val="21295C"/>
                </a:solidFill>
                <a:latin typeface="Arial"/>
              </a:rPr>
              <a:t>на 44,3 %</a:t>
            </a:r>
          </a:p>
        </p:txBody>
      </p:sp>
      <p:sp>
        <p:nvSpPr>
          <p:cNvPr id="41" name="Rectangle 40"/>
          <p:cNvSpPr/>
          <p:nvPr/>
        </p:nvSpPr>
        <p:spPr>
          <a:xfrm>
            <a:off x="539496" y="3635303"/>
            <a:ext cx="693924" cy="383379"/>
          </a:xfrm>
          <a:prstGeom prst="rect">
            <a:avLst/>
          </a:prstGeom>
          <a:solidFill>
            <a:srgbClr val="F4F7FA"/>
          </a:solidFill>
          <a:ln w="12700">
            <a:solidFill>
              <a:srgbClr val="D9E2EC"/>
            </a:solidFill>
          </a:ln>
          <a:effectLst/>
        </p:spPr>
        <p:txBody>
          <a:bodyPr rtlCol="0" anchor="ctr"/>
          <a:lstStyle/>
          <a:p>
            <a:pPr algn="ctr"/>
          </a:p>
        </p:txBody>
      </p:sp>
      <p:sp>
        <p:nvSpPr>
          <p:cNvPr id="42" name="TextBox 41"/>
          <p:cNvSpPr txBox="1"/>
          <p:nvPr/>
        </p:nvSpPr>
        <p:spPr>
          <a:xfrm>
            <a:off x="685800" y="363530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5</a:t>
            </a:r>
          </a:p>
        </p:txBody>
      </p:sp>
      <p:sp>
        <p:nvSpPr>
          <p:cNvPr id="43" name="Rectangle 42"/>
          <p:cNvSpPr/>
          <p:nvPr/>
        </p:nvSpPr>
        <p:spPr>
          <a:xfrm>
            <a:off x="1233420" y="3635303"/>
            <a:ext cx="3758996" cy="383379"/>
          </a:xfrm>
          <a:prstGeom prst="rect">
            <a:avLst/>
          </a:prstGeom>
          <a:solidFill>
            <a:srgbClr val="F4F7FA"/>
          </a:solidFill>
          <a:ln w="12700">
            <a:solidFill>
              <a:srgbClr val="D9E2EC"/>
            </a:solidFill>
          </a:ln>
          <a:effectLst/>
        </p:spPr>
        <p:txBody>
          <a:bodyPr rtlCol="0" anchor="ctr"/>
          <a:lstStyle/>
          <a:p>
            <a:pPr algn="ctr"/>
          </a:p>
        </p:txBody>
      </p:sp>
      <p:sp>
        <p:nvSpPr>
          <p:cNvPr id="44" name="TextBox 43"/>
          <p:cNvSpPr txBox="1"/>
          <p:nvPr/>
        </p:nvSpPr>
        <p:spPr>
          <a:xfrm>
            <a:off x="1379724" y="363530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Сменился исполнитель</a:t>
            </a:r>
          </a:p>
        </p:txBody>
      </p:sp>
      <p:sp>
        <p:nvSpPr>
          <p:cNvPr id="45" name="Rectangle 44"/>
          <p:cNvSpPr/>
          <p:nvPr/>
        </p:nvSpPr>
        <p:spPr>
          <a:xfrm>
            <a:off x="4992416" y="3635303"/>
            <a:ext cx="6659782" cy="383379"/>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5138720" y="363530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явка </a:t>
            </a:r>
            <a:r>
              <a:rPr sz="1200" b="1" i="0">
                <a:solidFill>
                  <a:srgbClr val="21295C"/>
                </a:solidFill>
                <a:latin typeface="Arial"/>
              </a:rPr>
              <a:t>22 → 100</a:t>
            </a:r>
            <a:r>
              <a:rPr sz="1200" b="0" i="0">
                <a:solidFill>
                  <a:srgbClr val="21295C"/>
                </a:solidFill>
                <a:latin typeface="Arial"/>
              </a:rPr>
              <a:t> из ста · находки </a:t>
            </a:r>
            <a:r>
              <a:rPr sz="1200" b="1" i="0">
                <a:solidFill>
                  <a:srgbClr val="21295C"/>
                </a:solidFill>
                <a:latin typeface="Arial"/>
              </a:rPr>
              <a:t>413 → 472</a:t>
            </a:r>
            <a:r>
              <a:rPr sz="1200" b="0" i="0">
                <a:solidFill>
                  <a:srgbClr val="21295C"/>
                </a:solidFill>
                <a:latin typeface="Arial"/>
              </a:rPr>
              <a:t> из тысячи</a:t>
            </a:r>
          </a:p>
        </p:txBody>
      </p:sp>
      <p:sp>
        <p:nvSpPr>
          <p:cNvPr id="47" name="Rectangle 46"/>
          <p:cNvSpPr/>
          <p:nvPr/>
        </p:nvSpPr>
        <p:spPr>
          <a:xfrm>
            <a:off x="539496" y="4018683"/>
            <a:ext cx="693924" cy="383379"/>
          </a:xfrm>
          <a:prstGeom prst="rect">
            <a:avLst/>
          </a:prstGeom>
          <a:solidFill>
            <a:srgbClr val="FFFFFF"/>
          </a:solidFill>
          <a:ln w="12700">
            <a:solidFill>
              <a:srgbClr val="D9E2EC"/>
            </a:solidFill>
          </a:ln>
          <a:effectLst/>
        </p:spPr>
        <p:txBody>
          <a:bodyPr rtlCol="0" anchor="ctr"/>
          <a:lstStyle/>
          <a:p>
            <a:pPr algn="ctr"/>
          </a:p>
        </p:txBody>
      </p:sp>
      <p:sp>
        <p:nvSpPr>
          <p:cNvPr id="48" name="TextBox 47"/>
          <p:cNvSpPr txBox="1"/>
          <p:nvPr/>
        </p:nvSpPr>
        <p:spPr>
          <a:xfrm>
            <a:off x="685800" y="401868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6</a:t>
            </a:r>
          </a:p>
        </p:txBody>
      </p:sp>
      <p:sp>
        <p:nvSpPr>
          <p:cNvPr id="49" name="Rectangle 48"/>
          <p:cNvSpPr/>
          <p:nvPr/>
        </p:nvSpPr>
        <p:spPr>
          <a:xfrm>
            <a:off x="1233420" y="4018683"/>
            <a:ext cx="3758996" cy="383379"/>
          </a:xfrm>
          <a:prstGeom prst="rect">
            <a:avLst/>
          </a:prstGeom>
          <a:solidFill>
            <a:srgbClr val="FFFFFF"/>
          </a:solidFill>
          <a:ln w="12700">
            <a:solidFill>
              <a:srgbClr val="D9E2EC"/>
            </a:solidFill>
          </a:ln>
          <a:effectLst/>
        </p:spPr>
        <p:txBody>
          <a:bodyPr rtlCol="0" anchor="ctr"/>
          <a:lstStyle/>
          <a:p>
            <a:pPr algn="ctr"/>
          </a:p>
        </p:txBody>
      </p:sp>
      <p:sp>
        <p:nvSpPr>
          <p:cNvPr id="50" name="TextBox 49"/>
          <p:cNvSpPr txBox="1"/>
          <p:nvPr/>
        </p:nvSpPr>
        <p:spPr>
          <a:xfrm>
            <a:off x="1379724" y="4018683"/>
            <a:ext cx="3466388"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Изменился порядок работ</a:t>
            </a:r>
          </a:p>
        </p:txBody>
      </p:sp>
      <p:sp>
        <p:nvSpPr>
          <p:cNvPr id="51" name="Rectangle 50"/>
          <p:cNvSpPr/>
          <p:nvPr/>
        </p:nvSpPr>
        <p:spPr>
          <a:xfrm>
            <a:off x="4992416" y="4018683"/>
            <a:ext cx="6659782" cy="383379"/>
          </a:xfrm>
          <a:prstGeom prst="rect">
            <a:avLst/>
          </a:prstGeom>
          <a:solidFill>
            <a:srgbClr val="FFFFFF"/>
          </a:solidFill>
          <a:ln w="12700">
            <a:solidFill>
              <a:srgbClr val="D9E2EC"/>
            </a:solidFill>
          </a:ln>
          <a:effectLst/>
        </p:spPr>
        <p:txBody>
          <a:bodyPr rtlCol="0" anchor="ctr"/>
          <a:lstStyle/>
          <a:p>
            <a:pPr algn="ctr"/>
          </a:p>
        </p:txBody>
      </p:sp>
      <p:sp>
        <p:nvSpPr>
          <p:cNvPr id="52" name="TextBox 51"/>
          <p:cNvSpPr txBox="1"/>
          <p:nvPr/>
        </p:nvSpPr>
        <p:spPr>
          <a:xfrm>
            <a:off x="5138720" y="4018683"/>
            <a:ext cx="6367174"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счёта нет</a:t>
            </a:r>
          </a:p>
        </p:txBody>
      </p:sp>
      <p:sp>
        <p:nvSpPr>
          <p:cNvPr id="53" name="Rectangle 52"/>
          <p:cNvSpPr/>
          <p:nvPr/>
        </p:nvSpPr>
        <p:spPr>
          <a:xfrm>
            <a:off x="539496" y="4402063"/>
            <a:ext cx="693924" cy="383379"/>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685800" y="4402063"/>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7</a:t>
            </a:r>
          </a:p>
        </p:txBody>
      </p:sp>
      <p:sp>
        <p:nvSpPr>
          <p:cNvPr id="55" name="Rectangle 54"/>
          <p:cNvSpPr/>
          <p:nvPr/>
        </p:nvSpPr>
        <p:spPr>
          <a:xfrm>
            <a:off x="1233420" y="4402063"/>
            <a:ext cx="3758996" cy="383379"/>
          </a:xfrm>
          <a:prstGeom prst="rect">
            <a:avLst/>
          </a:prstGeom>
          <a:solidFill>
            <a:srgbClr val="F4F7FA"/>
          </a:solidFill>
          <a:ln w="12700">
            <a:solidFill>
              <a:srgbClr val="D9E2EC"/>
            </a:solidFill>
          </a:ln>
          <a:effectLst/>
        </p:spPr>
        <p:txBody>
          <a:bodyPr rtlCol="0" anchor="ctr"/>
          <a:lstStyle/>
          <a:p>
            <a:pPr algn="ctr"/>
          </a:p>
        </p:txBody>
      </p:sp>
      <p:sp>
        <p:nvSpPr>
          <p:cNvPr id="56" name="TextBox 55"/>
          <p:cNvSpPr txBox="1"/>
          <p:nvPr/>
        </p:nvSpPr>
        <p:spPr>
          <a:xfrm>
            <a:off x="1379724" y="4402063"/>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Сместилась цена ошибки</a:t>
            </a:r>
          </a:p>
        </p:txBody>
      </p:sp>
      <p:sp>
        <p:nvSpPr>
          <p:cNvPr id="57" name="Rectangle 56"/>
          <p:cNvSpPr/>
          <p:nvPr/>
        </p:nvSpPr>
        <p:spPr>
          <a:xfrm>
            <a:off x="4992416" y="4402063"/>
            <a:ext cx="6659782" cy="383379"/>
          </a:xfrm>
          <a:prstGeom prst="rect">
            <a:avLst/>
          </a:prstGeom>
          <a:solidFill>
            <a:srgbClr val="F4F7FA"/>
          </a:solidFill>
          <a:ln w="12700">
            <a:solidFill>
              <a:srgbClr val="D9E2EC"/>
            </a:solidFill>
          </a:ln>
          <a:effectLst/>
        </p:spPr>
        <p:txBody>
          <a:bodyPr rtlCol="0" anchor="ctr"/>
          <a:lstStyle/>
          <a:p>
            <a:pPr algn="ctr"/>
          </a:p>
        </p:txBody>
      </p:sp>
      <p:sp>
        <p:nvSpPr>
          <p:cNvPr id="58" name="TextBox 57"/>
          <p:cNvSpPr txBox="1"/>
          <p:nvPr/>
        </p:nvSpPr>
        <p:spPr>
          <a:xfrm>
            <a:off x="5138720" y="4402063"/>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 тёмной коже хуже </a:t>
            </a:r>
            <a:r>
              <a:rPr sz="1200" b="1" i="0">
                <a:solidFill>
                  <a:srgbClr val="21295C"/>
                </a:solidFill>
                <a:latin typeface="Arial"/>
              </a:rPr>
              <a:t>на 9–15</a:t>
            </a:r>
            <a:r>
              <a:rPr sz="1200" b="0" i="0">
                <a:solidFill>
                  <a:srgbClr val="21295C"/>
                </a:solidFill>
                <a:latin typeface="Arial"/>
              </a:rPr>
              <a:t> из 100 · болезней больше </a:t>
            </a:r>
            <a:r>
              <a:rPr sz="1200" b="1" i="0">
                <a:solidFill>
                  <a:srgbClr val="21295C"/>
                </a:solidFill>
                <a:latin typeface="Arial"/>
              </a:rPr>
              <a:t>на 26</a:t>
            </a:r>
            <a:r>
              <a:rPr sz="1200" b="0" i="0">
                <a:solidFill>
                  <a:srgbClr val="21295C"/>
                </a:solidFill>
                <a:latin typeface="Arial"/>
              </a:rPr>
              <a:t> из ста</a:t>
            </a:r>
          </a:p>
        </p:txBody>
      </p:sp>
      <p:sp>
        <p:nvSpPr>
          <p:cNvPr id="59" name="Rectangle 58"/>
          <p:cNvSpPr/>
          <p:nvPr/>
        </p:nvSpPr>
        <p:spPr>
          <a:xfrm>
            <a:off x="539496" y="4785442"/>
            <a:ext cx="693924" cy="383379"/>
          </a:xfrm>
          <a:prstGeom prst="rect">
            <a:avLst/>
          </a:prstGeom>
          <a:solidFill>
            <a:srgbClr val="FFFFFF"/>
          </a:solidFill>
          <a:ln w="12700">
            <a:solidFill>
              <a:srgbClr val="D9E2EC"/>
            </a:solidFill>
          </a:ln>
          <a:effectLst/>
        </p:spPr>
        <p:txBody>
          <a:bodyPr rtlCol="0" anchor="ctr"/>
          <a:lstStyle/>
          <a:p>
            <a:pPr algn="ctr"/>
          </a:p>
        </p:txBody>
      </p:sp>
      <p:sp>
        <p:nvSpPr>
          <p:cNvPr id="60" name="TextBox 59"/>
          <p:cNvSpPr txBox="1"/>
          <p:nvPr/>
        </p:nvSpPr>
        <p:spPr>
          <a:xfrm>
            <a:off x="685800" y="4785442"/>
            <a:ext cx="401316"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8</a:t>
            </a:r>
          </a:p>
        </p:txBody>
      </p:sp>
      <p:sp>
        <p:nvSpPr>
          <p:cNvPr id="61" name="Rectangle 60"/>
          <p:cNvSpPr/>
          <p:nvPr/>
        </p:nvSpPr>
        <p:spPr>
          <a:xfrm>
            <a:off x="1233420" y="4785442"/>
            <a:ext cx="3758996" cy="383379"/>
          </a:xfrm>
          <a:prstGeom prst="rect">
            <a:avLst/>
          </a:prstGeom>
          <a:solidFill>
            <a:srgbClr val="FFFFFF"/>
          </a:solidFill>
          <a:ln w="12700">
            <a:solidFill>
              <a:srgbClr val="D9E2EC"/>
            </a:solidFill>
          </a:ln>
          <a:effectLst/>
        </p:spPr>
        <p:txBody>
          <a:bodyPr rtlCol="0" anchor="ctr"/>
          <a:lstStyle/>
          <a:p>
            <a:pPr algn="ctr"/>
          </a:p>
        </p:txBody>
      </p:sp>
      <p:sp>
        <p:nvSpPr>
          <p:cNvPr id="62" name="TextBox 61"/>
          <p:cNvSpPr txBox="1"/>
          <p:nvPr/>
        </p:nvSpPr>
        <p:spPr>
          <a:xfrm>
            <a:off x="1379724" y="4785442"/>
            <a:ext cx="346638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Исполнитель тот же, но стал хуже</a:t>
            </a:r>
          </a:p>
        </p:txBody>
      </p:sp>
      <p:sp>
        <p:nvSpPr>
          <p:cNvPr id="63" name="Rectangle 62"/>
          <p:cNvSpPr/>
          <p:nvPr/>
        </p:nvSpPr>
        <p:spPr>
          <a:xfrm>
            <a:off x="4992416" y="4785442"/>
            <a:ext cx="6659782" cy="383379"/>
          </a:xfrm>
          <a:prstGeom prst="rect">
            <a:avLst/>
          </a:prstGeom>
          <a:solidFill>
            <a:srgbClr val="FFFFFF"/>
          </a:solidFill>
          <a:ln w="12700">
            <a:solidFill>
              <a:srgbClr val="D9E2EC"/>
            </a:solidFill>
          </a:ln>
          <a:effectLst/>
        </p:spPr>
        <p:txBody>
          <a:bodyPr rtlCol="0" anchor="ctr"/>
          <a:lstStyle/>
          <a:p>
            <a:pPr algn="ctr"/>
          </a:p>
        </p:txBody>
      </p:sp>
      <p:sp>
        <p:nvSpPr>
          <p:cNvPr id="64" name="TextBox 63"/>
          <p:cNvSpPr txBox="1"/>
          <p:nvPr/>
        </p:nvSpPr>
        <p:spPr>
          <a:xfrm>
            <a:off x="5138720" y="4785442"/>
            <a:ext cx="6367174"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находок </a:t>
            </a:r>
            <a:r>
              <a:rPr sz="1200" b="1" i="0">
                <a:solidFill>
                  <a:srgbClr val="21295C"/>
                </a:solidFill>
                <a:latin typeface="Arial"/>
              </a:rPr>
              <a:t>284 → 224</a:t>
            </a:r>
            <a:r>
              <a:rPr sz="1200" b="0" i="0">
                <a:solidFill>
                  <a:srgbClr val="21295C"/>
                </a:solidFill>
                <a:latin typeface="Arial"/>
              </a:rPr>
              <a:t> из тысячи</a:t>
            </a:r>
          </a:p>
        </p:txBody>
      </p:sp>
      <p:sp>
        <p:nvSpPr>
          <p:cNvPr id="65" name="Rectangle 64"/>
          <p:cNvSpPr/>
          <p:nvPr/>
        </p:nvSpPr>
        <p:spPr>
          <a:xfrm>
            <a:off x="539496" y="5168822"/>
            <a:ext cx="693924" cy="383379"/>
          </a:xfrm>
          <a:prstGeom prst="rect">
            <a:avLst/>
          </a:prstGeom>
          <a:solidFill>
            <a:srgbClr val="F4F7FA"/>
          </a:solidFill>
          <a:ln w="12700">
            <a:solidFill>
              <a:srgbClr val="D9E2EC"/>
            </a:solidFill>
          </a:ln>
          <a:effectLst/>
        </p:spPr>
        <p:txBody>
          <a:bodyPr rtlCol="0" anchor="ctr"/>
          <a:lstStyle/>
          <a:p>
            <a:pPr algn="ctr"/>
          </a:p>
        </p:txBody>
      </p:sp>
      <p:sp>
        <p:nvSpPr>
          <p:cNvPr id="66" name="TextBox 65"/>
          <p:cNvSpPr txBox="1"/>
          <p:nvPr/>
        </p:nvSpPr>
        <p:spPr>
          <a:xfrm>
            <a:off x="685800" y="5168822"/>
            <a:ext cx="40131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8а</a:t>
            </a:r>
          </a:p>
        </p:txBody>
      </p:sp>
      <p:sp>
        <p:nvSpPr>
          <p:cNvPr id="67" name="Rectangle 66"/>
          <p:cNvSpPr/>
          <p:nvPr/>
        </p:nvSpPr>
        <p:spPr>
          <a:xfrm>
            <a:off x="1233420" y="5168822"/>
            <a:ext cx="3758996" cy="383379"/>
          </a:xfrm>
          <a:prstGeom prst="rect">
            <a:avLst/>
          </a:prstGeom>
          <a:solidFill>
            <a:srgbClr val="F4F7FA"/>
          </a:solidFill>
          <a:ln w="12700">
            <a:solidFill>
              <a:srgbClr val="D9E2EC"/>
            </a:solidFill>
          </a:ln>
          <a:effectLst/>
        </p:spPr>
        <p:txBody>
          <a:bodyPr rtlCol="0" anchor="ctr"/>
          <a:lstStyle/>
          <a:p>
            <a:pPr algn="ctr"/>
          </a:p>
        </p:txBody>
      </p:sp>
      <p:sp>
        <p:nvSpPr>
          <p:cNvPr id="68" name="TextBox 67"/>
          <p:cNvSpPr txBox="1"/>
          <p:nvPr/>
        </p:nvSpPr>
        <p:spPr>
          <a:xfrm>
            <a:off x="1379724" y="5168822"/>
            <a:ext cx="3466388"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Исполнитель тот же, но стал лучше</a:t>
            </a:r>
          </a:p>
        </p:txBody>
      </p:sp>
      <p:sp>
        <p:nvSpPr>
          <p:cNvPr id="69" name="Rectangle 68"/>
          <p:cNvSpPr/>
          <p:nvPr/>
        </p:nvSpPr>
        <p:spPr>
          <a:xfrm>
            <a:off x="4992416" y="5168822"/>
            <a:ext cx="6659782" cy="383379"/>
          </a:xfrm>
          <a:prstGeom prst="rect">
            <a:avLst/>
          </a:prstGeom>
          <a:solidFill>
            <a:srgbClr val="F4F7FA"/>
          </a:solidFill>
          <a:ln w="12700">
            <a:solidFill>
              <a:srgbClr val="D9E2EC"/>
            </a:solidFill>
          </a:ln>
          <a:effectLst/>
        </p:spPr>
        <p:txBody>
          <a:bodyPr rtlCol="0" anchor="ctr"/>
          <a:lstStyle/>
          <a:p>
            <a:pPr algn="ctr"/>
          </a:p>
        </p:txBody>
      </p:sp>
      <p:sp>
        <p:nvSpPr>
          <p:cNvPr id="70" name="TextBox 69"/>
          <p:cNvSpPr txBox="1"/>
          <p:nvPr/>
        </p:nvSpPr>
        <p:spPr>
          <a:xfrm>
            <a:off x="5138720" y="5168822"/>
            <a:ext cx="6367174" cy="383379"/>
          </a:xfrm>
          <a:prstGeom prst="rect">
            <a:avLst/>
          </a:prstGeom>
          <a:noFill/>
        </p:spPr>
        <p:txBody>
          <a:bodyPr wrap="square" lIns="0" rIns="0" tIns="0" bIns="0" anchor="ctr">
            <a:spAutoFit/>
          </a:bodyPr>
          <a:lstStyle/>
          <a:p>
            <a:pPr algn="l">
              <a:lnSpc>
                <a:spcPct val="116000"/>
              </a:lnSpc>
            </a:pPr>
            <a:r>
              <a:rPr sz="1200" b="0" i="1">
                <a:solidFill>
                  <a:srgbClr val="21295C"/>
                </a:solidFill>
                <a:latin typeface="Arial"/>
              </a:rPr>
              <a:t>измерения нет</a:t>
            </a:r>
          </a:p>
        </p:txBody>
      </p:sp>
      <p:sp>
        <p:nvSpPr>
          <p:cNvPr id="71" name="TextBox 70"/>
          <p:cNvSpPr txBox="1"/>
          <p:nvPr/>
        </p:nvSpPr>
        <p:spPr>
          <a:xfrm>
            <a:off x="539496" y="5698506"/>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Семь форм из девяти несут счёт; два прочерка названы прочерками.</a:t>
            </a:r>
            <a:r>
              <a:rPr sz="1250" b="0" i="0">
                <a:solidFill>
                  <a:srgbClr val="21295C"/>
                </a:solidFill>
                <a:latin typeface="Arial"/>
              </a:rPr>
              <a:t> Какая из девяти, по-вашему, встретилась за вечер чаще остальных — и какая не встретилась ни разу?</a:t>
            </a:r>
          </a:p>
        </p:txBody>
      </p:sp>
      <p:sp>
        <p:nvSpPr>
          <p:cNvPr id="72" name="Rectangle 7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73" name="TextBox 7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собран по разборам лекции</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Счёт приписок: в тринадцати случаях из двадцати одного выигрыш не у модели</a:t>
            </a:r>
          </a:p>
        </p:txBody>
      </p:sp>
      <p:sp>
        <p:nvSpPr>
          <p:cNvPr id="4" name="Rounded Rectangle 3"/>
          <p:cNvSpPr/>
          <p:nvPr/>
        </p:nvSpPr>
        <p:spPr>
          <a:xfrm>
            <a:off x="502920" y="1335024"/>
            <a:ext cx="3618890"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МОДЕЛИ НЕТ ВОВСЕ</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из 21</a:t>
            </a:r>
          </a:p>
        </p:txBody>
      </p:sp>
      <p:sp>
        <p:nvSpPr>
          <p:cNvPr id="7" name="TextBox 6"/>
          <p:cNvSpPr txBox="1"/>
          <p:nvPr/>
        </p:nvSpPr>
        <p:spPr>
          <a:xfrm>
            <a:off x="640080"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уберёшь модель — механизм работает: дерево «если — то» в сортировке; навык расходует переданный объём</a:t>
            </a:r>
          </a:p>
        </p:txBody>
      </p:sp>
      <p:sp>
        <p:nvSpPr>
          <p:cNvPr id="8" name="Rounded Rectangle 7"/>
          <p:cNvSpPr/>
          <p:nvPr/>
        </p:nvSpPr>
        <p:spPr>
          <a:xfrm>
            <a:off x="4286402"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ВЫИГРЫШ НЕ У МОДЕЛИ</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 из 21</a:t>
            </a:r>
          </a:p>
        </p:txBody>
      </p:sp>
      <p:sp>
        <p:nvSpPr>
          <p:cNvPr id="11" name="TextBox 10"/>
          <p:cNvSpPr txBox="1"/>
          <p:nvPr/>
        </p:nvSpPr>
        <p:spPr>
          <a:xfrm>
            <a:off x="4423562"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принадлежит порогу, составу обучающего набора, заданной цели, порядку предъявления или реализации</a:t>
            </a:r>
          </a:p>
        </p:txBody>
      </p:sp>
      <p:sp>
        <p:nvSpPr>
          <p:cNvPr id="12" name="Rounded Rectangle 11"/>
          <p:cNvSpPr/>
          <p:nvPr/>
        </p:nvSpPr>
        <p:spPr>
          <a:xfrm>
            <a:off x="8069884" y="1335024"/>
            <a:ext cx="3618890"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ЧИСЛО ВЫРОСЛО ПРИ ПЕРЕСКАЗЕ</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4 из 21</a:t>
            </a:r>
          </a:p>
        </p:txBody>
      </p:sp>
      <p:sp>
        <p:nvSpPr>
          <p:cNvPr id="15" name="TextBox 14"/>
          <p:cNvSpPr txBox="1"/>
          <p:nvPr/>
        </p:nvSpPr>
        <p:spPr>
          <a:xfrm>
            <a:off x="8207044" y="2152374"/>
            <a:ext cx="3344570"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56,7 % вместо нуля · «эффекта нет» одним числом · доля мнений вместо времени · масштаб вместо замера</a:t>
            </a:r>
          </a:p>
        </p:txBody>
      </p:sp>
      <p:sp>
        <p:nvSpPr>
          <p:cNvPr id="16" name="Rounded Rectangle 15"/>
          <p:cNvSpPr/>
          <p:nvPr/>
        </p:nvSpPr>
        <p:spPr>
          <a:xfrm>
            <a:off x="374904" y="3106144"/>
            <a:ext cx="11441887" cy="2810947"/>
          </a:xfrm>
          <a:prstGeom prst="roundRect">
            <a:avLst>
              <a:gd name="adj" fmla="val 1084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197584"/>
            <a:ext cx="5373471" cy="303862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Двадцать один разбор за вечер. В тринадцати выигрыш или вина принадлежат не обученной модели.</a:t>
            </a:r>
          </a:p>
          <a:p>
            <a:pPr algn="l">
              <a:lnSpc>
                <a:spcPct val="126000"/>
              </a:lnSpc>
              <a:spcBef>
                <a:spcPts val="3600"/>
              </a:spcBef>
            </a:pPr>
            <a:r>
              <a:rPr sz="1500" b="0" i="0">
                <a:solidFill>
                  <a:srgbClr val="21295C"/>
                </a:solidFill>
                <a:latin typeface="Arial"/>
              </a:rPr>
              <a:t/>
            </a:r>
            <a:r>
              <a:rPr sz="1500" b="1" i="0">
                <a:solidFill>
                  <a:srgbClr val="21295C"/>
                </a:solidFill>
                <a:latin typeface="Arial"/>
              </a:rPr>
              <a:t>Семь разборов из двадцати одного — отечественная практика:</a:t>
            </a:r>
            <a:r>
              <a:rPr sz="1500" b="0" i="0">
                <a:solidFill>
                  <a:srgbClr val="21295C"/>
                </a:solidFill>
                <a:latin typeface="Arial"/>
              </a:rPr>
              <a:t> маммограммы в скрининге, Москва дважды в диагностике, медкарта в диагнозе, протокол приёма и голосовой ввод в документации, ArtInCol в квалификации.</a:t>
            </a:r>
          </a:p>
        </p:txBody>
      </p:sp>
      <p:sp>
        <p:nvSpPr>
          <p:cNvPr id="18" name="TextBox 17"/>
          <p:cNvSpPr txBox="1"/>
          <p:nvPr/>
        </p:nvSpPr>
        <p:spPr>
          <a:xfrm>
            <a:off x="6278727" y="3197584"/>
            <a:ext cx="5373471" cy="303862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Три сильные строки линии до экрана не доехали:</a:t>
            </a:r>
            <a:r>
              <a:rPr sz="1500" b="0" i="0">
                <a:solidFill>
                  <a:srgbClr val="21295C"/>
                </a:solidFill>
                <a:latin typeface="Arial"/>
              </a:rPr>
              <a:t> их разделы изъяты из лекции. Сильнейшая — рецензируемый обзор, перепутавший шесть из семи своих первоисточников.</a:t>
            </a:r>
          </a:p>
          <a:p>
            <a:pPr algn="l">
              <a:lnSpc>
                <a:spcPct val="126000"/>
              </a:lnSpc>
              <a:spcBef>
                <a:spcPts val="3600"/>
              </a:spcBef>
            </a:pPr>
            <a:r>
              <a:rPr sz="1500" b="0" i="0">
                <a:solidFill>
                  <a:srgbClr val="21295C"/>
                </a:solidFill>
                <a:latin typeface="Arial"/>
              </a:rPr>
              <a:t/>
            </a:r>
            <a:r>
              <a:rPr sz="1500" b="1" i="0">
                <a:solidFill>
                  <a:srgbClr val="21295C"/>
                </a:solidFill>
                <a:latin typeface="Arial"/>
              </a:rPr>
              <a:t>Приём отсюда:</a:t>
            </a:r>
            <a:r>
              <a:rPr sz="1500" b="0" i="0">
                <a:solidFill>
                  <a:srgbClr val="21295C"/>
                </a:solidFill>
                <a:latin typeface="Arial"/>
              </a:rPr>
              <a:t> у заявленного эффекта спрашивать, </a:t>
            </a:r>
            <a:r>
              <a:rPr sz="1500" b="1" i="0">
                <a:solidFill>
                  <a:srgbClr val="21295C"/>
                </a:solidFill>
                <a:latin typeface="Arial"/>
              </a:rPr>
              <a:t>от чего он посчитан</a:t>
            </a:r>
            <a:r>
              <a:rPr sz="1500" b="0" i="0">
                <a:solidFill>
                  <a:srgbClr val="21295C"/>
                </a:solidFill>
                <a:latin typeface="Arial"/>
              </a:rPr>
              <a:t>, у пересказанного — </a:t>
            </a:r>
            <a:r>
              <a:rPr sz="1500" b="1" i="0">
                <a:solidFill>
                  <a:srgbClr val="21295C"/>
                </a:solidFill>
                <a:latin typeface="Arial"/>
              </a:rPr>
              <a:t>открывать первоисточник</a:t>
            </a:r>
            <a:r>
              <a:rPr sz="1500" b="0" i="0">
                <a:solidFill>
                  <a:srgbClr val="21295C"/>
                </a:solidFill>
                <a:latin typeface="Arial"/>
              </a:rPr>
              <a:t>.</a:t>
            </a:r>
          </a:p>
        </p:txBody>
      </p:sp>
      <p:sp>
        <p:nvSpPr>
          <p:cNvPr id="19" name="Rectangle 18"/>
          <p:cNvSpPr/>
          <p:nvPr/>
        </p:nvSpPr>
        <p:spPr>
          <a:xfrm>
            <a:off x="6091275" y="3197584"/>
            <a:ext cx="9144" cy="2536627"/>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счёт собран по REESTR-PRIPISOK-DEKI.md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Карта задач и видов данных: четыре клетки из двенадцати, и что в них работает</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Четыре строки задач на три вида данных — двенадцать клеток. Названы четыре; в остальные восемь за пять разделов не зашёл никто.</a:t>
            </a:r>
          </a:p>
        </p:txBody>
      </p:sp>
      <p:sp>
        <p:nvSpPr>
          <p:cNvPr id="6" name="Rectangle 5"/>
          <p:cNvSpPr/>
          <p:nvPr/>
        </p:nvSpPr>
        <p:spPr>
          <a:xfrm>
            <a:off x="539496" y="2007550"/>
            <a:ext cx="3992747" cy="392496"/>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2007550"/>
            <a:ext cx="3700139"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задача и где она встретилась</a:t>
            </a:r>
          </a:p>
        </p:txBody>
      </p:sp>
      <p:sp>
        <p:nvSpPr>
          <p:cNvPr id="8" name="Rectangle 7"/>
          <p:cNvSpPr/>
          <p:nvPr/>
        </p:nvSpPr>
        <p:spPr>
          <a:xfrm>
            <a:off x="4532243" y="2007550"/>
            <a:ext cx="3611816" cy="392496"/>
          </a:xfrm>
          <a:prstGeom prst="rect">
            <a:avLst/>
          </a:prstGeom>
          <a:solidFill>
            <a:srgbClr val="065A82"/>
          </a:solidFill>
          <a:ln>
            <a:noFill/>
          </a:ln>
          <a:effectLst/>
        </p:spPr>
        <p:txBody>
          <a:bodyPr rtlCol="0" anchor="ctr"/>
          <a:lstStyle/>
          <a:p>
            <a:pPr algn="ctr"/>
          </a:p>
        </p:txBody>
      </p:sp>
      <p:sp>
        <p:nvSpPr>
          <p:cNvPr id="9" name="TextBox 8"/>
          <p:cNvSpPr txBox="1"/>
          <p:nvPr/>
        </p:nvSpPr>
        <p:spPr>
          <a:xfrm>
            <a:off x="4678547" y="2007550"/>
            <a:ext cx="3319208"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работает</a:t>
            </a:r>
          </a:p>
        </p:txBody>
      </p:sp>
      <p:sp>
        <p:nvSpPr>
          <p:cNvPr id="10" name="Rectangle 9"/>
          <p:cNvSpPr/>
          <p:nvPr/>
        </p:nvSpPr>
        <p:spPr>
          <a:xfrm>
            <a:off x="8144060" y="2007550"/>
            <a:ext cx="3508138" cy="392496"/>
          </a:xfrm>
          <a:prstGeom prst="rect">
            <a:avLst/>
          </a:prstGeom>
          <a:solidFill>
            <a:srgbClr val="065A82"/>
          </a:solidFill>
          <a:ln>
            <a:noFill/>
          </a:ln>
          <a:effectLst/>
        </p:spPr>
        <p:txBody>
          <a:bodyPr rtlCol="0" anchor="ctr"/>
          <a:lstStyle/>
          <a:p>
            <a:pPr algn="ctr"/>
          </a:p>
        </p:txBody>
      </p:sp>
      <p:sp>
        <p:nvSpPr>
          <p:cNvPr id="11" name="TextBox 10"/>
          <p:cNvSpPr txBox="1"/>
          <p:nvPr/>
        </p:nvSpPr>
        <p:spPr>
          <a:xfrm>
            <a:off x="8290364" y="2007550"/>
            <a:ext cx="3215530" cy="392496"/>
          </a:xfrm>
          <a:prstGeom prst="rect">
            <a:avLst/>
          </a:prstGeom>
          <a:noFill/>
        </p:spPr>
        <p:txBody>
          <a:bodyPr wrap="square" lIns="0" rIns="0" tIns="0" bIns="0" anchor="ctr">
            <a:spAutoFit/>
          </a:bodyPr>
          <a:lstStyle/>
          <a:p>
            <a:pPr algn="l">
              <a:lnSpc>
                <a:spcPct val="116000"/>
              </a:lnSpc>
            </a:pPr>
            <a:r>
              <a:rPr sz="1250" b="1" i="0">
                <a:solidFill>
                  <a:srgbClr val="FFFFFF"/>
                </a:solidFill>
                <a:latin typeface="Arial"/>
              </a:rPr>
              <a:t>не работает</a:t>
            </a:r>
          </a:p>
        </p:txBody>
      </p:sp>
      <p:sp>
        <p:nvSpPr>
          <p:cNvPr id="12" name="Rectangle 11"/>
          <p:cNvSpPr/>
          <p:nvPr/>
        </p:nvSpPr>
        <p:spPr>
          <a:xfrm>
            <a:off x="539496" y="2400046"/>
            <a:ext cx="3992747" cy="620400"/>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4000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классификация</a:t>
            </a:r>
            <a:r>
              <a:rPr sz="1250" b="0" i="0">
                <a:solidFill>
                  <a:srgbClr val="21295C"/>
                </a:solidFill>
                <a:latin typeface="Arial"/>
              </a:rPr>
              <a:t> — изображение: скрининг, диагностика</a:t>
            </a:r>
          </a:p>
        </p:txBody>
      </p:sp>
      <p:sp>
        <p:nvSpPr>
          <p:cNvPr id="14" name="Rectangle 13"/>
          <p:cNvSpPr/>
          <p:nvPr/>
        </p:nvSpPr>
        <p:spPr>
          <a:xfrm>
            <a:off x="4532243" y="2400046"/>
            <a:ext cx="3611816" cy="620400"/>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4678547" y="24000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стандартизованный снимок, годность решена до модели</a:t>
            </a:r>
          </a:p>
        </p:txBody>
      </p:sp>
      <p:sp>
        <p:nvSpPr>
          <p:cNvPr id="16" name="Rectangle 15"/>
          <p:cNvSpPr/>
          <p:nvPr/>
        </p:nvSpPr>
        <p:spPr>
          <a:xfrm>
            <a:off x="8144060" y="2400046"/>
            <a:ext cx="3508138" cy="620400"/>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8290364" y="24000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подгруппа, которой в наборе было мало: платит она</a:t>
            </a:r>
          </a:p>
        </p:txBody>
      </p:sp>
      <p:sp>
        <p:nvSpPr>
          <p:cNvPr id="18" name="Rectangle 17"/>
          <p:cNvSpPr/>
          <p:nvPr/>
        </p:nvSpPr>
        <p:spPr>
          <a:xfrm>
            <a:off x="539496" y="3020446"/>
            <a:ext cx="3992747" cy="620400"/>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30204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распознавание</a:t>
            </a:r>
            <a:r>
              <a:rPr sz="1250" b="0" i="0">
                <a:solidFill>
                  <a:srgbClr val="21295C"/>
                </a:solidFill>
                <a:latin typeface="Arial"/>
              </a:rPr>
              <a:t> — изображение: скрининг, диагностика, диагноз</a:t>
            </a:r>
          </a:p>
        </p:txBody>
      </p:sp>
      <p:sp>
        <p:nvSpPr>
          <p:cNvPr id="20" name="Rectangle 19"/>
          <p:cNvSpPr/>
          <p:nvPr/>
        </p:nvSpPr>
        <p:spPr>
          <a:xfrm>
            <a:off x="4532243" y="3020446"/>
            <a:ext cx="3611816" cy="620400"/>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4678547" y="30204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фильтр потока: кого прочесть дважды</a:t>
            </a:r>
          </a:p>
        </p:txBody>
      </p:sp>
      <p:sp>
        <p:nvSpPr>
          <p:cNvPr id="22" name="Rectangle 21"/>
          <p:cNvSpPr/>
          <p:nvPr/>
        </p:nvSpPr>
        <p:spPr>
          <a:xfrm>
            <a:off x="8144060" y="3020446"/>
            <a:ext cx="3508138" cy="620400"/>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8290364" y="30204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основание снять чтение: экономия из непрочитанного</a:t>
            </a:r>
          </a:p>
        </p:txBody>
      </p:sp>
      <p:sp>
        <p:nvSpPr>
          <p:cNvPr id="24" name="Rectangle 23"/>
          <p:cNvSpPr/>
          <p:nvPr/>
        </p:nvSpPr>
        <p:spPr>
          <a:xfrm>
            <a:off x="539496" y="3640846"/>
            <a:ext cx="3992747" cy="620400"/>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36408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поиск и генерация</a:t>
            </a:r>
            <a:r>
              <a:rPr sz="1250" b="0" i="0">
                <a:solidFill>
                  <a:srgbClr val="21295C"/>
                </a:solidFill>
                <a:latin typeface="Arial"/>
              </a:rPr>
              <a:t> — текст: скрининг, диагноз, документы</a:t>
            </a:r>
          </a:p>
        </p:txBody>
      </p:sp>
      <p:sp>
        <p:nvSpPr>
          <p:cNvPr id="26" name="Rectangle 25"/>
          <p:cNvSpPr/>
          <p:nvPr/>
        </p:nvSpPr>
        <p:spPr>
          <a:xfrm>
            <a:off x="4532243" y="3640846"/>
            <a:ext cx="3611816" cy="620400"/>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4678547" y="36408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черновик к концу приёма</a:t>
            </a:r>
          </a:p>
        </p:txBody>
      </p:sp>
      <p:sp>
        <p:nvSpPr>
          <p:cNvPr id="28" name="Rectangle 27"/>
          <p:cNvSpPr/>
          <p:nvPr/>
        </p:nvSpPr>
        <p:spPr>
          <a:xfrm>
            <a:off x="8144060" y="3640846"/>
            <a:ext cx="3508138" cy="620400"/>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8290364" y="36408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полнее человека: пишет тот же, а платит читатель</a:t>
            </a:r>
          </a:p>
        </p:txBody>
      </p:sp>
      <p:sp>
        <p:nvSpPr>
          <p:cNvPr id="30" name="Rectangle 29"/>
          <p:cNvSpPr/>
          <p:nvPr/>
        </p:nvSpPr>
        <p:spPr>
          <a:xfrm>
            <a:off x="539496" y="4261246"/>
            <a:ext cx="3992747" cy="620400"/>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685800" y="4261246"/>
            <a:ext cx="3700139" cy="620400"/>
          </a:xfrm>
          <a:prstGeom prst="rect">
            <a:avLst/>
          </a:prstGeom>
          <a:noFill/>
        </p:spPr>
        <p:txBody>
          <a:bodyPr wrap="square" lIns="0" rIns="0" tIns="0" bIns="0" anchor="ctr">
            <a:spAutoFit/>
          </a:bodyPr>
          <a:lstStyle/>
          <a:p>
            <a:pPr algn="l">
              <a:lnSpc>
                <a:spcPct val="116000"/>
              </a:lnSpc>
            </a:pPr>
            <a:r>
              <a:rPr sz="1250" b="1" i="0">
                <a:solidFill>
                  <a:srgbClr val="21295C"/>
                </a:solidFill>
                <a:latin typeface="Arial"/>
              </a:rPr>
              <a:t>прогноз</a:t>
            </a:r>
            <a:r>
              <a:rPr sz="1250" b="0" i="0">
                <a:solidFill>
                  <a:srgbClr val="21295C"/>
                </a:solidFill>
                <a:latin typeface="Arial"/>
              </a:rPr>
              <a:t> — структурированные данные: диагностика, диагноз</a:t>
            </a:r>
          </a:p>
        </p:txBody>
      </p:sp>
      <p:sp>
        <p:nvSpPr>
          <p:cNvPr id="32" name="Rectangle 31"/>
          <p:cNvSpPr/>
          <p:nvPr/>
        </p:nvSpPr>
        <p:spPr>
          <a:xfrm>
            <a:off x="4532243" y="4261246"/>
            <a:ext cx="3611816" cy="620400"/>
          </a:xfrm>
          <a:prstGeom prst="rect">
            <a:avLst/>
          </a:prstGeom>
          <a:solidFill>
            <a:srgbClr val="F4F7FA"/>
          </a:solidFill>
          <a:ln w="12700">
            <a:solidFill>
              <a:srgbClr val="D9E2EC"/>
            </a:solidFill>
          </a:ln>
          <a:effectLst/>
        </p:spPr>
        <p:txBody>
          <a:bodyPr rtlCol="0" anchor="ctr"/>
          <a:lstStyle/>
          <a:p>
            <a:pPr algn="ctr"/>
          </a:p>
        </p:txBody>
      </p:sp>
      <p:sp>
        <p:nvSpPr>
          <p:cNvPr id="33" name="TextBox 32"/>
          <p:cNvSpPr txBox="1"/>
          <p:nvPr/>
        </p:nvSpPr>
        <p:spPr>
          <a:xfrm>
            <a:off x="4678547" y="4261246"/>
            <a:ext cx="3319208"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сигнал рядом со шкалой</a:t>
            </a:r>
          </a:p>
        </p:txBody>
      </p:sp>
      <p:sp>
        <p:nvSpPr>
          <p:cNvPr id="34" name="Rectangle 33"/>
          <p:cNvSpPr/>
          <p:nvPr/>
        </p:nvSpPr>
        <p:spPr>
          <a:xfrm>
            <a:off x="8144060" y="4261246"/>
            <a:ext cx="3508138" cy="620400"/>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8290364" y="4261246"/>
            <a:ext cx="3215530" cy="620400"/>
          </a:xfrm>
          <a:prstGeom prst="rect">
            <a:avLst/>
          </a:prstGeom>
          <a:noFill/>
        </p:spPr>
        <p:txBody>
          <a:bodyPr wrap="square" lIns="0" rIns="0" tIns="0" bIns="0" anchor="ctr">
            <a:spAutoFit/>
          </a:bodyPr>
          <a:lstStyle/>
          <a:p>
            <a:pPr algn="l">
              <a:lnSpc>
                <a:spcPct val="116000"/>
              </a:lnSpc>
            </a:pPr>
            <a:r>
              <a:rPr sz="1250" b="0" i="0">
                <a:solidFill>
                  <a:srgbClr val="21295C"/>
                </a:solidFill>
                <a:latin typeface="Arial"/>
              </a:rPr>
              <a:t>решение: цель задаёт переменная, а порог — документ</a:t>
            </a:r>
          </a:p>
        </p:txBody>
      </p:sp>
      <p:sp>
        <p:nvSpPr>
          <p:cNvPr id="36" name="TextBox 35"/>
          <p:cNvSpPr txBox="1"/>
          <p:nvPr/>
        </p:nvSpPr>
        <p:spPr>
          <a:xfrm>
            <a:off x="539496" y="5027950"/>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Вне окна ещё три места.</a:t>
            </a:r>
            <a:r>
              <a:rPr sz="1300" b="0" i="0">
                <a:solidFill>
                  <a:srgbClr val="21295C"/>
                </a:solidFill>
                <a:latin typeface="Arial"/>
              </a:rPr>
              <a:t> Речь на приёме: набор текста голосом работает, окончания слов и чужая речь — нет. Видео: подсветка во время процедуры, место остаётся за человеком. Сигнал прибора: обученной модели нет вовсе, а смещение есть.</a:t>
            </a:r>
          </a:p>
        </p:txBody>
      </p:sp>
      <p:sp>
        <p:nvSpPr>
          <p:cNvPr id="37" name="TextBox 36"/>
          <p:cNvSpPr txBox="1"/>
          <p:nvPr/>
        </p:nvSpPr>
        <p:spPr>
          <a:xfrm>
            <a:off x="539496" y="5700477"/>
            <a:ext cx="11112703"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Правая графа ни в одной строке не про качество модели</a:t>
            </a:r>
            <a:r>
              <a:rPr sz="1300" b="0" i="0">
                <a:solidFill>
                  <a:srgbClr val="21295C"/>
                </a:solidFill>
                <a:latin typeface="Arial"/>
              </a:rPr>
              <a:t> — про годность входа, состав данных, заданную цель и назначенный порог. </a:t>
            </a:r>
            <a:r>
              <a:rPr sz="1350" b="1" i="0">
                <a:solidFill>
                  <a:srgbClr val="21295C"/>
                </a:solidFill>
                <a:latin typeface="Arial"/>
              </a:rPr>
              <a:t>Квалификация в окне не занимает ничего:</a:t>
            </a:r>
            <a:r>
              <a:rPr sz="1300" b="0" i="0">
                <a:solidFill>
                  <a:srgbClr val="21295C"/>
                </a:solidFill>
                <a:latin typeface="Arial"/>
              </a:rPr>
              <a:t> её помощник работает на видео.</a:t>
            </a:r>
          </a:p>
        </p:txBody>
      </p:sp>
      <p:sp>
        <p:nvSpPr>
          <p:cNvPr id="38" name="Rectangle 37"/>
          <p:cNvSpPr/>
          <p:nvPr/>
        </p:nvSpPr>
        <p:spPr>
          <a:xfrm>
            <a:off x="502920" y="78624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Чем заплатили: внимание, навык, подпись, арбитраж</a:t>
            </a:r>
          </a:p>
        </p:txBody>
      </p:sp>
      <p:sp>
        <p:nvSpPr>
          <p:cNvPr id="4" name="Rounded Rectangle 3"/>
          <p:cNvSpPr/>
          <p:nvPr/>
        </p:nvSpPr>
        <p:spPr>
          <a:xfrm>
            <a:off x="374904" y="1243584"/>
            <a:ext cx="11441887" cy="4987576"/>
          </a:xfrm>
          <a:prstGeom prst="roundRect">
            <a:avLst>
              <a:gd name="adj" fmla="val 6111"/>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11112703" cy="253366"/>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Четыре платежа из начала — поимённо, под каждым измерение.</a:t>
            </a:r>
          </a:p>
        </p:txBody>
      </p:sp>
      <p:sp>
        <p:nvSpPr>
          <p:cNvPr id="6" name="Rectangle 5"/>
          <p:cNvSpPr/>
          <p:nvPr/>
        </p:nvSpPr>
        <p:spPr>
          <a:xfrm>
            <a:off x="539496" y="1734694"/>
            <a:ext cx="1164121" cy="383379"/>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1734694"/>
            <a:ext cx="871513"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платёж</a:t>
            </a:r>
          </a:p>
        </p:txBody>
      </p:sp>
      <p:sp>
        <p:nvSpPr>
          <p:cNvPr id="8" name="Rectangle 7"/>
          <p:cNvSpPr/>
          <p:nvPr/>
        </p:nvSpPr>
        <p:spPr>
          <a:xfrm>
            <a:off x="1703617" y="1734694"/>
            <a:ext cx="6643146" cy="383379"/>
          </a:xfrm>
          <a:prstGeom prst="rect">
            <a:avLst/>
          </a:prstGeom>
          <a:solidFill>
            <a:srgbClr val="065A82"/>
          </a:solidFill>
          <a:ln>
            <a:noFill/>
          </a:ln>
          <a:effectLst/>
        </p:spPr>
        <p:txBody>
          <a:bodyPr rtlCol="0" anchor="ctr"/>
          <a:lstStyle/>
          <a:p>
            <a:pPr algn="ctr"/>
          </a:p>
        </p:txBody>
      </p:sp>
      <p:sp>
        <p:nvSpPr>
          <p:cNvPr id="9" name="TextBox 8"/>
          <p:cNvSpPr txBox="1"/>
          <p:nvPr/>
        </p:nvSpPr>
        <p:spPr>
          <a:xfrm>
            <a:off x="1849921" y="1734694"/>
            <a:ext cx="6350538"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чем заплачено</a:t>
            </a:r>
          </a:p>
        </p:txBody>
      </p:sp>
      <p:sp>
        <p:nvSpPr>
          <p:cNvPr id="10" name="Rectangle 9"/>
          <p:cNvSpPr/>
          <p:nvPr/>
        </p:nvSpPr>
        <p:spPr>
          <a:xfrm>
            <a:off x="8346764" y="1734694"/>
            <a:ext cx="3305434" cy="383379"/>
          </a:xfrm>
          <a:prstGeom prst="rect">
            <a:avLst/>
          </a:prstGeom>
          <a:solidFill>
            <a:srgbClr val="065A82"/>
          </a:solidFill>
          <a:ln>
            <a:noFill/>
          </a:ln>
          <a:effectLst/>
        </p:spPr>
        <p:txBody>
          <a:bodyPr rtlCol="0" anchor="ctr"/>
          <a:lstStyle/>
          <a:p>
            <a:pPr algn="ctr"/>
          </a:p>
        </p:txBody>
      </p:sp>
      <p:sp>
        <p:nvSpPr>
          <p:cNvPr id="11" name="TextBox 10"/>
          <p:cNvSpPr txBox="1"/>
          <p:nvPr/>
        </p:nvSpPr>
        <p:spPr>
          <a:xfrm>
            <a:off x="8493068" y="1734694"/>
            <a:ext cx="3012826" cy="383379"/>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чем измерено</a:t>
            </a:r>
          </a:p>
        </p:txBody>
      </p:sp>
      <p:sp>
        <p:nvSpPr>
          <p:cNvPr id="12" name="Rectangle 11"/>
          <p:cNvSpPr/>
          <p:nvPr/>
        </p:nvSpPr>
        <p:spPr>
          <a:xfrm>
            <a:off x="539496" y="2118074"/>
            <a:ext cx="1164121" cy="383379"/>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118074"/>
            <a:ext cx="871513"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Внимание</a:t>
            </a:r>
          </a:p>
        </p:txBody>
      </p:sp>
      <p:sp>
        <p:nvSpPr>
          <p:cNvPr id="14" name="Rectangle 13"/>
          <p:cNvSpPr/>
          <p:nvPr/>
        </p:nvSpPr>
        <p:spPr>
          <a:xfrm>
            <a:off x="1703617" y="2118074"/>
            <a:ext cx="6643146" cy="383379"/>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1849921" y="2118074"/>
            <a:ext cx="635053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смотрели </a:t>
            </a:r>
            <a:r>
              <a:rPr sz="1200" b="1" i="0">
                <a:solidFill>
                  <a:srgbClr val="21295C"/>
                </a:solidFill>
                <a:latin typeface="Arial"/>
              </a:rPr>
              <a:t>11,1 → 9,5 %</a:t>
            </a:r>
            <a:r>
              <a:rPr sz="1200" b="0" i="0">
                <a:solidFill>
                  <a:srgbClr val="21295C"/>
                </a:solidFill>
                <a:latin typeface="Arial"/>
              </a:rPr>
              <a:t> площади снимка; пропущенных раков </a:t>
            </a:r>
            <a:r>
              <a:rPr sz="1200" b="1" i="0">
                <a:solidFill>
                  <a:srgbClr val="21295C"/>
                </a:solidFill>
                <a:latin typeface="Arial"/>
              </a:rPr>
              <a:t>29 → 61</a:t>
            </a:r>
            <a:r>
              <a:rPr sz="1200" b="0" i="0">
                <a:solidFill>
                  <a:srgbClr val="21295C"/>
                </a:solidFill>
                <a:latin typeface="Arial"/>
              </a:rPr>
              <a:t> из ста</a:t>
            </a:r>
          </a:p>
        </p:txBody>
      </p:sp>
      <p:sp>
        <p:nvSpPr>
          <p:cNvPr id="16" name="Rectangle 15"/>
          <p:cNvSpPr/>
          <p:nvPr/>
        </p:nvSpPr>
        <p:spPr>
          <a:xfrm>
            <a:off x="8346764" y="2118074"/>
            <a:ext cx="3305434" cy="383379"/>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8493068" y="2118074"/>
            <a:ext cx="301282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замер взгляда; подгруппа 14 случаев</a:t>
            </a:r>
          </a:p>
        </p:txBody>
      </p:sp>
      <p:sp>
        <p:nvSpPr>
          <p:cNvPr id="18" name="Rectangle 17"/>
          <p:cNvSpPr/>
          <p:nvPr/>
        </p:nvSpPr>
        <p:spPr>
          <a:xfrm>
            <a:off x="539496" y="2501454"/>
            <a:ext cx="1164121" cy="383379"/>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2501454"/>
            <a:ext cx="871513" cy="383379"/>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Навык</a:t>
            </a:r>
          </a:p>
        </p:txBody>
      </p:sp>
      <p:sp>
        <p:nvSpPr>
          <p:cNvPr id="20" name="Rectangle 19"/>
          <p:cNvSpPr/>
          <p:nvPr/>
        </p:nvSpPr>
        <p:spPr>
          <a:xfrm>
            <a:off x="1703617" y="2501454"/>
            <a:ext cx="6643146" cy="383379"/>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1849921" y="2501454"/>
            <a:ext cx="6350538"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находок </a:t>
            </a:r>
            <a:r>
              <a:rPr sz="1200" b="1" i="0">
                <a:solidFill>
                  <a:srgbClr val="21295C"/>
                </a:solidFill>
                <a:latin typeface="Arial"/>
              </a:rPr>
              <a:t>284 → 224</a:t>
            </a:r>
            <a:r>
              <a:rPr sz="1200" b="0" i="0">
                <a:solidFill>
                  <a:srgbClr val="21295C"/>
                </a:solidFill>
                <a:latin typeface="Arial"/>
              </a:rPr>
              <a:t> из тысячи процедур у тех же девятнадцати врачей</a:t>
            </a:r>
          </a:p>
        </p:txBody>
      </p:sp>
      <p:sp>
        <p:nvSpPr>
          <p:cNvPr id="22" name="Rectangle 21"/>
          <p:cNvSpPr/>
          <p:nvPr/>
        </p:nvSpPr>
        <p:spPr>
          <a:xfrm>
            <a:off x="8346764" y="2501454"/>
            <a:ext cx="3305434" cy="383379"/>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8493068" y="2501454"/>
            <a:ext cx="3012826" cy="383379"/>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наблюдательное, однажды и спорно</a:t>
            </a:r>
          </a:p>
        </p:txBody>
      </p:sp>
      <p:sp>
        <p:nvSpPr>
          <p:cNvPr id="24" name="Rectangle 23"/>
          <p:cNvSpPr/>
          <p:nvPr/>
        </p:nvSpPr>
        <p:spPr>
          <a:xfrm>
            <a:off x="539496" y="2884834"/>
            <a:ext cx="1164121" cy="602167"/>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2884834"/>
            <a:ext cx="871513"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Подпись</a:t>
            </a:r>
          </a:p>
        </p:txBody>
      </p:sp>
      <p:sp>
        <p:nvSpPr>
          <p:cNvPr id="26" name="Rectangle 25"/>
          <p:cNvSpPr/>
          <p:nvPr/>
        </p:nvSpPr>
        <p:spPr>
          <a:xfrm>
            <a:off x="1703617" y="2884834"/>
            <a:ext cx="6643146" cy="602167"/>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1849921" y="2884834"/>
            <a:ext cx="6350538"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9 из 11</a:t>
            </a:r>
            <a:r>
              <a:rPr sz="1200" b="0" i="0">
                <a:solidFill>
                  <a:srgbClr val="21295C"/>
                </a:solidFill>
                <a:latin typeface="Arial"/>
              </a:rPr>
              <a:t> машинных эпикризов с ошибкой</a:t>
            </a:r>
          </a:p>
        </p:txBody>
      </p:sp>
      <p:sp>
        <p:nvSpPr>
          <p:cNvPr id="28" name="Rectangle 27"/>
          <p:cNvSpPr/>
          <p:nvPr/>
        </p:nvSpPr>
        <p:spPr>
          <a:xfrm>
            <a:off x="8346764" y="2884834"/>
            <a:ext cx="3305434" cy="602167"/>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8493068" y="2884834"/>
            <a:ext cx="3012826"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сто госпитализаций, двое читали вслепую</a:t>
            </a:r>
          </a:p>
        </p:txBody>
      </p:sp>
      <p:sp>
        <p:nvSpPr>
          <p:cNvPr id="30" name="Rectangle 29"/>
          <p:cNvSpPr/>
          <p:nvPr/>
        </p:nvSpPr>
        <p:spPr>
          <a:xfrm>
            <a:off x="539496" y="3487001"/>
            <a:ext cx="1164121" cy="602167"/>
          </a:xfrm>
          <a:prstGeom prst="rect">
            <a:avLst/>
          </a:prstGeom>
          <a:solidFill>
            <a:srgbClr val="F4F7FA"/>
          </a:solidFill>
          <a:ln w="12700">
            <a:solidFill>
              <a:srgbClr val="D9E2EC"/>
            </a:solidFill>
          </a:ln>
          <a:effectLst/>
        </p:spPr>
        <p:txBody>
          <a:bodyPr rtlCol="0" anchor="ctr"/>
          <a:lstStyle/>
          <a:p>
            <a:pPr algn="ctr"/>
          </a:p>
        </p:txBody>
      </p:sp>
      <p:sp>
        <p:nvSpPr>
          <p:cNvPr id="31" name="TextBox 30"/>
          <p:cNvSpPr txBox="1"/>
          <p:nvPr/>
        </p:nvSpPr>
        <p:spPr>
          <a:xfrm>
            <a:off x="685800" y="3487001"/>
            <a:ext cx="871513" cy="602167"/>
          </a:xfrm>
          <a:prstGeom prst="rect">
            <a:avLst/>
          </a:prstGeom>
          <a:noFill/>
        </p:spPr>
        <p:txBody>
          <a:bodyPr wrap="square" lIns="0" rIns="0" tIns="0" bIns="0" anchor="ctr">
            <a:spAutoFit/>
          </a:bodyPr>
          <a:lstStyle/>
          <a:p>
            <a:pPr algn="l">
              <a:lnSpc>
                <a:spcPct val="116000"/>
              </a:lnSpc>
            </a:pPr>
            <a:r>
              <a:rPr sz="1200" b="1" i="0">
                <a:solidFill>
                  <a:srgbClr val="21295C"/>
                </a:solidFill>
                <a:latin typeface="Arial"/>
              </a:rPr>
              <a:t>Арбитраж</a:t>
            </a:r>
          </a:p>
        </p:txBody>
      </p:sp>
      <p:sp>
        <p:nvSpPr>
          <p:cNvPr id="32" name="Rectangle 31"/>
          <p:cNvSpPr/>
          <p:nvPr/>
        </p:nvSpPr>
        <p:spPr>
          <a:xfrm>
            <a:off x="1703617" y="3487001"/>
            <a:ext cx="6643146" cy="602167"/>
          </a:xfrm>
          <a:prstGeom prst="rect">
            <a:avLst/>
          </a:prstGeom>
          <a:solidFill>
            <a:srgbClr val="F4F7FA"/>
          </a:solidFill>
          <a:ln w="12700">
            <a:solidFill>
              <a:srgbClr val="D9E2EC"/>
            </a:solidFill>
          </a:ln>
          <a:effectLst/>
        </p:spPr>
        <p:txBody>
          <a:bodyPr rtlCol="0" anchor="ctr"/>
          <a:lstStyle/>
          <a:p>
            <a:pPr algn="ctr"/>
          </a:p>
        </p:txBody>
      </p:sp>
      <p:sp>
        <p:nvSpPr>
          <p:cNvPr id="33" name="TextBox 32"/>
          <p:cNvSpPr txBox="1"/>
          <p:nvPr/>
        </p:nvSpPr>
        <p:spPr>
          <a:xfrm>
            <a:off x="1849921" y="3487001"/>
            <a:ext cx="6350538"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чтений на арбитраж </a:t>
            </a:r>
            <a:r>
              <a:rPr sz="1200" b="1" i="0">
                <a:solidFill>
                  <a:srgbClr val="21295C"/>
                </a:solidFill>
                <a:latin typeface="Arial"/>
              </a:rPr>
              <a:t>втрое и на четверть</a:t>
            </a:r>
            <a:r>
              <a:rPr sz="1200" b="0" i="0">
                <a:solidFill>
                  <a:srgbClr val="21295C"/>
                </a:solidFill>
                <a:latin typeface="Arial"/>
              </a:rPr>
              <a:t> больше; один разбор по времени — </a:t>
            </a:r>
            <a:r>
              <a:rPr sz="1200" b="1" i="0">
                <a:solidFill>
                  <a:srgbClr val="21295C"/>
                </a:solidFill>
                <a:latin typeface="Arial"/>
              </a:rPr>
              <a:t>как пять чтений</a:t>
            </a:r>
          </a:p>
        </p:txBody>
      </p:sp>
      <p:sp>
        <p:nvSpPr>
          <p:cNvPr id="34" name="Rectangle 33"/>
          <p:cNvSpPr/>
          <p:nvPr/>
        </p:nvSpPr>
        <p:spPr>
          <a:xfrm>
            <a:off x="8346764" y="3487001"/>
            <a:ext cx="3305434" cy="602167"/>
          </a:xfrm>
          <a:prstGeom prst="rect">
            <a:avLst/>
          </a:prstGeom>
          <a:solidFill>
            <a:srgbClr val="F4F7FA"/>
          </a:solidFill>
          <a:ln w="12700">
            <a:solidFill>
              <a:srgbClr val="D9E2EC"/>
            </a:solidFill>
          </a:ln>
          <a:effectLst/>
        </p:spPr>
        <p:txBody>
          <a:bodyPr rtlCol="0" anchor="ctr"/>
          <a:lstStyle/>
          <a:p>
            <a:pPr algn="ctr"/>
          </a:p>
        </p:txBody>
      </p:sp>
      <p:sp>
        <p:nvSpPr>
          <p:cNvPr id="35" name="TextBox 34"/>
          <p:cNvSpPr txBox="1"/>
          <p:nvPr/>
        </p:nvSpPr>
        <p:spPr>
          <a:xfrm>
            <a:off x="8493068" y="3487001"/>
            <a:ext cx="3012826" cy="602167"/>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два центра, 50 000 женщин; 441 276 случаев</a:t>
            </a:r>
          </a:p>
        </p:txBody>
      </p:sp>
      <p:sp>
        <p:nvSpPr>
          <p:cNvPr id="36" name="TextBox 35"/>
          <p:cNvSpPr txBox="1"/>
          <p:nvPr/>
        </p:nvSpPr>
        <p:spPr>
          <a:xfrm>
            <a:off x="539496" y="4235473"/>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Оплачены неровно, и разряд важнее величины:</a:t>
            </a:r>
            <a:r>
              <a:rPr sz="1250" b="0" i="0">
                <a:solidFill>
                  <a:srgbClr val="21295C"/>
                </a:solidFill>
                <a:latin typeface="Arial"/>
              </a:rPr>
              <a:t> у арбитража два испытания и крупнейшие выборки вечера, у внимания — подгруппа в 14 случаев, у навыка — одно наблюдение без повторения, у подписи — доля документов, а не исход.</a:t>
            </a:r>
          </a:p>
        </p:txBody>
      </p:sp>
      <p:sp>
        <p:nvSpPr>
          <p:cNvPr id="37" name="TextBox 36"/>
          <p:cNvSpPr txBox="1"/>
          <p:nvPr/>
        </p:nvSpPr>
        <p:spPr>
          <a:xfrm>
            <a:off x="539496" y="4888510"/>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Кто платит:</a:t>
            </a:r>
            <a:r>
              <a:rPr sz="1250" b="0" i="0">
                <a:solidFill>
                  <a:srgbClr val="21295C"/>
                </a:solidFill>
                <a:latin typeface="Arial"/>
              </a:rPr>
              <a:t> скрининг — арбитражем · диагноз — вниманием · документы — подписью · квалификация — навыком. </a:t>
            </a:r>
            <a:r>
              <a:rPr sz="1300" b="1" i="0">
                <a:solidFill>
                  <a:srgbClr val="21295C"/>
                </a:solidFill>
                <a:latin typeface="Arial"/>
              </a:rPr>
              <a:t>Инструментальная диагностика не платит ничем из четырёх:</a:t>
            </a:r>
            <a:r>
              <a:rPr sz="1250" b="0" i="0">
                <a:solidFill>
                  <a:srgbClr val="21295C"/>
                </a:solidFill>
                <a:latin typeface="Arial"/>
              </a:rPr>
              <a:t> её цена — 290 пропущенных находок, другая плоскость.</a:t>
            </a:r>
          </a:p>
        </p:txBody>
      </p:sp>
      <p:sp>
        <p:nvSpPr>
          <p:cNvPr id="38" name="TextBox 37"/>
          <p:cNvSpPr txBox="1"/>
          <p:nvPr/>
        </p:nvSpPr>
        <p:spPr>
          <a:xfrm>
            <a:off x="539496" y="5541547"/>
            <a:ext cx="11112703" cy="506732"/>
          </a:xfrm>
          <a:prstGeom prst="rect">
            <a:avLst/>
          </a:prstGeom>
          <a:noFill/>
        </p:spPr>
        <p:txBody>
          <a:bodyPr wrap="square" lIns="0" rIns="0" tIns="0" bIns="0" anchor="t">
            <a:spAutoFit/>
          </a:bodyPr>
          <a:lstStyle/>
          <a:p>
            <a:pPr algn="l">
              <a:lnSpc>
                <a:spcPct val="124000"/>
              </a:lnSpc>
            </a:pPr>
            <a:r>
              <a:rPr sz="1300" b="1" i="0">
                <a:solidFill>
                  <a:srgbClr val="21295C"/>
                </a:solidFill>
                <a:latin typeface="Arial"/>
              </a:rPr>
              <a:t>Шесть искажений входа встретились все шесть:</a:t>
            </a:r>
            <a:r>
              <a:rPr sz="1250" b="0" i="0">
                <a:solidFill>
                  <a:srgbClr val="21295C"/>
                </a:solidFill>
                <a:latin typeface="Arial"/>
              </a:rPr>
              <a:t> якорение и сужение — вниманием, износ — навыком, поправка — подписью, несогласие — арбитражем; поток тревог своей графы не получил. </a:t>
            </a:r>
            <a:r>
              <a:rPr sz="1300" b="1" i="0">
                <a:solidFill>
                  <a:srgbClr val="21295C"/>
                </a:solidFill>
                <a:latin typeface="Arial"/>
              </a:rPr>
              <a:t>Своим именем за вечер назван один.</a:t>
            </a:r>
          </a:p>
        </p:txBody>
      </p:sp>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txBody>
          <a:bodyPr rtlCol="0" anchor="ctr"/>
          <a:lstStyle/>
          <a:p>
            <a:pPr algn="ctr"/>
          </a:p>
        </p:txBody>
      </p:sp>
      <p:sp>
        <p:nvSpPr>
          <p:cNvPr id="3" name="TextBox 2"/>
          <p:cNvSpPr txBox="1"/>
          <p:nvPr/>
        </p:nvSpPr>
        <p:spPr>
          <a:xfrm>
            <a:off x="502920" y="365760"/>
            <a:ext cx="11185855" cy="484099"/>
          </a:xfrm>
          <a:prstGeom prst="rect">
            <a:avLst/>
          </a:prstGeom>
          <a:noFill/>
        </p:spPr>
        <p:txBody>
          <a:bodyPr wrap="square" lIns="0" rIns="0" tIns="0" bIns="0" anchor="t">
            <a:spAutoFit/>
          </a:bodyPr>
          <a:lstStyle/>
          <a:p>
            <a:pPr algn="l">
              <a:lnSpc>
                <a:spcPct val="110000"/>
              </a:lnSpc>
            </a:pPr>
            <a:r>
              <a:rPr sz="2800" b="1" i="0">
                <a:solidFill>
                  <a:srgbClr val="FFFFFF"/>
                </a:solidFill>
                <a:latin typeface="Arial"/>
              </a:rPr>
              <a:t>Чем лекция мерила работу человека</a:t>
            </a:r>
          </a:p>
        </p:txBody>
      </p:sp>
      <p:sp>
        <p:nvSpPr>
          <p:cNvPr id="4" name="TextBox 3"/>
          <p:cNvSpPr txBox="1"/>
          <p:nvPr/>
        </p:nvSpPr>
        <p:spPr>
          <a:xfrm>
            <a:off x="905256" y="2250828"/>
            <a:ext cx="10381183" cy="1969090"/>
          </a:xfrm>
          <a:prstGeom prst="rect">
            <a:avLst/>
          </a:prstGeom>
          <a:noFill/>
        </p:spPr>
        <p:txBody>
          <a:bodyPr wrap="square" lIns="0" rIns="0" tIns="0" bIns="0" anchor="t">
            <a:spAutoFit/>
          </a:bodyPr>
          <a:lstStyle/>
          <a:p>
            <a:pPr algn="ctr">
              <a:lnSpc>
                <a:spcPct val="116000"/>
              </a:lnSpc>
            </a:pPr>
            <a:r>
              <a:rPr sz="5400" b="1" i="0">
                <a:solidFill>
                  <a:srgbClr val="F0AB00"/>
                </a:solidFill>
                <a:latin typeface="Arial"/>
              </a:rPr>
              <a:t>Мерили работу человека, а не то, что стало с больным</a:t>
            </a:r>
          </a:p>
        </p:txBody>
      </p:sp>
      <p:sp>
        <p:nvSpPr>
          <p:cNvPr id="5" name="Rectangle 4"/>
          <p:cNvSpPr/>
          <p:nvPr/>
        </p:nvSpPr>
        <p:spPr>
          <a:xfrm>
            <a:off x="5090007" y="4402799"/>
            <a:ext cx="2011680" cy="77724"/>
          </a:xfrm>
          <a:prstGeom prst="rect">
            <a:avLst/>
          </a:prstGeom>
          <a:solidFill>
            <a:srgbClr val="F0AB00"/>
          </a:solidFill>
          <a:ln>
            <a:noFill/>
          </a:ln>
          <a:effectLst/>
        </p:spPr>
        <p:txBody>
          <a:bodyPr rtlCol="0" anchor="ctr"/>
          <a:lstStyle/>
          <a:p>
            <a:pPr algn="ctr"/>
          </a:p>
        </p:txBody>
      </p:sp>
      <p:sp>
        <p:nvSpPr>
          <p:cNvPr id="6" name="TextBox 5"/>
          <p:cNvSpPr txBox="1"/>
          <p:nvPr/>
        </p:nvSpPr>
        <p:spPr>
          <a:xfrm>
            <a:off x="905256" y="4626827"/>
            <a:ext cx="10381183" cy="519306"/>
          </a:xfrm>
          <a:prstGeom prst="rect">
            <a:avLst/>
          </a:prstGeom>
          <a:noFill/>
        </p:spPr>
        <p:txBody>
          <a:bodyPr wrap="square" lIns="0" rIns="0" tIns="0" bIns="0" anchor="t">
            <a:spAutoFit/>
          </a:bodyPr>
          <a:lstStyle/>
          <a:p>
            <a:pPr algn="ctr">
              <a:lnSpc>
                <a:spcPct val="118000"/>
              </a:lnSpc>
            </a:pPr>
            <a:r>
              <a:rPr sz="1400" b="0" i="1">
                <a:solidFill>
                  <a:srgbClr val="FFFFFF"/>
                </a:solidFill>
                <a:latin typeface="Arial"/>
              </a:rPr>
              <a:t>до исхода больного дошёл скрининг: интервальных раков 1,55 против 1,76 на тысячу — показана не-худшесть, не улучшение</a:t>
            </a:r>
          </a:p>
        </p:txBody>
      </p:sp>
      <p:sp>
        <p:nvSpPr>
          <p:cNvPr id="7" name="TextBox 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FFFFFF"/>
                </a:solidFill>
                <a:latin typeface="Arial"/>
              </a:rPr>
              <a:t>Итоговый анализ MASAI, The Lancet 2026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ступени участия человека и три основания его подписи</a:t>
            </a:r>
          </a:p>
        </p:txBody>
      </p:sp>
      <p:sp>
        <p:nvSpPr>
          <p:cNvPr id="4" name="Rounded Rectangle 3"/>
          <p:cNvSpPr/>
          <p:nvPr/>
        </p:nvSpPr>
        <p:spPr>
          <a:xfrm>
            <a:off x="502920"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① СМОТРИТ ПЕРВЫМ</a:t>
            </a:r>
          </a:p>
        </p:txBody>
      </p:sp>
      <p:sp>
        <p:nvSpPr>
          <p:cNvPr id="6" name="TextBox 5"/>
          <p:cNvSpPr txBox="1"/>
          <p:nvPr/>
        </p:nvSpPr>
        <p:spPr>
          <a:xfrm>
            <a:off x="640080" y="1725375"/>
            <a:ext cx="239869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читает сам, модель — второе мнение</a:t>
            </a:r>
          </a:p>
        </p:txBody>
      </p:sp>
      <p:sp>
        <p:nvSpPr>
          <p:cNvPr id="7" name="TextBox 6"/>
          <p:cNvSpPr txBox="1"/>
          <p:nvPr/>
        </p:nvSpPr>
        <p:spPr>
          <a:xfrm>
            <a:off x="640080" y="2933220"/>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расхождение в арбитраж · рандомизированное, 105 934 женщины</a:t>
            </a:r>
          </a:p>
        </p:txBody>
      </p:sp>
      <p:sp>
        <p:nvSpPr>
          <p:cNvPr id="8" name="Rounded Rectangle 7"/>
          <p:cNvSpPr/>
          <p:nvPr/>
        </p:nvSpPr>
        <p:spPr>
          <a:xfrm>
            <a:off x="3340531"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② СМОТРИТ ВТОРЫМ</a:t>
            </a:r>
          </a:p>
        </p:txBody>
      </p:sp>
      <p:sp>
        <p:nvSpPr>
          <p:cNvPr id="10" name="TextBox 9"/>
          <p:cNvSpPr txBox="1"/>
          <p:nvPr/>
        </p:nvSpPr>
        <p:spPr>
          <a:xfrm>
            <a:off x="3477691"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читает после модели</a:t>
            </a:r>
          </a:p>
        </p:txBody>
      </p:sp>
      <p:sp>
        <p:nvSpPr>
          <p:cNvPr id="11" name="TextBox 10"/>
          <p:cNvSpPr txBox="1"/>
          <p:nvPr/>
        </p:nvSpPr>
        <p:spPr>
          <a:xfrm>
            <a:off x="3477691" y="2542797"/>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внимание сужается, верное решение меняется на неверное · замер взгляда и обзор</a:t>
            </a:r>
          </a:p>
        </p:txBody>
      </p:sp>
      <p:sp>
        <p:nvSpPr>
          <p:cNvPr id="12" name="Rounded Rectangle 11"/>
          <p:cNvSpPr/>
          <p:nvPr/>
        </p:nvSpPr>
        <p:spPr>
          <a:xfrm>
            <a:off x="6178143" y="1335024"/>
            <a:ext cx="2673019" cy="2369087"/>
          </a:xfrm>
          <a:prstGeom prst="roundRect">
            <a:avLst>
              <a:gd name="adj" fmla="val 1286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③ СМОТРИТ СПОРНОЕ</a:t>
            </a:r>
          </a:p>
        </p:txBody>
      </p:sp>
      <p:sp>
        <p:nvSpPr>
          <p:cNvPr id="14" name="TextBox 13"/>
          <p:cNvSpPr txBox="1"/>
          <p:nvPr/>
        </p:nvSpPr>
        <p:spPr>
          <a:xfrm>
            <a:off x="6315303" y="1725375"/>
            <a:ext cx="2398699" cy="1156920"/>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разбирает отмеченное, остальное мимо</a:t>
            </a:r>
          </a:p>
        </p:txBody>
      </p:sp>
      <p:sp>
        <p:nvSpPr>
          <p:cNvPr id="15" name="TextBox 14"/>
          <p:cNvSpPr txBox="1"/>
          <p:nvPr/>
        </p:nvSpPr>
        <p:spPr>
          <a:xfrm>
            <a:off x="6315303" y="2882296"/>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55 снимков из ста не читает никто</a:t>
            </a:r>
          </a:p>
        </p:txBody>
      </p:sp>
      <p:sp>
        <p:nvSpPr>
          <p:cNvPr id="16" name="Rounded Rectangle 15"/>
          <p:cNvSpPr/>
          <p:nvPr/>
        </p:nvSpPr>
        <p:spPr>
          <a:xfrm>
            <a:off x="9015755" y="1335024"/>
            <a:ext cx="2673019" cy="2369087"/>
          </a:xfrm>
          <a:prstGeom prst="roundRect">
            <a:avLst>
              <a:gd name="adj" fmla="val 12865"/>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9152915"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④ ПОДПИСЫВАЕТ НЕ ГЛЯДЯ</a:t>
            </a:r>
          </a:p>
        </p:txBody>
      </p:sp>
      <p:sp>
        <p:nvSpPr>
          <p:cNvPr id="18" name="TextBox 17"/>
          <p:cNvSpPr txBox="1"/>
          <p:nvPr/>
        </p:nvSpPr>
        <p:spPr>
          <a:xfrm>
            <a:off x="9152915"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1,99 секунды</a:t>
            </a:r>
          </a:p>
        </p:txBody>
      </p:sp>
      <p:sp>
        <p:nvSpPr>
          <p:cNvPr id="19" name="TextBox 18"/>
          <p:cNvSpPr txBox="1"/>
          <p:nvPr/>
        </p:nvSpPr>
        <p:spPr>
          <a:xfrm>
            <a:off x="9152915" y="2152374"/>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медиана проверки подсказки; замер вне медицины</a:t>
            </a:r>
          </a:p>
        </p:txBody>
      </p:sp>
      <p:sp>
        <p:nvSpPr>
          <p:cNvPr id="20" name="Rounded Rectangle 19"/>
          <p:cNvSpPr/>
          <p:nvPr/>
        </p:nvSpPr>
        <p:spPr>
          <a:xfrm>
            <a:off x="374904" y="3795551"/>
            <a:ext cx="11441887" cy="2440656"/>
          </a:xfrm>
          <a:prstGeom prst="roundRect">
            <a:avLst>
              <a:gd name="adj" fmla="val 1248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886991"/>
            <a:ext cx="5373471" cy="234921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Участие человека обязательно, и не потому, что он точнее</a:t>
            </a:r>
            <a:r>
              <a:rPr sz="1250" b="0" i="0">
                <a:solidFill>
                  <a:srgbClr val="21295C"/>
                </a:solidFill>
                <a:latin typeface="Arial"/>
              </a:rPr>
              <a:t> — измерено, что часто он не точнее. Вопрос в том, что он делает после модели и кто это измерял.</a:t>
            </a:r>
          </a:p>
          <a:p>
            <a:pPr algn="l">
              <a:lnSpc>
                <a:spcPct val="126000"/>
              </a:lnSpc>
              <a:spcBef>
                <a:spcPts val="720"/>
              </a:spcBef>
            </a:pPr>
            <a:r>
              <a:rPr sz="1250" b="0" i="0">
                <a:solidFill>
                  <a:srgbClr val="21295C"/>
                </a:solidFill>
                <a:latin typeface="Arial"/>
              </a:rPr>
              <a:t/>
            </a:r>
            <a:r>
              <a:rPr sz="1250" b="1" i="0">
                <a:solidFill>
                  <a:srgbClr val="21295C"/>
                </a:solidFill>
                <a:latin typeface="Arial"/>
              </a:rPr>
              <a:t>Чем ниже по ступеням, тем слабее свидетельство.</a:t>
            </a:r>
            <a:r>
              <a:rPr sz="1250" b="0" i="0">
                <a:solidFill>
                  <a:srgbClr val="21295C"/>
                </a:solidFill>
                <a:latin typeface="Arial"/>
              </a:rPr>
              <a:t> Про четвёртую, она же самая частая, известно меньше всего: подпись есть, чтения нет.</a:t>
            </a:r>
          </a:p>
          <a:p>
            <a:pPr algn="l">
              <a:lnSpc>
                <a:spcPct val="126000"/>
              </a:lnSpc>
              <a:spcBef>
                <a:spcPts val="720"/>
              </a:spcBef>
            </a:pPr>
            <a:r>
              <a:rPr sz="1250" b="0" i="0">
                <a:solidFill>
                  <a:srgbClr val="21295C"/>
                </a:solidFill>
                <a:latin typeface="Arial"/>
              </a:rPr>
              <a:t/>
            </a:r>
            <a:r>
              <a:rPr sz="1250" b="1" i="0">
                <a:solidFill>
                  <a:srgbClr val="21295C"/>
                </a:solidFill>
                <a:latin typeface="Arial"/>
              </a:rPr>
              <a:t>Все четыре встретились над одним случаем</a:t>
            </a:r>
            <a:r>
              <a:rPr sz="1250" b="0" i="0">
                <a:solidFill>
                  <a:srgbClr val="21295C"/>
                </a:solidFill>
                <a:latin typeface="Arial"/>
              </a:rPr>
              <a:t> — женщины, которую позвали письмом по году рождения: </a:t>
            </a:r>
            <a:r>
              <a:rPr sz="1250" b="1" i="0">
                <a:solidFill>
                  <a:srgbClr val="21295C"/>
                </a:solidFill>
                <a:latin typeface="Arial"/>
              </a:rPr>
              <a:t>①</a:t>
            </a:r>
            <a:r>
              <a:rPr sz="1250" b="0" i="0">
                <a:solidFill>
                  <a:srgbClr val="21295C"/>
                </a:solidFill>
                <a:latin typeface="Arial"/>
              </a:rPr>
              <a:t> на скрининге, </a:t>
            </a:r>
            <a:r>
              <a:rPr sz="1250" b="1" i="0">
                <a:solidFill>
                  <a:srgbClr val="21295C"/>
                </a:solidFill>
                <a:latin typeface="Arial"/>
              </a:rPr>
              <a:t>②</a:t>
            </a:r>
            <a:r>
              <a:rPr sz="1250" b="0" i="0">
                <a:solidFill>
                  <a:srgbClr val="21295C"/>
                </a:solidFill>
                <a:latin typeface="Arial"/>
              </a:rPr>
              <a:t> на её снимке, </a:t>
            </a:r>
            <a:r>
              <a:rPr sz="1250" b="1" i="0">
                <a:solidFill>
                  <a:srgbClr val="21295C"/>
                </a:solidFill>
                <a:latin typeface="Arial"/>
              </a:rPr>
              <a:t>③</a:t>
            </a:r>
            <a:r>
              <a:rPr sz="1250" b="0" i="0">
                <a:solidFill>
                  <a:srgbClr val="21295C"/>
                </a:solidFill>
                <a:latin typeface="Arial"/>
              </a:rPr>
              <a:t> на профилактическом снимке лёгких, </a:t>
            </a:r>
            <a:r>
              <a:rPr sz="1250" b="1" i="0">
                <a:solidFill>
                  <a:srgbClr val="21295C"/>
                </a:solidFill>
                <a:latin typeface="Arial"/>
              </a:rPr>
              <a:t>④</a:t>
            </a:r>
            <a:r>
              <a:rPr sz="1250" b="0" i="0">
                <a:solidFill>
                  <a:srgbClr val="21295C"/>
                </a:solidFill>
                <a:latin typeface="Arial"/>
              </a:rPr>
              <a:t> на её выписке.</a:t>
            </a:r>
          </a:p>
        </p:txBody>
      </p:sp>
      <p:sp>
        <p:nvSpPr>
          <p:cNvPr id="22" name="TextBox 21"/>
          <p:cNvSpPr txBox="1"/>
          <p:nvPr/>
        </p:nvSpPr>
        <p:spPr>
          <a:xfrm>
            <a:off x="6278727" y="3886991"/>
            <a:ext cx="5373471" cy="2349216"/>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Три основания, и держатся они по-разному.</a:t>
            </a:r>
            <a:r>
              <a:rPr sz="1250" b="0" i="0">
                <a:solidFill>
                  <a:srgbClr val="21295C"/>
                </a:solidFill>
                <a:latin typeface="Arial"/>
              </a:rPr>
              <a:t> </a:t>
            </a:r>
            <a:r>
              <a:rPr sz="1250" b="0" i="1">
                <a:solidFill>
                  <a:srgbClr val="21295C"/>
                </a:solidFill>
                <a:latin typeface="Arial"/>
              </a:rPr>
              <a:t>Право подписи:</a:t>
            </a:r>
            <a:r>
              <a:rPr sz="1250" b="0" i="0">
                <a:solidFill>
                  <a:srgbClr val="21295C"/>
                </a:solidFill>
                <a:latin typeface="Arial"/>
              </a:rPr>
              <a:t> при разборе случая оценивают действия человека, вопроса о модели в этой процедуре нет. </a:t>
            </a:r>
            <a:r>
              <a:rPr sz="1250" b="0" i="1">
                <a:solidFill>
                  <a:srgbClr val="21295C"/>
                </a:solidFill>
                <a:latin typeface="Arial"/>
              </a:rPr>
              <a:t>Ошибается иначе:</a:t>
            </a:r>
            <a:r>
              <a:rPr sz="1250" b="0" i="0">
                <a:solidFill>
                  <a:srgbClr val="21295C"/>
                </a:solidFill>
                <a:latin typeface="Arial"/>
              </a:rPr>
              <a:t> на 106 опытах знак выигрыша пары зависит от того, какая сторона сильнее, — величины у основания нет. </a:t>
            </a:r>
            <a:r>
              <a:rPr sz="1250" b="0" i="1">
                <a:solidFill>
                  <a:srgbClr val="21295C"/>
                </a:solidFill>
                <a:latin typeface="Arial"/>
              </a:rPr>
              <a:t>Отменить нельзя:</a:t>
            </a:r>
            <a:r>
              <a:rPr sz="1250" b="0" i="0">
                <a:solidFill>
                  <a:srgbClr val="21295C"/>
                </a:solidFill>
                <a:latin typeface="Arial"/>
              </a:rPr>
              <a:t> операцию не отменить задним числом, год наблюдения не переиграть.</a:t>
            </a:r>
          </a:p>
          <a:p>
            <a:pPr algn="l">
              <a:lnSpc>
                <a:spcPct val="126000"/>
              </a:lnSpc>
              <a:spcBef>
                <a:spcPts val="720"/>
              </a:spcBef>
            </a:pPr>
            <a:r>
              <a:rPr sz="1250" b="0" i="0">
                <a:solidFill>
                  <a:srgbClr val="21295C"/>
                </a:solidFill>
                <a:latin typeface="Arial"/>
              </a:rPr>
              <a:t/>
            </a:r>
            <a:r>
              <a:rPr sz="1250" b="1" i="0">
                <a:solidFill>
                  <a:srgbClr val="21295C"/>
                </a:solidFill>
                <a:latin typeface="Arial"/>
              </a:rPr>
              <a:t>Норма сформулирована как способность вмешаться — присутствие её не исполняет.</a:t>
            </a:r>
            <a:r>
              <a:rPr sz="1250" b="0" i="0">
                <a:solidFill>
                  <a:srgbClr val="21295C"/>
                </a:solidFill>
                <a:latin typeface="Arial"/>
              </a:rPr>
              <a:t> И ни одна из четырёх ступеней не измерена до того, что решение сделало с больным.</a:t>
            </a:r>
          </a:p>
        </p:txBody>
      </p:sp>
      <p:sp>
        <p:nvSpPr>
          <p:cNvPr id="23" name="Rectangle 22"/>
          <p:cNvSpPr/>
          <p:nvPr/>
        </p:nvSpPr>
        <p:spPr>
          <a:xfrm>
            <a:off x="6091275" y="3886991"/>
            <a:ext cx="9144" cy="2319398"/>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Tacconelli и соавт., J Nucl Med 2026</a:t>
            </a:r>
            <a:r>
              <a:rPr sz="1200" b="0" i="1">
                <a:solidFill>
                  <a:srgbClr val="1C7293"/>
                </a:solidFill>
                <a:latin typeface="Arial"/>
              </a:rPr>
              <a:t> · </a:t>
            </a:r>
            <a:r>
              <a:rPr sz="1200" b="0" i="1" u="sng">
                <a:solidFill>
                  <a:srgbClr val="065A82"/>
                </a:solidFill>
                <a:latin typeface="Arial"/>
                <a:hlinkClick r:id="rId3"/>
              </a:rPr>
              <a:t>Регламент (ЕС) 2024/1689, статья 14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666183" y="91440"/>
            <a:ext cx="7022592" cy="4933053"/>
          </a:xfrm>
          <a:prstGeom prst="roundRect">
            <a:avLst>
              <a:gd name="adj" fmla="val 6178"/>
            </a:avLst>
          </a:prstGeom>
          <a:solidFill>
            <a:srgbClr val="F4F7FA"/>
          </a:solidFill>
          <a:ln w="19050">
            <a:solidFill>
              <a:srgbClr val="1C7293"/>
            </a:solidFill>
          </a:ln>
          <a:effectLst/>
        </p:spPr>
        <p:txBody>
          <a:bodyPr rtlCol="0" anchor="ctr"/>
          <a:lstStyle/>
          <a:p>
            <a:pPr algn="ctr"/>
          </a:p>
        </p:txBody>
      </p:sp>
      <p:pic>
        <p:nvPicPr>
          <p:cNvPr id="4" name="Picture 3" descr="s105-hero-uvedomlenie-ob-otzyve-izdeliya-verkh.png"/>
          <p:cNvPicPr>
            <a:picLocks noChangeAspect="1"/>
          </p:cNvPicPr>
          <p:nvPr/>
        </p:nvPicPr>
        <p:blipFill>
          <a:blip r:embed="rId2"/>
          <a:stretch>
            <a:fillRect/>
          </a:stretch>
        </p:blipFill>
        <p:spPr>
          <a:xfrm>
            <a:off x="4711903" y="137160"/>
            <a:ext cx="6931152" cy="4841613"/>
          </a:xfrm>
          <a:prstGeom prst="rect">
            <a:avLst/>
          </a:prstGeom>
        </p:spPr>
      </p:pic>
      <p:sp>
        <p:nvSpPr>
          <p:cNvPr id="5" name="TextBox 4"/>
          <p:cNvSpPr txBox="1"/>
          <p:nvPr/>
        </p:nvSpPr>
        <p:spPr>
          <a:xfrm>
            <a:off x="502920" y="365760"/>
            <a:ext cx="3852367" cy="841248"/>
          </a:xfrm>
          <a:prstGeom prst="rect">
            <a:avLst/>
          </a:prstGeom>
          <a:noFill/>
        </p:spPr>
        <p:txBody>
          <a:bodyPr wrap="square" lIns="0" rIns="0" tIns="0" bIns="0" anchor="t">
            <a:spAutoFit/>
          </a:bodyPr>
          <a:lstStyle/>
          <a:p>
            <a:pPr algn="l">
              <a:lnSpc>
                <a:spcPct val="108000"/>
              </a:lnSpc>
            </a:pPr>
            <a:r>
              <a:rPr sz="1600" b="1" i="0">
                <a:solidFill>
                  <a:srgbClr val="21295C"/>
                </a:solidFill>
                <a:latin typeface="Arial"/>
              </a:rPr>
              <a:t>Изделие отзовут, решения останутся</a:t>
            </a:r>
          </a:p>
        </p:txBody>
      </p:sp>
      <p:sp>
        <p:nvSpPr>
          <p:cNvPr id="6" name="Rounded Rectangle 5"/>
          <p:cNvSpPr/>
          <p:nvPr/>
        </p:nvSpPr>
        <p:spPr>
          <a:xfrm>
            <a:off x="502920" y="1335024"/>
            <a:ext cx="1843887" cy="2580330"/>
          </a:xfrm>
          <a:prstGeom prst="roundRect">
            <a:avLst>
              <a:gd name="adj" fmla="val 16530"/>
            </a:avLst>
          </a:prstGeom>
          <a:solidFill>
            <a:srgbClr val="F4F7FA"/>
          </a:solidFill>
          <a:ln w="15240">
            <a:solidFill>
              <a:srgbClr val="1C7293"/>
            </a:solidFill>
          </a:ln>
          <a:effectLst/>
        </p:spPr>
        <p:txBody>
          <a:bodyPr rtlCol="0" anchor="ctr"/>
          <a:lstStyle/>
          <a:p>
            <a:pPr algn="ctr"/>
          </a:p>
        </p:txBody>
      </p:sp>
      <p:sp>
        <p:nvSpPr>
          <p:cNvPr id="7" name="TextBox 6"/>
          <p:cNvSpPr txBox="1"/>
          <p:nvPr/>
        </p:nvSpPr>
        <p:spPr>
          <a:xfrm>
            <a:off x="640080" y="1472184"/>
            <a:ext cx="156956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ОТЗЫВАЕТСЯ</a:t>
            </a:r>
          </a:p>
        </p:txBody>
      </p:sp>
      <p:sp>
        <p:nvSpPr>
          <p:cNvPr id="8" name="TextBox 7"/>
          <p:cNvSpPr txBox="1"/>
          <p:nvPr/>
        </p:nvSpPr>
        <p:spPr>
          <a:xfrm>
            <a:off x="640080" y="1725375"/>
            <a:ext cx="1569567"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изделие</a:t>
            </a:r>
          </a:p>
        </p:txBody>
      </p:sp>
      <p:sp>
        <p:nvSpPr>
          <p:cNvPr id="9" name="TextBox 8"/>
          <p:cNvSpPr txBox="1"/>
          <p:nvPr/>
        </p:nvSpPr>
        <p:spPr>
          <a:xfrm>
            <a:off x="640080" y="2152374"/>
            <a:ext cx="156956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процедура отзыва существует — рядом запись регулятора</a:t>
            </a:r>
          </a:p>
        </p:txBody>
      </p:sp>
      <p:sp>
        <p:nvSpPr>
          <p:cNvPr id="10" name="Rounded Rectangle 9"/>
          <p:cNvSpPr/>
          <p:nvPr/>
        </p:nvSpPr>
        <p:spPr>
          <a:xfrm>
            <a:off x="2511399" y="1335024"/>
            <a:ext cx="1843887" cy="2580330"/>
          </a:xfrm>
          <a:prstGeom prst="roundRect">
            <a:avLst>
              <a:gd name="adj" fmla="val 16530"/>
            </a:avLst>
          </a:prstGeom>
          <a:solidFill>
            <a:srgbClr val="FFFFFF"/>
          </a:solidFill>
          <a:ln w="25400">
            <a:solidFill>
              <a:srgbClr val="F0AB00"/>
            </a:solidFill>
          </a:ln>
          <a:effectLst/>
        </p:spPr>
        <p:txBody>
          <a:bodyPr rtlCol="0" anchor="ctr"/>
          <a:lstStyle/>
          <a:p>
            <a:pPr algn="ctr"/>
          </a:p>
        </p:txBody>
      </p:sp>
      <p:sp>
        <p:nvSpPr>
          <p:cNvPr id="11" name="TextBox 10"/>
          <p:cNvSpPr txBox="1"/>
          <p:nvPr/>
        </p:nvSpPr>
        <p:spPr>
          <a:xfrm>
            <a:off x="2648559" y="1472184"/>
            <a:ext cx="1569567"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ОСТАЁТСЯ</a:t>
            </a:r>
          </a:p>
        </p:txBody>
      </p:sp>
      <p:sp>
        <p:nvSpPr>
          <p:cNvPr id="12" name="TextBox 11"/>
          <p:cNvSpPr txBox="1"/>
          <p:nvPr/>
        </p:nvSpPr>
        <p:spPr>
          <a:xfrm>
            <a:off x="2648559" y="1725375"/>
            <a:ext cx="1569567"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решения за год его работы</a:t>
            </a:r>
          </a:p>
        </p:txBody>
      </p:sp>
      <p:sp>
        <p:nvSpPr>
          <p:cNvPr id="13" name="TextBox 12"/>
          <p:cNvSpPr txBox="1"/>
          <p:nvPr/>
        </p:nvSpPr>
        <p:spPr>
          <a:xfrm>
            <a:off x="2648559" y="2933220"/>
            <a:ext cx="1569567"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процедуру не переделать, год наблюдения не переиграть</a:t>
            </a:r>
          </a:p>
        </p:txBody>
      </p:sp>
      <p:sp>
        <p:nvSpPr>
          <p:cNvPr id="14" name="Rounded Rectangle 13"/>
          <p:cNvSpPr/>
          <p:nvPr/>
        </p:nvSpPr>
        <p:spPr>
          <a:xfrm>
            <a:off x="374904" y="5024493"/>
            <a:ext cx="11441887" cy="121171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5" name="TextBox 14"/>
          <p:cNvSpPr txBox="1"/>
          <p:nvPr/>
        </p:nvSpPr>
        <p:spPr>
          <a:xfrm>
            <a:off x="539496" y="5115933"/>
            <a:ext cx="11112703" cy="1120274"/>
          </a:xfrm>
          <a:prstGeom prst="rect">
            <a:avLst/>
          </a:prstGeom>
          <a:noFill/>
        </p:spPr>
        <p:txBody>
          <a:bodyPr wrap="square" lIns="0" rIns="0" tIns="0" bIns="0" anchor="t">
            <a:spAutoFit/>
          </a:bodyPr>
          <a:lstStyle/>
          <a:p>
            <a:pPr algn="l">
              <a:lnSpc>
                <a:spcPct val="126000"/>
              </a:lnSpc>
            </a:pPr>
            <a:r>
              <a:rPr sz="1150" b="0" i="0">
                <a:solidFill>
                  <a:srgbClr val="21295C"/>
                </a:solidFill>
                <a:latin typeface="Arial"/>
              </a:rPr>
              <a:t>«В медицине всё необратимо» — утверждение шире замера. </a:t>
            </a:r>
            <a:r>
              <a:rPr sz="1150" b="1" i="0">
                <a:solidFill>
                  <a:srgbClr val="21295C"/>
                </a:solidFill>
                <a:latin typeface="Arial"/>
              </a:rPr>
              <a:t>Изделия отзывают: рядом запись регулятора.</a:t>
            </a:r>
            <a:r>
              <a:rPr sz="1150" b="0" i="0">
                <a:solidFill>
                  <a:srgbClr val="21295C"/>
                </a:solidFill>
                <a:latin typeface="Arial"/>
              </a:rPr>
              <a:t> Решения, принятые по устройству за год его работы, вместе с ним не отзываются.</a:t>
            </a:r>
          </a:p>
          <a:p>
            <a:pPr algn="l">
              <a:lnSpc>
                <a:spcPct val="126000"/>
              </a:lnSpc>
              <a:spcBef>
                <a:spcPts val="720"/>
              </a:spcBef>
            </a:pPr>
            <a:r>
              <a:rPr sz="1150" b="0" i="0">
                <a:solidFill>
                  <a:srgbClr val="21295C"/>
                </a:solidFill>
                <a:latin typeface="Arial"/>
              </a:rPr>
              <a:t/>
            </a:r>
            <a:r>
              <a:rPr sz="1150" b="1" i="0">
                <a:solidFill>
                  <a:srgbClr val="21295C"/>
                </a:solidFill>
                <a:latin typeface="Arial"/>
              </a:rPr>
              <a:t>Чем кончилось для женщины с письмом, не измерил никто.</a:t>
            </a:r>
            <a:r>
              <a:rPr sz="1150" b="0" i="0">
                <a:solidFill>
                  <a:srgbClr val="21295C"/>
                </a:solidFill>
                <a:latin typeface="Arial"/>
              </a:rPr>
              <a:t> Тот же вопрос к своему контуру: что в нём отзывается, а что остаётся.</a:t>
            </a:r>
          </a:p>
          <a:p>
            <a:pPr algn="l">
              <a:lnSpc>
                <a:spcPct val="126000"/>
              </a:lnSpc>
              <a:spcBef>
                <a:spcPts val="720"/>
              </a:spcBef>
            </a:pPr>
            <a:r>
              <a:rPr sz="1150" b="0" i="0">
                <a:solidFill>
                  <a:srgbClr val="21295C"/>
                </a:solidFill>
                <a:latin typeface="Arial"/>
              </a:rPr>
              <a:t/>
            </a:r>
            <a:r>
              <a:rPr sz="1150" b="1" i="0">
                <a:solidFill>
                  <a:srgbClr val="21295C"/>
                </a:solidFill>
                <a:latin typeface="Arial"/>
              </a:rPr>
              <a:t>Дальше — отрасль, где ошибку почти всегда можно отменить:</a:t>
            </a:r>
            <a:r>
              <a:rPr sz="1150" b="0" i="0">
                <a:solidFill>
                  <a:srgbClr val="21295C"/>
                </a:solidFill>
                <a:latin typeface="Arial"/>
              </a:rPr>
              <a:t> спор там о принадлежности результата, цена ошибки почти не звучит.</a:t>
            </a:r>
          </a:p>
        </p:txBody>
      </p:sp>
      <p:sp>
        <p:nvSpPr>
          <p:cNvPr id="16" name="Rectangle 15"/>
          <p:cNvSpPr/>
          <p:nvPr/>
        </p:nvSpPr>
        <p:spPr>
          <a:xfrm>
            <a:off x="502920" y="701366"/>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Lee и соавт., JAMA Health Forum 2025, срез ноябрь 2024</a:t>
            </a:r>
            <a:r>
              <a:rPr sz="1200" b="0" i="1">
                <a:solidFill>
                  <a:srgbClr val="1C7293"/>
                </a:solidFill>
                <a:latin typeface="Arial"/>
              </a:rPr>
              <a:t> · </a:t>
            </a:r>
            <a:r>
              <a:rPr sz="1200" b="0" i="1">
                <a:solidFill>
                  <a:srgbClr val="1C7293"/>
                </a:solidFill>
                <a:latin typeface="Arial"/>
              </a:rPr>
              <a:t>База отзывов изделий FDA, запись Z-2111-2021, октябрь 2026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Три проверки для любой отрасли — и вопрос</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6869887" cy="271271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Есть ли независимый источник истины, кроме объяснения модели?</a:t>
            </a:r>
            <a:r>
              <a:rPr sz="1500" b="0" i="0">
                <a:solidFill>
                  <a:srgbClr val="21295C"/>
                </a:solidFill>
                <a:latin typeface="Arial"/>
              </a:rPr>
              <a:t> Другой прибор, другой анализ, другой человек или сам предмет. Проверка по самообъяснению — не проверка.</a:t>
            </a:r>
          </a:p>
          <a:p>
            <a:pPr algn="l">
              <a:lnSpc>
                <a:spcPct val="126000"/>
              </a:lnSpc>
              <a:spcBef>
                <a:spcPts val="720"/>
              </a:spcBef>
            </a:pPr>
            <a:r>
              <a:rPr sz="1500" b="0" i="0">
                <a:solidFill>
                  <a:srgbClr val="21295C"/>
                </a:solidFill>
                <a:latin typeface="Arial"/>
              </a:rPr>
              <a:t/>
            </a:r>
            <a:r>
              <a:rPr sz="1500" b="1" i="0">
                <a:solidFill>
                  <a:srgbClr val="21295C"/>
                </a:solidFill>
                <a:latin typeface="Arial"/>
              </a:rPr>
              <a:t>Измерено ли, что он возражает — и что возражает верно?</a:t>
            </a:r>
            <a:r>
              <a:rPr sz="1500" b="0" i="0">
                <a:solidFill>
                  <a:srgbClr val="21295C"/>
                </a:solidFill>
                <a:latin typeface="Arial"/>
              </a:rPr>
              <a:t> Две считаемые доли. Не измерена ни одна — «человек проверяет» не отличается от «человек подписывает».</a:t>
            </a:r>
          </a:p>
        </p:txBody>
      </p:sp>
      <p:sp>
        <p:nvSpPr>
          <p:cNvPr id="6" name="TextBox 5"/>
          <p:cNvSpPr txBox="1"/>
          <p:nvPr/>
        </p:nvSpPr>
        <p:spPr>
          <a:xfrm>
            <a:off x="539496" y="4139183"/>
            <a:ext cx="11112703" cy="20970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Успевает ли он физически?</a:t>
            </a:r>
            <a:r>
              <a:rPr sz="1500" b="0" i="0">
                <a:solidFill>
                  <a:srgbClr val="21295C"/>
                </a:solidFill>
                <a:latin typeface="Arial"/>
              </a:rPr>
              <a:t> Секунды на решение против объёма чтения. Медиана проверки подсказки — те же </a:t>
            </a:r>
            <a:r>
              <a:rPr sz="1500" b="1" i="0">
                <a:solidFill>
                  <a:srgbClr val="21295C"/>
                </a:solidFill>
                <a:latin typeface="Arial"/>
              </a:rPr>
              <a:t>1,99 секунды</a:t>
            </a:r>
            <a:r>
              <a:rPr sz="1500" b="0" i="0">
                <a:solidFill>
                  <a:srgbClr val="21295C"/>
                </a:solidFill>
                <a:latin typeface="Arial"/>
              </a:rPr>
              <a:t>, что звучали на оси вечера; принятое без проверки правится потом в </a:t>
            </a:r>
            <a:r>
              <a:rPr sz="1500" b="1" i="0">
                <a:solidFill>
                  <a:srgbClr val="21295C"/>
                </a:solidFill>
                <a:latin typeface="Arial"/>
              </a:rPr>
              <a:t>53 % случаев против 18</a:t>
            </a:r>
            <a:r>
              <a:rPr sz="1500" b="0" i="0">
                <a:solidFill>
                  <a:srgbClr val="21295C"/>
                </a:solidFill>
                <a:latin typeface="Arial"/>
              </a:rPr>
              <a:t>.</a:t>
            </a:r>
          </a:p>
          <a:p>
            <a:pPr algn="l">
              <a:lnSpc>
                <a:spcPct val="126000"/>
              </a:lnSpc>
              <a:spcBef>
                <a:spcPts val="720"/>
              </a:spcBef>
            </a:pPr>
            <a:r>
              <a:rPr sz="1500" b="0" i="0">
                <a:solidFill>
                  <a:srgbClr val="21295C"/>
                </a:solidFill>
                <a:latin typeface="Arial"/>
              </a:rPr>
              <a:t/>
            </a:r>
            <a:r>
              <a:rPr sz="1500" b="1" i="0">
                <a:solidFill>
                  <a:srgbClr val="21295C"/>
                </a:solidFill>
                <a:latin typeface="Arial"/>
              </a:rPr>
              <a:t>Если бы вы завтра ставили модель в свой контур — какую одну проверку сделали бы обязательной до включения?</a:t>
            </a:r>
          </a:p>
        </p:txBody>
      </p:sp>
      <p:sp>
        <p:nvSpPr>
          <p:cNvPr id="7" name="Rounded Rectangle 6"/>
          <p:cNvSpPr/>
          <p:nvPr/>
        </p:nvSpPr>
        <p:spPr>
          <a:xfrm>
            <a:off x="7756855" y="1335024"/>
            <a:ext cx="3931920" cy="2712719"/>
          </a:xfrm>
          <a:prstGeom prst="roundRect">
            <a:avLst>
              <a:gd name="adj" fmla="val 11235"/>
            </a:avLst>
          </a:prstGeom>
          <a:solidFill>
            <a:srgbClr val="F4F7FA"/>
          </a:solidFill>
          <a:ln w="19050">
            <a:solidFill>
              <a:srgbClr val="1C7293"/>
            </a:solidFill>
          </a:ln>
          <a:effectLst/>
        </p:spPr>
        <p:txBody>
          <a:bodyPr rtlCol="0" anchor="ctr"/>
          <a:lstStyle/>
          <a:p>
            <a:pPr algn="ctr"/>
          </a:p>
        </p:txBody>
      </p:sp>
      <p:pic>
        <p:nvPicPr>
          <p:cNvPr id="8" name="Picture 7" descr="s106-dvoe-chitayut-s-ekrana.jpg"/>
          <p:cNvPicPr>
            <a:picLocks noChangeAspect="1"/>
          </p:cNvPicPr>
          <p:nvPr/>
        </p:nvPicPr>
        <p:blipFill>
          <a:blip r:embed="rId2"/>
          <a:stretch>
            <a:fillRect/>
          </a:stretch>
        </p:blipFill>
        <p:spPr>
          <a:xfrm>
            <a:off x="7894015" y="1472184"/>
            <a:ext cx="3657600" cy="2438400"/>
          </a:xfrm>
          <a:prstGeom prst="rect">
            <a:avLst/>
          </a:prstGeom>
        </p:spPr>
      </p:pic>
      <p:sp>
        <p:nvSpPr>
          <p:cNvPr id="9" name="Rectangle 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