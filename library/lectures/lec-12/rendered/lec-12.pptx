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keystone-слайд лекции. Здесь предъявляется концептуальная ось, на которую нанизаны все следующие 35 слайдов. Шкала автономии AI в производстве: A0 наблюдать, A1 советовать, A2 замыкать петлю, A3 действовать автономно. На каждой ступени AI занимает разные роли. На A0 он выдаёт сигнал, решение принимает человек или другая система — это компьютерное зрение для контроля качества и прогностическое обслуживание. На A1 он предлагает действие, оператор даёт явное согласие — это MES в советующем режиме, предсказание тревог, PLC Copilot. На A2 он меняет параметры в безопасной зоне без согласия на каждое — это Yokogawa FKDPP в JSR химическом заводе в 2022. На A3 он действует автономно с safety guardrails — это Toyota Digit на сборочной линии RAV4 и BMW Leipzig humanoid pilot, единичные кейсы 2026.</a:t>
            </a:r>
          </a:p>
          <a:p/>
          <a:p>
            <a:r>
              <a:t>Два дисклеймера обязательно. Первый — не путать эту шкалу с архитектурными слоями ISA-95 L0–L2 из лекции 11. Там слои архитектуры (поле, контроллер, диспетчер); здесь степени автономии AI. Один и тот же буквенный префикс — разные семантики. Второй — A3 в 2026 году встречается единично; основная масса производства застряла на A0–A2. Это не «отставание», это структурная картина: для A3 нужна полная архитектура twin + edge AI + safety envelope + fleet management, и регуляторика для autonomous control в большинстве индустрий пока не существует.</a:t>
            </a:r>
          </a:p>
          <a:p/>
          <a:p>
            <a:r>
              <a:t>Цифровой двойник — мост между ступенями. Без него подъём с A1 на A2 — слепая вера. Поэтому первый раздел лекции — что такое двойник.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 раздела 1: что такое цифровой двойник в 2026 — Kritzinger taxonomy, ГОСТ, рынок, провал 75%.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Kritzinger 2018 в IFAC-PapersOnLine ввёл три уровня. Цифровая модель: статичная репрезентация без потока данных с физического объекта — это CAD-чертёж или 3D-визуализация. Цифровая тень: данные текут из физики в digital, но управляющего действия назад нет — это dashboard мониторинга. Цифровой двойник: двусторонняя петля physical ↔ digital с возможностью симулировать управляющее действие назад до его применения к физическому железу. Только третий тип — настоящий twin.</a:t>
            </a:r>
          </a:p>
          <a:p/>
          <a:p>
            <a:r>
              <a:t>Когда вендор показывает дашборд с 3D-визуализацией и называет это «digital twin» — спросите два вопроса. Где двусторонняя петля? Где возможность симулировать управляющее действие назад? Если ответ «у нас есть аналитика», но не «у нас есть симулятор, который проверяет решение перед его применением» — это не twin, это shadow.</a:t>
            </a:r>
          </a:p>
          <a:p/>
          <a:p>
            <a:r>
              <a:t>ГОСТ Р 57700.37-2021 «Цифровые двойники изделий. Общие положения» — формальная регуляторная база в России. Согласует terminology с международной taxonomy. Для промышленного применения twin в РФ это обязательная норма.</a:t>
            </a:r>
          </a:p>
          <a:p/>
          <a:p>
            <a:r>
              <a:t>Запомните трёхуровневую модель Kritzinger как первый фильтр. Когда вы видите название «digital twin» в продукте — спросите, попадает ли он в третий уровень. Если есть только поток данных без управляющего действия назад — это shadow, не twin. Если только модель без живого потока — это model, не twin. Только полная двусторонняя петля с симуляцией обратного действия — это настоящий цифровой двойник. Это вторая базовая концепция лекции (первая — шкала автономии A0–A3), и она нам понадобится во всех остальных разделах.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Запомните четыре цифры. Рынок цифровых двойников — 36,19 миллиарда долларов в 2025 году, 180,28 миллиарда к 2030 году. Среднегодовой темп роста 37,87%. Параллельный рынок AI в производстве — 155,04 миллиарда долларов к 2030, темп 35,3% за 2026–2030. Промышленный AI поверх OPC UA + MQTT — уже 17,15 миллиарда в 2026.</a:t>
            </a:r>
          </a:p>
          <a:p/>
          <a:p>
            <a:r>
              <a:t>Параллельно — три цифры, которые рисуют другую картину того же рынка. 75% проектов цифровых двойников не дают окупаемости из-за слабого слоя данных. Только 11% проектов в нефтегазе дают ожидаемый эффект. Только 14% пользователей говорят, что технология соответствует ожиданиям. Это не противоречие — это разрыв ожиданий: технология распространяется быстрее, чем инфраструктура к ней готова.</a:t>
            </a:r>
          </a:p>
          <a:p/>
          <a:p>
            <a:r>
              <a:t>Что это значит для инженера 3 курса. Через год после выпуска вы зайдёте в офис, и кто-то покажет слайд с этими «золотыми» цифрами рынка. Помните вторую тройку: 75%, 11%, 14%. Это не означает что AI не работает. Это означает что аудит слоя данных обязателен ПЕРЕД любым пилотом, и десять критериев применимости из шестого раздела — ваша рамка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Southeast Asian Port — задокументированный context-clue.com 2026 кейс провала цифрового двойника. Бюджет — 12 миллионов долларов. Пилот — 18 месяцев. Результат — проект списан в 2024 году, до промышленной эксплуатации не дошёл.</a:t>
            </a:r>
          </a:p>
          <a:p/>
          <a:p>
            <a:r>
              <a:t>Три корневые причины — каждая универсальна и встретится вам в любом проекте, не только в порту. Первая — фрагментированные данные из 5 разных источников без единой схемы: датчики на кранах, GPS контейнеров, ERP, погодные API, manifest-системы. У всех разные форматы, разные частоты, разные форматы метаданных. Двойник не смог объединить это в один поток. Вторая — чрезмерный акцент на 3D-визуализации: бюджет ушёл на красивую сцену в Unity и Unreal, а не на data pipeline. Через 12 месяцев у проекта была впечатляющая 3D-картинка порта и нулевая operational функция. Третья — не был определён clear use case: проект назывался «twin для порта», но никто не мог сформулировать, какое конкретное решение twin должен принимать, какой KPI улучшать, какую гипотезу проверять.</a:t>
            </a:r>
          </a:p>
          <a:p/>
          <a:p>
            <a:r>
              <a:t>Урок один — data-layer audit обязателен ДО запуска любого twin-пилота. Аудит из пяти вопросов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 раздела 2: A0 наблюдать — vision QC и прогностическое обслуживание плюс границы применимости.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Запомните арифметику ложных срабатываний. Vision QC в tuned системах достигает 99% и выше точности при ложных срабатываниях от 0,1 до 2 процентов. Это лучший класс точности для дискретного производства в 2026 году. Indus Vision, Jidoka, Overview.ai — все вендоры в этой полосе.</a:t>
            </a:r>
          </a:p>
          <a:p/>
          <a:p>
            <a:r>
              <a:t>Но даже 1% FP при 10 000 деталях за смену — это 100 годных отвергнуто. Что происходит дальше: ручная переборка отвергнутой партии, sort cost растёт, throughput падает, оператор начинает override решений системы, доверие к AI рушится. Это не «редкая проблема», это структурный риск vision QC. Каждый процент FP × объём партии = реальная потеря.</a:t>
            </a:r>
          </a:p>
          <a:p/>
          <a:p>
            <a:r>
              <a:t>Альтернативы есть. Для нестабильного процесса — стабилизация процесса перед vision AI. Если ваш производственный процесс даёт высокую вариативность по причинам, не связанным с дефектами (изменчивые партии материала, износ инструмента), vision будет ловить эту вариативность как дефекты. Сначала стабилизируйте процесс по SPC, потом ставьте vision. Для жёстких допусков ±0,001 миллиметра — метрология плюс GD&amp;T плюс SPC. Камера разрешает 0,01–0,1 мм; микрометровых отклонений она физически не видит. Это анкер: «AI не дотягивает физическое разрешение датчика».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 раздела 3: A1 советовать — MES advisory, alarm prediction, PLC Copilot и canonical failure generic LLM на PLC.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Конкретный пример провала generic LLM на PLC. ChatGPT на запрос «оптимизируй этот блок Siemens S7-1500» выдаёт инструкцию MOV %M99999. Что не так. В Siemens S7-1500 M-область — флаги памяти — ограничена до M65535. Адрес %M99999 не существует. PLC откажется компилировать программу. Это не «иногда галлюцинирует», это структурное ограничение. Generic LLM не знает scan-based execution PLC (циклы 1–10 мс), не знает legal addresses конкретной модели контроллера, не различает Siemens S7 от Allen-Bradley ControlLogix.</a:t>
            </a:r>
          </a:p>
          <a:p/>
          <a:p>
            <a:r>
              <a:t>Альтернатива — purpose-built инструменты. PLC Copilot, PLCAutoPilot, Wipro PARI. Они знают IEC 61131-3 — ladder logic, structured text, function block diagram. Валидируют адреса памяти по модели контроллера до выдачи кода. Понимают scan time. С engineer-in-loop дают 85% точности. Скорость: то, что раньше занимало 3-4 дня инженерной работы, делается за 10 минут. 15% ошибок ловит инженер на стадии review.</a:t>
            </a:r>
          </a:p>
          <a:p/>
          <a:p>
            <a:r>
              <a:t>Это правильный паттерн A1 — AI предлагает, инженер ревьюит, симулятор валидирует, safety-проверка пропускает только то, что прошло, и только тогда deployment. Структурное ограничение: AI-генерация PLC-кода применима, только если есть симулятор для валидации, safety-протоколы перед deployment, инженер с правом veto.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 раздела 4: A2 замыкать петлю — Yokogawa FKDPP, twin как песочница для RL, sim-to-real gap, MPC альтернатива.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Знаковый кейс A2. Yokogawa FKDPP — Factorial Kernel Dynamic Policy Programming. Алгоритм разработан в NAIST в 2018 году. Off-policy reinforcement learning с факториальной ядровой декомпозицией. За эту работу команда Yokogawa получила премию премьер-министра Японии в 2023.</a:t>
            </a:r>
          </a:p>
          <a:p/>
          <a:p>
            <a:r>
              <a:t>Применение — дистилляционная колонна на химическом заводе JSR в 2022 году. 35 дней непрерывной автоматической работы под контролем RL-агента. Оператор мог вмешаться в любой момент, но за 35 дней не было необходимости. Это первый задокументированный кейс RL в промышленной эксплуатации chemical plant. Опубликован в ACS Industrial &amp; Engineering Chemistry Research 2024.</a:t>
            </a:r>
          </a:p>
          <a:p/>
          <a:p>
            <a:r>
              <a:t>Критическое для лекции 12 — то, что отличает её от лекции 11. В лекции 11 FKDPP разбирали как алгоритмический breakthrough. Здесь разбираем как архитектурный механизм. Yokogawa имела внутренний twin колонны. RL обучался в симуляции тысячи эпизодов, прежде чем коснулся реального оборудования. Без twin это была бы слепая вера — экспериментировать с RL на реальной distillation column означало бы рисковать остановкой завода и нарушением спецификации продукта. Twin как песочница — единственная архитектура, которая делает A2-RL безопасным.</a:t>
            </a:r>
          </a:p>
          <a:p/>
          <a:p>
            <a:r>
              <a:t>Якорь: без twin — слепая вера. FKDPP получился, потому что Yokogawa имела внутреннюю симуляцию колонны как twin задолго до RL-эксперимента.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центральный архитектурный механизм, который делает A2 возможным. Цикл обучения RL в песочнице — пять стадий. Первая: твоё оборудование описано как twin — точная модель плюс физика плюс поток данных с реальных датчиков. Вторая: RL-агент обучается на тысячах симуляционных эпизодов в этой песочнице. Тысячи неудач, тысячи распущенных партий, тысячи аварийных остановок — все в симуляции, без риска для железа. Третья: валидация на edge cases — sensitivity analysis, проверка границ безопасности, проверка устойчивости к шумам сенсоров. Четвёртая: перенос RL-policy на реальное оборудование с shadow mode — RL предлагает действия, но не выполняет; оператор сверяет с экспертным контуром управления. Пятая: откат — если detected distribution shift (новый сезон, новый feedstock, новое состояние оборудования), снимаем RL, hardwired PLC берёт управление.</a:t>
            </a:r>
          </a:p>
          <a:p/>
          <a:p>
            <a:r>
              <a:t>NVIDIA Omniverse + Cosmos на Hannover Messe 2026 представили фундационные модели физического AI — обучение в симуляции с переносом на реальное оборудование. Siemens Digital Twin Composer на CES 2026 объединил 2D+3D twin плюс real-time data плюс сцену Omniverse с механизмом time scrubbing — можно «промотать» процесс назад, проверить альтернативные решения, восстановить state.</a:t>
            </a:r>
          </a:p>
          <a:p/>
          <a:p>
            <a:r>
              <a:t>Без двойника как песочницы — нет A2. Это и есть «мост» из keystone-слайда.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 раздела 4.5: A3 действовать автономно — единичные кейсы 2026 и три структурных блокера массового 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 раздела 5: где AI не применим — десять структурных критериев, проработанный пример фарма+FDA, 5 вопросов вендору. Densest failure bucket лекции — 15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Проработанный пример из chapter §5.3 — конкретный сценарий, через который проходит десять критериев.</a:t>
            </a:r>
          </a:p>
          <a:p/>
          <a:p>
            <a:r>
              <a:t>Сценарий: фармацевтическое производство, AI-система рекомендует дозировку активного компонента в финальной формуляции таблеток. Что AI способен: обучается на исторических партиях, предсказывает оптимальную дозировку с точностью ±0,5% от номинала, 90% accuracy на тестовом наборе. Это респектабельный результат для ML на относительно небольшой выборке.</a:t>
            </a:r>
          </a:p>
          <a:p/>
          <a:p>
            <a:r>
              <a:t>Что FDA требует. FDA 21 CFR Part 11 — стандарт для электронных записей и подписей в регулируемой фармацевтической среде. GAMP 5 — Good Automated Manufacturing Practice version 5, gold-standard для валидации программных систем в фарма-производстве. Для batch release decision требуется precision ±0,1% от номинала.</a:t>
            </a:r>
          </a:p>
          <a:p/>
          <a:p>
            <a:r>
              <a:t>Разрыв. AI accuracy ±0,5% меньше required tolerance ±0,1%. Это несовместимо. Verdict: AI не подходит для финального release decision.</a:t>
            </a:r>
          </a:p>
          <a:p/>
          <a:p>
            <a:r>
              <a:t>Альтернатива. AI как advisory tool на этапе process design, где точность ±0,5% полезна. Инженер видит рекомендации AI при дизайне нового продукта, оценивает, принимает или отвергает. Для release — human-in-loop QA плюс statistical batch sampling, validated по USP и GMP.</a:t>
            </a:r>
          </a:p>
          <a:p/>
          <a:p>
            <a:r>
              <a:t>Cross-reference: лекция 7 ввела FDA 21 CFR Part 11 как принцип. Этот кейс — конкретная инстанцияция того, как принцип работает в фарме. Универсальный паттерн: всегда сравнивайте accuracy AI с required tolerance для решения. Если AI не дотягивает — он не подходит для этого решения, но может подходить для другого.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 раздела 6: OT/IT архитектура 2026 — 7 слоёв стека, протоколы OPC UA + MQTT + TSN, edge AI inference &lt;10 мс, Lighthouse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 раздела 7: российский контекст — ГОСТ Р 57700.37 + КАМАЗ + Росатом + Норникель плюс карьерный мост (4 роли инженера AI).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Закрытие лекции 12. Шкала автономии A0–A3 плюс цифровой двойник как мост между ступенями — операционная рамка для инженерных решений 2026 года.</a:t>
            </a:r>
          </a:p>
          <a:p/>
          <a:p>
            <a:r>
              <a:t>Что мы знаем теперь. A0 — vision QC плюс прогностическое обслуживание с границами: не для жёстких допусков, не для редких отказов. A1 — MES советующий, alarm prediction, PLC Copilot с инженером в loop. Generic LLM на PLC — провал; purpose-built — работает с safety check. A2 — Yokogawa FKDPP в JSR 35 дней; twin как песочница для RL — central architectural angle лекции. Sim-to-real gap — concrete пример Т=300 vs Т=315 с поверхностными отложениями. RL не для safety-critical, не для known physics — там MPC или формальная верификация. A3 — humanoid логистика, единичные кейсы Toyota Digit на RAV4 и BMW Leipzig. Три блокера массового A3.</a:t>
            </a:r>
          </a:p>
          <a:p/>
          <a:p>
            <a:r>
              <a:t>Десять критериев «AI не нужен» — payoff лекции для LO7 и LO8. Пять вопросов вендору — practical tool для кармана. Аудит слоя данных — обязательная проверка ДО любого пилота.</a:t>
            </a:r>
          </a:p>
          <a:p/>
          <a:p>
            <a:r>
              <a:t>Мост к Лекции 13 — AI в логистике, цепях поставок и транспорте. Toyota Digit между станциями RAV4 — это первая ступень supply chain. В лекции 13 мы расширим ось от одного цеха к глобальной цепочке поставок: WMS на нескольких складах, multi-modal transport, predictive routing, GPS-телематика флотов. Шкала автономии A0–A3 универсальна — она применима и к транспорту (где появляются ADAS, automated driving SAE Levels). Двойник как мост между физикой и AI — общий принцип.</a:t>
            </a:r>
          </a:p>
          <a:p/>
          <a:p>
            <a:r>
              <a:t>До встречи на Лекции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Когда инженер 3 курса слышит словосочетание «AI на заводе», у него в голове чаще всего формируется одна из двух искажённых картин. Либо полностью автономный цех без людей — медиа-образ из 2018 года с Tesla Fremont и плакатами Industry 4.0. Либо модный чатбот для оператора — интерфейсный стереотип 2024–2025. Обе картины ложны.</a:t>
            </a:r>
          </a:p>
          <a:p/>
          <a:p>
            <a:r>
              <a:t>Реальная производственная автоматизация в 2026 году устроена как многоуровневая шкала автономии. На нижних ступенях AI работает пассивным наблюдателем: компьютерное зрение для контроля качества, прогностическое обслуживание. На средних — советчиком оператору: диспетчерское управление, помощник по коду программируемого логического контроллера. На верхних — со-контроллером в замкнутой петле: оптимизация параметров, обучение с подкреплением. И только на самой вершине — автономный физический агент, например гуманоид Toyota Digit на сборочной линии RAV4. В 2026 году эта верхняя ступень встречается единично.</a:t>
            </a:r>
          </a:p>
          <a:p/>
          <a:p>
            <a:r>
              <a:t>Эта шкала неотделима от цифрового двойника — рабочего архитектурного контура: математическая модель оборудования, поток данных с реальных датчиков, AI-слой для предсказания, и интерфейс для тестирования управляющих решений до их применения к физическому железу. Без двойника подъём выше второй ступени превращается в слепую веру.</a:t>
            </a:r>
          </a:p>
          <a:p/>
          <a:p>
            <a:r>
              <a:t>Сегодня вы научитесь читать вендорские слайды критически — задавать пять вопросов о ступени автономии. И знать десять структурных критериев, когда AI не подходит и какая альтернатива лучше. Инженер ценится не тем, что умеет запускать AI, а тем, что знает его границы и умеет отказать неподходящему применению.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Сегодня мы посвятим 75 минут трём вопросам. Первый — что такое цифровой двойник в 2026 году и почему 75% проектов проваливаются. Второй — на какой ступени автономии (A0, A1, A2 или A3) можно поднять конкретный производственный процесс. Третий — где AI не нужен и какая альтернатива работает лучше.</a:t>
            </a:r>
          </a:p>
          <a:p/>
          <a:p>
            <a:r>
              <a:t>Структура лекции — восемь разделов. Первый — определение цифрового двойника, Kritzinger taxonomy, ГОСТ Р 57700.37, рынок, провал 75%. Второй — A0 наблюдать: vision QC и прогностическое обслуживание. Третий — A1 советовать: MES, alarm prediction, PLC Copilot. Четвёртый — A2 замыкать петлю: Yokogawa FKDPP и twin как песочница. Пятый — A3 действовать автономно: humanoid логистика. Шестой — где AI не нужен: десять структурных критериев. Седьмой — OT/IT архитектура. Восьмой — российский контекст плюс карьерный мост.</a:t>
            </a:r>
          </a:p>
          <a:p/>
          <a:p>
            <a:r>
              <a:t>Ключевая концептуальная ось этой лекции — шкала автономии A0–A3. Это не таксономия типов производства из лекции 11 (discrete vs process). Это шкала доверия, которое мы делегируем AI. Цифровой двойник — единственный известный механизм, позволяющий безопасно подниматься по этой шкале. Без него подъём с A1 на A2 — слепая вера; A2 на A3 — почти невозможен. Поэтому раздел про двойник идёт первым, и keystone-слайд — следующий.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погружением в шкалу автономии — карта маршрута. Лекция устроена так, чтобы каждый последующий раздел опирался на предыдущий. Первый раздел разбирает определение цифрового двойника по Kritzinger taxonomy и ГОСТ Р 57700.37-2021. Без этого определения дальше нельзя — большинство вендорских презентаций называют двойником то, что является лишь моделью или тенью. Второй, третий, четвёртый и четыре с половиной разделы поднимаются по ступеням шкалы автономии — A0, A1, A2, A3 — с production-кейсами и границами применимости каждой ступени.</a:t>
            </a:r>
          </a:p>
          <a:p/>
          <a:p>
            <a:r>
              <a:t>Пятый раздел — densest failure bucket лекции, 15 минут — десять структурных критериев, при которых AI не подходит, и проработанный пример с фармпроизводством и FDA. Это центральный payoff лекции для LO7 и LO8. Шестой раздел — операционная архитектура 2026: семь слоёв, протоколы OPC UA, MQTT, TSN, edge AI inference менее 10 миллисекунд, Lighthouse Network. Седьмой раздел — российский контекст с ГОСТ, КАМАЗ, Росатом, Норникель, плюс четыре карьерные роли. Восьмой — закрытие и мост к Лекции 13.</a:t>
            </a:r>
          </a:p>
          <a:p/>
          <a:p>
            <a:r>
              <a:t>Применимый инструмент для кармана — десять критериев «AI не нужен» из шестого раздела. Запишите их и используйте на первом же совещании с вендором.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слоя цифрового двойника — это операционное определение, а не презентационная картинка. Слой первый — физический актив: реактор, конвейер, линия, насос. Слой второй — датчики и протоколы передачи: OPC UA для семантики данных, MQTT для транспорта, sampling rate не менее десятикратного частоты управления (по теореме Найквиста). Слой третий — модель оборудования: физическая (Навье-Стокса для потоков, теплоперенос для теплообменников, кинетика для реакторов) плюс ML-надстройка для коррекции дрейфа. Слой четвёртый — AI-потребители: vision QC, оптимизатор, RL-агент, operator UI.</a:t>
            </a:r>
          </a:p>
          <a:p/>
          <a:p>
            <a:r>
              <a:t>Между слоями — двусторонние стрелки. Это и есть Kritzinger Digital Twin: данные текут вверх, управляющее действие — вниз через симуляцию.</a:t>
            </a:r>
          </a:p>
          <a:p/>
          <a:p>
            <a:r>
              <a:t>Без любого слоя это не twin. Без датчиков — модель. Без модели — поток без понимания. Без AI-потребителей — данные без действия. Когда вендор предлагает «twin», нарисуйте на салфетке эти четыре слоя и спросите, какой из них реализован у вас в проекте. Если хотя бы один отсутствует — проект придётся достраивать ещё на 12-18 месяцев, и Southeast Asian Port — каноническая иллюстрация что бывает без полного стека.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вопросов, которые задайте ПЕРЕД любым twin-проектом или AI-пилотом. Первый: есть ли доступ к историческим данным минимум за один год? Без года истории ML не отличает сезонные сдвиги от долгосрочных трендов, прогностическое обслуживание будет учиться на шуме. Второй: частота сэмплирования не менее чем в десять раз выше управляющей полосы? По теореме Найквиста — если контур работает с шагом 1 минута, данные нужны с интервалом 6 секунд. Если только часовые срезы — управляющий контур не построить.</a:t>
            </a:r>
          </a:p>
          <a:p/>
          <a:p>
            <a:r>
              <a:t>Третий: документировано ли происхождение разметки? Кто, когда, по какому критерию ставил метки «дефект», «норма», «отказ». Без provenance вы учите модель на чужих субъективных суждениях. Когда модель промахивается — никто не знает, где правда. Четвёртый: калиброван ли дрейф датчиков и логируется ли он? Датчики уходят со временем: температурный сенсор за полгода может дать сдвиг 0,5°C, оптический — потерять чувствительность из-за загрязнения. Без калибровочного журнала модель учится на дрейфующих данных и быстро деградирует. Пятый: назначен ли governance owner данных? Конкретный человек, отвечающий за схему, доступ, retention, конфиденциальность. Без owner данные стареют, схема разваливается, ML-команда не имеет контракта.</a:t>
            </a:r>
          </a:p>
          <a:p/>
          <a:p>
            <a:r>
              <a:t>Если хотя бы один ответ «нет» — пилот = деньги на ветер. Это урок Southeast Asian 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Deloitte 2026 — средняя картина по индустрии для прогностического обслуживания. ROI 10 к 1 за 2 года. Снижение затрат на обслуживание 25–40%. Снижение незапланированных простоев 30–50%. Продление срока службы оборудования 20–40%. Сокращение аварий на 40%. Это четыре независимых эффекта, и они складываются.</a:t>
            </a:r>
          </a:p>
          <a:p/>
          <a:p>
            <a:r>
              <a:t>Программа PdM на типичном дискретном или процессном заводе требует инвестиций от 200 тысяч до 600 тысяч долларов. Это сенсоры, edge gateway, ML-конвейер, интеграция в MES, обучение операторов. Ежегодная экономия — от 1,2 до 3,5 миллионов долларов. Окупаемость — 18 до 36 месяцев. Это oxmaint 2026, по агрегатам сотен реальных пилотов.</a:t>
            </a:r>
          </a:p>
          <a:p/>
          <a:p>
            <a:r>
              <a:t>Два якорных кейса. Cement plant: 57× ROI за 6 месяцев на software-only monitoring — только мониторинг состояния роторного оборудования через вибрационные сенсоры, без замены железа. Chemical plant: 2 миллиона долларов годовой экономии. Это не редкие выбросы, это типичные кейсы для зрелого PdM в крупном промышленном предприятии.</a:t>
            </a:r>
          </a:p>
          <a:p/>
          <a:p>
            <a:r>
              <a:t>Но эти цифры работают только если данные есть. Без года истории, без калиброванных датчиков, без governance owner — PdM не запустится. Возвращаемся к аудиту слоя данных из предыдущего раздела.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конкретные ситуации, в которых vision и прогностическое обслуживание не работают, и какие альтернативы доказали себя десятилетиями.</a:t>
            </a:r>
          </a:p>
          <a:p/>
          <a:p>
            <a:r>
              <a:t>Первая — жёсткие допуски порядка одной тысячной миллиметра. Vision-камеры разрешают от одной сотой до одной десятой миллиметра в зависимости от оптики и расстояния. Микрометровых отклонений они физически не видят. Альтернатива: метрология. Лазерные сканеры, координатно-измерительные машины, плюс GD&amp;T (Geometric Dimensioning and Tolerancing) для формализации требований, плюс SPC (Statistical Process Control) для контроля процесса. Это не «старый подход», это правильный инструмент для физической задачи такого разрешения. Анкер: AI не дотягивает физическое разрешение.</a:t>
            </a:r>
          </a:p>
          <a:p/>
          <a:p>
            <a:r>
              <a:t>Вторая — редкие отказы со средней наработкой на отказ более одного года. Если статистическая выборка отказов меньше 30, ML без статистики не учится. Он начнёт галлюцинировать паттерны в шуме, выдавать false positives и быстро потеряет доверие операторов. Альтернатива: физическая симуляция (FEA для деформаций, тепловые модели для термических напряжений, кинетические модели износа) плюс методология RCM — Reliability-Centered Maintenance. Это работа Nowlan и Heap, разработанная для авиации в 1978 году. Регламент назначается по физике износа, а не по календарю. Анкер: методология RCM работает там, где ML не имеет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 — это AI как советчик оператору. Зрелые применения 2026 — MES в советующем режиме и предсказание тревог. Оба работают на исторических данных, оба требуют явного согласия оператора, оба не замыкают петлю.</a:t>
            </a:r>
          </a:p>
          <a:p/>
          <a:p>
            <a:r>
              <a:t>MES советующий режим. Система предлагает оператору последовательность операций для выполнения заказа: «сначала линия А, потом переналадка 15 минут, потом линия Б». Оптимизирует под energy-aware scheduling, под продолжительность переналадок, под доступность операторов. Оператор смотрит и подтверждает либо корректирует. Siemens Opcenter, Rockwell FactoryTalk, SAP MII — все три ведущих MES-стека добавили advisory-функции к 2025–2026 году.</a:t>
            </a:r>
          </a:p>
          <a:p/>
          <a:p>
            <a:r>
              <a:t>Предсказание тревог. ML на исторических SCADA-логах предсказывает каскад тревог за 5–15 минут до того, как первая тревога раздалась физически. Принцип простой: каскады обычно имеют предвестники — мелкие отклонения параметров за 10–15 минут до основного события. ML распознаёт эти предвестники и поднимает раннее уведомление. Оператор успевает вмешаться, предотвратить каскад, избежать остановки линии.</a:t>
            </a:r>
          </a:p>
          <a:p/>
          <a:p>
            <a:r>
              <a:t>Якорь A1: AI предлагает действие, человек даёт явное согласие. Это безопасный паттерн. Граница с A2 наступает, когда AI начинает менять параметры процесса в петле без явного согласия на каждое изменение.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Архитектура engineer-in-loop — это пайплайн из пяти стадий, который превращает AI-помощник в безопасный инструмент A1. Стадия первая — AI предлагает рекомендацию: PLC-блок, MES-расписание, изменение параметра. Стадия вторая — инженер ревьюит и корректирует: смотрит на адреса памяти, проверяет логику, исправляет неточности. Стадия третья — симулятор валидирует на twin: прогоняет рекомендацию через симуляцию оборудования, проверяет edge cases, замеряет потенциальные нежелательные эффекты. Стадия четвёртая — safety check: проверка по IEC 61131-3, по тест-кейсам безопасности, по правилам конкретной индустрии. Стадия пятая — deployment, только если все предыдущие стадии прошли успешно.</a:t>
            </a:r>
          </a:p>
          <a:p/>
          <a:p>
            <a:r>
              <a:t>Три критерия применимости AI на PLC. Без них не применяй. Первое: есть симулятор или twin для валидации до deployment. Без симулятора это слепая вера. Второе: есть safety-протоколы перед deployment — для критичных по безопасности контуров это IEC 61508 SIL 2/3, для остальных — внутренние safety-процедуры завода. Третье: есть инженер с правом veto на каждое предложение AI. Без права veto AI деградирует в автоматическую систему без человеческого контроля.</a:t>
            </a:r>
          </a:p>
          <a:p/>
          <a:p>
            <a:r>
              <a:t>Это операционный паттерн A1. Не A0, потому что AI меняет процесс, не только наблюдает. Не A2, потому что согласие человека требуется на каждое изменение.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Конкретный пример sim-to-real gap. Yokogawa-style колонна. В симуляции RL-агент научился держать setpoint T=300°C — это правильная температура верхней секции для нужной чистоты разделения. В реальности через 60 дней температура расходится до 315°C — excursion на 10% от штатного режима.</a:t>
            </a:r>
          </a:p>
          <a:p/>
          <a:p>
            <a:r>
              <a:t>Что RL не видел. Первое — surface fouling, отложения на стенках колонны со временем. Симулятор не моделировал это, потому что данных по динамике отложений на конкретной марке материала не было. Второе — тепловые потери в окружающую среду. Они зависят от изоляции колонны и сезона. В летние месяцы 32°C наружного воздуха, в зимние −10°C. Разница в тепловых потерях — десятки киловатт на единицу высоты колонны. Симулятор был калиброван при +20°C среднегодового и не учитывал сезонную дельту. Третье — дрейф сенсоров. Температурные датчики без калибровки уходят на 0,3–0,5°C за квартал. Если RL обучался на «свежих» данных и не видел старения сенсоров — он не научится компенсировать.</a:t>
            </a:r>
          </a:p>
          <a:p/>
          <a:p>
            <a:r>
              <a:t>Результат — excursion 10% от штатного режима за 60 дней. Урок: симуляция дешевле и быстрее, но missing real-life информация. Поэтому A2-deployment требует shadow mode на первые недели и отката, когда distribution shift зафиксирован. Если RL excursion больше заданного порога — переключаемся на hardwired PLC.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конкретные ситуации, в которых RL не подходит, и какие альтернативы доказательно лучше.</a:t>
            </a:r>
          </a:p>
          <a:p/>
          <a:p>
            <a:r>
              <a:t>Первая — критичные по безопасности контуры. E-stop, interlock, emergency shutdown, аварийная остановка реактора. Почему RL не сертифицируется. Первое: нет audit trail в форме, которую принимает регулятор; RL-policy — это набор весов нейронной сети, не последовательность логических утверждений, которую можно проверить вручную. Второе: недетерминированный output несовместим с IEC 61508 SIL 2/3. Стандарт требует доказуемой вероятности отказа. Для SIL 2 это 10⁻⁶..10⁻⁷ отказов в час, для SIL 3 это 10⁻⁷..10⁻⁸. RL такие гарантии не даёт по definition. Третье: RL не покрывает edge cases — нейросеть учится на распределении тренировочных данных; новые ситуации обрабатываются непредсказуемо. Альтернатива: hardwired PLC плюс формальная верификация (TLA+, SPIN, Coq, SCADE) плюс IEC 61508 SIL 2/3.</a:t>
            </a:r>
          </a:p>
          <a:p/>
          <a:p>
            <a:r>
              <a:t>Вторая — процесс с известной физикой. Если уравнения известны (Навье-Стокса для потоков, теплоперенос, химическая кинетика), MPC — Model Predictive Control, модельное предиктивное управление — даёт доказуемые гарантии устойчивости через теорию Ляпунова. Явная оптимизация на горизонте, учёт hard constraints, сертифицируется в фарма и нефтехим. RL даёт гибкость, MPC даёт гарантии. Для known physics — выбирайте MPC.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 в 2026 году — единичные кейсы. Toyota Digit от Agility Robotics на сборочной линии RAV4: 7+ единиц гуманоидов выполняют внутрицеховую логистику между станциями. Действуют без человека в loop в безопасной зоне между станциями. BMW Plant Leipzig — первый европейский пилот гуманоида в производстве, 2026. Это весь масштаб A3 в мире на сегодня. Никто не запустил RL автономно на химической колонне без шансов на интервенцию оператора. Никто не доверил AI самостоятельно управлять сборочной линией двигателя.</a:t>
            </a:r>
          </a:p>
          <a:p/>
          <a:p>
            <a:r>
              <a:t>Три блокера массового A3. Первый — регуляторика. Для safety-critical действий требуется сертификация: IEC 61508 SIL 2/3, ATEX Zone 0. RL и humanoids не сертифицируются. Это не «временный пробел», это структурный конфликт между требованиями стандартов и природой ML-систем. Второй — стоимость. Humanoid Agility Robotics — несколько сотен тысяч долларов за единицу. Окупается только в нишах с высокой стоимостью труда плюс предсказуемой задачей. Контейнерная логистика между станциями подходит, сборка двигателя — нет. Третий — сложность. A3 требует full-stack: twin + edge AI + safety envelope + fleet management + регуляторное согласие. Большинство заводов не имеют ни одного компонента production-grade. Это годы инвестиций.</a:t>
            </a:r>
          </a:p>
          <a:p/>
          <a:p>
            <a:r>
              <a:t>Pattern 2026: A3-кейсы — логистические (Digit перевозит ящик), не управляющие (никто не доверил RL химическую реакцию). Это именно тот разрыв, который шкала визуализирует.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пять начинается с конкретного кейса. Southeast Asian Port — наш intro hero для раздела «где AI не нужен». Tesla 2018 разобран в лекции 11 §2.4 как канонический case over-automation; здесь — fresh failure 2024, прямо связан с keystone-двойником.</a:t>
            </a:r>
          </a:p>
          <a:p/>
          <a:p>
            <a:r>
              <a:t>Цифры. $12 миллионов потрачено на digital twin порта. 18 месяцев пилот. 2024 — проект списан, до промышленной эксплуатации не дошёл. Direct relevance к keystone лекции: 3D-визуализация без потока данных — это не twin, это музей. То же, что собственный shadow без двусторонней петли.</a:t>
            </a:r>
          </a:p>
          <a:p/>
          <a:p>
            <a:r>
              <a:t>Урок — data-layer audit обязателен перед запуском любого AI-проекта или twin-проекта. Пять вопросов из раздела 1 (доступ к историческим данным, sampling rate, происхождение разметки, дрейф сенсоров, governance owner) — это первая проверка применимости AI. Десять структурных критериев из следующего слайда — это вторая проверка: даже если данные есть, у какой задачи AI не подходит вовсе.</a:t>
            </a:r>
          </a:p>
          <a:p/>
          <a:p>
            <a:r>
              <a:t>Studio engineer в первый год работы увидит pitch «двойник для нашего завода» от вендора. Помните Southeast Asian Port. Спросите про data-layer audit. Спросите про clear use case. Спросите про двустороннюю петлю. Если ответы невнятные — деньги на ветер.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Десять структурных критериев — payoff лекции для LO7 и LO8. Каждый критерий — это структурное ограничение, не «иногда AI не работает». Каждая альтернатива — это инструмент, который доказывает себя десятилетиями.</a:t>
            </a:r>
          </a:p>
          <a:p/>
          <a:p>
            <a:r>
              <a:t>Один. Критичный по безопасности контур (E-stop, interlock, emergency shutdown). Альтернатива: hardwired PLC плюс IEC 61508 SIL 2/3 плюс формальная верификация. RL не сертифицируется.</a:t>
            </a:r>
          </a:p>
          <a:p/>
          <a:p>
            <a:r>
              <a:t>Два. Процесс с известной физикой (T-controller печи, расход реагентов). Альтернатива: MPC. Доказуемые гарантии устойчивости.</a:t>
            </a:r>
          </a:p>
          <a:p/>
          <a:p>
            <a:r>
              <a:t>Три. Редкое событие с MTBF больше года, выборка отказов меньше 30. Альтернатива: physics-based simulation плюс RCM — методология Nowlan-Heap 1978.</a:t>
            </a:r>
          </a:p>
          <a:p/>
          <a:p>
            <a:r>
              <a:t>Четыре. Defect detection нестабильного процесса. Каскад FP больше savings. Альтернатива: process redesign перед vision AI.</a:t>
            </a:r>
          </a:p>
          <a:p/>
          <a:p>
            <a:r>
              <a:t>Пять. Tight tolerances ±0,001 мм. Альтернатива: metrology + GD&amp;T + SPC.</a:t>
            </a:r>
          </a:p>
          <a:p/>
          <a:p>
            <a:r>
              <a:t>Шесть. Generic PLC code generation. Альтернатива: purpose-built tool с engineer-in-loop или инженер + симулятор + IEC 61131-3.</a:t>
            </a:r>
          </a:p>
          <a:p/>
          <a:p>
            <a:r>
              <a:t>Семь. Регулируемая среда без объяснимости (FDA 21 CFR Part 11, GAMP 5). Альтернатива: explainable AI (SHAP / LIME) + правила + audit trail. Чёрный ящик ML не принимается.</a:t>
            </a:r>
          </a:p>
          <a:p/>
          <a:p>
            <a:r>
              <a:t>Восемь. ATEX Zone 0 — взрывоопасная среда. Альтернатива: ATEX-сертифицированные датчики + удалённая обработка. Физический регуляторный запрет.</a:t>
            </a:r>
          </a:p>
          <a:p/>
          <a:p>
            <a:r>
              <a:t>Девять. Стоимость AI больше стоимости ошибки человека. Альтернатива: не внедрять; обучение оператора.</a:t>
            </a:r>
          </a:p>
          <a:p/>
          <a:p>
            <a:r>
              <a:t>Десять. Отсутствие clear use case (data-layer audit fails). Альтернатива: аудит слоя данных + remediation ДО любого пилота.</a:t>
            </a:r>
          </a:p>
          <a:p/>
          <a:p>
            <a:r>
              <a:t>Бонус: Gartner — к 2027 году 40% агентных AI-проектов отменены. Задайте вендору пять вопросов из s31.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чисел, которые рисуют статистический фон, на котором вы будете работать после выпуска.</a:t>
            </a:r>
          </a:p>
          <a:p/>
          <a:p>
            <a:r>
              <a:t>Сорок процентов. Gartner прогнозирует, что 40% агентных AI-проектов будут отменены к 2027 году. Это включает industrial agentic AI, customer support agents, planning systems. Тридцать процентов. GenAI PoC прекращены после пилота к 2025 году. Это уже свершившийся факт. Семьдесят пять процентов. Twin проектов не дают ROI из-за слабых данных. Уже разобрали в s09. Одиннадцать процентов. O&amp;G двойники дают ожидаемый эффект. Восемьдесят девять процентов разочаровались. Четырнадцать процентов. Пользователи: технология соответствует ожиданиям. Восемьдесят шесть процентов — нет.</a:t>
            </a:r>
          </a:p>
          <a:p/>
          <a:p>
            <a:r>
              <a:t>Что это значит. Не «AI не работает». Это значит, что распространение опережает инфраструктурную готовность. Вендоры продают раньше, чем у заказчика есть data layer, governance, инженерные процессы. Хайп-кривая Gartner предсказывает, что после 2026–2027 годов начнётся отрезвление: те, у кого инфраструктура построена, продолжают; остальные отменяют пилоты.</a:t>
            </a:r>
          </a:p>
          <a:p/>
          <a:p>
            <a:r>
              <a:t>Что делать инженеру 3 курса. Не верить single source. Сравнивать заявления вендоров с этими цифрами. Задавать пять вопросов вендору с следующего слайда. И помнить — десять критериев применимости AI из s28 фильтруют 90% pitch-ов. Это самозащита инженера от хайпа индустрии.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вопросов вендору. Задайте их на первом совещании, ДО подписания контракта.</a:t>
            </a:r>
          </a:p>
          <a:p/>
          <a:p>
            <a:r>
              <a:t>Первый. Покажите 3 documented failures за последние 24 месяца в той же индустрии. Без failure-кейсов вендор продаёт хайп. Каждая зрелая AI-компания знает, где её технология не работает; если вендор отвечает «у нас не было неудач» — это означает либо что вендор молодой и не накопил опыта, либо что он не признаёт свои провалы. Оба варианта — плохой признак.</a:t>
            </a:r>
          </a:p>
          <a:p/>
          <a:p>
            <a:r>
              <a:t>Второй. Что именно делает ваша система на A0 / A1 / A2 — где она в шкале автономии? Если вендор путается в ответе, он не понимает архитектурный класс собственного продукта. Это означает, что архитектура развалится при первом edge case.</a:t>
            </a:r>
          </a:p>
          <a:p/>
          <a:p>
            <a:r>
              <a:t>Третий. Какой data-layer audit вы провели перед пилотом? Без аудита Southeast Asian Port lesson повторится. Аудит — это пять вопросов из s10: история данных, sampling rate, provenance, drift, governance owner.</a:t>
            </a:r>
          </a:p>
          <a:p/>
          <a:p>
            <a:r>
              <a:t>Четвёртый. Какова ваша альтернатива, если pilot fails — refund, pivot, continued integration? Контракт без exit-стратегии — это вы платите за провал.</a:t>
            </a:r>
          </a:p>
          <a:p/>
          <a:p>
            <a:r>
              <a:t>Пятый. Можете показать customer reference в нашем sub-сегменте (process / discrete / regulated)? General references — недостаточно. Industrial AI имеет узкую специфику; reference из другой индустрии не предсказывает успех в вашей.</a:t>
            </a:r>
          </a:p>
          <a:p/>
          <a:p>
            <a:r>
              <a:t>Этот шаблон — carry-forward от lec-11 §5.2.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Производственная AI-архитектура 2026 — семислойный стек. Слой первый: датчики на оборудовании. IIoT через OPC UA + MQTT, sampling rate не менее десятикратного управляющей полосы. Слой второй: сеть. TSN — Time-Sensitive Networking, IEEE 802.1, гарантированная детерминированная задержка Ethernet. Без TSN edge AI с задержкой менее 10 мс невозможен. Слой третий: edge AI. GPU micro-серверы на cabinets, NVIDIA Jetson, Dell edge, Schneider Modicon edge. Инференс менее 10 мс. Слой четвёртый: MES/SCADA. AI как advisory переходит в closed loop. Диспетчерское управление. Слой пятый: цифровой двойник. Siemens Xcelerator + NVIDIA Omniverse + AVEVA + PTC ThingWorx — основные платформы 2026 года. Слой шестой: облако. Обучение моделей, fleet analytics, long-term storage. Слой седьмой: человек в цикле. Safety-critical контуры всегда gated через HITL.</a:t>
            </a:r>
          </a:p>
          <a:p/>
          <a:p>
            <a:r>
              <a:t>Все семь слоёв должны быть production-grade. Vendors интегрируются без PLC reprogramming: Siemens S7, Allen-Bradley, Rockwell, Schneider — все поддерживают OPC UA как минимум.</a:t>
            </a:r>
          </a:p>
          <a:p/>
          <a:p>
            <a:r>
              <a:t>Distribution через Lighthouse Network. 220+ заводов в 35 странах. 23 новых сайта в 2026 году. 90% новых внедрений включают AI. Перевес Lighthouse-сайтов +16% по EBIT vs peers. WEF + McKinsey, январь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протокола покрывают разные задачи. Вместе они обеспечивают edge AI inference менее 10 миллисекунд.</a:t>
            </a:r>
          </a:p>
          <a:p/>
          <a:p>
            <a:r>
              <a:t>OPC UA — Open Platform Communications Unified Architecture. IEC 62541. Стандарт семантики данных. Кодирует не только число «температура 273», но и метаинформацию: «это температура реактора R-101, единица измерения Кельвины, источник датчик TT-203, последнее обновление 14:32:17». Машиночитаемая информационная модель.</a:t>
            </a:r>
          </a:p>
          <a:p/>
          <a:p>
            <a:r>
              <a:t>MQTT — Message Queue Telemetry Transport. ISO/IEC 20922. Транспортный протокол pub/sub broker для тысяч устройств. Lightweight, реалистичен для IIoT с ограниченным каналом. MQTT не знает семантику — он передаёт пакеты. OPC UA нужен поверх MQTT, чтобы пакеты были понятны.</a:t>
            </a:r>
          </a:p>
          <a:p/>
          <a:p>
            <a:r>
              <a:t>TSN — Time-Sensitive Networking. IEEE 802.1Qbv + 802.1Qbu. Расширение стандартного Ethernet, добавляющее гарантированную задержку доставки пакетов. В обычном Ethernet задержка случайна — пакет может прийти через 1 мс, через 50 мс, через 500 мс. В TSN задержка гарантирована: для определённого класса пакетов 100 мкс, для другого 1 мс. Без TSN edge AI с задержкой &lt;10 мс невозможен — даже если AI инференс занимает 5 мс, неопределённая сетевая задержка добавит 50 мс и всё разваливается.</a:t>
            </a:r>
          </a:p>
          <a:p/>
          <a:p>
            <a:r>
              <a:t>Без всех трёх протоколов A2 невозможен. OPC UA-only хватает на A0–A1 (мониторинг, advisory), но не для замыкания петли.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Lighthouse Network — программа World Economic Forum плюс McKinsey, отбирающая заводы-образцы с full AI-трансформацией. Идея: на каждом заводе показать, как именно работает связка двойник + AI + edge + MES, какие KPI улучшаются, какая инфраструктура нужна.</a:t>
            </a:r>
          </a:p>
          <a:p/>
          <a:p>
            <a:r>
              <a:t>Цифры на январь 2026. 220+ заводов в программе по всему миру. 35 стран. 23 новых Lighthouse-сайта приняты в 2026 году. 90% новых внедрений включают AI как минимум на одном из семи слоёв архитектуры. Перевес Lighthouse-сайтов по операционной прибыли EBIT — плюс 16% по сравнению с peers без AI-трансформации. Это не маркетинг — это аккуратная агрегированная статистика, которую публикуют WEF и McKinsey каждый январь.</a:t>
            </a:r>
          </a:p>
          <a:p/>
          <a:p>
            <a:r>
              <a:t>Что Lighthouse — это не. Это не «галочка о цифровой трансформации». Сайт попадает в Lighthouse, только если у него есть production-grade twin, измеряемые KPI улучшения, и репликация архитектуры на дочерние заводы. Это высокая планка.</a:t>
            </a:r>
          </a:p>
          <a:p/>
          <a:p>
            <a:r>
              <a:t>Что это значит для инженера. Эталонные архитектуры есть, известны, задокументированы. WEF публикует case-studies каждого Lighthouse-сайта с архитектурными диаграммами. Это бесплатный учебник по тому, как выглядит работающий twin + AI на конкретном заводе. Используйте его как референс при работе с вашим вендором — спрашивайте, как ваш проект соотносится с конкретным Lighthouse-сайтом.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России цифровые двойники и AI в производстве оформлены формально и применены на крупных заводах. Регуляторная база — ГОСТ Р 57700.37-2021 «Цифровые двойники изделий. Общие положения». Carry-forward от лекции 11 §5.3. Этот ГОСТ синхронизирует terminology с международной Kritzinger taxonomy и устанавливает требования к двойнику для российского производственного контекста.</a:t>
            </a:r>
          </a:p>
          <a:p/>
          <a:p>
            <a:r>
              <a:t>Три якорных кейса. КАМАЗ — пионер цифровых двойников России: конвейер плюс R&amp;D, e-vehicle КАМА-1, развёрнут с 2020 года. Росатом — стратегия технологического суверенитета: T-FLEX PLM как российская альтернатива западным CAD/PLM системам, АтомМайнд с 2024 года для атомной отрасли. Норникель — process-control AI на flotation (флотация — обогащение руд медно-никелевой группы). Это российский кейс класса A2: AI оптимизирует параметры процесса. Carry-forward от lec-11 §3.5.</a:t>
            </a:r>
          </a:p>
          <a:p/>
          <a:p>
            <a:r>
              <a:t>187-ФЗ — закон о безопасности критической информационной инфраструктуры. Устанавливает требования к защите промышленных систем категории «значимые объекты КИИ». Инженер AI на КИИ-объекте отвечает за сертифицированную обработку данных, audit trail для регулятора, отсутствие неконтролируемого исходящего трафика моделей.</a:t>
            </a:r>
          </a:p>
          <a:p/>
          <a:p>
            <a:r>
              <a:t>ЦИПР 2026 и ИИПРОМ 2026 — крупнейшие форумы по промышленной цифровизации в РФ. Эффект цифровых двойников в РФ — снижение downtime 10–30%, сокращение срока ввода новой линии. Источники РБК Тренды, Ведомости, TAdviser 2025-2026.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Карьерный мост — четыре роли инженера в индустрии AI-автоматизации производства.</a:t>
            </a:r>
          </a:p>
          <a:p/>
          <a:p>
            <a:r>
              <a:t>Первая роль — AI/ML engineer industrial. Что делает день за днём: дизайнит и тренирует модели (vision QC, прогностическое обслуживание, alarm prediction) на исторических данных завода. Интегрирует модели в edge runtime. Мониторит drift. Общается с цеховыми инженерами. Ключевые навыки: Python + PyTorch/TensorFlow, MLOps, OPC UA basics, статистика, временные ряды, знание физики процесса. Учиться: профильные технические магистратуры по AI в промышленности.</a:t>
            </a:r>
          </a:p>
          <a:p/>
          <a:p>
            <a:r>
              <a:t>Вторая — digital twin engineer. Что делает: строит и поддерживает twin для конкретной линии или цеха. Подключает датчики через OPC UA, строит модель оборудования (физика + ML), валидирует точность, разворачивает на edge. Ключевые навыки: Siemens Composer / NVIDIA Omniverse / PTC ThingWorx, CAD, численное моделирование, OPC UA, data pipelines. Учиться: магистратуры по цифровому моделированию плюс Coursera/edX курсы.</a:t>
            </a:r>
          </a:p>
          <a:p/>
          <a:p>
            <a:r>
              <a:t>Третья — MES integration specialist. Что делает: внедряет advisory-AI в существующий MES (Opcenter, FactoryTalk, SAP MII). Конфигурирует workflow «AI рекомендация → оператор апрув → исполнение». Ключевые навыки: SQL, REST/OPC UA, конкретный MES-стек вендора, бизнес-процессы цеха. Учиться: vendor-сертификации Siemens / Rockwell / SAP.</a:t>
            </a:r>
          </a:p>
          <a:p/>
          <a:p>
            <a:r>
              <a:t>Четвёртая — edge AI engineer. Что делает: деплоит inference на edge-устройства (NVIDIA Jetson, Modicon edge), оптимизирует latency и throughput, разрабатывает fail-safe handover. Ключевые навыки: C++/Rust, embedded Linux, ONNX/TensorRT, real-time scheduling, безопасность сети для КИИ-объектов. Учиться: embedded плюс ML — стык. Сертификации NVIDIA Jetson плюс cybersecurity для КИИ.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3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1-hannover-mes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5943600" cy="5486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9893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Hannover Messe 2016 · робот-манипулятор · Wikimedia · CC-BY-SA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0" y="548640"/>
            <a:ext cx="521208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C7293"/>
                </a:solidFill>
                <a:latin typeface="Arial"/>
              </a:rPr>
              <a:t>Лекция 12</a:t>
            </a:r>
          </a:p>
          <a:p>
            <a:pPr algn="l">
              <a:lnSpc>
                <a:spcPct val="11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21295C"/>
                </a:solidFill>
                <a:latin typeface="Arial"/>
              </a:rPr>
              <a:t>AI поднимается</a:t>
            </a:r>
          </a:p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21295C"/>
                </a:solidFill>
                <a:latin typeface="Arial"/>
              </a:rPr>
              <a:t>по шкале автономии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3291840"/>
            <a:ext cx="5212080" cy="164592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3383280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A0 → A1 → A2 → A3</a:t>
            </a:r>
          </a:p>
          <a:p>
            <a:pPr algn="l">
              <a:lnSpc>
                <a:spcPct val="11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наблюдать  →  советовать  →  замыкать петлю  →  автономно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5120640"/>
            <a:ext cx="5212080" cy="9144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521208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Цифровой двойник — единственный известный мост между ступенями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Курс «Применение AI в инженерии» · 75 минут +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1. DT-2026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1866518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66518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2. A0 Наблюдать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3275838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75838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3. A1 Советовать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5157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5157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4. A2 Замыкать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4476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4476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5. A3 Автоном.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03795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3795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6. Где НЕ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3114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3114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7. OT/IT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22433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22433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8. РФ + Закр.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1280160"/>
            <a:ext cx="411480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0" b="1" i="0">
                <a:solidFill>
                  <a:srgbClr val="D9E2EC"/>
                </a:solidFill>
                <a:latin typeface="Arial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1188720"/>
            <a:ext cx="75895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Лекция 12</a:t>
            </a:r>
          </a:p>
          <a:p>
            <a:pPr algn="l">
              <a:lnSpc>
                <a:spcPct val="10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AI в автоматизации</a:t>
            </a:r>
          </a:p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производства и цифровые</a:t>
            </a:r>
          </a:p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двойники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02336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C7293"/>
                </a:solidFill>
                <a:latin typeface="Arial"/>
              </a:rPr>
              <a:t>Модуль 2 · 75 минут + Q&amp;A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C7293"/>
                </a:solidFill>
                <a:latin typeface="Arial"/>
              </a:rPr>
              <a:t>Студенты-инженеры 3 курса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5029200"/>
            <a:ext cx="7589520" cy="13716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5120640"/>
            <a:ext cx="7223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Центральный вопрос: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На какой ступени автономии можно поднять процесс — A0/A1/A2/A3 —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 где двойник обязателен, а где AI не нужен вовсе?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Курс «Применение AI в инженерии»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Маршрут лекции — восемь разделов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От определения двойника к ступеням автономии A0–A3, к границам и российскому контексту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335024" cy="4663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1737360"/>
            <a:ext cx="731520" cy="7315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33502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243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Двойник
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49039"/>
            <a:ext cx="1243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10м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51960"/>
            <a:ext cx="1152144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4A556B"/>
                </a:solidFill>
                <a:latin typeface="Arial"/>
              </a:rPr>
              <a:t>Kritzinger + ГОСТ + рынок + 75% fail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20240" y="1554480"/>
            <a:ext cx="1335024" cy="4663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21992" y="1737360"/>
            <a:ext cx="731520" cy="7315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1737360"/>
            <a:ext cx="133502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51760"/>
            <a:ext cx="1243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749039"/>
            <a:ext cx="1243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10м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251960"/>
            <a:ext cx="1152144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4A556B"/>
                </a:solidFill>
                <a:latin typeface="Arial"/>
              </a:rPr>
              <a:t>Vision QC + PdM + границы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1554480"/>
            <a:ext cx="1335024" cy="4663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93592" y="1737360"/>
            <a:ext cx="731520" cy="7315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1737360"/>
            <a:ext cx="133502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2651760"/>
            <a:ext cx="1243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749039"/>
            <a:ext cx="1243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10м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251960"/>
            <a:ext cx="1152144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4A556B"/>
                </a:solidFill>
                <a:latin typeface="Arial"/>
              </a:rPr>
              <a:t>MES + alarm + PLC Copilot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1554480"/>
            <a:ext cx="1335024" cy="4663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65192" y="1737360"/>
            <a:ext cx="731520" cy="7315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1737360"/>
            <a:ext cx="133502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59" y="2651760"/>
            <a:ext cx="1243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59" y="3749039"/>
            <a:ext cx="1243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10м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79" y="4251960"/>
            <a:ext cx="1152144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4A556B"/>
                </a:solidFill>
                <a:latin typeface="Arial"/>
              </a:rPr>
              <a:t>Yokogawa + twin как песочница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0" y="1554480"/>
            <a:ext cx="1335024" cy="4663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36792" y="1737360"/>
            <a:ext cx="731520" cy="7315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40" y="1737360"/>
            <a:ext cx="133502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59" y="2651760"/>
            <a:ext cx="1243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59" y="3749039"/>
            <a:ext cx="1243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2м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79" y="4251960"/>
            <a:ext cx="1152144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4A556B"/>
                </a:solidFill>
                <a:latin typeface="Arial"/>
              </a:rPr>
              <a:t>Toyota Digit + 3 блокера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06640" y="1554480"/>
            <a:ext cx="1335024" cy="4663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08392" y="1737360"/>
            <a:ext cx="731520" cy="7315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06640" y="1737360"/>
            <a:ext cx="133502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60" y="2651760"/>
            <a:ext cx="1243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НЕ 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3749039"/>
            <a:ext cx="1243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15м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4251960"/>
            <a:ext cx="1152144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4A556B"/>
                </a:solidFill>
                <a:latin typeface="Arial"/>
              </a:rPr>
              <a:t>10 критериев + фарма+FDA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78240" y="1554480"/>
            <a:ext cx="1335024" cy="4663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079992" y="1737360"/>
            <a:ext cx="731520" cy="7315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78240" y="1737360"/>
            <a:ext cx="133502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3960" y="2651760"/>
            <a:ext cx="1243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OT/IT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23960" y="3749039"/>
            <a:ext cx="1243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6м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4251960"/>
            <a:ext cx="1152144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4A556B"/>
                </a:solidFill>
                <a:latin typeface="Arial"/>
              </a:rPr>
              <a:t>7 слоёв + Lighthouse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49840" y="1554480"/>
            <a:ext cx="1335024" cy="4663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451592" y="1737360"/>
            <a:ext cx="731520" cy="7315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49840" y="1737360"/>
            <a:ext cx="133502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5560" y="2651760"/>
            <a:ext cx="1243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РФ
+ Закр.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5560" y="3749039"/>
            <a:ext cx="1243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7м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41280" y="4251960"/>
            <a:ext cx="1152144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4A556B"/>
                </a:solidFill>
                <a:latin typeface="Arial"/>
              </a:rPr>
              <a:t>ГОСТ + КАМАЗ + 4 роли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Применимый инструмент для кармана — десять критериев «AI не подходит» на 6-м разделе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Шкала автономии AI в производстве: A0 → A3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51560"/>
            <a:ext cx="11274552" cy="502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Не путать с архитектурными слоями ISA-95 L0–L2: там — слои архитектуры; здесь — степени автономии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83080"/>
            <a:ext cx="2697480" cy="40233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83080"/>
            <a:ext cx="2697480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A0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603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Наблюдать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Vision QC · прогностическое обслуживание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526280"/>
            <a:ext cx="23317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2148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AI выдаёт сигнал · решение принимает человек или другая система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783080"/>
            <a:ext cx="2697480" cy="40233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1783080"/>
            <a:ext cx="2697480" cy="6400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182880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A1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5603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Советовать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32004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MES советующий · предсказание тревог · PLC Copilot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29000" y="4526280"/>
            <a:ext cx="23317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617720"/>
            <a:ext cx="2148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AI предлагает действие · оператор даёт явное согласие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1783080"/>
            <a:ext cx="2697480" cy="40233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35040" y="1783080"/>
            <a:ext cx="2697480" cy="6400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182880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A2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5603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Замыкать петлю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2004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Yokogawa FKDPP в JSR · энергооптимизация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526280"/>
            <a:ext cx="23317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4617720"/>
            <a:ext cx="2148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AI меняет параметры в безопасной зоне без согласия на каждое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3960" y="1783080"/>
            <a:ext cx="2697480" cy="40233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23960" y="1783080"/>
            <a:ext cx="2697480" cy="64008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15400" y="182880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A3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25603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Автономно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2004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Toyota Digit · BMW Leipzig humanoid (единицы)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06840" y="4526280"/>
            <a:ext cx="23317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98280" y="4617720"/>
            <a:ext cx="2148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AI принимает решения без человека с защитные ограничения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897880"/>
            <a:ext cx="11274552" cy="5486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94360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Цифровой двойник — мост между A1 и A2 · A3 в 2026 — единицы кейсов, основная масса A0–A2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1381887" cy="2743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Arial"/>
              </a:rPr>
              <a:t>1. DT-2026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1866518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66518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2. A0 Наблюдать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3275838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75838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3. A1 Советовать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5157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5157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4. A2 Замыкать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4476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4476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5. A3 Автоном.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03795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3795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6. Где НЕ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3114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3114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7. OT/IT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22433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22433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8. РФ + Закр.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19456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Что такое цифровой двойник в 2026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65A82"/>
                </a:solidFill>
                <a:latin typeface="Arial"/>
              </a:rPr>
              <a:t>Kritzinger taxonomy · ГОСТ Р 57700.37 · рынок $36→$180B · провал 75%</a:t>
            </a:r>
          </a:p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Раздел 1 · 5 слайдов · 10 минут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Цифровой двойник — двусторонняя петля, а не CAD-картинка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Kritzinger 2018 taxonomy + ГОСТ Р 57700.37-2021 — два эталонных определения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3657600" cy="40233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00200"/>
            <a:ext cx="3657600" cy="7772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73352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Цифровая модель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Digital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329184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Поток данных: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Нет потока данных с физического объекта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Управляющее действие: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Нет управляющего действия назад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Где встречается:</a:t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Пример: CAD-чертёж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1600200"/>
            <a:ext cx="3657600" cy="40233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600200"/>
            <a:ext cx="3657600" cy="7772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25112" y="1673352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Цифровая тень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5112" y="20574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Digital Shadow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2514600"/>
            <a:ext cx="329184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Поток данных: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Поток physical → digital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Управляющее действие: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Нет управляющего действия назад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Где встречается:</a:t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Пример: dashboard мониторинга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600200"/>
            <a:ext cx="3657600" cy="40233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0144" y="1600200"/>
            <a:ext cx="3657600" cy="7772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1583" y="1673352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Цифровой двойник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1583" y="20574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Digital Twin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3" y="2514600"/>
            <a:ext cx="329184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Поток данных: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Двусторонняя петля physical ↔ digital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Управляющее действие: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Управляющее действие назад через симуляцию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Где встречается:</a:t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Пример: Siemens Digital Twin Composer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760720"/>
            <a:ext cx="11274552" cy="6858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ГОСТ Р 57700.37-2021 «Цифровые двойники изделий. Общие положения» — формальная регуляторная база РФ; синхронизирует Kritzinger taxonomy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Цифровой двойник требует четырёх слоёв одновременно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Без любого из слоёв — это НЕ двойник, а только цифровая модель или тень</a:t>
            </a:r>
          </a:p>
        </p:txBody>
      </p:sp>
      <p:pic>
        <p:nvPicPr>
          <p:cNvPr id="4" name="Picture 3" descr="s07-siemens-ambe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4572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Siemens HQ Munich · Wikimedia · CC-BY-SA · «The Wings»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1691640"/>
            <a:ext cx="64008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03520" y="1691640"/>
            <a:ext cx="457200" cy="10515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78308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4. AI-потребители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24028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4A556B"/>
                </a:solidFill>
                <a:latin typeface="Arial"/>
              </a:rPr>
              <a:t>Vision QC · оптимизатор · RL-агент · operator 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2834640"/>
            <a:ext cx="64008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0" y="2834640"/>
            <a:ext cx="457200" cy="105156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292608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3. Слой модели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38328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4A556B"/>
                </a:solidFill>
                <a:latin typeface="Arial"/>
              </a:rPr>
              <a:t>Физика + ML · симулятор оборудования · прокрутка времени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3977639"/>
            <a:ext cx="64008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520" y="3977639"/>
            <a:ext cx="457200" cy="10515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4069079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2. Слой датчиков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526279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4A556B"/>
                </a:solidFill>
                <a:latin typeface="Arial"/>
              </a:rPr>
              <a:t>OPC UA + MQTT · sampling rate ≥10× полоса управления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5120640"/>
            <a:ext cx="64008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03520" y="5120640"/>
            <a:ext cx="457200" cy="10515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5212079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1. Физический актив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669279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4A556B"/>
                </a:solidFill>
                <a:latin typeface="Arial"/>
              </a:rPr>
              <a:t>Реактор · конвейер · линия · насос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194560"/>
            <a:ext cx="274320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↑↓
↑↓
↑↓
↑↓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Без двусторонней петли (стрелки между слоями) — это не двойник, а только тень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Рынки растут на 35% в год — и одновременно 75% проектов проваливаются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Цифровые двойники $36→$180B · AI в производстве $155B · промышленный AI на OPC UA — уже $17B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7315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8-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6949440" cy="4297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55279" y="1554480"/>
            <a:ext cx="3749039" cy="45720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691640"/>
            <a:ext cx="338328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ПАРАЛЛЕЛЬНО: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F0AB00"/>
                </a:solidFill>
                <a:latin typeface="Arial"/>
              </a:rPr>
              <a:t>75%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проектов двойников не дают окупаемости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11%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 нефтегазе дают ожидаемый эффект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028090"/>
                </a:solidFill>
                <a:latin typeface="Arial"/>
              </a:rPr>
              <a:t>14%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пользователей: технология соответствует ожиданиям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6364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PatSnap / StartUs / Standard Bots / TheElec / EY / context-clue.com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Southeast Asian Port: $12 миллионов, 18 месяцев, списан 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Цифровой двойник морского порта — 3D-визуализация без слоя данных = музей, не twin</a:t>
            </a:r>
          </a:p>
        </p:txBody>
      </p:sp>
      <p:pic>
        <p:nvPicPr>
          <p:cNvPr id="4" name="Picture 3" descr="s09-container-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4008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Container port Singapore · Tanjong Pagar Terminal · Wikimedia · CC-BY-SA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1600200"/>
            <a:ext cx="466344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0880" y="1600200"/>
            <a:ext cx="4663440" cy="64008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663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ПРОВАЛ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2377440"/>
            <a:ext cx="429768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Цифры: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$12 миллионов — бюджет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18 месяцев — пилот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2024 — списан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Три корневые причины: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1. Фрагментированные данные из 5 источников без unified schema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2. Чрезмерный акцент на 3D-визуализации вместо потока данных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3. Не определён clear применение — что именно twin должен оптимизировать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Аудит слоя данных: 5 вопросов до пилота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Если хотя бы один ответ «нет» — пилот = деньги на ветер (урок Southeast Asian Port)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11274552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783080"/>
            <a:ext cx="594360" cy="5943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737360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Доступ к историческим данным ≥1 год?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14884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Без этого ML не отличает сезонные сдвиги от долгосрочных трендов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87752"/>
            <a:ext cx="11274552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724912"/>
            <a:ext cx="594360" cy="5943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24912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679192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Sampling rate ≥10× выше полоса управления?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090672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По теореме Найквиста; для регулирования с шагом 1 мин нужны данные с 6-сек интервалом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29584"/>
            <a:ext cx="11274552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594360" cy="5943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621024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Происхождение разметки документировано?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032504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Кто, когда, по какому критерию ставил метку «дефект» / «норма» / «отказ»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471416"/>
            <a:ext cx="11274552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" y="4608576"/>
            <a:ext cx="594360" cy="5943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08576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562855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Drift датчиков калиброван и логируется?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974336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Без калибровки модель учится на дрейфующих данных и быстро деградирует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413248"/>
            <a:ext cx="11274552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" y="5550408"/>
            <a:ext cx="594360" cy="5943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550408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5504688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Назначен governance owner для данных?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916168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Кто отвечает за схему, доступ, retention, конфиденциальность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Аудит слоя данных — обязательная проверка перед запуском любого пилота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1. DT-2026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1866518" y="292608"/>
            <a:ext cx="1381887" cy="2743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66518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Arial"/>
              </a:rPr>
              <a:t>2. A0 Наблюдать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3275838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75838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3. A1 Советовать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5157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5157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4. A2 Замыкать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4476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4476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5. A3 Автоном.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03795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3795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6. Где НЕ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3114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3114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7. OT/IT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22433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22433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8. РФ + Закр.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19456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A0 — Наблюдать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65A82"/>
                </a:solidFill>
                <a:latin typeface="Arial"/>
              </a:rPr>
              <a:t>Vision QC · прогностическое обслуживание · границы применимости</a:t>
            </a:r>
          </a:p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Раздел 2 · 3 слайда · 10 минут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Vision QC tuned 99%+ при ложных срабатываниях 0,1–2%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Но даже 1% FP × 10 000 деталей = 100 годных отвергнуто за смену — каскад срабатываний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68580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12-fp-cas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6492240" cy="4297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98079" y="1554480"/>
            <a:ext cx="4206240" cy="45720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691640"/>
            <a:ext cx="384048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7200" b="1" i="0">
                <a:solidFill>
                  <a:srgbClr val="F0AB00"/>
                </a:solidFill>
                <a:latin typeface="Arial"/>
              </a:rPr>
              <a:t>100</a:t>
            </a:r>
          </a:p>
          <a:p>
            <a:pPr algn="ctr">
              <a:lnSpc>
                <a:spcPct val="13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годных деталей отвергнуто</a:t>
            </a:r>
          </a:p>
          <a:p>
            <a:pPr algn="ctr">
              <a:lnSpc>
                <a:spcPct val="135000"/>
              </a:lnSpc>
            </a:pPr>
            <a:r>
              <a:rPr sz="1200" b="0" i="1">
                <a:solidFill>
                  <a:srgbClr val="4A556B"/>
                </a:solidFill>
                <a:latin typeface="Arial"/>
              </a:rPr>
              <a:t>за смену 1% × 10 000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→ ручная переборка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→ sort cost растёт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→ throughput loss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→ оператор начинает override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→ доверие к AI рушится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Indus Vision / Jidoka 2026 · Overview.ai 2026 · vendor benchmarks tuned systems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Прогностическое обслуживание: ROI 10:1 за 2 года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Программа $200K–$600K → $1,2M–$3,5M годовой экономии · окупаемость 18–36 месяцев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68580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13-pdm-eff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6492240" cy="4297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98079" y="1554480"/>
            <a:ext cx="420624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691640"/>
            <a:ext cx="384048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ЯКОРНЫЕ КЕЙСЫ: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Cement plant</a:t>
            </a:r>
          </a:p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57× ROI за 6 месяцев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software-only monitoring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Chemical plant</a:t>
            </a:r>
          </a:p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$2 миллиона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ежегодной экономии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Программа PdM: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$200K–$600K инвестиций →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$1,2M–$3,5M экономии в год →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окупаемость 18–36 месяцев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Deloitte 2026 / oxmaint 2026 · средние значения по индустрии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A0 не применим — границы vision и прогностического обслуживания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Жёсткие допуски → метрология + GD&amp;T + SPC · редкие отказы → physics + RCM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86400" cy="43891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486400" cy="6400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19072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Жёсткие допуски ±0,001 мм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512064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Что происходит: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Vision разрешает 0,01-0,1 мм; камера не видит микрометровых отклонений.</a:t>
            </a:r>
          </a:p>
          <a:p>
            <a:pPr algn="l">
              <a:lnSpc>
                <a:spcPct val="13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АЛЬТЕРНАТИВА: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Метрология (laser scanner, CMM)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GD&amp;T — Geometric Dimensioning &amp; Tolerancing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SPC — Statistical Process Control</a:t>
            </a:r>
          </a:p>
          <a:p>
            <a:pPr algn="l">
              <a:lnSpc>
                <a:spcPct val="13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Якорь: «AI не дотягивает физическое разрешение».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645920"/>
            <a:ext cx="5486400" cy="43891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2" y="1645920"/>
            <a:ext cx="5486400" cy="6400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45352" y="1719072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Редкие отказы MTBF &gt;1 года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468880"/>
            <a:ext cx="512064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Что происходит: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Выборка отказов &lt;30 — ML без статистики не учится; галлюцинирует patterns в шуме.</a:t>
            </a:r>
          </a:p>
          <a:p>
            <a:pPr algn="l">
              <a:lnSpc>
                <a:spcPct val="13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АЛЬТЕРНАТИВА: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Физическая симуляция (FEA, износ)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RCM — Reliability-Centered Maintenance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Регламент по физике, не календарю</a:t>
            </a:r>
          </a:p>
          <a:p>
            <a:pPr algn="l">
              <a:lnSpc>
                <a:spcPct val="13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Якорь: «методология Nowlan-Heap 1978 из авиации работает там, где ML — нет».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172200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199632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MTBF (Mean Time Between Failures) · GD&amp;T · SPC · RCM — четыре альтернативных инструмента вместо AI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1. DT-2026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1866518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66518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2. A0 Наблюдать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3275838" y="292608"/>
            <a:ext cx="1381887" cy="2743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75838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Arial"/>
              </a:rPr>
              <a:t>3. A1 Советовать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5157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5157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4. A2 Замыкать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4476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4476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5. A3 Автоном.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03795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3795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6. Где НЕ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3114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3114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7. OT/IT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22433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22433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8. РФ + Закр.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19456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A1 — Советовать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65A82"/>
                </a:solidFill>
                <a:latin typeface="Arial"/>
              </a:rPr>
              <a:t>MES советующий · предсказание тревог · PLC Copilot vs ChatGPT провал</a:t>
            </a:r>
          </a:p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Раздел 3 · 3 слайда · 10 минут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MES советующий + предсказание тревог за 5–15 минут до каскада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Зрелые применения A1: рекомендации по последовательности операций, energy-aware scheduling, ML на SCADA-логах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68580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16-alarm-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6492240" cy="4297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98079" y="1600200"/>
            <a:ext cx="420624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737360"/>
            <a:ext cx="384048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ЧТО ЕСТЬ НА A1: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MES советующий режим: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рекомендация последовательности операций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energy-aware scheduling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· оператор подтверждает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Предсказание тревог: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ML на исторических SCADA-логах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окно 5–15 минут до каскада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· оператор успевает вмешаться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Якорь A1: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AI предлагает действие, человек даёт явное согласие.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Devox / iFactoryApp 2026 · Siemens Opcenter + Rockwell FactoryTalk product docs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PLC Copilot vs ChatGPT: 85% точности vs нелегальный адрес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Purpose-built tools работают; generic LLM на низком уровне (PLC) — провал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54864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00200"/>
            <a:ext cx="5486400" cy="6400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73352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PLC Copilot · purpose-built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51206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Что делает: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Знает IEC 61131-3 (ladder, structured text, FBD).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Понимает циклическое исполнение PLC.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Валидирует адреса памяти по модели контроллера.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Скорость: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3–4 дня → 10 минут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Точность:</a:t>
            </a:r>
          </a:p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85% — с инженер в петле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(15% ошибок ловит инженер)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600200"/>
            <a:ext cx="5486400" cy="45720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2" y="1600200"/>
            <a:ext cx="5486400" cy="64008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45352" y="1673352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ChatGPT generic · ПРОВАЛ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423160"/>
            <a:ext cx="51206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Что выдаёт ChatGPT (промпт «оптимизируй»):</a:t>
            </a:r>
          </a:p>
          <a:p>
            <a:pPr algn="l">
              <a:lnSpc>
                <a:spcPct val="130000"/>
              </a:lnSpc>
            </a:pPr>
            <a:r>
              <a:rPr sz="2200" b="1" i="1">
                <a:solidFill>
                  <a:srgbClr val="F0AB00"/>
                </a:solidFill>
                <a:latin typeface="Arial"/>
              </a:rPr>
              <a:t>MOV %M99999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Что не так: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M-область в Siemens S7-1500 ограничена до M65535.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Адрес %M99999 не существует — PLC откажется компилировать.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Корневая причина: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Generic LLM не знает циклическое исполнение, не знает legal addresses конкретной модели.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Это структурное ограничение, не «временный баг».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Архитектура инженер в петле: безопасный паттерн A1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AI предлагает → инженер ревьюит → симуляция → проверка безопасности → PLC deploy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06627" y="2286000"/>
            <a:ext cx="1783080" cy="1828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06627" y="2286000"/>
            <a:ext cx="1783080" cy="5486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347" y="2331720"/>
            <a:ext cx="16916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8067" y="297180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предлагает
рекомендацию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07995" y="3035808"/>
            <a:ext cx="329184" cy="329184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055467" y="2286000"/>
            <a:ext cx="1783080" cy="1828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55467" y="2286000"/>
            <a:ext cx="1783080" cy="5486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1187" y="2331720"/>
            <a:ext cx="16916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Инженер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6907" y="297180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ревьюит
+ корректирует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56835" y="3035808"/>
            <a:ext cx="329184" cy="329184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04307" y="2286000"/>
            <a:ext cx="1783080" cy="1828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04307" y="2286000"/>
            <a:ext cx="1783080" cy="54864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0027" y="2331720"/>
            <a:ext cx="16916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Симулятор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95747" y="297180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валидирует
на twin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05675" y="3035808"/>
            <a:ext cx="329184" cy="329184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53147" y="2286000"/>
            <a:ext cx="1783080" cy="1828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53147" y="2286000"/>
            <a:ext cx="1783080" cy="5486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98867" y="2331720"/>
            <a:ext cx="16916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Safety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4587" y="297180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IEC 61131-3
+ test cases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154515" y="3035808"/>
            <a:ext cx="329184" cy="329184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501987" y="2286000"/>
            <a:ext cx="1783080" cy="1828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01987" y="2286000"/>
            <a:ext cx="1783080" cy="5486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47707" y="2331720"/>
            <a:ext cx="16916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PLC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93427" y="297180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только если
все passed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66344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Три критерия применимости AI на PLC (без них — НЕ применяй):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(а) есть симулятор / twin для валидации до deployment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(б) есть safety-протоколы перед deployment (IEC 61508 SIL 2/3 для критичных контуров)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(в) есть инженер с правом veto на каждое предложение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A1 — AI предлагает, человек решает; явное согласие на каждое изменение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1. DT-2026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1866518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66518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2. A0 Наблюдать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3275838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75838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3. A1 Советовать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5157" y="292608"/>
            <a:ext cx="1381887" cy="2743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5157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Arial"/>
              </a:rPr>
              <a:t>4. A2 Замыкать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4476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4476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5. A3 Автоном.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03795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3795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6. Где НЕ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3114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3114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7. OT/IT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22433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22433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8. РФ + Закр.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19456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A2 — Замыкать петлю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65A82"/>
                </a:solidFill>
                <a:latin typeface="Arial"/>
              </a:rPr>
              <a:t>Yokogawa FKDPP · twin как песочница · разрыв «симуляция → реальность» · MPC альтернатива</a:t>
            </a:r>
          </a:p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Раздел 4 · 4 слайда · 10 минут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Yokogawa FKDPP в JSR: 35 дней RL в chemical plant, 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Первый промышленного класса RL-кейс — алгоритм FKDPP + дистилляционная колонна JSR</a:t>
            </a:r>
          </a:p>
        </p:txBody>
      </p:sp>
      <p:pic>
        <p:nvPicPr>
          <p:cNvPr id="4" name="Picture 3" descr="s20-yokogawa-pla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59436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Distillation towers · Wikimedia · CC-BY-SA · аналогичная JSR колонна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00200"/>
            <a:ext cx="512064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737360"/>
            <a:ext cx="475488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FKDPP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Factorial Kernel Dynamic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Policy Programming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NAIST 2018 · off-policy RL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факториальная ядровая декомпозиция</a:t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премия премьер-министра Японии 2023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Чем уникален этот кейс: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35 дней непрерывной работы под RL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колонна дистилляции — A2 замкнутая петля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оператор мог вмешаться, но не обязан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КЛЮЧЕВОЕ: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Yokogawa имела внутренний twin колонны — RL обучался в симуляции ДО переноса.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Цифровой двойник как песочница для обучения RL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Подъём с A1 на A2 без песочницы = слепая вера; NVIDIA Omniverse + Siemens Composer закрывают этот зазор</a:t>
            </a:r>
          </a:p>
        </p:txBody>
      </p:sp>
      <p:pic>
        <p:nvPicPr>
          <p:cNvPr id="4" name="Picture 3" descr="s21-nvidia-omniver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50292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NVIDIA HQ · Wikimedia · CC-BY-SA · Omniverse + Cosmos физический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169164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ЦИКЛ ОБУЧЕНИЯ RL В ПЕСОЧНИЦЕ: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2194560"/>
            <a:ext cx="5943600" cy="777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60720" y="2194560"/>
            <a:ext cx="182880" cy="7772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89320" y="2240279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1. 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260604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точная модель оборудования + физика + поток данных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3063239"/>
            <a:ext cx="5943600" cy="777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3063239"/>
            <a:ext cx="182880" cy="7772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3108959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2. RL агент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4747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обучается на 1000+ эпизодов симуляции — БЕЗ РИСКА железу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3931920"/>
            <a:ext cx="5943600" cy="777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60720" y="3931920"/>
            <a:ext cx="182880" cy="77724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89320" y="3977639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3. Валидация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43434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edge cases · sensitivity analysis · безопасная зона действия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4800600"/>
            <a:ext cx="5943600" cy="777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60720" y="4800600"/>
            <a:ext cx="182880" cy="7772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48463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4. Перенос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52120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RL policy → реальное оборудование с теневой режим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5669280"/>
            <a:ext cx="5943600" cy="777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60720" y="5669280"/>
            <a:ext cx="182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89320" y="5715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5. Откат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9320" y="608076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если сдвиг распределения — снимаем RL, твердый PLC берёт управление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Разрыв «симуляция → реальность»: T=300°C → T=315°C из-за отложений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Симуляция не моделировала тепловые потери и surface fouling; RL excursion на 10% от штатного режима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7315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2-sim-real-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6949440" cy="4297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55279" y="1600200"/>
            <a:ext cx="3749039" cy="45720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737360"/>
            <a:ext cx="338328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ЧТО RL НЕ ВИДИТ: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Surface fouling — отложения на стенках колонны со временем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Тепловые потери в окружающую среду — зависят от изоляции и сезона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Дрейф сенсоров — без калибровки T-датчики «уходят»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РЕЗУЛЬТАТ: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Excursion на 10% от штатного режима за 60 дней.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УРОК: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Симуляция дешевле и быстрее, но missing real-life информация.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MDPI Processes 2025 · concrete пример разрыв «симуляция → реальность»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Где RL не применим: критичные по безопасности → проводной PLC + IEC 61508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Известная физика → MPC, не RL · доказуемые гарантии устойчивости через теорию Ляпунова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54864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00200"/>
            <a:ext cx="5486400" cy="64008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73352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Критичный по безопасности контур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51206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Почему RL не сертифицируется: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Нет журнал аудита для регулятора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Недетерминированный output несовместим с IEC 61508 SIL 2/3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Не покрывает edge cases по definition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АЛЬТЕРНАТИВА: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Hardwired PLC + IEC 61508 SIL 2/3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Формальная верификация (TLA+, SPIN, Coq, SCADE)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· SIL 2 = 10⁻⁶..10⁻⁷ отказов/час; SIL 3 = 10⁻⁷..10⁻⁸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600200"/>
            <a:ext cx="54864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2" y="1600200"/>
            <a:ext cx="5486400" cy="6400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45352" y="1673352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Процесс с известной физикой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423160"/>
            <a:ext cx="51206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Если уравнения известны (Навье-Стокса, теплоперенос, химическая кинетика):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MPC = Model Predictive Control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модельное предиктивное управление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Преимущества MPC: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Доказуемые гарантии устойчивости (теория Ляпунова)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Явная оптимизация на горизонте N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Учитывает hard constraints (PV, MV, output)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Сертифицируется в фарма и нефтехим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RL даёт гибкость, MPC — гарантии.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1. DT-2026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1866518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66518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2. A0 Наблюдать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3275838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75838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3. A1 Советовать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5157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5157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4. A2 Замыкать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4476" y="292608"/>
            <a:ext cx="1381887" cy="2743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4476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Arial"/>
              </a:rPr>
              <a:t>5. A3 Автоном.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03795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3795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6. Где НЕ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3114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3114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7. OT/IT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22433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22433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8. РФ + Закр.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19456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A3 — Действовать автономно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65A82"/>
                </a:solidFill>
                <a:latin typeface="Arial"/>
              </a:rPr>
              <a:t>Toyota Digit на RAV4 · BMW Leipzig humanoid pilot · единичные кейсы 2026</a:t>
            </a:r>
          </a:p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Раздел 4.5 · 1 слайд · 2 минуты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A3 в 2026: Toyota Digit + BMW Leipzig humanoid — единичные кейсы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Три блокера массового A3: регуляторика + стоимость + сложность</a:t>
            </a:r>
          </a:p>
        </p:txBody>
      </p:sp>
      <p:pic>
        <p:nvPicPr>
          <p:cNvPr id="4" name="Picture 3" descr="s25-toyota-dig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530352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Humanoid robots in factory · Wikimedia · CC-BY-SA · аналог Agility Digit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69164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ТРИ СТРУКТУРНЫХ БЛОКЕРА A3: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19456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0" y="2194560"/>
            <a:ext cx="164592" cy="1234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9632" y="228600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1. Регуляторика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9632" y="2697480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A556B"/>
                </a:solidFill>
                <a:latin typeface="Arial"/>
              </a:rPr>
              <a:t>Для критичный по безопасности действий требуется IEC 61508 SIL 2/3 или ATEX Zone 0. RL и humanoids не сертифицируются.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520439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0" y="3520439"/>
            <a:ext cx="164592" cy="12344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9632" y="361187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2. Стоимость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4023359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A556B"/>
                </a:solidFill>
                <a:latin typeface="Arial"/>
              </a:rPr>
              <a:t>Humanoid Agility Robotics — несколько сотен тысяч долларов за единицу. Окупается только в нишах с высокой стоимостью труда + предсказуемой задачей.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484632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0" y="4846320"/>
            <a:ext cx="164592" cy="123444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9632" y="493775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3. Сложность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5349240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A556B"/>
                </a:solidFill>
                <a:latin typeface="Arial"/>
              </a:rPr>
              <a:t>A3 требует full-stack: twin + ИИ на границе сети + безопасная зона действия + управление флотом. Большинство заводов не имеет ни одного компонента промышленного класса.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6126480"/>
            <a:ext cx="5760720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6172200"/>
            <a:ext cx="5394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Pattern 2026: A3-кейсы — логистические (Toyota Digit), не управляющие (никто не запустил RL автономно на химической колонне)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1. DT-2026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1866518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66518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2. A0 Наблюдать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3275838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75838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3. A1 Советовать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5157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5157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4. A2 Замыкать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4476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4476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5. A3 Автоном.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03795" y="292608"/>
            <a:ext cx="1381887" cy="2743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3795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Arial"/>
              </a:rPr>
              <a:t>6. Где НЕ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3114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3114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7. OT/IT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22433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22433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8. РФ + Закр.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19456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Где AI НЕ применим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65A82"/>
                </a:solidFill>
                <a:latin typeface="Arial"/>
              </a:rPr>
              <a:t>Десять критериев · фарма+FDA worked example · Gartner 40% cancellation · 5 вопросов</a:t>
            </a:r>
          </a:p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Раздел 5 · 5 слайдов · 15 минут — densest failure bucket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Где AI не нужен — начинаем с Southeast Asian 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Канонический case Tesla 2018 разобран ранее; здесь — fresh 2024 failure, прямо связан с keystone двойником</a:t>
            </a:r>
          </a:p>
        </p:txBody>
      </p:sp>
      <p:pic>
        <p:nvPicPr>
          <p:cNvPr id="4" name="Picture 3" descr="s27-port-harb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85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Container port Antwerp (MPET-MSC PSA) · Wikimedia · CC-BY-SA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600200"/>
            <a:ext cx="4206240" cy="45720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737360"/>
            <a:ext cx="384048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800" b="1" i="0">
                <a:solidFill>
                  <a:srgbClr val="F0AB00"/>
                </a:solidFill>
                <a:latin typeface="Arial"/>
              </a:rPr>
              <a:t>$12 млн</a:t>
            </a:r>
          </a:p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4A556B"/>
                </a:solidFill>
                <a:latin typeface="Arial"/>
              </a:rPr>
              <a:t>на digital twin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065A82"/>
                </a:solidFill>
                <a:latin typeface="Arial"/>
              </a:rPr>
              <a:t>18 месяцев</a:t>
            </a:r>
          </a:p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4A556B"/>
                </a:solidFill>
                <a:latin typeface="Arial"/>
              </a:rPr>
              <a:t>пилот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028090"/>
                </a:solidFill>
                <a:latin typeface="Arial"/>
              </a:rPr>
              <a:t>2024</a:t>
            </a:r>
          </a:p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4A556B"/>
                </a:solidFill>
                <a:latin typeface="Arial"/>
              </a:rPr>
              <a:t>проект списан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ВЫВОД:</a:t>
            </a:r>
          </a:p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3D-визуализация без потока данных = музей, не twin.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Десять структурных критериев «AI не подходит» + альтернативы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Если один из критериев применим — задача НЕ для AI; альтернатива справа доказывает себя десятилетиями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11274552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4864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1. Критичный по безопасности контур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417320"/>
            <a:ext cx="576072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Hardwired PLC + IEC 61508 SIL 2/3 + формальная верификация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54864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2. Процесс с известной физикой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892807"/>
            <a:ext cx="576072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MPC — модельное предиктивное управление с гарантиями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76856"/>
            <a:ext cx="11274552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68296"/>
            <a:ext cx="54864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3. Редкое событие (MTBF &gt;1 года, n&lt;30)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368296"/>
            <a:ext cx="576072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Physics-based simulation + RCM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43784"/>
            <a:ext cx="54864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4. Defect detection нестабильного процесса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843784"/>
            <a:ext cx="576072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Process redesign ПЕРЕД vision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74552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19272"/>
            <a:ext cx="54864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5. Tight tolerances ±0,001 мм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319272"/>
            <a:ext cx="576072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Metrology + GD&amp;T + SPC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794759"/>
            <a:ext cx="54864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6. Generic PLC code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794759"/>
            <a:ext cx="576072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Purpose-built tool с инженер в петле ИЛИ инженер + симулятор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178808"/>
            <a:ext cx="11274552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70248"/>
            <a:ext cx="54864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7. Регулируемая среда без объяснимости (FDA 21 CFR Part 11, GAMP 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270248"/>
            <a:ext cx="576072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Explainable AI (SHAP / LIME) + правила + журнал аудита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45736"/>
            <a:ext cx="54864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8. ATEX Zone 0 — взрывоопасная среда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745736"/>
            <a:ext cx="576072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ATEX-сертифицированные датчики + удалённая обработка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129784"/>
            <a:ext cx="11274552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221224"/>
            <a:ext cx="54864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9. Стоимость AI &gt; стоимость ошибки человека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221224"/>
            <a:ext cx="576072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Не внедрять; направить бюджет на обучение оператора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696712"/>
            <a:ext cx="54864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10. Отсутствие clear применение (data audit fails)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5696712"/>
            <a:ext cx="576072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Аудит слоя данных (5 вопросов) + remediation ДО любого пилота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274552" cy="4114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199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Бонус: Gartner — к 2027 году 40% агентных AI-проектов будут отменены — задайте вендору пять вопросов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Проработанный пример: фарма AI ±0,5% vs FDA-required ±0,1%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Конкретное применение принципа FDA 21 CFR Part 11 + GAMP 5 к фарма-AI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4552" cy="777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011680" cy="7772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92024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508760"/>
            <a:ext cx="8988551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рекомендует дозировку активного компонента в финальной формуляции таблеток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21991"/>
            <a:ext cx="11274552" cy="777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221991"/>
            <a:ext cx="2011680" cy="7772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59151"/>
            <a:ext cx="192024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AI способен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359151"/>
            <a:ext cx="8988551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Учиться на исторических партиях, предсказывать дозировку «±0,5% от номинала», 90% accuracy на тесте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72384"/>
            <a:ext cx="11274552" cy="777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072384"/>
            <a:ext cx="2011680" cy="7772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09544"/>
            <a:ext cx="192024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FDA требует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209544"/>
            <a:ext cx="8988551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±0,1% precision для batch решение о выпуске партии (FDA 21 CFR Part 11 + GAMP 5)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22776"/>
            <a:ext cx="11274552" cy="777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922776"/>
            <a:ext cx="2011680" cy="7772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059936"/>
            <a:ext cx="192024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Разрыв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059936"/>
            <a:ext cx="8988551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accuracy ±0,5% &lt; required tolerance ±0,1% — НЕСОВМЕСТИМО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773168"/>
            <a:ext cx="11274552" cy="777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773168"/>
            <a:ext cx="20116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910328"/>
            <a:ext cx="192024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Verdict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4910328"/>
            <a:ext cx="8988551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НЕ подходит для финального решение о выпуске партии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669279"/>
            <a:ext cx="11274552" cy="5486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760719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АЛЬТЕРНАТИВА: AI как advisory tool на этапе process design (±0,5% полезна) + человек в петле QA + statistical batch sampling для release (validated USP / GMP)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Gartner: 40% агентных AI-проектов отменены к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+ 30% GenAI PoC прекращены после пилота · 75% twins без ROI · 11% / 14% expectation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77724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30-gartner-cancel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7406640" cy="4297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00200"/>
            <a:ext cx="3291840" cy="45720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737360"/>
            <a:ext cx="292608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ЧТО ЭТО ЗНАЧИТ: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Студент 3 курса увидит pitch «agentic AI for manufacturing» в первый год работы.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Это не означает что AI не работает.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Это означает что распространение опережает инфраструктурную готовность.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ЧТО ДЕЛАТЬ: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Задать вендору пять вопросов из следующего слайда.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Gartner via XMPRO 2026 · EY / DataMintelligence 2026 · context-clue.com 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Пять вопросов вендору — практический инструмент для кармана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Задайте до пилота · если ≥1 ответ невнятный — переходите к альтернативе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11274552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783080"/>
            <a:ext cx="594360" cy="5943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737360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Покажите 3 задокументированные провалы за последние 24 месяца в той же индустрии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14884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Без failure-кейсов вендор продаёт hype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87752"/>
            <a:ext cx="11274552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724912"/>
            <a:ext cx="594360" cy="5943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24912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679192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именно делает ваша система на A0 / A1 / A2 — где она в шкале автономии?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090672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Если вендор путается — он не понимает архитектурный класс продукта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29584"/>
            <a:ext cx="11274552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594360" cy="5943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621024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Какой аудит слоя данных вы провели перед пилотом?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032504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Без аудита — Southeast Asian Port lesson повторится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471416"/>
            <a:ext cx="11274552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" y="4608576"/>
            <a:ext cx="594360" cy="5943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08576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562855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Какова ваша альтернатива, если pilot fails — refund, pivot, continued integration?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974336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Контракт без exit-стратегии — деньги в одну сторону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413248"/>
            <a:ext cx="11274552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" y="5550408"/>
            <a:ext cx="594360" cy="5943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550408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5504688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Можете показать референс-клиент в нашем sub-сегменте (process / discrete / regulated)?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916168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General references — недостаточно; нужна точная индустриальная аналогия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Шаблон vendor question framework — для любого AI-пилота на производстве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1. DT-2026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1866518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66518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2. A0 Наблюдать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3275838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75838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3. A1 Советовать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5157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5157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4. A2 Замыкать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4476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4476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5. A3 Автоном.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03795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3795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6. Где НЕ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3114" y="292608"/>
            <a:ext cx="1381887" cy="2743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3114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Arial"/>
              </a:rPr>
              <a:t>7. OT/IT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22433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22433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8. РФ + Закр.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19456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OT/IT архитектура 2026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65A82"/>
                </a:solidFill>
                <a:latin typeface="Arial"/>
              </a:rPr>
              <a:t>7 слоёв · OPC UA + MQTT + TSN · ИИ на границе сети &lt;10 мс · Lighthouse 220+</a:t>
            </a:r>
          </a:p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Раздел 6 · 3 слайда · 6 минут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Семь слоёв производственной AI-архитектуры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OPC UA + TSN + ИИ на границе сети inference &lt;10 мс — операционные условия для A2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00200"/>
            <a:ext cx="2286000" cy="64008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73352"/>
            <a:ext cx="210312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7. Человек в цикле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1673352"/>
            <a:ext cx="822960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критичный по безопасности всегда gated; HITL final authority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8600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2286000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59152"/>
            <a:ext cx="210312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6. Облако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359152"/>
            <a:ext cx="822960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обучение моделей · аналитика флота · долгосрочное хранение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7180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971800"/>
            <a:ext cx="2286000" cy="6400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044952"/>
            <a:ext cx="210312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5. Цифровой двойник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3044952"/>
            <a:ext cx="822960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Siemens Xcelerator · NVIDIA Omniverse · AVEVA · PTC ThingWorx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5760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657600"/>
            <a:ext cx="2286000" cy="6400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730752"/>
            <a:ext cx="210312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4. MES / SCADA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3730752"/>
            <a:ext cx="822960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как advisory → замкнутая петля · диспетчер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4340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343400"/>
            <a:ext cx="2286000" cy="64008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416552"/>
            <a:ext cx="210312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3. Edge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4416552"/>
            <a:ext cx="822960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GPU micro-servers на шкафы оборудования · inference &lt;10 мс (NVIDIA Jetson)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02920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029200"/>
            <a:ext cx="2286000" cy="6400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102352"/>
            <a:ext cx="210312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2. Сеть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5102352"/>
            <a:ext cx="822960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TSN — Time-Sensitive Networking, IEEE 802.1, детерминированная задержка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71500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715000"/>
            <a:ext cx="2286000" cy="6400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788152"/>
            <a:ext cx="210312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1. Датчик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5788152"/>
            <a:ext cx="822960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IIoT — OPC UA + MQTT · sampling rate ≥10× полоса управления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Стек распространяется через WEF Lighthouse Network — 220+ заводов 35 стран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OPC UA + MQTT + TSN: семантика, транспорт, детерминизм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Три протокола покрывают разные задачи; вместе обеспечивают ИИ на границе сети inference &lt;10 мс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36576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00200"/>
            <a:ext cx="3657600" cy="6400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73352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OPC UA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32918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Open Platform Communications · Unified Architecture</a:t>
            </a:r>
          </a:p>
          <a:p>
            <a:pPr algn="l">
              <a:lnSpc>
                <a:spcPct val="13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Роль:</a:t>
            </a:r>
          </a:p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Семантика данных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Что делает: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Кодирует МЕЖДУ информацию: «это температура реактора», не просто число.</a:t>
            </a:r>
          </a:p>
          <a:p>
            <a:pPr algn="l">
              <a:lnSpc>
                <a:spcPct val="13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Стандарт: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IEC 62541 · машиночитаемая модель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600200"/>
            <a:ext cx="36576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33672" y="1600200"/>
            <a:ext cx="3657600" cy="6400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5112" y="1673352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MQTT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2377440"/>
            <a:ext cx="32918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Message Queue Telemetry Transport</a:t>
            </a:r>
          </a:p>
          <a:p>
            <a:pPr algn="l">
              <a:lnSpc>
                <a:spcPct val="13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Роль:</a:t>
            </a:r>
          </a:p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Транспорт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Что делает: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Pub/sub broker для тысяч устройств; lightweight, реалистичен для IIoT с ограниченным каналом.</a:t>
            </a:r>
          </a:p>
          <a:p>
            <a:pPr algn="l">
              <a:lnSpc>
                <a:spcPct val="13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Стандарт: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ISO/IEC 20922 · широкое распространение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600200"/>
            <a:ext cx="36576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10144" y="1600200"/>
            <a:ext cx="3657600" cy="64008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1583" y="1673352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TSN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3" y="2377440"/>
            <a:ext cx="32918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Time-Sensitive Networking</a:t>
            </a:r>
          </a:p>
          <a:p>
            <a:pPr algn="l">
              <a:lnSpc>
                <a:spcPct val="13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Роль:</a:t>
            </a:r>
          </a:p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Детерминизм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Что делает: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IEEE 802.1 · гарантированная задержка доставки Ethernet-пакетов. Без него ИИ на границе сети &lt;10 мс невозможен.</a:t>
            </a:r>
          </a:p>
          <a:p>
            <a:pPr algn="l">
              <a:lnSpc>
                <a:spcPct val="13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Стандарт: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Стандарт IEEE 802.1Qbv + 802.1Qbu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Без всех трёх — A2 невозможен; OPC UA-only хватает на A0–A1, но не для замыкания петли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Lighthouse Network: 220+ заводов, 90% с AI, +16% EBIT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Программа World Economic Forum + McKinsey — заводы-образцы с full AI-трансформацией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54864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35-lighthouse-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120640" cy="4297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600200"/>
            <a:ext cx="5577840" cy="777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3736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065A82"/>
                </a:solidFill>
                <a:latin typeface="Arial"/>
              </a:rPr>
              <a:t>220+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737360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заводов в программе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450591"/>
            <a:ext cx="5577840" cy="777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2587751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1C7293"/>
                </a:solidFill>
                <a:latin typeface="Arial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587751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стран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300984"/>
            <a:ext cx="5577840" cy="777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3438144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028090"/>
                </a:solidFill>
                <a:latin typeface="Arial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438144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новых сайтов 2026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4151376"/>
            <a:ext cx="5577840" cy="777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4288536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90%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288536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новых внедрений включают 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5001768"/>
            <a:ext cx="5577840" cy="777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5138928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+16%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513892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EBIT vs peers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35508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World Economic Forum / McKinsey Lighthouse Network, январь 2026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1. DT-2026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1866518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66518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2. A0 Наблюдать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3275838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75838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3. A1 Советовать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5157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5157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4. A2 Замыкать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4476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4476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5. A3 Автоном.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03795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3795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6. Где НЕ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3114" y="292608"/>
            <a:ext cx="1381887" cy="274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3114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7. OT/IT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22433" y="292608"/>
            <a:ext cx="1381887" cy="2743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22433" y="310896"/>
            <a:ext cx="13818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Arial"/>
              </a:rPr>
              <a:t>8. РФ + Закр.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19456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Российский контекст + карьерный мост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65A82"/>
                </a:solidFill>
                <a:latin typeface="Arial"/>
              </a:rPr>
              <a:t>ГОСТ Р 57700.37 · КАМАЗ · Росатом · Норникель · 4 роли инженера AI</a:t>
            </a:r>
          </a:p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Раздел 7 · 2 слайда · 5 минут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Россия: ГОСТ Р 57700.37 + КАМАЗ + Росатом + Норникель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Формальная регуляторная база + три якорных кейса промышленной эксплуатации</a:t>
            </a:r>
          </a:p>
        </p:txBody>
      </p:sp>
      <p:pic>
        <p:nvPicPr>
          <p:cNvPr id="4" name="Picture 3" descr="s37-kama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50292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KAMAZ-43118 · Wikimedia · CC-BY-SA · пилот цифровых двойников РФ с 2020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69164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720" y="1691640"/>
            <a:ext cx="164592" cy="12801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89320" y="1783080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КАМАЗ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1945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Пионер цифровых двойников РФ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2514600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6B"/>
                </a:solidFill>
                <a:latin typeface="Arial"/>
              </a:rPr>
              <a:t>конвейер + R&amp;D · КАМА-1 e-vehicle 2020+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306324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3063240"/>
            <a:ext cx="164592" cy="128016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3154680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Росатом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5661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Стратегия технологического суверенитета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3886200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6B"/>
                </a:solidFill>
                <a:latin typeface="Arial"/>
              </a:rPr>
              <a:t>T-FLEX PLM · АтомМайнд 2024+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443484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720" y="4434840"/>
            <a:ext cx="164592" cy="12801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4526279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Норникель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493775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Process-control AI на flotation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5257800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6B"/>
                </a:solidFill>
                <a:latin typeface="Arial"/>
              </a:rPr>
              <a:t>отечественный кейс класса A2 · обогащение медно-никелевых руд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5852160"/>
            <a:ext cx="5943600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5897880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1">
                <a:solidFill>
                  <a:srgbClr val="21295C"/>
                </a:solidFill>
                <a:latin typeface="Arial"/>
              </a:rPr>
              <a:t>ГОСТ Р 57700.37-2021 + 187-ФЗ КИИ — основа для производственного AI в РФ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Карьерный мост: четыре роли инженера AI в производстве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Каждая роль — со своим стеком навыков и точкой входа в индустрию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2743200" cy="4480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00200"/>
            <a:ext cx="2743200" cy="9144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AI/ML engineer
(industrial)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237744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День за днём: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Дизайнит и тренирует модели (vision QC, PdM, alarm); интегрирует в edge runtime; мониторит drift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Ключевые навыки: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Python + PyTorch · MLOps · OPC UA · статистика · знание физики процесса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1600200"/>
            <a:ext cx="2743200" cy="4480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19272" y="1600200"/>
            <a:ext cx="2743200" cy="9144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691640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Digital twin
engineer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2651760"/>
            <a:ext cx="237744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День за днём: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Строит и поддерживает twin: датчики через OPC UA, физика + ML модель оборудования, валидация точности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Ключевые навыки: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Siemens Composer · NVIDIA Omniverse · PTC ThingWorx · CAD · OPC UA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600200"/>
            <a:ext cx="2743200" cy="4480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1344" y="1600200"/>
            <a:ext cx="2743200" cy="9144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1691640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MES integration
specialist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651760"/>
            <a:ext cx="237744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День за днём: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Внедряет advisory-AI в существующий MES; конфигурирует workflow «рекомендация → апрув → исполнение»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Ключевые навыки: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SQL · REST/OPC UA · Opcenter/FactoryTalk/SAP MII · бизнес-процессы цеха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43416" y="1600200"/>
            <a:ext cx="2743200" cy="4480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43416" y="1600200"/>
            <a:ext cx="2743200" cy="9144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6" y="1691640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Edge AI
engineer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2651760"/>
            <a:ext cx="237744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День за днём: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Деплоит inference на edge (Jetson, Modicon edge); оптимизирует latency, разрабатывает безопасная передача управления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Ключевые навыки: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C++/Rust · встроенный Linux · ONNX/TensorRT · планирование в реальном времени · КИИ-cybersecurity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6263640"/>
            <a:ext cx="11274552" cy="3200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2910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Где учиться: профильные технические магистратуры по AI в промышленности + Coursera/edX курсы NVIDIA Omniverse, Siemens Industrial AI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39-toyota-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5943600" cy="5486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9893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Toyota Motor Manufacturing · Burnaston Derby · Wikimedia · CC-BY-SA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0" y="548640"/>
            <a:ext cx="5212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C7293"/>
                </a:solidFill>
                <a:latin typeface="Arial"/>
              </a:rPr>
              <a:t>Закрытие лекции 12</a:t>
            </a:r>
          </a:p>
          <a:p>
            <a:pPr algn="l">
              <a:lnSpc>
                <a:spcPct val="11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A0 → A1 → A2 → A3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+ цифровой двойник как мост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2103120"/>
            <a:ext cx="521208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219456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ЧТО МЫ ЗНАЕМ ТЕПЕРЬ: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A0: vision QC + PdM с границами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A1: MES + alarm + PLC Copilot (purpose-built)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A2: RL + twin как песочница (Yokogawa)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A3: humanoid логистика — единично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· 10 критериев «AI не нужен» + 5 вопросов вендору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4572000"/>
            <a:ext cx="5212080" cy="18288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4846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МОСТ К ЛЕКЦИИ 13:</a:t>
            </a:r>
          </a:p>
          <a:p>
            <a:pPr algn="l">
              <a:lnSpc>
                <a:spcPct val="11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AI в логистике, цепях</a:t>
            </a:r>
          </a:p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поставок и транспорте</a:t>
            </a:r>
          </a:p>
          <a:p>
            <a:pPr algn="l">
              <a:lnSpc>
                <a:spcPct val="11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Toyota Digit между станциями — первая ступень supply chain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