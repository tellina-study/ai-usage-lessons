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keystone-слайд лекции. Здесь предъявляется концептуальная ось, на которую нанизаны все следующие 35 слайдов. Шкала автономии AI в производстве: A0 наблюдать, A1 советовать, A2 замыкать петлю, A3 действовать автономно. На каждой ступени AI занимает разные роли. На A0 он выдаёт сигнал, решение принимает человек или другая система — это компьютерное зрение для контроля качества и прогностическое обслуживание. На A1 он предлагает действие, оператор даёт явное согласие — это MES в советующем режиме, предсказание тревог, PLC Copilot. На A2 он меняет параметры в безопасной зоне без согласия на каждое — это Yokogawa FKDPP в JSR химическом заводе в 2022. На A3 он действует автономно с safety guardrails — это Toyota Digit на сборочной линии RAV4 и BMW Leipzig humanoid pilot, единичные кейсы 2026.</a:t>
            </a:r>
          </a:p>
          <a:p/>
          <a:p>
            <a:r>
              <a:t>Два дисклеймера обязательно. Первый — не путать эту шкалу с архитектурными слоями ISA-95 L0–L2 из лекции 11. Там слои архитектуры (поле, контроллер, диспетчер); здесь степени автономии AI. Один и тот же буквенный префикс — разные семантики. Второй — A3 в 2026 году встречается единично; основная масса производства застряла на A0–A2. Это не «отставание», это структурная картина: для A3 нужна полная архитектура twin + edge AI + safety envelope + fleet management, и регуляторика для autonomous control в большинстве индустрий пока не существует.</a:t>
            </a:r>
          </a:p>
          <a:p/>
          <a:p>
            <a:r>
              <a:t>Цифровой двойник — мост между ступенями. Без него подъём с A1 на A2 — слепая вера. Поэтому первый раздел лекции — что такое двойник.</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раздела 1: что такое цифровой двойник в 2026 — Kritzinger taxonomy, ГОСТ, рынок, провал 75%.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Kritzinger 2018 в IFAC-PapersOnLine ввёл три уровня. Цифровая модель: статичная репрезентация без потока данных с физического объекта — это CAD-чертёж или 3D-визуализация. Цифровая тень: данные текут из физики в digital, но управляющего действия назад нет — это dashboard мониторинга. Цифровой двойник: двусторонняя петля physical ↔ digital с возможностью симулировать управляющее действие назад до его применения к физическому железу. Только третий тип — настоящий twin.</a:t>
            </a:r>
          </a:p>
          <a:p/>
          <a:p>
            <a:r>
              <a:t>Когда вендор показывает дашборд с 3D-визуализацией и называет это «digital twin» — спросите два вопроса. Где двусторонняя петля? Где возможность симулировать управляющее действие назад? Если ответ «у нас есть аналитика», но не «у нас есть симулятор, который проверяет решение перед его применением» — это не twin, это shadow.</a:t>
            </a:r>
          </a:p>
          <a:p/>
          <a:p>
            <a:r>
              <a:t>ГОСТ Р 57700.37-2021 «Цифровые двойники изделий. Общие положения» — формальная регуляторная база в России. Согласует terminology с международной taxonomy. Для промышленного применения twin в РФ это обязательная норма.</a:t>
            </a:r>
          </a:p>
          <a:p/>
          <a:p>
            <a:r>
              <a:t>Запомните трёхуровневую модель Kritzinger как первый фильтр. Когда вы видите название «digital twin» в продукте — спросите, попадает ли он в третий уровень. Если есть только поток данных без управляющего действия назад — это shadow, не twin. Если только модель без живого потока — это model, не twin. Только полная двусторонняя петля с симуляцией обратного действия — это настоящий цифровой двойник. Это вторая базовая концепция лекции (первая — шкала автономии A0–A3), и она нам понадобится во всех остальных разделах.</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Запомните четыре цифры. Рынок цифровых двойников — 36,19 миллиарда долларов в 2025 году, 180,28 миллиарда к 2030 году. Среднегодовой темп роста 37,87%. Параллельный рынок AI в производстве — 155,04 миллиарда долларов к 2030, темп 35,3% за 2026–2030. Промышленный AI поверх OPC UA + MQTT — уже 17,15 миллиарда в 2026.</a:t>
            </a:r>
          </a:p>
          <a:p/>
          <a:p>
            <a:r>
              <a:t>Параллельно — три цифры, которые рисуют другую картину того же рынка. 75% проектов цифровых двойников не дают окупаемости из-за слабого слоя данных. Только 11% проектов в нефтегазе дают ожидаемый эффект. Только 14% пользователей говорят, что технология соответствует ожиданиям. Это не противоречие — это разрыв ожиданий: технология распространяется быстрее, чем инфраструктура к ней готова.</a:t>
            </a:r>
          </a:p>
          <a:p/>
          <a:p>
            <a:r>
              <a:t>Что это значит для инженера 3 курса. Через год после выпуска вы зайдёте в офис, и кто-то покажет слайд с этими «золотыми» цифрами рынка. Помните вторую тройку: 75%, 11%, 14%. Это не означает что AI не работает. Это означает что аудит слоя данных обязателен ПЕРЕД любым пилотом, и десять критериев применимости из шестого раздела — ваша рамка решения.</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Southeast Asian Port — задокументированный context-clue.com 2026 кейс провала цифрового двойника. Бюджет — 12 миллионов долларов. Пилот — 18 месяцев. Результат — проект списан в 2024 году, до промышленной эксплуатации не дошёл.</a:t>
            </a:r>
          </a:p>
          <a:p/>
          <a:p>
            <a:r>
              <a:t>Три корневые причины — каждая универсальна и встретится вам в любом проекте, не только в порту. Первая — фрагментированные данные из 5 разных источников без единой схемы: датчики на кранах, GPS контейнеров, ERP, погодные API, manifest-системы. У всех разные форматы, разные частоты, разные форматы метаданных. Двойник не смог объединить это в один поток. Вторая — чрезмерный акцент на 3D-визуализации: бюджет ушёл на красивую сцену в Unity и Unreal, а не на data pipeline. Через 12 месяцев у проекта была впечатляющая 3D-картинка порта и нулевая operational функция. Третья — не был определён clear use case: проект назывался «twin для порта», но никто не мог сформулировать, какое конкретное решение twin должен принимать, какой KPI улучшать, какую гипотезу проверять.</a:t>
            </a:r>
          </a:p>
          <a:p/>
          <a:p>
            <a:r>
              <a:t>Урок один — data-layer audit обязателен ДО запуска любого twin-пилота. Аудит из пяти вопросов на следующем слайде.</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раздела 2: A0 наблюдать — vision QC и прогностическое обслуживание плюс границы применимости.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Запомните арифметику ложных срабатываний. Vision QC в tuned системах достигает 99% и выше точности при ложных срабатываниях от 0,1 до 2 процентов. Это лучший класс точности для дискретного производства в 2026 году. Indus Vision, Jidoka, Overview.ai — все вендоры в этой полосе.</a:t>
            </a:r>
          </a:p>
          <a:p/>
          <a:p>
            <a:r>
              <a:t>Но даже 1% FP при 10 000 деталях за смену — это 100 годных отвергнуто. Что происходит дальше: ручная переборка отвергнутой партии, sort cost растёт, throughput падает, оператор начинает override решений системы, доверие к AI рушится. Это не «редкая проблема», это структурный риск vision QC. Каждый процент FP × объём партии = реальная потеря.</a:t>
            </a:r>
          </a:p>
          <a:p/>
          <a:p>
            <a:r>
              <a:t>Альтернативы есть. Для нестабильного процесса — стабилизация процесса перед vision AI. Если ваш производственный процесс даёт высокую вариативность по причинам, не связанным с дефектами (изменчивые партии материала, износ инструмента), vision будет ловить эту вариативность как дефекты. Сначала стабилизируйте процесс по SPC, потом ставьте vision. Для жёстких допусков ±0,001 миллиметра — метрология плюс GD&amp;T плюс SPC. Камера разрешает 0,01–0,1 мм; микрометровых отклонений она физически не видит. Это анкер: «AI не дотягивает физическое разрешение датчика».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раздела 3: A1 советовать — MES advisory, alarm prediction, PLC Copilot и canonical failure generic LLM на PLC.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Конкретный пример провала универсальной языковой модели на PLC. ChatGPT на запрос «оптимизируй этот блок Siemens S7-1500» выдаёт инструкцию MOV %M99999. Что не так. В Siemens S7-1500 область M — флаги памяти, Merker — физически ограничена до M65535. Адрес %M99999 синтаксически валиден — код скомпилируется в Siemens TIA Portal без ошибок синтаксического анализатора. Но при попытке исполнения PLC обнаружит обращение за пределы адресного пространства M и уйдёт в режим STOP — то есть остановит всё оборудование, управляемое этим контроллером, на месте. Это не «иногда галлюцинирует», это структурное ограничение. Универсальная языковая модель не знает циклическое исполнение PLC (циклы 1–10 мс), не знает допустимые адреса конкретной модели контроллера, не различает Siemens S7 от Allen-Bradley ControlLogix.</a:t>
            </a:r>
          </a:p>
          <a:p/>
          <a:p>
            <a:r>
              <a:t>Альтернатива — специализированные инструменты. PLC Copilot, PLCAutoPilot, Wipro PARI. Они знают IEC 61131-3 — релейную логику, структурированный текст, функциональные блоки. Валидируют адреса памяти по модели контроллера до выдачи кода. Понимают время цикла. С инженером в петле дают 85% точности. Скорость: то, что раньше занимало 3–4 дня инженерной работы, делается за 10 минут. 15% ошибок ловит инженер на стадии проверки.</a:t>
            </a:r>
          </a:p>
          <a:p/>
          <a:p>
            <a:r>
              <a:t>Это правильный паттерн A1 — AI предлагает, инженер ревьюит, симулятор валидирует, проверка безопасности пропускает только то, что прошло, и только тогда — развёртывание. Структурное ограничение: ИИ-генерация PLC-кода применима, только если есть симулятор для валидации, протоколы безопасности перед развёртыванием, инженер с правом veto.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раздела 4: A2 замыкать петлю — Yokogawa FKDPP, twin как песочница для RL, sim-to-real gap, MPC альтернатива.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Знаковый кейс A2. Yokogawa FKDPP — факториальное ядровое динамическое программирование политик. Алгоритм разработан Yokogawa совместно с NAIST (Нара) в 2018 году. Off-policy обучение с подкреплением с факториальной ядровой декомпозицией. Алгоритм отмечен индустриальными наградами за вклад в промышленный ИИ; точная атрибуция награды не критична для архитектурного разбора.</a:t>
            </a:r>
          </a:p>
          <a:p/>
          <a:p>
            <a:r>
              <a:t>Применение — дистилляционная колонна на химическом заводе JSR в 2022 году. 35 дней непрерывной автоматической работы под контролем RL-агента. Оператор мог вмешаться в любой момент, но за 35 дней не было необходимости. Это первый задокументированный случай RL в промышленной эксплуатации chemical plant промышленного класса. Опубликован в ACS Industrial &amp; Engineering Chemistry Research 2024.</a:t>
            </a:r>
          </a:p>
          <a:p/>
          <a:p>
            <a:r>
              <a:t>Критическое для лекции 12 — то, что отличает её от лекции 11. В лекции 11 FKDPP разбирали как алгоритмический прорыв. Здесь разбираем как архитектурный механизм. Yokogawa имела внутренний двойник колонны — детальную физическую симуляцию: массоперенос по Стефану-Максвеллу, теплоперенос по Фурье, тарелочная модель. RL обучался в этой симуляции тысячи эпизодов, прежде чем коснулся реального оборудования. Без двойника это была бы слепая вера — экспериментировать с RL на реальной дистилляционной колонне означало бы рисковать остановкой завода и нарушением спецификации продукта. Двойник как песочница — единственная архитектура, которая делает A2-RL безопасным.</a:t>
            </a:r>
          </a:p>
          <a:p/>
          <a:p>
            <a:r>
              <a:t>Якорь: без двойника — слепая вера. FKDPP получился, потому что Yokogawa имела внутреннюю симуляцию колонны как двойник задолго до RL-эксперимента.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центральный архитектурный механизм, который делает A2 возможным. Цикл обучения RL в песочнице — пять стадий. Первая: твоё оборудование описано как twin — точная модель плюс физика плюс поток данных с реальных датчиков. Вторая: RL-агент обучается на тысячах симуляционных эпизодов в этой песочнице. Тысячи неудач, тысячи распущенных партий, тысячи аварийных остановок — все в симуляции, без риска для железа. Третья: валидация на edge cases — sensitivity analysis, проверка границ безопасности, проверка устойчивости к шумам сенсоров. Четвёртая: перенос RL-policy на реальное оборудование с shadow mode — RL предлагает действия, но не выполняет; оператор сверяет с экспертным контуром управления. Пятая: откат — если detected distribution shift (новый сезон, новый feedstock, новое состояние оборудования), снимаем RL, hardwired PLC берёт управление.</a:t>
            </a:r>
          </a:p>
          <a:p/>
          <a:p>
            <a:r>
              <a:t>NVIDIA Omniverse + Cosmos на Hannover Messe 2026 представили фундационные модели физического AI — обучение в симуляции с переносом на реальное оборудование. Siemens Digital Twin Composer на CES 2026 объединил 2D+3D twin плюс real-time data плюс сцену Omniverse с механизмом time scrubbing — можно «промотать» процесс назад, проверить альтернативные решения, восстановить state.</a:t>
            </a:r>
          </a:p>
          <a:p/>
          <a:p>
            <a:r>
              <a:t>Без двойника как песочницы — нет A2. Это и есть «мост» из keystone-слайда.</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раздела 4.5: A3 действовать автономно — единичные кейсы 2026 и три структурных блокера массового A3.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раздела 5: где AI не применим — десять структурных критериев, проработанный пример фарма+FDA, 5 вопросов вендору. Densest failure bucket лекции — 15 минут.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Проработанный пример из chapter §5.3 — конкретный сценарий, через который проходит десять критериев.</a:t>
            </a:r>
          </a:p>
          <a:p/>
          <a:p>
            <a:r>
              <a:t>Сценарий: фармацевтическое производство, AI-система рекомендует дозировку активного компонента в финальной формуляции таблеток. Что AI способен: обучается на исторических партиях, предсказывает оптимальную дозировку с точностью ±0,5% от номинала, 90% accuracy на тестовом наборе. Это респектабельный результат для ML на относительно небольшой выборке.</a:t>
            </a:r>
          </a:p>
          <a:p/>
          <a:p>
            <a:r>
              <a:t>Что FDA требует. FDA 21 CFR Part 11 — стандарт для электронных записей и подписей в регулируемой фармацевтической среде. GAMP 5 — Good Automated Manufacturing Practice version 5, gold-standard для валидации программных систем в фарма-производстве. Для batch release decision требуется precision ±0,1% от номинала.</a:t>
            </a:r>
          </a:p>
          <a:p/>
          <a:p>
            <a:r>
              <a:t>Разрыв. AI accuracy ±0,5% меньше required tolerance ±0,1%. Это несовместимо. Verdict: AI не подходит для финального release decision.</a:t>
            </a:r>
          </a:p>
          <a:p/>
          <a:p>
            <a:r>
              <a:t>Альтернатива. AI как advisory tool на этапе process design, где точность ±0,5% полезна. Инженер видит рекомендации AI при дизайне нового продукта, оценивает, принимает или отвергает. Для release — human-in-loop QA плюс statistical batch sampling, validated по USP и GMP.</a:t>
            </a:r>
          </a:p>
          <a:p/>
          <a:p>
            <a:r>
              <a:t>Cross-reference: лекция 7 ввела FDA 21 CFR Part 11 как принцип. Этот кейс — конкретная инстанцияция того, как принцип работает в фарме. Универсальный паттерн: всегда сравнивайте accuracy AI с required tolerance для решения. Если AI не дотягивает — он не подходит для этого решения, но может подходить для другого.</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раздела 6: OT/IT архитектура 2026 — 7 слоёв стека, протоколы OPC UA + MQTT + TSN, edge AI inference &lt;10 мс, Lighthouse Network.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раздела 7: российский контекст — ГОСТ Р 57700.37 + КАМАЗ + Росатом + Норникель плюс карьерный мост (4 роли инженера AI).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Закрытие лекции 12. Шкала автономии A0–A3 плюс цифровой двойник как мост между ступенями — операционная рамка для инженерных решений 2026 года.</a:t>
            </a:r>
          </a:p>
          <a:p/>
          <a:p>
            <a:r>
              <a:t>Что мы знаем теперь. A0 — vision QC плюс прогностическое обслуживание с границами: не для жёстких допусков, не для редких отказов. A1 — MES в советующем режиме, предсказание тревог, PLC Copilot с инженером в петле. Универсальная языковая модель на PLC — провал; специализированный инструмент — работает с проверкой безопасности. A2 — Yokogawa FKDPP в JSR 35 дней; двойник как песочница для RL — центральный архитектурный угол лекции. Разрыв «симуляция → реальность» — конкретный пример Т=300 vs Т=315 с поверхностными отложениями. RL не для безопасно-критичных контуров, не для процессов с известной физикой — там MPC или формальная верификация. A3 — humanoid-логистика, единичные кейсы Toyota Digit на RAV4 и BMW Leipzig. Три блокера массового A3.</a:t>
            </a:r>
          </a:p>
          <a:p/>
          <a:p>
            <a:r>
              <a:t>Десять критериев «AI не нужен» — центральный результат лекции для LO7. Пять вопросов вендору — практический инструмент для кармана. Аудит слоя данных — обязательная проверка ДО любого пилота.</a:t>
            </a:r>
          </a:p>
          <a:p/>
          <a:p>
            <a:r>
              <a:t>Мост к Лекции 13 — AI в логистике, цепях поставок и транспорте. Toyota Digit между станциями RAV4 — это первая ступень цепочки поставок. В лекции 13 мы расширим ось от одного цеха к глобальной цепочке поставок: системы управления складом на нескольких площадках, мультимодальный транспорт, прогностическая маршрутизация, телематика флотов. Шкала автономии A0–A3 универсальна — она применима и к транспорту (где появляются ADAS, автоматизированное вождение SAE Levels). Двойник как мост между физикой и AI — общий принцип.</a:t>
            </a:r>
          </a:p>
          <a:p/>
          <a:p>
            <a:r>
              <a:t>До встречи на Лекции 13.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Когда инженер 3 курса слышит словосочетание «AI на заводе», у него в голове чаще всего формируется одна из двух искажённых картин. Либо полностью автономный цех без людей — медиа-образ из 2018 года с Tesla Fremont и плакатами Industry 4.0. Либо модный чатбот для оператора — интерфейсный стереотип 2024–2025. Обе картины ложны.</a:t>
            </a:r>
          </a:p>
          <a:p/>
          <a:p>
            <a:r>
              <a:t>Реальная производственная автоматизация в 2026 году устроена как многоуровневая шкала автономии. На нижних ступенях AI работает пассивным наблюдателем: компьютерное зрение для контроля качества, прогностическое обслуживание. На средних — советчиком оператору: диспетчерское управление, помощник по коду программируемого логического контроллера. На верхних — со-контроллером в замкнутой петле: оптимизация параметров, обучение с подкреплением. И только на самой вершине — автономный физический агент, например гуманоид Toyota Digit на сборочной линии RAV4. В 2026 году эта верхняя ступень встречается единично.</a:t>
            </a:r>
          </a:p>
          <a:p/>
          <a:p>
            <a:r>
              <a:t>Эта шкала неотделима от цифрового двойника — рабочего архитектурного контура: математическая модель оборудования, поток данных с реальных датчиков, AI-слой для предсказания, и интерфейс для тестирования управляющих решений до их применения к физическому железу. Без двойника подъём выше второй ступени превращается в слепую веру.</a:t>
            </a:r>
          </a:p>
          <a:p/>
          <a:p>
            <a:r>
              <a:t>Сегодня вы научитесь читать вендорские слайды критически — задавать пять вопросов о ступени автономии. И знать десять структурных критериев, когда AI не подходит и какая альтернатива лучше. Инженер ценится не тем, что умеет запускать AI, а тем, что знает его границы и умеет отказать неподходящему применению.</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Сегодня мы посвятим 75 минут трём вопросам. Первый — что такое цифровой двойник в 2026 году и почему 75% проектов проваливаются. Второй — на какой ступени автономии (A0, A1, A2 или A3) можно поднять конкретный производственный процесс. Третий — где AI не нужен и какая альтернатива работает лучше.</a:t>
            </a:r>
          </a:p>
          <a:p/>
          <a:p>
            <a:r>
              <a:t>Структура лекции — восемь разделов. Первый — определение цифрового двойника, Kritzinger taxonomy, ГОСТ Р 57700.37, рынок, провал 75%. Второй — A0 наблюдать: vision QC и прогностическое обслуживание. Третий — A1 советовать: MES, alarm prediction, PLC Copilot. Четвёртый — A2 замыкать петлю: Yokogawa FKDPP и twin как песочница. Пятый — A3 действовать автономно: humanoid логистика. Шестой — где AI не нужен: десять структурных критериев. Седьмой — OT/IT архитектура. Восьмой — российский контекст плюс карьерный мост.</a:t>
            </a:r>
          </a:p>
          <a:p/>
          <a:p>
            <a:r>
              <a:t>Ключевая концептуальная ось этой лекции — шкала автономии A0–A3. Это не таксономия типов производства из лекции 11 (discrete vs process). Это шкала доверия, которое мы делегируем AI. Цифровой двойник — единственный известный механизм, позволяющий безопасно подниматься по этой шкале. Без него подъём с A1 на A2 — слепая вера; A2 на A3 — почти невозможен. Поэтому раздел про двойник идёт первым, и keystone-слайд — следующий.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Перед погружением в шкалу автономии — карта маршрута. Лекция устроена так, чтобы каждый последующий раздел опирался на предыдущий. Первый раздел разбирает определение цифрового двойника по таксономии Кritzinger и ГОСТ Р 57700.37-2021. Без этого определения дальше нельзя — большинство вендорских презентаций называют двойником то, что является лишь моделью или тенью. Второй, третий, четвёртый и четыре с половиной разделы поднимаются по ступеням шкалы автономии — A0, A1, A2, A3 — с кейсами промышленной эксплуатации и границами применимости каждой ступени.</a:t>
            </a:r>
          </a:p>
          <a:p/>
          <a:p>
            <a:r>
              <a:t>Пятый раздел — ядро лекции — десять структурных критериев, при которых AI не подходит, и проработанный пример с фармпроизводством и FDA. Это центральный результат лекции для LO7. Шестой раздел — операционная архитектура 2026: семь слоёв, протоколы OPC UA, MQTT, TSN, ИИ на границе сети с инференсом менее 10 миллисекунд, Lighthouse Network. Седьмой раздел — российский контекст с ГОСТ, КАМАЗ, Росатом, Норникель, плюс четыре карьерные роли. Восьмой — закрытие и мост к Лекции 13.</a:t>
            </a:r>
          </a:p>
          <a:p/>
          <a:p>
            <a:r>
              <a:t>Применимый инструмент для кармана — десять критериев «AI не нужен» из шестого раздела. Запишите их и используйте на первом же совещании с вендором.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слоя цифрового двойника — это операционное определение, а не презентационная картинка. Слой первый — физический актив: реактор, конвейер, линия, насос. Слой второй — датчики и протоколы передачи: OPC UA для семантики данных, MQTT для транспорта, sampling rate не менее десятикратного частоты управления (по теореме Найквиста). Слой третий — модель оборудования: физическая (Навье-Стокса для потоков, теплоперенос для теплообменников, кинетика для реакторов) плюс ML-надстройка для коррекции дрейфа. Слой четвёртый — AI-потребители: vision QC, оптимизатор, RL-агент, operator UI.</a:t>
            </a:r>
          </a:p>
          <a:p/>
          <a:p>
            <a:r>
              <a:t>Между слоями — двусторонние стрелки. Это и есть Kritzinger Digital Twin: данные текут вверх, управляющее действие — вниз через симуляцию.</a:t>
            </a:r>
          </a:p>
          <a:p/>
          <a:p>
            <a:r>
              <a:t>Без любого слоя это не twin. Без датчиков — модель. Без модели — поток без понимания. Без AI-потребителей — данные без действия. Когда вендор предлагает «twin», нарисуйте на салфетке эти четыре слоя и спросите, какой из них реализован у вас в проекте. Если хотя бы один отсутствует — проект придётся достраивать ещё на 12-18 месяцев, и Southeast Asian Port — каноническая иллюстрация что бывает без полного стека.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вопросов, которые задайте ПЕРЕД любым twin-проектом или AI-пилотом. Первый: есть ли доступ к историческим данным минимум за один год? Без года истории ML не отличает сезонные сдвиги от долгосрочных трендов, прогностическое обслуживание будет учиться на шуме. Второй: частота сэмплирования не менее чем в десять раз выше управляющей полосы? По теореме Найквиста — если контур работает с шагом 1 минута, данные нужны с интервалом 6 секунд. Если только часовые срезы — управляющий контур не построить.</a:t>
            </a:r>
          </a:p>
          <a:p/>
          <a:p>
            <a:r>
              <a:t>Третий: документировано ли происхождение разметки? Кто, когда, по какому критерию ставил метки «дефект», «норма», «отказ». Без provenance вы учите модель на чужих субъективных суждениях. Когда модель промахивается — никто не знает, где правда. Четвёртый: калиброван ли дрейф датчиков и логируется ли он? Датчики уходят со временем: температурный сенсор за полгода может дать сдвиг 0,5°C, оптический — потерять чувствительность из-за загрязнения. Без калибровочного журнала модель учится на дрейфующих данных и быстро деградирует. Пятый: назначен ли governance owner данных? Конкретный человек, отвечающий за схему, доступ, retention, конфиденциальность. Без owner данные стареют, схема разваливается, ML-команда не имеет контракта.</a:t>
            </a:r>
          </a:p>
          <a:p/>
          <a:p>
            <a:r>
              <a:t>Если хотя бы один ответ «нет» — пилот = деньги на ветер. Это урок Southeast Asian Port.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Deloitte 2026 — средняя картина по индустрии для прогностического обслуживания. ROI 10 к 1 за 2 года. Снижение затрат на обслуживание 25–40%. Снижение незапланированных простоев 30–50%. Продление срока службы оборудования 20–40%. Сокращение аварий на 40%. Это четыре независимых эффекта, и они складываются.</a:t>
            </a:r>
          </a:p>
          <a:p/>
          <a:p>
            <a:r>
              <a:t>Программа PdM на типичном дискретном или процессном заводе требует инвестиций от 200 тысяч до 600 тысяч долларов. Это сенсоры, edge gateway, ML-конвейер, интеграция в MES, обучение операторов. Ежегодная экономия — от 1,2 до 3,5 миллионов долларов. Окупаемость — 18 до 36 месяцев. Это oxmaint 2026, по агрегатам сотен реальных пилотов.</a:t>
            </a:r>
          </a:p>
          <a:p/>
          <a:p>
            <a:r>
              <a:t>Два якорных кейса. Cement plant: 57× ROI за 6 месяцев на software-only monitoring — только мониторинг состояния роторного оборудования через вибрационные сенсоры, без замены железа. Chemical plant: 2 миллиона долларов годовой экономии. Это не редкие выбросы, это типичные кейсы для зрелого PdM в крупном промышленном предприятии.</a:t>
            </a:r>
          </a:p>
          <a:p/>
          <a:p>
            <a:r>
              <a:t>Но эти цифры работают только если данные есть. Без года истории, без калиброванных датчиков, без governance owner — PdM не запустится. Возвращаемся к аудиту слоя данных из предыдущего раздела.</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 конкретные ситуации, в которых vision и прогностическое обслуживание не работают, и какие альтернативы доказали себя десятилетиями.</a:t>
            </a:r>
          </a:p>
          <a:p/>
          <a:p>
            <a:r>
              <a:t>Первая — жёсткие допуски порядка одной тысячной миллиметра. Vision-камеры разрешают от одной сотой до одной десятой миллиметра в зависимости от оптики и расстояния. Микрометровых отклонений они физически не видят. Альтернатива: метрология. Лазерные сканеры, координатно-измерительные машины, плюс GD&amp;T (Geometric Dimensioning and Tolerancing) для формализации требований, плюс SPC (Statistical Process Control) для контроля процесса. Это не «старый подход», это правильный инструмент для физической задачи такого разрешения. Анкер: AI не дотягивает физическое разрешение.</a:t>
            </a:r>
          </a:p>
          <a:p/>
          <a:p>
            <a:r>
              <a:t>Вторая — редкие отказы со средней наработкой на отказ более одного года. Если статистическая выборка отказов меньше 30, ML без статистики не учится. Он начнёт галлюцинировать паттерны в шуме, выдавать false positives и быстро потеряет доверие операторов. Альтернатива: физическая симуляция (FEA для деформаций, тепловые модели для термических напряжений, кинетические модели износа) плюс методология RCM — Reliability-Centered Maintenance. Это работа Nowlan и Heap, разработанная для авиации в 1978 году. Регламент назначается по физике износа, а не по календарю. Анкер: методология RCM работает там, где ML не имеет данных.</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 это AI как советчик оператору. Зрелые применения 2026 — MES в советующем режиме и предсказание тревог. Оба работают на исторических данных, оба требуют явного согласия оператора, оба не замыкают петлю.</a:t>
            </a:r>
          </a:p>
          <a:p/>
          <a:p>
            <a:r>
              <a:t>MES советующий режим. Система предлагает оператору последовательность операций для выполнения заказа: «сначала линия А, потом переналадка 15 минут, потом линия Б». Оптимизирует под energy-aware scheduling, под продолжительность переналадок, под доступность операторов. Оператор смотрит и подтверждает либо корректирует. Siemens Opcenter, Rockwell FactoryTalk, SAP MII — все три ведущих MES-стека добавили advisory-функции к 2025–2026 году.</a:t>
            </a:r>
          </a:p>
          <a:p/>
          <a:p>
            <a:r>
              <a:t>Предсказание тревог. ML на исторических SCADA-логах предсказывает каскад тревог за 5–15 минут до того, как первая тревога раздалась физически. Принцип простой: каскады обычно имеют предвестники — мелкие отклонения параметров за 10–15 минут до основного события. ML распознаёт эти предвестники и поднимает раннее уведомление. Оператор успевает вмешаться, предотвратить каскад, избежать остановки линии.</a:t>
            </a:r>
          </a:p>
          <a:p/>
          <a:p>
            <a:r>
              <a:t>Якорь A1: AI предлагает действие, человек даёт явное согласие. Это безопасный паттерн. Граница с A2 наступает, когда AI начинает менять параметры процесса в петле без явного согласия на каждое изменение.</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Архитектура engineer-in-loop — это пайплайн из пяти стадий, который превращает AI-помощник в безопасный инструмент A1. Стадия первая — AI предлагает рекомендацию: PLC-блок, MES-расписание, изменение параметра. Стадия вторая — инженер ревьюит и корректирует: смотрит на адреса памяти, проверяет логику, исправляет неточности. Стадия третья — симулятор валидирует на twin: прогоняет рекомендацию через симуляцию оборудования, проверяет edge cases, замеряет потенциальные нежелательные эффекты. Стадия четвёртая — safety check: проверка по IEC 61131-3, по тест-кейсам безопасности, по правилам конкретной индустрии. Стадия пятая — deployment, только если все предыдущие стадии прошли успешно.</a:t>
            </a:r>
          </a:p>
          <a:p/>
          <a:p>
            <a:r>
              <a:t>Три критерия применимости AI на PLC. Без них не применяй. Первое: есть симулятор или twin для валидации до deployment. Без симулятора это слепая вера. Второе: есть safety-протоколы перед deployment — для критичных по безопасности контуров это IEC 61508 SIL 2/3, для остальных — внутренние safety-процедуры завода. Третье: есть инженер с правом veto на каждое предложение AI. Без права veto AI деградирует в автоматическую систему без человеческого контроля.</a:t>
            </a:r>
          </a:p>
          <a:p/>
          <a:p>
            <a:r>
              <a:t>Это операционный паттерн A1. Не A0, потому что AI меняет процесс, не только наблюдает. Не A2, потому что согласие человека требуется на каждое изменение.</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Конкретный пример sim-to-real gap. Yokogawa-style колонна. В симуляции RL-агент научился держать setpoint T=300°C — это правильная температура верхней секции для нужной чистоты разделения. В реальности через 60 дней температура расходится до 315°C — excursion на 10% от штатного режима.</a:t>
            </a:r>
          </a:p>
          <a:p/>
          <a:p>
            <a:r>
              <a:t>Что RL не видел. Первое — surface fouling, отложения на стенках колонны со временем. Симулятор не моделировал это, потому что данных по динамике отложений на конкретной марке материала не было. Второе — тепловые потери в окружающую среду. Они зависят от изоляции колонны и сезона. В летние месяцы 32°C наружного воздуха, в зимние −10°C. Разница в тепловых потерях — десятки киловатт на единицу высоты колонны. Симулятор был калиброван при +20°C среднегодового и не учитывал сезонную дельту. Третье — дрейф сенсоров. Температурные датчики без калибровки уходят на 0,3–0,5°C за квартал. Если RL обучался на «свежих» данных и не видел старения сенсоров — он не научится компенсировать.</a:t>
            </a:r>
          </a:p>
          <a:p/>
          <a:p>
            <a:r>
              <a:t>Результат — excursion 10% от штатного режима за 60 дней. Урок: симуляция дешевле и быстрее, но missing real-life информация. Поэтому A2-deployment требует shadow mode на первые недели и отката, когда distribution shift зафиксирован. Если RL excursion больше заданного порога — переключаемся на hardwired PLC.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 конкретные ситуации, в которых RL не подходит, и какие альтернативы доказательно лучше.</a:t>
            </a:r>
          </a:p>
          <a:p/>
          <a:p>
            <a:r>
              <a:t>Первая — критичные по безопасности контуры. E-stop, interlock, emergency shutdown, аварийная остановка реактора. Почему RL не сертифицируется. Первое: нет audit trail в форме, которую принимает регулятор; RL-policy — это набор весов нейронной сети, не последовательность логических утверждений, которую можно проверить вручную. Второе: недетерминированный output несовместим с IEC 61508 SIL 2/3. Стандарт требует доказуемой вероятности отказа. Для SIL 2 это 10⁻⁶..10⁻⁷ отказов в час, для SIL 3 это 10⁻⁷..10⁻⁸. RL такие гарантии не даёт по definition. Третье: RL не покрывает edge cases — нейросеть учится на распределении тренировочных данных; новые ситуации обрабатываются непредсказуемо. Альтернатива: hardwired PLC плюс формальная верификация (TLA+, SPIN, Coq, SCADE) плюс IEC 61508 SIL 2/3.</a:t>
            </a:r>
          </a:p>
          <a:p/>
          <a:p>
            <a:r>
              <a:t>Вторая — процесс с известной физикой. Если уравнения известны (Навье-Стокса для потоков, теплоперенос, химическая кинетика), MPC — Model Predictive Control, модельное предиктивное управление — даёт доказуемые гарантии устойчивости через теорию Ляпунова. Явная оптимизация на горизонте, учёт hard constraints, сертифицируется в фарма и нефтехим. RL даёт гибкость, MPC даёт гарантии. Для known physics — выбирайте MPC.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 в 2026 году — единичные кейсы. Toyota Digit от Agility Robotics на сборочной линии RAV4: 7+ единиц гуманоидов выполняют внутрицеховую логистику между станциями. Действуют без человека в loop в безопасной зоне между станциями. BMW Plant Leipzig — первый европейский пилот гуманоида в производстве, 2026. Это весь масштаб A3 в мире на сегодня. Никто не запустил RL автономно на химической колонне без шансов на интервенцию оператора. Никто не доверил AI самостоятельно управлять сборочной линией двигателя.</a:t>
            </a:r>
          </a:p>
          <a:p/>
          <a:p>
            <a:r>
              <a:t>Три блокера массового A3. Первый — регуляторика. Для safety-critical действий требуется сертификация: IEC 61508 SIL 2/3, ATEX Zone 0. RL и humanoids не сертифицируются. Это не «временный пробел», это структурный конфликт между требованиями стандартов и природой ML-систем. Второй — стоимость. Humanoid Agility Robotics — несколько сотен тысяч долларов за единицу. Окупается только в нишах с высокой стоимостью труда плюс предсказуемой задачей. Контейнерная логистика между станциями подходит, сборка двигателя — нет. Третий — сложность. A3 требует full-stack: twin + edge AI + safety envelope + fleet management + регуляторное согласие. Большинство заводов не имеют ни одного компонента production-grade. Это годы инвестиций.</a:t>
            </a:r>
          </a:p>
          <a:p/>
          <a:p>
            <a:r>
              <a:t>Pattern 2026: A3-кейсы — логистические (Digit перевозит ящик), не управляющие (никто не доверил RL химическую реакцию). Это именно тот разрыв, который шкала визуализирует.</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пять начинается с конкретного кейса. Southeast Asian Port — наш intro hero для раздела «где AI не нужен». Tesla 2018 разобран в лекции 11 §2.4 как канонический case over-automation; здесь — fresh failure 2024, прямо связан с keystone-двойником.</a:t>
            </a:r>
          </a:p>
          <a:p/>
          <a:p>
            <a:r>
              <a:t>Цифры. $12 миллионов потрачено на digital twin порта. 18 месяцев пилот. 2024 — проект списан, до промышленной эксплуатации не дошёл. Direct relevance к keystone лекции: 3D-визуализация без потока данных — это не twin, это музей. То же, что собственный shadow без двусторонней петли.</a:t>
            </a:r>
          </a:p>
          <a:p/>
          <a:p>
            <a:r>
              <a:t>Урок — data-layer audit обязателен перед запуском любого AI-проекта или twin-проекта. Пять вопросов из раздела 1 (доступ к историческим данным, sampling rate, происхождение разметки, дрейф сенсоров, governance owner) — это первая проверка применимости AI. Десять структурных критериев из следующего слайда — это вторая проверка: даже если данные есть, у какой задачи AI не подходит вовсе.</a:t>
            </a:r>
          </a:p>
          <a:p/>
          <a:p>
            <a:r>
              <a:t>Studio engineer в первый год работы увидит pitch «двойник для нашего завода» от вендора. Помните Southeast Asian Port. Спросите про data-layer audit. Спросите про clear use case. Спросите про двустороннюю петлю. Если ответы невнятные — деньги на ветер.</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Десять структурных критериев — центральный результат лекции для LO7. Каждый критерий — это структурное ограничение, не «иногда AI не работает». Каждая альтернатива — это инструмент, который доказывает себя десятилетиями.</a:t>
            </a:r>
          </a:p>
          <a:p/>
          <a:p>
            <a:r>
              <a:t>Один. Критичный по безопасности контур (аварийный останов, блокировки, аварийное отключение). Альтернатива: проводной PLC плюс IEC 61508 SIL 2/3 плюс формальная верификация. RL не сертифицируется.</a:t>
            </a:r>
          </a:p>
          <a:p/>
          <a:p>
            <a:r>
              <a:t>Два. Процесс с известной физикой (контур регулирования температуры печи, расход реагентов). Альтернатива: модельное предиктивное управление (MPC). Доказуемые гарантии устойчивости.</a:t>
            </a:r>
          </a:p>
          <a:p/>
          <a:p>
            <a:r>
              <a:t>Три. Редкое событие с MTBF больше года, выборка отказов меньше 30. Альтернатива: физическая симуляция плюс RCM — методология Nowlan-Heap 1978.</a:t>
            </a:r>
          </a:p>
          <a:p/>
          <a:p>
            <a:r>
              <a:t>Четыре. Поиск дефектов нестабильного процесса. Каскад ложных срабатываний превышает экономию. Альтернатива: пересмотр процесса перед применением vision AI.</a:t>
            </a:r>
          </a:p>
          <a:p/>
          <a:p>
            <a:r>
              <a:t>Пять. Жёсткие допуски ±0,001 мм. Альтернатива: метрология + GD&amp;T + SPC.</a:t>
            </a:r>
          </a:p>
          <a:p/>
          <a:p>
            <a:r>
              <a:t>Шесть. Универсальная генерация PLC-кода. Альтернатива: специализированный инструмент с инженером в петле или инженер + симулятор + IEC 61131-3.</a:t>
            </a:r>
          </a:p>
          <a:p/>
          <a:p>
            <a:r>
              <a:t>Семь. Регулируемая среда без объяснимости (FDA 21 CFR Part 11, GAMP 5). Альтернатива: объяснимый ИИ (SHAP / LIME) + правила + журнал аудита. Чёрный ящик ML не принимается.</a:t>
            </a:r>
          </a:p>
          <a:p/>
          <a:p>
            <a:r>
              <a:t>Восемь. ATEX Zone 0 — взрывоопасная среда. Альтернатива: ATEX-сертифицированные датчики + удалённая обработка. Физический регуляторный запрет.</a:t>
            </a:r>
          </a:p>
          <a:p/>
          <a:p>
            <a:r>
              <a:t>Девять. Стоимость AI больше стоимости ошибки человека. Альтернатива: не внедрять; обучение оператора.</a:t>
            </a:r>
          </a:p>
          <a:p/>
          <a:p>
            <a:r>
              <a:t>Десять. Отсутствие чёткого сценария применения (аудит слоя данных не пройден). Альтернатива: аудит слоя данных + устранение замечаний ДО любого пилота.</a:t>
            </a:r>
          </a:p>
          <a:p/>
          <a:p>
            <a:r>
              <a:t>Бонус: Gartner — к 2027 году 40% агентных AI-проектов отменены. Задайте вендору пять вопросов из s31.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чисел, которые рисуют статистический фон, на котором вы будете работать после выпуска.</a:t>
            </a:r>
          </a:p>
          <a:p/>
          <a:p>
            <a:r>
              <a:t>Сорок процентов. Gartner прогнозирует, что 40% агентных AI-проектов будут отменены к 2027 году. Это включает industrial agentic AI, customer support agents, planning systems. Тридцать процентов. GenAI PoC прекращены после пилота к 2025 году. Это уже свершившийся факт. Семьдесят пять процентов. Twin проектов не дают ROI из-за слабых данных. Уже разобрали в s09. Одиннадцать процентов. O&amp;G двойники дают ожидаемый эффект. Восемьдесят девять процентов разочаровались. Четырнадцать процентов. Пользователи: технология соответствует ожиданиям. Восемьдесят шесть процентов — нет.</a:t>
            </a:r>
          </a:p>
          <a:p/>
          <a:p>
            <a:r>
              <a:t>Что это значит. Не «AI не работает». Это значит, что распространение опережает инфраструктурную готовность. Вендоры продают раньше, чем у заказчика есть data layer, governance, инженерные процессы. Хайп-кривая Gartner предсказывает, что после 2026–2027 годов начнётся отрезвление: те, у кого инфраструктура построена, продолжают; остальные отменяют пилоты.</a:t>
            </a:r>
          </a:p>
          <a:p/>
          <a:p>
            <a:r>
              <a:t>Что делать инженеру 3 курса. Не верить single source. Сравнивать заявления вендоров с этими цифрами. Задавать пять вопросов вендору с следующего слайда. И помнить — десять критериев применимости AI из s28 фильтруют 90% pitch-ов. Это самозащита инженера от хайпа индустрии.</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вопросов вендору. Задайте их на первом совещании, ДО подписания контракта.</a:t>
            </a:r>
          </a:p>
          <a:p/>
          <a:p>
            <a:r>
              <a:t>Первый. Покажите 3 documented failures за последние 24 месяца в той же индустрии. Без failure-кейсов вендор продаёт хайп. Каждая зрелая AI-компания знает, где её технология не работает; если вендор отвечает «у нас не было неудач» — это означает либо что вендор молодой и не накопил опыта, либо что он не признаёт свои провалы. Оба варианта — плохой признак.</a:t>
            </a:r>
          </a:p>
          <a:p/>
          <a:p>
            <a:r>
              <a:t>Второй. Что именно делает ваша система на A0 / A1 / A2 — где она в шкале автономии? Если вендор путается в ответе, он не понимает архитектурный класс собственного продукта. Это означает, что архитектура развалится при первом edge case.</a:t>
            </a:r>
          </a:p>
          <a:p/>
          <a:p>
            <a:r>
              <a:t>Третий. Какой data-layer audit вы провели перед пилотом? Без аудита Southeast Asian Port lesson повторится. Аудит — это пять вопросов из s10: история данных, sampling rate, provenance, drift, governance owner.</a:t>
            </a:r>
          </a:p>
          <a:p/>
          <a:p>
            <a:r>
              <a:t>Четвёртый. Какова ваша альтернатива, если pilot fails — refund, pivot, continued integration? Контракт без exit-стратегии — это вы платите за провал.</a:t>
            </a:r>
          </a:p>
          <a:p/>
          <a:p>
            <a:r>
              <a:t>Пятый. Можете показать customer reference в нашем sub-сегменте (process / discrete / regulated)? General references — недостаточно. Industrial AI имеет узкую специфику; reference из другой индустрии не предсказывает успех в вашей.</a:t>
            </a:r>
          </a:p>
          <a:p/>
          <a:p>
            <a:r>
              <a:t>Этот шаблон — carry-forward от lec-11 §5.2.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Производственная AI-архитектура 2026 — семислойный стек. Слой первый: датчики на оборудовании. IIoT через OPC UA + MQTT, sampling rate не менее десятикратного управляющей полосы. Слой второй: сеть. TSN — Time-Sensitive Networking, IEEE 802.1, гарантированная детерминированная задержка Ethernet. Без TSN edge AI с задержкой менее 10 мс невозможен. Слой третий: edge AI. GPU micro-серверы на cabinets, NVIDIA Jetson, Dell edge, Schneider Modicon edge. Инференс менее 10 мс. Слой четвёртый: MES/SCADA. AI как advisory переходит в closed loop. Диспетчерское управление. Слой пятый: цифровой двойник. Siemens Xcelerator + NVIDIA Omniverse + AVEVA + PTC ThingWorx — основные платформы 2026 года. Слой шестой: облако. Обучение моделей, fleet analytics, long-term storage. Слой седьмой: человек в цикле. Safety-critical контуры всегда gated через HITL.</a:t>
            </a:r>
          </a:p>
          <a:p/>
          <a:p>
            <a:r>
              <a:t>Все семь слоёв должны быть production-grade. Vendors интегрируются без PLC reprogramming: Siemens S7, Allen-Bradley, Rockwell, Schneider — все поддерживают OPC UA как минимум.</a:t>
            </a:r>
          </a:p>
          <a:p/>
          <a:p>
            <a:r>
              <a:t>Distribution через Lighthouse Network. 220+ заводов в 35 странах. 23 новых сайта в 2026 году. 90% новых внедрений включают AI. Перевес Lighthouse-сайтов +16% по EBIT vs peers. WEF + McKinsey, январь 2026.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протокола покрывают разные задачи. Вместе они обеспечивают edge AI inference менее 10 миллисекунд.</a:t>
            </a:r>
          </a:p>
          <a:p/>
          <a:p>
            <a:r>
              <a:t>OPC UA — Open Platform Communications Unified Architecture. IEC 62541. Стандарт семантики данных. Кодирует не только число «температура 273», но и метаинформацию: «это температура реактора R-101, единица измерения Кельвины, источник датчик TT-203, последнее обновление 14:32:17». Машиночитаемая информационная модель.</a:t>
            </a:r>
          </a:p>
          <a:p/>
          <a:p>
            <a:r>
              <a:t>MQTT — Message Queue Telemetry Transport. ISO/IEC 20922. Транспортный протокол pub/sub broker для тысяч устройств. Lightweight, реалистичен для IIoT с ограниченным каналом. MQTT не знает семантику — он передаёт пакеты. OPC UA нужен поверх MQTT, чтобы пакеты были понятны.</a:t>
            </a:r>
          </a:p>
          <a:p/>
          <a:p>
            <a:r>
              <a:t>TSN — Time-Sensitive Networking. IEEE 802.1Qbv + 802.1Qbu. Расширение стандартного Ethernet, добавляющее гарантированную задержку доставки пакетов. В обычном Ethernet задержка случайна — пакет может прийти через 1 мс, через 50 мс, через 500 мс. В TSN задержка гарантирована: для определённого класса пакетов 100 мкс, для другого 1 мс. Без TSN edge AI с задержкой &lt;10 мс невозможен — даже если AI инференс занимает 5 мс, неопределённая сетевая задержка добавит 50 мс и всё разваливается.</a:t>
            </a:r>
          </a:p>
          <a:p/>
          <a:p>
            <a:r>
              <a:t>Без всех трёх протоколов A2 невозможен. OPC UA-only хватает на A0–A1 (мониторинг, advisory), но не для замыкания петли.</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Lighthouse Network — программа World Economic Forum плюс McKinsey, отбирающая заводы-образцы с full AI-трансформацией. Идея: на каждом заводе показать, как именно работает связка двойник + AI + edge + MES, какие KPI улучшаются, какая инфраструктура нужна.</a:t>
            </a:r>
          </a:p>
          <a:p/>
          <a:p>
            <a:r>
              <a:t>Цифры на январь 2026. 220+ заводов в программе по всему миру. 35 стран. 23 новых Lighthouse-сайта приняты в 2026 году. 90% новых внедрений включают AI как минимум на одном из семи слоёв архитектуры. Перевес Lighthouse-сайтов по операционной прибыли EBIT — плюс 16% по сравнению с peers без AI-трансформации. Это не маркетинг — это аккуратная агрегированная статистика, которую публикуют WEF и McKinsey каждый январь.</a:t>
            </a:r>
          </a:p>
          <a:p/>
          <a:p>
            <a:r>
              <a:t>Что Lighthouse — это не. Это не «галочка о цифровой трансформации». Сайт попадает в Lighthouse, только если у него есть production-grade twin, измеряемые KPI улучшения, и репликация архитектуры на дочерние заводы. Это высокая планка.</a:t>
            </a:r>
          </a:p>
          <a:p/>
          <a:p>
            <a:r>
              <a:t>Что это значит для инженера. Эталонные архитектуры есть, известны, задокументированы. WEF публикует case-studies каждого Lighthouse-сайта с архитектурными диаграммами. Это бесплатный учебник по тому, как выглядит работающий twin + AI на конкретном заводе. Используйте его как референс при работе с вашим вендором — спрашивайте, как ваш проект соотносится с конкретным Lighthouse-сайтом.</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России цифровые двойники и AI в производстве оформлены формально и применены на крупных заводах. Регуляторная база — ГОСТ Р 57700.37-2021 «Цифровые двойники изделий. Общие положения». Перенос из лекции 11 §5.3. Этот ГОСТ синхронизирует терминологию с международной таксономией Kritzinger и устанавливает требования к двойнику для российского производственного контекста.</a:t>
            </a:r>
          </a:p>
          <a:p/>
          <a:p>
            <a:r>
              <a:t>Три якорных кейса. КАМАЗ — пионер цифровых двойников России: конвейер плюс НИОКР, электромобиль КАМА-1, развёрнут с 2020 года. Росатом — стратегия технологического суверенитета: T-FLEX PLM как российская альтернатива западным CAD/PLM системам, АтомМайнд с 2024 года для атомной отрасли. Норникель — управление процессом обогащения через ИИ на флотации (флотация — обогащение руд медно-никелевой группы). Это российский кейс класса A2: AI оптимизирует параметры процесса. Перенос из лекции 11 §3.5.</a:t>
            </a:r>
          </a:p>
          <a:p/>
          <a:p>
            <a:r>
              <a:t>187-ФЗ — закон о безопасности критической информационной инфраструктуры. Устанавливает требования к защите промышленных систем категории «значимые объекты КИИ». Инженер AI на КИИ-объекте отвечает за сертифицированную обработку данных, журнал аудита для регулятора, отсутствие неконтролируемого исходящего трафика моделей.</a:t>
            </a:r>
          </a:p>
          <a:p/>
          <a:p>
            <a:r>
              <a:t>ЦИПР 2026 и ИИПРОМ 2026 — крупнейшие форумы по промышленной цифровизации в РФ. Эффект цифровых двойников в РФ — снижение простоев на 10–30%, сокращение срока ввода новой линии (по консолидированным отраслевым отчётам). Источники: РБК Тренды, Ведомости, TAdviser 2025–2026.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Карьерный мост — четыре роли инженера в индустрии AI-автоматизации производства.</a:t>
            </a:r>
          </a:p>
          <a:p/>
          <a:p>
            <a:r>
              <a:t>Первая роль — AI/ML engineer industrial. Что делает день за днём: дизайнит и тренирует модели (vision QC, прогностическое обслуживание, alarm prediction) на исторических данных завода. Интегрирует модели в edge runtime. Мониторит drift. Общается с цеховыми инженерами. Ключевые навыки: Python + PyTorch/TensorFlow, MLOps, OPC UA basics, статистика, временные ряды, знание физики процесса. Учиться: профильные технические магистратуры по AI в промышленности.</a:t>
            </a:r>
          </a:p>
          <a:p/>
          <a:p>
            <a:r>
              <a:t>Вторая — digital twin engineer. Что делает: строит и поддерживает twin для конкретной линии или цеха. Подключает датчики через OPC UA, строит модель оборудования (физика + ML), валидирует точность, разворачивает на edge. Ключевые навыки: Siemens Composer / NVIDIA Omniverse / PTC ThingWorx, CAD, численное моделирование, OPC UA, data pipelines. Учиться: магистратуры по цифровому моделированию плюс Coursera/edX курсы.</a:t>
            </a:r>
          </a:p>
          <a:p/>
          <a:p>
            <a:r>
              <a:t>Третья — MES integration specialist. Что делает: внедряет advisory-AI в существующий MES (Opcenter, FactoryTalk, SAP MII). Конфигурирует workflow «AI рекомендация → оператор апрув → исполнение». Ключевые навыки: SQL, REST/OPC UA, конкретный MES-стек вендора, бизнес-процессы цеха. Учиться: vendor-сертификации Siemens / Rockwell / SAP.</a:t>
            </a:r>
          </a:p>
          <a:p/>
          <a:p>
            <a:r>
              <a:t>Четвёртая — edge AI engineer. Что делает: деплоит inference на edge-устройства (NVIDIA Jetson, Modicon edge), оптимизирует latency и throughput, разрабатывает fail-safe handover. Ключевые навыки: C++/Rust, embedded Linux, ONNX/TensorRT, real-time scheduling, безопасность сети для КИИ-объектов. Учиться: embedded плюс ML — стык. Сертификации NVIDIA Jetson плюс cybersecurity для КИИ.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1-hannover-messe.jpg"/>
          <p:cNvPicPr>
            <a:picLocks noChangeAspect="1"/>
          </p:cNvPicPr>
          <p:nvPr/>
        </p:nvPicPr>
        <p:blipFill>
          <a:blip r:embed="rId2"/>
          <a:stretch>
            <a:fillRect/>
          </a:stretch>
        </p:blipFill>
        <p:spPr>
          <a:xfrm>
            <a:off x="365760" y="457200"/>
            <a:ext cx="6126480" cy="5486400"/>
          </a:xfrm>
          <a:prstGeom prst="rect">
            <a:avLst/>
          </a:prstGeom>
        </p:spPr>
      </p:pic>
      <p:sp>
        <p:nvSpPr>
          <p:cNvPr id="3" name="TextBox 2"/>
          <p:cNvSpPr txBox="1"/>
          <p:nvPr/>
        </p:nvSpPr>
        <p:spPr>
          <a:xfrm>
            <a:off x="365760" y="5989320"/>
            <a:ext cx="612648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Hannover Messe 2016 · робот-манипулятор · Wikimedia · CC-BY-SA</a:t>
            </a:r>
          </a:p>
        </p:txBody>
      </p:sp>
      <p:sp>
        <p:nvSpPr>
          <p:cNvPr id="4" name="TextBox 3"/>
          <p:cNvSpPr txBox="1"/>
          <p:nvPr/>
        </p:nvSpPr>
        <p:spPr>
          <a:xfrm>
            <a:off x="6675120" y="548640"/>
            <a:ext cx="5212080" cy="5029200"/>
          </a:xfrm>
          <a:prstGeom prst="rect">
            <a:avLst/>
          </a:prstGeom>
          <a:noFill/>
        </p:spPr>
        <p:txBody>
          <a:bodyPr wrap="square" lIns="0" rIns="0" tIns="0" bIns="0" anchor="t">
            <a:spAutoFit/>
          </a:bodyPr>
          <a:lstStyle/>
          <a:p>
            <a:pPr algn="l">
              <a:lnSpc>
                <a:spcPct val="110000"/>
              </a:lnSpc>
            </a:pPr>
            <a:r>
              <a:rPr sz="1600" b="1" i="0">
                <a:solidFill>
                  <a:srgbClr val="1C7293"/>
                </a:solidFill>
                <a:latin typeface="Arial"/>
              </a:rPr>
              <a:t>Лекция 12</a:t>
            </a:r>
          </a:p>
          <a:p>
            <a:pPr algn="l">
              <a:lnSpc>
                <a:spcPct val="110000"/>
              </a:lnSpc>
            </a:pPr>
            <a:r>
              <a:rPr sz="600" b="0" i="0">
                <a:solidFill>
                  <a:srgbClr val="21295C"/>
                </a:solidFill>
                <a:latin typeface="Arial"/>
              </a:rPr>
              <a:t/>
            </a:r>
          </a:p>
          <a:p>
            <a:pPr algn="l">
              <a:lnSpc>
                <a:spcPct val="110000"/>
              </a:lnSpc>
            </a:pPr>
            <a:r>
              <a:rPr sz="3200" b="1" i="0">
                <a:solidFill>
                  <a:srgbClr val="21295C"/>
                </a:solidFill>
                <a:latin typeface="Arial"/>
              </a:rPr>
              <a:t>AI поднимается</a:t>
            </a:r>
          </a:p>
          <a:p>
            <a:pPr algn="l">
              <a:lnSpc>
                <a:spcPct val="110000"/>
              </a:lnSpc>
            </a:pPr>
            <a:r>
              <a:rPr sz="3200" b="1" i="0">
                <a:solidFill>
                  <a:srgbClr val="21295C"/>
                </a:solidFill>
                <a:latin typeface="Arial"/>
              </a:rPr>
              <a:t>по шкале автономии</a:t>
            </a:r>
          </a:p>
          <a:p>
            <a:pPr algn="l">
              <a:lnSpc>
                <a:spcPct val="110000"/>
              </a:lnSpc>
            </a:pPr>
            <a:r>
              <a:rPr sz="1200" b="0" i="0">
                <a:solidFill>
                  <a:srgbClr val="21295C"/>
                </a:solidFill>
                <a:latin typeface="Arial"/>
              </a:rPr>
              <a:t/>
            </a:r>
          </a:p>
        </p:txBody>
      </p:sp>
      <p:sp>
        <p:nvSpPr>
          <p:cNvPr id="5" name="Rounded Rectangle 4"/>
          <p:cNvSpPr/>
          <p:nvPr/>
        </p:nvSpPr>
        <p:spPr>
          <a:xfrm>
            <a:off x="6675120" y="3291840"/>
            <a:ext cx="5212080" cy="164592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3383280"/>
            <a:ext cx="4846320" cy="1463040"/>
          </a:xfrm>
          <a:prstGeom prst="rect">
            <a:avLst/>
          </a:prstGeom>
          <a:noFill/>
        </p:spPr>
        <p:txBody>
          <a:bodyPr wrap="square" lIns="0" rIns="0" tIns="0" bIns="0" anchor="t">
            <a:spAutoFit/>
          </a:bodyPr>
          <a:lstStyle/>
          <a:p>
            <a:pPr algn="ctr">
              <a:lnSpc>
                <a:spcPct val="115000"/>
              </a:lnSpc>
            </a:pPr>
            <a:r>
              <a:rPr sz="2800" b="1" i="0">
                <a:solidFill>
                  <a:srgbClr val="F0AB00"/>
                </a:solidFill>
                <a:latin typeface="Arial"/>
              </a:rPr>
              <a:t>A0 → A1 → A2 → A3</a:t>
            </a:r>
          </a:p>
          <a:p>
            <a:pPr algn="l">
              <a:lnSpc>
                <a:spcPct val="115000"/>
              </a:lnSpc>
            </a:pPr>
            <a:r>
              <a:rPr sz="400" b="0" i="0">
                <a:solidFill>
                  <a:srgbClr val="21295C"/>
                </a:solidFill>
                <a:latin typeface="Arial"/>
              </a:rPr>
              <a:t/>
            </a:r>
          </a:p>
          <a:p>
            <a:pPr algn="ctr">
              <a:lnSpc>
                <a:spcPct val="115000"/>
              </a:lnSpc>
            </a:pPr>
            <a:r>
              <a:rPr sz="1100" b="0" i="1">
                <a:solidFill>
                  <a:srgbClr val="21295C"/>
                </a:solidFill>
                <a:latin typeface="Arial"/>
              </a:rPr>
              <a:t>наблюдать  →  советовать  →  замыкать петлю  →  автономно</a:t>
            </a:r>
          </a:p>
        </p:txBody>
      </p:sp>
      <p:sp>
        <p:nvSpPr>
          <p:cNvPr id="7" name="Rounded Rectangle 6"/>
          <p:cNvSpPr/>
          <p:nvPr/>
        </p:nvSpPr>
        <p:spPr>
          <a:xfrm>
            <a:off x="6675120" y="5120640"/>
            <a:ext cx="5212080" cy="914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5212080"/>
            <a:ext cx="4846320" cy="731520"/>
          </a:xfrm>
          <a:prstGeom prst="rect">
            <a:avLst/>
          </a:prstGeom>
          <a:noFill/>
        </p:spPr>
        <p:txBody>
          <a:bodyPr wrap="square" lIns="0" rIns="0" tIns="0" bIns="0" anchor="ctr">
            <a:spAutoFit/>
          </a:bodyPr>
          <a:lstStyle/>
          <a:p>
            <a:pPr algn="l">
              <a:lnSpc>
                <a:spcPct val="120000"/>
              </a:lnSpc>
            </a:pPr>
            <a:r>
              <a:rPr sz="1300" b="1" i="0">
                <a:solidFill>
                  <a:srgbClr val="065A82"/>
                </a:solidFill>
                <a:latin typeface="Arial"/>
              </a:rPr>
              <a:t>Цифровой двойник — единственный известный мост между ступенями</a:t>
            </a:r>
          </a:p>
        </p:txBody>
      </p:sp>
      <p:sp>
        <p:nvSpPr>
          <p:cNvPr id="9" name="TextBox 8"/>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Курс «Применение AI в инженерии»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1. Двойник 2026</a:t>
            </a:r>
          </a:p>
        </p:txBody>
      </p:sp>
      <p:sp>
        <p:nvSpPr>
          <p:cNvPr id="4" name="Rectangle 3"/>
          <p:cNvSpPr/>
          <p:nvPr/>
        </p:nvSpPr>
        <p:spPr>
          <a:xfrm>
            <a:off x="186651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2. A0 Наблюдать</a:t>
            </a:r>
          </a:p>
        </p:txBody>
      </p:sp>
      <p:sp>
        <p:nvSpPr>
          <p:cNvPr id="6" name="Rectangle 5"/>
          <p:cNvSpPr/>
          <p:nvPr/>
        </p:nvSpPr>
        <p:spPr>
          <a:xfrm>
            <a:off x="327583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3. A1 Советовать</a:t>
            </a:r>
          </a:p>
        </p:txBody>
      </p:sp>
      <p:sp>
        <p:nvSpPr>
          <p:cNvPr id="8" name="Rectangle 7"/>
          <p:cNvSpPr/>
          <p:nvPr/>
        </p:nvSpPr>
        <p:spPr>
          <a:xfrm>
            <a:off x="4685157"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4. A2 Замыкать</a:t>
            </a:r>
          </a:p>
        </p:txBody>
      </p:sp>
      <p:sp>
        <p:nvSpPr>
          <p:cNvPr id="10" name="Rectangle 9"/>
          <p:cNvSpPr/>
          <p:nvPr/>
        </p:nvSpPr>
        <p:spPr>
          <a:xfrm>
            <a:off x="6094476"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5. A3 Автоном.</a:t>
            </a:r>
          </a:p>
        </p:txBody>
      </p:sp>
      <p:sp>
        <p:nvSpPr>
          <p:cNvPr id="12" name="Rectangle 11"/>
          <p:cNvSpPr/>
          <p:nvPr/>
        </p:nvSpPr>
        <p:spPr>
          <a:xfrm>
            <a:off x="7503795"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6. Где НЕ AI</a:t>
            </a:r>
          </a:p>
        </p:txBody>
      </p:sp>
      <p:sp>
        <p:nvSpPr>
          <p:cNvPr id="14" name="Rectangle 13"/>
          <p:cNvSpPr/>
          <p:nvPr/>
        </p:nvSpPr>
        <p:spPr>
          <a:xfrm>
            <a:off x="8913114"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7. OT/IT</a:t>
            </a:r>
          </a:p>
        </p:txBody>
      </p:sp>
      <p:sp>
        <p:nvSpPr>
          <p:cNvPr id="16" name="Rectangle 15"/>
          <p:cNvSpPr/>
          <p:nvPr/>
        </p:nvSpPr>
        <p:spPr>
          <a:xfrm>
            <a:off x="10322433"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8. РФ + Закр.</a:t>
            </a:r>
          </a:p>
        </p:txBody>
      </p:sp>
      <p:sp>
        <p:nvSpPr>
          <p:cNvPr id="18" name="TextBox 17"/>
          <p:cNvSpPr txBox="1"/>
          <p:nvPr/>
        </p:nvSpPr>
        <p:spPr>
          <a:xfrm>
            <a:off x="0" y="1280160"/>
            <a:ext cx="4114800" cy="5120640"/>
          </a:xfrm>
          <a:prstGeom prst="rect">
            <a:avLst/>
          </a:prstGeom>
          <a:noFill/>
        </p:spPr>
        <p:txBody>
          <a:bodyPr wrap="square" lIns="0" rIns="0" tIns="0" bIns="0" anchor="ctr">
            <a:spAutoFit/>
          </a:bodyPr>
          <a:lstStyle/>
          <a:p>
            <a:pPr algn="ctr">
              <a:lnSpc>
                <a:spcPct val="115000"/>
              </a:lnSpc>
            </a:pPr>
            <a:r>
              <a:rPr sz="24000" b="1" i="0">
                <a:solidFill>
                  <a:srgbClr val="D9E2EC"/>
                </a:solidFill>
                <a:latin typeface="Arial"/>
              </a:rPr>
              <a:t>12</a:t>
            </a:r>
          </a:p>
        </p:txBody>
      </p:sp>
      <p:sp>
        <p:nvSpPr>
          <p:cNvPr id="19" name="TextBox 18"/>
          <p:cNvSpPr txBox="1"/>
          <p:nvPr/>
        </p:nvSpPr>
        <p:spPr>
          <a:xfrm>
            <a:off x="4297680" y="1188720"/>
            <a:ext cx="7589520" cy="2286000"/>
          </a:xfrm>
          <a:prstGeom prst="rect">
            <a:avLst/>
          </a:prstGeom>
          <a:noFill/>
        </p:spPr>
        <p:txBody>
          <a:bodyPr wrap="square" lIns="0" rIns="0" tIns="0" bIns="0" anchor="t">
            <a:spAutoFit/>
          </a:bodyPr>
          <a:lstStyle/>
          <a:p>
            <a:pPr algn="l">
              <a:lnSpc>
                <a:spcPct val="105000"/>
              </a:lnSpc>
            </a:pPr>
            <a:r>
              <a:rPr sz="2000" b="1" i="0">
                <a:solidFill>
                  <a:srgbClr val="1C7293"/>
                </a:solidFill>
                <a:latin typeface="Arial"/>
              </a:rPr>
              <a:t>Лекция 12</a:t>
            </a:r>
          </a:p>
          <a:p>
            <a:pPr algn="l">
              <a:lnSpc>
                <a:spcPct val="105000"/>
              </a:lnSpc>
            </a:pPr>
            <a:r>
              <a:rPr sz="400" b="0" i="0">
                <a:solidFill>
                  <a:srgbClr val="21295C"/>
                </a:solidFill>
                <a:latin typeface="Arial"/>
              </a:rPr>
              <a:t/>
            </a:r>
          </a:p>
          <a:p>
            <a:pPr algn="l">
              <a:lnSpc>
                <a:spcPct val="105000"/>
              </a:lnSpc>
            </a:pPr>
            <a:r>
              <a:rPr sz="3400" b="1" i="0">
                <a:solidFill>
                  <a:srgbClr val="21295C"/>
                </a:solidFill>
                <a:latin typeface="Arial"/>
              </a:rPr>
              <a:t>AI в автоматизации</a:t>
            </a:r>
          </a:p>
          <a:p>
            <a:pPr algn="l">
              <a:lnSpc>
                <a:spcPct val="105000"/>
              </a:lnSpc>
            </a:pPr>
            <a:r>
              <a:rPr sz="3400" b="1" i="0">
                <a:solidFill>
                  <a:srgbClr val="21295C"/>
                </a:solidFill>
                <a:latin typeface="Arial"/>
              </a:rPr>
              <a:t>производства и цифровые</a:t>
            </a:r>
          </a:p>
          <a:p>
            <a:pPr algn="l">
              <a:lnSpc>
                <a:spcPct val="105000"/>
              </a:lnSpc>
            </a:pPr>
            <a:r>
              <a:rPr sz="3400" b="1" i="0">
                <a:solidFill>
                  <a:srgbClr val="21295C"/>
                </a:solidFill>
                <a:latin typeface="Arial"/>
              </a:rPr>
              <a:t>двойники</a:t>
            </a:r>
          </a:p>
        </p:txBody>
      </p:sp>
      <p:sp>
        <p:nvSpPr>
          <p:cNvPr id="20" name="TextBox 19"/>
          <p:cNvSpPr txBox="1"/>
          <p:nvPr/>
        </p:nvSpPr>
        <p:spPr>
          <a:xfrm>
            <a:off x="4297680" y="4023360"/>
            <a:ext cx="7589520" cy="914400"/>
          </a:xfrm>
          <a:prstGeom prst="rect">
            <a:avLst/>
          </a:prstGeom>
          <a:noFill/>
        </p:spPr>
        <p:txBody>
          <a:bodyPr wrap="square" lIns="0" rIns="0" tIns="0" bIns="0" anchor="t">
            <a:spAutoFit/>
          </a:bodyPr>
          <a:lstStyle/>
          <a:p>
            <a:pPr algn="l">
              <a:lnSpc>
                <a:spcPct val="125000"/>
              </a:lnSpc>
            </a:pPr>
            <a:r>
              <a:rPr sz="1500" b="0" i="0">
                <a:solidFill>
                  <a:srgbClr val="1C7293"/>
                </a:solidFill>
                <a:latin typeface="Arial"/>
              </a:rPr>
              <a:t>Модуль 2 · Промышленный AI и автоматизация</a:t>
            </a:r>
          </a:p>
          <a:p>
            <a:pPr algn="l">
              <a:lnSpc>
                <a:spcPct val="125000"/>
              </a:lnSpc>
            </a:pPr>
            <a:r>
              <a:rPr sz="1500" b="0" i="0">
                <a:solidFill>
                  <a:srgbClr val="1C7293"/>
                </a:solidFill>
                <a:latin typeface="Arial"/>
              </a:rPr>
              <a:t>Студенты-инженеры 3 курса</a:t>
            </a:r>
          </a:p>
        </p:txBody>
      </p:sp>
      <p:sp>
        <p:nvSpPr>
          <p:cNvPr id="21" name="Rounded Rectangle 20"/>
          <p:cNvSpPr/>
          <p:nvPr/>
        </p:nvSpPr>
        <p:spPr>
          <a:xfrm>
            <a:off x="4297680" y="5029200"/>
            <a:ext cx="7589520" cy="13716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5120640"/>
            <a:ext cx="7223760" cy="1188720"/>
          </a:xfrm>
          <a:prstGeom prst="rect">
            <a:avLst/>
          </a:prstGeom>
          <a:noFill/>
        </p:spPr>
        <p:txBody>
          <a:bodyPr wrap="square" lIns="0" rIns="0" tIns="0" bIns="0" anchor="t">
            <a:spAutoFit/>
          </a:bodyPr>
          <a:lstStyle/>
          <a:p>
            <a:pPr algn="l">
              <a:lnSpc>
                <a:spcPct val="130000"/>
              </a:lnSpc>
            </a:pPr>
            <a:r>
              <a:rPr sz="1300" b="1" i="0">
                <a:solidFill>
                  <a:srgbClr val="065A82"/>
                </a:solidFill>
                <a:latin typeface="Arial"/>
              </a:rPr>
              <a:t>Центральный вопрос:</a:t>
            </a:r>
          </a:p>
          <a:p>
            <a:pPr algn="l">
              <a:lnSpc>
                <a:spcPct val="130000"/>
              </a:lnSpc>
            </a:pPr>
            <a:r>
              <a:rPr sz="1300" b="0" i="0">
                <a:solidFill>
                  <a:srgbClr val="21295C"/>
                </a:solidFill>
                <a:latin typeface="Arial"/>
              </a:rPr>
              <a:t>На какой ступени автономии можно поднять процесс — A0/A1/A2/A3 —</a:t>
            </a:r>
          </a:p>
          <a:p>
            <a:pPr algn="l">
              <a:lnSpc>
                <a:spcPct val="130000"/>
              </a:lnSpc>
            </a:pPr>
            <a:r>
              <a:rPr sz="1300" b="0" i="0">
                <a:solidFill>
                  <a:srgbClr val="21295C"/>
                </a:solidFill>
                <a:latin typeface="Arial"/>
              </a:rPr>
              <a:t>и где двойник обязателен, а где AI не нужен вовсе?</a:t>
            </a:r>
          </a:p>
        </p:txBody>
      </p:sp>
      <p:sp>
        <p:nvSpPr>
          <p:cNvPr id="23" name="TextBox 22"/>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Курс «Применение AI в инженерии»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Маршрут лекции — восемь разделов</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От определения двойника к ступеням автономии A0–A3, к границам и российскому контексту</a:t>
            </a:r>
          </a:p>
        </p:txBody>
      </p:sp>
      <p:sp>
        <p:nvSpPr>
          <p:cNvPr id="4" name="Rounded Rectangle 3"/>
          <p:cNvSpPr/>
          <p:nvPr/>
        </p:nvSpPr>
        <p:spPr>
          <a:xfrm>
            <a:off x="548640" y="1554480"/>
            <a:ext cx="1335024"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0392" y="1737360"/>
            <a:ext cx="731520" cy="7315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37360"/>
            <a:ext cx="1335024"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1</a:t>
            </a:r>
          </a:p>
        </p:txBody>
      </p:sp>
      <p:sp>
        <p:nvSpPr>
          <p:cNvPr id="7" name="TextBox 6"/>
          <p:cNvSpPr txBox="1"/>
          <p:nvPr/>
        </p:nvSpPr>
        <p:spPr>
          <a:xfrm>
            <a:off x="594360" y="2651760"/>
            <a:ext cx="1243584" cy="1097280"/>
          </a:xfrm>
          <a:prstGeom prst="rect">
            <a:avLst/>
          </a:prstGeom>
          <a:noFill/>
        </p:spPr>
        <p:txBody>
          <a:bodyPr wrap="square" lIns="0" rIns="0" tIns="0" bIns="0" anchor="t">
            <a:spAutoFit/>
          </a:bodyPr>
          <a:lstStyle/>
          <a:p>
            <a:pPr algn="ctr">
              <a:lnSpc>
                <a:spcPct val="110000"/>
              </a:lnSpc>
            </a:pPr>
            <a:r>
              <a:rPr sz="1500" b="1" i="0">
                <a:solidFill>
                  <a:srgbClr val="21295C"/>
                </a:solidFill>
                <a:latin typeface="Arial"/>
              </a:rPr>
              <a:t>Двойник
2026</a:t>
            </a:r>
          </a:p>
        </p:txBody>
      </p:sp>
      <p:sp>
        <p:nvSpPr>
          <p:cNvPr id="8" name="TextBox 7"/>
          <p:cNvSpPr txBox="1"/>
          <p:nvPr/>
        </p:nvSpPr>
        <p:spPr>
          <a:xfrm>
            <a:off x="640080" y="4023360"/>
            <a:ext cx="1152144" cy="21031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Kritzinger + ГОСТ + рынок + 75% провал</a:t>
            </a:r>
          </a:p>
        </p:txBody>
      </p:sp>
      <p:sp>
        <p:nvSpPr>
          <p:cNvPr id="9" name="Rounded Rectangle 8"/>
          <p:cNvSpPr/>
          <p:nvPr/>
        </p:nvSpPr>
        <p:spPr>
          <a:xfrm>
            <a:off x="1920240" y="1554480"/>
            <a:ext cx="1335024"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21992" y="173736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0" y="1737360"/>
            <a:ext cx="1335024"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2</a:t>
            </a:r>
          </a:p>
        </p:txBody>
      </p:sp>
      <p:sp>
        <p:nvSpPr>
          <p:cNvPr id="12" name="TextBox 11"/>
          <p:cNvSpPr txBox="1"/>
          <p:nvPr/>
        </p:nvSpPr>
        <p:spPr>
          <a:xfrm>
            <a:off x="1965960" y="2651760"/>
            <a:ext cx="1243584" cy="1097280"/>
          </a:xfrm>
          <a:prstGeom prst="rect">
            <a:avLst/>
          </a:prstGeom>
          <a:noFill/>
        </p:spPr>
        <p:txBody>
          <a:bodyPr wrap="square" lIns="0" rIns="0" tIns="0" bIns="0" anchor="t">
            <a:spAutoFit/>
          </a:bodyPr>
          <a:lstStyle/>
          <a:p>
            <a:pPr algn="ctr">
              <a:lnSpc>
                <a:spcPct val="110000"/>
              </a:lnSpc>
            </a:pPr>
            <a:r>
              <a:rPr sz="1500" b="1" i="0">
                <a:solidFill>
                  <a:srgbClr val="21295C"/>
                </a:solidFill>
                <a:latin typeface="Arial"/>
              </a:rPr>
              <a:t>A0</a:t>
            </a:r>
          </a:p>
        </p:txBody>
      </p:sp>
      <p:sp>
        <p:nvSpPr>
          <p:cNvPr id="13" name="TextBox 12"/>
          <p:cNvSpPr txBox="1"/>
          <p:nvPr/>
        </p:nvSpPr>
        <p:spPr>
          <a:xfrm>
            <a:off x="2011680" y="4023360"/>
            <a:ext cx="1152144" cy="21031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Vision QC + прогност. обслуж. + границы</a:t>
            </a:r>
          </a:p>
        </p:txBody>
      </p:sp>
      <p:sp>
        <p:nvSpPr>
          <p:cNvPr id="14" name="Rounded Rectangle 13"/>
          <p:cNvSpPr/>
          <p:nvPr/>
        </p:nvSpPr>
        <p:spPr>
          <a:xfrm>
            <a:off x="3291840" y="1554480"/>
            <a:ext cx="1335024"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93592" y="1737360"/>
            <a:ext cx="731520" cy="7315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0" y="1737360"/>
            <a:ext cx="1335024"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3</a:t>
            </a:r>
          </a:p>
        </p:txBody>
      </p:sp>
      <p:sp>
        <p:nvSpPr>
          <p:cNvPr id="17" name="TextBox 16"/>
          <p:cNvSpPr txBox="1"/>
          <p:nvPr/>
        </p:nvSpPr>
        <p:spPr>
          <a:xfrm>
            <a:off x="3337560" y="2651760"/>
            <a:ext cx="1243584" cy="1097280"/>
          </a:xfrm>
          <a:prstGeom prst="rect">
            <a:avLst/>
          </a:prstGeom>
          <a:noFill/>
        </p:spPr>
        <p:txBody>
          <a:bodyPr wrap="square" lIns="0" rIns="0" tIns="0" bIns="0" anchor="t">
            <a:spAutoFit/>
          </a:bodyPr>
          <a:lstStyle/>
          <a:p>
            <a:pPr algn="ctr">
              <a:lnSpc>
                <a:spcPct val="110000"/>
              </a:lnSpc>
            </a:pPr>
            <a:r>
              <a:rPr sz="1500" b="1" i="0">
                <a:solidFill>
                  <a:srgbClr val="21295C"/>
                </a:solidFill>
                <a:latin typeface="Arial"/>
              </a:rPr>
              <a:t>A1</a:t>
            </a:r>
          </a:p>
        </p:txBody>
      </p:sp>
      <p:sp>
        <p:nvSpPr>
          <p:cNvPr id="18" name="TextBox 17"/>
          <p:cNvSpPr txBox="1"/>
          <p:nvPr/>
        </p:nvSpPr>
        <p:spPr>
          <a:xfrm>
            <a:off x="3383280" y="4023360"/>
            <a:ext cx="1152144" cy="21031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MES + предсказ. тревог + PLC Copilot</a:t>
            </a:r>
          </a:p>
        </p:txBody>
      </p:sp>
      <p:sp>
        <p:nvSpPr>
          <p:cNvPr id="19" name="Rounded Rectangle 18"/>
          <p:cNvSpPr/>
          <p:nvPr/>
        </p:nvSpPr>
        <p:spPr>
          <a:xfrm>
            <a:off x="4663440" y="1554480"/>
            <a:ext cx="1335024"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965192" y="1737360"/>
            <a:ext cx="731520" cy="7315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1737360"/>
            <a:ext cx="1335024"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4</a:t>
            </a:r>
          </a:p>
        </p:txBody>
      </p:sp>
      <p:sp>
        <p:nvSpPr>
          <p:cNvPr id="22" name="TextBox 21"/>
          <p:cNvSpPr txBox="1"/>
          <p:nvPr/>
        </p:nvSpPr>
        <p:spPr>
          <a:xfrm>
            <a:off x="4709159" y="2651760"/>
            <a:ext cx="1243584" cy="1097280"/>
          </a:xfrm>
          <a:prstGeom prst="rect">
            <a:avLst/>
          </a:prstGeom>
          <a:noFill/>
        </p:spPr>
        <p:txBody>
          <a:bodyPr wrap="square" lIns="0" rIns="0" tIns="0" bIns="0" anchor="t">
            <a:spAutoFit/>
          </a:bodyPr>
          <a:lstStyle/>
          <a:p>
            <a:pPr algn="ctr">
              <a:lnSpc>
                <a:spcPct val="110000"/>
              </a:lnSpc>
            </a:pPr>
            <a:r>
              <a:rPr sz="1500" b="1" i="0">
                <a:solidFill>
                  <a:srgbClr val="21295C"/>
                </a:solidFill>
                <a:latin typeface="Arial"/>
              </a:rPr>
              <a:t>A2</a:t>
            </a:r>
          </a:p>
        </p:txBody>
      </p:sp>
      <p:sp>
        <p:nvSpPr>
          <p:cNvPr id="23" name="TextBox 22"/>
          <p:cNvSpPr txBox="1"/>
          <p:nvPr/>
        </p:nvSpPr>
        <p:spPr>
          <a:xfrm>
            <a:off x="4754879" y="4023360"/>
            <a:ext cx="1152144" cy="21031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Yokogawa + двойник как песочница</a:t>
            </a:r>
          </a:p>
        </p:txBody>
      </p:sp>
      <p:sp>
        <p:nvSpPr>
          <p:cNvPr id="24" name="Rounded Rectangle 23"/>
          <p:cNvSpPr/>
          <p:nvPr/>
        </p:nvSpPr>
        <p:spPr>
          <a:xfrm>
            <a:off x="6035040" y="1554480"/>
            <a:ext cx="1335024"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36792" y="173736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1737360"/>
            <a:ext cx="1335024"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5</a:t>
            </a:r>
          </a:p>
        </p:txBody>
      </p:sp>
      <p:sp>
        <p:nvSpPr>
          <p:cNvPr id="27" name="TextBox 26"/>
          <p:cNvSpPr txBox="1"/>
          <p:nvPr/>
        </p:nvSpPr>
        <p:spPr>
          <a:xfrm>
            <a:off x="6080759" y="2651760"/>
            <a:ext cx="1243584" cy="1097280"/>
          </a:xfrm>
          <a:prstGeom prst="rect">
            <a:avLst/>
          </a:prstGeom>
          <a:noFill/>
        </p:spPr>
        <p:txBody>
          <a:bodyPr wrap="square" lIns="0" rIns="0" tIns="0" bIns="0" anchor="t">
            <a:spAutoFit/>
          </a:bodyPr>
          <a:lstStyle/>
          <a:p>
            <a:pPr algn="ctr">
              <a:lnSpc>
                <a:spcPct val="110000"/>
              </a:lnSpc>
            </a:pPr>
            <a:r>
              <a:rPr sz="1500" b="1" i="0">
                <a:solidFill>
                  <a:srgbClr val="21295C"/>
                </a:solidFill>
                <a:latin typeface="Arial"/>
              </a:rPr>
              <a:t>A3</a:t>
            </a:r>
          </a:p>
        </p:txBody>
      </p:sp>
      <p:sp>
        <p:nvSpPr>
          <p:cNvPr id="28" name="TextBox 27"/>
          <p:cNvSpPr txBox="1"/>
          <p:nvPr/>
        </p:nvSpPr>
        <p:spPr>
          <a:xfrm>
            <a:off x="6126479" y="4023360"/>
            <a:ext cx="1152144" cy="21031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Toyota Digit + 3 блокера</a:t>
            </a:r>
          </a:p>
        </p:txBody>
      </p:sp>
      <p:sp>
        <p:nvSpPr>
          <p:cNvPr id="29" name="Rounded Rectangle 28"/>
          <p:cNvSpPr/>
          <p:nvPr/>
        </p:nvSpPr>
        <p:spPr>
          <a:xfrm>
            <a:off x="7406640" y="1554480"/>
            <a:ext cx="1335024"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708392" y="173736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1737360"/>
            <a:ext cx="1335024"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6</a:t>
            </a:r>
          </a:p>
        </p:txBody>
      </p:sp>
      <p:sp>
        <p:nvSpPr>
          <p:cNvPr id="32" name="TextBox 31"/>
          <p:cNvSpPr txBox="1"/>
          <p:nvPr/>
        </p:nvSpPr>
        <p:spPr>
          <a:xfrm>
            <a:off x="7452360" y="2651760"/>
            <a:ext cx="1243584" cy="1097280"/>
          </a:xfrm>
          <a:prstGeom prst="rect">
            <a:avLst/>
          </a:prstGeom>
          <a:noFill/>
        </p:spPr>
        <p:txBody>
          <a:bodyPr wrap="square" lIns="0" rIns="0" tIns="0" bIns="0" anchor="t">
            <a:spAutoFit/>
          </a:bodyPr>
          <a:lstStyle/>
          <a:p>
            <a:pPr algn="ctr">
              <a:lnSpc>
                <a:spcPct val="110000"/>
              </a:lnSpc>
            </a:pPr>
            <a:r>
              <a:rPr sz="1500" b="1" i="0">
                <a:solidFill>
                  <a:srgbClr val="21295C"/>
                </a:solidFill>
                <a:latin typeface="Arial"/>
              </a:rPr>
              <a:t>НЕ AI</a:t>
            </a:r>
          </a:p>
        </p:txBody>
      </p:sp>
      <p:sp>
        <p:nvSpPr>
          <p:cNvPr id="33" name="TextBox 32"/>
          <p:cNvSpPr txBox="1"/>
          <p:nvPr/>
        </p:nvSpPr>
        <p:spPr>
          <a:xfrm>
            <a:off x="7498079" y="4023360"/>
            <a:ext cx="1152144" cy="21031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10 критериев + фарма+FDA</a:t>
            </a:r>
          </a:p>
        </p:txBody>
      </p:sp>
      <p:sp>
        <p:nvSpPr>
          <p:cNvPr id="34" name="Rounded Rectangle 33"/>
          <p:cNvSpPr/>
          <p:nvPr/>
        </p:nvSpPr>
        <p:spPr>
          <a:xfrm>
            <a:off x="8778240" y="1554480"/>
            <a:ext cx="1335024"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079992" y="1737360"/>
            <a:ext cx="731520" cy="7315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78240" y="1737360"/>
            <a:ext cx="1335024"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7</a:t>
            </a:r>
          </a:p>
        </p:txBody>
      </p:sp>
      <p:sp>
        <p:nvSpPr>
          <p:cNvPr id="37" name="TextBox 36"/>
          <p:cNvSpPr txBox="1"/>
          <p:nvPr/>
        </p:nvSpPr>
        <p:spPr>
          <a:xfrm>
            <a:off x="8823960" y="2651760"/>
            <a:ext cx="1243584" cy="1097280"/>
          </a:xfrm>
          <a:prstGeom prst="rect">
            <a:avLst/>
          </a:prstGeom>
          <a:noFill/>
        </p:spPr>
        <p:txBody>
          <a:bodyPr wrap="square" lIns="0" rIns="0" tIns="0" bIns="0" anchor="t">
            <a:spAutoFit/>
          </a:bodyPr>
          <a:lstStyle/>
          <a:p>
            <a:pPr algn="ctr">
              <a:lnSpc>
                <a:spcPct val="110000"/>
              </a:lnSpc>
            </a:pPr>
            <a:r>
              <a:rPr sz="1500" b="1" i="0">
                <a:solidFill>
                  <a:srgbClr val="21295C"/>
                </a:solidFill>
                <a:latin typeface="Arial"/>
              </a:rPr>
              <a:t>OT/IT</a:t>
            </a:r>
          </a:p>
        </p:txBody>
      </p:sp>
      <p:sp>
        <p:nvSpPr>
          <p:cNvPr id="38" name="TextBox 37"/>
          <p:cNvSpPr txBox="1"/>
          <p:nvPr/>
        </p:nvSpPr>
        <p:spPr>
          <a:xfrm>
            <a:off x="8869680" y="4023360"/>
            <a:ext cx="1152144" cy="21031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7 слоёв + Lighthouse</a:t>
            </a:r>
          </a:p>
        </p:txBody>
      </p:sp>
      <p:sp>
        <p:nvSpPr>
          <p:cNvPr id="39" name="Rounded Rectangle 38"/>
          <p:cNvSpPr/>
          <p:nvPr/>
        </p:nvSpPr>
        <p:spPr>
          <a:xfrm>
            <a:off x="10149840" y="1554480"/>
            <a:ext cx="1335024"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451592" y="1737360"/>
            <a:ext cx="731520" cy="7315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49840" y="1737360"/>
            <a:ext cx="1335024"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8</a:t>
            </a:r>
          </a:p>
        </p:txBody>
      </p:sp>
      <p:sp>
        <p:nvSpPr>
          <p:cNvPr id="42" name="TextBox 41"/>
          <p:cNvSpPr txBox="1"/>
          <p:nvPr/>
        </p:nvSpPr>
        <p:spPr>
          <a:xfrm>
            <a:off x="10195560" y="2651760"/>
            <a:ext cx="1243584" cy="1097280"/>
          </a:xfrm>
          <a:prstGeom prst="rect">
            <a:avLst/>
          </a:prstGeom>
          <a:noFill/>
        </p:spPr>
        <p:txBody>
          <a:bodyPr wrap="square" lIns="0" rIns="0" tIns="0" bIns="0" anchor="t">
            <a:spAutoFit/>
          </a:bodyPr>
          <a:lstStyle/>
          <a:p>
            <a:pPr algn="ctr">
              <a:lnSpc>
                <a:spcPct val="110000"/>
              </a:lnSpc>
            </a:pPr>
            <a:r>
              <a:rPr sz="1500" b="1" i="0">
                <a:solidFill>
                  <a:srgbClr val="21295C"/>
                </a:solidFill>
                <a:latin typeface="Arial"/>
              </a:rPr>
              <a:t>РФ
+ Закр.</a:t>
            </a:r>
          </a:p>
        </p:txBody>
      </p:sp>
      <p:sp>
        <p:nvSpPr>
          <p:cNvPr id="43" name="TextBox 42"/>
          <p:cNvSpPr txBox="1"/>
          <p:nvPr/>
        </p:nvSpPr>
        <p:spPr>
          <a:xfrm>
            <a:off x="10241280" y="4023360"/>
            <a:ext cx="1152144" cy="21031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ГОСТ + КАМАЗ + 4 роли</a:t>
            </a:r>
          </a:p>
        </p:txBody>
      </p:sp>
      <p:sp>
        <p:nvSpPr>
          <p:cNvPr id="44" name="TextBox 43"/>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Применимый инструмент для кармана — десять критериев «AI не подходит» на 6-м разделе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Шкала автономии AI в производстве: A0 → A3</a:t>
            </a:r>
          </a:p>
        </p:txBody>
      </p:sp>
      <p:sp>
        <p:nvSpPr>
          <p:cNvPr id="3" name="Rounded Rectangle 2"/>
          <p:cNvSpPr/>
          <p:nvPr/>
        </p:nvSpPr>
        <p:spPr>
          <a:xfrm>
            <a:off x="457200" y="1051560"/>
            <a:ext cx="11274552" cy="50292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0"/>
            <a:ext cx="10972800" cy="45720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Не путать с архитектурными слоями ISA-95 L0–L2: там — слои архитектуры; здесь — степени автономии AI</a:t>
            </a:r>
          </a:p>
        </p:txBody>
      </p:sp>
      <p:sp>
        <p:nvSpPr>
          <p:cNvPr id="5" name="Rounded Rectangle 4"/>
          <p:cNvSpPr/>
          <p:nvPr/>
        </p:nvSpPr>
        <p:spPr>
          <a:xfrm>
            <a:off x="457200" y="1783080"/>
            <a:ext cx="2697480" cy="402336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269748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2514600" cy="59436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A0</a:t>
            </a:r>
          </a:p>
        </p:txBody>
      </p:sp>
      <p:sp>
        <p:nvSpPr>
          <p:cNvPr id="8" name="TextBox 7"/>
          <p:cNvSpPr txBox="1"/>
          <p:nvPr/>
        </p:nvSpPr>
        <p:spPr>
          <a:xfrm>
            <a:off x="548640" y="2560320"/>
            <a:ext cx="2514600" cy="502920"/>
          </a:xfrm>
          <a:prstGeom prst="rect">
            <a:avLst/>
          </a:prstGeom>
          <a:noFill/>
        </p:spPr>
        <p:txBody>
          <a:bodyPr wrap="square" lIns="0" rIns="0" tIns="0" bIns="0" anchor="t">
            <a:spAutoFit/>
          </a:bodyPr>
          <a:lstStyle/>
          <a:p>
            <a:pPr algn="ctr">
              <a:lnSpc>
                <a:spcPct val="115000"/>
              </a:lnSpc>
            </a:pPr>
            <a:r>
              <a:rPr sz="2000" b="1" i="0">
                <a:solidFill>
                  <a:srgbClr val="21295C"/>
                </a:solidFill>
                <a:latin typeface="Arial"/>
              </a:rPr>
              <a:t>Наблюдать</a:t>
            </a:r>
          </a:p>
        </p:txBody>
      </p:sp>
      <p:sp>
        <p:nvSpPr>
          <p:cNvPr id="9" name="TextBox 8"/>
          <p:cNvSpPr txBox="1"/>
          <p:nvPr/>
        </p:nvSpPr>
        <p:spPr>
          <a:xfrm>
            <a:off x="640080" y="3200400"/>
            <a:ext cx="2331720" cy="1280160"/>
          </a:xfrm>
          <a:prstGeom prst="rect">
            <a:avLst/>
          </a:prstGeom>
          <a:noFill/>
        </p:spPr>
        <p:txBody>
          <a:bodyPr wrap="square" lIns="0" rIns="0" tIns="0" bIns="0" anchor="t">
            <a:spAutoFit/>
          </a:bodyPr>
          <a:lstStyle/>
          <a:p>
            <a:pPr algn="ctr">
              <a:lnSpc>
                <a:spcPct val="135000"/>
              </a:lnSpc>
            </a:pPr>
            <a:r>
              <a:rPr sz="1200" b="0" i="1">
                <a:solidFill>
                  <a:srgbClr val="065A82"/>
                </a:solidFill>
                <a:latin typeface="Arial"/>
              </a:rPr>
              <a:t>Vision QC · прогностическое обслуживание</a:t>
            </a:r>
          </a:p>
        </p:txBody>
      </p:sp>
      <p:sp>
        <p:nvSpPr>
          <p:cNvPr id="10" name="Rounded Rectangle 9"/>
          <p:cNvSpPr/>
          <p:nvPr/>
        </p:nvSpPr>
        <p:spPr>
          <a:xfrm>
            <a:off x="640080" y="4526280"/>
            <a:ext cx="2331720" cy="1143000"/>
          </a:xfrm>
          <a:prstGeom prst="roundRect">
            <a:avLst>
              <a:gd name="adj" fmla="val 10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617720"/>
            <a:ext cx="2148840" cy="960120"/>
          </a:xfrm>
          <a:prstGeom prst="rect">
            <a:avLst/>
          </a:prstGeom>
          <a:noFill/>
        </p:spPr>
        <p:txBody>
          <a:bodyPr wrap="square" lIns="0" rIns="0" tIns="0" bIns="0" anchor="ctr">
            <a:spAutoFit/>
          </a:bodyPr>
          <a:lstStyle/>
          <a:p>
            <a:pPr algn="ctr">
              <a:lnSpc>
                <a:spcPct val="130000"/>
              </a:lnSpc>
            </a:pPr>
            <a:r>
              <a:rPr sz="1100" b="0" i="0">
                <a:solidFill>
                  <a:srgbClr val="21295C"/>
                </a:solidFill>
                <a:latin typeface="Arial"/>
              </a:rPr>
              <a:t>AI выдаёт сигнал · решение принимает человек или другая система</a:t>
            </a:r>
          </a:p>
        </p:txBody>
      </p:sp>
      <p:sp>
        <p:nvSpPr>
          <p:cNvPr id="12" name="Rounded Rectangle 11"/>
          <p:cNvSpPr/>
          <p:nvPr/>
        </p:nvSpPr>
        <p:spPr>
          <a:xfrm>
            <a:off x="3246120" y="1783080"/>
            <a:ext cx="2697480" cy="402336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783080"/>
            <a:ext cx="269748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828800"/>
            <a:ext cx="2514600" cy="59436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A1</a:t>
            </a:r>
          </a:p>
        </p:txBody>
      </p:sp>
      <p:sp>
        <p:nvSpPr>
          <p:cNvPr id="15" name="TextBox 14"/>
          <p:cNvSpPr txBox="1"/>
          <p:nvPr/>
        </p:nvSpPr>
        <p:spPr>
          <a:xfrm>
            <a:off x="3337560" y="2560320"/>
            <a:ext cx="2514600" cy="502920"/>
          </a:xfrm>
          <a:prstGeom prst="rect">
            <a:avLst/>
          </a:prstGeom>
          <a:noFill/>
        </p:spPr>
        <p:txBody>
          <a:bodyPr wrap="square" lIns="0" rIns="0" tIns="0" bIns="0" anchor="t">
            <a:spAutoFit/>
          </a:bodyPr>
          <a:lstStyle/>
          <a:p>
            <a:pPr algn="ctr">
              <a:lnSpc>
                <a:spcPct val="115000"/>
              </a:lnSpc>
            </a:pPr>
            <a:r>
              <a:rPr sz="2000" b="1" i="0">
                <a:solidFill>
                  <a:srgbClr val="21295C"/>
                </a:solidFill>
                <a:latin typeface="Arial"/>
              </a:rPr>
              <a:t>Советовать</a:t>
            </a:r>
          </a:p>
        </p:txBody>
      </p:sp>
      <p:sp>
        <p:nvSpPr>
          <p:cNvPr id="16" name="TextBox 15"/>
          <p:cNvSpPr txBox="1"/>
          <p:nvPr/>
        </p:nvSpPr>
        <p:spPr>
          <a:xfrm>
            <a:off x="3429000" y="3200400"/>
            <a:ext cx="2331720" cy="1280160"/>
          </a:xfrm>
          <a:prstGeom prst="rect">
            <a:avLst/>
          </a:prstGeom>
          <a:noFill/>
        </p:spPr>
        <p:txBody>
          <a:bodyPr wrap="square" lIns="0" rIns="0" tIns="0" bIns="0" anchor="t">
            <a:spAutoFit/>
          </a:bodyPr>
          <a:lstStyle/>
          <a:p>
            <a:pPr algn="ctr">
              <a:lnSpc>
                <a:spcPct val="135000"/>
              </a:lnSpc>
            </a:pPr>
            <a:r>
              <a:rPr sz="1200" b="0" i="1">
                <a:solidFill>
                  <a:srgbClr val="065A82"/>
                </a:solidFill>
                <a:latin typeface="Arial"/>
              </a:rPr>
              <a:t>MES советующий · предсказание тревог · PLC Copilot</a:t>
            </a:r>
          </a:p>
        </p:txBody>
      </p:sp>
      <p:sp>
        <p:nvSpPr>
          <p:cNvPr id="17" name="Rounded Rectangle 16"/>
          <p:cNvSpPr/>
          <p:nvPr/>
        </p:nvSpPr>
        <p:spPr>
          <a:xfrm>
            <a:off x="3429000" y="4526280"/>
            <a:ext cx="2331720" cy="1143000"/>
          </a:xfrm>
          <a:prstGeom prst="roundRect">
            <a:avLst>
              <a:gd name="adj" fmla="val 10000"/>
            </a:avLst>
          </a:prstGeom>
          <a:solidFill>
            <a:srgbClr val="FFFFFF"/>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4617720"/>
            <a:ext cx="2148840" cy="960120"/>
          </a:xfrm>
          <a:prstGeom prst="rect">
            <a:avLst/>
          </a:prstGeom>
          <a:noFill/>
        </p:spPr>
        <p:txBody>
          <a:bodyPr wrap="square" lIns="0" rIns="0" tIns="0" bIns="0" anchor="ctr">
            <a:spAutoFit/>
          </a:bodyPr>
          <a:lstStyle/>
          <a:p>
            <a:pPr algn="ctr">
              <a:lnSpc>
                <a:spcPct val="130000"/>
              </a:lnSpc>
            </a:pPr>
            <a:r>
              <a:rPr sz="1100" b="0" i="0">
                <a:solidFill>
                  <a:srgbClr val="21295C"/>
                </a:solidFill>
                <a:latin typeface="Arial"/>
              </a:rPr>
              <a:t>AI предлагает действие · оператор даёт явное согласие</a:t>
            </a:r>
          </a:p>
        </p:txBody>
      </p:sp>
      <p:sp>
        <p:nvSpPr>
          <p:cNvPr id="19" name="Rounded Rectangle 18"/>
          <p:cNvSpPr/>
          <p:nvPr/>
        </p:nvSpPr>
        <p:spPr>
          <a:xfrm>
            <a:off x="6035040" y="1783080"/>
            <a:ext cx="2697480" cy="402336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35040" y="1783080"/>
            <a:ext cx="269748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1828800"/>
            <a:ext cx="2514600" cy="59436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A2</a:t>
            </a:r>
          </a:p>
        </p:txBody>
      </p:sp>
      <p:sp>
        <p:nvSpPr>
          <p:cNvPr id="22" name="TextBox 21"/>
          <p:cNvSpPr txBox="1"/>
          <p:nvPr/>
        </p:nvSpPr>
        <p:spPr>
          <a:xfrm>
            <a:off x="6126480" y="2560320"/>
            <a:ext cx="2514600" cy="502920"/>
          </a:xfrm>
          <a:prstGeom prst="rect">
            <a:avLst/>
          </a:prstGeom>
          <a:noFill/>
        </p:spPr>
        <p:txBody>
          <a:bodyPr wrap="square" lIns="0" rIns="0" tIns="0" bIns="0" anchor="t">
            <a:spAutoFit/>
          </a:bodyPr>
          <a:lstStyle/>
          <a:p>
            <a:pPr algn="ctr">
              <a:lnSpc>
                <a:spcPct val="115000"/>
              </a:lnSpc>
            </a:pPr>
            <a:r>
              <a:rPr sz="2000" b="1" i="0">
                <a:solidFill>
                  <a:srgbClr val="21295C"/>
                </a:solidFill>
                <a:latin typeface="Arial"/>
              </a:rPr>
              <a:t>Замыкать петлю</a:t>
            </a:r>
          </a:p>
        </p:txBody>
      </p:sp>
      <p:sp>
        <p:nvSpPr>
          <p:cNvPr id="23" name="TextBox 22"/>
          <p:cNvSpPr txBox="1"/>
          <p:nvPr/>
        </p:nvSpPr>
        <p:spPr>
          <a:xfrm>
            <a:off x="6217920" y="3200400"/>
            <a:ext cx="2331720" cy="1280160"/>
          </a:xfrm>
          <a:prstGeom prst="rect">
            <a:avLst/>
          </a:prstGeom>
          <a:noFill/>
        </p:spPr>
        <p:txBody>
          <a:bodyPr wrap="square" lIns="0" rIns="0" tIns="0" bIns="0" anchor="t">
            <a:spAutoFit/>
          </a:bodyPr>
          <a:lstStyle/>
          <a:p>
            <a:pPr algn="ctr">
              <a:lnSpc>
                <a:spcPct val="135000"/>
              </a:lnSpc>
            </a:pPr>
            <a:r>
              <a:rPr sz="1200" b="0" i="1">
                <a:solidFill>
                  <a:srgbClr val="065A82"/>
                </a:solidFill>
                <a:latin typeface="Arial"/>
              </a:rPr>
              <a:t>Yokogawa FKDPP в JSR · энергооптимизация</a:t>
            </a:r>
          </a:p>
        </p:txBody>
      </p:sp>
      <p:sp>
        <p:nvSpPr>
          <p:cNvPr id="24" name="Rounded Rectangle 23"/>
          <p:cNvSpPr/>
          <p:nvPr/>
        </p:nvSpPr>
        <p:spPr>
          <a:xfrm>
            <a:off x="6217920" y="4526280"/>
            <a:ext cx="2331720" cy="1143000"/>
          </a:xfrm>
          <a:prstGeom prst="roundRect">
            <a:avLst>
              <a:gd name="adj" fmla="val 10000"/>
            </a:avLst>
          </a:prstGeom>
          <a:solidFill>
            <a:srgbClr val="FFFFFF"/>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4617720"/>
            <a:ext cx="2148840" cy="960120"/>
          </a:xfrm>
          <a:prstGeom prst="rect">
            <a:avLst/>
          </a:prstGeom>
          <a:noFill/>
        </p:spPr>
        <p:txBody>
          <a:bodyPr wrap="square" lIns="0" rIns="0" tIns="0" bIns="0" anchor="ctr">
            <a:spAutoFit/>
          </a:bodyPr>
          <a:lstStyle/>
          <a:p>
            <a:pPr algn="ctr">
              <a:lnSpc>
                <a:spcPct val="130000"/>
              </a:lnSpc>
            </a:pPr>
            <a:r>
              <a:rPr sz="1100" b="0" i="0">
                <a:solidFill>
                  <a:srgbClr val="21295C"/>
                </a:solidFill>
                <a:latin typeface="Arial"/>
              </a:rPr>
              <a:t>AI меняет параметры в безопасной зоне без согласия на каждое</a:t>
            </a:r>
          </a:p>
        </p:txBody>
      </p:sp>
      <p:sp>
        <p:nvSpPr>
          <p:cNvPr id="26" name="Rounded Rectangle 25"/>
          <p:cNvSpPr/>
          <p:nvPr/>
        </p:nvSpPr>
        <p:spPr>
          <a:xfrm>
            <a:off x="8823960" y="1783080"/>
            <a:ext cx="2697480" cy="402336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23960" y="1783080"/>
            <a:ext cx="269748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15400" y="1828800"/>
            <a:ext cx="2514600" cy="59436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A3</a:t>
            </a:r>
          </a:p>
        </p:txBody>
      </p:sp>
      <p:sp>
        <p:nvSpPr>
          <p:cNvPr id="29" name="TextBox 28"/>
          <p:cNvSpPr txBox="1"/>
          <p:nvPr/>
        </p:nvSpPr>
        <p:spPr>
          <a:xfrm>
            <a:off x="8915400" y="2560320"/>
            <a:ext cx="2514600" cy="502920"/>
          </a:xfrm>
          <a:prstGeom prst="rect">
            <a:avLst/>
          </a:prstGeom>
          <a:noFill/>
        </p:spPr>
        <p:txBody>
          <a:bodyPr wrap="square" lIns="0" rIns="0" tIns="0" bIns="0" anchor="t">
            <a:spAutoFit/>
          </a:bodyPr>
          <a:lstStyle/>
          <a:p>
            <a:pPr algn="ctr">
              <a:lnSpc>
                <a:spcPct val="115000"/>
              </a:lnSpc>
            </a:pPr>
            <a:r>
              <a:rPr sz="2000" b="1" i="0">
                <a:solidFill>
                  <a:srgbClr val="21295C"/>
                </a:solidFill>
                <a:latin typeface="Arial"/>
              </a:rPr>
              <a:t>Автономно</a:t>
            </a:r>
          </a:p>
        </p:txBody>
      </p:sp>
      <p:sp>
        <p:nvSpPr>
          <p:cNvPr id="30" name="TextBox 29"/>
          <p:cNvSpPr txBox="1"/>
          <p:nvPr/>
        </p:nvSpPr>
        <p:spPr>
          <a:xfrm>
            <a:off x="9006840" y="3200400"/>
            <a:ext cx="2331720" cy="1280160"/>
          </a:xfrm>
          <a:prstGeom prst="rect">
            <a:avLst/>
          </a:prstGeom>
          <a:noFill/>
        </p:spPr>
        <p:txBody>
          <a:bodyPr wrap="square" lIns="0" rIns="0" tIns="0" bIns="0" anchor="t">
            <a:spAutoFit/>
          </a:bodyPr>
          <a:lstStyle/>
          <a:p>
            <a:pPr algn="ctr">
              <a:lnSpc>
                <a:spcPct val="135000"/>
              </a:lnSpc>
            </a:pPr>
            <a:r>
              <a:rPr sz="1200" b="0" i="1">
                <a:solidFill>
                  <a:srgbClr val="065A82"/>
                </a:solidFill>
                <a:latin typeface="Arial"/>
              </a:rPr>
              <a:t>Toyota Digit · BMW Leipzig humanoid (единицы)</a:t>
            </a:r>
          </a:p>
        </p:txBody>
      </p:sp>
      <p:sp>
        <p:nvSpPr>
          <p:cNvPr id="31" name="Rounded Rectangle 30"/>
          <p:cNvSpPr/>
          <p:nvPr/>
        </p:nvSpPr>
        <p:spPr>
          <a:xfrm>
            <a:off x="9006840" y="4526280"/>
            <a:ext cx="2331720" cy="1143000"/>
          </a:xfrm>
          <a:prstGeom prst="roundRect">
            <a:avLst>
              <a:gd name="adj" fmla="val 10000"/>
            </a:avLst>
          </a:prstGeom>
          <a:solidFill>
            <a:srgbClr val="FFFFFF"/>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98280" y="4617720"/>
            <a:ext cx="2148840" cy="960120"/>
          </a:xfrm>
          <a:prstGeom prst="rect">
            <a:avLst/>
          </a:prstGeom>
          <a:noFill/>
        </p:spPr>
        <p:txBody>
          <a:bodyPr wrap="square" lIns="0" rIns="0" tIns="0" bIns="0" anchor="ctr">
            <a:spAutoFit/>
          </a:bodyPr>
          <a:lstStyle/>
          <a:p>
            <a:pPr algn="ctr">
              <a:lnSpc>
                <a:spcPct val="130000"/>
              </a:lnSpc>
            </a:pPr>
            <a:r>
              <a:rPr sz="1100" b="0" i="0">
                <a:solidFill>
                  <a:srgbClr val="21295C"/>
                </a:solidFill>
                <a:latin typeface="Arial"/>
              </a:rPr>
              <a:t>AI принимает решения без человека, c защитными ограничениями</a:t>
            </a:r>
          </a:p>
        </p:txBody>
      </p:sp>
      <p:sp>
        <p:nvSpPr>
          <p:cNvPr id="33" name="Rounded Rectangle 32"/>
          <p:cNvSpPr/>
          <p:nvPr/>
        </p:nvSpPr>
        <p:spPr>
          <a:xfrm>
            <a:off x="5806440" y="3657600"/>
            <a:ext cx="731520" cy="640080"/>
          </a:xfrm>
          <a:prstGeom prst="roundRect">
            <a:avLst>
              <a:gd name="adj" fmla="val 10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06440" y="3657600"/>
            <a:ext cx="731520" cy="64008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DT</a:t>
            </a:r>
          </a:p>
        </p:txBody>
      </p:sp>
      <p:sp>
        <p:nvSpPr>
          <p:cNvPr id="35" name="Right Arrow 34"/>
          <p:cNvSpPr/>
          <p:nvPr/>
        </p:nvSpPr>
        <p:spPr>
          <a:xfrm>
            <a:off x="5623560" y="3886200"/>
            <a:ext cx="164592" cy="18288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Arrow 35"/>
          <p:cNvSpPr/>
          <p:nvPr/>
        </p:nvSpPr>
        <p:spPr>
          <a:xfrm>
            <a:off x="6565392" y="3886200"/>
            <a:ext cx="164592" cy="18288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49240" y="4389120"/>
            <a:ext cx="1645920" cy="274320"/>
          </a:xfrm>
          <a:prstGeom prst="rect">
            <a:avLst/>
          </a:prstGeom>
          <a:noFill/>
        </p:spPr>
        <p:txBody>
          <a:bodyPr wrap="square" lIns="0" rIns="0" tIns="0" bIns="0" anchor="t">
            <a:spAutoFit/>
          </a:bodyPr>
          <a:lstStyle/>
          <a:p>
            <a:pPr algn="ctr">
              <a:lnSpc>
                <a:spcPct val="110000"/>
              </a:lnSpc>
            </a:pPr>
            <a:r>
              <a:rPr sz="1000" b="1" i="1">
                <a:solidFill>
                  <a:srgbClr val="F0AB00"/>
                </a:solidFill>
                <a:latin typeface="Arial"/>
              </a:rPr>
              <a:t>двойник =
мост</a:t>
            </a:r>
          </a:p>
        </p:txBody>
      </p:sp>
      <p:sp>
        <p:nvSpPr>
          <p:cNvPr id="38" name="Rounded Rectangle 37"/>
          <p:cNvSpPr/>
          <p:nvPr/>
        </p:nvSpPr>
        <p:spPr>
          <a:xfrm>
            <a:off x="457200" y="5897880"/>
            <a:ext cx="11274552" cy="5486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943600"/>
            <a:ext cx="10972800" cy="50292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Цифровой двойник — мост между A1 и A2 · A3 в 2026 — единицы кейсов, основная масса A0–A2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1. Двойник 2026</a:t>
            </a:r>
          </a:p>
        </p:txBody>
      </p:sp>
      <p:sp>
        <p:nvSpPr>
          <p:cNvPr id="4" name="Rectangle 3"/>
          <p:cNvSpPr/>
          <p:nvPr/>
        </p:nvSpPr>
        <p:spPr>
          <a:xfrm>
            <a:off x="186651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2. A0 Наблюдать</a:t>
            </a:r>
          </a:p>
        </p:txBody>
      </p:sp>
      <p:sp>
        <p:nvSpPr>
          <p:cNvPr id="6" name="Rectangle 5"/>
          <p:cNvSpPr/>
          <p:nvPr/>
        </p:nvSpPr>
        <p:spPr>
          <a:xfrm>
            <a:off x="327583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3. A1 Советовать</a:t>
            </a:r>
          </a:p>
        </p:txBody>
      </p:sp>
      <p:sp>
        <p:nvSpPr>
          <p:cNvPr id="8" name="Rectangle 7"/>
          <p:cNvSpPr/>
          <p:nvPr/>
        </p:nvSpPr>
        <p:spPr>
          <a:xfrm>
            <a:off x="4685157"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4. A2 Замыкать</a:t>
            </a:r>
          </a:p>
        </p:txBody>
      </p:sp>
      <p:sp>
        <p:nvSpPr>
          <p:cNvPr id="10" name="Rectangle 9"/>
          <p:cNvSpPr/>
          <p:nvPr/>
        </p:nvSpPr>
        <p:spPr>
          <a:xfrm>
            <a:off x="6094476"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5. A3 Автоном.</a:t>
            </a:r>
          </a:p>
        </p:txBody>
      </p:sp>
      <p:sp>
        <p:nvSpPr>
          <p:cNvPr id="12" name="Rectangle 11"/>
          <p:cNvSpPr/>
          <p:nvPr/>
        </p:nvSpPr>
        <p:spPr>
          <a:xfrm>
            <a:off x="7503795"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6. Где НЕ AI</a:t>
            </a:r>
          </a:p>
        </p:txBody>
      </p:sp>
      <p:sp>
        <p:nvSpPr>
          <p:cNvPr id="14" name="Rectangle 13"/>
          <p:cNvSpPr/>
          <p:nvPr/>
        </p:nvSpPr>
        <p:spPr>
          <a:xfrm>
            <a:off x="8913114"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7. OT/IT</a:t>
            </a:r>
          </a:p>
        </p:txBody>
      </p:sp>
      <p:sp>
        <p:nvSpPr>
          <p:cNvPr id="16" name="Rectangle 15"/>
          <p:cNvSpPr/>
          <p:nvPr/>
        </p:nvSpPr>
        <p:spPr>
          <a:xfrm>
            <a:off x="10322433"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8. РФ + Закр.</a:t>
            </a:r>
          </a:p>
        </p:txBody>
      </p:sp>
      <p:sp>
        <p:nvSpPr>
          <p:cNvPr id="18" name="TextBox 17"/>
          <p:cNvSpPr txBox="1"/>
          <p:nvPr/>
        </p:nvSpPr>
        <p:spPr>
          <a:xfrm>
            <a:off x="457200" y="1097280"/>
            <a:ext cx="5486400" cy="5029200"/>
          </a:xfrm>
          <a:prstGeom prst="rect">
            <a:avLst/>
          </a:prstGeom>
          <a:noFill/>
        </p:spPr>
        <p:txBody>
          <a:bodyPr wrap="square" lIns="0" rIns="0" tIns="0" bIns="0" anchor="ctr">
            <a:spAutoFit/>
          </a:bodyPr>
          <a:lstStyle/>
          <a:p>
            <a:pPr algn="ctr">
              <a:lnSpc>
                <a:spcPct val="115000"/>
              </a:lnSpc>
            </a:pPr>
            <a:r>
              <a:rPr sz="38000" b="1" i="0">
                <a:solidFill>
                  <a:srgbClr val="D9E2EC"/>
                </a:solidFill>
                <a:latin typeface="Arial"/>
              </a:rPr>
              <a:t>1</a:t>
            </a:r>
          </a:p>
        </p:txBody>
      </p:sp>
      <p:sp>
        <p:nvSpPr>
          <p:cNvPr id="19" name="TextBox 18"/>
          <p:cNvSpPr txBox="1"/>
          <p:nvPr/>
        </p:nvSpPr>
        <p:spPr>
          <a:xfrm>
            <a:off x="5029200" y="2194560"/>
            <a:ext cx="6858000" cy="36576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600" b="1" i="0">
                <a:solidFill>
                  <a:srgbClr val="21295C"/>
                </a:solidFill>
                <a:latin typeface="Arial"/>
              </a:rPr>
              <a:t>Что такое цифровой двойник в 2026</a:t>
            </a:r>
          </a:p>
          <a:p>
            <a:pPr algn="l">
              <a:lnSpc>
                <a:spcPct val="115000"/>
              </a:lnSpc>
            </a:pPr>
            <a:r>
              <a:rPr sz="800" b="0" i="0">
                <a:solidFill>
                  <a:srgbClr val="21295C"/>
                </a:solidFill>
                <a:latin typeface="Arial"/>
              </a:rPr>
              <a:t/>
            </a:r>
          </a:p>
          <a:p>
            <a:pPr algn="l">
              <a:lnSpc>
                <a:spcPct val="115000"/>
              </a:lnSpc>
            </a:pPr>
            <a:r>
              <a:rPr sz="1500" b="0" i="0">
                <a:solidFill>
                  <a:srgbClr val="065A82"/>
                </a:solidFill>
                <a:latin typeface="Arial"/>
              </a:rPr>
              <a:t>Kritzinger taxonomy · ГОСТ Р 57700.37 · рынок $36→$180B · провал 75%</a:t>
            </a:r>
          </a:p>
          <a:p>
            <a:pPr algn="l">
              <a:lnSpc>
                <a:spcPct val="115000"/>
              </a:lnSpc>
            </a:pPr>
            <a:r>
              <a:rPr sz="600" b="0" i="0">
                <a:solidFill>
                  <a:srgbClr val="21295C"/>
                </a:solidFill>
                <a:latin typeface="Arial"/>
              </a:rPr>
              <a:t/>
            </a:r>
          </a:p>
          <a:p>
            <a:pPr algn="l">
              <a:lnSpc>
                <a:spcPct val="115000"/>
              </a:lnSpc>
            </a:pPr>
            <a:r>
              <a:rPr sz="1200" b="0" i="1">
                <a:solidFill>
                  <a:srgbClr val="F0AB00"/>
                </a:solidFill>
                <a:latin typeface="Arial"/>
              </a:rPr>
              <a:t>Раздел 1 · от определения к рыночной картине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Цифровой двойник — двусторонняя петля, а не CAD-картинка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Таксономия Kritzinger 2018 + ГОСТ Р 57700.37-2021 — два эталонных определения</a:t>
            </a:r>
          </a:p>
        </p:txBody>
      </p:sp>
      <p:sp>
        <p:nvSpPr>
          <p:cNvPr id="4" name="Rounded Rectangle 3"/>
          <p:cNvSpPr/>
          <p:nvPr/>
        </p:nvSpPr>
        <p:spPr>
          <a:xfrm>
            <a:off x="457200" y="1600200"/>
            <a:ext cx="3657600" cy="402336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3657600" cy="7772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73352"/>
            <a:ext cx="3474720" cy="411480"/>
          </a:xfrm>
          <a:prstGeom prst="rect">
            <a:avLst/>
          </a:prstGeom>
          <a:noFill/>
        </p:spPr>
        <p:txBody>
          <a:bodyPr wrap="square" lIns="0" rIns="0" tIns="0" bIns="0" anchor="t">
            <a:spAutoFit/>
          </a:bodyPr>
          <a:lstStyle/>
          <a:p>
            <a:pPr algn="ctr">
              <a:lnSpc>
                <a:spcPct val="115000"/>
              </a:lnSpc>
            </a:pPr>
            <a:r>
              <a:rPr sz="1800" b="1" i="0">
                <a:solidFill>
                  <a:srgbClr val="FFFFFF"/>
                </a:solidFill>
                <a:latin typeface="Arial"/>
              </a:rPr>
              <a:t>Цифровая модель</a:t>
            </a:r>
          </a:p>
        </p:txBody>
      </p:sp>
      <p:sp>
        <p:nvSpPr>
          <p:cNvPr id="7" name="TextBox 6"/>
          <p:cNvSpPr txBox="1"/>
          <p:nvPr/>
        </p:nvSpPr>
        <p:spPr>
          <a:xfrm>
            <a:off x="548640" y="2057400"/>
            <a:ext cx="3474720" cy="274320"/>
          </a:xfrm>
          <a:prstGeom prst="rect">
            <a:avLst/>
          </a:prstGeom>
          <a:noFill/>
        </p:spPr>
        <p:txBody>
          <a:bodyPr wrap="square" lIns="0" rIns="0" tIns="0" bIns="0" anchor="t">
            <a:spAutoFit/>
          </a:bodyPr>
          <a:lstStyle/>
          <a:p>
            <a:pPr algn="ctr">
              <a:lnSpc>
                <a:spcPct val="115000"/>
              </a:lnSpc>
            </a:pPr>
            <a:r>
              <a:rPr sz="1100" b="0" i="1">
                <a:solidFill>
                  <a:srgbClr val="FFFFFF"/>
                </a:solidFill>
                <a:latin typeface="Arial"/>
              </a:rPr>
              <a:t>(Digital Model)</a:t>
            </a:r>
          </a:p>
        </p:txBody>
      </p:sp>
      <p:sp>
        <p:nvSpPr>
          <p:cNvPr id="8" name="TextBox 7"/>
          <p:cNvSpPr txBox="1"/>
          <p:nvPr/>
        </p:nvSpPr>
        <p:spPr>
          <a:xfrm>
            <a:off x="640080" y="2514600"/>
            <a:ext cx="3291840" cy="301752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Поток данных:</a:t>
            </a:r>
          </a:p>
          <a:p>
            <a:pPr algn="l">
              <a:lnSpc>
                <a:spcPct val="130000"/>
              </a:lnSpc>
            </a:pPr>
            <a:r>
              <a:rPr sz="1200" b="0" i="0">
                <a:solidFill>
                  <a:srgbClr val="21295C"/>
                </a:solidFill>
                <a:latin typeface="Arial"/>
              </a:rPr>
              <a:t>Нет потока данных от физического объекта</a:t>
            </a:r>
          </a:p>
          <a:p>
            <a:pPr algn="l">
              <a:lnSpc>
                <a:spcPct val="130000"/>
              </a:lnSpc>
            </a:pPr>
            <a:r>
              <a:rPr sz="600" b="0" i="0">
                <a:solidFill>
                  <a:srgbClr val="21295C"/>
                </a:solidFill>
                <a:latin typeface="Arial"/>
              </a:rPr>
              <a:t/>
            </a:r>
          </a:p>
          <a:p>
            <a:pPr algn="l">
              <a:lnSpc>
                <a:spcPct val="130000"/>
              </a:lnSpc>
            </a:pPr>
            <a:r>
              <a:rPr sz="1100" b="1" i="0">
                <a:solidFill>
                  <a:srgbClr val="1C7293"/>
                </a:solidFill>
                <a:latin typeface="Arial"/>
              </a:rPr>
              <a:t>Управляющее действие:</a:t>
            </a:r>
          </a:p>
          <a:p>
            <a:pPr algn="l">
              <a:lnSpc>
                <a:spcPct val="130000"/>
              </a:lnSpc>
            </a:pPr>
            <a:r>
              <a:rPr sz="1200" b="0" i="0">
                <a:solidFill>
                  <a:srgbClr val="21295C"/>
                </a:solidFill>
                <a:latin typeface="Arial"/>
              </a:rPr>
              <a:t>Нет управляющего действия назад</a:t>
            </a:r>
          </a:p>
          <a:p>
            <a:pPr algn="l">
              <a:lnSpc>
                <a:spcPct val="130000"/>
              </a:lnSpc>
            </a:pPr>
            <a:r>
              <a:rPr sz="600" b="0" i="0">
                <a:solidFill>
                  <a:srgbClr val="21295C"/>
                </a:solidFill>
                <a:latin typeface="Arial"/>
              </a:rPr>
              <a:t/>
            </a:r>
          </a:p>
          <a:p>
            <a:pPr algn="l">
              <a:lnSpc>
                <a:spcPct val="130000"/>
              </a:lnSpc>
            </a:pPr>
            <a:r>
              <a:rPr sz="1100" b="1" i="0">
                <a:solidFill>
                  <a:srgbClr val="1C7293"/>
                </a:solidFill>
                <a:latin typeface="Arial"/>
              </a:rPr>
              <a:t>Где встречается:</a:t>
            </a:r>
          </a:p>
          <a:p>
            <a:pPr algn="l">
              <a:lnSpc>
                <a:spcPct val="130000"/>
              </a:lnSpc>
            </a:pPr>
            <a:r>
              <a:rPr sz="1200" b="0" i="1">
                <a:solidFill>
                  <a:srgbClr val="065A82"/>
                </a:solidFill>
                <a:latin typeface="Arial"/>
              </a:rPr>
              <a:t>Пример: CAD-чертёж</a:t>
            </a:r>
          </a:p>
        </p:txBody>
      </p:sp>
      <p:sp>
        <p:nvSpPr>
          <p:cNvPr id="9" name="Rounded Rectangle 8"/>
          <p:cNvSpPr/>
          <p:nvPr/>
        </p:nvSpPr>
        <p:spPr>
          <a:xfrm>
            <a:off x="4233672" y="1600200"/>
            <a:ext cx="3657600" cy="402336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33672" y="1600200"/>
            <a:ext cx="3657600" cy="777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25112" y="1673352"/>
            <a:ext cx="3474720" cy="411480"/>
          </a:xfrm>
          <a:prstGeom prst="rect">
            <a:avLst/>
          </a:prstGeom>
          <a:noFill/>
        </p:spPr>
        <p:txBody>
          <a:bodyPr wrap="square" lIns="0" rIns="0" tIns="0" bIns="0" anchor="t">
            <a:spAutoFit/>
          </a:bodyPr>
          <a:lstStyle/>
          <a:p>
            <a:pPr algn="ctr">
              <a:lnSpc>
                <a:spcPct val="115000"/>
              </a:lnSpc>
            </a:pPr>
            <a:r>
              <a:rPr sz="1800" b="1" i="0">
                <a:solidFill>
                  <a:srgbClr val="FFFFFF"/>
                </a:solidFill>
                <a:latin typeface="Arial"/>
              </a:rPr>
              <a:t>Цифровая тень</a:t>
            </a:r>
          </a:p>
        </p:txBody>
      </p:sp>
      <p:sp>
        <p:nvSpPr>
          <p:cNvPr id="12" name="TextBox 11"/>
          <p:cNvSpPr txBox="1"/>
          <p:nvPr/>
        </p:nvSpPr>
        <p:spPr>
          <a:xfrm>
            <a:off x="4325112" y="2057400"/>
            <a:ext cx="3474720" cy="274320"/>
          </a:xfrm>
          <a:prstGeom prst="rect">
            <a:avLst/>
          </a:prstGeom>
          <a:noFill/>
        </p:spPr>
        <p:txBody>
          <a:bodyPr wrap="square" lIns="0" rIns="0" tIns="0" bIns="0" anchor="t">
            <a:spAutoFit/>
          </a:bodyPr>
          <a:lstStyle/>
          <a:p>
            <a:pPr algn="ctr">
              <a:lnSpc>
                <a:spcPct val="115000"/>
              </a:lnSpc>
            </a:pPr>
            <a:r>
              <a:rPr sz="1100" b="0" i="1">
                <a:solidFill>
                  <a:srgbClr val="FFFFFF"/>
                </a:solidFill>
                <a:latin typeface="Arial"/>
              </a:rPr>
              <a:t>(Digital Shadow)</a:t>
            </a:r>
          </a:p>
        </p:txBody>
      </p:sp>
      <p:sp>
        <p:nvSpPr>
          <p:cNvPr id="13" name="TextBox 12"/>
          <p:cNvSpPr txBox="1"/>
          <p:nvPr/>
        </p:nvSpPr>
        <p:spPr>
          <a:xfrm>
            <a:off x="4416552" y="2514600"/>
            <a:ext cx="3291840" cy="301752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Поток данных:</a:t>
            </a:r>
          </a:p>
          <a:p>
            <a:pPr algn="l">
              <a:lnSpc>
                <a:spcPct val="130000"/>
              </a:lnSpc>
            </a:pPr>
            <a:r>
              <a:rPr sz="1200" b="0" i="0">
                <a:solidFill>
                  <a:srgbClr val="21295C"/>
                </a:solidFill>
                <a:latin typeface="Arial"/>
              </a:rPr>
              <a:t>Поток физика → цифра</a:t>
            </a:r>
          </a:p>
          <a:p>
            <a:pPr algn="l">
              <a:lnSpc>
                <a:spcPct val="130000"/>
              </a:lnSpc>
            </a:pPr>
            <a:r>
              <a:rPr sz="600" b="0" i="0">
                <a:solidFill>
                  <a:srgbClr val="21295C"/>
                </a:solidFill>
                <a:latin typeface="Arial"/>
              </a:rPr>
              <a:t/>
            </a:r>
          </a:p>
          <a:p>
            <a:pPr algn="l">
              <a:lnSpc>
                <a:spcPct val="130000"/>
              </a:lnSpc>
            </a:pPr>
            <a:r>
              <a:rPr sz="1100" b="1" i="0">
                <a:solidFill>
                  <a:srgbClr val="1C7293"/>
                </a:solidFill>
                <a:latin typeface="Arial"/>
              </a:rPr>
              <a:t>Управляющее действие:</a:t>
            </a:r>
          </a:p>
          <a:p>
            <a:pPr algn="l">
              <a:lnSpc>
                <a:spcPct val="130000"/>
              </a:lnSpc>
            </a:pPr>
            <a:r>
              <a:rPr sz="1200" b="0" i="0">
                <a:solidFill>
                  <a:srgbClr val="21295C"/>
                </a:solidFill>
                <a:latin typeface="Arial"/>
              </a:rPr>
              <a:t>Нет управляющего действия назад</a:t>
            </a:r>
          </a:p>
          <a:p>
            <a:pPr algn="l">
              <a:lnSpc>
                <a:spcPct val="130000"/>
              </a:lnSpc>
            </a:pPr>
            <a:r>
              <a:rPr sz="600" b="0" i="0">
                <a:solidFill>
                  <a:srgbClr val="21295C"/>
                </a:solidFill>
                <a:latin typeface="Arial"/>
              </a:rPr>
              <a:t/>
            </a:r>
          </a:p>
          <a:p>
            <a:pPr algn="l">
              <a:lnSpc>
                <a:spcPct val="130000"/>
              </a:lnSpc>
            </a:pPr>
            <a:r>
              <a:rPr sz="1100" b="1" i="0">
                <a:solidFill>
                  <a:srgbClr val="1C7293"/>
                </a:solidFill>
                <a:latin typeface="Arial"/>
              </a:rPr>
              <a:t>Где встречается:</a:t>
            </a:r>
          </a:p>
          <a:p>
            <a:pPr algn="l">
              <a:lnSpc>
                <a:spcPct val="130000"/>
              </a:lnSpc>
            </a:pPr>
            <a:r>
              <a:rPr sz="1200" b="0" i="1">
                <a:solidFill>
                  <a:srgbClr val="065A82"/>
                </a:solidFill>
                <a:latin typeface="Arial"/>
              </a:rPr>
              <a:t>Пример: панель мониторинга</a:t>
            </a:r>
          </a:p>
        </p:txBody>
      </p:sp>
      <p:sp>
        <p:nvSpPr>
          <p:cNvPr id="14" name="Rounded Rectangle 13"/>
          <p:cNvSpPr/>
          <p:nvPr/>
        </p:nvSpPr>
        <p:spPr>
          <a:xfrm>
            <a:off x="8010144" y="1600200"/>
            <a:ext cx="3657600" cy="402336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10144" y="1600200"/>
            <a:ext cx="3657600" cy="7772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1583" y="1673352"/>
            <a:ext cx="3474720" cy="411480"/>
          </a:xfrm>
          <a:prstGeom prst="rect">
            <a:avLst/>
          </a:prstGeom>
          <a:noFill/>
        </p:spPr>
        <p:txBody>
          <a:bodyPr wrap="square" lIns="0" rIns="0" tIns="0" bIns="0" anchor="t">
            <a:spAutoFit/>
          </a:bodyPr>
          <a:lstStyle/>
          <a:p>
            <a:pPr algn="ctr">
              <a:lnSpc>
                <a:spcPct val="115000"/>
              </a:lnSpc>
            </a:pPr>
            <a:r>
              <a:rPr sz="1800" b="1" i="0">
                <a:solidFill>
                  <a:srgbClr val="FFFFFF"/>
                </a:solidFill>
                <a:latin typeface="Arial"/>
              </a:rPr>
              <a:t>Цифровой двойник</a:t>
            </a:r>
          </a:p>
        </p:txBody>
      </p:sp>
      <p:sp>
        <p:nvSpPr>
          <p:cNvPr id="17" name="TextBox 16"/>
          <p:cNvSpPr txBox="1"/>
          <p:nvPr/>
        </p:nvSpPr>
        <p:spPr>
          <a:xfrm>
            <a:off x="8101583" y="2057400"/>
            <a:ext cx="3474720" cy="274320"/>
          </a:xfrm>
          <a:prstGeom prst="rect">
            <a:avLst/>
          </a:prstGeom>
          <a:noFill/>
        </p:spPr>
        <p:txBody>
          <a:bodyPr wrap="square" lIns="0" rIns="0" tIns="0" bIns="0" anchor="t">
            <a:spAutoFit/>
          </a:bodyPr>
          <a:lstStyle/>
          <a:p>
            <a:pPr algn="ctr">
              <a:lnSpc>
                <a:spcPct val="115000"/>
              </a:lnSpc>
            </a:pPr>
            <a:r>
              <a:rPr sz="1100" b="0" i="1">
                <a:solidFill>
                  <a:srgbClr val="FFFFFF"/>
                </a:solidFill>
                <a:latin typeface="Arial"/>
              </a:rPr>
              <a:t>(Digital Twin)</a:t>
            </a:r>
          </a:p>
        </p:txBody>
      </p:sp>
      <p:sp>
        <p:nvSpPr>
          <p:cNvPr id="18" name="TextBox 17"/>
          <p:cNvSpPr txBox="1"/>
          <p:nvPr/>
        </p:nvSpPr>
        <p:spPr>
          <a:xfrm>
            <a:off x="8193023" y="2514600"/>
            <a:ext cx="3291840" cy="301752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Поток данных:</a:t>
            </a:r>
          </a:p>
          <a:p>
            <a:pPr algn="l">
              <a:lnSpc>
                <a:spcPct val="130000"/>
              </a:lnSpc>
            </a:pPr>
            <a:r>
              <a:rPr sz="1200" b="0" i="0">
                <a:solidFill>
                  <a:srgbClr val="21295C"/>
                </a:solidFill>
                <a:latin typeface="Arial"/>
              </a:rPr>
              <a:t>Двусторонняя петля физика ↔ цифра</a:t>
            </a:r>
          </a:p>
          <a:p>
            <a:pPr algn="l">
              <a:lnSpc>
                <a:spcPct val="130000"/>
              </a:lnSpc>
            </a:pPr>
            <a:r>
              <a:rPr sz="600" b="0" i="0">
                <a:solidFill>
                  <a:srgbClr val="21295C"/>
                </a:solidFill>
                <a:latin typeface="Arial"/>
              </a:rPr>
              <a:t/>
            </a:r>
          </a:p>
          <a:p>
            <a:pPr algn="l">
              <a:lnSpc>
                <a:spcPct val="130000"/>
              </a:lnSpc>
            </a:pPr>
            <a:r>
              <a:rPr sz="1100" b="1" i="0">
                <a:solidFill>
                  <a:srgbClr val="1C7293"/>
                </a:solidFill>
                <a:latin typeface="Arial"/>
              </a:rPr>
              <a:t>Управляющее действие:</a:t>
            </a:r>
          </a:p>
          <a:p>
            <a:pPr algn="l">
              <a:lnSpc>
                <a:spcPct val="130000"/>
              </a:lnSpc>
            </a:pPr>
            <a:r>
              <a:rPr sz="1200" b="0" i="0">
                <a:solidFill>
                  <a:srgbClr val="21295C"/>
                </a:solidFill>
                <a:latin typeface="Arial"/>
              </a:rPr>
              <a:t>Управляющее действие назад через симуляцию</a:t>
            </a:r>
          </a:p>
          <a:p>
            <a:pPr algn="l">
              <a:lnSpc>
                <a:spcPct val="130000"/>
              </a:lnSpc>
            </a:pPr>
            <a:r>
              <a:rPr sz="600" b="0" i="0">
                <a:solidFill>
                  <a:srgbClr val="21295C"/>
                </a:solidFill>
                <a:latin typeface="Arial"/>
              </a:rPr>
              <a:t/>
            </a:r>
          </a:p>
          <a:p>
            <a:pPr algn="l">
              <a:lnSpc>
                <a:spcPct val="130000"/>
              </a:lnSpc>
            </a:pPr>
            <a:r>
              <a:rPr sz="1100" b="1" i="0">
                <a:solidFill>
                  <a:srgbClr val="1C7293"/>
                </a:solidFill>
                <a:latin typeface="Arial"/>
              </a:rPr>
              <a:t>Где встречается:</a:t>
            </a:r>
          </a:p>
          <a:p>
            <a:pPr algn="l">
              <a:lnSpc>
                <a:spcPct val="130000"/>
              </a:lnSpc>
            </a:pPr>
            <a:r>
              <a:rPr sz="1200" b="0" i="1">
                <a:solidFill>
                  <a:srgbClr val="065A82"/>
                </a:solidFill>
                <a:latin typeface="Arial"/>
              </a:rPr>
              <a:t>Пример: Siemens Digital Twin Composer 2026</a:t>
            </a:r>
          </a:p>
        </p:txBody>
      </p:sp>
      <p:sp>
        <p:nvSpPr>
          <p:cNvPr id="19" name="Rounded Rectangle 18"/>
          <p:cNvSpPr/>
          <p:nvPr/>
        </p:nvSpPr>
        <p:spPr>
          <a:xfrm>
            <a:off x="457200" y="5760720"/>
            <a:ext cx="11274552" cy="6858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852160"/>
            <a:ext cx="10972800" cy="548640"/>
          </a:xfrm>
          <a:prstGeom prst="rect">
            <a:avLst/>
          </a:prstGeom>
          <a:noFill/>
        </p:spPr>
        <p:txBody>
          <a:bodyPr wrap="square" lIns="0" rIns="0" tIns="0" bIns="0" anchor="ctr">
            <a:spAutoFit/>
          </a:bodyPr>
          <a:lstStyle/>
          <a:p>
            <a:pPr algn="ctr">
              <a:lnSpc>
                <a:spcPct val="125000"/>
              </a:lnSpc>
            </a:pPr>
            <a:r>
              <a:rPr sz="1200" b="1" i="0">
                <a:solidFill>
                  <a:srgbClr val="21295C"/>
                </a:solidFill>
                <a:latin typeface="Arial"/>
              </a:rPr>
              <a:t>ГОСТ Р 57700.37-2021 «Цифровые двойники изделий. Общие положения» — формальная регуляторная база РФ; синхронизирует таксономию Kritzinger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Цифровой двойник требует четырёх слоёв одновременно</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Без любого из слоёв — это НЕ двойник, а только цифровая модель или тень</a:t>
            </a:r>
          </a:p>
        </p:txBody>
      </p:sp>
      <p:pic>
        <p:nvPicPr>
          <p:cNvPr id="4" name="Picture 3" descr="s07-siemens-amberg.jpg"/>
          <p:cNvPicPr>
            <a:picLocks noChangeAspect="1"/>
          </p:cNvPicPr>
          <p:nvPr/>
        </p:nvPicPr>
        <p:blipFill>
          <a:blip r:embed="rId2"/>
          <a:stretch>
            <a:fillRect/>
          </a:stretch>
        </p:blipFill>
        <p:spPr>
          <a:xfrm>
            <a:off x="457200" y="1645920"/>
            <a:ext cx="3291840" cy="4572000"/>
          </a:xfrm>
          <a:prstGeom prst="rect">
            <a:avLst/>
          </a:prstGeom>
        </p:spPr>
      </p:pic>
      <p:sp>
        <p:nvSpPr>
          <p:cNvPr id="5" name="TextBox 4"/>
          <p:cNvSpPr txBox="1"/>
          <p:nvPr/>
        </p:nvSpPr>
        <p:spPr>
          <a:xfrm>
            <a:off x="457200" y="6263640"/>
            <a:ext cx="329184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Siemens HQ Munich · Wikimedia · CC-BY-SA</a:t>
            </a:r>
          </a:p>
        </p:txBody>
      </p:sp>
      <p:sp>
        <p:nvSpPr>
          <p:cNvPr id="6" name="Rounded Rectangle 5"/>
          <p:cNvSpPr/>
          <p:nvPr/>
        </p:nvSpPr>
        <p:spPr>
          <a:xfrm>
            <a:off x="4114800" y="1691640"/>
            <a:ext cx="7589520" cy="109728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0" y="1691640"/>
            <a:ext cx="457200" cy="10972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828800"/>
            <a:ext cx="6858000" cy="457200"/>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4. ИИ-потребители</a:t>
            </a:r>
          </a:p>
        </p:txBody>
      </p:sp>
      <p:sp>
        <p:nvSpPr>
          <p:cNvPr id="9" name="TextBox 8"/>
          <p:cNvSpPr txBox="1"/>
          <p:nvPr/>
        </p:nvSpPr>
        <p:spPr>
          <a:xfrm>
            <a:off x="4754880" y="2331720"/>
            <a:ext cx="6858000" cy="457200"/>
          </a:xfrm>
          <a:prstGeom prst="rect">
            <a:avLst/>
          </a:prstGeom>
          <a:noFill/>
        </p:spPr>
        <p:txBody>
          <a:bodyPr wrap="square" lIns="0" rIns="0" tIns="0" bIns="0" anchor="t">
            <a:spAutoFit/>
          </a:bodyPr>
          <a:lstStyle/>
          <a:p>
            <a:pPr algn="l">
              <a:lnSpc>
                <a:spcPct val="115000"/>
              </a:lnSpc>
            </a:pPr>
            <a:r>
              <a:rPr sz="1300" b="0" i="1">
                <a:solidFill>
                  <a:srgbClr val="4A556B"/>
                </a:solidFill>
                <a:latin typeface="Arial"/>
              </a:rPr>
              <a:t>Vision QC · оптимизатор · RL-агент · интерфейс оператора</a:t>
            </a:r>
          </a:p>
        </p:txBody>
      </p:sp>
      <p:sp>
        <p:nvSpPr>
          <p:cNvPr id="10" name="Rounded Rectangle 9"/>
          <p:cNvSpPr/>
          <p:nvPr/>
        </p:nvSpPr>
        <p:spPr>
          <a:xfrm>
            <a:off x="4114800" y="2880360"/>
            <a:ext cx="7589520" cy="109728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0" y="2880360"/>
            <a:ext cx="457200" cy="10972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017520"/>
            <a:ext cx="6858000" cy="457200"/>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3. Слой модели</a:t>
            </a:r>
          </a:p>
        </p:txBody>
      </p:sp>
      <p:sp>
        <p:nvSpPr>
          <p:cNvPr id="13" name="TextBox 12"/>
          <p:cNvSpPr txBox="1"/>
          <p:nvPr/>
        </p:nvSpPr>
        <p:spPr>
          <a:xfrm>
            <a:off x="4754880" y="3520440"/>
            <a:ext cx="6858000" cy="457200"/>
          </a:xfrm>
          <a:prstGeom prst="rect">
            <a:avLst/>
          </a:prstGeom>
          <a:noFill/>
        </p:spPr>
        <p:txBody>
          <a:bodyPr wrap="square" lIns="0" rIns="0" tIns="0" bIns="0" anchor="t">
            <a:spAutoFit/>
          </a:bodyPr>
          <a:lstStyle/>
          <a:p>
            <a:pPr algn="l">
              <a:lnSpc>
                <a:spcPct val="115000"/>
              </a:lnSpc>
            </a:pPr>
            <a:r>
              <a:rPr sz="1300" b="0" i="1">
                <a:solidFill>
                  <a:srgbClr val="4A556B"/>
                </a:solidFill>
                <a:latin typeface="Arial"/>
              </a:rPr>
              <a:t>Физика + ML · симулятор оборудования · прокрутка времени</a:t>
            </a:r>
          </a:p>
        </p:txBody>
      </p:sp>
      <p:sp>
        <p:nvSpPr>
          <p:cNvPr id="14" name="Rounded Rectangle 13"/>
          <p:cNvSpPr/>
          <p:nvPr/>
        </p:nvSpPr>
        <p:spPr>
          <a:xfrm>
            <a:off x="4114800" y="4069080"/>
            <a:ext cx="7589520" cy="109728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0" y="4069080"/>
            <a:ext cx="45720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4206240"/>
            <a:ext cx="6858000" cy="457200"/>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2. Слой датчиков</a:t>
            </a:r>
          </a:p>
        </p:txBody>
      </p:sp>
      <p:sp>
        <p:nvSpPr>
          <p:cNvPr id="17" name="TextBox 16"/>
          <p:cNvSpPr txBox="1"/>
          <p:nvPr/>
        </p:nvSpPr>
        <p:spPr>
          <a:xfrm>
            <a:off x="4754880" y="4709160"/>
            <a:ext cx="6858000" cy="457200"/>
          </a:xfrm>
          <a:prstGeom prst="rect">
            <a:avLst/>
          </a:prstGeom>
          <a:noFill/>
        </p:spPr>
        <p:txBody>
          <a:bodyPr wrap="square" lIns="0" rIns="0" tIns="0" bIns="0" anchor="t">
            <a:spAutoFit/>
          </a:bodyPr>
          <a:lstStyle/>
          <a:p>
            <a:pPr algn="l">
              <a:lnSpc>
                <a:spcPct val="115000"/>
              </a:lnSpc>
            </a:pPr>
            <a:r>
              <a:rPr sz="1300" b="0" i="1">
                <a:solidFill>
                  <a:srgbClr val="4A556B"/>
                </a:solidFill>
                <a:latin typeface="Arial"/>
              </a:rPr>
              <a:t>OPC UA + MQTT · частота опроса ≥10× полосы управления</a:t>
            </a:r>
          </a:p>
        </p:txBody>
      </p:sp>
      <p:sp>
        <p:nvSpPr>
          <p:cNvPr id="18" name="Rounded Rectangle 17"/>
          <p:cNvSpPr/>
          <p:nvPr/>
        </p:nvSpPr>
        <p:spPr>
          <a:xfrm>
            <a:off x="4114800" y="5257800"/>
            <a:ext cx="7589520" cy="109728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0" y="5257800"/>
            <a:ext cx="457200" cy="10972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5394960"/>
            <a:ext cx="6858000" cy="457200"/>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1. Физический актив</a:t>
            </a:r>
          </a:p>
        </p:txBody>
      </p:sp>
      <p:sp>
        <p:nvSpPr>
          <p:cNvPr id="21" name="TextBox 20"/>
          <p:cNvSpPr txBox="1"/>
          <p:nvPr/>
        </p:nvSpPr>
        <p:spPr>
          <a:xfrm>
            <a:off x="4754880" y="5897880"/>
            <a:ext cx="6858000" cy="457200"/>
          </a:xfrm>
          <a:prstGeom prst="rect">
            <a:avLst/>
          </a:prstGeom>
          <a:noFill/>
        </p:spPr>
        <p:txBody>
          <a:bodyPr wrap="square" lIns="0" rIns="0" tIns="0" bIns="0" anchor="t">
            <a:spAutoFit/>
          </a:bodyPr>
          <a:lstStyle/>
          <a:p>
            <a:pPr algn="l">
              <a:lnSpc>
                <a:spcPct val="115000"/>
              </a:lnSpc>
            </a:pPr>
            <a:r>
              <a:rPr sz="1300" b="0" i="1">
                <a:solidFill>
                  <a:srgbClr val="4A556B"/>
                </a:solidFill>
                <a:latin typeface="Arial"/>
              </a:rPr>
              <a:t>Реактор · конвейер · линия · насос</a:t>
            </a:r>
          </a:p>
        </p:txBody>
      </p:sp>
      <p:sp>
        <p:nvSpPr>
          <p:cNvPr id="22" name="TextBox 21"/>
          <p:cNvSpPr txBox="1"/>
          <p:nvPr/>
        </p:nvSpPr>
        <p:spPr>
          <a:xfrm>
            <a:off x="3886200" y="2194560"/>
            <a:ext cx="274320" cy="4114800"/>
          </a:xfrm>
          <a:prstGeom prst="rect">
            <a:avLst/>
          </a:prstGeom>
          <a:noFill/>
        </p:spPr>
        <p:txBody>
          <a:bodyPr wrap="square" lIns="0" rIns="0" tIns="0" bIns="0" anchor="ctr">
            <a:spAutoFit/>
          </a:bodyPr>
          <a:lstStyle/>
          <a:p>
            <a:pPr algn="ctr">
              <a:lnSpc>
                <a:spcPct val="120000"/>
              </a:lnSpc>
            </a:pPr>
            <a:r>
              <a:rPr sz="1800" b="1" i="0">
                <a:solidFill>
                  <a:srgbClr val="F0AB00"/>
                </a:solidFill>
                <a:latin typeface="Arial"/>
              </a:rPr>
              <a:t>↑↓
↑↓
↑↓
↑↓</a:t>
            </a:r>
          </a:p>
        </p:txBody>
      </p:sp>
      <p:sp>
        <p:nvSpPr>
          <p:cNvPr id="23" name="TextBox 22"/>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Без двусторонней петли (стрелки между слоями) — это не двойник, а только тень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91440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Рынки растут на 35% в год — и одновременно 75% проектов проваливаются</a:t>
            </a:r>
          </a:p>
        </p:txBody>
      </p:sp>
      <p:sp>
        <p:nvSpPr>
          <p:cNvPr id="3" name="TextBox 2"/>
          <p:cNvSpPr txBox="1"/>
          <p:nvPr/>
        </p:nvSpPr>
        <p:spPr>
          <a:xfrm>
            <a:off x="457200" y="12801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Цифровые двойники $36→$180B · AI в производстве $155B · промышленный AI на OPC UA — уже $17B</a:t>
            </a:r>
          </a:p>
        </p:txBody>
      </p:sp>
      <p:sp>
        <p:nvSpPr>
          <p:cNvPr id="4" name="Rounded Rectangle 3"/>
          <p:cNvSpPr/>
          <p:nvPr/>
        </p:nvSpPr>
        <p:spPr>
          <a:xfrm>
            <a:off x="457200" y="1554480"/>
            <a:ext cx="731520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8-market.png"/>
          <p:cNvPicPr>
            <a:picLocks noChangeAspect="1"/>
          </p:cNvPicPr>
          <p:nvPr/>
        </p:nvPicPr>
        <p:blipFill>
          <a:blip r:embed="rId2"/>
          <a:stretch>
            <a:fillRect/>
          </a:stretch>
        </p:blipFill>
        <p:spPr>
          <a:xfrm>
            <a:off x="640080" y="1691640"/>
            <a:ext cx="6949440" cy="4297680"/>
          </a:xfrm>
          <a:prstGeom prst="rect">
            <a:avLst/>
          </a:prstGeom>
        </p:spPr>
      </p:pic>
      <p:sp>
        <p:nvSpPr>
          <p:cNvPr id="6" name="Rounded Rectangle 5"/>
          <p:cNvSpPr/>
          <p:nvPr/>
        </p:nvSpPr>
        <p:spPr>
          <a:xfrm>
            <a:off x="7955279" y="1554480"/>
            <a:ext cx="3749039"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1691640"/>
            <a:ext cx="3383280" cy="4389120"/>
          </a:xfrm>
          <a:prstGeom prst="rect">
            <a:avLst/>
          </a:prstGeom>
          <a:noFill/>
        </p:spPr>
        <p:txBody>
          <a:bodyPr wrap="square" lIns="0" rIns="0" tIns="0" bIns="0" anchor="t">
            <a:spAutoFit/>
          </a:bodyPr>
          <a:lstStyle/>
          <a:p>
            <a:pPr algn="ctr">
              <a:lnSpc>
                <a:spcPct val="120000"/>
              </a:lnSpc>
            </a:pPr>
            <a:r>
              <a:rPr sz="1200" b="1" i="0">
                <a:solidFill>
                  <a:srgbClr val="F0AB00"/>
                </a:solidFill>
                <a:latin typeface="Arial"/>
              </a:rPr>
              <a:t>ПАРАЛЛЕЛЬНО:</a:t>
            </a:r>
          </a:p>
          <a:p>
            <a:pPr algn="l">
              <a:lnSpc>
                <a:spcPct val="120000"/>
              </a:lnSpc>
            </a:pPr>
            <a:r>
              <a:rPr sz="600" b="0" i="0">
                <a:solidFill>
                  <a:srgbClr val="21295C"/>
                </a:solidFill>
                <a:latin typeface="Arial"/>
              </a:rPr>
              <a:t/>
            </a:r>
          </a:p>
          <a:p>
            <a:pPr algn="ctr">
              <a:lnSpc>
                <a:spcPct val="120000"/>
              </a:lnSpc>
            </a:pPr>
            <a:r>
              <a:rPr sz="4800" b="1" i="0">
                <a:solidFill>
                  <a:srgbClr val="F0AB00"/>
                </a:solidFill>
                <a:latin typeface="Arial"/>
              </a:rPr>
              <a:t>75%</a:t>
            </a:r>
          </a:p>
          <a:p>
            <a:pPr algn="ctr">
              <a:lnSpc>
                <a:spcPct val="120000"/>
              </a:lnSpc>
            </a:pPr>
            <a:r>
              <a:rPr sz="1200" b="0" i="0">
                <a:solidFill>
                  <a:srgbClr val="21295C"/>
                </a:solidFill>
                <a:latin typeface="Arial"/>
              </a:rPr>
              <a:t>проектов двойников не дают окупаемости</a:t>
            </a:r>
          </a:p>
          <a:p>
            <a:pPr algn="l">
              <a:lnSpc>
                <a:spcPct val="120000"/>
              </a:lnSpc>
            </a:pPr>
            <a:r>
              <a:rPr sz="1000" b="0" i="0">
                <a:solidFill>
                  <a:srgbClr val="21295C"/>
                </a:solidFill>
                <a:latin typeface="Arial"/>
              </a:rPr>
              <a:t/>
            </a:r>
          </a:p>
          <a:p>
            <a:pPr algn="ctr">
              <a:lnSpc>
                <a:spcPct val="120000"/>
              </a:lnSpc>
            </a:pPr>
            <a:r>
              <a:rPr sz="3000" b="1" i="0">
                <a:solidFill>
                  <a:srgbClr val="065A82"/>
                </a:solidFill>
                <a:latin typeface="Arial"/>
              </a:rPr>
              <a:t>11%</a:t>
            </a:r>
          </a:p>
          <a:p>
            <a:pPr algn="ctr">
              <a:lnSpc>
                <a:spcPct val="120000"/>
              </a:lnSpc>
            </a:pPr>
            <a:r>
              <a:rPr sz="1100" b="0" i="0">
                <a:solidFill>
                  <a:srgbClr val="21295C"/>
                </a:solidFill>
                <a:latin typeface="Arial"/>
              </a:rPr>
              <a:t>в нефтегазе дают ожидаемый эффект</a:t>
            </a:r>
          </a:p>
          <a:p>
            <a:pPr algn="l">
              <a:lnSpc>
                <a:spcPct val="120000"/>
              </a:lnSpc>
            </a:pPr>
            <a:r>
              <a:rPr sz="800" b="0" i="0">
                <a:solidFill>
                  <a:srgbClr val="21295C"/>
                </a:solidFill>
                <a:latin typeface="Arial"/>
              </a:rPr>
              <a:t/>
            </a:r>
          </a:p>
          <a:p>
            <a:pPr algn="ctr">
              <a:lnSpc>
                <a:spcPct val="120000"/>
              </a:lnSpc>
            </a:pPr>
            <a:r>
              <a:rPr sz="3000" b="1" i="0">
                <a:solidFill>
                  <a:srgbClr val="028090"/>
                </a:solidFill>
                <a:latin typeface="Arial"/>
              </a:rPr>
              <a:t>14%</a:t>
            </a:r>
          </a:p>
          <a:p>
            <a:pPr algn="ctr">
              <a:lnSpc>
                <a:spcPct val="120000"/>
              </a:lnSpc>
            </a:pPr>
            <a:r>
              <a:rPr sz="1100" b="0" i="0">
                <a:solidFill>
                  <a:srgbClr val="21295C"/>
                </a:solidFill>
                <a:latin typeface="Arial"/>
              </a:rPr>
              <a:t>пользователей: технология соответствует ожиданиям</a:t>
            </a:r>
          </a:p>
        </p:txBody>
      </p:sp>
      <p:sp>
        <p:nvSpPr>
          <p:cNvPr id="8" name="TextBox 7"/>
          <p:cNvSpPr txBox="1"/>
          <p:nvPr/>
        </p:nvSpPr>
        <p:spPr>
          <a:xfrm>
            <a:off x="457200" y="626364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PatSnap / StartUs / Standard Bots / TheElec / EY / Build in Digital [41] 2024–2025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Цифровой двойник морского порта (анонимный кейс): $12 млн, 18 месяцев, списан 2024</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Двойник морского порта — 3D-визуализация без слоя данных = музей, а не двойник</a:t>
            </a:r>
          </a:p>
        </p:txBody>
      </p:sp>
      <p:pic>
        <p:nvPicPr>
          <p:cNvPr id="4" name="Picture 3" descr="s09-container-port.jpg"/>
          <p:cNvPicPr>
            <a:picLocks noChangeAspect="1"/>
          </p:cNvPicPr>
          <p:nvPr/>
        </p:nvPicPr>
        <p:blipFill>
          <a:blip r:embed="rId2"/>
          <a:stretch>
            <a:fillRect/>
          </a:stretch>
        </p:blipFill>
        <p:spPr>
          <a:xfrm>
            <a:off x="457200" y="1600200"/>
            <a:ext cx="6400800" cy="4572000"/>
          </a:xfrm>
          <a:prstGeom prst="rect">
            <a:avLst/>
          </a:prstGeom>
        </p:spPr>
      </p:pic>
      <p:sp>
        <p:nvSpPr>
          <p:cNvPr id="5" name="TextBox 4"/>
          <p:cNvSpPr txBox="1"/>
          <p:nvPr/>
        </p:nvSpPr>
        <p:spPr>
          <a:xfrm>
            <a:off x="457200" y="6217920"/>
            <a:ext cx="64008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Контейнерный порт Сингапура · Tanjong Pagar Terminal · Wikimedia · CC-BY-SA</a:t>
            </a:r>
          </a:p>
        </p:txBody>
      </p:sp>
      <p:sp>
        <p:nvSpPr>
          <p:cNvPr id="6" name="Rounded Rectangle 5"/>
          <p:cNvSpPr/>
          <p:nvPr/>
        </p:nvSpPr>
        <p:spPr>
          <a:xfrm>
            <a:off x="7040880" y="1600200"/>
            <a:ext cx="4663440" cy="457200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40880" y="1600200"/>
            <a:ext cx="466344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645920"/>
            <a:ext cx="4663440" cy="59436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ПРОВАЛ</a:t>
            </a:r>
          </a:p>
        </p:txBody>
      </p:sp>
      <p:sp>
        <p:nvSpPr>
          <p:cNvPr id="9" name="TextBox 8"/>
          <p:cNvSpPr txBox="1"/>
          <p:nvPr/>
        </p:nvSpPr>
        <p:spPr>
          <a:xfrm>
            <a:off x="7223760" y="2377440"/>
            <a:ext cx="4297680" cy="3657600"/>
          </a:xfrm>
          <a:prstGeom prst="rect">
            <a:avLst/>
          </a:prstGeom>
          <a:noFill/>
        </p:spPr>
        <p:txBody>
          <a:bodyPr wrap="square" lIns="0" rIns="0" tIns="0" bIns="0" anchor="t">
            <a:spAutoFit/>
          </a:bodyPr>
          <a:lstStyle/>
          <a:p>
            <a:pPr algn="l">
              <a:lnSpc>
                <a:spcPct val="130000"/>
              </a:lnSpc>
            </a:pPr>
            <a:r>
              <a:rPr sz="1200" b="1" i="0">
                <a:solidFill>
                  <a:srgbClr val="065A82"/>
                </a:solidFill>
                <a:latin typeface="Arial"/>
              </a:rPr>
              <a:t>Цифры:</a:t>
            </a:r>
          </a:p>
          <a:p>
            <a:pPr algn="l">
              <a:lnSpc>
                <a:spcPct val="130000"/>
              </a:lnSpc>
            </a:pPr>
            <a:r>
              <a:rPr sz="1200" b="0" i="0">
                <a:solidFill>
                  <a:srgbClr val="21295C"/>
                </a:solidFill>
                <a:latin typeface="Arial"/>
              </a:rPr>
              <a:t>· $12 миллионов — бюджет</a:t>
            </a:r>
          </a:p>
          <a:p>
            <a:pPr algn="l">
              <a:lnSpc>
                <a:spcPct val="130000"/>
              </a:lnSpc>
            </a:pPr>
            <a:r>
              <a:rPr sz="1200" b="0" i="0">
                <a:solidFill>
                  <a:srgbClr val="21295C"/>
                </a:solidFill>
                <a:latin typeface="Arial"/>
              </a:rPr>
              <a:t>· 18 месяцев — пилот</a:t>
            </a:r>
          </a:p>
          <a:p>
            <a:pPr algn="l">
              <a:lnSpc>
                <a:spcPct val="130000"/>
              </a:lnSpc>
            </a:pPr>
            <a:r>
              <a:rPr sz="1200" b="0" i="0">
                <a:solidFill>
                  <a:srgbClr val="21295C"/>
                </a:solidFill>
                <a:latin typeface="Arial"/>
              </a:rPr>
              <a:t>· 2024 — списан</a:t>
            </a:r>
          </a:p>
          <a:p>
            <a:pPr algn="l">
              <a:lnSpc>
                <a:spcPct val="130000"/>
              </a:lnSpc>
            </a:pPr>
            <a:r>
              <a:rPr sz="800" b="0" i="0">
                <a:solidFill>
                  <a:srgbClr val="21295C"/>
                </a:solidFill>
                <a:latin typeface="Arial"/>
              </a:rPr>
              <a:t/>
            </a:r>
          </a:p>
          <a:p>
            <a:pPr algn="l">
              <a:lnSpc>
                <a:spcPct val="130000"/>
              </a:lnSpc>
            </a:pPr>
            <a:r>
              <a:rPr sz="1200" b="1" i="0">
                <a:solidFill>
                  <a:srgbClr val="065A82"/>
                </a:solidFill>
                <a:latin typeface="Arial"/>
              </a:rPr>
              <a:t>Три корневые причины:</a:t>
            </a:r>
          </a:p>
          <a:p>
            <a:pPr algn="l">
              <a:lnSpc>
                <a:spcPct val="130000"/>
              </a:lnSpc>
            </a:pPr>
            <a:r>
              <a:rPr sz="1100" b="0" i="0">
                <a:solidFill>
                  <a:srgbClr val="21295C"/>
                </a:solidFill>
                <a:latin typeface="Arial"/>
              </a:rPr>
              <a:t>1. Фрагментированные данные из 5 источников без единой схемы</a:t>
            </a:r>
          </a:p>
          <a:p>
            <a:pPr algn="l">
              <a:lnSpc>
                <a:spcPct val="130000"/>
              </a:lnSpc>
            </a:pPr>
            <a:r>
              <a:rPr sz="1100" b="0" i="0">
                <a:solidFill>
                  <a:srgbClr val="21295C"/>
                </a:solidFill>
                <a:latin typeface="Arial"/>
              </a:rPr>
              <a:t>2. Чрезмерный акцент на 3D-визуализации вместо потока данных</a:t>
            </a:r>
          </a:p>
          <a:p>
            <a:pPr algn="l">
              <a:lnSpc>
                <a:spcPct val="130000"/>
              </a:lnSpc>
            </a:pPr>
            <a:r>
              <a:rPr sz="1100" b="0" i="0">
                <a:solidFill>
                  <a:srgbClr val="21295C"/>
                </a:solidFill>
                <a:latin typeface="Arial"/>
              </a:rPr>
              <a:t>3. Не определён чёткий сценарий — что именно двойник должен оптимизировать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Аудит слоя данных: 5 вопросов до пилота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Если хотя бы один ответ «нет» — пилот = деньги на ветер (урок анонимного порта 2024)</a:t>
            </a:r>
          </a:p>
        </p:txBody>
      </p:sp>
      <p:sp>
        <p:nvSpPr>
          <p:cNvPr id="4" name="Rounded Rectangle 3"/>
          <p:cNvSpPr/>
          <p:nvPr/>
        </p:nvSpPr>
        <p:spPr>
          <a:xfrm>
            <a:off x="457200" y="1645920"/>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783080"/>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1</a:t>
            </a:r>
          </a:p>
        </p:txBody>
      </p:sp>
      <p:sp>
        <p:nvSpPr>
          <p:cNvPr id="7" name="TextBox 6"/>
          <p:cNvSpPr txBox="1"/>
          <p:nvPr/>
        </p:nvSpPr>
        <p:spPr>
          <a:xfrm>
            <a:off x="1417320" y="1737360"/>
            <a:ext cx="969264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Доступ к историческим данным ≥1 год?</a:t>
            </a:r>
          </a:p>
        </p:txBody>
      </p:sp>
      <p:sp>
        <p:nvSpPr>
          <p:cNvPr id="8" name="TextBox 7"/>
          <p:cNvSpPr txBox="1"/>
          <p:nvPr/>
        </p:nvSpPr>
        <p:spPr>
          <a:xfrm>
            <a:off x="1417320" y="2148840"/>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Без этого машинное обучение не отличает сезонные сдвиги от долгосрочных трендов</a:t>
            </a:r>
          </a:p>
        </p:txBody>
      </p:sp>
      <p:sp>
        <p:nvSpPr>
          <p:cNvPr id="9" name="Rounded Rectangle 8"/>
          <p:cNvSpPr/>
          <p:nvPr/>
        </p:nvSpPr>
        <p:spPr>
          <a:xfrm>
            <a:off x="457200" y="2587752"/>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2724912"/>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24912"/>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2</a:t>
            </a:r>
          </a:p>
        </p:txBody>
      </p:sp>
      <p:sp>
        <p:nvSpPr>
          <p:cNvPr id="12" name="TextBox 11"/>
          <p:cNvSpPr txBox="1"/>
          <p:nvPr/>
        </p:nvSpPr>
        <p:spPr>
          <a:xfrm>
            <a:off x="1417320" y="2679192"/>
            <a:ext cx="969264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Частота опроса датчиков ≥10× выше полосы управления?</a:t>
            </a:r>
          </a:p>
        </p:txBody>
      </p:sp>
      <p:sp>
        <p:nvSpPr>
          <p:cNvPr id="13" name="TextBox 12"/>
          <p:cNvSpPr txBox="1"/>
          <p:nvPr/>
        </p:nvSpPr>
        <p:spPr>
          <a:xfrm>
            <a:off x="1417320" y="3090672"/>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По теореме Найквиста; для регулирования с шагом 1 мин нужны данные с 6-сек интервалом</a:t>
            </a:r>
          </a:p>
        </p:txBody>
      </p:sp>
      <p:sp>
        <p:nvSpPr>
          <p:cNvPr id="14" name="Rounded Rectangle 13"/>
          <p:cNvSpPr/>
          <p:nvPr/>
        </p:nvSpPr>
        <p:spPr>
          <a:xfrm>
            <a:off x="457200" y="3529584"/>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3666744"/>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66744"/>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3</a:t>
            </a:r>
          </a:p>
        </p:txBody>
      </p:sp>
      <p:sp>
        <p:nvSpPr>
          <p:cNvPr id="17" name="TextBox 16"/>
          <p:cNvSpPr txBox="1"/>
          <p:nvPr/>
        </p:nvSpPr>
        <p:spPr>
          <a:xfrm>
            <a:off x="1417320" y="3621024"/>
            <a:ext cx="969264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Происхождение разметки документировано?</a:t>
            </a:r>
          </a:p>
        </p:txBody>
      </p:sp>
      <p:sp>
        <p:nvSpPr>
          <p:cNvPr id="18" name="TextBox 17"/>
          <p:cNvSpPr txBox="1"/>
          <p:nvPr/>
        </p:nvSpPr>
        <p:spPr>
          <a:xfrm>
            <a:off x="1417320" y="4032504"/>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Кто, когда, по какому критерию ставил метку «дефект» / «норма» / «отказ»</a:t>
            </a:r>
          </a:p>
        </p:txBody>
      </p:sp>
      <p:sp>
        <p:nvSpPr>
          <p:cNvPr id="19" name="Rounded Rectangle 18"/>
          <p:cNvSpPr/>
          <p:nvPr/>
        </p:nvSpPr>
        <p:spPr>
          <a:xfrm>
            <a:off x="457200" y="4471416"/>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 y="4608576"/>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608576"/>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4</a:t>
            </a:r>
          </a:p>
        </p:txBody>
      </p:sp>
      <p:sp>
        <p:nvSpPr>
          <p:cNvPr id="22" name="TextBox 21"/>
          <p:cNvSpPr txBox="1"/>
          <p:nvPr/>
        </p:nvSpPr>
        <p:spPr>
          <a:xfrm>
            <a:off x="1417320" y="4562855"/>
            <a:ext cx="969264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Дрейф датчиков калибруется и журналируется?</a:t>
            </a:r>
          </a:p>
        </p:txBody>
      </p:sp>
      <p:sp>
        <p:nvSpPr>
          <p:cNvPr id="23" name="TextBox 22"/>
          <p:cNvSpPr txBox="1"/>
          <p:nvPr/>
        </p:nvSpPr>
        <p:spPr>
          <a:xfrm>
            <a:off x="1417320" y="4974336"/>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Без калибровки модель учится на дрейфующих данных и быстро деградирует</a:t>
            </a:r>
          </a:p>
        </p:txBody>
      </p:sp>
      <p:sp>
        <p:nvSpPr>
          <p:cNvPr id="24" name="Rounded Rectangle 23"/>
          <p:cNvSpPr/>
          <p:nvPr/>
        </p:nvSpPr>
        <p:spPr>
          <a:xfrm>
            <a:off x="457200" y="5413248"/>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080" y="5550408"/>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550408"/>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5</a:t>
            </a:r>
          </a:p>
        </p:txBody>
      </p:sp>
      <p:sp>
        <p:nvSpPr>
          <p:cNvPr id="27" name="TextBox 26"/>
          <p:cNvSpPr txBox="1"/>
          <p:nvPr/>
        </p:nvSpPr>
        <p:spPr>
          <a:xfrm>
            <a:off x="1417320" y="5504688"/>
            <a:ext cx="969264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Назначен ответственный за управление данными?</a:t>
            </a:r>
          </a:p>
        </p:txBody>
      </p:sp>
      <p:sp>
        <p:nvSpPr>
          <p:cNvPr id="28" name="TextBox 27"/>
          <p:cNvSpPr txBox="1"/>
          <p:nvPr/>
        </p:nvSpPr>
        <p:spPr>
          <a:xfrm>
            <a:off x="1417320" y="5916168"/>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Кто отвечает за схему, доступ, срок хранения, конфиденциальность</a:t>
            </a:r>
          </a:p>
        </p:txBody>
      </p:sp>
      <p:sp>
        <p:nvSpPr>
          <p:cNvPr id="29" name="TextBox 28"/>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Аудит слоя данных — обязательная проверка перед запуском любого пилота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1. Двойник 2026</a:t>
            </a:r>
          </a:p>
        </p:txBody>
      </p:sp>
      <p:sp>
        <p:nvSpPr>
          <p:cNvPr id="4" name="Rectangle 3"/>
          <p:cNvSpPr/>
          <p:nvPr/>
        </p:nvSpPr>
        <p:spPr>
          <a:xfrm>
            <a:off x="1866518" y="292608"/>
            <a:ext cx="1381887"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2. A0 Наблюдать</a:t>
            </a:r>
          </a:p>
        </p:txBody>
      </p:sp>
      <p:sp>
        <p:nvSpPr>
          <p:cNvPr id="6" name="Rectangle 5"/>
          <p:cNvSpPr/>
          <p:nvPr/>
        </p:nvSpPr>
        <p:spPr>
          <a:xfrm>
            <a:off x="327583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3. A1 Советовать</a:t>
            </a:r>
          </a:p>
        </p:txBody>
      </p:sp>
      <p:sp>
        <p:nvSpPr>
          <p:cNvPr id="8" name="Rectangle 7"/>
          <p:cNvSpPr/>
          <p:nvPr/>
        </p:nvSpPr>
        <p:spPr>
          <a:xfrm>
            <a:off x="4685157"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4. A2 Замыкать</a:t>
            </a:r>
          </a:p>
        </p:txBody>
      </p:sp>
      <p:sp>
        <p:nvSpPr>
          <p:cNvPr id="10" name="Rectangle 9"/>
          <p:cNvSpPr/>
          <p:nvPr/>
        </p:nvSpPr>
        <p:spPr>
          <a:xfrm>
            <a:off x="6094476"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5. A3 Автоном.</a:t>
            </a:r>
          </a:p>
        </p:txBody>
      </p:sp>
      <p:sp>
        <p:nvSpPr>
          <p:cNvPr id="12" name="Rectangle 11"/>
          <p:cNvSpPr/>
          <p:nvPr/>
        </p:nvSpPr>
        <p:spPr>
          <a:xfrm>
            <a:off x="7503795"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6. Где НЕ AI</a:t>
            </a:r>
          </a:p>
        </p:txBody>
      </p:sp>
      <p:sp>
        <p:nvSpPr>
          <p:cNvPr id="14" name="Rectangle 13"/>
          <p:cNvSpPr/>
          <p:nvPr/>
        </p:nvSpPr>
        <p:spPr>
          <a:xfrm>
            <a:off x="8913114"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7. OT/IT</a:t>
            </a:r>
          </a:p>
        </p:txBody>
      </p:sp>
      <p:sp>
        <p:nvSpPr>
          <p:cNvPr id="16" name="Rectangle 15"/>
          <p:cNvSpPr/>
          <p:nvPr/>
        </p:nvSpPr>
        <p:spPr>
          <a:xfrm>
            <a:off x="10322433"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8. РФ + Закр.</a:t>
            </a:r>
          </a:p>
        </p:txBody>
      </p:sp>
      <p:sp>
        <p:nvSpPr>
          <p:cNvPr id="18" name="TextBox 17"/>
          <p:cNvSpPr txBox="1"/>
          <p:nvPr/>
        </p:nvSpPr>
        <p:spPr>
          <a:xfrm>
            <a:off x="457200" y="1097280"/>
            <a:ext cx="5486400" cy="5029200"/>
          </a:xfrm>
          <a:prstGeom prst="rect">
            <a:avLst/>
          </a:prstGeom>
          <a:noFill/>
        </p:spPr>
        <p:txBody>
          <a:bodyPr wrap="square" lIns="0" rIns="0" tIns="0" bIns="0" anchor="ctr">
            <a:spAutoFit/>
          </a:bodyPr>
          <a:lstStyle/>
          <a:p>
            <a:pPr algn="ctr">
              <a:lnSpc>
                <a:spcPct val="115000"/>
              </a:lnSpc>
            </a:pPr>
            <a:r>
              <a:rPr sz="38000" b="1" i="0">
                <a:solidFill>
                  <a:srgbClr val="D9E2EC"/>
                </a:solidFill>
                <a:latin typeface="Arial"/>
              </a:rPr>
              <a:t>2</a:t>
            </a:r>
          </a:p>
        </p:txBody>
      </p:sp>
      <p:sp>
        <p:nvSpPr>
          <p:cNvPr id="19" name="TextBox 18"/>
          <p:cNvSpPr txBox="1"/>
          <p:nvPr/>
        </p:nvSpPr>
        <p:spPr>
          <a:xfrm>
            <a:off x="5029200" y="2194560"/>
            <a:ext cx="6858000" cy="36576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600" b="1" i="0">
                <a:solidFill>
                  <a:srgbClr val="21295C"/>
                </a:solidFill>
                <a:latin typeface="Arial"/>
              </a:rPr>
              <a:t>A0 — Наблюдать</a:t>
            </a:r>
          </a:p>
          <a:p>
            <a:pPr algn="l">
              <a:lnSpc>
                <a:spcPct val="115000"/>
              </a:lnSpc>
            </a:pPr>
            <a:r>
              <a:rPr sz="800" b="0" i="0">
                <a:solidFill>
                  <a:srgbClr val="21295C"/>
                </a:solidFill>
                <a:latin typeface="Arial"/>
              </a:rPr>
              <a:t/>
            </a:r>
          </a:p>
          <a:p>
            <a:pPr algn="l">
              <a:lnSpc>
                <a:spcPct val="115000"/>
              </a:lnSpc>
            </a:pPr>
            <a:r>
              <a:rPr sz="1500" b="0" i="0">
                <a:solidFill>
                  <a:srgbClr val="065A82"/>
                </a:solidFill>
                <a:latin typeface="Arial"/>
              </a:rPr>
              <a:t>Vision QC · прогностическое обслуживание · границы применимости</a:t>
            </a:r>
          </a:p>
          <a:p>
            <a:pPr algn="l">
              <a:lnSpc>
                <a:spcPct val="115000"/>
              </a:lnSpc>
            </a:pPr>
            <a:r>
              <a:rPr sz="600" b="0" i="0">
                <a:solidFill>
                  <a:srgbClr val="21295C"/>
                </a:solidFill>
                <a:latin typeface="Arial"/>
              </a:rPr>
              <a:t/>
            </a:r>
          </a:p>
          <a:p>
            <a:pPr algn="l">
              <a:lnSpc>
                <a:spcPct val="115000"/>
              </a:lnSpc>
            </a:pPr>
            <a:r>
              <a:rPr sz="1200" b="0" i="1">
                <a:solidFill>
                  <a:srgbClr val="F0AB00"/>
                </a:solidFill>
                <a:latin typeface="Arial"/>
              </a:rPr>
              <a:t>Раздел 2 · нижняя ступень шкалы автономии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Vision QC в отлаженных системах: ≥99% при ложных срабатываниях 0,1–2%</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Но даже 1% ложных срабатываний × 10 000 деталей = 100 годных отвергнуто за смену — каскад срабатываний</a:t>
            </a:r>
          </a:p>
        </p:txBody>
      </p:sp>
      <p:sp>
        <p:nvSpPr>
          <p:cNvPr id="4" name="Rounded Rectangle 3"/>
          <p:cNvSpPr/>
          <p:nvPr/>
        </p:nvSpPr>
        <p:spPr>
          <a:xfrm>
            <a:off x="457200" y="1554480"/>
            <a:ext cx="685800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2-fp-cascade.png"/>
          <p:cNvPicPr>
            <a:picLocks noChangeAspect="1"/>
          </p:cNvPicPr>
          <p:nvPr/>
        </p:nvPicPr>
        <p:blipFill>
          <a:blip r:embed="rId2"/>
          <a:stretch>
            <a:fillRect/>
          </a:stretch>
        </p:blipFill>
        <p:spPr>
          <a:xfrm>
            <a:off x="640080" y="1691640"/>
            <a:ext cx="6492240" cy="4297680"/>
          </a:xfrm>
          <a:prstGeom prst="rect">
            <a:avLst/>
          </a:prstGeom>
        </p:spPr>
      </p:pic>
      <p:sp>
        <p:nvSpPr>
          <p:cNvPr id="6" name="Rounded Rectangle 5"/>
          <p:cNvSpPr/>
          <p:nvPr/>
        </p:nvSpPr>
        <p:spPr>
          <a:xfrm>
            <a:off x="7498079" y="1554480"/>
            <a:ext cx="4206240"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691640"/>
            <a:ext cx="3840480" cy="4389120"/>
          </a:xfrm>
          <a:prstGeom prst="rect">
            <a:avLst/>
          </a:prstGeom>
          <a:noFill/>
        </p:spPr>
        <p:txBody>
          <a:bodyPr wrap="square" lIns="0" rIns="0" tIns="0" bIns="0" anchor="t">
            <a:spAutoFit/>
          </a:bodyPr>
          <a:lstStyle/>
          <a:p>
            <a:pPr algn="ctr">
              <a:lnSpc>
                <a:spcPct val="135000"/>
              </a:lnSpc>
            </a:pPr>
            <a:r>
              <a:rPr sz="7200" b="1" i="0">
                <a:solidFill>
                  <a:srgbClr val="F0AB00"/>
                </a:solidFill>
                <a:latin typeface="Arial"/>
              </a:rPr>
              <a:t>100</a:t>
            </a:r>
          </a:p>
          <a:p>
            <a:pPr algn="ctr">
              <a:lnSpc>
                <a:spcPct val="135000"/>
              </a:lnSpc>
            </a:pPr>
            <a:r>
              <a:rPr sz="1300" b="1" i="0">
                <a:solidFill>
                  <a:srgbClr val="21295C"/>
                </a:solidFill>
                <a:latin typeface="Arial"/>
              </a:rPr>
              <a:t>годных деталей отвергнуто</a:t>
            </a:r>
          </a:p>
          <a:p>
            <a:pPr algn="ctr">
              <a:lnSpc>
                <a:spcPct val="135000"/>
              </a:lnSpc>
            </a:pPr>
            <a:r>
              <a:rPr sz="1200" b="0" i="1">
                <a:solidFill>
                  <a:srgbClr val="4A556B"/>
                </a:solidFill>
                <a:latin typeface="Arial"/>
              </a:rPr>
              <a:t>за смену: 1% × 10 000</a:t>
            </a:r>
          </a:p>
          <a:p>
            <a:pPr algn="l">
              <a:lnSpc>
                <a:spcPct val="135000"/>
              </a:lnSpc>
            </a:pPr>
            <a:r>
              <a:rPr sz="1200" b="0" i="0">
                <a:solidFill>
                  <a:srgbClr val="21295C"/>
                </a:solidFill>
                <a:latin typeface="Arial"/>
              </a:rPr>
              <a:t/>
            </a:r>
          </a:p>
          <a:p>
            <a:pPr algn="l">
              <a:lnSpc>
                <a:spcPct val="135000"/>
              </a:lnSpc>
            </a:pPr>
            <a:r>
              <a:rPr sz="1200" b="0" i="0">
                <a:solidFill>
                  <a:srgbClr val="21295C"/>
                </a:solidFill>
                <a:latin typeface="Arial"/>
              </a:rPr>
              <a:t>→ ручная переборка</a:t>
            </a:r>
          </a:p>
          <a:p>
            <a:pPr algn="l">
              <a:lnSpc>
                <a:spcPct val="135000"/>
              </a:lnSpc>
            </a:pPr>
            <a:r>
              <a:rPr sz="1200" b="0" i="0">
                <a:solidFill>
                  <a:srgbClr val="21295C"/>
                </a:solidFill>
                <a:latin typeface="Arial"/>
              </a:rPr>
              <a:t>→ растёт стоимость пересортировки</a:t>
            </a:r>
          </a:p>
          <a:p>
            <a:pPr algn="l">
              <a:lnSpc>
                <a:spcPct val="135000"/>
              </a:lnSpc>
            </a:pPr>
            <a:r>
              <a:rPr sz="1200" b="0" i="0">
                <a:solidFill>
                  <a:srgbClr val="21295C"/>
                </a:solidFill>
                <a:latin typeface="Arial"/>
              </a:rPr>
              <a:t>→ падает пропускная способность</a:t>
            </a:r>
          </a:p>
          <a:p>
            <a:pPr algn="l">
              <a:lnSpc>
                <a:spcPct val="135000"/>
              </a:lnSpc>
            </a:pPr>
            <a:r>
              <a:rPr sz="1200" b="0" i="0">
                <a:solidFill>
                  <a:srgbClr val="21295C"/>
                </a:solidFill>
                <a:latin typeface="Arial"/>
              </a:rPr>
              <a:t>→ оператор начинает игнорировать AI</a:t>
            </a:r>
          </a:p>
          <a:p>
            <a:pPr algn="l">
              <a:lnSpc>
                <a:spcPct val="135000"/>
              </a:lnSpc>
            </a:pPr>
            <a:r>
              <a:rPr sz="1200" b="1" i="0">
                <a:solidFill>
                  <a:srgbClr val="F0AB00"/>
                </a:solidFill>
                <a:latin typeface="Arial"/>
              </a:rPr>
              <a:t>→ доверие к AI рушится</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Indus Vision / Jidoka 2026 · Overview.ai 2026 · бенчмарки вендоров для отлаженных систем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Прогностическое обслуживание: ROI 10:1 за 2 года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Программа $200K–$600K → $1,2M–$3,5M годовой экономии · окупаемость 18–36 месяцев</a:t>
            </a:r>
          </a:p>
        </p:txBody>
      </p:sp>
      <p:sp>
        <p:nvSpPr>
          <p:cNvPr id="4" name="Rounded Rectangle 3"/>
          <p:cNvSpPr/>
          <p:nvPr/>
        </p:nvSpPr>
        <p:spPr>
          <a:xfrm>
            <a:off x="457200" y="1554480"/>
            <a:ext cx="685800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3-pdm-effects.png"/>
          <p:cNvPicPr>
            <a:picLocks noChangeAspect="1"/>
          </p:cNvPicPr>
          <p:nvPr/>
        </p:nvPicPr>
        <p:blipFill>
          <a:blip r:embed="rId2"/>
          <a:stretch>
            <a:fillRect/>
          </a:stretch>
        </p:blipFill>
        <p:spPr>
          <a:xfrm>
            <a:off x="640080" y="1691640"/>
            <a:ext cx="6492240" cy="4297680"/>
          </a:xfrm>
          <a:prstGeom prst="rect">
            <a:avLst/>
          </a:prstGeom>
        </p:spPr>
      </p:pic>
      <p:sp>
        <p:nvSpPr>
          <p:cNvPr id="6" name="Rounded Rectangle 5"/>
          <p:cNvSpPr/>
          <p:nvPr/>
        </p:nvSpPr>
        <p:spPr>
          <a:xfrm>
            <a:off x="7498079" y="1554480"/>
            <a:ext cx="4206240" cy="4572000"/>
          </a:xfrm>
          <a:prstGeom prst="roundRect">
            <a:avLst>
              <a:gd name="adj" fmla="val 10000"/>
            </a:avLst>
          </a:prstGeom>
          <a:solidFill>
            <a:srgbClr val="F4F7FA"/>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691640"/>
            <a:ext cx="3840480" cy="4389120"/>
          </a:xfrm>
          <a:prstGeom prst="rect">
            <a:avLst/>
          </a:prstGeom>
          <a:noFill/>
        </p:spPr>
        <p:txBody>
          <a:bodyPr wrap="square" lIns="0" rIns="0" tIns="0" bIns="0" anchor="t">
            <a:spAutoFit/>
          </a:bodyPr>
          <a:lstStyle/>
          <a:p>
            <a:pPr algn="ctr">
              <a:lnSpc>
                <a:spcPct val="130000"/>
              </a:lnSpc>
            </a:pPr>
            <a:r>
              <a:rPr sz="1100" b="1" i="0">
                <a:solidFill>
                  <a:srgbClr val="F0AB00"/>
                </a:solidFill>
                <a:latin typeface="Arial"/>
              </a:rPr>
              <a:t>ЯКОРНЫЕ КЕЙСЫ:</a:t>
            </a:r>
          </a:p>
          <a:p>
            <a:pPr algn="l">
              <a:lnSpc>
                <a:spcPct val="130000"/>
              </a:lnSpc>
            </a:pPr>
            <a:r>
              <a:rPr sz="800" b="0" i="0">
                <a:solidFill>
                  <a:srgbClr val="21295C"/>
                </a:solidFill>
                <a:latin typeface="Arial"/>
              </a:rPr>
              <a:t/>
            </a:r>
          </a:p>
          <a:p>
            <a:pPr algn="l">
              <a:lnSpc>
                <a:spcPct val="130000"/>
              </a:lnSpc>
            </a:pPr>
            <a:r>
              <a:rPr sz="1400" b="1" i="0">
                <a:solidFill>
                  <a:srgbClr val="21295C"/>
                </a:solidFill>
                <a:latin typeface="Arial"/>
              </a:rPr>
              <a:t>Цементный завод</a:t>
            </a:r>
          </a:p>
          <a:p>
            <a:pPr algn="l">
              <a:lnSpc>
                <a:spcPct val="130000"/>
              </a:lnSpc>
            </a:pPr>
            <a:r>
              <a:rPr sz="1600" b="1" i="0">
                <a:solidFill>
                  <a:srgbClr val="F0AB00"/>
                </a:solidFill>
                <a:latin typeface="Arial"/>
              </a:rPr>
              <a:t>57× окупаемость за 6 месяцев</a:t>
            </a:r>
          </a:p>
          <a:p>
            <a:pPr algn="l">
              <a:lnSpc>
                <a:spcPct val="130000"/>
              </a:lnSpc>
            </a:pPr>
            <a:r>
              <a:rPr sz="1000" b="0" i="1">
                <a:solidFill>
                  <a:srgbClr val="6B7685"/>
                </a:solidFill>
                <a:latin typeface="Arial"/>
              </a:rPr>
              <a:t>мониторинг без замены оборудования</a:t>
            </a:r>
          </a:p>
          <a:p>
            <a:pPr algn="l">
              <a:lnSpc>
                <a:spcPct val="130000"/>
              </a:lnSpc>
            </a:pPr>
            <a:r>
              <a:rPr sz="800" b="0" i="0">
                <a:solidFill>
                  <a:srgbClr val="21295C"/>
                </a:solidFill>
                <a:latin typeface="Arial"/>
              </a:rPr>
              <a:t/>
            </a:r>
          </a:p>
          <a:p>
            <a:pPr algn="l">
              <a:lnSpc>
                <a:spcPct val="130000"/>
              </a:lnSpc>
            </a:pPr>
            <a:r>
              <a:rPr sz="1400" b="1" i="0">
                <a:solidFill>
                  <a:srgbClr val="21295C"/>
                </a:solidFill>
                <a:latin typeface="Arial"/>
              </a:rPr>
              <a:t>Химический завод</a:t>
            </a:r>
          </a:p>
          <a:p>
            <a:pPr algn="l">
              <a:lnSpc>
                <a:spcPct val="130000"/>
              </a:lnSpc>
            </a:pPr>
            <a:r>
              <a:rPr sz="1600" b="1" i="0">
                <a:solidFill>
                  <a:srgbClr val="065A82"/>
                </a:solidFill>
                <a:latin typeface="Arial"/>
              </a:rPr>
              <a:t>$2 миллиона</a:t>
            </a:r>
          </a:p>
          <a:p>
            <a:pPr algn="l">
              <a:lnSpc>
                <a:spcPct val="130000"/>
              </a:lnSpc>
            </a:pPr>
            <a:r>
              <a:rPr sz="1100" b="0" i="1">
                <a:solidFill>
                  <a:srgbClr val="4A556B"/>
                </a:solidFill>
                <a:latin typeface="Arial"/>
              </a:rPr>
              <a:t>ежегодной экономии</a:t>
            </a:r>
          </a:p>
          <a:p>
            <a:pPr algn="l">
              <a:lnSpc>
                <a:spcPct val="130000"/>
              </a:lnSpc>
            </a:pPr>
            <a:r>
              <a:rPr sz="800" b="0" i="0">
                <a:solidFill>
                  <a:srgbClr val="21295C"/>
                </a:solidFill>
                <a:latin typeface="Arial"/>
              </a:rPr>
              <a:t/>
            </a:r>
          </a:p>
          <a:p>
            <a:pPr algn="l">
              <a:lnSpc>
                <a:spcPct val="130000"/>
              </a:lnSpc>
            </a:pPr>
            <a:r>
              <a:rPr sz="1100" b="1" i="0">
                <a:solidFill>
                  <a:srgbClr val="065A82"/>
                </a:solidFill>
                <a:latin typeface="Arial"/>
              </a:rPr>
              <a:t>Программа прогн. обслуживания:</a:t>
            </a:r>
          </a:p>
          <a:p>
            <a:pPr algn="l">
              <a:lnSpc>
                <a:spcPct val="130000"/>
              </a:lnSpc>
            </a:pPr>
            <a:r>
              <a:rPr sz="1100" b="0" i="0">
                <a:solidFill>
                  <a:srgbClr val="21295C"/>
                </a:solidFill>
                <a:latin typeface="Arial"/>
              </a:rPr>
              <a:t>$200K–$600K инвестиций →</a:t>
            </a:r>
          </a:p>
          <a:p>
            <a:pPr algn="l">
              <a:lnSpc>
                <a:spcPct val="130000"/>
              </a:lnSpc>
            </a:pPr>
            <a:r>
              <a:rPr sz="1100" b="0" i="0">
                <a:solidFill>
                  <a:srgbClr val="21295C"/>
                </a:solidFill>
                <a:latin typeface="Arial"/>
              </a:rPr>
              <a:t>$1,2M–$3,5M экономии в год →</a:t>
            </a:r>
          </a:p>
          <a:p>
            <a:pPr algn="l">
              <a:lnSpc>
                <a:spcPct val="130000"/>
              </a:lnSpc>
            </a:pPr>
            <a:r>
              <a:rPr sz="1100" b="1" i="0">
                <a:solidFill>
                  <a:srgbClr val="F0AB00"/>
                </a:solidFill>
                <a:latin typeface="Arial"/>
              </a:rPr>
              <a:t>окупаемость 18–36 месяцев</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Deloitte 2026 / oxmaint 2026 · средние значения по индустрии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Где A0 не применим — границы vision и прогностического обслуживания</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Жёсткие допуски → метрология + GD&amp;T + SPC · редкие отказы → physics + RCM</a:t>
            </a:r>
          </a:p>
        </p:txBody>
      </p:sp>
      <p:sp>
        <p:nvSpPr>
          <p:cNvPr id="4" name="Rounded Rectangle 3"/>
          <p:cNvSpPr/>
          <p:nvPr/>
        </p:nvSpPr>
        <p:spPr>
          <a:xfrm>
            <a:off x="457200" y="1645920"/>
            <a:ext cx="5486400" cy="438912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548640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19072"/>
            <a:ext cx="548640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Жёсткие допуски ±0,001 мм</a:t>
            </a:r>
          </a:p>
        </p:txBody>
      </p:sp>
      <p:sp>
        <p:nvSpPr>
          <p:cNvPr id="7" name="TextBox 6"/>
          <p:cNvSpPr txBox="1"/>
          <p:nvPr/>
        </p:nvSpPr>
        <p:spPr>
          <a:xfrm>
            <a:off x="640080" y="2468880"/>
            <a:ext cx="5120640" cy="3474720"/>
          </a:xfrm>
          <a:prstGeom prst="rect">
            <a:avLst/>
          </a:prstGeom>
          <a:noFill/>
        </p:spPr>
        <p:txBody>
          <a:bodyPr wrap="square" lIns="0" rIns="0" tIns="0" bIns="0" anchor="t">
            <a:spAutoFit/>
          </a:bodyPr>
          <a:lstStyle/>
          <a:p>
            <a:pPr algn="l">
              <a:lnSpc>
                <a:spcPct val="135000"/>
              </a:lnSpc>
            </a:pPr>
            <a:r>
              <a:rPr sz="1200" b="1" i="0">
                <a:solidFill>
                  <a:srgbClr val="1C7293"/>
                </a:solidFill>
                <a:latin typeface="Arial"/>
              </a:rPr>
              <a:t>Что происходит:</a:t>
            </a:r>
          </a:p>
          <a:p>
            <a:pPr algn="l">
              <a:lnSpc>
                <a:spcPct val="135000"/>
              </a:lnSpc>
            </a:pPr>
            <a:r>
              <a:rPr sz="1200" b="0" i="0">
                <a:solidFill>
                  <a:srgbClr val="21295C"/>
                </a:solidFill>
                <a:latin typeface="Arial"/>
              </a:rPr>
              <a:t>Камера разрешает 0,01–0,1 мм; не видит микрометровых отклонений.</a:t>
            </a:r>
          </a:p>
          <a:p>
            <a:pPr algn="l">
              <a:lnSpc>
                <a:spcPct val="135000"/>
              </a:lnSpc>
            </a:pPr>
            <a:r>
              <a:rPr sz="800" b="0" i="0">
                <a:solidFill>
                  <a:srgbClr val="21295C"/>
                </a:solidFill>
                <a:latin typeface="Arial"/>
              </a:rPr>
              <a:t/>
            </a:r>
          </a:p>
          <a:p>
            <a:pPr algn="l">
              <a:lnSpc>
                <a:spcPct val="135000"/>
              </a:lnSpc>
            </a:pPr>
            <a:r>
              <a:rPr sz="1300" b="1" i="0">
                <a:solidFill>
                  <a:srgbClr val="F0AB00"/>
                </a:solidFill>
                <a:latin typeface="Arial"/>
              </a:rPr>
              <a:t>АЛЬТЕРНАТИВА:</a:t>
            </a:r>
          </a:p>
          <a:p>
            <a:pPr algn="l">
              <a:lnSpc>
                <a:spcPct val="135000"/>
              </a:lnSpc>
            </a:pPr>
            <a:r>
              <a:rPr sz="1200" b="0" i="0">
                <a:solidFill>
                  <a:srgbClr val="21295C"/>
                </a:solidFill>
                <a:latin typeface="Arial"/>
              </a:rPr>
              <a:t>· Метрология (лазерный сканер, КИМ)</a:t>
            </a:r>
          </a:p>
          <a:p>
            <a:pPr algn="l">
              <a:lnSpc>
                <a:spcPct val="135000"/>
              </a:lnSpc>
            </a:pPr>
            <a:r>
              <a:rPr sz="1200" b="0" i="0">
                <a:solidFill>
                  <a:srgbClr val="21295C"/>
                </a:solidFill>
                <a:latin typeface="Arial"/>
              </a:rPr>
              <a:t>· GD&amp;T — геометрические допуски</a:t>
            </a:r>
          </a:p>
          <a:p>
            <a:pPr algn="l">
              <a:lnSpc>
                <a:spcPct val="135000"/>
              </a:lnSpc>
            </a:pPr>
            <a:r>
              <a:rPr sz="1200" b="0" i="0">
                <a:solidFill>
                  <a:srgbClr val="21295C"/>
                </a:solidFill>
                <a:latin typeface="Arial"/>
              </a:rPr>
              <a:t>· SPC — статистическое управление процессом</a:t>
            </a:r>
          </a:p>
          <a:p>
            <a:pPr algn="l">
              <a:lnSpc>
                <a:spcPct val="135000"/>
              </a:lnSpc>
            </a:pPr>
            <a:r>
              <a:rPr sz="600" b="0" i="0">
                <a:solidFill>
                  <a:srgbClr val="21295C"/>
                </a:solidFill>
                <a:latin typeface="Arial"/>
              </a:rPr>
              <a:t/>
            </a:r>
          </a:p>
          <a:p>
            <a:pPr algn="l">
              <a:lnSpc>
                <a:spcPct val="135000"/>
              </a:lnSpc>
            </a:pPr>
            <a:r>
              <a:rPr sz="1100" b="0" i="1">
                <a:solidFill>
                  <a:srgbClr val="065A82"/>
                </a:solidFill>
                <a:latin typeface="Arial"/>
              </a:rPr>
              <a:t>Якорь: «AI не дотягивает физическое разрешение».</a:t>
            </a:r>
          </a:p>
        </p:txBody>
      </p:sp>
      <p:sp>
        <p:nvSpPr>
          <p:cNvPr id="8" name="Rounded Rectangle 7"/>
          <p:cNvSpPr/>
          <p:nvPr/>
        </p:nvSpPr>
        <p:spPr>
          <a:xfrm>
            <a:off x="6245352" y="1645920"/>
            <a:ext cx="5486400" cy="438912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5352" y="1645920"/>
            <a:ext cx="548640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719072"/>
            <a:ext cx="548640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Редкие отказы MTBF &gt;1 года</a:t>
            </a:r>
          </a:p>
        </p:txBody>
      </p:sp>
      <p:sp>
        <p:nvSpPr>
          <p:cNvPr id="11" name="TextBox 10"/>
          <p:cNvSpPr txBox="1"/>
          <p:nvPr/>
        </p:nvSpPr>
        <p:spPr>
          <a:xfrm>
            <a:off x="6428232" y="2468880"/>
            <a:ext cx="5120640" cy="3474720"/>
          </a:xfrm>
          <a:prstGeom prst="rect">
            <a:avLst/>
          </a:prstGeom>
          <a:noFill/>
        </p:spPr>
        <p:txBody>
          <a:bodyPr wrap="square" lIns="0" rIns="0" tIns="0" bIns="0" anchor="t">
            <a:spAutoFit/>
          </a:bodyPr>
          <a:lstStyle/>
          <a:p>
            <a:pPr algn="l">
              <a:lnSpc>
                <a:spcPct val="135000"/>
              </a:lnSpc>
            </a:pPr>
            <a:r>
              <a:rPr sz="1200" b="1" i="0">
                <a:solidFill>
                  <a:srgbClr val="1C7293"/>
                </a:solidFill>
                <a:latin typeface="Arial"/>
              </a:rPr>
              <a:t>Что происходит:</a:t>
            </a:r>
          </a:p>
          <a:p>
            <a:pPr algn="l">
              <a:lnSpc>
                <a:spcPct val="135000"/>
              </a:lnSpc>
            </a:pPr>
            <a:r>
              <a:rPr sz="1200" b="0" i="0">
                <a:solidFill>
                  <a:srgbClr val="21295C"/>
                </a:solidFill>
                <a:latin typeface="Arial"/>
              </a:rPr>
              <a:t>Выборка отказов &lt;30 — машинное обучение без статистики не учится; галлюцинирует закономерности в шуме.</a:t>
            </a:r>
          </a:p>
          <a:p>
            <a:pPr algn="l">
              <a:lnSpc>
                <a:spcPct val="135000"/>
              </a:lnSpc>
            </a:pPr>
            <a:r>
              <a:rPr sz="800" b="0" i="0">
                <a:solidFill>
                  <a:srgbClr val="21295C"/>
                </a:solidFill>
                <a:latin typeface="Arial"/>
              </a:rPr>
              <a:t/>
            </a:r>
          </a:p>
          <a:p>
            <a:pPr algn="l">
              <a:lnSpc>
                <a:spcPct val="135000"/>
              </a:lnSpc>
            </a:pPr>
            <a:r>
              <a:rPr sz="1300" b="1" i="0">
                <a:solidFill>
                  <a:srgbClr val="F0AB00"/>
                </a:solidFill>
                <a:latin typeface="Arial"/>
              </a:rPr>
              <a:t>АЛЬТЕРНАТИВА:</a:t>
            </a:r>
          </a:p>
          <a:p>
            <a:pPr algn="l">
              <a:lnSpc>
                <a:spcPct val="135000"/>
              </a:lnSpc>
            </a:pPr>
            <a:r>
              <a:rPr sz="1200" b="0" i="0">
                <a:solidFill>
                  <a:srgbClr val="21295C"/>
                </a:solidFill>
                <a:latin typeface="Arial"/>
              </a:rPr>
              <a:t>· Физическая симуляция (МКЭ, износ)</a:t>
            </a:r>
          </a:p>
          <a:p>
            <a:pPr algn="l">
              <a:lnSpc>
                <a:spcPct val="135000"/>
              </a:lnSpc>
            </a:pPr>
            <a:r>
              <a:rPr sz="1200" b="0" i="0">
                <a:solidFill>
                  <a:srgbClr val="21295C"/>
                </a:solidFill>
                <a:latin typeface="Arial"/>
              </a:rPr>
              <a:t>· RCM — обслуживание, ориентированное на надёжность</a:t>
            </a:r>
          </a:p>
          <a:p>
            <a:pPr algn="l">
              <a:lnSpc>
                <a:spcPct val="135000"/>
              </a:lnSpc>
            </a:pPr>
            <a:r>
              <a:rPr sz="1200" b="0" i="0">
                <a:solidFill>
                  <a:srgbClr val="21295C"/>
                </a:solidFill>
                <a:latin typeface="Arial"/>
              </a:rPr>
              <a:t>· Регламент по физике, не календарю</a:t>
            </a:r>
          </a:p>
          <a:p>
            <a:pPr algn="l">
              <a:lnSpc>
                <a:spcPct val="135000"/>
              </a:lnSpc>
            </a:pPr>
            <a:r>
              <a:rPr sz="600" b="0" i="0">
                <a:solidFill>
                  <a:srgbClr val="21295C"/>
                </a:solidFill>
                <a:latin typeface="Arial"/>
              </a:rPr>
              <a:t/>
            </a:r>
          </a:p>
          <a:p>
            <a:pPr algn="l">
              <a:lnSpc>
                <a:spcPct val="135000"/>
              </a:lnSpc>
            </a:pPr>
            <a:r>
              <a:rPr sz="1100" b="0" i="1">
                <a:solidFill>
                  <a:srgbClr val="065A82"/>
                </a:solidFill>
                <a:latin typeface="Arial"/>
              </a:rPr>
              <a:t>Якорь: «методология Nowlan–Heap 1978 из авиации работает там, где ML — нет».</a:t>
            </a:r>
          </a:p>
        </p:txBody>
      </p:sp>
      <p:sp>
        <p:nvSpPr>
          <p:cNvPr id="12" name="Rounded Rectangle 11"/>
          <p:cNvSpPr/>
          <p:nvPr/>
        </p:nvSpPr>
        <p:spPr>
          <a:xfrm>
            <a:off x="457200" y="6172200"/>
            <a:ext cx="11274552"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199632"/>
            <a:ext cx="10972800" cy="320040"/>
          </a:xfrm>
          <a:prstGeom prst="rect">
            <a:avLst/>
          </a:prstGeom>
          <a:noFill/>
        </p:spPr>
        <p:txBody>
          <a:bodyPr wrap="square" lIns="0" rIns="0" tIns="0" bIns="0" anchor="ctr">
            <a:spAutoFit/>
          </a:bodyPr>
          <a:lstStyle/>
          <a:p>
            <a:pPr algn="ctr">
              <a:lnSpc>
                <a:spcPct val="115000"/>
              </a:lnSpc>
            </a:pPr>
            <a:r>
              <a:rPr sz="1100" b="0" i="1">
                <a:solidFill>
                  <a:srgbClr val="21295C"/>
                </a:solidFill>
                <a:latin typeface="Arial"/>
              </a:rPr>
              <a:t>MTBF (среднее время между отказами) · GD&amp;T · SPC · RCM — четыре альтернативных инструмента вместо 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1. Двойник 2026</a:t>
            </a:r>
          </a:p>
        </p:txBody>
      </p:sp>
      <p:sp>
        <p:nvSpPr>
          <p:cNvPr id="4" name="Rectangle 3"/>
          <p:cNvSpPr/>
          <p:nvPr/>
        </p:nvSpPr>
        <p:spPr>
          <a:xfrm>
            <a:off x="186651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2. A0 Наблюдать</a:t>
            </a:r>
          </a:p>
        </p:txBody>
      </p:sp>
      <p:sp>
        <p:nvSpPr>
          <p:cNvPr id="6" name="Rectangle 5"/>
          <p:cNvSpPr/>
          <p:nvPr/>
        </p:nvSpPr>
        <p:spPr>
          <a:xfrm>
            <a:off x="3275838" y="292608"/>
            <a:ext cx="1381887"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3. A1 Советовать</a:t>
            </a:r>
          </a:p>
        </p:txBody>
      </p:sp>
      <p:sp>
        <p:nvSpPr>
          <p:cNvPr id="8" name="Rectangle 7"/>
          <p:cNvSpPr/>
          <p:nvPr/>
        </p:nvSpPr>
        <p:spPr>
          <a:xfrm>
            <a:off x="4685157"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4. A2 Замыкать</a:t>
            </a:r>
          </a:p>
        </p:txBody>
      </p:sp>
      <p:sp>
        <p:nvSpPr>
          <p:cNvPr id="10" name="Rectangle 9"/>
          <p:cNvSpPr/>
          <p:nvPr/>
        </p:nvSpPr>
        <p:spPr>
          <a:xfrm>
            <a:off x="6094476"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5. A3 Автоном.</a:t>
            </a:r>
          </a:p>
        </p:txBody>
      </p:sp>
      <p:sp>
        <p:nvSpPr>
          <p:cNvPr id="12" name="Rectangle 11"/>
          <p:cNvSpPr/>
          <p:nvPr/>
        </p:nvSpPr>
        <p:spPr>
          <a:xfrm>
            <a:off x="7503795"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6. Где НЕ AI</a:t>
            </a:r>
          </a:p>
        </p:txBody>
      </p:sp>
      <p:sp>
        <p:nvSpPr>
          <p:cNvPr id="14" name="Rectangle 13"/>
          <p:cNvSpPr/>
          <p:nvPr/>
        </p:nvSpPr>
        <p:spPr>
          <a:xfrm>
            <a:off x="8913114"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7. OT/IT</a:t>
            </a:r>
          </a:p>
        </p:txBody>
      </p:sp>
      <p:sp>
        <p:nvSpPr>
          <p:cNvPr id="16" name="Rectangle 15"/>
          <p:cNvSpPr/>
          <p:nvPr/>
        </p:nvSpPr>
        <p:spPr>
          <a:xfrm>
            <a:off x="10322433"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8. РФ + Закр.</a:t>
            </a:r>
          </a:p>
        </p:txBody>
      </p:sp>
      <p:sp>
        <p:nvSpPr>
          <p:cNvPr id="18" name="TextBox 17"/>
          <p:cNvSpPr txBox="1"/>
          <p:nvPr/>
        </p:nvSpPr>
        <p:spPr>
          <a:xfrm>
            <a:off x="457200" y="1097280"/>
            <a:ext cx="5486400" cy="5029200"/>
          </a:xfrm>
          <a:prstGeom prst="rect">
            <a:avLst/>
          </a:prstGeom>
          <a:noFill/>
        </p:spPr>
        <p:txBody>
          <a:bodyPr wrap="square" lIns="0" rIns="0" tIns="0" bIns="0" anchor="ctr">
            <a:spAutoFit/>
          </a:bodyPr>
          <a:lstStyle/>
          <a:p>
            <a:pPr algn="ctr">
              <a:lnSpc>
                <a:spcPct val="115000"/>
              </a:lnSpc>
            </a:pPr>
            <a:r>
              <a:rPr sz="38000" b="1" i="0">
                <a:solidFill>
                  <a:srgbClr val="D9E2EC"/>
                </a:solidFill>
                <a:latin typeface="Arial"/>
              </a:rPr>
              <a:t>3</a:t>
            </a:r>
          </a:p>
        </p:txBody>
      </p:sp>
      <p:sp>
        <p:nvSpPr>
          <p:cNvPr id="19" name="TextBox 18"/>
          <p:cNvSpPr txBox="1"/>
          <p:nvPr/>
        </p:nvSpPr>
        <p:spPr>
          <a:xfrm>
            <a:off x="5029200" y="2194560"/>
            <a:ext cx="6858000" cy="36576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600" b="1" i="0">
                <a:solidFill>
                  <a:srgbClr val="21295C"/>
                </a:solidFill>
                <a:latin typeface="Arial"/>
              </a:rPr>
              <a:t>A1 — Советовать</a:t>
            </a:r>
          </a:p>
          <a:p>
            <a:pPr algn="l">
              <a:lnSpc>
                <a:spcPct val="115000"/>
              </a:lnSpc>
            </a:pPr>
            <a:r>
              <a:rPr sz="800" b="0" i="0">
                <a:solidFill>
                  <a:srgbClr val="21295C"/>
                </a:solidFill>
                <a:latin typeface="Arial"/>
              </a:rPr>
              <a:t/>
            </a:r>
          </a:p>
          <a:p>
            <a:pPr algn="l">
              <a:lnSpc>
                <a:spcPct val="115000"/>
              </a:lnSpc>
            </a:pPr>
            <a:r>
              <a:rPr sz="1500" b="0" i="0">
                <a:solidFill>
                  <a:srgbClr val="065A82"/>
                </a:solidFill>
                <a:latin typeface="Arial"/>
              </a:rPr>
              <a:t>MES советующий · предсказание тревог · PLC Copilot vs ChatGPT провал</a:t>
            </a:r>
          </a:p>
          <a:p>
            <a:pPr algn="l">
              <a:lnSpc>
                <a:spcPct val="115000"/>
              </a:lnSpc>
            </a:pPr>
            <a:r>
              <a:rPr sz="600" b="0" i="0">
                <a:solidFill>
                  <a:srgbClr val="21295C"/>
                </a:solidFill>
                <a:latin typeface="Arial"/>
              </a:rPr>
              <a:t/>
            </a:r>
          </a:p>
          <a:p>
            <a:pPr algn="l">
              <a:lnSpc>
                <a:spcPct val="115000"/>
              </a:lnSpc>
            </a:pPr>
            <a:r>
              <a:rPr sz="1200" b="0" i="1">
                <a:solidFill>
                  <a:srgbClr val="F0AB00"/>
                </a:solidFill>
                <a:latin typeface="Arial"/>
              </a:rPr>
              <a:t>Раздел 3 · советующий режим с инженером в петле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MES советующий + предсказание тревог за 5–15 минут до каскада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Зрелые применения A1: рекомендации по последовательности операций, планирование с учётом энергии, ML на журналах SCADA</a:t>
            </a:r>
          </a:p>
        </p:txBody>
      </p:sp>
      <p:sp>
        <p:nvSpPr>
          <p:cNvPr id="4" name="Rounded Rectangle 3"/>
          <p:cNvSpPr/>
          <p:nvPr/>
        </p:nvSpPr>
        <p:spPr>
          <a:xfrm>
            <a:off x="457200" y="1600200"/>
            <a:ext cx="685800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6-alarm-prediction.png"/>
          <p:cNvPicPr>
            <a:picLocks noChangeAspect="1"/>
          </p:cNvPicPr>
          <p:nvPr/>
        </p:nvPicPr>
        <p:blipFill>
          <a:blip r:embed="rId2"/>
          <a:stretch>
            <a:fillRect/>
          </a:stretch>
        </p:blipFill>
        <p:spPr>
          <a:xfrm>
            <a:off x="640080" y="1737360"/>
            <a:ext cx="6492240" cy="4297680"/>
          </a:xfrm>
          <a:prstGeom prst="rect">
            <a:avLst/>
          </a:prstGeom>
        </p:spPr>
      </p:pic>
      <p:sp>
        <p:nvSpPr>
          <p:cNvPr id="6" name="Rounded Rectangle 5"/>
          <p:cNvSpPr/>
          <p:nvPr/>
        </p:nvSpPr>
        <p:spPr>
          <a:xfrm>
            <a:off x="7498079" y="1600200"/>
            <a:ext cx="4206240" cy="45720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737360"/>
            <a:ext cx="3840480" cy="4389120"/>
          </a:xfrm>
          <a:prstGeom prst="rect">
            <a:avLst/>
          </a:prstGeom>
          <a:noFill/>
        </p:spPr>
        <p:txBody>
          <a:bodyPr wrap="square" lIns="0" rIns="0" tIns="0" bIns="0" anchor="t">
            <a:spAutoFit/>
          </a:bodyPr>
          <a:lstStyle/>
          <a:p>
            <a:pPr algn="l">
              <a:lnSpc>
                <a:spcPct val="130000"/>
              </a:lnSpc>
            </a:pPr>
            <a:r>
              <a:rPr sz="1200" b="1" i="0">
                <a:solidFill>
                  <a:srgbClr val="065A82"/>
                </a:solidFill>
                <a:latin typeface="Arial"/>
              </a:rPr>
              <a:t>ЧТО ЕСТЬ НА A1:</a:t>
            </a:r>
          </a:p>
          <a:p>
            <a:pPr algn="l">
              <a:lnSpc>
                <a:spcPct val="130000"/>
              </a:lnSpc>
            </a:pPr>
            <a:r>
              <a:rPr sz="800" b="0" i="0">
                <a:solidFill>
                  <a:srgbClr val="21295C"/>
                </a:solidFill>
                <a:latin typeface="Arial"/>
              </a:rPr>
              <a:t/>
            </a:r>
          </a:p>
          <a:p>
            <a:pPr algn="l">
              <a:lnSpc>
                <a:spcPct val="130000"/>
              </a:lnSpc>
            </a:pPr>
            <a:r>
              <a:rPr sz="1300" b="1" i="0">
                <a:solidFill>
                  <a:srgbClr val="21295C"/>
                </a:solidFill>
                <a:latin typeface="Arial"/>
              </a:rPr>
              <a:t>MES в советующем режиме:</a:t>
            </a:r>
          </a:p>
          <a:p>
            <a:pPr algn="l">
              <a:lnSpc>
                <a:spcPct val="130000"/>
              </a:lnSpc>
            </a:pPr>
            <a:r>
              <a:rPr sz="1100" b="0" i="0">
                <a:solidFill>
                  <a:srgbClr val="21295C"/>
                </a:solidFill>
                <a:latin typeface="Arial"/>
              </a:rPr>
              <a:t>· рекомендация последовательности операций</a:t>
            </a:r>
          </a:p>
          <a:p>
            <a:pPr algn="l">
              <a:lnSpc>
                <a:spcPct val="130000"/>
              </a:lnSpc>
            </a:pPr>
            <a:r>
              <a:rPr sz="1100" b="0" i="0">
                <a:solidFill>
                  <a:srgbClr val="21295C"/>
                </a:solidFill>
                <a:latin typeface="Arial"/>
              </a:rPr>
              <a:t>· планирование с учётом энергии</a:t>
            </a:r>
          </a:p>
          <a:p>
            <a:pPr algn="l">
              <a:lnSpc>
                <a:spcPct val="130000"/>
              </a:lnSpc>
            </a:pPr>
            <a:r>
              <a:rPr sz="1100" b="0" i="1">
                <a:solidFill>
                  <a:srgbClr val="F0AB00"/>
                </a:solidFill>
                <a:latin typeface="Arial"/>
              </a:rPr>
              <a:t>· оператор подтверждает</a:t>
            </a:r>
          </a:p>
          <a:p>
            <a:pPr algn="l">
              <a:lnSpc>
                <a:spcPct val="130000"/>
              </a:lnSpc>
            </a:pPr>
            <a:r>
              <a:rPr sz="800" b="0" i="0">
                <a:solidFill>
                  <a:srgbClr val="21295C"/>
                </a:solidFill>
                <a:latin typeface="Arial"/>
              </a:rPr>
              <a:t/>
            </a:r>
          </a:p>
          <a:p>
            <a:pPr algn="l">
              <a:lnSpc>
                <a:spcPct val="130000"/>
              </a:lnSpc>
            </a:pPr>
            <a:r>
              <a:rPr sz="1300" b="1" i="0">
                <a:solidFill>
                  <a:srgbClr val="21295C"/>
                </a:solidFill>
                <a:latin typeface="Arial"/>
              </a:rPr>
              <a:t>Предсказание тревог:</a:t>
            </a:r>
          </a:p>
          <a:p>
            <a:pPr algn="l">
              <a:lnSpc>
                <a:spcPct val="130000"/>
              </a:lnSpc>
            </a:pPr>
            <a:r>
              <a:rPr sz="1100" b="0" i="0">
                <a:solidFill>
                  <a:srgbClr val="21295C"/>
                </a:solidFill>
                <a:latin typeface="Arial"/>
              </a:rPr>
              <a:t>· ML на исторических журналах SCADA</a:t>
            </a:r>
          </a:p>
          <a:p>
            <a:pPr algn="l">
              <a:lnSpc>
                <a:spcPct val="130000"/>
              </a:lnSpc>
            </a:pPr>
            <a:r>
              <a:rPr sz="1100" b="0" i="0">
                <a:solidFill>
                  <a:srgbClr val="21295C"/>
                </a:solidFill>
                <a:latin typeface="Arial"/>
              </a:rPr>
              <a:t>· окно 5–15 минут до каскада</a:t>
            </a:r>
          </a:p>
          <a:p>
            <a:pPr algn="l">
              <a:lnSpc>
                <a:spcPct val="130000"/>
              </a:lnSpc>
            </a:pPr>
            <a:r>
              <a:rPr sz="1100" b="0" i="1">
                <a:solidFill>
                  <a:srgbClr val="F0AB00"/>
                </a:solidFill>
                <a:latin typeface="Arial"/>
              </a:rPr>
              <a:t>· оператор успевает вмешаться</a:t>
            </a:r>
          </a:p>
          <a:p>
            <a:pPr algn="l">
              <a:lnSpc>
                <a:spcPct val="130000"/>
              </a:lnSpc>
            </a:pPr>
            <a:r>
              <a:rPr sz="800" b="0" i="0">
                <a:solidFill>
                  <a:srgbClr val="21295C"/>
                </a:solidFill>
                <a:latin typeface="Arial"/>
              </a:rPr>
              <a:t/>
            </a:r>
          </a:p>
          <a:p>
            <a:pPr algn="l">
              <a:lnSpc>
                <a:spcPct val="130000"/>
              </a:lnSpc>
            </a:pPr>
            <a:r>
              <a:rPr sz="1100" b="1" i="0">
                <a:solidFill>
                  <a:srgbClr val="065A82"/>
                </a:solidFill>
                <a:latin typeface="Arial"/>
              </a:rPr>
              <a:t>Якорь A1:</a:t>
            </a:r>
          </a:p>
          <a:p>
            <a:pPr algn="l">
              <a:lnSpc>
                <a:spcPct val="130000"/>
              </a:lnSpc>
            </a:pPr>
            <a:r>
              <a:rPr sz="1100" b="0" i="0">
                <a:solidFill>
                  <a:srgbClr val="21295C"/>
                </a:solidFill>
                <a:latin typeface="Arial"/>
              </a:rPr>
              <a:t>AI предлагает действие, человек даёт явное согласие.</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Devox / iFactoryApp 2026 · документация Siemens Opcenter + Rockwell FactoryTalk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PLC Copilot vs ChatGPT: 85% точности vs остановка контроллера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Специализированные инструменты работают; универсальная языковая модель на PLC — провал</a:t>
            </a:r>
          </a:p>
        </p:txBody>
      </p:sp>
      <p:sp>
        <p:nvSpPr>
          <p:cNvPr id="4" name="Rounded Rectangle 3"/>
          <p:cNvSpPr/>
          <p:nvPr/>
        </p:nvSpPr>
        <p:spPr>
          <a:xfrm>
            <a:off x="457200" y="1600200"/>
            <a:ext cx="5486400" cy="45720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548640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73352"/>
            <a:ext cx="5486400" cy="50292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PLC Copilot · специализированный</a:t>
            </a:r>
          </a:p>
        </p:txBody>
      </p:sp>
      <p:sp>
        <p:nvSpPr>
          <p:cNvPr id="7" name="TextBox 6"/>
          <p:cNvSpPr txBox="1"/>
          <p:nvPr/>
        </p:nvSpPr>
        <p:spPr>
          <a:xfrm>
            <a:off x="640080" y="2423160"/>
            <a:ext cx="5120640" cy="3657600"/>
          </a:xfrm>
          <a:prstGeom prst="rect">
            <a:avLst/>
          </a:prstGeom>
          <a:noFill/>
        </p:spPr>
        <p:txBody>
          <a:bodyPr wrap="square" lIns="0" rIns="0" tIns="0" bIns="0" anchor="t">
            <a:spAutoFit/>
          </a:bodyPr>
          <a:lstStyle/>
          <a:p>
            <a:pPr algn="l">
              <a:lnSpc>
                <a:spcPct val="130000"/>
              </a:lnSpc>
            </a:pPr>
            <a:r>
              <a:rPr sz="1200" b="1" i="0">
                <a:solidFill>
                  <a:srgbClr val="1C7293"/>
                </a:solidFill>
                <a:latin typeface="Arial"/>
              </a:rPr>
              <a:t>Что делает:</a:t>
            </a:r>
          </a:p>
          <a:p>
            <a:pPr algn="l">
              <a:lnSpc>
                <a:spcPct val="130000"/>
              </a:lnSpc>
            </a:pPr>
            <a:r>
              <a:rPr sz="1200" b="0" i="0">
                <a:solidFill>
                  <a:srgbClr val="21295C"/>
                </a:solidFill>
                <a:latin typeface="Arial"/>
              </a:rPr>
              <a:t>Знает IEC 61131-3 (релейная логика, структурированный текст, FBD).</a:t>
            </a:r>
          </a:p>
          <a:p>
            <a:pPr algn="l">
              <a:lnSpc>
                <a:spcPct val="130000"/>
              </a:lnSpc>
            </a:pPr>
            <a:r>
              <a:rPr sz="1200" b="0" i="0">
                <a:solidFill>
                  <a:srgbClr val="21295C"/>
                </a:solidFill>
                <a:latin typeface="Arial"/>
              </a:rPr>
              <a:t>Понимает циклическое исполнение PLC.</a:t>
            </a:r>
          </a:p>
          <a:p>
            <a:pPr algn="l">
              <a:lnSpc>
                <a:spcPct val="130000"/>
              </a:lnSpc>
            </a:pPr>
            <a:r>
              <a:rPr sz="1200" b="0" i="0">
                <a:solidFill>
                  <a:srgbClr val="21295C"/>
                </a:solidFill>
                <a:latin typeface="Arial"/>
              </a:rPr>
              <a:t>Валидирует адреса памяти по модели контроллера.</a:t>
            </a:r>
          </a:p>
          <a:p>
            <a:pPr algn="l">
              <a:lnSpc>
                <a:spcPct val="130000"/>
              </a:lnSpc>
            </a:pPr>
            <a:r>
              <a:rPr sz="800" b="0" i="0">
                <a:solidFill>
                  <a:srgbClr val="21295C"/>
                </a:solidFill>
                <a:latin typeface="Arial"/>
              </a:rPr>
              <a:t/>
            </a:r>
          </a:p>
          <a:p>
            <a:pPr algn="l">
              <a:lnSpc>
                <a:spcPct val="130000"/>
              </a:lnSpc>
            </a:pPr>
            <a:r>
              <a:rPr sz="1200" b="1" i="0">
                <a:solidFill>
                  <a:srgbClr val="1C7293"/>
                </a:solidFill>
                <a:latin typeface="Arial"/>
              </a:rPr>
              <a:t>Скорость:</a:t>
            </a:r>
          </a:p>
          <a:p>
            <a:pPr algn="l">
              <a:lnSpc>
                <a:spcPct val="130000"/>
              </a:lnSpc>
            </a:pPr>
            <a:r>
              <a:rPr sz="1800" b="1" i="0">
                <a:solidFill>
                  <a:srgbClr val="F0AB00"/>
                </a:solidFill>
                <a:latin typeface="Arial"/>
              </a:rPr>
              <a:t>3–4 дня → 10 минут</a:t>
            </a:r>
          </a:p>
          <a:p>
            <a:pPr algn="l">
              <a:lnSpc>
                <a:spcPct val="130000"/>
              </a:lnSpc>
            </a:pPr>
            <a:r>
              <a:rPr sz="800" b="0" i="0">
                <a:solidFill>
                  <a:srgbClr val="21295C"/>
                </a:solidFill>
                <a:latin typeface="Arial"/>
              </a:rPr>
              <a:t/>
            </a:r>
          </a:p>
          <a:p>
            <a:pPr algn="l">
              <a:lnSpc>
                <a:spcPct val="130000"/>
              </a:lnSpc>
            </a:pPr>
            <a:r>
              <a:rPr sz="1200" b="1" i="0">
                <a:solidFill>
                  <a:srgbClr val="1C7293"/>
                </a:solidFill>
                <a:latin typeface="Arial"/>
              </a:rPr>
              <a:t>Точность:</a:t>
            </a:r>
          </a:p>
          <a:p>
            <a:pPr algn="l">
              <a:lnSpc>
                <a:spcPct val="130000"/>
              </a:lnSpc>
            </a:pPr>
            <a:r>
              <a:rPr sz="1600" b="1" i="0">
                <a:solidFill>
                  <a:srgbClr val="21295C"/>
                </a:solidFill>
                <a:latin typeface="Arial"/>
              </a:rPr>
              <a:t>85% — с инженером в петле</a:t>
            </a:r>
          </a:p>
          <a:p>
            <a:pPr algn="l">
              <a:lnSpc>
                <a:spcPct val="130000"/>
              </a:lnSpc>
            </a:pPr>
            <a:r>
              <a:rPr sz="1100" b="0" i="1">
                <a:solidFill>
                  <a:srgbClr val="6B7685"/>
                </a:solidFill>
                <a:latin typeface="Arial"/>
              </a:rPr>
              <a:t>(15% ошибок ловит инженер)</a:t>
            </a:r>
          </a:p>
        </p:txBody>
      </p:sp>
      <p:sp>
        <p:nvSpPr>
          <p:cNvPr id="8" name="Rounded Rectangle 7"/>
          <p:cNvSpPr/>
          <p:nvPr/>
        </p:nvSpPr>
        <p:spPr>
          <a:xfrm>
            <a:off x="6245352" y="1600200"/>
            <a:ext cx="5486400"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5352" y="1600200"/>
            <a:ext cx="548640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673352"/>
            <a:ext cx="5486400" cy="50292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ChatGPT универсальный · ПРОВАЛ</a:t>
            </a:r>
          </a:p>
        </p:txBody>
      </p:sp>
      <p:sp>
        <p:nvSpPr>
          <p:cNvPr id="11" name="TextBox 10"/>
          <p:cNvSpPr txBox="1"/>
          <p:nvPr/>
        </p:nvSpPr>
        <p:spPr>
          <a:xfrm>
            <a:off x="6428232" y="2423160"/>
            <a:ext cx="5120640" cy="3657600"/>
          </a:xfrm>
          <a:prstGeom prst="rect">
            <a:avLst/>
          </a:prstGeom>
          <a:noFill/>
        </p:spPr>
        <p:txBody>
          <a:bodyPr wrap="square" lIns="0" rIns="0" tIns="0" bIns="0" anchor="t">
            <a:spAutoFit/>
          </a:bodyPr>
          <a:lstStyle/>
          <a:p>
            <a:pPr algn="l">
              <a:lnSpc>
                <a:spcPct val="130000"/>
              </a:lnSpc>
            </a:pPr>
            <a:r>
              <a:rPr sz="1100" b="1" i="0">
                <a:solidFill>
                  <a:srgbClr val="065A82"/>
                </a:solidFill>
                <a:latin typeface="Arial"/>
              </a:rPr>
              <a:t>Что выдаёт ChatGPT (промпт «оптимизируй»):</a:t>
            </a:r>
          </a:p>
          <a:p>
            <a:pPr algn="l">
              <a:lnSpc>
                <a:spcPct val="130000"/>
              </a:lnSpc>
            </a:pPr>
            <a:r>
              <a:rPr sz="2200" b="1" i="1">
                <a:solidFill>
                  <a:srgbClr val="F0AB00"/>
                </a:solidFill>
                <a:latin typeface="Arial"/>
              </a:rPr>
              <a:t>MOV %M99999</a:t>
            </a:r>
          </a:p>
          <a:p>
            <a:pPr algn="l">
              <a:lnSpc>
                <a:spcPct val="130000"/>
              </a:lnSpc>
            </a:pPr>
            <a:r>
              <a:rPr sz="800" b="0" i="0">
                <a:solidFill>
                  <a:srgbClr val="21295C"/>
                </a:solidFill>
                <a:latin typeface="Arial"/>
              </a:rPr>
              <a:t/>
            </a:r>
          </a:p>
          <a:p>
            <a:pPr algn="l">
              <a:lnSpc>
                <a:spcPct val="130000"/>
              </a:lnSpc>
            </a:pPr>
            <a:r>
              <a:rPr sz="1200" b="1" i="0">
                <a:solidFill>
                  <a:srgbClr val="1C7293"/>
                </a:solidFill>
                <a:latin typeface="Arial"/>
              </a:rPr>
              <a:t>Что не так:</a:t>
            </a:r>
          </a:p>
          <a:p>
            <a:pPr algn="l">
              <a:lnSpc>
                <a:spcPct val="130000"/>
              </a:lnSpc>
            </a:pPr>
            <a:r>
              <a:rPr sz="1200" b="0" i="0">
                <a:solidFill>
                  <a:srgbClr val="21295C"/>
                </a:solidFill>
                <a:latin typeface="Arial"/>
              </a:rPr>
              <a:t>Область M в Siemens S7-1500 физически ограничена до M65535.</a:t>
            </a:r>
          </a:p>
          <a:p>
            <a:pPr algn="l">
              <a:lnSpc>
                <a:spcPct val="130000"/>
              </a:lnSpc>
            </a:pPr>
            <a:r>
              <a:rPr sz="1200" b="0" i="0">
                <a:solidFill>
                  <a:srgbClr val="21295C"/>
                </a:solidFill>
                <a:latin typeface="Arial"/>
              </a:rPr>
              <a:t>Код скомпилируется в TIA Portal без ошибок,</a:t>
            </a:r>
          </a:p>
          <a:p>
            <a:pPr algn="l">
              <a:lnSpc>
                <a:spcPct val="130000"/>
              </a:lnSpc>
            </a:pPr>
            <a:r>
              <a:rPr sz="1200" b="0" i="0">
                <a:solidFill>
                  <a:srgbClr val="21295C"/>
                </a:solidFill>
                <a:latin typeface="Arial"/>
              </a:rPr>
              <a:t>но в режиме исполнения PLC уходит в STOP-mode — остановка всего оборудования.</a:t>
            </a:r>
          </a:p>
          <a:p>
            <a:pPr algn="l">
              <a:lnSpc>
                <a:spcPct val="130000"/>
              </a:lnSpc>
            </a:pPr>
            <a:r>
              <a:rPr sz="600" b="0" i="0">
                <a:solidFill>
                  <a:srgbClr val="21295C"/>
                </a:solidFill>
                <a:latin typeface="Arial"/>
              </a:rPr>
              <a:t/>
            </a:r>
          </a:p>
          <a:p>
            <a:pPr algn="l">
              <a:lnSpc>
                <a:spcPct val="130000"/>
              </a:lnSpc>
            </a:pPr>
            <a:r>
              <a:rPr sz="1200" b="1" i="0">
                <a:solidFill>
                  <a:srgbClr val="1C7293"/>
                </a:solidFill>
                <a:latin typeface="Arial"/>
              </a:rPr>
              <a:t>Корневая причина:</a:t>
            </a:r>
          </a:p>
          <a:p>
            <a:pPr algn="l">
              <a:lnSpc>
                <a:spcPct val="130000"/>
              </a:lnSpc>
            </a:pPr>
            <a:r>
              <a:rPr sz="1200" b="0" i="0">
                <a:solidFill>
                  <a:srgbClr val="21295C"/>
                </a:solidFill>
                <a:latin typeface="Arial"/>
              </a:rPr>
              <a:t>Универсальная языковая модель не знает циклическое исполнение и допустимые адреса конкретной модели.</a:t>
            </a:r>
          </a:p>
          <a:p>
            <a:pPr algn="l">
              <a:lnSpc>
                <a:spcPct val="130000"/>
              </a:lnSpc>
            </a:pPr>
            <a:r>
              <a:rPr sz="400" b="0" i="0">
                <a:solidFill>
                  <a:srgbClr val="21295C"/>
                </a:solidFill>
                <a:latin typeface="Arial"/>
              </a:rPr>
              <a:t/>
            </a:r>
          </a:p>
          <a:p>
            <a:pPr algn="l">
              <a:lnSpc>
                <a:spcPct val="130000"/>
              </a:lnSpc>
            </a:pPr>
            <a:r>
              <a:rPr sz="1100" b="0" i="1">
                <a:solidFill>
                  <a:srgbClr val="F0AB00"/>
                </a:solidFill>
                <a:latin typeface="Arial"/>
              </a:rPr>
              <a:t>Это структурное ограничение, не «временный сбой».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Архитектура «инженер в петле»: безопасный паттерн A1</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AI предлагает → инженер проверяет → симуляция → проверка безопасности → загрузка в PLC</a:t>
            </a:r>
          </a:p>
        </p:txBody>
      </p:sp>
      <p:sp>
        <p:nvSpPr>
          <p:cNvPr id="4" name="Rounded Rectangle 3"/>
          <p:cNvSpPr/>
          <p:nvPr/>
        </p:nvSpPr>
        <p:spPr>
          <a:xfrm>
            <a:off x="906627" y="2286000"/>
            <a:ext cx="1783080" cy="18288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6627" y="2286000"/>
            <a:ext cx="1783080"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347" y="2331720"/>
            <a:ext cx="1691639"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AI</a:t>
            </a:r>
          </a:p>
        </p:txBody>
      </p:sp>
      <p:sp>
        <p:nvSpPr>
          <p:cNvPr id="7" name="TextBox 6"/>
          <p:cNvSpPr txBox="1"/>
          <p:nvPr/>
        </p:nvSpPr>
        <p:spPr>
          <a:xfrm>
            <a:off x="998067" y="2971800"/>
            <a:ext cx="1600200" cy="1005840"/>
          </a:xfrm>
          <a:prstGeom prst="rect">
            <a:avLst/>
          </a:prstGeom>
          <a:noFill/>
        </p:spPr>
        <p:txBody>
          <a:bodyPr wrap="square" lIns="0" rIns="0" tIns="0" bIns="0" anchor="t">
            <a:spAutoFit/>
          </a:bodyPr>
          <a:lstStyle/>
          <a:p>
            <a:pPr algn="ctr">
              <a:lnSpc>
                <a:spcPct val="130000"/>
              </a:lnSpc>
            </a:pPr>
            <a:r>
              <a:rPr sz="1200" b="0" i="0">
                <a:solidFill>
                  <a:srgbClr val="21295C"/>
                </a:solidFill>
                <a:latin typeface="Arial"/>
              </a:rPr>
              <a:t>предлагает
рекомендацию</a:t>
            </a:r>
          </a:p>
        </p:txBody>
      </p:sp>
      <p:sp>
        <p:nvSpPr>
          <p:cNvPr id="8" name="Right Arrow 7"/>
          <p:cNvSpPr/>
          <p:nvPr/>
        </p:nvSpPr>
        <p:spPr>
          <a:xfrm>
            <a:off x="2707995" y="3035808"/>
            <a:ext cx="329184" cy="329184"/>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55467" y="2286000"/>
            <a:ext cx="1783080" cy="18288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55467" y="2286000"/>
            <a:ext cx="1783080" cy="5486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1187" y="2331720"/>
            <a:ext cx="1691639"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Инженер</a:t>
            </a:r>
          </a:p>
        </p:txBody>
      </p:sp>
      <p:sp>
        <p:nvSpPr>
          <p:cNvPr id="12" name="TextBox 11"/>
          <p:cNvSpPr txBox="1"/>
          <p:nvPr/>
        </p:nvSpPr>
        <p:spPr>
          <a:xfrm>
            <a:off x="3146907" y="2971800"/>
            <a:ext cx="1600200" cy="1005840"/>
          </a:xfrm>
          <a:prstGeom prst="rect">
            <a:avLst/>
          </a:prstGeom>
          <a:noFill/>
        </p:spPr>
        <p:txBody>
          <a:bodyPr wrap="square" lIns="0" rIns="0" tIns="0" bIns="0" anchor="t">
            <a:spAutoFit/>
          </a:bodyPr>
          <a:lstStyle/>
          <a:p>
            <a:pPr algn="ctr">
              <a:lnSpc>
                <a:spcPct val="130000"/>
              </a:lnSpc>
            </a:pPr>
            <a:r>
              <a:rPr sz="1200" b="0" i="0">
                <a:solidFill>
                  <a:srgbClr val="21295C"/>
                </a:solidFill>
                <a:latin typeface="Arial"/>
              </a:rPr>
              <a:t>проверяет
и корректирует</a:t>
            </a:r>
          </a:p>
        </p:txBody>
      </p:sp>
      <p:sp>
        <p:nvSpPr>
          <p:cNvPr id="13" name="Right Arrow 12"/>
          <p:cNvSpPr/>
          <p:nvPr/>
        </p:nvSpPr>
        <p:spPr>
          <a:xfrm>
            <a:off x="4856835" y="3035808"/>
            <a:ext cx="329184" cy="329184"/>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04307" y="2286000"/>
            <a:ext cx="1783080" cy="18288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04307" y="2286000"/>
            <a:ext cx="1783080" cy="5486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0027" y="2331720"/>
            <a:ext cx="1691639"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Симулятор</a:t>
            </a:r>
          </a:p>
        </p:txBody>
      </p:sp>
      <p:sp>
        <p:nvSpPr>
          <p:cNvPr id="17" name="TextBox 16"/>
          <p:cNvSpPr txBox="1"/>
          <p:nvPr/>
        </p:nvSpPr>
        <p:spPr>
          <a:xfrm>
            <a:off x="5295747" y="2971800"/>
            <a:ext cx="1600200" cy="1005840"/>
          </a:xfrm>
          <a:prstGeom prst="rect">
            <a:avLst/>
          </a:prstGeom>
          <a:noFill/>
        </p:spPr>
        <p:txBody>
          <a:bodyPr wrap="square" lIns="0" rIns="0" tIns="0" bIns="0" anchor="t">
            <a:spAutoFit/>
          </a:bodyPr>
          <a:lstStyle/>
          <a:p>
            <a:pPr algn="ctr">
              <a:lnSpc>
                <a:spcPct val="130000"/>
              </a:lnSpc>
            </a:pPr>
            <a:r>
              <a:rPr sz="1200" b="0" i="0">
                <a:solidFill>
                  <a:srgbClr val="21295C"/>
                </a:solidFill>
                <a:latin typeface="Arial"/>
              </a:rPr>
              <a:t>валидирует
на двойнике</a:t>
            </a:r>
          </a:p>
        </p:txBody>
      </p:sp>
      <p:sp>
        <p:nvSpPr>
          <p:cNvPr id="18" name="Right Arrow 17"/>
          <p:cNvSpPr/>
          <p:nvPr/>
        </p:nvSpPr>
        <p:spPr>
          <a:xfrm>
            <a:off x="7005675" y="3035808"/>
            <a:ext cx="329184" cy="329184"/>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53147" y="2286000"/>
            <a:ext cx="1783080" cy="182880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53147" y="2286000"/>
            <a:ext cx="1783080" cy="5486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8867" y="2331720"/>
            <a:ext cx="1691639"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Безопасность</a:t>
            </a:r>
          </a:p>
        </p:txBody>
      </p:sp>
      <p:sp>
        <p:nvSpPr>
          <p:cNvPr id="22" name="TextBox 21"/>
          <p:cNvSpPr txBox="1"/>
          <p:nvPr/>
        </p:nvSpPr>
        <p:spPr>
          <a:xfrm>
            <a:off x="7444587" y="2971800"/>
            <a:ext cx="1600200" cy="1005840"/>
          </a:xfrm>
          <a:prstGeom prst="rect">
            <a:avLst/>
          </a:prstGeom>
          <a:noFill/>
        </p:spPr>
        <p:txBody>
          <a:bodyPr wrap="square" lIns="0" rIns="0" tIns="0" bIns="0" anchor="t">
            <a:spAutoFit/>
          </a:bodyPr>
          <a:lstStyle/>
          <a:p>
            <a:pPr algn="ctr">
              <a:lnSpc>
                <a:spcPct val="130000"/>
              </a:lnSpc>
            </a:pPr>
            <a:r>
              <a:rPr sz="1200" b="0" i="0">
                <a:solidFill>
                  <a:srgbClr val="21295C"/>
                </a:solidFill>
                <a:latin typeface="Arial"/>
              </a:rPr>
              <a:t>IEC 61131-3
+ тестовые сценарии</a:t>
            </a:r>
          </a:p>
        </p:txBody>
      </p:sp>
      <p:sp>
        <p:nvSpPr>
          <p:cNvPr id="23" name="Right Arrow 22"/>
          <p:cNvSpPr/>
          <p:nvPr/>
        </p:nvSpPr>
        <p:spPr>
          <a:xfrm>
            <a:off x="9154515" y="3035808"/>
            <a:ext cx="329184" cy="329184"/>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501987" y="2286000"/>
            <a:ext cx="1783080" cy="1828800"/>
          </a:xfrm>
          <a:prstGeom prst="roundRect">
            <a:avLst>
              <a:gd name="adj" fmla="val 10000"/>
            </a:avLst>
          </a:prstGeom>
          <a:solidFill>
            <a:srgbClr val="F4F7FA"/>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01987" y="2286000"/>
            <a:ext cx="1783080" cy="5486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47707" y="2331720"/>
            <a:ext cx="1691639"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Загрузка в PLC</a:t>
            </a:r>
          </a:p>
        </p:txBody>
      </p:sp>
      <p:sp>
        <p:nvSpPr>
          <p:cNvPr id="27" name="TextBox 26"/>
          <p:cNvSpPr txBox="1"/>
          <p:nvPr/>
        </p:nvSpPr>
        <p:spPr>
          <a:xfrm>
            <a:off x="9593427" y="2971800"/>
            <a:ext cx="1600200" cy="1005840"/>
          </a:xfrm>
          <a:prstGeom prst="rect">
            <a:avLst/>
          </a:prstGeom>
          <a:noFill/>
        </p:spPr>
        <p:txBody>
          <a:bodyPr wrap="square" lIns="0" rIns="0" tIns="0" bIns="0" anchor="t">
            <a:spAutoFit/>
          </a:bodyPr>
          <a:lstStyle/>
          <a:p>
            <a:pPr algn="ctr">
              <a:lnSpc>
                <a:spcPct val="130000"/>
              </a:lnSpc>
            </a:pPr>
            <a:r>
              <a:rPr sz="1200" b="0" i="0">
                <a:solidFill>
                  <a:srgbClr val="21295C"/>
                </a:solidFill>
                <a:latin typeface="Arial"/>
              </a:rPr>
              <a:t>только если
все шаги пройдены</a:t>
            </a:r>
          </a:p>
        </p:txBody>
      </p:sp>
      <p:sp>
        <p:nvSpPr>
          <p:cNvPr id="28" name="Rounded Rectangle 27"/>
          <p:cNvSpPr/>
          <p:nvPr/>
        </p:nvSpPr>
        <p:spPr>
          <a:xfrm>
            <a:off x="457200" y="4572000"/>
            <a:ext cx="11274552" cy="15544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663440"/>
            <a:ext cx="10972800" cy="1417320"/>
          </a:xfrm>
          <a:prstGeom prst="rect">
            <a:avLst/>
          </a:prstGeom>
          <a:noFill/>
        </p:spPr>
        <p:txBody>
          <a:bodyPr wrap="square" lIns="0" rIns="0" tIns="0" bIns="0" anchor="t">
            <a:spAutoFit/>
          </a:bodyPr>
          <a:lstStyle/>
          <a:p>
            <a:pPr algn="l">
              <a:lnSpc>
                <a:spcPct val="135000"/>
              </a:lnSpc>
            </a:pPr>
            <a:r>
              <a:rPr sz="1300" b="1" i="0">
                <a:solidFill>
                  <a:srgbClr val="065A82"/>
                </a:solidFill>
                <a:latin typeface="Arial"/>
              </a:rPr>
              <a:t>Три критерия применимости AI на PLC (без них — НЕ применяй):</a:t>
            </a:r>
          </a:p>
          <a:p>
            <a:pPr algn="l">
              <a:lnSpc>
                <a:spcPct val="135000"/>
              </a:lnSpc>
            </a:pPr>
            <a:r>
              <a:rPr sz="1200" b="0" i="0">
                <a:solidFill>
                  <a:srgbClr val="21295C"/>
                </a:solidFill>
                <a:latin typeface="Arial"/>
              </a:rPr>
              <a:t>(а) есть симулятор или двойник для валидации до развёртывания</a:t>
            </a:r>
          </a:p>
          <a:p>
            <a:pPr algn="l">
              <a:lnSpc>
                <a:spcPct val="135000"/>
              </a:lnSpc>
            </a:pPr>
            <a:r>
              <a:rPr sz="1200" b="0" i="0">
                <a:solidFill>
                  <a:srgbClr val="21295C"/>
                </a:solidFill>
                <a:latin typeface="Arial"/>
              </a:rPr>
              <a:t>(б) есть протоколы безопасности перед развёртыванием (IEC 61508 SIL 2/3 для критичных контуров)</a:t>
            </a:r>
          </a:p>
          <a:p>
            <a:pPr algn="l">
              <a:lnSpc>
                <a:spcPct val="135000"/>
              </a:lnSpc>
            </a:pPr>
            <a:r>
              <a:rPr sz="1200" b="0" i="0">
                <a:solidFill>
                  <a:srgbClr val="21295C"/>
                </a:solidFill>
                <a:latin typeface="Arial"/>
              </a:rPr>
              <a:t>(в) есть инженер с правом veto на каждое предложение AI</a:t>
            </a:r>
          </a:p>
        </p:txBody>
      </p:sp>
      <p:sp>
        <p:nvSpPr>
          <p:cNvPr id="30" name="TextBox 29"/>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Паттерн A1 — AI предлагает, человек решает; явное согласие на каждое изменение</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1. Двойник 2026</a:t>
            </a:r>
          </a:p>
        </p:txBody>
      </p:sp>
      <p:sp>
        <p:nvSpPr>
          <p:cNvPr id="4" name="Rectangle 3"/>
          <p:cNvSpPr/>
          <p:nvPr/>
        </p:nvSpPr>
        <p:spPr>
          <a:xfrm>
            <a:off x="186651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2. A0 Наблюдать</a:t>
            </a:r>
          </a:p>
        </p:txBody>
      </p:sp>
      <p:sp>
        <p:nvSpPr>
          <p:cNvPr id="6" name="Rectangle 5"/>
          <p:cNvSpPr/>
          <p:nvPr/>
        </p:nvSpPr>
        <p:spPr>
          <a:xfrm>
            <a:off x="327583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3. A1 Советовать</a:t>
            </a:r>
          </a:p>
        </p:txBody>
      </p:sp>
      <p:sp>
        <p:nvSpPr>
          <p:cNvPr id="8" name="Rectangle 7"/>
          <p:cNvSpPr/>
          <p:nvPr/>
        </p:nvSpPr>
        <p:spPr>
          <a:xfrm>
            <a:off x="4685157" y="292608"/>
            <a:ext cx="1381887"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4. A2 Замыкать</a:t>
            </a:r>
          </a:p>
        </p:txBody>
      </p:sp>
      <p:sp>
        <p:nvSpPr>
          <p:cNvPr id="10" name="Rectangle 9"/>
          <p:cNvSpPr/>
          <p:nvPr/>
        </p:nvSpPr>
        <p:spPr>
          <a:xfrm>
            <a:off x="6094476"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5. A3 Автоном.</a:t>
            </a:r>
          </a:p>
        </p:txBody>
      </p:sp>
      <p:sp>
        <p:nvSpPr>
          <p:cNvPr id="12" name="Rectangle 11"/>
          <p:cNvSpPr/>
          <p:nvPr/>
        </p:nvSpPr>
        <p:spPr>
          <a:xfrm>
            <a:off x="7503795"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6. Где НЕ AI</a:t>
            </a:r>
          </a:p>
        </p:txBody>
      </p:sp>
      <p:sp>
        <p:nvSpPr>
          <p:cNvPr id="14" name="Rectangle 13"/>
          <p:cNvSpPr/>
          <p:nvPr/>
        </p:nvSpPr>
        <p:spPr>
          <a:xfrm>
            <a:off x="8913114"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7. OT/IT</a:t>
            </a:r>
          </a:p>
        </p:txBody>
      </p:sp>
      <p:sp>
        <p:nvSpPr>
          <p:cNvPr id="16" name="Rectangle 15"/>
          <p:cNvSpPr/>
          <p:nvPr/>
        </p:nvSpPr>
        <p:spPr>
          <a:xfrm>
            <a:off x="10322433"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8. РФ + Закр.</a:t>
            </a:r>
          </a:p>
        </p:txBody>
      </p:sp>
      <p:sp>
        <p:nvSpPr>
          <p:cNvPr id="18" name="TextBox 17"/>
          <p:cNvSpPr txBox="1"/>
          <p:nvPr/>
        </p:nvSpPr>
        <p:spPr>
          <a:xfrm>
            <a:off x="457200" y="1097280"/>
            <a:ext cx="5486400" cy="5029200"/>
          </a:xfrm>
          <a:prstGeom prst="rect">
            <a:avLst/>
          </a:prstGeom>
          <a:noFill/>
        </p:spPr>
        <p:txBody>
          <a:bodyPr wrap="square" lIns="0" rIns="0" tIns="0" bIns="0" anchor="ctr">
            <a:spAutoFit/>
          </a:bodyPr>
          <a:lstStyle/>
          <a:p>
            <a:pPr algn="ctr">
              <a:lnSpc>
                <a:spcPct val="115000"/>
              </a:lnSpc>
            </a:pPr>
            <a:r>
              <a:rPr sz="38000" b="1" i="0">
                <a:solidFill>
                  <a:srgbClr val="D9E2EC"/>
                </a:solidFill>
                <a:latin typeface="Arial"/>
              </a:rPr>
              <a:t>4</a:t>
            </a:r>
          </a:p>
        </p:txBody>
      </p:sp>
      <p:sp>
        <p:nvSpPr>
          <p:cNvPr id="19" name="TextBox 18"/>
          <p:cNvSpPr txBox="1"/>
          <p:nvPr/>
        </p:nvSpPr>
        <p:spPr>
          <a:xfrm>
            <a:off x="5029200" y="2194560"/>
            <a:ext cx="6858000" cy="36576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600" b="1" i="0">
                <a:solidFill>
                  <a:srgbClr val="21295C"/>
                </a:solidFill>
                <a:latin typeface="Arial"/>
              </a:rPr>
              <a:t>A2 — Замыкать петлю</a:t>
            </a:r>
          </a:p>
          <a:p>
            <a:pPr algn="l">
              <a:lnSpc>
                <a:spcPct val="115000"/>
              </a:lnSpc>
            </a:pPr>
            <a:r>
              <a:rPr sz="800" b="0" i="0">
                <a:solidFill>
                  <a:srgbClr val="21295C"/>
                </a:solidFill>
                <a:latin typeface="Arial"/>
              </a:rPr>
              <a:t/>
            </a:r>
          </a:p>
          <a:p>
            <a:pPr algn="l">
              <a:lnSpc>
                <a:spcPct val="115000"/>
              </a:lnSpc>
            </a:pPr>
            <a:r>
              <a:rPr sz="1500" b="0" i="0">
                <a:solidFill>
                  <a:srgbClr val="065A82"/>
                </a:solidFill>
                <a:latin typeface="Arial"/>
              </a:rPr>
              <a:t>Yokogawa FKDPP · двойник как песочница · разрыв «симуляция → реальность» · MPC альтернатива</a:t>
            </a:r>
          </a:p>
          <a:p>
            <a:pPr algn="l">
              <a:lnSpc>
                <a:spcPct val="115000"/>
              </a:lnSpc>
            </a:pPr>
            <a:r>
              <a:rPr sz="600" b="0" i="0">
                <a:solidFill>
                  <a:srgbClr val="21295C"/>
                </a:solidFill>
                <a:latin typeface="Arial"/>
              </a:rPr>
              <a:t/>
            </a:r>
          </a:p>
          <a:p>
            <a:pPr algn="l">
              <a:lnSpc>
                <a:spcPct val="115000"/>
              </a:lnSpc>
            </a:pPr>
            <a:r>
              <a:rPr sz="1200" b="0" i="1">
                <a:solidFill>
                  <a:srgbClr val="F0AB00"/>
                </a:solidFill>
                <a:latin typeface="Arial"/>
              </a:rPr>
              <a:t>Раздел 4 · замыкание петли с архитектурой двойника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Yokogawa FKDPP в JSR: 35 дней RL на химзаводе, 2022</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Первый промышленного класса RL-кейс — алгоритм FKDPP + дистилляционная колонна JSR</a:t>
            </a:r>
          </a:p>
        </p:txBody>
      </p:sp>
      <p:pic>
        <p:nvPicPr>
          <p:cNvPr id="4" name="Picture 3" descr="s20-yokogawa-plant.jpg"/>
          <p:cNvPicPr>
            <a:picLocks noChangeAspect="1"/>
          </p:cNvPicPr>
          <p:nvPr/>
        </p:nvPicPr>
        <p:blipFill>
          <a:blip r:embed="rId2"/>
          <a:stretch>
            <a:fillRect/>
          </a:stretch>
        </p:blipFill>
        <p:spPr>
          <a:xfrm>
            <a:off x="457200" y="1600200"/>
            <a:ext cx="5943600" cy="4572000"/>
          </a:xfrm>
          <a:prstGeom prst="rect">
            <a:avLst/>
          </a:prstGeom>
        </p:spPr>
      </p:pic>
      <p:sp>
        <p:nvSpPr>
          <p:cNvPr id="5" name="TextBox 4"/>
          <p:cNvSpPr txBox="1"/>
          <p:nvPr/>
        </p:nvSpPr>
        <p:spPr>
          <a:xfrm>
            <a:off x="457200" y="6217920"/>
            <a:ext cx="5943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Дистилляционные колонны · Wikimedia · CC-BY-SA · аналог JSR</a:t>
            </a:r>
          </a:p>
        </p:txBody>
      </p:sp>
      <p:sp>
        <p:nvSpPr>
          <p:cNvPr id="6" name="Rounded Rectangle 5"/>
          <p:cNvSpPr/>
          <p:nvPr/>
        </p:nvSpPr>
        <p:spPr>
          <a:xfrm>
            <a:off x="6583680" y="1600200"/>
            <a:ext cx="5120640" cy="45720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737360"/>
            <a:ext cx="4754880" cy="4389120"/>
          </a:xfrm>
          <a:prstGeom prst="rect">
            <a:avLst/>
          </a:prstGeom>
          <a:noFill/>
        </p:spPr>
        <p:txBody>
          <a:bodyPr wrap="square" lIns="0" rIns="0" tIns="0" bIns="0" anchor="t">
            <a:spAutoFit/>
          </a:bodyPr>
          <a:lstStyle/>
          <a:p>
            <a:pPr algn="l">
              <a:lnSpc>
                <a:spcPct val="130000"/>
              </a:lnSpc>
            </a:pPr>
            <a:r>
              <a:rPr sz="2200" b="1" i="0">
                <a:solidFill>
                  <a:srgbClr val="065A82"/>
                </a:solidFill>
                <a:latin typeface="Arial"/>
              </a:rPr>
              <a:t>FKDPP</a:t>
            </a:r>
          </a:p>
          <a:p>
            <a:pPr algn="l">
              <a:lnSpc>
                <a:spcPct val="130000"/>
              </a:lnSpc>
            </a:pPr>
            <a:r>
              <a:rPr sz="1100" b="0" i="1">
                <a:solidFill>
                  <a:srgbClr val="1C7293"/>
                </a:solidFill>
                <a:latin typeface="Arial"/>
              </a:rPr>
              <a:t>Факториальное ядровое</a:t>
            </a:r>
          </a:p>
          <a:p>
            <a:pPr algn="l">
              <a:lnSpc>
                <a:spcPct val="130000"/>
              </a:lnSpc>
            </a:pPr>
            <a:r>
              <a:rPr sz="1100" b="0" i="1">
                <a:solidFill>
                  <a:srgbClr val="1C7293"/>
                </a:solidFill>
                <a:latin typeface="Arial"/>
              </a:rPr>
              <a:t>динамическое программирование политик</a:t>
            </a:r>
          </a:p>
          <a:p>
            <a:pPr algn="l">
              <a:lnSpc>
                <a:spcPct val="130000"/>
              </a:lnSpc>
            </a:pPr>
            <a:r>
              <a:rPr sz="800" b="0" i="0">
                <a:solidFill>
                  <a:srgbClr val="21295C"/>
                </a:solidFill>
                <a:latin typeface="Arial"/>
              </a:rPr>
              <a:t/>
            </a:r>
          </a:p>
          <a:p>
            <a:pPr algn="l">
              <a:lnSpc>
                <a:spcPct val="130000"/>
              </a:lnSpc>
            </a:pPr>
            <a:r>
              <a:rPr sz="1200" b="0" i="0">
                <a:solidFill>
                  <a:srgbClr val="21295C"/>
                </a:solidFill>
                <a:latin typeface="Arial"/>
              </a:rPr>
              <a:t>Yokogawa + NAIST, 2018 · off-policy RL</a:t>
            </a:r>
          </a:p>
          <a:p>
            <a:pPr algn="l">
              <a:lnSpc>
                <a:spcPct val="130000"/>
              </a:lnSpc>
            </a:pPr>
            <a:r>
              <a:rPr sz="1200" b="0" i="0">
                <a:solidFill>
                  <a:srgbClr val="21295C"/>
                </a:solidFill>
                <a:latin typeface="Arial"/>
              </a:rPr>
              <a:t>факториальная ядровая декомпозиция</a:t>
            </a:r>
          </a:p>
          <a:p>
            <a:pPr algn="l">
              <a:lnSpc>
                <a:spcPct val="130000"/>
              </a:lnSpc>
            </a:pPr>
            <a:r>
              <a:rPr sz="1200" b="0" i="1">
                <a:solidFill>
                  <a:srgbClr val="F0AB00"/>
                </a:solidFill>
                <a:latin typeface="Arial"/>
              </a:rPr>
              <a:t>отмечено индустриальными наградами</a:t>
            </a:r>
          </a:p>
          <a:p>
            <a:pPr algn="l">
              <a:lnSpc>
                <a:spcPct val="130000"/>
              </a:lnSpc>
            </a:pPr>
            <a:r>
              <a:rPr sz="800" b="0" i="0">
                <a:solidFill>
                  <a:srgbClr val="21295C"/>
                </a:solidFill>
                <a:latin typeface="Arial"/>
              </a:rPr>
              <a:t/>
            </a:r>
          </a:p>
          <a:p>
            <a:pPr algn="l">
              <a:lnSpc>
                <a:spcPct val="130000"/>
              </a:lnSpc>
            </a:pPr>
            <a:r>
              <a:rPr sz="1200" b="1" i="0">
                <a:solidFill>
                  <a:srgbClr val="065A82"/>
                </a:solidFill>
                <a:latin typeface="Arial"/>
              </a:rPr>
              <a:t>Чем уникален этот кейс:</a:t>
            </a:r>
          </a:p>
          <a:p>
            <a:pPr algn="l">
              <a:lnSpc>
                <a:spcPct val="130000"/>
              </a:lnSpc>
            </a:pPr>
            <a:r>
              <a:rPr sz="1200" b="0" i="0">
                <a:solidFill>
                  <a:srgbClr val="21295C"/>
                </a:solidFill>
                <a:latin typeface="Arial"/>
              </a:rPr>
              <a:t>· 35 дней непрерывной работы под RL</a:t>
            </a:r>
          </a:p>
          <a:p>
            <a:pPr algn="l">
              <a:lnSpc>
                <a:spcPct val="130000"/>
              </a:lnSpc>
            </a:pPr>
            <a:r>
              <a:rPr sz="1200" b="0" i="0">
                <a:solidFill>
                  <a:srgbClr val="21295C"/>
                </a:solidFill>
                <a:latin typeface="Arial"/>
              </a:rPr>
              <a:t>· дистилляционная колонна — A2 замкнутая петля</a:t>
            </a:r>
          </a:p>
          <a:p>
            <a:pPr algn="l">
              <a:lnSpc>
                <a:spcPct val="130000"/>
              </a:lnSpc>
            </a:pPr>
            <a:r>
              <a:rPr sz="1200" b="0" i="0">
                <a:solidFill>
                  <a:srgbClr val="21295C"/>
                </a:solidFill>
                <a:latin typeface="Arial"/>
              </a:rPr>
              <a:t>· оператор мог вмешаться, но не обязан</a:t>
            </a:r>
          </a:p>
          <a:p>
            <a:pPr algn="l">
              <a:lnSpc>
                <a:spcPct val="130000"/>
              </a:lnSpc>
            </a:pPr>
            <a:r>
              <a:rPr sz="800" b="0" i="0">
                <a:solidFill>
                  <a:srgbClr val="21295C"/>
                </a:solidFill>
                <a:latin typeface="Arial"/>
              </a:rPr>
              <a:t/>
            </a:r>
          </a:p>
          <a:p>
            <a:pPr algn="l">
              <a:lnSpc>
                <a:spcPct val="130000"/>
              </a:lnSpc>
            </a:pPr>
            <a:r>
              <a:rPr sz="1200" b="1" i="0">
                <a:solidFill>
                  <a:srgbClr val="F0AB00"/>
                </a:solidFill>
                <a:latin typeface="Arial"/>
              </a:rPr>
              <a:t>КЛЮЧЕВОЕ:</a:t>
            </a:r>
          </a:p>
          <a:p>
            <a:pPr algn="l">
              <a:lnSpc>
                <a:spcPct val="130000"/>
              </a:lnSpc>
            </a:pPr>
            <a:r>
              <a:rPr sz="1100" b="0" i="1">
                <a:solidFill>
                  <a:srgbClr val="21295C"/>
                </a:solidFill>
                <a:latin typeface="Arial"/>
              </a:rPr>
              <a:t>Yokogawa имела внутренний двойник колонны — RL обучался в симуляции ДО переноса.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Цифровой двойник как песочница для обучения RL</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Подъём с A1 на A2 без песочницы = слепая вера; NVIDIA Omniverse + Siemens Composer закрывают этот зазор</a:t>
            </a:r>
          </a:p>
        </p:txBody>
      </p:sp>
      <p:pic>
        <p:nvPicPr>
          <p:cNvPr id="4" name="Picture 3" descr="s21-nvidia-omniverse.jpg"/>
          <p:cNvPicPr>
            <a:picLocks noChangeAspect="1"/>
          </p:cNvPicPr>
          <p:nvPr/>
        </p:nvPicPr>
        <p:blipFill>
          <a:blip r:embed="rId2"/>
          <a:stretch>
            <a:fillRect/>
          </a:stretch>
        </p:blipFill>
        <p:spPr>
          <a:xfrm>
            <a:off x="457200" y="1600200"/>
            <a:ext cx="5029200" cy="4572000"/>
          </a:xfrm>
          <a:prstGeom prst="rect">
            <a:avLst/>
          </a:prstGeom>
        </p:spPr>
      </p:pic>
      <p:sp>
        <p:nvSpPr>
          <p:cNvPr id="5" name="TextBox 4"/>
          <p:cNvSpPr txBox="1"/>
          <p:nvPr/>
        </p:nvSpPr>
        <p:spPr>
          <a:xfrm>
            <a:off x="457200" y="6217920"/>
            <a:ext cx="50292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NVIDIA HQ · Wikimedia · CC-BY-SA · Omniverse + Cosmos физический AI</a:t>
            </a:r>
          </a:p>
        </p:txBody>
      </p:sp>
      <p:sp>
        <p:nvSpPr>
          <p:cNvPr id="6" name="TextBox 5"/>
          <p:cNvSpPr txBox="1"/>
          <p:nvPr/>
        </p:nvSpPr>
        <p:spPr>
          <a:xfrm>
            <a:off x="5760720" y="1691640"/>
            <a:ext cx="5943600" cy="457200"/>
          </a:xfrm>
          <a:prstGeom prst="rect">
            <a:avLst/>
          </a:prstGeom>
          <a:noFill/>
        </p:spPr>
        <p:txBody>
          <a:bodyPr wrap="square" lIns="0" rIns="0" tIns="0" bIns="0" anchor="t">
            <a:spAutoFit/>
          </a:bodyPr>
          <a:lstStyle/>
          <a:p>
            <a:pPr algn="l">
              <a:lnSpc>
                <a:spcPct val="125000"/>
              </a:lnSpc>
            </a:pPr>
            <a:r>
              <a:rPr sz="1300" b="1" i="0">
                <a:solidFill>
                  <a:srgbClr val="065A82"/>
                </a:solidFill>
                <a:latin typeface="Arial"/>
              </a:rPr>
              <a:t>ЦИКЛ ОБУЧЕНИЯ RL В ПЕСОЧНИЦЕ:</a:t>
            </a:r>
          </a:p>
        </p:txBody>
      </p:sp>
      <p:sp>
        <p:nvSpPr>
          <p:cNvPr id="7" name="Rounded Rectangle 6"/>
          <p:cNvSpPr/>
          <p:nvPr/>
        </p:nvSpPr>
        <p:spPr>
          <a:xfrm>
            <a:off x="5760720" y="2194560"/>
            <a:ext cx="5943600" cy="7772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60720" y="2194560"/>
            <a:ext cx="182880" cy="7772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89320" y="2240279"/>
            <a:ext cx="566928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1. Двойник</a:t>
            </a:r>
          </a:p>
        </p:txBody>
      </p:sp>
      <p:sp>
        <p:nvSpPr>
          <p:cNvPr id="10" name="TextBox 9"/>
          <p:cNvSpPr txBox="1"/>
          <p:nvPr/>
        </p:nvSpPr>
        <p:spPr>
          <a:xfrm>
            <a:off x="5989320" y="2606040"/>
            <a:ext cx="566928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точная модель оборудования + физика + поток данных</a:t>
            </a:r>
          </a:p>
        </p:txBody>
      </p:sp>
      <p:sp>
        <p:nvSpPr>
          <p:cNvPr id="11" name="Rounded Rectangle 10"/>
          <p:cNvSpPr/>
          <p:nvPr/>
        </p:nvSpPr>
        <p:spPr>
          <a:xfrm>
            <a:off x="5760720" y="3063239"/>
            <a:ext cx="5943600" cy="777240"/>
          </a:xfrm>
          <a:prstGeom prst="roundRect">
            <a:avLst>
              <a:gd name="adj" fmla="val 10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60720" y="3063239"/>
            <a:ext cx="182880" cy="777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3108959"/>
            <a:ext cx="566928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2. RL-агент</a:t>
            </a:r>
          </a:p>
        </p:txBody>
      </p:sp>
      <p:sp>
        <p:nvSpPr>
          <p:cNvPr id="14" name="TextBox 13"/>
          <p:cNvSpPr txBox="1"/>
          <p:nvPr/>
        </p:nvSpPr>
        <p:spPr>
          <a:xfrm>
            <a:off x="5989320" y="3474720"/>
            <a:ext cx="566928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обучается на 1000+ эпизодов симуляции — БЕЗ РИСКА для железа</a:t>
            </a:r>
          </a:p>
        </p:txBody>
      </p:sp>
      <p:sp>
        <p:nvSpPr>
          <p:cNvPr id="15" name="Rounded Rectangle 14"/>
          <p:cNvSpPr/>
          <p:nvPr/>
        </p:nvSpPr>
        <p:spPr>
          <a:xfrm>
            <a:off x="5760720" y="3931920"/>
            <a:ext cx="5943600" cy="777240"/>
          </a:xfrm>
          <a:prstGeom prst="roundRect">
            <a:avLst>
              <a:gd name="adj" fmla="val 10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60720" y="3931920"/>
            <a:ext cx="18288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3977639"/>
            <a:ext cx="566928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3. Валидация</a:t>
            </a:r>
          </a:p>
        </p:txBody>
      </p:sp>
      <p:sp>
        <p:nvSpPr>
          <p:cNvPr id="18" name="TextBox 17"/>
          <p:cNvSpPr txBox="1"/>
          <p:nvPr/>
        </p:nvSpPr>
        <p:spPr>
          <a:xfrm>
            <a:off x="5989320" y="4343400"/>
            <a:ext cx="566928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краевые случаи · анализ чувствительности · безопасная зона действия</a:t>
            </a:r>
          </a:p>
        </p:txBody>
      </p:sp>
      <p:sp>
        <p:nvSpPr>
          <p:cNvPr id="19" name="Rounded Rectangle 18"/>
          <p:cNvSpPr/>
          <p:nvPr/>
        </p:nvSpPr>
        <p:spPr>
          <a:xfrm>
            <a:off x="5760720" y="4800600"/>
            <a:ext cx="5943600" cy="777240"/>
          </a:xfrm>
          <a:prstGeom prst="roundRect">
            <a:avLst>
              <a:gd name="adj" fmla="val 10000"/>
            </a:avLst>
          </a:prstGeom>
          <a:solidFill>
            <a:srgbClr val="F4F7FA"/>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20" y="4800600"/>
            <a:ext cx="182880" cy="7772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846320"/>
            <a:ext cx="566928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4. Перенос</a:t>
            </a:r>
          </a:p>
        </p:txBody>
      </p:sp>
      <p:sp>
        <p:nvSpPr>
          <p:cNvPr id="22" name="TextBox 21"/>
          <p:cNvSpPr txBox="1"/>
          <p:nvPr/>
        </p:nvSpPr>
        <p:spPr>
          <a:xfrm>
            <a:off x="5989320" y="5212080"/>
            <a:ext cx="566928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политика RL → реальное оборудование в теневом режиме</a:t>
            </a:r>
          </a:p>
        </p:txBody>
      </p:sp>
      <p:sp>
        <p:nvSpPr>
          <p:cNvPr id="23" name="Rounded Rectangle 22"/>
          <p:cNvSpPr/>
          <p:nvPr/>
        </p:nvSpPr>
        <p:spPr>
          <a:xfrm>
            <a:off x="5760720" y="5669280"/>
            <a:ext cx="5943600" cy="777240"/>
          </a:xfrm>
          <a:prstGeom prst="roundRect">
            <a:avLst>
              <a:gd name="adj" fmla="val 10000"/>
            </a:avLst>
          </a:prstGeom>
          <a:solidFill>
            <a:srgbClr val="F4F7FA"/>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60720" y="5669280"/>
            <a:ext cx="182880" cy="7772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89320" y="5715000"/>
            <a:ext cx="566928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5. Откат</a:t>
            </a:r>
          </a:p>
        </p:txBody>
      </p:sp>
      <p:sp>
        <p:nvSpPr>
          <p:cNvPr id="26" name="TextBox 25"/>
          <p:cNvSpPr txBox="1"/>
          <p:nvPr/>
        </p:nvSpPr>
        <p:spPr>
          <a:xfrm>
            <a:off x="5989320" y="6080760"/>
            <a:ext cx="566928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если сдвиг распределения — снимаем RL, проводной PLC берёт управление</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Разрыв «симуляция → реальность»: T=300°C → T=315°C из-за отложений</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Симуляция не моделировала тепловые потери и поверхностное загрязнение; выход RL за пределы — 10% от штатного режима</a:t>
            </a:r>
          </a:p>
        </p:txBody>
      </p:sp>
      <p:sp>
        <p:nvSpPr>
          <p:cNvPr id="4" name="Rounded Rectangle 3"/>
          <p:cNvSpPr/>
          <p:nvPr/>
        </p:nvSpPr>
        <p:spPr>
          <a:xfrm>
            <a:off x="457200" y="1600200"/>
            <a:ext cx="731520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22-sim-real-gap.png"/>
          <p:cNvPicPr>
            <a:picLocks noChangeAspect="1"/>
          </p:cNvPicPr>
          <p:nvPr/>
        </p:nvPicPr>
        <p:blipFill>
          <a:blip r:embed="rId2"/>
          <a:stretch>
            <a:fillRect/>
          </a:stretch>
        </p:blipFill>
        <p:spPr>
          <a:xfrm>
            <a:off x="640080" y="1737360"/>
            <a:ext cx="6949440" cy="4297680"/>
          </a:xfrm>
          <a:prstGeom prst="rect">
            <a:avLst/>
          </a:prstGeom>
        </p:spPr>
      </p:pic>
      <p:sp>
        <p:nvSpPr>
          <p:cNvPr id="6" name="Rounded Rectangle 5"/>
          <p:cNvSpPr/>
          <p:nvPr/>
        </p:nvSpPr>
        <p:spPr>
          <a:xfrm>
            <a:off x="7955279" y="1600200"/>
            <a:ext cx="3749039"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1737360"/>
            <a:ext cx="3383280" cy="4389120"/>
          </a:xfrm>
          <a:prstGeom prst="rect">
            <a:avLst/>
          </a:prstGeom>
          <a:noFill/>
        </p:spPr>
        <p:txBody>
          <a:bodyPr wrap="square" lIns="0" rIns="0" tIns="0" bIns="0" anchor="t">
            <a:spAutoFit/>
          </a:bodyPr>
          <a:lstStyle/>
          <a:p>
            <a:pPr algn="ctr">
              <a:lnSpc>
                <a:spcPct val="130000"/>
              </a:lnSpc>
            </a:pPr>
            <a:r>
              <a:rPr sz="1300" b="1" i="0">
                <a:solidFill>
                  <a:srgbClr val="F0AB00"/>
                </a:solidFill>
                <a:latin typeface="Arial"/>
              </a:rPr>
              <a:t>ЧТО RL НЕ ВИДИТ:</a:t>
            </a:r>
          </a:p>
          <a:p>
            <a:pPr algn="l">
              <a:lnSpc>
                <a:spcPct val="130000"/>
              </a:lnSpc>
            </a:pPr>
            <a:r>
              <a:rPr sz="800" b="0" i="0">
                <a:solidFill>
                  <a:srgbClr val="21295C"/>
                </a:solidFill>
                <a:latin typeface="Arial"/>
              </a:rPr>
              <a:t/>
            </a:r>
          </a:p>
          <a:p>
            <a:pPr algn="l">
              <a:lnSpc>
                <a:spcPct val="130000"/>
              </a:lnSpc>
            </a:pPr>
            <a:r>
              <a:rPr sz="1100" b="0" i="0">
                <a:solidFill>
                  <a:srgbClr val="21295C"/>
                </a:solidFill>
                <a:latin typeface="Arial"/>
              </a:rPr>
              <a:t>· Поверхностное загрязнение — отложения на стенках колонны со временем</a:t>
            </a:r>
          </a:p>
          <a:p>
            <a:pPr algn="l">
              <a:lnSpc>
                <a:spcPct val="130000"/>
              </a:lnSpc>
            </a:pPr>
            <a:r>
              <a:rPr sz="600" b="0" i="0">
                <a:solidFill>
                  <a:srgbClr val="21295C"/>
                </a:solidFill>
                <a:latin typeface="Arial"/>
              </a:rPr>
              <a:t/>
            </a:r>
          </a:p>
          <a:p>
            <a:pPr algn="l">
              <a:lnSpc>
                <a:spcPct val="130000"/>
              </a:lnSpc>
            </a:pPr>
            <a:r>
              <a:rPr sz="1100" b="0" i="0">
                <a:solidFill>
                  <a:srgbClr val="21295C"/>
                </a:solidFill>
                <a:latin typeface="Arial"/>
              </a:rPr>
              <a:t>· Тепловые потери в окружающую среду — зависят от изоляции и сезона</a:t>
            </a:r>
          </a:p>
          <a:p>
            <a:pPr algn="l">
              <a:lnSpc>
                <a:spcPct val="130000"/>
              </a:lnSpc>
            </a:pPr>
            <a:r>
              <a:rPr sz="600" b="0" i="0">
                <a:solidFill>
                  <a:srgbClr val="21295C"/>
                </a:solidFill>
                <a:latin typeface="Arial"/>
              </a:rPr>
              <a:t/>
            </a:r>
          </a:p>
          <a:p>
            <a:pPr algn="l">
              <a:lnSpc>
                <a:spcPct val="130000"/>
              </a:lnSpc>
            </a:pPr>
            <a:r>
              <a:rPr sz="1100" b="0" i="0">
                <a:solidFill>
                  <a:srgbClr val="21295C"/>
                </a:solidFill>
                <a:latin typeface="Arial"/>
              </a:rPr>
              <a:t>· Дрейф датчиков — без калибровки термопары «уходят»</a:t>
            </a:r>
          </a:p>
          <a:p>
            <a:pPr algn="l">
              <a:lnSpc>
                <a:spcPct val="130000"/>
              </a:lnSpc>
            </a:pPr>
            <a:r>
              <a:rPr sz="800" b="0" i="0">
                <a:solidFill>
                  <a:srgbClr val="21295C"/>
                </a:solidFill>
                <a:latin typeface="Arial"/>
              </a:rPr>
              <a:t/>
            </a:r>
          </a:p>
          <a:p>
            <a:pPr algn="l">
              <a:lnSpc>
                <a:spcPct val="130000"/>
              </a:lnSpc>
            </a:pPr>
            <a:r>
              <a:rPr sz="1200" b="1" i="0">
                <a:solidFill>
                  <a:srgbClr val="065A82"/>
                </a:solidFill>
                <a:latin typeface="Arial"/>
              </a:rPr>
              <a:t>РЕЗУЛЬТАТ:</a:t>
            </a:r>
          </a:p>
          <a:p>
            <a:pPr algn="l">
              <a:lnSpc>
                <a:spcPct val="130000"/>
              </a:lnSpc>
            </a:pPr>
            <a:r>
              <a:rPr sz="1100" b="0" i="1">
                <a:solidFill>
                  <a:srgbClr val="21295C"/>
                </a:solidFill>
                <a:latin typeface="Arial"/>
              </a:rPr>
              <a:t>Выход за пределы режима — 10% от штатного за 60 дней.</a:t>
            </a:r>
          </a:p>
          <a:p>
            <a:pPr algn="l">
              <a:lnSpc>
                <a:spcPct val="130000"/>
              </a:lnSpc>
            </a:pPr>
            <a:r>
              <a:rPr sz="600" b="0" i="0">
                <a:solidFill>
                  <a:srgbClr val="21295C"/>
                </a:solidFill>
                <a:latin typeface="Arial"/>
              </a:rPr>
              <a:t/>
            </a:r>
          </a:p>
          <a:p>
            <a:pPr algn="l">
              <a:lnSpc>
                <a:spcPct val="130000"/>
              </a:lnSpc>
            </a:pPr>
            <a:r>
              <a:rPr sz="1200" b="1" i="0">
                <a:solidFill>
                  <a:srgbClr val="065A82"/>
                </a:solidFill>
                <a:latin typeface="Arial"/>
              </a:rPr>
              <a:t>УРОК:</a:t>
            </a:r>
          </a:p>
          <a:p>
            <a:pPr algn="l">
              <a:lnSpc>
                <a:spcPct val="130000"/>
              </a:lnSpc>
            </a:pPr>
            <a:r>
              <a:rPr sz="1100" b="0" i="1">
                <a:solidFill>
                  <a:srgbClr val="21295C"/>
                </a:solidFill>
                <a:latin typeface="Arial"/>
              </a:rPr>
              <a:t>Симуляция дешевле и быстрее, но без реальной физики не учитывает износ.</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MDPI Processes 2025 · конкретный пример разрыва «симуляция → реальность»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Где RL не применим: критичные по безопасности → проводной PLC + IEC 61508</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Известная физика → MPC, не RL · доказуемые гарантии устойчивости через теорию Ляпунова</a:t>
            </a:r>
          </a:p>
        </p:txBody>
      </p:sp>
      <p:sp>
        <p:nvSpPr>
          <p:cNvPr id="4" name="Rounded Rectangle 3"/>
          <p:cNvSpPr/>
          <p:nvPr/>
        </p:nvSpPr>
        <p:spPr>
          <a:xfrm>
            <a:off x="457200" y="1600200"/>
            <a:ext cx="5486400" cy="457200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548640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73352"/>
            <a:ext cx="5486400" cy="50292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Критичный по безопасности контур</a:t>
            </a:r>
          </a:p>
        </p:txBody>
      </p:sp>
      <p:sp>
        <p:nvSpPr>
          <p:cNvPr id="7" name="TextBox 6"/>
          <p:cNvSpPr txBox="1"/>
          <p:nvPr/>
        </p:nvSpPr>
        <p:spPr>
          <a:xfrm>
            <a:off x="640080" y="2423160"/>
            <a:ext cx="5120640" cy="3657600"/>
          </a:xfrm>
          <a:prstGeom prst="rect">
            <a:avLst/>
          </a:prstGeom>
          <a:noFill/>
        </p:spPr>
        <p:txBody>
          <a:bodyPr wrap="square" lIns="0" rIns="0" tIns="0" bIns="0" anchor="t">
            <a:spAutoFit/>
          </a:bodyPr>
          <a:lstStyle/>
          <a:p>
            <a:pPr algn="l">
              <a:lnSpc>
                <a:spcPct val="130000"/>
              </a:lnSpc>
            </a:pPr>
            <a:r>
              <a:rPr sz="1300" b="1" i="0">
                <a:solidFill>
                  <a:srgbClr val="1C7293"/>
                </a:solidFill>
                <a:latin typeface="Arial"/>
              </a:rPr>
              <a:t>Почему RL не сертифицируется:</a:t>
            </a:r>
          </a:p>
          <a:p>
            <a:pPr algn="l">
              <a:lnSpc>
                <a:spcPct val="130000"/>
              </a:lnSpc>
            </a:pPr>
            <a:r>
              <a:rPr sz="1300" b="0" i="0">
                <a:solidFill>
                  <a:srgbClr val="21295C"/>
                </a:solidFill>
                <a:latin typeface="Arial"/>
              </a:rPr>
              <a:t>· Нет журнала аудита для регулятора</a:t>
            </a:r>
          </a:p>
          <a:p>
            <a:pPr algn="l">
              <a:lnSpc>
                <a:spcPct val="130000"/>
              </a:lnSpc>
            </a:pPr>
            <a:r>
              <a:rPr sz="1300" b="0" i="0">
                <a:solidFill>
                  <a:srgbClr val="21295C"/>
                </a:solidFill>
                <a:latin typeface="Arial"/>
              </a:rPr>
              <a:t>· Недетерминированный вывод несовместим с IEC 61508 SIL 2/3</a:t>
            </a:r>
          </a:p>
          <a:p>
            <a:pPr algn="l">
              <a:lnSpc>
                <a:spcPct val="130000"/>
              </a:lnSpc>
            </a:pPr>
            <a:r>
              <a:rPr sz="1300" b="0" i="0">
                <a:solidFill>
                  <a:srgbClr val="21295C"/>
                </a:solidFill>
                <a:latin typeface="Arial"/>
              </a:rPr>
              <a:t>· Не покрывает краевые случаи по определению</a:t>
            </a:r>
          </a:p>
          <a:p>
            <a:pPr algn="l">
              <a:lnSpc>
                <a:spcPct val="130000"/>
              </a:lnSpc>
            </a:pPr>
            <a:r>
              <a:rPr sz="800" b="0" i="0">
                <a:solidFill>
                  <a:srgbClr val="21295C"/>
                </a:solidFill>
                <a:latin typeface="Arial"/>
              </a:rPr>
              <a:t/>
            </a:r>
          </a:p>
          <a:p>
            <a:pPr algn="l">
              <a:lnSpc>
                <a:spcPct val="130000"/>
              </a:lnSpc>
            </a:pPr>
            <a:r>
              <a:rPr sz="1400" b="1" i="0">
                <a:solidFill>
                  <a:srgbClr val="F0AB00"/>
                </a:solidFill>
                <a:latin typeface="Arial"/>
              </a:rPr>
              <a:t>АЛЬТЕРНАТИВА:</a:t>
            </a:r>
          </a:p>
          <a:p>
            <a:pPr algn="l">
              <a:lnSpc>
                <a:spcPct val="130000"/>
              </a:lnSpc>
            </a:pPr>
            <a:r>
              <a:rPr sz="1300" b="0" i="0">
                <a:solidFill>
                  <a:srgbClr val="21295C"/>
                </a:solidFill>
                <a:latin typeface="Arial"/>
              </a:rPr>
              <a:t>· Проводной PLC + IEC 61508 SIL 2/3</a:t>
            </a:r>
          </a:p>
          <a:p>
            <a:pPr algn="l">
              <a:lnSpc>
                <a:spcPct val="130000"/>
              </a:lnSpc>
            </a:pPr>
            <a:r>
              <a:rPr sz="1300" b="0" i="0">
                <a:solidFill>
                  <a:srgbClr val="21295C"/>
                </a:solidFill>
                <a:latin typeface="Arial"/>
              </a:rPr>
              <a:t>· Формальная верификация (TLA+, SPIN, Coq, SCADE)</a:t>
            </a:r>
          </a:p>
          <a:p>
            <a:pPr algn="l">
              <a:lnSpc>
                <a:spcPct val="130000"/>
              </a:lnSpc>
            </a:pPr>
            <a:r>
              <a:rPr sz="1300" b="1" i="0">
                <a:solidFill>
                  <a:srgbClr val="21295C"/>
                </a:solidFill>
                <a:latin typeface="Arial"/>
              </a:rPr>
              <a:t>· SIL 2 = 10⁻⁶..10⁻⁷ отказов/час</a:t>
            </a:r>
          </a:p>
          <a:p>
            <a:pPr algn="l">
              <a:lnSpc>
                <a:spcPct val="130000"/>
              </a:lnSpc>
            </a:pPr>
            <a:r>
              <a:rPr sz="1300" b="1" i="0">
                <a:solidFill>
                  <a:srgbClr val="21295C"/>
                </a:solidFill>
                <a:latin typeface="Arial"/>
              </a:rPr>
              <a:t>· SIL 3 = 10⁻⁷..10⁻⁸ отказов/час</a:t>
            </a:r>
          </a:p>
        </p:txBody>
      </p:sp>
      <p:sp>
        <p:nvSpPr>
          <p:cNvPr id="8" name="Rounded Rectangle 7"/>
          <p:cNvSpPr/>
          <p:nvPr/>
        </p:nvSpPr>
        <p:spPr>
          <a:xfrm>
            <a:off x="6245352" y="1600200"/>
            <a:ext cx="5486400" cy="45720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5352" y="1600200"/>
            <a:ext cx="548640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673352"/>
            <a:ext cx="5486400" cy="50292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Процесс с известной физикой</a:t>
            </a:r>
          </a:p>
        </p:txBody>
      </p:sp>
      <p:sp>
        <p:nvSpPr>
          <p:cNvPr id="11" name="TextBox 10"/>
          <p:cNvSpPr txBox="1"/>
          <p:nvPr/>
        </p:nvSpPr>
        <p:spPr>
          <a:xfrm>
            <a:off x="6428232" y="2423160"/>
            <a:ext cx="5120640" cy="3657600"/>
          </a:xfrm>
          <a:prstGeom prst="rect">
            <a:avLst/>
          </a:prstGeom>
          <a:noFill/>
        </p:spPr>
        <p:txBody>
          <a:bodyPr wrap="square" lIns="0" rIns="0" tIns="0" bIns="0" anchor="t">
            <a:spAutoFit/>
          </a:bodyPr>
          <a:lstStyle/>
          <a:p>
            <a:pPr algn="l">
              <a:lnSpc>
                <a:spcPct val="130000"/>
              </a:lnSpc>
            </a:pPr>
            <a:r>
              <a:rPr sz="1200" b="0" i="1">
                <a:solidFill>
                  <a:srgbClr val="1C7293"/>
                </a:solidFill>
                <a:latin typeface="Arial"/>
              </a:rPr>
              <a:t>Если уравнения известны (Навье–Стокса, теплоперенос, химическая кинетика):</a:t>
            </a:r>
          </a:p>
          <a:p>
            <a:pPr algn="l">
              <a:lnSpc>
                <a:spcPct val="130000"/>
              </a:lnSpc>
            </a:pPr>
            <a:r>
              <a:rPr sz="400" b="0" i="0">
                <a:solidFill>
                  <a:srgbClr val="21295C"/>
                </a:solidFill>
                <a:latin typeface="Arial"/>
              </a:rPr>
              <a:t/>
            </a:r>
          </a:p>
          <a:p>
            <a:pPr algn="l">
              <a:lnSpc>
                <a:spcPct val="130000"/>
              </a:lnSpc>
            </a:pPr>
            <a:r>
              <a:rPr sz="1500" b="1" i="0">
                <a:solidFill>
                  <a:srgbClr val="21295C"/>
                </a:solidFill>
                <a:latin typeface="Arial"/>
              </a:rPr>
              <a:t>MPC — Модельное предиктивное управление</a:t>
            </a:r>
          </a:p>
          <a:p>
            <a:pPr algn="l">
              <a:lnSpc>
                <a:spcPct val="130000"/>
              </a:lnSpc>
            </a:pPr>
            <a:r>
              <a:rPr sz="600" b="0" i="0">
                <a:solidFill>
                  <a:srgbClr val="21295C"/>
                </a:solidFill>
                <a:latin typeface="Arial"/>
              </a:rPr>
              <a:t/>
            </a:r>
          </a:p>
          <a:p>
            <a:pPr algn="l">
              <a:lnSpc>
                <a:spcPct val="130000"/>
              </a:lnSpc>
            </a:pPr>
            <a:r>
              <a:rPr sz="1300" b="1" i="0">
                <a:solidFill>
                  <a:srgbClr val="1C7293"/>
                </a:solidFill>
                <a:latin typeface="Arial"/>
              </a:rPr>
              <a:t>Преимущества MPC:</a:t>
            </a:r>
          </a:p>
          <a:p>
            <a:pPr algn="l">
              <a:lnSpc>
                <a:spcPct val="130000"/>
              </a:lnSpc>
            </a:pPr>
            <a:r>
              <a:rPr sz="1300" b="0" i="0">
                <a:solidFill>
                  <a:srgbClr val="21295C"/>
                </a:solidFill>
                <a:latin typeface="Arial"/>
              </a:rPr>
              <a:t>· Доказуемые гарантии устойчивости</a:t>
            </a:r>
          </a:p>
          <a:p>
            <a:pPr algn="l">
              <a:lnSpc>
                <a:spcPct val="130000"/>
              </a:lnSpc>
            </a:pPr>
            <a:r>
              <a:rPr sz="1200" b="0" i="1">
                <a:solidFill>
                  <a:srgbClr val="065A82"/>
                </a:solidFill>
                <a:latin typeface="Arial"/>
              </a:rPr>
              <a:t>  (теория Ляпунова — теорема о функции энергии)</a:t>
            </a:r>
          </a:p>
          <a:p>
            <a:pPr algn="l">
              <a:lnSpc>
                <a:spcPct val="130000"/>
              </a:lnSpc>
            </a:pPr>
            <a:r>
              <a:rPr sz="1300" b="0" i="0">
                <a:solidFill>
                  <a:srgbClr val="21295C"/>
                </a:solidFill>
                <a:latin typeface="Arial"/>
              </a:rPr>
              <a:t>· Явная оптимизация на горизонте N</a:t>
            </a:r>
          </a:p>
          <a:p>
            <a:pPr algn="l">
              <a:lnSpc>
                <a:spcPct val="130000"/>
              </a:lnSpc>
            </a:pPr>
            <a:r>
              <a:rPr sz="1300" b="0" i="0">
                <a:solidFill>
                  <a:srgbClr val="21295C"/>
                </a:solidFill>
                <a:latin typeface="Arial"/>
              </a:rPr>
              <a:t>· Учитывает жёсткие ограничения (PV/MV/выход)</a:t>
            </a:r>
          </a:p>
          <a:p>
            <a:pPr algn="l">
              <a:lnSpc>
                <a:spcPct val="130000"/>
              </a:lnSpc>
            </a:pPr>
            <a:r>
              <a:rPr sz="1300" b="0" i="0">
                <a:solidFill>
                  <a:srgbClr val="21295C"/>
                </a:solidFill>
                <a:latin typeface="Arial"/>
              </a:rPr>
              <a:t>· Сертифицируется в фарме и нефтехимии</a:t>
            </a:r>
          </a:p>
          <a:p>
            <a:pPr algn="l">
              <a:lnSpc>
                <a:spcPct val="130000"/>
              </a:lnSpc>
            </a:pPr>
            <a:r>
              <a:rPr sz="400" b="0" i="0">
                <a:solidFill>
                  <a:srgbClr val="21295C"/>
                </a:solidFill>
                <a:latin typeface="Arial"/>
              </a:rPr>
              <a:t/>
            </a:r>
          </a:p>
          <a:p>
            <a:pPr algn="l">
              <a:lnSpc>
                <a:spcPct val="130000"/>
              </a:lnSpc>
            </a:pPr>
            <a:r>
              <a:rPr sz="1200" b="1" i="1">
                <a:solidFill>
                  <a:srgbClr val="F0AB00"/>
                </a:solidFill>
                <a:latin typeface="Arial"/>
              </a:rPr>
              <a:t>RL даёт гибкость, MPC — гарантии.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1. Двойник 2026</a:t>
            </a:r>
          </a:p>
        </p:txBody>
      </p:sp>
      <p:sp>
        <p:nvSpPr>
          <p:cNvPr id="4" name="Rectangle 3"/>
          <p:cNvSpPr/>
          <p:nvPr/>
        </p:nvSpPr>
        <p:spPr>
          <a:xfrm>
            <a:off x="186651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2. A0 Наблюдать</a:t>
            </a:r>
          </a:p>
        </p:txBody>
      </p:sp>
      <p:sp>
        <p:nvSpPr>
          <p:cNvPr id="6" name="Rectangle 5"/>
          <p:cNvSpPr/>
          <p:nvPr/>
        </p:nvSpPr>
        <p:spPr>
          <a:xfrm>
            <a:off x="327583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3. A1 Советовать</a:t>
            </a:r>
          </a:p>
        </p:txBody>
      </p:sp>
      <p:sp>
        <p:nvSpPr>
          <p:cNvPr id="8" name="Rectangle 7"/>
          <p:cNvSpPr/>
          <p:nvPr/>
        </p:nvSpPr>
        <p:spPr>
          <a:xfrm>
            <a:off x="4685157"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4. A2 Замыкать</a:t>
            </a:r>
          </a:p>
        </p:txBody>
      </p:sp>
      <p:sp>
        <p:nvSpPr>
          <p:cNvPr id="10" name="Rectangle 9"/>
          <p:cNvSpPr/>
          <p:nvPr/>
        </p:nvSpPr>
        <p:spPr>
          <a:xfrm>
            <a:off x="6094476" y="292608"/>
            <a:ext cx="1381887"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5. A3 Автоном.</a:t>
            </a:r>
          </a:p>
        </p:txBody>
      </p:sp>
      <p:sp>
        <p:nvSpPr>
          <p:cNvPr id="12" name="Rectangle 11"/>
          <p:cNvSpPr/>
          <p:nvPr/>
        </p:nvSpPr>
        <p:spPr>
          <a:xfrm>
            <a:off x="7503795"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6. Где НЕ AI</a:t>
            </a:r>
          </a:p>
        </p:txBody>
      </p:sp>
      <p:sp>
        <p:nvSpPr>
          <p:cNvPr id="14" name="Rectangle 13"/>
          <p:cNvSpPr/>
          <p:nvPr/>
        </p:nvSpPr>
        <p:spPr>
          <a:xfrm>
            <a:off x="8913114"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7. OT/IT</a:t>
            </a:r>
          </a:p>
        </p:txBody>
      </p:sp>
      <p:sp>
        <p:nvSpPr>
          <p:cNvPr id="16" name="Rectangle 15"/>
          <p:cNvSpPr/>
          <p:nvPr/>
        </p:nvSpPr>
        <p:spPr>
          <a:xfrm>
            <a:off x="10322433"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8. РФ + Закр.</a:t>
            </a:r>
          </a:p>
        </p:txBody>
      </p:sp>
      <p:sp>
        <p:nvSpPr>
          <p:cNvPr id="18" name="TextBox 17"/>
          <p:cNvSpPr txBox="1"/>
          <p:nvPr/>
        </p:nvSpPr>
        <p:spPr>
          <a:xfrm>
            <a:off x="457200" y="1097280"/>
            <a:ext cx="5486400" cy="5029200"/>
          </a:xfrm>
          <a:prstGeom prst="rect">
            <a:avLst/>
          </a:prstGeom>
          <a:noFill/>
        </p:spPr>
        <p:txBody>
          <a:bodyPr wrap="square" lIns="0" rIns="0" tIns="0" bIns="0" anchor="ctr">
            <a:spAutoFit/>
          </a:bodyPr>
          <a:lstStyle/>
          <a:p>
            <a:pPr algn="ctr">
              <a:lnSpc>
                <a:spcPct val="115000"/>
              </a:lnSpc>
            </a:pPr>
            <a:r>
              <a:rPr sz="38000" b="1" i="0">
                <a:solidFill>
                  <a:srgbClr val="D9E2EC"/>
                </a:solidFill>
                <a:latin typeface="Arial"/>
              </a:rPr>
              <a:t>5</a:t>
            </a:r>
          </a:p>
        </p:txBody>
      </p:sp>
      <p:sp>
        <p:nvSpPr>
          <p:cNvPr id="19" name="TextBox 18"/>
          <p:cNvSpPr txBox="1"/>
          <p:nvPr/>
        </p:nvSpPr>
        <p:spPr>
          <a:xfrm>
            <a:off x="5029200" y="2194560"/>
            <a:ext cx="6858000" cy="36576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600" b="1" i="0">
                <a:solidFill>
                  <a:srgbClr val="21295C"/>
                </a:solidFill>
                <a:latin typeface="Arial"/>
              </a:rPr>
              <a:t>A3 — Действовать автономно</a:t>
            </a:r>
          </a:p>
          <a:p>
            <a:pPr algn="l">
              <a:lnSpc>
                <a:spcPct val="115000"/>
              </a:lnSpc>
            </a:pPr>
            <a:r>
              <a:rPr sz="800" b="0" i="0">
                <a:solidFill>
                  <a:srgbClr val="21295C"/>
                </a:solidFill>
                <a:latin typeface="Arial"/>
              </a:rPr>
              <a:t/>
            </a:r>
          </a:p>
          <a:p>
            <a:pPr algn="l">
              <a:lnSpc>
                <a:spcPct val="115000"/>
              </a:lnSpc>
            </a:pPr>
            <a:r>
              <a:rPr sz="1500" b="0" i="0">
                <a:solidFill>
                  <a:srgbClr val="065A82"/>
                </a:solidFill>
                <a:latin typeface="Arial"/>
              </a:rPr>
              <a:t>Toyota Digit на RAV4 · BMW Leipzig humanoid · единичные кейсы 2026</a:t>
            </a:r>
          </a:p>
          <a:p>
            <a:pPr algn="l">
              <a:lnSpc>
                <a:spcPct val="115000"/>
              </a:lnSpc>
            </a:pPr>
            <a:r>
              <a:rPr sz="600" b="0" i="0">
                <a:solidFill>
                  <a:srgbClr val="21295C"/>
                </a:solidFill>
                <a:latin typeface="Arial"/>
              </a:rPr>
              <a:t/>
            </a:r>
          </a:p>
          <a:p>
            <a:pPr algn="l">
              <a:lnSpc>
                <a:spcPct val="115000"/>
              </a:lnSpc>
            </a:pPr>
            <a:r>
              <a:rPr sz="1200" b="0" i="1">
                <a:solidFill>
                  <a:srgbClr val="F0AB00"/>
                </a:solidFill>
                <a:latin typeface="Arial"/>
              </a:rPr>
              <a:t>Раздел 4.5 · верхняя ступень — единицы кейсов</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A3 в 2026: Toyota Digit + BMW Leipzig humanoid — единичные кейсы</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Три блокера массового A3: регуляторика + стоимость + сложность</a:t>
            </a:r>
          </a:p>
        </p:txBody>
      </p:sp>
      <p:pic>
        <p:nvPicPr>
          <p:cNvPr id="4" name="Picture 3" descr="s25-toyota-digit.jpg"/>
          <p:cNvPicPr>
            <a:picLocks noChangeAspect="1"/>
          </p:cNvPicPr>
          <p:nvPr/>
        </p:nvPicPr>
        <p:blipFill>
          <a:blip r:embed="rId2"/>
          <a:stretch>
            <a:fillRect/>
          </a:stretch>
        </p:blipFill>
        <p:spPr>
          <a:xfrm>
            <a:off x="457200" y="1600200"/>
            <a:ext cx="5303520" cy="4572000"/>
          </a:xfrm>
          <a:prstGeom prst="rect">
            <a:avLst/>
          </a:prstGeom>
        </p:spPr>
      </p:pic>
      <p:sp>
        <p:nvSpPr>
          <p:cNvPr id="5" name="TextBox 4"/>
          <p:cNvSpPr txBox="1"/>
          <p:nvPr/>
        </p:nvSpPr>
        <p:spPr>
          <a:xfrm>
            <a:off x="457200" y="6217920"/>
            <a:ext cx="530352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Humanoid-роботы на фабрике · Wikimedia · CC-BY-SA · аналог Agility Digit</a:t>
            </a:r>
          </a:p>
        </p:txBody>
      </p:sp>
      <p:sp>
        <p:nvSpPr>
          <p:cNvPr id="6" name="TextBox 5"/>
          <p:cNvSpPr txBox="1"/>
          <p:nvPr/>
        </p:nvSpPr>
        <p:spPr>
          <a:xfrm>
            <a:off x="5943600" y="1691640"/>
            <a:ext cx="5760720" cy="411480"/>
          </a:xfrm>
          <a:prstGeom prst="rect">
            <a:avLst/>
          </a:prstGeom>
          <a:noFill/>
        </p:spPr>
        <p:txBody>
          <a:bodyPr wrap="square" lIns="0" rIns="0" tIns="0" bIns="0" anchor="t">
            <a:spAutoFit/>
          </a:bodyPr>
          <a:lstStyle/>
          <a:p>
            <a:pPr algn="l">
              <a:lnSpc>
                <a:spcPct val="125000"/>
              </a:lnSpc>
            </a:pPr>
            <a:r>
              <a:rPr sz="1300" b="1" i="0">
                <a:solidFill>
                  <a:srgbClr val="065A82"/>
                </a:solidFill>
                <a:latin typeface="Arial"/>
              </a:rPr>
              <a:t>ТРИ СТРУКТУРНЫХ БЛОКЕРА A3:</a:t>
            </a:r>
          </a:p>
        </p:txBody>
      </p:sp>
      <p:sp>
        <p:nvSpPr>
          <p:cNvPr id="7" name="Rounded Rectangle 6"/>
          <p:cNvSpPr/>
          <p:nvPr/>
        </p:nvSpPr>
        <p:spPr>
          <a:xfrm>
            <a:off x="5943600" y="2194560"/>
            <a:ext cx="5760720" cy="1234440"/>
          </a:xfrm>
          <a:prstGeom prst="roundRect">
            <a:avLst>
              <a:gd name="adj" fmla="val 10000"/>
            </a:avLst>
          </a:prstGeom>
          <a:solidFill>
            <a:srgbClr val="F4F7FA"/>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0" y="2194560"/>
            <a:ext cx="164592" cy="12344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99632" y="2286000"/>
            <a:ext cx="539496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1. Регуляторика</a:t>
            </a:r>
          </a:p>
        </p:txBody>
      </p:sp>
      <p:sp>
        <p:nvSpPr>
          <p:cNvPr id="10" name="TextBox 9"/>
          <p:cNvSpPr txBox="1"/>
          <p:nvPr/>
        </p:nvSpPr>
        <p:spPr>
          <a:xfrm>
            <a:off x="6199632" y="2697480"/>
            <a:ext cx="5394960" cy="68580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Для критичных по безопасности действий требуется IEC 61508 SIL 2/3 или ATEX Zone 0. RL и humanoid-роботы не сертифицируются.</a:t>
            </a:r>
          </a:p>
        </p:txBody>
      </p:sp>
      <p:sp>
        <p:nvSpPr>
          <p:cNvPr id="11" name="Rounded Rectangle 10"/>
          <p:cNvSpPr/>
          <p:nvPr/>
        </p:nvSpPr>
        <p:spPr>
          <a:xfrm>
            <a:off x="5943600" y="3520439"/>
            <a:ext cx="5760720" cy="1234440"/>
          </a:xfrm>
          <a:prstGeom prst="roundRect">
            <a:avLst>
              <a:gd name="adj" fmla="val 10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0" y="3520439"/>
            <a:ext cx="164592" cy="1234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3611879"/>
            <a:ext cx="539496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2. Стоимость</a:t>
            </a:r>
          </a:p>
        </p:txBody>
      </p:sp>
      <p:sp>
        <p:nvSpPr>
          <p:cNvPr id="14" name="TextBox 13"/>
          <p:cNvSpPr txBox="1"/>
          <p:nvPr/>
        </p:nvSpPr>
        <p:spPr>
          <a:xfrm>
            <a:off x="6199632" y="4023359"/>
            <a:ext cx="5394960" cy="68580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Humanoid Agility Robotics — несколько сотен тысяч долларов за единицу. Окупается только в нишах с высокой стоимостью труда и предсказуемой задачей.</a:t>
            </a:r>
          </a:p>
        </p:txBody>
      </p:sp>
      <p:sp>
        <p:nvSpPr>
          <p:cNvPr id="15" name="Rounded Rectangle 14"/>
          <p:cNvSpPr/>
          <p:nvPr/>
        </p:nvSpPr>
        <p:spPr>
          <a:xfrm>
            <a:off x="5943600" y="4846320"/>
            <a:ext cx="5760720" cy="1234440"/>
          </a:xfrm>
          <a:prstGeom prst="roundRect">
            <a:avLst>
              <a:gd name="adj" fmla="val 10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0" y="4846320"/>
            <a:ext cx="164592" cy="12344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9632" y="4937759"/>
            <a:ext cx="539496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3. Сложность</a:t>
            </a:r>
          </a:p>
        </p:txBody>
      </p:sp>
      <p:sp>
        <p:nvSpPr>
          <p:cNvPr id="18" name="TextBox 17"/>
          <p:cNvSpPr txBox="1"/>
          <p:nvPr/>
        </p:nvSpPr>
        <p:spPr>
          <a:xfrm>
            <a:off x="6199632" y="5349240"/>
            <a:ext cx="5394960" cy="68580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A3 требует полный стек: двойник + ИИ на границе сети + безопасная зона действия + управление флотом. Большинство заводов не имеет ни одного компонента промышленного класса.</a:t>
            </a:r>
          </a:p>
        </p:txBody>
      </p:sp>
      <p:sp>
        <p:nvSpPr>
          <p:cNvPr id="19" name="Rounded Rectangle 18"/>
          <p:cNvSpPr/>
          <p:nvPr/>
        </p:nvSpPr>
        <p:spPr>
          <a:xfrm>
            <a:off x="5943600" y="6126480"/>
            <a:ext cx="576072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6172200"/>
            <a:ext cx="5394960" cy="594360"/>
          </a:xfrm>
          <a:prstGeom prst="rect">
            <a:avLst/>
          </a:prstGeom>
          <a:noFill/>
        </p:spPr>
        <p:txBody>
          <a:bodyPr wrap="square" lIns="0" rIns="0" tIns="0" bIns="0" anchor="ctr">
            <a:spAutoFit/>
          </a:bodyPr>
          <a:lstStyle/>
          <a:p>
            <a:pPr algn="l">
              <a:lnSpc>
                <a:spcPct val="125000"/>
              </a:lnSpc>
            </a:pPr>
            <a:r>
              <a:rPr sz="1100" b="0" i="1">
                <a:solidFill>
                  <a:srgbClr val="21295C"/>
                </a:solidFill>
                <a:latin typeface="Arial"/>
              </a:rPr>
              <a:t>Паттерн 2026: A3-кейсы — логистические (Toyota Digit), не управляющие (никто не запустил RL автономно на химической колонне)</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1. Двойник 2026</a:t>
            </a:r>
          </a:p>
        </p:txBody>
      </p:sp>
      <p:sp>
        <p:nvSpPr>
          <p:cNvPr id="4" name="Rectangle 3"/>
          <p:cNvSpPr/>
          <p:nvPr/>
        </p:nvSpPr>
        <p:spPr>
          <a:xfrm>
            <a:off x="186651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2. A0 Наблюдать</a:t>
            </a:r>
          </a:p>
        </p:txBody>
      </p:sp>
      <p:sp>
        <p:nvSpPr>
          <p:cNvPr id="6" name="Rectangle 5"/>
          <p:cNvSpPr/>
          <p:nvPr/>
        </p:nvSpPr>
        <p:spPr>
          <a:xfrm>
            <a:off x="327583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3. A1 Советовать</a:t>
            </a:r>
          </a:p>
        </p:txBody>
      </p:sp>
      <p:sp>
        <p:nvSpPr>
          <p:cNvPr id="8" name="Rectangle 7"/>
          <p:cNvSpPr/>
          <p:nvPr/>
        </p:nvSpPr>
        <p:spPr>
          <a:xfrm>
            <a:off x="4685157"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4. A2 Замыкать</a:t>
            </a:r>
          </a:p>
        </p:txBody>
      </p:sp>
      <p:sp>
        <p:nvSpPr>
          <p:cNvPr id="10" name="Rectangle 9"/>
          <p:cNvSpPr/>
          <p:nvPr/>
        </p:nvSpPr>
        <p:spPr>
          <a:xfrm>
            <a:off x="6094476"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5. A3 Автоном.</a:t>
            </a:r>
          </a:p>
        </p:txBody>
      </p:sp>
      <p:sp>
        <p:nvSpPr>
          <p:cNvPr id="12" name="Rectangle 11"/>
          <p:cNvSpPr/>
          <p:nvPr/>
        </p:nvSpPr>
        <p:spPr>
          <a:xfrm>
            <a:off x="7503795" y="292608"/>
            <a:ext cx="1381887"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6. Где НЕ AI</a:t>
            </a:r>
          </a:p>
        </p:txBody>
      </p:sp>
      <p:sp>
        <p:nvSpPr>
          <p:cNvPr id="14" name="Rectangle 13"/>
          <p:cNvSpPr/>
          <p:nvPr/>
        </p:nvSpPr>
        <p:spPr>
          <a:xfrm>
            <a:off x="8913114"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7. OT/IT</a:t>
            </a:r>
          </a:p>
        </p:txBody>
      </p:sp>
      <p:sp>
        <p:nvSpPr>
          <p:cNvPr id="16" name="Rectangle 15"/>
          <p:cNvSpPr/>
          <p:nvPr/>
        </p:nvSpPr>
        <p:spPr>
          <a:xfrm>
            <a:off x="10322433"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8. РФ + Закр.</a:t>
            </a:r>
          </a:p>
        </p:txBody>
      </p:sp>
      <p:sp>
        <p:nvSpPr>
          <p:cNvPr id="18" name="TextBox 17"/>
          <p:cNvSpPr txBox="1"/>
          <p:nvPr/>
        </p:nvSpPr>
        <p:spPr>
          <a:xfrm>
            <a:off x="457200" y="1097280"/>
            <a:ext cx="5486400" cy="5029200"/>
          </a:xfrm>
          <a:prstGeom prst="rect">
            <a:avLst/>
          </a:prstGeom>
          <a:noFill/>
        </p:spPr>
        <p:txBody>
          <a:bodyPr wrap="square" lIns="0" rIns="0" tIns="0" bIns="0" anchor="ctr">
            <a:spAutoFit/>
          </a:bodyPr>
          <a:lstStyle/>
          <a:p>
            <a:pPr algn="ctr">
              <a:lnSpc>
                <a:spcPct val="115000"/>
              </a:lnSpc>
            </a:pPr>
            <a:r>
              <a:rPr sz="38000" b="1" i="0">
                <a:solidFill>
                  <a:srgbClr val="D9E2EC"/>
                </a:solidFill>
                <a:latin typeface="Arial"/>
              </a:rPr>
              <a:t>6</a:t>
            </a:r>
          </a:p>
        </p:txBody>
      </p:sp>
      <p:sp>
        <p:nvSpPr>
          <p:cNvPr id="19" name="TextBox 18"/>
          <p:cNvSpPr txBox="1"/>
          <p:nvPr/>
        </p:nvSpPr>
        <p:spPr>
          <a:xfrm>
            <a:off x="5029200" y="2194560"/>
            <a:ext cx="6858000" cy="36576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600" b="1" i="0">
                <a:solidFill>
                  <a:srgbClr val="21295C"/>
                </a:solidFill>
                <a:latin typeface="Arial"/>
              </a:rPr>
              <a:t>Где AI НЕ применим</a:t>
            </a:r>
          </a:p>
          <a:p>
            <a:pPr algn="l">
              <a:lnSpc>
                <a:spcPct val="115000"/>
              </a:lnSpc>
            </a:pPr>
            <a:r>
              <a:rPr sz="800" b="0" i="0">
                <a:solidFill>
                  <a:srgbClr val="21295C"/>
                </a:solidFill>
                <a:latin typeface="Arial"/>
              </a:rPr>
              <a:t/>
            </a:r>
          </a:p>
          <a:p>
            <a:pPr algn="l">
              <a:lnSpc>
                <a:spcPct val="115000"/>
              </a:lnSpc>
            </a:pPr>
            <a:r>
              <a:rPr sz="1500" b="0" i="0">
                <a:solidFill>
                  <a:srgbClr val="065A82"/>
                </a:solidFill>
                <a:latin typeface="Arial"/>
              </a:rPr>
              <a:t>Десять критериев · фарма+FDA рабочий пример · Gartner 40% отмен · 5 вопросов вендору</a:t>
            </a:r>
          </a:p>
          <a:p>
            <a:pPr algn="l">
              <a:lnSpc>
                <a:spcPct val="115000"/>
              </a:lnSpc>
            </a:pPr>
            <a:r>
              <a:rPr sz="600" b="0" i="0">
                <a:solidFill>
                  <a:srgbClr val="21295C"/>
                </a:solidFill>
                <a:latin typeface="Arial"/>
              </a:rPr>
              <a:t/>
            </a:r>
          </a:p>
          <a:p>
            <a:pPr algn="l">
              <a:lnSpc>
                <a:spcPct val="115000"/>
              </a:lnSpc>
            </a:pPr>
            <a:r>
              <a:rPr sz="1200" b="0" i="1">
                <a:solidFill>
                  <a:srgbClr val="F0AB00"/>
                </a:solidFill>
                <a:latin typeface="Arial"/>
              </a:rPr>
              <a:t>Раздел 5 · ядро лекции — критерии «AI не подходит»</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Где AI не нужен — начинаем с анонимного кейса морского порта 2024</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Канонический случай Tesla 2018 разобран ранее; здесь — свежий провал 2024, прямо связан с keystone-двойником</a:t>
            </a:r>
          </a:p>
        </p:txBody>
      </p:sp>
      <p:pic>
        <p:nvPicPr>
          <p:cNvPr id="4" name="Picture 3" descr="s27-port-harbor.jpg"/>
          <p:cNvPicPr>
            <a:picLocks noChangeAspect="1"/>
          </p:cNvPicPr>
          <p:nvPr/>
        </p:nvPicPr>
        <p:blipFill>
          <a:blip r:embed="rId2"/>
          <a:stretch>
            <a:fillRect/>
          </a:stretch>
        </p:blipFill>
        <p:spPr>
          <a:xfrm>
            <a:off x="457200" y="1600200"/>
            <a:ext cx="6858000" cy="4572000"/>
          </a:xfrm>
          <a:prstGeom prst="rect">
            <a:avLst/>
          </a:prstGeom>
        </p:spPr>
      </p:pic>
      <p:sp>
        <p:nvSpPr>
          <p:cNvPr id="5" name="TextBox 4"/>
          <p:cNvSpPr txBox="1"/>
          <p:nvPr/>
        </p:nvSpPr>
        <p:spPr>
          <a:xfrm>
            <a:off x="457200" y="6217920"/>
            <a:ext cx="6858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Контейнерный порт Антверпен (MPET-MSC PSA) · Wikimedia · CC-BY-SA</a:t>
            </a:r>
          </a:p>
        </p:txBody>
      </p:sp>
      <p:sp>
        <p:nvSpPr>
          <p:cNvPr id="6" name="Rounded Rectangle 5"/>
          <p:cNvSpPr/>
          <p:nvPr/>
        </p:nvSpPr>
        <p:spPr>
          <a:xfrm>
            <a:off x="7498079" y="1600200"/>
            <a:ext cx="4206240"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737360"/>
            <a:ext cx="3840480" cy="4389120"/>
          </a:xfrm>
          <a:prstGeom prst="rect">
            <a:avLst/>
          </a:prstGeom>
          <a:noFill/>
        </p:spPr>
        <p:txBody>
          <a:bodyPr wrap="square" lIns="0" rIns="0" tIns="0" bIns="0" anchor="t">
            <a:spAutoFit/>
          </a:bodyPr>
          <a:lstStyle/>
          <a:p>
            <a:pPr algn="ctr">
              <a:lnSpc>
                <a:spcPct val="130000"/>
              </a:lnSpc>
            </a:pPr>
            <a:r>
              <a:rPr sz="3800" b="1" i="0">
                <a:solidFill>
                  <a:srgbClr val="F0AB00"/>
                </a:solidFill>
                <a:latin typeface="Arial"/>
              </a:rPr>
              <a:t>$12 млн</a:t>
            </a:r>
          </a:p>
          <a:p>
            <a:pPr algn="ctr">
              <a:lnSpc>
                <a:spcPct val="130000"/>
              </a:lnSpc>
            </a:pPr>
            <a:r>
              <a:rPr sz="1200" b="0" i="1">
                <a:solidFill>
                  <a:srgbClr val="4A556B"/>
                </a:solidFill>
                <a:latin typeface="Arial"/>
              </a:rPr>
              <a:t>на цифровой двойник</a:t>
            </a:r>
          </a:p>
          <a:p>
            <a:pPr algn="l">
              <a:lnSpc>
                <a:spcPct val="130000"/>
              </a:lnSpc>
            </a:pPr>
            <a:r>
              <a:rPr sz="1000" b="0" i="0">
                <a:solidFill>
                  <a:srgbClr val="21295C"/>
                </a:solidFill>
                <a:latin typeface="Arial"/>
              </a:rPr>
              <a:t/>
            </a:r>
          </a:p>
          <a:p>
            <a:pPr algn="ctr">
              <a:lnSpc>
                <a:spcPct val="130000"/>
              </a:lnSpc>
            </a:pPr>
            <a:r>
              <a:rPr sz="2800" b="1" i="0">
                <a:solidFill>
                  <a:srgbClr val="065A82"/>
                </a:solidFill>
                <a:latin typeface="Arial"/>
              </a:rPr>
              <a:t>18 месяцев</a:t>
            </a:r>
          </a:p>
          <a:p>
            <a:pPr algn="ctr">
              <a:lnSpc>
                <a:spcPct val="130000"/>
              </a:lnSpc>
            </a:pPr>
            <a:r>
              <a:rPr sz="1200" b="0" i="1">
                <a:solidFill>
                  <a:srgbClr val="4A556B"/>
                </a:solidFill>
                <a:latin typeface="Arial"/>
              </a:rPr>
              <a:t>пилот</a:t>
            </a:r>
          </a:p>
          <a:p>
            <a:pPr algn="l">
              <a:lnSpc>
                <a:spcPct val="130000"/>
              </a:lnSpc>
            </a:pPr>
            <a:r>
              <a:rPr sz="1000" b="0" i="0">
                <a:solidFill>
                  <a:srgbClr val="21295C"/>
                </a:solidFill>
                <a:latin typeface="Arial"/>
              </a:rPr>
              <a:t/>
            </a:r>
          </a:p>
          <a:p>
            <a:pPr algn="ctr">
              <a:lnSpc>
                <a:spcPct val="130000"/>
              </a:lnSpc>
            </a:pPr>
            <a:r>
              <a:rPr sz="2800" b="1" i="0">
                <a:solidFill>
                  <a:srgbClr val="028090"/>
                </a:solidFill>
                <a:latin typeface="Arial"/>
              </a:rPr>
              <a:t>2024</a:t>
            </a:r>
          </a:p>
          <a:p>
            <a:pPr algn="ctr">
              <a:lnSpc>
                <a:spcPct val="130000"/>
              </a:lnSpc>
            </a:pPr>
            <a:r>
              <a:rPr sz="1200" b="0" i="1">
                <a:solidFill>
                  <a:srgbClr val="4A556B"/>
                </a:solidFill>
                <a:latin typeface="Arial"/>
              </a:rPr>
              <a:t>проект списан</a:t>
            </a:r>
          </a:p>
          <a:p>
            <a:pPr algn="l">
              <a:lnSpc>
                <a:spcPct val="130000"/>
              </a:lnSpc>
            </a:pPr>
            <a:r>
              <a:rPr sz="1200" b="0" i="0">
                <a:solidFill>
                  <a:srgbClr val="21295C"/>
                </a:solidFill>
                <a:latin typeface="Arial"/>
              </a:rPr>
              <a:t/>
            </a:r>
          </a:p>
          <a:p>
            <a:pPr algn="ctr">
              <a:lnSpc>
                <a:spcPct val="130000"/>
              </a:lnSpc>
            </a:pPr>
            <a:r>
              <a:rPr sz="1200" b="1" i="0">
                <a:solidFill>
                  <a:srgbClr val="F0AB00"/>
                </a:solidFill>
                <a:latin typeface="Arial"/>
              </a:rPr>
              <a:t>ВЫВОД:</a:t>
            </a:r>
          </a:p>
          <a:p>
            <a:pPr algn="ctr">
              <a:lnSpc>
                <a:spcPct val="130000"/>
              </a:lnSpc>
            </a:pPr>
            <a:r>
              <a:rPr sz="1200" b="1" i="0">
                <a:solidFill>
                  <a:srgbClr val="21295C"/>
                </a:solidFill>
                <a:latin typeface="Arial"/>
              </a:rPr>
              <a:t>3D-визуализация без потока данных = музей, а не двойник.</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4864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Десять структурных критериев «AI не подходит» + альтернативы</a:t>
            </a:r>
          </a:p>
        </p:txBody>
      </p:sp>
      <p:sp>
        <p:nvSpPr>
          <p:cNvPr id="3" name="TextBox 2"/>
          <p:cNvSpPr txBox="1"/>
          <p:nvPr/>
        </p:nvSpPr>
        <p:spPr>
          <a:xfrm>
            <a:off x="457200" y="914400"/>
            <a:ext cx="11274552" cy="27432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Если один из критериев применим — задача НЕ для AI; альтернатива справа доказывает себя десятилетиями</a:t>
            </a:r>
          </a:p>
        </p:txBody>
      </p:sp>
      <p:sp>
        <p:nvSpPr>
          <p:cNvPr id="4" name="Rectangle 3"/>
          <p:cNvSpPr/>
          <p:nvPr/>
        </p:nvSpPr>
        <p:spPr>
          <a:xfrm>
            <a:off x="457200" y="1325880"/>
            <a:ext cx="11274552" cy="4297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1. Критичный по безопасности контур</a:t>
            </a:r>
          </a:p>
        </p:txBody>
      </p:sp>
      <p:sp>
        <p:nvSpPr>
          <p:cNvPr id="6" name="TextBox 5"/>
          <p:cNvSpPr txBox="1"/>
          <p:nvPr/>
        </p:nvSpPr>
        <p:spPr>
          <a:xfrm>
            <a:off x="6263640" y="1417320"/>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Проводной PLC + IEC 61508 SIL 2/3 + формальная верификация</a:t>
            </a:r>
          </a:p>
        </p:txBody>
      </p:sp>
      <p:sp>
        <p:nvSpPr>
          <p:cNvPr id="7" name="TextBox 6"/>
          <p:cNvSpPr txBox="1"/>
          <p:nvPr/>
        </p:nvSpPr>
        <p:spPr>
          <a:xfrm>
            <a:off x="640080" y="1892807"/>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2. Процесс с известной физикой</a:t>
            </a:r>
          </a:p>
        </p:txBody>
      </p:sp>
      <p:sp>
        <p:nvSpPr>
          <p:cNvPr id="8" name="TextBox 7"/>
          <p:cNvSpPr txBox="1"/>
          <p:nvPr/>
        </p:nvSpPr>
        <p:spPr>
          <a:xfrm>
            <a:off x="6263640" y="1892807"/>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MPC — модельное предиктивное управление с гарантиями</a:t>
            </a:r>
          </a:p>
        </p:txBody>
      </p:sp>
      <p:sp>
        <p:nvSpPr>
          <p:cNvPr id="9" name="Rectangle 8"/>
          <p:cNvSpPr/>
          <p:nvPr/>
        </p:nvSpPr>
        <p:spPr>
          <a:xfrm>
            <a:off x="457200" y="2276856"/>
            <a:ext cx="11274552" cy="4297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68296"/>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3. Редкое событие (MTBF &gt;1 года, n&lt;30)</a:t>
            </a:r>
          </a:p>
        </p:txBody>
      </p:sp>
      <p:sp>
        <p:nvSpPr>
          <p:cNvPr id="11" name="TextBox 10"/>
          <p:cNvSpPr txBox="1"/>
          <p:nvPr/>
        </p:nvSpPr>
        <p:spPr>
          <a:xfrm>
            <a:off x="6263640" y="2368296"/>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Физическая симуляция + RCM</a:t>
            </a:r>
          </a:p>
        </p:txBody>
      </p:sp>
      <p:sp>
        <p:nvSpPr>
          <p:cNvPr id="12" name="TextBox 11"/>
          <p:cNvSpPr txBox="1"/>
          <p:nvPr/>
        </p:nvSpPr>
        <p:spPr>
          <a:xfrm>
            <a:off x="640080" y="2843784"/>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4. Поиск дефектов нестабильного процесса</a:t>
            </a:r>
          </a:p>
        </p:txBody>
      </p:sp>
      <p:sp>
        <p:nvSpPr>
          <p:cNvPr id="13" name="TextBox 12"/>
          <p:cNvSpPr txBox="1"/>
          <p:nvPr/>
        </p:nvSpPr>
        <p:spPr>
          <a:xfrm>
            <a:off x="6263640" y="2843784"/>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Пересмотр процесса ПЕРЕД применением Vision AI</a:t>
            </a:r>
          </a:p>
        </p:txBody>
      </p:sp>
      <p:sp>
        <p:nvSpPr>
          <p:cNvPr id="14" name="Rectangle 13"/>
          <p:cNvSpPr/>
          <p:nvPr/>
        </p:nvSpPr>
        <p:spPr>
          <a:xfrm>
            <a:off x="457200" y="3227832"/>
            <a:ext cx="11274552" cy="4297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19272"/>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5. Жёсткие допуски ±0,001 мм</a:t>
            </a:r>
          </a:p>
        </p:txBody>
      </p:sp>
      <p:sp>
        <p:nvSpPr>
          <p:cNvPr id="16" name="TextBox 15"/>
          <p:cNvSpPr txBox="1"/>
          <p:nvPr/>
        </p:nvSpPr>
        <p:spPr>
          <a:xfrm>
            <a:off x="6263640" y="3319272"/>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Метрология + GD&amp;T + SPC</a:t>
            </a:r>
          </a:p>
        </p:txBody>
      </p:sp>
      <p:sp>
        <p:nvSpPr>
          <p:cNvPr id="17" name="TextBox 16"/>
          <p:cNvSpPr txBox="1"/>
          <p:nvPr/>
        </p:nvSpPr>
        <p:spPr>
          <a:xfrm>
            <a:off x="640080" y="3794759"/>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6. Универсальная генерация PLC-кода</a:t>
            </a:r>
          </a:p>
        </p:txBody>
      </p:sp>
      <p:sp>
        <p:nvSpPr>
          <p:cNvPr id="18" name="TextBox 17"/>
          <p:cNvSpPr txBox="1"/>
          <p:nvPr/>
        </p:nvSpPr>
        <p:spPr>
          <a:xfrm>
            <a:off x="6263640" y="3794759"/>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Специализированный инструмент с инженером в петле ИЛИ инженер + симулятор</a:t>
            </a:r>
          </a:p>
        </p:txBody>
      </p:sp>
      <p:sp>
        <p:nvSpPr>
          <p:cNvPr id="19" name="Rectangle 18"/>
          <p:cNvSpPr/>
          <p:nvPr/>
        </p:nvSpPr>
        <p:spPr>
          <a:xfrm>
            <a:off x="457200" y="4178808"/>
            <a:ext cx="11274552" cy="4297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270248"/>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7. Регулируемая среда без объяснимости (FDA 21 CFR Part 11, GAMP 5)</a:t>
            </a:r>
          </a:p>
        </p:txBody>
      </p:sp>
      <p:sp>
        <p:nvSpPr>
          <p:cNvPr id="21" name="TextBox 20"/>
          <p:cNvSpPr txBox="1"/>
          <p:nvPr/>
        </p:nvSpPr>
        <p:spPr>
          <a:xfrm>
            <a:off x="6263640" y="4270248"/>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Объяснимый ИИ (SHAP / LIME) + правила + журнал аудита</a:t>
            </a:r>
          </a:p>
        </p:txBody>
      </p:sp>
      <p:sp>
        <p:nvSpPr>
          <p:cNvPr id="22" name="TextBox 21"/>
          <p:cNvSpPr txBox="1"/>
          <p:nvPr/>
        </p:nvSpPr>
        <p:spPr>
          <a:xfrm>
            <a:off x="640080" y="4745736"/>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8. ATEX Zone 0 — взрывоопасная среда</a:t>
            </a:r>
          </a:p>
        </p:txBody>
      </p:sp>
      <p:sp>
        <p:nvSpPr>
          <p:cNvPr id="23" name="TextBox 22"/>
          <p:cNvSpPr txBox="1"/>
          <p:nvPr/>
        </p:nvSpPr>
        <p:spPr>
          <a:xfrm>
            <a:off x="6263640" y="4745736"/>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ATEX-сертифицированные датчики + удалённая обработка</a:t>
            </a:r>
          </a:p>
        </p:txBody>
      </p:sp>
      <p:sp>
        <p:nvSpPr>
          <p:cNvPr id="24" name="Rectangle 23"/>
          <p:cNvSpPr/>
          <p:nvPr/>
        </p:nvSpPr>
        <p:spPr>
          <a:xfrm>
            <a:off x="457200" y="5129784"/>
            <a:ext cx="11274552" cy="4297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221224"/>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9. Стоимость AI &gt; стоимости ошибки человека</a:t>
            </a:r>
          </a:p>
        </p:txBody>
      </p:sp>
      <p:sp>
        <p:nvSpPr>
          <p:cNvPr id="26" name="TextBox 25"/>
          <p:cNvSpPr txBox="1"/>
          <p:nvPr/>
        </p:nvSpPr>
        <p:spPr>
          <a:xfrm>
            <a:off x="6263640" y="5221224"/>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Не внедрять; направить бюджет на обучение оператора</a:t>
            </a:r>
          </a:p>
        </p:txBody>
      </p:sp>
      <p:sp>
        <p:nvSpPr>
          <p:cNvPr id="27" name="TextBox 26"/>
          <p:cNvSpPr txBox="1"/>
          <p:nvPr/>
        </p:nvSpPr>
        <p:spPr>
          <a:xfrm>
            <a:off x="640080" y="5696712"/>
            <a:ext cx="5486400" cy="338328"/>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10. Отсутствие чёткого сценария (аудит данных не пройден)</a:t>
            </a:r>
          </a:p>
        </p:txBody>
      </p:sp>
      <p:sp>
        <p:nvSpPr>
          <p:cNvPr id="28" name="TextBox 27"/>
          <p:cNvSpPr txBox="1"/>
          <p:nvPr/>
        </p:nvSpPr>
        <p:spPr>
          <a:xfrm>
            <a:off x="6263640" y="5696712"/>
            <a:ext cx="5760720" cy="338328"/>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Аудит слоя данных (5 вопросов) + устранение замечаний ДО любого пилота</a:t>
            </a:r>
          </a:p>
        </p:txBody>
      </p:sp>
      <p:sp>
        <p:nvSpPr>
          <p:cNvPr id="29" name="Rounded Rectangle 28"/>
          <p:cNvSpPr/>
          <p:nvPr/>
        </p:nvSpPr>
        <p:spPr>
          <a:xfrm>
            <a:off x="457200" y="6172200"/>
            <a:ext cx="11274552" cy="4114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199632"/>
            <a:ext cx="10972800" cy="365760"/>
          </a:xfrm>
          <a:prstGeom prst="rect">
            <a:avLst/>
          </a:prstGeom>
          <a:noFill/>
        </p:spPr>
        <p:txBody>
          <a:bodyPr wrap="square" lIns="0" rIns="0" tIns="0" bIns="0" anchor="ctr">
            <a:spAutoFit/>
          </a:bodyPr>
          <a:lstStyle/>
          <a:p>
            <a:pPr algn="ctr">
              <a:lnSpc>
                <a:spcPct val="115000"/>
              </a:lnSpc>
            </a:pPr>
            <a:r>
              <a:rPr sz="1100" b="0" i="1">
                <a:solidFill>
                  <a:srgbClr val="21295C"/>
                </a:solidFill>
                <a:latin typeface="Arial"/>
              </a:rPr>
              <a:t>Бонус: Gartner — к 2027 году 40% агентных AI-проектов будут отменены — задайте вендору пять вопросов</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4864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Проработанный пример: фарма-AI ±0,5% vs допуск FDA ±0,1%</a:t>
            </a:r>
          </a:p>
        </p:txBody>
      </p:sp>
      <p:sp>
        <p:nvSpPr>
          <p:cNvPr id="3" name="TextBox 2"/>
          <p:cNvSpPr txBox="1"/>
          <p:nvPr/>
        </p:nvSpPr>
        <p:spPr>
          <a:xfrm>
            <a:off x="457200" y="914400"/>
            <a:ext cx="11274552" cy="27432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Конкретное применение принципа FDA 21 CFR Part 11 + GAMP 5 к фарма-AI</a:t>
            </a:r>
          </a:p>
        </p:txBody>
      </p:sp>
      <p:sp>
        <p:nvSpPr>
          <p:cNvPr id="4" name="Rounded Rectangle 3"/>
          <p:cNvSpPr/>
          <p:nvPr/>
        </p:nvSpPr>
        <p:spPr>
          <a:xfrm>
            <a:off x="457200" y="1371600"/>
            <a:ext cx="11274552" cy="77724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2011680" cy="7772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1920240" cy="594359"/>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Задача</a:t>
            </a:r>
          </a:p>
        </p:txBody>
      </p:sp>
      <p:sp>
        <p:nvSpPr>
          <p:cNvPr id="7" name="TextBox 6"/>
          <p:cNvSpPr txBox="1"/>
          <p:nvPr/>
        </p:nvSpPr>
        <p:spPr>
          <a:xfrm>
            <a:off x="2651760" y="1508760"/>
            <a:ext cx="8988551" cy="594359"/>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AI рекомендует дозировку активного компонента в финальной формуляции таблеток</a:t>
            </a:r>
          </a:p>
        </p:txBody>
      </p:sp>
      <p:sp>
        <p:nvSpPr>
          <p:cNvPr id="8" name="Rounded Rectangle 7"/>
          <p:cNvSpPr/>
          <p:nvPr/>
        </p:nvSpPr>
        <p:spPr>
          <a:xfrm>
            <a:off x="457200" y="2221991"/>
            <a:ext cx="11274552" cy="77724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21991"/>
            <a:ext cx="2011680" cy="777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59151"/>
            <a:ext cx="1920240" cy="594359"/>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AI способен</a:t>
            </a:r>
          </a:p>
        </p:txBody>
      </p:sp>
      <p:sp>
        <p:nvSpPr>
          <p:cNvPr id="11" name="TextBox 10"/>
          <p:cNvSpPr txBox="1"/>
          <p:nvPr/>
        </p:nvSpPr>
        <p:spPr>
          <a:xfrm>
            <a:off x="2651760" y="2359151"/>
            <a:ext cx="8988551" cy="594359"/>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Учиться на исторических партиях, предсказывать дозировку «±0,5% от номинала», 90% точности на тесте</a:t>
            </a:r>
          </a:p>
        </p:txBody>
      </p:sp>
      <p:sp>
        <p:nvSpPr>
          <p:cNvPr id="12" name="Rounded Rectangle 11"/>
          <p:cNvSpPr/>
          <p:nvPr/>
        </p:nvSpPr>
        <p:spPr>
          <a:xfrm>
            <a:off x="457200" y="3072384"/>
            <a:ext cx="11274552" cy="77724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072384"/>
            <a:ext cx="2011680" cy="7772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209544"/>
            <a:ext cx="1920240" cy="594359"/>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FDA требует</a:t>
            </a:r>
          </a:p>
        </p:txBody>
      </p:sp>
      <p:sp>
        <p:nvSpPr>
          <p:cNvPr id="15" name="TextBox 14"/>
          <p:cNvSpPr txBox="1"/>
          <p:nvPr/>
        </p:nvSpPr>
        <p:spPr>
          <a:xfrm>
            <a:off x="2651760" y="3209544"/>
            <a:ext cx="8988551" cy="594359"/>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±0,1% точности для решения о выпуске партии (FDA 21 CFR Part 11 + GAMP 5)</a:t>
            </a:r>
          </a:p>
        </p:txBody>
      </p:sp>
      <p:sp>
        <p:nvSpPr>
          <p:cNvPr id="16" name="Rounded Rectangle 15"/>
          <p:cNvSpPr/>
          <p:nvPr/>
        </p:nvSpPr>
        <p:spPr>
          <a:xfrm>
            <a:off x="457200" y="3922776"/>
            <a:ext cx="11274552" cy="77724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922776"/>
            <a:ext cx="2011680" cy="7772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059936"/>
            <a:ext cx="1920240" cy="594359"/>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Разрыв</a:t>
            </a:r>
          </a:p>
        </p:txBody>
      </p:sp>
      <p:sp>
        <p:nvSpPr>
          <p:cNvPr id="19" name="TextBox 18"/>
          <p:cNvSpPr txBox="1"/>
          <p:nvPr/>
        </p:nvSpPr>
        <p:spPr>
          <a:xfrm>
            <a:off x="2651760" y="4059936"/>
            <a:ext cx="8988551" cy="594359"/>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Точность AI ±0,5% &lt; требуемого допуска ±0,1% — НЕСОВМЕСТИМО</a:t>
            </a:r>
          </a:p>
        </p:txBody>
      </p:sp>
      <p:sp>
        <p:nvSpPr>
          <p:cNvPr id="20" name="Rounded Rectangle 19"/>
          <p:cNvSpPr/>
          <p:nvPr/>
        </p:nvSpPr>
        <p:spPr>
          <a:xfrm>
            <a:off x="457200" y="4773168"/>
            <a:ext cx="11274552" cy="777240"/>
          </a:xfrm>
          <a:prstGeom prst="roundRect">
            <a:avLst>
              <a:gd name="adj" fmla="val 10000"/>
            </a:avLst>
          </a:prstGeom>
          <a:solidFill>
            <a:srgbClr val="F4F7FA"/>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773168"/>
            <a:ext cx="2011680" cy="7772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10328"/>
            <a:ext cx="1920240" cy="594359"/>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Вердикт</a:t>
            </a:r>
          </a:p>
        </p:txBody>
      </p:sp>
      <p:sp>
        <p:nvSpPr>
          <p:cNvPr id="23" name="TextBox 22"/>
          <p:cNvSpPr txBox="1"/>
          <p:nvPr/>
        </p:nvSpPr>
        <p:spPr>
          <a:xfrm>
            <a:off x="2651760" y="4910328"/>
            <a:ext cx="8988551" cy="594359"/>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AI НЕ подходит для финального решения о выпуске партии</a:t>
            </a:r>
          </a:p>
        </p:txBody>
      </p:sp>
      <p:sp>
        <p:nvSpPr>
          <p:cNvPr id="24" name="Rounded Rectangle 23"/>
          <p:cNvSpPr/>
          <p:nvPr/>
        </p:nvSpPr>
        <p:spPr>
          <a:xfrm>
            <a:off x="457200" y="5669279"/>
            <a:ext cx="11274552" cy="5486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760719"/>
            <a:ext cx="10972800" cy="457200"/>
          </a:xfrm>
          <a:prstGeom prst="rect">
            <a:avLst/>
          </a:prstGeom>
          <a:noFill/>
        </p:spPr>
        <p:txBody>
          <a:bodyPr wrap="square" lIns="0" rIns="0" tIns="0" bIns="0" anchor="ctr">
            <a:spAutoFit/>
          </a:bodyPr>
          <a:lstStyle/>
          <a:p>
            <a:pPr algn="l">
              <a:lnSpc>
                <a:spcPct val="130000"/>
              </a:lnSpc>
            </a:pPr>
            <a:r>
              <a:rPr sz="1100" b="0" i="1">
                <a:solidFill>
                  <a:srgbClr val="21295C"/>
                </a:solidFill>
                <a:latin typeface="Arial"/>
              </a:rPr>
              <a:t>АЛЬТЕРНАТИВА: AI как советующий инструмент на этапе разработки процесса (±0,5% полезна) + человек в петле контроля качества + статистическая выборка партий для выпуска (валидированная по USP / GMP)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Gartner: 40% агентных AI-проектов отменены к 2027</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+ 30% пилотов генеративного ИИ прекращены после фазы PoC · 75% двойников без окупаемости · разрыв ожиданий 11% / 14%</a:t>
            </a:r>
          </a:p>
        </p:txBody>
      </p:sp>
      <p:sp>
        <p:nvSpPr>
          <p:cNvPr id="4" name="Rounded Rectangle 3"/>
          <p:cNvSpPr/>
          <p:nvPr/>
        </p:nvSpPr>
        <p:spPr>
          <a:xfrm>
            <a:off x="457200" y="1600200"/>
            <a:ext cx="777240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30-gartner-cancellation.png"/>
          <p:cNvPicPr>
            <a:picLocks noChangeAspect="1"/>
          </p:cNvPicPr>
          <p:nvPr/>
        </p:nvPicPr>
        <p:blipFill>
          <a:blip r:embed="rId2"/>
          <a:stretch>
            <a:fillRect/>
          </a:stretch>
        </p:blipFill>
        <p:spPr>
          <a:xfrm>
            <a:off x="640080" y="1737360"/>
            <a:ext cx="7406640" cy="4297680"/>
          </a:xfrm>
          <a:prstGeom prst="rect">
            <a:avLst/>
          </a:prstGeom>
        </p:spPr>
      </p:pic>
      <p:sp>
        <p:nvSpPr>
          <p:cNvPr id="6" name="Rounded Rectangle 5"/>
          <p:cNvSpPr/>
          <p:nvPr/>
        </p:nvSpPr>
        <p:spPr>
          <a:xfrm>
            <a:off x="8412480" y="1600200"/>
            <a:ext cx="3291840"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737360"/>
            <a:ext cx="2926080" cy="4389120"/>
          </a:xfrm>
          <a:prstGeom prst="rect">
            <a:avLst/>
          </a:prstGeom>
          <a:noFill/>
        </p:spPr>
        <p:txBody>
          <a:bodyPr wrap="square" lIns="0" rIns="0" tIns="0" bIns="0" anchor="t">
            <a:spAutoFit/>
          </a:bodyPr>
          <a:lstStyle/>
          <a:p>
            <a:pPr algn="ctr">
              <a:lnSpc>
                <a:spcPct val="130000"/>
              </a:lnSpc>
            </a:pPr>
            <a:r>
              <a:rPr sz="1200" b="1" i="0">
                <a:solidFill>
                  <a:srgbClr val="F0AB00"/>
                </a:solidFill>
                <a:latin typeface="Arial"/>
              </a:rPr>
              <a:t>ЧТО ЭТО ЗНАЧИТ:</a:t>
            </a:r>
          </a:p>
          <a:p>
            <a:pPr algn="l">
              <a:lnSpc>
                <a:spcPct val="130000"/>
              </a:lnSpc>
            </a:pPr>
            <a:r>
              <a:rPr sz="1000" b="0" i="0">
                <a:solidFill>
                  <a:srgbClr val="21295C"/>
                </a:solidFill>
                <a:latin typeface="Arial"/>
              </a:rPr>
              <a:t/>
            </a:r>
          </a:p>
          <a:p>
            <a:pPr algn="l">
              <a:lnSpc>
                <a:spcPct val="130000"/>
              </a:lnSpc>
            </a:pPr>
            <a:r>
              <a:rPr sz="1100" b="0" i="0">
                <a:solidFill>
                  <a:srgbClr val="21295C"/>
                </a:solidFill>
                <a:latin typeface="Arial"/>
              </a:rPr>
              <a:t>Студент 3 курса увидит презентацию «агентный AI для производства» в первый год работы.</a:t>
            </a:r>
          </a:p>
          <a:p>
            <a:pPr algn="l">
              <a:lnSpc>
                <a:spcPct val="130000"/>
              </a:lnSpc>
            </a:pPr>
            <a:r>
              <a:rPr sz="800" b="0" i="0">
                <a:solidFill>
                  <a:srgbClr val="21295C"/>
                </a:solidFill>
                <a:latin typeface="Arial"/>
              </a:rPr>
              <a:t/>
            </a:r>
          </a:p>
          <a:p>
            <a:pPr algn="l">
              <a:lnSpc>
                <a:spcPct val="130000"/>
              </a:lnSpc>
            </a:pPr>
            <a:r>
              <a:rPr sz="1100" b="0" i="1">
                <a:solidFill>
                  <a:srgbClr val="065A82"/>
                </a:solidFill>
                <a:latin typeface="Arial"/>
              </a:rPr>
              <a:t>Это не означает, что AI не работает.</a:t>
            </a:r>
          </a:p>
          <a:p>
            <a:pPr algn="l">
              <a:lnSpc>
                <a:spcPct val="130000"/>
              </a:lnSpc>
            </a:pPr>
            <a:r>
              <a:rPr sz="600" b="0" i="0">
                <a:solidFill>
                  <a:srgbClr val="21295C"/>
                </a:solidFill>
                <a:latin typeface="Arial"/>
              </a:rPr>
              <a:t/>
            </a:r>
          </a:p>
          <a:p>
            <a:pPr algn="l">
              <a:lnSpc>
                <a:spcPct val="130000"/>
              </a:lnSpc>
            </a:pPr>
            <a:r>
              <a:rPr sz="1100" b="0" i="0">
                <a:solidFill>
                  <a:srgbClr val="21295C"/>
                </a:solidFill>
                <a:latin typeface="Arial"/>
              </a:rPr>
              <a:t>Это означает, что распространение опережает инфраструктурную готовность.</a:t>
            </a:r>
          </a:p>
          <a:p>
            <a:pPr algn="l">
              <a:lnSpc>
                <a:spcPct val="130000"/>
              </a:lnSpc>
            </a:pPr>
            <a:r>
              <a:rPr sz="1000" b="0" i="0">
                <a:solidFill>
                  <a:srgbClr val="21295C"/>
                </a:solidFill>
                <a:latin typeface="Arial"/>
              </a:rPr>
              <a:t/>
            </a:r>
          </a:p>
          <a:p>
            <a:pPr algn="l">
              <a:lnSpc>
                <a:spcPct val="130000"/>
              </a:lnSpc>
            </a:pPr>
            <a:r>
              <a:rPr sz="1200" b="1" i="0">
                <a:solidFill>
                  <a:srgbClr val="F0AB00"/>
                </a:solidFill>
                <a:latin typeface="Arial"/>
              </a:rPr>
              <a:t>ЧТО ДЕЛАТЬ:</a:t>
            </a:r>
          </a:p>
          <a:p>
            <a:pPr algn="l">
              <a:lnSpc>
                <a:spcPct val="130000"/>
              </a:lnSpc>
            </a:pPr>
            <a:r>
              <a:rPr sz="1200" b="1" i="0">
                <a:solidFill>
                  <a:srgbClr val="21295C"/>
                </a:solidFill>
                <a:latin typeface="Arial"/>
              </a:rPr>
              <a:t>Задать вендору пять вопросов из следующего слайда.</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Gartner via XMPRO 2026 · EY / DataMintelligence 2026 · Build in Digital [41] 2024–2025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Пять вопросов вендору — практический инструмент для кармана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Задайте до пилота · если ≥1 ответ невнятный — переходите к альтернативе</a:t>
            </a:r>
          </a:p>
        </p:txBody>
      </p:sp>
      <p:sp>
        <p:nvSpPr>
          <p:cNvPr id="4" name="Rounded Rectangle 3"/>
          <p:cNvSpPr/>
          <p:nvPr/>
        </p:nvSpPr>
        <p:spPr>
          <a:xfrm>
            <a:off x="457200" y="1645920"/>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783080"/>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1</a:t>
            </a:r>
          </a:p>
        </p:txBody>
      </p:sp>
      <p:sp>
        <p:nvSpPr>
          <p:cNvPr id="7" name="TextBox 6"/>
          <p:cNvSpPr txBox="1"/>
          <p:nvPr/>
        </p:nvSpPr>
        <p:spPr>
          <a:xfrm>
            <a:off x="1417320" y="1737360"/>
            <a:ext cx="9692640" cy="41148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Покажите 3 задокументированных провала за последние 24 месяца в той же индустрии</a:t>
            </a:r>
          </a:p>
        </p:txBody>
      </p:sp>
      <p:sp>
        <p:nvSpPr>
          <p:cNvPr id="8" name="TextBox 7"/>
          <p:cNvSpPr txBox="1"/>
          <p:nvPr/>
        </p:nvSpPr>
        <p:spPr>
          <a:xfrm>
            <a:off x="1417320" y="2148840"/>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Без кейсов с провалами вендор продаёт завышенные ожидания</a:t>
            </a:r>
          </a:p>
        </p:txBody>
      </p:sp>
      <p:sp>
        <p:nvSpPr>
          <p:cNvPr id="9" name="Rounded Rectangle 8"/>
          <p:cNvSpPr/>
          <p:nvPr/>
        </p:nvSpPr>
        <p:spPr>
          <a:xfrm>
            <a:off x="457200" y="2587752"/>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2724912"/>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24912"/>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2</a:t>
            </a:r>
          </a:p>
        </p:txBody>
      </p:sp>
      <p:sp>
        <p:nvSpPr>
          <p:cNvPr id="12" name="TextBox 11"/>
          <p:cNvSpPr txBox="1"/>
          <p:nvPr/>
        </p:nvSpPr>
        <p:spPr>
          <a:xfrm>
            <a:off x="1417320" y="2679192"/>
            <a:ext cx="9692640" cy="41148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Что именно делает ваша система на A0 / A1 / A2 — где она в шкале автономии?</a:t>
            </a:r>
          </a:p>
        </p:txBody>
      </p:sp>
      <p:sp>
        <p:nvSpPr>
          <p:cNvPr id="13" name="TextBox 12"/>
          <p:cNvSpPr txBox="1"/>
          <p:nvPr/>
        </p:nvSpPr>
        <p:spPr>
          <a:xfrm>
            <a:off x="1417320" y="3090672"/>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Если вендор путается — он не понимает архитектурный класс продукта</a:t>
            </a:r>
          </a:p>
        </p:txBody>
      </p:sp>
      <p:sp>
        <p:nvSpPr>
          <p:cNvPr id="14" name="Rounded Rectangle 13"/>
          <p:cNvSpPr/>
          <p:nvPr/>
        </p:nvSpPr>
        <p:spPr>
          <a:xfrm>
            <a:off x="457200" y="3529584"/>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3666744"/>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66744"/>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3</a:t>
            </a:r>
          </a:p>
        </p:txBody>
      </p:sp>
      <p:sp>
        <p:nvSpPr>
          <p:cNvPr id="17" name="TextBox 16"/>
          <p:cNvSpPr txBox="1"/>
          <p:nvPr/>
        </p:nvSpPr>
        <p:spPr>
          <a:xfrm>
            <a:off x="1417320" y="3621024"/>
            <a:ext cx="9692640" cy="41148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Какой аудит слоя данных вы провели перед пилотом?</a:t>
            </a:r>
          </a:p>
        </p:txBody>
      </p:sp>
      <p:sp>
        <p:nvSpPr>
          <p:cNvPr id="18" name="TextBox 17"/>
          <p:cNvSpPr txBox="1"/>
          <p:nvPr/>
        </p:nvSpPr>
        <p:spPr>
          <a:xfrm>
            <a:off x="1417320" y="4032504"/>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Без аудита — урок «анонимного порта» повторится</a:t>
            </a:r>
          </a:p>
        </p:txBody>
      </p:sp>
      <p:sp>
        <p:nvSpPr>
          <p:cNvPr id="19" name="Rounded Rectangle 18"/>
          <p:cNvSpPr/>
          <p:nvPr/>
        </p:nvSpPr>
        <p:spPr>
          <a:xfrm>
            <a:off x="457200" y="4471416"/>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 y="4608576"/>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608576"/>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4</a:t>
            </a:r>
          </a:p>
        </p:txBody>
      </p:sp>
      <p:sp>
        <p:nvSpPr>
          <p:cNvPr id="22" name="TextBox 21"/>
          <p:cNvSpPr txBox="1"/>
          <p:nvPr/>
        </p:nvSpPr>
        <p:spPr>
          <a:xfrm>
            <a:off x="1417320" y="4562855"/>
            <a:ext cx="9692640" cy="41148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Что вы предлагаете, если пилот провалится — возврат денег, изменение задачи, продолжение интеграции?</a:t>
            </a:r>
          </a:p>
        </p:txBody>
      </p:sp>
      <p:sp>
        <p:nvSpPr>
          <p:cNvPr id="23" name="TextBox 22"/>
          <p:cNvSpPr txBox="1"/>
          <p:nvPr/>
        </p:nvSpPr>
        <p:spPr>
          <a:xfrm>
            <a:off x="1417320" y="4974336"/>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Контракт без стратегии выхода — деньги в одну сторону</a:t>
            </a:r>
          </a:p>
        </p:txBody>
      </p:sp>
      <p:sp>
        <p:nvSpPr>
          <p:cNvPr id="24" name="Rounded Rectangle 23"/>
          <p:cNvSpPr/>
          <p:nvPr/>
        </p:nvSpPr>
        <p:spPr>
          <a:xfrm>
            <a:off x="457200" y="5413248"/>
            <a:ext cx="11274552" cy="868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080" y="5550408"/>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550408"/>
            <a:ext cx="594360" cy="5943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5</a:t>
            </a:r>
          </a:p>
        </p:txBody>
      </p:sp>
      <p:sp>
        <p:nvSpPr>
          <p:cNvPr id="27" name="TextBox 26"/>
          <p:cNvSpPr txBox="1"/>
          <p:nvPr/>
        </p:nvSpPr>
        <p:spPr>
          <a:xfrm>
            <a:off x="1417320" y="5504688"/>
            <a:ext cx="9692640" cy="41148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Можете показать референс-клиента в нашем подсегменте (process / discrete / regulated)?</a:t>
            </a:r>
          </a:p>
        </p:txBody>
      </p:sp>
      <p:sp>
        <p:nvSpPr>
          <p:cNvPr id="28" name="TextBox 27"/>
          <p:cNvSpPr txBox="1"/>
          <p:nvPr/>
        </p:nvSpPr>
        <p:spPr>
          <a:xfrm>
            <a:off x="1417320" y="5916168"/>
            <a:ext cx="9692640" cy="36576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Общих референсов недостаточно; нужна точная индустриальная аналогия</a:t>
            </a:r>
          </a:p>
        </p:txBody>
      </p:sp>
      <p:sp>
        <p:nvSpPr>
          <p:cNvPr id="29" name="TextBox 28"/>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Каркас вопросов вендору — для любого AI-пилота на производстве</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1. Двойник 2026</a:t>
            </a:r>
          </a:p>
        </p:txBody>
      </p:sp>
      <p:sp>
        <p:nvSpPr>
          <p:cNvPr id="4" name="Rectangle 3"/>
          <p:cNvSpPr/>
          <p:nvPr/>
        </p:nvSpPr>
        <p:spPr>
          <a:xfrm>
            <a:off x="186651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2. A0 Наблюдать</a:t>
            </a:r>
          </a:p>
        </p:txBody>
      </p:sp>
      <p:sp>
        <p:nvSpPr>
          <p:cNvPr id="6" name="Rectangle 5"/>
          <p:cNvSpPr/>
          <p:nvPr/>
        </p:nvSpPr>
        <p:spPr>
          <a:xfrm>
            <a:off x="327583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3. A1 Советовать</a:t>
            </a:r>
          </a:p>
        </p:txBody>
      </p:sp>
      <p:sp>
        <p:nvSpPr>
          <p:cNvPr id="8" name="Rectangle 7"/>
          <p:cNvSpPr/>
          <p:nvPr/>
        </p:nvSpPr>
        <p:spPr>
          <a:xfrm>
            <a:off x="4685157"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4. A2 Замыкать</a:t>
            </a:r>
          </a:p>
        </p:txBody>
      </p:sp>
      <p:sp>
        <p:nvSpPr>
          <p:cNvPr id="10" name="Rectangle 9"/>
          <p:cNvSpPr/>
          <p:nvPr/>
        </p:nvSpPr>
        <p:spPr>
          <a:xfrm>
            <a:off x="6094476"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5. A3 Автоном.</a:t>
            </a:r>
          </a:p>
        </p:txBody>
      </p:sp>
      <p:sp>
        <p:nvSpPr>
          <p:cNvPr id="12" name="Rectangle 11"/>
          <p:cNvSpPr/>
          <p:nvPr/>
        </p:nvSpPr>
        <p:spPr>
          <a:xfrm>
            <a:off x="7503795"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6. Где НЕ AI</a:t>
            </a:r>
          </a:p>
        </p:txBody>
      </p:sp>
      <p:sp>
        <p:nvSpPr>
          <p:cNvPr id="14" name="Rectangle 13"/>
          <p:cNvSpPr/>
          <p:nvPr/>
        </p:nvSpPr>
        <p:spPr>
          <a:xfrm>
            <a:off x="8913114" y="292608"/>
            <a:ext cx="1381887"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7. OT/IT</a:t>
            </a:r>
          </a:p>
        </p:txBody>
      </p:sp>
      <p:sp>
        <p:nvSpPr>
          <p:cNvPr id="16" name="Rectangle 15"/>
          <p:cNvSpPr/>
          <p:nvPr/>
        </p:nvSpPr>
        <p:spPr>
          <a:xfrm>
            <a:off x="10322433"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8. РФ + Закр.</a:t>
            </a:r>
          </a:p>
        </p:txBody>
      </p:sp>
      <p:sp>
        <p:nvSpPr>
          <p:cNvPr id="18" name="TextBox 17"/>
          <p:cNvSpPr txBox="1"/>
          <p:nvPr/>
        </p:nvSpPr>
        <p:spPr>
          <a:xfrm>
            <a:off x="457200" y="1097280"/>
            <a:ext cx="5486400" cy="5029200"/>
          </a:xfrm>
          <a:prstGeom prst="rect">
            <a:avLst/>
          </a:prstGeom>
          <a:noFill/>
        </p:spPr>
        <p:txBody>
          <a:bodyPr wrap="square" lIns="0" rIns="0" tIns="0" bIns="0" anchor="ctr">
            <a:spAutoFit/>
          </a:bodyPr>
          <a:lstStyle/>
          <a:p>
            <a:pPr algn="ctr">
              <a:lnSpc>
                <a:spcPct val="115000"/>
              </a:lnSpc>
            </a:pPr>
            <a:r>
              <a:rPr sz="38000" b="1" i="0">
                <a:solidFill>
                  <a:srgbClr val="D9E2EC"/>
                </a:solidFill>
                <a:latin typeface="Arial"/>
              </a:rPr>
              <a:t>7</a:t>
            </a:r>
          </a:p>
        </p:txBody>
      </p:sp>
      <p:sp>
        <p:nvSpPr>
          <p:cNvPr id="19" name="TextBox 18"/>
          <p:cNvSpPr txBox="1"/>
          <p:nvPr/>
        </p:nvSpPr>
        <p:spPr>
          <a:xfrm>
            <a:off x="5029200" y="2194560"/>
            <a:ext cx="6858000" cy="36576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600" b="1" i="0">
                <a:solidFill>
                  <a:srgbClr val="21295C"/>
                </a:solidFill>
                <a:latin typeface="Arial"/>
              </a:rPr>
              <a:t>OT/IT архитектура 2026</a:t>
            </a:r>
          </a:p>
          <a:p>
            <a:pPr algn="l">
              <a:lnSpc>
                <a:spcPct val="115000"/>
              </a:lnSpc>
            </a:pPr>
            <a:r>
              <a:rPr sz="800" b="0" i="0">
                <a:solidFill>
                  <a:srgbClr val="21295C"/>
                </a:solidFill>
                <a:latin typeface="Arial"/>
              </a:rPr>
              <a:t/>
            </a:r>
          </a:p>
          <a:p>
            <a:pPr algn="l">
              <a:lnSpc>
                <a:spcPct val="115000"/>
              </a:lnSpc>
            </a:pPr>
            <a:r>
              <a:rPr sz="1500" b="0" i="0">
                <a:solidFill>
                  <a:srgbClr val="065A82"/>
                </a:solidFill>
                <a:latin typeface="Arial"/>
              </a:rPr>
              <a:t>7 слоёв · OPC UA + MQTT + TSN · ИИ на границе сети &lt;10 мс · Lighthouse 220+</a:t>
            </a:r>
          </a:p>
          <a:p>
            <a:pPr algn="l">
              <a:lnSpc>
                <a:spcPct val="115000"/>
              </a:lnSpc>
            </a:pPr>
            <a:r>
              <a:rPr sz="600" b="0" i="0">
                <a:solidFill>
                  <a:srgbClr val="21295C"/>
                </a:solidFill>
                <a:latin typeface="Arial"/>
              </a:rPr>
              <a:t/>
            </a:r>
          </a:p>
          <a:p>
            <a:pPr algn="l">
              <a:lnSpc>
                <a:spcPct val="115000"/>
              </a:lnSpc>
            </a:pPr>
            <a:r>
              <a:rPr sz="1200" b="0" i="1">
                <a:solidFill>
                  <a:srgbClr val="F0AB00"/>
                </a:solidFill>
                <a:latin typeface="Arial"/>
              </a:rPr>
              <a:t>Раздел 6 · техническая инфраструктура промышленного 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Семь слоёв производственной AI-архитектуры 2026</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OPC UA + TSN + ИИ на границе сети inference &lt;10 мс — операционные условия для A2</a:t>
            </a:r>
          </a:p>
        </p:txBody>
      </p:sp>
      <p:sp>
        <p:nvSpPr>
          <p:cNvPr id="4" name="Rounded Rectangle 3"/>
          <p:cNvSpPr/>
          <p:nvPr/>
        </p:nvSpPr>
        <p:spPr>
          <a:xfrm>
            <a:off x="457200" y="1600200"/>
            <a:ext cx="11274552" cy="640080"/>
          </a:xfrm>
          <a:prstGeom prst="roundRect">
            <a:avLst>
              <a:gd name="adj" fmla="val 10000"/>
            </a:avLst>
          </a:prstGeom>
          <a:solidFill>
            <a:srgbClr val="F4F7FA"/>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228600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73352"/>
            <a:ext cx="2103120" cy="493775"/>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7. Человек в цикле</a:t>
            </a:r>
          </a:p>
        </p:txBody>
      </p:sp>
      <p:sp>
        <p:nvSpPr>
          <p:cNvPr id="7" name="TextBox 6"/>
          <p:cNvSpPr txBox="1"/>
          <p:nvPr/>
        </p:nvSpPr>
        <p:spPr>
          <a:xfrm>
            <a:off x="2880360" y="1673352"/>
            <a:ext cx="8229600" cy="493775"/>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критичные по безопасности действия всегда требуют согласия; человек — финальная инстанция</a:t>
            </a:r>
          </a:p>
        </p:txBody>
      </p:sp>
      <p:sp>
        <p:nvSpPr>
          <p:cNvPr id="8" name="Rounded Rectangle 7"/>
          <p:cNvSpPr/>
          <p:nvPr/>
        </p:nvSpPr>
        <p:spPr>
          <a:xfrm>
            <a:off x="457200" y="2286000"/>
            <a:ext cx="11274552" cy="640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86000"/>
            <a:ext cx="228600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359152"/>
            <a:ext cx="2103120" cy="493775"/>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6. Облако</a:t>
            </a:r>
          </a:p>
        </p:txBody>
      </p:sp>
      <p:sp>
        <p:nvSpPr>
          <p:cNvPr id="11" name="TextBox 10"/>
          <p:cNvSpPr txBox="1"/>
          <p:nvPr/>
        </p:nvSpPr>
        <p:spPr>
          <a:xfrm>
            <a:off x="2880360" y="2359152"/>
            <a:ext cx="8229600" cy="493775"/>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обучение моделей · аналитика флота · долгосрочное хранение</a:t>
            </a:r>
          </a:p>
        </p:txBody>
      </p:sp>
      <p:sp>
        <p:nvSpPr>
          <p:cNvPr id="12" name="Rounded Rectangle 11"/>
          <p:cNvSpPr/>
          <p:nvPr/>
        </p:nvSpPr>
        <p:spPr>
          <a:xfrm>
            <a:off x="457200" y="2971800"/>
            <a:ext cx="11274552" cy="640080"/>
          </a:xfrm>
          <a:prstGeom prst="roundRect">
            <a:avLst>
              <a:gd name="adj" fmla="val 10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971800"/>
            <a:ext cx="228600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044952"/>
            <a:ext cx="2103120" cy="493775"/>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5. Цифровой двойник</a:t>
            </a:r>
          </a:p>
        </p:txBody>
      </p:sp>
      <p:sp>
        <p:nvSpPr>
          <p:cNvPr id="15" name="TextBox 14"/>
          <p:cNvSpPr txBox="1"/>
          <p:nvPr/>
        </p:nvSpPr>
        <p:spPr>
          <a:xfrm>
            <a:off x="2880360" y="3044952"/>
            <a:ext cx="8229600" cy="493775"/>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Siemens Xcelerator · NVIDIA Omniverse · AVEVA · PTC ThingWorx</a:t>
            </a:r>
          </a:p>
        </p:txBody>
      </p:sp>
      <p:sp>
        <p:nvSpPr>
          <p:cNvPr id="16" name="Rounded Rectangle 15"/>
          <p:cNvSpPr/>
          <p:nvPr/>
        </p:nvSpPr>
        <p:spPr>
          <a:xfrm>
            <a:off x="457200" y="3657600"/>
            <a:ext cx="11274552" cy="640080"/>
          </a:xfrm>
          <a:prstGeom prst="roundRect">
            <a:avLst>
              <a:gd name="adj" fmla="val 10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657600"/>
            <a:ext cx="228600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730752"/>
            <a:ext cx="2103120" cy="493775"/>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4. MES / SCADA</a:t>
            </a:r>
          </a:p>
        </p:txBody>
      </p:sp>
      <p:sp>
        <p:nvSpPr>
          <p:cNvPr id="19" name="TextBox 18"/>
          <p:cNvSpPr txBox="1"/>
          <p:nvPr/>
        </p:nvSpPr>
        <p:spPr>
          <a:xfrm>
            <a:off x="2880360" y="3730752"/>
            <a:ext cx="8229600" cy="493775"/>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AI как советующий → замкнутая петля · диспетчер</a:t>
            </a:r>
          </a:p>
        </p:txBody>
      </p:sp>
      <p:sp>
        <p:nvSpPr>
          <p:cNvPr id="20" name="Rounded Rectangle 19"/>
          <p:cNvSpPr/>
          <p:nvPr/>
        </p:nvSpPr>
        <p:spPr>
          <a:xfrm>
            <a:off x="457200" y="4343400"/>
            <a:ext cx="11274552" cy="640080"/>
          </a:xfrm>
          <a:prstGeom prst="roundRect">
            <a:avLst>
              <a:gd name="adj" fmla="val 10000"/>
            </a:avLst>
          </a:prstGeom>
          <a:solidFill>
            <a:srgbClr val="F4F7FA"/>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343400"/>
            <a:ext cx="228600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416552"/>
            <a:ext cx="2103120" cy="493775"/>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3. ИИ на границе сети</a:t>
            </a:r>
          </a:p>
        </p:txBody>
      </p:sp>
      <p:sp>
        <p:nvSpPr>
          <p:cNvPr id="23" name="TextBox 22"/>
          <p:cNvSpPr txBox="1"/>
          <p:nvPr/>
        </p:nvSpPr>
        <p:spPr>
          <a:xfrm>
            <a:off x="2880360" y="4416552"/>
            <a:ext cx="8229600" cy="493775"/>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промышленные ИИ-серверы на шкафах оборудования · инференс &lt;10 мс (NVIDIA Jetson)</a:t>
            </a:r>
          </a:p>
        </p:txBody>
      </p:sp>
      <p:sp>
        <p:nvSpPr>
          <p:cNvPr id="24" name="Rounded Rectangle 23"/>
          <p:cNvSpPr/>
          <p:nvPr/>
        </p:nvSpPr>
        <p:spPr>
          <a:xfrm>
            <a:off x="457200" y="5029200"/>
            <a:ext cx="11274552" cy="640080"/>
          </a:xfrm>
          <a:prstGeom prst="roundRect">
            <a:avLst>
              <a:gd name="adj" fmla="val 10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029200"/>
            <a:ext cx="228600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5102352"/>
            <a:ext cx="2103120" cy="493775"/>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2. Сеть</a:t>
            </a:r>
          </a:p>
        </p:txBody>
      </p:sp>
      <p:sp>
        <p:nvSpPr>
          <p:cNvPr id="27" name="TextBox 26"/>
          <p:cNvSpPr txBox="1"/>
          <p:nvPr/>
        </p:nvSpPr>
        <p:spPr>
          <a:xfrm>
            <a:off x="2880360" y="5102352"/>
            <a:ext cx="8229600" cy="493775"/>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TSN — сеть с гарантированной задержкой, IEEE 802.1, детерминированный обмен</a:t>
            </a:r>
          </a:p>
        </p:txBody>
      </p:sp>
      <p:sp>
        <p:nvSpPr>
          <p:cNvPr id="28" name="Rounded Rectangle 27"/>
          <p:cNvSpPr/>
          <p:nvPr/>
        </p:nvSpPr>
        <p:spPr>
          <a:xfrm>
            <a:off x="457200" y="5715000"/>
            <a:ext cx="11274552" cy="640080"/>
          </a:xfrm>
          <a:prstGeom prst="roundRect">
            <a:avLst>
              <a:gd name="adj" fmla="val 10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5715000"/>
            <a:ext cx="228600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5788152"/>
            <a:ext cx="2103120" cy="493775"/>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1. Датчик</a:t>
            </a:r>
          </a:p>
        </p:txBody>
      </p:sp>
      <p:sp>
        <p:nvSpPr>
          <p:cNvPr id="31" name="TextBox 30"/>
          <p:cNvSpPr txBox="1"/>
          <p:nvPr/>
        </p:nvSpPr>
        <p:spPr>
          <a:xfrm>
            <a:off x="2880360" y="5788152"/>
            <a:ext cx="8229600" cy="493775"/>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IIoT — OPC UA + MQTT · частота опроса ≥10× полосы управления</a:t>
            </a:r>
          </a:p>
        </p:txBody>
      </p:sp>
      <p:sp>
        <p:nvSpPr>
          <p:cNvPr id="32" name="TextBox 31"/>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Стек распространяется через WEF Lighthouse Network — 220+ заводов в 35 странах</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OPC UA + MQTT + TSN: семантика, транспорт, детерминизм</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Три протокола покрывают разные задачи; вместе обеспечивают ИИ на границе сети inference &lt;10 мс</a:t>
            </a:r>
          </a:p>
        </p:txBody>
      </p:sp>
      <p:sp>
        <p:nvSpPr>
          <p:cNvPr id="4" name="Rounded Rectangle 3"/>
          <p:cNvSpPr/>
          <p:nvPr/>
        </p:nvSpPr>
        <p:spPr>
          <a:xfrm>
            <a:off x="457200" y="1600200"/>
            <a:ext cx="3657600" cy="45720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365760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73352"/>
            <a:ext cx="3474720" cy="50292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OPC UA</a:t>
            </a:r>
          </a:p>
        </p:txBody>
      </p:sp>
      <p:sp>
        <p:nvSpPr>
          <p:cNvPr id="7" name="TextBox 6"/>
          <p:cNvSpPr txBox="1"/>
          <p:nvPr/>
        </p:nvSpPr>
        <p:spPr>
          <a:xfrm>
            <a:off x="640080" y="2377440"/>
            <a:ext cx="3291840" cy="3657600"/>
          </a:xfrm>
          <a:prstGeom prst="rect">
            <a:avLst/>
          </a:prstGeom>
          <a:noFill/>
        </p:spPr>
        <p:txBody>
          <a:bodyPr wrap="square" lIns="0" rIns="0" tIns="0" bIns="0" anchor="t">
            <a:spAutoFit/>
          </a:bodyPr>
          <a:lstStyle/>
          <a:p>
            <a:pPr algn="l">
              <a:lnSpc>
                <a:spcPct val="135000"/>
              </a:lnSpc>
            </a:pPr>
            <a:r>
              <a:rPr sz="1000" b="0" i="1">
                <a:solidFill>
                  <a:srgbClr val="1C7293"/>
                </a:solidFill>
                <a:latin typeface="Arial"/>
              </a:rPr>
              <a:t>Открытая платформа коммуникаций · единая архитектура</a:t>
            </a:r>
          </a:p>
          <a:p>
            <a:pPr algn="l">
              <a:lnSpc>
                <a:spcPct val="135000"/>
              </a:lnSpc>
            </a:pPr>
            <a:r>
              <a:rPr sz="800" b="0" i="0">
                <a:solidFill>
                  <a:srgbClr val="21295C"/>
                </a:solidFill>
                <a:latin typeface="Arial"/>
              </a:rPr>
              <a:t/>
            </a:r>
          </a:p>
          <a:p>
            <a:pPr algn="l">
              <a:lnSpc>
                <a:spcPct val="135000"/>
              </a:lnSpc>
            </a:pPr>
            <a:r>
              <a:rPr sz="1200" b="1" i="0">
                <a:solidFill>
                  <a:srgbClr val="065A82"/>
                </a:solidFill>
                <a:latin typeface="Arial"/>
              </a:rPr>
              <a:t>Роль:</a:t>
            </a:r>
          </a:p>
          <a:p>
            <a:pPr algn="l">
              <a:lnSpc>
                <a:spcPct val="135000"/>
              </a:lnSpc>
            </a:pPr>
            <a:r>
              <a:rPr sz="1600" b="1" i="0">
                <a:solidFill>
                  <a:srgbClr val="F0AB00"/>
                </a:solidFill>
                <a:latin typeface="Arial"/>
              </a:rPr>
              <a:t>Семантика данных</a:t>
            </a:r>
          </a:p>
          <a:p>
            <a:pPr algn="l">
              <a:lnSpc>
                <a:spcPct val="135000"/>
              </a:lnSpc>
            </a:pPr>
            <a:r>
              <a:rPr sz="1000" b="0" i="0">
                <a:solidFill>
                  <a:srgbClr val="21295C"/>
                </a:solidFill>
                <a:latin typeface="Arial"/>
              </a:rPr>
              <a:t/>
            </a:r>
          </a:p>
          <a:p>
            <a:pPr algn="l">
              <a:lnSpc>
                <a:spcPct val="135000"/>
              </a:lnSpc>
            </a:pPr>
            <a:r>
              <a:rPr sz="1100" b="1" i="0">
                <a:solidFill>
                  <a:srgbClr val="1C7293"/>
                </a:solidFill>
                <a:latin typeface="Arial"/>
              </a:rPr>
              <a:t>Что делает:</a:t>
            </a:r>
          </a:p>
          <a:p>
            <a:pPr algn="l">
              <a:lnSpc>
                <a:spcPct val="135000"/>
              </a:lnSpc>
            </a:pPr>
            <a:r>
              <a:rPr sz="1100" b="0" i="0">
                <a:solidFill>
                  <a:srgbClr val="21295C"/>
                </a:solidFill>
                <a:latin typeface="Arial"/>
              </a:rPr>
              <a:t>Кодирует смысл информации: «это температура реактора», а не просто число.</a:t>
            </a:r>
          </a:p>
          <a:p>
            <a:pPr algn="l">
              <a:lnSpc>
                <a:spcPct val="135000"/>
              </a:lnSpc>
            </a:pPr>
            <a:r>
              <a:rPr sz="800" b="0" i="0">
                <a:solidFill>
                  <a:srgbClr val="21295C"/>
                </a:solidFill>
                <a:latin typeface="Arial"/>
              </a:rPr>
              <a:t/>
            </a:r>
          </a:p>
          <a:p>
            <a:pPr algn="l">
              <a:lnSpc>
                <a:spcPct val="135000"/>
              </a:lnSpc>
            </a:pPr>
            <a:r>
              <a:rPr sz="1100" b="1" i="0">
                <a:solidFill>
                  <a:srgbClr val="1C7293"/>
                </a:solidFill>
                <a:latin typeface="Arial"/>
              </a:rPr>
              <a:t>Стандарт:</a:t>
            </a:r>
          </a:p>
          <a:p>
            <a:pPr algn="l">
              <a:lnSpc>
                <a:spcPct val="135000"/>
              </a:lnSpc>
            </a:pPr>
            <a:r>
              <a:rPr sz="1100" b="0" i="1">
                <a:solidFill>
                  <a:srgbClr val="4A556B"/>
                </a:solidFill>
                <a:latin typeface="Arial"/>
              </a:rPr>
              <a:t>IEC 62541 · машиночитаемая модель</a:t>
            </a:r>
          </a:p>
        </p:txBody>
      </p:sp>
      <p:sp>
        <p:nvSpPr>
          <p:cNvPr id="8" name="Rounded Rectangle 7"/>
          <p:cNvSpPr/>
          <p:nvPr/>
        </p:nvSpPr>
        <p:spPr>
          <a:xfrm>
            <a:off x="4233672" y="1600200"/>
            <a:ext cx="3657600" cy="45720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33672" y="1600200"/>
            <a:ext cx="365760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25112" y="1673352"/>
            <a:ext cx="3474720" cy="50292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MQTT</a:t>
            </a:r>
          </a:p>
        </p:txBody>
      </p:sp>
      <p:sp>
        <p:nvSpPr>
          <p:cNvPr id="11" name="TextBox 10"/>
          <p:cNvSpPr txBox="1"/>
          <p:nvPr/>
        </p:nvSpPr>
        <p:spPr>
          <a:xfrm>
            <a:off x="4416552" y="2377440"/>
            <a:ext cx="3291840" cy="3657600"/>
          </a:xfrm>
          <a:prstGeom prst="rect">
            <a:avLst/>
          </a:prstGeom>
          <a:noFill/>
        </p:spPr>
        <p:txBody>
          <a:bodyPr wrap="square" lIns="0" rIns="0" tIns="0" bIns="0" anchor="t">
            <a:spAutoFit/>
          </a:bodyPr>
          <a:lstStyle/>
          <a:p>
            <a:pPr algn="l">
              <a:lnSpc>
                <a:spcPct val="135000"/>
              </a:lnSpc>
            </a:pPr>
            <a:r>
              <a:rPr sz="1000" b="0" i="1">
                <a:solidFill>
                  <a:srgbClr val="1C7293"/>
                </a:solidFill>
                <a:latin typeface="Arial"/>
              </a:rPr>
              <a:t>Протокол передачи телеметрии через очередь сообщений</a:t>
            </a:r>
          </a:p>
          <a:p>
            <a:pPr algn="l">
              <a:lnSpc>
                <a:spcPct val="135000"/>
              </a:lnSpc>
            </a:pPr>
            <a:r>
              <a:rPr sz="800" b="0" i="0">
                <a:solidFill>
                  <a:srgbClr val="21295C"/>
                </a:solidFill>
                <a:latin typeface="Arial"/>
              </a:rPr>
              <a:t/>
            </a:r>
          </a:p>
          <a:p>
            <a:pPr algn="l">
              <a:lnSpc>
                <a:spcPct val="135000"/>
              </a:lnSpc>
            </a:pPr>
            <a:r>
              <a:rPr sz="1200" b="1" i="0">
                <a:solidFill>
                  <a:srgbClr val="065A82"/>
                </a:solidFill>
                <a:latin typeface="Arial"/>
              </a:rPr>
              <a:t>Роль:</a:t>
            </a:r>
          </a:p>
          <a:p>
            <a:pPr algn="l">
              <a:lnSpc>
                <a:spcPct val="135000"/>
              </a:lnSpc>
            </a:pPr>
            <a:r>
              <a:rPr sz="1600" b="1" i="0">
                <a:solidFill>
                  <a:srgbClr val="F0AB00"/>
                </a:solidFill>
                <a:latin typeface="Arial"/>
              </a:rPr>
              <a:t>Транспорт</a:t>
            </a:r>
          </a:p>
          <a:p>
            <a:pPr algn="l">
              <a:lnSpc>
                <a:spcPct val="135000"/>
              </a:lnSpc>
            </a:pPr>
            <a:r>
              <a:rPr sz="1000" b="0" i="0">
                <a:solidFill>
                  <a:srgbClr val="21295C"/>
                </a:solidFill>
                <a:latin typeface="Arial"/>
              </a:rPr>
              <a:t/>
            </a:r>
          </a:p>
          <a:p>
            <a:pPr algn="l">
              <a:lnSpc>
                <a:spcPct val="135000"/>
              </a:lnSpc>
            </a:pPr>
            <a:r>
              <a:rPr sz="1100" b="1" i="0">
                <a:solidFill>
                  <a:srgbClr val="1C7293"/>
                </a:solidFill>
                <a:latin typeface="Arial"/>
              </a:rPr>
              <a:t>Что делает:</a:t>
            </a:r>
          </a:p>
          <a:p>
            <a:pPr algn="l">
              <a:lnSpc>
                <a:spcPct val="135000"/>
              </a:lnSpc>
            </a:pPr>
            <a:r>
              <a:rPr sz="1100" b="0" i="0">
                <a:solidFill>
                  <a:srgbClr val="21295C"/>
                </a:solidFill>
                <a:latin typeface="Arial"/>
              </a:rPr>
              <a:t>Брокер «публикация/подписка» для тысяч устройств; лёгкий, подходит для IIoT с ограниченным каналом.</a:t>
            </a:r>
          </a:p>
          <a:p>
            <a:pPr algn="l">
              <a:lnSpc>
                <a:spcPct val="135000"/>
              </a:lnSpc>
            </a:pPr>
            <a:r>
              <a:rPr sz="800" b="0" i="0">
                <a:solidFill>
                  <a:srgbClr val="21295C"/>
                </a:solidFill>
                <a:latin typeface="Arial"/>
              </a:rPr>
              <a:t/>
            </a:r>
          </a:p>
          <a:p>
            <a:pPr algn="l">
              <a:lnSpc>
                <a:spcPct val="135000"/>
              </a:lnSpc>
            </a:pPr>
            <a:r>
              <a:rPr sz="1100" b="1" i="0">
                <a:solidFill>
                  <a:srgbClr val="1C7293"/>
                </a:solidFill>
                <a:latin typeface="Arial"/>
              </a:rPr>
              <a:t>Стандарт:</a:t>
            </a:r>
          </a:p>
          <a:p>
            <a:pPr algn="l">
              <a:lnSpc>
                <a:spcPct val="135000"/>
              </a:lnSpc>
            </a:pPr>
            <a:r>
              <a:rPr sz="1100" b="0" i="1">
                <a:solidFill>
                  <a:srgbClr val="4A556B"/>
                </a:solidFill>
                <a:latin typeface="Arial"/>
              </a:rPr>
              <a:t>ISO/IEC 20922 · широкое распространение</a:t>
            </a:r>
          </a:p>
        </p:txBody>
      </p:sp>
      <p:sp>
        <p:nvSpPr>
          <p:cNvPr id="12" name="Rounded Rectangle 11"/>
          <p:cNvSpPr/>
          <p:nvPr/>
        </p:nvSpPr>
        <p:spPr>
          <a:xfrm>
            <a:off x="8010144" y="1600200"/>
            <a:ext cx="3657600" cy="457200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600200"/>
            <a:ext cx="365760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01583" y="1673352"/>
            <a:ext cx="3474720" cy="50292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TSN</a:t>
            </a:r>
          </a:p>
        </p:txBody>
      </p:sp>
      <p:sp>
        <p:nvSpPr>
          <p:cNvPr id="15" name="TextBox 14"/>
          <p:cNvSpPr txBox="1"/>
          <p:nvPr/>
        </p:nvSpPr>
        <p:spPr>
          <a:xfrm>
            <a:off x="8193023" y="2377440"/>
            <a:ext cx="3291840" cy="3657600"/>
          </a:xfrm>
          <a:prstGeom prst="rect">
            <a:avLst/>
          </a:prstGeom>
          <a:noFill/>
        </p:spPr>
        <p:txBody>
          <a:bodyPr wrap="square" lIns="0" rIns="0" tIns="0" bIns="0" anchor="t">
            <a:spAutoFit/>
          </a:bodyPr>
          <a:lstStyle/>
          <a:p>
            <a:pPr algn="l">
              <a:lnSpc>
                <a:spcPct val="135000"/>
              </a:lnSpc>
            </a:pPr>
            <a:r>
              <a:rPr sz="1000" b="0" i="1">
                <a:solidFill>
                  <a:srgbClr val="1C7293"/>
                </a:solidFill>
                <a:latin typeface="Arial"/>
              </a:rPr>
              <a:t>Сеть с гарантированной задержкой</a:t>
            </a:r>
          </a:p>
          <a:p>
            <a:pPr algn="l">
              <a:lnSpc>
                <a:spcPct val="135000"/>
              </a:lnSpc>
            </a:pPr>
            <a:r>
              <a:rPr sz="800" b="0" i="0">
                <a:solidFill>
                  <a:srgbClr val="21295C"/>
                </a:solidFill>
                <a:latin typeface="Arial"/>
              </a:rPr>
              <a:t/>
            </a:r>
          </a:p>
          <a:p>
            <a:pPr algn="l">
              <a:lnSpc>
                <a:spcPct val="135000"/>
              </a:lnSpc>
            </a:pPr>
            <a:r>
              <a:rPr sz="1200" b="1" i="0">
                <a:solidFill>
                  <a:srgbClr val="065A82"/>
                </a:solidFill>
                <a:latin typeface="Arial"/>
              </a:rPr>
              <a:t>Роль:</a:t>
            </a:r>
          </a:p>
          <a:p>
            <a:pPr algn="l">
              <a:lnSpc>
                <a:spcPct val="135000"/>
              </a:lnSpc>
            </a:pPr>
            <a:r>
              <a:rPr sz="1600" b="1" i="0">
                <a:solidFill>
                  <a:srgbClr val="F0AB00"/>
                </a:solidFill>
                <a:latin typeface="Arial"/>
              </a:rPr>
              <a:t>Детерминизм</a:t>
            </a:r>
          </a:p>
          <a:p>
            <a:pPr algn="l">
              <a:lnSpc>
                <a:spcPct val="135000"/>
              </a:lnSpc>
            </a:pPr>
            <a:r>
              <a:rPr sz="1000" b="0" i="0">
                <a:solidFill>
                  <a:srgbClr val="21295C"/>
                </a:solidFill>
                <a:latin typeface="Arial"/>
              </a:rPr>
              <a:t/>
            </a:r>
          </a:p>
          <a:p>
            <a:pPr algn="l">
              <a:lnSpc>
                <a:spcPct val="135000"/>
              </a:lnSpc>
            </a:pPr>
            <a:r>
              <a:rPr sz="1100" b="1" i="0">
                <a:solidFill>
                  <a:srgbClr val="1C7293"/>
                </a:solidFill>
                <a:latin typeface="Arial"/>
              </a:rPr>
              <a:t>Что делает:</a:t>
            </a:r>
          </a:p>
          <a:p>
            <a:pPr algn="l">
              <a:lnSpc>
                <a:spcPct val="135000"/>
              </a:lnSpc>
            </a:pPr>
            <a:r>
              <a:rPr sz="1100" b="0" i="0">
                <a:solidFill>
                  <a:srgbClr val="21295C"/>
                </a:solidFill>
                <a:latin typeface="Arial"/>
              </a:rPr>
              <a:t>IEEE 802.1 · гарантированная задержка доставки Ethernet-пакетов. Без него инференс ИИ на границе сети &lt;10 мс невозможен.</a:t>
            </a:r>
          </a:p>
          <a:p>
            <a:pPr algn="l">
              <a:lnSpc>
                <a:spcPct val="135000"/>
              </a:lnSpc>
            </a:pPr>
            <a:r>
              <a:rPr sz="800" b="0" i="0">
                <a:solidFill>
                  <a:srgbClr val="21295C"/>
                </a:solidFill>
                <a:latin typeface="Arial"/>
              </a:rPr>
              <a:t/>
            </a:r>
          </a:p>
          <a:p>
            <a:pPr algn="l">
              <a:lnSpc>
                <a:spcPct val="135000"/>
              </a:lnSpc>
            </a:pPr>
            <a:r>
              <a:rPr sz="1100" b="1" i="0">
                <a:solidFill>
                  <a:srgbClr val="1C7293"/>
                </a:solidFill>
                <a:latin typeface="Arial"/>
              </a:rPr>
              <a:t>Стандарт:</a:t>
            </a:r>
          </a:p>
          <a:p>
            <a:pPr algn="l">
              <a:lnSpc>
                <a:spcPct val="135000"/>
              </a:lnSpc>
            </a:pPr>
            <a:r>
              <a:rPr sz="1100" b="0" i="1">
                <a:solidFill>
                  <a:srgbClr val="4A556B"/>
                </a:solidFill>
                <a:latin typeface="Arial"/>
              </a:rPr>
              <a:t>Стандарт IEEE 802.1Qbv + 802.1Qbu</a:t>
            </a:r>
          </a:p>
        </p:txBody>
      </p:sp>
      <p:sp>
        <p:nvSpPr>
          <p:cNvPr id="16" name="TextBox 15"/>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Без всех трёх — A2 невозможен; только OPC UA хватает на A0–A1, но не для замыкания петли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Lighthouse Network: 220+ заводов, 90% с AI, +16% EBIT vs peers</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Программа Всемирного экономического форума и McKinsey — заводы-образцы с полной AI-трансформацией</a:t>
            </a:r>
          </a:p>
        </p:txBody>
      </p:sp>
      <p:sp>
        <p:nvSpPr>
          <p:cNvPr id="4" name="Rounded Rectangle 3"/>
          <p:cNvSpPr/>
          <p:nvPr/>
        </p:nvSpPr>
        <p:spPr>
          <a:xfrm>
            <a:off x="457200" y="1600200"/>
            <a:ext cx="548640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35-lighthouse-donut.png"/>
          <p:cNvPicPr>
            <a:picLocks noChangeAspect="1"/>
          </p:cNvPicPr>
          <p:nvPr/>
        </p:nvPicPr>
        <p:blipFill>
          <a:blip r:embed="rId2"/>
          <a:stretch>
            <a:fillRect/>
          </a:stretch>
        </p:blipFill>
        <p:spPr>
          <a:xfrm>
            <a:off x="640080" y="1737360"/>
            <a:ext cx="5120640" cy="4297680"/>
          </a:xfrm>
          <a:prstGeom prst="rect">
            <a:avLst/>
          </a:prstGeom>
        </p:spPr>
      </p:pic>
      <p:sp>
        <p:nvSpPr>
          <p:cNvPr id="6" name="Rounded Rectangle 5"/>
          <p:cNvSpPr/>
          <p:nvPr/>
        </p:nvSpPr>
        <p:spPr>
          <a:xfrm>
            <a:off x="6126480" y="1600200"/>
            <a:ext cx="5577840" cy="777240"/>
          </a:xfrm>
          <a:prstGeom prst="roundRect">
            <a:avLst>
              <a:gd name="adj" fmla="val 10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737360"/>
            <a:ext cx="1645920" cy="502920"/>
          </a:xfrm>
          <a:prstGeom prst="rect">
            <a:avLst/>
          </a:prstGeom>
          <a:noFill/>
        </p:spPr>
        <p:txBody>
          <a:bodyPr wrap="square" lIns="0" rIns="0" tIns="0" bIns="0" anchor="ctr">
            <a:spAutoFit/>
          </a:bodyPr>
          <a:lstStyle/>
          <a:p>
            <a:pPr algn="ctr">
              <a:lnSpc>
                <a:spcPct val="115000"/>
              </a:lnSpc>
            </a:pPr>
            <a:r>
              <a:rPr sz="2800" b="1" i="0">
                <a:solidFill>
                  <a:srgbClr val="065A82"/>
                </a:solidFill>
                <a:latin typeface="Arial"/>
              </a:rPr>
              <a:t>220+</a:t>
            </a:r>
          </a:p>
        </p:txBody>
      </p:sp>
      <p:sp>
        <p:nvSpPr>
          <p:cNvPr id="8" name="TextBox 7"/>
          <p:cNvSpPr txBox="1"/>
          <p:nvPr/>
        </p:nvSpPr>
        <p:spPr>
          <a:xfrm>
            <a:off x="8046720" y="1737360"/>
            <a:ext cx="3566160" cy="50292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заводов в программе</a:t>
            </a:r>
          </a:p>
        </p:txBody>
      </p:sp>
      <p:sp>
        <p:nvSpPr>
          <p:cNvPr id="9" name="Rounded Rectangle 8"/>
          <p:cNvSpPr/>
          <p:nvPr/>
        </p:nvSpPr>
        <p:spPr>
          <a:xfrm>
            <a:off x="6126480" y="2450591"/>
            <a:ext cx="5577840" cy="7772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2587751"/>
            <a:ext cx="1645920" cy="502920"/>
          </a:xfrm>
          <a:prstGeom prst="rect">
            <a:avLst/>
          </a:prstGeom>
          <a:noFill/>
        </p:spPr>
        <p:txBody>
          <a:bodyPr wrap="square" lIns="0" rIns="0" tIns="0" bIns="0" anchor="ctr">
            <a:spAutoFit/>
          </a:bodyPr>
          <a:lstStyle/>
          <a:p>
            <a:pPr algn="ctr">
              <a:lnSpc>
                <a:spcPct val="115000"/>
              </a:lnSpc>
            </a:pPr>
            <a:r>
              <a:rPr sz="2800" b="1" i="0">
                <a:solidFill>
                  <a:srgbClr val="1C7293"/>
                </a:solidFill>
                <a:latin typeface="Arial"/>
              </a:rPr>
              <a:t>35</a:t>
            </a:r>
          </a:p>
        </p:txBody>
      </p:sp>
      <p:sp>
        <p:nvSpPr>
          <p:cNvPr id="11" name="TextBox 10"/>
          <p:cNvSpPr txBox="1"/>
          <p:nvPr/>
        </p:nvSpPr>
        <p:spPr>
          <a:xfrm>
            <a:off x="8046720" y="2587751"/>
            <a:ext cx="3566160" cy="50292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стран</a:t>
            </a:r>
          </a:p>
        </p:txBody>
      </p:sp>
      <p:sp>
        <p:nvSpPr>
          <p:cNvPr id="12" name="Rounded Rectangle 11"/>
          <p:cNvSpPr/>
          <p:nvPr/>
        </p:nvSpPr>
        <p:spPr>
          <a:xfrm>
            <a:off x="6126480" y="3300984"/>
            <a:ext cx="5577840" cy="777240"/>
          </a:xfrm>
          <a:prstGeom prst="roundRect">
            <a:avLst>
              <a:gd name="adj" fmla="val 10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438144"/>
            <a:ext cx="1645920" cy="502920"/>
          </a:xfrm>
          <a:prstGeom prst="rect">
            <a:avLst/>
          </a:prstGeom>
          <a:noFill/>
        </p:spPr>
        <p:txBody>
          <a:bodyPr wrap="square" lIns="0" rIns="0" tIns="0" bIns="0" anchor="ctr">
            <a:spAutoFit/>
          </a:bodyPr>
          <a:lstStyle/>
          <a:p>
            <a:pPr algn="ctr">
              <a:lnSpc>
                <a:spcPct val="115000"/>
              </a:lnSpc>
            </a:pPr>
            <a:r>
              <a:rPr sz="2800" b="1" i="0">
                <a:solidFill>
                  <a:srgbClr val="028090"/>
                </a:solidFill>
                <a:latin typeface="Arial"/>
              </a:rPr>
              <a:t>23</a:t>
            </a:r>
          </a:p>
        </p:txBody>
      </p:sp>
      <p:sp>
        <p:nvSpPr>
          <p:cNvPr id="14" name="TextBox 13"/>
          <p:cNvSpPr txBox="1"/>
          <p:nvPr/>
        </p:nvSpPr>
        <p:spPr>
          <a:xfrm>
            <a:off x="8046720" y="3438144"/>
            <a:ext cx="3566160" cy="50292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новых площадки в 2026</a:t>
            </a:r>
          </a:p>
        </p:txBody>
      </p:sp>
      <p:sp>
        <p:nvSpPr>
          <p:cNvPr id="15" name="Rounded Rectangle 14"/>
          <p:cNvSpPr/>
          <p:nvPr/>
        </p:nvSpPr>
        <p:spPr>
          <a:xfrm>
            <a:off x="6126480" y="4151376"/>
            <a:ext cx="5577840" cy="777240"/>
          </a:xfrm>
          <a:prstGeom prst="roundRect">
            <a:avLst>
              <a:gd name="adj" fmla="val 10000"/>
            </a:avLst>
          </a:prstGeom>
          <a:solidFill>
            <a:srgbClr val="F4F7FA"/>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4288536"/>
            <a:ext cx="1645920" cy="502920"/>
          </a:xfrm>
          <a:prstGeom prst="rect">
            <a:avLst/>
          </a:prstGeom>
          <a:noFill/>
        </p:spPr>
        <p:txBody>
          <a:bodyPr wrap="square" lIns="0" rIns="0" tIns="0" bIns="0" anchor="ctr">
            <a:spAutoFit/>
          </a:bodyPr>
          <a:lstStyle/>
          <a:p>
            <a:pPr algn="ctr">
              <a:lnSpc>
                <a:spcPct val="115000"/>
              </a:lnSpc>
            </a:pPr>
            <a:r>
              <a:rPr sz="2800" b="1" i="0">
                <a:solidFill>
                  <a:srgbClr val="F0AB00"/>
                </a:solidFill>
                <a:latin typeface="Arial"/>
              </a:rPr>
              <a:t>90%</a:t>
            </a:r>
          </a:p>
        </p:txBody>
      </p:sp>
      <p:sp>
        <p:nvSpPr>
          <p:cNvPr id="17" name="TextBox 16"/>
          <p:cNvSpPr txBox="1"/>
          <p:nvPr/>
        </p:nvSpPr>
        <p:spPr>
          <a:xfrm>
            <a:off x="8046720" y="4288536"/>
            <a:ext cx="3566160" cy="50292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новых внедрений включают AI</a:t>
            </a:r>
          </a:p>
        </p:txBody>
      </p:sp>
      <p:sp>
        <p:nvSpPr>
          <p:cNvPr id="18" name="Rounded Rectangle 17"/>
          <p:cNvSpPr/>
          <p:nvPr/>
        </p:nvSpPr>
        <p:spPr>
          <a:xfrm>
            <a:off x="6126480" y="5001768"/>
            <a:ext cx="5577840" cy="777240"/>
          </a:xfrm>
          <a:prstGeom prst="roundRect">
            <a:avLst>
              <a:gd name="adj" fmla="val 10000"/>
            </a:avLst>
          </a:prstGeom>
          <a:solidFill>
            <a:srgbClr val="F4F7FA"/>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5138928"/>
            <a:ext cx="1645920" cy="502920"/>
          </a:xfrm>
          <a:prstGeom prst="rect">
            <a:avLst/>
          </a:prstGeom>
          <a:noFill/>
        </p:spPr>
        <p:txBody>
          <a:bodyPr wrap="square" lIns="0" rIns="0" tIns="0" bIns="0" anchor="ctr">
            <a:spAutoFit/>
          </a:bodyPr>
          <a:lstStyle/>
          <a:p>
            <a:pPr algn="ctr">
              <a:lnSpc>
                <a:spcPct val="115000"/>
              </a:lnSpc>
            </a:pPr>
            <a:r>
              <a:rPr sz="2800" b="1" i="0">
                <a:solidFill>
                  <a:srgbClr val="21295C"/>
                </a:solidFill>
                <a:latin typeface="Arial"/>
              </a:rPr>
              <a:t>+16%</a:t>
            </a:r>
          </a:p>
        </p:txBody>
      </p:sp>
      <p:sp>
        <p:nvSpPr>
          <p:cNvPr id="20" name="TextBox 19"/>
          <p:cNvSpPr txBox="1"/>
          <p:nvPr/>
        </p:nvSpPr>
        <p:spPr>
          <a:xfrm>
            <a:off x="8046720" y="5138928"/>
            <a:ext cx="3566160" cy="50292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EBIT относительно сравнимых заводов</a:t>
            </a:r>
          </a:p>
        </p:txBody>
      </p:sp>
      <p:sp>
        <p:nvSpPr>
          <p:cNvPr id="21" name="TextBox 20"/>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Всемирный экономический форум / McKinsey Lighthouse Network, январь 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1. Двойник 2026</a:t>
            </a:r>
          </a:p>
        </p:txBody>
      </p:sp>
      <p:sp>
        <p:nvSpPr>
          <p:cNvPr id="4" name="Rectangle 3"/>
          <p:cNvSpPr/>
          <p:nvPr/>
        </p:nvSpPr>
        <p:spPr>
          <a:xfrm>
            <a:off x="186651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6651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2. A0 Наблюдать</a:t>
            </a:r>
          </a:p>
        </p:txBody>
      </p:sp>
      <p:sp>
        <p:nvSpPr>
          <p:cNvPr id="6" name="Rectangle 5"/>
          <p:cNvSpPr/>
          <p:nvPr/>
        </p:nvSpPr>
        <p:spPr>
          <a:xfrm>
            <a:off x="3275838"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75838"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3. A1 Советовать</a:t>
            </a:r>
          </a:p>
        </p:txBody>
      </p:sp>
      <p:sp>
        <p:nvSpPr>
          <p:cNvPr id="8" name="Rectangle 7"/>
          <p:cNvSpPr/>
          <p:nvPr/>
        </p:nvSpPr>
        <p:spPr>
          <a:xfrm>
            <a:off x="4685157"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5157"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4. A2 Замыкать</a:t>
            </a:r>
          </a:p>
        </p:txBody>
      </p:sp>
      <p:sp>
        <p:nvSpPr>
          <p:cNvPr id="10" name="Rectangle 9"/>
          <p:cNvSpPr/>
          <p:nvPr/>
        </p:nvSpPr>
        <p:spPr>
          <a:xfrm>
            <a:off x="6094476"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6"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5. A3 Автоном.</a:t>
            </a:r>
          </a:p>
        </p:txBody>
      </p:sp>
      <p:sp>
        <p:nvSpPr>
          <p:cNvPr id="12" name="Rectangle 11"/>
          <p:cNvSpPr/>
          <p:nvPr/>
        </p:nvSpPr>
        <p:spPr>
          <a:xfrm>
            <a:off x="7503795"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03795"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6. Где НЕ AI</a:t>
            </a:r>
          </a:p>
        </p:txBody>
      </p:sp>
      <p:sp>
        <p:nvSpPr>
          <p:cNvPr id="14" name="Rectangle 13"/>
          <p:cNvSpPr/>
          <p:nvPr/>
        </p:nvSpPr>
        <p:spPr>
          <a:xfrm>
            <a:off x="8913114" y="292608"/>
            <a:ext cx="1381887" cy="2743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3114" y="310896"/>
            <a:ext cx="1381887" cy="237744"/>
          </a:xfrm>
          <a:prstGeom prst="rect">
            <a:avLst/>
          </a:prstGeom>
          <a:noFill/>
        </p:spPr>
        <p:txBody>
          <a:bodyPr wrap="square" lIns="0" rIns="0" tIns="0" bIns="0" anchor="ctr">
            <a:spAutoFit/>
          </a:bodyPr>
          <a:lstStyle/>
          <a:p>
            <a:pPr algn="ctr">
              <a:lnSpc>
                <a:spcPct val="115000"/>
              </a:lnSpc>
            </a:pPr>
            <a:r>
              <a:rPr sz="900" b="0" i="0">
                <a:solidFill>
                  <a:srgbClr val="6B7685"/>
                </a:solidFill>
                <a:latin typeface="Arial"/>
              </a:rPr>
              <a:t>7. OT/IT</a:t>
            </a:r>
          </a:p>
        </p:txBody>
      </p:sp>
      <p:sp>
        <p:nvSpPr>
          <p:cNvPr id="16" name="Rectangle 15"/>
          <p:cNvSpPr/>
          <p:nvPr/>
        </p:nvSpPr>
        <p:spPr>
          <a:xfrm>
            <a:off x="10322433" y="292608"/>
            <a:ext cx="1381887"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22433" y="310896"/>
            <a:ext cx="1381887" cy="237744"/>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8. РФ + Закр.</a:t>
            </a:r>
          </a:p>
        </p:txBody>
      </p:sp>
      <p:sp>
        <p:nvSpPr>
          <p:cNvPr id="18" name="TextBox 17"/>
          <p:cNvSpPr txBox="1"/>
          <p:nvPr/>
        </p:nvSpPr>
        <p:spPr>
          <a:xfrm>
            <a:off x="457200" y="1097280"/>
            <a:ext cx="5486400" cy="5029200"/>
          </a:xfrm>
          <a:prstGeom prst="rect">
            <a:avLst/>
          </a:prstGeom>
          <a:noFill/>
        </p:spPr>
        <p:txBody>
          <a:bodyPr wrap="square" lIns="0" rIns="0" tIns="0" bIns="0" anchor="ctr">
            <a:spAutoFit/>
          </a:bodyPr>
          <a:lstStyle/>
          <a:p>
            <a:pPr algn="ctr">
              <a:lnSpc>
                <a:spcPct val="115000"/>
              </a:lnSpc>
            </a:pPr>
            <a:r>
              <a:rPr sz="38000" b="1" i="0">
                <a:solidFill>
                  <a:srgbClr val="D9E2EC"/>
                </a:solidFill>
                <a:latin typeface="Arial"/>
              </a:rPr>
              <a:t>8</a:t>
            </a:r>
          </a:p>
        </p:txBody>
      </p:sp>
      <p:sp>
        <p:nvSpPr>
          <p:cNvPr id="19" name="TextBox 18"/>
          <p:cNvSpPr txBox="1"/>
          <p:nvPr/>
        </p:nvSpPr>
        <p:spPr>
          <a:xfrm>
            <a:off x="5029200" y="2194560"/>
            <a:ext cx="6858000" cy="36576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600" b="1" i="0">
                <a:solidFill>
                  <a:srgbClr val="21295C"/>
                </a:solidFill>
                <a:latin typeface="Arial"/>
              </a:rPr>
              <a:t>Российский контекст + карьерный мост</a:t>
            </a:r>
          </a:p>
          <a:p>
            <a:pPr algn="l">
              <a:lnSpc>
                <a:spcPct val="115000"/>
              </a:lnSpc>
            </a:pPr>
            <a:r>
              <a:rPr sz="800" b="0" i="0">
                <a:solidFill>
                  <a:srgbClr val="21295C"/>
                </a:solidFill>
                <a:latin typeface="Arial"/>
              </a:rPr>
              <a:t/>
            </a:r>
          </a:p>
          <a:p>
            <a:pPr algn="l">
              <a:lnSpc>
                <a:spcPct val="115000"/>
              </a:lnSpc>
            </a:pPr>
            <a:r>
              <a:rPr sz="1500" b="0" i="0">
                <a:solidFill>
                  <a:srgbClr val="065A82"/>
                </a:solidFill>
                <a:latin typeface="Arial"/>
              </a:rPr>
              <a:t>ГОСТ Р 57700.37 · КАМАЗ · Росатом · Норникель · 4 роли инженера AI</a:t>
            </a:r>
          </a:p>
          <a:p>
            <a:pPr algn="l">
              <a:lnSpc>
                <a:spcPct val="115000"/>
              </a:lnSpc>
            </a:pPr>
            <a:r>
              <a:rPr sz="600" b="0" i="0">
                <a:solidFill>
                  <a:srgbClr val="21295C"/>
                </a:solidFill>
                <a:latin typeface="Arial"/>
              </a:rPr>
              <a:t/>
            </a:r>
          </a:p>
          <a:p>
            <a:pPr algn="l">
              <a:lnSpc>
                <a:spcPct val="115000"/>
              </a:lnSpc>
            </a:pPr>
            <a:r>
              <a:rPr sz="1200" b="0" i="1">
                <a:solidFill>
                  <a:srgbClr val="F0AB00"/>
                </a:solidFill>
                <a:latin typeface="Arial"/>
              </a:rPr>
              <a:t>Раздел 7 · отечественные кейсы и точки входа в индустрию</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Россия: ГОСТ Р 57700.37 + КАМАЗ + Росатом + Норникель</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Формальная регуляторная база + три якорных кейса промышленной эксплуатации</a:t>
            </a:r>
          </a:p>
        </p:txBody>
      </p:sp>
      <p:pic>
        <p:nvPicPr>
          <p:cNvPr id="4" name="Picture 3" descr="s37-kamaz.jpg"/>
          <p:cNvPicPr>
            <a:picLocks noChangeAspect="1"/>
          </p:cNvPicPr>
          <p:nvPr/>
        </p:nvPicPr>
        <p:blipFill>
          <a:blip r:embed="rId2"/>
          <a:stretch>
            <a:fillRect/>
          </a:stretch>
        </p:blipFill>
        <p:spPr>
          <a:xfrm>
            <a:off x="457200" y="1600200"/>
            <a:ext cx="5029200" cy="4114800"/>
          </a:xfrm>
          <a:prstGeom prst="rect">
            <a:avLst/>
          </a:prstGeom>
        </p:spPr>
      </p:pic>
      <p:sp>
        <p:nvSpPr>
          <p:cNvPr id="5" name="TextBox 4"/>
          <p:cNvSpPr txBox="1"/>
          <p:nvPr/>
        </p:nvSpPr>
        <p:spPr>
          <a:xfrm>
            <a:off x="457200" y="5760720"/>
            <a:ext cx="50292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КАМАЗ-43118 · Wikimedia · CC-BY-SA · пилот цифровых двойников РФ с 2020</a:t>
            </a:r>
          </a:p>
        </p:txBody>
      </p:sp>
      <p:sp>
        <p:nvSpPr>
          <p:cNvPr id="6" name="Rounded Rectangle 5"/>
          <p:cNvSpPr/>
          <p:nvPr/>
        </p:nvSpPr>
        <p:spPr>
          <a:xfrm>
            <a:off x="5760720" y="1691640"/>
            <a:ext cx="5943600" cy="128016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60720" y="1691640"/>
            <a:ext cx="164592"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89320" y="1783080"/>
            <a:ext cx="5669280" cy="41148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КАМАЗ</a:t>
            </a:r>
          </a:p>
        </p:txBody>
      </p:sp>
      <p:sp>
        <p:nvSpPr>
          <p:cNvPr id="9" name="TextBox 8"/>
          <p:cNvSpPr txBox="1"/>
          <p:nvPr/>
        </p:nvSpPr>
        <p:spPr>
          <a:xfrm>
            <a:off x="5989320" y="2194560"/>
            <a:ext cx="5669280" cy="320040"/>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Пионер цифровых двойников РФ</a:t>
            </a:r>
          </a:p>
        </p:txBody>
      </p:sp>
      <p:sp>
        <p:nvSpPr>
          <p:cNvPr id="10" name="TextBox 9"/>
          <p:cNvSpPr txBox="1"/>
          <p:nvPr/>
        </p:nvSpPr>
        <p:spPr>
          <a:xfrm>
            <a:off x="5989320" y="2514600"/>
            <a:ext cx="5669280" cy="411480"/>
          </a:xfrm>
          <a:prstGeom prst="rect">
            <a:avLst/>
          </a:prstGeom>
          <a:noFill/>
        </p:spPr>
        <p:txBody>
          <a:bodyPr wrap="square" lIns="0" rIns="0" tIns="0" bIns="0" anchor="t">
            <a:spAutoFit/>
          </a:bodyPr>
          <a:lstStyle/>
          <a:p>
            <a:pPr algn="l">
              <a:lnSpc>
                <a:spcPct val="115000"/>
              </a:lnSpc>
            </a:pPr>
            <a:r>
              <a:rPr sz="1100" b="0" i="0">
                <a:solidFill>
                  <a:srgbClr val="4A556B"/>
                </a:solidFill>
                <a:latin typeface="Arial"/>
              </a:rPr>
              <a:t>конвейер + НИОКР · электромобиль КАМА-1 c 2020</a:t>
            </a:r>
          </a:p>
        </p:txBody>
      </p:sp>
      <p:sp>
        <p:nvSpPr>
          <p:cNvPr id="11" name="Rounded Rectangle 10"/>
          <p:cNvSpPr/>
          <p:nvPr/>
        </p:nvSpPr>
        <p:spPr>
          <a:xfrm>
            <a:off x="5760720" y="3063240"/>
            <a:ext cx="5943600" cy="128016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60720" y="3063240"/>
            <a:ext cx="164592" cy="12801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3154680"/>
            <a:ext cx="5669280" cy="41148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Росатом</a:t>
            </a:r>
          </a:p>
        </p:txBody>
      </p:sp>
      <p:sp>
        <p:nvSpPr>
          <p:cNvPr id="14" name="TextBox 13"/>
          <p:cNvSpPr txBox="1"/>
          <p:nvPr/>
        </p:nvSpPr>
        <p:spPr>
          <a:xfrm>
            <a:off x="5989320" y="3566160"/>
            <a:ext cx="5669280" cy="320040"/>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Стратегия технологического суверенитета</a:t>
            </a:r>
          </a:p>
        </p:txBody>
      </p:sp>
      <p:sp>
        <p:nvSpPr>
          <p:cNvPr id="15" name="TextBox 14"/>
          <p:cNvSpPr txBox="1"/>
          <p:nvPr/>
        </p:nvSpPr>
        <p:spPr>
          <a:xfrm>
            <a:off x="5989320" y="3886200"/>
            <a:ext cx="5669280" cy="411480"/>
          </a:xfrm>
          <a:prstGeom prst="rect">
            <a:avLst/>
          </a:prstGeom>
          <a:noFill/>
        </p:spPr>
        <p:txBody>
          <a:bodyPr wrap="square" lIns="0" rIns="0" tIns="0" bIns="0" anchor="t">
            <a:spAutoFit/>
          </a:bodyPr>
          <a:lstStyle/>
          <a:p>
            <a:pPr algn="l">
              <a:lnSpc>
                <a:spcPct val="115000"/>
              </a:lnSpc>
            </a:pPr>
            <a:r>
              <a:rPr sz="1100" b="0" i="0">
                <a:solidFill>
                  <a:srgbClr val="4A556B"/>
                </a:solidFill>
                <a:latin typeface="Arial"/>
              </a:rPr>
              <a:t>T-FLEX PLM · АтомМайнд с 2024</a:t>
            </a:r>
          </a:p>
        </p:txBody>
      </p:sp>
      <p:sp>
        <p:nvSpPr>
          <p:cNvPr id="16" name="Rounded Rectangle 15"/>
          <p:cNvSpPr/>
          <p:nvPr/>
        </p:nvSpPr>
        <p:spPr>
          <a:xfrm>
            <a:off x="5760720" y="4434840"/>
            <a:ext cx="5943600" cy="128016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60720" y="4434840"/>
            <a:ext cx="164592" cy="12801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4526279"/>
            <a:ext cx="5669280" cy="41148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Норникель</a:t>
            </a:r>
          </a:p>
        </p:txBody>
      </p:sp>
      <p:sp>
        <p:nvSpPr>
          <p:cNvPr id="19" name="TextBox 18"/>
          <p:cNvSpPr txBox="1"/>
          <p:nvPr/>
        </p:nvSpPr>
        <p:spPr>
          <a:xfrm>
            <a:off x="5989320" y="4937759"/>
            <a:ext cx="5669280" cy="320040"/>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Управление процессом флотации через ИИ</a:t>
            </a:r>
          </a:p>
        </p:txBody>
      </p:sp>
      <p:sp>
        <p:nvSpPr>
          <p:cNvPr id="20" name="TextBox 19"/>
          <p:cNvSpPr txBox="1"/>
          <p:nvPr/>
        </p:nvSpPr>
        <p:spPr>
          <a:xfrm>
            <a:off x="5989320" y="5257800"/>
            <a:ext cx="5669280" cy="411480"/>
          </a:xfrm>
          <a:prstGeom prst="rect">
            <a:avLst/>
          </a:prstGeom>
          <a:noFill/>
        </p:spPr>
        <p:txBody>
          <a:bodyPr wrap="square" lIns="0" rIns="0" tIns="0" bIns="0" anchor="t">
            <a:spAutoFit/>
          </a:bodyPr>
          <a:lstStyle/>
          <a:p>
            <a:pPr algn="l">
              <a:lnSpc>
                <a:spcPct val="115000"/>
              </a:lnSpc>
            </a:pPr>
            <a:r>
              <a:rPr sz="1100" b="0" i="0">
                <a:solidFill>
                  <a:srgbClr val="4A556B"/>
                </a:solidFill>
                <a:latin typeface="Arial"/>
              </a:rPr>
              <a:t>отечественный кейс класса A2 · обогащение медно-никелевых руд</a:t>
            </a:r>
          </a:p>
        </p:txBody>
      </p:sp>
      <p:sp>
        <p:nvSpPr>
          <p:cNvPr id="21" name="Rounded Rectangle 20"/>
          <p:cNvSpPr/>
          <p:nvPr/>
        </p:nvSpPr>
        <p:spPr>
          <a:xfrm>
            <a:off x="5760720" y="5852160"/>
            <a:ext cx="594360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0" y="5897880"/>
            <a:ext cx="5577840" cy="548640"/>
          </a:xfrm>
          <a:prstGeom prst="rect">
            <a:avLst/>
          </a:prstGeom>
          <a:noFill/>
        </p:spPr>
        <p:txBody>
          <a:bodyPr wrap="square" lIns="0" rIns="0" tIns="0" bIns="0" anchor="ctr">
            <a:spAutoFit/>
          </a:bodyPr>
          <a:lstStyle/>
          <a:p>
            <a:pPr algn="l">
              <a:lnSpc>
                <a:spcPct val="130000"/>
              </a:lnSpc>
            </a:pPr>
            <a:r>
              <a:rPr sz="1100" b="1" i="1">
                <a:solidFill>
                  <a:srgbClr val="21295C"/>
                </a:solidFill>
                <a:latin typeface="Arial"/>
              </a:rPr>
              <a:t>ГОСТ Р 57700.37-2021 + 187-ФЗ КИИ — основа для производственного AI в РФ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Карьерный мост: четыре роли инженера AI в производстве</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Каждая роль — со своим стеком навыков и точкой входа в индустрию</a:t>
            </a:r>
          </a:p>
        </p:txBody>
      </p:sp>
      <p:sp>
        <p:nvSpPr>
          <p:cNvPr id="4" name="Rounded Rectangle 3"/>
          <p:cNvSpPr/>
          <p:nvPr/>
        </p:nvSpPr>
        <p:spPr>
          <a:xfrm>
            <a:off x="457200" y="1600200"/>
            <a:ext cx="2743200" cy="448056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274320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2560320" cy="77724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Инженер ИИ/МО
(промышленный)</a:t>
            </a:r>
          </a:p>
        </p:txBody>
      </p:sp>
      <p:sp>
        <p:nvSpPr>
          <p:cNvPr id="7" name="TextBox 6"/>
          <p:cNvSpPr txBox="1"/>
          <p:nvPr/>
        </p:nvSpPr>
        <p:spPr>
          <a:xfrm>
            <a:off x="640080" y="2651760"/>
            <a:ext cx="2377440" cy="329184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День за днём:</a:t>
            </a:r>
          </a:p>
          <a:p>
            <a:pPr algn="l">
              <a:lnSpc>
                <a:spcPct val="130000"/>
              </a:lnSpc>
            </a:pPr>
            <a:r>
              <a:rPr sz="1100" b="0" i="0">
                <a:solidFill>
                  <a:srgbClr val="21295C"/>
                </a:solidFill>
                <a:latin typeface="Arial"/>
              </a:rPr>
              <a:t>Проектирует и обучает модели (Vision QC, прогн. обслуживание, тревоги); встраивает в среду исполнения на границе сети; следит за дрейфом</a:t>
            </a:r>
          </a:p>
          <a:p>
            <a:pPr algn="l">
              <a:lnSpc>
                <a:spcPct val="130000"/>
              </a:lnSpc>
            </a:pPr>
            <a:r>
              <a:rPr sz="800" b="0" i="0">
                <a:solidFill>
                  <a:srgbClr val="21295C"/>
                </a:solidFill>
                <a:latin typeface="Arial"/>
              </a:rPr>
              <a:t/>
            </a:r>
          </a:p>
          <a:p>
            <a:pPr algn="l">
              <a:lnSpc>
                <a:spcPct val="130000"/>
              </a:lnSpc>
            </a:pPr>
            <a:r>
              <a:rPr sz="1100" b="1" i="0">
                <a:solidFill>
                  <a:srgbClr val="1C7293"/>
                </a:solidFill>
                <a:latin typeface="Arial"/>
              </a:rPr>
              <a:t>Ключевые навыки:</a:t>
            </a:r>
          </a:p>
          <a:p>
            <a:pPr algn="l">
              <a:lnSpc>
                <a:spcPct val="130000"/>
              </a:lnSpc>
            </a:pPr>
            <a:r>
              <a:rPr sz="1000" b="0" i="1">
                <a:solidFill>
                  <a:srgbClr val="4A556B"/>
                </a:solidFill>
                <a:latin typeface="Arial"/>
              </a:rPr>
              <a:t>Python + PyTorch · MLOps · OPC UA · статистика · знание физики процесса</a:t>
            </a:r>
          </a:p>
        </p:txBody>
      </p:sp>
      <p:sp>
        <p:nvSpPr>
          <p:cNvPr id="8" name="Rounded Rectangle 7"/>
          <p:cNvSpPr/>
          <p:nvPr/>
        </p:nvSpPr>
        <p:spPr>
          <a:xfrm>
            <a:off x="3319272" y="1600200"/>
            <a:ext cx="2743200" cy="448056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19272" y="1600200"/>
            <a:ext cx="2743200" cy="9144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691640"/>
            <a:ext cx="2560320" cy="77724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Инженер цифровых
двойников</a:t>
            </a:r>
          </a:p>
        </p:txBody>
      </p:sp>
      <p:sp>
        <p:nvSpPr>
          <p:cNvPr id="11" name="TextBox 10"/>
          <p:cNvSpPr txBox="1"/>
          <p:nvPr/>
        </p:nvSpPr>
        <p:spPr>
          <a:xfrm>
            <a:off x="3502152" y="2651760"/>
            <a:ext cx="2377440" cy="329184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День за днём:</a:t>
            </a:r>
          </a:p>
          <a:p>
            <a:pPr algn="l">
              <a:lnSpc>
                <a:spcPct val="130000"/>
              </a:lnSpc>
            </a:pPr>
            <a:r>
              <a:rPr sz="1100" b="0" i="0">
                <a:solidFill>
                  <a:srgbClr val="21295C"/>
                </a:solidFill>
                <a:latin typeface="Arial"/>
              </a:rPr>
              <a:t>Строит и поддерживает двойник: датчики через OPC UA, физика + ML-модель оборудования, валидация точности</a:t>
            </a:r>
          </a:p>
          <a:p>
            <a:pPr algn="l">
              <a:lnSpc>
                <a:spcPct val="130000"/>
              </a:lnSpc>
            </a:pPr>
            <a:r>
              <a:rPr sz="800" b="0" i="0">
                <a:solidFill>
                  <a:srgbClr val="21295C"/>
                </a:solidFill>
                <a:latin typeface="Arial"/>
              </a:rPr>
              <a:t/>
            </a:r>
          </a:p>
          <a:p>
            <a:pPr algn="l">
              <a:lnSpc>
                <a:spcPct val="130000"/>
              </a:lnSpc>
            </a:pPr>
            <a:r>
              <a:rPr sz="1100" b="1" i="0">
                <a:solidFill>
                  <a:srgbClr val="1C7293"/>
                </a:solidFill>
                <a:latin typeface="Arial"/>
              </a:rPr>
              <a:t>Ключевые навыки:</a:t>
            </a:r>
          </a:p>
          <a:p>
            <a:pPr algn="l">
              <a:lnSpc>
                <a:spcPct val="130000"/>
              </a:lnSpc>
            </a:pPr>
            <a:r>
              <a:rPr sz="1000" b="0" i="1">
                <a:solidFill>
                  <a:srgbClr val="4A556B"/>
                </a:solidFill>
                <a:latin typeface="Arial"/>
              </a:rPr>
              <a:t>Siemens Composer · NVIDIA Omniverse · PTC ThingWorx · САПР · OPC UA</a:t>
            </a:r>
          </a:p>
        </p:txBody>
      </p:sp>
      <p:sp>
        <p:nvSpPr>
          <p:cNvPr id="12" name="Rounded Rectangle 11"/>
          <p:cNvSpPr/>
          <p:nvPr/>
        </p:nvSpPr>
        <p:spPr>
          <a:xfrm>
            <a:off x="6181344" y="1600200"/>
            <a:ext cx="2743200" cy="448056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1600200"/>
            <a:ext cx="2743200" cy="914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2783" y="1691640"/>
            <a:ext cx="2560320" cy="77724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Специалист по
интеграции MES</a:t>
            </a:r>
          </a:p>
        </p:txBody>
      </p:sp>
      <p:sp>
        <p:nvSpPr>
          <p:cNvPr id="15" name="TextBox 14"/>
          <p:cNvSpPr txBox="1"/>
          <p:nvPr/>
        </p:nvSpPr>
        <p:spPr>
          <a:xfrm>
            <a:off x="6364224" y="2651760"/>
            <a:ext cx="2377440" cy="329184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День за днём:</a:t>
            </a:r>
          </a:p>
          <a:p>
            <a:pPr algn="l">
              <a:lnSpc>
                <a:spcPct val="130000"/>
              </a:lnSpc>
            </a:pPr>
            <a:r>
              <a:rPr sz="1100" b="0" i="0">
                <a:solidFill>
                  <a:srgbClr val="21295C"/>
                </a:solidFill>
                <a:latin typeface="Arial"/>
              </a:rPr>
              <a:t>Внедряет советующий AI в существующий MES; настраивает процесс «рекомендация → согласие → исполнение»</a:t>
            </a:r>
          </a:p>
          <a:p>
            <a:pPr algn="l">
              <a:lnSpc>
                <a:spcPct val="130000"/>
              </a:lnSpc>
            </a:pPr>
            <a:r>
              <a:rPr sz="800" b="0" i="0">
                <a:solidFill>
                  <a:srgbClr val="21295C"/>
                </a:solidFill>
                <a:latin typeface="Arial"/>
              </a:rPr>
              <a:t/>
            </a:r>
          </a:p>
          <a:p>
            <a:pPr algn="l">
              <a:lnSpc>
                <a:spcPct val="130000"/>
              </a:lnSpc>
            </a:pPr>
            <a:r>
              <a:rPr sz="1100" b="1" i="0">
                <a:solidFill>
                  <a:srgbClr val="1C7293"/>
                </a:solidFill>
                <a:latin typeface="Arial"/>
              </a:rPr>
              <a:t>Ключевые навыки:</a:t>
            </a:r>
          </a:p>
          <a:p>
            <a:pPr algn="l">
              <a:lnSpc>
                <a:spcPct val="130000"/>
              </a:lnSpc>
            </a:pPr>
            <a:r>
              <a:rPr sz="1000" b="0" i="1">
                <a:solidFill>
                  <a:srgbClr val="4A556B"/>
                </a:solidFill>
                <a:latin typeface="Arial"/>
              </a:rPr>
              <a:t>SQL · REST/OPC UA · Opcenter/FactoryTalk/SAP MII · бизнес-процессы цеха</a:t>
            </a:r>
          </a:p>
        </p:txBody>
      </p:sp>
      <p:sp>
        <p:nvSpPr>
          <p:cNvPr id="16" name="Rounded Rectangle 15"/>
          <p:cNvSpPr/>
          <p:nvPr/>
        </p:nvSpPr>
        <p:spPr>
          <a:xfrm>
            <a:off x="9043416" y="1600200"/>
            <a:ext cx="2743200" cy="448056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43416" y="1600200"/>
            <a:ext cx="274320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34856" y="1691640"/>
            <a:ext cx="2560320" cy="77724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Инженер ИИ на
границе сети</a:t>
            </a:r>
          </a:p>
        </p:txBody>
      </p:sp>
      <p:sp>
        <p:nvSpPr>
          <p:cNvPr id="19" name="TextBox 18"/>
          <p:cNvSpPr txBox="1"/>
          <p:nvPr/>
        </p:nvSpPr>
        <p:spPr>
          <a:xfrm>
            <a:off x="9226296" y="2651760"/>
            <a:ext cx="2377440" cy="329184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День за днём:</a:t>
            </a:r>
          </a:p>
          <a:p>
            <a:pPr algn="l">
              <a:lnSpc>
                <a:spcPct val="130000"/>
              </a:lnSpc>
            </a:pPr>
            <a:r>
              <a:rPr sz="1100" b="0" i="0">
                <a:solidFill>
                  <a:srgbClr val="21295C"/>
                </a:solidFill>
                <a:latin typeface="Arial"/>
              </a:rPr>
              <a:t>Развёртывает инференс на пограничных серверах (Jetson, Modicon edge); оптимизирует задержку, разрабатывает безопасную передачу управления</a:t>
            </a:r>
          </a:p>
          <a:p>
            <a:pPr algn="l">
              <a:lnSpc>
                <a:spcPct val="130000"/>
              </a:lnSpc>
            </a:pPr>
            <a:r>
              <a:rPr sz="800" b="0" i="0">
                <a:solidFill>
                  <a:srgbClr val="21295C"/>
                </a:solidFill>
                <a:latin typeface="Arial"/>
              </a:rPr>
              <a:t/>
            </a:r>
          </a:p>
          <a:p>
            <a:pPr algn="l">
              <a:lnSpc>
                <a:spcPct val="130000"/>
              </a:lnSpc>
            </a:pPr>
            <a:r>
              <a:rPr sz="1100" b="1" i="0">
                <a:solidFill>
                  <a:srgbClr val="1C7293"/>
                </a:solidFill>
                <a:latin typeface="Arial"/>
              </a:rPr>
              <a:t>Ключевые навыки:</a:t>
            </a:r>
          </a:p>
          <a:p>
            <a:pPr algn="l">
              <a:lnSpc>
                <a:spcPct val="130000"/>
              </a:lnSpc>
            </a:pPr>
            <a:r>
              <a:rPr sz="1000" b="0" i="1">
                <a:solidFill>
                  <a:srgbClr val="4A556B"/>
                </a:solidFill>
                <a:latin typeface="Arial"/>
              </a:rPr>
              <a:t>C++/Rust · встроенный Linux · ONNX/TensorRT · планирование в реальном времени · кибербезопасность КИИ</a:t>
            </a:r>
          </a:p>
        </p:txBody>
      </p:sp>
      <p:sp>
        <p:nvSpPr>
          <p:cNvPr id="20" name="Rounded Rectangle 19"/>
          <p:cNvSpPr/>
          <p:nvPr/>
        </p:nvSpPr>
        <p:spPr>
          <a:xfrm>
            <a:off x="457200" y="6263640"/>
            <a:ext cx="11274552" cy="3200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291072"/>
            <a:ext cx="10972800" cy="274320"/>
          </a:xfrm>
          <a:prstGeom prst="rect">
            <a:avLst/>
          </a:prstGeom>
          <a:noFill/>
        </p:spPr>
        <p:txBody>
          <a:bodyPr wrap="square" lIns="0" rIns="0" tIns="0" bIns="0" anchor="t">
            <a:spAutoFit/>
          </a:bodyPr>
          <a:lstStyle/>
          <a:p>
            <a:pPr algn="ctr">
              <a:lnSpc>
                <a:spcPct val="115000"/>
              </a:lnSpc>
            </a:pPr>
            <a:r>
              <a:rPr sz="1000" b="0" i="1">
                <a:solidFill>
                  <a:srgbClr val="21295C"/>
                </a:solidFill>
                <a:latin typeface="Arial"/>
              </a:rPr>
              <a:t>Где учиться: профильные технические магистратуры по AI в промышленности + онлайн-курсы NVIDIA Omniverse, Siemens Industrial AI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39-cassie-digit.jpg"/>
          <p:cNvPicPr>
            <a:picLocks noChangeAspect="1"/>
          </p:cNvPicPr>
          <p:nvPr/>
        </p:nvPicPr>
        <p:blipFill>
          <a:blip r:embed="rId2"/>
          <a:stretch>
            <a:fillRect/>
          </a:stretch>
        </p:blipFill>
        <p:spPr>
          <a:xfrm>
            <a:off x="365760" y="457200"/>
            <a:ext cx="6126480" cy="5486400"/>
          </a:xfrm>
          <a:prstGeom prst="rect">
            <a:avLst/>
          </a:prstGeom>
        </p:spPr>
      </p:pic>
      <p:sp>
        <p:nvSpPr>
          <p:cNvPr id="3" name="TextBox 2"/>
          <p:cNvSpPr txBox="1"/>
          <p:nvPr/>
        </p:nvSpPr>
        <p:spPr>
          <a:xfrm>
            <a:off x="365760" y="5989320"/>
            <a:ext cx="612648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Cassie · Agility Robotics (компания-производитель Digit) · Oregon State · Wikimedia · CC-BY-SA</a:t>
            </a:r>
          </a:p>
        </p:txBody>
      </p:sp>
      <p:sp>
        <p:nvSpPr>
          <p:cNvPr id="4" name="TextBox 3"/>
          <p:cNvSpPr txBox="1"/>
          <p:nvPr/>
        </p:nvSpPr>
        <p:spPr>
          <a:xfrm>
            <a:off x="6675120" y="548640"/>
            <a:ext cx="5212080" cy="1371600"/>
          </a:xfrm>
          <a:prstGeom prst="rect">
            <a:avLst/>
          </a:prstGeom>
          <a:noFill/>
        </p:spPr>
        <p:txBody>
          <a:bodyPr wrap="square" lIns="0" rIns="0" tIns="0" bIns="0" anchor="t">
            <a:spAutoFit/>
          </a:bodyPr>
          <a:lstStyle/>
          <a:p>
            <a:pPr algn="l">
              <a:lnSpc>
                <a:spcPct val="110000"/>
              </a:lnSpc>
            </a:pPr>
            <a:r>
              <a:rPr sz="1600" b="1" i="0">
                <a:solidFill>
                  <a:srgbClr val="1C7293"/>
                </a:solidFill>
                <a:latin typeface="Arial"/>
              </a:rPr>
              <a:t>Закрытие лекции 12</a:t>
            </a:r>
          </a:p>
          <a:p>
            <a:pPr algn="l">
              <a:lnSpc>
                <a:spcPct val="110000"/>
              </a:lnSpc>
            </a:pPr>
            <a:r>
              <a:rPr sz="600" b="0" i="0">
                <a:solidFill>
                  <a:srgbClr val="21295C"/>
                </a:solidFill>
                <a:latin typeface="Arial"/>
              </a:rPr>
              <a:t/>
            </a:r>
          </a:p>
          <a:p>
            <a:pPr algn="l">
              <a:lnSpc>
                <a:spcPct val="110000"/>
              </a:lnSpc>
            </a:pPr>
            <a:r>
              <a:rPr sz="2600" b="1" i="0">
                <a:solidFill>
                  <a:srgbClr val="21295C"/>
                </a:solidFill>
                <a:latin typeface="Arial"/>
              </a:rPr>
              <a:t>A0 → A1 → A2 → A3</a:t>
            </a:r>
          </a:p>
          <a:p>
            <a:pPr algn="l">
              <a:lnSpc>
                <a:spcPct val="110000"/>
              </a:lnSpc>
            </a:pPr>
            <a:r>
              <a:rPr sz="1700" b="1" i="0">
                <a:solidFill>
                  <a:srgbClr val="065A82"/>
                </a:solidFill>
                <a:latin typeface="Arial"/>
              </a:rPr>
              <a:t>+ цифровой двойник как мост</a:t>
            </a:r>
          </a:p>
        </p:txBody>
      </p:sp>
      <p:sp>
        <p:nvSpPr>
          <p:cNvPr id="5" name="Rounded Rectangle 4"/>
          <p:cNvSpPr/>
          <p:nvPr/>
        </p:nvSpPr>
        <p:spPr>
          <a:xfrm>
            <a:off x="6675120" y="2103120"/>
            <a:ext cx="5212080" cy="2286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2194560"/>
            <a:ext cx="4846320" cy="2103120"/>
          </a:xfrm>
          <a:prstGeom prst="rect">
            <a:avLst/>
          </a:prstGeom>
          <a:noFill/>
        </p:spPr>
        <p:txBody>
          <a:bodyPr wrap="square" lIns="0" rIns="0" tIns="0" bIns="0" anchor="t">
            <a:spAutoFit/>
          </a:bodyPr>
          <a:lstStyle/>
          <a:p>
            <a:pPr algn="l">
              <a:lnSpc>
                <a:spcPct val="130000"/>
              </a:lnSpc>
            </a:pPr>
            <a:r>
              <a:rPr sz="1100" b="1" i="0">
                <a:solidFill>
                  <a:srgbClr val="065A82"/>
                </a:solidFill>
                <a:latin typeface="Arial"/>
              </a:rPr>
              <a:t>ЧТО МЫ ЗНАЕМ ТЕПЕРЬ:</a:t>
            </a:r>
          </a:p>
          <a:p>
            <a:pPr algn="l">
              <a:lnSpc>
                <a:spcPct val="130000"/>
              </a:lnSpc>
            </a:pPr>
            <a:r>
              <a:rPr sz="600" b="0" i="0">
                <a:solidFill>
                  <a:srgbClr val="21295C"/>
                </a:solidFill>
                <a:latin typeface="Arial"/>
              </a:rPr>
              <a:t/>
            </a:r>
          </a:p>
          <a:p>
            <a:pPr algn="l">
              <a:lnSpc>
                <a:spcPct val="130000"/>
              </a:lnSpc>
            </a:pPr>
            <a:r>
              <a:rPr sz="1100" b="0" i="0">
                <a:solidFill>
                  <a:srgbClr val="21295C"/>
                </a:solidFill>
                <a:latin typeface="Arial"/>
              </a:rPr>
              <a:t>· A0: Vision QC + прогн. обслуживание с границами</a:t>
            </a:r>
          </a:p>
          <a:p>
            <a:pPr algn="l">
              <a:lnSpc>
                <a:spcPct val="130000"/>
              </a:lnSpc>
            </a:pPr>
            <a:r>
              <a:rPr sz="1100" b="0" i="0">
                <a:solidFill>
                  <a:srgbClr val="21295C"/>
                </a:solidFill>
                <a:latin typeface="Arial"/>
              </a:rPr>
              <a:t>· A1: MES + предсказание тревог + PLC Copilot</a:t>
            </a:r>
          </a:p>
          <a:p>
            <a:pPr algn="l">
              <a:lnSpc>
                <a:spcPct val="130000"/>
              </a:lnSpc>
            </a:pPr>
            <a:r>
              <a:rPr sz="1100" b="0" i="0">
                <a:solidFill>
                  <a:srgbClr val="21295C"/>
                </a:solidFill>
                <a:latin typeface="Arial"/>
              </a:rPr>
              <a:t>· A2: RL + двойник как песочница (Yokogawa)</a:t>
            </a:r>
          </a:p>
          <a:p>
            <a:pPr algn="l">
              <a:lnSpc>
                <a:spcPct val="130000"/>
              </a:lnSpc>
            </a:pPr>
            <a:r>
              <a:rPr sz="1100" b="0" i="0">
                <a:solidFill>
                  <a:srgbClr val="21295C"/>
                </a:solidFill>
                <a:latin typeface="Arial"/>
              </a:rPr>
              <a:t>· A3: humanoid-логистика — единично</a:t>
            </a:r>
          </a:p>
          <a:p>
            <a:pPr algn="l">
              <a:lnSpc>
                <a:spcPct val="130000"/>
              </a:lnSpc>
            </a:pPr>
            <a:r>
              <a:rPr sz="1100" b="1" i="0">
                <a:solidFill>
                  <a:srgbClr val="F0AB00"/>
                </a:solidFill>
                <a:latin typeface="Arial"/>
              </a:rPr>
              <a:t>· 10 критериев «AI не нужен» + 5 вопросов вендору</a:t>
            </a:r>
          </a:p>
        </p:txBody>
      </p:sp>
      <p:sp>
        <p:nvSpPr>
          <p:cNvPr id="7" name="Rounded Rectangle 6"/>
          <p:cNvSpPr/>
          <p:nvPr/>
        </p:nvSpPr>
        <p:spPr>
          <a:xfrm>
            <a:off x="6675120" y="4572000"/>
            <a:ext cx="5212080" cy="18288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4663440"/>
            <a:ext cx="4846320" cy="1645920"/>
          </a:xfrm>
          <a:prstGeom prst="rect">
            <a:avLst/>
          </a:prstGeom>
          <a:noFill/>
        </p:spPr>
        <p:txBody>
          <a:bodyPr wrap="square" lIns="0" rIns="0" tIns="0" bIns="0" anchor="t">
            <a:spAutoFit/>
          </a:bodyPr>
          <a:lstStyle/>
          <a:p>
            <a:pPr algn="ctr">
              <a:lnSpc>
                <a:spcPct val="115000"/>
              </a:lnSpc>
            </a:pPr>
            <a:r>
              <a:rPr sz="1200" b="1" i="0">
                <a:solidFill>
                  <a:srgbClr val="F0AB00"/>
                </a:solidFill>
                <a:latin typeface="Arial"/>
              </a:rPr>
              <a:t>МОСТ К ЛЕКЦИИ 13:</a:t>
            </a:r>
          </a:p>
          <a:p>
            <a:pPr algn="l">
              <a:lnSpc>
                <a:spcPct val="115000"/>
              </a:lnSpc>
            </a:pPr>
            <a:r>
              <a:rPr sz="400" b="0" i="0">
                <a:solidFill>
                  <a:srgbClr val="21295C"/>
                </a:solidFill>
                <a:latin typeface="Arial"/>
              </a:rPr>
              <a:t/>
            </a:r>
          </a:p>
          <a:p>
            <a:pPr algn="ctr">
              <a:lnSpc>
                <a:spcPct val="115000"/>
              </a:lnSpc>
            </a:pPr>
            <a:r>
              <a:rPr sz="1600" b="1" i="0">
                <a:solidFill>
                  <a:srgbClr val="21295C"/>
                </a:solidFill>
                <a:latin typeface="Arial"/>
              </a:rPr>
              <a:t>AI в логистике, цепях</a:t>
            </a:r>
          </a:p>
          <a:p>
            <a:pPr algn="ctr">
              <a:lnSpc>
                <a:spcPct val="115000"/>
              </a:lnSpc>
            </a:pPr>
            <a:r>
              <a:rPr sz="1600" b="1" i="0">
                <a:solidFill>
                  <a:srgbClr val="21295C"/>
                </a:solidFill>
                <a:latin typeface="Arial"/>
              </a:rPr>
              <a:t>поставок и транспорте</a:t>
            </a:r>
          </a:p>
          <a:p>
            <a:pPr algn="l">
              <a:lnSpc>
                <a:spcPct val="115000"/>
              </a:lnSpc>
            </a:pPr>
            <a:r>
              <a:rPr sz="400" b="0" i="0">
                <a:solidFill>
                  <a:srgbClr val="21295C"/>
                </a:solidFill>
                <a:latin typeface="Arial"/>
              </a:rPr>
              <a:t/>
            </a:r>
          </a:p>
          <a:p>
            <a:pPr algn="ctr">
              <a:lnSpc>
                <a:spcPct val="115000"/>
              </a:lnSpc>
            </a:pPr>
            <a:r>
              <a:rPr sz="1100" b="0" i="1">
                <a:solidFill>
                  <a:srgbClr val="065A82"/>
                </a:solidFill>
                <a:latin typeface="Arial"/>
              </a:rPr>
              <a:t>Toyota Digit между станциями — первая ступень цепочки поставок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