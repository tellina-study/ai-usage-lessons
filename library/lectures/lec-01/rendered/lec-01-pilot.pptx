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53949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21295C"/>
                </a:solidFill>
                <a:latin typeface="Arial"/>
              </a:rPr>
              <a:t>Идентификация людей в реальном времени — уже с 2023 года на простом ноутбуке.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971800"/>
            <a:ext cx="5394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065A82"/>
                </a:solidFill>
                <a:latin typeface="Arial"/>
              </a:rPr>
              <a:t>Narrow AI — модель решает одну задачу (обнаружение людей в кадре) и больше ничего.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0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0">
                <a:solidFill>
                  <a:srgbClr val="21295C"/>
                </a:solidFill>
                <a:latin typeface="Arial"/>
              </a:rPr>
              <a:t>На экране — </a:t>
            </a:r>
            <a:r>
              <a:rPr sz="1500" b="1">
                <a:solidFill>
                  <a:srgbClr val="065A82"/>
                </a:solidFill>
                <a:latin typeface="Arial"/>
              </a:rPr>
              <a:t>YOLOv8</a:t>
            </a:r>
            <a:r>
              <a:rPr sz="1500" b="0">
                <a:solidFill>
                  <a:srgbClr val="21295C"/>
                </a:solidFill>
                <a:latin typeface="Arial"/>
              </a:rPr>
              <a:t> на CPU ноутбука: </a:t>
            </a:r>
            <a:r>
              <a:rPr sz="1500" b="1">
                <a:solidFill>
                  <a:srgbClr val="F0AB00"/>
                </a:solidFill>
                <a:latin typeface="Arial"/>
              </a:rPr>
              <a:t>31 fps</a:t>
            </a:r>
            <a:r>
              <a:rPr sz="1500" b="0">
                <a:solidFill>
                  <a:srgbClr val="21295C"/>
                </a:solidFill>
                <a:latin typeface="Arial"/>
              </a:rPr>
              <a:t>.</a:t>
            </a:r>
          </a:p>
          <a:p>
            <a:pPr>
              <a:lnSpc>
                <a:spcPct val="135000"/>
              </a:lnSpc>
            </a:pPr>
            <a:r>
              <a:rPr sz="1500" b="1">
                <a:solidFill>
                  <a:srgbClr val="028090"/>
                </a:solidFill>
                <a:latin typeface="Arial"/>
              </a:rPr>
              <a:t>Без интернета</a:t>
            </a:r>
            <a:r>
              <a:rPr sz="1500" b="0">
                <a:solidFill>
                  <a:srgbClr val="21295C"/>
                </a:solidFill>
                <a:latin typeface="Arial"/>
              </a:rPr>
              <a:t>  ·  обучена в 2023.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502920"/>
            <a:ext cx="5760720" cy="4023360"/>
          </a:xfrm>
          <a:prstGeom prst="roundRect">
            <a:avLst>
              <a:gd name="adj" fmla="val 757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01-yolo-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986980"/>
            <a:ext cx="5431536" cy="30552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89320" y="457200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Кадр модели в момент демо: 2 человека в боксах. YOLOv8 (Ultralytics, 2023).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246888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0" b="1" i="0">
                <a:solidFill>
                  <a:srgbClr val="D9E2EC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28090"/>
                </a:solidFill>
                <a:latin typeface="Arial"/>
              </a:rPr>
              <a:t>ЛЕКЦИЯ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640080" cy="457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7772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i="0">
                <a:solidFill>
                  <a:srgbClr val="21295C"/>
                </a:solidFill>
                <a:latin typeface="Arial"/>
              </a:rPr>
              <a:t>Введение —
AI вокруг нас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983480"/>
            <a:ext cx="45720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98348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065A82"/>
                </a:solidFill>
                <a:latin typeface="Arial"/>
              </a:rPr>
              <a:t>Карта применений AI: где работает, где — нет.</a:t>
            </a:r>
          </a:p>
        </p:txBody>
      </p:sp>
      <p:pic>
        <p:nvPicPr>
          <p:cNvPr id="8" name="Picture 7" descr="hero-cover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82296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1295C"/>
                </a:solidFill>
                <a:latin typeface="Arial"/>
              </a:rPr>
              <a:t>Сначала — ваша оценка, потом — данные.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828800"/>
            <a:ext cx="5440680" cy="4023360"/>
          </a:xfrm>
          <a:prstGeom prst="roundRect">
            <a:avLst>
              <a:gd name="adj" fmla="val 757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ucide-hand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74519" y="2194560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Вопрос 1  ·  выберите ОДИН вариант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46120"/>
            <a:ext cx="4709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Какой процент россиян использовали AI в 2025?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4617720"/>
            <a:ext cx="1143000" cy="50292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&lt;20%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20824" y="4617720"/>
            <a:ext cx="1143000" cy="50292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20–40%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82696" y="4617720"/>
            <a:ext cx="1143000" cy="50292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40–60%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4568" y="4617720"/>
            <a:ext cx="1143000" cy="50292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&gt;60%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25780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(поднимите руку на одном варианте)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5440680" cy="4023360"/>
          </a:xfrm>
          <a:prstGeom prst="roundRect">
            <a:avLst>
              <a:gd name="adj" fmla="val 757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ucide-message-square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148840"/>
            <a:ext cx="868680" cy="868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80960" y="2194560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Вопрос 2  ·  можно НЕСКОЛЬКО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46120"/>
            <a:ext cx="4709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Кто использовал AI сегодня — и для чего?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4617720"/>
            <a:ext cx="128016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none"/>
          <a:lstStyle/>
          <a:p>
            <a:pPr algn="ctr"/>
            <a:r>
              <a:rPr sz="1400" b="1">
                <a:solidFill>
                  <a:srgbClr val="028090"/>
                </a:solidFill>
                <a:latin typeface="Arial"/>
              </a:rPr>
              <a:t>код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0104" y="4617720"/>
            <a:ext cx="128016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none"/>
          <a:lstStyle/>
          <a:p>
            <a:pPr algn="ctr"/>
            <a:r>
              <a:rPr sz="1400" b="1">
                <a:solidFill>
                  <a:srgbClr val="028090"/>
                </a:solidFill>
                <a:latin typeface="Arial"/>
              </a:rPr>
              <a:t>текст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89136" y="4617720"/>
            <a:ext cx="128016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none"/>
          <a:lstStyle/>
          <a:p>
            <a:pPr algn="ctr"/>
            <a:r>
              <a:rPr sz="1400" b="1">
                <a:solidFill>
                  <a:srgbClr val="028090"/>
                </a:solidFill>
                <a:latin typeface="Arial"/>
              </a:rPr>
              <a:t>перевод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88168" y="4617720"/>
            <a:ext cx="128016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none"/>
          <a:lstStyle/>
          <a:p>
            <a:pPr algn="ctr"/>
            <a:r>
              <a:rPr sz="1400" b="1">
                <a:solidFill>
                  <a:srgbClr val="028090"/>
                </a:solidFill>
                <a:latin typeface="Arial"/>
              </a:rPr>
              <a:t>другое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25780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(поднимите руку столько раз, для скольки задач использовали)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Разница между вашей оценкой и реальностью — карта ваших слепых зон про AI.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08760"/>
            <a:ext cx="5212080" cy="4114800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39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65A82"/>
                </a:solidFill>
                <a:latin typeface="Arial"/>
              </a:rPr>
              <a:t>Проникновение AI в РФ, 2025</a:t>
            </a:r>
          </a:p>
        </p:txBody>
      </p:sp>
      <p:pic>
        <p:nvPicPr>
          <p:cNvPr id="5" name="Picture 4" descr="c1-vciom-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380" y="2286000"/>
            <a:ext cx="2423160" cy="2423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97380" y="3017520"/>
            <a:ext cx="24231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 i="0">
                <a:solidFill>
                  <a:srgbClr val="065A82"/>
                </a:solidFill>
                <a:latin typeface="Arial"/>
              </a:rPr>
              <a:t>51%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548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россиян использовали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1206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ВЦИОМ, 2025  ·  «использовали AI» = генеративные модели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608015" cy="4114800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91639"/>
            <a:ext cx="50593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65A82"/>
                </a:solidFill>
                <a:latin typeface="Arial"/>
              </a:rPr>
              <a:t>Использование LLM в РФ, 2025</a:t>
            </a:r>
          </a:p>
        </p:txBody>
      </p:sp>
      <p:pic>
        <p:nvPicPr>
          <p:cNvPr id="11" name="Picture 10" descr="c2-llm-shares-v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923" y="2240280"/>
            <a:ext cx="4563687" cy="2788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55080" y="5120640"/>
            <a:ext cx="50593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*Сумма &gt;100% — респонденты могли указать несколько вариантов.*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ВЦИОМ 2025  ·  Bloomberg 2025 (DeepSeek share).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1295C"/>
                </a:solidFill>
                <a:latin typeface="Arial"/>
              </a:rPr>
              <a:t>Кто я и почему мне это важно.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54480"/>
            <a:ext cx="3840480" cy="4251960"/>
          </a:xfrm>
          <a:prstGeom prst="roundRect">
            <a:avLst>
              <a:gd name="adj" fmla="val 793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nogram-t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057400"/>
            <a:ext cx="2377440" cy="2377440"/>
          </a:xfrm>
          <a:prstGeom prst="rect">
            <a:avLst/>
          </a:prstGeom>
        </p:spPr>
      </p:pic>
      <p:sp>
        <p:nvSpPr>
          <p:cNvPr id="5" name="5-Point Star 4"/>
          <p:cNvSpPr/>
          <p:nvPr/>
        </p:nvSpPr>
        <p:spPr>
          <a:xfrm>
            <a:off x="2240280" y="1645920"/>
            <a:ext cx="365760" cy="365760"/>
          </a:xfrm>
          <a:prstGeom prst="star5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70915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[Имя Фамилия]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21207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1C7293"/>
                </a:solidFill>
                <a:latin typeface="Arial"/>
              </a:rPr>
              <a:t>преподаватель курса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1554480"/>
            <a:ext cx="6888175" cy="1280160"/>
          </a:xfrm>
          <a:prstGeom prst="roundRect">
            <a:avLst>
              <a:gd name="adj" fmla="val 2380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ucide-briefcase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874519"/>
            <a:ext cx="640080" cy="640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52160" y="1719072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28090"/>
                </a:solidFill>
                <a:latin typeface="Arial"/>
              </a:rPr>
              <a:t>Опыт с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194560"/>
            <a:ext cx="56994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[N лет]</a:t>
            </a:r>
            <a:r>
              <a:rPr sz="1400" b="0" i="0">
                <a:solidFill>
                  <a:srgbClr val="21295C"/>
                </a:solidFill>
                <a:latin typeface="Arial"/>
              </a:rPr>
              <a:t>  </a:t>
            </a:r>
            <a:r>
              <a:rPr sz="1400" b="0" i="1">
                <a:solidFill>
                  <a:srgbClr val="1C7293"/>
                </a:solidFill>
                <a:latin typeface="Arial"/>
              </a:rPr>
              <a:t>[работа с моделями / проектами]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2999232"/>
            <a:ext cx="6888175" cy="1280160"/>
          </a:xfrm>
          <a:prstGeom prst="roundRect">
            <a:avLst>
              <a:gd name="adj" fmla="val 2380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ucide-lightbulb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319272"/>
            <a:ext cx="640080" cy="640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52160" y="3163824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65A82"/>
                </a:solidFill>
                <a:latin typeface="Arial"/>
              </a:rPr>
              <a:t>Почему этот курс важен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639311"/>
            <a:ext cx="56994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1C7293"/>
                </a:solidFill>
                <a:latin typeface="Arial"/>
              </a:rPr>
              <a:t>[личная мотивация — заполнит преподаватель]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4443983"/>
            <a:ext cx="6888175" cy="1280160"/>
          </a:xfrm>
          <a:prstGeom prst="roundRect">
            <a:avLst>
              <a:gd name="adj" fmla="val 2380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ucide-users-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764023"/>
            <a:ext cx="640080" cy="640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52160" y="4608575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65A82"/>
                </a:solidFill>
                <a:latin typeface="Arial"/>
              </a:rPr>
              <a:t>Что-то о себе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5084064"/>
            <a:ext cx="56994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1C7293"/>
                </a:solidFill>
                <a:latin typeface="Arial"/>
              </a:rPr>
              <a:t>[хобби / факт — снижает дистанцию]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Главный вопрос курса — не «можно ли AI?», а «НУЖНО ли и ГДЕ?».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1">
                <a:solidFill>
                  <a:srgbClr val="21295C"/>
                </a:solidFill>
                <a:latin typeface="Arial"/>
              </a:rPr>
              <a:t>Стейкс: </a:t>
            </a:r>
            <a:r>
              <a:rPr sz="1500" b="0" i="1">
                <a:solidFill>
                  <a:srgbClr val="1C7293"/>
                </a:solidFill>
                <a:latin typeface="Arial"/>
              </a:rPr>
              <a:t>через 3 года ~80% инженерных проектов будут с AI-компонентой </a:t>
            </a:r>
            <a:r>
              <a:rPr sz="1500" b="0" i="1">
                <a:solidFill>
                  <a:srgbClr val="1C7293"/>
                </a:solidFill>
                <a:latin typeface="Arial"/>
              </a:rPr>
              <a:t>(Gartner 2025)</a:t>
            </a:r>
            <a:r>
              <a:rPr sz="1500" b="0" i="1">
                <a:solidFill>
                  <a:srgbClr val="1C7293"/>
                </a:solidFill>
                <a:latin typeface="Arial"/>
              </a:rPr>
              <a:t>.  В РФ сегодня — </a:t>
            </a:r>
            <a:r>
              <a:rPr sz="1500" b="1" i="1">
                <a:solidFill>
                  <a:srgbClr val="1C7293"/>
                </a:solidFill>
                <a:latin typeface="Arial"/>
              </a:rPr>
              <a:t>только 5–10% доходят до прода </a:t>
            </a:r>
            <a:r>
              <a:rPr sz="1500" b="0" i="1">
                <a:solidFill>
                  <a:srgbClr val="1C7293"/>
                </a:solidFill>
                <a:latin typeface="Arial"/>
              </a:rPr>
              <a:t>(АНО ЦЭ 2025).</a:t>
            </a:r>
          </a:p>
        </p:txBody>
      </p:sp>
      <p:pic>
        <p:nvPicPr>
          <p:cNvPr id="4" name="Picture 3" descr="d2-funnel-90-10-v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5394960" cy="431596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63640" y="1874519"/>
            <a:ext cx="5425135" cy="4297680"/>
          </a:xfrm>
          <a:prstGeom prst="roundRect">
            <a:avLst>
              <a:gd name="adj" fmla="val 7092"/>
            </a:avLst>
          </a:prstGeom>
          <a:solidFill>
            <a:srgbClr val="F4F7FA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194560"/>
            <a:ext cx="478505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Завтра — </a:t>
            </a:r>
            <a:r>
              <a:rPr sz="2400" b="1" i="0">
                <a:solidFill>
                  <a:srgbClr val="065A82"/>
                </a:solidFill>
                <a:latin typeface="Arial"/>
              </a:rPr>
              <a:t>почти везде</a:t>
            </a:r>
            <a:r>
              <a:rPr sz="2400" b="1" i="0">
                <a:solidFill>
                  <a:srgbClr val="21295C"/>
                </a:solidFill>
                <a:latin typeface="Arial"/>
              </a:rPr>
              <a:t>.
Сегодня — </a:t>
            </a:r>
            <a:r>
              <a:rPr sz="2400" b="1" i="0">
                <a:solidFill>
                  <a:srgbClr val="065A82"/>
                </a:solidFill>
                <a:latin typeface="Arial"/>
              </a:rPr>
              <a:t>почти никто</a:t>
            </a:r>
            <a:r>
              <a:rPr sz="2400" b="1" i="0">
                <a:solidFill>
                  <a:srgbClr val="21295C"/>
                </a:solidFill>
                <a:latin typeface="Arial"/>
              </a:rPr>
              <a:t>.
Курс — про </a:t>
            </a:r>
            <a:r>
              <a:rPr sz="2400" b="1" i="0">
                <a:solidFill>
                  <a:srgbClr val="F0AB00"/>
                </a:solidFill>
                <a:latin typeface="Arial"/>
              </a:rPr>
              <a:t>этот разрыв.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4572000"/>
            <a:ext cx="4785055" cy="3657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4754879"/>
            <a:ext cx="478505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Где AI </a:t>
            </a:r>
            <a:r>
              <a:rPr sz="2400" b="1" i="0">
                <a:solidFill>
                  <a:srgbClr val="065A82"/>
                </a:solidFill>
                <a:latin typeface="Arial"/>
              </a:rPr>
              <a:t>работает</a:t>
            </a:r>
            <a:r>
              <a:rPr sz="2400" b="1" i="0">
                <a:solidFill>
                  <a:srgbClr val="21295C"/>
                </a:solidFill>
                <a:latin typeface="Arial"/>
              </a:rPr>
              <a:t>, где —
</a:t>
            </a:r>
            <a:r>
              <a:rPr sz="2400" b="1" i="0">
                <a:solidFill>
                  <a:srgbClr val="F0AB00"/>
                </a:solidFill>
                <a:latin typeface="Arial"/>
              </a:rPr>
              <a:t>нет</a:t>
            </a:r>
            <a:r>
              <a:rPr sz="2400" b="1" i="0">
                <a:solidFill>
                  <a:srgbClr val="21295C"/>
                </a:solidFill>
                <a:latin typeface="Arial"/>
              </a:rPr>
              <a:t>, и как это понять?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