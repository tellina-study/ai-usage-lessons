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now you are seeing a simple experiment: a laptop with a webcam projects the image of the room onto the screen, and a small program draws a box around every person present in real time and counts the people in the frame. Under the hood is the YOLOv8 [1] model from Ultralytics, published in 2023. It was trained on the standard COCO dataset and recognizes 80 object classes; for us right now only the "person" class matters.</a:t>
            </a:r>
          </a:p>
          <a:p>
            <a:r>
              <a:t>This demonstration has three significant properties that form one of the main claims of the lecture. First, the model runs locally — on the CPU of an ordinary laptop, without a graphics card and without any calls to cloud servers. Second, the speed is about 30 frames per second, which is enough for real time on a video stream. Third, no internet: the camera, the model, and the projector are three components in a single room, and no images are transmitted anywhere.</a:t>
            </a:r>
          </a:p>
          <a:p>
            <a:r>
              <a:t>This is an example of what the literature calls narrow AI — a system trained on one clearly defined task and capable of nothing else. This same model cannot hold a conversation with you, it will not write code, and it will not propose a marketing strategy. But on its single task it works fast and predictably. Today we will see that most systems in engineering practice are like this, and that choosing the type of AI to fit the task is a separate skill, one we will be practicing throughout the course.</a:t>
            </a:r>
          </a:p>
          <a:p>
            <a:r>
              <a:t>Sources:</a:t>
            </a:r>
          </a:p>
          <a:p>
            <a:r>
              <a:t>[1] Ultralytics — YOLOv8 (2023) — narrow detection model; local inference ~30 fps on CPU, offline. https://docs.ultralytics.com/models/yolov8/</a:t>
            </a:r>
          </a:p>
          <a:p>
            <a:r>
              <a:t>[2] Google — MediaPipe — on-device real-time ML pipelines - a class of local narrow solutions. https://ai.google.dev/edge/mediapipe/solutions/guide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This is the course "Industry Applications of Artificial Intelligence Systems" — about how AI is used in real industries: from software development and finance to aerospace, agriculture, and medicine. The course is not about how to train models from scratch, but about how to competently select, deploy, and evaluate ready-made AI solutions in an engineering context. Today is the first lecture, the introduction. We'll start with a short demonstration, and then move on to why this whole course is needed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"can we use AI" in 2026 is no longer interesting — we can. Nine hundred million people use ChatGPT every week, and half of all developers use it every day. This is no longer "should we get started", it is already the infrastructure that other products run on.</a:t>
            </a:r>
          </a:p>
          <a:p>
            <a:r>
              <a:t>But the question "should we, and where" is open. According to aggregated data from business publications, about ninety percent of corporate AI pilot [2]s in Russia never reach full production deployment: thirty to forty percent are shut down with no effect, and only seven to ten percent make it to production. This is not a problem unique to Russia — McKinsey and Gartner [1] regularly publish similar figures for other markets. Corporate AI projects everywhere run into the gap between demo readiness and production reliability.</a:t>
            </a:r>
          </a:p>
          <a:p>
            <a:r>
              <a:t>This combination — mass adoption and mass failure — forms the central engineering task of the course. The main question is this: where does AI work, where does it not, and how do you tell in advance. This is a diagnostic question, not a triumphant one. The course does not promise a recipe for success; it gives you a way to distinguish applications where AI is appropriate from applications where it creates the illusion of a solution. Budget, time, system reliability, and sometimes people's safety depend on that distinction.</a:t>
            </a:r>
          </a:p>
          <a:p>
            <a:r>
              <a:t>We will return to this central question in every lecture of the course.</a:t>
            </a:r>
          </a:p>
          <a:p>
            <a:r>
              <a:t>Sources:</a:t>
            </a:r>
          </a:p>
          <a:p>
            <a:r>
              <a:t>[1] Gartner - press release (Oct 2024) — 80% of engineering staff must upskill on GenAI by 2027. https://www.gartner.com/en/newsroom/press-releases/2024-10-03-gartner-says-generative-ai-will-require-80-percent-of-engineering-workforce-to-upskill-through-2027 [VFY-day-of]</a:t>
            </a:r>
          </a:p>
          <a:p>
            <a:r>
              <a:t>[2] Vedomosti / Intellectual Analytics (Mar 2026) — 9 of 10 corporate GenAI pilots in Russia shut down/deferred (n=50 large orgs). https://www.vedomosti.ru/technology/articles/2026/03/24/1184974-biznes-svernul-ili-otlozhil-9-iz-10-proektov-po-vnedreniyu-generativnogo-ii [VFY-day-of]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introductory lecture of the course "AI across industries." We will build an overall map: what AI is as a class of technologies, what state it is in as of 2026, what ways of implementing AI systems exist in engineering practice, and where these systems have their boundaries.</a:t>
            </a:r>
          </a:p>
          <a:p>
            <a:r>
              <a:t>By 2026 AI has ceased to be a separate product and has become an infrastructure layer that invisibly runs in dozens of services you use every day. Voice input on your smartphone, traffic-aware navigation, face unlock, the spam filter in your email, recommendations in a music service, autocomplete in the browser — all of this is AI, which most users have stopped perceiving as AI.</a:t>
            </a:r>
          </a:p>
          <a:p>
            <a:r>
              <a:t>The goal of the lecture is not to introduce you to every possible AI tool (that is technically impossible, the market changes faster than textbooks come out), but to give you a working vocabulary: how a model differs from a chat, how a chat differs from an agent, and how to figure out in thirty seconds which type of AI fits a specific task. By the end of the lecture you will have a simple tool — two diagnostic questions plus a quadrant — which we will keep applying in all the other lectures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further — a quick navigation note. The lecture consists of five sections, which sequentially answer five different questions.</a:t>
            </a:r>
          </a:p>
          <a:p>
            <a:r>
              <a:t>Section 0, which is where we are now, is the opening: a short demonstration, the instructor's introduction, and the central question of the course.</a:t>
            </a:r>
          </a:p>
          <a:p>
            <a:r>
              <a:t>Section 1 is what AI is and why there are so many definitions. Here we will also walk through the seventy-year history of the discipline, including the prehistory before the term itself appeared, and pin down the key turning point of 2017.</a:t>
            </a:r>
          </a:p>
          <a:p>
            <a:r>
              <a:t>Section 2 is where we are now, in 2022–2026. The figures for AI adoption in the world and in Russia, and an overview of breakthroughs from non-first-mover players.</a:t>
            </a:r>
          </a:p>
          <a:p>
            <a:r>
              <a:t>Section 3 is the largest section of the lecture. Four ways to implement AI systems: model, chat, agent, application. We'll go through each one with a diagram and an example, and at the end of the section we'll get a practical tool for choosing the type of AI.</a:t>
            </a:r>
          </a:p>
          <a:p>
            <a:r>
              <a:t>Section 4 is boundaries and safety. Where the data goes, what hallucinations are, three manifestations of a model fitting to the data, and the conceptual boundaries of AI as a class of technologies.</a:t>
            </a:r>
          </a:p>
          <a:p>
            <a:r>
              <a:t>Section 5 is the conclusion, the semester map, and the preview of Lecture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 a few words about myself. I am an architect and a technical and product lead in the development and deployment of information systems, with more than twenty years in IT. Over that time, more than ten completed projects have been delivered under my leadership — from systems analysis and architecture design to data management, business-process automation, and product launches.</a:t>
            </a:r>
          </a:p>
          <a:p>
            <a:r>
              <a:t>I have worked both as a consultant and as a full-time employee — with Yandex (the leading Russian internet/search-and-services company), MTS (a major Russian telecom operator), Magnit (a large Russian grocery-retail chain), and Sibur (the largest Russian petrochemicals producer). These are different industries — technology, telecom, retail, petrochemicals — and in each of them AI was applied in its own way, with varying degrees of success. That is exactly why I am interested not in a general conversation about "artificial intelligence", but in a concrete engineering boundary: where AI genuinely saves time and money, and where it is a pretty demo that falls apart in production.</a:t>
            </a:r>
          </a:p>
          <a:p>
            <a:r>
              <a:t>This course is an attempt to give you the map I myself did not have when I was just starting to figure out these tools in real projects. We will work through concrete engineering decisions, not general declarations, and the boundaries — where AI breaks — will get just as much attention as the success stories.</a:t>
            </a:r>
          </a:p>
          <a:p>
            <a:r>
              <a:t>If questions come up during the course that don't fit the lecture format — write to me on Telegram (@Maxim_Levko) or by email (Levko.maxim@gmail.com). The earlier you ask a question, the more useful the answer will be — don't save them up until the end of the semester.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introduced ourselves and named the course's central question. Now comes the first substantive section: what AI is.</a:t>
            </a:r>
          </a:p>
          <a:p>
            <a:r>
              <a:t>The section's structure is short but dense. First — why there are so many definitions of AI and where the moving-target effect comes from. Then a fact bridge: the idea of the formal neuron is older than the term «artificial intelligence» itself. And at the end of the section — a compressed seventy-year timeline of the discipline with a clear turning point in 2017.</a:t>
            </a:r>
          </a:p>
          <a:p>
            <a:r>
              <a:t>By the end of the section you'll have a common language for talking about AI: where the different definitions came from, why they don't contradict one another, and at what moment in history AI became what it is 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student who starts reading the AI literature quickly discovers that the subject has no single canonical definition. This is not a shortcoming of textbook authors or a gap in standardization — it reflects the nature of the subject. Before moving on to practical types of systems, it's important to pin down which definitions coexist in the literature and why they don't contradict one another but rather complement each other.</a:t>
            </a:r>
          </a:p>
          <a:p>
            <a:r>
              <a:t>The first approach — Russell and Norvig, in the canonical AIMA textbook, propose laying out the definitions of AI along a matrix: thinking versus acting, humanlike versus rationally. The authors themselves lean toward the fourth cell — «acting rationally» — because it doesn't require answering the philosophical question of what thinking is.</a:t>
            </a:r>
          </a:p>
          <a:p>
            <a:r>
              <a:t>The second approach — the international standard ISO/IEC 22989 [2], on which the European regulation relies. A definition through capabilities and through the source of goals: an AI system generates outputs for goals set by humans.</a:t>
            </a:r>
          </a:p>
          <a:p>
            <a:r>
              <a:t>The third approach — functional, through learning. A program improves its behavior on a task with a metric by means of experience. This is an engineering criterion: if a system's behavior can be fully described by «if — then» rules, it's not AI; if the behavior emerges from a learned model — it's AI, even if the model is simple.</a:t>
            </a:r>
          </a:p>
          <a:p>
            <a:r>
              <a:t>The fourth approach — through comparison with humans and through benchmarks. It spawned a line of tests from chess to ARC-AGI. The classic objection is Searle [4]'s Chinese Room: benchmark equivalence does not mean understanding.</a:t>
            </a:r>
          </a:p>
          <a:p>
            <a:r>
              <a:t>And the main point — the AI Effect, described by Pamela McCorduck: as soon as a technique starts working, people stop calling it AI. Speech recognition, traffic navigation, face unlock — each of these, at the moment it appeared, was AI, and now it's called simply an app feature. That's why the definition of AI keeps shifting: as soon as a task is solved and built into a product, it cools down to the level of ordinary technology.</a:t>
            </a:r>
          </a:p>
          <a:p>
            <a:r>
              <a:t>In this course we'll explicitly name which of the four definitions is at work in each situation. The main thing is not to pick one as the «correct» one.</a:t>
            </a:r>
          </a:p>
          <a:p>
            <a:r>
              <a:t>Sources:</a:t>
            </a:r>
          </a:p>
          <a:p>
            <a:r>
              <a:t>[1] Russell &amp; Norvig — AIMA, 4th ed. (2021) — 4 definitions on 2 axes (think/act x humanly/rationally). https://aima.cs.berkeley.edu/</a:t>
            </a:r>
          </a:p>
          <a:p>
            <a:r>
              <a:t>[2] ISO/IEC 22989:2022 — AI system = an engineered system for human-defined goals; basis of the EU AI Act. https://www.iso.org/standard/74296.html</a:t>
            </a:r>
          </a:p>
          <a:p>
            <a:r>
              <a:t>[3] Mitchell — Machine Learning (1997) — functional definition: behavior emerging from a trained model = AI. https://www.cs.cmu.edu/~tom/mlbook.html</a:t>
            </a:r>
          </a:p>
          <a:p>
            <a:r>
              <a:t>[4] Searle — Chinese Room (1980) / Turing (1950) — AI Effect + Searle's objection: benchmark behavior != understanding. https://doi.org/10.1017/S0140525X00005756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before the term «artificial intelligence» itself appeared, the neurophysiologist Warren McCulloch and the logician Walter Pitts [1] published a paper formalizing the neuron as a logic element: a network of such simple binary elements is theoretically capable of computing any function expressible in terms of logic. The paper came out in 1943 — thirteen years earlier than the 1956 Dartmouth conference, where the term «AI» would first appear.</a:t>
            </a:r>
          </a:p>
          <a:p>
            <a:r>
              <a:t>The McCulloch–Pitts formal neuron was not an engineering system in the modern sense and did not solve applied problems, but it anticipated the connectionist tradition — the line of thought from which, decades later, artificial neural networks and, ultimately, architectures like the Transformer would grow.</a:t>
            </a:r>
          </a:p>
          <a:p>
            <a:r>
              <a:t>It's useful to keep this date in mind as a reminder: the idea of a «neural network» at the theoretical level is older than the term «artificial intelligence» itself. Next we'll look at the history starting from 1956 — from the moment the term officially appeared.</a:t>
            </a:r>
          </a:p>
          <a:p>
            <a:r>
              <a:t>Sources:</a:t>
            </a:r>
          </a:p>
          <a:p>
            <a:r>
              <a:t>[1] McCulloch &amp; Pitts (1943) — the formal neuron as a logic element - 13 years before the term «AI». https://doi.org/10.1007/BF02478259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history of AI as an engineering discipline is about seventy years. To keep twenty factoids from blurring together, let's split the chronology into three thematic groups.</a:t>
            </a:r>
          </a:p>
          <a:p>
            <a:r>
              <a:t>The first group — discoveries and the first practice, from the fifties to the eighties. In nineteen fifty, Turing publishes his paper on the imitation game. In fifty-six — the Dartmouth conference, where McCarthy, Minsky, Rochester, and Shannon introduce the very term «artificial intelligence». In sixty-six — Weizenbaum creates ELIZA, a simple psychotherapist program, and discovers that users ascribe understanding to it. In the eighties — the commercial boom of expert systems: the rule-based systems XCON, MYCIN, and the Japanese «Fifth Generation» project.</a:t>
            </a:r>
          </a:p>
          <a:p>
            <a:r>
              <a:t>The second group — winters and breakthroughs, from the seventies to the early tens. The first winter, after the Lighthill report to the British government and cuts in DARPA funding. The second — the collapse of the market for specialized AI machines from Symbolics in the late eighties. And the breakthroughs between the winters: in ninety-seven, IBM's Deep Blue defeats Kasparov, evaluating two hundred million positions per second. In twelve — AlexNet wins ImageNet, proving that deep convolutional networks trained on GPUs beat hand-crafted features.</a:t>
            </a:r>
          </a:p>
          <a:p>
            <a:r>
              <a:t>The third group — the turning point and the explosion. In seventeen, Vaswani and seven co-authors publish «Attention Is All You Need», introducing the Transformer architecture. As of May 2026, the paper has more than one hundred sixty thousand citations on Google Scholar. In twenty-two — OpenAI launches ChatGPT; a million users in five days. In twenty-four through twenty-six — the explosive growth of reasoning models and agentic systems.</a:t>
            </a:r>
          </a:p>
          <a:p>
            <a:r>
              <a:t>The two winters matter as a methodological lesson. When promises fail to materialize en masse, the field loses resources. Today's wave is the fourth in AI's history. So far it avoids a winter because some of the promises really are being fulfilled. But history teaches us: not all of them will be, and an engineer must be able to tell what already works now from what is promised for the thirties.</a:t>
            </a:r>
          </a:p>
          <a:p>
            <a:r>
              <a:t>Sources:</a:t>
            </a:r>
          </a:p>
          <a:p>
            <a:r>
              <a:t>[1] Vaswani et al. — Attention Is All You Need (2017) — transformer + self-attention; &gt;160K citations (May 2026) - the turning point. https://arxiv.org/abs/1706.03762 [VFY-day-of]</a:t>
            </a:r>
          </a:p>
          <a:p>
            <a:r>
              <a:t>[2] McCorduck — Machines Who Think (2004) — AI Effect through historical cases of tasks cooling down to «just a function». https://www.google.com/books/edition/Machines_Who_Think/dPGij4vsHKgC</a:t>
            </a:r>
          </a:p>
          <a:p>
            <a:r>
              <a:t>[3] Dhar — Paradigm Shifts in AI, CACM (2024) — AI paradigm shifts as a frame for reading the timeline. https://doi.org/10.1145/3664804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worked out what AI is and where it came from. Next — a short section about the present: where AI stands right now, in 2026.</a:t>
            </a:r>
          </a:p>
          <a:p>
            <a:r>
              <a:t>First — the scale in numbers: how many people and companies already use AI daily, and why this coexists with the mass failure of pilot projects. Then — a survey of the 2023–2026 breakthroughs from teams that were not the obvious market favorites: this opens up space for what you yourselves will analyze later in the course.</a:t>
            </a:r>
          </a:p>
          <a:p>
            <a:r>
              <a:t>The section is short — six minutes — but it's precisely the one that sets the scale: AI is everywhere and almost nowhere fully finished at the same time. That tension is the central theme of the whole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twenty-six, AI stopped being a separate product and became an infrastructure layer on which other products run. A few telling figures.</a:t>
            </a:r>
          </a:p>
          <a:p>
            <a:r>
              <a:t>As of February 2026, ChatGPT has about nine hundred million weekly active users [2]. That's weekly active users, not monthly: the monthly-activity figures are considerably higher. GitHub Copilot has more than twenty million users; among those who use it regularly, up to forty-six percent of the code is written by AI, and for the Java language — sixty-one percent.</a:t>
            </a:r>
          </a:p>
          <a:p>
            <a:r>
              <a:t>The Stack Overflow Developer Survey 2025 [1], a sample of forty-nine thousand-plus respondents from one hundred seventy-seven countries, shows: eighty-four percent of developers use or plan to use AI tools in their work. Fifty-one percent of professional developers work with AI daily. And at the same time forty-six percent do not trust the accuracy of AI answers to questions about code — up from thirty-one percent a year earlier.</a:t>
            </a:r>
          </a:p>
          <a:p>
            <a:r>
              <a:t>An important caveat about trust. These two figures — fifty-one percent daily users and forty-six percent distrustful — at first glance seem contradictory. In fact they are consistent: the overall trend is rising adoption, while the pointwise assessment of code accuracy has become more critical, because developers have accumulated experience working with AI and have learned to see where it makes mistakes. This isn't «trust is falling», it's «trust is becoming more nuanced». A discipline of verification is the desirable behavior.</a:t>
            </a:r>
          </a:p>
          <a:p>
            <a:r>
              <a:t>The market size — three hundred ninety point nine billion dollars in 2025, with a forecast of growth to five hundred thirty-nine and a half billion in 2026 (Grand View Research, 2026 [4]). By other methodologies — for example, Statista's narrow software-only definition — the estimates for 2025 are lower, around $244–260 billion. The spread reflects what to count as the AI market: sales of models, infrastructure, embedded AI, integration services.</a:t>
            </a:r>
          </a:p>
          <a:p>
            <a:r>
              <a:t>And in parallel — the counter-fact. According to aggregated data from business publications, about ninety percent of AI pilots in Russia never reach full-fledged production deployment. The source of the estimate is a study by the consulting firm Intellectual Analytics [5] (December 2025 – February 2026, published by Vedomosti in March), a sample of the fifty largest organizations in IT, industry, finance, the public sector, and transport/logistics. This is not a representative sample across the whole economy; it's a slice of the large players, where AI pilots are best documented. Even so, the combination of mass adoption and mass failure forms the central engineering problem of the course.</a:t>
            </a:r>
          </a:p>
          <a:p>
            <a:r>
              <a:t>Sources:</a:t>
            </a:r>
          </a:p>
          <a:p>
            <a:r>
              <a:t>[1] Stack Overflow — Developer Survey 2025 — n=49k+/177 countries; 51% of pros daily, 84% use/plan to, 46% distrust the code. https://survey.stackoverflow.co/2025</a:t>
            </a:r>
          </a:p>
          <a:p>
            <a:r>
              <a:t>[2] OpenAI — ChatGPT WAU (Feb 2026) — ~900M weekly active users - AI as infrastructure. https://techcrunch.com/2026/02/27/chatgpt-reaches-900m-weekly-active-users/ [VFY-day-of]</a:t>
            </a:r>
          </a:p>
          <a:p>
            <a:r>
              <a:t>[3] GitHub — Octoverse 2025 — Copilot adoption; NOTE: the «46% of code» figure is NOT confirmed by this report [VFY]. https://github.blog/news-insights/octoverse/octoverse-a-new-developer-joins-github-every-second-as-ai-leads-typescript-to-1/ [VFY-day-of]</a:t>
            </a:r>
          </a:p>
          <a:p>
            <a:r>
              <a:t>[4] Grand View Research (2026) — AI market $390.9B (2025) -&gt; $539.5B (2026), CAGR 30.6%. https://www.grandviewresearch.com/industry-analysis/artificial-intelligence-ai-market [VFY-day-of]</a:t>
            </a:r>
          </a:p>
          <a:p>
            <a:r>
              <a:t>[5] Vedomosti / Intellectual Analytics (Mar 2026) — counter-fact: ~9 of 10 Russian pilots never reach production (n=50). https://www.vedomosti.ru/technology/articles/2026/03/24/1184974-biznes-svernul-ili-otlozhil-9-iz-10-proektov-po-vnedreniyu-generativnogo-ii [VFY-day-of]</a:t>
            </a:r>
          </a:p>
          <a:p>
            <a:r>
              <a:t>[6] Gartner - press release (Oct 2024) — 80% of engineers upskill on GenAI by 2027. https://www.gartner.com/en/newsroom/press-releases/2024-10-03-gartner-says-generative-ai-will-require-80-percent-of-engineering-workforce-to-upskill-through-2027 [VFY-day-of]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numbers from the previous slide, it's easy to conclude that everything has already been done: OpenAI, Google, and Anthropic lead — the largest players with multibillion-dollar budgets. That impression is deceptive. Over the last three years the AI field has seen several high-profile events, each of which shows that the space of possibilities is open, and serious breakthroughs come not only from the first players.</a:t>
            </a:r>
          </a:p>
          <a:p>
            <a:r>
              <a:t>Lesson: a small European team can ship a model at the level of the big players within a few months of the company's founding. Episode one — Mistral 7B, September 2023. The French lab Mistral AI, founded earlier that same year by alumni of Meta and Google DeepMind, released a model under the Apache 2.0 license — with no restrictions on commercial use. On benchmarks Mistral 7B outperformed Llama-2 13B, a model nearly twice its size.</a:t>
            </a:r>
          </a:p>
          <a:p>
            <a:r>
              <a:t>Lesson: even a debatable cost-accounting methodology can trigger a real, measurable shock on the global market — check the claimed numbers, but don't ignore their effect. Episode two — DeepSeek R1, January 2025. A Chinese lab released a reasoning model at the level of OpenAI o1: ninety-seven point three percent on the MATH-500 [2] benchmark versus ninety-six point four for o1. The published cost of a single final training run of V3 was about five point six million dollars, orders of magnitude less than Western estimates. The full infrastructure cost, according to SemiAnalysis [3], is one point three to one point six billion. These are different numbers: the cost of a single training run and the full infrastructure. On January 27 the market reacted — Nvidia's market capitalization fell by five hundred eighty-nine billion dollars in a single day, the largest single-day loss of market capitalization in history.</a:t>
            </a:r>
          </a:p>
          <a:p>
            <a:r>
              <a:t>Lesson: one person with the right concept can ship an agent or product that changes the market within weeks. Episode three — OpenClaw [5], November 2025. Peter Steinberger, known for Mac development, single-handedly launched an open-source autonomous AI agent. The project changed names several times — Clawdbot, Moltbot — and settled on OpenClaw. By early 2026 the project had gathered more than a hundred thousand stars on GitHub (sixty thousand of them in the first seventy-two hours).</a:t>
            </a:r>
          </a:p>
          <a:p>
            <a:r>
              <a:t>Lesson: one person with the right concept can build an infrastructure layer that thousands rely on — not a product for the end user, but a foundation on which the entire open ecosystem runs. Episode four — llama.cpp [6] and ggml.ai, the story of Georgi Gerganov. The project began as a solo initiative by Gerganov — the author of whisper.cpp — and grew into a small independent team, ggml.ai. On February 20, 2026, the team, instead of raising venture funding, joined Hugging Face for infrastructure support while retaining full autonomy and technical leadership: the project stayed "one hundred percent open-source, community-driven, as it is now." In March 2026 llama.cpp crossed a hundred thousand stars on GitHub — faster than PyTorch or TensorFlow. By mid-year — about a hundred seventeen thousand stars, about twenty thousand forks, contributions from more than seven hundred developers.</a:t>
            </a:r>
          </a:p>
          <a:p>
            <a:r>
              <a:t>Don't despair. The course prepares you to work with durable engineering concepts that outlive the turnover of model generations.</a:t>
            </a:r>
          </a:p>
          <a:p>
            <a:r>
              <a:t>Sources:</a:t>
            </a:r>
          </a:p>
          <a:p>
            <a:r>
              <a:t>[1] Mistral AI — Announcing Mistral 7B (Sep 2023) — Apache 2.0, beats Llama-2 13B - a small team at leader level. https://mistral.ai/news/announcing-mistral-7b</a:t>
            </a:r>
          </a:p>
          <a:p>
            <a:r>
              <a:t>[2] DeepSeek-R1 — tech report (Jan 2025) — o1-level reasoning; 97.3% MATH-500; disputed cost. https://arxiv.org/abs/2501.12948</a:t>
            </a:r>
          </a:p>
          <a:p>
            <a:r>
              <a:t>[3] SemiAnalysis — DeepSeek cost analysis (2025) — full infra $1.3-1.6B vs marginal V3 train run $5.6M - different numbers. https://semianalysis.com/2025/01/31/deepseek-debates/ [VFY-day-of]</a:t>
            </a:r>
          </a:p>
          <a:p>
            <a:r>
              <a:t>[4] Bloomberg — Nvidia $589B drop (27 Jan 2025) — largest single-day market-cap loss in history. https://www.bloomberg.com/news/articles/2025-01-27/asml-sinks-as-china-ai-startup-triggers-panic-in-tech-stocks [VFY-day-of]</a:t>
            </a:r>
          </a:p>
          <a:p>
            <a:r>
              <a:t>[5] Steinberger — OpenClaw (GitHub) — solo open-source agent, 100K★ in a quarter; rename-churn. https://github.com/openclaw/openclaw [VFY-day-of]</a:t>
            </a:r>
          </a:p>
          <a:p>
            <a:r>
              <a:t>[6] Gerganov — llama.cpp / ggml.ai — solo-&gt;HF (Feb 2026), 100K+★ faster than PyTorch/TensorFlow. https://github.com/ggml-org/llama.cpp [VFY-day-of]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figured out what AI is and where we stand now. Next comes the largest section of the lecture, twenty-three minutes. Four ways to build AI systems: model, chat, agent, application.</a:t>
            </a:r>
          </a:p>
          <a:p>
            <a:r>
              <a:t>The structure of the section: first a general layered model and a "task × modality" classifier. Then a comparison of the three ways through the control quadrant. Then — a detailed walkthrough of each type with a schema and an example. And at the end — a practical tool: two diagnostic questions plus the quadrant, which you'll apply in the seminar.</a:t>
            </a:r>
          </a:p>
          <a:p>
            <a:r>
              <a:t>The main idea to keep in mind throughout the section: these four types are not alternatives, but layers. Each next one includes the previous and adds new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walk through each of the four types of builds, it's important to lock in the key idea: these are not four alternative technologies, but four ways to build the same task with a layer [1]ed structure. Each next level includes the previous one and adds new components.</a:t>
            </a:r>
          </a:p>
          <a:p>
            <a:r>
              <a:t>The model is the most basic layer. Stateless inference on a single task. Data goes in, a prediction comes out. No interface, no memory, no tools.</a:t>
            </a:r>
          </a:p>
          <a:p>
            <a:r>
              <a:t>Chat is the next layer. The same model, but wrapped in a text interface with dialogue memory within a session. The user writes a message, and the history of both messages is included in the context of the next request.</a:t>
            </a:r>
          </a:p>
          <a:p>
            <a:r>
              <a:t>The agent is another layer. To chat we add the ability to call external tools — retrieval, the file system, an API, code execution — and the logic for planning a sequence of actions.</a:t>
            </a:r>
          </a:p>
          <a:p>
            <a:r>
              <a:t>The application is the outer layer. From the outside it's an ordinary product with its own forms, buttons, and integrations. The AI works inside as one of the components. The user doesn't write prompts, doesn't talk to the model directly.</a:t>
            </a:r>
          </a:p>
          <a:p>
            <a:r>
              <a:t>This nesting matters because many practical misunderstandings arise from trying to choose between the levels as though they were alternatives. In reality each successive wrapping is an engineering decision that adds capabilities and, at the same time, complexity, cost, and the potential for errors. The higher the level of the wrapping, the more room there is for bugs between the AI component and its surroundings.</a:t>
            </a:r>
          </a:p>
          <a:p>
            <a:r>
              <a:t>Throughout the course we'll return to this layered model many times. When we look at a YOLO detector on a conveyor line, we stay at the model level. When we use ChatGPT for analytics — at the chat level. When we build an agent that reads two hundred PDFs — at the agent level. When we talk about Notion AI or YandexGPT in Search — about applications in which AI is just one of the components.</a:t>
            </a:r>
          </a:p>
          <a:p>
            <a:r>
              <a:t>Sources:</a:t>
            </a:r>
          </a:p>
          <a:p>
            <a:r>
              <a:t>[1] Anthropic — Building Effective Agents (2024) — layered escalation: simplest solution first -&gt; scale up as needed. https://www.anthropic.com/research/building-effective-agents</a:t>
            </a:r>
          </a:p>
          <a:p>
            <a:r>
              <a:t>[2] Weng — LLM Powered Autonomous Agents (2023) — Agent = LLM + Memory + Planning + Tool Use - the top of the layered model. https://lilianweng.github.io/posts/2023-06-23-agent/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talk about specific AI tools in a common language, we need a simple classification [1]. In this course we use two axes: task type and modality. These two axes are enough to place any AI tool we'll work with in later lectures. A deeper technical classification — by training approach and neural-network architecture — is not the main goal of this lecture for our course; we return to those topics in more depth in Lecture 2.</a:t>
            </a:r>
          </a:p>
          <a:p>
            <a:r>
              <a:t>The "task type" axis — what the system produces as output. Classification — assign a label from a finite set: spam or not spam, defect or not defect. Recognition — detect and identify something in the input: faces, speech, characters. Retrieval — find and rank relevant items: over a corporate knowledge base, by a photo. Generation — create new content: text, image, audio, code. Forecasting — predict a number or a sequence: demand, equipment failure, a stock price.</a:t>
            </a:r>
          </a:p>
          <a:p>
            <a:r>
              <a:t>The "modality" axis — what type of data the system works with. Text. Image — photos, X-ray scans, frames from a conveyor camera. Audio — speech, music, industrial noise. Video — a sequence of images, often plus audio. Structured data — tables, time series, graphs, databases. In the "Retrieval × Structured data" cell we have vector DB — a database for retrieval by semantic similarity, which we'll cover in more detail in the slide on the agent. Multimodal combinations — text plus image, text plus audio plus video.</a:t>
            </a:r>
          </a:p>
          <a:p>
            <a:r>
              <a:t>Let's take three examples to lock this in. Google Translate — task generation, modality text. AlphaFold — task forecasting, modality structured data. YOLO, which you saw at the start of the lecture — task recognition, modality image.</a:t>
            </a:r>
          </a:p>
          <a:p>
            <a:r>
              <a:t>This simple table prevents lumping together systems that are different in nature under the common marketing label "AI". When we go on to analyze types of builds later in the section, we'll ask: which task and which modality.</a:t>
            </a:r>
          </a:p>
          <a:p>
            <a:r>
              <a:t>Sources:</a:t>
            </a:r>
          </a:p>
          <a:p>
            <a:r>
              <a:t>[1] Russell &amp; Norvig — AIMA (2021) — classification of AI systems as the course's working language. https://aima.cs.berkeley.edu/</a:t>
            </a:r>
          </a:p>
          <a:p>
            <a:r>
              <a:t>[2] Goodfellow, Bengio, Courville — Deep Learning (2016) — modalities and task types in DL terms. https://www.deeplearningbook.org/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very same task can be solved in three different ways of building it, and each of them distributes control [1] between developer and user differently. The more the user delegates the solving of the task to the AI, the more a rigid frame from the developer is needed — that's why the Agent ends up in the top-right corner of the quadrant.</a:t>
            </a:r>
          </a:p>
          <a:p>
            <a:r>
              <a:t>Let's take a task: extract fields from an incoming PDF contract and put them in a table. Signing date, counterparty, amount, term. Five or six fields.</a:t>
            </a:r>
          </a:p>
          <a:p>
            <a:r>
              <a:t>Way one — the model. You take a pretrained or fine-tuned model for extracting structured fields from documents, for example DocVQA or a specialized nougat-style model. The user integrates the API themselves: passes the PDF themselves, gets the JSON themselves, puts it into their own table themselves. Delegation from the user is low — they control each step themselves. Developer control is also low — the model is a raw inference endpoint without orchestration, without guard rails, without tools. This is the bottom-left corner of the quadrant: low delegation on the horizontal, low developer control on the vertical.</a:t>
            </a:r>
          </a:p>
          <a:p>
            <a:r>
              <a:t>Way two — chat. You open ChatGPT or YandexGPT, attach the PDF, write "extract the following fields and return them as a table". The user delegates the task in words and can clarify, but works within the product — a medium degree of delegation. The developer has set the system prompt, the basic constraints, the context window — medium control on their side. This is the center of the quadrant.</a:t>
            </a:r>
          </a:p>
          <a:p>
            <a:r>
              <a:t>Way three — the agent. The user says "do this task" and approves the key nodes — a high degree of delegation, the user doesn't manage the intermediate steps. The developer has assembled an agent: the orchestrator plans the steps, the tools — open the PDF, run OCR, extract the fields, write to the table, the agent has memory between steps and the ability to make several calls. High developer control — they designed the whole decision loop, the list of tools, the guard rails, and the system prompt. This is the top-right corner of the quadrant: high delegation on the horizontal, high developer control on the vertical.</a:t>
            </a:r>
          </a:p>
          <a:p>
            <a:r>
              <a:t>The two empty corners explain why the placement is not random. The top-left (high developer control, but the user doesn't delegate) — no point: why build an orchestrator if the user decides everything step by step themselves. The bottom-right (full delegation without guard rails) — a danger zone: the user handed the task to the AI, but the developer didn't provide any frame. That's why the diagonal from bottom-left up to the top-right is the natural trajectory: more delegation requires more scaffolding.</a:t>
            </a:r>
          </a:p>
          <a:p>
            <a:r>
              <a:t>This distribution of control is not a merit of one way over another. It's an engineering decision: where control should sit for a specific scenario. If user flexibility matters — the model. If the task is routine but requires clarifications — chat. If the flow is large and automation is needed — the agent. In the seminar we'll practice this choice.</a:t>
            </a:r>
          </a:p>
          <a:p>
            <a:r>
              <a:t>Sources:</a:t>
            </a:r>
          </a:p>
          <a:p>
            <a:r>
              <a:t>[1] Anthropic — Building Effective Agents (2024) — control distribution developer&lt;-&gt;user as delegation grows.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in our terminology, is a trained neural network or another ML algorithm that takes an input of a certain type and returns an output. It has neither state between calls, nor access to external tools, nor a dialogue with the user. From the standpoint of engineering integration it's the simplest component: a call to the model is a function, and it behaves like a function.</a:t>
            </a:r>
          </a:p>
          <a:p>
            <a:r>
              <a:t>A very important detail that's often missed: the model is not a standalone system, but a component. In production there's always a wrapper of preprocessing and postprocessing around the model. Schematically: a raw input — for example, a frame from a camera, text, or audio — passes through preprocessing (resize, normalization, tokenization), then through the model's inference, then through postprocessing (filtering, formatting, packaging the bounding box, softmax), and only then do we get an output for the application.</a:t>
            </a:r>
          </a:p>
          <a:p>
            <a:r>
              <a:t>Preprocessing and postprocessing are the responsibility of the system's developer, not of the model itself. This isn't a caveat — it's critically important for estimating the budget and complexity of an AI project. A YOLO detector by itself takes a nominal fifty lines of code, but a working system with YOLO inside contains hundreds of lines: reading the video stream, resizing frames, normalization, NMS filtering after inference, packaging the result into the format the factory's MES system expects. Estimating the "roll YOLO onto the line" project by the volume of the model's work gives an estimate that's off by tens of times.</a:t>
            </a:r>
          </a:p>
          <a:p>
            <a:r>
              <a:t>Canonical examples of models. YOLO — object detection in images, the same one that was at the start of the lecture. Whisper by OpenAI — speech recognition. Stable Diffusion — image generation from text. BERT — vector representations of text. AlphaFold [2] — prediction of the three-dimensional structure of a protein from its amino-acid sequence; for it Hassabis and Jumper received the 2024 Nobel Prize in Chemistry. Segment Anything by Meta — universal image segmentation.</a:t>
            </a:r>
          </a:p>
          <a:p>
            <a:r>
              <a:t>When the model is the right choice. High load, for example processing a video stream at thirty frames per second — impossible for a chat interface. A single clearly defined task with a stable shape of input and output. A requirement of determinism or predictability. Edge deployment without the internet. Embedding AI as a functional unit inside a larger product.</a:t>
            </a:r>
          </a:p>
          <a:p>
            <a:r>
              <a:t>Sources:</a:t>
            </a:r>
          </a:p>
          <a:p>
            <a:r>
              <a:t>[1] Kreuzberger et al. — MLOps (2023) — pre/post-processing around the model - the developer's responsibility. https://arxiv.org/abs/2205.02302</a:t>
            </a:r>
          </a:p>
          <a:p>
            <a:r>
              <a:t>[2] Jumper et al. — AlphaFold, Nature (2021) — canonical predictive-model example; 2024 Nobel Prize in Chemistry. https://doi.org/10.1038/s41586-021-03819-2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is convenient to discuss on an everyday level: you ask a question, you get an answer. But behind that simple experience sits a very concrete technical cycle. Understanding this cycle removes the magic and gives you two practical skills: how to control the chat via the system prompt [1], and how to explain why chat «forgets» old messages.</a:t>
            </a:r>
          </a:p>
          <a:p>
            <a:r>
              <a:t>The six steps of the cycle. First — the user types text into the chat window: a question, an instruction, a fragment of data.</a:t>
            </a:r>
          </a:p>
          <a:p>
            <a:r>
              <a:t>Second — the system takes the entered text and attaches it to the system prompt. The system prompt is a set of instructions defined in advance by the developer: «You are the corporate assistant of company X. Answer in Russian. Do not give legal advice. If you don't know — say "I don't know".» In addition, the entire current chat history from the start of the session is mixed in.</a:t>
            </a:r>
          </a:p>
          <a:p>
            <a:r>
              <a:t>Third — the full assembled package, that is the system prompt plus the history plus the new message, is sent to the LLM as one large piece of text. The model does not «remember» the previous conversation — it receives it anew each time as part of the input.</a:t>
            </a:r>
          </a:p>
          <a:p>
            <a:r>
              <a:t>Fourth — the model generates the response token by token, based on the probability distribution over the next token given the context.</a:t>
            </a:r>
          </a:p>
          <a:p>
            <a:r>
              <a:t>Fifth — the model's response is appended to the chat history on the system side. From this point on it is part of the context for every subsequent request in this same session.</a:t>
            </a:r>
          </a:p>
          <a:p>
            <a:r>
              <a:t>Sixth — the response is shown in the chat interface. The user reads it, replies, and the cycle repeats from step one. But now the history is already larger, and on the next request the LLM will receive the whole set: the system prompt plus the previous question-answer pairs plus the new message.</a:t>
            </a:r>
          </a:p>
          <a:p>
            <a:r>
              <a:t>Two practical consequences follow from this cycle. First — the system prompt is an engineering lever. Through it the developer sets the frame of the chat: tone, role, constraints, mandatory response formats. The very same ChatGPT behaves differently in the role of a corporate assistant versus a general-purpose helper precisely because of the system prompt.</a:t>
            </a:r>
          </a:p>
          <a:p>
            <a:r>
              <a:t>Second — every model has a context window: the maximum number of tokens per request. For modern models this is tens and hundreds of thousands of tokens. When the chat history stops fitting into the window, the old messages drop out. That is why chat «forgets» details from the beginning of a long conversation.</a:t>
            </a:r>
          </a:p>
          <a:p>
            <a:r>
              <a:t>Sources:</a:t>
            </a:r>
          </a:p>
          <a:p>
            <a:r>
              <a:t>[1] Anthropic — Building Effective Agents (2024) — system prompt as an engineering lever; context is reassembled from scratch each step.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is a model wrapped in a text interface with dialog memory within a session. The user writes a message, the model answers, and the history of both messages is included in the context of the next request. This creates the feeling of a conversation and lets you refine the task step by step, which radically changes the usage pattern.</a:t>
            </a:r>
          </a:p>
          <a:p>
            <a:r>
              <a:t>Today's chats are first and foremost LLM chats, though multimodal ones also exist: with the ability to pass images, audio, and files. You know the canonical products: ChatGPT, Claude, Gemini, DeepSeek Chat, GigaChat, YandexGPT, Mistral Le Chat. The differences between them are in quality for various tasks, in context-window length, in cost, in the availability of modalities — but the basic interaction pattern is the same.</a:t>
            </a:r>
          </a:p>
          <a:p>
            <a:r>
              <a:t>Let's take a concrete example. An engineer receives an incomprehensible normative document — say, a technical spec from an adjacent department, full of references to standards and complicated wording. The task is to make sense of it and build a checklist for their own work. This is a typical case for chat: a one-off task that requires dialog, with clarifications along the way. Here you don't need a separate specialized model, because there is no stream of similar tasks. You don't need an agent, because there is no requirement to automatically open files and APIs. And there is no specialized application. Chat is the optimal tool.</a:t>
            </a:r>
          </a:p>
          <a:p>
            <a:r>
              <a:t>An important caveat for production systems. Pure chats in the form they come «out of the box» — that is, just an LLM plus a UI plus a short session memory — are almost never found in a corporate environment. Almost everywhere real deployment is involved, the chat is extended into an agent [2]: at least to store long-term memory across sessions, or to search for an answer in a corporate knowledge base via RAG (retrieval-augmented generation). The agent architecture — exactly what gets added to the chat — we'll break down on the next slide.</a:t>
            </a:r>
          </a:p>
          <a:p>
            <a:r>
              <a:t>Choosing chat is an engineering decision about a point on the interaction scale: where the type of interaction with the AI is chosen correctly, the system works predictably.</a:t>
            </a:r>
          </a:p>
          <a:p>
            <a:r>
              <a:t>Sources:</a:t>
            </a:r>
          </a:p>
          <a:p>
            <a:r>
              <a:t>[1] VCIOM — «Neural networks in Russians' lives» (Oct 2025) — AI-chat adoption in Russia; 51% use it weekly+. https://wciom.ru/analytical-reviews/analiticheskii-obzor/neiroseti-v-nashei-zhizni [VFY-day-of]</a:t>
            </a:r>
          </a:p>
          <a:p>
            <a:r>
              <a:t>[2] Dam et al. — Survey on LLM-based AI Chatbots (2024) — taxonomy of LLM chats; pure chats are rare in production (extended into agents). https://arxiv.org/abs/2406.16937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the next layer after chat. Compared with chat, an agent adds three components that chat did not have.</a:t>
            </a:r>
          </a:p>
          <a:p>
            <a:r>
              <a:t>The first component is the orchestrator [2]. The control logic: plan, decision loop, critique. The orchestrator looks at the user's goal, breaks it into steps, chooses which tool to apply at each step, and decides when to stop.</a:t>
            </a:r>
          </a:p>
          <a:p>
            <a:r>
              <a:t>The second is external memory. Unlike chat, an agent has memory beyond a single session: a vector database (a database optimized for similarity search over embeddings; more on this later in the course), a file system with intermediate results, a log of its own previous actions.</a:t>
            </a:r>
          </a:p>
          <a:p>
            <a:r>
              <a:t>The third is tools. The ability to call external APIs, read and write files, execute code, do web search. Each tool is a function with a description: what it does, what parameters it takes, what it returns. The orchestrator chooses which tool to apply at each step.</a:t>
            </a:r>
          </a:p>
          <a:p>
            <a:r>
              <a:t>The agent's work cycle, the basic ReAct model — Reasoning plus Acting. The plan step: the orchestrator and the LLM formulate a plan of action. The act step: a tool is chosen and called with concrete parameters. The observe step: the tool's result is observed, written to memory, passed back to the LLM. The reflect step: the LLM thinks over the result — is the goal reached or not, is another step needed. If the goal is reached or there have been too many iterations — stop. Otherwise — the next step.</a:t>
            </a:r>
          </a:p>
          <a:p>
            <a:r>
              <a:t>The canonical formulation from Lilian Weng's work: Agent equals LLM plus Memory plus Planning plus Tool Use. Canonical agent products: Claude Code by Anthropic — an agent in the terminal for development. Devin by Cognition Labs — a cloud coding agent. OpenAI Operator — an agent for web tasks. AutoGPT — an open-source autonomous agent.</a:t>
            </a:r>
          </a:p>
          <a:p>
            <a:r>
              <a:t>Sources:</a:t>
            </a:r>
          </a:p>
          <a:p>
            <a:r>
              <a:t>[1] Weng — LLM Powered Autonomous Agents (2023) — Agent = LLM + Memory + Planning + Tool Use. https://lilianweng.github.io/posts/2023-06-23-agent/</a:t>
            </a:r>
          </a:p>
          <a:p>
            <a:r>
              <a:t>[2] Anthropic — Building Effective Agents (2024) — orchestrator + tools + external memory as a layer over chat. https://www.anthropic.com/research/building-effective-agents</a:t>
            </a:r>
          </a:p>
          <a:p>
            <a:r>
              <a:t>[3] Anthropic — Model Context Protocol (2024) — a standard for connecting tools/data to an agent. https://www.anthropic.com/news/model-context-protocol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case where an agent naturally shows up. You have two hundred PDF reports, and from each you need to extract certain fields — the date, the counterparty, the contract amount — and then assemble a summary table. This is a multi-step task with tools: open the file, read it, extract, add to the table. It's a poor fit for a model — there is no specialized model «take two hundred arbitrary PDFs and make a table». It's a poor fit for chat — it's uncomfortable to copy two hundred files into the window. An agent is the natural choice.</a:t>
            </a:r>
          </a:p>
          <a:p>
            <a:r>
              <a:t>Look at the right half of the slide. I've broken the agent's work into seven steps, and for each one the tool the agent uses is shown explicitly. This matters — the agent does not «think» its way through the whole path on its own; at each step it decides which tool is needed right now, which parameters to pass into it, and how to process the result.</a:t>
            </a:r>
          </a:p>
          <a:p>
            <a:r>
              <a:t>Step one — get the list of files. Tool: file system. Step two — open the next PDF. Tool: PDF reader. Step three — extract the text. Tool: text extraction, via OCR if the PDF is scanned, or via a parser if it's structured. Step four — make a summary and put an embedding into the vector DB. Step five — find the key fields by query: «find the signing date», «find the counterparty», «find the amount». This is a combination of search and extraction via the LLM. Step six — write a row into the summary table via the Sheets API or simply into a CSV. Step seven — repeat for all two hundred files; here the orchestrator works, holding the index of the current file and the overall state.</a:t>
            </a:r>
          </a:p>
          <a:p>
            <a:r>
              <a:t>The main point — an agent is a sequence of calls to concrete tools, orchestrated by an LLM. Not «the AI figured it out on its own», but «the AI called the right tools in the right order».</a:t>
            </a:r>
          </a:p>
          <a:p>
            <a:r>
              <a:t>Sources:</a:t>
            </a:r>
          </a:p>
          <a:p>
            <a:r>
              <a:t>[1] Yao et al. — ReAct (2022) — Reasoning+Acting: plan-&gt;act-&gt;observe-&gt;reflect with an explicit tool at each step. https://arxiv.org/abs/2210.03629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important concept that we'll come back to all course long: the levels of autonomy of an agent. Feng, McDonald, and Zhang [1], in their 2025 work, propose five levels, characterized by the user's role. Not by the model's complexity — precisely by the user's role.</a:t>
            </a:r>
          </a:p>
          <a:p>
            <a:r>
              <a:t>Level one — Operator. The user actively manages every step, the agent executes subject to approval. Example: Claude Code in «approve each command» mode — you see the command before it runs and press Enter every time.</a:t>
            </a:r>
          </a:p>
          <a:p>
            <a:r>
              <a:t>Level two — Collaborator. The user and the agent work together, flowing between roles. Example: pair programming with Cursor, where you and the AI write in the same file and edit each other's suggestions.</a:t>
            </a:r>
          </a:p>
          <a:p>
            <a:r>
              <a:t>Level three — Consultant. The user sets the goal, the agent proposes a plan and leads through the steps, the user corrects. Example: Devin receives a ticket «fix bug X», proposes a decomposition, you fix one step, and then Devin continues on its own.</a:t>
            </a:r>
          </a:p>
          <a:p>
            <a:r>
              <a:t>Level four — Approver. The agent acts autonomously, the user approves the key nodes. Example: the agent assembles a PR, opens it, waits for your review; merge only after approval.</a:t>
            </a:r>
          </a:p>
          <a:p>
            <a:r>
              <a:t>Level five — Observer. The agent works fully autonomously, the user only observes the outcome. Example: AutoGPT launched overnight with the task «assemble a competitive analysis» — you come back in the morning and read the report.</a:t>
            </a:r>
          </a:p>
          <a:p>
            <a:r>
              <a:t>In parallel with these five, there is an older framing, widely accepted in safety engineering: where the human sits relative to the loop. Human-in-the-loop — the human approves every step, this is levels one-two. Human-on-the-loop — the human observes in real time and interrupts on deviation, this is roughly levels three-four. Human-out-of-the-loop — the human only reads the outcome, this is level five. And separately — override modes: at any level you can preserve the ability to take over manually on alarming signals.</a:t>
            </a:r>
          </a:p>
          <a:p>
            <a:r>
              <a:t>The main point of the slide: the level of autonomy is a design decision, not a property of the model. The very same agent in Operator mode and in Observer mode is a different product, with different requirements for reliability, explainability, and interface. In the seminars we'll come back to this scale when choosing a level to fit a specific risk.</a:t>
            </a:r>
          </a:p>
          <a:p>
            <a:r>
              <a:t>Sources:</a:t>
            </a:r>
          </a:p>
          <a:p>
            <a:r>
              <a:t>[1] Feng, McDonald, Zhang — Levels of Autonomy (2025) — 5 levels by user role: operator-&gt;collaborator-&gt;consultant-&gt;approver-&gt;observer. https://arxiv.org/abs/2506.12469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is a full-fledged product for the end user, in which AI is just one of the internal components. The user does not write prompts; they press buttons, fill in forms, speak by voice. The AI works «under the hood», and the user is rarely required to understand what's inside.</a:t>
            </a:r>
          </a:p>
          <a:p>
            <a:r>
              <a:t>The basic characteristic — AI as a feature, not a product. The application solves a domain task, and the AI provides the corresponding functionality. A good application has a deterministic user interface — the same user action yields the same reaction, even if the AI output varies internally. The application adds guardrails, fallback scenarios, caching, and error review around the AI.</a:t>
            </a:r>
          </a:p>
          <a:p>
            <a:r>
              <a:t>Canonical examples of unambiguous applications. Google [1] Translate — inside is neural machine translation; the user sees an input box and a translation. As of 2026 — more than one billion unique users per month, about one trillion words translated per month. That trillion is counted across Google Translate, Search, Google Lens, and Circle to Search, not only in the Translate app itself.</a:t>
            </a:r>
          </a:p>
          <a:p>
            <a:r>
              <a:t>Notion AI — inside is GPT-4 or Claude; the user sees «Summarize», «Improve writing», «Continue writing» buttons right in the interface of their workspace. AI here is not a separate chat but a functional button next to every block of text.</a:t>
            </a:r>
          </a:p>
          <a:p>
            <a:r>
              <a:t>YandexGPT in Yandex Search — inside is Yandex's own LLM; the user sees a generated brief answer above the list of ordinary search results. This is the classic «AI as a feature»: to the user it's just improved search, not «chatting with an AI».</a:t>
            </a:r>
          </a:p>
          <a:p>
            <a:r>
              <a:t>Grammarly — NLP models plus an LLM; the user sees underlines and suggestions in any text field. Yandex Navigator and Maps — ML models for routing, ETA forecasting, traffic-jam detection. Adobe Firefly — diffusion models, a «Generate» button in Photoshop.</a:t>
            </a:r>
          </a:p>
          <a:p>
            <a:r>
              <a:t>A case where an application is the optimal choice: once a week you need to translate a small block of technical documentation from English to Russian. You don't need a standalone model — the volume doesn't justify deployment. You don't need a chat — using a chat for translation is cumbersome. You don't need an agent — the task is single-step. Google Translate or YandexGPT in Search are ready-made applications, optimized for exactly this type of use. Overpaying with complexity is an anti-pattern.</a:t>
            </a:r>
          </a:p>
          <a:p>
            <a:r>
              <a:t>An important clarification before the next slide. Applications come in two types. The first — with a user interface, like all six examples on this slide: the user sees a UI and interacts with it. The second type — automated applications with no interface at execution time: an ETL pipeline with an AI classifier, a backend service that pulls in data on its own and puts the result into a table. On the next slide, when we assemble the checklist into a quadrant, these two types will end up in different corners.</a:t>
            </a:r>
          </a:p>
          <a:p>
            <a:r>
              <a:t>Sources:</a:t>
            </a:r>
          </a:p>
          <a:p>
            <a:r>
              <a:t>[1] Google — Translate at 20 (2026) — 1B+ users/mo, ~1T words/mo across Translate/Search/Lens - AI as a feature. https://blog.google/products-and-platforms/products/translate/fun-facts-google-translate-20-years/ [VFY-day-of]</a:t>
            </a:r>
          </a:p>
          <a:p>
            <a:r>
              <a:t>[2] Anthropic — Building Effective Agents (2024) — the app as the outer layer: prompts hidden, deterministic UI. https://www.anthropic.com/research/building-effective-agents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climax of Section 3 — a practical tool. Two diagnostic questions [1] [2] [3] whose answers unambiguously determine one of four implementation types.</a:t>
            </a:r>
          </a:p>
          <a:p>
            <a:r>
              <a:t>Question one: do you need interaction with the user? If yes — the system has to talk with a person, take their clarifications, respond in real time — that's the chat and agent family. If no — the system runs autonomously on a trigger or a data stream — that's model and application in automation mode.</a:t>
            </a:r>
          </a:p>
          <a:p>
            <a:r>
              <a:t>Question two: does the solution need to work with tools on its own? If yes — the system has to call an API, read files, run code, search the internet — that's agent and application in automation mode. If no — a single "input → output" step is enough for the system — that's chat and model.</a:t>
            </a:r>
          </a:p>
          <a:p>
            <a:r>
              <a:t>We combine these into a quadrant. No interaction plus no tools — model. Yes interaction plus no tools — chat. Yes interaction plus yes tools — agent. No interaction plus yes tools — application in automation mode.</a:t>
            </a:r>
          </a:p>
          <a:p>
            <a:r>
              <a:t>Here's an important caveat about "application". Applications, as we saw on the previous slide, come in two types. The first — applications with a user interface: Notion AI, Translate, Grammarly. They have a UI, and they land in the top corners of the quadrant — either in "Model" (if the user presses a button and gets a result in one step, without a dialogue), or in "Chat" (if there's a dialogue inside). The second type — automated applications with no user interface at execution time: an ETL pipeline with an AI classifier, a backend service that pulls new data once an hour and writes it to a table. That's exactly the bottom-right corner of the quadrant — "application in automation mode". Not an agent — there's no dialogue with the user and no planning decision loop. Not a model — there are tools, multi-step logic, and orchestration.</a:t>
            </a:r>
          </a:p>
          <a:p>
            <a:r>
              <a:t>Let's run three cases. An assembly-line defect detector: interaction — no, tools — no, model. A corporate chat for going through a normative document: interaction — yes, tools — no, chat. Two hundred PDFs plus a table: interaction — yes, tools — yes, agent. The fourth corner — application in automation mode — via the example of an ETL pipeline with an AI classifier.</a:t>
            </a:r>
          </a:p>
          <a:p>
            <a:r>
              <a:t>Coming back to the central question of the lecture: AI works where the task and the implementation type matched. Most of the pilots that rolled back never asked these two questions before deployment; instead they chose the tool by fashion. Two questions plus the quadrant — a simple but disciplining practice that radically lowers the risk of such a mismatch.</a:t>
            </a:r>
          </a:p>
          <a:p>
            <a:r>
              <a:t>In the first-week seminar, students will apply this quadrant to their own cases. For now, a short exercise: think for thirty seconds about a tool you use regularly, and figure out its quadrant corner.</a:t>
            </a:r>
          </a:p>
          <a:p>
            <a:r>
              <a:t>Sources:</a:t>
            </a:r>
          </a:p>
          <a:p>
            <a:r>
              <a:t>[1] Anthropic — Building Effective Agents (2024) — choosing an implementation type on 2 axes: interaction x tools. https://www.anthropic.com/research/building-effective-agents</a:t>
            </a:r>
          </a:p>
          <a:p>
            <a:r>
              <a:t>[2] Google — AI Agents Whitepaper (2024) — Model + Tools + Orchestration Layer — the quadrant frame. https://www.kaggle.com/whitepaper-agents</a:t>
            </a:r>
          </a:p>
          <a:p>
            <a:r>
              <a:t>[3] Ng — Four Agentic Design Patterns (2024) — Reflection/Tool Use/Planning/Multi-Agent patterns - when you need an agent. https://www.deeplearning.ai/the-batch/how-agents-can-improve-llm-performance/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four is about where AI breaks, errs, and is dangerous. This isn't a chamber of horrors — it's an inventory of the classes of problems that systematically arise in AI systems and that an engineer must be able to anticipate. The topic is your zone of responsibility, not a separate question for AI safety specialists: you've already made the decision to build AI in, and you and your team — not "the model" — will answer for an incident: a data leak, a wrong decision about a customer, an erroneous automated verdict.</a:t>
            </a:r>
          </a:p>
          <a:p>
            <a:r>
              <a:t>On top of that, AI errs systematically and predictably: bias, hallucinations, sycophancy, distribution shift recur from system to system — these aren't random bugs but properties of the technology. And, finally, the boundar [1] [2] [3]y of "what AI can't do" is also your zone of responsibility: beyond it you need a human decision, verification, a fallback scenario, and without an understanding of this boundary a system can't be considered designed.</a:t>
            </a:r>
          </a:p>
          <a:p>
            <a:r>
              <a:t>The section runs through seven topics, arranged from practical engineering safety — what you can break or lose right now — to the conceptual boundaries of AI as a class of technologies — what AI fundamentally can't do.</a:t>
            </a:r>
          </a:p>
          <a:p>
            <a:r>
              <a:t>Sources:</a:t>
            </a:r>
          </a:p>
          <a:p>
            <a:r>
              <a:t>[1] NIST — AI RMF 1.0 (2023) — an AI risk-management framework - the engineer's line of responsibility. https://www.nist.gov/itl/ai-risk-management-framework</a:t>
            </a:r>
          </a:p>
          <a:p>
            <a:r>
              <a:t>[2] NIST — Generative AI Profile 600-1 (2024) — GenAI risk profile. https://nvlpubs.nist.gov/nistpubs/ai/NIST.AI.600-1.pdf</a:t>
            </a:r>
          </a:p>
          <a:p>
            <a:r>
              <a:t>[3] EU AI Act — Reg. (EU) 2024/1689 — regulatory framework; fines up to €35M/7%. https://eur-lex.europa.eu/eli/reg/2024/1689/oj/eng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opened section four with the general frame — the boundaries of AI as your zone of responsibility. The first concrete question in this zone is where your data physically goes when you type a query into a cloud AI service.</a:t>
            </a:r>
          </a:p>
          <a:p>
            <a:r>
              <a:t>Your text — and often the attached files, images, voice messages — is sent to the provider's servers. What happens to it next depends on the plan.</a:t>
            </a:r>
          </a:p>
          <a:p>
            <a:r>
              <a:t>Consumer plans — free and standard paid. OpenAI ChatGPT Free and Plus use user data to fine-tune models by default; a user can turn this off in settings, but the option requires a deliberate action. Anthropic Claude, since September 2025, asks the user whether they agree to share data for training; if they agree, the retention period increases to five years. Google Gemini on consumer plans uses data for training by default; part of the conversation is selectively reviewed by humans and stored for up to three years with anonymization.</a:t>
            </a:r>
          </a:p>
          <a:p>
            <a:r>
              <a:t>Enterprise [2] and API plans. OpenAI Enterprise, ChatGPT Business, OpenAI API since March 2023, Anthropic for business, Google Workspace, Google Cloud Vertex AI — data is not used to train foundation models. Zero Data Retention agreements are available — the provider doesn't store prompts and responses at all. SOC 2 compliance, encryption at rest and in transit are becoming the standard.</a:t>
            </a:r>
          </a:p>
          <a:p>
            <a:r>
              <a:t>The canonical incident. March–April 2023, Samsung [1]. Engineers of the semiconductor division, in three separate episodes, uploaded to consumer ChatGPT proprietary database code, a transcript of a corporate meeting, and test sequences for chip debugging. Since consumer ChatGPT at that time used data for training by default, Samsung's corporate secrets effectively ended up in OpenAI's dataset. Samsung in response banned employees from using external generative AI services and temporarily introduced a limit of 1024 bytes per prompt.</a:t>
            </a:r>
          </a:p>
          <a:p>
            <a:r>
              <a:t>Regulation. In the European Union, the EU AI Act [3] is in force, being phased in from 2024. The standard tier of fines is up to fifteen million euros or three percent of global annual turnover. The top tier for prohibited practices is up to thirty-five million or seven percent. The NIST AI RMF and NIST AI 600-1 are voluntary but influential US standards. Russian regulation of AI as of 2026 is still taking shape.</a:t>
            </a:r>
          </a:p>
          <a:p>
            <a:r>
              <a:t>The practical takeaway for the engineer: never upload confidential data into consumer AI services without an explicit check of the data-usage policy of the specific plan at the moment of use. This rule is simple but systematically broken.</a:t>
            </a:r>
          </a:p>
          <a:p>
            <a:r>
              <a:t>Sources:</a:t>
            </a:r>
          </a:p>
          <a:p>
            <a:r>
              <a:t>[1] Bloomberg — Samsung bans ChatGPT (May 2023) — 3 leaks in a month -&gt; external GenAI ban; data in the consumer dataset. https://www.bloomberg.com/news/articles/2023-05-02/samsung-bans-chatgpt-and-other-generative-ai-use-by-staff-after-leak</a:t>
            </a:r>
          </a:p>
          <a:p>
            <a:r>
              <a:t>[2] OpenAI — Enterprise Privacy / data usage (2025) — consumer = training by default; the API (since Mar 2023) does not train on data. https://openai.com/enterprise-privacy/</a:t>
            </a:r>
          </a:p>
          <a:p>
            <a:r>
              <a:t>[3] EU AI Act — Reg. (EU) 2024/1689 — fines: standard up to €15M/3%, top up to €35M/7%. https://eur-lex.europa.eu/eli/reg/2024/1689/oj/eng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hallucination in the context of an LLM is the confident production of factually incorrect information in a form indistinguishable from the correct one. The model doesn't "know" that it's saying something untrue; for it, this is simply a statistically plausible continuation of the token sequence.</a:t>
            </a:r>
          </a:p>
          <a:p>
            <a:r>
              <a:t>A simple experiment. Ask a chat to "name three research papers on the topic [narrow topic] with authors and DOI". With a substantial probability you'll get three convincingly looking references, in which the author names may be mixed up or invented, the journals are real but the papers aren't in them, the DOIs are syntactically correct but don't resolve. Verification takes a minute via doi.org, but without it the references look credible.</a:t>
            </a:r>
          </a:p>
          <a:p>
            <a:r>
              <a:t>The hallucination rate depends strongly on the task. By the Vectara Hughes Hallucination Evaluation Model [3] benchmark, the range of current models is very wide: from less than one percent on a standard summarization task, for example Gemini 2.0 Flash, to ten-to-fifteen percent on reasoning models that require multi-step reasoning. This means that speaking about "the LLM hallucination percentage" in general is incorrect: the number depends heavily on the task and the benchmark.</a:t>
            </a:r>
          </a:p>
          <a:p>
            <a:r>
              <a:t>Accompanying data on user behavior. By the CybSafe [4] 2024 report, a survey of seven thousand people across seven countries: about thirty-eight percent of employees share confidential work information in AI tools without their employer's knowledge. This isn't directly about hallucinations, but it points to the scale of the trust problem: users hand AI systems information in a volume that isn't justified by their actual reliability.</a:t>
            </a:r>
          </a:p>
          <a:p>
            <a:r>
              <a:t>The "AI knows everything" anti-pattern. Any AI response to a factual question is a hypothesis that requires verification. Especially references, numbers, quotes, legal norms, medical recommendations. This doesn't mean "don't use AI for facts"; it means "verify what AI outputs as fact". A critical reading attitude isn't an extra precaution but part of the standard workflow.</a:t>
            </a:r>
          </a:p>
          <a:p>
            <a:r>
              <a:t>Now a short exercise. I'll show two short AI responses to the same question. Each has one correct and one planted detail. Discuss for thirty seconds in pairs: which part is the fake, and what did you check first.</a:t>
            </a:r>
          </a:p>
          <a:p>
            <a:r>
              <a:t>Sources:</a:t>
            </a:r>
          </a:p>
          <a:p>
            <a:r>
              <a:t>[1] Huang et al. — Survey on Hallucination in LLMs (2023) — hallucination = confident generation of the false, indistinguishable from the true. https://arxiv.org/abs/2311.05232</a:t>
            </a:r>
          </a:p>
          <a:p>
            <a:r>
              <a:t>[2] Ji et al. — Survey of Hallucination in NLG (2023) — a taxonomy of hallucinations in generation. https://doi.org/10.1145/3571730</a:t>
            </a:r>
          </a:p>
          <a:p>
            <a:r>
              <a:t>[3] Vectara — HHEM Leaderboard — range &lt;1% (summarization) -&gt; 10-15% (reasoning) - the figure depends on the task. https://github.com/vectara/hallucination-leaderboard [VFY-day-of]</a:t>
            </a:r>
          </a:p>
          <a:p>
            <a:r>
              <a:t>[4] CybSafe / NCA — Oh Behave! (2024–25) — n=7000/7 countries: ~38% share confidential data without the employer's knowledge. https://www.staysafeonline.org/articles/oh-behave-the-annual-cybersecurity-attitudes-and-behaviors-report-2025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united by a shared nature: a model is a reflection of the data it was trained on, not an independent source of truth. They manifest differently, but have a common cause, and it's useful to hold this in mind as one coherent phenomenon.</a:t>
            </a:r>
          </a:p>
          <a:p>
            <a:r>
              <a:t>Bias. The model repeats the skews of the dataset. The canonical example: a résumé-screening model trained on the historical data of a company that historically hired fewer women for technical positions will discriminate against female candidates — not by "deciding" that they're worse, but by statistically predicting that "such profiles were usually rejected". Bias is the hardest category to correct, because the data often captures the structural inequalities of the real world.</a:t>
            </a:r>
          </a:p>
          <a:p>
            <a:r>
              <a:t>Sycophancy. First, a definition of the key term. RLHF — Reinforcement Learning from Human Feedback — is a training technique in which a human ranks the model's responses by quality, and these rankings serve as a reward signal for additional fine-tuning. RLHF is the standard step in turning a foundation language model into a chat assistant. The flip side: human labelers on average rate pleasant answers higher. The model learns to agree with the user, to echo their phrasings, to say what they want to hear.</a:t>
            </a:r>
          </a:p>
          <a:p>
            <a:r>
              <a:t>The canonical incident. On April 25, 2025, OpenAI shipped an update to GPT-4o that made the model obtrusively sycophantic: the model agreed with clearly incorrect statements, praised the user excessively, endorsed contentious claims. On April 28 the rollback of the update began — Altman on social media that same evening wrote that they'd already started the rollback. On April 29 the post-mortem of the causes was published. Sycophancy is the most inconspicuous category: a user, receiving compliments, easily fails to notice that the model has lost a critical attitude toward their words.</a:t>
            </a:r>
          </a:p>
          <a:p>
            <a:r>
              <a:t>Distribution shift. A model trained on data from one period behaves poorly outside that distribution. A conceptual example: a model trained on 2023 code will, in 2026, confidently suggest an outdated library, an out-of-date practice, and fail to account for API changes. Distribution shift is the most frequent category in long-lived systems, and its peculiarity is that the model's quality degrades "quietly" over time without visible failures.</a:t>
            </a:r>
          </a:p>
          <a:p>
            <a:r>
              <a:t>The coherent message. All three are manifestations of one nature: the model doesn't "know" the truth; it reproduces the regularities of the data it was trained on. Bias — regularities from historical data. Sycophancy — regularities from feedback labeling [2]. Distribution shift — the absence of the regularities of the new period.</a:t>
            </a:r>
          </a:p>
          <a:p>
            <a:r>
              <a:t>A short exercise: think for thirty seconds about which is more dangerous in your future professional field.</a:t>
            </a:r>
          </a:p>
          <a:p>
            <a:r>
              <a:t>Sources:</a:t>
            </a:r>
          </a:p>
          <a:p>
            <a:r>
              <a:t>[1] OpenAI — Sycophancy in GPT-4o postmortem (2025) — release Apr 25 -&gt; rollback Apr 28 -&gt; postmortem Apr 29; RLHF over-weighting of pleasing answers. https://openai.com/index/sycophancy-in-gpt-4o/</a:t>
            </a:r>
          </a:p>
          <a:p>
            <a:r>
              <a:t>[2] Pan et al. — Reward Misspecification (2022) — reward hacking - a shared nature: the model reflects its data/labeling. https://arxiv.org/abs/2201.03544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existing production AI systems are narrow AI [1]: they're optimized for specific tasks or narrow domains. AGI — Artificial General Intelligence — is a hypothetical AI with a human level of cognitive abilities across a broad range of areas. This is an open question that's actively debated in the public arena with mutually exclusive forecasts.</a:t>
            </a:r>
          </a:p>
          <a:p>
            <a:r>
              <a:t>When you see a specific AGI forecast, ask what material stake the speaker has in that forecast. The higher the confidence in imminent AGI, the more often you need to check who wants what from the market after such a statement. This doesn't mean the speakers are insincere — it means AGI forecasts are made in a public arena in which every leader is simultaneously building a company and shaping investors' expectations.</a:t>
            </a:r>
          </a:p>
          <a:p>
            <a:r>
              <a:t>A rundown of the four public figures. Sam Altman, CEO of OpenAI: "we know how to build AGI; the beginning of the transition to superintelligence", January 2026. The material stake — hundred-billion-dollar funding rounds, IPO context; high AGI confidence supports the company's valuation.</a:t>
            </a:r>
          </a:p>
          <a:p>
            <a:r>
              <a:t>Dario Amodei, CEO of Anthropic [2]: "AGI in 2-3 years; AI will replace software developers within a year; Nobel level in two years", Davos 2026. The material stake — competitive pressure from OpenAI; his own 2026 funding round.</a:t>
            </a:r>
          </a:p>
          <a:p>
            <a:r>
              <a:t>Demis Hassabis, CEO of Google DeepMind: "AGI by 2029–2030, three-to-four years; the window narrowed over 2026", Axios and Google I/O, May 2026 — the theme developed in the essay "A Framework for Frontier AI" from July 14, 2026. The material stake — a leader in the research community; more trust with a cautious stance; Google doesn't need AGI hype for its core business.</a:t>
            </a:r>
          </a:p>
          <a:p>
            <a:r>
              <a:t>Yann LeCun, founder of AMI Labs, ex-Chief AI Scientist of Meta: "the LLM paradigm won't lead to AGI; a new architecture is needed, world models, JEPA", consistently. The material stake — a round of about a billion dollars in March 2026 on an alternative path; a counter-consensus stance is advantageous for differentiating a startup.</a:t>
            </a:r>
          </a:p>
          <a:p>
            <a:r>
              <a:t>Notice the pattern — not one of the four speakers holds a neutrally scientific stance. Every forecast reflects either a commercial interest or market positioning. A useful exercise when reading any public interview of a top manager of an AI company: to ask yourself the question — what decision would they want the market to make on the basis of this statement.</a:t>
            </a:r>
          </a:p>
          <a:p>
            <a:r>
              <a:t>Sources:</a:t>
            </a:r>
          </a:p>
          <a:p>
            <a:r>
              <a:t>[1] Searle — Minds, Brains, and Programs (1980) — Chinese Room: benchmark-equivalence != understanding; narrow vs general. https://doi.org/10.1017/S0140525X00005756</a:t>
            </a:r>
          </a:p>
          <a:p>
            <a:r>
              <a:t>[2] Bostrom — Superintelligence (2014) — a frame for long-term AGI/ASI scenarios for reading forecasts critically. https://global.oup.com/academic/product/superintelligence-9780199678112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gone through four content sections. In the first, we settled on definitions of AI and why there are so many of them. In the second, we looked at where we are now — mass adoption and, at the same time, mass failure. In the third, we broke down four ways of implementing AI and got a practical tool — two diagnostic questions plus a quadrant. In the fourth — the limits of AI: where your data goes, where it hallucinates, how it becomes biased, how to read AGI forecasts.</a:t>
            </a:r>
          </a:p>
          <a:p>
            <a:r>
              <a:t>The final, fifth section is about what to do with all of this. Six and a half minutes. First, a short recap of the lecture — the three main takeaways worth carrying home. Then, a map of the whole semester, so that today's lecture is placed in the context of the next sixteen. And in the finale — a teaser for Lecture 2, with a callback to the YOLO demo from the very beginning. After that — Q&amp;A.</a:t>
            </a:r>
          </a:p>
          <a:p>
            <a:r>
              <a:t>The main purpose of this section is reinforcement. In two weeks you're unlikely to remember every number or every name. But three takeaways and one practical tool — those should stay with you.</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1 covered four content topics and arrived at a single practical tool. If there's one thing worth taking away from the lecture, it's the main question: where AI works, where it doesn't, and how to tell.</a:t>
            </a:r>
          </a:p>
          <a:p>
            <a:r>
              <a:t>Three main takeaways.</a:t>
            </a:r>
          </a:p>
          <a:p>
            <a:r>
              <a:t>First. AI is a spectrum of technologies, not a monolith. A specific AI tool has coordinates along two axes — task type and modality — and belongs to one of four implementation types: model, chat, agent, application. A competent discussion of AI in an engineering context starts with explicit classification.</a:t>
            </a:r>
          </a:p>
          <a:p>
            <a:r>
              <a:t>Second. Choosing the type of AI is an engineering skill, and you have a tool for it. Two diagnostic questions and a 2×2 quadrant — simple, but systematically violated. Most of the corporate pilots that were rolled back never asked these questions before deployment; fashion and convenience picked the type of tool instead of an engineering analysis of the task.</a:t>
            </a:r>
          </a:p>
          <a:p>
            <a:r>
              <a:t>Third. AI amplifies the human, but goal-setting, critical judgment, and responsibility remain ours. Every category of error we broke down — hallucinations, bias, sycophancy, distribution shift, data leaks — requires a human verification loop.</a:t>
            </a:r>
          </a:p>
          <a:p>
            <a:r>
              <a:t>That is exactly the main question of the lecture, spelled out in full: where AI works, where it doesn't, and how to tell.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consists of seventeen lectures, split into three content modules, plus a concluding exam module. Today we're at the first session of the first module.</a:t>
            </a:r>
          </a:p>
          <a:p>
            <a:r>
              <a:t>Module one — the theoretical-methodological foundation and the industries most closely tied to everyday engineering and product practice: the introduction, which is happening right now; the architecture of AI from machine learning to transformers; AI system architectures — agents, RAG, API; AI in software development; AI in the financial sector and retail; AI in the creative industries and media. Six lectures, one module checkpoint — at the end of the module.</a:t>
            </a:r>
          </a:p>
          <a:p>
            <a:r>
              <a:t>Module two — the industries where AI works at the intersection of the physical and digital worlds: engineering design and CAD/CAM, the aerospace industry and defense, discrete and process manufacturing, manufacturing automation and digital twins, agriculture. Five lectures, module checkpoint two — at the end of the module.</a:t>
            </a:r>
          </a:p>
          <a:p>
            <a:r>
              <a:t>Module three — infrastructure, scientific, and resource-extraction industries, plus the concluding synthesis: logistics and transport, telecommunications and cybersecurity, scientific research, the oil and gas industry, medicine and pharmaceuticals, and the closing systematization of knowledge and skills — cross-cutting patterns of AI across industries. Six lectures, module checkpoint three — the final one, at the end of the module.</a:t>
            </a:r>
          </a:p>
          <a:p>
            <a:r>
              <a:t>Module four — the exam.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grade adds up gradually, not just at the exam. One hundred points is ten for attendance, thirty for the final exam, and three times twenty for the three module checkpoints.</a:t>
            </a:r>
          </a:p>
          <a:p>
            <a:r>
              <a:t>The module checkpoints fall at the end of each of the first three modules of the course — that is, the grade is built up over the entire semester, not just at the end. This means that regular work in the seminars and lectures throughout the semester directly affects the final score.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next lecture we'll look at how large language models are built on the inside. Not to turn you into ML engineers — but so that you understand why a model behaves the way it does.</a:t>
            </a:r>
          </a:p>
          <a:p>
            <a:r>
              <a:t>Four key concepts we'll break down in Lecture 2.</a:t>
            </a:r>
          </a:p>
          <a:p>
            <a:r>
              <a:t>Tokens — the units into which the model cuts up text or another input. These aren't letters, and they aren't words in the usual sense; they're statistically learned subsequences of characters.</a:t>
            </a:r>
          </a:p>
          <a:p>
            <a:r>
              <a:t>Embeddings, or vector representations — numeric «addresses» of tokens in a high-dimensional semantic space. They let the model work with similarity: words that are close in meaning have close vectors.</a:t>
            </a:r>
          </a:p>
          <a:p>
            <a:r>
              <a:t>The attention mechanism — how the model decides which parts of the input to look at at each moment of generation. This is exactly the self-attention referenced in the title of the paper «Attention Is All You Need».</a:t>
            </a:r>
          </a:p>
          <a:p>
            <a:r>
              <a:t>Temperature — a parameter that controls how randomly the model picks the next token. At zero temperature the model is deterministic; at high temperature it generates more varied answers.</a:t>
            </a:r>
          </a:p>
          <a:p>
            <a:r>
              <a:t>After Lecture 2 you'll understand why a prompt with a role works better than an empty one, why AI is bad at counting the letters in a word, and why the same query to an LLM gives different answers at different moments. This knowledge is the foundation for all the following lectures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Now it's open time for questions. There are no dumb questions, no «too basic» ones — if something is unclear, it's better to ask now. If we run out of time in class and questions remain — reach out through the contacts I showed on the business-card slide.</a:t>
            </a:r>
          </a:p>
          <a:p>
            <a:r>
              <a:t>If there are no questions — that's fine. See you at the next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docs.ultralytics.com/models/yolov8/" TargetMode="External"/><Relationship Id="rId4" Type="http://schemas.openxmlformats.org/officeDocument/2006/relationships/hyperlink" Target="https://ai.google.dev/edge/mediapipe/solutions/guide"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gartner.com/en/newsroom/press-releases/2024-10-03-gartner-says-generative-ai-will-require-80-percent-of-engineering-workforce-to-upskill-through-2027" TargetMode="External"/><Relationship Id="rId3" Type="http://schemas.openxmlformats.org/officeDocument/2006/relationships/hyperlink" Target="https://www.vedomosti.ru/technology/articles/2026/03/24/1184974-biznes-svernul-ili-otlozhil-9-iz-10-proektov-po-vnedreniyu-generativnogo-ii"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ima.cs.berkeley.edu/" TargetMode="External"/><Relationship Id="rId3" Type="http://schemas.openxmlformats.org/officeDocument/2006/relationships/hyperlink" Target="https://www.iso.org/standard/74296.html" TargetMode="External"/><Relationship Id="rId4" Type="http://schemas.openxmlformats.org/officeDocument/2006/relationships/hyperlink" Target="https://www.cs.cmu.edu/~tom/mlbook.html" TargetMode="External"/><Relationship Id="rId5" Type="http://schemas.openxmlformats.org/officeDocument/2006/relationships/hyperlink" Target="https://doi.org/10.1017/S0140525X00005756" TargetMode="Externa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doi.org/10.1007/BF02478259"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06.03762" TargetMode="External"/><Relationship Id="rId3" Type="http://schemas.openxmlformats.org/officeDocument/2006/relationships/hyperlink" Target="https://www.google.com/books/edition/Machines_Who_Think/dPGij4vsHKgC" TargetMode="External"/><Relationship Id="rId4" Type="http://schemas.openxmlformats.org/officeDocument/2006/relationships/hyperlink" Target="https://doi.org/10.1145/3664804"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hyperlink" Target="https://survey.stackoverflow.co/2025" TargetMode="External"/><Relationship Id="rId6" Type="http://schemas.openxmlformats.org/officeDocument/2006/relationships/hyperlink" Target="https://techcrunch.com/2026/02/27/chatgpt-reaches-900m-weekly-active-users/" TargetMode="External"/><Relationship Id="rId7" Type="http://schemas.openxmlformats.org/officeDocument/2006/relationships/hyperlink" Target="https://github.blog/news-insights/octoverse/octoverse-a-new-developer-joins-github-every-second-as-ai-leads-typescript-to-1/" TargetMode="External"/><Relationship Id="rId8" Type="http://schemas.openxmlformats.org/officeDocument/2006/relationships/hyperlink" Target="https://www.grandviewresearch.com/industry-analysis/artificial-intelligence-ai-market" TargetMode="External"/><Relationship Id="rId9" Type="http://schemas.openxmlformats.org/officeDocument/2006/relationships/hyperlink" Target="https://www.vedomosti.ru/technology/articles/2026/03/24/1184974-biznes-svernul-ili-otlozhil-9-iz-10-proektov-po-vnedreniyu-generativnogo-ii" TargetMode="External"/><Relationship Id="rId10" Type="http://schemas.openxmlformats.org/officeDocument/2006/relationships/hyperlink" Target="https://www.gartner.com/en/newsroom/press-releases/2024-10-03-gartner-says-generative-ai-will-require-80-percent-of-engineering-workforce-to-upskill-through-2027" TargetMode="Externa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istral.ai/news/announcing-mistral-7b" TargetMode="External"/><Relationship Id="rId3" Type="http://schemas.openxmlformats.org/officeDocument/2006/relationships/hyperlink" Target="https://arxiv.org/abs/2501.12948" TargetMode="External"/><Relationship Id="rId4" Type="http://schemas.openxmlformats.org/officeDocument/2006/relationships/hyperlink" Target="https://semianalysis.com/2025/01/31/deepseek-debates/" TargetMode="External"/><Relationship Id="rId5" Type="http://schemas.openxmlformats.org/officeDocument/2006/relationships/hyperlink" Target="https://www.bloomberg.com/news/articles/2025-01-27/asml-sinks-as-china-ai-startup-triggers-panic-in-tech-stocks" TargetMode="External"/><Relationship Id="rId6" Type="http://schemas.openxmlformats.org/officeDocument/2006/relationships/hyperlink" Target="https://github.com/openclaw/openclaw" TargetMode="External"/><Relationship Id="rId7" Type="http://schemas.openxmlformats.org/officeDocument/2006/relationships/hyperlink" Target="https://github.com/ggml-org/llama.cpp"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research/building-effective-agents" TargetMode="External"/><Relationship Id="rId3" Type="http://schemas.openxmlformats.org/officeDocument/2006/relationships/hyperlink" Target="https://lilianweng.github.io/posts/2023-06-23-agent/"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hyperlink" Target="https://aima.cs.berkeley.edu/" TargetMode="External"/><Relationship Id="rId8" Type="http://schemas.openxmlformats.org/officeDocument/2006/relationships/hyperlink" Target="https://www.deeplearningbook.org/" TargetMode="Externa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research/building-effective-agents"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05.02302" TargetMode="External"/><Relationship Id="rId3" Type="http://schemas.openxmlformats.org/officeDocument/2006/relationships/hyperlink" Target="https://doi.org/10.1038/s41586-021-03819-2"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research/building-effective-agents"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ciom.ru/analytical-reviews/analiticheskii-obzor/neiroseti-v-nashei-zhizni" TargetMode="External"/><Relationship Id="rId3" Type="http://schemas.openxmlformats.org/officeDocument/2006/relationships/hyperlink" Target="https://arxiv.org/abs/2406.16937"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lianweng.github.io/posts/2023-06-23-agent/" TargetMode="External"/><Relationship Id="rId3" Type="http://schemas.openxmlformats.org/officeDocument/2006/relationships/hyperlink" Target="https://www.anthropic.com/research/building-effective-agents" TargetMode="External"/><Relationship Id="rId4" Type="http://schemas.openxmlformats.org/officeDocument/2006/relationships/hyperlink" Target="https://www.anthropic.com/news/model-context-protocol" TargetMode="Externa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10.03629"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6.12469"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hyperlink" Target="https://blog.google/products-and-platforms/products/translate/fun-facts-google-translate-20-years/" TargetMode="External"/><Relationship Id="rId8" Type="http://schemas.openxmlformats.org/officeDocument/2006/relationships/hyperlink" Target="https://www.anthropic.com/research/building-effective-agents" TargetMode="Externa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nthropic.com/research/building-effective-agents" TargetMode="External"/><Relationship Id="rId3" Type="http://schemas.openxmlformats.org/officeDocument/2006/relationships/hyperlink" Target="https://www.kaggle.com/whitepaper-agents" TargetMode="External"/><Relationship Id="rId4" Type="http://schemas.openxmlformats.org/officeDocument/2006/relationships/hyperlink" Target="https://www.deeplearning.ai/the-batch/how-agents-can-improve-llm-performance/" TargetMode="Externa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ist.gov/itl/ai-risk-management-framework" TargetMode="External"/><Relationship Id="rId3" Type="http://schemas.openxmlformats.org/officeDocument/2006/relationships/hyperlink" Target="https://nvlpubs.nist.gov/nistpubs/ai/NIST.AI.600-1.pdf" TargetMode="External"/><Relationship Id="rId4" Type="http://schemas.openxmlformats.org/officeDocument/2006/relationships/hyperlink" Target="https://eur-lex.europa.eu/eli/reg/2024/1689/oj/eng" TargetMode="Externa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loomberg.com/news/articles/2023-05-02/samsung-bans-chatgpt-and-other-generative-ai-use-by-staff-after-leak" TargetMode="External"/><Relationship Id="rId3" Type="http://schemas.openxmlformats.org/officeDocument/2006/relationships/hyperlink" Target="https://openai.com/enterprise-privacy/" TargetMode="External"/><Relationship Id="rId4" Type="http://schemas.openxmlformats.org/officeDocument/2006/relationships/hyperlink" Target="https://eur-lex.europa.eu/eli/reg/2024/1689/oj/eng" TargetMode="Externa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311.05232" TargetMode="External"/><Relationship Id="rId3" Type="http://schemas.openxmlformats.org/officeDocument/2006/relationships/hyperlink" Target="https://doi.org/10.1145/3571730" TargetMode="External"/><Relationship Id="rId4" Type="http://schemas.openxmlformats.org/officeDocument/2006/relationships/hyperlink" Target="https://github.com/vectara/hallucination-leaderboard" TargetMode="External"/><Relationship Id="rId5" Type="http://schemas.openxmlformats.org/officeDocument/2006/relationships/hyperlink" Target="https://www.staysafeonline.org/articles/oh-behave-the-annual-cybersecurity-attitudes-and-behaviors-report-2025" TargetMode="Externa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hyperlink" Target="https://openai.com/index/sycophancy-in-gpt-4o/" TargetMode="External"/><Relationship Id="rId6" Type="http://schemas.openxmlformats.org/officeDocument/2006/relationships/hyperlink" Target="https://arxiv.org/abs/2201.03544" TargetMode="Externa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7/S0140525X00005756" TargetMode="External"/><Relationship Id="rId3" Type="http://schemas.openxmlformats.org/officeDocument/2006/relationships/hyperlink" Target="https://global.oup.com/academic/product/superintelligence-9780199678112"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502920"/>
            <a:ext cx="5394960" cy="2194560"/>
          </a:xfrm>
          <a:prstGeom prst="rect">
            <a:avLst/>
          </a:prstGeom>
          <a:noFill/>
        </p:spPr>
        <p:txBody>
          <a:bodyPr wrap="square" lIns="0" rIns="0" tIns="0" bIns="0" anchor="t">
            <a:spAutoFit/>
          </a:bodyPr>
          <a:lstStyle/>
          <a:p>
            <a:pPr algn="l">
              <a:lnSpc>
                <a:spcPct val="120000"/>
              </a:lnSpc>
            </a:pPr>
            <a:r>
              <a:rPr sz="2600" b="1" i="0">
                <a:solidFill>
                  <a:srgbClr val="21295C"/>
                </a:solidFill>
                <a:latin typeface="Arial"/>
              </a:rPr>
              <a:t>Real-time person identification — on a laptop, offline, since 2023.</a:t>
            </a:r>
          </a:p>
        </p:txBody>
      </p:sp>
      <p:sp>
        <p:nvSpPr>
          <p:cNvPr id="3" name="TextBox 2"/>
          <p:cNvSpPr txBox="1"/>
          <p:nvPr/>
        </p:nvSpPr>
        <p:spPr>
          <a:xfrm>
            <a:off x="502920" y="2880360"/>
            <a:ext cx="5394960" cy="1280160"/>
          </a:xfrm>
          <a:prstGeom prst="rect">
            <a:avLst/>
          </a:prstGeom>
          <a:noFill/>
        </p:spPr>
        <p:txBody>
          <a:bodyPr wrap="square" lIns="0" rIns="0" tIns="0" bIns="0" anchor="t">
            <a:spAutoFit/>
          </a:bodyPr>
          <a:lstStyle/>
          <a:p>
            <a:pPr algn="l">
              <a:lnSpc>
                <a:spcPct val="130000"/>
              </a:lnSpc>
            </a:pPr>
            <a:r>
              <a:rPr sz="1500" b="0" i="1">
                <a:solidFill>
                  <a:srgbClr val="065A82"/>
                </a:solidFill>
                <a:latin typeface="Arial"/>
              </a:rPr>
              <a:t>Narrow AI — the model solves one task (detecting people in the frame) and nothing else.</a:t>
            </a:r>
          </a:p>
        </p:txBody>
      </p:sp>
      <p:sp>
        <p:nvSpPr>
          <p:cNvPr id="4" name="TextBox 3"/>
          <p:cNvSpPr txBox="1"/>
          <p:nvPr/>
        </p:nvSpPr>
        <p:spPr>
          <a:xfrm>
            <a:off x="502920" y="5029200"/>
            <a:ext cx="5394960" cy="914400"/>
          </a:xfrm>
          <a:prstGeom prst="rect">
            <a:avLst/>
          </a:prstGeom>
          <a:noFill/>
        </p:spPr>
        <p:txBody>
          <a:bodyPr wrap="square" lIns="0" rIns="0" tIns="0" bIns="0" anchor="t">
            <a:spAutoFit/>
          </a:bodyPr>
          <a:lstStyle/>
          <a:p>
            <a:pPr algn="l">
              <a:lnSpc>
                <a:spcPct val="135000"/>
              </a:lnSpc>
            </a:pPr>
            <a:r>
              <a:rPr sz="1500" b="0" i="0">
                <a:solidFill>
                  <a:srgbClr val="21295C"/>
                </a:solidFill>
                <a:latin typeface="Arial"/>
              </a:rPr>
              <a:t>On screen — </a:t>
            </a:r>
            <a:r>
              <a:rPr sz="1500" b="1" i="0">
                <a:solidFill>
                  <a:srgbClr val="065A82"/>
                </a:solidFill>
                <a:latin typeface="Arial"/>
              </a:rPr>
              <a:t>YOLOv8</a:t>
            </a:r>
            <a:r>
              <a:rPr sz="1500" b="0" i="0">
                <a:solidFill>
                  <a:srgbClr val="21295C"/>
                </a:solidFill>
                <a:latin typeface="Arial"/>
              </a:rPr>
              <a:t> on a laptop CPU: </a:t>
            </a:r>
            <a:r>
              <a:rPr sz="1500" b="1" i="0">
                <a:solidFill>
                  <a:srgbClr val="F0AB00"/>
                </a:solidFill>
                <a:latin typeface="Arial"/>
              </a:rPr>
              <a:t>~30 fps</a:t>
            </a:r>
            <a:r>
              <a:rPr sz="1500" b="0" i="0">
                <a:solidFill>
                  <a:srgbClr val="21295C"/>
                </a:solidFill>
                <a:latin typeface="Arial"/>
              </a:rPr>
              <a:t>.</a:t>
            </a:r>
          </a:p>
          <a:p>
            <a:pPr algn="l">
              <a:lnSpc>
                <a:spcPct val="135000"/>
              </a:lnSpc>
            </a:pPr>
            <a:r>
              <a:rPr sz="1500" b="1" i="0">
                <a:solidFill>
                  <a:srgbClr val="028090"/>
                </a:solidFill>
                <a:latin typeface="Arial"/>
              </a:rPr>
              <a:t>Offline</a:t>
            </a:r>
            <a:r>
              <a:rPr sz="1500" b="0" i="0">
                <a:solidFill>
                  <a:srgbClr val="21295C"/>
                </a:solidFill>
                <a:latin typeface="Arial"/>
              </a:rPr>
              <a:t>  ·  trained in 2023.</a:t>
            </a:r>
            <a:r>
              <a:rPr sz="1500" b="0" i="0">
                <a:solidFill>
                  <a:srgbClr val="21295C"/>
                </a:solidFill>
                <a:latin typeface="Arial"/>
              </a:rPr>
              <a:t> </a:t>
            </a:r>
            <a:r>
              <a:rPr sz="780" baseline="30000" b="0" i="1">
                <a:latin typeface="Arial"/>
                <a:cs typeface="Arial"/>
                <a:ea typeface="Arial"/>
                <a:solidFill>
                  <a:srgbClr val="1C7293"/>
                </a:solidFill>
              </a:rPr>
              <a:t>[2]</a:t>
            </a:r>
          </a:p>
        </p:txBody>
      </p:sp>
      <p:sp>
        <p:nvSpPr>
          <p:cNvPr id="5" name="Rounded Rectangle 4"/>
          <p:cNvSpPr/>
          <p:nvPr/>
        </p:nvSpPr>
        <p:spPr>
          <a:xfrm>
            <a:off x="5989320" y="502920"/>
            <a:ext cx="5760720" cy="4023360"/>
          </a:xfrm>
          <a:prstGeom prst="roundRect">
            <a:avLst>
              <a:gd name="adj" fmla="val 757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01-yolo-mock.png"/>
          <p:cNvPicPr>
            <a:picLocks noChangeAspect="1"/>
          </p:cNvPicPr>
          <p:nvPr/>
        </p:nvPicPr>
        <p:blipFill>
          <a:blip r:embed="rId2"/>
          <a:stretch>
            <a:fillRect/>
          </a:stretch>
        </p:blipFill>
        <p:spPr>
          <a:xfrm>
            <a:off x="6153912" y="986980"/>
            <a:ext cx="5431536" cy="3055238"/>
          </a:xfrm>
          <a:prstGeom prst="rect">
            <a:avLst/>
          </a:prstGeom>
        </p:spPr>
      </p:pic>
      <p:sp>
        <p:nvSpPr>
          <p:cNvPr id="7" name="TextBox 6"/>
          <p:cNvSpPr txBox="1"/>
          <p:nvPr/>
        </p:nvSpPr>
        <p:spPr>
          <a:xfrm>
            <a:off x="5989320" y="4572000"/>
            <a:ext cx="5760720" cy="365760"/>
          </a:xfrm>
          <a:prstGeom prst="rect">
            <a:avLst/>
          </a:prstGeom>
          <a:noFill/>
        </p:spPr>
        <p:txBody>
          <a:bodyPr wrap="square" lIns="0" rIns="0" tIns="0" bIns="0" anchor="t">
            <a:spAutoFit/>
          </a:bodyPr>
          <a:lstStyle/>
          <a:p>
            <a:pPr algn="ctr">
              <a:lnSpc>
                <a:spcPct val="115000"/>
              </a:lnSpc>
            </a:pPr>
            <a:r>
              <a:rPr sz="1100" b="0" i="1">
                <a:solidFill>
                  <a:srgbClr val="1C7293"/>
                </a:solidFill>
                <a:latin typeface="Arial"/>
              </a:rPr>
              <a:t>A model frame during the demo: 2 people in boxes. YOLOv8 (Ultralytics, 2023). </a:t>
            </a:r>
            <a:r>
              <a:rPr sz="572" baseline="30000" b="0" i="1">
                <a:latin typeface="Arial"/>
                <a:cs typeface="Arial"/>
                <a:ea typeface="Arial"/>
                <a:solidFill>
                  <a:srgbClr val="1C7293"/>
                </a:solidFill>
              </a:rPr>
              <a:t>[1]</a:t>
            </a:r>
          </a:p>
        </p:txBody>
      </p:sp>
      <p:sp>
        <p:nvSpPr>
          <p:cNvPr id="8" name="TextBox 7"/>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Ultralytics — YOLOv8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4"/>
              </a:rPr>
              <a:t>Google — MediaPipe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822960" y="1965960"/>
            <a:ext cx="10515600" cy="914400"/>
          </a:xfrm>
          <a:prstGeom prst="rect">
            <a:avLst/>
          </a:prstGeom>
          <a:noFill/>
        </p:spPr>
        <p:txBody>
          <a:bodyPr wrap="square" lIns="0" rIns="0" tIns="0" bIns="0" anchor="t">
            <a:spAutoFit/>
          </a:bodyPr>
          <a:lstStyle/>
          <a:p>
            <a:pPr algn="ctr">
              <a:lnSpc>
                <a:spcPct val="115000"/>
              </a:lnSpc>
            </a:pPr>
            <a:r>
              <a:rPr sz="3000" b="1" i="0">
                <a:solidFill>
                  <a:srgbClr val="065A82"/>
                </a:solidFill>
                <a:latin typeface="Arial"/>
              </a:rPr>
              <a:t>Welcome to the course</a:t>
            </a:r>
          </a:p>
        </p:txBody>
      </p:sp>
      <p:sp>
        <p:nvSpPr>
          <p:cNvPr id="3" name="TextBox 2"/>
          <p:cNvSpPr txBox="1"/>
          <p:nvPr/>
        </p:nvSpPr>
        <p:spPr>
          <a:xfrm>
            <a:off x="822960" y="2606040"/>
            <a:ext cx="10515600" cy="1463040"/>
          </a:xfrm>
          <a:prstGeom prst="rect">
            <a:avLst/>
          </a:prstGeom>
          <a:noFill/>
        </p:spPr>
        <p:txBody>
          <a:bodyPr wrap="square" lIns="0" rIns="0" tIns="0" bIns="0" anchor="t">
            <a:spAutoFit/>
          </a:bodyPr>
          <a:lstStyle/>
          <a:p>
            <a:pPr algn="ctr">
              <a:lnSpc>
                <a:spcPct val="125000"/>
              </a:lnSpc>
            </a:pPr>
            <a:r>
              <a:rPr sz="3600" b="1" i="0">
                <a:solidFill>
                  <a:srgbClr val="21295C"/>
                </a:solidFill>
                <a:latin typeface="Arial"/>
              </a:rPr>
              <a:t>«Industry Applications of
Artificial Intelligence Systems»</a:t>
            </a:r>
          </a:p>
        </p:txBody>
      </p:sp>
      <p:sp>
        <p:nvSpPr>
          <p:cNvPr id="4" name="Rectangle 3"/>
          <p:cNvSpPr/>
          <p:nvPr/>
        </p:nvSpPr>
        <p:spPr>
          <a:xfrm>
            <a:off x="5638647" y="4160520"/>
            <a:ext cx="914400" cy="54864"/>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4434840"/>
            <a:ext cx="9601200" cy="640080"/>
          </a:xfrm>
          <a:prstGeom prst="rect">
            <a:avLst/>
          </a:prstGeom>
          <a:noFill/>
        </p:spPr>
        <p:txBody>
          <a:bodyPr wrap="square" lIns="0" rIns="0" tIns="0" bIns="0" anchor="t">
            <a:spAutoFit/>
          </a:bodyPr>
          <a:lstStyle/>
          <a:p>
            <a:pPr algn="ctr">
              <a:lnSpc>
                <a:spcPct val="125000"/>
              </a:lnSpc>
            </a:pPr>
            <a:r>
              <a:rPr sz="2000" b="0" i="1">
                <a:solidFill>
                  <a:srgbClr val="065A82"/>
                </a:solidFill>
                <a:latin typeface="Arial"/>
              </a:rPr>
              <a:t>17 lectures on where AI works across industries — and where it does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The course's core question is not «can we use AI?» but «should we, and where?».</a:t>
            </a:r>
          </a:p>
        </p:txBody>
      </p:sp>
      <p:sp>
        <p:nvSpPr>
          <p:cNvPr id="3" name="Rounded Rectangle 2"/>
          <p:cNvSpPr/>
          <p:nvPr/>
        </p:nvSpPr>
        <p:spPr>
          <a:xfrm>
            <a:off x="502920" y="1874519"/>
            <a:ext cx="5029200" cy="960120"/>
          </a:xfrm>
          <a:prstGeom prst="roundRect">
            <a:avLst>
              <a:gd name="adj" fmla="val 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57400"/>
            <a:ext cx="5029200" cy="594360"/>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100% of AI pilots launch</a:t>
            </a:r>
          </a:p>
        </p:txBody>
      </p:sp>
      <p:sp>
        <p:nvSpPr>
          <p:cNvPr id="5" name="Rounded Rectangle 4"/>
          <p:cNvSpPr/>
          <p:nvPr/>
        </p:nvSpPr>
        <p:spPr>
          <a:xfrm>
            <a:off x="1131570" y="2926079"/>
            <a:ext cx="3771900" cy="96012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1570" y="3108960"/>
            <a:ext cx="3771900" cy="594360"/>
          </a:xfrm>
          <a:prstGeom prst="rect">
            <a:avLst/>
          </a:prstGeom>
          <a:noFill/>
        </p:spPr>
        <p:txBody>
          <a:bodyPr wrap="square" lIns="0" rIns="0" tIns="0" bIns="0" anchor="ctr">
            <a:spAutoFit/>
          </a:bodyPr>
          <a:lstStyle/>
          <a:p>
            <a:pPr algn="ctr">
              <a:lnSpc>
                <a:spcPct val="115000"/>
              </a:lnSpc>
            </a:pPr>
            <a:r>
              <a:rPr sz="2000" b="1" i="0">
                <a:solidFill>
                  <a:srgbClr val="FFFFFF"/>
                </a:solidFill>
                <a:latin typeface="Arial"/>
              </a:rPr>
              <a:t>−90% get rolled back</a:t>
            </a:r>
          </a:p>
        </p:txBody>
      </p:sp>
      <p:sp>
        <p:nvSpPr>
          <p:cNvPr id="7" name="Rounded Rectangle 6"/>
          <p:cNvSpPr/>
          <p:nvPr/>
        </p:nvSpPr>
        <p:spPr>
          <a:xfrm>
            <a:off x="1885950" y="3977639"/>
            <a:ext cx="2263140" cy="96012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5950" y="4105655"/>
            <a:ext cx="2263140" cy="704088"/>
          </a:xfrm>
          <a:prstGeom prst="rect">
            <a:avLst/>
          </a:prstGeom>
          <a:noFill/>
        </p:spPr>
        <p:txBody>
          <a:bodyPr wrap="square" lIns="0" rIns="0" tIns="0" bIns="0" anchor="ctr">
            <a:spAutoFit/>
          </a:bodyPr>
          <a:lstStyle/>
          <a:p>
            <a:pPr algn="ctr">
              <a:lnSpc>
                <a:spcPct val="110000"/>
              </a:lnSpc>
            </a:pPr>
            <a:r>
              <a:rPr sz="1800" b="1" i="0">
                <a:solidFill>
                  <a:srgbClr val="21295C"/>
                </a:solidFill>
                <a:latin typeface="Arial"/>
              </a:rPr>
              <a:t>10% reach
production</a:t>
            </a:r>
          </a:p>
        </p:txBody>
      </p:sp>
      <p:sp>
        <p:nvSpPr>
          <p:cNvPr id="9" name="TextBox 8"/>
          <p:cNvSpPr txBox="1"/>
          <p:nvPr/>
        </p:nvSpPr>
        <p:spPr>
          <a:xfrm>
            <a:off x="502920" y="5074920"/>
            <a:ext cx="5029200" cy="457200"/>
          </a:xfrm>
          <a:prstGeom prst="rect">
            <a:avLst/>
          </a:prstGeom>
          <a:noFill/>
        </p:spPr>
        <p:txBody>
          <a:bodyPr wrap="square" lIns="0" rIns="0" tIns="0" bIns="0" anchor="t">
            <a:spAutoFit/>
          </a:bodyPr>
          <a:lstStyle/>
          <a:p>
            <a:pPr algn="ctr">
              <a:lnSpc>
                <a:spcPct val="130000"/>
              </a:lnSpc>
            </a:pPr>
            <a:r>
              <a:rPr sz="1100" b="0" i="1">
                <a:solidFill>
                  <a:srgbClr val="1C7293"/>
                </a:solidFill>
                <a:latin typeface="Arial"/>
              </a:rPr>
              <a:t>An illustration of the principle (Gartner, McKinsey confirm similar numbers). </a:t>
            </a:r>
            <a:r>
              <a:rPr sz="572" baseline="30000" b="0" i="1">
                <a:latin typeface="Arial"/>
                <a:cs typeface="Arial"/>
                <a:ea typeface="Arial"/>
                <a:solidFill>
                  <a:srgbClr val="1C7293"/>
                </a:solidFill>
              </a:rPr>
              <a:t>[1]</a:t>
            </a:r>
          </a:p>
        </p:txBody>
      </p:sp>
      <p:sp>
        <p:nvSpPr>
          <p:cNvPr id="10" name="Rounded Rectangle 9"/>
          <p:cNvSpPr/>
          <p:nvPr/>
        </p:nvSpPr>
        <p:spPr>
          <a:xfrm>
            <a:off x="5760720" y="1600199"/>
            <a:ext cx="5943600" cy="4572000"/>
          </a:xfrm>
          <a:prstGeom prst="roundRect">
            <a:avLst>
              <a:gd name="adj" fmla="val 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0" y="1874519"/>
            <a:ext cx="5394960" cy="41148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The core idea of the course</a:t>
            </a:r>
          </a:p>
        </p:txBody>
      </p:sp>
      <p:sp>
        <p:nvSpPr>
          <p:cNvPr id="12" name="TextBox 11"/>
          <p:cNvSpPr txBox="1"/>
          <p:nvPr/>
        </p:nvSpPr>
        <p:spPr>
          <a:xfrm>
            <a:off x="6035040" y="2331720"/>
            <a:ext cx="5394960" cy="1463040"/>
          </a:xfrm>
          <a:prstGeom prst="rect">
            <a:avLst/>
          </a:prstGeom>
          <a:noFill/>
        </p:spPr>
        <p:txBody>
          <a:bodyPr wrap="square" lIns="0" rIns="0" tIns="0" bIns="0" anchor="t">
            <a:spAutoFit/>
          </a:bodyPr>
          <a:lstStyle/>
          <a:p>
            <a:pPr algn="l">
              <a:lnSpc>
                <a:spcPct val="130000"/>
              </a:lnSpc>
            </a:pPr>
            <a:r>
              <a:rPr sz="2200" b="1" i="0">
                <a:solidFill>
                  <a:srgbClr val="21295C"/>
                </a:solidFill>
                <a:latin typeface="Arial"/>
              </a:rPr>
              <a:t>Tomorrow — almost everywhere.
Today — almost no one.
The course is about that gap. </a:t>
            </a:r>
            <a:r>
              <a:rPr sz="1144" baseline="30000" b="0" i="1">
                <a:latin typeface="Arial"/>
                <a:cs typeface="Arial"/>
                <a:ea typeface="Arial"/>
                <a:solidFill>
                  <a:srgbClr val="1C7293"/>
                </a:solidFill>
              </a:rPr>
              <a:t>[2]</a:t>
            </a:r>
          </a:p>
        </p:txBody>
      </p:sp>
      <p:sp>
        <p:nvSpPr>
          <p:cNvPr id="13" name="TextBox 12"/>
          <p:cNvSpPr txBox="1"/>
          <p:nvPr/>
        </p:nvSpPr>
        <p:spPr>
          <a:xfrm>
            <a:off x="6035040" y="4069079"/>
            <a:ext cx="5394960" cy="41148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The central question of the course</a:t>
            </a:r>
          </a:p>
        </p:txBody>
      </p:sp>
      <p:sp>
        <p:nvSpPr>
          <p:cNvPr id="14" name="TextBox 13"/>
          <p:cNvSpPr txBox="1"/>
          <p:nvPr/>
        </p:nvSpPr>
        <p:spPr>
          <a:xfrm>
            <a:off x="6035040" y="4480560"/>
            <a:ext cx="5394960" cy="1463040"/>
          </a:xfrm>
          <a:prstGeom prst="rect">
            <a:avLst/>
          </a:prstGeom>
          <a:noFill/>
        </p:spPr>
        <p:txBody>
          <a:bodyPr wrap="square" lIns="0" rIns="0" tIns="0" bIns="0" anchor="t">
            <a:spAutoFit/>
          </a:bodyPr>
          <a:lstStyle/>
          <a:p>
            <a:pPr algn="l">
              <a:lnSpc>
                <a:spcPct val="125000"/>
              </a:lnSpc>
            </a:pPr>
            <a:r>
              <a:rPr sz="2400" b="1" i="0">
                <a:solidFill>
                  <a:srgbClr val="21295C"/>
                </a:solidFill>
                <a:latin typeface="Arial"/>
              </a:rPr>
              <a:t>Where does AI work,
where does it not,
and how do you tell?</a:t>
            </a:r>
          </a:p>
        </p:txBody>
      </p:sp>
      <p:sp>
        <p:nvSpPr>
          <p:cNvPr id="15" name="TextBox 14"/>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Gartner - press release (Oct 2024)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Vedomosti / Intellectual Analytics (Mar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pic>
        <p:nvPicPr>
          <p:cNvPr id="2" name="Picture 1" descr="hero-cover-light.png"/>
          <p:cNvPicPr>
            <a:picLocks noChangeAspect="1"/>
          </p:cNvPicPr>
          <p:nvPr/>
        </p:nvPicPr>
        <p:blipFill>
          <a:blip r:embed="rId2"/>
          <a:stretch>
            <a:fillRect/>
          </a:stretch>
        </p:blipFill>
        <p:spPr>
          <a:xfrm>
            <a:off x="7315200" y="822960"/>
            <a:ext cx="4572000" cy="4572000"/>
          </a:xfrm>
          <a:prstGeom prst="rect">
            <a:avLst/>
          </a:prstGeom>
        </p:spPr>
      </p:pic>
      <p:sp>
        <p:nvSpPr>
          <p:cNvPr id="3" name="TextBox 2"/>
          <p:cNvSpPr txBox="1"/>
          <p:nvPr/>
        </p:nvSpPr>
        <p:spPr>
          <a:xfrm>
            <a:off x="7315200" y="2651760"/>
            <a:ext cx="4846320" cy="3291840"/>
          </a:xfrm>
          <a:prstGeom prst="rect">
            <a:avLst/>
          </a:prstGeom>
          <a:noFill/>
        </p:spPr>
        <p:txBody>
          <a:bodyPr wrap="square" lIns="0" rIns="0" tIns="0" bIns="0" anchor="t">
            <a:spAutoFit/>
          </a:bodyPr>
          <a:lstStyle/>
          <a:p>
            <a:pPr algn="l">
              <a:lnSpc>
                <a:spcPct val="100000"/>
              </a:lnSpc>
            </a:pPr>
            <a:r>
              <a:rPr sz="23000" b="1" i="0">
                <a:solidFill>
                  <a:srgbClr val="D9E2EC"/>
                </a:solidFill>
                <a:latin typeface="Arial"/>
              </a:rPr>
              <a:t>01</a:t>
            </a:r>
          </a:p>
        </p:txBody>
      </p:sp>
      <p:sp>
        <p:nvSpPr>
          <p:cNvPr id="4" name="TextBox 3"/>
          <p:cNvSpPr txBox="1"/>
          <p:nvPr/>
        </p:nvSpPr>
        <p:spPr>
          <a:xfrm>
            <a:off x="640080" y="914400"/>
            <a:ext cx="5943600" cy="50292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LECTURE</a:t>
            </a:r>
          </a:p>
        </p:txBody>
      </p:sp>
      <p:sp>
        <p:nvSpPr>
          <p:cNvPr id="5" name="Rectangle 4"/>
          <p:cNvSpPr/>
          <p:nvPr/>
        </p:nvSpPr>
        <p:spPr>
          <a:xfrm>
            <a:off x="658368" y="1417320"/>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7772400" cy="2194560"/>
          </a:xfrm>
          <a:prstGeom prst="rect">
            <a:avLst/>
          </a:prstGeom>
          <a:noFill/>
        </p:spPr>
        <p:txBody>
          <a:bodyPr wrap="square" lIns="0" rIns="0" tIns="0" bIns="0" anchor="t">
            <a:spAutoFit/>
          </a:bodyPr>
          <a:lstStyle/>
          <a:p>
            <a:pPr algn="l">
              <a:lnSpc>
                <a:spcPct val="110000"/>
              </a:lnSpc>
            </a:pPr>
            <a:r>
              <a:rPr sz="4200" b="1" i="0">
                <a:solidFill>
                  <a:srgbClr val="21295C"/>
                </a:solidFill>
                <a:latin typeface="Arial"/>
              </a:rPr>
              <a:t>What is AI?
History, classification,
core concepts</a:t>
            </a:r>
          </a:p>
        </p:txBody>
      </p:sp>
      <p:sp>
        <p:nvSpPr>
          <p:cNvPr id="7" name="Rectangle 6"/>
          <p:cNvSpPr/>
          <p:nvPr/>
        </p:nvSpPr>
        <p:spPr>
          <a:xfrm>
            <a:off x="640080" y="4983480"/>
            <a:ext cx="4572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983480"/>
            <a:ext cx="7315200" cy="548640"/>
          </a:xfrm>
          <a:prstGeom prst="rect">
            <a:avLst/>
          </a:prstGeom>
          <a:noFill/>
        </p:spPr>
        <p:txBody>
          <a:bodyPr wrap="square" lIns="0" rIns="0" tIns="0" bIns="0" anchor="t">
            <a:spAutoFit/>
          </a:bodyPr>
          <a:lstStyle/>
          <a:p>
            <a:pPr algn="l">
              <a:lnSpc>
                <a:spcPct val="125000"/>
              </a:lnSpc>
            </a:pPr>
            <a:r>
              <a:rPr sz="2200" b="0" i="0">
                <a:solidFill>
                  <a:srgbClr val="065A82"/>
                </a:solidFill>
                <a:latin typeface="Arial"/>
              </a:rPr>
              <a:t>A map of AI applications: where it works, where it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ctr">
              <a:lnSpc>
                <a:spcPct val="118000"/>
              </a:lnSpc>
            </a:pPr>
            <a:r>
              <a:rPr sz="2800" b="1" i="0">
                <a:solidFill>
                  <a:srgbClr val="21295C"/>
                </a:solidFill>
                <a:latin typeface="Arial"/>
              </a:rPr>
              <a:t>Lecture plan</a:t>
            </a:r>
          </a:p>
        </p:txBody>
      </p:sp>
      <p:sp>
        <p:nvSpPr>
          <p:cNvPr id="3" name="Rounded Rectangle 2"/>
          <p:cNvSpPr/>
          <p:nvPr/>
        </p:nvSpPr>
        <p:spPr>
          <a:xfrm>
            <a:off x="502920" y="1828800"/>
            <a:ext cx="1590114" cy="3931920"/>
          </a:xfrm>
          <a:prstGeom prst="roundRect">
            <a:avLst>
              <a:gd name="adj" fmla="val 19168"/>
            </a:avLst>
          </a:prstGeom>
          <a:solidFill>
            <a:srgbClr val="FFFFFF"/>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828800"/>
            <a:ext cx="1590114" cy="914400"/>
          </a:xfrm>
          <a:prstGeom prst="roundRect">
            <a:avLst>
              <a:gd name="adj" fmla="val 33333"/>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901952"/>
            <a:ext cx="1590114" cy="50292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0</a:t>
            </a:r>
          </a:p>
        </p:txBody>
      </p:sp>
      <p:sp>
        <p:nvSpPr>
          <p:cNvPr id="6" name="TextBox 5"/>
          <p:cNvSpPr txBox="1"/>
          <p:nvPr/>
        </p:nvSpPr>
        <p:spPr>
          <a:xfrm>
            <a:off x="594360" y="2880360"/>
            <a:ext cx="1407234"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Intro</a:t>
            </a:r>
          </a:p>
        </p:txBody>
      </p:sp>
      <p:sp>
        <p:nvSpPr>
          <p:cNvPr id="7" name="TextBox 6"/>
          <p:cNvSpPr txBox="1"/>
          <p:nvPr/>
        </p:nvSpPr>
        <p:spPr>
          <a:xfrm>
            <a:off x="594360" y="3703320"/>
            <a:ext cx="1407234"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Demo · instructor ·
central question</a:t>
            </a:r>
          </a:p>
        </p:txBody>
      </p:sp>
      <p:sp>
        <p:nvSpPr>
          <p:cNvPr id="8" name="Rounded Rectangle 7"/>
          <p:cNvSpPr/>
          <p:nvPr/>
        </p:nvSpPr>
        <p:spPr>
          <a:xfrm>
            <a:off x="2147898" y="1828800"/>
            <a:ext cx="1590114" cy="3931920"/>
          </a:xfrm>
          <a:prstGeom prst="roundRect">
            <a:avLst>
              <a:gd name="adj" fmla="val 19168"/>
            </a:avLst>
          </a:prstGeom>
          <a:solidFill>
            <a:srgbClr val="FFFFFF"/>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47898" y="1828800"/>
            <a:ext cx="1590114" cy="914400"/>
          </a:xfrm>
          <a:prstGeom prst="roundRect">
            <a:avLst>
              <a:gd name="adj" fmla="val 33333"/>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7898" y="1901952"/>
            <a:ext cx="1590114" cy="502920"/>
          </a:xfrm>
          <a:prstGeom prst="rect">
            <a:avLst/>
          </a:prstGeom>
          <a:noFill/>
        </p:spPr>
        <p:txBody>
          <a:bodyPr wrap="square" lIns="0" rIns="0" tIns="0" bIns="0" anchor="t">
            <a:spAutoFit/>
          </a:bodyPr>
          <a:lstStyle/>
          <a:p>
            <a:pPr algn="ctr">
              <a:lnSpc>
                <a:spcPct val="115000"/>
              </a:lnSpc>
            </a:pPr>
            <a:r>
              <a:rPr sz="3000" b="1" i="0">
                <a:solidFill>
                  <a:srgbClr val="FFFFFF"/>
                </a:solidFill>
                <a:latin typeface="Arial"/>
              </a:rPr>
              <a:t>1</a:t>
            </a:r>
          </a:p>
        </p:txBody>
      </p:sp>
      <p:sp>
        <p:nvSpPr>
          <p:cNvPr id="11" name="TextBox 10"/>
          <p:cNvSpPr txBox="1"/>
          <p:nvPr/>
        </p:nvSpPr>
        <p:spPr>
          <a:xfrm>
            <a:off x="2239338" y="2880360"/>
            <a:ext cx="1407234"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What is AI</a:t>
            </a:r>
          </a:p>
        </p:txBody>
      </p:sp>
      <p:sp>
        <p:nvSpPr>
          <p:cNvPr id="12" name="TextBox 11"/>
          <p:cNvSpPr txBox="1"/>
          <p:nvPr/>
        </p:nvSpPr>
        <p:spPr>
          <a:xfrm>
            <a:off x="2239338" y="3703320"/>
            <a:ext cx="1407234"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Definitions,
history, turning point</a:t>
            </a:r>
          </a:p>
        </p:txBody>
      </p:sp>
      <p:sp>
        <p:nvSpPr>
          <p:cNvPr id="13" name="Rounded Rectangle 12"/>
          <p:cNvSpPr/>
          <p:nvPr/>
        </p:nvSpPr>
        <p:spPr>
          <a:xfrm>
            <a:off x="3792877" y="1828800"/>
            <a:ext cx="1590114" cy="3931920"/>
          </a:xfrm>
          <a:prstGeom prst="roundRect">
            <a:avLst>
              <a:gd name="adj" fmla="val 19168"/>
            </a:avLst>
          </a:prstGeom>
          <a:solidFill>
            <a:srgbClr val="FFFFFF"/>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92877" y="1828800"/>
            <a:ext cx="1590114" cy="914400"/>
          </a:xfrm>
          <a:prstGeom prst="roundRect">
            <a:avLst>
              <a:gd name="adj" fmla="val 33333"/>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2877" y="1901952"/>
            <a:ext cx="1590114" cy="502920"/>
          </a:xfrm>
          <a:prstGeom prst="rect">
            <a:avLst/>
          </a:prstGeom>
          <a:noFill/>
        </p:spPr>
        <p:txBody>
          <a:bodyPr wrap="square" lIns="0" rIns="0" tIns="0" bIns="0" anchor="t">
            <a:spAutoFit/>
          </a:bodyPr>
          <a:lstStyle/>
          <a:p>
            <a:pPr algn="ctr">
              <a:lnSpc>
                <a:spcPct val="115000"/>
              </a:lnSpc>
            </a:pPr>
            <a:r>
              <a:rPr sz="3000" b="1" i="0">
                <a:solidFill>
                  <a:srgbClr val="FFFFFF"/>
                </a:solidFill>
                <a:latin typeface="Arial"/>
              </a:rPr>
              <a:t>2</a:t>
            </a:r>
          </a:p>
        </p:txBody>
      </p:sp>
      <p:sp>
        <p:nvSpPr>
          <p:cNvPr id="16" name="TextBox 15"/>
          <p:cNvSpPr txBox="1"/>
          <p:nvPr/>
        </p:nvSpPr>
        <p:spPr>
          <a:xfrm>
            <a:off x="3884317" y="2880360"/>
            <a:ext cx="1407234"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Where we are now</a:t>
            </a:r>
          </a:p>
        </p:txBody>
      </p:sp>
      <p:sp>
        <p:nvSpPr>
          <p:cNvPr id="17" name="TextBox 16"/>
          <p:cNvSpPr txBox="1"/>
          <p:nvPr/>
        </p:nvSpPr>
        <p:spPr>
          <a:xfrm>
            <a:off x="3884317" y="3703320"/>
            <a:ext cx="1407234"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Market numbers
2022–2026</a:t>
            </a:r>
          </a:p>
        </p:txBody>
      </p:sp>
      <p:sp>
        <p:nvSpPr>
          <p:cNvPr id="18" name="Rounded Rectangle 17"/>
          <p:cNvSpPr/>
          <p:nvPr/>
        </p:nvSpPr>
        <p:spPr>
          <a:xfrm>
            <a:off x="5437856" y="1828800"/>
            <a:ext cx="2577101" cy="3931920"/>
          </a:xfrm>
          <a:prstGeom prst="roundRect">
            <a:avLst>
              <a:gd name="adj" fmla="val 11827"/>
            </a:avLst>
          </a:prstGeom>
          <a:solidFill>
            <a:srgbClr val="FFFFFF"/>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37856" y="1828800"/>
            <a:ext cx="2577101" cy="914400"/>
          </a:xfrm>
          <a:prstGeom prst="roundRect">
            <a:avLst>
              <a:gd name="adj" fmla="val 33333"/>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37856" y="1901952"/>
            <a:ext cx="2577101" cy="502920"/>
          </a:xfrm>
          <a:prstGeom prst="rect">
            <a:avLst/>
          </a:prstGeom>
          <a:noFill/>
        </p:spPr>
        <p:txBody>
          <a:bodyPr wrap="square" lIns="0" rIns="0" tIns="0" bIns="0" anchor="t">
            <a:spAutoFit/>
          </a:bodyPr>
          <a:lstStyle/>
          <a:p>
            <a:pPr algn="ctr">
              <a:lnSpc>
                <a:spcPct val="115000"/>
              </a:lnSpc>
            </a:pPr>
            <a:r>
              <a:rPr sz="3000" b="1" i="0">
                <a:solidFill>
                  <a:srgbClr val="FFFFFF"/>
                </a:solidFill>
                <a:latin typeface="Arial"/>
              </a:rPr>
              <a:t>3</a:t>
            </a:r>
          </a:p>
        </p:txBody>
      </p:sp>
      <p:sp>
        <p:nvSpPr>
          <p:cNvPr id="21" name="TextBox 20"/>
          <p:cNvSpPr txBox="1"/>
          <p:nvPr/>
        </p:nvSpPr>
        <p:spPr>
          <a:xfrm>
            <a:off x="5529296" y="2880360"/>
            <a:ext cx="2394221"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4 ways to implement</a:t>
            </a:r>
          </a:p>
        </p:txBody>
      </p:sp>
      <p:sp>
        <p:nvSpPr>
          <p:cNvPr id="22" name="TextBox 21"/>
          <p:cNvSpPr txBox="1"/>
          <p:nvPr/>
        </p:nvSpPr>
        <p:spPr>
          <a:xfrm>
            <a:off x="5529296" y="3703320"/>
            <a:ext cx="2394221"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Model · chat ·
agent · app</a:t>
            </a:r>
          </a:p>
        </p:txBody>
      </p:sp>
      <p:sp>
        <p:nvSpPr>
          <p:cNvPr id="23" name="Rounded Rectangle 22"/>
          <p:cNvSpPr/>
          <p:nvPr/>
        </p:nvSpPr>
        <p:spPr>
          <a:xfrm>
            <a:off x="8069822" y="1828800"/>
            <a:ext cx="1919110" cy="3931920"/>
          </a:xfrm>
          <a:prstGeom prst="roundRect">
            <a:avLst>
              <a:gd name="adj" fmla="val 15882"/>
            </a:avLst>
          </a:prstGeom>
          <a:solidFill>
            <a:srgbClr val="FFFFFF"/>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69822" y="1828800"/>
            <a:ext cx="1919110" cy="914400"/>
          </a:xfrm>
          <a:prstGeom prst="roundRect">
            <a:avLst>
              <a:gd name="adj" fmla="val 33333"/>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9822" y="1901952"/>
            <a:ext cx="1919110" cy="502920"/>
          </a:xfrm>
          <a:prstGeom prst="rect">
            <a:avLst/>
          </a:prstGeom>
          <a:noFill/>
        </p:spPr>
        <p:txBody>
          <a:bodyPr wrap="square" lIns="0" rIns="0" tIns="0" bIns="0" anchor="t">
            <a:spAutoFit/>
          </a:bodyPr>
          <a:lstStyle/>
          <a:p>
            <a:pPr algn="ctr">
              <a:lnSpc>
                <a:spcPct val="115000"/>
              </a:lnSpc>
            </a:pPr>
            <a:r>
              <a:rPr sz="3000" b="1" i="0">
                <a:solidFill>
                  <a:srgbClr val="FFFFFF"/>
                </a:solidFill>
                <a:latin typeface="Arial"/>
              </a:rPr>
              <a:t>4</a:t>
            </a:r>
          </a:p>
        </p:txBody>
      </p:sp>
      <p:sp>
        <p:nvSpPr>
          <p:cNvPr id="26" name="TextBox 25"/>
          <p:cNvSpPr txBox="1"/>
          <p:nvPr/>
        </p:nvSpPr>
        <p:spPr>
          <a:xfrm>
            <a:off x="8161262" y="2880360"/>
            <a:ext cx="1736230"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Limits and
safety</a:t>
            </a:r>
          </a:p>
        </p:txBody>
      </p:sp>
      <p:sp>
        <p:nvSpPr>
          <p:cNvPr id="27" name="TextBox 26"/>
          <p:cNvSpPr txBox="1"/>
          <p:nvPr/>
        </p:nvSpPr>
        <p:spPr>
          <a:xfrm>
            <a:off x="8161262" y="3703320"/>
            <a:ext cx="1736230"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What AI breaks
and where it fails</a:t>
            </a:r>
          </a:p>
        </p:txBody>
      </p:sp>
      <p:sp>
        <p:nvSpPr>
          <p:cNvPr id="28" name="Rounded Rectangle 27"/>
          <p:cNvSpPr/>
          <p:nvPr/>
        </p:nvSpPr>
        <p:spPr>
          <a:xfrm>
            <a:off x="10043796" y="1828800"/>
            <a:ext cx="1590114" cy="3931920"/>
          </a:xfrm>
          <a:prstGeom prst="roundRect">
            <a:avLst>
              <a:gd name="adj" fmla="val 19168"/>
            </a:avLst>
          </a:prstGeom>
          <a:solidFill>
            <a:srgbClr val="FFFFFF"/>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3796" y="1828800"/>
            <a:ext cx="1590114" cy="914400"/>
          </a:xfrm>
          <a:prstGeom prst="roundRect">
            <a:avLst>
              <a:gd name="adj" fmla="val 33333"/>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43796" y="1901952"/>
            <a:ext cx="1590114" cy="502920"/>
          </a:xfrm>
          <a:prstGeom prst="rect">
            <a:avLst/>
          </a:prstGeom>
          <a:noFill/>
        </p:spPr>
        <p:txBody>
          <a:bodyPr wrap="square" lIns="0" rIns="0" tIns="0" bIns="0" anchor="t">
            <a:spAutoFit/>
          </a:bodyPr>
          <a:lstStyle/>
          <a:p>
            <a:pPr algn="ctr">
              <a:lnSpc>
                <a:spcPct val="115000"/>
              </a:lnSpc>
            </a:pPr>
            <a:r>
              <a:rPr sz="3000" b="1" i="0">
                <a:solidFill>
                  <a:srgbClr val="FFFFFF"/>
                </a:solidFill>
                <a:latin typeface="Arial"/>
              </a:rPr>
              <a:t>5</a:t>
            </a:r>
          </a:p>
        </p:txBody>
      </p:sp>
      <p:sp>
        <p:nvSpPr>
          <p:cNvPr id="31" name="TextBox 30"/>
          <p:cNvSpPr txBox="1"/>
          <p:nvPr/>
        </p:nvSpPr>
        <p:spPr>
          <a:xfrm>
            <a:off x="10135236" y="2880360"/>
            <a:ext cx="1407234" cy="685800"/>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Wrap-up</a:t>
            </a:r>
          </a:p>
        </p:txBody>
      </p:sp>
      <p:sp>
        <p:nvSpPr>
          <p:cNvPr id="32" name="TextBox 31"/>
          <p:cNvSpPr txBox="1"/>
          <p:nvPr/>
        </p:nvSpPr>
        <p:spPr>
          <a:xfrm>
            <a:off x="10135236" y="3703320"/>
            <a:ext cx="1407234" cy="914400"/>
          </a:xfrm>
          <a:prstGeom prst="rect">
            <a:avLst/>
          </a:prstGeom>
          <a:noFill/>
        </p:spPr>
        <p:txBody>
          <a:bodyPr wrap="square" lIns="0" rIns="0" tIns="0" bIns="0" anchor="t">
            <a:spAutoFit/>
          </a:bodyPr>
          <a:lstStyle/>
          <a:p>
            <a:pPr algn="ctr">
              <a:lnSpc>
                <a:spcPct val="125000"/>
              </a:lnSpc>
            </a:pPr>
            <a:r>
              <a:rPr sz="1050" b="0" i="1">
                <a:solidFill>
                  <a:srgbClr val="6B7685"/>
                </a:solidFill>
                <a:latin typeface="Arial"/>
              </a:rPr>
              <a:t>Recap · semester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429000"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10712" y="0"/>
            <a:ext cx="18288" cy="6858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tructor-photo-crop.png"/>
          <p:cNvPicPr>
            <a:picLocks noChangeAspect="1"/>
          </p:cNvPicPr>
          <p:nvPr/>
        </p:nvPicPr>
        <p:blipFill>
          <a:blip r:embed="rId2"/>
          <a:stretch>
            <a:fillRect/>
          </a:stretch>
        </p:blipFill>
        <p:spPr>
          <a:xfrm>
            <a:off x="502920" y="502920"/>
            <a:ext cx="2423160" cy="3227832"/>
          </a:xfrm>
          <a:prstGeom prst="rect">
            <a:avLst/>
          </a:prstGeom>
        </p:spPr>
      </p:pic>
      <p:sp>
        <p:nvSpPr>
          <p:cNvPr id="5" name="Rectangle 4"/>
          <p:cNvSpPr/>
          <p:nvPr/>
        </p:nvSpPr>
        <p:spPr>
          <a:xfrm>
            <a:off x="502920" y="502920"/>
            <a:ext cx="2423160" cy="3227832"/>
          </a:xfrm>
          <a:prstGeom prst="rect">
            <a:avLst/>
          </a:prstGeom>
          <a:no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3959352"/>
            <a:ext cx="2880360" cy="77724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Maxim
Levko</a:t>
            </a:r>
          </a:p>
        </p:txBody>
      </p:sp>
      <p:sp>
        <p:nvSpPr>
          <p:cNvPr id="7" name="Rectangle 6"/>
          <p:cNvSpPr/>
          <p:nvPr/>
        </p:nvSpPr>
        <p:spPr>
          <a:xfrm>
            <a:off x="502920" y="4828032"/>
            <a:ext cx="2423160" cy="18288"/>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5102352"/>
            <a:ext cx="457200" cy="457200"/>
          </a:xfrm>
          <a:prstGeom prst="roundRect">
            <a:avLst>
              <a:gd name="adj" fmla="val 5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ucide-send-blue.png"/>
          <p:cNvPicPr>
            <a:picLocks noChangeAspect="1"/>
          </p:cNvPicPr>
          <p:nvPr/>
        </p:nvPicPr>
        <p:blipFill>
          <a:blip r:embed="rId3"/>
          <a:stretch>
            <a:fillRect/>
          </a:stretch>
        </p:blipFill>
        <p:spPr>
          <a:xfrm>
            <a:off x="603504" y="5202936"/>
            <a:ext cx="256032" cy="256032"/>
          </a:xfrm>
          <a:prstGeom prst="rect">
            <a:avLst/>
          </a:prstGeom>
        </p:spPr>
      </p:pic>
      <p:sp>
        <p:nvSpPr>
          <p:cNvPr id="10" name="TextBox 9"/>
          <p:cNvSpPr txBox="1"/>
          <p:nvPr/>
        </p:nvSpPr>
        <p:spPr>
          <a:xfrm>
            <a:off x="1097280" y="5084064"/>
            <a:ext cx="2194560" cy="256032"/>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Telegram</a:t>
            </a:r>
          </a:p>
        </p:txBody>
      </p:sp>
      <p:sp>
        <p:nvSpPr>
          <p:cNvPr id="11" name="TextBox 10"/>
          <p:cNvSpPr txBox="1"/>
          <p:nvPr/>
        </p:nvSpPr>
        <p:spPr>
          <a:xfrm>
            <a:off x="1097280" y="5321808"/>
            <a:ext cx="2194560" cy="274320"/>
          </a:xfrm>
          <a:prstGeom prst="rect">
            <a:avLst/>
          </a:prstGeom>
          <a:noFill/>
        </p:spPr>
        <p:txBody>
          <a:bodyPr wrap="square" lIns="0" rIns="0" tIns="0" bIns="0" anchor="t">
            <a:spAutoFit/>
          </a:bodyPr>
          <a:lstStyle/>
          <a:p>
            <a:pPr algn="l">
              <a:lnSpc>
                <a:spcPct val="115000"/>
              </a:lnSpc>
            </a:pPr>
            <a:r>
              <a:rPr sz="1150" b="0" i="0">
                <a:solidFill>
                  <a:srgbClr val="21295C"/>
                </a:solidFill>
                <a:latin typeface="Arial"/>
              </a:rPr>
              <a:t>@Maxim_Levko</a:t>
            </a:r>
          </a:p>
        </p:txBody>
      </p:sp>
      <p:sp>
        <p:nvSpPr>
          <p:cNvPr id="12" name="Rounded Rectangle 11"/>
          <p:cNvSpPr/>
          <p:nvPr/>
        </p:nvSpPr>
        <p:spPr>
          <a:xfrm>
            <a:off x="502920" y="5760720"/>
            <a:ext cx="457200" cy="457200"/>
          </a:xfrm>
          <a:prstGeom prst="roundRect">
            <a:avLst>
              <a:gd name="adj" fmla="val 5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cide-mail-blue.png"/>
          <p:cNvPicPr>
            <a:picLocks noChangeAspect="1"/>
          </p:cNvPicPr>
          <p:nvPr/>
        </p:nvPicPr>
        <p:blipFill>
          <a:blip r:embed="rId4"/>
          <a:stretch>
            <a:fillRect/>
          </a:stretch>
        </p:blipFill>
        <p:spPr>
          <a:xfrm>
            <a:off x="603504" y="5861304"/>
            <a:ext cx="256032" cy="256032"/>
          </a:xfrm>
          <a:prstGeom prst="rect">
            <a:avLst/>
          </a:prstGeom>
        </p:spPr>
      </p:pic>
      <p:sp>
        <p:nvSpPr>
          <p:cNvPr id="14" name="TextBox 13"/>
          <p:cNvSpPr txBox="1"/>
          <p:nvPr/>
        </p:nvSpPr>
        <p:spPr>
          <a:xfrm>
            <a:off x="1097280" y="5742432"/>
            <a:ext cx="2194560" cy="256032"/>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Email</a:t>
            </a:r>
          </a:p>
        </p:txBody>
      </p:sp>
      <p:sp>
        <p:nvSpPr>
          <p:cNvPr id="15" name="TextBox 14"/>
          <p:cNvSpPr txBox="1"/>
          <p:nvPr/>
        </p:nvSpPr>
        <p:spPr>
          <a:xfrm>
            <a:off x="1097280" y="5980176"/>
            <a:ext cx="2194560" cy="274320"/>
          </a:xfrm>
          <a:prstGeom prst="rect">
            <a:avLst/>
          </a:prstGeom>
          <a:noFill/>
        </p:spPr>
        <p:txBody>
          <a:bodyPr wrap="square" lIns="0" rIns="0" tIns="0" bIns="0" anchor="t">
            <a:spAutoFit/>
          </a:bodyPr>
          <a:lstStyle/>
          <a:p>
            <a:pPr algn="l">
              <a:lnSpc>
                <a:spcPct val="115000"/>
              </a:lnSpc>
            </a:pPr>
            <a:r>
              <a:rPr sz="1150" b="0" i="0">
                <a:solidFill>
                  <a:srgbClr val="21295C"/>
                </a:solidFill>
                <a:latin typeface="Arial"/>
              </a:rPr>
              <a:t>Levko.maxim@gmail.com</a:t>
            </a:r>
          </a:p>
        </p:txBody>
      </p:sp>
      <p:sp>
        <p:nvSpPr>
          <p:cNvPr id="16" name="TextBox 15"/>
          <p:cNvSpPr txBox="1"/>
          <p:nvPr/>
        </p:nvSpPr>
        <p:spPr>
          <a:xfrm>
            <a:off x="3840480" y="411480"/>
            <a:ext cx="7848295" cy="77724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Who I am and why this matters to me.</a:t>
            </a:r>
          </a:p>
        </p:txBody>
      </p:sp>
      <p:sp>
        <p:nvSpPr>
          <p:cNvPr id="17" name="TextBox 16"/>
          <p:cNvSpPr txBox="1"/>
          <p:nvPr/>
        </p:nvSpPr>
        <p:spPr>
          <a:xfrm>
            <a:off x="3840480" y="1188720"/>
            <a:ext cx="7848295" cy="594360"/>
          </a:xfrm>
          <a:prstGeom prst="rect">
            <a:avLst/>
          </a:prstGeom>
          <a:noFill/>
        </p:spPr>
        <p:txBody>
          <a:bodyPr wrap="square" lIns="0" rIns="0" tIns="0" bIns="0" anchor="t">
            <a:spAutoFit/>
          </a:bodyPr>
          <a:lstStyle/>
          <a:p>
            <a:pPr algn="l">
              <a:lnSpc>
                <a:spcPct val="120000"/>
              </a:lnSpc>
            </a:pPr>
            <a:r>
              <a:rPr sz="1500" b="1" i="0">
                <a:solidFill>
                  <a:srgbClr val="065A82"/>
                </a:solidFill>
                <a:latin typeface="Arial"/>
              </a:rPr>
              <a:t>Architect, technical and product lead for building
and deploying information systems</a:t>
            </a:r>
          </a:p>
        </p:txBody>
      </p:sp>
      <p:sp>
        <p:nvSpPr>
          <p:cNvPr id="18" name="Rounded Rectangle 17"/>
          <p:cNvSpPr/>
          <p:nvPr/>
        </p:nvSpPr>
        <p:spPr>
          <a:xfrm>
            <a:off x="3840480" y="2148840"/>
            <a:ext cx="3809847"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cide-briefcase-blue.png"/>
          <p:cNvPicPr>
            <a:picLocks noChangeAspect="1"/>
          </p:cNvPicPr>
          <p:nvPr/>
        </p:nvPicPr>
        <p:blipFill>
          <a:blip r:embed="rId5"/>
          <a:stretch>
            <a:fillRect/>
          </a:stretch>
        </p:blipFill>
        <p:spPr>
          <a:xfrm>
            <a:off x="4114800" y="2441448"/>
            <a:ext cx="502920" cy="502920"/>
          </a:xfrm>
          <a:prstGeom prst="rect">
            <a:avLst/>
          </a:prstGeom>
        </p:spPr>
      </p:pic>
      <p:sp>
        <p:nvSpPr>
          <p:cNvPr id="20" name="TextBox 19"/>
          <p:cNvSpPr txBox="1"/>
          <p:nvPr/>
        </p:nvSpPr>
        <p:spPr>
          <a:xfrm>
            <a:off x="4114800" y="3081528"/>
            <a:ext cx="3261207" cy="365760"/>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20+</a:t>
            </a:r>
            <a:r>
              <a:rPr sz="1600" b="1" i="0">
                <a:solidFill>
                  <a:srgbClr val="21295C"/>
                </a:solidFill>
                <a:latin typeface="Arial"/>
              </a:rPr>
              <a:t> years of experience in IT</a:t>
            </a:r>
          </a:p>
        </p:txBody>
      </p:sp>
      <p:sp>
        <p:nvSpPr>
          <p:cNvPr id="21" name="TextBox 20"/>
          <p:cNvSpPr txBox="1"/>
          <p:nvPr/>
        </p:nvSpPr>
        <p:spPr>
          <a:xfrm>
            <a:off x="4114800" y="3502152"/>
            <a:ext cx="3261207" cy="502920"/>
          </a:xfrm>
          <a:prstGeom prst="rect">
            <a:avLst/>
          </a:prstGeom>
          <a:noFill/>
        </p:spPr>
        <p:txBody>
          <a:bodyPr wrap="square" lIns="0" rIns="0" tIns="0" bIns="0" anchor="t">
            <a:spAutoFit/>
          </a:bodyPr>
          <a:lstStyle/>
          <a:p>
            <a:pPr algn="l">
              <a:lnSpc>
                <a:spcPct val="125000"/>
              </a:lnSpc>
            </a:pPr>
            <a:r>
              <a:rPr sz="1150" b="0" i="1">
                <a:solidFill>
                  <a:srgbClr val="6B7685"/>
                </a:solidFill>
                <a:latin typeface="Arial"/>
              </a:rPr>
              <a:t>10+ completed projects
under my lead</a:t>
            </a:r>
          </a:p>
        </p:txBody>
      </p:sp>
      <p:sp>
        <p:nvSpPr>
          <p:cNvPr id="22" name="Rounded Rectangle 21"/>
          <p:cNvSpPr/>
          <p:nvPr/>
        </p:nvSpPr>
        <p:spPr>
          <a:xfrm>
            <a:off x="7878927" y="2148840"/>
            <a:ext cx="3809847" cy="1965960"/>
          </a:xfrm>
          <a:prstGeom prst="roundRect">
            <a:avLst>
              <a:gd name="adj" fmla="val 155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cide-layers-blue.png"/>
          <p:cNvPicPr>
            <a:picLocks noChangeAspect="1"/>
          </p:cNvPicPr>
          <p:nvPr/>
        </p:nvPicPr>
        <p:blipFill>
          <a:blip r:embed="rId6"/>
          <a:stretch>
            <a:fillRect/>
          </a:stretch>
        </p:blipFill>
        <p:spPr>
          <a:xfrm>
            <a:off x="8153247" y="2441448"/>
            <a:ext cx="502920" cy="502920"/>
          </a:xfrm>
          <a:prstGeom prst="rect">
            <a:avLst/>
          </a:prstGeom>
        </p:spPr>
      </p:pic>
      <p:sp>
        <p:nvSpPr>
          <p:cNvPr id="24" name="TextBox 23"/>
          <p:cNvSpPr txBox="1"/>
          <p:nvPr/>
        </p:nvSpPr>
        <p:spPr>
          <a:xfrm>
            <a:off x="8153247" y="3081528"/>
            <a:ext cx="3261207" cy="32004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Expertise</a:t>
            </a:r>
          </a:p>
        </p:txBody>
      </p:sp>
      <p:sp>
        <p:nvSpPr>
          <p:cNvPr id="25" name="TextBox 24"/>
          <p:cNvSpPr txBox="1"/>
          <p:nvPr/>
        </p:nvSpPr>
        <p:spPr>
          <a:xfrm>
            <a:off x="8153247" y="3447288"/>
            <a:ext cx="3261207" cy="594360"/>
          </a:xfrm>
          <a:prstGeom prst="rect">
            <a:avLst/>
          </a:prstGeom>
          <a:noFill/>
        </p:spPr>
        <p:txBody>
          <a:bodyPr wrap="square" lIns="0" rIns="0" tIns="0" bIns="0" anchor="t">
            <a:spAutoFit/>
          </a:bodyPr>
          <a:lstStyle/>
          <a:p>
            <a:pPr algn="l">
              <a:lnSpc>
                <a:spcPct val="125000"/>
              </a:lnSpc>
            </a:pPr>
            <a:r>
              <a:rPr sz="1000" b="0" i="1">
                <a:solidFill>
                  <a:srgbClr val="6B7685"/>
                </a:solidFill>
                <a:latin typeface="Arial"/>
              </a:rPr>
              <a:t>Systems analysis · Systems design · Data management · Business automation · Product management</a:t>
            </a:r>
          </a:p>
        </p:txBody>
      </p:sp>
      <p:sp>
        <p:nvSpPr>
          <p:cNvPr id="26" name="Rounded Rectangle 25"/>
          <p:cNvSpPr/>
          <p:nvPr/>
        </p:nvSpPr>
        <p:spPr>
          <a:xfrm>
            <a:off x="3840480" y="4389120"/>
            <a:ext cx="7848295"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0" y="4590288"/>
            <a:ext cx="7299655" cy="32004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Consulting and in-house</a:t>
            </a:r>
          </a:p>
        </p:txBody>
      </p:sp>
      <p:sp>
        <p:nvSpPr>
          <p:cNvPr id="28" name="Rounded Rectangle 27"/>
          <p:cNvSpPr/>
          <p:nvPr/>
        </p:nvSpPr>
        <p:spPr>
          <a:xfrm>
            <a:off x="4114800" y="5102352"/>
            <a:ext cx="1687753" cy="566928"/>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cide-building-2-blue.png"/>
          <p:cNvPicPr>
            <a:picLocks noChangeAspect="1"/>
          </p:cNvPicPr>
          <p:nvPr/>
        </p:nvPicPr>
        <p:blipFill>
          <a:blip r:embed="rId7"/>
          <a:stretch>
            <a:fillRect/>
          </a:stretch>
        </p:blipFill>
        <p:spPr>
          <a:xfrm>
            <a:off x="4242816" y="5239512"/>
            <a:ext cx="292608" cy="292608"/>
          </a:xfrm>
          <a:prstGeom prst="rect">
            <a:avLst/>
          </a:prstGeom>
        </p:spPr>
      </p:pic>
      <p:sp>
        <p:nvSpPr>
          <p:cNvPr id="30" name="TextBox 29"/>
          <p:cNvSpPr txBox="1"/>
          <p:nvPr/>
        </p:nvSpPr>
        <p:spPr>
          <a:xfrm>
            <a:off x="4590288" y="5102352"/>
            <a:ext cx="1139113" cy="566928"/>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Yandex</a:t>
            </a:r>
          </a:p>
        </p:txBody>
      </p:sp>
      <p:sp>
        <p:nvSpPr>
          <p:cNvPr id="31" name="Rounded Rectangle 30"/>
          <p:cNvSpPr/>
          <p:nvPr/>
        </p:nvSpPr>
        <p:spPr>
          <a:xfrm>
            <a:off x="5985433" y="5102352"/>
            <a:ext cx="1687753" cy="566928"/>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cide-building-2-blue.png"/>
          <p:cNvPicPr>
            <a:picLocks noChangeAspect="1"/>
          </p:cNvPicPr>
          <p:nvPr/>
        </p:nvPicPr>
        <p:blipFill>
          <a:blip r:embed="rId7"/>
          <a:stretch>
            <a:fillRect/>
          </a:stretch>
        </p:blipFill>
        <p:spPr>
          <a:xfrm>
            <a:off x="6113449" y="5239512"/>
            <a:ext cx="292608" cy="292608"/>
          </a:xfrm>
          <a:prstGeom prst="rect">
            <a:avLst/>
          </a:prstGeom>
        </p:spPr>
      </p:pic>
      <p:sp>
        <p:nvSpPr>
          <p:cNvPr id="33" name="TextBox 32"/>
          <p:cNvSpPr txBox="1"/>
          <p:nvPr/>
        </p:nvSpPr>
        <p:spPr>
          <a:xfrm>
            <a:off x="6460921" y="5102352"/>
            <a:ext cx="1139113" cy="566928"/>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MTS</a:t>
            </a:r>
          </a:p>
        </p:txBody>
      </p:sp>
      <p:sp>
        <p:nvSpPr>
          <p:cNvPr id="34" name="Rounded Rectangle 33"/>
          <p:cNvSpPr/>
          <p:nvPr/>
        </p:nvSpPr>
        <p:spPr>
          <a:xfrm>
            <a:off x="7856067" y="5102352"/>
            <a:ext cx="1687753" cy="566928"/>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cide-building-2-blue.png"/>
          <p:cNvPicPr>
            <a:picLocks noChangeAspect="1"/>
          </p:cNvPicPr>
          <p:nvPr/>
        </p:nvPicPr>
        <p:blipFill>
          <a:blip r:embed="rId7"/>
          <a:stretch>
            <a:fillRect/>
          </a:stretch>
        </p:blipFill>
        <p:spPr>
          <a:xfrm>
            <a:off x="7984083" y="5239512"/>
            <a:ext cx="292608" cy="292608"/>
          </a:xfrm>
          <a:prstGeom prst="rect">
            <a:avLst/>
          </a:prstGeom>
        </p:spPr>
      </p:pic>
      <p:sp>
        <p:nvSpPr>
          <p:cNvPr id="36" name="TextBox 35"/>
          <p:cNvSpPr txBox="1"/>
          <p:nvPr/>
        </p:nvSpPr>
        <p:spPr>
          <a:xfrm>
            <a:off x="8331555" y="5102352"/>
            <a:ext cx="1139113" cy="566928"/>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Magnit</a:t>
            </a:r>
          </a:p>
        </p:txBody>
      </p:sp>
      <p:sp>
        <p:nvSpPr>
          <p:cNvPr id="37" name="Rounded Rectangle 36"/>
          <p:cNvSpPr/>
          <p:nvPr/>
        </p:nvSpPr>
        <p:spPr>
          <a:xfrm>
            <a:off x="9726701" y="5102352"/>
            <a:ext cx="1687753" cy="566928"/>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cide-building-2-blue.png"/>
          <p:cNvPicPr>
            <a:picLocks noChangeAspect="1"/>
          </p:cNvPicPr>
          <p:nvPr/>
        </p:nvPicPr>
        <p:blipFill>
          <a:blip r:embed="rId7"/>
          <a:stretch>
            <a:fillRect/>
          </a:stretch>
        </p:blipFill>
        <p:spPr>
          <a:xfrm>
            <a:off x="9854717" y="5239512"/>
            <a:ext cx="292608" cy="292608"/>
          </a:xfrm>
          <a:prstGeom prst="rect">
            <a:avLst/>
          </a:prstGeom>
        </p:spPr>
      </p:pic>
      <p:sp>
        <p:nvSpPr>
          <p:cNvPr id="39" name="TextBox 38"/>
          <p:cNvSpPr txBox="1"/>
          <p:nvPr/>
        </p:nvSpPr>
        <p:spPr>
          <a:xfrm>
            <a:off x="10202189" y="5102352"/>
            <a:ext cx="1139113" cy="566928"/>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Sibur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Section 1 · What is AI</a:t>
            </a:r>
          </a:p>
        </p:txBody>
      </p:sp>
      <p:sp>
        <p:nvSpPr>
          <p:cNvPr id="3" name="TextBox 2"/>
          <p:cNvSpPr txBox="1"/>
          <p:nvPr/>
        </p:nvSpPr>
        <p:spPr>
          <a:xfrm>
            <a:off x="502920" y="1325880"/>
            <a:ext cx="11201400" cy="502920"/>
          </a:xfrm>
          <a:prstGeom prst="rect">
            <a:avLst/>
          </a:prstGeom>
          <a:noFill/>
        </p:spPr>
        <p:txBody>
          <a:bodyPr wrap="square" lIns="0" rIns="0" tIns="0" bIns="0" anchor="t">
            <a:spAutoFit/>
          </a:bodyPr>
          <a:lstStyle/>
          <a:p>
            <a:pPr algn="ctr">
              <a:lnSpc>
                <a:spcPct val="120000"/>
              </a:lnSpc>
            </a:pPr>
            <a:r>
              <a:rPr sz="1800" b="0" i="1">
                <a:solidFill>
                  <a:srgbClr val="065A82"/>
                </a:solidFill>
                <a:latin typeface="Arial"/>
              </a:rPr>
              <a:t>Definitions, history, classification.</a:t>
            </a:r>
          </a:p>
        </p:txBody>
      </p:sp>
      <p:sp>
        <p:nvSpPr>
          <p:cNvPr id="4" name="Rounded Rectangle 3"/>
          <p:cNvSpPr/>
          <p:nvPr/>
        </p:nvSpPr>
        <p:spPr>
          <a:xfrm>
            <a:off x="4037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0</a:t>
            </a:r>
          </a:p>
        </p:txBody>
      </p:sp>
      <p:sp>
        <p:nvSpPr>
          <p:cNvPr id="6" name="TextBox 5"/>
          <p:cNvSpPr txBox="1"/>
          <p:nvPr/>
        </p:nvSpPr>
        <p:spPr>
          <a:xfrm>
            <a:off x="4768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Intro</a:t>
            </a:r>
          </a:p>
        </p:txBody>
      </p:sp>
      <p:sp>
        <p:nvSpPr>
          <p:cNvPr id="7" name="TextBox 6"/>
          <p:cNvSpPr txBox="1"/>
          <p:nvPr/>
        </p:nvSpPr>
        <p:spPr>
          <a:xfrm>
            <a:off x="4768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Demo · instructor ·
central question</a:t>
            </a:r>
          </a:p>
        </p:txBody>
      </p:sp>
      <p:sp>
        <p:nvSpPr>
          <p:cNvPr id="8" name="Rounded Rectangle 7"/>
          <p:cNvSpPr/>
          <p:nvPr/>
        </p:nvSpPr>
        <p:spPr>
          <a:xfrm>
            <a:off x="2323947" y="2331720"/>
            <a:ext cx="1783080" cy="2926080"/>
          </a:xfrm>
          <a:prstGeom prst="roundRect">
            <a:avLst>
              <a:gd name="adj" fmla="val 17094"/>
            </a:avLst>
          </a:prstGeom>
          <a:solidFill>
            <a:srgbClr val="F0AB0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1</a:t>
            </a:r>
          </a:p>
        </p:txBody>
      </p:sp>
      <p:sp>
        <p:nvSpPr>
          <p:cNvPr id="10" name="TextBox 9"/>
          <p:cNvSpPr txBox="1"/>
          <p:nvPr/>
        </p:nvSpPr>
        <p:spPr>
          <a:xfrm>
            <a:off x="2397099" y="3520439"/>
            <a:ext cx="1636776" cy="96012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What is AI</a:t>
            </a:r>
          </a:p>
        </p:txBody>
      </p:sp>
      <p:sp>
        <p:nvSpPr>
          <p:cNvPr id="11" name="TextBox 10"/>
          <p:cNvSpPr txBox="1"/>
          <p:nvPr/>
        </p:nvSpPr>
        <p:spPr>
          <a:xfrm>
            <a:off x="2397099" y="4434840"/>
            <a:ext cx="1636776" cy="777240"/>
          </a:xfrm>
          <a:prstGeom prst="rect">
            <a:avLst/>
          </a:prstGeom>
          <a:noFill/>
        </p:spPr>
        <p:txBody>
          <a:bodyPr wrap="square" lIns="0" rIns="0" tIns="0" bIns="0" anchor="t">
            <a:spAutoFit/>
          </a:bodyPr>
          <a:lstStyle/>
          <a:p>
            <a:pPr algn="ctr">
              <a:lnSpc>
                <a:spcPct val="125000"/>
              </a:lnSpc>
            </a:pPr>
            <a:r>
              <a:rPr sz="1100" b="0" i="1">
                <a:solidFill>
                  <a:srgbClr val="FFFFFF"/>
                </a:solidFill>
                <a:latin typeface="Arial"/>
              </a:rPr>
              <a:t>Definitions,
history, turning point</a:t>
            </a:r>
          </a:p>
        </p:txBody>
      </p:sp>
      <p:sp>
        <p:nvSpPr>
          <p:cNvPr id="12" name="Rounded Rectangle 11"/>
          <p:cNvSpPr/>
          <p:nvPr/>
        </p:nvSpPr>
        <p:spPr>
          <a:xfrm>
            <a:off x="424418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2</a:t>
            </a:r>
          </a:p>
        </p:txBody>
      </p:sp>
      <p:sp>
        <p:nvSpPr>
          <p:cNvPr id="14" name="TextBox 13"/>
          <p:cNvSpPr txBox="1"/>
          <p:nvPr/>
        </p:nvSpPr>
        <p:spPr>
          <a:xfrm>
            <a:off x="431733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Where we
are now</a:t>
            </a:r>
          </a:p>
        </p:txBody>
      </p:sp>
      <p:sp>
        <p:nvSpPr>
          <p:cNvPr id="15" name="TextBox 14"/>
          <p:cNvSpPr txBox="1"/>
          <p:nvPr/>
        </p:nvSpPr>
        <p:spPr>
          <a:xfrm>
            <a:off x="431733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Market numbers
2022–2026</a:t>
            </a:r>
          </a:p>
        </p:txBody>
      </p:sp>
      <p:sp>
        <p:nvSpPr>
          <p:cNvPr id="16" name="Rounded Rectangle 15"/>
          <p:cNvSpPr/>
          <p:nvPr/>
        </p:nvSpPr>
        <p:spPr>
          <a:xfrm>
            <a:off x="616442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3</a:t>
            </a:r>
          </a:p>
        </p:txBody>
      </p:sp>
      <p:sp>
        <p:nvSpPr>
          <p:cNvPr id="18" name="TextBox 17"/>
          <p:cNvSpPr txBox="1"/>
          <p:nvPr/>
        </p:nvSpPr>
        <p:spPr>
          <a:xfrm>
            <a:off x="623757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Four ways to
implement</a:t>
            </a:r>
          </a:p>
        </p:txBody>
      </p:sp>
      <p:sp>
        <p:nvSpPr>
          <p:cNvPr id="19" name="TextBox 18"/>
          <p:cNvSpPr txBox="1"/>
          <p:nvPr/>
        </p:nvSpPr>
        <p:spPr>
          <a:xfrm>
            <a:off x="623757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Model · chat ·
agent · app</a:t>
            </a:r>
          </a:p>
        </p:txBody>
      </p:sp>
      <p:sp>
        <p:nvSpPr>
          <p:cNvPr id="20" name="Rounded Rectangle 19"/>
          <p:cNvSpPr/>
          <p:nvPr/>
        </p:nvSpPr>
        <p:spPr>
          <a:xfrm>
            <a:off x="808466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4</a:t>
            </a:r>
          </a:p>
        </p:txBody>
      </p:sp>
      <p:sp>
        <p:nvSpPr>
          <p:cNvPr id="22" name="TextBox 21"/>
          <p:cNvSpPr txBox="1"/>
          <p:nvPr/>
        </p:nvSpPr>
        <p:spPr>
          <a:xfrm>
            <a:off x="815781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Limits and
safety</a:t>
            </a:r>
          </a:p>
        </p:txBody>
      </p:sp>
      <p:sp>
        <p:nvSpPr>
          <p:cNvPr id="23" name="TextBox 22"/>
          <p:cNvSpPr txBox="1"/>
          <p:nvPr/>
        </p:nvSpPr>
        <p:spPr>
          <a:xfrm>
            <a:off x="815781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What AI breaks
and where it fails</a:t>
            </a:r>
          </a:p>
        </p:txBody>
      </p:sp>
      <p:sp>
        <p:nvSpPr>
          <p:cNvPr id="24" name="Rounded Rectangle 23"/>
          <p:cNvSpPr/>
          <p:nvPr/>
        </p:nvSpPr>
        <p:spPr>
          <a:xfrm>
            <a:off x="100049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5</a:t>
            </a:r>
          </a:p>
        </p:txBody>
      </p:sp>
      <p:sp>
        <p:nvSpPr>
          <p:cNvPr id="26" name="TextBox 25"/>
          <p:cNvSpPr txBox="1"/>
          <p:nvPr/>
        </p:nvSpPr>
        <p:spPr>
          <a:xfrm>
            <a:off x="100780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Wrap-up</a:t>
            </a:r>
          </a:p>
        </p:txBody>
      </p:sp>
      <p:sp>
        <p:nvSpPr>
          <p:cNvPr id="27" name="TextBox 26"/>
          <p:cNvSpPr txBox="1"/>
          <p:nvPr/>
        </p:nvSpPr>
        <p:spPr>
          <a:xfrm>
            <a:off x="100780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Recap ·
semester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There are many definitions of AI — because AI is a moving target.</a:t>
            </a:r>
          </a:p>
        </p:txBody>
      </p:sp>
      <p:sp>
        <p:nvSpPr>
          <p:cNvPr id="3" name="Rounded Rectangle 2"/>
          <p:cNvSpPr/>
          <p:nvPr/>
        </p:nvSpPr>
        <p:spPr>
          <a:xfrm>
            <a:off x="502920" y="1481328"/>
            <a:ext cx="5532120" cy="2194560"/>
          </a:xfrm>
          <a:prstGeom prst="roundRect">
            <a:avLst>
              <a:gd name="adj" fmla="val 1388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07492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Russell &amp; Norvig (AIMA, 2021)</a:t>
            </a:r>
          </a:p>
        </p:txBody>
      </p:sp>
      <p:sp>
        <p:nvSpPr>
          <p:cNvPr id="5" name="TextBox 4"/>
          <p:cNvSpPr txBox="1"/>
          <p:nvPr/>
        </p:nvSpPr>
        <p:spPr>
          <a:xfrm>
            <a:off x="731520" y="2029968"/>
            <a:ext cx="5074920" cy="1280160"/>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«AI = a system that thinks like a human, thinks rationally, acts like a human, or acts rationally (4 quadrants on 2 axes).»</a:t>
            </a:r>
          </a:p>
        </p:txBody>
      </p:sp>
      <p:sp>
        <p:nvSpPr>
          <p:cNvPr id="6" name="TextBox 5"/>
          <p:cNvSpPr txBox="1"/>
          <p:nvPr/>
        </p:nvSpPr>
        <p:spPr>
          <a:xfrm>
            <a:off x="731520" y="3310127"/>
            <a:ext cx="5074920" cy="292608"/>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Russell &amp; Norvig, AIMA, 4th ed., 2021 </a:t>
            </a:r>
            <a:r>
              <a:rPr sz="572" baseline="30000" b="0" i="1">
                <a:latin typeface="Arial"/>
                <a:cs typeface="Arial"/>
                <a:ea typeface="Arial"/>
                <a:solidFill>
                  <a:srgbClr val="1C7293"/>
                </a:solidFill>
              </a:rPr>
              <a:t>[1]</a:t>
            </a:r>
          </a:p>
        </p:txBody>
      </p:sp>
      <p:sp>
        <p:nvSpPr>
          <p:cNvPr id="7" name="Rounded Rectangle 6"/>
          <p:cNvSpPr/>
          <p:nvPr/>
        </p:nvSpPr>
        <p:spPr>
          <a:xfrm>
            <a:off x="6172200" y="1481328"/>
            <a:ext cx="5532120" cy="219456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5074920" cy="365760"/>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ISO/IEC 22989:2022</a:t>
            </a:r>
          </a:p>
        </p:txBody>
      </p:sp>
      <p:sp>
        <p:nvSpPr>
          <p:cNvPr id="9" name="TextBox 8"/>
          <p:cNvSpPr txBox="1"/>
          <p:nvPr/>
        </p:nvSpPr>
        <p:spPr>
          <a:xfrm>
            <a:off x="6400800" y="2029968"/>
            <a:ext cx="5074920" cy="1280160"/>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«An AI system is an engineered system that generates outputs (recommendations, predictions, decisions) for human-defined goals.»</a:t>
            </a:r>
          </a:p>
        </p:txBody>
      </p:sp>
      <p:sp>
        <p:nvSpPr>
          <p:cNvPr id="10" name="TextBox 9"/>
          <p:cNvSpPr txBox="1"/>
          <p:nvPr/>
        </p:nvSpPr>
        <p:spPr>
          <a:xfrm>
            <a:off x="6400800" y="3310127"/>
            <a:ext cx="5074920" cy="292608"/>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International standard ISO/IEC 22989:2022 — basis of the EU AI Act </a:t>
            </a:r>
            <a:r>
              <a:rPr sz="572" baseline="30000" b="0" i="1">
                <a:latin typeface="Arial"/>
                <a:cs typeface="Arial"/>
                <a:ea typeface="Arial"/>
                <a:solidFill>
                  <a:srgbClr val="1C7293"/>
                </a:solidFill>
              </a:rPr>
              <a:t>[2]</a:t>
            </a:r>
          </a:p>
        </p:txBody>
      </p:sp>
      <p:sp>
        <p:nvSpPr>
          <p:cNvPr id="11" name="Rounded Rectangle 10"/>
          <p:cNvSpPr/>
          <p:nvPr/>
        </p:nvSpPr>
        <p:spPr>
          <a:xfrm>
            <a:off x="502920" y="3813048"/>
            <a:ext cx="5532120" cy="2194560"/>
          </a:xfrm>
          <a:prstGeom prst="roundRect">
            <a:avLst>
              <a:gd name="adj" fmla="val 1388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77639"/>
            <a:ext cx="5074920" cy="365760"/>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Via learning (Mitchell, 1997)</a:t>
            </a:r>
          </a:p>
        </p:txBody>
      </p:sp>
      <p:sp>
        <p:nvSpPr>
          <p:cNvPr id="13" name="TextBox 12"/>
          <p:cNvSpPr txBox="1"/>
          <p:nvPr/>
        </p:nvSpPr>
        <p:spPr>
          <a:xfrm>
            <a:off x="731520" y="4361688"/>
            <a:ext cx="5074920" cy="1280160"/>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«A program improves with experience E on task T by measure P. If behavior emerges from a trained model — that is AI.»</a:t>
            </a:r>
          </a:p>
        </p:txBody>
      </p:sp>
      <p:sp>
        <p:nvSpPr>
          <p:cNvPr id="14" name="TextBox 13"/>
          <p:cNvSpPr txBox="1"/>
          <p:nvPr/>
        </p:nvSpPr>
        <p:spPr>
          <a:xfrm>
            <a:off x="731520" y="5641848"/>
            <a:ext cx="5074920" cy="292608"/>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Mitchell, Machine Learning, 1997 </a:t>
            </a:r>
            <a:r>
              <a:rPr sz="572" baseline="30000" b="0" i="1">
                <a:latin typeface="Arial"/>
                <a:cs typeface="Arial"/>
                <a:ea typeface="Arial"/>
                <a:solidFill>
                  <a:srgbClr val="1C7293"/>
                </a:solidFill>
              </a:rPr>
              <a:t>[3]</a:t>
            </a:r>
          </a:p>
        </p:txBody>
      </p:sp>
      <p:sp>
        <p:nvSpPr>
          <p:cNvPr id="15" name="Rounded Rectangle 14"/>
          <p:cNvSpPr/>
          <p:nvPr/>
        </p:nvSpPr>
        <p:spPr>
          <a:xfrm>
            <a:off x="6172200" y="3813048"/>
            <a:ext cx="5532120" cy="219456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39"/>
            <a:ext cx="5074920" cy="365760"/>
          </a:xfrm>
          <a:prstGeom prst="rect">
            <a:avLst/>
          </a:prstGeom>
          <a:noFill/>
        </p:spPr>
        <p:txBody>
          <a:bodyPr wrap="square" lIns="0" rIns="0" tIns="0" bIns="0" anchor="t">
            <a:spAutoFit/>
          </a:bodyPr>
          <a:lstStyle/>
          <a:p>
            <a:pPr algn="l">
              <a:lnSpc>
                <a:spcPct val="115000"/>
              </a:lnSpc>
            </a:pPr>
            <a:r>
              <a:rPr sz="1500" b="1" i="0">
                <a:solidFill>
                  <a:srgbClr val="1C7293"/>
                </a:solidFill>
                <a:latin typeface="Arial"/>
              </a:rPr>
              <a:t>Via benchmarks and AGI</a:t>
            </a:r>
          </a:p>
        </p:txBody>
      </p:sp>
      <p:sp>
        <p:nvSpPr>
          <p:cNvPr id="17" name="TextBox 16"/>
          <p:cNvSpPr txBox="1"/>
          <p:nvPr/>
        </p:nvSpPr>
        <p:spPr>
          <a:xfrm>
            <a:off x="6400800" y="4361688"/>
            <a:ext cx="5074920" cy="1280160"/>
          </a:xfrm>
          <a:prstGeom prst="rect">
            <a:avLst/>
          </a:prstGeom>
          <a:noFill/>
        </p:spPr>
        <p:txBody>
          <a:bodyPr wrap="square" lIns="0" rIns="0" tIns="0" bIns="0" anchor="t">
            <a:spAutoFit/>
          </a:bodyPr>
          <a:lstStyle/>
          <a:p>
            <a:pPr algn="l">
              <a:lnSpc>
                <a:spcPct val="122000"/>
              </a:lnSpc>
            </a:pPr>
            <a:r>
              <a:rPr sz="1400" b="0" i="0">
                <a:solidFill>
                  <a:srgbClr val="21295C"/>
                </a:solidFill>
                <a:latin typeface="Arial"/>
              </a:rPr>
              <a:t>«AI = whatever passes the Turing test or solves a benchmark at human level.» Searle's objection: behavior != understanding.</a:t>
            </a:r>
          </a:p>
        </p:txBody>
      </p:sp>
      <p:sp>
        <p:nvSpPr>
          <p:cNvPr id="18" name="TextBox 17"/>
          <p:cNvSpPr txBox="1"/>
          <p:nvPr/>
        </p:nvSpPr>
        <p:spPr>
          <a:xfrm>
            <a:off x="6400800" y="5641848"/>
            <a:ext cx="5074920" cy="292608"/>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Turing 1950 / Searle 1980 — Chinese Room </a:t>
            </a:r>
            <a:r>
              <a:rPr sz="572" baseline="30000" b="0" i="1">
                <a:latin typeface="Arial"/>
                <a:cs typeface="Arial"/>
                <a:ea typeface="Arial"/>
                <a:solidFill>
                  <a:srgbClr val="1C7293"/>
                </a:solidFill>
              </a:rPr>
              <a:t>[4]</a:t>
            </a:r>
          </a:p>
        </p:txBody>
      </p:sp>
      <p:sp>
        <p:nvSpPr>
          <p:cNvPr id="19" name="Rounded Rectangle 18"/>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AI Effect (Tesler):  «AI is whatever hasn't been done yet».  Once a technique starts working, people stop calling it AI.</a:t>
            </a:r>
          </a:p>
        </p:txBody>
      </p:sp>
      <p:sp>
        <p:nvSpPr>
          <p:cNvPr id="21" name="TextBox 20"/>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Russell &amp; Norvig — AIMA, 4th ed. (2021)</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ISO/IEC 22989:2022</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Mitchell — Machine Learning (1997)</a:t>
            </a:r>
            <a:r>
              <a:rPr sz="850" i="1">
                <a:solidFill>
                  <a:srgbClr val="1C7293"/>
                </a:solidFill>
                <a:latin typeface="Arial"/>
              </a:rPr>
              <a:t>   ·   </a:t>
            </a:r>
            <a:r>
              <a:rPr sz="850" b="1" i="1">
                <a:solidFill>
                  <a:srgbClr val="065A82"/>
                </a:solidFill>
                <a:latin typeface="Arial"/>
              </a:rPr>
              <a:t>[4] </a:t>
            </a:r>
            <a:r>
              <a:rPr sz="850" i="1">
                <a:solidFill>
                  <a:srgbClr val="1C7293"/>
                </a:solidFill>
                <a:latin typeface="Arial"/>
                <a:hlinkClick r:id="rId5"/>
              </a:rPr>
              <a:t>Searle — Chinese Room (1980) / Turing (1950)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300" b="1" i="0">
                <a:solidFill>
                  <a:srgbClr val="21295C"/>
                </a:solidFill>
                <a:latin typeface="Arial"/>
              </a:rPr>
              <a:t>The idea of a neural network is 13 years older than the term «artificial intelligence» itself.</a:t>
            </a:r>
          </a:p>
        </p:txBody>
      </p:sp>
      <p:pic>
        <p:nvPicPr>
          <p:cNvPr id="3" name="Picture 2" descr="lettvin-pitts-1959-crop.jpg"/>
          <p:cNvPicPr>
            <a:picLocks noChangeAspect="1"/>
          </p:cNvPicPr>
          <p:nvPr/>
        </p:nvPicPr>
        <p:blipFill>
          <a:blip r:embed="rId2"/>
          <a:stretch>
            <a:fillRect/>
          </a:stretch>
        </p:blipFill>
        <p:spPr>
          <a:xfrm>
            <a:off x="9877652" y="2148840"/>
            <a:ext cx="1811122" cy="2103120"/>
          </a:xfrm>
          <a:prstGeom prst="rect">
            <a:avLst/>
          </a:prstGeom>
        </p:spPr>
      </p:pic>
      <p:sp>
        <p:nvSpPr>
          <p:cNvPr id="4" name="Rectangle 3"/>
          <p:cNvSpPr/>
          <p:nvPr/>
        </p:nvSpPr>
        <p:spPr>
          <a:xfrm>
            <a:off x="9877652" y="2148840"/>
            <a:ext cx="1811122" cy="2103120"/>
          </a:xfrm>
          <a:prstGeom prst="rect">
            <a:avLst/>
          </a:prstGeom>
          <a:no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40492" y="4315968"/>
            <a:ext cx="2085442" cy="594360"/>
          </a:xfrm>
          <a:prstGeom prst="rect">
            <a:avLst/>
          </a:prstGeom>
          <a:noFill/>
        </p:spPr>
        <p:txBody>
          <a:bodyPr wrap="square" lIns="0" rIns="0" tIns="0" bIns="0" anchor="t">
            <a:spAutoFit/>
          </a:bodyPr>
          <a:lstStyle/>
          <a:p>
            <a:pPr algn="l">
              <a:lnSpc>
                <a:spcPct val="110000"/>
              </a:lnSpc>
            </a:pPr>
            <a:r>
              <a:rPr sz="780" b="0" i="1">
                <a:solidFill>
                  <a:srgbClr val="6B7685"/>
                </a:solidFill>
                <a:latin typeface="Arial"/>
              </a:rPr>
              <a:t>Pitts (right) and Lettvin, 1959 — the frog experiment at MIT (this is NOT a 1943 photo). Wikimedia Commons, CC BY-SA 3.0.</a:t>
            </a:r>
          </a:p>
        </p:txBody>
      </p:sp>
      <p:sp>
        <p:nvSpPr>
          <p:cNvPr id="6" name="Rounded Rectangle 5"/>
          <p:cNvSpPr/>
          <p:nvPr/>
        </p:nvSpPr>
        <p:spPr>
          <a:xfrm>
            <a:off x="502920" y="2148840"/>
            <a:ext cx="3841546" cy="2148840"/>
          </a:xfrm>
          <a:prstGeom prst="roundRect">
            <a:avLst>
              <a:gd name="adj" fmla="val 1418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404872"/>
            <a:ext cx="3841546" cy="822960"/>
          </a:xfrm>
          <a:prstGeom prst="rect">
            <a:avLst/>
          </a:prstGeom>
          <a:noFill/>
        </p:spPr>
        <p:txBody>
          <a:bodyPr wrap="square" lIns="0" rIns="0" tIns="0" bIns="0" anchor="t">
            <a:spAutoFit/>
          </a:bodyPr>
          <a:lstStyle/>
          <a:p>
            <a:pPr algn="ctr">
              <a:lnSpc>
                <a:spcPct val="115000"/>
              </a:lnSpc>
            </a:pPr>
            <a:r>
              <a:rPr sz="4600" b="1" i="0">
                <a:solidFill>
                  <a:srgbClr val="1C7293"/>
                </a:solidFill>
                <a:latin typeface="Arial"/>
              </a:rPr>
              <a:t>1943</a:t>
            </a:r>
          </a:p>
        </p:txBody>
      </p:sp>
      <p:sp>
        <p:nvSpPr>
          <p:cNvPr id="8" name="TextBox 7"/>
          <p:cNvSpPr txBox="1"/>
          <p:nvPr/>
        </p:nvSpPr>
        <p:spPr>
          <a:xfrm>
            <a:off x="722376" y="3319272"/>
            <a:ext cx="3402634" cy="868680"/>
          </a:xfrm>
          <a:prstGeom prst="rect">
            <a:avLst/>
          </a:prstGeom>
          <a:noFill/>
        </p:spPr>
        <p:txBody>
          <a:bodyPr wrap="square" lIns="0" rIns="0" tIns="0" bIns="0" anchor="t">
            <a:spAutoFit/>
          </a:bodyPr>
          <a:lstStyle/>
          <a:p>
            <a:pPr algn="ctr">
              <a:lnSpc>
                <a:spcPct val="122000"/>
              </a:lnSpc>
            </a:pPr>
            <a:r>
              <a:rPr sz="1150" b="0" i="1">
                <a:solidFill>
                  <a:srgbClr val="21295C"/>
                </a:solidFill>
                <a:latin typeface="Arial"/>
              </a:rPr>
              <a:t>McCulloch and Pitts </a:t>
            </a:r>
            <a:r>
              <a:rPr sz="598" baseline="30000" b="0" i="1">
                <a:latin typeface="Arial"/>
                <a:cs typeface="Arial"/>
                <a:ea typeface="Arial"/>
                <a:solidFill>
                  <a:srgbClr val="1C7293"/>
                </a:solidFill>
              </a:rPr>
              <a:t>[1]</a:t>
            </a:r>
            <a:r>
              <a:rPr sz="1150" b="0" i="1">
                <a:latin typeface="Arial"/>
                <a:cs typeface="Arial"/>
                <a:ea typeface="Arial"/>
                <a:solidFill>
                  <a:srgbClr val="21295C"/>
                </a:solidFill>
              </a:rPr>
              <a:t>:
the formal neuron
as a logic element</a:t>
            </a:r>
          </a:p>
        </p:txBody>
      </p:sp>
      <p:sp>
        <p:nvSpPr>
          <p:cNvPr id="9" name="Rounded Rectangle 8"/>
          <p:cNvSpPr/>
          <p:nvPr/>
        </p:nvSpPr>
        <p:spPr>
          <a:xfrm>
            <a:off x="5533186" y="2148840"/>
            <a:ext cx="3841546" cy="2148840"/>
          </a:xfrm>
          <a:prstGeom prst="roundRect">
            <a:avLst>
              <a:gd name="adj" fmla="val 14184"/>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3186" y="2404872"/>
            <a:ext cx="3841546" cy="822960"/>
          </a:xfrm>
          <a:prstGeom prst="rect">
            <a:avLst/>
          </a:prstGeom>
          <a:noFill/>
        </p:spPr>
        <p:txBody>
          <a:bodyPr wrap="square" lIns="0" rIns="0" tIns="0" bIns="0" anchor="t">
            <a:spAutoFit/>
          </a:bodyPr>
          <a:lstStyle/>
          <a:p>
            <a:pPr algn="ctr">
              <a:lnSpc>
                <a:spcPct val="115000"/>
              </a:lnSpc>
            </a:pPr>
            <a:r>
              <a:rPr sz="4600" b="1" i="0">
                <a:solidFill>
                  <a:srgbClr val="065A82"/>
                </a:solidFill>
                <a:latin typeface="Arial"/>
              </a:rPr>
              <a:t>1956</a:t>
            </a:r>
          </a:p>
        </p:txBody>
      </p:sp>
      <p:sp>
        <p:nvSpPr>
          <p:cNvPr id="11" name="TextBox 10"/>
          <p:cNvSpPr txBox="1"/>
          <p:nvPr/>
        </p:nvSpPr>
        <p:spPr>
          <a:xfrm>
            <a:off x="5752642" y="3319272"/>
            <a:ext cx="3402634" cy="868680"/>
          </a:xfrm>
          <a:prstGeom prst="rect">
            <a:avLst/>
          </a:prstGeom>
          <a:noFill/>
        </p:spPr>
        <p:txBody>
          <a:bodyPr wrap="square" lIns="0" rIns="0" tIns="0" bIns="0" anchor="t">
            <a:spAutoFit/>
          </a:bodyPr>
          <a:lstStyle/>
          <a:p>
            <a:pPr algn="ctr">
              <a:lnSpc>
                <a:spcPct val="122000"/>
              </a:lnSpc>
            </a:pPr>
            <a:r>
              <a:rPr sz="1150" b="0" i="1">
                <a:solidFill>
                  <a:srgbClr val="21295C"/>
                </a:solidFill>
                <a:latin typeface="Arial"/>
              </a:rPr>
              <a:t>Dartmouth conference:
the term «artificial intelligence»</a:t>
            </a:r>
          </a:p>
        </p:txBody>
      </p:sp>
      <p:sp>
        <p:nvSpPr>
          <p:cNvPr id="12" name="Rounded Rectangle 11"/>
          <p:cNvSpPr/>
          <p:nvPr/>
        </p:nvSpPr>
        <p:spPr>
          <a:xfrm>
            <a:off x="4481626" y="2651760"/>
            <a:ext cx="914399"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3026" y="2103120"/>
            <a:ext cx="1371599" cy="45720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13 years</a:t>
            </a:r>
          </a:p>
        </p:txBody>
      </p:sp>
      <p:sp>
        <p:nvSpPr>
          <p:cNvPr id="14" name="Rounded Rectangle 13"/>
          <p:cNvSpPr/>
          <p:nvPr/>
        </p:nvSpPr>
        <p:spPr>
          <a:xfrm>
            <a:off x="502920" y="4846320"/>
            <a:ext cx="11201400" cy="86868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919472"/>
            <a:ext cx="10835640" cy="722375"/>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The formal neuron solved no applied tasks, but it anticipated the connectionist tradition — the line of thought from which neural networks and the transformer would grow decades later.</a:t>
            </a:r>
          </a:p>
        </p:txBody>
      </p:sp>
      <p:sp>
        <p:nvSpPr>
          <p:cNvPr id="16" name="TextBox 15"/>
          <p:cNvSpPr txBox="1"/>
          <p:nvPr/>
        </p:nvSpPr>
        <p:spPr>
          <a:xfrm>
            <a:off x="502920" y="5925312"/>
            <a:ext cx="11201400" cy="457200"/>
          </a:xfrm>
          <a:prstGeom prst="rect">
            <a:avLst/>
          </a:prstGeom>
          <a:noFill/>
        </p:spPr>
        <p:txBody>
          <a:bodyPr wrap="square" lIns="0" rIns="0" tIns="0" bIns="0" anchor="t">
            <a:spAutoFit/>
          </a:bodyPr>
          <a:lstStyle/>
          <a:p>
            <a:pPr algn="ctr">
              <a:lnSpc>
                <a:spcPct val="125000"/>
              </a:lnSpc>
            </a:pPr>
            <a:r>
              <a:rPr sz="1400" b="1" i="1">
                <a:solidFill>
                  <a:srgbClr val="21295C"/>
                </a:solidFill>
                <a:latin typeface="Arial"/>
              </a:rPr>
              <a:t>The idea of a «neural network», at the theoretical level, is older than the term «artificial intelligence» itself.</a:t>
            </a:r>
          </a:p>
        </p:txBody>
      </p:sp>
      <p:sp>
        <p:nvSpPr>
          <p:cNvPr id="17" name="TextBox 16"/>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3"/>
              </a:rPr>
              <a:t>McCulloch &amp; Pitts (1943)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70 years of AI: breakthroughs, winters, the 2017 turning point. </a:t>
            </a:r>
            <a:r>
              <a:rPr sz="1456" baseline="30000" b="0" i="1">
                <a:latin typeface="Arial"/>
                <a:cs typeface="Arial"/>
                <a:ea typeface="Arial"/>
                <a:solidFill>
                  <a:srgbClr val="1C7293"/>
                </a:solidFill>
              </a:rPr>
              <a:t>[2]</a:t>
            </a:r>
            <a:r>
              <a:rPr sz="2800" b="1" i="0">
                <a:latin typeface="Arial"/>
                <a:cs typeface="Arial"/>
                <a:ea typeface="Arial"/>
                <a:solidFill>
                  <a:srgbClr val="21295C"/>
                </a:solidFill>
              </a:rPr>
              <a:t> </a:t>
            </a:r>
            <a:r>
              <a:rPr sz="1456" baseline="30000" b="0" i="1">
                <a:latin typeface="Arial"/>
                <a:cs typeface="Arial"/>
                <a:ea typeface="Arial"/>
                <a:solidFill>
                  <a:srgbClr val="1C7293"/>
                </a:solidFill>
              </a:rPr>
              <a:t>[3]</a:t>
            </a:r>
          </a:p>
        </p:txBody>
      </p:sp>
      <p:sp>
        <p:nvSpPr>
          <p:cNvPr id="3" name="Rounded Rectangle 2"/>
          <p:cNvSpPr/>
          <p:nvPr/>
        </p:nvSpPr>
        <p:spPr>
          <a:xfrm>
            <a:off x="502920" y="1572768"/>
            <a:ext cx="11201400" cy="1353312"/>
          </a:xfrm>
          <a:prstGeom prst="roundRect">
            <a:avLst>
              <a:gd name="adj" fmla="val 14000"/>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399032"/>
            <a:ext cx="2226564" cy="36576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99032"/>
            <a:ext cx="2226564"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Breakthroughs</a:t>
            </a:r>
          </a:p>
        </p:txBody>
      </p:sp>
      <p:sp>
        <p:nvSpPr>
          <p:cNvPr id="6" name="Rounded Rectangle 5"/>
          <p:cNvSpPr/>
          <p:nvPr/>
        </p:nvSpPr>
        <p:spPr>
          <a:xfrm>
            <a:off x="914400" y="2523744"/>
            <a:ext cx="10378440" cy="7315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07564" y="2459736"/>
            <a:ext cx="73152" cy="2011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Turing — a test for thinking</a:t>
            </a:r>
          </a:p>
        </p:txBody>
      </p:sp>
      <p:sp>
        <p:nvSpPr>
          <p:cNvPr id="9" name="TextBox 8"/>
          <p:cNvSpPr txBox="1"/>
          <p:nvPr/>
        </p:nvSpPr>
        <p:spPr>
          <a:xfrm>
            <a:off x="914400" y="2606040"/>
            <a:ext cx="3459480" cy="292608"/>
          </a:xfrm>
          <a:prstGeom prst="rect">
            <a:avLst/>
          </a:prstGeom>
          <a:noFill/>
        </p:spPr>
        <p:txBody>
          <a:bodyPr wrap="square" lIns="0" rIns="0" tIns="0" bIns="0" anchor="t">
            <a:spAutoFit/>
          </a:bodyPr>
          <a:lstStyle/>
          <a:p>
            <a:pPr algn="ctr">
              <a:lnSpc>
                <a:spcPct val="115000"/>
              </a:lnSpc>
            </a:pPr>
            <a:r>
              <a:rPr sz="1450" b="1" i="0">
                <a:solidFill>
                  <a:srgbClr val="1C7293"/>
                </a:solidFill>
                <a:latin typeface="Arial"/>
              </a:rPr>
              <a:t>1950</a:t>
            </a:r>
          </a:p>
        </p:txBody>
      </p:sp>
      <p:sp>
        <p:nvSpPr>
          <p:cNvPr id="10" name="Rectangle 9"/>
          <p:cNvSpPr/>
          <p:nvPr/>
        </p:nvSpPr>
        <p:spPr>
          <a:xfrm>
            <a:off x="6067044" y="2459736"/>
            <a:ext cx="73152" cy="2011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3880" y="1874519"/>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ELIZA — Weizenbaum</a:t>
            </a:r>
          </a:p>
        </p:txBody>
      </p:sp>
      <p:sp>
        <p:nvSpPr>
          <p:cNvPr id="12" name="TextBox 11"/>
          <p:cNvSpPr txBox="1"/>
          <p:nvPr/>
        </p:nvSpPr>
        <p:spPr>
          <a:xfrm>
            <a:off x="4373880" y="2606040"/>
            <a:ext cx="3459480" cy="292608"/>
          </a:xfrm>
          <a:prstGeom prst="rect">
            <a:avLst/>
          </a:prstGeom>
          <a:noFill/>
        </p:spPr>
        <p:txBody>
          <a:bodyPr wrap="square" lIns="0" rIns="0" tIns="0" bIns="0" anchor="t">
            <a:spAutoFit/>
          </a:bodyPr>
          <a:lstStyle/>
          <a:p>
            <a:pPr algn="ctr">
              <a:lnSpc>
                <a:spcPct val="115000"/>
              </a:lnSpc>
            </a:pPr>
            <a:r>
              <a:rPr sz="1450" b="1" i="0">
                <a:solidFill>
                  <a:srgbClr val="1C7293"/>
                </a:solidFill>
                <a:latin typeface="Arial"/>
              </a:rPr>
              <a:t>1966</a:t>
            </a:r>
          </a:p>
        </p:txBody>
      </p:sp>
      <p:sp>
        <p:nvSpPr>
          <p:cNvPr id="13" name="Rectangle 12"/>
          <p:cNvSpPr/>
          <p:nvPr/>
        </p:nvSpPr>
        <p:spPr>
          <a:xfrm>
            <a:off x="9526523" y="2459736"/>
            <a:ext cx="73152" cy="2011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33360" y="1874519"/>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Expert systems</a:t>
            </a:r>
          </a:p>
        </p:txBody>
      </p:sp>
      <p:sp>
        <p:nvSpPr>
          <p:cNvPr id="15" name="TextBox 14"/>
          <p:cNvSpPr txBox="1"/>
          <p:nvPr/>
        </p:nvSpPr>
        <p:spPr>
          <a:xfrm>
            <a:off x="7833360" y="2606040"/>
            <a:ext cx="3459480" cy="292608"/>
          </a:xfrm>
          <a:prstGeom prst="rect">
            <a:avLst/>
          </a:prstGeom>
          <a:noFill/>
        </p:spPr>
        <p:txBody>
          <a:bodyPr wrap="square" lIns="0" rIns="0" tIns="0" bIns="0" anchor="t">
            <a:spAutoFit/>
          </a:bodyPr>
          <a:lstStyle/>
          <a:p>
            <a:pPr algn="ctr">
              <a:lnSpc>
                <a:spcPct val="115000"/>
              </a:lnSpc>
            </a:pPr>
            <a:r>
              <a:rPr sz="1450" b="1" i="0">
                <a:solidFill>
                  <a:srgbClr val="1C7293"/>
                </a:solidFill>
                <a:latin typeface="Arial"/>
              </a:rPr>
              <a:t>1980s</a:t>
            </a:r>
          </a:p>
        </p:txBody>
      </p:sp>
      <p:sp>
        <p:nvSpPr>
          <p:cNvPr id="16" name="Rounded Rectangle 15"/>
          <p:cNvSpPr/>
          <p:nvPr/>
        </p:nvSpPr>
        <p:spPr>
          <a:xfrm>
            <a:off x="502920" y="3063239"/>
            <a:ext cx="11201400" cy="1353312"/>
          </a:xfrm>
          <a:prstGeom prst="roundRect">
            <a:avLst>
              <a:gd name="adj" fmla="val 14000"/>
            </a:avLst>
          </a:prstGeom>
          <a:solidFill>
            <a:srgbClr val="E6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2889503"/>
            <a:ext cx="2793491"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89503"/>
            <a:ext cx="2793491"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Winters and leaps</a:t>
            </a:r>
          </a:p>
        </p:txBody>
      </p:sp>
      <p:sp>
        <p:nvSpPr>
          <p:cNvPr id="19" name="TextBox 18"/>
          <p:cNvSpPr txBox="1"/>
          <p:nvPr/>
        </p:nvSpPr>
        <p:spPr>
          <a:xfrm>
            <a:off x="3799331" y="2889503"/>
            <a:ext cx="7630667" cy="365760"/>
          </a:xfrm>
          <a:prstGeom prst="rect">
            <a:avLst/>
          </a:prstGeom>
          <a:noFill/>
        </p:spPr>
        <p:txBody>
          <a:bodyPr wrap="square" lIns="0" rIns="0" tIns="0" bIns="0" anchor="ctr">
            <a:spAutoFit/>
          </a:bodyPr>
          <a:lstStyle/>
          <a:p>
            <a:pPr algn="l">
              <a:lnSpc>
                <a:spcPct val="115000"/>
              </a:lnSpc>
            </a:pPr>
            <a:r>
              <a:rPr sz="1050" b="0" i="1">
                <a:solidFill>
                  <a:srgbClr val="21295C"/>
                </a:solidFill>
                <a:latin typeface="Arial"/>
              </a:rPr>
              <a:t>funding leaves when promises fall through</a:t>
            </a:r>
          </a:p>
        </p:txBody>
      </p:sp>
      <p:sp>
        <p:nvSpPr>
          <p:cNvPr id="20" name="Rounded Rectangle 19"/>
          <p:cNvSpPr/>
          <p:nvPr/>
        </p:nvSpPr>
        <p:spPr>
          <a:xfrm>
            <a:off x="914400" y="4014215"/>
            <a:ext cx="10378440" cy="7315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07564" y="3950207"/>
            <a:ext cx="73152" cy="20116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364991"/>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1st winter — the Lighthill report</a:t>
            </a:r>
          </a:p>
        </p:txBody>
      </p:sp>
      <p:sp>
        <p:nvSpPr>
          <p:cNvPr id="23" name="TextBox 22"/>
          <p:cNvSpPr txBox="1"/>
          <p:nvPr/>
        </p:nvSpPr>
        <p:spPr>
          <a:xfrm>
            <a:off x="914400" y="4096512"/>
            <a:ext cx="3459480" cy="292608"/>
          </a:xfrm>
          <a:prstGeom prst="rect">
            <a:avLst/>
          </a:prstGeom>
          <a:noFill/>
        </p:spPr>
        <p:txBody>
          <a:bodyPr wrap="square" lIns="0" rIns="0" tIns="0" bIns="0" anchor="t">
            <a:spAutoFit/>
          </a:bodyPr>
          <a:lstStyle/>
          <a:p>
            <a:pPr algn="ctr">
              <a:lnSpc>
                <a:spcPct val="115000"/>
              </a:lnSpc>
            </a:pPr>
            <a:r>
              <a:rPr sz="1450" b="1" i="0">
                <a:solidFill>
                  <a:srgbClr val="065A82"/>
                </a:solidFill>
                <a:latin typeface="Arial"/>
              </a:rPr>
              <a:t>1974</a:t>
            </a:r>
          </a:p>
        </p:txBody>
      </p:sp>
      <p:sp>
        <p:nvSpPr>
          <p:cNvPr id="24" name="Rectangle 23"/>
          <p:cNvSpPr/>
          <p:nvPr/>
        </p:nvSpPr>
        <p:spPr>
          <a:xfrm>
            <a:off x="6067044" y="3950207"/>
            <a:ext cx="73152" cy="20116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3880" y="3364991"/>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Deep Blue — 200M pos/sec</a:t>
            </a:r>
          </a:p>
        </p:txBody>
      </p:sp>
      <p:sp>
        <p:nvSpPr>
          <p:cNvPr id="26" name="TextBox 25"/>
          <p:cNvSpPr txBox="1"/>
          <p:nvPr/>
        </p:nvSpPr>
        <p:spPr>
          <a:xfrm>
            <a:off x="4373880" y="4096512"/>
            <a:ext cx="3459480" cy="292608"/>
          </a:xfrm>
          <a:prstGeom prst="rect">
            <a:avLst/>
          </a:prstGeom>
          <a:noFill/>
        </p:spPr>
        <p:txBody>
          <a:bodyPr wrap="square" lIns="0" rIns="0" tIns="0" bIns="0" anchor="t">
            <a:spAutoFit/>
          </a:bodyPr>
          <a:lstStyle/>
          <a:p>
            <a:pPr algn="ctr">
              <a:lnSpc>
                <a:spcPct val="115000"/>
              </a:lnSpc>
            </a:pPr>
            <a:r>
              <a:rPr sz="1450" b="1" i="0">
                <a:solidFill>
                  <a:srgbClr val="065A82"/>
                </a:solidFill>
                <a:latin typeface="Arial"/>
              </a:rPr>
              <a:t>1997</a:t>
            </a:r>
          </a:p>
        </p:txBody>
      </p:sp>
      <p:sp>
        <p:nvSpPr>
          <p:cNvPr id="27" name="Rectangle 26"/>
          <p:cNvSpPr/>
          <p:nvPr/>
        </p:nvSpPr>
        <p:spPr>
          <a:xfrm>
            <a:off x="9526523" y="3950207"/>
            <a:ext cx="73152" cy="20116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33360" y="3364991"/>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AlexNet — GPU + DL</a:t>
            </a:r>
          </a:p>
        </p:txBody>
      </p:sp>
      <p:sp>
        <p:nvSpPr>
          <p:cNvPr id="29" name="TextBox 28"/>
          <p:cNvSpPr txBox="1"/>
          <p:nvPr/>
        </p:nvSpPr>
        <p:spPr>
          <a:xfrm>
            <a:off x="7833360" y="4096512"/>
            <a:ext cx="3459480" cy="292608"/>
          </a:xfrm>
          <a:prstGeom prst="rect">
            <a:avLst/>
          </a:prstGeom>
          <a:noFill/>
        </p:spPr>
        <p:txBody>
          <a:bodyPr wrap="square" lIns="0" rIns="0" tIns="0" bIns="0" anchor="t">
            <a:spAutoFit/>
          </a:bodyPr>
          <a:lstStyle/>
          <a:p>
            <a:pPr algn="ctr">
              <a:lnSpc>
                <a:spcPct val="115000"/>
              </a:lnSpc>
            </a:pPr>
            <a:r>
              <a:rPr sz="1450" b="1" i="0">
                <a:solidFill>
                  <a:srgbClr val="065A82"/>
                </a:solidFill>
                <a:latin typeface="Arial"/>
              </a:rPr>
              <a:t>2012</a:t>
            </a:r>
          </a:p>
        </p:txBody>
      </p:sp>
      <p:sp>
        <p:nvSpPr>
          <p:cNvPr id="30" name="Rounded Rectangle 29"/>
          <p:cNvSpPr/>
          <p:nvPr/>
        </p:nvSpPr>
        <p:spPr>
          <a:xfrm>
            <a:off x="502920" y="4553712"/>
            <a:ext cx="11201400" cy="1353312"/>
          </a:xfrm>
          <a:prstGeom prst="roundRect">
            <a:avLst>
              <a:gd name="adj" fmla="val 14000"/>
            </a:avLst>
          </a:prstGeom>
          <a:solidFill>
            <a:srgbClr val="E8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22960" y="4379975"/>
            <a:ext cx="3502152" cy="365760"/>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379975"/>
            <a:ext cx="3502152"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Turning point and boom</a:t>
            </a:r>
          </a:p>
        </p:txBody>
      </p:sp>
      <p:sp>
        <p:nvSpPr>
          <p:cNvPr id="33" name="Rounded Rectangle 32"/>
          <p:cNvSpPr/>
          <p:nvPr/>
        </p:nvSpPr>
        <p:spPr>
          <a:xfrm>
            <a:off x="914400" y="5504687"/>
            <a:ext cx="10378440" cy="73152"/>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70404" y="5138927"/>
            <a:ext cx="310896" cy="310896"/>
          </a:xfrm>
          <a:prstGeom prst="ellipse">
            <a:avLst/>
          </a:prstGeom>
          <a:solidFill>
            <a:srgbClr val="F0AB00"/>
          </a:solidFill>
          <a:ln w="22225">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855464"/>
            <a:ext cx="3459480" cy="384048"/>
          </a:xfrm>
          <a:prstGeom prst="rect">
            <a:avLst/>
          </a:prstGeom>
          <a:noFill/>
        </p:spPr>
        <p:txBody>
          <a:bodyPr wrap="square" lIns="0" rIns="0" tIns="0" bIns="0" anchor="t">
            <a:spAutoFit/>
          </a:bodyPr>
          <a:lstStyle/>
          <a:p>
            <a:pPr algn="ctr">
              <a:lnSpc>
                <a:spcPct val="105000"/>
              </a:lnSpc>
            </a:pPr>
            <a:r>
              <a:rPr sz="1250" b="1" i="0">
                <a:solidFill>
                  <a:srgbClr val="21295C"/>
                </a:solidFill>
                <a:latin typeface="Arial"/>
              </a:rPr>
              <a:t>«Attention Is All You Need»  ★</a:t>
            </a:r>
          </a:p>
        </p:txBody>
      </p:sp>
      <p:sp>
        <p:nvSpPr>
          <p:cNvPr id="36" name="Rounded Rectangle 35"/>
          <p:cNvSpPr/>
          <p:nvPr/>
        </p:nvSpPr>
        <p:spPr>
          <a:xfrm>
            <a:off x="2026920" y="5486399"/>
            <a:ext cx="1234440" cy="40233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495543"/>
            <a:ext cx="3459480" cy="365760"/>
          </a:xfrm>
          <a:prstGeom prst="rect">
            <a:avLst/>
          </a:prstGeom>
          <a:noFill/>
        </p:spPr>
        <p:txBody>
          <a:bodyPr wrap="square" lIns="0" rIns="0" tIns="0" bIns="0" anchor="t">
            <a:spAutoFit/>
          </a:bodyPr>
          <a:lstStyle/>
          <a:p>
            <a:pPr algn="ctr">
              <a:lnSpc>
                <a:spcPct val="115000"/>
              </a:lnSpc>
            </a:pPr>
            <a:r>
              <a:rPr sz="2200" b="1" i="0">
                <a:solidFill>
                  <a:srgbClr val="21295C"/>
                </a:solidFill>
                <a:latin typeface="Arial"/>
              </a:rPr>
              <a:t>2017</a:t>
            </a:r>
          </a:p>
        </p:txBody>
      </p:sp>
      <p:sp>
        <p:nvSpPr>
          <p:cNvPr id="38" name="Rectangle 37"/>
          <p:cNvSpPr/>
          <p:nvPr/>
        </p:nvSpPr>
        <p:spPr>
          <a:xfrm>
            <a:off x="6067044" y="5440679"/>
            <a:ext cx="73152" cy="201168"/>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73880" y="4855464"/>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ChatGPT — 1M in 5 days</a:t>
            </a:r>
          </a:p>
        </p:txBody>
      </p:sp>
      <p:sp>
        <p:nvSpPr>
          <p:cNvPr id="40" name="TextBox 39"/>
          <p:cNvSpPr txBox="1"/>
          <p:nvPr/>
        </p:nvSpPr>
        <p:spPr>
          <a:xfrm>
            <a:off x="4373880" y="5586983"/>
            <a:ext cx="3459480" cy="292608"/>
          </a:xfrm>
          <a:prstGeom prst="rect">
            <a:avLst/>
          </a:prstGeom>
          <a:noFill/>
        </p:spPr>
        <p:txBody>
          <a:bodyPr wrap="square" lIns="0" rIns="0" tIns="0" bIns="0" anchor="t">
            <a:spAutoFit/>
          </a:bodyPr>
          <a:lstStyle/>
          <a:p>
            <a:pPr algn="ctr">
              <a:lnSpc>
                <a:spcPct val="115000"/>
              </a:lnSpc>
            </a:pPr>
            <a:r>
              <a:rPr sz="1450" b="1" i="0">
                <a:solidFill>
                  <a:srgbClr val="21295C"/>
                </a:solidFill>
                <a:latin typeface="Arial"/>
              </a:rPr>
              <a:t>2022</a:t>
            </a:r>
          </a:p>
        </p:txBody>
      </p:sp>
      <p:sp>
        <p:nvSpPr>
          <p:cNvPr id="41" name="Rectangle 40"/>
          <p:cNvSpPr/>
          <p:nvPr/>
        </p:nvSpPr>
        <p:spPr>
          <a:xfrm>
            <a:off x="9526523" y="5440679"/>
            <a:ext cx="73152" cy="201168"/>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33360" y="4855464"/>
            <a:ext cx="3459480" cy="384048"/>
          </a:xfrm>
          <a:prstGeom prst="rect">
            <a:avLst/>
          </a:prstGeom>
          <a:noFill/>
        </p:spPr>
        <p:txBody>
          <a:bodyPr wrap="square" lIns="0" rIns="0" tIns="0" bIns="0" anchor="t">
            <a:spAutoFit/>
          </a:bodyPr>
          <a:lstStyle/>
          <a:p>
            <a:pPr algn="ctr">
              <a:lnSpc>
                <a:spcPct val="105000"/>
              </a:lnSpc>
            </a:pPr>
            <a:r>
              <a:rPr sz="1250" b="0" i="0">
                <a:solidFill>
                  <a:srgbClr val="21295C"/>
                </a:solidFill>
                <a:latin typeface="Arial"/>
              </a:rPr>
              <a:t>DeepSeek R1, Claude Code</a:t>
            </a:r>
          </a:p>
        </p:txBody>
      </p:sp>
      <p:sp>
        <p:nvSpPr>
          <p:cNvPr id="43" name="TextBox 42"/>
          <p:cNvSpPr txBox="1"/>
          <p:nvPr/>
        </p:nvSpPr>
        <p:spPr>
          <a:xfrm>
            <a:off x="7833360" y="5586983"/>
            <a:ext cx="3459480" cy="292608"/>
          </a:xfrm>
          <a:prstGeom prst="rect">
            <a:avLst/>
          </a:prstGeom>
          <a:noFill/>
        </p:spPr>
        <p:txBody>
          <a:bodyPr wrap="square" lIns="0" rIns="0" tIns="0" bIns="0" anchor="t">
            <a:spAutoFit/>
          </a:bodyPr>
          <a:lstStyle/>
          <a:p>
            <a:pPr algn="ctr">
              <a:lnSpc>
                <a:spcPct val="115000"/>
              </a:lnSpc>
            </a:pPr>
            <a:r>
              <a:rPr sz="1450" b="1" i="0">
                <a:solidFill>
                  <a:srgbClr val="21295C"/>
                </a:solidFill>
                <a:latin typeface="Arial"/>
              </a:rPr>
              <a:t>2025-26</a:t>
            </a:r>
          </a:p>
        </p:txBody>
      </p:sp>
      <p:sp>
        <p:nvSpPr>
          <p:cNvPr id="44" name="Rounded Rectangle 43"/>
          <p:cNvSpPr/>
          <p:nvPr/>
        </p:nvSpPr>
        <p:spPr>
          <a:xfrm>
            <a:off x="502920" y="5724144"/>
            <a:ext cx="11201400" cy="658368"/>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797296"/>
            <a:ext cx="10835640" cy="512063"/>
          </a:xfrm>
          <a:prstGeom prst="rect">
            <a:avLst/>
          </a:prstGeom>
          <a:noFill/>
        </p:spPr>
        <p:txBody>
          <a:bodyPr wrap="square" lIns="0" rIns="0" tIns="0" bIns="0" anchor="ctr">
            <a:spAutoFit/>
          </a:bodyPr>
          <a:lstStyle/>
          <a:p>
            <a:pPr algn="l">
              <a:lnSpc>
                <a:spcPct val="125000"/>
              </a:lnSpc>
            </a:pPr>
            <a:r>
              <a:rPr sz="1250" b="1" i="0">
                <a:solidFill>
                  <a:srgbClr val="21295C"/>
                </a:solidFill>
                <a:latin typeface="Arial"/>
              </a:rPr>
              <a:t>★ 2017 — Vaswani and 7 co-authors (Shazeer, Parmar, Uszkoreit, Jones, Gomez, Kaiser, Polosukhin) introduce the self-attention mechanism — the basis of all modern LLMs. As of May 2026 the paper has over 160,000 citations. </a:t>
            </a:r>
            <a:r>
              <a:rPr sz="650" baseline="30000" b="0" i="1">
                <a:latin typeface="Arial"/>
                <a:cs typeface="Arial"/>
                <a:ea typeface="Arial"/>
                <a:solidFill>
                  <a:srgbClr val="1C7293"/>
                </a:solidFill>
              </a:rPr>
              <a:t>[1]</a:t>
            </a:r>
          </a:p>
        </p:txBody>
      </p:sp>
      <p:sp>
        <p:nvSpPr>
          <p:cNvPr id="46" name="TextBox 45"/>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Vaswani et al. — Attention Is All You Need (2017)</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McCorduck — Machines Who Think (2004)</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Dhar — Paradigm Shifts in AI, CACM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Section 2 · Where we are now</a:t>
            </a:r>
          </a:p>
        </p:txBody>
      </p:sp>
      <p:sp>
        <p:nvSpPr>
          <p:cNvPr id="3" name="TextBox 2"/>
          <p:cNvSpPr txBox="1"/>
          <p:nvPr/>
        </p:nvSpPr>
        <p:spPr>
          <a:xfrm>
            <a:off x="502920" y="1325880"/>
            <a:ext cx="11201400" cy="502920"/>
          </a:xfrm>
          <a:prstGeom prst="rect">
            <a:avLst/>
          </a:prstGeom>
          <a:noFill/>
        </p:spPr>
        <p:txBody>
          <a:bodyPr wrap="square" lIns="0" rIns="0" tIns="0" bIns="0" anchor="t">
            <a:spAutoFit/>
          </a:bodyPr>
          <a:lstStyle/>
          <a:p>
            <a:pPr algn="ctr">
              <a:lnSpc>
                <a:spcPct val="120000"/>
              </a:lnSpc>
            </a:pPr>
            <a:r>
              <a:rPr sz="1800" b="0" i="1">
                <a:solidFill>
                  <a:srgbClr val="065A82"/>
                </a:solidFill>
                <a:latin typeface="Arial"/>
              </a:rPr>
              <a:t>AI as infrastructure, breakthroughs 2023–2026.</a:t>
            </a:r>
          </a:p>
        </p:txBody>
      </p:sp>
      <p:sp>
        <p:nvSpPr>
          <p:cNvPr id="4" name="Rounded Rectangle 3"/>
          <p:cNvSpPr/>
          <p:nvPr/>
        </p:nvSpPr>
        <p:spPr>
          <a:xfrm>
            <a:off x="4037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0</a:t>
            </a:r>
          </a:p>
        </p:txBody>
      </p:sp>
      <p:sp>
        <p:nvSpPr>
          <p:cNvPr id="6" name="TextBox 5"/>
          <p:cNvSpPr txBox="1"/>
          <p:nvPr/>
        </p:nvSpPr>
        <p:spPr>
          <a:xfrm>
            <a:off x="4768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Intro</a:t>
            </a:r>
          </a:p>
        </p:txBody>
      </p:sp>
      <p:sp>
        <p:nvSpPr>
          <p:cNvPr id="7" name="TextBox 6"/>
          <p:cNvSpPr txBox="1"/>
          <p:nvPr/>
        </p:nvSpPr>
        <p:spPr>
          <a:xfrm>
            <a:off x="4768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Demo · instructor ·
central question</a:t>
            </a:r>
          </a:p>
        </p:txBody>
      </p:sp>
      <p:sp>
        <p:nvSpPr>
          <p:cNvPr id="8" name="Rounded Rectangle 7"/>
          <p:cNvSpPr/>
          <p:nvPr/>
        </p:nvSpPr>
        <p:spPr>
          <a:xfrm>
            <a:off x="232394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1</a:t>
            </a:r>
          </a:p>
        </p:txBody>
      </p:sp>
      <p:sp>
        <p:nvSpPr>
          <p:cNvPr id="10" name="TextBox 9"/>
          <p:cNvSpPr txBox="1"/>
          <p:nvPr/>
        </p:nvSpPr>
        <p:spPr>
          <a:xfrm>
            <a:off x="239709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What is AI</a:t>
            </a:r>
          </a:p>
        </p:txBody>
      </p:sp>
      <p:sp>
        <p:nvSpPr>
          <p:cNvPr id="11" name="TextBox 10"/>
          <p:cNvSpPr txBox="1"/>
          <p:nvPr/>
        </p:nvSpPr>
        <p:spPr>
          <a:xfrm>
            <a:off x="239709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Definitions,
history, turning point</a:t>
            </a:r>
          </a:p>
        </p:txBody>
      </p:sp>
      <p:sp>
        <p:nvSpPr>
          <p:cNvPr id="12" name="Rounded Rectangle 11"/>
          <p:cNvSpPr/>
          <p:nvPr/>
        </p:nvSpPr>
        <p:spPr>
          <a:xfrm>
            <a:off x="4244187" y="2331720"/>
            <a:ext cx="1783080" cy="2926080"/>
          </a:xfrm>
          <a:prstGeom prst="roundRect">
            <a:avLst>
              <a:gd name="adj" fmla="val 17094"/>
            </a:avLst>
          </a:prstGeom>
          <a:solidFill>
            <a:srgbClr val="F0AB0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2</a:t>
            </a:r>
          </a:p>
        </p:txBody>
      </p:sp>
      <p:sp>
        <p:nvSpPr>
          <p:cNvPr id="14" name="TextBox 13"/>
          <p:cNvSpPr txBox="1"/>
          <p:nvPr/>
        </p:nvSpPr>
        <p:spPr>
          <a:xfrm>
            <a:off x="4317339" y="3520439"/>
            <a:ext cx="1636776" cy="96012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Where we
are now</a:t>
            </a:r>
          </a:p>
        </p:txBody>
      </p:sp>
      <p:sp>
        <p:nvSpPr>
          <p:cNvPr id="15" name="TextBox 14"/>
          <p:cNvSpPr txBox="1"/>
          <p:nvPr/>
        </p:nvSpPr>
        <p:spPr>
          <a:xfrm>
            <a:off x="4317339" y="4434840"/>
            <a:ext cx="1636776" cy="777240"/>
          </a:xfrm>
          <a:prstGeom prst="rect">
            <a:avLst/>
          </a:prstGeom>
          <a:noFill/>
        </p:spPr>
        <p:txBody>
          <a:bodyPr wrap="square" lIns="0" rIns="0" tIns="0" bIns="0" anchor="t">
            <a:spAutoFit/>
          </a:bodyPr>
          <a:lstStyle/>
          <a:p>
            <a:pPr algn="ctr">
              <a:lnSpc>
                <a:spcPct val="125000"/>
              </a:lnSpc>
            </a:pPr>
            <a:r>
              <a:rPr sz="1100" b="0" i="1">
                <a:solidFill>
                  <a:srgbClr val="FFFFFF"/>
                </a:solidFill>
                <a:latin typeface="Arial"/>
              </a:rPr>
              <a:t>Market numbers
2022–2026</a:t>
            </a:r>
          </a:p>
        </p:txBody>
      </p:sp>
      <p:sp>
        <p:nvSpPr>
          <p:cNvPr id="16" name="Rounded Rectangle 15"/>
          <p:cNvSpPr/>
          <p:nvPr/>
        </p:nvSpPr>
        <p:spPr>
          <a:xfrm>
            <a:off x="616442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3</a:t>
            </a:r>
          </a:p>
        </p:txBody>
      </p:sp>
      <p:sp>
        <p:nvSpPr>
          <p:cNvPr id="18" name="TextBox 17"/>
          <p:cNvSpPr txBox="1"/>
          <p:nvPr/>
        </p:nvSpPr>
        <p:spPr>
          <a:xfrm>
            <a:off x="623757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Four ways to
implement</a:t>
            </a:r>
          </a:p>
        </p:txBody>
      </p:sp>
      <p:sp>
        <p:nvSpPr>
          <p:cNvPr id="19" name="TextBox 18"/>
          <p:cNvSpPr txBox="1"/>
          <p:nvPr/>
        </p:nvSpPr>
        <p:spPr>
          <a:xfrm>
            <a:off x="623757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Model · chat ·
agent · app</a:t>
            </a:r>
          </a:p>
        </p:txBody>
      </p:sp>
      <p:sp>
        <p:nvSpPr>
          <p:cNvPr id="20" name="Rounded Rectangle 19"/>
          <p:cNvSpPr/>
          <p:nvPr/>
        </p:nvSpPr>
        <p:spPr>
          <a:xfrm>
            <a:off x="808466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4</a:t>
            </a:r>
          </a:p>
        </p:txBody>
      </p:sp>
      <p:sp>
        <p:nvSpPr>
          <p:cNvPr id="22" name="TextBox 21"/>
          <p:cNvSpPr txBox="1"/>
          <p:nvPr/>
        </p:nvSpPr>
        <p:spPr>
          <a:xfrm>
            <a:off x="815781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Limits and
safety</a:t>
            </a:r>
          </a:p>
        </p:txBody>
      </p:sp>
      <p:sp>
        <p:nvSpPr>
          <p:cNvPr id="23" name="TextBox 22"/>
          <p:cNvSpPr txBox="1"/>
          <p:nvPr/>
        </p:nvSpPr>
        <p:spPr>
          <a:xfrm>
            <a:off x="815781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What AI breaks
and where it fails</a:t>
            </a:r>
          </a:p>
        </p:txBody>
      </p:sp>
      <p:sp>
        <p:nvSpPr>
          <p:cNvPr id="24" name="Rounded Rectangle 23"/>
          <p:cNvSpPr/>
          <p:nvPr/>
        </p:nvSpPr>
        <p:spPr>
          <a:xfrm>
            <a:off x="100049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5</a:t>
            </a:r>
          </a:p>
        </p:txBody>
      </p:sp>
      <p:sp>
        <p:nvSpPr>
          <p:cNvPr id="26" name="TextBox 25"/>
          <p:cNvSpPr txBox="1"/>
          <p:nvPr/>
        </p:nvSpPr>
        <p:spPr>
          <a:xfrm>
            <a:off x="100780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Wrap-up</a:t>
            </a:r>
          </a:p>
        </p:txBody>
      </p:sp>
      <p:sp>
        <p:nvSpPr>
          <p:cNvPr id="27" name="TextBox 26"/>
          <p:cNvSpPr txBox="1"/>
          <p:nvPr/>
        </p:nvSpPr>
        <p:spPr>
          <a:xfrm>
            <a:off x="100780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Recap ·
semester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AI became infrastructure in 3 years: 900M users, 51% of developers daily, 46% of Copilot code.</a:t>
            </a:r>
          </a:p>
        </p:txBody>
      </p:sp>
      <p:sp>
        <p:nvSpPr>
          <p:cNvPr id="3" name="Rounded Rectangle 2"/>
          <p:cNvSpPr/>
          <p:nvPr/>
        </p:nvSpPr>
        <p:spPr>
          <a:xfrm>
            <a:off x="502920" y="1828800"/>
            <a:ext cx="5532120" cy="1691640"/>
          </a:xfrm>
          <a:prstGeom prst="roundRect">
            <a:avLst>
              <a:gd name="adj" fmla="val 1801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ucide-users-2-blue.png"/>
          <p:cNvPicPr>
            <a:picLocks noChangeAspect="1"/>
          </p:cNvPicPr>
          <p:nvPr/>
        </p:nvPicPr>
        <p:blipFill>
          <a:blip r:embed="rId2"/>
          <a:stretch>
            <a:fillRect/>
          </a:stretch>
        </p:blipFill>
        <p:spPr>
          <a:xfrm>
            <a:off x="5257800" y="2057400"/>
            <a:ext cx="502920" cy="502920"/>
          </a:xfrm>
          <a:prstGeom prst="rect">
            <a:avLst/>
          </a:prstGeom>
        </p:spPr>
      </p:pic>
      <p:sp>
        <p:nvSpPr>
          <p:cNvPr id="5" name="TextBox 4"/>
          <p:cNvSpPr txBox="1"/>
          <p:nvPr/>
        </p:nvSpPr>
        <p:spPr>
          <a:xfrm>
            <a:off x="777240" y="2011680"/>
            <a:ext cx="4251960" cy="777240"/>
          </a:xfrm>
          <a:prstGeom prst="rect">
            <a:avLst/>
          </a:prstGeom>
          <a:noFill/>
        </p:spPr>
        <p:txBody>
          <a:bodyPr wrap="square" lIns="0" rIns="0" tIns="0" bIns="0" anchor="t">
            <a:spAutoFit/>
          </a:bodyPr>
          <a:lstStyle/>
          <a:p>
            <a:pPr algn="l">
              <a:lnSpc>
                <a:spcPct val="100000"/>
              </a:lnSpc>
            </a:pPr>
            <a:r>
              <a:rPr sz="4400" b="1" i="0">
                <a:solidFill>
                  <a:srgbClr val="065A82"/>
                </a:solidFill>
                <a:latin typeface="Arial"/>
              </a:rPr>
              <a:t>900M</a:t>
            </a:r>
          </a:p>
        </p:txBody>
      </p:sp>
      <p:sp>
        <p:nvSpPr>
          <p:cNvPr id="6" name="TextBox 5"/>
          <p:cNvSpPr txBox="1"/>
          <p:nvPr/>
        </p:nvSpPr>
        <p:spPr>
          <a:xfrm>
            <a:off x="777240" y="2697480"/>
            <a:ext cx="507492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WAU</a:t>
            </a:r>
          </a:p>
        </p:txBody>
      </p:sp>
      <p:sp>
        <p:nvSpPr>
          <p:cNvPr id="7" name="TextBox 6"/>
          <p:cNvSpPr txBox="1"/>
          <p:nvPr/>
        </p:nvSpPr>
        <p:spPr>
          <a:xfrm>
            <a:off x="777240" y="3017520"/>
            <a:ext cx="5074920" cy="292608"/>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ChatGPT, February 2026 </a:t>
            </a:r>
            <a:r>
              <a:rPr sz="520" baseline="30000" b="0" i="1">
                <a:latin typeface="Arial"/>
                <a:cs typeface="Arial"/>
                <a:ea typeface="Arial"/>
                <a:solidFill>
                  <a:srgbClr val="1C7293"/>
                </a:solidFill>
              </a:rPr>
              <a:t>[2]</a:t>
            </a:r>
          </a:p>
        </p:txBody>
      </p:sp>
      <p:sp>
        <p:nvSpPr>
          <p:cNvPr id="8" name="TextBox 7"/>
          <p:cNvSpPr txBox="1"/>
          <p:nvPr/>
        </p:nvSpPr>
        <p:spPr>
          <a:xfrm>
            <a:off x="777240" y="3264408"/>
            <a:ext cx="5074920" cy="256032"/>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OpenAI</a:t>
            </a:r>
          </a:p>
        </p:txBody>
      </p:sp>
      <p:sp>
        <p:nvSpPr>
          <p:cNvPr id="9" name="Rounded Rectangle 8"/>
          <p:cNvSpPr/>
          <p:nvPr/>
        </p:nvSpPr>
        <p:spPr>
          <a:xfrm>
            <a:off x="6172200" y="1828800"/>
            <a:ext cx="5532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cide-code-blue.png"/>
          <p:cNvPicPr>
            <a:picLocks noChangeAspect="1"/>
          </p:cNvPicPr>
          <p:nvPr/>
        </p:nvPicPr>
        <p:blipFill>
          <a:blip r:embed="rId3"/>
          <a:stretch>
            <a:fillRect/>
          </a:stretch>
        </p:blipFill>
        <p:spPr>
          <a:xfrm>
            <a:off x="10927080" y="2057400"/>
            <a:ext cx="502920" cy="502920"/>
          </a:xfrm>
          <a:prstGeom prst="rect">
            <a:avLst/>
          </a:prstGeom>
        </p:spPr>
      </p:pic>
      <p:sp>
        <p:nvSpPr>
          <p:cNvPr id="11" name="TextBox 10"/>
          <p:cNvSpPr txBox="1"/>
          <p:nvPr/>
        </p:nvSpPr>
        <p:spPr>
          <a:xfrm>
            <a:off x="6446520" y="2011680"/>
            <a:ext cx="4251960" cy="777240"/>
          </a:xfrm>
          <a:prstGeom prst="rect">
            <a:avLst/>
          </a:prstGeom>
          <a:noFill/>
        </p:spPr>
        <p:txBody>
          <a:bodyPr wrap="square" lIns="0" rIns="0" tIns="0" bIns="0" anchor="t">
            <a:spAutoFit/>
          </a:bodyPr>
          <a:lstStyle/>
          <a:p>
            <a:pPr algn="l">
              <a:lnSpc>
                <a:spcPct val="100000"/>
              </a:lnSpc>
            </a:pPr>
            <a:r>
              <a:rPr sz="4400" b="1" i="0">
                <a:solidFill>
                  <a:srgbClr val="1C7293"/>
                </a:solidFill>
                <a:latin typeface="Arial"/>
              </a:rPr>
              <a:t>51%</a:t>
            </a:r>
          </a:p>
        </p:txBody>
      </p:sp>
      <p:sp>
        <p:nvSpPr>
          <p:cNvPr id="12" name="TextBox 11"/>
          <p:cNvSpPr txBox="1"/>
          <p:nvPr/>
        </p:nvSpPr>
        <p:spPr>
          <a:xfrm>
            <a:off x="6446520" y="2697480"/>
            <a:ext cx="507492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daily</a:t>
            </a:r>
          </a:p>
        </p:txBody>
      </p:sp>
      <p:sp>
        <p:nvSpPr>
          <p:cNvPr id="13" name="TextBox 12"/>
          <p:cNvSpPr txBox="1"/>
          <p:nvPr/>
        </p:nvSpPr>
        <p:spPr>
          <a:xfrm>
            <a:off x="6446520" y="3017520"/>
            <a:ext cx="5074920" cy="292608"/>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Stack Overflow Dev Survey 2025 </a:t>
            </a:r>
            <a:r>
              <a:rPr sz="520" baseline="30000" b="0" i="1">
                <a:latin typeface="Arial"/>
                <a:cs typeface="Arial"/>
                <a:ea typeface="Arial"/>
                <a:solidFill>
                  <a:srgbClr val="1C7293"/>
                </a:solidFill>
              </a:rPr>
              <a:t>[1]</a:t>
            </a:r>
          </a:p>
        </p:txBody>
      </p:sp>
      <p:sp>
        <p:nvSpPr>
          <p:cNvPr id="14" name="TextBox 13"/>
          <p:cNvSpPr txBox="1"/>
          <p:nvPr/>
        </p:nvSpPr>
        <p:spPr>
          <a:xfrm>
            <a:off x="6446520" y="3264408"/>
            <a:ext cx="5074920" cy="256032"/>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n=49k+, 177 countries</a:t>
            </a:r>
          </a:p>
        </p:txBody>
      </p:sp>
      <p:sp>
        <p:nvSpPr>
          <p:cNvPr id="15" name="Rounded Rectangle 14"/>
          <p:cNvSpPr/>
          <p:nvPr/>
        </p:nvSpPr>
        <p:spPr>
          <a:xfrm>
            <a:off x="502920" y="3657600"/>
            <a:ext cx="5532120" cy="1691640"/>
          </a:xfrm>
          <a:prstGeom prst="roundRect">
            <a:avLst>
              <a:gd name="adj" fmla="val 1801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40480"/>
            <a:ext cx="4251960" cy="777240"/>
          </a:xfrm>
          <a:prstGeom prst="rect">
            <a:avLst/>
          </a:prstGeom>
          <a:noFill/>
        </p:spPr>
        <p:txBody>
          <a:bodyPr wrap="square" lIns="0" rIns="0" tIns="0" bIns="0" anchor="t">
            <a:spAutoFit/>
          </a:bodyPr>
          <a:lstStyle/>
          <a:p>
            <a:pPr algn="l">
              <a:lnSpc>
                <a:spcPct val="100000"/>
              </a:lnSpc>
            </a:pPr>
            <a:r>
              <a:rPr sz="4400" b="1" i="0">
                <a:solidFill>
                  <a:srgbClr val="065A82"/>
                </a:solidFill>
                <a:latin typeface="Arial"/>
              </a:rPr>
              <a:t>46%</a:t>
            </a:r>
          </a:p>
        </p:txBody>
      </p:sp>
      <p:sp>
        <p:nvSpPr>
          <p:cNvPr id="17" name="TextBox 16"/>
          <p:cNvSpPr txBox="1"/>
          <p:nvPr/>
        </p:nvSpPr>
        <p:spPr>
          <a:xfrm>
            <a:off x="777240" y="4526280"/>
            <a:ext cx="507492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of Copilot code</a:t>
            </a:r>
          </a:p>
        </p:txBody>
      </p:sp>
      <p:sp>
        <p:nvSpPr>
          <p:cNvPr id="18" name="TextBox 17"/>
          <p:cNvSpPr txBox="1"/>
          <p:nvPr/>
        </p:nvSpPr>
        <p:spPr>
          <a:xfrm>
            <a:off x="777240" y="4846320"/>
            <a:ext cx="5074920" cy="292608"/>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GitHub Octoverse 2025 </a:t>
            </a:r>
            <a:r>
              <a:rPr sz="520" baseline="30000" b="0" i="1">
                <a:latin typeface="Arial"/>
                <a:cs typeface="Arial"/>
                <a:ea typeface="Arial"/>
                <a:solidFill>
                  <a:srgbClr val="1C7293"/>
                </a:solidFill>
              </a:rPr>
              <a:t>[3]</a:t>
            </a:r>
          </a:p>
        </p:txBody>
      </p:sp>
      <p:sp>
        <p:nvSpPr>
          <p:cNvPr id="19" name="TextBox 18"/>
          <p:cNvSpPr txBox="1"/>
          <p:nvPr/>
        </p:nvSpPr>
        <p:spPr>
          <a:xfrm>
            <a:off x="777240" y="5093207"/>
            <a:ext cx="5074920" cy="256032"/>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Java — 61%</a:t>
            </a:r>
          </a:p>
        </p:txBody>
      </p:sp>
      <p:sp>
        <p:nvSpPr>
          <p:cNvPr id="20" name="Rounded Rectangle 19"/>
          <p:cNvSpPr/>
          <p:nvPr/>
        </p:nvSpPr>
        <p:spPr>
          <a:xfrm>
            <a:off x="6172200" y="3657600"/>
            <a:ext cx="5532120" cy="1691640"/>
          </a:xfrm>
          <a:prstGeom prst="roundRect">
            <a:avLst>
              <a:gd name="adj" fmla="val 180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cide-dollar-sign-blue.png"/>
          <p:cNvPicPr>
            <a:picLocks noChangeAspect="1"/>
          </p:cNvPicPr>
          <p:nvPr/>
        </p:nvPicPr>
        <p:blipFill>
          <a:blip r:embed="rId4"/>
          <a:stretch>
            <a:fillRect/>
          </a:stretch>
        </p:blipFill>
        <p:spPr>
          <a:xfrm>
            <a:off x="10927080" y="3886200"/>
            <a:ext cx="502920" cy="502920"/>
          </a:xfrm>
          <a:prstGeom prst="rect">
            <a:avLst/>
          </a:prstGeom>
        </p:spPr>
      </p:pic>
      <p:sp>
        <p:nvSpPr>
          <p:cNvPr id="22" name="TextBox 21"/>
          <p:cNvSpPr txBox="1"/>
          <p:nvPr/>
        </p:nvSpPr>
        <p:spPr>
          <a:xfrm>
            <a:off x="6446520" y="3840480"/>
            <a:ext cx="4251960" cy="777240"/>
          </a:xfrm>
          <a:prstGeom prst="rect">
            <a:avLst/>
          </a:prstGeom>
          <a:noFill/>
        </p:spPr>
        <p:txBody>
          <a:bodyPr wrap="square" lIns="0" rIns="0" tIns="0" bIns="0" anchor="t">
            <a:spAutoFit/>
          </a:bodyPr>
          <a:lstStyle/>
          <a:p>
            <a:pPr algn="l">
              <a:lnSpc>
                <a:spcPct val="100000"/>
              </a:lnSpc>
            </a:pPr>
            <a:r>
              <a:rPr sz="3000" b="1" i="0">
                <a:solidFill>
                  <a:srgbClr val="1C7293"/>
                </a:solidFill>
                <a:latin typeface="Arial"/>
              </a:rPr>
              <a:t>$390.9B→$539.5B</a:t>
            </a:r>
          </a:p>
        </p:txBody>
      </p:sp>
      <p:sp>
        <p:nvSpPr>
          <p:cNvPr id="23" name="TextBox 22"/>
          <p:cNvSpPr txBox="1"/>
          <p:nvPr/>
        </p:nvSpPr>
        <p:spPr>
          <a:xfrm>
            <a:off x="6446520" y="4526280"/>
            <a:ext cx="5074920" cy="365760"/>
          </a:xfrm>
          <a:prstGeom prst="rect">
            <a:avLst/>
          </a:prstGeom>
          <a:noFill/>
        </p:spPr>
        <p:txBody>
          <a:bodyPr wrap="square" lIns="0" rIns="0" tIns="0" bIns="0" anchor="t">
            <a:spAutoFit/>
          </a:bodyPr>
          <a:lstStyle/>
          <a:p>
            <a:pPr algn="l">
              <a:lnSpc>
                <a:spcPct val="115000"/>
              </a:lnSpc>
            </a:pPr>
            <a:r>
              <a:rPr sz="1500" b="1" i="0">
                <a:solidFill>
                  <a:srgbClr val="21295C"/>
                </a:solidFill>
                <a:latin typeface="Arial"/>
              </a:rPr>
              <a:t>AI market 2025→2026</a:t>
            </a:r>
          </a:p>
        </p:txBody>
      </p:sp>
      <p:sp>
        <p:nvSpPr>
          <p:cNvPr id="24" name="TextBox 23"/>
          <p:cNvSpPr txBox="1"/>
          <p:nvPr/>
        </p:nvSpPr>
        <p:spPr>
          <a:xfrm>
            <a:off x="6446520" y="4846320"/>
            <a:ext cx="5074920" cy="292608"/>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Grand View Research, 2026 </a:t>
            </a:r>
            <a:r>
              <a:rPr sz="520" baseline="30000" b="0" i="1">
                <a:latin typeface="Arial"/>
                <a:cs typeface="Arial"/>
                <a:ea typeface="Arial"/>
                <a:solidFill>
                  <a:srgbClr val="1C7293"/>
                </a:solidFill>
              </a:rPr>
              <a:t>[4]</a:t>
            </a:r>
          </a:p>
        </p:txBody>
      </p:sp>
      <p:sp>
        <p:nvSpPr>
          <p:cNvPr id="25" name="TextBox 24"/>
          <p:cNvSpPr txBox="1"/>
          <p:nvPr/>
        </p:nvSpPr>
        <p:spPr>
          <a:xfrm>
            <a:off x="6446520" y="5093207"/>
            <a:ext cx="5074920" cy="256032"/>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Statista (software-only): ~$244–260B</a:t>
            </a:r>
          </a:p>
        </p:txBody>
      </p:sp>
      <p:sp>
        <p:nvSpPr>
          <p:cNvPr id="26" name="Rounded Rectangle 25"/>
          <p:cNvSpPr/>
          <p:nvPr/>
        </p:nvSpPr>
        <p:spPr>
          <a:xfrm>
            <a:off x="502920" y="5532120"/>
            <a:ext cx="11201400" cy="82296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605272"/>
            <a:ext cx="10835640" cy="676656"/>
          </a:xfrm>
          <a:prstGeom prst="rect">
            <a:avLst/>
          </a:prstGeom>
          <a:noFill/>
        </p:spPr>
        <p:txBody>
          <a:bodyPr wrap="square" lIns="0" rIns="0" tIns="0" bIns="0" anchor="ctr">
            <a:spAutoFit/>
          </a:bodyPr>
          <a:lstStyle/>
          <a:p>
            <a:pPr algn="l">
              <a:lnSpc>
                <a:spcPct val="125000"/>
              </a:lnSpc>
            </a:pPr>
            <a:r>
              <a:rPr sz="1400" b="1" i="0">
                <a:solidFill>
                  <a:srgbClr val="21295C"/>
                </a:solidFill>
                <a:latin typeface="Arial"/>
              </a:rPr>
              <a:t>Counter-fact: ~90% of AI pilots in Russia never reach production. CNews / Vedomosti / Intellectual Analytics, March 2026. </a:t>
            </a:r>
            <a:r>
              <a:rPr sz="728" baseline="30000" b="0" i="1">
                <a:latin typeface="Arial"/>
                <a:cs typeface="Arial"/>
                <a:ea typeface="Arial"/>
                <a:solidFill>
                  <a:srgbClr val="1C7293"/>
                </a:solidFill>
              </a:rPr>
              <a:t>[5]</a:t>
            </a:r>
          </a:p>
        </p:txBody>
      </p:sp>
      <p:sp>
        <p:nvSpPr>
          <p:cNvPr id="28" name="TextBox 27"/>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760" b="1" i="1">
                <a:solidFill>
                  <a:srgbClr val="065A82"/>
                </a:solidFill>
                <a:latin typeface="Arial"/>
              </a:rPr>
              <a:t>[1] </a:t>
            </a:r>
            <a:r>
              <a:rPr sz="760" i="1">
                <a:solidFill>
                  <a:srgbClr val="1C7293"/>
                </a:solidFill>
                <a:latin typeface="Arial"/>
                <a:hlinkClick r:id="rId5"/>
              </a:rPr>
              <a:t>Stack Overflow — Developer Survey 2025</a:t>
            </a:r>
            <a:r>
              <a:rPr sz="760" i="1">
                <a:solidFill>
                  <a:srgbClr val="1C7293"/>
                </a:solidFill>
                <a:latin typeface="Arial"/>
              </a:rPr>
              <a:t>   ·   </a:t>
            </a:r>
            <a:r>
              <a:rPr sz="760" b="1" i="1">
                <a:solidFill>
                  <a:srgbClr val="065A82"/>
                </a:solidFill>
                <a:latin typeface="Arial"/>
              </a:rPr>
              <a:t>[2] </a:t>
            </a:r>
            <a:r>
              <a:rPr sz="760" i="1">
                <a:solidFill>
                  <a:srgbClr val="1C7293"/>
                </a:solidFill>
                <a:latin typeface="Arial"/>
                <a:hlinkClick r:id="rId6"/>
              </a:rPr>
              <a:t>OpenAI — ChatGPT WAU (Feb 2026)</a:t>
            </a:r>
            <a:r>
              <a:rPr sz="760" i="1">
                <a:solidFill>
                  <a:srgbClr val="1C7293"/>
                </a:solidFill>
                <a:latin typeface="Arial"/>
              </a:rPr>
              <a:t>   ·   </a:t>
            </a:r>
            <a:r>
              <a:rPr sz="760" b="1" i="1">
                <a:solidFill>
                  <a:srgbClr val="065A82"/>
                </a:solidFill>
                <a:latin typeface="Arial"/>
              </a:rPr>
              <a:t>[3] </a:t>
            </a:r>
            <a:r>
              <a:rPr sz="760" i="1">
                <a:solidFill>
                  <a:srgbClr val="1C7293"/>
                </a:solidFill>
                <a:latin typeface="Arial"/>
                <a:hlinkClick r:id="rId7"/>
              </a:rPr>
              <a:t>GitHub — Octoverse 2025</a:t>
            </a:r>
            <a:r>
              <a:rPr sz="760" i="1">
                <a:solidFill>
                  <a:srgbClr val="1C7293"/>
                </a:solidFill>
                <a:latin typeface="Arial"/>
              </a:rPr>
              <a:t>   ·   </a:t>
            </a:r>
            <a:r>
              <a:rPr sz="760" b="1" i="1">
                <a:solidFill>
                  <a:srgbClr val="065A82"/>
                </a:solidFill>
                <a:latin typeface="Arial"/>
              </a:rPr>
              <a:t>[4] </a:t>
            </a:r>
            <a:r>
              <a:rPr sz="760" i="1">
                <a:solidFill>
                  <a:srgbClr val="1C7293"/>
                </a:solidFill>
                <a:latin typeface="Arial"/>
                <a:hlinkClick r:id="rId8"/>
              </a:rPr>
              <a:t>Grand View Research (2026)</a:t>
            </a:r>
            <a:r>
              <a:rPr sz="760" i="1">
                <a:solidFill>
                  <a:srgbClr val="1C7293"/>
                </a:solidFill>
                <a:latin typeface="Arial"/>
              </a:rPr>
              <a:t>   ·   </a:t>
            </a:r>
            <a:r>
              <a:rPr sz="760" b="1" i="1">
                <a:solidFill>
                  <a:srgbClr val="065A82"/>
                </a:solidFill>
                <a:latin typeface="Arial"/>
              </a:rPr>
              <a:t>[5] </a:t>
            </a:r>
            <a:r>
              <a:rPr sz="760" i="1">
                <a:solidFill>
                  <a:srgbClr val="1C7293"/>
                </a:solidFill>
                <a:latin typeface="Arial"/>
                <a:hlinkClick r:id="rId9"/>
              </a:rPr>
              <a:t>Vedomosti / Intellectual Analytics (Mar 2026)</a:t>
            </a:r>
            <a:r>
              <a:rPr sz="760" i="1">
                <a:solidFill>
                  <a:srgbClr val="1C7293"/>
                </a:solidFill>
                <a:latin typeface="Arial"/>
              </a:rPr>
              <a:t>   ·   </a:t>
            </a:r>
            <a:r>
              <a:rPr sz="760" b="1" i="1">
                <a:solidFill>
                  <a:srgbClr val="065A82"/>
                </a:solidFill>
                <a:latin typeface="Arial"/>
              </a:rPr>
              <a:t>[6] </a:t>
            </a:r>
            <a:r>
              <a:rPr sz="760" i="1">
                <a:solidFill>
                  <a:srgbClr val="1C7293"/>
                </a:solidFill>
                <a:latin typeface="Arial"/>
                <a:hlinkClick r:id="rId10"/>
              </a:rPr>
              <a:t>Gartner - press release (Oct 2024)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The space is open: 4 breakthroughs of 2023–2026 from non-incumbent players.</a:t>
            </a:r>
          </a:p>
        </p:txBody>
      </p:sp>
      <p:sp>
        <p:nvSpPr>
          <p:cNvPr id="3" name="Rounded Rectangle 2"/>
          <p:cNvSpPr/>
          <p:nvPr/>
        </p:nvSpPr>
        <p:spPr>
          <a:xfrm>
            <a:off x="357987" y="1874519"/>
            <a:ext cx="2697480" cy="3657600"/>
          </a:xfrm>
          <a:prstGeom prst="roundRect">
            <a:avLst>
              <a:gd name="adj" fmla="val 1129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57987" y="1874519"/>
            <a:ext cx="2697480" cy="64008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7987" y="1929384"/>
            <a:ext cx="2697480" cy="548640"/>
          </a:xfrm>
          <a:prstGeom prst="rect">
            <a:avLst/>
          </a:prstGeom>
          <a:noFill/>
        </p:spPr>
        <p:txBody>
          <a:bodyPr wrap="square" lIns="0" rIns="0" tIns="0" bIns="0" anchor="ctr">
            <a:spAutoFit/>
          </a:bodyPr>
          <a:lstStyle/>
          <a:p>
            <a:pPr algn="ctr">
              <a:lnSpc>
                <a:spcPct val="110000"/>
              </a:lnSpc>
            </a:pPr>
            <a:r>
              <a:rPr sz="1400" b="1" i="0">
                <a:solidFill>
                  <a:srgbClr val="FFFFFF"/>
                </a:solidFill>
                <a:latin typeface="Arial"/>
              </a:rPr>
              <a:t>September
2023</a:t>
            </a:r>
          </a:p>
        </p:txBody>
      </p:sp>
      <p:sp>
        <p:nvSpPr>
          <p:cNvPr id="6" name="TextBox 5"/>
          <p:cNvSpPr txBox="1"/>
          <p:nvPr/>
        </p:nvSpPr>
        <p:spPr>
          <a:xfrm>
            <a:off x="495147" y="2743200"/>
            <a:ext cx="2423160" cy="640080"/>
          </a:xfrm>
          <a:prstGeom prst="rect">
            <a:avLst/>
          </a:prstGeom>
          <a:noFill/>
        </p:spPr>
        <p:txBody>
          <a:bodyPr wrap="square" lIns="0" rIns="0" tIns="0" bIns="0" anchor="t">
            <a:spAutoFit/>
          </a:bodyPr>
          <a:lstStyle/>
          <a:p>
            <a:pPr algn="ctr">
              <a:lnSpc>
                <a:spcPct val="110000"/>
              </a:lnSpc>
            </a:pPr>
            <a:r>
              <a:rPr sz="2200" b="1" i="0">
                <a:solidFill>
                  <a:srgbClr val="21295C"/>
                </a:solidFill>
                <a:latin typeface="Arial"/>
              </a:rPr>
              <a:t>Mistral 7B</a:t>
            </a:r>
          </a:p>
        </p:txBody>
      </p:sp>
      <p:sp>
        <p:nvSpPr>
          <p:cNvPr id="7" name="TextBox 6"/>
          <p:cNvSpPr txBox="1"/>
          <p:nvPr/>
        </p:nvSpPr>
        <p:spPr>
          <a:xfrm>
            <a:off x="540867" y="3566160"/>
            <a:ext cx="2331720" cy="1280160"/>
          </a:xfrm>
          <a:prstGeom prst="rect">
            <a:avLst/>
          </a:prstGeom>
          <a:noFill/>
        </p:spPr>
        <p:txBody>
          <a:bodyPr wrap="square" lIns="0" rIns="0" tIns="0" bIns="0" anchor="t">
            <a:spAutoFit/>
          </a:bodyPr>
          <a:lstStyle/>
          <a:p>
            <a:pPr algn="ctr">
              <a:lnSpc>
                <a:spcPct val="130000"/>
              </a:lnSpc>
            </a:pPr>
            <a:r>
              <a:rPr sz="1400" b="0" i="0">
                <a:solidFill>
                  <a:srgbClr val="21295C"/>
                </a:solidFill>
                <a:latin typeface="Arial"/>
              </a:rPr>
              <a:t>Apache 2.0
beats Llama-2 13B</a:t>
            </a:r>
          </a:p>
        </p:txBody>
      </p:sp>
      <p:sp>
        <p:nvSpPr>
          <p:cNvPr id="8" name="TextBox 7"/>
          <p:cNvSpPr txBox="1"/>
          <p:nvPr/>
        </p:nvSpPr>
        <p:spPr>
          <a:xfrm>
            <a:off x="357987" y="5029200"/>
            <a:ext cx="269748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Mistral AI (FR) </a:t>
            </a:r>
            <a:r>
              <a:rPr sz="624" baseline="30000" b="0" i="1">
                <a:latin typeface="Arial"/>
                <a:cs typeface="Arial"/>
                <a:ea typeface="Arial"/>
                <a:solidFill>
                  <a:srgbClr val="1C7293"/>
                </a:solidFill>
              </a:rPr>
              <a:t>[1]</a:t>
            </a:r>
          </a:p>
        </p:txBody>
      </p:sp>
      <p:sp>
        <p:nvSpPr>
          <p:cNvPr id="9" name="Rounded Rectangle 8"/>
          <p:cNvSpPr/>
          <p:nvPr/>
        </p:nvSpPr>
        <p:spPr>
          <a:xfrm>
            <a:off x="3284067" y="1874519"/>
            <a:ext cx="2697480" cy="3657600"/>
          </a:xfrm>
          <a:prstGeom prst="roundRect">
            <a:avLst>
              <a:gd name="adj" fmla="val 11299"/>
            </a:avLst>
          </a:prstGeom>
          <a:solidFill>
            <a:srgbClr val="F4F7FA"/>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84067" y="1874519"/>
            <a:ext cx="2697480" cy="64008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84067" y="1929384"/>
            <a:ext cx="2697480" cy="548640"/>
          </a:xfrm>
          <a:prstGeom prst="rect">
            <a:avLst/>
          </a:prstGeom>
          <a:noFill/>
        </p:spPr>
        <p:txBody>
          <a:bodyPr wrap="square" lIns="0" rIns="0" tIns="0" bIns="0" anchor="ctr">
            <a:spAutoFit/>
          </a:bodyPr>
          <a:lstStyle/>
          <a:p>
            <a:pPr algn="ctr">
              <a:lnSpc>
                <a:spcPct val="110000"/>
              </a:lnSpc>
            </a:pPr>
            <a:r>
              <a:rPr sz="1400" b="1" i="0">
                <a:solidFill>
                  <a:srgbClr val="21295C"/>
                </a:solidFill>
                <a:latin typeface="Arial"/>
              </a:rPr>
              <a:t>January
2025</a:t>
            </a:r>
          </a:p>
        </p:txBody>
      </p:sp>
      <p:sp>
        <p:nvSpPr>
          <p:cNvPr id="12" name="TextBox 11"/>
          <p:cNvSpPr txBox="1"/>
          <p:nvPr/>
        </p:nvSpPr>
        <p:spPr>
          <a:xfrm>
            <a:off x="3421227" y="2743200"/>
            <a:ext cx="2423160" cy="640080"/>
          </a:xfrm>
          <a:prstGeom prst="rect">
            <a:avLst/>
          </a:prstGeom>
          <a:noFill/>
        </p:spPr>
        <p:txBody>
          <a:bodyPr wrap="square" lIns="0" rIns="0" tIns="0" bIns="0" anchor="t">
            <a:spAutoFit/>
          </a:bodyPr>
          <a:lstStyle/>
          <a:p>
            <a:pPr algn="ctr">
              <a:lnSpc>
                <a:spcPct val="110000"/>
              </a:lnSpc>
            </a:pPr>
            <a:r>
              <a:rPr sz="2200" b="1" i="0">
                <a:solidFill>
                  <a:srgbClr val="21295C"/>
                </a:solidFill>
                <a:latin typeface="Arial"/>
              </a:rPr>
              <a:t>DeepSeek R1</a:t>
            </a:r>
          </a:p>
        </p:txBody>
      </p:sp>
      <p:sp>
        <p:nvSpPr>
          <p:cNvPr id="13" name="TextBox 12"/>
          <p:cNvSpPr txBox="1"/>
          <p:nvPr/>
        </p:nvSpPr>
        <p:spPr>
          <a:xfrm>
            <a:off x="3466947" y="3566160"/>
            <a:ext cx="2331720" cy="1280160"/>
          </a:xfrm>
          <a:prstGeom prst="rect">
            <a:avLst/>
          </a:prstGeom>
          <a:noFill/>
        </p:spPr>
        <p:txBody>
          <a:bodyPr wrap="square" lIns="0" rIns="0" tIns="0" bIns="0" anchor="t">
            <a:spAutoFit/>
          </a:bodyPr>
          <a:lstStyle/>
          <a:p>
            <a:pPr algn="ctr">
              <a:lnSpc>
                <a:spcPct val="130000"/>
              </a:lnSpc>
            </a:pPr>
            <a:r>
              <a:rPr sz="1400" b="1" i="0">
                <a:solidFill>
                  <a:srgbClr val="F0AB00"/>
                </a:solidFill>
                <a:latin typeface="Arial"/>
              </a:rPr>
              <a:t>$589B
Nvidia drop in a day</a:t>
            </a:r>
          </a:p>
        </p:txBody>
      </p:sp>
      <p:sp>
        <p:nvSpPr>
          <p:cNvPr id="14" name="TextBox 13"/>
          <p:cNvSpPr txBox="1"/>
          <p:nvPr/>
        </p:nvSpPr>
        <p:spPr>
          <a:xfrm>
            <a:off x="3284067" y="5029200"/>
            <a:ext cx="269748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DeepSeek (CN) </a:t>
            </a:r>
            <a:r>
              <a:rPr sz="624" baseline="30000" b="0" i="1">
                <a:latin typeface="Arial"/>
                <a:cs typeface="Arial"/>
                <a:ea typeface="Arial"/>
                <a:solidFill>
                  <a:srgbClr val="1C7293"/>
                </a:solidFill>
              </a:rPr>
              <a:t>[2, 3, 4]</a:t>
            </a:r>
          </a:p>
        </p:txBody>
      </p:sp>
      <p:sp>
        <p:nvSpPr>
          <p:cNvPr id="15" name="Rounded Rectangle 14"/>
          <p:cNvSpPr/>
          <p:nvPr/>
        </p:nvSpPr>
        <p:spPr>
          <a:xfrm>
            <a:off x="6210147" y="1874519"/>
            <a:ext cx="2697480" cy="3657600"/>
          </a:xfrm>
          <a:prstGeom prst="roundRect">
            <a:avLst>
              <a:gd name="adj" fmla="val 1129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147" y="1874519"/>
            <a:ext cx="2697480" cy="64008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0147" y="1929384"/>
            <a:ext cx="2697480" cy="548640"/>
          </a:xfrm>
          <a:prstGeom prst="rect">
            <a:avLst/>
          </a:prstGeom>
          <a:noFill/>
        </p:spPr>
        <p:txBody>
          <a:bodyPr wrap="square" lIns="0" rIns="0" tIns="0" bIns="0" anchor="ctr">
            <a:spAutoFit/>
          </a:bodyPr>
          <a:lstStyle/>
          <a:p>
            <a:pPr algn="ctr">
              <a:lnSpc>
                <a:spcPct val="110000"/>
              </a:lnSpc>
            </a:pPr>
            <a:r>
              <a:rPr sz="1400" b="1" i="0">
                <a:solidFill>
                  <a:srgbClr val="FFFFFF"/>
                </a:solidFill>
                <a:latin typeface="Arial"/>
              </a:rPr>
              <a:t>November
2025</a:t>
            </a:r>
          </a:p>
        </p:txBody>
      </p:sp>
      <p:sp>
        <p:nvSpPr>
          <p:cNvPr id="18" name="TextBox 17"/>
          <p:cNvSpPr txBox="1"/>
          <p:nvPr/>
        </p:nvSpPr>
        <p:spPr>
          <a:xfrm>
            <a:off x="6347307" y="2743200"/>
            <a:ext cx="2423160" cy="640080"/>
          </a:xfrm>
          <a:prstGeom prst="rect">
            <a:avLst/>
          </a:prstGeom>
          <a:noFill/>
        </p:spPr>
        <p:txBody>
          <a:bodyPr wrap="square" lIns="0" rIns="0" tIns="0" bIns="0" anchor="t">
            <a:spAutoFit/>
          </a:bodyPr>
          <a:lstStyle/>
          <a:p>
            <a:pPr algn="ctr">
              <a:lnSpc>
                <a:spcPct val="110000"/>
              </a:lnSpc>
            </a:pPr>
            <a:r>
              <a:rPr sz="2200" b="1" i="0">
                <a:solidFill>
                  <a:srgbClr val="21295C"/>
                </a:solidFill>
                <a:latin typeface="Arial"/>
              </a:rPr>
              <a:t>OpenClaw</a:t>
            </a:r>
          </a:p>
        </p:txBody>
      </p:sp>
      <p:sp>
        <p:nvSpPr>
          <p:cNvPr id="19" name="TextBox 18"/>
          <p:cNvSpPr txBox="1"/>
          <p:nvPr/>
        </p:nvSpPr>
        <p:spPr>
          <a:xfrm>
            <a:off x="6393027" y="3566160"/>
            <a:ext cx="2331720" cy="1280160"/>
          </a:xfrm>
          <a:prstGeom prst="rect">
            <a:avLst/>
          </a:prstGeom>
          <a:noFill/>
        </p:spPr>
        <p:txBody>
          <a:bodyPr wrap="square" lIns="0" rIns="0" tIns="0" bIns="0" anchor="t">
            <a:spAutoFit/>
          </a:bodyPr>
          <a:lstStyle/>
          <a:p>
            <a:pPr algn="ctr">
              <a:lnSpc>
                <a:spcPct val="130000"/>
              </a:lnSpc>
            </a:pPr>
            <a:r>
              <a:rPr sz="1400" b="0" i="0">
                <a:solidFill>
                  <a:srgbClr val="21295C"/>
                </a:solidFill>
                <a:latin typeface="Arial"/>
              </a:rPr>
              <a:t>100K★ stars
in a quarter</a:t>
            </a:r>
          </a:p>
        </p:txBody>
      </p:sp>
      <p:sp>
        <p:nvSpPr>
          <p:cNvPr id="20" name="TextBox 19"/>
          <p:cNvSpPr txBox="1"/>
          <p:nvPr/>
        </p:nvSpPr>
        <p:spPr>
          <a:xfrm>
            <a:off x="6210147" y="5029200"/>
            <a:ext cx="269748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P. Steinberger </a:t>
            </a:r>
            <a:r>
              <a:rPr sz="624" baseline="30000" b="0" i="1">
                <a:latin typeface="Arial"/>
                <a:cs typeface="Arial"/>
                <a:ea typeface="Arial"/>
                <a:solidFill>
                  <a:srgbClr val="1C7293"/>
                </a:solidFill>
              </a:rPr>
              <a:t>[5]</a:t>
            </a:r>
          </a:p>
        </p:txBody>
      </p:sp>
      <p:sp>
        <p:nvSpPr>
          <p:cNvPr id="21" name="Rounded Rectangle 20"/>
          <p:cNvSpPr/>
          <p:nvPr/>
        </p:nvSpPr>
        <p:spPr>
          <a:xfrm>
            <a:off x="9136227" y="1874519"/>
            <a:ext cx="2697480" cy="3657600"/>
          </a:xfrm>
          <a:prstGeom prst="roundRect">
            <a:avLst>
              <a:gd name="adj" fmla="val 1129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36227" y="1874519"/>
            <a:ext cx="2697480" cy="64008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6227" y="1929384"/>
            <a:ext cx="2697480" cy="548640"/>
          </a:xfrm>
          <a:prstGeom prst="rect">
            <a:avLst/>
          </a:prstGeom>
          <a:noFill/>
        </p:spPr>
        <p:txBody>
          <a:bodyPr wrap="square" lIns="0" rIns="0" tIns="0" bIns="0" anchor="ctr">
            <a:spAutoFit/>
          </a:bodyPr>
          <a:lstStyle/>
          <a:p>
            <a:pPr algn="ctr">
              <a:lnSpc>
                <a:spcPct val="110000"/>
              </a:lnSpc>
            </a:pPr>
            <a:r>
              <a:rPr sz="1400" b="1" i="0">
                <a:solidFill>
                  <a:srgbClr val="FFFFFF"/>
                </a:solidFill>
                <a:latin typeface="Arial"/>
              </a:rPr>
              <a:t>February
2026</a:t>
            </a:r>
          </a:p>
        </p:txBody>
      </p:sp>
      <p:sp>
        <p:nvSpPr>
          <p:cNvPr id="24" name="TextBox 23"/>
          <p:cNvSpPr txBox="1"/>
          <p:nvPr/>
        </p:nvSpPr>
        <p:spPr>
          <a:xfrm>
            <a:off x="9273387" y="2743200"/>
            <a:ext cx="2423160" cy="640080"/>
          </a:xfrm>
          <a:prstGeom prst="rect">
            <a:avLst/>
          </a:prstGeom>
          <a:noFill/>
        </p:spPr>
        <p:txBody>
          <a:bodyPr wrap="square" lIns="0" rIns="0" tIns="0" bIns="0" anchor="t">
            <a:spAutoFit/>
          </a:bodyPr>
          <a:lstStyle/>
          <a:p>
            <a:pPr algn="ctr">
              <a:lnSpc>
                <a:spcPct val="110000"/>
              </a:lnSpc>
            </a:pPr>
            <a:r>
              <a:rPr sz="2200" b="1" i="0">
                <a:solidFill>
                  <a:srgbClr val="21295C"/>
                </a:solidFill>
                <a:latin typeface="Arial"/>
              </a:rPr>
              <a:t>llama.cpp</a:t>
            </a:r>
          </a:p>
        </p:txBody>
      </p:sp>
      <p:sp>
        <p:nvSpPr>
          <p:cNvPr id="25" name="TextBox 24"/>
          <p:cNvSpPr txBox="1"/>
          <p:nvPr/>
        </p:nvSpPr>
        <p:spPr>
          <a:xfrm>
            <a:off x="9319107" y="3566160"/>
            <a:ext cx="2331720" cy="1280160"/>
          </a:xfrm>
          <a:prstGeom prst="rect">
            <a:avLst/>
          </a:prstGeom>
          <a:noFill/>
        </p:spPr>
        <p:txBody>
          <a:bodyPr wrap="square" lIns="0" rIns="0" tIns="0" bIns="0" anchor="t">
            <a:spAutoFit/>
          </a:bodyPr>
          <a:lstStyle/>
          <a:p>
            <a:pPr algn="ctr">
              <a:lnSpc>
                <a:spcPct val="130000"/>
              </a:lnSpc>
            </a:pPr>
            <a:r>
              <a:rPr sz="1400" b="0" i="0">
                <a:solidFill>
                  <a:srgbClr val="21295C"/>
                </a:solidFill>
                <a:latin typeface="Arial"/>
              </a:rPr>
              <a:t>100K+★ on GitHub
faster than PyTorch</a:t>
            </a:r>
          </a:p>
        </p:txBody>
      </p:sp>
      <p:sp>
        <p:nvSpPr>
          <p:cNvPr id="26" name="TextBox 25"/>
          <p:cNvSpPr txBox="1"/>
          <p:nvPr/>
        </p:nvSpPr>
        <p:spPr>
          <a:xfrm>
            <a:off x="9136227" y="5029200"/>
            <a:ext cx="269748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G. Gerganov / ggml.ai </a:t>
            </a:r>
            <a:r>
              <a:rPr sz="624" baseline="30000" b="0" i="1">
                <a:latin typeface="Arial"/>
                <a:cs typeface="Arial"/>
                <a:ea typeface="Arial"/>
                <a:solidFill>
                  <a:srgbClr val="1C7293"/>
                </a:solidFill>
              </a:rPr>
              <a:t>[6]</a:t>
            </a:r>
          </a:p>
        </p:txBody>
      </p:sp>
      <p:sp>
        <p:nvSpPr>
          <p:cNvPr id="27" name="Rounded Rectangle 26"/>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Don't despair: serious breakthroughs come from different teams. This course is about durable concepts that survive model-generation turnover.</a:t>
            </a:r>
          </a:p>
        </p:txBody>
      </p:sp>
      <p:sp>
        <p:nvSpPr>
          <p:cNvPr id="29" name="TextBox 28"/>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760" b="1" i="1">
                <a:solidFill>
                  <a:srgbClr val="065A82"/>
                </a:solidFill>
                <a:latin typeface="Arial"/>
              </a:rPr>
              <a:t>[1] </a:t>
            </a:r>
            <a:r>
              <a:rPr sz="760" i="1">
                <a:solidFill>
                  <a:srgbClr val="1C7293"/>
                </a:solidFill>
                <a:latin typeface="Arial"/>
                <a:hlinkClick r:id="rId2"/>
              </a:rPr>
              <a:t>Mistral AI — Announcing Mistral 7B (Sep 2023)</a:t>
            </a:r>
            <a:r>
              <a:rPr sz="760" i="1">
                <a:solidFill>
                  <a:srgbClr val="1C7293"/>
                </a:solidFill>
                <a:latin typeface="Arial"/>
              </a:rPr>
              <a:t>   ·   </a:t>
            </a:r>
            <a:r>
              <a:rPr sz="760" b="1" i="1">
                <a:solidFill>
                  <a:srgbClr val="065A82"/>
                </a:solidFill>
                <a:latin typeface="Arial"/>
              </a:rPr>
              <a:t>[2] </a:t>
            </a:r>
            <a:r>
              <a:rPr sz="760" i="1">
                <a:solidFill>
                  <a:srgbClr val="1C7293"/>
                </a:solidFill>
                <a:latin typeface="Arial"/>
                <a:hlinkClick r:id="rId3"/>
              </a:rPr>
              <a:t>DeepSeek-R1 — tech report (Jan 2025)</a:t>
            </a:r>
            <a:r>
              <a:rPr sz="760" i="1">
                <a:solidFill>
                  <a:srgbClr val="1C7293"/>
                </a:solidFill>
                <a:latin typeface="Arial"/>
              </a:rPr>
              <a:t>   ·   </a:t>
            </a:r>
            <a:r>
              <a:rPr sz="760" b="1" i="1">
                <a:solidFill>
                  <a:srgbClr val="065A82"/>
                </a:solidFill>
                <a:latin typeface="Arial"/>
              </a:rPr>
              <a:t>[3] </a:t>
            </a:r>
            <a:r>
              <a:rPr sz="760" i="1">
                <a:solidFill>
                  <a:srgbClr val="1C7293"/>
                </a:solidFill>
                <a:latin typeface="Arial"/>
                <a:hlinkClick r:id="rId4"/>
              </a:rPr>
              <a:t>SemiAnalysis — DeepSeek cost analysis (2025)</a:t>
            </a:r>
            <a:r>
              <a:rPr sz="760" i="1">
                <a:solidFill>
                  <a:srgbClr val="1C7293"/>
                </a:solidFill>
                <a:latin typeface="Arial"/>
              </a:rPr>
              <a:t>   ·   </a:t>
            </a:r>
            <a:r>
              <a:rPr sz="760" b="1" i="1">
                <a:solidFill>
                  <a:srgbClr val="065A82"/>
                </a:solidFill>
                <a:latin typeface="Arial"/>
              </a:rPr>
              <a:t>[4] </a:t>
            </a:r>
            <a:r>
              <a:rPr sz="760" i="1">
                <a:solidFill>
                  <a:srgbClr val="1C7293"/>
                </a:solidFill>
                <a:latin typeface="Arial"/>
                <a:hlinkClick r:id="rId5"/>
              </a:rPr>
              <a:t>Bloomberg — Nvidia $589B drop (27 Jan 2025)</a:t>
            </a:r>
            <a:r>
              <a:rPr sz="760" i="1">
                <a:solidFill>
                  <a:srgbClr val="1C7293"/>
                </a:solidFill>
                <a:latin typeface="Arial"/>
              </a:rPr>
              <a:t>   ·   </a:t>
            </a:r>
            <a:r>
              <a:rPr sz="760" b="1" i="1">
                <a:solidFill>
                  <a:srgbClr val="065A82"/>
                </a:solidFill>
                <a:latin typeface="Arial"/>
              </a:rPr>
              <a:t>[5] </a:t>
            </a:r>
            <a:r>
              <a:rPr sz="760" i="1">
                <a:solidFill>
                  <a:srgbClr val="1C7293"/>
                </a:solidFill>
                <a:latin typeface="Arial"/>
                <a:hlinkClick r:id="rId6"/>
              </a:rPr>
              <a:t>Steinberger — OpenClaw (GitHub)</a:t>
            </a:r>
            <a:r>
              <a:rPr sz="760" i="1">
                <a:solidFill>
                  <a:srgbClr val="1C7293"/>
                </a:solidFill>
                <a:latin typeface="Arial"/>
              </a:rPr>
              <a:t>   ·   </a:t>
            </a:r>
            <a:r>
              <a:rPr sz="760" b="1" i="1">
                <a:solidFill>
                  <a:srgbClr val="065A82"/>
                </a:solidFill>
                <a:latin typeface="Arial"/>
              </a:rPr>
              <a:t>[6] </a:t>
            </a:r>
            <a:r>
              <a:rPr sz="760" i="1">
                <a:solidFill>
                  <a:srgbClr val="1C7293"/>
                </a:solidFill>
                <a:latin typeface="Arial"/>
                <a:hlinkClick r:id="rId7"/>
              </a:rPr>
              <a:t>Gerganov — llama.cpp / ggml.ai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Section 3 · Four ways to implement AI systems</a:t>
            </a:r>
          </a:p>
        </p:txBody>
      </p:sp>
      <p:sp>
        <p:nvSpPr>
          <p:cNvPr id="3" name="TextBox 2"/>
          <p:cNvSpPr txBox="1"/>
          <p:nvPr/>
        </p:nvSpPr>
        <p:spPr>
          <a:xfrm>
            <a:off x="502920" y="1325880"/>
            <a:ext cx="11201400" cy="502920"/>
          </a:xfrm>
          <a:prstGeom prst="rect">
            <a:avLst/>
          </a:prstGeom>
          <a:noFill/>
        </p:spPr>
        <p:txBody>
          <a:bodyPr wrap="square" lIns="0" rIns="0" tIns="0" bIns="0" anchor="t">
            <a:spAutoFit/>
          </a:bodyPr>
          <a:lstStyle/>
          <a:p>
            <a:pPr algn="ctr">
              <a:lnSpc>
                <a:spcPct val="120000"/>
              </a:lnSpc>
            </a:pPr>
            <a:r>
              <a:rPr sz="1800" b="0" i="1">
                <a:solidFill>
                  <a:srgbClr val="065A82"/>
                </a:solidFill>
                <a:latin typeface="Arial"/>
              </a:rPr>
              <a:t>Not alternatives, but layers.</a:t>
            </a:r>
          </a:p>
        </p:txBody>
      </p:sp>
      <p:sp>
        <p:nvSpPr>
          <p:cNvPr id="4" name="Rounded Rectangle 3"/>
          <p:cNvSpPr/>
          <p:nvPr/>
        </p:nvSpPr>
        <p:spPr>
          <a:xfrm>
            <a:off x="4037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0</a:t>
            </a:r>
          </a:p>
        </p:txBody>
      </p:sp>
      <p:sp>
        <p:nvSpPr>
          <p:cNvPr id="6" name="TextBox 5"/>
          <p:cNvSpPr txBox="1"/>
          <p:nvPr/>
        </p:nvSpPr>
        <p:spPr>
          <a:xfrm>
            <a:off x="4768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Intro</a:t>
            </a:r>
          </a:p>
        </p:txBody>
      </p:sp>
      <p:sp>
        <p:nvSpPr>
          <p:cNvPr id="7" name="TextBox 6"/>
          <p:cNvSpPr txBox="1"/>
          <p:nvPr/>
        </p:nvSpPr>
        <p:spPr>
          <a:xfrm>
            <a:off x="4768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Demo · instructor ·
central question</a:t>
            </a:r>
          </a:p>
        </p:txBody>
      </p:sp>
      <p:sp>
        <p:nvSpPr>
          <p:cNvPr id="8" name="Rounded Rectangle 7"/>
          <p:cNvSpPr/>
          <p:nvPr/>
        </p:nvSpPr>
        <p:spPr>
          <a:xfrm>
            <a:off x="232394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1</a:t>
            </a:r>
          </a:p>
        </p:txBody>
      </p:sp>
      <p:sp>
        <p:nvSpPr>
          <p:cNvPr id="10" name="TextBox 9"/>
          <p:cNvSpPr txBox="1"/>
          <p:nvPr/>
        </p:nvSpPr>
        <p:spPr>
          <a:xfrm>
            <a:off x="239709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What is AI</a:t>
            </a:r>
          </a:p>
        </p:txBody>
      </p:sp>
      <p:sp>
        <p:nvSpPr>
          <p:cNvPr id="11" name="TextBox 10"/>
          <p:cNvSpPr txBox="1"/>
          <p:nvPr/>
        </p:nvSpPr>
        <p:spPr>
          <a:xfrm>
            <a:off x="239709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Definitions,
history, turning point</a:t>
            </a:r>
          </a:p>
        </p:txBody>
      </p:sp>
      <p:sp>
        <p:nvSpPr>
          <p:cNvPr id="12" name="Rounded Rectangle 11"/>
          <p:cNvSpPr/>
          <p:nvPr/>
        </p:nvSpPr>
        <p:spPr>
          <a:xfrm>
            <a:off x="424418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2</a:t>
            </a:r>
          </a:p>
        </p:txBody>
      </p:sp>
      <p:sp>
        <p:nvSpPr>
          <p:cNvPr id="14" name="TextBox 13"/>
          <p:cNvSpPr txBox="1"/>
          <p:nvPr/>
        </p:nvSpPr>
        <p:spPr>
          <a:xfrm>
            <a:off x="431733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Where we
are now</a:t>
            </a:r>
          </a:p>
        </p:txBody>
      </p:sp>
      <p:sp>
        <p:nvSpPr>
          <p:cNvPr id="15" name="TextBox 14"/>
          <p:cNvSpPr txBox="1"/>
          <p:nvPr/>
        </p:nvSpPr>
        <p:spPr>
          <a:xfrm>
            <a:off x="431733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Market numbers
2022–2026</a:t>
            </a:r>
          </a:p>
        </p:txBody>
      </p:sp>
      <p:sp>
        <p:nvSpPr>
          <p:cNvPr id="16" name="Rounded Rectangle 15"/>
          <p:cNvSpPr/>
          <p:nvPr/>
        </p:nvSpPr>
        <p:spPr>
          <a:xfrm>
            <a:off x="6164427" y="2331720"/>
            <a:ext cx="1783080" cy="2926080"/>
          </a:xfrm>
          <a:prstGeom prst="roundRect">
            <a:avLst>
              <a:gd name="adj" fmla="val 17094"/>
            </a:avLst>
          </a:prstGeom>
          <a:solidFill>
            <a:srgbClr val="F0AB0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3</a:t>
            </a:r>
          </a:p>
        </p:txBody>
      </p:sp>
      <p:sp>
        <p:nvSpPr>
          <p:cNvPr id="18" name="TextBox 17"/>
          <p:cNvSpPr txBox="1"/>
          <p:nvPr/>
        </p:nvSpPr>
        <p:spPr>
          <a:xfrm>
            <a:off x="6237579" y="3520439"/>
            <a:ext cx="1636776" cy="96012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Four ways to
implement</a:t>
            </a:r>
          </a:p>
        </p:txBody>
      </p:sp>
      <p:sp>
        <p:nvSpPr>
          <p:cNvPr id="19" name="TextBox 18"/>
          <p:cNvSpPr txBox="1"/>
          <p:nvPr/>
        </p:nvSpPr>
        <p:spPr>
          <a:xfrm>
            <a:off x="6237579" y="4434840"/>
            <a:ext cx="1636776" cy="777240"/>
          </a:xfrm>
          <a:prstGeom prst="rect">
            <a:avLst/>
          </a:prstGeom>
          <a:noFill/>
        </p:spPr>
        <p:txBody>
          <a:bodyPr wrap="square" lIns="0" rIns="0" tIns="0" bIns="0" anchor="t">
            <a:spAutoFit/>
          </a:bodyPr>
          <a:lstStyle/>
          <a:p>
            <a:pPr algn="ctr">
              <a:lnSpc>
                <a:spcPct val="125000"/>
              </a:lnSpc>
            </a:pPr>
            <a:r>
              <a:rPr sz="1100" b="0" i="1">
                <a:solidFill>
                  <a:srgbClr val="FFFFFF"/>
                </a:solidFill>
                <a:latin typeface="Arial"/>
              </a:rPr>
              <a:t>Model · chat ·
agent · app</a:t>
            </a:r>
          </a:p>
        </p:txBody>
      </p:sp>
      <p:sp>
        <p:nvSpPr>
          <p:cNvPr id="20" name="Rounded Rectangle 19"/>
          <p:cNvSpPr/>
          <p:nvPr/>
        </p:nvSpPr>
        <p:spPr>
          <a:xfrm>
            <a:off x="808466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4</a:t>
            </a:r>
          </a:p>
        </p:txBody>
      </p:sp>
      <p:sp>
        <p:nvSpPr>
          <p:cNvPr id="22" name="TextBox 21"/>
          <p:cNvSpPr txBox="1"/>
          <p:nvPr/>
        </p:nvSpPr>
        <p:spPr>
          <a:xfrm>
            <a:off x="815781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Limits and
safety</a:t>
            </a:r>
          </a:p>
        </p:txBody>
      </p:sp>
      <p:sp>
        <p:nvSpPr>
          <p:cNvPr id="23" name="TextBox 22"/>
          <p:cNvSpPr txBox="1"/>
          <p:nvPr/>
        </p:nvSpPr>
        <p:spPr>
          <a:xfrm>
            <a:off x="815781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What AI breaks
and where it fails</a:t>
            </a:r>
          </a:p>
        </p:txBody>
      </p:sp>
      <p:sp>
        <p:nvSpPr>
          <p:cNvPr id="24" name="Rounded Rectangle 23"/>
          <p:cNvSpPr/>
          <p:nvPr/>
        </p:nvSpPr>
        <p:spPr>
          <a:xfrm>
            <a:off x="100049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5</a:t>
            </a:r>
          </a:p>
        </p:txBody>
      </p:sp>
      <p:sp>
        <p:nvSpPr>
          <p:cNvPr id="26" name="TextBox 25"/>
          <p:cNvSpPr txBox="1"/>
          <p:nvPr/>
        </p:nvSpPr>
        <p:spPr>
          <a:xfrm>
            <a:off x="100780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Wrap-up</a:t>
            </a:r>
          </a:p>
        </p:txBody>
      </p:sp>
      <p:sp>
        <p:nvSpPr>
          <p:cNvPr id="27" name="TextBox 26"/>
          <p:cNvSpPr txBox="1"/>
          <p:nvPr/>
        </p:nvSpPr>
        <p:spPr>
          <a:xfrm>
            <a:off x="100780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Recap ·
semester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Ways to implement AI systems: not alternatives, but layers.</a:t>
            </a:r>
          </a:p>
        </p:txBody>
      </p:sp>
      <p:sp>
        <p:nvSpPr>
          <p:cNvPr id="3" name="Rounded Rectangle 2"/>
          <p:cNvSpPr/>
          <p:nvPr/>
        </p:nvSpPr>
        <p:spPr>
          <a:xfrm>
            <a:off x="4937759" y="1508760"/>
            <a:ext cx="6949440" cy="4572000"/>
          </a:xfrm>
          <a:prstGeom prst="roundRect">
            <a:avLst>
              <a:gd name="adj" fmla="val 6666"/>
            </a:avLst>
          </a:prstGeom>
          <a:solidFill>
            <a:srgbClr val="FFFFFF"/>
          </a:solidFill>
          <a:ln w="317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14999" y="2788920"/>
            <a:ext cx="5394960" cy="3291840"/>
          </a:xfrm>
          <a:prstGeom prst="roundRect">
            <a:avLst>
              <a:gd name="adj" fmla="val 9259"/>
            </a:avLst>
          </a:prstGeom>
          <a:solidFill>
            <a:srgbClr val="FFFFFF"/>
          </a:solidFill>
          <a:ln w="317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46519" y="3977640"/>
            <a:ext cx="3931920" cy="2103120"/>
          </a:xfrm>
          <a:prstGeom prst="roundRect">
            <a:avLst>
              <a:gd name="adj" fmla="val 14492"/>
            </a:avLst>
          </a:prstGeom>
          <a:solidFill>
            <a:srgbClr val="FFFFFF"/>
          </a:solidFill>
          <a:ln w="317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23759" y="5166360"/>
            <a:ext cx="2377440" cy="914400"/>
          </a:xfrm>
          <a:prstGeom prst="roundRect">
            <a:avLst>
              <a:gd name="adj" fmla="val 25000"/>
            </a:avLst>
          </a:prstGeom>
          <a:solidFill>
            <a:srgbClr val="FFFFFF"/>
          </a:solidFill>
          <a:ln w="317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84064" y="1618488"/>
            <a:ext cx="6656831" cy="566928"/>
          </a:xfrm>
          <a:prstGeom prst="roundRect">
            <a:avLst>
              <a:gd name="adj" fmla="val 20000"/>
            </a:avLst>
          </a:prstGeom>
          <a:solidFill>
            <a:srgbClr val="E6F2F4"/>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48655" y="1636776"/>
            <a:ext cx="6327647" cy="237744"/>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Application</a:t>
            </a:r>
          </a:p>
        </p:txBody>
      </p:sp>
      <p:sp>
        <p:nvSpPr>
          <p:cNvPr id="9" name="TextBox 8"/>
          <p:cNvSpPr txBox="1"/>
          <p:nvPr/>
        </p:nvSpPr>
        <p:spPr>
          <a:xfrm>
            <a:off x="5248655" y="1874520"/>
            <a:ext cx="6327647" cy="274320"/>
          </a:xfrm>
          <a:prstGeom prst="rect">
            <a:avLst/>
          </a:prstGeom>
          <a:noFill/>
        </p:spPr>
        <p:txBody>
          <a:bodyPr wrap="square" lIns="0" rIns="0" tIns="0" bIns="0" anchor="t">
            <a:spAutoFit/>
          </a:bodyPr>
          <a:lstStyle/>
          <a:p>
            <a:pPr algn="l">
              <a:lnSpc>
                <a:spcPct val="118000"/>
              </a:lnSpc>
            </a:pPr>
            <a:r>
              <a:rPr sz="1100" b="0" i="1">
                <a:solidFill>
                  <a:srgbClr val="21295C"/>
                </a:solidFill>
                <a:latin typeface="Arial"/>
              </a:rPr>
              <a:t>+ AI inside a product · forms, buttons, integrations</a:t>
            </a:r>
          </a:p>
        </p:txBody>
      </p:sp>
      <p:sp>
        <p:nvSpPr>
          <p:cNvPr id="10" name="Rounded Rectangle 9"/>
          <p:cNvSpPr/>
          <p:nvPr/>
        </p:nvSpPr>
        <p:spPr>
          <a:xfrm>
            <a:off x="5861303" y="2898648"/>
            <a:ext cx="5102352" cy="566928"/>
          </a:xfrm>
          <a:prstGeom prst="roundRect">
            <a:avLst>
              <a:gd name="adj" fmla="val 20000"/>
            </a:avLst>
          </a:prstGeom>
          <a:solidFill>
            <a:srgbClr val="E6F2F4"/>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25895" y="2916936"/>
            <a:ext cx="4773168" cy="237744"/>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Agent</a:t>
            </a:r>
          </a:p>
        </p:txBody>
      </p:sp>
      <p:sp>
        <p:nvSpPr>
          <p:cNvPr id="12" name="TextBox 11"/>
          <p:cNvSpPr txBox="1"/>
          <p:nvPr/>
        </p:nvSpPr>
        <p:spPr>
          <a:xfrm>
            <a:off x="6025895" y="3154680"/>
            <a:ext cx="4773168" cy="274320"/>
          </a:xfrm>
          <a:prstGeom prst="rect">
            <a:avLst/>
          </a:prstGeom>
          <a:noFill/>
        </p:spPr>
        <p:txBody>
          <a:bodyPr wrap="square" lIns="0" rIns="0" tIns="0" bIns="0" anchor="t">
            <a:spAutoFit/>
          </a:bodyPr>
          <a:lstStyle/>
          <a:p>
            <a:pPr algn="l">
              <a:lnSpc>
                <a:spcPct val="118000"/>
              </a:lnSpc>
            </a:pPr>
            <a:r>
              <a:rPr sz="1100" b="0" i="1">
                <a:solidFill>
                  <a:srgbClr val="21295C"/>
                </a:solidFill>
                <a:latin typeface="Arial"/>
              </a:rPr>
              <a:t>+ tools (API, search, code) · planning · vector DB</a:t>
            </a:r>
          </a:p>
        </p:txBody>
      </p:sp>
      <p:sp>
        <p:nvSpPr>
          <p:cNvPr id="13" name="Rounded Rectangle 12"/>
          <p:cNvSpPr/>
          <p:nvPr/>
        </p:nvSpPr>
        <p:spPr>
          <a:xfrm>
            <a:off x="6592823" y="4087368"/>
            <a:ext cx="3639312" cy="566928"/>
          </a:xfrm>
          <a:prstGeom prst="roundRect">
            <a:avLst>
              <a:gd name="adj" fmla="val 20000"/>
            </a:avLst>
          </a:prstGeom>
          <a:solidFill>
            <a:srgbClr val="E6F2F4"/>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57415" y="4105656"/>
            <a:ext cx="3310128" cy="237744"/>
          </a:xfrm>
          <a:prstGeom prst="rect">
            <a:avLst/>
          </a:prstGeom>
          <a:noFill/>
        </p:spPr>
        <p:txBody>
          <a:bodyPr wrap="square" lIns="0" rIns="0" tIns="0" bIns="0" anchor="t">
            <a:spAutoFit/>
          </a:bodyPr>
          <a:lstStyle/>
          <a:p>
            <a:pPr algn="l">
              <a:lnSpc>
                <a:spcPct val="115000"/>
              </a:lnSpc>
            </a:pPr>
            <a:r>
              <a:rPr sz="1300" b="1" i="0">
                <a:solidFill>
                  <a:srgbClr val="1C7293"/>
                </a:solidFill>
                <a:latin typeface="Arial"/>
              </a:rPr>
              <a:t>Chat</a:t>
            </a:r>
          </a:p>
        </p:txBody>
      </p:sp>
      <p:sp>
        <p:nvSpPr>
          <p:cNvPr id="15" name="TextBox 14"/>
          <p:cNvSpPr txBox="1"/>
          <p:nvPr/>
        </p:nvSpPr>
        <p:spPr>
          <a:xfrm>
            <a:off x="6757415" y="4343400"/>
            <a:ext cx="3310128" cy="274320"/>
          </a:xfrm>
          <a:prstGeom prst="rect">
            <a:avLst/>
          </a:prstGeom>
          <a:noFill/>
        </p:spPr>
        <p:txBody>
          <a:bodyPr wrap="square" lIns="0" rIns="0" tIns="0" bIns="0" anchor="t">
            <a:spAutoFit/>
          </a:bodyPr>
          <a:lstStyle/>
          <a:p>
            <a:pPr algn="l">
              <a:lnSpc>
                <a:spcPct val="118000"/>
              </a:lnSpc>
            </a:pPr>
            <a:r>
              <a:rPr sz="1100" b="0" i="1">
                <a:solidFill>
                  <a:srgbClr val="21295C"/>
                </a:solidFill>
                <a:latin typeface="Arial"/>
              </a:rPr>
              <a:t>+ dialog UI · message-history memory</a:t>
            </a:r>
          </a:p>
        </p:txBody>
      </p:sp>
      <p:sp>
        <p:nvSpPr>
          <p:cNvPr id="16" name="Rounded Rectangle 15"/>
          <p:cNvSpPr/>
          <p:nvPr/>
        </p:nvSpPr>
        <p:spPr>
          <a:xfrm>
            <a:off x="7315199" y="5257800"/>
            <a:ext cx="2194560" cy="731520"/>
          </a:xfrm>
          <a:prstGeom prst="roundRect">
            <a:avLst>
              <a:gd name="adj" fmla="val 20000"/>
            </a:avLst>
          </a:prstGeom>
          <a:solidFill>
            <a:srgbClr val="E6F2F4"/>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59" y="5285232"/>
            <a:ext cx="2377440" cy="274320"/>
          </a:xfrm>
          <a:prstGeom prst="rect">
            <a:avLst/>
          </a:prstGeom>
          <a:noFill/>
        </p:spPr>
        <p:txBody>
          <a:bodyPr wrap="square" lIns="0" rIns="0" tIns="0" bIns="0" anchor="t">
            <a:spAutoFit/>
          </a:bodyPr>
          <a:lstStyle/>
          <a:p>
            <a:pPr algn="ctr">
              <a:lnSpc>
                <a:spcPct val="115000"/>
              </a:lnSpc>
            </a:pPr>
            <a:r>
              <a:rPr sz="1300" b="1" i="0">
                <a:solidFill>
                  <a:srgbClr val="028090"/>
                </a:solidFill>
                <a:latin typeface="Arial"/>
              </a:rPr>
              <a:t>Model</a:t>
            </a:r>
          </a:p>
        </p:txBody>
      </p:sp>
      <p:sp>
        <p:nvSpPr>
          <p:cNvPr id="18" name="TextBox 17"/>
          <p:cNvSpPr txBox="1"/>
          <p:nvPr/>
        </p:nvSpPr>
        <p:spPr>
          <a:xfrm>
            <a:off x="7223759" y="5586984"/>
            <a:ext cx="2377440" cy="274320"/>
          </a:xfrm>
          <a:prstGeom prst="rect">
            <a:avLst/>
          </a:prstGeom>
          <a:noFill/>
        </p:spPr>
        <p:txBody>
          <a:bodyPr wrap="square" lIns="0" rIns="0" tIns="0" bIns="0" anchor="t">
            <a:spAutoFit/>
          </a:bodyPr>
          <a:lstStyle/>
          <a:p>
            <a:pPr algn="ctr">
              <a:lnSpc>
                <a:spcPct val="115000"/>
              </a:lnSpc>
            </a:pPr>
            <a:r>
              <a:rPr sz="1000" b="0" i="1">
                <a:solidFill>
                  <a:srgbClr val="21295C"/>
                </a:solidFill>
                <a:latin typeface="Arial"/>
              </a:rPr>
              <a:t>stateless: input → model → output</a:t>
            </a:r>
          </a:p>
        </p:txBody>
      </p:sp>
      <p:sp>
        <p:nvSpPr>
          <p:cNvPr id="19" name="TextBox 18"/>
          <p:cNvSpPr txBox="1"/>
          <p:nvPr/>
        </p:nvSpPr>
        <p:spPr>
          <a:xfrm>
            <a:off x="502920" y="1828800"/>
            <a:ext cx="4206240" cy="50292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Each next layer</a:t>
            </a:r>
          </a:p>
        </p:txBody>
      </p:sp>
      <p:sp>
        <p:nvSpPr>
          <p:cNvPr id="20" name="TextBox 19"/>
          <p:cNvSpPr txBox="1"/>
          <p:nvPr/>
        </p:nvSpPr>
        <p:spPr>
          <a:xfrm>
            <a:off x="502920" y="2331720"/>
            <a:ext cx="4206240" cy="502920"/>
          </a:xfrm>
          <a:prstGeom prst="rect">
            <a:avLst/>
          </a:prstGeom>
          <a:noFill/>
        </p:spPr>
        <p:txBody>
          <a:bodyPr wrap="square" lIns="0" rIns="0" tIns="0" bIns="0" anchor="t">
            <a:spAutoFit/>
          </a:bodyPr>
          <a:lstStyle/>
          <a:p>
            <a:pPr algn="l">
              <a:lnSpc>
                <a:spcPct val="115000"/>
              </a:lnSpc>
            </a:pPr>
            <a:r>
              <a:rPr sz="1800" b="1" i="0">
                <a:solidFill>
                  <a:srgbClr val="21295C"/>
                </a:solidFill>
                <a:latin typeface="Arial"/>
              </a:rPr>
              <a:t>contains the previous one</a:t>
            </a:r>
          </a:p>
        </p:txBody>
      </p:sp>
      <p:sp>
        <p:nvSpPr>
          <p:cNvPr id="21" name="TextBox 20"/>
          <p:cNvSpPr txBox="1"/>
          <p:nvPr/>
        </p:nvSpPr>
        <p:spPr>
          <a:xfrm>
            <a:off x="502920" y="3108960"/>
            <a:ext cx="4206240" cy="237744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Not four alternative technologies, but four ways to implement one task. </a:t>
            </a:r>
            <a:r>
              <a:rPr sz="676" baseline="30000" b="0" i="1">
                <a:latin typeface="Arial"/>
                <a:cs typeface="Arial"/>
                <a:ea typeface="Arial"/>
                <a:solidFill>
                  <a:srgbClr val="1C7293"/>
                </a:solidFill>
              </a:rPr>
              <a:t>[1]</a:t>
            </a:r>
            <a:r>
              <a:rPr sz="1300" b="0" i="0">
                <a:latin typeface="Arial"/>
                <a:cs typeface="Arial"/>
                <a:ea typeface="Arial"/>
                <a:solidFill>
                  <a:srgbClr val="21295C"/>
                </a:solidFill>
              </a:rPr>
              <a:t> Each additional wrapper adds capability — and complexity, cost, and room for error. </a:t>
            </a:r>
            <a:r>
              <a:rPr sz="676" baseline="30000" b="0" i="1">
                <a:latin typeface="Arial"/>
                <a:cs typeface="Arial"/>
                <a:ea typeface="Arial"/>
                <a:solidFill>
                  <a:srgbClr val="1C7293"/>
                </a:solidFill>
              </a:rPr>
              <a:t>[2]</a:t>
            </a:r>
          </a:p>
        </p:txBody>
      </p:sp>
      <p:sp>
        <p:nvSpPr>
          <p:cNvPr id="22" name="Rounded Rectangle 21"/>
          <p:cNvSpPr/>
          <p:nvPr/>
        </p:nvSpPr>
        <p:spPr>
          <a:xfrm>
            <a:off x="502920" y="5577840"/>
            <a:ext cx="4206240" cy="7772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50992"/>
            <a:ext cx="3840479" cy="63093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Choosing a layer is an engineering decision, not an either/or.</a:t>
            </a:r>
          </a:p>
        </p:txBody>
      </p:sp>
      <p:sp>
        <p:nvSpPr>
          <p:cNvPr id="24" name="TextBox 23"/>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Anthropic — Building Effective Agents (2024)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Weng — LLM Powered Autonomous Agents (2023)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Classifying AI systems </a:t>
            </a:r>
            <a:r>
              <a:rPr sz="1352" baseline="30000" b="0" i="1">
                <a:latin typeface="Arial"/>
                <a:cs typeface="Arial"/>
                <a:ea typeface="Arial"/>
                <a:solidFill>
                  <a:srgbClr val="1C7293"/>
                </a:solidFill>
              </a:rPr>
              <a:t>[1]</a:t>
            </a:r>
            <a:r>
              <a:rPr sz="2600" b="1" i="0">
                <a:latin typeface="Arial"/>
                <a:cs typeface="Arial"/>
                <a:ea typeface="Arial"/>
                <a:solidFill>
                  <a:srgbClr val="21295C"/>
                </a:solidFill>
              </a:rPr>
              <a:t> — two axes: task type × modality. </a:t>
            </a:r>
            <a:r>
              <a:rPr sz="1352" baseline="30000" b="0" i="1">
                <a:latin typeface="Arial"/>
                <a:cs typeface="Arial"/>
                <a:ea typeface="Arial"/>
                <a:solidFill>
                  <a:srgbClr val="1C7293"/>
                </a:solidFill>
              </a:rPr>
              <a:t>[2]</a:t>
            </a:r>
          </a:p>
        </p:txBody>
      </p:sp>
      <p:sp>
        <p:nvSpPr>
          <p:cNvPr id="3" name="Rounded Rectangle 2"/>
          <p:cNvSpPr/>
          <p:nvPr/>
        </p:nvSpPr>
        <p:spPr>
          <a:xfrm>
            <a:off x="502920" y="1508760"/>
            <a:ext cx="11201400" cy="4617720"/>
          </a:xfrm>
          <a:prstGeom prst="roundRect">
            <a:avLst>
              <a:gd name="adj" fmla="val 66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ucide-tag-blue.png"/>
          <p:cNvPicPr>
            <a:picLocks noChangeAspect="1"/>
          </p:cNvPicPr>
          <p:nvPr/>
        </p:nvPicPr>
        <p:blipFill>
          <a:blip r:embed="rId2"/>
          <a:stretch>
            <a:fillRect/>
          </a:stretch>
        </p:blipFill>
        <p:spPr>
          <a:xfrm>
            <a:off x="2697480" y="1673351"/>
            <a:ext cx="365760" cy="365760"/>
          </a:xfrm>
          <a:prstGeom prst="rect">
            <a:avLst/>
          </a:prstGeom>
        </p:spPr>
      </p:pic>
      <p:sp>
        <p:nvSpPr>
          <p:cNvPr id="5" name="TextBox 4"/>
          <p:cNvSpPr txBox="1"/>
          <p:nvPr/>
        </p:nvSpPr>
        <p:spPr>
          <a:xfrm>
            <a:off x="1920240" y="2057400"/>
            <a:ext cx="1920240" cy="36576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Classif.</a:t>
            </a:r>
          </a:p>
        </p:txBody>
      </p:sp>
      <p:pic>
        <p:nvPicPr>
          <p:cNvPr id="6" name="Picture 5" descr="lucide-scan-line-blue.png"/>
          <p:cNvPicPr>
            <a:picLocks noChangeAspect="1"/>
          </p:cNvPicPr>
          <p:nvPr/>
        </p:nvPicPr>
        <p:blipFill>
          <a:blip r:embed="rId3"/>
          <a:stretch>
            <a:fillRect/>
          </a:stretch>
        </p:blipFill>
        <p:spPr>
          <a:xfrm>
            <a:off x="4617720" y="1673351"/>
            <a:ext cx="365760" cy="365760"/>
          </a:xfrm>
          <a:prstGeom prst="rect">
            <a:avLst/>
          </a:prstGeom>
        </p:spPr>
      </p:pic>
      <p:sp>
        <p:nvSpPr>
          <p:cNvPr id="7" name="TextBox 6"/>
          <p:cNvSpPr txBox="1"/>
          <p:nvPr/>
        </p:nvSpPr>
        <p:spPr>
          <a:xfrm>
            <a:off x="3840480" y="2057400"/>
            <a:ext cx="1920240" cy="36576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Recogn.</a:t>
            </a:r>
          </a:p>
        </p:txBody>
      </p:sp>
      <p:pic>
        <p:nvPicPr>
          <p:cNvPr id="8" name="Picture 7" descr="lucide-search-blue.png"/>
          <p:cNvPicPr>
            <a:picLocks noChangeAspect="1"/>
          </p:cNvPicPr>
          <p:nvPr/>
        </p:nvPicPr>
        <p:blipFill>
          <a:blip r:embed="rId4"/>
          <a:stretch>
            <a:fillRect/>
          </a:stretch>
        </p:blipFill>
        <p:spPr>
          <a:xfrm>
            <a:off x="6537960" y="1673351"/>
            <a:ext cx="365760" cy="365760"/>
          </a:xfrm>
          <a:prstGeom prst="rect">
            <a:avLst/>
          </a:prstGeom>
        </p:spPr>
      </p:pic>
      <p:sp>
        <p:nvSpPr>
          <p:cNvPr id="9" name="TextBox 8"/>
          <p:cNvSpPr txBox="1"/>
          <p:nvPr/>
        </p:nvSpPr>
        <p:spPr>
          <a:xfrm>
            <a:off x="5760720" y="2057400"/>
            <a:ext cx="1920240" cy="36576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Retrieval</a:t>
            </a:r>
          </a:p>
        </p:txBody>
      </p:sp>
      <p:pic>
        <p:nvPicPr>
          <p:cNvPr id="10" name="Picture 9" descr="lucide-sparkles-blue.png"/>
          <p:cNvPicPr>
            <a:picLocks noChangeAspect="1"/>
          </p:cNvPicPr>
          <p:nvPr/>
        </p:nvPicPr>
        <p:blipFill>
          <a:blip r:embed="rId5"/>
          <a:stretch>
            <a:fillRect/>
          </a:stretch>
        </p:blipFill>
        <p:spPr>
          <a:xfrm>
            <a:off x="8458200" y="1673351"/>
            <a:ext cx="365760" cy="365760"/>
          </a:xfrm>
          <a:prstGeom prst="rect">
            <a:avLst/>
          </a:prstGeom>
        </p:spPr>
      </p:pic>
      <p:sp>
        <p:nvSpPr>
          <p:cNvPr id="11" name="TextBox 10"/>
          <p:cNvSpPr txBox="1"/>
          <p:nvPr/>
        </p:nvSpPr>
        <p:spPr>
          <a:xfrm>
            <a:off x="7680960" y="2057400"/>
            <a:ext cx="1920240" cy="36576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Generat.</a:t>
            </a:r>
          </a:p>
        </p:txBody>
      </p:sp>
      <p:pic>
        <p:nvPicPr>
          <p:cNvPr id="12" name="Picture 11" descr="lucide-trending-up-blue.png"/>
          <p:cNvPicPr>
            <a:picLocks noChangeAspect="1"/>
          </p:cNvPicPr>
          <p:nvPr/>
        </p:nvPicPr>
        <p:blipFill>
          <a:blip r:embed="rId6"/>
          <a:stretch>
            <a:fillRect/>
          </a:stretch>
        </p:blipFill>
        <p:spPr>
          <a:xfrm>
            <a:off x="10378440" y="1673351"/>
            <a:ext cx="365760" cy="365760"/>
          </a:xfrm>
          <a:prstGeom prst="rect">
            <a:avLst/>
          </a:prstGeom>
        </p:spPr>
      </p:pic>
      <p:sp>
        <p:nvSpPr>
          <p:cNvPr id="13" name="TextBox 12"/>
          <p:cNvSpPr txBox="1"/>
          <p:nvPr/>
        </p:nvSpPr>
        <p:spPr>
          <a:xfrm>
            <a:off x="9601200" y="2057400"/>
            <a:ext cx="1920240" cy="365760"/>
          </a:xfrm>
          <a:prstGeom prst="rect">
            <a:avLst/>
          </a:prstGeom>
          <a:noFill/>
        </p:spPr>
        <p:txBody>
          <a:bodyPr wrap="square" lIns="0" rIns="0" tIns="0" bIns="0" anchor="t">
            <a:spAutoFit/>
          </a:bodyPr>
          <a:lstStyle/>
          <a:p>
            <a:pPr algn="ctr">
              <a:lnSpc>
                <a:spcPct val="110000"/>
              </a:lnSpc>
            </a:pPr>
            <a:r>
              <a:rPr sz="1400" b="1" i="0">
                <a:solidFill>
                  <a:srgbClr val="065A82"/>
                </a:solidFill>
                <a:latin typeface="Arial"/>
              </a:rPr>
              <a:t>Forecast</a:t>
            </a:r>
          </a:p>
        </p:txBody>
      </p:sp>
      <p:sp>
        <p:nvSpPr>
          <p:cNvPr id="14" name="TextBox 13"/>
          <p:cNvSpPr txBox="1"/>
          <p:nvPr/>
        </p:nvSpPr>
        <p:spPr>
          <a:xfrm>
            <a:off x="594360" y="2782062"/>
            <a:ext cx="1280160" cy="402336"/>
          </a:xfrm>
          <a:prstGeom prst="rect">
            <a:avLst/>
          </a:prstGeom>
          <a:noFill/>
        </p:spPr>
        <p:txBody>
          <a:bodyPr wrap="square" lIns="0" rIns="0" tIns="0" bIns="0" anchor="t">
            <a:spAutoFit/>
          </a:bodyPr>
          <a:lstStyle/>
          <a:p>
            <a:pPr algn="r">
              <a:lnSpc>
                <a:spcPct val="115000"/>
              </a:lnSpc>
            </a:pPr>
            <a:r>
              <a:rPr sz="1400" b="1" i="0">
                <a:solidFill>
                  <a:srgbClr val="065A82"/>
                </a:solidFill>
                <a:latin typeface="Arial"/>
              </a:rPr>
              <a:t>Text</a:t>
            </a:r>
          </a:p>
        </p:txBody>
      </p:sp>
      <p:sp>
        <p:nvSpPr>
          <p:cNvPr id="15" name="TextBox 14"/>
          <p:cNvSpPr txBox="1"/>
          <p:nvPr/>
        </p:nvSpPr>
        <p:spPr>
          <a:xfrm>
            <a:off x="594360" y="3627882"/>
            <a:ext cx="1280160" cy="402336"/>
          </a:xfrm>
          <a:prstGeom prst="rect">
            <a:avLst/>
          </a:prstGeom>
          <a:noFill/>
        </p:spPr>
        <p:txBody>
          <a:bodyPr wrap="square" lIns="0" rIns="0" tIns="0" bIns="0" anchor="t">
            <a:spAutoFit/>
          </a:bodyPr>
          <a:lstStyle/>
          <a:p>
            <a:pPr algn="r">
              <a:lnSpc>
                <a:spcPct val="115000"/>
              </a:lnSpc>
            </a:pPr>
            <a:r>
              <a:rPr sz="1400" b="1" i="0">
                <a:solidFill>
                  <a:srgbClr val="065A82"/>
                </a:solidFill>
                <a:latin typeface="Arial"/>
              </a:rPr>
              <a:t>Image</a:t>
            </a:r>
          </a:p>
        </p:txBody>
      </p:sp>
      <p:sp>
        <p:nvSpPr>
          <p:cNvPr id="16" name="TextBox 15"/>
          <p:cNvSpPr txBox="1"/>
          <p:nvPr/>
        </p:nvSpPr>
        <p:spPr>
          <a:xfrm>
            <a:off x="594360" y="4473702"/>
            <a:ext cx="1280160" cy="402336"/>
          </a:xfrm>
          <a:prstGeom prst="rect">
            <a:avLst/>
          </a:prstGeom>
          <a:noFill/>
        </p:spPr>
        <p:txBody>
          <a:bodyPr wrap="square" lIns="0" rIns="0" tIns="0" bIns="0" anchor="t">
            <a:spAutoFit/>
          </a:bodyPr>
          <a:lstStyle/>
          <a:p>
            <a:pPr algn="r">
              <a:lnSpc>
                <a:spcPct val="115000"/>
              </a:lnSpc>
            </a:pPr>
            <a:r>
              <a:rPr sz="1400" b="1" i="0">
                <a:solidFill>
                  <a:srgbClr val="065A82"/>
                </a:solidFill>
                <a:latin typeface="Arial"/>
              </a:rPr>
              <a:t>Audio / video</a:t>
            </a:r>
          </a:p>
        </p:txBody>
      </p:sp>
      <p:sp>
        <p:nvSpPr>
          <p:cNvPr id="17" name="TextBox 16"/>
          <p:cNvSpPr txBox="1"/>
          <p:nvPr/>
        </p:nvSpPr>
        <p:spPr>
          <a:xfrm>
            <a:off x="594360" y="5319522"/>
            <a:ext cx="1280160" cy="402336"/>
          </a:xfrm>
          <a:prstGeom prst="rect">
            <a:avLst/>
          </a:prstGeom>
          <a:noFill/>
        </p:spPr>
        <p:txBody>
          <a:bodyPr wrap="square" lIns="0" rIns="0" tIns="0" bIns="0" anchor="t">
            <a:spAutoFit/>
          </a:bodyPr>
          <a:lstStyle/>
          <a:p>
            <a:pPr algn="r">
              <a:lnSpc>
                <a:spcPct val="115000"/>
              </a:lnSpc>
            </a:pPr>
            <a:r>
              <a:rPr sz="1400" b="1" i="0">
                <a:solidFill>
                  <a:srgbClr val="065A82"/>
                </a:solidFill>
                <a:latin typeface="Arial"/>
              </a:rPr>
              <a:t>Struct. data</a:t>
            </a:r>
          </a:p>
        </p:txBody>
      </p:sp>
      <p:sp>
        <p:nvSpPr>
          <p:cNvPr id="18" name="Rectangle 17"/>
          <p:cNvSpPr/>
          <p:nvPr/>
        </p:nvSpPr>
        <p:spPr>
          <a:xfrm>
            <a:off x="1915668"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35908"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56148"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76388"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96628"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516867" y="2514600"/>
            <a:ext cx="9144" cy="338327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20240" y="2510028"/>
            <a:ext cx="96012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20240" y="3355848"/>
            <a:ext cx="96012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20240" y="4201668"/>
            <a:ext cx="96012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20240" y="5047488"/>
            <a:ext cx="96012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20240" y="5893307"/>
            <a:ext cx="96012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975104" y="258775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0" y="279120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BERT, spam</a:t>
            </a:r>
          </a:p>
        </p:txBody>
      </p:sp>
      <p:sp>
        <p:nvSpPr>
          <p:cNvPr id="31" name="Rounded Rectangle 30"/>
          <p:cNvSpPr/>
          <p:nvPr/>
        </p:nvSpPr>
        <p:spPr>
          <a:xfrm>
            <a:off x="1975104" y="343357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0" y="363702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ResNet</a:t>
            </a:r>
          </a:p>
        </p:txBody>
      </p:sp>
      <p:sp>
        <p:nvSpPr>
          <p:cNvPr id="33" name="Rounded Rectangle 32"/>
          <p:cNvSpPr/>
          <p:nvPr/>
        </p:nvSpPr>
        <p:spPr>
          <a:xfrm>
            <a:off x="1975104" y="427939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0" y="448284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PANNs</a:t>
            </a:r>
          </a:p>
        </p:txBody>
      </p:sp>
      <p:sp>
        <p:nvSpPr>
          <p:cNvPr id="35" name="Rounded Rectangle 34"/>
          <p:cNvSpPr/>
          <p:nvPr/>
        </p:nvSpPr>
        <p:spPr>
          <a:xfrm>
            <a:off x="1975104" y="512521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0" y="532866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XGBoost</a:t>
            </a:r>
          </a:p>
        </p:txBody>
      </p:sp>
      <p:sp>
        <p:nvSpPr>
          <p:cNvPr id="37" name="Rounded Rectangle 36"/>
          <p:cNvSpPr/>
          <p:nvPr/>
        </p:nvSpPr>
        <p:spPr>
          <a:xfrm>
            <a:off x="3895344" y="258775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31920" y="279120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spaCy NER</a:t>
            </a:r>
          </a:p>
        </p:txBody>
      </p:sp>
      <p:sp>
        <p:nvSpPr>
          <p:cNvPr id="39" name="Rounded Rectangle 38"/>
          <p:cNvSpPr/>
          <p:nvPr/>
        </p:nvSpPr>
        <p:spPr>
          <a:xfrm>
            <a:off x="3895344" y="343357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31920" y="363702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YOLO</a:t>
            </a:r>
          </a:p>
        </p:txBody>
      </p:sp>
      <p:sp>
        <p:nvSpPr>
          <p:cNvPr id="41" name="Rounded Rectangle 40"/>
          <p:cNvSpPr/>
          <p:nvPr/>
        </p:nvSpPr>
        <p:spPr>
          <a:xfrm>
            <a:off x="3895344" y="427939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31920" y="448284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Whisper</a:t>
            </a:r>
          </a:p>
        </p:txBody>
      </p:sp>
      <p:sp>
        <p:nvSpPr>
          <p:cNvPr id="43" name="Rounded Rectangle 42"/>
          <p:cNvSpPr/>
          <p:nvPr/>
        </p:nvSpPr>
        <p:spPr>
          <a:xfrm>
            <a:off x="3895344" y="512521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0" y="532866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table OCR</a:t>
            </a:r>
          </a:p>
        </p:txBody>
      </p:sp>
      <p:sp>
        <p:nvSpPr>
          <p:cNvPr id="45" name="Rounded Rectangle 44"/>
          <p:cNvSpPr/>
          <p:nvPr/>
        </p:nvSpPr>
        <p:spPr>
          <a:xfrm>
            <a:off x="5815584" y="258775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52160" y="279120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BM25</a:t>
            </a:r>
          </a:p>
        </p:txBody>
      </p:sp>
      <p:sp>
        <p:nvSpPr>
          <p:cNvPr id="47" name="Rounded Rectangle 46"/>
          <p:cNvSpPr/>
          <p:nvPr/>
        </p:nvSpPr>
        <p:spPr>
          <a:xfrm>
            <a:off x="5815584" y="343357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60" y="363702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CLIP</a:t>
            </a:r>
          </a:p>
        </p:txBody>
      </p:sp>
      <p:sp>
        <p:nvSpPr>
          <p:cNvPr id="49" name="Rounded Rectangle 48"/>
          <p:cNvSpPr/>
          <p:nvPr/>
        </p:nvSpPr>
        <p:spPr>
          <a:xfrm>
            <a:off x="5815584" y="427939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0" y="448284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Shazam</a:t>
            </a:r>
          </a:p>
        </p:txBody>
      </p:sp>
      <p:sp>
        <p:nvSpPr>
          <p:cNvPr id="51" name="Rounded Rectangle 50"/>
          <p:cNvSpPr/>
          <p:nvPr/>
        </p:nvSpPr>
        <p:spPr>
          <a:xfrm>
            <a:off x="5815584" y="5125212"/>
            <a:ext cx="1810512" cy="699515"/>
          </a:xfrm>
          <a:prstGeom prst="roundRect">
            <a:avLst>
              <a:gd name="adj" fmla="val 1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852160" y="532866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vector DB</a:t>
            </a:r>
          </a:p>
        </p:txBody>
      </p:sp>
      <p:sp>
        <p:nvSpPr>
          <p:cNvPr id="53" name="Rounded Rectangle 52"/>
          <p:cNvSpPr/>
          <p:nvPr/>
        </p:nvSpPr>
        <p:spPr>
          <a:xfrm>
            <a:off x="7735824" y="2587752"/>
            <a:ext cx="1810512" cy="699515"/>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0" y="279120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GPT-4o, Claude</a:t>
            </a:r>
          </a:p>
        </p:txBody>
      </p:sp>
      <p:sp>
        <p:nvSpPr>
          <p:cNvPr id="55" name="Rounded Rectangle 54"/>
          <p:cNvSpPr/>
          <p:nvPr/>
        </p:nvSpPr>
        <p:spPr>
          <a:xfrm>
            <a:off x="7735824" y="3433572"/>
            <a:ext cx="1810512" cy="699515"/>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72400" y="363702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DALL-E, MJ</a:t>
            </a:r>
          </a:p>
        </p:txBody>
      </p:sp>
      <p:sp>
        <p:nvSpPr>
          <p:cNvPr id="57" name="Rounded Rectangle 56"/>
          <p:cNvSpPr/>
          <p:nvPr/>
        </p:nvSpPr>
        <p:spPr>
          <a:xfrm>
            <a:off x="7735824" y="4279392"/>
            <a:ext cx="1810512" cy="699515"/>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0" y="448284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ElevenLabs, Sora</a:t>
            </a:r>
          </a:p>
        </p:txBody>
      </p:sp>
      <p:sp>
        <p:nvSpPr>
          <p:cNvPr id="59" name="Rounded Rectangle 58"/>
          <p:cNvSpPr/>
          <p:nvPr/>
        </p:nvSpPr>
        <p:spPr>
          <a:xfrm>
            <a:off x="7735824" y="5125212"/>
            <a:ext cx="1810512" cy="699515"/>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72400" y="532866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Codex tab.</a:t>
            </a:r>
          </a:p>
        </p:txBody>
      </p:sp>
      <p:sp>
        <p:nvSpPr>
          <p:cNvPr id="61" name="Rounded Rectangle 60"/>
          <p:cNvSpPr/>
          <p:nvPr/>
        </p:nvSpPr>
        <p:spPr>
          <a:xfrm>
            <a:off x="9656064" y="2587752"/>
            <a:ext cx="1810512" cy="699515"/>
          </a:xfrm>
          <a:prstGeom prst="roundRect">
            <a:avLst>
              <a:gd name="adj" fmla="val 1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92640" y="279120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GPT-4o, Claude</a:t>
            </a:r>
          </a:p>
        </p:txBody>
      </p:sp>
      <p:sp>
        <p:nvSpPr>
          <p:cNvPr id="63" name="Rounded Rectangle 62"/>
          <p:cNvSpPr/>
          <p:nvPr/>
        </p:nvSpPr>
        <p:spPr>
          <a:xfrm>
            <a:off x="9656064" y="343357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92640" y="363702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frame forecast</a:t>
            </a:r>
          </a:p>
        </p:txBody>
      </p:sp>
      <p:sp>
        <p:nvSpPr>
          <p:cNvPr id="65" name="Rounded Rectangle 64"/>
          <p:cNvSpPr/>
          <p:nvPr/>
        </p:nvSpPr>
        <p:spPr>
          <a:xfrm>
            <a:off x="9656064" y="427939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692640" y="448284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video forecast</a:t>
            </a:r>
          </a:p>
        </p:txBody>
      </p:sp>
      <p:sp>
        <p:nvSpPr>
          <p:cNvPr id="67" name="Rounded Rectangle 66"/>
          <p:cNvSpPr/>
          <p:nvPr/>
        </p:nvSpPr>
        <p:spPr>
          <a:xfrm>
            <a:off x="9656064" y="5125212"/>
            <a:ext cx="1810512" cy="699515"/>
          </a:xfrm>
          <a:prstGeom prst="roundRect">
            <a:avLst>
              <a:gd name="adj" fmla="val 1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92640" y="5328666"/>
            <a:ext cx="1737360" cy="310896"/>
          </a:xfrm>
          <a:prstGeom prst="rect">
            <a:avLst/>
          </a:prstGeom>
          <a:noFill/>
        </p:spPr>
        <p:txBody>
          <a:bodyPr wrap="square" lIns="0" rIns="0" tIns="0" bIns="0" anchor="ctr">
            <a:spAutoFit/>
          </a:bodyPr>
          <a:lstStyle/>
          <a:p>
            <a:pPr algn="ctr">
              <a:lnSpc>
                <a:spcPct val="110000"/>
              </a:lnSpc>
            </a:pPr>
            <a:r>
              <a:rPr sz="1200" b="0" i="0">
                <a:solidFill>
                  <a:srgbClr val="FFFFFF"/>
                </a:solidFill>
                <a:latin typeface="Arial"/>
              </a:rPr>
              <a:t>Prophet, ARIMA</a:t>
            </a:r>
          </a:p>
        </p:txBody>
      </p:sp>
      <p:sp>
        <p:nvSpPr>
          <p:cNvPr id="69" name="Rounded Rectangle 68"/>
          <p:cNvSpPr/>
          <p:nvPr/>
        </p:nvSpPr>
        <p:spPr>
          <a:xfrm>
            <a:off x="502920" y="5916168"/>
            <a:ext cx="11201400" cy="4572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5800" y="5989320"/>
            <a:ext cx="10835640" cy="31089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YOLO — the object detection from the demo at the start of the lecture. Its training approach and architecture come later in the course.</a:t>
            </a:r>
          </a:p>
        </p:txBody>
      </p:sp>
      <p:sp>
        <p:nvSpPr>
          <p:cNvPr id="71" name="TextBox 70"/>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Russell &amp; Norvig — AIMA (2021)</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Goodfellow, Bengio, Courville — Deep Learning (2016)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200" b="1" i="0">
                <a:solidFill>
                  <a:srgbClr val="21295C"/>
                </a:solidFill>
                <a:latin typeface="Arial"/>
              </a:rPr>
              <a:t>One task, three ways: control is split between the developer and the user.</a:t>
            </a:r>
          </a:p>
        </p:txBody>
      </p:sp>
      <p:sp>
        <p:nvSpPr>
          <p:cNvPr id="3" name="Rounded Rectangle 2"/>
          <p:cNvSpPr/>
          <p:nvPr/>
        </p:nvSpPr>
        <p:spPr>
          <a:xfrm>
            <a:off x="1783080" y="1737360"/>
            <a:ext cx="6537960" cy="3611880"/>
          </a:xfrm>
          <a:prstGeom prst="roundRect">
            <a:avLst>
              <a:gd name="adj" fmla="val 4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83080" y="3538728"/>
            <a:ext cx="653796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47488" y="1737360"/>
            <a:ext cx="9144" cy="3611880"/>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 y="3177540"/>
            <a:ext cx="1645920" cy="777240"/>
          </a:xfrm>
          <a:prstGeom prst="rect">
            <a:avLst/>
          </a:prstGeom>
          <a:noFill/>
        </p:spPr>
        <p:txBody>
          <a:bodyPr wrap="square" lIns="0" rIns="0" tIns="0" bIns="0" anchor="t">
            <a:spAutoFit/>
          </a:bodyPr>
          <a:lstStyle/>
          <a:p>
            <a:pPr algn="r">
              <a:lnSpc>
                <a:spcPct val="118000"/>
              </a:lnSpc>
            </a:pPr>
            <a:r>
              <a:rPr sz="1400" b="1" i="0">
                <a:solidFill>
                  <a:srgbClr val="065A82"/>
                </a:solidFill>
                <a:latin typeface="Arial"/>
              </a:rPr>
              <a:t>Developer
control</a:t>
            </a:r>
          </a:p>
        </p:txBody>
      </p:sp>
      <p:sp>
        <p:nvSpPr>
          <p:cNvPr id="7" name="TextBox 6"/>
          <p:cNvSpPr txBox="1"/>
          <p:nvPr/>
        </p:nvSpPr>
        <p:spPr>
          <a:xfrm>
            <a:off x="365759" y="1645919"/>
            <a:ext cx="1325880" cy="292608"/>
          </a:xfrm>
          <a:prstGeom prst="rect">
            <a:avLst/>
          </a:prstGeom>
          <a:noFill/>
        </p:spPr>
        <p:txBody>
          <a:bodyPr wrap="square" lIns="0" rIns="0" tIns="0" bIns="0" anchor="t">
            <a:spAutoFit/>
          </a:bodyPr>
          <a:lstStyle/>
          <a:p>
            <a:pPr algn="r">
              <a:lnSpc>
                <a:spcPct val="115000"/>
              </a:lnSpc>
            </a:pPr>
            <a:r>
              <a:rPr sz="1400" b="1" i="1">
                <a:solidFill>
                  <a:srgbClr val="6B7685"/>
                </a:solidFill>
                <a:latin typeface="Arial"/>
              </a:rPr>
              <a:t>high ↑</a:t>
            </a:r>
          </a:p>
        </p:txBody>
      </p:sp>
      <p:sp>
        <p:nvSpPr>
          <p:cNvPr id="8" name="TextBox 7"/>
          <p:cNvSpPr txBox="1"/>
          <p:nvPr/>
        </p:nvSpPr>
        <p:spPr>
          <a:xfrm>
            <a:off x="365759" y="5404103"/>
            <a:ext cx="1325880" cy="292608"/>
          </a:xfrm>
          <a:prstGeom prst="rect">
            <a:avLst/>
          </a:prstGeom>
          <a:noFill/>
        </p:spPr>
        <p:txBody>
          <a:bodyPr wrap="square" lIns="0" rIns="0" tIns="0" bIns="0" anchor="t">
            <a:spAutoFit/>
          </a:bodyPr>
          <a:lstStyle/>
          <a:p>
            <a:pPr algn="r">
              <a:lnSpc>
                <a:spcPct val="115000"/>
              </a:lnSpc>
            </a:pPr>
            <a:r>
              <a:rPr sz="1400" b="1" i="1">
                <a:solidFill>
                  <a:srgbClr val="6B7685"/>
                </a:solidFill>
                <a:latin typeface="Arial"/>
              </a:rPr>
              <a:t>low ↓</a:t>
            </a:r>
          </a:p>
        </p:txBody>
      </p:sp>
      <p:sp>
        <p:nvSpPr>
          <p:cNvPr id="9" name="TextBox 8"/>
          <p:cNvSpPr txBox="1"/>
          <p:nvPr/>
        </p:nvSpPr>
        <p:spPr>
          <a:xfrm>
            <a:off x="2857500" y="5422392"/>
            <a:ext cx="4389120" cy="365760"/>
          </a:xfrm>
          <a:prstGeom prst="rect">
            <a:avLst/>
          </a:prstGeom>
          <a:noFill/>
        </p:spPr>
        <p:txBody>
          <a:bodyPr wrap="square" lIns="0" rIns="0" tIns="0" bIns="0" anchor="t">
            <a:spAutoFit/>
          </a:bodyPr>
          <a:lstStyle/>
          <a:p>
            <a:pPr algn="ctr">
              <a:lnSpc>
                <a:spcPct val="115000"/>
              </a:lnSpc>
            </a:pPr>
            <a:r>
              <a:rPr sz="1500" b="1" i="0">
                <a:solidFill>
                  <a:srgbClr val="065A82"/>
                </a:solidFill>
                <a:latin typeface="Arial"/>
              </a:rPr>
              <a:t>Delegation from the user</a:t>
            </a:r>
          </a:p>
        </p:txBody>
      </p:sp>
      <p:sp>
        <p:nvSpPr>
          <p:cNvPr id="10" name="TextBox 9"/>
          <p:cNvSpPr txBox="1"/>
          <p:nvPr/>
        </p:nvSpPr>
        <p:spPr>
          <a:xfrm>
            <a:off x="1828800" y="5788152"/>
            <a:ext cx="1371600" cy="274320"/>
          </a:xfrm>
          <a:prstGeom prst="rect">
            <a:avLst/>
          </a:prstGeom>
          <a:noFill/>
        </p:spPr>
        <p:txBody>
          <a:bodyPr wrap="square" lIns="0" rIns="0" tIns="0" bIns="0" anchor="t">
            <a:spAutoFit/>
          </a:bodyPr>
          <a:lstStyle/>
          <a:p>
            <a:pPr algn="l">
              <a:lnSpc>
                <a:spcPct val="115000"/>
              </a:lnSpc>
            </a:pPr>
            <a:r>
              <a:rPr sz="1300" b="1" i="1">
                <a:solidFill>
                  <a:srgbClr val="6B7685"/>
                </a:solidFill>
                <a:latin typeface="Arial"/>
              </a:rPr>
              <a:t>← low</a:t>
            </a:r>
          </a:p>
        </p:txBody>
      </p:sp>
      <p:sp>
        <p:nvSpPr>
          <p:cNvPr id="11" name="TextBox 10"/>
          <p:cNvSpPr txBox="1"/>
          <p:nvPr/>
        </p:nvSpPr>
        <p:spPr>
          <a:xfrm>
            <a:off x="6903720" y="5788152"/>
            <a:ext cx="1371600" cy="274320"/>
          </a:xfrm>
          <a:prstGeom prst="rect">
            <a:avLst/>
          </a:prstGeom>
          <a:noFill/>
        </p:spPr>
        <p:txBody>
          <a:bodyPr wrap="square" lIns="0" rIns="0" tIns="0" bIns="0" anchor="t">
            <a:spAutoFit/>
          </a:bodyPr>
          <a:lstStyle/>
          <a:p>
            <a:pPr algn="r">
              <a:lnSpc>
                <a:spcPct val="115000"/>
              </a:lnSpc>
            </a:pPr>
            <a:r>
              <a:rPr sz="1300" b="1" i="1">
                <a:solidFill>
                  <a:srgbClr val="6B7685"/>
                </a:solidFill>
                <a:latin typeface="Arial"/>
              </a:rPr>
              <a:t>high →</a:t>
            </a:r>
          </a:p>
        </p:txBody>
      </p:sp>
      <p:sp>
        <p:nvSpPr>
          <p:cNvPr id="12" name="TextBox 11"/>
          <p:cNvSpPr txBox="1"/>
          <p:nvPr/>
        </p:nvSpPr>
        <p:spPr>
          <a:xfrm>
            <a:off x="1920240" y="1828800"/>
            <a:ext cx="1828800" cy="292608"/>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no point</a:t>
            </a:r>
          </a:p>
        </p:txBody>
      </p:sp>
      <p:sp>
        <p:nvSpPr>
          <p:cNvPr id="13" name="TextBox 12"/>
          <p:cNvSpPr txBox="1"/>
          <p:nvPr/>
        </p:nvSpPr>
        <p:spPr>
          <a:xfrm>
            <a:off x="6355079" y="4965192"/>
            <a:ext cx="1828800" cy="292608"/>
          </a:xfrm>
          <a:prstGeom prst="rect">
            <a:avLst/>
          </a:prstGeom>
          <a:noFill/>
        </p:spPr>
        <p:txBody>
          <a:bodyPr wrap="square" lIns="0" rIns="0" tIns="0" bIns="0" anchor="t">
            <a:spAutoFit/>
          </a:bodyPr>
          <a:lstStyle/>
          <a:p>
            <a:pPr algn="r">
              <a:lnSpc>
                <a:spcPct val="115000"/>
              </a:lnSpc>
            </a:pPr>
            <a:r>
              <a:rPr sz="1000" b="0" i="1">
                <a:solidFill>
                  <a:srgbClr val="6B7685"/>
                </a:solidFill>
                <a:latin typeface="Arial"/>
              </a:rPr>
              <a:t>danger zone</a:t>
            </a:r>
          </a:p>
        </p:txBody>
      </p:sp>
      <p:sp>
        <p:nvSpPr>
          <p:cNvPr id="14" name="Oval 13"/>
          <p:cNvSpPr/>
          <p:nvPr/>
        </p:nvSpPr>
        <p:spPr>
          <a:xfrm>
            <a:off x="2656332" y="3759098"/>
            <a:ext cx="868680" cy="868680"/>
          </a:xfrm>
          <a:prstGeom prst="ellipse">
            <a:avLst/>
          </a:prstGeom>
          <a:solidFill>
            <a:srgbClr val="1C7293"/>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42032" y="4010558"/>
            <a:ext cx="109728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Model</a:t>
            </a:r>
          </a:p>
        </p:txBody>
      </p:sp>
      <p:sp>
        <p:nvSpPr>
          <p:cNvPr id="16" name="TextBox 15"/>
          <p:cNvSpPr txBox="1"/>
          <p:nvPr/>
        </p:nvSpPr>
        <p:spPr>
          <a:xfrm>
            <a:off x="1536192" y="4650638"/>
            <a:ext cx="3108960" cy="320040"/>
          </a:xfrm>
          <a:prstGeom prst="rect">
            <a:avLst/>
          </a:prstGeom>
          <a:noFill/>
        </p:spPr>
        <p:txBody>
          <a:bodyPr wrap="square" lIns="0" rIns="0" tIns="0" bIns="0" anchor="t">
            <a:spAutoFit/>
          </a:bodyPr>
          <a:lstStyle/>
          <a:p>
            <a:pPr algn="ctr">
              <a:lnSpc>
                <a:spcPct val="115000"/>
              </a:lnSpc>
            </a:pPr>
            <a:r>
              <a:rPr sz="850" b="0" i="1">
                <a:solidFill>
                  <a:srgbClr val="21295C"/>
                </a:solidFill>
                <a:latin typeface="Arial"/>
              </a:rPr>
              <a:t>You integrate the API yourself, full control</a:t>
            </a:r>
          </a:p>
        </p:txBody>
      </p:sp>
      <p:sp>
        <p:nvSpPr>
          <p:cNvPr id="17" name="Oval 16"/>
          <p:cNvSpPr/>
          <p:nvPr/>
        </p:nvSpPr>
        <p:spPr>
          <a:xfrm>
            <a:off x="4617720" y="3108960"/>
            <a:ext cx="868680" cy="868680"/>
          </a:xfrm>
          <a:prstGeom prst="ellipse">
            <a:avLst/>
          </a:prstGeom>
          <a:solidFill>
            <a:srgbClr val="065A82"/>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3420" y="3360420"/>
            <a:ext cx="1097280" cy="365760"/>
          </a:xfrm>
          <a:prstGeom prst="rect">
            <a:avLst/>
          </a:prstGeom>
          <a:noFill/>
        </p:spPr>
        <p:txBody>
          <a:bodyPr wrap="square" lIns="0" rIns="0" tIns="0" bIns="0" anchor="ctr">
            <a:spAutoFit/>
          </a:bodyPr>
          <a:lstStyle/>
          <a:p>
            <a:pPr algn="ctr">
              <a:lnSpc>
                <a:spcPct val="115000"/>
              </a:lnSpc>
            </a:pPr>
            <a:r>
              <a:rPr sz="1400" b="1" i="0">
                <a:solidFill>
                  <a:srgbClr val="FFFFFF"/>
                </a:solidFill>
                <a:latin typeface="Arial"/>
              </a:rPr>
              <a:t>Chat</a:t>
            </a:r>
          </a:p>
        </p:txBody>
      </p:sp>
      <p:sp>
        <p:nvSpPr>
          <p:cNvPr id="19" name="TextBox 18"/>
          <p:cNvSpPr txBox="1"/>
          <p:nvPr/>
        </p:nvSpPr>
        <p:spPr>
          <a:xfrm>
            <a:off x="3497580" y="4000500"/>
            <a:ext cx="3108960" cy="320040"/>
          </a:xfrm>
          <a:prstGeom prst="rect">
            <a:avLst/>
          </a:prstGeom>
          <a:noFill/>
        </p:spPr>
        <p:txBody>
          <a:bodyPr wrap="square" lIns="0" rIns="0" tIns="0" bIns="0" anchor="t">
            <a:spAutoFit/>
          </a:bodyPr>
          <a:lstStyle/>
          <a:p>
            <a:pPr algn="ctr">
              <a:lnSpc>
                <a:spcPct val="115000"/>
              </a:lnSpc>
            </a:pPr>
            <a:r>
              <a:rPr sz="850" b="0" i="1">
                <a:solidFill>
                  <a:srgbClr val="21295C"/>
                </a:solidFill>
                <a:latin typeface="Arial"/>
              </a:rPr>
              <a:t>Dialog, clarifications on the fly</a:t>
            </a:r>
          </a:p>
        </p:txBody>
      </p:sp>
      <p:sp>
        <p:nvSpPr>
          <p:cNvPr id="20" name="Oval 19"/>
          <p:cNvSpPr/>
          <p:nvPr/>
        </p:nvSpPr>
        <p:spPr>
          <a:xfrm>
            <a:off x="6579108" y="2025395"/>
            <a:ext cx="868680" cy="868680"/>
          </a:xfrm>
          <a:prstGeom prst="ellipse">
            <a:avLst/>
          </a:prstGeom>
          <a:solidFill>
            <a:srgbClr val="F0AB00"/>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2276856"/>
            <a:ext cx="1097280" cy="36576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Agent</a:t>
            </a:r>
          </a:p>
        </p:txBody>
      </p:sp>
      <p:sp>
        <p:nvSpPr>
          <p:cNvPr id="22" name="TextBox 21"/>
          <p:cNvSpPr txBox="1"/>
          <p:nvPr/>
        </p:nvSpPr>
        <p:spPr>
          <a:xfrm>
            <a:off x="5458968" y="2916936"/>
            <a:ext cx="3108960" cy="320040"/>
          </a:xfrm>
          <a:prstGeom prst="rect">
            <a:avLst/>
          </a:prstGeom>
          <a:noFill/>
        </p:spPr>
        <p:txBody>
          <a:bodyPr wrap="square" lIns="0" rIns="0" tIns="0" bIns="0" anchor="t">
            <a:spAutoFit/>
          </a:bodyPr>
          <a:lstStyle/>
          <a:p>
            <a:pPr algn="ctr">
              <a:lnSpc>
                <a:spcPct val="115000"/>
              </a:lnSpc>
            </a:pPr>
            <a:r>
              <a:rPr sz="850" b="0" i="1">
                <a:solidFill>
                  <a:srgbClr val="21295C"/>
                </a:solidFill>
                <a:latin typeface="Arial"/>
              </a:rPr>
              <a:t>Full delegation, the orchestrator decides</a:t>
            </a:r>
          </a:p>
        </p:txBody>
      </p:sp>
      <p:sp>
        <p:nvSpPr>
          <p:cNvPr id="23" name="Rounded Rectangle 22"/>
          <p:cNvSpPr/>
          <p:nvPr/>
        </p:nvSpPr>
        <p:spPr>
          <a:xfrm>
            <a:off x="8778240" y="2194560"/>
            <a:ext cx="3093415"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2331720"/>
            <a:ext cx="2636215"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The same task</a:t>
            </a:r>
          </a:p>
        </p:txBody>
      </p:sp>
      <p:sp>
        <p:nvSpPr>
          <p:cNvPr id="25" name="TextBox 24"/>
          <p:cNvSpPr txBox="1"/>
          <p:nvPr/>
        </p:nvSpPr>
        <p:spPr>
          <a:xfrm>
            <a:off x="9006840" y="2743200"/>
            <a:ext cx="2636215" cy="1828800"/>
          </a:xfrm>
          <a:prstGeom prst="rect">
            <a:avLst/>
          </a:prstGeom>
          <a:noFill/>
        </p:spPr>
        <p:txBody>
          <a:bodyPr wrap="square" lIns="0" rIns="0" tIns="0" bIns="0" anchor="t">
            <a:spAutoFit/>
          </a:bodyPr>
          <a:lstStyle/>
          <a:p>
            <a:pPr algn="l">
              <a:lnSpc>
                <a:spcPct val="140000"/>
              </a:lnSpc>
            </a:pPr>
            <a:r>
              <a:rPr sz="1300" b="0" i="0">
                <a:solidFill>
                  <a:srgbClr val="21295C"/>
                </a:solidFill>
                <a:latin typeface="Arial"/>
              </a:rPr>
              <a:t>Extract fields from an incoming PDF contract:
• signing date
• counterparty
• amount
• term
and put them into a table.</a:t>
            </a:r>
          </a:p>
        </p:txBody>
      </p:sp>
      <p:sp>
        <p:nvSpPr>
          <p:cNvPr id="26" name="Rounded Rectangle 25"/>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The distribution of control is an engineering decision, not one way being superior to another. </a:t>
            </a:r>
            <a:r>
              <a:rPr sz="676" baseline="30000" b="0" i="1">
                <a:latin typeface="Arial"/>
                <a:cs typeface="Arial"/>
                <a:ea typeface="Arial"/>
                <a:solidFill>
                  <a:srgbClr val="1C7293"/>
                </a:solidFill>
              </a:rPr>
              <a:t>[1]</a:t>
            </a:r>
          </a:p>
        </p:txBody>
      </p:sp>
      <p:sp>
        <p:nvSpPr>
          <p:cNvPr id="28" name="TextBox 27"/>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Anthropic — Building Effective Agents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105156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MODEL</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000" b="1" i="0">
                <a:solidFill>
                  <a:srgbClr val="21295C"/>
                </a:solidFill>
                <a:latin typeface="Arial"/>
              </a:rPr>
              <a:t>The model is a component, not a system. Inference: input → preprocessing → model → postprocessing → output.</a:t>
            </a:r>
          </a:p>
        </p:txBody>
      </p:sp>
      <p:sp>
        <p:nvSpPr>
          <p:cNvPr id="4" name="Rounded Rectangle 3"/>
          <p:cNvSpPr/>
          <p:nvPr/>
        </p:nvSpPr>
        <p:spPr>
          <a:xfrm>
            <a:off x="685800" y="1874519"/>
            <a:ext cx="10835640" cy="2331720"/>
          </a:xfrm>
          <a:prstGeom prst="roundRect">
            <a:avLst>
              <a:gd name="adj" fmla="val 5000"/>
            </a:avLst>
          </a:prstGeom>
          <a:solidFill>
            <a:srgbClr val="FFFFFF"/>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81911"/>
            <a:ext cx="5486400"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This is already an application</a:t>
            </a:r>
          </a:p>
        </p:txBody>
      </p:sp>
      <p:sp>
        <p:nvSpPr>
          <p:cNvPr id="6" name="Rounded Rectangle 5"/>
          <p:cNvSpPr/>
          <p:nvPr/>
        </p:nvSpPr>
        <p:spPr>
          <a:xfrm>
            <a:off x="723747" y="2377439"/>
            <a:ext cx="1783080" cy="1234440"/>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747" y="2505456"/>
            <a:ext cx="1783080" cy="457200"/>
          </a:xfrm>
          <a:prstGeom prst="rect">
            <a:avLst/>
          </a:prstGeom>
          <a:noFill/>
        </p:spPr>
        <p:txBody>
          <a:bodyPr wrap="square" lIns="0" rIns="0" tIns="0" bIns="0" anchor="t">
            <a:spAutoFit/>
          </a:bodyPr>
          <a:lstStyle/>
          <a:p>
            <a:pPr algn="ctr">
              <a:lnSpc>
                <a:spcPct val="110000"/>
              </a:lnSpc>
            </a:pPr>
            <a:r>
              <a:rPr sz="1400" b="1" i="0">
                <a:solidFill>
                  <a:srgbClr val="FFFFFF"/>
                </a:solidFill>
                <a:latin typeface="Arial"/>
              </a:rPr>
              <a:t>Raw
input</a:t>
            </a:r>
          </a:p>
        </p:txBody>
      </p:sp>
      <p:sp>
        <p:nvSpPr>
          <p:cNvPr id="8" name="TextBox 7"/>
          <p:cNvSpPr txBox="1"/>
          <p:nvPr/>
        </p:nvSpPr>
        <p:spPr>
          <a:xfrm>
            <a:off x="796899" y="3035807"/>
            <a:ext cx="1636776" cy="530352"/>
          </a:xfrm>
          <a:prstGeom prst="rect">
            <a:avLst/>
          </a:prstGeom>
          <a:noFill/>
        </p:spPr>
        <p:txBody>
          <a:bodyPr wrap="square" lIns="0" rIns="0" tIns="0" bIns="0" anchor="t">
            <a:spAutoFit/>
          </a:bodyPr>
          <a:lstStyle/>
          <a:p>
            <a:pPr algn="ctr">
              <a:lnSpc>
                <a:spcPct val="120000"/>
              </a:lnSpc>
            </a:pPr>
            <a:r>
              <a:rPr sz="950" b="0" i="1">
                <a:solidFill>
                  <a:srgbClr val="FFFFFF"/>
                </a:solidFill>
                <a:latin typeface="Arial"/>
              </a:rPr>
              <a:t>camera frame,
text, audio</a:t>
            </a:r>
          </a:p>
        </p:txBody>
      </p:sp>
      <p:sp>
        <p:nvSpPr>
          <p:cNvPr id="9" name="Right Arrow 8"/>
          <p:cNvSpPr/>
          <p:nvPr/>
        </p:nvSpPr>
        <p:spPr>
          <a:xfrm>
            <a:off x="2543403" y="2811779"/>
            <a:ext cx="384048" cy="36576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64027" y="2377439"/>
            <a:ext cx="1783080" cy="1234440"/>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64027" y="2505456"/>
            <a:ext cx="1783080" cy="457200"/>
          </a:xfrm>
          <a:prstGeom prst="rect">
            <a:avLst/>
          </a:prstGeom>
          <a:noFill/>
        </p:spPr>
        <p:txBody>
          <a:bodyPr wrap="square" lIns="0" rIns="0" tIns="0" bIns="0" anchor="t">
            <a:spAutoFit/>
          </a:bodyPr>
          <a:lstStyle/>
          <a:p>
            <a:pPr algn="ctr">
              <a:lnSpc>
                <a:spcPct val="110000"/>
              </a:lnSpc>
            </a:pPr>
            <a:r>
              <a:rPr sz="1400" b="1" i="0">
                <a:solidFill>
                  <a:srgbClr val="FFFFFF"/>
                </a:solidFill>
                <a:latin typeface="Arial"/>
              </a:rPr>
              <a:t>Prepro-
cessing</a:t>
            </a:r>
          </a:p>
        </p:txBody>
      </p:sp>
      <p:sp>
        <p:nvSpPr>
          <p:cNvPr id="12" name="TextBox 11"/>
          <p:cNvSpPr txBox="1"/>
          <p:nvPr/>
        </p:nvSpPr>
        <p:spPr>
          <a:xfrm>
            <a:off x="3037179" y="3035807"/>
            <a:ext cx="1636776" cy="530352"/>
          </a:xfrm>
          <a:prstGeom prst="rect">
            <a:avLst/>
          </a:prstGeom>
          <a:noFill/>
        </p:spPr>
        <p:txBody>
          <a:bodyPr wrap="square" lIns="0" rIns="0" tIns="0" bIns="0" anchor="t">
            <a:spAutoFit/>
          </a:bodyPr>
          <a:lstStyle/>
          <a:p>
            <a:pPr algn="ctr">
              <a:lnSpc>
                <a:spcPct val="120000"/>
              </a:lnSpc>
            </a:pPr>
            <a:r>
              <a:rPr sz="950" b="0" i="1">
                <a:solidFill>
                  <a:srgbClr val="FFFFFF"/>
                </a:solidFill>
                <a:latin typeface="Arial"/>
              </a:rPr>
              <a:t>scaling,
cropping, tokenization</a:t>
            </a:r>
          </a:p>
        </p:txBody>
      </p:sp>
      <p:sp>
        <p:nvSpPr>
          <p:cNvPr id="13" name="Right Arrow 12"/>
          <p:cNvSpPr/>
          <p:nvPr/>
        </p:nvSpPr>
        <p:spPr>
          <a:xfrm>
            <a:off x="4783683" y="2811779"/>
            <a:ext cx="384048" cy="36576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04307" y="2377439"/>
            <a:ext cx="1783080" cy="1234440"/>
          </a:xfrm>
          <a:prstGeom prst="roundRect">
            <a:avLst>
              <a:gd name="adj" fmla="val 15000"/>
            </a:avLst>
          </a:prstGeom>
          <a:solidFill>
            <a:srgbClr val="065A82"/>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4307" y="2505456"/>
            <a:ext cx="1783080" cy="457200"/>
          </a:xfrm>
          <a:prstGeom prst="rect">
            <a:avLst/>
          </a:prstGeom>
          <a:noFill/>
        </p:spPr>
        <p:txBody>
          <a:bodyPr wrap="square" lIns="0" rIns="0" tIns="0" bIns="0" anchor="t">
            <a:spAutoFit/>
          </a:bodyPr>
          <a:lstStyle/>
          <a:p>
            <a:pPr algn="ctr">
              <a:lnSpc>
                <a:spcPct val="110000"/>
              </a:lnSpc>
            </a:pPr>
            <a:r>
              <a:rPr sz="1600" b="1" i="0">
                <a:solidFill>
                  <a:srgbClr val="FFFFFF"/>
                </a:solidFill>
                <a:latin typeface="Arial"/>
              </a:rPr>
              <a:t>Model</a:t>
            </a:r>
          </a:p>
        </p:txBody>
      </p:sp>
      <p:sp>
        <p:nvSpPr>
          <p:cNvPr id="16" name="TextBox 15"/>
          <p:cNvSpPr txBox="1"/>
          <p:nvPr/>
        </p:nvSpPr>
        <p:spPr>
          <a:xfrm>
            <a:off x="5277459" y="3035807"/>
            <a:ext cx="1636776" cy="530352"/>
          </a:xfrm>
          <a:prstGeom prst="rect">
            <a:avLst/>
          </a:prstGeom>
          <a:noFill/>
        </p:spPr>
        <p:txBody>
          <a:bodyPr wrap="square" lIns="0" rIns="0" tIns="0" bIns="0" anchor="t">
            <a:spAutoFit/>
          </a:bodyPr>
          <a:lstStyle/>
          <a:p>
            <a:pPr algn="ctr">
              <a:lnSpc>
                <a:spcPct val="120000"/>
              </a:lnSpc>
            </a:pPr>
            <a:r>
              <a:rPr sz="950" b="0" i="1">
                <a:solidFill>
                  <a:srgbClr val="FFFFFF"/>
                </a:solidFill>
                <a:latin typeface="Arial"/>
              </a:rPr>
              <a:t>inference</a:t>
            </a:r>
          </a:p>
        </p:txBody>
      </p:sp>
      <p:sp>
        <p:nvSpPr>
          <p:cNvPr id="17" name="Right Arrow 16"/>
          <p:cNvSpPr/>
          <p:nvPr/>
        </p:nvSpPr>
        <p:spPr>
          <a:xfrm>
            <a:off x="7023963" y="2811779"/>
            <a:ext cx="384048" cy="36576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44587" y="2377439"/>
            <a:ext cx="1783080" cy="1234440"/>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4587" y="2505456"/>
            <a:ext cx="1783080" cy="457200"/>
          </a:xfrm>
          <a:prstGeom prst="rect">
            <a:avLst/>
          </a:prstGeom>
          <a:noFill/>
        </p:spPr>
        <p:txBody>
          <a:bodyPr wrap="square" lIns="0" rIns="0" tIns="0" bIns="0" anchor="t">
            <a:spAutoFit/>
          </a:bodyPr>
          <a:lstStyle/>
          <a:p>
            <a:pPr algn="ctr">
              <a:lnSpc>
                <a:spcPct val="110000"/>
              </a:lnSpc>
            </a:pPr>
            <a:r>
              <a:rPr sz="1400" b="1" i="0">
                <a:solidFill>
                  <a:srgbClr val="FFFFFF"/>
                </a:solidFill>
                <a:latin typeface="Arial"/>
              </a:rPr>
              <a:t>Postpro-
cessing</a:t>
            </a:r>
          </a:p>
        </p:txBody>
      </p:sp>
      <p:sp>
        <p:nvSpPr>
          <p:cNvPr id="20" name="TextBox 19"/>
          <p:cNvSpPr txBox="1"/>
          <p:nvPr/>
        </p:nvSpPr>
        <p:spPr>
          <a:xfrm>
            <a:off x="7517739" y="3035807"/>
            <a:ext cx="1636776" cy="530352"/>
          </a:xfrm>
          <a:prstGeom prst="rect">
            <a:avLst/>
          </a:prstGeom>
          <a:noFill/>
        </p:spPr>
        <p:txBody>
          <a:bodyPr wrap="square" lIns="0" rIns="0" tIns="0" bIns="0" anchor="t">
            <a:spAutoFit/>
          </a:bodyPr>
          <a:lstStyle/>
          <a:p>
            <a:pPr algn="ctr">
              <a:lnSpc>
                <a:spcPct val="120000"/>
              </a:lnSpc>
            </a:pPr>
            <a:r>
              <a:rPr sz="950" b="0" i="1">
                <a:solidFill>
                  <a:srgbClr val="FFFFFF"/>
                </a:solidFill>
                <a:latin typeface="Arial"/>
              </a:rPr>
              <a:t>filtering,
normalization</a:t>
            </a:r>
          </a:p>
        </p:txBody>
      </p:sp>
      <p:sp>
        <p:nvSpPr>
          <p:cNvPr id="21" name="Right Arrow 20"/>
          <p:cNvSpPr/>
          <p:nvPr/>
        </p:nvSpPr>
        <p:spPr>
          <a:xfrm>
            <a:off x="9264243" y="2811779"/>
            <a:ext cx="384048" cy="36576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84867" y="2377439"/>
            <a:ext cx="1783080" cy="1234440"/>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84867" y="2505456"/>
            <a:ext cx="1783080" cy="457200"/>
          </a:xfrm>
          <a:prstGeom prst="rect">
            <a:avLst/>
          </a:prstGeom>
          <a:noFill/>
        </p:spPr>
        <p:txBody>
          <a:bodyPr wrap="square" lIns="0" rIns="0" tIns="0" bIns="0" anchor="t">
            <a:spAutoFit/>
          </a:bodyPr>
          <a:lstStyle/>
          <a:p>
            <a:pPr algn="ctr">
              <a:lnSpc>
                <a:spcPct val="110000"/>
              </a:lnSpc>
            </a:pPr>
            <a:r>
              <a:rPr sz="1400" b="1" i="0">
                <a:solidFill>
                  <a:srgbClr val="FFFFFF"/>
                </a:solidFill>
                <a:latin typeface="Arial"/>
              </a:rPr>
              <a:t>Output</a:t>
            </a:r>
          </a:p>
        </p:txBody>
      </p:sp>
      <p:sp>
        <p:nvSpPr>
          <p:cNvPr id="24" name="TextBox 23"/>
          <p:cNvSpPr txBox="1"/>
          <p:nvPr/>
        </p:nvSpPr>
        <p:spPr>
          <a:xfrm>
            <a:off x="9758019" y="3035807"/>
            <a:ext cx="1636776" cy="530352"/>
          </a:xfrm>
          <a:prstGeom prst="rect">
            <a:avLst/>
          </a:prstGeom>
          <a:noFill/>
        </p:spPr>
        <p:txBody>
          <a:bodyPr wrap="square" lIns="0" rIns="0" tIns="0" bIns="0" anchor="t">
            <a:spAutoFit/>
          </a:bodyPr>
          <a:lstStyle/>
          <a:p>
            <a:pPr algn="ctr">
              <a:lnSpc>
                <a:spcPct val="120000"/>
              </a:lnSpc>
            </a:pPr>
            <a:r>
              <a:rPr sz="950" b="0" i="1">
                <a:solidFill>
                  <a:srgbClr val="FFFFFF"/>
                </a:solidFill>
                <a:latin typeface="Arial"/>
              </a:rPr>
              <a:t>JSON, label,
action</a:t>
            </a:r>
          </a:p>
        </p:txBody>
      </p:sp>
      <p:sp>
        <p:nvSpPr>
          <p:cNvPr id="25" name="TextBox 24"/>
          <p:cNvSpPr txBox="1"/>
          <p:nvPr/>
        </p:nvSpPr>
        <p:spPr>
          <a:xfrm>
            <a:off x="723747" y="3685031"/>
            <a:ext cx="1783080" cy="292608"/>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 external system</a:t>
            </a:r>
          </a:p>
        </p:txBody>
      </p:sp>
      <p:sp>
        <p:nvSpPr>
          <p:cNvPr id="26" name="TextBox 25"/>
          <p:cNvSpPr txBox="1"/>
          <p:nvPr/>
        </p:nvSpPr>
        <p:spPr>
          <a:xfrm>
            <a:off x="2964027" y="3685031"/>
            <a:ext cx="1783080" cy="292608"/>
          </a:xfrm>
          <a:prstGeom prst="rect">
            <a:avLst/>
          </a:prstGeom>
          <a:noFill/>
        </p:spPr>
        <p:txBody>
          <a:bodyPr wrap="square" lIns="0" rIns="0" tIns="0" bIns="0" anchor="t">
            <a:spAutoFit/>
          </a:bodyPr>
          <a:lstStyle/>
          <a:p>
            <a:pPr algn="ctr">
              <a:lnSpc>
                <a:spcPct val="115000"/>
              </a:lnSpc>
            </a:pPr>
            <a:r>
              <a:rPr sz="1000" b="1" i="1">
                <a:solidFill>
                  <a:srgbClr val="065A82"/>
                </a:solidFill>
                <a:latin typeface="Arial"/>
              </a:rPr>
              <a:t>↑ developer</a:t>
            </a:r>
          </a:p>
        </p:txBody>
      </p:sp>
      <p:sp>
        <p:nvSpPr>
          <p:cNvPr id="27" name="TextBox 26"/>
          <p:cNvSpPr txBox="1"/>
          <p:nvPr/>
        </p:nvSpPr>
        <p:spPr>
          <a:xfrm>
            <a:off x="5204307" y="3685031"/>
            <a:ext cx="1783080" cy="292608"/>
          </a:xfrm>
          <a:prstGeom prst="rect">
            <a:avLst/>
          </a:prstGeom>
          <a:noFill/>
        </p:spPr>
        <p:txBody>
          <a:bodyPr wrap="square" lIns="0" rIns="0" tIns="0" bIns="0" anchor="t">
            <a:spAutoFit/>
          </a:bodyPr>
          <a:lstStyle/>
          <a:p>
            <a:pPr algn="ctr">
              <a:lnSpc>
                <a:spcPct val="115000"/>
              </a:lnSpc>
            </a:pPr>
            <a:r>
              <a:rPr sz="1000" b="1" i="1">
                <a:solidFill>
                  <a:srgbClr val="21295C"/>
                </a:solidFill>
                <a:latin typeface="Arial"/>
              </a:rPr>
              <a:t>↑ AI model</a:t>
            </a:r>
          </a:p>
        </p:txBody>
      </p:sp>
      <p:sp>
        <p:nvSpPr>
          <p:cNvPr id="28" name="TextBox 27"/>
          <p:cNvSpPr txBox="1"/>
          <p:nvPr/>
        </p:nvSpPr>
        <p:spPr>
          <a:xfrm>
            <a:off x="7444587" y="3685031"/>
            <a:ext cx="1783080" cy="292608"/>
          </a:xfrm>
          <a:prstGeom prst="rect">
            <a:avLst/>
          </a:prstGeom>
          <a:noFill/>
        </p:spPr>
        <p:txBody>
          <a:bodyPr wrap="square" lIns="0" rIns="0" tIns="0" bIns="0" anchor="t">
            <a:spAutoFit/>
          </a:bodyPr>
          <a:lstStyle/>
          <a:p>
            <a:pPr algn="ctr">
              <a:lnSpc>
                <a:spcPct val="115000"/>
              </a:lnSpc>
            </a:pPr>
            <a:r>
              <a:rPr sz="1000" b="1" i="1">
                <a:solidFill>
                  <a:srgbClr val="065A82"/>
                </a:solidFill>
                <a:latin typeface="Arial"/>
              </a:rPr>
              <a:t>↑ developer</a:t>
            </a:r>
          </a:p>
        </p:txBody>
      </p:sp>
      <p:sp>
        <p:nvSpPr>
          <p:cNvPr id="29" name="TextBox 28"/>
          <p:cNvSpPr txBox="1"/>
          <p:nvPr/>
        </p:nvSpPr>
        <p:spPr>
          <a:xfrm>
            <a:off x="9684867" y="3685031"/>
            <a:ext cx="1783080" cy="292608"/>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 application</a:t>
            </a:r>
          </a:p>
        </p:txBody>
      </p:sp>
      <p:sp>
        <p:nvSpPr>
          <p:cNvPr id="30" name="Rounded Rectangle 29"/>
          <p:cNvSpPr/>
          <p:nvPr/>
        </p:nvSpPr>
        <p:spPr>
          <a:xfrm>
            <a:off x="700887" y="4617720"/>
            <a:ext cx="2560320" cy="114300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887" y="4782312"/>
            <a:ext cx="2560320" cy="384048"/>
          </a:xfrm>
          <a:prstGeom prst="rect">
            <a:avLst/>
          </a:prstGeom>
          <a:noFill/>
        </p:spPr>
        <p:txBody>
          <a:bodyPr wrap="square" lIns="0" rIns="0" tIns="0" bIns="0" anchor="t">
            <a:spAutoFit/>
          </a:bodyPr>
          <a:lstStyle/>
          <a:p>
            <a:pPr algn="ctr">
              <a:lnSpc>
                <a:spcPct val="115000"/>
              </a:lnSpc>
            </a:pPr>
            <a:r>
              <a:rPr sz="1500" b="1" i="0">
                <a:solidFill>
                  <a:srgbClr val="065A82"/>
                </a:solidFill>
                <a:latin typeface="Arial"/>
              </a:rPr>
              <a:t>YOLOv8</a:t>
            </a:r>
          </a:p>
        </p:txBody>
      </p:sp>
      <p:sp>
        <p:nvSpPr>
          <p:cNvPr id="32" name="TextBox 31"/>
          <p:cNvSpPr txBox="1"/>
          <p:nvPr/>
        </p:nvSpPr>
        <p:spPr>
          <a:xfrm>
            <a:off x="700887" y="5184648"/>
            <a:ext cx="2560320" cy="530352"/>
          </a:xfrm>
          <a:prstGeom prst="rect">
            <a:avLst/>
          </a:prstGeom>
          <a:noFill/>
        </p:spPr>
        <p:txBody>
          <a:bodyPr wrap="square" lIns="0" rIns="0" tIns="0" bIns="0" anchor="t">
            <a:spAutoFit/>
          </a:bodyPr>
          <a:lstStyle/>
          <a:p>
            <a:pPr algn="ctr">
              <a:lnSpc>
                <a:spcPct val="125000"/>
              </a:lnSpc>
            </a:pPr>
            <a:r>
              <a:rPr sz="1100" b="0" i="0">
                <a:solidFill>
                  <a:srgbClr val="21295C"/>
                </a:solidFill>
                <a:latin typeface="Arial"/>
              </a:rPr>
              <a:t>object detection on images</a:t>
            </a:r>
          </a:p>
        </p:txBody>
      </p:sp>
      <p:sp>
        <p:nvSpPr>
          <p:cNvPr id="33" name="Rounded Rectangle 32"/>
          <p:cNvSpPr/>
          <p:nvPr/>
        </p:nvSpPr>
        <p:spPr>
          <a:xfrm>
            <a:off x="3444087" y="4617720"/>
            <a:ext cx="2560320" cy="114300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44087" y="4782312"/>
            <a:ext cx="2560320" cy="384048"/>
          </a:xfrm>
          <a:prstGeom prst="rect">
            <a:avLst/>
          </a:prstGeom>
          <a:noFill/>
        </p:spPr>
        <p:txBody>
          <a:bodyPr wrap="square" lIns="0" rIns="0" tIns="0" bIns="0" anchor="t">
            <a:spAutoFit/>
          </a:bodyPr>
          <a:lstStyle/>
          <a:p>
            <a:pPr algn="ctr">
              <a:lnSpc>
                <a:spcPct val="115000"/>
              </a:lnSpc>
            </a:pPr>
            <a:r>
              <a:rPr sz="1500" b="1" i="0">
                <a:solidFill>
                  <a:srgbClr val="065A82"/>
                </a:solidFill>
                <a:latin typeface="Arial"/>
              </a:rPr>
              <a:t>Whisper</a:t>
            </a:r>
          </a:p>
        </p:txBody>
      </p:sp>
      <p:sp>
        <p:nvSpPr>
          <p:cNvPr id="35" name="TextBox 34"/>
          <p:cNvSpPr txBox="1"/>
          <p:nvPr/>
        </p:nvSpPr>
        <p:spPr>
          <a:xfrm>
            <a:off x="3444087" y="5184648"/>
            <a:ext cx="2560320" cy="530352"/>
          </a:xfrm>
          <a:prstGeom prst="rect">
            <a:avLst/>
          </a:prstGeom>
          <a:noFill/>
        </p:spPr>
        <p:txBody>
          <a:bodyPr wrap="square" lIns="0" rIns="0" tIns="0" bIns="0" anchor="t">
            <a:spAutoFit/>
          </a:bodyPr>
          <a:lstStyle/>
          <a:p>
            <a:pPr algn="ctr">
              <a:lnSpc>
                <a:spcPct val="125000"/>
              </a:lnSpc>
            </a:pPr>
            <a:r>
              <a:rPr sz="1100" b="0" i="0">
                <a:solidFill>
                  <a:srgbClr val="21295C"/>
                </a:solidFill>
                <a:latin typeface="Arial"/>
              </a:rPr>
              <a:t>speech recognition</a:t>
            </a:r>
          </a:p>
        </p:txBody>
      </p:sp>
      <p:sp>
        <p:nvSpPr>
          <p:cNvPr id="36" name="Rounded Rectangle 35"/>
          <p:cNvSpPr/>
          <p:nvPr/>
        </p:nvSpPr>
        <p:spPr>
          <a:xfrm>
            <a:off x="6187287" y="4617720"/>
            <a:ext cx="2560320" cy="114300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87287" y="4782312"/>
            <a:ext cx="2560320" cy="384048"/>
          </a:xfrm>
          <a:prstGeom prst="rect">
            <a:avLst/>
          </a:prstGeom>
          <a:noFill/>
        </p:spPr>
        <p:txBody>
          <a:bodyPr wrap="square" lIns="0" rIns="0" tIns="0" bIns="0" anchor="t">
            <a:spAutoFit/>
          </a:bodyPr>
          <a:lstStyle/>
          <a:p>
            <a:pPr algn="ctr">
              <a:lnSpc>
                <a:spcPct val="115000"/>
              </a:lnSpc>
            </a:pPr>
            <a:r>
              <a:rPr sz="1500" b="1" i="0">
                <a:solidFill>
                  <a:srgbClr val="065A82"/>
                </a:solidFill>
                <a:latin typeface="Arial"/>
              </a:rPr>
              <a:t>Stable Diffusion</a:t>
            </a:r>
          </a:p>
        </p:txBody>
      </p:sp>
      <p:sp>
        <p:nvSpPr>
          <p:cNvPr id="38" name="TextBox 37"/>
          <p:cNvSpPr txBox="1"/>
          <p:nvPr/>
        </p:nvSpPr>
        <p:spPr>
          <a:xfrm>
            <a:off x="6187287" y="5184648"/>
            <a:ext cx="2560320" cy="530352"/>
          </a:xfrm>
          <a:prstGeom prst="rect">
            <a:avLst/>
          </a:prstGeom>
          <a:noFill/>
        </p:spPr>
        <p:txBody>
          <a:bodyPr wrap="square" lIns="0" rIns="0" tIns="0" bIns="0" anchor="t">
            <a:spAutoFit/>
          </a:bodyPr>
          <a:lstStyle/>
          <a:p>
            <a:pPr algn="ctr">
              <a:lnSpc>
                <a:spcPct val="125000"/>
              </a:lnSpc>
            </a:pPr>
            <a:r>
              <a:rPr sz="1100" b="0" i="0">
                <a:solidFill>
                  <a:srgbClr val="21295C"/>
                </a:solidFill>
                <a:latin typeface="Arial"/>
              </a:rPr>
              <a:t>image generation</a:t>
            </a:r>
          </a:p>
        </p:txBody>
      </p:sp>
      <p:sp>
        <p:nvSpPr>
          <p:cNvPr id="39" name="Rounded Rectangle 38"/>
          <p:cNvSpPr/>
          <p:nvPr/>
        </p:nvSpPr>
        <p:spPr>
          <a:xfrm>
            <a:off x="8930487" y="4617720"/>
            <a:ext cx="2560320" cy="114300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30487" y="4782312"/>
            <a:ext cx="2560320" cy="384048"/>
          </a:xfrm>
          <a:prstGeom prst="rect">
            <a:avLst/>
          </a:prstGeom>
          <a:noFill/>
        </p:spPr>
        <p:txBody>
          <a:bodyPr wrap="square" lIns="0" rIns="0" tIns="0" bIns="0" anchor="t">
            <a:spAutoFit/>
          </a:bodyPr>
          <a:lstStyle/>
          <a:p>
            <a:pPr algn="ctr">
              <a:lnSpc>
                <a:spcPct val="115000"/>
              </a:lnSpc>
            </a:pPr>
            <a:r>
              <a:rPr sz="1500" b="1" i="0">
                <a:solidFill>
                  <a:srgbClr val="065A82"/>
                </a:solidFill>
                <a:latin typeface="Arial"/>
              </a:rPr>
              <a:t>AlphaFold</a:t>
            </a:r>
          </a:p>
        </p:txBody>
      </p:sp>
      <p:sp>
        <p:nvSpPr>
          <p:cNvPr id="41" name="TextBox 40"/>
          <p:cNvSpPr txBox="1"/>
          <p:nvPr/>
        </p:nvSpPr>
        <p:spPr>
          <a:xfrm>
            <a:off x="8930487" y="5184648"/>
            <a:ext cx="2560320" cy="530352"/>
          </a:xfrm>
          <a:prstGeom prst="rect">
            <a:avLst/>
          </a:prstGeom>
          <a:noFill/>
        </p:spPr>
        <p:txBody>
          <a:bodyPr wrap="square" lIns="0" rIns="0" tIns="0" bIns="0" anchor="t">
            <a:spAutoFit/>
          </a:bodyPr>
          <a:lstStyle/>
          <a:p>
            <a:pPr algn="ctr">
              <a:lnSpc>
                <a:spcPct val="125000"/>
              </a:lnSpc>
            </a:pPr>
            <a:r>
              <a:rPr sz="1100" b="0" i="0">
                <a:solidFill>
                  <a:srgbClr val="21295C"/>
                </a:solidFill>
                <a:latin typeface="Arial"/>
              </a:rPr>
              <a:t>protein-structure prediction </a:t>
            </a:r>
            <a:r>
              <a:rPr sz="572" baseline="30000" b="0" i="1">
                <a:latin typeface="Arial"/>
                <a:cs typeface="Arial"/>
                <a:ea typeface="Arial"/>
                <a:solidFill>
                  <a:srgbClr val="1C7293"/>
                </a:solidFill>
              </a:rPr>
              <a:t>[2]</a:t>
            </a:r>
          </a:p>
        </p:txBody>
      </p:sp>
      <p:sp>
        <p:nvSpPr>
          <p:cNvPr id="42" name="Rounded Rectangle 41"/>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Preprocessing and postprocessing are the developer's responsibility. </a:t>
            </a:r>
            <a:r>
              <a:rPr sz="624" baseline="30000" b="0" i="1">
                <a:latin typeface="Arial"/>
                <a:cs typeface="Arial"/>
                <a:ea typeface="Arial"/>
                <a:solidFill>
                  <a:srgbClr val="1C7293"/>
                </a:solidFill>
              </a:rPr>
              <a:t>[1]</a:t>
            </a:r>
            <a:r>
              <a:rPr sz="1200" b="1" i="0">
                <a:latin typeface="Arial"/>
                <a:cs typeface="Arial"/>
                <a:ea typeface="Arial"/>
                <a:solidFill>
                  <a:srgbClr val="21295C"/>
                </a:solidFill>
              </a:rPr>
              <a:t> YOLO = 50 lines; a working system with YOLO = hundreds of lines.</a:t>
            </a:r>
          </a:p>
        </p:txBody>
      </p:sp>
      <p:sp>
        <p:nvSpPr>
          <p:cNvPr id="44" name="TextBox 43"/>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Kreuzberger et al. — MLOps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Jumper et al. — AlphaFold, Nature (2021)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905256"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CHAT</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How chat works: the dialog cycle.</a:t>
            </a:r>
          </a:p>
        </p:txBody>
      </p:sp>
      <p:sp>
        <p:nvSpPr>
          <p:cNvPr id="4" name="Oval 3"/>
          <p:cNvSpPr/>
          <p:nvPr/>
        </p:nvSpPr>
        <p:spPr>
          <a:xfrm>
            <a:off x="548640" y="2743200"/>
            <a:ext cx="777240" cy="7772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907792"/>
            <a:ext cx="777240" cy="50292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USER</a:t>
            </a:r>
          </a:p>
        </p:txBody>
      </p:sp>
      <p:sp>
        <p:nvSpPr>
          <p:cNvPr id="6" name="Oval 5"/>
          <p:cNvSpPr/>
          <p:nvPr/>
        </p:nvSpPr>
        <p:spPr>
          <a:xfrm>
            <a:off x="548640" y="3977639"/>
            <a:ext cx="777240" cy="77724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142231"/>
            <a:ext cx="777240" cy="502920"/>
          </a:xfrm>
          <a:prstGeom prst="rect">
            <a:avLst/>
          </a:prstGeom>
          <a:noFill/>
        </p:spPr>
        <p:txBody>
          <a:bodyPr wrap="square" lIns="0" rIns="0" tIns="0" bIns="0" anchor="ctr">
            <a:spAutoFit/>
          </a:bodyPr>
          <a:lstStyle/>
          <a:p>
            <a:pPr algn="ctr">
              <a:lnSpc>
                <a:spcPct val="115000"/>
              </a:lnSpc>
            </a:pPr>
            <a:r>
              <a:rPr sz="1100" b="1" i="0">
                <a:solidFill>
                  <a:srgbClr val="FFFFFF"/>
                </a:solidFill>
                <a:latin typeface="Arial"/>
              </a:rPr>
              <a:t>USER</a:t>
            </a:r>
          </a:p>
        </p:txBody>
      </p:sp>
      <p:sp>
        <p:nvSpPr>
          <p:cNvPr id="8" name="Rounded Rectangle 7"/>
          <p:cNvSpPr/>
          <p:nvPr/>
        </p:nvSpPr>
        <p:spPr>
          <a:xfrm>
            <a:off x="1554480" y="1920239"/>
            <a:ext cx="3429000" cy="594360"/>
          </a:xfrm>
          <a:prstGeom prst="roundRect">
            <a:avLst>
              <a:gd name="adj" fmla="val 2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1993391"/>
            <a:ext cx="3063240" cy="2743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System prompt</a:t>
            </a:r>
          </a:p>
        </p:txBody>
      </p:sp>
      <p:sp>
        <p:nvSpPr>
          <p:cNvPr id="10" name="TextBox 9"/>
          <p:cNvSpPr txBox="1"/>
          <p:nvPr/>
        </p:nvSpPr>
        <p:spPr>
          <a:xfrm>
            <a:off x="1737360" y="2249423"/>
            <a:ext cx="3063240" cy="274320"/>
          </a:xfrm>
          <a:prstGeom prst="rect">
            <a:avLst/>
          </a:prstGeom>
          <a:noFill/>
        </p:spPr>
        <p:txBody>
          <a:bodyPr wrap="square" lIns="0" rIns="0" tIns="0" bIns="0" anchor="t">
            <a:spAutoFit/>
          </a:bodyPr>
          <a:lstStyle/>
          <a:p>
            <a:pPr algn="l">
              <a:lnSpc>
                <a:spcPct val="115000"/>
              </a:lnSpc>
            </a:pPr>
            <a:r>
              <a:rPr sz="1000" b="0" i="1">
                <a:solidFill>
                  <a:srgbClr val="21295C"/>
                </a:solidFill>
                <a:latin typeface="Arial"/>
              </a:rPr>
              <a:t>role, constraints, answer format</a:t>
            </a:r>
          </a:p>
        </p:txBody>
      </p:sp>
      <p:sp>
        <p:nvSpPr>
          <p:cNvPr id="11" name="Rounded Rectangle 10"/>
          <p:cNvSpPr/>
          <p:nvPr/>
        </p:nvSpPr>
        <p:spPr>
          <a:xfrm>
            <a:off x="1554480" y="2743200"/>
            <a:ext cx="3429000" cy="777240"/>
          </a:xfrm>
          <a:prstGeom prst="roundRect">
            <a:avLst>
              <a:gd name="adj" fmla="val 18000"/>
            </a:avLst>
          </a:prstGeom>
          <a:solidFill>
            <a:srgbClr val="FFFFFF"/>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2834640"/>
            <a:ext cx="3063240" cy="27432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Message</a:t>
            </a:r>
          </a:p>
        </p:txBody>
      </p:sp>
      <p:sp>
        <p:nvSpPr>
          <p:cNvPr id="13" name="TextBox 12"/>
          <p:cNvSpPr txBox="1"/>
          <p:nvPr/>
        </p:nvSpPr>
        <p:spPr>
          <a:xfrm>
            <a:off x="1737360" y="3127248"/>
            <a:ext cx="3063240" cy="329184"/>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question / instruction / data snippet</a:t>
            </a:r>
          </a:p>
        </p:txBody>
      </p:sp>
      <p:sp>
        <p:nvSpPr>
          <p:cNvPr id="14" name="Down Arrow 13"/>
          <p:cNvSpPr/>
          <p:nvPr/>
        </p:nvSpPr>
        <p:spPr>
          <a:xfrm>
            <a:off x="3104388" y="2532887"/>
            <a:ext cx="329184" cy="219456"/>
          </a:xfrm>
          <a:prstGeom prst="down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1435608" y="3040379"/>
            <a:ext cx="100583" cy="18288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5001768" y="3040379"/>
            <a:ext cx="100583" cy="18288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2743200"/>
            <a:ext cx="2011680" cy="2011679"/>
          </a:xfrm>
          <a:prstGeom prst="roundRect">
            <a:avLst>
              <a:gd name="adj" fmla="val 18000"/>
            </a:avLst>
          </a:prstGeom>
          <a:solidFill>
            <a:srgbClr val="065A82"/>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3383279"/>
            <a:ext cx="2011680" cy="411480"/>
          </a:xfrm>
          <a:prstGeom prst="rect">
            <a:avLst/>
          </a:prstGeom>
          <a:noFill/>
        </p:spPr>
        <p:txBody>
          <a:bodyPr wrap="square" lIns="0" rIns="0" tIns="0" bIns="0" anchor="ctr">
            <a:spAutoFit/>
          </a:bodyPr>
          <a:lstStyle/>
          <a:p>
            <a:pPr algn="ctr">
              <a:lnSpc>
                <a:spcPct val="115000"/>
              </a:lnSpc>
            </a:pPr>
            <a:r>
              <a:rPr sz="2400" b="1" i="0">
                <a:solidFill>
                  <a:srgbClr val="FFFFFF"/>
                </a:solidFill>
                <a:latin typeface="Arial"/>
              </a:rPr>
              <a:t>LLM</a:t>
            </a:r>
          </a:p>
        </p:txBody>
      </p:sp>
      <p:sp>
        <p:nvSpPr>
          <p:cNvPr id="19" name="TextBox 18"/>
          <p:cNvSpPr txBox="1"/>
          <p:nvPr/>
        </p:nvSpPr>
        <p:spPr>
          <a:xfrm>
            <a:off x="5120640" y="3794759"/>
            <a:ext cx="2011680" cy="365760"/>
          </a:xfrm>
          <a:prstGeom prst="rect">
            <a:avLst/>
          </a:prstGeom>
          <a:noFill/>
        </p:spPr>
        <p:txBody>
          <a:bodyPr wrap="square" lIns="0" rIns="0" tIns="0" bIns="0" anchor="ctr">
            <a:spAutoFit/>
          </a:bodyPr>
          <a:lstStyle/>
          <a:p>
            <a:pPr algn="ctr">
              <a:lnSpc>
                <a:spcPct val="115000"/>
              </a:lnSpc>
            </a:pPr>
            <a:r>
              <a:rPr sz="1100" b="0" i="1">
                <a:solidFill>
                  <a:srgbClr val="FFFFFF"/>
                </a:solidFill>
                <a:latin typeface="Arial"/>
              </a:rPr>
              <a:t>model</a:t>
            </a:r>
          </a:p>
        </p:txBody>
      </p:sp>
      <p:sp>
        <p:nvSpPr>
          <p:cNvPr id="20" name="Left Arrow 19"/>
          <p:cNvSpPr/>
          <p:nvPr/>
        </p:nvSpPr>
        <p:spPr>
          <a:xfrm>
            <a:off x="5001768" y="4274820"/>
            <a:ext cx="100583" cy="182880"/>
          </a:xfrm>
          <a:prstGeom prst="lef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554480" y="3977639"/>
            <a:ext cx="3429000" cy="777240"/>
          </a:xfrm>
          <a:prstGeom prst="roundRect">
            <a:avLst>
              <a:gd name="adj" fmla="val 18000"/>
            </a:avLst>
          </a:prstGeom>
          <a:solidFill>
            <a:srgbClr val="FFFFFF"/>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360" y="4069079"/>
            <a:ext cx="3063240"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Answer</a:t>
            </a:r>
          </a:p>
        </p:txBody>
      </p:sp>
      <p:sp>
        <p:nvSpPr>
          <p:cNvPr id="23" name="TextBox 22"/>
          <p:cNvSpPr txBox="1"/>
          <p:nvPr/>
        </p:nvSpPr>
        <p:spPr>
          <a:xfrm>
            <a:off x="1737360" y="4361688"/>
            <a:ext cx="3063240" cy="329184"/>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token by token · appended to history</a:t>
            </a:r>
          </a:p>
        </p:txBody>
      </p:sp>
      <p:sp>
        <p:nvSpPr>
          <p:cNvPr id="24" name="Left Arrow 23"/>
          <p:cNvSpPr/>
          <p:nvPr/>
        </p:nvSpPr>
        <p:spPr>
          <a:xfrm>
            <a:off x="1435608" y="4274820"/>
            <a:ext cx="100583" cy="182880"/>
          </a:xfrm>
          <a:prstGeom prst="lef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54480" y="4937759"/>
            <a:ext cx="3429000" cy="256032"/>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Next step — the whole text again:</a:t>
            </a:r>
          </a:p>
        </p:txBody>
      </p:sp>
      <p:sp>
        <p:nvSpPr>
          <p:cNvPr id="26" name="Rounded Rectangle 25"/>
          <p:cNvSpPr/>
          <p:nvPr/>
        </p:nvSpPr>
        <p:spPr>
          <a:xfrm>
            <a:off x="1554480" y="5212079"/>
            <a:ext cx="829818" cy="219456"/>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411730" y="5212079"/>
            <a:ext cx="829818" cy="219456"/>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268980" y="5212079"/>
            <a:ext cx="829818" cy="219456"/>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26230" y="5212079"/>
            <a:ext cx="829818" cy="219456"/>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54480" y="5486399"/>
            <a:ext cx="3429000" cy="274320"/>
          </a:xfrm>
          <a:prstGeom prst="rect">
            <a:avLst/>
          </a:prstGeom>
          <a:noFill/>
        </p:spPr>
        <p:txBody>
          <a:bodyPr wrap="square" lIns="0" rIns="0" tIns="0" bIns="0" anchor="t">
            <a:spAutoFit/>
          </a:bodyPr>
          <a:lstStyle/>
          <a:p>
            <a:pPr algn="l">
              <a:lnSpc>
                <a:spcPct val="115000"/>
              </a:lnSpc>
            </a:pPr>
            <a:r>
              <a:rPr sz="1050" b="1" i="1">
                <a:solidFill>
                  <a:srgbClr val="21295C"/>
                </a:solidFill>
                <a:latin typeface="Arial"/>
              </a:rPr>
              <a:t>the whole text again at every step — not an increment</a:t>
            </a:r>
          </a:p>
        </p:txBody>
      </p:sp>
      <p:sp>
        <p:nvSpPr>
          <p:cNvPr id="31" name="Rounded Rectangle 30"/>
          <p:cNvSpPr/>
          <p:nvPr/>
        </p:nvSpPr>
        <p:spPr>
          <a:xfrm>
            <a:off x="7452360" y="1920239"/>
            <a:ext cx="4236415" cy="150876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1993391"/>
            <a:ext cx="3870655" cy="136245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Control via the system prompt.
The prompt sets role, constraints, format. The same chat is tuned for different scenarios — that is an engineering lever for the developer. </a:t>
            </a:r>
            <a:r>
              <a:rPr sz="624" baseline="30000" b="0" i="1">
                <a:latin typeface="Arial"/>
                <a:cs typeface="Arial"/>
                <a:ea typeface="Arial"/>
                <a:solidFill>
                  <a:srgbClr val="1C7293"/>
                </a:solidFill>
              </a:rPr>
              <a:t>[1]</a:t>
            </a:r>
          </a:p>
        </p:txBody>
      </p:sp>
      <p:sp>
        <p:nvSpPr>
          <p:cNvPr id="33" name="Rounded Rectangle 32"/>
          <p:cNvSpPr/>
          <p:nvPr/>
        </p:nvSpPr>
        <p:spPr>
          <a:xfrm>
            <a:off x="7452360" y="3703320"/>
            <a:ext cx="4236415" cy="16916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35240" y="3776472"/>
            <a:ext cx="3870655" cy="154533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The limit is the context window.
128k–1M tokens; when the history no longer fits, old messages drop out and the chat «forgets» the start of a long conversation. This is a model limitation, not a bug.</a:t>
            </a:r>
          </a:p>
        </p:txBody>
      </p:sp>
      <p:sp>
        <p:nvSpPr>
          <p:cNvPr id="35" name="TextBox 34"/>
          <p:cNvSpPr txBox="1"/>
          <p:nvPr/>
        </p:nvSpPr>
        <p:spPr>
          <a:xfrm>
            <a:off x="502920" y="6053328"/>
            <a:ext cx="11201400" cy="320040"/>
          </a:xfrm>
          <a:prstGeom prst="rect">
            <a:avLst/>
          </a:prstGeom>
          <a:noFill/>
        </p:spPr>
        <p:txBody>
          <a:bodyPr wrap="square" lIns="0" rIns="0" tIns="0" bIns="0" anchor="t">
            <a:spAutoFit/>
          </a:bodyPr>
          <a:lstStyle/>
          <a:p>
            <a:pPr algn="ctr">
              <a:lnSpc>
                <a:spcPct val="115000"/>
              </a:lnSpc>
            </a:pPr>
            <a:r>
              <a:rPr sz="1300" b="1" i="1">
                <a:solidFill>
                  <a:srgbClr val="21295C"/>
                </a:solidFill>
                <a:latin typeface="Arial"/>
              </a:rPr>
              <a:t>Chat is a pipeline: «assemble → feed → append → show».</a:t>
            </a:r>
          </a:p>
        </p:txBody>
      </p:sp>
      <p:sp>
        <p:nvSpPr>
          <p:cNvPr id="36" name="TextBox 35"/>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Anthropic — Building Effective Agents (2024)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905256"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CHAT</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Chat = model + interface + dialog memory.</a:t>
            </a:r>
          </a:p>
        </p:txBody>
      </p:sp>
      <p:sp>
        <p:nvSpPr>
          <p:cNvPr id="4" name="Rounded Rectangle 3"/>
          <p:cNvSpPr/>
          <p:nvPr/>
        </p:nvSpPr>
        <p:spPr>
          <a:xfrm>
            <a:off x="502920" y="1965960"/>
            <a:ext cx="59436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94560"/>
            <a:ext cx="5394960"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A case — typical for chat</a:t>
            </a:r>
          </a:p>
        </p:txBody>
      </p:sp>
      <p:sp>
        <p:nvSpPr>
          <p:cNvPr id="6" name="TextBox 5"/>
          <p:cNvSpPr txBox="1"/>
          <p:nvPr/>
        </p:nvSpPr>
        <p:spPr>
          <a:xfrm>
            <a:off x="777240" y="2606039"/>
            <a:ext cx="5394960" cy="868680"/>
          </a:xfrm>
          <a:prstGeom prst="rect">
            <a:avLst/>
          </a:prstGeom>
          <a:noFill/>
        </p:spPr>
        <p:txBody>
          <a:bodyPr wrap="square" lIns="0" rIns="0" tIns="0" bIns="0" anchor="t">
            <a:spAutoFit/>
          </a:bodyPr>
          <a:lstStyle/>
          <a:p>
            <a:pPr algn="l">
              <a:lnSpc>
                <a:spcPct val="130000"/>
              </a:lnSpc>
            </a:pPr>
            <a:r>
              <a:rPr sz="1500" b="0" i="0">
                <a:solidFill>
                  <a:srgbClr val="21295C"/>
                </a:solidFill>
                <a:latin typeface="Arial"/>
              </a:rPr>
              <a:t>An engineer received an unclear spec from an adjacent team and needs to build a checklist for their own work.</a:t>
            </a:r>
          </a:p>
        </p:txBody>
      </p:sp>
      <p:sp>
        <p:nvSpPr>
          <p:cNvPr id="7" name="Rounded Rectangle 6"/>
          <p:cNvSpPr/>
          <p:nvPr/>
        </p:nvSpPr>
        <p:spPr>
          <a:xfrm>
            <a:off x="868680" y="3657600"/>
            <a:ext cx="5212080" cy="1828800"/>
          </a:xfrm>
          <a:prstGeom prst="roundRect">
            <a:avLst>
              <a:gd name="adj" fmla="val 8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794760"/>
            <a:ext cx="4846320" cy="1554480"/>
          </a:xfrm>
          <a:prstGeom prst="rect">
            <a:avLst/>
          </a:prstGeom>
          <a:noFill/>
        </p:spPr>
        <p:txBody>
          <a:bodyPr wrap="square" lIns="0" rIns="0" tIns="0" bIns="0" anchor="t">
            <a:spAutoFit/>
          </a:bodyPr>
          <a:lstStyle/>
          <a:p>
            <a:pPr algn="l">
              <a:lnSpc>
                <a:spcPct val="145000"/>
              </a:lnSpc>
            </a:pPr>
            <a:r>
              <a:rPr sz="1200" b="1" i="0">
                <a:solidFill>
                  <a:srgbClr val="065A82"/>
                </a:solidFill>
                <a:latin typeface="Arial"/>
              </a:rPr>
              <a:t>You:  </a:t>
            </a:r>
            <a:r>
              <a:rPr sz="1200" b="0" i="0">
                <a:solidFill>
                  <a:srgbClr val="21295C"/>
                </a:solidFill>
                <a:latin typeface="Arial"/>
              </a:rPr>
              <a:t>Explain clause 4.2 of the spec in plain words.</a:t>
            </a:r>
          </a:p>
          <a:p>
            <a:pPr algn="l">
              <a:lnSpc>
                <a:spcPct val="145000"/>
              </a:lnSpc>
            </a:pPr>
            <a:r>
              <a:rPr sz="1200" b="1" i="0">
                <a:solidFill>
                  <a:srgbClr val="028090"/>
                </a:solidFill>
                <a:latin typeface="Arial"/>
              </a:rPr>
              <a:t>Chat:  </a:t>
            </a:r>
            <a:r>
              <a:rPr sz="1200" b="0" i="0">
                <a:solidFill>
                  <a:srgbClr val="21295C"/>
                </a:solidFill>
                <a:latin typeface="Arial"/>
              </a:rPr>
              <a:t>This is a requirement for…</a:t>
            </a:r>
          </a:p>
          <a:p>
            <a:pPr algn="l">
              <a:lnSpc>
                <a:spcPct val="145000"/>
              </a:lnSpc>
            </a:pPr>
            <a:r>
              <a:rPr sz="1200" b="1" i="0">
                <a:solidFill>
                  <a:srgbClr val="065A82"/>
                </a:solidFill>
                <a:latin typeface="Arial"/>
              </a:rPr>
              <a:t>You:  </a:t>
            </a:r>
            <a:r>
              <a:rPr sz="1200" b="0" i="0">
                <a:solidFill>
                  <a:srgbClr val="21295C"/>
                </a:solidFill>
                <a:latin typeface="Arial"/>
              </a:rPr>
              <a:t>Build a 5-item checklist.</a:t>
            </a:r>
          </a:p>
          <a:p>
            <a:pPr algn="l">
              <a:lnSpc>
                <a:spcPct val="145000"/>
              </a:lnSpc>
            </a:pPr>
            <a:r>
              <a:rPr sz="1200" b="1" i="0">
                <a:solidFill>
                  <a:srgbClr val="028090"/>
                </a:solidFill>
                <a:latin typeface="Arial"/>
              </a:rPr>
              <a:t>Chat:  </a:t>
            </a:r>
            <a:r>
              <a:rPr sz="1200" b="0" i="0">
                <a:solidFill>
                  <a:srgbClr val="21295C"/>
                </a:solidFill>
                <a:latin typeface="Arial"/>
              </a:rPr>
              <a:t>1. Check…  2. Confirm…  3. …</a:t>
            </a:r>
          </a:p>
        </p:txBody>
      </p:sp>
      <p:sp>
        <p:nvSpPr>
          <p:cNvPr id="9" name="TextBox 8"/>
          <p:cNvSpPr txBox="1"/>
          <p:nvPr/>
        </p:nvSpPr>
        <p:spPr>
          <a:xfrm>
            <a:off x="777240" y="5623560"/>
            <a:ext cx="5394960" cy="320040"/>
          </a:xfrm>
          <a:prstGeom prst="rect">
            <a:avLst/>
          </a:prstGeom>
          <a:noFill/>
        </p:spPr>
        <p:txBody>
          <a:bodyPr wrap="square" lIns="0" rIns="0" tIns="0" bIns="0" anchor="t">
            <a:spAutoFit/>
          </a:bodyPr>
          <a:lstStyle/>
          <a:p>
            <a:pPr algn="l">
              <a:lnSpc>
                <a:spcPct val="130000"/>
              </a:lnSpc>
            </a:pPr>
            <a:r>
              <a:rPr sz="1100" b="0" i="1">
                <a:solidFill>
                  <a:srgbClr val="1C7293"/>
                </a:solidFill>
                <a:latin typeface="Arial"/>
              </a:rPr>
              <a:t>A one-off task with clarifications — optimal for chat. Not a model, not an agent, not an app.</a:t>
            </a:r>
          </a:p>
        </p:txBody>
      </p:sp>
      <p:sp>
        <p:nvSpPr>
          <p:cNvPr id="10" name="Rounded Rectangle 9"/>
          <p:cNvSpPr/>
          <p:nvPr/>
        </p:nvSpPr>
        <p:spPr>
          <a:xfrm>
            <a:off x="6766559" y="1965960"/>
            <a:ext cx="4937760" cy="4114800"/>
          </a:xfrm>
          <a:prstGeom prst="roundRect">
            <a:avLst>
              <a:gd name="adj" fmla="val 7407"/>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79" y="2194560"/>
            <a:ext cx="4389120"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A caveat for production systems</a:t>
            </a:r>
          </a:p>
        </p:txBody>
      </p:sp>
      <p:sp>
        <p:nvSpPr>
          <p:cNvPr id="12" name="TextBox 11"/>
          <p:cNvSpPr txBox="1"/>
          <p:nvPr/>
        </p:nvSpPr>
        <p:spPr>
          <a:xfrm>
            <a:off x="7040879" y="2743200"/>
            <a:ext cx="4389120" cy="1280160"/>
          </a:xfrm>
          <a:prstGeom prst="rect">
            <a:avLst/>
          </a:prstGeom>
          <a:noFill/>
        </p:spPr>
        <p:txBody>
          <a:bodyPr wrap="square" lIns="0" rIns="0" tIns="0" bIns="0" anchor="t">
            <a:spAutoFit/>
          </a:bodyPr>
          <a:lstStyle/>
          <a:p>
            <a:pPr algn="l">
              <a:lnSpc>
                <a:spcPct val="125000"/>
              </a:lnSpc>
            </a:pPr>
            <a:r>
              <a:rPr sz="1600" b="1" i="0">
                <a:solidFill>
                  <a:srgbClr val="21295C"/>
                </a:solidFill>
                <a:latin typeface="Arial"/>
              </a:rPr>
              <a:t>Pure chats are almost never used in production.</a:t>
            </a:r>
          </a:p>
        </p:txBody>
      </p:sp>
      <p:sp>
        <p:nvSpPr>
          <p:cNvPr id="13" name="TextBox 12"/>
          <p:cNvSpPr txBox="1"/>
          <p:nvPr/>
        </p:nvSpPr>
        <p:spPr>
          <a:xfrm>
            <a:off x="7040879" y="4114800"/>
            <a:ext cx="4389120" cy="1828800"/>
          </a:xfrm>
          <a:prstGeom prst="rect">
            <a:avLst/>
          </a:prstGeom>
          <a:noFill/>
        </p:spPr>
        <p:txBody>
          <a:bodyPr wrap="square" lIns="0" rIns="0" tIns="0" bIns="0" anchor="t">
            <a:spAutoFit/>
          </a:bodyPr>
          <a:lstStyle/>
          <a:p>
            <a:pPr algn="l">
              <a:lnSpc>
                <a:spcPct val="140000"/>
              </a:lnSpc>
            </a:pPr>
            <a:r>
              <a:rPr sz="1200" b="0" i="0">
                <a:solidFill>
                  <a:srgbClr val="21295C"/>
                </a:solidFill>
                <a:latin typeface="Arial"/>
              </a:rPr>
              <a:t>Almost everywhere they are extended into agents </a:t>
            </a:r>
            <a:r>
              <a:rPr sz="624" baseline="30000" b="0" i="1">
                <a:latin typeface="Arial"/>
                <a:cs typeface="Arial"/>
                <a:ea typeface="Arial"/>
                <a:solidFill>
                  <a:srgbClr val="1C7293"/>
                </a:solidFill>
              </a:rPr>
              <a:t>[1]</a:t>
            </a:r>
            <a:r>
              <a:rPr sz="1200" b="0" i="0">
                <a:latin typeface="Arial"/>
                <a:cs typeface="Arial"/>
                <a:ea typeface="Arial"/>
                <a:solidFill>
                  <a:srgbClr val="21295C"/>
                </a:solidFill>
              </a:rPr>
              <a:t> </a:t>
            </a:r>
            <a:r>
              <a:rPr sz="624" baseline="30000" b="0" i="1">
                <a:latin typeface="Arial"/>
                <a:cs typeface="Arial"/>
                <a:ea typeface="Arial"/>
                <a:solidFill>
                  <a:srgbClr val="1C7293"/>
                </a:solidFill>
              </a:rPr>
              <a:t>[2]</a:t>
            </a:r>
            <a:r>
              <a:rPr sz="1200" b="0" i="0">
                <a:latin typeface="Arial"/>
                <a:cs typeface="Arial"/>
                <a:ea typeface="Arial"/>
                <a:solidFill>
                  <a:srgbClr val="21295C"/>
                </a:solidFill>
              </a:rPr>
              <a:t> — at least for long-term memory and search over a corporate knowledge base (RAG).
We'll break down the agent architecture on the next slide.</a:t>
            </a:r>
          </a:p>
        </p:txBody>
      </p:sp>
      <p:sp>
        <p:nvSpPr>
          <p:cNvPr id="14" name="Rounded Rectangle 13"/>
          <p:cNvSpPr/>
          <p:nvPr/>
        </p:nvSpPr>
        <p:spPr>
          <a:xfrm>
            <a:off x="502920" y="5916168"/>
            <a:ext cx="11201400" cy="4572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989320"/>
            <a:ext cx="10835640" cy="310896"/>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Choosing chat is a point on the interaction scale, not the one right answer.</a:t>
            </a:r>
          </a:p>
        </p:txBody>
      </p:sp>
      <p:sp>
        <p:nvSpPr>
          <p:cNvPr id="16" name="TextBox 15"/>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VCIOM — «Neural networks in Russians' lives» (Oct 2025)</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Dam et al. — Survey on LLM-based AI Chatbots (2024)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105156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AGENT</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Agent = chat + orchestrator + external memory + tools. </a:t>
            </a:r>
            <a:r>
              <a:rPr sz="1352" baseline="30000" b="0" i="1">
                <a:latin typeface="Arial"/>
                <a:cs typeface="Arial"/>
                <a:ea typeface="Arial"/>
                <a:solidFill>
                  <a:srgbClr val="1C7293"/>
                </a:solidFill>
              </a:rPr>
              <a:t>[1]</a:t>
            </a:r>
            <a:r>
              <a:rPr sz="2600" b="1" i="0">
                <a:latin typeface="Arial"/>
                <a:cs typeface="Arial"/>
                <a:ea typeface="Arial"/>
                <a:solidFill>
                  <a:srgbClr val="21295C"/>
                </a:solidFill>
              </a:rPr>
              <a:t> </a:t>
            </a:r>
            <a:r>
              <a:rPr sz="1352" baseline="30000" b="0" i="1">
                <a:latin typeface="Arial"/>
                <a:cs typeface="Arial"/>
                <a:ea typeface="Arial"/>
                <a:solidFill>
                  <a:srgbClr val="1C7293"/>
                </a:solidFill>
              </a:rPr>
              <a:t>[2]</a:t>
            </a:r>
            <a:r>
              <a:rPr sz="2600" b="1" i="0">
                <a:latin typeface="Arial"/>
                <a:cs typeface="Arial"/>
                <a:ea typeface="Arial"/>
                <a:solidFill>
                  <a:srgbClr val="21295C"/>
                </a:solidFill>
              </a:rPr>
              <a:t> </a:t>
            </a:r>
            <a:r>
              <a:rPr sz="1352" baseline="30000" b="0" i="1">
                <a:latin typeface="Arial"/>
                <a:cs typeface="Arial"/>
                <a:ea typeface="Arial"/>
                <a:solidFill>
                  <a:srgbClr val="1C7293"/>
                </a:solidFill>
              </a:rPr>
              <a:t>[3]</a:t>
            </a:r>
          </a:p>
        </p:txBody>
      </p:sp>
      <p:sp>
        <p:nvSpPr>
          <p:cNvPr id="4" name="Oval 3"/>
          <p:cNvSpPr/>
          <p:nvPr/>
        </p:nvSpPr>
        <p:spPr>
          <a:xfrm>
            <a:off x="685800" y="2446020"/>
            <a:ext cx="1005840" cy="1005840"/>
          </a:xfrm>
          <a:prstGeom prst="ellipse">
            <a:avLst/>
          </a:prstGeom>
          <a:solidFill>
            <a:srgbClr val="1C7293"/>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802635"/>
            <a:ext cx="1005840" cy="32004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USER</a:t>
            </a:r>
          </a:p>
        </p:txBody>
      </p:sp>
      <p:sp>
        <p:nvSpPr>
          <p:cNvPr id="6" name="TextBox 5"/>
          <p:cNvSpPr txBox="1"/>
          <p:nvPr/>
        </p:nvSpPr>
        <p:spPr>
          <a:xfrm>
            <a:off x="365760" y="3506724"/>
            <a:ext cx="1645920" cy="27432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User</a:t>
            </a:r>
          </a:p>
        </p:txBody>
      </p:sp>
      <p:sp>
        <p:nvSpPr>
          <p:cNvPr id="7" name="Rounded Rectangle 6"/>
          <p:cNvSpPr/>
          <p:nvPr/>
        </p:nvSpPr>
        <p:spPr>
          <a:xfrm>
            <a:off x="2194560" y="2331720"/>
            <a:ext cx="1965960" cy="1234440"/>
          </a:xfrm>
          <a:prstGeom prst="roundRect">
            <a:avLst>
              <a:gd name="adj" fmla="val 15000"/>
            </a:avLst>
          </a:prstGeom>
          <a:solidFill>
            <a:srgbClr val="065A82"/>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0" y="2514600"/>
            <a:ext cx="1965960" cy="411480"/>
          </a:xfrm>
          <a:prstGeom prst="rect">
            <a:avLst/>
          </a:prstGeom>
          <a:noFill/>
        </p:spPr>
        <p:txBody>
          <a:bodyPr wrap="square" lIns="0" rIns="0" tIns="0" bIns="0" anchor="t">
            <a:spAutoFit/>
          </a:bodyPr>
          <a:lstStyle/>
          <a:p>
            <a:pPr algn="ctr">
              <a:lnSpc>
                <a:spcPct val="115000"/>
              </a:lnSpc>
            </a:pPr>
            <a:r>
              <a:rPr sz="1700" b="1" i="0">
                <a:solidFill>
                  <a:srgbClr val="FFFFFF"/>
                </a:solidFill>
                <a:latin typeface="Arial"/>
              </a:rPr>
              <a:t>Plan</a:t>
            </a:r>
          </a:p>
        </p:txBody>
      </p:sp>
      <p:sp>
        <p:nvSpPr>
          <p:cNvPr id="9" name="TextBox 8"/>
          <p:cNvSpPr txBox="1"/>
          <p:nvPr/>
        </p:nvSpPr>
        <p:spPr>
          <a:xfrm>
            <a:off x="2267712" y="3017520"/>
            <a:ext cx="1819656"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plan of action (Plan)</a:t>
            </a:r>
          </a:p>
        </p:txBody>
      </p:sp>
      <p:sp>
        <p:nvSpPr>
          <p:cNvPr id="10" name="Right Arrow 9"/>
          <p:cNvSpPr/>
          <p:nvPr/>
        </p:nvSpPr>
        <p:spPr>
          <a:xfrm>
            <a:off x="4187952" y="2802635"/>
            <a:ext cx="356616" cy="29260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331720"/>
            <a:ext cx="1965960" cy="1234440"/>
          </a:xfrm>
          <a:prstGeom prst="roundRect">
            <a:avLst>
              <a:gd name="adj" fmla="val 15000"/>
            </a:avLst>
          </a:prstGeom>
          <a:solidFill>
            <a:srgbClr val="028090"/>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514600"/>
            <a:ext cx="1965960" cy="411480"/>
          </a:xfrm>
          <a:prstGeom prst="rect">
            <a:avLst/>
          </a:prstGeom>
          <a:noFill/>
        </p:spPr>
        <p:txBody>
          <a:bodyPr wrap="square" lIns="0" rIns="0" tIns="0" bIns="0" anchor="t">
            <a:spAutoFit/>
          </a:bodyPr>
          <a:lstStyle/>
          <a:p>
            <a:pPr algn="ctr">
              <a:lnSpc>
                <a:spcPct val="115000"/>
              </a:lnSpc>
            </a:pPr>
            <a:r>
              <a:rPr sz="1700" b="1" i="0">
                <a:solidFill>
                  <a:srgbClr val="FFFFFF"/>
                </a:solidFill>
                <a:latin typeface="Arial"/>
              </a:rPr>
              <a:t>Act</a:t>
            </a:r>
          </a:p>
        </p:txBody>
      </p:sp>
      <p:sp>
        <p:nvSpPr>
          <p:cNvPr id="13" name="TextBox 12"/>
          <p:cNvSpPr txBox="1"/>
          <p:nvPr/>
        </p:nvSpPr>
        <p:spPr>
          <a:xfrm>
            <a:off x="4645152" y="3017520"/>
            <a:ext cx="1819656"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tool call (Act)</a:t>
            </a:r>
          </a:p>
        </p:txBody>
      </p:sp>
      <p:sp>
        <p:nvSpPr>
          <p:cNvPr id="14" name="Right Arrow 13"/>
          <p:cNvSpPr/>
          <p:nvPr/>
        </p:nvSpPr>
        <p:spPr>
          <a:xfrm>
            <a:off x="6565392" y="2802635"/>
            <a:ext cx="356616" cy="29260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0" y="2331720"/>
            <a:ext cx="1965960" cy="1234440"/>
          </a:xfrm>
          <a:prstGeom prst="roundRect">
            <a:avLst>
              <a:gd name="adj" fmla="val 15000"/>
            </a:avLst>
          </a:prstGeom>
          <a:solidFill>
            <a:srgbClr val="1C7293"/>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2514600"/>
            <a:ext cx="1965960" cy="411480"/>
          </a:xfrm>
          <a:prstGeom prst="rect">
            <a:avLst/>
          </a:prstGeom>
          <a:noFill/>
        </p:spPr>
        <p:txBody>
          <a:bodyPr wrap="square" lIns="0" rIns="0" tIns="0" bIns="0" anchor="t">
            <a:spAutoFit/>
          </a:bodyPr>
          <a:lstStyle/>
          <a:p>
            <a:pPr algn="ctr">
              <a:lnSpc>
                <a:spcPct val="115000"/>
              </a:lnSpc>
            </a:pPr>
            <a:r>
              <a:rPr sz="1700" b="1" i="0">
                <a:solidFill>
                  <a:srgbClr val="FFFFFF"/>
                </a:solidFill>
                <a:latin typeface="Arial"/>
              </a:rPr>
              <a:t>Observe</a:t>
            </a:r>
          </a:p>
        </p:txBody>
      </p:sp>
      <p:sp>
        <p:nvSpPr>
          <p:cNvPr id="17" name="TextBox 16"/>
          <p:cNvSpPr txBox="1"/>
          <p:nvPr/>
        </p:nvSpPr>
        <p:spPr>
          <a:xfrm>
            <a:off x="7022592" y="3017520"/>
            <a:ext cx="1819656"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result into memory (Observe)</a:t>
            </a:r>
          </a:p>
        </p:txBody>
      </p:sp>
      <p:sp>
        <p:nvSpPr>
          <p:cNvPr id="18" name="Right Arrow 17"/>
          <p:cNvSpPr/>
          <p:nvPr/>
        </p:nvSpPr>
        <p:spPr>
          <a:xfrm>
            <a:off x="8942832" y="2802635"/>
            <a:ext cx="356616" cy="29260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26880" y="2331720"/>
            <a:ext cx="1965960" cy="1234440"/>
          </a:xfrm>
          <a:prstGeom prst="roundRect">
            <a:avLst>
              <a:gd name="adj" fmla="val 15000"/>
            </a:avLst>
          </a:prstGeom>
          <a:solidFill>
            <a:srgbClr val="065A82"/>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514600"/>
            <a:ext cx="1965960" cy="411480"/>
          </a:xfrm>
          <a:prstGeom prst="rect">
            <a:avLst/>
          </a:prstGeom>
          <a:noFill/>
        </p:spPr>
        <p:txBody>
          <a:bodyPr wrap="square" lIns="0" rIns="0" tIns="0" bIns="0" anchor="t">
            <a:spAutoFit/>
          </a:bodyPr>
          <a:lstStyle/>
          <a:p>
            <a:pPr algn="ctr">
              <a:lnSpc>
                <a:spcPct val="115000"/>
              </a:lnSpc>
            </a:pPr>
            <a:r>
              <a:rPr sz="1700" b="1" i="0">
                <a:solidFill>
                  <a:srgbClr val="FFFFFF"/>
                </a:solidFill>
                <a:latin typeface="Arial"/>
              </a:rPr>
              <a:t>Reflect</a:t>
            </a:r>
          </a:p>
        </p:txBody>
      </p:sp>
      <p:sp>
        <p:nvSpPr>
          <p:cNvPr id="21" name="TextBox 20"/>
          <p:cNvSpPr txBox="1"/>
          <p:nvPr/>
        </p:nvSpPr>
        <p:spPr>
          <a:xfrm>
            <a:off x="9400032" y="3017520"/>
            <a:ext cx="1819656"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goal reached? (Reflect)</a:t>
            </a:r>
          </a:p>
        </p:txBody>
      </p:sp>
      <p:sp>
        <p:nvSpPr>
          <p:cNvPr id="22" name="Right Arrow 21"/>
          <p:cNvSpPr/>
          <p:nvPr/>
        </p:nvSpPr>
        <p:spPr>
          <a:xfrm>
            <a:off x="1737360" y="2857499"/>
            <a:ext cx="411480" cy="182880"/>
          </a:xfrm>
          <a:prstGeom prst="right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65408" y="3566160"/>
            <a:ext cx="54864"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eft Arrow 23"/>
          <p:cNvSpPr/>
          <p:nvPr/>
        </p:nvSpPr>
        <p:spPr>
          <a:xfrm>
            <a:off x="1828800" y="3977640"/>
            <a:ext cx="9436608" cy="182880"/>
          </a:xfrm>
          <a:prstGeom prst="lef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1737360" y="3451860"/>
            <a:ext cx="182880" cy="617220"/>
          </a:xfrm>
          <a:prstGeom prst="up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7400" y="3685032"/>
            <a:ext cx="7726679" cy="256032"/>
          </a:xfrm>
          <a:prstGeom prst="rect">
            <a:avLst/>
          </a:prstGeom>
          <a:noFill/>
        </p:spPr>
        <p:txBody>
          <a:bodyPr wrap="square" lIns="0" rIns="0" tIns="0" bIns="0" anchor="t">
            <a:spAutoFit/>
          </a:bodyPr>
          <a:lstStyle/>
          <a:p>
            <a:pPr algn="l">
              <a:lnSpc>
                <a:spcPct val="115000"/>
              </a:lnSpc>
            </a:pPr>
            <a:r>
              <a:rPr sz="1050" b="0" i="1">
                <a:solidFill>
                  <a:srgbClr val="028090"/>
                </a:solidFill>
                <a:latin typeface="Arial"/>
              </a:rPr>
              <a:t>stop → result to the user</a:t>
            </a:r>
          </a:p>
        </p:txBody>
      </p:sp>
      <p:sp>
        <p:nvSpPr>
          <p:cNvPr id="27" name="Rectangle 26"/>
          <p:cNvSpPr/>
          <p:nvPr/>
        </p:nvSpPr>
        <p:spPr>
          <a:xfrm>
            <a:off x="3177540" y="1828799"/>
            <a:ext cx="7132320" cy="54864"/>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77540" y="1828799"/>
            <a:ext cx="54864" cy="5029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10218420" y="1810511"/>
            <a:ext cx="182880" cy="594360"/>
          </a:xfrm>
          <a:prstGeom prst="up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77540" y="1508760"/>
            <a:ext cx="7132320" cy="274320"/>
          </a:xfrm>
          <a:prstGeom prst="rect">
            <a:avLst/>
          </a:prstGeom>
          <a:noFill/>
        </p:spPr>
        <p:txBody>
          <a:bodyPr wrap="square" lIns="0" rIns="0" tIns="0" bIns="0" anchor="t">
            <a:spAutoFit/>
          </a:bodyPr>
          <a:lstStyle/>
          <a:p>
            <a:pPr algn="ctr">
              <a:lnSpc>
                <a:spcPct val="115000"/>
              </a:lnSpc>
            </a:pPr>
            <a:r>
              <a:rPr sz="1100" b="1" i="0">
                <a:solidFill>
                  <a:srgbClr val="21295C"/>
                </a:solidFill>
                <a:latin typeface="Arial"/>
              </a:rPr>
              <a:t>continue — the cycle repeats</a:t>
            </a:r>
          </a:p>
        </p:txBody>
      </p:sp>
      <p:sp>
        <p:nvSpPr>
          <p:cNvPr id="31" name="Rounded Rectangle 30"/>
          <p:cNvSpPr/>
          <p:nvPr/>
        </p:nvSpPr>
        <p:spPr>
          <a:xfrm>
            <a:off x="4572000" y="4389120"/>
            <a:ext cx="1965960" cy="1051560"/>
          </a:xfrm>
          <a:prstGeom prst="roundRect">
            <a:avLst>
              <a:gd name="adj" fmla="val 25000"/>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4498848"/>
            <a:ext cx="1965960" cy="320040"/>
          </a:xfrm>
          <a:prstGeom prst="rect">
            <a:avLst/>
          </a:prstGeom>
          <a:noFill/>
        </p:spPr>
        <p:txBody>
          <a:bodyPr wrap="square" lIns="0" rIns="0" tIns="0" bIns="0" anchor="t">
            <a:spAutoFit/>
          </a:bodyPr>
          <a:lstStyle/>
          <a:p>
            <a:pPr algn="ctr">
              <a:lnSpc>
                <a:spcPct val="115000"/>
              </a:lnSpc>
            </a:pPr>
            <a:r>
              <a:rPr sz="1150" b="1" i="0">
                <a:solidFill>
                  <a:srgbClr val="028090"/>
                </a:solidFill>
                <a:latin typeface="Arial"/>
              </a:rPr>
              <a:t>TOOLS</a:t>
            </a:r>
          </a:p>
        </p:txBody>
      </p:sp>
      <p:sp>
        <p:nvSpPr>
          <p:cNvPr id="33" name="TextBox 32"/>
          <p:cNvSpPr txBox="1"/>
          <p:nvPr/>
        </p:nvSpPr>
        <p:spPr>
          <a:xfrm>
            <a:off x="4663440" y="4846320"/>
            <a:ext cx="1783080" cy="502920"/>
          </a:xfrm>
          <a:prstGeom prst="rect">
            <a:avLst/>
          </a:prstGeom>
          <a:noFill/>
        </p:spPr>
        <p:txBody>
          <a:bodyPr wrap="square" lIns="0" rIns="0" tIns="0" bIns="0" anchor="t">
            <a:spAutoFit/>
          </a:bodyPr>
          <a:lstStyle/>
          <a:p>
            <a:pPr algn="ctr">
              <a:lnSpc>
                <a:spcPct val="120000"/>
              </a:lnSpc>
            </a:pPr>
            <a:r>
              <a:rPr sz="1000" b="0" i="1">
                <a:solidFill>
                  <a:srgbClr val="21295C"/>
                </a:solidFill>
                <a:latin typeface="Arial"/>
              </a:rPr>
              <a:t>API, files,
code, search</a:t>
            </a:r>
          </a:p>
        </p:txBody>
      </p:sp>
      <p:sp>
        <p:nvSpPr>
          <p:cNvPr id="34" name="Rounded Rectangle 33"/>
          <p:cNvSpPr/>
          <p:nvPr/>
        </p:nvSpPr>
        <p:spPr>
          <a:xfrm>
            <a:off x="6949440" y="4389120"/>
            <a:ext cx="1965960" cy="105156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0" y="4498848"/>
            <a:ext cx="1965960" cy="320040"/>
          </a:xfrm>
          <a:prstGeom prst="rect">
            <a:avLst/>
          </a:prstGeom>
          <a:noFill/>
        </p:spPr>
        <p:txBody>
          <a:bodyPr wrap="square" lIns="0" rIns="0" tIns="0" bIns="0" anchor="t">
            <a:spAutoFit/>
          </a:bodyPr>
          <a:lstStyle/>
          <a:p>
            <a:pPr algn="ctr">
              <a:lnSpc>
                <a:spcPct val="115000"/>
              </a:lnSpc>
            </a:pPr>
            <a:r>
              <a:rPr sz="1150" b="1" i="0">
                <a:solidFill>
                  <a:srgbClr val="1C7293"/>
                </a:solidFill>
                <a:latin typeface="Arial"/>
              </a:rPr>
              <a:t>MEMORY</a:t>
            </a:r>
          </a:p>
        </p:txBody>
      </p:sp>
      <p:sp>
        <p:nvSpPr>
          <p:cNvPr id="36" name="TextBox 35"/>
          <p:cNvSpPr txBox="1"/>
          <p:nvPr/>
        </p:nvSpPr>
        <p:spPr>
          <a:xfrm>
            <a:off x="7040880" y="4846320"/>
            <a:ext cx="1783080" cy="502920"/>
          </a:xfrm>
          <a:prstGeom prst="rect">
            <a:avLst/>
          </a:prstGeom>
          <a:noFill/>
        </p:spPr>
        <p:txBody>
          <a:bodyPr wrap="square" lIns="0" rIns="0" tIns="0" bIns="0" anchor="t">
            <a:spAutoFit/>
          </a:bodyPr>
          <a:lstStyle/>
          <a:p>
            <a:pPr algn="ctr">
              <a:lnSpc>
                <a:spcPct val="120000"/>
              </a:lnSpc>
            </a:pPr>
            <a:r>
              <a:rPr sz="1000" b="0" i="1">
                <a:solidFill>
                  <a:srgbClr val="21295C"/>
                </a:solidFill>
                <a:latin typeface="Arial"/>
              </a:rPr>
              <a:t>vector DB,
files, logs</a:t>
            </a:r>
          </a:p>
        </p:txBody>
      </p:sp>
      <p:sp>
        <p:nvSpPr>
          <p:cNvPr id="37" name="Rectangle 36"/>
          <p:cNvSpPr/>
          <p:nvPr/>
        </p:nvSpPr>
        <p:spPr>
          <a:xfrm>
            <a:off x="5527548" y="3566160"/>
            <a:ext cx="54864" cy="822959"/>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04988" y="3566160"/>
            <a:ext cx="54864" cy="822959"/>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82996" y="4187952"/>
            <a:ext cx="982980" cy="182880"/>
          </a:xfrm>
          <a:prstGeom prst="rect">
            <a:avLst/>
          </a:prstGeom>
          <a:noFill/>
        </p:spPr>
        <p:txBody>
          <a:bodyPr wrap="square" lIns="0" rIns="0" tIns="0" bIns="0" anchor="t">
            <a:spAutoFit/>
          </a:bodyPr>
          <a:lstStyle/>
          <a:p>
            <a:pPr algn="l">
              <a:lnSpc>
                <a:spcPct val="115000"/>
              </a:lnSpc>
            </a:pPr>
            <a:r>
              <a:rPr sz="850" b="0" i="1">
                <a:solidFill>
                  <a:srgbClr val="028090"/>
                </a:solidFill>
                <a:latin typeface="Arial"/>
              </a:rPr>
              <a:t>uses</a:t>
            </a:r>
          </a:p>
        </p:txBody>
      </p:sp>
      <p:sp>
        <p:nvSpPr>
          <p:cNvPr id="40" name="TextBox 39"/>
          <p:cNvSpPr txBox="1"/>
          <p:nvPr/>
        </p:nvSpPr>
        <p:spPr>
          <a:xfrm>
            <a:off x="8060436" y="4187952"/>
            <a:ext cx="982980" cy="182880"/>
          </a:xfrm>
          <a:prstGeom prst="rect">
            <a:avLst/>
          </a:prstGeom>
          <a:noFill/>
        </p:spPr>
        <p:txBody>
          <a:bodyPr wrap="square" lIns="0" rIns="0" tIns="0" bIns="0" anchor="t">
            <a:spAutoFit/>
          </a:bodyPr>
          <a:lstStyle/>
          <a:p>
            <a:pPr algn="l">
              <a:lnSpc>
                <a:spcPct val="115000"/>
              </a:lnSpc>
            </a:pPr>
            <a:r>
              <a:rPr sz="850" b="0" i="1">
                <a:solidFill>
                  <a:srgbClr val="1C7293"/>
                </a:solidFill>
                <a:latin typeface="Arial"/>
              </a:rPr>
              <a:t>uses</a:t>
            </a:r>
          </a:p>
        </p:txBody>
      </p:sp>
      <p:sp>
        <p:nvSpPr>
          <p:cNvPr id="41" name="TextBox 40"/>
          <p:cNvSpPr txBox="1"/>
          <p:nvPr/>
        </p:nvSpPr>
        <p:spPr>
          <a:xfrm>
            <a:off x="502920" y="6053328"/>
            <a:ext cx="11201400" cy="320040"/>
          </a:xfrm>
          <a:prstGeom prst="rect">
            <a:avLst/>
          </a:prstGeom>
          <a:noFill/>
        </p:spPr>
        <p:txBody>
          <a:bodyPr wrap="square" lIns="0" rIns="0" tIns="0" bIns="0" anchor="t">
            <a:spAutoFit/>
          </a:bodyPr>
          <a:lstStyle/>
          <a:p>
            <a:pPr algn="ctr">
              <a:lnSpc>
                <a:spcPct val="115000"/>
              </a:lnSpc>
            </a:pPr>
            <a:r>
              <a:rPr sz="1050" b="0" i="1">
                <a:solidFill>
                  <a:srgbClr val="6B7685"/>
                </a:solidFill>
                <a:latin typeface="Arial"/>
              </a:rPr>
              <a:t>ReAct (Reasoning + Acting) — Yao et al. 2022 (arXiv:2210.03629)</a:t>
            </a:r>
          </a:p>
        </p:txBody>
      </p:sp>
      <p:sp>
        <p:nvSpPr>
          <p:cNvPr id="42" name="TextBox 41"/>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Weng — LLM Powered Autonomous Agents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Anthropic — Building Effective Agents (2024)</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Anthropic — Model Context Protocol (2024)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105156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AGENT</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An agent at work: 200 PDFs — a sequence of steps.</a:t>
            </a:r>
          </a:p>
        </p:txBody>
      </p:sp>
      <p:sp>
        <p:nvSpPr>
          <p:cNvPr id="4" name="Rounded Rectangle 3"/>
          <p:cNvSpPr/>
          <p:nvPr/>
        </p:nvSpPr>
        <p:spPr>
          <a:xfrm>
            <a:off x="502920" y="1691640"/>
            <a:ext cx="3657600" cy="461772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20"/>
            <a:ext cx="3200400" cy="36576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A case — typical for an agent</a:t>
            </a:r>
          </a:p>
        </p:txBody>
      </p:sp>
      <p:sp>
        <p:nvSpPr>
          <p:cNvPr id="6" name="TextBox 5"/>
          <p:cNvSpPr txBox="1"/>
          <p:nvPr/>
        </p:nvSpPr>
        <p:spPr>
          <a:xfrm>
            <a:off x="731520" y="2286000"/>
            <a:ext cx="3200400" cy="13716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200 PDF reports.
Extract date, counterparty, amount.
Build a summary table.</a:t>
            </a:r>
          </a:p>
        </p:txBody>
      </p:sp>
      <p:sp>
        <p:nvSpPr>
          <p:cNvPr id="7" name="TextBox 6"/>
          <p:cNvSpPr txBox="1"/>
          <p:nvPr/>
        </p:nvSpPr>
        <p:spPr>
          <a:xfrm>
            <a:off x="731520" y="3749039"/>
            <a:ext cx="3200400" cy="2377440"/>
          </a:xfrm>
          <a:prstGeom prst="rect">
            <a:avLst/>
          </a:prstGeom>
          <a:noFill/>
        </p:spPr>
        <p:txBody>
          <a:bodyPr wrap="square" lIns="0" rIns="0" tIns="0" bIns="0" anchor="t">
            <a:spAutoFit/>
          </a:bodyPr>
          <a:lstStyle/>
          <a:p>
            <a:pPr algn="l">
              <a:lnSpc>
                <a:spcPct val="145000"/>
              </a:lnSpc>
            </a:pPr>
            <a:r>
              <a:rPr sz="1100" b="0" i="1">
                <a:solidFill>
                  <a:srgbClr val="21295C"/>
                </a:solidFill>
                <a:latin typeface="Arial"/>
              </a:rPr>
              <a:t>Not a model — there is no specialized model for «take 200 arbitrary PDFs».
Not a chat — copying 200 files into a window is painful.
An agent is the natural choice.</a:t>
            </a:r>
          </a:p>
        </p:txBody>
      </p:sp>
      <p:sp>
        <p:nvSpPr>
          <p:cNvPr id="8" name="Rounded Rectangle 7"/>
          <p:cNvSpPr/>
          <p:nvPr/>
        </p:nvSpPr>
        <p:spPr>
          <a:xfrm>
            <a:off x="4480559" y="1691640"/>
            <a:ext cx="7178040" cy="4617720"/>
          </a:xfrm>
          <a:prstGeom prst="roundRect">
            <a:avLst>
              <a:gd name="adj" fmla="val 66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59" y="1856232"/>
            <a:ext cx="672084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What the agent does — step by step, with the tool named</a:t>
            </a:r>
          </a:p>
        </p:txBody>
      </p:sp>
      <p:sp>
        <p:nvSpPr>
          <p:cNvPr id="10" name="Oval 9"/>
          <p:cNvSpPr/>
          <p:nvPr/>
        </p:nvSpPr>
        <p:spPr>
          <a:xfrm>
            <a:off x="4754879" y="2368296"/>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2368296"/>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1</a:t>
            </a:r>
          </a:p>
        </p:txBody>
      </p:sp>
      <p:sp>
        <p:nvSpPr>
          <p:cNvPr id="12" name="TextBox 11"/>
          <p:cNvSpPr txBox="1"/>
          <p:nvPr/>
        </p:nvSpPr>
        <p:spPr>
          <a:xfrm>
            <a:off x="5303520" y="2404872"/>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Get the file list</a:t>
            </a:r>
          </a:p>
        </p:txBody>
      </p:sp>
      <p:sp>
        <p:nvSpPr>
          <p:cNvPr id="13" name="Rounded Rectangle 12"/>
          <p:cNvSpPr/>
          <p:nvPr/>
        </p:nvSpPr>
        <p:spPr>
          <a:xfrm>
            <a:off x="9281160" y="2404872"/>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2404872"/>
            <a:ext cx="2011680" cy="292607"/>
          </a:xfrm>
          <a:prstGeom prst="rect">
            <a:avLst/>
          </a:prstGeom>
          <a:noFill/>
        </p:spPr>
        <p:txBody>
          <a:bodyPr wrap="square" lIns="0" rIns="0" tIns="0" bIns="0" anchor="ctr">
            <a:spAutoFit/>
          </a:bodyPr>
          <a:lstStyle/>
          <a:p>
            <a:pPr algn="ctr">
              <a:lnSpc>
                <a:spcPct val="115000"/>
              </a:lnSpc>
            </a:pPr>
            <a:r>
              <a:rPr sz="1000" b="0" i="1">
                <a:solidFill>
                  <a:srgbClr val="028090"/>
                </a:solidFill>
                <a:latin typeface="Arial"/>
              </a:rPr>
              <a:t>file system</a:t>
            </a:r>
          </a:p>
        </p:txBody>
      </p:sp>
      <p:sp>
        <p:nvSpPr>
          <p:cNvPr id="15" name="Oval 14"/>
          <p:cNvSpPr/>
          <p:nvPr/>
        </p:nvSpPr>
        <p:spPr>
          <a:xfrm>
            <a:off x="4754879" y="2898648"/>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79" y="2898648"/>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2</a:t>
            </a:r>
          </a:p>
        </p:txBody>
      </p:sp>
      <p:sp>
        <p:nvSpPr>
          <p:cNvPr id="17" name="TextBox 16"/>
          <p:cNvSpPr txBox="1"/>
          <p:nvPr/>
        </p:nvSpPr>
        <p:spPr>
          <a:xfrm>
            <a:off x="5303520" y="2935224"/>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Open PDF #1</a:t>
            </a:r>
          </a:p>
        </p:txBody>
      </p:sp>
      <p:sp>
        <p:nvSpPr>
          <p:cNvPr id="18" name="Rounded Rectangle 17"/>
          <p:cNvSpPr/>
          <p:nvPr/>
        </p:nvSpPr>
        <p:spPr>
          <a:xfrm>
            <a:off x="9281160" y="2935224"/>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2935224"/>
            <a:ext cx="2011680" cy="292607"/>
          </a:xfrm>
          <a:prstGeom prst="rect">
            <a:avLst/>
          </a:prstGeom>
          <a:noFill/>
        </p:spPr>
        <p:txBody>
          <a:bodyPr wrap="square" lIns="0" rIns="0" tIns="0" bIns="0" anchor="ctr">
            <a:spAutoFit/>
          </a:bodyPr>
          <a:lstStyle/>
          <a:p>
            <a:pPr algn="ctr">
              <a:lnSpc>
                <a:spcPct val="115000"/>
              </a:lnSpc>
            </a:pPr>
            <a:r>
              <a:rPr sz="1000" b="0" i="1">
                <a:solidFill>
                  <a:srgbClr val="028090"/>
                </a:solidFill>
                <a:latin typeface="Arial"/>
              </a:rPr>
              <a:t>PDF reader</a:t>
            </a:r>
          </a:p>
        </p:txBody>
      </p:sp>
      <p:sp>
        <p:nvSpPr>
          <p:cNvPr id="20" name="Oval 19"/>
          <p:cNvSpPr/>
          <p:nvPr/>
        </p:nvSpPr>
        <p:spPr>
          <a:xfrm>
            <a:off x="4754879" y="3429000"/>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79" y="3429000"/>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3</a:t>
            </a:r>
          </a:p>
        </p:txBody>
      </p:sp>
      <p:sp>
        <p:nvSpPr>
          <p:cNvPr id="22" name="TextBox 21"/>
          <p:cNvSpPr txBox="1"/>
          <p:nvPr/>
        </p:nvSpPr>
        <p:spPr>
          <a:xfrm>
            <a:off x="5303520" y="3465576"/>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Extract text</a:t>
            </a:r>
          </a:p>
        </p:txBody>
      </p:sp>
      <p:sp>
        <p:nvSpPr>
          <p:cNvPr id="23" name="Rounded Rectangle 22"/>
          <p:cNvSpPr/>
          <p:nvPr/>
        </p:nvSpPr>
        <p:spPr>
          <a:xfrm>
            <a:off x="9281160" y="3465576"/>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3465576"/>
            <a:ext cx="2011680" cy="292607"/>
          </a:xfrm>
          <a:prstGeom prst="rect">
            <a:avLst/>
          </a:prstGeom>
          <a:noFill/>
        </p:spPr>
        <p:txBody>
          <a:bodyPr wrap="square" lIns="0" rIns="0" tIns="0" bIns="0" anchor="ctr">
            <a:spAutoFit/>
          </a:bodyPr>
          <a:lstStyle/>
          <a:p>
            <a:pPr algn="ctr">
              <a:lnSpc>
                <a:spcPct val="115000"/>
              </a:lnSpc>
            </a:pPr>
            <a:r>
              <a:rPr sz="850" b="0" i="1">
                <a:solidFill>
                  <a:srgbClr val="028090"/>
                </a:solidFill>
                <a:latin typeface="Arial"/>
              </a:rPr>
              <a:t>text extraction (OCR / parser)</a:t>
            </a:r>
          </a:p>
        </p:txBody>
      </p:sp>
      <p:sp>
        <p:nvSpPr>
          <p:cNvPr id="25" name="Oval 24"/>
          <p:cNvSpPr/>
          <p:nvPr/>
        </p:nvSpPr>
        <p:spPr>
          <a:xfrm>
            <a:off x="4754879" y="3959351"/>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79" y="3959351"/>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4</a:t>
            </a:r>
          </a:p>
        </p:txBody>
      </p:sp>
      <p:sp>
        <p:nvSpPr>
          <p:cNvPr id="27" name="TextBox 26"/>
          <p:cNvSpPr txBox="1"/>
          <p:nvPr/>
        </p:nvSpPr>
        <p:spPr>
          <a:xfrm>
            <a:off x="5303520" y="3995927"/>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Summarize → vector DB</a:t>
            </a:r>
          </a:p>
        </p:txBody>
      </p:sp>
      <p:sp>
        <p:nvSpPr>
          <p:cNvPr id="28" name="Rounded Rectangle 27"/>
          <p:cNvSpPr/>
          <p:nvPr/>
        </p:nvSpPr>
        <p:spPr>
          <a:xfrm>
            <a:off x="9281160" y="3995927"/>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3995927"/>
            <a:ext cx="2011680" cy="292607"/>
          </a:xfrm>
          <a:prstGeom prst="rect">
            <a:avLst/>
          </a:prstGeom>
          <a:noFill/>
        </p:spPr>
        <p:txBody>
          <a:bodyPr wrap="square" lIns="0" rIns="0" tIns="0" bIns="0" anchor="ctr">
            <a:spAutoFit/>
          </a:bodyPr>
          <a:lstStyle/>
          <a:p>
            <a:pPr algn="ctr">
              <a:lnSpc>
                <a:spcPct val="115000"/>
              </a:lnSpc>
            </a:pPr>
            <a:r>
              <a:rPr sz="1000" b="0" i="1">
                <a:solidFill>
                  <a:srgbClr val="028090"/>
                </a:solidFill>
                <a:latin typeface="Arial"/>
              </a:rPr>
              <a:t>embeddings + vector database</a:t>
            </a:r>
          </a:p>
        </p:txBody>
      </p:sp>
      <p:sp>
        <p:nvSpPr>
          <p:cNvPr id="30" name="Oval 29"/>
          <p:cNvSpPr/>
          <p:nvPr/>
        </p:nvSpPr>
        <p:spPr>
          <a:xfrm>
            <a:off x="4754879" y="4489703"/>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79" y="4489703"/>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5</a:t>
            </a:r>
          </a:p>
        </p:txBody>
      </p:sp>
      <p:sp>
        <p:nvSpPr>
          <p:cNvPr id="32" name="TextBox 31"/>
          <p:cNvSpPr txBox="1"/>
          <p:nvPr/>
        </p:nvSpPr>
        <p:spPr>
          <a:xfrm>
            <a:off x="5303520" y="4526279"/>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Find the key fields</a:t>
            </a:r>
          </a:p>
        </p:txBody>
      </p:sp>
      <p:sp>
        <p:nvSpPr>
          <p:cNvPr id="33" name="Rounded Rectangle 32"/>
          <p:cNvSpPr/>
          <p:nvPr/>
        </p:nvSpPr>
        <p:spPr>
          <a:xfrm>
            <a:off x="9281160" y="4526279"/>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4526279"/>
            <a:ext cx="2011680" cy="292607"/>
          </a:xfrm>
          <a:prstGeom prst="rect">
            <a:avLst/>
          </a:prstGeom>
          <a:noFill/>
        </p:spPr>
        <p:txBody>
          <a:bodyPr wrap="square" lIns="0" rIns="0" tIns="0" bIns="0" anchor="ctr">
            <a:spAutoFit/>
          </a:bodyPr>
          <a:lstStyle/>
          <a:p>
            <a:pPr algn="ctr">
              <a:lnSpc>
                <a:spcPct val="115000"/>
              </a:lnSpc>
            </a:pPr>
            <a:r>
              <a:rPr sz="1000" b="0" i="1">
                <a:solidFill>
                  <a:srgbClr val="028090"/>
                </a:solidFill>
                <a:latin typeface="Arial"/>
              </a:rPr>
              <a:t>retrieval + LLM extraction</a:t>
            </a:r>
          </a:p>
        </p:txBody>
      </p:sp>
      <p:sp>
        <p:nvSpPr>
          <p:cNvPr id="35" name="Oval 34"/>
          <p:cNvSpPr/>
          <p:nvPr/>
        </p:nvSpPr>
        <p:spPr>
          <a:xfrm>
            <a:off x="4754879" y="5020055"/>
            <a:ext cx="365760" cy="36576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79" y="5020055"/>
            <a:ext cx="365760" cy="365760"/>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6</a:t>
            </a:r>
          </a:p>
        </p:txBody>
      </p:sp>
      <p:sp>
        <p:nvSpPr>
          <p:cNvPr id="37" name="TextBox 36"/>
          <p:cNvSpPr txBox="1"/>
          <p:nvPr/>
        </p:nvSpPr>
        <p:spPr>
          <a:xfrm>
            <a:off x="5303520" y="5056631"/>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Write a row into the table</a:t>
            </a:r>
          </a:p>
        </p:txBody>
      </p:sp>
      <p:sp>
        <p:nvSpPr>
          <p:cNvPr id="38" name="Rounded Rectangle 37"/>
          <p:cNvSpPr/>
          <p:nvPr/>
        </p:nvSpPr>
        <p:spPr>
          <a:xfrm>
            <a:off x="9281160" y="5056631"/>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5056631"/>
            <a:ext cx="2011680" cy="292607"/>
          </a:xfrm>
          <a:prstGeom prst="rect">
            <a:avLst/>
          </a:prstGeom>
          <a:noFill/>
        </p:spPr>
        <p:txBody>
          <a:bodyPr wrap="square" lIns="0" rIns="0" tIns="0" bIns="0" anchor="ctr">
            <a:spAutoFit/>
          </a:bodyPr>
          <a:lstStyle/>
          <a:p>
            <a:pPr algn="ctr">
              <a:lnSpc>
                <a:spcPct val="115000"/>
              </a:lnSpc>
            </a:pPr>
            <a:r>
              <a:rPr sz="850" b="0" i="1">
                <a:solidFill>
                  <a:srgbClr val="028090"/>
                </a:solidFill>
                <a:latin typeface="Arial"/>
              </a:rPr>
              <a:t>table write (Sheets API / CSV)</a:t>
            </a:r>
          </a:p>
        </p:txBody>
      </p:sp>
      <p:sp>
        <p:nvSpPr>
          <p:cNvPr id="40" name="Oval 39"/>
          <p:cNvSpPr/>
          <p:nvPr/>
        </p:nvSpPr>
        <p:spPr>
          <a:xfrm>
            <a:off x="4754879" y="5550407"/>
            <a:ext cx="365760" cy="36576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79" y="5550407"/>
            <a:ext cx="365760" cy="365760"/>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7</a:t>
            </a:r>
          </a:p>
        </p:txBody>
      </p:sp>
      <p:sp>
        <p:nvSpPr>
          <p:cNvPr id="42" name="TextBox 41"/>
          <p:cNvSpPr txBox="1"/>
          <p:nvPr/>
        </p:nvSpPr>
        <p:spPr>
          <a:xfrm>
            <a:off x="5303520" y="5586983"/>
            <a:ext cx="3840480" cy="292607"/>
          </a:xfrm>
          <a:prstGeom prst="rect">
            <a:avLst/>
          </a:prstGeom>
          <a:noFill/>
        </p:spPr>
        <p:txBody>
          <a:bodyPr wrap="square" lIns="0" rIns="0" tIns="0" bIns="0" anchor="ctr">
            <a:spAutoFit/>
          </a:bodyPr>
          <a:lstStyle/>
          <a:p>
            <a:pPr algn="l">
              <a:lnSpc>
                <a:spcPct val="115000"/>
              </a:lnSpc>
            </a:pPr>
            <a:r>
              <a:rPr sz="1200" b="1" i="0">
                <a:solidFill>
                  <a:srgbClr val="21295C"/>
                </a:solidFill>
                <a:latin typeface="Arial"/>
              </a:rPr>
              <a:t>Loop over all 200 files</a:t>
            </a:r>
          </a:p>
        </p:txBody>
      </p:sp>
      <p:sp>
        <p:nvSpPr>
          <p:cNvPr id="43" name="Rounded Rectangle 42"/>
          <p:cNvSpPr/>
          <p:nvPr/>
        </p:nvSpPr>
        <p:spPr>
          <a:xfrm>
            <a:off x="9281160" y="5586983"/>
            <a:ext cx="2103120" cy="292607"/>
          </a:xfrm>
          <a:prstGeom prst="roundRect">
            <a:avLst>
              <a:gd name="adj" fmla="val 30000"/>
            </a:avLst>
          </a:prstGeom>
          <a:solidFill>
            <a:srgbClr val="E6F2F4"/>
          </a:solidFill>
          <a:ln w="101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5586983"/>
            <a:ext cx="2011680" cy="292607"/>
          </a:xfrm>
          <a:prstGeom prst="rect">
            <a:avLst/>
          </a:prstGeom>
          <a:noFill/>
        </p:spPr>
        <p:txBody>
          <a:bodyPr wrap="square" lIns="0" rIns="0" tIns="0" bIns="0" anchor="ctr">
            <a:spAutoFit/>
          </a:bodyPr>
          <a:lstStyle/>
          <a:p>
            <a:pPr algn="ctr">
              <a:lnSpc>
                <a:spcPct val="115000"/>
              </a:lnSpc>
            </a:pPr>
            <a:r>
              <a:rPr sz="1000" b="0" i="1">
                <a:solidFill>
                  <a:srgbClr val="028090"/>
                </a:solidFill>
                <a:latin typeface="Arial"/>
              </a:rPr>
              <a:t>orchestrator loop</a:t>
            </a:r>
          </a:p>
        </p:txBody>
      </p:sp>
      <p:sp>
        <p:nvSpPr>
          <p:cNvPr id="45" name="Rounded Rectangle 44"/>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300" b="1" i="0">
                <a:solidFill>
                  <a:srgbClr val="21295C"/>
                </a:solidFill>
                <a:latin typeface="Arial"/>
              </a:rPr>
              <a:t>An agent = a sequence of tool calls, orchestrated by an LLM. </a:t>
            </a:r>
            <a:r>
              <a:rPr sz="676" baseline="30000" b="0" i="1">
                <a:latin typeface="Arial"/>
                <a:cs typeface="Arial"/>
                <a:ea typeface="Arial"/>
                <a:solidFill>
                  <a:srgbClr val="1C7293"/>
                </a:solidFill>
              </a:rPr>
              <a:t>[1]</a:t>
            </a:r>
          </a:p>
        </p:txBody>
      </p:sp>
      <p:sp>
        <p:nvSpPr>
          <p:cNvPr id="47" name="TextBox 46"/>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Yao et al. — ReAct (2022)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02920" y="320040"/>
            <a:ext cx="105156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300" b="1">
                <a:solidFill>
                  <a:srgbClr val="FFFFFF"/>
                </a:solidFill>
                <a:latin typeface="Arial"/>
              </a:rPr>
              <a:t>AGENT</a:t>
            </a:r>
          </a:p>
        </p:txBody>
      </p:sp>
      <p:sp>
        <p:nvSpPr>
          <p:cNvPr id="3" name="TextBox 2"/>
          <p:cNvSpPr txBox="1"/>
          <p:nvPr/>
        </p:nvSpPr>
        <p:spPr>
          <a:xfrm>
            <a:off x="502920" y="777240"/>
            <a:ext cx="11247120" cy="10515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Levels of autonomy for AI agents: a design decision, not a property of the model.</a:t>
            </a:r>
          </a:p>
        </p:txBody>
      </p:sp>
      <p:sp>
        <p:nvSpPr>
          <p:cNvPr id="4" name="Rounded Rectangle 3"/>
          <p:cNvSpPr/>
          <p:nvPr/>
        </p:nvSpPr>
        <p:spPr>
          <a:xfrm>
            <a:off x="502920" y="1691640"/>
            <a:ext cx="5760720" cy="4617720"/>
          </a:xfrm>
          <a:prstGeom prst="roundRect">
            <a:avLst>
              <a:gd name="adj" fmla="val 66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74520"/>
            <a:ext cx="530352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5 levels of autonomy (Feng / McDonald / Zhang, 2025) </a:t>
            </a:r>
            <a:r>
              <a:rPr sz="676" baseline="30000" b="0" i="1">
                <a:latin typeface="Arial"/>
                <a:cs typeface="Arial"/>
                <a:ea typeface="Arial"/>
                <a:solidFill>
                  <a:srgbClr val="1C7293"/>
                </a:solidFill>
              </a:rPr>
              <a:t>[1]</a:t>
            </a:r>
          </a:p>
        </p:txBody>
      </p:sp>
      <p:sp>
        <p:nvSpPr>
          <p:cNvPr id="6" name="Rounded Rectangle 5"/>
          <p:cNvSpPr/>
          <p:nvPr/>
        </p:nvSpPr>
        <p:spPr>
          <a:xfrm>
            <a:off x="731520" y="5276088"/>
            <a:ext cx="5303520" cy="667512"/>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321808"/>
            <a:ext cx="5029200"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1. Operator</a:t>
            </a:r>
          </a:p>
        </p:txBody>
      </p:sp>
      <p:sp>
        <p:nvSpPr>
          <p:cNvPr id="8" name="TextBox 7"/>
          <p:cNvSpPr txBox="1"/>
          <p:nvPr/>
        </p:nvSpPr>
        <p:spPr>
          <a:xfrm>
            <a:off x="868680" y="5586984"/>
            <a:ext cx="5029200" cy="201168"/>
          </a:xfrm>
          <a:prstGeom prst="rect">
            <a:avLst/>
          </a:prstGeom>
          <a:noFill/>
        </p:spPr>
        <p:txBody>
          <a:bodyPr wrap="square" lIns="0" rIns="0" tIns="0" bIns="0" anchor="t">
            <a:spAutoFit/>
          </a:bodyPr>
          <a:lstStyle/>
          <a:p>
            <a:pPr algn="l">
              <a:lnSpc>
                <a:spcPct val="115000"/>
              </a:lnSpc>
            </a:pPr>
            <a:r>
              <a:rPr sz="950" b="0" i="1">
                <a:solidFill>
                  <a:srgbClr val="FFFFFF"/>
                </a:solidFill>
                <a:latin typeface="Arial"/>
              </a:rPr>
              <a:t>User: approves every action</a:t>
            </a:r>
          </a:p>
        </p:txBody>
      </p:sp>
      <p:sp>
        <p:nvSpPr>
          <p:cNvPr id="9" name="TextBox 8"/>
          <p:cNvSpPr txBox="1"/>
          <p:nvPr/>
        </p:nvSpPr>
        <p:spPr>
          <a:xfrm>
            <a:off x="868680" y="5769864"/>
            <a:ext cx="5029200" cy="182880"/>
          </a:xfrm>
          <a:prstGeom prst="rect">
            <a:avLst/>
          </a:prstGeom>
          <a:noFill/>
        </p:spPr>
        <p:txBody>
          <a:bodyPr wrap="square" lIns="0" rIns="0" tIns="0" bIns="0" anchor="t">
            <a:spAutoFit/>
          </a:bodyPr>
          <a:lstStyle/>
          <a:p>
            <a:pPr algn="r">
              <a:lnSpc>
                <a:spcPct val="115000"/>
              </a:lnSpc>
            </a:pPr>
            <a:r>
              <a:rPr sz="900" b="0" i="0">
                <a:solidFill>
                  <a:srgbClr val="FFFFFF"/>
                </a:solidFill>
                <a:latin typeface="Arial"/>
              </a:rPr>
              <a:t>Claude Code «approve each»</a:t>
            </a:r>
          </a:p>
        </p:txBody>
      </p:sp>
      <p:sp>
        <p:nvSpPr>
          <p:cNvPr id="10" name="Rounded Rectangle 9"/>
          <p:cNvSpPr/>
          <p:nvPr/>
        </p:nvSpPr>
        <p:spPr>
          <a:xfrm>
            <a:off x="731520" y="4562856"/>
            <a:ext cx="5303520" cy="667512"/>
          </a:xfrm>
          <a:prstGeom prst="roundRect">
            <a:avLst>
              <a:gd name="adj" fmla="val 1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608576"/>
            <a:ext cx="5029200"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2. Collaborator</a:t>
            </a:r>
          </a:p>
        </p:txBody>
      </p:sp>
      <p:sp>
        <p:nvSpPr>
          <p:cNvPr id="12" name="TextBox 11"/>
          <p:cNvSpPr txBox="1"/>
          <p:nvPr/>
        </p:nvSpPr>
        <p:spPr>
          <a:xfrm>
            <a:off x="868680" y="4873752"/>
            <a:ext cx="5029200" cy="201168"/>
          </a:xfrm>
          <a:prstGeom prst="rect">
            <a:avLst/>
          </a:prstGeom>
          <a:noFill/>
        </p:spPr>
        <p:txBody>
          <a:bodyPr wrap="square" lIns="0" rIns="0" tIns="0" bIns="0" anchor="t">
            <a:spAutoFit/>
          </a:bodyPr>
          <a:lstStyle/>
          <a:p>
            <a:pPr algn="l">
              <a:lnSpc>
                <a:spcPct val="115000"/>
              </a:lnSpc>
            </a:pPr>
            <a:r>
              <a:rPr sz="950" b="0" i="1">
                <a:solidFill>
                  <a:srgbClr val="FFFFFF"/>
                </a:solidFill>
                <a:latin typeface="Arial"/>
              </a:rPr>
              <a:t>User: works alongside the agent</a:t>
            </a:r>
          </a:p>
        </p:txBody>
      </p:sp>
      <p:sp>
        <p:nvSpPr>
          <p:cNvPr id="13" name="TextBox 12"/>
          <p:cNvSpPr txBox="1"/>
          <p:nvPr/>
        </p:nvSpPr>
        <p:spPr>
          <a:xfrm>
            <a:off x="868680" y="5056632"/>
            <a:ext cx="5029200" cy="182880"/>
          </a:xfrm>
          <a:prstGeom prst="rect">
            <a:avLst/>
          </a:prstGeom>
          <a:noFill/>
        </p:spPr>
        <p:txBody>
          <a:bodyPr wrap="square" lIns="0" rIns="0" tIns="0" bIns="0" anchor="t">
            <a:spAutoFit/>
          </a:bodyPr>
          <a:lstStyle/>
          <a:p>
            <a:pPr algn="r">
              <a:lnSpc>
                <a:spcPct val="115000"/>
              </a:lnSpc>
            </a:pPr>
            <a:r>
              <a:rPr sz="900" b="0" i="0">
                <a:solidFill>
                  <a:srgbClr val="FFFFFF"/>
                </a:solidFill>
                <a:latin typeface="Arial"/>
              </a:rPr>
              <a:t>Cursor pair programming</a:t>
            </a:r>
          </a:p>
        </p:txBody>
      </p:sp>
      <p:sp>
        <p:nvSpPr>
          <p:cNvPr id="14" name="Rounded Rectangle 13"/>
          <p:cNvSpPr/>
          <p:nvPr/>
        </p:nvSpPr>
        <p:spPr>
          <a:xfrm>
            <a:off x="731520" y="3849624"/>
            <a:ext cx="5303520" cy="667512"/>
          </a:xfrm>
          <a:prstGeom prst="roundRect">
            <a:avLst>
              <a:gd name="adj" fmla="val 1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895344"/>
            <a:ext cx="5029200"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3. Consultant</a:t>
            </a:r>
          </a:p>
        </p:txBody>
      </p:sp>
      <p:sp>
        <p:nvSpPr>
          <p:cNvPr id="16" name="TextBox 15"/>
          <p:cNvSpPr txBox="1"/>
          <p:nvPr/>
        </p:nvSpPr>
        <p:spPr>
          <a:xfrm>
            <a:off x="868680" y="4160520"/>
            <a:ext cx="5029200" cy="201168"/>
          </a:xfrm>
          <a:prstGeom prst="rect">
            <a:avLst/>
          </a:prstGeom>
          <a:noFill/>
        </p:spPr>
        <p:txBody>
          <a:bodyPr wrap="square" lIns="0" rIns="0" tIns="0" bIns="0" anchor="t">
            <a:spAutoFit/>
          </a:bodyPr>
          <a:lstStyle/>
          <a:p>
            <a:pPr algn="l">
              <a:lnSpc>
                <a:spcPct val="115000"/>
              </a:lnSpc>
            </a:pPr>
            <a:r>
              <a:rPr sz="950" b="0" i="1">
                <a:solidFill>
                  <a:srgbClr val="FFFFFF"/>
                </a:solidFill>
                <a:latin typeface="Arial"/>
              </a:rPr>
              <a:t>User: sets the goal, edits the plan</a:t>
            </a:r>
          </a:p>
        </p:txBody>
      </p:sp>
      <p:sp>
        <p:nvSpPr>
          <p:cNvPr id="17" name="TextBox 16"/>
          <p:cNvSpPr txBox="1"/>
          <p:nvPr/>
        </p:nvSpPr>
        <p:spPr>
          <a:xfrm>
            <a:off x="868680" y="4343400"/>
            <a:ext cx="5029200" cy="182880"/>
          </a:xfrm>
          <a:prstGeom prst="rect">
            <a:avLst/>
          </a:prstGeom>
          <a:noFill/>
        </p:spPr>
        <p:txBody>
          <a:bodyPr wrap="square" lIns="0" rIns="0" tIns="0" bIns="0" anchor="t">
            <a:spAutoFit/>
          </a:bodyPr>
          <a:lstStyle/>
          <a:p>
            <a:pPr algn="r">
              <a:lnSpc>
                <a:spcPct val="115000"/>
              </a:lnSpc>
            </a:pPr>
            <a:r>
              <a:rPr sz="900" b="0" i="0">
                <a:solidFill>
                  <a:srgbClr val="FFFFFF"/>
                </a:solidFill>
                <a:latin typeface="Arial"/>
              </a:rPr>
              <a:t>Devin fixes a bug from a ticket</a:t>
            </a:r>
          </a:p>
        </p:txBody>
      </p:sp>
      <p:sp>
        <p:nvSpPr>
          <p:cNvPr id="18" name="Rounded Rectangle 17"/>
          <p:cNvSpPr/>
          <p:nvPr/>
        </p:nvSpPr>
        <p:spPr>
          <a:xfrm>
            <a:off x="731520" y="3136392"/>
            <a:ext cx="5303520" cy="667512"/>
          </a:xfrm>
          <a:prstGeom prst="roundRect">
            <a:avLst>
              <a:gd name="adj" fmla="val 1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182112"/>
            <a:ext cx="5029200" cy="256032"/>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4. Approver</a:t>
            </a:r>
          </a:p>
        </p:txBody>
      </p:sp>
      <p:sp>
        <p:nvSpPr>
          <p:cNvPr id="20" name="TextBox 19"/>
          <p:cNvSpPr txBox="1"/>
          <p:nvPr/>
        </p:nvSpPr>
        <p:spPr>
          <a:xfrm>
            <a:off x="868680" y="3447288"/>
            <a:ext cx="5029200" cy="201168"/>
          </a:xfrm>
          <a:prstGeom prst="rect">
            <a:avLst/>
          </a:prstGeom>
          <a:noFill/>
        </p:spPr>
        <p:txBody>
          <a:bodyPr wrap="square" lIns="0" rIns="0" tIns="0" bIns="0" anchor="t">
            <a:spAutoFit/>
          </a:bodyPr>
          <a:lstStyle/>
          <a:p>
            <a:pPr algn="l">
              <a:lnSpc>
                <a:spcPct val="115000"/>
              </a:lnSpc>
            </a:pPr>
            <a:r>
              <a:rPr sz="950" b="0" i="1">
                <a:solidFill>
                  <a:srgbClr val="FFFFFF"/>
                </a:solidFill>
                <a:latin typeface="Arial"/>
              </a:rPr>
              <a:t>User: approves at checkpoints</a:t>
            </a:r>
          </a:p>
        </p:txBody>
      </p:sp>
      <p:sp>
        <p:nvSpPr>
          <p:cNvPr id="21" name="TextBox 20"/>
          <p:cNvSpPr txBox="1"/>
          <p:nvPr/>
        </p:nvSpPr>
        <p:spPr>
          <a:xfrm>
            <a:off x="868680" y="3630168"/>
            <a:ext cx="5029200" cy="182880"/>
          </a:xfrm>
          <a:prstGeom prst="rect">
            <a:avLst/>
          </a:prstGeom>
          <a:noFill/>
        </p:spPr>
        <p:txBody>
          <a:bodyPr wrap="square" lIns="0" rIns="0" tIns="0" bIns="0" anchor="t">
            <a:spAutoFit/>
          </a:bodyPr>
          <a:lstStyle/>
          <a:p>
            <a:pPr algn="r">
              <a:lnSpc>
                <a:spcPct val="115000"/>
              </a:lnSpc>
            </a:pPr>
            <a:r>
              <a:rPr sz="900" b="0" i="0">
                <a:solidFill>
                  <a:srgbClr val="FFFFFF"/>
                </a:solidFill>
                <a:latin typeface="Arial"/>
              </a:rPr>
              <a:t>agent opens a PR, waits for review</a:t>
            </a:r>
          </a:p>
        </p:txBody>
      </p:sp>
      <p:sp>
        <p:nvSpPr>
          <p:cNvPr id="22" name="Rounded Rectangle 21"/>
          <p:cNvSpPr/>
          <p:nvPr/>
        </p:nvSpPr>
        <p:spPr>
          <a:xfrm>
            <a:off x="731520" y="2423160"/>
            <a:ext cx="5303520" cy="667512"/>
          </a:xfrm>
          <a:prstGeom prst="roundRect">
            <a:avLst>
              <a:gd name="adj" fmla="val 15000"/>
            </a:avLst>
          </a:prstGeom>
          <a:solidFill>
            <a:srgbClr val="F0AB00"/>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2468880"/>
            <a:ext cx="5029200" cy="256032"/>
          </a:xfrm>
          <a:prstGeom prst="rect">
            <a:avLst/>
          </a:prstGeom>
          <a:noFill/>
        </p:spPr>
        <p:txBody>
          <a:bodyPr wrap="square" lIns="0" rIns="0" tIns="0" bIns="0" anchor="t">
            <a:spAutoFit/>
          </a:bodyPr>
          <a:lstStyle/>
          <a:p>
            <a:pPr algn="l">
              <a:lnSpc>
                <a:spcPct val="115000"/>
              </a:lnSpc>
            </a:pPr>
            <a:r>
              <a:rPr sz="1150" b="1" i="0">
                <a:solidFill>
                  <a:srgbClr val="21295C"/>
                </a:solidFill>
                <a:latin typeface="Arial"/>
              </a:rPr>
              <a:t>5. Observer</a:t>
            </a:r>
          </a:p>
        </p:txBody>
      </p:sp>
      <p:sp>
        <p:nvSpPr>
          <p:cNvPr id="24" name="TextBox 23"/>
          <p:cNvSpPr txBox="1"/>
          <p:nvPr/>
        </p:nvSpPr>
        <p:spPr>
          <a:xfrm>
            <a:off x="868680" y="2734056"/>
            <a:ext cx="5029200" cy="201168"/>
          </a:xfrm>
          <a:prstGeom prst="rect">
            <a:avLst/>
          </a:prstGeom>
          <a:noFill/>
        </p:spPr>
        <p:txBody>
          <a:bodyPr wrap="square" lIns="0" rIns="0" tIns="0" bIns="0" anchor="t">
            <a:spAutoFit/>
          </a:bodyPr>
          <a:lstStyle/>
          <a:p>
            <a:pPr algn="l">
              <a:lnSpc>
                <a:spcPct val="115000"/>
              </a:lnSpc>
            </a:pPr>
            <a:r>
              <a:rPr sz="950" b="0" i="1">
                <a:solidFill>
                  <a:srgbClr val="21295C"/>
                </a:solidFill>
                <a:latin typeface="Arial"/>
              </a:rPr>
              <a:t>User: only receives the result</a:t>
            </a:r>
          </a:p>
        </p:txBody>
      </p:sp>
      <p:sp>
        <p:nvSpPr>
          <p:cNvPr id="25" name="TextBox 24"/>
          <p:cNvSpPr txBox="1"/>
          <p:nvPr/>
        </p:nvSpPr>
        <p:spPr>
          <a:xfrm>
            <a:off x="868680" y="2916936"/>
            <a:ext cx="5029200" cy="182880"/>
          </a:xfrm>
          <a:prstGeom prst="rect">
            <a:avLst/>
          </a:prstGeom>
          <a:noFill/>
        </p:spPr>
        <p:txBody>
          <a:bodyPr wrap="square" lIns="0" rIns="0" tIns="0" bIns="0" anchor="t">
            <a:spAutoFit/>
          </a:bodyPr>
          <a:lstStyle/>
          <a:p>
            <a:pPr algn="r">
              <a:lnSpc>
                <a:spcPct val="115000"/>
              </a:lnSpc>
            </a:pPr>
            <a:r>
              <a:rPr sz="900" b="0" i="0">
                <a:solidFill>
                  <a:srgbClr val="21295C"/>
                </a:solidFill>
                <a:latin typeface="Arial"/>
              </a:rPr>
              <a:t>AutoGPT overnight</a:t>
            </a:r>
          </a:p>
        </p:txBody>
      </p:sp>
      <p:sp>
        <p:nvSpPr>
          <p:cNvPr id="26" name="Rounded Rectangle 25"/>
          <p:cNvSpPr/>
          <p:nvPr/>
        </p:nvSpPr>
        <p:spPr>
          <a:xfrm>
            <a:off x="6537959" y="1691640"/>
            <a:ext cx="5150815" cy="4617720"/>
          </a:xfrm>
          <a:prstGeom prst="roundRect">
            <a:avLst>
              <a:gd name="adj" fmla="val 66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59" y="1874520"/>
            <a:ext cx="4693615"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Where the human sits relative to the loop</a:t>
            </a:r>
          </a:p>
        </p:txBody>
      </p:sp>
      <p:sp>
        <p:nvSpPr>
          <p:cNvPr id="28" name="Rounded Rectangle 27"/>
          <p:cNvSpPr/>
          <p:nvPr/>
        </p:nvSpPr>
        <p:spPr>
          <a:xfrm>
            <a:off x="6720840" y="2377440"/>
            <a:ext cx="4785055" cy="86868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2468880"/>
            <a:ext cx="4419295" cy="274320"/>
          </a:xfrm>
          <a:prstGeom prst="rect">
            <a:avLst/>
          </a:prstGeom>
          <a:noFill/>
        </p:spPr>
        <p:txBody>
          <a:bodyPr wrap="square" lIns="0" rIns="0" tIns="0" bIns="0" anchor="t">
            <a:spAutoFit/>
          </a:bodyPr>
          <a:lstStyle/>
          <a:p>
            <a:pPr algn="l">
              <a:lnSpc>
                <a:spcPct val="115000"/>
              </a:lnSpc>
            </a:pPr>
            <a:r>
              <a:rPr sz="1200" b="1" i="0">
                <a:solidFill>
                  <a:srgbClr val="F0AB00"/>
                </a:solidFill>
                <a:latin typeface="Arial"/>
              </a:rPr>
              <a:t>Human-out-of-the-loop</a:t>
            </a:r>
          </a:p>
        </p:txBody>
      </p:sp>
      <p:sp>
        <p:nvSpPr>
          <p:cNvPr id="30" name="TextBox 29"/>
          <p:cNvSpPr txBox="1"/>
          <p:nvPr/>
        </p:nvSpPr>
        <p:spPr>
          <a:xfrm>
            <a:off x="6903720" y="2761488"/>
            <a:ext cx="4419295"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The human only sees the result (≈ level 5).</a:t>
            </a:r>
          </a:p>
        </p:txBody>
      </p:sp>
      <p:sp>
        <p:nvSpPr>
          <p:cNvPr id="31" name="Rounded Rectangle 30"/>
          <p:cNvSpPr/>
          <p:nvPr/>
        </p:nvSpPr>
        <p:spPr>
          <a:xfrm>
            <a:off x="6720840" y="3337560"/>
            <a:ext cx="4785055" cy="868680"/>
          </a:xfrm>
          <a:prstGeom prst="roundRect">
            <a:avLst>
              <a:gd name="adj" fmla="val 25000"/>
            </a:avLst>
          </a:prstGeom>
          <a:solidFill>
            <a:srgbClr val="FFFFFF"/>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3429000"/>
            <a:ext cx="4419295"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Human-on-the-loop</a:t>
            </a:r>
          </a:p>
        </p:txBody>
      </p:sp>
      <p:sp>
        <p:nvSpPr>
          <p:cNvPr id="33" name="TextBox 32"/>
          <p:cNvSpPr txBox="1"/>
          <p:nvPr/>
        </p:nvSpPr>
        <p:spPr>
          <a:xfrm>
            <a:off x="6903720" y="3721608"/>
            <a:ext cx="4419295"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The human watches, interrupts on deviations (≈ levels 3-4).</a:t>
            </a:r>
          </a:p>
        </p:txBody>
      </p:sp>
      <p:sp>
        <p:nvSpPr>
          <p:cNvPr id="34" name="Rounded Rectangle 33"/>
          <p:cNvSpPr/>
          <p:nvPr/>
        </p:nvSpPr>
        <p:spPr>
          <a:xfrm>
            <a:off x="6720840" y="4297680"/>
            <a:ext cx="4785055" cy="868680"/>
          </a:xfrm>
          <a:prstGeom prst="roundRect">
            <a:avLst>
              <a:gd name="adj" fmla="val 25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4389120"/>
            <a:ext cx="4419295" cy="274320"/>
          </a:xfrm>
          <a:prstGeom prst="rect">
            <a:avLst/>
          </a:prstGeom>
          <a:noFill/>
        </p:spPr>
        <p:txBody>
          <a:bodyPr wrap="square" lIns="0" rIns="0" tIns="0" bIns="0" anchor="t">
            <a:spAutoFit/>
          </a:bodyPr>
          <a:lstStyle/>
          <a:p>
            <a:pPr algn="l">
              <a:lnSpc>
                <a:spcPct val="115000"/>
              </a:lnSpc>
            </a:pPr>
            <a:r>
              <a:rPr sz="1200" b="1" i="0">
                <a:solidFill>
                  <a:srgbClr val="1C7293"/>
                </a:solidFill>
                <a:latin typeface="Arial"/>
              </a:rPr>
              <a:t>Human-in-the-loop</a:t>
            </a:r>
          </a:p>
        </p:txBody>
      </p:sp>
      <p:sp>
        <p:nvSpPr>
          <p:cNvPr id="36" name="TextBox 35"/>
          <p:cNvSpPr txBox="1"/>
          <p:nvPr/>
        </p:nvSpPr>
        <p:spPr>
          <a:xfrm>
            <a:off x="6903720" y="4681728"/>
            <a:ext cx="4419295"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The human approves every step (≈ levels 1-2).</a:t>
            </a:r>
          </a:p>
        </p:txBody>
      </p:sp>
      <p:sp>
        <p:nvSpPr>
          <p:cNvPr id="37" name="Rounded Rectangle 36"/>
          <p:cNvSpPr/>
          <p:nvPr/>
        </p:nvSpPr>
        <p:spPr>
          <a:xfrm>
            <a:off x="6720840" y="5257800"/>
            <a:ext cx="4785055" cy="868680"/>
          </a:xfrm>
          <a:prstGeom prst="roundRect">
            <a:avLst>
              <a:gd name="adj" fmla="val 25000"/>
            </a:avLst>
          </a:prstGeom>
          <a:solidFill>
            <a:srgbClr val="FFFFFF"/>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03720" y="5349240"/>
            <a:ext cx="4419295" cy="27432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Override modes</a:t>
            </a:r>
          </a:p>
        </p:txBody>
      </p:sp>
      <p:sp>
        <p:nvSpPr>
          <p:cNvPr id="39" name="TextBox 38"/>
          <p:cNvSpPr txBox="1"/>
          <p:nvPr/>
        </p:nvSpPr>
        <p:spPr>
          <a:xfrm>
            <a:off x="6903720" y="5641848"/>
            <a:ext cx="4419295" cy="411480"/>
          </a:xfrm>
          <a:prstGeom prst="rect">
            <a:avLst/>
          </a:prstGeom>
          <a:noFill/>
        </p:spPr>
        <p:txBody>
          <a:bodyPr wrap="square" lIns="0" rIns="0" tIns="0" bIns="0" anchor="t">
            <a:spAutoFit/>
          </a:bodyPr>
          <a:lstStyle/>
          <a:p>
            <a:pPr algn="l">
              <a:lnSpc>
                <a:spcPct val="130000"/>
              </a:lnSpc>
            </a:pPr>
            <a:r>
              <a:rPr sz="1100" b="0" i="0">
                <a:solidFill>
                  <a:srgbClr val="21295C"/>
                </a:solidFill>
                <a:latin typeface="Arial"/>
              </a:rPr>
              <a:t>Any level — with a manual override on alert.</a:t>
            </a:r>
          </a:p>
        </p:txBody>
      </p:sp>
      <p:sp>
        <p:nvSpPr>
          <p:cNvPr id="40" name="Rounded Rectangle 39"/>
          <p:cNvSpPr/>
          <p:nvPr/>
        </p:nvSpPr>
        <p:spPr>
          <a:xfrm>
            <a:off x="502920" y="5870448"/>
            <a:ext cx="11201400" cy="50292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943600"/>
            <a:ext cx="10835640" cy="35661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The autonomy level is a product choice, not a property of the model. In the seminars we'll choose it deliberately.</a:t>
            </a:r>
          </a:p>
        </p:txBody>
      </p:sp>
      <p:sp>
        <p:nvSpPr>
          <p:cNvPr id="42" name="TextBox 41"/>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Feng, McDonald, Zhang — Levels of Autonomy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An application = AI packaged into a product interface.</a:t>
            </a:r>
          </a:p>
        </p:txBody>
      </p:sp>
      <p:sp>
        <p:nvSpPr>
          <p:cNvPr id="3" name="Rounded Rectangle 2"/>
          <p:cNvSpPr/>
          <p:nvPr/>
        </p:nvSpPr>
        <p:spPr>
          <a:xfrm>
            <a:off x="502920" y="1691640"/>
            <a:ext cx="11201400" cy="1554480"/>
          </a:xfrm>
          <a:prstGeom prst="roundRect">
            <a:avLst>
              <a:gd name="adj" fmla="val 19607"/>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56232"/>
            <a:ext cx="10652760" cy="32004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Google Translate — scale in 2026</a:t>
            </a:r>
          </a:p>
        </p:txBody>
      </p:sp>
      <p:sp>
        <p:nvSpPr>
          <p:cNvPr id="5" name="TextBox 4"/>
          <p:cNvSpPr txBox="1"/>
          <p:nvPr/>
        </p:nvSpPr>
        <p:spPr>
          <a:xfrm>
            <a:off x="777240" y="2221992"/>
            <a:ext cx="10652760" cy="685800"/>
          </a:xfrm>
          <a:prstGeom prst="rect">
            <a:avLst/>
          </a:prstGeom>
          <a:noFill/>
        </p:spPr>
        <p:txBody>
          <a:bodyPr wrap="square" lIns="0" rIns="0" tIns="0" bIns="0" anchor="t">
            <a:spAutoFit/>
          </a:bodyPr>
          <a:lstStyle/>
          <a:p>
            <a:pPr algn="l">
              <a:lnSpc>
                <a:spcPct val="100000"/>
              </a:lnSpc>
            </a:pPr>
            <a:r>
              <a:rPr sz="2400" b="1" i="0">
                <a:solidFill>
                  <a:srgbClr val="21295C"/>
                </a:solidFill>
                <a:latin typeface="Arial"/>
              </a:rPr>
              <a:t>1+ billion </a:t>
            </a:r>
            <a:r>
              <a:rPr sz="1300" b="0" i="0">
                <a:solidFill>
                  <a:srgbClr val="21295C"/>
                </a:solidFill>
                <a:latin typeface="Arial"/>
              </a:rPr>
              <a:t>users per month  ·  </a:t>
            </a:r>
            <a:r>
              <a:rPr sz="2400" b="1" i="0">
                <a:solidFill>
                  <a:srgbClr val="F0AB00"/>
                </a:solidFill>
                <a:latin typeface="Arial"/>
              </a:rPr>
              <a:t>1 trillion </a:t>
            </a:r>
            <a:r>
              <a:rPr sz="1300" b="0" i="0">
                <a:solidFill>
                  <a:srgbClr val="21295C"/>
                </a:solidFill>
                <a:latin typeface="Arial"/>
              </a:rPr>
              <a:t>words translated / month</a:t>
            </a:r>
          </a:p>
        </p:txBody>
      </p:sp>
      <p:sp>
        <p:nvSpPr>
          <p:cNvPr id="6" name="TextBox 5"/>
          <p:cNvSpPr txBox="1"/>
          <p:nvPr/>
        </p:nvSpPr>
        <p:spPr>
          <a:xfrm>
            <a:off x="777240" y="2898648"/>
            <a:ext cx="10652760" cy="274320"/>
          </a:xfrm>
          <a:prstGeom prst="rect">
            <a:avLst/>
          </a:prstGeom>
          <a:noFill/>
        </p:spPr>
        <p:txBody>
          <a:bodyPr wrap="square" lIns="0" rIns="0" tIns="0" bIns="0" anchor="t">
            <a:spAutoFit/>
          </a:bodyPr>
          <a:lstStyle/>
          <a:p>
            <a:pPr algn="l">
              <a:lnSpc>
                <a:spcPct val="115000"/>
              </a:lnSpc>
            </a:pPr>
            <a:r>
              <a:rPr sz="1000" b="0" i="1">
                <a:solidFill>
                  <a:srgbClr val="1C7293"/>
                </a:solidFill>
                <a:latin typeface="Arial"/>
              </a:rPr>
              <a:t>across Google Translate, Search, Lens, and Circle to Search (Google Blog, April 2026) </a:t>
            </a:r>
            <a:r>
              <a:rPr sz="520" baseline="30000" b="0" i="1">
                <a:latin typeface="Arial"/>
                <a:cs typeface="Arial"/>
                <a:ea typeface="Arial"/>
                <a:solidFill>
                  <a:srgbClr val="1C7293"/>
                </a:solidFill>
              </a:rPr>
              <a:t>[1]</a:t>
            </a:r>
          </a:p>
        </p:txBody>
      </p:sp>
      <p:sp>
        <p:nvSpPr>
          <p:cNvPr id="7" name="Rounded Rectangle 6"/>
          <p:cNvSpPr/>
          <p:nvPr/>
        </p:nvSpPr>
        <p:spPr>
          <a:xfrm>
            <a:off x="502920" y="338328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googletranslate.png"/>
          <p:cNvPicPr>
            <a:picLocks noChangeAspect="1"/>
          </p:cNvPicPr>
          <p:nvPr/>
        </p:nvPicPr>
        <p:blipFill>
          <a:blip r:embed="rId2"/>
          <a:stretch>
            <a:fillRect/>
          </a:stretch>
        </p:blipFill>
        <p:spPr>
          <a:xfrm>
            <a:off x="685800" y="3657600"/>
            <a:ext cx="731520" cy="731520"/>
          </a:xfrm>
          <a:prstGeom prst="rect">
            <a:avLst/>
          </a:prstGeom>
        </p:spPr>
      </p:pic>
      <p:sp>
        <p:nvSpPr>
          <p:cNvPr id="9" name="TextBox 8"/>
          <p:cNvSpPr txBox="1"/>
          <p:nvPr/>
        </p:nvSpPr>
        <p:spPr>
          <a:xfrm>
            <a:off x="1554480" y="361188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Google Translate</a:t>
            </a:r>
          </a:p>
        </p:txBody>
      </p:sp>
      <p:sp>
        <p:nvSpPr>
          <p:cNvPr id="10" name="TextBox 9"/>
          <p:cNvSpPr txBox="1"/>
          <p:nvPr/>
        </p:nvSpPr>
        <p:spPr>
          <a:xfrm>
            <a:off x="1554480" y="402336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neural translation</a:t>
            </a:r>
          </a:p>
        </p:txBody>
      </p:sp>
      <p:sp>
        <p:nvSpPr>
          <p:cNvPr id="11" name="Rounded Rectangle 10"/>
          <p:cNvSpPr/>
          <p:nvPr/>
        </p:nvSpPr>
        <p:spPr>
          <a:xfrm>
            <a:off x="4297679" y="338328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go-notion.png"/>
          <p:cNvPicPr>
            <a:picLocks noChangeAspect="1"/>
          </p:cNvPicPr>
          <p:nvPr/>
        </p:nvPicPr>
        <p:blipFill>
          <a:blip r:embed="rId3"/>
          <a:stretch>
            <a:fillRect/>
          </a:stretch>
        </p:blipFill>
        <p:spPr>
          <a:xfrm>
            <a:off x="4480559" y="3657600"/>
            <a:ext cx="731520" cy="731520"/>
          </a:xfrm>
          <a:prstGeom prst="rect">
            <a:avLst/>
          </a:prstGeom>
        </p:spPr>
      </p:pic>
      <p:sp>
        <p:nvSpPr>
          <p:cNvPr id="13" name="TextBox 12"/>
          <p:cNvSpPr txBox="1"/>
          <p:nvPr/>
        </p:nvSpPr>
        <p:spPr>
          <a:xfrm>
            <a:off x="5349240" y="361188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Notion AI</a:t>
            </a:r>
          </a:p>
        </p:txBody>
      </p:sp>
      <p:sp>
        <p:nvSpPr>
          <p:cNvPr id="14" name="TextBox 13"/>
          <p:cNvSpPr txBox="1"/>
          <p:nvPr/>
        </p:nvSpPr>
        <p:spPr>
          <a:xfrm>
            <a:off x="5349240" y="402336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GPT-4/Claude in buttons</a:t>
            </a:r>
          </a:p>
        </p:txBody>
      </p:sp>
      <p:sp>
        <p:nvSpPr>
          <p:cNvPr id="15" name="Rounded Rectangle 14"/>
          <p:cNvSpPr/>
          <p:nvPr/>
        </p:nvSpPr>
        <p:spPr>
          <a:xfrm>
            <a:off x="8092440" y="338328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go-yandex.png"/>
          <p:cNvPicPr>
            <a:picLocks noChangeAspect="1"/>
          </p:cNvPicPr>
          <p:nvPr/>
        </p:nvPicPr>
        <p:blipFill>
          <a:blip r:embed="rId4"/>
          <a:stretch>
            <a:fillRect/>
          </a:stretch>
        </p:blipFill>
        <p:spPr>
          <a:xfrm>
            <a:off x="8275319" y="3657600"/>
            <a:ext cx="731520" cy="731520"/>
          </a:xfrm>
          <a:prstGeom prst="rect">
            <a:avLst/>
          </a:prstGeom>
        </p:spPr>
      </p:pic>
      <p:sp>
        <p:nvSpPr>
          <p:cNvPr id="17" name="TextBox 16"/>
          <p:cNvSpPr txBox="1"/>
          <p:nvPr/>
        </p:nvSpPr>
        <p:spPr>
          <a:xfrm>
            <a:off x="9144000" y="361188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YandexGPT in Search</a:t>
            </a:r>
          </a:p>
        </p:txBody>
      </p:sp>
      <p:sp>
        <p:nvSpPr>
          <p:cNvPr id="18" name="TextBox 17"/>
          <p:cNvSpPr txBox="1"/>
          <p:nvPr/>
        </p:nvSpPr>
        <p:spPr>
          <a:xfrm>
            <a:off x="9144000" y="402336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AI quick answer</a:t>
            </a:r>
          </a:p>
        </p:txBody>
      </p:sp>
      <p:sp>
        <p:nvSpPr>
          <p:cNvPr id="19" name="Rounded Rectangle 18"/>
          <p:cNvSpPr/>
          <p:nvPr/>
        </p:nvSpPr>
        <p:spPr>
          <a:xfrm>
            <a:off x="502920" y="466344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go-grammarly.png"/>
          <p:cNvPicPr>
            <a:picLocks noChangeAspect="1"/>
          </p:cNvPicPr>
          <p:nvPr/>
        </p:nvPicPr>
        <p:blipFill>
          <a:blip r:embed="rId5"/>
          <a:stretch>
            <a:fillRect/>
          </a:stretch>
        </p:blipFill>
        <p:spPr>
          <a:xfrm>
            <a:off x="685800" y="4937760"/>
            <a:ext cx="731520" cy="731520"/>
          </a:xfrm>
          <a:prstGeom prst="rect">
            <a:avLst/>
          </a:prstGeom>
        </p:spPr>
      </p:pic>
      <p:sp>
        <p:nvSpPr>
          <p:cNvPr id="21" name="TextBox 20"/>
          <p:cNvSpPr txBox="1"/>
          <p:nvPr/>
        </p:nvSpPr>
        <p:spPr>
          <a:xfrm>
            <a:off x="1554480" y="489204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Grammarly</a:t>
            </a:r>
          </a:p>
        </p:txBody>
      </p:sp>
      <p:sp>
        <p:nvSpPr>
          <p:cNvPr id="22" name="TextBox 21"/>
          <p:cNvSpPr txBox="1"/>
          <p:nvPr/>
        </p:nvSpPr>
        <p:spPr>
          <a:xfrm>
            <a:off x="1554480" y="530352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NLP + LLM suggestions</a:t>
            </a:r>
          </a:p>
        </p:txBody>
      </p:sp>
      <p:sp>
        <p:nvSpPr>
          <p:cNvPr id="23" name="Rounded Rectangle 22"/>
          <p:cNvSpPr/>
          <p:nvPr/>
        </p:nvSpPr>
        <p:spPr>
          <a:xfrm>
            <a:off x="4297679" y="466344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ogo-yandex.png"/>
          <p:cNvPicPr>
            <a:picLocks noChangeAspect="1"/>
          </p:cNvPicPr>
          <p:nvPr/>
        </p:nvPicPr>
        <p:blipFill>
          <a:blip r:embed="rId4"/>
          <a:stretch>
            <a:fillRect/>
          </a:stretch>
        </p:blipFill>
        <p:spPr>
          <a:xfrm>
            <a:off x="4480559" y="4937760"/>
            <a:ext cx="731520" cy="731520"/>
          </a:xfrm>
          <a:prstGeom prst="rect">
            <a:avLst/>
          </a:prstGeom>
        </p:spPr>
      </p:pic>
      <p:sp>
        <p:nvSpPr>
          <p:cNvPr id="25" name="TextBox 24"/>
          <p:cNvSpPr txBox="1"/>
          <p:nvPr/>
        </p:nvSpPr>
        <p:spPr>
          <a:xfrm>
            <a:off x="5349240" y="489204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Yandex Maps</a:t>
            </a:r>
          </a:p>
        </p:txBody>
      </p:sp>
      <p:sp>
        <p:nvSpPr>
          <p:cNvPr id="26" name="TextBox 25"/>
          <p:cNvSpPr txBox="1"/>
          <p:nvPr/>
        </p:nvSpPr>
        <p:spPr>
          <a:xfrm>
            <a:off x="5349240" y="530352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ML routing</a:t>
            </a:r>
          </a:p>
        </p:txBody>
      </p:sp>
      <p:sp>
        <p:nvSpPr>
          <p:cNvPr id="27" name="Rounded Rectangle 26"/>
          <p:cNvSpPr/>
          <p:nvPr/>
        </p:nvSpPr>
        <p:spPr>
          <a:xfrm>
            <a:off x="8092440" y="4663440"/>
            <a:ext cx="3703320" cy="118872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ogo-adobefirefly.png"/>
          <p:cNvPicPr>
            <a:picLocks noChangeAspect="1"/>
          </p:cNvPicPr>
          <p:nvPr/>
        </p:nvPicPr>
        <p:blipFill>
          <a:blip r:embed="rId6"/>
          <a:stretch>
            <a:fillRect/>
          </a:stretch>
        </p:blipFill>
        <p:spPr>
          <a:xfrm>
            <a:off x="8275319" y="4937760"/>
            <a:ext cx="731520" cy="731520"/>
          </a:xfrm>
          <a:prstGeom prst="rect">
            <a:avLst/>
          </a:prstGeom>
        </p:spPr>
      </p:pic>
      <p:sp>
        <p:nvSpPr>
          <p:cNvPr id="29" name="TextBox 28"/>
          <p:cNvSpPr txBox="1"/>
          <p:nvPr/>
        </p:nvSpPr>
        <p:spPr>
          <a:xfrm>
            <a:off x="9144000" y="4892040"/>
            <a:ext cx="25146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Adobe Firefly</a:t>
            </a:r>
          </a:p>
        </p:txBody>
      </p:sp>
      <p:sp>
        <p:nvSpPr>
          <p:cNvPr id="30" name="TextBox 29"/>
          <p:cNvSpPr txBox="1"/>
          <p:nvPr/>
        </p:nvSpPr>
        <p:spPr>
          <a:xfrm>
            <a:off x="9144000" y="5303520"/>
            <a:ext cx="2514600" cy="502920"/>
          </a:xfrm>
          <a:prstGeom prst="rect">
            <a:avLst/>
          </a:prstGeom>
          <a:noFill/>
        </p:spPr>
        <p:txBody>
          <a:bodyPr wrap="square" lIns="0" rIns="0" tIns="0" bIns="0" anchor="t">
            <a:spAutoFit/>
          </a:bodyPr>
          <a:lstStyle/>
          <a:p>
            <a:pPr algn="l">
              <a:lnSpc>
                <a:spcPct val="130000"/>
              </a:lnSpc>
            </a:pPr>
            <a:r>
              <a:rPr sz="1000" b="0" i="1">
                <a:solidFill>
                  <a:srgbClr val="6B7685"/>
                </a:solidFill>
                <a:latin typeface="Arial"/>
              </a:rPr>
              <a:t>diffusion in Photoshop</a:t>
            </a:r>
          </a:p>
        </p:txBody>
      </p:sp>
      <p:sp>
        <p:nvSpPr>
          <p:cNvPr id="31" name="Rounded Rectangle 30"/>
          <p:cNvSpPr/>
          <p:nvPr/>
        </p:nvSpPr>
        <p:spPr>
          <a:xfrm>
            <a:off x="502920" y="5916168"/>
            <a:ext cx="11201400" cy="45720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989320"/>
            <a:ext cx="10835640" cy="31089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AI as a feature, not a product. Most students already use all six every day. </a:t>
            </a:r>
            <a:r>
              <a:rPr sz="624" baseline="30000" b="0" i="1">
                <a:latin typeface="Arial"/>
                <a:cs typeface="Arial"/>
                <a:ea typeface="Arial"/>
                <a:solidFill>
                  <a:srgbClr val="1C7293"/>
                </a:solidFill>
              </a:rPr>
              <a:t>[2]</a:t>
            </a:r>
          </a:p>
        </p:txBody>
      </p:sp>
      <p:sp>
        <p:nvSpPr>
          <p:cNvPr id="33" name="TextBox 32"/>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7"/>
              </a:rPr>
              <a:t>Google — Translate at 20 (2026)</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8"/>
              </a:rPr>
              <a:t>Anthropic — Building Effective Agents (2024)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Checklist «Which type of AI to choose»: 2 questions + a 2×2 quadrant. </a:t>
            </a:r>
            <a:r>
              <a:rPr sz="1248" baseline="30000" b="0" i="1">
                <a:latin typeface="Arial"/>
                <a:cs typeface="Arial"/>
                <a:ea typeface="Arial"/>
                <a:solidFill>
                  <a:srgbClr val="1C7293"/>
                </a:solidFill>
              </a:rPr>
              <a:t>[1]</a:t>
            </a:r>
            <a:r>
              <a:rPr sz="2400" b="1" i="0">
                <a:latin typeface="Arial"/>
                <a:cs typeface="Arial"/>
                <a:ea typeface="Arial"/>
                <a:solidFill>
                  <a:srgbClr val="21295C"/>
                </a:solidFill>
              </a:rPr>
              <a:t> </a:t>
            </a:r>
            <a:r>
              <a:rPr sz="1248" baseline="30000" b="0" i="1">
                <a:latin typeface="Arial"/>
                <a:cs typeface="Arial"/>
                <a:ea typeface="Arial"/>
                <a:solidFill>
                  <a:srgbClr val="1C7293"/>
                </a:solidFill>
              </a:rPr>
              <a:t>[2]</a:t>
            </a:r>
            <a:r>
              <a:rPr sz="2400" b="1" i="0">
                <a:latin typeface="Arial"/>
                <a:cs typeface="Arial"/>
                <a:ea typeface="Arial"/>
                <a:solidFill>
                  <a:srgbClr val="21295C"/>
                </a:solidFill>
              </a:rPr>
              <a:t> </a:t>
            </a:r>
            <a:r>
              <a:rPr sz="1248" baseline="30000" b="0" i="1">
                <a:latin typeface="Arial"/>
                <a:cs typeface="Arial"/>
                <a:ea typeface="Arial"/>
                <a:solidFill>
                  <a:srgbClr val="1C7293"/>
                </a:solidFill>
              </a:rPr>
              <a:t>[3]</a:t>
            </a:r>
          </a:p>
        </p:txBody>
      </p:sp>
      <p:sp>
        <p:nvSpPr>
          <p:cNvPr id="3" name="Rounded Rectangle 2"/>
          <p:cNvSpPr/>
          <p:nvPr/>
        </p:nvSpPr>
        <p:spPr>
          <a:xfrm>
            <a:off x="3108960" y="1508760"/>
            <a:ext cx="6858000" cy="3749039"/>
          </a:xfrm>
          <a:prstGeom prst="roundRect">
            <a:avLst>
              <a:gd name="adj" fmla="val 4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33388" y="1508760"/>
            <a:ext cx="9144" cy="3749039"/>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08960" y="3378708"/>
            <a:ext cx="6858000" cy="914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2281427"/>
            <a:ext cx="548640" cy="329184"/>
          </a:xfrm>
          <a:prstGeom prst="roundRect">
            <a:avLst>
              <a:gd name="adj" fmla="val 4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281427"/>
            <a:ext cx="548640" cy="329184"/>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YES</a:t>
            </a:r>
          </a:p>
        </p:txBody>
      </p:sp>
      <p:sp>
        <p:nvSpPr>
          <p:cNvPr id="8" name="Rounded Rectangle 7"/>
          <p:cNvSpPr/>
          <p:nvPr/>
        </p:nvSpPr>
        <p:spPr>
          <a:xfrm>
            <a:off x="594360" y="4155948"/>
            <a:ext cx="548640" cy="329184"/>
          </a:xfrm>
          <a:prstGeom prst="roundRect">
            <a:avLst>
              <a:gd name="adj" fmla="val 4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4155948"/>
            <a:ext cx="548640" cy="329184"/>
          </a:xfrm>
          <a:prstGeom prst="rect">
            <a:avLst/>
          </a:prstGeom>
          <a:noFill/>
        </p:spPr>
        <p:txBody>
          <a:bodyPr wrap="square" lIns="0" rIns="0" tIns="0" bIns="0" anchor="ctr">
            <a:spAutoFit/>
          </a:bodyPr>
          <a:lstStyle/>
          <a:p>
            <a:pPr algn="ctr">
              <a:lnSpc>
                <a:spcPct val="115000"/>
              </a:lnSpc>
            </a:pPr>
            <a:r>
              <a:rPr sz="1200" b="1" i="0">
                <a:solidFill>
                  <a:srgbClr val="1C7293"/>
                </a:solidFill>
                <a:latin typeface="Arial"/>
              </a:rPr>
              <a:t>NO</a:t>
            </a:r>
          </a:p>
        </p:txBody>
      </p:sp>
      <p:sp>
        <p:nvSpPr>
          <p:cNvPr id="10" name="TextBox 9"/>
          <p:cNvSpPr txBox="1"/>
          <p:nvPr/>
        </p:nvSpPr>
        <p:spPr>
          <a:xfrm>
            <a:off x="1280160" y="2880359"/>
            <a:ext cx="1554479" cy="292608"/>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QUESTION 1</a:t>
            </a:r>
          </a:p>
        </p:txBody>
      </p:sp>
      <p:sp>
        <p:nvSpPr>
          <p:cNvPr id="11" name="TextBox 10"/>
          <p:cNvSpPr txBox="1"/>
          <p:nvPr/>
        </p:nvSpPr>
        <p:spPr>
          <a:xfrm>
            <a:off x="1280160" y="3200399"/>
            <a:ext cx="1554479" cy="777240"/>
          </a:xfrm>
          <a:prstGeom prst="rect">
            <a:avLst/>
          </a:prstGeom>
          <a:noFill/>
        </p:spPr>
        <p:txBody>
          <a:bodyPr wrap="square" lIns="0" rIns="0" tIns="0" bIns="0" anchor="t">
            <a:spAutoFit/>
          </a:bodyPr>
          <a:lstStyle/>
          <a:p>
            <a:pPr algn="l">
              <a:lnSpc>
                <a:spcPct val="125000"/>
              </a:lnSpc>
            </a:pPr>
            <a:r>
              <a:rPr sz="1300" b="1" i="0">
                <a:solidFill>
                  <a:srgbClr val="21295C"/>
                </a:solidFill>
                <a:latin typeface="Arial"/>
              </a:rPr>
              <a:t>Do you need interaction with the user?</a:t>
            </a:r>
          </a:p>
        </p:txBody>
      </p:sp>
      <p:sp>
        <p:nvSpPr>
          <p:cNvPr id="12" name="Rounded Rectangle 11"/>
          <p:cNvSpPr/>
          <p:nvPr/>
        </p:nvSpPr>
        <p:spPr>
          <a:xfrm>
            <a:off x="4549140" y="5349240"/>
            <a:ext cx="548640" cy="329184"/>
          </a:xfrm>
          <a:prstGeom prst="roundRect">
            <a:avLst>
              <a:gd name="adj" fmla="val 40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9140" y="5349240"/>
            <a:ext cx="548640" cy="329184"/>
          </a:xfrm>
          <a:prstGeom prst="rect">
            <a:avLst/>
          </a:prstGeom>
          <a:noFill/>
        </p:spPr>
        <p:txBody>
          <a:bodyPr wrap="square" lIns="0" rIns="0" tIns="0" bIns="0" anchor="ctr">
            <a:spAutoFit/>
          </a:bodyPr>
          <a:lstStyle/>
          <a:p>
            <a:pPr algn="ctr">
              <a:lnSpc>
                <a:spcPct val="115000"/>
              </a:lnSpc>
            </a:pPr>
            <a:r>
              <a:rPr sz="1200" b="1" i="0">
                <a:solidFill>
                  <a:srgbClr val="1C7293"/>
                </a:solidFill>
                <a:latin typeface="Arial"/>
              </a:rPr>
              <a:t>NO</a:t>
            </a:r>
          </a:p>
        </p:txBody>
      </p:sp>
      <p:sp>
        <p:nvSpPr>
          <p:cNvPr id="14" name="Rounded Rectangle 13"/>
          <p:cNvSpPr/>
          <p:nvPr/>
        </p:nvSpPr>
        <p:spPr>
          <a:xfrm>
            <a:off x="7978140" y="5349240"/>
            <a:ext cx="548640" cy="329184"/>
          </a:xfrm>
          <a:prstGeom prst="roundRect">
            <a:avLst>
              <a:gd name="adj" fmla="val 40000"/>
            </a:avLst>
          </a:prstGeom>
          <a:solidFill>
            <a:srgbClr val="FEF5E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78140" y="5349240"/>
            <a:ext cx="548640" cy="329184"/>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YES</a:t>
            </a:r>
          </a:p>
        </p:txBody>
      </p:sp>
      <p:sp>
        <p:nvSpPr>
          <p:cNvPr id="16" name="TextBox 15"/>
          <p:cNvSpPr txBox="1"/>
          <p:nvPr/>
        </p:nvSpPr>
        <p:spPr>
          <a:xfrm>
            <a:off x="3108960" y="5806440"/>
            <a:ext cx="6858000" cy="292608"/>
          </a:xfrm>
          <a:prstGeom prst="rect">
            <a:avLst/>
          </a:prstGeom>
          <a:noFill/>
        </p:spPr>
        <p:txBody>
          <a:bodyPr wrap="square" lIns="0" rIns="0" tIns="0" bIns="0" anchor="t">
            <a:spAutoFit/>
          </a:bodyPr>
          <a:lstStyle/>
          <a:p>
            <a:pPr algn="ctr">
              <a:lnSpc>
                <a:spcPct val="115000"/>
              </a:lnSpc>
            </a:pPr>
            <a:r>
              <a:rPr sz="1200" b="1" i="0">
                <a:solidFill>
                  <a:srgbClr val="21295C"/>
                </a:solidFill>
                <a:latin typeface="Arial"/>
              </a:rPr>
              <a:t>QUESTION 2</a:t>
            </a:r>
          </a:p>
        </p:txBody>
      </p:sp>
      <p:sp>
        <p:nvSpPr>
          <p:cNvPr id="17" name="TextBox 16"/>
          <p:cNvSpPr txBox="1"/>
          <p:nvPr/>
        </p:nvSpPr>
        <p:spPr>
          <a:xfrm>
            <a:off x="3108960" y="6099048"/>
            <a:ext cx="6858000" cy="329184"/>
          </a:xfrm>
          <a:prstGeom prst="rect">
            <a:avLst/>
          </a:prstGeom>
          <a:noFill/>
        </p:spPr>
        <p:txBody>
          <a:bodyPr wrap="square" lIns="0" rIns="0" tIns="0" bIns="0" anchor="t">
            <a:spAutoFit/>
          </a:bodyPr>
          <a:lstStyle/>
          <a:p>
            <a:pPr algn="ctr">
              <a:lnSpc>
                <a:spcPct val="115000"/>
              </a:lnSpc>
            </a:pPr>
            <a:r>
              <a:rPr sz="1300" b="1" i="0">
                <a:solidFill>
                  <a:srgbClr val="21295C"/>
                </a:solidFill>
                <a:latin typeface="Arial"/>
              </a:rPr>
              <a:t>Do you need autonomous work with tools?</a:t>
            </a:r>
          </a:p>
        </p:txBody>
      </p:sp>
      <p:sp>
        <p:nvSpPr>
          <p:cNvPr id="18" name="TextBox 17"/>
          <p:cNvSpPr txBox="1"/>
          <p:nvPr/>
        </p:nvSpPr>
        <p:spPr>
          <a:xfrm>
            <a:off x="3291840" y="1783080"/>
            <a:ext cx="3063240" cy="594360"/>
          </a:xfrm>
          <a:prstGeom prst="rect">
            <a:avLst/>
          </a:prstGeom>
          <a:noFill/>
        </p:spPr>
        <p:txBody>
          <a:bodyPr wrap="square" lIns="0" rIns="0" tIns="0" bIns="0" anchor="t">
            <a:spAutoFit/>
          </a:bodyPr>
          <a:lstStyle/>
          <a:p>
            <a:pPr algn="ctr">
              <a:lnSpc>
                <a:spcPct val="110000"/>
              </a:lnSpc>
            </a:pPr>
            <a:r>
              <a:rPr sz="2200" b="1" i="0">
                <a:solidFill>
                  <a:srgbClr val="1C7293"/>
                </a:solidFill>
                <a:latin typeface="Arial"/>
              </a:rPr>
              <a:t>CHAT</a:t>
            </a:r>
          </a:p>
        </p:txBody>
      </p:sp>
      <p:sp>
        <p:nvSpPr>
          <p:cNvPr id="19" name="TextBox 18"/>
          <p:cNvSpPr txBox="1"/>
          <p:nvPr/>
        </p:nvSpPr>
        <p:spPr>
          <a:xfrm>
            <a:off x="3291840" y="2514600"/>
            <a:ext cx="3063240" cy="777240"/>
          </a:xfrm>
          <a:prstGeom prst="rect">
            <a:avLst/>
          </a:prstGeom>
          <a:noFill/>
        </p:spPr>
        <p:txBody>
          <a:bodyPr wrap="square" lIns="0" rIns="0" tIns="0" bIns="0" anchor="t">
            <a:spAutoFit/>
          </a:bodyPr>
          <a:lstStyle/>
          <a:p>
            <a:pPr algn="ctr">
              <a:lnSpc>
                <a:spcPct val="130000"/>
              </a:lnSpc>
            </a:pPr>
            <a:r>
              <a:rPr sz="1200" b="0" i="1">
                <a:solidFill>
                  <a:srgbClr val="21295C"/>
                </a:solidFill>
                <a:latin typeface="Arial"/>
              </a:rPr>
              <a:t>corp chat for
parsing a spec</a:t>
            </a:r>
          </a:p>
        </p:txBody>
      </p:sp>
      <p:sp>
        <p:nvSpPr>
          <p:cNvPr id="20" name="Rounded Rectangle 19"/>
          <p:cNvSpPr/>
          <p:nvPr/>
        </p:nvSpPr>
        <p:spPr>
          <a:xfrm>
            <a:off x="6702552" y="1673351"/>
            <a:ext cx="3099816" cy="1545336"/>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1783080"/>
            <a:ext cx="3063240" cy="594360"/>
          </a:xfrm>
          <a:prstGeom prst="rect">
            <a:avLst/>
          </a:prstGeom>
          <a:noFill/>
        </p:spPr>
        <p:txBody>
          <a:bodyPr wrap="square" lIns="0" rIns="0" tIns="0" bIns="0" anchor="t">
            <a:spAutoFit/>
          </a:bodyPr>
          <a:lstStyle/>
          <a:p>
            <a:pPr algn="ctr">
              <a:lnSpc>
                <a:spcPct val="110000"/>
              </a:lnSpc>
            </a:pPr>
            <a:r>
              <a:rPr sz="2200" b="1" i="0">
                <a:solidFill>
                  <a:srgbClr val="21295C"/>
                </a:solidFill>
                <a:latin typeface="Arial"/>
              </a:rPr>
              <a:t>AGENT</a:t>
            </a:r>
          </a:p>
        </p:txBody>
      </p:sp>
      <p:sp>
        <p:nvSpPr>
          <p:cNvPr id="22" name="TextBox 21"/>
          <p:cNvSpPr txBox="1"/>
          <p:nvPr/>
        </p:nvSpPr>
        <p:spPr>
          <a:xfrm>
            <a:off x="6720840" y="2514600"/>
            <a:ext cx="3063240" cy="777240"/>
          </a:xfrm>
          <a:prstGeom prst="rect">
            <a:avLst/>
          </a:prstGeom>
          <a:noFill/>
        </p:spPr>
        <p:txBody>
          <a:bodyPr wrap="square" lIns="0" rIns="0" tIns="0" bIns="0" anchor="t">
            <a:spAutoFit/>
          </a:bodyPr>
          <a:lstStyle/>
          <a:p>
            <a:pPr algn="ctr">
              <a:lnSpc>
                <a:spcPct val="130000"/>
              </a:lnSpc>
            </a:pPr>
            <a:r>
              <a:rPr sz="1200" b="0" i="1">
                <a:solidFill>
                  <a:srgbClr val="21295C"/>
                </a:solidFill>
                <a:latin typeface="Arial"/>
              </a:rPr>
              <a:t>200 PDFs →
summary table</a:t>
            </a:r>
          </a:p>
        </p:txBody>
      </p:sp>
      <p:sp>
        <p:nvSpPr>
          <p:cNvPr id="23" name="TextBox 22"/>
          <p:cNvSpPr txBox="1"/>
          <p:nvPr/>
        </p:nvSpPr>
        <p:spPr>
          <a:xfrm>
            <a:off x="3291840" y="3657599"/>
            <a:ext cx="3063240" cy="594360"/>
          </a:xfrm>
          <a:prstGeom prst="rect">
            <a:avLst/>
          </a:prstGeom>
          <a:noFill/>
        </p:spPr>
        <p:txBody>
          <a:bodyPr wrap="square" lIns="0" rIns="0" tIns="0" bIns="0" anchor="t">
            <a:spAutoFit/>
          </a:bodyPr>
          <a:lstStyle/>
          <a:p>
            <a:pPr algn="ctr">
              <a:lnSpc>
                <a:spcPct val="110000"/>
              </a:lnSpc>
            </a:pPr>
            <a:r>
              <a:rPr sz="2200" b="1" i="0">
                <a:solidFill>
                  <a:srgbClr val="1C7293"/>
                </a:solidFill>
                <a:latin typeface="Arial"/>
              </a:rPr>
              <a:t>MODEL</a:t>
            </a:r>
          </a:p>
        </p:txBody>
      </p:sp>
      <p:sp>
        <p:nvSpPr>
          <p:cNvPr id="24" name="TextBox 23"/>
          <p:cNvSpPr txBox="1"/>
          <p:nvPr/>
        </p:nvSpPr>
        <p:spPr>
          <a:xfrm>
            <a:off x="3291840" y="4389120"/>
            <a:ext cx="3063240" cy="777240"/>
          </a:xfrm>
          <a:prstGeom prst="rect">
            <a:avLst/>
          </a:prstGeom>
          <a:noFill/>
        </p:spPr>
        <p:txBody>
          <a:bodyPr wrap="square" lIns="0" rIns="0" tIns="0" bIns="0" anchor="t">
            <a:spAutoFit/>
          </a:bodyPr>
          <a:lstStyle/>
          <a:p>
            <a:pPr algn="ctr">
              <a:lnSpc>
                <a:spcPct val="130000"/>
              </a:lnSpc>
            </a:pPr>
            <a:r>
              <a:rPr sz="1200" b="0" i="1">
                <a:solidFill>
                  <a:srgbClr val="21295C"/>
                </a:solidFill>
                <a:latin typeface="Arial"/>
              </a:rPr>
              <a:t>pipeline
detector</a:t>
            </a:r>
          </a:p>
        </p:txBody>
      </p:sp>
      <p:sp>
        <p:nvSpPr>
          <p:cNvPr id="25" name="TextBox 24"/>
          <p:cNvSpPr txBox="1"/>
          <p:nvPr/>
        </p:nvSpPr>
        <p:spPr>
          <a:xfrm>
            <a:off x="6720840" y="3657599"/>
            <a:ext cx="3063240" cy="594360"/>
          </a:xfrm>
          <a:prstGeom prst="rect">
            <a:avLst/>
          </a:prstGeom>
          <a:noFill/>
        </p:spPr>
        <p:txBody>
          <a:bodyPr wrap="square" lIns="0" rIns="0" tIns="0" bIns="0" anchor="t">
            <a:spAutoFit/>
          </a:bodyPr>
          <a:lstStyle/>
          <a:p>
            <a:pPr algn="ctr">
              <a:lnSpc>
                <a:spcPct val="110000"/>
              </a:lnSpc>
            </a:pPr>
            <a:r>
              <a:rPr sz="2200" b="1" i="0">
                <a:solidFill>
                  <a:srgbClr val="1C7293"/>
                </a:solidFill>
                <a:latin typeface="Arial"/>
              </a:rPr>
              <a:t>APPLICATION</a:t>
            </a:r>
          </a:p>
        </p:txBody>
      </p:sp>
      <p:sp>
        <p:nvSpPr>
          <p:cNvPr id="26" name="TextBox 25"/>
          <p:cNvSpPr txBox="1"/>
          <p:nvPr/>
        </p:nvSpPr>
        <p:spPr>
          <a:xfrm>
            <a:off x="6720840" y="4389120"/>
            <a:ext cx="3063240" cy="777240"/>
          </a:xfrm>
          <a:prstGeom prst="rect">
            <a:avLst/>
          </a:prstGeom>
          <a:noFill/>
        </p:spPr>
        <p:txBody>
          <a:bodyPr wrap="square" lIns="0" rIns="0" tIns="0" bIns="0" anchor="t">
            <a:spAutoFit/>
          </a:bodyPr>
          <a:lstStyle/>
          <a:p>
            <a:pPr algn="ctr">
              <a:lnSpc>
                <a:spcPct val="130000"/>
              </a:lnSpc>
            </a:pPr>
            <a:r>
              <a:rPr sz="1200" b="0" i="1">
                <a:solidFill>
                  <a:srgbClr val="21295C"/>
                </a:solidFill>
                <a:latin typeface="Arial"/>
              </a:rPr>
              <a:t>ETL with an AI classifier
(automation)</a:t>
            </a:r>
          </a:p>
        </p:txBody>
      </p:sp>
      <p:sp>
        <p:nvSpPr>
          <p:cNvPr id="27" name="TextBox 26"/>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Anthropic — Building Effective Agents (2024)</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Google — AI Agents Whitepaper (2024)</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Ng — Four Agentic Design Patterns (2024)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Section 4 · The limits of AI — your zone of responsibility</a:t>
            </a:r>
          </a:p>
        </p:txBody>
      </p:sp>
      <p:sp>
        <p:nvSpPr>
          <p:cNvPr id="3" name="TextBox 2"/>
          <p:cNvSpPr txBox="1"/>
          <p:nvPr/>
        </p:nvSpPr>
        <p:spPr>
          <a:xfrm>
            <a:off x="502920" y="1325880"/>
            <a:ext cx="11201400" cy="502920"/>
          </a:xfrm>
          <a:prstGeom prst="rect">
            <a:avLst/>
          </a:prstGeom>
          <a:noFill/>
        </p:spPr>
        <p:txBody>
          <a:bodyPr wrap="square" lIns="0" rIns="0" tIns="0" bIns="0" anchor="t">
            <a:spAutoFit/>
          </a:bodyPr>
          <a:lstStyle/>
          <a:p>
            <a:pPr algn="ctr">
              <a:lnSpc>
                <a:spcPct val="120000"/>
              </a:lnSpc>
            </a:pPr>
            <a:r>
              <a:rPr sz="1800" b="0" i="1">
                <a:solidFill>
                  <a:srgbClr val="065A82"/>
                </a:solidFill>
                <a:latin typeface="Arial"/>
              </a:rPr>
              <a:t>Where the data goes · AI errors · «can't do it» is yours too. </a:t>
            </a:r>
            <a:r>
              <a:rPr sz="936" baseline="30000" b="0" i="1">
                <a:latin typeface="Arial"/>
                <a:cs typeface="Arial"/>
                <a:ea typeface="Arial"/>
                <a:solidFill>
                  <a:srgbClr val="1C7293"/>
                </a:solidFill>
              </a:rPr>
              <a:t>[1]</a:t>
            </a:r>
            <a:r>
              <a:rPr sz="1800" b="0" i="1">
                <a:latin typeface="Arial"/>
                <a:cs typeface="Arial"/>
                <a:ea typeface="Arial"/>
                <a:solidFill>
                  <a:srgbClr val="065A82"/>
                </a:solidFill>
              </a:rPr>
              <a:t> </a:t>
            </a:r>
            <a:r>
              <a:rPr sz="936" baseline="30000" b="0" i="1">
                <a:latin typeface="Arial"/>
                <a:cs typeface="Arial"/>
                <a:ea typeface="Arial"/>
                <a:solidFill>
                  <a:srgbClr val="1C7293"/>
                </a:solidFill>
              </a:rPr>
              <a:t>[2]</a:t>
            </a:r>
            <a:r>
              <a:rPr sz="1800" b="0" i="1">
                <a:latin typeface="Arial"/>
                <a:cs typeface="Arial"/>
                <a:ea typeface="Arial"/>
                <a:solidFill>
                  <a:srgbClr val="065A82"/>
                </a:solidFill>
              </a:rPr>
              <a:t> </a:t>
            </a:r>
            <a:r>
              <a:rPr sz="936" baseline="30000" b="0" i="1">
                <a:latin typeface="Arial"/>
                <a:cs typeface="Arial"/>
                <a:ea typeface="Arial"/>
                <a:solidFill>
                  <a:srgbClr val="1C7293"/>
                </a:solidFill>
              </a:rPr>
              <a:t>[3]</a:t>
            </a:r>
          </a:p>
        </p:txBody>
      </p:sp>
      <p:sp>
        <p:nvSpPr>
          <p:cNvPr id="4" name="Rounded Rectangle 3"/>
          <p:cNvSpPr/>
          <p:nvPr/>
        </p:nvSpPr>
        <p:spPr>
          <a:xfrm>
            <a:off x="4037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0</a:t>
            </a:r>
          </a:p>
        </p:txBody>
      </p:sp>
      <p:sp>
        <p:nvSpPr>
          <p:cNvPr id="6" name="TextBox 5"/>
          <p:cNvSpPr txBox="1"/>
          <p:nvPr/>
        </p:nvSpPr>
        <p:spPr>
          <a:xfrm>
            <a:off x="4768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Intro</a:t>
            </a:r>
          </a:p>
        </p:txBody>
      </p:sp>
      <p:sp>
        <p:nvSpPr>
          <p:cNvPr id="7" name="TextBox 6"/>
          <p:cNvSpPr txBox="1"/>
          <p:nvPr/>
        </p:nvSpPr>
        <p:spPr>
          <a:xfrm>
            <a:off x="4768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Demo · instructor ·
central question</a:t>
            </a:r>
          </a:p>
        </p:txBody>
      </p:sp>
      <p:sp>
        <p:nvSpPr>
          <p:cNvPr id="8" name="Rounded Rectangle 7"/>
          <p:cNvSpPr/>
          <p:nvPr/>
        </p:nvSpPr>
        <p:spPr>
          <a:xfrm>
            <a:off x="232394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1</a:t>
            </a:r>
          </a:p>
        </p:txBody>
      </p:sp>
      <p:sp>
        <p:nvSpPr>
          <p:cNvPr id="10" name="TextBox 9"/>
          <p:cNvSpPr txBox="1"/>
          <p:nvPr/>
        </p:nvSpPr>
        <p:spPr>
          <a:xfrm>
            <a:off x="239709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What is AI</a:t>
            </a:r>
          </a:p>
        </p:txBody>
      </p:sp>
      <p:sp>
        <p:nvSpPr>
          <p:cNvPr id="11" name="TextBox 10"/>
          <p:cNvSpPr txBox="1"/>
          <p:nvPr/>
        </p:nvSpPr>
        <p:spPr>
          <a:xfrm>
            <a:off x="239709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Definitions,
history, turning point</a:t>
            </a:r>
          </a:p>
        </p:txBody>
      </p:sp>
      <p:sp>
        <p:nvSpPr>
          <p:cNvPr id="12" name="Rounded Rectangle 11"/>
          <p:cNvSpPr/>
          <p:nvPr/>
        </p:nvSpPr>
        <p:spPr>
          <a:xfrm>
            <a:off x="424418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2</a:t>
            </a:r>
          </a:p>
        </p:txBody>
      </p:sp>
      <p:sp>
        <p:nvSpPr>
          <p:cNvPr id="14" name="TextBox 13"/>
          <p:cNvSpPr txBox="1"/>
          <p:nvPr/>
        </p:nvSpPr>
        <p:spPr>
          <a:xfrm>
            <a:off x="431733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Where we
are now</a:t>
            </a:r>
          </a:p>
        </p:txBody>
      </p:sp>
      <p:sp>
        <p:nvSpPr>
          <p:cNvPr id="15" name="TextBox 14"/>
          <p:cNvSpPr txBox="1"/>
          <p:nvPr/>
        </p:nvSpPr>
        <p:spPr>
          <a:xfrm>
            <a:off x="431733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Market numbers
2022–2026</a:t>
            </a:r>
          </a:p>
        </p:txBody>
      </p:sp>
      <p:sp>
        <p:nvSpPr>
          <p:cNvPr id="16" name="Rounded Rectangle 15"/>
          <p:cNvSpPr/>
          <p:nvPr/>
        </p:nvSpPr>
        <p:spPr>
          <a:xfrm>
            <a:off x="616442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3</a:t>
            </a:r>
          </a:p>
        </p:txBody>
      </p:sp>
      <p:sp>
        <p:nvSpPr>
          <p:cNvPr id="18" name="TextBox 17"/>
          <p:cNvSpPr txBox="1"/>
          <p:nvPr/>
        </p:nvSpPr>
        <p:spPr>
          <a:xfrm>
            <a:off x="623757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Four ways to
implement</a:t>
            </a:r>
          </a:p>
        </p:txBody>
      </p:sp>
      <p:sp>
        <p:nvSpPr>
          <p:cNvPr id="19" name="TextBox 18"/>
          <p:cNvSpPr txBox="1"/>
          <p:nvPr/>
        </p:nvSpPr>
        <p:spPr>
          <a:xfrm>
            <a:off x="623757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Model · chat ·
agent · app</a:t>
            </a:r>
          </a:p>
        </p:txBody>
      </p:sp>
      <p:sp>
        <p:nvSpPr>
          <p:cNvPr id="20" name="Rounded Rectangle 19"/>
          <p:cNvSpPr/>
          <p:nvPr/>
        </p:nvSpPr>
        <p:spPr>
          <a:xfrm>
            <a:off x="8084667" y="2331720"/>
            <a:ext cx="1783080" cy="2926080"/>
          </a:xfrm>
          <a:prstGeom prst="roundRect">
            <a:avLst>
              <a:gd name="adj" fmla="val 17094"/>
            </a:avLst>
          </a:prstGeom>
          <a:solidFill>
            <a:srgbClr val="F0AB0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4</a:t>
            </a:r>
          </a:p>
        </p:txBody>
      </p:sp>
      <p:sp>
        <p:nvSpPr>
          <p:cNvPr id="22" name="TextBox 21"/>
          <p:cNvSpPr txBox="1"/>
          <p:nvPr/>
        </p:nvSpPr>
        <p:spPr>
          <a:xfrm>
            <a:off x="8157819" y="3520439"/>
            <a:ext cx="1636776" cy="96012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Limits and
safety</a:t>
            </a:r>
          </a:p>
        </p:txBody>
      </p:sp>
      <p:sp>
        <p:nvSpPr>
          <p:cNvPr id="23" name="TextBox 22"/>
          <p:cNvSpPr txBox="1"/>
          <p:nvPr/>
        </p:nvSpPr>
        <p:spPr>
          <a:xfrm>
            <a:off x="8157819" y="4434840"/>
            <a:ext cx="1636776" cy="777240"/>
          </a:xfrm>
          <a:prstGeom prst="rect">
            <a:avLst/>
          </a:prstGeom>
          <a:noFill/>
        </p:spPr>
        <p:txBody>
          <a:bodyPr wrap="square" lIns="0" rIns="0" tIns="0" bIns="0" anchor="t">
            <a:spAutoFit/>
          </a:bodyPr>
          <a:lstStyle/>
          <a:p>
            <a:pPr algn="ctr">
              <a:lnSpc>
                <a:spcPct val="125000"/>
              </a:lnSpc>
            </a:pPr>
            <a:r>
              <a:rPr sz="1100" b="0" i="1">
                <a:solidFill>
                  <a:srgbClr val="FFFFFF"/>
                </a:solidFill>
                <a:latin typeface="Arial"/>
              </a:rPr>
              <a:t>What AI breaks
and where it fails</a:t>
            </a:r>
          </a:p>
        </p:txBody>
      </p:sp>
      <p:sp>
        <p:nvSpPr>
          <p:cNvPr id="24" name="Rounded Rectangle 23"/>
          <p:cNvSpPr/>
          <p:nvPr/>
        </p:nvSpPr>
        <p:spPr>
          <a:xfrm>
            <a:off x="100049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5</a:t>
            </a:r>
          </a:p>
        </p:txBody>
      </p:sp>
      <p:sp>
        <p:nvSpPr>
          <p:cNvPr id="26" name="TextBox 25"/>
          <p:cNvSpPr txBox="1"/>
          <p:nvPr/>
        </p:nvSpPr>
        <p:spPr>
          <a:xfrm>
            <a:off x="100780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Wrap-up</a:t>
            </a:r>
          </a:p>
        </p:txBody>
      </p:sp>
      <p:sp>
        <p:nvSpPr>
          <p:cNvPr id="27" name="TextBox 26"/>
          <p:cNvSpPr txBox="1"/>
          <p:nvPr/>
        </p:nvSpPr>
        <p:spPr>
          <a:xfrm>
            <a:off x="100780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Recap ·
semester map</a:t>
            </a:r>
          </a:p>
        </p:txBody>
      </p:sp>
      <p:sp>
        <p:nvSpPr>
          <p:cNvPr id="28" name="TextBox 27"/>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NIST — AI RMF 1.0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NIST — Generative AI Profile 600-1 (2024)</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EU AI Act — Reg. (EU) 2024/1689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914400"/>
          </a:xfrm>
          <a:prstGeom prst="rect">
            <a:avLst/>
          </a:prstGeom>
          <a:noFill/>
        </p:spPr>
        <p:txBody>
          <a:bodyPr wrap="square" lIns="0" rIns="0" tIns="0" bIns="0" anchor="t">
            <a:spAutoFit/>
          </a:bodyPr>
          <a:lstStyle/>
          <a:p>
            <a:pPr algn="l">
              <a:lnSpc>
                <a:spcPct val="118000"/>
              </a:lnSpc>
            </a:pPr>
            <a:r>
              <a:rPr sz="2100" b="1" i="0">
                <a:solidFill>
                  <a:srgbClr val="21295C"/>
                </a:solidFill>
                <a:latin typeface="Arial"/>
              </a:rPr>
              <a:t>Consumer vs enterprise plans — where your data goes.</a:t>
            </a:r>
          </a:p>
        </p:txBody>
      </p:sp>
      <p:sp>
        <p:nvSpPr>
          <p:cNvPr id="3" name="TextBox 2"/>
          <p:cNvSpPr txBox="1"/>
          <p:nvPr/>
        </p:nvSpPr>
        <p:spPr>
          <a:xfrm>
            <a:off x="502920" y="1280160"/>
            <a:ext cx="11201400" cy="292608"/>
          </a:xfrm>
          <a:prstGeom prst="rect">
            <a:avLst/>
          </a:prstGeom>
          <a:noFill/>
        </p:spPr>
        <p:txBody>
          <a:bodyPr wrap="square" lIns="0" rIns="0" tIns="0" bIns="0" anchor="t">
            <a:spAutoFit/>
          </a:bodyPr>
          <a:lstStyle/>
          <a:p>
            <a:pPr algn="l">
              <a:lnSpc>
                <a:spcPct val="115000"/>
              </a:lnSpc>
            </a:pPr>
            <a:r>
              <a:rPr sz="1300" b="0" i="1">
                <a:solidFill>
                  <a:srgbClr val="028090"/>
                </a:solidFill>
                <a:latin typeface="Arial"/>
              </a:rPr>
              <a:t>From the general zone of responsibility to the first concrete risk: data.</a:t>
            </a:r>
          </a:p>
        </p:txBody>
      </p:sp>
      <p:sp>
        <p:nvSpPr>
          <p:cNvPr id="4" name="Rounded Rectangle 3"/>
          <p:cNvSpPr/>
          <p:nvPr/>
        </p:nvSpPr>
        <p:spPr>
          <a:xfrm>
            <a:off x="502920" y="1691640"/>
            <a:ext cx="11185855" cy="4617720"/>
          </a:xfrm>
          <a:prstGeom prst="roundRect">
            <a:avLst>
              <a:gd name="adj" fmla="val 66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920240"/>
            <a:ext cx="5227167" cy="3017520"/>
          </a:xfrm>
          <a:prstGeom prst="roundRect">
            <a:avLst>
              <a:gd name="adj" fmla="val 10101"/>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84832"/>
            <a:ext cx="4769967" cy="365760"/>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CONSUMER PLANS</a:t>
            </a:r>
          </a:p>
        </p:txBody>
      </p:sp>
      <p:sp>
        <p:nvSpPr>
          <p:cNvPr id="7" name="TextBox 6"/>
          <p:cNvSpPr txBox="1"/>
          <p:nvPr/>
        </p:nvSpPr>
        <p:spPr>
          <a:xfrm>
            <a:off x="960120" y="2468880"/>
            <a:ext cx="4769967" cy="41148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data → training by default</a:t>
            </a:r>
          </a:p>
        </p:txBody>
      </p:sp>
      <p:sp>
        <p:nvSpPr>
          <p:cNvPr id="8" name="TextBox 7"/>
          <p:cNvSpPr txBox="1"/>
          <p:nvPr/>
        </p:nvSpPr>
        <p:spPr>
          <a:xfrm>
            <a:off x="1005840" y="30175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ChatGPT Free / Plus — training
by default</a:t>
            </a:r>
          </a:p>
        </p:txBody>
      </p:sp>
      <p:sp>
        <p:nvSpPr>
          <p:cNvPr id="9" name="TextBox 8"/>
          <p:cNvSpPr txBox="1"/>
          <p:nvPr/>
        </p:nvSpPr>
        <p:spPr>
          <a:xfrm>
            <a:off x="1005840" y="34747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Anthropic Claude (since Sep 2025) —
opt-in, 5-year retention</a:t>
            </a:r>
          </a:p>
        </p:txBody>
      </p:sp>
      <p:sp>
        <p:nvSpPr>
          <p:cNvPr id="10" name="TextBox 9"/>
          <p:cNvSpPr txBox="1"/>
          <p:nvPr/>
        </p:nvSpPr>
        <p:spPr>
          <a:xfrm>
            <a:off x="1005840" y="39319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Gemini Free — training +
human review, 3 years</a:t>
            </a:r>
          </a:p>
        </p:txBody>
      </p:sp>
      <p:sp>
        <p:nvSpPr>
          <p:cNvPr id="11" name="TextBox 10"/>
          <p:cNvSpPr txBox="1"/>
          <p:nvPr/>
        </p:nvSpPr>
        <p:spPr>
          <a:xfrm>
            <a:off x="1005840" y="43891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YandexGPT Free — standard
policy</a:t>
            </a:r>
          </a:p>
        </p:txBody>
      </p:sp>
      <p:sp>
        <p:nvSpPr>
          <p:cNvPr id="12" name="Rounded Rectangle 11"/>
          <p:cNvSpPr/>
          <p:nvPr/>
        </p:nvSpPr>
        <p:spPr>
          <a:xfrm>
            <a:off x="6233007" y="1920240"/>
            <a:ext cx="5227167" cy="3017520"/>
          </a:xfrm>
          <a:prstGeom prst="roundRect">
            <a:avLst>
              <a:gd name="adj" fmla="val 10101"/>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084832"/>
            <a:ext cx="4769967" cy="36576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ENTERPRISE PLANS / API </a:t>
            </a:r>
            <a:r>
              <a:rPr sz="728" baseline="30000" b="0" i="1">
                <a:latin typeface="Arial"/>
                <a:cs typeface="Arial"/>
                <a:ea typeface="Arial"/>
                <a:solidFill>
                  <a:srgbClr val="1C7293"/>
                </a:solidFill>
              </a:rPr>
              <a:t>[2]</a:t>
            </a:r>
          </a:p>
        </p:txBody>
      </p:sp>
      <p:sp>
        <p:nvSpPr>
          <p:cNvPr id="14" name="TextBox 13"/>
          <p:cNvSpPr txBox="1"/>
          <p:nvPr/>
        </p:nvSpPr>
        <p:spPr>
          <a:xfrm>
            <a:off x="6461607" y="2468880"/>
            <a:ext cx="4769967" cy="41148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data ≠ training</a:t>
            </a:r>
          </a:p>
        </p:txBody>
      </p:sp>
      <p:sp>
        <p:nvSpPr>
          <p:cNvPr id="15" name="TextBox 14"/>
          <p:cNvSpPr txBox="1"/>
          <p:nvPr/>
        </p:nvSpPr>
        <p:spPr>
          <a:xfrm>
            <a:off x="6507327" y="30175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ChatGPT Enterprise / Business —
no training on your data</a:t>
            </a:r>
          </a:p>
        </p:txBody>
      </p:sp>
      <p:sp>
        <p:nvSpPr>
          <p:cNvPr id="16" name="TextBox 15"/>
          <p:cNvSpPr txBox="1"/>
          <p:nvPr/>
        </p:nvSpPr>
        <p:spPr>
          <a:xfrm>
            <a:off x="6507327" y="34747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OpenAI API (since March 2023) —
no training on your data</a:t>
            </a:r>
          </a:p>
        </p:txBody>
      </p:sp>
      <p:sp>
        <p:nvSpPr>
          <p:cNvPr id="17" name="TextBox 16"/>
          <p:cNvSpPr txBox="1"/>
          <p:nvPr/>
        </p:nvSpPr>
        <p:spPr>
          <a:xfrm>
            <a:off x="6507327" y="39319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Anthropic for Business —
zero data retention available</a:t>
            </a:r>
          </a:p>
        </p:txBody>
      </p:sp>
      <p:sp>
        <p:nvSpPr>
          <p:cNvPr id="18" name="TextBox 17"/>
          <p:cNvSpPr txBox="1"/>
          <p:nvPr/>
        </p:nvSpPr>
        <p:spPr>
          <a:xfrm>
            <a:off x="6507327" y="4389120"/>
            <a:ext cx="4678527" cy="457200"/>
          </a:xfrm>
          <a:prstGeom prst="rect">
            <a:avLst/>
          </a:prstGeom>
          <a:noFill/>
        </p:spPr>
        <p:txBody>
          <a:bodyPr wrap="square" lIns="0" rIns="0" tIns="0" bIns="0" anchor="t">
            <a:spAutoFit/>
          </a:bodyPr>
          <a:lstStyle/>
          <a:p>
            <a:pPr algn="l">
              <a:lnSpc>
                <a:spcPct val="112000"/>
              </a:lnSpc>
            </a:pPr>
            <a:r>
              <a:rPr sz="1100" b="0" i="0">
                <a:solidFill>
                  <a:srgbClr val="21295C"/>
                </a:solidFill>
                <a:latin typeface="Arial"/>
              </a:rPr>
              <a:t>•  Google Workspace / Vertex AI —
no training on your data</a:t>
            </a:r>
          </a:p>
        </p:txBody>
      </p:sp>
      <p:sp>
        <p:nvSpPr>
          <p:cNvPr id="19" name="Rounded Rectangle 18"/>
          <p:cNvSpPr/>
          <p:nvPr/>
        </p:nvSpPr>
        <p:spPr>
          <a:xfrm>
            <a:off x="731520" y="5120640"/>
            <a:ext cx="6651766" cy="960119"/>
          </a:xfrm>
          <a:prstGeom prst="roundRect">
            <a:avLst>
              <a:gd name="adj" fmla="val 12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12080"/>
            <a:ext cx="6286006" cy="32004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Samsung 2023 — the canonical incident </a:t>
            </a:r>
            <a:r>
              <a:rPr sz="676" baseline="30000" b="0" i="1">
                <a:latin typeface="Arial"/>
                <a:cs typeface="Arial"/>
                <a:ea typeface="Arial"/>
                <a:solidFill>
                  <a:srgbClr val="1C7293"/>
                </a:solidFill>
              </a:rPr>
              <a:t>[1]</a:t>
            </a:r>
          </a:p>
        </p:txBody>
      </p:sp>
      <p:sp>
        <p:nvSpPr>
          <p:cNvPr id="21" name="TextBox 20"/>
          <p:cNvSpPr txBox="1"/>
          <p:nvPr/>
        </p:nvSpPr>
        <p:spPr>
          <a:xfrm>
            <a:off x="914400" y="5559552"/>
            <a:ext cx="6286006" cy="457199"/>
          </a:xfrm>
          <a:prstGeom prst="rect">
            <a:avLst/>
          </a:prstGeom>
          <a:noFill/>
        </p:spPr>
        <p:txBody>
          <a:bodyPr wrap="square" lIns="0" rIns="0" tIns="0" bIns="0" anchor="t">
            <a:spAutoFit/>
          </a:bodyPr>
          <a:lstStyle/>
          <a:p>
            <a:pPr algn="l">
              <a:lnSpc>
                <a:spcPct val="128000"/>
              </a:lnSpc>
            </a:pPr>
            <a:r>
              <a:rPr sz="1100" b="0" i="0">
                <a:solidFill>
                  <a:srgbClr val="21295C"/>
                </a:solidFill>
                <a:latin typeface="Arial"/>
              </a:rPr>
              <a:t>3 episodes in a month (March–April): source code, a meeting transcript, test sequences → ended up in OpenAI's dataset. Samsung banned external GenAI.</a:t>
            </a:r>
          </a:p>
        </p:txBody>
      </p:sp>
      <p:sp>
        <p:nvSpPr>
          <p:cNvPr id="22" name="Rounded Rectangle 21"/>
          <p:cNvSpPr/>
          <p:nvPr/>
        </p:nvSpPr>
        <p:spPr>
          <a:xfrm>
            <a:off x="7611886" y="5120640"/>
            <a:ext cx="3848288" cy="960119"/>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4766" y="5212080"/>
            <a:ext cx="3482528" cy="320040"/>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EU AI Act — fines </a:t>
            </a:r>
            <a:r>
              <a:rPr sz="676" baseline="30000" b="0" i="1">
                <a:latin typeface="Arial"/>
                <a:cs typeface="Arial"/>
                <a:ea typeface="Arial"/>
                <a:solidFill>
                  <a:srgbClr val="1C7293"/>
                </a:solidFill>
              </a:rPr>
              <a:t>[3]</a:t>
            </a:r>
          </a:p>
        </p:txBody>
      </p:sp>
      <p:sp>
        <p:nvSpPr>
          <p:cNvPr id="24" name="TextBox 23"/>
          <p:cNvSpPr txBox="1"/>
          <p:nvPr/>
        </p:nvSpPr>
        <p:spPr>
          <a:xfrm>
            <a:off x="7794766" y="5559552"/>
            <a:ext cx="3482528" cy="301752"/>
          </a:xfrm>
          <a:prstGeom prst="rect">
            <a:avLst/>
          </a:prstGeom>
          <a:noFill/>
        </p:spPr>
        <p:txBody>
          <a:bodyPr wrap="square" lIns="0" rIns="0" tIns="0" bIns="0" anchor="t">
            <a:spAutoFit/>
          </a:bodyPr>
          <a:lstStyle/>
          <a:p>
            <a:pPr algn="l">
              <a:lnSpc>
                <a:spcPct val="115000"/>
              </a:lnSpc>
            </a:pPr>
            <a:r>
              <a:rPr sz="1200" b="1" i="0">
                <a:solidFill>
                  <a:srgbClr val="FFFFFF"/>
                </a:solidFill>
                <a:latin typeface="Arial"/>
              </a:rPr>
              <a:t>up to €15M / 3% of turnover</a:t>
            </a:r>
          </a:p>
        </p:txBody>
      </p:sp>
      <p:sp>
        <p:nvSpPr>
          <p:cNvPr id="25" name="TextBox 24"/>
          <p:cNvSpPr txBox="1"/>
          <p:nvPr/>
        </p:nvSpPr>
        <p:spPr>
          <a:xfrm>
            <a:off x="7794766" y="5870448"/>
            <a:ext cx="3482528" cy="137159"/>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up to €35M / 7% — for prohibited practices</a:t>
            </a:r>
          </a:p>
        </p:txBody>
      </p:sp>
      <p:sp>
        <p:nvSpPr>
          <p:cNvPr id="26" name="TextBox 25"/>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Bloomberg — Samsung bans ChatGPT (May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OpenAI — Enterprise Privacy / data usage (2025)</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EU AI Act — Reg. (EU) 2024/1689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Hallucinations are an inherent property of AI. </a:t>
            </a:r>
            <a:r>
              <a:rPr sz="1456" baseline="30000" b="0" i="1">
                <a:latin typeface="Arial"/>
                <a:cs typeface="Arial"/>
                <a:ea typeface="Arial"/>
                <a:solidFill>
                  <a:srgbClr val="1C7293"/>
                </a:solidFill>
              </a:rPr>
              <a:t>[1]</a:t>
            </a:r>
            <a:r>
              <a:rPr sz="2800" b="1" i="0">
                <a:latin typeface="Arial"/>
                <a:cs typeface="Arial"/>
                <a:ea typeface="Arial"/>
                <a:solidFill>
                  <a:srgbClr val="21295C"/>
                </a:solidFill>
              </a:rPr>
              <a:t> </a:t>
            </a:r>
            <a:r>
              <a:rPr sz="1456" baseline="30000" b="0" i="1">
                <a:latin typeface="Arial"/>
                <a:cs typeface="Arial"/>
                <a:ea typeface="Arial"/>
                <a:solidFill>
                  <a:srgbClr val="1C7293"/>
                </a:solidFill>
              </a:rPr>
              <a:t>[2]</a:t>
            </a:r>
          </a:p>
        </p:txBody>
      </p:sp>
      <p:sp>
        <p:nvSpPr>
          <p:cNvPr id="3" name="Rounded Rectangle 2"/>
          <p:cNvSpPr/>
          <p:nvPr/>
        </p:nvSpPr>
        <p:spPr>
          <a:xfrm>
            <a:off x="502920" y="1783080"/>
            <a:ext cx="68580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6400800" cy="41148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Prompt</a:t>
            </a:r>
          </a:p>
        </p:txBody>
      </p:sp>
      <p:sp>
        <p:nvSpPr>
          <p:cNvPr id="5" name="Rounded Rectangle 4"/>
          <p:cNvSpPr/>
          <p:nvPr/>
        </p:nvSpPr>
        <p:spPr>
          <a:xfrm>
            <a:off x="731520" y="2377440"/>
            <a:ext cx="6400800" cy="640080"/>
          </a:xfrm>
          <a:prstGeom prst="roundRect">
            <a:avLst>
              <a:gd name="adj" fmla="val 8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496312"/>
            <a:ext cx="6126480" cy="45720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«Name three 2023-2024 papers on "seismic resistance of buried pipelines" with authors, journal, and DOI».</a:t>
            </a:r>
          </a:p>
        </p:txBody>
      </p:sp>
      <p:sp>
        <p:nvSpPr>
          <p:cNvPr id="7" name="TextBox 6"/>
          <p:cNvSpPr txBox="1"/>
          <p:nvPr/>
        </p:nvSpPr>
        <p:spPr>
          <a:xfrm>
            <a:off x="731520" y="3200400"/>
            <a:ext cx="640080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AI answer (3 fake references):</a:t>
            </a:r>
          </a:p>
        </p:txBody>
      </p:sp>
      <p:sp>
        <p:nvSpPr>
          <p:cNvPr id="8" name="TextBox 7"/>
          <p:cNvSpPr txBox="1"/>
          <p:nvPr/>
        </p:nvSpPr>
        <p:spPr>
          <a:xfrm>
            <a:off x="868680" y="3611880"/>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Petrov A., Smith J. (2023).</a:t>
            </a:r>
          </a:p>
        </p:txBody>
      </p:sp>
      <p:sp>
        <p:nvSpPr>
          <p:cNvPr id="9" name="TextBox 8"/>
          <p:cNvSpPr txBox="1"/>
          <p:nvPr/>
        </p:nvSpPr>
        <p:spPr>
          <a:xfrm>
            <a:off x="868680" y="3840480"/>
            <a:ext cx="6126480" cy="274320"/>
          </a:xfrm>
          <a:prstGeom prst="rect">
            <a:avLst/>
          </a:prstGeom>
          <a:noFill/>
        </p:spPr>
        <p:txBody>
          <a:bodyPr wrap="square" lIns="0" rIns="0" tIns="0" bIns="0" anchor="t">
            <a:spAutoFit/>
          </a:bodyPr>
          <a:lstStyle/>
          <a:p>
            <a:pPr algn="l">
              <a:lnSpc>
                <a:spcPct val="115000"/>
              </a:lnSpc>
            </a:pPr>
            <a:r>
              <a:rPr sz="1000" b="0" i="1">
                <a:solidFill>
                  <a:srgbClr val="21295C"/>
                </a:solidFill>
                <a:latin typeface="Arial"/>
              </a:rPr>
              <a:t>Seismic Resilience of Small-Diameter Pipelines.</a:t>
            </a:r>
          </a:p>
        </p:txBody>
      </p:sp>
      <p:sp>
        <p:nvSpPr>
          <p:cNvPr id="10" name="TextBox 9"/>
          <p:cNvSpPr txBox="1"/>
          <p:nvPr/>
        </p:nvSpPr>
        <p:spPr>
          <a:xfrm>
            <a:off x="868680" y="4069080"/>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DOI: 10.1016/j.engfailanal.2023.107214 ✗</a:t>
            </a:r>
          </a:p>
        </p:txBody>
      </p:sp>
      <p:sp>
        <p:nvSpPr>
          <p:cNvPr id="11" name="TextBox 10"/>
          <p:cNvSpPr txBox="1"/>
          <p:nvPr/>
        </p:nvSpPr>
        <p:spPr>
          <a:xfrm>
            <a:off x="868680" y="4325112"/>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Ivanov K. et al. (2024).</a:t>
            </a:r>
          </a:p>
        </p:txBody>
      </p:sp>
      <p:sp>
        <p:nvSpPr>
          <p:cNvPr id="12" name="TextBox 11"/>
          <p:cNvSpPr txBox="1"/>
          <p:nvPr/>
        </p:nvSpPr>
        <p:spPr>
          <a:xfrm>
            <a:off x="868680" y="4553712"/>
            <a:ext cx="6126480" cy="274320"/>
          </a:xfrm>
          <a:prstGeom prst="rect">
            <a:avLst/>
          </a:prstGeom>
          <a:noFill/>
        </p:spPr>
        <p:txBody>
          <a:bodyPr wrap="square" lIns="0" rIns="0" tIns="0" bIns="0" anchor="t">
            <a:spAutoFit/>
          </a:bodyPr>
          <a:lstStyle/>
          <a:p>
            <a:pPr algn="l">
              <a:lnSpc>
                <a:spcPct val="115000"/>
              </a:lnSpc>
            </a:pPr>
            <a:r>
              <a:rPr sz="1000" b="0" i="1">
                <a:solidFill>
                  <a:srgbClr val="21295C"/>
                </a:solidFill>
                <a:latin typeface="Arial"/>
              </a:rPr>
              <a:t>Underground Infrastructure Earthquake Response.</a:t>
            </a:r>
          </a:p>
        </p:txBody>
      </p:sp>
      <p:sp>
        <p:nvSpPr>
          <p:cNvPr id="13" name="TextBox 12"/>
          <p:cNvSpPr txBox="1"/>
          <p:nvPr/>
        </p:nvSpPr>
        <p:spPr>
          <a:xfrm>
            <a:off x="868680" y="4782312"/>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DOI: 10.1080/15732479.2024.2218450 ✗</a:t>
            </a:r>
          </a:p>
        </p:txBody>
      </p:sp>
      <p:sp>
        <p:nvSpPr>
          <p:cNvPr id="14" name="TextBox 13"/>
          <p:cNvSpPr txBox="1"/>
          <p:nvPr/>
        </p:nvSpPr>
        <p:spPr>
          <a:xfrm>
            <a:off x="868680" y="5038344"/>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Chen L., Brown R. (2023).</a:t>
            </a:r>
          </a:p>
        </p:txBody>
      </p:sp>
      <p:sp>
        <p:nvSpPr>
          <p:cNvPr id="15" name="TextBox 14"/>
          <p:cNvSpPr txBox="1"/>
          <p:nvPr/>
        </p:nvSpPr>
        <p:spPr>
          <a:xfrm>
            <a:off x="868680" y="5266944"/>
            <a:ext cx="6126480" cy="274320"/>
          </a:xfrm>
          <a:prstGeom prst="rect">
            <a:avLst/>
          </a:prstGeom>
          <a:noFill/>
        </p:spPr>
        <p:txBody>
          <a:bodyPr wrap="square" lIns="0" rIns="0" tIns="0" bIns="0" anchor="t">
            <a:spAutoFit/>
          </a:bodyPr>
          <a:lstStyle/>
          <a:p>
            <a:pPr algn="l">
              <a:lnSpc>
                <a:spcPct val="115000"/>
              </a:lnSpc>
            </a:pPr>
            <a:r>
              <a:rPr sz="1000" b="0" i="1">
                <a:solidFill>
                  <a:srgbClr val="21295C"/>
                </a:solidFill>
                <a:latin typeface="Arial"/>
              </a:rPr>
              <a:t>Microscale Pipe Vibration Analysis.</a:t>
            </a:r>
          </a:p>
        </p:txBody>
      </p:sp>
      <p:sp>
        <p:nvSpPr>
          <p:cNvPr id="16" name="TextBox 15"/>
          <p:cNvSpPr txBox="1"/>
          <p:nvPr/>
        </p:nvSpPr>
        <p:spPr>
          <a:xfrm>
            <a:off x="868680" y="5495544"/>
            <a:ext cx="6126480" cy="27432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DOI: 10.1007/s11069-023-06122-1 ✗</a:t>
            </a:r>
          </a:p>
        </p:txBody>
      </p:sp>
      <p:sp>
        <p:nvSpPr>
          <p:cNvPr id="17" name="Rounded Rectangle 16"/>
          <p:cNvSpPr/>
          <p:nvPr/>
        </p:nvSpPr>
        <p:spPr>
          <a:xfrm>
            <a:off x="7680960" y="1783080"/>
            <a:ext cx="4023360" cy="2926080"/>
          </a:xfrm>
          <a:prstGeom prst="roundRect">
            <a:avLst>
              <a:gd name="adj" fmla="val 10416"/>
            </a:avLst>
          </a:prstGeom>
          <a:solidFill>
            <a:srgbClr val="E6F2F4"/>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1965960"/>
            <a:ext cx="3566160" cy="36576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Vectara HHEM (2025-26) </a:t>
            </a:r>
            <a:r>
              <a:rPr sz="676" baseline="30000" b="0" i="1">
                <a:latin typeface="Arial"/>
                <a:cs typeface="Arial"/>
                <a:ea typeface="Arial"/>
                <a:solidFill>
                  <a:srgbClr val="1C7293"/>
                </a:solidFill>
              </a:rPr>
              <a:t>[3]</a:t>
            </a:r>
          </a:p>
        </p:txBody>
      </p:sp>
      <p:sp>
        <p:nvSpPr>
          <p:cNvPr id="19" name="TextBox 18"/>
          <p:cNvSpPr txBox="1"/>
          <p:nvPr/>
        </p:nvSpPr>
        <p:spPr>
          <a:xfrm>
            <a:off x="7909560" y="2377440"/>
            <a:ext cx="3566160" cy="36576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hallucination rate</a:t>
            </a:r>
          </a:p>
        </p:txBody>
      </p:sp>
      <p:sp>
        <p:nvSpPr>
          <p:cNvPr id="20" name="TextBox 19"/>
          <p:cNvSpPr txBox="1"/>
          <p:nvPr/>
        </p:nvSpPr>
        <p:spPr>
          <a:xfrm>
            <a:off x="7909560" y="2926080"/>
            <a:ext cx="3566160" cy="411480"/>
          </a:xfrm>
          <a:prstGeom prst="rect">
            <a:avLst/>
          </a:prstGeom>
          <a:noFill/>
        </p:spPr>
        <p:txBody>
          <a:bodyPr wrap="square" lIns="0" rIns="0" tIns="0" bIns="0" anchor="t">
            <a:spAutoFit/>
          </a:bodyPr>
          <a:lstStyle/>
          <a:p>
            <a:pPr algn="l">
              <a:lnSpc>
                <a:spcPct val="115000"/>
              </a:lnSpc>
            </a:pPr>
            <a:r>
              <a:rPr sz="2400" b="1" i="0">
                <a:solidFill>
                  <a:srgbClr val="028090"/>
                </a:solidFill>
                <a:latin typeface="Arial"/>
              </a:rPr>
              <a:t>&lt; 1%</a:t>
            </a:r>
          </a:p>
        </p:txBody>
      </p:sp>
      <p:sp>
        <p:nvSpPr>
          <p:cNvPr id="21" name="TextBox 20"/>
          <p:cNvSpPr txBox="1"/>
          <p:nvPr/>
        </p:nvSpPr>
        <p:spPr>
          <a:xfrm>
            <a:off x="7909560" y="3291839"/>
            <a:ext cx="3566160" cy="32004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summarization (Gemini 2.0 Flash)</a:t>
            </a:r>
          </a:p>
        </p:txBody>
      </p:sp>
      <p:sp>
        <p:nvSpPr>
          <p:cNvPr id="22" name="TextBox 21"/>
          <p:cNvSpPr txBox="1"/>
          <p:nvPr/>
        </p:nvSpPr>
        <p:spPr>
          <a:xfrm>
            <a:off x="7909560" y="3794760"/>
            <a:ext cx="3566160" cy="41148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10–15%</a:t>
            </a:r>
          </a:p>
        </p:txBody>
      </p:sp>
      <p:sp>
        <p:nvSpPr>
          <p:cNvPr id="23" name="TextBox 22"/>
          <p:cNvSpPr txBox="1"/>
          <p:nvPr/>
        </p:nvSpPr>
        <p:spPr>
          <a:xfrm>
            <a:off x="7909560" y="4160520"/>
            <a:ext cx="3566160" cy="32004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reasoning (multi-step)</a:t>
            </a:r>
          </a:p>
        </p:txBody>
      </p:sp>
      <p:sp>
        <p:nvSpPr>
          <p:cNvPr id="24" name="Rounded Rectangle 23"/>
          <p:cNvSpPr/>
          <p:nvPr/>
        </p:nvSpPr>
        <p:spPr>
          <a:xfrm>
            <a:off x="7680960" y="4892040"/>
            <a:ext cx="4023360" cy="10058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4965192"/>
            <a:ext cx="3657600" cy="859536"/>
          </a:xfrm>
          <a:prstGeom prst="rect">
            <a:avLst/>
          </a:prstGeom>
          <a:noFill/>
        </p:spPr>
        <p:txBody>
          <a:bodyPr wrap="square" lIns="0" rIns="0" tIns="0" bIns="0" anchor="ctr">
            <a:spAutoFit/>
          </a:bodyPr>
          <a:lstStyle/>
          <a:p>
            <a:pPr algn="l">
              <a:lnSpc>
                <a:spcPct val="125000"/>
              </a:lnSpc>
            </a:pPr>
            <a:r>
              <a:rPr sz="1200" b="1" i="0">
                <a:solidFill>
                  <a:srgbClr val="21295C"/>
                </a:solidFill>
                <a:latin typeface="Arial"/>
              </a:rPr>
              <a:t>Anti-pattern: «AI knows everything». Any AI answer to a factual question is a hypothesis to verify. </a:t>
            </a:r>
            <a:r>
              <a:rPr sz="624" baseline="30000" b="0" i="1">
                <a:latin typeface="Arial"/>
                <a:cs typeface="Arial"/>
                <a:ea typeface="Arial"/>
                <a:solidFill>
                  <a:srgbClr val="1C7293"/>
                </a:solidFill>
              </a:rPr>
              <a:t>[4]</a:t>
            </a:r>
          </a:p>
        </p:txBody>
      </p:sp>
      <p:sp>
        <p:nvSpPr>
          <p:cNvPr id="26" name="TextBox 25"/>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Huang et al. — Survey on Hallucination in LLMs (2023)</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Ji et al. — Survey of Hallucination in NLG (2023)</a:t>
            </a:r>
            <a:r>
              <a:rPr sz="850" i="1">
                <a:solidFill>
                  <a:srgbClr val="1C7293"/>
                </a:solidFill>
                <a:latin typeface="Arial"/>
              </a:rPr>
              <a:t>   ·   </a:t>
            </a:r>
            <a:r>
              <a:rPr sz="850" b="1" i="1">
                <a:solidFill>
                  <a:srgbClr val="065A82"/>
                </a:solidFill>
                <a:latin typeface="Arial"/>
              </a:rPr>
              <a:t>[3] </a:t>
            </a:r>
            <a:r>
              <a:rPr sz="850" i="1">
                <a:solidFill>
                  <a:srgbClr val="1C7293"/>
                </a:solidFill>
                <a:latin typeface="Arial"/>
                <a:hlinkClick r:id="rId4"/>
              </a:rPr>
              <a:t>Vectara — HHEM Leaderboard</a:t>
            </a:r>
            <a:r>
              <a:rPr sz="850" i="1">
                <a:solidFill>
                  <a:srgbClr val="1C7293"/>
                </a:solidFill>
                <a:latin typeface="Arial"/>
              </a:rPr>
              <a:t>   ·   </a:t>
            </a:r>
            <a:r>
              <a:rPr sz="850" b="1" i="1">
                <a:solidFill>
                  <a:srgbClr val="065A82"/>
                </a:solidFill>
                <a:latin typeface="Arial"/>
              </a:rPr>
              <a:t>[4] </a:t>
            </a:r>
            <a:r>
              <a:rPr sz="850" i="1">
                <a:solidFill>
                  <a:srgbClr val="1C7293"/>
                </a:solidFill>
                <a:latin typeface="Arial"/>
                <a:hlinkClick r:id="rId5"/>
              </a:rPr>
              <a:t>CybSafe / NCA — Oh Behave! (2024–25)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400" b="1" i="0">
                <a:solidFill>
                  <a:srgbClr val="21295C"/>
                </a:solidFill>
                <a:latin typeface="Arial"/>
              </a:rPr>
              <a:t>Bias, sycophancy, distribution shift — three manifestations of one nature.</a:t>
            </a:r>
          </a:p>
        </p:txBody>
      </p:sp>
      <p:sp>
        <p:nvSpPr>
          <p:cNvPr id="3" name="Rounded Rectangle 2"/>
          <p:cNvSpPr/>
          <p:nvPr/>
        </p:nvSpPr>
        <p:spPr>
          <a:xfrm>
            <a:off x="449427" y="1691640"/>
            <a:ext cx="3703320" cy="3108960"/>
          </a:xfrm>
          <a:prstGeom prst="roundRect">
            <a:avLst>
              <a:gd name="adj" fmla="val 98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ucide-scale-blue.png"/>
          <p:cNvPicPr>
            <a:picLocks noChangeAspect="1"/>
          </p:cNvPicPr>
          <p:nvPr/>
        </p:nvPicPr>
        <p:blipFill>
          <a:blip r:embed="rId2"/>
          <a:stretch>
            <a:fillRect/>
          </a:stretch>
        </p:blipFill>
        <p:spPr>
          <a:xfrm>
            <a:off x="723747" y="1965960"/>
            <a:ext cx="594360" cy="594360"/>
          </a:xfrm>
          <a:prstGeom prst="rect">
            <a:avLst/>
          </a:prstGeom>
        </p:spPr>
      </p:pic>
      <p:sp>
        <p:nvSpPr>
          <p:cNvPr id="5" name="TextBox 4"/>
          <p:cNvSpPr txBox="1"/>
          <p:nvPr/>
        </p:nvSpPr>
        <p:spPr>
          <a:xfrm>
            <a:off x="1455267" y="1965960"/>
            <a:ext cx="2514600" cy="548640"/>
          </a:xfrm>
          <a:prstGeom prst="rect">
            <a:avLst/>
          </a:prstGeom>
          <a:noFill/>
        </p:spPr>
        <p:txBody>
          <a:bodyPr wrap="square" lIns="0" rIns="0" tIns="0" bIns="0" anchor="t">
            <a:spAutoFit/>
          </a:bodyPr>
          <a:lstStyle/>
          <a:p>
            <a:pPr algn="l">
              <a:lnSpc>
                <a:spcPct val="110000"/>
              </a:lnSpc>
            </a:pPr>
            <a:r>
              <a:rPr sz="2000" b="1" i="0">
                <a:solidFill>
                  <a:srgbClr val="1C7293"/>
                </a:solidFill>
                <a:latin typeface="Arial"/>
              </a:rPr>
              <a:t>Bias</a:t>
            </a:r>
          </a:p>
        </p:txBody>
      </p:sp>
      <p:sp>
        <p:nvSpPr>
          <p:cNvPr id="6" name="TextBox 5"/>
          <p:cNvSpPr txBox="1"/>
          <p:nvPr/>
        </p:nvSpPr>
        <p:spPr>
          <a:xfrm>
            <a:off x="723747" y="2788920"/>
            <a:ext cx="3154679" cy="640080"/>
          </a:xfrm>
          <a:prstGeom prst="rect">
            <a:avLst/>
          </a:prstGeom>
          <a:noFill/>
        </p:spPr>
        <p:txBody>
          <a:bodyPr wrap="square" lIns="0" rIns="0" tIns="0" bIns="0" anchor="t">
            <a:spAutoFit/>
          </a:bodyPr>
          <a:lstStyle/>
          <a:p>
            <a:pPr algn="l">
              <a:lnSpc>
                <a:spcPct val="130000"/>
              </a:lnSpc>
            </a:pPr>
            <a:r>
              <a:rPr sz="1300" b="1" i="0">
                <a:solidFill>
                  <a:srgbClr val="21295C"/>
                </a:solidFill>
                <a:latin typeface="Arial"/>
              </a:rPr>
              <a:t>The model repeats the dataset's skews.</a:t>
            </a:r>
          </a:p>
        </p:txBody>
      </p:sp>
      <p:sp>
        <p:nvSpPr>
          <p:cNvPr id="7" name="TextBox 6"/>
          <p:cNvSpPr txBox="1"/>
          <p:nvPr/>
        </p:nvSpPr>
        <p:spPr>
          <a:xfrm>
            <a:off x="723747" y="3520440"/>
            <a:ext cx="3154679" cy="1097280"/>
          </a:xfrm>
          <a:prstGeom prst="rect">
            <a:avLst/>
          </a:prstGeom>
          <a:noFill/>
        </p:spPr>
        <p:txBody>
          <a:bodyPr wrap="square" lIns="0" rIns="0" tIns="0" bIns="0" anchor="t">
            <a:spAutoFit/>
          </a:bodyPr>
          <a:lstStyle/>
          <a:p>
            <a:pPr algn="l">
              <a:lnSpc>
                <a:spcPct val="140000"/>
              </a:lnSpc>
            </a:pPr>
            <a:r>
              <a:rPr sz="1100" b="0" i="1">
                <a:solidFill>
                  <a:srgbClr val="6B7685"/>
                </a:solidFill>
                <a:latin typeface="Arial"/>
              </a:rPr>
              <a:t>A résumé screener trained on historical data discriminates — not by «deciding», but statistically.</a:t>
            </a:r>
          </a:p>
        </p:txBody>
      </p:sp>
      <p:sp>
        <p:nvSpPr>
          <p:cNvPr id="8" name="Rounded Rectangle 7"/>
          <p:cNvSpPr/>
          <p:nvPr/>
        </p:nvSpPr>
        <p:spPr>
          <a:xfrm>
            <a:off x="4244187" y="1691640"/>
            <a:ext cx="3703320" cy="3108960"/>
          </a:xfrm>
          <a:prstGeom prst="roundRect">
            <a:avLst>
              <a:gd name="adj" fmla="val 9803"/>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ucide-smartphone-blue.png"/>
          <p:cNvPicPr>
            <a:picLocks noChangeAspect="1"/>
          </p:cNvPicPr>
          <p:nvPr/>
        </p:nvPicPr>
        <p:blipFill>
          <a:blip r:embed="rId3"/>
          <a:stretch>
            <a:fillRect/>
          </a:stretch>
        </p:blipFill>
        <p:spPr>
          <a:xfrm>
            <a:off x="4518507" y="1965960"/>
            <a:ext cx="594360" cy="594360"/>
          </a:xfrm>
          <a:prstGeom prst="rect">
            <a:avLst/>
          </a:prstGeom>
        </p:spPr>
      </p:pic>
      <p:sp>
        <p:nvSpPr>
          <p:cNvPr id="10" name="TextBox 9"/>
          <p:cNvSpPr txBox="1"/>
          <p:nvPr/>
        </p:nvSpPr>
        <p:spPr>
          <a:xfrm>
            <a:off x="5250027" y="1965960"/>
            <a:ext cx="2514600" cy="548640"/>
          </a:xfrm>
          <a:prstGeom prst="rect">
            <a:avLst/>
          </a:prstGeom>
          <a:noFill/>
        </p:spPr>
        <p:txBody>
          <a:bodyPr wrap="square" lIns="0" rIns="0" tIns="0" bIns="0" anchor="t">
            <a:spAutoFit/>
          </a:bodyPr>
          <a:lstStyle/>
          <a:p>
            <a:pPr algn="l">
              <a:lnSpc>
                <a:spcPct val="110000"/>
              </a:lnSpc>
            </a:pPr>
            <a:r>
              <a:rPr sz="2000" b="1" i="0">
                <a:solidFill>
                  <a:srgbClr val="065A82"/>
                </a:solidFill>
                <a:latin typeface="Arial"/>
              </a:rPr>
              <a:t>Sycophancy</a:t>
            </a:r>
          </a:p>
        </p:txBody>
      </p:sp>
      <p:sp>
        <p:nvSpPr>
          <p:cNvPr id="11" name="TextBox 10"/>
          <p:cNvSpPr txBox="1"/>
          <p:nvPr/>
        </p:nvSpPr>
        <p:spPr>
          <a:xfrm>
            <a:off x="4518507" y="2788920"/>
            <a:ext cx="3154679" cy="640080"/>
          </a:xfrm>
          <a:prstGeom prst="rect">
            <a:avLst/>
          </a:prstGeom>
          <a:noFill/>
        </p:spPr>
        <p:txBody>
          <a:bodyPr wrap="square" lIns="0" rIns="0" tIns="0" bIns="0" anchor="t">
            <a:spAutoFit/>
          </a:bodyPr>
          <a:lstStyle/>
          <a:p>
            <a:pPr algn="l">
              <a:lnSpc>
                <a:spcPct val="130000"/>
              </a:lnSpc>
            </a:pPr>
            <a:r>
              <a:rPr sz="1300" b="1" i="0">
                <a:solidFill>
                  <a:srgbClr val="21295C"/>
                </a:solidFill>
                <a:latin typeface="Arial"/>
              </a:rPr>
              <a:t>The model learns from feedback labeling to agree.</a:t>
            </a:r>
          </a:p>
        </p:txBody>
      </p:sp>
      <p:sp>
        <p:nvSpPr>
          <p:cNvPr id="12" name="TextBox 11"/>
          <p:cNvSpPr txBox="1"/>
          <p:nvPr/>
        </p:nvSpPr>
        <p:spPr>
          <a:xfrm>
            <a:off x="4518507" y="3520440"/>
            <a:ext cx="3154679" cy="1097280"/>
          </a:xfrm>
          <a:prstGeom prst="rect">
            <a:avLst/>
          </a:prstGeom>
          <a:noFill/>
        </p:spPr>
        <p:txBody>
          <a:bodyPr wrap="square" lIns="0" rIns="0" tIns="0" bIns="0" anchor="t">
            <a:spAutoFit/>
          </a:bodyPr>
          <a:lstStyle/>
          <a:p>
            <a:pPr algn="l">
              <a:lnSpc>
                <a:spcPct val="140000"/>
              </a:lnSpc>
            </a:pPr>
            <a:r>
              <a:rPr sz="1100" b="0" i="1">
                <a:solidFill>
                  <a:srgbClr val="6B7685"/>
                </a:solidFill>
                <a:latin typeface="Arial"/>
              </a:rPr>
              <a:t>It agrees with the clearly wrong, over-praises — the user stops noticing the loss of critical judgment.</a:t>
            </a:r>
          </a:p>
        </p:txBody>
      </p:sp>
      <p:sp>
        <p:nvSpPr>
          <p:cNvPr id="13" name="Rounded Rectangle 12"/>
          <p:cNvSpPr/>
          <p:nvPr/>
        </p:nvSpPr>
        <p:spPr>
          <a:xfrm>
            <a:off x="8038947" y="1691640"/>
            <a:ext cx="3703320" cy="3108960"/>
          </a:xfrm>
          <a:prstGeom prst="roundRect">
            <a:avLst>
              <a:gd name="adj" fmla="val 9803"/>
            </a:avLst>
          </a:prstGeom>
          <a:solidFill>
            <a:srgbClr val="F4F7FA"/>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cide-trending-up-blue.png"/>
          <p:cNvPicPr>
            <a:picLocks noChangeAspect="1"/>
          </p:cNvPicPr>
          <p:nvPr/>
        </p:nvPicPr>
        <p:blipFill>
          <a:blip r:embed="rId4"/>
          <a:stretch>
            <a:fillRect/>
          </a:stretch>
        </p:blipFill>
        <p:spPr>
          <a:xfrm>
            <a:off x="8313267" y="1965960"/>
            <a:ext cx="594360" cy="594360"/>
          </a:xfrm>
          <a:prstGeom prst="rect">
            <a:avLst/>
          </a:prstGeom>
        </p:spPr>
      </p:pic>
      <p:sp>
        <p:nvSpPr>
          <p:cNvPr id="15" name="TextBox 14"/>
          <p:cNvSpPr txBox="1"/>
          <p:nvPr/>
        </p:nvSpPr>
        <p:spPr>
          <a:xfrm>
            <a:off x="9044787" y="1965960"/>
            <a:ext cx="2514600" cy="548640"/>
          </a:xfrm>
          <a:prstGeom prst="rect">
            <a:avLst/>
          </a:prstGeom>
          <a:noFill/>
        </p:spPr>
        <p:txBody>
          <a:bodyPr wrap="square" lIns="0" rIns="0" tIns="0" bIns="0" anchor="t">
            <a:spAutoFit/>
          </a:bodyPr>
          <a:lstStyle/>
          <a:p>
            <a:pPr algn="l">
              <a:lnSpc>
                <a:spcPct val="110000"/>
              </a:lnSpc>
            </a:pPr>
            <a:r>
              <a:rPr sz="2000" b="1" i="0">
                <a:solidFill>
                  <a:srgbClr val="21295C"/>
                </a:solidFill>
                <a:latin typeface="Arial"/>
              </a:rPr>
              <a:t>Distribution shift</a:t>
            </a:r>
          </a:p>
        </p:txBody>
      </p:sp>
      <p:sp>
        <p:nvSpPr>
          <p:cNvPr id="16" name="TextBox 15"/>
          <p:cNvSpPr txBox="1"/>
          <p:nvPr/>
        </p:nvSpPr>
        <p:spPr>
          <a:xfrm>
            <a:off x="8313267" y="2788920"/>
            <a:ext cx="3154679" cy="640080"/>
          </a:xfrm>
          <a:prstGeom prst="rect">
            <a:avLst/>
          </a:prstGeom>
          <a:noFill/>
        </p:spPr>
        <p:txBody>
          <a:bodyPr wrap="square" lIns="0" rIns="0" tIns="0" bIns="0" anchor="t">
            <a:spAutoFit/>
          </a:bodyPr>
          <a:lstStyle/>
          <a:p>
            <a:pPr algn="l">
              <a:lnSpc>
                <a:spcPct val="130000"/>
              </a:lnSpc>
            </a:pPr>
            <a:r>
              <a:rPr sz="1300" b="1" i="0">
                <a:solidFill>
                  <a:srgbClr val="21295C"/>
                </a:solidFill>
                <a:latin typeface="Arial"/>
              </a:rPr>
              <a:t>Data from a period goes stale.</a:t>
            </a:r>
          </a:p>
        </p:txBody>
      </p:sp>
      <p:sp>
        <p:nvSpPr>
          <p:cNvPr id="17" name="TextBox 16"/>
          <p:cNvSpPr txBox="1"/>
          <p:nvPr/>
        </p:nvSpPr>
        <p:spPr>
          <a:xfrm>
            <a:off x="8313267" y="3520440"/>
            <a:ext cx="3154679" cy="1097280"/>
          </a:xfrm>
          <a:prstGeom prst="rect">
            <a:avLst/>
          </a:prstGeom>
          <a:noFill/>
        </p:spPr>
        <p:txBody>
          <a:bodyPr wrap="square" lIns="0" rIns="0" tIns="0" bIns="0" anchor="t">
            <a:spAutoFit/>
          </a:bodyPr>
          <a:lstStyle/>
          <a:p>
            <a:pPr algn="l">
              <a:lnSpc>
                <a:spcPct val="140000"/>
              </a:lnSpc>
            </a:pPr>
            <a:r>
              <a:rPr sz="1100" b="0" i="1">
                <a:solidFill>
                  <a:srgbClr val="6B7685"/>
                </a:solidFill>
                <a:latin typeface="Arial"/>
              </a:rPr>
              <a:t>A model trained on 2023 code will, in 2026, suggest an outdated library with no visible failure.</a:t>
            </a:r>
          </a:p>
        </p:txBody>
      </p:sp>
      <p:sp>
        <p:nvSpPr>
          <p:cNvPr id="18" name="Rounded Rectangle 17"/>
          <p:cNvSpPr/>
          <p:nvPr/>
        </p:nvSpPr>
        <p:spPr>
          <a:xfrm>
            <a:off x="502920" y="5029200"/>
            <a:ext cx="11201400" cy="914400"/>
          </a:xfrm>
          <a:prstGeom prst="roundRect">
            <a:avLst>
              <a:gd name="adj" fmla="val 25000"/>
            </a:avLst>
          </a:prstGeom>
          <a:solidFill>
            <a:srgbClr val="FFFFFF"/>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120640"/>
            <a:ext cx="10835640"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Arial"/>
              </a:rPr>
              <a:t>GPT-4o: sycophancy — April 2025 </a:t>
            </a:r>
            <a:r>
              <a:rPr sz="676" baseline="30000" b="0" i="1">
                <a:latin typeface="Arial"/>
                <a:cs typeface="Arial"/>
                <a:ea typeface="Arial"/>
                <a:solidFill>
                  <a:srgbClr val="1C7293"/>
                </a:solidFill>
              </a:rPr>
              <a:t>[1]</a:t>
            </a:r>
          </a:p>
        </p:txBody>
      </p:sp>
      <p:sp>
        <p:nvSpPr>
          <p:cNvPr id="20" name="TextBox 19"/>
          <p:cNvSpPr txBox="1"/>
          <p:nvPr/>
        </p:nvSpPr>
        <p:spPr>
          <a:xfrm>
            <a:off x="685800" y="5486400"/>
            <a:ext cx="10835640" cy="36576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Apr 25</a:t>
            </a:r>
            <a:r>
              <a:rPr sz="1200" b="0" i="0">
                <a:solidFill>
                  <a:srgbClr val="21295C"/>
                </a:solidFill>
                <a:latin typeface="Arial"/>
              </a:rPr>
              <a:t> — update released   →   </a:t>
            </a:r>
            <a:r>
              <a:rPr sz="1400" b="1" i="0">
                <a:solidFill>
                  <a:srgbClr val="065A82"/>
                </a:solidFill>
                <a:latin typeface="Arial"/>
              </a:rPr>
              <a:t>Apr 28</a:t>
            </a:r>
            <a:r>
              <a:rPr sz="1200" b="0" i="0">
                <a:solidFill>
                  <a:srgbClr val="21295C"/>
                </a:solidFill>
                <a:latin typeface="Arial"/>
              </a:rPr>
              <a:t> — rollback begins (Altman posts on social media that evening)   →   </a:t>
            </a:r>
            <a:r>
              <a:rPr sz="1400" b="1" i="0">
                <a:solidFill>
                  <a:srgbClr val="065A82"/>
                </a:solidFill>
                <a:latin typeface="Arial"/>
              </a:rPr>
              <a:t>Apr 29</a:t>
            </a:r>
            <a:r>
              <a:rPr sz="1200" b="0" i="0">
                <a:solidFill>
                  <a:srgbClr val="21295C"/>
                </a:solidFill>
                <a:latin typeface="Arial"/>
              </a:rPr>
              <a:t> — root-cause postmortem</a:t>
            </a:r>
          </a:p>
        </p:txBody>
      </p:sp>
      <p:sp>
        <p:nvSpPr>
          <p:cNvPr id="21" name="TextBox 20"/>
          <p:cNvSpPr txBox="1"/>
          <p:nvPr/>
        </p:nvSpPr>
        <p:spPr>
          <a:xfrm>
            <a:off x="502920" y="6007608"/>
            <a:ext cx="11201400" cy="365760"/>
          </a:xfrm>
          <a:prstGeom prst="rect">
            <a:avLst/>
          </a:prstGeom>
          <a:noFill/>
        </p:spPr>
        <p:txBody>
          <a:bodyPr wrap="square" lIns="0" rIns="0" tIns="0" bIns="0" anchor="t">
            <a:spAutoFit/>
          </a:bodyPr>
          <a:lstStyle/>
          <a:p>
            <a:pPr algn="ctr">
              <a:lnSpc>
                <a:spcPct val="115000"/>
              </a:lnSpc>
            </a:pPr>
            <a:r>
              <a:rPr sz="1300" b="1" i="1">
                <a:solidFill>
                  <a:srgbClr val="21295C"/>
                </a:solidFill>
                <a:latin typeface="Arial"/>
              </a:rPr>
              <a:t>The shared cause: the model reflects the data it was trained on. </a:t>
            </a:r>
            <a:r>
              <a:rPr sz="676" baseline="30000" b="0" i="1">
                <a:latin typeface="Arial"/>
                <a:cs typeface="Arial"/>
                <a:ea typeface="Arial"/>
                <a:solidFill>
                  <a:srgbClr val="1C7293"/>
                </a:solidFill>
              </a:rPr>
              <a:t>[2]</a:t>
            </a:r>
          </a:p>
        </p:txBody>
      </p:sp>
      <p:sp>
        <p:nvSpPr>
          <p:cNvPr id="22" name="TextBox 21"/>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5"/>
              </a:rPr>
              <a:t>OpenAI — Sycophancy in GPT-4o postmortem (2025)</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6"/>
              </a:rPr>
              <a:t>Pan et al. — Reward Misspecification (2022)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600" b="1" i="0">
                <a:solidFill>
                  <a:srgbClr val="21295C"/>
                </a:solidFill>
                <a:latin typeface="Arial"/>
              </a:rPr>
              <a:t>AGI forecasts — 4 speakers, 4 different incentives. </a:t>
            </a:r>
            <a:r>
              <a:rPr sz="1352" baseline="30000" b="0" i="1">
                <a:latin typeface="Arial"/>
                <a:cs typeface="Arial"/>
                <a:ea typeface="Arial"/>
                <a:solidFill>
                  <a:srgbClr val="1C7293"/>
                </a:solidFill>
              </a:rPr>
              <a:t>[1]</a:t>
            </a:r>
            <a:r>
              <a:rPr sz="2600" b="1" i="0">
                <a:latin typeface="Arial"/>
                <a:cs typeface="Arial"/>
                <a:ea typeface="Arial"/>
                <a:solidFill>
                  <a:srgbClr val="21295C"/>
                </a:solidFill>
              </a:rPr>
              <a:t> </a:t>
            </a:r>
            <a:r>
              <a:rPr sz="1352" baseline="30000" b="0" i="1">
                <a:latin typeface="Arial"/>
                <a:cs typeface="Arial"/>
                <a:ea typeface="Arial"/>
                <a:solidFill>
                  <a:srgbClr val="1C7293"/>
                </a:solidFill>
              </a:rPr>
              <a:t>[2]</a:t>
            </a:r>
          </a:p>
        </p:txBody>
      </p:sp>
      <p:sp>
        <p:nvSpPr>
          <p:cNvPr id="3" name="Rectangle 2"/>
          <p:cNvSpPr/>
          <p:nvPr/>
        </p:nvSpPr>
        <p:spPr>
          <a:xfrm>
            <a:off x="502920" y="1783080"/>
            <a:ext cx="11201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1920240" cy="2743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Speaker</a:t>
            </a:r>
          </a:p>
        </p:txBody>
      </p:sp>
      <p:sp>
        <p:nvSpPr>
          <p:cNvPr id="5" name="TextBox 4"/>
          <p:cNvSpPr txBox="1"/>
          <p:nvPr/>
        </p:nvSpPr>
        <p:spPr>
          <a:xfrm>
            <a:off x="2834640" y="1874519"/>
            <a:ext cx="1554480" cy="2743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Affiliation</a:t>
            </a:r>
          </a:p>
        </p:txBody>
      </p:sp>
      <p:sp>
        <p:nvSpPr>
          <p:cNvPr id="6" name="TextBox 5"/>
          <p:cNvSpPr txBox="1"/>
          <p:nvPr/>
        </p:nvSpPr>
        <p:spPr>
          <a:xfrm>
            <a:off x="4663440" y="1874519"/>
            <a:ext cx="3383280" cy="2743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AGI forecast</a:t>
            </a:r>
          </a:p>
        </p:txBody>
      </p:sp>
      <p:sp>
        <p:nvSpPr>
          <p:cNvPr id="7" name="TextBox 6"/>
          <p:cNvSpPr txBox="1"/>
          <p:nvPr/>
        </p:nvSpPr>
        <p:spPr>
          <a:xfrm>
            <a:off x="8321040" y="1874519"/>
            <a:ext cx="3246120" cy="274320"/>
          </a:xfrm>
          <a:prstGeom prst="rect">
            <a:avLst/>
          </a:prstGeom>
          <a:noFill/>
        </p:spPr>
        <p:txBody>
          <a:bodyPr wrap="square" lIns="0" rIns="0" tIns="0" bIns="0" anchor="ctr">
            <a:spAutoFit/>
          </a:bodyPr>
          <a:lstStyle/>
          <a:p>
            <a:pPr algn="l">
              <a:lnSpc>
                <a:spcPct val="115000"/>
              </a:lnSpc>
            </a:pPr>
            <a:r>
              <a:rPr sz="1200" b="1" i="0">
                <a:solidFill>
                  <a:srgbClr val="FFFFFF"/>
                </a:solidFill>
                <a:latin typeface="Arial"/>
              </a:rPr>
              <a:t>Material interest</a:t>
            </a:r>
          </a:p>
        </p:txBody>
      </p:sp>
      <p:sp>
        <p:nvSpPr>
          <p:cNvPr id="8" name="Rectangle 7"/>
          <p:cNvSpPr/>
          <p:nvPr/>
        </p:nvSpPr>
        <p:spPr>
          <a:xfrm>
            <a:off x="502920" y="2240280"/>
            <a:ext cx="11201400" cy="91440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77440"/>
            <a:ext cx="1920240" cy="640080"/>
          </a:xfrm>
          <a:prstGeom prst="rect">
            <a:avLst/>
          </a:prstGeom>
          <a:noFill/>
        </p:spPr>
        <p:txBody>
          <a:bodyPr wrap="square" lIns="0" rIns="0" tIns="0" bIns="0" anchor="ctr">
            <a:spAutoFit/>
          </a:bodyPr>
          <a:lstStyle/>
          <a:p>
            <a:pPr algn="l">
              <a:lnSpc>
                <a:spcPct val="130000"/>
              </a:lnSpc>
            </a:pPr>
            <a:r>
              <a:rPr sz="1150" b="1" i="0">
                <a:solidFill>
                  <a:srgbClr val="21295C"/>
                </a:solidFill>
                <a:latin typeface="Arial"/>
              </a:rPr>
              <a:t>Sam Altman</a:t>
            </a:r>
          </a:p>
        </p:txBody>
      </p:sp>
      <p:sp>
        <p:nvSpPr>
          <p:cNvPr id="10" name="TextBox 9"/>
          <p:cNvSpPr txBox="1"/>
          <p:nvPr/>
        </p:nvSpPr>
        <p:spPr>
          <a:xfrm>
            <a:off x="2834640" y="2377440"/>
            <a:ext cx="15544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OpenAI</a:t>
            </a:r>
          </a:p>
        </p:txBody>
      </p:sp>
      <p:sp>
        <p:nvSpPr>
          <p:cNvPr id="11" name="TextBox 10"/>
          <p:cNvSpPr txBox="1"/>
          <p:nvPr/>
        </p:nvSpPr>
        <p:spPr>
          <a:xfrm>
            <a:off x="4663440" y="2377440"/>
            <a:ext cx="33832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«We know how to build AGI; the start of superintelligence» (Jan 2026)</a:t>
            </a:r>
          </a:p>
        </p:txBody>
      </p:sp>
      <p:sp>
        <p:nvSpPr>
          <p:cNvPr id="12" name="TextBox 11"/>
          <p:cNvSpPr txBox="1"/>
          <p:nvPr/>
        </p:nvSpPr>
        <p:spPr>
          <a:xfrm>
            <a:off x="8321040" y="2377440"/>
            <a:ext cx="324612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$100B+ rounds; IPO context</a:t>
            </a:r>
          </a:p>
        </p:txBody>
      </p:sp>
      <p:sp>
        <p:nvSpPr>
          <p:cNvPr id="13" name="Rectangle 12"/>
          <p:cNvSpPr/>
          <p:nvPr/>
        </p:nvSpPr>
        <p:spPr>
          <a:xfrm>
            <a:off x="502920" y="3154680"/>
            <a:ext cx="11201400" cy="91440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91840"/>
            <a:ext cx="1920240" cy="640080"/>
          </a:xfrm>
          <a:prstGeom prst="rect">
            <a:avLst/>
          </a:prstGeom>
          <a:noFill/>
        </p:spPr>
        <p:txBody>
          <a:bodyPr wrap="square" lIns="0" rIns="0" tIns="0" bIns="0" anchor="ctr">
            <a:spAutoFit/>
          </a:bodyPr>
          <a:lstStyle/>
          <a:p>
            <a:pPr algn="l">
              <a:lnSpc>
                <a:spcPct val="130000"/>
              </a:lnSpc>
            </a:pPr>
            <a:r>
              <a:rPr sz="1150" b="1" i="0">
                <a:solidFill>
                  <a:srgbClr val="21295C"/>
                </a:solidFill>
                <a:latin typeface="Arial"/>
              </a:rPr>
              <a:t>Dario Amodei</a:t>
            </a:r>
          </a:p>
        </p:txBody>
      </p:sp>
      <p:sp>
        <p:nvSpPr>
          <p:cNvPr id="15" name="TextBox 14"/>
          <p:cNvSpPr txBox="1"/>
          <p:nvPr/>
        </p:nvSpPr>
        <p:spPr>
          <a:xfrm>
            <a:off x="2834640" y="3291840"/>
            <a:ext cx="15544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Anthropic</a:t>
            </a:r>
          </a:p>
        </p:txBody>
      </p:sp>
      <p:sp>
        <p:nvSpPr>
          <p:cNvPr id="16" name="TextBox 15"/>
          <p:cNvSpPr txBox="1"/>
          <p:nvPr/>
        </p:nvSpPr>
        <p:spPr>
          <a:xfrm>
            <a:off x="4663440" y="3291840"/>
            <a:ext cx="33832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«AGI in 2–3 years; Nobel level within 2 years» (Davos 2026)</a:t>
            </a:r>
          </a:p>
        </p:txBody>
      </p:sp>
      <p:sp>
        <p:nvSpPr>
          <p:cNvPr id="17" name="TextBox 16"/>
          <p:cNvSpPr txBox="1"/>
          <p:nvPr/>
        </p:nvSpPr>
        <p:spPr>
          <a:xfrm>
            <a:off x="8321040" y="3291840"/>
            <a:ext cx="324612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Competition with OpenAI; 2026 round</a:t>
            </a:r>
          </a:p>
        </p:txBody>
      </p:sp>
      <p:sp>
        <p:nvSpPr>
          <p:cNvPr id="18" name="Rectangle 17"/>
          <p:cNvSpPr/>
          <p:nvPr/>
        </p:nvSpPr>
        <p:spPr>
          <a:xfrm>
            <a:off x="502920" y="4069080"/>
            <a:ext cx="11201400" cy="914400"/>
          </a:xfrm>
          <a:prstGeom prst="rect">
            <a:avLst/>
          </a:prstGeom>
          <a:solidFill>
            <a:srgbClr val="F4F7FA"/>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06240"/>
            <a:ext cx="1920240" cy="640080"/>
          </a:xfrm>
          <a:prstGeom prst="rect">
            <a:avLst/>
          </a:prstGeom>
          <a:noFill/>
        </p:spPr>
        <p:txBody>
          <a:bodyPr wrap="square" lIns="0" rIns="0" tIns="0" bIns="0" anchor="ctr">
            <a:spAutoFit/>
          </a:bodyPr>
          <a:lstStyle/>
          <a:p>
            <a:pPr algn="l">
              <a:lnSpc>
                <a:spcPct val="130000"/>
              </a:lnSpc>
            </a:pPr>
            <a:r>
              <a:rPr sz="1150" b="1" i="0">
                <a:solidFill>
                  <a:srgbClr val="21295C"/>
                </a:solidFill>
                <a:latin typeface="Arial"/>
              </a:rPr>
              <a:t>Demis Hassabis</a:t>
            </a:r>
          </a:p>
        </p:txBody>
      </p:sp>
      <p:sp>
        <p:nvSpPr>
          <p:cNvPr id="20" name="TextBox 19"/>
          <p:cNvSpPr txBox="1"/>
          <p:nvPr/>
        </p:nvSpPr>
        <p:spPr>
          <a:xfrm>
            <a:off x="2834640" y="4206240"/>
            <a:ext cx="15544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Google
DeepMind</a:t>
            </a:r>
          </a:p>
        </p:txBody>
      </p:sp>
      <p:sp>
        <p:nvSpPr>
          <p:cNvPr id="21" name="TextBox 20"/>
          <p:cNvSpPr txBox="1"/>
          <p:nvPr/>
        </p:nvSpPr>
        <p:spPr>
          <a:xfrm>
            <a:off x="4663440" y="4206240"/>
            <a:ext cx="33832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«AGI by 2029–2030 (3–4 years); the window narrowed over 2026» (Axios/Google I/O, May 2026)</a:t>
            </a:r>
          </a:p>
        </p:txBody>
      </p:sp>
      <p:sp>
        <p:nvSpPr>
          <p:cNvPr id="22" name="TextBox 21"/>
          <p:cNvSpPr txBox="1"/>
          <p:nvPr/>
        </p:nvSpPr>
        <p:spPr>
          <a:xfrm>
            <a:off x="8321040" y="4206240"/>
            <a:ext cx="324612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Community leader; more credibility from a cautious stance</a:t>
            </a:r>
          </a:p>
        </p:txBody>
      </p:sp>
      <p:sp>
        <p:nvSpPr>
          <p:cNvPr id="23" name="Rectangle 22"/>
          <p:cNvSpPr/>
          <p:nvPr/>
        </p:nvSpPr>
        <p:spPr>
          <a:xfrm>
            <a:off x="502920" y="4983480"/>
            <a:ext cx="11201400" cy="914400"/>
          </a:xfrm>
          <a:prstGeom prst="rect">
            <a:avLst/>
          </a:prstGeom>
          <a:solidFill>
            <a:srgbClr val="FFFFFF"/>
          </a:solidFill>
          <a:ln w="635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20640"/>
            <a:ext cx="1920240" cy="640080"/>
          </a:xfrm>
          <a:prstGeom prst="rect">
            <a:avLst/>
          </a:prstGeom>
          <a:noFill/>
        </p:spPr>
        <p:txBody>
          <a:bodyPr wrap="square" lIns="0" rIns="0" tIns="0" bIns="0" anchor="ctr">
            <a:spAutoFit/>
          </a:bodyPr>
          <a:lstStyle/>
          <a:p>
            <a:pPr algn="l">
              <a:lnSpc>
                <a:spcPct val="130000"/>
              </a:lnSpc>
            </a:pPr>
            <a:r>
              <a:rPr sz="1150" b="1" i="0">
                <a:solidFill>
                  <a:srgbClr val="21295C"/>
                </a:solidFill>
                <a:latin typeface="Arial"/>
              </a:rPr>
              <a:t>Yann LeCun</a:t>
            </a:r>
          </a:p>
        </p:txBody>
      </p:sp>
      <p:sp>
        <p:nvSpPr>
          <p:cNvPr id="25" name="TextBox 24"/>
          <p:cNvSpPr txBox="1"/>
          <p:nvPr/>
        </p:nvSpPr>
        <p:spPr>
          <a:xfrm>
            <a:off x="2834640" y="5120640"/>
            <a:ext cx="15544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AMI Labs
(ex-Meta)</a:t>
            </a:r>
          </a:p>
        </p:txBody>
      </p:sp>
      <p:sp>
        <p:nvSpPr>
          <p:cNvPr id="26" name="TextBox 25"/>
          <p:cNvSpPr txBox="1"/>
          <p:nvPr/>
        </p:nvSpPr>
        <p:spPr>
          <a:xfrm>
            <a:off x="4663440" y="5120640"/>
            <a:ext cx="338328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«LLMs won't lead to AGI; we need world models, JEPA»</a:t>
            </a:r>
          </a:p>
        </p:txBody>
      </p:sp>
      <p:sp>
        <p:nvSpPr>
          <p:cNvPr id="27" name="TextBox 26"/>
          <p:cNvSpPr txBox="1"/>
          <p:nvPr/>
        </p:nvSpPr>
        <p:spPr>
          <a:xfrm>
            <a:off x="8321040" y="5120640"/>
            <a:ext cx="3246120" cy="640080"/>
          </a:xfrm>
          <a:prstGeom prst="rect">
            <a:avLst/>
          </a:prstGeom>
          <a:noFill/>
        </p:spPr>
        <p:txBody>
          <a:bodyPr wrap="square" lIns="0" rIns="0" tIns="0" bIns="0" anchor="ctr">
            <a:spAutoFit/>
          </a:bodyPr>
          <a:lstStyle/>
          <a:p>
            <a:pPr algn="l">
              <a:lnSpc>
                <a:spcPct val="130000"/>
              </a:lnSpc>
            </a:pPr>
            <a:r>
              <a:rPr sz="1050" b="0" i="0">
                <a:solidFill>
                  <a:srgbClr val="6B7685"/>
                </a:solidFill>
                <a:latin typeface="Arial"/>
              </a:rPr>
              <a:t>$1B round (March 2026) for an alternative path</a:t>
            </a:r>
          </a:p>
        </p:txBody>
      </p:sp>
      <p:sp>
        <p:nvSpPr>
          <p:cNvPr id="28" name="TextBox 27"/>
          <p:cNvSpPr txBox="1"/>
          <p:nvPr/>
        </p:nvSpPr>
        <p:spPr>
          <a:xfrm>
            <a:off x="502920" y="6455664"/>
            <a:ext cx="11201400" cy="292608"/>
          </a:xfrm>
          <a:prstGeom prst="rect">
            <a:avLst/>
          </a:prstGeom>
          <a:noFill/>
        </p:spPr>
        <p:txBody>
          <a:bodyPr wrap="square" lIns="0" rIns="0" tIns="0" bIns="0" anchor="t">
            <a:spAutoFit/>
          </a:bodyPr>
          <a:lstStyle/>
          <a:p>
            <a:pPr algn="l">
              <a:lnSpc>
                <a:spcPct val="102000"/>
              </a:lnSpc>
            </a:pPr>
            <a:r>
              <a:rPr sz="850" b="1" i="1">
                <a:solidFill>
                  <a:srgbClr val="065A82"/>
                </a:solidFill>
                <a:latin typeface="Arial"/>
              </a:rPr>
              <a:t>[1] </a:t>
            </a:r>
            <a:r>
              <a:rPr sz="850" i="1">
                <a:solidFill>
                  <a:srgbClr val="1C7293"/>
                </a:solidFill>
                <a:latin typeface="Arial"/>
                <a:hlinkClick r:id="rId2"/>
              </a:rPr>
              <a:t>Searle — Minds, Brains, and Programs (1980)</a:t>
            </a:r>
            <a:r>
              <a:rPr sz="850" i="1">
                <a:solidFill>
                  <a:srgbClr val="1C7293"/>
                </a:solidFill>
                <a:latin typeface="Arial"/>
              </a:rPr>
              <a:t>   ·   </a:t>
            </a:r>
            <a:r>
              <a:rPr sz="850" b="1" i="1">
                <a:solidFill>
                  <a:srgbClr val="065A82"/>
                </a:solidFill>
                <a:latin typeface="Arial"/>
              </a:rPr>
              <a:t>[2] </a:t>
            </a:r>
            <a:r>
              <a:rPr sz="850" i="1">
                <a:solidFill>
                  <a:srgbClr val="1C7293"/>
                </a:solidFill>
                <a:latin typeface="Arial"/>
                <a:hlinkClick r:id="rId3"/>
              </a:rPr>
              <a:t>Bostrom — Superintelligence (2014)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01400" cy="868680"/>
          </a:xfrm>
          <a:prstGeom prst="rect">
            <a:avLst/>
          </a:prstGeom>
          <a:noFill/>
        </p:spPr>
        <p:txBody>
          <a:bodyPr wrap="square" lIns="0" rIns="0" tIns="0" bIns="0" anchor="t">
            <a:spAutoFit/>
          </a:bodyPr>
          <a:lstStyle/>
          <a:p>
            <a:pPr algn="ctr">
              <a:lnSpc>
                <a:spcPct val="115000"/>
              </a:lnSpc>
            </a:pPr>
            <a:r>
              <a:rPr sz="3000" b="1" i="0">
                <a:solidFill>
                  <a:srgbClr val="21295C"/>
                </a:solidFill>
                <a:latin typeface="Arial"/>
              </a:rPr>
              <a:t>Section 5 · What to take home</a:t>
            </a:r>
          </a:p>
        </p:txBody>
      </p:sp>
      <p:sp>
        <p:nvSpPr>
          <p:cNvPr id="3" name="TextBox 2"/>
          <p:cNvSpPr txBox="1"/>
          <p:nvPr/>
        </p:nvSpPr>
        <p:spPr>
          <a:xfrm>
            <a:off x="502920" y="1325880"/>
            <a:ext cx="11201400" cy="502920"/>
          </a:xfrm>
          <a:prstGeom prst="rect">
            <a:avLst/>
          </a:prstGeom>
          <a:noFill/>
        </p:spPr>
        <p:txBody>
          <a:bodyPr wrap="square" lIns="0" rIns="0" tIns="0" bIns="0" anchor="t">
            <a:spAutoFit/>
          </a:bodyPr>
          <a:lstStyle/>
          <a:p>
            <a:pPr algn="ctr">
              <a:lnSpc>
                <a:spcPct val="120000"/>
              </a:lnSpc>
            </a:pPr>
            <a:r>
              <a:rPr sz="1800" b="0" i="1">
                <a:solidFill>
                  <a:srgbClr val="065A82"/>
                </a:solidFill>
                <a:latin typeface="Arial"/>
              </a:rPr>
              <a:t>Recap · semester map · Lecture 2 teaser.</a:t>
            </a:r>
          </a:p>
        </p:txBody>
      </p:sp>
      <p:sp>
        <p:nvSpPr>
          <p:cNvPr id="4" name="Rounded Rectangle 3"/>
          <p:cNvSpPr/>
          <p:nvPr/>
        </p:nvSpPr>
        <p:spPr>
          <a:xfrm>
            <a:off x="40370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370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0</a:t>
            </a:r>
          </a:p>
        </p:txBody>
      </p:sp>
      <p:sp>
        <p:nvSpPr>
          <p:cNvPr id="6" name="TextBox 5"/>
          <p:cNvSpPr txBox="1"/>
          <p:nvPr/>
        </p:nvSpPr>
        <p:spPr>
          <a:xfrm>
            <a:off x="47685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Intro</a:t>
            </a:r>
          </a:p>
        </p:txBody>
      </p:sp>
      <p:sp>
        <p:nvSpPr>
          <p:cNvPr id="7" name="TextBox 6"/>
          <p:cNvSpPr txBox="1"/>
          <p:nvPr/>
        </p:nvSpPr>
        <p:spPr>
          <a:xfrm>
            <a:off x="47685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Demo · instructor ·
central question</a:t>
            </a:r>
          </a:p>
        </p:txBody>
      </p:sp>
      <p:sp>
        <p:nvSpPr>
          <p:cNvPr id="8" name="Rounded Rectangle 7"/>
          <p:cNvSpPr/>
          <p:nvPr/>
        </p:nvSpPr>
        <p:spPr>
          <a:xfrm>
            <a:off x="232394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3947" y="2606039"/>
            <a:ext cx="1783080" cy="777240"/>
          </a:xfrm>
          <a:prstGeom prst="rect">
            <a:avLst/>
          </a:prstGeom>
          <a:noFill/>
        </p:spPr>
        <p:txBody>
          <a:bodyPr wrap="square" lIns="0" rIns="0" tIns="0" bIns="0" anchor="t">
            <a:spAutoFit/>
          </a:bodyPr>
          <a:lstStyle/>
          <a:p>
            <a:pPr algn="ctr">
              <a:lnSpc>
                <a:spcPct val="115000"/>
              </a:lnSpc>
            </a:pPr>
            <a:r>
              <a:rPr sz="4400" b="1" i="0">
                <a:solidFill>
                  <a:srgbClr val="1C7293"/>
                </a:solidFill>
                <a:latin typeface="Arial"/>
              </a:rPr>
              <a:t>1</a:t>
            </a:r>
          </a:p>
        </p:txBody>
      </p:sp>
      <p:sp>
        <p:nvSpPr>
          <p:cNvPr id="10" name="TextBox 9"/>
          <p:cNvSpPr txBox="1"/>
          <p:nvPr/>
        </p:nvSpPr>
        <p:spPr>
          <a:xfrm>
            <a:off x="239709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What is AI</a:t>
            </a:r>
          </a:p>
        </p:txBody>
      </p:sp>
      <p:sp>
        <p:nvSpPr>
          <p:cNvPr id="11" name="TextBox 10"/>
          <p:cNvSpPr txBox="1"/>
          <p:nvPr/>
        </p:nvSpPr>
        <p:spPr>
          <a:xfrm>
            <a:off x="239709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Definitions,
history, turning point</a:t>
            </a:r>
          </a:p>
        </p:txBody>
      </p:sp>
      <p:sp>
        <p:nvSpPr>
          <p:cNvPr id="12" name="Rounded Rectangle 11"/>
          <p:cNvSpPr/>
          <p:nvPr/>
        </p:nvSpPr>
        <p:spPr>
          <a:xfrm>
            <a:off x="424418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418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2</a:t>
            </a:r>
          </a:p>
        </p:txBody>
      </p:sp>
      <p:sp>
        <p:nvSpPr>
          <p:cNvPr id="14" name="TextBox 13"/>
          <p:cNvSpPr txBox="1"/>
          <p:nvPr/>
        </p:nvSpPr>
        <p:spPr>
          <a:xfrm>
            <a:off x="431733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Where we
are now</a:t>
            </a:r>
          </a:p>
        </p:txBody>
      </p:sp>
      <p:sp>
        <p:nvSpPr>
          <p:cNvPr id="15" name="TextBox 14"/>
          <p:cNvSpPr txBox="1"/>
          <p:nvPr/>
        </p:nvSpPr>
        <p:spPr>
          <a:xfrm>
            <a:off x="431733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Market numbers
2022–2026</a:t>
            </a:r>
          </a:p>
        </p:txBody>
      </p:sp>
      <p:sp>
        <p:nvSpPr>
          <p:cNvPr id="16" name="Rounded Rectangle 15"/>
          <p:cNvSpPr/>
          <p:nvPr/>
        </p:nvSpPr>
        <p:spPr>
          <a:xfrm>
            <a:off x="616442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4427" y="2606039"/>
            <a:ext cx="1783080" cy="777240"/>
          </a:xfrm>
          <a:prstGeom prst="rect">
            <a:avLst/>
          </a:prstGeom>
          <a:noFill/>
        </p:spPr>
        <p:txBody>
          <a:bodyPr wrap="square" lIns="0" rIns="0" tIns="0" bIns="0" anchor="t">
            <a:spAutoFit/>
          </a:bodyPr>
          <a:lstStyle/>
          <a:p>
            <a:pPr algn="ctr">
              <a:lnSpc>
                <a:spcPct val="115000"/>
              </a:lnSpc>
            </a:pPr>
            <a:r>
              <a:rPr sz="4400" b="1" i="0">
                <a:solidFill>
                  <a:srgbClr val="065A82"/>
                </a:solidFill>
                <a:latin typeface="Arial"/>
              </a:rPr>
              <a:t>3</a:t>
            </a:r>
          </a:p>
        </p:txBody>
      </p:sp>
      <p:sp>
        <p:nvSpPr>
          <p:cNvPr id="18" name="TextBox 17"/>
          <p:cNvSpPr txBox="1"/>
          <p:nvPr/>
        </p:nvSpPr>
        <p:spPr>
          <a:xfrm>
            <a:off x="623757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Four ways to
implement</a:t>
            </a:r>
          </a:p>
        </p:txBody>
      </p:sp>
      <p:sp>
        <p:nvSpPr>
          <p:cNvPr id="19" name="TextBox 18"/>
          <p:cNvSpPr txBox="1"/>
          <p:nvPr/>
        </p:nvSpPr>
        <p:spPr>
          <a:xfrm>
            <a:off x="623757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Model · chat ·
agent · app</a:t>
            </a:r>
          </a:p>
        </p:txBody>
      </p:sp>
      <p:sp>
        <p:nvSpPr>
          <p:cNvPr id="20" name="Rounded Rectangle 19"/>
          <p:cNvSpPr/>
          <p:nvPr/>
        </p:nvSpPr>
        <p:spPr>
          <a:xfrm>
            <a:off x="8084667" y="2331720"/>
            <a:ext cx="1783080" cy="2926080"/>
          </a:xfrm>
          <a:prstGeom prst="roundRect">
            <a:avLst>
              <a:gd name="adj" fmla="val 17094"/>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4667" y="2606039"/>
            <a:ext cx="1783080" cy="777240"/>
          </a:xfrm>
          <a:prstGeom prst="rect">
            <a:avLst/>
          </a:prstGeom>
          <a:noFill/>
        </p:spPr>
        <p:txBody>
          <a:bodyPr wrap="square" lIns="0" rIns="0" tIns="0" bIns="0" anchor="t">
            <a:spAutoFit/>
          </a:bodyPr>
          <a:lstStyle/>
          <a:p>
            <a:pPr algn="ctr">
              <a:lnSpc>
                <a:spcPct val="115000"/>
              </a:lnSpc>
            </a:pPr>
            <a:r>
              <a:rPr sz="4400" b="1" i="0">
                <a:solidFill>
                  <a:srgbClr val="21295C"/>
                </a:solidFill>
                <a:latin typeface="Arial"/>
              </a:rPr>
              <a:t>4</a:t>
            </a:r>
          </a:p>
        </p:txBody>
      </p:sp>
      <p:sp>
        <p:nvSpPr>
          <p:cNvPr id="22" name="TextBox 21"/>
          <p:cNvSpPr txBox="1"/>
          <p:nvPr/>
        </p:nvSpPr>
        <p:spPr>
          <a:xfrm>
            <a:off x="8157819" y="3520439"/>
            <a:ext cx="1636776" cy="96012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Limits and
safety</a:t>
            </a:r>
          </a:p>
        </p:txBody>
      </p:sp>
      <p:sp>
        <p:nvSpPr>
          <p:cNvPr id="23" name="TextBox 22"/>
          <p:cNvSpPr txBox="1"/>
          <p:nvPr/>
        </p:nvSpPr>
        <p:spPr>
          <a:xfrm>
            <a:off x="8157819" y="4434840"/>
            <a:ext cx="1636776" cy="777240"/>
          </a:xfrm>
          <a:prstGeom prst="rect">
            <a:avLst/>
          </a:prstGeom>
          <a:noFill/>
        </p:spPr>
        <p:txBody>
          <a:bodyPr wrap="square" lIns="0" rIns="0" tIns="0" bIns="0" anchor="t">
            <a:spAutoFit/>
          </a:bodyPr>
          <a:lstStyle/>
          <a:p>
            <a:pPr algn="ctr">
              <a:lnSpc>
                <a:spcPct val="125000"/>
              </a:lnSpc>
            </a:pPr>
            <a:r>
              <a:rPr sz="1100" b="0" i="1">
                <a:solidFill>
                  <a:srgbClr val="6B7685"/>
                </a:solidFill>
                <a:latin typeface="Arial"/>
              </a:rPr>
              <a:t>What AI breaks
and where it fails</a:t>
            </a:r>
          </a:p>
        </p:txBody>
      </p:sp>
      <p:sp>
        <p:nvSpPr>
          <p:cNvPr id="24" name="Rounded Rectangle 23"/>
          <p:cNvSpPr/>
          <p:nvPr/>
        </p:nvSpPr>
        <p:spPr>
          <a:xfrm>
            <a:off x="10004907" y="2331720"/>
            <a:ext cx="1783080" cy="2926080"/>
          </a:xfrm>
          <a:prstGeom prst="roundRect">
            <a:avLst>
              <a:gd name="adj" fmla="val 17094"/>
            </a:avLst>
          </a:prstGeom>
          <a:solidFill>
            <a:srgbClr val="F0AB00"/>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04907" y="2606039"/>
            <a:ext cx="1783080" cy="777240"/>
          </a:xfrm>
          <a:prstGeom prst="rect">
            <a:avLst/>
          </a:prstGeom>
          <a:noFill/>
        </p:spPr>
        <p:txBody>
          <a:bodyPr wrap="square" lIns="0" rIns="0" tIns="0" bIns="0" anchor="t">
            <a:spAutoFit/>
          </a:bodyPr>
          <a:lstStyle/>
          <a:p>
            <a:pPr algn="ctr">
              <a:lnSpc>
                <a:spcPct val="115000"/>
              </a:lnSpc>
            </a:pPr>
            <a:r>
              <a:rPr sz="4400" b="1" i="0">
                <a:solidFill>
                  <a:srgbClr val="FFFFFF"/>
                </a:solidFill>
                <a:latin typeface="Arial"/>
              </a:rPr>
              <a:t>5</a:t>
            </a:r>
          </a:p>
        </p:txBody>
      </p:sp>
      <p:sp>
        <p:nvSpPr>
          <p:cNvPr id="26" name="TextBox 25"/>
          <p:cNvSpPr txBox="1"/>
          <p:nvPr/>
        </p:nvSpPr>
        <p:spPr>
          <a:xfrm>
            <a:off x="10078059" y="3520439"/>
            <a:ext cx="1636776" cy="96012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Wrap-up</a:t>
            </a:r>
          </a:p>
        </p:txBody>
      </p:sp>
      <p:sp>
        <p:nvSpPr>
          <p:cNvPr id="27" name="TextBox 26"/>
          <p:cNvSpPr txBox="1"/>
          <p:nvPr/>
        </p:nvSpPr>
        <p:spPr>
          <a:xfrm>
            <a:off x="10078059" y="4434840"/>
            <a:ext cx="1636776" cy="777240"/>
          </a:xfrm>
          <a:prstGeom prst="rect">
            <a:avLst/>
          </a:prstGeom>
          <a:noFill/>
        </p:spPr>
        <p:txBody>
          <a:bodyPr wrap="square" lIns="0" rIns="0" tIns="0" bIns="0" anchor="t">
            <a:spAutoFit/>
          </a:bodyPr>
          <a:lstStyle/>
          <a:p>
            <a:pPr algn="ctr">
              <a:lnSpc>
                <a:spcPct val="125000"/>
              </a:lnSpc>
            </a:pPr>
            <a:r>
              <a:rPr sz="1100" b="0" i="1">
                <a:solidFill>
                  <a:srgbClr val="FFFFFF"/>
                </a:solidFill>
                <a:latin typeface="Arial"/>
              </a:rPr>
              <a:t>Recap ·
semester map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What we covered: three key takeaways.</a:t>
            </a:r>
          </a:p>
        </p:txBody>
      </p:sp>
      <p:sp>
        <p:nvSpPr>
          <p:cNvPr id="3" name="Rounded Rectangle 2"/>
          <p:cNvSpPr/>
          <p:nvPr/>
        </p:nvSpPr>
        <p:spPr>
          <a:xfrm>
            <a:off x="449427" y="2377440"/>
            <a:ext cx="3703320" cy="3291840"/>
          </a:xfrm>
          <a:prstGeom prst="roundRect">
            <a:avLst>
              <a:gd name="adj" fmla="val 925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2307" y="2560320"/>
            <a:ext cx="640080" cy="777240"/>
          </a:xfrm>
          <a:prstGeom prst="rect">
            <a:avLst/>
          </a:prstGeom>
          <a:noFill/>
        </p:spPr>
        <p:txBody>
          <a:bodyPr wrap="square" lIns="0" rIns="0" tIns="0" bIns="0" anchor="t">
            <a:spAutoFit/>
          </a:bodyPr>
          <a:lstStyle/>
          <a:p>
            <a:pPr algn="l">
              <a:lnSpc>
                <a:spcPct val="115000"/>
              </a:lnSpc>
            </a:pPr>
            <a:r>
              <a:rPr sz="4400" b="1" i="0">
                <a:solidFill>
                  <a:srgbClr val="1C7293"/>
                </a:solidFill>
                <a:latin typeface="Arial"/>
              </a:rPr>
              <a:t>1</a:t>
            </a:r>
          </a:p>
        </p:txBody>
      </p:sp>
      <p:sp>
        <p:nvSpPr>
          <p:cNvPr id="5" name="TextBox 4"/>
          <p:cNvSpPr txBox="1"/>
          <p:nvPr/>
        </p:nvSpPr>
        <p:spPr>
          <a:xfrm>
            <a:off x="1363827" y="2651760"/>
            <a:ext cx="2606039" cy="77724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AI is a spectrum, not a monolith</a:t>
            </a:r>
          </a:p>
        </p:txBody>
      </p:sp>
      <p:sp>
        <p:nvSpPr>
          <p:cNvPr id="6" name="TextBox 5"/>
          <p:cNvSpPr txBox="1"/>
          <p:nvPr/>
        </p:nvSpPr>
        <p:spPr>
          <a:xfrm>
            <a:off x="723747" y="3657600"/>
            <a:ext cx="3154679" cy="1371600"/>
          </a:xfrm>
          <a:prstGeom prst="rect">
            <a:avLst/>
          </a:prstGeom>
          <a:noFill/>
        </p:spPr>
        <p:txBody>
          <a:bodyPr wrap="square" lIns="0" rIns="0" tIns="0" bIns="0" anchor="t">
            <a:spAutoFit/>
          </a:bodyPr>
          <a:lstStyle/>
          <a:p>
            <a:pPr algn="l">
              <a:lnSpc>
                <a:spcPct val="140000"/>
              </a:lnSpc>
            </a:pPr>
            <a:r>
              <a:rPr sz="1150" b="0" i="0">
                <a:solidFill>
                  <a:srgbClr val="21295C"/>
                </a:solidFill>
                <a:latin typeface="Arial"/>
              </a:rPr>
              <a:t>Task type × modality × implementation type.
A sound discussion starts with explicit classification.</a:t>
            </a:r>
          </a:p>
        </p:txBody>
      </p:sp>
      <p:sp>
        <p:nvSpPr>
          <p:cNvPr id="7" name="Rounded Rectangle 6"/>
          <p:cNvSpPr/>
          <p:nvPr/>
        </p:nvSpPr>
        <p:spPr>
          <a:xfrm>
            <a:off x="4244187" y="2377440"/>
            <a:ext cx="3703320" cy="3291840"/>
          </a:xfrm>
          <a:prstGeom prst="roundRect">
            <a:avLst>
              <a:gd name="adj" fmla="val 925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27067" y="2560320"/>
            <a:ext cx="640080" cy="777240"/>
          </a:xfrm>
          <a:prstGeom prst="rect">
            <a:avLst/>
          </a:prstGeom>
          <a:noFill/>
        </p:spPr>
        <p:txBody>
          <a:bodyPr wrap="square" lIns="0" rIns="0" tIns="0" bIns="0" anchor="t">
            <a:spAutoFit/>
          </a:bodyPr>
          <a:lstStyle/>
          <a:p>
            <a:pPr algn="l">
              <a:lnSpc>
                <a:spcPct val="115000"/>
              </a:lnSpc>
            </a:pPr>
            <a:r>
              <a:rPr sz="4400" b="1" i="0">
                <a:solidFill>
                  <a:srgbClr val="065A82"/>
                </a:solidFill>
                <a:latin typeface="Arial"/>
              </a:rPr>
              <a:t>2</a:t>
            </a:r>
          </a:p>
        </p:txBody>
      </p:sp>
      <p:sp>
        <p:nvSpPr>
          <p:cNvPr id="9" name="TextBox 8"/>
          <p:cNvSpPr txBox="1"/>
          <p:nvPr/>
        </p:nvSpPr>
        <p:spPr>
          <a:xfrm>
            <a:off x="5158587" y="2651760"/>
            <a:ext cx="2606039" cy="77724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Choosing the AI type is a skill</a:t>
            </a:r>
          </a:p>
        </p:txBody>
      </p:sp>
      <p:sp>
        <p:nvSpPr>
          <p:cNvPr id="10" name="TextBox 9"/>
          <p:cNvSpPr txBox="1"/>
          <p:nvPr/>
        </p:nvSpPr>
        <p:spPr>
          <a:xfrm>
            <a:off x="4518507" y="3657600"/>
            <a:ext cx="3154679" cy="1371600"/>
          </a:xfrm>
          <a:prstGeom prst="rect">
            <a:avLst/>
          </a:prstGeom>
          <a:noFill/>
        </p:spPr>
        <p:txBody>
          <a:bodyPr wrap="square" lIns="0" rIns="0" tIns="0" bIns="0" anchor="t">
            <a:spAutoFit/>
          </a:bodyPr>
          <a:lstStyle/>
          <a:p>
            <a:pPr algn="l">
              <a:lnSpc>
                <a:spcPct val="140000"/>
              </a:lnSpc>
            </a:pPr>
            <a:r>
              <a:rPr sz="1150" b="0" i="0">
                <a:solidFill>
                  <a:srgbClr val="21295C"/>
                </a:solidFill>
                <a:latin typeface="Arial"/>
              </a:rPr>
              <a:t>2 diagnostic questions + a 2×2 quadrant.
A tool you'll apply in the seminars.</a:t>
            </a:r>
          </a:p>
        </p:txBody>
      </p:sp>
      <p:sp>
        <p:nvSpPr>
          <p:cNvPr id="11" name="Rounded Rectangle 10"/>
          <p:cNvSpPr/>
          <p:nvPr/>
        </p:nvSpPr>
        <p:spPr>
          <a:xfrm>
            <a:off x="8038947" y="2377440"/>
            <a:ext cx="3703320" cy="3291840"/>
          </a:xfrm>
          <a:prstGeom prst="roundRect">
            <a:avLst>
              <a:gd name="adj" fmla="val 9259"/>
            </a:avLst>
          </a:prstGeom>
          <a:solidFill>
            <a:srgbClr val="F4F7FA"/>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1827" y="2560320"/>
            <a:ext cx="640080" cy="77724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3</a:t>
            </a:r>
          </a:p>
        </p:txBody>
      </p:sp>
      <p:sp>
        <p:nvSpPr>
          <p:cNvPr id="13" name="TextBox 12"/>
          <p:cNvSpPr txBox="1"/>
          <p:nvPr/>
        </p:nvSpPr>
        <p:spPr>
          <a:xfrm>
            <a:off x="8953347" y="2651760"/>
            <a:ext cx="2606039" cy="77724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Goal-setting stays with the human</a:t>
            </a:r>
          </a:p>
        </p:txBody>
      </p:sp>
      <p:sp>
        <p:nvSpPr>
          <p:cNvPr id="14" name="TextBox 13"/>
          <p:cNvSpPr txBox="1"/>
          <p:nvPr/>
        </p:nvSpPr>
        <p:spPr>
          <a:xfrm>
            <a:off x="8313267" y="3657600"/>
            <a:ext cx="3154679" cy="1371600"/>
          </a:xfrm>
          <a:prstGeom prst="rect">
            <a:avLst/>
          </a:prstGeom>
          <a:noFill/>
        </p:spPr>
        <p:txBody>
          <a:bodyPr wrap="square" lIns="0" rIns="0" tIns="0" bIns="0" anchor="t">
            <a:spAutoFit/>
          </a:bodyPr>
          <a:lstStyle/>
          <a:p>
            <a:pPr algn="l">
              <a:lnSpc>
                <a:spcPct val="140000"/>
              </a:lnSpc>
            </a:pPr>
            <a:r>
              <a:rPr sz="1150" b="0" i="0">
                <a:solidFill>
                  <a:srgbClr val="21295C"/>
                </a:solidFill>
                <a:latin typeface="Arial"/>
              </a:rPr>
              <a:t>Every class of error needs a human loop.
The «AI / not-AI» boundary is your engineering zone.</a:t>
            </a:r>
          </a:p>
        </p:txBody>
      </p:sp>
      <p:sp>
        <p:nvSpPr>
          <p:cNvPr id="15" name="Rounded Rectangle 14"/>
          <p:cNvSpPr/>
          <p:nvPr/>
        </p:nvSpPr>
        <p:spPr>
          <a:xfrm>
            <a:off x="502920" y="5989320"/>
            <a:ext cx="11201400" cy="548640"/>
          </a:xfrm>
          <a:prstGeom prst="roundRect">
            <a:avLst>
              <a:gd name="adj" fmla="val 12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062472"/>
            <a:ext cx="10835640" cy="402335"/>
          </a:xfrm>
          <a:prstGeom prst="rect">
            <a:avLst/>
          </a:prstGeom>
          <a:noFill/>
        </p:spPr>
        <p:txBody>
          <a:bodyPr wrap="square" lIns="0" rIns="0" tIns="0" bIns="0" anchor="ctr">
            <a:spAutoFit/>
          </a:bodyPr>
          <a:lstStyle/>
          <a:p>
            <a:pPr algn="l">
              <a:lnSpc>
                <a:spcPct val="125000"/>
              </a:lnSpc>
            </a:pPr>
            <a:r>
              <a:rPr sz="1500" b="1" i="0">
                <a:solidFill>
                  <a:srgbClr val="21295C"/>
                </a:solidFill>
                <a:latin typeface="Arial"/>
              </a:rPr>
              <a:t>The core question of the lecture: where does AI work, where does it not, and how do you tell?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Semester map: 17 lectures, 3 modules + exam.</a:t>
            </a:r>
          </a:p>
        </p:txBody>
      </p:sp>
      <p:sp>
        <p:nvSpPr>
          <p:cNvPr id="3" name="Rounded Rectangle 2"/>
          <p:cNvSpPr/>
          <p:nvPr/>
        </p:nvSpPr>
        <p:spPr>
          <a:xfrm>
            <a:off x="502920" y="1600200"/>
            <a:ext cx="3449859" cy="4160520"/>
          </a:xfrm>
          <a:prstGeom prst="roundRect">
            <a:avLst>
              <a:gd name="adj" fmla="val 8835"/>
            </a:avLst>
          </a:prstGeom>
          <a:solidFill>
            <a:srgbClr val="FFFFFF"/>
          </a:solidFill>
          <a:ln w="254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600200"/>
            <a:ext cx="3449859" cy="777240"/>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673352"/>
            <a:ext cx="3449859" cy="320040"/>
          </a:xfrm>
          <a:prstGeom prst="rect">
            <a:avLst/>
          </a:prstGeom>
          <a:noFill/>
        </p:spPr>
        <p:txBody>
          <a:bodyPr wrap="square" lIns="0" rIns="0" tIns="0" bIns="0" anchor="t">
            <a:spAutoFit/>
          </a:bodyPr>
          <a:lstStyle/>
          <a:p>
            <a:pPr algn="ctr">
              <a:lnSpc>
                <a:spcPct val="115000"/>
              </a:lnSpc>
            </a:pPr>
            <a:r>
              <a:rPr sz="1300" b="1" i="0">
                <a:solidFill>
                  <a:srgbClr val="FFFFFF"/>
                </a:solidFill>
                <a:latin typeface="Arial"/>
              </a:rPr>
              <a:t>Module 1</a:t>
            </a:r>
          </a:p>
        </p:txBody>
      </p:sp>
      <p:sp>
        <p:nvSpPr>
          <p:cNvPr id="6" name="TextBox 5"/>
          <p:cNvSpPr txBox="1"/>
          <p:nvPr/>
        </p:nvSpPr>
        <p:spPr>
          <a:xfrm>
            <a:off x="594360" y="1965960"/>
            <a:ext cx="3266979"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Theory &amp; method basics
+ familiar industries</a:t>
            </a:r>
          </a:p>
        </p:txBody>
      </p:sp>
      <p:sp>
        <p:nvSpPr>
          <p:cNvPr id="7" name="TextBox 6"/>
          <p:cNvSpPr txBox="1"/>
          <p:nvPr/>
        </p:nvSpPr>
        <p:spPr>
          <a:xfrm>
            <a:off x="640080" y="2560320"/>
            <a:ext cx="3221259" cy="457200"/>
          </a:xfrm>
          <a:prstGeom prst="rect">
            <a:avLst/>
          </a:prstGeom>
          <a:noFill/>
        </p:spPr>
        <p:txBody>
          <a:bodyPr wrap="square" lIns="0" rIns="0" tIns="0" bIns="0" anchor="t">
            <a:spAutoFit/>
          </a:bodyPr>
          <a:lstStyle/>
          <a:p>
            <a:pPr algn="l">
              <a:lnSpc>
                <a:spcPct val="120000"/>
              </a:lnSpc>
            </a:pPr>
            <a:r>
              <a:rPr sz="1100" b="1" i="0">
                <a:solidFill>
                  <a:srgbClr val="21295C"/>
                </a:solidFill>
                <a:latin typeface="Arial"/>
              </a:rPr>
              <a:t>1.1 Introduction</a:t>
            </a:r>
          </a:p>
        </p:txBody>
      </p:sp>
      <p:sp>
        <p:nvSpPr>
          <p:cNvPr id="8" name="TextBox 7"/>
          <p:cNvSpPr txBox="1"/>
          <p:nvPr/>
        </p:nvSpPr>
        <p:spPr>
          <a:xfrm>
            <a:off x="640080" y="3063239"/>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1.2 AI architecture</a:t>
            </a:r>
          </a:p>
        </p:txBody>
      </p:sp>
      <p:sp>
        <p:nvSpPr>
          <p:cNvPr id="9" name="TextBox 8"/>
          <p:cNvSpPr txBox="1"/>
          <p:nvPr/>
        </p:nvSpPr>
        <p:spPr>
          <a:xfrm>
            <a:off x="640080" y="356616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1.3 Agents, RAG, API</a:t>
            </a:r>
          </a:p>
        </p:txBody>
      </p:sp>
      <p:sp>
        <p:nvSpPr>
          <p:cNvPr id="10" name="TextBox 9"/>
          <p:cNvSpPr txBox="1"/>
          <p:nvPr/>
        </p:nvSpPr>
        <p:spPr>
          <a:xfrm>
            <a:off x="640080" y="406908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1.4 Software development</a:t>
            </a:r>
          </a:p>
        </p:txBody>
      </p:sp>
      <p:sp>
        <p:nvSpPr>
          <p:cNvPr id="11" name="TextBox 10"/>
          <p:cNvSpPr txBox="1"/>
          <p:nvPr/>
        </p:nvSpPr>
        <p:spPr>
          <a:xfrm>
            <a:off x="640080" y="457200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1.5 Finance / retail</a:t>
            </a:r>
          </a:p>
        </p:txBody>
      </p:sp>
      <p:sp>
        <p:nvSpPr>
          <p:cNvPr id="12" name="TextBox 11"/>
          <p:cNvSpPr txBox="1"/>
          <p:nvPr/>
        </p:nvSpPr>
        <p:spPr>
          <a:xfrm>
            <a:off x="640080" y="507492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1.6 Creative ◆M1 test</a:t>
            </a:r>
          </a:p>
        </p:txBody>
      </p:sp>
      <p:sp>
        <p:nvSpPr>
          <p:cNvPr id="13" name="Rounded Rectangle 12"/>
          <p:cNvSpPr/>
          <p:nvPr/>
        </p:nvSpPr>
        <p:spPr>
          <a:xfrm>
            <a:off x="3998499" y="1600200"/>
            <a:ext cx="2867263" cy="4160520"/>
          </a:xfrm>
          <a:prstGeom prst="roundRect">
            <a:avLst>
              <a:gd name="adj" fmla="val 10630"/>
            </a:avLst>
          </a:prstGeom>
          <a:solidFill>
            <a:srgbClr val="FFFFFF"/>
          </a:solidFill>
          <a:ln w="254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98499" y="1600200"/>
            <a:ext cx="2867263" cy="777240"/>
          </a:xfrm>
          <a:prstGeom prst="roundRect">
            <a:avLst>
              <a:gd name="adj" fmla="val 35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98499" y="1673352"/>
            <a:ext cx="2867263" cy="320040"/>
          </a:xfrm>
          <a:prstGeom prst="rect">
            <a:avLst/>
          </a:prstGeom>
          <a:noFill/>
        </p:spPr>
        <p:txBody>
          <a:bodyPr wrap="square" lIns="0" rIns="0" tIns="0" bIns="0" anchor="t">
            <a:spAutoFit/>
          </a:bodyPr>
          <a:lstStyle/>
          <a:p>
            <a:pPr algn="ctr">
              <a:lnSpc>
                <a:spcPct val="115000"/>
              </a:lnSpc>
            </a:pPr>
            <a:r>
              <a:rPr sz="1300" b="1" i="0">
                <a:solidFill>
                  <a:srgbClr val="FFFFFF"/>
                </a:solidFill>
                <a:latin typeface="Arial"/>
              </a:rPr>
              <a:t>Module 2</a:t>
            </a:r>
          </a:p>
        </p:txBody>
      </p:sp>
      <p:sp>
        <p:nvSpPr>
          <p:cNvPr id="16" name="TextBox 15"/>
          <p:cNvSpPr txBox="1"/>
          <p:nvPr/>
        </p:nvSpPr>
        <p:spPr>
          <a:xfrm>
            <a:off x="4089939" y="1965960"/>
            <a:ext cx="2684383"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Engineering design,
heavy industry, agri</a:t>
            </a:r>
          </a:p>
        </p:txBody>
      </p:sp>
      <p:sp>
        <p:nvSpPr>
          <p:cNvPr id="17" name="TextBox 16"/>
          <p:cNvSpPr txBox="1"/>
          <p:nvPr/>
        </p:nvSpPr>
        <p:spPr>
          <a:xfrm>
            <a:off x="4135659" y="2560320"/>
            <a:ext cx="2638663"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2.1 CAD/CAM</a:t>
            </a:r>
          </a:p>
        </p:txBody>
      </p:sp>
      <p:sp>
        <p:nvSpPr>
          <p:cNvPr id="18" name="TextBox 17"/>
          <p:cNvSpPr txBox="1"/>
          <p:nvPr/>
        </p:nvSpPr>
        <p:spPr>
          <a:xfrm>
            <a:off x="4135659" y="3063239"/>
            <a:ext cx="2638663"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2.2 Aerospace / defense</a:t>
            </a:r>
          </a:p>
        </p:txBody>
      </p:sp>
      <p:sp>
        <p:nvSpPr>
          <p:cNvPr id="19" name="TextBox 18"/>
          <p:cNvSpPr txBox="1"/>
          <p:nvPr/>
        </p:nvSpPr>
        <p:spPr>
          <a:xfrm>
            <a:off x="4135659" y="3566160"/>
            <a:ext cx="2638663"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2.3 Manufacturing</a:t>
            </a:r>
          </a:p>
        </p:txBody>
      </p:sp>
      <p:sp>
        <p:nvSpPr>
          <p:cNvPr id="20" name="TextBox 19"/>
          <p:cNvSpPr txBox="1"/>
          <p:nvPr/>
        </p:nvSpPr>
        <p:spPr>
          <a:xfrm>
            <a:off x="4135659" y="4069080"/>
            <a:ext cx="2638663"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2.4 Digital twins</a:t>
            </a:r>
          </a:p>
        </p:txBody>
      </p:sp>
      <p:sp>
        <p:nvSpPr>
          <p:cNvPr id="21" name="TextBox 20"/>
          <p:cNvSpPr txBox="1"/>
          <p:nvPr/>
        </p:nvSpPr>
        <p:spPr>
          <a:xfrm>
            <a:off x="4135659" y="4572000"/>
            <a:ext cx="2638663"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2.5 Agriculture ◆M2 test</a:t>
            </a:r>
          </a:p>
        </p:txBody>
      </p:sp>
      <p:sp>
        <p:nvSpPr>
          <p:cNvPr id="22" name="Rounded Rectangle 21"/>
          <p:cNvSpPr/>
          <p:nvPr/>
        </p:nvSpPr>
        <p:spPr>
          <a:xfrm>
            <a:off x="6911482" y="1600200"/>
            <a:ext cx="3449859" cy="4160520"/>
          </a:xfrm>
          <a:prstGeom prst="roundRect">
            <a:avLst>
              <a:gd name="adj" fmla="val 8835"/>
            </a:avLst>
          </a:prstGeom>
          <a:solidFill>
            <a:srgbClr val="FFFFFF"/>
          </a:solidFill>
          <a:ln w="254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911482" y="1600200"/>
            <a:ext cx="3449859" cy="777240"/>
          </a:xfrm>
          <a:prstGeom prst="roundRect">
            <a:avLst>
              <a:gd name="adj" fmla="val 35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11482" y="1673352"/>
            <a:ext cx="3449859" cy="320040"/>
          </a:xfrm>
          <a:prstGeom prst="rect">
            <a:avLst/>
          </a:prstGeom>
          <a:noFill/>
        </p:spPr>
        <p:txBody>
          <a:bodyPr wrap="square" lIns="0" rIns="0" tIns="0" bIns="0" anchor="t">
            <a:spAutoFit/>
          </a:bodyPr>
          <a:lstStyle/>
          <a:p>
            <a:pPr algn="ctr">
              <a:lnSpc>
                <a:spcPct val="115000"/>
              </a:lnSpc>
            </a:pPr>
            <a:r>
              <a:rPr sz="1300" b="1" i="0">
                <a:solidFill>
                  <a:srgbClr val="FFFFFF"/>
                </a:solidFill>
                <a:latin typeface="Arial"/>
              </a:rPr>
              <a:t>Module 3</a:t>
            </a:r>
          </a:p>
        </p:txBody>
      </p:sp>
      <p:sp>
        <p:nvSpPr>
          <p:cNvPr id="25" name="TextBox 24"/>
          <p:cNvSpPr txBox="1"/>
          <p:nvPr/>
        </p:nvSpPr>
        <p:spPr>
          <a:xfrm>
            <a:off x="7002922" y="1965960"/>
            <a:ext cx="3266979"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Infrastructure, science,
extraction, synthesis</a:t>
            </a:r>
          </a:p>
        </p:txBody>
      </p:sp>
      <p:sp>
        <p:nvSpPr>
          <p:cNvPr id="26" name="TextBox 25"/>
          <p:cNvSpPr txBox="1"/>
          <p:nvPr/>
        </p:nvSpPr>
        <p:spPr>
          <a:xfrm>
            <a:off x="7048642" y="256032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3.1 Logistics</a:t>
            </a:r>
          </a:p>
        </p:txBody>
      </p:sp>
      <p:sp>
        <p:nvSpPr>
          <p:cNvPr id="27" name="TextBox 26"/>
          <p:cNvSpPr txBox="1"/>
          <p:nvPr/>
        </p:nvSpPr>
        <p:spPr>
          <a:xfrm>
            <a:off x="7048642" y="3063239"/>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3.2 Telecom / cybersec</a:t>
            </a:r>
          </a:p>
        </p:txBody>
      </p:sp>
      <p:sp>
        <p:nvSpPr>
          <p:cNvPr id="28" name="TextBox 27"/>
          <p:cNvSpPr txBox="1"/>
          <p:nvPr/>
        </p:nvSpPr>
        <p:spPr>
          <a:xfrm>
            <a:off x="7048642" y="356616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3.3 Science</a:t>
            </a:r>
          </a:p>
        </p:txBody>
      </p:sp>
      <p:sp>
        <p:nvSpPr>
          <p:cNvPr id="29" name="TextBox 28"/>
          <p:cNvSpPr txBox="1"/>
          <p:nvPr/>
        </p:nvSpPr>
        <p:spPr>
          <a:xfrm>
            <a:off x="7048642" y="406908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3.4 Oil &amp; gas</a:t>
            </a:r>
          </a:p>
        </p:txBody>
      </p:sp>
      <p:sp>
        <p:nvSpPr>
          <p:cNvPr id="30" name="TextBox 29"/>
          <p:cNvSpPr txBox="1"/>
          <p:nvPr/>
        </p:nvSpPr>
        <p:spPr>
          <a:xfrm>
            <a:off x="7048642" y="457200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3.5 Medicine</a:t>
            </a:r>
          </a:p>
        </p:txBody>
      </p:sp>
      <p:sp>
        <p:nvSpPr>
          <p:cNvPr id="31" name="TextBox 30"/>
          <p:cNvSpPr txBox="1"/>
          <p:nvPr/>
        </p:nvSpPr>
        <p:spPr>
          <a:xfrm>
            <a:off x="7048642" y="5074920"/>
            <a:ext cx="3221259"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3.6 Synthesis ◆M3 test</a:t>
            </a:r>
          </a:p>
        </p:txBody>
      </p:sp>
      <p:sp>
        <p:nvSpPr>
          <p:cNvPr id="32" name="Rounded Rectangle 31"/>
          <p:cNvSpPr/>
          <p:nvPr/>
        </p:nvSpPr>
        <p:spPr>
          <a:xfrm>
            <a:off x="10407062" y="1600200"/>
            <a:ext cx="1235992" cy="4160520"/>
          </a:xfrm>
          <a:prstGeom prst="roundRect">
            <a:avLst>
              <a:gd name="adj" fmla="val 24660"/>
            </a:avLst>
          </a:prstGeom>
          <a:solidFill>
            <a:srgbClr val="FFFFFF"/>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407062" y="1600200"/>
            <a:ext cx="1235992" cy="777240"/>
          </a:xfrm>
          <a:prstGeom prst="roundRect">
            <a:avLst>
              <a:gd name="adj" fmla="val 35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07062" y="1673352"/>
            <a:ext cx="1235992" cy="320040"/>
          </a:xfrm>
          <a:prstGeom prst="rect">
            <a:avLst/>
          </a:prstGeom>
          <a:noFill/>
        </p:spPr>
        <p:txBody>
          <a:bodyPr wrap="square" lIns="0" rIns="0" tIns="0" bIns="0" anchor="t">
            <a:spAutoFit/>
          </a:bodyPr>
          <a:lstStyle/>
          <a:p>
            <a:pPr algn="ctr">
              <a:lnSpc>
                <a:spcPct val="115000"/>
              </a:lnSpc>
            </a:pPr>
            <a:r>
              <a:rPr sz="1300" b="1" i="0">
                <a:solidFill>
                  <a:srgbClr val="FFFFFF"/>
                </a:solidFill>
                <a:latin typeface="Arial"/>
              </a:rPr>
              <a:t>Exam</a:t>
            </a:r>
          </a:p>
        </p:txBody>
      </p:sp>
      <p:sp>
        <p:nvSpPr>
          <p:cNvPr id="35" name="TextBox 34"/>
          <p:cNvSpPr txBox="1"/>
          <p:nvPr/>
        </p:nvSpPr>
        <p:spPr>
          <a:xfrm>
            <a:off x="10498502" y="1965960"/>
            <a:ext cx="1053112" cy="457200"/>
          </a:xfrm>
          <a:prstGeom prst="rect">
            <a:avLst/>
          </a:prstGeom>
          <a:noFill/>
        </p:spPr>
        <p:txBody>
          <a:bodyPr wrap="square" lIns="0" rIns="0" tIns="0" bIns="0" anchor="t">
            <a:spAutoFit/>
          </a:bodyPr>
          <a:lstStyle/>
          <a:p>
            <a:pPr algn="ctr">
              <a:lnSpc>
                <a:spcPct val="115000"/>
              </a:lnSpc>
            </a:pPr>
            <a:r>
              <a:rPr sz="950" b="0" i="1">
                <a:solidFill>
                  <a:srgbClr val="FFFFFF"/>
                </a:solidFill>
                <a:latin typeface="Arial"/>
              </a:rPr>
              <a:t>Final
assessment</a:t>
            </a:r>
          </a:p>
        </p:txBody>
      </p:sp>
      <p:sp>
        <p:nvSpPr>
          <p:cNvPr id="36" name="TextBox 35"/>
          <p:cNvSpPr txBox="1"/>
          <p:nvPr/>
        </p:nvSpPr>
        <p:spPr>
          <a:xfrm>
            <a:off x="10544222" y="2560320"/>
            <a:ext cx="1007392" cy="45720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Exam</a:t>
            </a:r>
          </a:p>
        </p:txBody>
      </p:sp>
      <p:sp>
        <p:nvSpPr>
          <p:cNvPr id="37" name="TextBox 36"/>
          <p:cNvSpPr txBox="1"/>
          <p:nvPr/>
        </p:nvSpPr>
        <p:spPr>
          <a:xfrm>
            <a:off x="502920" y="5989320"/>
            <a:ext cx="11201400" cy="320040"/>
          </a:xfrm>
          <a:prstGeom prst="rect">
            <a:avLst/>
          </a:prstGeom>
          <a:noFill/>
        </p:spPr>
        <p:txBody>
          <a:bodyPr wrap="square" lIns="0" rIns="0" tIns="0" bIns="0" anchor="t">
            <a:spAutoFit/>
          </a:bodyPr>
          <a:lstStyle/>
          <a:p>
            <a:pPr algn="ctr">
              <a:lnSpc>
                <a:spcPct val="115000"/>
              </a:lnSpc>
            </a:pPr>
            <a:r>
              <a:rPr sz="1100" b="0" i="1">
                <a:solidFill>
                  <a:srgbClr val="6B7685"/>
                </a:solidFill>
                <a:latin typeface="Arial"/>
              </a:rPr>
              <a:t>◆ — module tests M1/M2/M3, at the end of each of the first three modules.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ctr">
              <a:lnSpc>
                <a:spcPct val="118000"/>
              </a:lnSpc>
            </a:pPr>
            <a:r>
              <a:rPr sz="2800" b="1" i="0">
                <a:solidFill>
                  <a:srgbClr val="21295C"/>
                </a:solidFill>
                <a:latin typeface="Arial"/>
              </a:rPr>
              <a:t>Semester grade</a:t>
            </a:r>
          </a:p>
        </p:txBody>
      </p:sp>
      <p:sp>
        <p:nvSpPr>
          <p:cNvPr id="3" name="TextBox 2"/>
          <p:cNvSpPr txBox="1"/>
          <p:nvPr/>
        </p:nvSpPr>
        <p:spPr>
          <a:xfrm>
            <a:off x="365760" y="2880360"/>
            <a:ext cx="11457432" cy="914400"/>
          </a:xfrm>
          <a:prstGeom prst="rect">
            <a:avLst/>
          </a:prstGeom>
          <a:noFill/>
        </p:spPr>
        <p:txBody>
          <a:bodyPr wrap="square" lIns="0" rIns="0" tIns="0" bIns="0" anchor="ctr">
            <a:spAutoFit/>
          </a:bodyPr>
          <a:lstStyle/>
          <a:p>
            <a:pPr algn="ctr">
              <a:lnSpc>
                <a:spcPct val="100000"/>
              </a:lnSpc>
            </a:pPr>
            <a:r>
              <a:rPr sz="5200" b="1" i="0">
                <a:solidFill>
                  <a:srgbClr val="F0AB00"/>
                </a:solidFill>
                <a:latin typeface="Arial"/>
              </a:rPr>
              <a:t>100</a:t>
            </a:r>
            <a:r>
              <a:rPr sz="3000" b="1" i="0">
                <a:solidFill>
                  <a:srgbClr val="21295C"/>
                </a:solidFill>
                <a:latin typeface="Arial"/>
              </a:rPr>
              <a:t>  =  10 </a:t>
            </a:r>
            <a:r>
              <a:rPr sz="1400" b="0" i="1">
                <a:solidFill>
                  <a:srgbClr val="6B7685"/>
                </a:solidFill>
                <a:latin typeface="Arial"/>
              </a:rPr>
              <a:t>(attendance)</a:t>
            </a:r>
            <a:r>
              <a:rPr sz="3000" b="1" i="0">
                <a:solidFill>
                  <a:srgbClr val="21295C"/>
                </a:solidFill>
                <a:latin typeface="Arial"/>
              </a:rPr>
              <a:t>  +  30 </a:t>
            </a:r>
            <a:r>
              <a:rPr sz="1400" b="0" i="1">
                <a:solidFill>
                  <a:srgbClr val="6B7685"/>
                </a:solidFill>
                <a:latin typeface="Arial"/>
              </a:rPr>
              <a:t>(exam)</a:t>
            </a:r>
            <a:r>
              <a:rPr sz="3000" b="1" i="0">
                <a:solidFill>
                  <a:srgbClr val="21295C"/>
                </a:solidFill>
                <a:latin typeface="Arial"/>
              </a:rPr>
              <a:t>  +  3×20 </a:t>
            </a:r>
            <a:r>
              <a:rPr sz="1400" b="0" i="1">
                <a:solidFill>
                  <a:srgbClr val="6B7685"/>
                </a:solidFill>
                <a:latin typeface="Arial"/>
              </a:rPr>
              <a:t>(M1/M2/M3 tests)</a:t>
            </a:r>
          </a:p>
        </p:txBody>
      </p:sp>
      <p:sp>
        <p:nvSpPr>
          <p:cNvPr id="4" name="TextBox 3"/>
          <p:cNvSpPr txBox="1"/>
          <p:nvPr/>
        </p:nvSpPr>
        <p:spPr>
          <a:xfrm>
            <a:off x="731520" y="4160520"/>
            <a:ext cx="10698480" cy="548640"/>
          </a:xfrm>
          <a:prstGeom prst="rect">
            <a:avLst/>
          </a:prstGeom>
          <a:noFill/>
        </p:spPr>
        <p:txBody>
          <a:bodyPr wrap="square" lIns="0" rIns="0" tIns="0" bIns="0" anchor="t">
            <a:spAutoFit/>
          </a:bodyPr>
          <a:lstStyle/>
          <a:p>
            <a:pPr algn="ctr">
              <a:lnSpc>
                <a:spcPct val="115000"/>
              </a:lnSpc>
            </a:pPr>
            <a:r>
              <a:rPr sz="1600" b="0" i="1">
                <a:solidFill>
                  <a:srgbClr val="065A82"/>
                </a:solidFill>
                <a:latin typeface="Arial"/>
              </a:rPr>
              <a:t>Module tests — at the end of each of the first three modules.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1051560"/>
          </a:xfrm>
          <a:prstGeom prst="rect">
            <a:avLst/>
          </a:prstGeom>
          <a:noFill/>
        </p:spPr>
        <p:txBody>
          <a:bodyPr wrap="square" lIns="0" rIns="0" tIns="0" bIns="0" anchor="t">
            <a:spAutoFit/>
          </a:bodyPr>
          <a:lstStyle/>
          <a:p>
            <a:pPr algn="l">
              <a:lnSpc>
                <a:spcPct val="118000"/>
              </a:lnSpc>
            </a:pPr>
            <a:r>
              <a:rPr sz="2800" b="1" i="0">
                <a:solidFill>
                  <a:srgbClr val="21295C"/>
                </a:solidFill>
                <a:latin typeface="Arial"/>
              </a:rPr>
              <a:t>Lecture 2: «How modern large models work».</a:t>
            </a:r>
          </a:p>
        </p:txBody>
      </p:sp>
      <p:sp>
        <p:nvSpPr>
          <p:cNvPr id="3" name="Rounded Rectangle 2"/>
          <p:cNvSpPr/>
          <p:nvPr/>
        </p:nvSpPr>
        <p:spPr>
          <a:xfrm>
            <a:off x="838047" y="1874519"/>
            <a:ext cx="5120640" cy="1828800"/>
          </a:xfrm>
          <a:prstGeom prst="roundRect">
            <a:avLst>
              <a:gd name="adj" fmla="val 1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ucide-file-text-blue.png"/>
          <p:cNvPicPr>
            <a:picLocks noChangeAspect="1"/>
          </p:cNvPicPr>
          <p:nvPr/>
        </p:nvPicPr>
        <p:blipFill>
          <a:blip r:embed="rId2"/>
          <a:stretch>
            <a:fillRect/>
          </a:stretch>
        </p:blipFill>
        <p:spPr>
          <a:xfrm>
            <a:off x="1158087" y="2194560"/>
            <a:ext cx="777240" cy="777240"/>
          </a:xfrm>
          <a:prstGeom prst="rect">
            <a:avLst/>
          </a:prstGeom>
        </p:spPr>
      </p:pic>
      <p:sp>
        <p:nvSpPr>
          <p:cNvPr id="5" name="TextBox 4"/>
          <p:cNvSpPr txBox="1"/>
          <p:nvPr/>
        </p:nvSpPr>
        <p:spPr>
          <a:xfrm>
            <a:off x="2118207" y="2240279"/>
            <a:ext cx="3703320" cy="50292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Tokens</a:t>
            </a:r>
          </a:p>
        </p:txBody>
      </p:sp>
      <p:sp>
        <p:nvSpPr>
          <p:cNvPr id="6" name="TextBox 5"/>
          <p:cNvSpPr txBox="1"/>
          <p:nvPr/>
        </p:nvSpPr>
        <p:spPr>
          <a:xfrm>
            <a:off x="1158087" y="3154679"/>
            <a:ext cx="4480559" cy="365759"/>
          </a:xfrm>
          <a:prstGeom prst="rect">
            <a:avLst/>
          </a:prstGeom>
          <a:noFill/>
        </p:spPr>
        <p:txBody>
          <a:bodyPr wrap="square" lIns="0" rIns="0" tIns="0" bIns="0" anchor="t">
            <a:spAutoFit/>
          </a:bodyPr>
          <a:lstStyle/>
          <a:p>
            <a:pPr algn="l">
              <a:lnSpc>
                <a:spcPct val="140000"/>
              </a:lnSpc>
            </a:pPr>
            <a:r>
              <a:rPr sz="1300" b="0" i="1">
                <a:solidFill>
                  <a:srgbClr val="21295C"/>
                </a:solidFill>
                <a:latin typeface="Arial"/>
              </a:rPr>
              <a:t>the units the model chops text into</a:t>
            </a:r>
          </a:p>
        </p:txBody>
      </p:sp>
      <p:sp>
        <p:nvSpPr>
          <p:cNvPr id="7" name="Rounded Rectangle 6"/>
          <p:cNvSpPr/>
          <p:nvPr/>
        </p:nvSpPr>
        <p:spPr>
          <a:xfrm>
            <a:off x="6233007" y="1874519"/>
            <a:ext cx="5120640" cy="1828800"/>
          </a:xfrm>
          <a:prstGeom prst="roundRect">
            <a:avLst>
              <a:gd name="adj" fmla="val 1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ide-network-blue.png"/>
          <p:cNvPicPr>
            <a:picLocks noChangeAspect="1"/>
          </p:cNvPicPr>
          <p:nvPr/>
        </p:nvPicPr>
        <p:blipFill>
          <a:blip r:embed="rId3"/>
          <a:stretch>
            <a:fillRect/>
          </a:stretch>
        </p:blipFill>
        <p:spPr>
          <a:xfrm>
            <a:off x="6553047" y="2194560"/>
            <a:ext cx="777240" cy="777240"/>
          </a:xfrm>
          <a:prstGeom prst="rect">
            <a:avLst/>
          </a:prstGeom>
        </p:spPr>
      </p:pic>
      <p:sp>
        <p:nvSpPr>
          <p:cNvPr id="9" name="TextBox 8"/>
          <p:cNvSpPr txBox="1"/>
          <p:nvPr/>
        </p:nvSpPr>
        <p:spPr>
          <a:xfrm>
            <a:off x="7513167" y="2240279"/>
            <a:ext cx="3703320" cy="50292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Embeddings</a:t>
            </a:r>
          </a:p>
        </p:txBody>
      </p:sp>
      <p:sp>
        <p:nvSpPr>
          <p:cNvPr id="10" name="TextBox 9"/>
          <p:cNvSpPr txBox="1"/>
          <p:nvPr/>
        </p:nvSpPr>
        <p:spPr>
          <a:xfrm>
            <a:off x="6553047" y="3154679"/>
            <a:ext cx="4480559" cy="365759"/>
          </a:xfrm>
          <a:prstGeom prst="rect">
            <a:avLst/>
          </a:prstGeom>
          <a:noFill/>
        </p:spPr>
        <p:txBody>
          <a:bodyPr wrap="square" lIns="0" rIns="0" tIns="0" bIns="0" anchor="t">
            <a:spAutoFit/>
          </a:bodyPr>
          <a:lstStyle/>
          <a:p>
            <a:pPr algn="l">
              <a:lnSpc>
                <a:spcPct val="140000"/>
              </a:lnSpc>
            </a:pPr>
            <a:r>
              <a:rPr sz="1300" b="0" i="1">
                <a:solidFill>
                  <a:srgbClr val="21295C"/>
                </a:solidFill>
                <a:latin typeface="Arial"/>
              </a:rPr>
              <a:t>(vector representations) — addresses in a meaning space</a:t>
            </a:r>
          </a:p>
        </p:txBody>
      </p:sp>
      <p:sp>
        <p:nvSpPr>
          <p:cNvPr id="11" name="Rounded Rectangle 10"/>
          <p:cNvSpPr/>
          <p:nvPr/>
        </p:nvSpPr>
        <p:spPr>
          <a:xfrm>
            <a:off x="838047" y="3977639"/>
            <a:ext cx="5120640" cy="1828800"/>
          </a:xfrm>
          <a:prstGeom prst="roundRect">
            <a:avLst>
              <a:gd name="adj" fmla="val 1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ucide-eye-blue.png"/>
          <p:cNvPicPr>
            <a:picLocks noChangeAspect="1"/>
          </p:cNvPicPr>
          <p:nvPr/>
        </p:nvPicPr>
        <p:blipFill>
          <a:blip r:embed="rId4"/>
          <a:stretch>
            <a:fillRect/>
          </a:stretch>
        </p:blipFill>
        <p:spPr>
          <a:xfrm>
            <a:off x="1158087" y="4297679"/>
            <a:ext cx="777240" cy="777240"/>
          </a:xfrm>
          <a:prstGeom prst="rect">
            <a:avLst/>
          </a:prstGeom>
        </p:spPr>
      </p:pic>
      <p:sp>
        <p:nvSpPr>
          <p:cNvPr id="13" name="TextBox 12"/>
          <p:cNvSpPr txBox="1"/>
          <p:nvPr/>
        </p:nvSpPr>
        <p:spPr>
          <a:xfrm>
            <a:off x="2118207" y="4343400"/>
            <a:ext cx="3703320" cy="50292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Attention</a:t>
            </a:r>
          </a:p>
        </p:txBody>
      </p:sp>
      <p:sp>
        <p:nvSpPr>
          <p:cNvPr id="14" name="TextBox 13"/>
          <p:cNvSpPr txBox="1"/>
          <p:nvPr/>
        </p:nvSpPr>
        <p:spPr>
          <a:xfrm>
            <a:off x="1158087" y="5257800"/>
            <a:ext cx="4480559" cy="365759"/>
          </a:xfrm>
          <a:prstGeom prst="rect">
            <a:avLst/>
          </a:prstGeom>
          <a:noFill/>
        </p:spPr>
        <p:txBody>
          <a:bodyPr wrap="square" lIns="0" rIns="0" tIns="0" bIns="0" anchor="t">
            <a:spAutoFit/>
          </a:bodyPr>
          <a:lstStyle/>
          <a:p>
            <a:pPr algn="l">
              <a:lnSpc>
                <a:spcPct val="140000"/>
              </a:lnSpc>
            </a:pPr>
            <a:r>
              <a:rPr sz="1300" b="0" i="1">
                <a:solidFill>
                  <a:srgbClr val="21295C"/>
                </a:solidFill>
                <a:latin typeface="Arial"/>
              </a:rPr>
              <a:t>— which parts of the input to look at</a:t>
            </a:r>
          </a:p>
        </p:txBody>
      </p:sp>
      <p:sp>
        <p:nvSpPr>
          <p:cNvPr id="15" name="Rounded Rectangle 14"/>
          <p:cNvSpPr/>
          <p:nvPr/>
        </p:nvSpPr>
        <p:spPr>
          <a:xfrm>
            <a:off x="6233007" y="3977639"/>
            <a:ext cx="5120640" cy="1828800"/>
          </a:xfrm>
          <a:prstGeom prst="roundRect">
            <a:avLst>
              <a:gd name="adj" fmla="val 1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ucide-zap-blue.png"/>
          <p:cNvPicPr>
            <a:picLocks noChangeAspect="1"/>
          </p:cNvPicPr>
          <p:nvPr/>
        </p:nvPicPr>
        <p:blipFill>
          <a:blip r:embed="rId5"/>
          <a:stretch>
            <a:fillRect/>
          </a:stretch>
        </p:blipFill>
        <p:spPr>
          <a:xfrm>
            <a:off x="6553047" y="4297679"/>
            <a:ext cx="777240" cy="777240"/>
          </a:xfrm>
          <a:prstGeom prst="rect">
            <a:avLst/>
          </a:prstGeom>
        </p:spPr>
      </p:pic>
      <p:sp>
        <p:nvSpPr>
          <p:cNvPr id="17" name="TextBox 16"/>
          <p:cNvSpPr txBox="1"/>
          <p:nvPr/>
        </p:nvSpPr>
        <p:spPr>
          <a:xfrm>
            <a:off x="7513167" y="4343400"/>
            <a:ext cx="3703320" cy="502920"/>
          </a:xfrm>
          <a:prstGeom prst="rect">
            <a:avLst/>
          </a:prstGeom>
          <a:noFill/>
        </p:spPr>
        <p:txBody>
          <a:bodyPr wrap="square" lIns="0" rIns="0" tIns="0" bIns="0" anchor="t">
            <a:spAutoFit/>
          </a:bodyPr>
          <a:lstStyle/>
          <a:p>
            <a:pPr algn="l">
              <a:lnSpc>
                <a:spcPct val="115000"/>
              </a:lnSpc>
            </a:pPr>
            <a:r>
              <a:rPr sz="2200" b="1" i="0">
                <a:solidFill>
                  <a:srgbClr val="065A82"/>
                </a:solidFill>
                <a:latin typeface="Arial"/>
              </a:rPr>
              <a:t>Temperature</a:t>
            </a:r>
          </a:p>
        </p:txBody>
      </p:sp>
      <p:sp>
        <p:nvSpPr>
          <p:cNvPr id="18" name="TextBox 17"/>
          <p:cNvSpPr txBox="1"/>
          <p:nvPr/>
        </p:nvSpPr>
        <p:spPr>
          <a:xfrm>
            <a:off x="6553047" y="5257800"/>
            <a:ext cx="4480559" cy="365759"/>
          </a:xfrm>
          <a:prstGeom prst="rect">
            <a:avLst/>
          </a:prstGeom>
          <a:noFill/>
        </p:spPr>
        <p:txBody>
          <a:bodyPr wrap="square" lIns="0" rIns="0" tIns="0" bIns="0" anchor="t">
            <a:spAutoFit/>
          </a:bodyPr>
          <a:lstStyle/>
          <a:p>
            <a:pPr algn="l">
              <a:lnSpc>
                <a:spcPct val="140000"/>
              </a:lnSpc>
            </a:pPr>
            <a:r>
              <a:rPr sz="1300" b="0" i="1">
                <a:solidFill>
                  <a:srgbClr val="21295C"/>
                </a:solidFill>
                <a:latin typeface="Arial"/>
              </a:rPr>
              <a:t>the randomness in picking the next token</a:t>
            </a:r>
          </a:p>
        </p:txBody>
      </p:sp>
      <p:sp>
        <p:nvSpPr>
          <p:cNvPr id="19" name="TextBox 18"/>
          <p:cNvSpPr txBox="1"/>
          <p:nvPr/>
        </p:nvSpPr>
        <p:spPr>
          <a:xfrm>
            <a:off x="502920" y="6080760"/>
            <a:ext cx="11201400" cy="411480"/>
          </a:xfrm>
          <a:prstGeom prst="rect">
            <a:avLst/>
          </a:prstGeom>
          <a:noFill/>
        </p:spPr>
        <p:txBody>
          <a:bodyPr wrap="square" lIns="0" rIns="0" tIns="0" bIns="0" anchor="t">
            <a:spAutoFit/>
          </a:bodyPr>
          <a:lstStyle/>
          <a:p>
            <a:pPr algn="ctr">
              <a:lnSpc>
                <a:spcPct val="115000"/>
              </a:lnSpc>
            </a:pPr>
            <a:r>
              <a:rPr sz="1400" b="1" i="1">
                <a:solidFill>
                  <a:srgbClr val="21295C"/>
                </a:solidFill>
                <a:latin typeface="Arial"/>
              </a:rPr>
              <a:t>These 4 concepts explain the behavior of every modern LLM — from ChatGPT to DeepSeek.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2148840"/>
            <a:ext cx="11201400" cy="1737360"/>
          </a:xfrm>
          <a:prstGeom prst="rect">
            <a:avLst/>
          </a:prstGeom>
          <a:noFill/>
        </p:spPr>
        <p:txBody>
          <a:bodyPr wrap="square" lIns="0" rIns="0" tIns="0" bIns="0" anchor="t">
            <a:spAutoFit/>
          </a:bodyPr>
          <a:lstStyle/>
          <a:p>
            <a:pPr algn="ctr">
              <a:lnSpc>
                <a:spcPct val="100000"/>
              </a:lnSpc>
            </a:pPr>
            <a:r>
              <a:rPr sz="9600" b="1" i="0">
                <a:solidFill>
                  <a:srgbClr val="21295C"/>
                </a:solidFill>
                <a:latin typeface="Arial"/>
              </a:rPr>
              <a:t>Questions?</a:t>
            </a:r>
          </a:p>
        </p:txBody>
      </p:sp>
      <p:sp>
        <p:nvSpPr>
          <p:cNvPr id="3" name="TextBox 2"/>
          <p:cNvSpPr txBox="1"/>
          <p:nvPr/>
        </p:nvSpPr>
        <p:spPr>
          <a:xfrm>
            <a:off x="502920" y="4937760"/>
            <a:ext cx="11201400" cy="640080"/>
          </a:xfrm>
          <a:prstGeom prst="rect">
            <a:avLst/>
          </a:prstGeom>
          <a:noFill/>
        </p:spPr>
        <p:txBody>
          <a:bodyPr wrap="square" lIns="0" rIns="0" tIns="0" bIns="0" anchor="t">
            <a:spAutoFit/>
          </a:bodyPr>
          <a:lstStyle/>
          <a:p>
            <a:pPr algn="ctr">
              <a:lnSpc>
                <a:spcPct val="115000"/>
              </a:lnSpc>
            </a:pPr>
            <a:r>
              <a:rPr sz="3600" b="0" i="1">
                <a:solidFill>
                  <a:srgbClr val="065A82"/>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