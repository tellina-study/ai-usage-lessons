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41E3C"/>
                </a:solidFill>
              </a:rPr>
              <a:t>Главный вопрос курса — не «можно ли AI?», а «НУЖНО ли и ГДЕ?»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554480"/>
            <a:ext cx="2743200" cy="36576"/>
          </a:xfrm>
          <a:prstGeom prst="rect">
            <a:avLst/>
          </a:prstGeom>
          <a:solidFill>
            <a:srgbClr val="C81E1E"/>
          </a:solidFill>
          <a:ln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194560"/>
            <a:ext cx="8595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81E1E"/>
                </a:solidFill>
              </a:rPr>
              <a:t>Как инженеру ИУ6 попасть в оставшиеся 10%?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46320"/>
            <a:ext cx="7315200" cy="18288"/>
          </a:xfrm>
          <a:prstGeom prst="rect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  <a:p>
            <a:r>
              <a:rPr sz="1400">
                <a:solidFill>
                  <a:srgbClr val="505050"/>
                </a:solidFill>
              </a:rPr>
              <a:t>Через 3 года </a:t>
            </a:r>
          </a:p>
          <a:p>
            <a:r>
              <a:rPr b="1" sz="1400">
                <a:solidFill>
                  <a:srgbClr val="141E3C"/>
                </a:solidFill>
              </a:rPr>
              <a:t>~80%</a:t>
            </a:r>
          </a:p>
          <a:p>
            <a:r>
              <a:rPr sz="1400">
                <a:solidFill>
                  <a:srgbClr val="505050"/>
                </a:solidFill>
              </a:rPr>
              <a:t> инженерных проектов будут иметь AI-компоненту (Gartner 2025).
В РФ </a:t>
            </a:r>
          </a:p>
          <a:p>
            <a:r>
              <a:rPr b="1" sz="1400">
                <a:solidFill>
                  <a:srgbClr val="C81E1E"/>
                </a:solidFill>
              </a:rPr>
              <a:t>90%</a:t>
            </a:r>
          </a:p>
          <a:p>
            <a:r>
              <a:rPr sz="1400">
                <a:solidFill>
                  <a:srgbClr val="505050"/>
                </a:solidFill>
              </a:rPr>
              <a:t> AI-пилотов откатываются — только </a:t>
            </a:r>
          </a:p>
          <a:p>
            <a:r>
              <a:rPr b="1" sz="1400">
                <a:solidFill>
                  <a:srgbClr val="C81E1E"/>
                </a:solidFill>
              </a:rPr>
              <a:t>5–10%</a:t>
            </a:r>
          </a:p>
          <a:p>
            <a:r>
              <a:rPr sz="1400">
                <a:solidFill>
                  <a:srgbClr val="505050"/>
                </a:solidFill>
              </a:rPr>
              <a:t> доходят до продакшена (АНО ЦЭ 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