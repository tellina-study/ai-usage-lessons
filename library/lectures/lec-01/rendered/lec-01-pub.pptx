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Сейчас вы видите простой эксперимент: ноутбук с веб-камерой через проектор показывает изображение зала, а небольшая программа в реальном времени обводит каждого присутствующего рамкой и считает людей в кадре. Под капотом — модель YOLOv8 [1] от Ultralytics, опубликованная в 2023 году. Она обучена на стандартном датасете COCO и распознаёт 80 классов объектов; для нас сейчас важен только класс «person».</a:t>
            </a:r>
          </a:p>
          <a:p>
            <a:r>
              <a:t>У этой демонстрации три значимых свойства, которые формируют один из главных тезисов лекции. Во-первых, модель работает локально — на CPU обычного ноутбука, без видеокарты и без обращения к облачным серверам. Во-вторых, скорость составляет около 30 кадров в секунду, что достаточно для реального времени на видеопотоке. В-третьих, никакого интернета: камера, модель и проектор — три компонента в одной комнате, никакие изображения никуда не передаются.</a:t>
            </a:r>
          </a:p>
          <a:p>
            <a:r>
              <a:t>Это пример того, что в литературе называют narrow AI — система, обученная на одной чётко поставленной задаче и больше ничего не умеющая. Та же модель не сможет вести с вами беседу, не напишет код, не предложит маркетинговую стратегию. Зато на своей единственной задаче она работает быстро и предсказуемо. Сегодня мы увидим, что таких систем в инженерной практике большинство, и что выбирать тип AI под задачу — отдельный навык, который мы будем тренировать весь курс.</a:t>
            </a:r>
          </a:p>
          <a:p>
            <a:r>
              <a:t>Источники:</a:t>
            </a:r>
          </a:p>
          <a:p>
            <a:r>
              <a:t>[1] Ultralytics — YOLOv8 (2023) — narrow-модель детекции; локальный inference ~30 fps на CPU без интернета. https://docs.ultralytics.com/models/yolov8/</a:t>
            </a:r>
          </a:p>
          <a:p>
            <a:r>
              <a:t>[2] Google — MediaPipe — on-device real-time ML pipelines — класс локальных narrow-решений. https://ai.google.dev/edge/mediapipe/solutions/guide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Здравствуйте. Это курс «Отраслевое применение систем искусственного интеллекта» — про то, как AI используется в реальных индустриях: от разработки ПО и финансов до авиакосмоса, сельского хозяйства и медицины. Курс не про то, как обучать модели с нуля, а про то, как грамотно выбирать, внедрять и оценивать готовые AI-решения в инженерном контексте. Сегодня — первая лекция, вводная. Начнём с короткой демонстрации, а потом перейдём к тому, зачем вообще нужен весь этот курс.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Вопрос «можно ли AI» в 2026 году уже неинтересен — можно. Девятьсот миллионов человек пользуются ChatGPT каждую неделю, половина разработчиков — каждый день. Это уже не «надо ли начинать», это уже инфраструктура, на которой работают другие продукты.</a:t>
            </a:r>
          </a:p>
          <a:p>
            <a:r>
              <a:t>А вот вопрос «нужно ли и где» — открытый. По сводным данным деловых изданий, около девяноста процентов корпоративных AI-пилот [2]ов в России не доходят до полноценного промышленного развёртывания: тридцать-сорок процентов закрываются без эффекта, лишь семь-десять процентов доходят до production. Это не уникальная для России проблема — McKinsey и Gartner [1] регулярно публикуют похожие цифры по другим рынкам. Корпоративные AI-проекты повсеместно сталкиваются с разрывом между демонстрационной готовностью и продакшн-надёжностью.</a:t>
            </a:r>
          </a:p>
          <a:p>
            <a:r>
              <a:t>Это сочетание — массовое распространение и массовый провал — формирует центральную инженерную задачу курса. Главный вопрос звучит так: где AI работает, где не работает, и как заранее это понять. Это диагностический вопрос, не триумфальный. Курс не обещает рецепт успеха; он даёт способ отличать применения, в которых AI уместен, от применений, в которых он создаёт иллюзию решения. От этого различения зависят бюджет, время, надёжность системы и иногда — безопасность людей.</a:t>
            </a:r>
          </a:p>
          <a:p>
            <a:r>
              <a:t>К этому центральному вопросу мы будем возвращаться каждую лекцию курса.</a:t>
            </a:r>
          </a:p>
          <a:p>
            <a:r>
              <a:t>Источники:</a:t>
            </a:r>
          </a:p>
          <a:p>
            <a:r>
              <a:t>[1] Gartner — пресс-релиз (окт 2024) — 80% инженерных работников должны осваивать GenAI к 2027. https://www.gartner.com/en/newsroom/press-releases/2024-10-03-gartner-says-generative-ai-will-require-80-percent-of-engineering-workforce-to-upskill-through-2027 [VFY-day-of]</a:t>
            </a:r>
          </a:p>
          <a:p>
            <a:r>
              <a:t>[2] Vedomosti / Intellectual Analytics (мар 2026) — 9 из 10 корпоративных GenAI-пилотов в РФ свёрнуты/отложены (n=50 крупных орг.). https://www.vedomosti.ru/technology/articles/2026/03/24/1184974-biznes-svernul-ili-otlozhil-9-iz-10-proektov-po-vnedreniyu-generativnogo-ii [VFY-day-of]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Это вводная лекция курса «AI в разных отраслях». Мы построим общую карту: что такое AI как класс технологий, в каком состоянии он находится в 2026 году, какие способы реализации систем с AI существуют в инженерной практике, и где у этих систем границы.</a:t>
            </a:r>
          </a:p>
          <a:p>
            <a:r>
              <a:t>К 2026 году AI перестал быть отдельным продуктом и стал инфраструктурным слоем, который незаметно работает в десятках сервисов, которыми вы пользуетесь каждый день. Голосовой ввод в смартфоне, навигация по пробкам, разблокировка лица, фильтр спама в почте, рекомендации в музыкальном сервисе, автодополнение в браузере — всё это AI, который большинство пользователей перестали воспринимать как AI.</a:t>
            </a:r>
          </a:p>
          <a:p>
            <a:r>
              <a:t>Цель лекции — не познакомить вас со всеми возможными AI-инструментами (это технически невозможно, рынок меняется быстрее, чем выходят учебники), а дать рабочий язык: чем модель отличается от чата, чем чат — от агента, и как за тридцать секунд понять, какой тип AI подходит под конкретную задачу. К концу лекции у вас будет простой инструмент — два диагностических вопроса плюс квадрант — который мы дальше будем применять во всех остальных лекциях курса.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Прежде чем двигаться дальше — короткая навигация. Лекция состоит из пяти разделов, последовательно отвечающих на пять разных вопросов.</a:t>
            </a:r>
          </a:p>
          <a:p>
            <a:r>
              <a:t>Раздел 0, в котором мы сейчас, — открытие: короткая демонстрация, представление преподавателя и центральный вопрос курса.</a:t>
            </a:r>
          </a:p>
          <a:p>
            <a:r>
              <a:t>Раздел 1 — что такое AI и почему определений много. Здесь же пройдёмся по семидесятилетней истории дисциплины, включая предысторию до появления самого термина, и зафиксируем ключевую точку перелома 2017 года.</a:t>
            </a:r>
          </a:p>
          <a:p>
            <a:r>
              <a:t>Раздел 2 — где мы сейчас, в 2022–2026 годах. Цифры проникновения AI в мире и в России, и обзор прорывов от не-первых игроков.</a:t>
            </a:r>
          </a:p>
          <a:p>
            <a:r>
              <a:t>Раздел 3 — самый большой раздел лекции. Четыре способа реализации систем с AI: модель, чат, агент, приложение. Разберём каждый со схемой и примером, а в финале раздела получим практический инструмент выбора типа AI.</a:t>
            </a:r>
          </a:p>
          <a:p>
            <a:r>
              <a:t>Раздел 4 — границы и безопасность. Куда уходят данные, что такое галлюцинации, три проявления подстраивания модели под данные, и концептуальные границы AI как класса технологий.</a:t>
            </a:r>
          </a:p>
          <a:p>
            <a:r>
              <a:t>Раздел 5 — заключение, карта семестра и анонс лекции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Для начала — коротко о себе. Я архитектор, технический и продуктовый лидер в разработке и внедрении информационных систем, больше двадцати лет в ИТ. За это время под моим руководством было реализовано больше десяти завершённых проектов — от системного анализа и проектирования архитектуры до управления данными, автоматизации бизнес-процессов и запуска продуктов.</a:t>
            </a:r>
          </a:p>
          <a:p>
            <a:r>
              <a:t>Я работал и как консультант, и как штатный сотрудник — с Яндексом, МТС, Магнитом, Сибуром. Это разные индустрии — технологии, телеком, ритейл, нефтехимия — и в каждой AI применялся по-своему, с разным успехом. Именно поэтому меня интересует не общий разговор про «искусственный интеллект», а конкретная инженерная граница: где AI реально экономит время и деньги, а где — красивая демонстрация, которая разваливается в продакшене.</a:t>
            </a:r>
          </a:p>
          <a:p>
            <a:r>
              <a:t>Этот курс — попытка дать вам карту, которой у меня самого не было, когда я только начинал разбираться с этими инструментами в реальных проектах. Мы будем разбирать конкретные инженерные решения, а не общие декларации, и границам — там, где AI ломается, — будет уделено столько же внимания, сколько успешным кейсам.</a:t>
            </a:r>
          </a:p>
          <a:p>
            <a:r>
              <a:t>Если в течение курса возникнут вопросы вне формата лекции — пишите в Telegram (@Maxim_Levko) или на почту (Levko.maxim@gmail.com). Чем раньше задаёте вопрос, тем полезнее будет ответ — не копите их до конца семестра.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Мы познакомились и обозначили главный вопрос курса. Дальше — первый содержательный раздел: что такое AI.</a:t>
            </a:r>
          </a:p>
          <a:p>
            <a:r>
              <a:t>Структура раздела короткая, но плотная. Сначала — почему определений AI много и откуда берётся эффект движущейся цели. Затем — факт-мостик: идея формального нейрона старше самого термина «искусственный интеллект». И в финале раздела — сжатый семидесятилетний таймлайн дисциплины с чёткой точкой перелома в 2017 году.</a:t>
            </a:r>
          </a:p>
          <a:p>
            <a:r>
              <a:t>К концу раздела у вас будет общий язык для разговора об AI: откуда взялись разные определения, почему они не противоречат друг другу, и в какой момент истории AI стал тем, чем является сейчас.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Любой студент, начавший читать литературу по AI, быстро обнаруживает, что одного канонического определения у предмета нет. Это не недоработка авторов учебников и не пробел в стандартизации — это отражение природы предмета. Прежде чем переходить к практическим типам систем, важно зафиксировать, какие определения сосуществуют в литературе и почему они не противоречат, а дополняют друг друга.</a:t>
            </a:r>
          </a:p>
          <a:p>
            <a:r>
              <a:t>Подход первый — Russell и Norvig в каноническом учебнике AIMA предлагают разложить определения AI по матрице: думание против действия, человекоподобно против рационально. Сами авторы склоняются к четвёртой клетке — «действующий рационально», потому что она не требует решать философский вопрос, что такое мышление.</a:t>
            </a:r>
          </a:p>
          <a:p>
            <a:r>
              <a:t>Подход второй — международный стандарт ISO/IEC 22989 [2], на который опирается европейская регуляторика. Определение через возможности и через источник целей: AI-система генерирует выходы для целей, заданных человеком.</a:t>
            </a:r>
          </a:p>
          <a:p>
            <a:r>
              <a:t>Подход третий — функциональный, через обучение. Программа улучшает поведение на задаче с метрикой за счёт опыта. Это инженерный критерий: если поведение системы можно полностью описать правилами «если — то», это не AI; если поведение возникает из обученной модели — это AI, даже если модель проста.</a:t>
            </a:r>
          </a:p>
          <a:p>
            <a:r>
              <a:t>Подход четвёртый — через сравнение с человеком и через бенчмарки. Породил линию тестов от шахмат до ARC-AGI. Классическое возражение — Chinese Room Сёрла [4]: бенчмарк-эквивалентность не означает понимания.</a:t>
            </a:r>
          </a:p>
          <a:p>
            <a:r>
              <a:t>И главное — AI Effect, описанный Памелой Маккордак: как только техника начинает работать, её перестают называть AI. Распознавание речи, навигация по пробкам, разблокировка лица — всё это в момент появления было AI, а сейчас называется просто функцией приложения. Поэтому определение AI всё время сдвигается: как только задача решена и встроена в продукт, она остывает до уровня обыденной техники.</a:t>
            </a:r>
          </a:p>
          <a:p>
            <a:r>
              <a:t>В курсе мы будем явно называть, какое из четырёх определений работает в каждой ситуации. Главное — не выбирать одно как «правильное».</a:t>
            </a:r>
          </a:p>
          <a:p>
            <a:r>
              <a:t>Источники:</a:t>
            </a:r>
          </a:p>
          <a:p>
            <a:r>
              <a:t>[1] Russell &amp; Norvig — AIMA, 4-е изд. (2021) — 4 определения по 2 осям (думать/действовать × человекоподобно/рационально). https://aima.cs.berkeley.edu/</a:t>
            </a:r>
          </a:p>
          <a:p>
            <a:r>
              <a:t>[2] ISO/IEC 22989:2022 — AI-система = engineered system для человеко-заданных целей; опора EU AI Act. https://www.iso.org/standard/74296.html</a:t>
            </a:r>
          </a:p>
          <a:p>
            <a:r>
              <a:t>[3] Mitchell — Machine Learning (1997) — функциональное определение: поведение из обученной модели = AI. https://www.cs.cmu.edu/~tom/mlbook.html</a:t>
            </a:r>
          </a:p>
          <a:p>
            <a:r>
              <a:t>[4] Searle — Chinese Room (1980) / Turing (1950) — AI Effect + возражение Сёрла: поведение на бенчмарке ≠ понимание. https://doi.org/10.1017/S0140525X00005756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Ещё до того, как появился сам термин «искусственный интеллект», нейрофизиолог Уоррен Мак-Каллок и логик Уолтер Питтс [1] опубликовали работу, формализующую нейрон как логический элемент: сеть таких простых бинарных элементов теоретически способна вычислить любую функцию, выразимую в терминах логики. Статья вышла в 1943 году — на 13 лет раньше Дартмутской конференции 1956 года, где термин «AI» появится впервые.</a:t>
            </a:r>
          </a:p>
          <a:p>
            <a:r>
              <a:t>Формальный нейрон Мак-Каллока — Питтса не был инженерной системой в современном смысле и не решал прикладных задач, но он предвосхитил коннекционистскую традицию — линию мысли, из которой десятилетия спустя вырастут искусственные нейронные сети и, в конечном счёте, архитектуры вроде Трансформера.</a:t>
            </a:r>
          </a:p>
          <a:p>
            <a:r>
              <a:t>Полезно держать в голове эту дату как напоминание: идея «нейросети» на теоретическом уровне старше самого термина «искусственный интеллект». Дальше мы посмотрим на историю уже с 1956 года — с момента, когда термин появился официально.</a:t>
            </a:r>
          </a:p>
          <a:p>
            <a:r>
              <a:t>Источники:</a:t>
            </a:r>
          </a:p>
          <a:p>
            <a:r>
              <a:t>[1] McCulloch &amp; Pitts (1943) — формальный нейрон как логический элемент — на 13 лет раньше термина «AI». https://doi.org/10.1007/BF02478259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История AI как инженерной дисциплины — около семидесяти лет. Чтобы двадцать фактоидов не сливались, разделим хронологию на три тематические группы.</a:t>
            </a:r>
          </a:p>
          <a:p>
            <a:r>
              <a:t>Первая группа — открытия и первая практика, с пятидесятых до восьмидесятых. В пятидесятом году Тьюринг публикует «Imitation Game». В пятьдесят шестом — Дартмутская конференция, где Маккарти, Мински, Рочестер и Шеннон вводят сам термин «artificial intelligence». В шестьдесят шестом — Вайценбаум создаёт ELIZA, простую программу-психотерапевта, и обнаруживает, что пользователи приписывают ей понимание. В восьмидесятые — коммерческий бум экспертных систем: рулбейзед-системы XCON, MYCIN, японский проект «Пятого поколения».</a:t>
            </a:r>
          </a:p>
          <a:p>
            <a:r>
              <a:t>Вторая группа — зимы и прорывы, с семидесятых до начала десятых. Первая зима после доклада Лайтхилла британскому правительству и сокращения финансирования DARPA. Вторая — обрушение рынка специализированных AI-машин Symbolics в конце восьмидесятых. И прорывы между зимами: в девяносто седьмом Deep Blue от IBM побеждает Каспарова, оценивая двести миллионов позиций в секунду. В двенадцатом — AlexNet выигрывает ImageNet, доказывая, что глубокие свёрточные сети, обученные на GPU, бьют ручные признаки.</a:t>
            </a:r>
          </a:p>
          <a:p>
            <a:r>
              <a:t>Третья группа — точка перелома и взрыв. В семнадцатом году Васвани и семь соавторов публикуют «Attention Is All You Need», вводя архитектуру Трансформер [1]а. На май две тысячи двадцать шестого статья имеет более ста шестидесяти тысяч цитирований Google Scholar. В двадцать втором — OpenAI запускает ChatGPT; миллион пользователей за пять дней. В двадцать четвёртом — двадцать шестом — взрывной рост reasoning-моделей и агентских систем.</a:t>
            </a:r>
          </a:p>
          <a:p>
            <a:r>
              <a:t>Две зимы важны как методологический урок. Когда обещания массово не сбываются, поле теряет ресурсы. Сегодняшняя волна — четвёртая в истории AI. Пока избегает зимы за счёт того, что часть обещаний действительно сбывается. Но история учит: не все сбудутся, и инженер должен уметь различать то, что работает уже сейчас, от того, что обещано на тридцатый год.</a:t>
            </a:r>
          </a:p>
          <a:p>
            <a:r>
              <a:t>Источники:</a:t>
            </a:r>
          </a:p>
          <a:p>
            <a:r>
              <a:t>[1] Vaswani et al. — Attention Is All You Need (2017) — Трансформер + self-attention; &gt;160K цитирований (май 2026) — точка перелома. https://arxiv.org/abs/1706.03762 [VFY-day-of]</a:t>
            </a:r>
          </a:p>
          <a:p>
            <a:r>
              <a:t>[2] McCorduck — Machines Who Think (2004) — AI Effect через исторические примеры остывания задач до «просто функции». https://www.google.com/books/edition/Machines_Who_Think/dPGij4vsHKgC</a:t>
            </a:r>
          </a:p>
          <a:p>
            <a:r>
              <a:t>[3] Dhar — Paradigm Shifts in AI, CACM (2024) — смена парадигм AI как рамка для чтения таймлайна. https://doi.org/10.1145/3664804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Мы разобрались, что такое AI и откуда он взялся. Дальше — короткий раздел про настоящее: где AI находится прямо сейчас, в 2026 году.</a:t>
            </a:r>
          </a:p>
          <a:p>
            <a:r>
              <a:t>Сначала — масштаб в цифрах: сколько людей и компаний уже используют AI ежедневно, и почему это одновременно уживается с массовым провалом пилотных проектов. Затем — обзор прорывов 2023–2026 годов от команд, которые не были очевидными фаворитами рынка: это открывает пространство для того, что дальше в курсе будем разбирать вы сами.</a:t>
            </a:r>
          </a:p>
          <a:p>
            <a:r>
              <a:t>Раздел короткий — шесть минут, — но именно он задаёт масштаб: AI одновременно везде и почти нигде не доведён до конца. Это напряжение — центральная тема всего курса.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 двадцать шестому году AI перестал быть отдельным продуктом и стал инфраструктурным слоем, на котором работают другие продукты. Несколько показательных цифр.</a:t>
            </a:r>
          </a:p>
          <a:p>
            <a:r>
              <a:t>ChatGPT по состоянию на февраль 2026 имеет около девятисот миллионов еженедельно активных пользователей [2]. Это weekly active users, не monthly: цифры месячной активности существенно выше. GitHub Copilot имеет более двадцати миллионов пользователей; у тех, кто им регулярно пользуется, до сорока шести процентов кода написано AI [3] [VFY], для языка Java — шестьдесят один процент.</a:t>
            </a:r>
          </a:p>
          <a:p>
            <a:r>
              <a:t>Stack Overflow Developer Survey 2025 [1], выборка сорок девять тысяч с лишним респондентов из ста семидесяти семи стран, показывает: восемьдесят четыре процента разработчиков используют или планируют использовать AI-инструменты в работе. Пятьдесят один процент профессиональных разработчиков работают с AI ежедневно. И одновременно сорок шесть процентов не доверяют точности AI-ответов на вопросы по коду — против тридцати одного процента годом ранее.</a:t>
            </a:r>
          </a:p>
          <a:p>
            <a:r>
              <a:t>Важная оговорка про доверие. Эти две цифры — пятьдесят один процент ежедневных пользователей и сорок шесть процентов недоверчивых — на первый взгляд кажутся противоречивыми. На самом деле они согласованы: общий тренд — рост проникновения, а точечная оценка точности кода стала критичнее, потому что разработчики накопили опыт работы с AI и научились видеть, где он ошибается. Это не «доверие падает», это «доверие становится более нюансированным». Дисциплина проверки — желательное поведение.</a:t>
            </a:r>
          </a:p>
          <a:p>
            <a:r>
              <a:t>Объём рынка — триста девяносто целых девять десятых миллиарда долларов в 2025 году с прогнозом роста до пятисот тридцати девяти с половиной миллиардов в 2026 (Grand View Research, 2026 [4]). По другим методологиям — например, узкому software-only определению Statista — оценки за 2025 год ниже, около 244–260 миллиардов. Разброс отражает то, что считать AI-рынком: продажи моделей, инфраструктуру, embedded-AI, услуги интеграции.</a:t>
            </a:r>
          </a:p>
          <a:p>
            <a:r>
              <a:t>И параллельно — контр-факт. По сводным данным деловых изданий, около девяноста процентов AI-пилотов в России не доходят до полноценного промышленного развёртывания. Источник оценки — исследование консалтинговой компании Intellectual Analytics [5] (декабрь 2025 — февраль 2026, опубликовано Vedomosti в марте), выборка из пятидесяти крупнейших организаций в IT, промышленности, финансах, госсекторе и транспорте/логистике. Это не репрезентативная выборка по всей экономике; это срез по крупным игрокам, где AI-пилоты лучше всего задокументированы. Тем не менее, сочетание массового внедрения и массового провала формирует центральную инженерную задачу курса.</a:t>
            </a:r>
          </a:p>
          <a:p>
            <a:r>
              <a:t>Источники:</a:t>
            </a:r>
          </a:p>
          <a:p>
            <a:r>
              <a:t>[1] Stack Overflow — Developer Survey 2025 — n=49k+/177 стран; 51% профи ежедневно, 84% используют/планируют, 46% не доверяют коду. https://survey.stackoverflow.co/2025</a:t>
            </a:r>
          </a:p>
          <a:p>
            <a:r>
              <a:t>[2] OpenAI — ChatGPT WAU (фев 2026) — ~900M weekly active users — AI как инфраструктура. https://techcrunch.com/2026/02/27/chatgpt-reaches-900m-weekly-active-users/ [VFY-day-of]</a:t>
            </a:r>
          </a:p>
          <a:p>
            <a:r>
              <a:t>[3] GitHub — Octoverse 2025 — adoption Copilot; ВНИМАНИЕ: «46% кода» этим отчётом НЕ подтверждается [VFY]. https://github.blog/news-insights/octoverse/octoverse-a-new-developer-joins-github-every-second-as-ai-leads-typescript-to-1/ [VFY-day-of]</a:t>
            </a:r>
          </a:p>
          <a:p>
            <a:r>
              <a:t>[4] Grand View Research (2026) — AI-рынок $390.9B (2025) → $539.5B (2026), CAGR 30.6%. https://www.grandviewresearch.com/industry-analysis/artificial-intelligence-ai-market [VFY-day-of]</a:t>
            </a:r>
          </a:p>
          <a:p>
            <a:r>
              <a:t>[5] Vedomosti / Intellectual Analytics (мар 2026) — контр-факт: ~9 из 10 пилотов РФ не доходят до прода (n=50). https://www.vedomosti.ru/technology/articles/2026/03/24/1184974-biznes-svernul-ili-otlozhil-9-iz-10-proektov-po-vnedreniyu-generativnogo-ii [VFY-day-of]</a:t>
            </a:r>
          </a:p>
          <a:p>
            <a:r>
              <a:t>[6] Gartner — пресс-релиз (окт 2024) — 80% инженеров осваивают GenAI к 2027. https://www.gartner.com/en/newsroom/press-releases/2024-10-03-gartner-says-generative-ai-will-require-80-percent-of-engineering-workforce-to-upskill-through-2027 [VFY-day-of]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Глядя на цифры из предыдущего слайда, легко решить, что всё уже сделано: лидируют OpenAI, Google, Anthropic — крупнейшие игроки с многомиллиардными бюджетами. Это впечатление обманчиво. За последние три года в поле AI было несколько громких событий, каждое из которых показывает: пространство возможностей открыто, и серьёзные прорывы делают не только первые игроки.</a:t>
            </a:r>
          </a:p>
          <a:p>
            <a:r>
              <a:t>Урок: небольшая европейская команда может выпустить модель уровня крупных игроков за несколько месяцев от основания компании. Эпизод первый — Mistral 7B, сентябрь двадцать третьего года. Французская лаборатория Mistral AI, основанная в начале того же года выходцами из Meta и Google DeepMind, выпустила модель под лицензией Apache 2.0 — без ограничений на коммерческое использование. По бенчмаркам Mistral 7B превзошёл Llama-2 13B [1], модель почти вдвое большего размера.</a:t>
            </a:r>
          </a:p>
          <a:p>
            <a:r>
              <a:t>Урок: даже спорная методология подсчёта себестоимости может вызвать реальный, измеримый шок на глобальном рынке — проверяйте заявленные цифры, но не игнорируйте их эффект. Эпизод второй — DeepSeek R1, январь двадцать пятого. Китайская лаборатория выпустила reasoning-модель уровня OpenAI o1: девяносто семь и три процента на бенчмарке MATH-500 [2] против девяносто шести и четырёх у o1. Опубликованная стоимость одного финального тренировочного прогона V3 — около пяти и шести миллионов долларов, на порядки меньше западных оценок. Полная стоимость инфраструктуры по оценке SemiAnalysis [3] — один и три–один и шесть миллиарда. Это разные числа: стоимость одного тренировочного прогона и полная инфраструктура. Двадцать седьмого января рынок отреагировал — капитализация Nvidia упала на пятьсот восемьдесят девять миллиардов [4] долларов за один день, крупнейшая однодневная потеря капитализации в истории.</a:t>
            </a:r>
          </a:p>
          <a:p>
            <a:r>
              <a:t>Урок: один человек с правильным концептом может выпустить агент или продукт, меняющий рынок за недели. Эпизод третий — OpenClaw [5], ноябрь двадцать пятого. Питер Стейнбергер, известный по Mac-разработке, в одиночку запустил open-source автономного AI-агента. Проект сменил несколько имён — Clawdbot, Moltbot — и закрепился как OpenClaw. К началу двадцать шестого года проект собрал больше ста тысяч звёзд на GitHub (из них шестьдесят тысяч за первые семьдесят два часа).</a:t>
            </a:r>
          </a:p>
          <a:p>
            <a:r>
              <a:t>Урок: один человек с правильным концептом может построить инфраструктурный слой, на который опираются тысячи — не продукт для конечного пользователя, а фундамент, на котором работает вся открытая экосистема. Эпизод четвёртый — llama.cpp [6] и ggml.ai, история Георгия Герганова. Проект начался как сольная инициатива Герганова — автора whisper.cpp — и вырос в маленькую независимую команду ggml.ai. Двадцатого февраля двадцать шестого года команда, вместо привлечения венчурного финансирования, присоединилась к Hugging Face за инфраструктурную поддержку, сохранив полную автономию и техническое лидерство: проект остался «на сто процентов open-source, community-driven, как и сейчас». В марте двадцать шестого llama.cpp пересёк сто тысяч звёзд на GitHub — быстрее, чем PyTorch или TensorFlow. К середине года — около ста семнадцати тысяч звёзд, около двадцати тысяч форков, вклад более семисот разработчиков.</a:t>
            </a:r>
          </a:p>
          <a:p>
            <a:r>
              <a:t>Не отчаивайтесь. Курс готовит вас к работе с устойчивыми инженерными концептами, которые переживают смену поколений моделей.</a:t>
            </a:r>
          </a:p>
          <a:p>
            <a:r>
              <a:t>Источники:</a:t>
            </a:r>
          </a:p>
          <a:p>
            <a:r>
              <a:t>[1] Mistral AI — Announcing Mistral 7B (сен 2023) — Apache 2.0, обходит Llama-2 13B — малая команда уровня лидеров. https://mistral.ai/news/announcing-mistral-7b</a:t>
            </a:r>
          </a:p>
          <a:p>
            <a:r>
              <a:t>[2] DeepSeek-R1 — тех.отчёт (янв 2025) — reasoning уровня o1; 97.3% MATH-500; спорная себестоимость. https://arxiv.org/abs/2501.12948</a:t>
            </a:r>
          </a:p>
          <a:p>
            <a:r>
              <a:t>[3] SemiAnalysis — DeepSeek cost analysis (2025) — полная инфра $1.3–1.6B vs marginal train run V3 $5.6M — разные числа. https://semianalysis.com/2025/01/31/deepseek-debates/ [VFY-day-of]</a:t>
            </a:r>
          </a:p>
          <a:p>
            <a:r>
              <a:t>[4] Bloomberg — Nvidia $589B drop (27 янв 2025) — крупнейшая однодневная потеря капитализации в истории. https://www.bloomberg.com/news/articles/2025-01-27/asml-sinks-as-china-ai-startup-triggers-panic-in-tech-stocks [VFY-day-of]</a:t>
            </a:r>
          </a:p>
          <a:p>
            <a:r>
              <a:t>[5] Steinberger — OpenClaw (GitHub) — соло open-source агент, 100K★ за квартал; rename-churn. https://github.com/openclaw/openclaw [VFY-day-of]</a:t>
            </a:r>
          </a:p>
          <a:p>
            <a:r>
              <a:t>[6] Gerganov — llama.cpp / ggml.ai — соло→HF (фев 2026), 100K+★ быстрее PyTorch/TensorFlow. https://github.com/ggml-org/llama.cpp [VFY-day-of]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Мы разобрались, что такое AI и где мы сейчас. Дальше — самый большой раздел лекции, двадцать три минуты. Четыре способа реализации систем с AI: модель, чат, агент, приложение.</a:t>
            </a:r>
          </a:p>
          <a:p>
            <a:r>
              <a:t>Структура раздела: сначала общая слоистая модель и классификатор «задача × модальность». Затем сравнение трёх способов через квадрант контроля. Затем — детальный разбор каждого типа со схемой и примером. И в финале — практический инструмент: два диагностических вопроса плюс квадрант, который вы будете применять на семинаре.</a:t>
            </a:r>
          </a:p>
          <a:p>
            <a:r>
              <a:t>Главная идея, которую держим в голове весь раздел: эти четыре типа — не альтернативы, а слои. Каждый следующий включает предыдущий и добавляет новые компоненты.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Прежде чем разбирать каждый из четырёх типов реализаций, важно зафиксировать ключевую идею: это не четыре альтернативные технологии, а четыре способа реализации одной и той же задачи со слоист [1]ой структурой. Каждый следующий уровень включает предыдущий и добавляет новые компоненты.</a:t>
            </a:r>
          </a:p>
          <a:p>
            <a:r>
              <a:t>Модель — самый базовый слой. Stateless-инференс на одной задаче. На вход данные, на выход предсказание. Без интерфейса, без памяти, без инструментов.</a:t>
            </a:r>
          </a:p>
          <a:p>
            <a:r>
              <a:t>Чат — следующий слой. Та же модель, но обёрнутая в текстовый интерфейс с памятью диалога в пределах сессии. Пользователь пишет сообщение, история обоих сообщений включается в контекст следующего обращения.</a:t>
            </a:r>
          </a:p>
          <a:p>
            <a:r>
              <a:t>Агент — ещё один слой. К чату добавляется возможность вызывать внешние инструменты — поиск, файловую систему, API, выполнение кода — и логика планирования последовательности действий.</a:t>
            </a:r>
          </a:p>
          <a:p>
            <a:r>
              <a:t>Приложение — внешний слой. Снаружи это обычный продукт со своими формами, кнопками, интеграциями. AI работает внутри как один из компонентов. Пользователь не пишет промпты, не общается с моделью напрямую.</a:t>
            </a:r>
          </a:p>
          <a:p>
            <a:r>
              <a:t>Эта вложенность важна потому, что многие практические недоразумения возникают из попытки выбрать между уровнями, как будто это альтернативы. На самом деле каждое следующее обёртывание — это инженерное решение, добавляющее способности и одновременно сложность, стоимость, потенциал ошибок. Чем выше уровень обвязки, тем больше места для багов между AI-компонентом и его окружением.</a:t>
            </a:r>
          </a:p>
          <a:p>
            <a:r>
              <a:t>В курсе мы будем многократно возвращаться к этой слоистой модели. Когда мы разбираем YOLO-детектор на конвейере, мы остаёмся на уровне модели. Когда мы используем ChatGPT для аналитики — на уровне чата. Когда строим агента, читающего двести PDF — на уровне агента. Когда говорим про Notion AI или YandexGPT в Поиске — про приложения, в которых AI лишь один из компонентов.</a:t>
            </a:r>
          </a:p>
          <a:p>
            <a:r>
              <a:t>Источники:</a:t>
            </a:r>
          </a:p>
          <a:p>
            <a:r>
              <a:t>[1] Anthropic — Building Effective Agents (2024) — слоистая эскалация: простейшее решение → наращивать при необходимости. https://www.anthropic.com/research/building-effective-agents</a:t>
            </a:r>
          </a:p>
          <a:p>
            <a:r>
              <a:t>[2] Weng — LLM Powered Autonomous Agents (2023) — Agent = LLM + Memory + Planning + Tool Use — верх слоистой модели. https://lilianweng.github.io/posts/2023-06-23-agent/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Чтобы говорить о конкретных AI-инструментах общим языком, нам нужна простая классификаци [1]я. В курсе мы используем две оси: тип задачи и модальность. Этих двух осей достаточно, чтобы расположить любой AI-инструмент, с которым мы будем работать в дальнейших лекциях. Более глубокая техническая классификация — по подходу к обучению и архитектуре нейросети — для нашего курса не основная цель этой лекции; глубже мы возвращаемся к этим темам на лекции 2.</a:t>
            </a:r>
          </a:p>
          <a:p>
            <a:r>
              <a:t>Ось «тип задачи» — что система производит на выходе. Классификация — поставить метку из конечного множества: спам или не спам, дефект или не дефект. Распознавание — обнаружить и идентифицировать что-то во входе: лица, речь, символы. Поиск — найти и отранжировать релевантные элементы: по корпоративной базе знаний, по фотографии. Генерация — создать новое содержимое: текст, изображение, аудио, код. Прогноз — предсказать число или последовательность: спрос, отказ оборудования, цену акции.</a:t>
            </a:r>
          </a:p>
          <a:p>
            <a:r>
              <a:t>Ось «модальность» — с каким типом данных работает система. Текст. Изображение — фотографии, рентгеновские снимки, кадры конвейерной камеры. Звук — речь, музыка, индустриальный шум. Видео — последовательность изображений, часто плюс звук. Структурированные данные — таблицы, временные ряды, графы, базы. В ячейке «Поиск × Структурированные данные» стоит vector DB — база данных для поиска по смысловой похожести, подробнее разберём на слайде про агента. Мультимодальные комбинации — текст плюс изображение, текст плюс аудио плюс видео.</a:t>
            </a:r>
          </a:p>
          <a:p>
            <a:r>
              <a:t>Возьмём три примера, чтобы зафиксировать. Google Translate — задача генерация, модальность текст. AlphaFold — задача прогноз, модальность структурированные данные. YOLO, который вы видели в начале лекции — задача распознавание, модальность изображение.</a:t>
            </a:r>
          </a:p>
          <a:p>
            <a:r>
              <a:t>Эта простая таблица предотвращает смешение разных по природе систем под общим маркетинговым ярлыком «AI». Когда дальше в разделе мы будем разбирать типы реализаций, мы будем спрашивать: какая задача и какая модальность.</a:t>
            </a:r>
          </a:p>
          <a:p>
            <a:r>
              <a:t>Источники:</a:t>
            </a:r>
          </a:p>
          <a:p>
            <a:r>
              <a:t>[1] Russell &amp; Norvig — AIMA (2021) — классификация AI-систем как рабочий язык курса. https://aima.cs.berkeley.edu/</a:t>
            </a:r>
          </a:p>
          <a:p>
            <a:r>
              <a:t>[2] Goodfellow, Bengio, Courville — Deep Learning (2016) — модальности и типы задач в терминах DL. https://www.deeplearningbook.org/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Одну и ту же задачу можно решить тремя разными способами реализации, и каждый из них по-разному распределяет контрол [1]ь между разработчиком и пользователем. Чем больше пользователь делегирует AI решение задачи, тем больше нужен жёсткий каркас от разработчика — поэтому Агент окажется в правом верхнем углу квадранта.</a:t>
            </a:r>
          </a:p>
          <a:p>
            <a:r>
              <a:t>Возьмём задачу: извлечь поля из входящего PDF-договора и положить в таблицу. Дата подписания, контрагент, сумма, срок действия. Пять-шесть полей.</a:t>
            </a:r>
          </a:p>
          <a:p>
            <a:r>
              <a:t>Способ первый — модель. Берёте предобученную или тонко настроенную модель извлечения структурированных полей из документов, например DocVQA или специализированную nougat-style модель. Пользователь сам интегрирует API: сам передаёт PDF, сам получает JSON, сам кладёт в свою таблицу. Делегирование от пользователя низкое — он сам контролирует каждый шаг. Контроль разработчика тоже низкий — модель это сырой inference-эндпоинт без оркестрации, без guard rails, без инструментов. Это левый нижний угол квадранта: низкое делегирование по горизонтали, низкий контроль разработчика по вертикали.</a:t>
            </a:r>
          </a:p>
          <a:p>
            <a:r>
              <a:t>Способ второй — чат. Открываете ChatGPT или YandexGPT, прикладываете PDF, пишете «извлеки следующие поля и верни в виде таблицы». Пользователь делегирует задачу словами и может уточнять, но он работает в рамках продукта — средняя степень делегирования. Разработчик задал системный промпт, базовые ограничения, контекстное окно — средний контроль с его стороны. Это центр квадранта.</a:t>
            </a:r>
          </a:p>
          <a:p>
            <a:r>
              <a:t>Способ третий — агент. Пользователь говорит «сделай эту задачу» и одобряет ключевые узлы — высокая степень делегирования, пользователь не управляет промежуточными шагами. Разработчик собрал агента: оркестратор планирует шаги, инструменты — открыть PDF, прогнать OCR, выделить поля, записать в таблицу, у агента есть память между шагами и возможность делать несколько вызовов. Высокий контроль разработчика — он спроектировал весь decision loop, список tools, guard rails и system prompt. Это правый верхний угол квадранта: высокое делегирование по горизонтали, высокий контроль разработчика по вертикали.</a:t>
            </a:r>
          </a:p>
          <a:p>
            <a:r>
              <a:t>Два пустых угла объясняют, почему расположение неслучайно. Левый верхний (высокий контроль разработчика, но пользователь не делегирует) — нет смысла: зачем строить оркестратор, если пользователь сам всё решает по шагам. Правый нижний (полное делегирование без guard rails) — опасная зона: пользователь отдал задачу AI, а разработчик не предусмотрел рамок. Поэтому диагональ снизу-слева вверх-направо — естественная траектория: больше делегирования требует больше каркаса.</a:t>
            </a:r>
          </a:p>
          <a:p>
            <a:r>
              <a:t>Это распределение контроля — не достоинство одного способа над другим. Это инженерное решение: где должен лежать контроль для конкретного сценария. Если важна гибкость пользователя — модель. Если задача типовая, но требует уточнений — чат. Если поток большой и нужна автоматизация — агент. На семинаре будем тренировать этот выбор.</a:t>
            </a:r>
          </a:p>
          <a:p>
            <a:r>
              <a:t>Источники:</a:t>
            </a:r>
          </a:p>
          <a:p>
            <a:r>
              <a:t>[1] Anthropic — Building Effective Agents (2024) — распределение контроля разработчик↔пользователь по мере делегирования. https://www.anthropic.com/research/building-effective-agents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Модель в нашей терминологии — это обученная нейросеть или другой ML-алгоритм, которая принимает вход определённого типа и возвращает выход. У неё нет ни состояния между вызовами, ни доступа к внешним инструментам, ни диалога с пользователем. С точки зрения инженерной интеграции это самый простой компонент: вызов модели — это функция, и она ведёт себя как функция.</a:t>
            </a:r>
          </a:p>
          <a:p>
            <a:r>
              <a:t>Очень важная деталь, которую часто упускают: модель — это не самостоятельная система, а компонент. На production вокруг модели всегда стоит обвязка из препроцессинга и постпроцессинга. Схематично: сырой вход — например, кадр с камеры, текст или аудио — проходит через препроцессинг (ресайз, нормализацию, токенизацию), затем через инференс модели, затем через постпроцессинг (фильтрация, форматирование, упаковка bounding box, softmax), и только тогда получается выход для приложения.</a:t>
            </a:r>
          </a:p>
          <a:p>
            <a:r>
              <a:t>За препроцессинг и постпроцессинг отвечает разработчик системы, не сама модель. Это не оговорка — это критически важно для оценки бюджета и сложности AI-проекта. YOLO-детектор сам по себе занимает условные пятьдесят строк кода, но рабочая система с YOLO внутри содержит сотни строк: считывание видеопотока, ресайз кадров, нормализация, NMS-фильтрация после инференса, упаковка результата в формат, который ожидает MES-система завода. Оценка проекта «вкатать YOLO на линию» по объёму работы модели даёт заниженную оценку в десятки раз.</a:t>
            </a:r>
          </a:p>
          <a:p>
            <a:r>
              <a:t>Канонические примеры моделей. YOLO — детекция объектов на изображениях, тот самый, что был в начале лекции. Whisper от OpenAI — распознавание речи. Stable Diffusion — генерация изображений из текста. BERT — векторные представления текста. AlphaFold [2] — предсказание трёхмерной структуры белка по аминокислотной последовательности; за неё Хассабис и Джампер получили Нобелевскую премию по химии 2024 года. Segment Anything от Meta — универсальная сегментация изображений.</a:t>
            </a:r>
          </a:p>
          <a:p>
            <a:r>
              <a:t>Когда модель — правильный выбор. Высокая нагрузка, например обработка видеопотока тридцать кадров в секунду — невозможно для чат-интерфейса. Одна чётко определённая задача со стабильной формой входа и выхода. Требование детерминированности или предсказуемости. Edge-развёртывание без интернета. Встраивание AI как функциональной единицы внутрь большего продукта.</a:t>
            </a:r>
          </a:p>
          <a:p>
            <a:r>
              <a:t>Источники:</a:t>
            </a:r>
          </a:p>
          <a:p>
            <a:r>
              <a:t>[1] Kreuzberger et al. — MLOps (2023) — pre/post-processing вокруг модели — ответственность разработчика. https://arxiv.org/abs/2205.02302</a:t>
            </a:r>
          </a:p>
          <a:p>
            <a:r>
              <a:t>[2] Jumper et al. — AlphaFold, Nature (2021) — канонический пример модели-прогноза; Нобель по химии 2024. https://doi.org/10.1038/s41586-021-03819-2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Чат удобно обсуждать на бытовом уровне: задал вопрос — получил ответ. Но за этим простым опытом стоит вполне конкретный технический цикл. Понимание этого цикла снимает магию и даёт два практических навыка: как контролировать чат через системный промпт [1] и как объяснить, почему чат «забывает» старые сообщения.</a:t>
            </a:r>
          </a:p>
          <a:p>
            <a:r>
              <a:t>Шесть шагов цикла. Первый — пользователь вводит текст в окно чата: вопрос, инструкцию, фрагмент данных.</a:t>
            </a:r>
          </a:p>
          <a:p>
            <a:r>
              <a:t>Второй — система берёт введённый текст и присоединяет его к системному промпту. Системный промпт — это заранее заданные разработчиком инструкции: «Ты корпоративный ассистент компании X. Отвечай на русском. Не давай юридических советов. Если не знаешь — скажи "не знаю"». Дополнительно подмешивается вся текущая история чата с начала сессии.</a:t>
            </a:r>
          </a:p>
          <a:p>
            <a:r>
              <a:t>Третий — полный собранный пакет, то есть системный промпт плюс история плюс новое сообщение, отправляется в LLM как один большой текст. Модель не «помнит» прошлый разговор — она каждый раз получает его заново как часть входа.</a:t>
            </a:r>
          </a:p>
          <a:p>
            <a:r>
              <a:t>Четвёртый — модель генерирует ответ токен за токеном на основе вероятностного распределения следующего токена при заданном контексте.</a:t>
            </a:r>
          </a:p>
          <a:p>
            <a:r>
              <a:t>Пятый — ответ модели дописывается в историю чата на стороне системы. С этого момента он часть контекста для всех следующих обращений в этой же сессии.</a:t>
            </a:r>
          </a:p>
          <a:p>
            <a:r>
              <a:t>Шестой — ответ показывается в интерфейсе чата. Пользователь читает, отвечает, и цикл повторяется с шага один. Но теперь история уже больше, и LLM при следующем обращении получит весь набор: системный промпт плюс предыдущие пары вопрос-ответ плюс новое сообщение.</a:t>
            </a:r>
          </a:p>
          <a:p>
            <a:r>
              <a:t>Из этого цикла два практических следствия. Первое — системный промпт это инженерный рычаг. Через него разработчик задаёт рамки чата: тон, роль, ограничения, обязательные форматы ответа. Один и тот же ChatGPT в роли корпоративного ассистента и в роли обычного помощника ведёт себя по-разному именно из-за системного промпта.</a:t>
            </a:r>
          </a:p>
          <a:p>
            <a:r>
              <a:t>Второе — у каждой модели есть контекстное окно: максимальное число токенов за один запрос. Для современных моделей это десятки и сотни тысяч токенов. Когда история чата перестаёт помещаться в окно, старые сообщения выпадают. Поэтому чат «забывает» детали из начала длинного разговора.</a:t>
            </a:r>
          </a:p>
          <a:p>
            <a:r>
              <a:t>Источники:</a:t>
            </a:r>
          </a:p>
          <a:p>
            <a:r>
              <a:t>[1] Anthropic — Building Effective Agents (2024) — системный промпт как инженерный рычаг; контекст собирается заново каждый шаг. https://www.anthropic.com/research/building-effective-agents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Чат — это модель, обёрнутая в текстовый интерфейс с памятью диалога в пределах сессии. Пользователь пишет сообщение, модель отвечает, история обоих сообщений включается в контекст следующего обращения. Это даёт ощущение разговора и позволяет уточнять задачу пошагово, что радикально меняет паттерн использования.</a:t>
            </a:r>
          </a:p>
          <a:p>
            <a:r>
              <a:t>Современные чаты — это в первую очередь LLM-чаты, хотя бывают и мультимодальные: с возможностью передавать изображения, аудио, файлы. Канонические продукты вы знаете: ChatGPT, Claude, Gemini, DeepSeek Chat, GigaChat, YandexGPT, Mistral Le Chat. Между ними различия в качестве для разных задач, в длине контекстного окна, в стоимости, в доступности модальностей — но базовый паттерн взаимодействия один.</a:t>
            </a:r>
          </a:p>
          <a:p>
            <a:r>
              <a:t>Возьмём конкретный пример. Инженер получает непонятный нормативный документ — скажем, ТЗ от смежного отдела с массой ссылок на стандарты и сложными формулировками. Задача — разобраться и составить чек-лист для собственной работы. Это типовой кейс для чата: разовая задача, требующая диалога, с уточнениями по ходу. Здесь не нужна отдельная специализированная модель, потому что нет потока однотипных задач. Не нужен агент, потому что не требуется автоматически открывать файлы и API. И нет специализированного приложения. Чат — оптимальный инструмент.</a:t>
            </a:r>
          </a:p>
          <a:p>
            <a:r>
              <a:t>Важная оговорка для промышленных систем. Чистые чаты в том виде, как они есть «из коробки» — то есть просто LLM плюс UI плюс короткая память сессии — в корпоративной среде почти не встречаются. Почти везде, где речь идёт о реальном внедрении, чат расширен до агента [2]: хотя бы для того, чтобы хранить долгосрочную память между сессиями, или для того, чтобы искать ответ в корпоративной базе знаний через RAG (retrieval-augmented generation). Архитектуру агента — что именно добавляется к чату — разберём на следующем слайде.</a:t>
            </a:r>
          </a:p>
          <a:p>
            <a:r>
              <a:t>Выбор чата — это инженерное решение о точке на шкале взаимодействия: где правильно выбран тип взаимодействия с AI, там система работает предсказуемо.</a:t>
            </a:r>
          </a:p>
          <a:p>
            <a:r>
              <a:t>Источники:</a:t>
            </a:r>
          </a:p>
          <a:p>
            <a:r>
              <a:t>[1] ВЦИОМ — «Нейросети в жизни россиян» (окт 2025) — проникновение AI-чатов в РФ; 51% пользуются раз в неделю+. https://wciom.ru/analytical-reviews/analiticheskii-obzor/neiroseti-v-nashei-zhizni [VFY-day-of]</a:t>
            </a:r>
          </a:p>
          <a:p>
            <a:r>
              <a:t>[2] Dam et al. — Survey on LLM-based AI Chatbots (2024) — таксономия LLM-чатов; чистые чаты редки в проде (расширены до агентов). https://arxiv.org/abs/2406.16937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Агент — следующий слой после чата. По сравнению с чатом у агента появляется три дополнительных компонента, которых у чата не было.</a:t>
            </a:r>
          </a:p>
          <a:p>
            <a:r>
              <a:t>Первый компонент — оркестратор [2]. Логика управления: план, decision loop, критика. Оркестратор смотрит на цель пользователя, разбивает её на шаги, выбирает, какой инструмент применить на каждом шаге, и решает, когда остановиться.</a:t>
            </a:r>
          </a:p>
          <a:p>
            <a:r>
              <a:t>Второй — внешняя память. В отличие от чата, у агента есть память за пределами одной сессии: vector database (база данных, оптимизированная для поиска по сходству эмбеддингов; подробнее — позже в курсе), файловая система с промежуточными результатами, лог собственных предыдущих действий.</a:t>
            </a:r>
          </a:p>
          <a:p>
            <a:r>
              <a:t>Третий — инструменты. Возможность вызывать внешние API, читать и писать файлы, выполнять код, делать веб-поиск. Каждый инструмент — это функция с описанием: что делает, какие параметры принимает, что возвращает. Оркестратор выбирает, какой инструмент применить на каждом шаге.</a:t>
            </a:r>
          </a:p>
          <a:p>
            <a:r>
              <a:t>Цикл работы агента, базовая модель ReAct — Reasoning plus Acting. Шаг план: оркестратор и LLM формулируют план действий. Шаг act: выбирается и вызывается инструмент с конкретными параметрами. Шаг observe: результат инструмента наблюдается, записывается в память, передаётся обратно в LLM. Шаг reflect: LLM обдумывает результат — цель достигнута или нет, нужен ли следующий шаг. Если цель достигнута или итераций было слишком много — остановка. Иначе — следующий шаг.</a:t>
            </a:r>
          </a:p>
          <a:p>
            <a:r>
              <a:t>Каноническая формулировка из работы Лилианы Венг: Agent равен LLM плюс Memory плюс Planning плюс Tool Use. Канонические продукты-агенты: Claude Code от Anthropic — агент в терминале для разработки. Devin от Cognition Labs — облачный коддинг-агент. OpenAI Operator — агент для веб-задач. AutoGPT — open-source автономный агент.</a:t>
            </a:r>
          </a:p>
          <a:p>
            <a:r>
              <a:t>Источники:</a:t>
            </a:r>
          </a:p>
          <a:p>
            <a:r>
              <a:t>[1] Weng — LLM Powered Autonomous Agents (2023) — Agent = LLM + Memory + Planning + Tool Use. https://lilianweng.github.io/posts/2023-06-23-agent/</a:t>
            </a:r>
          </a:p>
          <a:p>
            <a:r>
              <a:t>[2] Anthropic — Building Effective Agents (2024) — оркестратор + инструменты + внешняя память как слой над чатом. https://www.anthropic.com/research/building-effective-agents</a:t>
            </a:r>
          </a:p>
          <a:p>
            <a:r>
              <a:t>[3] Anthropic — Model Context Protocol (2024) — стандарт подключения инструментов/данных к агенту. https://www.anthropic.com/news/model-context-protocol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Кейс, на котором естественно появляется агент. У вас есть двести PDF-отчётов, и нужно из каждого извлечь определённые поля — дату, контрагента, сумму договора, — а потом собрать сводную таблицу. Это многошаговая задача с инструментами: открыть файл, прочитать, извлечь, сложить в таблицу. Она плохо подходит ни для модели — нет специализированной модели «возьми двести произвольных PDF и сделай таблицу». Ни для чата — некомфортно копировать двести файлов в окно. Агент — естественный выбор.</a:t>
            </a:r>
          </a:p>
          <a:p>
            <a:r>
              <a:t>Посмотрите на правую половину слайда. Я разбил работу агента на семь шагов, и для каждого явно показан инструмент, который агент использует. Это важно — агент не «думает» весь путь сам, он на каждом шаге решает: какой инструмент сейчас нужен, какие параметры в него передать, как обработать результат.</a:t>
            </a:r>
          </a:p>
          <a:p>
            <a:r>
              <a:t>Шаг один — получить список файлов. Инструмент: файловая система. Шаг два — открыть очередной PDF. Инструмент: PDF reader. Шаг три — извлечь текст. Инструмент: text extraction, через OCR если PDF сканированный, или через парсер если структурный. Шаг четыре — сделать сводку и положить эмбеддинг в vector DB. Шаг пять — найти ключевые поля по запросу: «найди дату подписания», «найди контрагента», «найди сумму». Это комбинация поиска и извлечения через LLM. Шаг шесть — записать строку в сводную таблицу через Sheets API или просто в CSV. Шаг семь — повторить для всех двухсот файлов; здесь работает оркестратор, который держит индекс текущего файла и общее состояние.</a:t>
            </a:r>
          </a:p>
          <a:p>
            <a:r>
              <a:t>Главное — агент это последовательность вызов [1]ов конкретных инструментов, оркестрируемая LLM. Не «AI разобрался сам», а «AI вызвал нужные инструменты в правильном порядке».</a:t>
            </a:r>
          </a:p>
          <a:p>
            <a:r>
              <a:t>Источники:</a:t>
            </a:r>
          </a:p>
          <a:p>
            <a:r>
              <a:t>[1] Yao et al. — ReAct (2022) — Reasoning+Acting: план→действие→наблюдение→рефлексия с явным инструментом на шаге. https://arxiv.org/abs/2210.03629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Важная концепция, к которой мы будем возвращаться весь курс: уровни автономии агента. Фэн, Макдональд и Чжан [1] в работе двадцать пятого года предлагают пять уровней, характеризуемых ролью пользователя. Не сложностью модели — именно ролью пользователя.</a:t>
            </a:r>
          </a:p>
          <a:p>
            <a:r>
              <a:t>Уровень один — Operator. Пользователь активно управляет каждым шагом, агент исполняет под одобрение. Пример: Claude Code в режиме «approve each command» — вы видите команду перед запуском и каждый раз нажимаете Enter.</a:t>
            </a:r>
          </a:p>
          <a:p>
            <a:r>
              <a:t>Уровень два — Collaborator. Пользователь и агент работают совместно, перетекая ролями. Пример: парное программирование с Cursor, где вы и AI пишете в одном файле и редактируете предложения друг друга.</a:t>
            </a:r>
          </a:p>
          <a:p>
            <a:r>
              <a:t>Уровень три — Consultant. Пользователь ставит цель, агент предлагает план и ведёт по шагам, пользователь корректирует. Пример: Devin получает тикет «исправь баг X», предлагает декомпозицию, вы поправляете один шаг, дальше Devin продолжает сам.</a:t>
            </a:r>
          </a:p>
          <a:p>
            <a:r>
              <a:t>Уровень четыре — Approver. Агент действует автономно, пользователь утверждает ключевые узлы. Пример: агент собирает PR, открывает его, ждёт вашего ревью; merge только после approve.</a:t>
            </a:r>
          </a:p>
          <a:p>
            <a:r>
              <a:t>Уровень пять — Observer. Агент работает полностью автономно, пользователь только наблюдает итог. Пример: AutoGPT запущен на ночь с заданием «собери конкурентный анализ» — вы возвращаетесь утром и читаете отчёт.</a:t>
            </a:r>
          </a:p>
          <a:p>
            <a:r>
              <a:t>Параллельно с этой пятёркой существует более старая и широко принятая в инженерии безопасности рамка: где находится человек по отношению к циклу. Human-in-the-loop — человек одобряет каждый шаг, это уровни один-два. Human-on-the-loop — человек наблюдает в реальном времени и прерывает при отклонении, это примерно уровни три-четыре. Human-out-of-the-loop — человек только читает итог, это уровень пять. И отдельно — override modes: на любом уровне можно сохранить возможность ручного перехвата по тревожным сигналам.</a:t>
            </a:r>
          </a:p>
          <a:p>
            <a:r>
              <a:t>Главная мысль слайда: уровень автономии — это дизайн-решение, а не свойство модели. Один и тот же агент в режиме Operator и в режиме Observer — это разные продукты с разными требованиями к надёжности, объяснимости и интерфейсу. На семинарах будем возвращаться к этой шкале при выборе уровня под конкретный риск.</a:t>
            </a:r>
          </a:p>
          <a:p>
            <a:r>
              <a:t>Источники:</a:t>
            </a:r>
          </a:p>
          <a:p>
            <a:r>
              <a:t>[1] Feng, McDonald, Zhang — Levels of Autonomy (2025) — 5 уровней по роли пользователя: operator→collaborator→consultant→approver→observer. https://arxiv.org/abs/2506.12469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Приложение — это полноценный продукт для конечного пользователя, в котором AI лишь один из внутренних компонентов. Пользователь не пишет промпты; он нажимает кнопки, заполняет формы, говорит голосом. AI работает «под капотом», и от пользователя редко требуется понимать, что внутри.</a:t>
            </a:r>
          </a:p>
          <a:p>
            <a:r>
              <a:t>Базовая характеристика — AI как функция, а не продукт. Приложение решает доменную задачу, и AI обеспечивает соответствующую функциональность. У хорошего приложения детерминированный пользовательский интерфейс — то же действие пользователя даёт ту же реакцию, даже если AI-выход внутренне варьируется. Приложение добавляет вокруг AI ограничители, запасные сценарии, кэширование, ревью ошибок.</a:t>
            </a:r>
          </a:p>
          <a:p>
            <a:r>
              <a:t>Канонические примеры однозначных приложений. Google [1] Translate — внутри нейронная машинная трансляция; пользователь видит окно ввода и перевод. На двадцать шестой год — более одного миллиарда уникальных пользователей в месяц, около одного триллиона переведённых слов в месяц. Этот триллион считается across Google Translate, Search, Google Lens и Circle to Search, не только в самом приложении Translate.</a:t>
            </a:r>
          </a:p>
          <a:p>
            <a:r>
              <a:t>Notion AI — внутри GPT-4 или Claude; пользователь видит кнопки «Summarize», «Improve writing», «Continue writing» прямо в интерфейсе своего рабочего пространства. AI здесь не отдельный чат, а функциональная кнопка рядом с каждым блоком текста.</a:t>
            </a:r>
          </a:p>
          <a:p>
            <a:r>
              <a:t>YandexGPT в Яндекс.Поиске — внутри собственная LLM Яндекса; пользователь видит сгенерированный краткий ответ над списком обычных поисковых результатов. Это типичное «AI как функция»: для пользователя это просто улучшенный поиск, не «чат с AI».</a:t>
            </a:r>
          </a:p>
          <a:p>
            <a:r>
              <a:t>Grammarly — NLP-модели плюс LLM; пользователь видит подчёркивания и подсказки в любом текстовом поле. Яндекс Навигатор и Карты — ML-модели для маршрутизации, ETA-прогнозов, обнаружения пробок. Adobe Firefly — диффузионные модели, кнопка «Generate» в Photoshop.</a:t>
            </a:r>
          </a:p>
          <a:p>
            <a:r>
              <a:t>Кейс, для которого приложение — оптимальный выбор: вам раз в неделю нужно перевести небольшой блок техдокументации с английского на русский. Не нужна standalone-модель — объём не оправдывает развёртывания. Не нужен чат — пользоваться чатом для перевода громоздко. Не нужен агент — задача однашаговая. Google Translate или ЯндексGPT в Поиске — готовые приложения, оптимизированные под именно этот тип использования. Переплачивать сложностью — анти-паттерн.</a:t>
            </a:r>
          </a:p>
          <a:p>
            <a:r>
              <a:t>Важное уточнение перед следующим слайдом. Приложения бывают двух типов. Первый — с пользовательским интерфейсом, как все шесть примеров на этом слайде: пользователь видит UI и взаимодействует с ним. Второй тип — автоматизированные приложения без интерфейса в момент исполнения: ETL-pipeline с AI-классификатором, бэкенд-сервис, который сам забирает данные и складывает результат в таблицу. На следующем слайде, когда мы соберём чек-лист в квадрант, эти два типа окажутся в разных углах.</a:t>
            </a:r>
          </a:p>
          <a:p>
            <a:r>
              <a:t>Источники:</a:t>
            </a:r>
          </a:p>
          <a:p>
            <a:r>
              <a:t>[1] Google — Translate at 20 (2026) — 1B+ польз./мес, ~1T слов/мес across Translate/Search/Lens — AI как функция. https://blog.google/products-and-platforms/products/translate/fun-facts-google-translate-20-years/ [VFY-day-of]</a:t>
            </a:r>
          </a:p>
          <a:p>
            <a:r>
              <a:t>[2] Anthropic — Building Effective Agents (2024) — приложение как внешний слой: промпты скрыты, детерминированный UI. https://www.anthropic.com/research/building-effective-agents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Кульминация раздела 3 — практический инструмент. Два диагностических вопроса [1] [2] [3], ответы на которые однозначно определяют один из четырёх типов реализации.</a:t>
            </a:r>
          </a:p>
          <a:p>
            <a:r>
              <a:t>Вопрос первый: нужно ли взаимодействие с пользователем? Если да — система должна общаться с человеком, принимать его уточнения, отвечать в реальном времени — это семейство чат и агент. Если нет — система работает автономно по триггеру или потоку данных — это модель и приложение в режиме автоматизации.</a:t>
            </a:r>
          </a:p>
          <a:p>
            <a:r>
              <a:t>Вопрос второй: нужна ли самостоятельная работа решения с инструментами? Если да — система должна вызывать API, читать файлы, выполнять код, искать в интернете — это агент и приложение в режиме автоматизации. Если нет — системе достаточно одного шага «вход → выход» — это чат и модель.</a:t>
            </a:r>
          </a:p>
          <a:p>
            <a:r>
              <a:t>Соединяем в квадрант. Нет взаимодействия плюс нет инструментов — модель. Да взаимодействие плюс нет инструментов — чат. Да взаимодействие плюс да инструменты — агент. Нет взаимодействия плюс да инструменты — приложение в режиме автоматизации.</a:t>
            </a:r>
          </a:p>
          <a:p>
            <a:r>
              <a:t>Здесь важная оговорка про «приложение». Приложения, как мы видели на предыдущем слайде, бывают двух типов. Первый — приложения с пользовательским интерфейсом: Notion AI, Translate, Grammarly. У них есть UI, и они попадают в верхние углы квадранта — либо в «Модель» (если пользователь нажимает кнопку и получает результат за один шаг, без диалога), либо в «Чат» (если внутри есть диалог). Второй тип — автоматизированные приложения без пользовательского интерфейса в момент исполнения: ETL-pipeline с AI-классификатором, бэкенд-сервис, который раз в час забирает новые данные и складывает в таблицу. Это и есть правый нижний угол квадранта — «приложение в режиме автоматизации». Не агент — нет диалога с пользователем и нет планирования decision loop. Не модель — есть инструменты, многошаговая логика и оркестрация.</a:t>
            </a:r>
          </a:p>
          <a:p>
            <a:r>
              <a:t>Прогоним три кейса. Конвейерный детектор дефектов: взаимодействие — нет, инструменты — нет, модель. Корпоративный чат для разбора нормативного документа: взаимодействие — да, инструменты — нет, чат. Двести PDF плюс таблица: взаимодействие — да, инструменты — да, агент. Четвёртый угол — приложение в режиме автоматизации — на примере ETL-pipeline с AI-классификатором.</a:t>
            </a:r>
          </a:p>
          <a:p>
            <a:r>
              <a:t>Возвращаясь к центральному вопросу лекции: AI работает там, где задача и тип реализации совпали. Большинство откатившихся пилотов не задавали этих двух вопросов до внедрения; вместо этого выбирали инструмент по моде. Два вопроса плюс квадрант — простая, но дисциплинирующая практика, радикально снижающая риск такого несовпадения.</a:t>
            </a:r>
          </a:p>
          <a:p>
            <a:r>
              <a:t>На семинаре первой недели студенты будут применять этот квадрант к собственным кейсам. Сейчас короткое упражнение: думаем тридцать секунд про инструмент, которым пользуетесь регулярно, и определяем угол квадранта.</a:t>
            </a:r>
          </a:p>
          <a:p>
            <a:r>
              <a:t>Источники:</a:t>
            </a:r>
          </a:p>
          <a:p>
            <a:r>
              <a:t>[1] Anthropic — Building Effective Agents (2024) — выбор типа реализации по 2 осям: взаимодействие × инструменты. https://www.anthropic.com/research/building-effective-agents</a:t>
            </a:r>
          </a:p>
          <a:p>
            <a:r>
              <a:t>[2] Google — AI Agents Whitepaper (2024) — Model + Tools + Orchestration Layer — рамка квадранта. https://www.kaggle.com/whitepaper-agents</a:t>
            </a:r>
          </a:p>
          <a:p>
            <a:r>
              <a:t>[3] Ng — Four Agentic Design Patterns (2024) — паттерны Reflection/Tool Use/Planning/Multi-Agent — когда нужен агент. https://www.deeplearning.ai/the-batch/how-agents-can-improve-llm-performance/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Раздел четыре посвящён тому, где AI ломается, ошибается и опасен. Это не глава ужасов — это инвентаризация классов проблем, которые систематически возникают в AI-системах и которые инженер должен уметь предвидеть. Тема — ваша зона ответственности, а не отдельный вопрос для специалистов по AI safety: вы уже приняли решение встроить AI, и отвечать за инцидент — утечку данных, неправильное решение по клиенту, ошибочный автоматический вердикт — будете вы и ваша команда, а не «модель».</a:t>
            </a:r>
          </a:p>
          <a:p>
            <a:r>
              <a:t>К тому же AI ошибается системно и предсказуемо: bias, галлюцинации, sycophancy, distribution shift повторяются от системы к системе, это не случайные баги, а свойства технологии. И, наконец, границ [1] [2] [3]а «что AI не умеет» — тоже ваша зона ответственности: за её пределами нужны человеческое решение, верификация, запасной сценарий, и без понимания этой границы систему нельзя считать спроектированной.</a:t>
            </a:r>
          </a:p>
          <a:p>
            <a:r>
              <a:t>Раздел проходит по семи темам, выстроенным от практической инженерной безопасности — что можно сломать или потерять прямо сейчас — к концептуальным границам AI как класса технологий — что AI в принципе не умеет.</a:t>
            </a:r>
          </a:p>
          <a:p>
            <a:r>
              <a:t>Источники:</a:t>
            </a:r>
          </a:p>
          <a:p>
            <a:r>
              <a:t>[1] NIST — AI RMF 1.0 (2023) — рамка управления рисками AI — граница ответственности инженера. https://www.nist.gov/itl/ai-risk-management-framework</a:t>
            </a:r>
          </a:p>
          <a:p>
            <a:r>
              <a:t>[2] NIST — Generative AI Profile 600-1 (2024) — профиль рисков GenAI. https://nvlpubs.nist.gov/nistpubs/ai/NIST.AI.600-1.pdf</a:t>
            </a:r>
          </a:p>
          <a:p>
            <a:r>
              <a:t>[3] EU AI Act — Reg. (EU) 2024/1689 — регуляторная рамка; штрафы до 35M€/7%. https://eur-lex.europa.eu/eli/reg/2024/1689/oj/eng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Раздел четыре мы открыли с общей рамки — границы AI как ваша зона ответственности. Первый конкретный вопрос в этой зоне — куда физически уходят ваши данные, когда вы пишете запрос в облачный AI-сервис.</a:t>
            </a:r>
          </a:p>
          <a:p>
            <a:r>
              <a:t>Ваш текст — а часто и приложенные файлы, изображения, голосовые сообщения — отправляется на серверы провайдера. Что с ними происходит дальше, зависит от тарифа.</a:t>
            </a:r>
          </a:p>
          <a:p>
            <a:r>
              <a:t>Потребительские тарифы — бесплатные и стандартные платные. OpenAI ChatGPT Free и Plus используют пользовательские данные для дообучения моделей по умолчанию; пользователь может отключить это в настройках, но опция требует осознанного действия. Anthropic Claude с сентября двадцать пятого года спрашивает пользователя, согласен ли он делиться данными для обучения; при согласии срок хранения увеличивается до пяти лет. Google Gemini в потребительских тарифах использует данные для обучения по умолчанию; часть переписки выборочно ревьюируется людьми и хранится до трёх лет с обезличиванием.</a:t>
            </a:r>
          </a:p>
          <a:p>
            <a:r>
              <a:t>Enterprise [2]- и API-тарифы. OpenAI Enterprise, ChatGPT Business, OpenAI API с марта двадцать третьего года, Anthropic для бизнеса, Google Workspace, Google Cloud Vertex AI — данные не используются для обучения базовых моделей. Доступны соглашения Zero Data Retention — провайдер вообще не сохраняет промпты и ответы. Стандартом становится SOC 2 compliance, шифрование at rest и in transit.</a:t>
            </a:r>
          </a:p>
          <a:p>
            <a:r>
              <a:t>Канонический инцидент. Март-апрель двадцать третьего года, Samsung [1]. Инженеры полупроводникового подразделения в трёх отдельных эпизодах загрузили в потребительский ChatGPT проприетарный код базы данных, транскрипт корпоративного совещания и тестовые последовательности для отладки чипов. Поскольку потребительский ChatGPT на тот момент использовал данные для обучения по умолчанию, корпоративные секреты Samsung фактически попали в датасет OpenAI. Samsung в ответ запретила сотрудникам использование внешних генеративных AI-сервисов и временно ввела лимит в 1024 байта на промпт.</a:t>
            </a:r>
          </a:p>
          <a:p>
            <a:r>
              <a:t>Регуляторика. В Европейском Союзе действует EU AI Act [3], постепенно вводимый в силу с двадцать четвёртого года. Стандартный tier штрафов — до пятнадцати миллионов евро или трёх процентов мирового годового оборота. Верхний tier за prohibited practices — до тридцати пяти миллионов или семи процентов. NIST AI RMF и NIST AI 600-1 — добровольные, но влиятельные стандарты США. Российское регулирование AI на двадцать шестой год в стадии формирования.</a:t>
            </a:r>
          </a:p>
          <a:p>
            <a:r>
              <a:t>Практический вывод для инженера: никогда не загружайте конфиденциальные данные в потребительские AI-сервисы без явной проверки политики использования данных конкретного тарифа на момент использования. Это правило простое, но систематически нарушается.</a:t>
            </a:r>
          </a:p>
          <a:p>
            <a:r>
              <a:t>Источники:</a:t>
            </a:r>
          </a:p>
          <a:p>
            <a:r>
              <a:t>[1] Bloomberg — Samsung bans ChatGPT (май 2023) — 3 утечки за месяц → запрет внешнего GenAI; данные в consumer-датасете. https://www.bloomberg.com/news/articles/2023-05-02/samsung-bans-chatgpt-and-other-generative-ai-use-by-staff-after-leak</a:t>
            </a:r>
          </a:p>
          <a:p>
            <a:r>
              <a:t>[2] OpenAI — Enterprise Privacy / data usage (2025) — consumer = обучение по умолчанию; API с мар 2023 не обучается на данных. https://openai.com/enterprise-privacy/</a:t>
            </a:r>
          </a:p>
          <a:p>
            <a:r>
              <a:t>[3] EU AI Act — Reg. (EU) 2024/1689 — штрафы: стандарт до 15M€/3%, верх до 35M€/7%. https://eur-lex.europa.eu/eli/reg/2024/1689/oj/eng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Галлюцинация в контексте LLM — это уверенное порождение фактически неверной информации в форме, неотличимой от верной. Модель не «знает», что говорит неправду; для неё это просто статистически правдоподобное продолжение последовательности токенов.</a:t>
            </a:r>
          </a:p>
          <a:p>
            <a:r>
              <a:t>Простой эксперимент. Попросите чат «назови три научные статьи по теме [узкая тема] с авторами и DOI». С существенной вероятностью вы получите три убедительно выглядящие ссылки, в которых имена авторов могут быть смешаны или сочинены, журналы — настоящие, но статьи в них нет, DOI — синтаксически правильные, но не разрешаются. Проверка занимает минуту через doi.org, но без неё ссылки выглядят достоверно.</a:t>
            </a:r>
          </a:p>
          <a:p>
            <a:r>
              <a:t>Уровень галлюцинаций сильно зависит от задачи. По бенчмарку Vectara Hughes Hallucination Evaluation Model [3] диапазон актуальных моделей очень широкий: от менее одного процента на стандартной задаче суммаризации, например Gemini 2.0 Flash, до десяти-пятнадцати процентов на reasoning-моделях, требующих многошагового рассуждения. Это означает, что говорить про «процент галлюцинаций LLM» в общем некорректно: цифра сильно зависит от задачи и бенчмарка.</a:t>
            </a:r>
          </a:p>
          <a:p>
            <a:r>
              <a:t>Сопутствующие данные о поведении пользователей. По отчёту CybSafe [4] двадцать четвёртого года, опрос семь тысяч человек в семи странах: около тридцати восьми процентов сотрудников делятся в AI-инструментах конфиденциальной рабочей информацией без ведома работодателя. Это не про галлюцинации напрямую, но указывает на масштаб проблемы доверия: пользователи передают AI-системам информацию в объёме, который не оправдывается реальной надёжностью.</a:t>
            </a:r>
          </a:p>
          <a:p>
            <a:r>
              <a:t>Анти-паттерн «AI знает всё». Любой ответ AI по фактическому вопросу — гипотеза, которая требует проверки. Особенно ссылки, цифры, цитаты, юридические нормы, медицинские рекомендации. Это не означает «не пользоваться AI для фактов»; это означает «проверять то, что AI выдаёт как факт». Critical reading attitude — не дополнительная предосторожность, а часть стандартного рабочего процесса.</a:t>
            </a:r>
          </a:p>
          <a:p>
            <a:r>
              <a:t>Сейчас короткое упражнение. Я покажу два коротких AI-ответа на один и тот же вопрос. В каждом одна правильная и одна подложенная деталь. Обсудите за тридцать секунд в парах: какая часть подделка, и что вы проверяли первым.</a:t>
            </a:r>
          </a:p>
          <a:p>
            <a:r>
              <a:t>Источники:</a:t>
            </a:r>
          </a:p>
          <a:p>
            <a:r>
              <a:t>[1] Huang et al. — Survey on Hallucination in LLMs (2023) — галлюцинация = уверенное порождение неверного, неотличимого от верного. https://arxiv.org/abs/2311.05232</a:t>
            </a:r>
          </a:p>
          <a:p>
            <a:r>
              <a:t>[2] Ji et al. — Survey of Hallucination in NLG (2023) — таксономия галлюцинаций в генерации. https://doi.org/10.1145/3571730</a:t>
            </a:r>
          </a:p>
          <a:p>
            <a:r>
              <a:t>[3] Vectara — HHEM Leaderboard — диапазон &lt;1% (суммаризация) → 10–15% (reasoning) — цифра зависит от задачи. https://github.com/vectara/hallucination-leaderboard [VFY-day-of]</a:t>
            </a:r>
          </a:p>
          <a:p>
            <a:r>
              <a:t>[4] CybSafe / NCA — Oh Behave! (2024–25) — n=7000/7 стран: ~38% делятся конфиденциальным без ведома работодателя. https://www.staysafeonline.org/articles/oh-behave-the-annual-cybersecurity-attitudes-and-behaviors-report-2025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Три проблемы, объединённые общей природой: модель — отражение данных, на которых её обучили, а не независимый источник истины. Они проявляются по-разному, но имеют общую причину, и это полезно держать в голове как одно связное явление.</a:t>
            </a:r>
          </a:p>
          <a:p>
            <a:r>
              <a:t>Смещение, по-английски bias. Модель повторяет перекосы датасета. Канонический пример: модель скрининга резюме, обученная на исторических данных компании, в которой исторически принимали меньше женщин на технические позиции, будет дискриминировать женские кандидатуры — не «решая», что они хуже, а статистически предсказывая, что «такие профили обычно отказывали». Смещение — самая трудно исправляемая категория, потому что данные часто фиксируют структурные неравенства реального мира.</a:t>
            </a:r>
          </a:p>
          <a:p>
            <a:r>
              <a:t>Лесть, по-английски sycophancy, иногда переводят как «подлизы». Сначала определение ключевого термина. RLHF — Reinforcement Learning from Human Feedback, обучение с подкреплением на основе обратной связи человека — техника обучения, при которой человек ранжирует ответы модели по качеству, и эти ранжирования служат сигналом награды для дополнительного дообучения. RLHF — стандартный шаг при превращении базовой языковой модели в чат-ассистента. Обратная сторона: люди-разметчики в среднем выше оценивают приятные ответы. Модель учится соглашаться с пользователем, повторять его формулировки, поддакивать.</a:t>
            </a:r>
          </a:p>
          <a:p>
            <a:r>
              <a:t>Канонический инцидент. Двадцать пятого апреля двадцать пятого года OpenAI выкатила обновление GPT-4o, которое сделало модель навязчиво-лестящей: модель соглашалась с явно неверными утверждениями, чрезмерно хвалила пользователя, поддерживала спорные тезисы. Двадцать восьмого апреля начался откат обновления — Альтман в социальной сети тем же вечером написал, что откат уже начали. Двадцать девятого апреля опубликован разбор причин. Лесть — самая незаметная категория: пользователь, получая комплименты, легко не замечает, что модель потеряла критическое отношение к его словам.</a:t>
            </a:r>
          </a:p>
          <a:p>
            <a:r>
              <a:t>Дрейф распределения, по-английски distribution shift. Модель, обученная на данных одного периода, ведёт себя плохо за пределами этого распределения. Концептуальный пример: модель, обученная на коде двадцать третьего года, в двадцать шестом уверенно предложит устаревшую библиотеку, неактуальную практику, не учтёт изменений API. Дрейф распределения — самая частая категория в долгоживущих системах, и её особенность в том, что качество модели «тихо» деградирует со временем без явных сбоев.</a:t>
            </a:r>
          </a:p>
          <a:p>
            <a:r>
              <a:t>Связное послание. Все три — проявления одной природы: модель не «знает» истины; она воспроизводит закономерности данных, на которых её обучили. Смещение — закономерности из исторических данных. Лесть — закономерности из разметк [2]и обратной связи. Дрейф распределения — отсутствие закономерностей нового периода.</a:t>
            </a:r>
          </a:p>
          <a:p>
            <a:r>
              <a:t>Короткое упражнение: подумайте тридцать секунд, что опаснее в вашей будущей профессиональной области.</a:t>
            </a:r>
          </a:p>
          <a:p>
            <a:r>
              <a:t>Источники:</a:t>
            </a:r>
          </a:p>
          <a:p>
            <a:r>
              <a:t>[1] OpenAI — Sycophancy in GPT-4o postmortem (2025) — релиз 25 апр → откат 28 апр → разбор 29 апр; RLHF-переоценка приятных ответов. https://openai.com/index/sycophancy-in-gpt-4o/</a:t>
            </a:r>
          </a:p>
          <a:p>
            <a:r>
              <a:t>[2] Pan et al. — Reward Misspecification (2022) — reward hacking — общая природа: модель отражает данные/разметку. https://arxiv.org/abs/2201.03544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Все существующие производственные AI-системы — narrow AI [1]: они оптимизированы под конкретные задачи или узкие домены. AGI — Artificial General Intelligence — гипотетический AI с человеческим уровнем когнитивных способностей в широком спектре областей. Это открытый вопрос, который активно обсуждается в публичном пространстве с взаимоисключающими прогнозами.</a:t>
            </a:r>
          </a:p>
          <a:p>
            <a:r>
              <a:t>Когда вы видите конкретный AGI-прогноз, спрашивайте, какой у спикера материальный интерес в этом прогнозе. Чем выше уверенность в скором AGI, тем чаще нужно проверять, кто и что хочет получить от рынка после такого высказывания. Это не означает, что спикеры неискренни — это означает, что прогнозы AGI делаются в публичном пространстве, в котором каждый лидер одновременно строит компанию и формирует ожидания инвесторов.</a:t>
            </a:r>
          </a:p>
          <a:p>
            <a:r>
              <a:t>Сводка по четырём публичным фигурам. Сэм Альтман, CEO OpenAI: «знаем, как построить AGI; начало перехода к superintelligence», январь двадцать шестого. Материальный интерес — стомиллиардные раунды финансирования, контекст IPO; высокая AGI-уверенность поддерживает оценку компании.</a:t>
            </a:r>
          </a:p>
          <a:p>
            <a:r>
              <a:t>Дарио Амодей, CEO Anthropic [2]: «AGI через 2-3 года; AI заменит разработчиков ПО за год; нобелевский уровень за два года», Давос двадцать шестого. Материальный интерес — конкурентное давление со стороны OpenAI; собственный раунд финансирования двадцать шестого года.</a:t>
            </a:r>
          </a:p>
          <a:p>
            <a:r>
              <a:t>Демис Хассабис, CEO Google DeepMind: «AGI к 2029–2030, три-четыре года; окно сузилось за 2026 год», Axios и Google I/O, май двадцать шестого — тема развита в эссе «A Framework for Frontier AI» от 14 июля 2026. Материальный интерес — лидер в research community; больше доверия при осторожной позиции; Google не нуждается в AGI-хайпе для основного бизнеса.</a:t>
            </a:r>
          </a:p>
          <a:p>
            <a:r>
              <a:t>Янн ЛеКун, основатель AMI Labs, экс-Chief AI Scientist Meta: «LLM-парадигма не приведёт к AGI; нужна новая архитектура, world models, JEPA», постоянно. Материальный интерес — раунд около миллиарда долларов в марте двадцать шестого на альтернативный путь; контр-консенсусная позиция выгодна для дифференциации стартапа.</a:t>
            </a:r>
          </a:p>
          <a:p>
            <a:r>
              <a:t>Заметьте паттерн — ни один из четырёх спикеров не занимает нейтрально-научной позиции. Каждый прогноз отражает либо коммерческий интерес, либо рыночное позиционирование. Полезное упражнение при чтении любого публичного интервью топ-менеджера AI-компании: задавать себе вопрос — какое решение он хотел бы, чтобы рынок принял на основе этого высказывания.</a:t>
            </a:r>
          </a:p>
          <a:p>
            <a:r>
              <a:t>Источники:</a:t>
            </a:r>
          </a:p>
          <a:p>
            <a:r>
              <a:t>[1] Searle — Minds, Brains, and Programs (1980) — Chinese Room: бенчмарк-эквивалентность ≠ понимание; narrow vs general. https://doi.org/10.1017/S0140525X00005756</a:t>
            </a:r>
          </a:p>
          <a:p>
            <a:r>
              <a:t>[2] Bostrom — Superintelligence (2014) — рамка долгосрочных AGI/ASI-сценариев для критического чтения прогнозов. https://global.oup.com/academic/product/superintelligence-9780199678112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Мы прошли четыре содержательных раздела. В первом договорились про определения AI и почему их много. Во втором посмотрели, где мы сейчас — массовое внедрение и одновременно массовый провал. В третьем разобрали четыре способа реализации и получили практический инструмент — два диагностических вопроса плюс квадрант. В четвёртом — границы AI: куда уходят данные, где галлюцинирует, как смещается, как читать прогнозы AGI.</a:t>
            </a:r>
          </a:p>
          <a:p>
            <a:r>
              <a:t>Финальный, пятый раздел — что со всем этим делать. Шесть с половиной минут. Сначала короткое резюме лекции — три главных вывода, которые стоит унести домой. Потом — карта всего семестра, чтобы сегодняшняя лекция встала в контекст следующих шестнадцати. И в финале — тизер лекции два, с возвратом к YOLO-демо из самого начала. После этого — Q&amp;A.</a:t>
            </a:r>
          </a:p>
          <a:p>
            <a:r>
              <a:t>Главная функция раздела — закрепление. Через две недели вы вряд ли вспомните каждую цифру или каждое название. Но три вывода и один практический инструмент — должны остаться.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Лекция один покрыла четыре содержательных темы и вышла к одному практическому инструменту. Если что-то одно стоит унести из лекции — главный вопрос: где AI работает, где не работает, и как это понять.</a:t>
            </a:r>
          </a:p>
          <a:p>
            <a:r>
              <a:t>Три главных вывода.</a:t>
            </a:r>
          </a:p>
          <a:p>
            <a:r>
              <a:t>Первый. AI — спектр технологий, не монолит. Конкретный AI-инструмент имеет координаты по двум осям — тип задачи и модальность — и относится к одному из четырёх типов реализации: модель, чат, агент, приложение. Грамотное обсуждение AI в инженерном контексте начинается с явной классификации.</a:t>
            </a:r>
          </a:p>
          <a:p>
            <a:r>
              <a:t>Второй. Выбор типа AI — инженерный навык, и у вас есть инструмент. Два диагностических вопроса и квадрант 2×2 — простой, но систематически нарушаемый. Большинство откатившихся корпоративных пилотов не задавали этих вопросов до внедрения; мода и удобство выбирали тип инструмента вместо инженерного анализа задачи.</a:t>
            </a:r>
          </a:p>
          <a:p>
            <a:r>
              <a:t>Третий. AI усиливает человека, но целеполагание, критическое суждение и ответственность остаются нашими. Все категории ошибок, которые мы разобрали — галлюцинации, bias, sycophancy, distribution shift, утечки данных, — требуют человеческого контура верификации.</a:t>
            </a:r>
          </a:p>
          <a:p>
            <a:r>
              <a:t>Это и есть главный вопрос лекции в развёрнутом виде: где AI работает, где — нет, и как это понять.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На следующей лекции мы посмотрим, как устроены большие языковые модели изнутри. Не для того, чтобы сделать из вас ML-инженеров — а чтобы вы понимали, почему модель ведёт себя так, как ведёт.</a:t>
            </a:r>
          </a:p>
          <a:p>
            <a:r>
              <a:t>Четыре ключевых концепта, которые разберём на лекции два. Все на русском, с английскими терминами в скобках при первом упоминании.</a:t>
            </a:r>
          </a:p>
          <a:p>
            <a:r>
              <a:t>Токены — единицы, на которые модель разрезает текст или другой вход. Это не буквы и не слова в обычном смысле; это статистически выученные подпоследовательности символов.</a:t>
            </a:r>
          </a:p>
          <a:p>
            <a:r>
              <a:t>Эмбеддинги, или векторные представления — числовые «адреса» токенов в многомерном смысловом пространстве. Они позволяют модели работать с похожестью: близкие по смыслу слова имеют близкие векторы.</a:t>
            </a:r>
          </a:p>
          <a:p>
            <a:r>
              <a:t>Механизм внимания (attention) — как модель решает, на какие части входа смотреть в каждый момент генерации. Это и есть тот self-attention, на который ссылается название статьи «Attention Is All You Need».</a:t>
            </a:r>
          </a:p>
          <a:p>
            <a:r>
              <a:t>Температура — параметр, контролирующий, насколько случайно модель выбирает следующий токен. При нулевой температуре модель детерминирована; при высокой — генерирует более разнообразные ответы.</a:t>
            </a:r>
          </a:p>
          <a:p>
            <a:r>
              <a:t>После лекции два вы поймёте, почему промпт с ролью работает лучше пустого, почему AI плохо считает буквы в слове, и почему один и тот же запрос к LLM даёт разные ответы в разные моменты. Эти знания — фундамент для всех следующих лекций курса.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Спасибо за внимание. Сейчас открытое время для вопросов. Нет глупых вопросов, нет «слишком базовых» — если что-то неясно, лучше спросить сейчас. Если время на занятии закончится, а вопросы остались — пишите по контактам, которые показывал на слайде с визиткой.</a:t>
            </a:r>
          </a:p>
          <a:p>
            <a:r>
              <a:t>Если вопросов нет — не страшно. До встречи на следующей лекции.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docs.ultralytics.com/models/yolov8/" TargetMode="External"/><Relationship Id="rId4" Type="http://schemas.openxmlformats.org/officeDocument/2006/relationships/hyperlink" Target="https://ai.google.dev/edge/mediapipe/solutions/guide" TargetMode="External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gartner.com/en/newsroom/press-releases/2024-10-03-gartner-says-generative-ai-will-require-80-percent-of-engineering-workforce-to-upskill-through-2027" TargetMode="External"/><Relationship Id="rId3" Type="http://schemas.openxmlformats.org/officeDocument/2006/relationships/hyperlink" Target="https://www.vedomosti.ru/technology/articles/2026/03/24/1184974-biznes-svernul-ili-otlozhil-9-iz-10-proektov-po-vnedreniyu-generativnogo-ii" TargetMode="External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ima.cs.berkeley.edu/" TargetMode="External"/><Relationship Id="rId3" Type="http://schemas.openxmlformats.org/officeDocument/2006/relationships/hyperlink" Target="https://www.iso.org/standard/74296.html" TargetMode="External"/><Relationship Id="rId4" Type="http://schemas.openxmlformats.org/officeDocument/2006/relationships/hyperlink" Target="https://www.cs.cmu.edu/~tom/mlbook.html" TargetMode="External"/><Relationship Id="rId5" Type="http://schemas.openxmlformats.org/officeDocument/2006/relationships/hyperlink" Target="https://doi.org/10.1017/S0140525X00005756" TargetMode="External"/><Relationship Id="rId6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hyperlink" Target="https://doi.org/10.1007/BF02478259" TargetMode="External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rxiv.org/abs/1706.03762" TargetMode="External"/><Relationship Id="rId3" Type="http://schemas.openxmlformats.org/officeDocument/2006/relationships/hyperlink" Target="https://www.google.com/books/edition/Machines_Who_Think/dPGij4vsHKgC" TargetMode="External"/><Relationship Id="rId4" Type="http://schemas.openxmlformats.org/officeDocument/2006/relationships/hyperlink" Target="https://doi.org/10.1145/3664804" TargetMode="External"/><Relationship Id="rId5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hyperlink" Target="https://survey.stackoverflow.co/2025" TargetMode="External"/><Relationship Id="rId6" Type="http://schemas.openxmlformats.org/officeDocument/2006/relationships/hyperlink" Target="https://techcrunch.com/2026/02/27/chatgpt-reaches-900m-weekly-active-users/" TargetMode="External"/><Relationship Id="rId7" Type="http://schemas.openxmlformats.org/officeDocument/2006/relationships/hyperlink" Target="https://github.blog/news-insights/octoverse/octoverse-a-new-developer-joins-github-every-second-as-ai-leads-typescript-to-1/" TargetMode="External"/><Relationship Id="rId8" Type="http://schemas.openxmlformats.org/officeDocument/2006/relationships/hyperlink" Target="https://www.grandviewresearch.com/industry-analysis/artificial-intelligence-ai-market" TargetMode="External"/><Relationship Id="rId9" Type="http://schemas.openxmlformats.org/officeDocument/2006/relationships/hyperlink" Target="https://www.vedomosti.ru/technology/articles/2026/03/24/1184974-biznes-svernul-ili-otlozhil-9-iz-10-proektov-po-vnedreniyu-generativnogo-ii" TargetMode="External"/><Relationship Id="rId10" Type="http://schemas.openxmlformats.org/officeDocument/2006/relationships/hyperlink" Target="https://www.gartner.com/en/newsroom/press-releases/2024-10-03-gartner-says-generative-ai-will-require-80-percent-of-engineering-workforce-to-upskill-through-2027" TargetMode="External"/><Relationship Id="rId11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mistral.ai/news/announcing-mistral-7b" TargetMode="External"/><Relationship Id="rId3" Type="http://schemas.openxmlformats.org/officeDocument/2006/relationships/hyperlink" Target="https://arxiv.org/abs/2501.12948" TargetMode="External"/><Relationship Id="rId4" Type="http://schemas.openxmlformats.org/officeDocument/2006/relationships/hyperlink" Target="https://semianalysis.com/2025/01/31/deepseek-debates/" TargetMode="External"/><Relationship Id="rId5" Type="http://schemas.openxmlformats.org/officeDocument/2006/relationships/hyperlink" Target="https://www.bloomberg.com/news/articles/2025-01-27/asml-sinks-as-china-ai-startup-triggers-panic-in-tech-stocks" TargetMode="External"/><Relationship Id="rId6" Type="http://schemas.openxmlformats.org/officeDocument/2006/relationships/hyperlink" Target="https://github.com/openclaw/openclaw" TargetMode="External"/><Relationship Id="rId7" Type="http://schemas.openxmlformats.org/officeDocument/2006/relationships/hyperlink" Target="https://github.com/ggml-org/llama.cpp" TargetMode="External"/><Relationship Id="rId8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anthropic.com/research/building-effective-agents" TargetMode="External"/><Relationship Id="rId3" Type="http://schemas.openxmlformats.org/officeDocument/2006/relationships/hyperlink" Target="https://lilianweng.github.io/posts/2023-06-23-agent/" TargetMode="External"/><Relationship Id="rId4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hyperlink" Target="https://aima.cs.berkeley.edu/" TargetMode="External"/><Relationship Id="rId8" Type="http://schemas.openxmlformats.org/officeDocument/2006/relationships/hyperlink" Target="https://www.deeplearningbook.org/" TargetMode="External"/><Relationship Id="rId9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anthropic.com/research/building-effective-agents" TargetMode="External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rxiv.org/abs/2205.02302" TargetMode="External"/><Relationship Id="rId3" Type="http://schemas.openxmlformats.org/officeDocument/2006/relationships/hyperlink" Target="https://doi.org/10.1038/s41586-021-03819-2" TargetMode="External"/><Relationship Id="rId4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anthropic.com/research/building-effective-agents" TargetMode="External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ciom.ru/analytical-reviews/analiticheskii-obzor/neiroseti-v-nashei-zhizni" TargetMode="External"/><Relationship Id="rId3" Type="http://schemas.openxmlformats.org/officeDocument/2006/relationships/hyperlink" Target="https://arxiv.org/abs/2406.16937" TargetMode="External"/><Relationship Id="rId4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lilianweng.github.io/posts/2023-06-23-agent/" TargetMode="External"/><Relationship Id="rId3" Type="http://schemas.openxmlformats.org/officeDocument/2006/relationships/hyperlink" Target="https://www.anthropic.com/research/building-effective-agents" TargetMode="External"/><Relationship Id="rId4" Type="http://schemas.openxmlformats.org/officeDocument/2006/relationships/hyperlink" Target="https://www.anthropic.com/news/model-context-protocol" TargetMode="External"/><Relationship Id="rId5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rxiv.org/abs/2210.03629" TargetMode="External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rxiv.org/abs/2506.12469" TargetMode="External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hyperlink" Target="https://blog.google/products-and-platforms/products/translate/fun-facts-google-translate-20-years/" TargetMode="External"/><Relationship Id="rId8" Type="http://schemas.openxmlformats.org/officeDocument/2006/relationships/hyperlink" Target="https://www.anthropic.com/research/building-effective-agents" TargetMode="External"/><Relationship Id="rId9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anthropic.com/research/building-effective-agents" TargetMode="External"/><Relationship Id="rId3" Type="http://schemas.openxmlformats.org/officeDocument/2006/relationships/hyperlink" Target="https://www.kaggle.com/whitepaper-agents" TargetMode="External"/><Relationship Id="rId4" Type="http://schemas.openxmlformats.org/officeDocument/2006/relationships/hyperlink" Target="https://www.deeplearning.ai/the-batch/how-agents-can-improve-llm-performance/" TargetMode="External"/><Relationship Id="rId5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nist.gov/itl/ai-risk-management-framework" TargetMode="External"/><Relationship Id="rId3" Type="http://schemas.openxmlformats.org/officeDocument/2006/relationships/hyperlink" Target="https://nvlpubs.nist.gov/nistpubs/ai/NIST.AI.600-1.pdf" TargetMode="External"/><Relationship Id="rId4" Type="http://schemas.openxmlformats.org/officeDocument/2006/relationships/hyperlink" Target="https://eur-lex.europa.eu/eli/reg/2024/1689/oj/eng" TargetMode="External"/><Relationship Id="rId5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bloomberg.com/news/articles/2023-05-02/samsung-bans-chatgpt-and-other-generative-ai-use-by-staff-after-leak" TargetMode="External"/><Relationship Id="rId3" Type="http://schemas.openxmlformats.org/officeDocument/2006/relationships/hyperlink" Target="https://openai.com/enterprise-privacy/" TargetMode="External"/><Relationship Id="rId4" Type="http://schemas.openxmlformats.org/officeDocument/2006/relationships/hyperlink" Target="https://eur-lex.europa.eu/eli/reg/2024/1689/oj/eng" TargetMode="External"/><Relationship Id="rId5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rxiv.org/abs/2311.05232" TargetMode="External"/><Relationship Id="rId3" Type="http://schemas.openxmlformats.org/officeDocument/2006/relationships/hyperlink" Target="https://doi.org/10.1145/3571730" TargetMode="External"/><Relationship Id="rId4" Type="http://schemas.openxmlformats.org/officeDocument/2006/relationships/hyperlink" Target="https://github.com/vectara/hallucination-leaderboard" TargetMode="External"/><Relationship Id="rId5" Type="http://schemas.openxmlformats.org/officeDocument/2006/relationships/hyperlink" Target="https://www.staysafeonline.org/articles/oh-behave-the-annual-cybersecurity-attitudes-and-behaviors-report-2025" TargetMode="External"/><Relationship Id="rId6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17.png"/><Relationship Id="rId5" Type="http://schemas.openxmlformats.org/officeDocument/2006/relationships/hyperlink" Target="https://openai.com/index/sycophancy-in-gpt-4o/" TargetMode="External"/><Relationship Id="rId6" Type="http://schemas.openxmlformats.org/officeDocument/2006/relationships/hyperlink" Target="https://arxiv.org/abs/2201.03544" TargetMode="External"/><Relationship Id="rId7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doi.org/10.1017/S0140525X00005756" TargetMode="External"/><Relationship Id="rId3" Type="http://schemas.openxmlformats.org/officeDocument/2006/relationships/hyperlink" Target="https://global.oup.com/academic/product/superintelligence-9780199678112" TargetMode="External"/><Relationship Id="rId4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502920"/>
            <a:ext cx="539496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 i="0">
                <a:solidFill>
                  <a:srgbClr val="21295C"/>
                </a:solidFill>
                <a:latin typeface="Arial"/>
              </a:rPr>
              <a:t>Идентификация людей в реальном времени — на ноутбуке, без интернета, с 2023 года.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880360"/>
            <a:ext cx="53949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1">
                <a:solidFill>
                  <a:srgbClr val="065A82"/>
                </a:solidFill>
                <a:latin typeface="Arial"/>
              </a:rPr>
              <a:t>Narrow AI — модель решает одну задачу (обнаружение людей в кадре) и больше ничего.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0"/>
            <a:ext cx="5394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21295C"/>
                </a:solidFill>
                <a:latin typeface="Arial"/>
              </a:rPr>
              <a:t>На экране — </a:t>
            </a:r>
            <a:r>
              <a:rPr sz="1500" b="1" i="0">
                <a:solidFill>
                  <a:srgbClr val="065A82"/>
                </a:solidFill>
                <a:latin typeface="Arial"/>
              </a:rPr>
              <a:t>YOLOv8</a:t>
            </a:r>
            <a:r>
              <a:rPr sz="1500" b="0" i="0">
                <a:solidFill>
                  <a:srgbClr val="21295C"/>
                </a:solidFill>
                <a:latin typeface="Arial"/>
              </a:rPr>
              <a:t> на CPU ноутбука: </a:t>
            </a:r>
            <a:r>
              <a:rPr sz="1500" b="1" i="0">
                <a:solidFill>
                  <a:srgbClr val="F0AB00"/>
                </a:solidFill>
                <a:latin typeface="Arial"/>
              </a:rPr>
              <a:t>~30 fps</a:t>
            </a:r>
            <a:r>
              <a:rPr sz="1500" b="0" i="0">
                <a:solidFill>
                  <a:srgbClr val="21295C"/>
                </a:solidFill>
                <a:latin typeface="Arial"/>
              </a:rPr>
              <a:t>.</a:t>
            </a:r>
          </a:p>
          <a:p>
            <a:pPr algn="l">
              <a:lnSpc>
                <a:spcPct val="135000"/>
              </a:lnSpc>
            </a:pPr>
            <a:r>
              <a:rPr sz="1500" b="1" i="0">
                <a:solidFill>
                  <a:srgbClr val="028090"/>
                </a:solidFill>
                <a:latin typeface="Arial"/>
              </a:rPr>
              <a:t>Без интернета</a:t>
            </a:r>
            <a:r>
              <a:rPr sz="1500" b="0" i="0">
                <a:solidFill>
                  <a:srgbClr val="21295C"/>
                </a:solidFill>
                <a:latin typeface="Arial"/>
              </a:rPr>
              <a:t>  ·  обучена в 2023.</a:t>
            </a:r>
            <a:r>
              <a:rPr sz="1500" b="0" i="0">
                <a:solidFill>
                  <a:srgbClr val="21295C"/>
                </a:solidFill>
                <a:latin typeface="Arial"/>
              </a:rPr>
              <a:t> </a:t>
            </a:r>
            <a:r>
              <a:rPr sz="780" baseline="30000" b="0" i="1">
                <a:latin typeface="Arial"/>
                <a:cs typeface="Arial"/>
                <a:ea typeface="Arial"/>
                <a:solidFill>
                  <a:srgbClr val="1C7293"/>
                </a:solidFill>
              </a:rPr>
              <a:t>[2]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89320" y="502920"/>
            <a:ext cx="5760720" cy="4023360"/>
          </a:xfrm>
          <a:prstGeom prst="roundRect">
            <a:avLst>
              <a:gd name="adj" fmla="val 7575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01-yolo-m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3912" y="986980"/>
            <a:ext cx="5431536" cy="305523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89320" y="4572000"/>
            <a:ext cx="5760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1C7293"/>
                </a:solidFill>
                <a:latin typeface="Arial"/>
              </a:rPr>
              <a:t>Кадр модели в момент демо: 2 человека в боксах. YOLOv8 (Ultralytics, 2023). </a:t>
            </a:r>
            <a:r>
              <a:rPr sz="572" baseline="30000" b="0" i="1">
                <a:latin typeface="Arial"/>
                <a:cs typeface="Arial"/>
                <a:ea typeface="Arial"/>
                <a:solidFill>
                  <a:srgbClr val="1C7293"/>
                </a:solidFill>
              </a:rPr>
              <a:t>[1]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11201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850" b="1" i="1">
                <a:solidFill>
                  <a:srgbClr val="065A82"/>
                </a:solidFill>
                <a:latin typeface="Arial"/>
              </a:rPr>
              <a:t>[1] </a:t>
            </a:r>
            <a:r>
              <a:rPr sz="850" i="1">
                <a:solidFill>
                  <a:srgbClr val="1C7293"/>
                </a:solidFill>
                <a:latin typeface="Arial"/>
                <a:hlinkClick r:id="rId3"/>
              </a:rPr>
              <a:t>Ultralytics — YOLOv8 (2023)</a:t>
            </a:r>
            <a:r>
              <a:rPr sz="850" i="1">
                <a:solidFill>
                  <a:srgbClr val="1C7293"/>
                </a:solidFill>
                <a:latin typeface="Arial"/>
              </a:rPr>
              <a:t>   ·   </a:t>
            </a:r>
            <a:r>
              <a:rPr sz="850" b="1" i="1">
                <a:solidFill>
                  <a:srgbClr val="065A82"/>
                </a:solidFill>
                <a:latin typeface="Arial"/>
              </a:rPr>
              <a:t>[2] </a:t>
            </a:r>
            <a:r>
              <a:rPr sz="850" i="1">
                <a:solidFill>
                  <a:srgbClr val="1C7293"/>
                </a:solidFill>
                <a:latin typeface="Arial"/>
                <a:hlinkClick r:id="rId4"/>
              </a:rPr>
              <a:t>Google — MediaPipe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96596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000" b="1" i="0">
                <a:solidFill>
                  <a:srgbClr val="065A82"/>
                </a:solidFill>
                <a:latin typeface="Arial"/>
              </a:rPr>
              <a:t>Добро пожаловать на курс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606040"/>
            <a:ext cx="105156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3600" b="1" i="0">
                <a:solidFill>
                  <a:srgbClr val="21295C"/>
                </a:solidFill>
                <a:latin typeface="Arial"/>
              </a:rPr>
              <a:t>«Отраслевое применение систем
искусственного интеллекта»</a:t>
            </a:r>
          </a:p>
        </p:txBody>
      </p:sp>
      <p:sp>
        <p:nvSpPr>
          <p:cNvPr id="4" name="Rectangle 3"/>
          <p:cNvSpPr/>
          <p:nvPr/>
        </p:nvSpPr>
        <p:spPr>
          <a:xfrm>
            <a:off x="5638647" y="4160520"/>
            <a:ext cx="914400" cy="54864"/>
          </a:xfrm>
          <a:prstGeom prst="rect">
            <a:avLst/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4434840"/>
            <a:ext cx="9601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2000" b="0" i="1">
                <a:solidFill>
                  <a:srgbClr val="065A82"/>
                </a:solidFill>
                <a:latin typeface="Arial"/>
              </a:rPr>
              <a:t>17 лекций о том, где AI работает в индустриях — и где нет.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24712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21295C"/>
                </a:solidFill>
                <a:latin typeface="Arial"/>
              </a:rPr>
              <a:t>Главный вопрос курса — не «можно ли AI?», а «нужно ли и где?».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874519"/>
            <a:ext cx="5029200" cy="960120"/>
          </a:xfrm>
          <a:prstGeom prst="roundRect">
            <a:avLst>
              <a:gd name="adj" fmla="val 8000"/>
            </a:avLst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57400"/>
            <a:ext cx="50292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FFFFFF"/>
                </a:solidFill>
                <a:latin typeface="Arial"/>
              </a:rPr>
              <a:t>100% AI-пилотов запускаются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31570" y="2926079"/>
            <a:ext cx="3771900" cy="960120"/>
          </a:xfrm>
          <a:prstGeom prst="roundRect">
            <a:avLst>
              <a:gd name="adj" fmla="val 10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1570" y="3108960"/>
            <a:ext cx="37719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FFFFFF"/>
                </a:solidFill>
                <a:latin typeface="Arial"/>
              </a:rPr>
              <a:t>−90% откатываются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85950" y="3977639"/>
            <a:ext cx="2263140" cy="960120"/>
          </a:xfrm>
          <a:prstGeom prst="roundRect">
            <a:avLst>
              <a:gd name="adj" fmla="val 1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85950" y="4105655"/>
            <a:ext cx="2263140" cy="7040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800" b="1" i="0">
                <a:solidFill>
                  <a:srgbClr val="21295C"/>
                </a:solidFill>
                <a:latin typeface="Arial"/>
              </a:rPr>
              <a:t>10% доходят
до прода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07492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 i="1">
                <a:solidFill>
                  <a:srgbClr val="1C7293"/>
                </a:solidFill>
                <a:latin typeface="Arial"/>
              </a:rPr>
              <a:t>Иллюстрация принципа (Gartner, McKinsey подтверждают похожие цифры). </a:t>
            </a:r>
            <a:r>
              <a:rPr sz="572" baseline="30000" b="0" i="1">
                <a:latin typeface="Arial"/>
                <a:cs typeface="Arial"/>
                <a:ea typeface="Arial"/>
                <a:solidFill>
                  <a:srgbClr val="1C7293"/>
                </a:solidFill>
              </a:rPr>
              <a:t>[1]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60720" y="1600199"/>
            <a:ext cx="5943600" cy="4572000"/>
          </a:xfrm>
          <a:prstGeom prst="roundRect">
            <a:avLst>
              <a:gd name="adj" fmla="val 6666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0" y="1874519"/>
            <a:ext cx="5394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28090"/>
                </a:solidFill>
                <a:latin typeface="Arial"/>
              </a:rPr>
              <a:t>Главная мысль курса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0" y="2331720"/>
            <a:ext cx="53949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21295C"/>
                </a:solidFill>
                <a:latin typeface="Arial"/>
              </a:rPr>
              <a:t>Завтра — почти везде.
Сегодня — почти никто.
Курс — про этот разрыв. </a:t>
            </a:r>
            <a:r>
              <a:rPr sz="1144" baseline="30000" b="0" i="1">
                <a:latin typeface="Arial"/>
                <a:cs typeface="Arial"/>
                <a:ea typeface="Arial"/>
                <a:solidFill>
                  <a:srgbClr val="1C7293"/>
                </a:solidFill>
              </a:rPr>
              <a:t>[2]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0" y="4069079"/>
            <a:ext cx="5394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21295C"/>
                </a:solidFill>
                <a:latin typeface="Arial"/>
              </a:rPr>
              <a:t>Центральный вопрос курса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4480560"/>
            <a:ext cx="53949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 i="0">
                <a:solidFill>
                  <a:srgbClr val="21295C"/>
                </a:solidFill>
                <a:latin typeface="Arial"/>
              </a:rPr>
              <a:t>Где AI работает,
где — нет,
и как это понять?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55664"/>
            <a:ext cx="11201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850" b="1" i="1">
                <a:solidFill>
                  <a:srgbClr val="065A82"/>
                </a:solidFill>
                <a:latin typeface="Arial"/>
              </a:rPr>
              <a:t>[1] </a:t>
            </a:r>
            <a:r>
              <a:rPr sz="850" i="1">
                <a:solidFill>
                  <a:srgbClr val="1C7293"/>
                </a:solidFill>
                <a:latin typeface="Arial"/>
                <a:hlinkClick r:id="rId2"/>
              </a:rPr>
              <a:t>Gartner — пресс-релиз (окт 2024)</a:t>
            </a:r>
            <a:r>
              <a:rPr sz="850" i="1">
                <a:solidFill>
                  <a:srgbClr val="1C7293"/>
                </a:solidFill>
                <a:latin typeface="Arial"/>
              </a:rPr>
              <a:t>   ·   </a:t>
            </a:r>
            <a:r>
              <a:rPr sz="850" b="1" i="1">
                <a:solidFill>
                  <a:srgbClr val="065A82"/>
                </a:solidFill>
                <a:latin typeface="Arial"/>
              </a:rPr>
              <a:t>[2] </a:t>
            </a:r>
            <a:r>
              <a:rPr sz="850" i="1">
                <a:solidFill>
                  <a:srgbClr val="1C7293"/>
                </a:solidFill>
                <a:latin typeface="Arial"/>
                <a:hlinkClick r:id="rId3"/>
              </a:rPr>
              <a:t>Vedomosti / Intellectual Analytics (мар 2026)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ero-cover-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822960"/>
            <a:ext cx="4572000" cy="4572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0" y="2651760"/>
            <a:ext cx="484632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0" b="1" i="0">
                <a:solidFill>
                  <a:srgbClr val="D9E2EC"/>
                </a:solidFill>
                <a:latin typeface="Arial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5943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028090"/>
                </a:solidFill>
                <a:latin typeface="Arial"/>
              </a:rPr>
              <a:t>ЛЕКЦИЯ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17320"/>
            <a:ext cx="640080" cy="4572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777240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200" b="1" i="0">
                <a:solidFill>
                  <a:srgbClr val="21295C"/>
                </a:solidFill>
                <a:latin typeface="Arial"/>
              </a:rPr>
              <a:t>Что такое AI?
История, классификация,
общие понятия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4983480"/>
            <a:ext cx="45720" cy="50292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498348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0" i="0">
                <a:solidFill>
                  <a:srgbClr val="065A82"/>
                </a:solidFill>
                <a:latin typeface="Arial"/>
              </a:rPr>
              <a:t>Карта применений AI: где работает, где — нет.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24712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2800" b="1" i="0">
                <a:solidFill>
                  <a:srgbClr val="21295C"/>
                </a:solidFill>
                <a:latin typeface="Arial"/>
              </a:rPr>
              <a:t>План лекции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828800"/>
            <a:ext cx="1590114" cy="3931920"/>
          </a:xfrm>
          <a:prstGeom prst="roundRect">
            <a:avLst>
              <a:gd name="adj" fmla="val 19168"/>
            </a:avLst>
          </a:prstGeom>
          <a:solidFill>
            <a:srgbClr val="FFFFFF"/>
          </a:solidFill>
          <a:ln w="2540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1828800"/>
            <a:ext cx="1590114" cy="914400"/>
          </a:xfrm>
          <a:prstGeom prst="roundRect">
            <a:avLst>
              <a:gd name="adj" fmla="val 33333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901952"/>
            <a:ext cx="159011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000" b="1" i="0">
                <a:solidFill>
                  <a:srgbClr val="21295C"/>
                </a:solidFill>
                <a:latin typeface="Arial"/>
              </a:rPr>
              <a:t>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880360"/>
            <a:ext cx="1407234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21295C"/>
                </a:solidFill>
                <a:latin typeface="Arial"/>
              </a:rPr>
              <a:t>Введение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703320"/>
            <a:ext cx="1407234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 i="1">
                <a:solidFill>
                  <a:srgbClr val="6B7685"/>
                </a:solidFill>
                <a:latin typeface="Arial"/>
              </a:rPr>
              <a:t>Демо · инструктор ·
центральный вопрос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47898" y="1828800"/>
            <a:ext cx="1590114" cy="3931920"/>
          </a:xfrm>
          <a:prstGeom prst="roundRect">
            <a:avLst>
              <a:gd name="adj" fmla="val 19168"/>
            </a:avLst>
          </a:prstGeom>
          <a:solidFill>
            <a:srgbClr val="FFFFFF"/>
          </a:solidFill>
          <a:ln w="254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147898" y="1828800"/>
            <a:ext cx="1590114" cy="914400"/>
          </a:xfrm>
          <a:prstGeom prst="roundRect">
            <a:avLst>
              <a:gd name="adj" fmla="val 33333"/>
            </a:avLst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47898" y="1901952"/>
            <a:ext cx="159011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0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39338" y="2880360"/>
            <a:ext cx="1407234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21295C"/>
                </a:solidFill>
                <a:latin typeface="Arial"/>
              </a:rPr>
              <a:t>Что такое 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39338" y="3703320"/>
            <a:ext cx="1407234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 i="1">
                <a:solidFill>
                  <a:srgbClr val="6B7685"/>
                </a:solidFill>
                <a:latin typeface="Arial"/>
              </a:rPr>
              <a:t>Определения,
история, перелом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92877" y="1828800"/>
            <a:ext cx="1590114" cy="3931920"/>
          </a:xfrm>
          <a:prstGeom prst="roundRect">
            <a:avLst>
              <a:gd name="adj" fmla="val 19168"/>
            </a:avLst>
          </a:prstGeom>
          <a:solidFill>
            <a:srgbClr val="FFFFFF"/>
          </a:solidFill>
          <a:ln w="25400">
            <a:solidFill>
              <a:srgbClr val="065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792877" y="1828800"/>
            <a:ext cx="1590114" cy="914400"/>
          </a:xfrm>
          <a:prstGeom prst="roundRect">
            <a:avLst>
              <a:gd name="adj" fmla="val 33333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92877" y="1901952"/>
            <a:ext cx="159011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0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84317" y="2880360"/>
            <a:ext cx="1407234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21295C"/>
                </a:solidFill>
                <a:latin typeface="Arial"/>
              </a:rPr>
              <a:t>Где мы сейчас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84317" y="3703320"/>
            <a:ext cx="1407234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 i="1">
                <a:solidFill>
                  <a:srgbClr val="6B7685"/>
                </a:solidFill>
                <a:latin typeface="Arial"/>
              </a:rPr>
              <a:t>Цифры рынка
2022–2026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37856" y="1828800"/>
            <a:ext cx="2577101" cy="3931920"/>
          </a:xfrm>
          <a:prstGeom prst="roundRect">
            <a:avLst>
              <a:gd name="adj" fmla="val 11827"/>
            </a:avLst>
          </a:prstGeom>
          <a:solidFill>
            <a:srgbClr val="FFFFFF"/>
          </a:solidFill>
          <a:ln w="25400">
            <a:solidFill>
              <a:srgbClr val="2129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437856" y="1828800"/>
            <a:ext cx="2577101" cy="914400"/>
          </a:xfrm>
          <a:prstGeom prst="roundRect">
            <a:avLst>
              <a:gd name="adj" fmla="val 33333"/>
            </a:avLst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37856" y="1901952"/>
            <a:ext cx="2577101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0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29296" y="2880360"/>
            <a:ext cx="2394221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21295C"/>
                </a:solidFill>
                <a:latin typeface="Arial"/>
              </a:rPr>
              <a:t>4 способа реализации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29296" y="3703320"/>
            <a:ext cx="2394221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 i="1">
                <a:solidFill>
                  <a:srgbClr val="6B7685"/>
                </a:solidFill>
                <a:latin typeface="Arial"/>
              </a:rPr>
              <a:t>Модель · чат ·
агент · приложение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69822" y="1828800"/>
            <a:ext cx="1919110" cy="3931920"/>
          </a:xfrm>
          <a:prstGeom prst="roundRect">
            <a:avLst>
              <a:gd name="adj" fmla="val 15882"/>
            </a:avLst>
          </a:prstGeom>
          <a:solidFill>
            <a:srgbClr val="FFFFFF"/>
          </a:solidFill>
          <a:ln w="25400">
            <a:solidFill>
              <a:srgbClr val="065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69822" y="1828800"/>
            <a:ext cx="1919110" cy="914400"/>
          </a:xfrm>
          <a:prstGeom prst="roundRect">
            <a:avLst>
              <a:gd name="adj" fmla="val 33333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69822" y="1901952"/>
            <a:ext cx="191911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0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61262" y="2880360"/>
            <a:ext cx="173623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21295C"/>
                </a:solidFill>
                <a:latin typeface="Arial"/>
              </a:rPr>
              <a:t>Границы
и безопасность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61262" y="3703320"/>
            <a:ext cx="173623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 i="1">
                <a:solidFill>
                  <a:srgbClr val="6B7685"/>
                </a:solidFill>
                <a:latin typeface="Arial"/>
              </a:rPr>
              <a:t>Что AI ломает
и где не работает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043796" y="1828800"/>
            <a:ext cx="1590114" cy="3931920"/>
          </a:xfrm>
          <a:prstGeom prst="roundRect">
            <a:avLst>
              <a:gd name="adj" fmla="val 19168"/>
            </a:avLst>
          </a:prstGeom>
          <a:solidFill>
            <a:srgbClr val="FFFFFF"/>
          </a:solidFill>
          <a:ln w="254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0043796" y="1828800"/>
            <a:ext cx="1590114" cy="914400"/>
          </a:xfrm>
          <a:prstGeom prst="roundRect">
            <a:avLst>
              <a:gd name="adj" fmla="val 33333"/>
            </a:avLst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43796" y="1901952"/>
            <a:ext cx="159011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0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35236" y="2880360"/>
            <a:ext cx="1407234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21295C"/>
                </a:solidFill>
                <a:latin typeface="Arial"/>
              </a:rPr>
              <a:t>Заключение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35236" y="3703320"/>
            <a:ext cx="1407234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 i="1">
                <a:solidFill>
                  <a:srgbClr val="6B7685"/>
                </a:solidFill>
                <a:latin typeface="Arial"/>
              </a:rPr>
              <a:t>Резюме · карта
семестра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429000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410712" y="0"/>
            <a:ext cx="18288" cy="68580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nstructor-photo-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502920"/>
            <a:ext cx="2423160" cy="322783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02920" y="502920"/>
            <a:ext cx="2423160" cy="3227832"/>
          </a:xfrm>
          <a:prstGeom prst="rect">
            <a:avLst/>
          </a:prstGeom>
          <a:noFill/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3959352"/>
            <a:ext cx="28803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21295C"/>
                </a:solidFill>
                <a:latin typeface="Arial"/>
              </a:rPr>
              <a:t>Левко Максим
Николаевич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4828032"/>
            <a:ext cx="2423160" cy="18288"/>
          </a:xfrm>
          <a:prstGeom prst="rect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510235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24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ucide-send-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" y="5202936"/>
            <a:ext cx="256032" cy="25603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97280" y="5084064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28090"/>
                </a:solidFill>
                <a:latin typeface="Arial"/>
              </a:rPr>
              <a:t>Telegram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532180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21295C"/>
                </a:solidFill>
                <a:latin typeface="Arial"/>
              </a:rPr>
              <a:t>@Maxim_Levko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576072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24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lucide-mail-bl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" y="5861304"/>
            <a:ext cx="256032" cy="25603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97280" y="5742432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28090"/>
                </a:solidFill>
                <a:latin typeface="Arial"/>
              </a:rPr>
              <a:t>Email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5980176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21295C"/>
                </a:solidFill>
                <a:latin typeface="Arial"/>
              </a:rPr>
              <a:t>Levko.maxim@gmail.com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411480"/>
            <a:ext cx="784829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600" b="1" i="0">
                <a:solidFill>
                  <a:srgbClr val="21295C"/>
                </a:solidFill>
                <a:latin typeface="Arial"/>
              </a:rPr>
              <a:t>Кто я и почему мне это важно.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1188720"/>
            <a:ext cx="7848295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65A82"/>
                </a:solidFill>
                <a:latin typeface="Arial"/>
              </a:rPr>
              <a:t>Архитектор, технический и продуктовый лидер создания
и внедрения информационных систем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40480" y="2148840"/>
            <a:ext cx="3809847" cy="1965960"/>
          </a:xfrm>
          <a:prstGeom prst="roundRect">
            <a:avLst>
              <a:gd name="adj" fmla="val 15503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lucide-briefcase-blu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0" y="2441448"/>
            <a:ext cx="502920" cy="50292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114800" y="3081528"/>
            <a:ext cx="326120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0AB00"/>
                </a:solidFill>
                <a:latin typeface="Arial"/>
              </a:rPr>
              <a:t>20+</a:t>
            </a:r>
            <a:r>
              <a:rPr sz="1600" b="1" i="0">
                <a:solidFill>
                  <a:srgbClr val="21295C"/>
                </a:solidFill>
                <a:latin typeface="Arial"/>
              </a:rPr>
              <a:t> лет опыта в ИТ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3502152"/>
            <a:ext cx="3261207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1">
                <a:solidFill>
                  <a:srgbClr val="6B7685"/>
                </a:solidFill>
                <a:latin typeface="Arial"/>
              </a:rPr>
              <a:t>10+ завершённых проектов
под руководством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78927" y="2148840"/>
            <a:ext cx="3809847" cy="1965960"/>
          </a:xfrm>
          <a:prstGeom prst="roundRect">
            <a:avLst>
              <a:gd name="adj" fmla="val 15503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lucide-layers-blu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53247" y="2441448"/>
            <a:ext cx="502920" cy="50292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153247" y="3081528"/>
            <a:ext cx="3261207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21295C"/>
                </a:solidFill>
                <a:latin typeface="Arial"/>
              </a:rPr>
              <a:t>Экспертиза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53247" y="3447288"/>
            <a:ext cx="3261207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1">
                <a:solidFill>
                  <a:srgbClr val="6B7685"/>
                </a:solidFill>
                <a:latin typeface="Arial"/>
              </a:rPr>
              <a:t>Системный анализ · Проектирование систем · Управление данными · Автоматизация бизнеса · Управление продуктами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840480" y="4389120"/>
            <a:ext cx="7848295" cy="1417320"/>
          </a:xfrm>
          <a:prstGeom prst="roundRect">
            <a:avLst>
              <a:gd name="adj" fmla="val 21505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0" y="4590288"/>
            <a:ext cx="729965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21295C"/>
                </a:solidFill>
                <a:latin typeface="Arial"/>
              </a:rPr>
              <a:t>Консалтинг и inhouse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114800" y="5102352"/>
            <a:ext cx="1687753" cy="566928"/>
          </a:xfrm>
          <a:prstGeom prst="roundRect">
            <a:avLst>
              <a:gd name="adj" fmla="val 50000"/>
            </a:avLst>
          </a:prstGeom>
          <a:solidFill>
            <a:srgbClr val="E6F2F4"/>
          </a:solidFill>
          <a:ln w="1524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lucide-building-2-blu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42816" y="5239512"/>
            <a:ext cx="292608" cy="292608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4590288" y="5102352"/>
            <a:ext cx="1139113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21295C"/>
                </a:solidFill>
                <a:latin typeface="Arial"/>
              </a:rPr>
              <a:t>Yandex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85433" y="5102352"/>
            <a:ext cx="1687753" cy="566928"/>
          </a:xfrm>
          <a:prstGeom prst="roundRect">
            <a:avLst>
              <a:gd name="adj" fmla="val 50000"/>
            </a:avLst>
          </a:prstGeom>
          <a:solidFill>
            <a:srgbClr val="E6F2F4"/>
          </a:solidFill>
          <a:ln w="1524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lucide-building-2-blu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13449" y="5239512"/>
            <a:ext cx="292608" cy="292608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460921" y="5102352"/>
            <a:ext cx="1139113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21295C"/>
                </a:solidFill>
                <a:latin typeface="Arial"/>
              </a:rPr>
              <a:t>МТС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856067" y="5102352"/>
            <a:ext cx="1687753" cy="566928"/>
          </a:xfrm>
          <a:prstGeom prst="roundRect">
            <a:avLst>
              <a:gd name="adj" fmla="val 50000"/>
            </a:avLst>
          </a:prstGeom>
          <a:solidFill>
            <a:srgbClr val="E6F2F4"/>
          </a:solidFill>
          <a:ln w="1524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lucide-building-2-blu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84083" y="5239512"/>
            <a:ext cx="292608" cy="292608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8331555" y="5102352"/>
            <a:ext cx="1139113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21295C"/>
                </a:solidFill>
                <a:latin typeface="Arial"/>
              </a:rPr>
              <a:t>Магнит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726701" y="5102352"/>
            <a:ext cx="1687753" cy="566928"/>
          </a:xfrm>
          <a:prstGeom prst="roundRect">
            <a:avLst>
              <a:gd name="adj" fmla="val 50000"/>
            </a:avLst>
          </a:prstGeom>
          <a:solidFill>
            <a:srgbClr val="E6F2F4"/>
          </a:solidFill>
          <a:ln w="1524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lucide-building-2-blu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54717" y="5239512"/>
            <a:ext cx="292608" cy="292608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10202189" y="5102352"/>
            <a:ext cx="1139113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21295C"/>
                </a:solidFill>
                <a:latin typeface="Arial"/>
              </a:rPr>
              <a:t>Сибур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2014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000" b="1" i="0">
                <a:solidFill>
                  <a:srgbClr val="21295C"/>
                </a:solidFill>
                <a:latin typeface="Arial"/>
              </a:rPr>
              <a:t>Раздел 1 · Что такое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325880"/>
            <a:ext cx="11201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0" i="1">
                <a:solidFill>
                  <a:srgbClr val="065A82"/>
                </a:solidFill>
                <a:latin typeface="Arial"/>
              </a:rPr>
              <a:t>Определения, история, классификация.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3707" y="2331720"/>
            <a:ext cx="1783080" cy="2926080"/>
          </a:xfrm>
          <a:prstGeom prst="roundRect">
            <a:avLst>
              <a:gd name="adj" fmla="val 17094"/>
            </a:avLst>
          </a:prstGeom>
          <a:solidFill>
            <a:srgbClr val="FFFFFF"/>
          </a:solidFill>
          <a:ln w="1524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03707" y="2606039"/>
            <a:ext cx="17830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400" b="1" i="0">
                <a:solidFill>
                  <a:srgbClr val="1C7293"/>
                </a:solidFill>
                <a:latin typeface="Arial"/>
              </a:rPr>
              <a:t>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6859" y="3520439"/>
            <a:ext cx="1636776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21295C"/>
                </a:solidFill>
                <a:latin typeface="Arial"/>
              </a:rPr>
              <a:t>Введение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6859" y="4434840"/>
            <a:ext cx="1636776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 i="1">
                <a:solidFill>
                  <a:srgbClr val="6B7685"/>
                </a:solidFill>
                <a:latin typeface="Arial"/>
              </a:rPr>
              <a:t>Демо · инструктор ·
центральный вопрос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23947" y="2331720"/>
            <a:ext cx="1783080" cy="2926080"/>
          </a:xfrm>
          <a:prstGeom prst="roundRect">
            <a:avLst>
              <a:gd name="adj" fmla="val 17094"/>
            </a:avLst>
          </a:prstGeom>
          <a:solidFill>
            <a:srgbClr val="F0AB00"/>
          </a:solidFill>
          <a:ln w="317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23947" y="2606039"/>
            <a:ext cx="17830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4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97099" y="3520439"/>
            <a:ext cx="1636776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FFFFFF"/>
                </a:solidFill>
                <a:latin typeface="Arial"/>
              </a:rPr>
              <a:t>Что такое 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97099" y="4434840"/>
            <a:ext cx="1636776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 i="1">
                <a:solidFill>
                  <a:srgbClr val="FFFFFF"/>
                </a:solidFill>
                <a:latin typeface="Arial"/>
              </a:rPr>
              <a:t>Определения,
история, перелом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44187" y="2331720"/>
            <a:ext cx="1783080" cy="2926080"/>
          </a:xfrm>
          <a:prstGeom prst="roundRect">
            <a:avLst>
              <a:gd name="adj" fmla="val 17094"/>
            </a:avLst>
          </a:prstGeom>
          <a:solidFill>
            <a:srgbClr val="FFFFFF"/>
          </a:solidFill>
          <a:ln w="1524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44187" y="2606039"/>
            <a:ext cx="17830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400" b="1" i="0">
                <a:solidFill>
                  <a:srgbClr val="065A82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17339" y="3520439"/>
            <a:ext cx="1636776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21295C"/>
                </a:solidFill>
                <a:latin typeface="Arial"/>
              </a:rPr>
              <a:t>Где мы
сейчас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17339" y="4434840"/>
            <a:ext cx="1636776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 i="1">
                <a:solidFill>
                  <a:srgbClr val="6B7685"/>
                </a:solidFill>
                <a:latin typeface="Arial"/>
              </a:rPr>
              <a:t>Цифры рынка
2022–2026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64427" y="2331720"/>
            <a:ext cx="1783080" cy="2926080"/>
          </a:xfrm>
          <a:prstGeom prst="roundRect">
            <a:avLst>
              <a:gd name="adj" fmla="val 17094"/>
            </a:avLst>
          </a:prstGeom>
          <a:solidFill>
            <a:srgbClr val="FFFFFF"/>
          </a:solidFill>
          <a:ln w="1524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64427" y="2606039"/>
            <a:ext cx="17830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400" b="1" i="0">
                <a:solidFill>
                  <a:srgbClr val="065A82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37579" y="3520439"/>
            <a:ext cx="1636776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21295C"/>
                </a:solidFill>
                <a:latin typeface="Arial"/>
              </a:rPr>
              <a:t>Четыре способа
реализации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37579" y="4434840"/>
            <a:ext cx="1636776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 i="1">
                <a:solidFill>
                  <a:srgbClr val="6B7685"/>
                </a:solidFill>
                <a:latin typeface="Arial"/>
              </a:rPr>
              <a:t>Модель · чат ·
агент · приложение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84667" y="2331720"/>
            <a:ext cx="1783080" cy="2926080"/>
          </a:xfrm>
          <a:prstGeom prst="roundRect">
            <a:avLst>
              <a:gd name="adj" fmla="val 17094"/>
            </a:avLst>
          </a:prstGeom>
          <a:solidFill>
            <a:srgbClr val="FFFFFF"/>
          </a:solidFill>
          <a:ln w="1524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84667" y="2606039"/>
            <a:ext cx="17830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400" b="1" i="0">
                <a:solidFill>
                  <a:srgbClr val="21295C"/>
                </a:solidFill>
                <a:latin typeface="Arial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57819" y="3520439"/>
            <a:ext cx="1636776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21295C"/>
                </a:solidFill>
                <a:latin typeface="Arial"/>
              </a:rPr>
              <a:t>Границы
и безопасность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57819" y="4434840"/>
            <a:ext cx="1636776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 i="1">
                <a:solidFill>
                  <a:srgbClr val="6B7685"/>
                </a:solidFill>
                <a:latin typeface="Arial"/>
              </a:rPr>
              <a:t>Что AI ломает
и где не работает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004907" y="2331720"/>
            <a:ext cx="1783080" cy="2926080"/>
          </a:xfrm>
          <a:prstGeom prst="roundRect">
            <a:avLst>
              <a:gd name="adj" fmla="val 17094"/>
            </a:avLst>
          </a:prstGeom>
          <a:solidFill>
            <a:srgbClr val="FFFFFF"/>
          </a:solidFill>
          <a:ln w="1524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04907" y="2606039"/>
            <a:ext cx="17830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400" b="1" i="0">
                <a:solidFill>
                  <a:srgbClr val="21295C"/>
                </a:solidFill>
                <a:latin typeface="Arial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78059" y="3520439"/>
            <a:ext cx="1636776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21295C"/>
                </a:solidFill>
                <a:latin typeface="Arial"/>
              </a:rPr>
              <a:t>Заключение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78059" y="4434840"/>
            <a:ext cx="1636776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 i="1">
                <a:solidFill>
                  <a:srgbClr val="6B7685"/>
                </a:solidFill>
                <a:latin typeface="Arial"/>
              </a:rPr>
              <a:t>Резюме ·
карта семестра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24712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600" b="1" i="0">
                <a:solidFill>
                  <a:srgbClr val="21295C"/>
                </a:solidFill>
                <a:latin typeface="Arial"/>
              </a:rPr>
              <a:t>Определений AI много — потому что AI это движущаяся цель.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481328"/>
            <a:ext cx="5532120" cy="2194560"/>
          </a:xfrm>
          <a:prstGeom prst="roundRect">
            <a:avLst>
              <a:gd name="adj" fmla="val 13888"/>
            </a:avLst>
          </a:prstGeom>
          <a:solidFill>
            <a:srgbClr val="F4F7FA"/>
          </a:solidFill>
          <a:ln w="19050">
            <a:solidFill>
              <a:srgbClr val="065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65A82"/>
                </a:solidFill>
                <a:latin typeface="Arial"/>
              </a:rPr>
              <a:t>Russell &amp; Norvig (AIMA, 2021)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29968"/>
            <a:ext cx="50749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0" i="0">
                <a:solidFill>
                  <a:srgbClr val="21295C"/>
                </a:solidFill>
                <a:latin typeface="Arial"/>
              </a:rPr>
              <a:t>«AI = система, мыслящая как человек, мыслящая рационально, действующая как человек или действующая рационально (4 квадранта по 2 осям).»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310127"/>
            <a:ext cx="50749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6B7685"/>
                </a:solidFill>
                <a:latin typeface="Arial"/>
              </a:rPr>
              <a:t>Russell &amp; Norvig, AIMA, 4-е изд., 2021 </a:t>
            </a:r>
            <a:r>
              <a:rPr sz="572" baseline="30000" b="0" i="1">
                <a:latin typeface="Arial"/>
                <a:cs typeface="Arial"/>
                <a:ea typeface="Arial"/>
                <a:solidFill>
                  <a:srgbClr val="1C7293"/>
                </a:solidFill>
              </a:rPr>
              <a:t>[1]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481328"/>
            <a:ext cx="5532120" cy="2194560"/>
          </a:xfrm>
          <a:prstGeom prst="roundRect">
            <a:avLst>
              <a:gd name="adj" fmla="val 13888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C7293"/>
                </a:solidFill>
                <a:latin typeface="Arial"/>
              </a:rPr>
              <a:t>ISO/IEC 22989:2022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029968"/>
            <a:ext cx="50749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0" i="0">
                <a:solidFill>
                  <a:srgbClr val="21295C"/>
                </a:solidFill>
                <a:latin typeface="Arial"/>
              </a:rPr>
              <a:t>«AI-система — это engineered system, которая генерирует выходы (рекомендации, прогнозы, решения) для целей, заданных человеком.»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3310127"/>
            <a:ext cx="50749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6B7685"/>
                </a:solidFill>
                <a:latin typeface="Arial"/>
              </a:rPr>
              <a:t>Международный стандарт ISO/IEC 22989:2022 — опора EU AI Act </a:t>
            </a:r>
            <a:r>
              <a:rPr sz="572" baseline="30000" b="0" i="1">
                <a:latin typeface="Arial"/>
                <a:cs typeface="Arial"/>
                <a:ea typeface="Arial"/>
                <a:solidFill>
                  <a:srgbClr val="1C7293"/>
                </a:solidFill>
              </a:rPr>
              <a:t>[2]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813048"/>
            <a:ext cx="5532120" cy="2194560"/>
          </a:xfrm>
          <a:prstGeom prst="roundRect">
            <a:avLst>
              <a:gd name="adj" fmla="val 13888"/>
            </a:avLst>
          </a:prstGeom>
          <a:solidFill>
            <a:srgbClr val="F4F7FA"/>
          </a:solidFill>
          <a:ln w="19050">
            <a:solidFill>
              <a:srgbClr val="065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977639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65A82"/>
                </a:solidFill>
                <a:latin typeface="Arial"/>
              </a:rPr>
              <a:t>Через обучение (Mitchell, 1997)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361688"/>
            <a:ext cx="50749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0" i="0">
                <a:solidFill>
                  <a:srgbClr val="21295C"/>
                </a:solidFill>
                <a:latin typeface="Arial"/>
              </a:rPr>
              <a:t>«Программа улучшается с опытом E на задаче T по метрике P. Если поведение возникает из обученной модели — это AI.»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641848"/>
            <a:ext cx="50749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6B7685"/>
                </a:solidFill>
                <a:latin typeface="Arial"/>
              </a:rPr>
              <a:t>Mitchell, Machine Learning, 1997 </a:t>
            </a:r>
            <a:r>
              <a:rPr sz="572" baseline="30000" b="0" i="1">
                <a:latin typeface="Arial"/>
                <a:cs typeface="Arial"/>
                <a:ea typeface="Arial"/>
                <a:solidFill>
                  <a:srgbClr val="1C7293"/>
                </a:solidFill>
              </a:rPr>
              <a:t>[3]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813048"/>
            <a:ext cx="5532120" cy="2194560"/>
          </a:xfrm>
          <a:prstGeom prst="roundRect">
            <a:avLst>
              <a:gd name="adj" fmla="val 13888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3977639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C7293"/>
                </a:solidFill>
                <a:latin typeface="Arial"/>
              </a:rPr>
              <a:t>Через бенчмарки и AGI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361688"/>
            <a:ext cx="50749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0" i="0">
                <a:solidFill>
                  <a:srgbClr val="21295C"/>
                </a:solidFill>
                <a:latin typeface="Arial"/>
              </a:rPr>
              <a:t>«AI = то, что проходит тест Тьюринга или решает бенчмарк на уровне человека.» Возражение Сёрла: поведение ≠ понимание.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641848"/>
            <a:ext cx="50749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6B7685"/>
                </a:solidFill>
                <a:latin typeface="Arial"/>
              </a:rPr>
              <a:t>Тьюринг 1950 / Searle 1980 — Chinese Room </a:t>
            </a:r>
            <a:r>
              <a:rPr sz="572" baseline="30000" b="0" i="1">
                <a:latin typeface="Arial"/>
                <a:cs typeface="Arial"/>
                <a:ea typeface="Arial"/>
                <a:solidFill>
                  <a:srgbClr val="1C7293"/>
                </a:solidFill>
              </a:rPr>
              <a:t>[4]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5870448"/>
            <a:ext cx="11201400" cy="502920"/>
          </a:xfrm>
          <a:prstGeom prst="roundRect">
            <a:avLst>
              <a:gd name="adj" fmla="val 12000"/>
            </a:avLst>
          </a:prstGeom>
          <a:solidFill>
            <a:srgbClr val="FEF5E0"/>
          </a:solidFill>
          <a:ln w="1524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5943600"/>
            <a:ext cx="10835640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21295C"/>
                </a:solidFill>
                <a:latin typeface="Arial"/>
              </a:rPr>
              <a:t>AI Effect (Tesler):  «AI is whatever hasn't been done yet».  Как только техника начинает работать, её перестают называть AI.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55664"/>
            <a:ext cx="11201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850" b="1" i="1">
                <a:solidFill>
                  <a:srgbClr val="065A82"/>
                </a:solidFill>
                <a:latin typeface="Arial"/>
              </a:rPr>
              <a:t>[1] </a:t>
            </a:r>
            <a:r>
              <a:rPr sz="850" i="1">
                <a:solidFill>
                  <a:srgbClr val="1C7293"/>
                </a:solidFill>
                <a:latin typeface="Arial"/>
                <a:hlinkClick r:id="rId2"/>
              </a:rPr>
              <a:t>Russell &amp; Norvig — AIMA, 4-е изд. (2021)</a:t>
            </a:r>
            <a:r>
              <a:rPr sz="850" i="1">
                <a:solidFill>
                  <a:srgbClr val="1C7293"/>
                </a:solidFill>
                <a:latin typeface="Arial"/>
              </a:rPr>
              <a:t>   ·   </a:t>
            </a:r>
            <a:r>
              <a:rPr sz="850" b="1" i="1">
                <a:solidFill>
                  <a:srgbClr val="065A82"/>
                </a:solidFill>
                <a:latin typeface="Arial"/>
              </a:rPr>
              <a:t>[2] </a:t>
            </a:r>
            <a:r>
              <a:rPr sz="850" i="1">
                <a:solidFill>
                  <a:srgbClr val="1C7293"/>
                </a:solidFill>
                <a:latin typeface="Arial"/>
                <a:hlinkClick r:id="rId3"/>
              </a:rPr>
              <a:t>ISO/IEC 22989:2022</a:t>
            </a:r>
            <a:r>
              <a:rPr sz="850" i="1">
                <a:solidFill>
                  <a:srgbClr val="1C7293"/>
                </a:solidFill>
                <a:latin typeface="Arial"/>
              </a:rPr>
              <a:t>   ·   </a:t>
            </a:r>
            <a:r>
              <a:rPr sz="850" b="1" i="1">
                <a:solidFill>
                  <a:srgbClr val="065A82"/>
                </a:solidFill>
                <a:latin typeface="Arial"/>
              </a:rPr>
              <a:t>[3] </a:t>
            </a:r>
            <a:r>
              <a:rPr sz="850" i="1">
                <a:solidFill>
                  <a:srgbClr val="1C7293"/>
                </a:solidFill>
                <a:latin typeface="Arial"/>
                <a:hlinkClick r:id="rId4"/>
              </a:rPr>
              <a:t>Mitchell — Machine Learning (1997)</a:t>
            </a:r>
            <a:r>
              <a:rPr sz="850" i="1">
                <a:solidFill>
                  <a:srgbClr val="1C7293"/>
                </a:solidFill>
                <a:latin typeface="Arial"/>
              </a:rPr>
              <a:t>   ·   </a:t>
            </a:r>
            <a:r>
              <a:rPr sz="850" b="1" i="1">
                <a:solidFill>
                  <a:srgbClr val="065A82"/>
                </a:solidFill>
                <a:latin typeface="Arial"/>
              </a:rPr>
              <a:t>[4] </a:t>
            </a:r>
            <a:r>
              <a:rPr sz="850" i="1">
                <a:solidFill>
                  <a:srgbClr val="1C7293"/>
                </a:solidFill>
                <a:latin typeface="Arial"/>
                <a:hlinkClick r:id="rId5"/>
              </a:rPr>
              <a:t>Searle — Chinese Room (1980) / Turing (1950)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24712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300" b="1" i="0">
                <a:solidFill>
                  <a:srgbClr val="21295C"/>
                </a:solidFill>
                <a:latin typeface="Arial"/>
              </a:rPr>
              <a:t>Идея нейросети старше самого термина «искусственный интеллект» на 13 лет.</a:t>
            </a:r>
          </a:p>
        </p:txBody>
      </p:sp>
      <p:pic>
        <p:nvPicPr>
          <p:cNvPr id="3" name="Picture 2" descr="lettvin-pitts-1959-cro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7652" y="2148840"/>
            <a:ext cx="1811122" cy="210312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9877652" y="2148840"/>
            <a:ext cx="1811122" cy="2103120"/>
          </a:xfrm>
          <a:prstGeom prst="rect">
            <a:avLst/>
          </a:prstGeom>
          <a:noFill/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740492" y="4315968"/>
            <a:ext cx="2085442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80" b="0" i="1">
                <a:solidFill>
                  <a:srgbClr val="6B7685"/>
                </a:solidFill>
                <a:latin typeface="Arial"/>
              </a:rPr>
              <a:t>Питтс (справа) и Леттвин, 1959 — опыт с лягушкой в MIT (это НЕ фото 1943 г.). Wikimedia Commons, CC BY-SA 3.0.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48840"/>
            <a:ext cx="3841546" cy="2148840"/>
          </a:xfrm>
          <a:prstGeom prst="roundRect">
            <a:avLst>
              <a:gd name="adj" fmla="val 14184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404872"/>
            <a:ext cx="3841546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600" b="1" i="0">
                <a:solidFill>
                  <a:srgbClr val="1C7293"/>
                </a:solidFill>
                <a:latin typeface="Arial"/>
              </a:rPr>
              <a:t>1943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" y="3319272"/>
            <a:ext cx="3402634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2000"/>
              </a:lnSpc>
            </a:pPr>
            <a:r>
              <a:rPr sz="1150" b="0" i="1">
                <a:solidFill>
                  <a:srgbClr val="21295C"/>
                </a:solidFill>
                <a:latin typeface="Arial"/>
              </a:rPr>
              <a:t>Мак-Каллок и Питтс </a:t>
            </a:r>
            <a:r>
              <a:rPr sz="598" baseline="30000" b="0" i="1">
                <a:latin typeface="Arial"/>
                <a:cs typeface="Arial"/>
                <a:ea typeface="Arial"/>
                <a:solidFill>
                  <a:srgbClr val="1C7293"/>
                </a:solidFill>
              </a:rPr>
              <a:t>[1]</a:t>
            </a:r>
            <a:r>
              <a:rPr sz="1150" b="0" i="1">
                <a:latin typeface="Arial"/>
                <a:cs typeface="Arial"/>
                <a:ea typeface="Arial"/>
                <a:solidFill>
                  <a:srgbClr val="21295C"/>
                </a:solidFill>
              </a:rPr>
              <a:t>:
формальный нейрон
как логический элемент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33186" y="2148840"/>
            <a:ext cx="3841546" cy="2148840"/>
          </a:xfrm>
          <a:prstGeom prst="roundRect">
            <a:avLst>
              <a:gd name="adj" fmla="val 14184"/>
            </a:avLst>
          </a:prstGeom>
          <a:solidFill>
            <a:srgbClr val="F4F7FA"/>
          </a:solidFill>
          <a:ln w="19050">
            <a:solidFill>
              <a:srgbClr val="065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33186" y="2404872"/>
            <a:ext cx="3841546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600" b="1" i="0">
                <a:solidFill>
                  <a:srgbClr val="065A82"/>
                </a:solidFill>
                <a:latin typeface="Arial"/>
              </a:rPr>
              <a:t>1956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52642" y="3319272"/>
            <a:ext cx="3402634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2000"/>
              </a:lnSpc>
            </a:pPr>
            <a:r>
              <a:rPr sz="1150" b="0" i="1">
                <a:solidFill>
                  <a:srgbClr val="21295C"/>
                </a:solidFill>
                <a:latin typeface="Arial"/>
              </a:rPr>
              <a:t>Дартмутская конференция:
термин «artificial intelligence»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1626" y="2651760"/>
            <a:ext cx="914399" cy="182880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53026" y="2103120"/>
            <a:ext cx="137159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21295C"/>
                </a:solidFill>
                <a:latin typeface="Arial"/>
              </a:rPr>
              <a:t>13 лет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846320"/>
            <a:ext cx="11201400" cy="868680"/>
          </a:xfrm>
          <a:prstGeom prst="roundRect">
            <a:avLst>
              <a:gd name="adj" fmla="val 12000"/>
            </a:avLst>
          </a:prstGeom>
          <a:solidFill>
            <a:srgbClr val="FEF5E0"/>
          </a:solidFill>
          <a:ln w="1524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4919472"/>
            <a:ext cx="10835640" cy="7223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21295C"/>
                </a:solidFill>
                <a:latin typeface="Arial"/>
              </a:rPr>
              <a:t>Формальный нейрон не решал прикладных задач, но предвосхитил коннекционистскую традицию — линию мысли, из которой десятилетия спустя вырастут нейросети и Трансформер.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5925312"/>
            <a:ext cx="11201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1">
                <a:solidFill>
                  <a:srgbClr val="21295C"/>
                </a:solidFill>
                <a:latin typeface="Arial"/>
              </a:rPr>
              <a:t>Идея «нейросети» на теоретическом уровне старше самого термина «искусственный интеллект».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55664"/>
            <a:ext cx="11201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850" b="1" i="1">
                <a:solidFill>
                  <a:srgbClr val="065A82"/>
                </a:solidFill>
                <a:latin typeface="Arial"/>
              </a:rPr>
              <a:t>[1] </a:t>
            </a:r>
            <a:r>
              <a:rPr sz="850" i="1">
                <a:solidFill>
                  <a:srgbClr val="1C7293"/>
                </a:solidFill>
                <a:latin typeface="Arial"/>
                <a:hlinkClick r:id="rId3"/>
              </a:rPr>
              <a:t>McCulloch &amp; Pitts (1943)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24712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800" b="1" i="0">
                <a:solidFill>
                  <a:srgbClr val="21295C"/>
                </a:solidFill>
                <a:latin typeface="Arial"/>
              </a:rPr>
              <a:t>70 лет AI: открытия, зимы, точка перелома 2017. </a:t>
            </a:r>
            <a:r>
              <a:rPr sz="1456" baseline="30000" b="0" i="1">
                <a:latin typeface="Arial"/>
                <a:cs typeface="Arial"/>
                <a:ea typeface="Arial"/>
                <a:solidFill>
                  <a:srgbClr val="1C7293"/>
                </a:solidFill>
              </a:rPr>
              <a:t>[2]</a:t>
            </a:r>
            <a:r>
              <a:rPr sz="2800" b="1" i="0">
                <a:latin typeface="Arial"/>
                <a:cs typeface="Arial"/>
                <a:ea typeface="Arial"/>
                <a:solidFill>
                  <a:srgbClr val="21295C"/>
                </a:solidFill>
              </a:rPr>
              <a:t> </a:t>
            </a:r>
            <a:r>
              <a:rPr sz="1456" baseline="30000" b="0" i="1">
                <a:latin typeface="Arial"/>
                <a:cs typeface="Arial"/>
                <a:ea typeface="Arial"/>
                <a:solidFill>
                  <a:srgbClr val="1C7293"/>
                </a:solidFill>
              </a:rPr>
              <a:t>[3]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572768"/>
            <a:ext cx="11201400" cy="1353312"/>
          </a:xfrm>
          <a:prstGeom prst="roundRect">
            <a:avLst>
              <a:gd name="adj" fmla="val 14000"/>
            </a:avLst>
          </a:prstGeom>
          <a:solidFill>
            <a:srgbClr val="E8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1399032"/>
            <a:ext cx="1517904" cy="36576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51790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Arial"/>
              </a:rPr>
              <a:t>Открытия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523744"/>
            <a:ext cx="10378440" cy="73152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607564" y="2459736"/>
            <a:ext cx="73152" cy="201168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74519"/>
            <a:ext cx="34594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0" i="0">
                <a:solidFill>
                  <a:srgbClr val="21295C"/>
                </a:solidFill>
                <a:latin typeface="Arial"/>
              </a:rPr>
              <a:t>Тьюринг — тест на мышление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06040"/>
            <a:ext cx="3459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50" b="1" i="0">
                <a:solidFill>
                  <a:srgbClr val="1C7293"/>
                </a:solidFill>
                <a:latin typeface="Arial"/>
              </a:rPr>
              <a:t>1950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67044" y="2459736"/>
            <a:ext cx="73152" cy="201168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73880" y="1874519"/>
            <a:ext cx="34594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0" i="0">
                <a:solidFill>
                  <a:srgbClr val="21295C"/>
                </a:solidFill>
                <a:latin typeface="Arial"/>
              </a:rPr>
              <a:t>ELIZA — Вайценбаум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3880" y="2606040"/>
            <a:ext cx="3459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50" b="1" i="0">
                <a:solidFill>
                  <a:srgbClr val="1C7293"/>
                </a:solidFill>
                <a:latin typeface="Arial"/>
              </a:rPr>
              <a:t>1966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526523" y="2459736"/>
            <a:ext cx="73152" cy="201168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33360" y="1874519"/>
            <a:ext cx="34594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0" i="0">
                <a:solidFill>
                  <a:srgbClr val="21295C"/>
                </a:solidFill>
                <a:latin typeface="Arial"/>
              </a:rPr>
              <a:t>Экспертные системы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33360" y="2606040"/>
            <a:ext cx="3459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50" b="1" i="0">
                <a:solidFill>
                  <a:srgbClr val="1C7293"/>
                </a:solidFill>
                <a:latin typeface="Arial"/>
              </a:rPr>
              <a:t>1980-е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063239"/>
            <a:ext cx="11201400" cy="1353312"/>
          </a:xfrm>
          <a:prstGeom prst="roundRect">
            <a:avLst>
              <a:gd name="adj" fmla="val 14000"/>
            </a:avLst>
          </a:prstGeom>
          <a:solidFill>
            <a:srgbClr val="E6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2960" y="2889503"/>
            <a:ext cx="2368296" cy="36576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2889503"/>
            <a:ext cx="236829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Arial"/>
              </a:rPr>
              <a:t>Зимы и прорывы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74136" y="2889503"/>
            <a:ext cx="8055863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1">
                <a:solidFill>
                  <a:srgbClr val="21295C"/>
                </a:solidFill>
                <a:latin typeface="Arial"/>
              </a:rPr>
              <a:t>ресурсы уходят, когда обещания не сбываются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4014215"/>
            <a:ext cx="10378440" cy="73152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607564" y="3950207"/>
            <a:ext cx="73152" cy="20116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3364991"/>
            <a:ext cx="34594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0" i="0">
                <a:solidFill>
                  <a:srgbClr val="21295C"/>
                </a:solidFill>
                <a:latin typeface="Arial"/>
              </a:rPr>
              <a:t>1-я зима — доклад Лайтхилла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096512"/>
            <a:ext cx="3459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50" b="1" i="0">
                <a:solidFill>
                  <a:srgbClr val="065A82"/>
                </a:solidFill>
                <a:latin typeface="Arial"/>
              </a:rPr>
              <a:t>1974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67044" y="3950207"/>
            <a:ext cx="73152" cy="20116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73880" y="3364991"/>
            <a:ext cx="34594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0" i="0">
                <a:solidFill>
                  <a:srgbClr val="21295C"/>
                </a:solidFill>
                <a:latin typeface="Arial"/>
              </a:rPr>
              <a:t>Deep Blue — 200M поз/сек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73880" y="4096512"/>
            <a:ext cx="3459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50" b="1" i="0">
                <a:solidFill>
                  <a:srgbClr val="065A82"/>
                </a:solidFill>
                <a:latin typeface="Arial"/>
              </a:rPr>
              <a:t>1997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526523" y="3950207"/>
            <a:ext cx="73152" cy="20116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33360" y="3364991"/>
            <a:ext cx="34594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0" i="0">
                <a:solidFill>
                  <a:srgbClr val="21295C"/>
                </a:solidFill>
                <a:latin typeface="Arial"/>
              </a:rPr>
              <a:t>AlexNet — GPU + DL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33360" y="4096512"/>
            <a:ext cx="3459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50" b="1" i="0">
                <a:solidFill>
                  <a:srgbClr val="065A82"/>
                </a:solidFill>
                <a:latin typeface="Arial"/>
              </a:rPr>
              <a:t>2012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4553712"/>
            <a:ext cx="11201400" cy="1353312"/>
          </a:xfrm>
          <a:prstGeom prst="roundRect">
            <a:avLst>
              <a:gd name="adj" fmla="val 14000"/>
            </a:avLst>
          </a:prstGeom>
          <a:solidFill>
            <a:srgbClr val="E8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22960" y="4379975"/>
            <a:ext cx="2510028" cy="365760"/>
          </a:xfrm>
          <a:prstGeom prst="roundRect">
            <a:avLst>
              <a:gd name="adj" fmla="val 50000"/>
            </a:avLst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4379975"/>
            <a:ext cx="251002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Arial"/>
              </a:rPr>
              <a:t>Перелом и взрыв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4400" y="5504687"/>
            <a:ext cx="10378440" cy="73152"/>
          </a:xfrm>
          <a:prstGeom prst="roundRect">
            <a:avLst>
              <a:gd name="adj" fmla="val 50000"/>
            </a:avLst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2470404" y="5138927"/>
            <a:ext cx="310896" cy="310896"/>
          </a:xfrm>
          <a:prstGeom prst="ellipse">
            <a:avLst/>
          </a:prstGeom>
          <a:solidFill>
            <a:srgbClr val="F0AB00"/>
          </a:solidFill>
          <a:ln w="22225">
            <a:solidFill>
              <a:srgbClr val="2129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4855464"/>
            <a:ext cx="34594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 i="0">
                <a:solidFill>
                  <a:srgbClr val="21295C"/>
                </a:solidFill>
                <a:latin typeface="Arial"/>
              </a:rPr>
              <a:t>«Attention Is All You Need»  ★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026920" y="5486399"/>
            <a:ext cx="1234440" cy="402336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" y="5495543"/>
            <a:ext cx="3459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21295C"/>
                </a:solidFill>
                <a:latin typeface="Arial"/>
              </a:rPr>
              <a:t>2017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67044" y="5440679"/>
            <a:ext cx="73152" cy="201168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373880" y="4855464"/>
            <a:ext cx="34594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0" i="0">
                <a:solidFill>
                  <a:srgbClr val="21295C"/>
                </a:solidFill>
                <a:latin typeface="Arial"/>
              </a:rPr>
              <a:t>ChatGPT — 1M за 5 дней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73880" y="5586983"/>
            <a:ext cx="3459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50" b="1" i="0">
                <a:solidFill>
                  <a:srgbClr val="21295C"/>
                </a:solidFill>
                <a:latin typeface="Arial"/>
              </a:rPr>
              <a:t>2022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526523" y="5440679"/>
            <a:ext cx="73152" cy="201168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833360" y="4855464"/>
            <a:ext cx="34594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0" i="0">
                <a:solidFill>
                  <a:srgbClr val="21295C"/>
                </a:solidFill>
                <a:latin typeface="Arial"/>
              </a:rPr>
              <a:t>DeepSeek R1, Claude Code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33360" y="5586983"/>
            <a:ext cx="3459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50" b="1" i="0">
                <a:solidFill>
                  <a:srgbClr val="21295C"/>
                </a:solidFill>
                <a:latin typeface="Arial"/>
              </a:rPr>
              <a:t>2025-26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02920" y="5724144"/>
            <a:ext cx="11201400" cy="658368"/>
          </a:xfrm>
          <a:prstGeom prst="roundRect">
            <a:avLst>
              <a:gd name="adj" fmla="val 12000"/>
            </a:avLst>
          </a:prstGeom>
          <a:solidFill>
            <a:srgbClr val="FEF5E0"/>
          </a:solidFill>
          <a:ln w="1524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85800" y="5797296"/>
            <a:ext cx="10835640" cy="5120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 i="0">
                <a:solidFill>
                  <a:srgbClr val="21295C"/>
                </a:solidFill>
                <a:latin typeface="Arial"/>
              </a:rPr>
              <a:t>★ 2017 — Vaswani и 7 соавторов (Shazeer, Parmar, Uszkoreit, Jones, Gomez, Kaiser, Polosukhin) вводят механизм self-attention — основу всех современных LLM. На май 2026 у статьи свыше 160 000 цитирований. </a:t>
            </a:r>
            <a:r>
              <a:rPr sz="650" baseline="30000" b="0" i="1">
                <a:latin typeface="Arial"/>
                <a:cs typeface="Arial"/>
                <a:ea typeface="Arial"/>
                <a:solidFill>
                  <a:srgbClr val="1C7293"/>
                </a:solidFill>
              </a:rPr>
              <a:t>[1]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2920" y="6455664"/>
            <a:ext cx="11201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850" b="1" i="1">
                <a:solidFill>
                  <a:srgbClr val="065A82"/>
                </a:solidFill>
                <a:latin typeface="Arial"/>
              </a:rPr>
              <a:t>[1] </a:t>
            </a:r>
            <a:r>
              <a:rPr sz="850" i="1">
                <a:solidFill>
                  <a:srgbClr val="1C7293"/>
                </a:solidFill>
                <a:latin typeface="Arial"/>
                <a:hlinkClick r:id="rId2"/>
              </a:rPr>
              <a:t>Vaswani et al. — Attention Is All You Need (2017)</a:t>
            </a:r>
            <a:r>
              <a:rPr sz="850" i="1">
                <a:solidFill>
                  <a:srgbClr val="1C7293"/>
                </a:solidFill>
                <a:latin typeface="Arial"/>
              </a:rPr>
              <a:t>   ·   </a:t>
            </a:r>
            <a:r>
              <a:rPr sz="850" b="1" i="1">
                <a:solidFill>
                  <a:srgbClr val="065A82"/>
                </a:solidFill>
                <a:latin typeface="Arial"/>
              </a:rPr>
              <a:t>[2] </a:t>
            </a:r>
            <a:r>
              <a:rPr sz="850" i="1">
                <a:solidFill>
                  <a:srgbClr val="1C7293"/>
                </a:solidFill>
                <a:latin typeface="Arial"/>
                <a:hlinkClick r:id="rId3"/>
              </a:rPr>
              <a:t>McCorduck — Machines Who Think (2004)</a:t>
            </a:r>
            <a:r>
              <a:rPr sz="850" i="1">
                <a:solidFill>
                  <a:srgbClr val="1C7293"/>
                </a:solidFill>
                <a:latin typeface="Arial"/>
              </a:rPr>
              <a:t>   ·   </a:t>
            </a:r>
            <a:r>
              <a:rPr sz="850" b="1" i="1">
                <a:solidFill>
                  <a:srgbClr val="065A82"/>
                </a:solidFill>
                <a:latin typeface="Arial"/>
              </a:rPr>
              <a:t>[3] </a:t>
            </a:r>
            <a:r>
              <a:rPr sz="850" i="1">
                <a:solidFill>
                  <a:srgbClr val="1C7293"/>
                </a:solidFill>
                <a:latin typeface="Arial"/>
                <a:hlinkClick r:id="rId4"/>
              </a:rPr>
              <a:t>Dhar — Paradigm Shifts in AI, CACM (2024)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2014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000" b="1" i="0">
                <a:solidFill>
                  <a:srgbClr val="21295C"/>
                </a:solidFill>
                <a:latin typeface="Arial"/>
              </a:rPr>
              <a:t>Раздел 2 · Где мы сейчас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325880"/>
            <a:ext cx="11201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0" i="1">
                <a:solidFill>
                  <a:srgbClr val="065A82"/>
                </a:solidFill>
                <a:latin typeface="Arial"/>
              </a:rPr>
              <a:t>AI как инфраструктура, прорывы 2023–2026.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3707" y="2331720"/>
            <a:ext cx="1783080" cy="2926080"/>
          </a:xfrm>
          <a:prstGeom prst="roundRect">
            <a:avLst>
              <a:gd name="adj" fmla="val 17094"/>
            </a:avLst>
          </a:prstGeom>
          <a:solidFill>
            <a:srgbClr val="FFFFFF"/>
          </a:solidFill>
          <a:ln w="1524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03707" y="2606039"/>
            <a:ext cx="17830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400" b="1" i="0">
                <a:solidFill>
                  <a:srgbClr val="1C7293"/>
                </a:solidFill>
                <a:latin typeface="Arial"/>
              </a:rPr>
              <a:t>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6859" y="3520439"/>
            <a:ext cx="1636776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21295C"/>
                </a:solidFill>
                <a:latin typeface="Arial"/>
              </a:rPr>
              <a:t>Введение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6859" y="4434840"/>
            <a:ext cx="1636776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 i="1">
                <a:solidFill>
                  <a:srgbClr val="6B7685"/>
                </a:solidFill>
                <a:latin typeface="Arial"/>
              </a:rPr>
              <a:t>Демо · инструктор ·
центральный вопрос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23947" y="2331720"/>
            <a:ext cx="1783080" cy="2926080"/>
          </a:xfrm>
          <a:prstGeom prst="roundRect">
            <a:avLst>
              <a:gd name="adj" fmla="val 17094"/>
            </a:avLst>
          </a:prstGeom>
          <a:solidFill>
            <a:srgbClr val="FFFFFF"/>
          </a:solidFill>
          <a:ln w="1524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23947" y="2606039"/>
            <a:ext cx="17830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400" b="1" i="0">
                <a:solidFill>
                  <a:srgbClr val="1C7293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97099" y="3520439"/>
            <a:ext cx="1636776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21295C"/>
                </a:solidFill>
                <a:latin typeface="Arial"/>
              </a:rPr>
              <a:t>Что такое 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97099" y="4434840"/>
            <a:ext cx="1636776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 i="1">
                <a:solidFill>
                  <a:srgbClr val="6B7685"/>
                </a:solidFill>
                <a:latin typeface="Arial"/>
              </a:rPr>
              <a:t>Определения,
история, перелом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44187" y="2331720"/>
            <a:ext cx="1783080" cy="2926080"/>
          </a:xfrm>
          <a:prstGeom prst="roundRect">
            <a:avLst>
              <a:gd name="adj" fmla="val 17094"/>
            </a:avLst>
          </a:prstGeom>
          <a:solidFill>
            <a:srgbClr val="F0AB00"/>
          </a:solidFill>
          <a:ln w="317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44187" y="2606039"/>
            <a:ext cx="17830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17339" y="3520439"/>
            <a:ext cx="1636776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FFFFFF"/>
                </a:solidFill>
                <a:latin typeface="Arial"/>
              </a:rPr>
              <a:t>Где мы
сейчас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17339" y="4434840"/>
            <a:ext cx="1636776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 i="1">
                <a:solidFill>
                  <a:srgbClr val="FFFFFF"/>
                </a:solidFill>
                <a:latin typeface="Arial"/>
              </a:rPr>
              <a:t>Цифры рынка
2022–2026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64427" y="2331720"/>
            <a:ext cx="1783080" cy="2926080"/>
          </a:xfrm>
          <a:prstGeom prst="roundRect">
            <a:avLst>
              <a:gd name="adj" fmla="val 17094"/>
            </a:avLst>
          </a:prstGeom>
          <a:solidFill>
            <a:srgbClr val="FFFFFF"/>
          </a:solidFill>
          <a:ln w="1524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64427" y="2606039"/>
            <a:ext cx="17830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400" b="1" i="0">
                <a:solidFill>
                  <a:srgbClr val="065A82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37579" y="3520439"/>
            <a:ext cx="1636776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21295C"/>
                </a:solidFill>
                <a:latin typeface="Arial"/>
              </a:rPr>
              <a:t>Четыре способа
реализации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37579" y="4434840"/>
            <a:ext cx="1636776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 i="1">
                <a:solidFill>
                  <a:srgbClr val="6B7685"/>
                </a:solidFill>
                <a:latin typeface="Arial"/>
              </a:rPr>
              <a:t>Модель · чат ·
агент · приложение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84667" y="2331720"/>
            <a:ext cx="1783080" cy="2926080"/>
          </a:xfrm>
          <a:prstGeom prst="roundRect">
            <a:avLst>
              <a:gd name="adj" fmla="val 17094"/>
            </a:avLst>
          </a:prstGeom>
          <a:solidFill>
            <a:srgbClr val="FFFFFF"/>
          </a:solidFill>
          <a:ln w="1524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84667" y="2606039"/>
            <a:ext cx="17830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400" b="1" i="0">
                <a:solidFill>
                  <a:srgbClr val="21295C"/>
                </a:solidFill>
                <a:latin typeface="Arial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57819" y="3520439"/>
            <a:ext cx="1636776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21295C"/>
                </a:solidFill>
                <a:latin typeface="Arial"/>
              </a:rPr>
              <a:t>Границы
и безопасность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57819" y="4434840"/>
            <a:ext cx="1636776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 i="1">
                <a:solidFill>
                  <a:srgbClr val="6B7685"/>
                </a:solidFill>
                <a:latin typeface="Arial"/>
              </a:rPr>
              <a:t>Что AI ломает
и где не работает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004907" y="2331720"/>
            <a:ext cx="1783080" cy="2926080"/>
          </a:xfrm>
          <a:prstGeom prst="roundRect">
            <a:avLst>
              <a:gd name="adj" fmla="val 17094"/>
            </a:avLst>
          </a:prstGeom>
          <a:solidFill>
            <a:srgbClr val="FFFFFF"/>
          </a:solidFill>
          <a:ln w="1524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04907" y="2606039"/>
            <a:ext cx="17830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400" b="1" i="0">
                <a:solidFill>
                  <a:srgbClr val="21295C"/>
                </a:solidFill>
                <a:latin typeface="Arial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78059" y="3520439"/>
            <a:ext cx="1636776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21295C"/>
                </a:solidFill>
                <a:latin typeface="Arial"/>
              </a:rPr>
              <a:t>Заключение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78059" y="4434840"/>
            <a:ext cx="1636776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 i="1">
                <a:solidFill>
                  <a:srgbClr val="6B7685"/>
                </a:solidFill>
                <a:latin typeface="Arial"/>
              </a:rPr>
              <a:t>Резюме ·
карта семестра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24712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 i="0">
                <a:solidFill>
                  <a:srgbClr val="21295C"/>
                </a:solidFill>
                <a:latin typeface="Arial"/>
              </a:rPr>
              <a:t>AI стал инфраструктурой за 3 года: 900M пользователей, 51% разработчиков ежедневно, 46% Copilot-кода.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828800"/>
            <a:ext cx="5532120" cy="1691640"/>
          </a:xfrm>
          <a:prstGeom prst="roundRect">
            <a:avLst>
              <a:gd name="adj" fmla="val 18018"/>
            </a:avLst>
          </a:prstGeom>
          <a:solidFill>
            <a:srgbClr val="F4F7FA"/>
          </a:solidFill>
          <a:ln w="19050">
            <a:solidFill>
              <a:srgbClr val="065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ucide-users-2-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2057400"/>
            <a:ext cx="50292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2011680"/>
            <a:ext cx="42519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065A82"/>
                </a:solidFill>
                <a:latin typeface="Arial"/>
              </a:rPr>
              <a:t>900M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697480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21295C"/>
                </a:solidFill>
                <a:latin typeface="Arial"/>
              </a:rPr>
              <a:t>WAU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017520"/>
            <a:ext cx="50749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6B7685"/>
                </a:solidFill>
                <a:latin typeface="Arial"/>
              </a:rPr>
              <a:t>ChatGPT, февраль 2026 </a:t>
            </a:r>
            <a:r>
              <a:rPr sz="520" baseline="30000" b="0" i="1">
                <a:latin typeface="Arial"/>
                <a:cs typeface="Arial"/>
                <a:ea typeface="Arial"/>
                <a:solidFill>
                  <a:srgbClr val="1C7293"/>
                </a:solidFill>
              </a:rPr>
              <a:t>[2]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264408"/>
            <a:ext cx="5074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6B7685"/>
                </a:solidFill>
                <a:latin typeface="Arial"/>
              </a:rPr>
              <a:t>OpenAI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828800"/>
            <a:ext cx="5532120" cy="1691640"/>
          </a:xfrm>
          <a:prstGeom prst="roundRect">
            <a:avLst>
              <a:gd name="adj" fmla="val 18018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lucide-code-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2057400"/>
            <a:ext cx="502920" cy="502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46520" y="2011680"/>
            <a:ext cx="42519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1C7293"/>
                </a:solidFill>
                <a:latin typeface="Arial"/>
              </a:rPr>
              <a:t>51%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697480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21295C"/>
                </a:solidFill>
                <a:latin typeface="Arial"/>
              </a:rPr>
              <a:t>ежедневно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3017520"/>
            <a:ext cx="50749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6B7685"/>
                </a:solidFill>
                <a:latin typeface="Arial"/>
              </a:rPr>
              <a:t>Stack Overflow Dev Survey 2025 </a:t>
            </a:r>
            <a:r>
              <a:rPr sz="520" baseline="30000" b="0" i="1">
                <a:latin typeface="Arial"/>
                <a:cs typeface="Arial"/>
                <a:ea typeface="Arial"/>
                <a:solidFill>
                  <a:srgbClr val="1C7293"/>
                </a:solidFill>
              </a:rPr>
              <a:t>[1]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3264408"/>
            <a:ext cx="5074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6B7685"/>
                </a:solidFill>
                <a:latin typeface="Arial"/>
              </a:rPr>
              <a:t>n=49k+, 177 стран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657600"/>
            <a:ext cx="5532120" cy="1691640"/>
          </a:xfrm>
          <a:prstGeom prst="roundRect">
            <a:avLst>
              <a:gd name="adj" fmla="val 18018"/>
            </a:avLst>
          </a:prstGeom>
          <a:solidFill>
            <a:srgbClr val="F4F7FA"/>
          </a:solidFill>
          <a:ln w="19050">
            <a:solidFill>
              <a:srgbClr val="065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840480"/>
            <a:ext cx="42519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065A82"/>
                </a:solidFill>
                <a:latin typeface="Arial"/>
              </a:rPr>
              <a:t>46%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526280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21295C"/>
                </a:solidFill>
                <a:latin typeface="Arial"/>
              </a:rPr>
              <a:t>кода у Copilot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846320"/>
            <a:ext cx="50749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6B7685"/>
                </a:solidFill>
                <a:latin typeface="Arial"/>
              </a:rPr>
              <a:t>GitHub Octoverse 2025 </a:t>
            </a:r>
            <a:r>
              <a:rPr sz="520" baseline="30000" b="0" i="1">
                <a:latin typeface="Arial"/>
                <a:cs typeface="Arial"/>
                <a:ea typeface="Arial"/>
                <a:solidFill>
                  <a:srgbClr val="1C7293"/>
                </a:solidFill>
              </a:rPr>
              <a:t>[3]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093207"/>
            <a:ext cx="5074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6B7685"/>
                </a:solidFill>
                <a:latin typeface="Arial"/>
              </a:rPr>
              <a:t>Java — 61%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3657600"/>
            <a:ext cx="5532120" cy="1691640"/>
          </a:xfrm>
          <a:prstGeom prst="roundRect">
            <a:avLst>
              <a:gd name="adj" fmla="val 18018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lucide-dollar-sign-bl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7080" y="3886200"/>
            <a:ext cx="502920" cy="50292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446520" y="3840480"/>
            <a:ext cx="42519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C7293"/>
                </a:solidFill>
                <a:latin typeface="Arial"/>
              </a:rPr>
              <a:t>$390.9B→$539.5B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4526280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21295C"/>
                </a:solidFill>
                <a:latin typeface="Arial"/>
              </a:rPr>
              <a:t>AI-рынок 2025→2026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4846320"/>
            <a:ext cx="50749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6B7685"/>
                </a:solidFill>
                <a:latin typeface="Arial"/>
              </a:rPr>
              <a:t>Grand View Research, 2026 </a:t>
            </a:r>
            <a:r>
              <a:rPr sz="520" baseline="30000" b="0" i="1">
                <a:latin typeface="Arial"/>
                <a:cs typeface="Arial"/>
                <a:ea typeface="Arial"/>
                <a:solidFill>
                  <a:srgbClr val="1C7293"/>
                </a:solidFill>
              </a:rPr>
              <a:t>[4]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5093207"/>
            <a:ext cx="5074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6B7685"/>
                </a:solidFill>
                <a:latin typeface="Arial"/>
              </a:rPr>
              <a:t>Statista (software-only): ~$244–260B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5532120"/>
            <a:ext cx="11201400" cy="822960"/>
          </a:xfrm>
          <a:prstGeom prst="roundRect">
            <a:avLst>
              <a:gd name="adj" fmla="val 12000"/>
            </a:avLst>
          </a:prstGeom>
          <a:solidFill>
            <a:srgbClr val="FEF5E0"/>
          </a:solidFill>
          <a:ln w="1524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5605272"/>
            <a:ext cx="1083564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21295C"/>
                </a:solidFill>
                <a:latin typeface="Arial"/>
              </a:rPr>
              <a:t>Контр-факт: ~90% AI-пилотов в РФ не доходят до прода. CNews / Vedomosti / Intellectual Analytics, март 2026. </a:t>
            </a:r>
            <a:r>
              <a:rPr sz="728" baseline="30000" b="0" i="1">
                <a:latin typeface="Arial"/>
                <a:cs typeface="Arial"/>
                <a:ea typeface="Arial"/>
                <a:solidFill>
                  <a:srgbClr val="1C7293"/>
                </a:solidFill>
              </a:rPr>
              <a:t>[5]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55664"/>
            <a:ext cx="11201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760" b="1" i="1">
                <a:solidFill>
                  <a:srgbClr val="065A82"/>
                </a:solidFill>
                <a:latin typeface="Arial"/>
              </a:rPr>
              <a:t>[1] </a:t>
            </a:r>
            <a:r>
              <a:rPr sz="760" i="1">
                <a:solidFill>
                  <a:srgbClr val="1C7293"/>
                </a:solidFill>
                <a:latin typeface="Arial"/>
                <a:hlinkClick r:id="rId5"/>
              </a:rPr>
              <a:t>Stack Overflow — Developer Survey 2025</a:t>
            </a:r>
            <a:r>
              <a:rPr sz="760" i="1">
                <a:solidFill>
                  <a:srgbClr val="1C7293"/>
                </a:solidFill>
                <a:latin typeface="Arial"/>
              </a:rPr>
              <a:t>   ·   </a:t>
            </a:r>
            <a:r>
              <a:rPr sz="760" b="1" i="1">
                <a:solidFill>
                  <a:srgbClr val="065A82"/>
                </a:solidFill>
                <a:latin typeface="Arial"/>
              </a:rPr>
              <a:t>[2] </a:t>
            </a:r>
            <a:r>
              <a:rPr sz="760" i="1">
                <a:solidFill>
                  <a:srgbClr val="1C7293"/>
                </a:solidFill>
                <a:latin typeface="Arial"/>
                <a:hlinkClick r:id="rId6"/>
              </a:rPr>
              <a:t>OpenAI — ChatGPT WAU (фев 2026)</a:t>
            </a:r>
            <a:r>
              <a:rPr sz="760" i="1">
                <a:solidFill>
                  <a:srgbClr val="1C7293"/>
                </a:solidFill>
                <a:latin typeface="Arial"/>
              </a:rPr>
              <a:t>   ·   </a:t>
            </a:r>
            <a:r>
              <a:rPr sz="760" b="1" i="1">
                <a:solidFill>
                  <a:srgbClr val="065A82"/>
                </a:solidFill>
                <a:latin typeface="Arial"/>
              </a:rPr>
              <a:t>[3] </a:t>
            </a:r>
            <a:r>
              <a:rPr sz="760" i="1">
                <a:solidFill>
                  <a:srgbClr val="1C7293"/>
                </a:solidFill>
                <a:latin typeface="Arial"/>
                <a:hlinkClick r:id="rId7"/>
              </a:rPr>
              <a:t>GitHub — Octoverse 2025</a:t>
            </a:r>
            <a:r>
              <a:rPr sz="760" i="1">
                <a:solidFill>
                  <a:srgbClr val="1C7293"/>
                </a:solidFill>
                <a:latin typeface="Arial"/>
              </a:rPr>
              <a:t>   ·   </a:t>
            </a:r>
            <a:r>
              <a:rPr sz="760" b="1" i="1">
                <a:solidFill>
                  <a:srgbClr val="065A82"/>
                </a:solidFill>
                <a:latin typeface="Arial"/>
              </a:rPr>
              <a:t>[4] </a:t>
            </a:r>
            <a:r>
              <a:rPr sz="760" i="1">
                <a:solidFill>
                  <a:srgbClr val="1C7293"/>
                </a:solidFill>
                <a:latin typeface="Arial"/>
                <a:hlinkClick r:id="rId8"/>
              </a:rPr>
              <a:t>Grand View Research (2026)</a:t>
            </a:r>
            <a:r>
              <a:rPr sz="760" i="1">
                <a:solidFill>
                  <a:srgbClr val="1C7293"/>
                </a:solidFill>
                <a:latin typeface="Arial"/>
              </a:rPr>
              <a:t>   ·   </a:t>
            </a:r>
            <a:r>
              <a:rPr sz="760" b="1" i="1">
                <a:solidFill>
                  <a:srgbClr val="065A82"/>
                </a:solidFill>
                <a:latin typeface="Arial"/>
              </a:rPr>
              <a:t>[5] </a:t>
            </a:r>
            <a:r>
              <a:rPr sz="760" i="1">
                <a:solidFill>
                  <a:srgbClr val="1C7293"/>
                </a:solidFill>
                <a:latin typeface="Arial"/>
                <a:hlinkClick r:id="rId9"/>
              </a:rPr>
              <a:t>Vedomosti / Intellectual Analytics (мар 2026)</a:t>
            </a:r>
            <a:r>
              <a:rPr sz="760" i="1">
                <a:solidFill>
                  <a:srgbClr val="1C7293"/>
                </a:solidFill>
                <a:latin typeface="Arial"/>
              </a:rPr>
              <a:t>   ·   </a:t>
            </a:r>
            <a:r>
              <a:rPr sz="760" b="1" i="1">
                <a:solidFill>
                  <a:srgbClr val="065A82"/>
                </a:solidFill>
                <a:latin typeface="Arial"/>
              </a:rPr>
              <a:t>[6] </a:t>
            </a:r>
            <a:r>
              <a:rPr sz="760" i="1">
                <a:solidFill>
                  <a:srgbClr val="1C7293"/>
                </a:solidFill>
                <a:latin typeface="Arial"/>
                <a:hlinkClick r:id="rId10"/>
              </a:rPr>
              <a:t>Gartner — пресс-релиз (окт 2024)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24712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600" b="1" i="0">
                <a:solidFill>
                  <a:srgbClr val="21295C"/>
                </a:solidFill>
                <a:latin typeface="Arial"/>
              </a:rPr>
              <a:t>Пространство открыто: 4 прорыва 2023–2026 от не-первых игроков.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57987" y="1874519"/>
            <a:ext cx="2697480" cy="3657600"/>
          </a:xfrm>
          <a:prstGeom prst="roundRect">
            <a:avLst>
              <a:gd name="adj" fmla="val 11299"/>
            </a:avLst>
          </a:prstGeom>
          <a:solidFill>
            <a:srgbClr val="F4F7FA"/>
          </a:solidFill>
          <a:ln w="19050">
            <a:solidFill>
              <a:srgbClr val="065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57987" y="1874519"/>
            <a:ext cx="2697480" cy="640080"/>
          </a:xfrm>
          <a:prstGeom prst="roundRect">
            <a:avLst>
              <a:gd name="adj" fmla="val 10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57987" y="1929384"/>
            <a:ext cx="26974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FFFFFF"/>
                </a:solidFill>
                <a:latin typeface="Arial"/>
              </a:rPr>
              <a:t>сентябрь
2023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5147" y="2743200"/>
            <a:ext cx="2423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200" b="1" i="0">
                <a:solidFill>
                  <a:srgbClr val="21295C"/>
                </a:solidFill>
                <a:latin typeface="Arial"/>
              </a:rPr>
              <a:t>Mistral 7B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867" y="3566160"/>
            <a:ext cx="23317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21295C"/>
                </a:solidFill>
                <a:latin typeface="Arial"/>
              </a:rPr>
              <a:t>Apache 2.0
обходит Llama-2 13B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7987" y="5029200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1">
                <a:solidFill>
                  <a:srgbClr val="6B7685"/>
                </a:solidFill>
                <a:latin typeface="Arial"/>
              </a:rPr>
              <a:t>Mistral AI (FR) </a:t>
            </a:r>
            <a:r>
              <a:rPr sz="624" baseline="30000" b="0" i="1">
                <a:latin typeface="Arial"/>
                <a:cs typeface="Arial"/>
                <a:ea typeface="Arial"/>
                <a:solidFill>
                  <a:srgbClr val="1C7293"/>
                </a:solidFill>
              </a:rPr>
              <a:t>[1]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84067" y="1874519"/>
            <a:ext cx="2697480" cy="3657600"/>
          </a:xfrm>
          <a:prstGeom prst="roundRect">
            <a:avLst>
              <a:gd name="adj" fmla="val 11299"/>
            </a:avLst>
          </a:prstGeom>
          <a:solidFill>
            <a:srgbClr val="F4F7FA"/>
          </a:solidFill>
          <a:ln w="317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284067" y="1874519"/>
            <a:ext cx="2697480" cy="640080"/>
          </a:xfrm>
          <a:prstGeom prst="roundRect">
            <a:avLst>
              <a:gd name="adj" fmla="val 1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84067" y="1929384"/>
            <a:ext cx="26974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21295C"/>
                </a:solidFill>
                <a:latin typeface="Arial"/>
              </a:rPr>
              <a:t>январь
2025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1227" y="2743200"/>
            <a:ext cx="2423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200" b="1" i="0">
                <a:solidFill>
                  <a:srgbClr val="21295C"/>
                </a:solidFill>
                <a:latin typeface="Arial"/>
              </a:rPr>
              <a:t>DeepSeek R1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66947" y="3566160"/>
            <a:ext cx="23317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1" i="0">
                <a:solidFill>
                  <a:srgbClr val="F0AB00"/>
                </a:solidFill>
                <a:latin typeface="Arial"/>
              </a:rPr>
              <a:t>$589B
Nvidia drop за день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84067" y="5029200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1">
                <a:solidFill>
                  <a:srgbClr val="6B7685"/>
                </a:solidFill>
                <a:latin typeface="Arial"/>
              </a:rPr>
              <a:t>DeepSeek (CN) </a:t>
            </a:r>
            <a:r>
              <a:rPr sz="624" baseline="30000" b="0" i="1">
                <a:latin typeface="Arial"/>
                <a:cs typeface="Arial"/>
                <a:ea typeface="Arial"/>
                <a:solidFill>
                  <a:srgbClr val="1C7293"/>
                </a:solidFill>
              </a:rPr>
              <a:t>[2, 3, 4]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0147" y="1874519"/>
            <a:ext cx="2697480" cy="3657600"/>
          </a:xfrm>
          <a:prstGeom prst="roundRect">
            <a:avLst>
              <a:gd name="adj" fmla="val 11299"/>
            </a:avLst>
          </a:prstGeom>
          <a:solidFill>
            <a:srgbClr val="F4F7FA"/>
          </a:solidFill>
          <a:ln w="19050">
            <a:solidFill>
              <a:srgbClr val="065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10147" y="1874519"/>
            <a:ext cx="2697480" cy="640080"/>
          </a:xfrm>
          <a:prstGeom prst="roundRect">
            <a:avLst>
              <a:gd name="adj" fmla="val 10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0147" y="1929384"/>
            <a:ext cx="26974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FFFFFF"/>
                </a:solidFill>
                <a:latin typeface="Arial"/>
              </a:rPr>
              <a:t>ноябрь
2025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47307" y="2743200"/>
            <a:ext cx="2423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200" b="1" i="0">
                <a:solidFill>
                  <a:srgbClr val="21295C"/>
                </a:solidFill>
                <a:latin typeface="Arial"/>
              </a:rPr>
              <a:t>OpenClaw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93027" y="3566160"/>
            <a:ext cx="23317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21295C"/>
                </a:solidFill>
                <a:latin typeface="Arial"/>
              </a:rPr>
              <a:t>100K★ stars
за квартал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0147" y="5029200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1">
                <a:solidFill>
                  <a:srgbClr val="6B7685"/>
                </a:solidFill>
                <a:latin typeface="Arial"/>
              </a:rPr>
              <a:t>P. Steinberger </a:t>
            </a:r>
            <a:r>
              <a:rPr sz="624" baseline="30000" b="0" i="1">
                <a:latin typeface="Arial"/>
                <a:cs typeface="Arial"/>
                <a:ea typeface="Arial"/>
                <a:solidFill>
                  <a:srgbClr val="1C7293"/>
                </a:solidFill>
              </a:rPr>
              <a:t>[5]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36227" y="1874519"/>
            <a:ext cx="2697480" cy="3657600"/>
          </a:xfrm>
          <a:prstGeom prst="roundRect">
            <a:avLst>
              <a:gd name="adj" fmla="val 11299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36227" y="1874519"/>
            <a:ext cx="2697480" cy="640080"/>
          </a:xfrm>
          <a:prstGeom prst="roundRect">
            <a:avLst>
              <a:gd name="adj" fmla="val 10000"/>
            </a:avLst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36227" y="1929384"/>
            <a:ext cx="26974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FFFFFF"/>
                </a:solidFill>
                <a:latin typeface="Arial"/>
              </a:rPr>
              <a:t>февраль
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73387" y="2743200"/>
            <a:ext cx="2423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200" b="1" i="0">
                <a:solidFill>
                  <a:srgbClr val="21295C"/>
                </a:solidFill>
                <a:latin typeface="Arial"/>
              </a:rPr>
              <a:t>llama.cpp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19107" y="3566160"/>
            <a:ext cx="23317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21295C"/>
                </a:solidFill>
                <a:latin typeface="Arial"/>
              </a:rPr>
              <a:t>100K+★ на GitHub
быстрее PyTorch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36227" y="5029200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1">
                <a:solidFill>
                  <a:srgbClr val="6B7685"/>
                </a:solidFill>
                <a:latin typeface="Arial"/>
              </a:rPr>
              <a:t>G. Gerganov / ggml.ai </a:t>
            </a:r>
            <a:r>
              <a:rPr sz="624" baseline="30000" b="0" i="1">
                <a:latin typeface="Arial"/>
                <a:cs typeface="Arial"/>
                <a:ea typeface="Arial"/>
                <a:solidFill>
                  <a:srgbClr val="1C7293"/>
                </a:solidFill>
              </a:rPr>
              <a:t>[6]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5870448"/>
            <a:ext cx="11201400" cy="502920"/>
          </a:xfrm>
          <a:prstGeom prst="roundRect">
            <a:avLst>
              <a:gd name="adj" fmla="val 12000"/>
            </a:avLst>
          </a:prstGeom>
          <a:solidFill>
            <a:srgbClr val="FEF5E0"/>
          </a:solidFill>
          <a:ln w="1524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5943600"/>
            <a:ext cx="10835640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21295C"/>
                </a:solidFill>
                <a:latin typeface="Arial"/>
              </a:rPr>
              <a:t>Не отчаивайтесь: серьёзные прорывы делают разные команды. Курс — про устойчивые концепты, переживающие смену поколений моделей.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55664"/>
            <a:ext cx="11201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760" b="1" i="1">
                <a:solidFill>
                  <a:srgbClr val="065A82"/>
                </a:solidFill>
                <a:latin typeface="Arial"/>
              </a:rPr>
              <a:t>[1] </a:t>
            </a:r>
            <a:r>
              <a:rPr sz="760" i="1">
                <a:solidFill>
                  <a:srgbClr val="1C7293"/>
                </a:solidFill>
                <a:latin typeface="Arial"/>
                <a:hlinkClick r:id="rId2"/>
              </a:rPr>
              <a:t>Mistral AI — Announcing Mistral 7B (сен 2023)</a:t>
            </a:r>
            <a:r>
              <a:rPr sz="760" i="1">
                <a:solidFill>
                  <a:srgbClr val="1C7293"/>
                </a:solidFill>
                <a:latin typeface="Arial"/>
              </a:rPr>
              <a:t>   ·   </a:t>
            </a:r>
            <a:r>
              <a:rPr sz="760" b="1" i="1">
                <a:solidFill>
                  <a:srgbClr val="065A82"/>
                </a:solidFill>
                <a:latin typeface="Arial"/>
              </a:rPr>
              <a:t>[2] </a:t>
            </a:r>
            <a:r>
              <a:rPr sz="760" i="1">
                <a:solidFill>
                  <a:srgbClr val="1C7293"/>
                </a:solidFill>
                <a:latin typeface="Arial"/>
                <a:hlinkClick r:id="rId3"/>
              </a:rPr>
              <a:t>DeepSeek-R1 — тех.отчёт (янв 2025)</a:t>
            </a:r>
            <a:r>
              <a:rPr sz="760" i="1">
                <a:solidFill>
                  <a:srgbClr val="1C7293"/>
                </a:solidFill>
                <a:latin typeface="Arial"/>
              </a:rPr>
              <a:t>   ·   </a:t>
            </a:r>
            <a:r>
              <a:rPr sz="760" b="1" i="1">
                <a:solidFill>
                  <a:srgbClr val="065A82"/>
                </a:solidFill>
                <a:latin typeface="Arial"/>
              </a:rPr>
              <a:t>[3] </a:t>
            </a:r>
            <a:r>
              <a:rPr sz="760" i="1">
                <a:solidFill>
                  <a:srgbClr val="1C7293"/>
                </a:solidFill>
                <a:latin typeface="Arial"/>
                <a:hlinkClick r:id="rId4"/>
              </a:rPr>
              <a:t>SemiAnalysis — DeepSeek cost analysis (2025)</a:t>
            </a:r>
            <a:r>
              <a:rPr sz="760" i="1">
                <a:solidFill>
                  <a:srgbClr val="1C7293"/>
                </a:solidFill>
                <a:latin typeface="Arial"/>
              </a:rPr>
              <a:t>   ·   </a:t>
            </a:r>
            <a:r>
              <a:rPr sz="760" b="1" i="1">
                <a:solidFill>
                  <a:srgbClr val="065A82"/>
                </a:solidFill>
                <a:latin typeface="Arial"/>
              </a:rPr>
              <a:t>[4] </a:t>
            </a:r>
            <a:r>
              <a:rPr sz="760" i="1">
                <a:solidFill>
                  <a:srgbClr val="1C7293"/>
                </a:solidFill>
                <a:latin typeface="Arial"/>
                <a:hlinkClick r:id="rId5"/>
              </a:rPr>
              <a:t>Bloomberg — Nvidia $589B drop (27 янв 2025)</a:t>
            </a:r>
            <a:r>
              <a:rPr sz="760" i="1">
                <a:solidFill>
                  <a:srgbClr val="1C7293"/>
                </a:solidFill>
                <a:latin typeface="Arial"/>
              </a:rPr>
              <a:t>   ·   </a:t>
            </a:r>
            <a:r>
              <a:rPr sz="760" b="1" i="1">
                <a:solidFill>
                  <a:srgbClr val="065A82"/>
                </a:solidFill>
                <a:latin typeface="Arial"/>
              </a:rPr>
              <a:t>[5] </a:t>
            </a:r>
            <a:r>
              <a:rPr sz="760" i="1">
                <a:solidFill>
                  <a:srgbClr val="1C7293"/>
                </a:solidFill>
                <a:latin typeface="Arial"/>
                <a:hlinkClick r:id="rId6"/>
              </a:rPr>
              <a:t>Steinberger — OpenClaw (GitHub)</a:t>
            </a:r>
            <a:r>
              <a:rPr sz="760" i="1">
                <a:solidFill>
                  <a:srgbClr val="1C7293"/>
                </a:solidFill>
                <a:latin typeface="Arial"/>
              </a:rPr>
              <a:t>   ·   </a:t>
            </a:r>
            <a:r>
              <a:rPr sz="760" b="1" i="1">
                <a:solidFill>
                  <a:srgbClr val="065A82"/>
                </a:solidFill>
                <a:latin typeface="Arial"/>
              </a:rPr>
              <a:t>[6] </a:t>
            </a:r>
            <a:r>
              <a:rPr sz="760" i="1">
                <a:solidFill>
                  <a:srgbClr val="1C7293"/>
                </a:solidFill>
                <a:latin typeface="Arial"/>
                <a:hlinkClick r:id="rId7"/>
              </a:rPr>
              <a:t>Gerganov — llama.cpp / ggml.ai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2014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000" b="1" i="0">
                <a:solidFill>
                  <a:srgbClr val="21295C"/>
                </a:solidFill>
                <a:latin typeface="Arial"/>
              </a:rPr>
              <a:t>Раздел 3 · Четыре способа реализации систем с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325880"/>
            <a:ext cx="11201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0" i="1">
                <a:solidFill>
                  <a:srgbClr val="065A82"/>
                </a:solidFill>
                <a:latin typeface="Arial"/>
              </a:rPr>
              <a:t>Не альтернативы, а слои.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3707" y="2331720"/>
            <a:ext cx="1783080" cy="2926080"/>
          </a:xfrm>
          <a:prstGeom prst="roundRect">
            <a:avLst>
              <a:gd name="adj" fmla="val 17094"/>
            </a:avLst>
          </a:prstGeom>
          <a:solidFill>
            <a:srgbClr val="FFFFFF"/>
          </a:solidFill>
          <a:ln w="1524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03707" y="2606039"/>
            <a:ext cx="17830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400" b="1" i="0">
                <a:solidFill>
                  <a:srgbClr val="1C7293"/>
                </a:solidFill>
                <a:latin typeface="Arial"/>
              </a:rPr>
              <a:t>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6859" y="3520439"/>
            <a:ext cx="1636776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21295C"/>
                </a:solidFill>
                <a:latin typeface="Arial"/>
              </a:rPr>
              <a:t>Введение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6859" y="4434840"/>
            <a:ext cx="1636776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 i="1">
                <a:solidFill>
                  <a:srgbClr val="6B7685"/>
                </a:solidFill>
                <a:latin typeface="Arial"/>
              </a:rPr>
              <a:t>Демо · инструктор ·
центральный вопрос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23947" y="2331720"/>
            <a:ext cx="1783080" cy="2926080"/>
          </a:xfrm>
          <a:prstGeom prst="roundRect">
            <a:avLst>
              <a:gd name="adj" fmla="val 17094"/>
            </a:avLst>
          </a:prstGeom>
          <a:solidFill>
            <a:srgbClr val="FFFFFF"/>
          </a:solidFill>
          <a:ln w="1524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23947" y="2606039"/>
            <a:ext cx="17830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400" b="1" i="0">
                <a:solidFill>
                  <a:srgbClr val="1C7293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97099" y="3520439"/>
            <a:ext cx="1636776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21295C"/>
                </a:solidFill>
                <a:latin typeface="Arial"/>
              </a:rPr>
              <a:t>Что такое 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97099" y="4434840"/>
            <a:ext cx="1636776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 i="1">
                <a:solidFill>
                  <a:srgbClr val="6B7685"/>
                </a:solidFill>
                <a:latin typeface="Arial"/>
              </a:rPr>
              <a:t>Определения,
история, перелом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44187" y="2331720"/>
            <a:ext cx="1783080" cy="2926080"/>
          </a:xfrm>
          <a:prstGeom prst="roundRect">
            <a:avLst>
              <a:gd name="adj" fmla="val 17094"/>
            </a:avLst>
          </a:prstGeom>
          <a:solidFill>
            <a:srgbClr val="FFFFFF"/>
          </a:solidFill>
          <a:ln w="1524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44187" y="2606039"/>
            <a:ext cx="17830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400" b="1" i="0">
                <a:solidFill>
                  <a:srgbClr val="065A82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17339" y="3520439"/>
            <a:ext cx="1636776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21295C"/>
                </a:solidFill>
                <a:latin typeface="Arial"/>
              </a:rPr>
              <a:t>Где мы
сейчас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17339" y="4434840"/>
            <a:ext cx="1636776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 i="1">
                <a:solidFill>
                  <a:srgbClr val="6B7685"/>
                </a:solidFill>
                <a:latin typeface="Arial"/>
              </a:rPr>
              <a:t>Цифры рынка
2022–2026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64427" y="2331720"/>
            <a:ext cx="1783080" cy="2926080"/>
          </a:xfrm>
          <a:prstGeom prst="roundRect">
            <a:avLst>
              <a:gd name="adj" fmla="val 17094"/>
            </a:avLst>
          </a:prstGeom>
          <a:solidFill>
            <a:srgbClr val="F0AB00"/>
          </a:solidFill>
          <a:ln w="317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64427" y="2606039"/>
            <a:ext cx="17830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37579" y="3520439"/>
            <a:ext cx="1636776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FFFFFF"/>
                </a:solidFill>
                <a:latin typeface="Arial"/>
              </a:rPr>
              <a:t>Четыре способа
реализации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37579" y="4434840"/>
            <a:ext cx="1636776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 i="1">
                <a:solidFill>
                  <a:srgbClr val="FFFFFF"/>
                </a:solidFill>
                <a:latin typeface="Arial"/>
              </a:rPr>
              <a:t>Модель · чат ·
агент · приложение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84667" y="2331720"/>
            <a:ext cx="1783080" cy="2926080"/>
          </a:xfrm>
          <a:prstGeom prst="roundRect">
            <a:avLst>
              <a:gd name="adj" fmla="val 17094"/>
            </a:avLst>
          </a:prstGeom>
          <a:solidFill>
            <a:srgbClr val="FFFFFF"/>
          </a:solidFill>
          <a:ln w="1524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84667" y="2606039"/>
            <a:ext cx="17830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400" b="1" i="0">
                <a:solidFill>
                  <a:srgbClr val="21295C"/>
                </a:solidFill>
                <a:latin typeface="Arial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57819" y="3520439"/>
            <a:ext cx="1636776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21295C"/>
                </a:solidFill>
                <a:latin typeface="Arial"/>
              </a:rPr>
              <a:t>Границы
и безопасность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57819" y="4434840"/>
            <a:ext cx="1636776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 i="1">
                <a:solidFill>
                  <a:srgbClr val="6B7685"/>
                </a:solidFill>
                <a:latin typeface="Arial"/>
              </a:rPr>
              <a:t>Что AI ломает
и где не работает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004907" y="2331720"/>
            <a:ext cx="1783080" cy="2926080"/>
          </a:xfrm>
          <a:prstGeom prst="roundRect">
            <a:avLst>
              <a:gd name="adj" fmla="val 17094"/>
            </a:avLst>
          </a:prstGeom>
          <a:solidFill>
            <a:srgbClr val="FFFFFF"/>
          </a:solidFill>
          <a:ln w="1524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04907" y="2606039"/>
            <a:ext cx="17830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400" b="1" i="0">
                <a:solidFill>
                  <a:srgbClr val="21295C"/>
                </a:solidFill>
                <a:latin typeface="Arial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78059" y="3520439"/>
            <a:ext cx="1636776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21295C"/>
                </a:solidFill>
                <a:latin typeface="Arial"/>
              </a:rPr>
              <a:t>Заключение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78059" y="4434840"/>
            <a:ext cx="1636776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 i="1">
                <a:solidFill>
                  <a:srgbClr val="6B7685"/>
                </a:solidFill>
                <a:latin typeface="Arial"/>
              </a:rPr>
              <a:t>Резюме ·
карта семестра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24712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600" b="1" i="0">
                <a:solidFill>
                  <a:srgbClr val="21295C"/>
                </a:solidFill>
                <a:latin typeface="Arial"/>
              </a:rPr>
              <a:t>Способы реализации систем с AI: не альтернативы, а слои.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937759" y="1508760"/>
            <a:ext cx="6949440" cy="4572000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 w="31750">
            <a:solidFill>
              <a:srgbClr val="2129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714999" y="2788920"/>
            <a:ext cx="5394960" cy="3291840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31750">
            <a:solidFill>
              <a:srgbClr val="065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46519" y="3977640"/>
            <a:ext cx="3931920" cy="2103120"/>
          </a:xfrm>
          <a:prstGeom prst="roundRect">
            <a:avLst>
              <a:gd name="adj" fmla="val 14492"/>
            </a:avLst>
          </a:prstGeom>
          <a:solidFill>
            <a:srgbClr val="FFFFFF"/>
          </a:solidFill>
          <a:ln w="317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223759" y="5166360"/>
            <a:ext cx="2377440" cy="9144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84064" y="1618488"/>
            <a:ext cx="6656831" cy="566928"/>
          </a:xfrm>
          <a:prstGeom prst="roundRect">
            <a:avLst>
              <a:gd name="adj" fmla="val 20000"/>
            </a:avLst>
          </a:prstGeom>
          <a:solidFill>
            <a:srgbClr val="E6F2F4"/>
          </a:solidFill>
          <a:ln w="12700">
            <a:solidFill>
              <a:srgbClr val="2129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48655" y="1636776"/>
            <a:ext cx="632764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21295C"/>
                </a:solidFill>
                <a:latin typeface="Arial"/>
              </a:rPr>
              <a:t>Приложение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48655" y="1874520"/>
            <a:ext cx="632764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 i="1">
                <a:solidFill>
                  <a:srgbClr val="21295C"/>
                </a:solidFill>
                <a:latin typeface="Arial"/>
              </a:rPr>
              <a:t>+ AI внутри продукта · формы, кнопки, интеграции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61303" y="2898648"/>
            <a:ext cx="5102352" cy="566928"/>
          </a:xfrm>
          <a:prstGeom prst="roundRect">
            <a:avLst>
              <a:gd name="adj" fmla="val 20000"/>
            </a:avLst>
          </a:prstGeom>
          <a:solidFill>
            <a:srgbClr val="E6F2F4"/>
          </a:solidFill>
          <a:ln w="12700">
            <a:solidFill>
              <a:srgbClr val="065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25895" y="2916936"/>
            <a:ext cx="477316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65A82"/>
                </a:solidFill>
                <a:latin typeface="Arial"/>
              </a:rPr>
              <a:t>Агент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25895" y="3154680"/>
            <a:ext cx="47731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 i="1">
                <a:solidFill>
                  <a:srgbClr val="21295C"/>
                </a:solidFill>
                <a:latin typeface="Arial"/>
              </a:rPr>
              <a:t>+ инструменты (API, поиск, код) · планирование · vector DB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92823" y="4087368"/>
            <a:ext cx="3639312" cy="566928"/>
          </a:xfrm>
          <a:prstGeom prst="roundRect">
            <a:avLst>
              <a:gd name="adj" fmla="val 20000"/>
            </a:avLst>
          </a:prstGeom>
          <a:solidFill>
            <a:srgbClr val="E6F2F4"/>
          </a:solidFill>
          <a:ln w="127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57415" y="4105656"/>
            <a:ext cx="33101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C7293"/>
                </a:solidFill>
                <a:latin typeface="Arial"/>
              </a:rPr>
              <a:t>Чат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57415" y="4343400"/>
            <a:ext cx="33101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 i="1">
                <a:solidFill>
                  <a:srgbClr val="21295C"/>
                </a:solidFill>
                <a:latin typeface="Arial"/>
              </a:rPr>
              <a:t>+ UI диалога · память истории сообщений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199" y="5257800"/>
            <a:ext cx="2194560" cy="731520"/>
          </a:xfrm>
          <a:prstGeom prst="roundRect">
            <a:avLst>
              <a:gd name="adj" fmla="val 20000"/>
            </a:avLst>
          </a:prstGeom>
          <a:solidFill>
            <a:srgbClr val="E6F2F4"/>
          </a:solidFill>
          <a:ln w="1270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23759" y="5285232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028090"/>
                </a:solidFill>
                <a:latin typeface="Arial"/>
              </a:rPr>
              <a:t>Модель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59" y="5586984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1">
                <a:solidFill>
                  <a:srgbClr val="21295C"/>
                </a:solidFill>
                <a:latin typeface="Arial"/>
              </a:rPr>
              <a:t>stateless: вход → модель → выход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1828800"/>
            <a:ext cx="4206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1295C"/>
                </a:solidFill>
                <a:latin typeface="Arial"/>
              </a:rPr>
              <a:t>Каждый следующий слой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2331720"/>
            <a:ext cx="4206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1295C"/>
                </a:solidFill>
                <a:latin typeface="Arial"/>
              </a:rPr>
              <a:t>включает предыдущий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3108960"/>
            <a:ext cx="420624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21295C"/>
                </a:solidFill>
                <a:latin typeface="Arial"/>
              </a:rPr>
              <a:t>Не четыре альтернативные технологии, а четыре способа реализации одной задачи. </a:t>
            </a:r>
            <a:r>
              <a:rPr sz="676" baseline="30000" b="0" i="1">
                <a:latin typeface="Arial"/>
                <a:cs typeface="Arial"/>
                <a:ea typeface="Arial"/>
                <a:solidFill>
                  <a:srgbClr val="1C7293"/>
                </a:solidFill>
              </a:rPr>
              <a:t>[1]</a:t>
            </a:r>
            <a:r>
              <a:rPr sz="1300" b="0" i="0">
                <a:latin typeface="Arial"/>
                <a:cs typeface="Arial"/>
                <a:ea typeface="Arial"/>
                <a:solidFill>
                  <a:srgbClr val="21295C"/>
                </a:solidFill>
              </a:rPr>
              <a:t> Каждое следующее обёртывание добавляет способности — и сложность, стоимость, потенциал ошибок. </a:t>
            </a:r>
            <a:r>
              <a:rPr sz="676" baseline="30000" b="0" i="1">
                <a:latin typeface="Arial"/>
                <a:cs typeface="Arial"/>
                <a:ea typeface="Arial"/>
                <a:solidFill>
                  <a:srgbClr val="1C7293"/>
                </a:solidFill>
              </a:rPr>
              <a:t>[2]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5577840"/>
            <a:ext cx="4206240" cy="777240"/>
          </a:xfrm>
          <a:prstGeom prst="roundRect">
            <a:avLst>
              <a:gd name="adj" fmla="val 12000"/>
            </a:avLst>
          </a:prstGeom>
          <a:solidFill>
            <a:srgbClr val="FEF5E0"/>
          </a:solidFill>
          <a:ln w="1524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5650992"/>
            <a:ext cx="3840479" cy="6309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21295C"/>
                </a:solidFill>
                <a:latin typeface="Arial"/>
              </a:rPr>
              <a:t>Выбор слоя — инженерное решение, не альтернатива.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55664"/>
            <a:ext cx="11201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850" b="1" i="1">
                <a:solidFill>
                  <a:srgbClr val="065A82"/>
                </a:solidFill>
                <a:latin typeface="Arial"/>
              </a:rPr>
              <a:t>[1] </a:t>
            </a:r>
            <a:r>
              <a:rPr sz="850" i="1">
                <a:solidFill>
                  <a:srgbClr val="1C7293"/>
                </a:solidFill>
                <a:latin typeface="Arial"/>
                <a:hlinkClick r:id="rId2"/>
              </a:rPr>
              <a:t>Anthropic — Building Effective Agents (2024)</a:t>
            </a:r>
            <a:r>
              <a:rPr sz="850" i="1">
                <a:solidFill>
                  <a:srgbClr val="1C7293"/>
                </a:solidFill>
                <a:latin typeface="Arial"/>
              </a:rPr>
              <a:t>   ·   </a:t>
            </a:r>
            <a:r>
              <a:rPr sz="850" b="1" i="1">
                <a:solidFill>
                  <a:srgbClr val="065A82"/>
                </a:solidFill>
                <a:latin typeface="Arial"/>
              </a:rPr>
              <a:t>[2] </a:t>
            </a:r>
            <a:r>
              <a:rPr sz="850" i="1">
                <a:solidFill>
                  <a:srgbClr val="1C7293"/>
                </a:solidFill>
                <a:latin typeface="Arial"/>
                <a:hlinkClick r:id="rId3"/>
              </a:rPr>
              <a:t>Weng — LLM Powered Autonomous Agents (2023)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24712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600" b="1" i="0">
                <a:solidFill>
                  <a:srgbClr val="21295C"/>
                </a:solidFill>
                <a:latin typeface="Arial"/>
              </a:rPr>
              <a:t>Классификация AI-систем </a:t>
            </a:r>
            <a:r>
              <a:rPr sz="1352" baseline="30000" b="0" i="1">
                <a:latin typeface="Arial"/>
                <a:cs typeface="Arial"/>
                <a:ea typeface="Arial"/>
                <a:solidFill>
                  <a:srgbClr val="1C7293"/>
                </a:solidFill>
              </a:rPr>
              <a:t>[1]</a:t>
            </a:r>
            <a:r>
              <a:rPr sz="2600" b="1" i="0">
                <a:latin typeface="Arial"/>
                <a:cs typeface="Arial"/>
                <a:ea typeface="Arial"/>
                <a:solidFill>
                  <a:srgbClr val="21295C"/>
                </a:solidFill>
              </a:rPr>
              <a:t> — две оси: тип задачи × модальность. </a:t>
            </a:r>
            <a:r>
              <a:rPr sz="1352" baseline="30000" b="0" i="1">
                <a:latin typeface="Arial"/>
                <a:cs typeface="Arial"/>
                <a:ea typeface="Arial"/>
                <a:solidFill>
                  <a:srgbClr val="1C7293"/>
                </a:solidFill>
              </a:rPr>
              <a:t>[2]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508760"/>
            <a:ext cx="11201400" cy="4617720"/>
          </a:xfrm>
          <a:prstGeom prst="roundRect">
            <a:avLst>
              <a:gd name="adj" fmla="val 660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ucide-tag-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7480" y="1673351"/>
            <a:ext cx="365760" cy="365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920240" y="205740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065A82"/>
                </a:solidFill>
                <a:latin typeface="Arial"/>
              </a:rPr>
              <a:t>Классиф.</a:t>
            </a:r>
          </a:p>
        </p:txBody>
      </p:sp>
      <p:pic>
        <p:nvPicPr>
          <p:cNvPr id="6" name="Picture 5" descr="lucide-scan-line-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720" y="1673351"/>
            <a:ext cx="365760" cy="365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840480" y="205740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065A82"/>
                </a:solidFill>
                <a:latin typeface="Arial"/>
              </a:rPr>
              <a:t>Распозн.</a:t>
            </a:r>
          </a:p>
        </p:txBody>
      </p:sp>
      <p:pic>
        <p:nvPicPr>
          <p:cNvPr id="8" name="Picture 7" descr="lucide-search-bl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1673351"/>
            <a:ext cx="365760" cy="3657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760720" y="205740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065A82"/>
                </a:solidFill>
                <a:latin typeface="Arial"/>
              </a:rPr>
              <a:t>Поиск</a:t>
            </a:r>
          </a:p>
        </p:txBody>
      </p:sp>
      <p:pic>
        <p:nvPicPr>
          <p:cNvPr id="10" name="Picture 9" descr="lucide-sparkles-blu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8200" y="1673351"/>
            <a:ext cx="365760" cy="3657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680960" y="205740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065A82"/>
                </a:solidFill>
                <a:latin typeface="Arial"/>
              </a:rPr>
              <a:t>Генерац.</a:t>
            </a:r>
          </a:p>
        </p:txBody>
      </p:sp>
      <p:pic>
        <p:nvPicPr>
          <p:cNvPr id="12" name="Picture 11" descr="lucide-trending-up-blu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78440" y="1673351"/>
            <a:ext cx="365760" cy="3657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601200" y="205740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065A82"/>
                </a:solidFill>
                <a:latin typeface="Arial"/>
              </a:rPr>
              <a:t>Прогноз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782062"/>
            <a:ext cx="128016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1" i="0">
                <a:solidFill>
                  <a:srgbClr val="065A82"/>
                </a:solidFill>
                <a:latin typeface="Arial"/>
              </a:rPr>
              <a:t>Текст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627882"/>
            <a:ext cx="128016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1" i="0">
                <a:solidFill>
                  <a:srgbClr val="065A82"/>
                </a:solidFill>
                <a:latin typeface="Arial"/>
              </a:rPr>
              <a:t>Изображ.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473702"/>
            <a:ext cx="128016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1" i="0">
                <a:solidFill>
                  <a:srgbClr val="065A82"/>
                </a:solidFill>
                <a:latin typeface="Arial"/>
              </a:rPr>
              <a:t>Звук / видео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319522"/>
            <a:ext cx="128016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1" i="0">
                <a:solidFill>
                  <a:srgbClr val="065A82"/>
                </a:solidFill>
                <a:latin typeface="Arial"/>
              </a:rPr>
              <a:t>Структ. данные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915668" y="2514600"/>
            <a:ext cx="9144" cy="3383279"/>
          </a:xfrm>
          <a:prstGeom prst="rect">
            <a:avLst/>
          </a:prstGeom>
          <a:solidFill>
            <a:srgbClr val="E5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835908" y="2514600"/>
            <a:ext cx="9144" cy="3383279"/>
          </a:xfrm>
          <a:prstGeom prst="rect">
            <a:avLst/>
          </a:prstGeom>
          <a:solidFill>
            <a:srgbClr val="E5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756148" y="2514600"/>
            <a:ext cx="9144" cy="3383279"/>
          </a:xfrm>
          <a:prstGeom prst="rect">
            <a:avLst/>
          </a:prstGeom>
          <a:solidFill>
            <a:srgbClr val="E5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76388" y="2514600"/>
            <a:ext cx="9144" cy="3383279"/>
          </a:xfrm>
          <a:prstGeom prst="rect">
            <a:avLst/>
          </a:prstGeom>
          <a:solidFill>
            <a:srgbClr val="E5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596628" y="2514600"/>
            <a:ext cx="9144" cy="3383279"/>
          </a:xfrm>
          <a:prstGeom prst="rect">
            <a:avLst/>
          </a:prstGeom>
          <a:solidFill>
            <a:srgbClr val="E5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1516867" y="2514600"/>
            <a:ext cx="9144" cy="3383279"/>
          </a:xfrm>
          <a:prstGeom prst="rect">
            <a:avLst/>
          </a:prstGeom>
          <a:solidFill>
            <a:srgbClr val="E5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920240" y="2510028"/>
            <a:ext cx="9601200" cy="9144"/>
          </a:xfrm>
          <a:prstGeom prst="rect">
            <a:avLst/>
          </a:prstGeom>
          <a:solidFill>
            <a:srgbClr val="E5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920240" y="3355848"/>
            <a:ext cx="9601200" cy="9144"/>
          </a:xfrm>
          <a:prstGeom prst="rect">
            <a:avLst/>
          </a:prstGeom>
          <a:solidFill>
            <a:srgbClr val="E5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920240" y="4201668"/>
            <a:ext cx="9601200" cy="9144"/>
          </a:xfrm>
          <a:prstGeom prst="rect">
            <a:avLst/>
          </a:prstGeom>
          <a:solidFill>
            <a:srgbClr val="E5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920240" y="5047488"/>
            <a:ext cx="9601200" cy="9144"/>
          </a:xfrm>
          <a:prstGeom prst="rect">
            <a:avLst/>
          </a:prstGeom>
          <a:solidFill>
            <a:srgbClr val="E5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920240" y="5893307"/>
            <a:ext cx="9601200" cy="9144"/>
          </a:xfrm>
          <a:prstGeom prst="rect">
            <a:avLst/>
          </a:prstGeom>
          <a:solidFill>
            <a:srgbClr val="E5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975104" y="2587752"/>
            <a:ext cx="1810512" cy="699515"/>
          </a:xfrm>
          <a:prstGeom prst="roundRect">
            <a:avLst>
              <a:gd name="adj" fmla="val 18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011680" y="2791206"/>
            <a:ext cx="17373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 i="0">
                <a:solidFill>
                  <a:srgbClr val="FFFFFF"/>
                </a:solidFill>
                <a:latin typeface="Arial"/>
              </a:rPr>
              <a:t>BERT, спам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975104" y="3433572"/>
            <a:ext cx="1810512" cy="699515"/>
          </a:xfrm>
          <a:prstGeom prst="roundRect">
            <a:avLst>
              <a:gd name="adj" fmla="val 18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011680" y="3637026"/>
            <a:ext cx="17373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 i="0">
                <a:solidFill>
                  <a:srgbClr val="FFFFFF"/>
                </a:solidFill>
                <a:latin typeface="Arial"/>
              </a:rPr>
              <a:t>ResNet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975104" y="4279392"/>
            <a:ext cx="1810512" cy="699515"/>
          </a:xfrm>
          <a:prstGeom prst="roundRect">
            <a:avLst>
              <a:gd name="adj" fmla="val 18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011680" y="4482846"/>
            <a:ext cx="17373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 i="0">
                <a:solidFill>
                  <a:srgbClr val="FFFFFF"/>
                </a:solidFill>
                <a:latin typeface="Arial"/>
              </a:rPr>
              <a:t>PANNs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975104" y="5125212"/>
            <a:ext cx="1810512" cy="699515"/>
          </a:xfrm>
          <a:prstGeom prst="roundRect">
            <a:avLst>
              <a:gd name="adj" fmla="val 18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011680" y="5328666"/>
            <a:ext cx="17373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 i="0">
                <a:solidFill>
                  <a:srgbClr val="FFFFFF"/>
                </a:solidFill>
                <a:latin typeface="Arial"/>
              </a:rPr>
              <a:t>XGBoost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895344" y="2587752"/>
            <a:ext cx="1810512" cy="699515"/>
          </a:xfrm>
          <a:prstGeom prst="roundRect">
            <a:avLst>
              <a:gd name="adj" fmla="val 18000"/>
            </a:avLst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931920" y="2791206"/>
            <a:ext cx="17373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 i="0">
                <a:solidFill>
                  <a:srgbClr val="FFFFFF"/>
                </a:solidFill>
                <a:latin typeface="Arial"/>
              </a:rPr>
              <a:t>spaCy NER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895344" y="3433572"/>
            <a:ext cx="1810512" cy="699515"/>
          </a:xfrm>
          <a:prstGeom prst="roundRect">
            <a:avLst>
              <a:gd name="adj" fmla="val 18000"/>
            </a:avLst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931920" y="3637026"/>
            <a:ext cx="17373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 i="0">
                <a:solidFill>
                  <a:srgbClr val="FFFFFF"/>
                </a:solidFill>
                <a:latin typeface="Arial"/>
              </a:rPr>
              <a:t>YOLO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895344" y="4279392"/>
            <a:ext cx="1810512" cy="699515"/>
          </a:xfrm>
          <a:prstGeom prst="roundRect">
            <a:avLst>
              <a:gd name="adj" fmla="val 18000"/>
            </a:avLst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931920" y="4482846"/>
            <a:ext cx="17373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 i="0">
                <a:solidFill>
                  <a:srgbClr val="FFFFFF"/>
                </a:solidFill>
                <a:latin typeface="Arial"/>
              </a:rPr>
              <a:t>Whisper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895344" y="5125212"/>
            <a:ext cx="1810512" cy="699515"/>
          </a:xfrm>
          <a:prstGeom prst="roundRect">
            <a:avLst>
              <a:gd name="adj" fmla="val 18000"/>
            </a:avLst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931920" y="5328666"/>
            <a:ext cx="17373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 i="0">
                <a:solidFill>
                  <a:srgbClr val="FFFFFF"/>
                </a:solidFill>
                <a:latin typeface="Arial"/>
              </a:rPr>
              <a:t>OCR таблиц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815584" y="2587752"/>
            <a:ext cx="1810512" cy="699515"/>
          </a:xfrm>
          <a:prstGeom prst="roundRect">
            <a:avLst>
              <a:gd name="adj" fmla="val 18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852160" y="2791206"/>
            <a:ext cx="17373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 i="0">
                <a:solidFill>
                  <a:srgbClr val="FFFFFF"/>
                </a:solidFill>
                <a:latin typeface="Arial"/>
              </a:rPr>
              <a:t>BM25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815584" y="3433572"/>
            <a:ext cx="1810512" cy="699515"/>
          </a:xfrm>
          <a:prstGeom prst="roundRect">
            <a:avLst>
              <a:gd name="adj" fmla="val 18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852160" y="3637026"/>
            <a:ext cx="17373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 i="0">
                <a:solidFill>
                  <a:srgbClr val="FFFFFF"/>
                </a:solidFill>
                <a:latin typeface="Arial"/>
              </a:rPr>
              <a:t>CLIP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815584" y="4279392"/>
            <a:ext cx="1810512" cy="699515"/>
          </a:xfrm>
          <a:prstGeom prst="roundRect">
            <a:avLst>
              <a:gd name="adj" fmla="val 18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852160" y="4482846"/>
            <a:ext cx="17373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 i="0">
                <a:solidFill>
                  <a:srgbClr val="FFFFFF"/>
                </a:solidFill>
                <a:latin typeface="Arial"/>
              </a:rPr>
              <a:t>Shazam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815584" y="5125212"/>
            <a:ext cx="1810512" cy="699515"/>
          </a:xfrm>
          <a:prstGeom prst="roundRect">
            <a:avLst>
              <a:gd name="adj" fmla="val 18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852160" y="5328666"/>
            <a:ext cx="17373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 i="0">
                <a:solidFill>
                  <a:srgbClr val="FFFFFF"/>
                </a:solidFill>
                <a:latin typeface="Arial"/>
              </a:rPr>
              <a:t>vector DB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735824" y="2587752"/>
            <a:ext cx="1810512" cy="699515"/>
          </a:xfrm>
          <a:prstGeom prst="roundRect">
            <a:avLst>
              <a:gd name="adj" fmla="val 18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772400" y="2791206"/>
            <a:ext cx="17373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 i="0">
                <a:solidFill>
                  <a:srgbClr val="FFFFFF"/>
                </a:solidFill>
                <a:latin typeface="Arial"/>
              </a:rPr>
              <a:t>GPT-4o, Claude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735824" y="3433572"/>
            <a:ext cx="1810512" cy="699515"/>
          </a:xfrm>
          <a:prstGeom prst="roundRect">
            <a:avLst>
              <a:gd name="adj" fmla="val 18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772400" y="3637026"/>
            <a:ext cx="17373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 i="0">
                <a:solidFill>
                  <a:srgbClr val="FFFFFF"/>
                </a:solidFill>
                <a:latin typeface="Arial"/>
              </a:rPr>
              <a:t>DALL-E, MJ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735824" y="4279392"/>
            <a:ext cx="1810512" cy="699515"/>
          </a:xfrm>
          <a:prstGeom prst="roundRect">
            <a:avLst>
              <a:gd name="adj" fmla="val 18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772400" y="4482846"/>
            <a:ext cx="17373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 i="0">
                <a:solidFill>
                  <a:srgbClr val="FFFFFF"/>
                </a:solidFill>
                <a:latin typeface="Arial"/>
              </a:rPr>
              <a:t>ElevenLabs, Sora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735824" y="5125212"/>
            <a:ext cx="1810512" cy="699515"/>
          </a:xfrm>
          <a:prstGeom prst="roundRect">
            <a:avLst>
              <a:gd name="adj" fmla="val 18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772400" y="5328666"/>
            <a:ext cx="17373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 i="0">
                <a:solidFill>
                  <a:srgbClr val="FFFFFF"/>
                </a:solidFill>
                <a:latin typeface="Arial"/>
              </a:rPr>
              <a:t>Codex tab.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656064" y="2587752"/>
            <a:ext cx="1810512" cy="699515"/>
          </a:xfrm>
          <a:prstGeom prst="roundRect">
            <a:avLst>
              <a:gd name="adj" fmla="val 18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692640" y="2791206"/>
            <a:ext cx="17373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 i="0">
                <a:solidFill>
                  <a:srgbClr val="FFFFFF"/>
                </a:solidFill>
                <a:latin typeface="Arial"/>
              </a:rPr>
              <a:t>GPT-4o, Claude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9656064" y="3433572"/>
            <a:ext cx="1810512" cy="699515"/>
          </a:xfrm>
          <a:prstGeom prst="roundRect">
            <a:avLst>
              <a:gd name="adj" fmla="val 18000"/>
            </a:avLst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692640" y="3637026"/>
            <a:ext cx="17373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 i="0">
                <a:solidFill>
                  <a:srgbClr val="FFFFFF"/>
                </a:solidFill>
                <a:latin typeface="Arial"/>
              </a:rPr>
              <a:t>прогноз кадра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9656064" y="4279392"/>
            <a:ext cx="1810512" cy="699515"/>
          </a:xfrm>
          <a:prstGeom prst="roundRect">
            <a:avLst>
              <a:gd name="adj" fmla="val 18000"/>
            </a:avLst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692640" y="4482846"/>
            <a:ext cx="17373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 i="0">
                <a:solidFill>
                  <a:srgbClr val="FFFFFF"/>
                </a:solidFill>
                <a:latin typeface="Arial"/>
              </a:rPr>
              <a:t>прогноз видео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9656064" y="5125212"/>
            <a:ext cx="1810512" cy="699515"/>
          </a:xfrm>
          <a:prstGeom prst="roundRect">
            <a:avLst>
              <a:gd name="adj" fmla="val 18000"/>
            </a:avLst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692640" y="5328666"/>
            <a:ext cx="17373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 i="0">
                <a:solidFill>
                  <a:srgbClr val="FFFFFF"/>
                </a:solidFill>
                <a:latin typeface="Arial"/>
              </a:rPr>
              <a:t>Prophet, ARIMA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502920" y="5916168"/>
            <a:ext cx="11201400" cy="457200"/>
          </a:xfrm>
          <a:prstGeom prst="roundRect">
            <a:avLst>
              <a:gd name="adj" fmla="val 12000"/>
            </a:avLst>
          </a:prstGeom>
          <a:solidFill>
            <a:srgbClr val="FEF5E0"/>
          </a:solidFill>
          <a:ln w="1524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85800" y="5989320"/>
            <a:ext cx="108356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21295C"/>
                </a:solidFill>
                <a:latin typeface="Arial"/>
              </a:rPr>
              <a:t>YOLO — детекция объектов из демо в начале лекции. Подход к обучению и архитектура — позже в курсе.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02920" y="6455664"/>
            <a:ext cx="11201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850" b="1" i="1">
                <a:solidFill>
                  <a:srgbClr val="065A82"/>
                </a:solidFill>
                <a:latin typeface="Arial"/>
              </a:rPr>
              <a:t>[1] </a:t>
            </a:r>
            <a:r>
              <a:rPr sz="850" i="1">
                <a:solidFill>
                  <a:srgbClr val="1C7293"/>
                </a:solidFill>
                <a:latin typeface="Arial"/>
                <a:hlinkClick r:id="rId7"/>
              </a:rPr>
              <a:t>Russell &amp; Norvig — AIMA (2021)</a:t>
            </a:r>
            <a:r>
              <a:rPr sz="850" i="1">
                <a:solidFill>
                  <a:srgbClr val="1C7293"/>
                </a:solidFill>
                <a:latin typeface="Arial"/>
              </a:rPr>
              <a:t>   ·   </a:t>
            </a:r>
            <a:r>
              <a:rPr sz="850" b="1" i="1">
                <a:solidFill>
                  <a:srgbClr val="065A82"/>
                </a:solidFill>
                <a:latin typeface="Arial"/>
              </a:rPr>
              <a:t>[2] </a:t>
            </a:r>
            <a:r>
              <a:rPr sz="850" i="1">
                <a:solidFill>
                  <a:srgbClr val="1C7293"/>
                </a:solidFill>
                <a:latin typeface="Arial"/>
                <a:hlinkClick r:id="rId8"/>
              </a:rPr>
              <a:t>Goodfellow, Bengio, Courville — Deep Learning (2016)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24712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 i="0">
                <a:solidFill>
                  <a:srgbClr val="21295C"/>
                </a:solidFill>
                <a:latin typeface="Arial"/>
              </a:rPr>
              <a:t>Одна задача, три способа: контроль распределяется между разработчиком и пользователем.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783080" y="1737360"/>
            <a:ext cx="6537960" cy="3611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783080" y="3538728"/>
            <a:ext cx="6537960" cy="9144"/>
          </a:xfrm>
          <a:prstGeom prst="rect">
            <a:avLst/>
          </a:prstGeom>
          <a:solidFill>
            <a:srgbClr val="E5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47488" y="1737360"/>
            <a:ext cx="9144" cy="3611880"/>
          </a:xfrm>
          <a:prstGeom prst="rect">
            <a:avLst/>
          </a:prstGeom>
          <a:solidFill>
            <a:srgbClr val="E5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" y="3177540"/>
            <a:ext cx="16459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400" b="1" i="0">
                <a:solidFill>
                  <a:srgbClr val="065A82"/>
                </a:solidFill>
                <a:latin typeface="Arial"/>
              </a:rPr>
              <a:t>Контроль
разработчика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59" y="1645919"/>
            <a:ext cx="1325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1" i="1">
                <a:solidFill>
                  <a:srgbClr val="6B7685"/>
                </a:solidFill>
                <a:latin typeface="Arial"/>
              </a:rPr>
              <a:t>высокий 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59" y="5404103"/>
            <a:ext cx="1325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1" i="1">
                <a:solidFill>
                  <a:srgbClr val="6B7685"/>
                </a:solidFill>
                <a:latin typeface="Arial"/>
              </a:rPr>
              <a:t>низкий 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57500" y="5422392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065A82"/>
                </a:solidFill>
                <a:latin typeface="Arial"/>
              </a:rPr>
              <a:t>Делегирование от пользователя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578815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1">
                <a:solidFill>
                  <a:srgbClr val="6B7685"/>
                </a:solidFill>
                <a:latin typeface="Arial"/>
              </a:rPr>
              <a:t>← низкий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03720" y="578815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300" b="1" i="1">
                <a:solidFill>
                  <a:srgbClr val="6B7685"/>
                </a:solidFill>
                <a:latin typeface="Arial"/>
              </a:rPr>
              <a:t>высокий 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828800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6B7685"/>
                </a:solidFill>
                <a:latin typeface="Arial"/>
              </a:rPr>
              <a:t>нет смысла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79" y="4965192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1">
                <a:solidFill>
                  <a:srgbClr val="6B7685"/>
                </a:solidFill>
                <a:latin typeface="Arial"/>
              </a:rPr>
              <a:t>опасная зона</a:t>
            </a:r>
          </a:p>
        </p:txBody>
      </p:sp>
      <p:sp>
        <p:nvSpPr>
          <p:cNvPr id="14" name="Oval 13"/>
          <p:cNvSpPr/>
          <p:nvPr/>
        </p:nvSpPr>
        <p:spPr>
          <a:xfrm>
            <a:off x="2656332" y="3759098"/>
            <a:ext cx="868680" cy="8686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2129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42032" y="4010558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Arial"/>
              </a:rPr>
              <a:t>Модель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36192" y="4650638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1">
                <a:solidFill>
                  <a:srgbClr val="21295C"/>
                </a:solidFill>
                <a:latin typeface="Arial"/>
              </a:rPr>
              <a:t>Сам интегрирует API, полный контроль</a:t>
            </a:r>
          </a:p>
        </p:txBody>
      </p:sp>
      <p:sp>
        <p:nvSpPr>
          <p:cNvPr id="17" name="Oval 16"/>
          <p:cNvSpPr/>
          <p:nvPr/>
        </p:nvSpPr>
        <p:spPr>
          <a:xfrm>
            <a:off x="4617720" y="3108960"/>
            <a:ext cx="868680" cy="8686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2129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03420" y="336042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Arial"/>
              </a:rPr>
              <a:t>Чат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97580" y="4000500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1">
                <a:solidFill>
                  <a:srgbClr val="21295C"/>
                </a:solidFill>
                <a:latin typeface="Arial"/>
              </a:rPr>
              <a:t>Диалог, уточнения по ходу</a:t>
            </a:r>
          </a:p>
        </p:txBody>
      </p:sp>
      <p:sp>
        <p:nvSpPr>
          <p:cNvPr id="20" name="Oval 19"/>
          <p:cNvSpPr/>
          <p:nvPr/>
        </p:nvSpPr>
        <p:spPr>
          <a:xfrm>
            <a:off x="6579108" y="2025395"/>
            <a:ext cx="868680" cy="868680"/>
          </a:xfrm>
          <a:prstGeom prst="ellipse">
            <a:avLst/>
          </a:prstGeom>
          <a:solidFill>
            <a:srgbClr val="F0AB00"/>
          </a:solidFill>
          <a:ln w="25400">
            <a:solidFill>
              <a:srgbClr val="2129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64808" y="2276856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21295C"/>
                </a:solidFill>
                <a:latin typeface="Arial"/>
              </a:rPr>
              <a:t>Агент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58968" y="2916936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1">
                <a:solidFill>
                  <a:srgbClr val="21295C"/>
                </a:solidFill>
                <a:latin typeface="Arial"/>
              </a:rPr>
              <a:t>Делегирование целиком, решает оркестратор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778240" y="2194560"/>
            <a:ext cx="3093415" cy="3017520"/>
          </a:xfrm>
          <a:prstGeom prst="roundRect">
            <a:avLst>
              <a:gd name="adj" fmla="val 10101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06840" y="2331720"/>
            <a:ext cx="26362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28090"/>
                </a:solidFill>
                <a:latin typeface="Arial"/>
              </a:rPr>
              <a:t>Одна и та же задача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06840" y="2743200"/>
            <a:ext cx="2636215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21295C"/>
                </a:solidFill>
                <a:latin typeface="Arial"/>
              </a:rPr>
              <a:t>Извлечь поля из входящего PDF-договора:
• дата подписания
• контрагент
• сумма
• срок действия
и положить в таблицу.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5870448"/>
            <a:ext cx="11201400" cy="502920"/>
          </a:xfrm>
          <a:prstGeom prst="roundRect">
            <a:avLst>
              <a:gd name="adj" fmla="val 12000"/>
            </a:avLst>
          </a:prstGeom>
          <a:solidFill>
            <a:srgbClr val="FEF5E0"/>
          </a:solidFill>
          <a:ln w="1524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5943600"/>
            <a:ext cx="10835640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21295C"/>
                </a:solidFill>
                <a:latin typeface="Arial"/>
              </a:rPr>
              <a:t>Распределение контроля — инженерное решение, а не достоинство одного способа над другим. </a:t>
            </a:r>
            <a:r>
              <a:rPr sz="676" baseline="30000" b="0" i="1">
                <a:latin typeface="Arial"/>
                <a:cs typeface="Arial"/>
                <a:ea typeface="Arial"/>
                <a:solidFill>
                  <a:srgbClr val="1C7293"/>
                </a:solidFill>
              </a:rPr>
              <a:t>[1]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55664"/>
            <a:ext cx="11201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850" b="1" i="1">
                <a:solidFill>
                  <a:srgbClr val="065A82"/>
                </a:solidFill>
                <a:latin typeface="Arial"/>
              </a:rPr>
              <a:t>[1] </a:t>
            </a:r>
            <a:r>
              <a:rPr sz="850" i="1">
                <a:solidFill>
                  <a:srgbClr val="1C7293"/>
                </a:solidFill>
                <a:latin typeface="Arial"/>
                <a:hlinkClick r:id="rId2"/>
              </a:rPr>
              <a:t>Anthropic — Building Effective Agents (2024)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0040"/>
            <a:ext cx="1197864" cy="384048"/>
          </a:xfrm>
          <a:prstGeom prst="roundRect">
            <a:avLst>
              <a:gd name="adj" fmla="val 50000"/>
            </a:avLst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МОДЕЛЬ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1124712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000" b="1" i="0">
                <a:solidFill>
                  <a:srgbClr val="21295C"/>
                </a:solidFill>
                <a:latin typeface="Arial"/>
              </a:rPr>
              <a:t>Модель — компонент, не система. Инференс: вход → препроцессинг → модель → постпроцессинг → выход.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74519"/>
            <a:ext cx="10835640" cy="2331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81911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21295C"/>
                </a:solidFill>
                <a:latin typeface="Arial"/>
              </a:rPr>
              <a:t>Это уже приложение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3747" y="2377439"/>
            <a:ext cx="1783080" cy="1234440"/>
          </a:xfrm>
          <a:prstGeom prst="roundRect">
            <a:avLst>
              <a:gd name="adj" fmla="val 15000"/>
            </a:avLst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3747" y="2505456"/>
            <a:ext cx="1783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FFFFFF"/>
                </a:solidFill>
                <a:latin typeface="Arial"/>
              </a:rPr>
              <a:t>Сырой
вход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6899" y="3035807"/>
            <a:ext cx="1636776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50" b="0" i="1">
                <a:solidFill>
                  <a:srgbClr val="FFFFFF"/>
                </a:solidFill>
                <a:latin typeface="Arial"/>
              </a:rPr>
              <a:t>кадр камеры,
текст, звук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543403" y="2811779"/>
            <a:ext cx="384048" cy="365760"/>
          </a:xfrm>
          <a:prstGeom prst="rightArrow">
            <a:avLst/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964027" y="2377439"/>
            <a:ext cx="1783080" cy="1234440"/>
          </a:xfrm>
          <a:prstGeom prst="roundRect">
            <a:avLst>
              <a:gd name="adj" fmla="val 15000"/>
            </a:avLst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64027" y="2505456"/>
            <a:ext cx="1783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FFFFFF"/>
                </a:solidFill>
                <a:latin typeface="Arial"/>
              </a:rPr>
              <a:t>Препро-
цессинг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37179" y="3035807"/>
            <a:ext cx="1636776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50" b="0" i="1">
                <a:solidFill>
                  <a:srgbClr val="FFFFFF"/>
                </a:solidFill>
                <a:latin typeface="Arial"/>
              </a:rPr>
              <a:t>масштабирование,
обрезка, токенизация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783683" y="2811779"/>
            <a:ext cx="384048" cy="365760"/>
          </a:xfrm>
          <a:prstGeom prst="rightArrow">
            <a:avLst/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204307" y="2377439"/>
            <a:ext cx="1783080" cy="1234440"/>
          </a:xfrm>
          <a:prstGeom prst="roundRect">
            <a:avLst>
              <a:gd name="adj" fmla="val 15000"/>
            </a:avLst>
          </a:prstGeom>
          <a:solidFill>
            <a:srgbClr val="065A82"/>
          </a:solidFill>
          <a:ln w="25400">
            <a:solidFill>
              <a:srgbClr val="2129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04307" y="2505456"/>
            <a:ext cx="1783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1" i="0">
                <a:solidFill>
                  <a:srgbClr val="FFFFFF"/>
                </a:solidFill>
                <a:latin typeface="Arial"/>
              </a:rPr>
              <a:t>Модель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77459" y="3035807"/>
            <a:ext cx="1636776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50" b="0" i="1">
                <a:solidFill>
                  <a:srgbClr val="FFFFFF"/>
                </a:solidFill>
                <a:latin typeface="Arial"/>
              </a:rPr>
              <a:t>инференс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023963" y="2811779"/>
            <a:ext cx="384048" cy="365760"/>
          </a:xfrm>
          <a:prstGeom prst="rightArrow">
            <a:avLst/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444587" y="2377439"/>
            <a:ext cx="1783080" cy="1234440"/>
          </a:xfrm>
          <a:prstGeom prst="roundRect">
            <a:avLst>
              <a:gd name="adj" fmla="val 15000"/>
            </a:avLst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44587" y="2505456"/>
            <a:ext cx="1783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FFFFFF"/>
                </a:solidFill>
                <a:latin typeface="Arial"/>
              </a:rPr>
              <a:t>Постпро-
цессинг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17739" y="3035807"/>
            <a:ext cx="1636776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50" b="0" i="1">
                <a:solidFill>
                  <a:srgbClr val="FFFFFF"/>
                </a:solidFill>
                <a:latin typeface="Arial"/>
              </a:rPr>
              <a:t>фильтрация,
нормализация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9264243" y="2811779"/>
            <a:ext cx="384048" cy="365760"/>
          </a:xfrm>
          <a:prstGeom prst="rightArrow">
            <a:avLst/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684867" y="2377439"/>
            <a:ext cx="1783080" cy="1234440"/>
          </a:xfrm>
          <a:prstGeom prst="roundRect">
            <a:avLst>
              <a:gd name="adj" fmla="val 15000"/>
            </a:avLst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84867" y="2505456"/>
            <a:ext cx="1783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FFFFFF"/>
                </a:solidFill>
                <a:latin typeface="Arial"/>
              </a:rPr>
              <a:t>Выход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58019" y="3035807"/>
            <a:ext cx="1636776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50" b="0" i="1">
                <a:solidFill>
                  <a:srgbClr val="FFFFFF"/>
                </a:solidFill>
                <a:latin typeface="Arial"/>
              </a:rPr>
              <a:t>JSON, метка,
действие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747" y="3685031"/>
            <a:ext cx="1783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1">
                <a:solidFill>
                  <a:srgbClr val="6B7685"/>
                </a:solidFill>
                <a:latin typeface="Arial"/>
              </a:rPr>
              <a:t>↑ внешняя система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64027" y="3685031"/>
            <a:ext cx="1783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1">
                <a:solidFill>
                  <a:srgbClr val="065A82"/>
                </a:solidFill>
                <a:latin typeface="Arial"/>
              </a:rPr>
              <a:t>↑ разработчик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04307" y="3685031"/>
            <a:ext cx="1783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1">
                <a:solidFill>
                  <a:srgbClr val="21295C"/>
                </a:solidFill>
                <a:latin typeface="Arial"/>
              </a:rPr>
              <a:t>↑ AI-модель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44587" y="3685031"/>
            <a:ext cx="1783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1">
                <a:solidFill>
                  <a:srgbClr val="065A82"/>
                </a:solidFill>
                <a:latin typeface="Arial"/>
              </a:rPr>
              <a:t>↑ разработчик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84867" y="3685031"/>
            <a:ext cx="1783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1">
                <a:solidFill>
                  <a:srgbClr val="6B7685"/>
                </a:solidFill>
                <a:latin typeface="Arial"/>
              </a:rPr>
              <a:t>↑ приложение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00887" y="4617720"/>
            <a:ext cx="2560320" cy="114300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00887" y="4782312"/>
            <a:ext cx="2560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065A82"/>
                </a:solidFill>
                <a:latin typeface="Arial"/>
              </a:rPr>
              <a:t>YOLOv8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0887" y="5184648"/>
            <a:ext cx="256032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детекция на изображениях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444087" y="4617720"/>
            <a:ext cx="2560320" cy="114300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444087" y="4782312"/>
            <a:ext cx="2560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065A82"/>
                </a:solidFill>
                <a:latin typeface="Arial"/>
              </a:rPr>
              <a:t>Whisper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44087" y="5184648"/>
            <a:ext cx="256032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распознавание речи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87287" y="4617720"/>
            <a:ext cx="2560320" cy="114300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87287" y="4782312"/>
            <a:ext cx="2560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065A82"/>
                </a:solidFill>
                <a:latin typeface="Arial"/>
              </a:rPr>
              <a:t>Stable Diffusion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87287" y="5184648"/>
            <a:ext cx="256032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генерация изображений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930487" y="4617720"/>
            <a:ext cx="2560320" cy="114300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930487" y="4782312"/>
            <a:ext cx="2560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065A82"/>
                </a:solidFill>
                <a:latin typeface="Arial"/>
              </a:rPr>
              <a:t>AlphaFold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30487" y="5184648"/>
            <a:ext cx="256032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прогноз структур белков </a:t>
            </a:r>
            <a:r>
              <a:rPr sz="572" baseline="30000" b="0" i="1">
                <a:latin typeface="Arial"/>
                <a:cs typeface="Arial"/>
                <a:ea typeface="Arial"/>
                <a:solidFill>
                  <a:srgbClr val="1C7293"/>
                </a:solidFill>
              </a:rPr>
              <a:t>[2]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02920" y="5870448"/>
            <a:ext cx="11201400" cy="502920"/>
          </a:xfrm>
          <a:prstGeom prst="roundRect">
            <a:avLst>
              <a:gd name="adj" fmla="val 12000"/>
            </a:avLst>
          </a:prstGeom>
          <a:solidFill>
            <a:srgbClr val="FEF5E0"/>
          </a:solidFill>
          <a:ln w="1524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5800" y="5943600"/>
            <a:ext cx="10835640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21295C"/>
                </a:solidFill>
                <a:latin typeface="Arial"/>
              </a:rPr>
              <a:t>Препроцессинг и постпроцессинг — ответственность разработчика. </a:t>
            </a:r>
            <a:r>
              <a:rPr sz="624" baseline="30000" b="0" i="1">
                <a:latin typeface="Arial"/>
                <a:cs typeface="Arial"/>
                <a:ea typeface="Arial"/>
                <a:solidFill>
                  <a:srgbClr val="1C7293"/>
                </a:solidFill>
              </a:rPr>
              <a:t>[1]</a:t>
            </a:r>
            <a:r>
              <a:rPr sz="1200" b="1" i="0">
                <a:latin typeface="Arial"/>
                <a:cs typeface="Arial"/>
                <a:ea typeface="Arial"/>
                <a:solidFill>
                  <a:srgbClr val="21295C"/>
                </a:solidFill>
              </a:rPr>
              <a:t> YOLO = 50 строк; рабочая система с YOLO = сотни строк.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" y="6455664"/>
            <a:ext cx="11201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850" b="1" i="1">
                <a:solidFill>
                  <a:srgbClr val="065A82"/>
                </a:solidFill>
                <a:latin typeface="Arial"/>
              </a:rPr>
              <a:t>[1] </a:t>
            </a:r>
            <a:r>
              <a:rPr sz="850" i="1">
                <a:solidFill>
                  <a:srgbClr val="1C7293"/>
                </a:solidFill>
                <a:latin typeface="Arial"/>
                <a:hlinkClick r:id="rId2"/>
              </a:rPr>
              <a:t>Kreuzberger et al. — MLOps (2023)</a:t>
            </a:r>
            <a:r>
              <a:rPr sz="850" i="1">
                <a:solidFill>
                  <a:srgbClr val="1C7293"/>
                </a:solidFill>
                <a:latin typeface="Arial"/>
              </a:rPr>
              <a:t>   ·   </a:t>
            </a:r>
            <a:r>
              <a:rPr sz="850" b="1" i="1">
                <a:solidFill>
                  <a:srgbClr val="065A82"/>
                </a:solidFill>
                <a:latin typeface="Arial"/>
              </a:rPr>
              <a:t>[2] </a:t>
            </a:r>
            <a:r>
              <a:rPr sz="850" i="1">
                <a:solidFill>
                  <a:srgbClr val="1C7293"/>
                </a:solidFill>
                <a:latin typeface="Arial"/>
                <a:hlinkClick r:id="rId3"/>
              </a:rPr>
              <a:t>Jumper et al. — AlphaFold, Nature (2021)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0040"/>
            <a:ext cx="758952" cy="384048"/>
          </a:xfrm>
          <a:prstGeom prst="roundRect">
            <a:avLst>
              <a:gd name="adj" fmla="val 50000"/>
            </a:avLst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ЧАТ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1124712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800" b="1" i="0">
                <a:solidFill>
                  <a:srgbClr val="21295C"/>
                </a:solidFill>
                <a:latin typeface="Arial"/>
              </a:rPr>
              <a:t>Как работает чат: цикл диалога.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2743200"/>
            <a:ext cx="777240" cy="777240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907792"/>
            <a:ext cx="777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USER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3977639"/>
            <a:ext cx="777240" cy="777240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4142231"/>
            <a:ext cx="777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USER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554480" y="1920239"/>
            <a:ext cx="3429000" cy="594360"/>
          </a:xfrm>
          <a:prstGeom prst="roundRect">
            <a:avLst>
              <a:gd name="adj" fmla="val 22000"/>
            </a:avLst>
          </a:prstGeom>
          <a:solidFill>
            <a:srgbClr val="FEF5E0"/>
          </a:solidFill>
          <a:ln w="1524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37360" y="1993391"/>
            <a:ext cx="3063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1295C"/>
                </a:solidFill>
                <a:latin typeface="Arial"/>
              </a:rPr>
              <a:t>Системный промпт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2249423"/>
            <a:ext cx="3063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21295C"/>
                </a:solidFill>
                <a:latin typeface="Arial"/>
              </a:rPr>
              <a:t>роль, ограничения, формат ответа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554480" y="2743200"/>
            <a:ext cx="3429000" cy="77724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9050">
            <a:solidFill>
              <a:srgbClr val="065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37360" y="2834640"/>
            <a:ext cx="3063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21295C"/>
                </a:solidFill>
                <a:latin typeface="Arial"/>
              </a:rPr>
              <a:t>Сообщение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3127248"/>
            <a:ext cx="30632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6B7685"/>
                </a:solidFill>
                <a:latin typeface="Arial"/>
              </a:rPr>
              <a:t>вопрос / инструкция / фрагмент данных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3104388" y="2532887"/>
            <a:ext cx="329184" cy="219456"/>
          </a:xfrm>
          <a:prstGeom prst="downArrow">
            <a:avLst/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ight Arrow 14"/>
          <p:cNvSpPr/>
          <p:nvPr/>
        </p:nvSpPr>
        <p:spPr>
          <a:xfrm>
            <a:off x="1435608" y="3040379"/>
            <a:ext cx="100583" cy="182880"/>
          </a:xfrm>
          <a:prstGeom prst="rightArrow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ight Arrow 15"/>
          <p:cNvSpPr/>
          <p:nvPr/>
        </p:nvSpPr>
        <p:spPr>
          <a:xfrm>
            <a:off x="5001768" y="3040379"/>
            <a:ext cx="100583" cy="182880"/>
          </a:xfrm>
          <a:prstGeom prst="rightArrow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120640" y="2743200"/>
            <a:ext cx="2011680" cy="2011679"/>
          </a:xfrm>
          <a:prstGeom prst="roundRect">
            <a:avLst>
              <a:gd name="adj" fmla="val 18000"/>
            </a:avLst>
          </a:prstGeom>
          <a:solidFill>
            <a:srgbClr val="065A82"/>
          </a:solidFill>
          <a:ln w="25400">
            <a:solidFill>
              <a:srgbClr val="2129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20640" y="3383279"/>
            <a:ext cx="20116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 i="0">
                <a:solidFill>
                  <a:srgbClr val="FFFFFF"/>
                </a:solidFill>
                <a:latin typeface="Arial"/>
              </a:rPr>
              <a:t>LLM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3794759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FFFFFF"/>
                </a:solidFill>
                <a:latin typeface="Arial"/>
              </a:rPr>
              <a:t>модель</a:t>
            </a:r>
          </a:p>
        </p:txBody>
      </p:sp>
      <p:sp>
        <p:nvSpPr>
          <p:cNvPr id="20" name="Left Arrow 19"/>
          <p:cNvSpPr/>
          <p:nvPr/>
        </p:nvSpPr>
        <p:spPr>
          <a:xfrm>
            <a:off x="5001768" y="4274820"/>
            <a:ext cx="100583" cy="182880"/>
          </a:xfrm>
          <a:prstGeom prst="leftArrow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554480" y="3977639"/>
            <a:ext cx="3429000" cy="77724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9050">
            <a:solidFill>
              <a:srgbClr val="065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737360" y="4069079"/>
            <a:ext cx="3063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28090"/>
                </a:solidFill>
                <a:latin typeface="Arial"/>
              </a:rPr>
              <a:t>Ответ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37360" y="4361688"/>
            <a:ext cx="30632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6B7685"/>
                </a:solidFill>
                <a:latin typeface="Arial"/>
              </a:rPr>
              <a:t>токен за токеном · дописывается в историю</a:t>
            </a:r>
          </a:p>
        </p:txBody>
      </p:sp>
      <p:sp>
        <p:nvSpPr>
          <p:cNvPr id="24" name="Left Arrow 23"/>
          <p:cNvSpPr/>
          <p:nvPr/>
        </p:nvSpPr>
        <p:spPr>
          <a:xfrm>
            <a:off x="1435608" y="4274820"/>
            <a:ext cx="100583" cy="182880"/>
          </a:xfrm>
          <a:prstGeom prst="leftArrow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554480" y="4937759"/>
            <a:ext cx="3429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6B7685"/>
                </a:solidFill>
                <a:latin typeface="Arial"/>
              </a:rPr>
              <a:t>Следующий шаг — весь текст заново: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554480" y="5212079"/>
            <a:ext cx="829818" cy="219456"/>
          </a:xfrm>
          <a:prstGeom prst="roundRect">
            <a:avLst>
              <a:gd name="adj" fmla="val 3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2411730" y="5212079"/>
            <a:ext cx="829818" cy="219456"/>
          </a:xfrm>
          <a:prstGeom prst="roundRect">
            <a:avLst>
              <a:gd name="adj" fmla="val 30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268980" y="5212079"/>
            <a:ext cx="829818" cy="219456"/>
          </a:xfrm>
          <a:prstGeom prst="roundRect">
            <a:avLst>
              <a:gd name="adj" fmla="val 3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126230" y="5212079"/>
            <a:ext cx="829818" cy="219456"/>
          </a:xfrm>
          <a:prstGeom prst="roundRect">
            <a:avLst>
              <a:gd name="adj" fmla="val 30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554480" y="5486399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1">
                <a:solidFill>
                  <a:srgbClr val="21295C"/>
                </a:solidFill>
                <a:latin typeface="Arial"/>
              </a:rPr>
              <a:t>весь текст заново на каждом шаге — не инкремент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452360" y="1920239"/>
            <a:ext cx="4236415" cy="1508760"/>
          </a:xfrm>
          <a:prstGeom prst="roundRect">
            <a:avLst>
              <a:gd name="adj" fmla="val 12000"/>
            </a:avLst>
          </a:prstGeom>
          <a:solidFill>
            <a:srgbClr val="FEF5E0"/>
          </a:solidFill>
          <a:ln w="1524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35240" y="1993391"/>
            <a:ext cx="3870655" cy="1362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21295C"/>
                </a:solidFill>
                <a:latin typeface="Arial"/>
              </a:rPr>
              <a:t>Контроль через системный промпт.
Промпт задаёт роль, ограничения, формат. Один и тот же чат настраивается под разные сценарии — это инженерный рычаг разработчика. </a:t>
            </a:r>
            <a:r>
              <a:rPr sz="624" baseline="30000" b="0" i="1">
                <a:latin typeface="Arial"/>
                <a:cs typeface="Arial"/>
                <a:ea typeface="Arial"/>
                <a:solidFill>
                  <a:srgbClr val="1C7293"/>
                </a:solidFill>
              </a:rPr>
              <a:t>[1]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452360" y="3703320"/>
            <a:ext cx="4236415" cy="1691640"/>
          </a:xfrm>
          <a:prstGeom prst="roundRect">
            <a:avLst>
              <a:gd name="adj" fmla="val 12000"/>
            </a:avLst>
          </a:prstGeom>
          <a:solidFill>
            <a:srgbClr val="FEF5E0"/>
          </a:solidFill>
          <a:ln w="1524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635240" y="3776472"/>
            <a:ext cx="3870655" cy="1545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21295C"/>
                </a:solidFill>
                <a:latin typeface="Arial"/>
              </a:rPr>
              <a:t>Ограничение — контекстное окно.
128k–1M токенов; когда история перестаёт помещаться, старые сообщения выпадают и чат «забывает» начало длинного разговора. Это ограничение модели, не баг.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053328"/>
            <a:ext cx="11201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1">
                <a:solidFill>
                  <a:srgbClr val="21295C"/>
                </a:solidFill>
                <a:latin typeface="Arial"/>
              </a:rPr>
              <a:t>Чат — это конвейер «собрать → подать → дописать → показать».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6455664"/>
            <a:ext cx="11201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850" b="1" i="1">
                <a:solidFill>
                  <a:srgbClr val="065A82"/>
                </a:solidFill>
                <a:latin typeface="Arial"/>
              </a:rPr>
              <a:t>[1] </a:t>
            </a:r>
            <a:r>
              <a:rPr sz="850" i="1">
                <a:solidFill>
                  <a:srgbClr val="1C7293"/>
                </a:solidFill>
                <a:latin typeface="Arial"/>
                <a:hlinkClick r:id="rId2"/>
              </a:rPr>
              <a:t>Anthropic — Building Effective Agents (2024)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0040"/>
            <a:ext cx="758952" cy="384048"/>
          </a:xfrm>
          <a:prstGeom prst="roundRect">
            <a:avLst>
              <a:gd name="adj" fmla="val 50000"/>
            </a:avLst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ЧАТ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1124712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800" b="1" i="0">
                <a:solidFill>
                  <a:srgbClr val="21295C"/>
                </a:solidFill>
                <a:latin typeface="Arial"/>
              </a:rPr>
              <a:t>Чат = модель + интерфейс + память диалога.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965960"/>
            <a:ext cx="5943600" cy="4114800"/>
          </a:xfrm>
          <a:prstGeom prst="roundRect">
            <a:avLst>
              <a:gd name="adj" fmla="val 7407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194560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28090"/>
                </a:solidFill>
                <a:latin typeface="Arial"/>
              </a:rPr>
              <a:t>Кейс — типовой для чата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606039"/>
            <a:ext cx="53949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21295C"/>
                </a:solidFill>
                <a:latin typeface="Arial"/>
              </a:rPr>
              <a:t>Инженер получил непонятное ТЗ от смежного отдела, нужно составить чек-лист своей работы.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3657600"/>
            <a:ext cx="521208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3794760"/>
            <a:ext cx="484632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1" i="0">
                <a:solidFill>
                  <a:srgbClr val="065A82"/>
                </a:solidFill>
                <a:latin typeface="Arial"/>
              </a:rPr>
              <a:t>Вы:  </a:t>
            </a:r>
            <a:r>
              <a:rPr sz="1200" b="0" i="0">
                <a:solidFill>
                  <a:srgbClr val="21295C"/>
                </a:solidFill>
                <a:latin typeface="Arial"/>
              </a:rPr>
              <a:t>Объясни пункт 4.2 ТЗ простыми словами.</a:t>
            </a:r>
          </a:p>
          <a:p>
            <a:pPr algn="l">
              <a:lnSpc>
                <a:spcPct val="145000"/>
              </a:lnSpc>
            </a:pPr>
            <a:r>
              <a:rPr sz="1200" b="1" i="0">
                <a:solidFill>
                  <a:srgbClr val="028090"/>
                </a:solidFill>
                <a:latin typeface="Arial"/>
              </a:rPr>
              <a:t>Чат:  </a:t>
            </a:r>
            <a:r>
              <a:rPr sz="1200" b="0" i="0">
                <a:solidFill>
                  <a:srgbClr val="21295C"/>
                </a:solidFill>
                <a:latin typeface="Arial"/>
              </a:rPr>
              <a:t>Это требование к…</a:t>
            </a:r>
          </a:p>
          <a:p>
            <a:pPr algn="l">
              <a:lnSpc>
                <a:spcPct val="145000"/>
              </a:lnSpc>
            </a:pPr>
            <a:r>
              <a:rPr sz="1200" b="1" i="0">
                <a:solidFill>
                  <a:srgbClr val="065A82"/>
                </a:solidFill>
                <a:latin typeface="Arial"/>
              </a:rPr>
              <a:t>Вы:  </a:t>
            </a:r>
            <a:r>
              <a:rPr sz="1200" b="0" i="0">
                <a:solidFill>
                  <a:srgbClr val="21295C"/>
                </a:solidFill>
                <a:latin typeface="Arial"/>
              </a:rPr>
              <a:t>Составь чек-лист на 5 пунктов.</a:t>
            </a:r>
          </a:p>
          <a:p>
            <a:pPr algn="l">
              <a:lnSpc>
                <a:spcPct val="145000"/>
              </a:lnSpc>
            </a:pPr>
            <a:r>
              <a:rPr sz="1200" b="1" i="0">
                <a:solidFill>
                  <a:srgbClr val="028090"/>
                </a:solidFill>
                <a:latin typeface="Arial"/>
              </a:rPr>
              <a:t>Чат:  </a:t>
            </a:r>
            <a:r>
              <a:rPr sz="1200" b="0" i="0">
                <a:solidFill>
                  <a:srgbClr val="21295C"/>
                </a:solidFill>
                <a:latin typeface="Arial"/>
              </a:rPr>
              <a:t>1. Проверить…  2. Согласовать…  3. 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623560"/>
            <a:ext cx="5394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1">
                <a:solidFill>
                  <a:srgbClr val="1C7293"/>
                </a:solidFill>
                <a:latin typeface="Arial"/>
              </a:rPr>
              <a:t>Разовая задача с уточнениями — оптимально для чата. Не модель, не агент, не приложение.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66559" y="1965960"/>
            <a:ext cx="4937760" cy="4114800"/>
          </a:xfrm>
          <a:prstGeom prst="roundRect">
            <a:avLst>
              <a:gd name="adj" fmla="val 7407"/>
            </a:avLst>
          </a:prstGeom>
          <a:solidFill>
            <a:srgbClr val="FEF5E0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79" y="219456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21295C"/>
                </a:solidFill>
                <a:latin typeface="Arial"/>
              </a:rPr>
              <a:t>Оговорка для промышленных систем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79" y="2743200"/>
            <a:ext cx="43891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21295C"/>
                </a:solidFill>
                <a:latin typeface="Arial"/>
              </a:rPr>
              <a:t>Чистые чаты почти не используются в промышленной эксплуатации.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79" y="4114800"/>
            <a:ext cx="43891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21295C"/>
                </a:solidFill>
                <a:latin typeface="Arial"/>
              </a:rPr>
              <a:t>Почти везде они расширены до агентов </a:t>
            </a:r>
            <a:r>
              <a:rPr sz="624" baseline="30000" b="0" i="1">
                <a:latin typeface="Arial"/>
                <a:cs typeface="Arial"/>
                <a:ea typeface="Arial"/>
                <a:solidFill>
                  <a:srgbClr val="1C7293"/>
                </a:solidFill>
              </a:rPr>
              <a:t>[1]</a:t>
            </a:r>
            <a:r>
              <a:rPr sz="1200" b="0" i="0">
                <a:latin typeface="Arial"/>
                <a:cs typeface="Arial"/>
                <a:ea typeface="Arial"/>
                <a:solidFill>
                  <a:srgbClr val="21295C"/>
                </a:solidFill>
              </a:rPr>
              <a:t> </a:t>
            </a:r>
            <a:r>
              <a:rPr sz="624" baseline="30000" b="0" i="1">
                <a:latin typeface="Arial"/>
                <a:cs typeface="Arial"/>
                <a:ea typeface="Arial"/>
                <a:solidFill>
                  <a:srgbClr val="1C7293"/>
                </a:solidFill>
              </a:rPr>
              <a:t>[2]</a:t>
            </a:r>
            <a:r>
              <a:rPr sz="1200" b="0" i="0">
                <a:latin typeface="Arial"/>
                <a:cs typeface="Arial"/>
                <a:ea typeface="Arial"/>
                <a:solidFill>
                  <a:srgbClr val="21295C"/>
                </a:solidFill>
              </a:rPr>
              <a:t> — хотя бы для долгосрочной памяти и поиска по корпоративной базе (RAG).
Архитектуру агента разберём на следующем слайде.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5916168"/>
            <a:ext cx="11201400" cy="457200"/>
          </a:xfrm>
          <a:prstGeom prst="roundRect">
            <a:avLst>
              <a:gd name="adj" fmla="val 12000"/>
            </a:avLst>
          </a:prstGeom>
          <a:solidFill>
            <a:srgbClr val="FEF5E0"/>
          </a:solidFill>
          <a:ln w="1524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5989320"/>
            <a:ext cx="108356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21295C"/>
                </a:solidFill>
                <a:latin typeface="Arial"/>
              </a:rPr>
              <a:t>Выбор чата — точка на шкале взаимодействия, не единственно верный вариант.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55664"/>
            <a:ext cx="11201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850" b="1" i="1">
                <a:solidFill>
                  <a:srgbClr val="065A82"/>
                </a:solidFill>
                <a:latin typeface="Arial"/>
              </a:rPr>
              <a:t>[1] </a:t>
            </a:r>
            <a:r>
              <a:rPr sz="850" i="1">
                <a:solidFill>
                  <a:srgbClr val="1C7293"/>
                </a:solidFill>
                <a:latin typeface="Arial"/>
                <a:hlinkClick r:id="rId2"/>
              </a:rPr>
              <a:t>ВЦИОМ — «Нейросети в жизни россиян» (окт 2025)</a:t>
            </a:r>
            <a:r>
              <a:rPr sz="850" i="1">
                <a:solidFill>
                  <a:srgbClr val="1C7293"/>
                </a:solidFill>
                <a:latin typeface="Arial"/>
              </a:rPr>
              <a:t>   ·   </a:t>
            </a:r>
            <a:r>
              <a:rPr sz="850" b="1" i="1">
                <a:solidFill>
                  <a:srgbClr val="065A82"/>
                </a:solidFill>
                <a:latin typeface="Arial"/>
              </a:rPr>
              <a:t>[2] </a:t>
            </a:r>
            <a:r>
              <a:rPr sz="850" i="1">
                <a:solidFill>
                  <a:srgbClr val="1C7293"/>
                </a:solidFill>
                <a:latin typeface="Arial"/>
                <a:hlinkClick r:id="rId3"/>
              </a:rPr>
              <a:t>Dam et al. — Survey on LLM-based AI Chatbots (2024)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0040"/>
            <a:ext cx="1051560" cy="384048"/>
          </a:xfrm>
          <a:prstGeom prst="roundRect">
            <a:avLst>
              <a:gd name="adj" fmla="val 50000"/>
            </a:avLst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АГЕНТ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1124712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600" b="1" i="0">
                <a:solidFill>
                  <a:srgbClr val="21295C"/>
                </a:solidFill>
                <a:latin typeface="Arial"/>
              </a:rPr>
              <a:t>Агент = чат + оркестратор + внешняя память + инструменты. </a:t>
            </a:r>
            <a:r>
              <a:rPr sz="1352" baseline="30000" b="0" i="1">
                <a:latin typeface="Arial"/>
                <a:cs typeface="Arial"/>
                <a:ea typeface="Arial"/>
                <a:solidFill>
                  <a:srgbClr val="1C7293"/>
                </a:solidFill>
              </a:rPr>
              <a:t>[1]</a:t>
            </a:r>
            <a:r>
              <a:rPr sz="2600" b="1" i="0">
                <a:latin typeface="Arial"/>
                <a:cs typeface="Arial"/>
                <a:ea typeface="Arial"/>
                <a:solidFill>
                  <a:srgbClr val="21295C"/>
                </a:solidFill>
              </a:rPr>
              <a:t> </a:t>
            </a:r>
            <a:r>
              <a:rPr sz="1352" baseline="30000" b="0" i="1">
                <a:latin typeface="Arial"/>
                <a:cs typeface="Arial"/>
                <a:ea typeface="Arial"/>
                <a:solidFill>
                  <a:srgbClr val="1C7293"/>
                </a:solidFill>
              </a:rPr>
              <a:t>[2]</a:t>
            </a:r>
            <a:r>
              <a:rPr sz="2600" b="1" i="0">
                <a:latin typeface="Arial"/>
                <a:cs typeface="Arial"/>
                <a:ea typeface="Arial"/>
                <a:solidFill>
                  <a:srgbClr val="21295C"/>
                </a:solidFill>
              </a:rPr>
              <a:t> </a:t>
            </a:r>
            <a:r>
              <a:rPr sz="1352" baseline="30000" b="0" i="1">
                <a:latin typeface="Arial"/>
                <a:cs typeface="Arial"/>
                <a:ea typeface="Arial"/>
                <a:solidFill>
                  <a:srgbClr val="1C7293"/>
                </a:solidFill>
              </a:rPr>
              <a:t>[3]</a:t>
            </a:r>
          </a:p>
        </p:txBody>
      </p:sp>
      <p:sp>
        <p:nvSpPr>
          <p:cNvPr id="4" name="Oval 3"/>
          <p:cNvSpPr/>
          <p:nvPr/>
        </p:nvSpPr>
        <p:spPr>
          <a:xfrm>
            <a:off x="685800" y="2446020"/>
            <a:ext cx="1005840" cy="1005840"/>
          </a:xfrm>
          <a:prstGeom prst="ellipse">
            <a:avLst/>
          </a:prstGeom>
          <a:solidFill>
            <a:srgbClr val="1C7293"/>
          </a:solidFill>
          <a:ln w="19050">
            <a:solidFill>
              <a:srgbClr val="2129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802635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</a:rPr>
              <a:t>USER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506724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1">
                <a:solidFill>
                  <a:srgbClr val="6B7685"/>
                </a:solidFill>
                <a:latin typeface="Arial"/>
              </a:rPr>
              <a:t>Пользователь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94560" y="2331720"/>
            <a:ext cx="1965960" cy="1234440"/>
          </a:xfrm>
          <a:prstGeom prst="roundRect">
            <a:avLst>
              <a:gd name="adj" fmla="val 15000"/>
            </a:avLst>
          </a:prstGeom>
          <a:solidFill>
            <a:srgbClr val="065A82"/>
          </a:solidFill>
          <a:ln w="19050">
            <a:solidFill>
              <a:srgbClr val="2129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94560" y="2514600"/>
            <a:ext cx="1965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 i="0">
                <a:solidFill>
                  <a:srgbClr val="FFFFFF"/>
                </a:solidFill>
                <a:latin typeface="Arial"/>
              </a:rPr>
              <a:t>План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67712" y="3017520"/>
            <a:ext cx="181965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 i="1">
                <a:solidFill>
                  <a:srgbClr val="FFFFFF"/>
                </a:solidFill>
                <a:latin typeface="Arial"/>
              </a:rPr>
              <a:t>план действий (Plan)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187952" y="2802635"/>
            <a:ext cx="356616" cy="292608"/>
          </a:xfrm>
          <a:prstGeom prst="rightArrow">
            <a:avLst/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0" y="2331720"/>
            <a:ext cx="1965960" cy="1234440"/>
          </a:xfrm>
          <a:prstGeom prst="roundRect">
            <a:avLst>
              <a:gd name="adj" fmla="val 15000"/>
            </a:avLst>
          </a:prstGeom>
          <a:solidFill>
            <a:srgbClr val="028090"/>
          </a:solidFill>
          <a:ln w="19050">
            <a:solidFill>
              <a:srgbClr val="2129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2514600"/>
            <a:ext cx="1965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 i="0">
                <a:solidFill>
                  <a:srgbClr val="FFFFFF"/>
                </a:solidFill>
                <a:latin typeface="Arial"/>
              </a:rPr>
              <a:t>Действие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45152" y="3017520"/>
            <a:ext cx="181965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 i="1">
                <a:solidFill>
                  <a:srgbClr val="FFFFFF"/>
                </a:solidFill>
                <a:latin typeface="Arial"/>
              </a:rPr>
              <a:t>вызов инструмента (Act)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6565392" y="2802635"/>
            <a:ext cx="356616" cy="292608"/>
          </a:xfrm>
          <a:prstGeom prst="rightArrow">
            <a:avLst/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949440" y="2331720"/>
            <a:ext cx="1965960" cy="1234440"/>
          </a:xfrm>
          <a:prstGeom prst="roundRect">
            <a:avLst>
              <a:gd name="adj" fmla="val 15000"/>
            </a:avLst>
          </a:prstGeom>
          <a:solidFill>
            <a:srgbClr val="1C7293"/>
          </a:solidFill>
          <a:ln w="19050">
            <a:solidFill>
              <a:srgbClr val="2129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49440" y="2514600"/>
            <a:ext cx="1965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Arial"/>
              </a:rPr>
              <a:t>Наблюдение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22592" y="3017520"/>
            <a:ext cx="181965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 i="1">
                <a:solidFill>
                  <a:srgbClr val="FFFFFF"/>
                </a:solidFill>
                <a:latin typeface="Arial"/>
              </a:rPr>
              <a:t>результат в память (Observe)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8942832" y="2802635"/>
            <a:ext cx="356616" cy="292608"/>
          </a:xfrm>
          <a:prstGeom prst="rightArrow">
            <a:avLst/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326880" y="2331720"/>
            <a:ext cx="1965960" cy="1234440"/>
          </a:xfrm>
          <a:prstGeom prst="roundRect">
            <a:avLst>
              <a:gd name="adj" fmla="val 15000"/>
            </a:avLst>
          </a:prstGeom>
          <a:solidFill>
            <a:srgbClr val="065A82"/>
          </a:solidFill>
          <a:ln w="19050">
            <a:solidFill>
              <a:srgbClr val="2129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0" y="2514600"/>
            <a:ext cx="1965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Arial"/>
              </a:rPr>
              <a:t>Рефлексия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00032" y="3017520"/>
            <a:ext cx="181965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 i="1">
                <a:solidFill>
                  <a:srgbClr val="FFFFFF"/>
                </a:solidFill>
                <a:latin typeface="Arial"/>
              </a:rPr>
              <a:t>цель достигнута? (Reflect)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1737360" y="2857499"/>
            <a:ext cx="411480" cy="182880"/>
          </a:xfrm>
          <a:prstGeom prst="rightArrow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1265408" y="3566160"/>
            <a:ext cx="54864" cy="50292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Left Arrow 23"/>
          <p:cNvSpPr/>
          <p:nvPr/>
        </p:nvSpPr>
        <p:spPr>
          <a:xfrm>
            <a:off x="1828800" y="3977640"/>
            <a:ext cx="9436608" cy="182880"/>
          </a:xfrm>
          <a:prstGeom prst="leftArrow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Up Arrow 24"/>
          <p:cNvSpPr/>
          <p:nvPr/>
        </p:nvSpPr>
        <p:spPr>
          <a:xfrm>
            <a:off x="1737360" y="3451860"/>
            <a:ext cx="182880" cy="617220"/>
          </a:xfrm>
          <a:prstGeom prst="upArrow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057400" y="3685032"/>
            <a:ext cx="772667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1">
                <a:solidFill>
                  <a:srgbClr val="028090"/>
                </a:solidFill>
                <a:latin typeface="Arial"/>
              </a:rPr>
              <a:t>стоп → результат пользователю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177540" y="1828799"/>
            <a:ext cx="7132320" cy="54864"/>
          </a:xfrm>
          <a:prstGeom prst="rect">
            <a:avLst/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177540" y="1828799"/>
            <a:ext cx="54864" cy="502920"/>
          </a:xfrm>
          <a:prstGeom prst="rect">
            <a:avLst/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Up Arrow 28"/>
          <p:cNvSpPr/>
          <p:nvPr/>
        </p:nvSpPr>
        <p:spPr>
          <a:xfrm>
            <a:off x="10218420" y="1810511"/>
            <a:ext cx="182880" cy="594360"/>
          </a:xfrm>
          <a:prstGeom prst="upArrow">
            <a:avLst/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177540" y="1508760"/>
            <a:ext cx="7132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21295C"/>
                </a:solidFill>
                <a:latin typeface="Arial"/>
              </a:rPr>
              <a:t>продолжить — цикл повторяется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0" y="4389120"/>
            <a:ext cx="1965960" cy="1051560"/>
          </a:xfrm>
          <a:prstGeom prst="roundRect">
            <a:avLst>
              <a:gd name="adj" fmla="val 25000"/>
            </a:avLst>
          </a:prstGeom>
          <a:solidFill>
            <a:srgbClr val="E6F2F4"/>
          </a:solidFill>
          <a:ln w="1905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0" y="4498848"/>
            <a:ext cx="1965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 i="0">
                <a:solidFill>
                  <a:srgbClr val="028090"/>
                </a:solidFill>
                <a:latin typeface="Arial"/>
              </a:rPr>
              <a:t>ИНСТРУМЕНТЫ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63440" y="4846320"/>
            <a:ext cx="1783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1">
                <a:solidFill>
                  <a:srgbClr val="21295C"/>
                </a:solidFill>
                <a:latin typeface="Arial"/>
              </a:rPr>
              <a:t>API, файлы,
code, search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949440" y="4389120"/>
            <a:ext cx="1965960" cy="105156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49440" y="4498848"/>
            <a:ext cx="1965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 i="0">
                <a:solidFill>
                  <a:srgbClr val="1C7293"/>
                </a:solidFill>
                <a:latin typeface="Arial"/>
              </a:rPr>
              <a:t>ПАМЯТЬ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40880" y="4846320"/>
            <a:ext cx="1783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1">
                <a:solidFill>
                  <a:srgbClr val="21295C"/>
                </a:solidFill>
                <a:latin typeface="Arial"/>
              </a:rPr>
              <a:t>vector DB,
файлы, логи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527548" y="3566160"/>
            <a:ext cx="54864" cy="822959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904988" y="3566160"/>
            <a:ext cx="54864" cy="822959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682996" y="4187952"/>
            <a:ext cx="9829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1">
                <a:solidFill>
                  <a:srgbClr val="028090"/>
                </a:solidFill>
                <a:latin typeface="Arial"/>
              </a:rPr>
              <a:t>использует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60436" y="4187952"/>
            <a:ext cx="9829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1">
                <a:solidFill>
                  <a:srgbClr val="1C7293"/>
                </a:solidFill>
                <a:latin typeface="Arial"/>
              </a:rPr>
              <a:t>использует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" y="6053328"/>
            <a:ext cx="11201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1">
                <a:solidFill>
                  <a:srgbClr val="6B7685"/>
                </a:solidFill>
                <a:latin typeface="Arial"/>
              </a:rPr>
              <a:t>ReAct (Reasoning + Acting) — Yao et al. 2022 (arXiv:2210.03629)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" y="6455664"/>
            <a:ext cx="11201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850" b="1" i="1">
                <a:solidFill>
                  <a:srgbClr val="065A82"/>
                </a:solidFill>
                <a:latin typeface="Arial"/>
              </a:rPr>
              <a:t>[1] </a:t>
            </a:r>
            <a:r>
              <a:rPr sz="850" i="1">
                <a:solidFill>
                  <a:srgbClr val="1C7293"/>
                </a:solidFill>
                <a:latin typeface="Arial"/>
                <a:hlinkClick r:id="rId2"/>
              </a:rPr>
              <a:t>Weng — LLM Powered Autonomous Agents (2023)</a:t>
            </a:r>
            <a:r>
              <a:rPr sz="850" i="1">
                <a:solidFill>
                  <a:srgbClr val="1C7293"/>
                </a:solidFill>
                <a:latin typeface="Arial"/>
              </a:rPr>
              <a:t>   ·   </a:t>
            </a:r>
            <a:r>
              <a:rPr sz="850" b="1" i="1">
                <a:solidFill>
                  <a:srgbClr val="065A82"/>
                </a:solidFill>
                <a:latin typeface="Arial"/>
              </a:rPr>
              <a:t>[2] </a:t>
            </a:r>
            <a:r>
              <a:rPr sz="850" i="1">
                <a:solidFill>
                  <a:srgbClr val="1C7293"/>
                </a:solidFill>
                <a:latin typeface="Arial"/>
                <a:hlinkClick r:id="rId3"/>
              </a:rPr>
              <a:t>Anthropic — Building Effective Agents (2024)</a:t>
            </a:r>
            <a:r>
              <a:rPr sz="850" i="1">
                <a:solidFill>
                  <a:srgbClr val="1C7293"/>
                </a:solidFill>
                <a:latin typeface="Arial"/>
              </a:rPr>
              <a:t>   ·   </a:t>
            </a:r>
            <a:r>
              <a:rPr sz="850" b="1" i="1">
                <a:solidFill>
                  <a:srgbClr val="065A82"/>
                </a:solidFill>
                <a:latin typeface="Arial"/>
              </a:rPr>
              <a:t>[3] </a:t>
            </a:r>
            <a:r>
              <a:rPr sz="850" i="1">
                <a:solidFill>
                  <a:srgbClr val="1C7293"/>
                </a:solidFill>
                <a:latin typeface="Arial"/>
                <a:hlinkClick r:id="rId4"/>
              </a:rPr>
              <a:t>Anthropic — Model Context Protocol (2024)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0040"/>
            <a:ext cx="1051560" cy="384048"/>
          </a:xfrm>
          <a:prstGeom prst="roundRect">
            <a:avLst>
              <a:gd name="adj" fmla="val 50000"/>
            </a:avLst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АГЕНТ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1124712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600" b="1" i="0">
                <a:solidFill>
                  <a:srgbClr val="21295C"/>
                </a:solidFill>
                <a:latin typeface="Arial"/>
              </a:rPr>
              <a:t>Агент за работой: 200 PDF — последовательность шагов.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691640"/>
            <a:ext cx="3657600" cy="4617720"/>
          </a:xfrm>
          <a:prstGeom prst="roundRect">
            <a:avLst>
              <a:gd name="adj" fmla="val 8333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7452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28090"/>
                </a:solidFill>
                <a:latin typeface="Arial"/>
              </a:rPr>
              <a:t>Кейс — типовой для агента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32004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21295C"/>
                </a:solidFill>
                <a:latin typeface="Arial"/>
              </a:rPr>
              <a:t>200 PDF-отчётов.
Извлечь дату, контрагента, сумму.
Собрать сводную таблицу.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749039"/>
            <a:ext cx="320040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 i="1">
                <a:solidFill>
                  <a:srgbClr val="21295C"/>
                </a:solidFill>
                <a:latin typeface="Arial"/>
              </a:rPr>
              <a:t>Не модель — нет специализированной модели «возьми 200 произвольных PDF».
Не чат — некомфортно копировать 200 файлов в окно.
Агент — естественный выбор.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59" y="1691640"/>
            <a:ext cx="7178040" cy="4617720"/>
          </a:xfrm>
          <a:prstGeom prst="roundRect">
            <a:avLst>
              <a:gd name="adj" fmla="val 660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9159" y="1856232"/>
            <a:ext cx="6720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21295C"/>
                </a:solidFill>
                <a:latin typeface="Arial"/>
              </a:rPr>
              <a:t>Что делает агент — пошагово, с указанием инструмента</a:t>
            </a:r>
          </a:p>
        </p:txBody>
      </p:sp>
      <p:sp>
        <p:nvSpPr>
          <p:cNvPr id="10" name="Oval 9"/>
          <p:cNvSpPr/>
          <p:nvPr/>
        </p:nvSpPr>
        <p:spPr>
          <a:xfrm>
            <a:off x="4754879" y="2368296"/>
            <a:ext cx="365760" cy="365760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79" y="2368296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0" y="2404872"/>
            <a:ext cx="3840480" cy="2926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1295C"/>
                </a:solidFill>
                <a:latin typeface="Arial"/>
              </a:rPr>
              <a:t>Получить список файлов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81160" y="2404872"/>
            <a:ext cx="2103120" cy="292607"/>
          </a:xfrm>
          <a:prstGeom prst="roundRect">
            <a:avLst>
              <a:gd name="adj" fmla="val 30000"/>
            </a:avLst>
          </a:prstGeom>
          <a:solidFill>
            <a:srgbClr val="E6F2F4"/>
          </a:solidFill>
          <a:ln w="1016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0" y="2404872"/>
            <a:ext cx="2011680" cy="2926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1">
                <a:solidFill>
                  <a:srgbClr val="028090"/>
                </a:solidFill>
                <a:latin typeface="Arial"/>
              </a:rPr>
              <a:t>файловая система</a:t>
            </a:r>
          </a:p>
        </p:txBody>
      </p:sp>
      <p:sp>
        <p:nvSpPr>
          <p:cNvPr id="15" name="Oval 14"/>
          <p:cNvSpPr/>
          <p:nvPr/>
        </p:nvSpPr>
        <p:spPr>
          <a:xfrm>
            <a:off x="4754879" y="2898648"/>
            <a:ext cx="365760" cy="365760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79" y="2898648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2935224"/>
            <a:ext cx="3840480" cy="2926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1295C"/>
                </a:solidFill>
                <a:latin typeface="Arial"/>
              </a:rPr>
              <a:t>Открыть PDF #1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81160" y="2935224"/>
            <a:ext cx="2103120" cy="292607"/>
          </a:xfrm>
          <a:prstGeom prst="roundRect">
            <a:avLst>
              <a:gd name="adj" fmla="val 30000"/>
            </a:avLst>
          </a:prstGeom>
          <a:solidFill>
            <a:srgbClr val="E6F2F4"/>
          </a:solidFill>
          <a:ln w="1016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0" y="2935224"/>
            <a:ext cx="2011680" cy="2926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1">
                <a:solidFill>
                  <a:srgbClr val="028090"/>
                </a:solidFill>
                <a:latin typeface="Arial"/>
              </a:rPr>
              <a:t>чтение PDF</a:t>
            </a:r>
          </a:p>
        </p:txBody>
      </p:sp>
      <p:sp>
        <p:nvSpPr>
          <p:cNvPr id="20" name="Oval 19"/>
          <p:cNvSpPr/>
          <p:nvPr/>
        </p:nvSpPr>
        <p:spPr>
          <a:xfrm>
            <a:off x="4754879" y="3429000"/>
            <a:ext cx="365760" cy="365760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54879" y="34290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0" y="3465576"/>
            <a:ext cx="3840480" cy="2926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1295C"/>
                </a:solidFill>
                <a:latin typeface="Arial"/>
              </a:rPr>
              <a:t>Извлечь текст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81160" y="3465576"/>
            <a:ext cx="2103120" cy="292607"/>
          </a:xfrm>
          <a:prstGeom prst="roundRect">
            <a:avLst>
              <a:gd name="adj" fmla="val 30000"/>
            </a:avLst>
          </a:prstGeom>
          <a:solidFill>
            <a:srgbClr val="E6F2F4"/>
          </a:solidFill>
          <a:ln w="1016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0" y="3465576"/>
            <a:ext cx="2011680" cy="2926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1">
                <a:solidFill>
                  <a:srgbClr val="028090"/>
                </a:solidFill>
                <a:latin typeface="Arial"/>
              </a:rPr>
              <a:t>извлечение текста (OCR / парсер)</a:t>
            </a:r>
          </a:p>
        </p:txBody>
      </p:sp>
      <p:sp>
        <p:nvSpPr>
          <p:cNvPr id="25" name="Oval 24"/>
          <p:cNvSpPr/>
          <p:nvPr/>
        </p:nvSpPr>
        <p:spPr>
          <a:xfrm>
            <a:off x="4754879" y="3959351"/>
            <a:ext cx="365760" cy="365760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54879" y="3959351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3995927"/>
            <a:ext cx="3840480" cy="2926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1295C"/>
                </a:solidFill>
                <a:latin typeface="Arial"/>
              </a:rPr>
              <a:t>Сделать сводку → vector DB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281160" y="3995927"/>
            <a:ext cx="2103120" cy="292607"/>
          </a:xfrm>
          <a:prstGeom prst="roundRect">
            <a:avLst>
              <a:gd name="adj" fmla="val 30000"/>
            </a:avLst>
          </a:prstGeom>
          <a:solidFill>
            <a:srgbClr val="E6F2F4"/>
          </a:solidFill>
          <a:ln w="1016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26880" y="3995927"/>
            <a:ext cx="2011680" cy="2926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1">
                <a:solidFill>
                  <a:srgbClr val="028090"/>
                </a:solidFill>
                <a:latin typeface="Arial"/>
              </a:rPr>
              <a:t>эмбеддинги + векторная БД</a:t>
            </a:r>
          </a:p>
        </p:txBody>
      </p:sp>
      <p:sp>
        <p:nvSpPr>
          <p:cNvPr id="30" name="Oval 29"/>
          <p:cNvSpPr/>
          <p:nvPr/>
        </p:nvSpPr>
        <p:spPr>
          <a:xfrm>
            <a:off x="4754879" y="4489703"/>
            <a:ext cx="365760" cy="365760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54879" y="4489703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03520" y="4526279"/>
            <a:ext cx="3840480" cy="2926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1295C"/>
                </a:solidFill>
                <a:latin typeface="Arial"/>
              </a:rPr>
              <a:t>Найти ключевые поля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281160" y="4526279"/>
            <a:ext cx="2103120" cy="292607"/>
          </a:xfrm>
          <a:prstGeom prst="roundRect">
            <a:avLst>
              <a:gd name="adj" fmla="val 30000"/>
            </a:avLst>
          </a:prstGeom>
          <a:solidFill>
            <a:srgbClr val="E6F2F4"/>
          </a:solidFill>
          <a:ln w="1016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326880" y="4526279"/>
            <a:ext cx="2011680" cy="2926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1">
                <a:solidFill>
                  <a:srgbClr val="028090"/>
                </a:solidFill>
                <a:latin typeface="Arial"/>
              </a:rPr>
              <a:t>поиск + извлечение LLM</a:t>
            </a:r>
          </a:p>
        </p:txBody>
      </p:sp>
      <p:sp>
        <p:nvSpPr>
          <p:cNvPr id="35" name="Oval 34"/>
          <p:cNvSpPr/>
          <p:nvPr/>
        </p:nvSpPr>
        <p:spPr>
          <a:xfrm>
            <a:off x="4754879" y="5020055"/>
            <a:ext cx="365760" cy="365760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54879" y="5020055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03520" y="5056631"/>
            <a:ext cx="3840480" cy="2926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1295C"/>
                </a:solidFill>
                <a:latin typeface="Arial"/>
              </a:rPr>
              <a:t>Записать строку в таблицу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281160" y="5056631"/>
            <a:ext cx="2103120" cy="292607"/>
          </a:xfrm>
          <a:prstGeom prst="roundRect">
            <a:avLst>
              <a:gd name="adj" fmla="val 30000"/>
            </a:avLst>
          </a:prstGeom>
          <a:solidFill>
            <a:srgbClr val="E6F2F4"/>
          </a:solidFill>
          <a:ln w="1016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326880" y="5056631"/>
            <a:ext cx="2011680" cy="2926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1">
                <a:solidFill>
                  <a:srgbClr val="028090"/>
                </a:solidFill>
                <a:latin typeface="Arial"/>
              </a:rPr>
              <a:t>запись в таблицу (Sheets API / CSV)</a:t>
            </a:r>
          </a:p>
        </p:txBody>
      </p:sp>
      <p:sp>
        <p:nvSpPr>
          <p:cNvPr id="40" name="Oval 39"/>
          <p:cNvSpPr/>
          <p:nvPr/>
        </p:nvSpPr>
        <p:spPr>
          <a:xfrm>
            <a:off x="4754879" y="5550407"/>
            <a:ext cx="365760" cy="365760"/>
          </a:xfrm>
          <a:prstGeom prst="ellipse">
            <a:avLst/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54879" y="5550407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21295C"/>
                </a:solidFill>
                <a:latin typeface="Arial"/>
              </a:rPr>
              <a:t>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303520" y="5586983"/>
            <a:ext cx="3840480" cy="2926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1295C"/>
                </a:solidFill>
                <a:latin typeface="Arial"/>
              </a:rPr>
              <a:t>Цикл по всем 200 файлам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281160" y="5586983"/>
            <a:ext cx="2103120" cy="292607"/>
          </a:xfrm>
          <a:prstGeom prst="roundRect">
            <a:avLst>
              <a:gd name="adj" fmla="val 30000"/>
            </a:avLst>
          </a:prstGeom>
          <a:solidFill>
            <a:srgbClr val="E6F2F4"/>
          </a:solidFill>
          <a:ln w="1016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326880" y="5586983"/>
            <a:ext cx="2011680" cy="2926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1">
                <a:solidFill>
                  <a:srgbClr val="028090"/>
                </a:solidFill>
                <a:latin typeface="Arial"/>
              </a:rPr>
              <a:t>цикл оркестратора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02920" y="5870448"/>
            <a:ext cx="11201400" cy="502920"/>
          </a:xfrm>
          <a:prstGeom prst="roundRect">
            <a:avLst>
              <a:gd name="adj" fmla="val 12000"/>
            </a:avLst>
          </a:prstGeom>
          <a:solidFill>
            <a:srgbClr val="FEF5E0"/>
          </a:solidFill>
          <a:ln w="1524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85800" y="5943600"/>
            <a:ext cx="10835640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21295C"/>
                </a:solidFill>
                <a:latin typeface="Arial"/>
              </a:rPr>
              <a:t>Агент = последовательность вызовов инструментов, оркестрируемая LLM. </a:t>
            </a:r>
            <a:r>
              <a:rPr sz="676" baseline="30000" b="0" i="1">
                <a:latin typeface="Arial"/>
                <a:cs typeface="Arial"/>
                <a:ea typeface="Arial"/>
                <a:solidFill>
                  <a:srgbClr val="1C7293"/>
                </a:solidFill>
              </a:rPr>
              <a:t>[1]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2920" y="6455664"/>
            <a:ext cx="11201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850" b="1" i="1">
                <a:solidFill>
                  <a:srgbClr val="065A82"/>
                </a:solidFill>
                <a:latin typeface="Arial"/>
              </a:rPr>
              <a:t>[1] </a:t>
            </a:r>
            <a:r>
              <a:rPr sz="850" i="1">
                <a:solidFill>
                  <a:srgbClr val="1C7293"/>
                </a:solidFill>
                <a:latin typeface="Arial"/>
                <a:hlinkClick r:id="rId2"/>
              </a:rPr>
              <a:t>Yao et al. — ReAct (2022)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0040"/>
            <a:ext cx="1051560" cy="384048"/>
          </a:xfrm>
          <a:prstGeom prst="roundRect">
            <a:avLst>
              <a:gd name="adj" fmla="val 50000"/>
            </a:avLst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АГЕНТ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1124712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21295C"/>
                </a:solidFill>
                <a:latin typeface="Arial"/>
              </a:rPr>
              <a:t>Уровни автономии AI-агентов: дизайн-решение, не свойство модели.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691640"/>
            <a:ext cx="5760720" cy="4617720"/>
          </a:xfrm>
          <a:prstGeom prst="roundRect">
            <a:avLst>
              <a:gd name="adj" fmla="val 660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7452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21295C"/>
                </a:solidFill>
                <a:latin typeface="Arial"/>
              </a:rPr>
              <a:t>5 уровней автономии (Feng / McDonald / Zhang, 2025) </a:t>
            </a:r>
            <a:r>
              <a:rPr sz="676" baseline="30000" b="0" i="1">
                <a:latin typeface="Arial"/>
                <a:cs typeface="Arial"/>
                <a:ea typeface="Arial"/>
                <a:solidFill>
                  <a:srgbClr val="1C7293"/>
                </a:solidFill>
              </a:rPr>
              <a:t>[1]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276088"/>
            <a:ext cx="5303520" cy="667512"/>
          </a:xfrm>
          <a:prstGeom prst="roundRect">
            <a:avLst>
              <a:gd name="adj" fmla="val 15000"/>
            </a:avLst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5321808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FFFFFF"/>
                </a:solidFill>
                <a:latin typeface="Arial"/>
              </a:rPr>
              <a:t>1. Оператор (Operator)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586984"/>
            <a:ext cx="5029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1">
                <a:solidFill>
                  <a:srgbClr val="FFFFFF"/>
                </a:solidFill>
                <a:latin typeface="Arial"/>
              </a:rPr>
              <a:t>Пользователь: одобряет каждое действие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5769864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FFFFFF"/>
                </a:solidFill>
                <a:latin typeface="Arial"/>
              </a:rPr>
              <a:t>Claude Code «approve each»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562856"/>
            <a:ext cx="5303520" cy="667512"/>
          </a:xfrm>
          <a:prstGeom prst="roundRect">
            <a:avLst>
              <a:gd name="adj" fmla="val 15000"/>
            </a:avLst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608576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FFFFFF"/>
                </a:solidFill>
                <a:latin typeface="Arial"/>
              </a:rPr>
              <a:t>2. Соавтор (Collaborator)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873752"/>
            <a:ext cx="5029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1">
                <a:solidFill>
                  <a:srgbClr val="FFFFFF"/>
                </a:solidFill>
                <a:latin typeface="Arial"/>
              </a:rPr>
              <a:t>Пользователь: работает наравне с агентом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056632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FFFFFF"/>
                </a:solidFill>
                <a:latin typeface="Arial"/>
              </a:rPr>
              <a:t>Cursor парное программирование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849624"/>
            <a:ext cx="5303520" cy="667512"/>
          </a:xfrm>
          <a:prstGeom prst="roundRect">
            <a:avLst>
              <a:gd name="adj" fmla="val 15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895344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FFFFFF"/>
                </a:solidFill>
                <a:latin typeface="Arial"/>
              </a:rPr>
              <a:t>3. Консультант (Consultant)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160520"/>
            <a:ext cx="5029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1">
                <a:solidFill>
                  <a:srgbClr val="FFFFFF"/>
                </a:solidFill>
                <a:latin typeface="Arial"/>
              </a:rPr>
              <a:t>Пользователь: ставит цель, правит план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343400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FFFFFF"/>
                </a:solidFill>
                <a:latin typeface="Arial"/>
              </a:rPr>
              <a:t>Devin фиксит баг по тикету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136392"/>
            <a:ext cx="5303520" cy="667512"/>
          </a:xfrm>
          <a:prstGeom prst="roundRect">
            <a:avLst>
              <a:gd name="adj" fmla="val 15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182112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FFFFFF"/>
                </a:solidFill>
                <a:latin typeface="Arial"/>
              </a:rPr>
              <a:t>4. Утверждающий (Approver)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3447288"/>
            <a:ext cx="5029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1">
                <a:solidFill>
                  <a:srgbClr val="FFFFFF"/>
                </a:solidFill>
                <a:latin typeface="Arial"/>
              </a:rPr>
              <a:t>Пользователь: утверждает на контрольных точках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3630168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FFFFFF"/>
                </a:solidFill>
                <a:latin typeface="Arial"/>
              </a:rPr>
              <a:t>агент собирает PR, ждёт review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2423160"/>
            <a:ext cx="5303520" cy="667512"/>
          </a:xfrm>
          <a:prstGeom prst="roundRect">
            <a:avLst>
              <a:gd name="adj" fmla="val 15000"/>
            </a:avLst>
          </a:prstGeom>
          <a:solidFill>
            <a:srgbClr val="F0AB00"/>
          </a:solidFill>
          <a:ln w="19050">
            <a:solidFill>
              <a:srgbClr val="2129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2468880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21295C"/>
                </a:solidFill>
                <a:latin typeface="Arial"/>
              </a:rPr>
              <a:t>5. Наблюдатель (Observer)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2734056"/>
            <a:ext cx="5029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1">
                <a:solidFill>
                  <a:srgbClr val="21295C"/>
                </a:solidFill>
                <a:latin typeface="Arial"/>
              </a:rPr>
              <a:t>Пользователь: только получает результат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2916936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21295C"/>
                </a:solidFill>
                <a:latin typeface="Arial"/>
              </a:rPr>
              <a:t>AutoGPT на ночь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37959" y="1691640"/>
            <a:ext cx="5150815" cy="4617720"/>
          </a:xfrm>
          <a:prstGeom prst="roundRect">
            <a:avLst>
              <a:gd name="adj" fmla="val 660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59" y="1874520"/>
            <a:ext cx="46936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21295C"/>
                </a:solidFill>
                <a:latin typeface="Arial"/>
              </a:rPr>
              <a:t>Где находится человек по отношению к циклу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720840" y="2377440"/>
            <a:ext cx="4785055" cy="868680"/>
          </a:xfrm>
          <a:prstGeom prst="roundRect">
            <a:avLst>
              <a:gd name="adj" fmla="val 25000"/>
            </a:avLst>
          </a:prstGeom>
          <a:solidFill>
            <a:srgbClr val="FEF5E0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03720" y="2468880"/>
            <a:ext cx="4419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F0AB00"/>
                </a:solidFill>
                <a:latin typeface="Arial"/>
              </a:rPr>
              <a:t>Человек вне цикла (Human-out-of-the-loop)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03720" y="2761488"/>
            <a:ext cx="441929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Человек только смотрит итог (≈ ур. 5).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720840" y="3337560"/>
            <a:ext cx="4785055" cy="86868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9050">
            <a:solidFill>
              <a:srgbClr val="065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03720" y="3429000"/>
            <a:ext cx="4419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65A82"/>
                </a:solidFill>
                <a:latin typeface="Arial"/>
              </a:rPr>
              <a:t>Человек над циклом (Human-on-the-loop)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03720" y="3721608"/>
            <a:ext cx="441929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Человек наблюдает, прерывает при отклонениях (≈ ур. 3-4).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720840" y="4297680"/>
            <a:ext cx="4785055" cy="86868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03720" y="4389120"/>
            <a:ext cx="4419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1C7293"/>
                </a:solidFill>
                <a:latin typeface="Arial"/>
              </a:rPr>
              <a:t>Человек в цикле (Human-in-the-loop)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03720" y="4681728"/>
            <a:ext cx="441929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Человек одобряет каждый шаг (≈ ур. 1-2).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720840" y="5257800"/>
            <a:ext cx="4785055" cy="86868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905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903720" y="5349240"/>
            <a:ext cx="4419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28090"/>
                </a:solidFill>
                <a:latin typeface="Arial"/>
              </a:rPr>
              <a:t>Режимы ручного перехвата (Override)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03720" y="5641848"/>
            <a:ext cx="441929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Любой уровень — с ручным перехватом по тревоге.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02920" y="5870448"/>
            <a:ext cx="11201400" cy="502920"/>
          </a:xfrm>
          <a:prstGeom prst="roundRect">
            <a:avLst>
              <a:gd name="adj" fmla="val 12000"/>
            </a:avLst>
          </a:prstGeom>
          <a:solidFill>
            <a:srgbClr val="FEF5E0"/>
          </a:solidFill>
          <a:ln w="1524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5800" y="5943600"/>
            <a:ext cx="10835640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21295C"/>
                </a:solidFill>
                <a:latin typeface="Arial"/>
              </a:rPr>
              <a:t>Уровень автономии — выбор продукта, не свойство модели. На семинарах будем выбирать осознанно.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" y="6455664"/>
            <a:ext cx="11201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850" b="1" i="1">
                <a:solidFill>
                  <a:srgbClr val="065A82"/>
                </a:solidFill>
                <a:latin typeface="Arial"/>
              </a:rPr>
              <a:t>[1] </a:t>
            </a:r>
            <a:r>
              <a:rPr sz="850" i="1">
                <a:solidFill>
                  <a:srgbClr val="1C7293"/>
                </a:solidFill>
                <a:latin typeface="Arial"/>
                <a:hlinkClick r:id="rId2"/>
              </a:rPr>
              <a:t>Feng, McDonald, Zhang — Levels of Autonomy (2025)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24712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800" b="1" i="0">
                <a:solidFill>
                  <a:srgbClr val="21295C"/>
                </a:solidFill>
                <a:latin typeface="Arial"/>
              </a:rPr>
              <a:t>Приложение = AI, упакованный в продуктовый интерфейс.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691640"/>
            <a:ext cx="11201400" cy="1554480"/>
          </a:xfrm>
          <a:prstGeom prst="roundRect">
            <a:avLst>
              <a:gd name="adj" fmla="val 19607"/>
            </a:avLst>
          </a:prstGeom>
          <a:solidFill>
            <a:srgbClr val="E6F2F4"/>
          </a:solidFill>
          <a:ln w="1905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856232"/>
            <a:ext cx="10652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28090"/>
                </a:solidFill>
                <a:latin typeface="Arial"/>
              </a:rPr>
              <a:t>Google Translate — масштаб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21992"/>
            <a:ext cx="106527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21295C"/>
                </a:solidFill>
                <a:latin typeface="Arial"/>
              </a:rPr>
              <a:t>1+ миллиард </a:t>
            </a:r>
            <a:r>
              <a:rPr sz="1300" b="0" i="0">
                <a:solidFill>
                  <a:srgbClr val="21295C"/>
                </a:solidFill>
                <a:latin typeface="Arial"/>
              </a:rPr>
              <a:t>пользователей в месяц  ·  </a:t>
            </a:r>
            <a:r>
              <a:rPr sz="2400" b="1" i="0">
                <a:solidFill>
                  <a:srgbClr val="F0AB00"/>
                </a:solidFill>
                <a:latin typeface="Arial"/>
              </a:rPr>
              <a:t>1 триллион </a:t>
            </a:r>
            <a:r>
              <a:rPr sz="1300" b="0" i="0">
                <a:solidFill>
                  <a:srgbClr val="21295C"/>
                </a:solidFill>
                <a:latin typeface="Arial"/>
              </a:rPr>
              <a:t>слов переведено / месяц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898648"/>
            <a:ext cx="10652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1C7293"/>
                </a:solidFill>
                <a:latin typeface="Arial"/>
              </a:rPr>
              <a:t>в Google Translate, Search, Lens и Circle to Search (Google Blog, апрель 2026) </a:t>
            </a:r>
            <a:r>
              <a:rPr sz="520" baseline="30000" b="0" i="1">
                <a:latin typeface="Arial"/>
                <a:cs typeface="Arial"/>
                <a:ea typeface="Arial"/>
                <a:solidFill>
                  <a:srgbClr val="1C7293"/>
                </a:solidFill>
              </a:rPr>
              <a:t>[1]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383280"/>
            <a:ext cx="3703320" cy="118872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-googletrans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657600"/>
            <a:ext cx="731520" cy="7315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554480" y="3611880"/>
            <a:ext cx="2514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21295C"/>
                </a:solidFill>
                <a:latin typeface="Arial"/>
              </a:rPr>
              <a:t>Google Translate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4023360"/>
            <a:ext cx="2514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1">
                <a:solidFill>
                  <a:srgbClr val="6B7685"/>
                </a:solidFill>
                <a:latin typeface="Arial"/>
              </a:rPr>
              <a:t>нейронная трансляция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79" y="3383280"/>
            <a:ext cx="3703320" cy="118872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logo-no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59" y="3657600"/>
            <a:ext cx="731520" cy="7315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349240" y="3611880"/>
            <a:ext cx="2514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21295C"/>
                </a:solidFill>
                <a:latin typeface="Arial"/>
              </a:rPr>
              <a:t>Notion 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49240" y="4023360"/>
            <a:ext cx="2514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1">
                <a:solidFill>
                  <a:srgbClr val="6B7685"/>
                </a:solidFill>
                <a:latin typeface="Arial"/>
              </a:rPr>
              <a:t>GPT-4/Claude в кнопках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3383280"/>
            <a:ext cx="3703320" cy="118872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logo-yande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19" y="3657600"/>
            <a:ext cx="731520" cy="73152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144000" y="3611880"/>
            <a:ext cx="2514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21295C"/>
                </a:solidFill>
                <a:latin typeface="Arial"/>
              </a:rPr>
              <a:t>ЯндексGPT в Поиске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4023360"/>
            <a:ext cx="2514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1">
                <a:solidFill>
                  <a:srgbClr val="6B7685"/>
                </a:solidFill>
                <a:latin typeface="Arial"/>
              </a:rPr>
              <a:t>AI-краткий ответ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4663440"/>
            <a:ext cx="3703320" cy="118872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logo-grammarl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4937760"/>
            <a:ext cx="731520" cy="73152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554480" y="4892040"/>
            <a:ext cx="2514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21295C"/>
                </a:solidFill>
                <a:latin typeface="Arial"/>
              </a:rPr>
              <a:t>Grammarly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5303520"/>
            <a:ext cx="2514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1">
                <a:solidFill>
                  <a:srgbClr val="6B7685"/>
                </a:solidFill>
                <a:latin typeface="Arial"/>
              </a:rPr>
              <a:t>NLP + LLM подсказки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97679" y="4663440"/>
            <a:ext cx="3703320" cy="118872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logo-yande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0559" y="4937760"/>
            <a:ext cx="731520" cy="73152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5349240" y="4892040"/>
            <a:ext cx="2514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21295C"/>
                </a:solidFill>
                <a:latin typeface="Arial"/>
              </a:rPr>
              <a:t>Яндекс.Карты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49240" y="5303520"/>
            <a:ext cx="2514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1">
                <a:solidFill>
                  <a:srgbClr val="6B7685"/>
                </a:solidFill>
                <a:latin typeface="Arial"/>
              </a:rPr>
              <a:t>ML маршрутизация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92440" y="4663440"/>
            <a:ext cx="3703320" cy="118872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logo-adobefirefl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75319" y="4937760"/>
            <a:ext cx="731520" cy="73152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9144000" y="4892040"/>
            <a:ext cx="2514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21295C"/>
                </a:solidFill>
                <a:latin typeface="Arial"/>
              </a:rPr>
              <a:t>Adobe Firefly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5303520"/>
            <a:ext cx="2514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1">
                <a:solidFill>
                  <a:srgbClr val="6B7685"/>
                </a:solidFill>
                <a:latin typeface="Arial"/>
              </a:rPr>
              <a:t>диффузия в Photoshop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5916168"/>
            <a:ext cx="11201400" cy="457200"/>
          </a:xfrm>
          <a:prstGeom prst="roundRect">
            <a:avLst>
              <a:gd name="adj" fmla="val 12000"/>
            </a:avLst>
          </a:prstGeom>
          <a:solidFill>
            <a:srgbClr val="FEF5E0"/>
          </a:solidFill>
          <a:ln w="1524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5989320"/>
            <a:ext cx="108356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21295C"/>
                </a:solidFill>
                <a:latin typeface="Arial"/>
              </a:rPr>
              <a:t>AI как функция, а не продукт. Большинство студентов уже ежедневно пользуются всеми шестью. </a:t>
            </a:r>
            <a:r>
              <a:rPr sz="624" baseline="30000" b="0" i="1">
                <a:latin typeface="Arial"/>
                <a:cs typeface="Arial"/>
                <a:ea typeface="Arial"/>
                <a:solidFill>
                  <a:srgbClr val="1C7293"/>
                </a:solidFill>
              </a:rPr>
              <a:t>[2]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455664"/>
            <a:ext cx="11201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850" b="1" i="1">
                <a:solidFill>
                  <a:srgbClr val="065A82"/>
                </a:solidFill>
                <a:latin typeface="Arial"/>
              </a:rPr>
              <a:t>[1] </a:t>
            </a:r>
            <a:r>
              <a:rPr sz="850" i="1">
                <a:solidFill>
                  <a:srgbClr val="1C7293"/>
                </a:solidFill>
                <a:latin typeface="Arial"/>
                <a:hlinkClick r:id="rId7"/>
              </a:rPr>
              <a:t>Google — Translate at 20 (2026)</a:t>
            </a:r>
            <a:r>
              <a:rPr sz="850" i="1">
                <a:solidFill>
                  <a:srgbClr val="1C7293"/>
                </a:solidFill>
                <a:latin typeface="Arial"/>
              </a:rPr>
              <a:t>   ·   </a:t>
            </a:r>
            <a:r>
              <a:rPr sz="850" b="1" i="1">
                <a:solidFill>
                  <a:srgbClr val="065A82"/>
                </a:solidFill>
                <a:latin typeface="Arial"/>
              </a:rPr>
              <a:t>[2] </a:t>
            </a:r>
            <a:r>
              <a:rPr sz="850" i="1">
                <a:solidFill>
                  <a:srgbClr val="1C7293"/>
                </a:solidFill>
                <a:latin typeface="Arial"/>
                <a:hlinkClick r:id="rId8"/>
              </a:rPr>
              <a:t>Anthropic — Building Effective Agents (2024)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24712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21295C"/>
                </a:solidFill>
                <a:latin typeface="Arial"/>
              </a:rPr>
              <a:t>Чек-лист «Какой тип AI выбрать»: 2 вопроса + квадрант 2×2. </a:t>
            </a:r>
            <a:r>
              <a:rPr sz="1248" baseline="30000" b="0" i="1">
                <a:latin typeface="Arial"/>
                <a:cs typeface="Arial"/>
                <a:ea typeface="Arial"/>
                <a:solidFill>
                  <a:srgbClr val="1C7293"/>
                </a:solidFill>
              </a:rPr>
              <a:t>[1]</a:t>
            </a:r>
            <a:r>
              <a:rPr sz="2400" b="1" i="0">
                <a:latin typeface="Arial"/>
                <a:cs typeface="Arial"/>
                <a:ea typeface="Arial"/>
                <a:solidFill>
                  <a:srgbClr val="21295C"/>
                </a:solidFill>
              </a:rPr>
              <a:t> </a:t>
            </a:r>
            <a:r>
              <a:rPr sz="1248" baseline="30000" b="0" i="1">
                <a:latin typeface="Arial"/>
                <a:cs typeface="Arial"/>
                <a:ea typeface="Arial"/>
                <a:solidFill>
                  <a:srgbClr val="1C7293"/>
                </a:solidFill>
              </a:rPr>
              <a:t>[2]</a:t>
            </a:r>
            <a:r>
              <a:rPr sz="2400" b="1" i="0">
                <a:latin typeface="Arial"/>
                <a:cs typeface="Arial"/>
                <a:ea typeface="Arial"/>
                <a:solidFill>
                  <a:srgbClr val="21295C"/>
                </a:solidFill>
              </a:rPr>
              <a:t> </a:t>
            </a:r>
            <a:r>
              <a:rPr sz="1248" baseline="30000" b="0" i="1">
                <a:latin typeface="Arial"/>
                <a:cs typeface="Arial"/>
                <a:ea typeface="Arial"/>
                <a:solidFill>
                  <a:srgbClr val="1C7293"/>
                </a:solidFill>
              </a:rPr>
              <a:t>[3]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108960" y="1508760"/>
            <a:ext cx="6858000" cy="374903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33388" y="1508760"/>
            <a:ext cx="9144" cy="3749039"/>
          </a:xfrm>
          <a:prstGeom prst="rect">
            <a:avLst/>
          </a:prstGeom>
          <a:solidFill>
            <a:srgbClr val="E5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108960" y="3378708"/>
            <a:ext cx="6858000" cy="9144"/>
          </a:xfrm>
          <a:prstGeom prst="rect">
            <a:avLst/>
          </a:prstGeom>
          <a:solidFill>
            <a:srgbClr val="E5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2281427"/>
            <a:ext cx="548640" cy="329184"/>
          </a:xfrm>
          <a:prstGeom prst="roundRect">
            <a:avLst>
              <a:gd name="adj" fmla="val 40000"/>
            </a:avLst>
          </a:prstGeom>
          <a:solidFill>
            <a:srgbClr val="FEF5E0"/>
          </a:solidFill>
          <a:ln w="1270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281427"/>
            <a:ext cx="5486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21295C"/>
                </a:solidFill>
                <a:latin typeface="Arial"/>
              </a:rPr>
              <a:t>ДА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4155948"/>
            <a:ext cx="548640" cy="329184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27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4155948"/>
            <a:ext cx="5486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1C7293"/>
                </a:solidFill>
                <a:latin typeface="Arial"/>
              </a:rPr>
              <a:t>НЕТ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880359"/>
            <a:ext cx="155447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1295C"/>
                </a:solidFill>
                <a:latin typeface="Arial"/>
              </a:rPr>
              <a:t>ВОПРОС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3200399"/>
            <a:ext cx="155447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21295C"/>
                </a:solidFill>
                <a:latin typeface="Arial"/>
              </a:rPr>
              <a:t>Нужно ли взаимодействие с пользователем?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49140" y="5349240"/>
            <a:ext cx="548640" cy="329184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27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49140" y="5349240"/>
            <a:ext cx="5486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1C7293"/>
                </a:solidFill>
                <a:latin typeface="Arial"/>
              </a:rPr>
              <a:t>НЕТ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78140" y="5349240"/>
            <a:ext cx="548640" cy="329184"/>
          </a:xfrm>
          <a:prstGeom prst="roundRect">
            <a:avLst>
              <a:gd name="adj" fmla="val 40000"/>
            </a:avLst>
          </a:prstGeom>
          <a:solidFill>
            <a:srgbClr val="FEF5E0"/>
          </a:solidFill>
          <a:ln w="1270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78140" y="5349240"/>
            <a:ext cx="5486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21295C"/>
                </a:solidFill>
                <a:latin typeface="Arial"/>
              </a:rPr>
              <a:t>ДА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5806440"/>
            <a:ext cx="6858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21295C"/>
                </a:solidFill>
                <a:latin typeface="Arial"/>
              </a:rPr>
              <a:t>ВОПРОС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6099048"/>
            <a:ext cx="68580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21295C"/>
                </a:solidFill>
                <a:latin typeface="Arial"/>
              </a:rPr>
              <a:t>Нужна ли самостоятельная работа с инструментами?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1783080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200" b="1" i="0">
                <a:solidFill>
                  <a:srgbClr val="1C7293"/>
                </a:solidFill>
                <a:latin typeface="Arial"/>
              </a:rPr>
              <a:t>ЧАТ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2514600"/>
            <a:ext cx="30632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0" i="1">
                <a:solidFill>
                  <a:srgbClr val="21295C"/>
                </a:solidFill>
                <a:latin typeface="Arial"/>
              </a:rPr>
              <a:t>корп. чат для
разбора ТЗ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702552" y="1673351"/>
            <a:ext cx="3099816" cy="1545336"/>
          </a:xfrm>
          <a:prstGeom prst="roundRect">
            <a:avLst>
              <a:gd name="adj" fmla="val 8000"/>
            </a:avLst>
          </a:prstGeom>
          <a:solidFill>
            <a:srgbClr val="FEF5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20840" y="1783080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200" b="1" i="0">
                <a:solidFill>
                  <a:srgbClr val="21295C"/>
                </a:solidFill>
                <a:latin typeface="Arial"/>
              </a:rPr>
              <a:t>АГЕНТ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2514600"/>
            <a:ext cx="30632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0" i="1">
                <a:solidFill>
                  <a:srgbClr val="21295C"/>
                </a:solidFill>
                <a:latin typeface="Arial"/>
              </a:rPr>
              <a:t>200 PDF →
сводная таблица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91840" y="3657599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200" b="1" i="0">
                <a:solidFill>
                  <a:srgbClr val="1C7293"/>
                </a:solidFill>
                <a:latin typeface="Arial"/>
              </a:rPr>
              <a:t>МОДЕЛЬ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91840" y="4389120"/>
            <a:ext cx="30632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0" i="1">
                <a:solidFill>
                  <a:srgbClr val="21295C"/>
                </a:solidFill>
                <a:latin typeface="Arial"/>
              </a:rPr>
              <a:t>конвейерный
детектор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20840" y="3657599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200" b="1" i="0">
                <a:solidFill>
                  <a:srgbClr val="1C7293"/>
                </a:solidFill>
                <a:latin typeface="Arial"/>
              </a:rPr>
              <a:t>ПРИЛОЖЕНИЕ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20840" y="4389120"/>
            <a:ext cx="30632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0" i="1">
                <a:solidFill>
                  <a:srgbClr val="21295C"/>
                </a:solidFill>
                <a:latin typeface="Arial"/>
              </a:rPr>
              <a:t>ETL с AI-классификатором
(автоматизация)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55664"/>
            <a:ext cx="11201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850" b="1" i="1">
                <a:solidFill>
                  <a:srgbClr val="065A82"/>
                </a:solidFill>
                <a:latin typeface="Arial"/>
              </a:rPr>
              <a:t>[1] </a:t>
            </a:r>
            <a:r>
              <a:rPr sz="850" i="1">
                <a:solidFill>
                  <a:srgbClr val="1C7293"/>
                </a:solidFill>
                <a:latin typeface="Arial"/>
                <a:hlinkClick r:id="rId2"/>
              </a:rPr>
              <a:t>Anthropic — Building Effective Agents (2024)</a:t>
            </a:r>
            <a:r>
              <a:rPr sz="850" i="1">
                <a:solidFill>
                  <a:srgbClr val="1C7293"/>
                </a:solidFill>
                <a:latin typeface="Arial"/>
              </a:rPr>
              <a:t>   ·   </a:t>
            </a:r>
            <a:r>
              <a:rPr sz="850" b="1" i="1">
                <a:solidFill>
                  <a:srgbClr val="065A82"/>
                </a:solidFill>
                <a:latin typeface="Arial"/>
              </a:rPr>
              <a:t>[2] </a:t>
            </a:r>
            <a:r>
              <a:rPr sz="850" i="1">
                <a:solidFill>
                  <a:srgbClr val="1C7293"/>
                </a:solidFill>
                <a:latin typeface="Arial"/>
                <a:hlinkClick r:id="rId3"/>
              </a:rPr>
              <a:t>Google — AI Agents Whitepaper (2024)</a:t>
            </a:r>
            <a:r>
              <a:rPr sz="850" i="1">
                <a:solidFill>
                  <a:srgbClr val="1C7293"/>
                </a:solidFill>
                <a:latin typeface="Arial"/>
              </a:rPr>
              <a:t>   ·   </a:t>
            </a:r>
            <a:r>
              <a:rPr sz="850" b="1" i="1">
                <a:solidFill>
                  <a:srgbClr val="065A82"/>
                </a:solidFill>
                <a:latin typeface="Arial"/>
              </a:rPr>
              <a:t>[3] </a:t>
            </a:r>
            <a:r>
              <a:rPr sz="850" i="1">
                <a:solidFill>
                  <a:srgbClr val="1C7293"/>
                </a:solidFill>
                <a:latin typeface="Arial"/>
                <a:hlinkClick r:id="rId4"/>
              </a:rPr>
              <a:t>Ng — Four Agentic Design Patterns (2024)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2014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000" b="1" i="0">
                <a:solidFill>
                  <a:srgbClr val="21295C"/>
                </a:solidFill>
                <a:latin typeface="Arial"/>
              </a:rPr>
              <a:t>Раздел 4 · Границы AI — ваша зона ответственности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325880"/>
            <a:ext cx="11201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0" i="1">
                <a:solidFill>
                  <a:srgbClr val="065A82"/>
                </a:solidFill>
                <a:latin typeface="Arial"/>
              </a:rPr>
              <a:t>Куда уходят данные · ошибки AI · «не умеет» — тоже ваше. </a:t>
            </a:r>
            <a:r>
              <a:rPr sz="936" baseline="30000" b="0" i="1">
                <a:latin typeface="Arial"/>
                <a:cs typeface="Arial"/>
                <a:ea typeface="Arial"/>
                <a:solidFill>
                  <a:srgbClr val="1C7293"/>
                </a:solidFill>
              </a:rPr>
              <a:t>[1]</a:t>
            </a:r>
            <a:r>
              <a:rPr sz="1800" b="0" i="1">
                <a:latin typeface="Arial"/>
                <a:cs typeface="Arial"/>
                <a:ea typeface="Arial"/>
                <a:solidFill>
                  <a:srgbClr val="065A82"/>
                </a:solidFill>
              </a:rPr>
              <a:t> </a:t>
            </a:r>
            <a:r>
              <a:rPr sz="936" baseline="30000" b="0" i="1">
                <a:latin typeface="Arial"/>
                <a:cs typeface="Arial"/>
                <a:ea typeface="Arial"/>
                <a:solidFill>
                  <a:srgbClr val="1C7293"/>
                </a:solidFill>
              </a:rPr>
              <a:t>[2]</a:t>
            </a:r>
            <a:r>
              <a:rPr sz="1800" b="0" i="1">
                <a:latin typeface="Arial"/>
                <a:cs typeface="Arial"/>
                <a:ea typeface="Arial"/>
                <a:solidFill>
                  <a:srgbClr val="065A82"/>
                </a:solidFill>
              </a:rPr>
              <a:t> </a:t>
            </a:r>
            <a:r>
              <a:rPr sz="936" baseline="30000" b="0" i="1">
                <a:latin typeface="Arial"/>
                <a:cs typeface="Arial"/>
                <a:ea typeface="Arial"/>
                <a:solidFill>
                  <a:srgbClr val="1C7293"/>
                </a:solidFill>
              </a:rPr>
              <a:t>[3]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3707" y="2331720"/>
            <a:ext cx="1783080" cy="2926080"/>
          </a:xfrm>
          <a:prstGeom prst="roundRect">
            <a:avLst>
              <a:gd name="adj" fmla="val 17094"/>
            </a:avLst>
          </a:prstGeom>
          <a:solidFill>
            <a:srgbClr val="FFFFFF"/>
          </a:solidFill>
          <a:ln w="1524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03707" y="2606039"/>
            <a:ext cx="17830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400" b="1" i="0">
                <a:solidFill>
                  <a:srgbClr val="1C7293"/>
                </a:solidFill>
                <a:latin typeface="Arial"/>
              </a:rPr>
              <a:t>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6859" y="3520439"/>
            <a:ext cx="1636776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21295C"/>
                </a:solidFill>
                <a:latin typeface="Arial"/>
              </a:rPr>
              <a:t>Введение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6859" y="4434840"/>
            <a:ext cx="1636776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 i="1">
                <a:solidFill>
                  <a:srgbClr val="6B7685"/>
                </a:solidFill>
                <a:latin typeface="Arial"/>
              </a:rPr>
              <a:t>Демо · инструктор ·
центральный вопрос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23947" y="2331720"/>
            <a:ext cx="1783080" cy="2926080"/>
          </a:xfrm>
          <a:prstGeom prst="roundRect">
            <a:avLst>
              <a:gd name="adj" fmla="val 17094"/>
            </a:avLst>
          </a:prstGeom>
          <a:solidFill>
            <a:srgbClr val="FFFFFF"/>
          </a:solidFill>
          <a:ln w="1524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23947" y="2606039"/>
            <a:ext cx="17830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400" b="1" i="0">
                <a:solidFill>
                  <a:srgbClr val="1C7293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97099" y="3520439"/>
            <a:ext cx="1636776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21295C"/>
                </a:solidFill>
                <a:latin typeface="Arial"/>
              </a:rPr>
              <a:t>Что такое 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97099" y="4434840"/>
            <a:ext cx="1636776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 i="1">
                <a:solidFill>
                  <a:srgbClr val="6B7685"/>
                </a:solidFill>
                <a:latin typeface="Arial"/>
              </a:rPr>
              <a:t>Определения,
история, перелом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44187" y="2331720"/>
            <a:ext cx="1783080" cy="2926080"/>
          </a:xfrm>
          <a:prstGeom prst="roundRect">
            <a:avLst>
              <a:gd name="adj" fmla="val 17094"/>
            </a:avLst>
          </a:prstGeom>
          <a:solidFill>
            <a:srgbClr val="FFFFFF"/>
          </a:solidFill>
          <a:ln w="1524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44187" y="2606039"/>
            <a:ext cx="17830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400" b="1" i="0">
                <a:solidFill>
                  <a:srgbClr val="065A82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17339" y="3520439"/>
            <a:ext cx="1636776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21295C"/>
                </a:solidFill>
                <a:latin typeface="Arial"/>
              </a:rPr>
              <a:t>Где мы
сейчас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17339" y="4434840"/>
            <a:ext cx="1636776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 i="1">
                <a:solidFill>
                  <a:srgbClr val="6B7685"/>
                </a:solidFill>
                <a:latin typeface="Arial"/>
              </a:rPr>
              <a:t>Цифры рынка
2022–2026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64427" y="2331720"/>
            <a:ext cx="1783080" cy="2926080"/>
          </a:xfrm>
          <a:prstGeom prst="roundRect">
            <a:avLst>
              <a:gd name="adj" fmla="val 17094"/>
            </a:avLst>
          </a:prstGeom>
          <a:solidFill>
            <a:srgbClr val="FFFFFF"/>
          </a:solidFill>
          <a:ln w="1524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64427" y="2606039"/>
            <a:ext cx="17830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400" b="1" i="0">
                <a:solidFill>
                  <a:srgbClr val="065A82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37579" y="3520439"/>
            <a:ext cx="1636776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21295C"/>
                </a:solidFill>
                <a:latin typeface="Arial"/>
              </a:rPr>
              <a:t>Четыре способа
реализации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37579" y="4434840"/>
            <a:ext cx="1636776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 i="1">
                <a:solidFill>
                  <a:srgbClr val="6B7685"/>
                </a:solidFill>
                <a:latin typeface="Arial"/>
              </a:rPr>
              <a:t>Модель · чат ·
агент · приложение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84667" y="2331720"/>
            <a:ext cx="1783080" cy="2926080"/>
          </a:xfrm>
          <a:prstGeom prst="roundRect">
            <a:avLst>
              <a:gd name="adj" fmla="val 17094"/>
            </a:avLst>
          </a:prstGeom>
          <a:solidFill>
            <a:srgbClr val="F0AB00"/>
          </a:solidFill>
          <a:ln w="317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84667" y="2606039"/>
            <a:ext cx="17830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4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57819" y="3520439"/>
            <a:ext cx="1636776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FFFFFF"/>
                </a:solidFill>
                <a:latin typeface="Arial"/>
              </a:rPr>
              <a:t>Границы
и безопасность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57819" y="4434840"/>
            <a:ext cx="1636776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 i="1">
                <a:solidFill>
                  <a:srgbClr val="FFFFFF"/>
                </a:solidFill>
                <a:latin typeface="Arial"/>
              </a:rPr>
              <a:t>Что AI ломает
и где не работает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004907" y="2331720"/>
            <a:ext cx="1783080" cy="2926080"/>
          </a:xfrm>
          <a:prstGeom prst="roundRect">
            <a:avLst>
              <a:gd name="adj" fmla="val 17094"/>
            </a:avLst>
          </a:prstGeom>
          <a:solidFill>
            <a:srgbClr val="FFFFFF"/>
          </a:solidFill>
          <a:ln w="1524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04907" y="2606039"/>
            <a:ext cx="17830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400" b="1" i="0">
                <a:solidFill>
                  <a:srgbClr val="21295C"/>
                </a:solidFill>
                <a:latin typeface="Arial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78059" y="3520439"/>
            <a:ext cx="1636776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21295C"/>
                </a:solidFill>
                <a:latin typeface="Arial"/>
              </a:rPr>
              <a:t>Заключение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78059" y="4434840"/>
            <a:ext cx="1636776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 i="1">
                <a:solidFill>
                  <a:srgbClr val="6B7685"/>
                </a:solidFill>
                <a:latin typeface="Arial"/>
              </a:rPr>
              <a:t>Резюме ·
карта семестра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55664"/>
            <a:ext cx="11201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850" b="1" i="1">
                <a:solidFill>
                  <a:srgbClr val="065A82"/>
                </a:solidFill>
                <a:latin typeface="Arial"/>
              </a:rPr>
              <a:t>[1] </a:t>
            </a:r>
            <a:r>
              <a:rPr sz="850" i="1">
                <a:solidFill>
                  <a:srgbClr val="1C7293"/>
                </a:solidFill>
                <a:latin typeface="Arial"/>
                <a:hlinkClick r:id="rId2"/>
              </a:rPr>
              <a:t>NIST — AI RMF 1.0 (2023)</a:t>
            </a:r>
            <a:r>
              <a:rPr sz="850" i="1">
                <a:solidFill>
                  <a:srgbClr val="1C7293"/>
                </a:solidFill>
                <a:latin typeface="Arial"/>
              </a:rPr>
              <a:t>   ·   </a:t>
            </a:r>
            <a:r>
              <a:rPr sz="850" b="1" i="1">
                <a:solidFill>
                  <a:srgbClr val="065A82"/>
                </a:solidFill>
                <a:latin typeface="Arial"/>
              </a:rPr>
              <a:t>[2] </a:t>
            </a:r>
            <a:r>
              <a:rPr sz="850" i="1">
                <a:solidFill>
                  <a:srgbClr val="1C7293"/>
                </a:solidFill>
                <a:latin typeface="Arial"/>
                <a:hlinkClick r:id="rId3"/>
              </a:rPr>
              <a:t>NIST — Generative AI Profile 600-1 (2024)</a:t>
            </a:r>
            <a:r>
              <a:rPr sz="850" i="1">
                <a:solidFill>
                  <a:srgbClr val="1C7293"/>
                </a:solidFill>
                <a:latin typeface="Arial"/>
              </a:rPr>
              <a:t>   ·   </a:t>
            </a:r>
            <a:r>
              <a:rPr sz="850" b="1" i="1">
                <a:solidFill>
                  <a:srgbClr val="065A82"/>
                </a:solidFill>
                <a:latin typeface="Arial"/>
              </a:rPr>
              <a:t>[3] </a:t>
            </a:r>
            <a:r>
              <a:rPr sz="850" i="1">
                <a:solidFill>
                  <a:srgbClr val="1C7293"/>
                </a:solidFill>
                <a:latin typeface="Arial"/>
                <a:hlinkClick r:id="rId4"/>
              </a:rPr>
              <a:t>EU AI Act — Reg. (EU) 2024/1689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247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21295C"/>
                </a:solidFill>
                <a:latin typeface="Arial"/>
              </a:rPr>
              <a:t>Потребительские vs корпоративные тарифы — куда уходят ваши данные.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80160"/>
            <a:ext cx="11201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028090"/>
                </a:solidFill>
                <a:latin typeface="Arial"/>
              </a:rPr>
              <a:t>От общей зоны ответственности — к первому конкретному риску: данные.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691640"/>
            <a:ext cx="11185855" cy="4617720"/>
          </a:xfrm>
          <a:prstGeom prst="roundRect">
            <a:avLst>
              <a:gd name="adj" fmla="val 6600"/>
            </a:avLst>
          </a:prstGeom>
          <a:solidFill>
            <a:srgbClr val="FFFFFF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5227167" cy="3017520"/>
          </a:xfrm>
          <a:prstGeom prst="roundRect">
            <a:avLst>
              <a:gd name="adj" fmla="val 10101"/>
            </a:avLst>
          </a:prstGeom>
          <a:solidFill>
            <a:srgbClr val="FEF5E0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084832"/>
            <a:ext cx="476996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21295C"/>
                </a:solidFill>
                <a:latin typeface="Arial"/>
              </a:rPr>
              <a:t>ПОТРЕБИТЕЛЬСКИЕ ТАРИФЫ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468880"/>
            <a:ext cx="4769967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21295C"/>
                </a:solidFill>
                <a:latin typeface="Arial"/>
              </a:rPr>
              <a:t>данные → обучение по умолчанию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017520"/>
            <a:ext cx="467852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•  ChatGPT Free / Plus — обучение
по умолчанию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474720"/>
            <a:ext cx="467852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•  Anthropic Claude (с сент. 2025) —
по согласию, 5 лет хранение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931920"/>
            <a:ext cx="467852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•  Gemini Free — обучение +
проверка людьми, 3 года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389120"/>
            <a:ext cx="467852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•  YandexGPT Free — стандартная
политика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3007" y="1920240"/>
            <a:ext cx="5227167" cy="3017520"/>
          </a:xfrm>
          <a:prstGeom prst="roundRect">
            <a:avLst>
              <a:gd name="adj" fmla="val 10101"/>
            </a:avLst>
          </a:prstGeom>
          <a:solidFill>
            <a:srgbClr val="E6F2F4"/>
          </a:solidFill>
          <a:ln w="1905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61607" y="2084832"/>
            <a:ext cx="476996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28090"/>
                </a:solidFill>
                <a:latin typeface="Arial"/>
              </a:rPr>
              <a:t>КОРПОРАТИВНЫЕ ТАРИФЫ / API </a:t>
            </a:r>
            <a:r>
              <a:rPr sz="728" baseline="30000" b="0" i="1">
                <a:latin typeface="Arial"/>
                <a:cs typeface="Arial"/>
                <a:ea typeface="Arial"/>
                <a:solidFill>
                  <a:srgbClr val="1C7293"/>
                </a:solidFill>
              </a:rPr>
              <a:t>[2]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1607" y="2468880"/>
            <a:ext cx="4769967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21295C"/>
                </a:solidFill>
                <a:latin typeface="Arial"/>
              </a:rPr>
              <a:t>данные ≠ обучение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07327" y="3017520"/>
            <a:ext cx="467852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•  ChatGPT Enterprise / Business —
без обучения на данных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07327" y="3474720"/>
            <a:ext cx="467852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•  OpenAI API (с марта 2023) —
без обучения на данных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07327" y="3931920"/>
            <a:ext cx="467852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•  Anthropic for Business —
нулевое хранение данных доступно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07327" y="4389120"/>
            <a:ext cx="467852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•  Google Workspace / Vertex AI —
без обучения на данных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120640"/>
            <a:ext cx="6651766" cy="960119"/>
          </a:xfrm>
          <a:prstGeom prst="roundRect">
            <a:avLst>
              <a:gd name="adj" fmla="val 12000"/>
            </a:avLst>
          </a:prstGeom>
          <a:solidFill>
            <a:srgbClr val="FEF5E0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212080"/>
            <a:ext cx="628600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21295C"/>
                </a:solidFill>
                <a:latin typeface="Arial"/>
              </a:rPr>
              <a:t>Samsung 2023 — канонический инцидент </a:t>
            </a:r>
            <a:r>
              <a:rPr sz="676" baseline="30000" b="0" i="1">
                <a:latin typeface="Arial"/>
                <a:cs typeface="Arial"/>
                <a:ea typeface="Arial"/>
                <a:solidFill>
                  <a:srgbClr val="1C7293"/>
                </a:solidFill>
              </a:rPr>
              <a:t>[1]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559552"/>
            <a:ext cx="6286006" cy="4571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3 эпизода за месяц (март–апрель): код, транскрипт совещания, тестовые последовательности → попали в датасет OpenAI. Самсунг ввёл запрет внешнего GenAI.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11886" y="5120640"/>
            <a:ext cx="3848288" cy="960119"/>
          </a:xfrm>
          <a:prstGeom prst="roundRect">
            <a:avLst>
              <a:gd name="adj" fmla="val 12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94766" y="5212080"/>
            <a:ext cx="348252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Arial"/>
              </a:rPr>
              <a:t>EU AI Act — штрафы </a:t>
            </a:r>
            <a:r>
              <a:rPr sz="676" baseline="30000" b="0" i="1">
                <a:latin typeface="Arial"/>
                <a:cs typeface="Arial"/>
                <a:ea typeface="Arial"/>
                <a:solidFill>
                  <a:srgbClr val="1C7293"/>
                </a:solidFill>
              </a:rPr>
              <a:t>[3]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94766" y="5559552"/>
            <a:ext cx="34825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</a:rPr>
              <a:t>до 15M € / 3% оборота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94766" y="5870448"/>
            <a:ext cx="3482528" cy="1371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0AB00"/>
                </a:solidFill>
                <a:latin typeface="Arial"/>
              </a:rPr>
              <a:t>до 35M € / 7% — за запрещённые практики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55664"/>
            <a:ext cx="11201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850" b="1" i="1">
                <a:solidFill>
                  <a:srgbClr val="065A82"/>
                </a:solidFill>
                <a:latin typeface="Arial"/>
              </a:rPr>
              <a:t>[1] </a:t>
            </a:r>
            <a:r>
              <a:rPr sz="850" i="1">
                <a:solidFill>
                  <a:srgbClr val="1C7293"/>
                </a:solidFill>
                <a:latin typeface="Arial"/>
                <a:hlinkClick r:id="rId2"/>
              </a:rPr>
              <a:t>Bloomberg — Samsung bans ChatGPT (май 2023)</a:t>
            </a:r>
            <a:r>
              <a:rPr sz="850" i="1">
                <a:solidFill>
                  <a:srgbClr val="1C7293"/>
                </a:solidFill>
                <a:latin typeface="Arial"/>
              </a:rPr>
              <a:t>   ·   </a:t>
            </a:r>
            <a:r>
              <a:rPr sz="850" b="1" i="1">
                <a:solidFill>
                  <a:srgbClr val="065A82"/>
                </a:solidFill>
                <a:latin typeface="Arial"/>
              </a:rPr>
              <a:t>[2] </a:t>
            </a:r>
            <a:r>
              <a:rPr sz="850" i="1">
                <a:solidFill>
                  <a:srgbClr val="1C7293"/>
                </a:solidFill>
                <a:latin typeface="Arial"/>
                <a:hlinkClick r:id="rId3"/>
              </a:rPr>
              <a:t>OpenAI — Enterprise Privacy / data usage (2025)</a:t>
            </a:r>
            <a:r>
              <a:rPr sz="850" i="1">
                <a:solidFill>
                  <a:srgbClr val="1C7293"/>
                </a:solidFill>
                <a:latin typeface="Arial"/>
              </a:rPr>
              <a:t>   ·   </a:t>
            </a:r>
            <a:r>
              <a:rPr sz="850" b="1" i="1">
                <a:solidFill>
                  <a:srgbClr val="065A82"/>
                </a:solidFill>
                <a:latin typeface="Arial"/>
              </a:rPr>
              <a:t>[3] </a:t>
            </a:r>
            <a:r>
              <a:rPr sz="850" i="1">
                <a:solidFill>
                  <a:srgbClr val="1C7293"/>
                </a:solidFill>
                <a:latin typeface="Arial"/>
                <a:hlinkClick r:id="rId4"/>
              </a:rPr>
              <a:t>EU AI Act — Reg. (EU) 2024/1689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24712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800" b="1" i="0">
                <a:solidFill>
                  <a:srgbClr val="21295C"/>
                </a:solidFill>
                <a:latin typeface="Arial"/>
              </a:rPr>
              <a:t>Галлюцинации — неотъемлемое свойство AI. </a:t>
            </a:r>
            <a:r>
              <a:rPr sz="1456" baseline="30000" b="0" i="1">
                <a:latin typeface="Arial"/>
                <a:cs typeface="Arial"/>
                <a:ea typeface="Arial"/>
                <a:solidFill>
                  <a:srgbClr val="1C7293"/>
                </a:solidFill>
              </a:rPr>
              <a:t>[1]</a:t>
            </a:r>
            <a:r>
              <a:rPr sz="2800" b="1" i="0">
                <a:latin typeface="Arial"/>
                <a:cs typeface="Arial"/>
                <a:ea typeface="Arial"/>
                <a:solidFill>
                  <a:srgbClr val="21295C"/>
                </a:solidFill>
              </a:rPr>
              <a:t> </a:t>
            </a:r>
            <a:r>
              <a:rPr sz="1456" baseline="30000" b="0" i="1">
                <a:latin typeface="Arial"/>
                <a:cs typeface="Arial"/>
                <a:ea typeface="Arial"/>
                <a:solidFill>
                  <a:srgbClr val="1C7293"/>
                </a:solidFill>
              </a:rPr>
              <a:t>[2]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783080"/>
            <a:ext cx="6858000" cy="4114800"/>
          </a:xfrm>
          <a:prstGeom prst="roundRect">
            <a:avLst>
              <a:gd name="adj" fmla="val 7407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965960"/>
            <a:ext cx="6400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28090"/>
                </a:solidFill>
                <a:latin typeface="Arial"/>
              </a:rPr>
              <a:t>Промпт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377440"/>
            <a:ext cx="6400800" cy="64008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270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496312"/>
            <a:ext cx="6126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1">
                <a:solidFill>
                  <a:srgbClr val="21295C"/>
                </a:solidFill>
                <a:latin typeface="Arial"/>
              </a:rPr>
              <a:t>«Назови три статьи 2023-2024 по теме "сейсмостойкость подземных трубопроводов" с авторами, журналом и DOI».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0040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21295C"/>
                </a:solidFill>
                <a:latin typeface="Arial"/>
              </a:rPr>
              <a:t>Ответ AI (3 фейк-ссылки):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611880"/>
            <a:ext cx="6126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21295C"/>
                </a:solidFill>
                <a:latin typeface="Arial"/>
              </a:rPr>
              <a:t>Petrov A., Smith J. (2023).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840480"/>
            <a:ext cx="6126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21295C"/>
                </a:solidFill>
                <a:latin typeface="Arial"/>
              </a:rPr>
              <a:t>Seismic Resilience of Small-Diameter Pipelines.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069080"/>
            <a:ext cx="6126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21295C"/>
                </a:solidFill>
                <a:latin typeface="Arial"/>
              </a:rPr>
              <a:t>DOI: 10.1016/j.engfailanal.2023.107214 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325112"/>
            <a:ext cx="6126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21295C"/>
                </a:solidFill>
                <a:latin typeface="Arial"/>
              </a:rPr>
              <a:t>Ivanov K. et al. (2024).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553712"/>
            <a:ext cx="6126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21295C"/>
                </a:solidFill>
                <a:latin typeface="Arial"/>
              </a:rPr>
              <a:t>Underground Infrastructure Earthquake Response.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782312"/>
            <a:ext cx="6126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21295C"/>
                </a:solidFill>
                <a:latin typeface="Arial"/>
              </a:rPr>
              <a:t>DOI: 10.1080/15732479.2024.2218450 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038344"/>
            <a:ext cx="6126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21295C"/>
                </a:solidFill>
                <a:latin typeface="Arial"/>
              </a:rPr>
              <a:t>Chen L., Brown R. (2023).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5266944"/>
            <a:ext cx="6126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21295C"/>
                </a:solidFill>
                <a:latin typeface="Arial"/>
              </a:rPr>
              <a:t>Microscale Pipe Vibration Analysis.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5495544"/>
            <a:ext cx="6126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21295C"/>
                </a:solidFill>
                <a:latin typeface="Arial"/>
              </a:rPr>
              <a:t>DOI: 10.1007/s11069-023-06122-1 ✗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80960" y="1783080"/>
            <a:ext cx="4023360" cy="2926080"/>
          </a:xfrm>
          <a:prstGeom prst="roundRect">
            <a:avLst>
              <a:gd name="adj" fmla="val 10416"/>
            </a:avLst>
          </a:prstGeom>
          <a:solidFill>
            <a:srgbClr val="E6F2F4"/>
          </a:solidFill>
          <a:ln w="1905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09560" y="196596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28090"/>
                </a:solidFill>
                <a:latin typeface="Arial"/>
              </a:rPr>
              <a:t>Vectara HHEM (2025-26) </a:t>
            </a:r>
            <a:r>
              <a:rPr sz="676" baseline="30000" b="0" i="1">
                <a:latin typeface="Arial"/>
                <a:cs typeface="Arial"/>
                <a:ea typeface="Arial"/>
                <a:solidFill>
                  <a:srgbClr val="1C7293"/>
                </a:solidFill>
              </a:rPr>
              <a:t>[3]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09560" y="237744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1C7293"/>
                </a:solidFill>
                <a:latin typeface="Arial"/>
              </a:rPr>
              <a:t>процент галлюцинаций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9560" y="2926080"/>
            <a:ext cx="3566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028090"/>
                </a:solidFill>
                <a:latin typeface="Arial"/>
              </a:rPr>
              <a:t>&lt; 1%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9560" y="3291839"/>
            <a:ext cx="3566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6B7685"/>
                </a:solidFill>
                <a:latin typeface="Arial"/>
              </a:rPr>
              <a:t>суммаризация (Gemini 2.0 Flash)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09560" y="3794760"/>
            <a:ext cx="3566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21295C"/>
                </a:solidFill>
                <a:latin typeface="Arial"/>
              </a:rPr>
              <a:t>10–15%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09560" y="4160520"/>
            <a:ext cx="3566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6B7685"/>
                </a:solidFill>
                <a:latin typeface="Arial"/>
              </a:rPr>
              <a:t>reasoning (многошаговое)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80960" y="4892040"/>
            <a:ext cx="4023360" cy="1005840"/>
          </a:xfrm>
          <a:prstGeom prst="roundRect">
            <a:avLst>
              <a:gd name="adj" fmla="val 12000"/>
            </a:avLst>
          </a:prstGeom>
          <a:solidFill>
            <a:srgbClr val="FEF5E0"/>
          </a:solidFill>
          <a:ln w="1524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63840" y="4965192"/>
            <a:ext cx="3657600" cy="8595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21295C"/>
                </a:solidFill>
                <a:latin typeface="Arial"/>
              </a:rPr>
              <a:t>Анти-паттерн: «AI знает всё». Любой ответ AI по фактическому вопросу — гипотеза для проверки. </a:t>
            </a:r>
            <a:r>
              <a:rPr sz="624" baseline="30000" b="0" i="1">
                <a:latin typeface="Arial"/>
                <a:cs typeface="Arial"/>
                <a:ea typeface="Arial"/>
                <a:solidFill>
                  <a:srgbClr val="1C7293"/>
                </a:solidFill>
              </a:rPr>
              <a:t>[4]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55664"/>
            <a:ext cx="11201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850" b="1" i="1">
                <a:solidFill>
                  <a:srgbClr val="065A82"/>
                </a:solidFill>
                <a:latin typeface="Arial"/>
              </a:rPr>
              <a:t>[1] </a:t>
            </a:r>
            <a:r>
              <a:rPr sz="850" i="1">
                <a:solidFill>
                  <a:srgbClr val="1C7293"/>
                </a:solidFill>
                <a:latin typeface="Arial"/>
                <a:hlinkClick r:id="rId2"/>
              </a:rPr>
              <a:t>Huang et al. — Survey on Hallucination in LLMs (2023)</a:t>
            </a:r>
            <a:r>
              <a:rPr sz="850" i="1">
                <a:solidFill>
                  <a:srgbClr val="1C7293"/>
                </a:solidFill>
                <a:latin typeface="Arial"/>
              </a:rPr>
              <a:t>   ·   </a:t>
            </a:r>
            <a:r>
              <a:rPr sz="850" b="1" i="1">
                <a:solidFill>
                  <a:srgbClr val="065A82"/>
                </a:solidFill>
                <a:latin typeface="Arial"/>
              </a:rPr>
              <a:t>[2] </a:t>
            </a:r>
            <a:r>
              <a:rPr sz="850" i="1">
                <a:solidFill>
                  <a:srgbClr val="1C7293"/>
                </a:solidFill>
                <a:latin typeface="Arial"/>
                <a:hlinkClick r:id="rId3"/>
              </a:rPr>
              <a:t>Ji et al. — Survey of Hallucination in NLG (2023)</a:t>
            </a:r>
            <a:r>
              <a:rPr sz="850" i="1">
                <a:solidFill>
                  <a:srgbClr val="1C7293"/>
                </a:solidFill>
                <a:latin typeface="Arial"/>
              </a:rPr>
              <a:t>   ·   </a:t>
            </a:r>
            <a:r>
              <a:rPr sz="850" b="1" i="1">
                <a:solidFill>
                  <a:srgbClr val="065A82"/>
                </a:solidFill>
                <a:latin typeface="Arial"/>
              </a:rPr>
              <a:t>[3] </a:t>
            </a:r>
            <a:r>
              <a:rPr sz="850" i="1">
                <a:solidFill>
                  <a:srgbClr val="1C7293"/>
                </a:solidFill>
                <a:latin typeface="Arial"/>
                <a:hlinkClick r:id="rId4"/>
              </a:rPr>
              <a:t>Vectara — HHEM Leaderboard</a:t>
            </a:r>
            <a:r>
              <a:rPr sz="850" i="1">
                <a:solidFill>
                  <a:srgbClr val="1C7293"/>
                </a:solidFill>
                <a:latin typeface="Arial"/>
              </a:rPr>
              <a:t>   ·   </a:t>
            </a:r>
            <a:r>
              <a:rPr sz="850" b="1" i="1">
                <a:solidFill>
                  <a:srgbClr val="065A82"/>
                </a:solidFill>
                <a:latin typeface="Arial"/>
              </a:rPr>
              <a:t>[4] </a:t>
            </a:r>
            <a:r>
              <a:rPr sz="850" i="1">
                <a:solidFill>
                  <a:srgbClr val="1C7293"/>
                </a:solidFill>
                <a:latin typeface="Arial"/>
                <a:hlinkClick r:id="rId5"/>
              </a:rPr>
              <a:t>CybSafe / NCA — Oh Behave! (2024–25)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24712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21295C"/>
                </a:solidFill>
                <a:latin typeface="Arial"/>
              </a:rPr>
              <a:t>Смещение, лесть, дрейф распределения — три проявления одной природы.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49427" y="1691640"/>
            <a:ext cx="3703320" cy="3108960"/>
          </a:xfrm>
          <a:prstGeom prst="roundRect">
            <a:avLst>
              <a:gd name="adj" fmla="val 9803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ucide-scale-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747" y="1965960"/>
            <a:ext cx="594360" cy="594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55267" y="1965960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1C7293"/>
                </a:solidFill>
                <a:latin typeface="Arial"/>
              </a:rPr>
              <a:t>Смещение (bias)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3747" y="2788920"/>
            <a:ext cx="315467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21295C"/>
                </a:solidFill>
                <a:latin typeface="Arial"/>
              </a:rPr>
              <a:t>Модель повторяет перекосы датасета.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3747" y="3520440"/>
            <a:ext cx="3154679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1">
                <a:solidFill>
                  <a:srgbClr val="6B7685"/>
                </a:solidFill>
                <a:latin typeface="Arial"/>
              </a:rPr>
              <a:t>Скрининг резюме обучен на исторических данных — дискриминирует, не «решая», а статистически.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44187" y="1691640"/>
            <a:ext cx="3703320" cy="3108960"/>
          </a:xfrm>
          <a:prstGeom prst="roundRect">
            <a:avLst>
              <a:gd name="adj" fmla="val 9803"/>
            </a:avLst>
          </a:prstGeom>
          <a:solidFill>
            <a:srgbClr val="F4F7FA"/>
          </a:solidFill>
          <a:ln w="19050">
            <a:solidFill>
              <a:srgbClr val="065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ucide-smartphone-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8507" y="1965960"/>
            <a:ext cx="594360" cy="5943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250027" y="1965960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065A82"/>
                </a:solidFill>
                <a:latin typeface="Arial"/>
              </a:rPr>
              <a:t>Лесть (sycophancy)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18507" y="2788920"/>
            <a:ext cx="315467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21295C"/>
                </a:solidFill>
                <a:latin typeface="Arial"/>
              </a:rPr>
              <a:t>Модель учится у разметки обратной связи поддакивать.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18507" y="3520440"/>
            <a:ext cx="3154679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1">
                <a:solidFill>
                  <a:srgbClr val="6B7685"/>
                </a:solidFill>
                <a:latin typeface="Arial"/>
              </a:rPr>
              <a:t>Соглашается с явно неверным, чрезмерно хвалит — пользователь не замечает потери критики.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38947" y="1691640"/>
            <a:ext cx="3703320" cy="3108960"/>
          </a:xfrm>
          <a:prstGeom prst="roundRect">
            <a:avLst>
              <a:gd name="adj" fmla="val 9803"/>
            </a:avLst>
          </a:prstGeom>
          <a:solidFill>
            <a:srgbClr val="F4F7FA"/>
          </a:solidFill>
          <a:ln w="19050">
            <a:solidFill>
              <a:srgbClr val="2129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lucide-trending-up-bl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3267" y="1965960"/>
            <a:ext cx="594360" cy="5943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044787" y="1965960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 i="0">
                <a:solidFill>
                  <a:srgbClr val="21295C"/>
                </a:solidFill>
                <a:latin typeface="Arial"/>
              </a:rPr>
              <a:t>Дрейф распределения
(distribution shift)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13267" y="2788920"/>
            <a:ext cx="315467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21295C"/>
                </a:solidFill>
                <a:latin typeface="Arial"/>
              </a:rPr>
              <a:t>Данные периода — устаревают.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13267" y="3520440"/>
            <a:ext cx="3154679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1">
                <a:solidFill>
                  <a:srgbClr val="6B7685"/>
                </a:solidFill>
                <a:latin typeface="Arial"/>
              </a:rPr>
              <a:t>Модель на коде 2023 в 2026 предложит устаревшую библиотеку без явного сбоя.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5029200"/>
            <a:ext cx="11201400" cy="9144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2540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5120640"/>
            <a:ext cx="10835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21295C"/>
                </a:solidFill>
                <a:latin typeface="Arial"/>
              </a:rPr>
              <a:t>GPT-4o: лесть (sycophancy) — апрель 2025 </a:t>
            </a:r>
            <a:r>
              <a:rPr sz="676" baseline="30000" b="0" i="1">
                <a:latin typeface="Arial"/>
                <a:cs typeface="Arial"/>
                <a:ea typeface="Arial"/>
                <a:solidFill>
                  <a:srgbClr val="1C7293"/>
                </a:solidFill>
              </a:rPr>
              <a:t>[1]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486400"/>
            <a:ext cx="10835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65A82"/>
                </a:solidFill>
                <a:latin typeface="Arial"/>
              </a:rPr>
              <a:t>25 апр</a:t>
            </a:r>
            <a:r>
              <a:rPr sz="1200" b="0" i="0">
                <a:solidFill>
                  <a:srgbClr val="21295C"/>
                </a:solidFill>
                <a:latin typeface="Arial"/>
              </a:rPr>
              <a:t> — релиз обновления   →   </a:t>
            </a:r>
            <a:r>
              <a:rPr sz="1400" b="1" i="0">
                <a:solidFill>
                  <a:srgbClr val="065A82"/>
                </a:solidFill>
                <a:latin typeface="Arial"/>
              </a:rPr>
              <a:t>28 апр</a:t>
            </a:r>
            <a:r>
              <a:rPr sz="1200" b="0" i="0">
                <a:solidFill>
                  <a:srgbClr val="21295C"/>
                </a:solidFill>
                <a:latin typeface="Arial"/>
              </a:rPr>
              <a:t> — начало отката (Альтман в соцсети тем же вечером)   →   </a:t>
            </a:r>
            <a:r>
              <a:rPr sz="1400" b="1" i="0">
                <a:solidFill>
                  <a:srgbClr val="065A82"/>
                </a:solidFill>
                <a:latin typeface="Arial"/>
              </a:rPr>
              <a:t>29 апр</a:t>
            </a:r>
            <a:r>
              <a:rPr sz="1200" b="0" i="0">
                <a:solidFill>
                  <a:srgbClr val="21295C"/>
                </a:solidFill>
                <a:latin typeface="Arial"/>
              </a:rPr>
              <a:t> — разбор причин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007608"/>
            <a:ext cx="11201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1">
                <a:solidFill>
                  <a:srgbClr val="21295C"/>
                </a:solidFill>
                <a:latin typeface="Arial"/>
              </a:rPr>
              <a:t>Общая причина: модель отражает данные, на которых обучена. </a:t>
            </a:r>
            <a:r>
              <a:rPr sz="676" baseline="30000" b="0" i="1">
                <a:latin typeface="Arial"/>
                <a:cs typeface="Arial"/>
                <a:ea typeface="Arial"/>
                <a:solidFill>
                  <a:srgbClr val="1C7293"/>
                </a:solidFill>
              </a:rPr>
              <a:t>[2]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55664"/>
            <a:ext cx="11201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850" b="1" i="1">
                <a:solidFill>
                  <a:srgbClr val="065A82"/>
                </a:solidFill>
                <a:latin typeface="Arial"/>
              </a:rPr>
              <a:t>[1] </a:t>
            </a:r>
            <a:r>
              <a:rPr sz="850" i="1">
                <a:solidFill>
                  <a:srgbClr val="1C7293"/>
                </a:solidFill>
                <a:latin typeface="Arial"/>
                <a:hlinkClick r:id="rId5"/>
              </a:rPr>
              <a:t>OpenAI — Sycophancy in GPT-4o postmortem (2025)</a:t>
            </a:r>
            <a:r>
              <a:rPr sz="850" i="1">
                <a:solidFill>
                  <a:srgbClr val="1C7293"/>
                </a:solidFill>
                <a:latin typeface="Arial"/>
              </a:rPr>
              <a:t>   ·   </a:t>
            </a:r>
            <a:r>
              <a:rPr sz="850" b="1" i="1">
                <a:solidFill>
                  <a:srgbClr val="065A82"/>
                </a:solidFill>
                <a:latin typeface="Arial"/>
              </a:rPr>
              <a:t>[2] </a:t>
            </a:r>
            <a:r>
              <a:rPr sz="850" i="1">
                <a:solidFill>
                  <a:srgbClr val="1C7293"/>
                </a:solidFill>
                <a:latin typeface="Arial"/>
                <a:hlinkClick r:id="rId6"/>
              </a:rPr>
              <a:t>Pan et al. — Reward Misspecification (2022)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24712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600" b="1" i="0">
                <a:solidFill>
                  <a:srgbClr val="21295C"/>
                </a:solidFill>
                <a:latin typeface="Arial"/>
              </a:rPr>
              <a:t>Прогнозы AGI — 4 спикера, 4 разных стимула. </a:t>
            </a:r>
            <a:r>
              <a:rPr sz="1352" baseline="30000" b="0" i="1">
                <a:latin typeface="Arial"/>
                <a:cs typeface="Arial"/>
                <a:ea typeface="Arial"/>
                <a:solidFill>
                  <a:srgbClr val="1C7293"/>
                </a:solidFill>
              </a:rPr>
              <a:t>[1]</a:t>
            </a:r>
            <a:r>
              <a:rPr sz="2600" b="1" i="0">
                <a:latin typeface="Arial"/>
                <a:cs typeface="Arial"/>
                <a:ea typeface="Arial"/>
                <a:solidFill>
                  <a:srgbClr val="21295C"/>
                </a:solidFill>
              </a:rPr>
              <a:t> </a:t>
            </a:r>
            <a:r>
              <a:rPr sz="1352" baseline="30000" b="0" i="1">
                <a:latin typeface="Arial"/>
                <a:cs typeface="Arial"/>
                <a:ea typeface="Arial"/>
                <a:solidFill>
                  <a:srgbClr val="1C7293"/>
                </a:solidFill>
              </a:rPr>
              <a:t>[2]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783080"/>
            <a:ext cx="11201400" cy="45720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74519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</a:rPr>
              <a:t>Спикер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34640" y="1874519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</a:rPr>
              <a:t>Аффилиация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63440" y="1874519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</a:rPr>
              <a:t>Прогноз AGI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1874519"/>
            <a:ext cx="32461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</a:rPr>
              <a:t>Материальный интерес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240280"/>
            <a:ext cx="11201400" cy="914400"/>
          </a:xfrm>
          <a:prstGeom prst="rect">
            <a:avLst/>
          </a:prstGeom>
          <a:solidFill>
            <a:srgbClr val="F4F7FA"/>
          </a:solidFill>
          <a:ln w="635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377440"/>
            <a:ext cx="1920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i="0">
                <a:solidFill>
                  <a:srgbClr val="21295C"/>
                </a:solidFill>
                <a:latin typeface="Arial"/>
              </a:rPr>
              <a:t>Sam Altman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2377440"/>
            <a:ext cx="15544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6B7685"/>
                </a:solidFill>
                <a:latin typeface="Arial"/>
              </a:rPr>
              <a:t>OpenAI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377440"/>
            <a:ext cx="33832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6B7685"/>
                </a:solidFill>
                <a:latin typeface="Arial"/>
              </a:rPr>
              <a:t>«Знаем как построить AGI; начало superintelligence» (янв. 2026)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2377440"/>
            <a:ext cx="32461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6B7685"/>
                </a:solidFill>
                <a:latin typeface="Arial"/>
              </a:rPr>
              <a:t>$100B+ раунды; контекст IPO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154680"/>
            <a:ext cx="112014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291840"/>
            <a:ext cx="1920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i="0">
                <a:solidFill>
                  <a:srgbClr val="21295C"/>
                </a:solidFill>
                <a:latin typeface="Arial"/>
              </a:rPr>
              <a:t>Dario Amodei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3291840"/>
            <a:ext cx="15544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6B7685"/>
                </a:solidFill>
                <a:latin typeface="Arial"/>
              </a:rPr>
              <a:t>Anthropic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3291840"/>
            <a:ext cx="33832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6B7685"/>
                </a:solidFill>
                <a:latin typeface="Arial"/>
              </a:rPr>
              <a:t>«AGI через 2–3 года; нобелевский уровень за 2 года» (Давос 2026)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3291840"/>
            <a:ext cx="32461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6B7685"/>
                </a:solidFill>
                <a:latin typeface="Arial"/>
              </a:rPr>
              <a:t>Конкуренция с OpenAI; раунд 2026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4069080"/>
            <a:ext cx="11201400" cy="914400"/>
          </a:xfrm>
          <a:prstGeom prst="rect">
            <a:avLst/>
          </a:prstGeom>
          <a:solidFill>
            <a:srgbClr val="F4F7FA"/>
          </a:solidFill>
          <a:ln w="635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206240"/>
            <a:ext cx="1920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i="0">
                <a:solidFill>
                  <a:srgbClr val="21295C"/>
                </a:solidFill>
                <a:latin typeface="Arial"/>
              </a:rPr>
              <a:t>Demis Hassabis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34640" y="4206240"/>
            <a:ext cx="15544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6B7685"/>
                </a:solidFill>
                <a:latin typeface="Arial"/>
              </a:rPr>
              <a:t>Google
DeepMind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4206240"/>
            <a:ext cx="33832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6B7685"/>
                </a:solidFill>
                <a:latin typeface="Arial"/>
              </a:rPr>
              <a:t>«AGI к 2029–2030 (3–4 года); окно сузилось за 2026 год» (Axios/Google I/O, май 2026)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4206240"/>
            <a:ext cx="32461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6B7685"/>
                </a:solidFill>
                <a:latin typeface="Arial"/>
              </a:rPr>
              <a:t>Лидер community; больше доверия при осторожной позиции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4983480"/>
            <a:ext cx="112014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5120640"/>
            <a:ext cx="1920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i="0">
                <a:solidFill>
                  <a:srgbClr val="21295C"/>
                </a:solidFill>
                <a:latin typeface="Arial"/>
              </a:rPr>
              <a:t>Yann LeCun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34640" y="5120640"/>
            <a:ext cx="15544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6B7685"/>
                </a:solidFill>
                <a:latin typeface="Arial"/>
              </a:rPr>
              <a:t>AMI Labs
(экс-Meta)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3440" y="5120640"/>
            <a:ext cx="33832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6B7685"/>
                </a:solidFill>
                <a:latin typeface="Arial"/>
              </a:rPr>
              <a:t>«LLM не приведут к AGI; нужны world models, JEPA»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5120640"/>
            <a:ext cx="32461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6B7685"/>
                </a:solidFill>
                <a:latin typeface="Arial"/>
              </a:rPr>
              <a:t>Раунд $1B (март 2026) на альтернативный путь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55664"/>
            <a:ext cx="11201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850" b="1" i="1">
                <a:solidFill>
                  <a:srgbClr val="065A82"/>
                </a:solidFill>
                <a:latin typeface="Arial"/>
              </a:rPr>
              <a:t>[1] </a:t>
            </a:r>
            <a:r>
              <a:rPr sz="850" i="1">
                <a:solidFill>
                  <a:srgbClr val="1C7293"/>
                </a:solidFill>
                <a:latin typeface="Arial"/>
                <a:hlinkClick r:id="rId2"/>
              </a:rPr>
              <a:t>Searle — Minds, Brains, and Programs (1980)</a:t>
            </a:r>
            <a:r>
              <a:rPr sz="850" i="1">
                <a:solidFill>
                  <a:srgbClr val="1C7293"/>
                </a:solidFill>
                <a:latin typeface="Arial"/>
              </a:rPr>
              <a:t>   ·   </a:t>
            </a:r>
            <a:r>
              <a:rPr sz="850" b="1" i="1">
                <a:solidFill>
                  <a:srgbClr val="065A82"/>
                </a:solidFill>
                <a:latin typeface="Arial"/>
              </a:rPr>
              <a:t>[2] </a:t>
            </a:r>
            <a:r>
              <a:rPr sz="850" i="1">
                <a:solidFill>
                  <a:srgbClr val="1C7293"/>
                </a:solidFill>
                <a:latin typeface="Arial"/>
                <a:hlinkClick r:id="rId3"/>
              </a:rPr>
              <a:t>Bostrom — Superintelligence (2014)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2014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000" b="1" i="0">
                <a:solidFill>
                  <a:srgbClr val="21295C"/>
                </a:solidFill>
                <a:latin typeface="Arial"/>
              </a:rPr>
              <a:t>Раздел 5 · Что забрать домой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325880"/>
            <a:ext cx="11201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0" i="1">
                <a:solidFill>
                  <a:srgbClr val="065A82"/>
                </a:solidFill>
                <a:latin typeface="Arial"/>
              </a:rPr>
              <a:t>Резюме · карта семестра · тизер лекции 2.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3707" y="2331720"/>
            <a:ext cx="1783080" cy="2926080"/>
          </a:xfrm>
          <a:prstGeom prst="roundRect">
            <a:avLst>
              <a:gd name="adj" fmla="val 17094"/>
            </a:avLst>
          </a:prstGeom>
          <a:solidFill>
            <a:srgbClr val="FFFFFF"/>
          </a:solidFill>
          <a:ln w="1524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03707" y="2606039"/>
            <a:ext cx="17830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400" b="1" i="0">
                <a:solidFill>
                  <a:srgbClr val="1C7293"/>
                </a:solidFill>
                <a:latin typeface="Arial"/>
              </a:rPr>
              <a:t>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6859" y="3520439"/>
            <a:ext cx="1636776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21295C"/>
                </a:solidFill>
                <a:latin typeface="Arial"/>
              </a:rPr>
              <a:t>Введение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6859" y="4434840"/>
            <a:ext cx="1636776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 i="1">
                <a:solidFill>
                  <a:srgbClr val="6B7685"/>
                </a:solidFill>
                <a:latin typeface="Arial"/>
              </a:rPr>
              <a:t>Демо · инструктор ·
центральный вопрос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23947" y="2331720"/>
            <a:ext cx="1783080" cy="2926080"/>
          </a:xfrm>
          <a:prstGeom prst="roundRect">
            <a:avLst>
              <a:gd name="adj" fmla="val 17094"/>
            </a:avLst>
          </a:prstGeom>
          <a:solidFill>
            <a:srgbClr val="FFFFFF"/>
          </a:solidFill>
          <a:ln w="1524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23947" y="2606039"/>
            <a:ext cx="17830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400" b="1" i="0">
                <a:solidFill>
                  <a:srgbClr val="1C7293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97099" y="3520439"/>
            <a:ext cx="1636776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21295C"/>
                </a:solidFill>
                <a:latin typeface="Arial"/>
              </a:rPr>
              <a:t>Что такое 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97099" y="4434840"/>
            <a:ext cx="1636776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 i="1">
                <a:solidFill>
                  <a:srgbClr val="6B7685"/>
                </a:solidFill>
                <a:latin typeface="Arial"/>
              </a:rPr>
              <a:t>Определения,
история, перелом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44187" y="2331720"/>
            <a:ext cx="1783080" cy="2926080"/>
          </a:xfrm>
          <a:prstGeom prst="roundRect">
            <a:avLst>
              <a:gd name="adj" fmla="val 17094"/>
            </a:avLst>
          </a:prstGeom>
          <a:solidFill>
            <a:srgbClr val="FFFFFF"/>
          </a:solidFill>
          <a:ln w="1524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44187" y="2606039"/>
            <a:ext cx="17830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400" b="1" i="0">
                <a:solidFill>
                  <a:srgbClr val="065A82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17339" y="3520439"/>
            <a:ext cx="1636776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21295C"/>
                </a:solidFill>
                <a:latin typeface="Arial"/>
              </a:rPr>
              <a:t>Где мы
сейчас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17339" y="4434840"/>
            <a:ext cx="1636776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 i="1">
                <a:solidFill>
                  <a:srgbClr val="6B7685"/>
                </a:solidFill>
                <a:latin typeface="Arial"/>
              </a:rPr>
              <a:t>Цифры рынка
2022–2026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64427" y="2331720"/>
            <a:ext cx="1783080" cy="2926080"/>
          </a:xfrm>
          <a:prstGeom prst="roundRect">
            <a:avLst>
              <a:gd name="adj" fmla="val 17094"/>
            </a:avLst>
          </a:prstGeom>
          <a:solidFill>
            <a:srgbClr val="FFFFFF"/>
          </a:solidFill>
          <a:ln w="1524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64427" y="2606039"/>
            <a:ext cx="17830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400" b="1" i="0">
                <a:solidFill>
                  <a:srgbClr val="065A82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37579" y="3520439"/>
            <a:ext cx="1636776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21295C"/>
                </a:solidFill>
                <a:latin typeface="Arial"/>
              </a:rPr>
              <a:t>Четыре способа
реализации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37579" y="4434840"/>
            <a:ext cx="1636776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 i="1">
                <a:solidFill>
                  <a:srgbClr val="6B7685"/>
                </a:solidFill>
                <a:latin typeface="Arial"/>
              </a:rPr>
              <a:t>Модель · чат ·
агент · приложение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84667" y="2331720"/>
            <a:ext cx="1783080" cy="2926080"/>
          </a:xfrm>
          <a:prstGeom prst="roundRect">
            <a:avLst>
              <a:gd name="adj" fmla="val 17094"/>
            </a:avLst>
          </a:prstGeom>
          <a:solidFill>
            <a:srgbClr val="FFFFFF"/>
          </a:solidFill>
          <a:ln w="1524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84667" y="2606039"/>
            <a:ext cx="17830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400" b="1" i="0">
                <a:solidFill>
                  <a:srgbClr val="21295C"/>
                </a:solidFill>
                <a:latin typeface="Arial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57819" y="3520439"/>
            <a:ext cx="1636776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21295C"/>
                </a:solidFill>
                <a:latin typeface="Arial"/>
              </a:rPr>
              <a:t>Границы
и безопасность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57819" y="4434840"/>
            <a:ext cx="1636776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 i="1">
                <a:solidFill>
                  <a:srgbClr val="6B7685"/>
                </a:solidFill>
                <a:latin typeface="Arial"/>
              </a:rPr>
              <a:t>Что AI ломает
и где не работает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004907" y="2331720"/>
            <a:ext cx="1783080" cy="2926080"/>
          </a:xfrm>
          <a:prstGeom prst="roundRect">
            <a:avLst>
              <a:gd name="adj" fmla="val 17094"/>
            </a:avLst>
          </a:prstGeom>
          <a:solidFill>
            <a:srgbClr val="F0AB00"/>
          </a:solidFill>
          <a:ln w="317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04907" y="2606039"/>
            <a:ext cx="17830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4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78059" y="3520439"/>
            <a:ext cx="1636776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FFFFFF"/>
                </a:solidFill>
                <a:latin typeface="Arial"/>
              </a:rPr>
              <a:t>Заключение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78059" y="4434840"/>
            <a:ext cx="1636776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 i="1">
                <a:solidFill>
                  <a:srgbClr val="FFFFFF"/>
                </a:solidFill>
                <a:latin typeface="Arial"/>
              </a:rPr>
              <a:t>Резюме ·
карта семестра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24712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800" b="1" i="0">
                <a:solidFill>
                  <a:srgbClr val="21295C"/>
                </a:solidFill>
                <a:latin typeface="Arial"/>
              </a:rPr>
              <a:t>Что мы прошли: три главных вывода.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49427" y="2377440"/>
            <a:ext cx="3703320" cy="3291840"/>
          </a:xfrm>
          <a:prstGeom prst="roundRect">
            <a:avLst>
              <a:gd name="adj" fmla="val 9259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32307" y="2560320"/>
            <a:ext cx="6400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 i="0">
                <a:solidFill>
                  <a:srgbClr val="1C7293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63827" y="2651760"/>
            <a:ext cx="260603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21295C"/>
                </a:solidFill>
                <a:latin typeface="Arial"/>
              </a:rPr>
              <a:t>AI — спектр, не монолит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3747" y="3657600"/>
            <a:ext cx="3154679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21295C"/>
                </a:solidFill>
                <a:latin typeface="Arial"/>
              </a:rPr>
              <a:t>Тип задачи × модальность × тип реализации.
Грамотное обсуждение начинается с явной классификации.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44187" y="2377440"/>
            <a:ext cx="3703320" cy="3291840"/>
          </a:xfrm>
          <a:prstGeom prst="roundRect">
            <a:avLst>
              <a:gd name="adj" fmla="val 9259"/>
            </a:avLst>
          </a:prstGeom>
          <a:solidFill>
            <a:srgbClr val="F4F7FA"/>
          </a:solidFill>
          <a:ln w="19050">
            <a:solidFill>
              <a:srgbClr val="065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27067" y="2560320"/>
            <a:ext cx="6400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 i="0">
                <a:solidFill>
                  <a:srgbClr val="065A82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58587" y="2651760"/>
            <a:ext cx="260603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21295C"/>
                </a:solidFill>
                <a:latin typeface="Arial"/>
              </a:rPr>
              <a:t>Выбор типа AI — навык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18507" y="3657600"/>
            <a:ext cx="3154679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21295C"/>
                </a:solidFill>
                <a:latin typeface="Arial"/>
              </a:rPr>
              <a:t>2 диагностических вопроса + квадрант 2×2.
Инструмент, который вы применяете на семинарах.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38947" y="2377440"/>
            <a:ext cx="3703320" cy="3291840"/>
          </a:xfrm>
          <a:prstGeom prst="roundRect">
            <a:avLst>
              <a:gd name="adj" fmla="val 9259"/>
            </a:avLst>
          </a:prstGeom>
          <a:solidFill>
            <a:srgbClr val="F4F7FA"/>
          </a:solidFill>
          <a:ln w="19050">
            <a:solidFill>
              <a:srgbClr val="2129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1827" y="2560320"/>
            <a:ext cx="6400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 i="0">
                <a:solidFill>
                  <a:srgbClr val="21295C"/>
                </a:solidFill>
                <a:latin typeface="Arial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53347" y="2651760"/>
            <a:ext cx="260603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21295C"/>
                </a:solidFill>
                <a:latin typeface="Arial"/>
              </a:rPr>
              <a:t>Целеполагание у человека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13267" y="3657600"/>
            <a:ext cx="3154679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21295C"/>
                </a:solidFill>
                <a:latin typeface="Arial"/>
              </a:rPr>
              <a:t>Все классы ошибок требуют человеческого контура.
Граница «AI / не-AI» — ваша инженерная зона.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5989320"/>
            <a:ext cx="11201400" cy="548640"/>
          </a:xfrm>
          <a:prstGeom prst="roundRect">
            <a:avLst>
              <a:gd name="adj" fmla="val 12000"/>
            </a:avLst>
          </a:prstGeom>
          <a:solidFill>
            <a:srgbClr val="FEF5E0"/>
          </a:solidFill>
          <a:ln w="1524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6062472"/>
            <a:ext cx="10835640" cy="40233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21295C"/>
                </a:solidFill>
                <a:latin typeface="Arial"/>
              </a:rPr>
              <a:t>Главный вопрос лекции: где AI работает, где — нет, и как это понять?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24712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800" b="1" i="0">
                <a:solidFill>
                  <a:srgbClr val="21295C"/>
                </a:solidFill>
                <a:latin typeface="Arial"/>
              </a:rPr>
              <a:t>Лекция 2: «Как работают современные большие модели».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38047" y="1874519"/>
            <a:ext cx="5120640" cy="1828800"/>
          </a:xfrm>
          <a:prstGeom prst="roundRect">
            <a:avLst>
              <a:gd name="adj" fmla="val 16666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ucide-file-text-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8087" y="2194560"/>
            <a:ext cx="777240" cy="777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18207" y="2240279"/>
            <a:ext cx="37033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065A82"/>
                </a:solidFill>
                <a:latin typeface="Arial"/>
              </a:rPr>
              <a:t>Токены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8087" y="3154679"/>
            <a:ext cx="4480559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1">
                <a:solidFill>
                  <a:srgbClr val="21295C"/>
                </a:solidFill>
                <a:latin typeface="Arial"/>
              </a:rPr>
              <a:t>единицы, на которые модель режет текст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33007" y="1874519"/>
            <a:ext cx="5120640" cy="1828800"/>
          </a:xfrm>
          <a:prstGeom prst="roundRect">
            <a:avLst>
              <a:gd name="adj" fmla="val 16666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ucide-network-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047" y="2194560"/>
            <a:ext cx="777240" cy="7772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513167" y="2240279"/>
            <a:ext cx="37033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065A82"/>
                </a:solidFill>
                <a:latin typeface="Arial"/>
              </a:rPr>
              <a:t>Эмбеддинги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53047" y="3154679"/>
            <a:ext cx="4480559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1">
                <a:solidFill>
                  <a:srgbClr val="21295C"/>
                </a:solidFill>
                <a:latin typeface="Arial"/>
              </a:rPr>
              <a:t>(векторные представления) — адреса в смысловом пространстве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8047" y="3977639"/>
            <a:ext cx="5120640" cy="1828800"/>
          </a:xfrm>
          <a:prstGeom prst="roundRect">
            <a:avLst>
              <a:gd name="adj" fmla="val 16666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lucide-eye-bl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8087" y="4297679"/>
            <a:ext cx="777240" cy="7772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18207" y="4343400"/>
            <a:ext cx="37033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065A82"/>
                </a:solidFill>
                <a:latin typeface="Arial"/>
              </a:rPr>
              <a:t>Внимание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8087" y="5257800"/>
            <a:ext cx="4480559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1">
                <a:solidFill>
                  <a:srgbClr val="21295C"/>
                </a:solidFill>
                <a:latin typeface="Arial"/>
              </a:rPr>
              <a:t>(attention) — на какие части входа смотреть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3007" y="3977639"/>
            <a:ext cx="5120640" cy="1828800"/>
          </a:xfrm>
          <a:prstGeom prst="roundRect">
            <a:avLst>
              <a:gd name="adj" fmla="val 16666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lucide-zap-blu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3047" y="4297679"/>
            <a:ext cx="777240" cy="77724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513167" y="4343400"/>
            <a:ext cx="37033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065A82"/>
                </a:solidFill>
                <a:latin typeface="Arial"/>
              </a:rPr>
              <a:t>Температура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53047" y="5257800"/>
            <a:ext cx="4480559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1">
                <a:solidFill>
                  <a:srgbClr val="21295C"/>
                </a:solidFill>
                <a:latin typeface="Arial"/>
              </a:rPr>
              <a:t>случайность выбора следующего токена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080760"/>
            <a:ext cx="11201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1">
                <a:solidFill>
                  <a:srgbClr val="21295C"/>
                </a:solidFill>
                <a:latin typeface="Arial"/>
              </a:rPr>
              <a:t>Эти 4 концепта объясняют поведение всех современных LLM — от ChatGPT до DeepSeek.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48840"/>
            <a:ext cx="1120140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600" b="1" i="0">
                <a:solidFill>
                  <a:srgbClr val="21295C"/>
                </a:solidFill>
                <a:latin typeface="Arial"/>
              </a:rPr>
              <a:t>Вопросы?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937760"/>
            <a:ext cx="11201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600" b="0" i="1">
                <a:solidFill>
                  <a:srgbClr val="065A82"/>
                </a:solidFill>
                <a:latin typeface="Arial"/>
              </a:rPr>
              <a:t>Спасибо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