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/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/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Это курс «Отраслевое применение систем искусственного интеллекта» — про то, как AI используется в реальных индустриях: от разработки ПО и финансов до авиакосмоса, сельского хозяйства и медицины. Курс не про то, как обучать модели с нуля, а про то, как грамотно выбирать, внедрять и оценивать готовые AI-решения в инженерном контексте. Сегодня — первая лекция, вводная. Начнём с короткой демонстрации, а потом перейдём к тому, зачем вообще нужен весь этот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/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/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/>
          <a:p>
            <a:r>
              <a:t>К этому центральному вопросу мы будем возвращаться каждую лекцию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/>
          <a:p>
            <a:r>
              <a:t>Лекция называется «AI вокруг нас» — потому что 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/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/>
          <a:p>
            <a:r>
              <a:t>Раздел 0, в котором мы сейчас, — открытие: короткая демонстрация, представление преподавателя и центральный вопрос курса.</a:t>
            </a:r>
          </a:p>
          <a:p/>
          <a:p>
            <a:r>
              <a:t>Раздел 1 — что такое AI и почему определений много. Здесь же пройдёмся по семидесятилетней истории дисциплины, включая предысторию до появления самого термина, и зафиксируем ключевую точку перелома 2017 года.</a:t>
            </a:r>
          </a:p>
          <a:p/>
          <a:p>
            <a:r>
              <a:t>Раздел 2 — где мы сейчас, в 2022–2026 годах. Цифры проникновения AI в мире и в России, и обзор прорывов от не-первых игроков.</a:t>
            </a:r>
          </a:p>
          <a:p/>
          <a:p>
            <a:r>
              <a:t>Раздел 3 — самый большой раздел лекции.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/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/>
          <a:p>
            <a:r>
              <a:t>Раздел 5 — заключение, карта семестра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Короткое представление. Я — [имя], работаю в области [сфера], и сейчас занимаюсь [актуальная тема]. С AI работаю [сколько лет] — застал и хайповые волны, и зимы, и реальные внедрения, которые работают, и реальные внедрения, которые не работают.</a:t>
            </a:r>
          </a:p>
          <a:p/>
          <a:p>
            <a:r>
              <a:t>Эта лекция и весь курс — попытка дать вам карту, которой у меня самого не было, когда я только начинал. Мы будем разбирать конкретные инженерные решения, не общие декларации, и внимание к границам — там, где AI ломается, — у нас будет таким же подробным, как и к успешным кейсам.</a:t>
            </a:r>
          </a:p>
          <a:p/>
          <a:p>
            <a:r>
              <a:t>Если в течение курса у вас возникнут вопросы вне формата лекции — связаться можно по [контакт]. Чем раньше задаёте — тем полезнее ответ. Не копите вопросы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познакомились и обозначили главный вопрос курса. Дальше — первый содержательный раздел: что такое AI.</a:t>
            </a:r>
          </a:p>
          <a:p/>
          <a:p>
            <a:r>
              <a:t>Структура раздела короткая, но плотная. Сначала — почему определений AI много и откуда берётся эффект движущейся цели. Затем — факт-мостик: идея формального нейрона старше самого термина «искусственный интеллект». И в финале раздела — сжатый семидесятилетний таймлайн дисциплины с чёткой точкой перелома в 2017 году.</a:t>
            </a:r>
          </a:p>
          <a:p/>
          <a:p>
            <a:r>
              <a:t>К концу раздела у вас будет общий язык для разговора об AI: откуда взялись разные определения, почему они не противоречат друг другу, и в какой момент истории AI стал тем, чем является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/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/>
          <a:p>
            <a:r>
              <a:t>Подход второй — международный стандарт ISO/IEC 22989,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/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/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Сёрла: бенчмарк-эквивалентность не означает понимания.</a:t>
            </a:r>
          </a:p>
          <a:p/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/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до того, как появился сам термин «искусственный интеллект», нейрофизиолог Уоррен Мак-Каллок и логик Уолтер Питтс опубликовали работу, формализующую нейрон как логический элемент: сеть таких простых бинарных элементов теоретически способна вычислить любую функцию, выразимую в терминах логики. Статья вышла в 1943 году — на 13 лет раньше Дартмутской конференции 1956 года, где термин «AI» появится впервые.</a:t>
            </a:r>
          </a:p>
          <a:p/>
          <a:p>
            <a:r>
              <a:t>Формальный нейрон Мак-Каллока — Питтса не был инженерной системой в современном смысле и не решал прикладных задач, но он предвосхитил коннекционистскую традицию — линию мысли, из которой десятилетия спустя вырастут искусственные нейронные сети и, в конечном счёте, архитектуры вроде Трансформера.</a:t>
            </a:r>
          </a:p>
          <a:p/>
          <a:p>
            <a:r>
              <a:t>Полезно держать в голове эту дату как напоминание: идея «нейросети» на теоретическом уровне старше самого термина «искусственный интеллект». Дальше мы посмотрим на историю уже с 1956 года — с момента, когда термин появился официально.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/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/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/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/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откуда он взялся. Дальше — короткий раздел про настоящее: где AI находится прямо сейчас, в 2026 году.</a:t>
            </a:r>
          </a:p>
          <a:p/>
          <a:p>
            <a:r>
              <a:t>Сначала — масштаб в цифрах: сколько людей и компаний уже используют AI ежедневно, и почему это одновременно уживается с массовым провалом пилотных проектов. Затем — обзор прорывов 2023–2026 годов от команд, которые не были очевидными фаворитами рынка: это открывает пространство для того, что дальше в курсе будем разбирать вы сами.</a:t>
            </a:r>
          </a:p>
          <a:p/>
          <a:p>
            <a:r>
              <a:t>Раздел короткий — шесть минут, — но именно он задаёт масштаб: AI одновременно везде и почти нигде не доведён до конца. Это напряжение — центральная тема всего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/>
          <a:p>
            <a:r>
              <a:t>ChatGPT по состоянию на февраль 2026 имеет около девятисот миллионов еженедельно активных пользователей.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AI, для языка Java — шестьдесят один процент.</a:t>
            </a:r>
          </a:p>
          <a:p/>
          <a:p>
            <a:r>
              <a:t>Stack Overflow Developer Survey 2025,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/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/>
          <a:p>
            <a:r>
              <a:t>Объём рынка — триста девяносто целых девять десятых миллиарда долларов в 2025 году с прогнозом роста до пятисот тридцати девяти с половиной миллиардов в 2026 (Grand View Research, 2026). По другим методологиям — например, узкому software-only определению Statista — оценки за 2025 год ниже, около 244–260 миллиардов. Разброс отражает то, что считать AI-рынком: продажи моделей, инфраструктуру, embedded-AI, услуги интеграции.</a:t>
            </a:r>
          </a:p>
          <a:p/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развёртывания. Источник оценки — исследование консалтинговой компании Intellectual Analytics (декабрь 2025 — февраль 2026, опубликовано Vedomosti в марте), выборка из пятидесяти крупнейших организаций в IT, промышленности, финансах, госсекторе и транспорте/логистике.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/>
          <a:p>
            <a:r>
              <a:t>Урок: небольшая европейская команда может выпустить модель уровня крупных игроков за несколько месяцев от основания компании. 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13B, модель почти вдвое большего размера.</a:t>
            </a:r>
          </a:p>
          <a:p/>
          <a:p>
            <a:r>
              <a:t>Урок: даже спорная методология подсчёта себестоимости может вызвать реальный, измеримый шок на глобальном рынке — проверяйте заявленные цифры, но не игнорируйте их эффект. 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— один и три–один и шесть миллиарда. Это разные числа: стоимость одного тренировочного прогона и полная инфраструктура. Двадцать седьмого января рынок отреагировал — капитализация Nvidia упала на пятьсот восемьдесят девять миллиардов долларов за один день, крупнейшая однодневная потеря капитализации в истории.</a:t>
            </a:r>
          </a:p>
          <a:p/>
          <a:p>
            <a:r>
              <a:t>Урок: один человек с правильным концептом может выпустить агент или продукт, меняющий рынок за недели. Эпизод третий — OpenClaw,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</a:t>
            </a:r>
          </a:p>
          <a:p/>
          <a:p>
            <a:r>
              <a:t>Урок: один человек с правильным концептом может построить инфраструктурный слой, на который опираются тысячи — не продукт для конечного пользователя, а фундамент, на котором работает вся открытая экосистема. Эпизод четвёртый — llama.cpp и ggml.ai, история Георгия Герганова. Проект начался как сольная инициатива Герганова — автора whisper.cpp — и вырос в маленькую независимую команду ggml.ai. Двадцатого февраля двадцать шестого года команда, вместо привлечения венчурного финансирования, присоединилась к Hugging Face за инфраструктурную поддержку, сохранив полную автономию и техническое лидерство: проект остался «на сто процентов open-source, community-driven, как и сейчас». В марте двадцать шестого llama.cpp пересёк сто тысяч звёзд на GitHub — быстрее, чем PyTorch или TensorFlow. К середине года — около ста семнадцати тысяч звёзд, около двадцати тысяч форков, вклад более семисот разработчиков.</a:t>
            </a:r>
          </a:p>
          <a:p/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/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/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слоистой структурой. Каждый следующий уровень включает предыдущий и добавляет новые компоненты.</a:t>
            </a:r>
          </a:p>
          <a:p/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/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/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/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/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/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/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</a:t>
            </a:r>
          </a:p>
          <a:p/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Мультимодальные комбинации — текст плюс изображение, текст плюс аудио плюс видео.</a:t>
            </a:r>
          </a:p>
          <a:p/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/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/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/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/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/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/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/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/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/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/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/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и как объяснить, почему чат «забывает» старые сообщения.</a:t>
            </a:r>
          </a:p>
          <a:p/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/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/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/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/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/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/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/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— это модель, обёрнутая в текстовый интерфейс с памятью диалога в пределах сессии. Пользователь пишет сообщение, модель отвечает, история обоих сообщений включается в контекст следующего обращения. Это даёт ощущение разговора и позволяет уточнять задачу пошагово, что радикально меняет паттерн использования.</a:t>
            </a:r>
          </a:p>
          <a:p/>
          <a:p>
            <a:r>
              <a:t>Современные чаты — это в первую очередь LLM-чаты, хотя бывают и мультимодальные: с возможностью передавать изображения, аудио, файлы. Канонические продукты вы знаете: ChatGPT, Claude, Gemini, DeepSeek Chat, GigaChat, YandexGPT, Mistral Le Chat. Между ними различия в качестве для разных задач, в длине контекстного окна, в стоимости, в доступности модальностей — но базовый паттерн взаимодействия один.</a:t>
            </a:r>
          </a:p>
          <a:p/>
          <a:p>
            <a:r>
              <a:t>Возьмём конкретный пример. Инженер получает непонятный нормативный документ — скажем, ТЗ от смежного отдела с массой ссылок на стандарты и сложными формулировками. Задача — разобраться и составить чек-лист для собственной работы. Это типовой кейс для чата: разовая задача, требующая диалога, с уточнениями по ходу. Здесь не нужна отдельная специализированная модель, потому что нет потока однотипных задач. Не нужен агент, потому что не требуется автоматически открывать файлы и API. И нет специализированного приложения. Чат — оптимальный инструмент.</a:t>
            </a:r>
          </a:p>
          <a:p/>
          <a:p>
            <a:r>
              <a:t>Важная оговорка для промышленных систем. Чистые чаты в том виде, как они есть «из коробки» — то есть просто LLM плюс UI плюс короткая память сессии — в корпоративной среде почти не встречаются. Почти везде, где речь идёт о реальном внедрении, чат расширен до агента: хотя бы для того, чтобы хранить долгосрочную память между сессиями, или для того, чтобы искать ответ в корпоративной базе знаний через RAG (retrieval-augmented generation). Архитектуру агента — что именно добавляется к чату — разберём на следующем слайде.</a:t>
            </a:r>
          </a:p>
          <a:p/>
          <a:p>
            <a:r>
              <a:t>Выбор чата — это инженерное решение о точке на шкале взаимодействия: где правильно выбран тип взаимодействия с AI, там система работает предсказуемо.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/>
          <a:p>
            <a:r>
              <a:t>Первый компонент — оркестратор.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/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— позже в курсе), файловая система с промежуточными результатами, лог собственных предыдущих действий.</a:t>
            </a:r>
          </a:p>
          <a:p/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/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/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/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/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/>
          <a:p>
            <a:r>
              <a:t>Главное — агент это последовательность вызовов конкретных инструментов, оркестрируемая LLM. Не «AI разобрался сам», а «AI вызвал нужные инструменты в правильном порядке».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/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/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/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/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/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/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/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/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/>
          <a:p>
            <a:r>
              <a:t>Канонические примеры однозначных приложений. Google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/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/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/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/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/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вопроса, ответы на которые однозначно определяют один из четырёх типов реализации.</a:t>
            </a:r>
          </a:p>
          <a:p/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/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/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/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/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/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/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</a:t>
            </a:r>
          </a:p>
          <a:p/>
          <a:p>
            <a:r>
              <a:t>Три причины, по которым эта тема — ваша зона ответственности, а не отдельный вопрос для специалистов по AI safety.</a:t>
            </a:r>
          </a:p>
          <a:p/>
          <a:p>
            <a:r>
              <a:t>Первая. Вы уже приняли решение встроить AI — теперь отвечаете за последствия. Если в результате внедрения возникнет инцидент — утечка данных, неправильное решение по клиенту, ошибочный приговор автомата, — отвечать будете не «модель», а вы и ваша команда.</a:t>
            </a:r>
          </a:p>
          <a:p/>
          <a:p>
            <a:r>
              <a:t>Вторая. AI ошибается системно, и эти ошибки предсказуемы. Большинство известных классов проблем — bias, галлюцинации, sycophancy, distribution shift — повторяются от системы к системе. Они не случайные баги, а свойства технологии. Инженер, который не знает этого набора, будет наступать на каждый из них в первый раз.</a:t>
            </a:r>
          </a:p>
          <a:p/>
          <a:p>
            <a:r>
              <a:t>Третья. Граница «что AI не умеет» — ваша зона ответственности. За пределами этой границы — необходимость человеческого решения, дополнительной верификации, запасного сценария. Если вы её не понимаете, систему нельзя считать спроектированной.</a:t>
            </a:r>
          </a:p>
          <a:p/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мы открыли с общей рамки — границы AI как ваша зона ответственности. Первый конкретный вопрос в этой зоне — куда физически уходят ваши данные, когда вы пишете запрос в облачный AI-сервис.</a:t>
            </a:r>
          </a:p>
          <a:p/>
          <a:p>
            <a:r>
              <a:t>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/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/>
          <a:p>
            <a:r>
              <a:t>Enterprise-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/>
          <a:p>
            <a:r>
              <a:t>Канонический инцидент. Март-апрель двадцать третьего года, Samsung.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/>
          <a:p>
            <a:r>
              <a:t>Регуляторика. В Европейском Союзе действует EU AI Act,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/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/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/>
          <a:p>
            <a:r>
              <a:t>Уровень галлюцинаций сильно зависит от задачи. По бенчмарку Vectara Hughes Hallucination Evaluation Model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/>
          <a:p>
            <a:r>
              <a:t>Сопутствующие данные о поведении пользователей. По отчёту CybSafe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/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/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/>
          <a:p>
            <a:r>
              <a:t>Смещение, по-английски bias.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Смещение — самая трудно исправляемая категория, потому что данные часто фиксируют структурные неравенства реального мира.</a:t>
            </a:r>
          </a:p>
          <a:p/>
          <a:p>
            <a:r>
              <a:t>Лесть, по-английски sycophancy, иногда переводят как «подлизы». Сначала определение ключевого термина. RLHF — Reinforcement Learning from Human Feedback, обучение с подкреплением на основе обратной связи человека — техника обучения, при которой человек ранжирует ответы модели по качеству, и эти ранжирования служат сигналом награды для дополнительного дообучения.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/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социальной сети тем же вечером написал, что откат уже начали. Двадцать девятого апреля опубликован разбор причин. Лесть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/>
          <a:p>
            <a:r>
              <a:t>Дрейф распределения, по-английски distribution shift.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Дрейф распределения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/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Смещение — закономерности из исторических данных. Лесть — закономерности из разметки обратной связи. Дрейф распределения — отсутствие закономерностей нового периода.</a:t>
            </a:r>
          </a:p>
          <a:p/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/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/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/>
          <a:p>
            <a:r>
              <a:t>Дарио Амодей, CEO Anthropic: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/>
          <a:p>
            <a:r>
              <a:t>Демис Хассабис, CEO Google DeepMind: «AGI к 2029–2030, три-четыре года; окно сузилось за 2026 год», Axios и Google I/O, май двадцать шестого — тема развита в эссе «A Framework for Frontier AI» от 14 июля 2026.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/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/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/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/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/>
          <a:p>
            <a:r>
              <a:t>Три главных вывода.</a:t>
            </a:r>
          </a:p>
          <a:p/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/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/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/>
          <a:p>
            <a:r>
              <a:t>Это и есть главный вопрос лекции в развёрнутом виде: где AI работает, где — нет, и как это понять.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лекций, разбитых на три содержательных модуля, плюс завершающий модуль экзамена. Сегодня мы на первом занятии первого модуля.</a:t>
            </a:r>
          </a:p>
          <a:p/>
          <a:p>
            <a:r>
              <a:t>Модуль один — теоретико-методологический фундамент и индустрии, ближе всего связанные с повседневной инженерной и продуктовой практикой: введение, которое проходит прямо сейчас; архитектура AI от машинного обучения до трансформеров; архитектуры AI-систем — агенты, RAG, API; AI в разработке программного обеспечения; AI в финансовом секторе и ритейле; AI в креативных индустриях и медиа. Шесть лекций, рубежный контроль один — по завершении модуля.</a:t>
            </a:r>
          </a:p>
          <a:p/>
          <a:p>
            <a:r>
              <a:t>Модуль два — отрасли, в которых AI работает на стыке физического и цифрового мира: инженерное проектирование и CAD/CAM, авиакосмическая отрасль и оборонный комплекс, дискретное и процессное производство, автоматизация производства и цифровые двойники, сельское хозяйство. Пять лекций, рубежный контроль два — по завершении модуля.</a:t>
            </a:r>
          </a:p>
          <a:p/>
          <a:p>
            <a:r>
              <a:t>Модуль три — инфраструктурные, научные и ресурсодобывающие отрасли, плюс заключительный синтез: логистика и транспорт, телекоммуникации и кибербезопасность, научные исследования, нефтегазовая отрасль, медицина и фармацевтика, и завершающая систематизация знаний и навыков — сквозные паттерны AI в индустриях. Шесть лекций, рубежный контроль три — итоговый, по завершении модуля.</a:t>
            </a:r>
          </a:p>
          <a:p/>
          <a:p>
            <a:r>
              <a:t>Модуль четыре — экзамен.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оценка складывается постепенно, а не только на экзамене. Сто баллов — это десять за посещаемость, тридцать за итоговый экзамен и трижды по двадцать за три рубежных контроля.</a:t>
            </a:r>
          </a:p>
          <a:p/>
          <a:p>
            <a:r>
              <a:t>Рубежные контроли приходятся на завершение каждого из первых трёх модулей курса — то есть оценка формируется на протяжении всего семестра, а не только в конце. Это значит, что регулярная работа на семинарах и лекциях в течение семестра напрямую влияет на итоговый балл.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/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/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/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/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/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/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время для вопросов.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/>
          <a:p>
            <a:r>
              <a:t>Если вопросов нет — не страшно. До встречи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Добро пожаловать на курс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«Отраслевое применение систем
искусственного интеллекта»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38647" y="4160520"/>
            <a:ext cx="91440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17 лекций о том, где AI работает в индустриях — и где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85950" y="3977639"/>
            <a:ext cx="226314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5950" y="4105655"/>
            <a:ext cx="22631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10% доходят
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65176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21295C"/>
                </a:solidFill>
                <a:latin typeface="Arial"/>
              </a:rPr>
              <a:t>Что такое AI?
История, классификация,
общие понятия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План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7898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7898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7898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38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338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2877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92877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2877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17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мы сейчас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4317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7856" y="1828800"/>
            <a:ext cx="2577101" cy="3931920"/>
          </a:xfrm>
          <a:prstGeom prst="roundRect">
            <a:avLst>
              <a:gd name="adj" fmla="val 11827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37856" y="1828800"/>
            <a:ext cx="2577101" cy="91440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7856" y="1901952"/>
            <a:ext cx="257710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9296" y="2880360"/>
            <a:ext cx="239422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способа реализации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9296" y="3703320"/>
            <a:ext cx="239422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9822" y="1828800"/>
            <a:ext cx="1919110" cy="3931920"/>
          </a:xfrm>
          <a:prstGeom prst="roundRect">
            <a:avLst>
              <a:gd name="adj" fmla="val 15882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22" y="1828800"/>
            <a:ext cx="1919110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9822" y="1901952"/>
            <a:ext cx="191911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262" y="2880360"/>
            <a:ext cx="17362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262" y="3703320"/>
            <a:ext cx="17362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3796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796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796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5236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5236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Резюме · карта
семестра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200400" cy="32004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0" b="1" i="0">
                <a:solidFill>
                  <a:srgbClr val="FFFFFF"/>
                </a:solidFill>
                <a:latin typeface="Arial"/>
              </a:rPr>
              <a:t>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инициалы лектора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82880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ucide-briefcas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2057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Опыт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51460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[годы работы с AI; конкретные проекты]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324612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lightbulb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3611879"/>
            <a:ext cx="5943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3474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Зачем мне курс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9319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[почему важно лично]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66344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029200"/>
            <a:ext cx="594360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26480" y="4892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Связь со студентами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3492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[контакт, формат вопросов]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1 · Что такое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Определения, история, классификация.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движущаяся цель.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26364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33679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Идея нейросети старше самого термина «искусственный интеллект» на 13 лет.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1C7293"/>
                </a:solidFill>
                <a:latin typeface="Arial"/>
              </a:rPr>
              <a:t>1943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Мак-Каллок и Питтс:
формальный нейрон
как логический элемент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02575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2575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065A82"/>
                </a:solidFill>
                <a:latin typeface="Arial"/>
              </a:rPr>
              <a:t>1956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6895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Дартмутская конференция:
термин «artificial intelligence»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788920"/>
            <a:ext cx="3139135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240280"/>
            <a:ext cx="3139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13 лет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919472"/>
            <a:ext cx="1083564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Формальный нейрон не решал прикладных задач, но предвосхитил коннекционистскую традицию — линию мысли, из которой десятилетия спустя вырастут нейросети и Трансформер.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Идея «нейросети» на теоретическом уровне старше самого термина «искусственный интеллект».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Открытия (1950 — 1980-е)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2402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1292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7180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Turing — Imitation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8264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ELIZA — Weizenbaum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264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3460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9348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348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832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Зимы и прорывы (1973 — 2012)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6118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1-я зима — Lighthill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264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8264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3460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9348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348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Перелом и взрыв (2012 — 2026)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6080" y="49834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175760" y="4892040"/>
            <a:ext cx="384048" cy="384048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525780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2017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264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264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3460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9348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348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60720"/>
            <a:ext cx="11201400" cy="9601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833872"/>
            <a:ext cx="10835640" cy="813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2 · 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 как инфраструктура, прорывы 2023–2026.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900M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900M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февраль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$390.9B→$539.5B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 2025→2026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Grand View Research,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(software-only): ~$244–260B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февраль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llama.cpp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100K+★ на GitHub
быстрее PyTorch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G. Gerganov / ggml.ai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— две оси: тип задачи × модальность.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673351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673351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73351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1673351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673351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8206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62788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7370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1952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156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3590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5614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7638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9662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168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20240" y="251002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20240" y="335584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20240" y="420166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504748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5893307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97510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7510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7510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7510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168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9534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9534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YOLO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89534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3192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9534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1558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5216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1558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5216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1558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5216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1558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5216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3582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3582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3582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3582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5606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65606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9264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frame predict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5606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9264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video forecast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5606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9264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2920" y="626364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633679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— детекция объектов из демо в начале лекции. Подход к обучению и архитектура — позже в курсе.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83080" y="1737360"/>
            <a:ext cx="65379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83080" y="3538728"/>
            <a:ext cx="65379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74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9" y="1645919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59" y="5404103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65633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465063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Сам интегрирует API, полный контроль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7580" y="40005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Диалог, уточнения по ходу</a:t>
            </a:r>
          </a:p>
        </p:txBody>
      </p:sp>
      <p:sp>
        <p:nvSpPr>
          <p:cNvPr id="20" name="Oval 19"/>
          <p:cNvSpPr/>
          <p:nvPr/>
        </p:nvSpPr>
        <p:spPr>
          <a:xfrm>
            <a:off x="657910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29169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Делегирование целиком, решает оркестратор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Inference: вход → препроцессинг → модель → постпроцессинг → выход.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835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81911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Это уже приложение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89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340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402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02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717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8368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45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2396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4458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458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773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424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8486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486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801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74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02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430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58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486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08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8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8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 на изображениях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0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0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0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 речи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72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72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 изображений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04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4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04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 структур белков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YOLO = 50 строк; рабочая система с YOLO = сотни строк.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74320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3977639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42231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920239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93391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942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4320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2724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04388" y="2532887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43560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00176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743200"/>
            <a:ext cx="2011680" cy="2011679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383279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9475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500176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977639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06907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6168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143560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93775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Следующий шаг — весь текст заново: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117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689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262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48639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295C"/>
                </a:solidFill>
                <a:latin typeface="Arial"/>
              </a:rPr>
              <a:t>весь текст заново на каждом шаге — не инкремент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1920239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993391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70332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77647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= модель + интерфейс + память диалога.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59436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Кейс — типовой для чата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39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Инженер получил непонятное ТЗ от смежного отдела, нужно составить чек-лист своей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5760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9476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Объясни пункт 4.2 ТЗ простыми словами.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Это требование к…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Составь чек-лист на 5 пунктов.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1. Проверить…  2. Согласовать…  3.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Разовая задача с уточнениями — оптимально для чата. Не модель, не агент, не приложение.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965960"/>
            <a:ext cx="4937760" cy="4114800"/>
          </a:xfrm>
          <a:prstGeom prst="roundRect">
            <a:avLst>
              <a:gd name="adj" fmla="val 74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79" y="21945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Оговорка для промышленных систем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79" y="274320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Чистые чаты почти не используются в промышленной эксплуатации.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411480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Почти везде они расширены до агентов — хотя бы для долгосрочной памяти и поиска по корпоративной базе (RAG).
Архитектуру агента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чата — точка на шкале взаимодействия, не единственно верный вариант.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2446020"/>
            <a:ext cx="1005840" cy="10058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802635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5067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План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план действий (Plan)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Действие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вызов инструмента (Act)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6539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Наблюдение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259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результат в память (Observe)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Рефлексия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достигнута? (Reflect)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2857499"/>
            <a:ext cx="411480" cy="182880"/>
          </a:xfrm>
          <a:prstGeom prst="rightArrow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3566160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eft Arrow 23"/>
          <p:cNvSpPr/>
          <p:nvPr/>
        </p:nvSpPr>
        <p:spPr>
          <a:xfrm>
            <a:off x="1828800" y="3977640"/>
            <a:ext cx="9436608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1737360" y="3451860"/>
            <a:ext cx="182880" cy="617220"/>
          </a:xfrm>
          <a:prstGeom prst="up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7400" y="3685032"/>
            <a:ext cx="7726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стоп → результат пользователю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77540" y="1828799"/>
            <a:ext cx="713232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77540" y="1828799"/>
            <a:ext cx="54864" cy="5029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10218420" y="1810511"/>
            <a:ext cx="182880" cy="594360"/>
          </a:xfrm>
          <a:prstGeom prst="up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77540" y="15087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продолжить — цикл повторяется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ИНСТРУМЕНТЫ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ПАМЯТЬ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27548" y="3566160"/>
            <a:ext cx="54864" cy="822959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04988" y="3566160"/>
            <a:ext cx="54864" cy="82295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5196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использует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использует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ReAct (Reasoning + Acting) — Yao et al. 2022 (arXiv:2210.03629)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9164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56232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10" name="Oval 9"/>
          <p:cNvSpPr/>
          <p:nvPr/>
        </p:nvSpPr>
        <p:spPr>
          <a:xfrm>
            <a:off x="4754879" y="236829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682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0487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40487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404872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5" name="Oval 14"/>
          <p:cNvSpPr/>
          <p:nvPr/>
        </p:nvSpPr>
        <p:spPr>
          <a:xfrm>
            <a:off x="4754879" y="289864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898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3522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93522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935224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чтение PDF</a:t>
            </a:r>
          </a:p>
        </p:txBody>
      </p:sp>
      <p:sp>
        <p:nvSpPr>
          <p:cNvPr id="20" name="Oval 19"/>
          <p:cNvSpPr/>
          <p:nvPr/>
        </p:nvSpPr>
        <p:spPr>
          <a:xfrm>
            <a:off x="4754879" y="34290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46557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46557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465576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извлечение текста (OCR / парсер)</a:t>
            </a:r>
          </a:p>
        </p:txBody>
      </p:sp>
      <p:sp>
        <p:nvSpPr>
          <p:cNvPr id="25" name="Oval 24"/>
          <p:cNvSpPr/>
          <p:nvPr/>
        </p:nvSpPr>
        <p:spPr>
          <a:xfrm>
            <a:off x="4754879" y="3959351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5935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995927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3995927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3995927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эмбеддинги + векторная БД</a:t>
            </a:r>
          </a:p>
        </p:txBody>
      </p:sp>
      <p:sp>
        <p:nvSpPr>
          <p:cNvPr id="30" name="Oval 29"/>
          <p:cNvSpPr/>
          <p:nvPr/>
        </p:nvSpPr>
        <p:spPr>
          <a:xfrm>
            <a:off x="4754879" y="4489703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448970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26279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4526279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4526279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поиск + извлечение LLM</a:t>
            </a:r>
          </a:p>
        </p:txBody>
      </p:sp>
      <p:sp>
        <p:nvSpPr>
          <p:cNvPr id="35" name="Oval 34"/>
          <p:cNvSpPr/>
          <p:nvPr/>
        </p:nvSpPr>
        <p:spPr>
          <a:xfrm>
            <a:off x="4754879" y="502005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5020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05663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5663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5056631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запись в таблицу (Sheets API / CSV)</a:t>
            </a:r>
          </a:p>
        </p:txBody>
      </p:sp>
      <p:sp>
        <p:nvSpPr>
          <p:cNvPr id="40" name="Oval 39"/>
          <p:cNvSpPr/>
          <p:nvPr/>
        </p:nvSpPr>
        <p:spPr>
          <a:xfrm>
            <a:off x="4754879" y="555040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555040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58698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558698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5586983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цикл оркестратора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7608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21808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1. Оператор (Operator)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8698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одобряет каждое действие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76986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0857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2. Соавтор (Collaborator)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737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работает наравне с агентом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5663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9534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3. Консультант (Consultant)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ставит цель, правит 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4340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3639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82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4. Утверждающий (Approver)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4728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утверждает на контрольных точках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3016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агент собирает PR, ждёт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42316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68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5. Наблюдатель (Observer)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73405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Arial"/>
              </a:rPr>
              <a:t>Пользователь: только получает результат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9169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59" y="169164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7452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246888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Человек вне цикла (Human-out-of-the-loop)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76148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3337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429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Человек над циклом (Human-on-the-loop)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21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297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389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Человек в цикле (Human-in-the-loop)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681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5257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349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Режимы ручного перехвата (Override)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641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56232"/>
            <a:ext cx="10652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2"/>
            <a:ext cx="10652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пользователей в месяц  · 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слов переведено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986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 Google Translate, Search, Lens и Circle to Search (Google Blog, апрель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600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6576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65760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9377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93776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8932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06247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Потребительские vs корпоративные тарифы — куда уходят ваши данные.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От общей зоны ответственности — к первому конкретному риску: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обучение по умолчанию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 по согласию, 5 лет хранение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обучение + проверка людьми, 3 года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 политика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ENTERPRISE /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 без обучения на данных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 без обучения на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 нулевое хранение данных доступно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 без обучения на данных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49240"/>
            <a:ext cx="68580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4406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Samsung 2023 — канонический инцидент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5216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5349240"/>
            <a:ext cx="4053535" cy="11887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544068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585216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617220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запрещённые практики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Галлюцинации — неотъемлемое свойство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Смещение, лесть, дрейф распределения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Смещение (bias)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Лесть (sycophancy)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разметки обратной связи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Дрейф распределения
(distribution shift)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GPT-4o: лесть (sycophancy) — апрель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отката (Альтман в соцсети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разбор причин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к 2029–2030 (3–4 года); окно сузилось за 2026 год» (Axios/Google I/O, май 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прошли: три главных вывода.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62472"/>
            <a:ext cx="108356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Главный вопрос лекции: где AI работает, где — нет, и как это понять?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лекций, 3 модуля + экзамен.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Теор.-метод. 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1.1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1.2 Архитектура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1.3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1.4 Разработка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1.5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1.6 Креативные ◆РК1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8499" y="1600200"/>
            <a:ext cx="2867263" cy="4160520"/>
          </a:xfrm>
          <a:prstGeom prst="roundRect">
            <a:avLst>
              <a:gd name="adj" fmla="val 10630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8499" y="1600200"/>
            <a:ext cx="2867263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8499" y="1673352"/>
            <a:ext cx="2867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9939" y="1965960"/>
            <a:ext cx="26843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Инж. проектирование,
тяж. промышленность, АПК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659" y="256032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2.1 CAD/CAM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659" y="3063239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2.2 Авиакосмос / ОПК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5659" y="356616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2.3 Производство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59" y="406908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2.4 Цифровые двойники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5659" y="457200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2.5 Сельское хоз-во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482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11482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1482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2922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Инфраструктура, наука,
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642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3.1 Логистика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642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3.2 Телеком / cybersec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642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3.3 Наука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2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3.4 Нефтегаз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642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3.5 Медицина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642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3.6 Синтез ◆РК3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07062" y="1600200"/>
            <a:ext cx="1235992" cy="4160520"/>
          </a:xfrm>
          <a:prstGeom prst="roundRect">
            <a:avLst>
              <a:gd name="adj" fmla="val 24660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07062" y="1600200"/>
            <a:ext cx="1235992" cy="7772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7062" y="1673352"/>
            <a:ext cx="12359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Экзамен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8502" y="1965960"/>
            <a:ext cx="105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Итоговая
аттестация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4222" y="2560320"/>
            <a:ext cx="1007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Экзамен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89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РК1/РК2/РК3,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Оценка за семестр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88036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0AB00"/>
                </a:solidFill>
                <a:latin typeface="Arial"/>
              </a:rPr>
              <a:t>100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=  10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(посещаемость)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(экзамен)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3×20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(РК1/РК2/РК3)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Рубежные контроли —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48840"/>
            <a:ext cx="11201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