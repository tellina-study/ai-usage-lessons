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Live-демо: ноутбук + веб-камера, проектор показывает аудиторию в real-time с bounding-box детекцией. Модель работает локально, без интернета, ~30 fps на CPU. Это narrow AI — рабочая инженерная лошадка. Backup при отказе HDMI/камеры — assets/code/ice-breaker-cv/backup/. LO1 only (LO7 снят v5).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Cover-слайд: визуально отличается от content (крупный title 64pt, декоративный «01», tinted background, без motif rounded box). Произносить минимально: «Лекция 1, введение в AI. Сегодня — карта применений: где AI уже работает в индустрии, а где не помогает. Поехали.» Tone: навигационный (показ, не обещание).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 reveal-последовательности (парный с s04). Цифр и ответов на этом слайде нет сознательно — это шаг 1, раскрытие на s04. Считаем руки по обоим вопросам. Запомнить распределение для s04 (эффект «ваша оценка vs реальность»). Темп: ~45 сек на вопрос. Не комментировать ответы — просто фиксировать руки.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reveal: «Вы ставили &lt;Х&gt;%, реальность — 51% раз в неделю+». Multi-select disclaimer ОБЯЗАТЕЛЕН на слайде — это share среди использовавших AI, НЕ market share. DeepSeek 43% (Microsoft global downloads) — НЕ показывать на слайде, только в notes как teachable moment про две методологии.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 визитки. Преподаватель заполняет 3 пункта о себе перед лекцией. Цель — короткий контакт с аудиторией перед рамкой курса (s05b). Не больше 1 минуты.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Центральная рамка курса. Возвращаемся в s14, s18, s27. Стейкс обновлён v5: Gartner окт 2024 (80% workforce upskill GenAI by 2027); CNews/Vedomosti/Intellectual Analytics март 2026 (90% не доходят до full industrial deployment). Funnel — иллюстрация принципа (100/-90%/10), не реальная статистика; настоящая цифра в стейксе. Single rounded box (P1-G fix: убран thin-line divider). Tone — исследовательский / навигационный.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Существует ≥4 канонических определений AI: Turing 1950, McCarthy 1956, Russell&amp;Norvig 2021, ISO/IEC 22989:2022. Все корректны. Используем 2 параллельно: академическое задаёт горизонт, инженерное даёт критерий «задавать ли вопросы про данные, распределение, ошибку обобщения». Спам-фильтр на rule-list — НЕ AI; на классификаторе — AI. Chapter §1.1.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группы — чтобы 21 фактоид не сливался (P2-13). 2017 = настоящая точка перелома (трансформер устранил рекуррентность, дал параллелизм). Авторы Attention основали Cohere/Character.AI/Adept/Sakana. UDIO к авторам Attention отношения не имеет. AI Effect объясняет, почему публичное восприятие AI до 2022 было LLM-центричным.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Карта 4 осей — конкретная модель имеет координаты по всем 4 одновременно. Worked example Copilot прогоняем устно (на слайде показан результат). По задаче — генерация, по модальности — текст (код = последовательность токенов), по подходу — self-supervised pretraining + RLHF, по архитектуре — Transformer decoder-only. Шаблон для любого нового AI. RLHF inline footnote добавлен — определение при первом упоминании (Phase 7 reader+student convergence). Chapter §1.4.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= инфраструктура. 51% ежедневно, 84% используют/планируют. 46% не доверяют точности — vs 31% год назад. Доверие падает с использованием. РФ — двухслойная картина: пользователи активны, корпоративный слой буксует. 90% не доходят до full industrial deployment. Chapter §2.1.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$5.6M = marginal cost одного training run V3. Full infra $1.3-1.6B (SemiAnalysis). R1 — открытая reasoning-модель уровня o1 (97.3% vs 96.4% MATH-500). Реакция рынка 27 января — Nvidia $589B за день. Мораль: побеждает изобретательность; правила меняются быстрее срока обучения. MCP — Anthropic ноябрь 2024, стандарт 2025-26.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Слоистая mental model — главный концепт раздела 3. Не альтернативы — каждый следующий уровень включает предыдущий и добавляет компоненты. Чем выше уровень обвязки, тем больше места для багов между AI-компонентом и его окружением. Анонс s12: одна задача через 3 способа. Chapter §3.1.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Hybrid live + video. Зафиксированная задача: «HTML-страница с графиком продаж за 2025». 30 сек screencast model → 30 сек screencast chat → 2 мин live agent (Claude Code). 2 мин разбор таблицы. Чему учит: тот же AI («одна модель внутри») даёт разные результаты в зависимости от обвязки. Выбор обвязки = инженерное решение под задачу. Backup: 3 скриншота + полное видео всех трёх способов. Код демо: `library/lectures/lec-01/assets/code/three-ways/`. Задача протестирована до 14.04.2026.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Модель = обученная нейросеть с inference-интерфейсом. Stateless, single-task. Здесь работает инженерное определение AI. Кейс конвейера: 10K/час, 50мс — исключает чат и агент. Если коробка покрывает (Cognex, Keyence, MVTec) — берём её; если нет — строим. Базовый слой layered model. Chapter §3.2.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Чат — модель + UI + память диалога. Кейс ТЗ — типовой для чата. Память контекста + итеративное уточнение — два ключевых свойства, которые модель в одиночку не даёт. Большинство откатов = чат там, где нужна модель (поток) или агент (tool use). Возврат к central question. Chapter §3.3. Bar chart с долями LLM удалён — он уже был на s04, дубль убивал внимание (Phase 7 student-simulator).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RTC — упрощённый из 16 паттернов White et al. 2023. Роль задаёт регистр; Задача — конкретный продукт; Контекст — данные/ограничения/формат. Контраст 2 ролей — приём отладки. Студенты НЕ пишут — это демо-показ. RTC — паттерн №1 в чит-шите. CoT, Few-Shot, ReAct — позже. Chapter §3.4.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 = чат + tools + планирование + цикл act/observe. Кейс 200 PDF — естественный для агента (многошаговый, нужны инструменты). 5 уровней Feng et al. 2025 — характеризуются ролью пользователя, не сложностью модели. Один агент в operator vs observer — разные продукты с разными требованиями. Будем возвращаться на семинарах. Chapter §3.5.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= AI как функция, не продукт. Детерминированный UX, guardrails, fallbacks. Translate 1T слов/мес — caveat: across Translate/Search/Lens/Circle to Search (P2-fact-2). Копилот: inline = приложение; Workspace = агент. Граница не по бренду, а по архитектуре сценария. Не переплачивайте сложностью. Chapter §3.6.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Кульминация раздела 3. Порядок Q1-Q4 имеет значение (P1-6): Q1 дешёвый отсев; Q2 широкое ветвление; Q3 узкое; Q4 last-check (не первый). Worked example конвейера: Q1 повторяющаяся → модель/прил.; Q2 нет → исключает чат; Q3 нет → исключает агент; Q4 коробка может покрыть. Возврат к central question. Раздатка ai-choice-checklist.md. Полный разбор worked example и анти-паттерна «универсальная LLM для конвейера» — методичка §3.8 (показать студентам как ссылку, не на слайде).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4 = инвентаризация классов проблем, не «глава ужасов». 3 причины — почему ВАША зона: (1) приняли решение, отвечаете; (2) ошибки системны и предсказуемы; (3) границу должны понимать. Структура раздела: 4.2 утечки → 4.3 галлюцинации → 4.4 trio → 4.5 каталог → mid-recap → 4.6 ARC → 4.7 narrow/general → 4.8 Pearl. Chapter §4.1.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Consumer vs Enterprise — критическое различение для безопасности данных. Samsung 2023 — 3 эпизода: код, транскрипт, тестовые последовательности → попали в OpenAI training. Реакция: запрет + лимит 1024 байта. ZDR = Zero Data Retention. Локальное breakeven ~100K req/day. EU AI Act: стандартный tier 15M/3%, prohibited 35M/7% (P2 ревизия). Никогда не загружайте конфиденциальные данные в consumer-AI без проверки политики тарифа. Chapter §4.2.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Галлюцинация: уверенное порождение фактически неверной информации в форме, неотличимой от верной. Готовый пример: попросить 3 статьи с DOI → проверка через Google Scholar (10-15 сек). Vectara HHEM: &lt;1% (Gemini 2.0 Flash суммаризация) до 10-15% (reasoning). CybSafe ~38% делятся sensitive. Доверие падает — callback к Stack Overflow §2.1. Анти-паттерн «AI знает всё». ПОСЛЕ слайда: retrieval moment s21+ — think-pair-share «найдите подделку», 30 сек в парах. LO7 apply-уровень. Chapter §4.3.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проявления одной природы. Bias — historical perekos (HR-скрининг). Sycophancy — RLHF (определить перед использованием!): люди-разметчики выше оценивают приятные ответы → модель подлизывает. GPT-4o апрель 2025 (P0-8 v5): 25 release, 28 rollback, 29 postmortem. Distribution shift — модель 2023 в 2026 = устаревшие практики. ПОСЛЕ слайда: retrieval moment s22+ — mini-poll «что опаснее в вашей области», LO6 evaluate. Reward hacking / data poisoning / prompt injection — в chapter §4.5 + поздняя лекция safety. Chapter §4.4.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ARC-AGI = задачи на абстрактное визуальное рассуждение, простые для людей, трудные для машин. Май 2026: человек 60%, refinement 54% @ $30 (Gemini 3 Pro + Poetiq), single-model 37.6% @ $2.20 (Opus 4.5 Thinking). Открытый вопрос — НЕ gotcha. Ответ «зависит» правильный: цена ошибки, объём, гибридный workflow, регуляторные требования. Инсайт: переключить с «качество модели» на «цена ошибки в моей задаче». Двумерная карта (тип задачи s18 + цена ошибки s23). Chapter §4.6.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существующие AI — narrow. AGI открытый вопрос. 4 лидера: Altman ~5 лет (stake: OpenAI valuation); Amodei 2-3 года (stake: конкурент); Hassabis 50% в декаде но «не моделями как сегодня» (Нобель 2024, Google диверсиф.); LeCun «не на LLM» (AMI Labs $1B март 2026, P2-fact-3 ревизия — бывший Meta до ноября 2025). Прогнозы говорят про стимулы. Сёрл 1980. Удалена ссылка на «Давос 2026 LeCun vs Altman» (не верифицирована). Chapter §4.7.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Двухколоночное сопоставление + Pearl пирамида (P1-9 ревизия v2: развёрнутые примеры levels 2 и 3). Уровень 1 — корреляция (LLM умеют). Уровень 2 — что если изменим X (intervention), требует контр. эксперимента или каузальной модели. Уровень 3 — counterfactual «что было бы», LLM не может по принципу — нет каузальной модели реального мира. Pearl объясняет, почему AI-проекты ломаются на стыке аналитики и решения. Решения принимают люди. Chapter §4.8.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Карта 17 лекций в 4 блока. Outcome-oriented: «после блока — что вы сможете делать». Зачем roadmap: после 4 разделов лекции 1 студент видит, как фреймворк раскручивается дальше. Без roadmap лекция 1 — оторванный wow-момент. NB course-curator: точные группы и темы вытащить из `00-course/` (Google Drive `1sHXoLaIqCpBRv1IaLjS6lNtBdwI5cPc0`) субагентом course-curator до финальной сборки; на момент пилота показана предварительная декомпозиция.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Двойной callback. (1) Central question s5: возвращались в s14, s18, сейчас. Чек-лист s18 = операционализованный ответ. (2) Камера s1: на лекции 2 посмотрим КАК — токены/эмбеддинги/attention/температура. Тизер: специфический («ПОЧЕМУ промпт с ролью» + «AI плохо считает буквы»), не общий. Бонус для L2 в notes: Alice in Wonderland как иллюстрация tokenization.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главных вывода. (1) разделы 1-2; (2) раздел 3 + s18; (3) раздел 4 + Pearl. Ключевая фраза «AI усиливает человека, но целеполагание, критическое суждение и ответственность — наши» — callback к s19 + s25. Домашнее задание apply-уровня: AI-инструмент → 4 вопроса s18 → архетип → 1 ошибка раздела 4 → одностраничный разбор. Покрывает LO1+LO4+LO6+LO7. Tone универсальный.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Главная провокация наверху слайда («Кто после этой лекции изменил мнение о чём-то?») — задайте сразу после открытия Q&amp;A, до первой руки. Это самый сильный hook. Открытый Q&amp;A 2 минуты. Если тишина — backup-провокации (универсальный tone, без «ИУ6»): «коллега» вместо «инженер ИУ6», «что из услышанного попробуете» — переход к действию. Финал: благодарность + напоминание задание s28. Если Q&amp;A провисает — вернуться к самым обсуждаемым слайдам (s10 DeepSeek / s23 ARC-AGI / s24 narrow vs general).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4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Relationship Id="rId8" Type="http://schemas.openxmlformats.org/officeDocument/2006/relationships/image" Target="../media/image29.png"/><Relationship Id="rId9" Type="http://schemas.openxmlformats.org/officeDocument/2006/relationships/image" Target="../media/image30.png"/><Relationship Id="rId10" Type="http://schemas.openxmlformats.org/officeDocument/2006/relationships/image" Target="../media/image31.png"/><Relationship Id="rId11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40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14.png"/><Relationship Id="rId6" Type="http://schemas.openxmlformats.org/officeDocument/2006/relationships/image" Target="../media/image43.png"/><Relationship Id="rId7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02920"/>
            <a:ext cx="5394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Идентификация людей в реальном времени — уже с 2023 года на простом ноутбуке.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971800"/>
            <a:ext cx="5394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Narrow AI — модель решает одну задачу (обнаружение людей в кадре) и больше ничего.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500" b="0">
                <a:solidFill>
                  <a:srgbClr val="21295C"/>
                </a:solidFill>
                <a:latin typeface="Arial"/>
              </a:rPr>
              <a:t>На экране — </a:t>
            </a:r>
            <a:r>
              <a:rPr sz="1500" b="1">
                <a:solidFill>
                  <a:srgbClr val="065A82"/>
                </a:solidFill>
                <a:latin typeface="Arial"/>
              </a:rPr>
              <a:t>YOLOv8</a:t>
            </a:r>
            <a:r>
              <a:rPr sz="1500" b="0">
                <a:solidFill>
                  <a:srgbClr val="21295C"/>
                </a:solidFill>
                <a:latin typeface="Arial"/>
              </a:rPr>
              <a:t> на CPU ноутбука: </a:t>
            </a:r>
            <a:r>
              <a:rPr sz="1500" b="1">
                <a:solidFill>
                  <a:srgbClr val="F0AB00"/>
                </a:solidFill>
                <a:latin typeface="Arial"/>
              </a:rPr>
              <a:t>31 fps</a:t>
            </a:r>
            <a:r>
              <a:rPr sz="1500" b="0">
                <a:solidFill>
                  <a:srgbClr val="21295C"/>
                </a:solidFill>
                <a:latin typeface="Arial"/>
              </a:rPr>
              <a:t>.</a:t>
            </a:r>
          </a:p>
          <a:p>
            <a:pPr>
              <a:lnSpc>
                <a:spcPct val="135000"/>
              </a:lnSpc>
            </a:pPr>
            <a:r>
              <a:rPr sz="1500" b="1">
                <a:solidFill>
                  <a:srgbClr val="028090"/>
                </a:solidFill>
                <a:latin typeface="Arial"/>
              </a:rPr>
              <a:t>Без интернета</a:t>
            </a:r>
            <a:r>
              <a:rPr sz="1500" b="0">
                <a:solidFill>
                  <a:srgbClr val="21295C"/>
                </a:solidFill>
                <a:latin typeface="Arial"/>
              </a:rPr>
              <a:t>  ·  обучена в 2023.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89320" y="502920"/>
            <a:ext cx="5760720" cy="4023360"/>
          </a:xfrm>
          <a:prstGeom prst="roundRect">
            <a:avLst>
              <a:gd name="adj" fmla="val 757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01-yolo-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3912" y="986980"/>
            <a:ext cx="5431536" cy="30552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89320" y="457200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Кадр модели в момент демо: 2 человека в боксах. YOLOv8 (Ultralytics, 2023).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0" y="2468880"/>
            <a:ext cx="4846320" cy="429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0" b="1" i="0">
                <a:solidFill>
                  <a:srgbClr val="D9E2EC"/>
                </a:solidFill>
                <a:latin typeface="Arial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17320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77724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1" i="0">
                <a:solidFill>
                  <a:srgbClr val="21295C"/>
                </a:solidFill>
                <a:latin typeface="Arial"/>
              </a:rPr>
              <a:t>Введение —
AI вокруг нас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983480"/>
            <a:ext cx="45720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98348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065A82"/>
                </a:solidFill>
                <a:latin typeface="Arial"/>
              </a:rPr>
              <a:t>Карта применений AI: где работает, где — нет.</a:t>
            </a:r>
          </a:p>
        </p:txBody>
      </p:sp>
      <p:pic>
        <p:nvPicPr>
          <p:cNvPr id="8" name="Picture 7" descr="hero-cover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82296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Сначала — ваша оценка, потом — данные.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28800"/>
            <a:ext cx="5440680" cy="4023360"/>
          </a:xfrm>
          <a:prstGeom prst="roundRect">
            <a:avLst>
              <a:gd name="adj" fmla="val 757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hand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868680" cy="868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74519" y="2194560"/>
            <a:ext cx="39776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Вопрос 1  ·  выберите ОДИН 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46120"/>
            <a:ext cx="4709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Какой процент россиян использовали AI в 2025?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" y="4617720"/>
            <a:ext cx="1143000" cy="50292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&lt;20%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20824" y="4617720"/>
            <a:ext cx="1143000" cy="50292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20–40%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82696" y="4617720"/>
            <a:ext cx="1143000" cy="50292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40–60%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44568" y="4617720"/>
            <a:ext cx="1143000" cy="50292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&gt;60%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257800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(поднимите руку на одном варианте)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828800"/>
            <a:ext cx="5440680" cy="4023360"/>
          </a:xfrm>
          <a:prstGeom prst="roundRect">
            <a:avLst>
              <a:gd name="adj" fmla="val 757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ucide-message-squar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2148840"/>
            <a:ext cx="868680" cy="868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680960" y="2194560"/>
            <a:ext cx="39776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Вопрос 2  ·  можно НЕСКОЛЬКО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246120"/>
            <a:ext cx="4709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Кто использовал AI сегодня — и для чего?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4617720"/>
            <a:ext cx="128016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400" b="1">
                <a:solidFill>
                  <a:srgbClr val="028090"/>
                </a:solidFill>
                <a:latin typeface="Arial"/>
              </a:rPr>
              <a:t>код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0104" y="4617720"/>
            <a:ext cx="128016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400" b="1">
                <a:solidFill>
                  <a:srgbClr val="028090"/>
                </a:solidFill>
                <a:latin typeface="Arial"/>
              </a:rPr>
              <a:t>текст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89136" y="4617720"/>
            <a:ext cx="128016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400" b="1">
                <a:solidFill>
                  <a:srgbClr val="028090"/>
                </a:solidFill>
                <a:latin typeface="Arial"/>
              </a:rPr>
              <a:t>перевод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88168" y="4617720"/>
            <a:ext cx="128016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400" b="1">
                <a:solidFill>
                  <a:srgbClr val="028090"/>
                </a:solidFill>
                <a:latin typeface="Arial"/>
              </a:rPr>
              <a:t>другое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5257800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(поднимите руку столько раз, для скольки задач использовали)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Разница между вашей оценкой и реальностью — карта ваших слепых зон про AI.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8760"/>
            <a:ext cx="5212080" cy="411480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91639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Проникновение AI в РФ, 2025</a:t>
            </a:r>
          </a:p>
        </p:txBody>
      </p:sp>
      <p:pic>
        <p:nvPicPr>
          <p:cNvPr id="5" name="Picture 4" descr="c1-vciom-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7380" y="2286000"/>
            <a:ext cx="2423160" cy="2423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97380" y="3017520"/>
            <a:ext cx="24231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0" b="1" i="0">
                <a:solidFill>
                  <a:srgbClr val="065A82"/>
                </a:solidFill>
                <a:latin typeface="Arial"/>
              </a:rPr>
              <a:t>51%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75488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пользуются AI раз в неделю+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12064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ВЦИОМ-Онлайн 13–15 дек 2025  ·  n=3239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1508760"/>
            <a:ext cx="5608015" cy="411480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691639"/>
            <a:ext cx="50593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Использование LLM в РФ — multi-select, 2025</a:t>
            </a:r>
          </a:p>
        </p:txBody>
      </p:sp>
      <p:pic>
        <p:nvPicPr>
          <p:cNvPr id="11" name="Picture 10" descr="c14-llm-shares-r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0667" y="2240280"/>
            <a:ext cx="4648200" cy="2788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55080" y="5120640"/>
            <a:ext cx="50593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*Multi-select: респонденты могли указать несколько. Сумма ≠ 100%.*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ВЦИОМ-Онлайн дек 2025 (51%, n=3239)  ·  ВЦИОМ окт 2025 (multi-select shares, n=1600).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0292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Кто я и почему мне это важно.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54480"/>
            <a:ext cx="3840480" cy="4251960"/>
          </a:xfrm>
          <a:prstGeom prst="roundRect">
            <a:avLst>
              <a:gd name="adj" fmla="val 793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nogram-t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057400"/>
            <a:ext cx="2377440" cy="2377440"/>
          </a:xfrm>
          <a:prstGeom prst="rect">
            <a:avLst/>
          </a:prstGeom>
        </p:spPr>
      </p:pic>
      <p:sp>
        <p:nvSpPr>
          <p:cNvPr id="5" name="5-Point Star 4"/>
          <p:cNvSpPr/>
          <p:nvPr/>
        </p:nvSpPr>
        <p:spPr>
          <a:xfrm>
            <a:off x="2240280" y="1645920"/>
            <a:ext cx="365760" cy="365760"/>
          </a:xfrm>
          <a:prstGeom prst="star5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709159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Преподаватель курса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212079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инициалы — заполняются при публикации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00600" y="1554480"/>
            <a:ext cx="6888175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ucide-briefcas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874519"/>
            <a:ext cx="640080" cy="640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52160" y="1719072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Опыт с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194560"/>
            <a:ext cx="56994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10+ лет</a:t>
            </a:r>
            <a:r>
              <a:rPr sz="1400" b="0" i="0">
                <a:solidFill>
                  <a:srgbClr val="21295C"/>
                </a:solidFill>
                <a:latin typeface="Arial"/>
              </a:rPr>
              <a:t>  </a:t>
            </a:r>
            <a:r>
              <a:rPr sz="1400" b="0" i="1">
                <a:solidFill>
                  <a:srgbClr val="1C7293"/>
                </a:solidFill>
                <a:latin typeface="Arial"/>
              </a:rPr>
              <a:t>исследовательская и инженерная практика — ML / NLP / генеративные модели.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2999232"/>
            <a:ext cx="6888175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ucide-lightbulb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3319272"/>
            <a:ext cx="640080" cy="640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852160" y="3163824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Почему этот курс важен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3639311"/>
            <a:ext cx="56994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1C7293"/>
                </a:solidFill>
                <a:latin typeface="Arial"/>
              </a:rPr>
              <a:t>разрыв между шумом про AI и реальной инженерной практикой — заполняем именно его.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00600" y="4443983"/>
            <a:ext cx="6888175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ucide-users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0" y="4764023"/>
            <a:ext cx="640080" cy="6400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52160" y="4608575"/>
            <a:ext cx="5699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О себе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5084064"/>
            <a:ext cx="56994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1C7293"/>
                </a:solidFill>
                <a:latin typeface="Arial"/>
              </a:rPr>
              <a:t>соавтор материалов по AI для инженерных вузов; читаю серьёзно, но без пафоса.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Главный вопрос курса — не «можно ли AI?», а «НУЖНО ли и ГДЕ?».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1">
                <a:solidFill>
                  <a:srgbClr val="21295C"/>
                </a:solidFill>
                <a:latin typeface="Arial"/>
              </a:rPr>
              <a:t>Стейкс: </a:t>
            </a:r>
            <a:r>
              <a:rPr sz="1400" b="0" i="1">
                <a:solidFill>
                  <a:srgbClr val="1C7293"/>
                </a:solidFill>
                <a:latin typeface="Arial"/>
              </a:rPr>
              <a:t>к 2027 — 80% инженерного workforce должно осваивать GenAI </a:t>
            </a:r>
            <a:r>
              <a:rPr sz="1400" b="0" i="1">
                <a:solidFill>
                  <a:srgbClr val="1C7293"/>
                </a:solidFill>
                <a:latin typeface="Arial"/>
              </a:rPr>
              <a:t>(Gartner окт 2024)</a:t>
            </a:r>
            <a:r>
              <a:rPr sz="1400" b="0" i="1">
                <a:solidFill>
                  <a:srgbClr val="1C7293"/>
                </a:solidFill>
                <a:latin typeface="Arial"/>
              </a:rPr>
              <a:t>.  В РФ — </a:t>
            </a:r>
            <a:r>
              <a:rPr sz="1400" b="1" i="1">
                <a:solidFill>
                  <a:srgbClr val="1C7293"/>
                </a:solidFill>
                <a:latin typeface="Arial"/>
              </a:rPr>
              <a:t>~90% AI-пилотов не доходят до full industrial deployment </a:t>
            </a:r>
            <a:r>
              <a:rPr sz="1400" b="0" i="1">
                <a:solidFill>
                  <a:srgbClr val="1C7293"/>
                </a:solidFill>
                <a:latin typeface="Arial"/>
              </a:rPr>
              <a:t>(CNews/Vedomosti/Intellectual Analytics март 2026).</a:t>
            </a:r>
          </a:p>
        </p:txBody>
      </p:sp>
      <p:pic>
        <p:nvPicPr>
          <p:cNvPr id="4" name="Picture 3" descr="d2-funnel-v36-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74519"/>
            <a:ext cx="5394960" cy="431596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263640" y="1874519"/>
            <a:ext cx="5425135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2194560"/>
            <a:ext cx="478505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Завтра — </a:t>
            </a:r>
            <a:r>
              <a:rPr sz="2400" b="1" i="0">
                <a:solidFill>
                  <a:srgbClr val="065A82"/>
                </a:solidFill>
                <a:latin typeface="Arial"/>
              </a:rPr>
              <a:t>почти везде</a:t>
            </a:r>
            <a:r>
              <a:rPr sz="2400" b="1" i="0">
                <a:solidFill>
                  <a:srgbClr val="21295C"/>
                </a:solidFill>
                <a:latin typeface="Arial"/>
              </a:rPr>
              <a:t>.
Сегодня — </a:t>
            </a:r>
            <a:r>
              <a:rPr sz="2400" b="1" i="0">
                <a:solidFill>
                  <a:srgbClr val="065A82"/>
                </a:solidFill>
                <a:latin typeface="Arial"/>
              </a:rPr>
              <a:t>почти никто</a:t>
            </a:r>
            <a:r>
              <a:rPr sz="2400" b="1" i="0">
                <a:solidFill>
                  <a:srgbClr val="21295C"/>
                </a:solidFill>
                <a:latin typeface="Arial"/>
              </a:rPr>
              <a:t>.
Курс — про </a:t>
            </a:r>
            <a:r>
              <a:rPr sz="2400" b="1" i="0">
                <a:solidFill>
                  <a:srgbClr val="065A82"/>
                </a:solidFill>
                <a:latin typeface="Arial"/>
              </a:rPr>
              <a:t>этот разрыв.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4709160"/>
            <a:ext cx="478505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Где AI </a:t>
            </a:r>
            <a:r>
              <a:rPr sz="2400" b="1" i="0">
                <a:solidFill>
                  <a:srgbClr val="065A82"/>
                </a:solidFill>
                <a:latin typeface="Arial"/>
              </a:rPr>
              <a:t>работает</a:t>
            </a:r>
            <a:r>
              <a:rPr sz="2400" b="1" i="0">
                <a:solidFill>
                  <a:srgbClr val="21295C"/>
                </a:solidFill>
                <a:latin typeface="Arial"/>
              </a:rPr>
              <a:t>, где —
</a:t>
            </a:r>
            <a:r>
              <a:rPr sz="2400" b="1" i="1">
                <a:solidFill>
                  <a:srgbClr val="21295C"/>
                </a:solidFill>
                <a:latin typeface="Arial"/>
              </a:rPr>
              <a:t>нет</a:t>
            </a:r>
            <a:r>
              <a:rPr sz="2400" b="1" i="0">
                <a:solidFill>
                  <a:srgbClr val="21295C"/>
                </a:solidFill>
                <a:latin typeface="Arial"/>
              </a:rPr>
              <a:t>, и как это понять?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36207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Иллюстрация принципа, не реальная статистика. Сама статистика «5–10% доходят» — в стейксе наверху.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Академическое определение размыто, инженерное даёт критерий «можно ли сюда AI».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54480"/>
            <a:ext cx="5349240" cy="4206240"/>
          </a:xfrm>
          <a:prstGeom prst="roundRect">
            <a:avLst>
              <a:gd name="adj" fmla="val 72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book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74519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00200" y="1920240"/>
            <a:ext cx="4069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АКАДЕМИЧЕСКОЕ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47091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1C7293"/>
                </a:solidFill>
                <a:latin typeface="Arial"/>
              </a:rPr>
              <a:t>Russell &amp; Norvig (2021)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37560"/>
            <a:ext cx="4709159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21295C"/>
                </a:solidFill>
                <a:latin typeface="Arial"/>
              </a:rPr>
              <a:t>Система, действующая </a:t>
            </a:r>
            <a:r>
              <a:rPr sz="2200" b="1" i="0">
                <a:solidFill>
                  <a:srgbClr val="065A82"/>
                </a:solidFill>
                <a:latin typeface="Arial"/>
              </a:rPr>
              <a:t>рационально</a:t>
            </a:r>
            <a:r>
              <a:rPr sz="2200" b="0" i="0">
                <a:solidFill>
                  <a:srgbClr val="21295C"/>
                </a:solidFill>
                <a:latin typeface="Arial"/>
              </a:rPr>
              <a:t> для достижения целей при имеющихся данных и ограничениях.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554480"/>
            <a:ext cx="5349240" cy="4206240"/>
          </a:xfrm>
          <a:prstGeom prst="roundRect">
            <a:avLst>
              <a:gd name="adj" fmla="val 7246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ucide-wrench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79" y="1874519"/>
            <a:ext cx="640080" cy="640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19" y="1920240"/>
            <a:ext cx="4069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ИНЖЕНЕРНОЕ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79" y="2743200"/>
            <a:ext cx="47091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1C7293"/>
                </a:solidFill>
                <a:latin typeface="Arial"/>
              </a:rPr>
              <a:t>рабочее в курсе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79" y="3337560"/>
            <a:ext cx="4709159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21295C"/>
                </a:solidFill>
                <a:latin typeface="Arial"/>
              </a:rPr>
              <a:t>Система, принимающая решения </a:t>
            </a:r>
            <a:r>
              <a:rPr sz="2200" b="1" i="0">
                <a:solidFill>
                  <a:srgbClr val="028090"/>
                </a:solidFill>
                <a:latin typeface="Arial"/>
              </a:rPr>
              <a:t>на основе данных</a:t>
            </a:r>
            <a:r>
              <a:rPr sz="2200" b="0" i="0">
                <a:solidFill>
                  <a:srgbClr val="21295C"/>
                </a:solidFill>
                <a:latin typeface="Arial"/>
              </a:rPr>
              <a:t>, а не явных правил «если…то…».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94360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01675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Если поведение полностью описывается if-else — это не AI в инженерном смысле, даже если маркетинг говорит «умный».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70 лет AI: три эпохи и точка перелома 2017.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10927080" cy="36576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508760"/>
            <a:ext cx="3520440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ОТКРЫТИЯ И ПРАКТИКА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1950 — 1980-е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1546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1950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Тьюринг — Imitation Game</a:t>
            </a:r>
          </a:p>
          <a:p>
            <a:pPr algn="l">
              <a:lnSpc>
                <a:spcPct val="13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1956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Дартмут — McCarthy «AI»</a:t>
            </a:r>
          </a:p>
          <a:p>
            <a:pPr algn="l">
              <a:lnSpc>
                <a:spcPct val="13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1966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Weizenbaum — ELIZA</a:t>
            </a:r>
          </a:p>
          <a:p>
            <a:pPr algn="l">
              <a:lnSpc>
                <a:spcPct val="13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1980-е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экспертные системы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1508760"/>
            <a:ext cx="3520440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60020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ЗИМЫ И ПРОРЫВЫ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874519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1973 — 2012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286000"/>
            <a:ext cx="31546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1974–80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первая зима (Lighthill)</a:t>
            </a:r>
          </a:p>
          <a:p>
            <a:pPr algn="l">
              <a:lnSpc>
                <a:spcPct val="13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1987–93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вторая зима (Lisp Mach.)</a:t>
            </a:r>
          </a:p>
          <a:p>
            <a:pPr algn="l">
              <a:lnSpc>
                <a:spcPct val="13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1997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Deep Blue (200M поз/сек)</a:t>
            </a:r>
          </a:p>
          <a:p>
            <a:pPr algn="l">
              <a:lnSpc>
                <a:spcPct val="13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2012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AlexNet — GPU + DL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1508760"/>
            <a:ext cx="3520440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160020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ПЕРЕЛОМ И ВЗРЫВ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1874519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2017 —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2286000"/>
            <a:ext cx="31546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2017  </a:t>
            </a:r>
            <a:r>
              <a:rPr sz="1200" b="1" i="0">
                <a:solidFill>
                  <a:srgbClr val="21295C"/>
                </a:solidFill>
                <a:latin typeface="Arial"/>
              </a:rPr>
              <a:t>«Attention Is All You Need»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Vaswani et al. (160K+ цит.)</a:t>
            </a:r>
          </a:p>
          <a:p>
            <a:pPr algn="l">
              <a:lnSpc>
                <a:spcPct val="13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2022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ChatGPT (1M за 5 дней)</a:t>
            </a:r>
          </a:p>
          <a:p>
            <a:pPr algn="l">
              <a:lnSpc>
                <a:spcPct val="13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2024–26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reasoning + агенты</a:t>
            </a:r>
          </a:p>
        </p:txBody>
      </p:sp>
      <p:sp>
        <p:nvSpPr>
          <p:cNvPr id="16" name="5-Point Star 15"/>
          <p:cNvSpPr/>
          <p:nvPr/>
        </p:nvSpPr>
        <p:spPr>
          <a:xfrm>
            <a:off x="7646212" y="3904488"/>
            <a:ext cx="411480" cy="411480"/>
          </a:xfrm>
          <a:prstGeom prst="star5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94752" y="42336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2017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19" y="4233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1950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24631" y="4233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1980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30568" y="4233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2012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0359" y="4233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2022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1400" y="4233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577840"/>
            <a:ext cx="11201400" cy="6400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650992"/>
            <a:ext cx="10835640" cy="493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AI Effect (Tesler): «AI is whatever hasn't been done yet» — как только задача решена, обыватель перестаёт называть её AI.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AI-инструмент имеет 4 координаты — задача, модальность, подход, архитектура.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63040"/>
            <a:ext cx="5486400" cy="1874519"/>
          </a:xfrm>
          <a:prstGeom prst="roundRect">
            <a:avLst>
              <a:gd name="adj" fmla="val 16260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target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3736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00200" y="178308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ПО ЗАДАЧЕ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детекция · сегментация · классификация · регрессия · генерация · кластеризация · рекомендация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486400" cy="1874519"/>
          </a:xfrm>
          <a:prstGeom prst="roundRect">
            <a:avLst>
              <a:gd name="adj" fmla="val 16260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ucide-layers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737360"/>
            <a:ext cx="640080" cy="640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0" y="178308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ПО МОДАЛЬНОСТИ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2514600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число · текст · изображение · видео · аудио · мультимодальные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520440"/>
            <a:ext cx="5486400" cy="1874519"/>
          </a:xfrm>
          <a:prstGeom prst="roundRect">
            <a:avLst>
              <a:gd name="adj" fmla="val 16260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ucide-brain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794760"/>
            <a:ext cx="640080" cy="640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600200" y="384048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ПО ПОДХОДУ К ОБУЧЕНИЮ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572000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supervised · unsupervised · self-supervised · RL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520440"/>
            <a:ext cx="5486400" cy="1874519"/>
          </a:xfrm>
          <a:prstGeom prst="roundRect">
            <a:avLst>
              <a:gd name="adj" fmla="val 16260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ucide-cpu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3794760"/>
            <a:ext cx="640080" cy="6400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315200" y="384048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ПО АРХИТЕКТУРЕ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59" y="4572000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CNN · RNN/LSTM · Transformer · Diffusion · GNN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34924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422392"/>
            <a:ext cx="10835640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GitHub Copilot:  генерация · текст · self-supervised + RLHF · Transformer-decoder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80760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* RLHF = Reinforcement Learning from Human Feedback — тонкая настройка модели по обратной связи человека (детали — в Лекции 2).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AI стал инфраструктурой за 3 года: 51% разработчиков ежедневно, 46% кода у юзеров Copilot.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54480"/>
            <a:ext cx="2697480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737360"/>
            <a:ext cx="2514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065A82"/>
                </a:solidFill>
                <a:latin typeface="Arial"/>
              </a:rPr>
              <a:t>900M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560320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WAU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907791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ChatGPT февраль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182112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OpenAI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64992" y="1554480"/>
            <a:ext cx="2697480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56432" y="1737360"/>
            <a:ext cx="2514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028090"/>
                </a:solidFill>
                <a:latin typeface="Arial"/>
              </a:rPr>
              <a:t>51%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6432" y="2560320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professional daily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907791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Stack Overflow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3182112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n=49k+, 177 стран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1554480"/>
            <a:ext cx="2697480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18504" y="1737360"/>
            <a:ext cx="2514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065A82"/>
                </a:solidFill>
                <a:latin typeface="Arial"/>
              </a:rPr>
              <a:t>46%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8504" y="2560320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кода у юзеров Copilot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504" y="2907791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GitHub Copilot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3182112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telemetry · Java 61%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89136" y="1554480"/>
            <a:ext cx="2697480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1737360"/>
            <a:ext cx="2514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600" b="1" i="0">
                <a:solidFill>
                  <a:srgbClr val="028090"/>
                </a:solidFill>
                <a:latin typeface="Arial"/>
              </a:rPr>
              <a:t>$244–390B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0576" y="2560320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AI-рынок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0576" y="2907791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Statista / McKinsey 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0576" y="3182112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разные методологии оценки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749039"/>
            <a:ext cx="11201400" cy="91440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ucide-alert-triangl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886200"/>
            <a:ext cx="640080" cy="6400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554480" y="3867911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И при этом в РФ </a:t>
            </a:r>
            <a:r>
              <a:rPr sz="1800" b="1" i="0">
                <a:solidFill>
                  <a:srgbClr val="F0AB00"/>
                </a:solidFill>
                <a:latin typeface="Arial"/>
              </a:rPr>
              <a:t>~90% AI-пилотов не доходят до прода</a:t>
            </a:r>
            <a:r>
              <a:rPr sz="1800" b="1" i="0">
                <a:solidFill>
                  <a:srgbClr val="21295C"/>
                </a:solidFill>
                <a:latin typeface="Arial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251959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CNews / Vedomosti / Intellectual Analytics, март 2026  ·  30–40% closed без эффекта  ·  7–10% in production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892040"/>
            <a:ext cx="11201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i="1">
                <a:solidFill>
                  <a:srgbClr val="21295C"/>
                </a:solidFill>
                <a:latin typeface="Arial"/>
              </a:rPr>
              <a:t>46% разработчиков </a:t>
            </a:r>
            <a:r>
              <a:rPr sz="1300" b="1" i="1">
                <a:solidFill>
                  <a:srgbClr val="065A82"/>
                </a:solidFill>
                <a:latin typeface="Arial"/>
              </a:rPr>
              <a:t>не доверяют точности AI </a:t>
            </a:r>
            <a:r>
              <a:rPr sz="1300" b="0" i="1">
                <a:solidFill>
                  <a:srgbClr val="1C7293"/>
                </a:solidFill>
                <a:latin typeface="Arial"/>
              </a:rPr>
              <a:t>(vs 31% в 2024) — Stack Overflow 2025.</a:t>
            </a:r>
          </a:p>
          <a:p>
            <a:pPr algn="l">
              <a:lnSpc>
                <a:spcPct val="150000"/>
              </a:lnSpc>
            </a:pPr>
            <a:r>
              <a:rPr sz="1300" b="1" i="1">
                <a:solidFill>
                  <a:srgbClr val="21295C"/>
                </a:solidFill>
                <a:latin typeface="Arial"/>
              </a:rPr>
              <a:t>Доверие падает по мере того, как AI становится повседневным.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OpenAI 2026  ·  Stack Overflow Dev Survey 2025  ·  GitHub Copilot 2025 (telemetry)  ·  Statista / McKinsey 2025  ·  CNews/Vedomosti 2026.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В AI побеждает изобретательность: $5.6M marginal, $589B потерь капитализации Nvidia за один день.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201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Траектория: </a:t>
            </a:r>
            <a:r>
              <a:rPr sz="1300" b="1" i="0">
                <a:solidFill>
                  <a:srgbClr val="065A82"/>
                </a:solidFill>
                <a:latin typeface="Arial"/>
              </a:rPr>
              <a:t>2022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чат → </a:t>
            </a:r>
            <a:r>
              <a:rPr sz="1300" b="1" i="0">
                <a:solidFill>
                  <a:srgbClr val="065A82"/>
                </a:solidFill>
                <a:latin typeface="Arial"/>
              </a:rPr>
              <a:t>2023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зрение → </a:t>
            </a:r>
            <a:r>
              <a:rPr sz="1300" b="1" i="0">
                <a:solidFill>
                  <a:srgbClr val="065A82"/>
                </a:solidFill>
                <a:latin typeface="Arial"/>
              </a:rPr>
              <a:t>2024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рассуждение → </a:t>
            </a:r>
            <a:r>
              <a:rPr sz="1300" b="1" i="0">
                <a:solidFill>
                  <a:srgbClr val="065A82"/>
                </a:solidFill>
                <a:latin typeface="Arial"/>
              </a:rPr>
              <a:t>2025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код → </a:t>
            </a:r>
            <a:r>
              <a:rPr sz="1300" b="1" i="0">
                <a:solidFill>
                  <a:srgbClr val="F0AB00"/>
                </a:solidFill>
                <a:latin typeface="Arial"/>
              </a:rPr>
              <a:t>2026 </a:t>
            </a:r>
            <a:r>
              <a:rPr sz="1300" b="1" i="0">
                <a:solidFill>
                  <a:srgbClr val="F0AB00"/>
                </a:solidFill>
                <a:latin typeface="Arial"/>
              </a:rPr>
              <a:t>действие (агенты, MCP)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68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19456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26 декабря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DeepSeek-V3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7180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$5.6M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7947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marginal training run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251960"/>
            <a:ext cx="3337560" cy="7315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25112"/>
            <a:ext cx="3246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FULL INFRA COST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57200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$1.3 — 1.6 млрд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1" y="201168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219456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20 января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51460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DeepSeek-R1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97180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 i="0">
                <a:solidFill>
                  <a:srgbClr val="028090"/>
                </a:solidFill>
                <a:latin typeface="Arial"/>
              </a:rPr>
              <a:t>97.3%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37947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MATH-500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42976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открытая reasoning-модель
уровня OpenAI o1 (96.4%)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38744" y="201168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21624" y="219456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27 января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1624" y="251460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Nvidia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21624" y="297180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 i="0">
                <a:solidFill>
                  <a:srgbClr val="F0AB00"/>
                </a:solidFill>
                <a:latin typeface="Arial"/>
              </a:rPr>
              <a:t>−$589B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21624" y="37947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капитализации за один день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1624" y="42976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крупнейшая single-day потеря
в истории фондового рынка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44068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513832"/>
            <a:ext cx="10835640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Правила меняются быстрее срока обучения инженера. Курс — про устойчивые концепты, не про API.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Bloomberg / Reuters 27 января 2025  ·  DeepSeek 2025  ·  SemiAnalysis 2025  ·  Anthropic MCP 2024 (де-факто стандарт).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Модель / чат / агент / приложение — это слои, а не альтернативы. Каждый следующий включает предыдущий.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8760"/>
            <a:ext cx="5852160" cy="4754880"/>
          </a:xfrm>
          <a:prstGeom prst="roundRect">
            <a:avLst>
              <a:gd name="adj" fmla="val 641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73351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ПРИЛОЖЕНИЕ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+ product UX (формы, кнопки, голос)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377439"/>
            <a:ext cx="5029200" cy="3657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54203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АГЕНТ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80359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+ инструменты + планирование (act/observe)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25880" y="3246120"/>
            <a:ext cx="4206240" cy="2560320"/>
          </a:xfrm>
          <a:prstGeom prst="roundRect">
            <a:avLst>
              <a:gd name="adj" fmla="val 11904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3410712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749039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+ UI + память диалога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37360" y="4114800"/>
            <a:ext cx="3383279" cy="1463039"/>
          </a:xfrm>
          <a:prstGeom prst="roundRect">
            <a:avLst>
              <a:gd name="adj" fmla="val 20833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20240" y="42519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0AB00"/>
                </a:solidFill>
                <a:latin typeface="Arial"/>
              </a:rPr>
              <a:t>МОДЕЛЬ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46177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stateless inference,
one task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1508760"/>
            <a:ext cx="4876495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700" b="1" i="0">
                <a:solidFill>
                  <a:srgbClr val="F0AB00"/>
                </a:solidFill>
                <a:latin typeface="Arial"/>
              </a:rPr>
              <a:t>Модель</a:t>
            </a:r>
            <a:r>
              <a:rPr sz="1300" b="0" i="0">
                <a:solidFill>
                  <a:srgbClr val="21295C"/>
                </a:solidFill>
                <a:latin typeface="Arial"/>
              </a:rPr>
              <a:t>  =  stateless inference, single-task. Без UI/памяти/инструментов.</a:t>
            </a:r>
          </a:p>
          <a:p>
            <a:pPr algn="l">
              <a:lnSpc>
                <a:spcPct val="160000"/>
              </a:lnSpc>
            </a:pPr>
            <a:r>
              <a:rPr sz="1700" b="1" i="0">
                <a:solidFill>
                  <a:srgbClr val="1C7293"/>
                </a:solidFill>
                <a:latin typeface="Arial"/>
              </a:rPr>
              <a:t>Чат</a:t>
            </a:r>
            <a:r>
              <a:rPr sz="1300" b="0" i="0">
                <a:solidFill>
                  <a:srgbClr val="21295C"/>
                </a:solidFill>
                <a:latin typeface="Arial"/>
              </a:rPr>
              <a:t>  =  модель + UI + память диалога. История в контексте.</a:t>
            </a:r>
          </a:p>
          <a:p>
            <a:pPr algn="l">
              <a:lnSpc>
                <a:spcPct val="160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Агент</a:t>
            </a:r>
            <a:r>
              <a:rPr sz="1300" b="0" i="0">
                <a:solidFill>
                  <a:srgbClr val="21295C"/>
                </a:solidFill>
                <a:latin typeface="Arial"/>
              </a:rPr>
              <a:t>  =  чат + инструменты + планирование. Цикл act/observe.</a:t>
            </a:r>
          </a:p>
          <a:p>
            <a:pPr algn="l">
              <a:lnSpc>
                <a:spcPct val="160000"/>
              </a:lnSpc>
            </a:pPr>
            <a:r>
              <a:rPr sz="1700" b="1" i="0">
                <a:solidFill>
                  <a:srgbClr val="028090"/>
                </a:solidFill>
                <a:latin typeface="Arial"/>
              </a:rPr>
              <a:t>Приложение</a:t>
            </a:r>
            <a:r>
              <a:rPr sz="1300" b="0" i="0">
                <a:solidFill>
                  <a:srgbClr val="21295C"/>
                </a:solidFill>
                <a:latin typeface="Arial"/>
              </a:rPr>
              <a:t>  =  агент или чат + продуктовый UX. AI = функция, не продукт.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5212080"/>
            <a:ext cx="4876495" cy="5943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5160" y="5285232"/>
            <a:ext cx="45107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СЛОИ, НЕ АЛЬТЕРНАТИВЫ:  </a:t>
            </a:r>
            <a:r>
              <a:rPr sz="1300" b="1" i="0">
                <a:solidFill>
                  <a:srgbClr val="21295C"/>
                </a:solidFill>
                <a:latin typeface="Arial"/>
              </a:rPr>
              <a:t>каждый следующий </a:t>
            </a:r>
            <a:r>
              <a:rPr sz="1300" b="1" i="1">
                <a:solidFill>
                  <a:srgbClr val="21295C"/>
                </a:solidFill>
                <a:latin typeface="Arial"/>
              </a:rPr>
              <a:t>включает</a:t>
            </a:r>
            <a:r>
              <a:rPr sz="1300" b="1" i="0">
                <a:solidFill>
                  <a:srgbClr val="21295C"/>
                </a:solidFill>
                <a:latin typeface="Arial"/>
              </a:rPr>
              <a:t> предыдущий.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9893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0624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Сейчас увидим один запрос «HTML-страница с графиком» через 3 способа: модель → чат → агент.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Одна задача, три способа: контроль и стоимость растут с обвязкой.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11201400" cy="77724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81912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ЗАДАЧА:  </a:t>
            </a:r>
            <a:r>
              <a:rPr sz="1800" b="1" i="0">
                <a:solidFill>
                  <a:srgbClr val="21295C"/>
                </a:solidFill>
                <a:latin typeface="Liberation Mono"/>
              </a:rPr>
              <a:t>«Создай HTML-страницу с графиком продаж за 2025.»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6888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633472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МОДЕЛЬ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035808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API (OpenRouter)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429000"/>
            <a:ext cx="3154679" cy="182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520440"/>
            <a:ext cx="146075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C7293"/>
                </a:solidFill>
                <a:latin typeface="Arial"/>
              </a:rPr>
              <a:t>Контроль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2274" y="3520440"/>
            <a:ext cx="17853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низкий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831336"/>
            <a:ext cx="146075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C7293"/>
                </a:solidFill>
                <a:latin typeface="Arial"/>
              </a:rPr>
              <a:t>Детерминизм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2274" y="3831336"/>
            <a:ext cx="17853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высокий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142232"/>
            <a:ext cx="146075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C7293"/>
                </a:solidFill>
                <a:latin typeface="Arial"/>
              </a:rPr>
              <a:t>Шаги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2274" y="4142232"/>
            <a:ext cx="17853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453128"/>
            <a:ext cx="146075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C7293"/>
                </a:solidFill>
                <a:latin typeface="Arial"/>
              </a:rPr>
              <a:t>Стоимость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2274" y="4453128"/>
            <a:ext cx="17853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минимальная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764024"/>
            <a:ext cx="146075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C7293"/>
                </a:solidFill>
                <a:latin typeface="Arial"/>
              </a:rPr>
              <a:t>Время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2274" y="4764024"/>
            <a:ext cx="17853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секунды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25780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сырой JSON / код без структуры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246888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0" y="2633472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035808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Claude web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17720" y="3429000"/>
            <a:ext cx="3154679" cy="18288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3520440"/>
            <a:ext cx="146075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C7293"/>
                </a:solidFill>
                <a:latin typeface="Arial"/>
              </a:rPr>
              <a:t>Контроль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2754" y="3520440"/>
            <a:ext cx="17853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средний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3831336"/>
            <a:ext cx="146075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C7293"/>
                </a:solidFill>
                <a:latin typeface="Arial"/>
              </a:rPr>
              <a:t>Детерминизм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2754" y="3831336"/>
            <a:ext cx="17853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низкий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4142232"/>
            <a:ext cx="146075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C7293"/>
                </a:solidFill>
                <a:latin typeface="Arial"/>
              </a:rPr>
              <a:t>Шаги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2754" y="4142232"/>
            <a:ext cx="17853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несколько (диалог)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4453128"/>
            <a:ext cx="146075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C7293"/>
                </a:solidFill>
                <a:latin typeface="Arial"/>
              </a:rPr>
              <a:t>Стоимость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2754" y="4453128"/>
            <a:ext cx="17853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низкая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4764024"/>
            <a:ext cx="146075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C7293"/>
                </a:solidFill>
                <a:latin typeface="Arial"/>
              </a:rPr>
              <a:t>Время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2754" y="4764024"/>
            <a:ext cx="17853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минуты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6280" y="525780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диалог, уточнение стиля, итерация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83880" y="246888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66760" y="2633472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АГЕНТ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66760" y="3035808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Claude Code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58200" y="3429000"/>
            <a:ext cx="3154679" cy="18288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12480" y="3520440"/>
            <a:ext cx="146075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C7293"/>
                </a:solidFill>
                <a:latin typeface="Arial"/>
              </a:rPr>
              <a:t>Контроль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73234" y="3520440"/>
            <a:ext cx="17853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высокий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3831336"/>
            <a:ext cx="146075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C7293"/>
                </a:solidFill>
                <a:latin typeface="Arial"/>
              </a:rPr>
              <a:t>Детерминизм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73234" y="3831336"/>
            <a:ext cx="17853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низкий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0" y="4142232"/>
            <a:ext cx="146075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C7293"/>
                </a:solidFill>
                <a:latin typeface="Arial"/>
              </a:rPr>
              <a:t>Шаги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73234" y="4142232"/>
            <a:ext cx="17853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многошаговый цикл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12480" y="4453128"/>
            <a:ext cx="146075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C7293"/>
                </a:solidFill>
                <a:latin typeface="Arial"/>
              </a:rPr>
              <a:t>Стоимость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3234" y="4453128"/>
            <a:ext cx="17853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средняя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12480" y="4764024"/>
            <a:ext cx="146075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C7293"/>
                </a:solidFill>
                <a:latin typeface="Arial"/>
              </a:rPr>
              <a:t>Время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3234" y="4764024"/>
            <a:ext cx="17853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минуты-час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66760" y="525780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читает требования, создаёт файл, правит, проверяет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Поток 10K изображений/час с латентностью 50мс — это standalone-модель, не чат.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8760"/>
            <a:ext cx="5349240" cy="3931920"/>
          </a:xfrm>
          <a:prstGeom prst="roundRect">
            <a:avLst>
              <a:gd name="adj" fmla="val 775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cpu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00200" y="1874519"/>
            <a:ext cx="4069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КЕЙС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60320"/>
            <a:ext cx="4800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Детектировать дефекты на конвейере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91839"/>
            <a:ext cx="48006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10 000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изображений/час</a:t>
            </a:r>
          </a:p>
          <a:p>
            <a:pPr algn="l">
              <a:lnSpc>
                <a:spcPct val="145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≤ 50 мс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латентность на изделие</a:t>
            </a:r>
          </a:p>
          <a:p>
            <a:pPr algn="l">
              <a:lnSpc>
                <a:spcPct val="14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edge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развёртывание (без облака)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937759"/>
            <a:ext cx="4800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Модель = нейросеть, input→output. Без UI/памяти/инструментов.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1508760"/>
            <a:ext cx="269748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de-target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3740" y="1691639"/>
            <a:ext cx="640080" cy="64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26479" y="2468880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YOLO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79" y="288036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детекция объектов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15400" y="1508760"/>
            <a:ext cx="269748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ucide-message-circl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4100" y="1691639"/>
            <a:ext cx="640080" cy="640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006840" y="2468880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Whisper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288036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распознавание речи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0" y="3520440"/>
            <a:ext cx="269748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ucide-sparkles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3740" y="3703320"/>
            <a:ext cx="640080" cy="640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26479" y="4480560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Stable Diffusion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79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генерация изображений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15400" y="3520440"/>
            <a:ext cx="269748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lucide-flask-conical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44100" y="3703320"/>
            <a:ext cx="640080" cy="6400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06840" y="4480560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AlphaFold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6840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3D белка · Нобель 2024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623560"/>
            <a:ext cx="5532120" cy="77724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27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742432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БРАТЬ: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высокая нагрузка, одна задача, edge-deployment, встраивание в продукт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5623560"/>
            <a:ext cx="5532120" cy="77724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5742432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НЕ БРАТЬ: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разовый запрос, нужен диалог, нет потока однотипных задач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Чат = модель + UI + память. Большинство откатившихся пилотов выбрали чат там, где нужна модель или агент.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1120140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message-squar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783080"/>
            <a:ext cx="77724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0" y="18288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КЕЙС  ·  диалоговая обвязка LLM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743200"/>
            <a:ext cx="50749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Разобрать непонятный нормативный документ и собрать чек-лист требований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251960"/>
            <a:ext cx="5074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1">
                <a:solidFill>
                  <a:srgbClr val="1C7293"/>
                </a:solidFill>
                <a:latin typeface="Arial"/>
              </a:rPr>
              <a:t>Решение:  </a:t>
            </a:r>
            <a:r>
              <a:rPr sz="1600" b="1" i="0">
                <a:solidFill>
                  <a:srgbClr val="065A82"/>
                </a:solidFill>
                <a:latin typeface="Arial"/>
              </a:rPr>
              <a:t>ЧАТ</a:t>
            </a:r>
            <a:r>
              <a:rPr sz="1400" b="0" i="0">
                <a:solidFill>
                  <a:srgbClr val="1C7293"/>
                </a:solidFill>
                <a:latin typeface="Arial"/>
              </a:rPr>
              <a:t>  ·  </a:t>
            </a:r>
            <a:r>
              <a:rPr sz="1200" b="0" i="1">
                <a:solidFill>
                  <a:srgbClr val="1C7293"/>
                </a:solidFill>
                <a:latin typeface="Arial"/>
              </a:rPr>
              <a:t>не нужна модель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(нет потока)</a:t>
            </a:r>
            <a:r>
              <a:rPr sz="1400" b="0" i="0">
                <a:solidFill>
                  <a:srgbClr val="1C7293"/>
                </a:solidFill>
                <a:latin typeface="Arial"/>
              </a:rPr>
              <a:t>  ·  </a:t>
            </a:r>
            <a:r>
              <a:rPr sz="1200" b="0" i="1">
                <a:solidFill>
                  <a:srgbClr val="1C7293"/>
                </a:solidFill>
                <a:latin typeface="Arial"/>
              </a:rPr>
              <a:t>не нужен агент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(нет tool use)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59" y="1783080"/>
            <a:ext cx="22860" cy="30175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ЧТО ДЕЛАЕТ ЭТУ ЗАДАЧУ ЧАТОВОЙ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377440"/>
            <a:ext cx="493776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Память контекста.  </a:t>
            </a:r>
            <a:r>
              <a:rPr sz="1300" b="0" i="1">
                <a:solidFill>
                  <a:srgbClr val="1C7293"/>
                </a:solidFill>
                <a:latin typeface="Arial"/>
              </a:rPr>
              <a:t>История диалога — в окне модели; уточнения накапливаются.</a:t>
            </a:r>
          </a:p>
          <a:p>
            <a:pPr algn="l">
              <a:lnSpc>
                <a:spcPct val="15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Итеративное уточнение.  </a:t>
            </a:r>
            <a:r>
              <a:rPr sz="1300" b="0" i="1">
                <a:solidFill>
                  <a:srgbClr val="1C7293"/>
                </a:solidFill>
                <a:latin typeface="Arial"/>
              </a:rPr>
              <a:t>Вопрос → ответ → «копни глубже п. 3» → ответ. До приемлемого результата за 5-10 ходов.</a:t>
            </a:r>
          </a:p>
          <a:p>
            <a:pPr algn="l">
              <a:lnSpc>
                <a:spcPct val="15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Без потока и без инструментов.  </a:t>
            </a:r>
            <a:r>
              <a:rPr sz="1300" b="0" i="1">
                <a:solidFill>
                  <a:srgbClr val="1C7293"/>
                </a:solidFill>
                <a:latin typeface="Arial"/>
              </a:rPr>
              <a:t>Один документ, один разработчик, разовая задача — типовой чатовый кейс.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34924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5422392"/>
            <a:ext cx="10835640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«Где AI работает» = выбор типа взаимодействия под задачу. Чек-лист в s18.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Dam et al. 2024 (LLM-чатботы)  ·  типология взаимодействия — глава §3.3.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Роль радикально меняет ответ. RTC = Роль + Задача + Контекст — паттерн №1.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8760"/>
            <a:ext cx="3703320" cy="402336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73351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ПЛОХОЙ ПРОМПТ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39"/>
            <a:ext cx="3246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«Расскажи про AI в медицине»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617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↓ Результат: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92040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Расплывчатый текст уровня обзорной статьи.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508760"/>
            <a:ext cx="3703320" cy="402336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03620" y="1417319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673351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РОЛЬ A — McKinsey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63540" y="2011680"/>
            <a:ext cx="1463040" cy="36576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148839"/>
            <a:ext cx="3246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«Ты — аналитик McKinsey. Подготовь обзор AI-adoption в российских клиниках за 2025. 5 пунктов с цифрами и оценкой зрелости.»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617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↓ Результат: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892040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Структурированный документ с количественными оценками.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80" y="1508760"/>
            <a:ext cx="3703320" cy="402336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1673351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РОЛЬ B — контраст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148839"/>
            <a:ext cx="3246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«Ты — не-специалист, далёкий от технологий. Тот же вопрос.»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4617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↓ Результат: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892040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Радикально другой стиль и приоритеты — упрощения, метафоры.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623560"/>
            <a:ext cx="11201400" cy="77724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788152"/>
            <a:ext cx="11201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RTC  =  </a:t>
            </a:r>
            <a:r>
              <a:rPr sz="2200" b="1" i="0">
                <a:solidFill>
                  <a:srgbClr val="065A82"/>
                </a:solidFill>
                <a:latin typeface="Arial"/>
              </a:rPr>
              <a:t>Роль</a:t>
            </a:r>
            <a:r>
              <a:rPr sz="2200" b="1" i="0">
                <a:solidFill>
                  <a:srgbClr val="F0AB00"/>
                </a:solidFill>
                <a:latin typeface="Arial"/>
              </a:rPr>
              <a:t>  +  </a:t>
            </a:r>
            <a:r>
              <a:rPr sz="2200" b="1" i="0">
                <a:solidFill>
                  <a:srgbClr val="1C7293"/>
                </a:solidFill>
                <a:latin typeface="Arial"/>
              </a:rPr>
              <a:t>Задача</a:t>
            </a:r>
            <a:r>
              <a:rPr sz="2200" b="1" i="0">
                <a:solidFill>
                  <a:srgbClr val="F0AB00"/>
                </a:solidFill>
                <a:latin typeface="Arial"/>
              </a:rPr>
              <a:t>  +  </a:t>
            </a:r>
            <a:r>
              <a:rPr sz="2200" b="1" i="0">
                <a:solidFill>
                  <a:srgbClr val="028090"/>
                </a:solidFill>
                <a:latin typeface="Arial"/>
              </a:rPr>
              <a:t>Контекст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Агент = чат + инструменты + планирование. Уровень автономии — ваше дизайн-решение.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8760"/>
            <a:ext cx="507492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file-search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08760" y="1828800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КЕЙС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45262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Прошерстить </a:t>
            </a:r>
            <a:r>
              <a:rPr sz="2400" b="1" i="0">
                <a:solidFill>
                  <a:srgbClr val="F0AB00"/>
                </a:solidFill>
                <a:latin typeface="Arial"/>
              </a:rPr>
              <a:t>200 PDF</a:t>
            </a:r>
            <a:r>
              <a:rPr sz="1800" b="1" i="0">
                <a:solidFill>
                  <a:srgbClr val="21295C"/>
                </a:solidFill>
                <a:latin typeface="Arial"/>
              </a:rPr>
              <a:t> отчётов и собрать таблицу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520440"/>
            <a:ext cx="5074920" cy="1097280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657600"/>
            <a:ext cx="47091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FFFFFF"/>
                </a:solidFill>
                <a:latin typeface="Arial"/>
              </a:rPr>
              <a:t>Формула (Weng 2023):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977639"/>
            <a:ext cx="470915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Liberation Mono"/>
              </a:rPr>
              <a:t>Agent = LLM + Memory + Planning + Tools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54880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Примеры: </a:t>
            </a:r>
            <a:r>
              <a:rPr sz="1200" b="1" i="0">
                <a:solidFill>
                  <a:srgbClr val="21295C"/>
                </a:solidFill>
                <a:latin typeface="Arial"/>
              </a:rPr>
              <a:t>Claude Code · Devin · Operator · AutoGPT · CrewAI · Manus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25780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Цикл: </a:t>
            </a:r>
            <a:r>
              <a:rPr sz="1400" b="1" i="0">
                <a:solidFill>
                  <a:srgbClr val="028090"/>
                </a:solidFill>
                <a:latin typeface="Liberation Mono"/>
              </a:rPr>
              <a:t>plan → act → observe → iterate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508760"/>
            <a:ext cx="5745175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673351"/>
            <a:ext cx="52879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5 УРОВНЕЙ АВТОНОМИИ — по роли пользователя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011680"/>
            <a:ext cx="52879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Feng, McDonald &amp; Zhang (2025) arXiv:2506.12469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468879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200" y="246887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2441448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Operator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770632"/>
            <a:ext cx="46936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одобряет каждый шаг  ·  Claude Code «approve each»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182111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3182111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3154679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Collaborator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3483863"/>
            <a:ext cx="46936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работают совместно  ·  парное прог. с Cursor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3895344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72200" y="3895344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867911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Consultant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4197096"/>
            <a:ext cx="46936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корректирует план  ·  Devin предлагает декомпозицию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4608576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72200" y="4608576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4581144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Approver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4910328"/>
            <a:ext cx="46936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утверждает узлы  ·  агент собирает PR → ваш merge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5321807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72200" y="5321807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5294375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Observer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5623559"/>
            <a:ext cx="46936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только наблюдает итог  ·  AutoGPT на ночь → отчёт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89788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97103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Уровень автономии = design choice, а не врождённое свойство модели.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Приложение = AI, упакованный в продуктовый UX. Большинство уже им пользуются, не зная этого.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8760"/>
            <a:ext cx="4937760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glob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08760" y="1828800"/>
            <a:ext cx="3749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КЕЙС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Перевод техдокументации раз в неделю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63239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Решение:  </a:t>
            </a:r>
            <a:r>
              <a:rPr sz="1400" b="1" i="0">
                <a:solidFill>
                  <a:srgbClr val="065A82"/>
                </a:solidFill>
                <a:latin typeface="Arial"/>
              </a:rPr>
              <a:t>Google Translate / DeepL</a:t>
            </a:r>
            <a:r>
              <a:rPr sz="1300" b="0" i="1">
                <a:solidFill>
                  <a:srgbClr val="1C7293"/>
                </a:solidFill>
                <a:latin typeface="Arial"/>
              </a:rPr>
              <a:t>  (готовое приложение)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977640"/>
            <a:ext cx="4937760" cy="155448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1148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GOOGLE TRANSLATE,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48056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1B+ users  ·  ~1T слов/мес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120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across Translate, Search, Lens, Circle to Search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1508760"/>
            <a:ext cx="6035040" cy="4023360"/>
          </a:xfrm>
          <a:prstGeom prst="roundRect">
            <a:avLst>
              <a:gd name="adj" fmla="val 7575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0" y="1673351"/>
            <a:ext cx="5669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ПРИЛОЖЕНИЯ С AI ВНУТРИ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2194559"/>
            <a:ext cx="1737360" cy="960120"/>
          </a:xfrm>
          <a:prstGeom prst="roundRect">
            <a:avLst>
              <a:gd name="adj" fmla="val 1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ogo-googletransl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2267711"/>
            <a:ext cx="457200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35040" y="2761487"/>
            <a:ext cx="16459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Google Translate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18120" y="2194559"/>
            <a:ext cx="1737360" cy="9601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ogo-deep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2267711"/>
            <a:ext cx="457200" cy="457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863840" y="2761487"/>
            <a:ext cx="16459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DeepL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46920" y="2194559"/>
            <a:ext cx="1737360" cy="960120"/>
          </a:xfrm>
          <a:prstGeom prst="roundRect">
            <a:avLst>
              <a:gd name="adj" fmla="val 1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ogo-grammarl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0" y="2267711"/>
            <a:ext cx="457200" cy="457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692640" y="2761487"/>
            <a:ext cx="16459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Grammarly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89320" y="3246120"/>
            <a:ext cx="1737360" cy="9601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-no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3319272"/>
            <a:ext cx="457200" cy="457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035040" y="3813048"/>
            <a:ext cx="16459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Notion AI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3246120"/>
            <a:ext cx="1737360" cy="960120"/>
          </a:xfrm>
          <a:prstGeom prst="roundRect">
            <a:avLst>
              <a:gd name="adj" fmla="val 1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logo-copilo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58200" y="3319272"/>
            <a:ext cx="457200" cy="457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863840" y="3813048"/>
            <a:ext cx="16459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Copilot inline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46920" y="3246120"/>
            <a:ext cx="1737360" cy="9601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logo-yandex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87000" y="3319272"/>
            <a:ext cx="457200" cy="4572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692640" y="3813048"/>
            <a:ext cx="16459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Яндекс.Навигатор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89320" y="4297680"/>
            <a:ext cx="1737360" cy="960120"/>
          </a:xfrm>
          <a:prstGeom prst="roundRect">
            <a:avLst>
              <a:gd name="adj" fmla="val 1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logo-adobefirefl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29400" y="4370832"/>
            <a:ext cx="457200" cy="457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035040" y="4864608"/>
            <a:ext cx="16459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Adobe Firefly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818120" y="4297680"/>
            <a:ext cx="1737360" cy="9601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63840" y="4297680"/>
            <a:ext cx="1645919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Алиса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646920" y="4297680"/>
            <a:ext cx="1737360" cy="960120"/>
          </a:xfrm>
          <a:prstGeom prst="roundRect">
            <a:avLst>
              <a:gd name="adj" fmla="val 1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logo-spotif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0" y="4370832"/>
            <a:ext cx="457200" cy="4572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692640" y="4864608"/>
            <a:ext cx="16459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Spotify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715000"/>
            <a:ext cx="11201400" cy="64008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5833872"/>
            <a:ext cx="10835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GitHub Copilot — особый случай: 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inline-suggestion (Tab → код) = </a:t>
            </a:r>
            <a:r>
              <a:rPr sz="1300" b="1" i="0">
                <a:solidFill>
                  <a:srgbClr val="065A82"/>
                </a:solidFill>
                <a:latin typeface="Arial"/>
              </a:rPr>
              <a:t>приложение</a:t>
            </a:r>
            <a:r>
              <a:rPr sz="1300" b="0" i="0">
                <a:solidFill>
                  <a:srgbClr val="21295C"/>
                </a:solidFill>
                <a:latin typeface="Arial"/>
              </a:rPr>
              <a:t>  ·  Workspace (план + tool-calls) = </a:t>
            </a:r>
            <a:r>
              <a:rPr sz="1300" b="1" i="0">
                <a:solidFill>
                  <a:srgbClr val="028090"/>
                </a:solidFill>
                <a:latin typeface="Arial"/>
              </a:rPr>
              <a:t>агент</a:t>
            </a:r>
            <a:r>
              <a:rPr sz="1300" b="0" i="0">
                <a:solidFill>
                  <a:srgbClr val="21295C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AI работает там, где задача и тип инструмента совпали. 4 вопроса до внедрения — ваш чек-лист.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63040"/>
            <a:ext cx="6263640" cy="411480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27632"/>
            <a:ext cx="5806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ЧЕК-ЛИСТ — задайте до внедрения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48839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103120"/>
            <a:ext cx="51663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Задача повторяющаяся или разовая?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468879"/>
            <a:ext cx="51663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↳ </a:t>
            </a:r>
            <a:r>
              <a:rPr sz="1100" b="0" i="0">
                <a:solidFill>
                  <a:srgbClr val="21295C"/>
                </a:solidFill>
                <a:latin typeface="Arial"/>
              </a:rPr>
              <a:t>повторяющаяся → модель / приложение</a:t>
            </a:r>
            <a:r>
              <a:rPr sz="1100" b="1" i="0">
                <a:solidFill>
                  <a:srgbClr val="065A82"/>
                </a:solidFill>
                <a:latin typeface="Arial"/>
              </a:rPr>
              <a:t>    ↳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разовая → чат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01752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971800"/>
            <a:ext cx="51663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Нужен ли диалог и уточнения?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337560"/>
            <a:ext cx="51663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↳ </a:t>
            </a:r>
            <a:r>
              <a:rPr sz="1100" b="0" i="0">
                <a:solidFill>
                  <a:srgbClr val="21295C"/>
                </a:solidFill>
                <a:latin typeface="Arial"/>
              </a:rPr>
              <a:t>да → чат / агент</a:t>
            </a:r>
            <a:r>
              <a:rPr sz="1100" b="1" i="0">
                <a:solidFill>
                  <a:srgbClr val="1C7293"/>
                </a:solidFill>
                <a:latin typeface="Arial"/>
              </a:rPr>
              <a:t>    ↳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нет → модель / приложение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86199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88619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840479"/>
            <a:ext cx="51663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Нужны ли внешние инструменты?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06240"/>
            <a:ext cx="51663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↳ </a:t>
            </a:r>
            <a:r>
              <a:rPr sz="1100" b="0" i="0">
                <a:solidFill>
                  <a:srgbClr val="21295C"/>
                </a:solidFill>
                <a:latin typeface="Arial"/>
              </a:rPr>
              <a:t>да → агент</a:t>
            </a:r>
            <a:r>
              <a:rPr sz="1100" b="1" i="0">
                <a:solidFill>
                  <a:srgbClr val="028090"/>
                </a:solidFill>
                <a:latin typeface="Arial"/>
              </a:rPr>
              <a:t>    ↳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нет → модель / чат / приложение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754879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75487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709159"/>
            <a:ext cx="51663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Есть ли готовое приложение?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074920"/>
            <a:ext cx="51663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↳ </a:t>
            </a:r>
            <a:r>
              <a:rPr sz="1100" b="0" i="0">
                <a:solidFill>
                  <a:srgbClr val="21295C"/>
                </a:solidFill>
                <a:latin typeface="Arial"/>
              </a:rPr>
              <a:t>да и покрывает → берём с полки</a:t>
            </a:r>
            <a:r>
              <a:rPr sz="1100" b="1" i="0">
                <a:solidFill>
                  <a:srgbClr val="F0AB00"/>
                </a:solidFill>
                <a:latin typeface="Arial"/>
              </a:rPr>
              <a:t>    ↳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нет → строим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79" y="1463040"/>
            <a:ext cx="4647895" cy="411480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59" y="1627632"/>
            <a:ext cx="42821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МАТРИЦА: Контроль × Детерминированность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43800" y="2286000"/>
            <a:ext cx="1775307" cy="1325880"/>
          </a:xfrm>
          <a:prstGeom prst="roundRect">
            <a:avLst>
              <a:gd name="adj" fmla="val 2298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19" y="2359152"/>
            <a:ext cx="168386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1">
                <a:solidFill>
                  <a:srgbClr val="1C7293"/>
                </a:solidFill>
                <a:latin typeface="Arial"/>
              </a:rPr>
              <a:t>Высокий контроль
Высокий детерм.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3800" y="2953512"/>
            <a:ext cx="177530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МОДЕЛЬ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10547" y="2286000"/>
            <a:ext cx="1775307" cy="1325880"/>
          </a:xfrm>
          <a:prstGeom prst="roundRect">
            <a:avLst>
              <a:gd name="adj" fmla="val 22988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56267" y="2359152"/>
            <a:ext cx="168386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1">
                <a:solidFill>
                  <a:srgbClr val="1C7293"/>
                </a:solidFill>
                <a:latin typeface="Arial"/>
              </a:rPr>
              <a:t>Высокий UX-контроль
Средний выход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0547" y="2953512"/>
            <a:ext cx="177530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ПРИЛОЖЕНИЕ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43800" y="3703320"/>
            <a:ext cx="1775307" cy="1325880"/>
          </a:xfrm>
          <a:prstGeom prst="roundRect">
            <a:avLst>
              <a:gd name="adj" fmla="val 229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89519" y="3776472"/>
            <a:ext cx="168386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1">
                <a:solidFill>
                  <a:srgbClr val="1C7293"/>
                </a:solidFill>
                <a:latin typeface="Arial"/>
              </a:rPr>
              <a:t>Низкий контроль
Низкий детерм.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4370832"/>
            <a:ext cx="177530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410547" y="3703320"/>
            <a:ext cx="1775307" cy="1325880"/>
          </a:xfrm>
          <a:prstGeom prst="roundRect">
            <a:avLst>
              <a:gd name="adj" fmla="val 22988"/>
            </a:avLst>
          </a:prstGeom>
          <a:solidFill>
            <a:srgbClr val="F4F7FA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56267" y="3776472"/>
            <a:ext cx="168386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1">
                <a:solidFill>
                  <a:srgbClr val="1C7293"/>
                </a:solidFill>
                <a:latin typeface="Arial"/>
              </a:rPr>
              <a:t>Низкий контроль
+ tools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0547" y="4370832"/>
            <a:ext cx="177530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АГЕНТ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66928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742432"/>
            <a:ext cx="10835640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Конвейер 10K/час  →  Q1 ДА · Q2 НЕТ · Q3 НЕТ · Q4 (если коробки нет)  →  МОДЕЛЬ.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Границы AI — ваша зона ответственности, не «отдельный вопрос для специалистов по safety».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8760"/>
            <a:ext cx="11201400" cy="1325880"/>
          </a:xfrm>
          <a:prstGeom prst="roundRect">
            <a:avLst>
              <a:gd name="adj" fmla="val 22988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874519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pic>
        <p:nvPicPr>
          <p:cNvPr id="6" name="Picture 5" descr="lucide-shield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874519"/>
            <a:ext cx="640080" cy="640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606040" y="1737360"/>
            <a:ext cx="8915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Вы уже приняли решение встроить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2240280"/>
            <a:ext cx="8915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Отвечать за инцидент будете не «модель», а вы и ваша команда.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99232"/>
            <a:ext cx="11201400" cy="1325880"/>
          </a:xfrm>
          <a:prstGeom prst="roundRect">
            <a:avLst>
              <a:gd name="adj" fmla="val 22988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3364991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364991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pic>
        <p:nvPicPr>
          <p:cNvPr id="12" name="Picture 11" descr="lucide-repeat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640" y="3364991"/>
            <a:ext cx="640080" cy="640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606040" y="3227832"/>
            <a:ext cx="8915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AI ошибается системно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3730752"/>
            <a:ext cx="8915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bias, галлюцинации, sycophancy, distribution shift — не случайные баги, а свойства технологии.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489704"/>
            <a:ext cx="11201400" cy="1325880"/>
          </a:xfrm>
          <a:prstGeom prst="roundRect">
            <a:avLst>
              <a:gd name="adj" fmla="val 22988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7240" y="4855464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855464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pic>
        <p:nvPicPr>
          <p:cNvPr id="18" name="Picture 17" descr="lucide-alert-circl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1640" y="4855464"/>
            <a:ext cx="640080" cy="640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606040" y="4718304"/>
            <a:ext cx="8915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0AB00"/>
                </a:solidFill>
                <a:latin typeface="Arial"/>
              </a:rPr>
              <a:t>Граница «что AI не умеет» — ваша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5221224"/>
            <a:ext cx="8915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За пределами — необходимость человеческого решения, верификации, fallback. Не понимаете — система не считается спроектированной.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612648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619963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Начнём с того, куда уходят ваши данные.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Consumer-тарифы обучаются на ваших данных по умолчанию. Samsung 2023 — 3 утечки за месяц.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63040"/>
            <a:ext cx="5486400" cy="3200400"/>
          </a:xfrm>
          <a:prstGeom prst="roundRect">
            <a:avLst>
              <a:gd name="adj" fmla="val 9523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cloud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37360"/>
            <a:ext cx="548640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63040" y="1737360"/>
            <a:ext cx="4343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CONSUMER</a:t>
            </a:r>
            <a:r>
              <a:rPr sz="1300" b="0" i="1">
                <a:solidFill>
                  <a:srgbClr val="F0AB00"/>
                </a:solidFill>
                <a:latin typeface="Arial"/>
              </a:rPr>
              <a:t>  ·  данные →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68880"/>
            <a:ext cx="49377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ChatGPT Free / Plus</a:t>
            </a:r>
            <a:r>
              <a:rPr sz="1200" b="0" i="0">
                <a:solidFill>
                  <a:srgbClr val="1C7293"/>
                </a:solidFill>
                <a:latin typeface="Arial"/>
              </a:rPr>
              <a:t>  → используются для обучения по умолчанию</a:t>
            </a:r>
          </a:p>
          <a:p>
            <a:pPr algn="l">
              <a:lnSpc>
                <a:spcPct val="15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Claude consumer</a:t>
            </a:r>
            <a:r>
              <a:rPr sz="1200" b="0" i="0">
                <a:solidFill>
                  <a:srgbClr val="1C7293"/>
                </a:solidFill>
                <a:latin typeface="Arial"/>
              </a:rPr>
              <a:t>  → спрашивает с сент. 2025 (5 лет хранения при согласии)</a:t>
            </a:r>
          </a:p>
          <a:p>
            <a:pPr algn="l">
              <a:lnSpc>
                <a:spcPct val="15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Gemini consumer</a:t>
            </a:r>
            <a:r>
              <a:rPr sz="1200" b="0" i="0">
                <a:solidFill>
                  <a:srgbClr val="1C7293"/>
                </a:solidFill>
                <a:latin typeface="Arial"/>
              </a:rPr>
              <a:t>  → данные + ручной ревью до 3 лет (обезличено)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486400" cy="3200400"/>
          </a:xfrm>
          <a:prstGeom prst="roundRect">
            <a:avLst>
              <a:gd name="adj" fmla="val 9523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ucide-shield-check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737360"/>
            <a:ext cx="548640" cy="548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78040" y="1737360"/>
            <a:ext cx="4343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ENTERPRISE / API</a:t>
            </a:r>
            <a:r>
              <a:rPr sz="1300" b="0" i="1">
                <a:solidFill>
                  <a:srgbClr val="028090"/>
                </a:solidFill>
                <a:latin typeface="Arial"/>
              </a:rPr>
              <a:t>  ·  данные ≠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68880"/>
            <a:ext cx="49377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OpenAI Enterprise / Business / API</a:t>
            </a:r>
            <a:r>
              <a:rPr sz="1200" b="0" i="0">
                <a:solidFill>
                  <a:srgbClr val="1C7293"/>
                </a:solidFill>
                <a:latin typeface="Arial"/>
              </a:rPr>
              <a:t>  (с марта 2023) → НЕ обучаются</a:t>
            </a:r>
          </a:p>
          <a:p>
            <a:pPr algn="l">
              <a:lnSpc>
                <a:spcPct val="15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Anthropic Business</a:t>
            </a:r>
            <a:r>
              <a:rPr sz="1200" b="0" i="0">
                <a:solidFill>
                  <a:srgbClr val="1C7293"/>
                </a:solidFill>
                <a:latin typeface="Arial"/>
              </a:rPr>
              <a:t>  → НЕ обучаются</a:t>
            </a:r>
          </a:p>
          <a:p>
            <a:pPr algn="l">
              <a:lnSpc>
                <a:spcPct val="15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Google Workspace / Vertex AI</a:t>
            </a:r>
            <a:r>
              <a:rPr sz="1200" b="0" i="0">
                <a:solidFill>
                  <a:srgbClr val="1C7293"/>
                </a:solidFill>
                <a:latin typeface="Arial"/>
              </a:rPr>
              <a:t>  → НЕ обучаются  ·  ZDR (Zero Data Retention)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201400" cy="91440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ucide-alert-triangl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93776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554480" y="491947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SAMSUNG, март–апрель 2023: 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3 утечки за месяц — код, транскрипт, тестовые последовательности → consumer-ChatGPT.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53035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Реакция: запрет внешних AI + лимит 1024 байта на промпт.  Bloomberg, 2023.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52160"/>
            <a:ext cx="11201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Альтернатива: </a:t>
            </a:r>
            <a:r>
              <a:rPr sz="1200" b="1" i="0">
                <a:solidFill>
                  <a:srgbClr val="21295C"/>
                </a:solidFill>
                <a:latin typeface="Arial"/>
              </a:rPr>
              <a:t>Llama 4 / Mistral / DeepSeek локально через Ollama / LM Studio</a:t>
            </a:r>
            <a:r>
              <a:rPr sz="1200" b="0" i="1">
                <a:solidFill>
                  <a:srgbClr val="1C7293"/>
                </a:solidFill>
                <a:latin typeface="Arial"/>
              </a:rPr>
              <a:t>  ·  breakeven ~100K запросов/день.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217920"/>
            <a:ext cx="11201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EU AI Act 2024/1689: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стандартный tier до 15M EUR / 3% оборота, верхний (prohibited) — 35M EUR / 7%.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AI уверенно генерирует несуществующие DOI. Hallucination rate — от &lt;1% до 15%.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63040"/>
            <a:ext cx="6400800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2763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ПРИМЕР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57400"/>
            <a:ext cx="5852160" cy="7315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67128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Liberation Mono"/>
              </a:rPr>
              <a:t>«Назови 3 научные статьи 2023-24 по сейсмостойкости подземных трубопроводов малого диаметра, авторы и DOI.»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58521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Ответ AI:
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1.  Иванов А. (2023). Журн. инж. геол., DOI: 10.1234/jeg.2023.045  </a:t>
            </a:r>
            <a:r>
              <a:rPr sz="1200" b="1" i="0">
                <a:solidFill>
                  <a:srgbClr val="F0AB00"/>
                </a:solidFill>
                <a:latin typeface="Arial"/>
              </a:rPr>
              <a:t>❌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2.  Petrov B. (2024). Soil Dynamics, DOI: 10.1016/j.soildyn.108956  </a:t>
            </a:r>
            <a:r>
              <a:rPr sz="1200" b="1" i="0">
                <a:solidFill>
                  <a:srgbClr val="F0AB00"/>
                </a:solidFill>
                <a:latin typeface="Arial"/>
              </a:rPr>
              <a:t>❌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3.  Smith J., Chen L. (2023). J. Pipeline Sci., DOI: 10.1080/jps.23.0098  </a:t>
            </a:r>
            <a:r>
              <a:rPr sz="1200" b="1" i="0">
                <a:solidFill>
                  <a:srgbClr val="F0AB00"/>
                </a:solidFill>
                <a:latin typeface="Arial"/>
              </a:rPr>
              <a:t>❌</a:t>
            </a:r>
          </a:p>
          <a:p>
            <a:pPr algn="l">
              <a:lnSpc>
                <a:spcPct val="15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Журналы — настоящие. Статей нет. DOI не разрешаются.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1463040"/>
            <a:ext cx="4510735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60919" y="1572768"/>
            <a:ext cx="41449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VECTARA HHEM — диапазон % галлюцинаций по типам задач</a:t>
            </a:r>
          </a:p>
        </p:txBody>
      </p:sp>
      <p:sp>
        <p:nvSpPr>
          <p:cNvPr id="10" name="Rectangle 9"/>
          <p:cNvSpPr/>
          <p:nvPr/>
        </p:nvSpPr>
        <p:spPr>
          <a:xfrm>
            <a:off x="9875519" y="4206240"/>
            <a:ext cx="1538935" cy="1097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70947" y="4206240"/>
            <a:ext cx="9144" cy="64008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46919" y="429768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Arial"/>
              </a:rPr>
              <a:t>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55681" y="4206240"/>
            <a:ext cx="9144" cy="64008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31653" y="429768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Arial"/>
              </a:rPr>
              <a:t>4%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40415" y="4206240"/>
            <a:ext cx="9144" cy="64008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16387" y="429768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Arial"/>
              </a:rPr>
              <a:t>8%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025149" y="4206240"/>
            <a:ext cx="9144" cy="64008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01121" y="429768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Arial"/>
              </a:rPr>
              <a:t>12%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09883" y="4206240"/>
            <a:ext cx="9144" cy="64008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85855" y="429768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Arial"/>
              </a:rPr>
              <a:t>16%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60" y="2060829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21295C"/>
                </a:solidFill>
                <a:latin typeface="Arial"/>
              </a:rPr>
              <a:t>Reasoning models  (o-series, Claude reasoning)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644987" y="2097405"/>
            <a:ext cx="673284" cy="2743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382279" y="2060829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8–15%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2598039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21295C"/>
                </a:solidFill>
                <a:latin typeface="Arial"/>
              </a:rPr>
              <a:t>Open-ended generation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56437" y="2634615"/>
            <a:ext cx="288550" cy="27432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08995" y="2598039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5–8%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3135249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21295C"/>
                </a:solidFill>
                <a:latin typeface="Arial"/>
              </a:rPr>
              <a:t>QA over context  (Claude 4.5, GPT-5)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971703" y="3171825"/>
            <a:ext cx="192366" cy="27432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28078" y="3135249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65A82"/>
                </a:solidFill>
                <a:latin typeface="Arial"/>
              </a:rPr>
              <a:t>1–3%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3672459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21295C"/>
                </a:solidFill>
                <a:latin typeface="Arial"/>
              </a:rPr>
              <a:t>Standard summarization  (Gemini 2.0 Flash, GPT-5)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13993" y="3709035"/>
            <a:ext cx="57710" cy="27432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35711" y="3672459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0.4–1%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60919" y="4526280"/>
            <a:ext cx="414497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Arial"/>
              </a:rPr>
              <a:t>Vectara HHEM 2025-26 · github.com/vectara/hallucination-leaderboard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846320"/>
            <a:ext cx="11201400" cy="86868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4965192"/>
            <a:ext cx="10561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АНТИ-ПАТТЕРН №1:  </a:t>
            </a:r>
            <a:r>
              <a:rPr sz="1800" b="1" i="0">
                <a:solidFill>
                  <a:srgbClr val="21295C"/>
                </a:solidFill>
                <a:latin typeface="Arial"/>
              </a:rPr>
              <a:t>«AI знает всё».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303520"/>
            <a:ext cx="10561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Любой ответ AI по фактическому вопросу = гипотеза, требующая проверки. Особенно — ссылки, цифры, цитаты, нормы.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852160"/>
            <a:ext cx="11201400" cy="50292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943600"/>
            <a:ext cx="10561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RETRIEVAL-УПРАЖНЕНИЕ:  </a:t>
            </a:r>
            <a:r>
              <a:rPr sz="1300" b="1" i="0">
                <a:solidFill>
                  <a:srgbClr val="21295C"/>
                </a:solidFill>
                <a:latin typeface="Arial"/>
              </a:rPr>
              <a:t>попросите AI 3 статьи с DOI по вашей теме — проверьте каждый в Google Scholar. </a:t>
            </a:r>
            <a:r>
              <a:rPr sz="1300" b="1" i="1">
                <a:solidFill>
                  <a:srgbClr val="21295C"/>
                </a:solidFill>
                <a:latin typeface="Arial"/>
              </a:rPr>
              <a:t>Сколько найдётся?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465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~38% сотрудников делятся sensitive info с AI без ведома работодателя.  CybSafe &amp; NCA «Oh Behave!» 2024-25.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Bias, sycophancy, distribution shift — три проявления одной природы: AI = отражение данных, не источник истины.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63040"/>
            <a:ext cx="3703320" cy="3154680"/>
          </a:xfrm>
          <a:prstGeom prst="roundRect">
            <a:avLst>
              <a:gd name="adj" fmla="val 9661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scal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539" y="1627632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2331720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BIAS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51760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СМЕЩЕНИЕ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63240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Модель повторяет перекосы датасета.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3429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Пример: HR-скрининг на исторических данных дискриминирует группы, недопредставленные в позитивных примерах.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5196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1">
                <a:solidFill>
                  <a:srgbClr val="065A82"/>
                </a:solidFill>
                <a:latin typeface="Arial"/>
              </a:rPr>
              <a:t>Самая трудно-исправляемая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463040"/>
            <a:ext cx="3703320" cy="3154680"/>
          </a:xfrm>
          <a:prstGeom prst="roundRect">
            <a:avLst>
              <a:gd name="adj" fmla="val 9661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ucide-heart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020" y="1627632"/>
            <a:ext cx="640080" cy="640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80560" y="2331720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0AB00"/>
                </a:solidFill>
                <a:latin typeface="Arial"/>
              </a:rPr>
              <a:t>SYCOPHANCY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651760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УГОДЛИВОСТЬ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3063240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RLHF*-разметка учит модель соглашаться с пользователем.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657600"/>
            <a:ext cx="3429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Каноник: GPT-4o, апр 2025 — 25 релиз → 28 rollback → 29 postmortem. «Навязчиво-льстящая».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425196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1">
                <a:solidFill>
                  <a:srgbClr val="F0AB00"/>
                </a:solidFill>
                <a:latin typeface="Arial"/>
              </a:rPr>
              <a:t>Самая незаметная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80" y="1463040"/>
            <a:ext cx="3703320" cy="3154680"/>
          </a:xfrm>
          <a:prstGeom prst="roundRect">
            <a:avLst>
              <a:gd name="adj" fmla="val 9661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ucide-trending-up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0" y="1627632"/>
            <a:ext cx="640080" cy="640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21040" y="2331720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DISTRIBUTION SHIFT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651760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СДВИГ РАСПРЕДЕЛЕНИЯ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063240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Модель, обученная на 2023, в 2026 уверенно предложит устаревшую библиотеку.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3657600"/>
            <a:ext cx="3429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Тихо деградирует со временем без явных сбоев.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425196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1">
                <a:solidFill>
                  <a:srgbClr val="028090"/>
                </a:solidFill>
                <a:latin typeface="Arial"/>
              </a:rPr>
              <a:t>Самая частая в долгоживущих системах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754880"/>
            <a:ext cx="11201400" cy="9601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892040"/>
            <a:ext cx="10561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ОБЩАЯ ПРИЧИНА:  </a:t>
            </a:r>
            <a:r>
              <a:rPr sz="1600" b="1" i="0">
                <a:solidFill>
                  <a:srgbClr val="21295C"/>
                </a:solidFill>
                <a:latin typeface="Arial"/>
              </a:rPr>
              <a:t>Модель не «знает» истины — воспроизводит закономерности данных.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303520"/>
            <a:ext cx="10561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Bias — закономерности истории.  Sycophancy — закономерности RLHF-разметки.  Shift — отсутствие закономерностей нового.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AI 54% за $30 vs человек 60% за $50–150/час: вопрос — не «хорош ли AI», а «сколько стоит ошибка».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11201400" cy="2880360"/>
          </a:xfrm>
          <a:prstGeom prst="roundRect">
            <a:avLst>
              <a:gd name="adj" fmla="val 10582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27048"/>
            <a:ext cx="10835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ARC-AGI-2 — состояние май 2026  ·  оценка vs стоимость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3794760"/>
            <a:ext cx="4663440" cy="1097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0228" y="3794760"/>
            <a:ext cx="9144" cy="54864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86200" y="386791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42916" y="3794760"/>
            <a:ext cx="9144" cy="54864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18888" y="386791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1C7293"/>
                </a:solidFill>
                <a:latin typeface="Arial"/>
              </a:rPr>
              <a:t>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75604" y="3794760"/>
            <a:ext cx="9144" cy="54864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51576" y="386791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1C7293"/>
                </a:solidFill>
                <a:latin typeface="Arial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08292" y="3794760"/>
            <a:ext cx="9144" cy="54864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84264" y="386791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1C7293"/>
                </a:solidFill>
                <a:latin typeface="Arial"/>
              </a:rPr>
              <a:t>60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40980" y="3794760"/>
            <a:ext cx="9144" cy="54864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16952" y="386791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1C7293"/>
                </a:solidFill>
                <a:latin typeface="Arial"/>
              </a:rPr>
              <a:t>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73668" y="3794760"/>
            <a:ext cx="9144" cy="54864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9640" y="386791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1C7293"/>
                </a:solidFill>
                <a:latin typeface="Arial"/>
              </a:rPr>
              <a:t>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084832"/>
            <a:ext cx="324612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Средний человек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0" y="2103120"/>
            <a:ext cx="2798064" cy="411480"/>
          </a:xfrm>
          <a:prstGeom prst="roundRect">
            <a:avLst>
              <a:gd name="adj" fmla="val 4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86016" y="2084832"/>
            <a:ext cx="86868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60%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29800" y="2084832"/>
            <a:ext cx="169164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$50–150 / час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2679192"/>
            <a:ext cx="324612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Refinement (Gemini 3 Pro + Poetiq)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0" y="2697480"/>
            <a:ext cx="2518257" cy="411480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06209" y="2679192"/>
            <a:ext cx="86868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54%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800" y="2679192"/>
            <a:ext cx="169164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$30 / задачу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273552"/>
            <a:ext cx="324612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Single-model (Opus 4.5 Thinking)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0" y="3291840"/>
            <a:ext cx="1753453" cy="411480"/>
          </a:xfrm>
          <a:prstGeom prst="roundRect">
            <a:avLst>
              <a:gd name="adj" fmla="val 4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1405" y="3273552"/>
            <a:ext cx="86868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37.6%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29800" y="3273552"/>
            <a:ext cx="169164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$2.20 / задачу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526280"/>
            <a:ext cx="11201400" cy="100584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617720"/>
            <a:ext cx="10561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ОТКРЫТЫЙ ВОПРОС: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910328"/>
            <a:ext cx="105613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1">
                <a:solidFill>
                  <a:srgbClr val="21295C"/>
                </a:solidFill>
                <a:latin typeface="Arial"/>
              </a:rPr>
              <a:t>«Если бы вам пришла такая задача — нанять AI с 54% за $30 или человека за $50–150/час? От чего зависит ваш ответ?»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669280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1C7293"/>
                </a:solidFill>
                <a:latin typeface="Arial"/>
              </a:rPr>
              <a:t>Инсайт:  </a:t>
            </a:r>
            <a:r>
              <a:rPr sz="1400" b="1" i="0">
                <a:solidFill>
                  <a:srgbClr val="21295C"/>
                </a:solidFill>
                <a:latin typeface="Arial"/>
              </a:rPr>
              <a:t>Инженерное решение — не «хорош ли AI», а </a:t>
            </a:r>
            <a:r>
              <a:rPr sz="1400" b="1" i="0">
                <a:solidFill>
                  <a:srgbClr val="F0AB00"/>
                </a:solidFill>
                <a:latin typeface="Arial"/>
              </a:rPr>
              <a:t>«сколько стоит ошибка в моей задаче».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053328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Состояние май 2026; arcprize.org обновляется — moving target. Chollet 2019 (базовая работа).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Все существующие AI — narrow. Прогнозы AGI 2-30 лет говорят больше про стимулы, чем про науку.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Narrow AI —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оптимизирован под конкретную задачу или узкий домен.  </a:t>
            </a:r>
            <a:r>
              <a:rPr sz="1300" b="0" i="1">
                <a:solidFill>
                  <a:srgbClr val="1C7293"/>
                </a:solidFill>
                <a:latin typeface="Arial"/>
              </a:rPr>
              <a:t>Все существующие production-AI.</a:t>
            </a:r>
          </a:p>
          <a:p>
            <a:pPr algn="l">
              <a:lnSpc>
                <a:spcPct val="15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AGI —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гипотетический AI с человеческим уровнем когнитивных способностей в широком спектре.  </a:t>
            </a:r>
            <a:r>
              <a:rPr sz="1300" b="0" i="1">
                <a:solidFill>
                  <a:srgbClr val="1C7293"/>
                </a:solidFill>
                <a:latin typeface="Arial"/>
              </a:rPr>
              <a:t>Открытый вопрос.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788920"/>
            <a:ext cx="11201400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926079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ПРОГНОЗЫ AGI — 4 ключевых публичных фигуры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297679"/>
            <a:ext cx="9464040" cy="36576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389119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2 года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69880" y="4389119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30 лет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30502" y="4201667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0402" y="3383279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Sam Altman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0402" y="3657599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Arial"/>
              </a:rPr>
              <a:t>(CEO OpenAI)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0402" y="3886199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~5 лет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4642" y="4526279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6B7685"/>
                </a:solidFill>
                <a:latin typeface="Arial"/>
              </a:rPr>
              <a:t>stake: AI 100sM users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96512" y="4201667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6412" y="4571999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Dario Amodei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6412" y="4846319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Arial"/>
              </a:rPr>
              <a:t>(CEO Anthropic)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6412" y="5074919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2-3 года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0652" y="3931919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6B7685"/>
                </a:solidFill>
                <a:latin typeface="Arial"/>
              </a:rPr>
              <a:t>stake: конкурент OpenAI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08925" y="4201667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08825" y="3383279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Demis Hassabis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8825" y="3657599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Arial"/>
              </a:rPr>
              <a:t>(CEO Google DeepMind)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8825" y="3886199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50% в декаде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3065" y="4526279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6B7685"/>
                </a:solidFill>
                <a:latin typeface="Arial"/>
              </a:rPr>
              <a:t>stake: Нобель 2024, диверсиф.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8138" y="4201667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48038" y="4571999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Yann LeCun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48038" y="4846319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Arial"/>
              </a:rPr>
              <a:t>(AMI Labs, ex-Meta)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48038" y="5074919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не на LLM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82278" y="3931919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6B7685"/>
                </a:solidFill>
                <a:latin typeface="Arial"/>
              </a:rPr>
              <a:t>stake: AMI Labs $1B март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715000"/>
            <a:ext cx="10561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065A82"/>
                </a:solidFill>
                <a:latin typeface="Arial"/>
              </a:rPr>
              <a:t>Сёрл (1980), Chinese Room: 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симуляция ≠ понимание. Компьютер может выдавать правильные ответы, не понимая их.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6080760"/>
            <a:ext cx="11201400" cy="3657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6153912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Вопрос при чтении: «какое решение он бы хотел, чтобы рынок принял?»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AI работает на уровне 1 (ассоциация); человек думает на 3 (контрфактуальность). Это граница, не починка.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63040"/>
            <a:ext cx="2903220" cy="4114800"/>
          </a:xfrm>
          <a:prstGeom prst="roundRect">
            <a:avLst>
              <a:gd name="adj" fmla="val 1049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cpu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4592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691640"/>
            <a:ext cx="19888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AI ЛУЧШЕ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31720"/>
            <a:ext cx="244602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•  Скорость</a:t>
            </a:r>
          </a:p>
          <a:p>
            <a:pPr algn="l">
              <a:lnSpc>
                <a:spcPct val="17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  Deep Blue 200M поз/сек (1997)</a:t>
            </a:r>
          </a:p>
          <a:p>
            <a:pPr algn="l">
              <a:lnSpc>
                <a:spcPct val="17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•  Распознавание паттернов</a:t>
            </a:r>
          </a:p>
          <a:p>
            <a:pPr algn="l">
              <a:lnSpc>
                <a:spcPct val="17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  ResNet 3.57% vs human 5.1% ImageNet</a:t>
            </a:r>
          </a:p>
          <a:p>
            <a:pPr algn="l">
              <a:lnSpc>
                <a:spcPct val="17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•  Объём генерации</a:t>
            </a:r>
          </a:p>
          <a:p>
            <a:pPr algn="l">
              <a:lnSpc>
                <a:spcPct val="17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  46% кода у юзеров Copilot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43299" y="1463040"/>
            <a:ext cx="2903220" cy="4114800"/>
          </a:xfrm>
          <a:prstGeom prst="roundRect">
            <a:avLst>
              <a:gd name="adj" fmla="val 10498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ucide-user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6179" y="1645920"/>
            <a:ext cx="457200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74820" y="1691640"/>
            <a:ext cx="19888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ЧЕЛОВЕК ЛУЧШЕ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71900" y="2331720"/>
            <a:ext cx="244602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•  Причинность (Pearl 1→3)</a:t>
            </a:r>
          </a:p>
          <a:p>
            <a:pPr algn="l">
              <a:lnSpc>
                <a:spcPct val="17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  3 уровня — справа →</a:t>
            </a:r>
          </a:p>
          <a:p>
            <a:pPr algn="l">
              <a:lnSpc>
                <a:spcPct val="17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•  Абстрактное обобщение</a:t>
            </a:r>
          </a:p>
          <a:p>
            <a:pPr algn="l">
              <a:lnSpc>
                <a:spcPct val="17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  по 2-3 примерам (ARC-AGI s23)</a:t>
            </a:r>
          </a:p>
          <a:p>
            <a:pPr algn="l">
              <a:lnSpc>
                <a:spcPct val="17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•  Целеполагание</a:t>
            </a:r>
          </a:p>
          <a:p>
            <a:pPr algn="l">
              <a:lnSpc>
                <a:spcPct val="17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  AI оптимизирует, человек ставит цель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463040"/>
            <a:ext cx="4967935" cy="411480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03720" y="1627632"/>
            <a:ext cx="46021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PEARL — 3 УРОВНЯ ПРИЧИННОСТИ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03720" y="2103120"/>
            <a:ext cx="4602175" cy="1066799"/>
          </a:xfrm>
          <a:prstGeom prst="roundRect">
            <a:avLst>
              <a:gd name="adj" fmla="val 1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95159" y="2240279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95159" y="2240279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2194560"/>
            <a:ext cx="40078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Counterfactual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468879"/>
            <a:ext cx="4007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F4F7FA"/>
                </a:solidFill>
                <a:latin typeface="Arial"/>
              </a:rPr>
              <a:t>что было бы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59" y="2788920"/>
            <a:ext cx="451073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FFFFFF"/>
                </a:solidFill>
                <a:latin typeface="Arial"/>
              </a:rPr>
              <a:t>«был бы наш проект в проде, если бы выбрали другой подход в 2023?»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59" y="2895600"/>
            <a:ext cx="451073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HUMAN ONLY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3215640"/>
            <a:ext cx="4602175" cy="1066799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995159" y="335280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95159" y="335280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3307080"/>
            <a:ext cx="40078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Intervention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3581400"/>
            <a:ext cx="4007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F4F7FA"/>
                </a:solidFill>
                <a:latin typeface="Arial"/>
              </a:rPr>
              <a:t>что произойдёт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5159" y="3901440"/>
            <a:ext cx="451073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FFFFFF"/>
                </a:solidFill>
                <a:latin typeface="Arial"/>
              </a:rPr>
              <a:t>«если поставим лимит $100/мес на API копилота — что с productivity?»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59" y="4008120"/>
            <a:ext cx="451073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F4F7FA"/>
                </a:solidFill>
                <a:latin typeface="Arial"/>
              </a:rPr>
              <a:t>PARTIAL AI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03720" y="4328159"/>
            <a:ext cx="4602175" cy="1066799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995159" y="446532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5159" y="446532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4419599"/>
            <a:ext cx="40078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Association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4693920"/>
            <a:ext cx="4007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F4F7FA"/>
                </a:solidFill>
                <a:latin typeface="Arial"/>
              </a:rPr>
              <a:t>что коррелирует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59" y="5013959"/>
            <a:ext cx="451073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FFFFFF"/>
                </a:solidFill>
                <a:latin typeface="Arial"/>
              </a:rPr>
              <a:t>«разработчики с copilot закрывают тикеты на 15% быстрее»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59" y="5120640"/>
            <a:ext cx="451073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F4F7FA"/>
                </a:solidFill>
                <a:latin typeface="Arial"/>
              </a:rPr>
              <a:t>AI ✓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715000"/>
            <a:ext cx="11201400" cy="6400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788152"/>
            <a:ext cx="10835640" cy="493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Решения принимают люди — потому что AI на уровне 1, а решение требует 2-3.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17 лекций — 4 блока, путь от концептов к деплою и к границам ответственности.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91640"/>
            <a:ext cx="2697480" cy="402336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БЛОК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24231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Основы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Лекции 1-4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108960"/>
            <a:ext cx="2148840" cy="182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246120"/>
            <a:ext cx="23317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 Что такое AI
·  Трансформер изнутри
·  Промпт-инжиниринг
·  Базы аналитики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846320"/>
            <a:ext cx="2423160" cy="777240"/>
          </a:xfrm>
          <a:prstGeom prst="roundRect">
            <a:avLst>
              <a:gd name="adj" fmla="val 15000"/>
            </a:avLst>
          </a:prstGeom>
          <a:solidFill>
            <a:srgbClr val="F4F7FA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89204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065A82"/>
                </a:solidFill>
                <a:latin typeface="Arial"/>
              </a:rPr>
              <a:t>↳ После блока: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1206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Классифицируете AI и пишете грамотный промпт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64992" y="1691640"/>
            <a:ext cx="2697480" cy="402336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02152" y="182880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БЛОК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2152" y="2103120"/>
            <a:ext cx="24231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Инструменты инженера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2152" y="274320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Лекции 5-9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39312" y="3108960"/>
            <a:ext cx="2148840" cy="18288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7872" y="3246120"/>
            <a:ext cx="23317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 Standalone-модели
·  Чат-кейсы
·  Агенты
·  Приложения с AI
·  Patterns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02152" y="4846320"/>
            <a:ext cx="2423160" cy="777240"/>
          </a:xfrm>
          <a:prstGeom prst="roundRect">
            <a:avLst>
              <a:gd name="adj" fmla="val 15000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47872" y="489204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Arial"/>
              </a:rPr>
              <a:t>↳ После блока: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51206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Выбираете архетип и собираете прототип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27064" y="1691640"/>
            <a:ext cx="2697480" cy="402336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4224" y="182880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БЛОК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4224" y="2103120"/>
            <a:ext cx="24231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Интеграция в системы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274320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Лекции 10-13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01384" y="3108960"/>
            <a:ext cx="2148840" cy="18288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9944" y="3246120"/>
            <a:ext cx="23317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 MLOps
·  Развёртывание
·  Мониторинг
·  MCP-инфраструктура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64224" y="4846320"/>
            <a:ext cx="2423160" cy="777240"/>
          </a:xfrm>
          <a:prstGeom prst="roundRect">
            <a:avLst>
              <a:gd name="adj" fmla="val 15000"/>
            </a:avLst>
          </a:prstGeom>
          <a:solidFill>
            <a:srgbClr val="F4F7FA"/>
          </a:solidFill>
          <a:ln w="63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9944" y="489204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028090"/>
                </a:solidFill>
                <a:latin typeface="Arial"/>
              </a:rPr>
              <a:t>↳ После блока: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9944" y="51206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Выводите AI-компонент в продакшн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89136" y="1691640"/>
            <a:ext cx="2697480" cy="402336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26296" y="182880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БЛОК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26296" y="2103120"/>
            <a:ext cx="24231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F0AB00"/>
                </a:solidFill>
                <a:latin typeface="Arial"/>
              </a:rPr>
              <a:t>Границы и ответственность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26296" y="274320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Лекции 14-17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63456" y="3108960"/>
            <a:ext cx="2148840" cy="1828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72016" y="3246120"/>
            <a:ext cx="23317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 AI safety
·  Регуляторика
·  Кейсы провалов
·  Этика и право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26296" y="4846320"/>
            <a:ext cx="2423160" cy="777240"/>
          </a:xfrm>
          <a:prstGeom prst="roundRect">
            <a:avLst>
              <a:gd name="adj" fmla="val 15000"/>
            </a:avLst>
          </a:prstGeom>
          <a:solidFill>
            <a:srgbClr val="FEF5E0"/>
          </a:solidFill>
          <a:ln w="63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72016" y="489204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0AB00"/>
                </a:solidFill>
                <a:latin typeface="Arial"/>
              </a:rPr>
              <a:t>↳ После блока: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72016" y="51206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Проектируете AI-систему с учётом границ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Камера в s1 узнала аудиторию за 30 мс. На лекции 2 — посмотрим КАК.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63040"/>
            <a:ext cx="5120640" cy="4572000"/>
          </a:xfrm>
          <a:prstGeom prst="roundRect">
            <a:avLst>
              <a:gd name="adj" fmla="val 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27632"/>
            <a:ext cx="4754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CALLBACK</a:t>
            </a:r>
          </a:p>
        </p:txBody>
      </p:sp>
      <p:pic>
        <p:nvPicPr>
          <p:cNvPr id="5" name="Picture 4" descr="s01-yolo-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39" y="2057400"/>
            <a:ext cx="3657600" cy="2057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41605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s1 — узнала за 30мс / кадр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4617720"/>
            <a:ext cx="4754879" cy="9601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727448"/>
            <a:ext cx="448055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F0AB00"/>
                </a:solidFill>
                <a:latin typeface="Arial"/>
              </a:rPr>
              <a:t>Помните вопрос с s5?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01768"/>
            <a:ext cx="448055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«Где AI работает, где — нет, и как это понять?»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5742431"/>
            <a:ext cx="4389120" cy="411480"/>
          </a:xfrm>
          <a:prstGeom prst="roundRect">
            <a:avLst>
              <a:gd name="adj" fmla="val 3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797295"/>
            <a:ext cx="429767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Чек-лист s18  =  операционализованный ответ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9320" y="1463040"/>
            <a:ext cx="5699455" cy="4572000"/>
          </a:xfrm>
          <a:prstGeom prst="roundRect">
            <a:avLst>
              <a:gd name="adj" fmla="val 6666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627632"/>
            <a:ext cx="5333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ЛЕКЦИЯ 2 — на уровне чисел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148840"/>
            <a:ext cx="5333695" cy="777240"/>
          </a:xfrm>
          <a:prstGeom prst="roundRect">
            <a:avLst>
              <a:gd name="adj" fmla="val 18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ucide-databas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59" y="2286000"/>
            <a:ext cx="502920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49440" y="2240280"/>
            <a:ext cx="4556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Токены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560320"/>
            <a:ext cx="455645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как AI «видит» текст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017520"/>
            <a:ext cx="5333695" cy="777240"/>
          </a:xfrm>
          <a:prstGeom prst="roundRect">
            <a:avLst>
              <a:gd name="adj" fmla="val 18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ucide-network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59" y="3154679"/>
            <a:ext cx="50292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949440" y="3108960"/>
            <a:ext cx="4556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Эмбеддинги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3429000"/>
            <a:ext cx="455645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числа вместо слов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886200"/>
            <a:ext cx="5333695" cy="777240"/>
          </a:xfrm>
          <a:prstGeom prst="roundRect">
            <a:avLst>
              <a:gd name="adj" fmla="val 18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ucide-target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59" y="4023360"/>
            <a:ext cx="502920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949440" y="3977639"/>
            <a:ext cx="4556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Attention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4297680"/>
            <a:ext cx="455645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что на что смотрит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754879"/>
            <a:ext cx="5333695" cy="777240"/>
          </a:xfrm>
          <a:prstGeom prst="roundRect">
            <a:avLst>
              <a:gd name="adj" fmla="val 18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lucide-zap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59" y="4892040"/>
            <a:ext cx="502920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949440" y="4846319"/>
            <a:ext cx="4556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Температура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5166359"/>
            <a:ext cx="455645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детерминизм vs креативность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612648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619963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После лекции 2 поймёте, ПОЧЕМУ промпт с ролью работает лучше, и почему AI плохо считает буквы.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AI — спектр. Выбор типа — навык. Целеполагание — наше.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63040"/>
            <a:ext cx="3703320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034539" y="1645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34539" y="164592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34290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AI — спектр технологий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не одна «умная машина»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3657600"/>
            <a:ext cx="2971800" cy="182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49039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4 оси (задача / модальность / подход / архитектура) + 4 архетипа. Грамотное обсуждение начинается с явной классификации.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463040"/>
            <a:ext cx="3703320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875020" y="1645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5020" y="164592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468880"/>
            <a:ext cx="34290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F0AB00"/>
                </a:solidFill>
                <a:latin typeface="Arial"/>
              </a:rPr>
              <a:t>Выбор типа AI — инженерный навык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3246120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 у вас есть инструмент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3657600"/>
            <a:ext cx="2971800" cy="1828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749039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Чек-лист 4 вопросов из s18 — простой, систематически нарушаемый. Большинство откатов = не задавали эти вопросы.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80" y="1463040"/>
            <a:ext cx="3703320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15500" y="1645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15500" y="164592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468880"/>
            <a:ext cx="34290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028090"/>
                </a:solidFill>
                <a:latin typeface="Arial"/>
              </a:rPr>
              <a:t>AI усиливает человека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246120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целеполагание, суждение, ответственность — наши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49640" y="3657600"/>
            <a:ext cx="2971800" cy="18288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60" y="3749039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3 категории ошибок (галлюцинации / bias-sycophancy-shift / каталог) требуют человеческого контура. Pearl: AI на уровне 1.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074920"/>
            <a:ext cx="11201400" cy="1325880"/>
          </a:xfrm>
          <a:prstGeom prst="roundRect">
            <a:avLst>
              <a:gd name="adj" fmla="val 7000"/>
            </a:avLst>
          </a:prstGeom>
          <a:solidFill>
            <a:srgbClr val="FEF5E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lucide-packag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257800"/>
            <a:ext cx="640080" cy="6400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554480" y="5239512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ДО СЕМИНАРА 1 — домашнее задание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577840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Возьмите 1 AI-инструмент, который вы используете регулярно.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Прогоните через 4 вопроса чек-листа s18. Определите архетип. </a:t>
            </a:r>
            <a:r>
              <a:rPr sz="1300" b="0" i="1">
                <a:solidFill>
                  <a:srgbClr val="21295C"/>
                </a:solidFill>
                <a:latin typeface="Arial"/>
              </a:rPr>
              <a:t>Оцените 1 потенциальную ошибку из раздела 4. Принесите одностраничный разбор.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02920"/>
            <a:ext cx="112014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Кто после этой лекции изменил мнение о чём-то?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508760"/>
            <a:ext cx="1120140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0" b="1" i="0">
                <a:solidFill>
                  <a:srgbClr val="F0AB00"/>
                </a:solidFill>
                <a:latin typeface="Arial"/>
              </a:rPr>
              <a:t>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749039"/>
            <a:ext cx="11201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Открытый микрофон.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389120"/>
            <a:ext cx="548640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507992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Backup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828031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«Поднимите руку, кто через 5 лет не захочет работать с коллегой, который не умеет ставить AI в систему?»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389120"/>
            <a:ext cx="548640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4507992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Backup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828031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«Что из услышанного вы попробуете до семинара?»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897880"/>
            <a:ext cx="11201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Спасибо!  </a:t>
            </a:r>
            <a:r>
              <a:rPr sz="1400" b="0" i="1">
                <a:solidFill>
                  <a:srgbClr val="1C7293"/>
                </a:solidFill>
                <a:latin typeface="Arial"/>
              </a:rPr>
              <a:t>До семинара — выполните задание s28.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